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av" ContentType="audio/wav"/>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6"/>
  </p:notesMasterIdLst>
  <p:sldIdLst>
    <p:sldId id="256" r:id="rId2"/>
    <p:sldId id="282" r:id="rId3"/>
    <p:sldId id="313" r:id="rId4"/>
    <p:sldId id="339" r:id="rId5"/>
    <p:sldId id="284" r:id="rId6"/>
    <p:sldId id="285" r:id="rId7"/>
    <p:sldId id="286" r:id="rId8"/>
    <p:sldId id="287" r:id="rId9"/>
    <p:sldId id="336" r:id="rId10"/>
    <p:sldId id="337" r:id="rId11"/>
    <p:sldId id="338" r:id="rId12"/>
    <p:sldId id="288" r:id="rId13"/>
    <p:sldId id="314" r:id="rId14"/>
    <p:sldId id="289" r:id="rId15"/>
    <p:sldId id="302" r:id="rId16"/>
    <p:sldId id="290" r:id="rId17"/>
    <p:sldId id="327" r:id="rId18"/>
    <p:sldId id="315" r:id="rId19"/>
    <p:sldId id="316" r:id="rId20"/>
    <p:sldId id="332" r:id="rId21"/>
    <p:sldId id="317" r:id="rId22"/>
    <p:sldId id="318" r:id="rId23"/>
    <p:sldId id="319" r:id="rId24"/>
    <p:sldId id="320" r:id="rId25"/>
    <p:sldId id="333" r:id="rId26"/>
    <p:sldId id="321" r:id="rId27"/>
    <p:sldId id="323" r:id="rId28"/>
    <p:sldId id="324" r:id="rId29"/>
    <p:sldId id="325" r:id="rId30"/>
    <p:sldId id="329" r:id="rId31"/>
    <p:sldId id="330" r:id="rId32"/>
    <p:sldId id="328" r:id="rId33"/>
    <p:sldId id="331" r:id="rId34"/>
    <p:sldId id="326" r:id="rId35"/>
    <p:sldId id="309" r:id="rId36"/>
    <p:sldId id="311" r:id="rId37"/>
    <p:sldId id="292" r:id="rId38"/>
    <p:sldId id="293" r:id="rId39"/>
    <p:sldId id="294" r:id="rId40"/>
    <p:sldId id="295" r:id="rId41"/>
    <p:sldId id="296" r:id="rId42"/>
    <p:sldId id="300" r:id="rId43"/>
    <p:sldId id="257" r:id="rId44"/>
    <p:sldId id="259" r:id="rId45"/>
    <p:sldId id="260" r:id="rId46"/>
    <p:sldId id="261" r:id="rId47"/>
    <p:sldId id="262" r:id="rId48"/>
    <p:sldId id="263" r:id="rId49"/>
    <p:sldId id="264" r:id="rId50"/>
    <p:sldId id="265" r:id="rId51"/>
    <p:sldId id="266" r:id="rId52"/>
    <p:sldId id="267" r:id="rId53"/>
    <p:sldId id="268" r:id="rId54"/>
    <p:sldId id="269" r:id="rId55"/>
    <p:sldId id="270" r:id="rId56"/>
    <p:sldId id="271" r:id="rId57"/>
    <p:sldId id="272" r:id="rId58"/>
    <p:sldId id="273" r:id="rId59"/>
    <p:sldId id="274" r:id="rId60"/>
    <p:sldId id="276" r:id="rId61"/>
    <p:sldId id="277" r:id="rId62"/>
    <p:sldId id="278" r:id="rId63"/>
    <p:sldId id="279" r:id="rId64"/>
    <p:sldId id="280" r:id="rId6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59" d="100"/>
          <a:sy n="59" d="100"/>
        </p:scale>
        <p:origin x="872" y="4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9B775C6-9E06-496D-8BA8-9468047283F0}" type="datetimeFigureOut">
              <a:rPr lang="en-US" smtClean="0"/>
              <a:pPr/>
              <a:t>4/5/2023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98B4AD6-8CEE-40D7-BA65-633B2E0074C1}" type="slidenum">
              <a:rPr lang="en-US" smtClean="0"/>
              <a:pPr/>
              <a:t>‹#›</a:t>
            </a:fld>
            <a:endParaRPr lang="en-US"/>
          </a:p>
        </p:txBody>
      </p:sp>
    </p:spTree>
    <p:extLst>
      <p:ext uri="{BB962C8B-B14F-4D97-AF65-F5344CB8AC3E}">
        <p14:creationId xmlns:p14="http://schemas.microsoft.com/office/powerpoint/2010/main" val="24127624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300B844B-F233-4BE2-BC59-BF01A28CB213}" type="datetime1">
              <a:rPr lang="en-US" smtClean="0"/>
              <a:pPr/>
              <a:t>4/5/2023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930017-089C-4B04-9152-CFCB1CDC61B1}"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DA09855-3755-437C-A943-AF7D9DED9156}" type="datetime1">
              <a:rPr lang="en-US" smtClean="0"/>
              <a:pPr/>
              <a:t>4/5/2023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930017-089C-4B04-9152-CFCB1CDC61B1}"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E64C60A-5EE4-4379-B089-010F2FFCB620}" type="datetime1">
              <a:rPr lang="en-US" smtClean="0"/>
              <a:pPr/>
              <a:t>4/5/2023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930017-089C-4B04-9152-CFCB1CDC61B1}"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EB4360E-1074-427D-9F47-AF5D5AD0B7FA}" type="datetime1">
              <a:rPr lang="en-US" smtClean="0"/>
              <a:pPr/>
              <a:t>4/5/2023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A930017-089C-4B04-9152-CFCB1CDC61B1}"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A89611B-18B1-4261-AEDF-5610DD8C05C0}" type="datetime1">
              <a:rPr lang="en-US" smtClean="0"/>
              <a:pPr/>
              <a:t>4/5/2023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A930017-089C-4B04-9152-CFCB1CDC61B1}"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5EF79F3-CB52-48C7-AAD4-ED985571622E}" type="datetime1">
              <a:rPr lang="en-US" smtClean="0"/>
              <a:pPr/>
              <a:t>4/5/2023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A930017-089C-4B04-9152-CFCB1CDC61B1}"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E35F1B1-6954-4C04-AE0E-2A4185524498}" type="datetime1">
              <a:rPr lang="en-US" smtClean="0"/>
              <a:pPr/>
              <a:t>4/5/2023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A930017-089C-4B04-9152-CFCB1CDC61B1}"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8A9BB3A-1B4A-4020-98B0-CC4F16AE63CE}" type="datetime1">
              <a:rPr lang="en-US" smtClean="0"/>
              <a:pPr/>
              <a:t>4/5/2023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A930017-089C-4B04-9152-CFCB1CDC61B1}"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E969FCA-B727-46AE-BDCE-3E9B550D9735}" type="datetime1">
              <a:rPr lang="en-US" smtClean="0"/>
              <a:pPr/>
              <a:t>4/5/2023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A930017-089C-4B04-9152-CFCB1CDC61B1}"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71CF421-0599-4C17-A993-6D562F0AE281}" type="datetime1">
              <a:rPr lang="en-US" smtClean="0"/>
              <a:pPr/>
              <a:t>4/5/2023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930017-089C-4B04-9152-CFCB1CDC61B1}"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B46B533-C98C-4C8F-A76F-AC7FF1859661}" type="datetime1">
              <a:rPr lang="en-US" smtClean="0"/>
              <a:pPr/>
              <a:t>4/5/2023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930017-089C-4B04-9152-CFCB1CDC61B1}"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fourObj">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685800" y="609600"/>
            <a:ext cx="7772400" cy="1143000"/>
          </a:xfrm>
        </p:spPr>
        <p:txBody>
          <a:bodyPr/>
          <a:lstStyle/>
          <a:p>
            <a:r>
              <a:rPr lang="en-US"/>
              <a:t>Click to edit Master title style</a:t>
            </a:r>
          </a:p>
        </p:txBody>
      </p:sp>
      <p:sp>
        <p:nvSpPr>
          <p:cNvPr id="3" name="Content Placeholder 2"/>
          <p:cNvSpPr>
            <a:spLocks noGrp="1"/>
          </p:cNvSpPr>
          <p:nvPr>
            <p:ph sz="quarter" idx="1"/>
          </p:nvPr>
        </p:nvSpPr>
        <p:spPr>
          <a:xfrm>
            <a:off x="685800" y="1981200"/>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981200"/>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685800" y="4114800"/>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4648200" y="4114800"/>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fld id="{956B09E9-5717-4FAD-B359-4210F29BF1A8}" type="datetime1">
              <a:rPr lang="en-US" smtClean="0"/>
              <a:pPr>
                <a:defRPr/>
              </a:pPr>
              <a:t>4/5/2023</a:t>
            </a:fld>
            <a:endParaRPr lang="en-US"/>
          </a:p>
        </p:txBody>
      </p:sp>
      <p:sp>
        <p:nvSpPr>
          <p:cNvPr id="8" name="Rectangle 6"/>
          <p:cNvSpPr>
            <a:spLocks noGrp="1" noChangeArrowheads="1"/>
          </p:cNvSpPr>
          <p:nvPr>
            <p:ph type="sldNum" sz="quarter" idx="11"/>
          </p:nvPr>
        </p:nvSpPr>
        <p:spPr>
          <a:ln/>
        </p:spPr>
        <p:txBody>
          <a:bodyPr/>
          <a:lstStyle>
            <a:lvl1pPr>
              <a:defRPr/>
            </a:lvl1pPr>
          </a:lstStyle>
          <a:p>
            <a:pPr>
              <a:defRPr/>
            </a:pPr>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AAB5674-0DF6-45DB-BE7B-9409EA2057D8}" type="datetime1">
              <a:rPr lang="en-US" smtClean="0"/>
              <a:pPr/>
              <a:t>4/5/2023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A930017-089C-4B04-9152-CFCB1CDC61B1}"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8" Type="http://schemas.openxmlformats.org/officeDocument/2006/relationships/image" Target="../media/image34.jpeg"/><Relationship Id="rId3" Type="http://schemas.openxmlformats.org/officeDocument/2006/relationships/image" Target="../media/image31.wmf"/><Relationship Id="rId7" Type="http://schemas.openxmlformats.org/officeDocument/2006/relationships/image" Target="../media/image33.wmf"/><Relationship Id="rId2" Type="http://schemas.openxmlformats.org/officeDocument/2006/relationships/oleObject" Target="../embeddings/oleObject2.bin"/><Relationship Id="rId1" Type="http://schemas.openxmlformats.org/officeDocument/2006/relationships/slideLayout" Target="../slideLayouts/slideLayout12.xml"/><Relationship Id="rId6" Type="http://schemas.openxmlformats.org/officeDocument/2006/relationships/oleObject" Target="../embeddings/oleObject4.bin"/><Relationship Id="rId5" Type="http://schemas.openxmlformats.org/officeDocument/2006/relationships/image" Target="../media/image32.wmf"/><Relationship Id="rId10" Type="http://schemas.openxmlformats.org/officeDocument/2006/relationships/image" Target="../media/image35.wmf"/><Relationship Id="rId4" Type="http://schemas.openxmlformats.org/officeDocument/2006/relationships/oleObject" Target="../embeddings/oleObject3.bin"/><Relationship Id="rId9" Type="http://schemas.openxmlformats.org/officeDocument/2006/relationships/oleObject" Target="../embeddings/oleObject5.bin"/></Relationships>
</file>

<file path=ppt/slides/_rels/slide3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8" Type="http://schemas.openxmlformats.org/officeDocument/2006/relationships/image" Target="../media/image40.wmf"/><Relationship Id="rId3" Type="http://schemas.openxmlformats.org/officeDocument/2006/relationships/oleObject" Target="../embeddings/oleObject6.bin"/><Relationship Id="rId7" Type="http://schemas.openxmlformats.org/officeDocument/2006/relationships/oleObject" Target="../embeddings/oleObject8.bin"/><Relationship Id="rId2" Type="http://schemas.openxmlformats.org/officeDocument/2006/relationships/image" Target="../media/image37.png"/><Relationship Id="rId1" Type="http://schemas.openxmlformats.org/officeDocument/2006/relationships/slideLayout" Target="../slideLayouts/slideLayout7.xml"/><Relationship Id="rId6" Type="http://schemas.openxmlformats.org/officeDocument/2006/relationships/image" Target="../media/image39.wmf"/><Relationship Id="rId5" Type="http://schemas.openxmlformats.org/officeDocument/2006/relationships/oleObject" Target="../embeddings/oleObject7.bin"/><Relationship Id="rId4" Type="http://schemas.openxmlformats.org/officeDocument/2006/relationships/image" Target="../media/image38.wmf"/></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image" Target="../media/image41.png"/><Relationship Id="rId1" Type="http://schemas.openxmlformats.org/officeDocument/2006/relationships/slideLayout" Target="../slideLayouts/slideLayout7.xml"/><Relationship Id="rId6" Type="http://schemas.openxmlformats.org/officeDocument/2006/relationships/image" Target="../media/image43.wmf"/><Relationship Id="rId5" Type="http://schemas.openxmlformats.org/officeDocument/2006/relationships/oleObject" Target="../embeddings/oleObject10.bin"/><Relationship Id="rId4" Type="http://schemas.openxmlformats.org/officeDocument/2006/relationships/image" Target="../media/image42.wmf"/></Relationships>
</file>

<file path=ppt/slides/_rels/slide41.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45.jpe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2212975"/>
          </a:xfrm>
        </p:spPr>
        <p:txBody>
          <a:bodyPr/>
          <a:lstStyle/>
          <a:p>
            <a:r>
              <a:rPr lang="en-US" b="1" dirty="0"/>
              <a:t>L3</a:t>
            </a:r>
            <a:br>
              <a:rPr lang="en-US" b="1" dirty="0"/>
            </a:br>
            <a:r>
              <a:rPr lang="en-US" b="1" dirty="0"/>
              <a:t>Field Effect Transistors</a:t>
            </a:r>
            <a:endParaRPr lang="en-US" dirty="0"/>
          </a:p>
        </p:txBody>
      </p:sp>
      <p:sp>
        <p:nvSpPr>
          <p:cNvPr id="3" name="Slide Number Placeholder 2"/>
          <p:cNvSpPr>
            <a:spLocks noGrp="1"/>
          </p:cNvSpPr>
          <p:nvPr>
            <p:ph type="sldNum" sz="quarter" idx="12"/>
          </p:nvPr>
        </p:nvSpPr>
        <p:spPr/>
        <p:txBody>
          <a:bodyPr/>
          <a:lstStyle/>
          <a:p>
            <a:fld id="{FA930017-089C-4B04-9152-CFCB1CDC61B1}" type="slidenum">
              <a:rPr lang="en-US" smtClean="0"/>
              <a:pPr/>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685800" y="381000"/>
            <a:ext cx="7772400" cy="609600"/>
          </a:xfrm>
          <a:solidFill>
            <a:srgbClr val="993366"/>
          </a:solidFill>
        </p:spPr>
        <p:txBody>
          <a:bodyPr>
            <a:normAutofit fontScale="90000"/>
          </a:bodyPr>
          <a:lstStyle/>
          <a:p>
            <a:r>
              <a:rPr lang="en-US" sz="4000" b="1">
                <a:solidFill>
                  <a:schemeClr val="tx1"/>
                </a:solidFill>
              </a:rPr>
              <a:t>FET ( Field Effect Transistor)</a:t>
            </a:r>
          </a:p>
        </p:txBody>
      </p:sp>
      <p:sp>
        <p:nvSpPr>
          <p:cNvPr id="15363" name="Rectangle 3"/>
          <p:cNvSpPr>
            <a:spLocks noGrp="1" noChangeArrowheads="1"/>
          </p:cNvSpPr>
          <p:nvPr>
            <p:ph type="body" idx="1"/>
          </p:nvPr>
        </p:nvSpPr>
        <p:spPr>
          <a:xfrm>
            <a:off x="533400" y="1600200"/>
            <a:ext cx="7924800" cy="4495800"/>
          </a:xfrm>
          <a:noFill/>
          <a:ln>
            <a:solidFill>
              <a:srgbClr val="993366"/>
            </a:solidFill>
          </a:ln>
        </p:spPr>
        <p:txBody>
          <a:bodyPr/>
          <a:lstStyle/>
          <a:p>
            <a:pPr marL="609600" indent="-609600">
              <a:lnSpc>
                <a:spcPct val="80000"/>
              </a:lnSpc>
              <a:spcBef>
                <a:spcPct val="50000"/>
              </a:spcBef>
              <a:buClr>
                <a:srgbClr val="CC3300"/>
              </a:buClr>
              <a:buNone/>
            </a:pPr>
            <a:r>
              <a:rPr lang="en-US" sz="1800" dirty="0">
                <a:latin typeface="Verdana" pitchFamily="34" charset="0"/>
              </a:rPr>
              <a:t>1. </a:t>
            </a:r>
            <a:r>
              <a:rPr lang="en-US" sz="1800" dirty="0" err="1">
                <a:latin typeface="Verdana" pitchFamily="34" charset="0"/>
              </a:rPr>
              <a:t>Unipolar</a:t>
            </a:r>
            <a:r>
              <a:rPr lang="en-US" sz="1800" dirty="0">
                <a:latin typeface="Verdana" pitchFamily="34" charset="0"/>
              </a:rPr>
              <a:t> device i.e. operation depends on only one type of charge carriers (</a:t>
            </a:r>
            <a:r>
              <a:rPr lang="en-US" sz="1800" i="1" dirty="0">
                <a:latin typeface="Verdana" pitchFamily="34" charset="0"/>
              </a:rPr>
              <a:t>h</a:t>
            </a:r>
            <a:r>
              <a:rPr lang="en-US" sz="1800" dirty="0">
                <a:latin typeface="Verdana" pitchFamily="34" charset="0"/>
              </a:rPr>
              <a:t> or </a:t>
            </a:r>
            <a:r>
              <a:rPr lang="en-US" sz="1800" i="1" dirty="0">
                <a:latin typeface="Verdana" pitchFamily="34" charset="0"/>
              </a:rPr>
              <a:t>e)</a:t>
            </a:r>
            <a:r>
              <a:rPr lang="en-US" sz="1800" dirty="0">
                <a:latin typeface="Verdana" pitchFamily="34" charset="0"/>
              </a:rPr>
              <a:t> </a:t>
            </a:r>
          </a:p>
          <a:p>
            <a:pPr marL="609600" indent="-609600">
              <a:lnSpc>
                <a:spcPct val="80000"/>
              </a:lnSpc>
              <a:buNone/>
            </a:pPr>
            <a:r>
              <a:rPr lang="en-US" sz="1800" dirty="0">
                <a:latin typeface="Verdana" pitchFamily="34" charset="0"/>
              </a:rPr>
              <a:t>2. Voltage controlled Device (gate voltage controls drain current)</a:t>
            </a:r>
          </a:p>
          <a:p>
            <a:pPr marL="609600" indent="-609600">
              <a:lnSpc>
                <a:spcPct val="80000"/>
              </a:lnSpc>
              <a:spcBef>
                <a:spcPct val="50000"/>
              </a:spcBef>
              <a:buClr>
                <a:srgbClr val="CC3300"/>
              </a:buClr>
              <a:buNone/>
            </a:pPr>
            <a:r>
              <a:rPr lang="en-US" sz="1800" dirty="0">
                <a:latin typeface="Verdana" pitchFamily="34" charset="0"/>
              </a:rPr>
              <a:t>3. Very high input impedance (</a:t>
            </a:r>
            <a:r>
              <a:rPr lang="en-US" sz="1800" dirty="0">
                <a:latin typeface="Verdana" pitchFamily="34" charset="0"/>
                <a:sym typeface="Symbol" pitchFamily="18" charset="2"/>
              </a:rPr>
              <a:t>10</a:t>
            </a:r>
            <a:r>
              <a:rPr lang="en-US" sz="1800" baseline="30000" dirty="0">
                <a:latin typeface="Verdana" pitchFamily="34" charset="0"/>
                <a:sym typeface="Symbol" pitchFamily="18" charset="2"/>
              </a:rPr>
              <a:t>9</a:t>
            </a:r>
            <a:r>
              <a:rPr lang="en-US" sz="1800" dirty="0">
                <a:latin typeface="Verdana" pitchFamily="34" charset="0"/>
                <a:sym typeface="Symbol" pitchFamily="18" charset="2"/>
              </a:rPr>
              <a:t>-10</a:t>
            </a:r>
            <a:r>
              <a:rPr lang="en-US" sz="1800" baseline="30000" dirty="0">
                <a:latin typeface="Verdana" pitchFamily="34" charset="0"/>
                <a:sym typeface="Symbol" pitchFamily="18" charset="2"/>
              </a:rPr>
              <a:t>12 </a:t>
            </a:r>
            <a:r>
              <a:rPr lang="en-US" sz="1800" dirty="0">
                <a:latin typeface="Verdana" pitchFamily="34" charset="0"/>
                <a:sym typeface="Symbol" pitchFamily="18" charset="2"/>
              </a:rPr>
              <a:t>)</a:t>
            </a:r>
          </a:p>
          <a:p>
            <a:pPr marL="609600" indent="-609600">
              <a:lnSpc>
                <a:spcPct val="80000"/>
              </a:lnSpc>
              <a:spcBef>
                <a:spcPct val="50000"/>
              </a:spcBef>
              <a:buClr>
                <a:srgbClr val="CC3300"/>
              </a:buClr>
              <a:buNone/>
            </a:pPr>
            <a:r>
              <a:rPr lang="en-US" sz="1800" dirty="0">
                <a:latin typeface="Verdana" pitchFamily="34" charset="0"/>
              </a:rPr>
              <a:t>4. Source and drain are interchangeable in most Low-frequency applications</a:t>
            </a:r>
          </a:p>
          <a:p>
            <a:pPr marL="609600" indent="-609600">
              <a:lnSpc>
                <a:spcPct val="80000"/>
              </a:lnSpc>
              <a:spcBef>
                <a:spcPct val="50000"/>
              </a:spcBef>
              <a:buNone/>
            </a:pPr>
            <a:r>
              <a:rPr lang="en-US" sz="1800" dirty="0">
                <a:latin typeface="Verdana" pitchFamily="34" charset="0"/>
              </a:rPr>
              <a:t>5. Low Voltage Low Current Operation is possible (Low-power consumption)</a:t>
            </a:r>
          </a:p>
          <a:p>
            <a:pPr marL="609600" indent="-609600">
              <a:lnSpc>
                <a:spcPct val="80000"/>
              </a:lnSpc>
              <a:buNone/>
            </a:pPr>
            <a:r>
              <a:rPr lang="en-US" sz="1800" dirty="0">
                <a:latin typeface="Verdana" pitchFamily="34" charset="0"/>
              </a:rPr>
              <a:t>6. Less Noisy as Compared to BJT	</a:t>
            </a:r>
          </a:p>
          <a:p>
            <a:pPr marL="609600" indent="-609600">
              <a:lnSpc>
                <a:spcPct val="80000"/>
              </a:lnSpc>
              <a:buNone/>
            </a:pPr>
            <a:r>
              <a:rPr lang="en-US" sz="1800" dirty="0">
                <a:latin typeface="Verdana" pitchFamily="34" charset="0"/>
              </a:rPr>
              <a:t>7. No minority carrier storage (Turn off is faster) </a:t>
            </a:r>
          </a:p>
          <a:p>
            <a:pPr marL="609600" indent="-609600">
              <a:lnSpc>
                <a:spcPct val="80000"/>
              </a:lnSpc>
              <a:buNone/>
            </a:pPr>
            <a:r>
              <a:rPr lang="en-US" sz="1800" dirty="0">
                <a:latin typeface="Verdana" pitchFamily="34" charset="0"/>
              </a:rPr>
              <a:t>8. Self limiting device</a:t>
            </a:r>
          </a:p>
          <a:p>
            <a:pPr marL="609600" indent="-609600">
              <a:lnSpc>
                <a:spcPct val="80000"/>
              </a:lnSpc>
              <a:buNone/>
            </a:pPr>
            <a:r>
              <a:rPr lang="en-US" sz="1800" dirty="0">
                <a:latin typeface="Verdana" pitchFamily="34" charset="0"/>
              </a:rPr>
              <a:t>9. Very small in size, occupies very small space in ICs</a:t>
            </a:r>
          </a:p>
          <a:p>
            <a:pPr marL="609600" indent="-609600">
              <a:lnSpc>
                <a:spcPct val="80000"/>
              </a:lnSpc>
              <a:buNone/>
            </a:pPr>
            <a:r>
              <a:rPr lang="en-US" sz="1800" dirty="0">
                <a:latin typeface="Verdana" pitchFamily="34" charset="0"/>
              </a:rPr>
              <a:t>10. Low voltage low current operation is possible in MOSFETS </a:t>
            </a:r>
          </a:p>
          <a:p>
            <a:pPr marL="609600" indent="-609600">
              <a:lnSpc>
                <a:spcPct val="80000"/>
              </a:lnSpc>
              <a:buNone/>
            </a:pPr>
            <a:r>
              <a:rPr lang="en-US" sz="1800" dirty="0">
                <a:latin typeface="Verdana" pitchFamily="34" charset="0"/>
              </a:rPr>
              <a:t>11. Zero temperature drift of out put is possible</a:t>
            </a:r>
          </a:p>
        </p:txBody>
      </p:sp>
      <p:sp>
        <p:nvSpPr>
          <p:cNvPr id="15364" name="Text Box 4"/>
          <p:cNvSpPr txBox="1">
            <a:spLocks noChangeArrowheads="1"/>
          </p:cNvSpPr>
          <p:nvPr/>
        </p:nvSpPr>
        <p:spPr bwMode="auto">
          <a:xfrm>
            <a:off x="533400" y="1066800"/>
            <a:ext cx="381000" cy="457200"/>
          </a:xfrm>
          <a:prstGeom prst="rect">
            <a:avLst/>
          </a:prstGeom>
          <a:noFill/>
          <a:ln w="9525">
            <a:noFill/>
            <a:miter lim="800000"/>
            <a:headEnd/>
            <a:tailEnd/>
          </a:ln>
        </p:spPr>
        <p:txBody>
          <a:bodyPr>
            <a:spAutoFit/>
          </a:bodyPr>
          <a:lstStyle/>
          <a:p>
            <a:pPr>
              <a:spcBef>
                <a:spcPct val="50000"/>
              </a:spcBef>
            </a:pPr>
            <a:endParaRPr lang="en-US"/>
          </a:p>
        </p:txBody>
      </p:sp>
      <p:sp>
        <p:nvSpPr>
          <p:cNvPr id="15365" name="Text Box 5"/>
          <p:cNvSpPr txBox="1">
            <a:spLocks noChangeArrowheads="1"/>
          </p:cNvSpPr>
          <p:nvPr/>
        </p:nvSpPr>
        <p:spPr bwMode="auto">
          <a:xfrm>
            <a:off x="228600" y="1066800"/>
            <a:ext cx="8305800" cy="396875"/>
          </a:xfrm>
          <a:prstGeom prst="rect">
            <a:avLst/>
          </a:prstGeom>
          <a:noFill/>
          <a:ln w="9525">
            <a:noFill/>
            <a:miter lim="800000"/>
            <a:headEnd/>
            <a:tailEnd/>
          </a:ln>
        </p:spPr>
        <p:txBody>
          <a:bodyPr rIns="0">
            <a:spAutoFit/>
          </a:bodyPr>
          <a:lstStyle/>
          <a:p>
            <a:pPr>
              <a:spcBef>
                <a:spcPct val="50000"/>
              </a:spcBef>
            </a:pPr>
            <a:r>
              <a:rPr lang="en-US" sz="2000" dirty="0">
                <a:latin typeface="Verdana" pitchFamily="34" charset="0"/>
              </a:rPr>
              <a:t>Few important advantages of FET over conventional Transistors</a:t>
            </a:r>
          </a:p>
        </p:txBody>
      </p:sp>
      <p:sp>
        <p:nvSpPr>
          <p:cNvPr id="6" name="Slide Number Placeholder 5"/>
          <p:cNvSpPr>
            <a:spLocks noGrp="1"/>
          </p:cNvSpPr>
          <p:nvPr>
            <p:ph type="sldNum" sz="quarter" idx="12"/>
          </p:nvPr>
        </p:nvSpPr>
        <p:spPr/>
        <p:txBody>
          <a:bodyPr/>
          <a:lstStyle/>
          <a:p>
            <a:fld id="{FA930017-089C-4B04-9152-CFCB1CDC61B1}" type="slidenum">
              <a:rPr lang="en-US" smtClean="0"/>
              <a:pPr/>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685800" y="609600"/>
            <a:ext cx="7772400" cy="838200"/>
          </a:xfrm>
          <a:noFill/>
        </p:spPr>
        <p:txBody>
          <a:bodyPr/>
          <a:lstStyle/>
          <a:p>
            <a:r>
              <a:rPr lang="en-US" sz="2400">
                <a:solidFill>
                  <a:schemeClr val="tx1"/>
                </a:solidFill>
                <a:latin typeface="Verdana" pitchFamily="34" charset="0"/>
              </a:rPr>
              <a:t>Types of Field Effect Transistors </a:t>
            </a:r>
            <a:br>
              <a:rPr lang="en-US" sz="2400">
                <a:solidFill>
                  <a:schemeClr val="tx1"/>
                </a:solidFill>
                <a:latin typeface="Verdana" pitchFamily="34" charset="0"/>
              </a:rPr>
            </a:br>
            <a:r>
              <a:rPr lang="en-US" sz="2400">
                <a:solidFill>
                  <a:schemeClr val="tx1"/>
                </a:solidFill>
                <a:latin typeface="Verdana" pitchFamily="34" charset="0"/>
              </a:rPr>
              <a:t>(The Classification) </a:t>
            </a:r>
          </a:p>
        </p:txBody>
      </p:sp>
      <p:sp>
        <p:nvSpPr>
          <p:cNvPr id="16387" name="Rectangle 3"/>
          <p:cNvSpPr>
            <a:spLocks noGrp="1" noChangeArrowheads="1"/>
          </p:cNvSpPr>
          <p:nvPr>
            <p:ph type="body" idx="1"/>
          </p:nvPr>
        </p:nvSpPr>
        <p:spPr>
          <a:xfrm>
            <a:off x="685800" y="1752600"/>
            <a:ext cx="7772400" cy="4343400"/>
          </a:xfrm>
          <a:noFill/>
          <a:ln>
            <a:solidFill>
              <a:srgbClr val="008080"/>
            </a:solidFill>
          </a:ln>
        </p:spPr>
        <p:txBody>
          <a:bodyPr/>
          <a:lstStyle/>
          <a:p>
            <a:pPr marL="2209800" lvl="4" indent="-381000">
              <a:lnSpc>
                <a:spcPct val="200000"/>
              </a:lnSpc>
            </a:pPr>
            <a:r>
              <a:rPr lang="en-US" sz="1600" dirty="0">
                <a:latin typeface="Verdana" pitchFamily="34" charset="0"/>
              </a:rPr>
              <a:t>JFET</a:t>
            </a:r>
          </a:p>
          <a:p>
            <a:pPr marL="609600" indent="-609600">
              <a:lnSpc>
                <a:spcPct val="200000"/>
              </a:lnSpc>
              <a:buFontTx/>
              <a:buNone/>
            </a:pPr>
            <a:r>
              <a:rPr lang="en-US" sz="1800" dirty="0">
                <a:latin typeface="Verdana" pitchFamily="34" charset="0"/>
              </a:rPr>
              <a:t>			MOSFET(</a:t>
            </a:r>
            <a:r>
              <a:rPr lang="en-US" sz="2400" dirty="0"/>
              <a:t>IGFETs)</a:t>
            </a:r>
            <a:r>
              <a:rPr lang="en-US" sz="2400" dirty="0">
                <a:latin typeface="Verdana" pitchFamily="34" charset="0"/>
              </a:rPr>
              <a:t> </a:t>
            </a:r>
            <a:r>
              <a:rPr lang="en-US" sz="1800" dirty="0"/>
              <a:t>insulated-gate field-effect transistors</a:t>
            </a:r>
            <a:endParaRPr lang="en-US" sz="1800" dirty="0">
              <a:latin typeface="Verdana" pitchFamily="34" charset="0"/>
            </a:endParaRPr>
          </a:p>
        </p:txBody>
      </p:sp>
      <p:sp>
        <p:nvSpPr>
          <p:cNvPr id="16388" name="Text Box 4"/>
          <p:cNvSpPr txBox="1">
            <a:spLocks noChangeArrowheads="1"/>
          </p:cNvSpPr>
          <p:nvPr/>
        </p:nvSpPr>
        <p:spPr bwMode="auto">
          <a:xfrm>
            <a:off x="4572000" y="1752600"/>
            <a:ext cx="3581400" cy="1004888"/>
          </a:xfrm>
          <a:prstGeom prst="rect">
            <a:avLst/>
          </a:prstGeom>
          <a:noFill/>
          <a:ln w="9525">
            <a:noFill/>
            <a:miter lim="800000"/>
            <a:headEnd/>
            <a:tailEnd/>
          </a:ln>
        </p:spPr>
        <p:txBody>
          <a:bodyPr>
            <a:spAutoFit/>
          </a:bodyPr>
          <a:lstStyle/>
          <a:p>
            <a:pPr>
              <a:spcBef>
                <a:spcPct val="50000"/>
              </a:spcBef>
            </a:pPr>
            <a:r>
              <a:rPr lang="en-US">
                <a:latin typeface="Verdana" pitchFamily="34" charset="0"/>
              </a:rPr>
              <a:t>n-Channel JFET</a:t>
            </a:r>
          </a:p>
          <a:p>
            <a:pPr>
              <a:spcBef>
                <a:spcPct val="50000"/>
              </a:spcBef>
            </a:pPr>
            <a:r>
              <a:rPr lang="en-US">
                <a:latin typeface="Verdana" pitchFamily="34" charset="0"/>
              </a:rPr>
              <a:t>p-Channel JFET</a:t>
            </a:r>
          </a:p>
        </p:txBody>
      </p:sp>
      <p:sp>
        <p:nvSpPr>
          <p:cNvPr id="16389" name="Line 5"/>
          <p:cNvSpPr>
            <a:spLocks noChangeShapeType="1"/>
          </p:cNvSpPr>
          <p:nvPr/>
        </p:nvSpPr>
        <p:spPr bwMode="auto">
          <a:xfrm>
            <a:off x="3429000" y="2209800"/>
            <a:ext cx="685800" cy="0"/>
          </a:xfrm>
          <a:prstGeom prst="line">
            <a:avLst/>
          </a:prstGeom>
          <a:noFill/>
          <a:ln w="9525">
            <a:solidFill>
              <a:schemeClr val="tx1"/>
            </a:solidFill>
            <a:round/>
            <a:headEnd/>
            <a:tailEnd/>
          </a:ln>
        </p:spPr>
        <p:txBody>
          <a:bodyPr/>
          <a:lstStyle/>
          <a:p>
            <a:endParaRPr lang="en-US"/>
          </a:p>
        </p:txBody>
      </p:sp>
      <p:sp>
        <p:nvSpPr>
          <p:cNvPr id="16390" name="Line 6"/>
          <p:cNvSpPr>
            <a:spLocks noChangeShapeType="1"/>
          </p:cNvSpPr>
          <p:nvPr/>
        </p:nvSpPr>
        <p:spPr bwMode="auto">
          <a:xfrm>
            <a:off x="4114800" y="1981200"/>
            <a:ext cx="0" cy="533400"/>
          </a:xfrm>
          <a:prstGeom prst="line">
            <a:avLst/>
          </a:prstGeom>
          <a:noFill/>
          <a:ln w="9525">
            <a:solidFill>
              <a:schemeClr val="tx1"/>
            </a:solidFill>
            <a:round/>
            <a:headEnd/>
            <a:tailEnd/>
          </a:ln>
        </p:spPr>
        <p:txBody>
          <a:bodyPr/>
          <a:lstStyle/>
          <a:p>
            <a:endParaRPr lang="en-US"/>
          </a:p>
        </p:txBody>
      </p:sp>
      <p:sp>
        <p:nvSpPr>
          <p:cNvPr id="16391" name="Line 7"/>
          <p:cNvSpPr>
            <a:spLocks noChangeShapeType="1"/>
          </p:cNvSpPr>
          <p:nvPr/>
        </p:nvSpPr>
        <p:spPr bwMode="auto">
          <a:xfrm>
            <a:off x="4114800" y="1981200"/>
            <a:ext cx="457200" cy="0"/>
          </a:xfrm>
          <a:prstGeom prst="line">
            <a:avLst/>
          </a:prstGeom>
          <a:noFill/>
          <a:ln w="9525">
            <a:solidFill>
              <a:schemeClr val="tx1"/>
            </a:solidFill>
            <a:round/>
            <a:headEnd/>
            <a:tailEnd type="triangle" w="med" len="med"/>
          </a:ln>
        </p:spPr>
        <p:txBody>
          <a:bodyPr/>
          <a:lstStyle/>
          <a:p>
            <a:endParaRPr lang="en-US"/>
          </a:p>
        </p:txBody>
      </p:sp>
      <p:sp>
        <p:nvSpPr>
          <p:cNvPr id="16392" name="Line 8"/>
          <p:cNvSpPr>
            <a:spLocks noChangeShapeType="1"/>
          </p:cNvSpPr>
          <p:nvPr/>
        </p:nvSpPr>
        <p:spPr bwMode="auto">
          <a:xfrm>
            <a:off x="4114800" y="2514600"/>
            <a:ext cx="457200" cy="0"/>
          </a:xfrm>
          <a:prstGeom prst="line">
            <a:avLst/>
          </a:prstGeom>
          <a:noFill/>
          <a:ln w="9525">
            <a:solidFill>
              <a:schemeClr val="tx1"/>
            </a:solidFill>
            <a:round/>
            <a:headEnd/>
            <a:tailEnd type="triangle" w="med" len="med"/>
          </a:ln>
        </p:spPr>
        <p:txBody>
          <a:bodyPr/>
          <a:lstStyle/>
          <a:p>
            <a:endParaRPr lang="en-US"/>
          </a:p>
        </p:txBody>
      </p:sp>
      <p:sp>
        <p:nvSpPr>
          <p:cNvPr id="16393" name="Text Box 15"/>
          <p:cNvSpPr txBox="1">
            <a:spLocks noChangeArrowheads="1"/>
          </p:cNvSpPr>
          <p:nvPr/>
        </p:nvSpPr>
        <p:spPr bwMode="auto">
          <a:xfrm>
            <a:off x="914400" y="5292725"/>
            <a:ext cx="1295400" cy="498475"/>
          </a:xfrm>
          <a:prstGeom prst="rect">
            <a:avLst/>
          </a:prstGeom>
          <a:noFill/>
          <a:ln w="9525">
            <a:solidFill>
              <a:schemeClr val="tx1"/>
            </a:solidFill>
            <a:miter lim="800000"/>
            <a:headEnd/>
            <a:tailEnd/>
          </a:ln>
        </p:spPr>
        <p:txBody>
          <a:bodyPr tIns="0" rIns="0" bIns="0">
            <a:spAutoFit/>
          </a:bodyPr>
          <a:lstStyle/>
          <a:p>
            <a:pPr algn="ctr">
              <a:spcBef>
                <a:spcPct val="50000"/>
              </a:spcBef>
            </a:pPr>
            <a:r>
              <a:rPr lang="en-US" sz="1600">
                <a:latin typeface="Verdana" pitchFamily="34" charset="0"/>
              </a:rPr>
              <a:t>n-Channel EMOSFET </a:t>
            </a:r>
          </a:p>
        </p:txBody>
      </p:sp>
      <p:sp>
        <p:nvSpPr>
          <p:cNvPr id="16394" name="Text Box 16"/>
          <p:cNvSpPr txBox="1">
            <a:spLocks noChangeArrowheads="1"/>
          </p:cNvSpPr>
          <p:nvPr/>
        </p:nvSpPr>
        <p:spPr bwMode="auto">
          <a:xfrm>
            <a:off x="2895600" y="5334000"/>
            <a:ext cx="1295400" cy="498475"/>
          </a:xfrm>
          <a:prstGeom prst="rect">
            <a:avLst/>
          </a:prstGeom>
          <a:noFill/>
          <a:ln w="9525">
            <a:solidFill>
              <a:schemeClr val="tx1"/>
            </a:solidFill>
            <a:miter lim="800000"/>
            <a:headEnd/>
            <a:tailEnd/>
          </a:ln>
        </p:spPr>
        <p:txBody>
          <a:bodyPr tIns="0" rIns="0" bIns="0">
            <a:spAutoFit/>
          </a:bodyPr>
          <a:lstStyle/>
          <a:p>
            <a:pPr algn="ctr">
              <a:spcBef>
                <a:spcPct val="50000"/>
              </a:spcBef>
            </a:pPr>
            <a:r>
              <a:rPr lang="en-US" sz="1600">
                <a:latin typeface="Verdana" pitchFamily="34" charset="0"/>
              </a:rPr>
              <a:t>p-Channel EMOSFET </a:t>
            </a:r>
          </a:p>
        </p:txBody>
      </p:sp>
      <p:sp>
        <p:nvSpPr>
          <p:cNvPr id="16395" name="Line 17"/>
          <p:cNvSpPr>
            <a:spLocks noChangeShapeType="1"/>
          </p:cNvSpPr>
          <p:nvPr/>
        </p:nvSpPr>
        <p:spPr bwMode="auto">
          <a:xfrm>
            <a:off x="4876800" y="3048000"/>
            <a:ext cx="0" cy="609600"/>
          </a:xfrm>
          <a:prstGeom prst="line">
            <a:avLst/>
          </a:prstGeom>
          <a:noFill/>
          <a:ln w="9525">
            <a:solidFill>
              <a:schemeClr val="tx1"/>
            </a:solidFill>
            <a:round/>
            <a:headEnd/>
            <a:tailEnd type="arrow" w="lg" len="lg"/>
          </a:ln>
        </p:spPr>
        <p:txBody>
          <a:bodyPr/>
          <a:lstStyle/>
          <a:p>
            <a:endParaRPr lang="en-US"/>
          </a:p>
        </p:txBody>
      </p:sp>
      <p:sp>
        <p:nvSpPr>
          <p:cNvPr id="16396" name="Line 18"/>
          <p:cNvSpPr>
            <a:spLocks noChangeShapeType="1"/>
          </p:cNvSpPr>
          <p:nvPr/>
        </p:nvSpPr>
        <p:spPr bwMode="auto">
          <a:xfrm>
            <a:off x="2743200" y="3657600"/>
            <a:ext cx="3886200" cy="0"/>
          </a:xfrm>
          <a:prstGeom prst="line">
            <a:avLst/>
          </a:prstGeom>
          <a:noFill/>
          <a:ln w="9525">
            <a:solidFill>
              <a:schemeClr val="tx1"/>
            </a:solidFill>
            <a:round/>
            <a:headEnd/>
            <a:tailEnd/>
          </a:ln>
        </p:spPr>
        <p:txBody>
          <a:bodyPr/>
          <a:lstStyle/>
          <a:p>
            <a:endParaRPr lang="en-US"/>
          </a:p>
        </p:txBody>
      </p:sp>
      <p:sp>
        <p:nvSpPr>
          <p:cNvPr id="16397" name="Line 19"/>
          <p:cNvSpPr>
            <a:spLocks noChangeShapeType="1"/>
          </p:cNvSpPr>
          <p:nvPr/>
        </p:nvSpPr>
        <p:spPr bwMode="auto">
          <a:xfrm>
            <a:off x="2743200" y="3657600"/>
            <a:ext cx="0" cy="381000"/>
          </a:xfrm>
          <a:prstGeom prst="line">
            <a:avLst/>
          </a:prstGeom>
          <a:noFill/>
          <a:ln w="9525">
            <a:solidFill>
              <a:schemeClr val="tx1"/>
            </a:solidFill>
            <a:round/>
            <a:headEnd/>
            <a:tailEnd type="triangle" w="med" len="med"/>
          </a:ln>
        </p:spPr>
        <p:txBody>
          <a:bodyPr/>
          <a:lstStyle/>
          <a:p>
            <a:endParaRPr lang="en-US"/>
          </a:p>
        </p:txBody>
      </p:sp>
      <p:sp>
        <p:nvSpPr>
          <p:cNvPr id="16398" name="Line 20"/>
          <p:cNvSpPr>
            <a:spLocks noChangeShapeType="1"/>
          </p:cNvSpPr>
          <p:nvPr/>
        </p:nvSpPr>
        <p:spPr bwMode="auto">
          <a:xfrm>
            <a:off x="6629400" y="3657600"/>
            <a:ext cx="0" cy="381000"/>
          </a:xfrm>
          <a:prstGeom prst="line">
            <a:avLst/>
          </a:prstGeom>
          <a:noFill/>
          <a:ln w="9525">
            <a:solidFill>
              <a:schemeClr val="tx1"/>
            </a:solidFill>
            <a:round/>
            <a:headEnd/>
            <a:tailEnd type="triangle" w="med" len="med"/>
          </a:ln>
        </p:spPr>
        <p:txBody>
          <a:bodyPr/>
          <a:lstStyle/>
          <a:p>
            <a:endParaRPr lang="en-US"/>
          </a:p>
        </p:txBody>
      </p:sp>
      <p:sp>
        <p:nvSpPr>
          <p:cNvPr id="16399" name="Text Box 21"/>
          <p:cNvSpPr txBox="1">
            <a:spLocks noChangeArrowheads="1"/>
          </p:cNvSpPr>
          <p:nvPr/>
        </p:nvSpPr>
        <p:spPr bwMode="auto">
          <a:xfrm>
            <a:off x="1676400" y="4038600"/>
            <a:ext cx="2057400" cy="711200"/>
          </a:xfrm>
          <a:prstGeom prst="rect">
            <a:avLst/>
          </a:prstGeom>
          <a:noFill/>
          <a:ln w="9525">
            <a:solidFill>
              <a:schemeClr val="tx1"/>
            </a:solidFill>
            <a:miter lim="800000"/>
            <a:headEnd/>
            <a:tailEnd/>
          </a:ln>
        </p:spPr>
        <p:txBody>
          <a:bodyPr rIns="0">
            <a:spAutoFit/>
          </a:bodyPr>
          <a:lstStyle/>
          <a:p>
            <a:pPr algn="ctr">
              <a:spcBef>
                <a:spcPct val="50000"/>
              </a:spcBef>
            </a:pPr>
            <a:r>
              <a:rPr lang="en-US" sz="2000" dirty="0">
                <a:latin typeface="Verdana" pitchFamily="34" charset="0"/>
              </a:rPr>
              <a:t>Enhancement MOSFET</a:t>
            </a:r>
          </a:p>
        </p:txBody>
      </p:sp>
      <p:sp>
        <p:nvSpPr>
          <p:cNvPr id="16400" name="Text Box 22"/>
          <p:cNvSpPr txBox="1">
            <a:spLocks noChangeArrowheads="1"/>
          </p:cNvSpPr>
          <p:nvPr/>
        </p:nvSpPr>
        <p:spPr bwMode="auto">
          <a:xfrm>
            <a:off x="5867400" y="4038600"/>
            <a:ext cx="1524000" cy="619125"/>
          </a:xfrm>
          <a:prstGeom prst="rect">
            <a:avLst/>
          </a:prstGeom>
          <a:noFill/>
          <a:ln w="9525">
            <a:solidFill>
              <a:srgbClr val="993300"/>
            </a:solidFill>
            <a:miter lim="800000"/>
            <a:headEnd/>
            <a:tailEnd/>
          </a:ln>
        </p:spPr>
        <p:txBody>
          <a:bodyPr tIns="0" rIns="0" bIns="0">
            <a:spAutoFit/>
          </a:bodyPr>
          <a:lstStyle/>
          <a:p>
            <a:pPr algn="ctr">
              <a:spcBef>
                <a:spcPct val="50000"/>
              </a:spcBef>
            </a:pPr>
            <a:r>
              <a:rPr lang="en-US" sz="2000">
                <a:latin typeface="Verdana" pitchFamily="34" charset="0"/>
              </a:rPr>
              <a:t>Depletion MOSFET</a:t>
            </a:r>
          </a:p>
        </p:txBody>
      </p:sp>
      <p:sp>
        <p:nvSpPr>
          <p:cNvPr id="16401" name="Text Box 23"/>
          <p:cNvSpPr txBox="1">
            <a:spLocks noChangeArrowheads="1"/>
          </p:cNvSpPr>
          <p:nvPr/>
        </p:nvSpPr>
        <p:spPr bwMode="auto">
          <a:xfrm>
            <a:off x="4876800" y="5257800"/>
            <a:ext cx="1371600" cy="498475"/>
          </a:xfrm>
          <a:prstGeom prst="rect">
            <a:avLst/>
          </a:prstGeom>
          <a:noFill/>
          <a:ln w="9525">
            <a:solidFill>
              <a:srgbClr val="993300"/>
            </a:solidFill>
            <a:miter lim="800000"/>
            <a:headEnd/>
            <a:tailEnd/>
          </a:ln>
        </p:spPr>
        <p:txBody>
          <a:bodyPr tIns="0" rIns="0" bIns="0">
            <a:spAutoFit/>
          </a:bodyPr>
          <a:lstStyle/>
          <a:p>
            <a:pPr algn="ctr">
              <a:spcBef>
                <a:spcPct val="50000"/>
              </a:spcBef>
            </a:pPr>
            <a:r>
              <a:rPr lang="en-US" sz="1600">
                <a:latin typeface="Verdana" pitchFamily="34" charset="0"/>
              </a:rPr>
              <a:t>n-Channel DMOSFET </a:t>
            </a:r>
          </a:p>
        </p:txBody>
      </p:sp>
      <p:sp>
        <p:nvSpPr>
          <p:cNvPr id="16402" name="Text Box 24"/>
          <p:cNvSpPr txBox="1">
            <a:spLocks noChangeArrowheads="1"/>
          </p:cNvSpPr>
          <p:nvPr/>
        </p:nvSpPr>
        <p:spPr bwMode="auto">
          <a:xfrm>
            <a:off x="6858000" y="5257800"/>
            <a:ext cx="1371600" cy="498475"/>
          </a:xfrm>
          <a:prstGeom prst="rect">
            <a:avLst/>
          </a:prstGeom>
          <a:noFill/>
          <a:ln w="9525">
            <a:solidFill>
              <a:srgbClr val="993300"/>
            </a:solidFill>
            <a:miter lim="800000"/>
            <a:headEnd/>
            <a:tailEnd/>
          </a:ln>
        </p:spPr>
        <p:txBody>
          <a:bodyPr tIns="0" rIns="0" bIns="0">
            <a:spAutoFit/>
          </a:bodyPr>
          <a:lstStyle/>
          <a:p>
            <a:pPr algn="ctr">
              <a:spcBef>
                <a:spcPct val="50000"/>
              </a:spcBef>
            </a:pPr>
            <a:r>
              <a:rPr lang="en-US" sz="1600">
                <a:latin typeface="Verdana" pitchFamily="34" charset="0"/>
              </a:rPr>
              <a:t>p-Channel DMOSFET </a:t>
            </a:r>
          </a:p>
        </p:txBody>
      </p:sp>
      <p:sp>
        <p:nvSpPr>
          <p:cNvPr id="16403" name="Line 25"/>
          <p:cNvSpPr>
            <a:spLocks noChangeShapeType="1"/>
          </p:cNvSpPr>
          <p:nvPr/>
        </p:nvSpPr>
        <p:spPr bwMode="auto">
          <a:xfrm>
            <a:off x="2667000" y="4724400"/>
            <a:ext cx="0" cy="228600"/>
          </a:xfrm>
          <a:prstGeom prst="line">
            <a:avLst/>
          </a:prstGeom>
          <a:noFill/>
          <a:ln w="9525">
            <a:solidFill>
              <a:schemeClr val="tx1"/>
            </a:solidFill>
            <a:round/>
            <a:headEnd/>
            <a:tailEnd/>
          </a:ln>
        </p:spPr>
        <p:txBody>
          <a:bodyPr/>
          <a:lstStyle/>
          <a:p>
            <a:endParaRPr lang="en-US"/>
          </a:p>
        </p:txBody>
      </p:sp>
      <p:sp>
        <p:nvSpPr>
          <p:cNvPr id="16404" name="Line 26"/>
          <p:cNvSpPr>
            <a:spLocks noChangeShapeType="1"/>
          </p:cNvSpPr>
          <p:nvPr/>
        </p:nvSpPr>
        <p:spPr bwMode="auto">
          <a:xfrm>
            <a:off x="1600200" y="4953000"/>
            <a:ext cx="1905000" cy="0"/>
          </a:xfrm>
          <a:prstGeom prst="line">
            <a:avLst/>
          </a:prstGeom>
          <a:noFill/>
          <a:ln w="9525">
            <a:solidFill>
              <a:schemeClr val="tx1"/>
            </a:solidFill>
            <a:round/>
            <a:headEnd/>
            <a:tailEnd/>
          </a:ln>
        </p:spPr>
        <p:txBody>
          <a:bodyPr/>
          <a:lstStyle/>
          <a:p>
            <a:endParaRPr lang="en-US"/>
          </a:p>
        </p:txBody>
      </p:sp>
      <p:sp>
        <p:nvSpPr>
          <p:cNvPr id="16405" name="Line 27"/>
          <p:cNvSpPr>
            <a:spLocks noChangeShapeType="1"/>
          </p:cNvSpPr>
          <p:nvPr/>
        </p:nvSpPr>
        <p:spPr bwMode="auto">
          <a:xfrm>
            <a:off x="1600200" y="4953000"/>
            <a:ext cx="0" cy="304800"/>
          </a:xfrm>
          <a:prstGeom prst="line">
            <a:avLst/>
          </a:prstGeom>
          <a:noFill/>
          <a:ln w="9525">
            <a:solidFill>
              <a:schemeClr val="tx1"/>
            </a:solidFill>
            <a:round/>
            <a:headEnd/>
            <a:tailEnd type="triangle" w="med" len="med"/>
          </a:ln>
        </p:spPr>
        <p:txBody>
          <a:bodyPr/>
          <a:lstStyle/>
          <a:p>
            <a:endParaRPr lang="en-US"/>
          </a:p>
        </p:txBody>
      </p:sp>
      <p:sp>
        <p:nvSpPr>
          <p:cNvPr id="16406" name="Line 28"/>
          <p:cNvSpPr>
            <a:spLocks noChangeShapeType="1"/>
          </p:cNvSpPr>
          <p:nvPr/>
        </p:nvSpPr>
        <p:spPr bwMode="auto">
          <a:xfrm>
            <a:off x="3505200" y="4953000"/>
            <a:ext cx="0" cy="381000"/>
          </a:xfrm>
          <a:prstGeom prst="line">
            <a:avLst/>
          </a:prstGeom>
          <a:noFill/>
          <a:ln w="9525">
            <a:solidFill>
              <a:schemeClr val="tx1"/>
            </a:solidFill>
            <a:round/>
            <a:headEnd/>
            <a:tailEnd type="triangle" w="med" len="med"/>
          </a:ln>
        </p:spPr>
        <p:txBody>
          <a:bodyPr/>
          <a:lstStyle/>
          <a:p>
            <a:endParaRPr lang="en-US"/>
          </a:p>
        </p:txBody>
      </p:sp>
      <p:sp>
        <p:nvSpPr>
          <p:cNvPr id="16407" name="Line 29"/>
          <p:cNvSpPr>
            <a:spLocks noChangeShapeType="1"/>
          </p:cNvSpPr>
          <p:nvPr/>
        </p:nvSpPr>
        <p:spPr bwMode="auto">
          <a:xfrm>
            <a:off x="6477000" y="4648200"/>
            <a:ext cx="0" cy="228600"/>
          </a:xfrm>
          <a:prstGeom prst="line">
            <a:avLst/>
          </a:prstGeom>
          <a:noFill/>
          <a:ln w="9525">
            <a:solidFill>
              <a:schemeClr val="tx1"/>
            </a:solidFill>
            <a:round/>
            <a:headEnd/>
            <a:tailEnd/>
          </a:ln>
        </p:spPr>
        <p:txBody>
          <a:bodyPr/>
          <a:lstStyle/>
          <a:p>
            <a:endParaRPr lang="en-US"/>
          </a:p>
        </p:txBody>
      </p:sp>
      <p:sp>
        <p:nvSpPr>
          <p:cNvPr id="16408" name="Line 30"/>
          <p:cNvSpPr>
            <a:spLocks noChangeShapeType="1"/>
          </p:cNvSpPr>
          <p:nvPr/>
        </p:nvSpPr>
        <p:spPr bwMode="auto">
          <a:xfrm>
            <a:off x="5562600" y="4876800"/>
            <a:ext cx="1981200" cy="0"/>
          </a:xfrm>
          <a:prstGeom prst="line">
            <a:avLst/>
          </a:prstGeom>
          <a:noFill/>
          <a:ln w="9525">
            <a:solidFill>
              <a:schemeClr val="tx1"/>
            </a:solidFill>
            <a:round/>
            <a:headEnd/>
            <a:tailEnd/>
          </a:ln>
        </p:spPr>
        <p:txBody>
          <a:bodyPr/>
          <a:lstStyle/>
          <a:p>
            <a:endParaRPr lang="en-US"/>
          </a:p>
        </p:txBody>
      </p:sp>
      <p:sp>
        <p:nvSpPr>
          <p:cNvPr id="16409" name="Line 31"/>
          <p:cNvSpPr>
            <a:spLocks noChangeShapeType="1"/>
          </p:cNvSpPr>
          <p:nvPr/>
        </p:nvSpPr>
        <p:spPr bwMode="auto">
          <a:xfrm>
            <a:off x="5562600" y="4876800"/>
            <a:ext cx="0" cy="381000"/>
          </a:xfrm>
          <a:prstGeom prst="line">
            <a:avLst/>
          </a:prstGeom>
          <a:noFill/>
          <a:ln w="9525">
            <a:solidFill>
              <a:schemeClr val="tx1"/>
            </a:solidFill>
            <a:round/>
            <a:headEnd/>
            <a:tailEnd type="triangle" w="med" len="med"/>
          </a:ln>
        </p:spPr>
        <p:txBody>
          <a:bodyPr/>
          <a:lstStyle/>
          <a:p>
            <a:endParaRPr lang="en-US"/>
          </a:p>
        </p:txBody>
      </p:sp>
      <p:sp>
        <p:nvSpPr>
          <p:cNvPr id="16410" name="Line 32"/>
          <p:cNvSpPr>
            <a:spLocks noChangeShapeType="1"/>
          </p:cNvSpPr>
          <p:nvPr/>
        </p:nvSpPr>
        <p:spPr bwMode="auto">
          <a:xfrm>
            <a:off x="7543800" y="4876800"/>
            <a:ext cx="0" cy="381000"/>
          </a:xfrm>
          <a:prstGeom prst="line">
            <a:avLst/>
          </a:prstGeom>
          <a:noFill/>
          <a:ln w="9525">
            <a:solidFill>
              <a:schemeClr val="tx1"/>
            </a:solidFill>
            <a:round/>
            <a:headEnd/>
            <a:tailEnd type="triangle" w="med" len="med"/>
          </a:ln>
        </p:spPr>
        <p:txBody>
          <a:bodyPr/>
          <a:lstStyle/>
          <a:p>
            <a:endParaRPr lang="en-US"/>
          </a:p>
        </p:txBody>
      </p:sp>
      <p:sp>
        <p:nvSpPr>
          <p:cNvPr id="16411" name="Rectangle 35"/>
          <p:cNvSpPr>
            <a:spLocks noChangeArrowheads="1"/>
          </p:cNvSpPr>
          <p:nvPr/>
        </p:nvSpPr>
        <p:spPr bwMode="auto">
          <a:xfrm>
            <a:off x="1066800" y="1905000"/>
            <a:ext cx="762000" cy="685800"/>
          </a:xfrm>
          <a:prstGeom prst="rect">
            <a:avLst/>
          </a:prstGeom>
          <a:solidFill>
            <a:schemeClr val="bg1"/>
          </a:solidFill>
          <a:ln w="9525">
            <a:solidFill>
              <a:schemeClr val="tx1"/>
            </a:solidFill>
            <a:miter lim="800000"/>
            <a:headEnd/>
            <a:tailEnd/>
          </a:ln>
        </p:spPr>
        <p:txBody>
          <a:bodyPr wrap="none" anchor="ctr"/>
          <a:lstStyle/>
          <a:p>
            <a:pPr algn="ctr"/>
            <a:r>
              <a:rPr lang="en-US"/>
              <a:t>FET</a:t>
            </a:r>
          </a:p>
        </p:txBody>
      </p:sp>
      <p:sp>
        <p:nvSpPr>
          <p:cNvPr id="16412" name="Line 37"/>
          <p:cNvSpPr>
            <a:spLocks noChangeShapeType="1"/>
          </p:cNvSpPr>
          <p:nvPr/>
        </p:nvSpPr>
        <p:spPr bwMode="auto">
          <a:xfrm>
            <a:off x="1828800" y="2133600"/>
            <a:ext cx="1143000" cy="0"/>
          </a:xfrm>
          <a:prstGeom prst="line">
            <a:avLst/>
          </a:prstGeom>
          <a:noFill/>
          <a:ln w="9525">
            <a:solidFill>
              <a:schemeClr val="tx1"/>
            </a:solidFill>
            <a:round/>
            <a:headEnd/>
            <a:tailEnd type="triangle" w="med" len="med"/>
          </a:ln>
        </p:spPr>
        <p:txBody>
          <a:bodyPr/>
          <a:lstStyle/>
          <a:p>
            <a:endParaRPr lang="en-US"/>
          </a:p>
        </p:txBody>
      </p:sp>
      <p:sp>
        <p:nvSpPr>
          <p:cNvPr id="16413" name="Line 38"/>
          <p:cNvSpPr>
            <a:spLocks noChangeShapeType="1"/>
          </p:cNvSpPr>
          <p:nvPr/>
        </p:nvSpPr>
        <p:spPr bwMode="auto">
          <a:xfrm>
            <a:off x="1828800" y="2514600"/>
            <a:ext cx="762000" cy="381000"/>
          </a:xfrm>
          <a:prstGeom prst="line">
            <a:avLst/>
          </a:prstGeom>
          <a:noFill/>
          <a:ln w="9525">
            <a:solidFill>
              <a:schemeClr val="tx1"/>
            </a:solidFill>
            <a:round/>
            <a:headEnd/>
            <a:tailEnd type="triangle" w="med" len="med"/>
          </a:ln>
        </p:spPr>
        <p:txBody>
          <a:bodyPr/>
          <a:lstStyle/>
          <a:p>
            <a:endParaRPr lang="en-US"/>
          </a:p>
        </p:txBody>
      </p:sp>
      <p:sp>
        <p:nvSpPr>
          <p:cNvPr id="16414" name="Line 40"/>
          <p:cNvSpPr>
            <a:spLocks noChangeShapeType="1"/>
          </p:cNvSpPr>
          <p:nvPr/>
        </p:nvSpPr>
        <p:spPr bwMode="auto">
          <a:xfrm>
            <a:off x="3581400" y="2971800"/>
            <a:ext cx="1295400" cy="76200"/>
          </a:xfrm>
          <a:prstGeom prst="line">
            <a:avLst/>
          </a:prstGeom>
          <a:noFill/>
          <a:ln w="9525">
            <a:solidFill>
              <a:schemeClr val="tx1"/>
            </a:solidFill>
            <a:round/>
            <a:headEnd/>
            <a:tailEnd/>
          </a:ln>
        </p:spPr>
        <p:txBody>
          <a:bodyPr/>
          <a:lstStyle/>
          <a:p>
            <a:endParaRPr lang="en-US"/>
          </a:p>
        </p:txBody>
      </p:sp>
      <p:sp>
        <p:nvSpPr>
          <p:cNvPr id="31" name="Slide Number Placeholder 30"/>
          <p:cNvSpPr>
            <a:spLocks noGrp="1"/>
          </p:cNvSpPr>
          <p:nvPr>
            <p:ph type="sldNum" sz="quarter" idx="12"/>
          </p:nvPr>
        </p:nvSpPr>
        <p:spPr/>
        <p:txBody>
          <a:bodyPr/>
          <a:lstStyle/>
          <a:p>
            <a:fld id="{FA930017-089C-4B04-9152-CFCB1CDC61B1}" type="slidenum">
              <a:rPr lang="en-US" smtClean="0"/>
              <a:pPr/>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F628574-B2F2-1637-C45C-435E68BE9B81}"/>
              </a:ext>
            </a:extLst>
          </p:cNvPr>
          <p:cNvSpPr>
            <a:spLocks noGrp="1"/>
          </p:cNvSpPr>
          <p:nvPr>
            <p:ph type="sldNum" sz="quarter" idx="12"/>
          </p:nvPr>
        </p:nvSpPr>
        <p:spPr/>
        <p:txBody>
          <a:bodyPr/>
          <a:lstStyle/>
          <a:p>
            <a:fld id="{FA930017-089C-4B04-9152-CFCB1CDC61B1}" type="slidenum">
              <a:rPr lang="en-US" smtClean="0"/>
              <a:pPr/>
              <a:t>4</a:t>
            </a:fld>
            <a:endParaRPr lang="en-US"/>
          </a:p>
        </p:txBody>
      </p:sp>
      <p:pic>
        <p:nvPicPr>
          <p:cNvPr id="1026" name="Picture 2">
            <a:extLst>
              <a:ext uri="{FF2B5EF4-FFF2-40B4-BE49-F238E27FC236}">
                <a16:creationId xmlns:a16="http://schemas.microsoft.com/office/drawing/2014/main" id="{C967E476-C77A-A619-7A4E-C434F1D4B3F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701006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ext Box 2"/>
          <p:cNvSpPr txBox="1">
            <a:spLocks noChangeArrowheads="1"/>
          </p:cNvSpPr>
          <p:nvPr/>
        </p:nvSpPr>
        <p:spPr bwMode="auto">
          <a:xfrm>
            <a:off x="3505200" y="5791200"/>
            <a:ext cx="2005013" cy="304800"/>
          </a:xfrm>
          <a:prstGeom prst="rect">
            <a:avLst/>
          </a:prstGeom>
          <a:noFill/>
          <a:ln w="9525">
            <a:noFill/>
            <a:miter lim="800000"/>
            <a:headEnd/>
            <a:tailEnd/>
          </a:ln>
        </p:spPr>
        <p:txBody>
          <a:bodyPr wrap="none">
            <a:spAutoFit/>
          </a:bodyPr>
          <a:lstStyle/>
          <a:p>
            <a:pPr algn="ctr"/>
            <a:r>
              <a:rPr lang="en-US" sz="1400" b="1"/>
              <a:t>Figure: </a:t>
            </a:r>
            <a:r>
              <a:rPr lang="en-US" sz="1400" i="1"/>
              <a:t>n</a:t>
            </a:r>
            <a:r>
              <a:rPr lang="en-US" sz="1400"/>
              <a:t>-Channel JFET.</a:t>
            </a:r>
            <a:endParaRPr lang="en-US"/>
          </a:p>
        </p:txBody>
      </p:sp>
      <p:pic>
        <p:nvPicPr>
          <p:cNvPr id="17411" name="Picture 4"/>
          <p:cNvPicPr>
            <a:picLocks noChangeAspect="1" noChangeArrowheads="1"/>
          </p:cNvPicPr>
          <p:nvPr/>
        </p:nvPicPr>
        <p:blipFill>
          <a:blip r:embed="rId2"/>
          <a:srcRect/>
          <a:stretch>
            <a:fillRect/>
          </a:stretch>
        </p:blipFill>
        <p:spPr bwMode="auto">
          <a:xfrm>
            <a:off x="2362200" y="1371600"/>
            <a:ext cx="5335588" cy="4222750"/>
          </a:xfrm>
          <a:prstGeom prst="rect">
            <a:avLst/>
          </a:prstGeom>
          <a:noFill/>
          <a:ln w="9525">
            <a:noFill/>
            <a:miter lim="800000"/>
            <a:headEnd/>
            <a:tailEnd/>
          </a:ln>
        </p:spPr>
      </p:pic>
      <p:sp>
        <p:nvSpPr>
          <p:cNvPr id="17412" name="Rectangle 10"/>
          <p:cNvSpPr>
            <a:spLocks noChangeArrowheads="1"/>
          </p:cNvSpPr>
          <p:nvPr/>
        </p:nvSpPr>
        <p:spPr bwMode="auto">
          <a:xfrm>
            <a:off x="1828800" y="304800"/>
            <a:ext cx="5334000" cy="762000"/>
          </a:xfrm>
          <a:prstGeom prst="rect">
            <a:avLst/>
          </a:prstGeom>
          <a:solidFill>
            <a:schemeClr val="accent1"/>
          </a:solidFill>
          <a:ln w="9525">
            <a:solidFill>
              <a:schemeClr val="tx1"/>
            </a:solidFill>
            <a:miter lim="800000"/>
            <a:headEnd/>
            <a:tailEnd/>
          </a:ln>
        </p:spPr>
        <p:txBody>
          <a:bodyPr wrap="none" anchor="ctr"/>
          <a:lstStyle/>
          <a:p>
            <a:pPr algn="ctr"/>
            <a:r>
              <a:rPr lang="en-US" sz="2000"/>
              <a:t>The Junction Field Effect Transistor (JFET)</a:t>
            </a:r>
          </a:p>
        </p:txBody>
      </p:sp>
      <p:sp>
        <p:nvSpPr>
          <p:cNvPr id="5" name="Slide Number Placeholder 4"/>
          <p:cNvSpPr>
            <a:spLocks noGrp="1"/>
          </p:cNvSpPr>
          <p:nvPr>
            <p:ph type="sldNum" sz="quarter" idx="12"/>
          </p:nvPr>
        </p:nvSpPr>
        <p:spPr/>
        <p:txBody>
          <a:bodyPr/>
          <a:lstStyle/>
          <a:p>
            <a:fld id="{FA930017-089C-4B04-9152-CFCB1CDC61B1}" type="slidenum">
              <a:rPr lang="en-US" smtClean="0"/>
              <a:pPr/>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152400" y="1752600"/>
            <a:ext cx="2782888" cy="3733800"/>
            <a:chOff x="614" y="842"/>
            <a:chExt cx="1753" cy="2352"/>
          </a:xfrm>
        </p:grpSpPr>
        <p:sp>
          <p:nvSpPr>
            <p:cNvPr id="18462" name="Line 3"/>
            <p:cNvSpPr>
              <a:spLocks noChangeShapeType="1"/>
            </p:cNvSpPr>
            <p:nvPr/>
          </p:nvSpPr>
          <p:spPr bwMode="auto">
            <a:xfrm>
              <a:off x="1392" y="1920"/>
              <a:ext cx="192" cy="0"/>
            </a:xfrm>
            <a:prstGeom prst="line">
              <a:avLst/>
            </a:prstGeom>
            <a:noFill/>
            <a:ln w="9525">
              <a:solidFill>
                <a:schemeClr val="tx1"/>
              </a:solidFill>
              <a:round/>
              <a:headEnd/>
              <a:tailEnd/>
            </a:ln>
          </p:spPr>
          <p:txBody>
            <a:bodyPr/>
            <a:lstStyle/>
            <a:p>
              <a:endParaRPr lang="en-US"/>
            </a:p>
          </p:txBody>
        </p:sp>
        <p:sp>
          <p:nvSpPr>
            <p:cNvPr id="18463" name="Line 4"/>
            <p:cNvSpPr>
              <a:spLocks noChangeShapeType="1"/>
            </p:cNvSpPr>
            <p:nvPr/>
          </p:nvSpPr>
          <p:spPr bwMode="auto">
            <a:xfrm>
              <a:off x="1392" y="1824"/>
              <a:ext cx="0" cy="672"/>
            </a:xfrm>
            <a:prstGeom prst="line">
              <a:avLst/>
            </a:prstGeom>
            <a:noFill/>
            <a:ln w="9525">
              <a:solidFill>
                <a:schemeClr val="tx1"/>
              </a:solidFill>
              <a:round/>
              <a:headEnd/>
              <a:tailEnd/>
            </a:ln>
          </p:spPr>
          <p:txBody>
            <a:bodyPr/>
            <a:lstStyle/>
            <a:p>
              <a:endParaRPr lang="en-US"/>
            </a:p>
          </p:txBody>
        </p:sp>
        <p:sp>
          <p:nvSpPr>
            <p:cNvPr id="18464" name="Line 5"/>
            <p:cNvSpPr>
              <a:spLocks noChangeShapeType="1"/>
            </p:cNvSpPr>
            <p:nvPr/>
          </p:nvSpPr>
          <p:spPr bwMode="auto">
            <a:xfrm>
              <a:off x="1392" y="2400"/>
              <a:ext cx="192" cy="0"/>
            </a:xfrm>
            <a:prstGeom prst="line">
              <a:avLst/>
            </a:prstGeom>
            <a:noFill/>
            <a:ln w="9525">
              <a:solidFill>
                <a:schemeClr val="tx1"/>
              </a:solidFill>
              <a:round/>
              <a:headEnd/>
              <a:tailEnd/>
            </a:ln>
          </p:spPr>
          <p:txBody>
            <a:bodyPr/>
            <a:lstStyle/>
            <a:p>
              <a:endParaRPr lang="en-US"/>
            </a:p>
          </p:txBody>
        </p:sp>
        <p:sp>
          <p:nvSpPr>
            <p:cNvPr id="18465" name="Line 6"/>
            <p:cNvSpPr>
              <a:spLocks noChangeShapeType="1"/>
            </p:cNvSpPr>
            <p:nvPr/>
          </p:nvSpPr>
          <p:spPr bwMode="auto">
            <a:xfrm>
              <a:off x="1584" y="1248"/>
              <a:ext cx="0" cy="672"/>
            </a:xfrm>
            <a:prstGeom prst="line">
              <a:avLst/>
            </a:prstGeom>
            <a:noFill/>
            <a:ln w="9525">
              <a:solidFill>
                <a:schemeClr val="tx1"/>
              </a:solidFill>
              <a:round/>
              <a:headEnd type="oval" w="med" len="med"/>
              <a:tailEnd/>
            </a:ln>
          </p:spPr>
          <p:txBody>
            <a:bodyPr/>
            <a:lstStyle/>
            <a:p>
              <a:endParaRPr lang="en-US"/>
            </a:p>
          </p:txBody>
        </p:sp>
        <p:sp>
          <p:nvSpPr>
            <p:cNvPr id="18466" name="Line 7"/>
            <p:cNvSpPr>
              <a:spLocks noChangeShapeType="1"/>
            </p:cNvSpPr>
            <p:nvPr/>
          </p:nvSpPr>
          <p:spPr bwMode="auto">
            <a:xfrm>
              <a:off x="1584" y="2400"/>
              <a:ext cx="0" cy="672"/>
            </a:xfrm>
            <a:prstGeom prst="line">
              <a:avLst/>
            </a:prstGeom>
            <a:noFill/>
            <a:ln w="9525">
              <a:solidFill>
                <a:schemeClr val="tx1"/>
              </a:solidFill>
              <a:round/>
              <a:headEnd/>
              <a:tailEnd type="oval" w="med" len="med"/>
            </a:ln>
          </p:spPr>
          <p:txBody>
            <a:bodyPr/>
            <a:lstStyle/>
            <a:p>
              <a:endParaRPr lang="en-US"/>
            </a:p>
          </p:txBody>
        </p:sp>
        <p:sp>
          <p:nvSpPr>
            <p:cNvPr id="18467" name="Line 8"/>
            <p:cNvSpPr>
              <a:spLocks noChangeShapeType="1"/>
            </p:cNvSpPr>
            <p:nvPr/>
          </p:nvSpPr>
          <p:spPr bwMode="auto">
            <a:xfrm>
              <a:off x="1104" y="2160"/>
              <a:ext cx="288" cy="0"/>
            </a:xfrm>
            <a:prstGeom prst="line">
              <a:avLst/>
            </a:prstGeom>
            <a:noFill/>
            <a:ln w="9525">
              <a:solidFill>
                <a:schemeClr val="tx1"/>
              </a:solidFill>
              <a:round/>
              <a:headEnd type="oval" w="med" len="med"/>
              <a:tailEnd type="triangle" w="med" len="med"/>
            </a:ln>
          </p:spPr>
          <p:txBody>
            <a:bodyPr/>
            <a:lstStyle/>
            <a:p>
              <a:endParaRPr lang="en-US"/>
            </a:p>
          </p:txBody>
        </p:sp>
        <p:sp>
          <p:nvSpPr>
            <p:cNvPr id="18468" name="Text Box 9"/>
            <p:cNvSpPr txBox="1">
              <a:spLocks noChangeArrowheads="1"/>
            </p:cNvSpPr>
            <p:nvPr/>
          </p:nvSpPr>
          <p:spPr bwMode="auto">
            <a:xfrm>
              <a:off x="614" y="2138"/>
              <a:ext cx="478" cy="288"/>
            </a:xfrm>
            <a:prstGeom prst="rect">
              <a:avLst/>
            </a:prstGeom>
            <a:noFill/>
            <a:ln w="9525">
              <a:noFill/>
              <a:miter lim="800000"/>
              <a:headEnd/>
              <a:tailEnd/>
            </a:ln>
          </p:spPr>
          <p:txBody>
            <a:bodyPr wrap="none">
              <a:spAutoFit/>
            </a:bodyPr>
            <a:lstStyle/>
            <a:p>
              <a:pPr eaLnBrk="1" hangingPunct="1"/>
              <a:r>
                <a:rPr lang="en-US">
                  <a:latin typeface="Times New Roman" pitchFamily="18" charset="0"/>
                </a:rPr>
                <a:t>Gate</a:t>
              </a:r>
            </a:p>
          </p:txBody>
        </p:sp>
        <p:sp>
          <p:nvSpPr>
            <p:cNvPr id="18469" name="Text Box 10"/>
            <p:cNvSpPr txBox="1">
              <a:spLocks noChangeArrowheads="1"/>
            </p:cNvSpPr>
            <p:nvPr/>
          </p:nvSpPr>
          <p:spPr bwMode="auto">
            <a:xfrm>
              <a:off x="1622" y="842"/>
              <a:ext cx="553" cy="288"/>
            </a:xfrm>
            <a:prstGeom prst="rect">
              <a:avLst/>
            </a:prstGeom>
            <a:noFill/>
            <a:ln w="9525">
              <a:noFill/>
              <a:miter lim="800000"/>
              <a:headEnd/>
              <a:tailEnd/>
            </a:ln>
          </p:spPr>
          <p:txBody>
            <a:bodyPr wrap="none">
              <a:spAutoFit/>
            </a:bodyPr>
            <a:lstStyle/>
            <a:p>
              <a:pPr eaLnBrk="1" hangingPunct="1"/>
              <a:r>
                <a:rPr lang="en-US">
                  <a:latin typeface="Times New Roman" pitchFamily="18" charset="0"/>
                </a:rPr>
                <a:t>Drain</a:t>
              </a:r>
            </a:p>
          </p:txBody>
        </p:sp>
        <p:sp>
          <p:nvSpPr>
            <p:cNvPr id="18470" name="Text Box 11"/>
            <p:cNvSpPr txBox="1">
              <a:spLocks noChangeArrowheads="1"/>
            </p:cNvSpPr>
            <p:nvPr/>
          </p:nvSpPr>
          <p:spPr bwMode="auto">
            <a:xfrm>
              <a:off x="1718" y="2906"/>
              <a:ext cx="649" cy="288"/>
            </a:xfrm>
            <a:prstGeom prst="rect">
              <a:avLst/>
            </a:prstGeom>
            <a:noFill/>
            <a:ln w="9525">
              <a:noFill/>
              <a:miter lim="800000"/>
              <a:headEnd/>
              <a:tailEnd/>
            </a:ln>
          </p:spPr>
          <p:txBody>
            <a:bodyPr wrap="none">
              <a:spAutoFit/>
            </a:bodyPr>
            <a:lstStyle/>
            <a:p>
              <a:pPr eaLnBrk="1" hangingPunct="1"/>
              <a:r>
                <a:rPr lang="en-US">
                  <a:latin typeface="Times New Roman" pitchFamily="18" charset="0"/>
                </a:rPr>
                <a:t>Source</a:t>
              </a:r>
            </a:p>
          </p:txBody>
        </p:sp>
      </p:grpSp>
      <p:sp>
        <p:nvSpPr>
          <p:cNvPr id="18435" name="Text Box 12"/>
          <p:cNvSpPr txBox="1">
            <a:spLocks noChangeArrowheads="1"/>
          </p:cNvSpPr>
          <p:nvPr/>
        </p:nvSpPr>
        <p:spPr bwMode="auto">
          <a:xfrm>
            <a:off x="3448050" y="273050"/>
            <a:ext cx="2343150" cy="641350"/>
          </a:xfrm>
          <a:prstGeom prst="rect">
            <a:avLst/>
          </a:prstGeom>
          <a:noFill/>
          <a:ln w="9525">
            <a:noFill/>
            <a:miter lim="800000"/>
            <a:headEnd/>
            <a:tailEnd/>
          </a:ln>
        </p:spPr>
        <p:txBody>
          <a:bodyPr wrap="none">
            <a:spAutoFit/>
          </a:bodyPr>
          <a:lstStyle/>
          <a:p>
            <a:pPr eaLnBrk="1" hangingPunct="1"/>
            <a:r>
              <a:rPr lang="en-US" sz="3600">
                <a:solidFill>
                  <a:srgbClr val="000099"/>
                </a:solidFill>
                <a:latin typeface="Times New Roman" pitchFamily="18" charset="0"/>
              </a:rPr>
              <a:t>SYMBOLS</a:t>
            </a:r>
          </a:p>
        </p:txBody>
      </p:sp>
      <p:sp>
        <p:nvSpPr>
          <p:cNvPr id="284685" name="Text Box 13"/>
          <p:cNvSpPr txBox="1">
            <a:spLocks noChangeArrowheads="1"/>
          </p:cNvSpPr>
          <p:nvPr/>
        </p:nvSpPr>
        <p:spPr bwMode="auto">
          <a:xfrm>
            <a:off x="546100" y="5680075"/>
            <a:ext cx="2120900" cy="457200"/>
          </a:xfrm>
          <a:prstGeom prst="rect">
            <a:avLst/>
          </a:prstGeom>
          <a:noFill/>
          <a:ln w="9525">
            <a:noFill/>
            <a:miter lim="800000"/>
            <a:headEnd/>
            <a:tailEnd/>
          </a:ln>
        </p:spPr>
        <p:txBody>
          <a:bodyPr wrap="none">
            <a:spAutoFit/>
          </a:bodyPr>
          <a:lstStyle/>
          <a:p>
            <a:pPr eaLnBrk="1" hangingPunct="1"/>
            <a:r>
              <a:rPr lang="en-US" dirty="0">
                <a:solidFill>
                  <a:srgbClr val="008000"/>
                </a:solidFill>
                <a:latin typeface="Times New Roman" pitchFamily="18" charset="0"/>
              </a:rPr>
              <a:t>n-channel JFET</a:t>
            </a:r>
          </a:p>
        </p:txBody>
      </p:sp>
      <p:sp>
        <p:nvSpPr>
          <p:cNvPr id="18438" name="Line 24"/>
          <p:cNvSpPr>
            <a:spLocks noChangeShapeType="1"/>
          </p:cNvSpPr>
          <p:nvPr/>
        </p:nvSpPr>
        <p:spPr bwMode="auto">
          <a:xfrm>
            <a:off x="2895600" y="1752600"/>
            <a:ext cx="0" cy="4648200"/>
          </a:xfrm>
          <a:prstGeom prst="line">
            <a:avLst/>
          </a:prstGeom>
          <a:noFill/>
          <a:ln w="9525">
            <a:solidFill>
              <a:schemeClr val="tx1"/>
            </a:solidFill>
            <a:prstDash val="sysDot"/>
            <a:round/>
            <a:headEnd/>
            <a:tailEnd/>
          </a:ln>
        </p:spPr>
        <p:txBody>
          <a:bodyPr/>
          <a:lstStyle/>
          <a:p>
            <a:endParaRPr lang="en-US"/>
          </a:p>
        </p:txBody>
      </p:sp>
      <p:sp>
        <p:nvSpPr>
          <p:cNvPr id="18439" name="Line 25"/>
          <p:cNvSpPr>
            <a:spLocks noChangeShapeType="1"/>
          </p:cNvSpPr>
          <p:nvPr/>
        </p:nvSpPr>
        <p:spPr bwMode="auto">
          <a:xfrm>
            <a:off x="6096000" y="1752600"/>
            <a:ext cx="0" cy="4648200"/>
          </a:xfrm>
          <a:prstGeom prst="line">
            <a:avLst/>
          </a:prstGeom>
          <a:noFill/>
          <a:ln w="9525">
            <a:solidFill>
              <a:schemeClr val="tx1"/>
            </a:solidFill>
            <a:prstDash val="sysDot"/>
            <a:round/>
            <a:headEnd/>
            <a:tailEnd/>
          </a:ln>
        </p:spPr>
        <p:txBody>
          <a:bodyPr/>
          <a:lstStyle/>
          <a:p>
            <a:endParaRPr lang="en-US"/>
          </a:p>
        </p:txBody>
      </p:sp>
      <p:grpSp>
        <p:nvGrpSpPr>
          <p:cNvPr id="4" name="Group 27"/>
          <p:cNvGrpSpPr>
            <a:grpSpLocks/>
          </p:cNvGrpSpPr>
          <p:nvPr/>
        </p:nvGrpSpPr>
        <p:grpSpPr bwMode="auto">
          <a:xfrm>
            <a:off x="2971800" y="1600200"/>
            <a:ext cx="2782887" cy="3733800"/>
            <a:chOff x="3911" y="1008"/>
            <a:chExt cx="1753" cy="2352"/>
          </a:xfrm>
        </p:grpSpPr>
        <p:sp>
          <p:nvSpPr>
            <p:cNvPr id="18443" name="Line 28"/>
            <p:cNvSpPr>
              <a:spLocks noChangeShapeType="1"/>
            </p:cNvSpPr>
            <p:nvPr/>
          </p:nvSpPr>
          <p:spPr bwMode="auto">
            <a:xfrm>
              <a:off x="4704" y="2086"/>
              <a:ext cx="192" cy="0"/>
            </a:xfrm>
            <a:prstGeom prst="line">
              <a:avLst/>
            </a:prstGeom>
            <a:noFill/>
            <a:ln w="9525">
              <a:solidFill>
                <a:schemeClr val="tx1"/>
              </a:solidFill>
              <a:round/>
              <a:headEnd/>
              <a:tailEnd/>
            </a:ln>
          </p:spPr>
          <p:txBody>
            <a:bodyPr/>
            <a:lstStyle/>
            <a:p>
              <a:endParaRPr lang="en-US"/>
            </a:p>
          </p:txBody>
        </p:sp>
        <p:sp>
          <p:nvSpPr>
            <p:cNvPr id="18444" name="Line 29"/>
            <p:cNvSpPr>
              <a:spLocks noChangeShapeType="1"/>
            </p:cNvSpPr>
            <p:nvPr/>
          </p:nvSpPr>
          <p:spPr bwMode="auto">
            <a:xfrm>
              <a:off x="4704" y="1990"/>
              <a:ext cx="0" cy="672"/>
            </a:xfrm>
            <a:prstGeom prst="line">
              <a:avLst/>
            </a:prstGeom>
            <a:noFill/>
            <a:ln w="9525">
              <a:solidFill>
                <a:schemeClr val="tx1"/>
              </a:solidFill>
              <a:round/>
              <a:headEnd/>
              <a:tailEnd/>
            </a:ln>
          </p:spPr>
          <p:txBody>
            <a:bodyPr/>
            <a:lstStyle/>
            <a:p>
              <a:endParaRPr lang="en-US"/>
            </a:p>
          </p:txBody>
        </p:sp>
        <p:sp>
          <p:nvSpPr>
            <p:cNvPr id="18445" name="Line 30"/>
            <p:cNvSpPr>
              <a:spLocks noChangeShapeType="1"/>
            </p:cNvSpPr>
            <p:nvPr/>
          </p:nvSpPr>
          <p:spPr bwMode="auto">
            <a:xfrm>
              <a:off x="4704" y="2566"/>
              <a:ext cx="192" cy="0"/>
            </a:xfrm>
            <a:prstGeom prst="line">
              <a:avLst/>
            </a:prstGeom>
            <a:noFill/>
            <a:ln w="9525">
              <a:solidFill>
                <a:schemeClr val="tx1"/>
              </a:solidFill>
              <a:round/>
              <a:headEnd/>
              <a:tailEnd/>
            </a:ln>
          </p:spPr>
          <p:txBody>
            <a:bodyPr/>
            <a:lstStyle/>
            <a:p>
              <a:endParaRPr lang="en-US"/>
            </a:p>
          </p:txBody>
        </p:sp>
        <p:sp>
          <p:nvSpPr>
            <p:cNvPr id="18446" name="Line 31"/>
            <p:cNvSpPr>
              <a:spLocks noChangeShapeType="1"/>
            </p:cNvSpPr>
            <p:nvPr/>
          </p:nvSpPr>
          <p:spPr bwMode="auto">
            <a:xfrm>
              <a:off x="4896" y="1414"/>
              <a:ext cx="0" cy="672"/>
            </a:xfrm>
            <a:prstGeom prst="line">
              <a:avLst/>
            </a:prstGeom>
            <a:noFill/>
            <a:ln w="9525">
              <a:solidFill>
                <a:schemeClr val="tx1"/>
              </a:solidFill>
              <a:round/>
              <a:headEnd type="oval" w="med" len="med"/>
              <a:tailEnd/>
            </a:ln>
          </p:spPr>
          <p:txBody>
            <a:bodyPr/>
            <a:lstStyle/>
            <a:p>
              <a:endParaRPr lang="en-US"/>
            </a:p>
          </p:txBody>
        </p:sp>
        <p:sp>
          <p:nvSpPr>
            <p:cNvPr id="18447" name="Line 32"/>
            <p:cNvSpPr>
              <a:spLocks noChangeShapeType="1"/>
            </p:cNvSpPr>
            <p:nvPr/>
          </p:nvSpPr>
          <p:spPr bwMode="auto">
            <a:xfrm>
              <a:off x="4896" y="2566"/>
              <a:ext cx="0" cy="672"/>
            </a:xfrm>
            <a:prstGeom prst="line">
              <a:avLst/>
            </a:prstGeom>
            <a:noFill/>
            <a:ln w="9525">
              <a:solidFill>
                <a:schemeClr val="tx1"/>
              </a:solidFill>
              <a:round/>
              <a:headEnd/>
              <a:tailEnd type="oval" w="med" len="med"/>
            </a:ln>
          </p:spPr>
          <p:txBody>
            <a:bodyPr/>
            <a:lstStyle/>
            <a:p>
              <a:endParaRPr lang="en-US"/>
            </a:p>
          </p:txBody>
        </p:sp>
        <p:sp>
          <p:nvSpPr>
            <p:cNvPr id="18448" name="Text Box 33"/>
            <p:cNvSpPr txBox="1">
              <a:spLocks noChangeArrowheads="1"/>
            </p:cNvSpPr>
            <p:nvPr/>
          </p:nvSpPr>
          <p:spPr bwMode="auto">
            <a:xfrm>
              <a:off x="3911" y="2304"/>
              <a:ext cx="478" cy="288"/>
            </a:xfrm>
            <a:prstGeom prst="rect">
              <a:avLst/>
            </a:prstGeom>
            <a:noFill/>
            <a:ln w="9525">
              <a:noFill/>
              <a:miter lim="800000"/>
              <a:headEnd/>
              <a:tailEnd/>
            </a:ln>
          </p:spPr>
          <p:txBody>
            <a:bodyPr wrap="none">
              <a:spAutoFit/>
            </a:bodyPr>
            <a:lstStyle/>
            <a:p>
              <a:pPr eaLnBrk="1" hangingPunct="1"/>
              <a:r>
                <a:rPr lang="en-US">
                  <a:latin typeface="Times New Roman" pitchFamily="18" charset="0"/>
                </a:rPr>
                <a:t>Gate</a:t>
              </a:r>
            </a:p>
          </p:txBody>
        </p:sp>
        <p:sp>
          <p:nvSpPr>
            <p:cNvPr id="18449" name="Text Box 34"/>
            <p:cNvSpPr txBox="1">
              <a:spLocks noChangeArrowheads="1"/>
            </p:cNvSpPr>
            <p:nvPr/>
          </p:nvSpPr>
          <p:spPr bwMode="auto">
            <a:xfrm>
              <a:off x="4919" y="1008"/>
              <a:ext cx="553" cy="288"/>
            </a:xfrm>
            <a:prstGeom prst="rect">
              <a:avLst/>
            </a:prstGeom>
            <a:noFill/>
            <a:ln w="9525">
              <a:noFill/>
              <a:miter lim="800000"/>
              <a:headEnd/>
              <a:tailEnd/>
            </a:ln>
          </p:spPr>
          <p:txBody>
            <a:bodyPr wrap="none">
              <a:spAutoFit/>
            </a:bodyPr>
            <a:lstStyle/>
            <a:p>
              <a:pPr eaLnBrk="1" hangingPunct="1"/>
              <a:r>
                <a:rPr lang="en-US">
                  <a:latin typeface="Times New Roman" pitchFamily="18" charset="0"/>
                </a:rPr>
                <a:t>Drain</a:t>
              </a:r>
            </a:p>
          </p:txBody>
        </p:sp>
        <p:sp>
          <p:nvSpPr>
            <p:cNvPr id="18450" name="Text Box 35"/>
            <p:cNvSpPr txBox="1">
              <a:spLocks noChangeArrowheads="1"/>
            </p:cNvSpPr>
            <p:nvPr/>
          </p:nvSpPr>
          <p:spPr bwMode="auto">
            <a:xfrm>
              <a:off x="5015" y="3072"/>
              <a:ext cx="649" cy="288"/>
            </a:xfrm>
            <a:prstGeom prst="rect">
              <a:avLst/>
            </a:prstGeom>
            <a:noFill/>
            <a:ln w="9525">
              <a:noFill/>
              <a:miter lim="800000"/>
              <a:headEnd/>
              <a:tailEnd/>
            </a:ln>
          </p:spPr>
          <p:txBody>
            <a:bodyPr wrap="none">
              <a:spAutoFit/>
            </a:bodyPr>
            <a:lstStyle/>
            <a:p>
              <a:pPr eaLnBrk="1" hangingPunct="1"/>
              <a:r>
                <a:rPr lang="en-US">
                  <a:latin typeface="Times New Roman" pitchFamily="18" charset="0"/>
                </a:rPr>
                <a:t>Source</a:t>
              </a:r>
            </a:p>
          </p:txBody>
        </p:sp>
        <p:sp>
          <p:nvSpPr>
            <p:cNvPr id="18451" name="Line 36"/>
            <p:cNvSpPr>
              <a:spLocks noChangeShapeType="1"/>
            </p:cNvSpPr>
            <p:nvPr/>
          </p:nvSpPr>
          <p:spPr bwMode="auto">
            <a:xfrm>
              <a:off x="4608" y="2304"/>
              <a:ext cx="48" cy="0"/>
            </a:xfrm>
            <a:prstGeom prst="line">
              <a:avLst/>
            </a:prstGeom>
            <a:noFill/>
            <a:ln w="9525">
              <a:solidFill>
                <a:schemeClr val="tx1"/>
              </a:solidFill>
              <a:round/>
              <a:headEnd type="triangle" w="med" len="med"/>
              <a:tailEnd/>
            </a:ln>
          </p:spPr>
          <p:txBody>
            <a:bodyPr/>
            <a:lstStyle/>
            <a:p>
              <a:endParaRPr lang="en-US"/>
            </a:p>
          </p:txBody>
        </p:sp>
        <p:sp>
          <p:nvSpPr>
            <p:cNvPr id="18452" name="Line 37"/>
            <p:cNvSpPr>
              <a:spLocks noChangeShapeType="1"/>
            </p:cNvSpPr>
            <p:nvPr/>
          </p:nvSpPr>
          <p:spPr bwMode="auto">
            <a:xfrm>
              <a:off x="4512" y="2304"/>
              <a:ext cx="192" cy="0"/>
            </a:xfrm>
            <a:prstGeom prst="line">
              <a:avLst/>
            </a:prstGeom>
            <a:noFill/>
            <a:ln w="9525">
              <a:solidFill>
                <a:schemeClr val="tx1"/>
              </a:solidFill>
              <a:round/>
              <a:headEnd type="oval" w="med" len="med"/>
              <a:tailEnd/>
            </a:ln>
          </p:spPr>
          <p:txBody>
            <a:bodyPr/>
            <a:lstStyle/>
            <a:p>
              <a:endParaRPr lang="en-US"/>
            </a:p>
          </p:txBody>
        </p:sp>
      </p:grpSp>
      <p:sp>
        <p:nvSpPr>
          <p:cNvPr id="284710" name="Text Box 38"/>
          <p:cNvSpPr txBox="1">
            <a:spLocks noChangeArrowheads="1"/>
          </p:cNvSpPr>
          <p:nvPr/>
        </p:nvSpPr>
        <p:spPr bwMode="auto">
          <a:xfrm>
            <a:off x="3505200" y="5638800"/>
            <a:ext cx="1653017" cy="369332"/>
          </a:xfrm>
          <a:prstGeom prst="rect">
            <a:avLst/>
          </a:prstGeom>
          <a:noFill/>
          <a:ln w="9525">
            <a:noFill/>
            <a:miter lim="800000"/>
            <a:headEnd/>
            <a:tailEnd/>
          </a:ln>
        </p:spPr>
        <p:txBody>
          <a:bodyPr wrap="none">
            <a:spAutoFit/>
          </a:bodyPr>
          <a:lstStyle/>
          <a:p>
            <a:r>
              <a:rPr lang="en-US" dirty="0">
                <a:solidFill>
                  <a:srgbClr val="008000"/>
                </a:solidFill>
                <a:latin typeface="Times New Roman" pitchFamily="18" charset="0"/>
              </a:rPr>
              <a:t>p-channel JFET</a:t>
            </a:r>
          </a:p>
        </p:txBody>
      </p:sp>
      <p:sp>
        <p:nvSpPr>
          <p:cNvPr id="39" name="Slide Number Placeholder 38"/>
          <p:cNvSpPr>
            <a:spLocks noGrp="1"/>
          </p:cNvSpPr>
          <p:nvPr>
            <p:ph type="sldNum" sz="quarter" idx="12"/>
          </p:nvPr>
        </p:nvSpPr>
        <p:spPr/>
        <p:txBody>
          <a:bodyPr/>
          <a:lstStyle/>
          <a:p>
            <a:fld id="{FA930017-089C-4B04-9152-CFCB1CDC61B1}" type="slidenum">
              <a:rPr lang="en-US" smtClean="0"/>
              <a:pPr/>
              <a:t>6</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84685"/>
                                        </p:tgtEl>
                                        <p:attrNameLst>
                                          <p:attrName>style.visibility</p:attrName>
                                        </p:attrNameLst>
                                      </p:cBhvr>
                                      <p:to>
                                        <p:strVal val="visible"/>
                                      </p:to>
                                    </p:set>
                                    <p:animEffect transition="in" filter="dissolve">
                                      <p:cBhvr>
                                        <p:cTn id="12" dur="500"/>
                                        <p:tgtEl>
                                          <p:spTgt spid="284685"/>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wav"/>
                                        </p:tgtEl>
                                      </p:cMediaNode>
                                    </p:audio>
                                  </p:sub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dissolve">
                                      <p:cBhvr>
                                        <p:cTn id="17" dur="500"/>
                                        <p:tgtEl>
                                          <p:spTgt spid="4"/>
                                        </p:tgtEl>
                                      </p:cBhvr>
                                    </p:animEffect>
                                  </p:childTnLst>
                                  <p:subTnLst>
                                    <p:audio>
                                      <p:cMediaNode>
                                        <p:cTn display="0" masterRel="sameClick">
                                          <p:stCondLst>
                                            <p:cond evt="begin" delay="0">
                                              <p:tn val="15"/>
                                            </p:cond>
                                          </p:stCondLst>
                                          <p:endCondLst>
                                            <p:cond evt="onStopAudio" delay="0">
                                              <p:tgtEl>
                                                <p:sldTgt/>
                                              </p:tgtEl>
                                            </p:cond>
                                          </p:endCondLst>
                                        </p:cTn>
                                        <p:tgtEl>
                                          <p:sndTgt r:embed="rId2" name="camera.wav"/>
                                        </p:tgtEl>
                                      </p:cMediaNode>
                                    </p:audio>
                                  </p:sub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284710"/>
                                        </p:tgtEl>
                                        <p:attrNameLst>
                                          <p:attrName>style.visibility</p:attrName>
                                        </p:attrNameLst>
                                      </p:cBhvr>
                                      <p:to>
                                        <p:strVal val="visible"/>
                                      </p:to>
                                    </p:set>
                                    <p:animEffect transition="in" filter="dissolve">
                                      <p:cBhvr>
                                        <p:cTn id="22" dur="500"/>
                                        <p:tgtEl>
                                          <p:spTgt spid="284710"/>
                                        </p:tgtEl>
                                      </p:cBhvr>
                                    </p:animEffect>
                                  </p:childTnLst>
                                  <p:subTnLst>
                                    <p:audio>
                                      <p:cMediaNode>
                                        <p:cTn display="0" masterRel="sameClick">
                                          <p:stCondLst>
                                            <p:cond evt="begin" delay="0">
                                              <p:tn val="20"/>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4685" grpId="0" autoUpdateAnimBg="0"/>
      <p:bldP spid="284710" grpId="0"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ext Box 2"/>
          <p:cNvSpPr txBox="1">
            <a:spLocks noChangeArrowheads="1"/>
          </p:cNvSpPr>
          <p:nvPr/>
        </p:nvSpPr>
        <p:spPr bwMode="auto">
          <a:xfrm>
            <a:off x="2824163" y="5641975"/>
            <a:ext cx="3433762" cy="304800"/>
          </a:xfrm>
          <a:prstGeom prst="rect">
            <a:avLst/>
          </a:prstGeom>
          <a:noFill/>
          <a:ln w="9525">
            <a:noFill/>
            <a:miter lim="800000"/>
            <a:headEnd/>
            <a:tailEnd/>
          </a:ln>
        </p:spPr>
        <p:txBody>
          <a:bodyPr wrap="none">
            <a:spAutoFit/>
          </a:bodyPr>
          <a:lstStyle/>
          <a:p>
            <a:pPr algn="ctr"/>
            <a:r>
              <a:rPr lang="en-US" sz="1400" b="1"/>
              <a:t>Figure: </a:t>
            </a:r>
            <a:r>
              <a:rPr lang="en-US" sz="1400" i="1"/>
              <a:t>n</a:t>
            </a:r>
            <a:r>
              <a:rPr lang="en-US" sz="1400"/>
              <a:t>-Channel JFET and Biasing Circuit.</a:t>
            </a:r>
            <a:endParaRPr lang="en-US"/>
          </a:p>
        </p:txBody>
      </p:sp>
      <p:pic>
        <p:nvPicPr>
          <p:cNvPr id="19459" name="Picture 3"/>
          <p:cNvPicPr>
            <a:picLocks noChangeAspect="1" noChangeArrowheads="1"/>
          </p:cNvPicPr>
          <p:nvPr/>
        </p:nvPicPr>
        <p:blipFill>
          <a:blip r:embed="rId2"/>
          <a:srcRect/>
          <a:stretch>
            <a:fillRect/>
          </a:stretch>
        </p:blipFill>
        <p:spPr bwMode="auto">
          <a:xfrm>
            <a:off x="990600" y="1395413"/>
            <a:ext cx="2884488" cy="3557587"/>
          </a:xfrm>
          <a:prstGeom prst="rect">
            <a:avLst/>
          </a:prstGeom>
          <a:noFill/>
          <a:ln w="9525">
            <a:noFill/>
            <a:miter lim="800000"/>
            <a:headEnd/>
            <a:tailEnd/>
          </a:ln>
        </p:spPr>
      </p:pic>
      <p:sp>
        <p:nvSpPr>
          <p:cNvPr id="19460" name="Text Box 4"/>
          <p:cNvSpPr txBox="1">
            <a:spLocks noChangeArrowheads="1"/>
          </p:cNvSpPr>
          <p:nvPr/>
        </p:nvSpPr>
        <p:spPr bwMode="auto">
          <a:xfrm>
            <a:off x="5486400" y="1524000"/>
            <a:ext cx="2286000" cy="457200"/>
          </a:xfrm>
          <a:prstGeom prst="rect">
            <a:avLst/>
          </a:prstGeom>
          <a:noFill/>
          <a:ln w="9525">
            <a:noFill/>
            <a:miter lim="800000"/>
            <a:headEnd/>
            <a:tailEnd/>
          </a:ln>
        </p:spPr>
        <p:txBody>
          <a:bodyPr>
            <a:spAutoFit/>
          </a:bodyPr>
          <a:lstStyle/>
          <a:p>
            <a:pPr>
              <a:spcBef>
                <a:spcPct val="50000"/>
              </a:spcBef>
            </a:pPr>
            <a:endParaRPr lang="en-US"/>
          </a:p>
        </p:txBody>
      </p:sp>
      <p:pic>
        <p:nvPicPr>
          <p:cNvPr id="19461" name="Picture 5"/>
          <p:cNvPicPr>
            <a:picLocks noChangeAspect="1" noChangeArrowheads="1"/>
          </p:cNvPicPr>
          <p:nvPr/>
        </p:nvPicPr>
        <p:blipFill>
          <a:blip r:embed="rId3"/>
          <a:srcRect/>
          <a:stretch>
            <a:fillRect/>
          </a:stretch>
        </p:blipFill>
        <p:spPr bwMode="auto">
          <a:xfrm>
            <a:off x="4495800" y="1219200"/>
            <a:ext cx="3562350" cy="3552825"/>
          </a:xfrm>
          <a:prstGeom prst="rect">
            <a:avLst/>
          </a:prstGeom>
          <a:noFill/>
          <a:ln w="9525">
            <a:noFill/>
            <a:miter lim="800000"/>
            <a:headEnd/>
            <a:tailEnd/>
          </a:ln>
        </p:spPr>
      </p:pic>
      <p:sp>
        <p:nvSpPr>
          <p:cNvPr id="19462" name="Rectangle 6"/>
          <p:cNvSpPr>
            <a:spLocks noChangeArrowheads="1"/>
          </p:cNvSpPr>
          <p:nvPr/>
        </p:nvSpPr>
        <p:spPr bwMode="auto">
          <a:xfrm>
            <a:off x="1752600" y="304800"/>
            <a:ext cx="5029200" cy="533400"/>
          </a:xfrm>
          <a:prstGeom prst="rect">
            <a:avLst/>
          </a:prstGeom>
          <a:solidFill>
            <a:schemeClr val="accent1"/>
          </a:solidFill>
          <a:ln w="9525">
            <a:solidFill>
              <a:schemeClr val="tx1"/>
            </a:solidFill>
            <a:miter lim="800000"/>
            <a:headEnd/>
            <a:tailEnd/>
          </a:ln>
        </p:spPr>
        <p:txBody>
          <a:bodyPr wrap="none" anchor="ctr"/>
          <a:lstStyle/>
          <a:p>
            <a:pPr algn="ctr"/>
            <a:r>
              <a:rPr lang="en-US"/>
              <a:t>Biasing the JFET</a:t>
            </a:r>
          </a:p>
        </p:txBody>
      </p:sp>
      <p:sp>
        <p:nvSpPr>
          <p:cNvPr id="7" name="Slide Number Placeholder 6"/>
          <p:cNvSpPr>
            <a:spLocks noGrp="1"/>
          </p:cNvSpPr>
          <p:nvPr>
            <p:ph type="sldNum" sz="quarter" idx="12"/>
          </p:nvPr>
        </p:nvSpPr>
        <p:spPr/>
        <p:txBody>
          <a:bodyPr/>
          <a:lstStyle/>
          <a:p>
            <a:fld id="{FA930017-089C-4B04-9152-CFCB1CDC61B1}" type="slidenum">
              <a:rPr lang="en-US" smtClean="0"/>
              <a:pPr/>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ext Box 2"/>
          <p:cNvSpPr txBox="1">
            <a:spLocks noChangeArrowheads="1"/>
          </p:cNvSpPr>
          <p:nvPr/>
        </p:nvSpPr>
        <p:spPr bwMode="auto">
          <a:xfrm>
            <a:off x="1216025" y="5486400"/>
            <a:ext cx="6632575" cy="517525"/>
          </a:xfrm>
          <a:prstGeom prst="rect">
            <a:avLst/>
          </a:prstGeom>
          <a:noFill/>
          <a:ln w="9525">
            <a:noFill/>
            <a:miter lim="800000"/>
            <a:headEnd/>
            <a:tailEnd/>
          </a:ln>
        </p:spPr>
        <p:txBody>
          <a:bodyPr wrap="none">
            <a:spAutoFit/>
          </a:bodyPr>
          <a:lstStyle/>
          <a:p>
            <a:pPr algn="ctr"/>
            <a:r>
              <a:rPr lang="en-US" sz="1400" b="1"/>
              <a:t>Figure: </a:t>
            </a:r>
            <a:r>
              <a:rPr lang="en-US" sz="1400"/>
              <a:t>The nonconductive depletion region becomes broader with increased reverse bias.</a:t>
            </a:r>
          </a:p>
          <a:p>
            <a:pPr algn="ctr"/>
            <a:r>
              <a:rPr lang="en-US" sz="1400"/>
              <a:t> (</a:t>
            </a:r>
            <a:r>
              <a:rPr lang="en-US" sz="1400" i="1"/>
              <a:t>Note:</a:t>
            </a:r>
            <a:r>
              <a:rPr lang="en-US" sz="1400"/>
              <a:t> The two gate regions of each FET are connected to each other.)</a:t>
            </a:r>
            <a:endParaRPr lang="en-US"/>
          </a:p>
        </p:txBody>
      </p:sp>
      <p:pic>
        <p:nvPicPr>
          <p:cNvPr id="20483" name="Picture 4"/>
          <p:cNvPicPr>
            <a:picLocks noChangeAspect="1" noChangeArrowheads="1"/>
          </p:cNvPicPr>
          <p:nvPr/>
        </p:nvPicPr>
        <p:blipFill>
          <a:blip r:embed="rId2"/>
          <a:srcRect/>
          <a:stretch>
            <a:fillRect/>
          </a:stretch>
        </p:blipFill>
        <p:spPr bwMode="auto">
          <a:xfrm>
            <a:off x="887413" y="1479550"/>
            <a:ext cx="7367587" cy="3898900"/>
          </a:xfrm>
          <a:prstGeom prst="rect">
            <a:avLst/>
          </a:prstGeom>
          <a:noFill/>
          <a:ln w="9525">
            <a:noFill/>
            <a:miter lim="800000"/>
            <a:headEnd/>
            <a:tailEnd/>
          </a:ln>
        </p:spPr>
      </p:pic>
      <p:sp>
        <p:nvSpPr>
          <p:cNvPr id="20484" name="Text Box 5"/>
          <p:cNvSpPr txBox="1">
            <a:spLocks noChangeArrowheads="1"/>
          </p:cNvSpPr>
          <p:nvPr/>
        </p:nvSpPr>
        <p:spPr bwMode="auto">
          <a:xfrm>
            <a:off x="609600" y="381000"/>
            <a:ext cx="7696200" cy="457200"/>
          </a:xfrm>
          <a:prstGeom prst="rect">
            <a:avLst/>
          </a:prstGeom>
          <a:noFill/>
          <a:ln w="9525">
            <a:noFill/>
            <a:miter lim="800000"/>
            <a:headEnd/>
            <a:tailEnd/>
          </a:ln>
        </p:spPr>
        <p:txBody>
          <a:bodyPr lIns="0" rIns="0">
            <a:spAutoFit/>
          </a:bodyPr>
          <a:lstStyle/>
          <a:p>
            <a:pPr>
              <a:spcBef>
                <a:spcPct val="50000"/>
              </a:spcBef>
            </a:pPr>
            <a:r>
              <a:rPr lang="en-US">
                <a:solidFill>
                  <a:srgbClr val="CC0066"/>
                </a:solidFill>
                <a:latin typeface="Verdana" pitchFamily="34" charset="0"/>
              </a:rPr>
              <a:t>Operation of JFET at Various Gate Bias Potentials </a:t>
            </a:r>
          </a:p>
        </p:txBody>
      </p:sp>
      <p:sp>
        <p:nvSpPr>
          <p:cNvPr id="5" name="Slide Number Placeholder 4"/>
          <p:cNvSpPr>
            <a:spLocks noGrp="1"/>
          </p:cNvSpPr>
          <p:nvPr>
            <p:ph type="sldNum" sz="quarter" idx="12"/>
          </p:nvPr>
        </p:nvSpPr>
        <p:spPr/>
        <p:txBody>
          <a:bodyPr/>
          <a:lstStyle/>
          <a:p>
            <a:fld id="{FA930017-089C-4B04-9152-CFCB1CDC61B1}" type="slidenum">
              <a:rPr lang="en-US" smtClean="0"/>
              <a:pPr/>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EFD07CE-FF72-A23C-B682-9BABE5DB69F9}"/>
              </a:ext>
            </a:extLst>
          </p:cNvPr>
          <p:cNvSpPr>
            <a:spLocks noGrp="1"/>
          </p:cNvSpPr>
          <p:nvPr>
            <p:ph type="sldNum" sz="quarter" idx="12"/>
          </p:nvPr>
        </p:nvSpPr>
        <p:spPr/>
        <p:txBody>
          <a:bodyPr/>
          <a:lstStyle/>
          <a:p>
            <a:fld id="{FA930017-089C-4B04-9152-CFCB1CDC61B1}" type="slidenum">
              <a:rPr lang="en-US" smtClean="0"/>
              <a:pPr/>
              <a:t>9</a:t>
            </a:fld>
            <a:endParaRPr lang="en-US"/>
          </a:p>
        </p:txBody>
      </p:sp>
      <p:pic>
        <p:nvPicPr>
          <p:cNvPr id="2050" name="Picture 2">
            <a:extLst>
              <a:ext uri="{FF2B5EF4-FFF2-40B4-BE49-F238E27FC236}">
                <a16:creationId xmlns:a16="http://schemas.microsoft.com/office/drawing/2014/main" id="{5F8D45BE-3D00-7EEE-2386-330C1FE2D6A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378413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3AA8BFB-6972-838F-AA7D-F5A04C3E9307}"/>
              </a:ext>
            </a:extLst>
          </p:cNvPr>
          <p:cNvSpPr>
            <a:spLocks noGrp="1"/>
          </p:cNvSpPr>
          <p:nvPr>
            <p:ph type="sldNum" sz="quarter" idx="12"/>
          </p:nvPr>
        </p:nvSpPr>
        <p:spPr/>
        <p:txBody>
          <a:bodyPr/>
          <a:lstStyle/>
          <a:p>
            <a:fld id="{FA930017-089C-4B04-9152-CFCB1CDC61B1}" type="slidenum">
              <a:rPr lang="en-US" smtClean="0"/>
              <a:pPr/>
              <a:t>10</a:t>
            </a:fld>
            <a:endParaRPr lang="en-US"/>
          </a:p>
        </p:txBody>
      </p:sp>
      <p:pic>
        <p:nvPicPr>
          <p:cNvPr id="3074" name="Picture 2">
            <a:extLst>
              <a:ext uri="{FF2B5EF4-FFF2-40B4-BE49-F238E27FC236}">
                <a16:creationId xmlns:a16="http://schemas.microsoft.com/office/drawing/2014/main" id="{3FED8CB8-E909-BC32-5D09-E9F3DFC7931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411885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71D1960-68E5-3E56-2E74-D32D2549C0FD}"/>
              </a:ext>
            </a:extLst>
          </p:cNvPr>
          <p:cNvSpPr>
            <a:spLocks noGrp="1"/>
          </p:cNvSpPr>
          <p:nvPr>
            <p:ph type="sldNum" sz="quarter" idx="12"/>
          </p:nvPr>
        </p:nvSpPr>
        <p:spPr/>
        <p:txBody>
          <a:bodyPr/>
          <a:lstStyle/>
          <a:p>
            <a:fld id="{FA930017-089C-4B04-9152-CFCB1CDC61B1}" type="slidenum">
              <a:rPr lang="en-US" smtClean="0"/>
              <a:pPr/>
              <a:t>11</a:t>
            </a:fld>
            <a:endParaRPr lang="en-US"/>
          </a:p>
        </p:txBody>
      </p:sp>
      <p:pic>
        <p:nvPicPr>
          <p:cNvPr id="4098" name="Picture 2">
            <a:extLst>
              <a:ext uri="{FF2B5EF4-FFF2-40B4-BE49-F238E27FC236}">
                <a16:creationId xmlns:a16="http://schemas.microsoft.com/office/drawing/2014/main" id="{1BDF402A-17D8-4456-95BA-DF6ED368372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755530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ext Box 2"/>
          <p:cNvSpPr txBox="1">
            <a:spLocks noChangeArrowheads="1"/>
          </p:cNvSpPr>
          <p:nvPr/>
        </p:nvSpPr>
        <p:spPr bwMode="auto">
          <a:xfrm>
            <a:off x="1524000" y="4876800"/>
            <a:ext cx="5986463" cy="304800"/>
          </a:xfrm>
          <a:prstGeom prst="rect">
            <a:avLst/>
          </a:prstGeom>
          <a:noFill/>
          <a:ln w="9525">
            <a:noFill/>
            <a:miter lim="800000"/>
            <a:headEnd/>
            <a:tailEnd/>
          </a:ln>
        </p:spPr>
        <p:txBody>
          <a:bodyPr wrap="none">
            <a:spAutoFit/>
          </a:bodyPr>
          <a:lstStyle/>
          <a:p>
            <a:pPr algn="ctr"/>
            <a:r>
              <a:rPr lang="en-US" sz="1400" b="1"/>
              <a:t>Figure: </a:t>
            </a:r>
            <a:r>
              <a:rPr lang="en-US" sz="1400"/>
              <a:t>If </a:t>
            </a:r>
            <a:r>
              <a:rPr lang="en-US" sz="1400" i="1"/>
              <a:t>v</a:t>
            </a:r>
            <a:r>
              <a:rPr lang="en-US" sz="1400" i="1" baseline="-16000"/>
              <a:t>DG</a:t>
            </a:r>
            <a:r>
              <a:rPr lang="en-US" sz="1400"/>
              <a:t> exceeds the breakdown voltage </a:t>
            </a:r>
            <a:r>
              <a:rPr lang="en-US" sz="1400" i="1"/>
              <a:t>V</a:t>
            </a:r>
            <a:r>
              <a:rPr lang="en-US" sz="1400" i="1" baseline="-16000"/>
              <a:t>B</a:t>
            </a:r>
            <a:r>
              <a:rPr lang="en-US" sz="1400"/>
              <a:t>, drain current increases rapidly.</a:t>
            </a:r>
            <a:endParaRPr lang="en-US"/>
          </a:p>
        </p:txBody>
      </p:sp>
      <p:pic>
        <p:nvPicPr>
          <p:cNvPr id="23555" name="Picture 3"/>
          <p:cNvPicPr>
            <a:picLocks noChangeAspect="1" noChangeArrowheads="1"/>
          </p:cNvPicPr>
          <p:nvPr/>
        </p:nvPicPr>
        <p:blipFill>
          <a:blip r:embed="rId2"/>
          <a:srcRect/>
          <a:stretch>
            <a:fillRect/>
          </a:stretch>
        </p:blipFill>
        <p:spPr bwMode="auto">
          <a:xfrm>
            <a:off x="609600" y="1157288"/>
            <a:ext cx="4191000" cy="3719512"/>
          </a:xfrm>
          <a:prstGeom prst="rect">
            <a:avLst/>
          </a:prstGeom>
          <a:noFill/>
          <a:ln w="9525">
            <a:noFill/>
            <a:miter lim="800000"/>
            <a:headEnd/>
            <a:tailEnd/>
          </a:ln>
        </p:spPr>
      </p:pic>
      <p:pic>
        <p:nvPicPr>
          <p:cNvPr id="23556" name="Picture 5"/>
          <p:cNvPicPr>
            <a:picLocks noChangeAspect="1" noChangeArrowheads="1"/>
          </p:cNvPicPr>
          <p:nvPr/>
        </p:nvPicPr>
        <p:blipFill>
          <a:blip r:embed="rId3"/>
          <a:srcRect/>
          <a:stretch>
            <a:fillRect/>
          </a:stretch>
        </p:blipFill>
        <p:spPr bwMode="auto">
          <a:xfrm>
            <a:off x="4876800" y="1320800"/>
            <a:ext cx="3048000" cy="3327400"/>
          </a:xfrm>
          <a:prstGeom prst="rect">
            <a:avLst/>
          </a:prstGeom>
          <a:noFill/>
          <a:ln w="9525">
            <a:noFill/>
            <a:miter lim="800000"/>
            <a:headEnd/>
            <a:tailEnd/>
          </a:ln>
        </p:spPr>
      </p:pic>
      <p:sp>
        <p:nvSpPr>
          <p:cNvPr id="23557" name="AutoShape 6"/>
          <p:cNvSpPr>
            <a:spLocks/>
          </p:cNvSpPr>
          <p:nvPr/>
        </p:nvSpPr>
        <p:spPr bwMode="auto">
          <a:xfrm>
            <a:off x="4419600" y="1143000"/>
            <a:ext cx="533400" cy="2438400"/>
          </a:xfrm>
          <a:prstGeom prst="rightBrace">
            <a:avLst>
              <a:gd name="adj1" fmla="val 38095"/>
              <a:gd name="adj2" fmla="val 50000"/>
            </a:avLst>
          </a:prstGeom>
          <a:noFill/>
          <a:ln w="9525">
            <a:solidFill>
              <a:schemeClr val="tx1"/>
            </a:solidFill>
            <a:round/>
            <a:headEnd/>
            <a:tailEnd/>
          </a:ln>
        </p:spPr>
        <p:txBody>
          <a:bodyPr wrap="none" anchor="ctr"/>
          <a:lstStyle/>
          <a:p>
            <a:endParaRPr lang="en-US"/>
          </a:p>
        </p:txBody>
      </p:sp>
      <p:sp>
        <p:nvSpPr>
          <p:cNvPr id="23558" name="Freeform 9"/>
          <p:cNvSpPr>
            <a:spLocks/>
          </p:cNvSpPr>
          <p:nvPr/>
        </p:nvSpPr>
        <p:spPr bwMode="auto">
          <a:xfrm>
            <a:off x="5105400" y="1066800"/>
            <a:ext cx="762000" cy="1295400"/>
          </a:xfrm>
          <a:custGeom>
            <a:avLst/>
            <a:gdLst>
              <a:gd name="T0" fmla="*/ 192 w 272"/>
              <a:gd name="T1" fmla="*/ 0 h 624"/>
              <a:gd name="T2" fmla="*/ 240 w 272"/>
              <a:gd name="T3" fmla="*/ 288 h 624"/>
              <a:gd name="T4" fmla="*/ 0 w 272"/>
              <a:gd name="T5" fmla="*/ 624 h 624"/>
              <a:gd name="T6" fmla="*/ 0 60000 65536"/>
              <a:gd name="T7" fmla="*/ 0 60000 65536"/>
              <a:gd name="T8" fmla="*/ 0 60000 65536"/>
              <a:gd name="T9" fmla="*/ 0 w 272"/>
              <a:gd name="T10" fmla="*/ 0 h 624"/>
              <a:gd name="T11" fmla="*/ 272 w 272"/>
              <a:gd name="T12" fmla="*/ 624 h 624"/>
            </a:gdLst>
            <a:ahLst/>
            <a:cxnLst>
              <a:cxn ang="T6">
                <a:pos x="T0" y="T1"/>
              </a:cxn>
              <a:cxn ang="T7">
                <a:pos x="T2" y="T3"/>
              </a:cxn>
              <a:cxn ang="T8">
                <a:pos x="T4" y="T5"/>
              </a:cxn>
            </a:cxnLst>
            <a:rect l="T9" t="T10" r="T11" b="T12"/>
            <a:pathLst>
              <a:path w="272" h="624">
                <a:moveTo>
                  <a:pt x="192" y="0"/>
                </a:moveTo>
                <a:cubicBezTo>
                  <a:pt x="232" y="92"/>
                  <a:pt x="272" y="184"/>
                  <a:pt x="240" y="288"/>
                </a:cubicBezTo>
                <a:cubicBezTo>
                  <a:pt x="208" y="392"/>
                  <a:pt x="40" y="568"/>
                  <a:pt x="0" y="624"/>
                </a:cubicBezTo>
              </a:path>
            </a:pathLst>
          </a:custGeom>
          <a:noFill/>
          <a:ln w="9525">
            <a:solidFill>
              <a:schemeClr val="tx1"/>
            </a:solidFill>
            <a:round/>
            <a:headEnd/>
            <a:tailEnd type="stealth" w="med" len="med"/>
          </a:ln>
        </p:spPr>
        <p:txBody>
          <a:bodyPr/>
          <a:lstStyle/>
          <a:p>
            <a:endParaRPr lang="en-US"/>
          </a:p>
        </p:txBody>
      </p:sp>
      <p:sp>
        <p:nvSpPr>
          <p:cNvPr id="23559" name="Text Box 10"/>
          <p:cNvSpPr txBox="1">
            <a:spLocks noChangeArrowheads="1"/>
          </p:cNvSpPr>
          <p:nvPr/>
        </p:nvSpPr>
        <p:spPr bwMode="auto">
          <a:xfrm>
            <a:off x="4800600" y="806450"/>
            <a:ext cx="1670050" cy="336550"/>
          </a:xfrm>
          <a:prstGeom prst="rect">
            <a:avLst/>
          </a:prstGeom>
          <a:noFill/>
          <a:ln w="9525">
            <a:noFill/>
            <a:miter lim="800000"/>
            <a:headEnd/>
            <a:tailEnd/>
          </a:ln>
        </p:spPr>
        <p:txBody>
          <a:bodyPr wrap="none" lIns="0" rIns="0">
            <a:spAutoFit/>
          </a:bodyPr>
          <a:lstStyle/>
          <a:p>
            <a:r>
              <a:rPr lang="en-US" sz="1600"/>
              <a:t>Break Down Region</a:t>
            </a:r>
          </a:p>
        </p:txBody>
      </p:sp>
      <p:sp>
        <p:nvSpPr>
          <p:cNvPr id="23560" name="Text Box 11"/>
          <p:cNvSpPr txBox="1">
            <a:spLocks noChangeArrowheads="1"/>
          </p:cNvSpPr>
          <p:nvPr/>
        </p:nvSpPr>
        <p:spPr bwMode="auto">
          <a:xfrm>
            <a:off x="609600" y="152400"/>
            <a:ext cx="7924800" cy="457200"/>
          </a:xfrm>
          <a:prstGeom prst="rect">
            <a:avLst/>
          </a:prstGeom>
          <a:solidFill>
            <a:srgbClr val="00FF00"/>
          </a:solidFill>
          <a:ln w="9525">
            <a:noFill/>
            <a:miter lim="800000"/>
            <a:headEnd/>
            <a:tailEnd/>
          </a:ln>
        </p:spPr>
        <p:txBody>
          <a:bodyPr>
            <a:spAutoFit/>
          </a:bodyPr>
          <a:lstStyle/>
          <a:p>
            <a:pPr>
              <a:spcBef>
                <a:spcPct val="50000"/>
              </a:spcBef>
            </a:pPr>
            <a:r>
              <a:rPr lang="en-US">
                <a:solidFill>
                  <a:srgbClr val="800000"/>
                </a:solidFill>
                <a:latin typeface="Verdana" pitchFamily="34" charset="0"/>
              </a:rPr>
              <a:t>N-Channel JFET Characteristics and Breakdown</a:t>
            </a:r>
          </a:p>
        </p:txBody>
      </p:sp>
      <p:sp>
        <p:nvSpPr>
          <p:cNvPr id="9" name="Slide Number Placeholder 8"/>
          <p:cNvSpPr>
            <a:spLocks noGrp="1"/>
          </p:cNvSpPr>
          <p:nvPr>
            <p:ph type="sldNum" sz="quarter" idx="12"/>
          </p:nvPr>
        </p:nvSpPr>
        <p:spPr/>
        <p:txBody>
          <a:bodyPr/>
          <a:lstStyle/>
          <a:p>
            <a:fld id="{FA930017-089C-4B04-9152-CFCB1CDC61B1}" type="slidenum">
              <a:rPr lang="en-US" smtClean="0"/>
              <a:pPr/>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FA930017-089C-4B04-9152-CFCB1CDC61B1}" type="slidenum">
              <a:rPr lang="en-US" smtClean="0"/>
              <a:pPr/>
              <a:t>13</a:t>
            </a:fld>
            <a:endParaRPr lang="en-US"/>
          </a:p>
        </p:txBody>
      </p:sp>
      <p:sp>
        <p:nvSpPr>
          <p:cNvPr id="3" name="Rectangle 2"/>
          <p:cNvSpPr/>
          <p:nvPr/>
        </p:nvSpPr>
        <p:spPr>
          <a:xfrm>
            <a:off x="228600" y="838200"/>
            <a:ext cx="8686800" cy="5016758"/>
          </a:xfrm>
          <a:prstGeom prst="rect">
            <a:avLst/>
          </a:prstGeom>
        </p:spPr>
        <p:txBody>
          <a:bodyPr wrap="square">
            <a:spAutoFit/>
          </a:bodyPr>
          <a:lstStyle/>
          <a:p>
            <a:r>
              <a:rPr lang="en-US" sz="3200" b="1" dirty="0"/>
              <a:t>                         Pinch off Voltage</a:t>
            </a:r>
          </a:p>
          <a:p>
            <a:r>
              <a:rPr lang="en-US" sz="3200" dirty="0"/>
              <a:t>As we continue to increase the reverse bias of gate terminal the depletion layer widens and a point is reached where entire channel is filled with depletion layer and drain current will be reduced to zero except for small reverse saturation currents order of </a:t>
            </a:r>
            <a:r>
              <a:rPr lang="en-US" sz="3200" dirty="0" err="1"/>
              <a:t>nano</a:t>
            </a:r>
            <a:r>
              <a:rPr lang="en-US" sz="3200" dirty="0"/>
              <a:t> amperes. The gate to source voltage at which at which the entire channel will be depleted of charge carrier is called </a:t>
            </a:r>
            <a:r>
              <a:rPr lang="en-US" sz="3200" b="1" dirty="0"/>
              <a:t>pinch-off voltage.</a:t>
            </a:r>
            <a:endParaRPr lang="en-US" sz="3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Text Box 2"/>
          <p:cNvSpPr txBox="1">
            <a:spLocks noChangeArrowheads="1"/>
          </p:cNvSpPr>
          <p:nvPr/>
        </p:nvSpPr>
        <p:spPr bwMode="auto">
          <a:xfrm>
            <a:off x="1989138" y="5641975"/>
            <a:ext cx="5116512" cy="304800"/>
          </a:xfrm>
          <a:prstGeom prst="rect">
            <a:avLst/>
          </a:prstGeom>
          <a:noFill/>
          <a:ln w="9525">
            <a:noFill/>
            <a:miter lim="800000"/>
            <a:headEnd/>
            <a:tailEnd/>
          </a:ln>
        </p:spPr>
        <p:txBody>
          <a:bodyPr wrap="none">
            <a:spAutoFit/>
          </a:bodyPr>
          <a:lstStyle/>
          <a:p>
            <a:pPr algn="ctr"/>
            <a:r>
              <a:rPr lang="en-US" sz="1400" b="1" dirty="0"/>
              <a:t>Figure: Transfer (or Mutual) Characteristics of n-Channel JFET</a:t>
            </a:r>
            <a:endParaRPr lang="en-US" dirty="0"/>
          </a:p>
        </p:txBody>
      </p:sp>
      <p:pic>
        <p:nvPicPr>
          <p:cNvPr id="3076" name="Picture 3"/>
          <p:cNvPicPr>
            <a:picLocks noChangeAspect="1" noChangeArrowheads="1"/>
          </p:cNvPicPr>
          <p:nvPr/>
        </p:nvPicPr>
        <p:blipFill>
          <a:blip r:embed="rId2"/>
          <a:srcRect/>
          <a:stretch>
            <a:fillRect/>
          </a:stretch>
        </p:blipFill>
        <p:spPr bwMode="auto">
          <a:xfrm>
            <a:off x="887413" y="838200"/>
            <a:ext cx="7367587" cy="4673600"/>
          </a:xfrm>
          <a:prstGeom prst="rect">
            <a:avLst/>
          </a:prstGeom>
          <a:noFill/>
          <a:ln w="9525">
            <a:noFill/>
            <a:miter lim="800000"/>
            <a:headEnd/>
            <a:tailEnd/>
          </a:ln>
        </p:spPr>
      </p:pic>
      <p:graphicFrame>
        <p:nvGraphicFramePr>
          <p:cNvPr id="272388" name="Object 4"/>
          <p:cNvGraphicFramePr>
            <a:graphicFrameLocks noChangeAspect="1"/>
          </p:cNvGraphicFramePr>
          <p:nvPr/>
        </p:nvGraphicFramePr>
        <p:xfrm>
          <a:off x="2057400" y="1981200"/>
          <a:ext cx="2536825" cy="939800"/>
        </p:xfrm>
        <a:graphic>
          <a:graphicData uri="http://schemas.openxmlformats.org/presentationml/2006/ole">
            <mc:AlternateContent xmlns:mc="http://schemas.openxmlformats.org/markup-compatibility/2006">
              <mc:Choice xmlns:v="urn:schemas-microsoft-com:vml" Requires="v">
                <p:oleObj name="Equation" r:id="rId3" imgW="2743200" imgH="1168200" progId="Equation.3">
                  <p:embed/>
                </p:oleObj>
              </mc:Choice>
              <mc:Fallback>
                <p:oleObj name="Equation" r:id="rId3" imgW="2743200" imgH="1168200" progId="Equation.3">
                  <p:embed/>
                  <p:pic>
                    <p:nvPicPr>
                      <p:cNvPr id="0" name="Object 4"/>
                      <p:cNvPicPr>
                        <a:picLocks noChangeAspect="1" noChangeArrowheads="1"/>
                      </p:cNvPicPr>
                      <p:nvPr/>
                    </p:nvPicPr>
                    <p:blipFill>
                      <a:blip>
                        <a:extLst>
                          <a:ext uri="{28A0092B-C50C-407E-A947-70E740481C1C}">
                            <a14:useLocalDpi xmlns:a14="http://schemas.microsoft.com/office/drawing/2010/main" val="0"/>
                          </a:ext>
                        </a:extLst>
                      </a:blip>
                      <a:srcRect/>
                      <a:stretch>
                        <a:fillRect/>
                      </a:stretch>
                    </p:blipFill>
                    <p:spPr bwMode="auto">
                      <a:xfrm>
                        <a:off x="2057400" y="1981200"/>
                        <a:ext cx="2536825" cy="939800"/>
                      </a:xfrm>
                      <a:prstGeom prst="rect">
                        <a:avLst/>
                      </a:prstGeom>
                      <a:solidFill>
                        <a:srgbClr val="99FFCC"/>
                      </a:solidFill>
                      <a:ln w="22225">
                        <a:solidFill>
                          <a:srgbClr val="993300"/>
                        </a:solidFill>
                        <a:miter lim="800000"/>
                        <a:headEnd/>
                        <a:tailEnd/>
                      </a:ln>
                    </p:spPr>
                  </p:pic>
                </p:oleObj>
              </mc:Fallback>
            </mc:AlternateContent>
          </a:graphicData>
        </a:graphic>
      </p:graphicFrame>
      <p:sp>
        <p:nvSpPr>
          <p:cNvPr id="3077" name="Freeform 8"/>
          <p:cNvSpPr>
            <a:spLocks/>
          </p:cNvSpPr>
          <p:nvPr/>
        </p:nvSpPr>
        <p:spPr bwMode="auto">
          <a:xfrm>
            <a:off x="2514600" y="2971800"/>
            <a:ext cx="2209800" cy="1689100"/>
          </a:xfrm>
          <a:custGeom>
            <a:avLst/>
            <a:gdLst>
              <a:gd name="T0" fmla="*/ 0 w 1392"/>
              <a:gd name="T1" fmla="*/ 0 h 1064"/>
              <a:gd name="T2" fmla="*/ 240 w 1392"/>
              <a:gd name="T3" fmla="*/ 432 h 1064"/>
              <a:gd name="T4" fmla="*/ 480 w 1392"/>
              <a:gd name="T5" fmla="*/ 624 h 1064"/>
              <a:gd name="T6" fmla="*/ 1248 w 1392"/>
              <a:gd name="T7" fmla="*/ 1056 h 1064"/>
              <a:gd name="T8" fmla="*/ 1344 w 1392"/>
              <a:gd name="T9" fmla="*/ 672 h 1064"/>
              <a:gd name="T10" fmla="*/ 0 60000 65536"/>
              <a:gd name="T11" fmla="*/ 0 60000 65536"/>
              <a:gd name="T12" fmla="*/ 0 60000 65536"/>
              <a:gd name="T13" fmla="*/ 0 60000 65536"/>
              <a:gd name="T14" fmla="*/ 0 60000 65536"/>
              <a:gd name="T15" fmla="*/ 0 w 1392"/>
              <a:gd name="T16" fmla="*/ 0 h 1064"/>
              <a:gd name="T17" fmla="*/ 1392 w 1392"/>
              <a:gd name="T18" fmla="*/ 1064 h 1064"/>
            </a:gdLst>
            <a:ahLst/>
            <a:cxnLst>
              <a:cxn ang="T10">
                <a:pos x="T0" y="T1"/>
              </a:cxn>
              <a:cxn ang="T11">
                <a:pos x="T2" y="T3"/>
              </a:cxn>
              <a:cxn ang="T12">
                <a:pos x="T4" y="T5"/>
              </a:cxn>
              <a:cxn ang="T13">
                <a:pos x="T6" y="T7"/>
              </a:cxn>
              <a:cxn ang="T14">
                <a:pos x="T8" y="T9"/>
              </a:cxn>
            </a:cxnLst>
            <a:rect l="T15" t="T16" r="T17" b="T18"/>
            <a:pathLst>
              <a:path w="1392" h="1064">
                <a:moveTo>
                  <a:pt x="0" y="0"/>
                </a:moveTo>
                <a:cubicBezTo>
                  <a:pt x="80" y="164"/>
                  <a:pt x="160" y="328"/>
                  <a:pt x="240" y="432"/>
                </a:cubicBezTo>
                <a:cubicBezTo>
                  <a:pt x="320" y="536"/>
                  <a:pt x="312" y="520"/>
                  <a:pt x="480" y="624"/>
                </a:cubicBezTo>
                <a:cubicBezTo>
                  <a:pt x="648" y="728"/>
                  <a:pt x="1104" y="1048"/>
                  <a:pt x="1248" y="1056"/>
                </a:cubicBezTo>
                <a:cubicBezTo>
                  <a:pt x="1392" y="1064"/>
                  <a:pt x="1328" y="736"/>
                  <a:pt x="1344" y="672"/>
                </a:cubicBezTo>
              </a:path>
            </a:pathLst>
          </a:custGeom>
          <a:noFill/>
          <a:ln w="22225">
            <a:solidFill>
              <a:srgbClr val="993366"/>
            </a:solidFill>
            <a:round/>
            <a:headEnd/>
            <a:tailEnd type="arrow" w="lg" len="lg"/>
          </a:ln>
        </p:spPr>
        <p:txBody>
          <a:bodyPr/>
          <a:lstStyle/>
          <a:p>
            <a:endParaRPr lang="en-US"/>
          </a:p>
        </p:txBody>
      </p:sp>
      <p:sp>
        <p:nvSpPr>
          <p:cNvPr id="3078" name="Text Box 9"/>
          <p:cNvSpPr txBox="1">
            <a:spLocks noChangeArrowheads="1"/>
          </p:cNvSpPr>
          <p:nvPr/>
        </p:nvSpPr>
        <p:spPr bwMode="auto">
          <a:xfrm>
            <a:off x="5715000" y="1828800"/>
            <a:ext cx="762000" cy="457200"/>
          </a:xfrm>
          <a:prstGeom prst="rect">
            <a:avLst/>
          </a:prstGeom>
          <a:noFill/>
          <a:ln w="9525">
            <a:noFill/>
            <a:miter lim="800000"/>
            <a:headEnd/>
            <a:tailEnd/>
          </a:ln>
        </p:spPr>
        <p:txBody>
          <a:bodyPr>
            <a:spAutoFit/>
          </a:bodyPr>
          <a:lstStyle/>
          <a:p>
            <a:pPr>
              <a:spcBef>
                <a:spcPct val="50000"/>
              </a:spcBef>
            </a:pPr>
            <a:r>
              <a:rPr lang="en-US" b="1" i="1"/>
              <a:t>I</a:t>
            </a:r>
            <a:r>
              <a:rPr lang="en-US" b="1" i="1" baseline="-25000"/>
              <a:t>DSS</a:t>
            </a:r>
          </a:p>
        </p:txBody>
      </p:sp>
      <p:sp>
        <p:nvSpPr>
          <p:cNvPr id="3079" name="Text Box 11"/>
          <p:cNvSpPr txBox="1">
            <a:spLocks noChangeArrowheads="1"/>
          </p:cNvSpPr>
          <p:nvPr/>
        </p:nvSpPr>
        <p:spPr bwMode="auto">
          <a:xfrm>
            <a:off x="533400" y="4424363"/>
            <a:ext cx="1752600" cy="376237"/>
          </a:xfrm>
          <a:prstGeom prst="rect">
            <a:avLst/>
          </a:prstGeom>
          <a:noFill/>
          <a:ln w="9525">
            <a:solidFill>
              <a:schemeClr val="tx1"/>
            </a:solidFill>
            <a:miter lim="800000"/>
            <a:headEnd/>
            <a:tailEnd/>
          </a:ln>
        </p:spPr>
        <p:txBody>
          <a:bodyPr>
            <a:spAutoFit/>
          </a:bodyPr>
          <a:lstStyle/>
          <a:p>
            <a:pPr>
              <a:spcBef>
                <a:spcPct val="50000"/>
              </a:spcBef>
            </a:pPr>
            <a:r>
              <a:rPr lang="en-US" sz="1800" dirty="0">
                <a:latin typeface="Verdana" pitchFamily="34" charset="0"/>
              </a:rPr>
              <a:t>V</a:t>
            </a:r>
            <a:r>
              <a:rPr lang="en-US" sz="1800" baseline="-25000" dirty="0">
                <a:latin typeface="Verdana" pitchFamily="34" charset="0"/>
              </a:rPr>
              <a:t>GS (off)</a:t>
            </a:r>
            <a:r>
              <a:rPr lang="en-US" sz="1800" dirty="0">
                <a:latin typeface="Verdana" pitchFamily="34" charset="0"/>
              </a:rPr>
              <a:t>=V</a:t>
            </a:r>
            <a:r>
              <a:rPr lang="en-US" sz="1800" baseline="-25000" dirty="0">
                <a:latin typeface="Verdana" pitchFamily="34" charset="0"/>
              </a:rPr>
              <a:t>P</a:t>
            </a:r>
          </a:p>
        </p:txBody>
      </p:sp>
      <p:sp>
        <p:nvSpPr>
          <p:cNvPr id="3080" name="Line 12"/>
          <p:cNvSpPr>
            <a:spLocks noChangeShapeType="1"/>
          </p:cNvSpPr>
          <p:nvPr/>
        </p:nvSpPr>
        <p:spPr bwMode="auto">
          <a:xfrm>
            <a:off x="1600200" y="4800600"/>
            <a:ext cx="0" cy="304800"/>
          </a:xfrm>
          <a:prstGeom prst="line">
            <a:avLst/>
          </a:prstGeom>
          <a:noFill/>
          <a:ln w="22225">
            <a:solidFill>
              <a:srgbClr val="993366"/>
            </a:solidFill>
            <a:round/>
            <a:headEnd/>
            <a:tailEnd type="triangle" w="med" len="med"/>
          </a:ln>
        </p:spPr>
        <p:txBody>
          <a:bodyPr/>
          <a:lstStyle/>
          <a:p>
            <a:endParaRPr lang="en-US"/>
          </a:p>
        </p:txBody>
      </p:sp>
      <p:sp>
        <p:nvSpPr>
          <p:cNvPr id="3081" name="Text Box 13"/>
          <p:cNvSpPr txBox="1">
            <a:spLocks noChangeArrowheads="1"/>
          </p:cNvSpPr>
          <p:nvPr/>
        </p:nvSpPr>
        <p:spPr bwMode="auto">
          <a:xfrm>
            <a:off x="304800" y="228600"/>
            <a:ext cx="8077200" cy="457200"/>
          </a:xfrm>
          <a:prstGeom prst="rect">
            <a:avLst/>
          </a:prstGeom>
          <a:solidFill>
            <a:srgbClr val="FFFF66"/>
          </a:solidFill>
          <a:ln w="9525">
            <a:noFill/>
            <a:miter lim="800000"/>
            <a:headEnd/>
            <a:tailEnd/>
          </a:ln>
        </p:spPr>
        <p:txBody>
          <a:bodyPr lIns="0" rIns="0">
            <a:spAutoFit/>
          </a:bodyPr>
          <a:lstStyle/>
          <a:p>
            <a:pPr>
              <a:spcBef>
                <a:spcPct val="50000"/>
              </a:spcBef>
            </a:pPr>
            <a:r>
              <a:rPr lang="en-US">
                <a:solidFill>
                  <a:srgbClr val="800000"/>
                </a:solidFill>
                <a:latin typeface="Verdana" pitchFamily="34" charset="0"/>
              </a:rPr>
              <a:t>Transfer (Mutual) Characteristics of n-Channel JFET</a:t>
            </a:r>
          </a:p>
        </p:txBody>
      </p:sp>
      <p:sp>
        <p:nvSpPr>
          <p:cNvPr id="10" name="Slide Number Placeholder 9"/>
          <p:cNvSpPr>
            <a:spLocks noGrp="1"/>
          </p:cNvSpPr>
          <p:nvPr>
            <p:ph type="sldNum" sz="quarter" idx="12"/>
          </p:nvPr>
        </p:nvSpPr>
        <p:spPr/>
        <p:txBody>
          <a:bodyPr/>
          <a:lstStyle/>
          <a:p>
            <a:fld id="{FA930017-089C-4B04-9152-CFCB1CDC61B1}" type="slidenum">
              <a:rPr lang="en-US" smtClean="0"/>
              <a:pPr/>
              <a:t>14</a:t>
            </a:fld>
            <a:endParaRPr lang="en-US"/>
          </a:p>
        </p:txBody>
      </p:sp>
      <p:sp>
        <p:nvSpPr>
          <p:cNvPr id="11" name="TextBox 10"/>
          <p:cNvSpPr txBox="1"/>
          <p:nvPr/>
        </p:nvSpPr>
        <p:spPr>
          <a:xfrm>
            <a:off x="3124200" y="6324600"/>
            <a:ext cx="5276894" cy="369332"/>
          </a:xfrm>
          <a:prstGeom prst="rect">
            <a:avLst/>
          </a:prstGeom>
          <a:noFill/>
        </p:spPr>
        <p:txBody>
          <a:bodyPr wrap="none" rtlCol="0">
            <a:spAutoFit/>
          </a:bodyPr>
          <a:lstStyle/>
          <a:p>
            <a:r>
              <a:rPr lang="en-US" dirty="0">
                <a:latin typeface="Verdana" pitchFamily="34" charset="0"/>
              </a:rPr>
              <a:t>V</a:t>
            </a:r>
            <a:r>
              <a:rPr lang="en-US" baseline="-25000" dirty="0">
                <a:latin typeface="Verdana" pitchFamily="34" charset="0"/>
              </a:rPr>
              <a:t>GS (off)</a:t>
            </a:r>
            <a:r>
              <a:rPr lang="en-US" dirty="0">
                <a:latin typeface="Verdana" pitchFamily="34" charset="0"/>
              </a:rPr>
              <a:t> (channel complete cutoff ,the ID=0)</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272388"/>
                                        </p:tgtEl>
                                        <p:attrNameLst>
                                          <p:attrName>style.visibility</p:attrName>
                                        </p:attrNameLst>
                                      </p:cBhvr>
                                      <p:to>
                                        <p:strVal val="visible"/>
                                      </p:to>
                                    </p:set>
                                    <p:animEffect transition="in" filter="box(in)">
                                      <p:cBhvr>
                                        <p:cTn id="7" dur="500"/>
                                        <p:tgtEl>
                                          <p:spTgt spid="2723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Grp="1" noChangeAspect="1" noChangeArrowheads="1"/>
          </p:cNvPicPr>
          <p:nvPr>
            <p:ph idx="1"/>
          </p:nvPr>
        </p:nvPicPr>
        <p:blipFill>
          <a:blip r:embed="rId2"/>
          <a:srcRect/>
          <a:stretch>
            <a:fillRect/>
          </a:stretch>
        </p:blipFill>
        <p:spPr bwMode="auto">
          <a:xfrm>
            <a:off x="457200" y="228600"/>
            <a:ext cx="7010400" cy="2971800"/>
          </a:xfrm>
          <a:prstGeom prst="rect">
            <a:avLst/>
          </a:prstGeom>
          <a:noFill/>
          <a:ln w="9525">
            <a:noFill/>
            <a:miter lim="800000"/>
            <a:headEnd/>
            <a:tailEnd/>
          </a:ln>
          <a:effectLst/>
        </p:spPr>
      </p:pic>
      <p:sp>
        <p:nvSpPr>
          <p:cNvPr id="5" name="Rectangle 4"/>
          <p:cNvSpPr/>
          <p:nvPr/>
        </p:nvSpPr>
        <p:spPr>
          <a:xfrm>
            <a:off x="304800" y="3581400"/>
            <a:ext cx="8534400" cy="2585323"/>
          </a:xfrm>
          <a:prstGeom prst="rect">
            <a:avLst/>
          </a:prstGeom>
        </p:spPr>
        <p:txBody>
          <a:bodyPr wrap="square">
            <a:spAutoFit/>
          </a:bodyPr>
          <a:lstStyle/>
          <a:p>
            <a:r>
              <a:rPr lang="en-US" b="1" dirty="0"/>
              <a:t>(</a:t>
            </a:r>
            <a:r>
              <a:rPr lang="en-US" b="1" i="1" dirty="0" err="1"/>
              <a:t>i</a:t>
            </a:r>
            <a:r>
              <a:rPr lang="en-US" b="1" i="1" dirty="0"/>
              <a:t>) Since IDSS is measured under shorted gate conditions, </a:t>
            </a:r>
            <a:r>
              <a:rPr lang="en-US" i="1" dirty="0"/>
              <a:t>it is the maximum drain current that </a:t>
            </a:r>
            <a:r>
              <a:rPr lang="en-US" dirty="0"/>
              <a:t>you can get with normal operation of </a:t>
            </a:r>
            <a:r>
              <a:rPr lang="en-US" i="1" dirty="0"/>
              <a:t>JFET.</a:t>
            </a:r>
          </a:p>
          <a:p>
            <a:r>
              <a:rPr lang="en-US" b="1" dirty="0"/>
              <a:t>(</a:t>
            </a:r>
            <a:r>
              <a:rPr lang="en-US" b="1" i="1" dirty="0"/>
              <a:t>ii) There is a maximum drain voltage [VDS (max</a:t>
            </a:r>
            <a:r>
              <a:rPr lang="en-US" i="1" dirty="0"/>
              <a:t>)] that can be applied to a JFET. If the drain </a:t>
            </a:r>
            <a:r>
              <a:rPr lang="en-US" dirty="0"/>
              <a:t>voltage exceeds </a:t>
            </a:r>
            <a:r>
              <a:rPr lang="en-US" i="1" dirty="0"/>
              <a:t>VDS (max), JFET would breakdown as shown in above fig</a:t>
            </a:r>
          </a:p>
          <a:p>
            <a:r>
              <a:rPr lang="en-US" b="1" dirty="0"/>
              <a:t>(</a:t>
            </a:r>
            <a:r>
              <a:rPr lang="en-US" b="1" i="1" dirty="0"/>
              <a:t>iii) The region between VP and VDS (max) (breakdown voltage) </a:t>
            </a:r>
            <a:r>
              <a:rPr lang="en-US" i="1" dirty="0"/>
              <a:t>is called constant-current region </a:t>
            </a:r>
            <a:r>
              <a:rPr lang="en-US" dirty="0"/>
              <a:t>or </a:t>
            </a:r>
            <a:r>
              <a:rPr lang="en-US" i="1" dirty="0"/>
              <a:t>active region. As long as VDS is kept within this range, ID will remain constant for a constant value </a:t>
            </a:r>
            <a:r>
              <a:rPr lang="en-US" dirty="0"/>
              <a:t>of </a:t>
            </a:r>
            <a:r>
              <a:rPr lang="en-US" i="1" dirty="0"/>
              <a:t>VGS. In other words, in the active region, JFET behaves as a constant–current device. For proper </a:t>
            </a:r>
            <a:r>
              <a:rPr lang="en-US" dirty="0"/>
              <a:t>working of </a:t>
            </a:r>
            <a:r>
              <a:rPr lang="en-US" i="1" dirty="0"/>
              <a:t>JFET, it must be operated in the active region.</a:t>
            </a:r>
            <a:endParaRPr lang="en-US" dirty="0"/>
          </a:p>
        </p:txBody>
      </p:sp>
      <p:sp>
        <p:nvSpPr>
          <p:cNvPr id="4" name="Slide Number Placeholder 3"/>
          <p:cNvSpPr>
            <a:spLocks noGrp="1"/>
          </p:cNvSpPr>
          <p:nvPr>
            <p:ph type="sldNum" sz="quarter" idx="12"/>
          </p:nvPr>
        </p:nvSpPr>
        <p:spPr/>
        <p:txBody>
          <a:bodyPr/>
          <a:lstStyle/>
          <a:p>
            <a:fld id="{FA930017-089C-4B04-9152-CFCB1CDC61B1}" type="slidenum">
              <a:rPr lang="en-US" smtClean="0"/>
              <a:pPr/>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685800" y="228600"/>
            <a:ext cx="7772400" cy="1447800"/>
          </a:xfrm>
          <a:solidFill>
            <a:srgbClr val="800000"/>
          </a:solidFill>
        </p:spPr>
        <p:txBody>
          <a:bodyPr/>
          <a:lstStyle/>
          <a:p>
            <a:r>
              <a:rPr lang="en-US" sz="3200" b="1">
                <a:solidFill>
                  <a:srgbClr val="00FF00"/>
                </a:solidFill>
                <a:latin typeface="Verdana" pitchFamily="34" charset="0"/>
              </a:rPr>
              <a:t>JFET Transfer Curve</a:t>
            </a:r>
            <a:br>
              <a:rPr lang="en-US" sz="3200" b="1">
                <a:solidFill>
                  <a:srgbClr val="00FF00"/>
                </a:solidFill>
              </a:rPr>
            </a:br>
            <a:r>
              <a:rPr lang="en-US" sz="2400">
                <a:solidFill>
                  <a:srgbClr val="00FF00"/>
                </a:solidFill>
                <a:latin typeface="Verdana" pitchFamily="34" charset="0"/>
              </a:rPr>
              <a:t>This graph shows the value of </a:t>
            </a:r>
            <a:r>
              <a:rPr lang="en-US" sz="2400" i="1">
                <a:solidFill>
                  <a:srgbClr val="00FF00"/>
                </a:solidFill>
                <a:latin typeface="Verdana" pitchFamily="34" charset="0"/>
              </a:rPr>
              <a:t>I</a:t>
            </a:r>
            <a:r>
              <a:rPr lang="en-US" sz="2400" baseline="-25000">
                <a:solidFill>
                  <a:srgbClr val="00FF00"/>
                </a:solidFill>
                <a:latin typeface="Verdana" pitchFamily="34" charset="0"/>
              </a:rPr>
              <a:t>D</a:t>
            </a:r>
            <a:r>
              <a:rPr lang="en-US" sz="2400">
                <a:solidFill>
                  <a:srgbClr val="00FF00"/>
                </a:solidFill>
                <a:latin typeface="Verdana" pitchFamily="34" charset="0"/>
              </a:rPr>
              <a:t> for a given value of </a:t>
            </a:r>
            <a:r>
              <a:rPr lang="en-US" sz="2400" i="1">
                <a:solidFill>
                  <a:srgbClr val="00FF00"/>
                </a:solidFill>
                <a:latin typeface="Verdana" pitchFamily="34" charset="0"/>
              </a:rPr>
              <a:t>V</a:t>
            </a:r>
            <a:r>
              <a:rPr lang="en-US" sz="2400" baseline="-25000">
                <a:solidFill>
                  <a:srgbClr val="00FF00"/>
                </a:solidFill>
                <a:latin typeface="Verdana" pitchFamily="34" charset="0"/>
              </a:rPr>
              <a:t>GS</a:t>
            </a:r>
          </a:p>
        </p:txBody>
      </p:sp>
      <p:pic>
        <p:nvPicPr>
          <p:cNvPr id="24579" name="Picture 4"/>
          <p:cNvPicPr>
            <a:picLocks noGrp="1" noChangeAspect="1" noChangeArrowheads="1"/>
          </p:cNvPicPr>
          <p:nvPr>
            <p:ph type="body" idx="1"/>
          </p:nvPr>
        </p:nvPicPr>
        <p:blipFill>
          <a:blip r:embed="rId2"/>
          <a:srcRect/>
          <a:stretch>
            <a:fillRect/>
          </a:stretch>
        </p:blipFill>
        <p:spPr>
          <a:xfrm>
            <a:off x="762000" y="2122488"/>
            <a:ext cx="6705600" cy="3516312"/>
          </a:xfrm>
          <a:noFill/>
        </p:spPr>
      </p:pic>
      <p:sp>
        <p:nvSpPr>
          <p:cNvPr id="4" name="Slide Number Placeholder 3"/>
          <p:cNvSpPr>
            <a:spLocks noGrp="1"/>
          </p:cNvSpPr>
          <p:nvPr>
            <p:ph type="sldNum" sz="quarter" idx="12"/>
          </p:nvPr>
        </p:nvSpPr>
        <p:spPr/>
        <p:txBody>
          <a:bodyPr/>
          <a:lstStyle/>
          <a:p>
            <a:fld id="{FA930017-089C-4B04-9152-CFCB1CDC61B1}" type="slidenum">
              <a:rPr lang="en-US" smtClean="0"/>
              <a:pPr/>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a:p>
        </p:txBody>
      </p:sp>
      <p:sp>
        <p:nvSpPr>
          <p:cNvPr id="3" name="Subtitle 2"/>
          <p:cNvSpPr>
            <a:spLocks noGrp="1"/>
          </p:cNvSpPr>
          <p:nvPr>
            <p:ph type="subTitle" idx="1"/>
          </p:nvPr>
        </p:nvSpPr>
        <p:spPr/>
        <p:txBody>
          <a:bodyPr/>
          <a:lstStyle/>
          <a:p>
            <a:endParaRPr lang="en-US"/>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909637"/>
            <a:ext cx="8072438" cy="5038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304800" y="4572000"/>
            <a:ext cx="8377238" cy="1200329"/>
          </a:xfrm>
          <a:prstGeom prst="rect">
            <a:avLst/>
          </a:prstGeom>
        </p:spPr>
        <p:txBody>
          <a:bodyPr wrap="square">
            <a:spAutoFit/>
          </a:bodyPr>
          <a:lstStyle/>
          <a:p>
            <a:r>
              <a:rPr lang="en-US" sz="2400" dirty="0"/>
              <a:t>One of the most important physical parameters of a </a:t>
            </a:r>
            <a:r>
              <a:rPr lang="en-US" sz="2400" b="1" dirty="0"/>
              <a:t>MOSFET</a:t>
            </a:r>
            <a:r>
              <a:rPr lang="en-US" sz="2400" dirty="0"/>
              <a:t> is its </a:t>
            </a:r>
            <a:r>
              <a:rPr lang="en-US" sz="2400" b="1" dirty="0"/>
              <a:t>threshold voltage</a:t>
            </a:r>
            <a:r>
              <a:rPr lang="en-US" sz="2400" dirty="0"/>
              <a:t> V </a:t>
            </a:r>
            <a:r>
              <a:rPr lang="en-US" sz="2400" baseline="-25000" dirty="0" err="1"/>
              <a:t>th</a:t>
            </a:r>
            <a:r>
              <a:rPr lang="en-US" sz="2400" dirty="0"/>
              <a:t>  </a:t>
            </a:r>
            <a:r>
              <a:rPr lang="en-US" sz="2400" b="1" dirty="0"/>
              <a:t>defined</a:t>
            </a:r>
            <a:r>
              <a:rPr lang="en-US" sz="2400" dirty="0"/>
              <a:t> as the gate </a:t>
            </a:r>
            <a:r>
              <a:rPr lang="en-US" sz="2400" b="1" dirty="0"/>
              <a:t>voltage</a:t>
            </a:r>
            <a:r>
              <a:rPr lang="en-US" sz="2400" dirty="0"/>
              <a:t> at which the device starts to turn on</a:t>
            </a:r>
          </a:p>
        </p:txBody>
      </p:sp>
    </p:spTree>
    <p:extLst>
      <p:ext uri="{BB962C8B-B14F-4D97-AF65-F5344CB8AC3E}">
        <p14:creationId xmlns:p14="http://schemas.microsoft.com/office/powerpoint/2010/main" val="15777687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US"/>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876300"/>
            <a:ext cx="8382000" cy="5219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800732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US"/>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823913"/>
            <a:ext cx="8305800" cy="5348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448104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US" dirty="0"/>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847724"/>
            <a:ext cx="8229600" cy="5248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732344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US"/>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871538"/>
            <a:ext cx="8229600" cy="5300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98256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US"/>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928688"/>
            <a:ext cx="8229600" cy="5243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725043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US"/>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966788"/>
            <a:ext cx="8229600" cy="5205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40609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US"/>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804863"/>
            <a:ext cx="8229600" cy="536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459834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pPr eaLnBrk="1" hangingPunct="1"/>
            <a:r>
              <a:rPr lang="en-US" dirty="0">
                <a:solidFill>
                  <a:srgbClr val="0070C0"/>
                </a:solidFill>
              </a:rPr>
              <a:t>MOSFET</a:t>
            </a:r>
          </a:p>
        </p:txBody>
      </p:sp>
      <p:sp>
        <p:nvSpPr>
          <p:cNvPr id="10243" name="Rectangle 3"/>
          <p:cNvSpPr>
            <a:spLocks noGrp="1" noChangeArrowheads="1"/>
          </p:cNvSpPr>
          <p:nvPr>
            <p:ph type="body" idx="1"/>
          </p:nvPr>
        </p:nvSpPr>
        <p:spPr/>
        <p:txBody>
          <a:bodyPr/>
          <a:lstStyle/>
          <a:p>
            <a:pPr eaLnBrk="1" hangingPunct="1">
              <a:lnSpc>
                <a:spcPct val="90000"/>
              </a:lnSpc>
            </a:pPr>
            <a:r>
              <a:rPr lang="en-GB" b="1" dirty="0">
                <a:solidFill>
                  <a:srgbClr val="0000FF"/>
                </a:solidFill>
              </a:rPr>
              <a:t>Operation</a:t>
            </a:r>
          </a:p>
          <a:p>
            <a:pPr lvl="1" eaLnBrk="1" hangingPunct="1">
              <a:lnSpc>
                <a:spcPct val="90000"/>
              </a:lnSpc>
            </a:pPr>
            <a:r>
              <a:rPr lang="en-GB" dirty="0"/>
              <a:t>gate volt controls the thickness of the channel</a:t>
            </a:r>
          </a:p>
          <a:p>
            <a:pPr lvl="1" eaLnBrk="1" hangingPunct="1">
              <a:lnSpc>
                <a:spcPct val="90000"/>
              </a:lnSpc>
            </a:pPr>
            <a:r>
              <a:rPr lang="en-GB" dirty="0"/>
              <a:t>consider an </a:t>
            </a:r>
            <a:r>
              <a:rPr lang="en-GB" i="1" dirty="0"/>
              <a:t>n</a:t>
            </a:r>
            <a:r>
              <a:rPr lang="en-GB" dirty="0"/>
              <a:t>-channel device</a:t>
            </a:r>
          </a:p>
          <a:p>
            <a:pPr lvl="2" eaLnBrk="1" hangingPunct="1">
              <a:lnSpc>
                <a:spcPct val="90000"/>
              </a:lnSpc>
            </a:pPr>
            <a:r>
              <a:rPr lang="en-GB" sz="2400" dirty="0"/>
              <a:t>making the gate more </a:t>
            </a:r>
            <a:r>
              <a:rPr lang="en-GB" sz="2400" i="1" dirty="0">
                <a:solidFill>
                  <a:srgbClr val="FF0000"/>
                </a:solidFill>
              </a:rPr>
              <a:t>positive</a:t>
            </a:r>
            <a:r>
              <a:rPr lang="en-GB" sz="2400" dirty="0">
                <a:solidFill>
                  <a:srgbClr val="FF0000"/>
                </a:solidFill>
              </a:rPr>
              <a:t> </a:t>
            </a:r>
            <a:r>
              <a:rPr lang="en-GB" sz="2400" dirty="0"/>
              <a:t>attracts electrons to the gate and makes the gate region </a:t>
            </a:r>
            <a:r>
              <a:rPr lang="en-GB" sz="2400" i="1" dirty="0"/>
              <a:t>thicker</a:t>
            </a:r>
            <a:r>
              <a:rPr lang="en-GB" sz="2400" dirty="0"/>
              <a:t> – reducing the resistance of the channel. The channel is said to be </a:t>
            </a:r>
            <a:r>
              <a:rPr lang="en-GB" sz="2400" b="1" dirty="0">
                <a:solidFill>
                  <a:srgbClr val="0000FF"/>
                </a:solidFill>
              </a:rPr>
              <a:t>enhanced</a:t>
            </a:r>
          </a:p>
          <a:p>
            <a:pPr lvl="2" eaLnBrk="1" hangingPunct="1">
              <a:lnSpc>
                <a:spcPct val="90000"/>
              </a:lnSpc>
            </a:pPr>
            <a:r>
              <a:rPr lang="en-GB" sz="2400" dirty="0"/>
              <a:t>making the gate more </a:t>
            </a:r>
            <a:r>
              <a:rPr lang="en-GB" sz="2400" i="1" dirty="0">
                <a:solidFill>
                  <a:srgbClr val="FF0000"/>
                </a:solidFill>
              </a:rPr>
              <a:t>negative</a:t>
            </a:r>
            <a:r>
              <a:rPr lang="en-GB" sz="2400" dirty="0"/>
              <a:t> repels electrons from the gate and makes the gate region </a:t>
            </a:r>
            <a:r>
              <a:rPr lang="en-GB" sz="2400" i="1" dirty="0"/>
              <a:t>thinner</a:t>
            </a:r>
            <a:r>
              <a:rPr lang="en-GB" sz="2400" dirty="0"/>
              <a:t> – increasing the resistance of the channel. The channel is said to be </a:t>
            </a:r>
            <a:r>
              <a:rPr lang="en-GB" sz="2400" b="1" dirty="0">
                <a:solidFill>
                  <a:srgbClr val="0000FF"/>
                </a:solidFill>
              </a:rPr>
              <a:t>depleted</a:t>
            </a:r>
          </a:p>
          <a:p>
            <a:pPr lvl="2" eaLnBrk="1" hangingPunct="1">
              <a:lnSpc>
                <a:spcPct val="90000"/>
              </a:lnSpc>
            </a:pPr>
            <a:endParaRPr lang="en-GB" sz="2400" dirty="0"/>
          </a:p>
          <a:p>
            <a:pPr lvl="1" eaLnBrk="1" hangingPunct="1">
              <a:lnSpc>
                <a:spcPct val="90000"/>
              </a:lnSpc>
            </a:pPr>
            <a:endParaRPr lang="en-GB" dirty="0"/>
          </a:p>
        </p:txBody>
      </p:sp>
    </p:spTree>
    <p:extLst>
      <p:ext uri="{BB962C8B-B14F-4D97-AF65-F5344CB8AC3E}">
        <p14:creationId xmlns:p14="http://schemas.microsoft.com/office/powerpoint/2010/main" val="315536303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US"/>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076324"/>
            <a:ext cx="8229600" cy="5019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0121947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US"/>
          </a:p>
        </p:txBody>
      </p:sp>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904874"/>
            <a:ext cx="8229600" cy="5267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5062385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US"/>
          </a:p>
        </p:txBody>
      </p:sp>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838200"/>
            <a:ext cx="8153400" cy="525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9144531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US"/>
          </a:p>
        </p:txBody>
      </p:sp>
      <p:pic>
        <p:nvPicPr>
          <p:cNvPr id="122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890588"/>
            <a:ext cx="8229599" cy="5205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3287944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Text Box 2"/>
          <p:cNvSpPr txBox="1">
            <a:spLocks noChangeArrowheads="1"/>
          </p:cNvSpPr>
          <p:nvPr/>
        </p:nvSpPr>
        <p:spPr bwMode="auto">
          <a:xfrm>
            <a:off x="3027363" y="5641975"/>
            <a:ext cx="3013075" cy="304800"/>
          </a:xfrm>
          <a:prstGeom prst="rect">
            <a:avLst/>
          </a:prstGeom>
          <a:noFill/>
          <a:ln w="9525">
            <a:noFill/>
            <a:miter lim="800000"/>
            <a:headEnd/>
            <a:tailEnd/>
          </a:ln>
        </p:spPr>
        <p:txBody>
          <a:bodyPr wrap="none">
            <a:spAutoFit/>
          </a:bodyPr>
          <a:lstStyle/>
          <a:p>
            <a:pPr algn="ctr"/>
            <a:r>
              <a:rPr lang="en-US" sz="1400" b="1"/>
              <a:t>Figure  </a:t>
            </a:r>
            <a:r>
              <a:rPr lang="en-US" sz="1400" i="1"/>
              <a:t>n</a:t>
            </a:r>
            <a:r>
              <a:rPr lang="en-US" sz="1400"/>
              <a:t>-Channel depletion MOSFET.</a:t>
            </a:r>
            <a:endParaRPr lang="en-US"/>
          </a:p>
        </p:txBody>
      </p:sp>
      <p:pic>
        <p:nvPicPr>
          <p:cNvPr id="61443" name="Picture 3"/>
          <p:cNvPicPr>
            <a:picLocks noChangeAspect="1" noChangeArrowheads="1"/>
          </p:cNvPicPr>
          <p:nvPr/>
        </p:nvPicPr>
        <p:blipFill>
          <a:blip r:embed="rId2"/>
          <a:srcRect/>
          <a:stretch>
            <a:fillRect/>
          </a:stretch>
        </p:blipFill>
        <p:spPr bwMode="auto">
          <a:xfrm>
            <a:off x="887413" y="1574800"/>
            <a:ext cx="7367587" cy="3708400"/>
          </a:xfrm>
          <a:prstGeom prst="rect">
            <a:avLst/>
          </a:prstGeom>
          <a:noFill/>
          <a:ln w="9525">
            <a:noFill/>
            <a:miter lim="800000"/>
            <a:headEnd/>
            <a:tailEnd/>
          </a:ln>
        </p:spPr>
      </p:pic>
      <p:sp>
        <p:nvSpPr>
          <p:cNvPr id="4" name="Slide Number Placeholder 3"/>
          <p:cNvSpPr>
            <a:spLocks noGrp="1"/>
          </p:cNvSpPr>
          <p:nvPr>
            <p:ph type="sldNum" sz="quarter" idx="12"/>
          </p:nvPr>
        </p:nvSpPr>
        <p:spPr/>
        <p:txBody>
          <a:bodyPr/>
          <a:lstStyle/>
          <a:p>
            <a:fld id="{FA930017-089C-4B04-9152-CFCB1CDC61B1}" type="slidenum">
              <a:rPr lang="en-US" smtClean="0"/>
              <a:pPr/>
              <a:t>30</a:t>
            </a:fld>
            <a:endParaRPr lang="en-US"/>
          </a:p>
        </p:txBody>
      </p:sp>
    </p:spTree>
    <p:extLst>
      <p:ext uri="{BB962C8B-B14F-4D97-AF65-F5344CB8AC3E}">
        <p14:creationId xmlns:p14="http://schemas.microsoft.com/office/powerpoint/2010/main" val="262263681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Text Box 2"/>
          <p:cNvSpPr txBox="1">
            <a:spLocks noChangeArrowheads="1"/>
          </p:cNvSpPr>
          <p:nvPr/>
        </p:nvSpPr>
        <p:spPr bwMode="auto">
          <a:xfrm>
            <a:off x="2508250" y="5641975"/>
            <a:ext cx="4048125" cy="304800"/>
          </a:xfrm>
          <a:prstGeom prst="rect">
            <a:avLst/>
          </a:prstGeom>
          <a:noFill/>
          <a:ln w="9525">
            <a:noFill/>
            <a:miter lim="800000"/>
            <a:headEnd/>
            <a:tailEnd/>
          </a:ln>
        </p:spPr>
        <p:txBody>
          <a:bodyPr wrap="none">
            <a:spAutoFit/>
          </a:bodyPr>
          <a:lstStyle/>
          <a:p>
            <a:pPr algn="ctr"/>
            <a:r>
              <a:rPr lang="en-US" sz="1400" b="1"/>
              <a:t>Figure  </a:t>
            </a:r>
            <a:r>
              <a:rPr lang="en-US" sz="1400"/>
              <a:t>Characteristic curves for an NMOS transistor.</a:t>
            </a:r>
            <a:endParaRPr lang="en-US"/>
          </a:p>
        </p:txBody>
      </p:sp>
      <p:pic>
        <p:nvPicPr>
          <p:cNvPr id="62467" name="Picture 3"/>
          <p:cNvPicPr>
            <a:picLocks noChangeAspect="1" noChangeArrowheads="1"/>
          </p:cNvPicPr>
          <p:nvPr/>
        </p:nvPicPr>
        <p:blipFill>
          <a:blip r:embed="rId2"/>
          <a:srcRect/>
          <a:stretch>
            <a:fillRect/>
          </a:stretch>
        </p:blipFill>
        <p:spPr bwMode="auto">
          <a:xfrm>
            <a:off x="1630363" y="609600"/>
            <a:ext cx="5881687" cy="4826000"/>
          </a:xfrm>
          <a:prstGeom prst="rect">
            <a:avLst/>
          </a:prstGeom>
          <a:noFill/>
          <a:ln w="9525">
            <a:noFill/>
            <a:miter lim="800000"/>
            <a:headEnd/>
            <a:tailEnd/>
          </a:ln>
        </p:spPr>
      </p:pic>
      <p:sp>
        <p:nvSpPr>
          <p:cNvPr id="4" name="Slide Number Placeholder 3"/>
          <p:cNvSpPr>
            <a:spLocks noGrp="1"/>
          </p:cNvSpPr>
          <p:nvPr>
            <p:ph type="sldNum" sz="quarter" idx="12"/>
          </p:nvPr>
        </p:nvSpPr>
        <p:spPr/>
        <p:txBody>
          <a:bodyPr/>
          <a:lstStyle/>
          <a:p>
            <a:fld id="{FA930017-089C-4B04-9152-CFCB1CDC61B1}" type="slidenum">
              <a:rPr lang="en-US" smtClean="0"/>
              <a:pPr/>
              <a:t>31</a:t>
            </a:fld>
            <a:endParaRPr lang="en-US"/>
          </a:p>
        </p:txBody>
      </p:sp>
    </p:spTree>
    <p:extLst>
      <p:ext uri="{BB962C8B-B14F-4D97-AF65-F5344CB8AC3E}">
        <p14:creationId xmlns:p14="http://schemas.microsoft.com/office/powerpoint/2010/main" val="56754583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ext Box 2"/>
          <p:cNvSpPr txBox="1">
            <a:spLocks noChangeArrowheads="1"/>
          </p:cNvSpPr>
          <p:nvPr/>
        </p:nvSpPr>
        <p:spPr bwMode="auto">
          <a:xfrm>
            <a:off x="965200" y="5641975"/>
            <a:ext cx="7142163" cy="517525"/>
          </a:xfrm>
          <a:prstGeom prst="rect">
            <a:avLst/>
          </a:prstGeom>
          <a:noFill/>
          <a:ln w="9525">
            <a:noFill/>
            <a:miter lim="800000"/>
            <a:headEnd/>
            <a:tailEnd/>
          </a:ln>
        </p:spPr>
        <p:txBody>
          <a:bodyPr wrap="none">
            <a:spAutoFit/>
          </a:bodyPr>
          <a:lstStyle/>
          <a:p>
            <a:pPr algn="ctr"/>
            <a:r>
              <a:rPr lang="en-US" sz="1400" b="1"/>
              <a:t>Figure </a:t>
            </a:r>
            <a:r>
              <a:rPr lang="en-US" sz="1400"/>
              <a:t>Drain current versus </a:t>
            </a:r>
            <a:r>
              <a:rPr lang="en-US" sz="1400" i="1"/>
              <a:t>v</a:t>
            </a:r>
            <a:r>
              <a:rPr lang="en-US" sz="1400" i="1" baseline="-16000"/>
              <a:t>GS</a:t>
            </a:r>
            <a:r>
              <a:rPr lang="en-US" sz="1400"/>
              <a:t> for several types of FETs. </a:t>
            </a:r>
            <a:r>
              <a:rPr lang="en-US" sz="1400" i="1"/>
              <a:t>i</a:t>
            </a:r>
            <a:r>
              <a:rPr lang="en-US" sz="1400" i="1" baseline="-16000"/>
              <a:t>D</a:t>
            </a:r>
            <a:r>
              <a:rPr lang="en-US" sz="1400"/>
              <a:t> is referenced into the drain terminal </a:t>
            </a:r>
          </a:p>
          <a:p>
            <a:pPr algn="ctr"/>
            <a:r>
              <a:rPr lang="en-US" sz="1400"/>
              <a:t>for </a:t>
            </a:r>
            <a:r>
              <a:rPr lang="en-US" sz="1400" i="1"/>
              <a:t>n</a:t>
            </a:r>
            <a:r>
              <a:rPr lang="en-US" sz="1400"/>
              <a:t>-channel devices and out of the drain for </a:t>
            </a:r>
            <a:r>
              <a:rPr lang="en-US" sz="1400" i="1"/>
              <a:t>p</a:t>
            </a:r>
            <a:r>
              <a:rPr lang="en-US" sz="1400"/>
              <a:t>-channel devices.</a:t>
            </a:r>
          </a:p>
        </p:txBody>
      </p:sp>
      <p:pic>
        <p:nvPicPr>
          <p:cNvPr id="65539" name="Picture 3"/>
          <p:cNvPicPr>
            <a:picLocks noChangeAspect="1" noChangeArrowheads="1"/>
          </p:cNvPicPr>
          <p:nvPr/>
        </p:nvPicPr>
        <p:blipFill>
          <a:blip r:embed="rId2"/>
          <a:srcRect/>
          <a:stretch>
            <a:fillRect/>
          </a:stretch>
        </p:blipFill>
        <p:spPr bwMode="auto">
          <a:xfrm>
            <a:off x="887413" y="2546350"/>
            <a:ext cx="7367587" cy="1765300"/>
          </a:xfrm>
          <a:prstGeom prst="rect">
            <a:avLst/>
          </a:prstGeom>
          <a:noFill/>
          <a:ln w="9525">
            <a:noFill/>
            <a:miter lim="800000"/>
            <a:headEnd/>
            <a:tailEnd/>
          </a:ln>
        </p:spPr>
      </p:pic>
      <p:sp>
        <p:nvSpPr>
          <p:cNvPr id="4" name="Slide Number Placeholder 3"/>
          <p:cNvSpPr>
            <a:spLocks noGrp="1"/>
          </p:cNvSpPr>
          <p:nvPr>
            <p:ph type="sldNum" sz="quarter" idx="12"/>
          </p:nvPr>
        </p:nvSpPr>
        <p:spPr/>
        <p:txBody>
          <a:bodyPr/>
          <a:lstStyle/>
          <a:p>
            <a:fld id="{FA930017-089C-4B04-9152-CFCB1CDC61B1}" type="slidenum">
              <a:rPr lang="en-US" smtClean="0"/>
              <a:pPr/>
              <a:t>32</a:t>
            </a:fld>
            <a:endParaRPr lang="en-US"/>
          </a:p>
        </p:txBody>
      </p:sp>
    </p:spTree>
    <p:extLst>
      <p:ext uri="{BB962C8B-B14F-4D97-AF65-F5344CB8AC3E}">
        <p14:creationId xmlns:p14="http://schemas.microsoft.com/office/powerpoint/2010/main" val="263026816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ext Box 2"/>
          <p:cNvSpPr txBox="1">
            <a:spLocks noChangeArrowheads="1"/>
          </p:cNvSpPr>
          <p:nvPr/>
        </p:nvSpPr>
        <p:spPr bwMode="auto">
          <a:xfrm>
            <a:off x="1633538" y="5641975"/>
            <a:ext cx="5802312" cy="304800"/>
          </a:xfrm>
          <a:prstGeom prst="rect">
            <a:avLst/>
          </a:prstGeom>
          <a:noFill/>
          <a:ln w="9525">
            <a:noFill/>
            <a:miter lim="800000"/>
            <a:headEnd/>
            <a:tailEnd/>
          </a:ln>
        </p:spPr>
        <p:txBody>
          <a:bodyPr wrap="none">
            <a:spAutoFit/>
          </a:bodyPr>
          <a:lstStyle/>
          <a:p>
            <a:pPr algn="ctr"/>
            <a:r>
              <a:rPr lang="en-US" sz="1400" b="1"/>
              <a:t>Figure  </a:t>
            </a:r>
            <a:r>
              <a:rPr lang="en-US" sz="1400"/>
              <a:t>Drain current versus </a:t>
            </a:r>
            <a:r>
              <a:rPr lang="en-US" sz="1400" i="1"/>
              <a:t>v</a:t>
            </a:r>
            <a:r>
              <a:rPr lang="en-US" sz="1400" i="1" baseline="-16000"/>
              <a:t>GS</a:t>
            </a:r>
            <a:r>
              <a:rPr lang="en-US" sz="1400"/>
              <a:t> in the saturation region for </a:t>
            </a:r>
            <a:r>
              <a:rPr lang="en-US" sz="1400" i="1"/>
              <a:t>n</a:t>
            </a:r>
            <a:r>
              <a:rPr lang="en-US" sz="1400"/>
              <a:t>-channel devices.</a:t>
            </a:r>
            <a:endParaRPr lang="en-US"/>
          </a:p>
        </p:txBody>
      </p:sp>
      <p:pic>
        <p:nvPicPr>
          <p:cNvPr id="63491" name="Picture 3"/>
          <p:cNvPicPr>
            <a:picLocks noChangeAspect="1" noChangeArrowheads="1"/>
          </p:cNvPicPr>
          <p:nvPr/>
        </p:nvPicPr>
        <p:blipFill>
          <a:blip r:embed="rId2"/>
          <a:srcRect/>
          <a:stretch>
            <a:fillRect/>
          </a:stretch>
        </p:blipFill>
        <p:spPr bwMode="auto">
          <a:xfrm>
            <a:off x="887413" y="2292350"/>
            <a:ext cx="7367587" cy="2273300"/>
          </a:xfrm>
          <a:prstGeom prst="rect">
            <a:avLst/>
          </a:prstGeom>
          <a:noFill/>
          <a:ln w="9525">
            <a:noFill/>
            <a:miter lim="800000"/>
            <a:headEnd/>
            <a:tailEnd/>
          </a:ln>
        </p:spPr>
      </p:pic>
      <p:sp>
        <p:nvSpPr>
          <p:cNvPr id="4" name="Slide Number Placeholder 3"/>
          <p:cNvSpPr>
            <a:spLocks noGrp="1"/>
          </p:cNvSpPr>
          <p:nvPr>
            <p:ph type="sldNum" sz="quarter" idx="12"/>
          </p:nvPr>
        </p:nvSpPr>
        <p:spPr/>
        <p:txBody>
          <a:bodyPr/>
          <a:lstStyle/>
          <a:p>
            <a:fld id="{FA930017-089C-4B04-9152-CFCB1CDC61B1}" type="slidenum">
              <a:rPr lang="en-US" smtClean="0"/>
              <a:pPr/>
              <a:t>33</a:t>
            </a:fld>
            <a:endParaRPr lang="en-US"/>
          </a:p>
        </p:txBody>
      </p:sp>
    </p:spTree>
    <p:extLst>
      <p:ext uri="{BB962C8B-B14F-4D97-AF65-F5344CB8AC3E}">
        <p14:creationId xmlns:p14="http://schemas.microsoft.com/office/powerpoint/2010/main" val="30358318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US"/>
          </a:p>
        </p:txBody>
      </p:sp>
      <p:pic>
        <p:nvPicPr>
          <p:cNvPr id="133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7763" y="838200"/>
            <a:ext cx="6848475" cy="518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31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838200"/>
            <a:ext cx="8229600" cy="525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0672564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3"/>
          <p:cNvSpPr>
            <a:spLocks noGrp="1" noChangeArrowheads="1"/>
          </p:cNvSpPr>
          <p:nvPr>
            <p:ph type="body" idx="1"/>
          </p:nvPr>
        </p:nvSpPr>
        <p:spPr/>
        <p:txBody>
          <a:bodyPr/>
          <a:lstStyle/>
          <a:p>
            <a:pPr lvl="1" eaLnBrk="1" hangingPunct="1"/>
            <a:r>
              <a:rPr lang="en-GB"/>
              <a:t>the effect of varying the gate voltage</a:t>
            </a:r>
          </a:p>
        </p:txBody>
      </p:sp>
      <p:pic>
        <p:nvPicPr>
          <p:cNvPr id="11268" name="Picture 4"/>
          <p:cNvPicPr>
            <a:picLocks noChangeAspect="1" noChangeArrowheads="1"/>
          </p:cNvPicPr>
          <p:nvPr/>
        </p:nvPicPr>
        <p:blipFill>
          <a:blip r:embed="rId2"/>
          <a:srcRect/>
          <a:stretch>
            <a:fillRect/>
          </a:stretch>
        </p:blipFill>
        <p:spPr bwMode="auto">
          <a:xfrm>
            <a:off x="1476375" y="2384425"/>
            <a:ext cx="6276975" cy="3768725"/>
          </a:xfrm>
          <a:prstGeom prst="rect">
            <a:avLst/>
          </a:prstGeom>
          <a:noFill/>
          <a:ln w="9525">
            <a:noFill/>
            <a:miter lim="800000"/>
            <a:headEnd/>
            <a:tailEnd/>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685800" y="609600"/>
            <a:ext cx="7772400" cy="838200"/>
          </a:xfrm>
          <a:solidFill>
            <a:srgbClr val="CC0066"/>
          </a:solidFill>
        </p:spPr>
        <p:txBody>
          <a:bodyPr/>
          <a:lstStyle/>
          <a:p>
            <a:r>
              <a:rPr lang="en-US" sz="2800">
                <a:solidFill>
                  <a:srgbClr val="FFFF66"/>
                </a:solidFill>
                <a:latin typeface="Arial Black" pitchFamily="34" charset="0"/>
              </a:rPr>
              <a:t>Biasing Circuits used for JFET</a:t>
            </a:r>
          </a:p>
        </p:txBody>
      </p:sp>
      <p:sp>
        <p:nvSpPr>
          <p:cNvPr id="25603" name="Rectangle 3"/>
          <p:cNvSpPr>
            <a:spLocks noGrp="1" noChangeArrowheads="1"/>
          </p:cNvSpPr>
          <p:nvPr>
            <p:ph type="body" idx="1"/>
          </p:nvPr>
        </p:nvSpPr>
        <p:spPr>
          <a:xfrm>
            <a:off x="685800" y="1981200"/>
            <a:ext cx="7772400" cy="2133600"/>
          </a:xfrm>
          <a:noFill/>
          <a:ln>
            <a:solidFill>
              <a:srgbClr val="CC0066"/>
            </a:solidFill>
          </a:ln>
        </p:spPr>
        <p:txBody>
          <a:bodyPr/>
          <a:lstStyle/>
          <a:p>
            <a:r>
              <a:rPr lang="en-US"/>
              <a:t>Fixed bias circuit</a:t>
            </a:r>
          </a:p>
          <a:p>
            <a:r>
              <a:rPr lang="en-US"/>
              <a:t>Self bias circuit</a:t>
            </a:r>
          </a:p>
          <a:p>
            <a:r>
              <a:rPr lang="en-US"/>
              <a:t>Potential Divider bias circuit </a:t>
            </a:r>
          </a:p>
        </p:txBody>
      </p:sp>
      <p:sp>
        <p:nvSpPr>
          <p:cNvPr id="4" name="Slide Number Placeholder 3"/>
          <p:cNvSpPr>
            <a:spLocks noGrp="1"/>
          </p:cNvSpPr>
          <p:nvPr>
            <p:ph type="sldNum" sz="quarter" idx="12"/>
          </p:nvPr>
        </p:nvSpPr>
        <p:spPr/>
        <p:txBody>
          <a:bodyPr/>
          <a:lstStyle/>
          <a:p>
            <a:fld id="{FA930017-089C-4B04-9152-CFCB1CDC61B1}" type="slidenum">
              <a:rPr lang="en-US" smtClean="0"/>
              <a:pPr/>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2" name="Rectangle 2"/>
          <p:cNvSpPr>
            <a:spLocks noGrp="1" noChangeArrowheads="1"/>
          </p:cNvSpPr>
          <p:nvPr>
            <p:ph type="title" sz="quarter"/>
          </p:nvPr>
        </p:nvSpPr>
        <p:spPr>
          <a:xfrm>
            <a:off x="685800" y="152400"/>
            <a:ext cx="5410200" cy="609600"/>
          </a:xfrm>
          <a:solidFill>
            <a:srgbClr val="FF99CC"/>
          </a:solidFill>
        </p:spPr>
        <p:txBody>
          <a:bodyPr/>
          <a:lstStyle/>
          <a:p>
            <a:r>
              <a:rPr lang="en-US" sz="2800">
                <a:solidFill>
                  <a:schemeClr val="tx1"/>
                </a:solidFill>
              </a:rPr>
              <a:t>JFET (n-channel) Biasing Circuits</a:t>
            </a:r>
          </a:p>
        </p:txBody>
      </p:sp>
      <p:graphicFrame>
        <p:nvGraphicFramePr>
          <p:cNvPr id="4098" name="Object 6"/>
          <p:cNvGraphicFramePr>
            <a:graphicFrameLocks noGrp="1" noChangeAspect="1"/>
          </p:cNvGraphicFramePr>
          <p:nvPr>
            <p:ph sz="quarter" idx="1"/>
          </p:nvPr>
        </p:nvGraphicFramePr>
        <p:xfrm>
          <a:off x="1270000" y="2387600"/>
          <a:ext cx="2641600" cy="1168400"/>
        </p:xfrm>
        <a:graphic>
          <a:graphicData uri="http://schemas.openxmlformats.org/presentationml/2006/ole">
            <mc:AlternateContent xmlns:mc="http://schemas.openxmlformats.org/markup-compatibility/2006">
              <mc:Choice xmlns:v="urn:schemas-microsoft-com:vml" Requires="v">
                <p:oleObj name="Equation" r:id="rId2" imgW="2641320" imgH="1168200" progId="Equation.3">
                  <p:embed/>
                </p:oleObj>
              </mc:Choice>
              <mc:Fallback>
                <p:oleObj name="Equation" r:id="rId2" imgW="2641320" imgH="1168200" progId="Equation.3">
                  <p:embed/>
                  <p:pic>
                    <p:nvPicPr>
                      <p:cNvPr id="0" name="Object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70000" y="2387600"/>
                        <a:ext cx="2641600" cy="1168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099" name="Object 8"/>
          <p:cNvGraphicFramePr>
            <a:graphicFrameLocks noGrp="1" noChangeAspect="1"/>
          </p:cNvGraphicFramePr>
          <p:nvPr>
            <p:ph sz="quarter" idx="2"/>
          </p:nvPr>
        </p:nvGraphicFramePr>
        <p:xfrm>
          <a:off x="4648200" y="1981200"/>
          <a:ext cx="4572000" cy="442913"/>
        </p:xfrm>
        <a:graphic>
          <a:graphicData uri="http://schemas.openxmlformats.org/presentationml/2006/ole">
            <mc:AlternateContent xmlns:mc="http://schemas.openxmlformats.org/markup-compatibility/2006">
              <mc:Choice xmlns:v="urn:schemas-microsoft-com:vml" Requires="v">
                <p:oleObj name="Equation" r:id="rId4" imgW="2247840" imgH="190440" progId="Equation.3">
                  <p:embed/>
                </p:oleObj>
              </mc:Choice>
              <mc:Fallback>
                <p:oleObj name="Equation" r:id="rId4" imgW="2247840" imgH="190440" progId="Equation.3">
                  <p:embed/>
                  <p:pic>
                    <p:nvPicPr>
                      <p:cNvPr id="0" name="Object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48200" y="1981200"/>
                        <a:ext cx="4572000" cy="442913"/>
                      </a:xfrm>
                      <a:prstGeom prst="rect">
                        <a:avLst/>
                      </a:prstGeom>
                      <a:solidFill>
                        <a:srgbClr val="FF99CC"/>
                      </a:solidFill>
                    </p:spPr>
                  </p:pic>
                </p:oleObj>
              </mc:Fallback>
            </mc:AlternateContent>
          </a:graphicData>
        </a:graphic>
      </p:graphicFrame>
      <p:graphicFrame>
        <p:nvGraphicFramePr>
          <p:cNvPr id="4100" name="Object 10"/>
          <p:cNvGraphicFramePr>
            <a:graphicFrameLocks noGrp="1" noChangeAspect="1"/>
          </p:cNvGraphicFramePr>
          <p:nvPr>
            <p:ph sz="quarter" idx="3"/>
          </p:nvPr>
        </p:nvGraphicFramePr>
        <p:xfrm>
          <a:off x="4953000" y="2514600"/>
          <a:ext cx="2955925" cy="1143000"/>
        </p:xfrm>
        <a:graphic>
          <a:graphicData uri="http://schemas.openxmlformats.org/presentationml/2006/ole">
            <mc:AlternateContent xmlns:mc="http://schemas.openxmlformats.org/markup-compatibility/2006">
              <mc:Choice xmlns:v="urn:schemas-microsoft-com:vml" Requires="v">
                <p:oleObj name="Equation" r:id="rId6" imgW="1282680" imgH="647640" progId="Equation.3">
                  <p:embed/>
                </p:oleObj>
              </mc:Choice>
              <mc:Fallback>
                <p:oleObj name="Equation" r:id="rId6" imgW="1282680" imgH="647640" progId="Equation.3">
                  <p:embed/>
                  <p:pic>
                    <p:nvPicPr>
                      <p:cNvPr id="0" name="Object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953000" y="2514600"/>
                        <a:ext cx="2955925" cy="1143000"/>
                      </a:xfrm>
                      <a:prstGeom prst="rect">
                        <a:avLst/>
                      </a:prstGeom>
                      <a:solidFill>
                        <a:srgbClr val="FF99CC"/>
                      </a:solidFill>
                    </p:spPr>
                  </p:pic>
                </p:oleObj>
              </mc:Fallback>
            </mc:AlternateContent>
          </a:graphicData>
        </a:graphic>
      </p:graphicFrame>
      <p:pic>
        <p:nvPicPr>
          <p:cNvPr id="4103" name="Picture 4" descr="t9"/>
          <p:cNvPicPr>
            <a:picLocks noGrp="1" noChangeAspect="1" noChangeArrowheads="1"/>
          </p:cNvPicPr>
          <p:nvPr>
            <p:ph type="body" idx="4294967295"/>
          </p:nvPr>
        </p:nvPicPr>
        <p:blipFill>
          <a:blip r:embed="rId8"/>
          <a:srcRect/>
          <a:stretch>
            <a:fillRect/>
          </a:stretch>
        </p:blipFill>
        <p:spPr>
          <a:xfrm>
            <a:off x="228600" y="990600"/>
            <a:ext cx="4368800" cy="5638800"/>
          </a:xfrm>
          <a:noFill/>
        </p:spPr>
      </p:pic>
      <p:graphicFrame>
        <p:nvGraphicFramePr>
          <p:cNvPr id="4101" name="Object 12"/>
          <p:cNvGraphicFramePr>
            <a:graphicFrameLocks noGrp="1" noChangeAspect="1"/>
          </p:cNvGraphicFramePr>
          <p:nvPr>
            <p:ph sz="quarter" idx="4"/>
          </p:nvPr>
        </p:nvGraphicFramePr>
        <p:xfrm>
          <a:off x="5105400" y="4876800"/>
          <a:ext cx="3081338" cy="1447800"/>
        </p:xfrm>
        <a:graphic>
          <a:graphicData uri="http://schemas.openxmlformats.org/presentationml/2006/ole">
            <mc:AlternateContent xmlns:mc="http://schemas.openxmlformats.org/markup-compatibility/2006">
              <mc:Choice xmlns:v="urn:schemas-microsoft-com:vml" Requires="v">
                <p:oleObj name="Equation" r:id="rId9" imgW="888840" imgH="571320" progId="Equation.3">
                  <p:embed/>
                </p:oleObj>
              </mc:Choice>
              <mc:Fallback>
                <p:oleObj name="Equation" r:id="rId9" imgW="888840" imgH="571320" progId="Equation.3">
                  <p:embed/>
                  <p:pic>
                    <p:nvPicPr>
                      <p:cNvPr id="0" name="Object 1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105400" y="4876800"/>
                        <a:ext cx="3081338" cy="1447800"/>
                      </a:xfrm>
                      <a:prstGeom prst="rect">
                        <a:avLst/>
                      </a:prstGeom>
                      <a:solidFill>
                        <a:srgbClr val="FF99CC"/>
                      </a:solidFill>
                    </p:spPr>
                  </p:pic>
                </p:oleObj>
              </mc:Fallback>
            </mc:AlternateContent>
          </a:graphicData>
        </a:graphic>
      </p:graphicFrame>
      <p:sp>
        <p:nvSpPr>
          <p:cNvPr id="4104" name="Text Box 14"/>
          <p:cNvSpPr txBox="1">
            <a:spLocks noChangeArrowheads="1"/>
          </p:cNvSpPr>
          <p:nvPr/>
        </p:nvSpPr>
        <p:spPr bwMode="auto">
          <a:xfrm>
            <a:off x="4648200" y="4191000"/>
            <a:ext cx="3276600" cy="457200"/>
          </a:xfrm>
          <a:prstGeom prst="rect">
            <a:avLst/>
          </a:prstGeom>
          <a:noFill/>
          <a:ln w="9525">
            <a:noFill/>
            <a:miter lim="800000"/>
            <a:headEnd/>
            <a:tailEnd/>
          </a:ln>
        </p:spPr>
        <p:txBody>
          <a:bodyPr>
            <a:spAutoFit/>
          </a:bodyPr>
          <a:lstStyle/>
          <a:p>
            <a:pPr>
              <a:spcBef>
                <a:spcPct val="50000"/>
              </a:spcBef>
            </a:pPr>
            <a:r>
              <a:rPr lang="en-US">
                <a:solidFill>
                  <a:srgbClr val="CC0066"/>
                </a:solidFill>
              </a:rPr>
              <a:t>For Self Bias Circuit</a:t>
            </a:r>
          </a:p>
        </p:txBody>
      </p:sp>
      <p:sp>
        <p:nvSpPr>
          <p:cNvPr id="4105" name="Line 15"/>
          <p:cNvSpPr>
            <a:spLocks noChangeShapeType="1"/>
          </p:cNvSpPr>
          <p:nvPr/>
        </p:nvSpPr>
        <p:spPr bwMode="auto">
          <a:xfrm flipH="1">
            <a:off x="4038600" y="4419600"/>
            <a:ext cx="685800" cy="0"/>
          </a:xfrm>
          <a:prstGeom prst="line">
            <a:avLst/>
          </a:prstGeom>
          <a:noFill/>
          <a:ln w="31750">
            <a:solidFill>
              <a:srgbClr val="800000"/>
            </a:solidFill>
            <a:round/>
            <a:headEnd/>
            <a:tailEnd type="triangle" w="med" len="med"/>
          </a:ln>
        </p:spPr>
        <p:txBody>
          <a:bodyPr/>
          <a:lstStyle/>
          <a:p>
            <a:endParaRPr lang="en-US"/>
          </a:p>
        </p:txBody>
      </p:sp>
      <p:sp>
        <p:nvSpPr>
          <p:cNvPr id="4106" name="Text Box 16"/>
          <p:cNvSpPr txBox="1">
            <a:spLocks noChangeArrowheads="1"/>
          </p:cNvSpPr>
          <p:nvPr/>
        </p:nvSpPr>
        <p:spPr bwMode="auto">
          <a:xfrm>
            <a:off x="4419600" y="990600"/>
            <a:ext cx="3657600" cy="457200"/>
          </a:xfrm>
          <a:prstGeom prst="rect">
            <a:avLst/>
          </a:prstGeom>
          <a:noFill/>
          <a:ln w="9525">
            <a:noFill/>
            <a:miter lim="800000"/>
            <a:headEnd/>
            <a:tailEnd/>
          </a:ln>
        </p:spPr>
        <p:txBody>
          <a:bodyPr>
            <a:spAutoFit/>
          </a:bodyPr>
          <a:lstStyle/>
          <a:p>
            <a:pPr>
              <a:spcBef>
                <a:spcPct val="50000"/>
              </a:spcBef>
            </a:pPr>
            <a:r>
              <a:rPr lang="en-US">
                <a:solidFill>
                  <a:srgbClr val="CC0066"/>
                </a:solidFill>
              </a:rPr>
              <a:t>For Fixed Bias Circuit</a:t>
            </a:r>
          </a:p>
        </p:txBody>
      </p:sp>
      <p:sp>
        <p:nvSpPr>
          <p:cNvPr id="4107" name="Line 17"/>
          <p:cNvSpPr>
            <a:spLocks noChangeShapeType="1"/>
          </p:cNvSpPr>
          <p:nvPr/>
        </p:nvSpPr>
        <p:spPr bwMode="auto">
          <a:xfrm flipH="1">
            <a:off x="3733800" y="1219200"/>
            <a:ext cx="685800" cy="76200"/>
          </a:xfrm>
          <a:prstGeom prst="line">
            <a:avLst/>
          </a:prstGeom>
          <a:noFill/>
          <a:ln w="28575">
            <a:solidFill>
              <a:srgbClr val="800000"/>
            </a:solidFill>
            <a:round/>
            <a:headEnd/>
            <a:tailEnd type="triangle" w="med" len="med"/>
          </a:ln>
        </p:spPr>
        <p:txBody>
          <a:bodyPr/>
          <a:lstStyle/>
          <a:p>
            <a:endParaRPr lang="en-US"/>
          </a:p>
        </p:txBody>
      </p:sp>
      <p:sp>
        <p:nvSpPr>
          <p:cNvPr id="4108" name="Text Box 18"/>
          <p:cNvSpPr txBox="1">
            <a:spLocks noChangeArrowheads="1"/>
          </p:cNvSpPr>
          <p:nvPr/>
        </p:nvSpPr>
        <p:spPr bwMode="auto">
          <a:xfrm>
            <a:off x="4724400" y="1524000"/>
            <a:ext cx="4191000" cy="336550"/>
          </a:xfrm>
          <a:prstGeom prst="rect">
            <a:avLst/>
          </a:prstGeom>
          <a:solidFill>
            <a:srgbClr val="FF99CC"/>
          </a:solidFill>
          <a:ln w="9525">
            <a:noFill/>
            <a:miter lim="800000"/>
            <a:headEnd/>
            <a:tailEnd/>
          </a:ln>
        </p:spPr>
        <p:txBody>
          <a:bodyPr>
            <a:spAutoFit/>
          </a:bodyPr>
          <a:lstStyle/>
          <a:p>
            <a:pPr>
              <a:spcBef>
                <a:spcPct val="50000"/>
              </a:spcBef>
            </a:pPr>
            <a:r>
              <a:rPr lang="en-US" sz="1600">
                <a:latin typeface="Verdana" pitchFamily="34" charset="0"/>
              </a:rPr>
              <a:t>Applying KVL to gate circuit we get</a:t>
            </a:r>
          </a:p>
        </p:txBody>
      </p:sp>
      <p:sp>
        <p:nvSpPr>
          <p:cNvPr id="4109" name="Text Box 19"/>
          <p:cNvSpPr txBox="1">
            <a:spLocks noChangeArrowheads="1"/>
          </p:cNvSpPr>
          <p:nvPr/>
        </p:nvSpPr>
        <p:spPr bwMode="auto">
          <a:xfrm>
            <a:off x="4419600" y="2514600"/>
            <a:ext cx="533400" cy="274638"/>
          </a:xfrm>
          <a:prstGeom prst="rect">
            <a:avLst/>
          </a:prstGeom>
          <a:solidFill>
            <a:schemeClr val="accent1"/>
          </a:solidFill>
          <a:ln w="9525">
            <a:noFill/>
            <a:miter lim="800000"/>
            <a:headEnd/>
            <a:tailEnd/>
          </a:ln>
        </p:spPr>
        <p:txBody>
          <a:bodyPr lIns="0" tIns="0" rIns="0" bIns="0">
            <a:spAutoFit/>
          </a:bodyPr>
          <a:lstStyle/>
          <a:p>
            <a:pPr>
              <a:spcBef>
                <a:spcPct val="50000"/>
              </a:spcBef>
            </a:pPr>
            <a:r>
              <a:rPr lang="en-US" sz="1800">
                <a:latin typeface="Arial Black" pitchFamily="34" charset="0"/>
              </a:rPr>
              <a:t>and</a:t>
            </a:r>
          </a:p>
        </p:txBody>
      </p:sp>
      <p:sp>
        <p:nvSpPr>
          <p:cNvPr id="4110" name="Text Box 20"/>
          <p:cNvSpPr txBox="1">
            <a:spLocks noChangeArrowheads="1"/>
          </p:cNvSpPr>
          <p:nvPr/>
        </p:nvSpPr>
        <p:spPr bwMode="auto">
          <a:xfrm>
            <a:off x="4572000" y="3733800"/>
            <a:ext cx="4343400" cy="290513"/>
          </a:xfrm>
          <a:prstGeom prst="rect">
            <a:avLst/>
          </a:prstGeom>
          <a:solidFill>
            <a:srgbClr val="FF99CC"/>
          </a:solidFill>
          <a:ln w="9525">
            <a:noFill/>
            <a:miter lim="800000"/>
            <a:headEnd/>
            <a:tailEnd/>
          </a:ln>
        </p:spPr>
        <p:txBody>
          <a:bodyPr lIns="0" tIns="0" rIns="0">
            <a:spAutoFit/>
          </a:bodyPr>
          <a:lstStyle/>
          <a:p>
            <a:pPr>
              <a:spcBef>
                <a:spcPct val="50000"/>
              </a:spcBef>
            </a:pPr>
            <a:r>
              <a:rPr lang="en-US" sz="1600">
                <a:latin typeface="Verdana" pitchFamily="34" charset="0"/>
              </a:rPr>
              <a:t>Where, V</a:t>
            </a:r>
            <a:r>
              <a:rPr lang="en-US" sz="1600" baseline="-25000">
                <a:latin typeface="Verdana" pitchFamily="34" charset="0"/>
              </a:rPr>
              <a:t>p</a:t>
            </a:r>
            <a:r>
              <a:rPr lang="en-US" sz="1600">
                <a:latin typeface="Verdana" pitchFamily="34" charset="0"/>
              </a:rPr>
              <a:t>=V</a:t>
            </a:r>
            <a:r>
              <a:rPr lang="en-US" sz="1600" baseline="-25000">
                <a:latin typeface="Verdana" pitchFamily="34" charset="0"/>
              </a:rPr>
              <a:t>GS-off</a:t>
            </a:r>
            <a:r>
              <a:rPr lang="en-US" sz="1600">
                <a:latin typeface="Verdana" pitchFamily="34" charset="0"/>
              </a:rPr>
              <a:t> &amp; I</a:t>
            </a:r>
            <a:r>
              <a:rPr lang="en-US" sz="1600" baseline="-25000">
                <a:latin typeface="Verdana" pitchFamily="34" charset="0"/>
              </a:rPr>
              <a:t>DSS</a:t>
            </a:r>
            <a:r>
              <a:rPr lang="en-US" sz="1600">
                <a:latin typeface="Verdana" pitchFamily="34" charset="0"/>
              </a:rPr>
              <a:t> is Short ckt. I</a:t>
            </a:r>
            <a:r>
              <a:rPr lang="en-US" sz="1600" baseline="-25000">
                <a:latin typeface="Verdana" pitchFamily="34" charset="0"/>
              </a:rPr>
              <a:t>DS</a:t>
            </a:r>
          </a:p>
        </p:txBody>
      </p:sp>
      <p:sp>
        <p:nvSpPr>
          <p:cNvPr id="15" name="Slide Number Placeholder 14"/>
          <p:cNvSpPr>
            <a:spLocks noGrp="1"/>
          </p:cNvSpPr>
          <p:nvPr>
            <p:ph type="sldNum" sz="quarter" idx="11"/>
          </p:nvPr>
        </p:nvSpPr>
        <p:spPr/>
        <p:txBody>
          <a:bodyPr/>
          <a:lstStyle/>
          <a:p>
            <a:pPr>
              <a:defRPr/>
            </a:pPr>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8770" name="Rectangle 2"/>
          <p:cNvSpPr>
            <a:spLocks noGrp="1" noChangeArrowheads="1"/>
          </p:cNvSpPr>
          <p:nvPr>
            <p:ph type="title"/>
          </p:nvPr>
        </p:nvSpPr>
        <p:spPr>
          <a:xfrm>
            <a:off x="685800" y="609600"/>
            <a:ext cx="7772400" cy="533400"/>
          </a:xfrm>
          <a:solidFill>
            <a:srgbClr val="FF99CC"/>
          </a:solidFill>
        </p:spPr>
        <p:txBody>
          <a:bodyPr/>
          <a:lstStyle/>
          <a:p>
            <a:pPr>
              <a:defRPr/>
            </a:pPr>
            <a:r>
              <a:rPr lang="en-US" sz="2800">
                <a:solidFill>
                  <a:schemeClr val="tx1"/>
                </a:solidFill>
                <a:effectLst>
                  <a:outerShdw blurRad="38100" dist="38100" dir="2700000" algn="tl">
                    <a:srgbClr val="FFFFFF"/>
                  </a:outerShdw>
                </a:effectLst>
                <a:latin typeface="Verdana" pitchFamily="34" charset="0"/>
              </a:rPr>
              <a:t>JFET </a:t>
            </a:r>
            <a:r>
              <a:rPr lang="en-US" sz="2400">
                <a:solidFill>
                  <a:schemeClr val="tx1"/>
                </a:solidFill>
                <a:effectLst>
                  <a:outerShdw blurRad="38100" dist="38100" dir="2700000" algn="tl">
                    <a:srgbClr val="FFFFFF"/>
                  </a:outerShdw>
                </a:effectLst>
                <a:latin typeface="Verdana" pitchFamily="34" charset="0"/>
              </a:rPr>
              <a:t>Biasing</a:t>
            </a:r>
            <a:r>
              <a:rPr lang="en-US" sz="2800">
                <a:solidFill>
                  <a:schemeClr val="tx1"/>
                </a:solidFill>
                <a:effectLst>
                  <a:outerShdw blurRad="38100" dist="38100" dir="2700000" algn="tl">
                    <a:srgbClr val="FFFFFF"/>
                  </a:outerShdw>
                </a:effectLst>
                <a:latin typeface="Verdana" pitchFamily="34" charset="0"/>
              </a:rPr>
              <a:t> Circuits Count…</a:t>
            </a:r>
          </a:p>
        </p:txBody>
      </p:sp>
      <p:pic>
        <p:nvPicPr>
          <p:cNvPr id="26627" name="Picture 3"/>
          <p:cNvPicPr>
            <a:picLocks noChangeAspect="1" noChangeArrowheads="1"/>
          </p:cNvPicPr>
          <p:nvPr/>
        </p:nvPicPr>
        <p:blipFill>
          <a:blip r:embed="rId2"/>
          <a:srcRect/>
          <a:stretch>
            <a:fillRect/>
          </a:stretch>
        </p:blipFill>
        <p:spPr bwMode="auto">
          <a:xfrm>
            <a:off x="381000" y="1371600"/>
            <a:ext cx="8305800" cy="4876800"/>
          </a:xfrm>
          <a:prstGeom prst="rect">
            <a:avLst/>
          </a:prstGeom>
          <a:noFill/>
          <a:ln w="9525">
            <a:noFill/>
            <a:miter lim="800000"/>
            <a:headEnd/>
            <a:tailEnd/>
          </a:ln>
        </p:spPr>
      </p:pic>
      <p:sp>
        <p:nvSpPr>
          <p:cNvPr id="26628" name="Text Box 4"/>
          <p:cNvSpPr txBox="1">
            <a:spLocks noChangeArrowheads="1"/>
          </p:cNvSpPr>
          <p:nvPr/>
        </p:nvSpPr>
        <p:spPr bwMode="auto">
          <a:xfrm>
            <a:off x="1371600" y="1295400"/>
            <a:ext cx="2438400" cy="336550"/>
          </a:xfrm>
          <a:prstGeom prst="rect">
            <a:avLst/>
          </a:prstGeom>
          <a:noFill/>
          <a:ln w="9525">
            <a:noFill/>
            <a:miter lim="800000"/>
            <a:headEnd/>
            <a:tailEnd/>
          </a:ln>
        </p:spPr>
        <p:txBody>
          <a:bodyPr>
            <a:spAutoFit/>
          </a:bodyPr>
          <a:lstStyle/>
          <a:p>
            <a:pPr>
              <a:spcBef>
                <a:spcPct val="50000"/>
              </a:spcBef>
            </a:pPr>
            <a:r>
              <a:rPr lang="en-US" sz="1600">
                <a:latin typeface="Verdana" pitchFamily="34" charset="0"/>
              </a:rPr>
              <a:t>or Fixed Bias Ckt.</a:t>
            </a:r>
          </a:p>
        </p:txBody>
      </p:sp>
      <p:sp>
        <p:nvSpPr>
          <p:cNvPr id="5" name="Slide Number Placeholder 4"/>
          <p:cNvSpPr>
            <a:spLocks noGrp="1"/>
          </p:cNvSpPr>
          <p:nvPr>
            <p:ph type="sldNum" sz="quarter" idx="12"/>
          </p:nvPr>
        </p:nvSpPr>
        <p:spPr/>
        <p:txBody>
          <a:bodyPr/>
          <a:lstStyle/>
          <a:p>
            <a:fld id="{FA930017-089C-4B04-9152-CFCB1CDC61B1}" type="slidenum">
              <a:rPr lang="en-US" smtClean="0"/>
              <a:pPr/>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5" name="Picture 2"/>
          <p:cNvPicPr>
            <a:picLocks noChangeAspect="1" noChangeArrowheads="1"/>
          </p:cNvPicPr>
          <p:nvPr/>
        </p:nvPicPr>
        <p:blipFill>
          <a:blip r:embed="rId2"/>
          <a:srcRect/>
          <a:stretch>
            <a:fillRect/>
          </a:stretch>
        </p:blipFill>
        <p:spPr bwMode="auto">
          <a:xfrm>
            <a:off x="152400" y="762000"/>
            <a:ext cx="8839200" cy="4572000"/>
          </a:xfrm>
          <a:prstGeom prst="rect">
            <a:avLst/>
          </a:prstGeom>
          <a:noFill/>
          <a:ln w="9525">
            <a:noFill/>
            <a:miter lim="800000"/>
            <a:headEnd/>
            <a:tailEnd/>
          </a:ln>
        </p:spPr>
      </p:pic>
      <p:sp>
        <p:nvSpPr>
          <p:cNvPr id="5126" name="Text Box 3"/>
          <p:cNvSpPr txBox="1">
            <a:spLocks noChangeArrowheads="1"/>
          </p:cNvSpPr>
          <p:nvPr/>
        </p:nvSpPr>
        <p:spPr bwMode="auto">
          <a:xfrm>
            <a:off x="1600200" y="228600"/>
            <a:ext cx="5410200" cy="396875"/>
          </a:xfrm>
          <a:prstGeom prst="rect">
            <a:avLst/>
          </a:prstGeom>
          <a:noFill/>
          <a:ln w="9525">
            <a:noFill/>
            <a:miter lim="800000"/>
            <a:headEnd/>
            <a:tailEnd/>
          </a:ln>
        </p:spPr>
        <p:txBody>
          <a:bodyPr>
            <a:spAutoFit/>
          </a:bodyPr>
          <a:lstStyle/>
          <a:p>
            <a:pPr>
              <a:spcBef>
                <a:spcPct val="50000"/>
              </a:spcBef>
            </a:pPr>
            <a:r>
              <a:rPr lang="en-US" sz="2000">
                <a:solidFill>
                  <a:srgbClr val="CC0066"/>
                </a:solidFill>
                <a:latin typeface="Verdana" pitchFamily="34" charset="0"/>
              </a:rPr>
              <a:t>JFET Self (or Source) Bias Circuit</a:t>
            </a:r>
          </a:p>
        </p:txBody>
      </p:sp>
      <p:sp>
        <p:nvSpPr>
          <p:cNvPr id="5127" name="Text Box 4"/>
          <p:cNvSpPr txBox="1">
            <a:spLocks noChangeArrowheads="1"/>
          </p:cNvSpPr>
          <p:nvPr/>
        </p:nvSpPr>
        <p:spPr bwMode="auto">
          <a:xfrm>
            <a:off x="5638800" y="2819400"/>
            <a:ext cx="1905000" cy="457200"/>
          </a:xfrm>
          <a:prstGeom prst="rect">
            <a:avLst/>
          </a:prstGeom>
          <a:noFill/>
          <a:ln w="9525">
            <a:noFill/>
            <a:miter lim="800000"/>
            <a:headEnd/>
            <a:tailEnd/>
          </a:ln>
        </p:spPr>
        <p:txBody>
          <a:bodyPr>
            <a:spAutoFit/>
          </a:bodyPr>
          <a:lstStyle/>
          <a:p>
            <a:pPr>
              <a:spcBef>
                <a:spcPct val="50000"/>
              </a:spcBef>
            </a:pPr>
            <a:endParaRPr lang="en-US"/>
          </a:p>
        </p:txBody>
      </p:sp>
      <p:graphicFrame>
        <p:nvGraphicFramePr>
          <p:cNvPr id="5122" name="Object 5"/>
          <p:cNvGraphicFramePr>
            <a:graphicFrameLocks noChangeAspect="1"/>
          </p:cNvGraphicFramePr>
          <p:nvPr/>
        </p:nvGraphicFramePr>
        <p:xfrm>
          <a:off x="152400" y="4953000"/>
          <a:ext cx="3984625" cy="914400"/>
        </p:xfrm>
        <a:graphic>
          <a:graphicData uri="http://schemas.openxmlformats.org/presentationml/2006/ole">
            <mc:AlternateContent xmlns:mc="http://schemas.openxmlformats.org/markup-compatibility/2006">
              <mc:Choice xmlns:v="urn:schemas-microsoft-com:vml" Requires="v">
                <p:oleObj name="Equation" r:id="rId3" imgW="3213000" imgH="1168200" progId="Equation.3">
                  <p:embed/>
                </p:oleObj>
              </mc:Choice>
              <mc:Fallback>
                <p:oleObj name="Equation" r:id="rId3" imgW="3213000" imgH="116820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 y="4953000"/>
                        <a:ext cx="3984625" cy="914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123" name="Object 6"/>
          <p:cNvGraphicFramePr>
            <a:graphicFrameLocks noChangeAspect="1"/>
          </p:cNvGraphicFramePr>
          <p:nvPr/>
        </p:nvGraphicFramePr>
        <p:xfrm>
          <a:off x="228600" y="5867400"/>
          <a:ext cx="3295650" cy="990600"/>
        </p:xfrm>
        <a:graphic>
          <a:graphicData uri="http://schemas.openxmlformats.org/presentationml/2006/ole">
            <mc:AlternateContent xmlns:mc="http://schemas.openxmlformats.org/markup-compatibility/2006">
              <mc:Choice xmlns:v="urn:schemas-microsoft-com:vml" Requires="v">
                <p:oleObj name="Equation" r:id="rId5" imgW="3098520" imgH="1168200" progId="Equation.3">
                  <p:embed/>
                </p:oleObj>
              </mc:Choice>
              <mc:Fallback>
                <p:oleObj name="Equation" r:id="rId5" imgW="3098520" imgH="1168200"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8600" y="5867400"/>
                        <a:ext cx="3295650" cy="990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124" name="Object 7"/>
          <p:cNvGraphicFramePr>
            <a:graphicFrameLocks noChangeAspect="1"/>
          </p:cNvGraphicFramePr>
          <p:nvPr/>
        </p:nvGraphicFramePr>
        <p:xfrm>
          <a:off x="4724400" y="5257800"/>
          <a:ext cx="4292600" cy="1104900"/>
        </p:xfrm>
        <a:graphic>
          <a:graphicData uri="http://schemas.openxmlformats.org/presentationml/2006/ole">
            <mc:AlternateContent xmlns:mc="http://schemas.openxmlformats.org/markup-compatibility/2006">
              <mc:Choice xmlns:v="urn:schemas-microsoft-com:vml" Requires="v">
                <p:oleObj name="Equation" r:id="rId7" imgW="4292280" imgH="1333440" progId="Equation.3">
                  <p:embed/>
                </p:oleObj>
              </mc:Choice>
              <mc:Fallback>
                <p:oleObj name="Equation" r:id="rId7" imgW="4292280" imgH="1333440" progId="Equation.3">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724400" y="5257800"/>
                        <a:ext cx="4292600" cy="1104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128" name="Text Box 8"/>
          <p:cNvSpPr txBox="1">
            <a:spLocks noChangeArrowheads="1"/>
          </p:cNvSpPr>
          <p:nvPr/>
        </p:nvSpPr>
        <p:spPr bwMode="auto">
          <a:xfrm>
            <a:off x="4343400" y="6324600"/>
            <a:ext cx="5029200" cy="274638"/>
          </a:xfrm>
          <a:prstGeom prst="rect">
            <a:avLst/>
          </a:prstGeom>
          <a:noFill/>
          <a:ln w="9525">
            <a:noFill/>
            <a:miter lim="800000"/>
            <a:headEnd/>
            <a:tailEnd/>
          </a:ln>
        </p:spPr>
        <p:txBody>
          <a:bodyPr rIns="0">
            <a:spAutoFit/>
          </a:bodyPr>
          <a:lstStyle/>
          <a:p>
            <a:pPr>
              <a:spcBef>
                <a:spcPct val="50000"/>
              </a:spcBef>
            </a:pPr>
            <a:r>
              <a:rPr lang="en-US" sz="1200">
                <a:solidFill>
                  <a:srgbClr val="CC0066"/>
                </a:solidFill>
                <a:latin typeface="Verdana" pitchFamily="34" charset="0"/>
              </a:rPr>
              <a:t>This quadratic equation can be solved for V</a:t>
            </a:r>
            <a:r>
              <a:rPr lang="en-US" sz="1200" baseline="-25000">
                <a:solidFill>
                  <a:srgbClr val="CC0066"/>
                </a:solidFill>
                <a:latin typeface="Verdana" pitchFamily="34" charset="0"/>
              </a:rPr>
              <a:t>GS</a:t>
            </a:r>
            <a:r>
              <a:rPr lang="en-US" sz="1200">
                <a:solidFill>
                  <a:srgbClr val="CC0066"/>
                </a:solidFill>
                <a:latin typeface="Verdana" pitchFamily="34" charset="0"/>
              </a:rPr>
              <a:t> &amp; I</a:t>
            </a:r>
            <a:r>
              <a:rPr lang="en-US" sz="1200" baseline="-25000">
                <a:solidFill>
                  <a:srgbClr val="CC0066"/>
                </a:solidFill>
                <a:latin typeface="Verdana" pitchFamily="34" charset="0"/>
              </a:rPr>
              <a:t>DS</a:t>
            </a:r>
          </a:p>
        </p:txBody>
      </p:sp>
      <p:sp>
        <p:nvSpPr>
          <p:cNvPr id="5129" name="Line 9"/>
          <p:cNvSpPr>
            <a:spLocks noChangeShapeType="1"/>
          </p:cNvSpPr>
          <p:nvPr/>
        </p:nvSpPr>
        <p:spPr bwMode="auto">
          <a:xfrm>
            <a:off x="4267200" y="838200"/>
            <a:ext cx="0" cy="5791200"/>
          </a:xfrm>
          <a:prstGeom prst="line">
            <a:avLst/>
          </a:prstGeom>
          <a:noFill/>
          <a:ln w="9525">
            <a:solidFill>
              <a:srgbClr val="993366"/>
            </a:solidFill>
            <a:round/>
            <a:headEnd/>
            <a:tailEnd/>
          </a:ln>
        </p:spPr>
        <p:txBody>
          <a:bodyPr/>
          <a:lstStyle/>
          <a:p>
            <a:endParaRPr lang="en-US"/>
          </a:p>
        </p:txBody>
      </p:sp>
      <p:sp>
        <p:nvSpPr>
          <p:cNvPr id="10" name="Slide Number Placeholder 9"/>
          <p:cNvSpPr>
            <a:spLocks noGrp="1"/>
          </p:cNvSpPr>
          <p:nvPr>
            <p:ph type="sldNum" sz="quarter" idx="12"/>
          </p:nvPr>
        </p:nvSpPr>
        <p:spPr/>
        <p:txBody>
          <a:bodyPr/>
          <a:lstStyle/>
          <a:p>
            <a:fld id="{FA930017-089C-4B04-9152-CFCB1CDC61B1}" type="slidenum">
              <a:rPr lang="en-US" smtClean="0"/>
              <a:pPr/>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8" name="Picture 2"/>
          <p:cNvPicPr>
            <a:picLocks noChangeAspect="1" noChangeArrowheads="1"/>
          </p:cNvPicPr>
          <p:nvPr/>
        </p:nvPicPr>
        <p:blipFill>
          <a:blip r:embed="rId2"/>
          <a:srcRect/>
          <a:stretch>
            <a:fillRect/>
          </a:stretch>
        </p:blipFill>
        <p:spPr bwMode="auto">
          <a:xfrm>
            <a:off x="685800" y="914400"/>
            <a:ext cx="7620000" cy="4114800"/>
          </a:xfrm>
          <a:prstGeom prst="rect">
            <a:avLst/>
          </a:prstGeom>
          <a:noFill/>
          <a:ln w="9525">
            <a:noFill/>
            <a:miter lim="800000"/>
            <a:headEnd/>
            <a:tailEnd/>
          </a:ln>
        </p:spPr>
      </p:pic>
      <p:sp>
        <p:nvSpPr>
          <p:cNvPr id="6149" name="Text Box 3"/>
          <p:cNvSpPr txBox="1">
            <a:spLocks noChangeArrowheads="1"/>
          </p:cNvSpPr>
          <p:nvPr/>
        </p:nvSpPr>
        <p:spPr bwMode="auto">
          <a:xfrm>
            <a:off x="1219200" y="228600"/>
            <a:ext cx="5943600" cy="466725"/>
          </a:xfrm>
          <a:prstGeom prst="rect">
            <a:avLst/>
          </a:prstGeom>
          <a:noFill/>
          <a:ln w="9525">
            <a:solidFill>
              <a:srgbClr val="800000"/>
            </a:solidFill>
            <a:miter lim="800000"/>
            <a:headEnd/>
            <a:tailEnd/>
          </a:ln>
        </p:spPr>
        <p:txBody>
          <a:bodyPr>
            <a:spAutoFit/>
          </a:bodyPr>
          <a:lstStyle/>
          <a:p>
            <a:pPr>
              <a:spcBef>
                <a:spcPct val="50000"/>
              </a:spcBef>
            </a:pPr>
            <a:r>
              <a:rPr lang="en-US">
                <a:solidFill>
                  <a:srgbClr val="CC0066"/>
                </a:solidFill>
                <a:latin typeface="Verdana" pitchFamily="34" charset="0"/>
              </a:rPr>
              <a:t>The Potential (Voltage) Divider Bias</a:t>
            </a:r>
          </a:p>
        </p:txBody>
      </p:sp>
      <p:graphicFrame>
        <p:nvGraphicFramePr>
          <p:cNvPr id="6146" name="Object 5"/>
          <p:cNvGraphicFramePr>
            <a:graphicFrameLocks noChangeAspect="1"/>
          </p:cNvGraphicFramePr>
          <p:nvPr/>
        </p:nvGraphicFramePr>
        <p:xfrm>
          <a:off x="908050" y="5081588"/>
          <a:ext cx="4730750" cy="938212"/>
        </p:xfrm>
        <a:graphic>
          <a:graphicData uri="http://schemas.openxmlformats.org/presentationml/2006/ole">
            <mc:AlternateContent xmlns:mc="http://schemas.openxmlformats.org/markup-compatibility/2006">
              <mc:Choice xmlns:v="urn:schemas-microsoft-com:vml" Requires="v">
                <p:oleObj name="Equation" r:id="rId3" imgW="3924000" imgH="1168200" progId="Equation.3">
                  <p:embed/>
                </p:oleObj>
              </mc:Choice>
              <mc:Fallback>
                <p:oleObj name="Equation" r:id="rId3" imgW="3924000" imgH="116820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8050" y="5081588"/>
                        <a:ext cx="4730750" cy="9382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150" name="Text Box 6"/>
          <p:cNvSpPr txBox="1">
            <a:spLocks noChangeArrowheads="1"/>
          </p:cNvSpPr>
          <p:nvPr/>
        </p:nvSpPr>
        <p:spPr bwMode="auto">
          <a:xfrm>
            <a:off x="1143000" y="6019800"/>
            <a:ext cx="4419600" cy="457200"/>
          </a:xfrm>
          <a:prstGeom prst="rect">
            <a:avLst/>
          </a:prstGeom>
          <a:noFill/>
          <a:ln w="9525">
            <a:noFill/>
            <a:miter lim="800000"/>
            <a:headEnd/>
            <a:tailEnd/>
          </a:ln>
        </p:spPr>
        <p:txBody>
          <a:bodyPr>
            <a:spAutoFit/>
          </a:bodyPr>
          <a:lstStyle/>
          <a:p>
            <a:pPr>
              <a:spcBef>
                <a:spcPct val="50000"/>
              </a:spcBef>
            </a:pPr>
            <a:endParaRPr lang="en-US"/>
          </a:p>
        </p:txBody>
      </p:sp>
      <p:graphicFrame>
        <p:nvGraphicFramePr>
          <p:cNvPr id="6147" name="Object 7"/>
          <p:cNvGraphicFramePr>
            <a:graphicFrameLocks noChangeAspect="1"/>
          </p:cNvGraphicFramePr>
          <p:nvPr/>
        </p:nvGraphicFramePr>
        <p:xfrm>
          <a:off x="285750" y="6096000"/>
          <a:ext cx="6667500" cy="457200"/>
        </p:xfrm>
        <a:graphic>
          <a:graphicData uri="http://schemas.openxmlformats.org/presentationml/2006/ole">
            <mc:AlternateContent xmlns:mc="http://schemas.openxmlformats.org/markup-compatibility/2006">
              <mc:Choice xmlns:v="urn:schemas-microsoft-com:vml" Requires="v">
                <p:oleObj name="Equation" r:id="rId5" imgW="6667200" imgH="457200" progId="Equation.3">
                  <p:embed/>
                </p:oleObj>
              </mc:Choice>
              <mc:Fallback>
                <p:oleObj name="Equation" r:id="rId5" imgW="6667200" imgH="457200" progId="Equation.3">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5750" y="6096000"/>
                        <a:ext cx="66675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 name="Slide Number Placeholder 6"/>
          <p:cNvSpPr>
            <a:spLocks noGrp="1"/>
          </p:cNvSpPr>
          <p:nvPr>
            <p:ph type="sldNum" sz="quarter" idx="12"/>
          </p:nvPr>
        </p:nvSpPr>
        <p:spPr/>
        <p:txBody>
          <a:bodyPr/>
          <a:lstStyle/>
          <a:p>
            <a:fld id="{FA930017-089C-4B04-9152-CFCB1CDC61B1}" type="slidenum">
              <a:rPr lang="en-US" smtClean="0"/>
              <a:pPr/>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1842" name="Picture 2"/>
          <p:cNvPicPr>
            <a:picLocks noChangeAspect="1" noChangeArrowheads="1"/>
          </p:cNvPicPr>
          <p:nvPr/>
        </p:nvPicPr>
        <p:blipFill>
          <a:blip r:embed="rId2"/>
          <a:srcRect/>
          <a:stretch>
            <a:fillRect/>
          </a:stretch>
        </p:blipFill>
        <p:spPr bwMode="auto">
          <a:xfrm>
            <a:off x="381000" y="1123950"/>
            <a:ext cx="8382000" cy="5276850"/>
          </a:xfrm>
          <a:prstGeom prst="rect">
            <a:avLst/>
          </a:prstGeom>
          <a:noFill/>
          <a:ln w="9525">
            <a:noFill/>
            <a:miter lim="800000"/>
            <a:headEnd/>
            <a:tailEnd/>
          </a:ln>
        </p:spPr>
      </p:pic>
      <p:sp>
        <p:nvSpPr>
          <p:cNvPr id="27651" name="Text Box 3"/>
          <p:cNvSpPr txBox="1">
            <a:spLocks noChangeArrowheads="1"/>
          </p:cNvSpPr>
          <p:nvPr/>
        </p:nvSpPr>
        <p:spPr bwMode="auto">
          <a:xfrm>
            <a:off x="381000" y="457200"/>
            <a:ext cx="8001000" cy="457200"/>
          </a:xfrm>
          <a:prstGeom prst="rect">
            <a:avLst/>
          </a:prstGeom>
          <a:solidFill>
            <a:srgbClr val="99FF33"/>
          </a:solidFill>
          <a:ln w="9525">
            <a:noFill/>
            <a:miter lim="800000"/>
            <a:headEnd/>
            <a:tailEnd/>
          </a:ln>
        </p:spPr>
        <p:txBody>
          <a:bodyPr>
            <a:spAutoFit/>
          </a:bodyPr>
          <a:lstStyle/>
          <a:p>
            <a:pPr>
              <a:spcBef>
                <a:spcPct val="50000"/>
              </a:spcBef>
            </a:pPr>
            <a:r>
              <a:rPr lang="en-US">
                <a:solidFill>
                  <a:srgbClr val="CC0066"/>
                </a:solidFill>
                <a:latin typeface="Verdana" pitchFamily="34" charset="0"/>
              </a:rPr>
              <a:t>A Simple CS Amplifier and Variation in I</a:t>
            </a:r>
            <a:r>
              <a:rPr lang="en-US" baseline="-25000">
                <a:solidFill>
                  <a:srgbClr val="CC0066"/>
                </a:solidFill>
                <a:latin typeface="Verdana" pitchFamily="34" charset="0"/>
              </a:rPr>
              <a:t>DS</a:t>
            </a:r>
            <a:r>
              <a:rPr lang="en-US">
                <a:solidFill>
                  <a:srgbClr val="CC0066"/>
                </a:solidFill>
                <a:latin typeface="Verdana" pitchFamily="34" charset="0"/>
              </a:rPr>
              <a:t> with V</a:t>
            </a:r>
            <a:r>
              <a:rPr lang="en-US" baseline="-25000">
                <a:solidFill>
                  <a:srgbClr val="CC0066"/>
                </a:solidFill>
                <a:latin typeface="Verdana" pitchFamily="34" charset="0"/>
              </a:rPr>
              <a:t>gs</a:t>
            </a:r>
          </a:p>
        </p:txBody>
      </p:sp>
      <p:sp>
        <p:nvSpPr>
          <p:cNvPr id="4" name="Slide Number Placeholder 3"/>
          <p:cNvSpPr>
            <a:spLocks noGrp="1"/>
          </p:cNvSpPr>
          <p:nvPr>
            <p:ph type="sldNum" sz="quarter" idx="12"/>
          </p:nvPr>
        </p:nvSpPr>
        <p:spPr/>
        <p:txBody>
          <a:bodyPr/>
          <a:lstStyle/>
          <a:p>
            <a:fld id="{FA930017-089C-4B04-9152-CFCB1CDC61B1}" type="slidenum">
              <a:rPr lang="en-US" smtClean="0"/>
              <a:pPr/>
              <a:t>41</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291842"/>
                                        </p:tgtEl>
                                        <p:attrNameLst>
                                          <p:attrName>style.visibility</p:attrName>
                                        </p:attrNameLst>
                                      </p:cBhvr>
                                      <p:to>
                                        <p:strVal val="visible"/>
                                      </p:to>
                                    </p:set>
                                    <p:anim calcmode="lin" valueType="num">
                                      <p:cBhvr>
                                        <p:cTn id="7" dur="1000" fill="hold"/>
                                        <p:tgtEl>
                                          <p:spTgt spid="291842"/>
                                        </p:tgtEl>
                                        <p:attrNameLst>
                                          <p:attrName>ppt_w</p:attrName>
                                        </p:attrNameLst>
                                      </p:cBhvr>
                                      <p:tavLst>
                                        <p:tav tm="0">
                                          <p:val>
                                            <p:strVal val="#ppt_w*0.70"/>
                                          </p:val>
                                        </p:tav>
                                        <p:tav tm="100000">
                                          <p:val>
                                            <p:strVal val="#ppt_w"/>
                                          </p:val>
                                        </p:tav>
                                      </p:tavLst>
                                    </p:anim>
                                    <p:anim calcmode="lin" valueType="num">
                                      <p:cBhvr>
                                        <p:cTn id="8" dur="1000" fill="hold"/>
                                        <p:tgtEl>
                                          <p:spTgt spid="291842"/>
                                        </p:tgtEl>
                                        <p:attrNameLst>
                                          <p:attrName>ppt_h</p:attrName>
                                        </p:attrNameLst>
                                      </p:cBhvr>
                                      <p:tavLst>
                                        <p:tav tm="0">
                                          <p:val>
                                            <p:strVal val="#ppt_h"/>
                                          </p:val>
                                        </p:tav>
                                        <p:tav tm="100000">
                                          <p:val>
                                            <p:strVal val="#ppt_h"/>
                                          </p:val>
                                        </p:tav>
                                      </p:tavLst>
                                    </p:anim>
                                    <p:animEffect transition="in" filter="fade">
                                      <p:cBhvr>
                                        <p:cTn id="9" dur="1000"/>
                                        <p:tgtEl>
                                          <p:spTgt spid="2918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ext Box 2"/>
          <p:cNvSpPr txBox="1">
            <a:spLocks noChangeArrowheads="1"/>
          </p:cNvSpPr>
          <p:nvPr/>
        </p:nvSpPr>
        <p:spPr bwMode="auto">
          <a:xfrm>
            <a:off x="674688" y="5641975"/>
            <a:ext cx="7720012" cy="517525"/>
          </a:xfrm>
          <a:prstGeom prst="rect">
            <a:avLst/>
          </a:prstGeom>
          <a:noFill/>
          <a:ln w="9525">
            <a:noFill/>
            <a:miter lim="800000"/>
            <a:headEnd/>
            <a:tailEnd/>
          </a:ln>
        </p:spPr>
        <p:txBody>
          <a:bodyPr wrap="none">
            <a:spAutoFit/>
          </a:bodyPr>
          <a:lstStyle/>
          <a:p>
            <a:pPr algn="ctr"/>
            <a:r>
              <a:rPr lang="en-US" sz="1400" b="1"/>
              <a:t>Figure  </a:t>
            </a:r>
            <a:r>
              <a:rPr lang="en-US" sz="1400" i="1"/>
              <a:t>p</a:t>
            </a:r>
            <a:r>
              <a:rPr lang="en-US" sz="1400"/>
              <a:t>-Channel FET circuit symbols.  These are the same as the circuit symbols for </a:t>
            </a:r>
            <a:r>
              <a:rPr lang="en-US" sz="1400" i="1"/>
              <a:t>n</a:t>
            </a:r>
            <a:r>
              <a:rPr lang="en-US" sz="1400"/>
              <a:t>-channel devices,</a:t>
            </a:r>
          </a:p>
          <a:p>
            <a:pPr algn="ctr"/>
            <a:r>
              <a:rPr lang="en-US" sz="1400"/>
              <a:t> except for the directions of the arrowheads.</a:t>
            </a:r>
            <a:endParaRPr lang="en-US"/>
          </a:p>
        </p:txBody>
      </p:sp>
      <p:pic>
        <p:nvPicPr>
          <p:cNvPr id="64515" name="Picture 3"/>
          <p:cNvPicPr>
            <a:picLocks noChangeAspect="1" noChangeArrowheads="1"/>
          </p:cNvPicPr>
          <p:nvPr/>
        </p:nvPicPr>
        <p:blipFill>
          <a:blip r:embed="rId2"/>
          <a:srcRect/>
          <a:stretch>
            <a:fillRect/>
          </a:stretch>
        </p:blipFill>
        <p:spPr bwMode="auto">
          <a:xfrm>
            <a:off x="887413" y="1733550"/>
            <a:ext cx="7367587" cy="3390900"/>
          </a:xfrm>
          <a:prstGeom prst="rect">
            <a:avLst/>
          </a:prstGeom>
          <a:noFill/>
          <a:ln w="9525">
            <a:noFill/>
            <a:miter lim="800000"/>
            <a:headEnd/>
            <a:tailEnd/>
          </a:ln>
        </p:spPr>
      </p:pic>
      <p:sp>
        <p:nvSpPr>
          <p:cNvPr id="4" name="Slide Number Placeholder 3"/>
          <p:cNvSpPr>
            <a:spLocks noGrp="1"/>
          </p:cNvSpPr>
          <p:nvPr>
            <p:ph type="sldNum" sz="quarter" idx="12"/>
          </p:nvPr>
        </p:nvSpPr>
        <p:spPr/>
        <p:txBody>
          <a:bodyPr/>
          <a:lstStyle/>
          <a:p>
            <a:fld id="{FA930017-089C-4B04-9152-CFCB1CDC61B1}" type="slidenum">
              <a:rPr lang="en-US" smtClean="0"/>
              <a:pPr/>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idx="1"/>
          </p:nvPr>
        </p:nvSpPr>
        <p:spPr>
          <a:xfrm>
            <a:off x="457200" y="228600"/>
            <a:ext cx="8229600" cy="5897563"/>
          </a:xfrm>
        </p:spPr>
        <p:txBody>
          <a:bodyPr>
            <a:normAutofit fontScale="92500" lnSpcReduction="20000"/>
          </a:bodyPr>
          <a:lstStyle/>
          <a:p>
            <a:pPr>
              <a:buNone/>
            </a:pPr>
            <a:r>
              <a:rPr lang="en-US" dirty="0"/>
              <a:t> A bipolar junction transistor (</a:t>
            </a:r>
            <a:r>
              <a:rPr lang="en-US" i="1" dirty="0"/>
              <a:t>BJT) is a current controlled device i.e., output characteristics of the</a:t>
            </a:r>
          </a:p>
          <a:p>
            <a:pPr>
              <a:buNone/>
            </a:pPr>
            <a:r>
              <a:rPr lang="en-US" dirty="0"/>
              <a:t>   device are controlled by base current and not by base voltage. However, in a field effect transistor</a:t>
            </a:r>
          </a:p>
          <a:p>
            <a:pPr>
              <a:buNone/>
            </a:pPr>
            <a:r>
              <a:rPr lang="en-US" dirty="0"/>
              <a:t>  (</a:t>
            </a:r>
            <a:r>
              <a:rPr lang="en-US" i="1" dirty="0"/>
              <a:t>FET), the output characteristics are controlled by input voltage (i.e., electric field) and not by input</a:t>
            </a:r>
          </a:p>
          <a:p>
            <a:pPr>
              <a:buNone/>
            </a:pPr>
            <a:r>
              <a:rPr lang="en-US" dirty="0"/>
              <a:t>  current. This is probably the biggest difference between </a:t>
            </a:r>
            <a:r>
              <a:rPr lang="en-US" i="1" dirty="0"/>
              <a:t>BJT and FET. There are two basic types of </a:t>
            </a:r>
            <a:r>
              <a:rPr lang="en-US" dirty="0"/>
              <a:t>field effect transistors:</a:t>
            </a:r>
          </a:p>
          <a:p>
            <a:pPr>
              <a:buNone/>
            </a:pPr>
            <a:r>
              <a:rPr lang="en-US" dirty="0"/>
              <a:t>(</a:t>
            </a:r>
            <a:r>
              <a:rPr lang="en-US" i="1" dirty="0" err="1"/>
              <a:t>i</a:t>
            </a:r>
            <a:r>
              <a:rPr lang="en-US" i="1" dirty="0"/>
              <a:t>) Junction field effect transistor (JFET)</a:t>
            </a:r>
          </a:p>
          <a:p>
            <a:pPr>
              <a:buNone/>
            </a:pPr>
            <a:r>
              <a:rPr lang="en-US" dirty="0"/>
              <a:t>(</a:t>
            </a:r>
            <a:r>
              <a:rPr lang="en-US" i="1" dirty="0"/>
              <a:t>ii) Metal oxide semiconductor field effect transistor (MOSFET</a:t>
            </a:r>
            <a:r>
              <a:rPr lang="en-US" b="1" i="1" dirty="0"/>
              <a:t>)</a:t>
            </a:r>
            <a:endParaRPr lang="en-US" dirty="0"/>
          </a:p>
          <a:p>
            <a:pPr>
              <a:buNone/>
            </a:pPr>
            <a:endParaRPr lang="en-US" i="1" dirty="0"/>
          </a:p>
          <a:p>
            <a:pPr>
              <a:buNone/>
            </a:pPr>
            <a:r>
              <a:rPr lang="en-US" dirty="0"/>
              <a:t> </a:t>
            </a:r>
          </a:p>
        </p:txBody>
      </p:sp>
      <p:sp>
        <p:nvSpPr>
          <p:cNvPr id="3" name="Slide Number Placeholder 2"/>
          <p:cNvSpPr>
            <a:spLocks noGrp="1"/>
          </p:cNvSpPr>
          <p:nvPr>
            <p:ph type="sldNum" sz="quarter" idx="12"/>
          </p:nvPr>
        </p:nvSpPr>
        <p:spPr/>
        <p:txBody>
          <a:bodyPr/>
          <a:lstStyle/>
          <a:p>
            <a:fld id="{FA930017-089C-4B04-9152-CFCB1CDC61B1}" type="slidenum">
              <a:rPr lang="en-US" smtClean="0"/>
              <a:pPr/>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normAutofit fontScale="85000" lnSpcReduction="20000"/>
          </a:bodyPr>
          <a:lstStyle/>
          <a:p>
            <a:pPr>
              <a:buNone/>
            </a:pPr>
            <a:r>
              <a:rPr lang="en-US" b="1" dirty="0"/>
              <a:t>Constructional details. A </a:t>
            </a:r>
            <a:r>
              <a:rPr lang="en-US" b="1" i="1" dirty="0"/>
              <a:t>JFET consists of a p-type or n-type silicon bar containing two </a:t>
            </a:r>
            <a:r>
              <a:rPr lang="en-US" b="1" i="1" dirty="0" err="1"/>
              <a:t>pn</a:t>
            </a:r>
            <a:endParaRPr lang="en-US" b="1" i="1" dirty="0"/>
          </a:p>
          <a:p>
            <a:pPr>
              <a:buNone/>
            </a:pPr>
            <a:r>
              <a:rPr lang="en-US" dirty="0"/>
              <a:t>junctions at the sides as shown in Fig.19.1. The bar forms the conducting channel for the charge</a:t>
            </a:r>
          </a:p>
          <a:p>
            <a:pPr>
              <a:buNone/>
            </a:pPr>
            <a:r>
              <a:rPr lang="en-US" dirty="0"/>
              <a:t>carriers. If the bar is of </a:t>
            </a:r>
            <a:r>
              <a:rPr lang="en-US" i="1" dirty="0"/>
              <a:t>n-type, it is called n-channel JFET as shown in Fig.1 </a:t>
            </a:r>
          </a:p>
          <a:p>
            <a:pPr marL="571500" indent="-571500">
              <a:buAutoNum type="romanLcParenBoth"/>
            </a:pPr>
            <a:r>
              <a:rPr lang="en-US" i="1" dirty="0"/>
              <a:t>and if the bar is </a:t>
            </a:r>
            <a:r>
              <a:rPr lang="en-US" dirty="0"/>
              <a:t>of </a:t>
            </a:r>
            <a:r>
              <a:rPr lang="en-US" i="1" dirty="0"/>
              <a:t>p-type, it is called a p-channel JFET as shown in Fig.1 </a:t>
            </a:r>
          </a:p>
          <a:p>
            <a:pPr marL="571500" indent="-571500">
              <a:buAutoNum type="romanLcParenBoth"/>
            </a:pPr>
            <a:r>
              <a:rPr lang="en-US" i="1" dirty="0"/>
              <a:t>(ii). The two </a:t>
            </a:r>
            <a:r>
              <a:rPr lang="en-US" i="1" dirty="0" err="1"/>
              <a:t>pn</a:t>
            </a:r>
            <a:r>
              <a:rPr lang="en-US" i="1" dirty="0"/>
              <a:t> junctions forming </a:t>
            </a:r>
            <a:r>
              <a:rPr lang="en-US" dirty="0"/>
              <a:t>diodes are connected *internally and a common terminal called </a:t>
            </a:r>
            <a:r>
              <a:rPr lang="en-US" i="1" dirty="0"/>
              <a:t>gate is taken out. Other terminals are source and drain taken out from the bar as shown. Thus a JFET has essentially three terminals viz., gate (G), source (S) and drain (D).</a:t>
            </a:r>
            <a:endParaRPr lang="en-US" dirty="0"/>
          </a:p>
        </p:txBody>
      </p:sp>
      <p:sp>
        <p:nvSpPr>
          <p:cNvPr id="4" name="Slide Number Placeholder 3"/>
          <p:cNvSpPr>
            <a:spLocks noGrp="1"/>
          </p:cNvSpPr>
          <p:nvPr>
            <p:ph type="sldNum" sz="quarter" idx="12"/>
          </p:nvPr>
        </p:nvSpPr>
        <p:spPr/>
        <p:txBody>
          <a:bodyPr/>
          <a:lstStyle/>
          <a:p>
            <a:fld id="{FA930017-089C-4B04-9152-CFCB1CDC61B1}" type="slidenum">
              <a:rPr lang="en-US" smtClean="0"/>
              <a:pPr/>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668963"/>
          </a:xfrm>
        </p:spPr>
        <p:txBody>
          <a:bodyPr/>
          <a:lstStyle/>
          <a:p>
            <a:endParaRPr lang="en-US" dirty="0"/>
          </a:p>
        </p:txBody>
      </p:sp>
      <p:pic>
        <p:nvPicPr>
          <p:cNvPr id="1026" name="Picture 2"/>
          <p:cNvPicPr>
            <a:picLocks noChangeAspect="1" noChangeArrowheads="1"/>
          </p:cNvPicPr>
          <p:nvPr/>
        </p:nvPicPr>
        <p:blipFill>
          <a:blip r:embed="rId2"/>
          <a:srcRect/>
          <a:stretch>
            <a:fillRect/>
          </a:stretch>
        </p:blipFill>
        <p:spPr bwMode="auto">
          <a:xfrm>
            <a:off x="533400" y="533400"/>
            <a:ext cx="3733800" cy="3962400"/>
          </a:xfrm>
          <a:prstGeom prst="rect">
            <a:avLst/>
          </a:prstGeom>
          <a:noFill/>
          <a:ln w="9525">
            <a:noFill/>
            <a:miter lim="800000"/>
            <a:headEnd/>
            <a:tailEnd/>
          </a:ln>
          <a:effectLst/>
        </p:spPr>
      </p:pic>
      <p:pic>
        <p:nvPicPr>
          <p:cNvPr id="1027" name="Picture 3"/>
          <p:cNvPicPr>
            <a:picLocks noChangeAspect="1" noChangeArrowheads="1"/>
          </p:cNvPicPr>
          <p:nvPr/>
        </p:nvPicPr>
        <p:blipFill>
          <a:blip r:embed="rId3"/>
          <a:srcRect/>
          <a:stretch>
            <a:fillRect/>
          </a:stretch>
        </p:blipFill>
        <p:spPr bwMode="auto">
          <a:xfrm>
            <a:off x="4953000" y="914400"/>
            <a:ext cx="3248025" cy="3733800"/>
          </a:xfrm>
          <a:prstGeom prst="rect">
            <a:avLst/>
          </a:prstGeom>
          <a:noFill/>
          <a:ln w="9525">
            <a:noFill/>
            <a:miter lim="800000"/>
            <a:headEnd/>
            <a:tailEnd/>
          </a:ln>
          <a:effectLst/>
        </p:spPr>
      </p:pic>
      <p:sp>
        <p:nvSpPr>
          <p:cNvPr id="7" name="TextBox 6"/>
          <p:cNvSpPr txBox="1"/>
          <p:nvPr/>
        </p:nvSpPr>
        <p:spPr>
          <a:xfrm>
            <a:off x="4343400" y="4800600"/>
            <a:ext cx="1143000" cy="369332"/>
          </a:xfrm>
          <a:prstGeom prst="rect">
            <a:avLst/>
          </a:prstGeom>
          <a:noFill/>
        </p:spPr>
        <p:txBody>
          <a:bodyPr wrap="square" rtlCol="0">
            <a:spAutoFit/>
          </a:bodyPr>
          <a:lstStyle/>
          <a:p>
            <a:r>
              <a:rPr lang="en-US" dirty="0"/>
              <a:t>Fig 1</a:t>
            </a:r>
          </a:p>
        </p:txBody>
      </p:sp>
      <p:sp>
        <p:nvSpPr>
          <p:cNvPr id="6" name="Slide Number Placeholder 5"/>
          <p:cNvSpPr>
            <a:spLocks noGrp="1"/>
          </p:cNvSpPr>
          <p:nvPr>
            <p:ph type="sldNum" sz="quarter" idx="12"/>
          </p:nvPr>
        </p:nvSpPr>
        <p:spPr/>
        <p:txBody>
          <a:bodyPr/>
          <a:lstStyle/>
          <a:p>
            <a:fld id="{FA930017-089C-4B04-9152-CFCB1CDC61B1}" type="slidenum">
              <a:rPr lang="en-US" smtClean="0"/>
              <a:pPr/>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6172200"/>
          </a:xfrm>
        </p:spPr>
        <p:txBody>
          <a:bodyPr>
            <a:normAutofit/>
          </a:bodyPr>
          <a:lstStyle/>
          <a:p>
            <a:pPr>
              <a:buNone/>
            </a:pPr>
            <a:r>
              <a:rPr lang="en-US" sz="2800" b="1" dirty="0"/>
              <a:t>JFET polarities. Fig.2 (</a:t>
            </a:r>
            <a:r>
              <a:rPr lang="en-US" sz="2800" b="1" i="1" dirty="0" err="1"/>
              <a:t>i</a:t>
            </a:r>
            <a:r>
              <a:rPr lang="en-US" sz="2800" b="1" i="1" dirty="0"/>
              <a:t>) shows n-channel JFET polarities whereas Fig. 2 (ii) shows the</a:t>
            </a:r>
          </a:p>
          <a:p>
            <a:pPr>
              <a:buNone/>
            </a:pPr>
            <a:r>
              <a:rPr lang="en-US" sz="2800" i="1" dirty="0"/>
              <a:t>p-channel JFET polarities. Note that in each case, the voltage between the gate and source is such </a:t>
            </a:r>
            <a:r>
              <a:rPr lang="en-US" sz="2800" dirty="0"/>
              <a:t>that the gate is reverse biased. This is the normal way of </a:t>
            </a:r>
            <a:r>
              <a:rPr lang="en-US" sz="2800" i="1" dirty="0"/>
              <a:t>JFET connection. The drain and source </a:t>
            </a:r>
            <a:r>
              <a:rPr lang="en-US" sz="2800" dirty="0"/>
              <a:t>terminals are interchangeable </a:t>
            </a:r>
            <a:r>
              <a:rPr lang="en-US" sz="2800" i="1" dirty="0" err="1"/>
              <a:t>i.e.,either</a:t>
            </a:r>
            <a:r>
              <a:rPr lang="en-US" sz="2800" i="1" dirty="0"/>
              <a:t> end can be used as source and the other end as drain.</a:t>
            </a:r>
            <a:endParaRPr lang="en-US" sz="2800" dirty="0"/>
          </a:p>
        </p:txBody>
      </p:sp>
      <p:pic>
        <p:nvPicPr>
          <p:cNvPr id="2050" name="Picture 2"/>
          <p:cNvPicPr>
            <a:picLocks noChangeAspect="1" noChangeArrowheads="1"/>
          </p:cNvPicPr>
          <p:nvPr/>
        </p:nvPicPr>
        <p:blipFill>
          <a:blip r:embed="rId2"/>
          <a:srcRect/>
          <a:stretch>
            <a:fillRect/>
          </a:stretch>
        </p:blipFill>
        <p:spPr bwMode="auto">
          <a:xfrm>
            <a:off x="1676400" y="3886200"/>
            <a:ext cx="5962650" cy="1885950"/>
          </a:xfrm>
          <a:prstGeom prst="rect">
            <a:avLst/>
          </a:prstGeom>
          <a:noFill/>
          <a:ln w="9525">
            <a:noFill/>
            <a:miter lim="800000"/>
            <a:headEnd/>
            <a:tailEnd/>
          </a:ln>
          <a:effectLst/>
        </p:spPr>
      </p:pic>
      <p:sp>
        <p:nvSpPr>
          <p:cNvPr id="5" name="TextBox 4"/>
          <p:cNvSpPr txBox="1"/>
          <p:nvPr/>
        </p:nvSpPr>
        <p:spPr>
          <a:xfrm>
            <a:off x="4572000" y="5715000"/>
            <a:ext cx="914400" cy="369332"/>
          </a:xfrm>
          <a:prstGeom prst="rect">
            <a:avLst/>
          </a:prstGeom>
          <a:noFill/>
        </p:spPr>
        <p:txBody>
          <a:bodyPr wrap="square" rtlCol="0">
            <a:spAutoFit/>
          </a:bodyPr>
          <a:lstStyle/>
          <a:p>
            <a:r>
              <a:rPr lang="en-US" dirty="0"/>
              <a:t>Fig.2</a:t>
            </a:r>
          </a:p>
        </p:txBody>
      </p:sp>
      <p:sp>
        <p:nvSpPr>
          <p:cNvPr id="6" name="Slide Number Placeholder 5"/>
          <p:cNvSpPr>
            <a:spLocks noGrp="1"/>
          </p:cNvSpPr>
          <p:nvPr>
            <p:ph type="sldNum" sz="quarter" idx="12"/>
          </p:nvPr>
        </p:nvSpPr>
        <p:spPr/>
        <p:txBody>
          <a:bodyPr/>
          <a:lstStyle/>
          <a:p>
            <a:fld id="{FA930017-089C-4B04-9152-CFCB1CDC61B1}" type="slidenum">
              <a:rPr lang="en-US" smtClean="0"/>
              <a:pPr/>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normAutofit/>
          </a:bodyPr>
          <a:lstStyle/>
          <a:p>
            <a:pPr>
              <a:buNone/>
            </a:pPr>
            <a:r>
              <a:rPr lang="en-US" sz="2800" dirty="0"/>
              <a:t>The following points may be noted :</a:t>
            </a:r>
          </a:p>
          <a:p>
            <a:pPr>
              <a:buNone/>
            </a:pPr>
            <a:r>
              <a:rPr lang="en-US" sz="2800" dirty="0"/>
              <a:t>(</a:t>
            </a:r>
            <a:r>
              <a:rPr lang="en-US" sz="2800" i="1" dirty="0" err="1"/>
              <a:t>i</a:t>
            </a:r>
            <a:r>
              <a:rPr lang="en-US" sz="2800" i="1" dirty="0"/>
              <a:t>) The input circuit (i.e. gate to source) of a JFET is reverse biased. This means that the device</a:t>
            </a:r>
          </a:p>
          <a:p>
            <a:pPr>
              <a:buNone/>
            </a:pPr>
            <a:r>
              <a:rPr lang="en-US" sz="2800" dirty="0"/>
              <a:t>		has high input impedance.</a:t>
            </a:r>
          </a:p>
          <a:p>
            <a:pPr>
              <a:buNone/>
            </a:pPr>
            <a:r>
              <a:rPr lang="en-US" sz="2800" dirty="0"/>
              <a:t>(</a:t>
            </a:r>
            <a:r>
              <a:rPr lang="en-US" sz="2800" i="1" dirty="0"/>
              <a:t>ii) The drain is so biased </a:t>
            </a:r>
            <a:r>
              <a:rPr lang="en-US" sz="2800" i="1" dirty="0" err="1"/>
              <a:t>w.r.t</a:t>
            </a:r>
            <a:r>
              <a:rPr lang="en-US" sz="2800" i="1" dirty="0"/>
              <a:t>. source that drain current ID flows from the source to drain.</a:t>
            </a:r>
          </a:p>
          <a:p>
            <a:pPr>
              <a:buNone/>
            </a:pPr>
            <a:r>
              <a:rPr lang="en-US" sz="2800" dirty="0"/>
              <a:t>(</a:t>
            </a:r>
            <a:r>
              <a:rPr lang="en-US" sz="2800" i="1" dirty="0"/>
              <a:t>iii) In all JFETs, source current IS </a:t>
            </a:r>
            <a:r>
              <a:rPr lang="en-US" sz="2800" i="1" dirty="0" err="1"/>
              <a:t>is</a:t>
            </a:r>
            <a:r>
              <a:rPr lang="en-US" sz="2800" i="1" dirty="0"/>
              <a:t> equal to the drain current i.e. IS = ID.</a:t>
            </a:r>
            <a:endParaRPr lang="en-US" sz="2800" dirty="0"/>
          </a:p>
        </p:txBody>
      </p:sp>
      <p:sp>
        <p:nvSpPr>
          <p:cNvPr id="4" name="Slide Number Placeholder 3"/>
          <p:cNvSpPr>
            <a:spLocks noGrp="1"/>
          </p:cNvSpPr>
          <p:nvPr>
            <p:ph type="sldNum" sz="quarter" idx="12"/>
          </p:nvPr>
        </p:nvSpPr>
        <p:spPr/>
        <p:txBody>
          <a:bodyPr/>
          <a:lstStyle/>
          <a:p>
            <a:fld id="{FA930017-089C-4B04-9152-CFCB1CDC61B1}" type="slidenum">
              <a:rPr lang="en-US" smtClean="0"/>
              <a:pPr/>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867400"/>
          </a:xfrm>
        </p:spPr>
        <p:txBody>
          <a:bodyPr>
            <a:normAutofit fontScale="77500" lnSpcReduction="20000"/>
          </a:bodyPr>
          <a:lstStyle/>
          <a:p>
            <a:pPr>
              <a:buNone/>
            </a:pPr>
            <a:r>
              <a:rPr lang="en-US" dirty="0"/>
              <a:t>		</a:t>
            </a:r>
            <a:r>
              <a:rPr lang="en-US" b="1" dirty="0"/>
              <a:t>Principle and Working of JFET</a:t>
            </a:r>
          </a:p>
          <a:p>
            <a:pPr>
              <a:buNone/>
            </a:pPr>
            <a:r>
              <a:rPr lang="en-US" dirty="0"/>
              <a:t>Fig.3 shows the circuit of </a:t>
            </a:r>
            <a:r>
              <a:rPr lang="en-US" i="1" dirty="0"/>
              <a:t>n-channel JFET with normal polarities. Note that the gate is reverse </a:t>
            </a:r>
            <a:r>
              <a:rPr lang="en-US" dirty="0"/>
              <a:t>biased.</a:t>
            </a:r>
          </a:p>
          <a:p>
            <a:pPr>
              <a:buNone/>
            </a:pPr>
            <a:r>
              <a:rPr lang="en-US" dirty="0"/>
              <a:t>Principle. The two </a:t>
            </a:r>
            <a:r>
              <a:rPr lang="en-US" i="1" dirty="0" err="1"/>
              <a:t>pn</a:t>
            </a:r>
            <a:r>
              <a:rPr lang="en-US" i="1" dirty="0"/>
              <a:t> junctions at the sides form two depletion layers. The current conduction by</a:t>
            </a:r>
          </a:p>
          <a:p>
            <a:pPr>
              <a:buNone/>
            </a:pPr>
            <a:r>
              <a:rPr lang="en-US" dirty="0"/>
              <a:t>charge carriers (</a:t>
            </a:r>
            <a:r>
              <a:rPr lang="en-US" i="1" dirty="0"/>
              <a:t>i.e. free electrons in this case) is through the channel between the two depletion layers </a:t>
            </a:r>
            <a:r>
              <a:rPr lang="en-US" dirty="0"/>
              <a:t>and out of the drain. The width and hence *resistance of this channel can be controlled by changing the input voltage </a:t>
            </a:r>
            <a:r>
              <a:rPr lang="en-US" i="1" dirty="0"/>
              <a:t>VGS. The greater the reverse voltage VGS, the wider will be the depletion layers and narrower </a:t>
            </a:r>
            <a:r>
              <a:rPr lang="en-US" dirty="0"/>
              <a:t>will be the conducting channel. The narrower channel means greater resistance and hence source to drain current decreases. Reverse will happen should </a:t>
            </a:r>
            <a:r>
              <a:rPr lang="en-US" i="1" dirty="0"/>
              <a:t>VGS decrease. Thus JFET operates on the principle that width and hence resistance of the conducting channel can be varied by changing the reverse voltage VGS. In other words, the magnitude of drain current (ID) can be changed by altering VGS.</a:t>
            </a:r>
            <a:endParaRPr lang="en-US" dirty="0"/>
          </a:p>
        </p:txBody>
      </p:sp>
      <p:sp>
        <p:nvSpPr>
          <p:cNvPr id="4" name="Slide Number Placeholder 3"/>
          <p:cNvSpPr>
            <a:spLocks noGrp="1"/>
          </p:cNvSpPr>
          <p:nvPr>
            <p:ph type="sldNum" sz="quarter" idx="12"/>
          </p:nvPr>
        </p:nvSpPr>
        <p:spPr/>
        <p:txBody>
          <a:bodyPr/>
          <a:lstStyle/>
          <a:p>
            <a:fld id="{FA930017-089C-4B04-9152-CFCB1CDC61B1}" type="slidenum">
              <a:rPr lang="en-US" smtClean="0"/>
              <a:pPr/>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normAutofit fontScale="32500" lnSpcReduction="20000"/>
          </a:bodyPr>
          <a:lstStyle/>
          <a:p>
            <a:pPr>
              <a:buNone/>
            </a:pPr>
            <a:r>
              <a:rPr lang="en-US" sz="4400" b="1" dirty="0"/>
              <a:t>	</a:t>
            </a:r>
            <a:r>
              <a:rPr lang="en-US" sz="7400" b="1" dirty="0"/>
              <a:t>	Working. The working of </a:t>
            </a:r>
            <a:r>
              <a:rPr lang="en-US" sz="7400" b="1" i="1" dirty="0"/>
              <a:t>JFET is as under :</a:t>
            </a:r>
          </a:p>
          <a:p>
            <a:pPr>
              <a:buNone/>
            </a:pPr>
            <a:r>
              <a:rPr lang="en-US" sz="7400" b="1" dirty="0"/>
              <a:t>(</a:t>
            </a:r>
            <a:r>
              <a:rPr lang="en-US" sz="7400" b="1" i="1" dirty="0" err="1"/>
              <a:t>i</a:t>
            </a:r>
            <a:r>
              <a:rPr lang="en-US" sz="7400" b="1" i="1" dirty="0"/>
              <a:t>) When a voltage VDS is applied between drain and source terminals and voltage on the gate is</a:t>
            </a:r>
          </a:p>
          <a:p>
            <a:pPr>
              <a:buNone/>
            </a:pPr>
            <a:r>
              <a:rPr lang="en-US" sz="7400" dirty="0"/>
              <a:t>zero [ See Fig. 19.3 (</a:t>
            </a:r>
            <a:r>
              <a:rPr lang="en-US" sz="7400" dirty="0" err="1"/>
              <a:t>i</a:t>
            </a:r>
            <a:r>
              <a:rPr lang="en-US" sz="7400" dirty="0"/>
              <a:t>) ], the two </a:t>
            </a:r>
            <a:r>
              <a:rPr lang="en-US" sz="7400" dirty="0" err="1"/>
              <a:t>pn</a:t>
            </a:r>
            <a:r>
              <a:rPr lang="en-US" sz="7400" dirty="0"/>
              <a:t> junctions at the sides of the bar establish depletion layers. The electrons will flow from source to drain through a channel between the depletion layers. The size of these layers determines the width of the channel and hence the current conduction through the bar.</a:t>
            </a:r>
          </a:p>
          <a:p>
            <a:pPr>
              <a:buNone/>
            </a:pPr>
            <a:r>
              <a:rPr lang="en-US" sz="7400" b="1" dirty="0"/>
              <a:t>(</a:t>
            </a:r>
            <a:r>
              <a:rPr lang="en-US" sz="7400" b="1" i="1" dirty="0"/>
              <a:t>ii) When a reverse voltage VGS is applied between the gate and source [See Fig.3 (ii)], </a:t>
            </a:r>
            <a:r>
              <a:rPr lang="en-US" sz="7400" b="1" i="1" dirty="0" err="1"/>
              <a:t>the</a:t>
            </a:r>
            <a:r>
              <a:rPr lang="en-US" sz="7400" dirty="0" err="1"/>
              <a:t>width</a:t>
            </a:r>
            <a:r>
              <a:rPr lang="en-US" sz="7400" dirty="0"/>
              <a:t> of the depletion layers is increased. This reduces the width of conducting channel, thereby increasing the resistance of </a:t>
            </a:r>
            <a:r>
              <a:rPr lang="en-US" sz="7400" i="1" dirty="0"/>
              <a:t>n-type bar. Consequently, the current from source to drain is decreased.</a:t>
            </a:r>
          </a:p>
          <a:p>
            <a:pPr>
              <a:buNone/>
            </a:pPr>
            <a:r>
              <a:rPr lang="en-US" sz="7400" dirty="0"/>
              <a:t>On the other hand, if the reverse voltage on the gate is decreased, the width of the depletion layers also decreases. This increases the width of the conducting channel and hence source to drain current.</a:t>
            </a:r>
          </a:p>
        </p:txBody>
      </p:sp>
      <p:sp>
        <p:nvSpPr>
          <p:cNvPr id="4" name="Slide Number Placeholder 3"/>
          <p:cNvSpPr>
            <a:spLocks noGrp="1"/>
          </p:cNvSpPr>
          <p:nvPr>
            <p:ph type="sldNum" sz="quarter" idx="12"/>
          </p:nvPr>
        </p:nvSpPr>
        <p:spPr/>
        <p:txBody>
          <a:bodyPr/>
          <a:lstStyle/>
          <a:p>
            <a:fld id="{FA930017-089C-4B04-9152-CFCB1CDC61B1}" type="slidenum">
              <a:rPr lang="en-US" smtClean="0"/>
              <a:pPr/>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5" name="Picture 3"/>
          <p:cNvPicPr>
            <a:picLocks noGrp="1" noChangeAspect="1" noChangeArrowheads="1"/>
          </p:cNvPicPr>
          <p:nvPr>
            <p:ph idx="1"/>
          </p:nvPr>
        </p:nvPicPr>
        <p:blipFill>
          <a:blip r:embed="rId2"/>
          <a:srcRect/>
          <a:stretch>
            <a:fillRect/>
          </a:stretch>
        </p:blipFill>
        <p:spPr bwMode="auto">
          <a:xfrm>
            <a:off x="914400" y="457200"/>
            <a:ext cx="6553200" cy="3048000"/>
          </a:xfrm>
          <a:prstGeom prst="rect">
            <a:avLst/>
          </a:prstGeom>
          <a:noFill/>
          <a:ln w="9525">
            <a:noFill/>
            <a:miter lim="800000"/>
            <a:headEnd/>
            <a:tailEnd/>
          </a:ln>
          <a:effectLst/>
        </p:spPr>
      </p:pic>
      <p:sp>
        <p:nvSpPr>
          <p:cNvPr id="8" name="TextBox 7"/>
          <p:cNvSpPr txBox="1"/>
          <p:nvPr/>
        </p:nvSpPr>
        <p:spPr>
          <a:xfrm>
            <a:off x="4343400" y="3200400"/>
            <a:ext cx="627095" cy="369332"/>
          </a:xfrm>
          <a:prstGeom prst="rect">
            <a:avLst/>
          </a:prstGeom>
          <a:noFill/>
        </p:spPr>
        <p:txBody>
          <a:bodyPr wrap="none" rtlCol="0">
            <a:spAutoFit/>
          </a:bodyPr>
          <a:lstStyle/>
          <a:p>
            <a:r>
              <a:rPr lang="en-US" dirty="0"/>
              <a:t>Fig.3</a:t>
            </a:r>
          </a:p>
        </p:txBody>
      </p:sp>
      <p:pic>
        <p:nvPicPr>
          <p:cNvPr id="3076" name="Picture 4"/>
          <p:cNvPicPr>
            <a:picLocks noChangeAspect="1" noChangeArrowheads="1"/>
          </p:cNvPicPr>
          <p:nvPr/>
        </p:nvPicPr>
        <p:blipFill>
          <a:blip r:embed="rId3"/>
          <a:srcRect/>
          <a:stretch>
            <a:fillRect/>
          </a:stretch>
        </p:blipFill>
        <p:spPr bwMode="auto">
          <a:xfrm>
            <a:off x="2286000" y="3657600"/>
            <a:ext cx="5105400" cy="2895600"/>
          </a:xfrm>
          <a:prstGeom prst="rect">
            <a:avLst/>
          </a:prstGeom>
          <a:noFill/>
          <a:ln w="9525">
            <a:noFill/>
            <a:miter lim="800000"/>
            <a:headEnd/>
            <a:tailEnd/>
          </a:ln>
          <a:effectLst/>
        </p:spPr>
      </p:pic>
      <p:sp>
        <p:nvSpPr>
          <p:cNvPr id="5" name="Slide Number Placeholder 4"/>
          <p:cNvSpPr>
            <a:spLocks noGrp="1"/>
          </p:cNvSpPr>
          <p:nvPr>
            <p:ph type="sldNum" sz="quarter" idx="12"/>
          </p:nvPr>
        </p:nvSpPr>
        <p:spPr/>
        <p:txBody>
          <a:bodyPr/>
          <a:lstStyle/>
          <a:p>
            <a:fld id="{FA930017-089C-4B04-9152-CFCB1CDC61B1}" type="slidenum">
              <a:rPr lang="en-US" smtClean="0"/>
              <a:pPr/>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normAutofit fontScale="70000" lnSpcReduction="20000"/>
          </a:bodyPr>
          <a:lstStyle/>
          <a:p>
            <a:pPr>
              <a:buNone/>
            </a:pPr>
            <a:endParaRPr lang="en-US" dirty="0"/>
          </a:p>
          <a:p>
            <a:pPr>
              <a:buNone/>
            </a:pPr>
            <a:r>
              <a:rPr lang="en-US" dirty="0"/>
              <a:t> current from source to drain can be</a:t>
            </a:r>
          </a:p>
          <a:p>
            <a:pPr>
              <a:buNone/>
            </a:pPr>
            <a:r>
              <a:rPr lang="en-US" dirty="0"/>
              <a:t>controlled by the application of potential</a:t>
            </a:r>
          </a:p>
          <a:p>
            <a:pPr>
              <a:buNone/>
            </a:pPr>
            <a:r>
              <a:rPr lang="en-US" dirty="0"/>
              <a:t>(</a:t>
            </a:r>
            <a:r>
              <a:rPr lang="en-US" i="1" dirty="0"/>
              <a:t>i.e. electric field) on the gate. For this</a:t>
            </a:r>
          </a:p>
          <a:p>
            <a:pPr>
              <a:buNone/>
            </a:pPr>
            <a:r>
              <a:rPr lang="en-US" dirty="0"/>
              <a:t>reason, the device is called </a:t>
            </a:r>
            <a:r>
              <a:rPr lang="en-US" i="1" dirty="0"/>
              <a:t>field effect</a:t>
            </a:r>
          </a:p>
          <a:p>
            <a:pPr>
              <a:buNone/>
            </a:pPr>
            <a:r>
              <a:rPr lang="en-US" i="1" dirty="0"/>
              <a:t>transistor. It may be noted that a p-channel</a:t>
            </a:r>
          </a:p>
          <a:p>
            <a:pPr>
              <a:buNone/>
            </a:pPr>
            <a:r>
              <a:rPr lang="en-US" i="1" dirty="0"/>
              <a:t>JFET operates in the same manner as</a:t>
            </a:r>
          </a:p>
          <a:p>
            <a:pPr>
              <a:buNone/>
            </a:pPr>
            <a:r>
              <a:rPr lang="en-US" dirty="0"/>
              <a:t>an </a:t>
            </a:r>
            <a:r>
              <a:rPr lang="en-US" i="1" dirty="0"/>
              <a:t>n -channel JFET except that channel</a:t>
            </a:r>
          </a:p>
          <a:p>
            <a:pPr>
              <a:buNone/>
            </a:pPr>
            <a:r>
              <a:rPr lang="en-US" dirty="0"/>
              <a:t>current carriers will be the holes instead</a:t>
            </a:r>
          </a:p>
          <a:p>
            <a:pPr>
              <a:buNone/>
            </a:pPr>
            <a:r>
              <a:rPr lang="en-US" dirty="0"/>
              <a:t>of electrons and the polarities of </a:t>
            </a:r>
            <a:r>
              <a:rPr lang="en-US" i="1" dirty="0"/>
              <a:t>VGS and</a:t>
            </a:r>
          </a:p>
          <a:p>
            <a:pPr>
              <a:buNone/>
            </a:pPr>
            <a:r>
              <a:rPr lang="en-US" i="1" dirty="0"/>
              <a:t>VDS are reversed.</a:t>
            </a:r>
          </a:p>
          <a:p>
            <a:pPr>
              <a:buNone/>
            </a:pPr>
            <a:r>
              <a:rPr lang="en-US" b="1" dirty="0"/>
              <a:t>Note. If the reverse voltage </a:t>
            </a:r>
            <a:r>
              <a:rPr lang="en-US" b="1" i="1" dirty="0"/>
              <a:t>VGS on the</a:t>
            </a:r>
          </a:p>
          <a:p>
            <a:pPr>
              <a:buNone/>
            </a:pPr>
            <a:r>
              <a:rPr lang="en-US" dirty="0"/>
              <a:t>gate is continuously increased, a state is</a:t>
            </a:r>
          </a:p>
          <a:p>
            <a:pPr>
              <a:buNone/>
            </a:pPr>
            <a:r>
              <a:rPr lang="en-US" dirty="0"/>
              <a:t>reached when the two depletion layers touch</a:t>
            </a:r>
          </a:p>
          <a:p>
            <a:pPr>
              <a:buNone/>
            </a:pPr>
            <a:r>
              <a:rPr lang="en-US" dirty="0"/>
              <a:t>each other and the channel is cut off. Under</a:t>
            </a:r>
          </a:p>
          <a:p>
            <a:pPr>
              <a:buNone/>
            </a:pPr>
            <a:r>
              <a:rPr lang="en-US" dirty="0"/>
              <a:t>such conditions, the channel becomes a nonconductor</a:t>
            </a:r>
          </a:p>
        </p:txBody>
      </p:sp>
      <p:pic>
        <p:nvPicPr>
          <p:cNvPr id="4098" name="Picture 2"/>
          <p:cNvPicPr>
            <a:picLocks noChangeAspect="1" noChangeArrowheads="1"/>
          </p:cNvPicPr>
          <p:nvPr/>
        </p:nvPicPr>
        <p:blipFill>
          <a:blip r:embed="rId2"/>
          <a:srcRect/>
          <a:stretch>
            <a:fillRect/>
          </a:stretch>
        </p:blipFill>
        <p:spPr bwMode="auto">
          <a:xfrm>
            <a:off x="5715000" y="1143000"/>
            <a:ext cx="3200400" cy="2667000"/>
          </a:xfrm>
          <a:prstGeom prst="rect">
            <a:avLst/>
          </a:prstGeom>
          <a:noFill/>
          <a:ln w="9525">
            <a:noFill/>
            <a:miter lim="800000"/>
            <a:headEnd/>
            <a:tailEnd/>
          </a:ln>
          <a:effectLst/>
        </p:spPr>
      </p:pic>
      <p:sp>
        <p:nvSpPr>
          <p:cNvPr id="4" name="Slide Number Placeholder 3"/>
          <p:cNvSpPr>
            <a:spLocks noGrp="1"/>
          </p:cNvSpPr>
          <p:nvPr>
            <p:ph type="sldNum" sz="quarter" idx="12"/>
          </p:nvPr>
        </p:nvSpPr>
        <p:spPr/>
        <p:txBody>
          <a:bodyPr/>
          <a:lstStyle/>
          <a:p>
            <a:fld id="{FA930017-089C-4B04-9152-CFCB1CDC61B1}" type="slidenum">
              <a:rPr lang="en-US" smtClean="0"/>
              <a:pPr/>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normAutofit fontScale="47500" lnSpcReduction="20000"/>
          </a:bodyPr>
          <a:lstStyle/>
          <a:p>
            <a:pPr>
              <a:buNone/>
            </a:pPr>
            <a:r>
              <a:rPr lang="en-US" b="1" dirty="0"/>
              <a:t>	</a:t>
            </a:r>
            <a:r>
              <a:rPr lang="en-US" sz="4400" b="1" dirty="0"/>
              <a:t>	Difference Between JFET and Bipolar Transistor</a:t>
            </a:r>
          </a:p>
          <a:p>
            <a:pPr>
              <a:buNone/>
            </a:pPr>
            <a:r>
              <a:rPr lang="en-US" sz="4400" dirty="0"/>
              <a:t>The </a:t>
            </a:r>
            <a:r>
              <a:rPr lang="en-US" sz="4400" i="1" dirty="0"/>
              <a:t>JFET differs from an ordinary or bipolar transistor in the following ways :</a:t>
            </a:r>
          </a:p>
          <a:p>
            <a:pPr>
              <a:buNone/>
            </a:pPr>
            <a:r>
              <a:rPr lang="en-US" sz="4400" b="1" dirty="0"/>
              <a:t>(</a:t>
            </a:r>
            <a:r>
              <a:rPr lang="en-US" sz="4400" b="1" i="1" dirty="0" err="1"/>
              <a:t>i</a:t>
            </a:r>
            <a:r>
              <a:rPr lang="en-US" sz="4400" b="1" i="1" dirty="0"/>
              <a:t>) In a JFET, there is only one type of carrier, holes in p-type channel and electrons in n-type</a:t>
            </a:r>
          </a:p>
          <a:p>
            <a:pPr>
              <a:buNone/>
            </a:pPr>
            <a:r>
              <a:rPr lang="en-US" sz="4400" dirty="0"/>
              <a:t>channel. For this reason, it is also called a </a:t>
            </a:r>
            <a:r>
              <a:rPr lang="en-US" sz="4400" i="1" dirty="0" err="1"/>
              <a:t>unipolar</a:t>
            </a:r>
            <a:r>
              <a:rPr lang="en-US" sz="4400" i="1" dirty="0"/>
              <a:t> transistor. However, in an ordinary transistor, </a:t>
            </a:r>
            <a:r>
              <a:rPr lang="en-US" sz="4400" dirty="0"/>
              <a:t>both holes and electrons play part in conduction. Therefore, an ordinary transistor is sometimes called a </a:t>
            </a:r>
            <a:r>
              <a:rPr lang="en-US" sz="4400" i="1" dirty="0"/>
              <a:t>bipolar transistor.</a:t>
            </a:r>
          </a:p>
          <a:p>
            <a:pPr>
              <a:buNone/>
            </a:pPr>
            <a:r>
              <a:rPr lang="en-US" sz="4400" b="1" dirty="0"/>
              <a:t>(</a:t>
            </a:r>
            <a:r>
              <a:rPr lang="en-US" sz="4400" b="1" i="1" dirty="0"/>
              <a:t>ii) As the input circuit (i.e., gate to source) of a JFET is reverse biased, therefore, the device</a:t>
            </a:r>
          </a:p>
          <a:p>
            <a:pPr>
              <a:buNone/>
            </a:pPr>
            <a:r>
              <a:rPr lang="en-US" sz="4400" dirty="0"/>
              <a:t>has high input impedance. However, the input circuit of an ordinary transistor is forward biased and hence has low input impedance.</a:t>
            </a:r>
          </a:p>
          <a:p>
            <a:pPr>
              <a:buNone/>
            </a:pPr>
            <a:r>
              <a:rPr lang="en-US" sz="4400" b="1" dirty="0"/>
              <a:t>(</a:t>
            </a:r>
            <a:r>
              <a:rPr lang="en-US" sz="4400" b="1" i="1" dirty="0"/>
              <a:t>iii) The primary functional difference between the JFET and the BJT is that no current (actually,</a:t>
            </a:r>
          </a:p>
          <a:p>
            <a:pPr>
              <a:buNone/>
            </a:pPr>
            <a:r>
              <a:rPr lang="en-US" sz="4400" dirty="0"/>
              <a:t>a very, very small current) enters the gate of </a:t>
            </a:r>
            <a:r>
              <a:rPr lang="en-US" sz="4400" i="1" dirty="0"/>
              <a:t>JFET (i.e. IG = 0A). However, typical BJT base current</a:t>
            </a:r>
          </a:p>
          <a:p>
            <a:pPr>
              <a:buNone/>
            </a:pPr>
            <a:r>
              <a:rPr lang="en-US" sz="4400" dirty="0"/>
              <a:t>might be a few </a:t>
            </a:r>
            <a:r>
              <a:rPr lang="en-US" sz="4400" dirty="0" err="1"/>
              <a:t>μA</a:t>
            </a:r>
            <a:r>
              <a:rPr lang="en-US" sz="4400" dirty="0"/>
              <a:t> while </a:t>
            </a:r>
            <a:r>
              <a:rPr lang="en-US" sz="4400" i="1" dirty="0"/>
              <a:t>JFET gate current a thousand times smaller [See Fig. 4].</a:t>
            </a:r>
            <a:endParaRPr lang="en-US" sz="4400" dirty="0"/>
          </a:p>
        </p:txBody>
      </p:sp>
      <p:sp>
        <p:nvSpPr>
          <p:cNvPr id="4" name="Slide Number Placeholder 3"/>
          <p:cNvSpPr>
            <a:spLocks noGrp="1"/>
          </p:cNvSpPr>
          <p:nvPr>
            <p:ph type="sldNum" sz="quarter" idx="12"/>
          </p:nvPr>
        </p:nvSpPr>
        <p:spPr/>
        <p:txBody>
          <a:bodyPr/>
          <a:lstStyle/>
          <a:p>
            <a:fld id="{FA930017-089C-4B04-9152-CFCB1CDC61B1}" type="slidenum">
              <a:rPr lang="en-US" smtClean="0"/>
              <a:pPr/>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Grp="1" noChangeAspect="1" noChangeArrowheads="1"/>
          </p:cNvPicPr>
          <p:nvPr>
            <p:ph idx="1"/>
          </p:nvPr>
        </p:nvPicPr>
        <p:blipFill>
          <a:blip r:embed="rId2"/>
          <a:srcRect/>
          <a:stretch>
            <a:fillRect/>
          </a:stretch>
        </p:blipFill>
        <p:spPr bwMode="auto">
          <a:xfrm>
            <a:off x="1371600" y="533400"/>
            <a:ext cx="6553200" cy="4571999"/>
          </a:xfrm>
          <a:prstGeom prst="rect">
            <a:avLst/>
          </a:prstGeom>
          <a:noFill/>
          <a:ln w="9525">
            <a:noFill/>
            <a:miter lim="800000"/>
            <a:headEnd/>
            <a:tailEnd/>
          </a:ln>
          <a:effectLst/>
        </p:spPr>
      </p:pic>
      <p:sp>
        <p:nvSpPr>
          <p:cNvPr id="5" name="TextBox 4"/>
          <p:cNvSpPr txBox="1"/>
          <p:nvPr/>
        </p:nvSpPr>
        <p:spPr>
          <a:xfrm>
            <a:off x="4572000" y="5105400"/>
            <a:ext cx="622286" cy="369332"/>
          </a:xfrm>
          <a:prstGeom prst="rect">
            <a:avLst/>
          </a:prstGeom>
          <a:noFill/>
        </p:spPr>
        <p:txBody>
          <a:bodyPr wrap="none" rtlCol="0">
            <a:spAutoFit/>
          </a:bodyPr>
          <a:lstStyle/>
          <a:p>
            <a:r>
              <a:rPr lang="en-US" dirty="0"/>
              <a:t>Fig 4</a:t>
            </a:r>
          </a:p>
        </p:txBody>
      </p:sp>
      <p:sp>
        <p:nvSpPr>
          <p:cNvPr id="4" name="Slide Number Placeholder 3"/>
          <p:cNvSpPr>
            <a:spLocks noGrp="1"/>
          </p:cNvSpPr>
          <p:nvPr>
            <p:ph type="sldNum" sz="quarter" idx="12"/>
          </p:nvPr>
        </p:nvSpPr>
        <p:spPr/>
        <p:txBody>
          <a:bodyPr/>
          <a:lstStyle/>
          <a:p>
            <a:fld id="{FA930017-089C-4B04-9152-CFCB1CDC61B1}" type="slidenum">
              <a:rPr lang="en-US" smtClean="0"/>
              <a:pPr/>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668963"/>
          </a:xfrm>
        </p:spPr>
        <p:txBody>
          <a:bodyPr>
            <a:noAutofit/>
          </a:bodyPr>
          <a:lstStyle/>
          <a:p>
            <a:pPr>
              <a:buNone/>
            </a:pPr>
            <a:r>
              <a:rPr lang="en-US" sz="1600" b="1" dirty="0"/>
              <a:t>			 JFET as an Amplifier</a:t>
            </a:r>
          </a:p>
          <a:p>
            <a:pPr>
              <a:buNone/>
            </a:pPr>
            <a:r>
              <a:rPr lang="en-US" sz="1800" dirty="0"/>
              <a:t>Fig. 5 shows </a:t>
            </a:r>
            <a:r>
              <a:rPr lang="en-US" sz="1800" i="1" dirty="0"/>
              <a:t>JFET amplifier circuit. The weak signal</a:t>
            </a:r>
          </a:p>
          <a:p>
            <a:pPr>
              <a:buNone/>
            </a:pPr>
            <a:r>
              <a:rPr lang="en-US" sz="1800" dirty="0"/>
              <a:t>is applied between gate and source and amplified</a:t>
            </a:r>
          </a:p>
          <a:p>
            <a:pPr>
              <a:buNone/>
            </a:pPr>
            <a:r>
              <a:rPr lang="en-US" sz="1800" dirty="0"/>
              <a:t>output is obtained in the drain-source circuit. For the</a:t>
            </a:r>
          </a:p>
          <a:p>
            <a:pPr>
              <a:buNone/>
            </a:pPr>
            <a:r>
              <a:rPr lang="en-US" sz="1800" dirty="0"/>
              <a:t>proper operation of </a:t>
            </a:r>
            <a:r>
              <a:rPr lang="en-US" sz="1800" i="1" dirty="0"/>
              <a:t>JFET, the gate must be negative</a:t>
            </a:r>
          </a:p>
          <a:p>
            <a:pPr>
              <a:buNone/>
            </a:pPr>
            <a:r>
              <a:rPr lang="en-US" sz="1800" dirty="0" err="1"/>
              <a:t>w.r.t</a:t>
            </a:r>
            <a:r>
              <a:rPr lang="en-US" sz="1800" dirty="0"/>
              <a:t>. source </a:t>
            </a:r>
            <a:r>
              <a:rPr lang="en-US" sz="1800" i="1" dirty="0"/>
              <a:t>i.e., input circuit should always be reverse</a:t>
            </a:r>
          </a:p>
          <a:p>
            <a:pPr>
              <a:buNone/>
            </a:pPr>
            <a:r>
              <a:rPr lang="en-US" sz="1800" dirty="0"/>
              <a:t>biased. This is achieved either by inserting a battery</a:t>
            </a:r>
          </a:p>
          <a:p>
            <a:pPr>
              <a:buNone/>
            </a:pPr>
            <a:r>
              <a:rPr lang="en-US" sz="1800" i="1" dirty="0"/>
              <a:t>VGG in the gate circuit or by a circuit known as biasing circuit. In the present case, we are providing </a:t>
            </a:r>
            <a:r>
              <a:rPr lang="en-US" sz="1800" dirty="0"/>
              <a:t>biasing by the battery </a:t>
            </a:r>
            <a:r>
              <a:rPr lang="en-US" sz="1800" i="1" dirty="0"/>
              <a:t>VGG.</a:t>
            </a:r>
          </a:p>
          <a:p>
            <a:pPr>
              <a:buNone/>
            </a:pPr>
            <a:r>
              <a:rPr lang="en-US" sz="1800" dirty="0"/>
              <a:t>A small change in the reverse bias on the gate produces a large change in drain current. This fact makes </a:t>
            </a:r>
            <a:r>
              <a:rPr lang="en-US" sz="1800" i="1" dirty="0"/>
              <a:t>JFET capable of raising the strength of a weak signal. During the positive half of signal, the </a:t>
            </a:r>
            <a:r>
              <a:rPr lang="en-US" sz="1800" dirty="0"/>
              <a:t>reverse bias on the gate decreases. This increases the channel width and hence the drain current.</a:t>
            </a:r>
          </a:p>
          <a:p>
            <a:pPr>
              <a:buNone/>
            </a:pPr>
            <a:r>
              <a:rPr lang="en-US" sz="1800" dirty="0"/>
              <a:t>During the negative half-cycle of the signal, the reverse voltage on the gate increases. Consequently, the drain current decreases. The result is that a small change in voltage at the gate produces a large change in drain current. These large variations in drain current produce large output across the load</a:t>
            </a:r>
          </a:p>
          <a:p>
            <a:pPr>
              <a:buNone/>
            </a:pPr>
            <a:r>
              <a:rPr lang="en-US" sz="1800" i="1" dirty="0"/>
              <a:t>RL. In this way, JFET acts as an amplifier.</a:t>
            </a:r>
            <a:endParaRPr lang="en-US" sz="1800" dirty="0"/>
          </a:p>
        </p:txBody>
      </p:sp>
      <p:pic>
        <p:nvPicPr>
          <p:cNvPr id="4" name="Picture 3"/>
          <p:cNvPicPr>
            <a:picLocks noChangeAspect="1" noChangeArrowheads="1"/>
          </p:cNvPicPr>
          <p:nvPr/>
        </p:nvPicPr>
        <p:blipFill>
          <a:blip r:embed="rId2"/>
          <a:srcRect/>
          <a:stretch>
            <a:fillRect/>
          </a:stretch>
        </p:blipFill>
        <p:spPr bwMode="auto">
          <a:xfrm>
            <a:off x="5867400" y="0"/>
            <a:ext cx="3124200" cy="2743200"/>
          </a:xfrm>
          <a:prstGeom prst="rect">
            <a:avLst/>
          </a:prstGeom>
          <a:noFill/>
          <a:ln w="9525">
            <a:noFill/>
            <a:miter lim="800000"/>
            <a:headEnd/>
            <a:tailEnd/>
          </a:ln>
          <a:effectLst/>
        </p:spPr>
      </p:pic>
      <p:sp>
        <p:nvSpPr>
          <p:cNvPr id="5" name="Slide Number Placeholder 4"/>
          <p:cNvSpPr>
            <a:spLocks noGrp="1"/>
          </p:cNvSpPr>
          <p:nvPr>
            <p:ph type="sldNum" sz="quarter" idx="12"/>
          </p:nvPr>
        </p:nvSpPr>
        <p:spPr/>
        <p:txBody>
          <a:bodyPr/>
          <a:lstStyle/>
          <a:p>
            <a:fld id="{FA930017-089C-4B04-9152-CFCB1CDC61B1}" type="slidenum">
              <a:rPr lang="en-US" smtClean="0"/>
              <a:pPr/>
              <a:t>54</a:t>
            </a:fld>
            <a:endParaRPr lang="en-US"/>
          </a:p>
        </p:txBody>
      </p:sp>
      <p:sp>
        <p:nvSpPr>
          <p:cNvPr id="7" name="TextBox 6"/>
          <p:cNvSpPr txBox="1"/>
          <p:nvPr/>
        </p:nvSpPr>
        <p:spPr>
          <a:xfrm>
            <a:off x="7696200" y="2438400"/>
            <a:ext cx="622286" cy="369332"/>
          </a:xfrm>
          <a:prstGeom prst="rect">
            <a:avLst/>
          </a:prstGeom>
          <a:noFill/>
        </p:spPr>
        <p:txBody>
          <a:bodyPr wrap="none" rtlCol="0">
            <a:spAutoFit/>
          </a:bodyPr>
          <a:lstStyle/>
          <a:p>
            <a:r>
              <a:rPr lang="en-US" dirty="0"/>
              <a:t>Fig 5</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1"/>
          </p:nvPr>
        </p:nvSpPr>
        <p:spPr>
          <a:xfrm>
            <a:off x="457200" y="381000"/>
            <a:ext cx="8229600" cy="5745163"/>
          </a:xfrm>
        </p:spPr>
        <p:txBody>
          <a:bodyPr>
            <a:normAutofit fontScale="85000" lnSpcReduction="10000"/>
          </a:bodyPr>
          <a:lstStyle/>
          <a:p>
            <a:pPr>
              <a:buNone/>
            </a:pPr>
            <a:r>
              <a:rPr lang="en-US" b="1" dirty="0"/>
              <a:t>      Output Characteristics of JFET</a:t>
            </a:r>
          </a:p>
          <a:p>
            <a:pPr>
              <a:buNone/>
            </a:pPr>
            <a:r>
              <a:rPr lang="en-US" dirty="0"/>
              <a:t>The curve between drain current (</a:t>
            </a:r>
            <a:r>
              <a:rPr lang="en-US" i="1" dirty="0"/>
              <a:t>ID) and drain-source voltage (VDS ) of a JFET at constant gatesource</a:t>
            </a:r>
          </a:p>
          <a:p>
            <a:pPr>
              <a:buNone/>
            </a:pPr>
            <a:r>
              <a:rPr lang="en-US" dirty="0"/>
              <a:t>voltage (</a:t>
            </a:r>
            <a:r>
              <a:rPr lang="en-US" i="1" dirty="0"/>
              <a:t>VGS) is known as output characteristics of JFET. Fig. 5 shows the circuit for </a:t>
            </a:r>
            <a:r>
              <a:rPr lang="en-US" dirty="0"/>
              <a:t>determining the output characteristics of </a:t>
            </a:r>
            <a:r>
              <a:rPr lang="en-US" i="1" dirty="0"/>
              <a:t>JFET. Keeping VGS fixed at some value, say 1V, the </a:t>
            </a:r>
            <a:r>
              <a:rPr lang="en-US" i="1" dirty="0" err="1"/>
              <a:t>driansource</a:t>
            </a:r>
            <a:r>
              <a:rPr lang="en-US" i="1" dirty="0"/>
              <a:t> </a:t>
            </a:r>
            <a:r>
              <a:rPr lang="en-US" dirty="0"/>
              <a:t>voltage is changed in steps. Corresponding to each value of </a:t>
            </a:r>
            <a:r>
              <a:rPr lang="en-US" i="1" dirty="0"/>
              <a:t>VDS, the drain current ID is noted. </a:t>
            </a:r>
            <a:r>
              <a:rPr lang="en-US" dirty="0"/>
              <a:t>A plot of these values gives the output characteristic of </a:t>
            </a:r>
            <a:r>
              <a:rPr lang="en-US" i="1" dirty="0"/>
              <a:t>JFET at VGS = 1V. Repeating similar procedure, </a:t>
            </a:r>
            <a:r>
              <a:rPr lang="en-US" dirty="0"/>
              <a:t>output characteristics at other gate-source voltages can be drawn. Fig. 6 shows a family of</a:t>
            </a:r>
          </a:p>
          <a:p>
            <a:pPr>
              <a:buNone/>
            </a:pPr>
            <a:r>
              <a:rPr lang="en-US" dirty="0"/>
              <a:t>output characteristics.</a:t>
            </a:r>
          </a:p>
        </p:txBody>
      </p:sp>
      <p:sp>
        <p:nvSpPr>
          <p:cNvPr id="3" name="Slide Number Placeholder 2"/>
          <p:cNvSpPr>
            <a:spLocks noGrp="1"/>
          </p:cNvSpPr>
          <p:nvPr>
            <p:ph type="sldNum" sz="quarter" idx="12"/>
          </p:nvPr>
        </p:nvSpPr>
        <p:spPr/>
        <p:txBody>
          <a:bodyPr/>
          <a:lstStyle/>
          <a:p>
            <a:fld id="{FA930017-089C-4B04-9152-CFCB1CDC61B1}" type="slidenum">
              <a:rPr lang="en-US" smtClean="0"/>
              <a:pPr/>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Grp="1" noChangeAspect="1" noChangeArrowheads="1"/>
          </p:cNvPicPr>
          <p:nvPr>
            <p:ph idx="1"/>
          </p:nvPr>
        </p:nvPicPr>
        <p:blipFill>
          <a:blip r:embed="rId2"/>
          <a:srcRect/>
          <a:stretch>
            <a:fillRect/>
          </a:stretch>
        </p:blipFill>
        <p:spPr bwMode="auto">
          <a:xfrm>
            <a:off x="762000" y="0"/>
            <a:ext cx="6143625" cy="2133600"/>
          </a:xfrm>
          <a:prstGeom prst="rect">
            <a:avLst/>
          </a:prstGeom>
          <a:noFill/>
          <a:ln w="9525">
            <a:noFill/>
            <a:miter lim="800000"/>
            <a:headEnd/>
            <a:tailEnd/>
          </a:ln>
          <a:effectLst/>
        </p:spPr>
      </p:pic>
      <p:sp>
        <p:nvSpPr>
          <p:cNvPr id="5" name="Rectangle 4"/>
          <p:cNvSpPr/>
          <p:nvPr/>
        </p:nvSpPr>
        <p:spPr>
          <a:xfrm>
            <a:off x="685800" y="2438400"/>
            <a:ext cx="7924800" cy="3985706"/>
          </a:xfrm>
          <a:prstGeom prst="rect">
            <a:avLst/>
          </a:prstGeom>
        </p:spPr>
        <p:txBody>
          <a:bodyPr wrap="square">
            <a:spAutoFit/>
          </a:bodyPr>
          <a:lstStyle/>
          <a:p>
            <a:r>
              <a:rPr lang="en-US" sz="2300" dirty="0"/>
              <a:t>The following points may be noted from the characteristics :</a:t>
            </a:r>
          </a:p>
          <a:p>
            <a:r>
              <a:rPr lang="en-US" sz="2300" b="1" dirty="0"/>
              <a:t>(</a:t>
            </a:r>
            <a:r>
              <a:rPr lang="en-US" sz="2300" b="1" i="1" dirty="0" err="1"/>
              <a:t>i</a:t>
            </a:r>
            <a:r>
              <a:rPr lang="en-US" sz="2300" b="1" i="1" dirty="0"/>
              <a:t>) At first, the drain current ID rises rapidly with drain-source voltage VDS but then becomes </a:t>
            </a:r>
            <a:r>
              <a:rPr lang="en-US" sz="2300" dirty="0"/>
              <a:t>constant. The drain-source voltage above which drain current becomes constant is known as </a:t>
            </a:r>
            <a:r>
              <a:rPr lang="en-US" sz="2300" i="1" dirty="0"/>
              <a:t>pinch off voltage. Thus in Fig. 6, OA is the pinch off voltage VP.</a:t>
            </a:r>
          </a:p>
          <a:p>
            <a:r>
              <a:rPr lang="en-US" sz="2300" b="1" dirty="0"/>
              <a:t>(</a:t>
            </a:r>
            <a:r>
              <a:rPr lang="en-US" sz="2300" b="1" i="1" dirty="0"/>
              <a:t>ii) After pinch off voltage, the channel width becomes so narrow that depletion layers almost </a:t>
            </a:r>
            <a:r>
              <a:rPr lang="en-US" sz="2300" dirty="0"/>
              <a:t>touch each other. The drain current passes through the small passage between these layers. Therefore, increase in drain current is very small with </a:t>
            </a:r>
            <a:r>
              <a:rPr lang="en-US" sz="2300" i="1" dirty="0"/>
              <a:t>VDS above pinch off voltage. Consequently, drain </a:t>
            </a:r>
            <a:r>
              <a:rPr lang="en-US" sz="2300" dirty="0"/>
              <a:t>current remains constant.</a:t>
            </a:r>
          </a:p>
          <a:p>
            <a:r>
              <a:rPr lang="en-US" sz="2300" b="1" dirty="0"/>
              <a:t>(</a:t>
            </a:r>
            <a:r>
              <a:rPr lang="en-US" sz="2300" b="1" i="1" dirty="0"/>
              <a:t>iii) The characteristics resemble that of a pentode valve.</a:t>
            </a:r>
            <a:endParaRPr lang="en-US" sz="2300" dirty="0"/>
          </a:p>
        </p:txBody>
      </p:sp>
      <p:sp>
        <p:nvSpPr>
          <p:cNvPr id="4" name="Slide Number Placeholder 3"/>
          <p:cNvSpPr>
            <a:spLocks noGrp="1"/>
          </p:cNvSpPr>
          <p:nvPr>
            <p:ph type="sldNum" sz="quarter" idx="12"/>
          </p:nvPr>
        </p:nvSpPr>
        <p:spPr/>
        <p:txBody>
          <a:bodyPr/>
          <a:lstStyle/>
          <a:p>
            <a:fld id="{FA930017-089C-4B04-9152-CFCB1CDC61B1}" type="slidenum">
              <a:rPr lang="en-US" smtClean="0"/>
              <a:pPr/>
              <a:t>56</a:t>
            </a:fld>
            <a:endParaRPr lang="en-US"/>
          </a:p>
        </p:txBody>
      </p:sp>
      <p:sp>
        <p:nvSpPr>
          <p:cNvPr id="7" name="TextBox 6"/>
          <p:cNvSpPr txBox="1"/>
          <p:nvPr/>
        </p:nvSpPr>
        <p:spPr>
          <a:xfrm>
            <a:off x="4114800" y="2133600"/>
            <a:ext cx="622286" cy="369332"/>
          </a:xfrm>
          <a:prstGeom prst="rect">
            <a:avLst/>
          </a:prstGeom>
          <a:noFill/>
        </p:spPr>
        <p:txBody>
          <a:bodyPr wrap="none" rtlCol="0">
            <a:spAutoFit/>
          </a:bodyPr>
          <a:lstStyle/>
          <a:p>
            <a:r>
              <a:rPr lang="en-US" dirty="0"/>
              <a:t>Fig 6</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normAutofit fontScale="47500" lnSpcReduction="20000"/>
          </a:bodyPr>
          <a:lstStyle/>
          <a:p>
            <a:pPr>
              <a:buNone/>
            </a:pPr>
            <a:r>
              <a:rPr lang="en-US" b="1" dirty="0"/>
              <a:t>			</a:t>
            </a:r>
            <a:r>
              <a:rPr lang="en-US" sz="4200" b="1" dirty="0"/>
              <a:t>Salient Features of JFET</a:t>
            </a:r>
          </a:p>
          <a:p>
            <a:pPr>
              <a:buNone/>
            </a:pPr>
            <a:r>
              <a:rPr lang="en-US" sz="4200" dirty="0"/>
              <a:t>       The following are some salient features of </a:t>
            </a:r>
            <a:r>
              <a:rPr lang="en-US" sz="4200" i="1" dirty="0"/>
              <a:t>JFET :</a:t>
            </a:r>
          </a:p>
          <a:p>
            <a:pPr>
              <a:buNone/>
            </a:pPr>
            <a:r>
              <a:rPr lang="en-US" sz="4200" b="1" dirty="0"/>
              <a:t>(</a:t>
            </a:r>
            <a:r>
              <a:rPr lang="en-US" sz="4200" b="1" i="1" dirty="0" err="1"/>
              <a:t>i</a:t>
            </a:r>
            <a:r>
              <a:rPr lang="en-US" sz="4200" b="1" i="1" dirty="0"/>
              <a:t>) A JFET is a three-terminal voltage-controlled semiconductor device i.e. input voltage controls </a:t>
            </a:r>
            <a:r>
              <a:rPr lang="en-US" sz="4200" b="1" dirty="0"/>
              <a:t>the output characteristics of </a:t>
            </a:r>
            <a:r>
              <a:rPr lang="en-US" sz="4200" b="1" i="1" dirty="0"/>
              <a:t>JFET.</a:t>
            </a:r>
          </a:p>
          <a:p>
            <a:pPr>
              <a:buNone/>
            </a:pPr>
            <a:r>
              <a:rPr lang="en-US" sz="4200" b="1" dirty="0"/>
              <a:t>(</a:t>
            </a:r>
            <a:r>
              <a:rPr lang="en-US" sz="4200" b="1" i="1" dirty="0"/>
              <a:t>ii) The JFET is always operated with gate-source </a:t>
            </a:r>
            <a:r>
              <a:rPr lang="en-US" sz="4200" b="1" i="1" dirty="0" err="1"/>
              <a:t>pn</a:t>
            </a:r>
            <a:r>
              <a:rPr lang="en-US" sz="4200" b="1" i="1" dirty="0"/>
              <a:t> junction *reverse biased.</a:t>
            </a:r>
          </a:p>
          <a:p>
            <a:pPr>
              <a:buNone/>
            </a:pPr>
            <a:r>
              <a:rPr lang="en-US" sz="4200" b="1" dirty="0"/>
              <a:t>(</a:t>
            </a:r>
            <a:r>
              <a:rPr lang="en-US" sz="4200" b="1" i="1" dirty="0"/>
              <a:t>iii) In a JFET, the gate current is zero i.e. IG = 0A.</a:t>
            </a:r>
          </a:p>
          <a:p>
            <a:pPr>
              <a:buNone/>
            </a:pPr>
            <a:r>
              <a:rPr lang="en-US" sz="4200" b="1" dirty="0"/>
              <a:t>(</a:t>
            </a:r>
            <a:r>
              <a:rPr lang="en-US" sz="4200" b="1" i="1" dirty="0"/>
              <a:t>iv) Since there is no gate current, ID = IS.</a:t>
            </a:r>
          </a:p>
          <a:p>
            <a:pPr>
              <a:buNone/>
            </a:pPr>
            <a:r>
              <a:rPr lang="en-US" sz="4200" b="1" dirty="0"/>
              <a:t>(</a:t>
            </a:r>
            <a:r>
              <a:rPr lang="en-US" sz="4200" b="1" i="1" dirty="0"/>
              <a:t>v) The JFET must be operated between VGS and VGS (off). For this range of gate-to-source </a:t>
            </a:r>
            <a:r>
              <a:rPr lang="en-US" sz="4200" b="1" dirty="0"/>
              <a:t>voltages, </a:t>
            </a:r>
            <a:r>
              <a:rPr lang="en-US" sz="4200" b="1" i="1" dirty="0"/>
              <a:t>ID will vary from a maximum of IDSS to a minimum of almost zero.</a:t>
            </a:r>
          </a:p>
          <a:p>
            <a:pPr>
              <a:buNone/>
            </a:pPr>
            <a:r>
              <a:rPr lang="en-US" sz="4200" b="1" dirty="0"/>
              <a:t>(</a:t>
            </a:r>
            <a:r>
              <a:rPr lang="en-US" sz="4200" b="1" i="1" dirty="0"/>
              <a:t>vi) Because the two gates are at the same potential, both depletion layers widen or narrow </a:t>
            </a:r>
            <a:r>
              <a:rPr lang="en-US" sz="4200" b="1" dirty="0"/>
              <a:t>down by an equal amount.</a:t>
            </a:r>
          </a:p>
          <a:p>
            <a:pPr>
              <a:buNone/>
            </a:pPr>
            <a:r>
              <a:rPr lang="en-US" sz="4200" b="1" dirty="0"/>
              <a:t>(</a:t>
            </a:r>
            <a:r>
              <a:rPr lang="en-US" sz="4200" b="1" i="1" dirty="0"/>
              <a:t>vii) The JFET is not subjected to thermal runaway when the temperature of the device increases.</a:t>
            </a:r>
          </a:p>
          <a:p>
            <a:pPr>
              <a:buNone/>
            </a:pPr>
            <a:r>
              <a:rPr lang="en-US" sz="4200" b="1" dirty="0"/>
              <a:t>(</a:t>
            </a:r>
            <a:r>
              <a:rPr lang="en-US" sz="4200" b="1" i="1" dirty="0"/>
              <a:t>viii) The drain current ID is controlled by changing the channel width.</a:t>
            </a:r>
          </a:p>
          <a:p>
            <a:pPr>
              <a:buNone/>
            </a:pPr>
            <a:r>
              <a:rPr lang="en-US" sz="4200" b="1" dirty="0"/>
              <a:t>(</a:t>
            </a:r>
            <a:r>
              <a:rPr lang="en-US" sz="4200" b="1" i="1" dirty="0"/>
              <a:t>ix) Since JFET has no gate current, there is no β rating of the device. We can find drain current</a:t>
            </a:r>
          </a:p>
          <a:p>
            <a:pPr>
              <a:buNone/>
            </a:pPr>
            <a:endParaRPr lang="en-US" sz="4200" dirty="0"/>
          </a:p>
        </p:txBody>
      </p:sp>
      <p:sp>
        <p:nvSpPr>
          <p:cNvPr id="4" name="Slide Number Placeholder 3"/>
          <p:cNvSpPr>
            <a:spLocks noGrp="1"/>
          </p:cNvSpPr>
          <p:nvPr>
            <p:ph type="sldNum" sz="quarter" idx="12"/>
          </p:nvPr>
        </p:nvSpPr>
        <p:spPr/>
        <p:txBody>
          <a:bodyPr/>
          <a:lstStyle/>
          <a:p>
            <a:fld id="{FA930017-089C-4B04-9152-CFCB1CDC61B1}" type="slidenum">
              <a:rPr lang="en-US" smtClean="0"/>
              <a:pPr/>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668963"/>
          </a:xfrm>
        </p:spPr>
        <p:txBody>
          <a:bodyPr/>
          <a:lstStyle/>
          <a:p>
            <a:pPr>
              <a:buNone/>
            </a:pPr>
            <a:r>
              <a:rPr lang="en-US" b="1" dirty="0"/>
              <a:t>Important Terms</a:t>
            </a:r>
          </a:p>
          <a:p>
            <a:pPr>
              <a:buNone/>
            </a:pPr>
            <a:r>
              <a:rPr lang="en-US" dirty="0"/>
              <a:t>In the analysis of a </a:t>
            </a:r>
            <a:r>
              <a:rPr lang="en-US" i="1" dirty="0"/>
              <a:t>JFET circuit, the following important terms are often used :</a:t>
            </a:r>
          </a:p>
          <a:p>
            <a:pPr>
              <a:buNone/>
            </a:pPr>
            <a:r>
              <a:rPr lang="en-US" b="1" dirty="0"/>
              <a:t>1. Shorted-gate drain current (</a:t>
            </a:r>
            <a:r>
              <a:rPr lang="en-US" b="1" i="1" dirty="0"/>
              <a:t>IDSS)</a:t>
            </a:r>
          </a:p>
          <a:p>
            <a:pPr>
              <a:buNone/>
            </a:pPr>
            <a:r>
              <a:rPr lang="en-US" b="1" dirty="0"/>
              <a:t>2. Pinch off voltage (</a:t>
            </a:r>
            <a:r>
              <a:rPr lang="en-US" b="1" i="1" dirty="0"/>
              <a:t>VP)</a:t>
            </a:r>
          </a:p>
          <a:p>
            <a:pPr>
              <a:buNone/>
            </a:pPr>
            <a:r>
              <a:rPr lang="en-US" b="1" dirty="0"/>
              <a:t>3. Gate-source cut off voltage [</a:t>
            </a:r>
            <a:r>
              <a:rPr lang="en-US" b="1" i="1" dirty="0"/>
              <a:t>VGS (off)]</a:t>
            </a:r>
            <a:endParaRPr lang="en-US" dirty="0"/>
          </a:p>
        </p:txBody>
      </p:sp>
      <p:sp>
        <p:nvSpPr>
          <p:cNvPr id="4" name="Slide Number Placeholder 3"/>
          <p:cNvSpPr>
            <a:spLocks noGrp="1"/>
          </p:cNvSpPr>
          <p:nvPr>
            <p:ph type="sldNum" sz="quarter" idx="12"/>
          </p:nvPr>
        </p:nvSpPr>
        <p:spPr/>
        <p:txBody>
          <a:bodyPr/>
          <a:lstStyle/>
          <a:p>
            <a:fld id="{FA930017-089C-4B04-9152-CFCB1CDC61B1}" type="slidenum">
              <a:rPr lang="en-US" smtClean="0"/>
              <a:pPr/>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668963"/>
          </a:xfrm>
        </p:spPr>
        <p:txBody>
          <a:bodyPr>
            <a:normAutofit fontScale="77500" lnSpcReduction="20000"/>
          </a:bodyPr>
          <a:lstStyle/>
          <a:p>
            <a:pPr>
              <a:buNone/>
            </a:pPr>
            <a:r>
              <a:rPr lang="en-US" b="1" dirty="0"/>
              <a:t>1. Shorted-gate drain current (IDSS). </a:t>
            </a:r>
            <a:r>
              <a:rPr lang="en-US" b="1" i="1" dirty="0"/>
              <a:t>It is the drain current with source short-circuited to</a:t>
            </a:r>
          </a:p>
          <a:p>
            <a:pPr>
              <a:buNone/>
            </a:pPr>
            <a:r>
              <a:rPr lang="en-US" i="1" dirty="0"/>
              <a:t>gate (i.e. VGS = 0) and drain voltage (VDS) equal to pinch off voltage. It is sometimes called zero-bias</a:t>
            </a:r>
          </a:p>
          <a:p>
            <a:pPr>
              <a:buNone/>
            </a:pPr>
            <a:r>
              <a:rPr lang="en-US" i="1" dirty="0"/>
              <a:t>current.</a:t>
            </a:r>
          </a:p>
          <a:p>
            <a:pPr>
              <a:buNone/>
            </a:pPr>
            <a:r>
              <a:rPr lang="en-US" dirty="0"/>
              <a:t>Fig 19.9 shows the </a:t>
            </a:r>
            <a:r>
              <a:rPr lang="en-US" i="1" dirty="0"/>
              <a:t>JFET circuit with VGS = 0 i.e., source shorted-circuited to gate. This is</a:t>
            </a:r>
          </a:p>
          <a:p>
            <a:pPr>
              <a:buNone/>
            </a:pPr>
            <a:r>
              <a:rPr lang="en-US" dirty="0"/>
              <a:t>normally called shorted-gate condition. Fig. 19.10 shows the graph between </a:t>
            </a:r>
            <a:r>
              <a:rPr lang="en-US" i="1" dirty="0"/>
              <a:t>ID and VDS for the</a:t>
            </a:r>
          </a:p>
          <a:p>
            <a:pPr>
              <a:buNone/>
            </a:pPr>
            <a:r>
              <a:rPr lang="en-US" dirty="0"/>
              <a:t>shorted gate condition. The drain current rises rapidly at first and then levels off at pinch off voltage</a:t>
            </a:r>
          </a:p>
          <a:p>
            <a:pPr>
              <a:buNone/>
            </a:pPr>
            <a:r>
              <a:rPr lang="en-US" i="1" dirty="0"/>
              <a:t>VP. The drain current has now reached the maximum value IDSS. When VDS is increased beyond VP,</a:t>
            </a:r>
          </a:p>
          <a:p>
            <a:pPr>
              <a:buNone/>
            </a:pPr>
            <a:r>
              <a:rPr lang="en-US" dirty="0"/>
              <a:t>the depletion layers expand at the top of the channel. The channel now acts as a current limiter and</a:t>
            </a:r>
          </a:p>
          <a:p>
            <a:pPr>
              <a:buNone/>
            </a:pPr>
            <a:r>
              <a:rPr lang="fr-FR" dirty="0"/>
              <a:t>**holds drain current constant  </a:t>
            </a:r>
            <a:r>
              <a:rPr lang="fr-FR" dirty="0" err="1"/>
              <a:t>at</a:t>
            </a:r>
            <a:r>
              <a:rPr lang="fr-FR" dirty="0"/>
              <a:t>  </a:t>
            </a:r>
            <a:r>
              <a:rPr lang="fr-FR" i="1" dirty="0"/>
              <a:t>IDSS.</a:t>
            </a:r>
            <a:endParaRPr lang="en-US" dirty="0"/>
          </a:p>
        </p:txBody>
      </p:sp>
      <p:sp>
        <p:nvSpPr>
          <p:cNvPr id="4" name="Slide Number Placeholder 3"/>
          <p:cNvSpPr>
            <a:spLocks noGrp="1"/>
          </p:cNvSpPr>
          <p:nvPr>
            <p:ph type="sldNum" sz="quarter" idx="12"/>
          </p:nvPr>
        </p:nvSpPr>
        <p:spPr/>
        <p:txBody>
          <a:bodyPr/>
          <a:lstStyle/>
          <a:p>
            <a:fld id="{FA930017-089C-4B04-9152-CFCB1CDC61B1}" type="slidenum">
              <a:rPr lang="en-US" smtClean="0"/>
              <a:pPr/>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normAutofit fontScale="85000" lnSpcReduction="20000"/>
          </a:bodyPr>
          <a:lstStyle/>
          <a:p>
            <a:pPr>
              <a:buNone/>
            </a:pPr>
            <a:r>
              <a:rPr lang="en-US" b="1" dirty="0"/>
              <a:t>2. Pinch off Voltage (VP). </a:t>
            </a:r>
            <a:r>
              <a:rPr lang="en-US" b="1" i="1" dirty="0"/>
              <a:t>It is the minimum drain-source voltage at which the drain current essentially becomes constant.</a:t>
            </a:r>
          </a:p>
          <a:p>
            <a:pPr>
              <a:buNone/>
            </a:pPr>
            <a:r>
              <a:rPr lang="en-US" dirty="0"/>
              <a:t>Figure Fig 7 shows the drain curves of a </a:t>
            </a:r>
            <a:r>
              <a:rPr lang="en-US" i="1" dirty="0"/>
              <a:t>JFET. Note that pinch off voltage is VP. The</a:t>
            </a:r>
          </a:p>
          <a:p>
            <a:pPr>
              <a:buNone/>
            </a:pPr>
            <a:r>
              <a:rPr lang="en-US" dirty="0"/>
              <a:t>highest curve is for </a:t>
            </a:r>
            <a:r>
              <a:rPr lang="en-US" i="1" dirty="0"/>
              <a:t>VGS = 0V, the shorted-gate condition. For values of VDS greater than VP, the</a:t>
            </a:r>
          </a:p>
          <a:p>
            <a:pPr>
              <a:buNone/>
            </a:pPr>
            <a:r>
              <a:rPr lang="en-US" dirty="0"/>
              <a:t>drain current is almost constant. It is because when </a:t>
            </a:r>
            <a:r>
              <a:rPr lang="en-US" i="1" dirty="0"/>
              <a:t>VDS equals VP, the channel is effectively</a:t>
            </a:r>
          </a:p>
          <a:p>
            <a:pPr>
              <a:buNone/>
            </a:pPr>
            <a:r>
              <a:rPr lang="en-US" dirty="0"/>
              <a:t>closed and does not allow further increase in drain current. It may be noted that for proper</a:t>
            </a:r>
          </a:p>
          <a:p>
            <a:pPr>
              <a:buNone/>
            </a:pPr>
            <a:r>
              <a:rPr lang="en-US" dirty="0"/>
              <a:t>function of </a:t>
            </a:r>
            <a:r>
              <a:rPr lang="en-US" i="1" dirty="0"/>
              <a:t>JFET, it is always operated for VDS &gt; VP. However, VDS should not exceed VDS (max)</a:t>
            </a:r>
          </a:p>
          <a:p>
            <a:pPr>
              <a:buNone/>
            </a:pPr>
            <a:r>
              <a:rPr lang="en-US" dirty="0"/>
              <a:t>otherwise </a:t>
            </a:r>
            <a:r>
              <a:rPr lang="en-US" i="1" dirty="0"/>
              <a:t>JFET may breakdown.</a:t>
            </a:r>
            <a:endParaRPr lang="en-US" dirty="0"/>
          </a:p>
        </p:txBody>
      </p:sp>
      <p:sp>
        <p:nvSpPr>
          <p:cNvPr id="4" name="Slide Number Placeholder 3"/>
          <p:cNvSpPr>
            <a:spLocks noGrp="1"/>
          </p:cNvSpPr>
          <p:nvPr>
            <p:ph type="sldNum" sz="quarter" idx="12"/>
          </p:nvPr>
        </p:nvSpPr>
        <p:spPr/>
        <p:txBody>
          <a:bodyPr/>
          <a:lstStyle/>
          <a:p>
            <a:fld id="{FA930017-089C-4B04-9152-CFCB1CDC61B1}" type="slidenum">
              <a:rPr lang="en-US" smtClean="0"/>
              <a:pPr/>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Grp="1" noChangeAspect="1" noChangeArrowheads="1"/>
          </p:cNvPicPr>
          <p:nvPr>
            <p:ph idx="1"/>
          </p:nvPr>
        </p:nvPicPr>
        <p:blipFill>
          <a:blip r:embed="rId2"/>
          <a:srcRect/>
          <a:stretch>
            <a:fillRect/>
          </a:stretch>
        </p:blipFill>
        <p:spPr bwMode="auto">
          <a:xfrm>
            <a:off x="685800" y="533400"/>
            <a:ext cx="7315200" cy="3200400"/>
          </a:xfrm>
          <a:prstGeom prst="rect">
            <a:avLst/>
          </a:prstGeom>
          <a:noFill/>
          <a:ln w="9525">
            <a:noFill/>
            <a:miter lim="800000"/>
            <a:headEnd/>
            <a:tailEnd/>
          </a:ln>
          <a:effectLst/>
        </p:spPr>
      </p:pic>
      <p:sp>
        <p:nvSpPr>
          <p:cNvPr id="3" name="Slide Number Placeholder 2"/>
          <p:cNvSpPr>
            <a:spLocks noGrp="1"/>
          </p:cNvSpPr>
          <p:nvPr>
            <p:ph type="sldNum" sz="quarter" idx="12"/>
          </p:nvPr>
        </p:nvSpPr>
        <p:spPr/>
        <p:txBody>
          <a:bodyPr/>
          <a:lstStyle/>
          <a:p>
            <a:fld id="{FA930017-089C-4B04-9152-CFCB1CDC61B1}" type="slidenum">
              <a:rPr lang="en-US" smtClean="0"/>
              <a:pPr/>
              <a:t>61</a:t>
            </a:fld>
            <a:endParaRPr lang="en-US"/>
          </a:p>
        </p:txBody>
      </p:sp>
      <p:sp>
        <p:nvSpPr>
          <p:cNvPr id="4" name="TextBox 3"/>
          <p:cNvSpPr txBox="1"/>
          <p:nvPr/>
        </p:nvSpPr>
        <p:spPr>
          <a:xfrm>
            <a:off x="4038600" y="3962400"/>
            <a:ext cx="622286" cy="369332"/>
          </a:xfrm>
          <a:prstGeom prst="rect">
            <a:avLst/>
          </a:prstGeom>
          <a:noFill/>
        </p:spPr>
        <p:txBody>
          <a:bodyPr wrap="none" rtlCol="0">
            <a:spAutoFit/>
          </a:bodyPr>
          <a:lstStyle/>
          <a:p>
            <a:r>
              <a:rPr lang="en-US" dirty="0"/>
              <a:t>Fig 7</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943600"/>
          </a:xfrm>
        </p:spPr>
        <p:txBody>
          <a:bodyPr>
            <a:noAutofit/>
          </a:bodyPr>
          <a:lstStyle/>
          <a:p>
            <a:pPr>
              <a:buNone/>
            </a:pPr>
            <a:r>
              <a:rPr lang="en-US" sz="2800" b="1" dirty="0"/>
              <a:t>3. Gate-source cut off voltage VGS (off). </a:t>
            </a:r>
            <a:r>
              <a:rPr lang="en-US" sz="2800" b="1" i="1" dirty="0"/>
              <a:t>It is the gate-source voltage where the channel is completely cut off and </a:t>
            </a:r>
            <a:r>
              <a:rPr lang="en-US" sz="2800" b="1" dirty="0"/>
              <a:t>the drain current becomes zero.</a:t>
            </a:r>
          </a:p>
          <a:p>
            <a:pPr>
              <a:buNone/>
            </a:pPr>
            <a:r>
              <a:rPr lang="en-US" sz="1800" dirty="0"/>
              <a:t>The idea of gate-source cut off voltage can be easily understood if we refer to the transfer characteristic of a </a:t>
            </a:r>
            <a:r>
              <a:rPr lang="en-US" sz="1800" i="1" dirty="0"/>
              <a:t>JFET shown in Fig. 7. As the reverse gate-source voltage is increased, the </a:t>
            </a:r>
            <a:r>
              <a:rPr lang="en-US" sz="1800" i="1" dirty="0" err="1"/>
              <a:t>crosssectional</a:t>
            </a:r>
            <a:r>
              <a:rPr lang="en-US" sz="1800" i="1" dirty="0"/>
              <a:t> </a:t>
            </a:r>
            <a:r>
              <a:rPr lang="en-US" sz="1800" dirty="0"/>
              <a:t>area of the channel decreases. This in turn decreases the drain current. At some reverse gate-source voltage, the depletion layers extend completely across the channel. In this condition, the channel is cut off and the drain current reduces to zero. The gate voltage at which the channel is cut off (</a:t>
            </a:r>
            <a:r>
              <a:rPr lang="en-US" sz="1800" i="1" dirty="0"/>
              <a:t>i.e. channel becomes non-conducting) is called gate-source cut off voltage VGS (off). </a:t>
            </a:r>
            <a:r>
              <a:rPr lang="en-US" sz="1800" b="1" dirty="0"/>
              <a:t>Notes </a:t>
            </a:r>
          </a:p>
          <a:p>
            <a:pPr>
              <a:buNone/>
            </a:pPr>
            <a:r>
              <a:rPr lang="en-US" sz="1800" b="1" dirty="0"/>
              <a:t>(</a:t>
            </a:r>
            <a:r>
              <a:rPr lang="en-US" sz="1800" b="1" i="1" dirty="0" err="1"/>
              <a:t>i</a:t>
            </a:r>
            <a:r>
              <a:rPr lang="en-US" sz="1800" b="1" i="1" dirty="0"/>
              <a:t>) It is interesting to note that VGS (off) will always have the same magnitude value as VP.</a:t>
            </a:r>
          </a:p>
          <a:p>
            <a:pPr>
              <a:buNone/>
            </a:pPr>
            <a:r>
              <a:rPr lang="en-US" sz="1800" dirty="0"/>
              <a:t>For example if </a:t>
            </a:r>
            <a:r>
              <a:rPr lang="en-US" sz="1800" i="1" dirty="0"/>
              <a:t>VP = 6 V, then VGS (off) = − 6 V. Since these two values are always equal and </a:t>
            </a:r>
            <a:r>
              <a:rPr lang="en-US" sz="1800" dirty="0"/>
              <a:t>opposite, only one is listed on the specification sheet for a given </a:t>
            </a:r>
            <a:r>
              <a:rPr lang="en-US" sz="1800" i="1" dirty="0"/>
              <a:t>JFET.</a:t>
            </a:r>
          </a:p>
          <a:p>
            <a:pPr>
              <a:buNone/>
            </a:pPr>
            <a:r>
              <a:rPr lang="en-US" sz="1800" b="1" dirty="0"/>
              <a:t>(</a:t>
            </a:r>
            <a:r>
              <a:rPr lang="en-US" sz="1800" b="1" i="1" dirty="0"/>
              <a:t>ii) There is a distinct difference between VP and VGS (off). Note that VP is the value of VDS that </a:t>
            </a:r>
            <a:r>
              <a:rPr lang="en-US" sz="1800" dirty="0"/>
              <a:t>causes the </a:t>
            </a:r>
            <a:r>
              <a:rPr lang="en-US" sz="1800" i="1" dirty="0"/>
              <a:t>JEFT to become a constant current device. It is measured at VGS = 0 V and will have a </a:t>
            </a:r>
            <a:r>
              <a:rPr lang="en-US" sz="1800" dirty="0"/>
              <a:t>constant drain current = </a:t>
            </a:r>
            <a:r>
              <a:rPr lang="en-US" sz="1800" i="1" dirty="0"/>
              <a:t>IDSS. However, VGS (off) is the value of VGS that causes ID to drop to nearly </a:t>
            </a:r>
            <a:r>
              <a:rPr lang="en-US" sz="1800" dirty="0"/>
              <a:t>zero.</a:t>
            </a:r>
          </a:p>
        </p:txBody>
      </p:sp>
      <p:sp>
        <p:nvSpPr>
          <p:cNvPr id="4" name="Slide Number Placeholder 3"/>
          <p:cNvSpPr>
            <a:spLocks noGrp="1"/>
          </p:cNvSpPr>
          <p:nvPr>
            <p:ph type="sldNum" sz="quarter" idx="12"/>
          </p:nvPr>
        </p:nvSpPr>
        <p:spPr/>
        <p:txBody>
          <a:bodyPr/>
          <a:lstStyle/>
          <a:p>
            <a:fld id="{FA930017-089C-4B04-9152-CFCB1CDC61B1}" type="slidenum">
              <a:rPr lang="en-US" smtClean="0"/>
              <a:pPr/>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lstStyle/>
          <a:p>
            <a:pPr>
              <a:buNone/>
            </a:pPr>
            <a:r>
              <a:rPr lang="en-US" b="1" dirty="0"/>
              <a:t>Expression for Drain Current (ID)</a:t>
            </a:r>
          </a:p>
          <a:p>
            <a:pPr>
              <a:buNone/>
            </a:pPr>
            <a:r>
              <a:rPr lang="en-US" dirty="0"/>
              <a:t>The relation between </a:t>
            </a:r>
            <a:r>
              <a:rPr lang="en-US" i="1" dirty="0"/>
              <a:t>IDSS and VP is shown in Fig. 8. We note that gate-source cut off voltage [</a:t>
            </a:r>
            <a:r>
              <a:rPr lang="en-US" i="1" dirty="0" err="1"/>
              <a:t>i.e.VGS</a:t>
            </a:r>
            <a:r>
              <a:rPr lang="en-US" i="1" dirty="0"/>
              <a:t> (off)] on the transfer characteristic is equal to pinch off voltage VP on the drain characteristic i.e.</a:t>
            </a:r>
          </a:p>
          <a:p>
            <a:pPr>
              <a:buNone/>
            </a:pPr>
            <a:endParaRPr lang="en-US" dirty="0"/>
          </a:p>
        </p:txBody>
      </p:sp>
      <p:pic>
        <p:nvPicPr>
          <p:cNvPr id="10243" name="Picture 3"/>
          <p:cNvPicPr>
            <a:picLocks noChangeAspect="1" noChangeArrowheads="1"/>
          </p:cNvPicPr>
          <p:nvPr/>
        </p:nvPicPr>
        <p:blipFill>
          <a:blip r:embed="rId2"/>
          <a:srcRect/>
          <a:stretch>
            <a:fillRect/>
          </a:stretch>
        </p:blipFill>
        <p:spPr bwMode="auto">
          <a:xfrm>
            <a:off x="1905000" y="4191000"/>
            <a:ext cx="5105400" cy="1524000"/>
          </a:xfrm>
          <a:prstGeom prst="rect">
            <a:avLst/>
          </a:prstGeom>
          <a:noFill/>
          <a:ln w="9525">
            <a:noFill/>
            <a:miter lim="800000"/>
            <a:headEnd/>
            <a:tailEnd/>
          </a:ln>
          <a:effectLst/>
        </p:spPr>
      </p:pic>
      <p:sp>
        <p:nvSpPr>
          <p:cNvPr id="4" name="Slide Number Placeholder 3"/>
          <p:cNvSpPr>
            <a:spLocks noGrp="1"/>
          </p:cNvSpPr>
          <p:nvPr>
            <p:ph type="sldNum" sz="quarter" idx="12"/>
          </p:nvPr>
        </p:nvSpPr>
        <p:spPr/>
        <p:txBody>
          <a:bodyPr/>
          <a:lstStyle/>
          <a:p>
            <a:fld id="{FA930017-089C-4B04-9152-CFCB1CDC61B1}" type="slidenum">
              <a:rPr lang="en-US" smtClean="0"/>
              <a:pPr/>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p:cNvPicPr>
            <a:picLocks noGrp="1" noChangeAspect="1" noChangeArrowheads="1"/>
          </p:cNvPicPr>
          <p:nvPr>
            <p:ph idx="1"/>
          </p:nvPr>
        </p:nvPicPr>
        <p:blipFill>
          <a:blip r:embed="rId2"/>
          <a:srcRect/>
          <a:stretch>
            <a:fillRect/>
          </a:stretch>
        </p:blipFill>
        <p:spPr bwMode="auto">
          <a:xfrm>
            <a:off x="457200" y="228600"/>
            <a:ext cx="7239000" cy="3276600"/>
          </a:xfrm>
          <a:prstGeom prst="rect">
            <a:avLst/>
          </a:prstGeom>
          <a:noFill/>
          <a:ln w="9525">
            <a:noFill/>
            <a:miter lim="800000"/>
            <a:headEnd/>
            <a:tailEnd/>
          </a:ln>
          <a:effectLst/>
        </p:spPr>
      </p:pic>
      <p:pic>
        <p:nvPicPr>
          <p:cNvPr id="11267" name="Picture 3"/>
          <p:cNvPicPr>
            <a:picLocks noChangeAspect="1" noChangeArrowheads="1"/>
          </p:cNvPicPr>
          <p:nvPr/>
        </p:nvPicPr>
        <p:blipFill>
          <a:blip r:embed="rId3"/>
          <a:srcRect/>
          <a:stretch>
            <a:fillRect/>
          </a:stretch>
        </p:blipFill>
        <p:spPr bwMode="auto">
          <a:xfrm>
            <a:off x="2438400" y="3733800"/>
            <a:ext cx="4991100" cy="2590800"/>
          </a:xfrm>
          <a:prstGeom prst="rect">
            <a:avLst/>
          </a:prstGeom>
          <a:noFill/>
          <a:ln w="9525">
            <a:noFill/>
            <a:miter lim="800000"/>
            <a:headEnd/>
            <a:tailEnd/>
          </a:ln>
          <a:effectLst/>
        </p:spPr>
      </p:pic>
      <p:sp>
        <p:nvSpPr>
          <p:cNvPr id="4" name="Slide Number Placeholder 3"/>
          <p:cNvSpPr>
            <a:spLocks noGrp="1"/>
          </p:cNvSpPr>
          <p:nvPr>
            <p:ph type="sldNum" sz="quarter" idx="12"/>
          </p:nvPr>
        </p:nvSpPr>
        <p:spPr/>
        <p:txBody>
          <a:bodyPr/>
          <a:lstStyle/>
          <a:p>
            <a:fld id="{FA930017-089C-4B04-9152-CFCB1CDC61B1}" type="slidenum">
              <a:rPr lang="en-US" smtClean="0"/>
              <a:pPr/>
              <a:t>64</a:t>
            </a:fld>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458</TotalTime>
  <Words>3372</Words>
  <Application>Microsoft Office PowerPoint</Application>
  <PresentationFormat>On-screen Show (4:3)</PresentationFormat>
  <Paragraphs>254</Paragraphs>
  <Slides>64</Slides>
  <Notes>0</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64</vt:i4>
      </vt:variant>
    </vt:vector>
  </HeadingPairs>
  <TitlesOfParts>
    <vt:vector size="71" baseType="lpstr">
      <vt:lpstr>Arial</vt:lpstr>
      <vt:lpstr>Arial Black</vt:lpstr>
      <vt:lpstr>Calibri</vt:lpstr>
      <vt:lpstr>Times New Roman</vt:lpstr>
      <vt:lpstr>Verdana</vt:lpstr>
      <vt:lpstr>Office Theme</vt:lpstr>
      <vt:lpstr>Equation</vt:lpstr>
      <vt:lpstr>L3 Field Effect Transistors</vt:lpstr>
      <vt:lpstr>FET ( Field Effect Transistor)</vt:lpstr>
      <vt:lpstr>Types of Field Effect Transistors  (The Classification)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JFET Transfer Curve This graph shows the value of ID for a given value of VGS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MOSFET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Biasing Circuits used for JFET</vt:lpstr>
      <vt:lpstr>JFET (n-channel) Biasing Circuits</vt:lpstr>
      <vt:lpstr>JFET Biasing Circuits Count…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L7 Field Effect Transistors</dc:title>
  <dc:creator>as</dc:creator>
  <cp:lastModifiedBy>User</cp:lastModifiedBy>
  <cp:revision>77</cp:revision>
  <dcterms:created xsi:type="dcterms:W3CDTF">2016-12-23T05:18:45Z</dcterms:created>
  <dcterms:modified xsi:type="dcterms:W3CDTF">2023-04-05T05:08:28Z</dcterms:modified>
</cp:coreProperties>
</file>