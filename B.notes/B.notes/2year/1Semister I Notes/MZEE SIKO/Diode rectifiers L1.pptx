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2"/>
  </p:notesMasterIdLst>
  <p:handoutMasterIdLst>
    <p:handoutMasterId r:id="rId33"/>
  </p:handoutMasterIdLst>
  <p:sldIdLst>
    <p:sldId id="321" r:id="rId2"/>
    <p:sldId id="278" r:id="rId3"/>
    <p:sldId id="279" r:id="rId4"/>
    <p:sldId id="275" r:id="rId5"/>
    <p:sldId id="261" r:id="rId6"/>
    <p:sldId id="263" r:id="rId7"/>
    <p:sldId id="264" r:id="rId8"/>
    <p:sldId id="295" r:id="rId9"/>
    <p:sldId id="296" r:id="rId10"/>
    <p:sldId id="297" r:id="rId11"/>
    <p:sldId id="298" r:id="rId12"/>
    <p:sldId id="299" r:id="rId13"/>
    <p:sldId id="300" r:id="rId14"/>
    <p:sldId id="276" r:id="rId15"/>
    <p:sldId id="323" r:id="rId16"/>
    <p:sldId id="302" r:id="rId17"/>
    <p:sldId id="317" r:id="rId18"/>
    <p:sldId id="266" r:id="rId19"/>
    <p:sldId id="303" r:id="rId20"/>
    <p:sldId id="304" r:id="rId21"/>
    <p:sldId id="305" r:id="rId22"/>
    <p:sldId id="306" r:id="rId23"/>
    <p:sldId id="265" r:id="rId24"/>
    <p:sldId id="269" r:id="rId25"/>
    <p:sldId id="270" r:id="rId26"/>
    <p:sldId id="271" r:id="rId27"/>
    <p:sldId id="272" r:id="rId28"/>
    <p:sldId id="273" r:id="rId29"/>
    <p:sldId id="319" r:id="rId30"/>
    <p:sldId id="32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5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gi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0F1E5-D7AA-4055-8BE1-4D0F5463EA8C}" type="doc">
      <dgm:prSet loTypeId="urn:microsoft.com/office/officeart/2005/8/layout/hList7#1" loCatId="list" qsTypeId="urn:microsoft.com/office/officeart/2005/8/quickstyle/3d1" qsCatId="3D" csTypeId="urn:microsoft.com/office/officeart/2005/8/colors/colorful5" csCatId="colorful" phldr="1"/>
      <dgm:spPr/>
    </dgm:pt>
    <dgm:pt modelId="{F6D3E502-8067-4CFC-89AE-0D2E379013EF}">
      <dgm:prSet phldrT="[Text]" custT="1"/>
      <dgm:spPr/>
      <dgm:t>
        <a:bodyPr/>
        <a:lstStyle/>
        <a:p>
          <a:pPr algn="ctr"/>
          <a:r>
            <a:rPr lang="en-GB" sz="2400" b="1" dirty="0"/>
            <a:t>Half wave Rectifier</a:t>
          </a:r>
        </a:p>
      </dgm:t>
    </dgm:pt>
    <dgm:pt modelId="{BF8C99F8-F342-4515-BFA8-1482D6E0B141}" type="parTrans" cxnId="{5F7526D2-0D34-454E-B97A-0F636B60A1AA}">
      <dgm:prSet/>
      <dgm:spPr/>
      <dgm:t>
        <a:bodyPr/>
        <a:lstStyle/>
        <a:p>
          <a:endParaRPr lang="en-GB"/>
        </a:p>
      </dgm:t>
    </dgm:pt>
    <dgm:pt modelId="{614E9058-FA30-4F45-9A02-0AAA1FCAAF62}" type="sibTrans" cxnId="{5F7526D2-0D34-454E-B97A-0F636B60A1AA}">
      <dgm:prSet/>
      <dgm:spPr/>
      <dgm:t>
        <a:bodyPr/>
        <a:lstStyle/>
        <a:p>
          <a:endParaRPr lang="en-GB"/>
        </a:p>
      </dgm:t>
    </dgm:pt>
    <dgm:pt modelId="{C4D77D43-ABB4-4E6F-BEE7-3E179AEADB50}">
      <dgm:prSet phldrT="[Text]" custT="1"/>
      <dgm:spPr/>
      <dgm:t>
        <a:bodyPr/>
        <a:lstStyle/>
        <a:p>
          <a:pPr algn="ctr"/>
          <a:r>
            <a:rPr lang="en-GB" sz="2400" dirty="0"/>
            <a:t>Full wave Rectifier</a:t>
          </a:r>
        </a:p>
      </dgm:t>
    </dgm:pt>
    <dgm:pt modelId="{9A95AB04-FB83-4634-BAFF-D5200D0EBE14}" type="parTrans" cxnId="{30765A0D-E1AD-4BE7-ADD3-FA74B27C528F}">
      <dgm:prSet/>
      <dgm:spPr/>
      <dgm:t>
        <a:bodyPr/>
        <a:lstStyle/>
        <a:p>
          <a:endParaRPr lang="en-US"/>
        </a:p>
      </dgm:t>
    </dgm:pt>
    <dgm:pt modelId="{C9CCEDF6-A421-4EA3-97BF-3F4489D90975}" type="sibTrans" cxnId="{30765A0D-E1AD-4BE7-ADD3-FA74B27C528F}">
      <dgm:prSet/>
      <dgm:spPr/>
      <dgm:t>
        <a:bodyPr/>
        <a:lstStyle/>
        <a:p>
          <a:endParaRPr lang="en-US"/>
        </a:p>
      </dgm:t>
    </dgm:pt>
    <dgm:pt modelId="{C1A6982E-6599-4B51-945C-E6EF6261CED8}">
      <dgm:prSet phldrT="[Text]" custT="1"/>
      <dgm:spPr/>
      <dgm:t>
        <a:bodyPr/>
        <a:lstStyle/>
        <a:p>
          <a:pPr algn="ctr"/>
          <a:r>
            <a:rPr lang="en-GB" sz="2400" dirty="0"/>
            <a:t>Bridge Rectifier</a:t>
          </a:r>
        </a:p>
      </dgm:t>
    </dgm:pt>
    <dgm:pt modelId="{5A9D1F0A-5586-4627-A070-F8D66E4314E4}" type="parTrans" cxnId="{76F2D103-1685-4F73-AB46-C49FFCCDC8C4}">
      <dgm:prSet/>
      <dgm:spPr/>
      <dgm:t>
        <a:bodyPr/>
        <a:lstStyle/>
        <a:p>
          <a:endParaRPr lang="en-US"/>
        </a:p>
      </dgm:t>
    </dgm:pt>
    <dgm:pt modelId="{C1BD6A33-1496-4CBB-9A24-271A7BC1B892}" type="sibTrans" cxnId="{76F2D103-1685-4F73-AB46-C49FFCCDC8C4}">
      <dgm:prSet/>
      <dgm:spPr/>
      <dgm:t>
        <a:bodyPr/>
        <a:lstStyle/>
        <a:p>
          <a:endParaRPr lang="en-US"/>
        </a:p>
      </dgm:t>
    </dgm:pt>
    <dgm:pt modelId="{7D2C670E-9AE7-44BE-A0CD-0225FBFD9D00}" type="pres">
      <dgm:prSet presAssocID="{6CB0F1E5-D7AA-4055-8BE1-4D0F5463EA8C}" presName="Name0" presStyleCnt="0">
        <dgm:presLayoutVars>
          <dgm:dir/>
          <dgm:resizeHandles val="exact"/>
        </dgm:presLayoutVars>
      </dgm:prSet>
      <dgm:spPr/>
    </dgm:pt>
    <dgm:pt modelId="{98BAEFD2-1F14-46F5-B924-9D6055E43C2A}" type="pres">
      <dgm:prSet presAssocID="{6CB0F1E5-D7AA-4055-8BE1-4D0F5463EA8C}" presName="fgShape" presStyleLbl="fgShp" presStyleIdx="0" presStyleCnt="1" custScaleX="81654" custScaleY="33333" custLinFactNeighborX="-226" custLinFactNeighborY="58333"/>
      <dgm:spPr/>
    </dgm:pt>
    <dgm:pt modelId="{1FE829AD-2213-40FC-9509-A22903DE88E6}" type="pres">
      <dgm:prSet presAssocID="{6CB0F1E5-D7AA-4055-8BE1-4D0F5463EA8C}" presName="linComp" presStyleCnt="0"/>
      <dgm:spPr/>
    </dgm:pt>
    <dgm:pt modelId="{CBCE66CF-8297-4495-B80F-1D572CF89C4B}" type="pres">
      <dgm:prSet presAssocID="{F6D3E502-8067-4CFC-89AE-0D2E379013EF}" presName="compNode" presStyleCnt="0"/>
      <dgm:spPr/>
    </dgm:pt>
    <dgm:pt modelId="{F3CFABE6-68D5-4DC3-9A1E-79FE09914C3A}" type="pres">
      <dgm:prSet presAssocID="{F6D3E502-8067-4CFC-89AE-0D2E379013EF}" presName="bkgdShape" presStyleLbl="node1" presStyleIdx="0" presStyleCnt="3" custLinFactNeighborX="-276"/>
      <dgm:spPr/>
      <dgm:t>
        <a:bodyPr/>
        <a:lstStyle/>
        <a:p>
          <a:endParaRPr lang="en-US"/>
        </a:p>
      </dgm:t>
    </dgm:pt>
    <dgm:pt modelId="{69E77281-A37C-43FC-9B98-DD138E89712B}" type="pres">
      <dgm:prSet presAssocID="{F6D3E502-8067-4CFC-89AE-0D2E379013EF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A18E20-265C-4F85-B5DF-517047F38A4E}" type="pres">
      <dgm:prSet presAssocID="{F6D3E502-8067-4CFC-89AE-0D2E379013EF}" presName="invisiNode" presStyleLbl="node1" presStyleIdx="0" presStyleCnt="3"/>
      <dgm:spPr/>
    </dgm:pt>
    <dgm:pt modelId="{A2932948-9B4D-48B8-A913-693D754768FA}" type="pres">
      <dgm:prSet presAssocID="{F6D3E502-8067-4CFC-89AE-0D2E379013EF}" presName="imagNode" presStyleLbl="fgImgPlace1" presStyleIdx="0" presStyleCnt="3" custLinFactNeighborY="-1051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5038FF5E-E611-4D32-B8CE-6DE1CE03FD4F}" type="pres">
      <dgm:prSet presAssocID="{614E9058-FA30-4F45-9A02-0AAA1FCAAF6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4A4E03C-0E62-4A98-A29B-6485054FCD5F}" type="pres">
      <dgm:prSet presAssocID="{C4D77D43-ABB4-4E6F-BEE7-3E179AEADB50}" presName="compNode" presStyleCnt="0"/>
      <dgm:spPr/>
    </dgm:pt>
    <dgm:pt modelId="{502D0133-CF0F-4FA4-826D-449F5D8EC2D0}" type="pres">
      <dgm:prSet presAssocID="{C4D77D43-ABB4-4E6F-BEE7-3E179AEADB50}" presName="bkgdShape" presStyleLbl="node1" presStyleIdx="1" presStyleCnt="3" custLinFactNeighborX="-503"/>
      <dgm:spPr/>
      <dgm:t>
        <a:bodyPr/>
        <a:lstStyle/>
        <a:p>
          <a:endParaRPr lang="en-US"/>
        </a:p>
      </dgm:t>
    </dgm:pt>
    <dgm:pt modelId="{743D379A-49FE-470B-B68D-FBDB46706078}" type="pres">
      <dgm:prSet presAssocID="{C4D77D43-ABB4-4E6F-BEE7-3E179AEADB50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29A74-C385-4D58-85F7-15DA612551C0}" type="pres">
      <dgm:prSet presAssocID="{C4D77D43-ABB4-4E6F-BEE7-3E179AEADB50}" presName="invisiNode" presStyleLbl="node1" presStyleIdx="1" presStyleCnt="3"/>
      <dgm:spPr/>
    </dgm:pt>
    <dgm:pt modelId="{FC24E95A-B859-4399-A282-29EB9EC8DA02}" type="pres">
      <dgm:prSet presAssocID="{C4D77D43-ABB4-4E6F-BEE7-3E179AEADB50}" presName="imagNode" presStyleLbl="fgImgPlace1" presStyleIdx="1" presStyleCnt="3" custLinFactNeighborY="-1051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5000" r="-135000"/>
          </a:stretch>
        </a:blipFill>
      </dgm:spPr>
    </dgm:pt>
    <dgm:pt modelId="{608798DC-5D8B-4D56-9414-25787AA6B171}" type="pres">
      <dgm:prSet presAssocID="{C9CCEDF6-A421-4EA3-97BF-3F4489D9097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D8739E5-3C2D-472E-96B6-ACE210405968}" type="pres">
      <dgm:prSet presAssocID="{C1A6982E-6599-4B51-945C-E6EF6261CED8}" presName="compNode" presStyleCnt="0"/>
      <dgm:spPr/>
    </dgm:pt>
    <dgm:pt modelId="{FC2BFFED-6801-4046-8BB5-4A486D52B65B}" type="pres">
      <dgm:prSet presAssocID="{C1A6982E-6599-4B51-945C-E6EF6261CED8}" presName="bkgdShape" presStyleLbl="node1" presStyleIdx="2" presStyleCnt="3" custLinFactNeighborX="19498" custLinFactNeighborY="6250"/>
      <dgm:spPr/>
      <dgm:t>
        <a:bodyPr/>
        <a:lstStyle/>
        <a:p>
          <a:endParaRPr lang="en-US"/>
        </a:p>
      </dgm:t>
    </dgm:pt>
    <dgm:pt modelId="{13E550D0-D99B-4B63-8628-446F7FE987B7}" type="pres">
      <dgm:prSet presAssocID="{C1A6982E-6599-4B51-945C-E6EF6261CED8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2C294D-F8DA-4B18-94CE-94DFD08EAFFC}" type="pres">
      <dgm:prSet presAssocID="{C1A6982E-6599-4B51-945C-E6EF6261CED8}" presName="invisiNode" presStyleLbl="node1" presStyleIdx="2" presStyleCnt="3"/>
      <dgm:spPr/>
    </dgm:pt>
    <dgm:pt modelId="{3B9115CC-CE25-4FC5-B637-8830C782BD11}" type="pres">
      <dgm:prSet presAssocID="{C1A6982E-6599-4B51-945C-E6EF6261CED8}" presName="imagNode" presStyleLbl="fgImgPlace1" presStyleIdx="2" presStyleCnt="3" custLinFactNeighborY="-252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</dgm:pt>
  </dgm:ptLst>
  <dgm:cxnLst>
    <dgm:cxn modelId="{30765A0D-E1AD-4BE7-ADD3-FA74B27C528F}" srcId="{6CB0F1E5-D7AA-4055-8BE1-4D0F5463EA8C}" destId="{C4D77D43-ABB4-4E6F-BEE7-3E179AEADB50}" srcOrd="1" destOrd="0" parTransId="{9A95AB04-FB83-4634-BAFF-D5200D0EBE14}" sibTransId="{C9CCEDF6-A421-4EA3-97BF-3F4489D90975}"/>
    <dgm:cxn modelId="{8BEF08AC-6F48-4943-AEFD-21E254EF0AB5}" type="presOf" srcId="{F6D3E502-8067-4CFC-89AE-0D2E379013EF}" destId="{F3CFABE6-68D5-4DC3-9A1E-79FE09914C3A}" srcOrd="0" destOrd="0" presId="urn:microsoft.com/office/officeart/2005/8/layout/hList7#1"/>
    <dgm:cxn modelId="{76F2D103-1685-4F73-AB46-C49FFCCDC8C4}" srcId="{6CB0F1E5-D7AA-4055-8BE1-4D0F5463EA8C}" destId="{C1A6982E-6599-4B51-945C-E6EF6261CED8}" srcOrd="2" destOrd="0" parTransId="{5A9D1F0A-5586-4627-A070-F8D66E4314E4}" sibTransId="{C1BD6A33-1496-4CBB-9A24-271A7BC1B892}"/>
    <dgm:cxn modelId="{53F9EBEB-AA2E-48E5-9CF3-27D995614FD0}" type="presOf" srcId="{F6D3E502-8067-4CFC-89AE-0D2E379013EF}" destId="{69E77281-A37C-43FC-9B98-DD138E89712B}" srcOrd="1" destOrd="0" presId="urn:microsoft.com/office/officeart/2005/8/layout/hList7#1"/>
    <dgm:cxn modelId="{796AD778-801A-4E4C-AC35-B9F2626CDCDB}" type="presOf" srcId="{C1A6982E-6599-4B51-945C-E6EF6261CED8}" destId="{13E550D0-D99B-4B63-8628-446F7FE987B7}" srcOrd="1" destOrd="0" presId="urn:microsoft.com/office/officeart/2005/8/layout/hList7#1"/>
    <dgm:cxn modelId="{AF7F2738-4732-42CE-AF99-B3A6AC62F481}" type="presOf" srcId="{C4D77D43-ABB4-4E6F-BEE7-3E179AEADB50}" destId="{743D379A-49FE-470B-B68D-FBDB46706078}" srcOrd="1" destOrd="0" presId="urn:microsoft.com/office/officeart/2005/8/layout/hList7#1"/>
    <dgm:cxn modelId="{3D3E932B-BE9D-4EED-895C-D62C9EA1CB5C}" type="presOf" srcId="{614E9058-FA30-4F45-9A02-0AAA1FCAAF62}" destId="{5038FF5E-E611-4D32-B8CE-6DE1CE03FD4F}" srcOrd="0" destOrd="0" presId="urn:microsoft.com/office/officeart/2005/8/layout/hList7#1"/>
    <dgm:cxn modelId="{5F7526D2-0D34-454E-B97A-0F636B60A1AA}" srcId="{6CB0F1E5-D7AA-4055-8BE1-4D0F5463EA8C}" destId="{F6D3E502-8067-4CFC-89AE-0D2E379013EF}" srcOrd="0" destOrd="0" parTransId="{BF8C99F8-F342-4515-BFA8-1482D6E0B141}" sibTransId="{614E9058-FA30-4F45-9A02-0AAA1FCAAF62}"/>
    <dgm:cxn modelId="{EF528F34-32D9-4B65-A0DD-91A45D5DFC49}" type="presOf" srcId="{C9CCEDF6-A421-4EA3-97BF-3F4489D90975}" destId="{608798DC-5D8B-4D56-9414-25787AA6B171}" srcOrd="0" destOrd="0" presId="urn:microsoft.com/office/officeart/2005/8/layout/hList7#1"/>
    <dgm:cxn modelId="{3CAD9B63-D2B1-4446-A657-5470DDCE86E2}" type="presOf" srcId="{6CB0F1E5-D7AA-4055-8BE1-4D0F5463EA8C}" destId="{7D2C670E-9AE7-44BE-A0CD-0225FBFD9D00}" srcOrd="0" destOrd="0" presId="urn:microsoft.com/office/officeart/2005/8/layout/hList7#1"/>
    <dgm:cxn modelId="{AFCB68E5-8608-4554-857D-4897C8296BD0}" type="presOf" srcId="{C4D77D43-ABB4-4E6F-BEE7-3E179AEADB50}" destId="{502D0133-CF0F-4FA4-826D-449F5D8EC2D0}" srcOrd="0" destOrd="0" presId="urn:microsoft.com/office/officeart/2005/8/layout/hList7#1"/>
    <dgm:cxn modelId="{802441BF-69A8-46A2-9820-40BF08552BDA}" type="presOf" srcId="{C1A6982E-6599-4B51-945C-E6EF6261CED8}" destId="{FC2BFFED-6801-4046-8BB5-4A486D52B65B}" srcOrd="0" destOrd="0" presId="urn:microsoft.com/office/officeart/2005/8/layout/hList7#1"/>
    <dgm:cxn modelId="{BE6AACA0-F7A8-4379-A66F-CFC6FA9407B3}" type="presParOf" srcId="{7D2C670E-9AE7-44BE-A0CD-0225FBFD9D00}" destId="{98BAEFD2-1F14-46F5-B924-9D6055E43C2A}" srcOrd="0" destOrd="0" presId="urn:microsoft.com/office/officeart/2005/8/layout/hList7#1"/>
    <dgm:cxn modelId="{37AB3167-2193-4733-9DCA-B20F256EC374}" type="presParOf" srcId="{7D2C670E-9AE7-44BE-A0CD-0225FBFD9D00}" destId="{1FE829AD-2213-40FC-9509-A22903DE88E6}" srcOrd="1" destOrd="0" presId="urn:microsoft.com/office/officeart/2005/8/layout/hList7#1"/>
    <dgm:cxn modelId="{7BE55B32-F1A4-4311-B476-2BD36C3DB8DE}" type="presParOf" srcId="{1FE829AD-2213-40FC-9509-A22903DE88E6}" destId="{CBCE66CF-8297-4495-B80F-1D572CF89C4B}" srcOrd="0" destOrd="0" presId="urn:microsoft.com/office/officeart/2005/8/layout/hList7#1"/>
    <dgm:cxn modelId="{91A4AE88-3186-4932-B9AF-8CD87CD92865}" type="presParOf" srcId="{CBCE66CF-8297-4495-B80F-1D572CF89C4B}" destId="{F3CFABE6-68D5-4DC3-9A1E-79FE09914C3A}" srcOrd="0" destOrd="0" presId="urn:microsoft.com/office/officeart/2005/8/layout/hList7#1"/>
    <dgm:cxn modelId="{E53ADAB7-F783-4A40-B696-68C6F1BCDAD0}" type="presParOf" srcId="{CBCE66CF-8297-4495-B80F-1D572CF89C4B}" destId="{69E77281-A37C-43FC-9B98-DD138E89712B}" srcOrd="1" destOrd="0" presId="urn:microsoft.com/office/officeart/2005/8/layout/hList7#1"/>
    <dgm:cxn modelId="{6A613871-2F42-4A5B-B300-E9E5130CD9F8}" type="presParOf" srcId="{CBCE66CF-8297-4495-B80F-1D572CF89C4B}" destId="{5FA18E20-265C-4F85-B5DF-517047F38A4E}" srcOrd="2" destOrd="0" presId="urn:microsoft.com/office/officeart/2005/8/layout/hList7#1"/>
    <dgm:cxn modelId="{0554A7D0-B60C-4696-8DE8-8EB9331898E0}" type="presParOf" srcId="{CBCE66CF-8297-4495-B80F-1D572CF89C4B}" destId="{A2932948-9B4D-48B8-A913-693D754768FA}" srcOrd="3" destOrd="0" presId="urn:microsoft.com/office/officeart/2005/8/layout/hList7#1"/>
    <dgm:cxn modelId="{B53C8C9F-79CD-484F-B617-8334927BDA7D}" type="presParOf" srcId="{1FE829AD-2213-40FC-9509-A22903DE88E6}" destId="{5038FF5E-E611-4D32-B8CE-6DE1CE03FD4F}" srcOrd="1" destOrd="0" presId="urn:microsoft.com/office/officeart/2005/8/layout/hList7#1"/>
    <dgm:cxn modelId="{321613A4-0D2F-4DD2-A39D-D85F21A26E8B}" type="presParOf" srcId="{1FE829AD-2213-40FC-9509-A22903DE88E6}" destId="{14A4E03C-0E62-4A98-A29B-6485054FCD5F}" srcOrd="2" destOrd="0" presId="urn:microsoft.com/office/officeart/2005/8/layout/hList7#1"/>
    <dgm:cxn modelId="{E15C214C-0AFD-4670-98FD-7A624726A677}" type="presParOf" srcId="{14A4E03C-0E62-4A98-A29B-6485054FCD5F}" destId="{502D0133-CF0F-4FA4-826D-449F5D8EC2D0}" srcOrd="0" destOrd="0" presId="urn:microsoft.com/office/officeart/2005/8/layout/hList7#1"/>
    <dgm:cxn modelId="{255B0D32-0879-439B-A414-75E236820750}" type="presParOf" srcId="{14A4E03C-0E62-4A98-A29B-6485054FCD5F}" destId="{743D379A-49FE-470B-B68D-FBDB46706078}" srcOrd="1" destOrd="0" presId="urn:microsoft.com/office/officeart/2005/8/layout/hList7#1"/>
    <dgm:cxn modelId="{6D8FF32E-CB7E-45FE-A14A-5FE72AEEE171}" type="presParOf" srcId="{14A4E03C-0E62-4A98-A29B-6485054FCD5F}" destId="{51529A74-C385-4D58-85F7-15DA612551C0}" srcOrd="2" destOrd="0" presId="urn:microsoft.com/office/officeart/2005/8/layout/hList7#1"/>
    <dgm:cxn modelId="{56D220BD-8496-4519-97C0-3AFEA83774BB}" type="presParOf" srcId="{14A4E03C-0E62-4A98-A29B-6485054FCD5F}" destId="{FC24E95A-B859-4399-A282-29EB9EC8DA02}" srcOrd="3" destOrd="0" presId="urn:microsoft.com/office/officeart/2005/8/layout/hList7#1"/>
    <dgm:cxn modelId="{2D2507A9-A126-4E34-8FF4-AA057F676F9C}" type="presParOf" srcId="{1FE829AD-2213-40FC-9509-A22903DE88E6}" destId="{608798DC-5D8B-4D56-9414-25787AA6B171}" srcOrd="3" destOrd="0" presId="urn:microsoft.com/office/officeart/2005/8/layout/hList7#1"/>
    <dgm:cxn modelId="{D6434E02-B5FB-4C32-B3D1-5347067FAEC3}" type="presParOf" srcId="{1FE829AD-2213-40FC-9509-A22903DE88E6}" destId="{DD8739E5-3C2D-472E-96B6-ACE210405968}" srcOrd="4" destOrd="0" presId="urn:microsoft.com/office/officeart/2005/8/layout/hList7#1"/>
    <dgm:cxn modelId="{A6CE4EF3-440C-41EB-BD5B-5D4C9C3DC14D}" type="presParOf" srcId="{DD8739E5-3C2D-472E-96B6-ACE210405968}" destId="{FC2BFFED-6801-4046-8BB5-4A486D52B65B}" srcOrd="0" destOrd="0" presId="urn:microsoft.com/office/officeart/2005/8/layout/hList7#1"/>
    <dgm:cxn modelId="{08136665-A44B-4CDA-AF00-FCEC564BB176}" type="presParOf" srcId="{DD8739E5-3C2D-472E-96B6-ACE210405968}" destId="{13E550D0-D99B-4B63-8628-446F7FE987B7}" srcOrd="1" destOrd="0" presId="urn:microsoft.com/office/officeart/2005/8/layout/hList7#1"/>
    <dgm:cxn modelId="{CEA0DA87-285A-4CF2-804B-335E40E6D873}" type="presParOf" srcId="{DD8739E5-3C2D-472E-96B6-ACE210405968}" destId="{5C2C294D-F8DA-4B18-94CE-94DFD08EAFFC}" srcOrd="2" destOrd="0" presId="urn:microsoft.com/office/officeart/2005/8/layout/hList7#1"/>
    <dgm:cxn modelId="{044BCF55-8CE9-4BFE-9E6B-331328D9786C}" type="presParOf" srcId="{DD8739E5-3C2D-472E-96B6-ACE210405968}" destId="{3B9115CC-CE25-4FC5-B637-8830C782BD11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FABE6-68D5-4DC3-9A1E-79FE09914C3A}">
      <dsp:nvSpPr>
        <dsp:cNvPr id="0" name=""/>
        <dsp:cNvSpPr/>
      </dsp:nvSpPr>
      <dsp:spPr>
        <a:xfrm>
          <a:off x="0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b="1" kern="1200" dirty="0"/>
            <a:t>Half wave Rectifier</a:t>
          </a:r>
        </a:p>
      </dsp:txBody>
      <dsp:txXfrm>
        <a:off x="0" y="2304256"/>
        <a:ext cx="2951863" cy="2304256"/>
      </dsp:txXfrm>
    </dsp:sp>
    <dsp:sp modelId="{A2932948-9B4D-48B8-A913-693D754768FA}">
      <dsp:nvSpPr>
        <dsp:cNvPr id="0" name=""/>
        <dsp:cNvSpPr/>
      </dsp:nvSpPr>
      <dsp:spPr>
        <a:xfrm>
          <a:off x="518682" y="144025"/>
          <a:ext cx="1918293" cy="191829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>
          <a:noFill/>
        </a:ln>
        <a:effectLst>
          <a:outerShdw blurRad="57150" dist="38100" dir="5400000" algn="ctr" rotWithShape="0">
            <a:schemeClr val="accent5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02D0133-CF0F-4FA4-826D-449F5D8EC2D0}">
      <dsp:nvSpPr>
        <dsp:cNvPr id="0" name=""/>
        <dsp:cNvSpPr/>
      </dsp:nvSpPr>
      <dsp:spPr>
        <a:xfrm>
          <a:off x="3027468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18568"/>
                <a:satOff val="135"/>
                <a:lumOff val="-3236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918568"/>
                <a:satOff val="135"/>
                <a:lumOff val="-3236"/>
                <a:alphaOff val="0"/>
                <a:tint val="86000"/>
                <a:satMod val="115000"/>
              </a:schemeClr>
            </a:gs>
            <a:gs pos="100000">
              <a:schemeClr val="accent5">
                <a:hueOff val="-918568"/>
                <a:satOff val="135"/>
                <a:lumOff val="-3236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918568"/>
              <a:satOff val="135"/>
              <a:lumOff val="-3236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Full wave Rectifier</a:t>
          </a:r>
        </a:p>
      </dsp:txBody>
      <dsp:txXfrm>
        <a:off x="3027468" y="2304256"/>
        <a:ext cx="2951863" cy="2304256"/>
      </dsp:txXfrm>
    </dsp:sp>
    <dsp:sp modelId="{FC24E95A-B859-4399-A282-29EB9EC8DA02}">
      <dsp:nvSpPr>
        <dsp:cNvPr id="0" name=""/>
        <dsp:cNvSpPr/>
      </dsp:nvSpPr>
      <dsp:spPr>
        <a:xfrm>
          <a:off x="3559101" y="144025"/>
          <a:ext cx="1918293" cy="191829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5000" r="-135000"/>
          </a:stretch>
        </a:blipFill>
        <a:ln>
          <a:noFill/>
        </a:ln>
        <a:effectLst>
          <a:outerShdw blurRad="57150" dist="38100" dir="5400000" algn="ctr" rotWithShape="0">
            <a:schemeClr val="accent5">
              <a:tint val="50000"/>
              <a:hueOff val="-888243"/>
              <a:satOff val="-1115"/>
              <a:lumOff val="-758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C2BFFED-6801-4046-8BB5-4A486D52B65B}">
      <dsp:nvSpPr>
        <dsp:cNvPr id="0" name=""/>
        <dsp:cNvSpPr/>
      </dsp:nvSpPr>
      <dsp:spPr>
        <a:xfrm>
          <a:off x="6084632" y="0"/>
          <a:ext cx="2951863" cy="5760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837137"/>
                <a:satOff val="270"/>
                <a:lumOff val="-6471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1837137"/>
                <a:satOff val="270"/>
                <a:lumOff val="-6471"/>
                <a:alphaOff val="0"/>
                <a:tint val="86000"/>
                <a:satMod val="115000"/>
              </a:schemeClr>
            </a:gs>
            <a:gs pos="100000">
              <a:schemeClr val="accent5">
                <a:hueOff val="-1837137"/>
                <a:satOff val="270"/>
                <a:lumOff val="-6471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1837137"/>
              <a:satOff val="270"/>
              <a:lumOff val="-6471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Bridge Rectifier</a:t>
          </a:r>
        </a:p>
      </dsp:txBody>
      <dsp:txXfrm>
        <a:off x="6084632" y="2304256"/>
        <a:ext cx="2951863" cy="2304256"/>
      </dsp:txXfrm>
    </dsp:sp>
    <dsp:sp modelId="{3B9115CC-CE25-4FC5-B637-8830C782BD11}">
      <dsp:nvSpPr>
        <dsp:cNvPr id="0" name=""/>
        <dsp:cNvSpPr/>
      </dsp:nvSpPr>
      <dsp:spPr>
        <a:xfrm>
          <a:off x="6599520" y="297182"/>
          <a:ext cx="1918293" cy="191829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>
          <a:noFill/>
        </a:ln>
        <a:effectLst>
          <a:outerShdw blurRad="57150" dist="38100" dir="5400000" algn="ctr" rotWithShape="0">
            <a:schemeClr val="accent5">
              <a:tint val="50000"/>
              <a:hueOff val="-1776487"/>
              <a:satOff val="-2230"/>
              <a:lumOff val="-1516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8BAEFD2-1F14-46F5-B924-9D6055E43C2A}">
      <dsp:nvSpPr>
        <dsp:cNvPr id="0" name=""/>
        <dsp:cNvSpPr/>
      </dsp:nvSpPr>
      <dsp:spPr>
        <a:xfrm>
          <a:off x="1105275" y="5400598"/>
          <a:ext cx="6788367" cy="288029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5">
              <a:tint val="4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64C3C-A89B-4128-A6C4-6437ED5A9216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B1740-2026-4497-B5B6-DEBBB0792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4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7917A-997E-4ABB-BCF8-7B2450CE6D87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43790-6CE6-4C36-A6B4-901FFA568D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93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561D08-CC16-44DD-BEEE-7A2342F951F4}" type="slidenum">
              <a:rPr lang="en-IN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IN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447800"/>
            <a:ext cx="8305800" cy="44196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FUNDAMETALS OF ANALOGUE 				ELECTRONICS  </a:t>
            </a:r>
            <a:br>
              <a:rPr lang="en-US" dirty="0"/>
            </a:br>
            <a:r>
              <a:rPr lang="en-US" dirty="0"/>
              <a:t>                       EE/TE 8204</a:t>
            </a:r>
            <a:br>
              <a:rPr lang="en-US" dirty="0"/>
            </a:br>
            <a:r>
              <a:rPr lang="en-US" dirty="0"/>
              <a:t>          RECTIFIER DIODES    L1</a:t>
            </a:r>
            <a:br>
              <a:rPr lang="en-US" dirty="0"/>
            </a:br>
            <a:r>
              <a:rPr lang="en-US" dirty="0"/>
              <a:t>			CREDITS 6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184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introduction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23888" y="2079625"/>
            <a:ext cx="7620000" cy="4373563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None/>
            </a:pPr>
            <a:r>
              <a:rPr lang="en-IN" sz="2200" b="0" dirty="0"/>
              <a:t>	A </a:t>
            </a:r>
            <a:r>
              <a:rPr lang="en-IN" sz="2200" dirty="0">
                <a:solidFill>
                  <a:srgbClr val="00B050"/>
                </a:solidFill>
              </a:rPr>
              <a:t>rectifier</a:t>
            </a:r>
            <a:r>
              <a:rPr lang="en-IN" sz="2200" b="0" dirty="0"/>
              <a:t> is an electrical device that </a:t>
            </a:r>
            <a:r>
              <a:rPr lang="en-IN" sz="2200" dirty="0">
                <a:solidFill>
                  <a:srgbClr val="00B050"/>
                </a:solidFill>
              </a:rPr>
              <a:t>converts</a:t>
            </a:r>
            <a:r>
              <a:rPr lang="en-IN" sz="2200" b="0" dirty="0"/>
              <a:t> </a:t>
            </a:r>
            <a:r>
              <a:rPr lang="en-IN" sz="2200" dirty="0">
                <a:solidFill>
                  <a:srgbClr val="00B050"/>
                </a:solidFill>
              </a:rPr>
              <a:t>alternating current (AC)</a:t>
            </a:r>
            <a:r>
              <a:rPr lang="en-IN" sz="2200" b="0" dirty="0"/>
              <a:t>, which periodically reverses direction, </a:t>
            </a:r>
            <a:r>
              <a:rPr lang="en-IN" sz="2200" dirty="0">
                <a:solidFill>
                  <a:srgbClr val="00B050"/>
                </a:solidFill>
              </a:rPr>
              <a:t>to direct current (DC)</a:t>
            </a:r>
            <a:r>
              <a:rPr lang="en-IN" sz="2200" b="0" dirty="0"/>
              <a:t>, which is in only one direction, a process known as </a:t>
            </a:r>
            <a:r>
              <a:rPr lang="en-IN" sz="2200" dirty="0">
                <a:solidFill>
                  <a:srgbClr val="00B050"/>
                </a:solidFill>
              </a:rPr>
              <a:t>rectification</a:t>
            </a:r>
            <a:r>
              <a:rPr lang="en-IN" sz="2200" b="0" dirty="0"/>
              <a:t>.</a:t>
            </a:r>
            <a:endParaRPr lang="en-IN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6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43813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Types of Rectifiers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0663" y="2276475"/>
            <a:ext cx="3035300" cy="865188"/>
          </a:xfrm>
        </p:spPr>
        <p:txBody>
          <a:bodyPr rtlCol="0">
            <a:normAutofit/>
          </a:bodyPr>
          <a:lstStyle/>
          <a:p>
            <a:pPr fontAlgn="auto">
              <a:lnSpc>
                <a:spcPct val="200000"/>
              </a:lnSpc>
              <a:buFont typeface="Arial" pitchFamily="34" charset="0"/>
              <a:buNone/>
              <a:defRPr/>
            </a:pPr>
            <a:r>
              <a:rPr lang="en-US" sz="2300" b="0" dirty="0"/>
              <a:t>Half wave Rectifier</a:t>
            </a:r>
          </a:p>
          <a:p>
            <a:pPr fontAlgn="auto">
              <a:lnSpc>
                <a:spcPct val="200000"/>
              </a:lnSpc>
              <a:buFont typeface="Arial" pitchFamily="34" charset="0"/>
              <a:buNone/>
              <a:defRPr/>
            </a:pPr>
            <a:endParaRPr lang="en-IN" sz="2300" b="0" dirty="0"/>
          </a:p>
        </p:txBody>
      </p:sp>
      <p:pic>
        <p:nvPicPr>
          <p:cNvPr id="1026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628900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421063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760663" y="2997200"/>
            <a:ext cx="361156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300"/>
              <a:t>Full wave Rectifier</a:t>
            </a:r>
          </a:p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endParaRPr lang="en-IN" sz="2300"/>
          </a:p>
        </p:txBody>
      </p:sp>
      <p:pic>
        <p:nvPicPr>
          <p:cNvPr id="13" name="Picture 2" descr="\\SREE\Users\Thenmurugeshwari\My Documents\Work\27.1.11\arro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314825"/>
            <a:ext cx="360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700338" y="3890963"/>
            <a:ext cx="36099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300"/>
              <a:t>Bridge Rectifier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0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" grpId="0" build="allAtOnce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6503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Lecture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170080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214699077"/>
              </p:ext>
            </p:extLst>
          </p:nvPr>
        </p:nvGraphicFramePr>
        <p:xfrm>
          <a:off x="35496" y="908720"/>
          <a:ext cx="9036496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707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          Half wave rectifier 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8313" y="1916113"/>
            <a:ext cx="7620000" cy="4465637"/>
          </a:xfrm>
        </p:spPr>
        <p:txBody>
          <a:bodyPr rtlCol="0">
            <a:normAutofit lnSpcReduction="10000"/>
          </a:bodyPr>
          <a:lstStyle/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None/>
              <a:defRPr/>
            </a:pPr>
            <a:r>
              <a:rPr lang="en-IN" sz="2400" b="0" dirty="0"/>
              <a:t>	In half wave rectification, either the </a:t>
            </a:r>
            <a:r>
              <a:rPr lang="en-IN" sz="2400" dirty="0">
                <a:solidFill>
                  <a:srgbClr val="00B050"/>
                </a:solidFill>
              </a:rPr>
              <a:t>positive or negative half of the AC wave is passed</a:t>
            </a:r>
            <a:r>
              <a:rPr lang="en-IN" sz="2400" b="0" dirty="0"/>
              <a:t>, while the other half is blocked. </a:t>
            </a:r>
          </a:p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None/>
              <a:defRPr/>
            </a:pPr>
            <a:r>
              <a:rPr lang="en-US" sz="2400" b="0" dirty="0"/>
              <a:t>	B</a:t>
            </a:r>
            <a:r>
              <a:rPr lang="en-IN" sz="2400" b="0" dirty="0"/>
              <a:t>ecause only </a:t>
            </a:r>
            <a:r>
              <a:rPr lang="en-IN" sz="2400" dirty="0">
                <a:solidFill>
                  <a:srgbClr val="00B050"/>
                </a:solidFill>
              </a:rPr>
              <a:t>one half of the input waveform reaches the output</a:t>
            </a:r>
            <a:r>
              <a:rPr lang="en-IN" sz="2400" b="0" dirty="0"/>
              <a:t>, it is very inefficient if used for </a:t>
            </a:r>
            <a:r>
              <a:rPr lang="en-IN" sz="2400" dirty="0">
                <a:solidFill>
                  <a:srgbClr val="00B050"/>
                </a:solidFill>
              </a:rPr>
              <a:t>power transfer</a:t>
            </a:r>
            <a:r>
              <a:rPr lang="en-IN" sz="2400" b="0" dirty="0"/>
              <a:t>. </a:t>
            </a:r>
            <a:r>
              <a:rPr lang="en-IN" sz="2400" dirty="0">
                <a:solidFill>
                  <a:srgbClr val="FF0000"/>
                </a:solidFill>
              </a:rPr>
              <a:t>(</a:t>
            </a:r>
            <a:r>
              <a:rPr lang="en-IN" sz="2400" b="0" dirty="0">
                <a:solidFill>
                  <a:srgbClr val="FF0000"/>
                </a:solidFill>
              </a:rPr>
              <a:t>disadvantage)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994525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      Half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pic>
        <p:nvPicPr>
          <p:cNvPr id="9219" name="Picture 2" descr="\\SREE\Users\Thenmurugeshwari\My Documents\Work\27.1.11\half wave rectifier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2852738"/>
            <a:ext cx="7620000" cy="1692275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8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3548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00CC"/>
                </a:solidFill>
              </a:rPr>
              <a:t>Output dc voltage calculation</a:t>
            </a:r>
            <a:endParaRPr lang="en-IN" sz="3000" b="1" dirty="0">
              <a:solidFill>
                <a:srgbClr val="0000CC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23850" y="1916113"/>
            <a:ext cx="7620000" cy="1728787"/>
          </a:xfrm>
        </p:spPr>
        <p:txBody>
          <a:bodyPr rtlCol="0">
            <a:normAutofit fontScale="92500"/>
          </a:bodyPr>
          <a:lstStyle/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None/>
              <a:defRPr/>
            </a:pPr>
            <a:r>
              <a:rPr lang="en-IN" sz="2400" b="0" dirty="0"/>
              <a:t>	The </a:t>
            </a:r>
            <a:r>
              <a:rPr lang="en-IN" sz="2400" dirty="0">
                <a:solidFill>
                  <a:srgbClr val="00B050"/>
                </a:solidFill>
              </a:rPr>
              <a:t>output DC voltage</a:t>
            </a:r>
            <a:r>
              <a:rPr lang="en-IN" sz="2400" b="0" dirty="0"/>
              <a:t> of a half wave rectifier can be calculated with the following two ideal equations</a:t>
            </a:r>
          </a:p>
          <a:p>
            <a:pPr marL="720725" indent="-538163" algn="just" fontAlgn="auto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  <a:defRPr/>
            </a:pPr>
            <a:endParaRPr lang="en-IN" sz="2400" b="0" dirty="0"/>
          </a:p>
        </p:txBody>
      </p:sp>
      <p:pic>
        <p:nvPicPr>
          <p:cNvPr id="4098" name="Picture 2" descr="\\SREE\Users\Thenmurugeshwari\My Documents\Work\27.1.11\formul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3581400"/>
            <a:ext cx="2762250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SREE\Users\Thenmurugeshwari\My Documents\Work\27.1.11\formula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5084763"/>
            <a:ext cx="24765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4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00CC"/>
                </a:solidFill>
              </a:rPr>
              <a:t>                            Half wave rectification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62000"/>
            <a:ext cx="7543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5181600"/>
            <a:ext cx="152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838200"/>
            <a:ext cx="8001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85088"/>
          </a:xfrm>
        </p:spPr>
        <p:txBody>
          <a:bodyPr>
            <a:normAutofit fontScale="90000"/>
          </a:bodyPr>
          <a:lstStyle/>
          <a:p>
            <a:r>
              <a:rPr lang="en-US" sz="2700" b="1" dirty="0"/>
              <a:t>Effect of the Barrier Potential on the Half-Wave Rectifier Output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buNone/>
            </a:pPr>
            <a:r>
              <a:rPr lang="en-US" dirty="0"/>
              <a:t>	 When the practical diode model is used with the </a:t>
            </a:r>
          </a:p>
          <a:p>
            <a:pPr>
              <a:buNone/>
            </a:pPr>
            <a:r>
              <a:rPr lang="en-US" dirty="0"/>
              <a:t>	barrier potential of 0.7 V taken into account, this is </a:t>
            </a:r>
          </a:p>
          <a:p>
            <a:pPr>
              <a:buNone/>
            </a:pPr>
            <a:r>
              <a:rPr lang="en-US" dirty="0"/>
              <a:t>	what happens. During the positive half-cycle, the </a:t>
            </a:r>
          </a:p>
          <a:p>
            <a:pPr>
              <a:buNone/>
            </a:pPr>
            <a:r>
              <a:rPr lang="en-US" dirty="0"/>
              <a:t>	input voltage must overcome the barrier potential </a:t>
            </a:r>
          </a:p>
          <a:p>
            <a:pPr>
              <a:buNone/>
            </a:pPr>
            <a:r>
              <a:rPr lang="en-US" dirty="0"/>
              <a:t>	before the diode becomes forward-biased. This results</a:t>
            </a:r>
          </a:p>
          <a:p>
            <a:pPr>
              <a:buNone/>
            </a:pPr>
            <a:r>
              <a:rPr lang="en-US" dirty="0"/>
              <a:t>	 in a half-wave output with a peak value that is 0.7 V</a:t>
            </a:r>
          </a:p>
          <a:p>
            <a:pPr>
              <a:buNone/>
            </a:pPr>
            <a:r>
              <a:rPr lang="en-US" dirty="0"/>
              <a:t>	 less than the peak value of the input, as shown in </a:t>
            </a:r>
          </a:p>
          <a:p>
            <a:pPr>
              <a:buNone/>
            </a:pPr>
            <a:r>
              <a:rPr lang="en-US" dirty="0"/>
              <a:t>	Figure 2–23. The expression for the peak output voltage is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90600"/>
            <a:ext cx="8001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000" y="5029200"/>
            <a:ext cx="1428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Figure 2–23.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The </a:t>
            </a:r>
            <a:r>
              <a:rPr lang="en-US" b="1" dirty="0"/>
              <a:t>peak inverse voltage (PIV) </a:t>
            </a:r>
            <a:r>
              <a:rPr lang="en-US" dirty="0"/>
              <a:t>equals the peak value</a:t>
            </a:r>
          </a:p>
          <a:p>
            <a:pPr>
              <a:buNone/>
            </a:pPr>
            <a:r>
              <a:rPr lang="en-US" dirty="0"/>
              <a:t> of the input voltage, and the diode must be capable of </a:t>
            </a:r>
          </a:p>
          <a:p>
            <a:pPr>
              <a:buNone/>
            </a:pPr>
            <a:r>
              <a:rPr lang="en-US" dirty="0"/>
              <a:t>withstanding this amount of repetitive reverse voltage.</a:t>
            </a:r>
          </a:p>
          <a:p>
            <a:pPr>
              <a:buNone/>
            </a:pPr>
            <a:r>
              <a:rPr lang="en-US" dirty="0"/>
              <a:t> For the diode in Figure 2–26, the maximum value of </a:t>
            </a:r>
          </a:p>
          <a:p>
            <a:pPr>
              <a:buNone/>
            </a:pPr>
            <a:r>
              <a:rPr lang="en-US" dirty="0"/>
              <a:t>reverse voltage, designated as </a:t>
            </a:r>
            <a:r>
              <a:rPr lang="en-US" sz="2200" dirty="0">
                <a:solidFill>
                  <a:srgbClr val="FF0000"/>
                </a:solidFill>
              </a:rPr>
              <a:t>PIV, is </a:t>
            </a:r>
            <a:r>
              <a:rPr lang="en-US" sz="2200" b="1" dirty="0">
                <a:solidFill>
                  <a:srgbClr val="FF0000"/>
                </a:solidFill>
              </a:rPr>
              <a:t>maximum voltage a diode or other device can withstand in the reverse-biased direction</a:t>
            </a:r>
            <a:r>
              <a:rPr lang="en-US" sz="2200" dirty="0">
                <a:solidFill>
                  <a:srgbClr val="FF0000"/>
                </a:solidFill>
              </a:rPr>
              <a:t> </a:t>
            </a:r>
            <a:r>
              <a:rPr lang="en-US" sz="2200" b="1" dirty="0">
                <a:solidFill>
                  <a:srgbClr val="FF0000"/>
                </a:solidFill>
              </a:rPr>
              <a:t>without damaging itself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en-US" dirty="0"/>
              <a:t>A diode should be rated at least </a:t>
            </a:r>
          </a:p>
          <a:p>
            <a:pPr>
              <a:buNone/>
            </a:pPr>
            <a:r>
              <a:rPr lang="en-US" dirty="0"/>
              <a:t>20% higher than the PIV.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(advantage and definition)</a:t>
            </a:r>
          </a:p>
        </p:txBody>
      </p:sp>
      <p:sp>
        <p:nvSpPr>
          <p:cNvPr id="4" name="Title 3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rgbClr val="4485A9"/>
                </a:solidFill>
                <a:effectLst/>
                <a:latin typeface="Arial" pitchFamily="34" charset="0"/>
                <a:ea typeface="Times New Roman" pitchFamily="18" charset="0"/>
                <a:cs typeface="StrayhornMT-ExtraBold"/>
              </a:rPr>
              <a:t>Peak Inverse Voltage (PIV)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400"/>
            <a:ext cx="7156206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867400" y="5029200"/>
            <a:ext cx="2286000" cy="92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2834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        Full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3850" y="1557338"/>
            <a:ext cx="8280400" cy="4824412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None/>
            </a:pPr>
            <a:r>
              <a:rPr lang="en-IN" sz="2400" b="0" dirty="0"/>
              <a:t>	For single-phase AC, if the transformer is </a:t>
            </a:r>
            <a:r>
              <a:rPr lang="en-IN" sz="2400" b="0" dirty="0" err="1"/>
              <a:t>center</a:t>
            </a:r>
            <a:r>
              <a:rPr lang="en-IN" sz="2400" b="0" dirty="0"/>
              <a:t>-tapped, then </a:t>
            </a:r>
            <a:r>
              <a:rPr lang="en-IN" sz="2400" dirty="0">
                <a:solidFill>
                  <a:srgbClr val="00B050"/>
                </a:solidFill>
              </a:rPr>
              <a:t>two diodes back-to-back </a:t>
            </a:r>
            <a:r>
              <a:rPr lang="en-IN" sz="2400" b="0" dirty="0"/>
              <a:t>(i.e. anodes-to-anode or cathode-to-cathode) can form a </a:t>
            </a:r>
            <a:r>
              <a:rPr lang="en-IN" sz="2400" dirty="0">
                <a:solidFill>
                  <a:srgbClr val="00B050"/>
                </a:solidFill>
              </a:rPr>
              <a:t>full-wave rectifier</a:t>
            </a:r>
            <a:r>
              <a:rPr lang="en-IN" sz="2400" b="0" dirty="0"/>
              <a:t>. </a:t>
            </a:r>
            <a:endParaRPr lang="en-IN" sz="2400" dirty="0"/>
          </a:p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endParaRPr lang="en-IN" sz="24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8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1638"/>
            <a:ext cx="85788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00CC"/>
                </a:solidFill>
              </a:rPr>
              <a:t>Full wave rectifier using transformer and 2 diodes</a:t>
            </a:r>
            <a:endParaRPr lang="en-IN" sz="2400" b="1" dirty="0">
              <a:solidFill>
                <a:srgbClr val="0000CC"/>
              </a:solidFill>
            </a:endParaRPr>
          </a:p>
        </p:txBody>
      </p:sp>
      <p:pic>
        <p:nvPicPr>
          <p:cNvPr id="15363" name="Picture 2" descr="\\SREE\Users\Thenmurugeshwari\My Documents\Work\27.1.11\2di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11425"/>
            <a:ext cx="84613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66813"/>
            <a:ext cx="8591549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8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172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i="1" dirty="0"/>
              <a:t>Effect of the Turns Ratio on the Output Voltage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If the transformer’s turns ratio is 1, </a:t>
            </a:r>
            <a:r>
              <a:rPr lang="en-US" dirty="0">
                <a:solidFill>
                  <a:srgbClr val="FF0000"/>
                </a:solidFill>
              </a:rPr>
              <a:t>the peak value of the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rectified output voltage equals half the peak value of the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primary input voltage less the barrier potential, </a:t>
            </a:r>
            <a:r>
              <a:rPr lang="en-US" dirty="0"/>
              <a:t>as </a:t>
            </a:r>
          </a:p>
          <a:p>
            <a:pPr>
              <a:buNone/>
            </a:pPr>
            <a:r>
              <a:rPr lang="en-US" dirty="0"/>
              <a:t>illustrated in Figure 2–33. Half of the primary</a:t>
            </a:r>
          </a:p>
          <a:p>
            <a:pPr>
              <a:buNone/>
            </a:pPr>
            <a:r>
              <a:rPr lang="en-US" dirty="0"/>
              <a:t>voltage appears across each half of the secondary winding </a:t>
            </a:r>
          </a:p>
          <a:p>
            <a:pPr>
              <a:buNone/>
            </a:pPr>
            <a:r>
              <a:rPr lang="en-US" dirty="0"/>
              <a:t>(</a:t>
            </a:r>
            <a:r>
              <a:rPr lang="en-US" i="1" dirty="0" err="1"/>
              <a:t>Vp</a:t>
            </a:r>
            <a:r>
              <a:rPr lang="en-US" dirty="0"/>
              <a:t>(</a:t>
            </a:r>
            <a:r>
              <a:rPr lang="en-US" i="1" dirty="0"/>
              <a:t>sec</a:t>
            </a:r>
            <a:r>
              <a:rPr lang="en-US" dirty="0"/>
              <a:t>) = </a:t>
            </a:r>
            <a:r>
              <a:rPr lang="en-US" i="1" dirty="0" err="1"/>
              <a:t>Vp</a:t>
            </a:r>
            <a:r>
              <a:rPr lang="en-US" dirty="0"/>
              <a:t>(</a:t>
            </a:r>
            <a:r>
              <a:rPr lang="en-US" i="1" dirty="0" err="1"/>
              <a:t>pri</a:t>
            </a:r>
            <a:r>
              <a:rPr lang="en-US" dirty="0"/>
              <a:t>)). We will begin referring to the forward</a:t>
            </a:r>
          </a:p>
          <a:p>
            <a:pPr>
              <a:buNone/>
            </a:pPr>
            <a:r>
              <a:rPr lang="en-US" dirty="0"/>
              <a:t> voltage due to the barrier potential as the </a:t>
            </a:r>
            <a:r>
              <a:rPr lang="en-US" b="1" dirty="0"/>
              <a:t>diode drop.</a:t>
            </a:r>
            <a:r>
              <a:rPr lang="en-US" dirty="0"/>
              <a:t> In </a:t>
            </a:r>
          </a:p>
          <a:p>
            <a:pPr>
              <a:buNone/>
            </a:pPr>
            <a:r>
              <a:rPr lang="en-US" dirty="0"/>
              <a:t>order to obtain an output voltage with a peak equal to the input </a:t>
            </a:r>
          </a:p>
          <a:p>
            <a:pPr>
              <a:buNone/>
            </a:pPr>
            <a:r>
              <a:rPr lang="en-US" dirty="0"/>
              <a:t>peak (less the diode drop), a step-up transformer with a turns ratio </a:t>
            </a:r>
          </a:p>
          <a:p>
            <a:pPr>
              <a:buNone/>
            </a:pPr>
            <a:r>
              <a:rPr lang="en-US" dirty="0"/>
              <a:t>of </a:t>
            </a:r>
            <a:r>
              <a:rPr lang="en-US" i="1" dirty="0"/>
              <a:t>n </a:t>
            </a:r>
            <a:r>
              <a:rPr lang="en-US" dirty="0"/>
              <a:t>= 2 must be used, as shown in Figure 2–34. </a:t>
            </a:r>
            <a:r>
              <a:rPr lang="en-US" dirty="0">
                <a:solidFill>
                  <a:srgbClr val="FF0000"/>
                </a:solidFill>
              </a:rPr>
              <a:t>In this case, the total secondary voltage (</a:t>
            </a:r>
            <a:r>
              <a:rPr lang="en-US" i="1" dirty="0" err="1">
                <a:solidFill>
                  <a:srgbClr val="FF0000"/>
                </a:solidFill>
              </a:rPr>
              <a:t>Vsec</a:t>
            </a:r>
            <a:r>
              <a:rPr lang="en-US" dirty="0">
                <a:solidFill>
                  <a:srgbClr val="FF0000"/>
                </a:solidFill>
              </a:rPr>
              <a:t>) is twice the primary voltage</a:t>
            </a:r>
          </a:p>
          <a:p>
            <a:pPr>
              <a:buNone/>
            </a:pPr>
            <a:r>
              <a:rPr lang="en-US" dirty="0"/>
              <a:t> (2</a:t>
            </a:r>
            <a:r>
              <a:rPr lang="en-US" i="1" dirty="0"/>
              <a:t>Vpri</a:t>
            </a:r>
            <a:r>
              <a:rPr lang="en-US" dirty="0"/>
              <a:t>), so the voltage across each half of the secondary is equal to </a:t>
            </a:r>
            <a:r>
              <a:rPr lang="en-US" i="1" dirty="0" err="1"/>
              <a:t>Vpri</a:t>
            </a:r>
            <a:r>
              <a:rPr lang="en-US" i="1" dirty="0"/>
              <a:t>.</a:t>
            </a:r>
          </a:p>
          <a:p>
            <a:pPr>
              <a:buNone/>
            </a:pPr>
            <a:r>
              <a:rPr lang="en-US" dirty="0"/>
              <a:t> In any case, the output voltage of a center-tapped full-wave rectifier is </a:t>
            </a:r>
          </a:p>
          <a:p>
            <a:pPr>
              <a:buNone/>
            </a:pPr>
            <a:r>
              <a:rPr lang="en-US" dirty="0"/>
              <a:t>always one-half of the total secondary voltage less the diode drop, no</a:t>
            </a:r>
          </a:p>
          <a:p>
            <a:pPr>
              <a:buNone/>
            </a:pPr>
            <a:r>
              <a:rPr lang="en-US" dirty="0"/>
              <a:t> matter what the turns ratio.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95400"/>
            <a:ext cx="1466850" cy="640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61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7086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2834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Full wave rectification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3850" y="1557338"/>
            <a:ext cx="8280400" cy="4824412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None/>
            </a:pPr>
            <a:r>
              <a:rPr lang="en-IN" sz="2400" b="0" dirty="0"/>
              <a:t>	In a circuit with a non - </a:t>
            </a:r>
            <a:r>
              <a:rPr lang="en-IN" sz="2400" b="0" dirty="0" err="1"/>
              <a:t>center</a:t>
            </a:r>
            <a:r>
              <a:rPr lang="en-IN" sz="2400" b="0" dirty="0"/>
              <a:t> tapped transformer, </a:t>
            </a:r>
            <a:r>
              <a:rPr lang="en-IN" sz="2400" dirty="0">
                <a:solidFill>
                  <a:srgbClr val="00B050"/>
                </a:solidFill>
              </a:rPr>
              <a:t>four diodes </a:t>
            </a:r>
            <a:r>
              <a:rPr lang="en-IN" sz="2400" b="0" dirty="0"/>
              <a:t>are required instead of the one needed for </a:t>
            </a:r>
            <a:r>
              <a:rPr lang="en-IN" sz="2400" dirty="0">
                <a:solidFill>
                  <a:srgbClr val="00B050"/>
                </a:solidFill>
              </a:rPr>
              <a:t>half-wave rectification</a:t>
            </a:r>
            <a:r>
              <a:rPr lang="en-IN" sz="2400" b="0" dirty="0"/>
              <a:t>.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4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65436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3200400"/>
            <a:ext cx="274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62000" y="29718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Peak Inverse Voltage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Each diode in the full-wave rectifier is alternately </a:t>
            </a:r>
          </a:p>
          <a:p>
            <a:pPr>
              <a:buNone/>
            </a:pPr>
            <a:r>
              <a:rPr lang="en-US" dirty="0"/>
              <a:t>forward-biased and then reverse-biased. The maximum </a:t>
            </a:r>
          </a:p>
          <a:p>
            <a:pPr>
              <a:buNone/>
            </a:pPr>
            <a:r>
              <a:rPr lang="en-US" dirty="0"/>
              <a:t>reverse voltage that each diode must withstand is the </a:t>
            </a:r>
          </a:p>
          <a:p>
            <a:pPr>
              <a:buNone/>
            </a:pPr>
            <a:r>
              <a:rPr lang="en-US" dirty="0"/>
              <a:t>peak secondary voltage </a:t>
            </a:r>
            <a:r>
              <a:rPr lang="en-US" i="1" dirty="0" err="1"/>
              <a:t>Vp</a:t>
            </a:r>
            <a:r>
              <a:rPr lang="en-US" dirty="0"/>
              <a:t>(</a:t>
            </a:r>
            <a:r>
              <a:rPr lang="en-US" i="1" dirty="0"/>
              <a:t>sec</a:t>
            </a:r>
            <a:r>
              <a:rPr lang="en-US" dirty="0"/>
              <a:t>). This is shown in Figure </a:t>
            </a:r>
          </a:p>
          <a:p>
            <a:pPr>
              <a:buNone/>
            </a:pPr>
            <a:r>
              <a:rPr lang="en-US" dirty="0"/>
              <a:t>2–35 where </a:t>
            </a:r>
            <a:r>
              <a:rPr lang="en-US" i="1" dirty="0"/>
              <a:t>D</a:t>
            </a:r>
            <a:r>
              <a:rPr lang="en-US" dirty="0"/>
              <a:t>2 is assumed to be reverse-biased (red) and </a:t>
            </a:r>
          </a:p>
          <a:p>
            <a:pPr>
              <a:buNone/>
            </a:pPr>
            <a:r>
              <a:rPr lang="en-US" i="1" dirty="0"/>
              <a:t>D</a:t>
            </a:r>
            <a:r>
              <a:rPr lang="en-US" dirty="0"/>
              <a:t>1 is assumed to be forward-biased (green) to illustrate the </a:t>
            </a:r>
          </a:p>
          <a:p>
            <a:pPr>
              <a:buNone/>
            </a:pPr>
            <a:r>
              <a:rPr lang="en-US" dirty="0"/>
              <a:t>concept. When the total secondary voltage </a:t>
            </a:r>
            <a:r>
              <a:rPr lang="en-US" i="1" dirty="0" err="1"/>
              <a:t>Vsec</a:t>
            </a:r>
            <a:r>
              <a:rPr lang="en-US" i="1" dirty="0"/>
              <a:t> </a:t>
            </a:r>
            <a:r>
              <a:rPr lang="en-US" dirty="0"/>
              <a:t>has the </a:t>
            </a:r>
          </a:p>
          <a:p>
            <a:pPr>
              <a:buNone/>
            </a:pPr>
            <a:r>
              <a:rPr lang="en-US" dirty="0"/>
              <a:t>polarity shown, the maximum anode voltage of </a:t>
            </a:r>
            <a:r>
              <a:rPr lang="en-US" i="1" dirty="0"/>
              <a:t>D</a:t>
            </a:r>
            <a:r>
              <a:rPr lang="en-US" dirty="0"/>
              <a:t>1 is -</a:t>
            </a:r>
            <a:r>
              <a:rPr lang="en-US" i="1" dirty="0" err="1"/>
              <a:t>Vp</a:t>
            </a:r>
            <a:r>
              <a:rPr lang="en-US" dirty="0"/>
              <a:t>(</a:t>
            </a:r>
            <a:r>
              <a:rPr lang="en-US" i="1" dirty="0"/>
              <a:t>sec</a:t>
            </a:r>
            <a:r>
              <a:rPr lang="en-US" dirty="0"/>
              <a:t>) </a:t>
            </a:r>
          </a:p>
          <a:p>
            <a:pPr>
              <a:buNone/>
            </a:pPr>
            <a:r>
              <a:rPr lang="en-US" dirty="0"/>
              <a:t>2 and the maximum anode voltage of </a:t>
            </a:r>
            <a:r>
              <a:rPr lang="en-US" i="1" dirty="0"/>
              <a:t>D</a:t>
            </a:r>
            <a:r>
              <a:rPr lang="en-US" dirty="0"/>
              <a:t>2 is -</a:t>
            </a:r>
            <a:r>
              <a:rPr lang="en-US" i="1" dirty="0" err="1"/>
              <a:t>Vp</a:t>
            </a:r>
            <a:r>
              <a:rPr lang="en-US" dirty="0"/>
              <a:t>(</a:t>
            </a:r>
            <a:r>
              <a:rPr lang="en-US" i="1" dirty="0"/>
              <a:t>sec</a:t>
            </a:r>
            <a:r>
              <a:rPr lang="en-US" dirty="0"/>
              <a:t>)/2. Since </a:t>
            </a:r>
          </a:p>
          <a:p>
            <a:pPr>
              <a:buNone/>
            </a:pPr>
            <a:r>
              <a:rPr lang="en-US" i="1" dirty="0"/>
              <a:t>D</a:t>
            </a:r>
            <a:r>
              <a:rPr lang="en-US" dirty="0"/>
              <a:t>1 is assumed to be forward-biased, its cathode is at the same</a:t>
            </a:r>
          </a:p>
          <a:p>
            <a:pPr>
              <a:buNone/>
            </a:pPr>
            <a:r>
              <a:rPr lang="en-US" dirty="0"/>
              <a:t> voltage as its anode minus the diode drop; this is also the voltage </a:t>
            </a:r>
          </a:p>
          <a:p>
            <a:pPr>
              <a:buNone/>
            </a:pPr>
            <a:r>
              <a:rPr lang="en-US" dirty="0"/>
              <a:t>on the cathode of </a:t>
            </a:r>
            <a:r>
              <a:rPr lang="en-US" i="1" dirty="0"/>
              <a:t>D</a:t>
            </a:r>
            <a:r>
              <a:rPr lang="en-US" dirty="0"/>
              <a:t>2. The peak inverse voltage across </a:t>
            </a:r>
            <a:r>
              <a:rPr lang="en-US" i="1" dirty="0"/>
              <a:t>D</a:t>
            </a:r>
            <a:r>
              <a:rPr lang="en-US" dirty="0"/>
              <a:t>2 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127" y="817808"/>
            <a:ext cx="7467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3867016"/>
            <a:ext cx="6324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5705475"/>
            <a:ext cx="5448300" cy="695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90600"/>
            <a:ext cx="7620000" cy="4190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52400"/>
            <a:ext cx="868680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00CC"/>
                </a:solidFill>
              </a:rPr>
              <a:t>Full wave rectifier working animation</a:t>
            </a:r>
            <a:endParaRPr lang="en-IN" sz="2800" b="1" dirty="0">
              <a:solidFill>
                <a:srgbClr val="0000CC"/>
              </a:solidFill>
            </a:endParaRPr>
          </a:p>
        </p:txBody>
      </p:sp>
      <p:pic>
        <p:nvPicPr>
          <p:cNvPr id="12291" name="Picture 2" descr="\\SREE\Users\Thenmurugeshwari\My Documents\Work\27.1.11\full wave rectification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2492375"/>
            <a:ext cx="6405562" cy="3457575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067550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formula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81013" y="1844675"/>
            <a:ext cx="7620000" cy="2376488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None/>
            </a:pPr>
            <a:r>
              <a:rPr lang="en-IN" sz="2400" b="0" dirty="0"/>
              <a:t>	The </a:t>
            </a:r>
            <a:r>
              <a:rPr lang="en-IN" sz="2400" dirty="0">
                <a:solidFill>
                  <a:srgbClr val="00B050"/>
                </a:solidFill>
              </a:rPr>
              <a:t>average and root-mean-square output voltages </a:t>
            </a:r>
            <a:r>
              <a:rPr lang="en-IN" sz="2400" b="0" dirty="0"/>
              <a:t>of an ideal single phase full wave rectifier can be calculated as:</a:t>
            </a:r>
            <a:endParaRPr lang="en-IN" sz="2400" dirty="0"/>
          </a:p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Font typeface="Wingdings 2" pitchFamily="18" charset="2"/>
              <a:buChar char="ù"/>
            </a:pPr>
            <a:endParaRPr lang="en-IN" sz="2400" b="0" dirty="0"/>
          </a:p>
        </p:txBody>
      </p:sp>
      <p:pic>
        <p:nvPicPr>
          <p:cNvPr id="8194" name="Picture 2" descr="\\SREE\Users\Thenmurugeshwari\My Documents\Work\27.1.11\a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998913"/>
            <a:ext cx="3168650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\\SREE\Users\Thenmurugeshwari\My Documents\Work\27.1.11\root squa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5300663"/>
            <a:ext cx="2160587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9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328613"/>
            <a:ext cx="8362950" cy="13716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500" b="1" dirty="0">
                <a:solidFill>
                  <a:srgbClr val="0000CC"/>
                </a:solidFill>
              </a:rPr>
              <a:t>Output voltage of the full wave rectifier Animation</a:t>
            </a:r>
            <a:endParaRPr lang="en-IN" sz="2500" b="1" dirty="0">
              <a:solidFill>
                <a:srgbClr val="0000CC"/>
              </a:solidFill>
            </a:endParaRPr>
          </a:p>
        </p:txBody>
      </p:sp>
      <p:pic>
        <p:nvPicPr>
          <p:cNvPr id="17411" name="Picture 2" descr="\\SREE\Users\Thenmurugeshwari\My Documents\Work\27.1.11\output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828800"/>
            <a:ext cx="7391400" cy="4527550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354888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Bridge rectifier</a:t>
            </a:r>
            <a:endParaRPr lang="en-IN" b="1" dirty="0">
              <a:solidFill>
                <a:srgbClr val="0000CC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23850" y="2349500"/>
            <a:ext cx="7620000" cy="2808288"/>
          </a:xfrm>
        </p:spPr>
        <p:txBody>
          <a:bodyPr/>
          <a:lstStyle/>
          <a:p>
            <a:pPr marL="720725" indent="-538163" algn="just">
              <a:lnSpc>
                <a:spcPct val="200000"/>
              </a:lnSpc>
              <a:buClr>
                <a:srgbClr val="C00000"/>
              </a:buClr>
              <a:buNone/>
            </a:pPr>
            <a:r>
              <a:rPr lang="en-IN" sz="2400" b="0" dirty="0"/>
              <a:t>	A bridge rectifier makes </a:t>
            </a:r>
            <a:r>
              <a:rPr lang="en-IN" sz="2400" dirty="0">
                <a:solidFill>
                  <a:srgbClr val="00B050"/>
                </a:solidFill>
              </a:rPr>
              <a:t>use of four diodes in a bridge arrangement to achieve full-wave rectification</a:t>
            </a:r>
            <a:r>
              <a:rPr lang="en-IN" sz="2400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9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778625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CC"/>
                </a:solidFill>
              </a:rPr>
              <a:t>Bridge rectifier circuit</a:t>
            </a:r>
            <a:endParaRPr lang="en-IN" b="1" dirty="0">
              <a:solidFill>
                <a:srgbClr val="0000CC"/>
              </a:solidFill>
            </a:endParaRPr>
          </a:p>
        </p:txBody>
      </p:sp>
      <p:pic>
        <p:nvPicPr>
          <p:cNvPr id="19459" name="Picture 2" descr="\\SREE\Users\Thenmurugeshwari\My Documents\Work\27.1.11\bridge rectifier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2997200"/>
            <a:ext cx="6054725" cy="2443163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89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257175"/>
            <a:ext cx="8075613" cy="1371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00CC"/>
                </a:solidFill>
              </a:rPr>
              <a:t>                  Bridge rectifier working animation</a:t>
            </a:r>
            <a:endParaRPr lang="en-IN" sz="3000" b="1" dirty="0">
              <a:solidFill>
                <a:srgbClr val="0000CC"/>
              </a:solidFill>
            </a:endParaRPr>
          </a:p>
        </p:txBody>
      </p:sp>
      <p:pic>
        <p:nvPicPr>
          <p:cNvPr id="20483" name="Picture 2" descr="\\SREE\Users\Thenmurugeshwari\My Documents\Work\27.1.11\bridge rectifier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713" y="3068638"/>
            <a:ext cx="4651375" cy="2686050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176338"/>
            <a:ext cx="6629400" cy="450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1503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93169" y="6172200"/>
            <a:ext cx="1905000" cy="422031"/>
          </a:xfrm>
        </p:spPr>
        <p:txBody>
          <a:bodyPr/>
          <a:lstStyle/>
          <a:p>
            <a:pPr>
              <a:defRPr/>
            </a:pPr>
            <a:fld id="{D757A104-755D-4BBE-8986-E717025318B6}" type="slidenum">
              <a:rPr lang="sv-SE" smtClean="0"/>
              <a:pPr>
                <a:defRPr/>
              </a:pPr>
              <a:t>29</a:t>
            </a:fld>
            <a:endParaRPr lang="sv-SE" sz="1292">
              <a:latin typeface="Times" pitchFamily="1" charset="0"/>
            </a:endParaRPr>
          </a:p>
        </p:txBody>
      </p:sp>
      <p:sp>
        <p:nvSpPr>
          <p:cNvPr id="130049" name="Rectangle 1"/>
          <p:cNvSpPr>
            <a:spLocks noChangeArrowheads="1"/>
          </p:cNvSpPr>
          <p:nvPr/>
        </p:nvSpPr>
        <p:spPr bwMode="auto">
          <a:xfrm>
            <a:off x="-152400" y="364277"/>
            <a:ext cx="9144000" cy="63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lang="en-US" sz="2954" b="1" dirty="0">
                <a:latin typeface="Calibri" pitchFamily="34" charset="0"/>
                <a:cs typeface="Arial" pitchFamily="34" charset="0"/>
              </a:rPr>
              <a:t>                    </a:t>
            </a:r>
            <a:r>
              <a:rPr lang="en-US" sz="3600" b="1" dirty="0">
                <a:latin typeface="Calibri" pitchFamily="34" charset="0"/>
                <a:cs typeface="Arial" pitchFamily="34" charset="0"/>
              </a:rPr>
              <a:t>Assignment 1   ( 8 groups)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84305" y="1538529"/>
            <a:ext cx="35872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StrayhornMT-ExtraBold" charset="0"/>
              </a:rPr>
              <a:t>1. </a:t>
            </a:r>
            <a:r>
              <a:rPr lang="en-US" sz="2200" b="1" dirty="0" err="1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StrayhornMT-ExtraBold" charset="0"/>
              </a:rPr>
              <a:t>Schottky</a:t>
            </a:r>
            <a:r>
              <a:rPr lang="en-US" sz="2200" b="1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StrayhornMT-ExtraBold" charset="0"/>
              </a:rPr>
              <a:t> Diode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3614356" y="2019207"/>
            <a:ext cx="21184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eaLnBrk="1" hangingPunct="1"/>
            <a:r>
              <a:rPr lang="en-US" sz="2200" b="1" dirty="0">
                <a:latin typeface="Calibri" pitchFamily="34" charset="0"/>
                <a:ea typeface="Calibri" pitchFamily="34" charset="0"/>
                <a:cs typeface="StrayhornMT-ExtraBold" charset="0"/>
              </a:rPr>
              <a:t>2. The </a:t>
            </a:r>
            <a:r>
              <a:rPr lang="en-US" sz="2200" b="1" i="1" dirty="0">
                <a:latin typeface="Calibri" pitchFamily="34" charset="0"/>
                <a:ea typeface="Calibri" pitchFamily="34" charset="0"/>
                <a:cs typeface="StrayhornMT-ExtraBoldItalic"/>
              </a:rPr>
              <a:t>PIN </a:t>
            </a:r>
            <a:r>
              <a:rPr lang="en-US" sz="2200" b="1" dirty="0">
                <a:latin typeface="Calibri" pitchFamily="34" charset="0"/>
                <a:ea typeface="Calibri" pitchFamily="34" charset="0"/>
                <a:cs typeface="StrayhornMT-ExtraBold" charset="0"/>
              </a:rPr>
              <a:t>Diode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2589" y="2475362"/>
            <a:ext cx="34019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eaLnBrk="1" hangingPunct="1"/>
            <a:r>
              <a:rPr lang="en-US" sz="2200" b="1" dirty="0">
                <a:latin typeface="Calibri" pitchFamily="34" charset="0"/>
                <a:ea typeface="Calibri" pitchFamily="34" charset="0"/>
                <a:cs typeface="StrayhornMT-ExtraBold" charset="0"/>
              </a:rPr>
              <a:t>3. The Step-Recovery Diode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22996" y="4622061"/>
            <a:ext cx="19847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StrayhornMT-ExtraBold" charset="0"/>
              </a:rPr>
              <a:t>7. Tunnel diode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92764" y="3006284"/>
            <a:ext cx="2066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4. </a:t>
            </a:r>
            <a:r>
              <a:rPr lang="en-US" sz="2200" b="1" dirty="0" err="1"/>
              <a:t>Zener</a:t>
            </a:r>
            <a:r>
              <a:rPr lang="en-US" sz="2200" b="1" dirty="0"/>
              <a:t>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92764" y="3537206"/>
            <a:ext cx="41043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5. Light Emitting Diode (LED)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9075" y="4068128"/>
            <a:ext cx="20408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6.Photo diode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2996" y="5175994"/>
            <a:ext cx="2348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8.Varactor diode</a:t>
            </a:r>
          </a:p>
        </p:txBody>
      </p:sp>
    </p:spTree>
    <p:extLst>
      <p:ext uri="{BB962C8B-B14F-4D97-AF65-F5344CB8AC3E}">
        <p14:creationId xmlns:p14="http://schemas.microsoft.com/office/powerpoint/2010/main" val="174392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/>
              <a:t>DIODE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Here are a few of the typical applications of diodes include:</a:t>
            </a:r>
            <a:endParaRPr lang="en-US" dirty="0"/>
          </a:p>
          <a:p>
            <a:r>
              <a:rPr lang="en-US" dirty="0"/>
              <a:t>Rectifying a voltage, such as turning the AC into DC voltages.</a:t>
            </a:r>
          </a:p>
          <a:p>
            <a:r>
              <a:rPr lang="en-US" dirty="0"/>
              <a:t>Isolating signals from a supply.</a:t>
            </a:r>
          </a:p>
          <a:p>
            <a:r>
              <a:rPr lang="en-US" dirty="0"/>
              <a:t>Voltage Reference.</a:t>
            </a:r>
          </a:p>
          <a:p>
            <a:r>
              <a:rPr lang="en-US" dirty="0"/>
              <a:t>Controlling the size of a signal.</a:t>
            </a:r>
          </a:p>
          <a:p>
            <a:r>
              <a:rPr lang="en-US" dirty="0"/>
              <a:t>Mixing signals.</a:t>
            </a:r>
          </a:p>
          <a:p>
            <a:r>
              <a:rPr lang="en-US" dirty="0"/>
              <a:t>Detection signals.</a:t>
            </a:r>
          </a:p>
          <a:p>
            <a:r>
              <a:rPr lang="en-US" dirty="0"/>
              <a:t>Lighting systems.</a:t>
            </a:r>
          </a:p>
          <a:p>
            <a:r>
              <a:rPr lang="en-US" dirty="0"/>
              <a:t>LASER </a:t>
            </a:r>
            <a:r>
              <a:rPr lang="en-US" b="1" dirty="0"/>
              <a:t>diodes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CD8-12C4-48F0-B869-0C70D386A04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4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848</TotalTime>
  <Words>563</Words>
  <Application>Microsoft Office PowerPoint</Application>
  <PresentationFormat>On-screen Show (4:3)</PresentationFormat>
  <Paragraphs>129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Constantia</vt:lpstr>
      <vt:lpstr>StrayhornMT-ExtraBold</vt:lpstr>
      <vt:lpstr>StrayhornMT-ExtraBoldItalic</vt:lpstr>
      <vt:lpstr>Times</vt:lpstr>
      <vt:lpstr>Times New Roman</vt:lpstr>
      <vt:lpstr>Wingdings 2</vt:lpstr>
      <vt:lpstr>Flow</vt:lpstr>
      <vt:lpstr>        FUNDAMETALS OF ANALOGUE     ELECTRONICS                          EE/TE 8204           RECTIFIER DIODES    L1    CREDITS 6 </vt:lpstr>
      <vt:lpstr>introduction</vt:lpstr>
      <vt:lpstr>Types of Rectifiers</vt:lpstr>
      <vt:lpstr>Lecture Outline</vt:lpstr>
      <vt:lpstr>          Half wave rectifier </vt:lpstr>
      <vt:lpstr>      Half wave rectification</vt:lpstr>
      <vt:lpstr>Output dc voltage calculation</vt:lpstr>
      <vt:lpstr>PowerPoint Presentation</vt:lpstr>
      <vt:lpstr>PowerPoint Presentation</vt:lpstr>
      <vt:lpstr>Effect of the Barrier Potential on the Half-Wave Rectifier Output </vt:lpstr>
      <vt:lpstr>PowerPoint Presentation</vt:lpstr>
      <vt:lpstr>Peak Inverse Voltage (PIV)</vt:lpstr>
      <vt:lpstr>PowerPoint Presentation</vt:lpstr>
      <vt:lpstr>        Full wave rectification</vt:lpstr>
      <vt:lpstr>Full wave rectifier using transformer and 2 diodes</vt:lpstr>
      <vt:lpstr>Effect of the Turns Ratio on the Output Voltage </vt:lpstr>
      <vt:lpstr>PowerPoint Presentation</vt:lpstr>
      <vt:lpstr>Full wave rectification</vt:lpstr>
      <vt:lpstr>PowerPoint Presentation</vt:lpstr>
      <vt:lpstr>Peak Inverse Voltage</vt:lpstr>
      <vt:lpstr>PowerPoint Presentation</vt:lpstr>
      <vt:lpstr>PowerPoint Presentation</vt:lpstr>
      <vt:lpstr>Full wave rectifier working animation</vt:lpstr>
      <vt:lpstr>formula</vt:lpstr>
      <vt:lpstr>Output voltage of the full wave rectifier Animation</vt:lpstr>
      <vt:lpstr>Bridge rectifier</vt:lpstr>
      <vt:lpstr>Bridge rectifier circuit</vt:lpstr>
      <vt:lpstr>                  Bridge rectifier working animation</vt:lpstr>
      <vt:lpstr>PowerPoint Presentation</vt:lpstr>
      <vt:lpstr>DIODE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Eliud Mwangunule</cp:lastModifiedBy>
  <cp:revision>94</cp:revision>
  <dcterms:created xsi:type="dcterms:W3CDTF">2006-08-16T00:00:00Z</dcterms:created>
  <dcterms:modified xsi:type="dcterms:W3CDTF">2024-01-30T22:37:04Z</dcterms:modified>
</cp:coreProperties>
</file>