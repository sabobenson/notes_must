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69" r:id="rId16"/>
    <p:sldId id="291" r:id="rId17"/>
    <p:sldId id="278" r:id="rId18"/>
    <p:sldId id="281" r:id="rId19"/>
    <p:sldId id="282" r:id="rId20"/>
    <p:sldId id="271" r:id="rId21"/>
    <p:sldId id="274" r:id="rId22"/>
    <p:sldId id="275" r:id="rId23"/>
    <p:sldId id="276" r:id="rId24"/>
    <p:sldId id="277" r:id="rId25"/>
    <p:sldId id="29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89DE2-38B2-4C4F-8177-DE3E2D4A3FE4}" type="datetimeFigureOut">
              <a:rPr lang="en-US" smtClean="0"/>
              <a:pPr/>
              <a:t>12/29/2020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5E212-47ED-4784-84C4-18F786C93C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0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19D185-6829-4A6F-8769-DA0A9ED229A6}" type="slidenum">
              <a:rPr lang="en-US"/>
              <a:pPr/>
              <a:t>17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altLang="en-US" smtClean="0"/>
              <a:t>Fig 6-32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39C60F-021F-4FA3-ACA1-71E3B63B5D27}" type="slidenum">
              <a:rPr lang="en-US"/>
              <a:pPr/>
              <a:t>18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altLang="en-US" smtClean="0"/>
              <a:t>Fig 6-32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8A12-AA6B-4F8C-B789-20B5D4BF3EA3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6C4D-9452-4896-9A15-B78075388F3E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6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A898-A1E5-46A0-9833-4617EC9D1586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0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94D7A-F630-4E33-A2FB-83ABD9222C09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6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5B5C1-F393-459B-B2B0-1849D1DA66EB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9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B5DDC-2E60-45D2-9DC7-C475ADFDC91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3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F134-2AFA-4926-845C-97C5D67BE026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6FB1-8301-469F-9C7D-134B76619CC2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2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B00D-CA30-4F04-9866-ABA79690C067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6702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3557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3368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207563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523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2E82-E603-4F02-8D3A-17CD2DB4358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16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656-9130-4210-8FF4-FDCB5A2E053D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8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34BD2-5992-4505-B393-FE3986BB3EDF}" type="datetime1">
              <a:rPr lang="en-US" smtClean="0"/>
              <a:pPr/>
              <a:t>12/29/2020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0F498F-78B7-403B-8C54-7462D6A11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5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764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4300" b="1" dirty="0" smtClean="0">
                <a:solidFill>
                  <a:schemeClr val="tx1"/>
                </a:solidFill>
              </a:rPr>
              <a:t>L4</a:t>
            </a:r>
          </a:p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Single Stage(small signal)Transistor</a:t>
            </a:r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Amplifiers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924800" cy="53340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i="1" dirty="0" smtClean="0"/>
              <a:t>	</a:t>
            </a:r>
            <a:r>
              <a:rPr lang="en-US" sz="9600" i="1" dirty="0" smtClean="0">
                <a:solidFill>
                  <a:srgbClr val="FF0000"/>
                </a:solidFill>
              </a:rPr>
              <a:t>single </a:t>
            </a:r>
            <a:r>
              <a:rPr lang="en-US" sz="9600" i="1" dirty="0">
                <a:solidFill>
                  <a:srgbClr val="FF0000"/>
                </a:solidFill>
              </a:rPr>
              <a:t>stage transistor amplifier</a:t>
            </a:r>
            <a:r>
              <a:rPr lang="en-US" sz="9600" i="1" dirty="0"/>
              <a:t>. By a stage we </a:t>
            </a:r>
            <a:endParaRPr lang="en-US" sz="9600" i="1" dirty="0" smtClean="0"/>
          </a:p>
          <a:p>
            <a:pPr>
              <a:lnSpc>
                <a:spcPct val="120000"/>
              </a:lnSpc>
              <a:buNone/>
            </a:pPr>
            <a:r>
              <a:rPr lang="en-US" sz="9600" i="1" dirty="0" smtClean="0"/>
              <a:t>	mean a </a:t>
            </a:r>
            <a:r>
              <a:rPr lang="en-US" sz="9600" dirty="0" smtClean="0"/>
              <a:t>single </a:t>
            </a:r>
            <a:r>
              <a:rPr lang="en-US" sz="9600" dirty="0"/>
              <a:t>transistor with its bias and </a:t>
            </a:r>
            <a:r>
              <a:rPr lang="en-US" sz="9600" dirty="0" smtClean="0"/>
              <a:t>auxiliary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 smtClean="0"/>
              <a:t>	 </a:t>
            </a:r>
            <a:r>
              <a:rPr lang="en-US" sz="9600" dirty="0"/>
              <a:t>equipment. It may be emphasised here that a </a:t>
            </a:r>
            <a:endParaRPr lang="en-US" sz="9600" dirty="0" smtClean="0"/>
          </a:p>
          <a:p>
            <a:pPr>
              <a:lnSpc>
                <a:spcPct val="120000"/>
              </a:lnSpc>
              <a:buNone/>
            </a:pPr>
            <a:r>
              <a:rPr lang="en-US" sz="9600" dirty="0" smtClean="0"/>
              <a:t>	practical amplifier </a:t>
            </a:r>
            <a:r>
              <a:rPr lang="en-US" sz="9600" dirty="0"/>
              <a:t>is always a multistage </a:t>
            </a:r>
            <a:r>
              <a:rPr lang="en-US" sz="9600" dirty="0" smtClean="0"/>
              <a:t>amplifier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 smtClean="0"/>
              <a:t> 	</a:t>
            </a:r>
            <a:r>
              <a:rPr lang="en-US" sz="9600" i="1" dirty="0" smtClean="0"/>
              <a:t>i.e</a:t>
            </a:r>
            <a:r>
              <a:rPr lang="en-US" sz="9600" i="1" dirty="0"/>
              <a:t>. it has a number of stages of amplification. </a:t>
            </a:r>
            <a:endParaRPr lang="en-US" sz="9600" i="1" dirty="0" smtClean="0"/>
          </a:p>
          <a:p>
            <a:pPr>
              <a:lnSpc>
                <a:spcPct val="120000"/>
              </a:lnSpc>
              <a:buNone/>
            </a:pPr>
            <a:r>
              <a:rPr lang="en-US" sz="9600" i="1" dirty="0" smtClean="0"/>
              <a:t>	However</a:t>
            </a:r>
            <a:r>
              <a:rPr lang="en-US" sz="9600" i="1" dirty="0"/>
              <a:t>, </a:t>
            </a:r>
            <a:r>
              <a:rPr lang="en-US" sz="9600" i="1" dirty="0" smtClean="0"/>
              <a:t>it </a:t>
            </a:r>
            <a:r>
              <a:rPr lang="en-US" sz="9600" dirty="0" smtClean="0"/>
              <a:t>is </a:t>
            </a:r>
            <a:r>
              <a:rPr lang="en-US" sz="9600" dirty="0"/>
              <a:t>profitable to consider the </a:t>
            </a:r>
            <a:r>
              <a:rPr lang="en-US" sz="9600" dirty="0" smtClean="0"/>
              <a:t>multistage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 smtClean="0"/>
              <a:t>	 </a:t>
            </a:r>
            <a:r>
              <a:rPr lang="en-US" sz="9600" dirty="0"/>
              <a:t>amplifier in terms of single stages that are connected </a:t>
            </a:r>
            <a:r>
              <a:rPr lang="en-US" sz="9600" dirty="0" smtClean="0"/>
              <a:t>together. In </a:t>
            </a:r>
            <a:r>
              <a:rPr lang="en-US" sz="9600" dirty="0"/>
              <a:t>this chapter, we shall confine our attention to </a:t>
            </a:r>
            <a:r>
              <a:rPr lang="en-US" sz="9600" dirty="0" smtClean="0"/>
              <a:t>single </a:t>
            </a:r>
            <a:r>
              <a:rPr lang="en-US" sz="9600" dirty="0"/>
              <a:t>stage transistor </a:t>
            </a:r>
            <a:r>
              <a:rPr lang="en-US" sz="9600" dirty="0" smtClean="0"/>
              <a:t>amplifiers.</a:t>
            </a:r>
          </a:p>
          <a:p>
            <a:pPr>
              <a:lnSpc>
                <a:spcPct val="120000"/>
              </a:lnSpc>
              <a:buNone/>
            </a:pPr>
            <a:r>
              <a:rPr lang="en-US" sz="9600" dirty="0" smtClean="0"/>
              <a:t>		             In Another word</a:t>
            </a:r>
            <a:endParaRPr lang="en-US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5344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	</a:t>
            </a:r>
            <a:r>
              <a:rPr lang="en-US" sz="2400" b="1" dirty="0"/>
              <a:t> </a:t>
            </a:r>
            <a:r>
              <a:rPr lang="en-US" sz="2400" b="1" dirty="0" smtClean="0"/>
              <a:t>        Single </a:t>
            </a:r>
            <a:r>
              <a:rPr lang="en-US" sz="2400" b="1" dirty="0"/>
              <a:t>Stage Transistor Amplifier</a:t>
            </a:r>
          </a:p>
          <a:p>
            <a:pPr>
              <a:buNone/>
            </a:pPr>
            <a:r>
              <a:rPr lang="en-US" sz="2000" i="1" dirty="0"/>
              <a:t>When only one transistor with associated circuitry is used for 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amplifying a </a:t>
            </a:r>
            <a:r>
              <a:rPr lang="en-US" sz="2000" i="1" dirty="0"/>
              <a:t>weak signal, the circuit is known as </a:t>
            </a:r>
            <a:r>
              <a:rPr lang="en-US" sz="2000" b="1" i="1" dirty="0"/>
              <a:t>single stage </a:t>
            </a:r>
            <a:endParaRPr lang="en-US" sz="2000" b="1" i="1" dirty="0" smtClean="0"/>
          </a:p>
          <a:p>
            <a:pPr>
              <a:buNone/>
            </a:pPr>
            <a:r>
              <a:rPr lang="en-US" sz="2000" b="1" i="1" dirty="0" smtClean="0"/>
              <a:t>transistor </a:t>
            </a:r>
            <a:r>
              <a:rPr lang="en-US" sz="2000" b="1" dirty="0" smtClean="0"/>
              <a:t>amplifier.</a:t>
            </a:r>
            <a:r>
              <a:rPr lang="en-US" sz="2000" dirty="0"/>
              <a:t> A single stage transistor amplifier has one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transistor</a:t>
            </a:r>
            <a:r>
              <a:rPr lang="en-US" sz="2000" dirty="0"/>
              <a:t>, bias </a:t>
            </a:r>
            <a:r>
              <a:rPr lang="en-US" sz="2000" dirty="0" smtClean="0"/>
              <a:t>circuit and </a:t>
            </a:r>
            <a:r>
              <a:rPr lang="en-US" sz="2000" dirty="0"/>
              <a:t>other auxiliary components. </a:t>
            </a:r>
            <a:r>
              <a:rPr lang="en-US" sz="2000" dirty="0" smtClean="0"/>
              <a:t>Although</a:t>
            </a:r>
          </a:p>
          <a:p>
            <a:pPr>
              <a:buNone/>
            </a:pPr>
            <a:r>
              <a:rPr lang="en-US" sz="2000" dirty="0" smtClean="0"/>
              <a:t> </a:t>
            </a:r>
            <a:r>
              <a:rPr lang="en-US" sz="2000" dirty="0"/>
              <a:t>a practical amplifier </a:t>
            </a:r>
            <a:r>
              <a:rPr lang="en-US" sz="2000" dirty="0" smtClean="0"/>
              <a:t>consists of </a:t>
            </a:r>
            <a:r>
              <a:rPr lang="en-US" sz="2000" dirty="0"/>
              <a:t>a number of stages, yet such </a:t>
            </a:r>
            <a:r>
              <a:rPr lang="en-US" sz="2000" dirty="0" smtClean="0"/>
              <a:t>a</a:t>
            </a:r>
          </a:p>
          <a:p>
            <a:pPr>
              <a:buNone/>
            </a:pPr>
            <a:r>
              <a:rPr lang="en-US" sz="2000" dirty="0" smtClean="0"/>
              <a:t> </a:t>
            </a:r>
            <a:r>
              <a:rPr lang="en-US" sz="2000" dirty="0"/>
              <a:t>complex circuit can be </a:t>
            </a:r>
            <a:r>
              <a:rPr lang="en-US" sz="2000" dirty="0" smtClean="0"/>
              <a:t>conveniently split </a:t>
            </a:r>
            <a:r>
              <a:rPr lang="en-US" sz="2000" dirty="0"/>
              <a:t>up into separate single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stage</a:t>
            </a:r>
            <a:r>
              <a:rPr lang="en-US" sz="2000" dirty="0"/>
              <a:t> </a:t>
            </a:r>
            <a:r>
              <a:rPr lang="en-US" sz="2000" dirty="0" smtClean="0"/>
              <a:t>by </a:t>
            </a:r>
            <a:r>
              <a:rPr lang="en-US" sz="2000" dirty="0"/>
              <a:t>analysing </a:t>
            </a:r>
            <a:r>
              <a:rPr lang="en-US" sz="2000" dirty="0" smtClean="0"/>
              <a:t>carefully only </a:t>
            </a:r>
            <a:r>
              <a:rPr lang="en-US" sz="2000" dirty="0"/>
              <a:t>a single stage and using this </a:t>
            </a:r>
            <a:r>
              <a:rPr lang="en-US" sz="2000" dirty="0" smtClean="0"/>
              <a:t>single</a:t>
            </a:r>
          </a:p>
          <a:p>
            <a:pPr>
              <a:buNone/>
            </a:pPr>
            <a:r>
              <a:rPr lang="en-US" sz="2000" dirty="0" smtClean="0"/>
              <a:t> stage </a:t>
            </a:r>
            <a:r>
              <a:rPr lang="en-US" sz="2000" dirty="0"/>
              <a:t>analysis repeatedly, </a:t>
            </a:r>
            <a:r>
              <a:rPr lang="en-US" sz="2000" dirty="0" smtClean="0"/>
              <a:t>we can </a:t>
            </a:r>
            <a:r>
              <a:rPr lang="en-US" sz="2000" dirty="0"/>
              <a:t>effectively analyse the </a:t>
            </a:r>
            <a:r>
              <a:rPr lang="en-US" sz="2000" dirty="0" smtClean="0"/>
              <a:t>complex circuit</a:t>
            </a:r>
            <a:r>
              <a:rPr lang="en-US" sz="2000" dirty="0"/>
              <a:t>. It follows, therefore, </a:t>
            </a:r>
            <a:r>
              <a:rPr lang="en-US" sz="2000" dirty="0" smtClean="0"/>
              <a:t>that single </a:t>
            </a:r>
            <a:r>
              <a:rPr lang="en-US" sz="2000" dirty="0"/>
              <a:t>stage amplifier analysis </a:t>
            </a:r>
            <a:r>
              <a:rPr lang="en-US" sz="2000" dirty="0" smtClean="0"/>
              <a:t>is of </a:t>
            </a:r>
            <a:r>
              <a:rPr lang="en-US" sz="2000" dirty="0"/>
              <a:t>great value in understanding </a:t>
            </a:r>
            <a:r>
              <a:rPr lang="en-US" sz="2000" dirty="0" smtClean="0"/>
              <a:t>the</a:t>
            </a:r>
          </a:p>
          <a:p>
            <a:pPr>
              <a:buNone/>
            </a:pPr>
            <a:r>
              <a:rPr lang="en-US" sz="2000" dirty="0" smtClean="0"/>
              <a:t>    practical </a:t>
            </a:r>
            <a:r>
              <a:rPr lang="en-US" sz="2000" dirty="0"/>
              <a:t>amplifier circuits.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4453541"/>
            <a:ext cx="22860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600" b="1" dirty="0" smtClean="0"/>
              <a:t>            How </a:t>
            </a:r>
            <a:r>
              <a:rPr lang="en-US" sz="2600" b="1" dirty="0"/>
              <a:t>Transistor Amplifies ?</a:t>
            </a:r>
          </a:p>
          <a:p>
            <a:pPr>
              <a:buNone/>
            </a:pPr>
            <a:r>
              <a:rPr lang="en-US" sz="2600" dirty="0"/>
              <a:t>Fig. 10.1 shows a single stage transistor amplifier. When a weak </a:t>
            </a:r>
            <a:r>
              <a:rPr lang="en-US" sz="2600" dirty="0" err="1"/>
              <a:t>a.c</a:t>
            </a:r>
            <a:r>
              <a:rPr lang="en-US" sz="2600" dirty="0"/>
              <a:t>. signal is given to the base </a:t>
            </a:r>
            <a:r>
              <a:rPr lang="en-US" sz="2600" dirty="0" smtClean="0"/>
              <a:t>of transistor</a:t>
            </a:r>
            <a:r>
              <a:rPr lang="en-US" sz="2600" dirty="0"/>
              <a:t>, a small base current (which is </a:t>
            </a:r>
            <a:r>
              <a:rPr lang="en-US" sz="2600" dirty="0" err="1"/>
              <a:t>a.c</a:t>
            </a:r>
            <a:r>
              <a:rPr lang="en-US" sz="2600" dirty="0"/>
              <a:t>.) starts flowing. Due to transistor action, a much </a:t>
            </a:r>
            <a:r>
              <a:rPr lang="en-US" sz="2600" dirty="0" smtClean="0"/>
              <a:t>larger (β </a:t>
            </a:r>
            <a:r>
              <a:rPr lang="en-US" sz="2600" dirty="0"/>
              <a:t>times the base current) </a:t>
            </a:r>
            <a:r>
              <a:rPr lang="en-US" sz="2600" dirty="0" err="1"/>
              <a:t>a.c</a:t>
            </a:r>
            <a:r>
              <a:rPr lang="en-US" sz="2600" dirty="0"/>
              <a:t>. current flows through the collector load </a:t>
            </a:r>
            <a:r>
              <a:rPr lang="en-US" sz="2600" i="1" dirty="0"/>
              <a:t>RC. As the value of RC is quite</a:t>
            </a:r>
          </a:p>
          <a:p>
            <a:pPr>
              <a:buNone/>
            </a:pPr>
            <a:r>
              <a:rPr lang="en-US" sz="2600" dirty="0"/>
              <a:t>high (usually 4-10 </a:t>
            </a:r>
            <a:r>
              <a:rPr lang="en-US" sz="2600" dirty="0" err="1"/>
              <a:t>kΩ</a:t>
            </a:r>
            <a:r>
              <a:rPr lang="en-US" sz="2600" dirty="0"/>
              <a:t>), therefore, a large voltage appears across </a:t>
            </a:r>
            <a:r>
              <a:rPr lang="en-US" sz="2600" i="1" dirty="0"/>
              <a:t>RC. Thus, a weak signal applied </a:t>
            </a:r>
            <a:r>
              <a:rPr lang="en-US" sz="2600" i="1" dirty="0" smtClean="0"/>
              <a:t>in </a:t>
            </a:r>
            <a:r>
              <a:rPr lang="en-US" sz="2600" dirty="0" smtClean="0"/>
              <a:t>the </a:t>
            </a:r>
            <a:r>
              <a:rPr lang="en-US" sz="2600" dirty="0"/>
              <a:t>base circuit appears in amplified form in the collector circuit. It is in this way that a transistor </a:t>
            </a:r>
            <a:r>
              <a:rPr lang="en-US" sz="2600" dirty="0" smtClean="0"/>
              <a:t>acts as </a:t>
            </a:r>
            <a:r>
              <a:rPr lang="en-US" sz="2600" dirty="0"/>
              <a:t>an amplifier</a:t>
            </a:r>
            <a:r>
              <a:rPr lang="en-US" sz="2600" dirty="0" smtClean="0"/>
              <a:t>.</a:t>
            </a:r>
            <a:r>
              <a:rPr lang="en-US" sz="2600" dirty="0"/>
              <a:t> The action of transistor amplifier can be beautifully explained by referring to Fig. 10.1. </a:t>
            </a:r>
            <a:r>
              <a:rPr lang="en-US" sz="2600" dirty="0" smtClean="0"/>
              <a:t>Suppose a </a:t>
            </a:r>
            <a:r>
              <a:rPr lang="en-US" sz="2600" dirty="0"/>
              <a:t>change of 0.1V in signal voltage produces a change of 2 </a:t>
            </a:r>
            <a:r>
              <a:rPr lang="en-US" sz="2600" dirty="0" err="1"/>
              <a:t>mA</a:t>
            </a:r>
            <a:r>
              <a:rPr lang="en-US" sz="2600" dirty="0"/>
              <a:t> in the collector current. Obviously, </a:t>
            </a:r>
            <a:r>
              <a:rPr lang="en-US" sz="2600" dirty="0" smtClean="0"/>
              <a:t>a signal </a:t>
            </a:r>
            <a:r>
              <a:rPr lang="en-US" sz="2600" dirty="0"/>
              <a:t>of only </a:t>
            </a:r>
            <a:r>
              <a:rPr lang="en-US" sz="2600" dirty="0">
                <a:solidFill>
                  <a:srgbClr val="FF0000"/>
                </a:solidFill>
              </a:rPr>
              <a:t>0.1V</a:t>
            </a:r>
            <a:r>
              <a:rPr lang="en-US" sz="2600" dirty="0"/>
              <a:t> applied to the base will give an output voltage </a:t>
            </a: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= </a:t>
            </a:r>
            <a:r>
              <a:rPr lang="en-US" sz="2600" dirty="0"/>
              <a:t>2 </a:t>
            </a:r>
            <a:r>
              <a:rPr lang="en-US" sz="2600" dirty="0" err="1"/>
              <a:t>mA</a:t>
            </a:r>
            <a:r>
              <a:rPr lang="en-US" sz="2600" dirty="0"/>
              <a:t> × 5 </a:t>
            </a:r>
            <a:r>
              <a:rPr lang="en-US" sz="2600" dirty="0" err="1"/>
              <a:t>kΩ</a:t>
            </a:r>
            <a:r>
              <a:rPr lang="en-US" sz="2600" dirty="0"/>
              <a:t> = </a:t>
            </a:r>
            <a:r>
              <a:rPr lang="en-US" sz="2600" dirty="0">
                <a:solidFill>
                  <a:srgbClr val="FF0000"/>
                </a:solidFill>
              </a:rPr>
              <a:t>10V. </a:t>
            </a:r>
            <a:r>
              <a:rPr lang="en-US" sz="2600" dirty="0"/>
              <a:t>Thus, </a:t>
            </a:r>
            <a:r>
              <a:rPr lang="en-US" sz="2600" dirty="0" smtClean="0"/>
              <a:t>the transistor </a:t>
            </a:r>
            <a:r>
              <a:rPr lang="en-US" sz="2600" dirty="0"/>
              <a:t>has been able to raise the voltage level of the signal from 0.1V to 10V </a:t>
            </a:r>
            <a:r>
              <a:rPr lang="en-US" sz="2600" i="1" dirty="0"/>
              <a:t>i.e. voltage </a:t>
            </a:r>
            <a:r>
              <a:rPr lang="en-US" sz="2600" i="1" dirty="0" smtClean="0"/>
              <a:t>amplification </a:t>
            </a:r>
            <a:r>
              <a:rPr lang="en-US" sz="2600" dirty="0" smtClean="0"/>
              <a:t>or </a:t>
            </a:r>
            <a:r>
              <a:rPr lang="en-US" sz="2600" dirty="0"/>
              <a:t>stage gain is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Graphical Demonstration of Transistor Amplifier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82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Practical </a:t>
            </a:r>
            <a:r>
              <a:rPr lang="en-US" sz="2400" b="1" dirty="0"/>
              <a:t>Circuit of Transistor Amplifier</a:t>
            </a:r>
          </a:p>
          <a:p>
            <a:pPr>
              <a:buNone/>
            </a:pPr>
            <a:r>
              <a:rPr lang="en-US" sz="2400" dirty="0"/>
              <a:t>It is important to note that a transistor can accomplish faithful amplification only if proper </a:t>
            </a:r>
            <a:r>
              <a:rPr lang="en-US" sz="2400" dirty="0" smtClean="0"/>
              <a:t>associated circuitry </a:t>
            </a:r>
            <a:r>
              <a:rPr lang="en-US" sz="2400" dirty="0"/>
              <a:t>is used with it. Fig. 10.3 shows a practical single stage transistor amplifier. The </a:t>
            </a:r>
            <a:r>
              <a:rPr lang="en-US" sz="2400" dirty="0" smtClean="0"/>
              <a:t>various circuit </a:t>
            </a:r>
            <a:r>
              <a:rPr lang="en-US" sz="2400" dirty="0"/>
              <a:t>elements and their functions are described below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19400"/>
            <a:ext cx="6400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477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 err="1">
                <a:solidFill>
                  <a:srgbClr val="FF0000"/>
                </a:solidFill>
              </a:rPr>
              <a:t>i</a:t>
            </a:r>
            <a:r>
              <a:rPr lang="en-US" sz="2400" b="1" i="1" dirty="0">
                <a:solidFill>
                  <a:srgbClr val="FF0000"/>
                </a:solidFill>
              </a:rPr>
              <a:t>) Biasing circuit</a:t>
            </a:r>
            <a:r>
              <a:rPr lang="en-US" sz="2400" b="1" i="1" dirty="0"/>
              <a:t>. </a:t>
            </a:r>
            <a:r>
              <a:rPr lang="en-US" sz="2400" dirty="0"/>
              <a:t>The resistances R1, R2 and RE form </a:t>
            </a:r>
            <a:r>
              <a:rPr lang="en-US" sz="2400" dirty="0" smtClean="0"/>
              <a:t>			the </a:t>
            </a:r>
            <a:r>
              <a:rPr lang="en-US" sz="2400" dirty="0"/>
              <a:t>biasing and </a:t>
            </a:r>
            <a:r>
              <a:rPr lang="en-US" sz="2400" dirty="0" smtClean="0"/>
              <a:t>stabilization </a:t>
            </a:r>
            <a:r>
              <a:rPr lang="en-US" sz="2400" dirty="0"/>
              <a:t>circuit.</a:t>
            </a:r>
          </a:p>
          <a:p>
            <a:pPr>
              <a:buNone/>
            </a:pPr>
            <a:r>
              <a:rPr lang="en-US" sz="2400" dirty="0"/>
              <a:t>The biasing circuit must establish a proper operating point otherwise a part of the negative </a:t>
            </a:r>
            <a:r>
              <a:rPr lang="en-US" sz="2400" dirty="0" smtClean="0"/>
              <a:t>half-cycle of </a:t>
            </a:r>
            <a:r>
              <a:rPr lang="en-US" sz="2400" dirty="0"/>
              <a:t>the signal may be cut off in the output.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ii) Input capacitor </a:t>
            </a:r>
            <a:r>
              <a:rPr lang="en-US" sz="2400" b="1" i="1" dirty="0" err="1">
                <a:solidFill>
                  <a:srgbClr val="FF0000"/>
                </a:solidFill>
              </a:rPr>
              <a:t>Cin</a:t>
            </a:r>
            <a:r>
              <a:rPr lang="en-US" sz="2400" b="1" i="1" dirty="0"/>
              <a:t>. </a:t>
            </a:r>
            <a:r>
              <a:rPr lang="en-US" sz="2400" dirty="0"/>
              <a:t>An electrolytic capacitor </a:t>
            </a:r>
            <a:r>
              <a:rPr lang="en-US" sz="2400" dirty="0" err="1"/>
              <a:t>Cin</a:t>
            </a:r>
            <a:r>
              <a:rPr lang="en-US" sz="2400" dirty="0"/>
              <a:t> </a:t>
            </a:r>
            <a:endParaRPr lang="en-US" sz="2400" dirty="0" smtClean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smtClean="0"/>
              <a:t>			(=</a:t>
            </a:r>
            <a:r>
              <a:rPr lang="en-US" sz="24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/>
              <a:t>0 </a:t>
            </a:r>
            <a:r>
              <a:rPr lang="en-US" sz="2400" dirty="0" err="1" smtClean="0"/>
              <a:t>μF</a:t>
            </a:r>
            <a:r>
              <a:rPr lang="en-US" sz="2400" dirty="0" smtClean="0"/>
              <a:t> </a:t>
            </a:r>
            <a:r>
              <a:rPr lang="en-US" sz="2400" dirty="0"/>
              <a:t>) is used to couple the signal </a:t>
            </a:r>
            <a:r>
              <a:rPr lang="en-US" sz="2400" dirty="0" smtClean="0"/>
              <a:t>to the </a:t>
            </a:r>
            <a:r>
              <a:rPr lang="en-US" sz="2400" dirty="0"/>
              <a:t>base of the transistor. If it is not used, the signal source </a:t>
            </a:r>
            <a:r>
              <a:rPr lang="en-US" sz="2400" dirty="0">
                <a:solidFill>
                  <a:srgbClr val="FF0000"/>
                </a:solidFill>
              </a:rPr>
              <a:t>resistance</a:t>
            </a:r>
            <a:r>
              <a:rPr lang="en-US" sz="2400" dirty="0"/>
              <a:t> will come across </a:t>
            </a:r>
            <a:r>
              <a:rPr lang="en-US" sz="2400" i="1" dirty="0"/>
              <a:t>R2 and </a:t>
            </a:r>
            <a:r>
              <a:rPr lang="en-US" sz="2400" i="1" dirty="0" smtClean="0"/>
              <a:t>thus </a:t>
            </a:r>
            <a:r>
              <a:rPr lang="en-US" sz="2400" dirty="0" smtClean="0"/>
              <a:t>change </a:t>
            </a:r>
            <a:r>
              <a:rPr lang="en-US" sz="2400" dirty="0"/>
              <a:t>the bias. The capacitor </a:t>
            </a:r>
            <a:r>
              <a:rPr lang="en-US" sz="2400" i="1" dirty="0" err="1"/>
              <a:t>Cin</a:t>
            </a:r>
            <a:r>
              <a:rPr lang="en-US" sz="2400" i="1" dirty="0"/>
              <a:t> allows only </a:t>
            </a:r>
            <a:r>
              <a:rPr lang="en-US" sz="2400" i="1" dirty="0" err="1"/>
              <a:t>a.c</a:t>
            </a:r>
            <a:r>
              <a:rPr lang="en-US" sz="2400" i="1" dirty="0"/>
              <a:t>. signal </a:t>
            </a:r>
            <a:r>
              <a:rPr lang="en-US" sz="2400" i="1" dirty="0" smtClean="0"/>
              <a:t>to </a:t>
            </a:r>
            <a:r>
              <a:rPr lang="en-US" sz="2400" i="1" dirty="0"/>
              <a:t>flow but isolates the signal source </a:t>
            </a:r>
            <a:r>
              <a:rPr lang="en-US" sz="2400" i="1" dirty="0" smtClean="0"/>
              <a:t>from R2.*</a:t>
            </a:r>
            <a:r>
              <a:rPr lang="en-US" sz="2400" b="1" i="1" dirty="0"/>
              <a:t> </a:t>
            </a:r>
            <a:endParaRPr lang="en-US" sz="2400" b="1" i="1" dirty="0" smtClean="0"/>
          </a:p>
          <a:p>
            <a:pPr>
              <a:buNone/>
            </a:pPr>
            <a:r>
              <a:rPr lang="en-US" sz="2400" b="1" i="1" dirty="0" smtClean="0">
                <a:solidFill>
                  <a:srgbClr val="FF0000"/>
                </a:solidFill>
              </a:rPr>
              <a:t>iii</a:t>
            </a:r>
            <a:r>
              <a:rPr lang="en-US" sz="2400" b="1" i="1" dirty="0">
                <a:solidFill>
                  <a:srgbClr val="FF0000"/>
                </a:solidFill>
              </a:rPr>
              <a:t>) Emitter bypass capacitor CE</a:t>
            </a:r>
            <a:r>
              <a:rPr lang="en-US" sz="2400" dirty="0"/>
              <a:t>. An emitter bypass capacitor CE </a:t>
            </a:r>
            <a:r>
              <a:rPr lang="en-US" sz="2400" dirty="0" smtClean="0"/>
              <a:t>(</a:t>
            </a:r>
            <a:r>
              <a:rPr lang="en-US" sz="2400" dirty="0"/>
              <a:t>=</a:t>
            </a:r>
            <a:r>
              <a:rPr lang="en-US" sz="2400" dirty="0" smtClean="0"/>
              <a:t>100μF </a:t>
            </a:r>
            <a:r>
              <a:rPr lang="en-US" sz="2400" dirty="0"/>
              <a:t>) is used in </a:t>
            </a:r>
            <a:r>
              <a:rPr lang="en-US" sz="2400" dirty="0" smtClean="0"/>
              <a:t>parallel with </a:t>
            </a:r>
            <a:r>
              <a:rPr lang="en-US" sz="2400" i="1" dirty="0">
                <a:solidFill>
                  <a:srgbClr val="FF0000"/>
                </a:solidFill>
              </a:rPr>
              <a:t>RE to provide a low </a:t>
            </a:r>
            <a:r>
              <a:rPr lang="en-US" sz="2400" i="1" dirty="0"/>
              <a:t>reactance path to the amplified </a:t>
            </a:r>
            <a:r>
              <a:rPr lang="en-US" sz="2400" i="1" dirty="0" err="1"/>
              <a:t>a.c</a:t>
            </a:r>
            <a:r>
              <a:rPr lang="en-US" sz="2400" i="1" dirty="0"/>
              <a:t>. signal. If it is not used, then </a:t>
            </a:r>
            <a:r>
              <a:rPr lang="en-US" sz="2400" i="1" dirty="0" smtClean="0"/>
              <a:t>amplified </a:t>
            </a:r>
            <a:r>
              <a:rPr lang="en-US" sz="2400" dirty="0" err="1" smtClean="0"/>
              <a:t>a.c</a:t>
            </a:r>
            <a:r>
              <a:rPr lang="en-US" sz="2400" dirty="0"/>
              <a:t>. signal flowing through </a:t>
            </a:r>
            <a:r>
              <a:rPr lang="en-US" sz="2400" i="1" dirty="0"/>
              <a:t>RE will cause a voltage drop across it, thereby reducing the output voltage.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324600"/>
          </a:xfrm>
        </p:spPr>
        <p:txBody>
          <a:bodyPr>
            <a:normAutofit/>
          </a:bodyPr>
          <a:lstStyle/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iv) Coupling capacitor CC. </a:t>
            </a:r>
            <a:r>
              <a:rPr lang="en-US" sz="2400" dirty="0"/>
              <a:t>The coupling capacitor CC </a:t>
            </a:r>
            <a:r>
              <a:rPr lang="en-US" sz="2400" dirty="0" smtClean="0"/>
              <a:t>(</a:t>
            </a:r>
            <a:r>
              <a:rPr lang="en-US" sz="2400" dirty="0"/>
              <a:t>=</a:t>
            </a:r>
            <a:r>
              <a:rPr lang="en-US" sz="2400" dirty="0" smtClean="0"/>
              <a:t>10μF</a:t>
            </a:r>
            <a:r>
              <a:rPr lang="en-US" sz="2400" dirty="0"/>
              <a:t>) couples one stage of </a:t>
            </a:r>
            <a:r>
              <a:rPr lang="en-US" sz="2400" dirty="0" smtClean="0"/>
              <a:t>amplification </a:t>
            </a:r>
            <a:r>
              <a:rPr lang="en-US" sz="2400" dirty="0"/>
              <a:t>to the next </a:t>
            </a:r>
            <a:r>
              <a:rPr lang="en-US" sz="2400" dirty="0" smtClean="0"/>
              <a:t>stage. 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dirty="0" smtClean="0"/>
              <a:t>*It </a:t>
            </a:r>
            <a:r>
              <a:rPr lang="en-US" sz="2400" dirty="0"/>
              <a:t>may be noted that a capacitor offers infinite reactance to </a:t>
            </a:r>
            <a:r>
              <a:rPr lang="en-US" sz="2400" dirty="0" err="1"/>
              <a:t>d.c</a:t>
            </a:r>
            <a:r>
              <a:rPr lang="en-US" sz="2400" dirty="0"/>
              <a:t>. and blocks it completely whereas it </a:t>
            </a:r>
            <a:r>
              <a:rPr lang="en-US" sz="2400" dirty="0" smtClean="0"/>
              <a:t>allows </a:t>
            </a:r>
            <a:r>
              <a:rPr lang="en-US" sz="2400" dirty="0" err="1" smtClean="0"/>
              <a:t>a.c</a:t>
            </a:r>
            <a:r>
              <a:rPr lang="en-US" sz="2400" dirty="0"/>
              <a:t>. to pass through </a:t>
            </a:r>
            <a:r>
              <a:rPr lang="en-US" sz="2400" dirty="0" smtClean="0"/>
              <a:t>it</a:t>
            </a:r>
            <a:r>
              <a:rPr lang="en-US" sz="2400" dirty="0" smtClean="0">
                <a:latin typeface="Times New Roman"/>
                <a:cs typeface="Times New Roman"/>
              </a:rPr>
              <a:t>*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/>
              <a:t>If it is not used, the bias conditions of the next stage will be </a:t>
            </a:r>
            <a:r>
              <a:rPr lang="en-US" sz="2400" dirty="0" smtClean="0"/>
              <a:t>drastically changed </a:t>
            </a:r>
            <a:r>
              <a:rPr lang="en-US" sz="2400" dirty="0"/>
              <a:t>due to the shunting effect of </a:t>
            </a:r>
            <a:r>
              <a:rPr lang="en-US" sz="2400" i="1" dirty="0"/>
              <a:t>RC. This is because RC will come in parallel with the </a:t>
            </a:r>
            <a:r>
              <a:rPr lang="en-US" sz="2400" i="1" dirty="0" smtClean="0"/>
              <a:t>upper </a:t>
            </a:r>
            <a:r>
              <a:rPr lang="en-US" sz="2400" dirty="0" smtClean="0"/>
              <a:t>resistance </a:t>
            </a:r>
            <a:r>
              <a:rPr lang="en-US" sz="2400" i="1" dirty="0"/>
              <a:t>R1 of the biasing network of the next stage, thereby altering the biasing conditions of </a:t>
            </a:r>
            <a:r>
              <a:rPr lang="en-US" sz="2400" i="1" dirty="0" smtClean="0"/>
              <a:t>the </a:t>
            </a:r>
            <a:r>
              <a:rPr lang="en-US" sz="2400" dirty="0" smtClean="0"/>
              <a:t>latter</a:t>
            </a:r>
            <a:r>
              <a:rPr lang="en-US" sz="2400" dirty="0"/>
              <a:t>. In short, the coupling capacitor </a:t>
            </a:r>
            <a:r>
              <a:rPr lang="en-US" sz="2400" i="1" dirty="0"/>
              <a:t>CC isolates the </a:t>
            </a:r>
            <a:r>
              <a:rPr lang="en-US" sz="2400" i="1" dirty="0" err="1"/>
              <a:t>d.c</a:t>
            </a:r>
            <a:r>
              <a:rPr lang="en-US" sz="2400" i="1" dirty="0"/>
              <a:t>. of one stage from the next stage, but </a:t>
            </a:r>
            <a:r>
              <a:rPr lang="en-US" sz="2400" i="1" dirty="0" smtClean="0"/>
              <a:t>allows </a:t>
            </a:r>
            <a:r>
              <a:rPr lang="en-US" sz="2400" dirty="0" smtClean="0"/>
              <a:t>the </a:t>
            </a:r>
            <a:r>
              <a:rPr lang="en-US" sz="2400" dirty="0"/>
              <a:t>passage of </a:t>
            </a:r>
            <a:r>
              <a:rPr lang="en-US" sz="2400" dirty="0" err="1"/>
              <a:t>a.c</a:t>
            </a:r>
            <a:r>
              <a:rPr lang="en-US" sz="2400" dirty="0"/>
              <a:t>.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991599" cy="624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	</a:t>
            </a:r>
            <a:r>
              <a:rPr lang="en-US" b="1" dirty="0" smtClean="0"/>
              <a:t>		 </a:t>
            </a:r>
            <a:r>
              <a:rPr lang="en-US" b="1" dirty="0"/>
              <a:t>Phase Reversal</a:t>
            </a:r>
          </a:p>
          <a:p>
            <a:pPr>
              <a:buNone/>
            </a:pPr>
            <a:r>
              <a:rPr lang="en-US" dirty="0"/>
              <a:t>In common emitter connection, when the input signal voltage increases in the positive sense, </a:t>
            </a:r>
            <a:r>
              <a:rPr lang="en-US" dirty="0" smtClean="0"/>
              <a:t>the output </a:t>
            </a:r>
            <a:r>
              <a:rPr lang="en-US" dirty="0"/>
              <a:t>voltage increases in the negative direction and </a:t>
            </a:r>
            <a:r>
              <a:rPr lang="en-US" i="1" dirty="0"/>
              <a:t>vice-versa. In other words, there is a </a:t>
            </a:r>
            <a:r>
              <a:rPr lang="en-US" i="1" dirty="0" smtClean="0"/>
              <a:t>phase </a:t>
            </a:r>
            <a:r>
              <a:rPr lang="en-US" dirty="0" smtClean="0"/>
              <a:t>difference </a:t>
            </a:r>
            <a:r>
              <a:rPr lang="en-US" dirty="0"/>
              <a:t>of 180° between the input and output voltage in </a:t>
            </a:r>
            <a:r>
              <a:rPr lang="en-US" i="1" dirty="0"/>
              <a:t>CE connection. This is called </a:t>
            </a:r>
            <a:r>
              <a:rPr lang="en-US" i="1" dirty="0" smtClean="0"/>
              <a:t>phase </a:t>
            </a:r>
            <a:r>
              <a:rPr lang="en-US" dirty="0" smtClean="0"/>
              <a:t>reversal</a:t>
            </a:r>
            <a:r>
              <a:rPr lang="en-US" dirty="0"/>
              <a:t>.*</a:t>
            </a:r>
          </a:p>
          <a:p>
            <a:pPr>
              <a:buNone/>
            </a:pPr>
            <a:r>
              <a:rPr lang="en-US" i="1" dirty="0"/>
              <a:t>The phase difference of 180° between the signal voltage and output voltage in a common emitter</a:t>
            </a:r>
          </a:p>
          <a:p>
            <a:pPr>
              <a:buNone/>
            </a:pPr>
            <a:r>
              <a:rPr lang="en-US" i="1" dirty="0"/>
              <a:t>amplifier is known as </a:t>
            </a:r>
            <a:r>
              <a:rPr lang="en-US" b="1" i="1" dirty="0"/>
              <a:t>phase reversal.</a:t>
            </a:r>
          </a:p>
          <a:p>
            <a:pPr>
              <a:buNone/>
            </a:pPr>
            <a:r>
              <a:rPr lang="en-US" dirty="0"/>
              <a:t>Consider a common emitter amplifier circuit shown in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Fig</a:t>
            </a:r>
            <a:r>
              <a:rPr lang="en-US" dirty="0"/>
              <a:t>. 10.5. The signal is fed at the </a:t>
            </a:r>
            <a:r>
              <a:rPr lang="en-US" dirty="0" smtClean="0"/>
              <a:t>input terminals </a:t>
            </a:r>
            <a:r>
              <a:rPr lang="en-US" dirty="0"/>
              <a:t>(</a:t>
            </a:r>
            <a:r>
              <a:rPr lang="en-US" i="1" dirty="0"/>
              <a:t>i.e. between base and emitter) and output is taken from collector and emitter end of supply.</a:t>
            </a:r>
          </a:p>
          <a:p>
            <a:pPr>
              <a:buNone/>
            </a:pPr>
            <a:r>
              <a:rPr lang="en-US" dirty="0"/>
              <a:t>The total instantaneous output voltage </a:t>
            </a:r>
            <a:r>
              <a:rPr lang="en-US" i="1" dirty="0" err="1"/>
              <a:t>vCE</a:t>
            </a:r>
            <a:r>
              <a:rPr lang="en-US" i="1" dirty="0"/>
              <a:t> is given by 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5791200"/>
            <a:ext cx="3505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447800"/>
            <a:ext cx="3581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304800"/>
            <a:ext cx="4953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When the signal voltage increases in the positive half-cycle, the base current also increases. </a:t>
            </a:r>
            <a:r>
              <a:rPr lang="en-US" sz="2300" dirty="0" smtClean="0"/>
              <a:t>The result </a:t>
            </a:r>
            <a:r>
              <a:rPr lang="en-US" sz="2300" dirty="0"/>
              <a:t>is that collector current and hence voltage drop </a:t>
            </a:r>
            <a:r>
              <a:rPr lang="en-US" sz="2300" i="1" dirty="0" err="1"/>
              <a:t>iC</a:t>
            </a:r>
            <a:r>
              <a:rPr lang="en-US" sz="2300" i="1" dirty="0"/>
              <a:t> RC increases. As VCC is constant, </a:t>
            </a:r>
            <a:r>
              <a:rPr lang="en-US" sz="2300" i="1" dirty="0" smtClean="0"/>
              <a:t>therefore, </a:t>
            </a:r>
            <a:r>
              <a:rPr lang="en-US" sz="2300" dirty="0" smtClean="0"/>
              <a:t>output </a:t>
            </a:r>
            <a:r>
              <a:rPr lang="en-US" sz="2300" dirty="0"/>
              <a:t>voltage </a:t>
            </a:r>
            <a:r>
              <a:rPr lang="en-US" sz="2300" i="1" dirty="0" err="1"/>
              <a:t>vCE</a:t>
            </a:r>
            <a:r>
              <a:rPr lang="en-US" sz="2300" i="1" dirty="0"/>
              <a:t> decreases. In other words, as the signal voltage is increasing in the positive </a:t>
            </a:r>
            <a:r>
              <a:rPr lang="en-US" sz="2300" i="1" dirty="0" smtClean="0"/>
              <a:t>half cycle, </a:t>
            </a:r>
            <a:r>
              <a:rPr lang="en-US" sz="2300" dirty="0" smtClean="0"/>
              <a:t>the </a:t>
            </a:r>
            <a:r>
              <a:rPr lang="en-US" sz="2300" dirty="0"/>
              <a:t>output voltage is increasing in the negative sense </a:t>
            </a:r>
            <a:r>
              <a:rPr lang="en-US" sz="2300" i="1" dirty="0"/>
              <a:t>i.e. output is 180° out of phase with </a:t>
            </a:r>
            <a:r>
              <a:rPr lang="en-US" sz="2300" i="1" dirty="0" smtClean="0"/>
              <a:t>the </a:t>
            </a:r>
            <a:r>
              <a:rPr lang="en-US" sz="2300" dirty="0" smtClean="0"/>
              <a:t>input</a:t>
            </a:r>
            <a:r>
              <a:rPr lang="en-US" sz="2300" dirty="0"/>
              <a:t>. It follows, therefore, that in a common emitter amplifier, the positive half-cycle of the </a:t>
            </a:r>
            <a:r>
              <a:rPr lang="en-US" sz="2300" dirty="0" smtClean="0"/>
              <a:t>signal appears </a:t>
            </a:r>
            <a:r>
              <a:rPr lang="en-US" sz="2300" dirty="0"/>
              <a:t>as amplified negative half-cycle in the output and </a:t>
            </a:r>
            <a:r>
              <a:rPr lang="en-US" sz="2300" i="1" dirty="0"/>
              <a:t>vice-versa. It may be noted that </a:t>
            </a:r>
            <a:r>
              <a:rPr lang="en-US" sz="2300" i="1" dirty="0" smtClean="0"/>
              <a:t>amplification </a:t>
            </a:r>
            <a:r>
              <a:rPr lang="en-US" sz="2300" dirty="0" smtClean="0"/>
              <a:t>is </a:t>
            </a:r>
            <a:r>
              <a:rPr lang="en-US" sz="2300" dirty="0"/>
              <a:t>not affected by this phase reversal.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4114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fact of phase reversal can be readily proved mathematically. Thus differentiating exp. (</a:t>
            </a:r>
            <a:r>
              <a:rPr lang="en-US" i="1" dirty="0" err="1"/>
              <a:t>i</a:t>
            </a:r>
            <a:r>
              <a:rPr lang="en-US" i="1" dirty="0" smtClean="0"/>
              <a:t>),</a:t>
            </a:r>
            <a:r>
              <a:rPr lang="en-US" dirty="0" smtClean="0"/>
              <a:t>we </a:t>
            </a:r>
            <a:r>
              <a:rPr lang="en-US" dirty="0"/>
              <a:t>get,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9400" y="5105400"/>
            <a:ext cx="21336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953000" y="563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negative sign shows that output</a:t>
            </a:r>
          </a:p>
          <a:p>
            <a:r>
              <a:rPr lang="en-US" dirty="0"/>
              <a:t>voltage is 180° out of phase with</a:t>
            </a:r>
          </a:p>
          <a:p>
            <a:r>
              <a:rPr lang="en-US" dirty="0"/>
              <a:t>the input signal voltage.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 			</a:t>
            </a:r>
            <a:r>
              <a:rPr lang="en-US" sz="2400" b="1" i="1" dirty="0" smtClean="0"/>
              <a:t>A.C</a:t>
            </a:r>
            <a:r>
              <a:rPr lang="en-US" sz="2400" b="1" i="1" dirty="0"/>
              <a:t>. equivalent circuit. </a:t>
            </a:r>
            <a:endParaRPr lang="en-US" sz="2400" b="1" i="1" dirty="0" smtClean="0"/>
          </a:p>
          <a:p>
            <a:pPr>
              <a:buNone/>
            </a:pPr>
            <a:r>
              <a:rPr lang="en-US" sz="2400" i="1" dirty="0" smtClean="0"/>
              <a:t>In the </a:t>
            </a:r>
            <a:r>
              <a:rPr lang="en-US" sz="2400" i="1" dirty="0" err="1" smtClean="0"/>
              <a:t>a.c</a:t>
            </a:r>
            <a:r>
              <a:rPr lang="en-US" sz="2400" i="1" dirty="0" smtClean="0"/>
              <a:t>. equivalent circuit of a </a:t>
            </a:r>
            <a:r>
              <a:rPr lang="en-US" sz="2400" dirty="0" smtClean="0"/>
              <a:t>transistor </a:t>
            </a:r>
            <a:r>
              <a:rPr lang="en-US" sz="2400" dirty="0"/>
              <a:t>amplifier, only </a:t>
            </a:r>
            <a:r>
              <a:rPr lang="en-US" sz="2400" dirty="0" err="1"/>
              <a:t>a.c</a:t>
            </a:r>
            <a:r>
              <a:rPr lang="en-US" sz="2400" dirty="0"/>
              <a:t>. conditions are to be considered. </a:t>
            </a:r>
            <a:r>
              <a:rPr lang="en-US" sz="2400" dirty="0" smtClean="0"/>
              <a:t>Obviously, the </a:t>
            </a:r>
            <a:r>
              <a:rPr lang="en-US" sz="2400" dirty="0" err="1"/>
              <a:t>d.c</a:t>
            </a:r>
            <a:r>
              <a:rPr lang="en-US" sz="2400" dirty="0"/>
              <a:t>. voltage is not important for such a circuit and may </a:t>
            </a:r>
            <a:r>
              <a:rPr lang="en-US" sz="2400" dirty="0" smtClean="0"/>
              <a:t>be considered </a:t>
            </a:r>
            <a:r>
              <a:rPr lang="en-US" sz="2400" dirty="0"/>
              <a:t>zero. The capacitors are generally used to couple or </a:t>
            </a:r>
            <a:r>
              <a:rPr lang="en-US" sz="2400" dirty="0" smtClean="0"/>
              <a:t>bypass the </a:t>
            </a:r>
            <a:r>
              <a:rPr lang="en-US" sz="2400" dirty="0" err="1"/>
              <a:t>a.c</a:t>
            </a:r>
            <a:r>
              <a:rPr lang="en-US" sz="2400" dirty="0"/>
              <a:t>. signal. The designer intentionally selects capacitors that </a:t>
            </a:r>
            <a:r>
              <a:rPr lang="en-US" sz="2400" dirty="0" smtClean="0"/>
              <a:t>are large </a:t>
            </a:r>
            <a:r>
              <a:rPr lang="en-US" sz="2400" dirty="0"/>
              <a:t>enough to appear as </a:t>
            </a:r>
            <a:r>
              <a:rPr lang="en-US" sz="2400" i="1" dirty="0"/>
              <a:t>short circuits to the </a:t>
            </a:r>
            <a:r>
              <a:rPr lang="en-US" sz="2400" i="1" dirty="0" err="1"/>
              <a:t>a.c</a:t>
            </a:r>
            <a:r>
              <a:rPr lang="en-US" sz="2400" i="1" dirty="0"/>
              <a:t>. signal</a:t>
            </a:r>
            <a:r>
              <a:rPr lang="en-US" sz="2400" i="1" dirty="0" smtClean="0"/>
              <a:t>.</a:t>
            </a:r>
            <a:r>
              <a:rPr lang="en-US" sz="2400" dirty="0"/>
              <a:t> in order to draw the </a:t>
            </a:r>
            <a:r>
              <a:rPr lang="en-US" sz="2400" dirty="0" err="1" smtClean="0"/>
              <a:t>a.c</a:t>
            </a:r>
            <a:r>
              <a:rPr lang="en-US" sz="2400" dirty="0" smtClean="0"/>
              <a:t>. equivalent </a:t>
            </a:r>
            <a:r>
              <a:rPr lang="en-US" sz="2400" dirty="0"/>
              <a:t>circuit, the </a:t>
            </a:r>
            <a:r>
              <a:rPr lang="en-US" sz="2400" dirty="0" smtClean="0"/>
              <a:t>following two </a:t>
            </a:r>
            <a:r>
              <a:rPr lang="en-US" sz="2400" dirty="0"/>
              <a:t>steps are applied to the transistor circuit </a:t>
            </a:r>
            <a:r>
              <a:rPr lang="en-US" sz="2400" dirty="0" smtClean="0"/>
              <a:t>:</a:t>
            </a:r>
          </a:p>
          <a:p>
            <a:pPr>
              <a:buNone/>
            </a:pPr>
            <a:r>
              <a:rPr lang="en-US" sz="2400" b="1" dirty="0" smtClean="0"/>
              <a:t>(</a:t>
            </a:r>
            <a:r>
              <a:rPr lang="en-US" sz="2400" b="1" i="1" dirty="0"/>
              <a:t>a) Reduce all </a:t>
            </a:r>
            <a:r>
              <a:rPr lang="en-US" sz="2400" b="1" i="1" dirty="0" err="1"/>
              <a:t>d.c</a:t>
            </a:r>
            <a:r>
              <a:rPr lang="en-US" sz="2400" b="1" i="1" dirty="0"/>
              <a:t>. sources to zero (i.e. VCC = 0).</a:t>
            </a:r>
          </a:p>
          <a:p>
            <a:pPr>
              <a:buNone/>
            </a:pPr>
            <a:r>
              <a:rPr lang="en-US" sz="2400" b="1" dirty="0"/>
              <a:t>(</a:t>
            </a:r>
            <a:r>
              <a:rPr lang="en-US" sz="2400" b="1" i="1" dirty="0"/>
              <a:t>b) Short all the capacitors.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0"/>
            <a:ext cx="7391400" cy="42672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7924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76400" y="4572000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It may be seen that total current in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currents through </a:t>
            </a:r>
            <a:r>
              <a:rPr lang="en-US" i="1" dirty="0" smtClean="0"/>
              <a:t>that branch</a:t>
            </a:r>
            <a:r>
              <a:rPr lang="en-US" i="1" dirty="0"/>
              <a:t>. Similarly, the total voltage across any branch is the sum of </a:t>
            </a:r>
            <a:r>
              <a:rPr lang="en-US" i="1" dirty="0" err="1"/>
              <a:t>d.c</a:t>
            </a:r>
            <a:r>
              <a:rPr lang="en-US" i="1" dirty="0"/>
              <a:t>. and </a:t>
            </a:r>
            <a:r>
              <a:rPr lang="en-US" i="1" dirty="0" err="1"/>
              <a:t>a.c</a:t>
            </a:r>
            <a:r>
              <a:rPr lang="en-US" i="1" dirty="0"/>
              <a:t>. voltages across </a:t>
            </a:r>
            <a:r>
              <a:rPr lang="en-US" i="1" dirty="0" smtClean="0"/>
              <a:t>that branch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Multistage Transistor Amplifiers </a:t>
            </a:r>
            <a:r>
              <a:rPr lang="en-US" b="1" dirty="0"/>
              <a:t>introduction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sz="2400" dirty="0" smtClean="0"/>
              <a:t>Many applications cannot be handle with single-transistor amplifiers in order to meet the specification of a given amplification factor, input resistance and output resistance.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 As a solution – transistor amplifier circuits can be connected in series or cascaded amplifiers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 This can be done either to increase the overall small-signal voltage gain or provide an overall voltage gain greater than 1 with a very low output resistance .</a:t>
            </a:r>
          </a:p>
          <a:p>
            <a:pPr eaLnBrk="1" hangingPunct="1">
              <a:buNone/>
            </a:pPr>
            <a:r>
              <a:rPr lang="en-US" sz="2400" dirty="0" smtClean="0"/>
              <a:t>					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/>
              <a:t>         Multistage Transistor Amplifiers</a:t>
            </a:r>
          </a:p>
          <a:p>
            <a:pPr>
              <a:buNone/>
            </a:pPr>
            <a:r>
              <a:rPr lang="en-US" sz="2800" i="1" dirty="0"/>
              <a:t>A transistor circuit containing more than one stage of amplification is known as </a:t>
            </a:r>
            <a:r>
              <a:rPr lang="en-US" sz="2800" b="1" i="1" dirty="0"/>
              <a:t>multistage </a:t>
            </a:r>
            <a:r>
              <a:rPr lang="en-US" sz="2800" b="1" i="1" dirty="0" smtClean="0"/>
              <a:t>transistor </a:t>
            </a:r>
            <a:r>
              <a:rPr lang="en-US" sz="2800" b="1" dirty="0" smtClean="0"/>
              <a:t>amplifier </a:t>
            </a:r>
            <a:r>
              <a:rPr lang="en-US" sz="2800" dirty="0" smtClean="0"/>
              <a:t>In </a:t>
            </a:r>
            <a:r>
              <a:rPr lang="en-US" sz="2800" dirty="0"/>
              <a:t>a multistage amplifier, a number of single amplifiers are connected in *</a:t>
            </a:r>
            <a:r>
              <a:rPr lang="en-US" sz="2800" i="1" dirty="0"/>
              <a:t>cascade </a:t>
            </a:r>
            <a:r>
              <a:rPr lang="en-US" sz="2800" i="1" dirty="0" smtClean="0"/>
              <a:t>arrangement i.e</a:t>
            </a:r>
            <a:r>
              <a:rPr lang="en-US" sz="2800" i="1" dirty="0"/>
              <a:t>. output of first stage is connected to the input of the second stage through a suitable </a:t>
            </a:r>
            <a:r>
              <a:rPr lang="en-US" sz="2800" i="1" dirty="0" smtClean="0"/>
              <a:t>coupling device </a:t>
            </a:r>
            <a:r>
              <a:rPr lang="en-US" sz="2800" i="1" dirty="0"/>
              <a:t>and so on. </a:t>
            </a:r>
            <a:r>
              <a:rPr lang="en-US" sz="2800" i="1" dirty="0">
                <a:solidFill>
                  <a:srgbClr val="FF0000"/>
                </a:solidFill>
              </a:rPr>
              <a:t>The purpose of coupling </a:t>
            </a:r>
            <a:r>
              <a:rPr lang="en-US" sz="2800" i="1" dirty="0" smtClean="0">
                <a:solidFill>
                  <a:srgbClr val="FF0000"/>
                </a:solidFill>
              </a:rPr>
              <a:t>device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e.g. a capacitor, transformer etc.) </a:t>
            </a:r>
            <a:r>
              <a:rPr lang="en-US" sz="2800" i="1" dirty="0" smtClean="0">
                <a:solidFill>
                  <a:srgbClr val="FF0000"/>
                </a:solidFill>
              </a:rPr>
              <a:t>is: </a:t>
            </a:r>
          </a:p>
          <a:p>
            <a:pPr marL="571500" indent="-571500">
              <a:buAutoNum type="romanLcParenBoth"/>
            </a:pPr>
            <a:r>
              <a:rPr lang="en-US" sz="2800" i="1" dirty="0" smtClean="0"/>
              <a:t>to transfer </a:t>
            </a:r>
            <a:r>
              <a:rPr lang="en-US" sz="2800" dirty="0" err="1" smtClean="0"/>
              <a:t>a.c</a:t>
            </a:r>
            <a:r>
              <a:rPr lang="en-US" sz="2800" dirty="0"/>
              <a:t>. output of one stage to the input of the next stage and </a:t>
            </a:r>
            <a:endParaRPr lang="en-US" sz="2800" dirty="0" smtClean="0"/>
          </a:p>
          <a:p>
            <a:pPr marL="571500" indent="-571500">
              <a:buAutoNum type="romanLcParenBoth"/>
            </a:pPr>
            <a:r>
              <a:rPr lang="en-US" sz="2800" dirty="0" smtClean="0"/>
              <a:t>(</a:t>
            </a:r>
            <a:r>
              <a:rPr lang="en-US" sz="2800" i="1" dirty="0"/>
              <a:t>ii) to isolate the </a:t>
            </a:r>
            <a:r>
              <a:rPr lang="en-US" sz="2800" i="1" dirty="0" err="1"/>
              <a:t>d.c</a:t>
            </a:r>
            <a:r>
              <a:rPr lang="en-US" sz="2800" i="1" dirty="0"/>
              <a:t>. conditions of one </a:t>
            </a:r>
            <a:r>
              <a:rPr lang="en-US" sz="2800" i="1" dirty="0" smtClean="0"/>
              <a:t>stage </a:t>
            </a:r>
            <a:r>
              <a:rPr lang="en-US" sz="2800" dirty="0" smtClean="0"/>
              <a:t>from </a:t>
            </a:r>
            <a:r>
              <a:rPr lang="en-US" sz="2800" dirty="0"/>
              <a:t>the next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600"/>
            <a:ext cx="8077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990600" y="2590800"/>
            <a:ext cx="762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(</a:t>
            </a:r>
            <a:r>
              <a:rPr lang="en-US" b="1" i="1" dirty="0" err="1"/>
              <a:t>i</a:t>
            </a:r>
            <a:r>
              <a:rPr lang="en-US" b="1" i="1" dirty="0"/>
              <a:t>) In RC coupling, a capacitor is used as the coupling device. The capacitor connects the</a:t>
            </a:r>
          </a:p>
          <a:p>
            <a:r>
              <a:rPr lang="en-US" dirty="0"/>
              <a:t>output of one stage to the input of the next stage in order to pass the </a:t>
            </a:r>
            <a:r>
              <a:rPr lang="en-US" dirty="0" err="1"/>
              <a:t>a.c</a:t>
            </a:r>
            <a:r>
              <a:rPr lang="en-US" dirty="0"/>
              <a:t>. signal on while blocking </a:t>
            </a:r>
            <a:r>
              <a:rPr lang="en-US" dirty="0" smtClean="0"/>
              <a:t>the </a:t>
            </a:r>
            <a:r>
              <a:rPr lang="en-US" dirty="0" err="1" smtClean="0"/>
              <a:t>d.c</a:t>
            </a:r>
            <a:r>
              <a:rPr lang="en-US" dirty="0"/>
              <a:t>. bias voltages.</a:t>
            </a:r>
          </a:p>
          <a:p>
            <a:r>
              <a:rPr lang="en-US" b="1" dirty="0"/>
              <a:t>(</a:t>
            </a:r>
            <a:r>
              <a:rPr lang="en-US" b="1" i="1" dirty="0"/>
              <a:t>ii) In transformer coupling, transformer is used as the coupling device. The transformer coupling</a:t>
            </a:r>
          </a:p>
          <a:p>
            <a:r>
              <a:rPr lang="en-US" dirty="0"/>
              <a:t>provides the same two functions (</a:t>
            </a:r>
            <a:r>
              <a:rPr lang="en-US" i="1" dirty="0"/>
              <a:t>viz. to pass the signal on and blocking </a:t>
            </a:r>
            <a:r>
              <a:rPr lang="en-US" i="1" dirty="0" err="1"/>
              <a:t>d.c</a:t>
            </a:r>
            <a:r>
              <a:rPr lang="en-US" i="1" dirty="0"/>
              <a:t>.) but permits </a:t>
            </a:r>
            <a:r>
              <a:rPr lang="en-US" i="1" dirty="0" smtClean="0"/>
              <a:t>in </a:t>
            </a:r>
            <a:r>
              <a:rPr lang="en-US" dirty="0" smtClean="0"/>
              <a:t>addition </a:t>
            </a:r>
            <a:r>
              <a:rPr lang="en-US" dirty="0"/>
              <a:t>impedance matching.</a:t>
            </a:r>
          </a:p>
          <a:p>
            <a:r>
              <a:rPr lang="en-US" b="1" dirty="0"/>
              <a:t>(</a:t>
            </a:r>
            <a:r>
              <a:rPr lang="en-US" b="1" i="1" dirty="0"/>
              <a:t>iii) In direct coupling or </a:t>
            </a:r>
            <a:r>
              <a:rPr lang="en-US" b="1" i="1" dirty="0" err="1"/>
              <a:t>d.c</a:t>
            </a:r>
            <a:r>
              <a:rPr lang="en-US" b="1" i="1" dirty="0"/>
              <a:t>. coupling, the individual amplifier stage bias conditions </a:t>
            </a:r>
            <a:r>
              <a:rPr lang="en-US" b="1" i="1" dirty="0" smtClean="0"/>
              <a:t>are</a:t>
            </a:r>
            <a:r>
              <a:rPr lang="en-US" dirty="0"/>
              <a:t> </a:t>
            </a:r>
            <a:r>
              <a:rPr lang="en-US" dirty="0" smtClean="0"/>
              <a:t>so designed </a:t>
            </a:r>
            <a:r>
              <a:rPr lang="en-US" dirty="0"/>
              <a:t>that the two stages may be directly connected without the necessity for </a:t>
            </a:r>
            <a:r>
              <a:rPr lang="en-US" dirty="0" err="1"/>
              <a:t>d.c</a:t>
            </a:r>
            <a:r>
              <a:rPr lang="en-US" dirty="0"/>
              <a:t>. isolation.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Multistage Amplifiers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762000" y="1752600"/>
            <a:ext cx="7467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200">
                <a:latin typeface="Tahoma" charset="0"/>
              </a:rPr>
              <a:t>Two or more amplifiers can be connected to increase the gain of an ac signal. The overall gain can be calculated by simply multiplying each gain together.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altLang="en-US" sz="2200" b="1" i="1">
                <a:latin typeface="Tahoma" charset="0"/>
              </a:rPr>
              <a:t>A’</a:t>
            </a:r>
            <a:r>
              <a:rPr lang="en-US" altLang="en-US" sz="2200" b="1" i="1" baseline="-25000">
                <a:latin typeface="Tahoma" charset="0"/>
              </a:rPr>
              <a:t>v</a:t>
            </a:r>
            <a:r>
              <a:rPr lang="en-US" altLang="en-US" sz="2200" b="1">
                <a:latin typeface="Tahoma" charset="0"/>
              </a:rPr>
              <a:t> = 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v1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v2</a:t>
            </a:r>
            <a:r>
              <a:rPr lang="en-US" altLang="en-US" sz="2200" b="1" i="1">
                <a:latin typeface="Tahoma" charset="0"/>
              </a:rPr>
              <a:t>A</a:t>
            </a:r>
            <a:r>
              <a:rPr lang="en-US" altLang="en-US" sz="2200" b="1" i="1" baseline="-25000">
                <a:latin typeface="Tahoma" charset="0"/>
              </a:rPr>
              <a:t>v3 </a:t>
            </a:r>
            <a:r>
              <a:rPr lang="en-US" altLang="en-US" sz="2200" b="1">
                <a:latin typeface="Tahoma" charset="0"/>
              </a:rPr>
              <a:t>……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 t="33853" b="34711"/>
          <a:stretch>
            <a:fillRect/>
          </a:stretch>
        </p:blipFill>
        <p:spPr bwMode="auto">
          <a:xfrm>
            <a:off x="609600" y="3505200"/>
            <a:ext cx="77724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Example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62000" y="1752600"/>
            <a:ext cx="7467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200">
                <a:latin typeface="Tahoma" charset="0"/>
              </a:rPr>
              <a:t>Find V</a:t>
            </a:r>
            <a:r>
              <a:rPr lang="en-US" altLang="en-US" sz="2200" baseline="-25000">
                <a:latin typeface="Tahoma" charset="0"/>
              </a:rPr>
              <a:t>out</a:t>
            </a:r>
            <a:endParaRPr lang="en-US" altLang="en-US" sz="2200" b="1" baseline="-25000">
              <a:latin typeface="Tahoma" charset="0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 t="33853" b="34711"/>
          <a:stretch>
            <a:fillRect/>
          </a:stretch>
        </p:blipFill>
        <p:spPr bwMode="auto">
          <a:xfrm>
            <a:off x="990600" y="2819400"/>
            <a:ext cx="77724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219200" y="43434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v1</a:t>
            </a:r>
            <a:r>
              <a:rPr lang="en-US"/>
              <a:t> = 5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90800" y="43434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v2</a:t>
            </a:r>
            <a:r>
              <a:rPr lang="en-US"/>
              <a:t> = 10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038600" y="42672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v3</a:t>
            </a:r>
            <a:r>
              <a:rPr lang="en-US"/>
              <a:t> = 6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172200" y="42672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r>
              <a:rPr lang="en-US" baseline="-25000"/>
              <a:t>vn</a:t>
            </a:r>
            <a:r>
              <a:rPr lang="en-US"/>
              <a:t> = 8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609600" y="30480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in </a:t>
            </a:r>
            <a:r>
              <a:rPr lang="en-US"/>
              <a:t>= 5 mV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76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endParaRPr lang="en-US" sz="1400" i="1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74725" y="120650"/>
            <a:ext cx="455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latin typeface="Times New Roman" pitchFamily="18" charset="0"/>
              </a:rPr>
              <a:t>i) Cascade Connection</a:t>
            </a:r>
          </a:p>
        </p:txBody>
      </p:sp>
      <p:pic>
        <p:nvPicPr>
          <p:cNvPr id="22534" name="Picture 8" descr="scan0003"/>
          <p:cNvPicPr>
            <a:picLocks noChangeAspect="1" noChangeArrowheads="1"/>
          </p:cNvPicPr>
          <p:nvPr/>
        </p:nvPicPr>
        <p:blipFill>
          <a:blip r:embed="rId2"/>
          <a:srcRect l="8888" t="3345" r="11111" b="6689"/>
          <a:stretch>
            <a:fillRect/>
          </a:stretch>
        </p:blipFill>
        <p:spPr bwMode="auto">
          <a:xfrm rot="-60000">
            <a:off x="4648200" y="914400"/>
            <a:ext cx="4267200" cy="318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Text Box 10"/>
          <p:cNvSpPr txBox="1">
            <a:spLocks noChangeArrowheads="1"/>
          </p:cNvSpPr>
          <p:nvPr/>
        </p:nvSpPr>
        <p:spPr bwMode="auto">
          <a:xfrm>
            <a:off x="685800" y="914400"/>
            <a:ext cx="5073650" cy="585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/>
              <a:t>The most widely used method</a:t>
            </a:r>
          </a:p>
          <a:p>
            <a:pPr>
              <a:buFontTx/>
              <a:buChar char="-"/>
            </a:pPr>
            <a:r>
              <a:rPr lang="en-US" dirty="0"/>
              <a:t>Coupling a signal from one stage to the another</a:t>
            </a:r>
          </a:p>
          <a:p>
            <a:r>
              <a:rPr lang="en-US" dirty="0"/>
              <a:t>stage and block dc voltage from one stage to</a:t>
            </a:r>
          </a:p>
          <a:p>
            <a:r>
              <a:rPr lang="en-US" dirty="0"/>
              <a:t>the another stage</a:t>
            </a:r>
          </a:p>
          <a:p>
            <a:r>
              <a:rPr lang="en-US" dirty="0"/>
              <a:t>-The signal developed across the collector</a:t>
            </a:r>
          </a:p>
          <a:p>
            <a:r>
              <a:rPr lang="en-US" dirty="0"/>
              <a:t>resistor of each stage is coupled into</a:t>
            </a:r>
          </a:p>
          <a:p>
            <a:r>
              <a:rPr lang="en-US" dirty="0"/>
              <a:t>the base of the next stage  </a:t>
            </a:r>
          </a:p>
          <a:p>
            <a:r>
              <a:rPr lang="en-US" dirty="0"/>
              <a:t>-The overall gain = product of the </a:t>
            </a:r>
          </a:p>
          <a:p>
            <a:r>
              <a:rPr lang="en-US" dirty="0"/>
              <a:t>individual gain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**refer page 219</a:t>
            </a:r>
            <a:r>
              <a:rPr lang="en-US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   Role </a:t>
            </a:r>
            <a:r>
              <a:rPr lang="en-US" b="1" dirty="0"/>
              <a:t>of Capacitors in Transistor </a:t>
            </a:r>
            <a:r>
              <a:rPr lang="en-US" b="1" dirty="0" smtClean="0"/>
              <a:t>Amplifiers</a:t>
            </a:r>
          </a:p>
          <a:p>
            <a:pPr>
              <a:buNone/>
            </a:pPr>
            <a:r>
              <a:rPr lang="en-US" dirty="0"/>
              <a:t>Regardless of the manner in which a capacitor is connected in a transistor amplifier, its </a:t>
            </a:r>
            <a:r>
              <a:rPr lang="en-US" dirty="0" err="1" smtClean="0"/>
              <a:t>behaviour</a:t>
            </a:r>
            <a:r>
              <a:rPr lang="en-US" dirty="0"/>
              <a:t> </a:t>
            </a:r>
            <a:r>
              <a:rPr lang="en-US" dirty="0" smtClean="0"/>
              <a:t>towards </a:t>
            </a:r>
            <a:r>
              <a:rPr lang="en-US" dirty="0" err="1"/>
              <a:t>d.c</a:t>
            </a:r>
            <a:r>
              <a:rPr lang="en-US" dirty="0"/>
              <a:t>. and </a:t>
            </a:r>
            <a:r>
              <a:rPr lang="en-US" dirty="0" err="1"/>
              <a:t>a.c</a:t>
            </a:r>
            <a:r>
              <a:rPr lang="en-US" dirty="0"/>
              <a:t>. is as follows. </a:t>
            </a:r>
            <a:r>
              <a:rPr lang="en-US" i="1" dirty="0"/>
              <a:t>A capacitor blocks </a:t>
            </a:r>
            <a:r>
              <a:rPr lang="en-US" i="1" dirty="0" err="1"/>
              <a:t>d.c</a:t>
            </a:r>
            <a:r>
              <a:rPr lang="en-US" i="1" dirty="0"/>
              <a:t>. i.e. a capacitor behaves as an “</a:t>
            </a:r>
            <a:r>
              <a:rPr lang="en-US" i="1"/>
              <a:t>open</a:t>
            </a:r>
            <a:r>
              <a:rPr lang="en-US" i="1" smtClean="0"/>
              <a:t>**” to </a:t>
            </a:r>
            <a:r>
              <a:rPr lang="en-US" i="1" dirty="0" err="1"/>
              <a:t>d.c</a:t>
            </a:r>
            <a:r>
              <a:rPr lang="en-US" i="1" dirty="0"/>
              <a:t>. Therefore, for </a:t>
            </a:r>
            <a:r>
              <a:rPr lang="en-US" i="1" dirty="0" err="1"/>
              <a:t>d.c</a:t>
            </a:r>
            <a:r>
              <a:rPr lang="en-US" i="1" dirty="0"/>
              <a:t>. analysis, we can remove the capacitors from the transistor amplifier circuit.</a:t>
            </a:r>
          </a:p>
          <a:p>
            <a:pPr>
              <a:buNone/>
            </a:pPr>
            <a:r>
              <a:rPr lang="en-US" dirty="0"/>
              <a:t>A capacitor offers reactance (= 1/2π</a:t>
            </a:r>
            <a:r>
              <a:rPr lang="en-US" i="1" dirty="0"/>
              <a:t>fC) to </a:t>
            </a:r>
            <a:r>
              <a:rPr lang="en-US" i="1" dirty="0" err="1"/>
              <a:t>a.c</a:t>
            </a:r>
            <a:r>
              <a:rPr lang="en-US" i="1" dirty="0"/>
              <a:t>. depending upon the values of f and C. In </a:t>
            </a:r>
            <a:r>
              <a:rPr lang="en-US" i="1" dirty="0" smtClean="0"/>
              <a:t>practical  </a:t>
            </a:r>
            <a:r>
              <a:rPr lang="en-US" dirty="0" smtClean="0"/>
              <a:t>transistor </a:t>
            </a:r>
            <a:r>
              <a:rPr lang="en-US" dirty="0"/>
              <a:t>circuits, the size of capacitors is so selected that they offer negligible (ideally zero) </a:t>
            </a:r>
            <a:r>
              <a:rPr lang="en-US" dirty="0" smtClean="0"/>
              <a:t>reactance to </a:t>
            </a:r>
            <a:r>
              <a:rPr lang="en-US" dirty="0"/>
              <a:t>the range of frequencies handled by the circuits. Therefore, </a:t>
            </a:r>
            <a:r>
              <a:rPr lang="en-US" i="1" dirty="0"/>
              <a:t>for </a:t>
            </a:r>
            <a:r>
              <a:rPr lang="en-US" i="1" dirty="0" err="1"/>
              <a:t>a.c</a:t>
            </a:r>
            <a:r>
              <a:rPr lang="en-US" i="1" dirty="0"/>
              <a:t>. analysis, we can replace</a:t>
            </a:r>
          </a:p>
          <a:p>
            <a:pPr>
              <a:buNone/>
            </a:pPr>
            <a:r>
              <a:rPr lang="en-US" i="1" dirty="0"/>
              <a:t>the capacitors by a short i.e. by a wire</a:t>
            </a:r>
            <a:r>
              <a:rPr lang="en-US" i="1" dirty="0" smtClean="0"/>
              <a:t>.</a:t>
            </a:r>
            <a:r>
              <a:rPr lang="en-US" dirty="0"/>
              <a:t> The capacitors serve the following two roles in transistor</a:t>
            </a:r>
          </a:p>
          <a:p>
            <a:pPr>
              <a:buNone/>
            </a:pPr>
            <a:r>
              <a:rPr lang="en-US" dirty="0"/>
              <a:t>amplifiers 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/>
              <a:t>1</a:t>
            </a:r>
            <a:r>
              <a:rPr lang="en-US" b="1" dirty="0"/>
              <a:t>. As coupling capacitors</a:t>
            </a:r>
          </a:p>
          <a:p>
            <a:pPr>
              <a:buNone/>
            </a:pPr>
            <a:r>
              <a:rPr lang="en-US" b="1" dirty="0"/>
              <a:t>2. As bypass capacitors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8458199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As coupling capacitors</a:t>
            </a:r>
            <a:r>
              <a:rPr lang="en-US" b="1" dirty="0"/>
              <a:t>. </a:t>
            </a:r>
            <a:r>
              <a:rPr lang="en-US" dirty="0"/>
              <a:t>In most applications, you will not see a single transistor amplifier</a:t>
            </a:r>
            <a:r>
              <a:rPr lang="en-US" b="1" dirty="0"/>
              <a:t>.</a:t>
            </a:r>
          </a:p>
          <a:p>
            <a:pPr>
              <a:buNone/>
            </a:pPr>
            <a:r>
              <a:rPr lang="en-US" dirty="0"/>
              <a:t>Rather we use a multistage amplifier </a:t>
            </a:r>
            <a:r>
              <a:rPr lang="en-US" i="1" dirty="0"/>
              <a:t>i.e. a number of transistor amplifiers are connected in series or</a:t>
            </a:r>
          </a:p>
          <a:p>
            <a:pPr>
              <a:buNone/>
            </a:pPr>
            <a:r>
              <a:rPr lang="en-US" dirty="0"/>
              <a:t>cascaded. The capacitors are commonly used to connect one amplifier stage to another. When a</a:t>
            </a:r>
          </a:p>
          <a:p>
            <a:pPr>
              <a:buNone/>
            </a:pPr>
            <a:r>
              <a:rPr lang="en-US" dirty="0"/>
              <a:t>capacitor is used for this purpose, it is called a </a:t>
            </a:r>
            <a:r>
              <a:rPr lang="en-US" i="1" dirty="0"/>
              <a:t>coupling capacitor. Fig. 11.2 shows the coupling</a:t>
            </a:r>
          </a:p>
          <a:p>
            <a:pPr>
              <a:buNone/>
            </a:pPr>
            <a:r>
              <a:rPr lang="en-US" dirty="0"/>
              <a:t>capacitors (</a:t>
            </a:r>
            <a:r>
              <a:rPr lang="en-US" i="1" dirty="0"/>
              <a:t>CC1; CC2 ; CC3 and CC4) in a multistage amplifier. A coupling capacitor performs the</a:t>
            </a:r>
          </a:p>
          <a:p>
            <a:pPr>
              <a:buNone/>
            </a:pPr>
            <a:r>
              <a:rPr lang="en-US" dirty="0"/>
              <a:t>following two functions :</a:t>
            </a:r>
          </a:p>
          <a:p>
            <a:pPr>
              <a:buNone/>
            </a:pPr>
            <a:r>
              <a:rPr lang="en-US" b="1" dirty="0"/>
              <a:t>(</a:t>
            </a:r>
            <a:r>
              <a:rPr lang="en-US" b="1" i="1" dirty="0" err="1"/>
              <a:t>i</a:t>
            </a:r>
            <a:r>
              <a:rPr lang="en-US" b="1" i="1" dirty="0"/>
              <a:t>) It blocks </a:t>
            </a:r>
            <a:r>
              <a:rPr lang="en-US" b="1" i="1" dirty="0" err="1"/>
              <a:t>d.c</a:t>
            </a:r>
            <a:r>
              <a:rPr lang="en-US" b="1" i="1" dirty="0"/>
              <a:t>. i.e. it provides </a:t>
            </a:r>
            <a:r>
              <a:rPr lang="en-US" b="1" i="1" dirty="0" err="1"/>
              <a:t>d.c</a:t>
            </a:r>
            <a:r>
              <a:rPr lang="en-US" b="1" i="1" dirty="0"/>
              <a:t>. isolation between the two stages of a multistage amplifier.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6400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3400" y="914401"/>
            <a:ext cx="63246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(</a:t>
            </a:r>
            <a:r>
              <a:rPr lang="en-US" sz="2100" b="1" i="1" dirty="0"/>
              <a:t>ii) It passes the </a:t>
            </a:r>
            <a:r>
              <a:rPr lang="en-US" sz="2100" b="1" i="1" dirty="0" err="1"/>
              <a:t>a.c</a:t>
            </a:r>
            <a:r>
              <a:rPr lang="en-US" sz="2100" b="1" i="1" dirty="0"/>
              <a:t>. signal from one stage to the </a:t>
            </a:r>
            <a:r>
              <a:rPr lang="en-US" sz="2100" b="1" i="1" dirty="0" smtClean="0"/>
              <a:t>next </a:t>
            </a:r>
            <a:r>
              <a:rPr lang="en-US" sz="2100" b="1" i="1" dirty="0"/>
              <a:t>with little or no distortion.</a:t>
            </a:r>
            <a:endParaRPr lang="en-US" sz="21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95925" y="1828800"/>
            <a:ext cx="36480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228600" y="1870682"/>
            <a:ext cx="53340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2. As bypass capacitors. Like a coupling</a:t>
            </a:r>
          </a:p>
          <a:p>
            <a:r>
              <a:rPr lang="en-US" sz="2000" dirty="0"/>
              <a:t>capacitor, a bypass capacitor also</a:t>
            </a:r>
          </a:p>
          <a:p>
            <a:r>
              <a:rPr lang="en-US" sz="2000" dirty="0"/>
              <a:t>blocks </a:t>
            </a:r>
            <a:r>
              <a:rPr lang="en-US" sz="2000" dirty="0" err="1"/>
              <a:t>d.c</a:t>
            </a:r>
            <a:r>
              <a:rPr lang="en-US" sz="2000" dirty="0"/>
              <a:t>. and behaves as a short or wire</a:t>
            </a:r>
          </a:p>
          <a:p>
            <a:r>
              <a:rPr lang="en-US" sz="2000" dirty="0"/>
              <a:t>(due to proper selection of capacitor size)</a:t>
            </a:r>
          </a:p>
          <a:p>
            <a:r>
              <a:rPr lang="en-US" sz="2000" dirty="0"/>
              <a:t>to an </a:t>
            </a:r>
            <a:r>
              <a:rPr lang="en-US" sz="2000" dirty="0" err="1"/>
              <a:t>a.c</a:t>
            </a:r>
            <a:r>
              <a:rPr lang="en-US" sz="2000" dirty="0"/>
              <a:t>. signal. But it is used for a </a:t>
            </a:r>
            <a:r>
              <a:rPr lang="en-US" sz="2000" dirty="0" smtClean="0"/>
              <a:t>different purpose</a:t>
            </a:r>
            <a:r>
              <a:rPr lang="en-US" sz="2000" dirty="0"/>
              <a:t>. A bypass capacitor is </a:t>
            </a:r>
            <a:r>
              <a:rPr lang="en-US" sz="2000" dirty="0" smtClean="0"/>
              <a:t>connected in </a:t>
            </a:r>
            <a:r>
              <a:rPr lang="en-US" sz="2000" dirty="0"/>
              <a:t>parallel with a circuit </a:t>
            </a:r>
            <a:r>
              <a:rPr lang="en-US" sz="2000" dirty="0" smtClean="0"/>
              <a:t>component (</a:t>
            </a:r>
            <a:r>
              <a:rPr lang="en-US" sz="2000" i="1" dirty="0" smtClean="0"/>
              <a:t>e.g</a:t>
            </a:r>
            <a:r>
              <a:rPr lang="en-US" sz="2000" i="1" dirty="0"/>
              <a:t>. resistor) to bypass the </a:t>
            </a:r>
            <a:r>
              <a:rPr lang="en-US" sz="2000" i="1" dirty="0" err="1"/>
              <a:t>a.c</a:t>
            </a:r>
            <a:r>
              <a:rPr lang="en-US" sz="2000" i="1" dirty="0"/>
              <a:t>. signal </a:t>
            </a:r>
            <a:r>
              <a:rPr lang="en-US" sz="2000" i="1" dirty="0" smtClean="0"/>
              <a:t>and </a:t>
            </a:r>
            <a:r>
              <a:rPr lang="en-US" sz="2000" dirty="0" smtClean="0"/>
              <a:t>hence </a:t>
            </a:r>
            <a:r>
              <a:rPr lang="en-US" sz="2000" dirty="0"/>
              <a:t>the name. </a:t>
            </a:r>
            <a:r>
              <a:rPr lang="en-US" sz="2000" dirty="0" smtClean="0"/>
              <a:t> </a:t>
            </a:r>
            <a:r>
              <a:rPr lang="en-US" sz="2000" dirty="0"/>
              <a:t>shows a </a:t>
            </a:r>
            <a:r>
              <a:rPr lang="en-US" sz="2000" dirty="0" smtClean="0"/>
              <a:t>bypass capacitor </a:t>
            </a:r>
            <a:r>
              <a:rPr lang="en-US" sz="2000" i="1" dirty="0"/>
              <a:t>CE connected across the </a:t>
            </a:r>
            <a:r>
              <a:rPr lang="en-US" sz="2000" i="1" dirty="0" smtClean="0"/>
              <a:t>emitter </a:t>
            </a:r>
            <a:r>
              <a:rPr lang="en-US" sz="2000" dirty="0" smtClean="0"/>
              <a:t>resistance </a:t>
            </a:r>
            <a:r>
              <a:rPr lang="en-US" sz="2000" i="1" dirty="0"/>
              <a:t>RE. Since CE behaves as a </a:t>
            </a:r>
            <a:r>
              <a:rPr lang="en-US" sz="2000" i="1" dirty="0" smtClean="0"/>
              <a:t>short </a:t>
            </a:r>
            <a:r>
              <a:rPr lang="en-US" sz="2000" dirty="0" smtClean="0"/>
              <a:t>to </a:t>
            </a:r>
            <a:r>
              <a:rPr lang="en-US" sz="2000" dirty="0"/>
              <a:t>the </a:t>
            </a:r>
            <a:r>
              <a:rPr lang="en-US" sz="2000" dirty="0" err="1"/>
              <a:t>a.c</a:t>
            </a:r>
            <a:r>
              <a:rPr lang="en-US" sz="2000" dirty="0"/>
              <a:t>. signal, the whole of </a:t>
            </a:r>
            <a:r>
              <a:rPr lang="en-US" sz="2000" dirty="0" err="1"/>
              <a:t>a.c</a:t>
            </a:r>
            <a:r>
              <a:rPr lang="en-US" sz="2000" dirty="0"/>
              <a:t>. </a:t>
            </a:r>
            <a:r>
              <a:rPr lang="en-US" sz="2000" dirty="0" smtClean="0"/>
              <a:t>signal (</a:t>
            </a:r>
            <a:r>
              <a:rPr lang="en-US" sz="2000" i="1" dirty="0" err="1" smtClean="0"/>
              <a:t>ie</a:t>
            </a:r>
            <a:r>
              <a:rPr lang="en-US" sz="2000" i="1" dirty="0"/>
              <a:t>) passes through it. Note that CE </a:t>
            </a:r>
            <a:r>
              <a:rPr lang="en-US" sz="2000" i="1" dirty="0" smtClean="0"/>
              <a:t>keeps </a:t>
            </a:r>
            <a:r>
              <a:rPr lang="en-US" sz="2000" dirty="0" smtClean="0"/>
              <a:t>the </a:t>
            </a:r>
            <a:r>
              <a:rPr lang="en-US" sz="2000" dirty="0"/>
              <a:t>emitter at </a:t>
            </a:r>
            <a:r>
              <a:rPr lang="en-US" sz="2000" dirty="0" err="1"/>
              <a:t>a.c</a:t>
            </a:r>
            <a:r>
              <a:rPr lang="en-US" sz="2000" dirty="0"/>
              <a:t>. ground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Thus for </a:t>
            </a:r>
            <a:r>
              <a:rPr lang="en-US" dirty="0" err="1" smtClean="0"/>
              <a:t>a.c</a:t>
            </a:r>
            <a:r>
              <a:rPr lang="en-US" dirty="0" smtClean="0"/>
              <a:t>. purposes</a:t>
            </a:r>
            <a:r>
              <a:rPr lang="en-US" dirty="0"/>
              <a:t>, </a:t>
            </a:r>
            <a:r>
              <a:rPr lang="en-US" i="1" dirty="0"/>
              <a:t>RE does not exist. We have </a:t>
            </a:r>
            <a:r>
              <a:rPr lang="en-US" i="1" dirty="0" smtClean="0"/>
              <a:t>already </a:t>
            </a:r>
            <a:r>
              <a:rPr lang="en-US" dirty="0" smtClean="0"/>
              <a:t>seen </a:t>
            </a:r>
            <a:r>
              <a:rPr lang="en-US" dirty="0"/>
              <a:t>in the previous chapter that </a:t>
            </a:r>
            <a:r>
              <a:rPr lang="en-US" i="1" dirty="0" smtClean="0"/>
              <a:t>CE </a:t>
            </a:r>
            <a:r>
              <a:rPr lang="en-US" dirty="0" smtClean="0"/>
              <a:t>plays </a:t>
            </a:r>
            <a:r>
              <a:rPr lang="en-US" dirty="0"/>
              <a:t>an important role in determining the</a:t>
            </a:r>
          </a:p>
          <a:p>
            <a:pPr>
              <a:buNone/>
            </a:pPr>
            <a:r>
              <a:rPr lang="en-US" dirty="0"/>
              <a:t>voltage gain of the amplifier circuit. If </a:t>
            </a:r>
            <a:r>
              <a:rPr lang="en-US" i="1" dirty="0"/>
              <a:t>CE is</a:t>
            </a:r>
          </a:p>
          <a:p>
            <a:pPr>
              <a:buNone/>
            </a:pPr>
            <a:r>
              <a:rPr lang="en-US" dirty="0"/>
              <a:t>removed, the voltage gain of the amplifier</a:t>
            </a:r>
          </a:p>
          <a:p>
            <a:pPr>
              <a:buNone/>
            </a:pPr>
            <a:r>
              <a:rPr lang="en-US" dirty="0"/>
              <a:t>is greatly reduced. Note that </a:t>
            </a:r>
            <a:r>
              <a:rPr lang="en-US" i="1" dirty="0" err="1"/>
              <a:t>Cin</a:t>
            </a:r>
            <a:r>
              <a:rPr lang="en-US" i="1" dirty="0"/>
              <a:t> is the coupling capacitor in this circuit</a:t>
            </a:r>
            <a:r>
              <a:rPr lang="en-US" i="1" dirty="0" smtClean="0"/>
              <a:t>.</a:t>
            </a:r>
          </a:p>
          <a:p>
            <a:pPr>
              <a:buNone/>
            </a:pPr>
            <a:r>
              <a:rPr lang="en-US" b="1" dirty="0" smtClean="0"/>
              <a:t> </a:t>
            </a:r>
            <a:r>
              <a:rPr lang="en-US" b="1" dirty="0"/>
              <a:t>Important Terms</a:t>
            </a:r>
          </a:p>
          <a:p>
            <a:pPr>
              <a:buNone/>
            </a:pPr>
            <a:r>
              <a:rPr lang="en-US" dirty="0"/>
              <a:t>In the study of multistage amplifiers, we shall frequently come across the </a:t>
            </a:r>
            <a:r>
              <a:rPr lang="en-US" dirty="0">
                <a:solidFill>
                  <a:srgbClr val="FF0000"/>
                </a:solidFill>
              </a:rPr>
              <a:t>terms </a:t>
            </a:r>
            <a:r>
              <a:rPr lang="en-US" i="1" dirty="0">
                <a:solidFill>
                  <a:srgbClr val="FF0000"/>
                </a:solidFill>
              </a:rPr>
              <a:t>gain</a:t>
            </a:r>
            <a:r>
              <a:rPr lang="en-US" i="1" dirty="0"/>
              <a:t>,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frequency response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decibel gain </a:t>
            </a:r>
            <a:r>
              <a:rPr lang="en-US" i="1" dirty="0"/>
              <a:t>and </a:t>
            </a:r>
            <a:r>
              <a:rPr lang="en-US" i="1" dirty="0">
                <a:solidFill>
                  <a:srgbClr val="FF0000"/>
                </a:solidFill>
              </a:rPr>
              <a:t>bandwidth.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76400"/>
            <a:ext cx="6347714" cy="4364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SELF STUDY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	CC Amplifiers</a:t>
            </a:r>
          </a:p>
          <a:p>
            <a:pPr marL="0" indent="0">
              <a:buNone/>
            </a:pPr>
            <a:r>
              <a:rPr lang="en-US" dirty="0" smtClean="0"/>
              <a:t>   	CB Amplifiers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498F-78B7-403B-8C54-7462D6A115A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319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533</TotalTime>
  <Words>1604</Words>
  <Application>Microsoft Office PowerPoint</Application>
  <PresentationFormat>On-screen Show (4:3)</PresentationFormat>
  <Paragraphs>164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Facet</vt:lpstr>
      <vt:lpstr>PowerPoint Presentation</vt:lpstr>
      <vt:lpstr>         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Multistage Transistor Amplifiers introduction</vt:lpstr>
      <vt:lpstr>PowerPoint Presentation</vt:lpstr>
      <vt:lpstr>PowerPoint Presentation</vt:lpstr>
      <vt:lpstr>Multistage Amplifiers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</dc:creator>
  <cp:lastModifiedBy>Eng.Siko</cp:lastModifiedBy>
  <cp:revision>99</cp:revision>
  <dcterms:created xsi:type="dcterms:W3CDTF">2016-12-07T04:48:36Z</dcterms:created>
  <dcterms:modified xsi:type="dcterms:W3CDTF">2020-12-29T05:35:20Z</dcterms:modified>
</cp:coreProperties>
</file>