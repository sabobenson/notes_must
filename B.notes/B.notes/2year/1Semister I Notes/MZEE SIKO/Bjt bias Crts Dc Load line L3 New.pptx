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3" autoAdjust="0"/>
    <p:restoredTop sz="94660"/>
  </p:normalViewPr>
  <p:slideViewPr>
    <p:cSldViewPr snapToGrid="0">
      <p:cViewPr varScale="1">
        <p:scale>
          <a:sx n="77" d="100"/>
          <a:sy n="77" d="100"/>
        </p:scale>
        <p:origin x="240"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4"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emf"/><Relationship Id="rId4" Type="http://schemas.openxmlformats.org/officeDocument/2006/relationships/image" Target="../media/image3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2.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wmf"/><Relationship Id="rId1" Type="http://schemas.openxmlformats.org/officeDocument/2006/relationships/image" Target="../media/image56.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 Id="rId4" Type="http://schemas.openxmlformats.org/officeDocument/2006/relationships/image" Target="../media/image63.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4E069D-26E3-4553-B99B-A849376DDE64}" type="datetimeFigureOut">
              <a:rPr lang="en-US" smtClean="0"/>
              <a:t>12/8/2022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112617-458B-4161-91F6-A288B844A2DD}" type="slidenum">
              <a:rPr lang="en-US" smtClean="0"/>
              <a:t>‹#›</a:t>
            </a:fld>
            <a:endParaRPr lang="en-US"/>
          </a:p>
        </p:txBody>
      </p:sp>
    </p:spTree>
    <p:extLst>
      <p:ext uri="{BB962C8B-B14F-4D97-AF65-F5344CB8AC3E}">
        <p14:creationId xmlns:p14="http://schemas.microsoft.com/office/powerpoint/2010/main" val="3794638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F7ECCA9-5446-42BA-8C6E-9F7993BA9C9B}" type="slidenum">
              <a:rPr lang="en-US" altLang="en-US">
                <a:latin typeface="Calibri" panose="020F0502020204030204" pitchFamily="34" charset="0"/>
              </a:rPr>
              <a:pPr eaLnBrk="1" hangingPunct="1"/>
              <a:t>2</a:t>
            </a:fld>
            <a:endParaRPr lang="en-US" altLang="en-US">
              <a:latin typeface="Calibri" panose="020F0502020204030204" pitchFamily="34" charset="0"/>
            </a:endParaRPr>
          </a:p>
        </p:txBody>
      </p:sp>
      <p:sp>
        <p:nvSpPr>
          <p:cNvPr id="4403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Fig 5-9 Voltage-Div. Bias</a:t>
            </a:r>
          </a:p>
        </p:txBody>
      </p:sp>
    </p:spTree>
    <p:extLst>
      <p:ext uri="{BB962C8B-B14F-4D97-AF65-F5344CB8AC3E}">
        <p14:creationId xmlns:p14="http://schemas.microsoft.com/office/powerpoint/2010/main" val="3995225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DF192C2-44B0-4546-A9B2-DB810364C2F4}" type="slidenum">
              <a:rPr lang="en-US" altLang="en-US">
                <a:latin typeface="Calibri" panose="020F0502020204030204" pitchFamily="34" charset="0"/>
              </a:rPr>
              <a:pPr eaLnBrk="1" hangingPunct="1"/>
              <a:t>3</a:t>
            </a:fld>
            <a:endParaRPr lang="en-US" altLang="en-US">
              <a:latin typeface="Calibri" panose="020F0502020204030204" pitchFamily="34" charset="0"/>
            </a:endParaRPr>
          </a:p>
        </p:txBody>
      </p:sp>
      <p:sp>
        <p:nvSpPr>
          <p:cNvPr id="450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2819875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50613CC-EB4B-42EC-927D-957CBA6056DB}" type="slidenum">
              <a:rPr lang="en-US" altLang="en-US">
                <a:latin typeface="Calibri" panose="020F0502020204030204" pitchFamily="34" charset="0"/>
              </a:rPr>
              <a:pPr eaLnBrk="1" hangingPunct="1"/>
              <a:t>4</a:t>
            </a:fld>
            <a:endParaRPr lang="en-US" altLang="en-US">
              <a:latin typeface="Calibri" panose="020F0502020204030204" pitchFamily="34" charset="0"/>
            </a:endParaRPr>
          </a:p>
        </p:txBody>
      </p:sp>
      <p:sp>
        <p:nvSpPr>
          <p:cNvPr id="4608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Fig 5-10a &amp; b</a:t>
            </a:r>
          </a:p>
        </p:txBody>
      </p:sp>
    </p:spTree>
    <p:extLst>
      <p:ext uri="{BB962C8B-B14F-4D97-AF65-F5344CB8AC3E}">
        <p14:creationId xmlns:p14="http://schemas.microsoft.com/office/powerpoint/2010/main" val="767111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34E7E47-5215-4F5F-8514-484662E2AB93}" type="slidenum">
              <a:rPr lang="en-US" altLang="en-US">
                <a:latin typeface="Calibri" panose="020F0502020204030204" pitchFamily="34" charset="0"/>
              </a:rPr>
              <a:pPr eaLnBrk="1" hangingPunct="1"/>
              <a:t>5</a:t>
            </a:fld>
            <a:endParaRPr lang="en-US" altLang="en-US">
              <a:latin typeface="Calibri" panose="020F0502020204030204" pitchFamily="34" charset="0"/>
            </a:endParaRPr>
          </a:p>
        </p:txBody>
      </p:sp>
      <p:sp>
        <p:nvSpPr>
          <p:cNvPr id="4710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Fig 5-9 Voltage-Div. Bias</a:t>
            </a:r>
          </a:p>
        </p:txBody>
      </p:sp>
    </p:spTree>
    <p:extLst>
      <p:ext uri="{BB962C8B-B14F-4D97-AF65-F5344CB8AC3E}">
        <p14:creationId xmlns:p14="http://schemas.microsoft.com/office/powerpoint/2010/main" val="1404007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82D9242-BF1E-4DC4-81DF-83A47B3EA5AF}" type="slidenum">
              <a:rPr lang="en-US" altLang="en-US">
                <a:latin typeface="Calibri" panose="020F0502020204030204" pitchFamily="34" charset="0"/>
              </a:rPr>
              <a:pPr eaLnBrk="1" hangingPunct="1"/>
              <a:t>6</a:t>
            </a:fld>
            <a:endParaRPr lang="en-US" altLang="en-US">
              <a:latin typeface="Calibri" panose="020F0502020204030204" pitchFamily="34" charset="0"/>
            </a:endParaRPr>
          </a:p>
        </p:txBody>
      </p:sp>
      <p:sp>
        <p:nvSpPr>
          <p:cNvPr id="481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4250965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98487B3-774A-4FEB-A035-84F56354BEAE}" type="slidenum">
              <a:rPr lang="en-US" altLang="en-US">
                <a:latin typeface="Calibri" panose="020F0502020204030204" pitchFamily="34" charset="0"/>
              </a:rPr>
              <a:pPr eaLnBrk="1" hangingPunct="1"/>
              <a:t>7</a:t>
            </a:fld>
            <a:endParaRPr lang="en-US" altLang="en-US">
              <a:latin typeface="Calibri" panose="020F0502020204030204" pitchFamily="34" charset="0"/>
            </a:endParaRPr>
          </a:p>
        </p:txBody>
      </p:sp>
      <p:sp>
        <p:nvSpPr>
          <p:cNvPr id="4915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Fig 5-9 Voltage-Div. Bias</a:t>
            </a:r>
          </a:p>
        </p:txBody>
      </p:sp>
    </p:spTree>
    <p:extLst>
      <p:ext uri="{BB962C8B-B14F-4D97-AF65-F5344CB8AC3E}">
        <p14:creationId xmlns:p14="http://schemas.microsoft.com/office/powerpoint/2010/main" val="3773440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3997B3E-1528-4C7C-B6EF-F8F9BA95D639}" type="slidenum">
              <a:rPr lang="en-US" altLang="en-US">
                <a:latin typeface="Calibri" panose="020F0502020204030204" pitchFamily="34" charset="0"/>
              </a:rPr>
              <a:pPr eaLnBrk="1" hangingPunct="1"/>
              <a:t>9</a:t>
            </a:fld>
            <a:endParaRPr lang="en-US" altLang="en-US">
              <a:latin typeface="Calibri" panose="020F0502020204030204" pitchFamily="34" charset="0"/>
            </a:endParaRPr>
          </a:p>
        </p:txBody>
      </p:sp>
      <p:sp>
        <p:nvSpPr>
          <p:cNvPr id="5017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3959894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48EC85E-18E0-4590-ABE8-BDB0BADDC6CE}" type="slidenum">
              <a:rPr lang="en-US" altLang="en-US">
                <a:latin typeface="Calibri" panose="020F0502020204030204" pitchFamily="34" charset="0"/>
              </a:rPr>
              <a:pPr eaLnBrk="1" hangingPunct="1"/>
              <a:t>10</a:t>
            </a:fld>
            <a:endParaRPr lang="en-US" altLang="en-US">
              <a:latin typeface="Calibri" panose="020F0502020204030204" pitchFamily="34" charset="0"/>
            </a:endParaRPr>
          </a:p>
        </p:txBody>
      </p:sp>
      <p:sp>
        <p:nvSpPr>
          <p:cNvPr id="5120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552641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9EEA764-9B02-4307-9018-145947723EE5}" type="slidenum">
              <a:rPr lang="en-US" altLang="en-US">
                <a:latin typeface="Calibri" panose="020F0502020204030204" pitchFamily="34" charset="0"/>
              </a:rPr>
              <a:pPr eaLnBrk="1" hangingPunct="1"/>
              <a:t>11</a:t>
            </a:fld>
            <a:endParaRPr lang="en-US" altLang="en-US">
              <a:latin typeface="Calibri" panose="020F0502020204030204" pitchFamily="34" charset="0"/>
            </a:endParaRPr>
          </a:p>
        </p:txBody>
      </p:sp>
      <p:sp>
        <p:nvSpPr>
          <p:cNvPr id="522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Fig 5-16</a:t>
            </a:r>
          </a:p>
        </p:txBody>
      </p:sp>
    </p:spTree>
    <p:extLst>
      <p:ext uri="{BB962C8B-B14F-4D97-AF65-F5344CB8AC3E}">
        <p14:creationId xmlns:p14="http://schemas.microsoft.com/office/powerpoint/2010/main" val="23892148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D736457-B1DD-4DEB-AB2E-65B76DCB58CA}" type="slidenum">
              <a:rPr lang="en-US" altLang="en-US">
                <a:latin typeface="Calibri" panose="020F0502020204030204" pitchFamily="34" charset="0"/>
              </a:rPr>
              <a:pPr eaLnBrk="1" hangingPunct="1"/>
              <a:t>12</a:t>
            </a:fld>
            <a:endParaRPr lang="en-US" altLang="en-US">
              <a:latin typeface="Calibri" panose="020F0502020204030204" pitchFamily="34" charset="0"/>
            </a:endParaRPr>
          </a:p>
        </p:txBody>
      </p:sp>
      <p:sp>
        <p:nvSpPr>
          <p:cNvPr id="5325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2067073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B30723-CE10-4027-9EB1-E35D269EA378}" type="slidenum">
              <a:rPr lang="en-US" altLang="en-US">
                <a:latin typeface="Calibri" panose="020F0502020204030204" pitchFamily="34" charset="0"/>
              </a:rPr>
              <a:pPr eaLnBrk="1" hangingPunct="1"/>
              <a:t>35</a:t>
            </a:fld>
            <a:endParaRPr lang="en-US" altLang="en-US">
              <a:latin typeface="Calibri" panose="020F0502020204030204" pitchFamily="34" charset="0"/>
            </a:endParaRPr>
          </a:p>
        </p:txBody>
      </p:sp>
      <p:sp>
        <p:nvSpPr>
          <p:cNvPr id="5427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Fig 5-1a, b, &amp; c</a:t>
            </a:r>
          </a:p>
        </p:txBody>
      </p:sp>
    </p:spTree>
    <p:extLst>
      <p:ext uri="{BB962C8B-B14F-4D97-AF65-F5344CB8AC3E}">
        <p14:creationId xmlns:p14="http://schemas.microsoft.com/office/powerpoint/2010/main" val="42410659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49B7A61-2A00-45B7-8B8F-97A5D5D3D006}" type="slidenum">
              <a:rPr lang="en-US" altLang="en-US">
                <a:latin typeface="Calibri" panose="020F0502020204030204" pitchFamily="34" charset="0"/>
              </a:rPr>
              <a:pPr eaLnBrk="1" hangingPunct="1"/>
              <a:t>36</a:t>
            </a:fld>
            <a:endParaRPr lang="en-US" altLang="en-US">
              <a:latin typeface="Calibri" panose="020F0502020204030204" pitchFamily="34" charset="0"/>
            </a:endParaRPr>
          </a:p>
        </p:txBody>
      </p:sp>
      <p:sp>
        <p:nvSpPr>
          <p:cNvPr id="5529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3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Fig 5-2a &amp; Fig 5-4</a:t>
            </a:r>
          </a:p>
        </p:txBody>
      </p:sp>
    </p:spTree>
    <p:extLst>
      <p:ext uri="{BB962C8B-B14F-4D97-AF65-F5344CB8AC3E}">
        <p14:creationId xmlns:p14="http://schemas.microsoft.com/office/powerpoint/2010/main" val="32425879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BD0F0E6-6404-49D0-9399-3455501F59C4}" type="slidenum">
              <a:rPr lang="en-US" altLang="en-US">
                <a:latin typeface="Calibri" panose="020F0502020204030204" pitchFamily="34" charset="0"/>
              </a:rPr>
              <a:pPr eaLnBrk="1" hangingPunct="1"/>
              <a:t>38</a:t>
            </a:fld>
            <a:endParaRPr lang="en-US" altLang="en-US">
              <a:latin typeface="Calibri" panose="020F0502020204030204" pitchFamily="34" charset="0"/>
            </a:endParaRPr>
          </a:p>
        </p:txBody>
      </p:sp>
      <p:sp>
        <p:nvSpPr>
          <p:cNvPr id="563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22772622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19B24BB-039E-41D1-9ACE-0EEDA7B828BC}" type="slidenum">
              <a:rPr lang="en-US" altLang="en-US">
                <a:latin typeface="Calibri" panose="020F0502020204030204" pitchFamily="34" charset="0"/>
              </a:rPr>
              <a:pPr eaLnBrk="1" hangingPunct="1"/>
              <a:t>39</a:t>
            </a:fld>
            <a:endParaRPr lang="en-US" altLang="en-US">
              <a:latin typeface="Calibri" panose="020F0502020204030204" pitchFamily="34" charset="0"/>
            </a:endParaRPr>
          </a:p>
        </p:txBody>
      </p:sp>
      <p:sp>
        <p:nvSpPr>
          <p:cNvPr id="573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37085483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F30CCEE-8D62-4A23-B9DB-B45C61A8C2C5}" type="slidenum">
              <a:rPr lang="en-US" altLang="en-US">
                <a:latin typeface="Calibri" panose="020F0502020204030204" pitchFamily="34" charset="0"/>
              </a:rPr>
              <a:pPr eaLnBrk="1" hangingPunct="1"/>
              <a:t>40</a:t>
            </a:fld>
            <a:endParaRPr lang="en-US" altLang="en-US">
              <a:latin typeface="Calibri" panose="020F0502020204030204" pitchFamily="34" charset="0"/>
            </a:endParaRPr>
          </a:p>
        </p:txBody>
      </p:sp>
      <p:sp>
        <p:nvSpPr>
          <p:cNvPr id="5837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2380176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4C1CC11-5A13-4F54-8A7E-C68C02A8222C}" type="datetimeFigureOut">
              <a:rPr lang="en-US" smtClean="0"/>
              <a:t>12/8/2022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D618EF-D65B-4D81-99AC-AF7AB55D2B00}" type="slidenum">
              <a:rPr lang="en-US" smtClean="0"/>
              <a:t>‹#›</a:t>
            </a:fld>
            <a:endParaRPr lang="en-US"/>
          </a:p>
        </p:txBody>
      </p:sp>
    </p:spTree>
    <p:extLst>
      <p:ext uri="{BB962C8B-B14F-4D97-AF65-F5344CB8AC3E}">
        <p14:creationId xmlns:p14="http://schemas.microsoft.com/office/powerpoint/2010/main" val="4037234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4C1CC11-5A13-4F54-8A7E-C68C02A8222C}" type="datetimeFigureOut">
              <a:rPr lang="en-US" smtClean="0"/>
              <a:t>12/8/2022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D618EF-D65B-4D81-99AC-AF7AB55D2B00}" type="slidenum">
              <a:rPr lang="en-US" smtClean="0"/>
              <a:t>‹#›</a:t>
            </a:fld>
            <a:endParaRPr lang="en-US"/>
          </a:p>
        </p:txBody>
      </p:sp>
    </p:spTree>
    <p:extLst>
      <p:ext uri="{BB962C8B-B14F-4D97-AF65-F5344CB8AC3E}">
        <p14:creationId xmlns:p14="http://schemas.microsoft.com/office/powerpoint/2010/main" val="3116542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4C1CC11-5A13-4F54-8A7E-C68C02A8222C}" type="datetimeFigureOut">
              <a:rPr lang="en-US" smtClean="0"/>
              <a:t>12/8/2022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D618EF-D65B-4D81-99AC-AF7AB55D2B00}" type="slidenum">
              <a:rPr lang="en-US" smtClean="0"/>
              <a:t>‹#›</a:t>
            </a:fld>
            <a:endParaRPr lang="en-US"/>
          </a:p>
        </p:txBody>
      </p:sp>
    </p:spTree>
    <p:extLst>
      <p:ext uri="{BB962C8B-B14F-4D97-AF65-F5344CB8AC3E}">
        <p14:creationId xmlns:p14="http://schemas.microsoft.com/office/powerpoint/2010/main" val="3603646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4C1CC11-5A13-4F54-8A7E-C68C02A8222C}" type="datetimeFigureOut">
              <a:rPr lang="en-US" smtClean="0"/>
              <a:t>12/8/2022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D618EF-D65B-4D81-99AC-AF7AB55D2B00}" type="slidenum">
              <a:rPr lang="en-US" smtClean="0"/>
              <a:t>‹#›</a:t>
            </a:fld>
            <a:endParaRPr lang="en-US"/>
          </a:p>
        </p:txBody>
      </p:sp>
    </p:spTree>
    <p:extLst>
      <p:ext uri="{BB962C8B-B14F-4D97-AF65-F5344CB8AC3E}">
        <p14:creationId xmlns:p14="http://schemas.microsoft.com/office/powerpoint/2010/main" val="2007655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4C1CC11-5A13-4F54-8A7E-C68C02A8222C}" type="datetimeFigureOut">
              <a:rPr lang="en-US" smtClean="0"/>
              <a:t>12/8/2022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5D618EF-D65B-4D81-99AC-AF7AB55D2B00}" type="slidenum">
              <a:rPr lang="en-US" smtClean="0"/>
              <a:t>‹#›</a:t>
            </a:fld>
            <a:endParaRPr lang="en-US"/>
          </a:p>
        </p:txBody>
      </p:sp>
    </p:spTree>
    <p:extLst>
      <p:ext uri="{BB962C8B-B14F-4D97-AF65-F5344CB8AC3E}">
        <p14:creationId xmlns:p14="http://schemas.microsoft.com/office/powerpoint/2010/main" val="2924384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4C1CC11-5A13-4F54-8A7E-C68C02A8222C}" type="datetimeFigureOut">
              <a:rPr lang="en-US" smtClean="0"/>
              <a:t>12/8/2022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5D618EF-D65B-4D81-99AC-AF7AB55D2B00}" type="slidenum">
              <a:rPr lang="en-US" smtClean="0"/>
              <a:t>‹#›</a:t>
            </a:fld>
            <a:endParaRPr lang="en-US"/>
          </a:p>
        </p:txBody>
      </p:sp>
    </p:spTree>
    <p:extLst>
      <p:ext uri="{BB962C8B-B14F-4D97-AF65-F5344CB8AC3E}">
        <p14:creationId xmlns:p14="http://schemas.microsoft.com/office/powerpoint/2010/main" val="4251560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C1CC11-5A13-4F54-8A7E-C68C02A8222C}" type="datetimeFigureOut">
              <a:rPr lang="en-US" smtClean="0"/>
              <a:t>12/8/2022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5D618EF-D65B-4D81-99AC-AF7AB55D2B00}" type="slidenum">
              <a:rPr lang="en-US" smtClean="0"/>
              <a:t>‹#›</a:t>
            </a:fld>
            <a:endParaRPr lang="en-US"/>
          </a:p>
        </p:txBody>
      </p:sp>
    </p:spTree>
    <p:extLst>
      <p:ext uri="{BB962C8B-B14F-4D97-AF65-F5344CB8AC3E}">
        <p14:creationId xmlns:p14="http://schemas.microsoft.com/office/powerpoint/2010/main" val="172725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4C1CC11-5A13-4F54-8A7E-C68C02A8222C}" type="datetimeFigureOut">
              <a:rPr lang="en-US" smtClean="0"/>
              <a:t>12/8/2022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D618EF-D65B-4D81-99AC-AF7AB55D2B00}" type="slidenum">
              <a:rPr lang="en-US" smtClean="0"/>
              <a:t>‹#›</a:t>
            </a:fld>
            <a:endParaRPr lang="en-US"/>
          </a:p>
        </p:txBody>
      </p:sp>
    </p:spTree>
    <p:extLst>
      <p:ext uri="{BB962C8B-B14F-4D97-AF65-F5344CB8AC3E}">
        <p14:creationId xmlns:p14="http://schemas.microsoft.com/office/powerpoint/2010/main" val="1256963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4C1CC11-5A13-4F54-8A7E-C68C02A8222C}" type="datetimeFigureOut">
              <a:rPr lang="en-US" smtClean="0"/>
              <a:t>12/8/2022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D618EF-D65B-4D81-99AC-AF7AB55D2B00}" type="slidenum">
              <a:rPr lang="en-US" smtClean="0"/>
              <a:t>‹#›</a:t>
            </a:fld>
            <a:endParaRPr lang="en-US"/>
          </a:p>
        </p:txBody>
      </p:sp>
    </p:spTree>
    <p:extLst>
      <p:ext uri="{BB962C8B-B14F-4D97-AF65-F5344CB8AC3E}">
        <p14:creationId xmlns:p14="http://schemas.microsoft.com/office/powerpoint/2010/main" val="1193662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4C1CC11-5A13-4F54-8A7E-C68C02A8222C}" type="datetimeFigureOut">
              <a:rPr lang="en-US" smtClean="0"/>
              <a:t>12/8/2022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D618EF-D65B-4D81-99AC-AF7AB55D2B00}" type="slidenum">
              <a:rPr lang="en-US" smtClean="0"/>
              <a:t>‹#›</a:t>
            </a:fld>
            <a:endParaRPr lang="en-US"/>
          </a:p>
        </p:txBody>
      </p:sp>
    </p:spTree>
    <p:extLst>
      <p:ext uri="{BB962C8B-B14F-4D97-AF65-F5344CB8AC3E}">
        <p14:creationId xmlns:p14="http://schemas.microsoft.com/office/powerpoint/2010/main" val="2612765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4C1CC11-5A13-4F54-8A7E-C68C02A8222C}" type="datetimeFigureOut">
              <a:rPr lang="en-US" smtClean="0"/>
              <a:t>12/8/2022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D618EF-D65B-4D81-99AC-AF7AB55D2B0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709546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4C1CC11-5A13-4F54-8A7E-C68C02A8222C}" type="datetimeFigureOut">
              <a:rPr lang="en-US" smtClean="0"/>
              <a:t>12/8/2022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D618EF-D65B-4D81-99AC-AF7AB55D2B00}" type="slidenum">
              <a:rPr lang="en-US" smtClean="0"/>
              <a:t>‹#›</a:t>
            </a:fld>
            <a:endParaRPr lang="en-US"/>
          </a:p>
        </p:txBody>
      </p:sp>
    </p:spTree>
    <p:extLst>
      <p:ext uri="{BB962C8B-B14F-4D97-AF65-F5344CB8AC3E}">
        <p14:creationId xmlns:p14="http://schemas.microsoft.com/office/powerpoint/2010/main" val="26645583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4C1CC11-5A13-4F54-8A7E-C68C02A8222C}" type="datetimeFigureOut">
              <a:rPr lang="en-US" smtClean="0"/>
              <a:t>12/8/2022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D618EF-D65B-4D81-99AC-AF7AB55D2B0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606398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4C1CC11-5A13-4F54-8A7E-C68C02A8222C}" type="datetimeFigureOut">
              <a:rPr lang="en-US" smtClean="0"/>
              <a:t>12/8/2022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D618EF-D65B-4D81-99AC-AF7AB55D2B00}" type="slidenum">
              <a:rPr lang="en-US" smtClean="0"/>
              <a:t>‹#›</a:t>
            </a:fld>
            <a:endParaRPr lang="en-US"/>
          </a:p>
        </p:txBody>
      </p:sp>
    </p:spTree>
    <p:extLst>
      <p:ext uri="{BB962C8B-B14F-4D97-AF65-F5344CB8AC3E}">
        <p14:creationId xmlns:p14="http://schemas.microsoft.com/office/powerpoint/2010/main" val="15906317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4C1CC11-5A13-4F54-8A7E-C68C02A8222C}" type="datetimeFigureOut">
              <a:rPr lang="en-US" smtClean="0"/>
              <a:t>12/8/2022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D618EF-D65B-4D81-99AC-AF7AB55D2B00}" type="slidenum">
              <a:rPr lang="en-US" smtClean="0"/>
              <a:t>‹#›</a:t>
            </a:fld>
            <a:endParaRPr lang="en-US"/>
          </a:p>
        </p:txBody>
      </p:sp>
    </p:spTree>
    <p:extLst>
      <p:ext uri="{BB962C8B-B14F-4D97-AF65-F5344CB8AC3E}">
        <p14:creationId xmlns:p14="http://schemas.microsoft.com/office/powerpoint/2010/main" val="7082341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4C1CC11-5A13-4F54-8A7E-C68C02A8222C}" type="datetimeFigureOut">
              <a:rPr lang="en-US" smtClean="0"/>
              <a:t>12/8/2022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D618EF-D65B-4D81-99AC-AF7AB55D2B00}" type="slidenum">
              <a:rPr lang="en-US" smtClean="0"/>
              <a:t>‹#›</a:t>
            </a:fld>
            <a:endParaRPr lang="en-US"/>
          </a:p>
        </p:txBody>
      </p:sp>
    </p:spTree>
    <p:extLst>
      <p:ext uri="{BB962C8B-B14F-4D97-AF65-F5344CB8AC3E}">
        <p14:creationId xmlns:p14="http://schemas.microsoft.com/office/powerpoint/2010/main" val="60212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4C1CC11-5A13-4F54-8A7E-C68C02A8222C}" type="datetimeFigureOut">
              <a:rPr lang="en-US" smtClean="0"/>
              <a:t>12/8/2022</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5D618EF-D65B-4D81-99AC-AF7AB55D2B00}" type="slidenum">
              <a:rPr lang="en-US" smtClean="0"/>
              <a:t>‹#›</a:t>
            </a:fld>
            <a:endParaRPr lang="en-US"/>
          </a:p>
        </p:txBody>
      </p:sp>
    </p:spTree>
    <p:extLst>
      <p:ext uri="{BB962C8B-B14F-4D97-AF65-F5344CB8AC3E}">
        <p14:creationId xmlns:p14="http://schemas.microsoft.com/office/powerpoint/2010/main" val="34698038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5.xml"/><Relationship Id="rId7" Type="http://schemas.openxmlformats.org/officeDocument/2006/relationships/image" Target="../media/image6.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5.wmf"/><Relationship Id="rId4" Type="http://schemas.openxmlformats.org/officeDocument/2006/relationships/oleObject" Target="../embeddings/oleObject1.bin"/><Relationship Id="rId9" Type="http://schemas.openxmlformats.org/officeDocument/2006/relationships/image" Target="../media/image7.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14.wmf"/><Relationship Id="rId3" Type="http://schemas.openxmlformats.org/officeDocument/2006/relationships/notesSlide" Target="../notesSlides/notesSlide8.xml"/><Relationship Id="rId7" Type="http://schemas.openxmlformats.org/officeDocument/2006/relationships/image" Target="../media/image11.wmf"/><Relationship Id="rId12"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6.bin"/><Relationship Id="rId11" Type="http://schemas.openxmlformats.org/officeDocument/2006/relationships/image" Target="../media/image13.wmf"/><Relationship Id="rId5" Type="http://schemas.openxmlformats.org/officeDocument/2006/relationships/image" Target="../media/image10.wmf"/><Relationship Id="rId15" Type="http://schemas.openxmlformats.org/officeDocument/2006/relationships/image" Target="../media/image15.w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12.wmf"/><Relationship Id="rId14" Type="http://schemas.openxmlformats.org/officeDocument/2006/relationships/oleObject" Target="../embeddings/oleObject10.bin"/></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notesSlide" Target="../notesSlides/notesSlide10.xml"/><Relationship Id="rId7" Type="http://schemas.openxmlformats.org/officeDocument/2006/relationships/image" Target="../media/image19.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12.bin"/><Relationship Id="rId11" Type="http://schemas.openxmlformats.org/officeDocument/2006/relationships/image" Target="../media/image21.wmf"/><Relationship Id="rId5" Type="http://schemas.openxmlformats.org/officeDocument/2006/relationships/image" Target="../media/image18.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20.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6.xml"/><Relationship Id="rId1" Type="http://schemas.openxmlformats.org/officeDocument/2006/relationships/vmlDrawing" Target="../drawings/vmlDrawing5.vml"/><Relationship Id="rId6" Type="http://schemas.openxmlformats.org/officeDocument/2006/relationships/image" Target="../media/image26.wmf"/><Relationship Id="rId5" Type="http://schemas.openxmlformats.org/officeDocument/2006/relationships/oleObject" Target="../embeddings/oleObject16.bin"/><Relationship Id="rId4" Type="http://schemas.openxmlformats.org/officeDocument/2006/relationships/image" Target="../media/image25.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6.wmf"/><Relationship Id="rId5" Type="http://schemas.openxmlformats.org/officeDocument/2006/relationships/oleObject" Target="../embeddings/oleObject19.bin"/><Relationship Id="rId4" Type="http://schemas.openxmlformats.org/officeDocument/2006/relationships/image" Target="../media/image28.wmf"/></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35.wmf"/><Relationship Id="rId5" Type="http://schemas.openxmlformats.org/officeDocument/2006/relationships/oleObject" Target="../embeddings/oleObject21.bin"/><Relationship Id="rId10" Type="http://schemas.openxmlformats.org/officeDocument/2006/relationships/image" Target="../media/image37.wmf"/><Relationship Id="rId4" Type="http://schemas.openxmlformats.org/officeDocument/2006/relationships/image" Target="../media/image34.emf"/><Relationship Id="rId9" Type="http://schemas.openxmlformats.org/officeDocument/2006/relationships/oleObject" Target="../embeddings/oleObject23.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38.emf"/></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48.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49.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51.wmf"/><Relationship Id="rId5" Type="http://schemas.openxmlformats.org/officeDocument/2006/relationships/oleObject" Target="../embeddings/oleObject28.bin"/><Relationship Id="rId4" Type="http://schemas.openxmlformats.org/officeDocument/2006/relationships/image" Target="../media/image50.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52.emf"/></Relationships>
</file>

<file path=ppt/slides/_rels/slide35.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55.png"/></Relationships>
</file>

<file path=ppt/slides/_rels/slide37.xml.rels><?xml version="1.0" encoding="UTF-8" standalone="yes"?>
<Relationships xmlns="http://schemas.openxmlformats.org/package/2006/relationships"><Relationship Id="rId8" Type="http://schemas.openxmlformats.org/officeDocument/2006/relationships/image" Target="../media/image58.e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57.wmf"/><Relationship Id="rId5" Type="http://schemas.openxmlformats.org/officeDocument/2006/relationships/oleObject" Target="../embeddings/oleObject31.bin"/><Relationship Id="rId4" Type="http://schemas.openxmlformats.org/officeDocument/2006/relationships/image" Target="../media/image56.wmf"/></Relationships>
</file>

<file path=ppt/slides/_rels/slide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notesSlide" Target="../notesSlides/notesSlide14.xml"/><Relationship Id="rId7" Type="http://schemas.openxmlformats.org/officeDocument/2006/relationships/image" Target="../media/image61.w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34.bin"/><Relationship Id="rId11" Type="http://schemas.openxmlformats.org/officeDocument/2006/relationships/image" Target="../media/image63.wmf"/><Relationship Id="rId5" Type="http://schemas.openxmlformats.org/officeDocument/2006/relationships/image" Target="../media/image60.wmf"/><Relationship Id="rId10" Type="http://schemas.openxmlformats.org/officeDocument/2006/relationships/oleObject" Target="../embeddings/oleObject36.bin"/><Relationship Id="rId4" Type="http://schemas.openxmlformats.org/officeDocument/2006/relationships/oleObject" Target="../embeddings/oleObject33.bin"/><Relationship Id="rId9" Type="http://schemas.openxmlformats.org/officeDocument/2006/relationships/image" Target="../media/image62.wmf"/></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65.png"/><Relationship Id="rId5" Type="http://schemas.openxmlformats.org/officeDocument/2006/relationships/image" Target="../media/image64.wmf"/><Relationship Id="rId4" Type="http://schemas.openxmlformats.org/officeDocument/2006/relationships/oleObject" Target="../embeddings/oleObject3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457200" y="274638"/>
            <a:ext cx="10676238" cy="5287962"/>
          </a:xfrm>
        </p:spPr>
        <p:txBody>
          <a:bodyPr/>
          <a:lstStyle/>
          <a:p>
            <a:r>
              <a:rPr lang="en-US" altLang="en-US" b="1" dirty="0" smtClean="0"/>
              <a:t>											</a:t>
            </a:r>
            <a:br>
              <a:rPr lang="en-US" altLang="en-US" b="1" dirty="0" smtClean="0"/>
            </a:br>
            <a:r>
              <a:rPr lang="en-US" altLang="en-US" b="1"/>
              <a:t> </a:t>
            </a:r>
            <a:r>
              <a:rPr lang="en-US" altLang="en-US" b="1" smtClean="0"/>
              <a:t>                             L3</a:t>
            </a:r>
            <a:r>
              <a:rPr lang="en-US" altLang="en-US" b="1" dirty="0" smtClean="0"/>
              <a:t/>
            </a:r>
            <a:br>
              <a:rPr lang="en-US" altLang="en-US" b="1" dirty="0" smtClean="0"/>
            </a:br>
            <a:r>
              <a:rPr lang="en-US" altLang="en-US" b="1" dirty="0" smtClean="0"/>
              <a:t/>
            </a:r>
            <a:br>
              <a:rPr lang="en-US" altLang="en-US" b="1" dirty="0" smtClean="0"/>
            </a:br>
            <a:r>
              <a:rPr lang="en-US" altLang="en-US" sz="4000" b="1" dirty="0" smtClean="0"/>
              <a:t>BIASING CIRCUITS,LOAD  LINE </a:t>
            </a:r>
            <a:r>
              <a:rPr lang="en-US" altLang="en-US" sz="4000" b="1" dirty="0"/>
              <a:t>&amp; Q POINT</a:t>
            </a:r>
            <a:br>
              <a:rPr lang="en-US" altLang="en-US" sz="4000" b="1" dirty="0"/>
            </a:br>
            <a:r>
              <a:rPr lang="en-US" altLang="en-US" sz="4000" b="1" dirty="0" smtClean="0"/>
              <a:t/>
            </a:r>
            <a:br>
              <a:rPr lang="en-US" altLang="en-US" sz="4000" b="1" dirty="0" smtClean="0"/>
            </a:br>
            <a:endParaRPr lang="en-US" altLang="en-US" sz="4000" b="1" dirty="0" smtClean="0"/>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F405B9-55E5-410C-A6E0-B7C8F2A9F5DB}" type="slidenum">
              <a:rPr lang="en-US" altLang="en-US">
                <a:solidFill>
                  <a:srgbClr val="898989"/>
                </a:solidFill>
              </a:rPr>
              <a:pPr eaLnBrk="1" hangingPunct="1"/>
              <a:t>1</a:t>
            </a:fld>
            <a:endParaRPr lang="en-US" altLang="en-US">
              <a:solidFill>
                <a:srgbClr val="898989"/>
              </a:solidFill>
            </a:endParaRPr>
          </a:p>
        </p:txBody>
      </p:sp>
    </p:spTree>
    <p:extLst>
      <p:ext uri="{BB962C8B-B14F-4D97-AF65-F5344CB8AC3E}">
        <p14:creationId xmlns:p14="http://schemas.microsoft.com/office/powerpoint/2010/main" val="2150606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209800" y="304800"/>
            <a:ext cx="7772400" cy="1143000"/>
          </a:xfrm>
        </p:spPr>
        <p:txBody>
          <a:bodyPr/>
          <a:lstStyle/>
          <a:p>
            <a:pPr eaLnBrk="1" hangingPunct="1"/>
            <a:r>
              <a:rPr lang="en-US" altLang="en-US" sz="4000" b="1" dirty="0"/>
              <a:t>Voltage-Divider Bias</a:t>
            </a: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D843F1-E653-426D-9F5E-2A4A5F848278}" type="slidenum">
              <a:rPr lang="en-US" altLang="en-US">
                <a:solidFill>
                  <a:srgbClr val="898989"/>
                </a:solidFill>
              </a:rPr>
              <a:pPr eaLnBrk="1" hangingPunct="1"/>
              <a:t>2</a:t>
            </a:fld>
            <a:endParaRPr lang="en-US" altLang="en-US">
              <a:solidFill>
                <a:srgbClr val="898989"/>
              </a:solidFill>
            </a:endParaRPr>
          </a:p>
        </p:txBody>
      </p:sp>
      <p:sp>
        <p:nvSpPr>
          <p:cNvPr id="18436" name="Text Box 3"/>
          <p:cNvSpPr txBox="1">
            <a:spLocks noChangeArrowheads="1"/>
          </p:cNvSpPr>
          <p:nvPr/>
        </p:nvSpPr>
        <p:spPr bwMode="auto">
          <a:xfrm>
            <a:off x="2057400" y="1295400"/>
            <a:ext cx="4495800" cy="494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50000"/>
              </a:spcBef>
              <a:buFontTx/>
              <a:buChar char="•"/>
            </a:pPr>
            <a:r>
              <a:rPr lang="en-US" altLang="en-US" sz="2100" dirty="0">
                <a:latin typeface="Calibri" panose="020F0502020204030204" pitchFamily="34" charset="0"/>
              </a:rPr>
              <a:t> Voltage-divider bias is the most widely used type of bias circuit. Only one power supply is needed and voltage-divider bias is </a:t>
            </a:r>
            <a:r>
              <a:rPr lang="en-US" altLang="en-US" sz="2100" dirty="0">
                <a:solidFill>
                  <a:srgbClr val="FF0000"/>
                </a:solidFill>
                <a:latin typeface="Calibri" panose="020F0502020204030204" pitchFamily="34" charset="0"/>
              </a:rPr>
              <a:t>more stable(</a:t>
            </a:r>
            <a:r>
              <a:rPr lang="en-US" altLang="en-US" sz="2100" dirty="0">
                <a:solidFill>
                  <a:srgbClr val="FF0000"/>
                </a:solidFill>
                <a:latin typeface="Calibri" panose="020F0502020204030204" pitchFamily="34" charset="0"/>
                <a:sym typeface="Symbol" panose="05050102010706020507" pitchFamily="18" charset="2"/>
              </a:rPr>
              <a:t> independent)</a:t>
            </a:r>
            <a:r>
              <a:rPr lang="en-US" altLang="en-US" sz="2100" dirty="0">
                <a:latin typeface="Calibri" panose="020F0502020204030204" pitchFamily="34" charset="0"/>
              </a:rPr>
              <a:t> than other bias types. For this reason it will be the primary focus for study.</a:t>
            </a:r>
          </a:p>
          <a:p>
            <a:pPr algn="just" eaLnBrk="1" hangingPunct="1">
              <a:spcBef>
                <a:spcPct val="50000"/>
              </a:spcBef>
              <a:buFontTx/>
              <a:buChar char="•"/>
            </a:pPr>
            <a:r>
              <a:rPr lang="en-US" altLang="en-US" sz="2100" dirty="0">
                <a:latin typeface="Calibri" panose="020F0502020204030204" pitchFamily="34" charset="0"/>
              </a:rPr>
              <a:t> dc bias voltage at base of transistor is developed by a resistive voltage-divider consists of </a:t>
            </a:r>
            <a:r>
              <a:rPr lang="en-US" altLang="en-US" sz="2100" dirty="0">
                <a:solidFill>
                  <a:srgbClr val="FF0000"/>
                </a:solidFill>
                <a:latin typeface="Calibri" panose="020F0502020204030204" pitchFamily="34" charset="0"/>
              </a:rPr>
              <a:t>R1 and R2.</a:t>
            </a:r>
          </a:p>
          <a:p>
            <a:pPr algn="just" eaLnBrk="1" hangingPunct="1">
              <a:spcBef>
                <a:spcPct val="50000"/>
              </a:spcBef>
              <a:buFontTx/>
              <a:buChar char="•"/>
            </a:pPr>
            <a:r>
              <a:rPr lang="en-US" altLang="en-US" sz="2100" dirty="0">
                <a:latin typeface="Calibri" panose="020F0502020204030204" pitchFamily="34" charset="0"/>
              </a:rPr>
              <a:t> </a:t>
            </a:r>
            <a:r>
              <a:rPr lang="en-US" altLang="en-US" sz="2100" dirty="0" err="1">
                <a:latin typeface="Calibri" panose="020F0502020204030204" pitchFamily="34" charset="0"/>
              </a:rPr>
              <a:t>Vcc</a:t>
            </a:r>
            <a:r>
              <a:rPr lang="en-US" altLang="en-US" sz="2100" dirty="0">
                <a:latin typeface="Calibri" panose="020F0502020204030204" pitchFamily="34" charset="0"/>
              </a:rPr>
              <a:t> is dc collector supply voltage. </a:t>
            </a:r>
            <a:r>
              <a:rPr lang="en-US" altLang="en-US" sz="2100" dirty="0" smtClean="0">
                <a:latin typeface="Calibri" panose="020F0502020204030204" pitchFamily="34" charset="0"/>
              </a:rPr>
              <a:t>Two(2) </a:t>
            </a:r>
            <a:r>
              <a:rPr lang="en-US" altLang="en-US" sz="2100" dirty="0">
                <a:latin typeface="Calibri" panose="020F0502020204030204" pitchFamily="34" charset="0"/>
              </a:rPr>
              <a:t>current path between point A and ground: one through R2 and the other through BE junction and RE. </a:t>
            </a:r>
          </a:p>
        </p:txBody>
      </p:sp>
      <p:pic>
        <p:nvPicPr>
          <p:cNvPr id="18437" name="Picture 6"/>
          <p:cNvPicPr>
            <a:picLocks noChangeAspect="1" noChangeArrowheads="1"/>
          </p:cNvPicPr>
          <p:nvPr/>
        </p:nvPicPr>
        <p:blipFill>
          <a:blip r:embed="rId3">
            <a:extLst>
              <a:ext uri="{28A0092B-C50C-407E-A947-70E740481C1C}">
                <a14:useLocalDpi xmlns:a14="http://schemas.microsoft.com/office/drawing/2010/main" val="0"/>
              </a:ext>
            </a:extLst>
          </a:blip>
          <a:srcRect l="23750" r="31250"/>
          <a:stretch>
            <a:fillRect/>
          </a:stretch>
        </p:blipFill>
        <p:spPr bwMode="auto">
          <a:xfrm>
            <a:off x="6705600" y="1219200"/>
            <a:ext cx="34290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7506593"/>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en-US" sz="4000" dirty="0" smtClean="0"/>
              <a:t>      Voltage </a:t>
            </a:r>
            <a:r>
              <a:rPr lang="en-US" altLang="en-US" sz="4000" dirty="0"/>
              <a:t>Divider Bias</a:t>
            </a:r>
          </a:p>
        </p:txBody>
      </p:sp>
      <p:pic>
        <p:nvPicPr>
          <p:cNvPr id="19459"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43774"/>
          <a:stretch>
            <a:fillRect/>
          </a:stretch>
        </p:blipFill>
        <p:spPr>
          <a:xfrm>
            <a:off x="3573464" y="1722438"/>
            <a:ext cx="3817937" cy="4525962"/>
          </a:xfrm>
        </p:spPr>
      </p:pic>
      <p:sp>
        <p:nvSpPr>
          <p:cNvPr id="7" name="Slide Number Placeholder 6"/>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B9FC353-6C28-47C1-9FA7-C4BF15273E62}" type="slidenum">
              <a:rPr lang="en-US" altLang="en-US">
                <a:solidFill>
                  <a:srgbClr val="898989"/>
                </a:solidFill>
              </a:rPr>
              <a:pPr eaLnBrk="1" hangingPunct="1"/>
              <a:t>3</a:t>
            </a:fld>
            <a:endParaRPr lang="en-US" altLang="en-US">
              <a:solidFill>
                <a:srgbClr val="898989"/>
              </a:solidFill>
            </a:endParaRPr>
          </a:p>
        </p:txBody>
      </p:sp>
      <p:sp>
        <p:nvSpPr>
          <p:cNvPr id="19461" name="TextBox 4"/>
          <p:cNvSpPr txBox="1">
            <a:spLocks noChangeArrowheads="1"/>
          </p:cNvSpPr>
          <p:nvPr/>
        </p:nvSpPr>
        <p:spPr bwMode="auto">
          <a:xfrm>
            <a:off x="7010400" y="1828801"/>
            <a:ext cx="3200400"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en-US" sz="2400">
                <a:latin typeface="Calibri" panose="020F0502020204030204" pitchFamily="34" charset="0"/>
              </a:rPr>
              <a:t> If IB is much smaller than I2, bias  circuit is viewed as voltage divider of R1 and R2 as shown in Figure a.</a:t>
            </a:r>
          </a:p>
          <a:p>
            <a:pPr algn="just" eaLnBrk="1" hangingPunct="1">
              <a:buFontTx/>
              <a:buChar char="•"/>
            </a:pPr>
            <a:r>
              <a:rPr lang="en-US" altLang="en-US" sz="2400">
                <a:latin typeface="Calibri" panose="020F0502020204030204" pitchFamily="34" charset="0"/>
              </a:rPr>
              <a:t> If IB is not small enough to be neglected, dc input resistance  RIN(base) must be considered. RIN(base) is in parallel with R2 as shown in figure b.  </a:t>
            </a:r>
          </a:p>
          <a:p>
            <a:pPr eaLnBrk="1" hangingPunct="1"/>
            <a:endParaRPr lang="en-IN" altLang="en-US" sz="2400">
              <a:latin typeface="Calibri" panose="020F0502020204030204" pitchFamily="34" charset="0"/>
            </a:endParaRPr>
          </a:p>
        </p:txBody>
      </p:sp>
      <p:pic>
        <p:nvPicPr>
          <p:cNvPr id="19462" name="Picture 4"/>
          <p:cNvPicPr>
            <a:picLocks noChangeAspect="1" noChangeArrowheads="1"/>
          </p:cNvPicPr>
          <p:nvPr/>
        </p:nvPicPr>
        <p:blipFill>
          <a:blip r:embed="rId3">
            <a:extLst>
              <a:ext uri="{28A0092B-C50C-407E-A947-70E740481C1C}">
                <a14:useLocalDpi xmlns:a14="http://schemas.microsoft.com/office/drawing/2010/main" val="0"/>
              </a:ext>
            </a:extLst>
          </a:blip>
          <a:srcRect r="71941"/>
          <a:stretch>
            <a:fillRect/>
          </a:stretch>
        </p:blipFill>
        <p:spPr bwMode="auto">
          <a:xfrm>
            <a:off x="1752600" y="1676401"/>
            <a:ext cx="19050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1809951"/>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2209800" y="0"/>
            <a:ext cx="7772400" cy="1143000"/>
          </a:xfrm>
        </p:spPr>
        <p:txBody>
          <a:bodyPr/>
          <a:lstStyle/>
          <a:p>
            <a:pPr eaLnBrk="1" hangingPunct="1"/>
            <a:r>
              <a:rPr lang="en-US" altLang="en-US"/>
              <a:t>Input Resistance At Transistor Base</a:t>
            </a: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81107D3-5BB4-4955-9A79-6B2D8476AC02}" type="slidenum">
              <a:rPr lang="en-US" altLang="en-US">
                <a:solidFill>
                  <a:srgbClr val="898989"/>
                </a:solidFill>
              </a:rPr>
              <a:pPr eaLnBrk="1" hangingPunct="1"/>
              <a:t>4</a:t>
            </a:fld>
            <a:endParaRPr lang="en-US" altLang="en-US">
              <a:solidFill>
                <a:srgbClr val="898989"/>
              </a:solidFill>
            </a:endParaRPr>
          </a:p>
        </p:txBody>
      </p:sp>
      <p:sp>
        <p:nvSpPr>
          <p:cNvPr id="20484" name="Text Box 3"/>
          <p:cNvSpPr txBox="1">
            <a:spLocks noChangeArrowheads="1"/>
          </p:cNvSpPr>
          <p:nvPr/>
        </p:nvSpPr>
        <p:spPr bwMode="auto">
          <a:xfrm>
            <a:off x="2057400" y="990600"/>
            <a:ext cx="4876800" cy="581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Char char="•"/>
            </a:pPr>
            <a:r>
              <a:rPr lang="en-US" altLang="en-US" sz="2400">
                <a:latin typeface="Calibri" panose="020F0502020204030204" pitchFamily="34" charset="0"/>
              </a:rPr>
              <a:t> V</a:t>
            </a:r>
            <a:r>
              <a:rPr lang="en-US" altLang="en-US" sz="2400" baseline="-25000">
                <a:latin typeface="Calibri" panose="020F0502020204030204" pitchFamily="34" charset="0"/>
              </a:rPr>
              <a:t>IN</a:t>
            </a:r>
            <a:r>
              <a:rPr lang="en-US" altLang="en-US" sz="2400">
                <a:latin typeface="Calibri" panose="020F0502020204030204" pitchFamily="34" charset="0"/>
              </a:rPr>
              <a:t> is between base and ground and I</a:t>
            </a:r>
            <a:r>
              <a:rPr lang="en-US" altLang="en-US" sz="2400" baseline="-25000">
                <a:latin typeface="Calibri" panose="020F0502020204030204" pitchFamily="34" charset="0"/>
              </a:rPr>
              <a:t>IN</a:t>
            </a:r>
            <a:r>
              <a:rPr lang="en-US" altLang="en-US" sz="2400">
                <a:latin typeface="Calibri" panose="020F0502020204030204" pitchFamily="34" charset="0"/>
              </a:rPr>
              <a:t> is the current into base.</a:t>
            </a:r>
          </a:p>
          <a:p>
            <a:pPr eaLnBrk="1" hangingPunct="1">
              <a:spcBef>
                <a:spcPct val="50000"/>
              </a:spcBef>
              <a:buFontTx/>
              <a:buChar char="•"/>
            </a:pPr>
            <a:r>
              <a:rPr lang="en-US" altLang="en-US" sz="2400">
                <a:latin typeface="Calibri" panose="020F0502020204030204" pitchFamily="34" charset="0"/>
              </a:rPr>
              <a:t>By Ohm’s Law, </a:t>
            </a:r>
          </a:p>
          <a:p>
            <a:pPr eaLnBrk="1" hangingPunct="1">
              <a:spcBef>
                <a:spcPct val="50000"/>
              </a:spcBef>
            </a:pPr>
            <a:r>
              <a:rPr lang="en-US" altLang="en-US" sz="2400">
                <a:latin typeface="Calibri" panose="020F0502020204030204" pitchFamily="34" charset="0"/>
              </a:rPr>
              <a:t>	</a:t>
            </a:r>
            <a:r>
              <a:rPr lang="en-US" altLang="en-US" sz="2400" b="1">
                <a:solidFill>
                  <a:srgbClr val="CC0000"/>
                </a:solidFill>
                <a:latin typeface="Calibri" panose="020F0502020204030204" pitchFamily="34" charset="0"/>
              </a:rPr>
              <a:t>R</a:t>
            </a:r>
            <a:r>
              <a:rPr lang="en-US" altLang="en-US" sz="2400" b="1" baseline="-25000">
                <a:solidFill>
                  <a:srgbClr val="CC0000"/>
                </a:solidFill>
                <a:latin typeface="Calibri" panose="020F0502020204030204" pitchFamily="34" charset="0"/>
              </a:rPr>
              <a:t>IN(base)</a:t>
            </a:r>
            <a:r>
              <a:rPr lang="en-US" altLang="en-US" sz="2400" b="1">
                <a:solidFill>
                  <a:srgbClr val="CC0000"/>
                </a:solidFill>
                <a:latin typeface="Calibri" panose="020F0502020204030204" pitchFamily="34" charset="0"/>
              </a:rPr>
              <a:t> = V</a:t>
            </a:r>
            <a:r>
              <a:rPr lang="en-US" altLang="en-US" sz="2400" b="1" baseline="-25000">
                <a:solidFill>
                  <a:srgbClr val="CC0000"/>
                </a:solidFill>
                <a:latin typeface="Calibri" panose="020F0502020204030204" pitchFamily="34" charset="0"/>
              </a:rPr>
              <a:t>IN</a:t>
            </a:r>
            <a:r>
              <a:rPr lang="en-US" altLang="en-US" sz="2400" b="1">
                <a:solidFill>
                  <a:srgbClr val="CC0000"/>
                </a:solidFill>
                <a:latin typeface="Calibri" panose="020F0502020204030204" pitchFamily="34" charset="0"/>
              </a:rPr>
              <a:t> / I</a:t>
            </a:r>
            <a:r>
              <a:rPr lang="en-US" altLang="en-US" sz="2400" b="1" baseline="-25000">
                <a:solidFill>
                  <a:srgbClr val="CC0000"/>
                </a:solidFill>
                <a:latin typeface="Calibri" panose="020F0502020204030204" pitchFamily="34" charset="0"/>
              </a:rPr>
              <a:t>IN</a:t>
            </a:r>
          </a:p>
          <a:p>
            <a:pPr eaLnBrk="1" hangingPunct="1">
              <a:spcBef>
                <a:spcPct val="50000"/>
              </a:spcBef>
              <a:buFontTx/>
              <a:buChar char="•"/>
            </a:pPr>
            <a:r>
              <a:rPr lang="en-US" altLang="en-US" sz="2400">
                <a:latin typeface="Calibri" panose="020F0502020204030204" pitchFamily="34" charset="0"/>
              </a:rPr>
              <a:t> Apply KVL, V</a:t>
            </a:r>
            <a:r>
              <a:rPr lang="en-US" altLang="en-US" sz="2400" baseline="-25000">
                <a:latin typeface="Calibri" panose="020F0502020204030204" pitchFamily="34" charset="0"/>
              </a:rPr>
              <a:t>IN</a:t>
            </a:r>
            <a:r>
              <a:rPr lang="en-US" altLang="en-US" sz="2400">
                <a:latin typeface="Calibri" panose="020F0502020204030204" pitchFamily="34" charset="0"/>
              </a:rPr>
              <a:t>=V</a:t>
            </a:r>
            <a:r>
              <a:rPr lang="en-US" altLang="en-US" sz="2400" baseline="-25000">
                <a:latin typeface="Calibri" panose="020F0502020204030204" pitchFamily="34" charset="0"/>
              </a:rPr>
              <a:t>BE</a:t>
            </a:r>
            <a:r>
              <a:rPr lang="en-US" altLang="en-US" sz="2400">
                <a:latin typeface="Calibri" panose="020F0502020204030204" pitchFamily="34" charset="0"/>
              </a:rPr>
              <a:t>+I</a:t>
            </a:r>
            <a:r>
              <a:rPr lang="en-US" altLang="en-US" sz="2400" baseline="-25000">
                <a:latin typeface="Calibri" panose="020F0502020204030204" pitchFamily="34" charset="0"/>
              </a:rPr>
              <a:t>E</a:t>
            </a:r>
            <a:r>
              <a:rPr lang="en-US" altLang="en-US" sz="2400">
                <a:latin typeface="Calibri" panose="020F0502020204030204" pitchFamily="34" charset="0"/>
              </a:rPr>
              <a:t>R</a:t>
            </a:r>
            <a:r>
              <a:rPr lang="en-US" altLang="en-US" sz="2400" baseline="-25000">
                <a:latin typeface="Calibri" panose="020F0502020204030204" pitchFamily="34" charset="0"/>
              </a:rPr>
              <a:t>E</a:t>
            </a:r>
          </a:p>
          <a:p>
            <a:pPr eaLnBrk="1" hangingPunct="1">
              <a:spcBef>
                <a:spcPct val="50000"/>
              </a:spcBef>
              <a:buFontTx/>
              <a:buChar char="•"/>
            </a:pPr>
            <a:r>
              <a:rPr lang="en-US" altLang="en-US" sz="2400" baseline="-25000">
                <a:latin typeface="Calibri" panose="020F0502020204030204" pitchFamily="34" charset="0"/>
              </a:rPr>
              <a:t> </a:t>
            </a:r>
            <a:r>
              <a:rPr lang="en-US" altLang="en-US" sz="2400">
                <a:latin typeface="Calibri" panose="020F0502020204030204" pitchFamily="34" charset="0"/>
              </a:rPr>
              <a:t>Assume V</a:t>
            </a:r>
            <a:r>
              <a:rPr lang="en-US" altLang="en-US" sz="2400" baseline="-25000">
                <a:latin typeface="Calibri" panose="020F0502020204030204" pitchFamily="34" charset="0"/>
              </a:rPr>
              <a:t>BE</a:t>
            </a:r>
            <a:r>
              <a:rPr lang="en-US" altLang="en-US" sz="2400">
                <a:latin typeface="Calibri" panose="020F0502020204030204" pitchFamily="34" charset="0"/>
                <a:cs typeface="Tahoma" panose="020B0604030504040204" pitchFamily="34" charset="0"/>
              </a:rPr>
              <a:t>&lt;</a:t>
            </a:r>
            <a:r>
              <a:rPr lang="en-US" altLang="en-US" sz="2400">
                <a:latin typeface="Calibri" panose="020F0502020204030204" pitchFamily="34" charset="0"/>
              </a:rPr>
              <a:t>&lt;I</a:t>
            </a:r>
            <a:r>
              <a:rPr lang="en-US" altLang="en-US" sz="2400" baseline="-25000">
                <a:latin typeface="Calibri" panose="020F0502020204030204" pitchFamily="34" charset="0"/>
              </a:rPr>
              <a:t>E</a:t>
            </a:r>
            <a:r>
              <a:rPr lang="en-US" altLang="en-US" sz="2400">
                <a:latin typeface="Calibri" panose="020F0502020204030204" pitchFamily="34" charset="0"/>
              </a:rPr>
              <a:t>R</a:t>
            </a:r>
            <a:r>
              <a:rPr lang="en-US" altLang="en-US" sz="2400" baseline="-25000">
                <a:latin typeface="Calibri" panose="020F0502020204030204" pitchFamily="34" charset="0"/>
              </a:rPr>
              <a:t>E</a:t>
            </a:r>
            <a:r>
              <a:rPr lang="en-US" altLang="en-US" sz="2400">
                <a:latin typeface="Calibri" panose="020F0502020204030204" pitchFamily="34" charset="0"/>
              </a:rPr>
              <a:t>, so V</a:t>
            </a:r>
            <a:r>
              <a:rPr lang="en-US" altLang="en-US" sz="2400" baseline="-25000">
                <a:latin typeface="Calibri" panose="020F0502020204030204" pitchFamily="34" charset="0"/>
              </a:rPr>
              <a:t>IN</a:t>
            </a:r>
            <a:r>
              <a:rPr lang="en-US" altLang="en-US" sz="2400">
                <a:latin typeface="Calibri" panose="020F0502020204030204" pitchFamily="34" charset="0"/>
                <a:cs typeface="Tahoma" panose="020B0604030504040204" pitchFamily="34" charset="0"/>
              </a:rPr>
              <a:t>≈I</a:t>
            </a:r>
            <a:r>
              <a:rPr lang="en-US" altLang="en-US" sz="2400" baseline="-25000">
                <a:latin typeface="Calibri" panose="020F0502020204030204" pitchFamily="34" charset="0"/>
                <a:cs typeface="Tahoma" panose="020B0604030504040204" pitchFamily="34" charset="0"/>
              </a:rPr>
              <a:t>E</a:t>
            </a:r>
            <a:r>
              <a:rPr lang="en-US" altLang="en-US" sz="2400">
                <a:latin typeface="Calibri" panose="020F0502020204030204" pitchFamily="34" charset="0"/>
                <a:cs typeface="Tahoma" panose="020B0604030504040204" pitchFamily="34" charset="0"/>
              </a:rPr>
              <a:t>R</a:t>
            </a:r>
            <a:r>
              <a:rPr lang="en-US" altLang="en-US" sz="2400" baseline="-25000">
                <a:latin typeface="Calibri" panose="020F0502020204030204" pitchFamily="34" charset="0"/>
                <a:cs typeface="Tahoma" panose="020B0604030504040204" pitchFamily="34" charset="0"/>
              </a:rPr>
              <a:t>E</a:t>
            </a:r>
          </a:p>
          <a:p>
            <a:pPr eaLnBrk="1" hangingPunct="1">
              <a:spcBef>
                <a:spcPct val="50000"/>
              </a:spcBef>
              <a:buFontTx/>
              <a:buChar char="•"/>
            </a:pPr>
            <a:r>
              <a:rPr lang="en-US" altLang="en-US" sz="2400">
                <a:latin typeface="Calibri" panose="020F0502020204030204" pitchFamily="34" charset="0"/>
                <a:cs typeface="Tahoma" panose="020B0604030504040204" pitchFamily="34" charset="0"/>
              </a:rPr>
              <a:t>Since I</a:t>
            </a:r>
            <a:r>
              <a:rPr lang="en-US" altLang="en-US" sz="2400" baseline="-25000">
                <a:latin typeface="Calibri" panose="020F0502020204030204" pitchFamily="34" charset="0"/>
                <a:cs typeface="Tahoma" panose="020B0604030504040204" pitchFamily="34" charset="0"/>
              </a:rPr>
              <a:t>E</a:t>
            </a:r>
            <a:r>
              <a:rPr lang="en-US" altLang="en-US" sz="2400">
                <a:latin typeface="Calibri" panose="020F0502020204030204" pitchFamily="34" charset="0"/>
              </a:rPr>
              <a:t>≈I</a:t>
            </a:r>
            <a:r>
              <a:rPr lang="en-US" altLang="en-US" sz="2400" baseline="-25000">
                <a:latin typeface="Calibri" panose="020F0502020204030204" pitchFamily="34" charset="0"/>
              </a:rPr>
              <a:t>C</a:t>
            </a:r>
            <a:r>
              <a:rPr lang="en-US" altLang="en-US" sz="2400">
                <a:latin typeface="Calibri" panose="020F0502020204030204" pitchFamily="34" charset="0"/>
              </a:rPr>
              <a:t>=</a:t>
            </a:r>
            <a:r>
              <a:rPr lang="el-GR" altLang="en-US" sz="2400">
                <a:latin typeface="Calibri" panose="020F0502020204030204" pitchFamily="34" charset="0"/>
                <a:cs typeface="Tahoma" panose="020B0604030504040204" pitchFamily="34" charset="0"/>
              </a:rPr>
              <a:t>β</a:t>
            </a:r>
            <a:r>
              <a:rPr lang="en-US" altLang="en-US" sz="2400" baseline="-25000">
                <a:latin typeface="Calibri" panose="020F0502020204030204" pitchFamily="34" charset="0"/>
                <a:cs typeface="Tahoma" panose="020B0604030504040204" pitchFamily="34" charset="0"/>
              </a:rPr>
              <a:t>DC</a:t>
            </a:r>
            <a:r>
              <a:rPr lang="en-US" altLang="en-US" sz="2400">
                <a:latin typeface="Calibri" panose="020F0502020204030204" pitchFamily="34" charset="0"/>
                <a:cs typeface="Tahoma" panose="020B0604030504040204" pitchFamily="34" charset="0"/>
              </a:rPr>
              <a:t>I</a:t>
            </a:r>
            <a:r>
              <a:rPr lang="en-US" altLang="en-US" sz="2400" baseline="-25000">
                <a:latin typeface="Calibri" panose="020F0502020204030204" pitchFamily="34" charset="0"/>
                <a:cs typeface="Tahoma" panose="020B0604030504040204" pitchFamily="34" charset="0"/>
              </a:rPr>
              <a:t>B</a:t>
            </a:r>
            <a:r>
              <a:rPr lang="en-US" altLang="en-US" sz="2400">
                <a:latin typeface="Calibri" panose="020F0502020204030204" pitchFamily="34" charset="0"/>
                <a:cs typeface="Tahoma" panose="020B0604030504040204" pitchFamily="34" charset="0"/>
              </a:rPr>
              <a:t>,</a:t>
            </a:r>
          </a:p>
          <a:p>
            <a:pPr eaLnBrk="1" hangingPunct="1">
              <a:spcBef>
                <a:spcPct val="50000"/>
              </a:spcBef>
            </a:pPr>
            <a:r>
              <a:rPr lang="en-US" altLang="en-US" sz="2400">
                <a:latin typeface="Calibri" panose="020F0502020204030204" pitchFamily="34" charset="0"/>
                <a:cs typeface="Tahoma" panose="020B0604030504040204" pitchFamily="34" charset="0"/>
              </a:rPr>
              <a:t>	V</a:t>
            </a:r>
            <a:r>
              <a:rPr lang="en-US" altLang="en-US" sz="2400" baseline="-25000">
                <a:latin typeface="Calibri" panose="020F0502020204030204" pitchFamily="34" charset="0"/>
                <a:cs typeface="Tahoma" panose="020B0604030504040204" pitchFamily="34" charset="0"/>
              </a:rPr>
              <a:t>IN</a:t>
            </a:r>
            <a:r>
              <a:rPr lang="en-US" altLang="en-US" sz="2400">
                <a:latin typeface="Calibri" panose="020F0502020204030204" pitchFamily="34" charset="0"/>
              </a:rPr>
              <a:t>≈ </a:t>
            </a:r>
            <a:r>
              <a:rPr lang="el-GR" altLang="en-US" sz="2400">
                <a:latin typeface="Calibri" panose="020F0502020204030204" pitchFamily="34" charset="0"/>
              </a:rPr>
              <a:t>β</a:t>
            </a:r>
            <a:r>
              <a:rPr lang="en-US" altLang="en-US" sz="2400" baseline="-25000">
                <a:latin typeface="Calibri" panose="020F0502020204030204" pitchFamily="34" charset="0"/>
              </a:rPr>
              <a:t>DC</a:t>
            </a:r>
            <a:r>
              <a:rPr lang="en-US" altLang="en-US" sz="2400">
                <a:latin typeface="Calibri" panose="020F0502020204030204" pitchFamily="34" charset="0"/>
              </a:rPr>
              <a:t>I</a:t>
            </a:r>
            <a:r>
              <a:rPr lang="en-US" altLang="en-US" sz="2400" baseline="-25000">
                <a:latin typeface="Calibri" panose="020F0502020204030204" pitchFamily="34" charset="0"/>
              </a:rPr>
              <a:t>B</a:t>
            </a:r>
            <a:r>
              <a:rPr lang="en-US" altLang="en-US" sz="2400">
                <a:latin typeface="Calibri" panose="020F0502020204030204" pitchFamily="34" charset="0"/>
              </a:rPr>
              <a:t>R</a:t>
            </a:r>
            <a:r>
              <a:rPr lang="en-US" altLang="en-US" sz="2400" baseline="-25000">
                <a:latin typeface="Calibri" panose="020F0502020204030204" pitchFamily="34" charset="0"/>
              </a:rPr>
              <a:t>E</a:t>
            </a:r>
            <a:endParaRPr lang="el-GR" altLang="en-US" sz="2400" baseline="-25000">
              <a:latin typeface="Calibri" panose="020F0502020204030204" pitchFamily="34" charset="0"/>
              <a:cs typeface="Tahoma" panose="020B0604030504040204" pitchFamily="34" charset="0"/>
            </a:endParaRPr>
          </a:p>
          <a:p>
            <a:pPr eaLnBrk="1" hangingPunct="1">
              <a:spcBef>
                <a:spcPct val="50000"/>
              </a:spcBef>
              <a:buFontTx/>
              <a:buChar char="•"/>
            </a:pPr>
            <a:r>
              <a:rPr lang="en-US" altLang="en-US" sz="2400">
                <a:latin typeface="Calibri" panose="020F0502020204030204" pitchFamily="34" charset="0"/>
              </a:rPr>
              <a:t>I</a:t>
            </a:r>
            <a:r>
              <a:rPr lang="en-US" altLang="en-US" sz="2400" baseline="-25000">
                <a:latin typeface="Calibri" panose="020F0502020204030204" pitchFamily="34" charset="0"/>
              </a:rPr>
              <a:t>N</a:t>
            </a:r>
            <a:r>
              <a:rPr lang="en-US" altLang="en-US" sz="2400">
                <a:latin typeface="Calibri" panose="020F0502020204030204" pitchFamily="34" charset="0"/>
              </a:rPr>
              <a:t>=I</a:t>
            </a:r>
            <a:r>
              <a:rPr lang="en-US" altLang="en-US" sz="2400" baseline="-25000">
                <a:latin typeface="Calibri" panose="020F0502020204030204" pitchFamily="34" charset="0"/>
              </a:rPr>
              <a:t>B</a:t>
            </a:r>
            <a:r>
              <a:rPr lang="en-US" altLang="en-US" sz="2400">
                <a:latin typeface="Calibri" panose="020F0502020204030204" pitchFamily="34" charset="0"/>
              </a:rPr>
              <a:t>, so </a:t>
            </a:r>
          </a:p>
          <a:p>
            <a:pPr eaLnBrk="1" hangingPunct="1">
              <a:spcBef>
                <a:spcPct val="50000"/>
              </a:spcBef>
            </a:pPr>
            <a:r>
              <a:rPr lang="en-US" altLang="en-US" sz="2400">
                <a:latin typeface="Calibri" panose="020F0502020204030204" pitchFamily="34" charset="0"/>
              </a:rPr>
              <a:t>R</a:t>
            </a:r>
            <a:r>
              <a:rPr lang="en-US" altLang="en-US" sz="2400" baseline="-25000">
                <a:latin typeface="Calibri" panose="020F0502020204030204" pitchFamily="34" charset="0"/>
              </a:rPr>
              <a:t>IN(base)</a:t>
            </a:r>
            <a:r>
              <a:rPr lang="en-US" altLang="en-US" sz="2400">
                <a:latin typeface="Calibri" panose="020F0502020204030204" pitchFamily="34" charset="0"/>
              </a:rPr>
              <a:t>= </a:t>
            </a:r>
            <a:r>
              <a:rPr lang="el-GR" altLang="en-US" sz="2400">
                <a:latin typeface="Calibri" panose="020F0502020204030204" pitchFamily="34" charset="0"/>
              </a:rPr>
              <a:t>β</a:t>
            </a:r>
            <a:r>
              <a:rPr lang="en-US" altLang="en-US" sz="2400" baseline="-25000">
                <a:latin typeface="Calibri" panose="020F0502020204030204" pitchFamily="34" charset="0"/>
              </a:rPr>
              <a:t>DC</a:t>
            </a:r>
            <a:r>
              <a:rPr lang="en-US" altLang="en-US" sz="2400">
                <a:latin typeface="Calibri" panose="020F0502020204030204" pitchFamily="34" charset="0"/>
              </a:rPr>
              <a:t>I</a:t>
            </a:r>
            <a:r>
              <a:rPr lang="en-US" altLang="en-US" sz="2400" baseline="-25000">
                <a:latin typeface="Calibri" panose="020F0502020204030204" pitchFamily="34" charset="0"/>
              </a:rPr>
              <a:t>B</a:t>
            </a:r>
            <a:r>
              <a:rPr lang="en-US" altLang="en-US" sz="2400">
                <a:latin typeface="Calibri" panose="020F0502020204030204" pitchFamily="34" charset="0"/>
              </a:rPr>
              <a:t>R</a:t>
            </a:r>
            <a:r>
              <a:rPr lang="en-US" altLang="en-US" sz="2400" baseline="-25000">
                <a:latin typeface="Calibri" panose="020F0502020204030204" pitchFamily="34" charset="0"/>
              </a:rPr>
              <a:t>E</a:t>
            </a:r>
            <a:r>
              <a:rPr lang="en-US" altLang="en-US" sz="2400">
                <a:latin typeface="Calibri" panose="020F0502020204030204" pitchFamily="34" charset="0"/>
              </a:rPr>
              <a:t> / I</a:t>
            </a:r>
            <a:r>
              <a:rPr lang="en-US" altLang="en-US" sz="2400" baseline="-25000">
                <a:latin typeface="Calibri" panose="020F0502020204030204" pitchFamily="34" charset="0"/>
              </a:rPr>
              <a:t>B</a:t>
            </a:r>
          </a:p>
          <a:p>
            <a:pPr eaLnBrk="1" hangingPunct="1">
              <a:spcBef>
                <a:spcPct val="50000"/>
              </a:spcBef>
            </a:pPr>
            <a:r>
              <a:rPr lang="en-US" altLang="en-US" sz="2400" b="1">
                <a:latin typeface="Calibri" panose="020F0502020204030204" pitchFamily="34" charset="0"/>
              </a:rPr>
              <a:t>	</a:t>
            </a:r>
            <a:r>
              <a:rPr lang="en-US" altLang="en-US" sz="2400" b="1">
                <a:solidFill>
                  <a:srgbClr val="CC0000"/>
                </a:solidFill>
                <a:latin typeface="Calibri" panose="020F0502020204030204" pitchFamily="34" charset="0"/>
              </a:rPr>
              <a:t>R</a:t>
            </a:r>
            <a:r>
              <a:rPr lang="en-US" altLang="en-US" sz="2400" b="1" baseline="-25000">
                <a:solidFill>
                  <a:srgbClr val="CC0000"/>
                </a:solidFill>
                <a:latin typeface="Calibri" panose="020F0502020204030204" pitchFamily="34" charset="0"/>
              </a:rPr>
              <a:t>IN(base)</a:t>
            </a:r>
            <a:r>
              <a:rPr lang="en-US" altLang="en-US" sz="2400" b="1">
                <a:solidFill>
                  <a:srgbClr val="CC0000"/>
                </a:solidFill>
                <a:latin typeface="Calibri" panose="020F0502020204030204" pitchFamily="34" charset="0"/>
              </a:rPr>
              <a:t> = </a:t>
            </a:r>
            <a:r>
              <a:rPr lang="en-US" altLang="en-US" sz="2400" b="1">
                <a:solidFill>
                  <a:srgbClr val="CC0000"/>
                </a:solidFill>
                <a:latin typeface="Calibri" panose="020F0502020204030204" pitchFamily="34" charset="0"/>
                <a:sym typeface="Symbol" panose="05050102010706020507" pitchFamily="18" charset="2"/>
              </a:rPr>
              <a:t></a:t>
            </a:r>
            <a:r>
              <a:rPr lang="en-US" altLang="en-US" sz="2400" b="1" baseline="-25000">
                <a:solidFill>
                  <a:srgbClr val="CC0000"/>
                </a:solidFill>
                <a:latin typeface="Calibri" panose="020F0502020204030204" pitchFamily="34" charset="0"/>
                <a:sym typeface="Symbol" panose="05050102010706020507" pitchFamily="18" charset="2"/>
              </a:rPr>
              <a:t>DC</a:t>
            </a:r>
            <a:r>
              <a:rPr lang="en-US" altLang="en-US" sz="2400" b="1">
                <a:solidFill>
                  <a:srgbClr val="CC0000"/>
                </a:solidFill>
                <a:latin typeface="Calibri" panose="020F0502020204030204" pitchFamily="34" charset="0"/>
                <a:sym typeface="Symbol" panose="05050102010706020507" pitchFamily="18" charset="2"/>
              </a:rPr>
              <a:t>R</a:t>
            </a:r>
            <a:r>
              <a:rPr lang="en-US" altLang="en-US" sz="2400" b="1" baseline="-25000">
                <a:solidFill>
                  <a:srgbClr val="CC0000"/>
                </a:solidFill>
                <a:latin typeface="Calibri" panose="020F0502020204030204" pitchFamily="34" charset="0"/>
                <a:sym typeface="Symbol" panose="05050102010706020507" pitchFamily="18" charset="2"/>
              </a:rPr>
              <a:t>E</a:t>
            </a:r>
            <a:r>
              <a:rPr lang="en-US" altLang="en-US" sz="2400" b="1" baseline="-25000">
                <a:latin typeface="Calibri" panose="020F0502020204030204" pitchFamily="34" charset="0"/>
                <a:sym typeface="Symbol" panose="05050102010706020507" pitchFamily="18" charset="2"/>
              </a:rPr>
              <a:t> </a:t>
            </a:r>
            <a:endParaRPr lang="en-US" altLang="en-US" sz="2400">
              <a:latin typeface="Calibri" panose="020F0502020204030204" pitchFamily="34" charset="0"/>
              <a:sym typeface="Symbol" panose="05050102010706020507" pitchFamily="18" charset="2"/>
            </a:endParaRPr>
          </a:p>
        </p:txBody>
      </p:sp>
      <p:pic>
        <p:nvPicPr>
          <p:cNvPr id="2048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1295400"/>
            <a:ext cx="31242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4958137"/>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2209800" y="304800"/>
            <a:ext cx="7772400" cy="1143000"/>
          </a:xfrm>
        </p:spPr>
        <p:txBody>
          <a:bodyPr rtlCol="0">
            <a:normAutofit fontScale="90000"/>
          </a:bodyPr>
          <a:lstStyle/>
          <a:p>
            <a:pPr>
              <a:defRPr/>
            </a:pPr>
            <a:r>
              <a:rPr lang="en-US" altLang="en-US" dirty="0" smtClean="0"/>
              <a:t>Analysis of Voltage-Divider Bias Circuit</a:t>
            </a:r>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F8CBF-C77B-4AB9-9041-20FDF6C53247}" type="slidenum">
              <a:rPr lang="en-US" altLang="en-US">
                <a:solidFill>
                  <a:srgbClr val="898989"/>
                </a:solidFill>
              </a:rPr>
              <a:pPr eaLnBrk="1" hangingPunct="1"/>
              <a:t>5</a:t>
            </a:fld>
            <a:endParaRPr lang="en-US" altLang="en-US">
              <a:solidFill>
                <a:srgbClr val="898989"/>
              </a:solidFill>
            </a:endParaRPr>
          </a:p>
        </p:txBody>
      </p:sp>
      <p:pic>
        <p:nvPicPr>
          <p:cNvPr id="2150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447801"/>
            <a:ext cx="6324600" cy="484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5153412"/>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2"/>
          <p:cNvSpPr>
            <a:spLocks noGrp="1" noChangeArrowheads="1"/>
          </p:cNvSpPr>
          <p:nvPr>
            <p:ph type="title"/>
          </p:nvPr>
        </p:nvSpPr>
        <p:spPr>
          <a:xfrm>
            <a:off x="2209800" y="381000"/>
            <a:ext cx="7772400" cy="1143000"/>
          </a:xfrm>
        </p:spPr>
        <p:txBody>
          <a:bodyPr>
            <a:normAutofit fontScale="90000"/>
          </a:bodyPr>
          <a:lstStyle/>
          <a:p>
            <a:pPr eaLnBrk="1" hangingPunct="1"/>
            <a:r>
              <a:rPr lang="en-US" altLang="en-US"/>
              <a:t>Analysis of voltage divider bias circuit</a:t>
            </a:r>
          </a:p>
        </p:txBody>
      </p:sp>
      <p:sp>
        <p:nvSpPr>
          <p:cNvPr id="1031" name="Text Box 4"/>
          <p:cNvSpPr>
            <a:spLocks noGrp="1" noChangeArrowheads="1"/>
          </p:cNvSpPr>
          <p:nvPr>
            <p:ph idx="1"/>
          </p:nvPr>
        </p:nvSpPr>
        <p:spPr/>
        <p:txBody>
          <a:bodyPr>
            <a:normAutofit lnSpcReduction="10000"/>
          </a:bodyPr>
          <a:lstStyle/>
          <a:p>
            <a:pPr eaLnBrk="1" hangingPunct="1">
              <a:spcBef>
                <a:spcPct val="0"/>
              </a:spcBef>
            </a:pPr>
            <a:r>
              <a:rPr lang="en-US" altLang="en-US" sz="2400" dirty="0">
                <a:latin typeface="Tahoma" panose="020B0604030504040204" pitchFamily="34" charset="0"/>
              </a:rPr>
              <a:t>Total resistance from base to ground is:</a:t>
            </a:r>
          </a:p>
          <a:p>
            <a:pPr eaLnBrk="1" hangingPunct="1">
              <a:spcBef>
                <a:spcPct val="0"/>
              </a:spcBef>
            </a:pPr>
            <a:endParaRPr lang="en-US" altLang="en-US" sz="2400" dirty="0">
              <a:latin typeface="Tahoma" panose="020B0604030504040204" pitchFamily="34" charset="0"/>
            </a:endParaRPr>
          </a:p>
          <a:p>
            <a:pPr eaLnBrk="1" hangingPunct="1">
              <a:spcBef>
                <a:spcPct val="0"/>
              </a:spcBef>
            </a:pPr>
            <a:endParaRPr lang="en-US" altLang="en-US" sz="2400" dirty="0">
              <a:latin typeface="Tahoma" panose="020B0604030504040204" pitchFamily="34" charset="0"/>
            </a:endParaRPr>
          </a:p>
          <a:p>
            <a:pPr eaLnBrk="1" hangingPunct="1">
              <a:spcBef>
                <a:spcPct val="0"/>
              </a:spcBef>
            </a:pPr>
            <a:endParaRPr lang="en-US" altLang="en-US" sz="2400" dirty="0">
              <a:latin typeface="Tahoma" panose="020B0604030504040204" pitchFamily="34" charset="0"/>
            </a:endParaRPr>
          </a:p>
          <a:p>
            <a:pPr eaLnBrk="1" hangingPunct="1">
              <a:spcBef>
                <a:spcPct val="0"/>
              </a:spcBef>
            </a:pPr>
            <a:r>
              <a:rPr lang="en-US" altLang="en-US" sz="2400" dirty="0">
                <a:latin typeface="Tahoma" panose="020B0604030504040204" pitchFamily="34" charset="0"/>
              </a:rPr>
              <a:t>A voltage divider is formed by R1 and resistance from base to ground in parallel with R2. </a:t>
            </a:r>
          </a:p>
          <a:p>
            <a:pPr eaLnBrk="1" hangingPunct="1">
              <a:spcBef>
                <a:spcPct val="0"/>
              </a:spcBef>
            </a:pPr>
            <a:endParaRPr lang="en-US" altLang="en-US" sz="2400" dirty="0">
              <a:latin typeface="Tahoma" panose="020B0604030504040204" pitchFamily="34" charset="0"/>
            </a:endParaRPr>
          </a:p>
          <a:p>
            <a:pPr eaLnBrk="1" hangingPunct="1">
              <a:spcBef>
                <a:spcPct val="0"/>
              </a:spcBef>
            </a:pPr>
            <a:endParaRPr lang="en-US" altLang="en-US" sz="2400" dirty="0">
              <a:latin typeface="Tahoma" panose="020B0604030504040204" pitchFamily="34" charset="0"/>
            </a:endParaRPr>
          </a:p>
          <a:p>
            <a:pPr eaLnBrk="1" hangingPunct="1">
              <a:spcBef>
                <a:spcPct val="0"/>
              </a:spcBef>
            </a:pPr>
            <a:endParaRPr lang="en-US" altLang="en-US" sz="2400" dirty="0">
              <a:latin typeface="Tahoma" panose="020B0604030504040204" pitchFamily="34" charset="0"/>
            </a:endParaRPr>
          </a:p>
          <a:p>
            <a:pPr eaLnBrk="1" hangingPunct="1">
              <a:spcBef>
                <a:spcPct val="0"/>
              </a:spcBef>
            </a:pPr>
            <a:r>
              <a:rPr lang="en-US" altLang="en-US" sz="2400" dirty="0">
                <a:latin typeface="Tahoma" panose="020B0604030504040204" pitchFamily="34" charset="0"/>
              </a:rPr>
              <a:t>If </a:t>
            </a:r>
            <a:r>
              <a:rPr lang="en-US" altLang="en-US" sz="2400" dirty="0">
                <a:latin typeface="Tahoma" panose="020B0604030504040204" pitchFamily="34" charset="0"/>
                <a:sym typeface="Symbol" panose="05050102010706020507" pitchFamily="18" charset="2"/>
              </a:rPr>
              <a:t></a:t>
            </a:r>
            <a:r>
              <a:rPr lang="en-US" altLang="en-US" sz="2400" baseline="-25000" dirty="0">
                <a:latin typeface="Tahoma" panose="020B0604030504040204" pitchFamily="34" charset="0"/>
                <a:sym typeface="Symbol" panose="05050102010706020507" pitchFamily="18" charset="2"/>
              </a:rPr>
              <a:t>DC</a:t>
            </a:r>
            <a:r>
              <a:rPr lang="en-US" altLang="en-US" sz="2400" dirty="0">
                <a:latin typeface="Tahoma" panose="020B0604030504040204" pitchFamily="34" charset="0"/>
                <a:sym typeface="Symbol" panose="05050102010706020507" pitchFamily="18" charset="2"/>
              </a:rPr>
              <a:t>R</a:t>
            </a:r>
            <a:r>
              <a:rPr lang="en-US" altLang="en-US" sz="2400" baseline="-25000" dirty="0">
                <a:latin typeface="Tahoma" panose="020B0604030504040204" pitchFamily="34" charset="0"/>
                <a:sym typeface="Symbol" panose="05050102010706020507" pitchFamily="18" charset="2"/>
              </a:rPr>
              <a:t>E</a:t>
            </a:r>
            <a:r>
              <a:rPr lang="en-US" altLang="en-US" sz="2400" dirty="0">
                <a:latin typeface="Tahoma" panose="020B0604030504040204" pitchFamily="34" charset="0"/>
                <a:sym typeface="Symbol" panose="05050102010706020507" pitchFamily="18" charset="2"/>
              </a:rPr>
              <a:t> </a:t>
            </a:r>
            <a:r>
              <a:rPr lang="en-US" altLang="en-US" sz="2400" dirty="0">
                <a:latin typeface="Tahoma" panose="020B0604030504040204" pitchFamily="34" charset="0"/>
                <a:cs typeface="Times New Roman" panose="02020603050405020304" pitchFamily="18" charset="0"/>
                <a:sym typeface="Symbol" panose="05050102010706020507" pitchFamily="18" charset="2"/>
              </a:rPr>
              <a:t>&gt;</a:t>
            </a:r>
            <a:r>
              <a:rPr lang="en-US" altLang="en-US" sz="2400" dirty="0">
                <a:latin typeface="Tahoma" panose="020B0604030504040204" pitchFamily="34" charset="0"/>
                <a:sym typeface="Symbol" panose="05050102010706020507" pitchFamily="18" charset="2"/>
              </a:rPr>
              <a:t>&gt;R</a:t>
            </a:r>
            <a:r>
              <a:rPr lang="en-US" altLang="en-US" sz="2400" baseline="-25000" dirty="0">
                <a:latin typeface="Tahoma" panose="020B0604030504040204" pitchFamily="34" charset="0"/>
                <a:sym typeface="Symbol" panose="05050102010706020507" pitchFamily="18" charset="2"/>
              </a:rPr>
              <a:t>2</a:t>
            </a:r>
            <a:r>
              <a:rPr lang="en-US" altLang="en-US" sz="2400" dirty="0">
                <a:latin typeface="Tahoma" panose="020B0604030504040204" pitchFamily="34" charset="0"/>
                <a:sym typeface="Symbol" panose="05050102010706020507" pitchFamily="18" charset="2"/>
              </a:rPr>
              <a:t>, (at least ten times greater), then the formula simplifies to</a:t>
            </a:r>
            <a:endParaRPr lang="en-US" altLang="en-US" sz="2400" dirty="0">
              <a:latin typeface="Tahoma" panose="020B0604030504040204" pitchFamily="34" charset="0"/>
              <a:cs typeface="Times New Roman" panose="02020603050405020304" pitchFamily="18" charset="0"/>
            </a:endParaRPr>
          </a:p>
          <a:p>
            <a:pPr eaLnBrk="1" hangingPunct="1">
              <a:spcBef>
                <a:spcPct val="0"/>
              </a:spcBef>
            </a:pPr>
            <a:endParaRPr lang="en-US" altLang="en-US" sz="2400" dirty="0">
              <a:latin typeface="Tahoma" panose="020B0604030504040204" pitchFamily="34" charset="0"/>
            </a:endParaRPr>
          </a:p>
          <a:p>
            <a:pPr eaLnBrk="1" hangingPunct="1">
              <a:spcBef>
                <a:spcPct val="0"/>
              </a:spcBef>
            </a:pPr>
            <a:endParaRPr lang="en-US" altLang="en-US" sz="2400" dirty="0">
              <a:latin typeface="Tahoma" panose="020B0604030504040204" pitchFamily="34" charset="0"/>
            </a:endParaRPr>
          </a:p>
        </p:txBody>
      </p:sp>
      <p:sp>
        <p:nvSpPr>
          <p:cNvPr id="11" name="Slide Number Placeholder 10"/>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5E2AEE3-8D36-4C31-9BE1-3565DE57CB94}" type="slidenum">
              <a:rPr lang="en-US" altLang="en-US">
                <a:solidFill>
                  <a:srgbClr val="898989"/>
                </a:solidFill>
              </a:rPr>
              <a:pPr eaLnBrk="1" hangingPunct="1"/>
              <a:t>6</a:t>
            </a:fld>
            <a:endParaRPr lang="en-US" altLang="en-US">
              <a:solidFill>
                <a:srgbClr val="898989"/>
              </a:solidFill>
            </a:endParaRPr>
          </a:p>
        </p:txBody>
      </p:sp>
      <p:sp>
        <p:nvSpPr>
          <p:cNvPr id="1033" name="Rectangle 6"/>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aphicFrame>
        <p:nvGraphicFramePr>
          <p:cNvPr id="1026" name="Object 5"/>
          <p:cNvGraphicFramePr>
            <a:graphicFrameLocks noChangeAspect="1"/>
          </p:cNvGraphicFramePr>
          <p:nvPr>
            <p:extLst>
              <p:ext uri="{D42A27DB-BD31-4B8C-83A1-F6EECF244321}">
                <p14:modId xmlns:p14="http://schemas.microsoft.com/office/powerpoint/2010/main" val="4164072296"/>
              </p:ext>
            </p:extLst>
          </p:nvPr>
        </p:nvGraphicFramePr>
        <p:xfrm>
          <a:off x="6766438" y="1959638"/>
          <a:ext cx="2209800" cy="1066800"/>
        </p:xfrm>
        <a:graphic>
          <a:graphicData uri="http://schemas.openxmlformats.org/presentationml/2006/ole">
            <mc:AlternateContent xmlns:mc="http://schemas.openxmlformats.org/markup-compatibility/2006">
              <mc:Choice xmlns:v="urn:schemas-microsoft-com:vml" Requires="v">
                <p:oleObj spid="_x0000_s1236" name="Equation" r:id="rId4" imgW="761669" imgH="533169" progId="Equation.3">
                  <p:embed/>
                </p:oleObj>
              </mc:Choice>
              <mc:Fallback>
                <p:oleObj name="Equation" r:id="rId4" imgW="761669" imgH="533169" progId="Equation.3">
                  <p:embed/>
                  <p:pic>
                    <p:nvPicPr>
                      <p:cNvPr id="102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66438" y="1959638"/>
                        <a:ext cx="2209800"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4" name="Rectangle 8"/>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aphicFrame>
        <p:nvGraphicFramePr>
          <p:cNvPr id="1027" name="Object 7"/>
          <p:cNvGraphicFramePr>
            <a:graphicFrameLocks noChangeAspect="1"/>
          </p:cNvGraphicFramePr>
          <p:nvPr>
            <p:extLst>
              <p:ext uri="{D42A27DB-BD31-4B8C-83A1-F6EECF244321}">
                <p14:modId xmlns:p14="http://schemas.microsoft.com/office/powerpoint/2010/main" val="3086726531"/>
              </p:ext>
            </p:extLst>
          </p:nvPr>
        </p:nvGraphicFramePr>
        <p:xfrm>
          <a:off x="5542663" y="3877404"/>
          <a:ext cx="3048000" cy="990600"/>
        </p:xfrm>
        <a:graphic>
          <a:graphicData uri="http://schemas.openxmlformats.org/presentationml/2006/ole">
            <mc:AlternateContent xmlns:mc="http://schemas.openxmlformats.org/markup-compatibility/2006">
              <mc:Choice xmlns:v="urn:schemas-microsoft-com:vml" Requires="v">
                <p:oleObj spid="_x0000_s1237" name="Equation" r:id="rId6" imgW="1752600" imgH="533400" progId="Equation.3">
                  <p:embed/>
                </p:oleObj>
              </mc:Choice>
              <mc:Fallback>
                <p:oleObj name="Equation" r:id="rId6" imgW="1752600" imgH="533400" progId="Equation.3">
                  <p:embed/>
                  <p:pic>
                    <p:nvPicPr>
                      <p:cNvPr id="1027"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42663" y="3877404"/>
                        <a:ext cx="304800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5" name="Rectangle 10"/>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aphicFrame>
        <p:nvGraphicFramePr>
          <p:cNvPr id="1028" name="Object 9"/>
          <p:cNvGraphicFramePr>
            <a:graphicFrameLocks noChangeAspect="1"/>
          </p:cNvGraphicFramePr>
          <p:nvPr>
            <p:extLst>
              <p:ext uri="{D42A27DB-BD31-4B8C-83A1-F6EECF244321}">
                <p14:modId xmlns:p14="http://schemas.microsoft.com/office/powerpoint/2010/main" val="3222717866"/>
              </p:ext>
            </p:extLst>
          </p:nvPr>
        </p:nvGraphicFramePr>
        <p:xfrm>
          <a:off x="5512885" y="5690524"/>
          <a:ext cx="2743200" cy="1066800"/>
        </p:xfrm>
        <a:graphic>
          <a:graphicData uri="http://schemas.openxmlformats.org/presentationml/2006/ole">
            <mc:AlternateContent xmlns:mc="http://schemas.openxmlformats.org/markup-compatibility/2006">
              <mc:Choice xmlns:v="urn:schemas-microsoft-com:vml" Requires="v">
                <p:oleObj spid="_x0000_s1238" name="Equation" r:id="rId8" imgW="1244600" imgH="482600" progId="Equation.3">
                  <p:embed/>
                </p:oleObj>
              </mc:Choice>
              <mc:Fallback>
                <p:oleObj name="Equation" r:id="rId8" imgW="1244600" imgH="482600" progId="Equation.3">
                  <p:embed/>
                  <p:pic>
                    <p:nvPicPr>
                      <p:cNvPr id="1028"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12885" y="5690524"/>
                        <a:ext cx="2743200" cy="1066800"/>
                      </a:xfrm>
                      <a:prstGeom prst="rect">
                        <a:avLst/>
                      </a:prstGeom>
                      <a:solidFill>
                        <a:srgbClr val="FFFF66"/>
                      </a:solidFill>
                    </p:spPr>
                  </p:pic>
                </p:oleObj>
              </mc:Fallback>
            </mc:AlternateContent>
          </a:graphicData>
        </a:graphic>
      </p:graphicFrame>
    </p:spTree>
    <p:extLst>
      <p:ext uri="{BB962C8B-B14F-4D97-AF65-F5344CB8AC3E}">
        <p14:creationId xmlns:p14="http://schemas.microsoft.com/office/powerpoint/2010/main" val="3649616298"/>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2209800" y="381000"/>
            <a:ext cx="7772400" cy="1143000"/>
          </a:xfrm>
        </p:spPr>
        <p:txBody>
          <a:bodyPr>
            <a:normAutofit fontScale="90000"/>
          </a:bodyPr>
          <a:lstStyle/>
          <a:p>
            <a:pPr eaLnBrk="1" hangingPunct="1"/>
            <a:r>
              <a:rPr lang="en-US" altLang="en-US"/>
              <a:t>Analysis of Voltage-Divider Bias Circuit</a:t>
            </a:r>
          </a:p>
        </p:txBody>
      </p:sp>
      <p:sp>
        <p:nvSpPr>
          <p:cNvPr id="31747" name="Rectangle 6"/>
          <p:cNvSpPr>
            <a:spLocks noGrp="1" noChangeArrowheads="1"/>
          </p:cNvSpPr>
          <p:nvPr>
            <p:ph idx="1"/>
          </p:nvPr>
        </p:nvSpPr>
        <p:spPr>
          <a:xfrm>
            <a:off x="1981200" y="1371601"/>
            <a:ext cx="8229600" cy="4754563"/>
          </a:xfrm>
        </p:spPr>
        <p:txBody>
          <a:bodyPr rtlCol="0">
            <a:normAutofit lnSpcReduction="10000"/>
          </a:bodyPr>
          <a:lstStyle/>
          <a:p>
            <a:pPr>
              <a:lnSpc>
                <a:spcPct val="90000"/>
              </a:lnSpc>
              <a:defRPr/>
            </a:pPr>
            <a:r>
              <a:rPr lang="en-US" sz="2400" dirty="0">
                <a:solidFill>
                  <a:schemeClr val="tx1">
                    <a:lumMod val="95000"/>
                    <a:lumOff val="5000"/>
                  </a:schemeClr>
                </a:solidFill>
              </a:rPr>
              <a:t>Now, determine emitter voltage V</a:t>
            </a:r>
            <a:r>
              <a:rPr lang="en-US" sz="2400" baseline="-25000" dirty="0">
                <a:solidFill>
                  <a:schemeClr val="tx1">
                    <a:lumMod val="95000"/>
                    <a:lumOff val="5000"/>
                  </a:schemeClr>
                </a:solidFill>
              </a:rPr>
              <a:t>E</a:t>
            </a:r>
            <a:r>
              <a:rPr lang="en-US" sz="2400" dirty="0">
                <a:solidFill>
                  <a:schemeClr val="tx1">
                    <a:lumMod val="95000"/>
                    <a:lumOff val="5000"/>
                  </a:schemeClr>
                </a:solidFill>
              </a:rPr>
              <a:t>.</a:t>
            </a:r>
          </a:p>
          <a:p>
            <a:pPr>
              <a:lnSpc>
                <a:spcPct val="90000"/>
              </a:lnSpc>
              <a:buNone/>
              <a:defRPr/>
            </a:pPr>
            <a:r>
              <a:rPr lang="en-US" sz="2400" dirty="0">
                <a:solidFill>
                  <a:schemeClr val="tx1">
                    <a:lumMod val="95000"/>
                    <a:lumOff val="5000"/>
                  </a:schemeClr>
                </a:solidFill>
              </a:rPr>
              <a:t>				</a:t>
            </a:r>
            <a:r>
              <a:rPr lang="en-US" sz="2400" b="1" dirty="0">
                <a:solidFill>
                  <a:schemeClr val="tx1">
                    <a:lumMod val="95000"/>
                    <a:lumOff val="5000"/>
                  </a:schemeClr>
                </a:solidFill>
              </a:rPr>
              <a:t>V</a:t>
            </a:r>
            <a:r>
              <a:rPr lang="en-US" sz="2400" b="1" baseline="-25000" dirty="0">
                <a:solidFill>
                  <a:schemeClr val="tx1">
                    <a:lumMod val="95000"/>
                    <a:lumOff val="5000"/>
                  </a:schemeClr>
                </a:solidFill>
              </a:rPr>
              <a:t>E</a:t>
            </a:r>
            <a:r>
              <a:rPr lang="en-US" sz="2400" b="1" dirty="0">
                <a:solidFill>
                  <a:schemeClr val="tx1">
                    <a:lumMod val="95000"/>
                    <a:lumOff val="5000"/>
                  </a:schemeClr>
                </a:solidFill>
              </a:rPr>
              <a:t>=V</a:t>
            </a:r>
            <a:r>
              <a:rPr lang="en-US" sz="2400" b="1" baseline="-25000" dirty="0">
                <a:solidFill>
                  <a:schemeClr val="tx1">
                    <a:lumMod val="95000"/>
                    <a:lumOff val="5000"/>
                  </a:schemeClr>
                </a:solidFill>
              </a:rPr>
              <a:t>B</a:t>
            </a:r>
            <a:r>
              <a:rPr lang="en-US" sz="2400" b="1" dirty="0">
                <a:solidFill>
                  <a:schemeClr val="tx1">
                    <a:lumMod val="95000"/>
                    <a:lumOff val="5000"/>
                  </a:schemeClr>
                </a:solidFill>
              </a:rPr>
              <a:t> – V</a:t>
            </a:r>
            <a:r>
              <a:rPr lang="en-US" sz="2400" b="1" baseline="-25000" dirty="0">
                <a:solidFill>
                  <a:schemeClr val="tx1">
                    <a:lumMod val="95000"/>
                    <a:lumOff val="5000"/>
                  </a:schemeClr>
                </a:solidFill>
              </a:rPr>
              <a:t>BE</a:t>
            </a:r>
          </a:p>
          <a:p>
            <a:pPr>
              <a:lnSpc>
                <a:spcPct val="90000"/>
              </a:lnSpc>
              <a:defRPr/>
            </a:pPr>
            <a:r>
              <a:rPr lang="en-US" sz="2400" dirty="0">
                <a:solidFill>
                  <a:schemeClr val="tx1">
                    <a:lumMod val="95000"/>
                    <a:lumOff val="5000"/>
                  </a:schemeClr>
                </a:solidFill>
              </a:rPr>
              <a:t>Using Ohm’s Law, find emitter current I</a:t>
            </a:r>
            <a:r>
              <a:rPr lang="en-US" sz="2400" baseline="-25000" dirty="0">
                <a:solidFill>
                  <a:schemeClr val="tx1">
                    <a:lumMod val="95000"/>
                    <a:lumOff val="5000"/>
                  </a:schemeClr>
                </a:solidFill>
              </a:rPr>
              <a:t>E</a:t>
            </a:r>
            <a:r>
              <a:rPr lang="en-US" sz="2400" dirty="0">
                <a:solidFill>
                  <a:schemeClr val="tx1">
                    <a:lumMod val="95000"/>
                    <a:lumOff val="5000"/>
                  </a:schemeClr>
                </a:solidFill>
              </a:rPr>
              <a:t>.</a:t>
            </a:r>
          </a:p>
          <a:p>
            <a:pPr>
              <a:lnSpc>
                <a:spcPct val="90000"/>
              </a:lnSpc>
              <a:buNone/>
              <a:defRPr/>
            </a:pPr>
            <a:r>
              <a:rPr lang="en-US" sz="2400" dirty="0">
                <a:solidFill>
                  <a:schemeClr val="tx1">
                    <a:lumMod val="95000"/>
                    <a:lumOff val="5000"/>
                  </a:schemeClr>
                </a:solidFill>
              </a:rPr>
              <a:t>				</a:t>
            </a:r>
            <a:r>
              <a:rPr lang="en-US" sz="2400" b="1" dirty="0">
                <a:solidFill>
                  <a:schemeClr val="tx1">
                    <a:lumMod val="95000"/>
                    <a:lumOff val="5000"/>
                  </a:schemeClr>
                </a:solidFill>
              </a:rPr>
              <a:t>I</a:t>
            </a:r>
            <a:r>
              <a:rPr lang="en-US" sz="2400" b="1" baseline="-25000" dirty="0">
                <a:solidFill>
                  <a:schemeClr val="tx1">
                    <a:lumMod val="95000"/>
                    <a:lumOff val="5000"/>
                  </a:schemeClr>
                </a:solidFill>
              </a:rPr>
              <a:t>E</a:t>
            </a:r>
            <a:r>
              <a:rPr lang="en-US" sz="2400" b="1" dirty="0">
                <a:solidFill>
                  <a:schemeClr val="tx1">
                    <a:lumMod val="95000"/>
                    <a:lumOff val="5000"/>
                  </a:schemeClr>
                </a:solidFill>
              </a:rPr>
              <a:t> = V</a:t>
            </a:r>
            <a:r>
              <a:rPr lang="en-US" sz="2400" b="1" baseline="-25000" dirty="0">
                <a:solidFill>
                  <a:schemeClr val="tx1">
                    <a:lumMod val="95000"/>
                    <a:lumOff val="5000"/>
                  </a:schemeClr>
                </a:solidFill>
              </a:rPr>
              <a:t>E</a:t>
            </a:r>
            <a:r>
              <a:rPr lang="en-US" sz="2400" b="1" dirty="0">
                <a:solidFill>
                  <a:schemeClr val="tx1">
                    <a:lumMod val="95000"/>
                    <a:lumOff val="5000"/>
                  </a:schemeClr>
                </a:solidFill>
              </a:rPr>
              <a:t> / R</a:t>
            </a:r>
            <a:r>
              <a:rPr lang="en-US" sz="2400" b="1" baseline="-25000" dirty="0">
                <a:solidFill>
                  <a:schemeClr val="tx1">
                    <a:lumMod val="95000"/>
                    <a:lumOff val="5000"/>
                  </a:schemeClr>
                </a:solidFill>
              </a:rPr>
              <a:t>E</a:t>
            </a:r>
          </a:p>
          <a:p>
            <a:pPr>
              <a:lnSpc>
                <a:spcPct val="90000"/>
              </a:lnSpc>
              <a:defRPr/>
            </a:pPr>
            <a:r>
              <a:rPr lang="en-US" sz="2400" dirty="0">
                <a:solidFill>
                  <a:schemeClr val="tx1">
                    <a:lumMod val="95000"/>
                    <a:lumOff val="5000"/>
                  </a:schemeClr>
                </a:solidFill>
              </a:rPr>
              <a:t>All the other circuit values</a:t>
            </a:r>
          </a:p>
          <a:p>
            <a:pPr>
              <a:lnSpc>
                <a:spcPct val="90000"/>
              </a:lnSpc>
              <a:buNone/>
              <a:defRPr/>
            </a:pPr>
            <a:r>
              <a:rPr lang="en-US" sz="2400" dirty="0">
                <a:solidFill>
                  <a:schemeClr val="tx1">
                    <a:lumMod val="95000"/>
                    <a:lumOff val="5000"/>
                  </a:schemeClr>
                </a:solidFill>
              </a:rPr>
              <a:t> 				</a:t>
            </a:r>
            <a:r>
              <a:rPr lang="en-US" sz="2400" b="1" dirty="0">
                <a:solidFill>
                  <a:schemeClr val="tx1">
                    <a:lumMod val="95000"/>
                    <a:lumOff val="5000"/>
                  </a:schemeClr>
                </a:solidFill>
              </a:rPr>
              <a:t>I</a:t>
            </a:r>
            <a:r>
              <a:rPr lang="en-US" sz="2400" b="1" baseline="-25000" dirty="0">
                <a:solidFill>
                  <a:schemeClr val="tx1">
                    <a:lumMod val="95000"/>
                    <a:lumOff val="5000"/>
                  </a:schemeClr>
                </a:solidFill>
              </a:rPr>
              <a:t>C</a:t>
            </a:r>
            <a:r>
              <a:rPr lang="en-US" sz="2400" b="1" dirty="0">
                <a:solidFill>
                  <a:schemeClr val="tx1">
                    <a:lumMod val="95000"/>
                    <a:lumOff val="5000"/>
                  </a:schemeClr>
                </a:solidFill>
              </a:rPr>
              <a:t> </a:t>
            </a:r>
            <a:r>
              <a:rPr lang="en-US" sz="2400" b="1" dirty="0">
                <a:solidFill>
                  <a:schemeClr val="tx1">
                    <a:lumMod val="95000"/>
                    <a:lumOff val="5000"/>
                  </a:schemeClr>
                </a:solidFill>
                <a:cs typeface="Times New Roman" pitchFamily="18" charset="0"/>
              </a:rPr>
              <a:t>≈ I</a:t>
            </a:r>
            <a:r>
              <a:rPr lang="en-US" sz="2400" b="1" baseline="-25000" dirty="0">
                <a:solidFill>
                  <a:schemeClr val="tx1">
                    <a:lumMod val="95000"/>
                    <a:lumOff val="5000"/>
                  </a:schemeClr>
                </a:solidFill>
                <a:cs typeface="Times New Roman" pitchFamily="18" charset="0"/>
              </a:rPr>
              <a:t>E</a:t>
            </a:r>
            <a:r>
              <a:rPr lang="en-US" sz="2400" b="1" dirty="0">
                <a:solidFill>
                  <a:schemeClr val="tx1">
                    <a:lumMod val="95000"/>
                    <a:lumOff val="5000"/>
                  </a:schemeClr>
                </a:solidFill>
              </a:rPr>
              <a:t> </a:t>
            </a:r>
          </a:p>
          <a:p>
            <a:pPr>
              <a:lnSpc>
                <a:spcPct val="90000"/>
              </a:lnSpc>
              <a:buNone/>
              <a:defRPr/>
            </a:pPr>
            <a:r>
              <a:rPr lang="en-US" sz="2400" b="1" dirty="0">
                <a:solidFill>
                  <a:schemeClr val="tx1">
                    <a:lumMod val="95000"/>
                    <a:lumOff val="5000"/>
                  </a:schemeClr>
                </a:solidFill>
              </a:rPr>
              <a:t>				V</a:t>
            </a:r>
            <a:r>
              <a:rPr lang="en-US" sz="2400" b="1" baseline="-25000" dirty="0">
                <a:solidFill>
                  <a:schemeClr val="tx1">
                    <a:lumMod val="95000"/>
                    <a:lumOff val="5000"/>
                  </a:schemeClr>
                </a:solidFill>
              </a:rPr>
              <a:t>C</a:t>
            </a:r>
            <a:r>
              <a:rPr lang="en-US" sz="2400" b="1" dirty="0">
                <a:solidFill>
                  <a:schemeClr val="tx1">
                    <a:lumMod val="95000"/>
                    <a:lumOff val="5000"/>
                  </a:schemeClr>
                </a:solidFill>
              </a:rPr>
              <a:t> = V</a:t>
            </a:r>
            <a:r>
              <a:rPr lang="en-US" sz="2400" b="1" baseline="-25000" dirty="0">
                <a:solidFill>
                  <a:schemeClr val="tx1">
                    <a:lumMod val="95000"/>
                    <a:lumOff val="5000"/>
                  </a:schemeClr>
                </a:solidFill>
              </a:rPr>
              <a:t>CC</a:t>
            </a:r>
            <a:r>
              <a:rPr lang="en-US" sz="2400" b="1" dirty="0">
                <a:solidFill>
                  <a:schemeClr val="tx1">
                    <a:lumMod val="95000"/>
                    <a:lumOff val="5000"/>
                  </a:schemeClr>
                </a:solidFill>
              </a:rPr>
              <a:t> – I</a:t>
            </a:r>
            <a:r>
              <a:rPr lang="en-US" sz="2400" b="1" baseline="-25000" dirty="0">
                <a:solidFill>
                  <a:schemeClr val="tx1">
                    <a:lumMod val="95000"/>
                    <a:lumOff val="5000"/>
                  </a:schemeClr>
                </a:solidFill>
              </a:rPr>
              <a:t>C</a:t>
            </a:r>
            <a:r>
              <a:rPr lang="en-US" sz="2400" b="1" dirty="0">
                <a:solidFill>
                  <a:schemeClr val="tx1">
                    <a:lumMod val="95000"/>
                    <a:lumOff val="5000"/>
                  </a:schemeClr>
                </a:solidFill>
              </a:rPr>
              <a:t>R</a:t>
            </a:r>
            <a:r>
              <a:rPr lang="en-US" sz="2400" b="1" baseline="-25000" dirty="0">
                <a:solidFill>
                  <a:schemeClr val="tx1">
                    <a:lumMod val="95000"/>
                    <a:lumOff val="5000"/>
                  </a:schemeClr>
                </a:solidFill>
              </a:rPr>
              <a:t>C</a:t>
            </a:r>
          </a:p>
          <a:p>
            <a:pPr>
              <a:lnSpc>
                <a:spcPct val="90000"/>
              </a:lnSpc>
              <a:defRPr/>
            </a:pPr>
            <a:r>
              <a:rPr lang="en-US" sz="2400" dirty="0">
                <a:solidFill>
                  <a:schemeClr val="tx1">
                    <a:lumMod val="95000"/>
                    <a:lumOff val="5000"/>
                  </a:schemeClr>
                </a:solidFill>
              </a:rPr>
              <a:t>To find V</a:t>
            </a:r>
            <a:r>
              <a:rPr lang="en-US" sz="2400" baseline="-25000" dirty="0">
                <a:solidFill>
                  <a:schemeClr val="tx1">
                    <a:lumMod val="95000"/>
                    <a:lumOff val="5000"/>
                  </a:schemeClr>
                </a:solidFill>
              </a:rPr>
              <a:t>CE</a:t>
            </a:r>
            <a:r>
              <a:rPr lang="en-US" sz="2400" dirty="0">
                <a:solidFill>
                  <a:schemeClr val="tx1">
                    <a:lumMod val="95000"/>
                    <a:lumOff val="5000"/>
                  </a:schemeClr>
                </a:solidFill>
              </a:rPr>
              <a:t>, apply KVL:</a:t>
            </a:r>
          </a:p>
          <a:p>
            <a:pPr>
              <a:lnSpc>
                <a:spcPct val="90000"/>
              </a:lnSpc>
              <a:buNone/>
              <a:defRPr/>
            </a:pPr>
            <a:r>
              <a:rPr lang="en-US" sz="2400" dirty="0">
                <a:solidFill>
                  <a:schemeClr val="tx1">
                    <a:lumMod val="95000"/>
                    <a:lumOff val="5000"/>
                  </a:schemeClr>
                </a:solidFill>
              </a:rPr>
              <a:t>				V</a:t>
            </a:r>
            <a:r>
              <a:rPr lang="en-US" sz="2400" baseline="-25000" dirty="0">
                <a:solidFill>
                  <a:schemeClr val="tx1">
                    <a:lumMod val="95000"/>
                    <a:lumOff val="5000"/>
                  </a:schemeClr>
                </a:solidFill>
              </a:rPr>
              <a:t>CC</a:t>
            </a:r>
            <a:r>
              <a:rPr lang="en-US" sz="2400" dirty="0">
                <a:solidFill>
                  <a:schemeClr val="tx1">
                    <a:lumMod val="95000"/>
                    <a:lumOff val="5000"/>
                  </a:schemeClr>
                </a:solidFill>
              </a:rPr>
              <a:t> – I</a:t>
            </a:r>
            <a:r>
              <a:rPr lang="en-US" sz="2400" baseline="-25000" dirty="0">
                <a:solidFill>
                  <a:schemeClr val="tx1">
                    <a:lumMod val="95000"/>
                    <a:lumOff val="5000"/>
                  </a:schemeClr>
                </a:solidFill>
              </a:rPr>
              <a:t>C</a:t>
            </a:r>
            <a:r>
              <a:rPr lang="en-US" sz="2400" dirty="0">
                <a:solidFill>
                  <a:schemeClr val="tx1">
                    <a:lumMod val="95000"/>
                    <a:lumOff val="5000"/>
                  </a:schemeClr>
                </a:solidFill>
              </a:rPr>
              <a:t>R</a:t>
            </a:r>
            <a:r>
              <a:rPr lang="en-US" sz="2400" baseline="-25000" dirty="0">
                <a:solidFill>
                  <a:schemeClr val="tx1">
                    <a:lumMod val="95000"/>
                    <a:lumOff val="5000"/>
                  </a:schemeClr>
                </a:solidFill>
              </a:rPr>
              <a:t>C</a:t>
            </a:r>
            <a:r>
              <a:rPr lang="en-US" sz="2400" dirty="0">
                <a:solidFill>
                  <a:schemeClr val="tx1">
                    <a:lumMod val="95000"/>
                    <a:lumOff val="5000"/>
                  </a:schemeClr>
                </a:solidFill>
              </a:rPr>
              <a:t> – I</a:t>
            </a:r>
            <a:r>
              <a:rPr lang="en-US" sz="2400" baseline="-25000" dirty="0">
                <a:solidFill>
                  <a:schemeClr val="tx1">
                    <a:lumMod val="95000"/>
                    <a:lumOff val="5000"/>
                  </a:schemeClr>
                </a:solidFill>
              </a:rPr>
              <a:t>E</a:t>
            </a:r>
            <a:r>
              <a:rPr lang="en-US" sz="2400" dirty="0">
                <a:solidFill>
                  <a:schemeClr val="tx1">
                    <a:lumMod val="95000"/>
                    <a:lumOff val="5000"/>
                  </a:schemeClr>
                </a:solidFill>
              </a:rPr>
              <a:t>R</a:t>
            </a:r>
            <a:r>
              <a:rPr lang="en-US" sz="2400" baseline="-25000" dirty="0">
                <a:solidFill>
                  <a:schemeClr val="tx1">
                    <a:lumMod val="95000"/>
                    <a:lumOff val="5000"/>
                  </a:schemeClr>
                </a:solidFill>
              </a:rPr>
              <a:t>E</a:t>
            </a:r>
            <a:r>
              <a:rPr lang="en-US" sz="2400" dirty="0">
                <a:solidFill>
                  <a:schemeClr val="tx1">
                    <a:lumMod val="95000"/>
                    <a:lumOff val="5000"/>
                  </a:schemeClr>
                </a:solidFill>
              </a:rPr>
              <a:t> – V</a:t>
            </a:r>
            <a:r>
              <a:rPr lang="en-US" sz="2400" baseline="-25000" dirty="0">
                <a:solidFill>
                  <a:schemeClr val="tx1">
                    <a:lumMod val="95000"/>
                    <a:lumOff val="5000"/>
                  </a:schemeClr>
                </a:solidFill>
              </a:rPr>
              <a:t>CE</a:t>
            </a:r>
            <a:r>
              <a:rPr lang="en-US" sz="2400" dirty="0">
                <a:solidFill>
                  <a:schemeClr val="tx1">
                    <a:lumMod val="95000"/>
                    <a:lumOff val="5000"/>
                  </a:schemeClr>
                </a:solidFill>
              </a:rPr>
              <a:t> =0</a:t>
            </a:r>
          </a:p>
          <a:p>
            <a:pPr>
              <a:lnSpc>
                <a:spcPct val="90000"/>
              </a:lnSpc>
              <a:defRPr/>
            </a:pPr>
            <a:r>
              <a:rPr lang="en-US" sz="2400" dirty="0">
                <a:solidFill>
                  <a:schemeClr val="tx1">
                    <a:lumMod val="95000"/>
                    <a:lumOff val="5000"/>
                  </a:schemeClr>
                </a:solidFill>
              </a:rPr>
              <a:t>Since I</a:t>
            </a:r>
            <a:r>
              <a:rPr lang="en-US" sz="2400" baseline="-25000" dirty="0">
                <a:solidFill>
                  <a:schemeClr val="tx1">
                    <a:lumMod val="95000"/>
                    <a:lumOff val="5000"/>
                  </a:schemeClr>
                </a:solidFill>
              </a:rPr>
              <a:t>C</a:t>
            </a:r>
            <a:r>
              <a:rPr lang="en-US" sz="2400" dirty="0">
                <a:solidFill>
                  <a:schemeClr val="tx1">
                    <a:lumMod val="95000"/>
                    <a:lumOff val="5000"/>
                  </a:schemeClr>
                </a:solidFill>
              </a:rPr>
              <a:t> </a:t>
            </a:r>
            <a:r>
              <a:rPr lang="en-US" sz="2400" dirty="0">
                <a:solidFill>
                  <a:schemeClr val="tx1">
                    <a:lumMod val="95000"/>
                    <a:lumOff val="5000"/>
                  </a:schemeClr>
                </a:solidFill>
                <a:cs typeface="Times New Roman" pitchFamily="18" charset="0"/>
              </a:rPr>
              <a:t>≈ I</a:t>
            </a:r>
            <a:r>
              <a:rPr lang="en-US" sz="2400" baseline="-25000" dirty="0">
                <a:solidFill>
                  <a:schemeClr val="tx1">
                    <a:lumMod val="95000"/>
                    <a:lumOff val="5000"/>
                  </a:schemeClr>
                </a:solidFill>
                <a:cs typeface="Times New Roman" pitchFamily="18" charset="0"/>
              </a:rPr>
              <a:t>E</a:t>
            </a:r>
            <a:r>
              <a:rPr lang="en-US" sz="2400" dirty="0">
                <a:solidFill>
                  <a:schemeClr val="tx1">
                    <a:lumMod val="95000"/>
                    <a:lumOff val="5000"/>
                  </a:schemeClr>
                </a:solidFill>
                <a:cs typeface="Times New Roman" pitchFamily="18" charset="0"/>
              </a:rPr>
              <a:t>,</a:t>
            </a:r>
          </a:p>
          <a:p>
            <a:pPr>
              <a:lnSpc>
                <a:spcPct val="90000"/>
              </a:lnSpc>
              <a:buNone/>
              <a:defRPr/>
            </a:pPr>
            <a:r>
              <a:rPr lang="en-US" sz="2400" dirty="0">
                <a:solidFill>
                  <a:schemeClr val="tx1">
                    <a:lumMod val="95000"/>
                    <a:lumOff val="5000"/>
                  </a:schemeClr>
                </a:solidFill>
              </a:rPr>
              <a:t>				</a:t>
            </a:r>
            <a:r>
              <a:rPr lang="en-US" sz="2400" b="1" dirty="0">
                <a:solidFill>
                  <a:schemeClr val="tx1">
                    <a:lumMod val="95000"/>
                    <a:lumOff val="5000"/>
                  </a:schemeClr>
                </a:solidFill>
              </a:rPr>
              <a:t>V</a:t>
            </a:r>
            <a:r>
              <a:rPr lang="en-US" sz="2400" b="1" baseline="-25000" dirty="0">
                <a:solidFill>
                  <a:schemeClr val="tx1">
                    <a:lumMod val="95000"/>
                    <a:lumOff val="5000"/>
                  </a:schemeClr>
                </a:solidFill>
              </a:rPr>
              <a:t>CE</a:t>
            </a:r>
            <a:r>
              <a:rPr lang="en-US" sz="2400" b="1" dirty="0">
                <a:solidFill>
                  <a:schemeClr val="tx1">
                    <a:lumMod val="95000"/>
                    <a:lumOff val="5000"/>
                  </a:schemeClr>
                </a:solidFill>
              </a:rPr>
              <a:t> </a:t>
            </a:r>
            <a:r>
              <a:rPr lang="en-US" sz="2400" b="1" dirty="0">
                <a:solidFill>
                  <a:schemeClr val="tx1">
                    <a:lumMod val="95000"/>
                    <a:lumOff val="5000"/>
                  </a:schemeClr>
                </a:solidFill>
                <a:cs typeface="Times New Roman" pitchFamily="18" charset="0"/>
              </a:rPr>
              <a:t>≈ V</a:t>
            </a:r>
            <a:r>
              <a:rPr lang="en-US" sz="2400" b="1" baseline="-25000" dirty="0">
                <a:solidFill>
                  <a:schemeClr val="tx1">
                    <a:lumMod val="95000"/>
                    <a:lumOff val="5000"/>
                  </a:schemeClr>
                </a:solidFill>
                <a:cs typeface="Times New Roman" pitchFamily="18" charset="0"/>
              </a:rPr>
              <a:t>CC</a:t>
            </a:r>
            <a:r>
              <a:rPr lang="en-US" sz="2400" b="1" dirty="0">
                <a:solidFill>
                  <a:schemeClr val="tx1">
                    <a:lumMod val="95000"/>
                    <a:lumOff val="5000"/>
                  </a:schemeClr>
                </a:solidFill>
                <a:cs typeface="Times New Roman" pitchFamily="18" charset="0"/>
              </a:rPr>
              <a:t> – I</a:t>
            </a:r>
            <a:r>
              <a:rPr lang="en-US" sz="2400" b="1" baseline="-25000" dirty="0">
                <a:solidFill>
                  <a:schemeClr val="tx1">
                    <a:lumMod val="95000"/>
                    <a:lumOff val="5000"/>
                  </a:schemeClr>
                </a:solidFill>
                <a:cs typeface="Times New Roman" pitchFamily="18" charset="0"/>
              </a:rPr>
              <a:t>C</a:t>
            </a:r>
            <a:r>
              <a:rPr lang="en-US" sz="2400" b="1" dirty="0">
                <a:solidFill>
                  <a:schemeClr val="tx1">
                    <a:lumMod val="95000"/>
                    <a:lumOff val="5000"/>
                  </a:schemeClr>
                </a:solidFill>
                <a:cs typeface="Times New Roman" pitchFamily="18" charset="0"/>
              </a:rPr>
              <a:t> (R</a:t>
            </a:r>
            <a:r>
              <a:rPr lang="en-US" sz="2400" b="1" baseline="-25000" dirty="0">
                <a:solidFill>
                  <a:schemeClr val="tx1">
                    <a:lumMod val="95000"/>
                    <a:lumOff val="5000"/>
                  </a:schemeClr>
                </a:solidFill>
                <a:cs typeface="Times New Roman" pitchFamily="18" charset="0"/>
              </a:rPr>
              <a:t>C</a:t>
            </a:r>
            <a:r>
              <a:rPr lang="en-US" sz="2400" b="1" dirty="0">
                <a:solidFill>
                  <a:schemeClr val="tx1">
                    <a:lumMod val="95000"/>
                    <a:lumOff val="5000"/>
                  </a:schemeClr>
                </a:solidFill>
                <a:cs typeface="Times New Roman" pitchFamily="18" charset="0"/>
              </a:rPr>
              <a:t> + R</a:t>
            </a:r>
            <a:r>
              <a:rPr lang="en-US" sz="2400" b="1" baseline="-25000" dirty="0">
                <a:solidFill>
                  <a:schemeClr val="tx1">
                    <a:lumMod val="95000"/>
                    <a:lumOff val="5000"/>
                  </a:schemeClr>
                </a:solidFill>
                <a:cs typeface="Times New Roman" pitchFamily="18" charset="0"/>
              </a:rPr>
              <a:t>E</a:t>
            </a:r>
            <a:r>
              <a:rPr lang="en-US" sz="2400" b="1" dirty="0">
                <a:solidFill>
                  <a:schemeClr val="tx1">
                    <a:lumMod val="95000"/>
                    <a:lumOff val="5000"/>
                  </a:schemeClr>
                </a:solidFill>
                <a:cs typeface="Times New Roman" pitchFamily="18" charset="0"/>
              </a:rPr>
              <a:t>)</a:t>
            </a:r>
            <a:r>
              <a:rPr lang="en-US" sz="2400" dirty="0">
                <a:solidFill>
                  <a:schemeClr val="tx1">
                    <a:lumMod val="95000"/>
                    <a:lumOff val="5000"/>
                  </a:schemeClr>
                </a:solidFill>
              </a:rPr>
              <a:t> </a:t>
            </a: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799A90A-3232-401D-A578-7C2B79066DAC}" type="slidenum">
              <a:rPr lang="en-US" altLang="en-US">
                <a:solidFill>
                  <a:srgbClr val="898989"/>
                </a:solidFill>
              </a:rPr>
              <a:pPr eaLnBrk="1" hangingPunct="1"/>
              <a:t>7</a:t>
            </a:fld>
            <a:endParaRPr lang="en-US" altLang="en-US">
              <a:solidFill>
                <a:srgbClr val="898989"/>
              </a:solidFill>
            </a:endParaRPr>
          </a:p>
        </p:txBody>
      </p:sp>
      <p:sp>
        <p:nvSpPr>
          <p:cNvPr id="22533" name="Text Box 3"/>
          <p:cNvSpPr txBox="1">
            <a:spLocks noChangeArrowheads="1"/>
          </p:cNvSpPr>
          <p:nvPr/>
        </p:nvSpPr>
        <p:spPr bwMode="auto">
          <a:xfrm>
            <a:off x="2514600" y="2667000"/>
            <a:ext cx="434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en-US" altLang="en-US">
              <a:latin typeface="Calibri" panose="020F0502020204030204" pitchFamily="34" charset="0"/>
            </a:endParaRPr>
          </a:p>
        </p:txBody>
      </p:sp>
    </p:spTree>
    <p:extLst>
      <p:ext uri="{BB962C8B-B14F-4D97-AF65-F5344CB8AC3E}">
        <p14:creationId xmlns:p14="http://schemas.microsoft.com/office/powerpoint/2010/main" val="587480468"/>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a:xfrm>
            <a:off x="726989" y="227228"/>
            <a:ext cx="8763000" cy="1143000"/>
          </a:xfrm>
        </p:spPr>
        <p:txBody>
          <a:bodyPr rtlCol="0">
            <a:normAutofit/>
          </a:bodyPr>
          <a:lstStyle/>
          <a:p>
            <a:pPr marL="1998663" indent="-1998663">
              <a:defRPr/>
            </a:pPr>
            <a:r>
              <a:rPr lang="en-US" sz="4000" dirty="0" smtClean="0"/>
              <a:t>Voltage-divider </a:t>
            </a:r>
            <a:r>
              <a:rPr lang="en-US" sz="4000" dirty="0"/>
              <a:t>bias characteristics. </a:t>
            </a:r>
            <a:endParaRPr lang="th-TH" sz="4000" dirty="0"/>
          </a:p>
        </p:txBody>
      </p:sp>
      <p:sp>
        <p:nvSpPr>
          <p:cNvPr id="25602" name="Slide Number Placeholder 5"/>
          <p:cNvSpPr>
            <a:spLocks noGrp="1"/>
          </p:cNvSpPr>
          <p:nvPr>
            <p:ph type="sldNum" sz="quarter" idx="12"/>
          </p:nvPr>
        </p:nvSpPr>
        <p:spPr>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594935C-77E9-467F-878E-A87FF16ED1EE}" type="slidenum">
              <a:rPr lang="en-US" altLang="en-US">
                <a:solidFill>
                  <a:srgbClr val="898989"/>
                </a:solidFill>
              </a:rPr>
              <a:pPr eaLnBrk="1" hangingPunct="1"/>
              <a:t>8</a:t>
            </a:fld>
            <a:endParaRPr lang="th-TH" altLang="en-US">
              <a:solidFill>
                <a:srgbClr val="898989"/>
              </a:solidFill>
            </a:endParaRPr>
          </a:p>
        </p:txBody>
      </p:sp>
      <p:graphicFrame>
        <p:nvGraphicFramePr>
          <p:cNvPr id="2050" name="Object 8"/>
          <p:cNvGraphicFramePr>
            <a:graphicFrameLocks noChangeAspect="1"/>
          </p:cNvGraphicFramePr>
          <p:nvPr/>
        </p:nvGraphicFramePr>
        <p:xfrm>
          <a:off x="1600200" y="1289050"/>
          <a:ext cx="5181600" cy="4883150"/>
        </p:xfrm>
        <a:graphic>
          <a:graphicData uri="http://schemas.openxmlformats.org/presentationml/2006/ole">
            <mc:AlternateContent xmlns:mc="http://schemas.openxmlformats.org/markup-compatibility/2006">
              <mc:Choice xmlns:v="urn:schemas-microsoft-com:vml" Requires="v">
                <p:oleObj spid="_x0000_s2120" name="Visio" r:id="rId3" imgW="1817827" imgH="1713586" progId="Visio.Drawing.6">
                  <p:embed/>
                </p:oleObj>
              </mc:Choice>
              <mc:Fallback>
                <p:oleObj name="Visio" r:id="rId3" imgW="1817827" imgH="1713586" progId="Visio.Drawing.6">
                  <p:embed/>
                  <p:pic>
                    <p:nvPicPr>
                      <p:cNvPr id="205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1289050"/>
                        <a:ext cx="5181600" cy="488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3" name="Text Box 9"/>
          <p:cNvSpPr txBox="1">
            <a:spLocks noChangeArrowheads="1"/>
          </p:cNvSpPr>
          <p:nvPr/>
        </p:nvSpPr>
        <p:spPr bwMode="auto">
          <a:xfrm>
            <a:off x="6858000" y="1600201"/>
            <a:ext cx="3505200" cy="10064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1"/>
              <a:t>Circuit recognition:</a:t>
            </a:r>
            <a:r>
              <a:rPr lang="en-US" altLang="en-US" sz="2000"/>
              <a:t> The voltage divider in the base circuit.</a:t>
            </a:r>
            <a:endParaRPr lang="th-TH" altLang="en-US" sz="2000"/>
          </a:p>
        </p:txBody>
      </p:sp>
      <p:sp>
        <p:nvSpPr>
          <p:cNvPr id="2054" name="Text Box 10"/>
          <p:cNvSpPr txBox="1">
            <a:spLocks noChangeArrowheads="1"/>
          </p:cNvSpPr>
          <p:nvPr/>
        </p:nvSpPr>
        <p:spPr bwMode="auto">
          <a:xfrm>
            <a:off x="6858000" y="2803526"/>
            <a:ext cx="3505200" cy="3170099"/>
          </a:xfrm>
          <a:prstGeom prst="rect">
            <a:avLst/>
          </a:prstGeom>
          <a:solidFill>
            <a:srgbClr val="66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1" dirty="0"/>
              <a:t>Advantages:</a:t>
            </a:r>
            <a:r>
              <a:rPr lang="en-US" altLang="en-US" sz="2000" dirty="0"/>
              <a:t> The circuit Q-point values are stable against changes in </a:t>
            </a:r>
            <a:r>
              <a:rPr lang="en-US" altLang="en-US" sz="2000" dirty="0" smtClean="0"/>
              <a:t>temperature</a:t>
            </a:r>
            <a:endParaRPr lang="en-US" altLang="en-US" sz="2000" dirty="0"/>
          </a:p>
          <a:p>
            <a:pPr eaLnBrk="1" hangingPunct="1">
              <a:spcBef>
                <a:spcPct val="50000"/>
              </a:spcBef>
            </a:pPr>
            <a:r>
              <a:rPr lang="en-US" altLang="en-US" sz="2000" b="1" dirty="0"/>
              <a:t>Disadvantages:</a:t>
            </a:r>
            <a:r>
              <a:rPr lang="en-US" altLang="en-US" sz="2000" dirty="0"/>
              <a:t> Requires more components than most other biasing circuits.</a:t>
            </a:r>
          </a:p>
          <a:p>
            <a:pPr eaLnBrk="1" hangingPunct="1">
              <a:spcBef>
                <a:spcPct val="50000"/>
              </a:spcBef>
            </a:pPr>
            <a:r>
              <a:rPr lang="en-US" altLang="en-US" sz="2000" b="1" dirty="0"/>
              <a:t>Applications:</a:t>
            </a:r>
            <a:r>
              <a:rPr lang="en-US" altLang="en-US" sz="2000" dirty="0"/>
              <a:t> Used primarily to bias linear amplifier.</a:t>
            </a:r>
            <a:endParaRPr lang="th-TH" altLang="en-US" sz="2000" dirty="0"/>
          </a:p>
        </p:txBody>
      </p:sp>
      <p:sp>
        <p:nvSpPr>
          <p:cNvPr id="3" name="Rectangle 2"/>
          <p:cNvSpPr/>
          <p:nvPr/>
        </p:nvSpPr>
        <p:spPr>
          <a:xfrm>
            <a:off x="2153753" y="6265347"/>
            <a:ext cx="3802644" cy="369332"/>
          </a:xfrm>
          <a:prstGeom prst="rect">
            <a:avLst/>
          </a:prstGeom>
        </p:spPr>
        <p:txBody>
          <a:bodyPr wrap="none">
            <a:spAutoFit/>
          </a:bodyPr>
          <a:lstStyle/>
          <a:p>
            <a:r>
              <a:rPr lang="en-US" altLang="en-US" i="1" dirty="0" err="1" smtClean="0"/>
              <a:t>h</a:t>
            </a:r>
            <a:r>
              <a:rPr lang="en-US" altLang="en-US" i="1" baseline="-25000" dirty="0" err="1" smtClean="0"/>
              <a:t>FE</a:t>
            </a:r>
            <a:r>
              <a:rPr lang="en-US" altLang="en-US" dirty="0" smtClean="0"/>
              <a:t>.</a:t>
            </a:r>
            <a:r>
              <a:rPr lang="en-US" dirty="0"/>
              <a:t> (which is also referred to as β)</a:t>
            </a:r>
          </a:p>
        </p:txBody>
      </p:sp>
    </p:spTree>
    <p:extLst>
      <p:ext uri="{BB962C8B-B14F-4D97-AF65-F5344CB8AC3E}">
        <p14:creationId xmlns:p14="http://schemas.microsoft.com/office/powerpoint/2010/main" val="7227981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2209800" y="609600"/>
            <a:ext cx="7772400" cy="838200"/>
          </a:xfrm>
        </p:spPr>
        <p:txBody>
          <a:bodyPr/>
          <a:lstStyle/>
          <a:p>
            <a:pPr eaLnBrk="1" hangingPunct="1"/>
            <a:r>
              <a:rPr lang="en-US" altLang="en-US" smtClean="0"/>
              <a:t>Example </a:t>
            </a:r>
          </a:p>
        </p:txBody>
      </p:sp>
      <p:sp>
        <p:nvSpPr>
          <p:cNvPr id="23555" name="Rectangle 3"/>
          <p:cNvSpPr>
            <a:spLocks noGrp="1" noChangeArrowheads="1"/>
          </p:cNvSpPr>
          <p:nvPr>
            <p:ph idx="1"/>
          </p:nvPr>
        </p:nvSpPr>
        <p:spPr>
          <a:xfrm>
            <a:off x="1981200" y="1295401"/>
            <a:ext cx="8229600" cy="4830763"/>
          </a:xfrm>
        </p:spPr>
        <p:txBody>
          <a:bodyPr/>
          <a:lstStyle/>
          <a:p>
            <a:pPr eaLnBrk="1" hangingPunct="1"/>
            <a:r>
              <a:rPr lang="en-US" altLang="en-US" sz="2400" dirty="0"/>
              <a:t>Determine VCE and IC in voltage-divider biased transistor circuit below if </a:t>
            </a:r>
            <a:r>
              <a:rPr lang="el-GR" altLang="en-US" sz="2400" dirty="0">
                <a:cs typeface="Times New Roman" panose="02020603050405020304" pitchFamily="18" charset="0"/>
              </a:rPr>
              <a:t>β</a:t>
            </a:r>
            <a:r>
              <a:rPr lang="en-US" altLang="en-US" sz="1100" dirty="0">
                <a:cs typeface="Times New Roman" panose="02020603050405020304" pitchFamily="18" charset="0"/>
              </a:rPr>
              <a:t>DC</a:t>
            </a:r>
            <a:r>
              <a:rPr lang="en-US" altLang="en-US" sz="2400" dirty="0">
                <a:cs typeface="Times New Roman" panose="02020603050405020304" pitchFamily="18" charset="0"/>
              </a:rPr>
              <a:t>=100.</a:t>
            </a:r>
            <a:endParaRPr lang="el-GR" altLang="en-US" sz="2400" dirty="0">
              <a:cs typeface="Times New Roman" panose="02020603050405020304" pitchFamily="18" charset="0"/>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10417AA-0D27-46E4-887C-361EE182F962}" type="slidenum">
              <a:rPr lang="en-US" altLang="en-US">
                <a:solidFill>
                  <a:srgbClr val="898989"/>
                </a:solidFill>
              </a:rPr>
              <a:pPr eaLnBrk="1" hangingPunct="1"/>
              <a:t>9</a:t>
            </a:fld>
            <a:endParaRPr lang="en-US" altLang="en-US">
              <a:solidFill>
                <a:srgbClr val="898989"/>
              </a:solidFill>
            </a:endParaRPr>
          </a:p>
        </p:txBody>
      </p:sp>
      <p:pic>
        <p:nvPicPr>
          <p:cNvPr id="2355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1" y="2209800"/>
            <a:ext cx="3209925" cy="445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8784749"/>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1" name="Rectangle 2"/>
          <p:cNvSpPr>
            <a:spLocks noGrp="1" noChangeArrowheads="1"/>
          </p:cNvSpPr>
          <p:nvPr>
            <p:ph type="title"/>
          </p:nvPr>
        </p:nvSpPr>
        <p:spPr>
          <a:xfrm>
            <a:off x="2209800" y="609600"/>
            <a:ext cx="7772400" cy="762000"/>
          </a:xfrm>
        </p:spPr>
        <p:txBody>
          <a:bodyPr/>
          <a:lstStyle/>
          <a:p>
            <a:pPr eaLnBrk="1" hangingPunct="1"/>
            <a:r>
              <a:rPr lang="en-US" altLang="en-US" dirty="0" smtClean="0"/>
              <a:t>Solution </a:t>
            </a:r>
          </a:p>
        </p:txBody>
      </p:sp>
      <p:sp>
        <p:nvSpPr>
          <p:cNvPr id="5129" name="Rectangle 3"/>
          <p:cNvSpPr>
            <a:spLocks noGrp="1" noChangeArrowheads="1"/>
          </p:cNvSpPr>
          <p:nvPr>
            <p:ph idx="1"/>
          </p:nvPr>
        </p:nvSpPr>
        <p:spPr>
          <a:xfrm>
            <a:off x="1981199" y="1295401"/>
            <a:ext cx="8781535" cy="5352534"/>
          </a:xfrm>
        </p:spPr>
        <p:txBody>
          <a:bodyPr rtlCol="0">
            <a:normAutofit fontScale="85000" lnSpcReduction="10000"/>
          </a:bodyPr>
          <a:lstStyle/>
          <a:p>
            <a:pPr marL="609600" indent="-609600">
              <a:buFontTx/>
              <a:buAutoNum type="arabicPeriod"/>
              <a:defRPr/>
            </a:pPr>
            <a:r>
              <a:rPr lang="en-US" sz="2400" dirty="0"/>
              <a:t>Determine dc input resistance at base to see if it can be neglected</a:t>
            </a:r>
            <a:r>
              <a:rPr lang="en-US" sz="2400" dirty="0" smtClean="0"/>
              <a:t>.</a:t>
            </a:r>
          </a:p>
          <a:p>
            <a:pPr marL="0" indent="0">
              <a:buNone/>
              <a:defRPr/>
            </a:pPr>
            <a:endParaRPr lang="en-US" sz="2400" dirty="0" smtClean="0"/>
          </a:p>
          <a:p>
            <a:pPr marL="609600" indent="-609600">
              <a:buFontTx/>
              <a:buAutoNum type="arabicPeriod"/>
              <a:defRPr/>
            </a:pPr>
            <a:r>
              <a:rPr lang="en-US" sz="2400" dirty="0" smtClean="0"/>
              <a:t>R</a:t>
            </a:r>
            <a:r>
              <a:rPr lang="en-US" sz="2400" baseline="-25000" dirty="0" smtClean="0"/>
              <a:t>IN(base</a:t>
            </a:r>
            <a:r>
              <a:rPr lang="en-US" sz="2400" baseline="-25000" dirty="0"/>
              <a:t>)</a:t>
            </a:r>
            <a:r>
              <a:rPr lang="en-US" sz="2400" dirty="0"/>
              <a:t>=10R2, </a:t>
            </a:r>
            <a:r>
              <a:rPr lang="en-US" sz="2400" dirty="0" smtClean="0"/>
              <a:t>since </a:t>
            </a:r>
            <a:r>
              <a:rPr lang="en-US" altLang="en-US" sz="2400" dirty="0">
                <a:latin typeface="Tahoma" panose="020B0604030504040204" pitchFamily="34" charset="0"/>
                <a:sym typeface="Symbol" panose="05050102010706020507" pitchFamily="18" charset="2"/>
              </a:rPr>
              <a:t></a:t>
            </a:r>
            <a:r>
              <a:rPr lang="en-US" altLang="en-US" sz="2400" baseline="-25000" dirty="0">
                <a:latin typeface="Tahoma" panose="020B0604030504040204" pitchFamily="34" charset="0"/>
                <a:sym typeface="Symbol" panose="05050102010706020507" pitchFamily="18" charset="2"/>
              </a:rPr>
              <a:t>DC</a:t>
            </a:r>
            <a:r>
              <a:rPr lang="en-US" altLang="en-US" sz="2400" dirty="0">
                <a:latin typeface="Tahoma" panose="020B0604030504040204" pitchFamily="34" charset="0"/>
                <a:sym typeface="Symbol" panose="05050102010706020507" pitchFamily="18" charset="2"/>
              </a:rPr>
              <a:t>R</a:t>
            </a:r>
            <a:r>
              <a:rPr lang="en-US" altLang="en-US" sz="2400" baseline="-25000" dirty="0">
                <a:latin typeface="Tahoma" panose="020B0604030504040204" pitchFamily="34" charset="0"/>
                <a:sym typeface="Symbol" panose="05050102010706020507" pitchFamily="18" charset="2"/>
              </a:rPr>
              <a:t>E</a:t>
            </a:r>
            <a:r>
              <a:rPr lang="en-US" altLang="en-US" sz="2400" dirty="0">
                <a:latin typeface="Tahoma" panose="020B0604030504040204" pitchFamily="34" charset="0"/>
                <a:sym typeface="Symbol" panose="05050102010706020507" pitchFamily="18" charset="2"/>
              </a:rPr>
              <a:t> </a:t>
            </a:r>
            <a:r>
              <a:rPr lang="en-US" altLang="en-US" sz="2400" dirty="0">
                <a:latin typeface="Tahoma" panose="020B0604030504040204" pitchFamily="34" charset="0"/>
                <a:cs typeface="Times New Roman" panose="02020603050405020304" pitchFamily="18" charset="0"/>
                <a:sym typeface="Symbol" panose="05050102010706020507" pitchFamily="18" charset="2"/>
              </a:rPr>
              <a:t>&gt;</a:t>
            </a:r>
            <a:r>
              <a:rPr lang="en-US" altLang="en-US" sz="2400" dirty="0">
                <a:latin typeface="Tahoma" panose="020B0604030504040204" pitchFamily="34" charset="0"/>
                <a:sym typeface="Symbol" panose="05050102010706020507" pitchFamily="18" charset="2"/>
              </a:rPr>
              <a:t>&gt;R</a:t>
            </a:r>
            <a:r>
              <a:rPr lang="en-US" altLang="en-US" sz="2400" baseline="-25000" dirty="0">
                <a:latin typeface="Tahoma" panose="020B0604030504040204" pitchFamily="34" charset="0"/>
                <a:sym typeface="Symbol" panose="05050102010706020507" pitchFamily="18" charset="2"/>
              </a:rPr>
              <a:t>2</a:t>
            </a:r>
            <a:r>
              <a:rPr lang="en-US" sz="2400" dirty="0" smtClean="0"/>
              <a:t>       R</a:t>
            </a:r>
            <a:r>
              <a:rPr lang="en-US" sz="2400" baseline="-25000" dirty="0" smtClean="0"/>
              <a:t>IN(base</a:t>
            </a:r>
            <a:r>
              <a:rPr lang="en-US" sz="2400" baseline="-25000" dirty="0"/>
              <a:t>)</a:t>
            </a:r>
            <a:r>
              <a:rPr lang="en-US" sz="2400" dirty="0"/>
              <a:t>. Then, find base voltage</a:t>
            </a:r>
          </a:p>
          <a:p>
            <a:pPr marL="609600" indent="-609600">
              <a:buFontTx/>
              <a:buAutoNum type="arabicPeriod"/>
              <a:defRPr/>
            </a:pPr>
            <a:endParaRPr lang="en-US" sz="2400" dirty="0"/>
          </a:p>
          <a:p>
            <a:pPr marL="609600" indent="-609600">
              <a:buFontTx/>
              <a:buAutoNum type="arabicPeriod"/>
              <a:defRPr/>
            </a:pPr>
            <a:endParaRPr lang="en-US" sz="2400" dirty="0"/>
          </a:p>
          <a:p>
            <a:pPr marL="609600" indent="-609600">
              <a:buFontTx/>
              <a:buAutoNum type="arabicPeriod"/>
              <a:defRPr/>
            </a:pPr>
            <a:r>
              <a:rPr lang="en-US" sz="2400" dirty="0"/>
              <a:t>So, emitter voltage </a:t>
            </a:r>
          </a:p>
          <a:p>
            <a:pPr marL="609600" indent="-609600">
              <a:buFontTx/>
              <a:buAutoNum type="arabicPeriod"/>
              <a:defRPr/>
            </a:pPr>
            <a:endParaRPr lang="en-US" sz="2400" dirty="0"/>
          </a:p>
          <a:p>
            <a:pPr marL="609600" indent="-609600">
              <a:buFontTx/>
              <a:buAutoNum type="arabicPeriod"/>
              <a:defRPr/>
            </a:pPr>
            <a:r>
              <a:rPr lang="en-US" sz="2400" dirty="0"/>
              <a:t>And emitter current</a:t>
            </a:r>
          </a:p>
          <a:p>
            <a:pPr marL="609600" indent="-609600">
              <a:buFontTx/>
              <a:buAutoNum type="arabicPeriod"/>
              <a:defRPr/>
            </a:pPr>
            <a:endParaRPr lang="en-US" sz="2400" dirty="0"/>
          </a:p>
          <a:p>
            <a:pPr marL="609600" indent="-609600">
              <a:buFontTx/>
              <a:buAutoNum type="arabicPeriod"/>
              <a:defRPr/>
            </a:pPr>
            <a:r>
              <a:rPr lang="en-US" sz="2400" dirty="0"/>
              <a:t>Thus, </a:t>
            </a:r>
            <a:endParaRPr lang="en-US" sz="2400" dirty="0" smtClean="0"/>
          </a:p>
          <a:p>
            <a:pPr marL="609600" indent="-609600">
              <a:buFontTx/>
              <a:buAutoNum type="arabicPeriod"/>
              <a:defRPr/>
            </a:pPr>
            <a:endParaRPr lang="en-US" sz="2400" dirty="0"/>
          </a:p>
          <a:p>
            <a:pPr marL="609600" indent="-609600">
              <a:buFontTx/>
              <a:buAutoNum type="arabicPeriod"/>
              <a:defRPr/>
            </a:pPr>
            <a:endParaRPr lang="en-US" sz="2400" dirty="0"/>
          </a:p>
          <a:p>
            <a:pPr marL="609600" indent="-609600">
              <a:buFontTx/>
              <a:buAutoNum type="arabicPeriod"/>
              <a:defRPr/>
            </a:pPr>
            <a:r>
              <a:rPr lang="en-US" sz="2400" dirty="0"/>
              <a:t>And V</a:t>
            </a:r>
            <a:r>
              <a:rPr lang="en-US" sz="2400" baseline="-25000" dirty="0"/>
              <a:t>CE</a:t>
            </a:r>
            <a:r>
              <a:rPr lang="en-US" sz="2400" dirty="0"/>
              <a:t> is </a:t>
            </a:r>
          </a:p>
          <a:p>
            <a:pPr marL="609600" indent="-609600">
              <a:buNone/>
              <a:defRPr/>
            </a:pPr>
            <a:endParaRPr lang="en-US" sz="2400" dirty="0"/>
          </a:p>
          <a:p>
            <a:pPr marL="609600" indent="-609600">
              <a:buNone/>
              <a:defRPr/>
            </a:pPr>
            <a:endParaRPr lang="en-US" sz="2400" baseline="-25000" dirty="0"/>
          </a:p>
        </p:txBody>
      </p:sp>
      <p:sp>
        <p:nvSpPr>
          <p:cNvPr id="17" name="Slide Number Placeholder 16"/>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3F8B688-5E00-4534-BD4B-EFDC77DCE8B4}" type="slidenum">
              <a:rPr lang="en-US" altLang="en-US">
                <a:solidFill>
                  <a:srgbClr val="898989"/>
                </a:solidFill>
              </a:rPr>
              <a:pPr eaLnBrk="1" hangingPunct="1"/>
              <a:t>10</a:t>
            </a:fld>
            <a:endParaRPr lang="en-US" altLang="en-US">
              <a:solidFill>
                <a:srgbClr val="898989"/>
              </a:solidFill>
            </a:endParaRPr>
          </a:p>
        </p:txBody>
      </p:sp>
      <p:sp>
        <p:nvSpPr>
          <p:cNvPr id="3084" name="Rectangle 5"/>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aphicFrame>
        <p:nvGraphicFramePr>
          <p:cNvPr id="3074" name="Object 4"/>
          <p:cNvGraphicFramePr>
            <a:graphicFrameLocks noChangeAspect="1"/>
          </p:cNvGraphicFramePr>
          <p:nvPr>
            <p:extLst>
              <p:ext uri="{D42A27DB-BD31-4B8C-83A1-F6EECF244321}">
                <p14:modId xmlns:p14="http://schemas.microsoft.com/office/powerpoint/2010/main" val="519335806"/>
              </p:ext>
            </p:extLst>
          </p:nvPr>
        </p:nvGraphicFramePr>
        <p:xfrm>
          <a:off x="2798805" y="2532065"/>
          <a:ext cx="4876800" cy="457200"/>
        </p:xfrm>
        <a:graphic>
          <a:graphicData uri="http://schemas.openxmlformats.org/presentationml/2006/ole">
            <mc:AlternateContent xmlns:mc="http://schemas.openxmlformats.org/markup-compatibility/2006">
              <mc:Choice xmlns:v="urn:schemas-microsoft-com:vml" Requires="v">
                <p:oleObj spid="_x0000_s3494" name="Equation" r:id="rId4" imgW="2374900" imgH="241300" progId="Equation.3">
                  <p:embed/>
                </p:oleObj>
              </mc:Choice>
              <mc:Fallback>
                <p:oleObj name="Equation" r:id="rId4" imgW="2374900" imgH="241300" progId="Equation.3">
                  <p:embed/>
                  <p:pic>
                    <p:nvPicPr>
                      <p:cNvPr id="307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8805" y="2532065"/>
                        <a:ext cx="48768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85" name="Rectangle 7"/>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aphicFrame>
        <p:nvGraphicFramePr>
          <p:cNvPr id="3075" name="Object 6"/>
          <p:cNvGraphicFramePr>
            <a:graphicFrameLocks noChangeAspect="1"/>
          </p:cNvGraphicFramePr>
          <p:nvPr>
            <p:extLst>
              <p:ext uri="{D42A27DB-BD31-4B8C-83A1-F6EECF244321}">
                <p14:modId xmlns:p14="http://schemas.microsoft.com/office/powerpoint/2010/main" val="1907258916"/>
              </p:ext>
            </p:extLst>
          </p:nvPr>
        </p:nvGraphicFramePr>
        <p:xfrm>
          <a:off x="5045676" y="2819400"/>
          <a:ext cx="4419600" cy="762000"/>
        </p:xfrm>
        <a:graphic>
          <a:graphicData uri="http://schemas.openxmlformats.org/presentationml/2006/ole">
            <mc:AlternateContent xmlns:mc="http://schemas.openxmlformats.org/markup-compatibility/2006">
              <mc:Choice xmlns:v="urn:schemas-microsoft-com:vml" Requires="v">
                <p:oleObj spid="_x0000_s3495" name="Equation" r:id="rId6" imgW="2743200" imgH="482600" progId="Equation.3">
                  <p:embed/>
                </p:oleObj>
              </mc:Choice>
              <mc:Fallback>
                <p:oleObj name="Equation" r:id="rId6" imgW="2743200" imgH="482600" progId="Equation.3">
                  <p:embed/>
                  <p:pic>
                    <p:nvPicPr>
                      <p:cNvPr id="3075"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45676" y="2819400"/>
                        <a:ext cx="441960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86" name="Rectangle 9"/>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aphicFrame>
        <p:nvGraphicFramePr>
          <p:cNvPr id="3076" name="Object 8"/>
          <p:cNvGraphicFramePr>
            <a:graphicFrameLocks noChangeAspect="1"/>
          </p:cNvGraphicFramePr>
          <p:nvPr>
            <p:extLst>
              <p:ext uri="{D42A27DB-BD31-4B8C-83A1-F6EECF244321}">
                <p14:modId xmlns:p14="http://schemas.microsoft.com/office/powerpoint/2010/main" val="2427514556"/>
              </p:ext>
            </p:extLst>
          </p:nvPr>
        </p:nvGraphicFramePr>
        <p:xfrm>
          <a:off x="5121876" y="4097335"/>
          <a:ext cx="4267200" cy="381000"/>
        </p:xfrm>
        <a:graphic>
          <a:graphicData uri="http://schemas.openxmlformats.org/presentationml/2006/ole">
            <mc:AlternateContent xmlns:mc="http://schemas.openxmlformats.org/markup-compatibility/2006">
              <mc:Choice xmlns:v="urn:schemas-microsoft-com:vml" Requires="v">
                <p:oleObj spid="_x0000_s3496" name="Equation" r:id="rId8" imgW="2247900" imgH="215900" progId="Equation.3">
                  <p:embed/>
                </p:oleObj>
              </mc:Choice>
              <mc:Fallback>
                <p:oleObj name="Equation" r:id="rId8" imgW="2247900" imgH="215900" progId="Equation.3">
                  <p:embed/>
                  <p:pic>
                    <p:nvPicPr>
                      <p:cNvPr id="3076"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21876" y="4097335"/>
                        <a:ext cx="42672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87" name="Rectangle 11"/>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aphicFrame>
        <p:nvGraphicFramePr>
          <p:cNvPr id="3077" name="Object 10"/>
          <p:cNvGraphicFramePr>
            <a:graphicFrameLocks noChangeAspect="1"/>
          </p:cNvGraphicFramePr>
          <p:nvPr/>
        </p:nvGraphicFramePr>
        <p:xfrm>
          <a:off x="5334000" y="4800601"/>
          <a:ext cx="3124200" cy="817563"/>
        </p:xfrm>
        <a:graphic>
          <a:graphicData uri="http://schemas.openxmlformats.org/presentationml/2006/ole">
            <mc:AlternateContent xmlns:mc="http://schemas.openxmlformats.org/markup-compatibility/2006">
              <mc:Choice xmlns:v="urn:schemas-microsoft-com:vml" Requires="v">
                <p:oleObj spid="_x0000_s3497" name="Equation" r:id="rId10" imgW="1714500" imgH="444500" progId="Equation.3">
                  <p:embed/>
                </p:oleObj>
              </mc:Choice>
              <mc:Fallback>
                <p:oleObj name="Equation" r:id="rId10" imgW="1714500" imgH="444500" progId="Equation.3">
                  <p:embed/>
                  <p:pic>
                    <p:nvPicPr>
                      <p:cNvPr id="3077"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34000" y="4800601"/>
                        <a:ext cx="3124200" cy="817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88" name="Rectangle 13"/>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aphicFrame>
        <p:nvGraphicFramePr>
          <p:cNvPr id="3078" name="Object 12"/>
          <p:cNvGraphicFramePr>
            <a:graphicFrameLocks noChangeAspect="1"/>
          </p:cNvGraphicFramePr>
          <p:nvPr>
            <p:extLst>
              <p:ext uri="{D42A27DB-BD31-4B8C-83A1-F6EECF244321}">
                <p14:modId xmlns:p14="http://schemas.microsoft.com/office/powerpoint/2010/main" val="2337333984"/>
              </p:ext>
            </p:extLst>
          </p:nvPr>
        </p:nvGraphicFramePr>
        <p:xfrm>
          <a:off x="5702643" y="5618164"/>
          <a:ext cx="1828800" cy="381000"/>
        </p:xfrm>
        <a:graphic>
          <a:graphicData uri="http://schemas.openxmlformats.org/presentationml/2006/ole">
            <mc:AlternateContent xmlns:mc="http://schemas.openxmlformats.org/markup-compatibility/2006">
              <mc:Choice xmlns:v="urn:schemas-microsoft-com:vml" Requires="v">
                <p:oleObj spid="_x0000_s3498" name="Equation" r:id="rId12" imgW="876300" imgH="228600" progId="Equation.3">
                  <p:embed/>
                </p:oleObj>
              </mc:Choice>
              <mc:Fallback>
                <p:oleObj name="Equation" r:id="rId12" imgW="876300" imgH="228600" progId="Equation.3">
                  <p:embed/>
                  <p:pic>
                    <p:nvPicPr>
                      <p:cNvPr id="3078"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02643" y="5618164"/>
                        <a:ext cx="18288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89" name="Rectangle 15"/>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aphicFrame>
        <p:nvGraphicFramePr>
          <p:cNvPr id="3079" name="Object 14"/>
          <p:cNvGraphicFramePr>
            <a:graphicFrameLocks noChangeAspect="1"/>
          </p:cNvGraphicFramePr>
          <p:nvPr/>
        </p:nvGraphicFramePr>
        <p:xfrm>
          <a:off x="4267200" y="6096000"/>
          <a:ext cx="6172200" cy="457200"/>
        </p:xfrm>
        <a:graphic>
          <a:graphicData uri="http://schemas.openxmlformats.org/presentationml/2006/ole">
            <mc:AlternateContent xmlns:mc="http://schemas.openxmlformats.org/markup-compatibility/2006">
              <mc:Choice xmlns:v="urn:schemas-microsoft-com:vml" Requires="v">
                <p:oleObj spid="_x0000_s3499" name="Equation" r:id="rId14" imgW="3479800" imgH="228600" progId="Equation.3">
                  <p:embed/>
                </p:oleObj>
              </mc:Choice>
              <mc:Fallback>
                <p:oleObj name="Equation" r:id="rId14" imgW="3479800" imgH="228600" progId="Equation.3">
                  <p:embed/>
                  <p:pic>
                    <p:nvPicPr>
                      <p:cNvPr id="3079"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67200" y="6096000"/>
                        <a:ext cx="61722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46838654"/>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209800" y="76200"/>
            <a:ext cx="7772400" cy="1143000"/>
          </a:xfrm>
        </p:spPr>
        <p:txBody>
          <a:bodyPr>
            <a:normAutofit fontScale="90000"/>
          </a:bodyPr>
          <a:lstStyle/>
          <a:p>
            <a:pPr eaLnBrk="1" hangingPunct="1"/>
            <a:r>
              <a:rPr lang="en-US" altLang="en-US"/>
              <a:t>Voltage-Divider Bias for PNP Transistor</a:t>
            </a:r>
          </a:p>
        </p:txBody>
      </p:sp>
      <p:sp>
        <p:nvSpPr>
          <p:cNvPr id="8" name="Slide Number Placeholder 7"/>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0FD36F2-91A6-4E93-8E56-F6AA55C81E3F}" type="slidenum">
              <a:rPr lang="en-US" altLang="en-US">
                <a:solidFill>
                  <a:srgbClr val="898989"/>
                </a:solidFill>
              </a:rPr>
              <a:pPr eaLnBrk="1" hangingPunct="1"/>
              <a:t>11</a:t>
            </a:fld>
            <a:endParaRPr lang="en-US" altLang="en-US">
              <a:solidFill>
                <a:srgbClr val="898989"/>
              </a:solidFill>
            </a:endParaRPr>
          </a:p>
        </p:txBody>
      </p:sp>
      <p:sp>
        <p:nvSpPr>
          <p:cNvPr id="24580" name="Text Box 3"/>
          <p:cNvSpPr txBox="1">
            <a:spLocks noChangeArrowheads="1"/>
          </p:cNvSpPr>
          <p:nvPr/>
        </p:nvSpPr>
        <p:spPr bwMode="auto">
          <a:xfrm>
            <a:off x="2286000" y="1066801"/>
            <a:ext cx="77724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dirty="0" err="1">
                <a:latin typeface="Calibri" panose="020F0502020204030204" pitchFamily="34" charset="0"/>
              </a:rPr>
              <a:t>Pnp</a:t>
            </a:r>
            <a:r>
              <a:rPr lang="en-US" altLang="en-US" sz="2400" dirty="0">
                <a:latin typeface="Calibri" panose="020F0502020204030204" pitchFamily="34" charset="0"/>
              </a:rPr>
              <a:t> transistor has opposite polarities from </a:t>
            </a:r>
            <a:r>
              <a:rPr lang="en-US" altLang="en-US" sz="2400" dirty="0" err="1">
                <a:latin typeface="Calibri" panose="020F0502020204030204" pitchFamily="34" charset="0"/>
              </a:rPr>
              <a:t>npn</a:t>
            </a:r>
            <a:r>
              <a:rPr lang="en-US" altLang="en-US" sz="2400" dirty="0">
                <a:latin typeface="Calibri" panose="020F0502020204030204" pitchFamily="34" charset="0"/>
              </a:rPr>
              <a:t>. To obtain </a:t>
            </a:r>
            <a:r>
              <a:rPr lang="en-US" altLang="en-US" sz="2400" dirty="0" err="1">
                <a:latin typeface="Calibri" panose="020F0502020204030204" pitchFamily="34" charset="0"/>
              </a:rPr>
              <a:t>pnp</a:t>
            </a:r>
            <a:r>
              <a:rPr lang="en-US" altLang="en-US" sz="2400" dirty="0">
                <a:latin typeface="Calibri" panose="020F0502020204030204" pitchFamily="34" charset="0"/>
              </a:rPr>
              <a:t>, required negative collector supply voltage or with a positive emitter supply voltage. The analysis of </a:t>
            </a:r>
            <a:r>
              <a:rPr lang="en-US" altLang="en-US" sz="2400" dirty="0" err="1">
                <a:latin typeface="Calibri" panose="020F0502020204030204" pitchFamily="34" charset="0"/>
              </a:rPr>
              <a:t>pnp</a:t>
            </a:r>
            <a:r>
              <a:rPr lang="en-US" altLang="en-US" sz="2400" dirty="0">
                <a:latin typeface="Calibri" panose="020F0502020204030204" pitchFamily="34" charset="0"/>
              </a:rPr>
              <a:t> is basically the same as </a:t>
            </a:r>
            <a:r>
              <a:rPr lang="en-US" altLang="en-US" sz="2400" dirty="0" err="1">
                <a:latin typeface="Calibri" panose="020F0502020204030204" pitchFamily="34" charset="0"/>
              </a:rPr>
              <a:t>npn</a:t>
            </a:r>
            <a:r>
              <a:rPr lang="en-US" altLang="en-US" sz="2400" dirty="0">
                <a:latin typeface="Calibri" panose="020F0502020204030204" pitchFamily="34" charset="0"/>
              </a:rPr>
              <a:t>. </a:t>
            </a:r>
          </a:p>
          <a:p>
            <a:pPr eaLnBrk="1" hangingPunct="1">
              <a:spcBef>
                <a:spcPct val="50000"/>
              </a:spcBef>
            </a:pPr>
            <a:endParaRPr lang="en-US" altLang="en-US" sz="2400" dirty="0">
              <a:latin typeface="Calibri" panose="020F0502020204030204" pitchFamily="34" charset="0"/>
            </a:endParaRPr>
          </a:p>
        </p:txBody>
      </p:sp>
      <p:pic>
        <p:nvPicPr>
          <p:cNvPr id="2458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2667000"/>
            <a:ext cx="48768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5201" y="2667000"/>
            <a:ext cx="2371725"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3" name="AutoShape 7"/>
          <p:cNvSpPr>
            <a:spLocks noChangeArrowheads="1"/>
          </p:cNvSpPr>
          <p:nvPr/>
        </p:nvSpPr>
        <p:spPr bwMode="auto">
          <a:xfrm>
            <a:off x="6324600" y="4114800"/>
            <a:ext cx="1219200" cy="609600"/>
          </a:xfrm>
          <a:prstGeom prst="leftRightArrow">
            <a:avLst>
              <a:gd name="adj1" fmla="val 50000"/>
              <a:gd name="adj2" fmla="val 40000"/>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Tree>
    <p:extLst>
      <p:ext uri="{BB962C8B-B14F-4D97-AF65-F5344CB8AC3E}">
        <p14:creationId xmlns:p14="http://schemas.microsoft.com/office/powerpoint/2010/main" val="930046096"/>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3" name="Rectangle 2"/>
          <p:cNvSpPr>
            <a:spLocks noGrp="1" noChangeArrowheads="1"/>
          </p:cNvSpPr>
          <p:nvPr>
            <p:ph type="title"/>
          </p:nvPr>
        </p:nvSpPr>
        <p:spPr>
          <a:xfrm>
            <a:off x="646671" y="146222"/>
            <a:ext cx="8382000" cy="914400"/>
          </a:xfrm>
        </p:spPr>
        <p:txBody>
          <a:bodyPr>
            <a:normAutofit fontScale="90000"/>
          </a:bodyPr>
          <a:lstStyle/>
          <a:p>
            <a:pPr eaLnBrk="1" hangingPunct="1"/>
            <a:r>
              <a:rPr lang="en-US" altLang="en-US"/>
              <a:t>Analysis of voltage bias for pnp transistor</a:t>
            </a:r>
          </a:p>
        </p:txBody>
      </p:sp>
      <p:sp>
        <p:nvSpPr>
          <p:cNvPr id="4104" name="Rectangle 3"/>
          <p:cNvSpPr>
            <a:spLocks noGrp="1" noChangeArrowheads="1"/>
          </p:cNvSpPr>
          <p:nvPr>
            <p:ph idx="1"/>
          </p:nvPr>
        </p:nvSpPr>
        <p:spPr>
          <a:xfrm>
            <a:off x="1981200" y="1371601"/>
            <a:ext cx="8229600" cy="4830763"/>
          </a:xfrm>
        </p:spPr>
        <p:txBody>
          <a:bodyPr>
            <a:normAutofit lnSpcReduction="10000"/>
          </a:bodyPr>
          <a:lstStyle/>
          <a:p>
            <a:pPr eaLnBrk="1" hangingPunct="1"/>
            <a:r>
              <a:rPr lang="en-US" altLang="en-US" sz="2400"/>
              <a:t>Base voltage </a:t>
            </a:r>
          </a:p>
          <a:p>
            <a:pPr eaLnBrk="1" hangingPunct="1"/>
            <a:endParaRPr lang="en-US" altLang="en-US" sz="2400"/>
          </a:p>
          <a:p>
            <a:pPr eaLnBrk="1" hangingPunct="1"/>
            <a:r>
              <a:rPr lang="en-US" altLang="en-US" sz="2400"/>
              <a:t>Emitter voltage</a:t>
            </a:r>
          </a:p>
          <a:p>
            <a:pPr eaLnBrk="1" hangingPunct="1"/>
            <a:endParaRPr lang="en-US" altLang="en-US" sz="2400"/>
          </a:p>
          <a:p>
            <a:pPr eaLnBrk="1" hangingPunct="1"/>
            <a:endParaRPr lang="en-US" altLang="en-US" sz="2400"/>
          </a:p>
          <a:p>
            <a:pPr eaLnBrk="1" hangingPunct="1"/>
            <a:r>
              <a:rPr lang="en-US" altLang="en-US" sz="2400"/>
              <a:t>By Ohm’s Law,</a:t>
            </a:r>
          </a:p>
          <a:p>
            <a:pPr eaLnBrk="1" hangingPunct="1"/>
            <a:endParaRPr lang="en-US" altLang="en-US" sz="2400"/>
          </a:p>
          <a:p>
            <a:pPr eaLnBrk="1" hangingPunct="1"/>
            <a:endParaRPr lang="en-US" altLang="en-US" sz="2400"/>
          </a:p>
          <a:p>
            <a:pPr eaLnBrk="1" hangingPunct="1"/>
            <a:endParaRPr lang="en-US" altLang="en-US" sz="2400"/>
          </a:p>
          <a:p>
            <a:pPr eaLnBrk="1" hangingPunct="1"/>
            <a:r>
              <a:rPr lang="en-US" altLang="en-US" sz="2400"/>
              <a:t>And,</a:t>
            </a:r>
          </a:p>
          <a:p>
            <a:pPr eaLnBrk="1" hangingPunct="1">
              <a:buFontTx/>
              <a:buNone/>
            </a:pPr>
            <a:endParaRPr lang="en-US" altLang="en-US" sz="2400"/>
          </a:p>
          <a:p>
            <a:pPr eaLnBrk="1" hangingPunct="1"/>
            <a:endParaRPr lang="en-US" altLang="en-US" sz="2400"/>
          </a:p>
        </p:txBody>
      </p:sp>
      <p:sp>
        <p:nvSpPr>
          <p:cNvPr id="13" name="Slide Number Placeholder 12"/>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BA02B43-E478-43BA-9199-EC17856F25DD}" type="slidenum">
              <a:rPr lang="en-US" altLang="en-US">
                <a:solidFill>
                  <a:srgbClr val="898989"/>
                </a:solidFill>
              </a:rPr>
              <a:pPr eaLnBrk="1" hangingPunct="1"/>
              <a:t>12</a:t>
            </a:fld>
            <a:endParaRPr lang="en-US" altLang="en-US">
              <a:solidFill>
                <a:srgbClr val="898989"/>
              </a:solidFill>
            </a:endParaRPr>
          </a:p>
        </p:txBody>
      </p:sp>
      <p:sp>
        <p:nvSpPr>
          <p:cNvPr id="4106" name="Rectangle 5"/>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aphicFrame>
        <p:nvGraphicFramePr>
          <p:cNvPr id="4098" name="Object 4"/>
          <p:cNvGraphicFramePr>
            <a:graphicFrameLocks noChangeAspect="1"/>
          </p:cNvGraphicFramePr>
          <p:nvPr/>
        </p:nvGraphicFramePr>
        <p:xfrm>
          <a:off x="4267200" y="1219200"/>
          <a:ext cx="3352800" cy="1066800"/>
        </p:xfrm>
        <a:graphic>
          <a:graphicData uri="http://schemas.openxmlformats.org/presentationml/2006/ole">
            <mc:AlternateContent xmlns:mc="http://schemas.openxmlformats.org/markup-compatibility/2006">
              <mc:Choice xmlns:v="urn:schemas-microsoft-com:vml" Requires="v">
                <p:oleObj spid="_x0000_s4378" name="Equation" r:id="rId4" imgW="1765300" imgH="508000" progId="Equation.3">
                  <p:embed/>
                </p:oleObj>
              </mc:Choice>
              <mc:Fallback>
                <p:oleObj name="Equation" r:id="rId4" imgW="1765300" imgH="508000" progId="Equation.3">
                  <p:embed/>
                  <p:pic>
                    <p:nvPicPr>
                      <p:cNvPr id="409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7200" y="1219200"/>
                        <a:ext cx="3352800" cy="1066800"/>
                      </a:xfrm>
                      <a:prstGeom prst="rect">
                        <a:avLst/>
                      </a:prstGeom>
                      <a:solidFill>
                        <a:srgbClr val="FFFF66"/>
                      </a:solidFill>
                    </p:spPr>
                  </p:pic>
                </p:oleObj>
              </mc:Fallback>
            </mc:AlternateContent>
          </a:graphicData>
        </a:graphic>
      </p:graphicFrame>
      <p:sp>
        <p:nvSpPr>
          <p:cNvPr id="4107" name="Rectangle 7"/>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aphicFrame>
        <p:nvGraphicFramePr>
          <p:cNvPr id="4099" name="Object 6"/>
          <p:cNvGraphicFramePr>
            <a:graphicFrameLocks noChangeAspect="1"/>
          </p:cNvGraphicFramePr>
          <p:nvPr/>
        </p:nvGraphicFramePr>
        <p:xfrm>
          <a:off x="4191000" y="2743200"/>
          <a:ext cx="2438400" cy="457200"/>
        </p:xfrm>
        <a:graphic>
          <a:graphicData uri="http://schemas.openxmlformats.org/presentationml/2006/ole">
            <mc:AlternateContent xmlns:mc="http://schemas.openxmlformats.org/markup-compatibility/2006">
              <mc:Choice xmlns:v="urn:schemas-microsoft-com:vml" Requires="v">
                <p:oleObj spid="_x0000_s4379" name="Equation" r:id="rId6" imgW="926698" imgH="215806" progId="Equation.3">
                  <p:embed/>
                </p:oleObj>
              </mc:Choice>
              <mc:Fallback>
                <p:oleObj name="Equation" r:id="rId6" imgW="926698" imgH="215806" progId="Equation.3">
                  <p:embed/>
                  <p:pic>
                    <p:nvPicPr>
                      <p:cNvPr id="4099"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91000" y="2743200"/>
                        <a:ext cx="2438400" cy="457200"/>
                      </a:xfrm>
                      <a:prstGeom prst="rect">
                        <a:avLst/>
                      </a:prstGeom>
                      <a:solidFill>
                        <a:srgbClr val="99FFCC"/>
                      </a:solidFill>
                    </p:spPr>
                  </p:pic>
                </p:oleObj>
              </mc:Fallback>
            </mc:AlternateContent>
          </a:graphicData>
        </a:graphic>
      </p:graphicFrame>
      <p:sp>
        <p:nvSpPr>
          <p:cNvPr id="4108" name="Rectangle 9"/>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aphicFrame>
        <p:nvGraphicFramePr>
          <p:cNvPr id="4100" name="Object 8"/>
          <p:cNvGraphicFramePr>
            <a:graphicFrameLocks noChangeAspect="1"/>
          </p:cNvGraphicFramePr>
          <p:nvPr/>
        </p:nvGraphicFramePr>
        <p:xfrm>
          <a:off x="4114800" y="4038600"/>
          <a:ext cx="2286000" cy="990600"/>
        </p:xfrm>
        <a:graphic>
          <a:graphicData uri="http://schemas.openxmlformats.org/presentationml/2006/ole">
            <mc:AlternateContent xmlns:mc="http://schemas.openxmlformats.org/markup-compatibility/2006">
              <mc:Choice xmlns:v="urn:schemas-microsoft-com:vml" Requires="v">
                <p:oleObj spid="_x0000_s4380" name="Equation" r:id="rId8" imgW="977476" imgH="444307" progId="Equation.3">
                  <p:embed/>
                </p:oleObj>
              </mc:Choice>
              <mc:Fallback>
                <p:oleObj name="Equation" r:id="rId8" imgW="977476" imgH="444307" progId="Equation.3">
                  <p:embed/>
                  <p:pic>
                    <p:nvPicPr>
                      <p:cNvPr id="410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14800" y="4038600"/>
                        <a:ext cx="2286000" cy="990600"/>
                      </a:xfrm>
                      <a:prstGeom prst="rect">
                        <a:avLst/>
                      </a:prstGeom>
                      <a:solidFill>
                        <a:srgbClr val="FF9999"/>
                      </a:solidFill>
                    </p:spPr>
                  </p:pic>
                </p:oleObj>
              </mc:Fallback>
            </mc:AlternateContent>
          </a:graphicData>
        </a:graphic>
      </p:graphicFrame>
      <p:sp>
        <p:nvSpPr>
          <p:cNvPr id="4109" name="Rectangle 11"/>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aphicFrame>
        <p:nvGraphicFramePr>
          <p:cNvPr id="4101" name="Object 10"/>
          <p:cNvGraphicFramePr>
            <a:graphicFrameLocks noChangeAspect="1"/>
          </p:cNvGraphicFramePr>
          <p:nvPr/>
        </p:nvGraphicFramePr>
        <p:xfrm>
          <a:off x="4114800" y="5257800"/>
          <a:ext cx="2057400" cy="990600"/>
        </p:xfrm>
        <a:graphic>
          <a:graphicData uri="http://schemas.openxmlformats.org/presentationml/2006/ole">
            <mc:AlternateContent xmlns:mc="http://schemas.openxmlformats.org/markup-compatibility/2006">
              <mc:Choice xmlns:v="urn:schemas-microsoft-com:vml" Requires="v">
                <p:oleObj spid="_x0000_s4381" name="Equation" r:id="rId10" imgW="939800" imgH="457200" progId="Equation.3">
                  <p:embed/>
                </p:oleObj>
              </mc:Choice>
              <mc:Fallback>
                <p:oleObj name="Equation" r:id="rId10" imgW="939800" imgH="457200" progId="Equation.3">
                  <p:embed/>
                  <p:pic>
                    <p:nvPicPr>
                      <p:cNvPr id="4101"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14800" y="5257800"/>
                        <a:ext cx="2057400" cy="990600"/>
                      </a:xfrm>
                      <a:prstGeom prst="rect">
                        <a:avLst/>
                      </a:prstGeom>
                      <a:solidFill>
                        <a:srgbClr val="99FF66"/>
                      </a:solidFill>
                    </p:spPr>
                  </p:pic>
                </p:oleObj>
              </mc:Fallback>
            </mc:AlternateContent>
          </a:graphicData>
        </a:graphic>
      </p:graphicFrame>
    </p:spTree>
    <p:extLst>
      <p:ext uri="{BB962C8B-B14F-4D97-AF65-F5344CB8AC3E}">
        <p14:creationId xmlns:p14="http://schemas.microsoft.com/office/powerpoint/2010/main" val="3329373334"/>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normAutofit/>
          </a:bodyPr>
          <a:lstStyle/>
          <a:p>
            <a:pPr eaLnBrk="1" hangingPunct="1"/>
            <a:r>
              <a:rPr lang="en-IN" altLang="en-US" sz="4800" dirty="0" smtClean="0"/>
              <a:t>                     Load Line</a:t>
            </a:r>
          </a:p>
        </p:txBody>
      </p:sp>
      <p:sp>
        <p:nvSpPr>
          <p:cNvPr id="25603" name="Content Placeholder 2"/>
          <p:cNvSpPr>
            <a:spLocks noGrp="1"/>
          </p:cNvSpPr>
          <p:nvPr>
            <p:ph idx="1"/>
          </p:nvPr>
        </p:nvSpPr>
        <p:spPr/>
        <p:txBody>
          <a:bodyPr/>
          <a:lstStyle/>
          <a:p>
            <a:pPr eaLnBrk="1" hangingPunct="1"/>
            <a:r>
              <a:rPr lang="en-IN" altLang="en-US" sz="2400" dirty="0" smtClean="0"/>
              <a:t>A load line is used in </a:t>
            </a:r>
            <a:r>
              <a:rPr lang="en-IN" altLang="en-US" sz="2400" dirty="0" smtClean="0">
                <a:solidFill>
                  <a:srgbClr val="FF0000"/>
                </a:solidFill>
              </a:rPr>
              <a:t>graphical analysis of nonlinear electronic circuits</a:t>
            </a:r>
            <a:r>
              <a:rPr lang="en-IN" altLang="en-US" sz="2400" dirty="0" smtClean="0"/>
              <a:t>, representing the constraint other parts of the circuit place on a non-linear device, like a diode or transistor.</a:t>
            </a:r>
          </a:p>
          <a:p>
            <a:pPr eaLnBrk="1" hangingPunct="1"/>
            <a:r>
              <a:rPr lang="en-IN" altLang="en-US" sz="2400" dirty="0" smtClean="0"/>
              <a:t>It is usually drawn on a graph of the current v/s the voltage in the nonlinear device, </a:t>
            </a:r>
            <a:r>
              <a:rPr lang="en-IN" altLang="en-US" sz="2400" dirty="0" smtClean="0">
                <a:solidFill>
                  <a:srgbClr val="FF0000"/>
                </a:solidFill>
              </a:rPr>
              <a:t>called the device's characteristic curve.</a:t>
            </a:r>
          </a:p>
          <a:p>
            <a:pPr eaLnBrk="1" hangingPunct="1"/>
            <a:endParaRPr lang="en-IN" altLang="en-US" dirty="0" smtClean="0">
              <a:solidFill>
                <a:srgbClr val="FF0000"/>
              </a:solidFill>
            </a:endParaRPr>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9CF61BA-4ECE-4F0F-9B60-15FECF4AAE3C}" type="slidenum">
              <a:rPr lang="en-US" altLang="en-US">
                <a:solidFill>
                  <a:srgbClr val="898989"/>
                </a:solidFill>
              </a:rPr>
              <a:pPr eaLnBrk="1" hangingPunct="1"/>
              <a:t>13</a:t>
            </a:fld>
            <a:endParaRPr lang="en-US" altLang="en-US">
              <a:solidFill>
                <a:srgbClr val="898989"/>
              </a:solidFill>
            </a:endParaRPr>
          </a:p>
        </p:txBody>
      </p:sp>
    </p:spTree>
    <p:extLst>
      <p:ext uri="{BB962C8B-B14F-4D97-AF65-F5344CB8AC3E}">
        <p14:creationId xmlns:p14="http://schemas.microsoft.com/office/powerpoint/2010/main" val="19629562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eaLnBrk="1" hangingPunct="1"/>
            <a:r>
              <a:rPr lang="en-IN" altLang="en-US" dirty="0" smtClean="0"/>
              <a:t>             Load Line Analysis        </a:t>
            </a:r>
          </a:p>
        </p:txBody>
      </p:sp>
      <p:sp>
        <p:nvSpPr>
          <p:cNvPr id="3" name="Content Placeholder 2"/>
          <p:cNvSpPr>
            <a:spLocks noGrp="1"/>
          </p:cNvSpPr>
          <p:nvPr>
            <p:ph idx="1"/>
          </p:nvPr>
        </p:nvSpPr>
        <p:spPr>
          <a:xfrm>
            <a:off x="677334" y="1526513"/>
            <a:ext cx="8596668" cy="4697411"/>
          </a:xfrm>
        </p:spPr>
        <p:txBody>
          <a:bodyPr rtlCol="0">
            <a:noAutofit/>
          </a:bodyPr>
          <a:lstStyle/>
          <a:p>
            <a:pPr>
              <a:defRPr/>
            </a:pPr>
            <a:r>
              <a:rPr lang="en-IN" sz="2800" dirty="0"/>
              <a:t>The applied load will normally have an important impact on the point or region </a:t>
            </a:r>
            <a:r>
              <a:rPr lang="en-IN" sz="2800" dirty="0" smtClean="0"/>
              <a:t>of operation </a:t>
            </a:r>
            <a:r>
              <a:rPr lang="en-IN" sz="2800" dirty="0"/>
              <a:t>of a device. </a:t>
            </a:r>
            <a:endParaRPr lang="en-IN" sz="2800" dirty="0" smtClean="0"/>
          </a:p>
          <a:p>
            <a:pPr>
              <a:defRPr/>
            </a:pPr>
            <a:r>
              <a:rPr lang="en-IN" sz="2800" dirty="0" smtClean="0"/>
              <a:t>If </a:t>
            </a:r>
            <a:r>
              <a:rPr lang="en-IN" sz="2800" dirty="0"/>
              <a:t>the analysis is performed in a graphical manner, a line </a:t>
            </a:r>
            <a:r>
              <a:rPr lang="en-IN" sz="2800" dirty="0" smtClean="0"/>
              <a:t>can be </a:t>
            </a:r>
            <a:r>
              <a:rPr lang="en-IN" sz="2800" dirty="0"/>
              <a:t>drawn on the characteristics of the device that represents the applied load. </a:t>
            </a:r>
            <a:endParaRPr lang="en-IN" sz="2800" dirty="0" smtClean="0"/>
          </a:p>
          <a:p>
            <a:pPr>
              <a:defRPr/>
            </a:pPr>
            <a:r>
              <a:rPr lang="en-IN" sz="2800" dirty="0" smtClean="0">
                <a:solidFill>
                  <a:srgbClr val="FF0000"/>
                </a:solidFill>
              </a:rPr>
              <a:t>The intersection of </a:t>
            </a:r>
            <a:r>
              <a:rPr lang="en-IN" sz="2800" dirty="0">
                <a:solidFill>
                  <a:srgbClr val="FF0000"/>
                </a:solidFill>
              </a:rPr>
              <a:t>the load line with the characteristics will determine the point of </a:t>
            </a:r>
            <a:r>
              <a:rPr lang="en-IN" sz="2800" dirty="0" smtClean="0">
                <a:solidFill>
                  <a:srgbClr val="FF0000"/>
                </a:solidFill>
              </a:rPr>
              <a:t>operation of </a:t>
            </a:r>
            <a:r>
              <a:rPr lang="en-IN" sz="2800" dirty="0">
                <a:solidFill>
                  <a:srgbClr val="FF0000"/>
                </a:solidFill>
              </a:rPr>
              <a:t>the system. Such an analysis is, for obvious reasons, called </a:t>
            </a:r>
            <a:r>
              <a:rPr lang="en-IN" sz="2800" i="1" dirty="0">
                <a:solidFill>
                  <a:srgbClr val="FF0000"/>
                </a:solidFill>
              </a:rPr>
              <a:t>load-line analysis.</a:t>
            </a:r>
            <a:endParaRPr lang="en-IN" sz="2800" dirty="0">
              <a:solidFill>
                <a:srgbClr val="FF0000"/>
              </a:solidFill>
            </a:endParaRPr>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E07AD7A-0758-4292-906C-DF7038410878}" type="slidenum">
              <a:rPr lang="en-US" altLang="en-US">
                <a:solidFill>
                  <a:srgbClr val="898989"/>
                </a:solidFill>
              </a:rPr>
              <a:pPr eaLnBrk="1" hangingPunct="1"/>
              <a:t>14</a:t>
            </a:fld>
            <a:endParaRPr lang="en-US" altLang="en-US">
              <a:solidFill>
                <a:srgbClr val="898989"/>
              </a:solidFill>
            </a:endParaRPr>
          </a:p>
        </p:txBody>
      </p:sp>
    </p:spTree>
    <p:extLst>
      <p:ext uri="{BB962C8B-B14F-4D97-AF65-F5344CB8AC3E}">
        <p14:creationId xmlns:p14="http://schemas.microsoft.com/office/powerpoint/2010/main" val="40028425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eaLnBrk="1" hangingPunct="1"/>
            <a:r>
              <a:rPr lang="en-IN" altLang="en-US" dirty="0" smtClean="0"/>
              <a:t>             DC Load Line Of Transistor       </a:t>
            </a:r>
          </a:p>
        </p:txBody>
      </p:sp>
      <p:sp>
        <p:nvSpPr>
          <p:cNvPr id="3" name="Content Placeholder 2"/>
          <p:cNvSpPr>
            <a:spLocks noGrp="1"/>
          </p:cNvSpPr>
          <p:nvPr>
            <p:ph idx="1"/>
          </p:nvPr>
        </p:nvSpPr>
        <p:spPr>
          <a:xfrm>
            <a:off x="677334" y="1715746"/>
            <a:ext cx="8596668" cy="3880773"/>
          </a:xfrm>
        </p:spPr>
        <p:txBody>
          <a:bodyPr rtlCol="0">
            <a:normAutofit lnSpcReduction="10000"/>
          </a:bodyPr>
          <a:lstStyle/>
          <a:p>
            <a:pPr algn="just">
              <a:defRPr/>
            </a:pPr>
            <a:r>
              <a:rPr lang="en-IN" sz="2800" dirty="0"/>
              <a:t>The dc load line is the locus of I and V at which BJT remains in active region </a:t>
            </a:r>
            <a:r>
              <a:rPr lang="en-IN" sz="2800" dirty="0" smtClean="0"/>
              <a:t>i.e. it </a:t>
            </a:r>
            <a:r>
              <a:rPr lang="en-US" altLang="zh-TW" sz="2800" dirty="0" smtClean="0"/>
              <a:t>is </a:t>
            </a:r>
            <a:r>
              <a:rPr lang="en-US" altLang="zh-TW" sz="2800" dirty="0"/>
              <a:t>a graph that represents all the possible combinations of I</a:t>
            </a:r>
            <a:r>
              <a:rPr lang="en-US" altLang="zh-TW" sz="2800" baseline="-25000" dirty="0"/>
              <a:t>C</a:t>
            </a:r>
            <a:r>
              <a:rPr lang="en-US" altLang="zh-TW" sz="2800" dirty="0"/>
              <a:t> and V</a:t>
            </a:r>
            <a:r>
              <a:rPr lang="en-US" altLang="zh-TW" sz="2800" baseline="-25000" dirty="0"/>
              <a:t>CE</a:t>
            </a:r>
            <a:r>
              <a:rPr lang="en-US" altLang="zh-TW" sz="2800" dirty="0"/>
              <a:t> for a given amplifier</a:t>
            </a:r>
            <a:r>
              <a:rPr lang="en-US" altLang="zh-TW" sz="2800" dirty="0" smtClean="0"/>
              <a:t>.</a:t>
            </a:r>
          </a:p>
          <a:p>
            <a:pPr marL="0" indent="0" algn="just">
              <a:buNone/>
              <a:defRPr/>
            </a:pPr>
            <a:endParaRPr lang="en-US" altLang="zh-TW" sz="2800" dirty="0"/>
          </a:p>
          <a:p>
            <a:pPr algn="just">
              <a:defRPr/>
            </a:pPr>
            <a:r>
              <a:rPr lang="en-US" altLang="zh-TW" sz="2800" dirty="0"/>
              <a:t>Its significance is that regardless of the behavior of the transistor, the collector current IC and the collector-emitter voltage </a:t>
            </a:r>
            <a:r>
              <a:rPr lang="en-US" altLang="zh-TW" sz="2800" dirty="0" smtClean="0"/>
              <a:t>V</a:t>
            </a:r>
            <a:r>
              <a:rPr lang="en-US" altLang="zh-TW" sz="2800" baseline="-25000" dirty="0" smtClean="0"/>
              <a:t>CE</a:t>
            </a:r>
            <a:r>
              <a:rPr lang="en-US" altLang="zh-TW" sz="2800" dirty="0" smtClean="0"/>
              <a:t> </a:t>
            </a:r>
            <a:r>
              <a:rPr lang="en-US" altLang="zh-TW" sz="2800" dirty="0"/>
              <a:t>must always lie on the load line, </a:t>
            </a:r>
            <a:r>
              <a:rPr lang="en-US" altLang="zh-TW" sz="2800" dirty="0">
                <a:solidFill>
                  <a:srgbClr val="FF0000"/>
                </a:solidFill>
              </a:rPr>
              <a:t>depends ONLY on the V</a:t>
            </a:r>
            <a:r>
              <a:rPr lang="en-US" altLang="zh-TW" sz="2800" baseline="-25000" dirty="0">
                <a:solidFill>
                  <a:srgbClr val="FF0000"/>
                </a:solidFill>
              </a:rPr>
              <a:t>CC</a:t>
            </a:r>
            <a:r>
              <a:rPr lang="en-US" altLang="zh-TW" sz="2800" dirty="0">
                <a:solidFill>
                  <a:srgbClr val="FF0000"/>
                </a:solidFill>
              </a:rPr>
              <a:t>, R</a:t>
            </a:r>
            <a:r>
              <a:rPr lang="en-US" altLang="zh-TW" sz="2800" baseline="-25000" dirty="0">
                <a:solidFill>
                  <a:srgbClr val="FF0000"/>
                </a:solidFill>
              </a:rPr>
              <a:t>C</a:t>
            </a:r>
            <a:r>
              <a:rPr lang="en-US" altLang="zh-TW" sz="2800" dirty="0">
                <a:solidFill>
                  <a:srgbClr val="FF0000"/>
                </a:solidFill>
              </a:rPr>
              <a:t> and R</a:t>
            </a:r>
            <a:r>
              <a:rPr lang="en-US" altLang="zh-TW" sz="2800" baseline="-25000" dirty="0">
                <a:solidFill>
                  <a:srgbClr val="FF0000"/>
                </a:solidFill>
              </a:rPr>
              <a:t>E</a:t>
            </a:r>
            <a:r>
              <a:rPr lang="en-US" altLang="zh-TW" sz="2800" dirty="0">
                <a:solidFill>
                  <a:srgbClr val="FF0000"/>
                </a:solidFill>
              </a:rPr>
              <a:t> </a:t>
            </a:r>
            <a:r>
              <a:rPr lang="en-US" altLang="zh-TW" sz="2800" dirty="0" smtClean="0">
                <a:solidFill>
                  <a:srgbClr val="FF0000"/>
                </a:solidFill>
              </a:rPr>
              <a:t>.</a:t>
            </a:r>
            <a:endParaRPr lang="en-US" altLang="zh-TW" sz="2800" dirty="0">
              <a:solidFill>
                <a:srgbClr val="FF0000"/>
              </a:solidFill>
            </a:endParaRPr>
          </a:p>
          <a:p>
            <a:pPr algn="just">
              <a:defRPr/>
            </a:pPr>
            <a:endParaRPr lang="en-IN" dirty="0"/>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5E1C5E7-2A00-4740-A8B8-75964E1D7B1F}" type="slidenum">
              <a:rPr lang="en-US" altLang="en-US">
                <a:solidFill>
                  <a:srgbClr val="898989"/>
                </a:solidFill>
              </a:rPr>
              <a:pPr eaLnBrk="1" hangingPunct="1"/>
              <a:t>15</a:t>
            </a:fld>
            <a:endParaRPr lang="en-US" altLang="en-US">
              <a:solidFill>
                <a:srgbClr val="898989"/>
              </a:solidFill>
            </a:endParaRPr>
          </a:p>
        </p:txBody>
      </p:sp>
    </p:spTree>
    <p:extLst>
      <p:ext uri="{BB962C8B-B14F-4D97-AF65-F5344CB8AC3E}">
        <p14:creationId xmlns:p14="http://schemas.microsoft.com/office/powerpoint/2010/main" val="17857165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IN" altLang="en-US" smtClean="0"/>
              <a:t>Procedure to Draw DC Load Line</a:t>
            </a:r>
          </a:p>
        </p:txBody>
      </p:sp>
      <p:sp>
        <p:nvSpPr>
          <p:cNvPr id="3" name="Content Placeholder 2"/>
          <p:cNvSpPr>
            <a:spLocks noGrp="1"/>
          </p:cNvSpPr>
          <p:nvPr>
            <p:ph idx="1"/>
          </p:nvPr>
        </p:nvSpPr>
        <p:spPr>
          <a:xfrm>
            <a:off x="677334" y="1445741"/>
            <a:ext cx="8596668" cy="5313405"/>
          </a:xfrm>
        </p:spPr>
        <p:txBody>
          <a:bodyPr rtlCol="0">
            <a:noAutofit/>
          </a:bodyPr>
          <a:lstStyle/>
          <a:p>
            <a:pPr>
              <a:defRPr/>
            </a:pPr>
            <a:r>
              <a:rPr lang="en-IN" sz="2800" dirty="0" smtClean="0"/>
              <a:t>To </a:t>
            </a:r>
            <a:r>
              <a:rPr lang="en-IN" sz="2800" dirty="0"/>
              <a:t>draw DC load line of a transistor we need to </a:t>
            </a:r>
            <a:r>
              <a:rPr lang="en-IN" sz="2800" dirty="0">
                <a:solidFill>
                  <a:srgbClr val="FF0000"/>
                </a:solidFill>
              </a:rPr>
              <a:t>find </a:t>
            </a:r>
            <a:r>
              <a:rPr lang="en-IN" sz="2800" dirty="0" smtClean="0">
                <a:solidFill>
                  <a:srgbClr val="FF0000"/>
                </a:solidFill>
              </a:rPr>
              <a:t>the saturation </a:t>
            </a:r>
            <a:r>
              <a:rPr lang="en-IN" sz="2800" dirty="0">
                <a:solidFill>
                  <a:srgbClr val="FF0000"/>
                </a:solidFill>
              </a:rPr>
              <a:t>current and </a:t>
            </a:r>
            <a:r>
              <a:rPr lang="en-IN" sz="2800" dirty="0" smtClean="0">
                <a:solidFill>
                  <a:srgbClr val="FF0000"/>
                </a:solidFill>
              </a:rPr>
              <a:t>cut-off voltage.</a:t>
            </a:r>
          </a:p>
          <a:p>
            <a:pPr>
              <a:defRPr/>
            </a:pPr>
            <a:r>
              <a:rPr lang="en-IN" sz="2800" dirty="0" smtClean="0">
                <a:solidFill>
                  <a:srgbClr val="FF0000"/>
                </a:solidFill>
              </a:rPr>
              <a:t>The </a:t>
            </a:r>
            <a:r>
              <a:rPr lang="en-IN" sz="2800" dirty="0">
                <a:solidFill>
                  <a:srgbClr val="FF0000"/>
                </a:solidFill>
              </a:rPr>
              <a:t>saturation current </a:t>
            </a:r>
            <a:r>
              <a:rPr lang="en-IN" sz="2800" dirty="0" smtClean="0"/>
              <a:t>is the </a:t>
            </a:r>
            <a:r>
              <a:rPr lang="en-IN" sz="2800" dirty="0"/>
              <a:t>maximum possible current through the transistor </a:t>
            </a:r>
            <a:r>
              <a:rPr lang="en-IN" sz="2800" dirty="0" smtClean="0"/>
              <a:t>and occurs </a:t>
            </a:r>
            <a:r>
              <a:rPr lang="en-IN" sz="2800" dirty="0"/>
              <a:t>at the point where the voltage across the collector </a:t>
            </a:r>
            <a:r>
              <a:rPr lang="en-IN" sz="2800" dirty="0" smtClean="0"/>
              <a:t>is minimum.</a:t>
            </a:r>
          </a:p>
          <a:p>
            <a:pPr>
              <a:defRPr/>
            </a:pPr>
            <a:r>
              <a:rPr lang="en-IN" sz="2800" dirty="0" smtClean="0"/>
              <a:t> </a:t>
            </a:r>
            <a:r>
              <a:rPr lang="en-IN" sz="2800" dirty="0">
                <a:solidFill>
                  <a:srgbClr val="FF0000"/>
                </a:solidFill>
              </a:rPr>
              <a:t>The </a:t>
            </a:r>
            <a:r>
              <a:rPr lang="en-IN" sz="2800" dirty="0" smtClean="0">
                <a:solidFill>
                  <a:srgbClr val="FF0000"/>
                </a:solidFill>
              </a:rPr>
              <a:t>cut-off </a:t>
            </a:r>
            <a:r>
              <a:rPr lang="en-IN" sz="2800" dirty="0">
                <a:solidFill>
                  <a:srgbClr val="FF0000"/>
                </a:solidFill>
              </a:rPr>
              <a:t>voltage </a:t>
            </a:r>
            <a:r>
              <a:rPr lang="en-IN" sz="2800" dirty="0"/>
              <a:t>is the maximum possible </a:t>
            </a:r>
            <a:r>
              <a:rPr lang="en-IN" sz="2800" dirty="0" smtClean="0"/>
              <a:t>voltage across </a:t>
            </a:r>
            <a:r>
              <a:rPr lang="en-IN" sz="2800" dirty="0"/>
              <a:t>the collector and occurs at zero collector current. </a:t>
            </a:r>
            <a:r>
              <a:rPr lang="en-IN" sz="2800" dirty="0" smtClean="0"/>
              <a:t>A common </a:t>
            </a:r>
            <a:r>
              <a:rPr lang="en-IN" sz="2800" dirty="0"/>
              <a:t>emitter amplifier is shown the figure below</a:t>
            </a:r>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6D324DD-8EBF-40C8-A618-EA5104E56230}" type="slidenum">
              <a:rPr lang="en-US" altLang="en-US">
                <a:solidFill>
                  <a:srgbClr val="898989"/>
                </a:solidFill>
              </a:rPr>
              <a:pPr eaLnBrk="1" hangingPunct="1"/>
              <a:t>16</a:t>
            </a:fld>
            <a:endParaRPr lang="en-US" altLang="en-US">
              <a:solidFill>
                <a:srgbClr val="898989"/>
              </a:solidFill>
            </a:endParaRPr>
          </a:p>
        </p:txBody>
      </p:sp>
    </p:spTree>
    <p:extLst>
      <p:ext uri="{BB962C8B-B14F-4D97-AF65-F5344CB8AC3E}">
        <p14:creationId xmlns:p14="http://schemas.microsoft.com/office/powerpoint/2010/main" val="123224492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3"/>
          <p:cNvPicPr>
            <a:picLocks noChangeAspect="1" noChangeArrowheads="1"/>
          </p:cNvPicPr>
          <p:nvPr/>
        </p:nvPicPr>
        <p:blipFill>
          <a:blip r:embed="rId2">
            <a:extLst>
              <a:ext uri="{28A0092B-C50C-407E-A947-70E740481C1C}">
                <a14:useLocalDpi xmlns:a14="http://schemas.microsoft.com/office/drawing/2010/main" val="0"/>
              </a:ext>
            </a:extLst>
          </a:blip>
          <a:srcRect t="3902" r="1833" b="4390"/>
          <a:stretch>
            <a:fillRect/>
          </a:stretch>
        </p:blipFill>
        <p:spPr bwMode="auto">
          <a:xfrm>
            <a:off x="1524000" y="2057400"/>
            <a:ext cx="51054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699" name="Picture 6" descr="edc3.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24550" y="1752601"/>
            <a:ext cx="4591050" cy="467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TextBox 8"/>
          <p:cNvSpPr txBox="1">
            <a:spLocks noChangeArrowheads="1"/>
          </p:cNvSpPr>
          <p:nvPr/>
        </p:nvSpPr>
        <p:spPr bwMode="auto">
          <a:xfrm>
            <a:off x="778932" y="218411"/>
            <a:ext cx="81534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IN" altLang="en-US" sz="2800" dirty="0">
                <a:latin typeface="Calibri" panose="020F0502020204030204" pitchFamily="34" charset="0"/>
              </a:rPr>
              <a:t>The biasing and blocking capacitors acts as open circuit for DC signals hence can be represented by open circuit terminals . The DC equivalent of amplifier is shown in the figure.</a:t>
            </a: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01909B0-B9EA-4EE3-B736-5181F8EDA2F8}" type="slidenum">
              <a:rPr lang="en-US" altLang="en-US">
                <a:solidFill>
                  <a:srgbClr val="898989"/>
                </a:solidFill>
              </a:rPr>
              <a:pPr eaLnBrk="1" hangingPunct="1"/>
              <a:t>17</a:t>
            </a:fld>
            <a:endParaRPr lang="en-US" altLang="en-US">
              <a:solidFill>
                <a:srgbClr val="898989"/>
              </a:solidFill>
            </a:endParaRPr>
          </a:p>
        </p:txBody>
      </p:sp>
    </p:spTree>
    <p:extLst>
      <p:ext uri="{BB962C8B-B14F-4D97-AF65-F5344CB8AC3E}">
        <p14:creationId xmlns:p14="http://schemas.microsoft.com/office/powerpoint/2010/main" val="101122525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654908" y="204124"/>
            <a:ext cx="9469395" cy="6019800"/>
          </a:xfrm>
        </p:spPr>
        <p:txBody>
          <a:bodyPr rtlCol="0">
            <a:noAutofit/>
          </a:bodyPr>
          <a:lstStyle/>
          <a:p>
            <a:pPr>
              <a:buNone/>
              <a:defRPr/>
            </a:pPr>
            <a:r>
              <a:rPr lang="en-IN" sz="2800" dirty="0" smtClean="0"/>
              <a:t>    From </a:t>
            </a:r>
            <a:r>
              <a:rPr lang="en-IN" sz="2800" dirty="0"/>
              <a:t>the DC equivalent circuit by applying </a:t>
            </a:r>
            <a:r>
              <a:rPr lang="en-IN" sz="2800" dirty="0" smtClean="0"/>
              <a:t>KVL in </a:t>
            </a:r>
            <a:r>
              <a:rPr lang="en-IN" sz="2800" dirty="0"/>
              <a:t>collector loop </a:t>
            </a:r>
            <a:r>
              <a:rPr lang="en-IN" sz="2800" dirty="0" smtClean="0"/>
              <a:t>we get:</a:t>
            </a:r>
            <a:endParaRPr lang="en-IN" sz="2800" dirty="0"/>
          </a:p>
          <a:p>
            <a:pPr>
              <a:buNone/>
              <a:defRPr/>
            </a:pPr>
            <a:r>
              <a:rPr lang="en-IN" sz="2800" dirty="0" smtClean="0"/>
              <a:t>                              </a:t>
            </a:r>
            <a:r>
              <a:rPr lang="en-IN" sz="2800" dirty="0" err="1" smtClean="0"/>
              <a:t>V</a:t>
            </a:r>
            <a:r>
              <a:rPr lang="en-IN" sz="2800" baseline="-25000" dirty="0" err="1" smtClean="0"/>
              <a:t>ce</a:t>
            </a:r>
            <a:r>
              <a:rPr lang="en-IN" sz="2800" dirty="0" smtClean="0"/>
              <a:t> =  </a:t>
            </a:r>
            <a:r>
              <a:rPr lang="en-IN" sz="2800" dirty="0" err="1" smtClean="0"/>
              <a:t>V</a:t>
            </a:r>
            <a:r>
              <a:rPr lang="en-IN" sz="2800" baseline="-25000" dirty="0" err="1" smtClean="0"/>
              <a:t>cc</a:t>
            </a:r>
            <a:r>
              <a:rPr lang="en-IN" sz="2800" dirty="0" smtClean="0"/>
              <a:t> </a:t>
            </a:r>
            <a:r>
              <a:rPr lang="en-IN" sz="2800" dirty="0"/>
              <a:t>– </a:t>
            </a:r>
            <a:r>
              <a:rPr lang="en-IN" sz="2800" dirty="0" err="1" smtClean="0"/>
              <a:t>R</a:t>
            </a:r>
            <a:r>
              <a:rPr lang="en-IN" sz="2800" baseline="-25000" dirty="0" err="1" smtClean="0"/>
              <a:t>c</a:t>
            </a:r>
            <a:r>
              <a:rPr lang="en-IN" sz="2800" dirty="0" err="1" smtClean="0"/>
              <a:t>I</a:t>
            </a:r>
            <a:r>
              <a:rPr lang="en-IN" sz="2800" baseline="-25000" dirty="0" err="1" smtClean="0"/>
              <a:t>c</a:t>
            </a:r>
            <a:r>
              <a:rPr lang="en-IN" sz="2800" baseline="-25000" dirty="0" smtClean="0"/>
              <a:t>       </a:t>
            </a:r>
            <a:r>
              <a:rPr lang="en-IN" sz="2800" dirty="0" smtClean="0"/>
              <a:t>…………    (1)</a:t>
            </a:r>
            <a:endParaRPr lang="en-IN" sz="2800" baseline="-25000" dirty="0" smtClean="0"/>
          </a:p>
          <a:p>
            <a:pPr>
              <a:buNone/>
              <a:defRPr/>
            </a:pPr>
            <a:r>
              <a:rPr lang="en-IN" sz="2800" dirty="0" smtClean="0"/>
              <a:t>    The </a:t>
            </a:r>
            <a:r>
              <a:rPr lang="en-IN" sz="2800" dirty="0"/>
              <a:t>two points on the line are found as </a:t>
            </a:r>
            <a:r>
              <a:rPr lang="en-IN" sz="2800" dirty="0" smtClean="0"/>
              <a:t>follows:</a:t>
            </a:r>
            <a:endParaRPr lang="en-IN" sz="2800" dirty="0"/>
          </a:p>
          <a:p>
            <a:pPr>
              <a:buFont typeface="Courier New" pitchFamily="49" charset="0"/>
              <a:buChar char="o"/>
              <a:defRPr/>
            </a:pPr>
            <a:r>
              <a:rPr lang="en-IN" sz="2800" dirty="0" err="1">
                <a:solidFill>
                  <a:srgbClr val="FF0000"/>
                </a:solidFill>
              </a:rPr>
              <a:t>Cutoff</a:t>
            </a:r>
            <a:r>
              <a:rPr lang="en-IN" sz="2800" dirty="0">
                <a:solidFill>
                  <a:srgbClr val="FF0000"/>
                </a:solidFill>
              </a:rPr>
              <a:t> point </a:t>
            </a:r>
            <a:r>
              <a:rPr lang="en-IN" sz="2800" dirty="0"/>
              <a:t>: To find the </a:t>
            </a:r>
            <a:r>
              <a:rPr lang="en-IN" sz="2800" dirty="0" err="1"/>
              <a:t>cutoff</a:t>
            </a:r>
            <a:r>
              <a:rPr lang="en-IN" sz="2800" dirty="0"/>
              <a:t> point equate the </a:t>
            </a:r>
            <a:r>
              <a:rPr lang="en-IN" sz="2800" dirty="0" smtClean="0"/>
              <a:t>collector current </a:t>
            </a:r>
            <a:r>
              <a:rPr lang="en-IN" sz="2800" dirty="0"/>
              <a:t>to </a:t>
            </a:r>
            <a:r>
              <a:rPr lang="en-IN" sz="2800" dirty="0" smtClean="0"/>
              <a:t>zero. In </a:t>
            </a:r>
            <a:r>
              <a:rPr lang="en-IN" sz="2800" dirty="0"/>
              <a:t>equation 1 equating </a:t>
            </a:r>
            <a:r>
              <a:rPr lang="en-IN" sz="2800" dirty="0" err="1" smtClean="0"/>
              <a:t>I</a:t>
            </a:r>
            <a:r>
              <a:rPr lang="en-IN" sz="2800" baseline="-25000" dirty="0" err="1" smtClean="0"/>
              <a:t>c</a:t>
            </a:r>
            <a:r>
              <a:rPr lang="en-IN" sz="2800" dirty="0" smtClean="0"/>
              <a:t> </a:t>
            </a:r>
            <a:r>
              <a:rPr lang="en-IN" sz="2800" dirty="0"/>
              <a:t>to zero the </a:t>
            </a:r>
            <a:r>
              <a:rPr lang="en-IN" sz="2800" dirty="0" err="1" smtClean="0"/>
              <a:t>cutoff</a:t>
            </a:r>
            <a:r>
              <a:rPr lang="en-IN" sz="2800" dirty="0" smtClean="0"/>
              <a:t> point </a:t>
            </a:r>
            <a:r>
              <a:rPr lang="en-IN" sz="2800" dirty="0"/>
              <a:t>is </a:t>
            </a:r>
            <a:r>
              <a:rPr lang="en-IN" sz="2800" dirty="0" smtClean="0"/>
              <a:t>(</a:t>
            </a:r>
            <a:r>
              <a:rPr lang="en-IN" sz="2800" dirty="0" err="1" smtClean="0"/>
              <a:t>V</a:t>
            </a:r>
            <a:r>
              <a:rPr lang="en-IN" sz="2800" baseline="-25000" dirty="0" err="1" smtClean="0"/>
              <a:t>cc</a:t>
            </a:r>
            <a:r>
              <a:rPr lang="en-IN" sz="2800" dirty="0" smtClean="0"/>
              <a:t> , 0</a:t>
            </a:r>
            <a:r>
              <a:rPr lang="en-IN" sz="2800" dirty="0"/>
              <a:t>).</a:t>
            </a:r>
          </a:p>
          <a:p>
            <a:pPr>
              <a:buFont typeface="Courier New" pitchFamily="49" charset="0"/>
              <a:buChar char="o"/>
              <a:defRPr/>
            </a:pPr>
            <a:r>
              <a:rPr lang="en-IN" sz="2800" dirty="0">
                <a:solidFill>
                  <a:srgbClr val="FF0000"/>
                </a:solidFill>
              </a:rPr>
              <a:t>Saturation point </a:t>
            </a:r>
            <a:r>
              <a:rPr lang="en-IN" sz="2800" dirty="0"/>
              <a:t>: To find the saturation point equate </a:t>
            </a:r>
            <a:r>
              <a:rPr lang="en-IN" sz="2800" dirty="0" smtClean="0"/>
              <a:t>the collector </a:t>
            </a:r>
            <a:r>
              <a:rPr lang="en-IN" sz="2800" dirty="0"/>
              <a:t>voltage </a:t>
            </a:r>
            <a:r>
              <a:rPr lang="en-IN" sz="2800" dirty="0" smtClean="0"/>
              <a:t>t zero. </a:t>
            </a:r>
            <a:r>
              <a:rPr lang="en-IN" sz="2800" dirty="0"/>
              <a:t>In equation 1 equating </a:t>
            </a:r>
            <a:r>
              <a:rPr lang="en-IN" sz="2800" dirty="0" smtClean="0"/>
              <a:t>V</a:t>
            </a:r>
            <a:r>
              <a:rPr lang="en-IN" sz="2800" baseline="-25000" dirty="0" smtClean="0"/>
              <a:t>CE</a:t>
            </a:r>
            <a:r>
              <a:rPr lang="en-IN" sz="2800" dirty="0" smtClean="0"/>
              <a:t> </a:t>
            </a:r>
            <a:r>
              <a:rPr lang="en-IN" sz="2800" dirty="0"/>
              <a:t>to </a:t>
            </a:r>
            <a:r>
              <a:rPr lang="en-IN" sz="2800" dirty="0" smtClean="0"/>
              <a:t>zero </a:t>
            </a:r>
            <a:r>
              <a:rPr lang="en-IN" sz="2800" dirty="0" err="1" smtClean="0"/>
              <a:t>cutoff</a:t>
            </a:r>
            <a:r>
              <a:rPr lang="en-IN" sz="2800" dirty="0" smtClean="0"/>
              <a:t> </a:t>
            </a:r>
            <a:r>
              <a:rPr lang="en-IN" sz="2800" dirty="0"/>
              <a:t>point is (0, </a:t>
            </a:r>
            <a:r>
              <a:rPr lang="en-IN" sz="2800" dirty="0" err="1" smtClean="0"/>
              <a:t>V</a:t>
            </a:r>
            <a:r>
              <a:rPr lang="en-IN" sz="2800" baseline="-25000" dirty="0" err="1" smtClean="0"/>
              <a:t>cc</a:t>
            </a:r>
            <a:r>
              <a:rPr lang="en-IN" sz="2800" baseline="-25000" dirty="0" smtClean="0"/>
              <a:t> </a:t>
            </a:r>
            <a:r>
              <a:rPr lang="en-IN" sz="2800" dirty="0" smtClean="0"/>
              <a:t>/</a:t>
            </a:r>
            <a:r>
              <a:rPr lang="en-IN" sz="2800" dirty="0" err="1" smtClean="0"/>
              <a:t>R</a:t>
            </a:r>
            <a:r>
              <a:rPr lang="en-IN" sz="2800" baseline="-25000" dirty="0" err="1" smtClean="0"/>
              <a:t>c</a:t>
            </a:r>
            <a:r>
              <a:rPr lang="en-IN" sz="2800" dirty="0" smtClean="0"/>
              <a:t> + R</a:t>
            </a:r>
            <a:r>
              <a:rPr lang="en-IN" sz="2800" baseline="-25000" dirty="0" smtClean="0"/>
              <a:t>E</a:t>
            </a:r>
            <a:r>
              <a:rPr lang="en-IN" sz="2800" dirty="0" smtClean="0"/>
              <a:t>).  </a:t>
            </a:r>
          </a:p>
          <a:p>
            <a:pPr>
              <a:buNone/>
              <a:defRPr/>
            </a:pPr>
            <a:r>
              <a:rPr lang="en-IN" sz="2800" dirty="0"/>
              <a:t> </a:t>
            </a:r>
            <a:r>
              <a:rPr lang="en-IN" sz="2800" dirty="0" smtClean="0"/>
              <a:t>   (</a:t>
            </a:r>
            <a:r>
              <a:rPr lang="en-IN" sz="2800" dirty="0" err="1" smtClean="0"/>
              <a:t>V</a:t>
            </a:r>
            <a:r>
              <a:rPr lang="en-IN" sz="2800" baseline="-25000" dirty="0" err="1" smtClean="0"/>
              <a:t>cc</a:t>
            </a:r>
            <a:r>
              <a:rPr lang="en-IN" sz="2800" dirty="0" smtClean="0"/>
              <a:t> , 0) is </a:t>
            </a:r>
            <a:r>
              <a:rPr lang="en-IN" sz="2800" dirty="0"/>
              <a:t>cut off point where transistor enters in to cut </a:t>
            </a:r>
            <a:r>
              <a:rPr lang="en-IN" sz="2800" dirty="0" smtClean="0"/>
              <a:t>off region </a:t>
            </a:r>
            <a:r>
              <a:rPr lang="en-IN" sz="2800" dirty="0"/>
              <a:t>from active region and </a:t>
            </a:r>
            <a:r>
              <a:rPr lang="en-IN" sz="2800" dirty="0" smtClean="0"/>
              <a:t>(0, </a:t>
            </a:r>
            <a:r>
              <a:rPr lang="en-IN" sz="2800" dirty="0" err="1" smtClean="0"/>
              <a:t>V</a:t>
            </a:r>
            <a:r>
              <a:rPr lang="en-IN" sz="2800" baseline="-25000" dirty="0" err="1" smtClean="0"/>
              <a:t>cc</a:t>
            </a:r>
            <a:r>
              <a:rPr lang="en-IN" sz="2800" baseline="-25000" dirty="0" smtClean="0"/>
              <a:t> </a:t>
            </a:r>
            <a:r>
              <a:rPr lang="en-IN" sz="2800" dirty="0" smtClean="0"/>
              <a:t>/ </a:t>
            </a:r>
            <a:r>
              <a:rPr lang="en-IN" sz="2800" dirty="0" err="1" smtClean="0"/>
              <a:t>R</a:t>
            </a:r>
            <a:r>
              <a:rPr lang="en-IN" sz="2800" baseline="-25000" dirty="0" err="1" smtClean="0"/>
              <a:t>c</a:t>
            </a:r>
            <a:r>
              <a:rPr lang="en-IN" sz="2800" dirty="0" smtClean="0"/>
              <a:t> + R</a:t>
            </a:r>
            <a:r>
              <a:rPr lang="en-IN" sz="2800" baseline="-25000" dirty="0" smtClean="0"/>
              <a:t>E</a:t>
            </a:r>
            <a:r>
              <a:rPr lang="en-IN" sz="2800" dirty="0" smtClean="0"/>
              <a:t>) is </a:t>
            </a:r>
            <a:r>
              <a:rPr lang="en-IN" sz="2800" dirty="0"/>
              <a:t>saturation </a:t>
            </a:r>
            <a:r>
              <a:rPr lang="en-IN" sz="2800" dirty="0" smtClean="0"/>
              <a:t>point where </a:t>
            </a:r>
            <a:r>
              <a:rPr lang="en-IN" sz="2800" dirty="0"/>
              <a:t>the transistor enters saturation region.</a:t>
            </a:r>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4CA808F-C5D4-4C6F-8F3A-B6B55274E1F6}" type="slidenum">
              <a:rPr lang="en-US" altLang="en-US">
                <a:solidFill>
                  <a:srgbClr val="898989"/>
                </a:solidFill>
              </a:rPr>
              <a:pPr eaLnBrk="1" hangingPunct="1"/>
              <a:t>18</a:t>
            </a:fld>
            <a:endParaRPr lang="en-US" altLang="en-US">
              <a:solidFill>
                <a:srgbClr val="898989"/>
              </a:solidFill>
            </a:endParaRPr>
          </a:p>
        </p:txBody>
      </p:sp>
    </p:spTree>
    <p:extLst>
      <p:ext uri="{BB962C8B-B14F-4D97-AF65-F5344CB8AC3E}">
        <p14:creationId xmlns:p14="http://schemas.microsoft.com/office/powerpoint/2010/main" val="1850402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4"/>
          <p:cNvPicPr>
            <a:picLocks noChangeAspect="1" noChangeArrowheads="1"/>
          </p:cNvPicPr>
          <p:nvPr/>
        </p:nvPicPr>
        <p:blipFill>
          <a:blip r:embed="rId2">
            <a:extLst>
              <a:ext uri="{28A0092B-C50C-407E-A947-70E740481C1C}">
                <a14:useLocalDpi xmlns:a14="http://schemas.microsoft.com/office/drawing/2010/main" val="0"/>
              </a:ext>
            </a:extLst>
          </a:blip>
          <a:srcRect l="5618" t="11794"/>
          <a:stretch>
            <a:fillRect/>
          </a:stretch>
        </p:blipFill>
        <p:spPr bwMode="auto">
          <a:xfrm>
            <a:off x="2101850" y="609600"/>
            <a:ext cx="8032750" cy="572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89D490-34C1-415B-84BB-9A403C30ABE3}" type="slidenum">
              <a:rPr lang="en-US" altLang="en-US">
                <a:solidFill>
                  <a:srgbClr val="898989"/>
                </a:solidFill>
              </a:rPr>
              <a:pPr eaLnBrk="1" hangingPunct="1"/>
              <a:t>19</a:t>
            </a:fld>
            <a:endParaRPr lang="en-US" altLang="en-US">
              <a:solidFill>
                <a:srgbClr val="898989"/>
              </a:solidFill>
            </a:endParaRPr>
          </a:p>
        </p:txBody>
      </p:sp>
    </p:spTree>
    <p:extLst>
      <p:ext uri="{BB962C8B-B14F-4D97-AF65-F5344CB8AC3E}">
        <p14:creationId xmlns:p14="http://schemas.microsoft.com/office/powerpoint/2010/main" val="267059295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IN" altLang="en-US" dirty="0" smtClean="0"/>
              <a:t>     AC Load Line Of A Transistor</a:t>
            </a:r>
          </a:p>
        </p:txBody>
      </p:sp>
      <p:sp>
        <p:nvSpPr>
          <p:cNvPr id="8" name="Content Placeholder 7"/>
          <p:cNvSpPr>
            <a:spLocks noGrp="1"/>
          </p:cNvSpPr>
          <p:nvPr>
            <p:ph idx="1"/>
          </p:nvPr>
        </p:nvSpPr>
        <p:spPr>
          <a:xfrm>
            <a:off x="739602" y="1318881"/>
            <a:ext cx="8534400" cy="5334000"/>
          </a:xfrm>
        </p:spPr>
        <p:txBody>
          <a:bodyPr rtlCol="0">
            <a:normAutofit fontScale="92500" lnSpcReduction="20000"/>
          </a:bodyPr>
          <a:lstStyle/>
          <a:p>
            <a:pPr>
              <a:defRPr/>
            </a:pPr>
            <a:r>
              <a:rPr lang="en-IN" sz="2800" dirty="0"/>
              <a:t>The AC load line is a straight line with a slope equal to the AC impedance facing the nonlinear device, which is in general different from the DC resistance. </a:t>
            </a:r>
          </a:p>
          <a:p>
            <a:pPr>
              <a:defRPr/>
            </a:pPr>
            <a:r>
              <a:rPr lang="en-IN" sz="2800" dirty="0"/>
              <a:t>The ratio of AC voltage to current in the device is defined by this line. </a:t>
            </a:r>
            <a:r>
              <a:rPr lang="en-IN" sz="2800" dirty="0">
                <a:solidFill>
                  <a:srgbClr val="FF0000"/>
                </a:solidFill>
              </a:rPr>
              <a:t>Because the impedance of the reactive components will vary with frequency, the slope of the AC load line depends on the frequency of the applied signal. </a:t>
            </a:r>
          </a:p>
          <a:p>
            <a:pPr>
              <a:defRPr/>
            </a:pPr>
            <a:r>
              <a:rPr lang="en-US" altLang="zh-TW" sz="2800" dirty="0"/>
              <a:t>The ac load line is used to tell the maximum possible output voltage swing for a given common-emitter amplifier. </a:t>
            </a:r>
          </a:p>
          <a:p>
            <a:pPr>
              <a:defRPr/>
            </a:pPr>
            <a:r>
              <a:rPr lang="en-US" altLang="zh-TW" sz="2800" dirty="0">
                <a:solidFill>
                  <a:srgbClr val="FF0000"/>
                </a:solidFill>
              </a:rPr>
              <a:t>In other words, the ac load line will tell the maximum possible peak-to-peak output voltage (</a:t>
            </a:r>
            <a:r>
              <a:rPr lang="en-US" altLang="zh-TW" sz="2800" dirty="0" err="1">
                <a:solidFill>
                  <a:srgbClr val="FF0000"/>
                </a:solidFill>
              </a:rPr>
              <a:t>Vpp</a:t>
            </a:r>
            <a:r>
              <a:rPr lang="en-US" altLang="zh-TW" sz="2800" dirty="0">
                <a:solidFill>
                  <a:srgbClr val="FF0000"/>
                </a:solidFill>
              </a:rPr>
              <a:t> ) from a given amplifier. </a:t>
            </a:r>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99AF641-5F22-4E24-941F-64985A4EBFA8}" type="slidenum">
              <a:rPr lang="en-US" altLang="en-US">
                <a:solidFill>
                  <a:srgbClr val="898989"/>
                </a:solidFill>
              </a:rPr>
              <a:pPr eaLnBrk="1" hangingPunct="1"/>
              <a:t>20</a:t>
            </a:fld>
            <a:endParaRPr lang="en-US" altLang="en-US">
              <a:solidFill>
                <a:srgbClr val="898989"/>
              </a:solidFill>
            </a:endParaRPr>
          </a:p>
        </p:txBody>
      </p:sp>
    </p:spTree>
    <p:extLst>
      <p:ext uri="{BB962C8B-B14F-4D97-AF65-F5344CB8AC3E}">
        <p14:creationId xmlns:p14="http://schemas.microsoft.com/office/powerpoint/2010/main" val="200050285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6" name="Title 1"/>
          <p:cNvSpPr>
            <a:spLocks noGrp="1"/>
          </p:cNvSpPr>
          <p:nvPr>
            <p:ph type="title"/>
          </p:nvPr>
        </p:nvSpPr>
        <p:spPr/>
        <p:txBody>
          <a:bodyPr/>
          <a:lstStyle/>
          <a:p>
            <a:pPr eaLnBrk="1" hangingPunct="1"/>
            <a:r>
              <a:rPr lang="en-IN" altLang="en-US" smtClean="0"/>
              <a:t>Ac Load Line Of A Transistor</a:t>
            </a:r>
          </a:p>
        </p:txBody>
      </p:sp>
      <p:sp>
        <p:nvSpPr>
          <p:cNvPr id="8" name="Slide Number Placeholder 7"/>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C7B9E12-1947-4BE6-B37A-F488AF301424}" type="slidenum">
              <a:rPr lang="en-US" altLang="en-US">
                <a:solidFill>
                  <a:srgbClr val="898989"/>
                </a:solidFill>
              </a:rPr>
              <a:pPr eaLnBrk="1" hangingPunct="1"/>
              <a:t>21</a:t>
            </a:fld>
            <a:endParaRPr lang="en-US" altLang="en-US">
              <a:solidFill>
                <a:srgbClr val="898989"/>
              </a:solidFill>
            </a:endParaRPr>
          </a:p>
        </p:txBody>
      </p:sp>
      <p:sp>
        <p:nvSpPr>
          <p:cNvPr id="5128" name="Rectangle 3"/>
          <p:cNvSpPr txBox="1">
            <a:spLocks noChangeArrowheads="1"/>
          </p:cNvSpPr>
          <p:nvPr/>
        </p:nvSpPr>
        <p:spPr bwMode="auto">
          <a:xfrm>
            <a:off x="5715000" y="1447800"/>
            <a:ext cx="41910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Font typeface="Arial" panose="020B0604020202020204" pitchFamily="34" charset="0"/>
              <a:buChar char="•"/>
            </a:pPr>
            <a:r>
              <a:rPr lang="en-US" altLang="zh-TW" sz="2400" dirty="0">
                <a:latin typeface="Calibri" panose="020F0502020204030204" pitchFamily="34" charset="0"/>
              </a:rPr>
              <a:t>The ac load line of a given amplifier will </a:t>
            </a:r>
            <a:r>
              <a:rPr lang="en-US" altLang="zh-TW" sz="2400" b="1" dirty="0">
                <a:solidFill>
                  <a:srgbClr val="FF0000"/>
                </a:solidFill>
                <a:latin typeface="Calibri" panose="020F0502020204030204" pitchFamily="34" charset="0"/>
              </a:rPr>
              <a:t>not follow </a:t>
            </a:r>
            <a:r>
              <a:rPr lang="en-US" altLang="zh-TW" sz="2400" dirty="0">
                <a:latin typeface="Calibri" panose="020F0502020204030204" pitchFamily="34" charset="0"/>
              </a:rPr>
              <a:t>the plot of the dc load line.</a:t>
            </a:r>
          </a:p>
          <a:p>
            <a:pPr eaLnBrk="1" hangingPunct="1">
              <a:spcBef>
                <a:spcPct val="20000"/>
              </a:spcBef>
              <a:buFont typeface="Arial" panose="020B0604020202020204" pitchFamily="34" charset="0"/>
              <a:buChar char="•"/>
            </a:pPr>
            <a:r>
              <a:rPr lang="en-US" altLang="zh-TW" sz="2400" dirty="0">
                <a:solidFill>
                  <a:srgbClr val="FF0000"/>
                </a:solidFill>
                <a:latin typeface="Calibri" panose="020F0502020204030204" pitchFamily="34" charset="0"/>
              </a:rPr>
              <a:t>This is due to the dc load of an amplifier is different from the ac load.  </a:t>
            </a:r>
          </a:p>
        </p:txBody>
      </p:sp>
      <p:graphicFrame>
        <p:nvGraphicFramePr>
          <p:cNvPr id="5122" name="Object 2"/>
          <p:cNvGraphicFramePr>
            <a:graphicFrameLocks noChangeAspect="1"/>
          </p:cNvGraphicFramePr>
          <p:nvPr/>
        </p:nvGraphicFramePr>
        <p:xfrm>
          <a:off x="1752601" y="1676400"/>
          <a:ext cx="3565525" cy="1784350"/>
        </p:xfrm>
        <a:graphic>
          <a:graphicData uri="http://schemas.openxmlformats.org/presentationml/2006/ole">
            <mc:AlternateContent xmlns:mc="http://schemas.openxmlformats.org/markup-compatibility/2006">
              <mc:Choice xmlns:v="urn:schemas-microsoft-com:vml" Requires="v">
                <p:oleObj spid="_x0000_s5332" r:id="rId3" imgW="3836880" imgH="1919520" progId="">
                  <p:embed/>
                </p:oleObj>
              </mc:Choice>
              <mc:Fallback>
                <p:oleObj r:id="rId3" imgW="3836880" imgH="1919520" progId="">
                  <p:embed/>
                  <p:pic>
                    <p:nvPicPr>
                      <p:cNvPr id="512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1" y="1676400"/>
                        <a:ext cx="3565525" cy="178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3" name="Object 3"/>
          <p:cNvGraphicFramePr>
            <a:graphicFrameLocks noChangeAspect="1"/>
          </p:cNvGraphicFramePr>
          <p:nvPr/>
        </p:nvGraphicFramePr>
        <p:xfrm>
          <a:off x="2133600" y="4103688"/>
          <a:ext cx="3200400" cy="1916112"/>
        </p:xfrm>
        <a:graphic>
          <a:graphicData uri="http://schemas.openxmlformats.org/presentationml/2006/ole">
            <mc:AlternateContent xmlns:mc="http://schemas.openxmlformats.org/markup-compatibility/2006">
              <mc:Choice xmlns:v="urn:schemas-microsoft-com:vml" Requires="v">
                <p:oleObj spid="_x0000_s5333" r:id="rId5" imgW="3836880" imgH="2289600" progId="">
                  <p:embed/>
                </p:oleObj>
              </mc:Choice>
              <mc:Fallback>
                <p:oleObj r:id="rId5" imgW="3836880" imgH="2289600" progId="">
                  <p:embed/>
                  <p:pic>
                    <p:nvPicPr>
                      <p:cNvPr id="512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0" y="4103688"/>
                        <a:ext cx="3200400" cy="1916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4" name="Object 4"/>
          <p:cNvGraphicFramePr>
            <a:graphicFrameLocks noChangeAspect="1"/>
          </p:cNvGraphicFramePr>
          <p:nvPr/>
        </p:nvGraphicFramePr>
        <p:xfrm>
          <a:off x="6219826" y="4035426"/>
          <a:ext cx="3076575" cy="2289175"/>
        </p:xfrm>
        <a:graphic>
          <a:graphicData uri="http://schemas.openxmlformats.org/presentationml/2006/ole">
            <mc:AlternateContent xmlns:mc="http://schemas.openxmlformats.org/markup-compatibility/2006">
              <mc:Choice xmlns:v="urn:schemas-microsoft-com:vml" Requires="v">
                <p:oleObj spid="_x0000_s5334" r:id="rId7" imgW="3076920" imgH="2289600" progId="">
                  <p:embed/>
                </p:oleObj>
              </mc:Choice>
              <mc:Fallback>
                <p:oleObj r:id="rId7" imgW="3076920" imgH="2289600" progId="">
                  <p:embed/>
                  <p:pic>
                    <p:nvPicPr>
                      <p:cNvPr id="5124"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19826" y="4035426"/>
                        <a:ext cx="3076575" cy="228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859880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271849" y="537453"/>
            <a:ext cx="9193427" cy="1143000"/>
          </a:xfrm>
          <a:prstGeom prst="rect">
            <a:avLst/>
          </a:prstGeom>
        </p:spPr>
        <p:txBody>
          <a:bodyPr/>
          <a:lstStyle/>
          <a:p>
            <a:pPr algn="ctr">
              <a:defRPr/>
            </a:pPr>
            <a:r>
              <a:rPr lang="en-US" altLang="zh-TW" sz="3200" dirty="0">
                <a:solidFill>
                  <a:schemeClr val="accent1">
                    <a:lumMod val="75000"/>
                  </a:schemeClr>
                </a:solidFill>
                <a:latin typeface="+mj-lt"/>
                <a:ea typeface="+mj-ea"/>
                <a:cs typeface="+mj-cs"/>
              </a:rPr>
              <a:t>AC Saturation Current and AC Cutoff Voltage</a:t>
            </a:r>
          </a:p>
        </p:txBody>
      </p:sp>
      <p:graphicFrame>
        <p:nvGraphicFramePr>
          <p:cNvPr id="6146" name="Object 2"/>
          <p:cNvGraphicFramePr>
            <a:graphicFrameLocks noChangeAspect="1"/>
          </p:cNvGraphicFramePr>
          <p:nvPr/>
        </p:nvGraphicFramePr>
        <p:xfrm>
          <a:off x="1828800" y="2667000"/>
          <a:ext cx="3200400" cy="2795588"/>
        </p:xfrm>
        <a:graphic>
          <a:graphicData uri="http://schemas.openxmlformats.org/presentationml/2006/ole">
            <mc:AlternateContent xmlns:mc="http://schemas.openxmlformats.org/markup-compatibility/2006">
              <mc:Choice xmlns:v="urn:schemas-microsoft-com:vml" Requires="v">
                <p:oleObj spid="_x0000_s6286" r:id="rId3" imgW="2431800" imgH="2124000" progId="">
                  <p:embed/>
                </p:oleObj>
              </mc:Choice>
              <mc:Fallback>
                <p:oleObj r:id="rId3" imgW="2431800" imgH="2124000" progId="">
                  <p:embed/>
                  <p:pic>
                    <p:nvPicPr>
                      <p:cNvPr id="614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2667000"/>
                        <a:ext cx="3200400" cy="2795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3"/>
          <p:cNvGraphicFramePr>
            <a:graphicFrameLocks noChangeAspect="1"/>
          </p:cNvGraphicFramePr>
          <p:nvPr/>
        </p:nvGraphicFramePr>
        <p:xfrm>
          <a:off x="5334000" y="2414588"/>
          <a:ext cx="5257800" cy="3148012"/>
        </p:xfrm>
        <a:graphic>
          <a:graphicData uri="http://schemas.openxmlformats.org/presentationml/2006/ole">
            <mc:AlternateContent xmlns:mc="http://schemas.openxmlformats.org/markup-compatibility/2006">
              <mc:Choice xmlns:v="urn:schemas-microsoft-com:vml" Requires="v">
                <p:oleObj spid="_x0000_s6287" r:id="rId5" imgW="3836880" imgH="2289600" progId="">
                  <p:embed/>
                </p:oleObj>
              </mc:Choice>
              <mc:Fallback>
                <p:oleObj r:id="rId5" imgW="3836880" imgH="2289600" progId="">
                  <p:embed/>
                  <p:pic>
                    <p:nvPicPr>
                      <p:cNvPr id="614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0" y="2414588"/>
                        <a:ext cx="5257800" cy="3148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Slide Number Placeholder 6"/>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3E23B0C-D629-4A76-BC97-93E38267050F}" type="slidenum">
              <a:rPr lang="en-US" altLang="en-US">
                <a:solidFill>
                  <a:srgbClr val="898989"/>
                </a:solidFill>
              </a:rPr>
              <a:pPr eaLnBrk="1" hangingPunct="1"/>
              <a:t>22</a:t>
            </a:fld>
            <a:endParaRPr lang="en-US" altLang="en-US">
              <a:solidFill>
                <a:srgbClr val="898989"/>
              </a:solidFill>
            </a:endParaRPr>
          </a:p>
        </p:txBody>
      </p:sp>
    </p:spTree>
    <p:extLst>
      <p:ext uri="{BB962C8B-B14F-4D97-AF65-F5344CB8AC3E}">
        <p14:creationId xmlns:p14="http://schemas.microsoft.com/office/powerpoint/2010/main" val="27052828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2"/>
          <p:cNvSpPr>
            <a:spLocks noGrp="1"/>
          </p:cNvSpPr>
          <p:nvPr>
            <p:ph type="title"/>
          </p:nvPr>
        </p:nvSpPr>
        <p:spPr>
          <a:xfrm>
            <a:off x="677334" y="570577"/>
            <a:ext cx="8596668" cy="1320800"/>
          </a:xfrm>
        </p:spPr>
        <p:txBody>
          <a:bodyPr>
            <a:normAutofit fontScale="90000"/>
          </a:bodyPr>
          <a:lstStyle/>
          <a:p>
            <a:r>
              <a:rPr lang="en-IN" altLang="en-US" dirty="0" smtClean="0"/>
              <a:t>             Fixed Biased Circuit</a:t>
            </a:r>
            <a:br>
              <a:rPr lang="en-IN" altLang="en-US" dirty="0" smtClean="0"/>
            </a:br>
            <a:r>
              <a:rPr lang="en-IN" altLang="en-US" b="1" dirty="0" smtClean="0">
                <a:solidFill>
                  <a:schemeClr val="tx1"/>
                </a:solidFill>
              </a:rPr>
              <a:t> </a:t>
            </a:r>
            <a:r>
              <a:rPr lang="en-US" sz="2000" b="1" dirty="0">
                <a:solidFill>
                  <a:srgbClr val="FF0000"/>
                </a:solidFill>
              </a:rPr>
              <a:t>fixed biasing </a:t>
            </a:r>
            <a:r>
              <a:rPr lang="en-US" sz="2000" dirty="0">
                <a:solidFill>
                  <a:schemeClr val="tx1"/>
                </a:solidFill>
              </a:rPr>
              <a:t>is a type of </a:t>
            </a:r>
            <a:r>
              <a:rPr lang="en-US" sz="2000" b="1" dirty="0">
                <a:solidFill>
                  <a:srgbClr val="FF0000"/>
                </a:solidFill>
              </a:rPr>
              <a:t>bias</a:t>
            </a:r>
            <a:r>
              <a:rPr lang="en-US" sz="2000" dirty="0">
                <a:solidFill>
                  <a:srgbClr val="FF0000"/>
                </a:solidFill>
              </a:rPr>
              <a:t> </a:t>
            </a:r>
            <a:r>
              <a:rPr lang="en-US" sz="2000" dirty="0">
                <a:solidFill>
                  <a:schemeClr val="tx1"/>
                </a:solidFill>
              </a:rPr>
              <a:t>where base current is maintained constant for given </a:t>
            </a:r>
            <a:r>
              <a:rPr lang="en-US" sz="2000" dirty="0" err="1">
                <a:solidFill>
                  <a:schemeClr val="tx1"/>
                </a:solidFill>
              </a:rPr>
              <a:t>Vcc</a:t>
            </a:r>
            <a:r>
              <a:rPr lang="en-US" sz="2000" dirty="0">
                <a:solidFill>
                  <a:schemeClr val="tx1"/>
                </a:solidFill>
              </a:rPr>
              <a:t> by using</a:t>
            </a:r>
            <a:r>
              <a:rPr lang="en-US" sz="2000" dirty="0">
                <a:solidFill>
                  <a:srgbClr val="FF0000"/>
                </a:solidFill>
              </a:rPr>
              <a:t> </a:t>
            </a:r>
            <a:r>
              <a:rPr lang="en-US" sz="2000" b="1" dirty="0">
                <a:solidFill>
                  <a:srgbClr val="FF0000"/>
                </a:solidFill>
              </a:rPr>
              <a:t>fixed</a:t>
            </a:r>
            <a:r>
              <a:rPr lang="en-US" sz="2000" dirty="0">
                <a:solidFill>
                  <a:srgbClr val="FF0000"/>
                </a:solidFill>
              </a:rPr>
              <a:t> </a:t>
            </a:r>
            <a:r>
              <a:rPr lang="en-US" sz="2000" dirty="0">
                <a:solidFill>
                  <a:schemeClr val="tx1"/>
                </a:solidFill>
              </a:rPr>
              <a:t>resistor. so operating point must remain</a:t>
            </a:r>
            <a:r>
              <a:rPr lang="en-US" sz="2000" dirty="0">
                <a:solidFill>
                  <a:srgbClr val="FF0000"/>
                </a:solidFill>
              </a:rPr>
              <a:t> </a:t>
            </a:r>
            <a:r>
              <a:rPr lang="en-US" sz="2000" b="1" dirty="0">
                <a:solidFill>
                  <a:srgbClr val="FF0000"/>
                </a:solidFill>
              </a:rPr>
              <a:t>fixed</a:t>
            </a:r>
            <a:r>
              <a:rPr lang="en-US" sz="2000" dirty="0">
                <a:solidFill>
                  <a:schemeClr val="tx1"/>
                </a:solidFill>
              </a:rPr>
              <a:t>. using this two resistor and</a:t>
            </a:r>
            <a:r>
              <a:rPr lang="en-US" sz="2000" dirty="0">
                <a:solidFill>
                  <a:srgbClr val="FF0000"/>
                </a:solidFill>
              </a:rPr>
              <a:t> </a:t>
            </a:r>
            <a:r>
              <a:rPr lang="en-US" sz="2000" b="1" dirty="0">
                <a:solidFill>
                  <a:srgbClr val="FF0000"/>
                </a:solidFill>
              </a:rPr>
              <a:t>fixed</a:t>
            </a:r>
            <a:r>
              <a:rPr lang="en-US" sz="2000" dirty="0">
                <a:solidFill>
                  <a:srgbClr val="FF0000"/>
                </a:solidFill>
              </a:rPr>
              <a:t> </a:t>
            </a:r>
            <a:r>
              <a:rPr lang="en-US" sz="2000" dirty="0">
                <a:solidFill>
                  <a:schemeClr val="tx1"/>
                </a:solidFill>
              </a:rPr>
              <a:t>current, initial operating point has to found</a:t>
            </a:r>
            <a:r>
              <a:rPr lang="en-US" dirty="0"/>
              <a:t>.</a:t>
            </a:r>
            <a:endParaRPr lang="en-IN" altLang="en-US" dirty="0" smtClean="0"/>
          </a:p>
        </p:txBody>
      </p:sp>
      <p:pic>
        <p:nvPicPr>
          <p:cNvPr id="33795" name="Content Placeholder 8" descr="edc5.P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868918" y="2332037"/>
            <a:ext cx="6823075" cy="4525963"/>
          </a:xfrm>
        </p:spPr>
      </p:pic>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F849D29-A303-4473-B9D6-DB51D9AA9962}" type="slidenum">
              <a:rPr lang="en-US" altLang="en-US">
                <a:solidFill>
                  <a:srgbClr val="898989"/>
                </a:solidFill>
              </a:rPr>
              <a:pPr eaLnBrk="1" hangingPunct="1"/>
              <a:t>23</a:t>
            </a:fld>
            <a:endParaRPr lang="en-US" altLang="en-US">
              <a:solidFill>
                <a:srgbClr val="898989"/>
              </a:solidFill>
            </a:endParaRPr>
          </a:p>
        </p:txBody>
      </p:sp>
      <p:pic>
        <p:nvPicPr>
          <p:cNvPr id="3379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8918" y="2950176"/>
            <a:ext cx="225742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02330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8DE12B8-A7E0-47DC-BDF5-93FC30D844CC}" type="slidenum">
              <a:rPr lang="en-US" altLang="en-US">
                <a:solidFill>
                  <a:srgbClr val="898989"/>
                </a:solidFill>
              </a:rPr>
              <a:pPr eaLnBrk="1" hangingPunct="1"/>
              <a:t>24</a:t>
            </a:fld>
            <a:endParaRPr lang="en-US" altLang="en-US">
              <a:solidFill>
                <a:srgbClr val="898989"/>
              </a:solidFill>
            </a:endParaRPr>
          </a:p>
        </p:txBody>
      </p:sp>
      <p:pic>
        <p:nvPicPr>
          <p:cNvPr id="34819" name="Content Placeholder 6" descr="edc6.PNG"/>
          <p:cNvPicPr>
            <a:picLocks noGrp="1" noChangeAspect="1"/>
          </p:cNvPicPr>
          <p:nvPr>
            <p:ph sz="half" idx="4294967295"/>
          </p:nvPr>
        </p:nvPicPr>
        <p:blipFill>
          <a:blip r:embed="rId2">
            <a:extLst>
              <a:ext uri="{28A0092B-C50C-407E-A947-70E740481C1C}">
                <a14:useLocalDpi xmlns:a14="http://schemas.microsoft.com/office/drawing/2010/main" val="0"/>
              </a:ext>
            </a:extLst>
          </a:blip>
          <a:srcRect r="26147"/>
          <a:stretch>
            <a:fillRect/>
          </a:stretch>
        </p:blipFill>
        <p:spPr>
          <a:xfrm>
            <a:off x="1524000" y="815976"/>
            <a:ext cx="7467600" cy="5965825"/>
          </a:xfrm>
        </p:spPr>
      </p:pic>
      <p:sp>
        <p:nvSpPr>
          <p:cNvPr id="9" name="Title 2"/>
          <p:cNvSpPr txBox="1">
            <a:spLocks/>
          </p:cNvSpPr>
          <p:nvPr/>
        </p:nvSpPr>
        <p:spPr>
          <a:xfrm>
            <a:off x="1905001" y="326234"/>
            <a:ext cx="8229600" cy="792162"/>
          </a:xfrm>
          <a:prstGeom prst="rect">
            <a:avLst/>
          </a:prstGeom>
        </p:spPr>
        <p:txBody>
          <a:bodyPr/>
          <a:lstStyle/>
          <a:p>
            <a:pPr algn="ctr">
              <a:defRPr/>
            </a:pPr>
            <a:r>
              <a:rPr lang="en-IN" sz="4400" dirty="0">
                <a:solidFill>
                  <a:schemeClr val="accent1">
                    <a:lumMod val="75000"/>
                  </a:schemeClr>
                </a:solidFill>
                <a:latin typeface="+mj-lt"/>
                <a:ea typeface="+mj-ea"/>
                <a:cs typeface="+mj-cs"/>
              </a:rPr>
              <a:t>Fixed Biased Load L</a:t>
            </a:r>
            <a:r>
              <a:rPr lang="en-IN" sz="4400" dirty="0" err="1">
                <a:solidFill>
                  <a:schemeClr val="accent1">
                    <a:lumMod val="75000"/>
                  </a:schemeClr>
                </a:solidFill>
                <a:latin typeface="+mj-lt"/>
                <a:ea typeface="+mj-ea"/>
                <a:cs typeface="+mj-cs"/>
              </a:rPr>
              <a:t>ine</a:t>
            </a:r>
            <a:endParaRPr lang="en-IN" sz="4400" dirty="0">
              <a:solidFill>
                <a:schemeClr val="accent1">
                  <a:lumMod val="75000"/>
                </a:schemeClr>
              </a:solidFill>
              <a:latin typeface="+mj-lt"/>
              <a:ea typeface="+mj-ea"/>
              <a:cs typeface="+mj-cs"/>
            </a:endParaRPr>
          </a:p>
        </p:txBody>
      </p:sp>
      <p:pic>
        <p:nvPicPr>
          <p:cNvPr id="3482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8600" y="1666876"/>
            <a:ext cx="22288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77176" y="2438400"/>
            <a:ext cx="225742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341027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Rectangle 2"/>
          <p:cNvSpPr>
            <a:spLocks noGrp="1" noChangeArrowheads="1"/>
          </p:cNvSpPr>
          <p:nvPr>
            <p:ph type="title"/>
          </p:nvPr>
        </p:nvSpPr>
        <p:spPr/>
        <p:txBody>
          <a:bodyPr/>
          <a:lstStyle/>
          <a:p>
            <a:pPr marL="2233613" indent="-2233613"/>
            <a:r>
              <a:rPr lang="en-US" altLang="en-US" sz="4000" b="1" dirty="0"/>
              <a:t> </a:t>
            </a:r>
            <a:r>
              <a:rPr lang="en-US" altLang="en-US" sz="4000" b="1" dirty="0" smtClean="0"/>
              <a:t>              </a:t>
            </a:r>
            <a:r>
              <a:rPr lang="en-US" altLang="en-US" sz="4000" dirty="0" smtClean="0"/>
              <a:t> </a:t>
            </a:r>
            <a:r>
              <a:rPr lang="en-US" altLang="en-US" sz="4000" dirty="0"/>
              <a:t>Example </a:t>
            </a:r>
            <a:endParaRPr lang="th-TH" altLang="en-US" sz="4000" dirty="0"/>
          </a:p>
        </p:txBody>
      </p:sp>
      <p:sp>
        <p:nvSpPr>
          <p:cNvPr id="10242" name="Slide Number Placeholder 5"/>
          <p:cNvSpPr>
            <a:spLocks noGrp="1"/>
          </p:cNvSpPr>
          <p:nvPr>
            <p:ph type="sldNum" sz="quarter" idx="12"/>
          </p:nvPr>
        </p:nvSpPr>
        <p:spPr>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C150C7D-B755-4582-A78C-401CA6EF127D}" type="slidenum">
              <a:rPr lang="en-US" altLang="en-US">
                <a:solidFill>
                  <a:srgbClr val="898989"/>
                </a:solidFill>
              </a:rPr>
              <a:pPr eaLnBrk="1" hangingPunct="1"/>
              <a:t>25</a:t>
            </a:fld>
            <a:endParaRPr lang="th-TH" altLang="en-US">
              <a:solidFill>
                <a:srgbClr val="898989"/>
              </a:solidFill>
            </a:endParaRPr>
          </a:p>
        </p:txBody>
      </p:sp>
      <p:graphicFrame>
        <p:nvGraphicFramePr>
          <p:cNvPr id="7170" name="Object 7"/>
          <p:cNvGraphicFramePr>
            <a:graphicFrameLocks noChangeAspect="1"/>
          </p:cNvGraphicFramePr>
          <p:nvPr>
            <p:extLst>
              <p:ext uri="{D42A27DB-BD31-4B8C-83A1-F6EECF244321}">
                <p14:modId xmlns:p14="http://schemas.microsoft.com/office/powerpoint/2010/main" val="3794796056"/>
              </p:ext>
            </p:extLst>
          </p:nvPr>
        </p:nvGraphicFramePr>
        <p:xfrm>
          <a:off x="1981201" y="1612557"/>
          <a:ext cx="4454525" cy="4953000"/>
        </p:xfrm>
        <a:graphic>
          <a:graphicData uri="http://schemas.openxmlformats.org/presentationml/2006/ole">
            <mc:AlternateContent xmlns:mc="http://schemas.openxmlformats.org/markup-compatibility/2006">
              <mc:Choice xmlns:v="urn:schemas-microsoft-com:vml" Requires="v">
                <p:oleObj spid="_x0000_s7450" name="Visio" r:id="rId3" imgW="1519733" imgH="1689202" progId="Visio.Drawing.6">
                  <p:embed/>
                </p:oleObj>
              </mc:Choice>
              <mc:Fallback>
                <p:oleObj name="Visio" r:id="rId3" imgW="1519733" imgH="1689202" progId="Visio.Drawing.6">
                  <p:embed/>
                  <p:pic>
                    <p:nvPicPr>
                      <p:cNvPr id="717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1" y="1612557"/>
                        <a:ext cx="4454525"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1" name="Object 8"/>
          <p:cNvGraphicFramePr>
            <a:graphicFrameLocks noChangeAspect="1"/>
          </p:cNvGraphicFramePr>
          <p:nvPr/>
        </p:nvGraphicFramePr>
        <p:xfrm>
          <a:off x="6629400" y="1600200"/>
          <a:ext cx="3276600" cy="1189038"/>
        </p:xfrm>
        <a:graphic>
          <a:graphicData uri="http://schemas.openxmlformats.org/presentationml/2006/ole">
            <mc:AlternateContent xmlns:mc="http://schemas.openxmlformats.org/markup-compatibility/2006">
              <mc:Choice xmlns:v="urn:schemas-microsoft-com:vml" Requires="v">
                <p:oleObj spid="_x0000_s7451" name="Equation" r:id="rId5" imgW="1816100" imgH="660400" progId="Equation.DSMT4">
                  <p:embed/>
                </p:oleObj>
              </mc:Choice>
              <mc:Fallback>
                <p:oleObj name="Equation" r:id="rId5" imgW="1816100" imgH="660400" progId="Equation.DSMT4">
                  <p:embed/>
                  <p:pic>
                    <p:nvPicPr>
                      <p:cNvPr id="7171"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29400" y="1600200"/>
                        <a:ext cx="3276600" cy="1189038"/>
                      </a:xfrm>
                      <a:prstGeom prst="rect">
                        <a:avLst/>
                      </a:prstGeom>
                      <a:solidFill>
                        <a:srgbClr val="66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2" name="Object 9"/>
          <p:cNvGraphicFramePr>
            <a:graphicFrameLocks noChangeAspect="1"/>
          </p:cNvGraphicFramePr>
          <p:nvPr/>
        </p:nvGraphicFramePr>
        <p:xfrm>
          <a:off x="6629400" y="3095626"/>
          <a:ext cx="3429000" cy="809625"/>
        </p:xfrm>
        <a:graphic>
          <a:graphicData uri="http://schemas.openxmlformats.org/presentationml/2006/ole">
            <mc:AlternateContent xmlns:mc="http://schemas.openxmlformats.org/markup-compatibility/2006">
              <mc:Choice xmlns:v="urn:schemas-microsoft-com:vml" Requires="v">
                <p:oleObj spid="_x0000_s7452" name="Equation" r:id="rId7" imgW="1828800" imgH="431800" progId="Equation.DSMT4">
                  <p:embed/>
                </p:oleObj>
              </mc:Choice>
              <mc:Fallback>
                <p:oleObj name="Equation" r:id="rId7" imgW="1828800" imgH="431800" progId="Equation.DSMT4">
                  <p:embed/>
                  <p:pic>
                    <p:nvPicPr>
                      <p:cNvPr id="7172"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29400" y="3095626"/>
                        <a:ext cx="3429000" cy="809625"/>
                      </a:xfrm>
                      <a:prstGeom prst="rect">
                        <a:avLst/>
                      </a:prstGeom>
                      <a:solidFill>
                        <a:srgbClr val="66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3" name="Object 10"/>
          <p:cNvGraphicFramePr>
            <a:graphicFrameLocks noChangeAspect="1"/>
          </p:cNvGraphicFramePr>
          <p:nvPr/>
        </p:nvGraphicFramePr>
        <p:xfrm>
          <a:off x="6629400" y="4267201"/>
          <a:ext cx="3352800" cy="1243013"/>
        </p:xfrm>
        <a:graphic>
          <a:graphicData uri="http://schemas.openxmlformats.org/presentationml/2006/ole">
            <mc:AlternateContent xmlns:mc="http://schemas.openxmlformats.org/markup-compatibility/2006">
              <mc:Choice xmlns:v="urn:schemas-microsoft-com:vml" Requires="v">
                <p:oleObj spid="_x0000_s7453" name="Equation" r:id="rId9" imgW="1816100" imgH="673100" progId="Equation.DSMT4">
                  <p:embed/>
                </p:oleObj>
              </mc:Choice>
              <mc:Fallback>
                <p:oleObj name="Equation" r:id="rId9" imgW="1816100" imgH="673100" progId="Equation.DSMT4">
                  <p:embed/>
                  <p:pic>
                    <p:nvPicPr>
                      <p:cNvPr id="7173"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29400" y="4267201"/>
                        <a:ext cx="3352800" cy="1243013"/>
                      </a:xfrm>
                      <a:prstGeom prst="rect">
                        <a:avLst/>
                      </a:prstGeom>
                      <a:solidFill>
                        <a:srgbClr val="66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6" name="Text Box 11"/>
          <p:cNvSpPr txBox="1">
            <a:spLocks noChangeArrowheads="1"/>
          </p:cNvSpPr>
          <p:nvPr/>
        </p:nvSpPr>
        <p:spPr bwMode="auto">
          <a:xfrm>
            <a:off x="6477000" y="5715001"/>
            <a:ext cx="3657600" cy="366713"/>
          </a:xfrm>
          <a:prstGeom prst="rect">
            <a:avLst/>
          </a:prstGeom>
          <a:solidFill>
            <a:srgbClr val="FFFF00"/>
          </a:solidFill>
          <a:ln>
            <a:noFill/>
          </a:ln>
          <a:extLs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latin typeface="Verdana" panose="020B0604030504040204" pitchFamily="34" charset="0"/>
              </a:rPr>
              <a:t>The circuit is midpoint biased.</a:t>
            </a:r>
            <a:endParaRPr lang="th-TH" altLang="en-US">
              <a:latin typeface="Verdana" panose="020B0604030504040204" pitchFamily="34" charset="0"/>
            </a:endParaRPr>
          </a:p>
        </p:txBody>
      </p:sp>
    </p:spTree>
    <p:extLst>
      <p:ext uri="{BB962C8B-B14F-4D97-AF65-F5344CB8AC3E}">
        <p14:creationId xmlns:p14="http://schemas.microsoft.com/office/powerpoint/2010/main" val="286410906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1752600" y="274638"/>
            <a:ext cx="8763000" cy="1143000"/>
          </a:xfrm>
        </p:spPr>
        <p:txBody>
          <a:bodyPr>
            <a:normAutofit/>
          </a:bodyPr>
          <a:lstStyle/>
          <a:p>
            <a:pPr marL="2233613" indent="-2233613"/>
            <a:r>
              <a:rPr lang="en-US" altLang="en-US" b="1" dirty="0"/>
              <a:t> </a:t>
            </a:r>
            <a:r>
              <a:rPr lang="en-US" altLang="en-US" b="1" dirty="0" smtClean="0"/>
              <a:t>       </a:t>
            </a:r>
            <a:r>
              <a:rPr lang="en-US" altLang="en-US" dirty="0" smtClean="0"/>
              <a:t> </a:t>
            </a:r>
            <a:r>
              <a:rPr lang="en-US" altLang="en-US" dirty="0"/>
              <a:t>Base bias characteristics. </a:t>
            </a:r>
            <a:endParaRPr lang="th-TH" altLang="en-US" dirty="0"/>
          </a:p>
        </p:txBody>
      </p:sp>
      <p:sp>
        <p:nvSpPr>
          <p:cNvPr id="13314" name="Slide Number Placeholder 5"/>
          <p:cNvSpPr>
            <a:spLocks noGrp="1"/>
          </p:cNvSpPr>
          <p:nvPr>
            <p:ph type="sldNum" sz="quarter" idx="12"/>
          </p:nvPr>
        </p:nvSpPr>
        <p:spPr>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EEC301E-4736-4C99-816E-70E8EEBDA401}" type="slidenum">
              <a:rPr lang="en-US" altLang="en-US">
                <a:solidFill>
                  <a:srgbClr val="898989"/>
                </a:solidFill>
              </a:rPr>
              <a:pPr eaLnBrk="1" hangingPunct="1"/>
              <a:t>26</a:t>
            </a:fld>
            <a:endParaRPr lang="th-TH" altLang="en-US">
              <a:solidFill>
                <a:srgbClr val="898989"/>
              </a:solidFill>
            </a:endParaRPr>
          </a:p>
        </p:txBody>
      </p:sp>
      <p:graphicFrame>
        <p:nvGraphicFramePr>
          <p:cNvPr id="8194" name="Object 27"/>
          <p:cNvGraphicFramePr>
            <a:graphicFrameLocks noChangeAspect="1"/>
          </p:cNvGraphicFramePr>
          <p:nvPr/>
        </p:nvGraphicFramePr>
        <p:xfrm>
          <a:off x="1600200" y="1371601"/>
          <a:ext cx="4648200" cy="4430713"/>
        </p:xfrm>
        <a:graphic>
          <a:graphicData uri="http://schemas.openxmlformats.org/presentationml/2006/ole">
            <mc:AlternateContent xmlns:mc="http://schemas.openxmlformats.org/markup-compatibility/2006">
              <mc:Choice xmlns:v="urn:schemas-microsoft-com:vml" Requires="v">
                <p:oleObj spid="_x0000_s8264" name="Visio" r:id="rId3" imgW="1797406" imgH="1713586" progId="Visio.Drawing.6">
                  <p:embed/>
                </p:oleObj>
              </mc:Choice>
              <mc:Fallback>
                <p:oleObj name="Visio" r:id="rId3" imgW="1797406" imgH="1713586" progId="Visio.Drawing.6">
                  <p:embed/>
                  <p:pic>
                    <p:nvPicPr>
                      <p:cNvPr id="8194"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1371601"/>
                        <a:ext cx="4648200" cy="4430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7" name="Text Box 28"/>
          <p:cNvSpPr txBox="1">
            <a:spLocks noChangeArrowheads="1"/>
          </p:cNvSpPr>
          <p:nvPr/>
        </p:nvSpPr>
        <p:spPr bwMode="auto">
          <a:xfrm>
            <a:off x="5181600" y="4175126"/>
            <a:ext cx="5334000" cy="1192213"/>
          </a:xfrm>
          <a:prstGeom prst="rect">
            <a:avLst/>
          </a:prstGeom>
          <a:solidFill>
            <a:srgbClr val="66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1">
                <a:latin typeface="Verdana" panose="020B0604030504040204" pitchFamily="34" charset="0"/>
              </a:rPr>
              <a:t>Advantage:</a:t>
            </a:r>
            <a:r>
              <a:rPr lang="en-US" altLang="en-US">
                <a:latin typeface="Verdana" panose="020B0604030504040204" pitchFamily="34" charset="0"/>
              </a:rPr>
              <a:t> Circuit simplicity.</a:t>
            </a:r>
          </a:p>
          <a:p>
            <a:pPr eaLnBrk="1" hangingPunct="1">
              <a:spcBef>
                <a:spcPct val="50000"/>
              </a:spcBef>
            </a:pPr>
            <a:r>
              <a:rPr lang="en-US" altLang="en-US" b="1">
                <a:latin typeface="Verdana" panose="020B0604030504040204" pitchFamily="34" charset="0"/>
              </a:rPr>
              <a:t>Disadvantage:</a:t>
            </a:r>
            <a:r>
              <a:rPr lang="en-US" altLang="en-US">
                <a:latin typeface="Verdana" panose="020B0604030504040204" pitchFamily="34" charset="0"/>
              </a:rPr>
              <a:t> Q-point shift with temp.</a:t>
            </a:r>
          </a:p>
          <a:p>
            <a:pPr eaLnBrk="1" hangingPunct="1">
              <a:spcBef>
                <a:spcPct val="50000"/>
              </a:spcBef>
            </a:pPr>
            <a:r>
              <a:rPr lang="en-US" altLang="en-US" b="1">
                <a:latin typeface="Verdana" panose="020B0604030504040204" pitchFamily="34" charset="0"/>
              </a:rPr>
              <a:t>Applications:</a:t>
            </a:r>
            <a:r>
              <a:rPr lang="en-US" altLang="en-US">
                <a:latin typeface="Verdana" panose="020B0604030504040204" pitchFamily="34" charset="0"/>
              </a:rPr>
              <a:t> Switching circuits only.</a:t>
            </a:r>
            <a:endParaRPr lang="th-TH" altLang="en-US">
              <a:latin typeface="Verdana" panose="020B0604030504040204" pitchFamily="34" charset="0"/>
            </a:endParaRPr>
          </a:p>
        </p:txBody>
      </p:sp>
      <p:sp>
        <p:nvSpPr>
          <p:cNvPr id="8198" name="Text Box 29"/>
          <p:cNvSpPr txBox="1">
            <a:spLocks noChangeArrowheads="1"/>
          </p:cNvSpPr>
          <p:nvPr/>
        </p:nvSpPr>
        <p:spPr bwMode="auto">
          <a:xfrm>
            <a:off x="5181600" y="1600201"/>
            <a:ext cx="5334000" cy="10064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1">
                <a:latin typeface="Verdana" panose="020B0604030504040204" pitchFamily="34" charset="0"/>
              </a:rPr>
              <a:t>Circuit recognition:</a:t>
            </a:r>
            <a:r>
              <a:rPr lang="en-US" altLang="en-US" sz="2000">
                <a:latin typeface="Verdana" panose="020B0604030504040204" pitchFamily="34" charset="0"/>
              </a:rPr>
              <a:t> A single resistor (</a:t>
            </a:r>
            <a:r>
              <a:rPr lang="en-US" altLang="en-US" sz="2000" i="1">
                <a:latin typeface="Verdana" panose="020B0604030504040204" pitchFamily="34" charset="0"/>
              </a:rPr>
              <a:t>R</a:t>
            </a:r>
            <a:r>
              <a:rPr lang="en-US" altLang="en-US" sz="2000" i="1" baseline="-25000">
                <a:latin typeface="Verdana" panose="020B0604030504040204" pitchFamily="34" charset="0"/>
              </a:rPr>
              <a:t>B</a:t>
            </a:r>
            <a:r>
              <a:rPr lang="en-US" altLang="en-US" sz="2000">
                <a:latin typeface="Verdana" panose="020B0604030504040204" pitchFamily="34" charset="0"/>
              </a:rPr>
              <a:t>) between the base terminal and </a:t>
            </a:r>
            <a:r>
              <a:rPr lang="en-US" altLang="en-US" sz="2000" i="1">
                <a:latin typeface="Verdana" panose="020B0604030504040204" pitchFamily="34" charset="0"/>
              </a:rPr>
              <a:t>V</a:t>
            </a:r>
            <a:r>
              <a:rPr lang="en-US" altLang="en-US" sz="2000" i="1" baseline="-25000">
                <a:latin typeface="Verdana" panose="020B0604030504040204" pitchFamily="34" charset="0"/>
              </a:rPr>
              <a:t>CC</a:t>
            </a:r>
            <a:r>
              <a:rPr lang="en-US" altLang="en-US" sz="2000">
                <a:latin typeface="Verdana" panose="020B0604030504040204" pitchFamily="34" charset="0"/>
              </a:rPr>
              <a:t>.  No emitter resistor.</a:t>
            </a:r>
            <a:endParaRPr lang="th-TH" altLang="en-US" sz="2000">
              <a:latin typeface="Verdana" panose="020B0604030504040204" pitchFamily="34" charset="0"/>
            </a:endParaRPr>
          </a:p>
        </p:txBody>
      </p:sp>
    </p:spTree>
    <p:extLst>
      <p:ext uri="{BB962C8B-B14F-4D97-AF65-F5344CB8AC3E}">
        <p14:creationId xmlns:p14="http://schemas.microsoft.com/office/powerpoint/2010/main" val="299209235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IN" altLang="en-US" dirty="0" smtClean="0"/>
              <a:t>                Emitter Biased Circuit</a:t>
            </a:r>
          </a:p>
        </p:txBody>
      </p:sp>
      <p:pic>
        <p:nvPicPr>
          <p:cNvPr id="35843" name="Content Placeholder 7" descr="edc8.PNG"/>
          <p:cNvPicPr>
            <a:picLocks noGrp="1" noChangeAspect="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981200" y="1370014"/>
            <a:ext cx="4038600" cy="3430587"/>
          </a:xfrm>
        </p:spPr>
      </p:pic>
      <p:pic>
        <p:nvPicPr>
          <p:cNvPr id="35844" name="Content Placeholder 8" descr="edc7.PNG"/>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172200" y="1524001"/>
            <a:ext cx="4038600" cy="3546475"/>
          </a:xfrm>
        </p:spPr>
      </p:pic>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7E9FA9C-1F49-4593-9401-C26A284413B9}" type="slidenum">
              <a:rPr lang="en-US" altLang="en-US">
                <a:solidFill>
                  <a:srgbClr val="898989"/>
                </a:solidFill>
              </a:rPr>
              <a:pPr eaLnBrk="1" hangingPunct="1"/>
              <a:t>27</a:t>
            </a:fld>
            <a:endParaRPr lang="en-US" altLang="en-US">
              <a:solidFill>
                <a:srgbClr val="898989"/>
              </a:solidFill>
            </a:endParaRPr>
          </a:p>
        </p:txBody>
      </p:sp>
      <p:pic>
        <p:nvPicPr>
          <p:cNvPr id="358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9776" y="6019800"/>
            <a:ext cx="24098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34226" y="5376863"/>
            <a:ext cx="2238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4"/>
          <p:cNvPicPr>
            <a:picLocks noChangeAspect="1" noChangeArrowheads="1"/>
          </p:cNvPicPr>
          <p:nvPr/>
        </p:nvPicPr>
        <p:blipFill>
          <a:blip r:embed="rId6"/>
          <a:srcRect l="4981" r="6130"/>
          <a:stretch>
            <a:fillRect/>
          </a:stretch>
        </p:blipFill>
        <p:spPr bwMode="auto">
          <a:xfrm>
            <a:off x="7162800" y="5953126"/>
            <a:ext cx="2209800" cy="676275"/>
          </a:xfrm>
          <a:prstGeom prst="rect">
            <a:avLst/>
          </a:prstGeom>
          <a:noFill/>
          <a:ln w="9525">
            <a:solidFill>
              <a:schemeClr val="tx1">
                <a:lumMod val="95000"/>
                <a:lumOff val="5000"/>
              </a:schemeClr>
            </a:solidFill>
            <a:miter lim="800000"/>
            <a:headEnd/>
            <a:tailEnd/>
          </a:ln>
          <a:effectLst/>
        </p:spPr>
      </p:pic>
    </p:spTree>
    <p:extLst>
      <p:ext uri="{BB962C8B-B14F-4D97-AF65-F5344CB8AC3E}">
        <p14:creationId xmlns:p14="http://schemas.microsoft.com/office/powerpoint/2010/main" val="232165973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r>
              <a:rPr lang="en-IN" altLang="en-US" dirty="0" smtClean="0"/>
              <a:t>           Load Line and Q-point</a:t>
            </a:r>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15E7FBC-9619-4A98-BDB2-4DA268366033}" type="slidenum">
              <a:rPr lang="en-US" altLang="en-US">
                <a:solidFill>
                  <a:srgbClr val="898989"/>
                </a:solidFill>
              </a:rPr>
              <a:pPr eaLnBrk="1" hangingPunct="1"/>
              <a:t>28</a:t>
            </a:fld>
            <a:endParaRPr lang="en-US" altLang="en-US">
              <a:solidFill>
                <a:srgbClr val="898989"/>
              </a:solidFill>
            </a:endParaRPr>
          </a:p>
        </p:txBody>
      </p:sp>
      <p:pic>
        <p:nvPicPr>
          <p:cNvPr id="3686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214438"/>
            <a:ext cx="7391400" cy="533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749221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457200"/>
            <a:ext cx="42672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457200"/>
            <a:ext cx="42672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Rectangle 6"/>
          <p:cNvSpPr>
            <a:spLocks noChangeArrowheads="1"/>
          </p:cNvSpPr>
          <p:nvPr/>
        </p:nvSpPr>
        <p:spPr bwMode="auto">
          <a:xfrm>
            <a:off x="1905000" y="5181600"/>
            <a:ext cx="8305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latin typeface="Calibri" panose="020F0502020204030204" pitchFamily="34" charset="0"/>
              </a:rPr>
              <a:t>Graphical load line illustration of transistor being driven into</a:t>
            </a:r>
          </a:p>
          <a:p>
            <a:pPr algn="ctr" eaLnBrk="1" hangingPunct="1"/>
            <a:r>
              <a:rPr lang="en-US" altLang="en-US">
                <a:latin typeface="Calibri" panose="020F0502020204030204" pitchFamily="34" charset="0"/>
              </a:rPr>
              <a:t>saturation or cutoff</a:t>
            </a: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6DF845A-6CF7-41A7-AF39-BDAD94F58292}" type="slidenum">
              <a:rPr lang="en-US" altLang="en-US">
                <a:solidFill>
                  <a:srgbClr val="898989"/>
                </a:solidFill>
              </a:rPr>
              <a:pPr eaLnBrk="1" hangingPunct="1"/>
              <a:t>29</a:t>
            </a:fld>
            <a:endParaRPr lang="en-US" altLang="en-US">
              <a:solidFill>
                <a:srgbClr val="898989"/>
              </a:solidFill>
            </a:endParaRPr>
          </a:p>
        </p:txBody>
      </p:sp>
    </p:spTree>
    <p:extLst>
      <p:ext uri="{BB962C8B-B14F-4D97-AF65-F5344CB8AC3E}">
        <p14:creationId xmlns:p14="http://schemas.microsoft.com/office/powerpoint/2010/main" val="141230224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4"/>
          <p:cNvPicPr>
            <a:picLocks noChangeAspect="1" noChangeArrowheads="1"/>
          </p:cNvPicPr>
          <p:nvPr/>
        </p:nvPicPr>
        <p:blipFill>
          <a:blip r:embed="rId2">
            <a:lum bright="-10000"/>
            <a:extLst>
              <a:ext uri="{28A0092B-C50C-407E-A947-70E740481C1C}">
                <a14:useLocalDpi xmlns:a14="http://schemas.microsoft.com/office/drawing/2010/main" val="0"/>
              </a:ext>
            </a:extLst>
          </a:blip>
          <a:srcRect/>
          <a:stretch>
            <a:fillRect/>
          </a:stretch>
        </p:blipFill>
        <p:spPr bwMode="auto">
          <a:xfrm>
            <a:off x="3352800" y="609600"/>
            <a:ext cx="57912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Rectangle 5"/>
          <p:cNvSpPr>
            <a:spLocks noChangeArrowheads="1"/>
          </p:cNvSpPr>
          <p:nvPr/>
        </p:nvSpPr>
        <p:spPr bwMode="auto">
          <a:xfrm>
            <a:off x="2286000" y="5562600"/>
            <a:ext cx="7848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latin typeface="Calibri" panose="020F0502020204030204" pitchFamily="34" charset="0"/>
              </a:rPr>
              <a:t>Graphical load line for transistor in saturation and cutoff</a:t>
            </a:r>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5DF8886-9BAA-45E0-A944-07096A63E051}" type="slidenum">
              <a:rPr lang="en-US" altLang="en-US">
                <a:solidFill>
                  <a:srgbClr val="898989"/>
                </a:solidFill>
              </a:rPr>
              <a:pPr eaLnBrk="1" hangingPunct="1"/>
              <a:t>30</a:t>
            </a:fld>
            <a:endParaRPr lang="en-US" altLang="en-US">
              <a:solidFill>
                <a:srgbClr val="898989"/>
              </a:solidFill>
            </a:endParaRPr>
          </a:p>
        </p:txBody>
      </p:sp>
    </p:spTree>
    <p:extLst>
      <p:ext uri="{BB962C8B-B14F-4D97-AF65-F5344CB8AC3E}">
        <p14:creationId xmlns:p14="http://schemas.microsoft.com/office/powerpoint/2010/main" val="241460845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pPr marL="2060575" indent="-2060575"/>
            <a:r>
              <a:rPr lang="en-US" altLang="en-US" sz="4000" b="1" dirty="0" smtClean="0"/>
              <a:t> </a:t>
            </a:r>
            <a:r>
              <a:rPr lang="en-US" altLang="en-US" sz="4000" dirty="0"/>
              <a:t>Emitter-bias characteristics. </a:t>
            </a:r>
            <a:endParaRPr lang="th-TH" altLang="en-US" sz="4000" dirty="0"/>
          </a:p>
        </p:txBody>
      </p:sp>
      <p:sp>
        <p:nvSpPr>
          <p:cNvPr id="31746" name="Slide Number Placeholder 5"/>
          <p:cNvSpPr>
            <a:spLocks noGrp="1"/>
          </p:cNvSpPr>
          <p:nvPr>
            <p:ph type="sldNum" sz="quarter" idx="12"/>
          </p:nvPr>
        </p:nvSpPr>
        <p:spPr>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C58BAAE-F6A1-408F-BED7-76797DDE7022}" type="slidenum">
              <a:rPr lang="en-US" altLang="en-US">
                <a:solidFill>
                  <a:srgbClr val="898989"/>
                </a:solidFill>
              </a:rPr>
              <a:pPr eaLnBrk="1" hangingPunct="1"/>
              <a:t>31</a:t>
            </a:fld>
            <a:endParaRPr lang="th-TH" altLang="en-US">
              <a:solidFill>
                <a:srgbClr val="898989"/>
              </a:solidFill>
            </a:endParaRPr>
          </a:p>
        </p:txBody>
      </p:sp>
      <p:graphicFrame>
        <p:nvGraphicFramePr>
          <p:cNvPr id="9218" name="Object 3"/>
          <p:cNvGraphicFramePr>
            <a:graphicFrameLocks noChangeAspect="1"/>
          </p:cNvGraphicFramePr>
          <p:nvPr/>
        </p:nvGraphicFramePr>
        <p:xfrm>
          <a:off x="1676401" y="1295400"/>
          <a:ext cx="4010025" cy="5334000"/>
        </p:xfrm>
        <a:graphic>
          <a:graphicData uri="http://schemas.openxmlformats.org/presentationml/2006/ole">
            <mc:AlternateContent xmlns:mc="http://schemas.openxmlformats.org/markup-compatibility/2006">
              <mc:Choice xmlns:v="urn:schemas-microsoft-com:vml" Requires="v">
                <p:oleObj spid="_x0000_s9287" name="Visio" r:id="rId3" imgW="1393850" imgH="1853794" progId="Visio.Drawing.6">
                  <p:embed/>
                </p:oleObj>
              </mc:Choice>
              <mc:Fallback>
                <p:oleObj name="Visio" r:id="rId3" imgW="1393850" imgH="1853794" progId="Visio.Drawing.6">
                  <p:embed/>
                  <p:pic>
                    <p:nvPicPr>
                      <p:cNvPr id="921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1" y="1295400"/>
                        <a:ext cx="4010025"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1" name="Text Box 4"/>
          <p:cNvSpPr txBox="1">
            <a:spLocks noChangeArrowheads="1"/>
          </p:cNvSpPr>
          <p:nvPr/>
        </p:nvSpPr>
        <p:spPr bwMode="auto">
          <a:xfrm>
            <a:off x="6096000" y="1524001"/>
            <a:ext cx="4343400" cy="10064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1"/>
              <a:t>Circuit recognition:</a:t>
            </a:r>
            <a:r>
              <a:rPr lang="en-US" altLang="en-US" sz="2000"/>
              <a:t> A split (dual-polairty) power supply and the base resistor is connected to ground.</a:t>
            </a:r>
            <a:endParaRPr lang="th-TH" altLang="en-US" sz="2000"/>
          </a:p>
        </p:txBody>
      </p:sp>
      <p:sp>
        <p:nvSpPr>
          <p:cNvPr id="9222" name="Text Box 5"/>
          <p:cNvSpPr txBox="1">
            <a:spLocks noChangeArrowheads="1"/>
          </p:cNvSpPr>
          <p:nvPr/>
        </p:nvSpPr>
        <p:spPr bwMode="auto">
          <a:xfrm>
            <a:off x="6096000" y="2667001"/>
            <a:ext cx="4343400" cy="2530475"/>
          </a:xfrm>
          <a:prstGeom prst="rect">
            <a:avLst/>
          </a:prstGeom>
          <a:solidFill>
            <a:srgbClr val="66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1"/>
              <a:t>Advantage:</a:t>
            </a:r>
            <a:r>
              <a:rPr lang="en-US" altLang="en-US" sz="2000"/>
              <a:t> The circuit Q-point values are stable against changes in </a:t>
            </a:r>
            <a:r>
              <a:rPr lang="en-US" altLang="en-US" sz="2000" i="1"/>
              <a:t>h</a:t>
            </a:r>
            <a:r>
              <a:rPr lang="en-US" altLang="en-US" sz="2000" i="1" baseline="-25000"/>
              <a:t>FE</a:t>
            </a:r>
            <a:r>
              <a:rPr lang="en-US" altLang="en-US" sz="2000"/>
              <a:t>.</a:t>
            </a:r>
          </a:p>
          <a:p>
            <a:pPr eaLnBrk="1" hangingPunct="1">
              <a:spcBef>
                <a:spcPct val="50000"/>
              </a:spcBef>
            </a:pPr>
            <a:r>
              <a:rPr lang="en-US" altLang="en-US" sz="2000" b="1"/>
              <a:t>Disadvantage:</a:t>
            </a:r>
            <a:r>
              <a:rPr lang="en-US" altLang="en-US" sz="2000"/>
              <a:t> Requires the use of dual-polarity power supply.</a:t>
            </a:r>
          </a:p>
          <a:p>
            <a:pPr eaLnBrk="1" hangingPunct="1">
              <a:spcBef>
                <a:spcPct val="50000"/>
              </a:spcBef>
            </a:pPr>
            <a:r>
              <a:rPr lang="en-US" altLang="en-US" sz="2000" b="1"/>
              <a:t>Applications:</a:t>
            </a:r>
            <a:r>
              <a:rPr lang="en-US" altLang="en-US" sz="2000"/>
              <a:t> Used primarily to bias linear amplifiers.</a:t>
            </a:r>
            <a:endParaRPr lang="th-TH" altLang="en-US" sz="2000"/>
          </a:p>
        </p:txBody>
      </p:sp>
    </p:spTree>
    <p:extLst>
      <p:ext uri="{BB962C8B-B14F-4D97-AF65-F5344CB8AC3E}">
        <p14:creationId xmlns:p14="http://schemas.microsoft.com/office/powerpoint/2010/main" val="207737724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981200" y="274638"/>
            <a:ext cx="8229600" cy="715962"/>
          </a:xfrm>
          <a:prstGeom prst="rect">
            <a:avLst/>
          </a:prstGeom>
        </p:spPr>
        <p:txBody>
          <a:bodyPr/>
          <a:lstStyle/>
          <a:p>
            <a:pPr algn="ctr">
              <a:defRPr/>
            </a:pPr>
            <a:r>
              <a:rPr lang="en-US" sz="4400" dirty="0">
                <a:latin typeface="+mj-lt"/>
                <a:ea typeface="+mj-ea"/>
                <a:cs typeface="+mj-cs"/>
              </a:rPr>
              <a:t>Example</a:t>
            </a:r>
            <a:endParaRPr lang="th-TH" sz="4400" dirty="0">
              <a:latin typeface="+mj-lt"/>
              <a:ea typeface="+mj-ea"/>
              <a:cs typeface="+mj-cs"/>
            </a:endParaRPr>
          </a:p>
        </p:txBody>
      </p:sp>
      <p:graphicFrame>
        <p:nvGraphicFramePr>
          <p:cNvPr id="10242" name="Object 3"/>
          <p:cNvGraphicFramePr>
            <a:graphicFrameLocks noChangeAspect="1"/>
          </p:cNvGraphicFramePr>
          <p:nvPr/>
        </p:nvGraphicFramePr>
        <p:xfrm>
          <a:off x="1981200" y="1981200"/>
          <a:ext cx="8229600" cy="4103688"/>
        </p:xfrm>
        <a:graphic>
          <a:graphicData uri="http://schemas.openxmlformats.org/presentationml/2006/ole">
            <mc:AlternateContent xmlns:mc="http://schemas.openxmlformats.org/markup-compatibility/2006">
              <mc:Choice xmlns:v="urn:schemas-microsoft-com:vml" Requires="v">
                <p:oleObj spid="_x0000_s10311" name="Visio" r:id="rId3" imgW="3435401" imgH="1713586" progId="">
                  <p:embed/>
                </p:oleObj>
              </mc:Choice>
              <mc:Fallback>
                <p:oleObj name="Visio" r:id="rId3" imgW="3435401" imgH="1713586" progId="">
                  <p:embed/>
                  <p:pic>
                    <p:nvPicPr>
                      <p:cNvPr id="1024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1981200"/>
                        <a:ext cx="8229600" cy="410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5" name="Text Box 4"/>
          <p:cNvSpPr txBox="1">
            <a:spLocks noChangeArrowheads="1"/>
          </p:cNvSpPr>
          <p:nvPr/>
        </p:nvSpPr>
        <p:spPr bwMode="auto">
          <a:xfrm>
            <a:off x="2438400" y="1371600"/>
            <a:ext cx="7315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thaiDist" eaLnBrk="1" hangingPunct="1">
              <a:spcBef>
                <a:spcPct val="50000"/>
              </a:spcBef>
            </a:pPr>
            <a:r>
              <a:rPr lang="en-US" altLang="en-US">
                <a:latin typeface="Verdana" panose="020B0604030504040204" pitchFamily="34" charset="0"/>
              </a:rPr>
              <a:t>Plot the dc load line for the circuit shown in Fig. 7.3a.</a:t>
            </a:r>
            <a:endParaRPr lang="th-TH" altLang="en-US">
              <a:latin typeface="Verdana" panose="020B0604030504040204" pitchFamily="34" charset="0"/>
              <a:cs typeface="Cordia New" panose="020B0304020202020204" pitchFamily="34" charset="-34"/>
            </a:endParaRPr>
          </a:p>
        </p:txBody>
      </p:sp>
      <p:sp>
        <p:nvSpPr>
          <p:cNvPr id="7" name="Slide Number Placeholder 6"/>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7F02AAE-CAA8-49B4-AC3C-766FDC4130F6}" type="slidenum">
              <a:rPr lang="en-US" altLang="en-US">
                <a:solidFill>
                  <a:srgbClr val="898989"/>
                </a:solidFill>
              </a:rPr>
              <a:pPr eaLnBrk="1" hangingPunct="1"/>
              <a:t>32</a:t>
            </a:fld>
            <a:endParaRPr lang="en-US" altLang="en-US">
              <a:solidFill>
                <a:srgbClr val="898989"/>
              </a:solidFill>
            </a:endParaRPr>
          </a:p>
        </p:txBody>
      </p:sp>
    </p:spTree>
    <p:extLst>
      <p:ext uri="{BB962C8B-B14F-4D97-AF65-F5344CB8AC3E}">
        <p14:creationId xmlns:p14="http://schemas.microsoft.com/office/powerpoint/2010/main" val="66366186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981200" y="274638"/>
            <a:ext cx="8229600" cy="792162"/>
          </a:xfrm>
          <a:prstGeom prst="rect">
            <a:avLst/>
          </a:prstGeom>
        </p:spPr>
        <p:txBody>
          <a:bodyPr/>
          <a:lstStyle/>
          <a:p>
            <a:pPr algn="ctr">
              <a:defRPr/>
            </a:pPr>
            <a:r>
              <a:rPr lang="en-US" sz="4400" dirty="0">
                <a:latin typeface="+mj-lt"/>
                <a:ea typeface="+mj-ea"/>
                <a:cs typeface="+mj-cs"/>
              </a:rPr>
              <a:t>Example</a:t>
            </a:r>
            <a:endParaRPr lang="th-TH" sz="4400" dirty="0">
              <a:latin typeface="+mj-lt"/>
              <a:ea typeface="+mj-ea"/>
              <a:cs typeface="+mj-cs"/>
            </a:endParaRPr>
          </a:p>
        </p:txBody>
      </p:sp>
      <p:sp>
        <p:nvSpPr>
          <p:cNvPr id="11270" name="Text Box 4"/>
          <p:cNvSpPr txBox="1">
            <a:spLocks noChangeArrowheads="1"/>
          </p:cNvSpPr>
          <p:nvPr/>
        </p:nvSpPr>
        <p:spPr bwMode="auto">
          <a:xfrm>
            <a:off x="2438400" y="1371601"/>
            <a:ext cx="73152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thaiDist" eaLnBrk="1" hangingPunct="1">
              <a:spcBef>
                <a:spcPct val="50000"/>
              </a:spcBef>
            </a:pPr>
            <a:r>
              <a:rPr lang="en-US" altLang="en-US" sz="2400">
                <a:latin typeface="Verdana" panose="020B0604030504040204" pitchFamily="34" charset="0"/>
              </a:rPr>
              <a:t>Plot the dc load line for the circuit shown in Fig. 7.4.  Then, find the values of </a:t>
            </a:r>
            <a:r>
              <a:rPr lang="en-US" altLang="en-US" sz="2400" i="1">
                <a:latin typeface="Verdana" panose="020B0604030504040204" pitchFamily="34" charset="0"/>
              </a:rPr>
              <a:t>V</a:t>
            </a:r>
            <a:r>
              <a:rPr lang="en-US" altLang="en-US" sz="2400" i="1" baseline="-25000">
                <a:latin typeface="Verdana" panose="020B0604030504040204" pitchFamily="34" charset="0"/>
              </a:rPr>
              <a:t>CE</a:t>
            </a:r>
            <a:r>
              <a:rPr lang="en-US" altLang="en-US" sz="2400">
                <a:latin typeface="Verdana" panose="020B0604030504040204" pitchFamily="34" charset="0"/>
              </a:rPr>
              <a:t> for </a:t>
            </a:r>
            <a:r>
              <a:rPr lang="en-US" altLang="en-US" sz="2400" i="1">
                <a:latin typeface="Verdana" panose="020B0604030504040204" pitchFamily="34" charset="0"/>
              </a:rPr>
              <a:t>I</a:t>
            </a:r>
            <a:r>
              <a:rPr lang="en-US" altLang="en-US" sz="2400" i="1" baseline="-25000">
                <a:latin typeface="Verdana" panose="020B0604030504040204" pitchFamily="34" charset="0"/>
              </a:rPr>
              <a:t>C</a:t>
            </a:r>
            <a:r>
              <a:rPr lang="en-US" altLang="en-US" sz="2400">
                <a:latin typeface="Verdana" panose="020B0604030504040204" pitchFamily="34" charset="0"/>
              </a:rPr>
              <a:t> = 1, 2, 5 mA respectively.</a:t>
            </a:r>
            <a:endParaRPr lang="th-TH" altLang="en-US" sz="2400">
              <a:latin typeface="Verdana" panose="020B0604030504040204" pitchFamily="34" charset="0"/>
              <a:cs typeface="Cordia New" panose="020B0304020202020204" pitchFamily="34" charset="-34"/>
            </a:endParaRPr>
          </a:p>
        </p:txBody>
      </p:sp>
      <p:graphicFrame>
        <p:nvGraphicFramePr>
          <p:cNvPr id="11266" name="Object 6"/>
          <p:cNvGraphicFramePr>
            <a:graphicFrameLocks noChangeAspect="1"/>
          </p:cNvGraphicFramePr>
          <p:nvPr/>
        </p:nvGraphicFramePr>
        <p:xfrm>
          <a:off x="1828800" y="2667001"/>
          <a:ext cx="7010400" cy="3859213"/>
        </p:xfrm>
        <a:graphic>
          <a:graphicData uri="http://schemas.openxmlformats.org/presentationml/2006/ole">
            <mc:AlternateContent xmlns:mc="http://schemas.openxmlformats.org/markup-compatibility/2006">
              <mc:Choice xmlns:v="urn:schemas-microsoft-com:vml" Requires="v">
                <p:oleObj spid="_x0000_s11404" name="Visio" r:id="rId3" imgW="3111398" imgH="1713586" progId="">
                  <p:embed/>
                </p:oleObj>
              </mc:Choice>
              <mc:Fallback>
                <p:oleObj name="Visio" r:id="rId3" imgW="3111398" imgH="1713586" progId="">
                  <p:embed/>
                  <p:pic>
                    <p:nvPicPr>
                      <p:cNvPr id="1126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2667001"/>
                        <a:ext cx="7010400" cy="3859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Group 27"/>
          <p:cNvGraphicFramePr>
            <a:graphicFrameLocks noGrp="1"/>
          </p:cNvGraphicFramePr>
          <p:nvPr/>
        </p:nvGraphicFramePr>
        <p:xfrm>
          <a:off x="7315200" y="3829050"/>
          <a:ext cx="2819400" cy="1584816"/>
        </p:xfrm>
        <a:graphic>
          <a:graphicData uri="http://schemas.openxmlformats.org/drawingml/2006/table">
            <a:tbl>
              <a:tblPr firstRow="1">
                <a:tableStyleId>{10A1B5D5-9B99-4C35-A422-299274C87663}</a:tableStyleId>
              </a:tblPr>
              <a:tblGrid>
                <a:gridCol w="1409700">
                  <a:extLst>
                    <a:ext uri="{9D8B030D-6E8A-4147-A177-3AD203B41FA5}">
                      <a16:colId xmlns:a16="http://schemas.microsoft.com/office/drawing/2014/main" val="20000"/>
                    </a:ext>
                  </a:extLst>
                </a:gridCol>
                <a:gridCol w="1409700">
                  <a:extLst>
                    <a:ext uri="{9D8B030D-6E8A-4147-A177-3AD203B41FA5}">
                      <a16:colId xmlns:a16="http://schemas.microsoft.com/office/drawing/2014/main" val="20001"/>
                    </a:ext>
                  </a:extLst>
                </a:gridCol>
              </a:tblGrid>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I</a:t>
                      </a:r>
                      <a:r>
                        <a:rPr kumimoji="0" lang="en-US" sz="2000" u="none" strike="noStrike" cap="none" normalizeH="0" baseline="-25000" smtClean="0">
                          <a:ln>
                            <a:noFill/>
                          </a:ln>
                          <a:effectLst/>
                        </a:rPr>
                        <a:t>C</a:t>
                      </a:r>
                      <a:r>
                        <a:rPr kumimoji="0" lang="en-US" sz="2000" u="none" strike="noStrike" cap="none" normalizeH="0" baseline="0" smtClean="0">
                          <a:ln>
                            <a:noFill/>
                          </a:ln>
                          <a:effectLst/>
                        </a:rPr>
                        <a:t> (mA)</a:t>
                      </a:r>
                      <a:endParaRPr kumimoji="0" lang="th-TH" sz="2000" b="1" i="0" u="none" strike="noStrike" cap="none" normalizeH="0" baseline="0" smtClean="0">
                        <a:ln>
                          <a:noFill/>
                        </a:ln>
                        <a:solidFill>
                          <a:schemeClr val="tx1"/>
                        </a:solidFill>
                        <a:effectLst/>
                        <a:latin typeface="Verdana" pitchFamily="34" charset="0"/>
                        <a:cs typeface="Angsana New" pitchFamily="18" charset="-34"/>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V</a:t>
                      </a:r>
                      <a:r>
                        <a:rPr kumimoji="0" lang="en-US" sz="2000" u="none" strike="noStrike" cap="none" normalizeH="0" baseline="-25000" smtClean="0">
                          <a:ln>
                            <a:noFill/>
                          </a:ln>
                          <a:effectLst/>
                        </a:rPr>
                        <a:t>CE</a:t>
                      </a:r>
                      <a:r>
                        <a:rPr kumimoji="0" lang="en-US" sz="2000" u="none" strike="noStrike" cap="none" normalizeH="0" baseline="0" smtClean="0">
                          <a:ln>
                            <a:noFill/>
                          </a:ln>
                          <a:effectLst/>
                        </a:rPr>
                        <a:t> (V)</a:t>
                      </a:r>
                      <a:endParaRPr kumimoji="0" lang="th-TH" sz="2000" b="1" i="0" u="none" strike="noStrike" cap="none" normalizeH="0" baseline="0" smtClean="0">
                        <a:ln>
                          <a:noFill/>
                        </a:ln>
                        <a:solidFill>
                          <a:schemeClr val="tx1"/>
                        </a:solidFill>
                        <a:effectLst/>
                        <a:latin typeface="Verdana" pitchFamily="34" charset="0"/>
                        <a:cs typeface="Angsana New" pitchFamily="18" charset="-34"/>
                      </a:endParaRPr>
                    </a:p>
                  </a:txBody>
                  <a:tcPr marT="45702" marB="45702" horzOverflow="overflow"/>
                </a:tc>
                <a:extLst>
                  <a:ext uri="{0D108BD9-81ED-4DB2-BD59-A6C34878D82A}">
                    <a16:rowId xmlns:a16="http://schemas.microsoft.com/office/drawing/2014/main" val="10000"/>
                  </a:ext>
                </a:extLst>
              </a:tr>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1</a:t>
                      </a:r>
                      <a:endParaRPr kumimoji="0" lang="th-TH" sz="2000" b="0" i="0" u="none" strike="noStrike" cap="none" normalizeH="0" baseline="0" smtClean="0">
                        <a:ln>
                          <a:noFill/>
                        </a:ln>
                        <a:solidFill>
                          <a:schemeClr val="tx1"/>
                        </a:solidFill>
                        <a:effectLst/>
                        <a:latin typeface="Verdana" pitchFamily="34" charset="0"/>
                        <a:cs typeface="Angsana New" pitchFamily="18" charset="-34"/>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9</a:t>
                      </a:r>
                      <a:endParaRPr kumimoji="0" lang="th-TH" sz="2000" b="0" i="0" u="none" strike="noStrike" cap="none" normalizeH="0" baseline="0" smtClean="0">
                        <a:ln>
                          <a:noFill/>
                        </a:ln>
                        <a:solidFill>
                          <a:schemeClr val="tx1"/>
                        </a:solidFill>
                        <a:effectLst/>
                        <a:latin typeface="Verdana" pitchFamily="34" charset="0"/>
                        <a:cs typeface="Angsana New" pitchFamily="18" charset="-34"/>
                      </a:endParaRPr>
                    </a:p>
                  </a:txBody>
                  <a:tcPr marT="45702" marB="45702" horzOverflow="overflow"/>
                </a:tc>
                <a:extLst>
                  <a:ext uri="{0D108BD9-81ED-4DB2-BD59-A6C34878D82A}">
                    <a16:rowId xmlns:a16="http://schemas.microsoft.com/office/drawing/2014/main" val="10001"/>
                  </a:ext>
                </a:extLst>
              </a:tr>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2</a:t>
                      </a:r>
                      <a:endParaRPr kumimoji="0" lang="th-TH" sz="2000" b="0" i="0" u="none" strike="noStrike" cap="none" normalizeH="0" baseline="0" smtClean="0">
                        <a:ln>
                          <a:noFill/>
                        </a:ln>
                        <a:solidFill>
                          <a:schemeClr val="tx1"/>
                        </a:solidFill>
                        <a:effectLst/>
                        <a:latin typeface="Verdana" pitchFamily="34" charset="0"/>
                        <a:cs typeface="Angsana New" pitchFamily="18" charset="-34"/>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8</a:t>
                      </a:r>
                      <a:endParaRPr kumimoji="0" lang="th-TH" sz="2000" b="0" i="0" u="none" strike="noStrike" cap="none" normalizeH="0" baseline="0" smtClean="0">
                        <a:ln>
                          <a:noFill/>
                        </a:ln>
                        <a:solidFill>
                          <a:schemeClr val="tx1"/>
                        </a:solidFill>
                        <a:effectLst/>
                        <a:latin typeface="Verdana" pitchFamily="34" charset="0"/>
                        <a:cs typeface="Angsana New" pitchFamily="18" charset="-34"/>
                      </a:endParaRPr>
                    </a:p>
                  </a:txBody>
                  <a:tcPr marT="45702" marB="45702" horzOverflow="overflow"/>
                </a:tc>
                <a:extLst>
                  <a:ext uri="{0D108BD9-81ED-4DB2-BD59-A6C34878D82A}">
                    <a16:rowId xmlns:a16="http://schemas.microsoft.com/office/drawing/2014/main" val="10002"/>
                  </a:ext>
                </a:extLst>
              </a:tr>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5</a:t>
                      </a:r>
                      <a:endParaRPr kumimoji="0" lang="th-TH" sz="2000" b="0" i="0" u="none" strike="noStrike" cap="none" normalizeH="0" baseline="0" smtClean="0">
                        <a:ln>
                          <a:noFill/>
                        </a:ln>
                        <a:solidFill>
                          <a:schemeClr val="tx1"/>
                        </a:solidFill>
                        <a:effectLst/>
                        <a:latin typeface="Verdana" pitchFamily="34" charset="0"/>
                        <a:cs typeface="Angsana New" pitchFamily="18" charset="-34"/>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smtClean="0">
                          <a:ln>
                            <a:noFill/>
                          </a:ln>
                          <a:effectLst/>
                        </a:rPr>
                        <a:t>5</a:t>
                      </a:r>
                      <a:endParaRPr kumimoji="0" lang="th-TH" sz="2000" b="0" i="0" u="none" strike="noStrike" cap="none" normalizeH="0" baseline="0" dirty="0" smtClean="0">
                        <a:ln>
                          <a:noFill/>
                        </a:ln>
                        <a:solidFill>
                          <a:schemeClr val="tx1"/>
                        </a:solidFill>
                        <a:effectLst/>
                        <a:latin typeface="Verdana" pitchFamily="34" charset="0"/>
                        <a:cs typeface="Angsana New" pitchFamily="18" charset="-34"/>
                      </a:endParaRPr>
                    </a:p>
                  </a:txBody>
                  <a:tcPr marT="45702" marB="45702" horzOverflow="overflow"/>
                </a:tc>
                <a:extLst>
                  <a:ext uri="{0D108BD9-81ED-4DB2-BD59-A6C34878D82A}">
                    <a16:rowId xmlns:a16="http://schemas.microsoft.com/office/drawing/2014/main" val="10003"/>
                  </a:ext>
                </a:extLst>
              </a:tr>
            </a:tbl>
          </a:graphicData>
        </a:graphic>
      </p:graphicFrame>
      <p:graphicFrame>
        <p:nvGraphicFramePr>
          <p:cNvPr id="11267" name="Object 28"/>
          <p:cNvGraphicFramePr>
            <a:graphicFrameLocks noChangeAspect="1"/>
          </p:cNvGraphicFramePr>
          <p:nvPr/>
        </p:nvGraphicFramePr>
        <p:xfrm>
          <a:off x="7543800" y="3200400"/>
          <a:ext cx="2286000" cy="501650"/>
        </p:xfrm>
        <a:graphic>
          <a:graphicData uri="http://schemas.openxmlformats.org/presentationml/2006/ole">
            <mc:AlternateContent xmlns:mc="http://schemas.openxmlformats.org/markup-compatibility/2006">
              <mc:Choice xmlns:v="urn:schemas-microsoft-com:vml" Requires="v">
                <p:oleObj spid="_x0000_s11405" name="Equation" r:id="rId5" imgW="1040948" imgH="228501" progId="">
                  <p:embed/>
                </p:oleObj>
              </mc:Choice>
              <mc:Fallback>
                <p:oleObj name="Equation" r:id="rId5" imgW="1040948" imgH="228501" progId="">
                  <p:embed/>
                  <p:pic>
                    <p:nvPicPr>
                      <p:cNvPr id="11267"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3800" y="3200400"/>
                        <a:ext cx="2286000" cy="501650"/>
                      </a:xfrm>
                      <a:prstGeom prst="rect">
                        <a:avLst/>
                      </a:prstGeom>
                      <a:solidFill>
                        <a:srgbClr val="66FF66"/>
                      </a:solidFill>
                    </p:spPr>
                  </p:pic>
                </p:oleObj>
              </mc:Fallback>
            </mc:AlternateContent>
          </a:graphicData>
        </a:graphic>
      </p:graphicFrame>
      <p:sp>
        <p:nvSpPr>
          <p:cNvPr id="8" name="Slide Number Placeholder 7"/>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E453F5A-F4D5-49AD-A1ED-55E342667F3F}" type="slidenum">
              <a:rPr lang="en-US" altLang="en-US">
                <a:solidFill>
                  <a:srgbClr val="898989"/>
                </a:solidFill>
              </a:rPr>
              <a:pPr eaLnBrk="1" hangingPunct="1"/>
              <a:t>33</a:t>
            </a:fld>
            <a:endParaRPr lang="en-US" altLang="en-US">
              <a:solidFill>
                <a:srgbClr val="898989"/>
              </a:solidFill>
            </a:endParaRPr>
          </a:p>
        </p:txBody>
      </p:sp>
    </p:spTree>
    <p:extLst>
      <p:ext uri="{BB962C8B-B14F-4D97-AF65-F5344CB8AC3E}">
        <p14:creationId xmlns:p14="http://schemas.microsoft.com/office/powerpoint/2010/main" val="14586092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normAutofit fontScale="90000"/>
          </a:bodyPr>
          <a:lstStyle/>
          <a:p>
            <a:r>
              <a:rPr lang="en-US" altLang="en-US" sz="4000" b="1" dirty="0" smtClean="0">
                <a:solidFill>
                  <a:schemeClr val="accent2"/>
                </a:solidFill>
              </a:rPr>
              <a:t/>
            </a:r>
            <a:br>
              <a:rPr lang="en-US" altLang="en-US" sz="4000" b="1" dirty="0" smtClean="0">
                <a:solidFill>
                  <a:schemeClr val="accent2"/>
                </a:solidFill>
              </a:rPr>
            </a:br>
            <a:r>
              <a:rPr lang="en-US" altLang="en-US" sz="4000" b="1" dirty="0" smtClean="0">
                <a:solidFill>
                  <a:schemeClr val="accent2"/>
                </a:solidFill>
              </a:rPr>
              <a:t>Collector-Feedback Characteristics </a:t>
            </a:r>
            <a:r>
              <a:rPr lang="th-TH" altLang="en-US" sz="4000" b="1" dirty="0">
                <a:solidFill>
                  <a:schemeClr val="accent2"/>
                </a:solidFill>
              </a:rPr>
              <a:t/>
            </a:r>
            <a:br>
              <a:rPr lang="th-TH" altLang="en-US" sz="4000" b="1" dirty="0">
                <a:solidFill>
                  <a:schemeClr val="accent2"/>
                </a:solidFill>
              </a:rPr>
            </a:br>
            <a:r>
              <a:rPr lang="en-US" altLang="en-US" sz="4000" b="1" dirty="0">
                <a:solidFill>
                  <a:schemeClr val="accent2"/>
                </a:solidFill>
              </a:rPr>
              <a:t/>
            </a:r>
            <a:br>
              <a:rPr lang="en-US" altLang="en-US" sz="4000" b="1" dirty="0">
                <a:solidFill>
                  <a:schemeClr val="accent2"/>
                </a:solidFill>
              </a:rPr>
            </a:br>
            <a:endParaRPr lang="th-TH" altLang="en-US" sz="4000" b="1" dirty="0">
              <a:solidFill>
                <a:schemeClr val="accent2"/>
              </a:solidFill>
            </a:endParaRPr>
          </a:p>
        </p:txBody>
      </p:sp>
      <p:sp>
        <p:nvSpPr>
          <p:cNvPr id="36866" name="Slide Number Placeholder 5"/>
          <p:cNvSpPr>
            <a:spLocks noGrp="1"/>
          </p:cNvSpPr>
          <p:nvPr>
            <p:ph type="sldNum" sz="quarter" idx="12"/>
          </p:nvPr>
        </p:nvSpPr>
        <p:spPr>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2218493-FEB0-4751-9DB1-BBD646F5D7C2}" type="slidenum">
              <a:rPr lang="en-US" altLang="en-US">
                <a:solidFill>
                  <a:srgbClr val="898989"/>
                </a:solidFill>
              </a:rPr>
              <a:pPr eaLnBrk="1" hangingPunct="1"/>
              <a:t>34</a:t>
            </a:fld>
            <a:endParaRPr lang="th-TH" altLang="en-US">
              <a:solidFill>
                <a:srgbClr val="898989"/>
              </a:solidFill>
            </a:endParaRPr>
          </a:p>
        </p:txBody>
      </p:sp>
      <p:graphicFrame>
        <p:nvGraphicFramePr>
          <p:cNvPr id="12290" name="Object 4"/>
          <p:cNvGraphicFramePr>
            <a:graphicFrameLocks noChangeAspect="1"/>
          </p:cNvGraphicFramePr>
          <p:nvPr/>
        </p:nvGraphicFramePr>
        <p:xfrm>
          <a:off x="1676400" y="1600201"/>
          <a:ext cx="4419600" cy="4310063"/>
        </p:xfrm>
        <a:graphic>
          <a:graphicData uri="http://schemas.openxmlformats.org/presentationml/2006/ole">
            <mc:AlternateContent xmlns:mc="http://schemas.openxmlformats.org/markup-compatibility/2006">
              <mc:Choice xmlns:v="urn:schemas-microsoft-com:vml" Requires="v">
                <p:oleObj spid="_x0000_s12359" name="Visio" r:id="rId3" imgW="1459382" imgH="1423111" progId="Visio.Drawing.6">
                  <p:embed/>
                </p:oleObj>
              </mc:Choice>
              <mc:Fallback>
                <p:oleObj name="Visio" r:id="rId3" imgW="1459382" imgH="1423111" progId="Visio.Drawing.6">
                  <p:embed/>
                  <p:pic>
                    <p:nvPicPr>
                      <p:cNvPr id="1229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1600201"/>
                        <a:ext cx="4419600" cy="431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3" name="Text Box 5"/>
          <p:cNvSpPr txBox="1">
            <a:spLocks noChangeArrowheads="1"/>
          </p:cNvSpPr>
          <p:nvPr/>
        </p:nvSpPr>
        <p:spPr bwMode="auto">
          <a:xfrm>
            <a:off x="6400800" y="1981201"/>
            <a:ext cx="3810000" cy="13112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1"/>
              <a:t>Circuit recognition:</a:t>
            </a:r>
            <a:r>
              <a:rPr lang="en-US" altLang="en-US" sz="2000"/>
              <a:t> The base resistor is connected between the base and the collector terminals of the transistor.</a:t>
            </a:r>
            <a:endParaRPr lang="th-TH" altLang="en-US" sz="2000"/>
          </a:p>
        </p:txBody>
      </p:sp>
      <p:sp>
        <p:nvSpPr>
          <p:cNvPr id="12294" name="Text Box 6"/>
          <p:cNvSpPr txBox="1">
            <a:spLocks noChangeArrowheads="1"/>
          </p:cNvSpPr>
          <p:nvPr/>
        </p:nvSpPr>
        <p:spPr bwMode="auto">
          <a:xfrm>
            <a:off x="6400800" y="3429001"/>
            <a:ext cx="3810000" cy="2225675"/>
          </a:xfrm>
          <a:prstGeom prst="rect">
            <a:avLst/>
          </a:prstGeom>
          <a:solidFill>
            <a:srgbClr val="66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1"/>
              <a:t>Advantage:</a:t>
            </a:r>
            <a:r>
              <a:rPr lang="en-US" altLang="en-US" sz="2000"/>
              <a:t> A simple circuit with relatively stable Q-point.</a:t>
            </a:r>
          </a:p>
          <a:p>
            <a:pPr eaLnBrk="1" hangingPunct="1">
              <a:spcBef>
                <a:spcPct val="50000"/>
              </a:spcBef>
            </a:pPr>
            <a:r>
              <a:rPr lang="en-US" altLang="en-US" sz="2000" b="1"/>
              <a:t>Disadvantage:</a:t>
            </a:r>
            <a:r>
              <a:rPr lang="en-US" altLang="en-US" sz="2000"/>
              <a:t> Relatively poor ac characteristics.</a:t>
            </a:r>
          </a:p>
          <a:p>
            <a:pPr eaLnBrk="1" hangingPunct="1">
              <a:spcBef>
                <a:spcPct val="50000"/>
              </a:spcBef>
            </a:pPr>
            <a:r>
              <a:rPr lang="en-US" altLang="en-US" sz="2000" b="1"/>
              <a:t>Applications:</a:t>
            </a:r>
            <a:r>
              <a:rPr lang="en-US" altLang="en-US" sz="2000"/>
              <a:t> Used primarily to bias linear amplifiers.</a:t>
            </a:r>
            <a:endParaRPr lang="th-TH" altLang="en-US" sz="2000"/>
          </a:p>
        </p:txBody>
      </p:sp>
    </p:spTree>
    <p:extLst>
      <p:ext uri="{BB962C8B-B14F-4D97-AF65-F5344CB8AC3E}">
        <p14:creationId xmlns:p14="http://schemas.microsoft.com/office/powerpoint/2010/main" val="407636299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2209800" y="304800"/>
            <a:ext cx="7772400" cy="838200"/>
          </a:xfrm>
        </p:spPr>
        <p:txBody>
          <a:bodyPr/>
          <a:lstStyle/>
          <a:p>
            <a:pPr eaLnBrk="1" hangingPunct="1"/>
            <a:r>
              <a:rPr lang="en-US" altLang="en-US" smtClean="0"/>
              <a:t>The DC Operating Point</a:t>
            </a: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A543962-9389-4AB6-82C1-AB288460C221}" type="slidenum">
              <a:rPr lang="en-US" altLang="en-US">
                <a:solidFill>
                  <a:srgbClr val="898989"/>
                </a:solidFill>
              </a:rPr>
              <a:pPr eaLnBrk="1" hangingPunct="1"/>
              <a:t>35</a:t>
            </a:fld>
            <a:endParaRPr lang="en-US" altLang="en-US">
              <a:solidFill>
                <a:srgbClr val="898989"/>
              </a:solidFill>
            </a:endParaRPr>
          </a:p>
        </p:txBody>
      </p:sp>
      <p:sp>
        <p:nvSpPr>
          <p:cNvPr id="39940" name="Text Box 3"/>
          <p:cNvSpPr txBox="1">
            <a:spLocks noChangeArrowheads="1"/>
          </p:cNvSpPr>
          <p:nvPr/>
        </p:nvSpPr>
        <p:spPr bwMode="auto">
          <a:xfrm>
            <a:off x="2362200" y="1295400"/>
            <a:ext cx="76962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Char char="•"/>
            </a:pPr>
            <a:r>
              <a:rPr lang="en-US" altLang="en-US" sz="2400">
                <a:latin typeface="Calibri" panose="020F0502020204030204" pitchFamily="34" charset="0"/>
              </a:rPr>
              <a:t> The goal of amplification in most cases is to increase the amplitude of an ac signal without altering it. </a:t>
            </a:r>
          </a:p>
          <a:p>
            <a:pPr eaLnBrk="1" hangingPunct="1">
              <a:spcBef>
                <a:spcPct val="50000"/>
              </a:spcBef>
              <a:buFontTx/>
              <a:buChar char="•"/>
            </a:pPr>
            <a:r>
              <a:rPr lang="en-US" altLang="en-US" sz="2400">
                <a:latin typeface="Calibri" panose="020F0502020204030204" pitchFamily="34" charset="0"/>
              </a:rPr>
              <a:t> Improper biasing can cause distortion in the output signal.</a:t>
            </a:r>
          </a:p>
        </p:txBody>
      </p:sp>
      <p:pic>
        <p:nvPicPr>
          <p:cNvPr id="39941" name="Picture 4"/>
          <p:cNvPicPr>
            <a:picLocks noChangeAspect="1" noChangeArrowheads="1"/>
          </p:cNvPicPr>
          <p:nvPr/>
        </p:nvPicPr>
        <p:blipFill>
          <a:blip r:embed="rId3">
            <a:extLst>
              <a:ext uri="{28A0092B-C50C-407E-A947-70E740481C1C}">
                <a14:useLocalDpi xmlns:a14="http://schemas.microsoft.com/office/drawing/2010/main" val="0"/>
              </a:ext>
            </a:extLst>
          </a:blip>
          <a:srcRect t="19559" b="23396"/>
          <a:stretch>
            <a:fillRect/>
          </a:stretch>
        </p:blipFill>
        <p:spPr bwMode="auto">
          <a:xfrm>
            <a:off x="2590800" y="2971800"/>
            <a:ext cx="70104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7393132"/>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2209800" y="228600"/>
            <a:ext cx="7772400" cy="1143000"/>
          </a:xfrm>
        </p:spPr>
        <p:txBody>
          <a:bodyPr/>
          <a:lstStyle/>
          <a:p>
            <a:pPr eaLnBrk="1" hangingPunct="1"/>
            <a:r>
              <a:rPr lang="en-US" altLang="en-US" sz="4000"/>
              <a:t>The DC Operating Point</a:t>
            </a:r>
          </a:p>
        </p:txBody>
      </p:sp>
      <p:sp>
        <p:nvSpPr>
          <p:cNvPr id="7" name="Slide Number Placeholder 6"/>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CA43D71-7DB8-4CE7-B1E9-FB0483D57528}" type="slidenum">
              <a:rPr lang="en-US" altLang="en-US">
                <a:solidFill>
                  <a:srgbClr val="898989"/>
                </a:solidFill>
              </a:rPr>
              <a:pPr eaLnBrk="1" hangingPunct="1"/>
              <a:t>36</a:t>
            </a:fld>
            <a:endParaRPr lang="en-US" altLang="en-US">
              <a:solidFill>
                <a:srgbClr val="898989"/>
              </a:solidFill>
            </a:endParaRPr>
          </a:p>
        </p:txBody>
      </p:sp>
      <p:sp>
        <p:nvSpPr>
          <p:cNvPr id="16387" name="Rectangle 3"/>
          <p:cNvSpPr>
            <a:spLocks noChangeArrowheads="1"/>
          </p:cNvSpPr>
          <p:nvPr/>
        </p:nvSpPr>
        <p:spPr bwMode="auto">
          <a:xfrm>
            <a:off x="2057400" y="1219200"/>
            <a:ext cx="8001000" cy="2308324"/>
          </a:xfrm>
          <a:prstGeom prst="rect">
            <a:avLst/>
          </a:prstGeom>
          <a:noFill/>
          <a:ln w="9525">
            <a:noFill/>
            <a:miter lim="800000"/>
            <a:headEnd/>
            <a:tailEnd/>
          </a:ln>
        </p:spPr>
        <p:txBody>
          <a:bodyPr>
            <a:spAutoFit/>
          </a:bodyPr>
          <a:lstStyle/>
          <a:p>
            <a:pPr>
              <a:spcBef>
                <a:spcPct val="50000"/>
              </a:spcBef>
              <a:defRPr/>
            </a:pPr>
            <a:r>
              <a:rPr lang="en-US" altLang="en-US" sz="2400" dirty="0">
                <a:solidFill>
                  <a:schemeClr val="tx1">
                    <a:lumMod val="95000"/>
                    <a:lumOff val="5000"/>
                  </a:schemeClr>
                </a:solidFill>
              </a:rPr>
              <a:t>The purpose of biasing a circuit is to establish a proper stable dc operating point (Q-point). The dc operating point between saturation and cutoff is called the </a:t>
            </a:r>
            <a:r>
              <a:rPr lang="en-US" altLang="en-US" sz="2400" b="1" dirty="0">
                <a:solidFill>
                  <a:schemeClr val="tx1">
                    <a:lumMod val="95000"/>
                    <a:lumOff val="5000"/>
                  </a:schemeClr>
                </a:solidFill>
              </a:rPr>
              <a:t>Q-point. </a:t>
            </a:r>
            <a:r>
              <a:rPr lang="en-US" altLang="en-US" sz="2400" dirty="0">
                <a:solidFill>
                  <a:schemeClr val="tx1">
                    <a:lumMod val="95000"/>
                    <a:lumOff val="5000"/>
                  </a:schemeClr>
                </a:solidFill>
              </a:rPr>
              <a:t>The goal is to set the Q-point such that that it does not go into saturation or cutoff when an ac signal is applied. </a:t>
            </a:r>
          </a:p>
        </p:txBody>
      </p:sp>
      <p:pic>
        <p:nvPicPr>
          <p:cNvPr id="4096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429000"/>
            <a:ext cx="403225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6"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3429001"/>
            <a:ext cx="3943350"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0093862"/>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677334" y="609600"/>
            <a:ext cx="8923866" cy="1320800"/>
          </a:xfrm>
        </p:spPr>
        <p:txBody>
          <a:bodyPr rtlCol="0">
            <a:normAutofit/>
          </a:bodyPr>
          <a:lstStyle/>
          <a:p>
            <a:pPr marL="2462213" indent="-2462213">
              <a:defRPr/>
            </a:pPr>
            <a:r>
              <a:rPr lang="en-US" dirty="0" smtClean="0"/>
              <a:t>Optimum </a:t>
            </a:r>
            <a:r>
              <a:rPr lang="en-US" dirty="0"/>
              <a:t>Q-point with amplifier operation.</a:t>
            </a:r>
            <a:endParaRPr lang="th-TH" dirty="0"/>
          </a:p>
        </p:txBody>
      </p:sp>
      <p:sp>
        <p:nvSpPr>
          <p:cNvPr id="8194" name="Slide Number Placeholder 5"/>
          <p:cNvSpPr>
            <a:spLocks noGrp="1"/>
          </p:cNvSpPr>
          <p:nvPr>
            <p:ph type="sldNum" sz="quarter" idx="12"/>
          </p:nvPr>
        </p:nvSpPr>
        <p:spPr>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118E755-6B7E-42BD-9F5F-B36A268CEF86}" type="slidenum">
              <a:rPr lang="en-US" altLang="en-US">
                <a:solidFill>
                  <a:srgbClr val="898989"/>
                </a:solidFill>
              </a:rPr>
              <a:pPr eaLnBrk="1" hangingPunct="1"/>
              <a:t>37</a:t>
            </a:fld>
            <a:endParaRPr lang="th-TH" altLang="en-US">
              <a:solidFill>
                <a:srgbClr val="898989"/>
              </a:solidFill>
            </a:endParaRPr>
          </a:p>
        </p:txBody>
      </p:sp>
      <p:graphicFrame>
        <p:nvGraphicFramePr>
          <p:cNvPr id="13314" name="Object 25"/>
          <p:cNvGraphicFramePr>
            <a:graphicFrameLocks noChangeAspect="1"/>
          </p:cNvGraphicFramePr>
          <p:nvPr/>
        </p:nvGraphicFramePr>
        <p:xfrm>
          <a:off x="2057400" y="2590800"/>
          <a:ext cx="1143000" cy="490538"/>
        </p:xfrm>
        <a:graphic>
          <a:graphicData uri="http://schemas.openxmlformats.org/presentationml/2006/ole">
            <mc:AlternateContent xmlns:mc="http://schemas.openxmlformats.org/markup-compatibility/2006">
              <mc:Choice xmlns:v="urn:schemas-microsoft-com:vml" Requires="v">
                <p:oleObj spid="_x0000_s13521" name="Equation" r:id="rId3" imgW="533169" imgH="228501" progId="">
                  <p:embed/>
                </p:oleObj>
              </mc:Choice>
              <mc:Fallback>
                <p:oleObj name="Equation" r:id="rId3" imgW="533169" imgH="228501" progId="">
                  <p:embed/>
                  <p:pic>
                    <p:nvPicPr>
                      <p:cNvPr id="13314"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590800"/>
                        <a:ext cx="1143000" cy="490538"/>
                      </a:xfrm>
                      <a:prstGeom prst="rect">
                        <a:avLst/>
                      </a:prstGeom>
                      <a:solidFill>
                        <a:srgbClr val="66FF66"/>
                      </a:solidFill>
                    </p:spPr>
                  </p:pic>
                </p:oleObj>
              </mc:Fallback>
            </mc:AlternateContent>
          </a:graphicData>
        </a:graphic>
      </p:graphicFrame>
      <p:graphicFrame>
        <p:nvGraphicFramePr>
          <p:cNvPr id="13315" name="Object 27"/>
          <p:cNvGraphicFramePr>
            <a:graphicFrameLocks noChangeAspect="1"/>
          </p:cNvGraphicFramePr>
          <p:nvPr/>
        </p:nvGraphicFramePr>
        <p:xfrm>
          <a:off x="6400800" y="5943600"/>
          <a:ext cx="2209800" cy="484188"/>
        </p:xfrm>
        <a:graphic>
          <a:graphicData uri="http://schemas.openxmlformats.org/presentationml/2006/ole">
            <mc:AlternateContent xmlns:mc="http://schemas.openxmlformats.org/markup-compatibility/2006">
              <mc:Choice xmlns:v="urn:schemas-microsoft-com:vml" Requires="v">
                <p:oleObj spid="_x0000_s13522" name="Equation" r:id="rId5" imgW="1040948" imgH="228501" progId="">
                  <p:embed/>
                </p:oleObj>
              </mc:Choice>
              <mc:Fallback>
                <p:oleObj name="Equation" r:id="rId5" imgW="1040948" imgH="228501" progId="">
                  <p:embed/>
                  <p:pic>
                    <p:nvPicPr>
                      <p:cNvPr id="13315"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00800" y="5943600"/>
                        <a:ext cx="2209800" cy="484188"/>
                      </a:xfrm>
                      <a:prstGeom prst="rect">
                        <a:avLst/>
                      </a:prstGeom>
                      <a:solidFill>
                        <a:srgbClr val="66FF66"/>
                      </a:solidFill>
                    </p:spPr>
                  </p:pic>
                </p:oleObj>
              </mc:Fallback>
            </mc:AlternateContent>
          </a:graphicData>
        </a:graphic>
      </p:graphicFrame>
      <p:graphicFrame>
        <p:nvGraphicFramePr>
          <p:cNvPr id="13316" name="Object 28"/>
          <p:cNvGraphicFramePr>
            <a:graphicFrameLocks noChangeAspect="1"/>
          </p:cNvGraphicFramePr>
          <p:nvPr/>
        </p:nvGraphicFramePr>
        <p:xfrm>
          <a:off x="1981200" y="1600200"/>
          <a:ext cx="7924800" cy="5106988"/>
        </p:xfrm>
        <a:graphic>
          <a:graphicData uri="http://schemas.openxmlformats.org/presentationml/2006/ole">
            <mc:AlternateContent xmlns:mc="http://schemas.openxmlformats.org/markup-compatibility/2006">
              <mc:Choice xmlns:v="urn:schemas-microsoft-com:vml" Requires="v">
                <p:oleObj spid="_x0000_s13523" name="Visio" r:id="rId7" imgW="2884322" imgH="1858670" progId="">
                  <p:embed/>
                </p:oleObj>
              </mc:Choice>
              <mc:Fallback>
                <p:oleObj name="Visio" r:id="rId7" imgW="2884322" imgH="1858670" progId="">
                  <p:embed/>
                  <p:pic>
                    <p:nvPicPr>
                      <p:cNvPr id="13316"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1200" y="1600200"/>
                        <a:ext cx="7924800" cy="510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0058174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2209800" y="381000"/>
            <a:ext cx="7772400" cy="914400"/>
          </a:xfrm>
        </p:spPr>
        <p:txBody>
          <a:bodyPr/>
          <a:lstStyle/>
          <a:p>
            <a:pPr eaLnBrk="1" hangingPunct="1"/>
            <a:r>
              <a:rPr lang="en-US" altLang="en-US" u="sng" smtClean="0"/>
              <a:t>Example 1</a:t>
            </a:r>
          </a:p>
        </p:txBody>
      </p:sp>
      <p:sp>
        <p:nvSpPr>
          <p:cNvPr id="41987" name="Rectangle 3"/>
          <p:cNvSpPr>
            <a:spLocks noGrp="1" noChangeArrowheads="1"/>
          </p:cNvSpPr>
          <p:nvPr>
            <p:ph idx="1"/>
          </p:nvPr>
        </p:nvSpPr>
        <p:spPr>
          <a:xfrm>
            <a:off x="1981200" y="1295401"/>
            <a:ext cx="8229600" cy="4830763"/>
          </a:xfrm>
        </p:spPr>
        <p:txBody>
          <a:bodyPr/>
          <a:lstStyle/>
          <a:p>
            <a:pPr eaLnBrk="1" hangingPunct="1"/>
            <a:r>
              <a:rPr lang="en-US" altLang="en-US" sz="2400"/>
              <a:t>Determine Q-point in figure below and find the maximum peak value of base current for linear operation. Assume </a:t>
            </a:r>
            <a:r>
              <a:rPr lang="el-GR" altLang="en-US" sz="2400">
                <a:cs typeface="Times New Roman" panose="02020603050405020304" pitchFamily="18" charset="0"/>
              </a:rPr>
              <a:t>β</a:t>
            </a:r>
            <a:r>
              <a:rPr lang="en-US" altLang="en-US" sz="2400" baseline="-25000">
                <a:cs typeface="Times New Roman" panose="02020603050405020304" pitchFamily="18" charset="0"/>
              </a:rPr>
              <a:t>DC</a:t>
            </a:r>
            <a:r>
              <a:rPr lang="en-US" altLang="en-US" sz="2400">
                <a:cs typeface="Times New Roman" panose="02020603050405020304" pitchFamily="18" charset="0"/>
              </a:rPr>
              <a:t>=200.</a:t>
            </a:r>
            <a:endParaRPr lang="el-GR" altLang="en-US" sz="2400">
              <a:cs typeface="Times New Roman" panose="02020603050405020304" pitchFamily="18" charset="0"/>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8AC8A06-630D-49AC-A60D-9706186F1C05}" type="slidenum">
              <a:rPr lang="en-US" altLang="en-US">
                <a:solidFill>
                  <a:srgbClr val="898989"/>
                </a:solidFill>
              </a:rPr>
              <a:pPr eaLnBrk="1" hangingPunct="1"/>
              <a:t>38</a:t>
            </a:fld>
            <a:endParaRPr lang="en-US" altLang="en-US">
              <a:solidFill>
                <a:srgbClr val="898989"/>
              </a:solidFill>
            </a:endParaRPr>
          </a:p>
        </p:txBody>
      </p:sp>
      <p:pic>
        <p:nvPicPr>
          <p:cNvPr id="4198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5824" y="2514601"/>
            <a:ext cx="5950014"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3351231"/>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a:xfrm>
            <a:off x="2209800" y="609600"/>
            <a:ext cx="7772400" cy="685800"/>
          </a:xfrm>
        </p:spPr>
        <p:txBody>
          <a:bodyPr rtlCol="0">
            <a:normAutofit/>
          </a:bodyPr>
          <a:lstStyle/>
          <a:p>
            <a:pPr>
              <a:defRPr/>
            </a:pPr>
            <a:r>
              <a:rPr lang="en-US" u="sng" smtClean="0"/>
              <a:t>Solution</a:t>
            </a:r>
            <a:r>
              <a:rPr lang="en-US" smtClean="0"/>
              <a:t> </a:t>
            </a:r>
          </a:p>
        </p:txBody>
      </p:sp>
      <p:sp>
        <p:nvSpPr>
          <p:cNvPr id="14344" name="Rectangle 3"/>
          <p:cNvSpPr>
            <a:spLocks noGrp="1" noChangeArrowheads="1"/>
          </p:cNvSpPr>
          <p:nvPr>
            <p:ph idx="1"/>
          </p:nvPr>
        </p:nvSpPr>
        <p:spPr>
          <a:xfrm>
            <a:off x="1981200" y="1295400"/>
            <a:ext cx="8229600" cy="5181600"/>
          </a:xfrm>
        </p:spPr>
        <p:txBody>
          <a:bodyPr>
            <a:normAutofit lnSpcReduction="10000"/>
          </a:bodyPr>
          <a:lstStyle/>
          <a:p>
            <a:pPr eaLnBrk="1" hangingPunct="1"/>
            <a:r>
              <a:rPr lang="en-US" altLang="en-US" sz="2400"/>
              <a:t>Q-point is defined by values of IC and VCE.</a:t>
            </a:r>
          </a:p>
          <a:p>
            <a:pPr eaLnBrk="1" hangingPunct="1"/>
            <a:endParaRPr lang="en-US" altLang="en-US" sz="2400"/>
          </a:p>
          <a:p>
            <a:pPr eaLnBrk="1" hangingPunct="1"/>
            <a:endParaRPr lang="en-US" altLang="en-US" sz="2400"/>
          </a:p>
          <a:p>
            <a:pPr eaLnBrk="1" hangingPunct="1"/>
            <a:endParaRPr lang="en-US" altLang="en-US" sz="2400"/>
          </a:p>
          <a:p>
            <a:pPr eaLnBrk="1" hangingPunct="1"/>
            <a:endParaRPr lang="en-US" altLang="en-US" sz="2400"/>
          </a:p>
          <a:p>
            <a:pPr eaLnBrk="1" hangingPunct="1"/>
            <a:r>
              <a:rPr lang="en-US" altLang="en-US" sz="2400"/>
              <a:t>Q-point is at IC=39.6mA and VCE=6.93V. Since IC(cutoff)=0, we need to know IC(sat) to determine variation in IC can occur and still in linear operation. </a:t>
            </a:r>
          </a:p>
          <a:p>
            <a:pPr eaLnBrk="1" hangingPunct="1"/>
            <a:endParaRPr lang="en-US" altLang="en-US" sz="2400"/>
          </a:p>
          <a:p>
            <a:pPr eaLnBrk="1" hangingPunct="1"/>
            <a:endParaRPr lang="en-US" altLang="en-US" sz="2400"/>
          </a:p>
          <a:p>
            <a:pPr eaLnBrk="1" hangingPunct="1"/>
            <a:r>
              <a:rPr lang="en-US" altLang="en-US" sz="2400"/>
              <a:t>Before saturation is reached, IC can increase an amount equal to: IC(sat) – ICQ = 60.6mA – 39.6mA = 21mA.</a:t>
            </a:r>
          </a:p>
        </p:txBody>
      </p:sp>
      <p:sp>
        <p:nvSpPr>
          <p:cNvPr id="12" name="Slide Number Placeholder 11"/>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3FE8833-8F3F-4353-9A8B-13F7BBC951B8}" type="slidenum">
              <a:rPr lang="en-US" altLang="en-US">
                <a:solidFill>
                  <a:srgbClr val="898989"/>
                </a:solidFill>
              </a:rPr>
              <a:pPr eaLnBrk="1" hangingPunct="1"/>
              <a:t>39</a:t>
            </a:fld>
            <a:endParaRPr lang="en-US" altLang="en-US">
              <a:solidFill>
                <a:srgbClr val="898989"/>
              </a:solidFill>
            </a:endParaRPr>
          </a:p>
        </p:txBody>
      </p:sp>
      <p:sp>
        <p:nvSpPr>
          <p:cNvPr id="14346" name="Rectangle 5"/>
          <p:cNvSpPr>
            <a:spLocks noChangeArrowheads="1"/>
          </p:cNvSpPr>
          <p:nvPr/>
        </p:nvSpPr>
        <p:spPr bwMode="auto">
          <a:xfrm>
            <a:off x="1524001" y="30204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aphicFrame>
        <p:nvGraphicFramePr>
          <p:cNvPr id="14338" name="Object 4"/>
          <p:cNvGraphicFramePr>
            <a:graphicFrameLocks noChangeAspect="1"/>
          </p:cNvGraphicFramePr>
          <p:nvPr/>
        </p:nvGraphicFramePr>
        <p:xfrm>
          <a:off x="4038600" y="1752600"/>
          <a:ext cx="3962400" cy="762000"/>
        </p:xfrm>
        <a:graphic>
          <a:graphicData uri="http://schemas.openxmlformats.org/presentationml/2006/ole">
            <mc:AlternateContent xmlns:mc="http://schemas.openxmlformats.org/markup-compatibility/2006">
              <mc:Choice xmlns:v="urn:schemas-microsoft-com:vml" Requires="v">
                <p:oleObj spid="_x0000_s14614" name="Equation" r:id="rId4" imgW="2260600" imgH="444500" progId="Equation.3">
                  <p:embed/>
                </p:oleObj>
              </mc:Choice>
              <mc:Fallback>
                <p:oleObj name="Equation" r:id="rId4" imgW="2260600" imgH="444500" progId="Equation.3">
                  <p:embed/>
                  <p:pic>
                    <p:nvPicPr>
                      <p:cNvPr id="1433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0" y="1752600"/>
                        <a:ext cx="396240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7" name="Rectangle 7"/>
          <p:cNvSpPr>
            <a:spLocks noChangeArrowheads="1"/>
          </p:cNvSpPr>
          <p:nvPr/>
        </p:nvSpPr>
        <p:spPr bwMode="auto">
          <a:xfrm>
            <a:off x="1524001" y="31300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aphicFrame>
        <p:nvGraphicFramePr>
          <p:cNvPr id="14339" name="Object 6"/>
          <p:cNvGraphicFramePr>
            <a:graphicFrameLocks noChangeAspect="1"/>
          </p:cNvGraphicFramePr>
          <p:nvPr/>
        </p:nvGraphicFramePr>
        <p:xfrm>
          <a:off x="4038600" y="2590800"/>
          <a:ext cx="4114800" cy="381000"/>
        </p:xfrm>
        <a:graphic>
          <a:graphicData uri="http://schemas.openxmlformats.org/presentationml/2006/ole">
            <mc:AlternateContent xmlns:mc="http://schemas.openxmlformats.org/markup-compatibility/2006">
              <mc:Choice xmlns:v="urn:schemas-microsoft-com:vml" Requires="v">
                <p:oleObj spid="_x0000_s14615" name="Equation" r:id="rId6" imgW="2273300" imgH="228600" progId="Equation.3">
                  <p:embed/>
                </p:oleObj>
              </mc:Choice>
              <mc:Fallback>
                <p:oleObj name="Equation" r:id="rId6" imgW="2273300" imgH="228600" progId="Equation.3">
                  <p:embed/>
                  <p:pic>
                    <p:nvPicPr>
                      <p:cNvPr id="14339"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38600" y="2590800"/>
                        <a:ext cx="41148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0" name="Object 8"/>
          <p:cNvGraphicFramePr>
            <a:graphicFrameLocks noChangeAspect="1"/>
          </p:cNvGraphicFramePr>
          <p:nvPr/>
        </p:nvGraphicFramePr>
        <p:xfrm>
          <a:off x="3581400" y="3048000"/>
          <a:ext cx="5334000" cy="381000"/>
        </p:xfrm>
        <a:graphic>
          <a:graphicData uri="http://schemas.openxmlformats.org/presentationml/2006/ole">
            <mc:AlternateContent xmlns:mc="http://schemas.openxmlformats.org/markup-compatibility/2006">
              <mc:Choice xmlns:v="urn:schemas-microsoft-com:vml" Requires="v">
                <p:oleObj spid="_x0000_s14616" name="Equation" r:id="rId8" imgW="3340100" imgH="228600" progId="Equation.3">
                  <p:embed/>
                </p:oleObj>
              </mc:Choice>
              <mc:Fallback>
                <p:oleObj name="Equation" r:id="rId8" imgW="3340100" imgH="228600" progId="Equation.3">
                  <p:embed/>
                  <p:pic>
                    <p:nvPicPr>
                      <p:cNvPr id="1434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81400" y="3048000"/>
                        <a:ext cx="5334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8" name="Rectangle 11"/>
          <p:cNvSpPr>
            <a:spLocks noChangeArrowheads="1"/>
          </p:cNvSpPr>
          <p:nvPr/>
        </p:nvSpPr>
        <p:spPr bwMode="auto">
          <a:xfrm>
            <a:off x="1524001" y="30204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aphicFrame>
        <p:nvGraphicFramePr>
          <p:cNvPr id="14341" name="Object 10"/>
          <p:cNvGraphicFramePr>
            <a:graphicFrameLocks noChangeAspect="1"/>
          </p:cNvGraphicFramePr>
          <p:nvPr/>
        </p:nvGraphicFramePr>
        <p:xfrm>
          <a:off x="4343400" y="4800600"/>
          <a:ext cx="3124200" cy="762000"/>
        </p:xfrm>
        <a:graphic>
          <a:graphicData uri="http://schemas.openxmlformats.org/presentationml/2006/ole">
            <mc:AlternateContent xmlns:mc="http://schemas.openxmlformats.org/markup-compatibility/2006">
              <mc:Choice xmlns:v="urn:schemas-microsoft-com:vml" Requires="v">
                <p:oleObj spid="_x0000_s14617" name="Equation" r:id="rId10" imgW="1892300" imgH="444500" progId="Equation.3">
                  <p:embed/>
                </p:oleObj>
              </mc:Choice>
              <mc:Fallback>
                <p:oleObj name="Equation" r:id="rId10" imgW="1892300" imgH="444500" progId="Equation.3">
                  <p:embed/>
                  <p:pic>
                    <p:nvPicPr>
                      <p:cNvPr id="14341"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43400" y="4800600"/>
                        <a:ext cx="312420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61377739"/>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a:xfrm>
            <a:off x="2209800" y="304800"/>
            <a:ext cx="7772400" cy="1143000"/>
          </a:xfrm>
        </p:spPr>
        <p:txBody>
          <a:bodyPr/>
          <a:lstStyle/>
          <a:p>
            <a:pPr eaLnBrk="1" hangingPunct="1"/>
            <a:r>
              <a:rPr lang="en-US" altLang="en-US" u="sng" smtClean="0"/>
              <a:t>Solution cont..</a:t>
            </a:r>
          </a:p>
        </p:txBody>
      </p:sp>
      <p:sp>
        <p:nvSpPr>
          <p:cNvPr id="15365" name="Rectangle 3"/>
          <p:cNvSpPr>
            <a:spLocks noGrp="1" noChangeArrowheads="1"/>
          </p:cNvSpPr>
          <p:nvPr>
            <p:ph idx="1"/>
          </p:nvPr>
        </p:nvSpPr>
        <p:spPr>
          <a:xfrm>
            <a:off x="1981200" y="1219201"/>
            <a:ext cx="8229600" cy="4906963"/>
          </a:xfrm>
        </p:spPr>
        <p:txBody>
          <a:bodyPr/>
          <a:lstStyle/>
          <a:p>
            <a:pPr eaLnBrk="1" hangingPunct="1"/>
            <a:r>
              <a:rPr lang="en-US" altLang="en-US" sz="2400"/>
              <a:t>However, I</a:t>
            </a:r>
            <a:r>
              <a:rPr lang="en-US" altLang="en-US" sz="2400" baseline="-25000"/>
              <a:t>C</a:t>
            </a:r>
            <a:r>
              <a:rPr lang="en-US" altLang="en-US" sz="2400"/>
              <a:t> can decrease by 39.6mA before cutoff (I</a:t>
            </a:r>
            <a:r>
              <a:rPr lang="en-US" altLang="en-US" sz="2400" baseline="-25000"/>
              <a:t>C</a:t>
            </a:r>
            <a:r>
              <a:rPr lang="en-US" altLang="en-US" sz="2400"/>
              <a:t>=0) is reached. Since the gap of Q-point with saturation point is less than gap between Q-point and cutoff, so 21mA is the max peak variation of I</a:t>
            </a:r>
            <a:r>
              <a:rPr lang="en-US" altLang="en-US" sz="2400" baseline="-25000"/>
              <a:t>C</a:t>
            </a:r>
            <a:r>
              <a:rPr lang="en-US" altLang="en-US" sz="2400"/>
              <a:t>. </a:t>
            </a:r>
          </a:p>
          <a:p>
            <a:pPr eaLnBrk="1" hangingPunct="1"/>
            <a:r>
              <a:rPr lang="en-US" altLang="en-US" sz="2400"/>
              <a:t>The max peak variation of I</a:t>
            </a:r>
            <a:r>
              <a:rPr lang="en-US" altLang="en-US" sz="2400" baseline="-25000"/>
              <a:t>B</a:t>
            </a:r>
            <a:r>
              <a:rPr lang="en-US" altLang="en-US" sz="2400"/>
              <a:t> is:</a:t>
            </a:r>
          </a:p>
          <a:p>
            <a:pPr eaLnBrk="1" hangingPunct="1"/>
            <a:endParaRPr lang="en-US" altLang="en-US" sz="2400"/>
          </a:p>
        </p:txBody>
      </p:sp>
      <p:sp>
        <p:nvSpPr>
          <p:cNvPr id="8" name="Slide Number Placeholder 7"/>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3C6D64B-9ADF-4F20-9D6A-FD517BD2E0EB}" type="slidenum">
              <a:rPr lang="en-US" altLang="en-US">
                <a:solidFill>
                  <a:srgbClr val="898989"/>
                </a:solidFill>
              </a:rPr>
              <a:pPr eaLnBrk="1" hangingPunct="1"/>
              <a:t>40</a:t>
            </a:fld>
            <a:endParaRPr lang="en-US" altLang="en-US">
              <a:solidFill>
                <a:srgbClr val="898989"/>
              </a:solidFill>
            </a:endParaRPr>
          </a:p>
        </p:txBody>
      </p:sp>
      <p:sp>
        <p:nvSpPr>
          <p:cNvPr id="15367" name="Rectangle 5"/>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aphicFrame>
        <p:nvGraphicFramePr>
          <p:cNvPr id="15362" name="Object 4"/>
          <p:cNvGraphicFramePr>
            <a:graphicFrameLocks noChangeAspect="1"/>
          </p:cNvGraphicFramePr>
          <p:nvPr/>
        </p:nvGraphicFramePr>
        <p:xfrm>
          <a:off x="2133600" y="3276600"/>
          <a:ext cx="4267200" cy="914400"/>
        </p:xfrm>
        <a:graphic>
          <a:graphicData uri="http://schemas.openxmlformats.org/presentationml/2006/ole">
            <mc:AlternateContent xmlns:mc="http://schemas.openxmlformats.org/markup-compatibility/2006">
              <mc:Choice xmlns:v="urn:schemas-microsoft-com:vml" Requires="v">
                <p:oleObj spid="_x0000_s15431" name="Equation" r:id="rId4" imgW="2108200" imgH="457200" progId="Equation.3">
                  <p:embed/>
                </p:oleObj>
              </mc:Choice>
              <mc:Fallback>
                <p:oleObj name="Equation" r:id="rId4" imgW="2108200" imgH="457200" progId="Equation.3">
                  <p:embed/>
                  <p:pic>
                    <p:nvPicPr>
                      <p:cNvPr id="1536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3276600"/>
                        <a:ext cx="42672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5368"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3200" y="2743200"/>
            <a:ext cx="41148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0883652"/>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205</TotalTime>
  <Words>1874</Words>
  <Application>Microsoft Office PowerPoint</Application>
  <PresentationFormat>Widescreen</PresentationFormat>
  <Paragraphs>227</Paragraphs>
  <Slides>40</Slides>
  <Notes>15</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2</vt:i4>
      </vt:variant>
      <vt:variant>
        <vt:lpstr>Slide Titles</vt:lpstr>
      </vt:variant>
      <vt:variant>
        <vt:i4>40</vt:i4>
      </vt:variant>
    </vt:vector>
  </HeadingPairs>
  <TitlesOfParts>
    <vt:vector size="55" baseType="lpstr">
      <vt:lpstr>微軟正黑體</vt:lpstr>
      <vt:lpstr>Angsana New</vt:lpstr>
      <vt:lpstr>Arial</vt:lpstr>
      <vt:lpstr>Calibri</vt:lpstr>
      <vt:lpstr>Cordia New</vt:lpstr>
      <vt:lpstr>Courier New</vt:lpstr>
      <vt:lpstr>Symbol</vt:lpstr>
      <vt:lpstr>Tahoma</vt:lpstr>
      <vt:lpstr>Times New Roman</vt:lpstr>
      <vt:lpstr>Trebuchet MS</vt:lpstr>
      <vt:lpstr>Verdana</vt:lpstr>
      <vt:lpstr>Wingdings 3</vt:lpstr>
      <vt:lpstr>Facet</vt:lpstr>
      <vt:lpstr>Equation</vt:lpstr>
      <vt:lpstr>Visio</vt:lpstr>
      <vt:lpstr>                                          L3  BIASING CIRCUITS,LOAD  LINE &amp; Q POINT  </vt:lpstr>
      <vt:lpstr>Voltage-Divider Bias</vt:lpstr>
      <vt:lpstr>      Voltage Divider Bias</vt:lpstr>
      <vt:lpstr>Input Resistance At Transistor Base</vt:lpstr>
      <vt:lpstr>Analysis of Voltage-Divider Bias Circuit</vt:lpstr>
      <vt:lpstr>Analysis of voltage divider bias circuit</vt:lpstr>
      <vt:lpstr>Analysis of Voltage-Divider Bias Circuit</vt:lpstr>
      <vt:lpstr>Voltage-divider bias characteristics. </vt:lpstr>
      <vt:lpstr>Example </vt:lpstr>
      <vt:lpstr>Solution </vt:lpstr>
      <vt:lpstr>Voltage-Divider Bias for PNP Transistor</vt:lpstr>
      <vt:lpstr>Analysis of voltage bias for pnp transistor</vt:lpstr>
      <vt:lpstr>                     Load Line</vt:lpstr>
      <vt:lpstr>             Load Line Analysis        </vt:lpstr>
      <vt:lpstr>             DC Load Line Of Transistor       </vt:lpstr>
      <vt:lpstr>Procedure to Draw DC Load Line</vt:lpstr>
      <vt:lpstr>PowerPoint Presentation</vt:lpstr>
      <vt:lpstr>PowerPoint Presentation</vt:lpstr>
      <vt:lpstr>PowerPoint Presentation</vt:lpstr>
      <vt:lpstr>     AC Load Line Of A Transistor</vt:lpstr>
      <vt:lpstr>Ac Load Line Of A Transistor</vt:lpstr>
      <vt:lpstr>PowerPoint Presentation</vt:lpstr>
      <vt:lpstr>             Fixed Biased Circuit  fixed biasing is a type of bias where base current is maintained constant for given Vcc by using fixed resistor. so operating point must remain fixed. using this two resistor and fixed current, initial operating point has to found.</vt:lpstr>
      <vt:lpstr>PowerPoint Presentation</vt:lpstr>
      <vt:lpstr>                Example </vt:lpstr>
      <vt:lpstr>         Base bias characteristics. </vt:lpstr>
      <vt:lpstr>                Emitter Biased Circuit</vt:lpstr>
      <vt:lpstr>           Load Line and Q-point</vt:lpstr>
      <vt:lpstr>PowerPoint Presentation</vt:lpstr>
      <vt:lpstr>PowerPoint Presentation</vt:lpstr>
      <vt:lpstr> Emitter-bias characteristics. </vt:lpstr>
      <vt:lpstr>PowerPoint Presentation</vt:lpstr>
      <vt:lpstr>PowerPoint Presentation</vt:lpstr>
      <vt:lpstr> Collector-Feedback Characteristics   </vt:lpstr>
      <vt:lpstr>The DC Operating Point</vt:lpstr>
      <vt:lpstr>The DC Operating Point</vt:lpstr>
      <vt:lpstr>Optimum Q-point with amplifier operation.</vt:lpstr>
      <vt:lpstr>Example 1</vt:lpstr>
      <vt:lpstr>Solution </vt:lpstr>
      <vt:lpstr>Solution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MR.SIKO</dc:creator>
  <cp:lastModifiedBy>Eng.Siko</cp:lastModifiedBy>
  <cp:revision>56</cp:revision>
  <dcterms:created xsi:type="dcterms:W3CDTF">2019-11-29T04:00:26Z</dcterms:created>
  <dcterms:modified xsi:type="dcterms:W3CDTF">2022-12-08T09:40:39Z</dcterms:modified>
</cp:coreProperties>
</file>