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261" autoAdjust="0"/>
  </p:normalViewPr>
  <p:slideViewPr>
    <p:cSldViewPr snapToGrid="0">
      <p:cViewPr varScale="1">
        <p:scale>
          <a:sx n="71" d="100"/>
          <a:sy n="71" d="100"/>
        </p:scale>
        <p:origin x="48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8AC9-2822-4214-9469-62C4CB4573E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42F46-AB7C-4275-BD4D-9D1BC088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2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4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4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8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3E09-3C6C-4646-A76E-681978791A77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5B74-58BC-4E79-B44A-A3D05042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D213-BC4B-411E-AAD4-C1C7D8D00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Physical materials do resist the flow of electrical current to some extent:</a:t>
            </a:r>
          </a:p>
          <a:p>
            <a:pPr marL="457200" indent="-457200"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Conductors- offer low resistance to current flow.</a:t>
            </a:r>
          </a:p>
          <a:p>
            <a:pPr marL="457200" indent="-457200"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Insulators- offer extremely high resistance to current flow.</a:t>
            </a:r>
          </a:p>
          <a:p>
            <a:pPr marL="457200" indent="-457200">
              <a:buAutoNum type="arabicPeriod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 Electronics and Electrical circuits, materials with specific resistance values between that of a conductor and an insulator  are needed. These are what we call Resistors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They can be expressed in Ohms (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885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5B74-58BC-4E79-B44A-A3D05042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D213-BC4B-411E-AAD4-C1C7D8D00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 SYMBOL</a:t>
            </a:r>
          </a:p>
        </p:txBody>
      </p:sp>
      <p:pic>
        <p:nvPicPr>
          <p:cNvPr id="2052" name="Picture 4" descr="Resistor Symbol High Res Stock Images | Shutterstock">
            <a:extLst>
              <a:ext uri="{FF2B5EF4-FFF2-40B4-BE49-F238E27FC236}">
                <a16:creationId xmlns:a16="http://schemas.microsoft.com/office/drawing/2014/main" id="{8C9145AD-C5C2-4C8E-BA10-27886A6D2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6" b="8572"/>
          <a:stretch/>
        </p:blipFill>
        <p:spPr bwMode="auto">
          <a:xfrm>
            <a:off x="3581401" y="2667000"/>
            <a:ext cx="4419599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8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317489"/>
            <a:ext cx="342646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0" dirty="0">
                <a:latin typeface="Cambria Math" panose="02040503050406030204" pitchFamily="18" charset="0"/>
                <a:ea typeface="Cambria Math" panose="02040503050406030204" pitchFamily="18" charset="0"/>
              </a:rPr>
              <a:t>Re</a:t>
            </a:r>
            <a:r>
              <a:rPr sz="3600" b="1" spc="-175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sz="3600" b="1" spc="-135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sz="3600" b="1" spc="-25" dirty="0"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r>
              <a:rPr sz="3600" b="1" spc="20" dirty="0"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US" sz="3600" b="1" spc="20" dirty="0">
                <a:latin typeface="Cambria Math" panose="02040503050406030204" pitchFamily="18" charset="0"/>
                <a:ea typeface="Cambria Math" panose="02040503050406030204" pitchFamily="18" charset="0"/>
              </a:rPr>
              <a:t>s…</a:t>
            </a:r>
            <a:endParaRPr sz="3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106" y="1569212"/>
            <a:ext cx="9888070" cy="3837717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550"/>
              </a:spcBef>
              <a:buSzPct val="63157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as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name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implies,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are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designed</a:t>
            </a:r>
            <a:r>
              <a:rPr sz="2400" spc="5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provide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some</a:t>
            </a:r>
            <a:r>
              <a:rPr sz="2400" spc="3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desirable </a:t>
            </a:r>
            <a:r>
              <a:rPr sz="2400" spc="-5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or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necessary</a:t>
            </a:r>
            <a:r>
              <a:rPr sz="2400" spc="3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amount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resistance</a:t>
            </a:r>
            <a:r>
              <a:rPr sz="2400" spc="3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current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flow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circuit.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42900" indent="-342900"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55600" indent="-342900">
              <a:spcBef>
                <a:spcPts val="5"/>
              </a:spcBef>
              <a:buSzPct val="63157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They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can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also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be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used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 drop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voltage.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42900" indent="-342900"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55600" indent="-342900">
              <a:buSzPct val="63157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do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not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generate</a:t>
            </a:r>
            <a:r>
              <a:rPr sz="2400" spc="4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electrical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energy,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but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merely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absorb</a:t>
            </a:r>
            <a:r>
              <a:rPr sz="2400" spc="3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it 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42900" indent="-342900">
              <a:spcBef>
                <a:spcPts val="40"/>
              </a:spcBef>
              <a:buFont typeface="Arial" panose="020B0604020202020204" pitchFamily="34" charset="0"/>
              <a:buChar char="•"/>
            </a:pP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55600" indent="-342900">
              <a:buSzPct val="63157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This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energy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is dissipated</a:t>
            </a:r>
            <a:r>
              <a:rPr sz="2400" spc="5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 the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form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 heat.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55600" marR="89535" indent="-342900">
              <a:lnSpc>
                <a:spcPct val="80000"/>
              </a:lnSpc>
              <a:buSzPct val="63157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performance</a:t>
            </a:r>
            <a:r>
              <a:rPr sz="2400" spc="4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is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not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affected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by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frequency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(it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behaves </a:t>
            </a:r>
            <a:r>
              <a:rPr sz="2400" spc="-5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 the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same</a:t>
            </a:r>
            <a:r>
              <a:rPr sz="2400" spc="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way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both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dc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and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ac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circuits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)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0246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9940" y="1529497"/>
            <a:ext cx="7669530" cy="375102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830"/>
              </a:spcBef>
              <a:buClr>
                <a:srgbClr val="CC9900"/>
              </a:buClr>
              <a:buSzPct val="65000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</a:t>
            </a:r>
            <a:r>
              <a:rPr sz="2400" spc="-3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are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specified</a:t>
            </a:r>
            <a:r>
              <a:rPr sz="2400" spc="-3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by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99770" lvl="1" indent="-342900">
              <a:lnSpc>
                <a:spcPct val="150000"/>
              </a:lnSpc>
              <a:spcBef>
                <a:spcPts val="640"/>
              </a:spcBef>
              <a:buClr>
                <a:srgbClr val="3B812F"/>
              </a:buClr>
              <a:buSzPct val="59615"/>
              <a:buFont typeface="Courier New" panose="02070309020205020404" pitchFamily="49" charset="0"/>
              <a:buChar char="o"/>
              <a:tabLst>
                <a:tab pos="682625" algn="l"/>
                <a:tab pos="683260" algn="l"/>
              </a:tabLst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resistance</a:t>
            </a:r>
            <a:r>
              <a:rPr sz="2400" spc="-4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value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</a:t>
            </a:r>
            <a:r>
              <a:rPr sz="2400" spc="-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ohms;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99770" marR="5080" lvl="1" indent="-342900">
              <a:lnSpc>
                <a:spcPct val="150000"/>
              </a:lnSpc>
              <a:spcBef>
                <a:spcPts val="625"/>
              </a:spcBef>
              <a:buClr>
                <a:srgbClr val="3B812F"/>
              </a:buClr>
              <a:buSzPct val="59615"/>
              <a:buFont typeface="Courier New" panose="02070309020205020404" pitchFamily="49" charset="0"/>
              <a:buChar char="o"/>
              <a:tabLst>
                <a:tab pos="682625" algn="l"/>
                <a:tab pos="683260" algn="l"/>
              </a:tabLst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 as a percentage of the nominal value; </a:t>
            </a:r>
            <a:r>
              <a:rPr sz="2400" spc="-7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and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99770" lvl="1" indent="-342900">
              <a:lnSpc>
                <a:spcPct val="150000"/>
              </a:lnSpc>
              <a:spcBef>
                <a:spcPts val="625"/>
              </a:spcBef>
              <a:buClr>
                <a:srgbClr val="3B812F"/>
              </a:buClr>
              <a:buSzPct val="59615"/>
              <a:buFont typeface="Courier New" panose="02070309020205020404" pitchFamily="49" charset="0"/>
              <a:buChar char="o"/>
              <a:tabLst>
                <a:tab pos="682625" algn="l"/>
                <a:tab pos="683260" algn="l"/>
              </a:tabLst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power</a:t>
            </a:r>
            <a:r>
              <a:rPr sz="2400" spc="-4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rating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in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watts.</a:t>
            </a:r>
          </a:p>
          <a:p>
            <a:pPr marL="12700" marR="538480">
              <a:lnSpc>
                <a:spcPct val="150000"/>
              </a:lnSpc>
              <a:spcBef>
                <a:spcPts val="705"/>
              </a:spcBef>
              <a:buClr>
                <a:srgbClr val="CC9900"/>
              </a:buClr>
              <a:buSzPct val="65000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They</a:t>
            </a:r>
            <a:r>
              <a:rPr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can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also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lang="en-US"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be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categorized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by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ir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type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 </a:t>
            </a:r>
            <a:r>
              <a:rPr sz="2400" spc="-819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construction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8CD9A-2FE8-484D-92E3-4708E00B8098}"/>
              </a:ext>
            </a:extLst>
          </p:cNvPr>
          <p:cNvSpPr txBox="1"/>
          <p:nvPr/>
        </p:nvSpPr>
        <p:spPr>
          <a:xfrm>
            <a:off x="2059940" y="38100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</p:spTree>
    <p:extLst>
      <p:ext uri="{BB962C8B-B14F-4D97-AF65-F5344CB8AC3E}">
        <p14:creationId xmlns:p14="http://schemas.microsoft.com/office/powerpoint/2010/main" val="22564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A17E-CA93-491B-ADD1-44FF372A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66AE-574E-475C-B142-C74E0AF8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There are various types of resistors;</a:t>
            </a:r>
          </a:p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Fixed resistors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-Carbon composition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-Carbon Film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-Metal Film</a:t>
            </a:r>
          </a:p>
          <a:p>
            <a:pPr lvl="1">
              <a:buFontTx/>
              <a:buChar char="-"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Wire wound</a:t>
            </a:r>
          </a:p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Variable resistors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-Potentiometers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-Rheostat</a:t>
            </a:r>
          </a:p>
          <a:p>
            <a:pPr marL="342900" lvl="1" indent="0">
              <a:buNone/>
            </a:pPr>
            <a:r>
              <a:rPr lang="en-US" sz="2100" dirty="0">
                <a:latin typeface="Cambria Math" panose="02040503050406030204" pitchFamily="18" charset="0"/>
                <a:ea typeface="Cambria Math" panose="02040503050406030204" pitchFamily="18" charset="0"/>
              </a:rPr>
              <a:t>-Trimmer</a:t>
            </a:r>
          </a:p>
        </p:txBody>
      </p:sp>
    </p:spTree>
    <p:extLst>
      <p:ext uri="{BB962C8B-B14F-4D97-AF65-F5344CB8AC3E}">
        <p14:creationId xmlns:p14="http://schemas.microsoft.com/office/powerpoint/2010/main" val="339403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8DBF-1186-4E13-8027-FAF2A85A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C936-63A1-468B-BB58-F2C29F445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100" marR="30480" indent="0">
              <a:lnSpc>
                <a:spcPct val="150000"/>
              </a:lnSpc>
              <a:spcBef>
                <a:spcPts val="605"/>
              </a:spcBef>
              <a:buClr>
                <a:srgbClr val="CC9900"/>
              </a:buClr>
              <a:buSzPct val="63636"/>
              <a:buNone/>
              <a:tabLst>
                <a:tab pos="380365" algn="l"/>
                <a:tab pos="381000" algn="l"/>
              </a:tabLst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Resistance</a:t>
            </a:r>
            <a:r>
              <a:rPr lang="en-US" sz="2400" spc="-2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value</a:t>
            </a:r>
            <a:r>
              <a:rPr lang="en-US" sz="2400" spc="1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US" sz="2400" spc="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tolerance</a:t>
            </a:r>
            <a:r>
              <a:rPr lang="en-US" sz="2400" spc="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are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normally</a:t>
            </a:r>
            <a:r>
              <a:rPr lang="en-US" sz="2400" spc="2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indicated by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color code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consisting</a:t>
            </a:r>
            <a:r>
              <a:rPr lang="en-US" sz="2400" spc="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of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four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colored</a:t>
            </a:r>
            <a:r>
              <a:rPr lang="en-US" sz="2400" spc="2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rings,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starting</a:t>
            </a:r>
            <a:r>
              <a:rPr lang="en-US" sz="2400" spc="1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at,</a:t>
            </a:r>
            <a:r>
              <a:rPr lang="en-US" sz="2400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US" sz="2400" spc="2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close </a:t>
            </a:r>
            <a:r>
              <a:rPr lang="en-US" sz="2400" spc="-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to,</a:t>
            </a:r>
            <a:r>
              <a:rPr lang="en-US" sz="2400" spc="-1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one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end.</a:t>
            </a:r>
          </a:p>
          <a:p>
            <a:pPr marL="38100" indent="0">
              <a:lnSpc>
                <a:spcPct val="150000"/>
              </a:lnSpc>
              <a:spcBef>
                <a:spcPts val="25"/>
              </a:spcBef>
              <a:buClr>
                <a:srgbClr val="CC9900"/>
              </a:buClr>
              <a:buSzPct val="63636"/>
              <a:buNone/>
              <a:tabLst>
                <a:tab pos="380365" algn="l"/>
                <a:tab pos="381000" algn="l"/>
              </a:tabLst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These</a:t>
            </a:r>
            <a:r>
              <a:rPr lang="en-US" sz="2400" spc="-2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are</a:t>
            </a:r>
            <a:r>
              <a:rPr lang="en-US" sz="2400" spc="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read</a:t>
            </a:r>
            <a:r>
              <a:rPr lang="en-US" sz="2400" spc="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follows:</a:t>
            </a:r>
          </a:p>
          <a:p>
            <a:pPr marL="381000" indent="-342900">
              <a:lnSpc>
                <a:spcPct val="150000"/>
              </a:lnSpc>
              <a:buClr>
                <a:srgbClr val="CC9900"/>
              </a:buClr>
              <a:buSzPct val="63636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baseline="24904" dirty="0"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r>
              <a:rPr lang="en-US" sz="2400" spc="300" baseline="24904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ring</a:t>
            </a:r>
            <a:r>
              <a:rPr lang="en-US" sz="2400" spc="-1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gives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first digit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81000" indent="-342900">
              <a:lnSpc>
                <a:spcPct val="150000"/>
              </a:lnSpc>
              <a:buClr>
                <a:srgbClr val="CC9900"/>
              </a:buClr>
              <a:buSzPct val="63636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baseline="24904" dirty="0">
                <a:latin typeface="Cambria Math" panose="02040503050406030204" pitchFamily="18" charset="0"/>
                <a:ea typeface="Cambria Math" panose="02040503050406030204" pitchFamily="18" charset="0"/>
              </a:rPr>
              <a:t>nd</a:t>
            </a:r>
            <a:r>
              <a:rPr lang="en-US" sz="2400" spc="277" baseline="24904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ring gives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second digit</a:t>
            </a:r>
          </a:p>
          <a:p>
            <a:pPr marL="381000" indent="-342900">
              <a:lnSpc>
                <a:spcPct val="150000"/>
              </a:lnSpc>
              <a:buClr>
                <a:srgbClr val="CC9900"/>
              </a:buClr>
              <a:buSzPct val="63636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spc="-5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rd </a:t>
            </a: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ring gives number of zeros to put after first two digits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4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9941" y="1543477"/>
            <a:ext cx="7558405" cy="3687548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spcBef>
                <a:spcPts val="735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-3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fourth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colored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ring gives</a:t>
            </a:r>
            <a:r>
              <a:rPr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tolerance:</a:t>
            </a:r>
          </a:p>
          <a:p>
            <a:pPr marL="683260" lvl="1" indent="-326390">
              <a:spcBef>
                <a:spcPts val="535"/>
              </a:spcBef>
              <a:buClr>
                <a:srgbClr val="3B812F"/>
              </a:buClr>
              <a:buSzPct val="5909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Silver-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10%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either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side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nominal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value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83260" lvl="1" indent="-326390">
              <a:spcBef>
                <a:spcPts val="525"/>
              </a:spcBef>
              <a:buClr>
                <a:srgbClr val="3B812F"/>
              </a:buClr>
              <a:buSzPct val="5909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Gold-5%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either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side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nominal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value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83260" lvl="1" indent="-326390">
              <a:spcBef>
                <a:spcPts val="530"/>
              </a:spcBef>
              <a:buClr>
                <a:srgbClr val="3B812F"/>
              </a:buClr>
              <a:buSzPct val="5909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Red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2%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either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side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nominal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value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683260" lvl="1" indent="-326390">
              <a:spcBef>
                <a:spcPts val="530"/>
              </a:spcBef>
              <a:buClr>
                <a:srgbClr val="3B812F"/>
              </a:buClr>
              <a:buSzPct val="59090"/>
              <a:buFont typeface="Wingdings"/>
              <a:buChar char=""/>
              <a:tabLst>
                <a:tab pos="682625" algn="l"/>
                <a:tab pos="683260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Brown-1%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either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side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nominal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value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lvl="1">
              <a:spcBef>
                <a:spcPts val="50"/>
              </a:spcBef>
              <a:buClr>
                <a:srgbClr val="3B812F"/>
              </a:buClr>
              <a:buFont typeface="Wingdings"/>
              <a:buChar char=""/>
            </a:pP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355600" marR="5080" indent="-342900">
              <a:buClr>
                <a:srgbClr val="CC9900"/>
              </a:buClr>
              <a:buSzPct val="6538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Absence</a:t>
            </a:r>
            <a:r>
              <a:rPr sz="2400" spc="-4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 a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fourth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ring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implies</a:t>
            </a:r>
            <a:r>
              <a:rPr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tolerance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20 </a:t>
            </a:r>
            <a:r>
              <a:rPr sz="2400" spc="-70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percent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1F3FE-DF73-4770-A402-03A7021850E3}"/>
              </a:ext>
            </a:extLst>
          </p:cNvPr>
          <p:cNvSpPr txBox="1"/>
          <p:nvPr/>
        </p:nvSpPr>
        <p:spPr>
          <a:xfrm>
            <a:off x="2059940" y="228601"/>
            <a:ext cx="594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</p:spTree>
    <p:extLst>
      <p:ext uri="{BB962C8B-B14F-4D97-AF65-F5344CB8AC3E}">
        <p14:creationId xmlns:p14="http://schemas.microsoft.com/office/powerpoint/2010/main" val="201692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131170"/>
            <a:ext cx="8138160" cy="2834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83080" y="481484"/>
            <a:ext cx="348361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1752600" y="1825625"/>
            <a:ext cx="8458200" cy="35836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 marR="30480" indent="0">
              <a:lnSpc>
                <a:spcPts val="2110"/>
              </a:lnSpc>
              <a:spcBef>
                <a:spcPts val="605"/>
              </a:spcBef>
              <a:buClr>
                <a:srgbClr val="CC9900"/>
              </a:buClr>
              <a:buSzPct val="63636"/>
              <a:buNone/>
              <a:tabLst>
                <a:tab pos="380365" algn="l"/>
                <a:tab pos="381000" algn="l"/>
              </a:tabLst>
            </a:pPr>
            <a:r>
              <a:rPr lang="en-US" sz="2400" b="1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COLOR</a:t>
            </a:r>
            <a:r>
              <a:rPr lang="en-US" sz="2400" b="1" spc="-8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spc="120" dirty="0">
                <a:latin typeface="Cambria Math" panose="02040503050406030204" pitchFamily="18" charset="0"/>
                <a:ea typeface="Cambria Math" panose="02040503050406030204" pitchFamily="18" charset="0"/>
              </a:rPr>
              <a:t>CODE</a:t>
            </a:r>
            <a:endParaRPr sz="2200" b="1" dirty="0"/>
          </a:p>
        </p:txBody>
      </p:sp>
    </p:spTree>
    <p:extLst>
      <p:ext uri="{BB962C8B-B14F-4D97-AF65-F5344CB8AC3E}">
        <p14:creationId xmlns:p14="http://schemas.microsoft.com/office/powerpoint/2010/main" val="206132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80999"/>
            <a:ext cx="8507532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9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B47F-0DAF-429F-A92E-53C52A64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E95D3-241F-4CD1-A47F-42CF7635A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Tolerance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- denotes the acceptable deviation in the resistance value of a resistor.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example: the marked resistance 1kΩ with a 10% tolerance can have any value between 900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-1100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mainly because in manufacturing thousands of resistors are made and its not possible to adjust all of them to the exact value.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normal specified tolerances are 5%, 10% and 20% for ordinary resistors and 0.1% for precision resistors.</a:t>
            </a:r>
          </a:p>
        </p:txBody>
      </p:sp>
    </p:spTree>
    <p:extLst>
      <p:ext uri="{BB962C8B-B14F-4D97-AF65-F5344CB8AC3E}">
        <p14:creationId xmlns:p14="http://schemas.microsoft.com/office/powerpoint/2010/main" val="139326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317489"/>
            <a:ext cx="47269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Resistors…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22553"/>
            <a:ext cx="7964169" cy="39934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2400" b="1" spc="10" dirty="0">
                <a:latin typeface="Cambria Math" panose="02040503050406030204" pitchFamily="18" charset="0"/>
                <a:ea typeface="Cambria Math" panose="02040503050406030204" pitchFamily="18" charset="0"/>
              </a:rPr>
              <a:t>Voltage</a:t>
            </a:r>
            <a:r>
              <a:rPr lang="en-US" sz="2400" b="1" spc="-55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spc="20" dirty="0">
                <a:latin typeface="Cambria Math" panose="02040503050406030204" pitchFamily="18" charset="0"/>
                <a:ea typeface="Cambria Math" panose="02040503050406030204" pitchFamily="18" charset="0"/>
              </a:rPr>
              <a:t>rating</a:t>
            </a:r>
            <a:endParaRPr lang="en-US" sz="2400" b="1" spc="-5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Maximum operating voltage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also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can be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specified</a:t>
            </a:r>
            <a:r>
              <a:rPr sz="2400" spc="-4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for</a:t>
            </a:r>
            <a:r>
              <a:rPr sz="2400" spc="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but since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this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is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usually </a:t>
            </a:r>
            <a:r>
              <a:rPr sz="2400" spc="-819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the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order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of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250Volts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or</a:t>
            </a:r>
            <a:r>
              <a:rPr sz="2400" spc="-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more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  <a:p>
            <a:pPr marL="12700">
              <a:lnSpc>
                <a:spcPct val="150000"/>
              </a:lnSpc>
              <a:spcBef>
                <a:spcPts val="720"/>
              </a:spcBef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T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his</a:t>
            </a:r>
            <a:r>
              <a:rPr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parameter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is</a:t>
            </a:r>
            <a:r>
              <a:rPr sz="2400" spc="-1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not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important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when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choosing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 for battery circuits.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Resistors used on main circuits must,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however</a:t>
            </a:r>
            <a:r>
              <a:rPr sz="2400" spc="-4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have a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suitable</a:t>
            </a:r>
            <a:r>
              <a:rPr sz="2400" spc="-2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voltage</a:t>
            </a:r>
            <a:r>
              <a:rPr sz="2400" spc="-20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Arial MT"/>
              </a:rPr>
              <a:t>rating.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0260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317489"/>
            <a:ext cx="47269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Resistors Questions</a:t>
            </a:r>
            <a:endParaRPr lang="en-US" sz="3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622553"/>
            <a:ext cx="7964169" cy="23577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Find the value of resistance of the following resistors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Brown-Black-Red-Gold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(ii) Brown-Green-Red-Violet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(iii) Brown-Green-Red-Blue- Violet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	(iv) Green-Brown-Violet-Black-Gold-Orange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54562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OHMETER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instrument, which is used to measure the value of resistance between any two points in an electric circuit is called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ohmmeter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also be used to find the value of an unknown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resistor.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units of resistance are ohm and the measuring instrument is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the word “ohmmeter” is obtained by combining the words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“ohm”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and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“meter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Types of Ohmmeters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(i) Series Ohmmeter</a:t>
            </a: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(ii) Shunt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Ohmmeter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OHMETER…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i)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Series Ohmmeter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the resistor’s value is unknown and has to be measured by placing it in series with the ohmmeter, then that ohmmeter is called series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ohmmeter.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series ohmmeter is shown in below figure.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020" y="3790512"/>
            <a:ext cx="4457700" cy="247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2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OHMETER…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part of the circuit, which is left side of the terminals A &amp; B is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series ohmmeter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we can measure the value of unknown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resistance,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Rx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by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placing it to the right side of terminals A &amp; 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Series ohmmeter is useful for measuring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high values of resistances.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8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OHMETER…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(ii)Shunt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Ohmmeter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the resistor’s value is unknown and to be measured by placing it in parallel (shunt) with the ohmmeter, then that ohmmeter is called shunt ohmmeter.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shunt ohmmeter is shown in below figure.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358450"/>
            <a:ext cx="4438650" cy="25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OHMETER…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part of the circuit, which is left side of the terminals A &amp; B is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shunt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ohmmeter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we can measure the value of unknown resistance by placing it to the right side of terminals A &amp; 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Shunt ohmmeter is useful for measuring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low values of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resistances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use either series ohmmeter or shunt ohmmeter based on the values of resistances that are to be measured i.e., high or low.</a:t>
            </a:r>
          </a:p>
        </p:txBody>
      </p:sp>
    </p:spTree>
    <p:extLst>
      <p:ext uri="{BB962C8B-B14F-4D97-AF65-F5344CB8AC3E}">
        <p14:creationId xmlns:p14="http://schemas.microsoft.com/office/powerpoint/2010/main" val="260144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619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Cambria</vt:lpstr>
      <vt:lpstr>Cambria Math</vt:lpstr>
      <vt:lpstr>Courier New</vt:lpstr>
      <vt:lpstr>Wingdings</vt:lpstr>
      <vt:lpstr>Office Theme</vt:lpstr>
      <vt:lpstr>Resistors</vt:lpstr>
      <vt:lpstr>Resistors</vt:lpstr>
      <vt:lpstr>Resistors…</vt:lpstr>
      <vt:lpstr>PowerPoint Presentation</vt:lpstr>
      <vt:lpstr>Resistors…</vt:lpstr>
      <vt:lpstr>Resistors…</vt:lpstr>
      <vt:lpstr>PowerPoint Presentation</vt:lpstr>
      <vt:lpstr>Resistors…</vt:lpstr>
      <vt:lpstr>PowerPoint Presentation</vt:lpstr>
      <vt:lpstr>Resistors…</vt:lpstr>
      <vt:lpstr>Resistors…</vt:lpstr>
      <vt:lpstr>Resistors Questions</vt:lpstr>
      <vt:lpstr>OHMETER</vt:lpstr>
      <vt:lpstr>OHMETER…</vt:lpstr>
      <vt:lpstr>OHMETER…</vt:lpstr>
      <vt:lpstr>OHMETER…</vt:lpstr>
      <vt:lpstr>OHMETER…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Measurement Errors</dc:title>
  <dc:creator>hp</dc:creator>
  <cp:lastModifiedBy>hp</cp:lastModifiedBy>
  <cp:revision>109</cp:revision>
  <dcterms:created xsi:type="dcterms:W3CDTF">2021-11-17T12:12:52Z</dcterms:created>
  <dcterms:modified xsi:type="dcterms:W3CDTF">2021-12-08T08:45:26Z</dcterms:modified>
</cp:coreProperties>
</file>