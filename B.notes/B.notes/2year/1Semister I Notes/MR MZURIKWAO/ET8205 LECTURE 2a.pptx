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7"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3" d="100"/>
          <a:sy n="63" d="100"/>
        </p:scale>
        <p:origin x="796" y="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4BC07-2432-4AAB-BE30-292BF4A59056}" type="datetimeFigureOut">
              <a:rPr lang="en-US" smtClean="0"/>
              <a:t>11/24/2021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B9661-112D-4987-AF2D-957213E019BE}" type="slidenum">
              <a:rPr lang="en-US" smtClean="0"/>
              <a:t>‹#›</a:t>
            </a:fld>
            <a:endParaRPr lang="en-US"/>
          </a:p>
        </p:txBody>
      </p:sp>
    </p:spTree>
    <p:extLst>
      <p:ext uri="{BB962C8B-B14F-4D97-AF65-F5344CB8AC3E}">
        <p14:creationId xmlns:p14="http://schemas.microsoft.com/office/powerpoint/2010/main" val="1034137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B29D33-3351-44C2-8879-7352DF19FA71}" type="slidenum">
              <a:rPr lang="en-US" smtClean="0"/>
              <a:pPr/>
              <a:t>3</a:t>
            </a:fld>
            <a:endParaRPr lang="en-US" dirty="0"/>
          </a:p>
        </p:txBody>
      </p:sp>
    </p:spTree>
    <p:extLst>
      <p:ext uri="{BB962C8B-B14F-4D97-AF65-F5344CB8AC3E}">
        <p14:creationId xmlns:p14="http://schemas.microsoft.com/office/powerpoint/2010/main" val="1690465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239B822-6058-455D-A115-F1BAAAE074B5}" type="datetimeFigureOut">
              <a:rPr lang="en-US" smtClean="0"/>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AB41E-5584-412C-8FA3-E92E163AEDEC}" type="slidenum">
              <a:rPr lang="en-US" smtClean="0"/>
              <a:t>‹#›</a:t>
            </a:fld>
            <a:endParaRPr lang="en-US"/>
          </a:p>
        </p:txBody>
      </p:sp>
    </p:spTree>
    <p:extLst>
      <p:ext uri="{BB962C8B-B14F-4D97-AF65-F5344CB8AC3E}">
        <p14:creationId xmlns:p14="http://schemas.microsoft.com/office/powerpoint/2010/main" val="2300399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39B822-6058-455D-A115-F1BAAAE074B5}" type="datetimeFigureOut">
              <a:rPr lang="en-US" smtClean="0"/>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AB41E-5584-412C-8FA3-E92E163AEDEC}" type="slidenum">
              <a:rPr lang="en-US" smtClean="0"/>
              <a:t>‹#›</a:t>
            </a:fld>
            <a:endParaRPr lang="en-US"/>
          </a:p>
        </p:txBody>
      </p:sp>
    </p:spTree>
    <p:extLst>
      <p:ext uri="{BB962C8B-B14F-4D97-AF65-F5344CB8AC3E}">
        <p14:creationId xmlns:p14="http://schemas.microsoft.com/office/powerpoint/2010/main" val="1783395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239B822-6058-455D-A115-F1BAAAE074B5}" type="datetimeFigureOut">
              <a:rPr lang="en-US" smtClean="0"/>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AB41E-5584-412C-8FA3-E92E163AEDEC}" type="slidenum">
              <a:rPr lang="en-US" smtClean="0"/>
              <a:t>‹#›</a:t>
            </a:fld>
            <a:endParaRPr lang="en-US"/>
          </a:p>
        </p:txBody>
      </p:sp>
    </p:spTree>
    <p:extLst>
      <p:ext uri="{BB962C8B-B14F-4D97-AF65-F5344CB8AC3E}">
        <p14:creationId xmlns:p14="http://schemas.microsoft.com/office/powerpoint/2010/main" val="785078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239B822-6058-455D-A115-F1BAAAE074B5}" type="datetimeFigureOut">
              <a:rPr lang="en-US" smtClean="0"/>
              <a:t>11/23/2021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AB41E-5584-412C-8FA3-E92E163AEDEC}" type="slidenum">
              <a:rPr lang="en-US" smtClean="0"/>
              <a:t>‹#›</a:t>
            </a:fld>
            <a:endParaRPr lang="en-US"/>
          </a:p>
        </p:txBody>
      </p:sp>
    </p:spTree>
    <p:extLst>
      <p:ext uri="{BB962C8B-B14F-4D97-AF65-F5344CB8AC3E}">
        <p14:creationId xmlns:p14="http://schemas.microsoft.com/office/powerpoint/2010/main" val="2730504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239B822-6058-455D-A115-F1BAAAE074B5}" type="datetimeFigureOut">
              <a:rPr lang="en-US" smtClean="0"/>
              <a:t>11/23/2021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6AB41E-5584-412C-8FA3-E92E163AEDEC}" type="slidenum">
              <a:rPr lang="en-US" smtClean="0"/>
              <a:t>‹#›</a:t>
            </a:fld>
            <a:endParaRPr lang="en-US"/>
          </a:p>
        </p:txBody>
      </p:sp>
    </p:spTree>
    <p:extLst>
      <p:ext uri="{BB962C8B-B14F-4D97-AF65-F5344CB8AC3E}">
        <p14:creationId xmlns:p14="http://schemas.microsoft.com/office/powerpoint/2010/main" val="464248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39B822-6058-455D-A115-F1BAAAE074B5}" type="datetimeFigureOut">
              <a:rPr lang="en-US" smtClean="0"/>
              <a:t>11/23/2021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6AB41E-5584-412C-8FA3-E92E163AEDEC}" type="slidenum">
              <a:rPr lang="en-US" smtClean="0"/>
              <a:t>‹#›</a:t>
            </a:fld>
            <a:endParaRPr lang="en-US"/>
          </a:p>
        </p:txBody>
      </p:sp>
    </p:spTree>
    <p:extLst>
      <p:ext uri="{BB962C8B-B14F-4D97-AF65-F5344CB8AC3E}">
        <p14:creationId xmlns:p14="http://schemas.microsoft.com/office/powerpoint/2010/main" val="1394850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39B822-6058-455D-A115-F1BAAAE074B5}" type="datetimeFigureOut">
              <a:rPr lang="en-US" smtClean="0"/>
              <a:t>11/23/2021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6AB41E-5584-412C-8FA3-E92E163AEDEC}" type="slidenum">
              <a:rPr lang="en-US" smtClean="0"/>
              <a:t>‹#›</a:t>
            </a:fld>
            <a:endParaRPr lang="en-US"/>
          </a:p>
        </p:txBody>
      </p:sp>
    </p:spTree>
    <p:extLst>
      <p:ext uri="{BB962C8B-B14F-4D97-AF65-F5344CB8AC3E}">
        <p14:creationId xmlns:p14="http://schemas.microsoft.com/office/powerpoint/2010/main" val="538011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239B822-6058-455D-A115-F1BAAAE074B5}" type="datetimeFigureOut">
              <a:rPr lang="en-US" smtClean="0"/>
              <a:t>11/23/2021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AB41E-5584-412C-8FA3-E92E163AEDEC}" type="slidenum">
              <a:rPr lang="en-US" smtClean="0"/>
              <a:t>‹#›</a:t>
            </a:fld>
            <a:endParaRPr lang="en-US"/>
          </a:p>
        </p:txBody>
      </p:sp>
    </p:spTree>
    <p:extLst>
      <p:ext uri="{BB962C8B-B14F-4D97-AF65-F5344CB8AC3E}">
        <p14:creationId xmlns:p14="http://schemas.microsoft.com/office/powerpoint/2010/main" val="2205851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239B822-6058-455D-A115-F1BAAAE074B5}" type="datetimeFigureOut">
              <a:rPr lang="en-US" smtClean="0"/>
              <a:t>11/23/2021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AB41E-5584-412C-8FA3-E92E163AEDEC}" type="slidenum">
              <a:rPr lang="en-US" smtClean="0"/>
              <a:t>‹#›</a:t>
            </a:fld>
            <a:endParaRPr lang="en-US"/>
          </a:p>
        </p:txBody>
      </p:sp>
    </p:spTree>
    <p:extLst>
      <p:ext uri="{BB962C8B-B14F-4D97-AF65-F5344CB8AC3E}">
        <p14:creationId xmlns:p14="http://schemas.microsoft.com/office/powerpoint/2010/main" val="2576464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39B822-6058-455D-A115-F1BAAAE074B5}" type="datetimeFigureOut">
              <a:rPr lang="en-US" smtClean="0"/>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AB41E-5584-412C-8FA3-E92E163AEDEC}" type="slidenum">
              <a:rPr lang="en-US" smtClean="0"/>
              <a:t>‹#›</a:t>
            </a:fld>
            <a:endParaRPr lang="en-US"/>
          </a:p>
        </p:txBody>
      </p:sp>
    </p:spTree>
    <p:extLst>
      <p:ext uri="{BB962C8B-B14F-4D97-AF65-F5344CB8AC3E}">
        <p14:creationId xmlns:p14="http://schemas.microsoft.com/office/powerpoint/2010/main" val="325286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39B822-6058-455D-A115-F1BAAAE074B5}" type="datetimeFigureOut">
              <a:rPr lang="en-US" smtClean="0"/>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AB41E-5584-412C-8FA3-E92E163AEDEC}" type="slidenum">
              <a:rPr lang="en-US" smtClean="0"/>
              <a:t>‹#›</a:t>
            </a:fld>
            <a:endParaRPr lang="en-US"/>
          </a:p>
        </p:txBody>
      </p:sp>
    </p:spTree>
    <p:extLst>
      <p:ext uri="{BB962C8B-B14F-4D97-AF65-F5344CB8AC3E}">
        <p14:creationId xmlns:p14="http://schemas.microsoft.com/office/powerpoint/2010/main" val="27897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39B822-6058-455D-A115-F1BAAAE074B5}" type="datetimeFigureOut">
              <a:rPr lang="en-US" smtClean="0"/>
              <a:t>11/23/2021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6AB41E-5584-412C-8FA3-E92E163AEDEC}" type="slidenum">
              <a:rPr lang="en-US" smtClean="0"/>
              <a:t>‹#›</a:t>
            </a:fld>
            <a:endParaRPr lang="en-US"/>
          </a:p>
        </p:txBody>
      </p:sp>
    </p:spTree>
    <p:extLst>
      <p:ext uri="{BB962C8B-B14F-4D97-AF65-F5344CB8AC3E}">
        <p14:creationId xmlns:p14="http://schemas.microsoft.com/office/powerpoint/2010/main" val="2046287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sz="4400" b="1" dirty="0">
                <a:latin typeface="Cambria" panose="02040503050406030204" pitchFamily="18" charset="0"/>
                <a:ea typeface="Cambria" panose="02040503050406030204" pitchFamily="18" charset="0"/>
              </a:rPr>
              <a:t>Characteristics of Measurement </a:t>
            </a:r>
            <a:r>
              <a:rPr lang="en-GB" sz="4400" b="1" dirty="0" smtClean="0">
                <a:latin typeface="Cambria" panose="02040503050406030204" pitchFamily="18" charset="0"/>
                <a:ea typeface="Cambria" panose="02040503050406030204" pitchFamily="18" charset="0"/>
              </a:rPr>
              <a:t>Instruments</a:t>
            </a:r>
            <a:endParaRPr lang="en-US" sz="4400" dirty="0">
              <a:latin typeface="Cambria" panose="02040503050406030204" pitchFamily="18" charset="0"/>
              <a:ea typeface="Cambria" panose="02040503050406030204" pitchFamily="18" charset="0"/>
            </a:endParaRPr>
          </a:p>
        </p:txBody>
      </p:sp>
      <p:sp>
        <p:nvSpPr>
          <p:cNvPr id="3" name="Subtitle 2"/>
          <p:cNvSpPr>
            <a:spLocks noGrp="1"/>
          </p:cNvSpPr>
          <p:nvPr>
            <p:ph type="subTitle" idx="1"/>
          </p:nvPr>
        </p:nvSpPr>
        <p:spPr/>
        <p:txBody>
          <a:bodyPr/>
          <a:lstStyle/>
          <a:p>
            <a:r>
              <a:rPr lang="en-US" b="1" dirty="0" smtClean="0">
                <a:latin typeface="Cambria" panose="02040503050406030204" pitchFamily="18" charset="0"/>
                <a:ea typeface="Cambria" panose="02040503050406030204" pitchFamily="18" charset="0"/>
              </a:rPr>
              <a:t>By </a:t>
            </a:r>
          </a:p>
          <a:p>
            <a:r>
              <a:rPr lang="en-US" b="1" dirty="0" smtClean="0">
                <a:latin typeface="Cambria" panose="02040503050406030204" pitchFamily="18" charset="0"/>
                <a:ea typeface="Cambria" panose="02040503050406030204" pitchFamily="18" charset="0"/>
              </a:rPr>
              <a:t>Candida </a:t>
            </a:r>
            <a:r>
              <a:rPr lang="en-US" b="1" dirty="0" err="1" smtClean="0">
                <a:latin typeface="Cambria" panose="02040503050406030204" pitchFamily="18" charset="0"/>
                <a:ea typeface="Cambria" panose="02040503050406030204" pitchFamily="18" charset="0"/>
              </a:rPr>
              <a:t>Nakida</a:t>
            </a:r>
            <a:r>
              <a:rPr lang="en-US" b="1" dirty="0" smtClean="0">
                <a:latin typeface="Cambria" panose="02040503050406030204" pitchFamily="18" charset="0"/>
                <a:ea typeface="Cambria" panose="02040503050406030204" pitchFamily="18" charset="0"/>
              </a:rPr>
              <a:t> </a:t>
            </a:r>
            <a:r>
              <a:rPr lang="en-US" b="1" dirty="0" err="1" smtClean="0">
                <a:latin typeface="Cambria" panose="02040503050406030204" pitchFamily="18" charset="0"/>
                <a:ea typeface="Cambria" panose="02040503050406030204" pitchFamily="18" charset="0"/>
              </a:rPr>
              <a:t>Mwisomba</a:t>
            </a:r>
            <a:endParaRPr lang="en-US" b="1"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45041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3222"/>
          </a:xfrm>
        </p:spPr>
        <p:txBody>
          <a:bodyPr>
            <a:normAutofit/>
          </a:bodyPr>
          <a:lstStyle/>
          <a:p>
            <a:pPr algn="ctr"/>
            <a:r>
              <a:rPr lang="en-US" sz="3200" b="1" dirty="0" smtClean="0">
                <a:latin typeface="Cambria" panose="02040503050406030204" pitchFamily="18" charset="0"/>
                <a:ea typeface="Cambria" panose="02040503050406030204" pitchFamily="18" charset="0"/>
              </a:rPr>
              <a:t>Performance characteristics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a:xfrm>
            <a:off x="838200" y="1257931"/>
            <a:ext cx="10515600" cy="4919032"/>
          </a:xfrm>
        </p:spPr>
        <p:txBody>
          <a:bodyPr>
            <a:normAutofit/>
          </a:bodyPr>
          <a:lstStyle/>
          <a:p>
            <a:pPr marL="0" indent="0" algn="just">
              <a:buNone/>
            </a:pPr>
            <a:r>
              <a:rPr lang="en-US" sz="2400" b="1" dirty="0" smtClean="0">
                <a:latin typeface="Cambria" panose="02040503050406030204" pitchFamily="18" charset="0"/>
                <a:ea typeface="Cambria" panose="02040503050406030204" pitchFamily="18" charset="0"/>
              </a:rPr>
              <a:t>Static characteristics</a:t>
            </a:r>
          </a:p>
          <a:p>
            <a:pPr algn="just"/>
            <a:r>
              <a:rPr lang="en-US" sz="2400" dirty="0" smtClean="0">
                <a:latin typeface="Cambria" panose="02040503050406030204" pitchFamily="18" charset="0"/>
                <a:ea typeface="Cambria" panose="02040503050406030204" pitchFamily="18" charset="0"/>
              </a:rPr>
              <a:t>The set of criteria defined for the instrument, which are used to measure quantities which are slowly varying with time or mostly constant i.e. do not vary with time is called static characteristics. </a:t>
            </a:r>
          </a:p>
          <a:p>
            <a:pPr marL="0" indent="0" algn="just">
              <a:buNone/>
            </a:pPr>
            <a:endParaRPr lang="en-US" sz="2400" dirty="0" smtClean="0">
              <a:latin typeface="Cambria" panose="02040503050406030204" pitchFamily="18" charset="0"/>
              <a:ea typeface="Cambria" panose="02040503050406030204" pitchFamily="18" charset="0"/>
            </a:endParaRPr>
          </a:p>
          <a:p>
            <a:pPr marL="0" indent="0" algn="just">
              <a:buNone/>
            </a:pPr>
            <a:r>
              <a:rPr lang="en-US" sz="2400" b="1" dirty="0" smtClean="0">
                <a:latin typeface="Cambria" panose="02040503050406030204" pitchFamily="18" charset="0"/>
                <a:ea typeface="Cambria" panose="02040503050406030204" pitchFamily="18" charset="0"/>
              </a:rPr>
              <a:t>Dynamic characteristics</a:t>
            </a:r>
          </a:p>
          <a:p>
            <a:pPr algn="just"/>
            <a:r>
              <a:rPr lang="en-US" sz="2400" dirty="0" smtClean="0">
                <a:latin typeface="Cambria" panose="02040503050406030204" pitchFamily="18" charset="0"/>
                <a:ea typeface="Cambria" panose="02040503050406030204" pitchFamily="18" charset="0"/>
              </a:rPr>
              <a:t>When the quantity under measurement change rapidly with time, it is necessary to study the dynamic relations existing between input and output which is expressed as differential equation.</a:t>
            </a:r>
          </a:p>
          <a:p>
            <a:pPr algn="just"/>
            <a:r>
              <a:rPr lang="en-US" sz="2400" dirty="0" smtClean="0">
                <a:latin typeface="Cambria" panose="02040503050406030204" pitchFamily="18" charset="0"/>
                <a:ea typeface="Cambria" panose="02040503050406030204" pitchFamily="18" charset="0"/>
              </a:rPr>
              <a:t>The set of criteria defined based on such dynamic differential equation is called dynamic characteristics.</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775330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1935188" y="2752"/>
            <a:ext cx="8421574" cy="1371600"/>
          </a:xfrm>
          <a:prstGeom prst="rect">
            <a:avLst/>
          </a:prstGeom>
        </p:spPr>
        <p:txBody>
          <a:bodyPr vert="horz" anchor="b">
            <a:normAutofit fontScale="97500"/>
          </a:bodyPr>
          <a:lstStyle/>
          <a:p>
            <a:pPr lvl="0" algn="ctr">
              <a:spcBef>
                <a:spcPct val="0"/>
              </a:spcBef>
              <a:defRPr/>
            </a:pPr>
            <a:r>
              <a:rPr lang="en-US" sz="3200" b="1" dirty="0">
                <a:latin typeface="Cambria" panose="02040503050406030204" pitchFamily="18" charset="0"/>
                <a:ea typeface="Cambria" panose="02040503050406030204" pitchFamily="18" charset="0"/>
              </a:rPr>
              <a:t>STATIC AND DYNAMIC CHARACTERISTICS</a:t>
            </a:r>
            <a:endParaRPr lang="en-US" sz="3200" b="1" cap="small" dirty="0">
              <a:latin typeface="Cambria" panose="02040503050406030204" pitchFamily="18" charset="0"/>
              <a:ea typeface="Cambria" panose="02040503050406030204" pitchFamily="18" charset="0"/>
              <a:cs typeface="+mj-cs"/>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r="9954"/>
          <a:stretch/>
        </p:blipFill>
        <p:spPr>
          <a:xfrm>
            <a:off x="3728720" y="1600201"/>
            <a:ext cx="2804160" cy="3976809"/>
          </a:xfrm>
          <a:prstGeom prst="rect">
            <a:avLst/>
          </a:prstGeom>
          <a:ln>
            <a:noFill/>
          </a:ln>
        </p:spPr>
      </p:pic>
      <p:pic>
        <p:nvPicPr>
          <p:cNvPr id="3" name="Picture 2"/>
          <p:cNvPicPr>
            <a:picLocks noChangeAspect="1"/>
          </p:cNvPicPr>
          <p:nvPr/>
        </p:nvPicPr>
        <p:blipFill rotWithShape="1">
          <a:blip r:embed="rId4" cstate="print">
            <a:extLst>
              <a:ext uri="{28A0092B-C50C-407E-A947-70E740481C1C}">
                <a14:useLocalDpi xmlns:a14="http://schemas.microsoft.com/office/drawing/2010/main" val="0"/>
              </a:ext>
            </a:extLst>
          </a:blip>
          <a:srcRect l="13333" t="2222" r="10001" b="2222"/>
          <a:stretch/>
        </p:blipFill>
        <p:spPr>
          <a:xfrm rot="858458">
            <a:off x="7030436" y="1952655"/>
            <a:ext cx="2895600" cy="3609009"/>
          </a:xfrm>
          <a:prstGeom prst="rect">
            <a:avLst/>
          </a:prstGeom>
        </p:spPr>
      </p:pic>
      <p:sp>
        <p:nvSpPr>
          <p:cNvPr id="7" name="Rectangle 6"/>
          <p:cNvSpPr/>
          <p:nvPr/>
        </p:nvSpPr>
        <p:spPr>
          <a:xfrm>
            <a:off x="1905001" y="5753601"/>
            <a:ext cx="8451761" cy="38636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a:solidFill>
                <a:prstClr val="white"/>
              </a:solidFill>
            </a:endParaRPr>
          </a:p>
        </p:txBody>
      </p:sp>
    </p:spTree>
    <p:extLst>
      <p:ext uri="{BB962C8B-B14F-4D97-AF65-F5344CB8AC3E}">
        <p14:creationId xmlns:p14="http://schemas.microsoft.com/office/powerpoint/2010/main" val="29379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a:xfrm>
            <a:off x="838200" y="1449905"/>
            <a:ext cx="10515600" cy="4727058"/>
          </a:xfrm>
        </p:spPr>
        <p:txBody>
          <a:bodyPr>
            <a:noAutofit/>
          </a:bodyPr>
          <a:lstStyle/>
          <a:p>
            <a:r>
              <a:rPr lang="en-US" sz="2400" dirty="0" smtClean="0">
                <a:latin typeface="Cambria" panose="02040503050406030204" pitchFamily="18" charset="0"/>
                <a:ea typeface="Cambria" panose="02040503050406030204" pitchFamily="18" charset="0"/>
              </a:rPr>
              <a:t>Accuracy</a:t>
            </a:r>
          </a:p>
          <a:p>
            <a:r>
              <a:rPr lang="en-US" sz="2400" dirty="0" smtClean="0">
                <a:latin typeface="Cambria" panose="02040503050406030204" pitchFamily="18" charset="0"/>
                <a:ea typeface="Cambria" panose="02040503050406030204" pitchFamily="18" charset="0"/>
              </a:rPr>
              <a:t>Precision</a:t>
            </a:r>
          </a:p>
          <a:p>
            <a:r>
              <a:rPr lang="en-US" sz="2400" dirty="0" smtClean="0">
                <a:latin typeface="Cambria" panose="02040503050406030204" pitchFamily="18" charset="0"/>
                <a:ea typeface="Cambria" panose="02040503050406030204" pitchFamily="18" charset="0"/>
              </a:rPr>
              <a:t>Error</a:t>
            </a:r>
          </a:p>
          <a:p>
            <a:r>
              <a:rPr lang="en-US" sz="2400" dirty="0" smtClean="0">
                <a:latin typeface="Cambria" panose="02040503050406030204" pitchFamily="18" charset="0"/>
                <a:ea typeface="Cambria" panose="02040503050406030204" pitchFamily="18" charset="0"/>
              </a:rPr>
              <a:t>Sensitivity </a:t>
            </a:r>
          </a:p>
          <a:p>
            <a:r>
              <a:rPr lang="en-US" sz="2400" dirty="0" smtClean="0">
                <a:latin typeface="Cambria" panose="02040503050406030204" pitchFamily="18" charset="0"/>
                <a:ea typeface="Cambria" panose="02040503050406030204" pitchFamily="18" charset="0"/>
              </a:rPr>
              <a:t>Resolution</a:t>
            </a:r>
          </a:p>
          <a:p>
            <a:r>
              <a:rPr lang="en-US" sz="2400" dirty="0" smtClean="0">
                <a:latin typeface="Cambria" panose="02040503050406030204" pitchFamily="18" charset="0"/>
                <a:ea typeface="Cambria" panose="02040503050406030204" pitchFamily="18" charset="0"/>
              </a:rPr>
              <a:t>Threshold</a:t>
            </a:r>
          </a:p>
          <a:p>
            <a:r>
              <a:rPr lang="en-US" sz="2400" dirty="0">
                <a:latin typeface="Cambria" panose="02040503050406030204" pitchFamily="18" charset="0"/>
                <a:ea typeface="Cambria" panose="02040503050406030204" pitchFamily="18" charset="0"/>
              </a:rPr>
              <a:t>Linearity </a:t>
            </a:r>
            <a:endParaRPr lang="en-US" sz="2400" dirty="0" smtClean="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Zero </a:t>
            </a:r>
            <a:r>
              <a:rPr lang="en-US" sz="2400" dirty="0" smtClean="0">
                <a:latin typeface="Cambria" panose="02040503050406030204" pitchFamily="18" charset="0"/>
                <a:ea typeface="Cambria" panose="02040503050406030204" pitchFamily="18" charset="0"/>
              </a:rPr>
              <a:t>drift</a:t>
            </a:r>
          </a:p>
          <a:p>
            <a:r>
              <a:rPr lang="en-US" sz="2400" dirty="0" smtClean="0">
                <a:latin typeface="Cambria" panose="02040503050406030204" pitchFamily="18" charset="0"/>
                <a:ea typeface="Cambria" panose="02040503050406030204" pitchFamily="18" charset="0"/>
              </a:rPr>
              <a:t>Reproducibility</a:t>
            </a:r>
          </a:p>
          <a:p>
            <a:r>
              <a:rPr lang="en-US" sz="2400" dirty="0" smtClean="0">
                <a:latin typeface="Cambria" panose="02040503050406030204" pitchFamily="18" charset="0"/>
                <a:ea typeface="Cambria" panose="02040503050406030204" pitchFamily="18" charset="0"/>
              </a:rPr>
              <a:t>Stability</a:t>
            </a:r>
          </a:p>
        </p:txBody>
      </p:sp>
    </p:spTree>
    <p:extLst>
      <p:ext uri="{BB962C8B-B14F-4D97-AF65-F5344CB8AC3E}">
        <p14:creationId xmlns:p14="http://schemas.microsoft.com/office/powerpoint/2010/main" val="29938827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8689"/>
          </a:xfrm>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a:xfrm>
            <a:off x="838200" y="1343814"/>
            <a:ext cx="10515600" cy="4979655"/>
          </a:xfrm>
        </p:spPr>
        <p:txBody>
          <a:bodyPr>
            <a:noAutofit/>
          </a:bodyPr>
          <a:lstStyle/>
          <a:p>
            <a:pPr marL="0" indent="0" algn="just">
              <a:buNone/>
            </a:pPr>
            <a:r>
              <a:rPr lang="en-US" sz="2400" b="1" dirty="0" smtClean="0">
                <a:latin typeface="Cambria" panose="02040503050406030204" pitchFamily="18" charset="0"/>
                <a:ea typeface="Cambria" panose="02040503050406030204" pitchFamily="18" charset="0"/>
              </a:rPr>
              <a:t>1. Accuracy:</a:t>
            </a:r>
          </a:p>
          <a:p>
            <a:pPr algn="just"/>
            <a:r>
              <a:rPr lang="en-US" sz="2400" dirty="0" smtClean="0">
                <a:latin typeface="Cambria" panose="02040503050406030204" pitchFamily="18" charset="0"/>
                <a:ea typeface="Cambria" panose="02040503050406030204" pitchFamily="18" charset="0"/>
              </a:rPr>
              <a:t>Degree of closeness which the instrument reading approaches the true value of the quantity to be measured.</a:t>
            </a:r>
          </a:p>
          <a:p>
            <a:pPr algn="just"/>
            <a:r>
              <a:rPr lang="en-US" sz="2400" dirty="0" smtClean="0">
                <a:latin typeface="Cambria" panose="02040503050406030204" pitchFamily="18" charset="0"/>
                <a:ea typeface="Cambria" panose="02040503050406030204" pitchFamily="18" charset="0"/>
              </a:rPr>
              <a:t>It indicates the ability of an instrument to indicate true value of the quantity.</a:t>
            </a:r>
          </a:p>
        </p:txBody>
      </p:sp>
    </p:spTree>
    <p:extLst>
      <p:ext uri="{BB962C8B-B14F-4D97-AF65-F5344CB8AC3E}">
        <p14:creationId xmlns:p14="http://schemas.microsoft.com/office/powerpoint/2010/main" val="34415324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988094" cy="933222"/>
          </a:xfrm>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a:xfrm>
            <a:off x="838200" y="1212464"/>
            <a:ext cx="10515600" cy="4964499"/>
          </a:xfrm>
        </p:spPr>
        <p:txBody>
          <a:bodyPr>
            <a:normAutofit/>
          </a:bodyPr>
          <a:lstStyle/>
          <a:p>
            <a:pPr marL="0" indent="0" algn="just">
              <a:buNone/>
            </a:pPr>
            <a:r>
              <a:rPr lang="en-US" sz="2400" b="1" dirty="0" smtClean="0">
                <a:latin typeface="Cambria" panose="02040503050406030204" pitchFamily="18" charset="0"/>
                <a:ea typeface="Cambria" panose="02040503050406030204" pitchFamily="18" charset="0"/>
              </a:rPr>
              <a:t>2. Precision:</a:t>
            </a:r>
          </a:p>
          <a:p>
            <a:pPr algn="just"/>
            <a:r>
              <a:rPr lang="en-US" sz="2400" dirty="0" smtClean="0">
                <a:latin typeface="Cambria" panose="02040503050406030204" pitchFamily="18" charset="0"/>
                <a:ea typeface="Cambria" panose="02040503050406030204" pitchFamily="18" charset="0"/>
              </a:rPr>
              <a:t>It is the measure of a consistency or repeatability of a measurement.</a:t>
            </a:r>
          </a:p>
          <a:p>
            <a:pPr algn="just"/>
            <a:r>
              <a:rPr lang="en-US" sz="2400" dirty="0" smtClean="0">
                <a:latin typeface="Cambria" panose="02040503050406030204" pitchFamily="18" charset="0"/>
                <a:ea typeface="Cambria" panose="02040503050406030204" pitchFamily="18" charset="0"/>
              </a:rPr>
              <a:t>It denotes the closeness with which the individual measurements are departed or distributed about the average of numbers of measured values.</a:t>
            </a:r>
          </a:p>
          <a:p>
            <a:pPr algn="just"/>
            <a:r>
              <a:rPr lang="en-US" sz="2400" dirty="0" smtClean="0">
                <a:latin typeface="Cambria" panose="02040503050406030204" pitchFamily="18" charset="0"/>
                <a:ea typeface="Cambria" panose="02040503050406030204" pitchFamily="18" charset="0"/>
              </a:rPr>
              <a:t>High precision may not have high accuracy. </a:t>
            </a:r>
          </a:p>
          <a:p>
            <a:pPr marL="0" indent="0" algn="just">
              <a:buNone/>
            </a:pPr>
            <a:r>
              <a:rPr lang="en-US" sz="2400" b="1" dirty="0" smtClean="0">
                <a:latin typeface="Cambria" panose="02040503050406030204" pitchFamily="18" charset="0"/>
                <a:ea typeface="Cambria" panose="02040503050406030204" pitchFamily="18" charset="0"/>
              </a:rPr>
              <a:t>Types of Precision</a:t>
            </a:r>
          </a:p>
          <a:p>
            <a:pPr algn="just"/>
            <a:r>
              <a:rPr lang="en-US" sz="2400" dirty="0" smtClean="0">
                <a:latin typeface="Cambria" panose="02040503050406030204" pitchFamily="18" charset="0"/>
                <a:ea typeface="Cambria" panose="02040503050406030204" pitchFamily="18" charset="0"/>
              </a:rPr>
              <a:t>Conformity</a:t>
            </a:r>
          </a:p>
          <a:p>
            <a:pPr algn="just"/>
            <a:r>
              <a:rPr lang="en-US" sz="2400" dirty="0" smtClean="0">
                <a:latin typeface="Cambria" panose="02040503050406030204" pitchFamily="18" charset="0"/>
                <a:ea typeface="Cambria" panose="02040503050406030204" pitchFamily="18" charset="0"/>
              </a:rPr>
              <a:t>Number of significant figures</a:t>
            </a:r>
          </a:p>
        </p:txBody>
      </p:sp>
    </p:spTree>
    <p:extLst>
      <p:ext uri="{BB962C8B-B14F-4D97-AF65-F5344CB8AC3E}">
        <p14:creationId xmlns:p14="http://schemas.microsoft.com/office/powerpoint/2010/main" val="16075372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654666" cy="1059520"/>
          </a:xfrm>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a:xfrm>
            <a:off x="924503" y="1262983"/>
            <a:ext cx="10255425" cy="5210969"/>
          </a:xfrm>
        </p:spPr>
        <p:txBody>
          <a:bodyPr>
            <a:normAutofit/>
          </a:bodyPr>
          <a:lstStyle/>
          <a:p>
            <a:pPr marL="0" indent="0">
              <a:buNone/>
            </a:pPr>
            <a:r>
              <a:rPr lang="en-US" sz="2400" b="1" dirty="0">
                <a:latin typeface="Cambria" panose="02040503050406030204" pitchFamily="18" charset="0"/>
                <a:ea typeface="Cambria" panose="02040503050406030204" pitchFamily="18" charset="0"/>
              </a:rPr>
              <a:t>Conformity</a:t>
            </a:r>
          </a:p>
          <a:p>
            <a:pPr algn="just"/>
            <a:r>
              <a:rPr lang="en-US" sz="2400" dirty="0" smtClean="0">
                <a:latin typeface="Cambria" panose="02040503050406030204" pitchFamily="18" charset="0"/>
                <a:ea typeface="Cambria" panose="02040503050406030204" pitchFamily="18" charset="0"/>
              </a:rPr>
              <a:t>Error created due to limitation of scale reading is a precision error. e.g. resistor value is 2385702 </a:t>
            </a:r>
            <a:r>
              <a:rPr lang="el-GR" sz="2400" dirty="0" smtClean="0">
                <a:latin typeface="Cambria" panose="02040503050406030204" pitchFamily="18" charset="0"/>
                <a:ea typeface="Cambria" panose="02040503050406030204" pitchFamily="18" charset="0"/>
              </a:rPr>
              <a:t>Ω</a:t>
            </a:r>
            <a:r>
              <a:rPr lang="en-US" sz="2400" dirty="0" smtClean="0">
                <a:latin typeface="Cambria" panose="02040503050406030204" pitchFamily="18" charset="0"/>
                <a:ea typeface="Cambria" panose="02040503050406030204" pitchFamily="18" charset="0"/>
              </a:rPr>
              <a:t>  is read as 2.4M</a:t>
            </a:r>
            <a:r>
              <a:rPr lang="el-GR" sz="2400" dirty="0" smtClean="0">
                <a:latin typeface="Cambria" panose="02040503050406030204" pitchFamily="18" charset="0"/>
                <a:ea typeface="Cambria" panose="02040503050406030204" pitchFamily="18" charset="0"/>
              </a:rPr>
              <a:t>Ω</a:t>
            </a:r>
            <a:endParaRPr lang="en-US" sz="2400" dirty="0" smtClean="0">
              <a:latin typeface="Cambria" panose="02040503050406030204" pitchFamily="18" charset="0"/>
              <a:ea typeface="Cambria" panose="02040503050406030204" pitchFamily="18" charset="0"/>
            </a:endParaRPr>
          </a:p>
          <a:p>
            <a:pPr marL="0" indent="0" algn="just">
              <a:buNone/>
            </a:pPr>
            <a:r>
              <a:rPr lang="en-US" sz="2400" b="1" dirty="0" smtClean="0">
                <a:latin typeface="Cambria" panose="02040503050406030204" pitchFamily="18" charset="0"/>
                <a:ea typeface="Cambria" panose="02040503050406030204" pitchFamily="18" charset="0"/>
              </a:rPr>
              <a:t>Significant figures</a:t>
            </a:r>
          </a:p>
          <a:p>
            <a:pPr algn="just"/>
            <a:r>
              <a:rPr lang="en-US" sz="2400" dirty="0" smtClean="0">
                <a:latin typeface="Cambria" panose="02040503050406030204" pitchFamily="18" charset="0"/>
                <a:ea typeface="Cambria" panose="02040503050406030204" pitchFamily="18" charset="0"/>
              </a:rPr>
              <a:t>Precision is obtained from number of significant figures. e.g. 110</a:t>
            </a:r>
            <a:r>
              <a:rPr lang="el-GR" sz="2400" dirty="0" smtClean="0">
                <a:latin typeface="Cambria" panose="02040503050406030204" pitchFamily="18" charset="0"/>
                <a:ea typeface="Cambria" panose="02040503050406030204" pitchFamily="18" charset="0"/>
              </a:rPr>
              <a:t>Ω</a:t>
            </a:r>
            <a:r>
              <a:rPr lang="en-US" sz="2400" dirty="0" smtClean="0">
                <a:latin typeface="Cambria" panose="02040503050406030204" pitchFamily="18" charset="0"/>
                <a:ea typeface="Cambria" panose="02040503050406030204" pitchFamily="18" charset="0"/>
              </a:rPr>
              <a:t> can be specified as 109</a:t>
            </a:r>
            <a:r>
              <a:rPr lang="el-GR" sz="2400" dirty="0" smtClean="0">
                <a:latin typeface="Cambria" panose="02040503050406030204" pitchFamily="18" charset="0"/>
                <a:ea typeface="Cambria" panose="02040503050406030204" pitchFamily="18" charset="0"/>
              </a:rPr>
              <a:t>Ω</a:t>
            </a:r>
            <a:r>
              <a:rPr lang="en-US" sz="2400" dirty="0" smtClean="0">
                <a:latin typeface="Cambria" panose="02040503050406030204" pitchFamily="18" charset="0"/>
                <a:ea typeface="Cambria" panose="02040503050406030204" pitchFamily="18" charset="0"/>
              </a:rPr>
              <a:t> or 111</a:t>
            </a:r>
            <a:r>
              <a:rPr lang="el-GR" sz="2400" dirty="0" smtClean="0">
                <a:latin typeface="Cambria" panose="02040503050406030204" pitchFamily="18" charset="0"/>
                <a:ea typeface="Cambria" panose="02040503050406030204" pitchFamily="18" charset="0"/>
              </a:rPr>
              <a:t>Ω</a:t>
            </a:r>
            <a:r>
              <a:rPr lang="en-US" sz="2400" dirty="0" smtClean="0">
                <a:latin typeface="Cambria" panose="02040503050406030204" pitchFamily="18" charset="0"/>
                <a:ea typeface="Cambria" panose="02040503050406030204" pitchFamily="18" charset="0"/>
              </a:rPr>
              <a:t> thus 3 significant figures. If it is specified as 110.0</a:t>
            </a:r>
            <a:r>
              <a:rPr lang="el-GR" sz="2400" dirty="0" smtClean="0">
                <a:latin typeface="Cambria" panose="02040503050406030204" pitchFamily="18" charset="0"/>
                <a:ea typeface="Cambria" panose="02040503050406030204" pitchFamily="18" charset="0"/>
              </a:rPr>
              <a:t>Ω</a:t>
            </a:r>
            <a:r>
              <a:rPr lang="en-US" sz="2400" dirty="0" smtClean="0">
                <a:latin typeface="Cambria" panose="02040503050406030204" pitchFamily="18" charset="0"/>
                <a:ea typeface="Cambria" panose="02040503050406030204" pitchFamily="18" charset="0"/>
              </a:rPr>
              <a:t> then it may be 110.1</a:t>
            </a:r>
            <a:r>
              <a:rPr lang="el-GR" sz="2400" dirty="0" smtClean="0">
                <a:latin typeface="Cambria" panose="02040503050406030204" pitchFamily="18" charset="0"/>
                <a:ea typeface="Cambria" panose="02040503050406030204" pitchFamily="18" charset="0"/>
              </a:rPr>
              <a:t>Ω</a:t>
            </a:r>
            <a:r>
              <a:rPr lang="en-US" sz="2400" dirty="0" smtClean="0">
                <a:latin typeface="Cambria" panose="02040503050406030204" pitchFamily="18" charset="0"/>
                <a:ea typeface="Cambria" panose="02040503050406030204" pitchFamily="18" charset="0"/>
              </a:rPr>
              <a:t> or 109.9</a:t>
            </a:r>
            <a:r>
              <a:rPr lang="el-GR" sz="2400" dirty="0" smtClean="0">
                <a:latin typeface="Cambria" panose="02040503050406030204" pitchFamily="18" charset="0"/>
                <a:ea typeface="Cambria" panose="02040503050406030204" pitchFamily="18" charset="0"/>
              </a:rPr>
              <a:t>Ω</a:t>
            </a:r>
            <a:r>
              <a:rPr lang="en-US" sz="2400" dirty="0" smtClean="0">
                <a:latin typeface="Cambria" panose="02040503050406030204" pitchFamily="18" charset="0"/>
                <a:ea typeface="Cambria" panose="02040503050406030204" pitchFamily="18" charset="0"/>
              </a:rPr>
              <a:t> thus four significant figures.</a:t>
            </a:r>
          </a:p>
          <a:p>
            <a:pPr algn="just"/>
            <a:r>
              <a:rPr lang="en-US" sz="2400" dirty="0" smtClean="0">
                <a:latin typeface="Cambria" panose="02040503050406030204" pitchFamily="18" charset="0"/>
                <a:ea typeface="Cambria" panose="02040503050406030204" pitchFamily="18" charset="0"/>
              </a:rPr>
              <a:t>Greater the significant figures greater is the precision</a:t>
            </a:r>
            <a:endParaRPr lang="en-US" sz="2400" dirty="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182392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927471" cy="938274"/>
          </a:xfrm>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838200" y="1217516"/>
                <a:ext cx="10515600" cy="4959447"/>
              </a:xfrm>
            </p:spPr>
            <p:txBody>
              <a:bodyPr>
                <a:normAutofit fontScale="85000" lnSpcReduction="20000"/>
              </a:bodyPr>
              <a:lstStyle/>
              <a:p>
                <a:pPr marL="0" indent="0" algn="just">
                  <a:buNone/>
                </a:pPr>
                <a:r>
                  <a:rPr lang="en-US" b="1" dirty="0" smtClean="0">
                    <a:latin typeface="Cambria" panose="02040503050406030204" pitchFamily="18" charset="0"/>
                    <a:ea typeface="Cambria" panose="02040503050406030204" pitchFamily="18" charset="0"/>
                  </a:rPr>
                  <a:t>3. Error:</a:t>
                </a:r>
              </a:p>
              <a:p>
                <a:pPr algn="just"/>
                <a:r>
                  <a:rPr lang="en-US" dirty="0" smtClean="0">
                    <a:latin typeface="Cambria" panose="02040503050406030204" pitchFamily="18" charset="0"/>
                    <a:ea typeface="Cambria" panose="02040503050406030204" pitchFamily="18" charset="0"/>
                  </a:rPr>
                  <a:t>The algebraic difference between the indicated value and the true value of a quantity to be measured is called an error.</a:t>
                </a:r>
              </a:p>
              <a:p>
                <a:pPr algn="just"/>
                <a:r>
                  <a:rPr lang="en-US" dirty="0" smtClean="0">
                    <a:latin typeface="Cambria" panose="02040503050406030204" pitchFamily="18" charset="0"/>
                    <a:ea typeface="Cambria" panose="02040503050406030204" pitchFamily="18" charset="0"/>
                  </a:rPr>
                  <a:t>Error of 1 unit is negligible when measure in order of 1000 units</a:t>
                </a:r>
              </a:p>
              <a:p>
                <a:pPr algn="just"/>
                <a:r>
                  <a:rPr lang="en-US" dirty="0" smtClean="0">
                    <a:latin typeface="Cambria" panose="02040503050406030204" pitchFamily="18" charset="0"/>
                    <a:ea typeface="Cambria" panose="02040503050406030204" pitchFamily="18" charset="0"/>
                  </a:rPr>
                  <a:t>Error of 1 unit is significant when measure in order of 5 units.</a:t>
                </a:r>
              </a:p>
              <a:p>
                <a:pPr marL="0" indent="0" algn="just">
                  <a:buNone/>
                </a:pPr>
                <a:r>
                  <a:rPr lang="en-US" b="0" dirty="0" smtClean="0">
                    <a:latin typeface="Cambria" panose="02040503050406030204" pitchFamily="18" charset="0"/>
                    <a:ea typeface="Cambria" panose="02040503050406030204" pitchFamily="18" charset="0"/>
                  </a:rPr>
                  <a:t>                               </a:t>
                </a:r>
                <a14:m>
                  <m:oMath xmlns:m="http://schemas.openxmlformats.org/officeDocument/2006/math">
                    <m:r>
                      <a:rPr lang="en-US" b="0" i="1" dirty="0" smtClean="0">
                        <a:latin typeface="Cambria Math" panose="02040503050406030204" pitchFamily="18" charset="0"/>
                      </a:rPr>
                      <m:t>𝑒</m:t>
                    </m:r>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m:rPr>
                            <m:nor/>
                          </m:rPr>
                          <a:rPr lang="en-US" dirty="0">
                            <a:latin typeface="Cambria" panose="02040503050406030204" pitchFamily="18" charset="0"/>
                            <a:ea typeface="Cambria" panose="02040503050406030204" pitchFamily="18" charset="0"/>
                          </a:rPr>
                          <m:t>A</m:t>
                        </m:r>
                      </m:e>
                      <m:sub>
                        <m:r>
                          <a:rPr lang="en-US" i="1" dirty="0">
                            <a:latin typeface="Cambria Math" panose="02040503050406030204" pitchFamily="18" charset="0"/>
                          </a:rPr>
                          <m:t>𝑡</m:t>
                        </m:r>
                      </m:sub>
                    </m:sSub>
                    <m:r>
                      <m:rPr>
                        <m:nor/>
                      </m:rPr>
                      <a:rPr lang="en-US" dirty="0">
                        <a:latin typeface="Cambria" panose="02040503050406030204" pitchFamily="18" charset="0"/>
                        <a:ea typeface="Cambria" panose="02040503050406030204" pitchFamily="18" charset="0"/>
                      </a:rPr>
                      <m:t> – </m:t>
                    </m:r>
                    <m:sSub>
                      <m:sSubPr>
                        <m:ctrlPr>
                          <a:rPr lang="en-US" i="1" dirty="0">
                            <a:latin typeface="Cambria Math" panose="02040503050406030204" pitchFamily="18" charset="0"/>
                          </a:rPr>
                        </m:ctrlPr>
                      </m:sSubPr>
                      <m:e>
                        <m:r>
                          <m:rPr>
                            <m:nor/>
                          </m:rPr>
                          <a:rPr lang="en-US" dirty="0">
                            <a:latin typeface="Cambria" panose="02040503050406030204" pitchFamily="18" charset="0"/>
                            <a:ea typeface="Cambria" panose="02040503050406030204" pitchFamily="18" charset="0"/>
                          </a:rPr>
                          <m:t>A</m:t>
                        </m:r>
                      </m:e>
                      <m:sub>
                        <m:r>
                          <a:rPr lang="en-US" i="1" dirty="0">
                            <a:latin typeface="Cambria Math" panose="02040503050406030204" pitchFamily="18" charset="0"/>
                          </a:rPr>
                          <m:t>𝑚</m:t>
                        </m:r>
                      </m:sub>
                    </m:sSub>
                  </m:oMath>
                </a14:m>
                <a:r>
                  <a:rPr lang="en-US" dirty="0" smtClean="0">
                    <a:latin typeface="Cambria" panose="02040503050406030204" pitchFamily="18" charset="0"/>
                    <a:ea typeface="Cambria" panose="02040503050406030204" pitchFamily="18" charset="0"/>
                  </a:rPr>
                  <a:t>   where, </a:t>
                </a:r>
              </a:p>
              <a:p>
                <a:pPr marL="0" indent="0" algn="just">
                  <a:buNone/>
                </a:pPr>
                <a:endParaRPr lang="en-US" dirty="0" smtClean="0">
                  <a:latin typeface="Cambria" panose="02040503050406030204" pitchFamily="18" charset="0"/>
                  <a:ea typeface="Cambria" panose="02040503050406030204" pitchFamily="18" charset="0"/>
                </a:endParaRPr>
              </a:p>
              <a:p>
                <a:pPr marL="0" indent="0" algn="just">
                  <a:buNone/>
                </a:pPr>
                <a:r>
                  <a:rPr lang="en-US" dirty="0" smtClean="0">
                    <a:latin typeface="Cambria" panose="02040503050406030204" pitchFamily="18" charset="0"/>
                    <a:ea typeface="Cambria" panose="02040503050406030204" pitchFamily="18" charset="0"/>
                  </a:rPr>
                  <a:t>    </a:t>
                </a:r>
                <a14:m>
                  <m:oMath xmlns:m="http://schemas.openxmlformats.org/officeDocument/2006/math">
                    <m:r>
                      <a:rPr lang="en-US" i="1" dirty="0">
                        <a:latin typeface="Cambria Math" panose="02040503050406030204" pitchFamily="18" charset="0"/>
                      </a:rPr>
                      <m:t>𝑒</m:t>
                    </m:r>
                  </m:oMath>
                </a14:m>
                <a:r>
                  <a:rPr lang="en-US" dirty="0" smtClean="0">
                    <a:latin typeface="Cambria" panose="02040503050406030204" pitchFamily="18" charset="0"/>
                    <a:ea typeface="Cambria" panose="02040503050406030204" pitchFamily="18" charset="0"/>
                  </a:rPr>
                  <a:t> –  error or absolute error</a:t>
                </a:r>
              </a:p>
              <a:p>
                <a:pPr marL="0" indent="0" algn="just">
                  <a:buNone/>
                </a:pPr>
                <a:r>
                  <a:rPr lang="en-US" dirty="0" smtClean="0">
                    <a:latin typeface="Cambria" panose="02040503050406030204" pitchFamily="18" charset="0"/>
                    <a:ea typeface="Cambria" panose="02040503050406030204" pitchFamily="18" charset="0"/>
                  </a:rPr>
                  <a:t>  </a:t>
                </a:r>
                <a14:m>
                  <m:oMath xmlns:m="http://schemas.openxmlformats.org/officeDocument/2006/math">
                    <m:sSub>
                      <m:sSubPr>
                        <m:ctrlPr>
                          <a:rPr lang="en-US" i="1" dirty="0" smtClean="0">
                            <a:latin typeface="Cambria Math" panose="02040503050406030204" pitchFamily="18" charset="0"/>
                          </a:rPr>
                        </m:ctrlPr>
                      </m:sSubPr>
                      <m:e>
                        <m:r>
                          <m:rPr>
                            <m:nor/>
                          </m:rPr>
                          <a:rPr lang="en-US" b="0" i="0" dirty="0" smtClean="0">
                            <a:latin typeface="Cambria" panose="02040503050406030204" pitchFamily="18" charset="0"/>
                            <a:ea typeface="Cambria" panose="02040503050406030204" pitchFamily="18" charset="0"/>
                          </a:rPr>
                          <m:t> </m:t>
                        </m:r>
                        <m:r>
                          <m:rPr>
                            <m:nor/>
                          </m:rPr>
                          <a:rPr lang="en-US" dirty="0">
                            <a:latin typeface="Cambria" panose="02040503050406030204" pitchFamily="18" charset="0"/>
                            <a:ea typeface="Cambria" panose="02040503050406030204" pitchFamily="18" charset="0"/>
                          </a:rPr>
                          <m:t>A</m:t>
                        </m:r>
                      </m:e>
                      <m:sub>
                        <m:r>
                          <a:rPr lang="en-US" i="1" dirty="0">
                            <a:latin typeface="Cambria Math" panose="02040503050406030204" pitchFamily="18" charset="0"/>
                          </a:rPr>
                          <m:t>𝑚</m:t>
                        </m:r>
                      </m:sub>
                    </m:sSub>
                  </m:oMath>
                </a14:m>
                <a:r>
                  <a:rPr lang="en-US" dirty="0" smtClean="0">
                    <a:latin typeface="Cambria" panose="02040503050406030204" pitchFamily="18" charset="0"/>
                    <a:ea typeface="Cambria" panose="02040503050406030204" pitchFamily="18" charset="0"/>
                  </a:rPr>
                  <a:t> – measured value of a quantity</a:t>
                </a:r>
              </a:p>
              <a:p>
                <a:pPr marL="0" indent="0" algn="just">
                  <a:buNone/>
                </a:pP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  </a:t>
                </a:r>
                <a14:m>
                  <m:oMath xmlns:m="http://schemas.openxmlformats.org/officeDocument/2006/math">
                    <m:sSub>
                      <m:sSubPr>
                        <m:ctrlPr>
                          <a:rPr lang="en-US" i="1" dirty="0">
                            <a:latin typeface="Cambria Math" panose="02040503050406030204" pitchFamily="18" charset="0"/>
                          </a:rPr>
                        </m:ctrlPr>
                      </m:sSubPr>
                      <m:e>
                        <m:r>
                          <m:rPr>
                            <m:nor/>
                          </m:rPr>
                          <a:rPr lang="en-US" dirty="0">
                            <a:latin typeface="Cambria" panose="02040503050406030204" pitchFamily="18" charset="0"/>
                            <a:ea typeface="Cambria" panose="02040503050406030204" pitchFamily="18" charset="0"/>
                          </a:rPr>
                          <m:t>A</m:t>
                        </m:r>
                      </m:e>
                      <m:sub>
                        <m:r>
                          <a:rPr lang="en-US" i="1" dirty="0">
                            <a:latin typeface="Cambria Math" panose="02040503050406030204" pitchFamily="18" charset="0"/>
                          </a:rPr>
                          <m:t>𝑡</m:t>
                        </m:r>
                      </m:sub>
                    </m:sSub>
                  </m:oMath>
                </a14:m>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 true value of a quantity</a:t>
                </a:r>
              </a:p>
              <a:p>
                <a:pPr marL="0" indent="0" algn="just">
                  <a:buNone/>
                </a:pP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Note: Instead of specifying absolute error, the relative or percentage of error is specified.</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838200" y="1217516"/>
                <a:ext cx="10515600" cy="4959447"/>
              </a:xfrm>
              <a:blipFill>
                <a:blip r:embed="rId2"/>
                <a:stretch>
                  <a:fillRect l="-928" t="-3075" r="-870"/>
                </a:stretch>
              </a:blipFill>
            </p:spPr>
            <p:txBody>
              <a:bodyPr/>
              <a:lstStyle/>
              <a:p>
                <a:r>
                  <a:rPr lang="en-US">
                    <a:noFill/>
                  </a:rPr>
                  <a:t> </a:t>
                </a:r>
              </a:p>
            </p:txBody>
          </p:sp>
        </mc:Fallback>
      </mc:AlternateContent>
    </p:spTree>
    <p:extLst>
      <p:ext uri="{BB962C8B-B14F-4D97-AF65-F5344CB8AC3E}">
        <p14:creationId xmlns:p14="http://schemas.microsoft.com/office/powerpoint/2010/main" val="27088806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sz="quarter" idx="1"/>
              </p:nvPr>
            </p:nvSpPr>
            <p:spPr/>
            <p:txBody>
              <a:bodyPr>
                <a:normAutofit fontScale="85000" lnSpcReduction="20000"/>
              </a:bodyPr>
              <a:lstStyle/>
              <a:p>
                <a:pPr algn="just"/>
                <a:r>
                  <a:rPr lang="en-US" b="1" dirty="0" smtClean="0">
                    <a:latin typeface="Cambria" panose="02040503050406030204" pitchFamily="18" charset="0"/>
                    <a:ea typeface="Cambria" panose="02040503050406030204" pitchFamily="18" charset="0"/>
                  </a:rPr>
                  <a:t>Relative error(</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𝑟</m:t>
                        </m:r>
                      </m:sub>
                    </m:sSub>
                  </m:oMath>
                </a14:m>
                <a:r>
                  <a:rPr lang="en-US" b="1" dirty="0" smtClean="0">
                    <a:latin typeface="Cambria" panose="02040503050406030204" pitchFamily="18" charset="0"/>
                    <a:ea typeface="Cambria" panose="02040503050406030204" pitchFamily="18" charset="0"/>
                  </a:rPr>
                  <a:t>):</a:t>
                </a:r>
                <a:endParaRPr lang="en-US" b="1" dirty="0">
                  <a:latin typeface="Cambria" panose="02040503050406030204" pitchFamily="18" charset="0"/>
                  <a:ea typeface="Cambria"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𝑟</m:t>
                          </m:r>
                        </m:sub>
                      </m:sSub>
                      <m:r>
                        <a:rPr lang="en-US" b="0" i="1"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𝐴𝑏𝑠𝑜𝑙𝑢𝑡𝑒</m:t>
                          </m:r>
                          <m:r>
                            <a:rPr lang="en-US" b="0" i="1" smtClean="0">
                              <a:latin typeface="Cambria Math" panose="02040503050406030204" pitchFamily="18" charset="0"/>
                            </a:rPr>
                            <m:t> </m:t>
                          </m:r>
                          <m:r>
                            <a:rPr lang="en-US" b="0" i="1" smtClean="0">
                              <a:latin typeface="Cambria Math" panose="02040503050406030204" pitchFamily="18" charset="0"/>
                            </a:rPr>
                            <m:t>𝑒𝑟𝑟𝑜𝑟</m:t>
                          </m:r>
                        </m:num>
                        <m:den>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𝑣𝑎𝑙𝑢𝑒</m:t>
                          </m:r>
                        </m:den>
                      </m:f>
                    </m:oMath>
                  </m:oMathPara>
                </a14:m>
                <a:endParaRPr lang="en-US" i="1" dirty="0" smtClean="0">
                  <a:latin typeface="Cambria" panose="02040503050406030204" pitchFamily="18" charset="0"/>
                  <a:ea typeface="Cambria" panose="02040503050406030204" pitchFamily="18" charset="0"/>
                </a:endParaRPr>
              </a:p>
              <a:p>
                <a:pPr marL="0" indent="0" algn="just">
                  <a:buNone/>
                </a:pPr>
                <a:endParaRPr lang="en-US" i="1" dirty="0" smtClean="0">
                  <a:latin typeface="Cambria" panose="02040503050406030204" pitchFamily="18" charset="0"/>
                  <a:ea typeface="Cambria"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0" i="1">
                              <a:latin typeface="Cambria Math" panose="02040503050406030204" pitchFamily="18" charset="0"/>
                            </a:rPr>
                            <m:t>𝑒</m:t>
                          </m:r>
                        </m:e>
                        <m:sub>
                          <m:r>
                            <a:rPr lang="en-US" b="0" i="1">
                              <a:latin typeface="Cambria Math" panose="02040503050406030204" pitchFamily="18" charset="0"/>
                            </a:rPr>
                            <m:t>𝑟</m:t>
                          </m:r>
                        </m:sub>
                      </m:sSub>
                      <m:r>
                        <a:rPr lang="en-US" b="0" i="1">
                          <a:latin typeface="Cambria Math" panose="02040503050406030204" pitchFamily="18" charset="0"/>
                        </a:rPr>
                        <m:t>= </m:t>
                      </m:r>
                      <m:f>
                        <m:fPr>
                          <m:ctrlPr>
                            <a:rPr lang="en-US" i="1">
                              <a:latin typeface="Cambria Math" panose="02040503050406030204" pitchFamily="18" charset="0"/>
                            </a:rPr>
                          </m:ctrlPr>
                        </m:fPr>
                        <m:num>
                          <m:sSub>
                            <m:sSubPr>
                              <m:ctrlPr>
                                <a:rPr lang="en-US" i="1" dirty="0">
                                  <a:latin typeface="Cambria Math" panose="02040503050406030204" pitchFamily="18" charset="0"/>
                                </a:rPr>
                              </m:ctrlPr>
                            </m:sSubPr>
                            <m:e>
                              <m:r>
                                <m:rPr>
                                  <m:nor/>
                                </m:rPr>
                                <a:rPr lang="en-US" dirty="0">
                                  <a:latin typeface="Cambria" panose="02040503050406030204" pitchFamily="18" charset="0"/>
                                  <a:ea typeface="Cambria" panose="02040503050406030204" pitchFamily="18" charset="0"/>
                                </a:rPr>
                                <m:t>A</m:t>
                              </m:r>
                            </m:e>
                            <m:sub>
                              <m:r>
                                <a:rPr lang="en-US" b="0" i="1" dirty="0">
                                  <a:latin typeface="Cambria Math" panose="02040503050406030204" pitchFamily="18" charset="0"/>
                                </a:rPr>
                                <m:t>𝑡</m:t>
                              </m:r>
                            </m:sub>
                          </m:sSub>
                          <m:r>
                            <m:rPr>
                              <m:nor/>
                            </m:rPr>
                            <a:rPr lang="en-US" dirty="0">
                              <a:latin typeface="Cambria" panose="02040503050406030204" pitchFamily="18" charset="0"/>
                              <a:ea typeface="Cambria" panose="02040503050406030204" pitchFamily="18" charset="0"/>
                            </a:rPr>
                            <m:t> – </m:t>
                          </m:r>
                          <m:sSub>
                            <m:sSubPr>
                              <m:ctrlPr>
                                <a:rPr lang="en-US" i="1" dirty="0">
                                  <a:latin typeface="Cambria Math" panose="02040503050406030204" pitchFamily="18" charset="0"/>
                                </a:rPr>
                              </m:ctrlPr>
                            </m:sSubPr>
                            <m:e>
                              <m:r>
                                <m:rPr>
                                  <m:nor/>
                                </m:rPr>
                                <a:rPr lang="en-US" dirty="0">
                                  <a:latin typeface="Cambria" panose="02040503050406030204" pitchFamily="18" charset="0"/>
                                  <a:ea typeface="Cambria" panose="02040503050406030204" pitchFamily="18" charset="0"/>
                                </a:rPr>
                                <m:t>A</m:t>
                              </m:r>
                            </m:e>
                            <m:sub>
                              <m:r>
                                <a:rPr lang="en-US" b="0" i="1" dirty="0">
                                  <a:latin typeface="Cambria Math" panose="02040503050406030204" pitchFamily="18" charset="0"/>
                                </a:rPr>
                                <m:t>𝑚</m:t>
                              </m:r>
                            </m:sub>
                          </m:sSub>
                        </m:num>
                        <m:den>
                          <m:sSub>
                            <m:sSubPr>
                              <m:ctrlPr>
                                <a:rPr lang="en-US" i="1" dirty="0" smtClean="0">
                                  <a:latin typeface="Cambria Math" panose="02040503050406030204" pitchFamily="18" charset="0"/>
                                </a:rPr>
                              </m:ctrlPr>
                            </m:sSubPr>
                            <m:e>
                              <m:r>
                                <m:rPr>
                                  <m:nor/>
                                </m:rPr>
                                <a:rPr lang="en-US" dirty="0">
                                  <a:latin typeface="Cambria" panose="02040503050406030204" pitchFamily="18" charset="0"/>
                                  <a:ea typeface="Cambria" panose="02040503050406030204" pitchFamily="18" charset="0"/>
                                </a:rPr>
                                <m:t>A</m:t>
                              </m:r>
                            </m:e>
                            <m:sub>
                              <m:r>
                                <a:rPr lang="en-US" b="0" i="1" dirty="0">
                                  <a:latin typeface="Cambria Math" panose="02040503050406030204" pitchFamily="18" charset="0"/>
                                </a:rPr>
                                <m:t>𝑡</m:t>
                              </m:r>
                            </m:sub>
                          </m:sSub>
                        </m:den>
                      </m:f>
                    </m:oMath>
                  </m:oMathPara>
                </a14:m>
                <a:endParaRPr lang="en-US" dirty="0" smtClean="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u="sng" dirty="0" smtClean="0">
                    <a:latin typeface="Cambria" panose="02040503050406030204" pitchFamily="18" charset="0"/>
                    <a:ea typeface="Cambria" panose="02040503050406030204" pitchFamily="18" charset="0"/>
                  </a:rPr>
                  <a:t>percentage relative error(</a:t>
                </a:r>
                <a14:m>
                  <m:oMath xmlns:m="http://schemas.openxmlformats.org/officeDocument/2006/math">
                    <m:sSub>
                      <m:sSubPr>
                        <m:ctrlPr>
                          <a:rPr lang="en-US" i="1" u="sng">
                            <a:latin typeface="Cambria Math" panose="02040503050406030204" pitchFamily="18" charset="0"/>
                          </a:rPr>
                        </m:ctrlPr>
                      </m:sSubPr>
                      <m:e>
                        <m:r>
                          <a:rPr lang="en-US" i="1" u="sng">
                            <a:latin typeface="Cambria Math" panose="02040503050406030204" pitchFamily="18" charset="0"/>
                          </a:rPr>
                          <m:t> %</m:t>
                        </m:r>
                        <m:r>
                          <a:rPr lang="en-US" i="1" u="sng">
                            <a:latin typeface="Cambria Math" panose="02040503050406030204" pitchFamily="18" charset="0"/>
                          </a:rPr>
                          <m:t>𝑒</m:t>
                        </m:r>
                      </m:e>
                      <m:sub>
                        <m:r>
                          <a:rPr lang="en-US" i="1" u="sng">
                            <a:latin typeface="Cambria Math" panose="02040503050406030204" pitchFamily="18" charset="0"/>
                          </a:rPr>
                          <m:t>𝑟</m:t>
                        </m:r>
                        <m:r>
                          <a:rPr lang="en-US" i="1" u="sng">
                            <a:latin typeface="Cambria Math" panose="02040503050406030204" pitchFamily="18" charset="0"/>
                          </a:rPr>
                          <m:t>  </m:t>
                        </m:r>
                      </m:sub>
                    </m:sSub>
                  </m:oMath>
                </a14:m>
                <a:r>
                  <a:rPr lang="en-US" u="sng" dirty="0" smtClean="0">
                    <a:latin typeface="Cambria" panose="02040503050406030204" pitchFamily="18" charset="0"/>
                    <a:ea typeface="Cambria" panose="02040503050406030204" pitchFamily="18" charset="0"/>
                  </a:rPr>
                  <a:t>):</a:t>
                </a:r>
              </a:p>
              <a:p>
                <a:pPr marL="0" indent="0" algn="just">
                  <a:buNone/>
                </a:pPr>
                <a:r>
                  <a:rPr lang="en-US" dirty="0" smtClean="0">
                    <a:latin typeface="Cambria" panose="02040503050406030204" pitchFamily="18" charset="0"/>
                    <a:ea typeface="Cambria" panose="02040503050406030204" pitchFamily="18" charset="0"/>
                  </a:rPr>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𝑒</m:t>
                        </m:r>
                      </m:e>
                      <m:sub>
                        <m:r>
                          <a:rPr lang="en-US" i="1">
                            <a:latin typeface="Cambria Math" panose="02040503050406030204" pitchFamily="18" charset="0"/>
                          </a:rPr>
                          <m:t>𝑟</m:t>
                        </m:r>
                      </m:sub>
                    </m:sSub>
                    <m:r>
                      <a:rPr lang="en-US" b="0" i="1" smtClean="0">
                        <a:latin typeface="Cambria Math" panose="02040503050406030204" pitchFamily="18" charset="0"/>
                      </a:rPr>
                      <m:t> </m:t>
                    </m:r>
                    <m:r>
                      <a:rPr lang="en-US" i="1">
                        <a:latin typeface="Cambria Math" panose="02040503050406030204" pitchFamily="18" charset="0"/>
                      </a:rPr>
                      <m:t>=</m:t>
                    </m:r>
                    <m:r>
                      <a:rPr lang="en-US" b="0" i="1" smtClean="0">
                        <a:latin typeface="Cambria Math" panose="02040503050406030204" pitchFamily="18" charset="0"/>
                      </a:rPr>
                      <m:t> </m:t>
                    </m:r>
                    <m:f>
                      <m:fPr>
                        <m:ctrlPr>
                          <a:rPr lang="en-US" i="1">
                            <a:latin typeface="Cambria Math" panose="02040503050406030204" pitchFamily="18" charset="0"/>
                          </a:rPr>
                        </m:ctrlPr>
                      </m:fPr>
                      <m:num>
                        <m:sSub>
                          <m:sSubPr>
                            <m:ctrlPr>
                              <a:rPr lang="en-US" i="1" dirty="0">
                                <a:latin typeface="Cambria Math" panose="02040503050406030204" pitchFamily="18" charset="0"/>
                              </a:rPr>
                            </m:ctrlPr>
                          </m:sSubPr>
                          <m:e>
                            <m:r>
                              <m:rPr>
                                <m:nor/>
                              </m:rPr>
                              <a:rPr lang="en-US" dirty="0">
                                <a:latin typeface="Cambria" panose="02040503050406030204" pitchFamily="18" charset="0"/>
                                <a:ea typeface="Cambria" panose="02040503050406030204" pitchFamily="18" charset="0"/>
                              </a:rPr>
                              <m:t>A</m:t>
                            </m:r>
                          </m:e>
                          <m:sub>
                            <m:r>
                              <a:rPr lang="en-US" i="1" dirty="0">
                                <a:latin typeface="Cambria Math" panose="02040503050406030204" pitchFamily="18" charset="0"/>
                              </a:rPr>
                              <m:t>𝑡</m:t>
                            </m:r>
                          </m:sub>
                        </m:sSub>
                        <m:r>
                          <m:rPr>
                            <m:nor/>
                          </m:rPr>
                          <a:rPr lang="en-US" dirty="0">
                            <a:latin typeface="Cambria" panose="02040503050406030204" pitchFamily="18" charset="0"/>
                            <a:ea typeface="Cambria" panose="02040503050406030204" pitchFamily="18" charset="0"/>
                          </a:rPr>
                          <m:t> – </m:t>
                        </m:r>
                        <m:sSub>
                          <m:sSubPr>
                            <m:ctrlPr>
                              <a:rPr lang="en-US" i="1" dirty="0">
                                <a:latin typeface="Cambria Math" panose="02040503050406030204" pitchFamily="18" charset="0"/>
                              </a:rPr>
                            </m:ctrlPr>
                          </m:sSubPr>
                          <m:e>
                            <m:r>
                              <m:rPr>
                                <m:nor/>
                              </m:rPr>
                              <a:rPr lang="en-US" dirty="0">
                                <a:latin typeface="Cambria" panose="02040503050406030204" pitchFamily="18" charset="0"/>
                                <a:ea typeface="Cambria" panose="02040503050406030204" pitchFamily="18" charset="0"/>
                              </a:rPr>
                              <m:t>A</m:t>
                            </m:r>
                          </m:e>
                          <m:sub>
                            <m:r>
                              <a:rPr lang="en-US" i="1" dirty="0">
                                <a:latin typeface="Cambria Math" panose="02040503050406030204" pitchFamily="18" charset="0"/>
                              </a:rPr>
                              <m:t>𝑚</m:t>
                            </m:r>
                          </m:sub>
                        </m:sSub>
                      </m:num>
                      <m:den>
                        <m:sSub>
                          <m:sSubPr>
                            <m:ctrlPr>
                              <a:rPr lang="en-US" i="1" dirty="0">
                                <a:latin typeface="Cambria Math" panose="02040503050406030204" pitchFamily="18" charset="0"/>
                              </a:rPr>
                            </m:ctrlPr>
                          </m:sSubPr>
                          <m:e>
                            <m:r>
                              <m:rPr>
                                <m:nor/>
                              </m:rPr>
                              <a:rPr lang="en-US" dirty="0">
                                <a:latin typeface="Cambria" panose="02040503050406030204" pitchFamily="18" charset="0"/>
                                <a:ea typeface="Cambria" panose="02040503050406030204" pitchFamily="18" charset="0"/>
                              </a:rPr>
                              <m:t>A</m:t>
                            </m:r>
                          </m:e>
                          <m:sub>
                            <m:r>
                              <a:rPr lang="en-US" i="1" dirty="0">
                                <a:latin typeface="Cambria Math" panose="02040503050406030204" pitchFamily="18" charset="0"/>
                              </a:rPr>
                              <m:t>𝑡</m:t>
                            </m:r>
                          </m:sub>
                        </m:sSub>
                      </m:den>
                    </m:f>
                    <m:r>
                      <a:rPr lang="en-US" b="0" i="1" dirty="0"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100</m:t>
                    </m:r>
                  </m:oMath>
                </a14:m>
                <a:endParaRPr lang="en-US" b="1" dirty="0" smtClean="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u="sng" dirty="0" smtClean="0">
                    <a:latin typeface="Cambria" panose="02040503050406030204" pitchFamily="18" charset="0"/>
                    <a:ea typeface="Cambria" panose="02040503050406030204" pitchFamily="18" charset="0"/>
                  </a:rPr>
                  <a:t>relative accuracy(A):</a:t>
                </a:r>
              </a:p>
              <a:p>
                <a:pPr marL="0" indent="0" algn="just">
                  <a:buNone/>
                </a:pPr>
                <a:r>
                  <a:rPr lang="en-US" dirty="0" smtClean="0">
                    <a:latin typeface="Cambria" panose="02040503050406030204" pitchFamily="18" charset="0"/>
                    <a:ea typeface="Cambria" panose="02040503050406030204" pitchFamily="18" charset="0"/>
                  </a:rPr>
                  <a:t>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1−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𝑟</m:t>
                        </m:r>
                      </m:sub>
                    </m:sSub>
                  </m:oMath>
                </a14:m>
                <a:endParaRPr lang="en-US" b="0" dirty="0" smtClean="0">
                  <a:latin typeface="Cambria" panose="02040503050406030204" pitchFamily="18" charset="0"/>
                  <a:ea typeface="Cambria" panose="02040503050406030204" pitchFamily="18" charset="0"/>
                </a:endParaRPr>
              </a:p>
              <a:p>
                <a:pPr marL="0" indent="0" algn="just">
                  <a:buNone/>
                </a:pP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                              </a:t>
                </a:r>
                <a14:m>
                  <m:oMath xmlns:m="http://schemas.openxmlformats.org/officeDocument/2006/math">
                    <m:r>
                      <a:rPr lang="en-US" b="0" i="1" smtClean="0">
                        <a:latin typeface="Cambria Math" panose="02040503050406030204" pitchFamily="18" charset="0"/>
                      </a:rPr>
                      <m:t>=  1 − </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i="1" dirty="0">
                                    <a:latin typeface="Cambria Math" panose="02040503050406030204" pitchFamily="18" charset="0"/>
                                  </a:rPr>
                                </m:ctrlPr>
                              </m:sSubPr>
                              <m:e>
                                <m:r>
                                  <m:rPr>
                                    <m:nor/>
                                  </m:rPr>
                                  <a:rPr lang="en-US" dirty="0">
                                    <a:latin typeface="Cambria" panose="02040503050406030204" pitchFamily="18" charset="0"/>
                                    <a:ea typeface="Cambria" panose="02040503050406030204" pitchFamily="18" charset="0"/>
                                  </a:rPr>
                                  <m:t>A</m:t>
                                </m:r>
                              </m:e>
                              <m:sub>
                                <m:r>
                                  <a:rPr lang="en-US" i="1" dirty="0">
                                    <a:latin typeface="Cambria Math" panose="02040503050406030204" pitchFamily="18" charset="0"/>
                                  </a:rPr>
                                  <m:t>𝑡</m:t>
                                </m:r>
                              </m:sub>
                            </m:sSub>
                            <m:r>
                              <m:rPr>
                                <m:nor/>
                              </m:rPr>
                              <a:rPr lang="en-US" dirty="0">
                                <a:latin typeface="Cambria" panose="02040503050406030204" pitchFamily="18" charset="0"/>
                                <a:ea typeface="Cambria" panose="02040503050406030204" pitchFamily="18" charset="0"/>
                              </a:rPr>
                              <m:t> – </m:t>
                            </m:r>
                            <m:sSub>
                              <m:sSubPr>
                                <m:ctrlPr>
                                  <a:rPr lang="en-US" i="1" dirty="0">
                                    <a:latin typeface="Cambria Math" panose="02040503050406030204" pitchFamily="18" charset="0"/>
                                  </a:rPr>
                                </m:ctrlPr>
                              </m:sSubPr>
                              <m:e>
                                <m:r>
                                  <m:rPr>
                                    <m:nor/>
                                  </m:rPr>
                                  <a:rPr lang="en-US" dirty="0">
                                    <a:latin typeface="Cambria" panose="02040503050406030204" pitchFamily="18" charset="0"/>
                                    <a:ea typeface="Cambria" panose="02040503050406030204" pitchFamily="18" charset="0"/>
                                  </a:rPr>
                                  <m:t>A</m:t>
                                </m:r>
                              </m:e>
                              <m:sub>
                                <m:r>
                                  <a:rPr lang="en-US" i="1" dirty="0">
                                    <a:latin typeface="Cambria Math" panose="02040503050406030204" pitchFamily="18" charset="0"/>
                                  </a:rPr>
                                  <m:t>𝑚</m:t>
                                </m:r>
                              </m:sub>
                            </m:sSub>
                          </m:num>
                          <m:den>
                            <m:sSub>
                              <m:sSubPr>
                                <m:ctrlPr>
                                  <a:rPr lang="en-US" i="1" dirty="0">
                                    <a:latin typeface="Cambria Math" panose="02040503050406030204" pitchFamily="18" charset="0"/>
                                  </a:rPr>
                                </m:ctrlPr>
                              </m:sSubPr>
                              <m:e>
                                <m:r>
                                  <m:rPr>
                                    <m:nor/>
                                  </m:rPr>
                                  <a:rPr lang="en-US" dirty="0">
                                    <a:latin typeface="Cambria" panose="02040503050406030204" pitchFamily="18" charset="0"/>
                                    <a:ea typeface="Cambria" panose="02040503050406030204" pitchFamily="18" charset="0"/>
                                  </a:rPr>
                                  <m:t>A</m:t>
                                </m:r>
                              </m:e>
                              <m:sub>
                                <m:r>
                                  <a:rPr lang="en-US" i="1" dirty="0">
                                    <a:latin typeface="Cambria Math" panose="02040503050406030204" pitchFamily="18" charset="0"/>
                                  </a:rPr>
                                  <m:t>𝑡</m:t>
                                </m:r>
                              </m:sub>
                            </m:sSub>
                          </m:den>
                        </m:f>
                      </m:e>
                    </m:d>
                    <m:r>
                      <a:rPr lang="en-US" b="0" i="1" smtClean="0">
                        <a:latin typeface="Cambria Math" panose="02040503050406030204" pitchFamily="18" charset="0"/>
                      </a:rPr>
                      <m:t> </m:t>
                    </m:r>
                  </m:oMath>
                </a14:m>
                <a:endParaRPr lang="en-US" b="0" dirty="0" smtClean="0">
                  <a:latin typeface="Cambria" panose="02040503050406030204" pitchFamily="18" charset="0"/>
                  <a:ea typeface="Cambria" panose="020405030504060302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812" t="-3501"/>
                </a:stretch>
              </a:blipFill>
            </p:spPr>
            <p:txBody>
              <a:bodyPr/>
              <a:lstStyle/>
              <a:p>
                <a:r>
                  <a:rPr lang="en-US">
                    <a:noFill/>
                  </a:rPr>
                  <a:t> </a:t>
                </a:r>
              </a:p>
            </p:txBody>
          </p:sp>
        </mc:Fallback>
      </mc:AlternateContent>
    </p:spTree>
    <p:extLst>
      <p:ext uri="{BB962C8B-B14F-4D97-AF65-F5344CB8AC3E}">
        <p14:creationId xmlns:p14="http://schemas.microsoft.com/office/powerpoint/2010/main" val="2381467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609199" cy="847339"/>
          </a:xfrm>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838200" y="1515580"/>
                <a:ext cx="10515600" cy="4661383"/>
              </a:xfrm>
            </p:spPr>
            <p:txBody>
              <a:bodyPr>
                <a:normAutofit/>
              </a:bodyPr>
              <a:lstStyle/>
              <a:p>
                <a:pPr algn="just">
                  <a:buFont typeface="Wingdings" panose="05000000000000000000" pitchFamily="2" charset="2"/>
                  <a:buChar char="Ø"/>
                </a:pPr>
                <a:r>
                  <a:rPr lang="en-US" sz="2400" u="sng" dirty="0" smtClean="0">
                    <a:latin typeface="Cambria" panose="02040503050406030204" pitchFamily="18" charset="0"/>
                    <a:ea typeface="Cambria" panose="02040503050406030204" pitchFamily="18" charset="0"/>
                  </a:rPr>
                  <a:t>percentage accuracy(</a:t>
                </a:r>
                <a14:m>
                  <m:oMath xmlns:m="http://schemas.openxmlformats.org/officeDocument/2006/math">
                    <m:r>
                      <a:rPr lang="en-US" sz="2400" b="0" i="1" u="sng" smtClean="0">
                        <a:latin typeface="Cambria Math" panose="02040503050406030204" pitchFamily="18" charset="0"/>
                      </a:rPr>
                      <m:t>𝑎</m:t>
                    </m:r>
                  </m:oMath>
                </a14:m>
                <a:r>
                  <a:rPr lang="en-US" sz="2400" u="sng" dirty="0" smtClean="0">
                    <a:latin typeface="Cambria" panose="02040503050406030204" pitchFamily="18" charset="0"/>
                    <a:ea typeface="Cambria" panose="02040503050406030204" pitchFamily="18" charset="0"/>
                  </a:rPr>
                  <a:t>):</a:t>
                </a:r>
              </a:p>
              <a:p>
                <a:pPr marL="0" indent="0" algn="just">
                  <a:buNone/>
                </a:pPr>
                <a:r>
                  <a:rPr lang="en-US" sz="2400" dirty="0" smtClean="0">
                    <a:latin typeface="Cambria" panose="02040503050406030204" pitchFamily="18" charset="0"/>
                    <a:ea typeface="Cambria" panose="02040503050406030204" pitchFamily="18" charset="0"/>
                  </a:rPr>
                  <a:t>                       </a:t>
                </a:r>
                <a14:m>
                  <m:oMath xmlns:m="http://schemas.openxmlformats.org/officeDocument/2006/math">
                    <m:r>
                      <a:rPr lang="en-US" sz="2400" i="1" smtClean="0">
                        <a:latin typeface="Cambria Math" panose="02040503050406030204" pitchFamily="18" charset="0"/>
                      </a:rPr>
                      <m:t>𝑎</m:t>
                    </m:r>
                    <m:r>
                      <a:rPr lang="en-US" sz="2400" i="1">
                        <a:latin typeface="Cambria Math" panose="02040503050406030204" pitchFamily="18" charset="0"/>
                      </a:rPr>
                      <m:t>=</m:t>
                    </m:r>
                    <m:r>
                      <a:rPr lang="en-US" sz="2400" b="0" i="1" smtClean="0">
                        <a:latin typeface="Cambria Math" panose="02040503050406030204" pitchFamily="18" charset="0"/>
                      </a:rPr>
                      <m:t>  </m:t>
                    </m:r>
                    <m:r>
                      <a:rPr lang="en-US" sz="2400" b="0" i="1" smtClean="0">
                        <a:latin typeface="Cambria Math" panose="02040503050406030204" pitchFamily="18" charset="0"/>
                      </a:rPr>
                      <m:t>𝐴</m:t>
                    </m:r>
                    <m:r>
                      <a:rPr lang="en-US" sz="2400" b="0" i="1" smtClean="0">
                        <a:latin typeface="Cambria Math" panose="02040503050406030204" pitchFamily="18" charset="0"/>
                      </a:rPr>
                      <m:t> </m:t>
                    </m:r>
                    <m:r>
                      <a:rPr lang="en-US" sz="2400" b="0" i="1" smtClean="0">
                        <a:latin typeface="Cambria Math" panose="02040503050406030204" pitchFamily="18" charset="0"/>
                      </a:rPr>
                      <m:t>𝑥</m:t>
                    </m:r>
                    <m:r>
                      <a:rPr lang="en-US" sz="2400" b="0" i="1" smtClean="0">
                        <a:latin typeface="Cambria Math" panose="02040503050406030204" pitchFamily="18" charset="0"/>
                      </a:rPr>
                      <m:t> 100%</m:t>
                    </m:r>
                  </m:oMath>
                </a14:m>
                <a:endParaRPr lang="en-US" sz="2400" u="sng" dirty="0" smtClean="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400" u="sng" dirty="0" smtClean="0">
                    <a:latin typeface="Cambria" panose="02040503050406030204" pitchFamily="18" charset="0"/>
                    <a:ea typeface="Cambria" panose="02040503050406030204" pitchFamily="18" charset="0"/>
                  </a:rPr>
                  <a:t>error as a % of full scale reading</a:t>
                </a:r>
              </a:p>
              <a:p>
                <a:pPr marL="0" indent="0" algn="just">
                  <a:buNone/>
                </a:pPr>
                <a:endParaRPr lang="en-US" sz="2400" u="sng" dirty="0" smtClean="0">
                  <a:latin typeface="Cambria" panose="02040503050406030204" pitchFamily="18" charset="0"/>
                  <a:ea typeface="Cambria"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 </m:t>
                      </m:r>
                      <m:f>
                        <m:fPr>
                          <m:ctrlPr>
                            <a:rPr lang="en-US" sz="2400" i="1">
                              <a:latin typeface="Cambria Math" panose="02040503050406030204" pitchFamily="18" charset="0"/>
                            </a:rPr>
                          </m:ctrlPr>
                        </m:fPr>
                        <m:num>
                          <m:sSub>
                            <m:sSubPr>
                              <m:ctrlPr>
                                <a:rPr lang="en-US" sz="2400" i="1" dirty="0">
                                  <a:latin typeface="Cambria Math" panose="02040503050406030204" pitchFamily="18" charset="0"/>
                                </a:rPr>
                              </m:ctrlPr>
                            </m:sSubPr>
                            <m:e>
                              <m:r>
                                <m:rPr>
                                  <m:nor/>
                                </m:rPr>
                                <a:rPr lang="en-US" sz="2400" dirty="0">
                                  <a:latin typeface="Cambria" panose="02040503050406030204" pitchFamily="18" charset="0"/>
                                  <a:ea typeface="Cambria" panose="02040503050406030204" pitchFamily="18" charset="0"/>
                                </a:rPr>
                                <m:t>A</m:t>
                              </m:r>
                            </m:e>
                            <m:sub>
                              <m:r>
                                <a:rPr lang="en-US" sz="2400" i="1" dirty="0">
                                  <a:latin typeface="Cambria Math" panose="02040503050406030204" pitchFamily="18" charset="0"/>
                                </a:rPr>
                                <m:t>𝑡</m:t>
                              </m:r>
                            </m:sub>
                          </m:sSub>
                          <m:r>
                            <m:rPr>
                              <m:nor/>
                            </m:rPr>
                            <a:rPr lang="en-US" sz="2400" dirty="0">
                              <a:latin typeface="Cambria" panose="02040503050406030204" pitchFamily="18" charset="0"/>
                              <a:ea typeface="Cambria" panose="02040503050406030204" pitchFamily="18" charset="0"/>
                            </a:rPr>
                            <m:t> – </m:t>
                          </m:r>
                          <m:sSub>
                            <m:sSubPr>
                              <m:ctrlPr>
                                <a:rPr lang="en-US" sz="2400" i="1" dirty="0">
                                  <a:latin typeface="Cambria Math" panose="02040503050406030204" pitchFamily="18" charset="0"/>
                                </a:rPr>
                              </m:ctrlPr>
                            </m:sSubPr>
                            <m:e>
                              <m:r>
                                <m:rPr>
                                  <m:nor/>
                                </m:rPr>
                                <a:rPr lang="en-US" sz="2400" dirty="0">
                                  <a:latin typeface="Cambria" panose="02040503050406030204" pitchFamily="18" charset="0"/>
                                  <a:ea typeface="Cambria" panose="02040503050406030204" pitchFamily="18" charset="0"/>
                                </a:rPr>
                                <m:t>A</m:t>
                              </m:r>
                            </m:e>
                            <m:sub>
                              <m:r>
                                <a:rPr lang="en-US" sz="2400" i="1" dirty="0">
                                  <a:latin typeface="Cambria Math" panose="02040503050406030204" pitchFamily="18" charset="0"/>
                                </a:rPr>
                                <m:t>𝑚</m:t>
                              </m:r>
                            </m:sub>
                          </m:sSub>
                        </m:num>
                        <m:den>
                          <m:r>
                            <a:rPr lang="en-US" sz="2400" b="0" i="1" dirty="0" smtClean="0">
                              <a:latin typeface="Cambria Math" panose="02040503050406030204" pitchFamily="18" charset="0"/>
                            </a:rPr>
                            <m:t>𝑓</m:t>
                          </m:r>
                          <m:r>
                            <a:rPr lang="en-US" sz="2400" b="0" i="1" dirty="0" smtClean="0">
                              <a:latin typeface="Cambria Math" panose="02040503050406030204" pitchFamily="18" charset="0"/>
                            </a:rPr>
                            <m:t>.</m:t>
                          </m:r>
                          <m:r>
                            <a:rPr lang="en-US" sz="2400" b="0" i="1" dirty="0" smtClean="0">
                              <a:latin typeface="Cambria Math" panose="02040503050406030204" pitchFamily="18" charset="0"/>
                            </a:rPr>
                            <m:t>𝑠</m:t>
                          </m:r>
                          <m:r>
                            <a:rPr lang="en-US" sz="2400" b="0" i="1" dirty="0" smtClean="0">
                              <a:latin typeface="Cambria Math" panose="02040503050406030204" pitchFamily="18" charset="0"/>
                            </a:rPr>
                            <m:t>.</m:t>
                          </m:r>
                          <m:r>
                            <a:rPr lang="en-US" sz="2400" b="0" i="1" dirty="0" smtClean="0">
                              <a:latin typeface="Cambria Math" panose="02040503050406030204" pitchFamily="18" charset="0"/>
                            </a:rPr>
                            <m:t>𝑑</m:t>
                          </m:r>
                        </m:den>
                      </m:f>
                      <m:r>
                        <a:rPr lang="en-US" sz="2400" i="1" dirty="0">
                          <a:latin typeface="Cambria Math" panose="02040503050406030204" pitchFamily="18" charset="0"/>
                        </a:rPr>
                        <m:t> </m:t>
                      </m:r>
                      <m:r>
                        <a:rPr lang="en-US" sz="2400" i="1">
                          <a:latin typeface="Cambria Math" panose="02040503050406030204" pitchFamily="18" charset="0"/>
                        </a:rPr>
                        <m:t>𝑥</m:t>
                      </m:r>
                      <m:r>
                        <a:rPr lang="en-US" sz="2400" i="1">
                          <a:latin typeface="Cambria Math" panose="02040503050406030204" pitchFamily="18" charset="0"/>
                        </a:rPr>
                        <m:t> 100 </m:t>
                      </m:r>
                    </m:oMath>
                  </m:oMathPara>
                </a14:m>
                <a:endParaRPr lang="en-US" sz="2400" b="0" dirty="0" smtClean="0">
                  <a:latin typeface="Cambria" panose="02040503050406030204" pitchFamily="18" charset="0"/>
                  <a:ea typeface="Cambria" panose="02040503050406030204" pitchFamily="18" charset="0"/>
                </a:endParaRPr>
              </a:p>
              <a:p>
                <a:pPr marL="0" indent="0" algn="just">
                  <a:buNone/>
                </a:pPr>
                <a:r>
                  <a:rPr lang="en-US" sz="2400" dirty="0" smtClean="0">
                    <a:latin typeface="Cambria" panose="02040503050406030204" pitchFamily="18" charset="0"/>
                    <a:ea typeface="Cambria" panose="02040503050406030204" pitchFamily="18" charset="0"/>
                  </a:rPr>
                  <a:t>Where;</a:t>
                </a:r>
              </a:p>
              <a:p>
                <a:pPr marL="0" indent="0" algn="just">
                  <a:buNone/>
                </a:pPr>
                <a:r>
                  <a:rPr lang="en-US" sz="2400" b="0" dirty="0" smtClean="0">
                    <a:latin typeface="Cambria" panose="02040503050406030204" pitchFamily="18" charset="0"/>
                    <a:ea typeface="Cambria" panose="02040503050406030204" pitchFamily="18" charset="0"/>
                  </a:rPr>
                  <a:t>f.s.d – full scale deflection</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838200" y="1515580"/>
                <a:ext cx="10515600" cy="4661383"/>
              </a:xfrm>
              <a:blipFill>
                <a:blip r:embed="rId2"/>
                <a:stretch>
                  <a:fillRect l="-928" t="-1832"/>
                </a:stretch>
              </a:blipFill>
            </p:spPr>
            <p:txBody>
              <a:bodyPr/>
              <a:lstStyle/>
              <a:p>
                <a:r>
                  <a:rPr lang="en-US">
                    <a:noFill/>
                  </a:rPr>
                  <a:t> </a:t>
                </a:r>
              </a:p>
            </p:txBody>
          </p:sp>
        </mc:Fallback>
      </mc:AlternateContent>
    </p:spTree>
    <p:extLst>
      <p:ext uri="{BB962C8B-B14F-4D97-AF65-F5344CB8AC3E}">
        <p14:creationId xmlns:p14="http://schemas.microsoft.com/office/powerpoint/2010/main" val="21401908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06224" cy="983741"/>
          </a:xfrm>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838200" y="1308451"/>
                <a:ext cx="10515600" cy="4868512"/>
              </a:xfrm>
            </p:spPr>
            <p:txBody>
              <a:bodyPr>
                <a:normAutofit/>
              </a:bodyPr>
              <a:lstStyle/>
              <a:p>
                <a:pPr marL="0" indent="0" algn="just">
                  <a:buNone/>
                </a:pPr>
                <a:r>
                  <a:rPr lang="en-US" sz="2400" b="1" dirty="0" smtClean="0">
                    <a:latin typeface="Cambria" panose="02040503050406030204" pitchFamily="18" charset="0"/>
                    <a:ea typeface="Cambria" panose="02040503050406030204" pitchFamily="18" charset="0"/>
                  </a:rPr>
                  <a:t>4. Sensitivity:</a:t>
                </a:r>
              </a:p>
              <a:p>
                <a:pPr algn="just"/>
                <a:r>
                  <a:rPr lang="en-US" sz="2400" dirty="0" smtClean="0">
                    <a:latin typeface="Cambria" panose="02040503050406030204" pitchFamily="18" charset="0"/>
                    <a:ea typeface="Cambria" panose="02040503050406030204" pitchFamily="18" charset="0"/>
                  </a:rPr>
                  <a:t>The ratio of change in output of an instrument to a change in the value of quantity to be measured.</a:t>
                </a:r>
              </a:p>
              <a:p>
                <a:pPr algn="just"/>
                <a:endParaRPr lang="en-US" sz="2400" dirty="0" smtClean="0">
                  <a:latin typeface="Cambria" panose="02040503050406030204" pitchFamily="18" charset="0"/>
                  <a:ea typeface="Cambria"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𝑆𝑒𝑛𝑠𝑖𝑡𝑖𝑣𝑖𝑡𝑦</m:t>
                      </m:r>
                      <m:r>
                        <a:rPr lang="en-US" sz="2400" i="1">
                          <a:latin typeface="Cambria Math" panose="02040503050406030204" pitchFamily="18" charset="0"/>
                        </a:rPr>
                        <m:t>= </m:t>
                      </m:r>
                      <m:f>
                        <m:fPr>
                          <m:ctrlPr>
                            <a:rPr lang="en-US" sz="2400" i="1">
                              <a:latin typeface="Cambria Math" panose="02040503050406030204" pitchFamily="18" charset="0"/>
                            </a:rPr>
                          </m:ctrlPr>
                        </m:fPr>
                        <m:num>
                          <m:r>
                            <a:rPr lang="en-US" sz="2400" b="0" i="1" smtClean="0">
                              <a:latin typeface="Cambria Math" panose="02040503050406030204" pitchFamily="18" charset="0"/>
                            </a:rPr>
                            <m:t>𝑖𝑛𝑓𝑖𝑛𝑖𝑡𝑒𝑠𝑖𝑚𝑎𝑙</m:t>
                          </m:r>
                          <m:r>
                            <a:rPr lang="en-US" sz="2400" b="0" i="1" smtClean="0">
                              <a:latin typeface="Cambria Math" panose="02040503050406030204" pitchFamily="18" charset="0"/>
                            </a:rPr>
                            <m:t> </m:t>
                          </m:r>
                          <m:r>
                            <a:rPr lang="en-US" sz="2400" b="0" i="1" smtClean="0">
                              <a:latin typeface="Cambria Math" panose="02040503050406030204" pitchFamily="18" charset="0"/>
                            </a:rPr>
                            <m:t>𝑐h𝑎𝑛𝑔𝑒</m:t>
                          </m:r>
                          <m:r>
                            <a:rPr lang="en-US" sz="2400" b="0" i="1" smtClean="0">
                              <a:latin typeface="Cambria Math" panose="02040503050406030204" pitchFamily="18" charset="0"/>
                            </a:rPr>
                            <m:t> </m:t>
                          </m:r>
                          <m:r>
                            <a:rPr lang="en-US" sz="2400" b="0" i="1" smtClean="0">
                              <a:latin typeface="Cambria Math" panose="02040503050406030204" pitchFamily="18" charset="0"/>
                            </a:rPr>
                            <m:t>𝑖𝑛</m:t>
                          </m:r>
                          <m:r>
                            <a:rPr lang="en-US" sz="2400" b="0" i="1" smtClean="0">
                              <a:latin typeface="Cambria Math" panose="02040503050406030204" pitchFamily="18" charset="0"/>
                            </a:rPr>
                            <m:t> </m:t>
                          </m:r>
                          <m:r>
                            <a:rPr lang="en-US" sz="2400" b="0" i="1" smtClean="0">
                              <a:latin typeface="Cambria Math" panose="02040503050406030204" pitchFamily="18" charset="0"/>
                            </a:rPr>
                            <m:t>𝑜𝑢𝑡𝑝𝑢𝑡</m:t>
                          </m:r>
                        </m:num>
                        <m:den>
                          <m:r>
                            <a:rPr lang="en-US" sz="2400" b="0" i="1" smtClean="0">
                              <a:latin typeface="Cambria Math" panose="02040503050406030204" pitchFamily="18" charset="0"/>
                            </a:rPr>
                            <m:t>𝑖</m:t>
                          </m:r>
                          <m:r>
                            <a:rPr lang="en-US" sz="2400" i="1">
                              <a:latin typeface="Cambria Math" panose="02040503050406030204" pitchFamily="18" charset="0"/>
                            </a:rPr>
                            <m:t>𝑛𝑓𝑖𝑛𝑖𝑡𝑒𝑠𝑖𝑚𝑎𝑙</m:t>
                          </m:r>
                          <m:r>
                            <a:rPr lang="en-US" sz="2400" i="1">
                              <a:latin typeface="Cambria Math" panose="02040503050406030204" pitchFamily="18" charset="0"/>
                            </a:rPr>
                            <m:t> </m:t>
                          </m:r>
                          <m:r>
                            <a:rPr lang="en-US" sz="2400" i="1">
                              <a:latin typeface="Cambria Math" panose="02040503050406030204" pitchFamily="18" charset="0"/>
                            </a:rPr>
                            <m:t>𝑐h𝑎𝑛𝑔𝑒</m:t>
                          </m:r>
                          <m:r>
                            <a:rPr lang="en-US" sz="2400" i="1">
                              <a:latin typeface="Cambria Math" panose="02040503050406030204" pitchFamily="18" charset="0"/>
                            </a:rPr>
                            <m:t> </m:t>
                          </m:r>
                          <m:r>
                            <a:rPr lang="en-US" sz="2400" i="1">
                              <a:latin typeface="Cambria Math" panose="02040503050406030204" pitchFamily="18" charset="0"/>
                            </a:rPr>
                            <m:t>𝑖𝑛</m:t>
                          </m:r>
                          <m:r>
                            <a:rPr lang="en-US" sz="2400" i="1">
                              <a:latin typeface="Cambria Math" panose="02040503050406030204" pitchFamily="18" charset="0"/>
                            </a:rPr>
                            <m:t> </m:t>
                          </m:r>
                          <m:r>
                            <a:rPr lang="en-US" sz="2400" b="0" i="1" smtClean="0">
                              <a:latin typeface="Cambria Math" panose="02040503050406030204" pitchFamily="18" charset="0"/>
                            </a:rPr>
                            <m:t>𝑖𝑛</m:t>
                          </m:r>
                          <m:r>
                            <a:rPr lang="en-US" sz="2400" i="1">
                              <a:latin typeface="Cambria Math" panose="02040503050406030204" pitchFamily="18" charset="0"/>
                            </a:rPr>
                            <m:t>𝑝𝑢𝑡</m:t>
                          </m:r>
                        </m:den>
                      </m:f>
                    </m:oMath>
                  </m:oMathPara>
                </a14:m>
                <a:endParaRPr lang="en-US" sz="2400" dirty="0" smtClean="0">
                  <a:latin typeface="Cambria" panose="02040503050406030204" pitchFamily="18" charset="0"/>
                  <a:ea typeface="Cambria" panose="02040503050406030204" pitchFamily="18" charset="0"/>
                </a:endParaRPr>
              </a:p>
              <a:p>
                <a:pPr marL="0" indent="0" algn="just">
                  <a:buNone/>
                </a:pPr>
                <a:endParaRPr lang="en-US" sz="2400" dirty="0" smtClean="0">
                  <a:latin typeface="Cambria" panose="02040503050406030204" pitchFamily="18" charset="0"/>
                  <a:ea typeface="Cambria"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𝑆𝑒𝑛𝑠𝑖𝑡𝑖𝑣𝑖𝑡𝑦</m:t>
                      </m:r>
                      <m:r>
                        <a:rPr lang="en-US" sz="2400" i="1">
                          <a:latin typeface="Cambria Math" panose="02040503050406030204" pitchFamily="18" charset="0"/>
                        </a:rPr>
                        <m:t>= </m:t>
                      </m:r>
                      <m:f>
                        <m:fPr>
                          <m:ctrlPr>
                            <a:rPr lang="en-US" sz="2400" i="1">
                              <a:latin typeface="Cambria Math" panose="02040503050406030204" pitchFamily="18" charset="0"/>
                            </a:rPr>
                          </m:ctrlPr>
                        </m:fPr>
                        <m:num>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𝑞</m:t>
                              </m:r>
                            </m:e>
                            <m:sub>
                              <m:r>
                                <a:rPr lang="en-US" sz="2400" b="0" i="1" smtClean="0">
                                  <a:latin typeface="Cambria Math" panose="02040503050406030204" pitchFamily="18" charset="0"/>
                                </a:rPr>
                                <m:t>𝑜</m:t>
                              </m:r>
                            </m:sub>
                          </m:sSub>
                        </m:num>
                        <m:den>
                          <m:r>
                            <a:rPr lang="en-US" sz="2400" i="1" smtClean="0">
                              <a:latin typeface="Cambria Math" panose="02040503050406030204" pitchFamily="18" charset="0"/>
                              <a:ea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𝑞</m:t>
                              </m:r>
                            </m:e>
                            <m:sub>
                              <m:r>
                                <a:rPr lang="en-US" sz="2400" b="0" i="1" smtClean="0">
                                  <a:latin typeface="Cambria Math" panose="02040503050406030204" pitchFamily="18" charset="0"/>
                                </a:rPr>
                                <m:t>𝑖</m:t>
                              </m:r>
                            </m:sub>
                          </m:sSub>
                        </m:den>
                      </m:f>
                    </m:oMath>
                  </m:oMathPara>
                </a14:m>
                <a:endParaRPr lang="en-US" sz="2400" dirty="0" smtClean="0">
                  <a:latin typeface="Cambria" panose="02040503050406030204" pitchFamily="18" charset="0"/>
                  <a:ea typeface="Cambria" panose="02040503050406030204" pitchFamily="18" charset="0"/>
                </a:endParaRPr>
              </a:p>
              <a:p>
                <a:pPr marL="0" indent="0" algn="just">
                  <a:buNone/>
                </a:pPr>
                <a:endParaRPr lang="en-US" sz="2400" dirty="0" smtClean="0">
                  <a:latin typeface="Cambria" panose="02040503050406030204" pitchFamily="18" charset="0"/>
                  <a:ea typeface="Cambria"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838200" y="1308451"/>
                <a:ext cx="10515600" cy="4868512"/>
              </a:xfrm>
              <a:blipFill>
                <a:blip r:embed="rId2"/>
                <a:stretch>
                  <a:fillRect l="-928" t="-1754" r="-870"/>
                </a:stretch>
              </a:blipFill>
            </p:spPr>
            <p:txBody>
              <a:bodyPr/>
              <a:lstStyle/>
              <a:p>
                <a:r>
                  <a:rPr lang="en-US">
                    <a:noFill/>
                  </a:rPr>
                  <a:t> </a:t>
                </a:r>
              </a:p>
            </p:txBody>
          </p:sp>
        </mc:Fallback>
      </mc:AlternateContent>
    </p:spTree>
    <p:extLst>
      <p:ext uri="{BB962C8B-B14F-4D97-AF65-F5344CB8AC3E}">
        <p14:creationId xmlns:p14="http://schemas.microsoft.com/office/powerpoint/2010/main" val="7916342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957782" cy="943326"/>
          </a:xfrm>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p:pic>
        <p:nvPicPr>
          <p:cNvPr id="5" name="Picture 4"/>
          <p:cNvPicPr>
            <a:picLocks noChangeAspect="1"/>
          </p:cNvPicPr>
          <p:nvPr/>
        </p:nvPicPr>
        <p:blipFill>
          <a:blip r:embed="rId2"/>
          <a:stretch>
            <a:fillRect/>
          </a:stretch>
        </p:blipFill>
        <p:spPr>
          <a:xfrm>
            <a:off x="3205480" y="1370236"/>
            <a:ext cx="4556908" cy="2793682"/>
          </a:xfrm>
          <a:prstGeom prst="rect">
            <a:avLst/>
          </a:prstGeom>
        </p:spPr>
      </p:pic>
      <p:pic>
        <p:nvPicPr>
          <p:cNvPr id="6" name="Picture 5"/>
          <p:cNvPicPr>
            <a:picLocks noChangeAspect="1"/>
          </p:cNvPicPr>
          <p:nvPr/>
        </p:nvPicPr>
        <p:blipFill>
          <a:blip r:embed="rId3"/>
          <a:stretch>
            <a:fillRect/>
          </a:stretch>
        </p:blipFill>
        <p:spPr>
          <a:xfrm>
            <a:off x="3297947" y="4163918"/>
            <a:ext cx="4371975" cy="2694082"/>
          </a:xfrm>
          <a:prstGeom prst="rect">
            <a:avLst/>
          </a:prstGeom>
        </p:spPr>
      </p:pic>
    </p:spTree>
    <p:extLst>
      <p:ext uri="{BB962C8B-B14F-4D97-AF65-F5344CB8AC3E}">
        <p14:creationId xmlns:p14="http://schemas.microsoft.com/office/powerpoint/2010/main" val="7037971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3845"/>
          </a:xfrm>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838200" y="1409490"/>
                <a:ext cx="9841588" cy="5064462"/>
              </a:xfrm>
            </p:spPr>
            <p:txBody>
              <a:bodyPr>
                <a:normAutofit fontScale="92500" lnSpcReduction="20000"/>
              </a:bodyPr>
              <a:lstStyle/>
              <a:p>
                <a:pPr algn="just"/>
                <a:r>
                  <a:rPr lang="en-US" dirty="0" smtClean="0">
                    <a:latin typeface="Cambria" panose="02040503050406030204" pitchFamily="18" charset="0"/>
                    <a:ea typeface="Cambria" panose="02040503050406030204" pitchFamily="18" charset="0"/>
                  </a:rPr>
                  <a:t>For manufactures</a:t>
                </a:r>
              </a:p>
              <a:p>
                <a:pPr algn="just"/>
                <a:endParaRPr lang="en-US" dirty="0" smtClean="0">
                  <a:latin typeface="Cambria" panose="02040503050406030204" pitchFamily="18" charset="0"/>
                  <a:ea typeface="Cambria"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𝑆𝑒𝑛𝑠𝑖𝑡𝑖𝑣𝑖</m:t>
                      </m:r>
                      <m:r>
                        <a:rPr lang="en-US" b="0" i="1" smtClean="0">
                          <a:latin typeface="Cambria Math" panose="02040503050406030204" pitchFamily="18" charset="0"/>
                        </a:rPr>
                        <m:t>𝑡𝑦</m:t>
                      </m:r>
                      <m:r>
                        <a:rPr lang="en-US" i="1">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𝑚𝑎𝑔𝑛𝑖𝑡𝑢𝑑𝑒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𝑞𝑢𝑎𝑛𝑡𝑖𝑡𝑦</m:t>
                          </m:r>
                          <m:r>
                            <a:rPr lang="en-US" b="0" i="1" smtClean="0">
                              <a:latin typeface="Cambria Math" panose="02040503050406030204" pitchFamily="18" charset="0"/>
                            </a:rPr>
                            <m:t> </m:t>
                          </m:r>
                          <m:r>
                            <a:rPr lang="en-US" b="0" i="1" smtClean="0">
                              <a:latin typeface="Cambria Math" panose="02040503050406030204" pitchFamily="18" charset="0"/>
                            </a:rPr>
                            <m:t>𝑏𝑒𝑖𝑛𝑔</m:t>
                          </m:r>
                          <m:r>
                            <a:rPr lang="en-US" b="0" i="1" smtClean="0">
                              <a:latin typeface="Cambria Math" panose="02040503050406030204" pitchFamily="18" charset="0"/>
                            </a:rPr>
                            <m:t> </m:t>
                          </m:r>
                          <m:r>
                            <a:rPr lang="en-US" b="0" i="1" smtClean="0">
                              <a:latin typeface="Cambria Math" panose="02040503050406030204" pitchFamily="18" charset="0"/>
                            </a:rPr>
                            <m:t>𝑚𝑒𝑎𝑠𝑢𝑟𝑒𝑑</m:t>
                          </m:r>
                        </m:num>
                        <m:den>
                          <m:r>
                            <a:rPr lang="en-US" b="0" i="1" smtClean="0">
                              <a:latin typeface="Cambria Math" panose="02040503050406030204" pitchFamily="18" charset="0"/>
                            </a:rPr>
                            <m:t>𝑚𝑎𝑔𝑛𝑖𝑡𝑢𝑑𝑒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𝑟𝑒𝑠𝑝𝑜𝑛𝑠𝑒</m:t>
                          </m:r>
                        </m:den>
                      </m:f>
                    </m:oMath>
                  </m:oMathPara>
                </a14:m>
                <a:endParaRPr lang="en-US" dirty="0" smtClean="0">
                  <a:latin typeface="Cambria" panose="02040503050406030204" pitchFamily="18" charset="0"/>
                  <a:ea typeface="Cambria" panose="02040503050406030204" pitchFamily="18" charset="0"/>
                </a:endParaRPr>
              </a:p>
              <a:p>
                <a:pPr marL="0" indent="0" algn="just">
                  <a:buNone/>
                </a:pPr>
                <a:endParaRPr lang="en-US" dirty="0" smtClean="0">
                  <a:latin typeface="Cambria" panose="02040503050406030204" pitchFamily="18" charset="0"/>
                  <a:ea typeface="Cambria" panose="02040503050406030204" pitchFamily="18" charset="0"/>
                </a:endParaRPr>
              </a:p>
              <a:p>
                <a:pPr marL="0" indent="0" algn="just">
                  <a:buNone/>
                </a:pPr>
                <a:r>
                  <a:rPr lang="en-US" dirty="0" smtClean="0">
                    <a:latin typeface="Cambria" panose="02040503050406030204" pitchFamily="18" charset="0"/>
                    <a:ea typeface="Cambria" panose="02040503050406030204" pitchFamily="18" charset="0"/>
                  </a:rPr>
                  <a:t>      i.e. </a:t>
                </a:r>
                <a14:m>
                  <m:oMath xmlns:m="http://schemas.openxmlformats.org/officeDocument/2006/math">
                    <m:r>
                      <a:rPr lang="en-US" b="0" i="1" smtClean="0">
                        <a:latin typeface="Cambria Math" panose="02040503050406030204" pitchFamily="18" charset="0"/>
                      </a:rPr>
                      <m:t>𝑟𝑒𝑠𝑖𝑝𝑟𝑜𝑐𝑎𝑙</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𝑠𝑒𝑛𝑠𝑖𝑡𝑖𝑣𝑖𝑡𝑦</m:t>
                    </m:r>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𝑞</m:t>
                            </m:r>
                          </m:e>
                          <m:sub>
                            <m:r>
                              <a:rPr lang="en-US" i="1">
                                <a:latin typeface="Cambria Math" panose="02040503050406030204" pitchFamily="18" charset="0"/>
                              </a:rPr>
                              <m:t>𝑜</m:t>
                            </m:r>
                          </m:sub>
                        </m:sSub>
                      </m:den>
                    </m:f>
                  </m:oMath>
                </a14:m>
                <a:endParaRPr lang="en-US" dirty="0">
                  <a:latin typeface="Cambria" panose="02040503050406030204" pitchFamily="18" charset="0"/>
                  <a:ea typeface="Cambria" panose="02040503050406030204" pitchFamily="18" charset="0"/>
                </a:endParaRPr>
              </a:p>
              <a:p>
                <a:pPr algn="just"/>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Reciprocal of sensitivity is called inverse sensitivity or deflection factor</a:t>
                </a:r>
              </a:p>
              <a:p>
                <a:pPr algn="just"/>
                <a:r>
                  <a:rPr lang="en-US" dirty="0" smtClean="0">
                    <a:latin typeface="Cambria" panose="02040503050406030204" pitchFamily="18" charset="0"/>
                    <a:ea typeface="Cambria" panose="02040503050406030204" pitchFamily="18" charset="0"/>
                  </a:rPr>
                  <a:t>Unit: sensitivity - mm/</a:t>
                </a:r>
                <a:r>
                  <a:rPr lang="el-GR" dirty="0" smtClean="0">
                    <a:latin typeface="Cambria" panose="02040503050406030204" pitchFamily="18" charset="0"/>
                    <a:ea typeface="Cambria" panose="02040503050406030204" pitchFamily="18" charset="0"/>
                  </a:rPr>
                  <a:t>μ</a:t>
                </a:r>
                <a:r>
                  <a:rPr lang="en-US" dirty="0" smtClean="0">
                    <a:latin typeface="Cambria" panose="02040503050406030204" pitchFamily="18" charset="0"/>
                    <a:ea typeface="Cambria" panose="02040503050406030204" pitchFamily="18" charset="0"/>
                  </a:rPr>
                  <a:t>A, mm/</a:t>
                </a:r>
                <a:r>
                  <a:rPr lang="el-GR" dirty="0" smtClean="0">
                    <a:latin typeface="Cambria" panose="02040503050406030204" pitchFamily="18" charset="0"/>
                    <a:ea typeface="Cambria" panose="02040503050406030204" pitchFamily="18" charset="0"/>
                  </a:rPr>
                  <a:t>Ω</a:t>
                </a:r>
                <a:r>
                  <a:rPr lang="en-US" dirty="0" smtClean="0">
                    <a:latin typeface="Cambria" panose="02040503050406030204" pitchFamily="18" charset="0"/>
                    <a:ea typeface="Cambria" panose="02040503050406030204" pitchFamily="18" charset="0"/>
                  </a:rPr>
                  <a:t>, counts/V etc.;</a:t>
                </a:r>
              </a:p>
              <a:p>
                <a:pPr algn="just"/>
                <a:r>
                  <a:rPr lang="en-US" dirty="0" smtClean="0">
                    <a:latin typeface="Cambria" panose="02040503050406030204" pitchFamily="18" charset="0"/>
                    <a:ea typeface="Cambria" panose="02040503050406030204" pitchFamily="18" charset="0"/>
                  </a:rPr>
                  <a:t>Deflection meter -</a:t>
                </a:r>
                <a:r>
                  <a:rPr lang="el-GR" dirty="0" smtClean="0">
                    <a:latin typeface="Cambria" panose="02040503050406030204" pitchFamily="18" charset="0"/>
                    <a:ea typeface="Cambria" panose="02040503050406030204" pitchFamily="18" charset="0"/>
                  </a:rPr>
                  <a:t> </a:t>
                </a:r>
                <a:r>
                  <a:rPr lang="el-GR" dirty="0">
                    <a:latin typeface="Cambria" panose="02040503050406030204" pitchFamily="18" charset="0"/>
                    <a:ea typeface="Cambria" panose="02040503050406030204" pitchFamily="18" charset="0"/>
                  </a:rPr>
                  <a:t>μ</a:t>
                </a:r>
                <a:r>
                  <a:rPr lang="en-US" dirty="0" smtClean="0">
                    <a:latin typeface="Cambria" panose="02040503050406030204" pitchFamily="18" charset="0"/>
                    <a:ea typeface="Cambria" panose="02040503050406030204" pitchFamily="18" charset="0"/>
                  </a:rPr>
                  <a:t>A/mm, </a:t>
                </a:r>
                <a:r>
                  <a:rPr lang="el-GR" dirty="0" smtClean="0">
                    <a:latin typeface="Cambria" panose="02040503050406030204" pitchFamily="18" charset="0"/>
                    <a:ea typeface="Cambria" panose="02040503050406030204" pitchFamily="18" charset="0"/>
                  </a:rPr>
                  <a:t>Ω</a:t>
                </a:r>
                <a:r>
                  <a:rPr lang="en-US" dirty="0" smtClean="0">
                    <a:latin typeface="Cambria" panose="02040503050406030204" pitchFamily="18" charset="0"/>
                    <a:ea typeface="Cambria" panose="02040503050406030204" pitchFamily="18" charset="0"/>
                  </a:rPr>
                  <a:t>/mm, V/counts etc.;</a:t>
                </a:r>
              </a:p>
              <a:p>
                <a:pPr algn="just"/>
                <a:r>
                  <a:rPr lang="en-US" dirty="0" smtClean="0">
                    <a:latin typeface="Cambria" panose="02040503050406030204" pitchFamily="18" charset="0"/>
                    <a:ea typeface="Cambria" panose="02040503050406030204" pitchFamily="18" charset="0"/>
                  </a:rPr>
                  <a:t>Sensitivity should be high, to achieve this the range of instrument must not exceed the value to be measured. </a:t>
                </a:r>
                <a:endParaRPr lang="en-US" dirty="0">
                  <a:latin typeface="Cambria" panose="02040503050406030204" pitchFamily="18" charset="0"/>
                  <a:ea typeface="Cambria"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838200" y="1409490"/>
                <a:ext cx="9841588" cy="5064462"/>
              </a:xfrm>
              <a:blipFill>
                <a:blip r:embed="rId2"/>
                <a:stretch>
                  <a:fillRect l="-991" t="-3369" r="-1053" b="-3008"/>
                </a:stretch>
              </a:blipFill>
            </p:spPr>
            <p:txBody>
              <a:bodyPr/>
              <a:lstStyle/>
              <a:p>
                <a:r>
                  <a:rPr lang="en-US">
                    <a:noFill/>
                  </a:rPr>
                  <a:t> </a:t>
                </a:r>
              </a:p>
            </p:txBody>
          </p:sp>
        </mc:Fallback>
      </mc:AlternateContent>
    </p:spTree>
    <p:extLst>
      <p:ext uri="{BB962C8B-B14F-4D97-AF65-F5344CB8AC3E}">
        <p14:creationId xmlns:p14="http://schemas.microsoft.com/office/powerpoint/2010/main" val="33156182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180067" cy="867547"/>
          </a:xfrm>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a:xfrm>
            <a:off x="838200" y="1293295"/>
            <a:ext cx="10515600" cy="4883668"/>
          </a:xfrm>
        </p:spPr>
        <p:txBody>
          <a:bodyPr>
            <a:noAutofit/>
          </a:bodyPr>
          <a:lstStyle/>
          <a:p>
            <a:pPr marL="0" indent="0" algn="just">
              <a:buNone/>
            </a:pPr>
            <a:r>
              <a:rPr lang="en-US" sz="2400" b="1" dirty="0">
                <a:latin typeface="Cambria" panose="02040503050406030204" pitchFamily="18" charset="0"/>
                <a:ea typeface="Cambria" panose="02040503050406030204" pitchFamily="18" charset="0"/>
              </a:rPr>
              <a:t>5</a:t>
            </a:r>
            <a:r>
              <a:rPr lang="en-US" sz="2400" b="1" dirty="0" smtClean="0">
                <a:latin typeface="Cambria" panose="02040503050406030204" pitchFamily="18" charset="0"/>
                <a:ea typeface="Cambria" panose="02040503050406030204" pitchFamily="18" charset="0"/>
              </a:rPr>
              <a:t>. Resolution:</a:t>
            </a:r>
          </a:p>
          <a:p>
            <a:pPr algn="just"/>
            <a:r>
              <a:rPr lang="en-US" sz="2400" dirty="0" smtClean="0">
                <a:latin typeface="Cambria" panose="02040503050406030204" pitchFamily="18" charset="0"/>
                <a:ea typeface="Cambria" panose="02040503050406030204" pitchFamily="18" charset="0"/>
              </a:rPr>
              <a:t>The smallest increment in the value of measurand</a:t>
            </a:r>
            <a:r>
              <a:rPr lang="en-US" sz="2400" dirty="0">
                <a:latin typeface="Cambria" panose="02040503050406030204" pitchFamily="18" charset="0"/>
                <a:ea typeface="Cambria" panose="02040503050406030204" pitchFamily="18" charset="0"/>
              </a:rPr>
              <a:t> </a:t>
            </a:r>
            <a:r>
              <a:rPr lang="en-US" sz="2400" dirty="0" smtClean="0">
                <a:latin typeface="Cambria" panose="02040503050406030204" pitchFamily="18" charset="0"/>
                <a:ea typeface="Cambria" panose="02040503050406030204" pitchFamily="18" charset="0"/>
              </a:rPr>
              <a:t>that results in a detectable increment in the output.</a:t>
            </a:r>
          </a:p>
          <a:p>
            <a:pPr algn="just"/>
            <a:r>
              <a:rPr lang="en-US" sz="2400" dirty="0" smtClean="0">
                <a:latin typeface="Cambria" panose="02040503050406030204" pitchFamily="18" charset="0"/>
                <a:ea typeface="Cambria" panose="02040503050406030204" pitchFamily="18" charset="0"/>
              </a:rPr>
              <a:t>It is expressed in the percentage of measurand range.</a:t>
            </a:r>
          </a:p>
          <a:p>
            <a:pPr algn="just"/>
            <a:r>
              <a:rPr lang="en-US" sz="2400" dirty="0" smtClean="0">
                <a:latin typeface="Cambria" panose="02040503050406030204" pitchFamily="18" charset="0"/>
                <a:ea typeface="Cambria" panose="02040503050406030204" pitchFamily="18" charset="0"/>
              </a:rPr>
              <a:t>Resolution means smallest measurable input change.</a:t>
            </a:r>
          </a:p>
          <a:p>
            <a:pPr algn="just"/>
            <a:endParaRPr lang="en-US" sz="2400" dirty="0" smtClean="0">
              <a:latin typeface="Cambria" panose="02040503050406030204" pitchFamily="18" charset="0"/>
              <a:ea typeface="Cambria" panose="02040503050406030204" pitchFamily="18" charset="0"/>
            </a:endParaRPr>
          </a:p>
          <a:p>
            <a:pPr marL="0" indent="0" algn="just">
              <a:buNone/>
            </a:pPr>
            <a:r>
              <a:rPr lang="en-US" sz="2400" b="1" dirty="0" smtClean="0">
                <a:latin typeface="Cambria" panose="02040503050406030204" pitchFamily="18" charset="0"/>
                <a:ea typeface="Cambria" panose="02040503050406030204" pitchFamily="18" charset="0"/>
              </a:rPr>
              <a:t>6. Threshold</a:t>
            </a:r>
          </a:p>
          <a:p>
            <a:pPr algn="just"/>
            <a:r>
              <a:rPr lang="en-US" sz="2400" dirty="0" smtClean="0">
                <a:latin typeface="Cambria" panose="02040503050406030204" pitchFamily="18" charset="0"/>
                <a:ea typeface="Cambria" panose="02040503050406030204" pitchFamily="18" charset="0"/>
              </a:rPr>
              <a:t>If the input is slowly varied from zero, the output does not change until some minimum value of the  input is exceeded.</a:t>
            </a:r>
          </a:p>
          <a:p>
            <a:pPr algn="just"/>
            <a:r>
              <a:rPr lang="en-US" sz="2400" dirty="0" smtClean="0">
                <a:latin typeface="Cambria" panose="02040503050406030204" pitchFamily="18" charset="0"/>
                <a:ea typeface="Cambria" panose="02040503050406030204" pitchFamily="18" charset="0"/>
              </a:rPr>
              <a:t>This minimum value of input is called threshold.</a:t>
            </a:r>
          </a:p>
          <a:p>
            <a:pPr algn="just"/>
            <a:r>
              <a:rPr lang="en-US" sz="2400" dirty="0" smtClean="0">
                <a:latin typeface="Cambria" panose="02040503050406030204" pitchFamily="18" charset="0"/>
                <a:ea typeface="Cambria" panose="02040503050406030204" pitchFamily="18" charset="0"/>
              </a:rPr>
              <a:t>Threshold is the smallest measurable input.</a:t>
            </a:r>
          </a:p>
          <a:p>
            <a:pPr marL="0" indent="0" algn="just">
              <a:buNone/>
            </a:pPr>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618496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9001"/>
          </a:xfrm>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marL="0" indent="0" algn="just">
              <a:buNone/>
            </a:pPr>
            <a:r>
              <a:rPr lang="en-US" sz="2400" b="1" dirty="0">
                <a:latin typeface="Cambria" panose="02040503050406030204" pitchFamily="18" charset="0"/>
                <a:ea typeface="Cambria" panose="02040503050406030204" pitchFamily="18" charset="0"/>
              </a:rPr>
              <a:t>7</a:t>
            </a:r>
            <a:r>
              <a:rPr lang="en-US" sz="2400" b="1" dirty="0" smtClean="0">
                <a:latin typeface="Cambria" panose="02040503050406030204" pitchFamily="18" charset="0"/>
                <a:ea typeface="Cambria" panose="02040503050406030204" pitchFamily="18" charset="0"/>
              </a:rPr>
              <a:t>. Linearity:</a:t>
            </a:r>
          </a:p>
          <a:p>
            <a:pPr algn="just"/>
            <a:r>
              <a:rPr lang="en-US" sz="2400" dirty="0" smtClean="0">
                <a:latin typeface="Cambria" panose="02040503050406030204" pitchFamily="18" charset="0"/>
                <a:ea typeface="Cambria" panose="02040503050406030204" pitchFamily="18" charset="0"/>
              </a:rPr>
              <a:t>The closeness to which a curve approximate a straight line</a:t>
            </a:r>
          </a:p>
          <a:p>
            <a:pPr algn="just"/>
            <a:r>
              <a:rPr lang="en-US" sz="2400" dirty="0" smtClean="0">
                <a:latin typeface="Cambria" panose="02040503050406030204" pitchFamily="18" charset="0"/>
                <a:ea typeface="Cambria" panose="02040503050406030204" pitchFamily="18" charset="0"/>
              </a:rPr>
              <a:t>It is defined as a maximum deviation of the actual calibration curve(o/put) from the idealized straight line , expressed as a % of a full scale reading or % of actual reading.</a:t>
            </a:r>
          </a:p>
          <a:p>
            <a:pPr marL="0" indent="0" algn="just">
              <a:buNone/>
            </a:pPr>
            <a:endParaRPr lang="en-US" sz="2400" dirty="0" smtClean="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3238500" y="4553914"/>
            <a:ext cx="4953000" cy="1920039"/>
          </a:xfrm>
          <a:prstGeom prst="rect">
            <a:avLst/>
          </a:prstGeom>
        </p:spPr>
      </p:pic>
    </p:spTree>
    <p:extLst>
      <p:ext uri="{BB962C8B-B14F-4D97-AF65-F5344CB8AC3E}">
        <p14:creationId xmlns:p14="http://schemas.microsoft.com/office/powerpoint/2010/main" val="39753420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a:xfrm>
            <a:off x="838200" y="1449905"/>
            <a:ext cx="10515600" cy="4727058"/>
          </a:xfrm>
        </p:spPr>
        <p:txBody>
          <a:bodyPr>
            <a:normAutofit/>
          </a:bodyPr>
          <a:lstStyle/>
          <a:p>
            <a:pPr marL="0" indent="0" algn="just">
              <a:buNone/>
            </a:pPr>
            <a:r>
              <a:rPr lang="en-US" sz="2400" b="1" dirty="0">
                <a:latin typeface="Cambria" panose="02040503050406030204" pitchFamily="18" charset="0"/>
                <a:ea typeface="Cambria" panose="02040503050406030204" pitchFamily="18" charset="0"/>
              </a:rPr>
              <a:t>8</a:t>
            </a:r>
            <a:r>
              <a:rPr lang="en-US" sz="2400" b="1" dirty="0" smtClean="0">
                <a:latin typeface="Cambria" panose="02040503050406030204" pitchFamily="18" charset="0"/>
                <a:ea typeface="Cambria" panose="02040503050406030204" pitchFamily="18" charset="0"/>
              </a:rPr>
              <a:t>. Zero </a:t>
            </a:r>
            <a:r>
              <a:rPr lang="en-US" sz="2400" b="1" dirty="0" smtClean="0">
                <a:latin typeface="Cambria" panose="02040503050406030204" pitchFamily="18" charset="0"/>
                <a:ea typeface="Cambria" panose="02040503050406030204" pitchFamily="18" charset="0"/>
              </a:rPr>
              <a:t>drift/Bias</a:t>
            </a:r>
            <a:endParaRPr lang="en-US" sz="2400" b="1" dirty="0" smtClean="0">
              <a:latin typeface="Cambria" panose="02040503050406030204" pitchFamily="18" charset="0"/>
              <a:ea typeface="Cambria" panose="02040503050406030204" pitchFamily="18" charset="0"/>
            </a:endParaRPr>
          </a:p>
          <a:p>
            <a:pPr marL="0" indent="0">
              <a:buNone/>
            </a:pPr>
            <a:r>
              <a:rPr lang="en-US" sz="2400" dirty="0" smtClean="0">
                <a:latin typeface="Cambria" panose="02040503050406030204" pitchFamily="18" charset="0"/>
                <a:ea typeface="Cambria" panose="02040503050406030204" pitchFamily="18" charset="0"/>
              </a:rPr>
              <a:t>The deviation of the instrument output with time from its zero value, when the variable to be measured is a </a:t>
            </a:r>
            <a:r>
              <a:rPr lang="en-US" sz="2400" dirty="0" smtClean="0">
                <a:latin typeface="Cambria" panose="02040503050406030204" pitchFamily="18" charset="0"/>
                <a:ea typeface="Cambria" panose="02040503050406030204" pitchFamily="18" charset="0"/>
              </a:rPr>
              <a:t>constant.</a:t>
            </a:r>
            <a:r>
              <a:rPr lang="en-US" sz="2400" b="1" dirty="0" smtClean="0">
                <a:latin typeface="Cambria" panose="02040503050406030204" pitchFamily="18" charset="0"/>
                <a:ea typeface="Cambria" panose="02040503050406030204" pitchFamily="18" charset="0"/>
              </a:rPr>
              <a:t> </a:t>
            </a:r>
            <a:r>
              <a:rPr lang="en-US" sz="2400" dirty="0" smtClean="0">
                <a:latin typeface="Cambria" panose="02040503050406030204" pitchFamily="18" charset="0"/>
                <a:ea typeface="Cambria" panose="02040503050406030204" pitchFamily="18" charset="0"/>
              </a:rPr>
              <a:t>This </a:t>
            </a:r>
            <a:r>
              <a:rPr lang="en-US" sz="2400" dirty="0" smtClean="0">
                <a:latin typeface="Cambria" panose="02040503050406030204" pitchFamily="18" charset="0"/>
                <a:ea typeface="Cambria" panose="02040503050406030204" pitchFamily="18" charset="0"/>
              </a:rPr>
              <a:t>can also be called the </a:t>
            </a:r>
            <a:r>
              <a:rPr lang="en-US" sz="2400" dirty="0">
                <a:latin typeface="Cambria" panose="02040503050406030204" pitchFamily="18" charset="0"/>
                <a:ea typeface="Cambria" panose="02040503050406030204" pitchFamily="18" charset="0"/>
              </a:rPr>
              <a:t>constant error which exist over the full range of measurement of an </a:t>
            </a:r>
            <a:r>
              <a:rPr lang="en-US" sz="2400" dirty="0" smtClean="0">
                <a:latin typeface="Cambria" panose="02040503050406030204" pitchFamily="18" charset="0"/>
                <a:ea typeface="Cambria" panose="02040503050406030204" pitchFamily="18" charset="0"/>
              </a:rPr>
              <a:t>instrument.</a:t>
            </a:r>
          </a:p>
          <a:p>
            <a:pPr marL="0" indent="0">
              <a:buNone/>
            </a:pPr>
            <a:endParaRPr lang="en-US" sz="2400" dirty="0">
              <a:latin typeface="Cambria" panose="02040503050406030204" pitchFamily="18" charset="0"/>
              <a:ea typeface="Cambria" panose="02040503050406030204" pitchFamily="18" charset="0"/>
            </a:endParaRPr>
          </a:p>
          <a:p>
            <a:pPr marL="0" indent="0" algn="just">
              <a:buNone/>
            </a:pPr>
            <a:r>
              <a:rPr lang="en-US" sz="2400" b="1" dirty="0" smtClean="0">
                <a:latin typeface="Cambria" panose="02040503050406030204" pitchFamily="18" charset="0"/>
                <a:ea typeface="Cambria" panose="02040503050406030204" pitchFamily="18" charset="0"/>
              </a:rPr>
              <a:t>9. Reproducibility</a:t>
            </a:r>
          </a:p>
          <a:p>
            <a:pPr algn="just"/>
            <a:r>
              <a:rPr lang="en-US" sz="2400" dirty="0" smtClean="0">
                <a:latin typeface="Cambria" panose="02040503050406030204" pitchFamily="18" charset="0"/>
                <a:ea typeface="Cambria" panose="02040503050406030204" pitchFamily="18" charset="0"/>
              </a:rPr>
              <a:t>It is the degree of closeness with which a given value may be repeatedly measured.</a:t>
            </a:r>
          </a:p>
          <a:p>
            <a:pPr algn="just"/>
            <a:r>
              <a:rPr lang="en-US" sz="2400" b="1" dirty="0" smtClean="0">
                <a:latin typeface="Cambria" panose="02040503050406030204" pitchFamily="18" charset="0"/>
                <a:ea typeface="Cambria" panose="02040503050406030204" pitchFamily="18" charset="0"/>
              </a:rPr>
              <a:t>Reproducibility </a:t>
            </a:r>
            <a:r>
              <a:rPr lang="en-US" sz="2400" dirty="0" smtClean="0">
                <a:latin typeface="Cambria" panose="02040503050406030204" pitchFamily="18" charset="0"/>
                <a:ea typeface="Cambria" panose="02040503050406030204" pitchFamily="18" charset="0"/>
              </a:rPr>
              <a:t>and </a:t>
            </a:r>
            <a:r>
              <a:rPr lang="en-US" sz="2400" b="1" dirty="0" smtClean="0">
                <a:latin typeface="Cambria" panose="02040503050406030204" pitchFamily="18" charset="0"/>
                <a:ea typeface="Cambria" panose="02040503050406030204" pitchFamily="18" charset="0"/>
              </a:rPr>
              <a:t>repeatability </a:t>
            </a:r>
            <a:r>
              <a:rPr lang="en-US" sz="2400" dirty="0" smtClean="0">
                <a:latin typeface="Cambria" panose="02040503050406030204" pitchFamily="18" charset="0"/>
                <a:ea typeface="Cambria" panose="02040503050406030204" pitchFamily="18" charset="0"/>
              </a:rPr>
              <a:t>are a measure of the closeness with which a given input may be measured again and again.  </a:t>
            </a:r>
          </a:p>
          <a:p>
            <a:pPr marL="0" indent="0" algn="just">
              <a:buNone/>
            </a:pPr>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008657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latin typeface="Cambria" panose="02040503050406030204" pitchFamily="18" charset="0"/>
                <a:ea typeface="Cambria" panose="02040503050406030204" pitchFamily="18" charset="0"/>
              </a:rPr>
              <a:t>Static characteristics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a:xfrm>
            <a:off x="838200" y="1490320"/>
            <a:ext cx="10515600" cy="4686643"/>
          </a:xfrm>
        </p:spPr>
        <p:txBody>
          <a:bodyPr>
            <a:normAutofit/>
          </a:bodyPr>
          <a:lstStyle/>
          <a:p>
            <a:pPr marL="0" indent="0" algn="just">
              <a:buNone/>
            </a:pPr>
            <a:r>
              <a:rPr lang="en-US" sz="2400" b="1" dirty="0" smtClean="0">
                <a:latin typeface="Cambria" panose="02040503050406030204" pitchFamily="18" charset="0"/>
                <a:ea typeface="Cambria" panose="02040503050406030204" pitchFamily="18" charset="0"/>
              </a:rPr>
              <a:t>10. Stability:</a:t>
            </a:r>
          </a:p>
          <a:p>
            <a:pPr algn="just"/>
            <a:r>
              <a:rPr lang="en-US" sz="2400" dirty="0" smtClean="0">
                <a:latin typeface="Cambria" panose="02040503050406030204" pitchFamily="18" charset="0"/>
                <a:ea typeface="Cambria" panose="02040503050406030204" pitchFamily="18" charset="0"/>
              </a:rPr>
              <a:t>Ability of an instrument to retain its performance throughout its specified operating life and the storage life.</a:t>
            </a:r>
          </a:p>
          <a:p>
            <a:pPr marL="0" indent="0">
              <a:buNone/>
            </a:pPr>
            <a:r>
              <a:rPr lang="en-US" sz="2400" b="1" dirty="0" smtClean="0">
                <a:latin typeface="Cambria" panose="02040503050406030204" pitchFamily="18" charset="0"/>
                <a:ea typeface="Cambria" panose="02040503050406030204" pitchFamily="18" charset="0"/>
              </a:rPr>
              <a:t>Tolerance: </a:t>
            </a:r>
          </a:p>
          <a:p>
            <a:pPr marL="0" indent="0">
              <a:buNone/>
            </a:pPr>
            <a:r>
              <a:rPr lang="en-US" sz="2400" dirty="0" smtClean="0">
                <a:latin typeface="Cambria" panose="02040503050406030204" pitchFamily="18" charset="0"/>
                <a:ea typeface="Cambria" panose="02040503050406030204" pitchFamily="18" charset="0"/>
              </a:rPr>
              <a:t>The maximum allowable error in the measurement is specified in terms of some value which is called tolerance</a:t>
            </a:r>
          </a:p>
          <a:p>
            <a:pPr algn="just"/>
            <a:endParaRPr lang="en-US" sz="2400" dirty="0" smtClean="0">
              <a:latin typeface="Cambria" panose="02040503050406030204" pitchFamily="18" charset="0"/>
              <a:ea typeface="Cambria" panose="02040503050406030204" pitchFamily="18" charset="0"/>
            </a:endParaRPr>
          </a:p>
          <a:p>
            <a:pPr marL="0" indent="0" algn="just">
              <a:buNone/>
            </a:pPr>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013585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144421" cy="726093"/>
          </a:xfrm>
        </p:spPr>
        <p:txBody>
          <a:bodyPr>
            <a:noAutofit/>
          </a:bodyPr>
          <a:lstStyle/>
          <a:p>
            <a:pPr algn="ctr"/>
            <a:r>
              <a:rPr lang="en-US" sz="3200" b="1" i="1" dirty="0" smtClean="0">
                <a:latin typeface="Cambria" panose="02040503050406030204" pitchFamily="18" charset="0"/>
                <a:ea typeface="Cambria" panose="02040503050406030204" pitchFamily="18" charset="0"/>
              </a:rPr>
              <a:t/>
            </a:r>
            <a:br>
              <a:rPr lang="en-US" sz="3200" b="1" i="1" dirty="0" smtClean="0">
                <a:latin typeface="Cambria" panose="02040503050406030204" pitchFamily="18" charset="0"/>
                <a:ea typeface="Cambria" panose="02040503050406030204" pitchFamily="18" charset="0"/>
              </a:rPr>
            </a:br>
            <a:r>
              <a:rPr lang="en-US" sz="3200" b="1" dirty="0" smtClean="0">
                <a:latin typeface="Cambria" panose="02040503050406030204" pitchFamily="18" charset="0"/>
                <a:ea typeface="Cambria" panose="02040503050406030204" pitchFamily="18" charset="0"/>
              </a:rPr>
              <a:t>Dynamic characteristics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lgn="just">
              <a:lnSpc>
                <a:spcPct val="150000"/>
              </a:lnSpc>
            </a:pPr>
            <a:r>
              <a:rPr lang="en-US" sz="2400" dirty="0" smtClean="0">
                <a:latin typeface="Cambria" panose="02040503050406030204" pitchFamily="18" charset="0"/>
                <a:ea typeface="Cambria" panose="02040503050406030204" pitchFamily="18" charset="0"/>
              </a:rPr>
              <a:t>Speed of response</a:t>
            </a:r>
          </a:p>
          <a:p>
            <a:pPr algn="just">
              <a:lnSpc>
                <a:spcPct val="150000"/>
              </a:lnSpc>
            </a:pPr>
            <a:r>
              <a:rPr lang="en-US" sz="2400" dirty="0" smtClean="0">
                <a:latin typeface="Cambria" panose="02040503050406030204" pitchFamily="18" charset="0"/>
                <a:ea typeface="Cambria" panose="02040503050406030204" pitchFamily="18" charset="0"/>
              </a:rPr>
              <a:t>Fidelity</a:t>
            </a:r>
          </a:p>
          <a:p>
            <a:pPr algn="just">
              <a:lnSpc>
                <a:spcPct val="150000"/>
              </a:lnSpc>
            </a:pPr>
            <a:r>
              <a:rPr lang="en-US" sz="2400" dirty="0" smtClean="0">
                <a:latin typeface="Cambria" panose="02040503050406030204" pitchFamily="18" charset="0"/>
                <a:ea typeface="Cambria" panose="02040503050406030204" pitchFamily="18" charset="0"/>
              </a:rPr>
              <a:t>Lag</a:t>
            </a:r>
          </a:p>
          <a:p>
            <a:pPr algn="just">
              <a:lnSpc>
                <a:spcPct val="150000"/>
              </a:lnSpc>
            </a:pPr>
            <a:r>
              <a:rPr lang="en-US" sz="2400" dirty="0" smtClean="0">
                <a:latin typeface="Cambria" panose="02040503050406030204" pitchFamily="18" charset="0"/>
                <a:ea typeface="Cambria" panose="02040503050406030204" pitchFamily="18" charset="0"/>
              </a:rPr>
              <a:t>Dynamic error</a:t>
            </a:r>
          </a:p>
          <a:p>
            <a:pPr marL="0" indent="0" algn="just">
              <a:buNone/>
            </a:pPr>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636522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1382" y="75780"/>
            <a:ext cx="10515600" cy="904296"/>
          </a:xfrm>
        </p:spPr>
        <p:txBody>
          <a:bodyPr>
            <a:normAutofit/>
          </a:bodyPr>
          <a:lstStyle/>
          <a:p>
            <a:pPr algn="ctr"/>
            <a:r>
              <a:rPr lang="en-US" dirty="0" smtClean="0">
                <a:latin typeface="Cambria" panose="02040503050406030204" pitchFamily="18" charset="0"/>
                <a:ea typeface="Cambria" panose="02040503050406030204" pitchFamily="18" charset="0"/>
              </a:rPr>
              <a:t>Dynamic characteristics</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a:xfrm>
            <a:off x="838200" y="944711"/>
            <a:ext cx="10515600" cy="5314635"/>
          </a:xfrm>
        </p:spPr>
        <p:txBody>
          <a:bodyPr>
            <a:noAutofit/>
          </a:bodyPr>
          <a:lstStyle/>
          <a:p>
            <a:pPr marL="0" indent="0" algn="just">
              <a:buNone/>
            </a:pPr>
            <a:r>
              <a:rPr lang="en-US" sz="2400" b="1" dirty="0" smtClean="0">
                <a:latin typeface="Cambria" panose="02040503050406030204" pitchFamily="18" charset="0"/>
                <a:ea typeface="Cambria" panose="02040503050406030204" pitchFamily="18" charset="0"/>
              </a:rPr>
              <a:t>1. Speed of response</a:t>
            </a:r>
            <a:endParaRPr lang="en-US" sz="2400" b="1" dirty="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It gives information about how fast the system reacts to the changes in the input. </a:t>
            </a:r>
            <a:endParaRPr lang="en-US" sz="2400" dirty="0">
              <a:latin typeface="Cambria" panose="02040503050406030204" pitchFamily="18" charset="0"/>
              <a:ea typeface="Cambria" panose="02040503050406030204" pitchFamily="18" charset="0"/>
            </a:endParaRPr>
          </a:p>
          <a:p>
            <a:pPr marL="0" indent="0" algn="just">
              <a:buNone/>
            </a:pPr>
            <a:r>
              <a:rPr lang="en-US" sz="2400" b="1" dirty="0" smtClean="0">
                <a:latin typeface="Cambria" panose="02040503050406030204" pitchFamily="18" charset="0"/>
                <a:ea typeface="Cambria" panose="02040503050406030204" pitchFamily="18" charset="0"/>
              </a:rPr>
              <a:t>2. Fidelity</a:t>
            </a:r>
            <a:endParaRPr lang="en-US" sz="2400" b="1" dirty="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It is defined as the degree to which an instrument indicates the changes in the measured variable without dynamic error.</a:t>
            </a:r>
            <a:endParaRPr lang="en-US" sz="2400" dirty="0">
              <a:latin typeface="Cambria" panose="02040503050406030204" pitchFamily="18" charset="0"/>
              <a:ea typeface="Cambria" panose="02040503050406030204" pitchFamily="18" charset="0"/>
            </a:endParaRPr>
          </a:p>
          <a:p>
            <a:pPr marL="0" indent="0" algn="just">
              <a:buNone/>
            </a:pPr>
            <a:r>
              <a:rPr lang="en-US" sz="2400" b="1" dirty="0" smtClean="0">
                <a:latin typeface="Cambria" panose="02040503050406030204" pitchFamily="18" charset="0"/>
                <a:ea typeface="Cambria" panose="02040503050406030204" pitchFamily="18" charset="0"/>
              </a:rPr>
              <a:t>3. Lag</a:t>
            </a:r>
          </a:p>
          <a:p>
            <a:pPr algn="just"/>
            <a:r>
              <a:rPr lang="en-US" sz="2400" dirty="0" smtClean="0">
                <a:latin typeface="Cambria" panose="02040503050406030204" pitchFamily="18" charset="0"/>
                <a:ea typeface="Cambria" panose="02040503050406030204" pitchFamily="18" charset="0"/>
              </a:rPr>
              <a:t>Delay in the response of a system.</a:t>
            </a:r>
          </a:p>
          <a:p>
            <a:pPr marL="0" indent="0" algn="just">
              <a:buNone/>
            </a:pPr>
            <a:r>
              <a:rPr lang="en-US" sz="2400" b="1" dirty="0" smtClean="0">
                <a:latin typeface="Cambria" panose="02040503050406030204" pitchFamily="18" charset="0"/>
                <a:ea typeface="Cambria" panose="02040503050406030204" pitchFamily="18" charset="0"/>
              </a:rPr>
              <a:t>Retardation lag: </a:t>
            </a:r>
            <a:r>
              <a:rPr lang="en-US" sz="2400" dirty="0" smtClean="0">
                <a:latin typeface="Cambria" panose="02040503050406030204" pitchFamily="18" charset="0"/>
                <a:ea typeface="Cambria" panose="02040503050406030204" pitchFamily="18" charset="0"/>
              </a:rPr>
              <a:t>response of the system begins immediately after a change in a variable has occurred.</a:t>
            </a:r>
          </a:p>
          <a:p>
            <a:pPr marL="0" indent="0" algn="just">
              <a:buNone/>
            </a:pPr>
            <a:r>
              <a:rPr lang="en-US" sz="2400" b="1" dirty="0" smtClean="0">
                <a:latin typeface="Cambria" panose="02040503050406030204" pitchFamily="18" charset="0"/>
                <a:ea typeface="Cambria" panose="02040503050406030204" pitchFamily="18" charset="0"/>
              </a:rPr>
              <a:t>Time delay: </a:t>
            </a:r>
            <a:r>
              <a:rPr lang="en-US" sz="2400" dirty="0" smtClean="0">
                <a:latin typeface="Cambria" panose="02040503050406030204" pitchFamily="18" charset="0"/>
                <a:ea typeface="Cambria" panose="02040503050406030204" pitchFamily="18" charset="0"/>
              </a:rPr>
              <a:t>response begins after sometime called dead time, after application of input.</a:t>
            </a:r>
          </a:p>
          <a:p>
            <a:pPr algn="just"/>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246300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i="1" dirty="0" smtClean="0">
                <a:latin typeface="Cambria" panose="02040503050406030204" pitchFamily="18" charset="0"/>
                <a:ea typeface="Cambria" panose="02040503050406030204" pitchFamily="18" charset="0"/>
              </a:rPr>
              <a:t/>
            </a:r>
            <a:br>
              <a:rPr lang="en-US" sz="3200" b="1" i="1" dirty="0" smtClean="0">
                <a:latin typeface="Cambria" panose="02040503050406030204" pitchFamily="18" charset="0"/>
                <a:ea typeface="Cambria" panose="02040503050406030204" pitchFamily="18" charset="0"/>
              </a:rPr>
            </a:br>
            <a:r>
              <a:rPr lang="en-US" sz="3200" b="1" dirty="0" smtClean="0">
                <a:latin typeface="Cambria" panose="02040503050406030204" pitchFamily="18" charset="0"/>
                <a:ea typeface="Cambria" panose="02040503050406030204" pitchFamily="18" charset="0"/>
              </a:rPr>
              <a:t>Dynamic characteristics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marL="0" indent="0" algn="just">
              <a:buNone/>
            </a:pPr>
            <a:r>
              <a:rPr lang="en-US" sz="2400" b="1" dirty="0" smtClean="0">
                <a:latin typeface="Cambria" panose="02040503050406030204" pitchFamily="18" charset="0"/>
                <a:ea typeface="Cambria" panose="02040503050406030204" pitchFamily="18" charset="0"/>
              </a:rPr>
              <a:t>4. Dynamic error</a:t>
            </a:r>
          </a:p>
          <a:p>
            <a:pPr algn="just"/>
            <a:r>
              <a:rPr lang="en-US" sz="2400" dirty="0" smtClean="0">
                <a:latin typeface="Cambria" panose="02040503050406030204" pitchFamily="18" charset="0"/>
                <a:ea typeface="Cambria" panose="02040503050406030204" pitchFamily="18" charset="0"/>
              </a:rPr>
              <a:t>The difference between the true value of a variable to be measured changing with time and a value indicate by the measurement system assuming zero static error.</a:t>
            </a:r>
          </a:p>
          <a:p>
            <a:pPr marL="0" indent="0" algn="just">
              <a:buNone/>
            </a:pPr>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046737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Cambria" panose="02040503050406030204" pitchFamily="18" charset="0"/>
                <a:ea typeface="Cambria" panose="02040503050406030204" pitchFamily="18" charset="0"/>
              </a:rPr>
              <a:t>QUESTIONS</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buNone/>
            </a:pPr>
            <a:r>
              <a:rPr lang="en-US" sz="6600" dirty="0">
                <a:latin typeface="Cambria" panose="02040503050406030204" pitchFamily="18" charset="0"/>
                <a:ea typeface="Cambria" panose="02040503050406030204" pitchFamily="18" charset="0"/>
              </a:rPr>
              <a:t>           </a:t>
            </a:r>
          </a:p>
          <a:p>
            <a:pPr>
              <a:buNone/>
            </a:pPr>
            <a:r>
              <a:rPr lang="en-US" sz="6600" dirty="0">
                <a:latin typeface="Cambria" panose="02040503050406030204" pitchFamily="18" charset="0"/>
                <a:ea typeface="Cambria" panose="02040503050406030204" pitchFamily="18" charset="0"/>
              </a:rPr>
              <a:t>   			</a:t>
            </a:r>
            <a:r>
              <a:rPr lang="en-US" sz="6600" dirty="0" smtClean="0">
                <a:latin typeface="Cambria" panose="02040503050406030204" pitchFamily="18" charset="0"/>
                <a:ea typeface="Cambria" panose="02040503050406030204" pitchFamily="18" charset="0"/>
              </a:rPr>
              <a:t>          </a:t>
            </a:r>
            <a:r>
              <a:rPr lang="en-US" sz="66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36416967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latin typeface="Cambria" panose="02040503050406030204" pitchFamily="18" charset="0"/>
                <a:ea typeface="Cambria" panose="02040503050406030204" pitchFamily="18" charset="0"/>
              </a:rPr>
              <a:t>Discussion</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lstStyle/>
          <a:p>
            <a:r>
              <a:rPr lang="en-US" dirty="0" smtClean="0">
                <a:latin typeface="Cambria" panose="02040503050406030204" pitchFamily="18" charset="0"/>
                <a:ea typeface="Cambria" panose="02040503050406030204" pitchFamily="18" charset="0"/>
              </a:rPr>
              <a:t>Significance of measurement with examples</a:t>
            </a:r>
          </a:p>
          <a:p>
            <a:r>
              <a:rPr lang="en-US" dirty="0" smtClean="0">
                <a:latin typeface="Cambria" panose="02040503050406030204" pitchFamily="18" charset="0"/>
                <a:ea typeface="Cambria" panose="02040503050406030204" pitchFamily="18" charset="0"/>
              </a:rPr>
              <a:t>Evolution of instruments</a:t>
            </a:r>
          </a:p>
          <a:p>
            <a:r>
              <a:rPr lang="en-US" dirty="0" smtClean="0">
                <a:latin typeface="Cambria" panose="02040503050406030204" pitchFamily="18" charset="0"/>
                <a:ea typeface="Cambria" panose="02040503050406030204" pitchFamily="18" charset="0"/>
              </a:rPr>
              <a:t>Electronic measurement</a:t>
            </a:r>
          </a:p>
          <a:p>
            <a:r>
              <a:rPr lang="en-US" dirty="0" smtClean="0">
                <a:latin typeface="Cambria" panose="02040503050406030204" pitchFamily="18" charset="0"/>
                <a:ea typeface="Cambria" panose="02040503050406030204" pitchFamily="18" charset="0"/>
              </a:rPr>
              <a:t>Elements of a measuring instrument</a:t>
            </a:r>
          </a:p>
          <a:p>
            <a:r>
              <a:rPr lang="en-US" dirty="0" smtClean="0">
                <a:latin typeface="Cambria" panose="02040503050406030204" pitchFamily="18" charset="0"/>
                <a:ea typeface="Cambria" panose="02040503050406030204" pitchFamily="18" charset="0"/>
              </a:rPr>
              <a:t>Static characteristics</a:t>
            </a:r>
          </a:p>
          <a:p>
            <a:r>
              <a:rPr lang="en-US" dirty="0" smtClean="0">
                <a:latin typeface="Cambria" panose="02040503050406030204" pitchFamily="18" charset="0"/>
                <a:ea typeface="Cambria" panose="02040503050406030204" pitchFamily="18" charset="0"/>
              </a:rPr>
              <a:t>Dynamic characteristics</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0926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727</TotalTime>
  <Words>847</Words>
  <Application>Microsoft Office PowerPoint</Application>
  <PresentationFormat>Widescreen</PresentationFormat>
  <Paragraphs>144</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Cambria</vt:lpstr>
      <vt:lpstr>Cambria Math</vt:lpstr>
      <vt:lpstr>Wingdings</vt:lpstr>
      <vt:lpstr>Office Theme</vt:lpstr>
      <vt:lpstr>Characteristics of Measurement Instruments</vt:lpstr>
      <vt:lpstr>Performance characteristics</vt:lpstr>
      <vt:lpstr>PowerPoint Presentation</vt:lpstr>
      <vt:lpstr>Static characteristics</vt:lpstr>
      <vt:lpstr>Static characteristics…</vt:lpstr>
      <vt:lpstr>Static characteristics…</vt:lpstr>
      <vt:lpstr>Static characteristics</vt:lpstr>
      <vt:lpstr>Static characteristics</vt:lpstr>
      <vt:lpstr>Static characteristics</vt:lpstr>
      <vt:lpstr>Static characteristics</vt:lpstr>
      <vt:lpstr>Static characteristics</vt:lpstr>
      <vt:lpstr>Static characteristics</vt:lpstr>
      <vt:lpstr>Static characteristics</vt:lpstr>
      <vt:lpstr>Static characteristics…</vt:lpstr>
      <vt:lpstr>Static characteristics</vt:lpstr>
      <vt:lpstr>Static characteristics</vt:lpstr>
      <vt:lpstr>Static characteristics</vt:lpstr>
      <vt:lpstr> Dynamic characteristics</vt:lpstr>
      <vt:lpstr>Dynamic characteristics</vt:lpstr>
      <vt:lpstr> Dynamic characteristics</vt:lpstr>
      <vt:lpstr>QUESTIONS</vt:lpstr>
      <vt:lpstr>Discussion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Characteristics of Measurement Instruments</dc:title>
  <dc:creator>hp</dc:creator>
  <cp:lastModifiedBy>hp</cp:lastModifiedBy>
  <cp:revision>7</cp:revision>
  <dcterms:created xsi:type="dcterms:W3CDTF">2021-11-17T12:10:16Z</dcterms:created>
  <dcterms:modified xsi:type="dcterms:W3CDTF">2021-11-24T05:49:58Z</dcterms:modified>
</cp:coreProperties>
</file>