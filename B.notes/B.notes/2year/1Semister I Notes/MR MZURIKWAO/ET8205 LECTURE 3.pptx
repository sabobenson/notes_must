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4" r:id="rId3"/>
    <p:sldId id="268" r:id="rId4"/>
    <p:sldId id="269" r:id="rId5"/>
    <p:sldId id="270" r:id="rId6"/>
    <p:sldId id="271" r:id="rId7"/>
    <p:sldId id="272" r:id="rId8"/>
    <p:sldId id="267" r:id="rId9"/>
    <p:sldId id="266" r:id="rId10"/>
    <p:sldId id="273" r:id="rId11"/>
    <p:sldId id="274" r:id="rId12"/>
    <p:sldId id="275" r:id="rId13"/>
    <p:sldId id="257" r:id="rId14"/>
    <p:sldId id="259" r:id="rId15"/>
    <p:sldId id="260" r:id="rId16"/>
    <p:sldId id="261" r:id="rId17"/>
    <p:sldId id="263"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68406" autoAdjust="0"/>
  </p:normalViewPr>
  <p:slideViewPr>
    <p:cSldViewPr snapToGrid="0">
      <p:cViewPr varScale="1">
        <p:scale>
          <a:sx n="43" d="100"/>
          <a:sy n="43" d="100"/>
        </p:scale>
        <p:origin x="1568" y="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78AC9-2822-4214-9469-62C4CB4573E7}"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42F46-AB7C-4275-BD4D-9D1BC0886231}" type="slidenum">
              <a:rPr lang="en-US" smtClean="0"/>
              <a:t>‹#›</a:t>
            </a:fld>
            <a:endParaRPr lang="en-US"/>
          </a:p>
        </p:txBody>
      </p:sp>
    </p:spTree>
    <p:extLst>
      <p:ext uri="{BB962C8B-B14F-4D97-AF65-F5344CB8AC3E}">
        <p14:creationId xmlns:p14="http://schemas.microsoft.com/office/powerpoint/2010/main" val="3561820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C423E09-3C6C-4646-A76E-681978791A77}" type="datetimeFigureOut">
              <a:rPr lang="en-US" smtClean="0"/>
              <a:t>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3003012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423E09-3C6C-4646-A76E-681978791A77}" type="datetimeFigureOut">
              <a:rPr lang="en-US" smtClean="0"/>
              <a:t>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3736145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423E09-3C6C-4646-A76E-681978791A77}" type="datetimeFigureOut">
              <a:rPr lang="en-US" smtClean="0"/>
              <a:t>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2477140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C423E09-3C6C-4646-A76E-681978791A77}" type="datetimeFigureOut">
              <a:rPr lang="en-US" smtClean="0"/>
              <a:t>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233719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C423E09-3C6C-4646-A76E-681978791A77}" type="datetimeFigureOut">
              <a:rPr lang="en-US" smtClean="0"/>
              <a:t>12/2/2021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2501478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423E09-3C6C-4646-A76E-681978791A77}" type="datetimeFigureOut">
              <a:rPr lang="en-US" smtClean="0"/>
              <a:t>12/2/2021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4228713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423E09-3C6C-4646-A76E-681978791A77}" type="datetimeFigureOut">
              <a:rPr lang="en-US" smtClean="0"/>
              <a:t>12/2/2021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24553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423E09-3C6C-4646-A76E-681978791A77}" type="datetimeFigureOut">
              <a:rPr lang="en-US" smtClean="0"/>
              <a:t>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3970808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423E09-3C6C-4646-A76E-681978791A77}" type="datetimeFigureOut">
              <a:rPr lang="en-US" smtClean="0"/>
              <a:t>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585271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423E09-3C6C-4646-A76E-681978791A77}" type="datetimeFigureOut">
              <a:rPr lang="en-US" smtClean="0"/>
              <a:t>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1280882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423E09-3C6C-4646-A76E-681978791A77}" type="datetimeFigureOut">
              <a:rPr lang="en-US" smtClean="0"/>
              <a:t>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803BF-C5BA-4BF9-A455-9DDAD46CB448}" type="slidenum">
              <a:rPr lang="en-US" smtClean="0"/>
              <a:t>‹#›</a:t>
            </a:fld>
            <a:endParaRPr lang="en-US"/>
          </a:p>
        </p:txBody>
      </p:sp>
    </p:spTree>
    <p:extLst>
      <p:ext uri="{BB962C8B-B14F-4D97-AF65-F5344CB8AC3E}">
        <p14:creationId xmlns:p14="http://schemas.microsoft.com/office/powerpoint/2010/main" val="2066582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423E09-3C6C-4646-A76E-681978791A77}" type="datetimeFigureOut">
              <a:rPr lang="en-US" smtClean="0"/>
              <a:t>12/2/2021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803BF-C5BA-4BF9-A455-9DDAD46CB448}" type="slidenum">
              <a:rPr lang="en-US" smtClean="0"/>
              <a:t>‹#›</a:t>
            </a:fld>
            <a:endParaRPr lang="en-US"/>
          </a:p>
        </p:txBody>
      </p:sp>
    </p:spTree>
    <p:extLst>
      <p:ext uri="{BB962C8B-B14F-4D97-AF65-F5344CB8AC3E}">
        <p14:creationId xmlns:p14="http://schemas.microsoft.com/office/powerpoint/2010/main" val="2496174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3200" b="1" dirty="0">
                <a:latin typeface="Cambria" panose="02040503050406030204" pitchFamily="18" charset="0"/>
                <a:ea typeface="Cambria" panose="02040503050406030204" pitchFamily="18" charset="0"/>
              </a:rPr>
              <a:t>Calibration, Noise, Interference and Grounding</a:t>
            </a:r>
            <a:endParaRPr lang="en-US" sz="3200"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b="1" dirty="0" smtClean="0">
                <a:latin typeface="Cambria" panose="02040503050406030204" pitchFamily="18" charset="0"/>
                <a:ea typeface="Cambria" panose="02040503050406030204" pitchFamily="18" charset="0"/>
              </a:rPr>
              <a:t>By </a:t>
            </a:r>
          </a:p>
          <a:p>
            <a:r>
              <a:rPr lang="en-US" b="1" dirty="0" smtClean="0">
                <a:latin typeface="Cambria" panose="02040503050406030204" pitchFamily="18" charset="0"/>
                <a:ea typeface="Cambria" panose="02040503050406030204" pitchFamily="18" charset="0"/>
              </a:rPr>
              <a:t>Candida </a:t>
            </a:r>
            <a:r>
              <a:rPr lang="en-US" b="1" dirty="0" err="1" smtClean="0">
                <a:latin typeface="Cambria" panose="02040503050406030204" pitchFamily="18" charset="0"/>
                <a:ea typeface="Cambria" panose="02040503050406030204" pitchFamily="18" charset="0"/>
              </a:rPr>
              <a:t>Nakida</a:t>
            </a:r>
            <a:r>
              <a:rPr lang="en-US" b="1" dirty="0" smtClean="0">
                <a:latin typeface="Cambria" panose="02040503050406030204" pitchFamily="18" charset="0"/>
                <a:ea typeface="Cambria" panose="02040503050406030204" pitchFamily="18" charset="0"/>
              </a:rPr>
              <a:t> </a:t>
            </a:r>
            <a:r>
              <a:rPr lang="en-US" b="1" dirty="0" err="1" smtClean="0">
                <a:latin typeface="Cambria" panose="02040503050406030204" pitchFamily="18" charset="0"/>
                <a:ea typeface="Cambria" panose="02040503050406030204" pitchFamily="18" charset="0"/>
              </a:rPr>
              <a:t>Mwisomba</a:t>
            </a:r>
            <a:endParaRPr lang="en-US" b="1" dirty="0" smtClean="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710065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Control of calibration environment </a:t>
            </a:r>
            <a:br>
              <a:rPr lang="en-US" sz="3200" b="1"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90038" y="1273087"/>
            <a:ext cx="11548720" cy="5385362"/>
          </a:xfrm>
        </p:spPr>
        <p:txBody>
          <a:bodyPr>
            <a:normAutofit/>
          </a:bodyPr>
          <a:lstStyle/>
          <a:p>
            <a:pPr algn="just"/>
            <a:r>
              <a:rPr lang="en-US" sz="2400" dirty="0">
                <a:latin typeface="Cambria" panose="02040503050406030204" pitchFamily="18" charset="0"/>
                <a:ea typeface="Cambria" panose="02040503050406030204" pitchFamily="18" charset="0"/>
              </a:rPr>
              <a:t>Any instrument that is used as a standard in calibration procedures must be kept </a:t>
            </a:r>
            <a:r>
              <a:rPr lang="en-US" sz="2400" dirty="0" smtClean="0">
                <a:latin typeface="Cambria" panose="02040503050406030204" pitchFamily="18" charset="0"/>
                <a:ea typeface="Cambria" panose="02040503050406030204" pitchFamily="18" charset="0"/>
              </a:rPr>
              <a:t>solely for </a:t>
            </a:r>
            <a:r>
              <a:rPr lang="en-US" sz="2400" dirty="0">
                <a:latin typeface="Cambria" panose="02040503050406030204" pitchFamily="18" charset="0"/>
                <a:ea typeface="Cambria" panose="02040503050406030204" pitchFamily="18" charset="0"/>
              </a:rPr>
              <a:t>calibration duties and must never be used for other purposes. Most particularly, </a:t>
            </a:r>
            <a:r>
              <a:rPr lang="en-US" sz="2400" dirty="0" smtClean="0">
                <a:latin typeface="Cambria" panose="02040503050406030204" pitchFamily="18" charset="0"/>
                <a:ea typeface="Cambria" panose="02040503050406030204" pitchFamily="18" charset="0"/>
              </a:rPr>
              <a:t>it must </a:t>
            </a:r>
            <a:r>
              <a:rPr lang="en-US" sz="2400" dirty="0">
                <a:latin typeface="Cambria" panose="02040503050406030204" pitchFamily="18" charset="0"/>
                <a:ea typeface="Cambria" panose="02040503050406030204" pitchFamily="18" charset="0"/>
              </a:rPr>
              <a:t>not be regarded as a spare instrument that can be used for process </a:t>
            </a:r>
            <a:r>
              <a:rPr lang="en-US" sz="2400" dirty="0" smtClean="0">
                <a:latin typeface="Cambria" panose="02040503050406030204" pitchFamily="18" charset="0"/>
                <a:ea typeface="Cambria" panose="02040503050406030204" pitchFamily="18" charset="0"/>
              </a:rPr>
              <a:t>measurements if </a:t>
            </a:r>
            <a:r>
              <a:rPr lang="en-US" sz="2400" dirty="0">
                <a:latin typeface="Cambria" panose="02040503050406030204" pitchFamily="18" charset="0"/>
                <a:ea typeface="Cambria" panose="02040503050406030204" pitchFamily="18" charset="0"/>
              </a:rPr>
              <a:t>the instrument normally used for that purpose breaks down.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Proper </a:t>
            </a:r>
            <a:r>
              <a:rPr lang="en-US" sz="2400" dirty="0">
                <a:latin typeface="Cambria" panose="02040503050406030204" pitchFamily="18" charset="0"/>
                <a:ea typeface="Cambria" panose="02040503050406030204" pitchFamily="18" charset="0"/>
              </a:rPr>
              <a:t>provision </a:t>
            </a:r>
            <a:r>
              <a:rPr lang="en-US" sz="2400" dirty="0" smtClean="0">
                <a:latin typeface="Cambria" panose="02040503050406030204" pitchFamily="18" charset="0"/>
                <a:ea typeface="Cambria" panose="02040503050406030204" pitchFamily="18" charset="0"/>
              </a:rPr>
              <a:t>for process </a:t>
            </a:r>
            <a:r>
              <a:rPr lang="en-US" sz="2400" dirty="0">
                <a:latin typeface="Cambria" panose="02040503050406030204" pitchFamily="18" charset="0"/>
                <a:ea typeface="Cambria" panose="02040503050406030204" pitchFamily="18" charset="0"/>
              </a:rPr>
              <a:t>instrument failures must be made by keeping a spare set of process </a:t>
            </a:r>
            <a:r>
              <a:rPr lang="en-US" sz="2400" dirty="0" smtClean="0">
                <a:latin typeface="Cambria" panose="02040503050406030204" pitchFamily="18" charset="0"/>
                <a:ea typeface="Cambria" panose="02040503050406030204" pitchFamily="18" charset="0"/>
              </a:rPr>
              <a:t>instruments. Standard </a:t>
            </a:r>
            <a:r>
              <a:rPr lang="en-US" sz="2400" dirty="0">
                <a:latin typeface="Cambria" panose="02040503050406030204" pitchFamily="18" charset="0"/>
                <a:ea typeface="Cambria" panose="02040503050406030204" pitchFamily="18" charset="0"/>
              </a:rPr>
              <a:t>calibration instruments must be totally separate</a:t>
            </a:r>
            <a:r>
              <a:rPr lang="en-US" sz="2400" dirty="0" smtClean="0">
                <a:latin typeface="Cambria" panose="02040503050406030204" pitchFamily="18" charset="0"/>
                <a:ea typeface="Cambria" panose="02040503050406030204" pitchFamily="18" charset="0"/>
              </a:rPr>
              <a:t>.</a:t>
            </a:r>
          </a:p>
          <a:p>
            <a:pPr algn="just"/>
            <a:r>
              <a:rPr lang="en-US" sz="2400" dirty="0">
                <a:latin typeface="Cambria" panose="02040503050406030204" pitchFamily="18" charset="0"/>
                <a:ea typeface="Cambria" panose="02040503050406030204" pitchFamily="18" charset="0"/>
              </a:rPr>
              <a:t>To ensure that these conditions are met, the calibration function must be </a:t>
            </a:r>
            <a:r>
              <a:rPr lang="en-US" sz="2400" dirty="0" smtClean="0">
                <a:latin typeface="Cambria" panose="02040503050406030204" pitchFamily="18" charset="0"/>
                <a:ea typeface="Cambria" panose="02040503050406030204" pitchFamily="18" charset="0"/>
              </a:rPr>
              <a:t>managed and </a:t>
            </a:r>
            <a:r>
              <a:rPr lang="en-US" sz="2400" dirty="0">
                <a:latin typeface="Cambria" panose="02040503050406030204" pitchFamily="18" charset="0"/>
                <a:ea typeface="Cambria" panose="02040503050406030204" pitchFamily="18" charset="0"/>
              </a:rPr>
              <a:t>executed in a professional manner. This will normally mean setting aside a particular place within the instrumentation department of a company where all </a:t>
            </a:r>
            <a:r>
              <a:rPr lang="en-US" sz="2400" dirty="0" smtClean="0">
                <a:latin typeface="Cambria" panose="02040503050406030204" pitchFamily="18" charset="0"/>
                <a:ea typeface="Cambria" panose="02040503050406030204" pitchFamily="18" charset="0"/>
              </a:rPr>
              <a:t>calibration operations </a:t>
            </a:r>
            <a:r>
              <a:rPr lang="en-US" sz="2400" dirty="0">
                <a:latin typeface="Cambria" panose="02040503050406030204" pitchFamily="18" charset="0"/>
                <a:ea typeface="Cambria" panose="02040503050406030204" pitchFamily="18" charset="0"/>
              </a:rPr>
              <a:t>take place and where all instruments used for calibration are kept.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As far as </a:t>
            </a:r>
            <a:r>
              <a:rPr lang="en-US" sz="2400" dirty="0">
                <a:latin typeface="Cambria" panose="02040503050406030204" pitchFamily="18" charset="0"/>
                <a:ea typeface="Cambria" panose="02040503050406030204" pitchFamily="18" charset="0"/>
              </a:rPr>
              <a:t>possible this should take the form of a separate room, rather than a </a:t>
            </a:r>
            <a:r>
              <a:rPr lang="en-US" sz="2400" dirty="0" smtClean="0">
                <a:latin typeface="Cambria" panose="02040503050406030204" pitchFamily="18" charset="0"/>
                <a:ea typeface="Cambria" panose="02040503050406030204" pitchFamily="18" charset="0"/>
              </a:rPr>
              <a:t>sectioned-off area </a:t>
            </a:r>
            <a:r>
              <a:rPr lang="en-US" sz="2400" dirty="0">
                <a:latin typeface="Cambria" panose="02040503050406030204" pitchFamily="18" charset="0"/>
                <a:ea typeface="Cambria" panose="02040503050406030204" pitchFamily="18" charset="0"/>
              </a:rPr>
              <a:t>in a room used for other purposes as well.</a:t>
            </a: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0072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MEASUREMENT </a:t>
            </a:r>
            <a:r>
              <a:rPr lang="en-US" sz="3200" b="1" dirty="0" smtClean="0">
                <a:latin typeface="Cambria" panose="02040503050406030204" pitchFamily="18" charset="0"/>
                <a:ea typeface="Cambria" panose="02040503050406030204" pitchFamily="18" charset="0"/>
              </a:rPr>
              <a:t>STANDARDS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lgn="just"/>
            <a:r>
              <a:rPr lang="en-US" sz="2400" dirty="0" smtClean="0">
                <a:latin typeface="Cambria" panose="02040503050406030204" pitchFamily="18" charset="0"/>
                <a:ea typeface="Cambria" panose="02040503050406030204" pitchFamily="18" charset="0"/>
              </a:rPr>
              <a:t>A standard of measurement is physical representation of a unit of measurement.</a:t>
            </a:r>
          </a:p>
          <a:p>
            <a:pPr algn="just"/>
            <a:r>
              <a:rPr lang="en-US" sz="2400" dirty="0" smtClean="0">
                <a:latin typeface="Cambria" panose="02040503050406030204" pitchFamily="18" charset="0"/>
                <a:ea typeface="Cambria" panose="02040503050406030204" pitchFamily="18" charset="0"/>
              </a:rPr>
              <a:t>Standard means know accurate measure of a physical quantity. e.g. unit of </a:t>
            </a:r>
            <a:r>
              <a:rPr lang="en-US" sz="2400" dirty="0">
                <a:latin typeface="Cambria" panose="02040503050406030204" pitchFamily="18" charset="0"/>
                <a:ea typeface="Cambria" panose="02040503050406030204" pitchFamily="18" charset="0"/>
              </a:rPr>
              <a:t>mass</a:t>
            </a:r>
            <a:r>
              <a:rPr lang="en-US" sz="2400" dirty="0" smtClean="0">
                <a:latin typeface="Cambria" panose="02040503050406030204" pitchFamily="18" charset="0"/>
                <a:ea typeface="Cambria" panose="02040503050406030204" pitchFamily="18" charset="0"/>
              </a:rPr>
              <a:t>: Kg</a:t>
            </a:r>
          </a:p>
          <a:p>
            <a:endParaRPr lang="en-US" sz="24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5795832" y="4798917"/>
            <a:ext cx="2462213" cy="1862283"/>
          </a:xfrm>
          <a:prstGeom prst="rect">
            <a:avLst/>
          </a:prstGeom>
        </p:spPr>
      </p:pic>
    </p:spTree>
    <p:extLst>
      <p:ext uri="{BB962C8B-B14F-4D97-AF65-F5344CB8AC3E}">
        <p14:creationId xmlns:p14="http://schemas.microsoft.com/office/powerpoint/2010/main" val="390711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MEASUREMENT </a:t>
            </a:r>
            <a:r>
              <a:rPr lang="en-US" sz="3200" b="1" dirty="0" smtClean="0">
                <a:latin typeface="Cambria" panose="02040503050406030204" pitchFamily="18" charset="0"/>
                <a:ea typeface="Cambria" panose="02040503050406030204" pitchFamily="18" charset="0"/>
              </a:rPr>
              <a:t>STANDARDS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buNone/>
            </a:pPr>
            <a:r>
              <a:rPr lang="en-US" sz="2400" b="1" dirty="0" smtClean="0">
                <a:latin typeface="Cambria" panose="02040503050406030204" pitchFamily="18" charset="0"/>
                <a:ea typeface="Cambria" panose="02040503050406030204" pitchFamily="18" charset="0"/>
              </a:rPr>
              <a:t>TYPES OF STANDARDS</a:t>
            </a:r>
          </a:p>
          <a:p>
            <a:pPr marL="0" indent="0">
              <a:buNone/>
            </a:pPr>
            <a:endParaRPr lang="en-US" sz="2400" b="1" dirty="0" smtClean="0">
              <a:latin typeface="Cambria" panose="02040503050406030204" pitchFamily="18" charset="0"/>
              <a:ea typeface="Cambria" panose="02040503050406030204" pitchFamily="18" charset="0"/>
            </a:endParaRPr>
          </a:p>
          <a:p>
            <a:pPr marL="0" indent="0" algn="just">
              <a:lnSpc>
                <a:spcPct val="150000"/>
              </a:lnSpc>
              <a:buNone/>
            </a:pPr>
            <a:r>
              <a:rPr lang="en-US" sz="2400" dirty="0" smtClean="0">
                <a:latin typeface="Cambria" panose="02040503050406030204" pitchFamily="18" charset="0"/>
                <a:ea typeface="Cambria" panose="02040503050406030204" pitchFamily="18" charset="0"/>
              </a:rPr>
              <a:t>1. International standards</a:t>
            </a:r>
          </a:p>
          <a:p>
            <a:pPr marL="0" indent="0" algn="just">
              <a:lnSpc>
                <a:spcPct val="150000"/>
              </a:lnSpc>
              <a:buNone/>
            </a:pPr>
            <a:r>
              <a:rPr lang="en-US" sz="2400" dirty="0" smtClean="0">
                <a:latin typeface="Cambria" panose="02040503050406030204" pitchFamily="18" charset="0"/>
                <a:ea typeface="Cambria" panose="02040503050406030204" pitchFamily="18" charset="0"/>
              </a:rPr>
              <a:t>2. Primary standards</a:t>
            </a:r>
          </a:p>
          <a:p>
            <a:pPr marL="0" indent="0" algn="just">
              <a:lnSpc>
                <a:spcPct val="150000"/>
              </a:lnSpc>
              <a:buNone/>
            </a:pPr>
            <a:r>
              <a:rPr lang="en-US" sz="2400" dirty="0" smtClean="0">
                <a:latin typeface="Cambria" panose="02040503050406030204" pitchFamily="18" charset="0"/>
                <a:ea typeface="Cambria" panose="02040503050406030204" pitchFamily="18" charset="0"/>
              </a:rPr>
              <a:t>3. Secondary standards</a:t>
            </a:r>
          </a:p>
          <a:p>
            <a:pPr marL="0" indent="0" algn="just">
              <a:lnSpc>
                <a:spcPct val="150000"/>
              </a:lnSpc>
              <a:buNone/>
            </a:pPr>
            <a:r>
              <a:rPr lang="en-US" sz="2400" dirty="0" smtClean="0">
                <a:latin typeface="Cambria" panose="02040503050406030204" pitchFamily="18" charset="0"/>
                <a:ea typeface="Cambria" panose="02040503050406030204" pitchFamily="18" charset="0"/>
              </a:rPr>
              <a:t>4. Working standards</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876163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MEASUREMENT </a:t>
            </a:r>
            <a:r>
              <a:rPr lang="en-US" sz="3200" b="1" dirty="0" smtClean="0">
                <a:latin typeface="Cambria" panose="02040503050406030204" pitchFamily="18" charset="0"/>
                <a:ea typeface="Cambria" panose="02040503050406030204" pitchFamily="18" charset="0"/>
              </a:rPr>
              <a:t>STANDARDS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lstStyle/>
          <a:p>
            <a:pPr marL="0" indent="0">
              <a:buNone/>
            </a:pPr>
            <a:r>
              <a:rPr lang="en-US" b="1" dirty="0" smtClean="0">
                <a:latin typeface="Cambria" panose="02040503050406030204" pitchFamily="18" charset="0"/>
                <a:ea typeface="Cambria" panose="02040503050406030204" pitchFamily="18" charset="0"/>
              </a:rPr>
              <a:t>1. International standards</a:t>
            </a:r>
          </a:p>
          <a:p>
            <a:pPr algn="just"/>
            <a:r>
              <a:rPr lang="en-US" dirty="0" smtClean="0">
                <a:latin typeface="Cambria" panose="02040503050406030204" pitchFamily="18" charset="0"/>
                <a:ea typeface="Cambria" panose="02040503050406030204" pitchFamily="18" charset="0"/>
              </a:rPr>
              <a:t>These standards are maintained at the International bureau of weights and measures and are periodically evaluated and checked by absolute measurements.</a:t>
            </a:r>
          </a:p>
          <a:p>
            <a:pPr algn="just"/>
            <a:r>
              <a:rPr lang="en-US" dirty="0" smtClean="0">
                <a:latin typeface="Cambria" panose="02040503050406030204" pitchFamily="18" charset="0"/>
                <a:ea typeface="Cambria" panose="02040503050406030204" pitchFamily="18" charset="0"/>
              </a:rPr>
              <a:t>There standards are not available for ordinary users for calibration</a:t>
            </a:r>
          </a:p>
          <a:p>
            <a:pPr algn="just"/>
            <a:r>
              <a:rPr lang="en-US" dirty="0" smtClean="0">
                <a:latin typeface="Cambria" panose="02040503050406030204" pitchFamily="18" charset="0"/>
                <a:ea typeface="Cambria" panose="02040503050406030204" pitchFamily="18" charset="0"/>
              </a:rPr>
              <a:t>For accuracy they are replaced by absolute units which are more accurate than international standards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181175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MEASUREMENT </a:t>
            </a:r>
            <a:r>
              <a:rPr lang="en-US" sz="3200" b="1" dirty="0" smtClean="0">
                <a:latin typeface="Cambria" panose="02040503050406030204" pitchFamily="18" charset="0"/>
                <a:ea typeface="Cambria" panose="02040503050406030204" pitchFamily="18" charset="0"/>
              </a:rPr>
              <a:t>STANDARDS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marL="0" indent="0">
              <a:buNone/>
            </a:pPr>
            <a:r>
              <a:rPr lang="en-US" sz="2400" b="1" dirty="0">
                <a:latin typeface="Cambria" panose="02040503050406030204" pitchFamily="18" charset="0"/>
                <a:ea typeface="Cambria" panose="02040503050406030204" pitchFamily="18" charset="0"/>
              </a:rPr>
              <a:t>2</a:t>
            </a:r>
            <a:r>
              <a:rPr lang="en-US" sz="2400" b="1" dirty="0" smtClean="0">
                <a:latin typeface="Cambria" panose="02040503050406030204" pitchFamily="18" charset="0"/>
                <a:ea typeface="Cambria" panose="02040503050406030204" pitchFamily="18" charset="0"/>
              </a:rPr>
              <a:t>. Primary standards</a:t>
            </a:r>
          </a:p>
          <a:p>
            <a:pPr algn="just"/>
            <a:r>
              <a:rPr lang="en-US" sz="2400" dirty="0" smtClean="0">
                <a:latin typeface="Cambria" panose="02040503050406030204" pitchFamily="18" charset="0"/>
                <a:ea typeface="Cambria" panose="02040503050406030204" pitchFamily="18" charset="0"/>
              </a:rPr>
              <a:t>They are maintained at national standard laboratories  in different countries.</a:t>
            </a:r>
          </a:p>
          <a:p>
            <a:pPr algn="just"/>
            <a:r>
              <a:rPr lang="en-US" sz="2400" dirty="0" smtClean="0">
                <a:latin typeface="Cambria" panose="02040503050406030204" pitchFamily="18" charset="0"/>
                <a:ea typeface="Cambria" panose="02040503050406030204" pitchFamily="18" charset="0"/>
              </a:rPr>
              <a:t>These standards represents fundamental units as well as electrical and mechanical derived units calibrated by absolute measurement at each national laboratories.</a:t>
            </a:r>
          </a:p>
          <a:p>
            <a:pPr algn="just"/>
            <a:r>
              <a:rPr lang="en-US" sz="2400" dirty="0" smtClean="0">
                <a:latin typeface="Cambria" panose="02040503050406030204" pitchFamily="18" charset="0"/>
                <a:ea typeface="Cambria" panose="02040503050406030204" pitchFamily="18" charset="0"/>
              </a:rPr>
              <a:t>Used for calibration and verification of secondary standards. </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106932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MEASUREMENT </a:t>
            </a:r>
            <a:r>
              <a:rPr lang="en-US" sz="3200" b="1" dirty="0" smtClean="0">
                <a:latin typeface="Cambria" panose="02040503050406030204" pitchFamily="18" charset="0"/>
                <a:ea typeface="Cambria" panose="02040503050406030204" pitchFamily="18" charset="0"/>
              </a:rPr>
              <a:t>STANDARDS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a:xfrm>
            <a:off x="1232671" y="1600200"/>
            <a:ext cx="9659297" cy="4873752"/>
          </a:xfrm>
        </p:spPr>
        <p:txBody>
          <a:bodyPr>
            <a:normAutofit/>
          </a:bodyPr>
          <a:lstStyle/>
          <a:p>
            <a:pPr marL="0" indent="0">
              <a:buNone/>
            </a:pPr>
            <a:r>
              <a:rPr lang="en-US" sz="2400" b="1" dirty="0">
                <a:latin typeface="Cambria" panose="02040503050406030204" pitchFamily="18" charset="0"/>
                <a:ea typeface="Cambria" panose="02040503050406030204" pitchFamily="18" charset="0"/>
              </a:rPr>
              <a:t>4</a:t>
            </a:r>
            <a:r>
              <a:rPr lang="en-US" sz="2400" b="1" dirty="0" smtClean="0">
                <a:latin typeface="Cambria" panose="02040503050406030204" pitchFamily="18" charset="0"/>
                <a:ea typeface="Cambria" panose="02040503050406030204" pitchFamily="18" charset="0"/>
              </a:rPr>
              <a:t>. Working standards</a:t>
            </a:r>
          </a:p>
          <a:p>
            <a:r>
              <a:rPr lang="en-US" sz="2400" dirty="0" smtClean="0">
                <a:latin typeface="Cambria" panose="02040503050406030204" pitchFamily="18" charset="0"/>
                <a:ea typeface="Cambria" panose="02040503050406030204" pitchFamily="18" charset="0"/>
              </a:rPr>
              <a:t>These are basic tools for measurement laboratory.</a:t>
            </a:r>
          </a:p>
          <a:p>
            <a:r>
              <a:rPr lang="en-US" sz="2400" dirty="0" smtClean="0">
                <a:latin typeface="Cambria" panose="02040503050406030204" pitchFamily="18" charset="0"/>
                <a:ea typeface="Cambria" panose="02040503050406030204" pitchFamily="18" charset="0"/>
              </a:rPr>
              <a:t>Used to check and calibrate for accuracy.</a:t>
            </a:r>
          </a:p>
          <a:p>
            <a:r>
              <a:rPr lang="en-US" sz="2400" dirty="0" smtClean="0">
                <a:latin typeface="Cambria" panose="02040503050406030204" pitchFamily="18" charset="0"/>
                <a:ea typeface="Cambria" panose="02040503050406030204" pitchFamily="18" charset="0"/>
              </a:rPr>
              <a:t>e.g. resistor industry maintain a standard resistor for checking the values of manufactured resistor</a:t>
            </a: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3214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035" y="136402"/>
            <a:ext cx="10419193" cy="1261274"/>
          </a:xfrm>
        </p:spPr>
        <p:txBody>
          <a:bodyPr>
            <a:normAutofit/>
          </a:bodyPr>
          <a:lstStyle/>
          <a:p>
            <a:pPr algn="ctr"/>
            <a:r>
              <a:rPr lang="en-US" sz="3200" b="1" dirty="0">
                <a:latin typeface="Cambria" panose="02040503050406030204" pitchFamily="18" charset="0"/>
                <a:ea typeface="Cambria" panose="02040503050406030204" pitchFamily="18" charset="0"/>
              </a:rPr>
              <a:t>Calibration chain and </a:t>
            </a:r>
            <a:r>
              <a:rPr lang="en-US" sz="3200" b="1" dirty="0" smtClean="0">
                <a:latin typeface="Cambria" panose="02040503050406030204" pitchFamily="18" charset="0"/>
                <a:ea typeface="Cambria" panose="02040503050406030204" pitchFamily="18" charset="0"/>
              </a:rPr>
              <a:t>traceability…</a:t>
            </a:r>
            <a:r>
              <a:rPr lang="en-US" sz="3200" dirty="0" smtClean="0">
                <a:latin typeface="Cambria" panose="02040503050406030204" pitchFamily="18" charset="0"/>
                <a:ea typeface="Cambria" panose="02040503050406030204" pitchFamily="18" charset="0"/>
              </a:rPr>
              <a:t> </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88999" y="1278139"/>
            <a:ext cx="10964801" cy="4898824"/>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The calibration facilities provided within the instrumentation department of a </a:t>
            </a:r>
            <a:r>
              <a:rPr lang="en-US" sz="2400" dirty="0" smtClean="0">
                <a:latin typeface="Cambria" panose="02040503050406030204" pitchFamily="18" charset="0"/>
                <a:ea typeface="Cambria" panose="02040503050406030204" pitchFamily="18" charset="0"/>
              </a:rPr>
              <a:t>company provide </a:t>
            </a:r>
            <a:r>
              <a:rPr lang="en-US" sz="2400" dirty="0">
                <a:latin typeface="Cambria" panose="02040503050406030204" pitchFamily="18" charset="0"/>
                <a:ea typeface="Cambria" panose="02040503050406030204" pitchFamily="18" charset="0"/>
              </a:rPr>
              <a:t>the first link in the calibration chain. Instruments used for calibration at </a:t>
            </a:r>
            <a:r>
              <a:rPr lang="en-US" sz="2400" dirty="0" smtClean="0">
                <a:latin typeface="Cambria" panose="02040503050406030204" pitchFamily="18" charset="0"/>
                <a:ea typeface="Cambria" panose="02040503050406030204" pitchFamily="18" charset="0"/>
              </a:rPr>
              <a:t>this level </a:t>
            </a:r>
            <a:r>
              <a:rPr lang="en-US" sz="2400" dirty="0">
                <a:latin typeface="Cambria" panose="02040503050406030204" pitchFamily="18" charset="0"/>
                <a:ea typeface="Cambria" panose="02040503050406030204" pitchFamily="18" charset="0"/>
              </a:rPr>
              <a:t>are known as working standards. </a:t>
            </a:r>
            <a:endParaRPr lang="en-US" sz="2400" dirty="0" smtClean="0">
              <a:latin typeface="Cambria" panose="02040503050406030204" pitchFamily="18" charset="0"/>
              <a:ea typeface="Cambria" panose="02040503050406030204" pitchFamily="18" charset="0"/>
            </a:endParaRPr>
          </a:p>
          <a:p>
            <a:pPr marL="0" indent="0" algn="just">
              <a:buNone/>
            </a:pPr>
            <a:r>
              <a:rPr lang="en-US" sz="2400" dirty="0" smtClean="0">
                <a:latin typeface="Cambria" panose="02040503050406030204" pitchFamily="18" charset="0"/>
                <a:ea typeface="Cambria" panose="02040503050406030204" pitchFamily="18" charset="0"/>
              </a:rPr>
              <a:t>As </a:t>
            </a:r>
            <a:r>
              <a:rPr lang="en-US" sz="2400" dirty="0">
                <a:latin typeface="Cambria" panose="02040503050406030204" pitchFamily="18" charset="0"/>
                <a:ea typeface="Cambria" panose="02040503050406030204" pitchFamily="18" charset="0"/>
              </a:rPr>
              <a:t>such working standard instruments are </a:t>
            </a:r>
            <a:r>
              <a:rPr lang="en-US" sz="2400" dirty="0" smtClean="0">
                <a:latin typeface="Cambria" panose="02040503050406030204" pitchFamily="18" charset="0"/>
                <a:ea typeface="Cambria" panose="02040503050406030204" pitchFamily="18" charset="0"/>
              </a:rPr>
              <a:t>kept by </a:t>
            </a:r>
            <a:r>
              <a:rPr lang="en-US" sz="2400" dirty="0">
                <a:latin typeface="Cambria" panose="02040503050406030204" pitchFamily="18" charset="0"/>
                <a:ea typeface="Cambria" panose="02040503050406030204" pitchFamily="18" charset="0"/>
              </a:rPr>
              <a:t>the Instrumentation Department of a Company solely for calibration duties, and </a:t>
            </a:r>
            <a:r>
              <a:rPr lang="en-US" sz="2400" dirty="0" smtClean="0">
                <a:latin typeface="Cambria" panose="02040503050406030204" pitchFamily="18" charset="0"/>
                <a:ea typeface="Cambria" panose="02040503050406030204" pitchFamily="18" charset="0"/>
              </a:rPr>
              <a:t>for no </a:t>
            </a:r>
            <a:r>
              <a:rPr lang="en-US" sz="2400" dirty="0">
                <a:latin typeface="Cambria" panose="02040503050406030204" pitchFamily="18" charset="0"/>
                <a:ea typeface="Cambria" panose="02040503050406030204" pitchFamily="18" charset="0"/>
              </a:rPr>
              <a:t>other purpose, then it can be assumed that they will maintain their accuracy over </a:t>
            </a:r>
            <a:r>
              <a:rPr lang="en-US" sz="2400" dirty="0" smtClean="0">
                <a:latin typeface="Cambria" panose="02040503050406030204" pitchFamily="18" charset="0"/>
                <a:ea typeface="Cambria" panose="02040503050406030204" pitchFamily="18" charset="0"/>
              </a:rPr>
              <a:t>a reasonable </a:t>
            </a:r>
            <a:r>
              <a:rPr lang="en-US" sz="2400" dirty="0">
                <a:latin typeface="Cambria" panose="02040503050406030204" pitchFamily="18" charset="0"/>
                <a:ea typeface="Cambria" panose="02040503050406030204" pitchFamily="18" charset="0"/>
              </a:rPr>
              <a:t>period of time because use-related deterioration in accuracy is </a:t>
            </a:r>
            <a:r>
              <a:rPr lang="en-US" sz="2400" dirty="0" smtClean="0">
                <a:latin typeface="Cambria" panose="02040503050406030204" pitchFamily="18" charset="0"/>
                <a:ea typeface="Cambria" panose="02040503050406030204" pitchFamily="18" charset="0"/>
              </a:rPr>
              <a:t>largely eliminated.</a:t>
            </a:r>
          </a:p>
          <a:p>
            <a:pPr marL="0" indent="0" algn="just">
              <a:buNone/>
            </a:pPr>
            <a:r>
              <a:rPr lang="en-US" sz="2400" dirty="0" smtClean="0">
                <a:latin typeface="Cambria" panose="02040503050406030204" pitchFamily="18" charset="0"/>
                <a:ea typeface="Cambria" panose="02040503050406030204" pitchFamily="18" charset="0"/>
              </a:rPr>
              <a:t>over a </a:t>
            </a:r>
            <a:r>
              <a:rPr lang="en-US" sz="2400" dirty="0">
                <a:latin typeface="Cambria" panose="02040503050406030204" pitchFamily="18" charset="0"/>
                <a:ea typeface="Cambria" panose="02040503050406030204" pitchFamily="18" charset="0"/>
              </a:rPr>
              <a:t>longer term, a program must be instituted for calibrating </a:t>
            </a:r>
            <a:r>
              <a:rPr lang="en-US" sz="2400" dirty="0" smtClean="0">
                <a:latin typeface="Cambria" panose="02040503050406030204" pitchFamily="18" charset="0"/>
                <a:ea typeface="Cambria" panose="02040503050406030204" pitchFamily="18" charset="0"/>
              </a:rPr>
              <a:t>working standard </a:t>
            </a:r>
            <a:r>
              <a:rPr lang="en-US" sz="2400" dirty="0">
                <a:latin typeface="Cambria" panose="02040503050406030204" pitchFamily="18" charset="0"/>
                <a:ea typeface="Cambria" panose="02040503050406030204" pitchFamily="18" charset="0"/>
              </a:rPr>
              <a:t>instruments at appropriate intervals of time against instruments of yet </a:t>
            </a:r>
            <a:r>
              <a:rPr lang="en-US" sz="2400" dirty="0" smtClean="0">
                <a:latin typeface="Cambria" panose="02040503050406030204" pitchFamily="18" charset="0"/>
                <a:ea typeface="Cambria" panose="02040503050406030204" pitchFamily="18" charset="0"/>
              </a:rPr>
              <a:t>higher accuracy</a:t>
            </a:r>
            <a:r>
              <a:rPr lang="en-US" sz="2400" dirty="0">
                <a:latin typeface="Cambria" panose="02040503050406030204" pitchFamily="18" charset="0"/>
                <a:ea typeface="Cambria" panose="02040503050406030204" pitchFamily="18" charset="0"/>
              </a:rPr>
              <a:t>. The instrument used for calibrating working standard instruments is known </a:t>
            </a:r>
            <a:r>
              <a:rPr lang="en-US" sz="2400" dirty="0" smtClean="0">
                <a:latin typeface="Cambria" panose="02040503050406030204" pitchFamily="18" charset="0"/>
                <a:ea typeface="Cambria" panose="02040503050406030204" pitchFamily="18" charset="0"/>
              </a:rPr>
              <a:t>as a </a:t>
            </a:r>
            <a:r>
              <a:rPr lang="en-US" sz="2400" dirty="0">
                <a:latin typeface="Cambria" panose="02040503050406030204" pitchFamily="18" charset="0"/>
                <a:ea typeface="Cambria" panose="02040503050406030204" pitchFamily="18" charset="0"/>
              </a:rPr>
              <a:t>secondary reference standard. </a:t>
            </a:r>
            <a:endParaRPr lang="en-US" sz="2400" dirty="0" smtClean="0">
              <a:latin typeface="Cambria" panose="02040503050406030204" pitchFamily="18" charset="0"/>
              <a:ea typeface="Cambria" panose="02040503050406030204" pitchFamily="18" charset="0"/>
            </a:endParaRPr>
          </a:p>
          <a:p>
            <a:pPr marL="0" indent="0" algn="just">
              <a:buNone/>
            </a:pPr>
            <a:r>
              <a:rPr lang="en-US" sz="2400" dirty="0" smtClean="0">
                <a:latin typeface="Cambria" panose="02040503050406030204" pitchFamily="18" charset="0"/>
                <a:ea typeface="Cambria" panose="02040503050406030204" pitchFamily="18" charset="0"/>
              </a:rPr>
              <a:t>This </a:t>
            </a:r>
            <a:r>
              <a:rPr lang="en-US" sz="2400" dirty="0">
                <a:latin typeface="Cambria" panose="02040503050406030204" pitchFamily="18" charset="0"/>
                <a:ea typeface="Cambria" panose="02040503050406030204" pitchFamily="18" charset="0"/>
              </a:rPr>
              <a:t>must obviously be a very well </a:t>
            </a:r>
            <a:r>
              <a:rPr lang="en-US" sz="2400" dirty="0" smtClean="0">
                <a:latin typeface="Cambria" panose="02040503050406030204" pitchFamily="18" charset="0"/>
                <a:ea typeface="Cambria" panose="02040503050406030204" pitchFamily="18" charset="0"/>
              </a:rPr>
              <a:t>engineered instrument </a:t>
            </a:r>
            <a:r>
              <a:rPr lang="en-US" sz="2400" dirty="0">
                <a:latin typeface="Cambria" panose="02040503050406030204" pitchFamily="18" charset="0"/>
                <a:ea typeface="Cambria" panose="02040503050406030204" pitchFamily="18" charset="0"/>
              </a:rPr>
              <a:t>that gives high accuracy and is stabilized against drift in its </a:t>
            </a:r>
            <a:r>
              <a:rPr lang="en-US" sz="2400" dirty="0" smtClean="0">
                <a:latin typeface="Cambria" panose="02040503050406030204" pitchFamily="18" charset="0"/>
                <a:ea typeface="Cambria" panose="02040503050406030204" pitchFamily="18" charset="0"/>
              </a:rPr>
              <a:t>performance with </a:t>
            </a:r>
            <a:r>
              <a:rPr lang="en-US" sz="2400" dirty="0">
                <a:latin typeface="Cambria" panose="02040503050406030204" pitchFamily="18" charset="0"/>
                <a:ea typeface="Cambria" panose="02040503050406030204" pitchFamily="18" charset="0"/>
              </a:rPr>
              <a:t>time.</a:t>
            </a: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411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Calibration chain and traceability</a:t>
            </a:r>
            <a:r>
              <a:rPr lang="en-US" sz="3200" dirty="0">
                <a:latin typeface="Cambria" panose="02040503050406030204" pitchFamily="18" charset="0"/>
                <a:ea typeface="Cambria" panose="02040503050406030204" pitchFamily="18" charset="0"/>
              </a:rPr>
              <a:t> </a:t>
            </a:r>
            <a:br>
              <a:rPr lang="en-US" sz="3200"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stretch>
            <a:fillRect/>
          </a:stretch>
        </p:blipFill>
        <p:spPr>
          <a:xfrm>
            <a:off x="2709647" y="1529597"/>
            <a:ext cx="7155200" cy="4680000"/>
          </a:xfrm>
          <a:prstGeom prst="rect">
            <a:avLst/>
          </a:prstGeom>
        </p:spPr>
      </p:pic>
    </p:spTree>
    <p:extLst>
      <p:ext uri="{BB962C8B-B14F-4D97-AF65-F5344CB8AC3E}">
        <p14:creationId xmlns:p14="http://schemas.microsoft.com/office/powerpoint/2010/main" val="91486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3430"/>
          </a:xfrm>
        </p:spPr>
        <p:txBody>
          <a:bodyPr>
            <a:normAutofit fontScale="90000"/>
          </a:bodyPr>
          <a:lstStyle/>
          <a:p>
            <a:pPr algn="ctr"/>
            <a:r>
              <a:rPr lang="en-US" sz="3200" b="1" dirty="0">
                <a:latin typeface="Cambria" panose="02040503050406030204" pitchFamily="18" charset="0"/>
                <a:ea typeface="Cambria" panose="02040503050406030204" pitchFamily="18" charset="0"/>
              </a:rPr>
              <a:t>Calibration Records</a:t>
            </a:r>
            <a:r>
              <a:rPr lang="en-US" sz="3200" dirty="0">
                <a:latin typeface="Cambria" panose="02040503050406030204" pitchFamily="18" charset="0"/>
                <a:ea typeface="Cambria" panose="02040503050406030204" pitchFamily="18" charset="0"/>
              </a:rPr>
              <a:t> </a:t>
            </a:r>
            <a:br>
              <a:rPr lang="en-US" sz="3200"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192256"/>
            <a:ext cx="10515600" cy="4984707"/>
          </a:xfrm>
        </p:spPr>
        <p:txBody>
          <a:bodyPr>
            <a:normAutofit/>
          </a:bodyPr>
          <a:lstStyle/>
          <a:p>
            <a:r>
              <a:rPr lang="en-US" sz="2400" dirty="0">
                <a:latin typeface="Cambria" panose="02040503050406030204" pitchFamily="18" charset="0"/>
                <a:ea typeface="Cambria" panose="02040503050406030204" pitchFamily="18" charset="0"/>
              </a:rPr>
              <a:t>An essential element in the maintenance of measurement systems and the operation </a:t>
            </a:r>
            <a:r>
              <a:rPr lang="en-US" sz="2400" dirty="0" smtClean="0">
                <a:latin typeface="Cambria" panose="02040503050406030204" pitchFamily="18" charset="0"/>
                <a:ea typeface="Cambria" panose="02040503050406030204" pitchFamily="18" charset="0"/>
              </a:rPr>
              <a:t>of calibration </a:t>
            </a:r>
            <a:r>
              <a:rPr lang="en-US" sz="2400" dirty="0">
                <a:latin typeface="Cambria" panose="02040503050406030204" pitchFamily="18" charset="0"/>
                <a:ea typeface="Cambria" panose="02040503050406030204" pitchFamily="18" charset="0"/>
              </a:rPr>
              <a:t>procedures is the provision of full documentation. </a:t>
            </a:r>
            <a:endParaRPr lang="en-US" sz="2400" dirty="0" smtClean="0">
              <a:latin typeface="Cambria" panose="02040503050406030204" pitchFamily="18" charset="0"/>
              <a:ea typeface="Cambria" panose="02040503050406030204" pitchFamily="18" charset="0"/>
            </a:endParaRPr>
          </a:p>
          <a:p>
            <a:r>
              <a:rPr lang="en-US" sz="2400" dirty="0" smtClean="0">
                <a:latin typeface="Cambria" panose="02040503050406030204" pitchFamily="18" charset="0"/>
                <a:ea typeface="Cambria" panose="02040503050406030204" pitchFamily="18" charset="0"/>
              </a:rPr>
              <a:t>This </a:t>
            </a:r>
            <a:r>
              <a:rPr lang="en-US" sz="2400" dirty="0">
                <a:latin typeface="Cambria" panose="02040503050406030204" pitchFamily="18" charset="0"/>
                <a:ea typeface="Cambria" panose="02040503050406030204" pitchFamily="18" charset="0"/>
              </a:rPr>
              <a:t>must give a </a:t>
            </a:r>
            <a:r>
              <a:rPr lang="en-US" sz="2400" dirty="0" smtClean="0">
                <a:latin typeface="Cambria" panose="02040503050406030204" pitchFamily="18" charset="0"/>
                <a:ea typeface="Cambria" panose="02040503050406030204" pitchFamily="18" charset="0"/>
              </a:rPr>
              <a:t>full description </a:t>
            </a:r>
            <a:r>
              <a:rPr lang="en-US" sz="2400" dirty="0">
                <a:latin typeface="Cambria" panose="02040503050406030204" pitchFamily="18" charset="0"/>
                <a:ea typeface="Cambria" panose="02040503050406030204" pitchFamily="18" charset="0"/>
              </a:rPr>
              <a:t>of the measurement </a:t>
            </a:r>
            <a:r>
              <a:rPr lang="en-US" sz="2400" dirty="0" smtClean="0">
                <a:latin typeface="Cambria" panose="02040503050406030204" pitchFamily="18" charset="0"/>
                <a:ea typeface="Cambria" panose="02040503050406030204" pitchFamily="18" charset="0"/>
              </a:rPr>
              <a:t>requirements throughout </a:t>
            </a:r>
            <a:r>
              <a:rPr lang="en-US" sz="2400" dirty="0">
                <a:latin typeface="Cambria" panose="02040503050406030204" pitchFamily="18" charset="0"/>
                <a:ea typeface="Cambria" panose="02040503050406030204" pitchFamily="18" charset="0"/>
              </a:rPr>
              <a:t>the workplace, the instruments used, and the calibration system and procedures operated. Individual calibration </a:t>
            </a:r>
            <a:r>
              <a:rPr lang="en-US" sz="2400" dirty="0" smtClean="0">
                <a:latin typeface="Cambria" panose="02040503050406030204" pitchFamily="18" charset="0"/>
                <a:ea typeface="Cambria" panose="02040503050406030204" pitchFamily="18" charset="0"/>
              </a:rPr>
              <a:t>records for </a:t>
            </a:r>
            <a:r>
              <a:rPr lang="en-US" sz="2400" dirty="0">
                <a:latin typeface="Cambria" panose="02040503050406030204" pitchFamily="18" charset="0"/>
                <a:ea typeface="Cambria" panose="02040503050406030204" pitchFamily="18" charset="0"/>
              </a:rPr>
              <a:t>each instrument must be included within this. </a:t>
            </a:r>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08364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3430"/>
          </a:xfrm>
        </p:spPr>
        <p:txBody>
          <a:bodyPr>
            <a:normAutofit fontScale="90000"/>
          </a:bodyPr>
          <a:lstStyle/>
          <a:p>
            <a:pPr algn="ctr"/>
            <a:r>
              <a:rPr lang="en-US" sz="3200" b="1" dirty="0">
                <a:latin typeface="Cambria" panose="02040503050406030204" pitchFamily="18" charset="0"/>
                <a:ea typeface="Cambria" panose="02040503050406030204" pitchFamily="18" charset="0"/>
              </a:rPr>
              <a:t>Calibration </a:t>
            </a:r>
            <a:r>
              <a:rPr lang="en-US" sz="3200" b="1" dirty="0" smtClean="0">
                <a:latin typeface="Cambria" panose="02040503050406030204" pitchFamily="18" charset="0"/>
                <a:ea typeface="Cambria" panose="02040503050406030204" pitchFamily="18" charset="0"/>
              </a:rPr>
              <a:t>Records…</a:t>
            </a:r>
            <a:r>
              <a:rPr lang="en-US" sz="3200" dirty="0" smtClean="0">
                <a:latin typeface="Cambria" panose="02040503050406030204" pitchFamily="18" charset="0"/>
                <a:ea typeface="Cambria" panose="02040503050406030204" pitchFamily="18" charset="0"/>
              </a:rPr>
              <a:t> </a:t>
            </a:r>
            <a:r>
              <a:rPr lang="en-US" sz="3200" dirty="0">
                <a:latin typeface="Cambria" panose="02040503050406030204" pitchFamily="18" charset="0"/>
                <a:ea typeface="Cambria" panose="02040503050406030204" pitchFamily="18" charset="0"/>
              </a:rPr>
              <a:t/>
            </a:r>
            <a:br>
              <a:rPr lang="en-US" sz="3200"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stretch>
            <a:fillRect/>
          </a:stretch>
        </p:blipFill>
        <p:spPr>
          <a:xfrm>
            <a:off x="2678181" y="1026000"/>
            <a:ext cx="6568982" cy="5832000"/>
          </a:xfrm>
          <a:prstGeom prst="rect">
            <a:avLst/>
          </a:prstGeom>
        </p:spPr>
      </p:pic>
    </p:spTree>
    <p:extLst>
      <p:ext uri="{BB962C8B-B14F-4D97-AF65-F5344CB8AC3E}">
        <p14:creationId xmlns:p14="http://schemas.microsoft.com/office/powerpoint/2010/main" val="346113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mbria" panose="02040503050406030204" pitchFamily="18" charset="0"/>
                <a:ea typeface="Cambria" panose="02040503050406030204" pitchFamily="18" charset="0"/>
              </a:rPr>
              <a:t>QUESTIONS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
          </p:nvPr>
        </p:nvSpPr>
        <p:spPr/>
        <p:txBody>
          <a:bodyPr>
            <a:normAutofit/>
          </a:bodyPr>
          <a:lstStyle/>
          <a:p>
            <a:pPr>
              <a:buNone/>
            </a:pPr>
            <a:r>
              <a:rPr lang="en-US" sz="6600" dirty="0">
                <a:latin typeface="Cambria" panose="02040503050406030204" pitchFamily="18" charset="0"/>
                <a:ea typeface="Cambria" panose="02040503050406030204" pitchFamily="18" charset="0"/>
              </a:rPr>
              <a:t>           </a:t>
            </a:r>
          </a:p>
          <a:p>
            <a:pPr>
              <a:buNone/>
            </a:pPr>
            <a:r>
              <a:rPr lang="en-US" sz="6600" dirty="0">
                <a:latin typeface="Cambria" panose="02040503050406030204" pitchFamily="18" charset="0"/>
                <a:ea typeface="Cambria" panose="02040503050406030204" pitchFamily="18" charset="0"/>
              </a:rPr>
              <a:t>   			</a:t>
            </a:r>
            <a:r>
              <a:rPr lang="en-US" sz="6600" dirty="0" smtClean="0">
                <a:latin typeface="Cambria" panose="02040503050406030204" pitchFamily="18" charset="0"/>
                <a:ea typeface="Cambria" panose="02040503050406030204" pitchFamily="18" charset="0"/>
              </a:rPr>
              <a:t>           </a:t>
            </a:r>
            <a:r>
              <a:rPr lang="en-US" sz="66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5678362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CALIBRATION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fontScale="85000" lnSpcReduction="10000"/>
          </a:bodyPr>
          <a:lstStyle/>
          <a:p>
            <a:r>
              <a:rPr lang="en-US" dirty="0" smtClean="0">
                <a:solidFill>
                  <a:srgbClr val="000000"/>
                </a:solidFill>
                <a:latin typeface="Cambria" panose="02040503050406030204" pitchFamily="18" charset="0"/>
                <a:ea typeface="Cambria" panose="02040503050406030204" pitchFamily="18" charset="0"/>
              </a:rPr>
              <a:t>Calibration consists of comparing the output of the instrument or sensor under test against the output of an instrument of known accuracy when the same input (the measured quantity) is applied to both instruments. </a:t>
            </a:r>
          </a:p>
          <a:p>
            <a:r>
              <a:rPr lang="en-US" dirty="0" smtClean="0">
                <a:solidFill>
                  <a:srgbClr val="000000"/>
                </a:solidFill>
                <a:latin typeface="Cambria" panose="02040503050406030204" pitchFamily="18" charset="0"/>
                <a:ea typeface="Cambria" panose="02040503050406030204" pitchFamily="18" charset="0"/>
              </a:rPr>
              <a:t>This procedure is carried out for a range of inputs covering the whole measurement range of the instrument or sensor.</a:t>
            </a:r>
            <a:br>
              <a:rPr lang="en-US" dirty="0" smtClean="0">
                <a:solidFill>
                  <a:srgbClr val="000000"/>
                </a:solidFill>
                <a:latin typeface="Cambria" panose="02040503050406030204" pitchFamily="18" charset="0"/>
                <a:ea typeface="Cambria" panose="02040503050406030204" pitchFamily="18" charset="0"/>
              </a:rPr>
            </a:br>
            <a:endParaRPr lang="en-US" dirty="0" smtClean="0">
              <a:solidFill>
                <a:srgbClr val="000000"/>
              </a:solidFill>
              <a:latin typeface="Cambria" panose="02040503050406030204" pitchFamily="18" charset="0"/>
              <a:ea typeface="Cambria" panose="02040503050406030204" pitchFamily="18" charset="0"/>
            </a:endParaRPr>
          </a:p>
          <a:p>
            <a:r>
              <a:rPr lang="en-US" dirty="0" smtClean="0">
                <a:solidFill>
                  <a:srgbClr val="000000"/>
                </a:solidFill>
                <a:latin typeface="Cambria" panose="02040503050406030204" pitchFamily="18" charset="0"/>
                <a:ea typeface="Cambria" panose="02040503050406030204" pitchFamily="18" charset="0"/>
              </a:rPr>
              <a:t>Calibration ensures that the measuring accuracy of all instruments and sensors used in a measurement system is known over the whole measurement range, provided that the calibrated instruments and sensors are used in environmental conditions that are the same as those under which they were calibrated. </a:t>
            </a:r>
          </a:p>
          <a:p>
            <a:r>
              <a:rPr lang="en-US" dirty="0" smtClean="0">
                <a:solidFill>
                  <a:srgbClr val="000000"/>
                </a:solidFill>
                <a:latin typeface="Cambria" panose="02040503050406030204" pitchFamily="18" charset="0"/>
                <a:ea typeface="Cambria" panose="02040503050406030204" pitchFamily="18" charset="0"/>
              </a:rPr>
              <a:t>For use of instruments and sensors under different environmental conditions, appropriate correction has to be made for the ensuing modifying inputs.</a:t>
            </a:r>
            <a:r>
              <a:rPr lang="en-US" dirty="0" smtClean="0">
                <a:latin typeface="Cambria" panose="02040503050406030204" pitchFamily="18" charset="0"/>
                <a:ea typeface="Cambria" panose="02040503050406030204" pitchFamily="18" charset="0"/>
              </a:rPr>
              <a:t> </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2438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PRINCIPLES OF CALIBRATION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a:bodyPr>
          <a:lstStyle/>
          <a:p>
            <a:pPr marL="457200" indent="-457200" algn="just">
              <a:buFont typeface="+mj-lt"/>
              <a:buAutoNum type="arabicPeriod"/>
            </a:pPr>
            <a:r>
              <a:rPr lang="en-US" sz="2400" dirty="0" smtClean="0">
                <a:latin typeface="Cambria" panose="02040503050406030204" pitchFamily="18" charset="0"/>
                <a:ea typeface="Cambria" panose="02040503050406030204" pitchFamily="18" charset="0"/>
              </a:rPr>
              <a:t>Instruments </a:t>
            </a:r>
            <a:r>
              <a:rPr lang="en-US" sz="2400" dirty="0">
                <a:latin typeface="Cambria" panose="02040503050406030204" pitchFamily="18" charset="0"/>
                <a:ea typeface="Cambria" panose="02040503050406030204" pitchFamily="18" charset="0"/>
              </a:rPr>
              <a:t>used as a standard in calibration procedures are usually chosen to be </a:t>
            </a:r>
            <a:r>
              <a:rPr lang="en-US" sz="2400" dirty="0" smtClean="0">
                <a:latin typeface="Cambria" panose="02040503050406030204" pitchFamily="18" charset="0"/>
                <a:ea typeface="Cambria" panose="02040503050406030204" pitchFamily="18" charset="0"/>
              </a:rPr>
              <a:t>of greater </a:t>
            </a:r>
            <a:r>
              <a:rPr lang="en-US" sz="2400" dirty="0">
                <a:latin typeface="Cambria" panose="02040503050406030204" pitchFamily="18" charset="0"/>
                <a:ea typeface="Cambria" panose="02040503050406030204" pitchFamily="18" charset="0"/>
              </a:rPr>
              <a:t>inherent accuracy than the process instruments that they are used to calibrate.</a:t>
            </a:r>
          </a:p>
          <a:p>
            <a:pPr algn="just"/>
            <a:r>
              <a:rPr lang="en-US" sz="2400" dirty="0" smtClean="0">
                <a:latin typeface="Cambria" panose="02040503050406030204" pitchFamily="18" charset="0"/>
                <a:ea typeface="Cambria" panose="02040503050406030204" pitchFamily="18" charset="0"/>
              </a:rPr>
              <a:t>Because </a:t>
            </a:r>
            <a:r>
              <a:rPr lang="en-US" sz="2400" dirty="0">
                <a:latin typeface="Cambria" panose="02040503050406030204" pitchFamily="18" charset="0"/>
                <a:ea typeface="Cambria" panose="02040503050406030204" pitchFamily="18" charset="0"/>
              </a:rPr>
              <a:t>such instruments are only used for calibration purposes, greater </a:t>
            </a:r>
            <a:r>
              <a:rPr lang="en-US" sz="2400" dirty="0" smtClean="0">
                <a:latin typeface="Cambria" panose="02040503050406030204" pitchFamily="18" charset="0"/>
                <a:ea typeface="Cambria" panose="02040503050406030204" pitchFamily="18" charset="0"/>
              </a:rPr>
              <a:t>accuracy can </a:t>
            </a:r>
            <a:r>
              <a:rPr lang="en-US" sz="2400" dirty="0">
                <a:latin typeface="Cambria" panose="02040503050406030204" pitchFamily="18" charset="0"/>
                <a:ea typeface="Cambria" panose="02040503050406030204" pitchFamily="18" charset="0"/>
              </a:rPr>
              <a:t>often be achieved by specifying a type of instrument that would be </a:t>
            </a:r>
            <a:r>
              <a:rPr lang="en-US" sz="2400" dirty="0" smtClean="0">
                <a:latin typeface="Cambria" panose="02040503050406030204" pitchFamily="18" charset="0"/>
                <a:ea typeface="Cambria" panose="02040503050406030204" pitchFamily="18" charset="0"/>
              </a:rPr>
              <a:t>unsuitable for </a:t>
            </a:r>
            <a:r>
              <a:rPr lang="en-US" sz="2400" dirty="0">
                <a:latin typeface="Cambria" panose="02040503050406030204" pitchFamily="18" charset="0"/>
                <a:ea typeface="Cambria" panose="02040503050406030204" pitchFamily="18" charset="0"/>
              </a:rPr>
              <a:t>normal </a:t>
            </a:r>
            <a:r>
              <a:rPr lang="en-US" sz="2400" dirty="0" smtClean="0">
                <a:latin typeface="Cambria" panose="02040503050406030204" pitchFamily="18" charset="0"/>
                <a:ea typeface="Cambria" panose="02040503050406030204" pitchFamily="18" charset="0"/>
              </a:rPr>
              <a:t>process measurements.</a:t>
            </a:r>
          </a:p>
          <a:p>
            <a:pPr marL="457200" indent="-457200" algn="just">
              <a:buFont typeface="+mj-lt"/>
              <a:buAutoNum type="arabicPeriod" startAt="2"/>
            </a:pPr>
            <a:r>
              <a:rPr lang="en-US" sz="2400" dirty="0" smtClean="0">
                <a:latin typeface="Cambria" panose="02040503050406030204" pitchFamily="18" charset="0"/>
                <a:ea typeface="Cambria" panose="02040503050406030204" pitchFamily="18" charset="0"/>
              </a:rPr>
              <a:t>Instrument </a:t>
            </a:r>
            <a:r>
              <a:rPr lang="en-US" sz="2400" dirty="0">
                <a:latin typeface="Cambria" panose="02040503050406030204" pitchFamily="18" charset="0"/>
                <a:ea typeface="Cambria" panose="02040503050406030204" pitchFamily="18" charset="0"/>
              </a:rPr>
              <a:t>calibration has to be repeated at prescribed intervals because the characteristics of any instrument change over a period.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Changes </a:t>
            </a:r>
            <a:r>
              <a:rPr lang="en-US" sz="2400" dirty="0">
                <a:latin typeface="Cambria" panose="02040503050406030204" pitchFamily="18" charset="0"/>
                <a:ea typeface="Cambria" panose="02040503050406030204" pitchFamily="18" charset="0"/>
              </a:rPr>
              <a:t>in instrument </a:t>
            </a:r>
            <a:r>
              <a:rPr lang="en-US" sz="2400" dirty="0" smtClean="0">
                <a:latin typeface="Cambria" panose="02040503050406030204" pitchFamily="18" charset="0"/>
                <a:ea typeface="Cambria" panose="02040503050406030204" pitchFamily="18" charset="0"/>
              </a:rPr>
              <a:t>characteristics are </a:t>
            </a:r>
            <a:r>
              <a:rPr lang="en-US" sz="2400" dirty="0">
                <a:latin typeface="Cambria" panose="02040503050406030204" pitchFamily="18" charset="0"/>
                <a:ea typeface="Cambria" panose="02040503050406030204" pitchFamily="18" charset="0"/>
              </a:rPr>
              <a:t>brought about by such factors as mechanical wear, and the effects of dirt, </a:t>
            </a:r>
            <a:r>
              <a:rPr lang="en-US" sz="2400" dirty="0" smtClean="0">
                <a:latin typeface="Cambria" panose="02040503050406030204" pitchFamily="18" charset="0"/>
                <a:ea typeface="Cambria" panose="02040503050406030204" pitchFamily="18" charset="0"/>
              </a:rPr>
              <a:t>dust, fumes</a:t>
            </a:r>
            <a:r>
              <a:rPr lang="en-US" sz="2400" dirty="0">
                <a:latin typeface="Cambria" panose="02040503050406030204" pitchFamily="18" charset="0"/>
                <a:ea typeface="Cambria" panose="02040503050406030204" pitchFamily="18" charset="0"/>
              </a:rPr>
              <a:t>, chemicals and temperature changes in the operating </a:t>
            </a:r>
            <a:r>
              <a:rPr lang="en-US" sz="2400" dirty="0" smtClean="0">
                <a:latin typeface="Cambria" panose="02040503050406030204" pitchFamily="18" charset="0"/>
                <a:ea typeface="Cambria" panose="02040503050406030204" pitchFamily="18" charset="0"/>
              </a:rPr>
              <a:t>environment.</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21671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PRINCIPLES OF CALIBRATION…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a:bodyPr>
          <a:lstStyle/>
          <a:p>
            <a:pPr marL="457200" indent="-457200" algn="just">
              <a:buFont typeface="+mj-lt"/>
              <a:buAutoNum type="arabicPeriod" startAt="3"/>
            </a:pPr>
            <a:r>
              <a:rPr lang="en-US" sz="2400" dirty="0">
                <a:latin typeface="Cambria" panose="02040503050406030204" pitchFamily="18" charset="0"/>
                <a:ea typeface="Cambria" panose="02040503050406030204" pitchFamily="18" charset="0"/>
              </a:rPr>
              <a:t>Determination of the frequency at which instruments should be calibrated is dependent upon several factors that require specialist knowledge.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If </a:t>
            </a:r>
            <a:r>
              <a:rPr lang="en-US" sz="2400" dirty="0">
                <a:latin typeface="Cambria" panose="02040503050406030204" pitchFamily="18" charset="0"/>
                <a:ea typeface="Cambria" panose="02040503050406030204" pitchFamily="18" charset="0"/>
              </a:rPr>
              <a:t>an instrument is </a:t>
            </a:r>
            <a:r>
              <a:rPr lang="en-US" sz="2400" dirty="0" smtClean="0">
                <a:latin typeface="Cambria" panose="02040503050406030204" pitchFamily="18" charset="0"/>
                <a:ea typeface="Cambria" panose="02040503050406030204" pitchFamily="18" charset="0"/>
              </a:rPr>
              <a:t>required to </a:t>
            </a:r>
            <a:r>
              <a:rPr lang="en-US" sz="2400" dirty="0">
                <a:latin typeface="Cambria" panose="02040503050406030204" pitchFamily="18" charset="0"/>
                <a:ea typeface="Cambria" panose="02040503050406030204" pitchFamily="18" charset="0"/>
              </a:rPr>
              <a:t>measure some quantity and an inaccuracy of </a:t>
            </a:r>
            <a:r>
              <a:rPr lang="en-US" sz="2400" dirty="0" smtClean="0">
                <a:latin typeface="Cambria" panose="02040503050406030204" pitchFamily="18" charset="0"/>
                <a:ea typeface="Cambria" panose="02040503050406030204" pitchFamily="18" charset="0"/>
              </a:rPr>
              <a:t>±2</a:t>
            </a:r>
            <a:r>
              <a:rPr lang="en-US" sz="2400" dirty="0">
                <a:latin typeface="Cambria" panose="02040503050406030204" pitchFamily="18" charset="0"/>
                <a:ea typeface="Cambria" panose="02040503050406030204" pitchFamily="18" charset="0"/>
              </a:rPr>
              <a:t>% is acceptable, then a </a:t>
            </a:r>
            <a:r>
              <a:rPr lang="en-US" sz="2400" dirty="0" smtClean="0">
                <a:latin typeface="Cambria" panose="02040503050406030204" pitchFamily="18" charset="0"/>
                <a:ea typeface="Cambria" panose="02040503050406030204" pitchFamily="18" charset="0"/>
              </a:rPr>
              <a:t>certain amount </a:t>
            </a:r>
            <a:r>
              <a:rPr lang="en-US" sz="2400" dirty="0">
                <a:latin typeface="Cambria" panose="02040503050406030204" pitchFamily="18" charset="0"/>
                <a:ea typeface="Cambria" panose="02040503050406030204" pitchFamily="18" charset="0"/>
              </a:rPr>
              <a:t>of performance degradation can be allowed if its inaccuracy immediately </a:t>
            </a:r>
            <a:r>
              <a:rPr lang="en-US" sz="2400" dirty="0" smtClean="0">
                <a:latin typeface="Cambria" panose="02040503050406030204" pitchFamily="18" charset="0"/>
                <a:ea typeface="Cambria" panose="02040503050406030204" pitchFamily="18" charset="0"/>
              </a:rPr>
              <a:t>after recalibration </a:t>
            </a:r>
            <a:r>
              <a:rPr lang="en-US" sz="2400" dirty="0">
                <a:latin typeface="Cambria" panose="02040503050406030204" pitchFamily="18" charset="0"/>
                <a:ea typeface="Cambria" panose="02040503050406030204" pitchFamily="18" charset="0"/>
              </a:rPr>
              <a:t>is ± </a:t>
            </a:r>
            <a:r>
              <a:rPr lang="en-US" sz="2400" dirty="0" smtClean="0">
                <a:latin typeface="Cambria" panose="02040503050406030204" pitchFamily="18" charset="0"/>
                <a:ea typeface="Cambria" panose="02040503050406030204" pitchFamily="18" charset="0"/>
              </a:rPr>
              <a:t>1</a:t>
            </a:r>
            <a:r>
              <a:rPr lang="en-US" sz="2400" dirty="0">
                <a:latin typeface="Cambria" panose="02040503050406030204" pitchFamily="18" charset="0"/>
                <a:ea typeface="Cambria" panose="02040503050406030204" pitchFamily="18" charset="0"/>
              </a:rPr>
              <a:t>%.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What </a:t>
            </a:r>
            <a:r>
              <a:rPr lang="en-US" sz="2400" dirty="0">
                <a:latin typeface="Cambria" panose="02040503050406030204" pitchFamily="18" charset="0"/>
                <a:ea typeface="Cambria" panose="02040503050406030204" pitchFamily="18" charset="0"/>
              </a:rPr>
              <a:t>is important is that the pattern of performance degradation be quantified, such that the instrument can be recalibrated before its accuracy </a:t>
            </a:r>
            <a:r>
              <a:rPr lang="en-US" sz="2400" dirty="0" smtClean="0">
                <a:latin typeface="Cambria" panose="02040503050406030204" pitchFamily="18" charset="0"/>
                <a:ea typeface="Cambria" panose="02040503050406030204" pitchFamily="18" charset="0"/>
              </a:rPr>
              <a:t>has reduced </a:t>
            </a:r>
            <a:r>
              <a:rPr lang="en-US" sz="2400" dirty="0">
                <a:latin typeface="Cambria" panose="02040503050406030204" pitchFamily="18" charset="0"/>
                <a:ea typeface="Cambria" panose="02040503050406030204" pitchFamily="18" charset="0"/>
              </a:rPr>
              <a:t>to the limit defined by the </a:t>
            </a:r>
            <a:r>
              <a:rPr lang="en-US" sz="2400" dirty="0" smtClean="0">
                <a:latin typeface="Cambria" panose="02040503050406030204" pitchFamily="18" charset="0"/>
                <a:ea typeface="Cambria" panose="02040503050406030204" pitchFamily="18" charset="0"/>
              </a:rPr>
              <a:t>application.</a:t>
            </a:r>
          </a:p>
        </p:txBody>
      </p:sp>
    </p:spTree>
    <p:extLst>
      <p:ext uri="{BB962C8B-B14F-4D97-AF65-F5344CB8AC3E}">
        <p14:creationId xmlns:p14="http://schemas.microsoft.com/office/powerpoint/2010/main" val="1307998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PRINCIPLES OF CALIBRATION…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a:bodyPr>
          <a:lstStyle/>
          <a:p>
            <a:pPr marL="457200" indent="-457200" algn="just">
              <a:buFont typeface="+mj-lt"/>
              <a:buAutoNum type="arabicPeriod" startAt="4"/>
            </a:pPr>
            <a:r>
              <a:rPr lang="en-US" sz="2400" dirty="0">
                <a:latin typeface="Cambria" panose="02040503050406030204" pitchFamily="18" charset="0"/>
                <a:ea typeface="Cambria" panose="02040503050406030204" pitchFamily="18" charset="0"/>
              </a:rPr>
              <a:t>Susceptibility to the various factors that can cause changes in instrument characteristics varies according to the type of instrument involved.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Possession </a:t>
            </a:r>
            <a:r>
              <a:rPr lang="en-US" sz="2400" dirty="0">
                <a:latin typeface="Cambria" panose="02040503050406030204" pitchFamily="18" charset="0"/>
                <a:ea typeface="Cambria" panose="02040503050406030204" pitchFamily="18" charset="0"/>
              </a:rPr>
              <a:t>of an </a:t>
            </a:r>
            <a:r>
              <a:rPr lang="en-US" sz="2400" dirty="0" smtClean="0">
                <a:latin typeface="Cambria" panose="02040503050406030204" pitchFamily="18" charset="0"/>
                <a:ea typeface="Cambria" panose="02040503050406030204" pitchFamily="18" charset="0"/>
              </a:rPr>
              <a:t>in-depth knowledge </a:t>
            </a:r>
            <a:r>
              <a:rPr lang="en-US" sz="2400" dirty="0">
                <a:latin typeface="Cambria" panose="02040503050406030204" pitchFamily="18" charset="0"/>
                <a:ea typeface="Cambria" panose="02040503050406030204" pitchFamily="18" charset="0"/>
              </a:rPr>
              <a:t>of the mechanical construction and other features involved in the instrument is necessary in order to be able to quantify the effect of these quantities </a:t>
            </a:r>
            <a:r>
              <a:rPr lang="en-US" sz="2400" dirty="0" smtClean="0">
                <a:latin typeface="Cambria" panose="02040503050406030204" pitchFamily="18" charset="0"/>
                <a:ea typeface="Cambria" panose="02040503050406030204" pitchFamily="18" charset="0"/>
              </a:rPr>
              <a:t>on the </a:t>
            </a:r>
            <a:r>
              <a:rPr lang="en-US" sz="2400" dirty="0">
                <a:latin typeface="Cambria" panose="02040503050406030204" pitchFamily="18" charset="0"/>
                <a:ea typeface="Cambria" panose="02040503050406030204" pitchFamily="18" charset="0"/>
              </a:rPr>
              <a:t>accuracy and other characteristics of an instrument</a:t>
            </a:r>
            <a:r>
              <a:rPr lang="en-US" sz="2400" dirty="0" smtClean="0">
                <a:latin typeface="Cambria" panose="02040503050406030204" pitchFamily="18" charset="0"/>
                <a:ea typeface="Cambria" panose="02040503050406030204" pitchFamily="18" charset="0"/>
              </a:rPr>
              <a:t>.</a:t>
            </a:r>
          </a:p>
          <a:p>
            <a:pPr marL="457200" indent="-457200" algn="just">
              <a:buFont typeface="+mj-lt"/>
              <a:buAutoNum type="arabicPeriod" startAt="5"/>
            </a:pPr>
            <a:r>
              <a:rPr lang="en-US" sz="2400" dirty="0">
                <a:latin typeface="Cambria" panose="02040503050406030204" pitchFamily="18" charset="0"/>
                <a:ea typeface="Cambria" panose="02040503050406030204" pitchFamily="18" charset="0"/>
              </a:rPr>
              <a:t>A proper course of action must be defined that describes the procedures to </a:t>
            </a:r>
            <a:r>
              <a:rPr lang="en-US" sz="2400" dirty="0" smtClean="0">
                <a:latin typeface="Cambria" panose="02040503050406030204" pitchFamily="18" charset="0"/>
                <a:ea typeface="Cambria" panose="02040503050406030204" pitchFamily="18" charset="0"/>
              </a:rPr>
              <a:t>be followed </a:t>
            </a:r>
            <a:r>
              <a:rPr lang="en-US" sz="2400" dirty="0">
                <a:latin typeface="Cambria" panose="02040503050406030204" pitchFamily="18" charset="0"/>
                <a:ea typeface="Cambria" panose="02040503050406030204" pitchFamily="18" charset="0"/>
              </a:rPr>
              <a:t>when an instrument is found to be out of calibration, i.e. when its </a:t>
            </a:r>
            <a:r>
              <a:rPr lang="en-US" sz="2400" dirty="0" smtClean="0">
                <a:latin typeface="Cambria" panose="02040503050406030204" pitchFamily="18" charset="0"/>
                <a:ea typeface="Cambria" panose="02040503050406030204" pitchFamily="18" charset="0"/>
              </a:rPr>
              <a:t>output is </a:t>
            </a:r>
            <a:r>
              <a:rPr lang="en-US" sz="2400" dirty="0">
                <a:latin typeface="Cambria" panose="02040503050406030204" pitchFamily="18" charset="0"/>
                <a:ea typeface="Cambria" panose="02040503050406030204" pitchFamily="18" charset="0"/>
              </a:rPr>
              <a:t>different to that of the calibration instrument when the same input is applied</a:t>
            </a:r>
            <a:r>
              <a:rPr lang="en-US" sz="2400" dirty="0" smtClean="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4061532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Cambria" panose="02040503050406030204" pitchFamily="18" charset="0"/>
                <a:ea typeface="Cambria" panose="02040503050406030204" pitchFamily="18" charset="0"/>
              </a:rPr>
              <a:t>PRINCIPLES OF CALIBRATION…</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a:bodyPr>
          <a:lstStyle/>
          <a:p>
            <a:pPr marL="457200" indent="-457200" algn="just">
              <a:buFont typeface="+mj-lt"/>
              <a:buAutoNum type="arabicPeriod" startAt="5"/>
            </a:pPr>
            <a:r>
              <a:rPr lang="en-US" sz="2400" dirty="0">
                <a:latin typeface="Cambria" panose="02040503050406030204" pitchFamily="18" charset="0"/>
                <a:ea typeface="Cambria" panose="02040503050406030204" pitchFamily="18" charset="0"/>
              </a:rPr>
              <a:t>Whatever system and frequency of calibration is established, it is important to </a:t>
            </a:r>
            <a:r>
              <a:rPr lang="en-US" sz="2400" dirty="0" smtClean="0">
                <a:latin typeface="Cambria" panose="02040503050406030204" pitchFamily="18" charset="0"/>
                <a:ea typeface="Cambria" panose="02040503050406030204" pitchFamily="18" charset="0"/>
              </a:rPr>
              <a:t>review this </a:t>
            </a:r>
            <a:r>
              <a:rPr lang="en-US" sz="2400" dirty="0">
                <a:latin typeface="Cambria" panose="02040503050406030204" pitchFamily="18" charset="0"/>
                <a:ea typeface="Cambria" panose="02040503050406030204" pitchFamily="18" charset="0"/>
              </a:rPr>
              <a:t>from time to time to ensure that the system remains effective and efficient.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It may happen </a:t>
            </a:r>
            <a:r>
              <a:rPr lang="en-US" sz="2400" dirty="0">
                <a:latin typeface="Cambria" panose="02040503050406030204" pitchFamily="18" charset="0"/>
                <a:ea typeface="Cambria" panose="02040503050406030204" pitchFamily="18" charset="0"/>
              </a:rPr>
              <a:t>that a cheaper (but equally effective) method of calibration becomes </a:t>
            </a:r>
            <a:r>
              <a:rPr lang="en-US" sz="2400" dirty="0" smtClean="0">
                <a:latin typeface="Cambria" panose="02040503050406030204" pitchFamily="18" charset="0"/>
                <a:ea typeface="Cambria" panose="02040503050406030204" pitchFamily="18" charset="0"/>
              </a:rPr>
              <a:t>available with </a:t>
            </a:r>
            <a:r>
              <a:rPr lang="en-US" sz="2400" dirty="0">
                <a:latin typeface="Cambria" panose="02040503050406030204" pitchFamily="18" charset="0"/>
                <a:ea typeface="Cambria" panose="02040503050406030204" pitchFamily="18" charset="0"/>
              </a:rPr>
              <a:t>the passage of time, and such an alternative system must clearly be adopted </a:t>
            </a:r>
            <a:r>
              <a:rPr lang="en-US" sz="2400" dirty="0" smtClean="0">
                <a:latin typeface="Cambria" panose="02040503050406030204" pitchFamily="18" charset="0"/>
                <a:ea typeface="Cambria" panose="02040503050406030204" pitchFamily="18" charset="0"/>
              </a:rPr>
              <a:t>in the </a:t>
            </a:r>
            <a:r>
              <a:rPr lang="en-US" sz="2400" dirty="0">
                <a:latin typeface="Cambria" panose="02040503050406030204" pitchFamily="18" charset="0"/>
                <a:ea typeface="Cambria" panose="02040503050406030204" pitchFamily="18" charset="0"/>
              </a:rPr>
              <a:t>interests of cost </a:t>
            </a:r>
            <a:r>
              <a:rPr lang="en-US" sz="2400" dirty="0" smtClean="0">
                <a:latin typeface="Cambria" panose="02040503050406030204" pitchFamily="18" charset="0"/>
                <a:ea typeface="Cambria" panose="02040503050406030204" pitchFamily="18" charset="0"/>
              </a:rPr>
              <a:t>efficiency.</a:t>
            </a:r>
          </a:p>
          <a:p>
            <a:pPr algn="just"/>
            <a:r>
              <a:rPr lang="en-US" sz="2400" dirty="0">
                <a:latin typeface="Cambria" panose="02040503050406030204" pitchFamily="18" charset="0"/>
                <a:ea typeface="Cambria" panose="02040503050406030204" pitchFamily="18" charset="0"/>
              </a:rPr>
              <a:t>As the environmental and usage conditions of an instrument </a:t>
            </a:r>
            <a:r>
              <a:rPr lang="en-US" sz="2400" dirty="0" smtClean="0">
                <a:latin typeface="Cambria" panose="02040503050406030204" pitchFamily="18" charset="0"/>
                <a:ea typeface="Cambria" panose="02040503050406030204" pitchFamily="18" charset="0"/>
              </a:rPr>
              <a:t>may change </a:t>
            </a:r>
            <a:r>
              <a:rPr lang="en-US" sz="2400" dirty="0">
                <a:latin typeface="Cambria" panose="02040503050406030204" pitchFamily="18" charset="0"/>
                <a:ea typeface="Cambria" panose="02040503050406030204" pitchFamily="18" charset="0"/>
              </a:rPr>
              <a:t>beneficially as well as adversely, there is the possibility that the </a:t>
            </a:r>
            <a:r>
              <a:rPr lang="en-US" sz="2400" dirty="0" smtClean="0">
                <a:latin typeface="Cambria" panose="02040503050406030204" pitchFamily="18" charset="0"/>
                <a:ea typeface="Cambria" panose="02040503050406030204" pitchFamily="18" charset="0"/>
              </a:rPr>
              <a:t>recommended calibration </a:t>
            </a:r>
            <a:r>
              <a:rPr lang="en-US" sz="2400" dirty="0">
                <a:latin typeface="Cambria" panose="02040503050406030204" pitchFamily="18" charset="0"/>
                <a:ea typeface="Cambria" panose="02040503050406030204" pitchFamily="18" charset="0"/>
              </a:rPr>
              <a:t>interval may decrease as well as </a:t>
            </a:r>
            <a:r>
              <a:rPr lang="en-US" sz="2400" dirty="0" smtClean="0">
                <a:latin typeface="Cambria" panose="02040503050406030204" pitchFamily="18" charset="0"/>
                <a:ea typeface="Cambria" panose="02040503050406030204" pitchFamily="18" charset="0"/>
              </a:rPr>
              <a:t>increase.</a:t>
            </a:r>
          </a:p>
        </p:txBody>
      </p:sp>
    </p:spTree>
    <p:extLst>
      <p:ext uri="{BB962C8B-B14F-4D97-AF65-F5344CB8AC3E}">
        <p14:creationId xmlns:p14="http://schemas.microsoft.com/office/powerpoint/2010/main" val="178293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Cambria" panose="02040503050406030204" pitchFamily="18" charset="0"/>
                <a:ea typeface="Cambria" panose="02040503050406030204" pitchFamily="18" charset="0"/>
              </a:rPr>
              <a:t>Control of calibration environment </a:t>
            </a:r>
            <a:r>
              <a:rPr lang="en-US" sz="3200" b="1" dirty="0" smtClean="0">
                <a:latin typeface="Cambria" panose="02040503050406030204" pitchFamily="18" charset="0"/>
                <a:ea typeface="Cambria" panose="02040503050406030204" pitchFamily="18" charset="0"/>
              </a:rPr>
              <a:t>…</a:t>
            </a:r>
            <a:r>
              <a:rPr lang="en-US" sz="3200" b="1" dirty="0">
                <a:latin typeface="Cambria" panose="02040503050406030204" pitchFamily="18" charset="0"/>
                <a:ea typeface="Cambria" panose="02040503050406030204" pitchFamily="18" charset="0"/>
              </a:rPr>
              <a:t/>
            </a:r>
            <a:br>
              <a:rPr lang="en-US" sz="3200" b="1"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60009"/>
            <a:ext cx="10515600" cy="4716954"/>
          </a:xfrm>
        </p:spPr>
        <p:txBody>
          <a:bodyPr>
            <a:normAutofit/>
          </a:bodyPr>
          <a:lstStyle/>
          <a:p>
            <a:pPr algn="just"/>
            <a:r>
              <a:rPr lang="en-US" sz="2400" dirty="0">
                <a:latin typeface="Cambria" panose="02040503050406030204" pitchFamily="18" charset="0"/>
                <a:ea typeface="Cambria" panose="02040503050406030204" pitchFamily="18" charset="0"/>
              </a:rPr>
              <a:t>Calibration procedures that relate in any way to measurements that are used </a:t>
            </a:r>
            <a:r>
              <a:rPr lang="en-US" sz="2400" dirty="0" smtClean="0">
                <a:latin typeface="Cambria" panose="02040503050406030204" pitchFamily="18" charset="0"/>
                <a:ea typeface="Cambria" panose="02040503050406030204" pitchFamily="18" charset="0"/>
              </a:rPr>
              <a:t>for quality </a:t>
            </a:r>
            <a:r>
              <a:rPr lang="en-US" sz="2400" dirty="0">
                <a:latin typeface="Cambria" panose="02040503050406030204" pitchFamily="18" charset="0"/>
                <a:ea typeface="Cambria" panose="02040503050406030204" pitchFamily="18" charset="0"/>
              </a:rPr>
              <a:t>control functions are controlled by the international standard ISO </a:t>
            </a:r>
            <a:r>
              <a:rPr lang="en-US" sz="2400" dirty="0" smtClean="0">
                <a:latin typeface="Cambria" panose="02040503050406030204" pitchFamily="18" charset="0"/>
                <a:ea typeface="Cambria" panose="02040503050406030204" pitchFamily="18" charset="0"/>
              </a:rPr>
              <a:t>9000.</a:t>
            </a:r>
          </a:p>
          <a:p>
            <a:pPr algn="just"/>
            <a:r>
              <a:rPr lang="en-US" sz="2400" dirty="0">
                <a:latin typeface="Cambria" panose="02040503050406030204" pitchFamily="18" charset="0"/>
                <a:ea typeface="Cambria" panose="02040503050406030204" pitchFamily="18" charset="0"/>
              </a:rPr>
              <a:t>Calibration procedures that relate in any way to measurements that are used </a:t>
            </a:r>
            <a:r>
              <a:rPr lang="en-US" sz="2400" dirty="0" smtClean="0">
                <a:latin typeface="Cambria" panose="02040503050406030204" pitchFamily="18" charset="0"/>
                <a:ea typeface="Cambria" panose="02040503050406030204" pitchFamily="18" charset="0"/>
              </a:rPr>
              <a:t>for quality </a:t>
            </a:r>
            <a:r>
              <a:rPr lang="en-US" sz="2400" dirty="0">
                <a:latin typeface="Cambria" panose="02040503050406030204" pitchFamily="18" charset="0"/>
                <a:ea typeface="Cambria" panose="02040503050406030204" pitchFamily="18" charset="0"/>
              </a:rPr>
              <a:t>control functions are controlled by the international standard ISO 9000 (</a:t>
            </a:r>
            <a:r>
              <a:rPr lang="en-US" sz="2400" dirty="0" smtClean="0">
                <a:latin typeface="Cambria" panose="02040503050406030204" pitchFamily="18" charset="0"/>
                <a:ea typeface="Cambria" panose="02040503050406030204" pitchFamily="18" charset="0"/>
              </a:rPr>
              <a:t>this subsumes </a:t>
            </a:r>
            <a:r>
              <a:rPr lang="en-US" sz="2400" dirty="0">
                <a:latin typeface="Cambria" panose="02040503050406030204" pitchFamily="18" charset="0"/>
                <a:ea typeface="Cambria" panose="02040503050406030204" pitchFamily="18" charset="0"/>
              </a:rPr>
              <a:t>the old British quality standard BS 5750). One of the clauses in </a:t>
            </a:r>
            <a:r>
              <a:rPr lang="en-US" sz="2400" dirty="0" smtClean="0">
                <a:latin typeface="Cambria" panose="02040503050406030204" pitchFamily="18" charset="0"/>
                <a:ea typeface="Cambria" panose="02040503050406030204" pitchFamily="18" charset="0"/>
              </a:rPr>
              <a:t>ISO 9000 </a:t>
            </a:r>
            <a:r>
              <a:rPr lang="en-US" sz="2400" dirty="0">
                <a:latin typeface="Cambria" panose="02040503050406030204" pitchFamily="18" charset="0"/>
                <a:ea typeface="Cambria" panose="02040503050406030204" pitchFamily="18" charset="0"/>
              </a:rPr>
              <a:t>requires that all persons using calibration equipment be adequately trained</a:t>
            </a:r>
            <a:r>
              <a:rPr lang="en-US" sz="2400" dirty="0" smtClean="0">
                <a:latin typeface="Cambria" panose="02040503050406030204" pitchFamily="18" charset="0"/>
                <a:ea typeface="Cambria" panose="02040503050406030204" pitchFamily="18" charset="0"/>
              </a:rPr>
              <a:t>.</a:t>
            </a:r>
          </a:p>
          <a:p>
            <a:pPr algn="just"/>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24529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2356</TotalTime>
  <Words>1167</Words>
  <Application>Microsoft Office PowerPoint</Application>
  <PresentationFormat>Widescreen</PresentationFormat>
  <Paragraphs>71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Cambria</vt:lpstr>
      <vt:lpstr>Office Theme</vt:lpstr>
      <vt:lpstr>Calibration, Noise, Interference and Grounding</vt:lpstr>
      <vt:lpstr>Control of calibration environment  </vt:lpstr>
      <vt:lpstr>MEASUREMENT STANDARDS </vt:lpstr>
      <vt:lpstr>MEASUREMENT STANDARDS </vt:lpstr>
      <vt:lpstr>MEASUREMENT STANDARDS </vt:lpstr>
      <vt:lpstr>MEASUREMENT STANDARDS </vt:lpstr>
      <vt:lpstr>MEASUREMENT STANDARDS </vt:lpstr>
      <vt:lpstr>Calibration chain and traceability… </vt:lpstr>
      <vt:lpstr>Calibration chain and traceability  </vt:lpstr>
      <vt:lpstr>Calibration Records  </vt:lpstr>
      <vt:lpstr>Calibration Records…  </vt:lpstr>
      <vt:lpstr>QUESTIONS</vt:lpstr>
      <vt:lpstr>CALIBRATION</vt:lpstr>
      <vt:lpstr>PRINCIPLES OF CALIBRATION</vt:lpstr>
      <vt:lpstr>PRINCIPLES OF CALIBRATION…</vt:lpstr>
      <vt:lpstr>PRINCIPLES OF CALIBRATION…</vt:lpstr>
      <vt:lpstr>PRINCIPLES OF CALIBRATION…</vt:lpstr>
      <vt:lpstr>Control of calibration environment …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Measurement Errors</dc:title>
  <dc:creator>hp</dc:creator>
  <cp:lastModifiedBy>hp</cp:lastModifiedBy>
  <cp:revision>49</cp:revision>
  <dcterms:created xsi:type="dcterms:W3CDTF">2021-11-17T12:12:52Z</dcterms:created>
  <dcterms:modified xsi:type="dcterms:W3CDTF">2021-12-02T03:44:01Z</dcterms:modified>
</cp:coreProperties>
</file>