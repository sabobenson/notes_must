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6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278AC9-2822-4214-9469-62C4CB4573E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42F46-AB7C-4275-BD4D-9D1BC0886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2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29D33-3351-44C2-8879-7352DF19FA7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9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1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4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40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13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0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71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8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23E09-3C6C-4646-A76E-681978791A77}" type="datetimeFigureOut">
              <a:rPr lang="en-US" smtClean="0"/>
              <a:t>11/28/2021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803BF-C5BA-4BF9-A455-9DDAD46C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7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Cambria" panose="02040503050406030204" pitchFamily="18" charset="0"/>
                <a:ea typeface="Cambria" panose="02040503050406030204" pitchFamily="18" charset="0"/>
              </a:rPr>
              <a:t>Types of Measurement </a:t>
            </a:r>
            <a:r>
              <a:rPr lang="en-GB" sz="4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By </a:t>
            </a:r>
          </a:p>
          <a:p>
            <a:r>
              <a:rPr lang="en-US" b="1" dirty="0" smtClean="0"/>
              <a:t>Candida </a:t>
            </a:r>
            <a:r>
              <a:rPr lang="en-US" b="1" dirty="0" err="1" smtClean="0"/>
              <a:t>Nakida</a:t>
            </a:r>
            <a:r>
              <a:rPr lang="en-US" b="1" dirty="0" smtClean="0"/>
              <a:t> </a:t>
            </a:r>
            <a:r>
              <a:rPr lang="en-US" b="1" dirty="0" err="1" smtClean="0"/>
              <a:t>Mwisomba</a:t>
            </a: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006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352800" y="228600"/>
            <a:ext cx="6172200" cy="685800"/>
          </a:xfrm>
          <a:prstGeom prst="rect">
            <a:avLst/>
          </a:prstGeom>
        </p:spPr>
        <p:txBody>
          <a:bodyPr vert="horz" anchor="b">
            <a:normAutofit fontScale="90000" lnSpcReduction="10000"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ERROR </a:t>
            </a:r>
            <a:r>
              <a:rPr lang="en-US" sz="4400" dirty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endParaRPr lang="en-US" sz="5400" b="1" cap="small" dirty="0"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801" y="5753601"/>
            <a:ext cx="8451761" cy="38636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026" name="Picture 2" descr="Measurement error and types of errors in measur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919480"/>
            <a:ext cx="62484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95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SOURCES OF ERROR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1. Faulty design of instrument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2. Insufficient knowledge of quantity and design           conditions.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3. Improper maintenance of the instrument.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4. Sudden change in the parameter to be measured.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5. Unskilled operator.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6. Effects of environmental condition.</a:t>
            </a: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20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TYPES OF ERROR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Gross error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Systematic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Random error</a:t>
            </a:r>
          </a:p>
        </p:txBody>
      </p:sp>
    </p:spTree>
    <p:extLst>
      <p:ext uri="{BB962C8B-B14F-4D97-AF65-F5344CB8AC3E}">
        <p14:creationId xmlns:p14="http://schemas.microsoft.com/office/powerpoint/2010/main" val="103273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1. GROSS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ERROR: (PERSONAL ERROR)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Occurs due to the carelessness of human while reading, recording and calculating results.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incorrect adjustment of instrument.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u="sng" dirty="0" smtClean="0">
                <a:latin typeface="Cambria" panose="02040503050406030204" pitchFamily="18" charset="0"/>
                <a:ea typeface="Cambria" panose="02040503050406030204" pitchFamily="18" charset="0"/>
              </a:rPr>
              <a:t>To eliminate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Take care while reading, taking and calculating results.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Take 3 or more readings with 3 or more persons.</a:t>
            </a:r>
            <a:endParaRPr lang="en-US" sz="24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5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SYSTEMATIC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ERROR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 constant uniform deviation of operation in instrument is known as schematic error.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Due to short comings and characteristics of the material used in instrument like worn parts, ageing effects etc.;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u="sng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Types: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 Instrumental error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Environmental error</a:t>
            </a:r>
          </a:p>
          <a:p>
            <a:pPr marL="0" indent="0" algn="just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) Observational error</a:t>
            </a:r>
            <a:endParaRPr lang="en-US" sz="24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35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a) Instrumental error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(i) Shortcoming of instrument: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mechanical structure of the instrument. e.g. friction of bearings, irregular spring tension, variation in airgap etc.;</a:t>
            </a:r>
          </a:p>
          <a:p>
            <a:pPr marL="0" indent="0" algn="just">
              <a:buNone/>
            </a:pP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u="sng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eliminate error: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Select proper instrument and select proper procedure.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Identify effect of errors and correct it.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Calibrate the instrument.</a:t>
            </a:r>
            <a:endParaRPr lang="en-US" sz="24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7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(ii) Misuse of instrument: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e.g. poor initial adjustment, improper zero setting, using leads of high resistance.</a:t>
            </a:r>
          </a:p>
          <a:p>
            <a:pPr algn="just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(iii) Loading effect: e.g.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connecting a well calibrated voltmeter across the two points of high resistance circuit.</a:t>
            </a:r>
            <a:endParaRPr lang="en-US" sz="24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7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06" y="111142"/>
            <a:ext cx="10515600" cy="101878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364022"/>
            <a:ext cx="10515600" cy="481294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(b) Environmental error</a:t>
            </a:r>
          </a:p>
          <a:p>
            <a:pPr marL="0" indent="0" algn="just"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They are due to: 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Temperature changes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Pressure changes 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Thermal e.m.f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Stray capacitance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Cross capacitance</a:t>
            </a:r>
          </a:p>
          <a:p>
            <a:pPr algn="just"/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To eliminate error: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Proper correction factors given by manufacturer.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Make arrangement to keep surrounding constant like using A.C.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Sealing the component to avoid dust and humidity.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Proving magnetic and electrostatic shield.</a:t>
            </a:r>
          </a:p>
          <a:p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(c) Observational error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Errors made by observer. e.g. parallax error while reading meter, wrong scale selection.</a:t>
            </a:r>
          </a:p>
          <a:p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To eliminate error: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Use instruments with mirrors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Knife edge pointers.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950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3. RANDOM ERROR: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Causes of errors which are unknown are regarded as random error.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Due to accumulation of large number of small errors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They can not be corrected by any method</a:t>
            </a:r>
          </a:p>
          <a:p>
            <a:pPr algn="just"/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Use statistical methods to obtain best approximation of readings.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72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STATISTICAL ANALYSIS</a:t>
                </a:r>
              </a:p>
              <a:p>
                <a:pPr algn="just"/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Arithmetic mean and median:</a:t>
                </a: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</a:t>
                </a:r>
                <a:r>
                  <a:rPr lang="en-US" sz="2400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ean: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 ………….  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endParaRPr lang="en-US" sz="2400" i="1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- arithmetic mean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- nth reading taken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- total number of readings</a:t>
                </a:r>
              </a:p>
              <a:p>
                <a:pPr marL="0" indent="0" algn="just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m</a:t>
                </a:r>
                <a:r>
                  <a:rPr lang="en-US" sz="2400" b="1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edian: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𝑚𝑒𝑑𝑖𝑎𝑛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type m:val="skw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num>
                      <m:den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2400" b="1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928" t="-1961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60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Deviation from mean: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-deviation of ith reading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- value of ith reading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- arithmetic mean</a:t>
                </a:r>
              </a:p>
              <a:p>
                <a:pPr marL="0" indent="0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Average deviation(mean deviation):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217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Standard deviation:</a:t>
                </a:r>
              </a:p>
              <a:p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…. + </m:t>
                              </m:r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For reading less than 20 numbers </a:t>
                </a:r>
              </a:p>
              <a:p>
                <a:pPr marL="0" indent="0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…. + 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&lt;20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91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ANALYSIS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Variance: mean square deviation</a:t>
                </a:r>
              </a:p>
              <a:p>
                <a:pPr marL="0" indent="0">
                  <a:buNone/>
                </a:pPr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…. +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4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For reading less than 20 </a:t>
                </a:r>
              </a:p>
              <a:p>
                <a:pPr marL="0" indent="0">
                  <a:buNone/>
                </a:pP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…. + 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&lt;20</m:t>
                      </m:r>
                    </m:oMath>
                  </m:oMathPara>
                </a14:m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05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AGGREGATION OF ERRORS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Errors in measurement systems often arise from two or more different sources,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and these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must be aggregated in the correct way in order to obtain a prediction of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total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likely error in output readings from the measurement system.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Two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different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forms of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aggregation are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required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Firstly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 single measurement component may have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both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systematic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random errors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and, </a:t>
            </a:r>
            <a:endParaRPr lang="en-US" sz="24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Secondly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a measurement system may consist of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several measurement components that each have separate errors.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91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446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Combined effect of systematic and random errors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2360"/>
            <a:ext cx="10515600" cy="497460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a measurement is affected by both systematic and random errors that are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quantified as ±𝑥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(systematic errors) and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±𝑦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(random errors), some means of expressing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combined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effect of both types of error is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needed:</a:t>
            </a:r>
          </a:p>
          <a:p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likely maximum error will be presented as: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665" y="3243253"/>
            <a:ext cx="4865012" cy="93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3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446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Aggregation of errors from separate measurement</a:t>
            </a:r>
            <a:b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system components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2360"/>
            <a:ext cx="10515600" cy="497460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All four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mathematical operations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of addition, subtraction, multiplication and division may be performed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on measurements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derived from different instruments/transducers in a measurement system.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Appropriate techniques for the various situations that arise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are: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in a sum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in a difference 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in a product</a:t>
            </a:r>
          </a:p>
          <a:p>
            <a:pPr marL="457200" indent="-457200">
              <a:buAutoNum type="arabicPeriod"/>
            </a:pP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Error in a quotient</a:t>
            </a:r>
          </a:p>
          <a:p>
            <a:pPr marL="457200" indent="-457200">
              <a:buAutoNum type="arabicPeriod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96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4468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TOTAL ERROR WHEN COMBINING MULTIPLE MEASUREMENT</a:t>
            </a:r>
            <a:endParaRPr lang="en-US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8615" y="1419594"/>
                <a:ext cx="10786299" cy="5080693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In this the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final measurement is calculated from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several measurements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that are combined together in a way that involves more than one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type of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arithmetic operation. </a:t>
                </a:r>
                <a:endParaRPr lang="en-US" sz="26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600" dirty="0" smtClean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 rectangular-sided block has edges of lengths a, b and c, and its mass is m. If the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values and possible errors in quantities a, b, c and m are as shown below, calculate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value of density and the possible error in this value.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a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100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mm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±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1%,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b=200 mm ± 1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%,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c= 300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mm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± 1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%,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m= 20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kg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± 0.5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%.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Solution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Value of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ab= 0.02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6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± </m:t>
                    </m:r>
                  </m:oMath>
                </a14:m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(possible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error =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+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%)</a:t>
                </a:r>
                <a:endParaRPr lang="en-US" sz="2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Value of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(ab)c = 0.006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±</m:t>
                    </m:r>
                  </m:oMath>
                </a14:m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(possible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error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2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+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%)</a:t>
                </a:r>
                <a:endParaRPr lang="en-US" sz="2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Value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𝑎𝑏𝑐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0.006</m:t>
                        </m:r>
                      </m:den>
                    </m:f>
                  </m:oMath>
                </a14:m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3330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6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𝑘𝑔</m:t>
                        </m:r>
                      </m:num>
                      <m:den>
                        <m:sSup>
                          <m:sSupPr>
                            <m:ctrlPr>
                              <a:rPr lang="en-US" sz="260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±</m:t>
                    </m:r>
                  </m:oMath>
                </a14:m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3.5%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(possible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error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+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0.5% 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:r>
                  <a:rPr lang="en-US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3.5</a:t>
                </a:r>
                <a:r>
                  <a:rPr lang="en-US" sz="26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%)</a:t>
                </a:r>
                <a:endParaRPr lang="en-US" sz="2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8615" y="1419594"/>
                <a:ext cx="10786299" cy="5080693"/>
              </a:xfrm>
              <a:blipFill>
                <a:blip r:embed="rId2"/>
                <a:stretch>
                  <a:fillRect l="-847" t="-30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00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QUESTIONS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6600" dirty="0">
                <a:latin typeface="Cambria" panose="02040503050406030204" pitchFamily="18" charset="0"/>
                <a:ea typeface="Cambria" panose="02040503050406030204" pitchFamily="18" charset="0"/>
              </a:rPr>
              <a:t>           </a:t>
            </a:r>
          </a:p>
          <a:p>
            <a:pPr algn="ctr">
              <a:buNone/>
            </a:pPr>
            <a:r>
              <a:rPr lang="en-US" sz="6600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sz="6600" dirty="0" smtClean="0">
                <a:latin typeface="Cambria" panose="02040503050406030204" pitchFamily="18" charset="0"/>
                <a:ea typeface="Cambria" panose="02040503050406030204" pitchFamily="18" charset="0"/>
              </a:rPr>
              <a:t>???</a:t>
            </a:r>
            <a:endParaRPr lang="en-US" sz="6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00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2120</TotalTime>
  <Words>778</Words>
  <Application>Microsoft Office PowerPoint</Application>
  <PresentationFormat>Widescreen</PresentationFormat>
  <Paragraphs>137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Cambria Math</vt:lpstr>
      <vt:lpstr>Office Theme</vt:lpstr>
      <vt:lpstr>Types of Measurement Errors</vt:lpstr>
      <vt:lpstr>PowerPoint Presentation</vt:lpstr>
      <vt:lpstr>ERRORS</vt:lpstr>
      <vt:lpstr>ERRORS</vt:lpstr>
      <vt:lpstr>ERRORS</vt:lpstr>
      <vt:lpstr>ERRORS</vt:lpstr>
      <vt:lpstr>ERRORS</vt:lpstr>
      <vt:lpstr>ERRORS</vt:lpstr>
      <vt:lpstr>ERRORS</vt:lpstr>
      <vt:lpstr>ERRORS</vt:lpstr>
      <vt:lpstr>ERRORS</vt:lpstr>
      <vt:lpstr>ERROR ANALYSIS</vt:lpstr>
      <vt:lpstr>ERROR ANALYSIS</vt:lpstr>
      <vt:lpstr>ERROR ANALYSIS</vt:lpstr>
      <vt:lpstr>ERROR ANALYSIS</vt:lpstr>
      <vt:lpstr>AGGREGATION OF ERRORS</vt:lpstr>
      <vt:lpstr>Combined effect of systematic and random errors  </vt:lpstr>
      <vt:lpstr>Aggregation of errors from separate measurement system components  </vt:lpstr>
      <vt:lpstr>TOTAL ERROR WHEN COMBINING MULTIPLE MEASUREMENT</vt:lpstr>
      <vt:lpstr>QUESTIONS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Measurement Errors</dc:title>
  <dc:creator>hp</dc:creator>
  <cp:lastModifiedBy>hp</cp:lastModifiedBy>
  <cp:revision>27</cp:revision>
  <dcterms:created xsi:type="dcterms:W3CDTF">2021-11-17T12:12:52Z</dcterms:created>
  <dcterms:modified xsi:type="dcterms:W3CDTF">2021-11-30T06:24:35Z</dcterms:modified>
</cp:coreProperties>
</file>