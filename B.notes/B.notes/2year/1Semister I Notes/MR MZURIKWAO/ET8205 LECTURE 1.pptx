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69" r:id="rId17"/>
    <p:sldId id="270" r:id="rId18"/>
    <p:sldId id="271"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62BC10A-27E2-4B39-AE0B-87BFFC412C83}"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1344128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BC10A-27E2-4B39-AE0B-87BFFC412C83}"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1354856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2BC10A-27E2-4B39-AE0B-87BFFC412C83}"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2330376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2BC10A-27E2-4B39-AE0B-87BFFC412C83}"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1400604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2BC10A-27E2-4B39-AE0B-87BFFC412C83}" type="datetimeFigureOut">
              <a:rPr lang="en-US" smtClean="0"/>
              <a:t>11/22/2023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3382581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2BC10A-27E2-4B39-AE0B-87BFFC412C83}" type="datetimeFigureOut">
              <a:rPr lang="en-US" smtClean="0"/>
              <a:t>11/22/2023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3424241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2BC10A-27E2-4B39-AE0B-87BFFC412C83}" type="datetimeFigureOut">
              <a:rPr lang="en-US" smtClean="0"/>
              <a:t>11/22/2023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3263373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2BC10A-27E2-4B39-AE0B-87BFFC412C83}"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3998782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2BC10A-27E2-4B39-AE0B-87BFFC412C83}"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787507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BC10A-27E2-4B39-AE0B-87BFFC412C83}"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1161072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2BC10A-27E2-4B39-AE0B-87BFFC412C83}"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550C0C-9A29-42EC-99CE-3B289D6CE3BB}" type="slidenum">
              <a:rPr lang="en-US" smtClean="0"/>
              <a:t>‹#›</a:t>
            </a:fld>
            <a:endParaRPr lang="en-US"/>
          </a:p>
        </p:txBody>
      </p:sp>
    </p:spTree>
    <p:extLst>
      <p:ext uri="{BB962C8B-B14F-4D97-AF65-F5344CB8AC3E}">
        <p14:creationId xmlns:p14="http://schemas.microsoft.com/office/powerpoint/2010/main" val="3929710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BC10A-27E2-4B39-AE0B-87BFFC412C83}" type="datetimeFigureOut">
              <a:rPr lang="en-US" smtClean="0"/>
              <a:t>11/22/2023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50C0C-9A29-42EC-99CE-3B289D6CE3BB}" type="slidenum">
              <a:rPr lang="en-US" smtClean="0"/>
              <a:t>‹#›</a:t>
            </a:fld>
            <a:endParaRPr lang="en-US"/>
          </a:p>
        </p:txBody>
      </p:sp>
    </p:spTree>
    <p:extLst>
      <p:ext uri="{BB962C8B-B14F-4D97-AF65-F5344CB8AC3E}">
        <p14:creationId xmlns:p14="http://schemas.microsoft.com/office/powerpoint/2010/main" val="1549572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800" b="1" dirty="0">
                <a:latin typeface="Cambria Math" panose="02040503050406030204" pitchFamily="18" charset="0"/>
                <a:ea typeface="Cambria Math" panose="02040503050406030204" pitchFamily="18" charset="0"/>
                <a:cs typeface="Tahoma" panose="020B0604030504040204" pitchFamily="34" charset="0"/>
              </a:rPr>
              <a:t>ET8205</a:t>
            </a:r>
            <a:br>
              <a:rPr lang="en-GB" sz="4800" b="1" dirty="0">
                <a:latin typeface="Cambria Math" panose="02040503050406030204" pitchFamily="18" charset="0"/>
                <a:ea typeface="Cambria Math" panose="02040503050406030204" pitchFamily="18" charset="0"/>
                <a:cs typeface="Tahoma" panose="020B0604030504040204" pitchFamily="34" charset="0"/>
              </a:rPr>
            </a:br>
            <a:r>
              <a:rPr lang="en-GB" sz="4800" b="1" dirty="0">
                <a:latin typeface="Cambria Math" panose="02040503050406030204" pitchFamily="18" charset="0"/>
                <a:ea typeface="Cambria Math" panose="02040503050406030204" pitchFamily="18" charset="0"/>
                <a:cs typeface="Tahoma" panose="020B0604030504040204" pitchFamily="34" charset="0"/>
              </a:rPr>
              <a:t>Introduction to Measurement Systems</a:t>
            </a:r>
            <a:endParaRPr lang="en-US" sz="4800" dirty="0">
              <a:latin typeface="Cambria Math" panose="02040503050406030204" pitchFamily="18" charset="0"/>
              <a:ea typeface="Cambria Math" panose="02040503050406030204" pitchFamily="18" charset="0"/>
              <a:cs typeface="Tahoma" panose="020B0604030504040204" pitchFamily="34" charset="0"/>
            </a:endParaRPr>
          </a:p>
        </p:txBody>
      </p:sp>
      <p:sp>
        <p:nvSpPr>
          <p:cNvPr id="3" name="Subtitle 2"/>
          <p:cNvSpPr>
            <a:spLocks noGrp="1"/>
          </p:cNvSpPr>
          <p:nvPr>
            <p:ph type="subTitle" idx="1"/>
          </p:nvPr>
        </p:nvSpPr>
        <p:spPr/>
        <p:txBody>
          <a:bodyPr/>
          <a:lstStyle/>
          <a:p>
            <a:endParaRPr lang="en-US" b="1" dirty="0">
              <a:latin typeface="Cambria Math" panose="02040503050406030204" pitchFamily="18" charset="0"/>
              <a:ea typeface="Cambria Math" panose="02040503050406030204" pitchFamily="18" charset="0"/>
              <a:cs typeface="Tahoma" panose="020B0604030504040204" pitchFamily="34" charset="0"/>
            </a:endParaRPr>
          </a:p>
        </p:txBody>
      </p:sp>
    </p:spTree>
    <p:extLst>
      <p:ext uri="{BB962C8B-B14F-4D97-AF65-F5344CB8AC3E}">
        <p14:creationId xmlns:p14="http://schemas.microsoft.com/office/powerpoint/2010/main" val="1423853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9848"/>
          </a:xfrm>
        </p:spPr>
        <p:txBody>
          <a:bodyPr>
            <a:normAutofit/>
          </a:bodyPr>
          <a:lstStyle/>
          <a:p>
            <a:r>
              <a:rPr lang="en-US" sz="3200" b="1" dirty="0">
                <a:latin typeface="Cambria Math" panose="02040503050406030204" pitchFamily="18" charset="0"/>
                <a:ea typeface="Cambria Math" panose="02040503050406030204" pitchFamily="18" charset="0"/>
                <a:cs typeface="Tahoma" panose="020B0604030504040204" pitchFamily="34" charset="0"/>
              </a:rPr>
              <a:t>MEASUREMENT &amp; INSTRUMENTATION</a:t>
            </a:r>
          </a:p>
        </p:txBody>
      </p:sp>
      <p:sp>
        <p:nvSpPr>
          <p:cNvPr id="3" name="Content Placeholder 2"/>
          <p:cNvSpPr>
            <a:spLocks noGrp="1"/>
          </p:cNvSpPr>
          <p:nvPr>
            <p:ph idx="1"/>
          </p:nvPr>
        </p:nvSpPr>
        <p:spPr>
          <a:xfrm>
            <a:off x="838200" y="1193533"/>
            <a:ext cx="10515600" cy="4983430"/>
          </a:xfrm>
        </p:spPr>
        <p:txBody>
          <a:bodyPr>
            <a:normAutofit/>
          </a:bodyPr>
          <a:lstStyle/>
          <a:p>
            <a:pPr marL="0" indent="0">
              <a:buNone/>
            </a:pPr>
            <a:r>
              <a:rPr lang="en-US" sz="2400" b="1" dirty="0">
                <a:latin typeface="Cambria Math" panose="02040503050406030204" pitchFamily="18" charset="0"/>
                <a:ea typeface="Cambria Math" panose="02040503050406030204" pitchFamily="18" charset="0"/>
              </a:rPr>
              <a:t>Measurement</a:t>
            </a:r>
          </a:p>
          <a:p>
            <a:r>
              <a:rPr lang="en-US" sz="2400" dirty="0">
                <a:latin typeface="Cambria Math" panose="02040503050406030204" pitchFamily="18" charset="0"/>
                <a:ea typeface="Cambria Math" panose="02040503050406030204" pitchFamily="18" charset="0"/>
              </a:rPr>
              <a:t>Is the quantification of attributes of an object or event, which can be used to compare with other objects or events.</a:t>
            </a:r>
          </a:p>
          <a:p>
            <a:r>
              <a:rPr lang="en-US" sz="2400" dirty="0">
                <a:latin typeface="Cambria Math" panose="02040503050406030204" pitchFamily="18" charset="0"/>
                <a:ea typeface="Cambria Math" panose="02040503050406030204" pitchFamily="18" charset="0"/>
              </a:rPr>
              <a:t>Is the process of associating numbers with physical quantities and phenomena.</a:t>
            </a:r>
          </a:p>
          <a:p>
            <a:pPr marL="0" indent="0">
              <a:buNone/>
            </a:pPr>
            <a:r>
              <a:rPr lang="en-US" sz="2400" b="1" dirty="0">
                <a:latin typeface="Cambria Math" panose="02040503050406030204" pitchFamily="18" charset="0"/>
                <a:ea typeface="Cambria Math" panose="02040503050406030204" pitchFamily="18" charset="0"/>
              </a:rPr>
              <a:t>Instrumentation</a:t>
            </a:r>
          </a:p>
          <a:p>
            <a:r>
              <a:rPr lang="en-US" sz="2400" dirty="0">
                <a:latin typeface="Cambria Math" panose="02040503050406030204" pitchFamily="18" charset="0"/>
                <a:ea typeface="Cambria Math" panose="02040503050406030204" pitchFamily="18" charset="0"/>
              </a:rPr>
              <a:t>Instrumentation is a collective term for measuring instruments that are used for indicating, measuring and recording physical quantities.</a:t>
            </a:r>
          </a:p>
          <a:p>
            <a:endParaRPr lang="en-US" sz="2400" dirty="0">
              <a:latin typeface="Cambria Math" panose="02040503050406030204" pitchFamily="18" charset="0"/>
              <a:ea typeface="Cambria Math" panose="02040503050406030204" pitchFamily="18" charset="0"/>
            </a:endParaRPr>
          </a:p>
          <a:p>
            <a:r>
              <a:rPr lang="en-US" sz="2400" b="0" i="0" dirty="0">
                <a:solidFill>
                  <a:srgbClr val="202124"/>
                </a:solidFill>
                <a:effectLst/>
                <a:latin typeface="Cambria Math" panose="02040503050406030204" pitchFamily="18" charset="0"/>
                <a:ea typeface="Cambria Math" panose="02040503050406030204" pitchFamily="18" charset="0"/>
              </a:rPr>
              <a:t>When used as verbs, </a:t>
            </a:r>
            <a:r>
              <a:rPr lang="en-US" sz="2400" b="1" i="0" dirty="0">
                <a:solidFill>
                  <a:srgbClr val="202124"/>
                </a:solidFill>
                <a:effectLst/>
                <a:latin typeface="Cambria Math" panose="02040503050406030204" pitchFamily="18" charset="0"/>
                <a:ea typeface="Cambria Math" panose="02040503050406030204" pitchFamily="18" charset="0"/>
              </a:rPr>
              <a:t>instrument</a:t>
            </a:r>
            <a:r>
              <a:rPr lang="en-US" sz="2400" b="0" i="0" dirty="0">
                <a:solidFill>
                  <a:srgbClr val="202124"/>
                </a:solidFill>
                <a:effectLst/>
                <a:latin typeface="Cambria Math" panose="02040503050406030204" pitchFamily="18" charset="0"/>
                <a:ea typeface="Cambria Math" panose="02040503050406030204" pitchFamily="18" charset="0"/>
              </a:rPr>
              <a:t> means to apply measuring devices, whereas </a:t>
            </a:r>
            <a:r>
              <a:rPr lang="en-US" sz="2400" b="1" i="0" dirty="0">
                <a:solidFill>
                  <a:srgbClr val="202124"/>
                </a:solidFill>
                <a:effectLst/>
                <a:latin typeface="Cambria Math" panose="02040503050406030204" pitchFamily="18" charset="0"/>
                <a:ea typeface="Cambria Math" panose="02040503050406030204" pitchFamily="18" charset="0"/>
              </a:rPr>
              <a:t>measure</a:t>
            </a:r>
            <a:r>
              <a:rPr lang="en-US" sz="2400" b="0" i="0" dirty="0">
                <a:solidFill>
                  <a:srgbClr val="202124"/>
                </a:solidFill>
                <a:effectLst/>
                <a:latin typeface="Cambria Math" panose="02040503050406030204" pitchFamily="18" charset="0"/>
                <a:ea typeface="Cambria Math" panose="02040503050406030204" pitchFamily="18" charset="0"/>
              </a:rPr>
              <a:t> means to ascertain the quantity of a unit of material via calculated </a:t>
            </a:r>
            <a:r>
              <a:rPr lang="en-US" sz="2400" b="1" i="0" dirty="0">
                <a:solidFill>
                  <a:srgbClr val="202124"/>
                </a:solidFill>
                <a:effectLst/>
                <a:latin typeface="Cambria Math" panose="02040503050406030204" pitchFamily="18" charset="0"/>
                <a:ea typeface="Cambria Math" panose="02040503050406030204" pitchFamily="18" charset="0"/>
              </a:rPr>
              <a:t>comparison</a:t>
            </a:r>
            <a:r>
              <a:rPr lang="en-US" sz="2400" b="0" i="0" dirty="0">
                <a:solidFill>
                  <a:srgbClr val="202124"/>
                </a:solidFill>
                <a:effectLst/>
                <a:latin typeface="Cambria Math" panose="02040503050406030204" pitchFamily="18" charset="0"/>
                <a:ea typeface="Cambria Math" panose="02040503050406030204" pitchFamily="18" charset="0"/>
              </a:rPr>
              <a:t> with respect to a standard.</a:t>
            </a:r>
            <a:endParaRPr lang="en-US" sz="2400" dirty="0">
              <a:latin typeface="Cambria Math" panose="02040503050406030204" pitchFamily="18" charset="0"/>
              <a:ea typeface="Cambria Math" panose="02040503050406030204" pitchFamily="18" charset="0"/>
            </a:endParaRPr>
          </a:p>
          <a:p>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72639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6534"/>
          </a:xfrm>
        </p:spPr>
        <p:txBody>
          <a:bodyPr/>
          <a:lstStyle/>
          <a:p>
            <a:r>
              <a:rPr lang="en-US" sz="3200" b="1" dirty="0">
                <a:latin typeface="Cambria Math" panose="02040503050406030204" pitchFamily="18" charset="0"/>
                <a:ea typeface="Cambria Math" panose="02040503050406030204" pitchFamily="18" charset="0"/>
              </a:rPr>
              <a:t>MEASUREMENT SYSTEM</a:t>
            </a:r>
          </a:p>
        </p:txBody>
      </p:sp>
      <p:sp>
        <p:nvSpPr>
          <p:cNvPr id="3" name="Content Placeholder 2"/>
          <p:cNvSpPr>
            <a:spLocks noGrp="1"/>
          </p:cNvSpPr>
          <p:nvPr>
            <p:ph idx="1"/>
          </p:nvPr>
        </p:nvSpPr>
        <p:spPr>
          <a:xfrm>
            <a:off x="838200" y="1193533"/>
            <a:ext cx="10515600" cy="4983430"/>
          </a:xfrm>
        </p:spPr>
        <p:txBody>
          <a:bodyPr>
            <a:normAutofit/>
          </a:bodyPr>
          <a:lstStyle/>
          <a:p>
            <a:r>
              <a:rPr lang="en-US" sz="2400" dirty="0">
                <a:latin typeface="Cambria Math" panose="02040503050406030204" pitchFamily="18" charset="0"/>
                <a:ea typeface="Cambria Math" panose="02040503050406030204" pitchFamily="18" charset="0"/>
              </a:rPr>
              <a:t>A measurement system exists to provide information about the physical value of some variable being measured. </a:t>
            </a:r>
          </a:p>
          <a:p>
            <a:r>
              <a:rPr lang="en-US" sz="2400" dirty="0">
                <a:latin typeface="Cambria Math" panose="02040503050406030204" pitchFamily="18" charset="0"/>
                <a:ea typeface="Cambria Math" panose="02040503050406030204" pitchFamily="18" charset="0"/>
              </a:rPr>
              <a:t>In simple cases, the system can consist of only a single unit that gives an output reading or signal according to the magnitude of the unknown variable applied to it. </a:t>
            </a:r>
          </a:p>
          <a:p>
            <a:r>
              <a:rPr lang="en-US" sz="2400" dirty="0">
                <a:latin typeface="Cambria Math" panose="02040503050406030204" pitchFamily="18" charset="0"/>
                <a:ea typeface="Cambria Math" panose="02040503050406030204" pitchFamily="18" charset="0"/>
              </a:rPr>
              <a:t>In more complex measurement situations, a measurement system consists of several separate elements</a:t>
            </a:r>
          </a:p>
        </p:txBody>
      </p:sp>
    </p:spTree>
    <p:extLst>
      <p:ext uri="{BB962C8B-B14F-4D97-AF65-F5344CB8AC3E}">
        <p14:creationId xmlns:p14="http://schemas.microsoft.com/office/powerpoint/2010/main" val="3959455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86"/>
            <a:ext cx="10515600" cy="1325563"/>
          </a:xfrm>
        </p:spPr>
        <p:txBody>
          <a:bodyPr/>
          <a:lstStyle/>
          <a:p>
            <a:r>
              <a:rPr lang="en-US" sz="3200" b="1" dirty="0">
                <a:latin typeface="Cambria Math" panose="02040503050406030204" pitchFamily="18" charset="0"/>
                <a:ea typeface="Cambria Math" panose="02040503050406030204" pitchFamily="18" charset="0"/>
              </a:rPr>
              <a:t>ELEMENTS OF A MEASUREMENT SYSTEM</a:t>
            </a:r>
          </a:p>
        </p:txBody>
      </p:sp>
      <p:pic>
        <p:nvPicPr>
          <p:cNvPr id="4" name="Content Placeholder 3"/>
          <p:cNvPicPr>
            <a:picLocks noGrp="1" noChangeAspect="1"/>
          </p:cNvPicPr>
          <p:nvPr>
            <p:ph idx="1"/>
          </p:nvPr>
        </p:nvPicPr>
        <p:blipFill>
          <a:blip r:embed="rId2"/>
          <a:stretch>
            <a:fillRect/>
          </a:stretch>
        </p:blipFill>
        <p:spPr>
          <a:xfrm>
            <a:off x="1761423" y="1731075"/>
            <a:ext cx="8763802" cy="3766730"/>
          </a:xfrm>
          <a:prstGeom prst="rect">
            <a:avLst/>
          </a:prstGeom>
        </p:spPr>
      </p:pic>
    </p:spTree>
    <p:extLst>
      <p:ext uri="{BB962C8B-B14F-4D97-AF65-F5344CB8AC3E}">
        <p14:creationId xmlns:p14="http://schemas.microsoft.com/office/powerpoint/2010/main" val="1531596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Math" panose="02040503050406030204" pitchFamily="18" charset="0"/>
                <a:ea typeface="Cambria Math" panose="02040503050406030204" pitchFamily="18" charset="0"/>
              </a:rPr>
              <a:t>ELEMENTS OF A MEASUREMENT SYSTEM…</a:t>
            </a:r>
            <a:endParaRPr lang="en-US" sz="3200" dirty="0"/>
          </a:p>
        </p:txBody>
      </p:sp>
      <p:sp>
        <p:nvSpPr>
          <p:cNvPr id="3" name="Content Placeholder 2"/>
          <p:cNvSpPr>
            <a:spLocks noGrp="1"/>
          </p:cNvSpPr>
          <p:nvPr>
            <p:ph idx="1"/>
          </p:nvPr>
        </p:nvSpPr>
        <p:spPr>
          <a:xfrm>
            <a:off x="838200" y="1540042"/>
            <a:ext cx="10515600" cy="4636921"/>
          </a:xfrm>
        </p:spPr>
        <p:txBody>
          <a:bodyPr>
            <a:normAutofit/>
          </a:bodyPr>
          <a:lstStyle/>
          <a:p>
            <a:pPr marL="0" indent="0">
              <a:buNone/>
            </a:pPr>
            <a:r>
              <a:rPr lang="en-US" sz="2400" b="1" dirty="0">
                <a:latin typeface="Cambria" panose="02040503050406030204" pitchFamily="18" charset="0"/>
                <a:ea typeface="Cambria" panose="02040503050406030204" pitchFamily="18" charset="0"/>
              </a:rPr>
              <a:t>Primary sensor</a:t>
            </a:r>
          </a:p>
          <a:p>
            <a:r>
              <a:rPr lang="en-US" sz="2400" dirty="0">
                <a:latin typeface="Cambria" panose="02040503050406030204" pitchFamily="18" charset="0"/>
                <a:ea typeface="Cambria" panose="02040503050406030204" pitchFamily="18" charset="0"/>
              </a:rPr>
              <a:t>This gives an output that is a function of the input applied to it (the </a:t>
            </a:r>
            <a:r>
              <a:rPr lang="en-US" sz="2400" dirty="0" err="1">
                <a:latin typeface="Cambria" panose="02040503050406030204" pitchFamily="18" charset="0"/>
                <a:ea typeface="Cambria" panose="02040503050406030204" pitchFamily="18" charset="0"/>
              </a:rPr>
              <a:t>measurand</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Some examples of primary sensors are a liquid-in-glass thermometer, a thermocouple and a strain gauge. </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In the case of the mercury-in-glass thermometer, the output reading is given in terms of the level of the mercury, and so this particular primary sensor is also a complete measurement system in itself. However, in general, the primary sensor is only part of a measurement system.</a:t>
            </a:r>
          </a:p>
        </p:txBody>
      </p:sp>
    </p:spTree>
    <p:extLst>
      <p:ext uri="{BB962C8B-B14F-4D97-AF65-F5344CB8AC3E}">
        <p14:creationId xmlns:p14="http://schemas.microsoft.com/office/powerpoint/2010/main" val="2280515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Math" panose="02040503050406030204" pitchFamily="18" charset="0"/>
                <a:ea typeface="Cambria Math" panose="02040503050406030204" pitchFamily="18" charset="0"/>
              </a:rPr>
              <a:t>ELEMENTS OF A MEASUREMENT SYSTEM…</a:t>
            </a:r>
            <a:endParaRPr lang="en-US" sz="3200" dirty="0"/>
          </a:p>
        </p:txBody>
      </p:sp>
      <p:sp>
        <p:nvSpPr>
          <p:cNvPr id="3" name="Content Placeholder 2"/>
          <p:cNvSpPr>
            <a:spLocks noGrp="1"/>
          </p:cNvSpPr>
          <p:nvPr>
            <p:ph idx="1"/>
          </p:nvPr>
        </p:nvSpPr>
        <p:spPr>
          <a:xfrm>
            <a:off x="838200" y="1540042"/>
            <a:ext cx="10515600" cy="4636921"/>
          </a:xfrm>
        </p:spPr>
        <p:txBody>
          <a:bodyPr>
            <a:normAutofit/>
          </a:bodyPr>
          <a:lstStyle/>
          <a:p>
            <a:pPr marL="0" indent="0">
              <a:buNone/>
            </a:pPr>
            <a:r>
              <a:rPr lang="en-US" sz="2600" b="1" dirty="0">
                <a:latin typeface="Cambria" panose="02040503050406030204" pitchFamily="18" charset="0"/>
                <a:ea typeface="Cambria" panose="02040503050406030204" pitchFamily="18" charset="0"/>
              </a:rPr>
              <a:t>Variable conversion elements</a:t>
            </a:r>
          </a:p>
          <a:p>
            <a:r>
              <a:rPr lang="en-US" sz="2600" dirty="0">
                <a:latin typeface="Cambria" panose="02040503050406030204" pitchFamily="18" charset="0"/>
                <a:ea typeface="Cambria" panose="02040503050406030204" pitchFamily="18" charset="0"/>
              </a:rPr>
              <a:t>These are needed where the output variable of a primary transducer is in an inconvenient form and has to be converted to a more convenient</a:t>
            </a:r>
            <a:br>
              <a:rPr lang="en-US" sz="2600"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form. </a:t>
            </a:r>
          </a:p>
          <a:p>
            <a:r>
              <a:rPr lang="en-US" sz="2600" dirty="0">
                <a:latin typeface="Cambria" panose="02040503050406030204" pitchFamily="18" charset="0"/>
                <a:ea typeface="Cambria" panose="02040503050406030204" pitchFamily="18" charset="0"/>
              </a:rPr>
              <a:t>For example, the displacement-measuring strain gauge has an output in the form of a varying resistance. The resistance change cannot be easily measured and so it is converted to a change in voltage by a </a:t>
            </a:r>
            <a:r>
              <a:rPr lang="en-US" sz="2600" i="1" dirty="0">
                <a:latin typeface="Cambria" panose="02040503050406030204" pitchFamily="18" charset="0"/>
                <a:ea typeface="Cambria" panose="02040503050406030204" pitchFamily="18" charset="0"/>
              </a:rPr>
              <a:t>bridge circuit</a:t>
            </a:r>
            <a:r>
              <a:rPr lang="en-US" sz="2600" dirty="0">
                <a:latin typeface="Cambria" panose="02040503050406030204" pitchFamily="18" charset="0"/>
                <a:ea typeface="Cambria" panose="02040503050406030204" pitchFamily="18" charset="0"/>
              </a:rPr>
              <a:t>, which is a typical example of a variable conversion element. </a:t>
            </a:r>
          </a:p>
          <a:p>
            <a:r>
              <a:rPr lang="en-US" sz="2600" dirty="0">
                <a:latin typeface="Cambria" panose="02040503050406030204" pitchFamily="18" charset="0"/>
                <a:ea typeface="Cambria" panose="02040503050406030204" pitchFamily="18" charset="0"/>
              </a:rPr>
              <a:t>In some cases, the primary sensor and variable conversion element are combined, and the combination is known as a transducer. </a:t>
            </a:r>
            <a:br>
              <a:rPr lang="en-US" sz="2400" dirty="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47564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Math" panose="02040503050406030204" pitchFamily="18" charset="0"/>
                <a:ea typeface="Cambria Math" panose="02040503050406030204" pitchFamily="18" charset="0"/>
              </a:rPr>
              <a:t>ELEMENTS OF A MEASUREMENT SYSTEM…</a:t>
            </a:r>
            <a:endParaRPr lang="en-US" sz="3200" dirty="0"/>
          </a:p>
        </p:txBody>
      </p:sp>
      <p:sp>
        <p:nvSpPr>
          <p:cNvPr id="3" name="Content Placeholder 2"/>
          <p:cNvSpPr>
            <a:spLocks noGrp="1"/>
          </p:cNvSpPr>
          <p:nvPr>
            <p:ph idx="1"/>
          </p:nvPr>
        </p:nvSpPr>
        <p:spPr>
          <a:xfrm>
            <a:off x="838200" y="1540042"/>
            <a:ext cx="10515600" cy="4636921"/>
          </a:xfrm>
        </p:spPr>
        <p:txBody>
          <a:bodyPr>
            <a:noAutofit/>
          </a:bodyPr>
          <a:lstStyle/>
          <a:p>
            <a:pPr marL="0" indent="0">
              <a:buNone/>
            </a:pPr>
            <a:r>
              <a:rPr lang="en-US" sz="2400" b="1" dirty="0">
                <a:latin typeface="Cambria" panose="02040503050406030204" pitchFamily="18" charset="0"/>
                <a:ea typeface="Cambria" panose="02040503050406030204" pitchFamily="18" charset="0"/>
              </a:rPr>
              <a:t>Signal processing elements</a:t>
            </a:r>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This exists to improve the quality of the output of a measurement system in some way. </a:t>
            </a:r>
          </a:p>
          <a:p>
            <a:r>
              <a:rPr lang="en-US" sz="2400" dirty="0">
                <a:latin typeface="Cambria" panose="02040503050406030204" pitchFamily="18" charset="0"/>
                <a:ea typeface="Cambria" panose="02040503050406030204" pitchFamily="18" charset="0"/>
              </a:rPr>
              <a:t>A very common type of signal processing element is the electronic amplifier, which amplifies the output of the primary transducer or variable conversion element, thus improving the sensitivity and resolution of measurement. </a:t>
            </a:r>
          </a:p>
          <a:p>
            <a:r>
              <a:rPr lang="en-US" sz="2400" dirty="0">
                <a:latin typeface="Cambria" panose="02040503050406030204" pitchFamily="18" charset="0"/>
                <a:ea typeface="Cambria" panose="02040503050406030204" pitchFamily="18" charset="0"/>
              </a:rPr>
              <a:t>This element of a measuring system is particularly important where the primary transducer has a low output.</a:t>
            </a:r>
          </a:p>
          <a:p>
            <a:r>
              <a:rPr lang="en-US" sz="2400" dirty="0">
                <a:latin typeface="Cambria" panose="02040503050406030204" pitchFamily="18" charset="0"/>
                <a:ea typeface="Cambria" panose="02040503050406030204" pitchFamily="18" charset="0"/>
              </a:rPr>
              <a:t>For example, thermocouples have a typical output of only a few millivolts. </a:t>
            </a:r>
            <a:br>
              <a:rPr lang="en-US" sz="2400" dirty="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26331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Math" panose="02040503050406030204" pitchFamily="18" charset="0"/>
                <a:ea typeface="Cambria Math" panose="02040503050406030204" pitchFamily="18" charset="0"/>
              </a:rPr>
              <a:t>ELEMENTS OF A MEASUREMENT SYSTEM…</a:t>
            </a:r>
            <a:endParaRPr lang="en-US" sz="3200" dirty="0"/>
          </a:p>
        </p:txBody>
      </p:sp>
      <p:sp>
        <p:nvSpPr>
          <p:cNvPr id="3" name="Content Placeholder 2"/>
          <p:cNvSpPr>
            <a:spLocks noGrp="1"/>
          </p:cNvSpPr>
          <p:nvPr>
            <p:ph idx="1"/>
          </p:nvPr>
        </p:nvSpPr>
        <p:spPr>
          <a:xfrm>
            <a:off x="838200" y="1540042"/>
            <a:ext cx="10515600" cy="4636921"/>
          </a:xfrm>
        </p:spPr>
        <p:txBody>
          <a:bodyPr>
            <a:noAutofit/>
          </a:bodyPr>
          <a:lstStyle/>
          <a:p>
            <a:pPr marL="0" indent="0">
              <a:buNone/>
            </a:pPr>
            <a:r>
              <a:rPr lang="en-US" sz="2400" b="1" dirty="0">
                <a:latin typeface="Cambria" panose="02040503050406030204" pitchFamily="18" charset="0"/>
                <a:ea typeface="Cambria" panose="02040503050406030204" pitchFamily="18" charset="0"/>
              </a:rPr>
              <a:t>Signal transmission </a:t>
            </a:r>
          </a:p>
          <a:p>
            <a:r>
              <a:rPr lang="en-US" sz="2400" dirty="0">
                <a:latin typeface="Cambria" panose="02040503050406030204" pitchFamily="18" charset="0"/>
                <a:ea typeface="Cambria" panose="02040503050406030204" pitchFamily="18" charset="0"/>
              </a:rPr>
              <a:t>This is needed when the observation or application point of the output of a measurement system is some distance away from the site of the primary transducer. </a:t>
            </a:r>
          </a:p>
          <a:p>
            <a:r>
              <a:rPr lang="en-US" sz="2400" dirty="0">
                <a:latin typeface="Cambria" panose="02040503050406030204" pitchFamily="18" charset="0"/>
                <a:ea typeface="Cambria" panose="02040503050406030204" pitchFamily="18" charset="0"/>
              </a:rPr>
              <a:t>Sometimes, this separation is made solely for purposes of convenience, but more often it follows from the physical inaccessibility or environmental unsuitability of the site of the primary transducer for mounting the signal presentation/recording unit. </a:t>
            </a:r>
          </a:p>
          <a:p>
            <a:r>
              <a:rPr lang="en-US" sz="2400" dirty="0">
                <a:latin typeface="Cambria" panose="02040503050406030204" pitchFamily="18" charset="0"/>
                <a:ea typeface="Cambria" panose="02040503050406030204" pitchFamily="18" charset="0"/>
              </a:rPr>
              <a:t>The signal transmission element has traditionally consisted of single or multi-cored cables example </a:t>
            </a:r>
            <a:r>
              <a:rPr lang="en-US" sz="2400" dirty="0" err="1">
                <a:latin typeface="Cambria" panose="02040503050406030204" pitchFamily="18" charset="0"/>
                <a:ea typeface="Cambria" panose="02040503050406030204" pitchFamily="18" charset="0"/>
              </a:rPr>
              <a:t>fibre</a:t>
            </a:r>
            <a:r>
              <a:rPr lang="en-US" sz="2400" dirty="0">
                <a:latin typeface="Cambria" panose="02040503050406030204" pitchFamily="18" charset="0"/>
                <a:ea typeface="Cambria" panose="02040503050406030204" pitchFamily="18" charset="0"/>
              </a:rPr>
              <a:t>-optic cables are being used because of their low transmission loss and resistance to the effects of electrical and magnetic fields.</a:t>
            </a:r>
            <a:br>
              <a:rPr lang="en-US" sz="2400" dirty="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8322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Math" panose="02040503050406030204" pitchFamily="18" charset="0"/>
                <a:ea typeface="Cambria Math" panose="02040503050406030204" pitchFamily="18" charset="0"/>
              </a:rPr>
              <a:t>ELEMENTS OF A MEASUREMENT SYSTEM…</a:t>
            </a:r>
            <a:endParaRPr lang="en-US" sz="3200" dirty="0"/>
          </a:p>
        </p:txBody>
      </p:sp>
      <p:sp>
        <p:nvSpPr>
          <p:cNvPr id="3" name="Content Placeholder 2"/>
          <p:cNvSpPr>
            <a:spLocks noGrp="1"/>
          </p:cNvSpPr>
          <p:nvPr>
            <p:ph idx="1"/>
          </p:nvPr>
        </p:nvSpPr>
        <p:spPr>
          <a:xfrm>
            <a:off x="838200" y="1540042"/>
            <a:ext cx="10515600" cy="4636921"/>
          </a:xfrm>
        </p:spPr>
        <p:txBody>
          <a:bodyPr>
            <a:noAutofit/>
          </a:bodyPr>
          <a:lstStyle/>
          <a:p>
            <a:pPr marL="0" indent="0">
              <a:buNone/>
            </a:pPr>
            <a:r>
              <a:rPr lang="en-US" sz="2400" b="1" dirty="0">
                <a:latin typeface="Cambria" panose="02040503050406030204" pitchFamily="18" charset="0"/>
                <a:ea typeface="Cambria" panose="02040503050406030204" pitchFamily="18" charset="0"/>
              </a:rPr>
              <a:t>Output display/ recording element</a:t>
            </a:r>
          </a:p>
          <a:p>
            <a:pPr marL="0" indent="0">
              <a:buNone/>
            </a:pPr>
            <a:r>
              <a:rPr lang="en-US" sz="2400" dirty="0">
                <a:latin typeface="Cambria" panose="02040503050406030204" pitchFamily="18" charset="0"/>
                <a:ea typeface="Cambria" panose="02040503050406030204" pitchFamily="18" charset="0"/>
              </a:rPr>
              <a:t>This is the device that is used to display the final reading of the measured quantity.</a:t>
            </a:r>
          </a:p>
          <a:p>
            <a:pPr marL="0" indent="0">
              <a:buNone/>
            </a:pPr>
            <a:r>
              <a:rPr lang="en-US" sz="2400" dirty="0">
                <a:latin typeface="Cambria" panose="02040503050406030204" pitchFamily="18" charset="0"/>
                <a:ea typeface="Cambria" panose="02040503050406030204" pitchFamily="18" charset="0"/>
              </a:rPr>
              <a:t>For example LCD (Liquid Crystal Display), CRO (Cathode Ray Oscilloscope) </a:t>
            </a:r>
          </a:p>
          <a:p>
            <a:pPr marL="0" indent="0">
              <a:buNone/>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7058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latin typeface="Cambria" panose="02040503050406030204" pitchFamily="18" charset="0"/>
                <a:ea typeface="Cambria" panose="02040503050406030204" pitchFamily="18" charset="0"/>
              </a:rPr>
              <a:t>Selection Criteria for Measurement Systems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540042"/>
            <a:ext cx="10515600" cy="4636921"/>
          </a:xfrm>
        </p:spPr>
        <p:txBody>
          <a:bodyPr>
            <a:noAutofit/>
          </a:bodyPr>
          <a:lstStyle/>
          <a:p>
            <a:pPr algn="just"/>
            <a:r>
              <a:rPr lang="en-US" sz="2400" dirty="0">
                <a:latin typeface="Cambria" panose="02040503050406030204" pitchFamily="18" charset="0"/>
                <a:ea typeface="Cambria" panose="02040503050406030204" pitchFamily="18" charset="0"/>
              </a:rPr>
              <a:t>The starting point in choosing the most suitable instrument to use for measurement of a particular quantity in a manufacturing plant or other system is the specification of the instrument characteristics required, especially parameters like the desired measurement accuracy, resolution, sensitivity and dynamic performance.</a:t>
            </a:r>
          </a:p>
          <a:p>
            <a:pPr algn="just"/>
            <a:r>
              <a:rPr lang="en-US" sz="2400" dirty="0">
                <a:latin typeface="Cambria" panose="02040503050406030204" pitchFamily="18" charset="0"/>
                <a:ea typeface="Cambria" panose="02040503050406030204" pitchFamily="18" charset="0"/>
              </a:rPr>
              <a:t>It is also essential to know the environmental conditions that the instrument will be subjected to, as some conditions will immediately either eliminate the possibility of using certain types of instrument or else will create a requirement for expensive protection of the instrument.</a:t>
            </a:r>
          </a:p>
          <a:p>
            <a:pPr algn="just"/>
            <a:r>
              <a:rPr lang="en-US" sz="2400" dirty="0">
                <a:latin typeface="Cambria" panose="02040503050406030204" pitchFamily="18" charset="0"/>
                <a:ea typeface="Cambria" panose="02040503050406030204" pitchFamily="18" charset="0"/>
              </a:rPr>
              <a:t>Therefore the one choosing the instrument should have ample information on the operation in question.</a:t>
            </a:r>
          </a:p>
        </p:txBody>
      </p:sp>
    </p:spTree>
    <p:extLst>
      <p:ext uri="{BB962C8B-B14F-4D97-AF65-F5344CB8AC3E}">
        <p14:creationId xmlns:p14="http://schemas.microsoft.com/office/powerpoint/2010/main" val="2799518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4976"/>
          </a:xfrm>
        </p:spPr>
        <p:txBody>
          <a:bodyPr>
            <a:normAutofit/>
          </a:bodyPr>
          <a:lstStyle/>
          <a:p>
            <a:r>
              <a:rPr lang="en-GB" sz="3200" b="1" dirty="0">
                <a:latin typeface="Cambria" panose="02040503050406030204" pitchFamily="18" charset="0"/>
                <a:ea typeface="Cambria" panose="02040503050406030204" pitchFamily="18" charset="0"/>
              </a:rPr>
              <a:t>Selection Criteria for Measurement Systems…</a:t>
            </a: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199" y="1540042"/>
            <a:ext cx="10769867" cy="4884821"/>
          </a:xfrm>
        </p:spPr>
        <p:txBody>
          <a:bodyPr>
            <a:noAutofit/>
          </a:bodyPr>
          <a:lstStyle/>
          <a:p>
            <a:pPr algn="just"/>
            <a:r>
              <a:rPr lang="en-US" sz="2400" dirty="0">
                <a:latin typeface="Cambria" panose="02040503050406030204" pitchFamily="18" charset="0"/>
                <a:ea typeface="Cambria" panose="02040503050406030204" pitchFamily="18" charset="0"/>
              </a:rPr>
              <a:t>Then, a skilled instrument engineer, having knowledge of all the instruments that are available for measuring the quantity in question, will be able to evaluate the possible list of instruments in terms of their accuracy, cost and suitability for the environmental conditions and thus choose the most appropriate instrument.</a:t>
            </a:r>
          </a:p>
          <a:p>
            <a:pPr algn="just"/>
            <a:r>
              <a:rPr lang="en-US" sz="2400" dirty="0">
                <a:latin typeface="Cambria" panose="02040503050406030204" pitchFamily="18" charset="0"/>
                <a:ea typeface="Cambria" panose="02040503050406030204" pitchFamily="18" charset="0"/>
              </a:rPr>
              <a:t>To summarize therefore, instrument choice is a compromise between performance characteristics, ruggedness and durability, maintenance requirements and purchase cost.</a:t>
            </a:r>
          </a:p>
          <a:p>
            <a:pPr algn="just"/>
            <a:r>
              <a:rPr lang="en-US" sz="2400" dirty="0">
                <a:latin typeface="Cambria" panose="02040503050406030204" pitchFamily="18" charset="0"/>
                <a:ea typeface="Cambria" panose="02040503050406030204" pitchFamily="18" charset="0"/>
              </a:rPr>
              <a:t>To carry out such an evaluation properly, the instrument engineer must have a wide knowledge of the range of instruments available for measuring particular physical quantities, and he/she must also have a deep understanding of how instrument characteristics are affected by particular measurement situations and operating conditions.</a:t>
            </a:r>
          </a:p>
          <a:p>
            <a:pPr algn="just"/>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89789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47421" cy="717717"/>
          </a:xfrm>
        </p:spPr>
        <p:txBody>
          <a:bodyPr>
            <a:normAutofit/>
          </a:bodyPr>
          <a:lstStyle/>
          <a:p>
            <a:r>
              <a:rPr lang="en-US" sz="3200" b="1" dirty="0">
                <a:latin typeface="Cambria" panose="02040503050406030204" pitchFamily="18" charset="0"/>
                <a:ea typeface="Cambria" panose="02040503050406030204" pitchFamily="18" charset="0"/>
              </a:rPr>
              <a:t>SI System</a:t>
            </a:r>
          </a:p>
        </p:txBody>
      </p:sp>
      <p:sp>
        <p:nvSpPr>
          <p:cNvPr id="3" name="Content Placeholder 2"/>
          <p:cNvSpPr>
            <a:spLocks noGrp="1"/>
          </p:cNvSpPr>
          <p:nvPr>
            <p:ph idx="1"/>
          </p:nvPr>
        </p:nvSpPr>
        <p:spPr>
          <a:xfrm>
            <a:off x="838199" y="1121344"/>
            <a:ext cx="10769867" cy="5303520"/>
          </a:xfrm>
        </p:spPr>
        <p:txBody>
          <a:bodyPr>
            <a:noAutofit/>
          </a:bodyPr>
          <a:lstStyle/>
          <a:p>
            <a:pPr algn="just"/>
            <a:r>
              <a:rPr lang="en-US" sz="2400" dirty="0">
                <a:latin typeface="Cambria" panose="02040503050406030204" pitchFamily="18" charset="0"/>
                <a:ea typeface="Cambria" panose="02040503050406030204" pitchFamily="18" charset="0"/>
              </a:rPr>
              <a:t>This is the International System of Units known by the international abbreviation SI.</a:t>
            </a:r>
          </a:p>
          <a:p>
            <a:pPr algn="just"/>
            <a:r>
              <a:rPr lang="en-US" sz="2400" dirty="0">
                <a:latin typeface="Cambria" panose="02040503050406030204" pitchFamily="18" charset="0"/>
                <a:ea typeface="Cambria" panose="02040503050406030204" pitchFamily="18" charset="0"/>
              </a:rPr>
              <a:t>There are major two types of units:</a:t>
            </a:r>
          </a:p>
          <a:p>
            <a:pPr marL="457200" indent="-457200" algn="just">
              <a:buAutoNum type="arabicPeriod"/>
            </a:pPr>
            <a:r>
              <a:rPr lang="en-US" sz="2400" dirty="0">
                <a:latin typeface="Cambria" panose="02040503050406030204" pitchFamily="18" charset="0"/>
                <a:ea typeface="Cambria" panose="02040503050406030204" pitchFamily="18" charset="0"/>
              </a:rPr>
              <a:t>Fundamental units (Base units)</a:t>
            </a:r>
          </a:p>
          <a:p>
            <a:pPr marL="457200" indent="-457200" algn="just">
              <a:buAutoNum type="arabicPeriod"/>
            </a:pPr>
            <a:r>
              <a:rPr lang="en-US" sz="2400" dirty="0">
                <a:latin typeface="Cambria" panose="02040503050406030204" pitchFamily="18" charset="0"/>
                <a:ea typeface="Cambria" panose="02040503050406030204" pitchFamily="18" charset="0"/>
              </a:rPr>
              <a:t>Derived units </a:t>
            </a:r>
          </a:p>
          <a:p>
            <a:pPr algn="just"/>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76899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47421" cy="717717"/>
          </a:xfrm>
        </p:spPr>
        <p:txBody>
          <a:bodyPr>
            <a:normAutofit/>
          </a:bodyPr>
          <a:lstStyle/>
          <a:p>
            <a:r>
              <a:rPr lang="en-US" sz="3200" b="1" dirty="0">
                <a:latin typeface="Cambria" panose="02040503050406030204" pitchFamily="18" charset="0"/>
                <a:ea typeface="Cambria" panose="02040503050406030204" pitchFamily="18" charset="0"/>
              </a:rPr>
              <a:t>SI System</a:t>
            </a:r>
          </a:p>
        </p:txBody>
      </p:sp>
      <p:pic>
        <p:nvPicPr>
          <p:cNvPr id="4" name="Content Placeholder 3"/>
          <p:cNvPicPr>
            <a:picLocks noGrp="1" noChangeAspect="1"/>
          </p:cNvPicPr>
          <p:nvPr>
            <p:ph idx="1"/>
          </p:nvPr>
        </p:nvPicPr>
        <p:blipFill>
          <a:blip r:embed="rId2"/>
          <a:stretch>
            <a:fillRect/>
          </a:stretch>
        </p:blipFill>
        <p:spPr>
          <a:xfrm>
            <a:off x="4211052" y="409074"/>
            <a:ext cx="6338235" cy="6226754"/>
          </a:xfrm>
          <a:prstGeom prst="rect">
            <a:avLst/>
          </a:prstGeom>
        </p:spPr>
      </p:pic>
    </p:spTree>
    <p:extLst>
      <p:ext uri="{BB962C8B-B14F-4D97-AF65-F5344CB8AC3E}">
        <p14:creationId xmlns:p14="http://schemas.microsoft.com/office/powerpoint/2010/main" val="9788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47421" cy="717717"/>
          </a:xfrm>
        </p:spPr>
        <p:txBody>
          <a:bodyPr>
            <a:normAutofit fontScale="90000"/>
          </a:bodyPr>
          <a:lstStyle/>
          <a:p>
            <a:r>
              <a:rPr lang="en-US" sz="3200" b="1" dirty="0">
                <a:latin typeface="Cambria" panose="02040503050406030204" pitchFamily="18" charset="0"/>
                <a:ea typeface="Cambria" panose="02040503050406030204" pitchFamily="18" charset="0"/>
              </a:rPr>
              <a:t>Fundamental units (Base units)</a:t>
            </a:r>
            <a:br>
              <a:rPr lang="en-US" sz="3200" b="1" dirty="0">
                <a:latin typeface="Cambria" panose="02040503050406030204" pitchFamily="18" charset="0"/>
                <a:ea typeface="Cambria" panose="02040503050406030204" pitchFamily="18" charset="0"/>
              </a:rPr>
            </a:br>
            <a:endParaRPr lang="en-US" sz="32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199" y="1121344"/>
            <a:ext cx="10769867" cy="5303520"/>
          </a:xfrm>
        </p:spPr>
        <p:txBody>
          <a:bodyPr>
            <a:noAutofit/>
          </a:bodyPr>
          <a:lstStyle/>
          <a:p>
            <a:pPr algn="just"/>
            <a:r>
              <a:rPr lang="en-US" sz="2400" dirty="0">
                <a:latin typeface="Cambria" panose="02040503050406030204" pitchFamily="18" charset="0"/>
                <a:ea typeface="Cambria" panose="02040503050406030204" pitchFamily="18" charset="0"/>
              </a:rPr>
              <a:t>The SI contains seven BASE UNITS that each represent a different kind of physical quantity.</a:t>
            </a:r>
          </a:p>
          <a:p>
            <a:pPr marL="0" indent="0" algn="just">
              <a:buNone/>
            </a:pPr>
            <a:endParaRPr lang="en-US" sz="24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1361831" y="2020773"/>
            <a:ext cx="9904258" cy="4076911"/>
          </a:xfrm>
          <a:prstGeom prst="rect">
            <a:avLst/>
          </a:prstGeom>
        </p:spPr>
      </p:pic>
    </p:spTree>
    <p:extLst>
      <p:ext uri="{BB962C8B-B14F-4D97-AF65-F5344CB8AC3E}">
        <p14:creationId xmlns:p14="http://schemas.microsoft.com/office/powerpoint/2010/main" val="137493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47421" cy="717717"/>
          </a:xfrm>
        </p:spPr>
        <p:txBody>
          <a:bodyPr>
            <a:normAutofit/>
          </a:bodyPr>
          <a:lstStyle/>
          <a:p>
            <a:pPr algn="just"/>
            <a:r>
              <a:rPr lang="en-US" sz="3200" b="1" dirty="0">
                <a:latin typeface="Cambria" panose="02040503050406030204" pitchFamily="18" charset="0"/>
                <a:ea typeface="Cambria" panose="02040503050406030204" pitchFamily="18" charset="0"/>
              </a:rPr>
              <a:t>Derived units </a:t>
            </a:r>
          </a:p>
        </p:txBody>
      </p:sp>
      <p:sp>
        <p:nvSpPr>
          <p:cNvPr id="3" name="Content Placeholder 2"/>
          <p:cNvSpPr>
            <a:spLocks noGrp="1"/>
          </p:cNvSpPr>
          <p:nvPr>
            <p:ph idx="1"/>
          </p:nvPr>
        </p:nvSpPr>
        <p:spPr>
          <a:xfrm>
            <a:off x="838199" y="1121344"/>
            <a:ext cx="10769867" cy="5303520"/>
          </a:xfrm>
        </p:spPr>
        <p:txBody>
          <a:bodyPr>
            <a:noAutofit/>
          </a:bodyPr>
          <a:lstStyle/>
          <a:p>
            <a:pPr marL="0" indent="0" algn="just">
              <a:buNone/>
            </a:pPr>
            <a:r>
              <a:rPr lang="en-US" sz="2400" dirty="0">
                <a:latin typeface="Cambria" panose="02040503050406030204" pitchFamily="18" charset="0"/>
                <a:ea typeface="Cambria" panose="02040503050406030204" pitchFamily="18" charset="0"/>
              </a:rPr>
              <a:t>Derived Units are created by mathematical relationships ​between other Base Units and are expressed in a combination of fundamental and base quantities.</a:t>
            </a:r>
          </a:p>
          <a:p>
            <a:pPr marL="0" indent="0" algn="just">
              <a:buNone/>
            </a:pPr>
            <a:endParaRPr lang="en-US" sz="24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377621" y="3111258"/>
            <a:ext cx="10908000" cy="2120393"/>
          </a:xfrm>
          <a:prstGeom prst="rect">
            <a:avLst/>
          </a:prstGeom>
        </p:spPr>
      </p:pic>
    </p:spTree>
    <p:extLst>
      <p:ext uri="{BB962C8B-B14F-4D97-AF65-F5344CB8AC3E}">
        <p14:creationId xmlns:p14="http://schemas.microsoft.com/office/powerpoint/2010/main" val="273349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25" y="365125"/>
            <a:ext cx="11609343" cy="717717"/>
          </a:xfrm>
        </p:spPr>
        <p:txBody>
          <a:bodyPr>
            <a:noAutofit/>
          </a:bodyPr>
          <a:lstStyle/>
          <a:p>
            <a:r>
              <a:rPr lang="en-US" sz="3200" b="1" dirty="0">
                <a:latin typeface="Cambria" panose="02040503050406030204" pitchFamily="18" charset="0"/>
                <a:ea typeface="Cambria" panose="02040503050406030204" pitchFamily="18" charset="0"/>
              </a:rPr>
              <a:t>Rules and conventions for writing SI units and their symbols</a:t>
            </a:r>
          </a:p>
        </p:txBody>
      </p:sp>
      <p:sp>
        <p:nvSpPr>
          <p:cNvPr id="6" name="Rectangle 2"/>
          <p:cNvSpPr>
            <a:spLocks noGrp="1" noChangeArrowheads="1"/>
          </p:cNvSpPr>
          <p:nvPr>
            <p:ph idx="1"/>
          </p:nvPr>
        </p:nvSpPr>
        <p:spPr bwMode="auto">
          <a:xfrm>
            <a:off x="567891" y="1077416"/>
            <a:ext cx="11521439"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1. The units named after scientists are not written with a capital initial letter.</a:t>
            </a:r>
            <a:b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rPr>
            </a:b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a:t>
            </a:r>
            <a:r>
              <a:rPr kumimoji="0" lang="en-US" altLang="en-US" sz="2200" b="0" i="0" u="none" strike="noStrike" cap="none" normalizeH="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 </a:t>
            </a: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:newton, henry, watt</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200" dirty="0">
              <a:solidFill>
                <a:srgbClr val="231F20"/>
              </a:solidFill>
              <a:latin typeface="Cambria" panose="02040503050406030204" pitchFamily="18" charset="0"/>
              <a:ea typeface="Cambria" panose="020405030504060302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2.     The symbols of the units named after scientist should be written by a capital letter.</a:t>
            </a:r>
            <a:r>
              <a:rPr lang="en-US" altLang="en-US" sz="2200" dirty="0">
                <a:latin typeface="Cambria" panose="02040503050406030204" pitchFamily="18" charset="0"/>
                <a:ea typeface="Cambria" panose="020405030504060302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 N for newton, H for henry, W</a:t>
            </a: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a:t>
            </a: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watt</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3. Small letters are used as symbols for units not derived from a proper name.</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a:t>
            </a: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m for </a:t>
            </a:r>
            <a:r>
              <a:rPr kumimoji="0" lang="en-US" altLang="en-US" sz="2200" b="0" i="0" u="none" strike="noStrike" cap="none" normalizeH="0" baseline="0" dirty="0" err="1">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metre</a:t>
            </a: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 kg for kilogram</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4.     No full stop or other punctuation marks should be used within or at the end of symbols.</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 50 m and not as 50 m.</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5.     The symbols of the units do not take plural form. For example : 10 kg not as 10 </a:t>
            </a:r>
            <a:r>
              <a:rPr kumimoji="0" lang="en-US" altLang="en-US" sz="2200" b="0" i="0" u="none" strike="noStrike" cap="none" normalizeH="0" baseline="0" dirty="0" err="1">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kgs</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60727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25" y="365125"/>
            <a:ext cx="11609343" cy="717717"/>
          </a:xfrm>
        </p:spPr>
        <p:txBody>
          <a:bodyPr>
            <a:noAutofit/>
          </a:bodyPr>
          <a:lstStyle/>
          <a:p>
            <a:r>
              <a:rPr lang="en-US" sz="3200" b="1" dirty="0">
                <a:latin typeface="Cambria" panose="02040503050406030204" pitchFamily="18" charset="0"/>
                <a:ea typeface="Cambria" panose="02040503050406030204" pitchFamily="18" charset="0"/>
              </a:rPr>
              <a:t>Rules and conventions for writing SI units and their symbols…</a:t>
            </a:r>
          </a:p>
        </p:txBody>
      </p:sp>
      <p:sp>
        <p:nvSpPr>
          <p:cNvPr id="4" name="Rectangle 2"/>
          <p:cNvSpPr>
            <a:spLocks noGrp="1" noChangeArrowheads="1"/>
          </p:cNvSpPr>
          <p:nvPr>
            <p:ph idx="1"/>
          </p:nvPr>
        </p:nvSpPr>
        <p:spPr bwMode="auto">
          <a:xfrm>
            <a:off x="249482" y="1452174"/>
            <a:ext cx="1150442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6.     When temperature is expressed in kelvin, the degree sign is omitted.</a:t>
            </a:r>
            <a:r>
              <a:rPr lang="en-US" altLang="en-US" sz="2400" dirty="0">
                <a:latin typeface="Cambria" panose="02040503050406030204" pitchFamily="18" charset="0"/>
                <a:ea typeface="Cambria" panose="020405030504060302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 273 K not as 273o K</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(If expressed in Celsius scale, degree sign is to be included. For example 100℃ and not 100 C)</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7.     Use of solidus is recommended only for indicating a division of one letter unit symbol by another unit symbol. Not more than one solidus is used.</a:t>
            </a:r>
            <a:r>
              <a:rPr lang="en-US" altLang="en-US" sz="2400" dirty="0">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 m s</a:t>
            </a: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1 or m / s, J / K </a:t>
            </a:r>
            <a:r>
              <a:rPr kumimoji="0" lang="en-US" altLang="en-US" sz="2400" b="0" i="0" u="none" strike="noStrike" cap="none" normalizeH="0" baseline="0" dirty="0" err="1">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mol</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 or J K</a:t>
            </a: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1 mol-1 but not J / K / mol.</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8.     Some space is always to be left between the number and the symbol of the unit and also between the symbols for compound units such as force, momentum, etc.</a:t>
            </a:r>
            <a:endParaRPr lang="en-US" altLang="en-US" sz="2400" dirty="0">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it is not correct to write 2.3m. The correct representation is 2.3 m; kg m s-2 and not as kgms-2.</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3876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25" y="365125"/>
            <a:ext cx="11609343" cy="717717"/>
          </a:xfrm>
        </p:spPr>
        <p:txBody>
          <a:bodyPr>
            <a:noAutofit/>
          </a:bodyPr>
          <a:lstStyle/>
          <a:p>
            <a:r>
              <a:rPr lang="en-US" sz="3200" b="1" dirty="0">
                <a:latin typeface="Cambria" panose="02040503050406030204" pitchFamily="18" charset="0"/>
                <a:ea typeface="Cambria" panose="02040503050406030204" pitchFamily="18" charset="0"/>
              </a:rPr>
              <a:t>Rules and conventions for writing SI units and their symbols…</a:t>
            </a:r>
          </a:p>
        </p:txBody>
      </p:sp>
      <p:sp>
        <p:nvSpPr>
          <p:cNvPr id="3" name="Rectangle 1"/>
          <p:cNvSpPr>
            <a:spLocks noGrp="1" noChangeArrowheads="1"/>
          </p:cNvSpPr>
          <p:nvPr>
            <p:ph idx="1"/>
          </p:nvPr>
        </p:nvSpPr>
        <p:spPr bwMode="auto">
          <a:xfrm>
            <a:off x="313218" y="1342557"/>
            <a:ext cx="110788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9. Only accepted symbols should be used.</a:t>
            </a:r>
            <a:endParaRPr lang="en-US" altLang="en-US" sz="2400" dirty="0">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example : ampere is represented as A and not as amp. or am ; second is represented as s and not as sec.</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10. Numerical value of any physical quantity should be expressed in scientific notation.</a:t>
            </a:r>
            <a:endParaRPr lang="en-US" altLang="en-US" sz="2400" dirty="0">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For an example, density of mercury is 1.36 x 104 kg m</a:t>
            </a:r>
            <a:r>
              <a:rPr kumimoji="0" lang="en-US" altLang="en-US" sz="2400" b="0" i="0" u="none" strike="noStrike" cap="none" normalizeH="0" baseline="0" dirty="0">
                <a:ln>
                  <a:noFill/>
                </a:ln>
                <a:solidFill>
                  <a:srgbClr val="333333"/>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231F20"/>
                </a:solidFill>
                <a:effectLst/>
                <a:latin typeface="Cambria" panose="02040503050406030204" pitchFamily="18" charset="0"/>
                <a:ea typeface="Cambria" panose="02040503050406030204" pitchFamily="18" charset="0"/>
                <a:cs typeface="Times New Roman" panose="02020603050405020304" pitchFamily="18" charset="0"/>
              </a:rPr>
              <a:t>3 and not as 13600 kg m-3.</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3549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25" y="365125"/>
            <a:ext cx="11609343" cy="717717"/>
          </a:xfrm>
        </p:spPr>
        <p:txBody>
          <a:bodyPr>
            <a:noAutofit/>
          </a:bodyPr>
          <a:lstStyle/>
          <a:p>
            <a:r>
              <a:rPr lang="en-US" sz="3200" b="1" dirty="0">
                <a:latin typeface="Cambria" panose="02040503050406030204" pitchFamily="18" charset="0"/>
                <a:ea typeface="Cambria" panose="02040503050406030204" pitchFamily="18" charset="0"/>
              </a:rPr>
              <a:t>Prefixes</a:t>
            </a:r>
          </a:p>
        </p:txBody>
      </p:sp>
      <p:sp>
        <p:nvSpPr>
          <p:cNvPr id="3" name="Rectangle 1"/>
          <p:cNvSpPr>
            <a:spLocks noGrp="1" noChangeArrowheads="1"/>
          </p:cNvSpPr>
          <p:nvPr>
            <p:ph idx="1"/>
          </p:nvPr>
        </p:nvSpPr>
        <p:spPr bwMode="auto">
          <a:xfrm>
            <a:off x="313218" y="1157891"/>
            <a:ext cx="1107889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lnSpc>
                <a:spcPct val="100000"/>
              </a:lnSpc>
              <a:buNone/>
            </a:pPr>
            <a:r>
              <a:rPr lang="en-US" altLang="en-US" sz="2400" dirty="0">
                <a:latin typeface="Cambria" panose="02040503050406030204" pitchFamily="18" charset="0"/>
                <a:ea typeface="Cambria" panose="02040503050406030204" pitchFamily="18" charset="0"/>
              </a:rPr>
              <a:t>Metric units use a prefix, used for conversion from or to an SI unit. Below is a chart illustrating how prefixes are labeled in metric measurements.</a:t>
            </a:r>
          </a:p>
          <a:p>
            <a:pPr marL="0" lvl="0" indent="0" algn="just">
              <a:lnSpc>
                <a:spcPct val="100000"/>
              </a:lnSpc>
              <a:buNone/>
            </a:pP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a:lnSpc>
                <a:spcPct val="100000"/>
              </a:lnSpc>
              <a:buNone/>
            </a:pPr>
            <a:endParaRPr lang="en-US" altLang="en-US" sz="2400" dirty="0">
              <a:latin typeface="Cambria" panose="02040503050406030204" pitchFamily="18" charset="0"/>
              <a:ea typeface="Cambria" panose="02040503050406030204" pitchFamily="18" charset="0"/>
            </a:endParaRPr>
          </a:p>
          <a:p>
            <a:pPr marL="0" lvl="0" indent="0" algn="just">
              <a:lnSpc>
                <a:spcPct val="100000"/>
              </a:lnSpc>
              <a:buNone/>
            </a:pP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a:lnSpc>
                <a:spcPct val="100000"/>
              </a:lnSpc>
              <a:buNone/>
            </a:pPr>
            <a:endParaRPr lang="en-US" altLang="en-US" sz="2400" dirty="0">
              <a:latin typeface="Cambria" panose="02040503050406030204" pitchFamily="18" charset="0"/>
              <a:ea typeface="Cambria" panose="02040503050406030204" pitchFamily="18" charset="0"/>
            </a:endParaRPr>
          </a:p>
          <a:p>
            <a:pPr marL="0" lvl="0" indent="0" algn="just">
              <a:lnSpc>
                <a:spcPct val="100000"/>
              </a:lnSpc>
              <a:buNone/>
            </a:pP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a:lnSpc>
                <a:spcPct val="100000"/>
              </a:lnSpc>
              <a:buNone/>
            </a:pP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987988" y="2289100"/>
            <a:ext cx="9468337" cy="3981655"/>
          </a:xfrm>
          <a:prstGeom prst="rect">
            <a:avLst/>
          </a:prstGeom>
        </p:spPr>
      </p:pic>
    </p:spTree>
    <p:extLst>
      <p:ext uri="{BB962C8B-B14F-4D97-AF65-F5344CB8AC3E}">
        <p14:creationId xmlns:p14="http://schemas.microsoft.com/office/powerpoint/2010/main" val="198838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Cambria" panose="02040503050406030204" pitchFamily="18" charset="0"/>
                <a:ea typeface="Cambria" panose="02040503050406030204" pitchFamily="18" charset="0"/>
              </a:rPr>
              <a:t>Significant Figures</a:t>
            </a:r>
          </a:p>
        </p:txBody>
      </p:sp>
      <p:sp>
        <p:nvSpPr>
          <p:cNvPr id="3" name="Content Placeholder 2"/>
          <p:cNvSpPr>
            <a:spLocks noGrp="1"/>
          </p:cNvSpPr>
          <p:nvPr>
            <p:ph idx="1"/>
          </p:nvPr>
        </p:nvSpPr>
        <p:spPr>
          <a:xfrm>
            <a:off x="838200" y="1323607"/>
            <a:ext cx="10515600" cy="4853356"/>
          </a:xfrm>
        </p:spPr>
        <p:txBody>
          <a:bodyPr>
            <a:normAutofit/>
          </a:bodyPr>
          <a:lstStyle/>
          <a:p>
            <a:r>
              <a:rPr lang="en-US" sz="2400" dirty="0">
                <a:latin typeface="Cambria" panose="02040503050406030204" pitchFamily="18" charset="0"/>
                <a:ea typeface="Cambria" panose="02040503050406030204" pitchFamily="18" charset="0"/>
              </a:rPr>
              <a:t>These are digits in the number that are reliable and absolutely necessary to indicate the quantity of something.</a:t>
            </a:r>
          </a:p>
          <a:p>
            <a:r>
              <a:rPr lang="en-US" sz="2400" dirty="0">
                <a:latin typeface="Cambria" panose="02040503050406030204" pitchFamily="18" charset="0"/>
                <a:ea typeface="Cambria" panose="02040503050406030204" pitchFamily="18" charset="0"/>
              </a:rPr>
              <a:t> If a number expressing the result of measurement of something (e.g., length, pressure, volume, or mass) has more digits than the digits allowed by the measurement resolution, only the digits allowed by the measurement resolution are reliable and so only these can be significant figures. </a:t>
            </a:r>
          </a:p>
          <a:p>
            <a:r>
              <a:rPr lang="en-US" sz="2400" dirty="0">
                <a:latin typeface="Cambria" panose="02040503050406030204" pitchFamily="18" charset="0"/>
                <a:ea typeface="Cambria" panose="02040503050406030204" pitchFamily="18" charset="0"/>
              </a:rPr>
              <a:t>For example, if a length measurement gives 114.8 mm while the smallest interval between marks on the ruler used in the measurement is 1 mm, then the first three digits (1, 1, and 4, and these show 114 mm) are only reliable so can be significant figures</a:t>
            </a:r>
          </a:p>
        </p:txBody>
      </p:sp>
    </p:spTree>
    <p:extLst>
      <p:ext uri="{BB962C8B-B14F-4D97-AF65-F5344CB8AC3E}">
        <p14:creationId xmlns:p14="http://schemas.microsoft.com/office/powerpoint/2010/main" val="443273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mbria" panose="02040503050406030204" pitchFamily="18" charset="0"/>
                <a:ea typeface="Cambria" panose="02040503050406030204" pitchFamily="18" charset="0"/>
              </a:rPr>
              <a:t>Discuss..</a:t>
            </a:r>
          </a:p>
        </p:txBody>
      </p:sp>
      <p:sp>
        <p:nvSpPr>
          <p:cNvPr id="3" name="Content Placeholder 2"/>
          <p:cNvSpPr>
            <a:spLocks noGrp="1"/>
          </p:cNvSpPr>
          <p:nvPr>
            <p:ph idx="1"/>
          </p:nvPr>
        </p:nvSpPr>
        <p:spPr/>
        <p:txBody>
          <a:bodyPr>
            <a:normAutofit/>
          </a:bodyPr>
          <a:lstStyle/>
          <a:p>
            <a:r>
              <a:rPr lang="en-US" sz="2400">
                <a:latin typeface="Cambria" panose="02040503050406030204" pitchFamily="18" charset="0"/>
                <a:ea typeface="Cambria" panose="02040503050406030204" pitchFamily="18" charset="0"/>
              </a:rPr>
              <a:t>Measurement and Instrumentation</a:t>
            </a:r>
          </a:p>
          <a:p>
            <a:r>
              <a:rPr lang="en-US" sz="2400">
                <a:latin typeface="Cambria" panose="02040503050406030204" pitchFamily="18" charset="0"/>
                <a:ea typeface="Cambria" panose="02040503050406030204" pitchFamily="18" charset="0"/>
              </a:rPr>
              <a:t>SI units</a:t>
            </a:r>
          </a:p>
          <a:p>
            <a:r>
              <a:rPr lang="en-US" sz="2400">
                <a:latin typeface="Cambria" panose="02040503050406030204" pitchFamily="18" charset="0"/>
                <a:ea typeface="Cambria" panose="02040503050406030204" pitchFamily="18" charset="0"/>
              </a:rPr>
              <a:t>Prefixes</a:t>
            </a:r>
          </a:p>
          <a:p>
            <a:r>
              <a:rPr lang="en-US" sz="2400">
                <a:latin typeface="Cambria" panose="02040503050406030204" pitchFamily="18" charset="0"/>
                <a:ea typeface="Cambria" panose="02040503050406030204" pitchFamily="18" charset="0"/>
              </a:rPr>
              <a:t>Elements of a measurement system</a:t>
            </a:r>
          </a:p>
          <a:p>
            <a:r>
              <a:rPr lang="en-US" sz="2400">
                <a:latin typeface="Cambria" panose="02040503050406030204" pitchFamily="18" charset="0"/>
                <a:ea typeface="Cambria" panose="02040503050406030204" pitchFamily="18" charset="0"/>
              </a:rPr>
              <a:t>Rules for writing SI units and symbols.</a:t>
            </a:r>
          </a:p>
          <a:p>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9294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10968</TotalTime>
  <Words>1604</Words>
  <Application>Microsoft Office PowerPoint</Application>
  <PresentationFormat>Widescreen</PresentationFormat>
  <Paragraphs>107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vt:lpstr>
      <vt:lpstr>Cambria Math</vt:lpstr>
      <vt:lpstr>Tahoma</vt:lpstr>
      <vt:lpstr>Times New Roman</vt:lpstr>
      <vt:lpstr>Office Theme</vt:lpstr>
      <vt:lpstr>ET8205 Introduction to Measurement Systems</vt:lpstr>
      <vt:lpstr>MEASUREMENT &amp; INSTRUMENTATION</vt:lpstr>
      <vt:lpstr>MEASUREMENT SYSTEM</vt:lpstr>
      <vt:lpstr>ELEMENTS OF A MEASUREMENT SYSTEM</vt:lpstr>
      <vt:lpstr>ELEMENTS OF A MEASUREMENT SYSTEM…</vt:lpstr>
      <vt:lpstr>ELEMENTS OF A MEASUREMENT SYSTEM…</vt:lpstr>
      <vt:lpstr>ELEMENTS OF A MEASUREMENT SYSTEM…</vt:lpstr>
      <vt:lpstr>ELEMENTS OF A MEASUREMENT SYSTEM…</vt:lpstr>
      <vt:lpstr>ELEMENTS OF A MEASUREMENT SYSTEM…</vt:lpstr>
      <vt:lpstr>Selection Criteria for Measurement Systems</vt:lpstr>
      <vt:lpstr>Selection Criteria for Measurement Systems…</vt:lpstr>
      <vt:lpstr>SI System</vt:lpstr>
      <vt:lpstr>SI System</vt:lpstr>
      <vt:lpstr>Fundamental units (Base units) </vt:lpstr>
      <vt:lpstr>Derived units </vt:lpstr>
      <vt:lpstr>Rules and conventions for writing SI units and their symbols</vt:lpstr>
      <vt:lpstr>Rules and conventions for writing SI units and their symbols…</vt:lpstr>
      <vt:lpstr>Rules and conventions for writing SI units and their symbols…</vt:lpstr>
      <vt:lpstr>Prefixes</vt:lpstr>
      <vt:lpstr>Significant Figures</vt:lpstr>
      <vt:lpstr>Discuss..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Measurement Systems</dc:title>
  <dc:creator>hp</dc:creator>
  <cp:lastModifiedBy>M rComputer</cp:lastModifiedBy>
  <cp:revision>31</cp:revision>
  <dcterms:created xsi:type="dcterms:W3CDTF">2021-11-17T09:13:04Z</dcterms:created>
  <dcterms:modified xsi:type="dcterms:W3CDTF">2023-11-22T06:55:37Z</dcterms:modified>
</cp:coreProperties>
</file>