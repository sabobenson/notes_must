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2B2F-D123-436A-999D-D5710F8052AB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F18A6-561F-4A36-9290-251F5052C2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6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29D33-3351-44C2-8879-7352DF19FA7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29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7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5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65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3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3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7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37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8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08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25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236A8-AD93-432C-9F69-D0799C764998}" type="datetimeFigureOut">
              <a:rPr lang="en-US" smtClean="0"/>
              <a:t>12/10/2021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9592D-999E-4103-A0DB-FBFE20B55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8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ELECTRONIC 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By </a:t>
            </a:r>
          </a:p>
          <a:p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Candida </a:t>
            </a:r>
            <a:r>
              <a:rPr lang="en-US" b="1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Nakida</a:t>
            </a:r>
            <a:r>
              <a:rPr lang="en-US" b="1" dirty="0" smtClean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 </a:t>
            </a:r>
            <a:r>
              <a:rPr lang="en-US" b="1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Mwisomba</a:t>
            </a:r>
            <a:endParaRPr lang="en-US" b="1" dirty="0" smtClean="0">
              <a:latin typeface="Cambria Math" panose="02040503050406030204" pitchFamily="18" charset="0"/>
              <a:ea typeface="Cambria Math" panose="02040503050406030204" pitchFamily="18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0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352800" y="381000"/>
            <a:ext cx="6172200" cy="1371600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DIGITAL ELECTRONIC MEASURING INSTRUMENTS</a:t>
            </a:r>
            <a:endParaRPr lang="en-US" sz="3200" b="1" cap="small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11440" y="5753601"/>
            <a:ext cx="8451761" cy="38636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54"/>
          <a:stretch/>
        </p:blipFill>
        <p:spPr>
          <a:xfrm>
            <a:off x="4799920" y="1447801"/>
            <a:ext cx="2804160" cy="39768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011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Digital Voltmeters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Digital Multimeters</a:t>
            </a:r>
          </a:p>
        </p:txBody>
      </p:sp>
    </p:spTree>
    <p:extLst>
      <p:ext uri="{BB962C8B-B14F-4D97-AF65-F5344CB8AC3E}">
        <p14:creationId xmlns:p14="http://schemas.microsoft.com/office/powerpoint/2010/main" val="285560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Digital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voltmeter (DVM)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digital voltmeter displays the measurements of ac or dc voltages as discrete numerals instead of a pointer deflection as in analog instruments.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It is versatile and accurate instrument that is employed in many applications.</a:t>
            </a: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DVM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 the human mistakes in reading and eliminate parallax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error</a:t>
            </a: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Smaller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size &amp; low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cost</a:t>
            </a: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 stability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DVMs  have various  features  such  as  speed,  automation  operation  and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programmability.   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54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</a:rPr>
              <a:t>Comparison of Digital and analog meter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 cstate="print">
            <a:duotone>
              <a:prstClr val="black"/>
              <a:schemeClr val="bg1">
                <a:tint val="45000"/>
                <a:satMod val="400000"/>
              </a:schemeClr>
            </a:duotone>
          </a:blip>
          <a:srcRect b="42823"/>
          <a:stretch/>
        </p:blipFill>
        <p:spPr bwMode="auto">
          <a:xfrm>
            <a:off x="1828800" y="1676401"/>
            <a:ext cx="8229600" cy="2667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Content Placeholder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bg1">
                <a:tint val="45000"/>
                <a:satMod val="400000"/>
              </a:schemeClr>
            </a:duotone>
          </a:blip>
          <a:srcRect b="28234"/>
          <a:stretch/>
        </p:blipFill>
        <p:spPr bwMode="auto">
          <a:xfrm>
            <a:off x="1828800" y="1681681"/>
            <a:ext cx="8229600" cy="334752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Content Placeholder 3"/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prstClr val="black"/>
              <a:schemeClr val="bg1">
                <a:tint val="45000"/>
                <a:satMod val="400000"/>
              </a:schemeClr>
            </a:duotone>
          </a:blip>
          <a:srcRect b="15051"/>
          <a:stretch/>
        </p:blipFill>
        <p:spPr bwMode="auto">
          <a:xfrm>
            <a:off x="1828800" y="1676402"/>
            <a:ext cx="8229600" cy="39623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Content Placeholder 3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bg1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828800" y="1681681"/>
            <a:ext cx="8229600" cy="466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976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Advantages of 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ts val="888"/>
              </a:spcBef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Higher accuracy and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resolution</a:t>
            </a:r>
          </a:p>
          <a:p>
            <a:pPr>
              <a:spcBef>
                <a:spcPts val="888"/>
              </a:spcBef>
            </a:pP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Greater speed</a:t>
            </a:r>
          </a:p>
          <a:p>
            <a:pPr>
              <a:spcBef>
                <a:spcPts val="888"/>
              </a:spcBef>
            </a:pP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No parallax</a:t>
            </a:r>
          </a:p>
          <a:p>
            <a:pPr>
              <a:spcBef>
                <a:spcPts val="888"/>
              </a:spcBef>
            </a:pP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Reduced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human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error</a:t>
            </a:r>
          </a:p>
          <a:p>
            <a:pPr>
              <a:spcBef>
                <a:spcPts val="888"/>
              </a:spcBef>
            </a:pP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Compatibility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with other digital equipment for further processing and recording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7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CHARACTERISTICS FEATURES OF DVMs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Wider Input Range: From ±1.000 to ±1000V with automatic range selection and overload indication</a:t>
                </a: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Absolute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accuracy: As high as ±0.005% of the 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reading</a:t>
                </a: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High Resolution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1 part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l-GR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μ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v can be read on 1 v range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High Stability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Short term – 0.002% of the reading for a 24-hr 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period; Long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term – 0.008% of the reading for a 6 month 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period</a:t>
                </a: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Input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resistance: Typically 10 M</a:t>
                </a:r>
                <a:r>
                  <a:rPr lang="el-GR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  <a:endParaRPr lang="en-US" altLang="en-US" sz="2400" dirty="0" smtClean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Input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capacitance: 40 </a:t>
                </a: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pF</a:t>
                </a:r>
              </a:p>
              <a:p>
                <a:pPr algn="just">
                  <a:spcBef>
                    <a:spcPts val="775"/>
                  </a:spcBef>
                </a:pPr>
                <a:r>
                  <a:rPr lang="en-US" alt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Output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signals: BCD form</a:t>
                </a:r>
              </a:p>
              <a:p>
                <a:pPr algn="just"/>
                <a:endParaRPr lang="en-US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85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Ramp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type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Integrating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type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Dual slope integrating type 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Staircase ramp 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Successive approximation type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Potentiometric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type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</a:p>
          <a:p>
            <a:pPr marL="447675" indent="-342900">
              <a:lnSpc>
                <a:spcPct val="150000"/>
              </a:lnSpc>
              <a:buSzPct val="45000"/>
              <a:tabLst>
                <a:tab pos="428625" algn="l"/>
                <a:tab pos="541338" algn="l"/>
                <a:tab pos="998538" algn="l"/>
                <a:tab pos="1455738" algn="l"/>
                <a:tab pos="1912938" algn="l"/>
                <a:tab pos="2370138" algn="l"/>
                <a:tab pos="2827338" algn="l"/>
                <a:tab pos="3284538" algn="l"/>
                <a:tab pos="3741738" algn="l"/>
                <a:tab pos="4198938" algn="l"/>
                <a:tab pos="4656138" algn="l"/>
                <a:tab pos="5113338" algn="l"/>
                <a:tab pos="5570538" algn="l"/>
                <a:tab pos="6027738" algn="l"/>
                <a:tab pos="6484938" algn="l"/>
                <a:tab pos="6942138" algn="l"/>
                <a:tab pos="7399338" algn="l"/>
                <a:tab pos="7856538" algn="l"/>
                <a:tab pos="8313738" algn="l"/>
                <a:tab pos="8770938" algn="l"/>
                <a:tab pos="9228138" algn="l"/>
              </a:tabLst>
              <a:defRPr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Continuous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balance type DVM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6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CLASSIFICATION OF </a:t>
            </a:r>
            <a:r>
              <a:rPr lang="en-US" alt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Bef>
                <a:spcPts val="888"/>
              </a:spcBef>
            </a:pPr>
            <a:r>
              <a:rPr lang="en-US" altLang="en-US" sz="2400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Voltage to Time 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888"/>
              </a:spcBef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Ramp type DVM</a:t>
            </a:r>
          </a:p>
          <a:p>
            <a:pPr>
              <a:spcBef>
                <a:spcPts val="888"/>
              </a:spcBef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88"/>
              </a:spcBef>
            </a:pPr>
            <a:r>
              <a:rPr lang="en-US" altLang="en-US" sz="2400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Voltage to Frequency 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888"/>
              </a:spcBef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Integrating type DVM</a:t>
            </a:r>
          </a:p>
          <a:p>
            <a:pPr lvl="2">
              <a:spcBef>
                <a:spcPts val="888"/>
              </a:spcBef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Dual slope integrating type DVM</a:t>
            </a:r>
          </a:p>
          <a:p>
            <a:pPr lvl="5">
              <a:spcBef>
                <a:spcPts val="888"/>
              </a:spcBef>
              <a:buFont typeface="Courier New" panose="02070309020205020404" pitchFamily="49" charset="0"/>
              <a:buChar char="o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88"/>
              </a:spcBef>
            </a:pPr>
            <a:r>
              <a:rPr lang="en-US" altLang="en-US" sz="2400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Direct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lvl="2">
              <a:spcBef>
                <a:spcPts val="888"/>
              </a:spcBef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Successive approximation type DVM</a:t>
            </a:r>
          </a:p>
          <a:p>
            <a:pPr lvl="2">
              <a:spcBef>
                <a:spcPts val="888"/>
              </a:spcBef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Staircase ramp DVM</a:t>
            </a:r>
          </a:p>
        </p:txBody>
      </p:sp>
    </p:spTree>
    <p:extLst>
      <p:ext uri="{BB962C8B-B14F-4D97-AF65-F5344CB8AC3E}">
        <p14:creationId xmlns:p14="http://schemas.microsoft.com/office/powerpoint/2010/main" val="396317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Resolution and Sensitivity of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60351" y="1367406"/>
                <a:ext cx="8875553" cy="5106546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: The resolution of a DVM is  determined by the number of full or active digits used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is number of full digits then </a:t>
                </a:r>
              </a:p>
              <a:p>
                <a:pPr marL="0" indent="0" algn="ctr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Resolution, R  = 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, </a:t>
                </a:r>
              </a:p>
              <a:p>
                <a:pPr marL="0" indent="0" algn="just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 if n = 3 then R = 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0.001 or 0.1%</a:t>
                </a:r>
              </a:p>
              <a:p>
                <a:pPr algn="just"/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Sensitivity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Sensitivity is the smallest change in input which a digital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meter is  able 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to detect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Hence, sensitivity is the full scale value of the lowest voltage range multiplied by the meter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Sensitivity, 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𝑓𝑆</m:t>
                            </m:r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x R</a:t>
                </a:r>
              </a:p>
              <a:p>
                <a:pPr marL="0" indent="0" algn="just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𝑓𝑆</m:t>
                            </m:r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is a lowest full scale of the meter</a:t>
                </a:r>
              </a:p>
              <a:p>
                <a:pPr marL="0" indent="0" algn="just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   R is a resolution expressed in decimal </a:t>
                </a: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60351" y="1367406"/>
                <a:ext cx="8875553" cy="5106546"/>
              </a:xfrm>
              <a:blipFill>
                <a:blip r:embed="rId2"/>
                <a:stretch>
                  <a:fillRect l="-962" t="-1671" r="-1030" b="-1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63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Resolution and Sensitivity of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1600200"/>
                <a:ext cx="8001000" cy="4873752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Example1: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What is the resolution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digit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display 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on 1V and 10V ranges?</a:t>
                </a:r>
              </a:p>
              <a:p>
                <a:pPr algn="just"/>
                <a:r>
                  <a:rPr lang="en-US" b="1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Solution: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Number of full digit = 3 therefore resolution R 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 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= 0.001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Hence the meter cannot distinguish between values that differ from each other by less than 0.001 of full scale.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For full scale range reading of 1V, the resolution is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 x 0.001 = 0.001V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full scale range reading of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10V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the resolution is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10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x 0.001 =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0.01V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Hence on 10V scale, the meter cannot distinguish between readings that differ by less than 0.01V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1600200"/>
                <a:ext cx="8001000" cy="4873752"/>
              </a:xfrm>
              <a:blipFill>
                <a:blip r:embed="rId2"/>
                <a:stretch>
                  <a:fillRect l="-1142" t="-3129" r="-1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528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Resolution and Sensitivity of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DVM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75982" y="1600200"/>
                <a:ext cx="9130018" cy="5257800"/>
              </a:xfrm>
            </p:spPr>
            <p:txBody>
              <a:bodyPr>
                <a:normAutofit fontScale="55000" lnSpcReduction="20000"/>
              </a:bodyPr>
              <a:lstStyle/>
              <a:p>
                <a:pPr algn="just"/>
                <a:r>
                  <a:rPr lang="en-US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Example2: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-digit voltmeter is used for voltage measurements.</a:t>
                </a:r>
              </a:p>
              <a:p>
                <a:pPr marL="514350" indent="-514350" algn="just">
                  <a:buAutoNum type="romanLcParenBoth"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Find resolution</a:t>
                </a:r>
              </a:p>
              <a:p>
                <a:pPr marL="514350" indent="-514350" algn="just">
                  <a:buAutoNum type="romanLcParenBoth"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How would 12.98V be displayed on a 10V range?</a:t>
                </a:r>
              </a:p>
              <a:p>
                <a:pPr marL="514350" indent="-514350" algn="just">
                  <a:buAutoNum type="romanLcParenBoth"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How would 0.6973V be displayed on 1V and 10V range?</a:t>
                </a:r>
              </a:p>
              <a:p>
                <a:pPr algn="just"/>
                <a:r>
                  <a:rPr lang="en-US" b="1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Solution: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(i)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= 0.0001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(ii)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There are 5 digit places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digits, therefore 12.98 would be displayed as 12.980.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&gt;Resolution on 10V range = 10 X 0.0001 = 0.001. 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&gt;Any reading up to 3</a:t>
                </a:r>
                <a:r>
                  <a:rPr lang="en-US" baseline="300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rd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decimal place can be displayed.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&gt;Hence 12.98 can be displayed as 12.980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(iii)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on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1V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range =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 X 0.0001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0.0001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&gt;Any reading up to 4</a:t>
                </a:r>
                <a:r>
                  <a:rPr lang="en-US" baseline="300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decimal place can be displayed</a:t>
                </a: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0.6973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can be displayed as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0.6973</a:t>
                </a:r>
              </a:p>
              <a:p>
                <a:pPr marL="0" indent="0" algn="just">
                  <a:buNone/>
                </a:pPr>
                <a:endParaRPr lang="en-US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&gt;Resolution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on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10V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range =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10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X 0.0001 =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0.001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 &gt;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Any reading up to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  <a:r>
                  <a:rPr lang="en-US" baseline="300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rd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decimal place can be displayed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 &gt;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 0.6973 can be displayed as </a:t>
                </a:r>
                <a:r>
                  <a:rPr lang="en-US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0.697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75982" y="1600200"/>
                <a:ext cx="9130018" cy="5257800"/>
              </a:xfrm>
              <a:blipFill>
                <a:blip r:embed="rId2"/>
                <a:stretch>
                  <a:fillRect l="-267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33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DIGITAL MULTIMETER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he digital  multimeter (DMM) 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is  an  instrument  w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hich  is capable of measuring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dc voltages, ac and dc currents and several ranges of resistances.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DMM display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measured voltage using LCD or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LED.</a:t>
            </a: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DMM displays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results in floating point </a:t>
            </a: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format. </a:t>
            </a:r>
          </a:p>
          <a:p>
            <a:pPr algn="just"/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basic circuit of DMM is always a dc voltage as shown in the next figure.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69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DIGITAL </a:t>
            </a: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MULTIMETER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824885" y="2057400"/>
            <a:ext cx="7780230" cy="259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58373" y="4852292"/>
            <a:ext cx="29132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Basic circuit of DMM </a:t>
            </a:r>
          </a:p>
        </p:txBody>
      </p:sp>
    </p:spTree>
    <p:extLst>
      <p:ext uri="{BB962C8B-B14F-4D97-AF65-F5344CB8AC3E}">
        <p14:creationId xmlns:p14="http://schemas.microsoft.com/office/powerpoint/2010/main" val="210838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DIGITAL MULTIMETER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are  now  aware that  the  basic circuit of a digital  multimeter  is  always  a dc  voltmeter.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 following  arrangements  are made for  measuring  various parameters.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 current  is  converted  to  voltage by passing it  through  low  shunt  resistor.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 ac quantities  are  converted  to  dc by employing  various  rectifier  and 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filtering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circuits.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 resistance  measurements  the  meter consists  of a  precision  low  current  source  that 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is applied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across  the  unknown  resistance  which  gives  dc  voltages.</a:t>
            </a:r>
          </a:p>
          <a:p>
            <a:pPr algn="just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All the  measured  quantities  are  digitized using  analog  to  digital converter  and 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displayed form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on  the 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display.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0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DIGITAL MULTIMETER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65553" y="6237809"/>
            <a:ext cx="53351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Block  diagram  of a digital  multimeter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539989"/>
            <a:ext cx="7531794" cy="4647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29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Parts of a DMM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81" y="1345780"/>
            <a:ext cx="10473655" cy="5512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59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1" y="55387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Resolution, digits and counts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973123" y="1600200"/>
                <a:ext cx="10167457" cy="487375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Resolution refers to the smallest change in value that can be measured.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Digits and counts are used to describe a multimeter’s resolution.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digit meter can display 3 full digits (ranging from 0 to 9) and one “half” digit which display only two symbols (0&amp;1) with maximum value of 1. Thus 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-digit meter can display up to 1,999(2000 counts)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-</a:t>
                </a: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digit meter can display up to 19,999 (20,000)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- digit meter can display up to 3,999 (4,000)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 2000/20000- count meter may have volt ranges of 200mV, 2V, 20V, 200V, 750V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As the range increase, resolution decrease.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DMM are built with 3200, 4000 or 6000 counts.</a:t>
                </a: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73123" y="1600200"/>
                <a:ext cx="10167457" cy="4873752"/>
              </a:xfrm>
              <a:blipFill>
                <a:blip r:embed="rId2"/>
                <a:stretch>
                  <a:fillRect l="-839" t="-1752" r="-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"/>
            <a:ext cx="1981200" cy="102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4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Advantages  of  digital  multimeter over  analog  </a:t>
            </a:r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multimeters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81200" y="1600200"/>
            <a:ext cx="8001000" cy="48737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No loading effect since input impedance is very high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2. Very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high accuracy.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3. An unambiguous  reading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4. Cost is  less  due to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improvement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 the  integrated  technology.</a:t>
            </a:r>
          </a:p>
          <a:p>
            <a:pPr marL="0" indent="0" algn="just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5.  Available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 very  small 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size.</a:t>
            </a:r>
          </a:p>
          <a:p>
            <a:pPr marL="0" indent="0" algn="just">
              <a:buNone/>
            </a:pPr>
            <a:r>
              <a:rPr lang="en-US" alt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6. Has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very good resolution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8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8800" dirty="0" smtClean="0">
                <a:latin typeface="Cambria" panose="02040503050406030204" pitchFamily="18" charset="0"/>
                <a:ea typeface="Cambria" panose="02040503050406030204" pitchFamily="18" charset="0"/>
              </a:rPr>
              <a:t>???</a:t>
            </a:r>
            <a:endParaRPr lang="en-US" sz="8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2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4790</TotalTime>
  <Words>546</Words>
  <Application>Microsoft Office PowerPoint</Application>
  <PresentationFormat>Widescreen</PresentationFormat>
  <Paragraphs>125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Cambria Math</vt:lpstr>
      <vt:lpstr>Courier New</vt:lpstr>
      <vt:lpstr>Tahoma</vt:lpstr>
      <vt:lpstr>Times New Roman</vt:lpstr>
      <vt:lpstr>Wingdings</vt:lpstr>
      <vt:lpstr>Office Theme</vt:lpstr>
      <vt:lpstr>ELECTRONIC METERS</vt:lpstr>
      <vt:lpstr>PowerPoint Presentation</vt:lpstr>
      <vt:lpstr>Outline</vt:lpstr>
      <vt:lpstr>Digital voltmeter (DVM)</vt:lpstr>
      <vt:lpstr>Comparison of Digital and analog meter</vt:lpstr>
      <vt:lpstr>Advantages of DVM</vt:lpstr>
      <vt:lpstr>CHARACTERISTICS FEATURES OF DVMs</vt:lpstr>
      <vt:lpstr>Types of DVM</vt:lpstr>
      <vt:lpstr>CLASSIFICATION OF DVM</vt:lpstr>
      <vt:lpstr>Resolution and Sensitivity of DVM</vt:lpstr>
      <vt:lpstr>Resolution and Sensitivity of DVM</vt:lpstr>
      <vt:lpstr>Resolution and Sensitivity of DVM</vt:lpstr>
      <vt:lpstr>DIGITAL MULTIMETER</vt:lpstr>
      <vt:lpstr>DIGITAL MULTIMETER</vt:lpstr>
      <vt:lpstr>DIGITAL MULTIMETER</vt:lpstr>
      <vt:lpstr>DIGITAL MULTIMETER</vt:lpstr>
      <vt:lpstr>Parts of a DMM</vt:lpstr>
      <vt:lpstr>Resolution, digits and counts</vt:lpstr>
      <vt:lpstr>Advantages  of  digital  multimeter over  analog  multimeters</vt:lpstr>
      <vt:lpstr>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ETD 06102: INSTRUMENTATION</dc:title>
  <dc:creator>hp</dc:creator>
  <cp:lastModifiedBy>hp</cp:lastModifiedBy>
  <cp:revision>85</cp:revision>
  <dcterms:created xsi:type="dcterms:W3CDTF">2021-11-17T19:29:25Z</dcterms:created>
  <dcterms:modified xsi:type="dcterms:W3CDTF">2021-12-10T16:31:52Z</dcterms:modified>
</cp:coreProperties>
</file>