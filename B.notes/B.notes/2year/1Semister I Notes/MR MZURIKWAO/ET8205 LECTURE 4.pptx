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301" r:id="rId5"/>
    <p:sldId id="302" r:id="rId6"/>
    <p:sldId id="303" r:id="rId7"/>
    <p:sldId id="304" r:id="rId8"/>
    <p:sldId id="305" r:id="rId9"/>
    <p:sldId id="307" r:id="rId10"/>
    <p:sldId id="306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30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3261" autoAdjust="0"/>
  </p:normalViewPr>
  <p:slideViewPr>
    <p:cSldViewPr snapToGrid="0">
      <p:cViewPr>
        <p:scale>
          <a:sx n="60" d="100"/>
          <a:sy n="60" d="100"/>
        </p:scale>
        <p:origin x="91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78AC9-2822-4214-9469-62C4CB4573E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42F46-AB7C-4275-BD4D-9D1BC0886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2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A42F46-AB7C-4275-BD4D-9D1BC08862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6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29D33-3351-44C2-8879-7352DF19FA7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447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1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4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4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9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7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13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0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7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8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23E09-3C6C-4646-A76E-681978791A77}" type="datetimeFigureOut">
              <a:rPr lang="en-US" smtClean="0"/>
              <a:t>12/6/2021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7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ANALOGUE 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By </a:t>
            </a:r>
          </a:p>
          <a:p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Candida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Nakida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Mwisomba</a:t>
            </a:r>
            <a:endParaRPr 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0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352800" y="381000"/>
            <a:ext cx="6172200" cy="1371600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ANALOG ELECTRONIC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MEASURING METERS</a:t>
            </a:r>
            <a:endParaRPr lang="en-US" sz="3200" b="1" cap="small" dirty="0"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2222" r="10001" b="2222"/>
          <a:stretch/>
        </p:blipFill>
        <p:spPr>
          <a:xfrm rot="858458">
            <a:off x="5354037" y="1948597"/>
            <a:ext cx="2895600" cy="36090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05001" y="5753601"/>
            <a:ext cx="8451761" cy="38636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88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utline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Basic principles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DC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Voltmeters,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DC 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eters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AC Ammeters,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Ohmmeters</a:t>
            </a:r>
          </a:p>
        </p:txBody>
      </p:sp>
    </p:spTree>
    <p:extLst>
      <p:ext uri="{BB962C8B-B14F-4D97-AF65-F5344CB8AC3E}">
        <p14:creationId xmlns:p14="http://schemas.microsoft.com/office/powerpoint/2010/main" val="130721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Analogue 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Analogue meters are electromechanical devices that drive a pointer against a scale.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They are prone to measurement errors from a number of sources that include inaccurate scale marking during manufacture, bearing friction, bent pointers and ambient temperature variations.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Further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human errors are introduced through parallax error (not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reading 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scale from directly above) and mistakes in interpolating between scale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markings.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18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Moving-coil meters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moving-coil meter is a very commonly used form of analogue voltmeter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because of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its sensitivity, accuracy and linear scale, although it only responds to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d.c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signals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consists of a rectangular coil wound round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soft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iron core that is suspended in the field of a permanent magnet. The signal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being measured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is applied to the coil and this produces a radial magnetic field.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Interaction between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induced field and the field produced by the permanent magnet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causes a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torque, which results in rotation of the coil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amount of rotation of the coil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is measured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by attaching a pointer to it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that moves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past a graduated scale.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36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Moving-coil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meters…</a:t>
            </a:r>
            <a:r>
              <a:rPr lang="en-US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1197" y="1882151"/>
            <a:ext cx="52416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84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Moving-coil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meters…</a:t>
            </a:r>
            <a:r>
              <a:rPr lang="en-US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As the basic instrument operates at low current levels of one milliamp or so, it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is only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suitable for measuring voltages up to around 2 volts.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there is a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requirement to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measure higher voltages, the measuring range of the instrument can be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increased by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placing a resistance in series with the coil, such that only a known proportion of the applied voltage is measured by the meter.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situation the added resistance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is known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as a shunting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resistor.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5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Moving-iron 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As well as measuring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d.c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signals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the moving-iron meter can also measure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a.c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signals at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frequencies up to 125 Hz.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is the cheapest form of meter available and, consequently, this type of meter is also commonly used for measuring voltage signals.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signal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to be measured is applied to a stationary coil, and the associated field produced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is often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amplified by the presence of an iron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structure associated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with the fixed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coil.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moving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element in the instrument consists of an iron vane that is suspended within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field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of the fixed coil. When the fixed coil is excited, the iron vane turns in a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direction that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increases the flux through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it.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7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Moving-iron meters…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instrument can typically measure voltages in the range of 0 to 30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volts. However, it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can be modified to measure higher voltages by placing a resistance in series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with it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as in the case of moving coil meters.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series resistance is particularly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beneficial in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a.c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signal measurements because it compensates for the effect of coil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inductance by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reducing the total resistance/inductance ratio, and hence measurement accuracy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is improved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666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Moving-iron meters…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Attraction type</a:t>
            </a:r>
          </a:p>
          <a:p>
            <a:pPr marL="514350" indent="-514350">
              <a:buAutoNum type="alphaLcParenR"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Repulsion type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280" y="2243075"/>
            <a:ext cx="8361539" cy="42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4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Basic meter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basic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d.c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meter uses a monitoring principle for its operation.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states that any current carrying coil placed in a magnetic field experiences a force, which is proportional to the magnitude of current passing through the coil.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This movement of the coil is called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D’Arsonval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movement and basic meter is called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D’Arsonval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galvanometer. 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0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instruments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(a)Using shunt resistance, d.c current can be measured.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instrument is d.c microammeter, milliammeter or ammeter.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(b)Using series resistance called multiplier, d.c  voltage can be measured.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instrument is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d.c millivoltmeter, voltmeter or kilovoltmeter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(c)Using a battery and resistive network, resistance can be measured.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instrument is ohmmeter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06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AC instruments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(a)Using a rectifier, a.c voltages an be measured, at power and audio frequencies. 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instrument is a.c voltmeter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(b)Using a thermocouple type meter radio frequency (RF) voltage or current can be measured.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(c)Using a thermistor in a resistive bridge network, expanded scale for power line voltage can be obtained.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4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Basic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DC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voltmeter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basic d.c voltmeter is nothing but a permanent magnet moving coil (PMMC) D’ Arsonval galvanometer.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resistance is required to be connected in series with the basic meter to use it as a voltmeter.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series resistance is called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ultiplier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main function of the multiplier is to limit the current through the basic meter so that the meter current does not exceed the full scale deflection value.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voltmeter measures the voltage across the two points of a circuit or a voltage across a circuit component.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47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Basic dc voltmeter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have to place this DC voltmeter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with proper polarity across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two points of an electric circuit, where the DC voltage is to be measured.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1" y="1600200"/>
            <a:ext cx="701992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Basic dc voltmeter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1524000"/>
                <a:ext cx="7467600" cy="3581400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Apply 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KVL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around the loop of above circuit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</m:oMath>
                  </m:oMathPara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i="1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1524000"/>
                <a:ext cx="7467600" cy="3581400"/>
              </a:xfrm>
              <a:blipFill>
                <a:blip r:embed="rId2"/>
                <a:stretch>
                  <a:fillRect l="-1061" t="-4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182679" y="5117805"/>
                <a:ext cx="7772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 is the series multiplier resistance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 is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full range DC voltage that is to be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measured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  is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full scale deflection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current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internal resistance of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galvanometer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679" y="5117805"/>
                <a:ext cx="7772400" cy="1569660"/>
              </a:xfrm>
              <a:prstGeom prst="rect">
                <a:avLst/>
              </a:prstGeom>
              <a:blipFill>
                <a:blip r:embed="rId3"/>
                <a:stretch>
                  <a:fillRect l="-157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92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Basic dc voltmeter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 ratio of full range DC voltage that is to be measured,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the DC voltage drop across the galvanometer,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known as multiplying factor,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Mathematically, it can be represented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as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 algn="just">
                  <a:buClr>
                    <a:srgbClr val="FE8637"/>
                  </a:buClr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b="1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full range DC voltage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that to be measured, V is expressed as </a:t>
                </a:r>
              </a:p>
              <a:p>
                <a:pPr marL="0" indent="0" algn="just">
                  <a:buClr>
                    <a:srgbClr val="FE863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>
                  <a:buClr>
                    <a:srgbClr val="FE8637"/>
                  </a:buClr>
                </a:pP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 </a:t>
                </a:r>
                <a:r>
                  <a:rPr lang="en-US" sz="2400" b="1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DC voltage drop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across the galvanometer,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expressed as</a:t>
                </a:r>
              </a:p>
              <a:p>
                <a:pPr marL="0" indent="0" algn="just">
                  <a:buClr>
                    <a:srgbClr val="FE863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 algn="just">
                  <a:buClr>
                    <a:srgbClr val="FE8637"/>
                  </a:buClr>
                </a:pPr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19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39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Basic dc voltmeter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Multiplying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factor,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can be represented as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</a:p>
              <a:p>
                <a:pPr marL="0" indent="0" algn="ctr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=1+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 algn="just">
                  <a:buClr>
                    <a:srgbClr val="FE8637"/>
                  </a:buClr>
                </a:pP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eries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multiplier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resistance,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is now be expressed as  </a:t>
                </a:r>
              </a:p>
              <a:p>
                <a:pPr marL="0" indent="0" algn="just">
                  <a:buClr>
                    <a:srgbClr val="FE863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25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Multirange DC </a:t>
            </a:r>
            <a:r>
              <a:rPr lang="en-US" b="1" dirty="0" smtClean="0"/>
              <a:t>Voltmeters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In previous section, we had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discussed DC voltmeter, which is obtained by placing a multiplier resistor in series with the PMMC galvanometer.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This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DC voltmeter can be used to measure a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particular range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DC voltages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we want to use the DC voltmeter for measuring the DC voltages of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multiple ranges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then we have to use multiple parallel multiplier resistors instead of single multiplier resistor and this entire combination of resistors is in series with the PMMC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galvanometer.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49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Multirange DC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44279" y="4674514"/>
            <a:ext cx="10733567" cy="2183487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have to place this 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multirange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DC voltmeter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across the two points of an electric circuit, where the DC voltage of required range is to be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measured.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We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can choose the desired range of voltages by connecting the switch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to the respective multiplier resistor.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2153"/>
          <a:stretch/>
        </p:blipFill>
        <p:spPr>
          <a:xfrm>
            <a:off x="2667000" y="1295401"/>
            <a:ext cx="6096000" cy="337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7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710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Multirange DC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1600200"/>
                <a:ext cx="7467600" cy="52578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be 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 multiplying factors of DC voltmeter when we consider the full range DC voltages to be measured 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respectively. </a:t>
                </a:r>
                <a:endParaRPr 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Following 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are the formulae corresponding to each multiplying factor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endParaRPr 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1600200"/>
                <a:ext cx="7467600" cy="5257800"/>
              </a:xfrm>
              <a:blipFill>
                <a:blip r:embed="rId2"/>
                <a:stretch>
                  <a:fillRect l="-1061" t="-1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015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Multirange DC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Following are the formulae corresponding to these four resistors.</a:t>
                </a:r>
              </a:p>
              <a:p>
                <a:pPr algn="just"/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17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instrument, which is used to measure the AC voltage across any two points of electric circuit is called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AC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voltmeter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AC voltmeter consists of rectifier, then it is said to be rectifier based AC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voltmeter.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DC voltmeter measures only DC voltages.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want to use it for measuring AC voltages, then we have to follow these two steps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Step1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− Convert the AC voltage signal into a DC voltage signal by using a rectifier.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Step2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− Measure the DC or average value of the rectifier’s output signal.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61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get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Rectifier based AC voltmeter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just by including the rectifier circuit to the basic DC voltmeter.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Types of Rectifier based AC </a:t>
            </a:r>
            <a:r>
              <a:rPr lang="en-US" sz="2400" b="1" u="sng" dirty="0" smtClean="0">
                <a:latin typeface="Cambria" panose="02040503050406030204" pitchFamily="18" charset="0"/>
                <a:ea typeface="Cambria" panose="02040503050406030204" pitchFamily="18" charset="0"/>
              </a:rPr>
              <a:t>Voltmeters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AC voltmeter using Half Wave Rectifier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AC voltmeter using Full Wave Rectifier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04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AC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Voltmeter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using Half Wave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Rectifier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a Half wave rectifier is connected ahead of DC voltmeter, then that entire combination together is called AC voltmeter using Half wave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rectifier.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block diagram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AC voltmeter using Half wave rectifier is shown in below figure.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977656" y="4561368"/>
            <a:ext cx="1298944" cy="1687032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 input Voltage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810000" y="4572000"/>
            <a:ext cx="1484128" cy="1676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Half wave rectifier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93072" y="4566684"/>
            <a:ext cx="1484128" cy="1676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DC Voltmeter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10600" y="4561368"/>
            <a:ext cx="1298944" cy="1676400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Meter reading output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4" idx="3"/>
            <a:endCxn id="5" idx="1"/>
          </p:cNvCxnSpPr>
          <p:nvPr/>
        </p:nvCxnSpPr>
        <p:spPr>
          <a:xfrm>
            <a:off x="3276600" y="5404884"/>
            <a:ext cx="533400" cy="53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3"/>
            <a:endCxn id="6" idx="1"/>
          </p:cNvCxnSpPr>
          <p:nvPr/>
        </p:nvCxnSpPr>
        <p:spPr>
          <a:xfrm flipV="1">
            <a:off x="5294128" y="5404884"/>
            <a:ext cx="1298944" cy="53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</p:cNvCxnSpPr>
          <p:nvPr/>
        </p:nvCxnSpPr>
        <p:spPr>
          <a:xfrm flipV="1">
            <a:off x="8077200" y="5388936"/>
            <a:ext cx="528084" cy="159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99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251" y="40833"/>
            <a:ext cx="10515600" cy="79914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87079" y="707065"/>
                <a:ext cx="11275827" cy="584613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</a:t>
                </a:r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circuit diagram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of AC voltmeter using Half wave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rectifier</a:t>
                </a:r>
              </a:p>
              <a:p>
                <a:pPr algn="just"/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</a:t>
                </a:r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rms value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of sinusoidal (AC) input voltage signal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is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=1.414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is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maximum value of sinusoidal (AC) input voltage signal.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87079" y="707065"/>
                <a:ext cx="11275827" cy="5846135"/>
              </a:xfrm>
              <a:blipFill>
                <a:blip r:embed="rId2"/>
                <a:stretch>
                  <a:fillRect l="-703" t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3010981" y="1227802"/>
            <a:ext cx="5075081" cy="240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7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118651" cy="9373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127051" y="1600200"/>
                <a:ext cx="10701669" cy="51054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 </a:t>
                </a:r>
                <a:r>
                  <a:rPr 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DC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 or average value of the Half wave rectifier’s output signal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  substitute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in above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equation</a:t>
                </a:r>
              </a:p>
              <a:p>
                <a:pPr marL="0" indent="0" algn="just">
                  <a:buNone/>
                </a:pPr>
                <a:endParaRPr 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Clr>
                    <a:srgbClr val="FE863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1.414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𝑟𝑚𝑠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Clr>
                    <a:srgbClr val="FE8637"/>
                  </a:buClr>
                  <a:buNone/>
                </a:pPr>
                <a:endParaRPr 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Clr>
                    <a:srgbClr val="FE863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0.45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 algn="just">
                  <a:buClr>
                    <a:srgbClr val="FE8637"/>
                  </a:buClr>
                </a:pP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Therefore, the AC voltmeter produces an output voltage, which is equal to </a:t>
                </a:r>
                <a:r>
                  <a:rPr 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0.45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 times the </a:t>
                </a:r>
                <a:r>
                  <a:rPr lang="en-US" sz="2400" b="1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rms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value of the sinusoidal (AC) input voltage signal</a:t>
                </a:r>
              </a:p>
              <a:p>
                <a:pPr marL="0" indent="0" algn="just">
                  <a:buNone/>
                </a:pPr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127051" y="1600200"/>
                <a:ext cx="10701669" cy="5105400"/>
              </a:xfrm>
              <a:blipFill>
                <a:blip r:embed="rId2"/>
                <a:stretch>
                  <a:fillRect l="-798" t="-1673" r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46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94358" cy="82040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185530"/>
            <a:ext cx="10515600" cy="49914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 using Full Wave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Rectifier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a Full wave rectifier is connected ahead of DC voltmeter, then that entire combination together is called AC voltmeter using Full wave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rectifier.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block diagram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AC voltmeter using Full wave rectifier is shown in below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figure.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977656" y="4561368"/>
            <a:ext cx="1298944" cy="1687032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 input Voltage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810000" y="4572000"/>
            <a:ext cx="1484128" cy="1676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 wave rectifier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93072" y="4566684"/>
            <a:ext cx="1484128" cy="1676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DC Voltmeter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10600" y="4561368"/>
            <a:ext cx="1298944" cy="1676400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Meter reading output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4" idx="3"/>
            <a:endCxn id="5" idx="1"/>
          </p:cNvCxnSpPr>
          <p:nvPr/>
        </p:nvCxnSpPr>
        <p:spPr>
          <a:xfrm>
            <a:off x="3276600" y="5404884"/>
            <a:ext cx="533400" cy="53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3"/>
            <a:endCxn id="6" idx="1"/>
          </p:cNvCxnSpPr>
          <p:nvPr/>
        </p:nvCxnSpPr>
        <p:spPr>
          <a:xfrm flipV="1">
            <a:off x="5294128" y="5404884"/>
            <a:ext cx="1298944" cy="53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</p:cNvCxnSpPr>
          <p:nvPr/>
        </p:nvCxnSpPr>
        <p:spPr>
          <a:xfrm flipV="1">
            <a:off x="8077200" y="5388936"/>
            <a:ext cx="528084" cy="159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89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895367" cy="73534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483242"/>
            <a:ext cx="10515600" cy="4693721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So, the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circuit diagram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AC voltmeter using Full wave rectifier will look like as shown in below figure.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1" y="3009122"/>
            <a:ext cx="7008131" cy="346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1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118651" cy="86825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 </a:t>
                </a:r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rms value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of sinusoidal (AC) input voltage signal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is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=1.414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maximum value of sinusoidal (AC) input voltage signal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 algn="just">
                  <a:buClr>
                    <a:srgbClr val="FE8637"/>
                  </a:buClr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 </a:t>
                </a:r>
                <a:r>
                  <a:rPr lang="en-US" sz="2400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DC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 or average value of the Full wave rectifier’s output signal is</a:t>
                </a:r>
              </a:p>
              <a:p>
                <a:pPr lvl="0" algn="just">
                  <a:buClr>
                    <a:srgbClr val="FE8637"/>
                  </a:buClr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Clr>
                    <a:srgbClr val="FE8637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06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948530" cy="87356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Voltmeters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Substitute,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in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previous equation</a:t>
                </a:r>
              </a:p>
              <a:p>
                <a:pPr algn="just"/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1.414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𝑑𝑐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0.9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Therefore, the AC voltmeter produces an output voltage, which is equal to </a:t>
                </a:r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0.9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 times the rms value of the sinusoidal (AC) input voltage signal.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928" t="-19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59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092070" cy="78319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50335"/>
            <a:ext cx="10515600" cy="482662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Current is the rate of flow of electric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charge.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electric charge flows only in one direction, then the resultant current is called Direct Current (DC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instrument, which is used to measure the Direct Current called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DC ammeter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we place a resistor in parallel with the Permanent Magnet Moving Coil (PMMC) galvanometer, then the entire combination acts as DC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parallel resistance, which is used in DC ammeter is also called shunt resistance or simply, 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shunt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value of this resistance should be considered small in order to measure the DC current of large value.</a:t>
            </a:r>
          </a:p>
        </p:txBody>
      </p:sp>
    </p:spTree>
    <p:extLst>
      <p:ext uri="{BB962C8B-B14F-4D97-AF65-F5344CB8AC3E}">
        <p14:creationId xmlns:p14="http://schemas.microsoft.com/office/powerpoint/2010/main" val="118645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circuit diagram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DC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have to place this DC ammeter in series with the branch of an electric circuit, where the DC current is to be measured.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voltage across the elements, which are connected in parallel is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same.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266" name="Picture 2" descr="circuit diagram of DC ammete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0" r="6666"/>
          <a:stretch/>
        </p:blipFill>
        <p:spPr bwMode="auto">
          <a:xfrm>
            <a:off x="2920409" y="2396179"/>
            <a:ext cx="5105400" cy="230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36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So, the voltage across shunt resistor,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𝒔𝒉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the voltage across galvanometer resistance,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 same, since those two elements are connected in parallel in above circuit. </a:t>
                </a: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Mathematically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it can be written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as</a:t>
                </a:r>
              </a:p>
              <a:p>
                <a:pPr algn="just"/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19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86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The </a:t>
                </a:r>
                <a:r>
                  <a:rPr lang="en-US" b="1" dirty="0"/>
                  <a:t>KCL equation</a:t>
                </a:r>
                <a:r>
                  <a:rPr lang="en-US" dirty="0"/>
                  <a:t> at node 1 </a:t>
                </a:r>
                <a:r>
                  <a:rPr lang="en-US" dirty="0" smtClean="0"/>
                  <a:t>is</a:t>
                </a:r>
              </a:p>
              <a:p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  substitute </a:t>
                </a:r>
                <a:r>
                  <a:rPr lang="en-US" dirty="0"/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𝑠h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7010400" y="4648200"/>
                <a:ext cx="3200400" cy="1944624"/>
              </a:xfrm>
              <a:prstGeom prst="rect">
                <a:avLst/>
              </a:prstGeom>
            </p:spPr>
            <p:txBody>
              <a:bodyPr vert="horz">
                <a:normAutofit fontScale="850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0000"/>
                  <a:buFont typeface="Wingdings"/>
                  <a:buChar char="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7432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182880" algn="l" rtl="0" eaLnBrk="1" latinLnBrk="0" hangingPunct="1">
                  <a:spcBef>
                    <a:spcPct val="20000"/>
                  </a:spcBef>
                  <a:buClr>
                    <a:schemeClr val="accent1">
                      <a:shade val="75000"/>
                    </a:schemeClr>
                  </a:buClr>
                  <a:buSzPct val="60000"/>
                  <a:buFont typeface="Wingdings"/>
                  <a:buChar char="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88720" indent="-182880" algn="l" rtl="0" eaLnBrk="1" latinLnBrk="0" hangingPunct="1">
                  <a:spcBef>
                    <a:spcPct val="20000"/>
                  </a:spcBef>
                  <a:buClr>
                    <a:schemeClr val="accent1">
                      <a:tint val="60000"/>
                    </a:schemeClr>
                  </a:buClr>
                  <a:buSzPct val="60000"/>
                  <a:buFont typeface="Wingdings"/>
                  <a:buChar char="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63040" indent="-182880" algn="l" rtl="0" eaLnBrk="1" latinLnBrk="0" hangingPunct="1">
                  <a:spcBef>
                    <a:spcPct val="20000"/>
                  </a:spcBef>
                  <a:buClr>
                    <a:schemeClr val="accent2">
                      <a:tint val="60000"/>
                    </a:schemeClr>
                  </a:buClr>
                  <a:buSzPct val="68000"/>
                  <a:buFont typeface="Wingdings 2"/>
                  <a:buChar char="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0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011680" indent="-182880" algn="l" rtl="0" eaLnBrk="1" latinLnBrk="0" hangingPunct="1">
                  <a:spcBef>
                    <a:spcPct val="20000"/>
                  </a:spcBef>
                  <a:buClr>
                    <a:schemeClr val="accent1">
                      <a:tint val="60000"/>
                    </a:schemeClr>
                  </a:buClr>
                  <a:buSzPct val="60000"/>
                  <a:buFont typeface="Wingdings"/>
                  <a:buChar char=""/>
                  <a:defRPr kumimoji="0"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286000" indent="-18288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kumimoji="0" sz="1400" kern="1200" cap="small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560320" indent="-182880" algn="l" rtl="0" eaLnBrk="1" latinLnBrk="0" hangingPunct="1">
                  <a:spcBef>
                    <a:spcPct val="20000"/>
                  </a:spcBef>
                  <a:buClr>
                    <a:schemeClr val="accent1">
                      <a:shade val="75000"/>
                    </a:schemeClr>
                  </a:buClr>
                  <a:buChar char="•"/>
                  <a:defRPr kumimoji="0"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800" dirty="0"/>
                  <a:t>Where,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𝒔𝒉</m:t>
                        </m:r>
                      </m:sub>
                    </m:sSub>
                  </m:oMath>
                </a14:m>
                <a:r>
                  <a:rPr lang="en-US" sz="1800" dirty="0"/>
                  <a:t> is the shunt </a:t>
                </a:r>
                <a:r>
                  <a:rPr lang="en-US" sz="1800" dirty="0"/>
                  <a:t>resistance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1800" dirty="0"/>
                  <a:t> is the internal resistance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of galvanometer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is the total Direct Current that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is </a:t>
                </a:r>
                <a:r>
                  <a:rPr lang="en-US" sz="1800" dirty="0"/>
                  <a:t>to be </a:t>
                </a:r>
                <a:r>
                  <a:rPr lang="en-US" sz="1800" dirty="0"/>
                  <a:t>measured</a:t>
                </a:r>
                <a:endParaRPr lang="en-US" sz="1800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1800" dirty="0"/>
                  <a:t> is the full scale deflection current</a:t>
                </a:r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4648200"/>
                <a:ext cx="3200400" cy="1944624"/>
              </a:xfrm>
              <a:prstGeom prst="rect">
                <a:avLst/>
              </a:prstGeom>
              <a:blipFill>
                <a:blip r:embed="rId3"/>
                <a:stretch>
                  <a:fillRect l="-762" t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95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 ratio of total Direct Current that is to be measured,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and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full scale deflection current of the galvanometer,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 known as multiplying factor,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Mathematically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it can be represented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as</a:t>
                </a:r>
              </a:p>
              <a:p>
                <a:pPr algn="just"/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 then</a:t>
                </a:r>
                <a:endParaRPr lang="en-US" sz="2400" b="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19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17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Multi Range DC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we want to use the DC ammeter for measuring the Direct Currents of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multiple ranges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then we have to use multiple parallel resistors instead of single resistor and this entire combination of resistors is in parallel to the PMMC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galvanometer.</a:t>
            </a:r>
          </a:p>
        </p:txBody>
      </p:sp>
    </p:spTree>
    <p:extLst>
      <p:ext uri="{BB962C8B-B14F-4D97-AF65-F5344CB8AC3E}">
        <p14:creationId xmlns:p14="http://schemas.microsoft.com/office/powerpoint/2010/main" val="306808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Ammeters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circuit diagram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multi range DC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 descr="Circuit Diagram of Multi Range DC Amme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667000"/>
            <a:ext cx="6477000" cy="3529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43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Ammeters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Place this multi range DC ammeter in series with the branch of an electric circuit, where the Direct Current of required range is to be measured. 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desired range of currents is chosen by connecting the switch, </a:t>
                </a:r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s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to the respective shunt resistor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be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multiplying factors of DC ammeter when we consider the total Direct Currents to be measured 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respectively.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19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2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Ammeters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Following are the formulae corresponding to each multiplying factor.</a:t>
                </a:r>
              </a:p>
              <a:p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29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DC Ammeters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Following are the formulae corresponding to these four resistors.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44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Ammeter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Current is the rate of flow of electric charge. If the direction of this electric charge changes regularly, then the resultant current is called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Alternating Current (AC)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instrument, which is used to measure the Alternating Current that flows through any branch of electric circuit is called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AC ammeter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 Example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− Thermocouple type AC ammeter.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00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Ammeter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Thermocouple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type AC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a Thermocouple is connected ahead of PMMC galvanometer, then that entire combination is called thermocouple type AC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block diagram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thermocouple type AC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ammeter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901456" y="4256568"/>
            <a:ext cx="1298944" cy="1687032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 input current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733800" y="4648200"/>
            <a:ext cx="1905000" cy="914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Thermocouple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4419600"/>
            <a:ext cx="1828800" cy="13716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PMMC galvanometer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4256568"/>
            <a:ext cx="1298944" cy="1676400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Meter reading output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4" idx="3"/>
            <a:endCxn id="5" idx="1"/>
          </p:cNvCxnSpPr>
          <p:nvPr/>
        </p:nvCxnSpPr>
        <p:spPr>
          <a:xfrm>
            <a:off x="3200400" y="5100084"/>
            <a:ext cx="533400" cy="53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3"/>
            <a:endCxn id="6" idx="1"/>
          </p:cNvCxnSpPr>
          <p:nvPr/>
        </p:nvCxnSpPr>
        <p:spPr>
          <a:xfrm>
            <a:off x="5638800" y="5105400"/>
            <a:ext cx="762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</p:cNvCxnSpPr>
          <p:nvPr/>
        </p:nvCxnSpPr>
        <p:spPr>
          <a:xfrm flipV="1">
            <a:off x="8229600" y="5100084"/>
            <a:ext cx="533400" cy="53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08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Ammeter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he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circuit diagram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of thermocouple type AC ammeter 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Thermocouple generates an EMF,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whenever the Alternating Current, I flows through heater element.</a:t>
            </a:r>
          </a:p>
        </p:txBody>
      </p:sp>
      <p:pic>
        <p:nvPicPr>
          <p:cNvPr id="3074" name="Picture 2" descr="Circuit Diagram of Thermocouple Type AC amme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1" y="2514600"/>
            <a:ext cx="6225699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65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AC Ammeter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EMF, e is directly proportional to the rms value of the current, I that is flowing through heater element.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we have to calibrate the scale of PMMC instrument to read rms values of current.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1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QUESTIONS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600" dirty="0"/>
              <a:t>           </a:t>
            </a:r>
          </a:p>
          <a:p>
            <a:pPr>
              <a:buNone/>
            </a:pPr>
            <a:r>
              <a:rPr lang="en-US" sz="6600" dirty="0"/>
              <a:t>   			 </a:t>
            </a:r>
            <a:r>
              <a:rPr lang="en-US" sz="6600" dirty="0" smtClean="0"/>
              <a:t>         </a:t>
            </a:r>
            <a:r>
              <a:rPr lang="en-US" sz="6600" dirty="0" smtClean="0">
                <a:latin typeface="Cambria" panose="02040503050406030204" pitchFamily="18" charset="0"/>
                <a:ea typeface="Cambria" panose="02040503050406030204" pitchFamily="18" charset="0"/>
              </a:rPr>
              <a:t>???</a:t>
            </a:r>
            <a:endParaRPr lang="en-US" sz="6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18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3231</TotalTime>
  <Words>1382</Words>
  <Application>Microsoft Office PowerPoint</Application>
  <PresentationFormat>Widescreen</PresentationFormat>
  <Paragraphs>298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Light</vt:lpstr>
      <vt:lpstr>Cambria</vt:lpstr>
      <vt:lpstr>Cambria Math</vt:lpstr>
      <vt:lpstr>Wingdings</vt:lpstr>
      <vt:lpstr>Office Theme</vt:lpstr>
      <vt:lpstr>ANALOGUE METERS</vt:lpstr>
      <vt:lpstr>PowerPoint Presentation</vt:lpstr>
      <vt:lpstr>Outline</vt:lpstr>
      <vt:lpstr>Analogue meters</vt:lpstr>
      <vt:lpstr>Moving-coil meters </vt:lpstr>
      <vt:lpstr>Moving-coil meters… </vt:lpstr>
      <vt:lpstr>Moving-coil meters… </vt:lpstr>
      <vt:lpstr>Moving-iron meters</vt:lpstr>
      <vt:lpstr>Moving-iron meters…</vt:lpstr>
      <vt:lpstr>Moving-iron meters…</vt:lpstr>
      <vt:lpstr>Basic meter</vt:lpstr>
      <vt:lpstr>DC instruments</vt:lpstr>
      <vt:lpstr>AC instruments</vt:lpstr>
      <vt:lpstr>Basic DC voltmeter</vt:lpstr>
      <vt:lpstr>Basic dc voltmeter</vt:lpstr>
      <vt:lpstr>Basic dc voltmeter</vt:lpstr>
      <vt:lpstr>Basic dc voltmeter</vt:lpstr>
      <vt:lpstr>Basic dc voltmeter</vt:lpstr>
      <vt:lpstr>Multirange DC Voltmeters</vt:lpstr>
      <vt:lpstr>Multirange DC Voltmeters</vt:lpstr>
      <vt:lpstr>Multirange DC Voltmeters</vt:lpstr>
      <vt:lpstr>Multirange DC Voltmeters</vt:lpstr>
      <vt:lpstr>AC Voltmeters</vt:lpstr>
      <vt:lpstr>AC Voltmeters</vt:lpstr>
      <vt:lpstr>AC Voltmeters</vt:lpstr>
      <vt:lpstr>AC Voltmeters</vt:lpstr>
      <vt:lpstr>AC Voltmeters</vt:lpstr>
      <vt:lpstr>AC Voltmeters</vt:lpstr>
      <vt:lpstr>AC Voltmeters</vt:lpstr>
      <vt:lpstr>AC Voltmeters</vt:lpstr>
      <vt:lpstr>AC Voltmeters</vt:lpstr>
      <vt:lpstr>DC Ammeters</vt:lpstr>
      <vt:lpstr>DC Ammeters</vt:lpstr>
      <vt:lpstr>DC Ammeters</vt:lpstr>
      <vt:lpstr>DC Ammeters</vt:lpstr>
      <vt:lpstr>DC Ammeters</vt:lpstr>
      <vt:lpstr>DC Ammeters</vt:lpstr>
      <vt:lpstr>DC Ammeters</vt:lpstr>
      <vt:lpstr>DC Ammeters</vt:lpstr>
      <vt:lpstr>DC Ammeters</vt:lpstr>
      <vt:lpstr>DC Ammeters</vt:lpstr>
      <vt:lpstr>AC Ammeter</vt:lpstr>
      <vt:lpstr>AC Ammeter</vt:lpstr>
      <vt:lpstr>AC Ammeter</vt:lpstr>
      <vt:lpstr>AC Ammeter</vt:lpstr>
      <vt:lpstr>QUESTIONS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Measurement Errors</dc:title>
  <dc:creator>hp</dc:creator>
  <cp:lastModifiedBy>hp</cp:lastModifiedBy>
  <cp:revision>101</cp:revision>
  <dcterms:created xsi:type="dcterms:W3CDTF">2021-11-17T12:12:52Z</dcterms:created>
  <dcterms:modified xsi:type="dcterms:W3CDTF">2021-12-07T08:16:22Z</dcterms:modified>
</cp:coreProperties>
</file>