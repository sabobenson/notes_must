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311" r:id="rId17"/>
    <p:sldId id="312" r:id="rId18"/>
    <p:sldId id="313" r:id="rId19"/>
    <p:sldId id="314" r:id="rId20"/>
    <p:sldId id="315" r:id="rId21"/>
    <p:sldId id="316" r:id="rId22"/>
    <p:sldId id="317" r:id="rId23"/>
    <p:sldId id="318" r:id="rId24"/>
    <p:sldId id="257" r:id="rId25"/>
    <p:sldId id="319" r:id="rId26"/>
    <p:sldId id="320" r:id="rId27"/>
    <p:sldId id="321" r:id="rId28"/>
    <p:sldId id="340" r:id="rId29"/>
    <p:sldId id="342" r:id="rId30"/>
    <p:sldId id="341" r:id="rId31"/>
    <p:sldId id="343"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335" r:id="rId46"/>
    <p:sldId id="336" r:id="rId47"/>
    <p:sldId id="337" r:id="rId48"/>
    <p:sldId id="338"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843C-B81E-459F-AEBE-8B825477C1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FF9279-CDDB-4D30-8F17-9DA6023D47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9F7FA8-2942-480D-8FC1-CC011463C9B7}"/>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5" name="Footer Placeholder 4">
            <a:extLst>
              <a:ext uri="{FF2B5EF4-FFF2-40B4-BE49-F238E27FC236}">
                <a16:creationId xmlns:a16="http://schemas.microsoft.com/office/drawing/2014/main" id="{560EC31A-7FBE-4F8A-A655-2AD3898842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0E0AE-273A-4C6B-8723-D1871349EB76}"/>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3265427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52AB6-3C55-4965-9906-B3F5EE3F85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19B723-A269-46BF-9921-D79C49E9AB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804A83-852A-497D-A659-211C668911B2}"/>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5" name="Footer Placeholder 4">
            <a:extLst>
              <a:ext uri="{FF2B5EF4-FFF2-40B4-BE49-F238E27FC236}">
                <a16:creationId xmlns:a16="http://schemas.microsoft.com/office/drawing/2014/main" id="{BEDEB5A3-C60A-41B4-A1D9-9073ACCD0C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EEBDB-D12B-4ABA-9EFB-335D2AF0FE2D}"/>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14685495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2CD28-E15E-491C-B06B-755B656E5A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EAE6B8-18D0-4427-97E2-4C8214778F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417AA9-7B31-4518-8219-B46BCDA08FA8}"/>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5" name="Footer Placeholder 4">
            <a:extLst>
              <a:ext uri="{FF2B5EF4-FFF2-40B4-BE49-F238E27FC236}">
                <a16:creationId xmlns:a16="http://schemas.microsoft.com/office/drawing/2014/main" id="{790FF4C3-F05E-4D4F-9312-057C374473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F841FD-D6B4-4D56-8B36-A740B19913F5}"/>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4131935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5A757-1762-49A2-B8F3-43663B45A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965808-086A-44ED-A546-734D636EB3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5F9F48-6235-41B8-BB04-3500DAE1B5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2104124-F1D3-4AC9-9CFB-C0981A37F402}"/>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6" name="Footer Placeholder 5">
            <a:extLst>
              <a:ext uri="{FF2B5EF4-FFF2-40B4-BE49-F238E27FC236}">
                <a16:creationId xmlns:a16="http://schemas.microsoft.com/office/drawing/2014/main" id="{537A2947-91E8-4E22-BE64-A9982FF6EC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B8C61C-A837-4EBA-8FCE-249B8407869B}"/>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796400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0128E-10CE-4774-99B2-5DD5CED301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57454D7-FFE1-4AE4-9E8A-9D5DFD527E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C97DC2-4FFC-4043-9096-4A270BA23B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24F227-1A11-401D-BBBE-0C3F203DB7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4AAC49-4B93-43D3-A9AB-B767E10795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EEF1AC4-7AC8-4962-AF16-5960CAE6FA64}"/>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8" name="Footer Placeholder 7">
            <a:extLst>
              <a:ext uri="{FF2B5EF4-FFF2-40B4-BE49-F238E27FC236}">
                <a16:creationId xmlns:a16="http://schemas.microsoft.com/office/drawing/2014/main" id="{91515469-AA7C-452F-86CB-16D7D62F362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A68A34-88BF-4C13-8087-27AEC0AE6F75}"/>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296830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4AFF9-A270-47ED-81C5-D6A96CEF92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3460F55-CC96-4E51-BE28-4CE94359984F}"/>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4" name="Footer Placeholder 3">
            <a:extLst>
              <a:ext uri="{FF2B5EF4-FFF2-40B4-BE49-F238E27FC236}">
                <a16:creationId xmlns:a16="http://schemas.microsoft.com/office/drawing/2014/main" id="{0EC716B5-6117-42D4-99E8-6BA44270925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E42D57-8A15-489E-9590-A143C232B33F}"/>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274739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2BD2F7-A1FC-41C8-84AE-4ED370360ED6}"/>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3" name="Footer Placeholder 2">
            <a:extLst>
              <a:ext uri="{FF2B5EF4-FFF2-40B4-BE49-F238E27FC236}">
                <a16:creationId xmlns:a16="http://schemas.microsoft.com/office/drawing/2014/main" id="{F453EADA-C472-4F4E-A9FC-6204FAA9C0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0CB7C7-788C-4E6D-89C4-F8C453EE1CB8}"/>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3694282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9D666-4DD9-4EA7-8628-07829FD84F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0C158D-2D88-4052-9413-40B71299AB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26F66D-2083-4EF7-828A-43DB1FCC8B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590C35-B2BF-43A9-91D5-D825C88129FC}"/>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6" name="Footer Placeholder 5">
            <a:extLst>
              <a:ext uri="{FF2B5EF4-FFF2-40B4-BE49-F238E27FC236}">
                <a16:creationId xmlns:a16="http://schemas.microsoft.com/office/drawing/2014/main" id="{611FF814-4BCE-4387-AB2F-46B600A058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C284D8-1DE0-432B-9CA1-913CE434D02E}"/>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32656283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CFCA0-20FA-45F2-8D22-1DDD9A43D7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6090B5-1507-4483-9A78-1815ED72E2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21021C-AE21-4759-ADA6-CD9D08ED23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49698-A464-4C2B-B253-51C1D501DA4B}"/>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6" name="Footer Placeholder 5">
            <a:extLst>
              <a:ext uri="{FF2B5EF4-FFF2-40B4-BE49-F238E27FC236}">
                <a16:creationId xmlns:a16="http://schemas.microsoft.com/office/drawing/2014/main" id="{9D026047-C0FB-4EBB-B1F7-5DC3FD401A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25CF60-647D-4F3E-84B3-F2037839E476}"/>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923835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DE960-369F-4D59-9EFB-F8017F8FAA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436583-40E4-4382-BE5B-AE8BC72D1EF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A0B357-ED5F-48F1-84DE-1FF65A8E2CF9}"/>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5" name="Footer Placeholder 4">
            <a:extLst>
              <a:ext uri="{FF2B5EF4-FFF2-40B4-BE49-F238E27FC236}">
                <a16:creationId xmlns:a16="http://schemas.microsoft.com/office/drawing/2014/main" id="{32FA35E6-C871-4EE3-8ADE-0A1C052729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E788AB-4D32-4CC0-BEFF-480D3CB66AC2}"/>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3994339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629608-76F8-4F09-BBA6-F786C5C6AB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0B4D3-B55E-4939-BF3A-66C67EBEBB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3BCB89-DEEC-4C7F-8A76-2012DC238A56}"/>
              </a:ext>
            </a:extLst>
          </p:cNvPr>
          <p:cNvSpPr>
            <a:spLocks noGrp="1"/>
          </p:cNvSpPr>
          <p:nvPr>
            <p:ph type="dt" sz="half" idx="10"/>
          </p:nvPr>
        </p:nvSpPr>
        <p:spPr/>
        <p:txBody>
          <a:bodyPr/>
          <a:lstStyle/>
          <a:p>
            <a:fld id="{1D3B6440-DD2D-4466-BE70-4D0B1C4A62AF}" type="datetimeFigureOut">
              <a:rPr lang="en-US" smtClean="0"/>
              <a:t>6/16/2023</a:t>
            </a:fld>
            <a:endParaRPr lang="en-US"/>
          </a:p>
        </p:txBody>
      </p:sp>
      <p:sp>
        <p:nvSpPr>
          <p:cNvPr id="5" name="Footer Placeholder 4">
            <a:extLst>
              <a:ext uri="{FF2B5EF4-FFF2-40B4-BE49-F238E27FC236}">
                <a16:creationId xmlns:a16="http://schemas.microsoft.com/office/drawing/2014/main" id="{B74751B3-8AE0-41E7-BA33-FBAA6C02B2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6C7E62-4102-4141-8777-A4DB0077FC95}"/>
              </a:ext>
            </a:extLst>
          </p:cNvPr>
          <p:cNvSpPr>
            <a:spLocks noGrp="1"/>
          </p:cNvSpPr>
          <p:nvPr>
            <p:ph type="sldNum" sz="quarter" idx="12"/>
          </p:nvPr>
        </p:nvSpPr>
        <p:spPr/>
        <p:txBody>
          <a:bodyPr/>
          <a:lstStyle/>
          <a:p>
            <a:fld id="{D4BFADE1-7EFD-4435-8817-631F576CB09F}" type="slidenum">
              <a:rPr lang="en-US" smtClean="0"/>
              <a:t>‹#›</a:t>
            </a:fld>
            <a:endParaRPr lang="en-US"/>
          </a:p>
        </p:txBody>
      </p:sp>
    </p:spTree>
    <p:extLst>
      <p:ext uri="{BB962C8B-B14F-4D97-AF65-F5344CB8AC3E}">
        <p14:creationId xmlns:p14="http://schemas.microsoft.com/office/powerpoint/2010/main" val="3277990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7097CC-E8EE-4BD0-B9F6-AEAEA57EB3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1309D1A-029A-4617-9EFC-7A5FBEAF0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FE52B4-1108-4B53-9B1E-5FCB9D7AD6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3B6440-DD2D-4466-BE70-4D0B1C4A62AF}" type="datetimeFigureOut">
              <a:rPr lang="en-US" smtClean="0"/>
              <a:t>6/16/2023</a:t>
            </a:fld>
            <a:endParaRPr lang="en-US"/>
          </a:p>
        </p:txBody>
      </p:sp>
      <p:sp>
        <p:nvSpPr>
          <p:cNvPr id="5" name="Footer Placeholder 4">
            <a:extLst>
              <a:ext uri="{FF2B5EF4-FFF2-40B4-BE49-F238E27FC236}">
                <a16:creationId xmlns:a16="http://schemas.microsoft.com/office/drawing/2014/main" id="{21FF9110-EDB0-4541-8D7B-A72C61687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D3BD3F7-5201-43E3-8F4A-29EF6DBD9F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BFADE1-7EFD-4435-8817-631F576CB09F}" type="slidenum">
              <a:rPr lang="en-US" smtClean="0"/>
              <a:t>‹#›</a:t>
            </a:fld>
            <a:endParaRPr lang="en-US"/>
          </a:p>
        </p:txBody>
      </p:sp>
    </p:spTree>
    <p:extLst>
      <p:ext uri="{BB962C8B-B14F-4D97-AF65-F5344CB8AC3E}">
        <p14:creationId xmlns:p14="http://schemas.microsoft.com/office/powerpoint/2010/main" val="563594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2C358C-3021-462A-9053-E0F316C186E8}"/>
              </a:ext>
            </a:extLst>
          </p:cNvPr>
          <p:cNvSpPr>
            <a:spLocks noGrp="1"/>
          </p:cNvSpPr>
          <p:nvPr>
            <p:ph idx="1"/>
          </p:nvPr>
        </p:nvSpPr>
        <p:spPr>
          <a:xfrm>
            <a:off x="838200" y="90310"/>
            <a:ext cx="10515600" cy="6671733"/>
          </a:xfrm>
        </p:spPr>
        <p:txBody>
          <a:bodyPr>
            <a:normAutofit/>
          </a:bodyPr>
          <a:lstStyle/>
          <a:p>
            <a:pPr>
              <a:buFont typeface="Wingdings" panose="05000000000000000000" pitchFamily="2" charset="2"/>
              <a:buChar char="Ø"/>
            </a:pPr>
            <a:r>
              <a:rPr lang="en-US" sz="4000" b="1" dirty="0"/>
              <a:t>Lists:</a:t>
            </a:r>
          </a:p>
          <a:p>
            <a:pPr marL="0" indent="0">
              <a:buNone/>
            </a:pPr>
            <a:r>
              <a:rPr lang="en-US" sz="3200" dirty="0"/>
              <a:t>The list can be defined as an </a:t>
            </a:r>
            <a:r>
              <a:rPr lang="en-US" sz="3200" b="1" dirty="0"/>
              <a:t>abstract data </a:t>
            </a:r>
            <a:r>
              <a:rPr lang="en-US" sz="3200" dirty="0"/>
              <a:t>type in which the elements are stored in an </a:t>
            </a:r>
            <a:r>
              <a:rPr lang="en-US" sz="3200" b="1" dirty="0"/>
              <a:t>ordered manner</a:t>
            </a:r>
            <a:r>
              <a:rPr lang="en-US" sz="3200" dirty="0"/>
              <a:t> for easier and efficient retrieval of the elements.</a:t>
            </a:r>
          </a:p>
          <a:p>
            <a:pPr marL="0" indent="0">
              <a:buNone/>
            </a:pPr>
            <a:r>
              <a:rPr lang="en-US" sz="3200" dirty="0"/>
              <a:t>List Data Structure allows </a:t>
            </a:r>
            <a:r>
              <a:rPr lang="en-US" sz="3200" b="1" dirty="0"/>
              <a:t>repetition</a:t>
            </a:r>
            <a:r>
              <a:rPr lang="en-US" sz="3200" dirty="0"/>
              <a:t> that means a single piece of </a:t>
            </a:r>
            <a:r>
              <a:rPr lang="en-US" sz="3200" b="1" dirty="0"/>
              <a:t>data can occur more than once in a list</a:t>
            </a:r>
            <a:r>
              <a:rPr lang="en-US" sz="3200" dirty="0"/>
              <a:t>. In the case of multiple entries of the same data, each entry of that repeating data is considered as a </a:t>
            </a:r>
            <a:r>
              <a:rPr lang="en-US" sz="3200" b="1" dirty="0"/>
              <a:t>distinct item </a:t>
            </a:r>
            <a:r>
              <a:rPr lang="en-US" sz="3200" dirty="0"/>
              <a:t>or entry. </a:t>
            </a:r>
          </a:p>
          <a:p>
            <a:pPr marL="0" indent="0">
              <a:buNone/>
            </a:pPr>
            <a:r>
              <a:rPr lang="en-US" sz="3200" dirty="0"/>
              <a:t>It is very much </a:t>
            </a:r>
            <a:r>
              <a:rPr lang="en-US" sz="3200" b="1" dirty="0"/>
              <a:t>similar to the array </a:t>
            </a:r>
            <a:r>
              <a:rPr lang="en-US" sz="3200" dirty="0"/>
              <a:t>but the major difference between the array and the list data structure is that array </a:t>
            </a:r>
            <a:r>
              <a:rPr lang="en-US" sz="3200" b="1" dirty="0"/>
              <a:t>stores only homogenous data </a:t>
            </a:r>
            <a:r>
              <a:rPr lang="en-US" sz="3200" dirty="0"/>
              <a:t>in them whereas the list (in some programming languages) can </a:t>
            </a:r>
            <a:r>
              <a:rPr lang="en-US" sz="3200" b="1" dirty="0"/>
              <a:t>store heterogeneous data </a:t>
            </a:r>
            <a:r>
              <a:rPr lang="en-US" sz="3200" dirty="0"/>
              <a:t>items in its object. </a:t>
            </a:r>
          </a:p>
        </p:txBody>
      </p:sp>
    </p:spTree>
    <p:extLst>
      <p:ext uri="{BB962C8B-B14F-4D97-AF65-F5344CB8AC3E}">
        <p14:creationId xmlns:p14="http://schemas.microsoft.com/office/powerpoint/2010/main" val="186111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4B930C-8231-497D-AE51-0D0512055330}"/>
              </a:ext>
            </a:extLst>
          </p:cNvPr>
          <p:cNvSpPr>
            <a:spLocks noGrp="1"/>
          </p:cNvSpPr>
          <p:nvPr>
            <p:ph idx="1"/>
          </p:nvPr>
        </p:nvSpPr>
        <p:spPr>
          <a:xfrm>
            <a:off x="838200" y="203200"/>
            <a:ext cx="10515600" cy="6457244"/>
          </a:xfrm>
        </p:spPr>
        <p:txBody>
          <a:bodyPr/>
          <a:lstStyle/>
          <a:p>
            <a:pPr marL="0" indent="0">
              <a:buNone/>
            </a:pPr>
            <a:r>
              <a:rPr lang="en-US" dirty="0"/>
              <a:t>List Data Structure is also </a:t>
            </a:r>
            <a:r>
              <a:rPr lang="en-US" b="1" dirty="0"/>
              <a:t>known as a sequence.</a:t>
            </a:r>
          </a:p>
          <a:p>
            <a:pPr marL="0" indent="0">
              <a:buNone/>
            </a:pPr>
            <a:r>
              <a:rPr lang="en-US" dirty="0"/>
              <a:t>The list can be called </a:t>
            </a:r>
            <a:r>
              <a:rPr lang="en-US" b="1" dirty="0"/>
              <a:t>Dynamic size arrays</a:t>
            </a:r>
            <a:r>
              <a:rPr lang="en-US" dirty="0"/>
              <a:t>, which means their size </a:t>
            </a:r>
            <a:r>
              <a:rPr lang="en-US" b="1" dirty="0"/>
              <a:t>increased as we go on adding data </a:t>
            </a:r>
            <a:r>
              <a:rPr lang="en-US" dirty="0"/>
              <a:t>in them and we need not to pre-define a </a:t>
            </a:r>
            <a:r>
              <a:rPr lang="en-US" b="1" dirty="0"/>
              <a:t>static size </a:t>
            </a:r>
            <a:r>
              <a:rPr lang="en-US" dirty="0"/>
              <a:t>for the list.</a:t>
            </a:r>
          </a:p>
          <a:p>
            <a:pPr marL="0" indent="0">
              <a:buNone/>
            </a:pPr>
            <a:r>
              <a:rPr lang="en-US" b="1" dirty="0"/>
              <a:t>For example,</a:t>
            </a:r>
            <a:endParaRPr lang="en-US" dirty="0"/>
          </a:p>
          <a:p>
            <a:pPr marL="0" indent="0">
              <a:buNone/>
            </a:pPr>
            <a:r>
              <a:rPr lang="en-US" dirty="0"/>
              <a:t>numbers = [ 1, 2, 3, 4, 5]</a:t>
            </a:r>
          </a:p>
          <a:p>
            <a:pPr marL="0" indent="0">
              <a:buNone/>
            </a:pPr>
            <a:r>
              <a:rPr lang="en-US" dirty="0"/>
              <a:t>In this example, 'numbers' is the name of the List Data Structure object and it has five items stored in it. In the object named numbers, we have stored all the elements of numeric type. In the list, the indexing starts from zero, which means if we want to access or retrieve the first element of this list then we need to use index zero and similarly whenever we want to access any element from this list named numbers. In other words, we can say that element 1 is on the index 0 and element 2 is on index 1 and similarly for further all elements.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38590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A0FEC3-2A1C-4F93-9F01-B3BF33F9FF98}"/>
              </a:ext>
            </a:extLst>
          </p:cNvPr>
          <p:cNvSpPr>
            <a:spLocks noGrp="1"/>
          </p:cNvSpPr>
          <p:nvPr>
            <p:ph idx="1"/>
          </p:nvPr>
        </p:nvSpPr>
        <p:spPr>
          <a:xfrm>
            <a:off x="838200" y="101600"/>
            <a:ext cx="10515600" cy="6592711"/>
          </a:xfrm>
        </p:spPr>
        <p:txBody>
          <a:bodyPr/>
          <a:lstStyle/>
          <a:p>
            <a:pPr marL="0" indent="0">
              <a:buNone/>
            </a:pPr>
            <a:r>
              <a:rPr lang="en-US" b="1" dirty="0" err="1"/>
              <a:t>mixed_data</a:t>
            </a:r>
            <a:r>
              <a:rPr lang="en-US" dirty="0"/>
              <a:t> = [205, '</a:t>
            </a:r>
            <a:r>
              <a:rPr lang="en-US" dirty="0" err="1"/>
              <a:t>Nirnay</a:t>
            </a:r>
            <a:r>
              <a:rPr lang="en-US" dirty="0"/>
              <a:t>', 8.56]</a:t>
            </a:r>
          </a:p>
          <a:p>
            <a:r>
              <a:rPr lang="en-US" dirty="0"/>
              <a:t>In this second example, </a:t>
            </a:r>
            <a:r>
              <a:rPr lang="en-US" b="1" dirty="0" err="1"/>
              <a:t>mixed_data</a:t>
            </a:r>
            <a:r>
              <a:rPr lang="en-US" dirty="0"/>
              <a:t> is the name of the list object that stores the data of different types. In the </a:t>
            </a:r>
            <a:r>
              <a:rPr lang="en-US" dirty="0" err="1"/>
              <a:t>mixed_data</a:t>
            </a:r>
            <a:r>
              <a:rPr lang="en-US" dirty="0"/>
              <a:t> list, we have stored data of three types, first one is the integer type which is id '205', after the integer data we have stored a string type data having the value '</a:t>
            </a:r>
            <a:r>
              <a:rPr lang="en-US" dirty="0" err="1"/>
              <a:t>Nirnay</a:t>
            </a:r>
            <a:r>
              <a:rPr lang="en-US" dirty="0"/>
              <a:t>' stored at index 1 and at last the index value 2, we have stored a float type data having the value '8.56'.</a:t>
            </a:r>
          </a:p>
          <a:p>
            <a:r>
              <a:rPr lang="en-US" dirty="0"/>
              <a:t>To access the elements of the </a:t>
            </a:r>
            <a:r>
              <a:rPr lang="en-US" dirty="0" err="1"/>
              <a:t>mixed_data</a:t>
            </a:r>
            <a:r>
              <a:rPr lang="en-US" dirty="0"/>
              <a:t> list, we need to follow the same approach as defined in the previous example.</a:t>
            </a:r>
          </a:p>
          <a:p>
            <a:pPr marL="0" indent="0">
              <a:buNone/>
            </a:pPr>
            <a:r>
              <a:rPr lang="en-US" dirty="0"/>
              <a:t>We can add more data to these defined List objects and that will get appended at the last of the list. For example, if we add another data in the </a:t>
            </a:r>
            <a:r>
              <a:rPr lang="en-US" dirty="0" err="1"/>
              <a:t>mixed_data</a:t>
            </a:r>
            <a:r>
              <a:rPr lang="en-US" dirty="0"/>
              <a:t> list, it will get appended after the float value object having value '8.56'. And we can add repeating values to these list-objects.</a:t>
            </a:r>
          </a:p>
        </p:txBody>
      </p:sp>
    </p:spTree>
    <p:extLst>
      <p:ext uri="{BB962C8B-B14F-4D97-AF65-F5344CB8AC3E}">
        <p14:creationId xmlns:p14="http://schemas.microsoft.com/office/powerpoint/2010/main" val="23064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78A511-7032-4DC9-8AD2-71E8F9B52507}"/>
              </a:ext>
            </a:extLst>
          </p:cNvPr>
          <p:cNvSpPr>
            <a:spLocks noGrp="1"/>
          </p:cNvSpPr>
          <p:nvPr>
            <p:ph idx="1"/>
          </p:nvPr>
        </p:nvSpPr>
        <p:spPr>
          <a:xfrm>
            <a:off x="838200" y="169332"/>
            <a:ext cx="10515600" cy="6558845"/>
          </a:xfrm>
        </p:spPr>
        <p:txBody>
          <a:bodyPr>
            <a:normAutofit lnSpcReduction="10000"/>
          </a:bodyPr>
          <a:lstStyle/>
          <a:p>
            <a:pPr marL="0" indent="0">
              <a:buNone/>
            </a:pPr>
            <a:r>
              <a:rPr lang="en-US" b="1" dirty="0"/>
              <a:t>Various operations on the List Data Structure:</a:t>
            </a:r>
          </a:p>
          <a:p>
            <a:pPr marL="0" indent="0">
              <a:buNone/>
            </a:pPr>
            <a:r>
              <a:rPr lang="en-US" dirty="0"/>
              <a:t>The various operations that are performed on a List Data Structure or Sequence are:</a:t>
            </a:r>
          </a:p>
          <a:p>
            <a:r>
              <a:rPr lang="en-US" b="1" dirty="0"/>
              <a:t>Add or Insert Operation</a:t>
            </a:r>
            <a:r>
              <a:rPr lang="en-US" dirty="0"/>
              <a:t>: In the Add or Insert operation, a new item (of any data type) is added in the List Data Structure or Sequence object.</a:t>
            </a:r>
          </a:p>
          <a:p>
            <a:r>
              <a:rPr lang="en-US" b="1" dirty="0"/>
              <a:t>Replace or reassign Operation</a:t>
            </a:r>
            <a:r>
              <a:rPr lang="en-US" dirty="0"/>
              <a:t>: In the Replace or reassign operation, the already existing value in the List object is changed or modified. In other words, a new value is added at that particular index of the already existing value.</a:t>
            </a:r>
          </a:p>
          <a:p>
            <a:r>
              <a:rPr lang="en-US" b="1" dirty="0"/>
              <a:t>Delete or remove Operation</a:t>
            </a:r>
            <a:r>
              <a:rPr lang="en-US" dirty="0"/>
              <a:t>: In the Delete or remove operation, the already present element is deleted or removed from the Dictionary or associative array object.</a:t>
            </a:r>
          </a:p>
          <a:p>
            <a:r>
              <a:rPr lang="en-US" b="1" dirty="0"/>
              <a:t>Find or Lookup or Search Operation</a:t>
            </a:r>
            <a:r>
              <a:rPr lang="en-US" dirty="0"/>
              <a:t>: In the Find or Lookup operation, the element stored in that List Data Structure or Sequence object is fetched.</a:t>
            </a:r>
          </a:p>
          <a:p>
            <a:pPr marL="0" indent="0">
              <a:buNone/>
            </a:pPr>
            <a:endParaRPr lang="en-US" dirty="0"/>
          </a:p>
        </p:txBody>
      </p:sp>
    </p:spTree>
    <p:extLst>
      <p:ext uri="{BB962C8B-B14F-4D97-AF65-F5344CB8AC3E}">
        <p14:creationId xmlns:p14="http://schemas.microsoft.com/office/powerpoint/2010/main" val="4054442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EDA95D-E61D-46D7-8315-AA7629AA4AA4}"/>
              </a:ext>
            </a:extLst>
          </p:cNvPr>
          <p:cNvSpPr>
            <a:spLocks noGrp="1"/>
          </p:cNvSpPr>
          <p:nvPr>
            <p:ph idx="1"/>
          </p:nvPr>
        </p:nvSpPr>
        <p:spPr>
          <a:xfrm>
            <a:off x="838200" y="112889"/>
            <a:ext cx="10515600" cy="6604000"/>
          </a:xfrm>
        </p:spPr>
        <p:txBody>
          <a:bodyPr/>
          <a:lstStyle/>
          <a:p>
            <a:pPr>
              <a:buFont typeface="Wingdings" panose="05000000000000000000" pitchFamily="2" charset="2"/>
              <a:buChar char="Ø"/>
            </a:pPr>
            <a:r>
              <a:rPr lang="en-US" sz="4000" b="1" dirty="0"/>
              <a:t>Linear list:</a:t>
            </a:r>
          </a:p>
          <a:p>
            <a:pPr marL="0" indent="0">
              <a:buNone/>
            </a:pPr>
            <a:r>
              <a:rPr lang="en-US" sz="3200" dirty="0"/>
              <a:t>A linear list, is  defined as a </a:t>
            </a:r>
            <a:r>
              <a:rPr lang="en-US" sz="3200" b="1" dirty="0"/>
              <a:t>sequence of nodes </a:t>
            </a:r>
            <a:r>
              <a:rPr lang="en-US" sz="3200" dirty="0"/>
              <a:t>together with a set of operations on those nodes. </a:t>
            </a:r>
          </a:p>
          <a:p>
            <a:pPr marL="0" indent="0">
              <a:buNone/>
            </a:pPr>
            <a:r>
              <a:rPr lang="en-US" sz="3200" dirty="0"/>
              <a:t>The term </a:t>
            </a:r>
            <a:r>
              <a:rPr lang="en-US" sz="3200" b="1" dirty="0"/>
              <a:t>"node" </a:t>
            </a:r>
            <a:r>
              <a:rPr lang="en-US" sz="3200" dirty="0"/>
              <a:t>can be thought of as something carrying some information; it might be a person's health record, a playing card, or simply an integer.</a:t>
            </a:r>
          </a:p>
          <a:p>
            <a:pPr marL="0" indent="0">
              <a:buNone/>
            </a:pPr>
            <a:r>
              <a:rPr lang="en-US" sz="3200" dirty="0"/>
              <a:t>The </a:t>
            </a:r>
            <a:r>
              <a:rPr lang="en-US" sz="3200" b="1" dirty="0"/>
              <a:t>essential feature of a linear list </a:t>
            </a:r>
            <a:r>
              <a:rPr lang="en-US" sz="3200" dirty="0"/>
              <a:t>is the fact that it is a </a:t>
            </a:r>
            <a:r>
              <a:rPr lang="en-US" sz="3200" b="1" dirty="0"/>
              <a:t>sequence of nodes. </a:t>
            </a:r>
          </a:p>
          <a:p>
            <a:pPr marL="0" indent="0">
              <a:buNone/>
            </a:pPr>
            <a:r>
              <a:rPr lang="en-US" sz="3200" dirty="0"/>
              <a:t>If there are n nodes in the list, we can write the sequence as Xl, X2, ... , </a:t>
            </a:r>
            <a:r>
              <a:rPr lang="en-US" sz="3200" dirty="0" err="1"/>
              <a:t>Xn</a:t>
            </a:r>
            <a:r>
              <a:rPr lang="en-US" sz="3200" dirty="0"/>
              <a:t> where Xl is the first node, X2 is the second, and so on, with </a:t>
            </a:r>
            <a:r>
              <a:rPr lang="en-US" sz="3200" dirty="0" err="1"/>
              <a:t>Xn</a:t>
            </a:r>
            <a:r>
              <a:rPr lang="en-US" sz="3200" dirty="0"/>
              <a:t> being the last node. </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374281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D7E805-81F1-4E9F-AD7F-549B357EB689}"/>
              </a:ext>
            </a:extLst>
          </p:cNvPr>
          <p:cNvSpPr>
            <a:spLocks noGrp="1"/>
          </p:cNvSpPr>
          <p:nvPr>
            <p:ph idx="1"/>
          </p:nvPr>
        </p:nvSpPr>
        <p:spPr>
          <a:xfrm>
            <a:off x="838200" y="101600"/>
            <a:ext cx="10515600" cy="6660444"/>
          </a:xfrm>
        </p:spPr>
        <p:txBody>
          <a:bodyPr/>
          <a:lstStyle/>
          <a:p>
            <a:pPr marL="0" indent="0">
              <a:buNone/>
            </a:pPr>
            <a:r>
              <a:rPr lang="en-US" sz="3200" dirty="0"/>
              <a:t>The operations that we might want to perform on a linear list will vary from one situation to another. They might include:</a:t>
            </a:r>
          </a:p>
          <a:p>
            <a:r>
              <a:rPr lang="en-US" sz="3200" dirty="0"/>
              <a:t>examine the contents of the node at one end of the list</a:t>
            </a:r>
          </a:p>
          <a:p>
            <a:r>
              <a:rPr lang="en-US" sz="3200" dirty="0"/>
              <a:t>insert or delete a node at one end of the list</a:t>
            </a:r>
          </a:p>
          <a:p>
            <a:r>
              <a:rPr lang="en-US" sz="3200" dirty="0"/>
              <a:t>insert a new node before or after a node containing some key</a:t>
            </a:r>
          </a:p>
          <a:p>
            <a:r>
              <a:rPr lang="en-US" sz="3200" dirty="0"/>
              <a:t>delete the kth node</a:t>
            </a:r>
          </a:p>
          <a:p>
            <a:r>
              <a:rPr lang="en-US" sz="3200" dirty="0"/>
              <a:t>alter the contents of the kth node</a:t>
            </a:r>
          </a:p>
          <a:p>
            <a:r>
              <a:rPr lang="en-US" sz="3200" dirty="0"/>
              <a:t>search for a node that contains some value</a:t>
            </a:r>
          </a:p>
          <a:p>
            <a:r>
              <a:rPr lang="en-US" sz="3200" dirty="0"/>
              <a:t>sort the nodes of the list based on some key</a:t>
            </a:r>
          </a:p>
          <a:p>
            <a:pPr marL="0" indent="0">
              <a:buNone/>
            </a:pPr>
            <a:endParaRPr lang="en-US" dirty="0"/>
          </a:p>
        </p:txBody>
      </p:sp>
    </p:spTree>
    <p:extLst>
      <p:ext uri="{BB962C8B-B14F-4D97-AF65-F5344CB8AC3E}">
        <p14:creationId xmlns:p14="http://schemas.microsoft.com/office/powerpoint/2010/main" val="4042123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9BEA11-2CD1-4A57-9FC6-D1E060AD7276}"/>
              </a:ext>
            </a:extLst>
          </p:cNvPr>
          <p:cNvSpPr>
            <a:spLocks noGrp="1"/>
          </p:cNvSpPr>
          <p:nvPr>
            <p:ph idx="1"/>
          </p:nvPr>
        </p:nvSpPr>
        <p:spPr>
          <a:xfrm>
            <a:off x="838200" y="101600"/>
            <a:ext cx="10515600" cy="6604000"/>
          </a:xfrm>
        </p:spPr>
        <p:txBody>
          <a:bodyPr>
            <a:normAutofit lnSpcReduction="10000"/>
          </a:bodyPr>
          <a:lstStyle/>
          <a:p>
            <a:pPr marL="0" indent="0">
              <a:buNone/>
            </a:pPr>
            <a:r>
              <a:rPr lang="en-US" sz="3200" dirty="0"/>
              <a:t>There are a number of possible </a:t>
            </a:r>
            <a:r>
              <a:rPr lang="en-US" sz="3200" b="1" dirty="0"/>
              <a:t>implementations of lists.</a:t>
            </a:r>
          </a:p>
          <a:p>
            <a:pPr marL="0" indent="0">
              <a:buNone/>
            </a:pPr>
            <a:r>
              <a:rPr lang="en-US" sz="3200" dirty="0"/>
              <a:t>The most basic question is whether to use; </a:t>
            </a:r>
          </a:p>
          <a:p>
            <a:r>
              <a:rPr lang="en-US" sz="3200" b="1" dirty="0"/>
              <a:t>sequential allocation </a:t>
            </a:r>
            <a:r>
              <a:rPr lang="en-US" sz="3200" dirty="0"/>
              <a:t>(meaning storing the elements sequentially in an array) or</a:t>
            </a:r>
          </a:p>
          <a:p>
            <a:r>
              <a:rPr lang="en-US" sz="3200" b="1" dirty="0"/>
              <a:t>linked allocation </a:t>
            </a:r>
            <a:r>
              <a:rPr lang="en-US" sz="3200" dirty="0"/>
              <a:t>(meaning storing the elements in a linked list).</a:t>
            </a:r>
          </a:p>
          <a:p>
            <a:pPr marL="0" indent="0">
              <a:buNone/>
            </a:pPr>
            <a:r>
              <a:rPr lang="en-US" sz="3200" dirty="0"/>
              <a:t>With linked allocation there are many other options to be considered;</a:t>
            </a:r>
          </a:p>
          <a:p>
            <a:pPr marL="0" indent="0">
              <a:buNone/>
            </a:pPr>
            <a:r>
              <a:rPr lang="en-US" sz="3200" dirty="0"/>
              <a:t>Is the list </a:t>
            </a:r>
            <a:r>
              <a:rPr lang="en-US" sz="3200" b="1" dirty="0"/>
              <a:t>singly linked </a:t>
            </a:r>
            <a:r>
              <a:rPr lang="en-US" sz="3200" dirty="0"/>
              <a:t>(each node pointing to its successor in the list),</a:t>
            </a:r>
          </a:p>
          <a:p>
            <a:pPr marL="0" indent="0">
              <a:buNone/>
            </a:pPr>
            <a:r>
              <a:rPr lang="en-US" sz="3200" b="1" dirty="0"/>
              <a:t>doubly linked </a:t>
            </a:r>
            <a:r>
              <a:rPr lang="en-US" sz="3200" dirty="0"/>
              <a:t>(each node pointing to both its successor and predecessor), </a:t>
            </a:r>
          </a:p>
          <a:p>
            <a:pPr marL="0" indent="0">
              <a:buNone/>
            </a:pPr>
            <a:r>
              <a:rPr lang="en-US" sz="3200" b="1" dirty="0"/>
              <a:t>circularly linked </a:t>
            </a:r>
            <a:r>
              <a:rPr lang="en-US" sz="3200" dirty="0"/>
              <a:t>(with the last node pointing back to the first)</a:t>
            </a:r>
          </a:p>
        </p:txBody>
      </p:sp>
    </p:spTree>
    <p:extLst>
      <p:ext uri="{BB962C8B-B14F-4D97-AF65-F5344CB8AC3E}">
        <p14:creationId xmlns:p14="http://schemas.microsoft.com/office/powerpoint/2010/main" val="13082312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F03CB-1D76-4A40-B17D-F0C15F6BD98D}"/>
              </a:ext>
            </a:extLst>
          </p:cNvPr>
          <p:cNvSpPr>
            <a:spLocks noGrp="1"/>
          </p:cNvSpPr>
          <p:nvPr>
            <p:ph idx="1"/>
          </p:nvPr>
        </p:nvSpPr>
        <p:spPr>
          <a:xfrm>
            <a:off x="838200" y="0"/>
            <a:ext cx="10515600" cy="6762044"/>
          </a:xfrm>
        </p:spPr>
        <p:txBody>
          <a:bodyPr/>
          <a:lstStyle/>
          <a:p>
            <a:pPr>
              <a:buFont typeface="Wingdings" panose="05000000000000000000" pitchFamily="2" charset="2"/>
              <a:buChar char="Ø"/>
            </a:pPr>
            <a:r>
              <a:rPr lang="en-US" sz="4000" b="1" dirty="0"/>
              <a:t>sequential allocation</a:t>
            </a:r>
            <a:r>
              <a:rPr lang="en-US" sz="3600" b="1" dirty="0"/>
              <a:t>:</a:t>
            </a:r>
          </a:p>
          <a:p>
            <a:pPr marL="0" indent="0">
              <a:buNone/>
            </a:pPr>
            <a:r>
              <a:rPr lang="en-US" sz="3600" dirty="0"/>
              <a:t>A list is allocated memory in a </a:t>
            </a:r>
            <a:r>
              <a:rPr lang="en-US" sz="3600" b="1" dirty="0"/>
              <a:t>sequential manner</a:t>
            </a:r>
            <a:r>
              <a:rPr lang="en-US" sz="3600" dirty="0"/>
              <a:t>. </a:t>
            </a:r>
          </a:p>
          <a:p>
            <a:pPr marL="0" indent="0">
              <a:buNone/>
            </a:pPr>
            <a:r>
              <a:rPr lang="en-US" sz="3600" dirty="0"/>
              <a:t>This means that the elements of the list are stored in </a:t>
            </a:r>
            <a:r>
              <a:rPr lang="en-US" sz="3600" b="1" dirty="0"/>
              <a:t>memory in the sequence of their declaration</a:t>
            </a:r>
            <a:r>
              <a:rPr lang="en-US" sz="3600" dirty="0"/>
              <a:t>. </a:t>
            </a:r>
          </a:p>
          <a:p>
            <a:pPr marL="0" indent="0">
              <a:buNone/>
            </a:pPr>
            <a:r>
              <a:rPr lang="en-US" sz="3600" dirty="0"/>
              <a:t>So if you want to view the fifth element of the list you have to first traverse through the first four elements of the list.</a:t>
            </a:r>
          </a:p>
          <a:p>
            <a:pPr marL="0" indent="0">
              <a:buNone/>
            </a:pPr>
            <a:r>
              <a:rPr lang="en-US" sz="3600" dirty="0"/>
              <a:t>This is called </a:t>
            </a:r>
            <a:r>
              <a:rPr lang="en-US" sz="3600" b="1" dirty="0"/>
              <a:t>sequential allocation of memory</a:t>
            </a:r>
            <a:r>
              <a:rPr lang="en-US" sz="3600" dirty="0"/>
              <a:t>.</a:t>
            </a:r>
          </a:p>
          <a:p>
            <a:pPr marL="0" indent="0">
              <a:buNone/>
            </a:pPr>
            <a:endParaRPr lang="en-US" sz="3600" dirty="0"/>
          </a:p>
          <a:p>
            <a:pPr marL="0" indent="0">
              <a:buNone/>
            </a:pPr>
            <a:endParaRPr lang="en-US" dirty="0"/>
          </a:p>
        </p:txBody>
      </p:sp>
    </p:spTree>
    <p:extLst>
      <p:ext uri="{BB962C8B-B14F-4D97-AF65-F5344CB8AC3E}">
        <p14:creationId xmlns:p14="http://schemas.microsoft.com/office/powerpoint/2010/main" val="3701946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1562ED-4546-491F-BB86-DD44DFBDFDA9}"/>
              </a:ext>
            </a:extLst>
          </p:cNvPr>
          <p:cNvSpPr>
            <a:spLocks noGrp="1"/>
          </p:cNvSpPr>
          <p:nvPr>
            <p:ph idx="1"/>
          </p:nvPr>
        </p:nvSpPr>
        <p:spPr>
          <a:xfrm>
            <a:off x="838200" y="203200"/>
            <a:ext cx="10515600" cy="6547556"/>
          </a:xfrm>
        </p:spPr>
        <p:txBody>
          <a:bodyPr/>
          <a:lstStyle/>
          <a:p>
            <a:pPr>
              <a:buFont typeface="Wingdings" panose="05000000000000000000" pitchFamily="2" charset="2"/>
              <a:buChar char="Ø"/>
            </a:pPr>
            <a:r>
              <a:rPr lang="en-US" sz="4000" b="1" dirty="0"/>
              <a:t>Linear list:</a:t>
            </a:r>
          </a:p>
          <a:p>
            <a:pPr marL="0" indent="0">
              <a:buNone/>
            </a:pPr>
            <a:r>
              <a:rPr lang="en-US" sz="3200" dirty="0"/>
              <a:t>A linear list is a type of data structure that </a:t>
            </a:r>
            <a:r>
              <a:rPr lang="en-US" sz="3200" b="1" dirty="0"/>
              <a:t>represents a collection of elements, or items, arranged in a sequential order. </a:t>
            </a:r>
          </a:p>
          <a:p>
            <a:pPr marL="0" indent="0">
              <a:buNone/>
            </a:pPr>
            <a:r>
              <a:rPr lang="en-US" sz="3200" dirty="0"/>
              <a:t>In a linear list, </a:t>
            </a:r>
            <a:r>
              <a:rPr lang="en-US" sz="3200" b="1" dirty="0"/>
              <a:t>each element is connected to its adjacent elements </a:t>
            </a:r>
            <a:r>
              <a:rPr lang="en-US" sz="3200" dirty="0"/>
              <a:t>in a </a:t>
            </a:r>
            <a:r>
              <a:rPr lang="en-US" sz="3200" b="1" dirty="0"/>
              <a:t>linear fashion</a:t>
            </a:r>
            <a:r>
              <a:rPr lang="en-US" sz="3200" dirty="0"/>
              <a:t>, such that there is only one path through the list.</a:t>
            </a:r>
          </a:p>
          <a:p>
            <a:pPr marL="0" indent="0">
              <a:buNone/>
            </a:pPr>
            <a:r>
              <a:rPr lang="en-US" sz="3200" dirty="0"/>
              <a:t>Linear lists are commonly </a:t>
            </a:r>
            <a:r>
              <a:rPr lang="en-US" sz="3200" b="1" dirty="0"/>
              <a:t>used in computer programming </a:t>
            </a:r>
            <a:r>
              <a:rPr lang="en-US" sz="3200" dirty="0"/>
              <a:t>for a variety of applications, including </a:t>
            </a:r>
            <a:r>
              <a:rPr lang="en-US" sz="3200" b="1" dirty="0"/>
              <a:t>data storage, sorting, searching</a:t>
            </a:r>
            <a:r>
              <a:rPr lang="en-US" sz="3200" dirty="0"/>
              <a:t>, and </a:t>
            </a:r>
            <a:r>
              <a:rPr lang="en-US" sz="3200" b="1" dirty="0"/>
              <a:t>manipulation</a:t>
            </a:r>
            <a:r>
              <a:rPr lang="en-US" sz="3200" dirty="0"/>
              <a:t>. </a:t>
            </a:r>
          </a:p>
          <a:p>
            <a:pPr marL="0" indent="0">
              <a:buNone/>
            </a:pPr>
            <a:r>
              <a:rPr lang="en-US" sz="3200" dirty="0"/>
              <a:t>They </a:t>
            </a:r>
            <a:r>
              <a:rPr lang="en-US" sz="3200" b="1" dirty="0"/>
              <a:t>can be implemented using various data structures</a:t>
            </a:r>
            <a:r>
              <a:rPr lang="en-US" sz="3200" dirty="0"/>
              <a:t>, such as </a:t>
            </a:r>
            <a:r>
              <a:rPr lang="en-US" sz="3200" b="1" dirty="0"/>
              <a:t>arrays, linked lists, and stacks</a:t>
            </a:r>
            <a:r>
              <a:rPr lang="en-US" sz="3200" dirty="0"/>
              <a:t>.</a:t>
            </a:r>
          </a:p>
          <a:p>
            <a:pPr marL="0" indent="0">
              <a:buNone/>
            </a:pPr>
            <a:endParaRPr lang="en-US" sz="3200"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77583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A8E92D-53B1-46C4-88A1-813FCFACB680}"/>
              </a:ext>
            </a:extLst>
          </p:cNvPr>
          <p:cNvSpPr>
            <a:spLocks noGrp="1"/>
          </p:cNvSpPr>
          <p:nvPr>
            <p:ph idx="1"/>
          </p:nvPr>
        </p:nvSpPr>
        <p:spPr>
          <a:xfrm>
            <a:off x="838200" y="225778"/>
            <a:ext cx="10515600" cy="6632222"/>
          </a:xfrm>
        </p:spPr>
        <p:txBody>
          <a:bodyPr/>
          <a:lstStyle/>
          <a:p>
            <a:r>
              <a:rPr lang="en-US" sz="4000" b="1" dirty="0"/>
              <a:t>Arrays </a:t>
            </a:r>
            <a:r>
              <a:rPr lang="en-US" sz="4000" dirty="0"/>
              <a:t>are a type of</a:t>
            </a:r>
            <a:r>
              <a:rPr lang="en-US" sz="4000" b="1" dirty="0"/>
              <a:t> linear list </a:t>
            </a:r>
            <a:r>
              <a:rPr lang="en-US" sz="4000" dirty="0"/>
              <a:t>that store elements in </a:t>
            </a:r>
            <a:r>
              <a:rPr lang="en-US" sz="4000" b="1" dirty="0"/>
              <a:t>contiguous memory locations</a:t>
            </a:r>
            <a:r>
              <a:rPr lang="en-US" sz="4000" dirty="0"/>
              <a:t>, which makes </a:t>
            </a:r>
            <a:r>
              <a:rPr lang="en-US" sz="4000" b="1" dirty="0"/>
              <a:t>accessing </a:t>
            </a:r>
            <a:r>
              <a:rPr lang="en-US" sz="4000" dirty="0"/>
              <a:t>elements in </a:t>
            </a:r>
            <a:r>
              <a:rPr lang="en-US" sz="4000" b="1" dirty="0"/>
              <a:t>the list fast </a:t>
            </a:r>
            <a:r>
              <a:rPr lang="en-US" sz="4000" dirty="0"/>
              <a:t>and </a:t>
            </a:r>
            <a:r>
              <a:rPr lang="en-US" sz="4000" b="1" dirty="0"/>
              <a:t>efficient</a:t>
            </a:r>
            <a:r>
              <a:rPr lang="en-US" sz="4000" dirty="0"/>
              <a:t>. However, arrays have a </a:t>
            </a:r>
            <a:r>
              <a:rPr lang="en-US" sz="4000" b="1" dirty="0"/>
              <a:t>fixed size</a:t>
            </a:r>
            <a:r>
              <a:rPr lang="en-US" sz="4000" dirty="0"/>
              <a:t>, which </a:t>
            </a:r>
            <a:r>
              <a:rPr lang="en-US" sz="4000" b="1" dirty="0"/>
              <a:t>can limit </a:t>
            </a:r>
            <a:r>
              <a:rPr lang="en-US" sz="4000" dirty="0"/>
              <a:t>their </a:t>
            </a:r>
            <a:r>
              <a:rPr lang="en-US" sz="4000" b="1" dirty="0"/>
              <a:t>flexibility.</a:t>
            </a:r>
          </a:p>
          <a:p>
            <a:pPr marL="0" indent="0">
              <a:buNone/>
            </a:pPr>
            <a:endParaRPr lang="en-US" sz="4000" b="1" dirty="0"/>
          </a:p>
          <a:p>
            <a:r>
              <a:rPr lang="en-US" sz="4000" b="1" dirty="0"/>
              <a:t>Linked lists, </a:t>
            </a:r>
            <a:r>
              <a:rPr lang="en-US" sz="4000" dirty="0"/>
              <a:t>on the other hand, are </a:t>
            </a:r>
            <a:r>
              <a:rPr lang="en-US" sz="4000" b="1" dirty="0"/>
              <a:t>dynamic data structures </a:t>
            </a:r>
            <a:r>
              <a:rPr lang="en-US" sz="4000" dirty="0"/>
              <a:t>that can </a:t>
            </a:r>
            <a:r>
              <a:rPr lang="en-US" sz="4000" b="1" dirty="0"/>
              <a:t>grow or shrink as needed</a:t>
            </a:r>
            <a:r>
              <a:rPr lang="en-US" sz="4000" dirty="0"/>
              <a:t>, but </a:t>
            </a:r>
            <a:r>
              <a:rPr lang="en-US" sz="4000" b="1" dirty="0"/>
              <a:t>accessing elements</a:t>
            </a:r>
            <a:r>
              <a:rPr lang="en-US" sz="4000" dirty="0"/>
              <a:t> in the list can be </a:t>
            </a:r>
            <a:r>
              <a:rPr lang="en-US" sz="4000" b="1" dirty="0"/>
              <a:t>slower </a:t>
            </a:r>
            <a:r>
              <a:rPr lang="en-US" sz="4000" dirty="0"/>
              <a:t>than with </a:t>
            </a:r>
            <a:r>
              <a:rPr lang="en-US" sz="4000" b="1" dirty="0"/>
              <a:t>arrays</a:t>
            </a:r>
            <a:r>
              <a:rPr lang="en-US" sz="4000" dirty="0"/>
              <a:t>. </a:t>
            </a:r>
          </a:p>
          <a:p>
            <a:endParaRPr lang="en-US" sz="4000" b="1" dirty="0"/>
          </a:p>
          <a:p>
            <a:pPr marL="0" indent="0">
              <a:buNone/>
            </a:pPr>
            <a:endParaRPr lang="en-US" dirty="0"/>
          </a:p>
        </p:txBody>
      </p:sp>
    </p:spTree>
    <p:extLst>
      <p:ext uri="{BB962C8B-B14F-4D97-AF65-F5344CB8AC3E}">
        <p14:creationId xmlns:p14="http://schemas.microsoft.com/office/powerpoint/2010/main" val="4032453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4CD2E-5EB3-4A16-81D4-E51FC9844957}"/>
              </a:ext>
            </a:extLst>
          </p:cNvPr>
          <p:cNvSpPr>
            <a:spLocks noGrp="1"/>
          </p:cNvSpPr>
          <p:nvPr>
            <p:ph idx="1"/>
          </p:nvPr>
        </p:nvSpPr>
        <p:spPr>
          <a:xfrm>
            <a:off x="838200" y="124178"/>
            <a:ext cx="10515600" cy="6604000"/>
          </a:xfrm>
        </p:spPr>
        <p:txBody>
          <a:bodyPr>
            <a:normAutofit fontScale="92500" lnSpcReduction="10000"/>
          </a:bodyPr>
          <a:lstStyle/>
          <a:p>
            <a:r>
              <a:rPr lang="en-US" sz="4000" b="1" dirty="0"/>
              <a:t>Stacks </a:t>
            </a:r>
            <a:r>
              <a:rPr lang="en-US" sz="4000" dirty="0"/>
              <a:t>are a </a:t>
            </a:r>
            <a:r>
              <a:rPr lang="en-US" sz="4000" b="1" dirty="0"/>
              <a:t>special type of linear list </a:t>
            </a:r>
            <a:r>
              <a:rPr lang="en-US" sz="4000" dirty="0"/>
              <a:t>that </a:t>
            </a:r>
            <a:r>
              <a:rPr lang="en-US" sz="4000" b="1" dirty="0"/>
              <a:t>allow elements </a:t>
            </a:r>
            <a:r>
              <a:rPr lang="en-US" sz="4000" dirty="0"/>
              <a:t>to be </a:t>
            </a:r>
            <a:r>
              <a:rPr lang="en-US" sz="4000" b="1" dirty="0"/>
              <a:t>added and removed from only one end</a:t>
            </a:r>
            <a:r>
              <a:rPr lang="en-US" sz="4000" dirty="0"/>
              <a:t>, known as the </a:t>
            </a:r>
            <a:r>
              <a:rPr lang="en-US" sz="4000" b="1" dirty="0"/>
              <a:t>top of the stack.</a:t>
            </a:r>
          </a:p>
          <a:p>
            <a:r>
              <a:rPr lang="en-US" sz="4000" dirty="0"/>
              <a:t>Linear lists can be </a:t>
            </a:r>
            <a:r>
              <a:rPr lang="en-US" sz="4000" b="1" dirty="0"/>
              <a:t>used to represent </a:t>
            </a:r>
            <a:r>
              <a:rPr lang="en-US" sz="4000" dirty="0"/>
              <a:t>a variety of </a:t>
            </a:r>
            <a:r>
              <a:rPr lang="en-US" sz="4000" b="1" dirty="0"/>
              <a:t>data types</a:t>
            </a:r>
            <a:r>
              <a:rPr lang="en-US" sz="4000" dirty="0"/>
              <a:t>, such as </a:t>
            </a:r>
            <a:r>
              <a:rPr lang="en-US" sz="4000" b="1" dirty="0"/>
              <a:t>numbers, characters, strings, and objects</a:t>
            </a:r>
            <a:r>
              <a:rPr lang="en-US" sz="4000" dirty="0"/>
              <a:t>. </a:t>
            </a:r>
          </a:p>
          <a:p>
            <a:r>
              <a:rPr lang="en-US" sz="4000" dirty="0"/>
              <a:t>Liner list are </a:t>
            </a:r>
            <a:r>
              <a:rPr lang="en-US" sz="4000" b="1" dirty="0"/>
              <a:t>useful in many applications </a:t>
            </a:r>
            <a:r>
              <a:rPr lang="en-US" sz="4000" dirty="0"/>
              <a:t>such as </a:t>
            </a:r>
            <a:r>
              <a:rPr lang="en-US" sz="4000" b="1" dirty="0"/>
              <a:t>sorting, searching and storing data. </a:t>
            </a:r>
          </a:p>
          <a:p>
            <a:r>
              <a:rPr lang="en-US" sz="4000" dirty="0"/>
              <a:t>However they have </a:t>
            </a:r>
            <a:r>
              <a:rPr lang="en-US" sz="4000" b="1" dirty="0"/>
              <a:t>some limitations </a:t>
            </a:r>
            <a:r>
              <a:rPr lang="en-US" sz="4000" dirty="0"/>
              <a:t>such as </a:t>
            </a:r>
            <a:r>
              <a:rPr lang="en-US" sz="4000" b="1" dirty="0"/>
              <a:t>fixed size( for fixed sized arrays) </a:t>
            </a:r>
            <a:r>
              <a:rPr lang="en-US" sz="4000" dirty="0"/>
              <a:t>and </a:t>
            </a:r>
            <a:r>
              <a:rPr lang="en-US" sz="4000" b="1" dirty="0"/>
              <a:t>slow access time </a:t>
            </a:r>
            <a:r>
              <a:rPr lang="en-US" sz="4000" dirty="0"/>
              <a:t>for </a:t>
            </a:r>
            <a:r>
              <a:rPr lang="en-US" sz="4000" b="1" dirty="0"/>
              <a:t>insertion and deleting </a:t>
            </a:r>
            <a:r>
              <a:rPr lang="en-US" sz="4000" dirty="0"/>
              <a:t>elements (for </a:t>
            </a:r>
            <a:r>
              <a:rPr lang="en-US" sz="4000" b="1" dirty="0"/>
              <a:t>linked list</a:t>
            </a:r>
            <a:r>
              <a:rPr lang="en-US" sz="4000" dirty="0"/>
              <a:t>).</a:t>
            </a:r>
          </a:p>
          <a:p>
            <a:r>
              <a:rPr lang="en-US" sz="4000" dirty="0"/>
              <a:t>They are often </a:t>
            </a:r>
            <a:r>
              <a:rPr lang="en-US" sz="4000" b="1" dirty="0"/>
              <a:t>used as a building block </a:t>
            </a:r>
            <a:r>
              <a:rPr lang="en-US" sz="4000" dirty="0"/>
              <a:t>for </a:t>
            </a:r>
            <a:r>
              <a:rPr lang="en-US" sz="4000" b="1" dirty="0"/>
              <a:t>more complex data structures, such as trees and graphs."</a:t>
            </a:r>
          </a:p>
          <a:p>
            <a:endParaRPr lang="en-US" b="1" dirty="0"/>
          </a:p>
          <a:p>
            <a:pPr marL="0" indent="0">
              <a:buNone/>
            </a:pPr>
            <a:endParaRPr lang="en-US" dirty="0"/>
          </a:p>
        </p:txBody>
      </p:sp>
    </p:spTree>
    <p:extLst>
      <p:ext uri="{BB962C8B-B14F-4D97-AF65-F5344CB8AC3E}">
        <p14:creationId xmlns:p14="http://schemas.microsoft.com/office/powerpoint/2010/main" val="1191031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1B22F-F342-4F6D-83BB-857CC22779CA}"/>
              </a:ext>
            </a:extLst>
          </p:cNvPr>
          <p:cNvSpPr>
            <a:spLocks noGrp="1"/>
          </p:cNvSpPr>
          <p:nvPr>
            <p:ph idx="1"/>
          </p:nvPr>
        </p:nvSpPr>
        <p:spPr>
          <a:xfrm>
            <a:off x="838200" y="135466"/>
            <a:ext cx="10515600" cy="6722533"/>
          </a:xfrm>
        </p:spPr>
        <p:txBody>
          <a:bodyPr>
            <a:normAutofit/>
          </a:bodyPr>
          <a:lstStyle/>
          <a:p>
            <a:pPr>
              <a:buFont typeface="Wingdings" panose="05000000000000000000" pitchFamily="2" charset="2"/>
              <a:buChar char="Ø"/>
            </a:pPr>
            <a:r>
              <a:rPr lang="en-US" sz="4000" b="1" dirty="0"/>
              <a:t>General Linear List:</a:t>
            </a:r>
          </a:p>
          <a:p>
            <a:pPr marL="0" indent="0">
              <a:buNone/>
            </a:pPr>
            <a:r>
              <a:rPr lang="en-US" sz="3200" dirty="0"/>
              <a:t>A </a:t>
            </a:r>
            <a:r>
              <a:rPr lang="en-US" sz="3200" b="1" dirty="0"/>
              <a:t>general linear list </a:t>
            </a:r>
            <a:r>
              <a:rPr lang="en-US" sz="3200" dirty="0"/>
              <a:t>is a data structure in computer science and programming </a:t>
            </a:r>
            <a:r>
              <a:rPr lang="en-US" sz="3200" b="1" dirty="0"/>
              <a:t>that consists of a sequence of nodes</a:t>
            </a:r>
            <a:r>
              <a:rPr lang="en-US" sz="3200" dirty="0"/>
              <a:t>, </a:t>
            </a:r>
            <a:r>
              <a:rPr lang="en-US" sz="3200" b="1" dirty="0"/>
              <a:t>each of which contains a data element and a reference to the next node </a:t>
            </a:r>
            <a:r>
              <a:rPr lang="en-US" sz="3200" dirty="0"/>
              <a:t>in the </a:t>
            </a:r>
            <a:r>
              <a:rPr lang="en-US" sz="3200" b="1" dirty="0"/>
              <a:t>sequence</a:t>
            </a:r>
            <a:r>
              <a:rPr lang="en-US" sz="3200" dirty="0"/>
              <a:t>.</a:t>
            </a:r>
          </a:p>
          <a:p>
            <a:pPr marL="0" indent="0">
              <a:buNone/>
            </a:pPr>
            <a:r>
              <a:rPr lang="en-US" sz="3200" dirty="0"/>
              <a:t>The </a:t>
            </a:r>
            <a:r>
              <a:rPr lang="en-US" sz="3200" b="1" dirty="0"/>
              <a:t>nodes can be located anywhere in memory</a:t>
            </a:r>
            <a:r>
              <a:rPr lang="en-US" sz="3200" dirty="0"/>
              <a:t>, and they are </a:t>
            </a:r>
            <a:r>
              <a:rPr lang="en-US" sz="3200" b="1" dirty="0"/>
              <a:t>connected by the next reference</a:t>
            </a:r>
            <a:r>
              <a:rPr lang="en-US" sz="3200" dirty="0"/>
              <a:t>.</a:t>
            </a:r>
          </a:p>
          <a:p>
            <a:pPr marL="0" indent="0">
              <a:buNone/>
            </a:pPr>
            <a:r>
              <a:rPr lang="en-US" sz="3200" dirty="0"/>
              <a:t>The </a:t>
            </a:r>
            <a:r>
              <a:rPr lang="en-US" sz="3200" b="1" dirty="0"/>
              <a:t>term "general" indicates </a:t>
            </a:r>
            <a:r>
              <a:rPr lang="en-US" sz="3200" dirty="0"/>
              <a:t>that the </a:t>
            </a:r>
            <a:r>
              <a:rPr lang="en-US" sz="3200" b="1" dirty="0"/>
              <a:t>list can have any number </a:t>
            </a:r>
            <a:r>
              <a:rPr lang="en-US" sz="3200" dirty="0"/>
              <a:t>of </a:t>
            </a:r>
            <a:r>
              <a:rPr lang="en-US" sz="3200" b="1" dirty="0"/>
              <a:t>nodes</a:t>
            </a:r>
            <a:r>
              <a:rPr lang="en-US" sz="3200" dirty="0"/>
              <a:t>, and it </a:t>
            </a:r>
            <a:r>
              <a:rPr lang="en-US" sz="3200" b="1" dirty="0"/>
              <a:t>is not restricted to a fixed size or capacity</a:t>
            </a:r>
            <a:r>
              <a:rPr lang="en-US" sz="3200" dirty="0"/>
              <a:t>. </a:t>
            </a:r>
          </a:p>
          <a:p>
            <a:pPr marL="0" indent="0">
              <a:buNone/>
            </a:pPr>
            <a:r>
              <a:rPr lang="en-US" sz="3200" dirty="0"/>
              <a:t>The </a:t>
            </a:r>
            <a:r>
              <a:rPr lang="en-US" sz="3200" b="1" dirty="0"/>
              <a:t>"linear" aspect of the list refers </a:t>
            </a:r>
            <a:r>
              <a:rPr lang="en-US" sz="3200" dirty="0"/>
              <a:t>to the </a:t>
            </a:r>
            <a:r>
              <a:rPr lang="en-US" sz="3200" b="1" dirty="0"/>
              <a:t>fact that the nodes </a:t>
            </a:r>
            <a:r>
              <a:rPr lang="en-US" sz="3200" dirty="0"/>
              <a:t>are </a:t>
            </a:r>
            <a:r>
              <a:rPr lang="en-US" sz="3200" b="1" dirty="0"/>
              <a:t>arranged in a linear sequence</a:t>
            </a:r>
            <a:r>
              <a:rPr lang="en-US" sz="3200" dirty="0"/>
              <a:t>, with </a:t>
            </a:r>
            <a:r>
              <a:rPr lang="en-US" sz="3200" b="1" dirty="0"/>
              <a:t>each node having only one predecessor and one successor.</a:t>
            </a:r>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3202439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A97454-2487-422D-AA64-94BF4CC73F6B}"/>
              </a:ext>
            </a:extLst>
          </p:cNvPr>
          <p:cNvSpPr>
            <a:spLocks noGrp="1"/>
          </p:cNvSpPr>
          <p:nvPr>
            <p:ph idx="1"/>
          </p:nvPr>
        </p:nvSpPr>
        <p:spPr>
          <a:xfrm>
            <a:off x="838200" y="124178"/>
            <a:ext cx="10515600" cy="6626578"/>
          </a:xfrm>
        </p:spPr>
        <p:txBody>
          <a:bodyPr/>
          <a:lstStyle/>
          <a:p>
            <a:r>
              <a:rPr lang="en-US" sz="3600" b="1" dirty="0"/>
              <a:t>General linear lists </a:t>
            </a:r>
            <a:r>
              <a:rPr lang="en-US" sz="3600" dirty="0"/>
              <a:t>can </a:t>
            </a:r>
            <a:r>
              <a:rPr lang="en-US" sz="3600" b="1" dirty="0"/>
              <a:t>be implemented </a:t>
            </a:r>
            <a:r>
              <a:rPr lang="en-US" sz="3600" dirty="0"/>
              <a:t>using </a:t>
            </a:r>
            <a:r>
              <a:rPr lang="en-US" sz="3600" b="1" dirty="0"/>
              <a:t>various data structures, </a:t>
            </a:r>
            <a:r>
              <a:rPr lang="en-US" sz="3600" dirty="0"/>
              <a:t>such as </a:t>
            </a:r>
            <a:r>
              <a:rPr lang="en-US" sz="3600" b="1" dirty="0"/>
              <a:t>arrays or linked lists</a:t>
            </a:r>
            <a:r>
              <a:rPr lang="en-US" sz="3600" dirty="0"/>
              <a:t>.</a:t>
            </a:r>
          </a:p>
          <a:p>
            <a:r>
              <a:rPr lang="en-US" sz="3600" dirty="0"/>
              <a:t>They are commonly </a:t>
            </a:r>
            <a:r>
              <a:rPr lang="en-US" sz="3600" b="1" dirty="0"/>
              <a:t>used in many applications</a:t>
            </a:r>
            <a:r>
              <a:rPr lang="en-US" sz="3600" dirty="0"/>
              <a:t>, including </a:t>
            </a:r>
            <a:r>
              <a:rPr lang="en-US" sz="3600" b="1" dirty="0"/>
              <a:t>data storage, graph algorithms, and file systems.</a:t>
            </a:r>
          </a:p>
          <a:p>
            <a:pPr marL="0" indent="0">
              <a:buNone/>
            </a:pPr>
            <a:endParaRPr lang="en-US" sz="3600" dirty="0"/>
          </a:p>
          <a:p>
            <a:pPr marL="0" indent="0">
              <a:buNone/>
            </a:pPr>
            <a:endParaRPr lang="en-US" dirty="0"/>
          </a:p>
        </p:txBody>
      </p:sp>
    </p:spTree>
    <p:extLst>
      <p:ext uri="{BB962C8B-B14F-4D97-AF65-F5344CB8AC3E}">
        <p14:creationId xmlns:p14="http://schemas.microsoft.com/office/powerpoint/2010/main" val="2094861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35AE9A-0DF4-4604-A04D-28C7B184E7C6}"/>
              </a:ext>
            </a:extLst>
          </p:cNvPr>
          <p:cNvSpPr>
            <a:spLocks noGrp="1"/>
          </p:cNvSpPr>
          <p:nvPr>
            <p:ph idx="1"/>
          </p:nvPr>
        </p:nvSpPr>
        <p:spPr>
          <a:xfrm>
            <a:off x="838200" y="203200"/>
            <a:ext cx="10515600" cy="6513689"/>
          </a:xfrm>
        </p:spPr>
        <p:txBody>
          <a:bodyPr>
            <a:normAutofit lnSpcReduction="10000"/>
          </a:bodyPr>
          <a:lstStyle/>
          <a:p>
            <a:pPr marL="0" indent="0">
              <a:buNone/>
            </a:pPr>
            <a:r>
              <a:rPr lang="en-US" sz="3600" b="1" dirty="0"/>
              <a:t>Differences between linear list and general linear list:</a:t>
            </a:r>
          </a:p>
          <a:p>
            <a:pPr marL="0" indent="0">
              <a:buNone/>
            </a:pPr>
            <a:r>
              <a:rPr lang="en-US" sz="3600" dirty="0"/>
              <a:t>A </a:t>
            </a:r>
            <a:r>
              <a:rPr lang="en-US" sz="3600" b="1" dirty="0"/>
              <a:t>linear list </a:t>
            </a:r>
            <a:r>
              <a:rPr lang="en-US" sz="3600" dirty="0"/>
              <a:t>and a </a:t>
            </a:r>
            <a:r>
              <a:rPr lang="en-US" sz="3600" b="1" dirty="0"/>
              <a:t>general linear list </a:t>
            </a:r>
            <a:r>
              <a:rPr lang="en-US" sz="3600" dirty="0"/>
              <a:t>are both data structures used in computer science and programming. </a:t>
            </a:r>
          </a:p>
          <a:p>
            <a:pPr marL="0" indent="0">
              <a:buNone/>
            </a:pPr>
            <a:r>
              <a:rPr lang="en-US" sz="3600" dirty="0"/>
              <a:t>However, there is a fundamental difference between the two;</a:t>
            </a:r>
          </a:p>
          <a:p>
            <a:pPr marL="0" indent="0">
              <a:buNone/>
            </a:pPr>
            <a:r>
              <a:rPr lang="en-US" sz="3600" b="1" dirty="0"/>
              <a:t>A linear list </a:t>
            </a:r>
            <a:r>
              <a:rPr lang="en-US" sz="3600" dirty="0"/>
              <a:t>is a data structure in which </a:t>
            </a:r>
            <a:r>
              <a:rPr lang="en-US" sz="3600" b="1" dirty="0"/>
              <a:t>elements are arranged in a sequential order</a:t>
            </a:r>
            <a:r>
              <a:rPr lang="en-US" sz="3600" dirty="0"/>
              <a:t>, where </a:t>
            </a:r>
            <a:r>
              <a:rPr lang="en-US" sz="3600" b="1" dirty="0"/>
              <a:t>each element is connected to its adjacent element by a link or a pointer</a:t>
            </a:r>
            <a:r>
              <a:rPr lang="en-US" sz="3600" dirty="0"/>
              <a:t>. </a:t>
            </a:r>
          </a:p>
          <a:p>
            <a:pPr marL="0" indent="0">
              <a:buNone/>
            </a:pPr>
            <a:r>
              <a:rPr lang="en-US" sz="3600" dirty="0"/>
              <a:t>This means that </a:t>
            </a:r>
            <a:r>
              <a:rPr lang="en-US" sz="3600" b="1" dirty="0"/>
              <a:t>in a linear list, each element has only one predecessor and one successor, except for the first and last elements</a:t>
            </a:r>
            <a:r>
              <a:rPr lang="en-US" sz="3600" dirty="0"/>
              <a:t>, which have </a:t>
            </a:r>
            <a:r>
              <a:rPr lang="en-US" sz="3600" b="1" dirty="0"/>
              <a:t>only one predecessor or successor</a:t>
            </a:r>
            <a:r>
              <a:rPr lang="en-US" sz="3600" dirty="0"/>
              <a:t>, respectively.</a:t>
            </a:r>
          </a:p>
          <a:p>
            <a:pPr marL="0" indent="0">
              <a:buNone/>
            </a:pPr>
            <a:endParaRPr lang="en-US" dirty="0"/>
          </a:p>
          <a:p>
            <a:pPr marL="0" indent="0">
              <a:buNone/>
            </a:pPr>
            <a:endParaRPr lang="en-US" dirty="0"/>
          </a:p>
          <a:p>
            <a:pPr marL="0" indent="0">
              <a:buNone/>
            </a:pPr>
            <a:endParaRPr lang="en-US" b="1" dirty="0"/>
          </a:p>
        </p:txBody>
      </p:sp>
    </p:spTree>
    <p:extLst>
      <p:ext uri="{BB962C8B-B14F-4D97-AF65-F5344CB8AC3E}">
        <p14:creationId xmlns:p14="http://schemas.microsoft.com/office/powerpoint/2010/main" val="2255988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9C4CCB-03FF-45C5-B7E5-2A659EDF11FA}"/>
              </a:ext>
            </a:extLst>
          </p:cNvPr>
          <p:cNvSpPr>
            <a:spLocks noGrp="1"/>
          </p:cNvSpPr>
          <p:nvPr>
            <p:ph idx="1"/>
          </p:nvPr>
        </p:nvSpPr>
        <p:spPr>
          <a:xfrm>
            <a:off x="838200" y="0"/>
            <a:ext cx="10515600" cy="6705600"/>
          </a:xfrm>
        </p:spPr>
        <p:txBody>
          <a:bodyPr>
            <a:normAutofit/>
          </a:bodyPr>
          <a:lstStyle/>
          <a:p>
            <a:r>
              <a:rPr lang="en-US" sz="3600" dirty="0"/>
              <a:t>On the other hand, a </a:t>
            </a:r>
            <a:r>
              <a:rPr lang="en-US" sz="3600" b="1" dirty="0"/>
              <a:t>general linear list </a:t>
            </a:r>
            <a:r>
              <a:rPr lang="en-US" sz="3600" dirty="0"/>
              <a:t>is a data structure that </a:t>
            </a:r>
            <a:r>
              <a:rPr lang="en-US" sz="3600" b="1" dirty="0"/>
              <a:t>allows each element to have any number of predecessors and successors</a:t>
            </a:r>
            <a:r>
              <a:rPr lang="en-US" sz="3600" dirty="0"/>
              <a:t>. </a:t>
            </a:r>
          </a:p>
          <a:p>
            <a:r>
              <a:rPr lang="en-US" sz="3600" dirty="0"/>
              <a:t>In other words, in </a:t>
            </a:r>
            <a:r>
              <a:rPr lang="en-US" sz="3600" b="1" dirty="0"/>
              <a:t>a general linear list</a:t>
            </a:r>
            <a:r>
              <a:rPr lang="en-US" sz="3600" dirty="0"/>
              <a:t>, a </a:t>
            </a:r>
            <a:r>
              <a:rPr lang="en-US" sz="3600" b="1" dirty="0"/>
              <a:t>node can have multiple references to other nodes</a:t>
            </a:r>
            <a:r>
              <a:rPr lang="en-US" sz="3600" dirty="0"/>
              <a:t>, which </a:t>
            </a:r>
            <a:r>
              <a:rPr lang="en-US" sz="3600" b="1" dirty="0"/>
              <a:t>enables it to form complex data </a:t>
            </a:r>
            <a:r>
              <a:rPr lang="en-US" sz="3600" dirty="0"/>
              <a:t>structures such as </a:t>
            </a:r>
            <a:r>
              <a:rPr lang="en-US" sz="3600" b="1" dirty="0"/>
              <a:t>trees, graphs, and networks</a:t>
            </a:r>
            <a:r>
              <a:rPr lang="en-US" sz="3600" dirty="0"/>
              <a:t>.</a:t>
            </a:r>
          </a:p>
          <a:p>
            <a:pPr marL="0" indent="0">
              <a:buNone/>
            </a:pPr>
            <a:r>
              <a:rPr lang="en-US" sz="3600" dirty="0"/>
              <a:t>Therefore, the </a:t>
            </a:r>
            <a:r>
              <a:rPr lang="en-US" sz="3600" b="1" dirty="0"/>
              <a:t>primary difference between </a:t>
            </a:r>
            <a:r>
              <a:rPr lang="en-US" sz="3600" dirty="0"/>
              <a:t>a </a:t>
            </a:r>
            <a:r>
              <a:rPr lang="en-US" sz="3600" b="1" dirty="0"/>
              <a:t>linear list </a:t>
            </a:r>
            <a:r>
              <a:rPr lang="en-US" sz="3600" dirty="0"/>
              <a:t>and a </a:t>
            </a:r>
            <a:r>
              <a:rPr lang="en-US" sz="3600" b="1" dirty="0"/>
              <a:t>general linear list </a:t>
            </a:r>
            <a:r>
              <a:rPr lang="en-US" sz="3600" dirty="0"/>
              <a:t>is that a </a:t>
            </a:r>
            <a:r>
              <a:rPr lang="en-US" sz="3600" b="1" dirty="0"/>
              <a:t>linear list only allows for a simple sequence of elements</a:t>
            </a:r>
            <a:r>
              <a:rPr lang="en-US" sz="3600" dirty="0"/>
              <a:t>, while </a:t>
            </a:r>
            <a:r>
              <a:rPr lang="en-US" sz="3600" b="1" dirty="0"/>
              <a:t>a general linear list allows for more complex and interconnected structures.</a:t>
            </a:r>
          </a:p>
          <a:p>
            <a:pPr marL="0" indent="0">
              <a:buNone/>
            </a:pPr>
            <a:endParaRPr lang="en-US" dirty="0"/>
          </a:p>
        </p:txBody>
      </p:sp>
    </p:spTree>
    <p:extLst>
      <p:ext uri="{BB962C8B-B14F-4D97-AF65-F5344CB8AC3E}">
        <p14:creationId xmlns:p14="http://schemas.microsoft.com/office/powerpoint/2010/main" val="30533868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D401C-CA2A-44A3-960D-692D3A5E80A4}"/>
              </a:ext>
            </a:extLst>
          </p:cNvPr>
          <p:cNvSpPr>
            <a:spLocks noGrp="1"/>
          </p:cNvSpPr>
          <p:nvPr>
            <p:ph type="title"/>
          </p:nvPr>
        </p:nvSpPr>
        <p:spPr>
          <a:xfrm>
            <a:off x="838200" y="233083"/>
            <a:ext cx="10515600" cy="555812"/>
          </a:xfrm>
        </p:spPr>
        <p:txBody>
          <a:bodyPr>
            <a:normAutofit fontScale="90000"/>
          </a:bodyPr>
          <a:lstStyle/>
          <a:p>
            <a:r>
              <a:rPr lang="en-US" b="1" dirty="0"/>
              <a:t>Examples:</a:t>
            </a:r>
          </a:p>
        </p:txBody>
      </p:sp>
      <p:sp>
        <p:nvSpPr>
          <p:cNvPr id="6" name="Content Placeholder 5">
            <a:extLst>
              <a:ext uri="{FF2B5EF4-FFF2-40B4-BE49-F238E27FC236}">
                <a16:creationId xmlns:a16="http://schemas.microsoft.com/office/drawing/2014/main" id="{930174FF-B33A-4F2F-8B1A-3517F5219863}"/>
              </a:ext>
            </a:extLst>
          </p:cNvPr>
          <p:cNvSpPr>
            <a:spLocks noGrp="1"/>
          </p:cNvSpPr>
          <p:nvPr>
            <p:ph idx="1"/>
          </p:nvPr>
        </p:nvSpPr>
        <p:spPr>
          <a:xfrm>
            <a:off x="838200" y="788895"/>
            <a:ext cx="10515600" cy="5836022"/>
          </a:xfrm>
        </p:spPr>
        <p:txBody>
          <a:bodyPr/>
          <a:lstStyle/>
          <a:p>
            <a:endParaRPr lang="en-US" dirty="0"/>
          </a:p>
          <a:p>
            <a:endParaRPr lang="en-US" dirty="0"/>
          </a:p>
          <a:p>
            <a:endParaRPr lang="en-US" dirty="0"/>
          </a:p>
          <a:p>
            <a:endParaRPr lang="en-US" dirty="0"/>
          </a:p>
          <a:p>
            <a:endParaRPr lang="en-US" dirty="0"/>
          </a:p>
        </p:txBody>
      </p:sp>
      <p:pic>
        <p:nvPicPr>
          <p:cNvPr id="7" name="Content Placeholder 3" descr="extract a single element in list ">
            <a:extLst>
              <a:ext uri="{FF2B5EF4-FFF2-40B4-BE49-F238E27FC236}">
                <a16:creationId xmlns:a16="http://schemas.microsoft.com/office/drawing/2014/main" id="{04D71426-1A36-4646-A9D8-89D3E2552F98}"/>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995082" y="3603811"/>
            <a:ext cx="10515600" cy="2779059"/>
          </a:xfrm>
          <a:prstGeom prst="rect">
            <a:avLst/>
          </a:prstGeom>
          <a:noFill/>
          <a:ln>
            <a:noFill/>
          </a:ln>
        </p:spPr>
      </p:pic>
      <p:pic>
        <p:nvPicPr>
          <p:cNvPr id="8" name="Picture 7" descr="subsetting the list">
            <a:extLst>
              <a:ext uri="{FF2B5EF4-FFF2-40B4-BE49-F238E27FC236}">
                <a16:creationId xmlns:a16="http://schemas.microsoft.com/office/drawing/2014/main" id="{47DCD687-7A39-49C0-AB8E-47A9342533E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95082" y="1021976"/>
            <a:ext cx="10515600" cy="1900518"/>
          </a:xfrm>
          <a:prstGeom prst="rect">
            <a:avLst/>
          </a:prstGeom>
          <a:noFill/>
          <a:ln>
            <a:noFill/>
          </a:ln>
        </p:spPr>
      </p:pic>
    </p:spTree>
    <p:extLst>
      <p:ext uri="{BB962C8B-B14F-4D97-AF65-F5344CB8AC3E}">
        <p14:creationId xmlns:p14="http://schemas.microsoft.com/office/powerpoint/2010/main" val="31957225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xtract sequence list">
            <a:extLst>
              <a:ext uri="{FF2B5EF4-FFF2-40B4-BE49-F238E27FC236}">
                <a16:creationId xmlns:a16="http://schemas.microsoft.com/office/drawing/2014/main" id="{9AD34590-3D94-428E-AB0A-50BC80D04602}"/>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1488141"/>
            <a:ext cx="11546541" cy="3890683"/>
          </a:xfrm>
          <a:prstGeom prst="rect">
            <a:avLst/>
          </a:prstGeom>
          <a:noFill/>
          <a:ln>
            <a:noFill/>
          </a:ln>
        </p:spPr>
      </p:pic>
    </p:spTree>
    <p:extLst>
      <p:ext uri="{BB962C8B-B14F-4D97-AF65-F5344CB8AC3E}">
        <p14:creationId xmlns:p14="http://schemas.microsoft.com/office/powerpoint/2010/main" val="2579649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99E9A6-068B-44AF-9EF9-9D051C89A3C4}"/>
              </a:ext>
            </a:extLst>
          </p:cNvPr>
          <p:cNvSpPr>
            <a:spLocks noGrp="1"/>
          </p:cNvSpPr>
          <p:nvPr>
            <p:ph idx="1"/>
          </p:nvPr>
        </p:nvSpPr>
        <p:spPr>
          <a:xfrm>
            <a:off x="838200" y="215153"/>
            <a:ext cx="11353800" cy="6508376"/>
          </a:xfrm>
        </p:spPr>
        <p:txBody>
          <a:bodyPr/>
          <a:lstStyle/>
          <a:p>
            <a:r>
              <a:rPr lang="en-US" dirty="0"/>
              <a:t>A single element can be added using an </a:t>
            </a:r>
            <a:r>
              <a:rPr lang="en-US" b="1" dirty="0"/>
              <a:t>append function</a:t>
            </a:r>
            <a:r>
              <a:rPr lang="en-US" dirty="0"/>
              <a:t>. </a:t>
            </a:r>
          </a:p>
          <a:p>
            <a:endParaRPr lang="en-US" dirty="0"/>
          </a:p>
          <a:p>
            <a:endParaRPr lang="en-US" dirty="0"/>
          </a:p>
        </p:txBody>
      </p:sp>
      <p:pic>
        <p:nvPicPr>
          <p:cNvPr id="4" name="Picture 3" descr="Adding Elements to an Existing List">
            <a:extLst>
              <a:ext uri="{FF2B5EF4-FFF2-40B4-BE49-F238E27FC236}">
                <a16:creationId xmlns:a16="http://schemas.microsoft.com/office/drawing/2014/main" id="{471AB44C-ECCF-4EF8-A334-A19AB908806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838199" y="1165411"/>
            <a:ext cx="10349753" cy="5477435"/>
          </a:xfrm>
          <a:prstGeom prst="rect">
            <a:avLst/>
          </a:prstGeom>
          <a:noFill/>
          <a:ln>
            <a:noFill/>
          </a:ln>
        </p:spPr>
      </p:pic>
    </p:spTree>
    <p:extLst>
      <p:ext uri="{BB962C8B-B14F-4D97-AF65-F5344CB8AC3E}">
        <p14:creationId xmlns:p14="http://schemas.microsoft.com/office/powerpoint/2010/main" val="2398853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dd multiple elements">
            <a:extLst>
              <a:ext uri="{FF2B5EF4-FFF2-40B4-BE49-F238E27FC236}">
                <a16:creationId xmlns:a16="http://schemas.microsoft.com/office/drawing/2014/main" id="{3813FD2F-8E95-4205-AF75-5AD2C4ADFAAB}"/>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8587" y="376518"/>
            <a:ext cx="11259671" cy="6149788"/>
          </a:xfrm>
          <a:prstGeom prst="rect">
            <a:avLst/>
          </a:prstGeom>
          <a:noFill/>
          <a:ln>
            <a:noFill/>
          </a:ln>
        </p:spPr>
      </p:pic>
    </p:spTree>
    <p:extLst>
      <p:ext uri="{BB962C8B-B14F-4D97-AF65-F5344CB8AC3E}">
        <p14:creationId xmlns:p14="http://schemas.microsoft.com/office/powerpoint/2010/main" val="227977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B68C70-7AC6-4CB2-A1AD-7C3B88B2F56C}"/>
              </a:ext>
            </a:extLst>
          </p:cNvPr>
          <p:cNvSpPr>
            <a:spLocks noGrp="1"/>
          </p:cNvSpPr>
          <p:nvPr>
            <p:ph idx="1"/>
          </p:nvPr>
        </p:nvSpPr>
        <p:spPr>
          <a:xfrm>
            <a:off x="838200" y="125506"/>
            <a:ext cx="10515600" cy="6454588"/>
          </a:xfrm>
        </p:spPr>
        <p:txBody>
          <a:bodyPr/>
          <a:lstStyle/>
          <a:p>
            <a:endParaRPr lang="en-US" dirty="0"/>
          </a:p>
          <a:p>
            <a:endParaRPr lang="en-US" dirty="0"/>
          </a:p>
        </p:txBody>
      </p:sp>
      <p:pic>
        <p:nvPicPr>
          <p:cNvPr id="4" name="Picture 3" descr="add list to a list">
            <a:extLst>
              <a:ext uri="{FF2B5EF4-FFF2-40B4-BE49-F238E27FC236}">
                <a16:creationId xmlns:a16="http://schemas.microsoft.com/office/drawing/2014/main" id="{1237CEEF-7F76-4F39-885C-DEBD69D4A473}"/>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68941" y="277906"/>
            <a:ext cx="11084859" cy="6302188"/>
          </a:xfrm>
          <a:prstGeom prst="rect">
            <a:avLst/>
          </a:prstGeom>
          <a:noFill/>
          <a:ln>
            <a:noFill/>
          </a:ln>
        </p:spPr>
      </p:pic>
    </p:spTree>
    <p:extLst>
      <p:ext uri="{BB962C8B-B14F-4D97-AF65-F5344CB8AC3E}">
        <p14:creationId xmlns:p14="http://schemas.microsoft.com/office/powerpoint/2010/main" val="2593439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80E1740-4C2E-4916-B989-CFC3701AB590}"/>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 y="251012"/>
            <a:ext cx="11743765" cy="6382870"/>
          </a:xfrm>
          <a:prstGeom prst="rect">
            <a:avLst/>
          </a:prstGeom>
          <a:noFill/>
          <a:ln>
            <a:noFill/>
          </a:ln>
        </p:spPr>
      </p:pic>
    </p:spTree>
    <p:extLst>
      <p:ext uri="{BB962C8B-B14F-4D97-AF65-F5344CB8AC3E}">
        <p14:creationId xmlns:p14="http://schemas.microsoft.com/office/powerpoint/2010/main" val="757959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8B3B89-5623-440F-BBFF-0F13BE6019EC}"/>
              </a:ext>
            </a:extLst>
          </p:cNvPr>
          <p:cNvSpPr>
            <a:spLocks noGrp="1"/>
          </p:cNvSpPr>
          <p:nvPr>
            <p:ph idx="1"/>
          </p:nvPr>
        </p:nvSpPr>
        <p:spPr>
          <a:xfrm>
            <a:off x="838200" y="0"/>
            <a:ext cx="10515600" cy="6598024"/>
          </a:xfrm>
        </p:spPr>
        <p:txBody>
          <a:bodyPr/>
          <a:lstStyle/>
          <a:p>
            <a:endParaRPr lang="en-US" dirty="0"/>
          </a:p>
          <a:p>
            <a:endParaRPr lang="en-US" dirty="0"/>
          </a:p>
          <a:p>
            <a:endParaRPr lang="en-US" dirty="0"/>
          </a:p>
        </p:txBody>
      </p:sp>
      <p:pic>
        <p:nvPicPr>
          <p:cNvPr id="4" name="Picture 3">
            <a:extLst>
              <a:ext uri="{FF2B5EF4-FFF2-40B4-BE49-F238E27FC236}">
                <a16:creationId xmlns:a16="http://schemas.microsoft.com/office/drawing/2014/main" id="{1F079A11-DAE7-4120-8131-E793DB11240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30307" y="259976"/>
            <a:ext cx="11313458" cy="6338047"/>
          </a:xfrm>
          <a:prstGeom prst="rect">
            <a:avLst/>
          </a:prstGeom>
          <a:noFill/>
          <a:ln>
            <a:noFill/>
          </a:ln>
        </p:spPr>
      </p:pic>
    </p:spTree>
    <p:extLst>
      <p:ext uri="{BB962C8B-B14F-4D97-AF65-F5344CB8AC3E}">
        <p14:creationId xmlns:p14="http://schemas.microsoft.com/office/powerpoint/2010/main" val="5722776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37668A4-65C4-41AC-8B81-CA29C3FF049F}"/>
              </a:ext>
            </a:extLst>
          </p:cNvPr>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436" y="161365"/>
            <a:ext cx="11923058" cy="6562164"/>
          </a:xfrm>
          <a:prstGeom prst="rect">
            <a:avLst/>
          </a:prstGeom>
          <a:noFill/>
          <a:ln>
            <a:noFill/>
          </a:ln>
        </p:spPr>
      </p:pic>
    </p:spTree>
    <p:extLst>
      <p:ext uri="{BB962C8B-B14F-4D97-AF65-F5344CB8AC3E}">
        <p14:creationId xmlns:p14="http://schemas.microsoft.com/office/powerpoint/2010/main" val="2023645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25D088-ED43-40D0-888A-4762C212ED7B}"/>
              </a:ext>
            </a:extLst>
          </p:cNvPr>
          <p:cNvSpPr>
            <a:spLocks noGrp="1"/>
          </p:cNvSpPr>
          <p:nvPr>
            <p:ph idx="1"/>
          </p:nvPr>
        </p:nvSpPr>
        <p:spPr>
          <a:xfrm>
            <a:off x="838200" y="146756"/>
            <a:ext cx="10515600" cy="6412088"/>
          </a:xfrm>
        </p:spPr>
        <p:txBody>
          <a:bodyPr>
            <a:normAutofit/>
          </a:bodyPr>
          <a:lstStyle/>
          <a:p>
            <a:pPr>
              <a:buFont typeface="Wingdings" panose="05000000000000000000" pitchFamily="2" charset="2"/>
              <a:buChar char="Ø"/>
            </a:pPr>
            <a:r>
              <a:rPr lang="en-US" sz="4000" b="1" dirty="0"/>
              <a:t>Linked list:</a:t>
            </a:r>
          </a:p>
          <a:p>
            <a:r>
              <a:rPr lang="en-US" sz="3600" dirty="0"/>
              <a:t>A linked list is a linear data structure used for storing and manipulating a sequence of elements. </a:t>
            </a:r>
          </a:p>
          <a:p>
            <a:r>
              <a:rPr lang="en-US" sz="3600" dirty="0"/>
              <a:t>It is a collection of nodes, where each node contains both a data element and a reference (or pointer) to the next node in the sequence. </a:t>
            </a:r>
          </a:p>
          <a:p>
            <a:r>
              <a:rPr lang="en-US" sz="3600" b="1" dirty="0"/>
              <a:t>Linked lists are dynamic </a:t>
            </a:r>
            <a:r>
              <a:rPr lang="en-US" sz="3600" dirty="0"/>
              <a:t>data structures that allow for </a:t>
            </a:r>
            <a:r>
              <a:rPr lang="en-US" sz="3600" b="1" dirty="0"/>
              <a:t>efficient insertion and deletion of elements</a:t>
            </a:r>
            <a:r>
              <a:rPr lang="en-US" sz="3600" dirty="0"/>
              <a:t>, especially when compared to arrays or other static data structures. </a:t>
            </a:r>
          </a:p>
          <a:p>
            <a:pPr marL="0" indent="0">
              <a:buNone/>
            </a:pPr>
            <a:endParaRPr lang="en-US" sz="3600" dirty="0"/>
          </a:p>
          <a:p>
            <a:endParaRPr lang="en-US" dirty="0"/>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26629823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A7815E-D093-4732-B6A8-75B4EDA9FE23}"/>
              </a:ext>
            </a:extLst>
          </p:cNvPr>
          <p:cNvSpPr>
            <a:spLocks noGrp="1"/>
          </p:cNvSpPr>
          <p:nvPr>
            <p:ph idx="1"/>
          </p:nvPr>
        </p:nvSpPr>
        <p:spPr>
          <a:xfrm>
            <a:off x="838200" y="158044"/>
            <a:ext cx="10515600" cy="6468534"/>
          </a:xfrm>
        </p:spPr>
        <p:txBody>
          <a:bodyPr>
            <a:normAutofit lnSpcReduction="10000"/>
          </a:bodyPr>
          <a:lstStyle/>
          <a:p>
            <a:pPr marL="0" indent="0">
              <a:buNone/>
            </a:pPr>
            <a:r>
              <a:rPr lang="en-US" sz="3600" dirty="0"/>
              <a:t>This is because inserting or deleting an element in a linked list only requires updating the reference pointers of a few nodes, whereas in an array, it may require shifting many elements.</a:t>
            </a:r>
          </a:p>
          <a:p>
            <a:pPr marL="0" indent="0">
              <a:buNone/>
            </a:pPr>
            <a:r>
              <a:rPr lang="en-US" sz="3600" dirty="0"/>
              <a:t>Linked lists are commonly used in various computer science applications such as implementing;</a:t>
            </a:r>
          </a:p>
          <a:p>
            <a:r>
              <a:rPr lang="en-US" sz="3600" b="1" dirty="0"/>
              <a:t>stacks, </a:t>
            </a:r>
          </a:p>
          <a:p>
            <a:r>
              <a:rPr lang="en-US" sz="3600" b="1" dirty="0"/>
              <a:t>queues and </a:t>
            </a:r>
          </a:p>
          <a:p>
            <a:r>
              <a:rPr lang="en-US" sz="3600" b="1" dirty="0"/>
              <a:t>hash tables. </a:t>
            </a:r>
          </a:p>
          <a:p>
            <a:pPr marL="0" indent="0">
              <a:buNone/>
            </a:pPr>
            <a:r>
              <a:rPr lang="en-US" sz="3600" dirty="0"/>
              <a:t>However, they can also have some disadvantages, such as the </a:t>
            </a:r>
            <a:r>
              <a:rPr lang="en-US" sz="3600" b="1" dirty="0"/>
              <a:t>lack of random access </a:t>
            </a:r>
            <a:r>
              <a:rPr lang="en-US" sz="3600" dirty="0"/>
              <a:t>and the </a:t>
            </a:r>
            <a:r>
              <a:rPr lang="en-US" sz="3600" b="1" dirty="0"/>
              <a:t>potential for memory fragmentation</a:t>
            </a:r>
            <a:r>
              <a:rPr lang="en-US" sz="3600" dirty="0"/>
              <a:t>.</a:t>
            </a:r>
          </a:p>
          <a:p>
            <a:pPr marL="0" indent="0">
              <a:buNone/>
            </a:pPr>
            <a:endParaRPr lang="en-US" dirty="0"/>
          </a:p>
        </p:txBody>
      </p:sp>
    </p:spTree>
    <p:extLst>
      <p:ext uri="{BB962C8B-B14F-4D97-AF65-F5344CB8AC3E}">
        <p14:creationId xmlns:p14="http://schemas.microsoft.com/office/powerpoint/2010/main" val="34697645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2AC5B8-87A9-49FC-892D-D89C2F473AB8}"/>
              </a:ext>
            </a:extLst>
          </p:cNvPr>
          <p:cNvSpPr>
            <a:spLocks noGrp="1"/>
          </p:cNvSpPr>
          <p:nvPr>
            <p:ph idx="1"/>
          </p:nvPr>
        </p:nvSpPr>
        <p:spPr>
          <a:xfrm>
            <a:off x="838200" y="112889"/>
            <a:ext cx="10515600" cy="6660444"/>
          </a:xfrm>
        </p:spPr>
        <p:txBody>
          <a:bodyPr>
            <a:normAutofit fontScale="92500"/>
          </a:bodyPr>
          <a:lstStyle/>
          <a:p>
            <a:r>
              <a:rPr lang="en-US" sz="3200" dirty="0"/>
              <a:t>It consists of a sequence of nodes, where each node contains a piece of data and a pointer to the next node in the sequence. </a:t>
            </a:r>
          </a:p>
          <a:p>
            <a:r>
              <a:rPr lang="en-US" sz="3200" dirty="0"/>
              <a:t>The first node in the sequence is called </a:t>
            </a:r>
            <a:r>
              <a:rPr lang="en-US" sz="3200" b="1" dirty="0"/>
              <a:t>the head node</a:t>
            </a:r>
            <a:r>
              <a:rPr lang="en-US" sz="3200" dirty="0"/>
              <a:t>, while the last node in the sequence has a pointer to </a:t>
            </a:r>
            <a:r>
              <a:rPr lang="en-US" sz="3200" b="1" dirty="0"/>
              <a:t>null</a:t>
            </a:r>
            <a:r>
              <a:rPr lang="en-US" sz="3200" dirty="0"/>
              <a:t>.</a:t>
            </a:r>
          </a:p>
          <a:p>
            <a:r>
              <a:rPr lang="en-US" sz="3200" dirty="0"/>
              <a:t>The basic building block of a </a:t>
            </a:r>
            <a:r>
              <a:rPr lang="en-US" sz="3200" b="1" dirty="0"/>
              <a:t>linked list is a node</a:t>
            </a:r>
            <a:r>
              <a:rPr lang="en-US" sz="3200" dirty="0"/>
              <a:t>, which contains </a:t>
            </a:r>
            <a:r>
              <a:rPr lang="en-US" sz="3200" b="1" dirty="0"/>
              <a:t>two fields: </a:t>
            </a:r>
            <a:r>
              <a:rPr lang="en-US" sz="3200" dirty="0"/>
              <a:t>a </a:t>
            </a:r>
            <a:r>
              <a:rPr lang="en-US" sz="3200" b="1" dirty="0"/>
              <a:t>data field to store the element</a:t>
            </a:r>
            <a:r>
              <a:rPr lang="en-US" sz="3200" dirty="0"/>
              <a:t> and a </a:t>
            </a:r>
            <a:r>
              <a:rPr lang="en-US" sz="3200" b="1" dirty="0"/>
              <a:t>next field to store the address of the next node in the sequence</a:t>
            </a:r>
            <a:r>
              <a:rPr lang="en-US" sz="3200" dirty="0"/>
              <a:t>. </a:t>
            </a:r>
          </a:p>
          <a:p>
            <a:r>
              <a:rPr lang="en-US" sz="3200" dirty="0"/>
              <a:t>The next field of the last node in the sequence is set to null, indicating the end of the list.</a:t>
            </a:r>
          </a:p>
          <a:p>
            <a:r>
              <a:rPr lang="en-US" sz="3200" dirty="0"/>
              <a:t>Linked lists are dynamic data structures, which means that they can </a:t>
            </a:r>
            <a:r>
              <a:rPr lang="en-US" sz="3200" b="1" dirty="0"/>
              <a:t>grow or shrink in size during the execution </a:t>
            </a:r>
            <a:r>
              <a:rPr lang="en-US" sz="3200" dirty="0"/>
              <a:t>of a program. </a:t>
            </a:r>
          </a:p>
          <a:p>
            <a:r>
              <a:rPr lang="en-US" sz="3200" dirty="0"/>
              <a:t>They are particularly useful in situations where the size of the data is not known in advance, or where the data needs to be inserted or deleted frequently.</a:t>
            </a:r>
          </a:p>
          <a:p>
            <a:pPr marL="0" indent="0">
              <a:buNone/>
            </a:pPr>
            <a:endParaRPr lang="en-US" dirty="0"/>
          </a:p>
          <a:p>
            <a:endParaRPr lang="en-US" dirty="0"/>
          </a:p>
        </p:txBody>
      </p:sp>
    </p:spTree>
    <p:extLst>
      <p:ext uri="{BB962C8B-B14F-4D97-AF65-F5344CB8AC3E}">
        <p14:creationId xmlns:p14="http://schemas.microsoft.com/office/powerpoint/2010/main" val="29165451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1F1E71-DF56-4F21-A905-6CD40088A3D8}"/>
              </a:ext>
            </a:extLst>
          </p:cNvPr>
          <p:cNvSpPr>
            <a:spLocks noGrp="1"/>
          </p:cNvSpPr>
          <p:nvPr>
            <p:ph idx="1"/>
          </p:nvPr>
        </p:nvSpPr>
        <p:spPr>
          <a:xfrm>
            <a:off x="838200" y="158044"/>
            <a:ext cx="10515600" cy="6592712"/>
          </a:xfrm>
        </p:spPr>
        <p:txBody>
          <a:bodyPr>
            <a:normAutofit/>
          </a:bodyPr>
          <a:lstStyle/>
          <a:p>
            <a:r>
              <a:rPr lang="en-US" sz="3600" dirty="0"/>
              <a:t>Linked lists come in different variations, including </a:t>
            </a:r>
            <a:r>
              <a:rPr lang="en-US" sz="3600" b="1" dirty="0"/>
              <a:t>singly linked lists, doubly linked lists </a:t>
            </a:r>
            <a:r>
              <a:rPr lang="en-US" sz="3600" dirty="0"/>
              <a:t>and </a:t>
            </a:r>
            <a:r>
              <a:rPr lang="en-US" sz="3600" b="1" dirty="0"/>
              <a:t>circular linked lists. </a:t>
            </a:r>
          </a:p>
          <a:p>
            <a:r>
              <a:rPr lang="en-US" sz="3600" dirty="0"/>
              <a:t>Singly linked lists have nodes that only point to the next node in the sequence. </a:t>
            </a:r>
          </a:p>
          <a:p>
            <a:r>
              <a:rPr lang="en-US" sz="3600" dirty="0"/>
              <a:t>Doubly linked lists have nodes that point to both the next and previous nodes in the sequence. </a:t>
            </a:r>
          </a:p>
          <a:p>
            <a:r>
              <a:rPr lang="en-US" sz="3600" dirty="0"/>
              <a:t>Circular linked lists have nodes that form a circular sequence, where the last node points back to the head node.</a:t>
            </a:r>
          </a:p>
          <a:p>
            <a:pPr marL="0" indent="0">
              <a:buNone/>
            </a:pPr>
            <a:endParaRPr lang="en-US" sz="3600" dirty="0"/>
          </a:p>
          <a:p>
            <a:pPr marL="0" indent="0">
              <a:buNone/>
            </a:pPr>
            <a:endParaRPr lang="en-US" dirty="0"/>
          </a:p>
        </p:txBody>
      </p:sp>
    </p:spTree>
    <p:extLst>
      <p:ext uri="{BB962C8B-B14F-4D97-AF65-F5344CB8AC3E}">
        <p14:creationId xmlns:p14="http://schemas.microsoft.com/office/powerpoint/2010/main" val="29448876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6CE2B0-07FF-4D90-B1BD-6B945140F93A}"/>
              </a:ext>
            </a:extLst>
          </p:cNvPr>
          <p:cNvSpPr>
            <a:spLocks noGrp="1"/>
          </p:cNvSpPr>
          <p:nvPr>
            <p:ph idx="1"/>
          </p:nvPr>
        </p:nvSpPr>
        <p:spPr>
          <a:xfrm>
            <a:off x="838200" y="112888"/>
            <a:ext cx="10515600" cy="6637867"/>
          </a:xfrm>
        </p:spPr>
        <p:txBody>
          <a:bodyPr>
            <a:normAutofit/>
          </a:bodyPr>
          <a:lstStyle/>
          <a:p>
            <a:r>
              <a:rPr lang="en-US" sz="3600" dirty="0"/>
              <a:t>In a singly linked list, each node only has a reference to the next node, while in a doubly linked list, each node has references to both the next and the previous nodes.</a:t>
            </a:r>
          </a:p>
          <a:p>
            <a:r>
              <a:rPr lang="en-US" sz="3600" dirty="0"/>
              <a:t>However, they have some </a:t>
            </a:r>
            <a:r>
              <a:rPr lang="en-US" sz="3600" b="1" dirty="0"/>
              <a:t>disadvantages compared </a:t>
            </a:r>
            <a:r>
              <a:rPr lang="en-US" sz="3600" dirty="0"/>
              <a:t>to other data structures, such as arrays, including </a:t>
            </a:r>
            <a:r>
              <a:rPr lang="en-US" sz="3600" b="1" dirty="0"/>
              <a:t>slower random access time </a:t>
            </a:r>
            <a:r>
              <a:rPr lang="en-US" sz="3600" dirty="0"/>
              <a:t>and </a:t>
            </a:r>
            <a:r>
              <a:rPr lang="en-US" sz="3600" b="1" dirty="0"/>
              <a:t>higher memory overhead.</a:t>
            </a:r>
          </a:p>
          <a:p>
            <a:endParaRPr lang="en-US" sz="3600" b="1" dirty="0"/>
          </a:p>
          <a:p>
            <a:endParaRPr lang="en-US" sz="3600" b="1" dirty="0"/>
          </a:p>
        </p:txBody>
      </p:sp>
      <p:pic>
        <p:nvPicPr>
          <p:cNvPr id="4" name="Picture 3">
            <a:extLst>
              <a:ext uri="{FF2B5EF4-FFF2-40B4-BE49-F238E27FC236}">
                <a16:creationId xmlns:a16="http://schemas.microsoft.com/office/drawing/2014/main" id="{4E83BAF2-0BA2-4CAB-90BB-0DF2494382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2756" y="3781778"/>
            <a:ext cx="9764888" cy="2963333"/>
          </a:xfrm>
          <a:prstGeom prst="rect">
            <a:avLst/>
          </a:prstGeom>
        </p:spPr>
      </p:pic>
    </p:spTree>
    <p:extLst>
      <p:ext uri="{BB962C8B-B14F-4D97-AF65-F5344CB8AC3E}">
        <p14:creationId xmlns:p14="http://schemas.microsoft.com/office/powerpoint/2010/main" val="3313988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CE09276-960D-4055-BAED-49F725283562}"/>
              </a:ext>
            </a:extLst>
          </p:cNvPr>
          <p:cNvSpPr>
            <a:spLocks noGrp="1"/>
          </p:cNvSpPr>
          <p:nvPr>
            <p:ph idx="1"/>
          </p:nvPr>
        </p:nvSpPr>
        <p:spPr>
          <a:xfrm>
            <a:off x="496711" y="519288"/>
            <a:ext cx="10857089" cy="6242755"/>
          </a:xfrm>
        </p:spPr>
        <p:txBody>
          <a:bodyPr/>
          <a:lstStyle/>
          <a:p>
            <a:r>
              <a:rPr lang="en-US" sz="4000" b="1" dirty="0"/>
              <a:t>Singly linked list</a:t>
            </a:r>
          </a:p>
          <a:p>
            <a:endParaRPr lang="en-US" dirty="0"/>
          </a:p>
          <a:p>
            <a:endParaRPr lang="en-US" dirty="0"/>
          </a:p>
        </p:txBody>
      </p:sp>
      <p:pic>
        <p:nvPicPr>
          <p:cNvPr id="8" name="Content Placeholder 4">
            <a:extLst>
              <a:ext uri="{FF2B5EF4-FFF2-40B4-BE49-F238E27FC236}">
                <a16:creationId xmlns:a16="http://schemas.microsoft.com/office/drawing/2014/main" id="{0F5AD63E-9641-4BA6-B9D5-78C6FFA3AB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0" y="1365956"/>
            <a:ext cx="11898489" cy="4972756"/>
          </a:xfrm>
          <a:prstGeom prst="rect">
            <a:avLst/>
          </a:prstGeom>
        </p:spPr>
      </p:pic>
    </p:spTree>
    <p:extLst>
      <p:ext uri="{BB962C8B-B14F-4D97-AF65-F5344CB8AC3E}">
        <p14:creationId xmlns:p14="http://schemas.microsoft.com/office/powerpoint/2010/main" val="26473153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A602F869-64E1-48D7-847B-08F284051197}"/>
              </a:ext>
            </a:extLst>
          </p:cNvPr>
          <p:cNvSpPr>
            <a:spLocks noGrp="1"/>
          </p:cNvSpPr>
          <p:nvPr>
            <p:ph idx="1"/>
          </p:nvPr>
        </p:nvSpPr>
        <p:spPr>
          <a:xfrm>
            <a:off x="838200" y="237066"/>
            <a:ext cx="10515600" cy="6513689"/>
          </a:xfrm>
        </p:spPr>
        <p:txBody>
          <a:bodyPr>
            <a:normAutofit/>
          </a:bodyPr>
          <a:lstStyle/>
          <a:p>
            <a:r>
              <a:rPr lang="en-US" sz="4000" b="1" dirty="0"/>
              <a:t>Doubly linked list</a:t>
            </a:r>
          </a:p>
          <a:p>
            <a:endParaRPr lang="en-US" sz="4000" b="1" dirty="0"/>
          </a:p>
          <a:p>
            <a:endParaRPr lang="en-US" sz="4000" b="1" dirty="0"/>
          </a:p>
          <a:p>
            <a:endParaRPr lang="en-US" sz="4000" b="1" dirty="0"/>
          </a:p>
        </p:txBody>
      </p:sp>
      <p:pic>
        <p:nvPicPr>
          <p:cNvPr id="8" name="Content Placeholder 4">
            <a:extLst>
              <a:ext uri="{FF2B5EF4-FFF2-40B4-BE49-F238E27FC236}">
                <a16:creationId xmlns:a16="http://schemas.microsoft.com/office/drawing/2014/main" id="{BEA71A4A-323D-49EB-B739-96C69C10C7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244" y="1264356"/>
            <a:ext cx="11571111" cy="3838222"/>
          </a:xfrm>
          <a:prstGeom prst="rect">
            <a:avLst/>
          </a:prstGeom>
        </p:spPr>
      </p:pic>
    </p:spTree>
    <p:extLst>
      <p:ext uri="{BB962C8B-B14F-4D97-AF65-F5344CB8AC3E}">
        <p14:creationId xmlns:p14="http://schemas.microsoft.com/office/powerpoint/2010/main" val="708362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B5C36D-F386-4382-9BC6-385A26E1D562}"/>
              </a:ext>
            </a:extLst>
          </p:cNvPr>
          <p:cNvSpPr>
            <a:spLocks noGrp="1"/>
          </p:cNvSpPr>
          <p:nvPr>
            <p:ph idx="1"/>
          </p:nvPr>
        </p:nvSpPr>
        <p:spPr>
          <a:xfrm>
            <a:off x="838200" y="169332"/>
            <a:ext cx="10515600" cy="6688667"/>
          </a:xfrm>
        </p:spPr>
        <p:txBody>
          <a:bodyPr>
            <a:normAutofit/>
          </a:bodyPr>
          <a:lstStyle/>
          <a:p>
            <a:r>
              <a:rPr lang="en-US" sz="4000" b="1" dirty="0"/>
              <a:t>Circular linked list:</a:t>
            </a:r>
          </a:p>
          <a:p>
            <a:pPr marL="0" indent="0">
              <a:buNone/>
            </a:pPr>
            <a:endParaRPr lang="en-US" sz="4000" b="1" dirty="0"/>
          </a:p>
          <a:p>
            <a:pPr marL="0" indent="0">
              <a:buNone/>
            </a:pPr>
            <a:endParaRPr lang="en-US" sz="4000" b="1" dirty="0"/>
          </a:p>
          <a:p>
            <a:pPr marL="0" indent="0">
              <a:buNone/>
            </a:pPr>
            <a:endParaRPr lang="en-US" sz="4000" b="1" dirty="0"/>
          </a:p>
        </p:txBody>
      </p:sp>
      <p:pic>
        <p:nvPicPr>
          <p:cNvPr id="5" name="Picture 4">
            <a:extLst>
              <a:ext uri="{FF2B5EF4-FFF2-40B4-BE49-F238E27FC236}">
                <a16:creationId xmlns:a16="http://schemas.microsoft.com/office/drawing/2014/main" id="{79DB4325-641E-4A7A-8522-A0E17D19CF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1" y="993422"/>
            <a:ext cx="10270066" cy="5249333"/>
          </a:xfrm>
          <a:prstGeom prst="rect">
            <a:avLst/>
          </a:prstGeom>
        </p:spPr>
      </p:pic>
    </p:spTree>
    <p:extLst>
      <p:ext uri="{BB962C8B-B14F-4D97-AF65-F5344CB8AC3E}">
        <p14:creationId xmlns:p14="http://schemas.microsoft.com/office/powerpoint/2010/main" val="17392292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8F8069A-CAEF-4CDC-8C8E-7C4ABB4066E0}"/>
              </a:ext>
            </a:extLst>
          </p:cNvPr>
          <p:cNvSpPr>
            <a:spLocks noGrp="1"/>
          </p:cNvSpPr>
          <p:nvPr>
            <p:ph idx="1"/>
          </p:nvPr>
        </p:nvSpPr>
        <p:spPr>
          <a:xfrm>
            <a:off x="838200" y="90310"/>
            <a:ext cx="10515600" cy="6767689"/>
          </a:xfrm>
        </p:spPr>
        <p:txBody>
          <a:bodyPr>
            <a:normAutofit lnSpcReduction="10000"/>
          </a:bodyPr>
          <a:lstStyle/>
          <a:p>
            <a:pPr>
              <a:buFont typeface="Wingdings" panose="05000000000000000000" pitchFamily="2" charset="2"/>
              <a:buChar char="Ø"/>
            </a:pPr>
            <a:r>
              <a:rPr lang="en-US" sz="4000" b="1" dirty="0"/>
              <a:t>Data feeding in linked list</a:t>
            </a:r>
          </a:p>
          <a:p>
            <a:pPr marL="0" indent="0">
              <a:buNone/>
            </a:pPr>
            <a:r>
              <a:rPr lang="en-US" sz="3200" dirty="0"/>
              <a:t>To feed data into a linked list, you need to create nodes and connect them together to form the list. </a:t>
            </a:r>
          </a:p>
          <a:p>
            <a:pPr marL="0" indent="0">
              <a:buNone/>
            </a:pPr>
            <a:r>
              <a:rPr lang="en-US" sz="3200" dirty="0"/>
              <a:t>Here are the general steps to create and initialize a singly linked list:</a:t>
            </a:r>
          </a:p>
          <a:p>
            <a:r>
              <a:rPr lang="en-US" sz="3200" dirty="0"/>
              <a:t>Create a node class that represents a single node in the linked list. </a:t>
            </a:r>
          </a:p>
          <a:p>
            <a:r>
              <a:rPr lang="en-US" sz="3200" dirty="0"/>
              <a:t>The node class should have </a:t>
            </a:r>
            <a:r>
              <a:rPr lang="en-US" sz="3200" b="1" dirty="0"/>
              <a:t>two attributes: data</a:t>
            </a:r>
            <a:r>
              <a:rPr lang="en-US" sz="3200" dirty="0"/>
              <a:t>, which stores the element, </a:t>
            </a:r>
            <a:r>
              <a:rPr lang="en-US" sz="3200" b="1" dirty="0"/>
              <a:t>and next</a:t>
            </a:r>
            <a:r>
              <a:rPr lang="en-US" sz="3200" dirty="0"/>
              <a:t>, which points to the next node in the list.</a:t>
            </a:r>
          </a:p>
          <a:p>
            <a:r>
              <a:rPr lang="en-US" sz="3200" dirty="0"/>
              <a:t>Create a head pointer that points to the first node in the list. </a:t>
            </a:r>
          </a:p>
          <a:p>
            <a:r>
              <a:rPr lang="en-US" sz="3200" dirty="0"/>
              <a:t>Initially, the head pointer is set to null.</a:t>
            </a:r>
          </a:p>
          <a:p>
            <a:r>
              <a:rPr lang="en-US" sz="3200" dirty="0"/>
              <a:t>To add a new node to the list, create a new node with the element to be added and set its next pointer to null.</a:t>
            </a:r>
          </a:p>
          <a:p>
            <a:pPr marL="0" indent="0">
              <a:buNone/>
            </a:pPr>
            <a:endParaRPr lang="en-US" dirty="0"/>
          </a:p>
        </p:txBody>
      </p:sp>
    </p:spTree>
    <p:extLst>
      <p:ext uri="{BB962C8B-B14F-4D97-AF65-F5344CB8AC3E}">
        <p14:creationId xmlns:p14="http://schemas.microsoft.com/office/powerpoint/2010/main" val="3173497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BB28DF-79DA-44BF-8BCA-4402B99695AA}"/>
              </a:ext>
            </a:extLst>
          </p:cNvPr>
          <p:cNvSpPr>
            <a:spLocks noGrp="1"/>
          </p:cNvSpPr>
          <p:nvPr>
            <p:ph idx="1"/>
          </p:nvPr>
        </p:nvSpPr>
        <p:spPr>
          <a:xfrm>
            <a:off x="838200" y="112889"/>
            <a:ext cx="10515600" cy="6660444"/>
          </a:xfrm>
        </p:spPr>
        <p:txBody>
          <a:bodyPr/>
          <a:lstStyle/>
          <a:p>
            <a:r>
              <a:rPr lang="en-US" sz="3200" dirty="0"/>
              <a:t>If the head pointer is null, set it to point to the new node.</a:t>
            </a:r>
          </a:p>
          <a:p>
            <a:r>
              <a:rPr lang="en-US" sz="3200" dirty="0"/>
              <a:t>If the head pointer is not null, traverse the list from the head node to the end node, and set the next pointer of the last node to point to the new node.</a:t>
            </a:r>
          </a:p>
          <a:p>
            <a:r>
              <a:rPr lang="en-US" sz="3200" dirty="0"/>
              <a:t>Here's an example Python code to create a singly linked list and feed data into it: </a:t>
            </a:r>
          </a:p>
          <a:p>
            <a:pPr marL="0" indent="0">
              <a:buNone/>
            </a:pPr>
            <a:r>
              <a:rPr lang="en-US" sz="3200" dirty="0"/>
              <a:t>class Node:</a:t>
            </a:r>
          </a:p>
          <a:p>
            <a:pPr marL="0" indent="0">
              <a:buNone/>
            </a:pPr>
            <a:r>
              <a:rPr lang="en-US" sz="3200" dirty="0"/>
              <a:t>   def __</a:t>
            </a:r>
            <a:r>
              <a:rPr lang="en-US" sz="3200" dirty="0" err="1"/>
              <a:t>init</a:t>
            </a:r>
            <a:r>
              <a:rPr lang="en-US" sz="3200" dirty="0"/>
              <a:t>__(self, data):</a:t>
            </a:r>
          </a:p>
          <a:p>
            <a:pPr marL="0" indent="0">
              <a:buNone/>
            </a:pPr>
            <a:r>
              <a:rPr lang="en-US" sz="3200" dirty="0"/>
              <a:t>        </a:t>
            </a:r>
            <a:r>
              <a:rPr lang="en-US" sz="3200" dirty="0" err="1"/>
              <a:t>self.data</a:t>
            </a:r>
            <a:r>
              <a:rPr lang="en-US" sz="3200" dirty="0"/>
              <a:t> = data</a:t>
            </a:r>
          </a:p>
          <a:p>
            <a:pPr marL="0" indent="0">
              <a:buNone/>
            </a:pPr>
            <a:r>
              <a:rPr lang="en-US" sz="3200" dirty="0"/>
              <a:t>        </a:t>
            </a:r>
            <a:r>
              <a:rPr lang="en-US" sz="3200" dirty="0" err="1"/>
              <a:t>self.next</a:t>
            </a:r>
            <a:r>
              <a:rPr lang="en-US" sz="3200" dirty="0"/>
              <a:t> = None</a:t>
            </a:r>
          </a:p>
          <a:p>
            <a:pPr marL="0" indent="0">
              <a:buNone/>
            </a:pPr>
            <a:r>
              <a:rPr lang="en-US" sz="3200" dirty="0"/>
              <a:t># Create the head pointer and initialize it to null</a:t>
            </a:r>
          </a:p>
          <a:p>
            <a:pPr marL="0" indent="0">
              <a:buNone/>
            </a:pPr>
            <a:r>
              <a:rPr lang="en-US" sz="3200" dirty="0"/>
              <a:t>head = None</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7257723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769AD1-94BA-4CB3-ACBB-EAD682698A0F}"/>
              </a:ext>
            </a:extLst>
          </p:cNvPr>
          <p:cNvSpPr>
            <a:spLocks noGrp="1"/>
          </p:cNvSpPr>
          <p:nvPr>
            <p:ph idx="1"/>
          </p:nvPr>
        </p:nvSpPr>
        <p:spPr>
          <a:xfrm>
            <a:off x="838200" y="146756"/>
            <a:ext cx="10515600" cy="6711244"/>
          </a:xfrm>
        </p:spPr>
        <p:txBody>
          <a:bodyPr/>
          <a:lstStyle/>
          <a:p>
            <a:pPr marL="0" indent="0">
              <a:buNone/>
            </a:pPr>
            <a:r>
              <a:rPr lang="en-US" dirty="0"/>
              <a:t># Add the elements 1, 2, 3 to the list</a:t>
            </a:r>
          </a:p>
          <a:p>
            <a:pPr marL="0" indent="0">
              <a:buNone/>
            </a:pPr>
            <a:r>
              <a:rPr lang="en-US" dirty="0"/>
              <a:t>for </a:t>
            </a:r>
            <a:r>
              <a:rPr lang="en-US" dirty="0" err="1"/>
              <a:t>i</a:t>
            </a:r>
            <a:r>
              <a:rPr lang="en-US" dirty="0"/>
              <a:t> in range(1, 4):</a:t>
            </a:r>
          </a:p>
          <a:p>
            <a:pPr marL="0" indent="0">
              <a:buNone/>
            </a:pPr>
            <a:r>
              <a:rPr lang="en-US" dirty="0"/>
              <a:t>    # Create a new node with the element</a:t>
            </a:r>
          </a:p>
          <a:p>
            <a:pPr marL="0" indent="0">
              <a:buNone/>
            </a:pPr>
            <a:r>
              <a:rPr lang="en-US" dirty="0"/>
              <a:t>    </a:t>
            </a:r>
            <a:r>
              <a:rPr lang="en-US" dirty="0" err="1"/>
              <a:t>new_node</a:t>
            </a:r>
            <a:r>
              <a:rPr lang="en-US" dirty="0"/>
              <a:t> = Node(</a:t>
            </a:r>
            <a:r>
              <a:rPr lang="en-US" dirty="0" err="1"/>
              <a:t>i</a:t>
            </a:r>
            <a:r>
              <a:rPr lang="en-US" dirty="0"/>
              <a:t>)</a:t>
            </a:r>
          </a:p>
          <a:p>
            <a:pPr marL="0" indent="0">
              <a:buNone/>
            </a:pPr>
            <a:r>
              <a:rPr lang="en-US" dirty="0"/>
              <a:t>  # If the list is empty, set the head pointer to the new node</a:t>
            </a:r>
          </a:p>
          <a:p>
            <a:pPr marL="0" indent="0">
              <a:buNone/>
            </a:pPr>
            <a:r>
              <a:rPr lang="en-US" dirty="0"/>
              <a:t>    if head is None:</a:t>
            </a:r>
          </a:p>
          <a:p>
            <a:pPr marL="0" indent="0">
              <a:buNone/>
            </a:pPr>
            <a:r>
              <a:rPr lang="en-US" dirty="0"/>
              <a:t>        head = </a:t>
            </a:r>
            <a:r>
              <a:rPr lang="en-US" dirty="0" err="1"/>
              <a:t>new_node</a:t>
            </a:r>
            <a:endParaRPr lang="en-US" dirty="0"/>
          </a:p>
          <a:p>
            <a:pPr marL="0" indent="0">
              <a:buNone/>
            </a:pPr>
            <a:r>
              <a:rPr lang="en-US" dirty="0"/>
              <a:t>    else:</a:t>
            </a:r>
          </a:p>
          <a:p>
            <a:pPr marL="0" indent="0">
              <a:buNone/>
            </a:pPr>
            <a:r>
              <a:rPr lang="en-US" dirty="0"/>
              <a:t># Traverse the list to the end and add the new node</a:t>
            </a:r>
          </a:p>
          <a:p>
            <a:pPr marL="0" indent="0">
              <a:buNone/>
            </a:pPr>
            <a:r>
              <a:rPr lang="en-US" dirty="0"/>
              <a:t>        current = head</a:t>
            </a:r>
          </a:p>
          <a:p>
            <a:pPr marL="0" indent="0">
              <a:buNone/>
            </a:pPr>
            <a:r>
              <a:rPr lang="en-US" dirty="0"/>
              <a:t>        while </a:t>
            </a:r>
            <a:r>
              <a:rPr lang="en-US" dirty="0" err="1"/>
              <a:t>current.next</a:t>
            </a:r>
            <a:r>
              <a:rPr lang="en-US" dirty="0"/>
              <a:t> is not None:</a:t>
            </a:r>
          </a:p>
          <a:p>
            <a:pPr marL="0" indent="0">
              <a:buNone/>
            </a:pPr>
            <a:r>
              <a:rPr lang="en-US" dirty="0"/>
              <a:t>            current = </a:t>
            </a:r>
            <a:r>
              <a:rPr lang="en-US" dirty="0" err="1"/>
              <a:t>current.next</a:t>
            </a:r>
            <a:endParaRPr lang="en-US" dirty="0"/>
          </a:p>
          <a:p>
            <a:pPr marL="0" indent="0">
              <a:buNone/>
            </a:pPr>
            <a:r>
              <a:rPr lang="en-US" dirty="0"/>
              <a:t>        </a:t>
            </a:r>
            <a:r>
              <a:rPr lang="en-US" dirty="0" err="1"/>
              <a:t>current.next</a:t>
            </a:r>
            <a:r>
              <a:rPr lang="en-US" dirty="0"/>
              <a:t> = </a:t>
            </a:r>
            <a:r>
              <a:rPr lang="en-US" dirty="0" err="1"/>
              <a:t>new_node</a:t>
            </a: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2081974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098D41-0364-4DCD-9E4F-50D6AC23D23A}"/>
              </a:ext>
            </a:extLst>
          </p:cNvPr>
          <p:cNvSpPr>
            <a:spLocks noGrp="1"/>
          </p:cNvSpPr>
          <p:nvPr>
            <p:ph idx="1"/>
          </p:nvPr>
        </p:nvSpPr>
        <p:spPr>
          <a:xfrm>
            <a:off x="838200" y="191910"/>
            <a:ext cx="10515600" cy="6666089"/>
          </a:xfrm>
        </p:spPr>
        <p:txBody>
          <a:bodyPr/>
          <a:lstStyle/>
          <a:p>
            <a:r>
              <a:rPr lang="en-US" dirty="0"/>
              <a:t>In this code, Node is a class that represents a single node of the linked list.</a:t>
            </a:r>
          </a:p>
          <a:p>
            <a:r>
              <a:rPr lang="en-US" dirty="0"/>
              <a:t>The __</a:t>
            </a:r>
            <a:r>
              <a:rPr lang="en-US" dirty="0" err="1"/>
              <a:t>init</a:t>
            </a:r>
            <a:r>
              <a:rPr lang="en-US" dirty="0"/>
              <a:t>__ method initializes the data and next attributes of the node.</a:t>
            </a:r>
          </a:p>
          <a:p>
            <a:r>
              <a:rPr lang="en-US" dirty="0"/>
              <a:t>The code then creates the head pointer and initializes it to null. </a:t>
            </a:r>
          </a:p>
          <a:p>
            <a:r>
              <a:rPr lang="en-US" dirty="0"/>
              <a:t>It uses a for loop to add the elements 1, 2, and 3 to the list. </a:t>
            </a:r>
          </a:p>
          <a:p>
            <a:r>
              <a:rPr lang="en-US" dirty="0"/>
              <a:t>For each element, it creates a new node with the element and sets its next pointer to null.</a:t>
            </a:r>
          </a:p>
          <a:p>
            <a:r>
              <a:rPr lang="en-US" dirty="0"/>
              <a:t>If the list is empty (i.e., the head pointer is null), it sets the head pointer to the new node. </a:t>
            </a:r>
          </a:p>
          <a:p>
            <a:r>
              <a:rPr lang="en-US" dirty="0"/>
              <a:t>Otherwise, it traverses the list from the head node to the end node and sets the next pointer of the last node to point to the new node. </a:t>
            </a:r>
          </a:p>
          <a:p>
            <a:r>
              <a:rPr lang="en-US" dirty="0"/>
              <a:t>After the loop completes, the linked list contains the elements 1, 2, and 3, in that order.</a:t>
            </a:r>
          </a:p>
          <a:p>
            <a:pPr marL="0" indent="0">
              <a:buNone/>
            </a:pPr>
            <a:endParaRPr lang="en-US" dirty="0"/>
          </a:p>
        </p:txBody>
      </p:sp>
    </p:spTree>
    <p:extLst>
      <p:ext uri="{BB962C8B-B14F-4D97-AF65-F5344CB8AC3E}">
        <p14:creationId xmlns:p14="http://schemas.microsoft.com/office/powerpoint/2010/main" val="11383615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C9913F-0950-494E-A50C-8F2DD7B78C43}"/>
              </a:ext>
            </a:extLst>
          </p:cNvPr>
          <p:cNvSpPr>
            <a:spLocks noGrp="1"/>
          </p:cNvSpPr>
          <p:nvPr>
            <p:ph idx="1"/>
          </p:nvPr>
        </p:nvSpPr>
        <p:spPr>
          <a:xfrm>
            <a:off x="838200" y="225778"/>
            <a:ext cx="10515600" cy="6632222"/>
          </a:xfrm>
        </p:spPr>
        <p:txBody>
          <a:bodyPr>
            <a:normAutofit lnSpcReduction="10000"/>
          </a:bodyPr>
          <a:lstStyle/>
          <a:p>
            <a:pPr>
              <a:buFont typeface="Wingdings" panose="05000000000000000000" pitchFamily="2" charset="2"/>
              <a:buChar char="Ø"/>
            </a:pPr>
            <a:r>
              <a:rPr lang="en-US" sz="4000" b="1" dirty="0"/>
              <a:t>Data retrieval from a Linked list:</a:t>
            </a:r>
          </a:p>
          <a:p>
            <a:pPr marL="0" indent="0">
              <a:buNone/>
            </a:pPr>
            <a:r>
              <a:rPr lang="en-US" sz="3200" dirty="0"/>
              <a:t>To retrieve data from a linked list, you need to traverse the list from the head node to the node that contains the desired data. </a:t>
            </a:r>
          </a:p>
          <a:p>
            <a:pPr marL="0" indent="0">
              <a:buNone/>
            </a:pPr>
            <a:r>
              <a:rPr lang="en-US" sz="3200" dirty="0"/>
              <a:t>Here are the general steps to retrieve data from a singly linked list: </a:t>
            </a:r>
          </a:p>
          <a:p>
            <a:r>
              <a:rPr lang="en-US" sz="3200" dirty="0"/>
              <a:t>Set a current pointer to the head node of the list. </a:t>
            </a:r>
          </a:p>
          <a:p>
            <a:r>
              <a:rPr lang="en-US" sz="3200" dirty="0"/>
              <a:t>While the current pointer is not null, check if the data in the current node matches the desired data. </a:t>
            </a:r>
          </a:p>
          <a:p>
            <a:r>
              <a:rPr lang="en-US" sz="3200" dirty="0"/>
              <a:t>If the data matches, return the data.</a:t>
            </a:r>
          </a:p>
          <a:p>
            <a:r>
              <a:rPr lang="en-US" sz="3200" dirty="0"/>
              <a:t>If the data does not match, set the current pointer to the next node in the list and continue the loop.</a:t>
            </a:r>
          </a:p>
          <a:p>
            <a:r>
              <a:rPr lang="en-US" sz="3200" dirty="0"/>
              <a:t>If the loop completes without finding the data, the data is not in the list.</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2678316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12DF18-6761-41DF-BF15-6F378925FDB0}"/>
              </a:ext>
            </a:extLst>
          </p:cNvPr>
          <p:cNvSpPr>
            <a:spLocks noGrp="1"/>
          </p:cNvSpPr>
          <p:nvPr>
            <p:ph idx="1"/>
          </p:nvPr>
        </p:nvSpPr>
        <p:spPr>
          <a:xfrm>
            <a:off x="838200" y="191911"/>
            <a:ext cx="10515600" cy="6524978"/>
          </a:xfrm>
        </p:spPr>
        <p:txBody>
          <a:bodyPr>
            <a:normAutofit lnSpcReduction="10000"/>
          </a:bodyPr>
          <a:lstStyle/>
          <a:p>
            <a:r>
              <a:rPr lang="en-US" sz="3200" dirty="0"/>
              <a:t>Here's an example Python code to retrieve data from a singly linked list:</a:t>
            </a:r>
          </a:p>
          <a:p>
            <a:pPr marL="0" indent="0">
              <a:buNone/>
            </a:pPr>
            <a:r>
              <a:rPr lang="en-US" sz="3200" dirty="0"/>
              <a:t>class Node:</a:t>
            </a:r>
          </a:p>
          <a:p>
            <a:pPr marL="0" indent="0">
              <a:buNone/>
            </a:pPr>
            <a:r>
              <a:rPr lang="en-US" sz="3200" dirty="0"/>
              <a:t>    def __</a:t>
            </a:r>
            <a:r>
              <a:rPr lang="en-US" sz="3200" dirty="0" err="1"/>
              <a:t>init</a:t>
            </a:r>
            <a:r>
              <a:rPr lang="en-US" sz="3200" dirty="0"/>
              <a:t>__(self, data):</a:t>
            </a:r>
          </a:p>
          <a:p>
            <a:pPr marL="0" indent="0">
              <a:buNone/>
            </a:pPr>
            <a:r>
              <a:rPr lang="en-US" sz="3200" dirty="0"/>
              <a:t>        </a:t>
            </a:r>
            <a:r>
              <a:rPr lang="en-US" sz="3200" dirty="0" err="1"/>
              <a:t>self.data</a:t>
            </a:r>
            <a:r>
              <a:rPr lang="en-US" sz="3200" dirty="0"/>
              <a:t> = data</a:t>
            </a:r>
          </a:p>
          <a:p>
            <a:pPr marL="0" indent="0">
              <a:buNone/>
            </a:pPr>
            <a:r>
              <a:rPr lang="en-US" sz="3200" dirty="0"/>
              <a:t>        </a:t>
            </a:r>
            <a:r>
              <a:rPr lang="en-US" sz="3200" dirty="0" err="1"/>
              <a:t>self.next</a:t>
            </a:r>
            <a:r>
              <a:rPr lang="en-US" sz="3200" dirty="0"/>
              <a:t> = None </a:t>
            </a:r>
          </a:p>
          <a:p>
            <a:pPr marL="0" indent="0">
              <a:buNone/>
            </a:pPr>
            <a:r>
              <a:rPr lang="en-US" sz="3200" dirty="0"/>
              <a:t># Create the head pointer and initialize it to null</a:t>
            </a:r>
          </a:p>
          <a:p>
            <a:pPr marL="0" indent="0">
              <a:buNone/>
            </a:pPr>
            <a:r>
              <a:rPr lang="en-US" sz="3200" dirty="0"/>
              <a:t>head = None </a:t>
            </a:r>
          </a:p>
          <a:p>
            <a:pPr marL="0" indent="0">
              <a:buNone/>
            </a:pPr>
            <a:r>
              <a:rPr lang="en-US" sz="3200" dirty="0"/>
              <a:t># Add the elements 1, 2, 3 to the list</a:t>
            </a:r>
          </a:p>
          <a:p>
            <a:pPr marL="0" indent="0">
              <a:buNone/>
            </a:pPr>
            <a:r>
              <a:rPr lang="en-US" sz="3200" dirty="0"/>
              <a:t>for </a:t>
            </a:r>
            <a:r>
              <a:rPr lang="en-US" sz="3200" dirty="0" err="1"/>
              <a:t>i</a:t>
            </a:r>
            <a:r>
              <a:rPr lang="en-US" sz="3200" dirty="0"/>
              <a:t> in range(1, 4):</a:t>
            </a:r>
          </a:p>
          <a:p>
            <a:pPr marL="0" indent="0">
              <a:buNone/>
            </a:pPr>
            <a:r>
              <a:rPr lang="en-US" sz="3200" dirty="0"/>
              <a:t>    # Create a new node with the element</a:t>
            </a:r>
          </a:p>
          <a:p>
            <a:pPr marL="0" indent="0">
              <a:buNone/>
            </a:pPr>
            <a:r>
              <a:rPr lang="en-US" sz="3200" dirty="0"/>
              <a:t>    </a:t>
            </a:r>
            <a:r>
              <a:rPr lang="en-US" sz="3200" dirty="0" err="1"/>
              <a:t>new_node</a:t>
            </a:r>
            <a:r>
              <a:rPr lang="en-US" sz="3200" dirty="0"/>
              <a:t> = Node(</a:t>
            </a:r>
            <a:r>
              <a:rPr lang="en-US" sz="3200" dirty="0" err="1"/>
              <a:t>i</a:t>
            </a:r>
            <a:r>
              <a:rPr lang="en-US" sz="3200" dirty="0"/>
              <a:t>)</a:t>
            </a:r>
          </a:p>
          <a:p>
            <a:endParaRPr lang="en-US" dirty="0"/>
          </a:p>
          <a:p>
            <a:endParaRPr lang="en-US" dirty="0"/>
          </a:p>
        </p:txBody>
      </p:sp>
    </p:spTree>
    <p:extLst>
      <p:ext uri="{BB962C8B-B14F-4D97-AF65-F5344CB8AC3E}">
        <p14:creationId xmlns:p14="http://schemas.microsoft.com/office/powerpoint/2010/main" val="9319145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D23C73-27F5-4127-81E3-A291B1D76FD3}"/>
              </a:ext>
            </a:extLst>
          </p:cNvPr>
          <p:cNvSpPr>
            <a:spLocks noGrp="1"/>
          </p:cNvSpPr>
          <p:nvPr>
            <p:ph idx="1"/>
          </p:nvPr>
        </p:nvSpPr>
        <p:spPr>
          <a:xfrm>
            <a:off x="838200" y="90310"/>
            <a:ext cx="10515600" cy="6637867"/>
          </a:xfrm>
        </p:spPr>
        <p:txBody>
          <a:bodyPr>
            <a:normAutofit fontScale="92500" lnSpcReduction="20000"/>
          </a:bodyPr>
          <a:lstStyle/>
          <a:p>
            <a:pPr marL="0" indent="0">
              <a:buNone/>
            </a:pPr>
            <a:r>
              <a:rPr lang="en-US" sz="3900" dirty="0"/>
              <a:t> # If the list is empty, set the head pointer to the new node</a:t>
            </a:r>
          </a:p>
          <a:p>
            <a:pPr marL="0" indent="0">
              <a:buNone/>
            </a:pPr>
            <a:r>
              <a:rPr lang="en-US" sz="3900" dirty="0"/>
              <a:t>    if head is None:</a:t>
            </a:r>
          </a:p>
          <a:p>
            <a:pPr marL="0" indent="0">
              <a:buNone/>
            </a:pPr>
            <a:r>
              <a:rPr lang="en-US" sz="3900" dirty="0"/>
              <a:t>        head = </a:t>
            </a:r>
            <a:r>
              <a:rPr lang="en-US" sz="3900" dirty="0" err="1"/>
              <a:t>new_node</a:t>
            </a:r>
            <a:endParaRPr lang="en-US" sz="3900" dirty="0"/>
          </a:p>
          <a:p>
            <a:pPr marL="0" indent="0">
              <a:buNone/>
            </a:pPr>
            <a:r>
              <a:rPr lang="en-US" sz="3900" dirty="0"/>
              <a:t>    else:</a:t>
            </a:r>
          </a:p>
          <a:p>
            <a:pPr marL="0" indent="0">
              <a:buNone/>
            </a:pPr>
            <a:r>
              <a:rPr lang="en-US" sz="3900" dirty="0"/>
              <a:t>        # Traverse the list to the end and add the new node</a:t>
            </a:r>
          </a:p>
          <a:p>
            <a:pPr marL="0" indent="0">
              <a:buNone/>
            </a:pPr>
            <a:r>
              <a:rPr lang="en-US" sz="3900" dirty="0"/>
              <a:t>        current = head</a:t>
            </a:r>
          </a:p>
          <a:p>
            <a:pPr marL="0" indent="0">
              <a:buNone/>
            </a:pPr>
            <a:r>
              <a:rPr lang="en-US" sz="3900" dirty="0"/>
              <a:t>        while </a:t>
            </a:r>
            <a:r>
              <a:rPr lang="en-US" sz="3900" dirty="0" err="1"/>
              <a:t>current.next</a:t>
            </a:r>
            <a:r>
              <a:rPr lang="en-US" sz="3900" dirty="0"/>
              <a:t> is not None:</a:t>
            </a:r>
          </a:p>
          <a:p>
            <a:pPr marL="0" indent="0">
              <a:buNone/>
            </a:pPr>
            <a:r>
              <a:rPr lang="en-US" sz="3900" dirty="0"/>
              <a:t>            current = </a:t>
            </a:r>
            <a:r>
              <a:rPr lang="en-US" sz="3900" dirty="0" err="1"/>
              <a:t>current.next</a:t>
            </a:r>
            <a:endParaRPr lang="en-US" sz="3900" dirty="0"/>
          </a:p>
          <a:p>
            <a:pPr marL="0" indent="0">
              <a:buNone/>
            </a:pPr>
            <a:r>
              <a:rPr lang="en-US" sz="3900" dirty="0"/>
              <a:t>        </a:t>
            </a:r>
            <a:r>
              <a:rPr lang="en-US" sz="3900" dirty="0" err="1"/>
              <a:t>current.next</a:t>
            </a:r>
            <a:r>
              <a:rPr lang="en-US" sz="3900" dirty="0"/>
              <a:t> = </a:t>
            </a:r>
            <a:r>
              <a:rPr lang="en-US" sz="3900" dirty="0" err="1"/>
              <a:t>new_node</a:t>
            </a:r>
            <a:endParaRPr lang="en-US" sz="3900" dirty="0"/>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33932257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BF9F10-D1AD-4EE0-85DA-814FE4474538}"/>
              </a:ext>
            </a:extLst>
          </p:cNvPr>
          <p:cNvSpPr>
            <a:spLocks noGrp="1"/>
          </p:cNvSpPr>
          <p:nvPr>
            <p:ph idx="1"/>
          </p:nvPr>
        </p:nvSpPr>
        <p:spPr>
          <a:xfrm>
            <a:off x="838200" y="169333"/>
            <a:ext cx="10515600" cy="6570134"/>
          </a:xfrm>
        </p:spPr>
        <p:txBody>
          <a:bodyPr>
            <a:normAutofit/>
          </a:bodyPr>
          <a:lstStyle/>
          <a:p>
            <a:pPr marL="0" indent="0">
              <a:buNone/>
            </a:pPr>
            <a:r>
              <a:rPr lang="en-US" sz="3200" dirty="0"/>
              <a:t># Search for the element 2 in the list</a:t>
            </a:r>
          </a:p>
          <a:p>
            <a:pPr marL="0" indent="0">
              <a:buNone/>
            </a:pPr>
            <a:r>
              <a:rPr lang="en-US" sz="3200" dirty="0"/>
              <a:t>current = head</a:t>
            </a:r>
          </a:p>
          <a:p>
            <a:pPr marL="0" indent="0">
              <a:buNone/>
            </a:pPr>
            <a:r>
              <a:rPr lang="en-US" sz="3200" dirty="0"/>
              <a:t>while current is not None:</a:t>
            </a:r>
          </a:p>
          <a:p>
            <a:pPr marL="0" indent="0">
              <a:buNone/>
            </a:pPr>
            <a:r>
              <a:rPr lang="en-US" sz="3200" dirty="0"/>
              <a:t>    if </a:t>
            </a:r>
            <a:r>
              <a:rPr lang="en-US" sz="3200" dirty="0" err="1"/>
              <a:t>current.data</a:t>
            </a:r>
            <a:r>
              <a:rPr lang="en-US" sz="3200" dirty="0"/>
              <a:t> == 2:</a:t>
            </a:r>
          </a:p>
          <a:p>
            <a:pPr marL="0" indent="0">
              <a:buNone/>
            </a:pPr>
            <a:r>
              <a:rPr lang="en-US" sz="3200" dirty="0"/>
              <a:t>        print("Element found!")</a:t>
            </a:r>
          </a:p>
          <a:p>
            <a:pPr marL="0" indent="0">
              <a:buNone/>
            </a:pPr>
            <a:r>
              <a:rPr lang="en-US" sz="3200" dirty="0"/>
              <a:t>        break</a:t>
            </a:r>
          </a:p>
          <a:p>
            <a:pPr marL="0" indent="0">
              <a:buNone/>
            </a:pPr>
            <a:r>
              <a:rPr lang="en-US" sz="3200" dirty="0"/>
              <a:t>    current = </a:t>
            </a:r>
            <a:r>
              <a:rPr lang="en-US" sz="3200" dirty="0" err="1"/>
              <a:t>current.next</a:t>
            </a:r>
            <a:endParaRPr lang="en-US" sz="3200" dirty="0"/>
          </a:p>
          <a:p>
            <a:pPr marL="0" indent="0">
              <a:buNone/>
            </a:pPr>
            <a:r>
              <a:rPr lang="en-US" sz="3200" dirty="0"/>
              <a:t>if current is None:</a:t>
            </a:r>
          </a:p>
          <a:p>
            <a:pPr marL="0" indent="0">
              <a:buNone/>
            </a:pPr>
            <a:r>
              <a:rPr lang="en-US" sz="3200" dirty="0"/>
              <a:t>    print("Element not found.")</a:t>
            </a:r>
          </a:p>
          <a:p>
            <a:pPr marL="0" indent="0">
              <a:buNone/>
            </a:pPr>
            <a:r>
              <a:rPr lang="en-US" sz="3200" dirty="0"/>
              <a:t>else:</a:t>
            </a:r>
          </a:p>
          <a:p>
            <a:pPr marL="0" indent="0">
              <a:buNone/>
            </a:pPr>
            <a:r>
              <a:rPr lang="en-US" sz="3200" dirty="0"/>
              <a:t>    print("Element found at node:", current)</a:t>
            </a:r>
          </a:p>
          <a:p>
            <a:pPr marL="0" indent="0">
              <a:buNone/>
            </a:pPr>
            <a:endParaRPr lang="en-US" dirty="0"/>
          </a:p>
          <a:p>
            <a:endParaRPr lang="en-US" dirty="0"/>
          </a:p>
        </p:txBody>
      </p:sp>
    </p:spTree>
    <p:extLst>
      <p:ext uri="{BB962C8B-B14F-4D97-AF65-F5344CB8AC3E}">
        <p14:creationId xmlns:p14="http://schemas.microsoft.com/office/powerpoint/2010/main" val="4251714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DA31EF-E2E4-4966-9EB2-135DF8618A04}"/>
              </a:ext>
            </a:extLst>
          </p:cNvPr>
          <p:cNvSpPr>
            <a:spLocks noGrp="1"/>
          </p:cNvSpPr>
          <p:nvPr>
            <p:ph idx="1"/>
          </p:nvPr>
        </p:nvSpPr>
        <p:spPr>
          <a:xfrm>
            <a:off x="838200" y="135466"/>
            <a:ext cx="10515600" cy="6722533"/>
          </a:xfrm>
        </p:spPr>
        <p:txBody>
          <a:bodyPr/>
          <a:lstStyle/>
          <a:p>
            <a:r>
              <a:rPr lang="en-US" sz="3600" dirty="0"/>
              <a:t>In this code, the Node class and the creation of the linked list are the same as the previous example. </a:t>
            </a:r>
          </a:p>
          <a:p>
            <a:r>
              <a:rPr lang="en-US" sz="3600" dirty="0"/>
              <a:t>The code then sets the current pointer to the head node and loops through the list, checking if the data in each node matches the desired data (in this case, the element 2).</a:t>
            </a:r>
          </a:p>
          <a:p>
            <a:r>
              <a:rPr lang="en-US" sz="3600" dirty="0"/>
              <a:t>If the data is found, the code prints a message and breaks out of the loop. </a:t>
            </a:r>
          </a:p>
          <a:p>
            <a:r>
              <a:rPr lang="en-US" sz="3600" dirty="0"/>
              <a:t>If the loop completes without finding the data, the code prints a different message indicating that the data is not in the list.</a:t>
            </a:r>
          </a:p>
          <a:p>
            <a:endParaRPr lang="en-US" dirty="0"/>
          </a:p>
          <a:p>
            <a:endParaRPr lang="en-US" dirty="0"/>
          </a:p>
        </p:txBody>
      </p:sp>
    </p:spTree>
    <p:extLst>
      <p:ext uri="{BB962C8B-B14F-4D97-AF65-F5344CB8AC3E}">
        <p14:creationId xmlns:p14="http://schemas.microsoft.com/office/powerpoint/2010/main" val="19277770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F32319-9877-4F92-AAAE-BBC552F1F671}"/>
              </a:ext>
            </a:extLst>
          </p:cNvPr>
          <p:cNvSpPr>
            <a:spLocks noGrp="1"/>
          </p:cNvSpPr>
          <p:nvPr>
            <p:ph idx="1"/>
          </p:nvPr>
        </p:nvSpPr>
        <p:spPr>
          <a:xfrm>
            <a:off x="838200" y="169333"/>
            <a:ext cx="10515600" cy="6570134"/>
          </a:xfrm>
        </p:spPr>
        <p:txBody>
          <a:bodyPr>
            <a:normAutofit/>
          </a:bodyPr>
          <a:lstStyle/>
          <a:p>
            <a:pPr>
              <a:buFont typeface="Wingdings" panose="05000000000000000000" pitchFamily="2" charset="2"/>
              <a:buChar char="Ø"/>
            </a:pPr>
            <a:r>
              <a:rPr lang="en-US" sz="4000" b="1" dirty="0"/>
              <a:t>How to create a list by recursion:</a:t>
            </a:r>
          </a:p>
          <a:p>
            <a:pPr marL="0" indent="0">
              <a:buNone/>
            </a:pPr>
            <a:r>
              <a:rPr lang="en-US" dirty="0"/>
              <a:t>To create a list by recursion, you can define a recursive function that creates each element of the list and calls itself to create the next element. </a:t>
            </a:r>
          </a:p>
          <a:p>
            <a:pPr marL="0" indent="0">
              <a:buNone/>
            </a:pPr>
            <a:r>
              <a:rPr lang="en-US" dirty="0"/>
              <a:t>Here are the general steps to create a list by recursion:</a:t>
            </a:r>
          </a:p>
          <a:p>
            <a:r>
              <a:rPr lang="en-US" dirty="0"/>
              <a:t>Define a recursive function that takes an index or counter variable as an argument.</a:t>
            </a:r>
          </a:p>
          <a:p>
            <a:r>
              <a:rPr lang="en-US" dirty="0"/>
              <a:t>In the function, create a new node with the desired data for the current index. </a:t>
            </a:r>
          </a:p>
          <a:p>
            <a:r>
              <a:rPr lang="en-US" dirty="0"/>
              <a:t>If the index is equal to the desired length of the list, return the node. </a:t>
            </a:r>
          </a:p>
          <a:p>
            <a:r>
              <a:rPr lang="en-US" dirty="0"/>
              <a:t>If the index is less than the desired length of the list, set the next pointer of the current node to the result of calling the recursive function with the next index. </a:t>
            </a:r>
          </a:p>
          <a:p>
            <a:r>
              <a:rPr lang="en-US" dirty="0"/>
              <a:t>In the main code, call the recursive function with an initial index of 0.</a:t>
            </a:r>
          </a:p>
          <a:p>
            <a:endParaRPr lang="en-US" dirty="0"/>
          </a:p>
        </p:txBody>
      </p:sp>
    </p:spTree>
    <p:extLst>
      <p:ext uri="{BB962C8B-B14F-4D97-AF65-F5344CB8AC3E}">
        <p14:creationId xmlns:p14="http://schemas.microsoft.com/office/powerpoint/2010/main" val="15638292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5548AC-C3B7-4967-9BAA-D497E93F4A25}"/>
              </a:ext>
            </a:extLst>
          </p:cNvPr>
          <p:cNvSpPr>
            <a:spLocks noGrp="1"/>
          </p:cNvSpPr>
          <p:nvPr>
            <p:ph idx="1"/>
          </p:nvPr>
        </p:nvSpPr>
        <p:spPr>
          <a:xfrm>
            <a:off x="838200" y="146756"/>
            <a:ext cx="10515600" cy="6581422"/>
          </a:xfrm>
        </p:spPr>
        <p:txBody>
          <a:bodyPr>
            <a:normAutofit lnSpcReduction="10000"/>
          </a:bodyPr>
          <a:lstStyle/>
          <a:p>
            <a:pPr marL="0" indent="0">
              <a:buNone/>
            </a:pPr>
            <a:r>
              <a:rPr lang="en-US" sz="3200" dirty="0"/>
              <a:t>Here's an example Python code to create a singly linked list of length 5 by recursion:</a:t>
            </a:r>
          </a:p>
          <a:p>
            <a:pPr marL="0" indent="0">
              <a:buNone/>
            </a:pPr>
            <a:r>
              <a:rPr lang="en-US" sz="3200" dirty="0"/>
              <a:t>class Node:</a:t>
            </a:r>
          </a:p>
          <a:p>
            <a:pPr marL="0" indent="0">
              <a:buNone/>
            </a:pPr>
            <a:r>
              <a:rPr lang="en-US" sz="3200" dirty="0"/>
              <a:t>    def __</a:t>
            </a:r>
            <a:r>
              <a:rPr lang="en-US" sz="3200" dirty="0" err="1"/>
              <a:t>init</a:t>
            </a:r>
            <a:r>
              <a:rPr lang="en-US" sz="3200" dirty="0"/>
              <a:t>__(self, data):</a:t>
            </a:r>
          </a:p>
          <a:p>
            <a:pPr marL="0" indent="0">
              <a:buNone/>
            </a:pPr>
            <a:r>
              <a:rPr lang="en-US" sz="3200" dirty="0"/>
              <a:t>        </a:t>
            </a:r>
            <a:r>
              <a:rPr lang="en-US" sz="3200" dirty="0" err="1"/>
              <a:t>self.data</a:t>
            </a:r>
            <a:r>
              <a:rPr lang="en-US" sz="3200" dirty="0"/>
              <a:t> = data</a:t>
            </a:r>
          </a:p>
          <a:p>
            <a:pPr marL="0" indent="0">
              <a:buNone/>
            </a:pPr>
            <a:r>
              <a:rPr lang="en-US" sz="3200" dirty="0"/>
              <a:t>        </a:t>
            </a:r>
            <a:r>
              <a:rPr lang="en-US" sz="3200" dirty="0" err="1"/>
              <a:t>self.next</a:t>
            </a:r>
            <a:r>
              <a:rPr lang="en-US" sz="3200" dirty="0"/>
              <a:t> = None </a:t>
            </a:r>
          </a:p>
          <a:p>
            <a:pPr marL="0" indent="0">
              <a:buNone/>
            </a:pPr>
            <a:r>
              <a:rPr lang="en-US" sz="3200" dirty="0"/>
              <a:t>def </a:t>
            </a:r>
            <a:r>
              <a:rPr lang="en-US" sz="3200" dirty="0" err="1"/>
              <a:t>create_list_recursively</a:t>
            </a:r>
            <a:r>
              <a:rPr lang="en-US" sz="3200" dirty="0"/>
              <a:t>(index, length):</a:t>
            </a:r>
          </a:p>
          <a:p>
            <a:pPr marL="0" indent="0">
              <a:buNone/>
            </a:pPr>
            <a:r>
              <a:rPr lang="en-US" sz="3200" dirty="0"/>
              <a:t>    if index == length:</a:t>
            </a:r>
          </a:p>
          <a:p>
            <a:pPr marL="0" indent="0">
              <a:buNone/>
            </a:pPr>
            <a:r>
              <a:rPr lang="en-US" sz="3200" dirty="0"/>
              <a:t>        return None</a:t>
            </a:r>
          </a:p>
          <a:p>
            <a:pPr marL="0" indent="0">
              <a:buNone/>
            </a:pPr>
            <a:r>
              <a:rPr lang="en-US" sz="3200" dirty="0"/>
              <a:t>    node = Node(index)</a:t>
            </a:r>
          </a:p>
          <a:p>
            <a:pPr marL="0" indent="0">
              <a:buNone/>
            </a:pPr>
            <a:r>
              <a:rPr lang="en-US" sz="3200" dirty="0"/>
              <a:t>    </a:t>
            </a:r>
            <a:r>
              <a:rPr lang="en-US" sz="3200" dirty="0" err="1"/>
              <a:t>node.next</a:t>
            </a:r>
            <a:r>
              <a:rPr lang="en-US" sz="3200" dirty="0"/>
              <a:t> = </a:t>
            </a:r>
            <a:r>
              <a:rPr lang="en-US" sz="3200" dirty="0" err="1"/>
              <a:t>create_list_recursively</a:t>
            </a:r>
            <a:r>
              <a:rPr lang="en-US" sz="3200" dirty="0"/>
              <a:t>(index + 1, length)</a:t>
            </a:r>
          </a:p>
          <a:p>
            <a:pPr marL="0" indent="0">
              <a:buNone/>
            </a:pPr>
            <a:r>
              <a:rPr lang="en-US" sz="3200" dirty="0"/>
              <a:t>    return node </a:t>
            </a:r>
          </a:p>
        </p:txBody>
      </p:sp>
    </p:spTree>
    <p:extLst>
      <p:ext uri="{BB962C8B-B14F-4D97-AF65-F5344CB8AC3E}">
        <p14:creationId xmlns:p14="http://schemas.microsoft.com/office/powerpoint/2010/main" val="272511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B5C3E2-AF43-4E00-8984-AB525F1CAD26}"/>
              </a:ext>
            </a:extLst>
          </p:cNvPr>
          <p:cNvSpPr>
            <a:spLocks noGrp="1"/>
          </p:cNvSpPr>
          <p:nvPr>
            <p:ph idx="1"/>
          </p:nvPr>
        </p:nvSpPr>
        <p:spPr>
          <a:xfrm>
            <a:off x="838200" y="135466"/>
            <a:ext cx="10515600" cy="6570133"/>
          </a:xfrm>
        </p:spPr>
        <p:txBody>
          <a:bodyPr/>
          <a:lstStyle/>
          <a:p>
            <a:pPr marL="0" indent="0">
              <a:buNone/>
            </a:pPr>
            <a:r>
              <a:rPr lang="en-US" sz="3600" dirty="0"/>
              <a:t>head = </a:t>
            </a:r>
            <a:r>
              <a:rPr lang="en-US" sz="3600" dirty="0" err="1"/>
              <a:t>create_list_recursively</a:t>
            </a:r>
            <a:r>
              <a:rPr lang="en-US" sz="3600" dirty="0"/>
              <a:t>(0, 5)</a:t>
            </a:r>
          </a:p>
          <a:p>
            <a:pPr marL="0" indent="0">
              <a:buNone/>
            </a:pPr>
            <a:r>
              <a:rPr lang="en-US" sz="3600" dirty="0"/>
              <a:t>current = head</a:t>
            </a:r>
          </a:p>
          <a:p>
            <a:pPr marL="0" indent="0">
              <a:buNone/>
            </a:pPr>
            <a:r>
              <a:rPr lang="en-US" sz="3600" dirty="0"/>
              <a:t>while current is not None:</a:t>
            </a:r>
          </a:p>
          <a:p>
            <a:pPr marL="0" indent="0">
              <a:buNone/>
            </a:pPr>
            <a:r>
              <a:rPr lang="en-US" sz="3600" dirty="0"/>
              <a:t>    print(</a:t>
            </a:r>
            <a:r>
              <a:rPr lang="en-US" sz="3600" dirty="0" err="1"/>
              <a:t>current.data</a:t>
            </a:r>
            <a:r>
              <a:rPr lang="en-US" sz="3600" dirty="0"/>
              <a:t>, end=' ')</a:t>
            </a:r>
          </a:p>
          <a:p>
            <a:pPr marL="0" indent="0">
              <a:buNone/>
            </a:pPr>
            <a:r>
              <a:rPr lang="en-US" sz="3600" dirty="0"/>
              <a:t>    current = </a:t>
            </a:r>
            <a:r>
              <a:rPr lang="en-US" sz="3600" dirty="0" err="1"/>
              <a:t>current.next</a:t>
            </a:r>
            <a:endParaRPr lang="en-US" sz="3600" dirty="0"/>
          </a:p>
          <a:p>
            <a:pPr marL="0" indent="0">
              <a:buNone/>
            </a:pPr>
            <a:endParaRPr lang="en-US" sz="3600" dirty="0"/>
          </a:p>
          <a:p>
            <a:pPr marL="0" indent="0">
              <a:buNone/>
            </a:pPr>
            <a:endParaRPr lang="en-US" dirty="0"/>
          </a:p>
        </p:txBody>
      </p:sp>
    </p:spTree>
    <p:extLst>
      <p:ext uri="{BB962C8B-B14F-4D97-AF65-F5344CB8AC3E}">
        <p14:creationId xmlns:p14="http://schemas.microsoft.com/office/powerpoint/2010/main" val="1241599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9B7BE6-CA55-4717-8D7D-5EA5684B8380}"/>
              </a:ext>
            </a:extLst>
          </p:cNvPr>
          <p:cNvSpPr>
            <a:spLocks noGrp="1"/>
          </p:cNvSpPr>
          <p:nvPr>
            <p:ph idx="1"/>
          </p:nvPr>
        </p:nvSpPr>
        <p:spPr>
          <a:xfrm>
            <a:off x="838200" y="180622"/>
            <a:ext cx="10515600" cy="6491111"/>
          </a:xfrm>
        </p:spPr>
        <p:txBody>
          <a:bodyPr/>
          <a:lstStyle/>
          <a:p>
            <a:r>
              <a:rPr lang="en-US" dirty="0"/>
              <a:t>In this code, the </a:t>
            </a:r>
            <a:r>
              <a:rPr lang="en-US" dirty="0" err="1"/>
              <a:t>create_list_recursively</a:t>
            </a:r>
            <a:r>
              <a:rPr lang="en-US" dirty="0"/>
              <a:t> function takes an index and a length as arguments. </a:t>
            </a:r>
          </a:p>
          <a:p>
            <a:r>
              <a:rPr lang="en-US" dirty="0"/>
              <a:t>The base case of the recursion is when the index equals the length, in which case the function returns None. </a:t>
            </a:r>
          </a:p>
          <a:p>
            <a:r>
              <a:rPr lang="en-US" dirty="0"/>
              <a:t>Otherwise, the function creates a new node with the current index and sets its next pointer to the result of calling itself recursively with the next index.</a:t>
            </a:r>
          </a:p>
          <a:p>
            <a:r>
              <a:rPr lang="en-US" dirty="0"/>
              <a:t>In the main code, the </a:t>
            </a:r>
            <a:r>
              <a:rPr lang="en-US" dirty="0" err="1"/>
              <a:t>create_list_recursively</a:t>
            </a:r>
            <a:r>
              <a:rPr lang="en-US" dirty="0"/>
              <a:t> function is called with an initial index of 0 and a length of 5. </a:t>
            </a:r>
          </a:p>
          <a:p>
            <a:r>
              <a:rPr lang="en-US" dirty="0"/>
              <a:t>The resulting linked list is stored in the head variable.</a:t>
            </a:r>
          </a:p>
          <a:p>
            <a:r>
              <a:rPr lang="en-US" dirty="0"/>
              <a:t>The code then traverses the list and prints the data in each node, separated by spaces. </a:t>
            </a:r>
          </a:p>
          <a:p>
            <a:r>
              <a:rPr lang="en-US" dirty="0"/>
              <a:t>The output of this code should be: 0 1 2 3 4.</a:t>
            </a:r>
          </a:p>
          <a:p>
            <a:endParaRPr lang="en-US" dirty="0"/>
          </a:p>
        </p:txBody>
      </p:sp>
    </p:spTree>
    <p:extLst>
      <p:ext uri="{BB962C8B-B14F-4D97-AF65-F5344CB8AC3E}">
        <p14:creationId xmlns:p14="http://schemas.microsoft.com/office/powerpoint/2010/main" val="17733529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F2C44D-F20C-49CF-91F8-DE8814FC76AF}"/>
              </a:ext>
            </a:extLst>
          </p:cNvPr>
          <p:cNvSpPr>
            <a:spLocks noGrp="1"/>
          </p:cNvSpPr>
          <p:nvPr>
            <p:ph idx="1"/>
          </p:nvPr>
        </p:nvSpPr>
        <p:spPr>
          <a:xfrm>
            <a:off x="838200" y="146756"/>
            <a:ext cx="10515600" cy="6536266"/>
          </a:xfrm>
        </p:spPr>
        <p:txBody>
          <a:bodyPr>
            <a:normAutofit fontScale="92500"/>
          </a:bodyPr>
          <a:lstStyle/>
          <a:p>
            <a:pPr>
              <a:buFont typeface="Wingdings" panose="05000000000000000000" pitchFamily="2" charset="2"/>
              <a:buChar char="Ø"/>
            </a:pPr>
            <a:r>
              <a:rPr lang="en-US" sz="4000" b="1" dirty="0"/>
              <a:t>Creating a list by iteration:</a:t>
            </a:r>
          </a:p>
          <a:p>
            <a:pPr marL="0" indent="0">
              <a:buNone/>
            </a:pPr>
            <a:r>
              <a:rPr lang="en-US" sz="3600" dirty="0"/>
              <a:t>To create a list by iteration, you can use a loop to create each element of the list and link it to the previous element. </a:t>
            </a:r>
          </a:p>
          <a:p>
            <a:pPr marL="0" indent="0">
              <a:buNone/>
            </a:pPr>
            <a:r>
              <a:rPr lang="en-US" sz="3600" dirty="0"/>
              <a:t>Here are the general steps to create a list by iteration:</a:t>
            </a:r>
          </a:p>
          <a:p>
            <a:r>
              <a:rPr lang="en-US" sz="3600" dirty="0"/>
              <a:t>Create a new node with the desired data for the first element of the list.</a:t>
            </a:r>
          </a:p>
          <a:p>
            <a:r>
              <a:rPr lang="en-US" sz="3600" dirty="0"/>
              <a:t>Set the head pointer to point to the first element.</a:t>
            </a:r>
          </a:p>
          <a:p>
            <a:r>
              <a:rPr lang="en-US" sz="3600" dirty="0"/>
              <a:t>Use a loop to create the remaining elements of the list.</a:t>
            </a:r>
          </a:p>
          <a:p>
            <a:r>
              <a:rPr lang="en-US" sz="3600" dirty="0"/>
              <a:t>In each iteration of the loop, create a new node with the desired data and link it to the previous element of the list.</a:t>
            </a:r>
          </a:p>
          <a:p>
            <a:r>
              <a:rPr lang="en-US" sz="3600" dirty="0"/>
              <a:t>Update the tail pointer to point to the new node.</a:t>
            </a:r>
          </a:p>
          <a:p>
            <a:pPr marL="0" indent="0">
              <a:buNone/>
            </a:pPr>
            <a:endParaRPr lang="en-US" dirty="0"/>
          </a:p>
        </p:txBody>
      </p:sp>
    </p:spTree>
    <p:extLst>
      <p:ext uri="{BB962C8B-B14F-4D97-AF65-F5344CB8AC3E}">
        <p14:creationId xmlns:p14="http://schemas.microsoft.com/office/powerpoint/2010/main" val="26613327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ADDBD5-F371-4B06-A64E-067EF8203C88}"/>
              </a:ext>
            </a:extLst>
          </p:cNvPr>
          <p:cNvSpPr>
            <a:spLocks noGrp="1"/>
          </p:cNvSpPr>
          <p:nvPr>
            <p:ph idx="1"/>
          </p:nvPr>
        </p:nvSpPr>
        <p:spPr>
          <a:xfrm>
            <a:off x="838200" y="79022"/>
            <a:ext cx="10515600" cy="6694311"/>
          </a:xfrm>
        </p:spPr>
        <p:txBody>
          <a:bodyPr>
            <a:normAutofit/>
          </a:bodyPr>
          <a:lstStyle/>
          <a:p>
            <a:pPr marL="0" indent="0">
              <a:buNone/>
            </a:pPr>
            <a:r>
              <a:rPr lang="en-US" dirty="0"/>
              <a:t>After the loop completes, set the next pointer of the last node to None.</a:t>
            </a:r>
          </a:p>
          <a:p>
            <a:pPr marL="0" indent="0">
              <a:buNone/>
            </a:pPr>
            <a:r>
              <a:rPr lang="en-US" dirty="0"/>
              <a:t>Here's an example Python code to create a singly linked list of length 5 by iteration:</a:t>
            </a:r>
          </a:p>
          <a:p>
            <a:pPr marL="0" indent="0">
              <a:buNone/>
            </a:pPr>
            <a:r>
              <a:rPr lang="en-US" dirty="0"/>
              <a:t>class Node:</a:t>
            </a:r>
          </a:p>
          <a:p>
            <a:pPr marL="0" indent="0">
              <a:buNone/>
            </a:pPr>
            <a:r>
              <a:rPr lang="en-US" dirty="0"/>
              <a:t>    def __</a:t>
            </a:r>
            <a:r>
              <a:rPr lang="en-US" dirty="0" err="1"/>
              <a:t>init</a:t>
            </a:r>
            <a:r>
              <a:rPr lang="en-US" dirty="0"/>
              <a:t>__(self, data):</a:t>
            </a:r>
          </a:p>
          <a:p>
            <a:pPr marL="0" indent="0">
              <a:buNone/>
            </a:pPr>
            <a:r>
              <a:rPr lang="en-US" dirty="0"/>
              <a:t>        </a:t>
            </a:r>
            <a:r>
              <a:rPr lang="en-US" dirty="0" err="1"/>
              <a:t>self.data</a:t>
            </a:r>
            <a:r>
              <a:rPr lang="en-US" dirty="0"/>
              <a:t> = data</a:t>
            </a:r>
          </a:p>
          <a:p>
            <a:pPr marL="0" indent="0">
              <a:buNone/>
            </a:pPr>
            <a:r>
              <a:rPr lang="en-US" dirty="0"/>
              <a:t>        </a:t>
            </a:r>
            <a:r>
              <a:rPr lang="en-US" dirty="0" err="1"/>
              <a:t>self.next</a:t>
            </a:r>
            <a:r>
              <a:rPr lang="en-US" dirty="0"/>
              <a:t> = None</a:t>
            </a:r>
          </a:p>
          <a:p>
            <a:pPr marL="0" indent="0">
              <a:buNone/>
            </a:pPr>
            <a:r>
              <a:rPr lang="en-US" dirty="0"/>
              <a:t>head = Node(0)</a:t>
            </a:r>
          </a:p>
          <a:p>
            <a:pPr marL="0" indent="0">
              <a:buNone/>
            </a:pPr>
            <a:r>
              <a:rPr lang="en-US" dirty="0"/>
              <a:t>tail = head </a:t>
            </a:r>
          </a:p>
          <a:p>
            <a:pPr marL="0" indent="0">
              <a:buNone/>
            </a:pPr>
            <a:r>
              <a:rPr lang="en-US" dirty="0"/>
              <a:t>for </a:t>
            </a:r>
            <a:r>
              <a:rPr lang="en-US" dirty="0" err="1"/>
              <a:t>i</a:t>
            </a:r>
            <a:r>
              <a:rPr lang="en-US" dirty="0"/>
              <a:t> in range(1, 5):</a:t>
            </a:r>
          </a:p>
          <a:p>
            <a:pPr marL="0" indent="0">
              <a:buNone/>
            </a:pPr>
            <a:r>
              <a:rPr lang="en-US" dirty="0"/>
              <a:t>    </a:t>
            </a:r>
            <a:r>
              <a:rPr lang="en-US" dirty="0" err="1"/>
              <a:t>new_node</a:t>
            </a:r>
            <a:r>
              <a:rPr lang="en-US" dirty="0"/>
              <a:t> = Node(</a:t>
            </a:r>
            <a:r>
              <a:rPr lang="en-US" dirty="0" err="1"/>
              <a:t>i</a:t>
            </a:r>
            <a:r>
              <a:rPr lang="en-US" dirty="0"/>
              <a:t>)</a:t>
            </a:r>
          </a:p>
          <a:p>
            <a:pPr marL="0" indent="0">
              <a:buNone/>
            </a:pPr>
            <a:r>
              <a:rPr lang="en-US" dirty="0"/>
              <a:t>    </a:t>
            </a:r>
            <a:r>
              <a:rPr lang="en-US" dirty="0" err="1"/>
              <a:t>tail.next</a:t>
            </a:r>
            <a:r>
              <a:rPr lang="en-US" dirty="0"/>
              <a:t> = </a:t>
            </a:r>
            <a:r>
              <a:rPr lang="en-US" dirty="0" err="1"/>
              <a:t>new_node</a:t>
            </a:r>
            <a:endParaRPr lang="en-US" dirty="0"/>
          </a:p>
          <a:p>
            <a:pPr marL="0" indent="0">
              <a:buNone/>
            </a:pPr>
            <a:r>
              <a:rPr lang="en-US" dirty="0"/>
              <a:t>    tail = </a:t>
            </a:r>
            <a:r>
              <a:rPr lang="en-US" dirty="0" err="1"/>
              <a:t>new_node</a:t>
            </a:r>
            <a:endParaRPr lang="en-US" dirty="0"/>
          </a:p>
          <a:p>
            <a:pPr marL="0" indent="0">
              <a:buNone/>
            </a:pPr>
            <a:endParaRPr lang="en-US" dirty="0"/>
          </a:p>
        </p:txBody>
      </p:sp>
    </p:spTree>
    <p:extLst>
      <p:ext uri="{BB962C8B-B14F-4D97-AF65-F5344CB8AC3E}">
        <p14:creationId xmlns:p14="http://schemas.microsoft.com/office/powerpoint/2010/main" val="42318125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D8ABC3-1F6C-47D6-9DD0-3557CCCB5ADF}"/>
              </a:ext>
            </a:extLst>
          </p:cNvPr>
          <p:cNvSpPr>
            <a:spLocks noGrp="1"/>
          </p:cNvSpPr>
          <p:nvPr>
            <p:ph idx="1"/>
          </p:nvPr>
        </p:nvSpPr>
        <p:spPr>
          <a:xfrm>
            <a:off x="838200" y="169333"/>
            <a:ext cx="10515600" cy="6547556"/>
          </a:xfrm>
        </p:spPr>
        <p:txBody>
          <a:bodyPr/>
          <a:lstStyle/>
          <a:p>
            <a:pPr marL="0" indent="0">
              <a:buNone/>
            </a:pPr>
            <a:r>
              <a:rPr lang="en-US" sz="3600" dirty="0" err="1"/>
              <a:t>tail.next</a:t>
            </a:r>
            <a:r>
              <a:rPr lang="en-US" sz="3600" dirty="0"/>
              <a:t> = None</a:t>
            </a:r>
          </a:p>
          <a:p>
            <a:pPr marL="0" indent="0">
              <a:buNone/>
            </a:pPr>
            <a:r>
              <a:rPr lang="en-US" sz="3600" dirty="0"/>
              <a:t>current = head</a:t>
            </a:r>
          </a:p>
          <a:p>
            <a:pPr marL="0" indent="0">
              <a:buNone/>
            </a:pPr>
            <a:r>
              <a:rPr lang="en-US" sz="3600" dirty="0"/>
              <a:t>while current is not None:</a:t>
            </a:r>
          </a:p>
          <a:p>
            <a:pPr marL="0" indent="0">
              <a:buNone/>
            </a:pPr>
            <a:r>
              <a:rPr lang="en-US" sz="3600" dirty="0"/>
              <a:t>    print(</a:t>
            </a:r>
            <a:r>
              <a:rPr lang="en-US" sz="3600" dirty="0" err="1"/>
              <a:t>current.data</a:t>
            </a:r>
            <a:r>
              <a:rPr lang="en-US" sz="3600" dirty="0"/>
              <a:t>, end=' ')</a:t>
            </a:r>
          </a:p>
          <a:p>
            <a:pPr marL="0" indent="0">
              <a:buNone/>
            </a:pPr>
            <a:r>
              <a:rPr lang="en-US" sz="3600" dirty="0"/>
              <a:t>    current = </a:t>
            </a:r>
            <a:r>
              <a:rPr lang="en-US" sz="3600" dirty="0" err="1"/>
              <a:t>current.next</a:t>
            </a:r>
            <a:endParaRPr lang="en-US" sz="3600" dirty="0"/>
          </a:p>
          <a:p>
            <a:r>
              <a:rPr lang="en-US" sz="3600" dirty="0"/>
              <a:t>In this code, the Node class is the same as in the previous example. </a:t>
            </a:r>
          </a:p>
          <a:p>
            <a:r>
              <a:rPr lang="en-US" sz="3600" dirty="0"/>
              <a:t>The code first creates the first element of the list and sets the head and tail pointers to point to it.</a:t>
            </a:r>
          </a:p>
          <a:p>
            <a:endParaRPr lang="en-US" dirty="0"/>
          </a:p>
          <a:p>
            <a:endParaRPr lang="en-US" dirty="0"/>
          </a:p>
        </p:txBody>
      </p:sp>
    </p:spTree>
    <p:extLst>
      <p:ext uri="{BB962C8B-B14F-4D97-AF65-F5344CB8AC3E}">
        <p14:creationId xmlns:p14="http://schemas.microsoft.com/office/powerpoint/2010/main" val="14765414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FA7A46-AF56-4DA4-A944-9E28B4563030}"/>
              </a:ext>
            </a:extLst>
          </p:cNvPr>
          <p:cNvSpPr>
            <a:spLocks noGrp="1"/>
          </p:cNvSpPr>
          <p:nvPr>
            <p:ph idx="1"/>
          </p:nvPr>
        </p:nvSpPr>
        <p:spPr>
          <a:xfrm>
            <a:off x="838200" y="135467"/>
            <a:ext cx="10515600" cy="6581422"/>
          </a:xfrm>
        </p:spPr>
        <p:txBody>
          <a:bodyPr/>
          <a:lstStyle/>
          <a:p>
            <a:r>
              <a:rPr lang="en-US" sz="3600" dirty="0"/>
              <a:t>The code then uses a loop to create the remaining elements of the list. </a:t>
            </a:r>
          </a:p>
          <a:p>
            <a:r>
              <a:rPr lang="en-US" sz="3600" dirty="0"/>
              <a:t>In each iteration of the loop, the code creates a new node with the current index as its data, links it to the previous node using the next pointer, and updates the tail pointer to point to the new node. </a:t>
            </a:r>
          </a:p>
          <a:p>
            <a:r>
              <a:rPr lang="en-US" sz="3600" dirty="0"/>
              <a:t>After the loop completes, the code sets the next pointer of the last node to None. </a:t>
            </a:r>
          </a:p>
          <a:p>
            <a:r>
              <a:rPr lang="en-US" sz="3600" dirty="0"/>
              <a:t>Finally, the code traverses the list and prints the data in each node, separated by spaces. </a:t>
            </a:r>
          </a:p>
          <a:p>
            <a:r>
              <a:rPr lang="en-US" sz="3600" dirty="0"/>
              <a:t>The output of this code should be: 0 1 2 3 4. </a:t>
            </a:r>
          </a:p>
          <a:p>
            <a:pPr marL="0" indent="0">
              <a:buNone/>
            </a:pPr>
            <a:endParaRPr lang="en-US" dirty="0"/>
          </a:p>
        </p:txBody>
      </p:sp>
    </p:spTree>
    <p:extLst>
      <p:ext uri="{BB962C8B-B14F-4D97-AF65-F5344CB8AC3E}">
        <p14:creationId xmlns:p14="http://schemas.microsoft.com/office/powerpoint/2010/main" val="3619627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3574</Words>
  <Application>Microsoft Office PowerPoint</Application>
  <PresentationFormat>Widescreen</PresentationFormat>
  <Paragraphs>261</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BETTY</dc:creator>
  <cp:lastModifiedBy>BETTY</cp:lastModifiedBy>
  <cp:revision>23</cp:revision>
  <dcterms:created xsi:type="dcterms:W3CDTF">2023-04-12T19:58:51Z</dcterms:created>
  <dcterms:modified xsi:type="dcterms:W3CDTF">2023-06-16T21:36:18Z</dcterms:modified>
</cp:coreProperties>
</file>