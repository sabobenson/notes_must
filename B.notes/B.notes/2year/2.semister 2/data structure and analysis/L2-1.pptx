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68" r:id="rId4"/>
    <p:sldId id="286" r:id="rId5"/>
    <p:sldId id="287" r:id="rId6"/>
    <p:sldId id="288" r:id="rId7"/>
    <p:sldId id="289" r:id="rId8"/>
    <p:sldId id="291" r:id="rId9"/>
    <p:sldId id="259" r:id="rId10"/>
    <p:sldId id="292" r:id="rId11"/>
    <p:sldId id="299" r:id="rId12"/>
    <p:sldId id="300" r:id="rId13"/>
    <p:sldId id="301" r:id="rId14"/>
    <p:sldId id="302" r:id="rId15"/>
    <p:sldId id="303" r:id="rId16"/>
    <p:sldId id="304" r:id="rId17"/>
    <p:sldId id="305" r:id="rId18"/>
    <p:sldId id="294" r:id="rId19"/>
    <p:sldId id="295" r:id="rId20"/>
    <p:sldId id="296" r:id="rId21"/>
    <p:sldId id="297" r:id="rId22"/>
    <p:sldId id="298" r:id="rId23"/>
    <p:sldId id="310" r:id="rId24"/>
    <p:sldId id="311" r:id="rId25"/>
    <p:sldId id="260" r:id="rId26"/>
    <p:sldId id="261" r:id="rId27"/>
    <p:sldId id="262" r:id="rId28"/>
    <p:sldId id="263" r:id="rId29"/>
    <p:sldId id="264" r:id="rId30"/>
    <p:sldId id="315" r:id="rId31"/>
    <p:sldId id="312" r:id="rId32"/>
    <p:sldId id="313" r:id="rId33"/>
    <p:sldId id="314" r:id="rId34"/>
    <p:sldId id="316" r:id="rId35"/>
    <p:sldId id="317" r:id="rId36"/>
    <p:sldId id="318" r:id="rId37"/>
    <p:sldId id="319" r:id="rId38"/>
    <p:sldId id="265" r:id="rId39"/>
    <p:sldId id="266" r:id="rId40"/>
    <p:sldId id="306" r:id="rId41"/>
    <p:sldId id="307" r:id="rId42"/>
    <p:sldId id="308" r:id="rId43"/>
    <p:sldId id="309"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5" d="100"/>
          <a:sy n="85" d="100"/>
        </p:scale>
        <p:origin x="7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tty Singano" userId="c4a71c2116e877fe" providerId="LiveId" clId="{5AD744E0-23BC-4AD8-808A-8C9D4A44E7B9}"/>
    <pc:docChg chg="custSel addSld modSld">
      <pc:chgData name="Betty Singano" userId="c4a71c2116e877fe" providerId="LiveId" clId="{5AD744E0-23BC-4AD8-808A-8C9D4A44E7B9}" dt="2024-03-27T21:23:52.469" v="621" actId="14100"/>
      <pc:docMkLst>
        <pc:docMk/>
      </pc:docMkLst>
      <pc:sldChg chg="modSp new">
        <pc:chgData name="Betty Singano" userId="c4a71c2116e877fe" providerId="LiveId" clId="{5AD744E0-23BC-4AD8-808A-8C9D4A44E7B9}" dt="2024-03-27T19:28:56.928" v="122" actId="113"/>
        <pc:sldMkLst>
          <pc:docMk/>
          <pc:sldMk cId="1039777176" sldId="310"/>
        </pc:sldMkLst>
        <pc:spChg chg="mod">
          <ac:chgData name="Betty Singano" userId="c4a71c2116e877fe" providerId="LiveId" clId="{5AD744E0-23BC-4AD8-808A-8C9D4A44E7B9}" dt="2024-03-27T19:28:56.928" v="122" actId="113"/>
          <ac:spMkLst>
            <pc:docMk/>
            <pc:sldMk cId="1039777176" sldId="310"/>
            <ac:spMk id="2" creationId="{54187567-95C4-43C6-9354-FE3B2689FA2F}"/>
          </ac:spMkLst>
        </pc:spChg>
        <pc:spChg chg="mod">
          <ac:chgData name="Betty Singano" userId="c4a71c2116e877fe" providerId="LiveId" clId="{5AD744E0-23BC-4AD8-808A-8C9D4A44E7B9}" dt="2024-03-27T19:16:02.113" v="118" actId="27636"/>
          <ac:spMkLst>
            <pc:docMk/>
            <pc:sldMk cId="1039777176" sldId="310"/>
            <ac:spMk id="3" creationId="{9F54EA4C-C0B4-4383-A13A-989455A7D467}"/>
          </ac:spMkLst>
        </pc:spChg>
      </pc:sldChg>
      <pc:sldChg chg="delSp modSp new">
        <pc:chgData name="Betty Singano" userId="c4a71c2116e877fe" providerId="LiveId" clId="{5AD744E0-23BC-4AD8-808A-8C9D4A44E7B9}" dt="2024-03-27T19:34:46.833" v="135" actId="207"/>
        <pc:sldMkLst>
          <pc:docMk/>
          <pc:sldMk cId="4191549558" sldId="311"/>
        </pc:sldMkLst>
        <pc:spChg chg="del mod">
          <ac:chgData name="Betty Singano" userId="c4a71c2116e877fe" providerId="LiveId" clId="{5AD744E0-23BC-4AD8-808A-8C9D4A44E7B9}" dt="2024-03-27T19:11:32.191" v="97" actId="21"/>
          <ac:spMkLst>
            <pc:docMk/>
            <pc:sldMk cId="4191549558" sldId="311"/>
            <ac:spMk id="2" creationId="{05EAAF5F-2FC1-470F-84BE-111202896B8C}"/>
          </ac:spMkLst>
        </pc:spChg>
        <pc:spChg chg="mod">
          <ac:chgData name="Betty Singano" userId="c4a71c2116e877fe" providerId="LiveId" clId="{5AD744E0-23BC-4AD8-808A-8C9D4A44E7B9}" dt="2024-03-27T19:34:46.833" v="135" actId="207"/>
          <ac:spMkLst>
            <pc:docMk/>
            <pc:sldMk cId="4191549558" sldId="311"/>
            <ac:spMk id="3" creationId="{8A066788-6541-4359-A971-F39C96C2F21D}"/>
          </ac:spMkLst>
        </pc:spChg>
      </pc:sldChg>
      <pc:sldChg chg="modSp new">
        <pc:chgData name="Betty Singano" userId="c4a71c2116e877fe" providerId="LiveId" clId="{5AD744E0-23BC-4AD8-808A-8C9D4A44E7B9}" dt="2024-03-27T19:47:30.513" v="323" actId="20577"/>
        <pc:sldMkLst>
          <pc:docMk/>
          <pc:sldMk cId="2913281913" sldId="312"/>
        </pc:sldMkLst>
        <pc:spChg chg="mod">
          <ac:chgData name="Betty Singano" userId="c4a71c2116e877fe" providerId="LiveId" clId="{5AD744E0-23BC-4AD8-808A-8C9D4A44E7B9}" dt="2024-03-27T19:38:45.750" v="212" actId="113"/>
          <ac:spMkLst>
            <pc:docMk/>
            <pc:sldMk cId="2913281913" sldId="312"/>
            <ac:spMk id="2" creationId="{96AEFC78-6DD7-418C-99F0-24E7D83CD394}"/>
          </ac:spMkLst>
        </pc:spChg>
        <pc:spChg chg="mod">
          <ac:chgData name="Betty Singano" userId="c4a71c2116e877fe" providerId="LiveId" clId="{5AD744E0-23BC-4AD8-808A-8C9D4A44E7B9}" dt="2024-03-27T19:47:30.513" v="323" actId="20577"/>
          <ac:spMkLst>
            <pc:docMk/>
            <pc:sldMk cId="2913281913" sldId="312"/>
            <ac:spMk id="3" creationId="{4E9C0DB1-19E8-47C9-99F9-4B925A81745C}"/>
          </ac:spMkLst>
        </pc:spChg>
      </pc:sldChg>
      <pc:sldChg chg="addSp delSp modSp new">
        <pc:chgData name="Betty Singano" userId="c4a71c2116e877fe" providerId="LiveId" clId="{5AD744E0-23BC-4AD8-808A-8C9D4A44E7B9}" dt="2024-03-27T19:50:18.150" v="345"/>
        <pc:sldMkLst>
          <pc:docMk/>
          <pc:sldMk cId="4091303059" sldId="313"/>
        </pc:sldMkLst>
        <pc:spChg chg="del mod">
          <ac:chgData name="Betty Singano" userId="c4a71c2116e877fe" providerId="LiveId" clId="{5AD744E0-23BC-4AD8-808A-8C9D4A44E7B9}" dt="2024-03-27T19:44:53.879" v="273" actId="21"/>
          <ac:spMkLst>
            <pc:docMk/>
            <pc:sldMk cId="4091303059" sldId="313"/>
            <ac:spMk id="2" creationId="{7E9BC4B3-ED7D-4B20-8814-C7C531C2864C}"/>
          </ac:spMkLst>
        </pc:spChg>
        <pc:spChg chg="mod">
          <ac:chgData name="Betty Singano" userId="c4a71c2116e877fe" providerId="LiveId" clId="{5AD744E0-23BC-4AD8-808A-8C9D4A44E7B9}" dt="2024-03-27T19:50:18.150" v="345"/>
          <ac:spMkLst>
            <pc:docMk/>
            <pc:sldMk cId="4091303059" sldId="313"/>
            <ac:spMk id="3" creationId="{EC650C2A-0C88-499E-834E-F12B834CDC54}"/>
          </ac:spMkLst>
        </pc:spChg>
        <pc:spChg chg="add del">
          <ac:chgData name="Betty Singano" userId="c4a71c2116e877fe" providerId="LiveId" clId="{5AD744E0-23BC-4AD8-808A-8C9D4A44E7B9}" dt="2024-03-27T19:49:20.341" v="340"/>
          <ac:spMkLst>
            <pc:docMk/>
            <pc:sldMk cId="4091303059" sldId="313"/>
            <ac:spMk id="4" creationId="{B679CCF6-1D5A-4BEB-AFDF-26FD1970598F}"/>
          </ac:spMkLst>
        </pc:spChg>
      </pc:sldChg>
      <pc:sldChg chg="addSp delSp modSp new">
        <pc:chgData name="Betty Singano" userId="c4a71c2116e877fe" providerId="LiveId" clId="{5AD744E0-23BC-4AD8-808A-8C9D4A44E7B9}" dt="2024-03-27T21:06:44.585" v="483" actId="5793"/>
        <pc:sldMkLst>
          <pc:docMk/>
          <pc:sldMk cId="3481122736" sldId="314"/>
        </pc:sldMkLst>
        <pc:spChg chg="del mod">
          <ac:chgData name="Betty Singano" userId="c4a71c2116e877fe" providerId="LiveId" clId="{5AD744E0-23BC-4AD8-808A-8C9D4A44E7B9}" dt="2024-03-27T19:50:55.341" v="349" actId="21"/>
          <ac:spMkLst>
            <pc:docMk/>
            <pc:sldMk cId="3481122736" sldId="314"/>
            <ac:spMk id="2" creationId="{ECD2D454-DEC4-422D-A8D9-0787E323B99E}"/>
          </ac:spMkLst>
        </pc:spChg>
        <pc:spChg chg="mod">
          <ac:chgData name="Betty Singano" userId="c4a71c2116e877fe" providerId="LiveId" clId="{5AD744E0-23BC-4AD8-808A-8C9D4A44E7B9}" dt="2024-03-27T21:06:44.585" v="483" actId="5793"/>
          <ac:spMkLst>
            <pc:docMk/>
            <pc:sldMk cId="3481122736" sldId="314"/>
            <ac:spMk id="3" creationId="{C32424E6-9321-441D-B5FE-23D7ACAFD921}"/>
          </ac:spMkLst>
        </pc:spChg>
        <pc:spChg chg="add del">
          <ac:chgData name="Betty Singano" userId="c4a71c2116e877fe" providerId="LiveId" clId="{5AD744E0-23BC-4AD8-808A-8C9D4A44E7B9}" dt="2024-03-27T21:01:08.524" v="452"/>
          <ac:spMkLst>
            <pc:docMk/>
            <pc:sldMk cId="3481122736" sldId="314"/>
            <ac:spMk id="4" creationId="{B8580B8F-E428-4103-B9DF-C790B14C0FFF}"/>
          </ac:spMkLst>
        </pc:spChg>
        <pc:spChg chg="add del">
          <ac:chgData name="Betty Singano" userId="c4a71c2116e877fe" providerId="LiveId" clId="{5AD744E0-23BC-4AD8-808A-8C9D4A44E7B9}" dt="2024-03-27T21:01:50.411" v="469"/>
          <ac:spMkLst>
            <pc:docMk/>
            <pc:sldMk cId="3481122736" sldId="314"/>
            <ac:spMk id="5" creationId="{63E605D9-7B03-40A9-A472-8051C6186FD6}"/>
          </ac:spMkLst>
        </pc:spChg>
      </pc:sldChg>
      <pc:sldChg chg="delSp modSp new">
        <pc:chgData name="Betty Singano" userId="c4a71c2116e877fe" providerId="LiveId" clId="{5AD744E0-23BC-4AD8-808A-8C9D4A44E7B9}" dt="2024-03-27T20:03:23.618" v="430" actId="20577"/>
        <pc:sldMkLst>
          <pc:docMk/>
          <pc:sldMk cId="2960788263" sldId="315"/>
        </pc:sldMkLst>
        <pc:spChg chg="del mod">
          <ac:chgData name="Betty Singano" userId="c4a71c2116e877fe" providerId="LiveId" clId="{5AD744E0-23BC-4AD8-808A-8C9D4A44E7B9}" dt="2024-03-27T19:57:22.103" v="372" actId="21"/>
          <ac:spMkLst>
            <pc:docMk/>
            <pc:sldMk cId="2960788263" sldId="315"/>
            <ac:spMk id="2" creationId="{03CD08E2-CF54-4B2E-83C1-CE35CD860F7D}"/>
          </ac:spMkLst>
        </pc:spChg>
        <pc:spChg chg="mod">
          <ac:chgData name="Betty Singano" userId="c4a71c2116e877fe" providerId="LiveId" clId="{5AD744E0-23BC-4AD8-808A-8C9D4A44E7B9}" dt="2024-03-27T20:03:23.618" v="430" actId="20577"/>
          <ac:spMkLst>
            <pc:docMk/>
            <pc:sldMk cId="2960788263" sldId="315"/>
            <ac:spMk id="3" creationId="{443950B5-7D4B-4A10-AFF2-0553428348B3}"/>
          </ac:spMkLst>
        </pc:spChg>
      </pc:sldChg>
      <pc:sldChg chg="delSp modSp new">
        <pc:chgData name="Betty Singano" userId="c4a71c2116e877fe" providerId="LiveId" clId="{5AD744E0-23BC-4AD8-808A-8C9D4A44E7B9}" dt="2024-03-27T21:10:56.018" v="516" actId="27636"/>
        <pc:sldMkLst>
          <pc:docMk/>
          <pc:sldMk cId="1103900173" sldId="316"/>
        </pc:sldMkLst>
        <pc:spChg chg="del mod">
          <ac:chgData name="Betty Singano" userId="c4a71c2116e877fe" providerId="LiveId" clId="{5AD744E0-23BC-4AD8-808A-8C9D4A44E7B9}" dt="2024-03-27T21:07:03.381" v="489" actId="21"/>
          <ac:spMkLst>
            <pc:docMk/>
            <pc:sldMk cId="1103900173" sldId="316"/>
            <ac:spMk id="2" creationId="{401625B7-19E4-492E-B2AF-BD8E43FB1152}"/>
          </ac:spMkLst>
        </pc:spChg>
        <pc:spChg chg="mod">
          <ac:chgData name="Betty Singano" userId="c4a71c2116e877fe" providerId="LiveId" clId="{5AD744E0-23BC-4AD8-808A-8C9D4A44E7B9}" dt="2024-03-27T21:10:56.018" v="516" actId="27636"/>
          <ac:spMkLst>
            <pc:docMk/>
            <pc:sldMk cId="1103900173" sldId="316"/>
            <ac:spMk id="3" creationId="{2393A9AB-3C6B-4A78-8D9E-C5544B6D5FFB}"/>
          </ac:spMkLst>
        </pc:spChg>
      </pc:sldChg>
      <pc:sldChg chg="delSp modSp new">
        <pc:chgData name="Betty Singano" userId="c4a71c2116e877fe" providerId="LiveId" clId="{5AD744E0-23BC-4AD8-808A-8C9D4A44E7B9}" dt="2024-03-27T21:12:17.735" v="533" actId="20577"/>
        <pc:sldMkLst>
          <pc:docMk/>
          <pc:sldMk cId="650293839" sldId="317"/>
        </pc:sldMkLst>
        <pc:spChg chg="del mod">
          <ac:chgData name="Betty Singano" userId="c4a71c2116e877fe" providerId="LiveId" clId="{5AD744E0-23BC-4AD8-808A-8C9D4A44E7B9}" dt="2024-03-27T21:10:33.813" v="511" actId="21"/>
          <ac:spMkLst>
            <pc:docMk/>
            <pc:sldMk cId="650293839" sldId="317"/>
            <ac:spMk id="2" creationId="{EFCE6894-BAA4-4295-B043-398F08CA32F4}"/>
          </ac:spMkLst>
        </pc:spChg>
        <pc:spChg chg="mod">
          <ac:chgData name="Betty Singano" userId="c4a71c2116e877fe" providerId="LiveId" clId="{5AD744E0-23BC-4AD8-808A-8C9D4A44E7B9}" dt="2024-03-27T21:12:17.735" v="533" actId="20577"/>
          <ac:spMkLst>
            <pc:docMk/>
            <pc:sldMk cId="650293839" sldId="317"/>
            <ac:spMk id="3" creationId="{025CF695-A338-4AA0-ABD7-B8E1D1EE6391}"/>
          </ac:spMkLst>
        </pc:spChg>
      </pc:sldChg>
      <pc:sldChg chg="addSp delSp modSp new">
        <pc:chgData name="Betty Singano" userId="c4a71c2116e877fe" providerId="LiveId" clId="{5AD744E0-23BC-4AD8-808A-8C9D4A44E7B9}" dt="2024-03-27T21:23:52.469" v="621" actId="14100"/>
        <pc:sldMkLst>
          <pc:docMk/>
          <pc:sldMk cId="2719854176" sldId="318"/>
        </pc:sldMkLst>
        <pc:spChg chg="mod">
          <ac:chgData name="Betty Singano" userId="c4a71c2116e877fe" providerId="LiveId" clId="{5AD744E0-23BC-4AD8-808A-8C9D4A44E7B9}" dt="2024-03-27T21:23:52.469" v="621" actId="14100"/>
          <ac:spMkLst>
            <pc:docMk/>
            <pc:sldMk cId="2719854176" sldId="318"/>
            <ac:spMk id="2" creationId="{1404C147-A723-4D8C-8670-A28AA7C894FD}"/>
          </ac:spMkLst>
        </pc:spChg>
        <pc:spChg chg="add del mod">
          <ac:chgData name="Betty Singano" userId="c4a71c2116e877fe" providerId="LiveId" clId="{5AD744E0-23BC-4AD8-808A-8C9D4A44E7B9}" dt="2024-03-27T21:20:02.322" v="561" actId="27636"/>
          <ac:spMkLst>
            <pc:docMk/>
            <pc:sldMk cId="2719854176" sldId="318"/>
            <ac:spMk id="3" creationId="{807B1858-E4A3-4526-AC09-B176459F51DE}"/>
          </ac:spMkLst>
        </pc:spChg>
        <pc:spChg chg="add del">
          <ac:chgData name="Betty Singano" userId="c4a71c2116e877fe" providerId="LiveId" clId="{5AD744E0-23BC-4AD8-808A-8C9D4A44E7B9}" dt="2024-03-27T21:18:20.861" v="548"/>
          <ac:spMkLst>
            <pc:docMk/>
            <pc:sldMk cId="2719854176" sldId="318"/>
            <ac:spMk id="4" creationId="{BA882335-90EE-45D3-B5C3-B84825020F0B}"/>
          </ac:spMkLst>
        </pc:spChg>
        <pc:spChg chg="add del">
          <ac:chgData name="Betty Singano" userId="c4a71c2116e877fe" providerId="LiveId" clId="{5AD744E0-23BC-4AD8-808A-8C9D4A44E7B9}" dt="2024-03-27T21:18:51.335" v="551"/>
          <ac:spMkLst>
            <pc:docMk/>
            <pc:sldMk cId="2719854176" sldId="318"/>
            <ac:spMk id="5" creationId="{A452299C-0D2E-498B-A393-9E24884F5036}"/>
          </ac:spMkLst>
        </pc:spChg>
        <pc:spChg chg="add del">
          <ac:chgData name="Betty Singano" userId="c4a71c2116e877fe" providerId="LiveId" clId="{5AD744E0-23BC-4AD8-808A-8C9D4A44E7B9}" dt="2024-03-27T21:19:05.282" v="553"/>
          <ac:spMkLst>
            <pc:docMk/>
            <pc:sldMk cId="2719854176" sldId="318"/>
            <ac:spMk id="6" creationId="{DFCD303F-8D0C-428C-8E4D-19B56E8EE9BD}"/>
          </ac:spMkLst>
        </pc:spChg>
      </pc:sldChg>
      <pc:sldChg chg="addSp delSp modSp new">
        <pc:chgData name="Betty Singano" userId="c4a71c2116e877fe" providerId="LiveId" clId="{5AD744E0-23BC-4AD8-808A-8C9D4A44E7B9}" dt="2024-03-27T21:23:04.557" v="616"/>
        <pc:sldMkLst>
          <pc:docMk/>
          <pc:sldMk cId="235627232" sldId="319"/>
        </pc:sldMkLst>
        <pc:spChg chg="del mod">
          <ac:chgData name="Betty Singano" userId="c4a71c2116e877fe" providerId="LiveId" clId="{5AD744E0-23BC-4AD8-808A-8C9D4A44E7B9}" dt="2024-03-27T21:20:13.223" v="565" actId="21"/>
          <ac:spMkLst>
            <pc:docMk/>
            <pc:sldMk cId="235627232" sldId="319"/>
            <ac:spMk id="2" creationId="{6DDEFAA9-0428-443E-B40B-DB9231650CC7}"/>
          </ac:spMkLst>
        </pc:spChg>
        <pc:spChg chg="mod">
          <ac:chgData name="Betty Singano" userId="c4a71c2116e877fe" providerId="LiveId" clId="{5AD744E0-23BC-4AD8-808A-8C9D4A44E7B9}" dt="2024-03-27T21:23:04.557" v="616"/>
          <ac:spMkLst>
            <pc:docMk/>
            <pc:sldMk cId="235627232" sldId="319"/>
            <ac:spMk id="3" creationId="{9FAA3E76-F85D-4D62-8F36-E242A5BB55CF}"/>
          </ac:spMkLst>
        </pc:spChg>
        <pc:spChg chg="add del">
          <ac:chgData name="Betty Singano" userId="c4a71c2116e877fe" providerId="LiveId" clId="{5AD744E0-23BC-4AD8-808A-8C9D4A44E7B9}" dt="2024-03-27T21:20:47.554" v="570"/>
          <ac:spMkLst>
            <pc:docMk/>
            <pc:sldMk cId="235627232" sldId="319"/>
            <ac:spMk id="4" creationId="{2231EC8B-225E-40D3-BE04-29D6C894C64A}"/>
          </ac:spMkLst>
        </pc:spChg>
        <pc:spChg chg="add del">
          <ac:chgData name="Betty Singano" userId="c4a71c2116e877fe" providerId="LiveId" clId="{5AD744E0-23BC-4AD8-808A-8C9D4A44E7B9}" dt="2024-03-27T21:21:12.253" v="573"/>
          <ac:spMkLst>
            <pc:docMk/>
            <pc:sldMk cId="235627232" sldId="319"/>
            <ac:spMk id="5" creationId="{E2EC5359-E40C-4D6F-A37C-9F1AB55C1791}"/>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3C6C6-EF49-42DB-B339-BBE59E00DAA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7A45F8-D56F-4426-989E-164C7D192CF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5E59518-0213-49EB-BA2C-CABA32BAB1BF}"/>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5" name="Footer Placeholder 4">
            <a:extLst>
              <a:ext uri="{FF2B5EF4-FFF2-40B4-BE49-F238E27FC236}">
                <a16:creationId xmlns:a16="http://schemas.microsoft.com/office/drawing/2014/main" id="{F200886C-15BF-4CD5-BDCA-22F9B1D2866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927688-D64C-430E-AE69-94DE9F252DD8}"/>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1491442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2C6A14-1DAF-4026-BFD8-86BEEC1F58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EE473C-6ADF-4611-A11A-89881DEAD63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5CEE803-6C14-4F72-8C2C-5AECAA513BB2}"/>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5" name="Footer Placeholder 4">
            <a:extLst>
              <a:ext uri="{FF2B5EF4-FFF2-40B4-BE49-F238E27FC236}">
                <a16:creationId xmlns:a16="http://schemas.microsoft.com/office/drawing/2014/main" id="{B3B32238-4132-4DF9-B4B0-01A69C39F4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F2BCD8-175C-4981-B192-3E922ED193C0}"/>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50210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B04D0-2DA9-4B14-A9DE-85BB49A5EF3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0FE1EA-499B-4D16-89FC-D205B8F55F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8FB2108-E0B1-4762-8149-66CC96B80269}"/>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5" name="Footer Placeholder 4">
            <a:extLst>
              <a:ext uri="{FF2B5EF4-FFF2-40B4-BE49-F238E27FC236}">
                <a16:creationId xmlns:a16="http://schemas.microsoft.com/office/drawing/2014/main" id="{729A2996-5CAD-4094-9860-5721ED78F5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139144-782E-4B5B-8D32-1E7EF1AFB69F}"/>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3739134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24D21F-3E7D-4F4F-82ED-FD847F90FF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700127-4CC1-4E40-B27F-7FE9CD0ED5A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999F559-B3C5-41F6-996E-80B9977566F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17D2B09-423B-4F3B-BA5A-61F4D9E4F333}"/>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6" name="Footer Placeholder 5">
            <a:extLst>
              <a:ext uri="{FF2B5EF4-FFF2-40B4-BE49-F238E27FC236}">
                <a16:creationId xmlns:a16="http://schemas.microsoft.com/office/drawing/2014/main" id="{E342FA63-0FCD-4D8B-9F33-49A77B6E94E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005A9B-3590-49B3-B1ED-12B6217E35F8}"/>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22105319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048F00-25B1-45E2-9EFA-6F6EFC3771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AFF579-5A2C-4105-8897-977C4945D1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BCB0620-7371-41AC-9407-A66D7D2BE34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252E040-E119-4362-9BAE-32ACAD13E3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CFA7C7-A4E2-44C0-AD02-07E3DE0E82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6FFB179-5258-4218-92AD-1D42E0A76860}"/>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8" name="Footer Placeholder 7">
            <a:extLst>
              <a:ext uri="{FF2B5EF4-FFF2-40B4-BE49-F238E27FC236}">
                <a16:creationId xmlns:a16="http://schemas.microsoft.com/office/drawing/2014/main" id="{8D0996EC-CBFA-46A4-A993-4C11898A7C3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AE5F0FC-CD98-4AA7-A20E-79BFBD00D907}"/>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84788372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43136-FF57-4022-9659-B4A049CE6CE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84E87B9-F221-4A86-A8A5-1DE163F623D6}"/>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4" name="Footer Placeholder 3">
            <a:extLst>
              <a:ext uri="{FF2B5EF4-FFF2-40B4-BE49-F238E27FC236}">
                <a16:creationId xmlns:a16="http://schemas.microsoft.com/office/drawing/2014/main" id="{5BE3E9F0-0368-4C52-9B44-EF9DF1643E3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29B27-C4B5-4BD2-A552-16B18C68ACF9}"/>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22737364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C2FDDDB-3029-42D3-9E1E-11E51BA2E035}"/>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3" name="Footer Placeholder 2">
            <a:extLst>
              <a:ext uri="{FF2B5EF4-FFF2-40B4-BE49-F238E27FC236}">
                <a16:creationId xmlns:a16="http://schemas.microsoft.com/office/drawing/2014/main" id="{DB6BC2FA-8F38-4F8B-B6E2-3E3A493BE82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34DA42-ACCD-4936-84A2-AE37546357C0}"/>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3989937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F6E2F3-5226-4787-B7EB-3F3FCFA8B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B2D76D-5252-4E18-AA5E-73E2BAB5335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EF0364D-C40A-4575-8118-B0FB7917A2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A713DE-5EEB-43AD-8D56-338C4F7C7211}"/>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6" name="Footer Placeholder 5">
            <a:extLst>
              <a:ext uri="{FF2B5EF4-FFF2-40B4-BE49-F238E27FC236}">
                <a16:creationId xmlns:a16="http://schemas.microsoft.com/office/drawing/2014/main" id="{B7B3AD20-A67B-4093-9461-7A34E6B4308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83F4E2-926F-48C2-91E8-BBBF4CE44712}"/>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42869283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D9927C-820B-4A45-A6D0-4FBEA800E2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D0165B-2DFC-45AE-8703-6535840DFCE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15A5D59-4F08-4BA1-A8B1-671152F56FA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FB35C9-23DC-40B1-B81D-43620880239D}"/>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6" name="Footer Placeholder 5">
            <a:extLst>
              <a:ext uri="{FF2B5EF4-FFF2-40B4-BE49-F238E27FC236}">
                <a16:creationId xmlns:a16="http://schemas.microsoft.com/office/drawing/2014/main" id="{59AC6D46-437C-4A90-BB12-869B1FDB85D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95AA7B5-5F5F-4B16-9E7C-427AE02561C0}"/>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19351640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4F2E12-2D09-4CA4-9354-926640062EC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5EE448C-804B-45E2-BFFC-AF91628EC3C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5AC314D-175B-4D9A-AA60-773C69ADCCE3}"/>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5" name="Footer Placeholder 4">
            <a:extLst>
              <a:ext uri="{FF2B5EF4-FFF2-40B4-BE49-F238E27FC236}">
                <a16:creationId xmlns:a16="http://schemas.microsoft.com/office/drawing/2014/main" id="{606BB917-4F10-488B-A83D-57F8960E0A1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B39C23-A089-41D2-8518-6BA678B25A90}"/>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1637373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15775F-CC65-4D60-A15C-7766F613DFD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935A8CB-62E4-4E52-89BA-7EEB04DA826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B783C1-2542-418E-9B56-B3734073392A}"/>
              </a:ext>
            </a:extLst>
          </p:cNvPr>
          <p:cNvSpPr>
            <a:spLocks noGrp="1"/>
          </p:cNvSpPr>
          <p:nvPr>
            <p:ph type="dt" sz="half" idx="10"/>
          </p:nvPr>
        </p:nvSpPr>
        <p:spPr/>
        <p:txBody>
          <a:bodyPr/>
          <a:lstStyle/>
          <a:p>
            <a:fld id="{1D6725CF-0BAE-4B18-8498-7292014C8BC9}" type="datetimeFigureOut">
              <a:rPr lang="en-US" smtClean="0"/>
              <a:t>4/2/2024</a:t>
            </a:fld>
            <a:endParaRPr lang="en-US"/>
          </a:p>
        </p:txBody>
      </p:sp>
      <p:sp>
        <p:nvSpPr>
          <p:cNvPr id="5" name="Footer Placeholder 4">
            <a:extLst>
              <a:ext uri="{FF2B5EF4-FFF2-40B4-BE49-F238E27FC236}">
                <a16:creationId xmlns:a16="http://schemas.microsoft.com/office/drawing/2014/main" id="{CB375FB9-04C2-472D-8B57-C851BD1ABF5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F398C2-CA04-4459-96DC-DBEDBF9010FD}"/>
              </a:ext>
            </a:extLst>
          </p:cNvPr>
          <p:cNvSpPr>
            <a:spLocks noGrp="1"/>
          </p:cNvSpPr>
          <p:nvPr>
            <p:ph type="sldNum" sz="quarter" idx="12"/>
          </p:nvPr>
        </p:nvSpPr>
        <p:spPr/>
        <p:txBody>
          <a:bodyPr/>
          <a:lstStyle/>
          <a:p>
            <a:fld id="{D9CC3729-6DBF-45E0-A456-7B638C5C548F}" type="slidenum">
              <a:rPr lang="en-US" smtClean="0"/>
              <a:t>‹#›</a:t>
            </a:fld>
            <a:endParaRPr lang="en-US"/>
          </a:p>
        </p:txBody>
      </p:sp>
    </p:spTree>
    <p:extLst>
      <p:ext uri="{BB962C8B-B14F-4D97-AF65-F5344CB8AC3E}">
        <p14:creationId xmlns:p14="http://schemas.microsoft.com/office/powerpoint/2010/main" val="16100960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7FB416-6C81-468E-B20E-9946D4F87E9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4EC4A80-7658-4966-A5B9-AC8142F394B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14691-8820-410E-8FC0-31D020F3FCA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6725CF-0BAE-4B18-8498-7292014C8BC9}" type="datetimeFigureOut">
              <a:rPr lang="en-US" smtClean="0"/>
              <a:t>4/2/2024</a:t>
            </a:fld>
            <a:endParaRPr lang="en-US"/>
          </a:p>
        </p:txBody>
      </p:sp>
      <p:sp>
        <p:nvSpPr>
          <p:cNvPr id="5" name="Footer Placeholder 4">
            <a:extLst>
              <a:ext uri="{FF2B5EF4-FFF2-40B4-BE49-F238E27FC236}">
                <a16:creationId xmlns:a16="http://schemas.microsoft.com/office/drawing/2014/main" id="{7529A585-8DEB-4530-8B2A-257B0C1C1BE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8DF92E82-5A4E-4B83-B8CB-0F3A4A9B91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9CC3729-6DBF-45E0-A456-7B638C5C548F}" type="slidenum">
              <a:rPr lang="en-US" smtClean="0"/>
              <a:t>‹#›</a:t>
            </a:fld>
            <a:endParaRPr lang="en-US"/>
          </a:p>
        </p:txBody>
      </p:sp>
    </p:spTree>
    <p:extLst>
      <p:ext uri="{BB962C8B-B14F-4D97-AF65-F5344CB8AC3E}">
        <p14:creationId xmlns:p14="http://schemas.microsoft.com/office/powerpoint/2010/main" val="4233375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983AC8-0681-481F-A1E2-6D2A70890B85}"/>
              </a:ext>
            </a:extLst>
          </p:cNvPr>
          <p:cNvSpPr>
            <a:spLocks noGrp="1"/>
          </p:cNvSpPr>
          <p:nvPr>
            <p:ph idx="1"/>
          </p:nvPr>
        </p:nvSpPr>
        <p:spPr>
          <a:xfrm>
            <a:off x="838200" y="169332"/>
            <a:ext cx="10515600" cy="6688667"/>
          </a:xfrm>
        </p:spPr>
        <p:txBody>
          <a:bodyPr>
            <a:normAutofit fontScale="92500" lnSpcReduction="10000"/>
          </a:bodyPr>
          <a:lstStyle/>
          <a:p>
            <a:pPr>
              <a:buFont typeface="Wingdings" panose="05000000000000000000" pitchFamily="2" charset="2"/>
              <a:buChar char="Ø"/>
            </a:pPr>
            <a:r>
              <a:rPr lang="en-US" sz="4000" b="1" dirty="0"/>
              <a:t>Introduction to Algorithm Analysis:</a:t>
            </a:r>
          </a:p>
          <a:p>
            <a:pPr marL="0" indent="0">
              <a:buNone/>
            </a:pPr>
            <a:r>
              <a:rPr lang="en-US" sz="3600" b="1" dirty="0"/>
              <a:t>Definition of an Algorithm:</a:t>
            </a:r>
          </a:p>
          <a:p>
            <a:pPr marL="0" indent="0">
              <a:buNone/>
            </a:pPr>
            <a:r>
              <a:rPr lang="en-US" sz="3600" b="1" dirty="0"/>
              <a:t>What is an algorithm?</a:t>
            </a:r>
          </a:p>
          <a:p>
            <a:pPr marL="0" indent="0">
              <a:buNone/>
            </a:pPr>
            <a:r>
              <a:rPr lang="en-US" sz="3600" dirty="0"/>
              <a:t>Algorithm is a </a:t>
            </a:r>
            <a:r>
              <a:rPr lang="en-US" sz="3600" b="1" dirty="0"/>
              <a:t>step-by-step procedure</a:t>
            </a:r>
            <a:r>
              <a:rPr lang="en-US" sz="3600" dirty="0"/>
              <a:t>, which defines a </a:t>
            </a:r>
            <a:r>
              <a:rPr lang="en-US" sz="3600" b="1" dirty="0"/>
              <a:t>set of instructions </a:t>
            </a:r>
            <a:r>
              <a:rPr lang="en-US" sz="3600" dirty="0"/>
              <a:t>to be </a:t>
            </a:r>
            <a:r>
              <a:rPr lang="en-US" sz="3600" b="1" dirty="0"/>
              <a:t>executed</a:t>
            </a:r>
            <a:r>
              <a:rPr lang="en-US" sz="3600" dirty="0"/>
              <a:t> in a </a:t>
            </a:r>
            <a:r>
              <a:rPr lang="en-US" sz="3600" b="1" dirty="0"/>
              <a:t>certain order  so as </a:t>
            </a:r>
            <a:r>
              <a:rPr lang="en-US" sz="3600" dirty="0"/>
              <a:t>to get the desired output when solving a given problem.</a:t>
            </a:r>
          </a:p>
          <a:p>
            <a:pPr marL="0" indent="0">
              <a:buNone/>
            </a:pPr>
            <a:r>
              <a:rPr lang="en-US" sz="3600" dirty="0"/>
              <a:t>It is a </a:t>
            </a:r>
            <a:r>
              <a:rPr lang="en-US" sz="3600" b="1"/>
              <a:t>finite step </a:t>
            </a:r>
            <a:r>
              <a:rPr lang="en-US" sz="3600" b="1" dirty="0"/>
              <a:t>by step procedure </a:t>
            </a:r>
            <a:r>
              <a:rPr lang="en-US" sz="3600" dirty="0"/>
              <a:t>to achieve a </a:t>
            </a:r>
            <a:r>
              <a:rPr lang="en-US" sz="3600" b="1" dirty="0"/>
              <a:t>required output.</a:t>
            </a:r>
          </a:p>
          <a:p>
            <a:pPr marL="0" indent="0">
              <a:buNone/>
            </a:pPr>
            <a:r>
              <a:rPr lang="en-US" sz="3600" b="1" dirty="0"/>
              <a:t>It is a sequence of computational steps that transform input to output.</a:t>
            </a:r>
          </a:p>
          <a:p>
            <a:pPr marL="0" indent="0">
              <a:buNone/>
            </a:pPr>
            <a:r>
              <a:rPr lang="en-US" sz="3600" dirty="0"/>
              <a:t>Algorithms are generally created independent of underlying </a:t>
            </a:r>
            <a:r>
              <a:rPr lang="en-US" sz="3600" b="1" dirty="0"/>
              <a:t>languages,</a:t>
            </a:r>
            <a:r>
              <a:rPr lang="en-US" sz="3600" dirty="0"/>
              <a:t> i.e. an algorithm can be implemented in more than one programming language.</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7648454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CAB5EAE-7ED2-47B3-8CAA-3302E8BBB1AA}"/>
              </a:ext>
            </a:extLst>
          </p:cNvPr>
          <p:cNvSpPr>
            <a:spLocks noGrp="1"/>
          </p:cNvSpPr>
          <p:nvPr>
            <p:ph idx="1"/>
          </p:nvPr>
        </p:nvSpPr>
        <p:spPr>
          <a:xfrm>
            <a:off x="838200" y="191912"/>
            <a:ext cx="10515600" cy="6666088"/>
          </a:xfrm>
        </p:spPr>
        <p:txBody>
          <a:bodyPr/>
          <a:lstStyle/>
          <a:p>
            <a:pPr marL="0" indent="0">
              <a:buNone/>
            </a:pPr>
            <a:r>
              <a:rPr lang="en-US" dirty="0"/>
              <a:t>An algorithm is an </a:t>
            </a:r>
            <a:r>
              <a:rPr lang="en-US" b="1" dirty="0"/>
              <a:t>effective step-by-step procedure for solving a problem in a finite number of steps</a:t>
            </a:r>
            <a:r>
              <a:rPr lang="en-US" dirty="0"/>
              <a:t>.</a:t>
            </a:r>
          </a:p>
          <a:p>
            <a:pPr marL="0" indent="0">
              <a:buNone/>
            </a:pPr>
            <a:r>
              <a:rPr lang="en-US" dirty="0"/>
              <a:t>In other words, it is a </a:t>
            </a:r>
            <a:r>
              <a:rPr lang="en-US" b="1" dirty="0"/>
              <a:t>finite set of well-defined instructions </a:t>
            </a:r>
            <a:r>
              <a:rPr lang="en-US" dirty="0"/>
              <a:t>or </a:t>
            </a:r>
            <a:r>
              <a:rPr lang="en-US" b="1" dirty="0"/>
              <a:t>step-by-step description of the procedure written in human readable language for solving a given problem.</a:t>
            </a:r>
          </a:p>
          <a:p>
            <a:pPr marL="0" indent="0">
              <a:buNone/>
            </a:pPr>
            <a:r>
              <a:rPr lang="en-US" dirty="0"/>
              <a:t>An algorithm </a:t>
            </a:r>
            <a:r>
              <a:rPr lang="en-US" b="1" dirty="0"/>
              <a:t>itself is division of a problem </a:t>
            </a:r>
            <a:r>
              <a:rPr lang="en-US" dirty="0"/>
              <a:t>into </a:t>
            </a:r>
            <a:r>
              <a:rPr lang="en-US" b="1" dirty="0"/>
              <a:t>small steps </a:t>
            </a:r>
            <a:r>
              <a:rPr lang="en-US" dirty="0"/>
              <a:t>which are </a:t>
            </a:r>
            <a:r>
              <a:rPr lang="en-US" b="1" dirty="0"/>
              <a:t>ordered in sequence </a:t>
            </a:r>
            <a:r>
              <a:rPr lang="en-US" dirty="0"/>
              <a:t>and </a:t>
            </a:r>
            <a:r>
              <a:rPr lang="en-US" b="1" dirty="0"/>
              <a:t>easily understandable</a:t>
            </a:r>
            <a:r>
              <a:rPr lang="en-US" dirty="0"/>
              <a:t>. </a:t>
            </a:r>
          </a:p>
          <a:p>
            <a:pPr marL="0" indent="0">
              <a:buNone/>
            </a:pPr>
            <a:r>
              <a:rPr lang="en-US" dirty="0"/>
              <a:t>Algorithms are very </a:t>
            </a:r>
            <a:r>
              <a:rPr lang="en-US" b="1" dirty="0"/>
              <a:t>important to the way computers process information, because a computer program is basically an algorithm that tells computer what specific tasks to perform in what specific order to accomplish a specific task.</a:t>
            </a:r>
          </a:p>
          <a:p>
            <a:pPr marL="0" indent="0">
              <a:buNone/>
            </a:pPr>
            <a:r>
              <a:rPr lang="en-US" dirty="0"/>
              <a:t>The </a:t>
            </a:r>
            <a:r>
              <a:rPr lang="en-US" b="1" dirty="0"/>
              <a:t>same problem can be solved with different methods</a:t>
            </a:r>
            <a:r>
              <a:rPr lang="en-US" dirty="0"/>
              <a:t>. </a:t>
            </a:r>
          </a:p>
          <a:p>
            <a:pPr marL="0" indent="0">
              <a:buNone/>
            </a:pPr>
            <a:r>
              <a:rPr lang="en-US" dirty="0"/>
              <a:t>So, for solving the same problem, </a:t>
            </a:r>
            <a:r>
              <a:rPr lang="en-US" b="1" dirty="0"/>
              <a:t>different algorithms </a:t>
            </a:r>
            <a:r>
              <a:rPr lang="en-US" dirty="0"/>
              <a:t>can be designed. In these algorithms, </a:t>
            </a:r>
            <a:r>
              <a:rPr lang="en-US" b="1" dirty="0"/>
              <a:t>number of steps, time and efforts may vary more or less. </a:t>
            </a:r>
          </a:p>
          <a:p>
            <a:pPr marL="0" indent="0">
              <a:buNone/>
            </a:pPr>
            <a:endParaRPr lang="en-US" dirty="0"/>
          </a:p>
        </p:txBody>
      </p:sp>
    </p:spTree>
    <p:extLst>
      <p:ext uri="{BB962C8B-B14F-4D97-AF65-F5344CB8AC3E}">
        <p14:creationId xmlns:p14="http://schemas.microsoft.com/office/powerpoint/2010/main" val="3099772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306182-4475-41BD-A8E9-5469F49CA7E4}"/>
              </a:ext>
            </a:extLst>
          </p:cNvPr>
          <p:cNvSpPr>
            <a:spLocks noGrp="1"/>
          </p:cNvSpPr>
          <p:nvPr>
            <p:ph idx="1"/>
          </p:nvPr>
        </p:nvSpPr>
        <p:spPr>
          <a:xfrm>
            <a:off x="838200" y="158044"/>
            <a:ext cx="10515600" cy="6699956"/>
          </a:xfrm>
        </p:spPr>
        <p:txBody>
          <a:bodyPr>
            <a:normAutofit/>
          </a:bodyPr>
          <a:lstStyle/>
          <a:p>
            <a:pPr marL="0" indent="0">
              <a:buNone/>
            </a:pPr>
            <a:r>
              <a:rPr lang="en-US" sz="3600" dirty="0"/>
              <a:t>The following are some </a:t>
            </a:r>
            <a:r>
              <a:rPr lang="en-US" sz="3600" b="1" dirty="0"/>
              <a:t>important categories </a:t>
            </a:r>
            <a:r>
              <a:rPr lang="en-US" sz="3600" dirty="0"/>
              <a:t>of algorithms;</a:t>
            </a:r>
          </a:p>
          <a:p>
            <a:r>
              <a:rPr lang="en-US" sz="3600" b="1" dirty="0"/>
              <a:t>Search</a:t>
            </a:r>
            <a:r>
              <a:rPr lang="en-US" sz="3600" dirty="0"/>
              <a:t> − Algorithm to search an item in a data structure.</a:t>
            </a:r>
          </a:p>
          <a:p>
            <a:r>
              <a:rPr lang="en-US" sz="3600" b="1" dirty="0"/>
              <a:t>Sort</a:t>
            </a:r>
            <a:r>
              <a:rPr lang="en-US" sz="3600" dirty="0"/>
              <a:t> − Algorithm to sort items in a certain order.</a:t>
            </a:r>
          </a:p>
          <a:p>
            <a:r>
              <a:rPr lang="en-US" sz="3600" b="1" dirty="0"/>
              <a:t>Insert</a:t>
            </a:r>
            <a:r>
              <a:rPr lang="en-US" sz="3600" dirty="0"/>
              <a:t> − Algorithm to insert item in a data structure.</a:t>
            </a:r>
          </a:p>
          <a:p>
            <a:r>
              <a:rPr lang="en-US" sz="3600" b="1" dirty="0"/>
              <a:t>Update</a:t>
            </a:r>
            <a:r>
              <a:rPr lang="en-US" sz="3600" dirty="0"/>
              <a:t> − Algorithm to update an existing item in a data structure.</a:t>
            </a:r>
          </a:p>
          <a:p>
            <a:r>
              <a:rPr lang="en-US" sz="3600" b="1" dirty="0"/>
              <a:t>Delete</a:t>
            </a:r>
            <a:r>
              <a:rPr lang="en-US" sz="3600" dirty="0"/>
              <a:t> − Algorithm to delete an existing item from a data structure.</a:t>
            </a:r>
          </a:p>
          <a:p>
            <a:pPr marL="0" indent="0">
              <a:buNone/>
            </a:pPr>
            <a:endParaRPr lang="en-US" dirty="0"/>
          </a:p>
        </p:txBody>
      </p:sp>
    </p:spTree>
    <p:extLst>
      <p:ext uri="{BB962C8B-B14F-4D97-AF65-F5344CB8AC3E}">
        <p14:creationId xmlns:p14="http://schemas.microsoft.com/office/powerpoint/2010/main" val="3944965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3946D83-7BE6-4ED4-A4CC-AF9AAB7F7405}"/>
              </a:ext>
            </a:extLst>
          </p:cNvPr>
          <p:cNvSpPr>
            <a:spLocks noGrp="1"/>
          </p:cNvSpPr>
          <p:nvPr>
            <p:ph idx="1"/>
          </p:nvPr>
        </p:nvSpPr>
        <p:spPr>
          <a:xfrm>
            <a:off x="838200" y="112888"/>
            <a:ext cx="10515600" cy="6637867"/>
          </a:xfrm>
        </p:spPr>
        <p:txBody>
          <a:bodyPr/>
          <a:lstStyle/>
          <a:p>
            <a:pPr marL="0" indent="0">
              <a:buNone/>
            </a:pPr>
            <a:r>
              <a:rPr lang="en-US" sz="3600" b="1" dirty="0"/>
              <a:t>Characteristics of an Algorithm:</a:t>
            </a:r>
          </a:p>
          <a:p>
            <a:pPr marL="0" indent="0">
              <a:buNone/>
            </a:pPr>
            <a:r>
              <a:rPr lang="en-US" sz="3600" dirty="0"/>
              <a:t>An algorithm </a:t>
            </a:r>
            <a:r>
              <a:rPr lang="en-US" sz="3600" b="1" dirty="0"/>
              <a:t>must possess </a:t>
            </a:r>
            <a:r>
              <a:rPr lang="en-US" sz="3600" dirty="0"/>
              <a:t>following characteristics;</a:t>
            </a:r>
          </a:p>
          <a:p>
            <a:r>
              <a:rPr lang="en-US" sz="3600" b="1" dirty="0"/>
              <a:t>Finiteness:</a:t>
            </a:r>
            <a:r>
              <a:rPr lang="en-US" sz="3600" dirty="0"/>
              <a:t> An algorithm should have </a:t>
            </a:r>
            <a:r>
              <a:rPr lang="en-US" sz="3600" b="1" dirty="0"/>
              <a:t>finite number </a:t>
            </a:r>
            <a:r>
              <a:rPr lang="en-US" sz="3600" dirty="0"/>
              <a:t>of steps and it should end after a finite time.</a:t>
            </a:r>
          </a:p>
          <a:p>
            <a:r>
              <a:rPr lang="en-US" sz="3600" b="1" dirty="0"/>
              <a:t>Input: </a:t>
            </a:r>
            <a:r>
              <a:rPr lang="en-US" sz="3600" dirty="0"/>
              <a:t>An algorithm may have many </a:t>
            </a:r>
            <a:r>
              <a:rPr lang="en-US" sz="3600" b="1" dirty="0"/>
              <a:t>inputs or no inputs at all.</a:t>
            </a:r>
          </a:p>
          <a:p>
            <a:r>
              <a:rPr lang="en-US" sz="3600" b="1" dirty="0"/>
              <a:t>Output: </a:t>
            </a:r>
            <a:r>
              <a:rPr lang="en-US" sz="3600" dirty="0"/>
              <a:t>It should result at </a:t>
            </a:r>
            <a:r>
              <a:rPr lang="en-US" sz="3600" b="1" dirty="0"/>
              <a:t>least one output</a:t>
            </a:r>
            <a:r>
              <a:rPr lang="en-US" sz="3600" dirty="0"/>
              <a:t>.</a:t>
            </a:r>
          </a:p>
          <a:p>
            <a:r>
              <a:rPr lang="en-US" sz="3600" b="1" dirty="0"/>
              <a:t>Definiteness:</a:t>
            </a:r>
            <a:r>
              <a:rPr lang="en-US" sz="3600" dirty="0"/>
              <a:t> Each step </a:t>
            </a:r>
            <a:r>
              <a:rPr lang="en-US" sz="3600" b="1" dirty="0"/>
              <a:t>must be clear, </a:t>
            </a:r>
            <a:r>
              <a:rPr lang="en-US" sz="3600" dirty="0"/>
              <a:t>well-defined and precise. There should be </a:t>
            </a:r>
            <a:r>
              <a:rPr lang="en-US" sz="3600" b="1" dirty="0"/>
              <a:t>no any ambiguity</a:t>
            </a:r>
            <a:r>
              <a:rPr lang="en-US" sz="3600" dirty="0"/>
              <a:t>.</a:t>
            </a:r>
          </a:p>
          <a:p>
            <a:r>
              <a:rPr lang="en-US" sz="3600" b="1" dirty="0"/>
              <a:t>Effectiveness: </a:t>
            </a:r>
            <a:r>
              <a:rPr lang="en-US" sz="3600" dirty="0"/>
              <a:t>Each step must be</a:t>
            </a:r>
            <a:r>
              <a:rPr lang="en-US" sz="3600" b="1" dirty="0"/>
              <a:t> simple </a:t>
            </a:r>
            <a:r>
              <a:rPr lang="en-US" sz="3600" dirty="0"/>
              <a:t>and should </a:t>
            </a:r>
            <a:r>
              <a:rPr lang="en-US" sz="3600" b="1" dirty="0"/>
              <a:t>take a finite amount of time</a:t>
            </a:r>
            <a:r>
              <a:rPr lang="en-US" sz="3600" dirty="0"/>
              <a:t>.</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8536274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3F3F18-F665-4E9E-9CB7-4FBB9F38CE78}"/>
              </a:ext>
            </a:extLst>
          </p:cNvPr>
          <p:cNvSpPr>
            <a:spLocks noGrp="1"/>
          </p:cNvSpPr>
          <p:nvPr>
            <p:ph idx="1"/>
          </p:nvPr>
        </p:nvSpPr>
        <p:spPr>
          <a:xfrm>
            <a:off x="838200" y="79022"/>
            <a:ext cx="10515600" cy="6660445"/>
          </a:xfrm>
        </p:spPr>
        <p:txBody>
          <a:bodyPr/>
          <a:lstStyle/>
          <a:p>
            <a:pPr marL="0" indent="0">
              <a:buNone/>
            </a:pPr>
            <a:r>
              <a:rPr lang="en-US" sz="3600" b="1" dirty="0"/>
              <a:t>Guidelines for Developing an Algorithm:</a:t>
            </a:r>
          </a:p>
          <a:p>
            <a:pPr marL="0" indent="0">
              <a:buNone/>
            </a:pPr>
            <a:r>
              <a:rPr lang="en-US" sz="3600" dirty="0"/>
              <a:t>Following guidelines must be followed while developing an algorithm:</a:t>
            </a:r>
          </a:p>
          <a:p>
            <a:r>
              <a:rPr lang="en-US" sz="3600" dirty="0"/>
              <a:t>An algorithm will be enclosed by </a:t>
            </a:r>
            <a:r>
              <a:rPr lang="en-US" sz="3600" b="1" dirty="0"/>
              <a:t>START (or BEGIN</a:t>
            </a:r>
            <a:r>
              <a:rPr lang="en-US" sz="3600" dirty="0"/>
              <a:t>) and </a:t>
            </a:r>
            <a:r>
              <a:rPr lang="en-US" sz="3600" b="1" dirty="0"/>
              <a:t>STOP (or END).</a:t>
            </a:r>
          </a:p>
          <a:p>
            <a:r>
              <a:rPr lang="en-US" sz="3600" dirty="0"/>
              <a:t>To accept data from user, generally used statements are </a:t>
            </a:r>
            <a:r>
              <a:rPr lang="en-US" sz="3600" b="1" dirty="0"/>
              <a:t>INPUT, READ, GET or OBTAIN.</a:t>
            </a:r>
          </a:p>
          <a:p>
            <a:r>
              <a:rPr lang="en-US" sz="3600" dirty="0"/>
              <a:t>To display result or any message, generally used statements are </a:t>
            </a:r>
            <a:r>
              <a:rPr lang="en-US" sz="3600" b="1" dirty="0"/>
              <a:t>PRINT, DISPLAY, or WRITE</a:t>
            </a:r>
            <a:r>
              <a:rPr lang="en-US" sz="3600" dirty="0"/>
              <a:t>. </a:t>
            </a:r>
          </a:p>
          <a:p>
            <a:r>
              <a:rPr lang="en-US" sz="3600" dirty="0"/>
              <a:t>Generally, </a:t>
            </a:r>
            <a:r>
              <a:rPr lang="en-US" sz="3600" b="1" dirty="0"/>
              <a:t>COMPUTE or CALCULATE </a:t>
            </a:r>
            <a:r>
              <a:rPr lang="en-US" sz="3600" dirty="0"/>
              <a:t>is used while describing mathematical expressions and based on situation relevant operators can be used.</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504290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3B985AD-2DAE-4D69-B92E-D1ADBFAB7EA0}"/>
              </a:ext>
            </a:extLst>
          </p:cNvPr>
          <p:cNvSpPr>
            <a:spLocks noGrp="1"/>
          </p:cNvSpPr>
          <p:nvPr>
            <p:ph idx="1"/>
          </p:nvPr>
        </p:nvSpPr>
        <p:spPr>
          <a:xfrm>
            <a:off x="838200" y="90311"/>
            <a:ext cx="10515600" cy="6683022"/>
          </a:xfrm>
        </p:spPr>
        <p:txBody>
          <a:bodyPr/>
          <a:lstStyle/>
          <a:p>
            <a:pPr marL="0" indent="0">
              <a:buNone/>
            </a:pPr>
            <a:endParaRPr lang="en-US" sz="4000" b="1" dirty="0"/>
          </a:p>
          <a:p>
            <a:pPr marL="0" indent="0">
              <a:buNone/>
            </a:pPr>
            <a:r>
              <a:rPr lang="en-US" sz="4000" b="1" dirty="0"/>
              <a:t>Example of an Algorithm:</a:t>
            </a:r>
          </a:p>
          <a:p>
            <a:pPr marL="0" indent="0">
              <a:buNone/>
            </a:pPr>
            <a:r>
              <a:rPr lang="en-US" sz="4000" b="1" dirty="0"/>
              <a:t>Algorithm :</a:t>
            </a:r>
            <a:r>
              <a:rPr lang="en-US" sz="4000" dirty="0"/>
              <a:t> Calculation of Simple Interest;</a:t>
            </a:r>
          </a:p>
          <a:p>
            <a:pPr marL="0" indent="0">
              <a:buNone/>
            </a:pPr>
            <a:r>
              <a:rPr lang="en-US" sz="4000" b="1" dirty="0"/>
              <a:t>Step 1: Start</a:t>
            </a:r>
          </a:p>
          <a:p>
            <a:pPr marL="0" indent="0">
              <a:buNone/>
            </a:pPr>
            <a:r>
              <a:rPr lang="en-US" sz="4000" b="1" dirty="0"/>
              <a:t>Step 2: Read Principle(P), Time (T) and Rate (R)</a:t>
            </a:r>
          </a:p>
          <a:p>
            <a:pPr marL="0" indent="0">
              <a:buNone/>
            </a:pPr>
            <a:r>
              <a:rPr lang="en-US" sz="4000" b="1" dirty="0"/>
              <a:t>Step 3: Calculate I =P*T*R/100</a:t>
            </a:r>
          </a:p>
          <a:p>
            <a:pPr marL="0" indent="0">
              <a:buNone/>
            </a:pPr>
            <a:r>
              <a:rPr lang="en-US" sz="4000" b="1" dirty="0"/>
              <a:t>Step 4: Print I as Interest</a:t>
            </a:r>
          </a:p>
          <a:p>
            <a:pPr marL="0" indent="0">
              <a:buNone/>
            </a:pPr>
            <a:r>
              <a:rPr lang="en-US" sz="4000" b="1" dirty="0"/>
              <a:t>Step 5: Stop</a:t>
            </a:r>
          </a:p>
          <a:p>
            <a:pPr marL="0" indent="0">
              <a:buNone/>
            </a:pPr>
            <a:endParaRPr lang="en-US" b="1" dirty="0"/>
          </a:p>
          <a:p>
            <a:pPr marL="0" indent="0">
              <a:buNone/>
            </a:pPr>
            <a:endParaRPr lang="en-US" dirty="0"/>
          </a:p>
        </p:txBody>
      </p:sp>
    </p:spTree>
    <p:extLst>
      <p:ext uri="{BB962C8B-B14F-4D97-AF65-F5344CB8AC3E}">
        <p14:creationId xmlns:p14="http://schemas.microsoft.com/office/powerpoint/2010/main" val="12446871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0758894-DFFE-4ADC-AF26-BB1F7DF51C4A}"/>
              </a:ext>
            </a:extLst>
          </p:cNvPr>
          <p:cNvSpPr>
            <a:spLocks noGrp="1"/>
          </p:cNvSpPr>
          <p:nvPr>
            <p:ph idx="1"/>
          </p:nvPr>
        </p:nvSpPr>
        <p:spPr>
          <a:xfrm>
            <a:off x="838200" y="124178"/>
            <a:ext cx="10515600" cy="6592711"/>
          </a:xfrm>
        </p:spPr>
        <p:txBody>
          <a:bodyPr/>
          <a:lstStyle/>
          <a:p>
            <a:pPr marL="0" indent="0">
              <a:buNone/>
            </a:pPr>
            <a:r>
              <a:rPr lang="en-US" sz="3200" b="1" dirty="0"/>
              <a:t>Advantages of an Algorithm:</a:t>
            </a:r>
          </a:p>
          <a:p>
            <a:pPr marL="0" indent="0">
              <a:buNone/>
            </a:pPr>
            <a:r>
              <a:rPr lang="en-US" sz="3200" dirty="0"/>
              <a:t>Designing an algorithm has following advantages :</a:t>
            </a:r>
          </a:p>
          <a:p>
            <a:r>
              <a:rPr lang="en-US" sz="3200" b="1" dirty="0"/>
              <a:t>Effective Communication:</a:t>
            </a:r>
            <a:r>
              <a:rPr lang="en-US" sz="3200" dirty="0"/>
              <a:t> Since algorithm is written in English like language, it is simple to understand step-by-step solution of the problems.</a:t>
            </a:r>
          </a:p>
          <a:p>
            <a:r>
              <a:rPr lang="en-US" sz="3200" b="1" dirty="0"/>
              <a:t>Easy Debugging:</a:t>
            </a:r>
            <a:r>
              <a:rPr lang="en-US" sz="3200" dirty="0"/>
              <a:t> Well-designed algorithm makes debugging easy so that we can identify logical error in the program.</a:t>
            </a:r>
          </a:p>
          <a:p>
            <a:r>
              <a:rPr lang="en-US" sz="3200" b="1" dirty="0"/>
              <a:t>Easy and Efficient Coding:</a:t>
            </a:r>
            <a:r>
              <a:rPr lang="en-US" sz="3200" dirty="0"/>
              <a:t> An algorithm acts as a blueprint of a program and helps during program development.</a:t>
            </a:r>
          </a:p>
          <a:p>
            <a:r>
              <a:rPr lang="en-US" sz="3200" b="1" dirty="0"/>
              <a:t>Independent of Programming Language:</a:t>
            </a:r>
            <a:r>
              <a:rPr lang="en-US" sz="3200" dirty="0"/>
              <a:t> An algorithm is independent of programming languages and can be easily coded using any high level language. </a:t>
            </a:r>
          </a:p>
          <a:p>
            <a:pPr marL="0" indent="0">
              <a:buNone/>
            </a:pPr>
            <a:endParaRPr lang="en-US" dirty="0"/>
          </a:p>
        </p:txBody>
      </p:sp>
    </p:spTree>
    <p:extLst>
      <p:ext uri="{BB962C8B-B14F-4D97-AF65-F5344CB8AC3E}">
        <p14:creationId xmlns:p14="http://schemas.microsoft.com/office/powerpoint/2010/main" val="2978306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C66A16-0120-41BE-9700-57D51C226B27}"/>
              </a:ext>
            </a:extLst>
          </p:cNvPr>
          <p:cNvSpPr>
            <a:spLocks noGrp="1"/>
          </p:cNvSpPr>
          <p:nvPr>
            <p:ph idx="1"/>
          </p:nvPr>
        </p:nvSpPr>
        <p:spPr>
          <a:xfrm>
            <a:off x="838200" y="135466"/>
            <a:ext cx="10515600" cy="6592711"/>
          </a:xfrm>
        </p:spPr>
        <p:txBody>
          <a:bodyPr/>
          <a:lstStyle/>
          <a:p>
            <a:pPr marL="0" indent="0">
              <a:buNone/>
            </a:pPr>
            <a:r>
              <a:rPr lang="en-US" sz="4400" b="1" dirty="0"/>
              <a:t>Disadvantages of an Algorithm:</a:t>
            </a:r>
          </a:p>
          <a:p>
            <a:pPr marL="0" indent="0">
              <a:buNone/>
            </a:pPr>
            <a:r>
              <a:rPr lang="en-US" sz="4400" dirty="0"/>
              <a:t>An algorithm has following disadvantages :</a:t>
            </a:r>
          </a:p>
          <a:p>
            <a:r>
              <a:rPr lang="en-US" sz="4400" dirty="0"/>
              <a:t>Developing algorithm for complex problems would be </a:t>
            </a:r>
            <a:r>
              <a:rPr lang="en-US" sz="4400" b="1" dirty="0"/>
              <a:t>time consuming and difficult to understand.</a:t>
            </a:r>
          </a:p>
          <a:p>
            <a:r>
              <a:rPr lang="en-US" sz="4400" dirty="0"/>
              <a:t>Understanding </a:t>
            </a:r>
            <a:r>
              <a:rPr lang="en-US" sz="4400" b="1" dirty="0"/>
              <a:t>complex logic through algorithms can be very difficult</a:t>
            </a:r>
            <a:r>
              <a:rPr lang="en-US" sz="4400" dirty="0"/>
              <a:t>. </a:t>
            </a:r>
          </a:p>
          <a:p>
            <a:pPr marL="0" indent="0">
              <a:buNone/>
            </a:pPr>
            <a:endParaRPr lang="en-US" dirty="0"/>
          </a:p>
        </p:txBody>
      </p:sp>
    </p:spTree>
    <p:extLst>
      <p:ext uri="{BB962C8B-B14F-4D97-AF65-F5344CB8AC3E}">
        <p14:creationId xmlns:p14="http://schemas.microsoft.com/office/powerpoint/2010/main" val="20211487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CC7D73-7B85-4F4D-87C8-A420FBDF79D7}"/>
              </a:ext>
            </a:extLst>
          </p:cNvPr>
          <p:cNvSpPr>
            <a:spLocks noGrp="1"/>
          </p:cNvSpPr>
          <p:nvPr>
            <p:ph idx="1"/>
          </p:nvPr>
        </p:nvSpPr>
        <p:spPr>
          <a:xfrm>
            <a:off x="838200" y="169332"/>
            <a:ext cx="10515600" cy="6513689"/>
          </a:xfrm>
        </p:spPr>
        <p:txBody>
          <a:bodyPr>
            <a:normAutofit lnSpcReduction="10000"/>
          </a:bodyPr>
          <a:lstStyle/>
          <a:p>
            <a:pPr>
              <a:buFont typeface="Wingdings" panose="05000000000000000000" pitchFamily="2" charset="2"/>
              <a:buChar char="Ø"/>
            </a:pPr>
            <a:r>
              <a:rPr lang="en-US" sz="4000" b="1" dirty="0"/>
              <a:t>Algorithmic notation:</a:t>
            </a:r>
          </a:p>
          <a:p>
            <a:pPr marL="0" indent="0">
              <a:buNone/>
            </a:pPr>
            <a:r>
              <a:rPr lang="en-US" sz="3200" b="1" dirty="0"/>
              <a:t>Algorithmic notation is a way of describing algorithms, </a:t>
            </a:r>
            <a:r>
              <a:rPr lang="en-US" sz="3200" dirty="0"/>
              <a:t>which are step by step procedures for solving problems.</a:t>
            </a:r>
          </a:p>
          <a:p>
            <a:pPr marL="0" indent="0">
              <a:buNone/>
            </a:pPr>
            <a:r>
              <a:rPr lang="en-US" sz="3200" b="1" dirty="0"/>
              <a:t>It is a crucial tool for describing and communicating algorithms in a clear and understandable  manner.</a:t>
            </a:r>
          </a:p>
          <a:p>
            <a:pPr marL="0" indent="0">
              <a:buNone/>
            </a:pPr>
            <a:r>
              <a:rPr lang="en-US" sz="3200" dirty="0"/>
              <a:t>There are </a:t>
            </a:r>
            <a:r>
              <a:rPr lang="en-US" sz="3200" b="1" dirty="0"/>
              <a:t>various notations  </a:t>
            </a:r>
            <a:r>
              <a:rPr lang="en-US" sz="3200" dirty="0"/>
              <a:t>used  for </a:t>
            </a:r>
            <a:r>
              <a:rPr lang="en-US" sz="3200" b="1" dirty="0"/>
              <a:t>representing algorithms</a:t>
            </a:r>
            <a:r>
              <a:rPr lang="en-US" sz="3200" dirty="0"/>
              <a:t>, such as </a:t>
            </a:r>
            <a:r>
              <a:rPr lang="en-US" sz="3200" b="1" dirty="0"/>
              <a:t>pseudocode, flow charts and programming languages</a:t>
            </a:r>
            <a:r>
              <a:rPr lang="en-US" sz="3200" dirty="0"/>
              <a:t>.</a:t>
            </a:r>
          </a:p>
          <a:p>
            <a:pPr marL="0" indent="0">
              <a:buNone/>
            </a:pPr>
            <a:r>
              <a:rPr lang="en-US" sz="3200" b="1" dirty="0"/>
              <a:t>Pseudocode</a:t>
            </a:r>
            <a:r>
              <a:rPr lang="en-US" sz="3200" dirty="0"/>
              <a:t> is </a:t>
            </a:r>
            <a:r>
              <a:rPr lang="en-US" sz="3200" b="1" dirty="0"/>
              <a:t>a high level description of an algorithm </a:t>
            </a:r>
            <a:r>
              <a:rPr lang="en-US" sz="3200" dirty="0"/>
              <a:t>that is designed to be </a:t>
            </a:r>
            <a:r>
              <a:rPr lang="en-US" sz="3200" b="1" dirty="0"/>
              <a:t>easily understood by humans</a:t>
            </a:r>
            <a:r>
              <a:rPr lang="en-US" sz="3200" dirty="0"/>
              <a:t>. </a:t>
            </a:r>
          </a:p>
          <a:p>
            <a:pPr marL="0" indent="0">
              <a:buNone/>
            </a:pPr>
            <a:r>
              <a:rPr lang="en-US" sz="3200" dirty="0"/>
              <a:t>It is similar to programming code, but it is </a:t>
            </a:r>
            <a:r>
              <a:rPr lang="en-US" sz="3200" b="1" dirty="0"/>
              <a:t>not written in a specific programming language.</a:t>
            </a:r>
          </a:p>
          <a:p>
            <a:pPr marL="0" indent="0">
              <a:buNone/>
            </a:pPr>
            <a:r>
              <a:rPr lang="en-US" sz="3200" dirty="0"/>
              <a:t>Instead, it uses </a:t>
            </a:r>
            <a:r>
              <a:rPr lang="en-US" sz="3200" b="1" dirty="0"/>
              <a:t>plain language </a:t>
            </a:r>
            <a:r>
              <a:rPr lang="en-US" sz="3200" dirty="0"/>
              <a:t>and </a:t>
            </a:r>
            <a:r>
              <a:rPr lang="en-US" sz="3200" b="1" dirty="0"/>
              <a:t>simple syntax </a:t>
            </a:r>
            <a:r>
              <a:rPr lang="en-US" sz="3200" dirty="0"/>
              <a:t>to </a:t>
            </a:r>
            <a:r>
              <a:rPr lang="en-US" sz="3200" b="1" dirty="0"/>
              <a:t>describe the steps of an algorithm.</a:t>
            </a:r>
          </a:p>
          <a:p>
            <a:pPr marL="0" indent="0">
              <a:buNone/>
            </a:pPr>
            <a:endParaRPr lang="en-US" b="1" dirty="0"/>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4158524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141C8C-EF8F-4DDA-9078-FCEF9978F63C}"/>
              </a:ext>
            </a:extLst>
          </p:cNvPr>
          <p:cNvSpPr>
            <a:spLocks noGrp="1"/>
          </p:cNvSpPr>
          <p:nvPr>
            <p:ph idx="1"/>
          </p:nvPr>
        </p:nvSpPr>
        <p:spPr>
          <a:xfrm>
            <a:off x="838200" y="158044"/>
            <a:ext cx="10515600" cy="6536267"/>
          </a:xfrm>
        </p:spPr>
        <p:txBody>
          <a:bodyPr>
            <a:normAutofit/>
          </a:bodyPr>
          <a:lstStyle/>
          <a:p>
            <a:r>
              <a:rPr lang="en-US" sz="4000" b="1" dirty="0"/>
              <a:t>Flowcharts</a:t>
            </a:r>
            <a:r>
              <a:rPr lang="en-US" sz="4000" dirty="0"/>
              <a:t> are </a:t>
            </a:r>
            <a:r>
              <a:rPr lang="en-US" sz="4000" b="1" dirty="0"/>
              <a:t>graphical representation </a:t>
            </a:r>
            <a:r>
              <a:rPr lang="en-US" sz="4000" dirty="0"/>
              <a:t>of an </a:t>
            </a:r>
            <a:r>
              <a:rPr lang="en-US" sz="4000" b="1" dirty="0"/>
              <a:t>algorithm that use symbols and arrows </a:t>
            </a:r>
            <a:r>
              <a:rPr lang="en-US" sz="4000" dirty="0"/>
              <a:t>to </a:t>
            </a:r>
            <a:r>
              <a:rPr lang="en-US" sz="4000" b="1" dirty="0"/>
              <a:t>show the flow of the algorithm</a:t>
            </a:r>
            <a:r>
              <a:rPr lang="en-US" sz="4000" dirty="0"/>
              <a:t>. </a:t>
            </a:r>
          </a:p>
          <a:p>
            <a:r>
              <a:rPr lang="en-US" sz="4000" dirty="0"/>
              <a:t>Each symbol represents a </a:t>
            </a:r>
            <a:r>
              <a:rPr lang="en-US" sz="4000" b="1" dirty="0"/>
              <a:t>specific action</a:t>
            </a:r>
            <a:r>
              <a:rPr lang="en-US" sz="4000" dirty="0"/>
              <a:t>, such as a </a:t>
            </a:r>
            <a:r>
              <a:rPr lang="en-US" sz="4000" b="1" dirty="0"/>
              <a:t>process </a:t>
            </a:r>
            <a:r>
              <a:rPr lang="en-US" sz="4000" dirty="0"/>
              <a:t>or a </a:t>
            </a:r>
            <a:r>
              <a:rPr lang="en-US" sz="4000" b="1" dirty="0"/>
              <a:t>decision a</a:t>
            </a:r>
            <a:r>
              <a:rPr lang="en-US" sz="4000" dirty="0"/>
              <a:t>nd the </a:t>
            </a:r>
            <a:r>
              <a:rPr lang="en-US" sz="4000" b="1" dirty="0"/>
              <a:t>arrow show the direction of the flow.</a:t>
            </a:r>
            <a:endParaRPr lang="en-US" sz="4000" dirty="0"/>
          </a:p>
          <a:p>
            <a:r>
              <a:rPr lang="en-US" sz="4000" b="1" dirty="0"/>
              <a:t>Programming languages </a:t>
            </a:r>
            <a:r>
              <a:rPr lang="en-US" sz="4000" dirty="0"/>
              <a:t>such as Java, Python and C++, use a specific syntax to represent algorithms.</a:t>
            </a:r>
          </a:p>
          <a:p>
            <a:r>
              <a:rPr lang="en-US" sz="4000" dirty="0"/>
              <a:t>They allow algorithms to be written  in a way that can be </a:t>
            </a:r>
            <a:r>
              <a:rPr lang="en-US" sz="4000" b="1" dirty="0"/>
              <a:t>executed by a computer.</a:t>
            </a:r>
          </a:p>
          <a:p>
            <a:pPr marL="0" indent="0">
              <a:buNone/>
            </a:pPr>
            <a:endParaRPr lang="en-US" dirty="0"/>
          </a:p>
        </p:txBody>
      </p:sp>
    </p:spTree>
    <p:extLst>
      <p:ext uri="{BB962C8B-B14F-4D97-AF65-F5344CB8AC3E}">
        <p14:creationId xmlns:p14="http://schemas.microsoft.com/office/powerpoint/2010/main" val="834961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7C0A42-2C08-4283-9B7E-66AB6970086A}"/>
              </a:ext>
            </a:extLst>
          </p:cNvPr>
          <p:cNvSpPr>
            <a:spLocks noGrp="1"/>
          </p:cNvSpPr>
          <p:nvPr>
            <p:ph idx="1"/>
          </p:nvPr>
        </p:nvSpPr>
        <p:spPr>
          <a:xfrm>
            <a:off x="838200" y="112888"/>
            <a:ext cx="10515600" cy="6745111"/>
          </a:xfrm>
        </p:spPr>
        <p:txBody>
          <a:bodyPr/>
          <a:lstStyle/>
          <a:p>
            <a:r>
              <a:rPr lang="en-US" sz="4000" b="1" dirty="0"/>
              <a:t>Pseudocodes:</a:t>
            </a:r>
          </a:p>
          <a:p>
            <a:pPr marL="0" indent="0">
              <a:buNone/>
            </a:pPr>
            <a:r>
              <a:rPr lang="en-US" sz="3600" dirty="0"/>
              <a:t>Pseudocode is structured English for describing algorithms concisely.</a:t>
            </a:r>
          </a:p>
          <a:p>
            <a:pPr marL="0" indent="0">
              <a:buNone/>
            </a:pPr>
            <a:r>
              <a:rPr lang="en-US" sz="3600" dirty="0"/>
              <a:t>It is made up of two words, namely</a:t>
            </a:r>
            <a:r>
              <a:rPr lang="en-US" sz="3600" b="1" dirty="0"/>
              <a:t>, pseudo </a:t>
            </a:r>
            <a:r>
              <a:rPr lang="en-US" sz="3600" dirty="0"/>
              <a:t>meaning </a:t>
            </a:r>
            <a:r>
              <a:rPr lang="en-US" sz="3600" b="1" dirty="0"/>
              <a:t>imitation</a:t>
            </a:r>
            <a:r>
              <a:rPr lang="en-US" sz="3600" dirty="0"/>
              <a:t> and </a:t>
            </a:r>
            <a:r>
              <a:rPr lang="en-US" sz="3600" b="1" dirty="0"/>
              <a:t>code</a:t>
            </a:r>
            <a:r>
              <a:rPr lang="en-US" sz="3600" dirty="0"/>
              <a:t> meaning </a:t>
            </a:r>
            <a:r>
              <a:rPr lang="en-US" sz="3600" b="1" dirty="0"/>
              <a:t>instructions. </a:t>
            </a:r>
          </a:p>
          <a:p>
            <a:pPr marL="0" indent="0">
              <a:buNone/>
            </a:pPr>
            <a:r>
              <a:rPr lang="en-US" sz="3600" dirty="0"/>
              <a:t>As the name suggests, pseudocode does not obey the syntax rules of any particular programming language i.e. it is not a real programming code. </a:t>
            </a:r>
          </a:p>
          <a:p>
            <a:pPr marL="0" indent="0">
              <a:buNone/>
            </a:pPr>
            <a:r>
              <a:rPr lang="en-US" sz="3600" dirty="0"/>
              <a:t>It allows the designer to focus on main logic without being distracted by programming languages syntax.</a:t>
            </a:r>
            <a:endParaRPr lang="en-US" sz="3600" b="1" dirty="0"/>
          </a:p>
          <a:p>
            <a:pPr marL="0" indent="0">
              <a:buNone/>
            </a:pPr>
            <a:endParaRPr lang="en-US" dirty="0"/>
          </a:p>
        </p:txBody>
      </p:sp>
    </p:spTree>
    <p:extLst>
      <p:ext uri="{BB962C8B-B14F-4D97-AF65-F5344CB8AC3E}">
        <p14:creationId xmlns:p14="http://schemas.microsoft.com/office/powerpoint/2010/main" val="22170882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704302-F9EF-4584-B180-724E601F451F}"/>
              </a:ext>
            </a:extLst>
          </p:cNvPr>
          <p:cNvSpPr>
            <a:spLocks noGrp="1"/>
          </p:cNvSpPr>
          <p:nvPr>
            <p:ph idx="1"/>
          </p:nvPr>
        </p:nvSpPr>
        <p:spPr>
          <a:xfrm>
            <a:off x="838200" y="0"/>
            <a:ext cx="10515600" cy="6694311"/>
          </a:xfrm>
        </p:spPr>
        <p:txBody>
          <a:bodyPr/>
          <a:lstStyle/>
          <a:p>
            <a:pPr marL="0" indent="0">
              <a:buNone/>
            </a:pPr>
            <a:r>
              <a:rPr lang="en-US" sz="3200" b="1" dirty="0"/>
              <a:t>Guidelines for Preparing Pseudocode:</a:t>
            </a:r>
          </a:p>
          <a:p>
            <a:pPr marL="0" indent="0">
              <a:buNone/>
            </a:pPr>
            <a:r>
              <a:rPr lang="en-US" sz="3200" dirty="0"/>
              <a:t>Following points should be remembered while preparing pseudocode :</a:t>
            </a:r>
          </a:p>
          <a:p>
            <a:r>
              <a:rPr lang="en-US" sz="3200" dirty="0"/>
              <a:t>Pseudocode will be enclosed by </a:t>
            </a:r>
            <a:r>
              <a:rPr lang="en-US" sz="3200" b="1" dirty="0"/>
              <a:t>START (or BEGIN) </a:t>
            </a:r>
            <a:r>
              <a:rPr lang="en-US" sz="3200" dirty="0"/>
              <a:t>and </a:t>
            </a:r>
            <a:r>
              <a:rPr lang="en-US" sz="3200" b="1" dirty="0"/>
              <a:t>STOP (or END).</a:t>
            </a:r>
          </a:p>
          <a:p>
            <a:r>
              <a:rPr lang="en-US" sz="3200" dirty="0"/>
              <a:t>Pseudocode should be concise so ignore unnecessary details.</a:t>
            </a:r>
          </a:p>
          <a:p>
            <a:r>
              <a:rPr lang="en-US" sz="3200" dirty="0"/>
              <a:t>To accept data from user, generally used statements are </a:t>
            </a:r>
            <a:r>
              <a:rPr lang="en-US" sz="3200" b="1" dirty="0"/>
              <a:t>INPUT, READ, GET or OBTAIN</a:t>
            </a:r>
            <a:r>
              <a:rPr lang="en-US" sz="3200" dirty="0"/>
              <a:t>.</a:t>
            </a:r>
          </a:p>
          <a:p>
            <a:r>
              <a:rPr lang="en-US" sz="3200" dirty="0"/>
              <a:t>To display result or any message, generally used statements are </a:t>
            </a:r>
            <a:r>
              <a:rPr lang="en-US" sz="3200" b="1" dirty="0"/>
              <a:t>PRINT, DISPLAY, or WRITE</a:t>
            </a:r>
            <a:r>
              <a:rPr lang="en-US" sz="3200" dirty="0"/>
              <a:t>. </a:t>
            </a:r>
          </a:p>
          <a:p>
            <a:r>
              <a:rPr lang="en-US" sz="3200" dirty="0"/>
              <a:t>Generally used keywords are </a:t>
            </a:r>
            <a:r>
              <a:rPr lang="en-US" sz="3200" b="1" dirty="0"/>
              <a:t>capitalized </a:t>
            </a:r>
            <a:r>
              <a:rPr lang="en-US" sz="3200" dirty="0"/>
              <a:t>while preparing pseudocode</a:t>
            </a:r>
            <a:r>
              <a:rPr lang="en-US" dirty="0"/>
              <a:t>.</a:t>
            </a:r>
          </a:p>
        </p:txBody>
      </p:sp>
    </p:spTree>
    <p:extLst>
      <p:ext uri="{BB962C8B-B14F-4D97-AF65-F5344CB8AC3E}">
        <p14:creationId xmlns:p14="http://schemas.microsoft.com/office/powerpoint/2010/main" val="11835169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2E9A99-A479-4098-BA1B-8F4F25BE3680}"/>
              </a:ext>
            </a:extLst>
          </p:cNvPr>
          <p:cNvSpPr>
            <a:spLocks noGrp="1"/>
          </p:cNvSpPr>
          <p:nvPr>
            <p:ph idx="1"/>
          </p:nvPr>
        </p:nvSpPr>
        <p:spPr>
          <a:xfrm>
            <a:off x="838200" y="90311"/>
            <a:ext cx="10515600" cy="6683022"/>
          </a:xfrm>
        </p:spPr>
        <p:txBody>
          <a:bodyPr/>
          <a:lstStyle/>
          <a:p>
            <a:pPr marL="0" indent="0">
              <a:buNone/>
            </a:pPr>
            <a:r>
              <a:rPr lang="en-US" sz="4400" b="1" dirty="0"/>
              <a:t>Example of Pseudocode:</a:t>
            </a:r>
          </a:p>
          <a:p>
            <a:pPr marL="0" indent="0">
              <a:buNone/>
            </a:pPr>
            <a:r>
              <a:rPr lang="en-US" sz="4400" b="1" dirty="0"/>
              <a:t>Pseudocode :</a:t>
            </a:r>
            <a:r>
              <a:rPr lang="en-US" sz="4400" dirty="0"/>
              <a:t> Calculation of Simple Interest;</a:t>
            </a:r>
          </a:p>
          <a:p>
            <a:pPr marL="0" indent="0">
              <a:buNone/>
            </a:pPr>
            <a:endParaRPr lang="en-US" sz="4400" b="1" dirty="0"/>
          </a:p>
          <a:p>
            <a:pPr marL="0" indent="0">
              <a:buNone/>
            </a:pPr>
            <a:r>
              <a:rPr lang="en-US" sz="4400" b="1" dirty="0"/>
              <a:t>Step 1: START</a:t>
            </a:r>
          </a:p>
          <a:p>
            <a:pPr marL="0" indent="0">
              <a:buNone/>
            </a:pPr>
            <a:r>
              <a:rPr lang="en-US" sz="4400" b="1" dirty="0"/>
              <a:t>Step 2: Read P, T, R</a:t>
            </a:r>
          </a:p>
          <a:p>
            <a:pPr marL="0" indent="0">
              <a:buNone/>
            </a:pPr>
            <a:r>
              <a:rPr lang="en-US" sz="4400" b="1" dirty="0"/>
              <a:t>Step 3:  I =P*T*R/100</a:t>
            </a:r>
          </a:p>
          <a:p>
            <a:pPr marL="0" indent="0">
              <a:buNone/>
            </a:pPr>
            <a:r>
              <a:rPr lang="en-US" sz="4400" b="1" dirty="0"/>
              <a:t>Step 4: PRINT I </a:t>
            </a:r>
          </a:p>
          <a:p>
            <a:pPr marL="0" indent="0">
              <a:buNone/>
            </a:pPr>
            <a:r>
              <a:rPr lang="en-US" sz="4400" b="1" dirty="0"/>
              <a:t>Step 5: STOP</a:t>
            </a:r>
          </a:p>
          <a:p>
            <a:pPr marL="0" indent="0">
              <a:buNone/>
            </a:pPr>
            <a:endParaRPr lang="en-US" dirty="0"/>
          </a:p>
        </p:txBody>
      </p:sp>
    </p:spTree>
    <p:extLst>
      <p:ext uri="{BB962C8B-B14F-4D97-AF65-F5344CB8AC3E}">
        <p14:creationId xmlns:p14="http://schemas.microsoft.com/office/powerpoint/2010/main" val="11975607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D877B2-1F87-4222-89D9-BCF6B5754429}"/>
              </a:ext>
            </a:extLst>
          </p:cNvPr>
          <p:cNvSpPr>
            <a:spLocks noGrp="1"/>
          </p:cNvSpPr>
          <p:nvPr>
            <p:ph idx="1"/>
          </p:nvPr>
        </p:nvSpPr>
        <p:spPr>
          <a:xfrm>
            <a:off x="838200" y="112889"/>
            <a:ext cx="10515600" cy="6604000"/>
          </a:xfrm>
        </p:spPr>
        <p:txBody>
          <a:bodyPr>
            <a:noAutofit/>
          </a:bodyPr>
          <a:lstStyle/>
          <a:p>
            <a:pPr marL="0" indent="0">
              <a:buNone/>
            </a:pPr>
            <a:r>
              <a:rPr lang="en-US" sz="3600" b="1" dirty="0"/>
              <a:t>Advantages of Pseudocode:</a:t>
            </a:r>
          </a:p>
          <a:p>
            <a:pPr marL="0" indent="0">
              <a:buNone/>
            </a:pPr>
            <a:r>
              <a:rPr lang="en-US" sz="3600" dirty="0"/>
              <a:t>Preparing pseudocode while solving any problem through computer has following advantages : </a:t>
            </a:r>
          </a:p>
          <a:p>
            <a:r>
              <a:rPr lang="en-US" sz="3600" dirty="0"/>
              <a:t>It allows the designer to focus on main logic without being distracted by programming languages syntax.</a:t>
            </a:r>
          </a:p>
          <a:p>
            <a:r>
              <a:rPr lang="en-US" sz="3600" dirty="0"/>
              <a:t>Since it is language independent, it can be translated to any computer language code.</a:t>
            </a:r>
          </a:p>
          <a:p>
            <a:r>
              <a:rPr lang="en-US" sz="3600" dirty="0"/>
              <a:t>It allows designer to express logic in plain natural language.</a:t>
            </a:r>
          </a:p>
          <a:p>
            <a:r>
              <a:rPr lang="en-US" sz="3600" dirty="0"/>
              <a:t>It is easier to write actual code using pseudocode.</a:t>
            </a:r>
          </a:p>
          <a:p>
            <a:r>
              <a:rPr lang="en-US" sz="3600" dirty="0"/>
              <a:t>Unlike algorithms, pseudocodes are concise so pseudocodes are more readable and easier to modify. </a:t>
            </a:r>
          </a:p>
        </p:txBody>
      </p:sp>
    </p:spTree>
    <p:extLst>
      <p:ext uri="{BB962C8B-B14F-4D97-AF65-F5344CB8AC3E}">
        <p14:creationId xmlns:p14="http://schemas.microsoft.com/office/powerpoint/2010/main" val="3272520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A5EFF4F-89FF-4B84-844B-382974295FDB}"/>
              </a:ext>
            </a:extLst>
          </p:cNvPr>
          <p:cNvSpPr>
            <a:spLocks noGrp="1"/>
          </p:cNvSpPr>
          <p:nvPr>
            <p:ph idx="1"/>
          </p:nvPr>
        </p:nvSpPr>
        <p:spPr>
          <a:xfrm>
            <a:off x="838200" y="79022"/>
            <a:ext cx="10515600" cy="6649156"/>
          </a:xfrm>
        </p:spPr>
        <p:txBody>
          <a:bodyPr/>
          <a:lstStyle/>
          <a:p>
            <a:pPr marL="0" indent="0">
              <a:buNone/>
            </a:pPr>
            <a:r>
              <a:rPr lang="en-US" sz="4000" b="1" dirty="0"/>
              <a:t>Disadvantages of Pseudocode:</a:t>
            </a:r>
          </a:p>
          <a:p>
            <a:pPr marL="0" indent="0">
              <a:buNone/>
            </a:pPr>
            <a:r>
              <a:rPr lang="en-US" sz="4000" dirty="0"/>
              <a:t>Pseudocode has following </a:t>
            </a:r>
            <a:r>
              <a:rPr lang="en-US" sz="4000" b="1" dirty="0"/>
              <a:t>disadvantages </a:t>
            </a:r>
            <a:r>
              <a:rPr lang="en-US" sz="4000" dirty="0"/>
              <a:t>:</a:t>
            </a:r>
          </a:p>
          <a:p>
            <a:r>
              <a:rPr lang="en-US" sz="4000" dirty="0"/>
              <a:t>There are </a:t>
            </a:r>
            <a:r>
              <a:rPr lang="en-US" sz="4000" b="1" dirty="0"/>
              <a:t>no accepted standards </a:t>
            </a:r>
            <a:r>
              <a:rPr lang="en-US" sz="4000" dirty="0"/>
              <a:t>for </a:t>
            </a:r>
            <a:r>
              <a:rPr lang="en-US" sz="4000" b="1" dirty="0"/>
              <a:t>writing pseudocodes and designer use their own style </a:t>
            </a:r>
            <a:r>
              <a:rPr lang="en-US" sz="4000" dirty="0"/>
              <a:t>while writing pseudocodes.</a:t>
            </a:r>
          </a:p>
          <a:p>
            <a:r>
              <a:rPr lang="en-US" sz="4000" dirty="0"/>
              <a:t>Pseudocode </a:t>
            </a:r>
            <a:r>
              <a:rPr lang="en-US" sz="4000" b="1" dirty="0"/>
              <a:t>cannot be compiled and executed </a:t>
            </a:r>
            <a:r>
              <a:rPr lang="en-US" sz="4000" dirty="0"/>
              <a:t>so </a:t>
            </a:r>
            <a:r>
              <a:rPr lang="en-US" sz="4000" b="1" dirty="0"/>
              <a:t>its correctness cannot be verified </a:t>
            </a:r>
            <a:r>
              <a:rPr lang="en-US" sz="4000" dirty="0"/>
              <a:t>by using computers.</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18392511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8A8E71-91C3-4D29-857B-057D3F97E00B}"/>
              </a:ext>
            </a:extLst>
          </p:cNvPr>
          <p:cNvSpPr>
            <a:spLocks noGrp="1"/>
          </p:cNvSpPr>
          <p:nvPr>
            <p:ph idx="1"/>
          </p:nvPr>
        </p:nvSpPr>
        <p:spPr>
          <a:xfrm>
            <a:off x="838200" y="101600"/>
            <a:ext cx="10515600" cy="6615289"/>
          </a:xfrm>
        </p:spPr>
        <p:txBody>
          <a:bodyPr/>
          <a:lstStyle/>
          <a:p>
            <a:r>
              <a:rPr lang="en-US" sz="4000" b="1" dirty="0"/>
              <a:t>Flowcharts:</a:t>
            </a:r>
          </a:p>
          <a:p>
            <a:pPr marL="0" indent="0">
              <a:buNone/>
            </a:pPr>
            <a:r>
              <a:rPr lang="en-US" sz="3200" b="1" dirty="0"/>
              <a:t>Flowchart is basically a pictorial or diagrammatic representation of an algorithm using standard symbols. </a:t>
            </a:r>
          </a:p>
          <a:p>
            <a:pPr marL="0" indent="0">
              <a:buNone/>
            </a:pPr>
            <a:r>
              <a:rPr lang="en-US" sz="3200" dirty="0"/>
              <a:t>In other words, </a:t>
            </a:r>
            <a:r>
              <a:rPr lang="en-US" sz="3200" b="1" dirty="0"/>
              <a:t>flowchart</a:t>
            </a:r>
            <a:r>
              <a:rPr lang="en-US" sz="3200" dirty="0"/>
              <a:t> is a </a:t>
            </a:r>
            <a:r>
              <a:rPr lang="en-US" sz="3200" b="1" dirty="0"/>
              <a:t>graphical representation </a:t>
            </a:r>
            <a:r>
              <a:rPr lang="en-US" sz="3200" dirty="0"/>
              <a:t>that explains the </a:t>
            </a:r>
            <a:r>
              <a:rPr lang="en-US" sz="3200" b="1" dirty="0"/>
              <a:t>sequence of operations to be performed </a:t>
            </a:r>
            <a:r>
              <a:rPr lang="en-US" sz="3200" dirty="0"/>
              <a:t>in order to </a:t>
            </a:r>
            <a:r>
              <a:rPr lang="en-US" sz="3200" b="1" dirty="0"/>
              <a:t>solve a problem under consideration</a:t>
            </a:r>
            <a:r>
              <a:rPr lang="en-US" sz="3200" dirty="0"/>
              <a:t>.</a:t>
            </a:r>
          </a:p>
          <a:p>
            <a:pPr marL="0" indent="0">
              <a:buNone/>
            </a:pPr>
            <a:r>
              <a:rPr lang="en-US" sz="3200" b="1" dirty="0"/>
              <a:t>Standard Flowchart Symbols</a:t>
            </a:r>
          </a:p>
          <a:p>
            <a:pPr marL="0" indent="0">
              <a:buNone/>
            </a:pPr>
            <a:r>
              <a:rPr lang="en-US" sz="3200" dirty="0"/>
              <a:t>To express different operations in the flowchart various </a:t>
            </a:r>
            <a:r>
              <a:rPr lang="en-US" sz="3200" b="1" dirty="0"/>
              <a:t>standard symbols</a:t>
            </a:r>
            <a:r>
              <a:rPr lang="en-US" sz="3200" dirty="0"/>
              <a:t> are used. All symbols are connected among themselves in order to show the flow of information and processing. Different symbols as prescribed by </a:t>
            </a:r>
            <a:r>
              <a:rPr lang="en-US" sz="3200" b="1" dirty="0"/>
              <a:t>American National Standard Institute (ANSI)</a:t>
            </a:r>
            <a:r>
              <a:rPr lang="en-US" sz="3200" dirty="0"/>
              <a:t> which are frequently required while drawing flowchart.</a:t>
            </a:r>
          </a:p>
          <a:p>
            <a:pPr marL="0" indent="0">
              <a:buNone/>
            </a:pPr>
            <a:endParaRPr lang="en-US" sz="3200" b="1" dirty="0"/>
          </a:p>
          <a:p>
            <a:pPr marL="0" indent="0">
              <a:buNone/>
            </a:pPr>
            <a:endParaRPr lang="en-US" dirty="0"/>
          </a:p>
        </p:txBody>
      </p:sp>
    </p:spTree>
    <p:extLst>
      <p:ext uri="{BB962C8B-B14F-4D97-AF65-F5344CB8AC3E}">
        <p14:creationId xmlns:p14="http://schemas.microsoft.com/office/powerpoint/2010/main" val="10579840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53A14BF-55DC-4B9A-8430-02E00A04AEC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9644" y="79022"/>
            <a:ext cx="11684000" cy="6778978"/>
          </a:xfrm>
        </p:spPr>
      </p:pic>
    </p:spTree>
    <p:extLst>
      <p:ext uri="{BB962C8B-B14F-4D97-AF65-F5344CB8AC3E}">
        <p14:creationId xmlns:p14="http://schemas.microsoft.com/office/powerpoint/2010/main" val="2391632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534B70-4FD5-44DE-A71D-72CD7910ECBB}"/>
              </a:ext>
            </a:extLst>
          </p:cNvPr>
          <p:cNvSpPr>
            <a:spLocks noGrp="1"/>
          </p:cNvSpPr>
          <p:nvPr>
            <p:ph idx="1"/>
          </p:nvPr>
        </p:nvSpPr>
        <p:spPr>
          <a:xfrm>
            <a:off x="838200" y="79022"/>
            <a:ext cx="10515600" cy="6778978"/>
          </a:xfrm>
        </p:spPr>
        <p:txBody>
          <a:bodyPr/>
          <a:lstStyle/>
          <a:p>
            <a:pPr marL="0" indent="0">
              <a:buNone/>
            </a:pPr>
            <a:r>
              <a:rPr lang="en-US" sz="3200" b="1" dirty="0"/>
              <a:t>Guidelines for Preparing Flowchart:</a:t>
            </a:r>
          </a:p>
          <a:p>
            <a:pPr marL="0" indent="0">
              <a:buNone/>
            </a:pPr>
            <a:r>
              <a:rPr lang="en-US" sz="3200" dirty="0"/>
              <a:t>Following </a:t>
            </a:r>
            <a:r>
              <a:rPr lang="en-US" sz="3200" b="1" dirty="0"/>
              <a:t>guidelines</a:t>
            </a:r>
            <a:r>
              <a:rPr lang="en-US" sz="3200" dirty="0"/>
              <a:t> must be followed while preparing the flowcharts:</a:t>
            </a:r>
          </a:p>
          <a:p>
            <a:r>
              <a:rPr lang="en-US" sz="3200" dirty="0"/>
              <a:t>Standard symbols should be used while drawing flowchart.</a:t>
            </a:r>
          </a:p>
          <a:p>
            <a:r>
              <a:rPr lang="en-US" sz="3200" dirty="0"/>
              <a:t>Ensure that flowchart has </a:t>
            </a:r>
            <a:r>
              <a:rPr lang="en-US" sz="3200" b="1" dirty="0"/>
              <a:t>START (or BEGIN) </a:t>
            </a:r>
            <a:r>
              <a:rPr lang="en-US" sz="3200" dirty="0"/>
              <a:t>and </a:t>
            </a:r>
            <a:r>
              <a:rPr lang="en-US" sz="3200" b="1" dirty="0"/>
              <a:t>STOP (or END).</a:t>
            </a:r>
          </a:p>
          <a:p>
            <a:r>
              <a:rPr lang="en-US" sz="3200" dirty="0"/>
              <a:t>Flowchart should be neat, clean and easy to follow. There should be no any ambiguity.</a:t>
            </a:r>
          </a:p>
          <a:p>
            <a:r>
              <a:rPr lang="en-US" sz="3200" dirty="0"/>
              <a:t>The usual direction of flowchart is from top to bottom or from left to right.</a:t>
            </a:r>
          </a:p>
          <a:p>
            <a:r>
              <a:rPr lang="en-US" sz="3200" dirty="0"/>
              <a:t>The terminal symbol, that is, START/BEGIN or STOP/END should have only one flow line.</a:t>
            </a:r>
            <a:endParaRPr lang="en-US" sz="3200" b="1" dirty="0"/>
          </a:p>
          <a:p>
            <a:pPr marL="0" indent="0">
              <a:buNone/>
            </a:pPr>
            <a:endParaRPr lang="en-US" dirty="0"/>
          </a:p>
        </p:txBody>
      </p:sp>
    </p:spTree>
    <p:extLst>
      <p:ext uri="{BB962C8B-B14F-4D97-AF65-F5344CB8AC3E}">
        <p14:creationId xmlns:p14="http://schemas.microsoft.com/office/powerpoint/2010/main" val="2847908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CBB415-DB1C-4870-A446-683E9568C78B}"/>
              </a:ext>
            </a:extLst>
          </p:cNvPr>
          <p:cNvSpPr>
            <a:spLocks noGrp="1"/>
          </p:cNvSpPr>
          <p:nvPr>
            <p:ph idx="1"/>
          </p:nvPr>
        </p:nvSpPr>
        <p:spPr>
          <a:xfrm>
            <a:off x="838200" y="169333"/>
            <a:ext cx="10515600" cy="6524978"/>
          </a:xfrm>
        </p:spPr>
        <p:txBody>
          <a:bodyPr>
            <a:normAutofit/>
          </a:bodyPr>
          <a:lstStyle/>
          <a:p>
            <a:r>
              <a:rPr lang="en-US" sz="3600" dirty="0"/>
              <a:t>Only one flow line should come out from process symbol.</a:t>
            </a:r>
          </a:p>
          <a:p>
            <a:r>
              <a:rPr lang="en-US" sz="3600" dirty="0"/>
              <a:t>Only one flow line should enter a decision symbol, but two or three flow-lines, one for each possible answer, can leave the decision symbol.</a:t>
            </a:r>
          </a:p>
          <a:p>
            <a:r>
              <a:rPr lang="en-US" sz="3600" dirty="0"/>
              <a:t>If the flowchart is lengthy and complex connector symbol should be used to reduce the number of flow lines.</a:t>
            </a:r>
          </a:p>
          <a:p>
            <a:r>
              <a:rPr lang="en-US" sz="3600" dirty="0"/>
              <a:t>Avoid intersection of flow lines.</a:t>
            </a:r>
          </a:p>
          <a:p>
            <a:r>
              <a:rPr lang="en-US" sz="3600" dirty="0"/>
              <a:t>Use annotation symbol to describe steps more clearly.</a:t>
            </a:r>
          </a:p>
        </p:txBody>
      </p:sp>
    </p:spTree>
    <p:extLst>
      <p:ext uri="{BB962C8B-B14F-4D97-AF65-F5344CB8AC3E}">
        <p14:creationId xmlns:p14="http://schemas.microsoft.com/office/powerpoint/2010/main" val="20200835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2B09BB-90C8-4447-9925-E215BE1D997C}"/>
              </a:ext>
            </a:extLst>
          </p:cNvPr>
          <p:cNvSpPr>
            <a:spLocks noGrp="1"/>
          </p:cNvSpPr>
          <p:nvPr>
            <p:ph idx="1"/>
          </p:nvPr>
        </p:nvSpPr>
        <p:spPr>
          <a:xfrm>
            <a:off x="838200" y="90310"/>
            <a:ext cx="10515600" cy="6767689"/>
          </a:xfrm>
        </p:spPr>
        <p:txBody>
          <a:bodyPr/>
          <a:lstStyle/>
          <a:p>
            <a:pPr marL="0" indent="0">
              <a:buNone/>
            </a:pPr>
            <a:r>
              <a:rPr lang="en-US" b="1" dirty="0"/>
              <a:t>Example of Flowchart:</a:t>
            </a:r>
          </a:p>
          <a:p>
            <a:pPr marL="0" indent="0">
              <a:buNone/>
            </a:pPr>
            <a:r>
              <a:rPr lang="en-US" b="1" dirty="0"/>
              <a:t>Flowchart example</a:t>
            </a:r>
            <a:r>
              <a:rPr lang="en-US" dirty="0"/>
              <a:t> for calculating simple interest is shown below:</a:t>
            </a:r>
          </a:p>
          <a:p>
            <a:pPr marL="0" indent="0">
              <a:buNone/>
            </a:pPr>
            <a:endParaRPr lang="en-US" b="1" dirty="0"/>
          </a:p>
          <a:p>
            <a:pPr marL="0" indent="0">
              <a:buNone/>
            </a:pPr>
            <a:endParaRPr lang="en-US" b="1" dirty="0"/>
          </a:p>
          <a:p>
            <a:endParaRPr lang="en-US" dirty="0"/>
          </a:p>
        </p:txBody>
      </p:sp>
      <p:pic>
        <p:nvPicPr>
          <p:cNvPr id="5" name="Picture 4">
            <a:extLst>
              <a:ext uri="{FF2B5EF4-FFF2-40B4-BE49-F238E27FC236}">
                <a16:creationId xmlns:a16="http://schemas.microsoft.com/office/drawing/2014/main" id="{CED52D65-AFD1-4292-AE64-A70CEAE38C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1022" y="1275644"/>
            <a:ext cx="6445957" cy="5283199"/>
          </a:xfrm>
          <a:prstGeom prst="rect">
            <a:avLst/>
          </a:prstGeom>
        </p:spPr>
      </p:pic>
    </p:spTree>
    <p:extLst>
      <p:ext uri="{BB962C8B-B14F-4D97-AF65-F5344CB8AC3E}">
        <p14:creationId xmlns:p14="http://schemas.microsoft.com/office/powerpoint/2010/main" val="1919859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F27757-D56B-4AC5-BC5D-5A80F2DAB9CB}"/>
              </a:ext>
            </a:extLst>
          </p:cNvPr>
          <p:cNvSpPr>
            <a:spLocks noGrp="1"/>
          </p:cNvSpPr>
          <p:nvPr>
            <p:ph idx="1"/>
          </p:nvPr>
        </p:nvSpPr>
        <p:spPr>
          <a:xfrm>
            <a:off x="838200" y="180622"/>
            <a:ext cx="10515600" cy="6558845"/>
          </a:xfrm>
        </p:spPr>
        <p:txBody>
          <a:bodyPr/>
          <a:lstStyle/>
          <a:p>
            <a:pPr marL="0" indent="0">
              <a:buNone/>
            </a:pPr>
            <a:r>
              <a:rPr lang="en-US" b="1" dirty="0"/>
              <a:t>Advantages of Flowchart:</a:t>
            </a:r>
          </a:p>
          <a:p>
            <a:pPr marL="0" indent="0">
              <a:buNone/>
            </a:pPr>
            <a:r>
              <a:rPr lang="en-US" dirty="0"/>
              <a:t>Drawing flowchart while solving any problem has following </a:t>
            </a:r>
            <a:r>
              <a:rPr lang="en-US" b="1" dirty="0"/>
              <a:t>advantages</a:t>
            </a:r>
            <a:r>
              <a:rPr lang="en-US" dirty="0"/>
              <a:t>:</a:t>
            </a:r>
          </a:p>
          <a:p>
            <a:r>
              <a:rPr lang="en-US" b="1" dirty="0"/>
              <a:t>Effective Communication : </a:t>
            </a:r>
            <a:r>
              <a:rPr lang="en-US" dirty="0"/>
              <a:t>Flowcharts are better way of communicating the logic of the system.</a:t>
            </a:r>
          </a:p>
          <a:p>
            <a:r>
              <a:rPr lang="en-US" b="1" dirty="0"/>
              <a:t>Effective Analysis : </a:t>
            </a:r>
            <a:r>
              <a:rPr lang="en-US" dirty="0"/>
              <a:t>Using flowchart problem can be analyzed more efficiently.</a:t>
            </a:r>
          </a:p>
          <a:p>
            <a:r>
              <a:rPr lang="en-US" b="1" dirty="0"/>
              <a:t>Easy Debugging and Efficient Testing : </a:t>
            </a:r>
            <a:r>
              <a:rPr lang="en-US" dirty="0"/>
              <a:t>The Flowchart helps in debugging and testing process.</a:t>
            </a:r>
          </a:p>
          <a:p>
            <a:r>
              <a:rPr lang="en-US" b="1" dirty="0"/>
              <a:t>Efficient Coding : </a:t>
            </a:r>
            <a:r>
              <a:rPr lang="en-US" dirty="0"/>
              <a:t>The flowcharts are very useful during program development phase.</a:t>
            </a:r>
          </a:p>
          <a:p>
            <a:r>
              <a:rPr lang="en-US" b="1" dirty="0"/>
              <a:t>Proper Documentation : </a:t>
            </a:r>
            <a:r>
              <a:rPr lang="en-US" dirty="0"/>
              <a:t>Flowcharts serves as a good program documentation, which is needed for various purpose.</a:t>
            </a:r>
          </a:p>
          <a:p>
            <a:r>
              <a:rPr lang="en-US" b="1" dirty="0"/>
              <a:t>Efficient Program Maintenance :</a:t>
            </a:r>
            <a:r>
              <a:rPr lang="en-US" dirty="0"/>
              <a:t> Maintenance of operating programs becomes easy with the help of flowchart.</a:t>
            </a:r>
            <a:endParaRPr lang="en-US" b="1" dirty="0"/>
          </a:p>
          <a:p>
            <a:pPr marL="0" indent="0">
              <a:buNone/>
            </a:pPr>
            <a:endParaRPr lang="en-US" dirty="0"/>
          </a:p>
        </p:txBody>
      </p:sp>
    </p:spTree>
    <p:extLst>
      <p:ext uri="{BB962C8B-B14F-4D97-AF65-F5344CB8AC3E}">
        <p14:creationId xmlns:p14="http://schemas.microsoft.com/office/powerpoint/2010/main" val="1167664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74364B-20BE-4DDD-A8CA-7023E9701D22}"/>
              </a:ext>
            </a:extLst>
          </p:cNvPr>
          <p:cNvSpPr>
            <a:spLocks noGrp="1"/>
          </p:cNvSpPr>
          <p:nvPr>
            <p:ph idx="1"/>
          </p:nvPr>
        </p:nvSpPr>
        <p:spPr>
          <a:xfrm>
            <a:off x="838200" y="135466"/>
            <a:ext cx="10515600" cy="6722533"/>
          </a:xfrm>
        </p:spPr>
        <p:txBody>
          <a:bodyPr/>
          <a:lstStyle/>
          <a:p>
            <a:pPr marL="0" indent="0">
              <a:buNone/>
            </a:pPr>
            <a:r>
              <a:rPr lang="en-US" sz="4000" b="1" dirty="0"/>
              <a:t>Disadvantages of Flowchart:</a:t>
            </a:r>
          </a:p>
          <a:p>
            <a:pPr marL="0" indent="0">
              <a:buNone/>
            </a:pPr>
            <a:r>
              <a:rPr lang="en-US" sz="4000" dirty="0"/>
              <a:t>Flowchart has following disadvantages:</a:t>
            </a:r>
          </a:p>
          <a:p>
            <a:r>
              <a:rPr lang="en-US" sz="4000" b="1" dirty="0"/>
              <a:t>Complex Logic:</a:t>
            </a:r>
            <a:r>
              <a:rPr lang="en-US" sz="4000" dirty="0"/>
              <a:t> For complicated logic, flowchart becomes complex and clumsy.</a:t>
            </a:r>
          </a:p>
          <a:p>
            <a:r>
              <a:rPr lang="en-US" sz="4000" b="1" dirty="0"/>
              <a:t>Difficulty in Modifications:</a:t>
            </a:r>
            <a:r>
              <a:rPr lang="en-US" sz="4000" dirty="0"/>
              <a:t> If change is required in the logic then flowchart needs to be redrawn and requires a lot of time.</a:t>
            </a:r>
          </a:p>
          <a:p>
            <a:pPr marL="0" indent="0">
              <a:buNone/>
            </a:pPr>
            <a:endParaRPr lang="en-US" dirty="0"/>
          </a:p>
        </p:txBody>
      </p:sp>
    </p:spTree>
    <p:extLst>
      <p:ext uri="{BB962C8B-B14F-4D97-AF65-F5344CB8AC3E}">
        <p14:creationId xmlns:p14="http://schemas.microsoft.com/office/powerpoint/2010/main" val="1497441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87567-95C4-43C6-9354-FE3B2689FA2F}"/>
              </a:ext>
            </a:extLst>
          </p:cNvPr>
          <p:cNvSpPr>
            <a:spLocks noGrp="1"/>
          </p:cNvSpPr>
          <p:nvPr>
            <p:ph type="title"/>
          </p:nvPr>
        </p:nvSpPr>
        <p:spPr>
          <a:xfrm>
            <a:off x="838200" y="158044"/>
            <a:ext cx="10515600" cy="643468"/>
          </a:xfrm>
        </p:spPr>
        <p:txBody>
          <a:bodyPr>
            <a:normAutofit fontScale="90000"/>
          </a:bodyPr>
          <a:lstStyle/>
          <a:p>
            <a:r>
              <a:rPr lang="en-US" b="1" dirty="0"/>
              <a:t>Algorithm analysis:</a:t>
            </a:r>
          </a:p>
        </p:txBody>
      </p:sp>
      <p:sp>
        <p:nvSpPr>
          <p:cNvPr id="3" name="Content Placeholder 2">
            <a:extLst>
              <a:ext uri="{FF2B5EF4-FFF2-40B4-BE49-F238E27FC236}">
                <a16:creationId xmlns:a16="http://schemas.microsoft.com/office/drawing/2014/main" id="{9F54EA4C-C0B4-4383-A13A-989455A7D467}"/>
              </a:ext>
            </a:extLst>
          </p:cNvPr>
          <p:cNvSpPr>
            <a:spLocks noGrp="1"/>
          </p:cNvSpPr>
          <p:nvPr>
            <p:ph idx="1"/>
          </p:nvPr>
        </p:nvSpPr>
        <p:spPr>
          <a:xfrm>
            <a:off x="838200" y="801512"/>
            <a:ext cx="10515600" cy="5898444"/>
          </a:xfrm>
        </p:spPr>
        <p:txBody>
          <a:bodyPr>
            <a:normAutofit lnSpcReduction="10000"/>
          </a:bodyPr>
          <a:lstStyle/>
          <a:p>
            <a:r>
              <a:rPr lang="en-US" dirty="0"/>
              <a:t>Algorithm analysis is a </a:t>
            </a:r>
            <a:r>
              <a:rPr lang="en-US" b="1" dirty="0"/>
              <a:t>way of understanding how efficient </a:t>
            </a:r>
            <a:r>
              <a:rPr lang="en-US" dirty="0"/>
              <a:t>an algorithm is. </a:t>
            </a:r>
          </a:p>
          <a:p>
            <a:r>
              <a:rPr lang="en-US" dirty="0"/>
              <a:t>It is like figuring out </a:t>
            </a:r>
            <a:r>
              <a:rPr lang="en-US" b="1" dirty="0"/>
              <a:t>how fast and economical </a:t>
            </a:r>
            <a:r>
              <a:rPr lang="en-US" dirty="0"/>
              <a:t>an algorithm is at solving a problem as compared to other algorithms.</a:t>
            </a:r>
          </a:p>
          <a:p>
            <a:r>
              <a:rPr lang="en-US" dirty="0"/>
              <a:t>There are </a:t>
            </a:r>
            <a:r>
              <a:rPr lang="en-US" b="1" dirty="0"/>
              <a:t>two main things </a:t>
            </a:r>
            <a:r>
              <a:rPr lang="en-US" dirty="0"/>
              <a:t>considered in algorithm analysis:</a:t>
            </a:r>
          </a:p>
          <a:p>
            <a:pPr marL="0" indent="0">
              <a:buNone/>
            </a:pPr>
            <a:r>
              <a:rPr lang="en-US" b="1" dirty="0"/>
              <a:t>Time complexity:</a:t>
            </a:r>
            <a:r>
              <a:rPr lang="en-US" dirty="0"/>
              <a:t> </a:t>
            </a:r>
          </a:p>
          <a:p>
            <a:r>
              <a:rPr lang="en-US" dirty="0"/>
              <a:t>This refers to </a:t>
            </a:r>
            <a:r>
              <a:rPr lang="en-US" b="1" dirty="0"/>
              <a:t>how much time </a:t>
            </a:r>
            <a:r>
              <a:rPr lang="en-US" dirty="0"/>
              <a:t>(resources) an algorithm </a:t>
            </a:r>
            <a:r>
              <a:rPr lang="en-US" b="1" dirty="0"/>
              <a:t>takes to run as the size of the input it deals with increases. </a:t>
            </a:r>
          </a:p>
          <a:p>
            <a:r>
              <a:rPr lang="en-US" b="1" dirty="0"/>
              <a:t>Example:</a:t>
            </a:r>
          </a:p>
          <a:p>
            <a:r>
              <a:rPr lang="en-US" dirty="0"/>
              <a:t>Imagine you have an algorithm that sorts a list of numbers. The time it takes to sort a list of 10 numbers might be very small, but what about 10,000 numbers? </a:t>
            </a:r>
          </a:p>
          <a:p>
            <a:r>
              <a:rPr lang="en-US" dirty="0"/>
              <a:t>By analyzing the time complexity, we can predict how the algorithm's performance will scale with bigger inputs.</a:t>
            </a:r>
          </a:p>
        </p:txBody>
      </p:sp>
    </p:spTree>
    <p:extLst>
      <p:ext uri="{BB962C8B-B14F-4D97-AF65-F5344CB8AC3E}">
        <p14:creationId xmlns:p14="http://schemas.microsoft.com/office/powerpoint/2010/main" val="10397771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066788-6541-4359-A971-F39C96C2F21D}"/>
              </a:ext>
            </a:extLst>
          </p:cNvPr>
          <p:cNvSpPr>
            <a:spLocks noGrp="1"/>
          </p:cNvSpPr>
          <p:nvPr>
            <p:ph idx="1"/>
          </p:nvPr>
        </p:nvSpPr>
        <p:spPr>
          <a:xfrm>
            <a:off x="838200" y="180622"/>
            <a:ext cx="10515600" cy="6558845"/>
          </a:xfrm>
        </p:spPr>
        <p:txBody>
          <a:bodyPr>
            <a:normAutofit fontScale="92500" lnSpcReduction="20000"/>
          </a:bodyPr>
          <a:lstStyle/>
          <a:p>
            <a:pPr marL="0" indent="0">
              <a:buNone/>
            </a:pPr>
            <a:r>
              <a:rPr lang="en-US" sz="3200" b="1" dirty="0"/>
              <a:t>Space complexity:</a:t>
            </a:r>
            <a:r>
              <a:rPr lang="en-US" sz="3200" dirty="0"/>
              <a:t> </a:t>
            </a:r>
          </a:p>
          <a:p>
            <a:r>
              <a:rPr lang="en-US" sz="3200" dirty="0"/>
              <a:t>This refers to </a:t>
            </a:r>
            <a:r>
              <a:rPr lang="en-US" sz="3200" b="1" dirty="0"/>
              <a:t>how much memory an algorithm needs to run </a:t>
            </a:r>
            <a:r>
              <a:rPr lang="en-US" sz="3200" dirty="0"/>
              <a:t>as the </a:t>
            </a:r>
            <a:r>
              <a:rPr lang="en-US" sz="3200" b="1" dirty="0"/>
              <a:t>size of the input increases</a:t>
            </a:r>
            <a:r>
              <a:rPr lang="en-US" sz="3200" dirty="0"/>
              <a:t>.</a:t>
            </a:r>
          </a:p>
          <a:p>
            <a:r>
              <a:rPr lang="en-US" sz="3200" b="1" dirty="0"/>
              <a:t>Example: </a:t>
            </a:r>
          </a:p>
          <a:p>
            <a:r>
              <a:rPr lang="en-US" sz="3200" dirty="0"/>
              <a:t>Going back to our sorting example, some sorting algorithms might require creating a whole new copy of the list to sort it, while others might be able to sort the list in place. </a:t>
            </a:r>
          </a:p>
          <a:p>
            <a:r>
              <a:rPr lang="en-US" sz="3200" dirty="0"/>
              <a:t>Space complexity analysis helps us understand how much memory the algorithm will need as the size of the problem grows.</a:t>
            </a:r>
          </a:p>
          <a:p>
            <a:r>
              <a:rPr lang="en-US" sz="3200" dirty="0">
                <a:solidFill>
                  <a:srgbClr val="FF0000"/>
                </a:solidFill>
              </a:rPr>
              <a:t>By analyzing these aspects, we can compare different algorithms for the same problem and see which one is more efficient. </a:t>
            </a:r>
          </a:p>
          <a:p>
            <a:r>
              <a:rPr lang="en-US" sz="3200" dirty="0">
                <a:solidFill>
                  <a:srgbClr val="FF0000"/>
                </a:solidFill>
              </a:rPr>
              <a:t>This is crucial in computer science because for many problems, there can be multiple solutions (algorithms) and choosing the most efficient one can make a big difference in how well a program performs.</a:t>
            </a:r>
          </a:p>
        </p:txBody>
      </p:sp>
    </p:spTree>
    <p:extLst>
      <p:ext uri="{BB962C8B-B14F-4D97-AF65-F5344CB8AC3E}">
        <p14:creationId xmlns:p14="http://schemas.microsoft.com/office/powerpoint/2010/main" val="419154955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963BA7-5105-4654-A380-768195AFF0FC}"/>
              </a:ext>
            </a:extLst>
          </p:cNvPr>
          <p:cNvSpPr>
            <a:spLocks noGrp="1"/>
          </p:cNvSpPr>
          <p:nvPr>
            <p:ph idx="1"/>
          </p:nvPr>
        </p:nvSpPr>
        <p:spPr>
          <a:xfrm>
            <a:off x="838200" y="169332"/>
            <a:ext cx="10515600" cy="6688667"/>
          </a:xfrm>
        </p:spPr>
        <p:txBody>
          <a:bodyPr>
            <a:normAutofit/>
          </a:bodyPr>
          <a:lstStyle/>
          <a:p>
            <a:pPr>
              <a:buFont typeface="Wingdings" panose="05000000000000000000" pitchFamily="2" charset="2"/>
              <a:buChar char="Ø"/>
            </a:pPr>
            <a:r>
              <a:rPr lang="en-US" sz="4000" b="1" dirty="0"/>
              <a:t>Space and Time Analysis:</a:t>
            </a:r>
          </a:p>
          <a:p>
            <a:pPr marL="0" indent="0">
              <a:buNone/>
            </a:pPr>
            <a:r>
              <a:rPr lang="en-US" sz="3200" dirty="0"/>
              <a:t>Generally, there is always </a:t>
            </a:r>
            <a:r>
              <a:rPr lang="en-US" sz="3200" b="1" dirty="0"/>
              <a:t>more than one </a:t>
            </a:r>
            <a:r>
              <a:rPr lang="en-US" sz="3200" dirty="0"/>
              <a:t>way to </a:t>
            </a:r>
            <a:r>
              <a:rPr lang="en-US" sz="3200" b="1" dirty="0"/>
              <a:t>solve a problem </a:t>
            </a:r>
            <a:r>
              <a:rPr lang="en-US" sz="3200" dirty="0"/>
              <a:t>in computer science with </a:t>
            </a:r>
            <a:r>
              <a:rPr lang="en-US" sz="3200" b="1" dirty="0"/>
              <a:t>different algorithms</a:t>
            </a:r>
            <a:r>
              <a:rPr lang="en-US" sz="3200" dirty="0"/>
              <a:t>. </a:t>
            </a:r>
          </a:p>
          <a:p>
            <a:pPr marL="0" indent="0">
              <a:buNone/>
            </a:pPr>
            <a:r>
              <a:rPr lang="en-US" sz="3200" dirty="0"/>
              <a:t>Therefore, it is highly </a:t>
            </a:r>
            <a:r>
              <a:rPr lang="en-US" sz="3200" b="1" dirty="0"/>
              <a:t>required to use a method to compare </a:t>
            </a:r>
            <a:r>
              <a:rPr lang="en-US" sz="3200" dirty="0"/>
              <a:t>the </a:t>
            </a:r>
            <a:r>
              <a:rPr lang="en-US" sz="3200" b="1" dirty="0"/>
              <a:t>solutions in order to judge </a:t>
            </a:r>
            <a:r>
              <a:rPr lang="en-US" sz="3200" dirty="0"/>
              <a:t>which </a:t>
            </a:r>
            <a:r>
              <a:rPr lang="en-US" sz="3200" b="1" dirty="0"/>
              <a:t>one is more optimal</a:t>
            </a:r>
            <a:r>
              <a:rPr lang="en-US" sz="3200" dirty="0"/>
              <a:t>. </a:t>
            </a:r>
          </a:p>
          <a:p>
            <a:pPr marL="0" indent="0">
              <a:buNone/>
            </a:pPr>
            <a:r>
              <a:rPr lang="en-US" sz="3200" dirty="0"/>
              <a:t>The method must be:</a:t>
            </a:r>
          </a:p>
          <a:p>
            <a:r>
              <a:rPr lang="en-US" sz="3200" b="1" dirty="0"/>
              <a:t>Independent of the machine and its configuration</a:t>
            </a:r>
            <a:r>
              <a:rPr lang="en-US" sz="3200" dirty="0"/>
              <a:t>, on which the </a:t>
            </a:r>
            <a:r>
              <a:rPr lang="en-US" sz="3200" b="1" dirty="0"/>
              <a:t>algorithm is running </a:t>
            </a:r>
            <a:r>
              <a:rPr lang="en-US" sz="3200" dirty="0"/>
              <a:t>on.</a:t>
            </a:r>
          </a:p>
          <a:p>
            <a:r>
              <a:rPr lang="en-US" sz="3200" dirty="0"/>
              <a:t>Shows a </a:t>
            </a:r>
            <a:r>
              <a:rPr lang="en-US" sz="3200" b="1" dirty="0"/>
              <a:t>direct correlation with the number of inputs</a:t>
            </a:r>
            <a:r>
              <a:rPr lang="en-US" sz="3200" dirty="0"/>
              <a:t>.</a:t>
            </a:r>
          </a:p>
          <a:p>
            <a:r>
              <a:rPr lang="en-US" sz="3200" b="1" dirty="0"/>
              <a:t>Can distinguish two algorithms clearly without ambiguity</a:t>
            </a:r>
            <a:r>
              <a:rPr lang="en-US" sz="3200" dirty="0"/>
              <a:t>.</a:t>
            </a:r>
          </a:p>
          <a:p>
            <a:pPr marL="0" indent="0">
              <a:buNone/>
            </a:pPr>
            <a:endParaRPr lang="en-US" dirty="0"/>
          </a:p>
        </p:txBody>
      </p:sp>
    </p:spTree>
    <p:extLst>
      <p:ext uri="{BB962C8B-B14F-4D97-AF65-F5344CB8AC3E}">
        <p14:creationId xmlns:p14="http://schemas.microsoft.com/office/powerpoint/2010/main" val="8369868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68E36A-067F-4FAB-B247-F3D2191592B5}"/>
              </a:ext>
            </a:extLst>
          </p:cNvPr>
          <p:cNvSpPr>
            <a:spLocks noGrp="1"/>
          </p:cNvSpPr>
          <p:nvPr>
            <p:ph idx="1"/>
          </p:nvPr>
        </p:nvSpPr>
        <p:spPr>
          <a:xfrm>
            <a:off x="838200" y="169333"/>
            <a:ext cx="10515600" cy="6570134"/>
          </a:xfrm>
        </p:spPr>
        <p:txBody>
          <a:bodyPr>
            <a:normAutofit/>
          </a:bodyPr>
          <a:lstStyle/>
          <a:p>
            <a:pPr marL="0" indent="0">
              <a:buNone/>
            </a:pPr>
            <a:r>
              <a:rPr lang="en-US" sz="3200" dirty="0"/>
              <a:t>There are </a:t>
            </a:r>
            <a:r>
              <a:rPr lang="en-US" sz="3200" b="1" dirty="0"/>
              <a:t>two such methods </a:t>
            </a:r>
            <a:r>
              <a:rPr lang="en-US" sz="3200" dirty="0"/>
              <a:t>used, </a:t>
            </a:r>
            <a:r>
              <a:rPr lang="en-US" sz="3200" b="1" dirty="0"/>
              <a:t>time complexity</a:t>
            </a:r>
            <a:r>
              <a:rPr lang="en-US" sz="3200" dirty="0"/>
              <a:t> and </a:t>
            </a:r>
            <a:r>
              <a:rPr lang="en-US" sz="3200" b="1" dirty="0"/>
              <a:t>space complexity</a:t>
            </a:r>
            <a:r>
              <a:rPr lang="en-US" sz="3200" dirty="0"/>
              <a:t> which are given below:</a:t>
            </a:r>
          </a:p>
          <a:p>
            <a:pPr marL="0" indent="0">
              <a:buNone/>
            </a:pPr>
            <a:r>
              <a:rPr lang="en-US" sz="3200" b="1" dirty="0"/>
              <a:t>Time Complexity: </a:t>
            </a:r>
          </a:p>
          <a:p>
            <a:r>
              <a:rPr lang="en-US" sz="3200" b="1" dirty="0"/>
              <a:t>The time required by the algorithm to solve given problem</a:t>
            </a:r>
            <a:r>
              <a:rPr lang="en-US" sz="3200" dirty="0"/>
              <a:t> is called </a:t>
            </a:r>
            <a:r>
              <a:rPr lang="en-US" sz="3200" b="1" i="1" dirty="0"/>
              <a:t>time complexity </a:t>
            </a:r>
            <a:r>
              <a:rPr lang="en-US" sz="3200" dirty="0"/>
              <a:t> of the algorithm. </a:t>
            </a:r>
            <a:endParaRPr lang="en-US" sz="3200" b="1" dirty="0"/>
          </a:p>
          <a:p>
            <a:r>
              <a:rPr lang="en-US" sz="3200" dirty="0"/>
              <a:t>The time complexity of an algorithm </a:t>
            </a:r>
            <a:r>
              <a:rPr lang="en-US" sz="3200" b="1" dirty="0"/>
              <a:t>quantifies the amount of time taken by an algorithm to run as a function of the length of the input</a:t>
            </a:r>
            <a:r>
              <a:rPr lang="en-US" sz="3200" dirty="0"/>
              <a:t>. </a:t>
            </a:r>
          </a:p>
          <a:p>
            <a:r>
              <a:rPr lang="en-US" sz="3200" b="1" dirty="0"/>
              <a:t>Note</a:t>
            </a:r>
            <a:r>
              <a:rPr lang="en-US" sz="3200" dirty="0"/>
              <a:t> that the </a:t>
            </a:r>
            <a:r>
              <a:rPr lang="en-US" sz="3200" b="1" dirty="0"/>
              <a:t>time to run is a function of the length of the input </a:t>
            </a:r>
            <a:r>
              <a:rPr lang="en-US" sz="3200" dirty="0"/>
              <a:t>and </a:t>
            </a:r>
            <a:r>
              <a:rPr lang="en-US" sz="3200" b="1" dirty="0"/>
              <a:t>not the actual execution time </a:t>
            </a:r>
            <a:r>
              <a:rPr lang="en-US" sz="3200" dirty="0"/>
              <a:t>of the machine on which the algorithm is running on.</a:t>
            </a:r>
          </a:p>
          <a:p>
            <a:endParaRPr lang="en-US" dirty="0"/>
          </a:p>
        </p:txBody>
      </p:sp>
    </p:spTree>
    <p:extLst>
      <p:ext uri="{BB962C8B-B14F-4D97-AF65-F5344CB8AC3E}">
        <p14:creationId xmlns:p14="http://schemas.microsoft.com/office/powerpoint/2010/main" val="27599931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881F00-7FF0-4D7A-BE66-B5835D050A5C}"/>
              </a:ext>
            </a:extLst>
          </p:cNvPr>
          <p:cNvSpPr>
            <a:spLocks noGrp="1"/>
          </p:cNvSpPr>
          <p:nvPr>
            <p:ph idx="1"/>
          </p:nvPr>
        </p:nvSpPr>
        <p:spPr>
          <a:xfrm>
            <a:off x="838200" y="169332"/>
            <a:ext cx="10515600" cy="6581423"/>
          </a:xfrm>
        </p:spPr>
        <p:txBody>
          <a:bodyPr>
            <a:normAutofit/>
          </a:bodyPr>
          <a:lstStyle/>
          <a:p>
            <a:r>
              <a:rPr lang="en-US" sz="4000" dirty="0"/>
              <a:t>The valid algorithm takes a </a:t>
            </a:r>
            <a:r>
              <a:rPr lang="en-US" sz="4000" b="1" dirty="0"/>
              <a:t>finite amount of time for execution</a:t>
            </a:r>
            <a:r>
              <a:rPr lang="en-US" sz="4000" dirty="0"/>
              <a:t>. </a:t>
            </a:r>
          </a:p>
          <a:p>
            <a:r>
              <a:rPr lang="en-US" sz="4000" dirty="0"/>
              <a:t>Time complexity is very </a:t>
            </a:r>
            <a:r>
              <a:rPr lang="en-US" sz="4000" b="1" dirty="0"/>
              <a:t>useful measure in algorithm analysis</a:t>
            </a:r>
            <a:r>
              <a:rPr lang="en-US" sz="4000" dirty="0"/>
              <a:t>.</a:t>
            </a:r>
          </a:p>
          <a:p>
            <a:r>
              <a:rPr lang="en-US" sz="4000" dirty="0"/>
              <a:t>It is the time needed for the </a:t>
            </a:r>
            <a:r>
              <a:rPr lang="en-US" sz="4000" b="1" dirty="0"/>
              <a:t>completion of an algorithm</a:t>
            </a:r>
            <a:r>
              <a:rPr lang="en-US" sz="4000" dirty="0"/>
              <a:t>. </a:t>
            </a:r>
          </a:p>
          <a:p>
            <a:r>
              <a:rPr lang="en-US" sz="4000" dirty="0"/>
              <a:t>To estimate the time complexity, we need to consider the cost of each fundamental instruction and the number of times the instruction is executed.</a:t>
            </a:r>
          </a:p>
          <a:p>
            <a:endParaRPr lang="en-US" sz="4000" dirty="0"/>
          </a:p>
          <a:p>
            <a:endParaRPr lang="en-US" dirty="0"/>
          </a:p>
        </p:txBody>
      </p:sp>
    </p:spTree>
    <p:extLst>
      <p:ext uri="{BB962C8B-B14F-4D97-AF65-F5344CB8AC3E}">
        <p14:creationId xmlns:p14="http://schemas.microsoft.com/office/powerpoint/2010/main" val="21926419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82F1019-7D89-4185-819F-7399EE016475}"/>
              </a:ext>
            </a:extLst>
          </p:cNvPr>
          <p:cNvSpPr>
            <a:spLocks noGrp="1"/>
          </p:cNvSpPr>
          <p:nvPr>
            <p:ph idx="1"/>
          </p:nvPr>
        </p:nvSpPr>
        <p:spPr>
          <a:xfrm>
            <a:off x="838200" y="146756"/>
            <a:ext cx="10515600" cy="6711244"/>
          </a:xfrm>
        </p:spPr>
        <p:txBody>
          <a:bodyPr>
            <a:normAutofit/>
          </a:bodyPr>
          <a:lstStyle/>
          <a:p>
            <a:pPr marL="0" indent="0">
              <a:buNone/>
            </a:pPr>
            <a:r>
              <a:rPr lang="en-US" sz="3600" b="1" dirty="0"/>
              <a:t>Space Complexity: </a:t>
            </a:r>
          </a:p>
          <a:p>
            <a:r>
              <a:rPr lang="en-US" sz="3600" dirty="0"/>
              <a:t>The amount of memory required by the algorithm to solve given problem is called </a:t>
            </a:r>
            <a:r>
              <a:rPr lang="en-US" sz="3600" b="1" dirty="0"/>
              <a:t>space complexity</a:t>
            </a:r>
            <a:r>
              <a:rPr lang="en-US" sz="3600" dirty="0"/>
              <a:t> of the algorithm.</a:t>
            </a:r>
          </a:p>
          <a:p>
            <a:r>
              <a:rPr lang="en-US" sz="3600" dirty="0"/>
              <a:t>Problem-solving using computer requires memory to hold temporary data or final result while the program is in execution. </a:t>
            </a:r>
          </a:p>
          <a:p>
            <a:r>
              <a:rPr lang="en-US" sz="3600" dirty="0"/>
              <a:t>The </a:t>
            </a:r>
            <a:r>
              <a:rPr lang="en-US" sz="3600" b="1" dirty="0"/>
              <a:t>space complexity of an algorithm quantifies the amount of space taken by an algorithm to run as a function of the length of the input. </a:t>
            </a:r>
          </a:p>
          <a:p>
            <a:r>
              <a:rPr lang="en-US" sz="3600" dirty="0"/>
              <a:t>It is the </a:t>
            </a:r>
            <a:r>
              <a:rPr lang="en-US" sz="3600" b="1" dirty="0"/>
              <a:t>amount of memory needed for the completion of an algorithm. </a:t>
            </a:r>
          </a:p>
          <a:p>
            <a:pPr marL="0" indent="0">
              <a:buNone/>
            </a:pPr>
            <a:endParaRPr lang="en-US" dirty="0"/>
          </a:p>
        </p:txBody>
      </p:sp>
    </p:spTree>
    <p:extLst>
      <p:ext uri="{BB962C8B-B14F-4D97-AF65-F5344CB8AC3E}">
        <p14:creationId xmlns:p14="http://schemas.microsoft.com/office/powerpoint/2010/main" val="226764244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978A79-CC58-4028-9AC0-90F4EC915C8D}"/>
              </a:ext>
            </a:extLst>
          </p:cNvPr>
          <p:cNvSpPr>
            <a:spLocks noGrp="1"/>
          </p:cNvSpPr>
          <p:nvPr>
            <p:ph idx="1"/>
          </p:nvPr>
        </p:nvSpPr>
        <p:spPr>
          <a:xfrm>
            <a:off x="838200" y="124178"/>
            <a:ext cx="10515600" cy="6637866"/>
          </a:xfrm>
        </p:spPr>
        <p:txBody>
          <a:bodyPr/>
          <a:lstStyle/>
          <a:p>
            <a:pPr marL="0" indent="0">
              <a:buNone/>
            </a:pPr>
            <a:r>
              <a:rPr lang="en-US" sz="4000" dirty="0"/>
              <a:t>To </a:t>
            </a:r>
            <a:r>
              <a:rPr lang="en-US" sz="4000" b="1" dirty="0"/>
              <a:t>estimate the memory requirement </a:t>
            </a:r>
            <a:r>
              <a:rPr lang="en-US" sz="4000" dirty="0"/>
              <a:t>we need to focus on </a:t>
            </a:r>
            <a:r>
              <a:rPr lang="en-US" sz="4000" b="1" dirty="0"/>
              <a:t>two parts: </a:t>
            </a:r>
          </a:p>
          <a:p>
            <a:r>
              <a:rPr lang="en-US" sz="4000" b="1" dirty="0"/>
              <a:t>(1) A fixed part:</a:t>
            </a:r>
            <a:r>
              <a:rPr lang="en-US" sz="4000" dirty="0"/>
              <a:t> It is independent of the input size. It includes memory for instructions (code), constants, variables, etc.</a:t>
            </a:r>
          </a:p>
          <a:p>
            <a:r>
              <a:rPr lang="en-US" sz="4000" b="1" dirty="0"/>
              <a:t>(2) A variable part: </a:t>
            </a:r>
            <a:r>
              <a:rPr lang="en-US" sz="4000" dirty="0"/>
              <a:t>It is dependent on the input size. It includes memory for recursion stack, referenced variables, etc.</a:t>
            </a:r>
          </a:p>
          <a:p>
            <a:endParaRPr lang="en-US" dirty="0"/>
          </a:p>
        </p:txBody>
      </p:sp>
    </p:spTree>
    <p:extLst>
      <p:ext uri="{BB962C8B-B14F-4D97-AF65-F5344CB8AC3E}">
        <p14:creationId xmlns:p14="http://schemas.microsoft.com/office/powerpoint/2010/main" val="406037186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3950B5-7D4B-4A10-AFF2-0553428348B3}"/>
              </a:ext>
            </a:extLst>
          </p:cNvPr>
          <p:cNvSpPr>
            <a:spLocks noGrp="1"/>
          </p:cNvSpPr>
          <p:nvPr>
            <p:ph idx="1"/>
          </p:nvPr>
        </p:nvSpPr>
        <p:spPr>
          <a:xfrm>
            <a:off x="838200" y="169333"/>
            <a:ext cx="10515600" cy="6604000"/>
          </a:xfrm>
        </p:spPr>
        <p:txBody>
          <a:bodyPr>
            <a:normAutofit fontScale="92500" lnSpcReduction="10000"/>
          </a:bodyPr>
          <a:lstStyle/>
          <a:p>
            <a:r>
              <a:rPr lang="en-US" dirty="0"/>
              <a:t>There are </a:t>
            </a:r>
            <a:r>
              <a:rPr lang="en-US" b="1" dirty="0"/>
              <a:t>two main approaches used </a:t>
            </a:r>
            <a:r>
              <a:rPr lang="en-US" dirty="0"/>
              <a:t>for analyzing algorithms:</a:t>
            </a:r>
          </a:p>
          <a:p>
            <a:pPr marL="0" indent="0">
              <a:buNone/>
            </a:pPr>
            <a:r>
              <a:rPr lang="en-US" b="1" dirty="0"/>
              <a:t>Analytical Method:</a:t>
            </a:r>
            <a:endParaRPr lang="en-US" dirty="0"/>
          </a:p>
          <a:p>
            <a:r>
              <a:rPr lang="en-US" dirty="0"/>
              <a:t>This is more traditional approach. </a:t>
            </a:r>
          </a:p>
          <a:p>
            <a:r>
              <a:rPr lang="en-US" dirty="0"/>
              <a:t>By examining the algorithm's structure and counting the number of operations it performs for different input sizes, you can derive a mathematical expression for its time and space complexity using Big O notation.</a:t>
            </a:r>
          </a:p>
          <a:p>
            <a:pPr marL="0" indent="0">
              <a:buNone/>
            </a:pPr>
            <a:r>
              <a:rPr lang="en-US" b="1" dirty="0"/>
              <a:t>Empirical Method:</a:t>
            </a:r>
            <a:endParaRPr lang="en-US" dirty="0"/>
          </a:p>
          <a:p>
            <a:r>
              <a:rPr lang="en-US" dirty="0"/>
              <a:t>This involves running the algorithm with different input sizes and measuring the execution time and memory usage. </a:t>
            </a:r>
          </a:p>
          <a:p>
            <a:r>
              <a:rPr lang="en-US" dirty="0"/>
              <a:t>While helpful for real-world scenarios, it doesn't provide a general understanding of how the algorithm scales with larger inputs and doesn't guarantee the worst-case behavior.</a:t>
            </a:r>
          </a:p>
          <a:p>
            <a:pPr marL="0" indent="0">
              <a:buNone/>
            </a:pPr>
            <a:endParaRPr lang="en-US" dirty="0"/>
          </a:p>
          <a:p>
            <a:pPr marL="0" indent="0">
              <a:buNone/>
            </a:pPr>
            <a:r>
              <a:rPr lang="en-US" dirty="0"/>
              <a:t>The analytical method is generally preferred for theoretical understanding because it focuses on the efficiency of the algorithm, independent of specific hardware or programming language.</a:t>
            </a:r>
          </a:p>
        </p:txBody>
      </p:sp>
    </p:spTree>
    <p:extLst>
      <p:ext uri="{BB962C8B-B14F-4D97-AF65-F5344CB8AC3E}">
        <p14:creationId xmlns:p14="http://schemas.microsoft.com/office/powerpoint/2010/main" val="296078826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EFC78-6DD7-418C-99F0-24E7D83CD394}"/>
              </a:ext>
            </a:extLst>
          </p:cNvPr>
          <p:cNvSpPr>
            <a:spLocks noGrp="1"/>
          </p:cNvSpPr>
          <p:nvPr>
            <p:ph type="title"/>
          </p:nvPr>
        </p:nvSpPr>
        <p:spPr>
          <a:xfrm>
            <a:off x="838200" y="135468"/>
            <a:ext cx="10515600" cy="587022"/>
          </a:xfrm>
        </p:spPr>
        <p:txBody>
          <a:bodyPr>
            <a:normAutofit fontScale="90000"/>
          </a:bodyPr>
          <a:lstStyle/>
          <a:p>
            <a:r>
              <a:rPr lang="en-US" b="1" dirty="0"/>
              <a:t>How the algorithm analysis is done?</a:t>
            </a:r>
          </a:p>
        </p:txBody>
      </p:sp>
      <p:sp>
        <p:nvSpPr>
          <p:cNvPr id="3" name="Content Placeholder 2">
            <a:extLst>
              <a:ext uri="{FF2B5EF4-FFF2-40B4-BE49-F238E27FC236}">
                <a16:creationId xmlns:a16="http://schemas.microsoft.com/office/drawing/2014/main" id="{4E9C0DB1-19E8-47C9-99F9-4B925A81745C}"/>
              </a:ext>
            </a:extLst>
          </p:cNvPr>
          <p:cNvSpPr>
            <a:spLocks noGrp="1"/>
          </p:cNvSpPr>
          <p:nvPr>
            <p:ph idx="1"/>
          </p:nvPr>
        </p:nvSpPr>
        <p:spPr>
          <a:xfrm>
            <a:off x="838200" y="722490"/>
            <a:ext cx="10515600" cy="6000043"/>
          </a:xfrm>
        </p:spPr>
        <p:txBody>
          <a:bodyPr/>
          <a:lstStyle/>
          <a:p>
            <a:pPr marL="0" indent="0">
              <a:buNone/>
            </a:pPr>
            <a:r>
              <a:rPr lang="en-US" sz="3200" dirty="0"/>
              <a:t>Algorithm analysis is done through a </a:t>
            </a:r>
            <a:r>
              <a:rPr lang="en-US" sz="3200" b="1" dirty="0"/>
              <a:t>theoretical approach</a:t>
            </a:r>
            <a:r>
              <a:rPr lang="en-US" sz="3200" dirty="0"/>
              <a:t>, focusing on the </a:t>
            </a:r>
            <a:r>
              <a:rPr lang="en-US" sz="3200" b="1" dirty="0"/>
              <a:t>structure of the algorithm </a:t>
            </a:r>
            <a:r>
              <a:rPr lang="en-US" sz="3200" dirty="0"/>
              <a:t>rather than </a:t>
            </a:r>
            <a:r>
              <a:rPr lang="en-US" sz="3200" b="1" dirty="0"/>
              <a:t>actual execution time</a:t>
            </a:r>
            <a:r>
              <a:rPr lang="en-US" sz="3200" dirty="0"/>
              <a:t>. </a:t>
            </a:r>
          </a:p>
          <a:p>
            <a:pPr marL="0" indent="0">
              <a:buNone/>
            </a:pPr>
            <a:r>
              <a:rPr lang="en-US" sz="3200" b="1" dirty="0">
                <a:solidFill>
                  <a:srgbClr val="FF0000"/>
                </a:solidFill>
              </a:rPr>
              <a:t>Algorithm analysis process: Has three main steps.</a:t>
            </a:r>
          </a:p>
          <a:p>
            <a:pPr marL="0" indent="0">
              <a:buNone/>
            </a:pPr>
            <a:r>
              <a:rPr lang="en-US" sz="3200" b="1" dirty="0"/>
              <a:t>Identify Inputs and Operations:</a:t>
            </a:r>
            <a:r>
              <a:rPr lang="en-US" sz="3200" dirty="0"/>
              <a:t> </a:t>
            </a:r>
          </a:p>
          <a:p>
            <a:r>
              <a:rPr lang="en-US" sz="3200" dirty="0"/>
              <a:t>Understand what the algorithm takes as input (data it processes) and what operations it performs on that data. </a:t>
            </a:r>
          </a:p>
          <a:p>
            <a:r>
              <a:rPr lang="en-US" sz="3200" dirty="0"/>
              <a:t>This gives you a roadmap of the algorithm's steps.</a:t>
            </a:r>
          </a:p>
          <a:p>
            <a:endParaRPr lang="en-US" dirty="0"/>
          </a:p>
        </p:txBody>
      </p:sp>
    </p:spTree>
    <p:extLst>
      <p:ext uri="{BB962C8B-B14F-4D97-AF65-F5344CB8AC3E}">
        <p14:creationId xmlns:p14="http://schemas.microsoft.com/office/powerpoint/2010/main" val="29132819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650C2A-0C88-499E-834E-F12B834CDC54}"/>
              </a:ext>
            </a:extLst>
          </p:cNvPr>
          <p:cNvSpPr>
            <a:spLocks noGrp="1"/>
          </p:cNvSpPr>
          <p:nvPr>
            <p:ph idx="1"/>
          </p:nvPr>
        </p:nvSpPr>
        <p:spPr>
          <a:xfrm>
            <a:off x="838200" y="112888"/>
            <a:ext cx="10515600" cy="6615289"/>
          </a:xfrm>
        </p:spPr>
        <p:txBody>
          <a:bodyPr/>
          <a:lstStyle/>
          <a:p>
            <a:pPr marL="0" indent="0">
              <a:buNone/>
            </a:pPr>
            <a:r>
              <a:rPr lang="en-US" b="1" dirty="0"/>
              <a:t>Analyze Time Complexity:</a:t>
            </a:r>
            <a:endParaRPr lang="en-US" dirty="0"/>
          </a:p>
          <a:p>
            <a:r>
              <a:rPr lang="en-US" dirty="0"/>
              <a:t>Estimate the amount of time the algorithm takes to run based on the input size. </a:t>
            </a:r>
          </a:p>
          <a:p>
            <a:r>
              <a:rPr lang="en-US" dirty="0"/>
              <a:t>A common tool used is Big O notation, which represents the upper bound of an algorithm's time complexity. </a:t>
            </a:r>
          </a:p>
          <a:p>
            <a:r>
              <a:rPr lang="en-US" dirty="0"/>
              <a:t>It categorizes how the running time grows with the input size (often denoted by n). </a:t>
            </a:r>
          </a:p>
          <a:p>
            <a:pPr marL="0" indent="0">
              <a:buNone/>
            </a:pPr>
            <a:r>
              <a:rPr lang="en-US" dirty="0"/>
              <a:t>Some common complexities:</a:t>
            </a:r>
          </a:p>
          <a:p>
            <a:pPr marL="0" indent="0">
              <a:buNone/>
            </a:pPr>
            <a:r>
              <a:rPr lang="en-US" dirty="0"/>
              <a:t>O(1): Constant time, meaning the execution time doesn't depend on the input size.</a:t>
            </a:r>
          </a:p>
          <a:p>
            <a:pPr marL="0" indent="0">
              <a:buNone/>
            </a:pPr>
            <a:r>
              <a:rPr lang="en-US" dirty="0"/>
              <a:t>O(n): Linear time, meaning the time grows proportionally with the input size.</a:t>
            </a:r>
          </a:p>
          <a:p>
            <a:pPr marL="0" indent="0">
              <a:buNone/>
            </a:pPr>
            <a:r>
              <a:rPr lang="en-US" dirty="0"/>
              <a:t>O(n^2): Quadratic time, meaning the time grows proportionally to the square of the input size. This can be less efficient for large inputs.</a:t>
            </a:r>
          </a:p>
          <a:p>
            <a:endParaRPr lang="en-US" dirty="0"/>
          </a:p>
        </p:txBody>
      </p:sp>
    </p:spTree>
    <p:extLst>
      <p:ext uri="{BB962C8B-B14F-4D97-AF65-F5344CB8AC3E}">
        <p14:creationId xmlns:p14="http://schemas.microsoft.com/office/powerpoint/2010/main" val="40913030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2424E6-9321-441D-B5FE-23D7ACAFD921}"/>
              </a:ext>
            </a:extLst>
          </p:cNvPr>
          <p:cNvSpPr>
            <a:spLocks noGrp="1"/>
          </p:cNvSpPr>
          <p:nvPr>
            <p:ph idx="1"/>
          </p:nvPr>
        </p:nvSpPr>
        <p:spPr>
          <a:xfrm>
            <a:off x="838200" y="79022"/>
            <a:ext cx="10515600" cy="6649156"/>
          </a:xfrm>
        </p:spPr>
        <p:txBody>
          <a:bodyPr>
            <a:normAutofit lnSpcReduction="10000"/>
          </a:bodyPr>
          <a:lstStyle/>
          <a:p>
            <a:pPr marL="0" indent="0">
              <a:buNone/>
            </a:pPr>
            <a:r>
              <a:rPr lang="en-US" b="1" dirty="0"/>
              <a:t>Analyze Space Complexity:</a:t>
            </a:r>
            <a:endParaRPr lang="en-US" dirty="0"/>
          </a:p>
          <a:p>
            <a:r>
              <a:rPr lang="en-US" dirty="0"/>
              <a:t>Similar to time complexity, estimate the amount of additional memory the algorithm needs to run as the input size increases. </a:t>
            </a:r>
          </a:p>
          <a:p>
            <a:r>
              <a:rPr lang="en-US" dirty="0"/>
              <a:t>This also uses Big O notation to categorize the space requirements.</a:t>
            </a:r>
          </a:p>
          <a:p>
            <a:pPr marL="0" indent="0">
              <a:buNone/>
            </a:pPr>
            <a:r>
              <a:rPr lang="en-US" b="1" dirty="0"/>
              <a:t>Example: </a:t>
            </a:r>
            <a:r>
              <a:rPr lang="en-US" dirty="0"/>
              <a:t>algorithm analysis for finding simple interest of a value.</a:t>
            </a:r>
          </a:p>
          <a:p>
            <a:pPr marL="0" indent="0">
              <a:buNone/>
            </a:pPr>
            <a:r>
              <a:rPr lang="en-US" b="1" dirty="0"/>
              <a:t>Inputs:</a:t>
            </a:r>
            <a:endParaRPr lang="en-US" dirty="0"/>
          </a:p>
          <a:p>
            <a:r>
              <a:rPr lang="en-US" dirty="0"/>
              <a:t>Principal amount (P)</a:t>
            </a:r>
          </a:p>
          <a:p>
            <a:r>
              <a:rPr lang="en-US" dirty="0"/>
              <a:t>Time period (T)</a:t>
            </a:r>
          </a:p>
          <a:p>
            <a:r>
              <a:rPr lang="en-US" dirty="0"/>
              <a:t>Interest rate (R)</a:t>
            </a:r>
          </a:p>
          <a:p>
            <a:pPr marL="0" indent="0">
              <a:buNone/>
            </a:pPr>
            <a:r>
              <a:rPr lang="en-US" b="1" dirty="0"/>
              <a:t>Operations:</a:t>
            </a:r>
            <a:endParaRPr lang="en-US" dirty="0"/>
          </a:p>
          <a:p>
            <a:r>
              <a:rPr lang="en-US" b="1" dirty="0"/>
              <a:t>Basic arithmetic operations:</a:t>
            </a:r>
            <a:endParaRPr lang="en-US" dirty="0"/>
          </a:p>
          <a:p>
            <a:pPr lvl="1"/>
            <a:r>
              <a:rPr lang="en-US" dirty="0"/>
              <a:t>Multiplication (P x R x T)</a:t>
            </a:r>
          </a:p>
          <a:p>
            <a:pPr lvl="1"/>
            <a:r>
              <a:rPr lang="en-US" dirty="0"/>
              <a:t>Division (by 100 to convert percentage rate to decimal)</a:t>
            </a:r>
          </a:p>
          <a:p>
            <a:r>
              <a:rPr lang="en-US" b="1" dirty="0"/>
              <a:t>Variable assignment:</a:t>
            </a:r>
            <a:r>
              <a:rPr lang="en-US" dirty="0"/>
              <a:t> Assigning the calculated simple interest to a variable.</a:t>
            </a:r>
          </a:p>
          <a:p>
            <a:pPr marL="0" indent="0">
              <a:buNone/>
            </a:pPr>
            <a:endParaRPr lang="en-US" b="1" dirty="0"/>
          </a:p>
          <a:p>
            <a:pPr marL="0" indent="0">
              <a:buNone/>
            </a:pPr>
            <a:endParaRPr lang="en-US" b="1" dirty="0"/>
          </a:p>
          <a:p>
            <a:pPr marL="0" indent="0">
              <a:buNone/>
            </a:pPr>
            <a:endParaRPr lang="en-US" b="1" dirty="0"/>
          </a:p>
          <a:p>
            <a:endParaRPr lang="en-US" dirty="0"/>
          </a:p>
          <a:p>
            <a:endParaRPr lang="en-US" b="1" dirty="0"/>
          </a:p>
          <a:p>
            <a:endParaRPr lang="en-US" b="1" dirty="0"/>
          </a:p>
          <a:p>
            <a:endParaRPr lang="en-US" dirty="0"/>
          </a:p>
        </p:txBody>
      </p:sp>
    </p:spTree>
    <p:extLst>
      <p:ext uri="{BB962C8B-B14F-4D97-AF65-F5344CB8AC3E}">
        <p14:creationId xmlns:p14="http://schemas.microsoft.com/office/powerpoint/2010/main" val="34811227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93A9AB-3C6B-4A78-8D9E-C5544B6D5FFB}"/>
              </a:ext>
            </a:extLst>
          </p:cNvPr>
          <p:cNvSpPr>
            <a:spLocks noGrp="1"/>
          </p:cNvSpPr>
          <p:nvPr>
            <p:ph idx="1"/>
          </p:nvPr>
        </p:nvSpPr>
        <p:spPr>
          <a:xfrm>
            <a:off x="838200" y="146756"/>
            <a:ext cx="10515600" cy="6581422"/>
          </a:xfrm>
        </p:spPr>
        <p:txBody>
          <a:bodyPr>
            <a:normAutofit fontScale="92500" lnSpcReduction="10000"/>
          </a:bodyPr>
          <a:lstStyle/>
          <a:p>
            <a:pPr marL="0" indent="0">
              <a:buNone/>
            </a:pPr>
            <a:r>
              <a:rPr lang="en-US" sz="3200" b="1" dirty="0"/>
              <a:t>Analysis:</a:t>
            </a:r>
            <a:endParaRPr lang="en-US" sz="3200" dirty="0"/>
          </a:p>
          <a:p>
            <a:r>
              <a:rPr lang="en-US" sz="3200" b="1" dirty="0"/>
              <a:t>Time Complexity:</a:t>
            </a:r>
            <a:endParaRPr lang="en-US" sz="3200" dirty="0"/>
          </a:p>
          <a:p>
            <a:pPr lvl="1"/>
            <a:r>
              <a:rPr lang="en-US" sz="3200" dirty="0"/>
              <a:t>The algorithm involves a constant number of basic arithmetic operations regardless of the input values (P, T, R).</a:t>
            </a:r>
          </a:p>
          <a:p>
            <a:pPr lvl="1"/>
            <a:r>
              <a:rPr lang="en-US" sz="3200" dirty="0"/>
              <a:t>Therefore, the time complexity of this algorithm is O(1), which signifies constant time. </a:t>
            </a:r>
          </a:p>
          <a:p>
            <a:pPr lvl="1"/>
            <a:r>
              <a:rPr lang="en-US" sz="3200" dirty="0"/>
              <a:t>This means the execution time remains the same irrespective of the size of the input values.</a:t>
            </a:r>
          </a:p>
          <a:p>
            <a:r>
              <a:rPr lang="en-US" sz="3200" b="1" dirty="0"/>
              <a:t>Space Complexity:</a:t>
            </a:r>
            <a:endParaRPr lang="en-US" sz="3200" dirty="0"/>
          </a:p>
          <a:p>
            <a:r>
              <a:rPr lang="en-US" sz="3200" dirty="0"/>
              <a:t>The algorithm only uses a fixed amount of space to store the input values (P, T, R) and the calculated simple interest. </a:t>
            </a:r>
          </a:p>
          <a:p>
            <a:r>
              <a:rPr lang="en-US" sz="3200" dirty="0"/>
              <a:t>This space requirement remains constant and doesn't depend on the input size.</a:t>
            </a:r>
          </a:p>
          <a:p>
            <a:r>
              <a:rPr lang="en-US" sz="3200" dirty="0"/>
              <a:t>Hence, the space complexity is also O(1).</a:t>
            </a:r>
          </a:p>
          <a:p>
            <a:pPr lvl="1"/>
            <a:endParaRPr lang="en-US" dirty="0"/>
          </a:p>
          <a:p>
            <a:endParaRPr lang="en-US" dirty="0"/>
          </a:p>
        </p:txBody>
      </p:sp>
    </p:spTree>
    <p:extLst>
      <p:ext uri="{BB962C8B-B14F-4D97-AF65-F5344CB8AC3E}">
        <p14:creationId xmlns:p14="http://schemas.microsoft.com/office/powerpoint/2010/main" val="110390017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5CF695-A338-4AA0-ABD7-B8E1D1EE6391}"/>
              </a:ext>
            </a:extLst>
          </p:cNvPr>
          <p:cNvSpPr>
            <a:spLocks noGrp="1"/>
          </p:cNvSpPr>
          <p:nvPr>
            <p:ph idx="1"/>
          </p:nvPr>
        </p:nvSpPr>
        <p:spPr>
          <a:xfrm>
            <a:off x="838200" y="158044"/>
            <a:ext cx="10515600" cy="6536267"/>
          </a:xfrm>
        </p:spPr>
        <p:txBody>
          <a:bodyPr/>
          <a:lstStyle/>
          <a:p>
            <a:r>
              <a:rPr lang="en-US" b="1" dirty="0"/>
              <a:t>Conclusion:</a:t>
            </a:r>
          </a:p>
          <a:p>
            <a:r>
              <a:rPr lang="en-US" dirty="0"/>
              <a:t>The algorithm for finding simple interest is very efficient in terms of both time and space complexity. </a:t>
            </a:r>
          </a:p>
          <a:p>
            <a:r>
              <a:rPr lang="en-US" dirty="0"/>
              <a:t>It has a constant time complexity (O(1)) because the number of operations it performs is independent of the input size. </a:t>
            </a:r>
          </a:p>
          <a:p>
            <a:r>
              <a:rPr lang="en-US" dirty="0"/>
              <a:t>Similarly, the space complexity is O(1) because it only uses a fixed amount of extra space regardless of the input values.</a:t>
            </a:r>
          </a:p>
          <a:p>
            <a:endParaRPr lang="en-US" dirty="0"/>
          </a:p>
        </p:txBody>
      </p:sp>
    </p:spTree>
    <p:extLst>
      <p:ext uri="{BB962C8B-B14F-4D97-AF65-F5344CB8AC3E}">
        <p14:creationId xmlns:p14="http://schemas.microsoft.com/office/powerpoint/2010/main" val="6502938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4C147-A723-4D8C-8670-A28AA7C894FD}"/>
              </a:ext>
            </a:extLst>
          </p:cNvPr>
          <p:cNvSpPr>
            <a:spLocks noGrp="1"/>
          </p:cNvSpPr>
          <p:nvPr>
            <p:ph type="title"/>
          </p:nvPr>
        </p:nvSpPr>
        <p:spPr>
          <a:xfrm>
            <a:off x="838200" y="237067"/>
            <a:ext cx="10515600" cy="778933"/>
          </a:xfrm>
        </p:spPr>
        <p:txBody>
          <a:bodyPr>
            <a:noAutofit/>
          </a:bodyPr>
          <a:lstStyle/>
          <a:p>
            <a:r>
              <a:rPr lang="en-US" sz="3200" dirty="0"/>
              <a:t>H/w: analyze a simple algorithm for finding the minimum value in an unsorted array. </a:t>
            </a:r>
          </a:p>
        </p:txBody>
      </p:sp>
      <p:sp>
        <p:nvSpPr>
          <p:cNvPr id="3" name="Content Placeholder 2">
            <a:extLst>
              <a:ext uri="{FF2B5EF4-FFF2-40B4-BE49-F238E27FC236}">
                <a16:creationId xmlns:a16="http://schemas.microsoft.com/office/drawing/2014/main" id="{807B1858-E4A3-4526-AC09-B176459F51DE}"/>
              </a:ext>
            </a:extLst>
          </p:cNvPr>
          <p:cNvSpPr>
            <a:spLocks noGrp="1"/>
          </p:cNvSpPr>
          <p:nvPr>
            <p:ph idx="1"/>
          </p:nvPr>
        </p:nvSpPr>
        <p:spPr>
          <a:xfrm>
            <a:off x="838200" y="1016000"/>
            <a:ext cx="10515600" cy="5734756"/>
          </a:xfrm>
        </p:spPr>
        <p:txBody>
          <a:bodyPr>
            <a:normAutofit fontScale="92500"/>
          </a:bodyPr>
          <a:lstStyle/>
          <a:p>
            <a:r>
              <a:rPr lang="en-US" b="1" dirty="0"/>
              <a:t>Inputs and Operations:</a:t>
            </a:r>
            <a:endParaRPr lang="en-US" dirty="0"/>
          </a:p>
          <a:p>
            <a:r>
              <a:rPr lang="en-US" dirty="0"/>
              <a:t>Input: An unsorted array of numbers.</a:t>
            </a:r>
          </a:p>
          <a:p>
            <a:r>
              <a:rPr lang="en-US" dirty="0"/>
              <a:t>Operations: </a:t>
            </a:r>
          </a:p>
          <a:p>
            <a:pPr lvl="1"/>
            <a:r>
              <a:rPr lang="en-US" dirty="0"/>
              <a:t>Initialization (assigning the first element to min)</a:t>
            </a:r>
          </a:p>
          <a:p>
            <a:pPr lvl="1"/>
            <a:r>
              <a:rPr lang="en-US" dirty="0"/>
              <a:t>Loop (iterates through the array) </a:t>
            </a:r>
          </a:p>
          <a:p>
            <a:pPr lvl="2"/>
            <a:r>
              <a:rPr lang="en-US" dirty="0"/>
              <a:t>Comparison (compares current element with min)</a:t>
            </a:r>
          </a:p>
          <a:p>
            <a:pPr lvl="2"/>
            <a:r>
              <a:rPr lang="en-US" dirty="0"/>
              <a:t>Assignment (updates min if a smaller element is found)</a:t>
            </a:r>
          </a:p>
          <a:p>
            <a:r>
              <a:rPr lang="en-US" b="1" dirty="0"/>
              <a:t>Time Complexity:</a:t>
            </a:r>
          </a:p>
          <a:p>
            <a:r>
              <a:rPr lang="en-US" dirty="0"/>
              <a:t>The loop iterates through the entire array (length(array) times)</a:t>
            </a:r>
          </a:p>
          <a:p>
            <a:r>
              <a:rPr lang="en-US" dirty="0"/>
              <a:t>Inside the loop, there's one comparison and potentially one assignment.</a:t>
            </a:r>
          </a:p>
          <a:p>
            <a:r>
              <a:rPr lang="en-US" dirty="0"/>
              <a:t>Since the number of comparisons and assignments directly depends on the number of elements in the array (n), the time complexity is O(n). This means the execution time grows linearly with the size of the input.</a:t>
            </a:r>
          </a:p>
        </p:txBody>
      </p:sp>
    </p:spTree>
    <p:extLst>
      <p:ext uri="{BB962C8B-B14F-4D97-AF65-F5344CB8AC3E}">
        <p14:creationId xmlns:p14="http://schemas.microsoft.com/office/powerpoint/2010/main" val="271985417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AA3E76-F85D-4D62-8F36-E242A5BB55CF}"/>
              </a:ext>
            </a:extLst>
          </p:cNvPr>
          <p:cNvSpPr>
            <a:spLocks noGrp="1"/>
          </p:cNvSpPr>
          <p:nvPr>
            <p:ph idx="1"/>
          </p:nvPr>
        </p:nvSpPr>
        <p:spPr>
          <a:xfrm>
            <a:off x="838200" y="191911"/>
            <a:ext cx="10515600" cy="5985052"/>
          </a:xfrm>
        </p:spPr>
        <p:txBody>
          <a:bodyPr/>
          <a:lstStyle/>
          <a:p>
            <a:r>
              <a:rPr lang="en-US" b="1" dirty="0"/>
              <a:t>Space Complexity:</a:t>
            </a:r>
          </a:p>
          <a:p>
            <a:r>
              <a:rPr lang="en-US" dirty="0"/>
              <a:t>The algorithm only uses a constant amount of extra space for variables like min and loop counter </a:t>
            </a:r>
            <a:r>
              <a:rPr lang="en-US" dirty="0" err="1"/>
              <a:t>i</a:t>
            </a:r>
            <a:r>
              <a:rPr lang="en-US" dirty="0"/>
              <a:t>.</a:t>
            </a:r>
          </a:p>
          <a:p>
            <a:r>
              <a:rPr lang="en-US" dirty="0"/>
              <a:t>The space used doesn't depend on the size of the input array.</a:t>
            </a:r>
          </a:p>
          <a:p>
            <a:r>
              <a:rPr lang="en-US" dirty="0"/>
              <a:t>Therefore, the space complexity is O(1).</a:t>
            </a:r>
          </a:p>
          <a:p>
            <a:r>
              <a:rPr lang="en-US" dirty="0"/>
              <a:t>Conclusion:</a:t>
            </a:r>
          </a:p>
          <a:p>
            <a:r>
              <a:rPr lang="en-US" dirty="0"/>
              <a:t>This analysis shows that the find Minimum algorithm has a linear time complexity (O(n)) and a constant space complexity (O(1)). This means it's efficient for small and medium-sized arrays, but for very large arrays, other algorithms with lower time complexity might be preferable.</a:t>
            </a:r>
          </a:p>
        </p:txBody>
      </p:sp>
    </p:spTree>
    <p:extLst>
      <p:ext uri="{BB962C8B-B14F-4D97-AF65-F5344CB8AC3E}">
        <p14:creationId xmlns:p14="http://schemas.microsoft.com/office/powerpoint/2010/main" val="2356272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C2D0BB-B0BB-4426-978B-92160325E1CE}"/>
              </a:ext>
            </a:extLst>
          </p:cNvPr>
          <p:cNvSpPr>
            <a:spLocks noGrp="1"/>
          </p:cNvSpPr>
          <p:nvPr>
            <p:ph idx="1"/>
          </p:nvPr>
        </p:nvSpPr>
        <p:spPr>
          <a:xfrm>
            <a:off x="838200" y="169332"/>
            <a:ext cx="10515600" cy="6558845"/>
          </a:xfrm>
        </p:spPr>
        <p:txBody>
          <a:bodyPr>
            <a:normAutofit/>
          </a:bodyPr>
          <a:lstStyle/>
          <a:p>
            <a:pPr>
              <a:buFont typeface="Wingdings" panose="05000000000000000000" pitchFamily="2" charset="2"/>
              <a:buChar char="Ø"/>
            </a:pPr>
            <a:r>
              <a:rPr lang="en-US" sz="4000" dirty="0"/>
              <a:t>Common algorithms used in data manipulation:</a:t>
            </a:r>
          </a:p>
          <a:p>
            <a:pPr marL="0" indent="0">
              <a:buNone/>
            </a:pPr>
            <a:r>
              <a:rPr lang="en-US" sz="3600" b="1" dirty="0"/>
              <a:t>C4.5 Algorithm:</a:t>
            </a:r>
          </a:p>
          <a:p>
            <a:r>
              <a:rPr lang="en-US" sz="3600" dirty="0"/>
              <a:t>C4.5 is one of the top data mining algorithms and was developed by Ross Quinlan. </a:t>
            </a:r>
          </a:p>
          <a:p>
            <a:r>
              <a:rPr lang="en-US" sz="3600" dirty="0"/>
              <a:t>C4.5 is used to generate a classifier in the form of a decision tree from a set of data that has already been classified. </a:t>
            </a:r>
          </a:p>
          <a:p>
            <a:r>
              <a:rPr lang="en-US" sz="3600" dirty="0"/>
              <a:t>Classifier here refers to a data mining tool that takes data that we need to classify and tries to predict the class of new data. </a:t>
            </a:r>
          </a:p>
          <a:p>
            <a:pPr marL="0" indent="0">
              <a:buNone/>
            </a:pPr>
            <a:endParaRPr lang="en-US" sz="3600" dirty="0"/>
          </a:p>
          <a:p>
            <a:endParaRPr lang="en-US" dirty="0"/>
          </a:p>
        </p:txBody>
      </p:sp>
    </p:spTree>
    <p:extLst>
      <p:ext uri="{BB962C8B-B14F-4D97-AF65-F5344CB8AC3E}">
        <p14:creationId xmlns:p14="http://schemas.microsoft.com/office/powerpoint/2010/main" val="4069471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130AA1-D809-41A8-AC05-441EC28C1EBD}"/>
              </a:ext>
            </a:extLst>
          </p:cNvPr>
          <p:cNvSpPr>
            <a:spLocks noGrp="1"/>
          </p:cNvSpPr>
          <p:nvPr>
            <p:ph idx="1"/>
          </p:nvPr>
        </p:nvSpPr>
        <p:spPr>
          <a:xfrm>
            <a:off x="838200" y="169332"/>
            <a:ext cx="10515600" cy="6479823"/>
          </a:xfrm>
        </p:spPr>
        <p:txBody>
          <a:bodyPr/>
          <a:lstStyle/>
          <a:p>
            <a:pPr marL="0" indent="0">
              <a:buNone/>
            </a:pPr>
            <a:r>
              <a:rPr lang="en-US" sz="3600" b="1" dirty="0"/>
              <a:t>K-mean Algorithm:</a:t>
            </a:r>
          </a:p>
          <a:p>
            <a:r>
              <a:rPr lang="en-US" sz="3600" dirty="0"/>
              <a:t>One of the most common clustering algorithms, k-means works by creating a k number of groups from a set of objects based on the similarity between objects. </a:t>
            </a:r>
          </a:p>
          <a:p>
            <a:r>
              <a:rPr lang="en-US" sz="3600" dirty="0"/>
              <a:t>It may not be guaranteed that group members will be exactly similar, but group members will be more similar as compared to non-group members.</a:t>
            </a:r>
          </a:p>
          <a:p>
            <a:r>
              <a:rPr lang="en-US" sz="3600" dirty="0"/>
              <a:t>As per standard implementations, k-means is an unsupervised learning algorithm as it learns the cluster on its own without any external information. </a:t>
            </a:r>
          </a:p>
          <a:p>
            <a:pPr marL="0" indent="0">
              <a:buNone/>
            </a:pPr>
            <a:endParaRPr lang="en-US" dirty="0"/>
          </a:p>
        </p:txBody>
      </p:sp>
    </p:spTree>
    <p:extLst>
      <p:ext uri="{BB962C8B-B14F-4D97-AF65-F5344CB8AC3E}">
        <p14:creationId xmlns:p14="http://schemas.microsoft.com/office/powerpoint/2010/main" val="372945184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AFA1920-FA5E-4E9A-BC90-C0023784712C}"/>
              </a:ext>
            </a:extLst>
          </p:cNvPr>
          <p:cNvSpPr>
            <a:spLocks noGrp="1"/>
          </p:cNvSpPr>
          <p:nvPr>
            <p:ph idx="1"/>
          </p:nvPr>
        </p:nvSpPr>
        <p:spPr>
          <a:xfrm>
            <a:off x="838200" y="180622"/>
            <a:ext cx="10515600" cy="6677378"/>
          </a:xfrm>
        </p:spPr>
        <p:txBody>
          <a:bodyPr/>
          <a:lstStyle/>
          <a:p>
            <a:pPr marL="0" indent="0">
              <a:buNone/>
            </a:pPr>
            <a:r>
              <a:rPr lang="en-US" sz="3600" b="1" dirty="0"/>
              <a:t>Support Vector Machines:</a:t>
            </a:r>
          </a:p>
          <a:p>
            <a:r>
              <a:rPr lang="en-US" sz="3600" dirty="0"/>
              <a:t>In terms of tasks, Support vector machine (SVM) works similar to C4.5 algorithm except that SVM doesn’t use any decision trees at all.</a:t>
            </a:r>
          </a:p>
          <a:p>
            <a:r>
              <a:rPr lang="en-US" sz="3600" dirty="0"/>
              <a:t> SVM learns the datasets and defines a hyperplane to classify data into two classes. </a:t>
            </a:r>
          </a:p>
          <a:p>
            <a:r>
              <a:rPr lang="en-US" sz="3600" dirty="0"/>
              <a:t>A hyperplane is an equation for a line that looks something like “</a:t>
            </a:r>
            <a:r>
              <a:rPr lang="en-US" sz="3600" i="1" dirty="0"/>
              <a:t>y = mx + b”. </a:t>
            </a:r>
          </a:p>
          <a:p>
            <a:r>
              <a:rPr lang="en-US" sz="3600" dirty="0"/>
              <a:t>SVM exaggerates to project your data to higher dimensions. </a:t>
            </a:r>
          </a:p>
          <a:p>
            <a:r>
              <a:rPr lang="en-US" sz="3600" dirty="0"/>
              <a:t>Once projected, SVM defined the best hyperplane to separate the data into the two classes.</a:t>
            </a:r>
          </a:p>
          <a:p>
            <a:pPr marL="0" indent="0">
              <a:buNone/>
            </a:pPr>
            <a:endParaRPr lang="en-US" dirty="0"/>
          </a:p>
        </p:txBody>
      </p:sp>
    </p:spTree>
    <p:extLst>
      <p:ext uri="{BB962C8B-B14F-4D97-AF65-F5344CB8AC3E}">
        <p14:creationId xmlns:p14="http://schemas.microsoft.com/office/powerpoint/2010/main" val="17607166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5C34FA8-E600-4EE1-B9C2-A6BD2E7B9796}"/>
              </a:ext>
            </a:extLst>
          </p:cNvPr>
          <p:cNvSpPr>
            <a:spLocks noGrp="1"/>
          </p:cNvSpPr>
          <p:nvPr>
            <p:ph idx="1"/>
          </p:nvPr>
        </p:nvSpPr>
        <p:spPr>
          <a:xfrm>
            <a:off x="838200" y="135466"/>
            <a:ext cx="10515600" cy="6626577"/>
          </a:xfrm>
        </p:spPr>
        <p:txBody>
          <a:bodyPr>
            <a:normAutofit lnSpcReduction="10000"/>
          </a:bodyPr>
          <a:lstStyle/>
          <a:p>
            <a:pPr marL="0" indent="0">
              <a:buNone/>
            </a:pPr>
            <a:r>
              <a:rPr lang="en-US" sz="3600" b="1" dirty="0"/>
              <a:t>Apriori Algorithm:</a:t>
            </a:r>
          </a:p>
          <a:p>
            <a:r>
              <a:rPr lang="en-US" sz="3600" dirty="0"/>
              <a:t>Apriori algorithm works by learning association rules. </a:t>
            </a:r>
          </a:p>
          <a:p>
            <a:r>
              <a:rPr lang="en-US" sz="3600" dirty="0"/>
              <a:t>Association rules are a data mining technique that is used for learning correlations between variables in a database. </a:t>
            </a:r>
          </a:p>
          <a:p>
            <a:r>
              <a:rPr lang="en-US" sz="3600" dirty="0"/>
              <a:t>Once the association rules are learned, it is applied to a database containing a large number of transactions. </a:t>
            </a:r>
          </a:p>
          <a:p>
            <a:r>
              <a:rPr lang="en-US" sz="3600" dirty="0"/>
              <a:t>Apriori algorithm is used for discovering interesting patterns and mutual relationships and hence is treated as an unsupervised learning approach. </a:t>
            </a:r>
          </a:p>
          <a:p>
            <a:r>
              <a:rPr lang="en-US" sz="3600" dirty="0"/>
              <a:t>Thought the algorithm is highly efficient, it consumes a lot of memory, utilizes a lot of disk space and takes a lot of time. </a:t>
            </a:r>
          </a:p>
          <a:p>
            <a:pPr marL="0" indent="0">
              <a:buNone/>
            </a:pPr>
            <a:endParaRPr lang="en-US" dirty="0"/>
          </a:p>
        </p:txBody>
      </p:sp>
    </p:spTree>
    <p:extLst>
      <p:ext uri="{BB962C8B-B14F-4D97-AF65-F5344CB8AC3E}">
        <p14:creationId xmlns:p14="http://schemas.microsoft.com/office/powerpoint/2010/main" val="494215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246349-6864-43B1-B763-6E6C78B1EAA4}"/>
              </a:ext>
            </a:extLst>
          </p:cNvPr>
          <p:cNvSpPr>
            <a:spLocks noGrp="1"/>
          </p:cNvSpPr>
          <p:nvPr>
            <p:ph idx="1"/>
          </p:nvPr>
        </p:nvSpPr>
        <p:spPr>
          <a:xfrm>
            <a:off x="838200" y="158044"/>
            <a:ext cx="10515600" cy="6592712"/>
          </a:xfrm>
        </p:spPr>
        <p:txBody>
          <a:bodyPr/>
          <a:lstStyle/>
          <a:p>
            <a:pPr marL="0" indent="0">
              <a:buNone/>
            </a:pPr>
            <a:r>
              <a:rPr lang="en-US" sz="3600" b="1" dirty="0"/>
              <a:t>PageRank Algorithm:</a:t>
            </a:r>
          </a:p>
          <a:p>
            <a:r>
              <a:rPr lang="en-US" sz="3600" dirty="0"/>
              <a:t>PageRank is commonly used by search engines like Google. </a:t>
            </a:r>
          </a:p>
          <a:p>
            <a:r>
              <a:rPr lang="en-US" sz="3600" dirty="0"/>
              <a:t>It is a link analysis algorithm that determines the relative importance of an object linked within a network of objects.</a:t>
            </a:r>
          </a:p>
          <a:p>
            <a:r>
              <a:rPr lang="en-US" sz="3600" dirty="0"/>
              <a:t>Link analysis is a type of network analysis that explores the associations among objects.</a:t>
            </a:r>
          </a:p>
          <a:p>
            <a:r>
              <a:rPr lang="en-US" sz="3600" dirty="0"/>
              <a:t>Google search uses this algorithm by understanding the backlinks between web pages. </a:t>
            </a:r>
          </a:p>
          <a:p>
            <a:pPr marL="0" indent="0">
              <a:buNone/>
            </a:pPr>
            <a:endParaRPr lang="en-US" dirty="0"/>
          </a:p>
        </p:txBody>
      </p:sp>
    </p:spTree>
    <p:extLst>
      <p:ext uri="{BB962C8B-B14F-4D97-AF65-F5344CB8AC3E}">
        <p14:creationId xmlns:p14="http://schemas.microsoft.com/office/powerpoint/2010/main" val="32074560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D560F0F-6E9A-4507-8F74-ABCB628F1E92}"/>
              </a:ext>
            </a:extLst>
          </p:cNvPr>
          <p:cNvSpPr>
            <a:spLocks noGrp="1"/>
          </p:cNvSpPr>
          <p:nvPr>
            <p:ph idx="1"/>
          </p:nvPr>
        </p:nvSpPr>
        <p:spPr>
          <a:xfrm>
            <a:off x="838200" y="135467"/>
            <a:ext cx="10515600" cy="6536266"/>
          </a:xfrm>
        </p:spPr>
        <p:txBody>
          <a:bodyPr>
            <a:normAutofit lnSpcReduction="10000"/>
          </a:bodyPr>
          <a:lstStyle/>
          <a:p>
            <a:pPr marL="0" indent="0">
              <a:buNone/>
            </a:pPr>
            <a:r>
              <a:rPr lang="en-US" b="1" dirty="0"/>
              <a:t>Adaboost Algorithm:</a:t>
            </a:r>
          </a:p>
          <a:p>
            <a:r>
              <a:rPr lang="en-US" dirty="0"/>
              <a:t>AdaBoost is a boosting algorithm used to construct a classifier. A classifier is a data mining tool that takes data predicts the class of the data based on inputs. </a:t>
            </a:r>
          </a:p>
          <a:p>
            <a:r>
              <a:rPr lang="en-US" dirty="0"/>
              <a:t>Boosting algorithm is an ensemble learning algorithm which runs multiple learning algorithms and combines them.</a:t>
            </a:r>
          </a:p>
          <a:p>
            <a:r>
              <a:rPr lang="en-US" dirty="0"/>
              <a:t>Boosting algorithms take a group of weak learners and combine them to make a single strong learner. </a:t>
            </a:r>
          </a:p>
          <a:p>
            <a:r>
              <a:rPr lang="en-US" dirty="0"/>
              <a:t>A weak learner classifies data with less accuracy. </a:t>
            </a:r>
          </a:p>
          <a:p>
            <a:r>
              <a:rPr lang="en-US"/>
              <a:t>The </a:t>
            </a:r>
            <a:r>
              <a:rPr lang="en-US" dirty="0"/>
              <a:t>best example of a weak algorithm is the decision stump algorithm which is basically a one-step decision </a:t>
            </a:r>
            <a:r>
              <a:rPr lang="en-US"/>
              <a:t>tree.</a:t>
            </a:r>
          </a:p>
          <a:p>
            <a:r>
              <a:rPr lang="en-US"/>
              <a:t> </a:t>
            </a:r>
            <a:r>
              <a:rPr lang="en-US" dirty="0"/>
              <a:t>Adaboost is perfect supervised learning as it works in iterations and in each iteration, it trains the weaker learners with the labelled dataset. Adaboost is a simple and pretty straightforward algorithm to implement. </a:t>
            </a:r>
          </a:p>
          <a:p>
            <a:pPr marL="0" indent="0">
              <a:buNone/>
            </a:pPr>
            <a:endParaRPr lang="en-US" dirty="0"/>
          </a:p>
        </p:txBody>
      </p:sp>
    </p:spTree>
    <p:extLst>
      <p:ext uri="{BB962C8B-B14F-4D97-AF65-F5344CB8AC3E}">
        <p14:creationId xmlns:p14="http://schemas.microsoft.com/office/powerpoint/2010/main" val="42245212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588</TotalTime>
  <Words>3509</Words>
  <Application>Microsoft Office PowerPoint</Application>
  <PresentationFormat>Widescreen</PresentationFormat>
  <Paragraphs>271</Paragraphs>
  <Slides>43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Algorithm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the algorithm analysis is done?</vt:lpstr>
      <vt:lpstr>PowerPoint Presentation</vt:lpstr>
      <vt:lpstr>PowerPoint Presentation</vt:lpstr>
      <vt:lpstr>PowerPoint Presentation</vt:lpstr>
      <vt:lpstr>PowerPoint Presentation</vt:lpstr>
      <vt:lpstr>H/w: analyze a simple algorithm for finding the minimum value in an unsorted array.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BETTY</dc:creator>
  <cp:lastModifiedBy>Betty Singano</cp:lastModifiedBy>
  <cp:revision>65</cp:revision>
  <dcterms:created xsi:type="dcterms:W3CDTF">2023-03-19T17:47:03Z</dcterms:created>
  <dcterms:modified xsi:type="dcterms:W3CDTF">2024-04-03T01:05:45Z</dcterms:modified>
</cp:coreProperties>
</file>