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9" r:id="rId4"/>
    <p:sldId id="270" r:id="rId5"/>
    <p:sldId id="268" r:id="rId6"/>
    <p:sldId id="260" r:id="rId7"/>
    <p:sldId id="266" r:id="rId8"/>
    <p:sldId id="271" r:id="rId9"/>
    <p:sldId id="261" r:id="rId10"/>
    <p:sldId id="262" r:id="rId11"/>
    <p:sldId id="263" r:id="rId12"/>
    <p:sldId id="272" r:id="rId13"/>
    <p:sldId id="273" r:id="rId14"/>
    <p:sldId id="274" r:id="rId15"/>
    <p:sldId id="275" r:id="rId16"/>
    <p:sldId id="264" r:id="rId17"/>
    <p:sldId id="26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9" r:id="rId30"/>
    <p:sldId id="287" r:id="rId31"/>
    <p:sldId id="288" r:id="rId32"/>
    <p:sldId id="259" r:id="rId33"/>
    <p:sldId id="290" r:id="rId34"/>
    <p:sldId id="318" r:id="rId35"/>
    <p:sldId id="31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8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1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8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4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5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9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1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81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6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8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4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2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0B82-672B-4B9E-8163-CA129391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018919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/>
              <a:t>MODULE CODE: ET 8208</a:t>
            </a:r>
          </a:p>
          <a:p>
            <a:pPr marL="0" indent="0" algn="ctr">
              <a:buNone/>
            </a:pPr>
            <a:r>
              <a:rPr lang="en-US" sz="4000" b="1" dirty="0"/>
              <a:t>MODULE NAME: DATA STRUCTURE AND ALGORITHMS ANALYSIS</a:t>
            </a:r>
          </a:p>
          <a:p>
            <a:pPr marL="0" indent="0" algn="ctr">
              <a:buNone/>
            </a:pPr>
            <a:r>
              <a:rPr lang="en-US" sz="4000" b="1" dirty="0"/>
              <a:t>FACILITATOR: BETTY SINGANO</a:t>
            </a:r>
          </a:p>
        </p:txBody>
      </p:sp>
    </p:spTree>
    <p:extLst>
      <p:ext uri="{BB962C8B-B14F-4D97-AF65-F5344CB8AC3E}">
        <p14:creationId xmlns:p14="http://schemas.microsoft.com/office/powerpoint/2010/main" val="51902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00AC3-AB4B-41FD-A85C-20EC689F9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7"/>
            <a:ext cx="10515600" cy="6841066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/>
              <a:t>Introduction to Data Structures</a:t>
            </a:r>
            <a:r>
              <a:rPr lang="en-US" sz="3600" b="1" dirty="0"/>
              <a:t>:</a:t>
            </a:r>
          </a:p>
          <a:p>
            <a:pPr marL="0" indent="0">
              <a:buNone/>
            </a:pPr>
            <a:r>
              <a:rPr lang="en-US" sz="3600" b="1" dirty="0"/>
              <a:t>What is data?</a:t>
            </a:r>
          </a:p>
          <a:p>
            <a:r>
              <a:rPr lang="en-US" sz="3600" b="1" dirty="0"/>
              <a:t>Data</a:t>
            </a:r>
            <a:r>
              <a:rPr lang="en-US" sz="3600" dirty="0"/>
              <a:t> can be defined as a representation of </a:t>
            </a:r>
            <a:r>
              <a:rPr lang="en-US" sz="3600" b="1" dirty="0"/>
              <a:t>facts, concepts, or instructions</a:t>
            </a:r>
            <a:r>
              <a:rPr lang="en-US" sz="3600" dirty="0"/>
              <a:t> in a formalized manner, which should be suitable for communication, interpretation, or processing by human or electronic machine.</a:t>
            </a:r>
          </a:p>
          <a:p>
            <a:r>
              <a:rPr lang="en-US" sz="3600" b="1" dirty="0"/>
              <a:t>Data</a:t>
            </a:r>
            <a:r>
              <a:rPr lang="en-US" sz="3600" dirty="0"/>
              <a:t> can be anything like a number, a name, notes in a musical composition, or the color in a photograph. </a:t>
            </a:r>
          </a:p>
          <a:p>
            <a:r>
              <a:rPr lang="en-US" sz="3600" dirty="0"/>
              <a:t>Data is represented with the help of characters such as alphabets (A-Z, a-z), digits (0-9) or special characters (+,-,/,*,&lt;,&gt;,= etc.)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28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BCB10-BFB6-4DEE-8C3E-3C6DE404A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Data Types:</a:t>
            </a:r>
          </a:p>
          <a:p>
            <a:r>
              <a:rPr lang="en-US" sz="3200" dirty="0"/>
              <a:t>Unlike humans, a computer does not know the difference between "1234" and "abcd."</a:t>
            </a:r>
            <a:endParaRPr lang="en-US" sz="3200" b="1" dirty="0"/>
          </a:p>
          <a:p>
            <a:r>
              <a:rPr lang="en-US" sz="3200" dirty="0"/>
              <a:t>Data types specify the </a:t>
            </a:r>
            <a:r>
              <a:rPr lang="en-US" sz="3200" b="1" dirty="0"/>
              <a:t>different sizes and values </a:t>
            </a:r>
            <a:r>
              <a:rPr lang="en-US" sz="3200" dirty="0"/>
              <a:t>that can be stored in the variable. There are </a:t>
            </a:r>
            <a:r>
              <a:rPr lang="en-US" sz="3200" b="1" dirty="0"/>
              <a:t>two types </a:t>
            </a:r>
            <a:r>
              <a:rPr lang="en-US" sz="3200" dirty="0"/>
              <a:t>of data types:</a:t>
            </a:r>
          </a:p>
          <a:p>
            <a:r>
              <a:rPr lang="en-US" sz="3200" dirty="0"/>
              <a:t> </a:t>
            </a:r>
            <a:r>
              <a:rPr lang="en-US" sz="3200" b="1" dirty="0"/>
              <a:t>Primitive data types:</a:t>
            </a:r>
          </a:p>
          <a:p>
            <a:pPr marL="0" indent="0">
              <a:buNone/>
            </a:pPr>
            <a:r>
              <a:rPr lang="en-US" sz="3200" dirty="0"/>
              <a:t>The primitive data types include boolean, char, byte, short, int, long, float and double. Also called </a:t>
            </a:r>
            <a:r>
              <a:rPr lang="en-US" sz="3200" b="1" dirty="0"/>
              <a:t>built in data </a:t>
            </a:r>
            <a:r>
              <a:rPr lang="en-US" sz="3200" dirty="0"/>
              <a:t>types.</a:t>
            </a:r>
          </a:p>
          <a:p>
            <a:r>
              <a:rPr lang="en-US" sz="3200" b="1" dirty="0"/>
              <a:t>Non-primitive data types: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dirty="0"/>
              <a:t>The non-primitive data types include strings, classes, interfaces, and arrays.</a:t>
            </a:r>
          </a:p>
          <a:p>
            <a:pPr marL="0" indent="0">
              <a:buNone/>
            </a:pPr>
            <a:r>
              <a:rPr lang="en-US" sz="3200" dirty="0"/>
              <a:t>Also called </a:t>
            </a:r>
            <a:r>
              <a:rPr lang="en-US" sz="3200" b="1" dirty="0"/>
              <a:t>user defined </a:t>
            </a:r>
            <a:r>
              <a:rPr lang="en-US" sz="3200" dirty="0"/>
              <a:t>data types.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2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376224-7883-492C-853C-AC7FBF951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44" y="169333"/>
            <a:ext cx="10351912" cy="6524977"/>
          </a:xfrm>
        </p:spPr>
      </p:pic>
    </p:spTree>
    <p:extLst>
      <p:ext uri="{BB962C8B-B14F-4D97-AF65-F5344CB8AC3E}">
        <p14:creationId xmlns:p14="http://schemas.microsoft.com/office/powerpoint/2010/main" val="269820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150E-76A9-4BC9-B57F-67655EAB4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A data type</a:t>
            </a:r>
            <a:r>
              <a:rPr lang="en-US" sz="3200" dirty="0"/>
              <a:t>, in programming, is a </a:t>
            </a:r>
            <a:r>
              <a:rPr lang="en-US" sz="3200" b="1" dirty="0"/>
              <a:t>classification that specifies </a:t>
            </a:r>
            <a:r>
              <a:rPr lang="en-US" sz="3200" dirty="0"/>
              <a:t>which </a:t>
            </a:r>
            <a:r>
              <a:rPr lang="en-US" sz="3200" b="1" dirty="0"/>
              <a:t>type of value a variable has </a:t>
            </a:r>
            <a:r>
              <a:rPr lang="en-US" sz="3200" dirty="0"/>
              <a:t>and what </a:t>
            </a:r>
            <a:r>
              <a:rPr lang="en-US" sz="3200" b="1" dirty="0"/>
              <a:t>type of mathematical, relational or logical operations can be applied to it without causing an error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It is a </a:t>
            </a:r>
            <a:r>
              <a:rPr lang="en-US" sz="3200" b="1" dirty="0"/>
              <a:t>classification</a:t>
            </a:r>
            <a:r>
              <a:rPr lang="en-US" sz="3200" dirty="0"/>
              <a:t> that </a:t>
            </a:r>
            <a:r>
              <a:rPr lang="en-US" sz="3200" b="1" dirty="0"/>
              <a:t>dictates what a variable </a:t>
            </a:r>
            <a:r>
              <a:rPr lang="en-US" sz="3200" dirty="0"/>
              <a:t>or </a:t>
            </a:r>
            <a:r>
              <a:rPr lang="en-US" sz="3200" b="1" dirty="0"/>
              <a:t>object can hold </a:t>
            </a:r>
            <a:r>
              <a:rPr lang="en-US" sz="3200" dirty="0"/>
              <a:t>in computer programming.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For example </a:t>
            </a:r>
            <a:r>
              <a:rPr lang="en-US" sz="3200" dirty="0"/>
              <a:t>a string,, is a data type that is used to classify text and an integer is a data type used to classify whole numbers.</a:t>
            </a:r>
          </a:p>
          <a:p>
            <a:pPr marL="0" indent="0">
              <a:buNone/>
            </a:pPr>
            <a:r>
              <a:rPr lang="en-US" sz="3200" dirty="0"/>
              <a:t>When programmers create computer applications, both desktop and web-based, </a:t>
            </a:r>
            <a:r>
              <a:rPr lang="en-US" sz="3200" b="1" dirty="0"/>
              <a:t>data types must be referenced </a:t>
            </a:r>
            <a:r>
              <a:rPr lang="en-US" sz="3200" dirty="0"/>
              <a:t>and </a:t>
            </a:r>
            <a:r>
              <a:rPr lang="en-US" sz="3200" b="1" dirty="0"/>
              <a:t>used correctly </a:t>
            </a:r>
            <a:r>
              <a:rPr lang="en-US" sz="3200" dirty="0"/>
              <a:t>to </a:t>
            </a:r>
            <a:r>
              <a:rPr lang="en-US" sz="3200" b="1" dirty="0"/>
              <a:t>ensure the proper result and an error-free program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Understanding the different data types allows programmers to design computer applications more </a:t>
            </a:r>
            <a:r>
              <a:rPr lang="en-US" sz="3200" b="1" dirty="0"/>
              <a:t>efficiently and accurately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50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D7E5E-7F26-48EF-B5CD-AAB9A0EF1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data type defines which operations can safely be performed to create, transform and use the variable in another computation.</a:t>
            </a:r>
          </a:p>
          <a:p>
            <a:pPr marL="0" indent="0">
              <a:buNone/>
            </a:pPr>
            <a:r>
              <a:rPr lang="en-US" sz="3200" dirty="0"/>
              <a:t>When a program language </a:t>
            </a:r>
            <a:r>
              <a:rPr lang="en-US" sz="3200" b="1" dirty="0"/>
              <a:t>requires a variable to only be used in ways </a:t>
            </a:r>
            <a:r>
              <a:rPr lang="en-US" sz="3200" dirty="0"/>
              <a:t>that </a:t>
            </a:r>
            <a:r>
              <a:rPr lang="en-US" sz="3200" b="1" dirty="0"/>
              <a:t>respect its data type</a:t>
            </a:r>
            <a:r>
              <a:rPr lang="en-US" sz="3200" dirty="0"/>
              <a:t>, that </a:t>
            </a:r>
            <a:r>
              <a:rPr lang="en-US" sz="3200" b="1" dirty="0"/>
              <a:t>language is </a:t>
            </a:r>
            <a:r>
              <a:rPr lang="en-US" sz="3200" dirty="0"/>
              <a:t>said to </a:t>
            </a:r>
            <a:r>
              <a:rPr lang="en-US" sz="3200" b="1" dirty="0"/>
              <a:t>be </a:t>
            </a:r>
            <a:r>
              <a:rPr lang="en-US" sz="3200" b="1" i="1" dirty="0"/>
              <a:t>strongly typed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This </a:t>
            </a:r>
            <a:r>
              <a:rPr lang="en-US" sz="3200" b="1" dirty="0"/>
              <a:t>prevents errors, </a:t>
            </a:r>
            <a:r>
              <a:rPr lang="en-US" sz="3200" dirty="0"/>
              <a:t>because while it is </a:t>
            </a:r>
            <a:r>
              <a:rPr lang="en-US" sz="3200" b="1" dirty="0"/>
              <a:t>logical to ask </a:t>
            </a:r>
            <a:r>
              <a:rPr lang="en-US" sz="3200" dirty="0"/>
              <a:t>the computer to </a:t>
            </a:r>
            <a:r>
              <a:rPr lang="en-US" sz="3200" b="1" dirty="0"/>
              <a:t>multiply a float by an integer (1.5 x 5).</a:t>
            </a:r>
          </a:p>
          <a:p>
            <a:pPr marL="0" indent="0">
              <a:buNone/>
            </a:pPr>
            <a:r>
              <a:rPr lang="en-US" sz="3200" dirty="0"/>
              <a:t>It is </a:t>
            </a:r>
            <a:r>
              <a:rPr lang="en-US" sz="3200" b="1" dirty="0"/>
              <a:t>illogical to ask </a:t>
            </a:r>
            <a:r>
              <a:rPr lang="en-US" sz="3200" dirty="0"/>
              <a:t>the computer to multiply a </a:t>
            </a:r>
            <a:r>
              <a:rPr lang="en-US" sz="3200" b="1" dirty="0"/>
              <a:t>float by a string (1.5 x Alice)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When a </a:t>
            </a:r>
            <a:r>
              <a:rPr lang="en-US" sz="3200" b="1" dirty="0"/>
              <a:t>programming language allows </a:t>
            </a:r>
            <a:r>
              <a:rPr lang="en-US" sz="3200" dirty="0"/>
              <a:t>a </a:t>
            </a:r>
            <a:r>
              <a:rPr lang="en-US" sz="3200" b="1" dirty="0"/>
              <a:t>variable of one data type </a:t>
            </a:r>
            <a:r>
              <a:rPr lang="en-US" sz="3200" dirty="0"/>
              <a:t>to be </a:t>
            </a:r>
            <a:r>
              <a:rPr lang="en-US" sz="3200" b="1" dirty="0"/>
              <a:t>used as if it were a value of another data type</a:t>
            </a:r>
            <a:r>
              <a:rPr lang="en-US" sz="3200" dirty="0"/>
              <a:t>, the language is said to be </a:t>
            </a:r>
            <a:r>
              <a:rPr lang="en-US" sz="3200" b="1" i="1" dirty="0"/>
              <a:t>weakly typed.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8133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F5DE-9A48-4257-A225-EA53E02DD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3626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Common examples of data types are;</a:t>
            </a:r>
          </a:p>
          <a:p>
            <a:r>
              <a:rPr lang="en-US" dirty="0"/>
              <a:t>boolean (e.g., true or false)</a:t>
            </a:r>
          </a:p>
          <a:p>
            <a:r>
              <a:rPr lang="en-US" dirty="0"/>
              <a:t>character (e.g., a)</a:t>
            </a:r>
          </a:p>
          <a:p>
            <a:r>
              <a:rPr lang="en-US" dirty="0"/>
              <a:t>date (e.g., 03/01/2023)</a:t>
            </a:r>
          </a:p>
          <a:p>
            <a:r>
              <a:rPr lang="en-US" dirty="0"/>
              <a:t>double (e.g., 1.79769313486232e308)</a:t>
            </a:r>
          </a:p>
          <a:p>
            <a:r>
              <a:rPr lang="en-US" dirty="0"/>
              <a:t>floating-point number (e.g., 1.234)</a:t>
            </a:r>
          </a:p>
          <a:p>
            <a:r>
              <a:rPr lang="en-US" dirty="0"/>
              <a:t>integer (e.g., 1234)</a:t>
            </a:r>
          </a:p>
          <a:p>
            <a:r>
              <a:rPr lang="en-US" dirty="0"/>
              <a:t>long (e.g., 123456789)</a:t>
            </a:r>
          </a:p>
          <a:p>
            <a:r>
              <a:rPr lang="en-US" dirty="0"/>
              <a:t>short (e.g., 0)</a:t>
            </a:r>
          </a:p>
          <a:p>
            <a:r>
              <a:rPr lang="en-US" dirty="0"/>
              <a:t>string (e.g., </a:t>
            </a:r>
            <a:r>
              <a:rPr lang="en-US" dirty="0" err="1"/>
              <a:t>abcd</a:t>
            </a:r>
            <a:r>
              <a:rPr lang="en-US" dirty="0"/>
              <a:t>)</a:t>
            </a:r>
          </a:p>
          <a:p>
            <a:r>
              <a:rPr lang="en-US" dirty="0"/>
              <a:t>void (e.g., no data)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59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E97905-43FF-4C5E-8CEB-DC37BAC43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521806"/>
              </p:ext>
            </p:extLst>
          </p:nvPr>
        </p:nvGraphicFramePr>
        <p:xfrm>
          <a:off x="838200" y="79022"/>
          <a:ext cx="10515600" cy="657013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059159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002679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82135939"/>
                    </a:ext>
                  </a:extLst>
                </a:gridCol>
              </a:tblGrid>
              <a:tr h="730015">
                <a:tc>
                  <a:txBody>
                    <a:bodyPr/>
                    <a:lstStyle/>
                    <a:p>
                      <a:r>
                        <a:rPr lang="en-US" b="1"/>
                        <a:t>Data 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Default Value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Default size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110286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668497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/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'\u0000'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364235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/>
                        <a:t>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121002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/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762050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355663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/>
                        <a:t>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288045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25330"/>
                  </a:ext>
                </a:extLst>
              </a:tr>
              <a:tr h="730015">
                <a:tc>
                  <a:txBody>
                    <a:bodyPr/>
                    <a:lstStyle/>
                    <a:p>
                      <a:r>
                        <a:rPr lang="en-US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513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70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4BE9-447B-4A64-A6A0-76FC4409B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475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Abstract data types:</a:t>
            </a:r>
          </a:p>
          <a:p>
            <a:pPr marL="0" indent="0">
              <a:buNone/>
            </a:pPr>
            <a:r>
              <a:rPr lang="en-US" sz="3200" b="1" dirty="0"/>
              <a:t>What is abstract data type?</a:t>
            </a:r>
          </a:p>
          <a:p>
            <a:pPr marL="0" indent="0">
              <a:buNone/>
            </a:pPr>
            <a:r>
              <a:rPr lang="en-US" sz="3200" dirty="0"/>
              <a:t>Data types such as int, float, double, long, etc. are considered to be </a:t>
            </a:r>
            <a:r>
              <a:rPr lang="en-US" sz="3200" b="1" dirty="0"/>
              <a:t>in-built data types </a:t>
            </a:r>
            <a:r>
              <a:rPr lang="en-US" sz="3200" dirty="0"/>
              <a:t>and we can perform </a:t>
            </a:r>
            <a:r>
              <a:rPr lang="en-US" sz="3200" b="1" dirty="0"/>
              <a:t>basic operations </a:t>
            </a:r>
            <a:r>
              <a:rPr lang="en-US" sz="3200" dirty="0"/>
              <a:t>with them such as </a:t>
            </a:r>
            <a:r>
              <a:rPr lang="en-US" sz="3200" b="1" dirty="0"/>
              <a:t>addition, subtraction, division, multiplication</a:t>
            </a:r>
            <a:r>
              <a:rPr lang="en-US" sz="3200" dirty="0"/>
              <a:t>, etc.</a:t>
            </a:r>
          </a:p>
          <a:p>
            <a:pPr marL="0" indent="0">
              <a:buNone/>
            </a:pPr>
            <a:r>
              <a:rPr lang="en-US" sz="3200" dirty="0"/>
              <a:t>Now there might be a situation when we </a:t>
            </a:r>
            <a:r>
              <a:rPr lang="en-US" sz="3200" b="1" dirty="0"/>
              <a:t>need operations for our user-defined </a:t>
            </a:r>
            <a:r>
              <a:rPr lang="en-US" sz="3200" dirty="0"/>
              <a:t>data type which have to be defined.</a:t>
            </a:r>
          </a:p>
          <a:p>
            <a:pPr marL="0" indent="0">
              <a:buNone/>
            </a:pPr>
            <a:r>
              <a:rPr lang="en-US" sz="3200" dirty="0"/>
              <a:t>These </a:t>
            </a:r>
            <a:r>
              <a:rPr lang="en-US" sz="3200" b="1" dirty="0"/>
              <a:t>operations can be defined only as and when we require them</a:t>
            </a:r>
            <a:r>
              <a:rPr lang="en-US" sz="3200" dirty="0"/>
              <a:t>. So, in order to simplify the </a:t>
            </a:r>
            <a:r>
              <a:rPr lang="en-US" sz="3200" b="1" dirty="0"/>
              <a:t>process of solving problems</a:t>
            </a:r>
            <a:r>
              <a:rPr lang="en-US" sz="3200" dirty="0"/>
              <a:t>, we </a:t>
            </a:r>
            <a:r>
              <a:rPr lang="en-US" sz="3200" b="1" dirty="0"/>
              <a:t>can create data structures along with their operations</a:t>
            </a:r>
            <a:r>
              <a:rPr lang="en-US" sz="3200" dirty="0"/>
              <a:t>, and such </a:t>
            </a:r>
            <a:r>
              <a:rPr lang="en-US" sz="3200" b="1" dirty="0"/>
              <a:t>data structures that are not in-built</a:t>
            </a:r>
            <a:r>
              <a:rPr lang="en-US" sz="3200" dirty="0"/>
              <a:t> are known as </a:t>
            </a:r>
            <a:r>
              <a:rPr lang="en-US" sz="3200" b="1" dirty="0"/>
              <a:t>Abstract Data Type (ADT).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10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BF52A-C829-4B51-9487-2D68341BE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778978"/>
          </a:xfrm>
        </p:spPr>
        <p:txBody>
          <a:bodyPr/>
          <a:lstStyle/>
          <a:p>
            <a:r>
              <a:rPr lang="en-US" sz="3200" dirty="0"/>
              <a:t>An </a:t>
            </a:r>
            <a:r>
              <a:rPr lang="en-US" sz="3200" b="1" dirty="0"/>
              <a:t>abstract data type </a:t>
            </a:r>
            <a:r>
              <a:rPr lang="en-US" sz="3200" dirty="0"/>
              <a:t>is an abstraction of a data structure that provides </a:t>
            </a:r>
            <a:r>
              <a:rPr lang="en-US" sz="3200" b="1" dirty="0"/>
              <a:t>only the interface to which the data structure must </a:t>
            </a:r>
            <a:r>
              <a:rPr lang="en-US" sz="3200" dirty="0"/>
              <a:t>adhere. The interface does not give any specific details about  how something should be implemented or in what programming language.</a:t>
            </a:r>
          </a:p>
          <a:p>
            <a:r>
              <a:rPr lang="en-US" sz="3200" dirty="0"/>
              <a:t>In other words, we can say that </a:t>
            </a:r>
            <a:r>
              <a:rPr lang="en-US" sz="3200" b="1" dirty="0"/>
              <a:t>abstract data types </a:t>
            </a:r>
            <a:r>
              <a:rPr lang="en-US" sz="3200" dirty="0"/>
              <a:t>are the entities </a:t>
            </a:r>
            <a:r>
              <a:rPr lang="en-US" sz="3200" b="1" dirty="0"/>
              <a:t>that are definitions of data and operations </a:t>
            </a:r>
            <a:r>
              <a:rPr lang="en-US" sz="3200" dirty="0"/>
              <a:t>but </a:t>
            </a:r>
            <a:r>
              <a:rPr lang="en-US" sz="3200" b="1" dirty="0"/>
              <a:t>do not have implementation</a:t>
            </a:r>
            <a:r>
              <a:rPr lang="en-US" sz="3200" dirty="0"/>
              <a:t> details.</a:t>
            </a:r>
          </a:p>
          <a:p>
            <a:r>
              <a:rPr lang="en-US" sz="3200" dirty="0"/>
              <a:t>An Abstract Data Type in data structure is a kind of a data type whose </a:t>
            </a:r>
            <a:r>
              <a:rPr lang="en-US" sz="3200" b="1" dirty="0"/>
              <a:t>behavior is defined </a:t>
            </a:r>
            <a:r>
              <a:rPr lang="en-US" sz="3200" dirty="0"/>
              <a:t>with the help of </a:t>
            </a:r>
            <a:r>
              <a:rPr lang="en-US" sz="3200" b="1" dirty="0"/>
              <a:t>some attributes </a:t>
            </a:r>
            <a:r>
              <a:rPr lang="en-US" sz="3200" dirty="0"/>
              <a:t>and some </a:t>
            </a:r>
            <a:r>
              <a:rPr lang="en-US" sz="3200" b="1" dirty="0"/>
              <a:t>functions</a:t>
            </a:r>
            <a:r>
              <a:rPr lang="en-US" sz="3200" dirty="0"/>
              <a:t>.</a:t>
            </a:r>
          </a:p>
          <a:p>
            <a:r>
              <a:rPr lang="en-US" dirty="0"/>
              <a:t>Examples of abstract data types in data structure are </a:t>
            </a:r>
            <a:r>
              <a:rPr lang="en-US" b="1" dirty="0"/>
              <a:t>list, stack, queue </a:t>
            </a:r>
            <a:r>
              <a:rPr lang="en-US" dirty="0"/>
              <a:t>etc.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19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7CD4A-C250-45DB-BEEA-44642F126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5475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Abstract Data Type Model: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3E030D-2534-4212-8AD2-CAF8158AA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22" y="778933"/>
            <a:ext cx="10766778" cy="585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07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68E64-948E-4CAF-B361-2F7CEB7E7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570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Features of ADT:</a:t>
            </a:r>
          </a:p>
          <a:p>
            <a:pPr marL="0" indent="0">
              <a:buNone/>
            </a:pPr>
            <a:r>
              <a:rPr lang="en-US" b="1" dirty="0"/>
              <a:t>Abstract data types (ADTs) are a way of encapsulating data and operations on that data into a single unit.</a:t>
            </a:r>
          </a:p>
          <a:p>
            <a:pPr marL="0" indent="0">
              <a:buNone/>
            </a:pPr>
            <a:r>
              <a:rPr lang="en-US" b="1" dirty="0"/>
              <a:t>Some of the key features of ADTs include:</a:t>
            </a:r>
            <a:endParaRPr lang="en-US" dirty="0"/>
          </a:p>
          <a:p>
            <a:r>
              <a:rPr lang="en-US" b="1" dirty="0"/>
              <a:t>Abstraction: </a:t>
            </a:r>
            <a:r>
              <a:rPr lang="en-US" dirty="0"/>
              <a:t>The user does not need to know the implementation of the data structure only essentials are provided.</a:t>
            </a:r>
          </a:p>
          <a:p>
            <a:r>
              <a:rPr lang="en-US" b="1" dirty="0"/>
              <a:t>Better Conceptualization: </a:t>
            </a:r>
            <a:r>
              <a:rPr lang="en-US" dirty="0"/>
              <a:t>ADT gives us a better conceptualization of the real world.</a:t>
            </a:r>
          </a:p>
          <a:p>
            <a:r>
              <a:rPr lang="en-US" b="1" dirty="0"/>
              <a:t>Robust: </a:t>
            </a:r>
            <a:r>
              <a:rPr lang="en-US" dirty="0"/>
              <a:t>The program is robust and has the ability to catch errors.</a:t>
            </a:r>
          </a:p>
          <a:p>
            <a:r>
              <a:rPr lang="en-US" b="1" dirty="0"/>
              <a:t>Encapsulation</a:t>
            </a:r>
            <a:r>
              <a:rPr lang="en-US" dirty="0"/>
              <a:t>: ADTs hide the internal details of the data and provide a public interface for users to interact with the data. This allows for easier maintenance and modification of the data structure.</a:t>
            </a:r>
          </a:p>
        </p:txBody>
      </p:sp>
    </p:spTree>
    <p:extLst>
      <p:ext uri="{BB962C8B-B14F-4D97-AF65-F5344CB8AC3E}">
        <p14:creationId xmlns:p14="http://schemas.microsoft.com/office/powerpoint/2010/main" val="3758255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4F4F1-4C84-4B87-B154-3613F5E4A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558844"/>
          </a:xfrm>
        </p:spPr>
        <p:txBody>
          <a:bodyPr/>
          <a:lstStyle/>
          <a:p>
            <a:r>
              <a:rPr lang="en-US" b="1" dirty="0"/>
              <a:t>Data Abstraction</a:t>
            </a:r>
            <a:r>
              <a:rPr lang="en-US" dirty="0"/>
              <a:t>: ADTs provide a level of abstraction from the implementation details of the data. Users only need to know the operations that can be performed on the data, not how those operations are implemented.</a:t>
            </a:r>
            <a:endParaRPr lang="en-US" b="1" dirty="0"/>
          </a:p>
          <a:p>
            <a:r>
              <a:rPr lang="en-US" b="1" dirty="0"/>
              <a:t>Data Structure Independence</a:t>
            </a:r>
            <a:r>
              <a:rPr lang="en-US" dirty="0"/>
              <a:t>: ADTs can be implemented using different data structures, such as arrays or linked lists, without affecting the functionality of the ADT.</a:t>
            </a:r>
          </a:p>
          <a:p>
            <a:r>
              <a:rPr lang="en-US" b="1" dirty="0"/>
              <a:t>Information Hiding:</a:t>
            </a:r>
            <a:r>
              <a:rPr lang="en-US" dirty="0"/>
              <a:t> ADTs can protect the integrity of the data by allowing access only to authorized users and operations. This helps prevent errors and misuse of the data.</a:t>
            </a:r>
          </a:p>
          <a:p>
            <a:r>
              <a:rPr lang="en-US" b="1" dirty="0"/>
              <a:t>Modularity</a:t>
            </a:r>
            <a:r>
              <a:rPr lang="en-US" dirty="0"/>
              <a:t>: ADTs can be combined with other ADTs to form larger, more complex data structures. This allows for greater flexibility and modularity in programming.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9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2D8F-C5A9-427F-A74E-9888F816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507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b="1" dirty="0"/>
              <a:t>Encapsulation</a:t>
            </a:r>
            <a:r>
              <a:rPr lang="en-US" dirty="0"/>
              <a:t>: ADTs provide a way to encapsulate data and operations into a single unit, making it easier to manage and modify the data structure.</a:t>
            </a:r>
          </a:p>
          <a:p>
            <a:r>
              <a:rPr lang="en-US" b="1" dirty="0"/>
              <a:t>Abstraction</a:t>
            </a:r>
            <a:r>
              <a:rPr lang="en-US" dirty="0"/>
              <a:t>: ADTs allow users to work with data structures without having to know the implementation details, which can simplify programming and reduce errors.</a:t>
            </a:r>
          </a:p>
          <a:p>
            <a:r>
              <a:rPr lang="en-US" b="1" dirty="0"/>
              <a:t>Data Structure Independence</a:t>
            </a:r>
            <a:r>
              <a:rPr lang="en-US" dirty="0"/>
              <a:t>: ADTs can be implemented using different data structures, which can make it easier to adapt to changing needs and requirements.</a:t>
            </a:r>
          </a:p>
          <a:p>
            <a:r>
              <a:rPr lang="en-US" b="1" dirty="0"/>
              <a:t>Information Hiding</a:t>
            </a:r>
            <a:r>
              <a:rPr lang="en-US" dirty="0"/>
              <a:t>: ADTs can protect the integrity of data by controlling access and preventing unauthorized modifications.</a:t>
            </a:r>
          </a:p>
          <a:p>
            <a:r>
              <a:rPr lang="en-US" b="1" dirty="0"/>
              <a:t>Modularity</a:t>
            </a:r>
            <a:r>
              <a:rPr lang="en-US" dirty="0"/>
              <a:t>: ADTs can be combined with other ADTs to form more complex data structures, which can increase flexibility and modularity in programming.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94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01011-9655-41B7-A1BB-9F325DA2F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Disadvantages:</a:t>
            </a:r>
          </a:p>
          <a:p>
            <a:r>
              <a:rPr lang="en-US" sz="3200" b="1" dirty="0"/>
              <a:t>Overhead</a:t>
            </a:r>
            <a:r>
              <a:rPr lang="en-US" sz="3200" dirty="0"/>
              <a:t>: Implementing ADTs can add overhead in terms of memory and processing, which can affect performance.</a:t>
            </a:r>
          </a:p>
          <a:p>
            <a:r>
              <a:rPr lang="en-US" sz="3200" b="1" dirty="0"/>
              <a:t>Complexity</a:t>
            </a:r>
            <a:r>
              <a:rPr lang="en-US" sz="3200" dirty="0"/>
              <a:t>: ADTs can be complex to implement, especially for large and complex data structures.</a:t>
            </a:r>
          </a:p>
          <a:p>
            <a:r>
              <a:rPr lang="en-US" sz="3200" b="1" dirty="0"/>
              <a:t>Learning </a:t>
            </a:r>
            <a:r>
              <a:rPr lang="en-US" sz="3200" dirty="0"/>
              <a:t>Curve: Using ADTs requires knowledge of their implementation and usage, which can take time and effort to learn.</a:t>
            </a:r>
          </a:p>
          <a:p>
            <a:r>
              <a:rPr lang="en-US" sz="3200" b="1" dirty="0"/>
              <a:t>Limited Flexibility:</a:t>
            </a:r>
            <a:r>
              <a:rPr lang="en-US" sz="3200" dirty="0"/>
              <a:t> Some ADTs may be limited in their functionality or may not be suitable for all types of data structures.</a:t>
            </a:r>
          </a:p>
          <a:p>
            <a:r>
              <a:rPr lang="en-US" sz="3200" b="1" dirty="0"/>
              <a:t>Cost</a:t>
            </a:r>
            <a:r>
              <a:rPr lang="en-US" sz="3200" dirty="0"/>
              <a:t>: Implementing ADTs may require additional resources and investment, which can increase the cost of development.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3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9BC7-E327-4FF1-8CF2-14CF0D67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7112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Information and its storage representation:</a:t>
            </a:r>
          </a:p>
          <a:p>
            <a:r>
              <a:rPr lang="en-US" sz="3200" b="1" dirty="0"/>
              <a:t>Information</a:t>
            </a:r>
            <a:r>
              <a:rPr lang="en-US" sz="3200" dirty="0"/>
              <a:t> is organized or classified data, which has </a:t>
            </a:r>
            <a:r>
              <a:rPr lang="en-US" sz="3200" b="1" dirty="0"/>
              <a:t>some meaningful values for the receiver. </a:t>
            </a:r>
          </a:p>
          <a:p>
            <a:r>
              <a:rPr lang="en-US" sz="3200" b="1" dirty="0"/>
              <a:t>Information</a:t>
            </a:r>
            <a:r>
              <a:rPr lang="en-US" sz="3200" dirty="0"/>
              <a:t> is the </a:t>
            </a:r>
            <a:r>
              <a:rPr lang="en-US" sz="3200" b="1" dirty="0"/>
              <a:t>processed data </a:t>
            </a:r>
            <a:r>
              <a:rPr lang="en-US" sz="3200" dirty="0"/>
              <a:t>on which decisions and actions are based.</a:t>
            </a:r>
          </a:p>
          <a:p>
            <a:r>
              <a:rPr lang="en-US" sz="3200" b="1" dirty="0"/>
              <a:t>Data refers </a:t>
            </a:r>
            <a:r>
              <a:rPr lang="en-US" sz="3200" dirty="0"/>
              <a:t>to the symbols that represent people, events, things, and ideas. </a:t>
            </a:r>
          </a:p>
          <a:p>
            <a:r>
              <a:rPr lang="en-US" sz="3200" dirty="0"/>
              <a:t>Data can be a name, a number, the colors in a photograph, or the notes in a musical composition.</a:t>
            </a:r>
          </a:p>
          <a:p>
            <a:r>
              <a:rPr lang="en-US" sz="3200" b="1" dirty="0"/>
              <a:t>Data Representation refers </a:t>
            </a:r>
            <a:r>
              <a:rPr lang="en-US" sz="3200" dirty="0"/>
              <a:t>to the </a:t>
            </a:r>
            <a:r>
              <a:rPr lang="en-US" sz="3200" b="1" dirty="0"/>
              <a:t>form in which data is stored</a:t>
            </a:r>
            <a:r>
              <a:rPr lang="en-US" sz="3200" dirty="0"/>
              <a:t>, </a:t>
            </a:r>
            <a:r>
              <a:rPr lang="en-US" sz="3200" b="1" dirty="0"/>
              <a:t>processed, and transmitted.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48807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50BE5-D762-4E89-89CB-B700DC36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Autofit/>
          </a:bodyPr>
          <a:lstStyle/>
          <a:p>
            <a:r>
              <a:rPr lang="en-US" sz="3200" dirty="0"/>
              <a:t>Devices such as smartphones, iPods, and computers store data in </a:t>
            </a:r>
            <a:r>
              <a:rPr lang="en-US" sz="3200" b="1" dirty="0"/>
              <a:t>digital formats </a:t>
            </a:r>
            <a:r>
              <a:rPr lang="en-US" sz="3200" dirty="0"/>
              <a:t>that can be handled by electronic circuitry.</a:t>
            </a:r>
            <a:endParaRPr lang="en-US" sz="3200" b="1" dirty="0"/>
          </a:p>
          <a:p>
            <a:r>
              <a:rPr lang="en-US" sz="3200" b="1" dirty="0"/>
              <a:t>Digitization</a:t>
            </a:r>
            <a:r>
              <a:rPr lang="en-US" sz="3200" dirty="0"/>
              <a:t> is the process of converting information, such as text, numbers, photo, or music, into digital data that can be manipulated by electronic devices.</a:t>
            </a:r>
          </a:p>
          <a:p>
            <a:r>
              <a:rPr lang="en-US" sz="3200" b="1" dirty="0"/>
              <a:t>The 0s and 1s used to represent digital data </a:t>
            </a:r>
            <a:r>
              <a:rPr lang="en-US" sz="3200" dirty="0"/>
              <a:t>are referred to as </a:t>
            </a:r>
            <a:r>
              <a:rPr lang="en-US" sz="3200" b="1" dirty="0"/>
              <a:t>binary digits</a:t>
            </a:r>
            <a:r>
              <a:rPr lang="en-US" sz="3200" dirty="0"/>
              <a:t> — from this term we get the word </a:t>
            </a:r>
            <a:r>
              <a:rPr lang="en-US" sz="3200" b="1" dirty="0"/>
              <a:t>bit</a:t>
            </a:r>
            <a:r>
              <a:rPr lang="en-US" sz="3200" dirty="0"/>
              <a:t> that stands </a:t>
            </a:r>
            <a:r>
              <a:rPr lang="en-US" sz="3200" b="1" dirty="0"/>
              <a:t>for binary digit.</a:t>
            </a:r>
            <a:br>
              <a:rPr lang="en-US" sz="3200" b="1" dirty="0"/>
            </a:br>
            <a:r>
              <a:rPr lang="en-US" sz="3200" dirty="0"/>
              <a:t>• A </a:t>
            </a:r>
            <a:r>
              <a:rPr lang="en-US" sz="3200" b="1" dirty="0"/>
              <a:t>bit is a 0 or 1 </a:t>
            </a:r>
            <a:r>
              <a:rPr lang="en-US" sz="3200" dirty="0"/>
              <a:t>used in the </a:t>
            </a:r>
            <a:r>
              <a:rPr lang="en-US" sz="3200" b="1" dirty="0"/>
              <a:t>digital representation </a:t>
            </a:r>
            <a:r>
              <a:rPr lang="en-US" sz="3200" dirty="0"/>
              <a:t>of data.</a:t>
            </a:r>
            <a:br>
              <a:rPr lang="en-US" sz="3200" dirty="0"/>
            </a:br>
            <a:r>
              <a:rPr lang="en-US" sz="3200" dirty="0"/>
              <a:t>• A digital file, usually referred to simply as a file, is a </a:t>
            </a:r>
            <a:r>
              <a:rPr lang="en-US" sz="3200" b="1" dirty="0"/>
              <a:t>named collection of data that exists on a storage medium</a:t>
            </a:r>
            <a:r>
              <a:rPr lang="en-US" sz="3200" dirty="0"/>
              <a:t>, such as a hard disk, CD, DVD, or flash drive.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21120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4A8B-782E-4BD0-A972-5390A8C18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16889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Representing Numbers:</a:t>
            </a:r>
            <a:br>
              <a:rPr lang="en-US" sz="3600" dirty="0"/>
            </a:br>
            <a:r>
              <a:rPr lang="en-US" sz="3600" dirty="0"/>
              <a:t>• Numeric data consists of numbers that can be used in arithmetic operations.</a:t>
            </a:r>
          </a:p>
          <a:p>
            <a:pPr marL="0" indent="0">
              <a:buNone/>
            </a:pPr>
            <a:br>
              <a:rPr lang="en-US" sz="3600" dirty="0"/>
            </a:br>
            <a:r>
              <a:rPr lang="en-US" sz="3600" dirty="0"/>
              <a:t>• Digital devices represent numeric data using the </a:t>
            </a:r>
            <a:r>
              <a:rPr lang="en-US" sz="3600" b="1" dirty="0"/>
              <a:t>binary number system</a:t>
            </a:r>
            <a:r>
              <a:rPr lang="en-US" sz="3600" dirty="0"/>
              <a:t>, also </a:t>
            </a:r>
            <a:r>
              <a:rPr lang="en-US" sz="3600" b="1" dirty="0"/>
              <a:t>called base 2.</a:t>
            </a:r>
          </a:p>
          <a:p>
            <a:pPr marL="0" indent="0">
              <a:buNone/>
            </a:pPr>
            <a:br>
              <a:rPr lang="en-US" sz="3600" dirty="0"/>
            </a:br>
            <a:r>
              <a:rPr lang="en-US" sz="3600" dirty="0"/>
              <a:t>• The </a:t>
            </a:r>
            <a:r>
              <a:rPr lang="en-US" sz="3600" b="1" dirty="0"/>
              <a:t>binary number system </a:t>
            </a:r>
            <a:r>
              <a:rPr lang="en-US" sz="3600" dirty="0"/>
              <a:t>has </a:t>
            </a:r>
            <a:r>
              <a:rPr lang="en-US" sz="3600" b="1" dirty="0"/>
              <a:t>two digits </a:t>
            </a:r>
            <a:r>
              <a:rPr lang="en-US" sz="3600" dirty="0"/>
              <a:t>only : 0 and 1.</a:t>
            </a:r>
            <a:br>
              <a:rPr lang="en-US" sz="3600" dirty="0"/>
            </a:br>
            <a:r>
              <a:rPr lang="en-US" sz="3600" dirty="0"/>
              <a:t>• No numeral like 2 exists in the system, so the number “two” is represented in binary as 10 (pronounced “one zero”).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03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F5AB4-FE8C-4F2F-986C-51A166E9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222"/>
            <a:ext cx="10515600" cy="657577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Representing Numbers;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66B524D-5E28-4438-8193-61CCB3615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722244"/>
              </p:ext>
            </p:extLst>
          </p:nvPr>
        </p:nvGraphicFramePr>
        <p:xfrm>
          <a:off x="2968979" y="780626"/>
          <a:ext cx="7191022" cy="56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957">
                  <a:extLst>
                    <a:ext uri="{9D8B030D-6E8A-4147-A177-3AD203B41FA5}">
                      <a16:colId xmlns:a16="http://schemas.microsoft.com/office/drawing/2014/main" val="3029517273"/>
                    </a:ext>
                  </a:extLst>
                </a:gridCol>
                <a:gridCol w="3179065">
                  <a:extLst>
                    <a:ext uri="{9D8B030D-6E8A-4147-A177-3AD203B41FA5}">
                      <a16:colId xmlns:a16="http://schemas.microsoft.com/office/drawing/2014/main" val="1585750047"/>
                    </a:ext>
                  </a:extLst>
                </a:gridCol>
              </a:tblGrid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DECIMAL 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852627"/>
                  </a:ext>
                </a:extLst>
              </a:tr>
              <a:tr h="2078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959723"/>
                  </a:ext>
                </a:extLst>
              </a:tr>
              <a:tr h="2078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712721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81982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880091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18307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711162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117123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24176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202542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98593"/>
                  </a:ext>
                </a:extLst>
              </a:tr>
              <a:tr h="2078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097765"/>
                  </a:ext>
                </a:extLst>
              </a:tr>
              <a:tr h="2078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117040"/>
                  </a:ext>
                </a:extLst>
              </a:tr>
              <a:tr h="4156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1111101000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625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112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EECB3-04D2-428B-B8A7-3F2F4EB4E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Representing Text:</a:t>
            </a:r>
            <a:br>
              <a:rPr lang="en-US" dirty="0"/>
            </a:br>
            <a:r>
              <a:rPr lang="en-US" dirty="0"/>
              <a:t>• Character data is composed of </a:t>
            </a:r>
            <a:r>
              <a:rPr lang="en-US" b="1" dirty="0"/>
              <a:t>letters, symbols, and numerals </a:t>
            </a:r>
            <a:r>
              <a:rPr lang="en-US" dirty="0"/>
              <a:t>that are </a:t>
            </a:r>
            <a:r>
              <a:rPr lang="en-US" b="1" dirty="0"/>
              <a:t>not used in calculations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Examples</a:t>
            </a:r>
            <a:r>
              <a:rPr lang="en-US" dirty="0"/>
              <a:t> of character data include your name, address, and hair color.</a:t>
            </a:r>
            <a:br>
              <a:rPr lang="en-US" dirty="0"/>
            </a:br>
            <a:r>
              <a:rPr lang="en-US" dirty="0"/>
              <a:t>• Character data is commonly referred to as “text.”</a:t>
            </a:r>
          </a:p>
          <a:p>
            <a:pPr marL="0" indent="0">
              <a:buNone/>
            </a:pPr>
            <a:r>
              <a:rPr lang="en-US" dirty="0"/>
              <a:t>Digital devices employ several types of codes to represent character data, including </a:t>
            </a:r>
            <a:r>
              <a:rPr lang="en-US" b="1" dirty="0"/>
              <a:t>ASCII, Unicode</a:t>
            </a:r>
            <a:r>
              <a:rPr lang="en-US" dirty="0"/>
              <a:t>, and their variants.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ASCII</a:t>
            </a:r>
            <a:r>
              <a:rPr lang="en-US" dirty="0"/>
              <a:t> (American Standard Code for Information Interchange, pronounced “ASK ee”) </a:t>
            </a:r>
            <a:r>
              <a:rPr lang="en-US" b="1" dirty="0"/>
              <a:t>requires seven bits </a:t>
            </a:r>
            <a:r>
              <a:rPr lang="en-US" dirty="0"/>
              <a:t>for each character.</a:t>
            </a:r>
            <a:br>
              <a:rPr lang="en-US" dirty="0"/>
            </a:br>
            <a:r>
              <a:rPr lang="en-US" dirty="0"/>
              <a:t>• The </a:t>
            </a:r>
            <a:r>
              <a:rPr lang="en-US" b="1" dirty="0"/>
              <a:t>ASCII code </a:t>
            </a:r>
            <a:r>
              <a:rPr lang="en-US" dirty="0"/>
              <a:t>for an </a:t>
            </a:r>
            <a:r>
              <a:rPr lang="en-US" b="1" dirty="0"/>
              <a:t>uppercase A is 1000001.</a:t>
            </a:r>
          </a:p>
          <a:p>
            <a:pPr marL="0" indent="0">
              <a:buNone/>
            </a:pPr>
            <a:r>
              <a:rPr lang="en-US" dirty="0"/>
              <a:t>Extended ASCII is a superset of ASCII that </a:t>
            </a:r>
            <a:r>
              <a:rPr lang="en-US" b="1" dirty="0"/>
              <a:t>uses eight bits </a:t>
            </a:r>
            <a:r>
              <a:rPr lang="en-US" dirty="0"/>
              <a:t>for each character.</a:t>
            </a:r>
            <a:br>
              <a:rPr lang="en-US" dirty="0"/>
            </a:br>
            <a:r>
              <a:rPr lang="en-US" dirty="0"/>
              <a:t>• For example, </a:t>
            </a:r>
            <a:r>
              <a:rPr lang="en-US" b="1" dirty="0"/>
              <a:t>Extended ASCII </a:t>
            </a:r>
            <a:r>
              <a:rPr lang="en-US" dirty="0"/>
              <a:t>represents the </a:t>
            </a:r>
            <a:r>
              <a:rPr lang="en-US" b="1" dirty="0"/>
              <a:t>uppercase letter A </a:t>
            </a:r>
            <a:r>
              <a:rPr lang="en-US" dirty="0"/>
              <a:t>as </a:t>
            </a:r>
            <a:r>
              <a:rPr lang="en-US" b="1" dirty="0"/>
              <a:t>01000001.</a:t>
            </a:r>
            <a:br>
              <a:rPr lang="en-US" dirty="0"/>
            </a:br>
            <a:r>
              <a:rPr lang="en-US" dirty="0"/>
              <a:t>• Using </a:t>
            </a:r>
            <a:r>
              <a:rPr lang="en-US" b="1" dirty="0"/>
              <a:t>eight bits </a:t>
            </a:r>
            <a:r>
              <a:rPr lang="en-US" dirty="0"/>
              <a:t>instead of </a:t>
            </a:r>
            <a:r>
              <a:rPr lang="en-US" b="1" dirty="0"/>
              <a:t>seven bits allows </a:t>
            </a:r>
            <a:r>
              <a:rPr lang="en-US" dirty="0"/>
              <a:t>Extended ASCII to provide codes for </a:t>
            </a:r>
            <a:r>
              <a:rPr lang="en-US" b="1" dirty="0"/>
              <a:t>256 characters.</a:t>
            </a:r>
          </a:p>
        </p:txBody>
      </p:sp>
    </p:spTree>
    <p:extLst>
      <p:ext uri="{BB962C8B-B14F-4D97-AF65-F5344CB8AC3E}">
        <p14:creationId xmlns:p14="http://schemas.microsoft.com/office/powerpoint/2010/main" val="92575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F114-9332-4CDD-8149-2AD4B5805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Autofit/>
          </a:bodyPr>
          <a:lstStyle/>
          <a:p>
            <a:r>
              <a:rPr lang="en-US" sz="3200" b="1" dirty="0"/>
              <a:t>Unicode</a:t>
            </a:r>
            <a:r>
              <a:rPr lang="en-US" sz="3200" dirty="0"/>
              <a:t> (pronounced “YOU </a:t>
            </a:r>
            <a:r>
              <a:rPr lang="en-US" sz="3200" dirty="0" err="1"/>
              <a:t>ni</a:t>
            </a:r>
            <a:r>
              <a:rPr lang="en-US" sz="3200" dirty="0"/>
              <a:t> code”) uses </a:t>
            </a:r>
            <a:r>
              <a:rPr lang="en-US" sz="3200" b="1" dirty="0"/>
              <a:t>sixteen bits </a:t>
            </a:r>
            <a:r>
              <a:rPr lang="en-US" sz="3200" dirty="0"/>
              <a:t>and provides codes or 65,000 characters.</a:t>
            </a:r>
            <a:br>
              <a:rPr lang="en-US" sz="3200" dirty="0"/>
            </a:br>
            <a:r>
              <a:rPr lang="en-US" sz="3200" dirty="0"/>
              <a:t>• This is a bonus for representing the alphabets of multiple languages.</a:t>
            </a:r>
            <a:br>
              <a:rPr lang="en-US" sz="3200" dirty="0"/>
            </a:br>
            <a:r>
              <a:rPr lang="en-US" sz="3200" dirty="0"/>
              <a:t>• UTF-8 is a variable-length coding scheme that </a:t>
            </a:r>
            <a:r>
              <a:rPr lang="en-US" sz="3200" b="1" dirty="0"/>
              <a:t>uses seven bits </a:t>
            </a:r>
            <a:r>
              <a:rPr lang="en-US" sz="3200" dirty="0"/>
              <a:t>for </a:t>
            </a:r>
            <a:r>
              <a:rPr lang="en-US" sz="3200" b="1" dirty="0"/>
              <a:t>common ASCII characters </a:t>
            </a:r>
            <a:r>
              <a:rPr lang="en-US" sz="3200" dirty="0"/>
              <a:t>but </a:t>
            </a:r>
            <a:r>
              <a:rPr lang="en-US" sz="3200" b="1" dirty="0"/>
              <a:t>uses sixteen-bit Unicode </a:t>
            </a:r>
            <a:r>
              <a:rPr lang="en-US" sz="3200" dirty="0"/>
              <a:t>as necessary.</a:t>
            </a:r>
          </a:p>
          <a:p>
            <a:r>
              <a:rPr lang="en-US" sz="3200" b="1" dirty="0"/>
              <a:t>ASCII codes are used for numerals, such as Social Security numbers and phone numbers.</a:t>
            </a:r>
            <a:br>
              <a:rPr lang="en-US" sz="3200" b="1" dirty="0"/>
            </a:br>
            <a:r>
              <a:rPr lang="en-US" sz="3200" dirty="0"/>
              <a:t>• Plain, unformatted text is sometimes called ASCII text and is stored in a so-called text file with a name ending in .txt.</a:t>
            </a:r>
            <a:br>
              <a:rPr lang="en-US" sz="3200" dirty="0"/>
            </a:br>
            <a:r>
              <a:rPr lang="en-US" sz="3200" dirty="0"/>
              <a:t>• On Apple devices these files are labeled “Plain Text.”</a:t>
            </a:r>
          </a:p>
          <a:p>
            <a:r>
              <a:rPr lang="en-US" sz="3200" dirty="0"/>
              <a:t> In Windows, these files are labeled “Text Document”.</a:t>
            </a:r>
          </a:p>
        </p:txBody>
      </p:sp>
    </p:spTree>
    <p:extLst>
      <p:ext uri="{BB962C8B-B14F-4D97-AF65-F5344CB8AC3E}">
        <p14:creationId xmlns:p14="http://schemas.microsoft.com/office/powerpoint/2010/main" val="3379206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9548F-62CF-43F6-BC2C-47C881BEF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581422"/>
          </a:xfrm>
        </p:spPr>
        <p:txBody>
          <a:bodyPr/>
          <a:lstStyle/>
          <a:p>
            <a:r>
              <a:rPr lang="en-US" sz="3600" dirty="0"/>
              <a:t>ASCII text files contain no formatting.</a:t>
            </a:r>
          </a:p>
          <a:p>
            <a:r>
              <a:rPr lang="en-US" sz="3600" dirty="0"/>
              <a:t>To create documents with styles and formats, formatting codes have to be embedded in the text.</a:t>
            </a:r>
          </a:p>
          <a:p>
            <a:r>
              <a:rPr lang="en-US" sz="3600" dirty="0"/>
              <a:t>Microsoft Word produces formatted text and creates documents in DOCX format.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 Apple Pages produces documents in PAGES format.</a:t>
            </a:r>
          </a:p>
          <a:p>
            <a:r>
              <a:rPr lang="en-US" sz="3600" dirty="0"/>
              <a:t> Adobe Acrobat produces documents in PDF format.</a:t>
            </a:r>
          </a:p>
          <a:p>
            <a:r>
              <a:rPr lang="en-US" sz="3600" dirty="0"/>
              <a:t> HTML markup language used for Web pages produces documents in HTML format.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009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CA1F0-1C02-4D17-B220-34DD974A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933"/>
            <a:ext cx="10515600" cy="6468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Bits and Bytes:</a:t>
            </a:r>
            <a:br>
              <a:rPr lang="en-US" sz="3200" dirty="0"/>
            </a:br>
            <a:r>
              <a:rPr lang="en-US" sz="3200" dirty="0"/>
              <a:t>• All of the data stored and transmitted by digital devices is encoded as bits.</a:t>
            </a:r>
            <a:br>
              <a:rPr lang="en-US" sz="3200" dirty="0"/>
            </a:br>
            <a:r>
              <a:rPr lang="en-US" sz="3200" dirty="0"/>
              <a:t>• Terminology related to </a:t>
            </a:r>
            <a:r>
              <a:rPr lang="en-US" sz="3200" b="1" dirty="0"/>
              <a:t>bits and bytes </a:t>
            </a:r>
            <a:r>
              <a:rPr lang="en-US" sz="3200" dirty="0"/>
              <a:t>is extensively </a:t>
            </a:r>
            <a:r>
              <a:rPr lang="en-US" sz="3200" b="1" dirty="0"/>
              <a:t>used to describe storage capacity and network access speed.</a:t>
            </a:r>
            <a:br>
              <a:rPr lang="en-US" sz="3200" dirty="0"/>
            </a:br>
            <a:r>
              <a:rPr lang="en-US" sz="3200" dirty="0"/>
              <a:t>• The word bit, an abbreviation for binary digit, can be further abbreviated as a lowercase </a:t>
            </a:r>
            <a:r>
              <a:rPr lang="en-US" sz="3200" b="1" dirty="0"/>
              <a:t>b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• A group of </a:t>
            </a:r>
            <a:r>
              <a:rPr lang="en-US" sz="3200" b="1" dirty="0"/>
              <a:t>eight bits </a:t>
            </a:r>
            <a:r>
              <a:rPr lang="en-US" sz="3200" dirty="0"/>
              <a:t>is </a:t>
            </a:r>
            <a:r>
              <a:rPr lang="en-US" sz="3200" b="1" dirty="0"/>
              <a:t>called a byte </a:t>
            </a:r>
            <a:r>
              <a:rPr lang="en-US" sz="3200" dirty="0"/>
              <a:t>and is usually abbreviated as an uppercase </a:t>
            </a:r>
            <a:r>
              <a:rPr lang="en-US" sz="3200" b="1" dirty="0"/>
              <a:t>B.</a:t>
            </a:r>
          </a:p>
          <a:p>
            <a:pPr marL="0" indent="0">
              <a:buNone/>
            </a:pPr>
            <a:r>
              <a:rPr lang="en-US" sz="3200" dirty="0"/>
              <a:t>When reading about digital devices, you’ll frequently encounter references such as 90 kilobits per second, 1.44 megabytes, 2.8 gigahertz, and 2 terabytes.</a:t>
            </a:r>
            <a:br>
              <a:rPr lang="en-US" sz="3200" dirty="0"/>
            </a:br>
            <a:r>
              <a:rPr lang="en-US" sz="3200" dirty="0"/>
              <a:t>• Kilo, mega, giga, tera, and similar terms are used to quantify digital data.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54199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D6A4F-CB24-4F3E-ABE8-7DC3EB326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81422"/>
          </a:xfrm>
        </p:spPr>
        <p:txBody>
          <a:bodyPr>
            <a:normAutofit/>
          </a:bodyPr>
          <a:lstStyle/>
          <a:p>
            <a:r>
              <a:rPr lang="en-US" b="1" dirty="0"/>
              <a:t>Use bits for data rates</a:t>
            </a:r>
            <a:r>
              <a:rPr lang="en-US" dirty="0"/>
              <a:t>, such as </a:t>
            </a:r>
            <a:r>
              <a:rPr lang="en-US" b="1" dirty="0"/>
              <a:t>Internet connection speeds</a:t>
            </a:r>
            <a:r>
              <a:rPr lang="en-US" dirty="0"/>
              <a:t>, and </a:t>
            </a:r>
            <a:r>
              <a:rPr lang="en-US" b="1" dirty="0"/>
              <a:t>movie download speeds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b="1" dirty="0"/>
              <a:t>Use bytes </a:t>
            </a:r>
            <a:r>
              <a:rPr lang="en-US" dirty="0"/>
              <a:t>for </a:t>
            </a:r>
            <a:r>
              <a:rPr lang="en-US" b="1" dirty="0"/>
              <a:t>file sizes and storage capacities</a:t>
            </a:r>
            <a:r>
              <a:rPr lang="en-US" dirty="0"/>
              <a:t>.</a:t>
            </a:r>
          </a:p>
          <a:p>
            <a:r>
              <a:rPr lang="en-US" dirty="0"/>
              <a:t>104 KB: Kilobyte (KB or Kbyte) is often used when referring to the size of small computer files.</a:t>
            </a:r>
          </a:p>
          <a:p>
            <a:r>
              <a:rPr lang="en-US" dirty="0"/>
              <a:t>56 Kbps: Kilobit (</a:t>
            </a:r>
            <a:r>
              <a:rPr lang="en-US" dirty="0" err="1"/>
              <a:t>Kb</a:t>
            </a:r>
            <a:r>
              <a:rPr lang="en-US" dirty="0"/>
              <a:t> or Kbit) can be used for slow data rates, such as a 56 Kbps (kilobits per second) dial-up connection.</a:t>
            </a:r>
          </a:p>
          <a:p>
            <a:r>
              <a:rPr lang="en-US" dirty="0"/>
              <a:t>50 Mbps: Megabit (Mb or Mbit) is used for faster data rates, such as a 50 Mbps (megabits per second) Internet connection.</a:t>
            </a:r>
          </a:p>
          <a:p>
            <a:r>
              <a:rPr lang="en-US" dirty="0"/>
              <a:t>3.2 MB: Megabyte (MB or </a:t>
            </a:r>
            <a:r>
              <a:rPr lang="en-US" dirty="0" err="1"/>
              <a:t>MByte</a:t>
            </a:r>
            <a:r>
              <a:rPr lang="en-US" dirty="0"/>
              <a:t>) is typically used when referring to the size of files containing photos and videos.</a:t>
            </a:r>
          </a:p>
          <a:p>
            <a:r>
              <a:rPr lang="en-US" dirty="0"/>
              <a:t>100 Gbit: Gigabit (Gb or Gbit) is used for really fast network speeds.</a:t>
            </a:r>
          </a:p>
          <a:p>
            <a:r>
              <a:rPr lang="en-US" dirty="0"/>
              <a:t> 16 GB: Gigabyte (GB or </a:t>
            </a:r>
            <a:r>
              <a:rPr lang="en-US" dirty="0" err="1"/>
              <a:t>GByte</a:t>
            </a:r>
            <a:r>
              <a:rPr lang="en-US" dirty="0"/>
              <a:t>) is commonly used to refer to storage capacity.</a:t>
            </a:r>
          </a:p>
        </p:txBody>
      </p:sp>
    </p:spTree>
    <p:extLst>
      <p:ext uri="{BB962C8B-B14F-4D97-AF65-F5344CB8AC3E}">
        <p14:creationId xmlns:p14="http://schemas.microsoft.com/office/powerpoint/2010/main" val="238288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783DC-0EE7-4845-9527-A64883B2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0"/>
            <a:ext cx="10515600" cy="6767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Data Compression:</a:t>
            </a:r>
            <a:br>
              <a:rPr lang="en-US" sz="3200" dirty="0"/>
            </a:br>
            <a:r>
              <a:rPr lang="en-US" sz="3200" dirty="0"/>
              <a:t>• To reduce file size and transmission times, digital data can be compressed.</a:t>
            </a:r>
            <a:br>
              <a:rPr lang="en-US" sz="3200" dirty="0"/>
            </a:br>
            <a:r>
              <a:rPr lang="en-US" sz="3200" dirty="0"/>
              <a:t>• Data compression refers to any technique that recodes the data in a file so that it contains fewer bits.</a:t>
            </a:r>
            <a:br>
              <a:rPr lang="en-US" sz="3200" dirty="0"/>
            </a:br>
            <a:r>
              <a:rPr lang="en-US" sz="3200" dirty="0"/>
              <a:t>• Compression is commonly referred to as “zipping.”</a:t>
            </a:r>
          </a:p>
          <a:p>
            <a:pPr marL="0" indent="0">
              <a:buNone/>
            </a:pPr>
            <a:r>
              <a:rPr lang="en-US" sz="3200" dirty="0"/>
              <a:t>Compression techniques divided into two categories:</a:t>
            </a:r>
            <a:br>
              <a:rPr lang="en-US" sz="3200" dirty="0"/>
            </a:br>
            <a:r>
              <a:rPr lang="en-US" sz="3200" b="1" dirty="0"/>
              <a:t>lossless and lossy</a:t>
            </a:r>
            <a:br>
              <a:rPr lang="en-US" sz="3200" dirty="0"/>
            </a:br>
            <a:r>
              <a:rPr lang="en-US" sz="3200" dirty="0"/>
              <a:t>• Lossless compression provides a way to compress data and reconstitute it into its original state; uncompressed data stays exactly the same as the original data</a:t>
            </a:r>
            <a:br>
              <a:rPr lang="en-US" sz="3200" dirty="0"/>
            </a:br>
            <a:r>
              <a:rPr lang="en-US" sz="3200" dirty="0"/>
              <a:t>• Lossy compression throws away some of the original data during the compression process; uncompressed data is not exactly the same as the original.</a:t>
            </a:r>
          </a:p>
        </p:txBody>
      </p:sp>
    </p:spTree>
    <p:extLst>
      <p:ext uri="{BB962C8B-B14F-4D97-AF65-F5344CB8AC3E}">
        <p14:creationId xmlns:p14="http://schemas.microsoft.com/office/powerpoint/2010/main" val="390282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1F02-3B6F-4722-92D7-107B5E258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16889"/>
          </a:xfrm>
        </p:spPr>
        <p:txBody>
          <a:bodyPr>
            <a:normAutofit/>
          </a:bodyPr>
          <a:lstStyle/>
          <a:p>
            <a:r>
              <a:rPr lang="en-US" sz="3600" dirty="0"/>
              <a:t>Software for compressing data is sometimes referred to as a compression utility or a zip tool.</a:t>
            </a:r>
          </a:p>
          <a:p>
            <a:r>
              <a:rPr lang="en-US" sz="3600" dirty="0"/>
              <a:t>On laptops and desktop computers, the compression utility is accessed from the same screen used to manage files.</a:t>
            </a:r>
          </a:p>
          <a:p>
            <a:r>
              <a:rPr lang="en-US" sz="3600" dirty="0"/>
              <a:t>The process of reconstituting files is called extracting or unzipping.</a:t>
            </a:r>
          </a:p>
          <a:p>
            <a:r>
              <a:rPr lang="en-US" sz="3600" dirty="0"/>
              <a:t>Compressed files may end with a .zip, .</a:t>
            </a:r>
            <a:r>
              <a:rPr lang="en-US" sz="3600" dirty="0" err="1"/>
              <a:t>gz</a:t>
            </a:r>
            <a:r>
              <a:rPr lang="en-US" sz="3600" dirty="0"/>
              <a:t>, .pkg, or .tar </a:t>
            </a:r>
          </a:p>
        </p:txBody>
      </p:sp>
    </p:spTree>
    <p:extLst>
      <p:ext uri="{BB962C8B-B14F-4D97-AF65-F5344CB8AC3E}">
        <p14:creationId xmlns:p14="http://schemas.microsoft.com/office/powerpoint/2010/main" val="1899157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566D2-2AF1-433B-A6A6-8DCF207E3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"/>
            <a:ext cx="10515600" cy="652497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b="1" dirty="0"/>
              <a:t>Definition of Data Structure:</a:t>
            </a:r>
          </a:p>
          <a:p>
            <a:pPr marL="0" indent="0">
              <a:buNone/>
            </a:pPr>
            <a:r>
              <a:rPr lang="en-US" sz="3600" b="1" dirty="0"/>
              <a:t>What is data structure?</a:t>
            </a:r>
          </a:p>
          <a:p>
            <a:pPr marL="0" indent="0">
              <a:buNone/>
            </a:pPr>
            <a:r>
              <a:rPr lang="en-US" sz="3600" dirty="0"/>
              <a:t>A data structure is </a:t>
            </a:r>
            <a:r>
              <a:rPr lang="en-US" sz="3600" b="1" dirty="0"/>
              <a:t>a way of organizing and storing data </a:t>
            </a:r>
            <a:r>
              <a:rPr lang="en-US" sz="3600" dirty="0"/>
              <a:t>in a </a:t>
            </a:r>
            <a:r>
              <a:rPr lang="en-US" sz="3600"/>
              <a:t>computer memory/program </a:t>
            </a:r>
            <a:r>
              <a:rPr lang="en-US" sz="3600" dirty="0"/>
              <a:t>so that it </a:t>
            </a:r>
            <a:r>
              <a:rPr lang="en-US" sz="3600" b="1" dirty="0"/>
              <a:t>can be accessed and used efficiently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Data structures provide a means of:</a:t>
            </a:r>
          </a:p>
          <a:p>
            <a:r>
              <a:rPr lang="en-US" sz="3600" b="1" dirty="0"/>
              <a:t>managing large amounts of data, </a:t>
            </a:r>
          </a:p>
          <a:p>
            <a:r>
              <a:rPr lang="en-US" sz="3600" b="1" dirty="0"/>
              <a:t>enabling efficient searching, </a:t>
            </a:r>
          </a:p>
          <a:p>
            <a:r>
              <a:rPr lang="en-US" sz="3600" b="1" dirty="0"/>
              <a:t>sorting, </a:t>
            </a:r>
          </a:p>
          <a:p>
            <a:r>
              <a:rPr lang="en-US" sz="3600" b="1" dirty="0"/>
              <a:t>insertion, and </a:t>
            </a:r>
          </a:p>
          <a:p>
            <a:r>
              <a:rPr lang="en-US" sz="3600" b="1" dirty="0"/>
              <a:t>deletion of data.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31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B184-9A18-402C-AC16-88F378775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5475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Categories of data structures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sz="3600" dirty="0"/>
              <a:t>Data structures can be categorized into </a:t>
            </a:r>
            <a:r>
              <a:rPr lang="en-US" sz="3600" b="1" dirty="0"/>
              <a:t>two types</a:t>
            </a:r>
            <a:r>
              <a:rPr lang="en-US" sz="3600" dirty="0"/>
              <a:t>:</a:t>
            </a:r>
          </a:p>
          <a:p>
            <a:r>
              <a:rPr lang="en-US" sz="3600" b="1" dirty="0"/>
              <a:t>Primitive data structures </a:t>
            </a:r>
          </a:p>
          <a:p>
            <a:r>
              <a:rPr lang="en-US" sz="3600" b="1" dirty="0"/>
              <a:t>Non-primitive data structures.</a:t>
            </a:r>
          </a:p>
          <a:p>
            <a:pPr marL="0" indent="0">
              <a:buNone/>
            </a:pPr>
            <a:r>
              <a:rPr lang="en-US" sz="3600" dirty="0"/>
              <a:t>Primitive data structures are the most </a:t>
            </a:r>
            <a:r>
              <a:rPr lang="en-US" sz="3600" b="1" dirty="0"/>
              <a:t>basic data structures </a:t>
            </a:r>
            <a:r>
              <a:rPr lang="en-US" sz="3600" dirty="0"/>
              <a:t>available in a programming language, such as integers, floating-point numbers, characters, and booleans.</a:t>
            </a:r>
          </a:p>
          <a:p>
            <a:pPr marL="0" indent="0">
              <a:buNone/>
            </a:pPr>
            <a:r>
              <a:rPr lang="en-US" sz="3600" dirty="0"/>
              <a:t>Non-primitive data structures are </a:t>
            </a:r>
            <a:r>
              <a:rPr lang="en-US" sz="3600" b="1" dirty="0"/>
              <a:t>complex data structures </a:t>
            </a:r>
            <a:r>
              <a:rPr lang="en-US" sz="3600" dirty="0"/>
              <a:t>that are </a:t>
            </a:r>
            <a:r>
              <a:rPr lang="en-US" sz="3600" b="1" dirty="0"/>
              <a:t>built using primitive data types</a:t>
            </a:r>
            <a:r>
              <a:rPr lang="en-US" sz="3600" dirty="0"/>
              <a:t>, such as arrays, linked lists, stacks, queues, trees, graphs, and hash tables.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55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E4385B-FC07-4F95-B0EC-F23237F1A6D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7579"/>
            <a:ext cx="12090400" cy="6666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5601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0A1ED-890D-43C4-9A68-1FEC26AF1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3"/>
            <a:ext cx="10515600" cy="657013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300" b="1" dirty="0"/>
              <a:t>Classification of Data Structure: </a:t>
            </a:r>
          </a:p>
          <a:p>
            <a:pPr lvl="0"/>
            <a:r>
              <a:rPr lang="en-US" b="1" dirty="0"/>
              <a:t>Linear data structure:</a:t>
            </a:r>
          </a:p>
          <a:p>
            <a:pPr marL="0" lvl="0" indent="0">
              <a:buNone/>
            </a:pPr>
            <a:r>
              <a:rPr lang="en-US" dirty="0"/>
              <a:t>Data structure in which data elements are </a:t>
            </a:r>
            <a:r>
              <a:rPr lang="en-US" b="1" dirty="0"/>
              <a:t>arranged sequentially or linearly, </a:t>
            </a:r>
            <a:r>
              <a:rPr lang="en-US" dirty="0"/>
              <a:t>where each element is attached to its previous and next adjacent elements, is called </a:t>
            </a:r>
            <a:r>
              <a:rPr lang="en-US" b="1" dirty="0"/>
              <a:t>a linear data structure</a:t>
            </a:r>
            <a:r>
              <a:rPr lang="en-US" dirty="0"/>
              <a:t>. </a:t>
            </a:r>
            <a:br>
              <a:rPr lang="en-US" dirty="0"/>
            </a:br>
            <a:r>
              <a:rPr lang="en-US" b="1" i="1" dirty="0"/>
              <a:t>Examples of linear data structures </a:t>
            </a:r>
            <a:r>
              <a:rPr lang="en-US" i="1" dirty="0"/>
              <a:t>are </a:t>
            </a:r>
            <a:r>
              <a:rPr lang="en-US" b="1" i="1" dirty="0"/>
              <a:t>array, stack, queue, linked list</a:t>
            </a:r>
            <a:r>
              <a:rPr lang="en-US" i="1" dirty="0"/>
              <a:t>, etc.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1" dirty="0"/>
              <a:t>Static data structure: </a:t>
            </a:r>
          </a:p>
          <a:p>
            <a:pPr marL="457200" lvl="1" indent="0">
              <a:buNone/>
            </a:pPr>
            <a:r>
              <a:rPr lang="en-US" sz="2800" dirty="0"/>
              <a:t>Static Data Structures are data structures where the </a:t>
            </a:r>
            <a:r>
              <a:rPr lang="en-US" sz="2800" b="1" dirty="0"/>
              <a:t>size is allocated at the compile time.</a:t>
            </a:r>
            <a:r>
              <a:rPr lang="en-US" sz="2800" dirty="0"/>
              <a:t> Hence, the </a:t>
            </a:r>
            <a:r>
              <a:rPr lang="en-US" sz="2800" b="1" dirty="0"/>
              <a:t>maximum memory size is fixed and cannot be changed</a:t>
            </a:r>
            <a:r>
              <a:rPr lang="en-US" sz="2800" dirty="0"/>
              <a:t>. It is </a:t>
            </a:r>
            <a:r>
              <a:rPr lang="en-US" sz="2800" b="1" dirty="0"/>
              <a:t>easier to access </a:t>
            </a:r>
            <a:r>
              <a:rPr lang="en-US" sz="2800" dirty="0"/>
              <a:t>the elements in a static data structure. </a:t>
            </a:r>
            <a:br>
              <a:rPr lang="en-US" sz="2800" dirty="0"/>
            </a:br>
            <a:r>
              <a:rPr lang="en-US" sz="2800" b="1" i="1" dirty="0"/>
              <a:t>An example </a:t>
            </a:r>
            <a:r>
              <a:rPr lang="en-US" sz="2800" i="1" dirty="0"/>
              <a:t>of this data structure is </a:t>
            </a:r>
            <a:r>
              <a:rPr lang="en-US" sz="2800" b="1" i="1" dirty="0"/>
              <a:t>an array</a:t>
            </a:r>
            <a:r>
              <a:rPr lang="en-US" sz="2800" i="1" dirty="0"/>
              <a:t>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1" dirty="0"/>
              <a:t>Dynamic data structure: </a:t>
            </a:r>
            <a:endParaRPr lang="en-US" sz="2800" dirty="0"/>
          </a:p>
          <a:p>
            <a:pPr marL="0" indent="0">
              <a:buNone/>
            </a:pPr>
            <a:r>
              <a:rPr lang="en-US" dirty="0"/>
              <a:t>  Dynamic Data Structures are data structures where </a:t>
            </a:r>
            <a:r>
              <a:rPr lang="en-US" b="1" dirty="0"/>
              <a:t>the size is allocated at the run time</a:t>
            </a:r>
            <a:r>
              <a:rPr lang="en-US" dirty="0"/>
              <a:t>. Hence, the </a:t>
            </a:r>
            <a:r>
              <a:rPr lang="en-US" b="1" dirty="0"/>
              <a:t>maximum size is flexible and can be changed as per requirements. </a:t>
            </a:r>
            <a:endParaRPr lang="en-US" dirty="0">
              <a:effectLst/>
            </a:endParaRPr>
          </a:p>
          <a:p>
            <a:pPr marL="457200" lvl="1" indent="0">
              <a:buNone/>
            </a:pPr>
            <a:r>
              <a:rPr lang="en-US" sz="2800" b="1" i="1" dirty="0"/>
              <a:t>Examples </a:t>
            </a:r>
            <a:r>
              <a:rPr lang="en-US" sz="2800" i="1" dirty="0"/>
              <a:t>of this data structure are </a:t>
            </a:r>
            <a:r>
              <a:rPr lang="en-US" sz="2800" b="1" i="1" dirty="0"/>
              <a:t>queue, stack</a:t>
            </a:r>
            <a:r>
              <a:rPr lang="en-US" sz="2800" i="1" dirty="0"/>
              <a:t>, etc.</a:t>
            </a:r>
            <a:endParaRPr lang="en-US" sz="2800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492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DF04-C656-419C-B9E2-8B50382B7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26578"/>
          </a:xfrm>
        </p:spPr>
        <p:txBody>
          <a:bodyPr/>
          <a:lstStyle/>
          <a:p>
            <a:r>
              <a:rPr lang="en-US" sz="3600" b="1" dirty="0"/>
              <a:t>Non-linear data structure: </a:t>
            </a:r>
          </a:p>
          <a:p>
            <a:pPr marL="0" indent="0">
              <a:buNone/>
            </a:pPr>
            <a:r>
              <a:rPr lang="en-US" sz="3600" dirty="0"/>
              <a:t>Data structures where data elements are </a:t>
            </a:r>
            <a:r>
              <a:rPr lang="en-US" sz="3600" b="1" dirty="0"/>
              <a:t>not placed sequentially or linearly are called non-linear data structures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In a non-linear data structure, we </a:t>
            </a:r>
            <a:r>
              <a:rPr lang="en-US" sz="3600" b="1" dirty="0"/>
              <a:t>can’t traverse all the elements in a single run </a:t>
            </a:r>
            <a:r>
              <a:rPr lang="en-US" sz="3600" dirty="0"/>
              <a:t>only. </a:t>
            </a:r>
            <a:br>
              <a:rPr lang="en-US" sz="3600" dirty="0"/>
            </a:br>
            <a:r>
              <a:rPr lang="en-US" sz="3600" b="1" i="1" dirty="0"/>
              <a:t>Examples of non-linear </a:t>
            </a:r>
            <a:r>
              <a:rPr lang="en-US" sz="3600" i="1" dirty="0"/>
              <a:t>data structures are </a:t>
            </a:r>
            <a:r>
              <a:rPr lang="en-US" sz="3600" b="1" i="1" dirty="0"/>
              <a:t>trees and graphs</a:t>
            </a:r>
            <a:r>
              <a:rPr lang="en-US" b="1" i="1" dirty="0"/>
              <a:t>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668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lassification of Data Structure">
            <a:extLst>
              <a:ext uri="{FF2B5EF4-FFF2-40B4-BE49-F238E27FC236}">
                <a16:creationId xmlns:a16="http://schemas.microsoft.com/office/drawing/2014/main" id="{129B544C-4545-46FA-B722-1862CFCD279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94" y="197224"/>
            <a:ext cx="11152094" cy="6472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115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0C31-3FCE-4CDA-A79E-5EFF4519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188"/>
            <a:ext cx="10515600" cy="5163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of Data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95F22-8398-476E-9397-0FFB671BB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4"/>
            <a:ext cx="10515600" cy="58270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Applications are becoming more complex and the amount of data is increasing day by day, which may cause problems </a:t>
            </a:r>
            <a:r>
              <a:rPr lang="en-US" sz="3200" b="1" dirty="0"/>
              <a:t>with processing speed, searching data, handling multiple requests </a:t>
            </a:r>
            <a:r>
              <a:rPr lang="en-US" sz="3200" dirty="0"/>
              <a:t>etc. </a:t>
            </a:r>
          </a:p>
          <a:p>
            <a:r>
              <a:rPr lang="en-US" sz="3200" dirty="0"/>
              <a:t>Data structure </a:t>
            </a:r>
            <a:r>
              <a:rPr lang="en-US" sz="3200" b="1" dirty="0"/>
              <a:t>provides a way of organizing, managing, and storing data efficiently. </a:t>
            </a:r>
          </a:p>
          <a:p>
            <a:r>
              <a:rPr lang="en-US" sz="3200" dirty="0"/>
              <a:t>With the help of data structure, the </a:t>
            </a:r>
            <a:r>
              <a:rPr lang="en-US" sz="3200" b="1" dirty="0"/>
              <a:t>data items can be traversed easily.</a:t>
            </a:r>
          </a:p>
          <a:p>
            <a:r>
              <a:rPr lang="en-US" sz="3200" dirty="0"/>
              <a:t> Data structure </a:t>
            </a:r>
            <a:r>
              <a:rPr lang="en-US" sz="3200" b="1" dirty="0"/>
              <a:t>provides efficiency, reusability and abstraction.</a:t>
            </a:r>
          </a:p>
          <a:p>
            <a:r>
              <a:rPr lang="en-US" sz="3200" dirty="0"/>
              <a:t> It plays an </a:t>
            </a:r>
            <a:r>
              <a:rPr lang="en-US" sz="3200" b="1" dirty="0"/>
              <a:t>important role in enhancing the performance of a program</a:t>
            </a:r>
            <a:r>
              <a:rPr lang="en-US" sz="3200" dirty="0"/>
              <a:t> because the main function of the program is to store and retrieve the </a:t>
            </a:r>
            <a:r>
              <a:rPr lang="en-US" sz="3200" b="1" dirty="0"/>
              <a:t>user’s data as fast as possible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45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13119-67EC-415C-9263-71E4889CE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Characteristics of Data Structures: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Correctness:</a:t>
            </a:r>
          </a:p>
          <a:p>
            <a:pPr marL="0" indent="0">
              <a:buNone/>
            </a:pPr>
            <a:r>
              <a:rPr lang="en-US" dirty="0"/>
              <a:t>Data structure implementation should implement its interface correctly.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Time complexity:</a:t>
            </a:r>
          </a:p>
          <a:p>
            <a:pPr marL="0" indent="0">
              <a:buNone/>
            </a:pPr>
            <a:r>
              <a:rPr lang="en-US" dirty="0"/>
              <a:t>Running time or the execution time of operations of data structure must be as small as possible.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Space complexity:</a:t>
            </a:r>
          </a:p>
          <a:p>
            <a:pPr marL="0" indent="0">
              <a:buNone/>
            </a:pPr>
            <a:r>
              <a:rPr lang="en-US" dirty="0"/>
              <a:t>Memory usage of a data structure operation should be as little as possible.</a:t>
            </a:r>
          </a:p>
          <a:p>
            <a:pPr marL="0" indent="0">
              <a:buNone/>
            </a:pPr>
            <a:r>
              <a:rPr lang="en-US" b="1" dirty="0"/>
              <a:t>Execution time cases:</a:t>
            </a:r>
          </a:p>
          <a:p>
            <a:pPr marL="0" indent="0">
              <a:buNone/>
            </a:pPr>
            <a:r>
              <a:rPr lang="en-US" dirty="0"/>
              <a:t>There are 3 cases which are usually used to compare various data structures execution time in a relative manner.</a:t>
            </a:r>
          </a:p>
          <a:p>
            <a:pPr marL="0" indent="0">
              <a:buNone/>
            </a:pPr>
            <a:r>
              <a:rPr lang="en-US" b="1" dirty="0"/>
              <a:t>Worst case: </a:t>
            </a:r>
            <a:r>
              <a:rPr lang="en-US" dirty="0"/>
              <a:t>data structure operation takes maximum time  it can take.</a:t>
            </a:r>
          </a:p>
          <a:p>
            <a:pPr marL="0" indent="0">
              <a:buNone/>
            </a:pPr>
            <a:r>
              <a:rPr lang="en-US" b="1" dirty="0"/>
              <a:t>Average case: </a:t>
            </a:r>
            <a:r>
              <a:rPr lang="en-US" dirty="0"/>
              <a:t>depicts  the average of execution time of an operation of a data structure.</a:t>
            </a:r>
          </a:p>
          <a:p>
            <a:pPr marL="0" indent="0">
              <a:buNone/>
            </a:pPr>
            <a:r>
              <a:rPr lang="en-US" b="1" dirty="0"/>
              <a:t>Best case: </a:t>
            </a:r>
            <a:r>
              <a:rPr lang="en-US" dirty="0"/>
              <a:t>depicts  the least possible execution time of an operation of a data structure. </a:t>
            </a:r>
          </a:p>
        </p:txBody>
      </p:sp>
    </p:spTree>
    <p:extLst>
      <p:ext uri="{BB962C8B-B14F-4D97-AF65-F5344CB8AC3E}">
        <p14:creationId xmlns:p14="http://schemas.microsoft.com/office/powerpoint/2010/main" val="1544504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7633-1B93-47A3-9F14-78DD9F17D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933"/>
            <a:ext cx="10515600" cy="590603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/>
              <a:t>Thank you.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35627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</TotalTime>
  <Words>2136</Words>
  <Application>Microsoft Office PowerPoint</Application>
  <PresentationFormat>Widescreen</PresentationFormat>
  <Paragraphs>221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Need of Data Structure: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</dc:creator>
  <cp:lastModifiedBy>Betty Singano</cp:lastModifiedBy>
  <cp:revision>81</cp:revision>
  <dcterms:created xsi:type="dcterms:W3CDTF">2023-03-18T17:05:51Z</dcterms:created>
  <dcterms:modified xsi:type="dcterms:W3CDTF">2024-03-20T18:05:19Z</dcterms:modified>
</cp:coreProperties>
</file>