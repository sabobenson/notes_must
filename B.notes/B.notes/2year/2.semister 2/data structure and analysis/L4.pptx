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7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38B40-4B43-477B-A156-7AF6612FAB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6DC03-4175-48A6-9332-BDD2487CBC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84CE9-93D8-4522-8E3D-262AF6F8D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23D9B-8DE8-41CB-B3A2-4591538E2709}" type="datetimeFigureOut">
              <a:rPr lang="en-US" smtClean="0"/>
              <a:t>4/5/2024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61AE11-AE2E-4A5E-9442-4DE919670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7A3496-5B88-43E0-A533-7FAAD697E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5A2A9-DAAC-40AD-83AA-E58AE8A0D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853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95E38-D6DD-417C-9F96-A7BC8EA1D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4C9F8-C9D6-44E3-A9DD-D4CC5CD8C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69DB0-067C-4B96-BB2C-59CEE9735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23D9B-8DE8-41CB-B3A2-4591538E2709}" type="datetimeFigureOut">
              <a:rPr lang="en-US" smtClean="0"/>
              <a:t>4/5/2024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52674-B25B-494E-985C-D4CBC0B40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30B06D-B374-4E3C-B05C-30E63DA45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5A2A9-DAAC-40AD-83AA-E58AE8A0D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070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8DC3A-C631-4EE6-BE29-8E0914BE2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BFC0F7-C335-4D21-9B31-896EF1FCA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638BAF-8F07-42B9-A877-5883D91BD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23D9B-8DE8-41CB-B3A2-4591538E2709}" type="datetimeFigureOut">
              <a:rPr lang="en-US" smtClean="0"/>
              <a:t>4/5/2024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F809D-51FC-4BAC-B96A-06876A7C9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79A27-7E2D-4975-975E-0E6E219A6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5A2A9-DAAC-40AD-83AA-E58AE8A0D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477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25764-C890-4239-9CA4-6F4A288A3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9E501-FC77-473B-8874-73B771CC5E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1EE6BB-F509-4D3C-AD5A-058D883E70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7A72E2-3993-44E4-A5AD-14179A4A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23D9B-8DE8-41CB-B3A2-4591538E2709}" type="datetimeFigureOut">
              <a:rPr lang="en-US" smtClean="0"/>
              <a:t>4/5/2024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70B7F9-73B4-4165-9B6F-3C15DD4C6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A38142-4D01-4BC5-999F-CD35CA6D1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5A2A9-DAAC-40AD-83AA-E58AE8A0D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38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A9AC1-25DA-471E-B5C9-1DCF5D2A5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6CED2F-FA89-416E-AC8A-1D5C9F3F6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1E0013-C7E5-48E6-81B0-3E26F8030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8678E5-1D31-4279-8D39-68F6C77AF5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C8C93D-FE4B-47DA-A302-59B70CC206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0AF841-5567-4FCF-B17E-3AE58EBD3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23D9B-8DE8-41CB-B3A2-4591538E2709}" type="datetimeFigureOut">
              <a:rPr lang="en-US" smtClean="0"/>
              <a:t>4/5/2024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C645F-4576-4692-8B5A-4131A9DB6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06B1C3-C7DE-48CE-BE89-63D6E848D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5A2A9-DAAC-40AD-83AA-E58AE8A0D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360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C9C77-D5A2-4CB5-B2B5-409A8F270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F6A90F-35C2-4EC3-B47A-2420E853A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23D9B-8DE8-41CB-B3A2-4591538E2709}" type="datetimeFigureOut">
              <a:rPr lang="en-US" smtClean="0"/>
              <a:t>4/5/2024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9E5753-C49C-4BBA-B7B3-656C366DC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6ADF06-8EFE-4985-A23E-610B2DFD6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5A2A9-DAAC-40AD-83AA-E58AE8A0D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719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CCEBE-72B0-4E67-B216-41DFF4BE4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23D9B-8DE8-41CB-B3A2-4591538E2709}" type="datetimeFigureOut">
              <a:rPr lang="en-US" smtClean="0"/>
              <a:t>4/5/2024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4AF923-796E-44AD-9F1A-BF967AF75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8D7C54-B462-475D-9C9E-C24565AF4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5A2A9-DAAC-40AD-83AA-E58AE8A0D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493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BFF40-CE14-4643-892E-FC65C4F2C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5CB5A-ABAF-4FD5-9B74-967122308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1FFC16-0313-444D-94DE-7FA7FE9D65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5D0FE3-2CAD-4F10-9AEB-FC2DF4177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23D9B-8DE8-41CB-B3A2-4591538E2709}" type="datetimeFigureOut">
              <a:rPr lang="en-US" smtClean="0"/>
              <a:t>4/5/2024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16A065-0F46-4D24-A638-FBAAE8341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B75EB3-827A-4E91-8937-F81FAA185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5A2A9-DAAC-40AD-83AA-E58AE8A0D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270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2F239-012D-4F19-AD8D-07A638C21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148874-765D-4FD6-8525-FB62E73ED4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13A540-9EF6-43C1-9FC9-F2024E71C8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F03142-BC89-4997-AE7F-E37F7BE84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23D9B-8DE8-41CB-B3A2-4591538E2709}" type="datetimeFigureOut">
              <a:rPr lang="en-US" smtClean="0"/>
              <a:t>4/5/2024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317AF7-07EA-4190-B7EB-837799E49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447397-AAFD-41D3-90B3-B6BCC081F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5A2A9-DAAC-40AD-83AA-E58AE8A0D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085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44B29-327A-4C7D-AA27-5028B3640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48A479-0458-49E1-A237-182CFBE359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A5387D-6C9C-47E7-A011-69086ED88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23D9B-8DE8-41CB-B3A2-4591538E2709}" type="datetimeFigureOut">
              <a:rPr lang="en-US" smtClean="0"/>
              <a:t>4/5/2024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8DE99D-D0F2-4D40-8136-2721A1298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4B72E-16E5-4CCC-9810-4ECB6B892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5A2A9-DAAC-40AD-83AA-E58AE8A0D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800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7F43E9-0A7F-4AED-B37B-CE2ECF373D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8F74BE-1032-4379-9391-8CB7EB23C3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1C824-D8F1-4BCC-8C46-AFF4ADA2D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23D9B-8DE8-41CB-B3A2-4591538E2709}" type="datetimeFigureOut">
              <a:rPr lang="en-US" smtClean="0"/>
              <a:t>4/5/2024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7AB51-9D1C-4BC1-851B-F46DB2869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7A678-DEE0-41E2-A8E5-844329DF3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5A2A9-DAAC-40AD-83AA-E58AE8A0D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204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93ECAB-9505-4C09-90DE-26C538AD5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788B1C-E6FC-4D2B-AF36-F0B59BEFA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DEA6E6-0389-4001-AD65-B2B8D96A20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C23D9B-8DE8-41CB-B3A2-4591538E2709}" type="datetimeFigureOut">
              <a:rPr lang="en-US" smtClean="0"/>
              <a:t>4/5/2024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E7317-DDC4-44D2-9C0E-FA164623D3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C9E2D6-3EC4-4F7C-A587-62EEB44931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65A2A9-DAAC-40AD-83AA-E58AE8A0D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906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D49C6-6C09-4469-9FEF-7EE0CAE1E3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8511" y="0"/>
            <a:ext cx="10515600" cy="6739467"/>
          </a:xfrm>
        </p:spPr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4000" b="1" dirty="0"/>
              <a:t>Analyzing Problems:</a:t>
            </a:r>
          </a:p>
          <a:p>
            <a:pPr marL="0" indent="0">
              <a:buNone/>
            </a:pPr>
            <a:r>
              <a:rPr lang="en-US" sz="3200" b="1" dirty="0"/>
              <a:t>Analyzing a problem is an essential step in solving it.</a:t>
            </a:r>
            <a:r>
              <a:rPr lang="en-US" sz="3200" dirty="0"/>
              <a:t> </a:t>
            </a:r>
          </a:p>
          <a:p>
            <a:pPr marL="0" indent="0">
              <a:buNone/>
            </a:pPr>
            <a:r>
              <a:rPr lang="en-US" sz="3200" dirty="0"/>
              <a:t>Here are </a:t>
            </a:r>
            <a:r>
              <a:rPr lang="en-US" sz="3200" b="1" dirty="0"/>
              <a:t>some steps to help you analyze a problem </a:t>
            </a:r>
            <a:r>
              <a:rPr lang="en-US" sz="3200" dirty="0"/>
              <a:t>effectively:</a:t>
            </a:r>
          </a:p>
          <a:p>
            <a:r>
              <a:rPr lang="en-US" sz="3200" b="1" dirty="0">
                <a:solidFill>
                  <a:srgbClr val="FF0000"/>
                </a:solidFill>
              </a:rPr>
              <a:t>Define the problem: </a:t>
            </a:r>
          </a:p>
          <a:p>
            <a:pPr marL="0" indent="0">
              <a:buNone/>
            </a:pPr>
            <a:r>
              <a:rPr lang="en-US" sz="3200" dirty="0"/>
              <a:t>The first step is to </a:t>
            </a:r>
            <a:r>
              <a:rPr lang="en-US" sz="3200" b="1" dirty="0"/>
              <a:t>clearly define the problem </a:t>
            </a:r>
            <a:r>
              <a:rPr lang="en-US" sz="3200" dirty="0"/>
              <a:t>you are </a:t>
            </a:r>
            <a:r>
              <a:rPr lang="en-US" sz="3200" b="1" dirty="0"/>
              <a:t>trying to solve</a:t>
            </a:r>
            <a:r>
              <a:rPr lang="en-US" sz="3200" dirty="0"/>
              <a:t>. This includes </a:t>
            </a:r>
            <a:r>
              <a:rPr lang="en-US" sz="3200" b="1" dirty="0"/>
              <a:t>identifying the symptoms</a:t>
            </a:r>
            <a:r>
              <a:rPr lang="en-US" sz="3200" dirty="0"/>
              <a:t>, </a:t>
            </a:r>
            <a:r>
              <a:rPr lang="en-US" sz="3200" b="1" dirty="0"/>
              <a:t>understanding the context </a:t>
            </a:r>
            <a:r>
              <a:rPr lang="en-US" sz="3200" dirty="0"/>
              <a:t>of the problem, and </a:t>
            </a:r>
            <a:r>
              <a:rPr lang="en-US" sz="3200" b="1" dirty="0"/>
              <a:t>understanding the scope </a:t>
            </a:r>
            <a:r>
              <a:rPr lang="en-US" sz="3200" dirty="0"/>
              <a:t>of the problem.</a:t>
            </a:r>
          </a:p>
          <a:p>
            <a:r>
              <a:rPr lang="en-US" sz="3200" b="1" dirty="0">
                <a:solidFill>
                  <a:srgbClr val="FF0000"/>
                </a:solidFill>
              </a:rPr>
              <a:t>Gather information:</a:t>
            </a:r>
          </a:p>
          <a:p>
            <a:pPr marL="0" indent="0">
              <a:buNone/>
            </a:pPr>
            <a:r>
              <a:rPr lang="en-US" sz="3200" dirty="0"/>
              <a:t>Once the problem is defined, </a:t>
            </a:r>
            <a:r>
              <a:rPr lang="en-US" sz="3200" b="1" dirty="0"/>
              <a:t>gather as much information </a:t>
            </a:r>
            <a:r>
              <a:rPr lang="en-US" sz="3200" dirty="0"/>
              <a:t>about the </a:t>
            </a:r>
            <a:r>
              <a:rPr lang="en-US" sz="3200" b="1" dirty="0"/>
              <a:t>problem as possible</a:t>
            </a:r>
            <a:r>
              <a:rPr lang="en-US" sz="3200" dirty="0"/>
              <a:t>.</a:t>
            </a:r>
          </a:p>
          <a:p>
            <a:pPr marL="0" indent="0">
              <a:buNone/>
            </a:pPr>
            <a:r>
              <a:rPr lang="en-US" sz="3200" dirty="0"/>
              <a:t>This includes </a:t>
            </a:r>
            <a:r>
              <a:rPr lang="en-US" sz="3200" b="1" dirty="0"/>
              <a:t>collecting data</a:t>
            </a:r>
            <a:r>
              <a:rPr lang="en-US" sz="3200" dirty="0"/>
              <a:t>, </a:t>
            </a:r>
            <a:r>
              <a:rPr lang="en-US" sz="3200" b="1" dirty="0"/>
              <a:t>talking to people </a:t>
            </a:r>
            <a:r>
              <a:rPr lang="en-US" sz="3200" dirty="0"/>
              <a:t>who are </a:t>
            </a:r>
            <a:r>
              <a:rPr lang="en-US" sz="3200" b="1" dirty="0"/>
              <a:t>involved</a:t>
            </a:r>
            <a:r>
              <a:rPr lang="en-US" sz="3200" dirty="0"/>
              <a:t> or </a:t>
            </a:r>
            <a:r>
              <a:rPr lang="en-US" sz="3200" b="1" dirty="0"/>
              <a:t>affected by the problem</a:t>
            </a:r>
            <a:r>
              <a:rPr lang="en-US" sz="3200" dirty="0"/>
              <a:t>, and </a:t>
            </a:r>
            <a:r>
              <a:rPr lang="en-US" sz="3200" b="1" dirty="0"/>
              <a:t>researching similar problems.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58779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CD518-A97F-45AB-9060-B07A65EEF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756"/>
            <a:ext cx="10515600" cy="6604000"/>
          </a:xfrm>
        </p:spPr>
        <p:txBody>
          <a:bodyPr>
            <a:normAutofit fontScale="92500"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Break down the problem: </a:t>
            </a:r>
          </a:p>
          <a:p>
            <a:pPr marL="0" indent="0">
              <a:buNone/>
            </a:pPr>
            <a:r>
              <a:rPr lang="en-US" sz="3600" dirty="0"/>
              <a:t>Break the problem down into </a:t>
            </a:r>
            <a:r>
              <a:rPr lang="en-US" sz="3600" b="1" dirty="0"/>
              <a:t>smaller,</a:t>
            </a:r>
            <a:r>
              <a:rPr lang="en-US" sz="3600" dirty="0"/>
              <a:t> more </a:t>
            </a:r>
            <a:r>
              <a:rPr lang="en-US" sz="3600" b="1" dirty="0"/>
              <a:t>manageable parts</a:t>
            </a:r>
            <a:r>
              <a:rPr lang="en-US" sz="3600" dirty="0"/>
              <a:t>. </a:t>
            </a:r>
          </a:p>
          <a:p>
            <a:pPr marL="0" indent="0">
              <a:buNone/>
            </a:pPr>
            <a:r>
              <a:rPr lang="en-US" sz="3600" dirty="0"/>
              <a:t>This </a:t>
            </a:r>
            <a:r>
              <a:rPr lang="en-US" sz="3600" b="1" dirty="0"/>
              <a:t>can help you identify </a:t>
            </a:r>
            <a:r>
              <a:rPr lang="en-US" sz="3600" dirty="0"/>
              <a:t>the </a:t>
            </a:r>
            <a:r>
              <a:rPr lang="en-US" sz="3600" b="1" dirty="0"/>
              <a:t>root cause of the problem </a:t>
            </a:r>
            <a:r>
              <a:rPr lang="en-US" sz="3600" dirty="0"/>
              <a:t>and make it </a:t>
            </a:r>
            <a:r>
              <a:rPr lang="en-US" sz="3600" b="1" dirty="0"/>
              <a:t>easier to solve</a:t>
            </a:r>
            <a:r>
              <a:rPr lang="en-US" sz="3600" dirty="0"/>
              <a:t>.</a:t>
            </a:r>
          </a:p>
          <a:p>
            <a:r>
              <a:rPr lang="en-US" sz="3600" b="1" dirty="0">
                <a:solidFill>
                  <a:srgbClr val="FF0000"/>
                </a:solidFill>
              </a:rPr>
              <a:t>Identify patterns: </a:t>
            </a:r>
          </a:p>
          <a:p>
            <a:pPr marL="0" indent="0">
              <a:buNone/>
            </a:pPr>
            <a:r>
              <a:rPr lang="en-US" sz="3600" dirty="0"/>
              <a:t>Look for </a:t>
            </a:r>
            <a:r>
              <a:rPr lang="en-US" sz="3600" b="1" dirty="0"/>
              <a:t>patterns or trends </a:t>
            </a:r>
            <a:r>
              <a:rPr lang="en-US" sz="3600" dirty="0"/>
              <a:t>in the </a:t>
            </a:r>
            <a:r>
              <a:rPr lang="en-US" sz="3600" b="1" dirty="0"/>
              <a:t>data you have collected</a:t>
            </a:r>
            <a:r>
              <a:rPr lang="en-US" sz="3600" dirty="0"/>
              <a:t>.</a:t>
            </a:r>
          </a:p>
          <a:p>
            <a:pPr marL="0" indent="0">
              <a:buNone/>
            </a:pPr>
            <a:r>
              <a:rPr lang="en-US" sz="3600" dirty="0"/>
              <a:t> This can help you </a:t>
            </a:r>
            <a:r>
              <a:rPr lang="en-US" sz="3600" b="1" dirty="0"/>
              <a:t>identify potential causes of the problem</a:t>
            </a:r>
            <a:r>
              <a:rPr lang="en-US" sz="3600" dirty="0"/>
              <a:t>.</a:t>
            </a:r>
          </a:p>
          <a:p>
            <a:r>
              <a:rPr lang="en-US" sz="3600" b="1" dirty="0">
                <a:solidFill>
                  <a:srgbClr val="FF0000"/>
                </a:solidFill>
              </a:rPr>
              <a:t>Use tools and techniques: </a:t>
            </a:r>
          </a:p>
          <a:p>
            <a:pPr marL="0" indent="0">
              <a:buNone/>
            </a:pPr>
            <a:r>
              <a:rPr lang="en-US" sz="3600" dirty="0"/>
              <a:t>There are </a:t>
            </a:r>
            <a:r>
              <a:rPr lang="en-US" sz="3600" b="1" dirty="0"/>
              <a:t>many tools and techniques </a:t>
            </a:r>
            <a:r>
              <a:rPr lang="en-US" sz="3600" dirty="0"/>
              <a:t>you can </a:t>
            </a:r>
            <a:r>
              <a:rPr lang="en-US" sz="3600" b="1" dirty="0"/>
              <a:t>use to analyze </a:t>
            </a:r>
            <a:r>
              <a:rPr lang="en-US" sz="3600" dirty="0"/>
              <a:t>a </a:t>
            </a:r>
            <a:r>
              <a:rPr lang="en-US" sz="3600" b="1" dirty="0"/>
              <a:t>problem</a:t>
            </a:r>
            <a:r>
              <a:rPr lang="en-US" sz="3600" dirty="0"/>
              <a:t>, such as </a:t>
            </a:r>
            <a:r>
              <a:rPr lang="en-US" sz="3600" b="1" dirty="0"/>
              <a:t>flowcharts, diagrams, cause-and-effect diagrams</a:t>
            </a:r>
            <a:r>
              <a:rPr lang="en-US" sz="3600" dirty="0"/>
              <a:t>, and </a:t>
            </a:r>
            <a:r>
              <a:rPr lang="en-US" sz="3600" b="1" dirty="0"/>
              <a:t>Pareto charts.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0753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379FA-BB8F-43F9-9E98-EEB240912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888"/>
            <a:ext cx="10515600" cy="6637867"/>
          </a:xfrm>
        </p:spPr>
        <p:txBody>
          <a:bodyPr>
            <a:normAutofit fontScale="92500" lnSpcReduction="10000"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Generate possible solutions:</a:t>
            </a:r>
          </a:p>
          <a:p>
            <a:pPr marL="0" indent="0">
              <a:buNone/>
            </a:pPr>
            <a:r>
              <a:rPr lang="en-US" sz="3600" dirty="0"/>
              <a:t>Once you </a:t>
            </a:r>
            <a:r>
              <a:rPr lang="en-US" sz="3600" b="1" dirty="0"/>
              <a:t>have identified </a:t>
            </a:r>
            <a:r>
              <a:rPr lang="en-US" sz="3600" dirty="0"/>
              <a:t>the </a:t>
            </a:r>
            <a:r>
              <a:rPr lang="en-US" sz="3600" b="1" dirty="0"/>
              <a:t>root cause of the problem</a:t>
            </a:r>
            <a:r>
              <a:rPr lang="en-US" sz="3600" dirty="0"/>
              <a:t>, </a:t>
            </a:r>
            <a:r>
              <a:rPr lang="en-US" sz="3600" b="1" dirty="0"/>
              <a:t>generate possible solutions to address the problem.</a:t>
            </a:r>
            <a:endParaRPr lang="en-US" sz="3600" dirty="0"/>
          </a:p>
          <a:p>
            <a:r>
              <a:rPr lang="en-US" sz="3600" b="1" dirty="0">
                <a:solidFill>
                  <a:srgbClr val="FF0000"/>
                </a:solidFill>
              </a:rPr>
              <a:t>Evaluate solutions:</a:t>
            </a:r>
          </a:p>
          <a:p>
            <a:pPr marL="0" indent="0">
              <a:buNone/>
            </a:pPr>
            <a:r>
              <a:rPr lang="en-US" sz="3600" dirty="0"/>
              <a:t>Evaluate each solution based on its feasibility, impact, and cost. Choose the solution that is most effective and feasible.</a:t>
            </a:r>
          </a:p>
          <a:p>
            <a:r>
              <a:rPr lang="en-US" sz="3600" b="1" dirty="0">
                <a:solidFill>
                  <a:srgbClr val="FF0000"/>
                </a:solidFill>
              </a:rPr>
              <a:t>Implement and monitor the solution:</a:t>
            </a:r>
          </a:p>
          <a:p>
            <a:pPr marL="0" indent="0">
              <a:buNone/>
            </a:pPr>
            <a:r>
              <a:rPr lang="en-US" sz="3600" b="1" dirty="0"/>
              <a:t>Implement the chosen solution and monitor its effectiveness</a:t>
            </a:r>
            <a:r>
              <a:rPr lang="en-US" sz="3600" dirty="0"/>
              <a:t>. </a:t>
            </a:r>
          </a:p>
          <a:p>
            <a:pPr marL="0" indent="0">
              <a:buNone/>
            </a:pPr>
            <a:r>
              <a:rPr lang="en-US" sz="3600" dirty="0"/>
              <a:t>Make </a:t>
            </a:r>
            <a:r>
              <a:rPr lang="en-US" sz="3600" b="1" dirty="0"/>
              <a:t>adjustments</a:t>
            </a:r>
            <a:r>
              <a:rPr lang="en-US" sz="3600" dirty="0"/>
              <a:t> if necessary.</a:t>
            </a:r>
          </a:p>
          <a:p>
            <a:pPr marL="0" indent="0">
              <a:buNone/>
            </a:pPr>
            <a:r>
              <a:rPr lang="en-US" sz="3600" dirty="0"/>
              <a:t>By following these steps, you can </a:t>
            </a:r>
            <a:r>
              <a:rPr lang="en-US" sz="3600" b="1" dirty="0"/>
              <a:t>effectively analyze a problem </a:t>
            </a:r>
            <a:r>
              <a:rPr lang="en-US" sz="3600" dirty="0"/>
              <a:t>and </a:t>
            </a:r>
            <a:r>
              <a:rPr lang="en-US" sz="3600" b="1" dirty="0"/>
              <a:t>come up with a solution that addresses the root cause of the problem</a:t>
            </a:r>
            <a:r>
              <a:rPr lang="en-US" sz="3600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715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59A5B-43D2-49DD-9E53-5BF193F06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889"/>
            <a:ext cx="10515600" cy="6604000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4000" b="1" dirty="0"/>
              <a:t>Common misunderstandings in analyzing a problem:</a:t>
            </a:r>
          </a:p>
          <a:p>
            <a:pPr marL="0" indent="0">
              <a:buNone/>
            </a:pPr>
            <a:r>
              <a:rPr lang="en-US" sz="3600" dirty="0"/>
              <a:t>Analyzing a problem can be a </a:t>
            </a:r>
            <a:r>
              <a:rPr lang="en-US" sz="3600" b="1" dirty="0"/>
              <a:t>complex process</a:t>
            </a:r>
            <a:r>
              <a:rPr lang="en-US" sz="3600" dirty="0"/>
              <a:t>, and there are s</a:t>
            </a:r>
            <a:r>
              <a:rPr lang="en-US" sz="3600" b="1" dirty="0"/>
              <a:t>everal common misunderstandings that can occur</a:t>
            </a:r>
            <a:r>
              <a:rPr lang="en-US" sz="3600" dirty="0"/>
              <a:t>.</a:t>
            </a:r>
          </a:p>
          <a:p>
            <a:pPr marL="0" indent="0">
              <a:buNone/>
            </a:pPr>
            <a:r>
              <a:rPr lang="en-US" sz="3600" dirty="0"/>
              <a:t>Here are some of the </a:t>
            </a:r>
            <a:r>
              <a:rPr lang="en-US" sz="3600" b="1" dirty="0"/>
              <a:t>most common misunderstandings </a:t>
            </a:r>
            <a:r>
              <a:rPr lang="en-US" sz="3600" dirty="0"/>
              <a:t>in analyzing a problem:</a:t>
            </a:r>
          </a:p>
          <a:p>
            <a:r>
              <a:rPr lang="en-US" sz="3600" b="1" dirty="0">
                <a:solidFill>
                  <a:srgbClr val="FF0000"/>
                </a:solidFill>
              </a:rPr>
              <a:t>Focusing on symptoms rather than the root cause:</a:t>
            </a:r>
          </a:p>
          <a:p>
            <a:pPr marL="0" indent="0">
              <a:buNone/>
            </a:pPr>
            <a:r>
              <a:rPr lang="en-US" sz="3600" dirty="0"/>
              <a:t>One common mistake is to focus on the symptoms of the problem rather than the root cause. </a:t>
            </a:r>
          </a:p>
          <a:p>
            <a:pPr marL="0" indent="0">
              <a:buNone/>
            </a:pPr>
            <a:r>
              <a:rPr lang="en-US" sz="3600" dirty="0"/>
              <a:t>This can result in treating the symptoms without addressing the underlying issue, which can lead to the problem persisting or recurring.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415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001CD-38A8-40BD-B592-3A6E07E7F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310"/>
            <a:ext cx="10515600" cy="6671733"/>
          </a:xfrm>
        </p:spPr>
        <p:txBody>
          <a:bodyPr>
            <a:normAutofit lnSpcReduction="10000"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Rushing to solutions:</a:t>
            </a:r>
          </a:p>
          <a:p>
            <a:pPr marL="0" indent="0">
              <a:buNone/>
            </a:pPr>
            <a:r>
              <a:rPr lang="en-US" sz="3600" dirty="0"/>
              <a:t>Another mistake is to </a:t>
            </a:r>
            <a:r>
              <a:rPr lang="en-US" sz="3600" b="1" dirty="0"/>
              <a:t>rush to solutions </a:t>
            </a:r>
            <a:r>
              <a:rPr lang="en-US" sz="3600" dirty="0"/>
              <a:t>before </a:t>
            </a:r>
            <a:r>
              <a:rPr lang="en-US" sz="3600" b="1" dirty="0"/>
              <a:t>fully understanding </a:t>
            </a:r>
            <a:r>
              <a:rPr lang="en-US" sz="3600" dirty="0"/>
              <a:t>the </a:t>
            </a:r>
            <a:r>
              <a:rPr lang="en-US" sz="3600" b="1" dirty="0"/>
              <a:t>problem</a:t>
            </a:r>
            <a:r>
              <a:rPr lang="en-US" sz="3600" dirty="0"/>
              <a:t>. </a:t>
            </a:r>
          </a:p>
          <a:p>
            <a:pPr marL="0" indent="0">
              <a:buNone/>
            </a:pPr>
            <a:r>
              <a:rPr lang="en-US" sz="3600" dirty="0"/>
              <a:t>This </a:t>
            </a:r>
            <a:r>
              <a:rPr lang="en-US" sz="3600" b="1" dirty="0"/>
              <a:t>can result in implementing ineffective solutions </a:t>
            </a:r>
            <a:r>
              <a:rPr lang="en-US" sz="3600" dirty="0"/>
              <a:t>that </a:t>
            </a:r>
            <a:r>
              <a:rPr lang="en-US" sz="3600" b="1" dirty="0"/>
              <a:t>don't address the root cause of the problem</a:t>
            </a:r>
            <a:r>
              <a:rPr lang="en-US" sz="3600" dirty="0"/>
              <a:t>.</a:t>
            </a:r>
          </a:p>
          <a:p>
            <a:r>
              <a:rPr lang="en-US" sz="3600" b="1" dirty="0">
                <a:solidFill>
                  <a:srgbClr val="FF0000"/>
                </a:solidFill>
              </a:rPr>
              <a:t>Biases:</a:t>
            </a:r>
          </a:p>
          <a:p>
            <a:pPr marL="0" indent="0">
              <a:buNone/>
            </a:pPr>
            <a:r>
              <a:rPr lang="en-US" sz="3600" dirty="0"/>
              <a:t>Sometimes, people </a:t>
            </a:r>
            <a:r>
              <a:rPr lang="en-US" sz="3600" b="1" dirty="0"/>
              <a:t>can</a:t>
            </a:r>
            <a:r>
              <a:rPr lang="en-US" sz="3600" dirty="0"/>
              <a:t> </a:t>
            </a:r>
            <a:r>
              <a:rPr lang="en-US" sz="3600" b="1" dirty="0"/>
              <a:t>be biased in their problem analysis</a:t>
            </a:r>
            <a:r>
              <a:rPr lang="en-US" sz="3600" dirty="0"/>
              <a:t>, which can </a:t>
            </a:r>
            <a:r>
              <a:rPr lang="en-US" sz="3600" b="1" dirty="0"/>
              <a:t>lead to overlooking important information </a:t>
            </a:r>
            <a:r>
              <a:rPr lang="en-US" sz="3600" dirty="0"/>
              <a:t>or </a:t>
            </a:r>
            <a:r>
              <a:rPr lang="en-US" sz="3600" b="1" dirty="0"/>
              <a:t>jumping to conclusions </a:t>
            </a:r>
            <a:r>
              <a:rPr lang="en-US" sz="3600" dirty="0"/>
              <a:t>too quickly.</a:t>
            </a:r>
          </a:p>
          <a:p>
            <a:r>
              <a:rPr lang="en-US" sz="3600" b="1" dirty="0">
                <a:solidFill>
                  <a:srgbClr val="FF0000"/>
                </a:solidFill>
              </a:rPr>
              <a:t>Overlooking relevant information:</a:t>
            </a:r>
          </a:p>
          <a:p>
            <a:pPr marL="0" indent="0">
              <a:buNone/>
            </a:pPr>
            <a:r>
              <a:rPr lang="en-US" sz="3600" dirty="0"/>
              <a:t>Analyzing a problem </a:t>
            </a:r>
            <a:r>
              <a:rPr lang="en-US" sz="3600" b="1" dirty="0"/>
              <a:t>can involve a lot of data and information</a:t>
            </a:r>
            <a:r>
              <a:rPr lang="en-US" sz="3600" dirty="0"/>
              <a:t>, and it </a:t>
            </a:r>
            <a:r>
              <a:rPr lang="en-US" sz="3600" b="1" dirty="0"/>
              <a:t>can be easy to overlook relevant information </a:t>
            </a:r>
            <a:r>
              <a:rPr lang="en-US" sz="3600" dirty="0"/>
              <a:t>that could </a:t>
            </a:r>
            <a:r>
              <a:rPr lang="en-US" sz="3600" b="1" dirty="0"/>
              <a:t>be crucial </a:t>
            </a:r>
            <a:r>
              <a:rPr lang="en-US" sz="3600" dirty="0"/>
              <a:t>to </a:t>
            </a:r>
            <a:r>
              <a:rPr lang="en-US" sz="3600" b="1" dirty="0"/>
              <a:t>finding a solution</a:t>
            </a:r>
            <a:r>
              <a:rPr lang="en-US" sz="3600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7539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4F34C-08F8-4BD8-92ED-596526B42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600"/>
            <a:ext cx="10515600" cy="6671733"/>
          </a:xfrm>
        </p:spPr>
        <p:txBody>
          <a:bodyPr/>
          <a:lstStyle/>
          <a:p>
            <a:r>
              <a:rPr lang="en-US" sz="3600" b="1" dirty="0">
                <a:solidFill>
                  <a:srgbClr val="FF0000"/>
                </a:solidFill>
              </a:rPr>
              <a:t>Underestimating the complexity of the problem: </a:t>
            </a:r>
          </a:p>
          <a:p>
            <a:pPr marL="0" indent="0">
              <a:buNone/>
            </a:pPr>
            <a:r>
              <a:rPr lang="en-US" sz="3600" dirty="0"/>
              <a:t>Some </a:t>
            </a:r>
            <a:r>
              <a:rPr lang="en-US" sz="3600" b="1" dirty="0"/>
              <a:t>problems can be more complex </a:t>
            </a:r>
            <a:r>
              <a:rPr lang="en-US" sz="3600" dirty="0"/>
              <a:t>than they </a:t>
            </a:r>
            <a:r>
              <a:rPr lang="en-US" sz="3600" b="1" dirty="0"/>
              <a:t>initially appear</a:t>
            </a:r>
            <a:r>
              <a:rPr lang="en-US" sz="3600" dirty="0"/>
              <a:t>, and it's </a:t>
            </a:r>
            <a:r>
              <a:rPr lang="en-US" sz="3600" b="1" dirty="0"/>
              <a:t>important to take the time to fully understand the scope </a:t>
            </a:r>
            <a:r>
              <a:rPr lang="en-US" sz="3600" dirty="0"/>
              <a:t>and </a:t>
            </a:r>
            <a:r>
              <a:rPr lang="en-US" sz="3600" b="1" dirty="0"/>
              <a:t>context of the problem</a:t>
            </a:r>
            <a:r>
              <a:rPr lang="en-US" sz="3600" dirty="0"/>
              <a:t>.</a:t>
            </a:r>
          </a:p>
          <a:p>
            <a:r>
              <a:rPr lang="en-US" sz="3600" dirty="0"/>
              <a:t>To avoid these misunderstandings, it's important to approach </a:t>
            </a:r>
            <a:r>
              <a:rPr lang="en-US" sz="3600" b="1" dirty="0"/>
              <a:t>problem analysis with an open mind</a:t>
            </a:r>
            <a:r>
              <a:rPr lang="en-US" sz="3600" dirty="0"/>
              <a:t>, </a:t>
            </a:r>
            <a:r>
              <a:rPr lang="en-US" sz="3600" b="1" dirty="0"/>
              <a:t>be willing to ask questions </a:t>
            </a:r>
            <a:r>
              <a:rPr lang="en-US" sz="3600" dirty="0"/>
              <a:t>and </a:t>
            </a:r>
            <a:r>
              <a:rPr lang="en-US" sz="3600" b="1" dirty="0"/>
              <a:t>seek out information, </a:t>
            </a:r>
            <a:r>
              <a:rPr lang="en-US" sz="3600" dirty="0"/>
              <a:t>and </a:t>
            </a:r>
            <a:r>
              <a:rPr lang="en-US" sz="3600" b="1" dirty="0"/>
              <a:t>use systematic and analytical approaches to identify the root cause of the problem.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660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9BAA7-BD53-4140-9466-637E2683D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0"/>
            <a:ext cx="10515600" cy="672817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4000" b="1" dirty="0"/>
              <a:t>Multiple Parameters:</a:t>
            </a:r>
          </a:p>
          <a:p>
            <a:pPr marL="0" indent="0">
              <a:buNone/>
            </a:pPr>
            <a:r>
              <a:rPr lang="en-US" sz="3200" dirty="0"/>
              <a:t>In programming, </a:t>
            </a:r>
            <a:r>
              <a:rPr lang="en-US" sz="3200" b="1" dirty="0"/>
              <a:t>multiple parameters refer </a:t>
            </a:r>
            <a:r>
              <a:rPr lang="en-US" sz="3200" dirty="0"/>
              <a:t>to the </a:t>
            </a:r>
            <a:r>
              <a:rPr lang="en-US" sz="3200" b="1" dirty="0"/>
              <a:t>variables</a:t>
            </a:r>
            <a:r>
              <a:rPr lang="en-US" sz="3200" dirty="0"/>
              <a:t> that are </a:t>
            </a:r>
            <a:r>
              <a:rPr lang="en-US" sz="3200" b="1" dirty="0"/>
              <a:t>passed into a function or method</a:t>
            </a:r>
            <a:r>
              <a:rPr lang="en-US" sz="3200" dirty="0"/>
              <a:t>. </a:t>
            </a:r>
          </a:p>
          <a:p>
            <a:pPr marL="0" indent="0">
              <a:buNone/>
            </a:pPr>
            <a:r>
              <a:rPr lang="en-US" sz="3200" b="1" dirty="0"/>
              <a:t>Parameters are the values that the function or method uses to perform its operations</a:t>
            </a:r>
            <a:r>
              <a:rPr lang="en-US" sz="3200" dirty="0"/>
              <a:t>. </a:t>
            </a:r>
          </a:p>
          <a:p>
            <a:pPr marL="0" indent="0">
              <a:buNone/>
            </a:pPr>
            <a:r>
              <a:rPr lang="en-US" sz="3200" b="1" dirty="0"/>
              <a:t>Multiple parameters refer </a:t>
            </a:r>
            <a:r>
              <a:rPr lang="en-US" sz="3200" dirty="0"/>
              <a:t>to </a:t>
            </a:r>
            <a:r>
              <a:rPr lang="en-US" sz="3200" b="1" dirty="0"/>
              <a:t>more than one variable being passed into </a:t>
            </a:r>
            <a:r>
              <a:rPr lang="en-US" sz="3200" dirty="0"/>
              <a:t>the </a:t>
            </a:r>
            <a:r>
              <a:rPr lang="en-US" sz="3200" b="1" dirty="0"/>
              <a:t>function or method</a:t>
            </a:r>
            <a:r>
              <a:rPr lang="en-US" sz="3200" dirty="0"/>
              <a:t>.</a:t>
            </a:r>
          </a:p>
          <a:p>
            <a:pPr marL="0" indent="0">
              <a:buNone/>
            </a:pPr>
            <a:r>
              <a:rPr lang="en-US" sz="3200" dirty="0"/>
              <a:t>For </a:t>
            </a:r>
            <a:r>
              <a:rPr lang="en-US" sz="3200" b="1" dirty="0"/>
              <a:t>example</a:t>
            </a:r>
            <a:r>
              <a:rPr lang="en-US" sz="3200" dirty="0"/>
              <a:t>, let's say we have a function that </a:t>
            </a:r>
            <a:r>
              <a:rPr lang="en-US" sz="3200" b="1" dirty="0"/>
              <a:t>calculates the area </a:t>
            </a:r>
            <a:r>
              <a:rPr lang="en-US" sz="3200" dirty="0"/>
              <a:t>of a </a:t>
            </a:r>
            <a:r>
              <a:rPr lang="en-US" sz="3200" b="1" dirty="0"/>
              <a:t>rectangle</a:t>
            </a:r>
            <a:r>
              <a:rPr lang="en-US" sz="3200" dirty="0"/>
              <a:t>.</a:t>
            </a:r>
          </a:p>
          <a:p>
            <a:pPr marL="0" indent="0">
              <a:buNone/>
            </a:pPr>
            <a:r>
              <a:rPr lang="en-US" sz="3200" dirty="0"/>
              <a:t>The </a:t>
            </a:r>
            <a:r>
              <a:rPr lang="en-US" sz="3200" b="1" dirty="0"/>
              <a:t>function may require two parameters</a:t>
            </a:r>
            <a:r>
              <a:rPr lang="en-US" sz="3200" dirty="0"/>
              <a:t>: the </a:t>
            </a:r>
            <a:r>
              <a:rPr lang="en-US" sz="3200" b="1" dirty="0"/>
              <a:t>length and width </a:t>
            </a:r>
            <a:r>
              <a:rPr lang="en-US" sz="3200" dirty="0"/>
              <a:t>of the rectangle. </a:t>
            </a:r>
          </a:p>
          <a:p>
            <a:pPr marL="0" indent="0">
              <a:buNone/>
            </a:pPr>
            <a:r>
              <a:rPr lang="en-US" sz="3200" dirty="0"/>
              <a:t>The function would </a:t>
            </a:r>
            <a:r>
              <a:rPr lang="en-US" sz="3200" b="1" dirty="0"/>
              <a:t>take in both values as inputs </a:t>
            </a:r>
            <a:r>
              <a:rPr lang="en-US" sz="3200" dirty="0"/>
              <a:t>and </a:t>
            </a:r>
            <a:r>
              <a:rPr lang="en-US" sz="3200" b="1" dirty="0"/>
              <a:t>use them </a:t>
            </a:r>
            <a:r>
              <a:rPr lang="en-US" sz="3200" dirty="0"/>
              <a:t>to </a:t>
            </a:r>
            <a:r>
              <a:rPr lang="en-US" sz="3200" b="1" dirty="0"/>
              <a:t>calculate the area of the rectangle</a:t>
            </a:r>
            <a:r>
              <a:rPr lang="en-US" sz="3200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8222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A0973-D0EC-40B6-B356-9207CCC3C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466"/>
            <a:ext cx="10515600" cy="6722533"/>
          </a:xfrm>
        </p:spPr>
        <p:txBody>
          <a:bodyPr/>
          <a:lstStyle/>
          <a:p>
            <a:pPr marL="0" indent="0">
              <a:buNone/>
            </a:pPr>
            <a:r>
              <a:rPr lang="en-US" sz="3200" b="1" dirty="0"/>
              <a:t>Example</a:t>
            </a:r>
            <a:r>
              <a:rPr lang="en-US" sz="3200" dirty="0"/>
              <a:t> function in Python that takes in </a:t>
            </a:r>
            <a:r>
              <a:rPr lang="en-US" sz="3200" b="1" dirty="0"/>
              <a:t>two parameters </a:t>
            </a:r>
            <a:r>
              <a:rPr lang="en-US" sz="3200" dirty="0"/>
              <a:t>to </a:t>
            </a:r>
            <a:r>
              <a:rPr lang="en-US" sz="3200" b="1" dirty="0"/>
              <a:t>calculate the area of a rectangle: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</a:rPr>
              <a:t>def calculate_area(length, width):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</a:rPr>
              <a:t>    area = length * width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</a:rPr>
              <a:t>   return area</a:t>
            </a:r>
          </a:p>
          <a:p>
            <a:r>
              <a:rPr lang="en-US" sz="3200" dirty="0"/>
              <a:t>In this example, </a:t>
            </a:r>
            <a:r>
              <a:rPr lang="en-US" sz="3200" b="1" dirty="0"/>
              <a:t>the calculate_area() function takes in two parameters</a:t>
            </a:r>
            <a:r>
              <a:rPr lang="en-US" sz="3200" dirty="0"/>
              <a:t>: </a:t>
            </a:r>
            <a:r>
              <a:rPr lang="en-US" sz="3200" b="1" dirty="0"/>
              <a:t>length and width</a:t>
            </a:r>
            <a:r>
              <a:rPr lang="en-US" sz="3200" dirty="0"/>
              <a:t>. </a:t>
            </a:r>
          </a:p>
          <a:p>
            <a:r>
              <a:rPr lang="en-US" sz="3200" dirty="0"/>
              <a:t>These </a:t>
            </a:r>
            <a:r>
              <a:rPr lang="en-US" sz="3200" b="1" dirty="0"/>
              <a:t>values are then used to calculate the area of the rectangle </a:t>
            </a:r>
            <a:r>
              <a:rPr lang="en-US" sz="3200" dirty="0"/>
              <a:t>and return the result.</a:t>
            </a:r>
          </a:p>
          <a:p>
            <a:r>
              <a:rPr lang="en-US" sz="3200" dirty="0"/>
              <a:t>In programming, using </a:t>
            </a:r>
            <a:r>
              <a:rPr lang="en-US" sz="3200" b="1" dirty="0"/>
              <a:t>multiple parameters allows for more flexibility </a:t>
            </a:r>
            <a:r>
              <a:rPr lang="en-US" sz="3200" dirty="0"/>
              <a:t>and </a:t>
            </a:r>
            <a:r>
              <a:rPr lang="en-US" sz="3200" b="1" dirty="0"/>
              <a:t>functionality in functions and methods</a:t>
            </a:r>
            <a:r>
              <a:rPr lang="en-US" sz="3200" dirty="0"/>
              <a:t>. </a:t>
            </a:r>
          </a:p>
          <a:p>
            <a:r>
              <a:rPr lang="en-US" sz="3200" dirty="0"/>
              <a:t>It allows for </a:t>
            </a:r>
            <a:r>
              <a:rPr lang="en-US" sz="3200" b="1" dirty="0"/>
              <a:t>more specific inputs and outputs</a:t>
            </a:r>
            <a:r>
              <a:rPr lang="en-US" sz="3200" dirty="0"/>
              <a:t>, and </a:t>
            </a:r>
            <a:r>
              <a:rPr lang="en-US" sz="3200" b="1" dirty="0"/>
              <a:t>can make code more reusable and efficient</a:t>
            </a:r>
            <a:r>
              <a:rPr lang="en-US" sz="3200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616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B6AF5-EF2F-4634-8DBD-BF5D8D632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044"/>
            <a:ext cx="10515600" cy="6547556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4000" b="1" dirty="0"/>
              <a:t>Space bounds:</a:t>
            </a:r>
          </a:p>
          <a:p>
            <a:pPr marL="0" indent="0">
              <a:buNone/>
            </a:pPr>
            <a:r>
              <a:rPr lang="en-US" sz="3200" b="1" dirty="0"/>
              <a:t>Space bounds </a:t>
            </a:r>
            <a:r>
              <a:rPr lang="en-US" sz="3200" dirty="0"/>
              <a:t>refer to the </a:t>
            </a:r>
            <a:r>
              <a:rPr lang="en-US" sz="3200" b="1" dirty="0"/>
              <a:t>amount of memory or storage space </a:t>
            </a:r>
            <a:r>
              <a:rPr lang="en-US" sz="3200" dirty="0"/>
              <a:t>that is </a:t>
            </a:r>
            <a:r>
              <a:rPr lang="en-US" sz="3200" b="1" dirty="0"/>
              <a:t>required by an algorithm or program to solve a problem</a:t>
            </a:r>
            <a:r>
              <a:rPr lang="en-US" sz="3200" dirty="0"/>
              <a:t>.</a:t>
            </a:r>
          </a:p>
          <a:p>
            <a:pPr marL="0" indent="0">
              <a:buNone/>
            </a:pPr>
            <a:r>
              <a:rPr lang="en-US" sz="3200" b="1" dirty="0"/>
              <a:t>Space complexity </a:t>
            </a:r>
            <a:r>
              <a:rPr lang="en-US" sz="3200" dirty="0"/>
              <a:t>is typically </a:t>
            </a:r>
            <a:r>
              <a:rPr lang="en-US" sz="3200" b="1" dirty="0"/>
              <a:t>measured in terms of the number of memory cells or storage units required to store the program's data and variables.</a:t>
            </a:r>
          </a:p>
          <a:p>
            <a:pPr marL="0" indent="0">
              <a:buNone/>
            </a:pPr>
            <a:r>
              <a:rPr lang="en-US" sz="3200" dirty="0"/>
              <a:t>Space bounds are </a:t>
            </a:r>
            <a:r>
              <a:rPr lang="en-US" sz="3200" b="1" dirty="0"/>
              <a:t>important to consider because </a:t>
            </a:r>
            <a:r>
              <a:rPr lang="en-US" sz="3200" dirty="0"/>
              <a:t>they </a:t>
            </a:r>
            <a:r>
              <a:rPr lang="en-US" sz="3200" b="1" dirty="0"/>
              <a:t>can affect </a:t>
            </a:r>
            <a:r>
              <a:rPr lang="en-US" sz="3200" dirty="0"/>
              <a:t>the </a:t>
            </a:r>
            <a:r>
              <a:rPr lang="en-US" sz="3200" b="1" dirty="0"/>
              <a:t>performance and efficiency of an algorithm or program</a:t>
            </a:r>
            <a:r>
              <a:rPr lang="en-US" sz="3200" dirty="0"/>
              <a:t>.</a:t>
            </a:r>
          </a:p>
          <a:p>
            <a:pPr marL="0" indent="0">
              <a:buNone/>
            </a:pPr>
            <a:r>
              <a:rPr lang="en-US" sz="3200" dirty="0"/>
              <a:t>If an algorithm or program </a:t>
            </a:r>
            <a:r>
              <a:rPr lang="en-US" sz="3200" b="1" dirty="0"/>
              <a:t>requires too much memory</a:t>
            </a:r>
            <a:r>
              <a:rPr lang="en-US" sz="3200" dirty="0"/>
              <a:t>, it </a:t>
            </a:r>
            <a:r>
              <a:rPr lang="en-US" sz="3200" b="1" dirty="0"/>
              <a:t>can slow down the program's performance </a:t>
            </a:r>
            <a:r>
              <a:rPr lang="en-US" sz="3200" dirty="0"/>
              <a:t>or </a:t>
            </a:r>
            <a:r>
              <a:rPr lang="en-US" sz="3200" b="1" dirty="0"/>
              <a:t>even cause it to crash.</a:t>
            </a:r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3979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237E2-D1FE-4A83-8AE2-0926D3365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178"/>
            <a:ext cx="10515600" cy="6637866"/>
          </a:xfrm>
        </p:spPr>
        <p:txBody>
          <a:bodyPr>
            <a:normAutofit lnSpcReduction="10000"/>
          </a:bodyPr>
          <a:lstStyle/>
          <a:p>
            <a:r>
              <a:rPr lang="en-US" sz="3600" dirty="0"/>
              <a:t>Space bounds are </a:t>
            </a:r>
            <a:r>
              <a:rPr lang="en-US" sz="3600" b="1" dirty="0"/>
              <a:t>often analyzed </a:t>
            </a:r>
            <a:r>
              <a:rPr lang="en-US" sz="3600" dirty="0"/>
              <a:t>in </a:t>
            </a:r>
            <a:r>
              <a:rPr lang="en-US" sz="3600" b="1" dirty="0"/>
              <a:t>conjunction </a:t>
            </a:r>
            <a:r>
              <a:rPr lang="en-US" sz="3600" dirty="0"/>
              <a:t>with </a:t>
            </a:r>
            <a:r>
              <a:rPr lang="en-US" sz="3600" b="1" dirty="0"/>
              <a:t>time complexity, </a:t>
            </a:r>
            <a:r>
              <a:rPr lang="en-US" sz="3600" dirty="0"/>
              <a:t>which </a:t>
            </a:r>
            <a:r>
              <a:rPr lang="en-US" sz="3600" b="1" dirty="0"/>
              <a:t>refers to the amount of time or number of operations required for an algorithm or program to solve a problem</a:t>
            </a:r>
            <a:r>
              <a:rPr lang="en-US" sz="3600" dirty="0"/>
              <a:t>. </a:t>
            </a:r>
          </a:p>
          <a:p>
            <a:r>
              <a:rPr lang="en-US" sz="3600" dirty="0"/>
              <a:t>Together, </a:t>
            </a:r>
            <a:r>
              <a:rPr lang="en-US" sz="3600" b="1" dirty="0"/>
              <a:t>space and time complexity help determine the efficiency </a:t>
            </a:r>
            <a:r>
              <a:rPr lang="en-US" sz="3600" dirty="0"/>
              <a:t>and </a:t>
            </a:r>
            <a:r>
              <a:rPr lang="en-US" sz="3600" b="1" dirty="0"/>
              <a:t>effectiveness of an algorithm or program</a:t>
            </a:r>
            <a:r>
              <a:rPr lang="en-US" sz="3600" dirty="0"/>
              <a:t>.</a:t>
            </a:r>
          </a:p>
          <a:p>
            <a:r>
              <a:rPr lang="en-US" sz="3600" b="1" dirty="0"/>
              <a:t>Space complexity can be expressed in terms of Big-O notation</a:t>
            </a:r>
            <a:r>
              <a:rPr lang="en-US" sz="3600" dirty="0"/>
              <a:t>, </a:t>
            </a:r>
            <a:r>
              <a:rPr lang="en-US" sz="3600" b="1" dirty="0"/>
              <a:t>similar to time complexity</a:t>
            </a:r>
            <a:r>
              <a:rPr lang="en-US" sz="3600" dirty="0"/>
              <a:t>. </a:t>
            </a:r>
          </a:p>
          <a:p>
            <a:r>
              <a:rPr lang="en-US" sz="3600" dirty="0"/>
              <a:t>For</a:t>
            </a:r>
            <a:r>
              <a:rPr lang="en-US" sz="3600" b="1" dirty="0"/>
              <a:t> example</a:t>
            </a:r>
            <a:r>
              <a:rPr lang="en-US" sz="3600" dirty="0"/>
              <a:t>, an algorithm with a </a:t>
            </a:r>
            <a:r>
              <a:rPr lang="en-US" sz="3600" b="1" dirty="0"/>
              <a:t>space complexity of O(n</a:t>
            </a:r>
            <a:r>
              <a:rPr lang="en-US" sz="3600" dirty="0"/>
              <a:t>) requires </a:t>
            </a:r>
            <a:r>
              <a:rPr lang="en-US" sz="3600" b="1" dirty="0"/>
              <a:t>memory proportional to the input size n</a:t>
            </a:r>
            <a:r>
              <a:rPr lang="en-US" sz="3600" dirty="0"/>
              <a:t>, </a:t>
            </a:r>
            <a:r>
              <a:rPr lang="en-US" sz="3600" b="1" dirty="0"/>
              <a:t>while</a:t>
            </a:r>
            <a:r>
              <a:rPr lang="en-US" sz="3600" dirty="0"/>
              <a:t> an algorithm with a </a:t>
            </a:r>
            <a:r>
              <a:rPr lang="en-US" sz="3600" b="1" dirty="0"/>
              <a:t>space complexity of O(1) </a:t>
            </a:r>
            <a:r>
              <a:rPr lang="en-US" sz="3600" dirty="0"/>
              <a:t>requires a </a:t>
            </a:r>
            <a:r>
              <a:rPr lang="en-US" sz="3600" b="1" dirty="0"/>
              <a:t>fixed amount of memory regardless of the input size.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697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97F40-CEA8-4D0B-AE76-E0E7885FCC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178"/>
            <a:ext cx="10515600" cy="6615289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4000" b="1" dirty="0"/>
              <a:t>Speeding up your programs:</a:t>
            </a:r>
          </a:p>
          <a:p>
            <a:pPr marL="0" indent="0">
              <a:buNone/>
            </a:pPr>
            <a:r>
              <a:rPr lang="en-US" sz="3600" dirty="0"/>
              <a:t>There are </a:t>
            </a:r>
            <a:r>
              <a:rPr lang="en-US" sz="3600" b="1" dirty="0"/>
              <a:t>several ways to speed up programs</a:t>
            </a:r>
            <a:r>
              <a:rPr lang="en-US" sz="3600" dirty="0"/>
              <a:t>, and the </a:t>
            </a:r>
            <a:r>
              <a:rPr lang="en-US" sz="3600" b="1" dirty="0"/>
              <a:t>specific techniques to use will depend on the particular program </a:t>
            </a:r>
            <a:r>
              <a:rPr lang="en-US" sz="3600" dirty="0"/>
              <a:t>and its </a:t>
            </a:r>
            <a:r>
              <a:rPr lang="en-US" sz="3600" b="1" dirty="0"/>
              <a:t>performance bottlenecks</a:t>
            </a:r>
            <a:r>
              <a:rPr lang="en-US" sz="3600" dirty="0"/>
              <a:t>. </a:t>
            </a:r>
          </a:p>
          <a:p>
            <a:pPr marL="0" indent="0">
              <a:buNone/>
            </a:pPr>
            <a:r>
              <a:rPr lang="en-US" sz="3600" dirty="0"/>
              <a:t>Here are </a:t>
            </a:r>
            <a:r>
              <a:rPr lang="en-US" sz="3600" b="1" dirty="0"/>
              <a:t>some general strategies </a:t>
            </a:r>
            <a:r>
              <a:rPr lang="en-US" sz="3600" dirty="0"/>
              <a:t>that can help </a:t>
            </a:r>
            <a:r>
              <a:rPr lang="en-US" sz="3600" b="1" dirty="0"/>
              <a:t>improve program speed</a:t>
            </a:r>
            <a:r>
              <a:rPr lang="en-US" sz="3600" dirty="0"/>
              <a:t>:</a:t>
            </a:r>
          </a:p>
          <a:p>
            <a:r>
              <a:rPr lang="en-US" sz="3600" b="1" dirty="0">
                <a:solidFill>
                  <a:srgbClr val="FF0000"/>
                </a:solidFill>
              </a:rPr>
              <a:t>Optimize algorithms:</a:t>
            </a:r>
          </a:p>
          <a:p>
            <a:pPr marL="0" indent="0">
              <a:buNone/>
            </a:pPr>
            <a:r>
              <a:rPr lang="en-US" sz="3600" dirty="0"/>
              <a:t>If your program </a:t>
            </a:r>
            <a:r>
              <a:rPr lang="en-US" sz="3600" b="1" dirty="0"/>
              <a:t>uses inefficient algorithms or data structures</a:t>
            </a:r>
            <a:r>
              <a:rPr lang="en-US" sz="3600" dirty="0"/>
              <a:t>, it may </a:t>
            </a:r>
            <a:r>
              <a:rPr lang="en-US" sz="3600" b="1" dirty="0"/>
              <a:t>take longer to execute</a:t>
            </a:r>
            <a:r>
              <a:rPr lang="en-US" sz="3600" dirty="0"/>
              <a:t>.</a:t>
            </a:r>
          </a:p>
          <a:p>
            <a:pPr marL="0" indent="0">
              <a:buNone/>
            </a:pPr>
            <a:r>
              <a:rPr lang="en-US" sz="3600" dirty="0"/>
              <a:t>Replacing these with </a:t>
            </a:r>
            <a:r>
              <a:rPr lang="en-US" sz="3600" b="1" dirty="0"/>
              <a:t>more efficient alternatives </a:t>
            </a:r>
            <a:r>
              <a:rPr lang="en-US" sz="3600" dirty="0"/>
              <a:t>can </a:t>
            </a:r>
            <a:r>
              <a:rPr lang="en-US" sz="3600" b="1" dirty="0"/>
              <a:t>significantly improve program speed</a:t>
            </a:r>
            <a:r>
              <a:rPr lang="en-US" sz="3600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0981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B9D04-4C4E-42A4-A9F7-CB728F1D9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178"/>
            <a:ext cx="10515600" cy="6733822"/>
          </a:xfrm>
        </p:spPr>
        <p:txBody>
          <a:bodyPr>
            <a:normAutofit fontScale="92500" lnSpcReduction="10000"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Reduce I/O operations:</a:t>
            </a:r>
          </a:p>
          <a:p>
            <a:pPr marL="0" indent="0">
              <a:buNone/>
            </a:pPr>
            <a:r>
              <a:rPr lang="en-US" sz="3600" dirty="0"/>
              <a:t>Input/output (I/O) operations can be </a:t>
            </a:r>
            <a:r>
              <a:rPr lang="en-US" sz="3600" b="1" dirty="0"/>
              <a:t>time-consuming</a:t>
            </a:r>
            <a:r>
              <a:rPr lang="en-US" sz="3600" dirty="0"/>
              <a:t>, so </a:t>
            </a:r>
            <a:r>
              <a:rPr lang="en-US" sz="3600" b="1" dirty="0"/>
              <a:t>minimizing the number of I/O operations </a:t>
            </a:r>
            <a:r>
              <a:rPr lang="en-US" sz="3600" dirty="0"/>
              <a:t>your </a:t>
            </a:r>
            <a:r>
              <a:rPr lang="en-US" sz="3600" b="1" dirty="0"/>
              <a:t>program performs can </a:t>
            </a:r>
            <a:r>
              <a:rPr lang="en-US" sz="3600" dirty="0"/>
              <a:t>help </a:t>
            </a:r>
            <a:r>
              <a:rPr lang="en-US" sz="3600" b="1" dirty="0"/>
              <a:t>improve performance.</a:t>
            </a:r>
            <a:endParaRPr lang="en-US" sz="3600" dirty="0"/>
          </a:p>
          <a:p>
            <a:r>
              <a:rPr lang="en-US" sz="3600" b="1" dirty="0">
                <a:solidFill>
                  <a:srgbClr val="FF0000"/>
                </a:solidFill>
              </a:rPr>
              <a:t>Use caching: </a:t>
            </a:r>
          </a:p>
          <a:p>
            <a:pPr marL="0" indent="0">
              <a:buNone/>
            </a:pPr>
            <a:r>
              <a:rPr lang="en-US" sz="3600" b="1" dirty="0"/>
              <a:t>Caching data that is frequently used or generated can help reduce </a:t>
            </a:r>
            <a:r>
              <a:rPr lang="en-US" sz="3600" dirty="0"/>
              <a:t>the </a:t>
            </a:r>
            <a:r>
              <a:rPr lang="en-US" sz="3600" b="1" dirty="0"/>
              <a:t>number of calculations </a:t>
            </a:r>
            <a:r>
              <a:rPr lang="en-US" sz="3600" dirty="0"/>
              <a:t>or </a:t>
            </a:r>
            <a:r>
              <a:rPr lang="en-US" sz="3600" b="1" dirty="0"/>
              <a:t>I/O operations </a:t>
            </a:r>
            <a:r>
              <a:rPr lang="en-US" sz="3600" dirty="0"/>
              <a:t>your program </a:t>
            </a:r>
            <a:r>
              <a:rPr lang="en-US" sz="3600" b="1" dirty="0"/>
              <a:t>needs to perform</a:t>
            </a:r>
            <a:r>
              <a:rPr lang="en-US" sz="3600" dirty="0"/>
              <a:t>, which </a:t>
            </a:r>
            <a:r>
              <a:rPr lang="en-US" sz="3600" b="1" dirty="0"/>
              <a:t>can speed up execution</a:t>
            </a:r>
            <a:r>
              <a:rPr lang="en-US" sz="3600" dirty="0"/>
              <a:t>.</a:t>
            </a:r>
          </a:p>
          <a:p>
            <a:r>
              <a:rPr lang="en-US" sz="3600" b="1" dirty="0">
                <a:solidFill>
                  <a:srgbClr val="FF0000"/>
                </a:solidFill>
              </a:rPr>
              <a:t>Parallelize computations: </a:t>
            </a:r>
          </a:p>
          <a:p>
            <a:pPr marL="0" indent="0">
              <a:buNone/>
            </a:pPr>
            <a:r>
              <a:rPr lang="en-US" sz="3600" b="1" dirty="0"/>
              <a:t>Parallelizing computations can help speed up programs </a:t>
            </a:r>
            <a:r>
              <a:rPr lang="en-US" sz="3600" dirty="0"/>
              <a:t>that </a:t>
            </a:r>
            <a:r>
              <a:rPr lang="en-US" sz="3600" b="1" dirty="0"/>
              <a:t>perform many independent calculations.</a:t>
            </a:r>
            <a:r>
              <a:rPr lang="en-US" sz="3600" dirty="0"/>
              <a:t> </a:t>
            </a:r>
          </a:p>
          <a:p>
            <a:pPr marL="0" indent="0">
              <a:buNone/>
            </a:pPr>
            <a:r>
              <a:rPr lang="en-US" sz="3600" dirty="0"/>
              <a:t>This </a:t>
            </a:r>
            <a:r>
              <a:rPr lang="en-US" sz="3600" b="1" dirty="0"/>
              <a:t>can be done using multithreading </a:t>
            </a:r>
            <a:r>
              <a:rPr lang="en-US" sz="3600" dirty="0"/>
              <a:t>or </a:t>
            </a:r>
            <a:r>
              <a:rPr lang="en-US" sz="3600" b="1" dirty="0"/>
              <a:t>multiprocessing techniques</a:t>
            </a:r>
            <a:r>
              <a:rPr lang="en-US" sz="3600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2144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B1706-A634-4968-BADB-83CEBB41B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600"/>
            <a:ext cx="10515600" cy="6626578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Optimize memory usage:</a:t>
            </a:r>
          </a:p>
          <a:p>
            <a:pPr marL="0" indent="0">
              <a:buNone/>
            </a:pPr>
            <a:r>
              <a:rPr lang="en-US" sz="3600" dirty="0"/>
              <a:t>If your program </a:t>
            </a:r>
            <a:r>
              <a:rPr lang="en-US" sz="3600" b="1" dirty="0"/>
              <a:t>uses too much memory</a:t>
            </a:r>
            <a:r>
              <a:rPr lang="en-US" sz="3600" dirty="0"/>
              <a:t>, it </a:t>
            </a:r>
            <a:r>
              <a:rPr lang="en-US" sz="3600" b="1" dirty="0"/>
              <a:t>can slow down performance</a:t>
            </a:r>
            <a:r>
              <a:rPr lang="en-US" sz="3600" dirty="0"/>
              <a:t>. </a:t>
            </a:r>
          </a:p>
          <a:p>
            <a:pPr marL="0" indent="0">
              <a:buNone/>
            </a:pPr>
            <a:r>
              <a:rPr lang="en-US" sz="3600" b="1" dirty="0"/>
              <a:t>Optimizing memory usage </a:t>
            </a:r>
            <a:r>
              <a:rPr lang="en-US" sz="3600" dirty="0"/>
              <a:t>by </a:t>
            </a:r>
            <a:r>
              <a:rPr lang="en-US" sz="3600" b="1" dirty="0"/>
              <a:t>reducing the size of data structures </a:t>
            </a:r>
            <a:r>
              <a:rPr lang="en-US" sz="3600" dirty="0"/>
              <a:t>or using </a:t>
            </a:r>
            <a:r>
              <a:rPr lang="en-US" sz="3600" b="1" dirty="0"/>
              <a:t>more efficient algorithms can help improve performance. </a:t>
            </a:r>
          </a:p>
          <a:p>
            <a:r>
              <a:rPr lang="en-US" sz="3600" b="1" dirty="0">
                <a:solidFill>
                  <a:srgbClr val="FF0000"/>
                </a:solidFill>
              </a:rPr>
              <a:t>Profile your code:</a:t>
            </a:r>
          </a:p>
          <a:p>
            <a:pPr marL="0" indent="0">
              <a:buNone/>
            </a:pPr>
            <a:r>
              <a:rPr lang="en-US" sz="3600" b="1" dirty="0"/>
              <a:t>Use a profiler to identify the bottlenecks </a:t>
            </a:r>
            <a:r>
              <a:rPr lang="en-US" sz="3600" dirty="0"/>
              <a:t>in your </a:t>
            </a:r>
            <a:r>
              <a:rPr lang="en-US" sz="3600" b="1" dirty="0"/>
              <a:t>code</a:t>
            </a:r>
            <a:r>
              <a:rPr lang="en-US" sz="3600" dirty="0"/>
              <a:t> and </a:t>
            </a:r>
            <a:r>
              <a:rPr lang="en-US" sz="3600" b="1" dirty="0"/>
              <a:t>optimize the parts of the code that are taking the most time to execute</a:t>
            </a:r>
            <a:r>
              <a:rPr lang="en-US" sz="3600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9064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0C9AC-EA83-45EA-B661-146AB922F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466"/>
            <a:ext cx="10515600" cy="6722533"/>
          </a:xfrm>
        </p:spPr>
        <p:txBody>
          <a:bodyPr/>
          <a:lstStyle/>
          <a:p>
            <a:r>
              <a:rPr lang="en-US" sz="3600" dirty="0"/>
              <a:t> </a:t>
            </a:r>
            <a:r>
              <a:rPr lang="en-US" sz="3600" b="1" dirty="0">
                <a:solidFill>
                  <a:srgbClr val="FF0000"/>
                </a:solidFill>
              </a:rPr>
              <a:t>Use compiled languages: </a:t>
            </a:r>
          </a:p>
          <a:p>
            <a:pPr marL="0" indent="0">
              <a:buNone/>
            </a:pPr>
            <a:r>
              <a:rPr lang="en-US" sz="3600" b="1" dirty="0"/>
              <a:t>Programs written in compiled languages like C++ can be faster than </a:t>
            </a:r>
            <a:r>
              <a:rPr lang="en-US" sz="3600" dirty="0"/>
              <a:t>those written in </a:t>
            </a:r>
            <a:r>
              <a:rPr lang="en-US" sz="3600" b="1" dirty="0"/>
              <a:t>interpreted languages like Python</a:t>
            </a:r>
            <a:r>
              <a:rPr lang="en-US" sz="3600" dirty="0"/>
              <a:t>.</a:t>
            </a:r>
          </a:p>
          <a:p>
            <a:pPr marL="0" indent="0">
              <a:buNone/>
            </a:pPr>
            <a:r>
              <a:rPr lang="en-US" sz="3600" dirty="0"/>
              <a:t>If </a:t>
            </a:r>
            <a:r>
              <a:rPr lang="en-US" sz="3600" b="1" dirty="0"/>
              <a:t>speed is a critical factor</a:t>
            </a:r>
            <a:r>
              <a:rPr lang="en-US" sz="3600" dirty="0"/>
              <a:t>, </a:t>
            </a:r>
            <a:r>
              <a:rPr lang="en-US" sz="3600" b="1" dirty="0"/>
              <a:t>consider using a compiled language</a:t>
            </a:r>
            <a:r>
              <a:rPr lang="en-US" sz="3600" dirty="0"/>
              <a:t>.</a:t>
            </a:r>
          </a:p>
          <a:p>
            <a:pPr marL="0" indent="0">
              <a:buNone/>
            </a:pPr>
            <a:r>
              <a:rPr lang="en-US" sz="3600" dirty="0"/>
              <a:t>Improving program speed requires a </a:t>
            </a:r>
            <a:r>
              <a:rPr lang="en-US" sz="3600" b="1" dirty="0"/>
              <a:t>thorough understanding </a:t>
            </a:r>
            <a:r>
              <a:rPr lang="en-US" sz="3600" dirty="0"/>
              <a:t>of the program's </a:t>
            </a:r>
            <a:r>
              <a:rPr lang="en-US" sz="3600" b="1" dirty="0"/>
              <a:t>performance characteristics </a:t>
            </a:r>
            <a:r>
              <a:rPr lang="en-US" sz="3600" dirty="0"/>
              <a:t>and the </a:t>
            </a:r>
            <a:r>
              <a:rPr lang="en-US" sz="3600" b="1" dirty="0"/>
              <a:t>use of specific techniques to optimize its execution</a:t>
            </a:r>
            <a:r>
              <a:rPr lang="en-US" sz="36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1282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2FD16-C67F-4DB7-AFA3-63C944AB3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756"/>
            <a:ext cx="10515600" cy="661528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4000" b="1" dirty="0"/>
              <a:t>Empirical analysis:</a:t>
            </a:r>
          </a:p>
          <a:p>
            <a:pPr marL="0" indent="0">
              <a:buNone/>
            </a:pPr>
            <a:r>
              <a:rPr lang="en-US" sz="3600" b="1" dirty="0"/>
              <a:t>Empirical analysis </a:t>
            </a:r>
            <a:r>
              <a:rPr lang="en-US" sz="3600" dirty="0"/>
              <a:t>is a </a:t>
            </a:r>
            <a:r>
              <a:rPr lang="en-US" sz="3600" b="1" dirty="0"/>
              <a:t>research method </a:t>
            </a:r>
            <a:r>
              <a:rPr lang="en-US" sz="3600" dirty="0"/>
              <a:t>that </a:t>
            </a:r>
            <a:r>
              <a:rPr lang="en-US" sz="3600" b="1" dirty="0"/>
              <a:t>involves</a:t>
            </a:r>
            <a:r>
              <a:rPr lang="en-US" sz="3600" dirty="0"/>
              <a:t> using </a:t>
            </a:r>
            <a:r>
              <a:rPr lang="en-US" sz="3600" b="1" dirty="0"/>
              <a:t>observation, experimentation, and data collection to make conclusions </a:t>
            </a:r>
            <a:r>
              <a:rPr lang="en-US" sz="3600" dirty="0"/>
              <a:t>about a </a:t>
            </a:r>
            <a:r>
              <a:rPr lang="en-US" sz="3600" b="1" dirty="0"/>
              <a:t>particular phenomenon</a:t>
            </a:r>
            <a:r>
              <a:rPr lang="en-US" sz="3600" dirty="0"/>
              <a:t>.</a:t>
            </a:r>
          </a:p>
          <a:p>
            <a:pPr marL="0" indent="0">
              <a:buNone/>
            </a:pPr>
            <a:r>
              <a:rPr lang="en-US" sz="3600" dirty="0"/>
              <a:t>In computer science, empirical analysis is often </a:t>
            </a:r>
            <a:r>
              <a:rPr lang="en-US" sz="3600" b="1" dirty="0"/>
              <a:t>used to evaluate the performance and efficiency of algorithms and programs.</a:t>
            </a:r>
          </a:p>
          <a:p>
            <a:pPr marL="0" indent="0">
              <a:buNone/>
            </a:pPr>
            <a:r>
              <a:rPr lang="en-US" sz="3600" dirty="0"/>
              <a:t>Empirical analysis </a:t>
            </a:r>
            <a:r>
              <a:rPr lang="en-US" sz="3600" b="1" dirty="0"/>
              <a:t>involves running experiments </a:t>
            </a:r>
            <a:r>
              <a:rPr lang="en-US" sz="3600" dirty="0"/>
              <a:t>and </a:t>
            </a:r>
            <a:r>
              <a:rPr lang="en-US" sz="3600" b="1" dirty="0"/>
              <a:t>collecting data on </a:t>
            </a:r>
            <a:r>
              <a:rPr lang="en-US" sz="3600" dirty="0"/>
              <a:t>the </a:t>
            </a:r>
            <a:r>
              <a:rPr lang="en-US" sz="3600" b="1" dirty="0"/>
              <a:t>performance of a program or algorithm </a:t>
            </a:r>
            <a:r>
              <a:rPr lang="en-US" sz="3600" dirty="0"/>
              <a:t>under </a:t>
            </a:r>
            <a:r>
              <a:rPr lang="en-US" sz="3600" b="1" dirty="0"/>
              <a:t>different conditions</a:t>
            </a:r>
            <a:r>
              <a:rPr lang="en-US" sz="3600" dirty="0"/>
              <a:t>. </a:t>
            </a:r>
          </a:p>
          <a:p>
            <a:pPr marL="0" indent="0">
              <a:buNone/>
            </a:pPr>
            <a:endParaRPr lang="en-US" b="1" dirty="0"/>
          </a:p>
          <a:p>
            <a:pPr>
              <a:buFont typeface="Wingdings" panose="05000000000000000000" pitchFamily="2" charset="2"/>
              <a:buChar char="Ø"/>
            </a:pP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1725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478EB-81EB-4BA6-A9DA-569F7DE1A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178"/>
            <a:ext cx="10515600" cy="67338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/>
              <a:t>The </a:t>
            </a:r>
            <a:r>
              <a:rPr lang="en-US" sz="4000" b="1" dirty="0"/>
              <a:t>data is then analyzed </a:t>
            </a:r>
            <a:r>
              <a:rPr lang="en-US" sz="4000" dirty="0"/>
              <a:t>to </a:t>
            </a:r>
            <a:r>
              <a:rPr lang="en-US" sz="4000" b="1" dirty="0"/>
              <a:t>identify patterns and trends</a:t>
            </a:r>
            <a:r>
              <a:rPr lang="en-US" sz="4000" dirty="0"/>
              <a:t>, which can </a:t>
            </a:r>
            <a:r>
              <a:rPr lang="en-US" sz="4000" b="1" dirty="0"/>
              <a:t>be used to draw conclusions </a:t>
            </a:r>
            <a:r>
              <a:rPr lang="en-US" sz="4000" dirty="0"/>
              <a:t>about the </a:t>
            </a:r>
            <a:r>
              <a:rPr lang="en-US" sz="4000" b="1" dirty="0"/>
              <a:t>program's performance.</a:t>
            </a:r>
          </a:p>
          <a:p>
            <a:pPr marL="0" indent="0">
              <a:buNone/>
            </a:pPr>
            <a:r>
              <a:rPr lang="en-US" sz="4000" b="1" dirty="0"/>
              <a:t>For example</a:t>
            </a:r>
            <a:r>
              <a:rPr lang="en-US" sz="4000" dirty="0"/>
              <a:t>, if you wanted to </a:t>
            </a:r>
            <a:r>
              <a:rPr lang="en-US" sz="4000" b="1" dirty="0"/>
              <a:t>evaluate the performance </a:t>
            </a:r>
            <a:r>
              <a:rPr lang="en-US" sz="4000" dirty="0"/>
              <a:t>of two </a:t>
            </a:r>
            <a:r>
              <a:rPr lang="en-US" sz="4000" b="1" dirty="0"/>
              <a:t>different sorting algorithms</a:t>
            </a:r>
            <a:r>
              <a:rPr lang="en-US" sz="4000" dirty="0"/>
              <a:t>, you might </a:t>
            </a:r>
            <a:r>
              <a:rPr lang="en-US" sz="4000" b="1" dirty="0"/>
              <a:t>use empirical analysis </a:t>
            </a:r>
            <a:r>
              <a:rPr lang="en-US" sz="4000" dirty="0"/>
              <a:t>to </a:t>
            </a:r>
            <a:r>
              <a:rPr lang="en-US" sz="4000" b="1" dirty="0"/>
              <a:t>compare their performance </a:t>
            </a:r>
            <a:r>
              <a:rPr lang="en-US" sz="4000" dirty="0"/>
              <a:t>on a </a:t>
            </a:r>
            <a:r>
              <a:rPr lang="en-US" sz="4000" b="1" dirty="0"/>
              <a:t>range of input sizes</a:t>
            </a:r>
            <a:r>
              <a:rPr lang="en-US" sz="4000" dirty="0"/>
              <a:t>.</a:t>
            </a:r>
          </a:p>
          <a:p>
            <a:pPr marL="0" indent="0">
              <a:buNone/>
            </a:pPr>
            <a:r>
              <a:rPr lang="en-US" sz="4000" dirty="0"/>
              <a:t>You would run experiments with </a:t>
            </a:r>
            <a:r>
              <a:rPr lang="en-US" sz="4000" b="1" dirty="0"/>
              <a:t>different input sizes </a:t>
            </a:r>
            <a:r>
              <a:rPr lang="en-US" sz="4000" dirty="0"/>
              <a:t>and </a:t>
            </a:r>
            <a:r>
              <a:rPr lang="en-US" sz="4000" b="1" dirty="0"/>
              <a:t>collect data on the time or memory required to complete the sort</a:t>
            </a:r>
            <a:r>
              <a:rPr lang="en-US" sz="4000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2133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BCDF0-C479-4A69-9BB5-C9D7E600D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178"/>
            <a:ext cx="10515600" cy="6570133"/>
          </a:xfrm>
        </p:spPr>
        <p:txBody>
          <a:bodyPr/>
          <a:lstStyle/>
          <a:p>
            <a:pPr marL="0" indent="0">
              <a:buNone/>
            </a:pPr>
            <a:r>
              <a:rPr lang="en-US" sz="3600" dirty="0"/>
              <a:t>You would </a:t>
            </a:r>
            <a:r>
              <a:rPr lang="en-US" sz="3600" b="1" dirty="0"/>
              <a:t>then analyze the data to identify patterns </a:t>
            </a:r>
            <a:r>
              <a:rPr lang="en-US" sz="3600" dirty="0"/>
              <a:t>and </a:t>
            </a:r>
            <a:r>
              <a:rPr lang="en-US" sz="3600" b="1" dirty="0"/>
              <a:t>draw conclusions about which algorithm is more efficient.</a:t>
            </a:r>
          </a:p>
          <a:p>
            <a:pPr marL="0" indent="0">
              <a:buNone/>
            </a:pPr>
            <a:r>
              <a:rPr lang="en-US" sz="3600" dirty="0"/>
              <a:t>Empirical analysis is </a:t>
            </a:r>
            <a:r>
              <a:rPr lang="en-US" sz="3600" b="1" dirty="0"/>
              <a:t>important because </a:t>
            </a:r>
            <a:r>
              <a:rPr lang="en-US" sz="3600" dirty="0"/>
              <a:t>it </a:t>
            </a:r>
            <a:r>
              <a:rPr lang="en-US" sz="3600" b="1" dirty="0"/>
              <a:t>provides objective data </a:t>
            </a:r>
            <a:r>
              <a:rPr lang="en-US" sz="3600" dirty="0"/>
              <a:t>that </a:t>
            </a:r>
            <a:r>
              <a:rPr lang="en-US" sz="3600" b="1" dirty="0"/>
              <a:t>can be used to evaluate the performance of a program or algorithm</a:t>
            </a:r>
            <a:r>
              <a:rPr lang="en-US" sz="3600" dirty="0"/>
              <a:t>. By </a:t>
            </a:r>
            <a:r>
              <a:rPr lang="en-US" sz="3600" b="1" dirty="0"/>
              <a:t>collecting data and analyzing it systematically</a:t>
            </a:r>
            <a:r>
              <a:rPr lang="en-US" sz="3600" dirty="0"/>
              <a:t>, empirical analysis </a:t>
            </a:r>
            <a:r>
              <a:rPr lang="en-US" sz="3600" b="1" dirty="0"/>
              <a:t>can help identify performance bottlenecks </a:t>
            </a:r>
            <a:r>
              <a:rPr lang="en-US" sz="3600" dirty="0"/>
              <a:t>and </a:t>
            </a:r>
            <a:r>
              <a:rPr lang="en-US" sz="3600" b="1" dirty="0"/>
              <a:t>guide the development </a:t>
            </a:r>
            <a:r>
              <a:rPr lang="en-US" sz="3600" dirty="0"/>
              <a:t>of </a:t>
            </a:r>
            <a:r>
              <a:rPr lang="en-US" sz="3600" b="1" dirty="0"/>
              <a:t>more efficient algorithms and programs</a:t>
            </a:r>
            <a:r>
              <a:rPr lang="en-US" sz="36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1426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57887-3361-4468-9081-F93B362B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622"/>
            <a:ext cx="10515600" cy="65024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6000" dirty="0"/>
          </a:p>
          <a:p>
            <a:pPr marL="0" indent="0" algn="ctr">
              <a:buNone/>
            </a:pPr>
            <a:endParaRPr lang="en-US" sz="6000" dirty="0"/>
          </a:p>
          <a:p>
            <a:pPr marL="0" indent="0" algn="ctr">
              <a:buNone/>
            </a:pPr>
            <a:endParaRPr lang="en-US" sz="6000" dirty="0"/>
          </a:p>
          <a:p>
            <a:pPr marL="0" indent="0" algn="ctr">
              <a:buNone/>
            </a:pPr>
            <a:r>
              <a:rPr lang="en-US" sz="6000" dirty="0"/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278730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1401</Words>
  <Application>Microsoft Office PowerPoint</Application>
  <PresentationFormat>Widescreen</PresentationFormat>
  <Paragraphs>106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BETTY</dc:creator>
  <cp:lastModifiedBy>Betty Singano</cp:lastModifiedBy>
  <cp:revision>29</cp:revision>
  <dcterms:created xsi:type="dcterms:W3CDTF">2023-03-27T00:34:54Z</dcterms:created>
  <dcterms:modified xsi:type="dcterms:W3CDTF">2024-04-05T19:40:28Z</dcterms:modified>
</cp:coreProperties>
</file>