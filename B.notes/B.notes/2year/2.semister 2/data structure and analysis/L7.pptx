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326" r:id="rId3"/>
    <p:sldId id="327" r:id="rId4"/>
    <p:sldId id="328" r:id="rId5"/>
    <p:sldId id="330" r:id="rId6"/>
    <p:sldId id="331" r:id="rId7"/>
    <p:sldId id="329" r:id="rId8"/>
    <p:sldId id="332" r:id="rId9"/>
    <p:sldId id="333" r:id="rId10"/>
    <p:sldId id="334" r:id="rId11"/>
    <p:sldId id="335" r:id="rId12"/>
    <p:sldId id="336" r:id="rId13"/>
    <p:sldId id="337" r:id="rId14"/>
    <p:sldId id="338" r:id="rId15"/>
    <p:sldId id="339" r:id="rId16"/>
    <p:sldId id="340" r:id="rId17"/>
    <p:sldId id="341" r:id="rId18"/>
    <p:sldId id="342" r:id="rId19"/>
    <p:sldId id="346" r:id="rId20"/>
    <p:sldId id="348" r:id="rId21"/>
    <p:sldId id="349" r:id="rId22"/>
    <p:sldId id="344" r:id="rId23"/>
    <p:sldId id="350" r:id="rId24"/>
    <p:sldId id="354" r:id="rId25"/>
    <p:sldId id="345" r:id="rId26"/>
    <p:sldId id="352" r:id="rId27"/>
    <p:sldId id="355" r:id="rId28"/>
    <p:sldId id="356" r:id="rId29"/>
    <p:sldId id="357" r:id="rId30"/>
    <p:sldId id="358" r:id="rId31"/>
    <p:sldId id="359" r:id="rId32"/>
    <p:sldId id="360" r:id="rId33"/>
    <p:sldId id="361" r:id="rId34"/>
    <p:sldId id="362" r:id="rId35"/>
    <p:sldId id="363" r:id="rId36"/>
    <p:sldId id="364" r:id="rId37"/>
    <p:sldId id="365" r:id="rId38"/>
    <p:sldId id="275" r:id="rId39"/>
    <p:sldId id="366" r:id="rId40"/>
    <p:sldId id="36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7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FDE5E-69A9-4A1D-97FB-E78C5B5507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8DEEC-975F-49DA-9556-333F49D034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A8576-CC25-4AED-9155-FD8BE40718E3}"/>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5" name="Footer Placeholder 4">
            <a:extLst>
              <a:ext uri="{FF2B5EF4-FFF2-40B4-BE49-F238E27FC236}">
                <a16:creationId xmlns:a16="http://schemas.microsoft.com/office/drawing/2014/main" id="{189A9601-8649-4EBA-9298-D14036F1E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76612-A957-432B-B434-0CB2AA2171C1}"/>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3874955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86C4-19F9-440A-A636-428716208D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407024-5638-4A6F-B5A2-D33611FAFB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8D461-3BC7-424E-98BA-88FBEDE686A8}"/>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5" name="Footer Placeholder 4">
            <a:extLst>
              <a:ext uri="{FF2B5EF4-FFF2-40B4-BE49-F238E27FC236}">
                <a16:creationId xmlns:a16="http://schemas.microsoft.com/office/drawing/2014/main" id="{5004B056-D486-4BE1-9628-B72E0E3E1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8B40AC-B9F6-4AC7-AF9A-0769B3921430}"/>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2658583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E81C-C095-4E3E-96A9-B9D03D5FE5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EB2921-8440-4076-AA4C-21FE60DE55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A40081-A3F1-4DAC-9C4F-FFC766BBB67B}"/>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5" name="Footer Placeholder 4">
            <a:extLst>
              <a:ext uri="{FF2B5EF4-FFF2-40B4-BE49-F238E27FC236}">
                <a16:creationId xmlns:a16="http://schemas.microsoft.com/office/drawing/2014/main" id="{13A6BA01-1B50-4B04-AF84-0D1E2F4282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D84DC-42D5-49A0-9E9F-32FC74B21787}"/>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2840244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D7EC7-6C58-40FC-994D-DB2A00F1F7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3E89E4-8BFB-416C-B371-477A5C55C5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87EDF6-C207-47B8-BCA9-E12D1C1F7C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A06D48-1781-4F4C-8950-60C4A785719E}"/>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6" name="Footer Placeholder 5">
            <a:extLst>
              <a:ext uri="{FF2B5EF4-FFF2-40B4-BE49-F238E27FC236}">
                <a16:creationId xmlns:a16="http://schemas.microsoft.com/office/drawing/2014/main" id="{512E9D04-E398-456C-8758-BB1761DE71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4DF50-AC4A-49F7-8745-21EA65E9A6AD}"/>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4072230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A188-88AE-459B-98CA-2026047DF2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12334B-84CA-47AC-8F68-688F2A331C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99DC4C-C7F7-4C97-B62D-431294D3E5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14FC24-F476-4C39-8913-A64AE77C65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0654D2-2180-417D-88EE-5D023071BC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C7C07A-1820-408F-BFAE-5085447AF96F}"/>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8" name="Footer Placeholder 7">
            <a:extLst>
              <a:ext uri="{FF2B5EF4-FFF2-40B4-BE49-F238E27FC236}">
                <a16:creationId xmlns:a16="http://schemas.microsoft.com/office/drawing/2014/main" id="{17AC0CA9-802D-425A-83BE-BED0ACEE39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D4BB5C-DEED-4F33-B4D7-B324A302F00F}"/>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1309579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B143-740F-4768-811D-98D66F000E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13BFC5-BB6C-4881-9E38-FD20D09CE9D1}"/>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4" name="Footer Placeholder 3">
            <a:extLst>
              <a:ext uri="{FF2B5EF4-FFF2-40B4-BE49-F238E27FC236}">
                <a16:creationId xmlns:a16="http://schemas.microsoft.com/office/drawing/2014/main" id="{D89AC48E-D3DC-452F-9B26-C059EED5C2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DBE19C-E150-4794-BDD2-DE6E90FB6996}"/>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3860771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43FA92-7B26-4C7D-995A-4031B05D2025}"/>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3" name="Footer Placeholder 2">
            <a:extLst>
              <a:ext uri="{FF2B5EF4-FFF2-40B4-BE49-F238E27FC236}">
                <a16:creationId xmlns:a16="http://schemas.microsoft.com/office/drawing/2014/main" id="{959B37C9-81A9-4A77-8FC8-168E13FBA5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3F9F23-972A-4160-B56C-837E6F1659E7}"/>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1816118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C25C5-E7ED-4C0B-970B-24247B93EA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2364BB-1B6F-4D16-A794-B828996D49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7B7CD9-2556-4BF1-8471-3151BFB4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5DB19-E6E9-41E4-82AB-4F7E59FE9C0D}"/>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6" name="Footer Placeholder 5">
            <a:extLst>
              <a:ext uri="{FF2B5EF4-FFF2-40B4-BE49-F238E27FC236}">
                <a16:creationId xmlns:a16="http://schemas.microsoft.com/office/drawing/2014/main" id="{A54F142F-897C-4DB4-AD78-D91F643B48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703CA-1F1A-4D19-8E58-D0F24FA12FFD}"/>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444756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E837A-90F1-40AE-86AA-82DEC9CBD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5B7110-14FB-4833-955C-D9DB0CC208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AB5C8E-C4D4-4F31-9A08-751080CF0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67CAB-6F24-4DE4-AAD4-3D76EF7A3BE2}"/>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6" name="Footer Placeholder 5">
            <a:extLst>
              <a:ext uri="{FF2B5EF4-FFF2-40B4-BE49-F238E27FC236}">
                <a16:creationId xmlns:a16="http://schemas.microsoft.com/office/drawing/2014/main" id="{1FE1E106-C664-4B50-AF61-7CA0124965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FC2904-7ADA-42BA-8572-932AD6314278}"/>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733548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EB61B-CDCA-4373-9142-06B29F0A4C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B2F442-A3BD-4E2D-BB48-6C15C63EE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A5723D-5DAF-4A1A-84FD-E7931C3880FB}"/>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5" name="Footer Placeholder 4">
            <a:extLst>
              <a:ext uri="{FF2B5EF4-FFF2-40B4-BE49-F238E27FC236}">
                <a16:creationId xmlns:a16="http://schemas.microsoft.com/office/drawing/2014/main" id="{DF17038F-1269-424F-870E-3D3076838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E0C9F-1383-4F5A-B254-F3B66806E903}"/>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125517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6E413-F2BA-42F5-9BF5-4B18E88C50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C809CE-64EF-4445-B8FC-7D18D00608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A441D-0161-47AD-A1A6-9DF71FD84C6E}"/>
              </a:ext>
            </a:extLst>
          </p:cNvPr>
          <p:cNvSpPr>
            <a:spLocks noGrp="1"/>
          </p:cNvSpPr>
          <p:nvPr>
            <p:ph type="dt" sz="half" idx="10"/>
          </p:nvPr>
        </p:nvSpPr>
        <p:spPr/>
        <p:txBody>
          <a:bodyPr/>
          <a:lstStyle/>
          <a:p>
            <a:fld id="{B30A0011-BBF4-48C1-A5F4-4C613A439C0E}" type="datetimeFigureOut">
              <a:rPr lang="en-US" smtClean="0"/>
              <a:t>6/16/2023</a:t>
            </a:fld>
            <a:endParaRPr lang="en-US"/>
          </a:p>
        </p:txBody>
      </p:sp>
      <p:sp>
        <p:nvSpPr>
          <p:cNvPr id="5" name="Footer Placeholder 4">
            <a:extLst>
              <a:ext uri="{FF2B5EF4-FFF2-40B4-BE49-F238E27FC236}">
                <a16:creationId xmlns:a16="http://schemas.microsoft.com/office/drawing/2014/main" id="{C0BDF86A-13F3-44F7-8A4F-F3958B756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0698B-7ADB-42DE-AED7-C15C69D44E18}"/>
              </a:ext>
            </a:extLst>
          </p:cNvPr>
          <p:cNvSpPr>
            <a:spLocks noGrp="1"/>
          </p:cNvSpPr>
          <p:nvPr>
            <p:ph type="sldNum" sz="quarter" idx="12"/>
          </p:nvPr>
        </p:nvSpPr>
        <p:spPr/>
        <p:txBody>
          <a:bodyPr/>
          <a:lstStyle/>
          <a:p>
            <a:fld id="{5911131A-5CBD-4CEB-8A1C-FAF9DF184D6D}" type="slidenum">
              <a:rPr lang="en-US" smtClean="0"/>
              <a:t>‹#›</a:t>
            </a:fld>
            <a:endParaRPr lang="en-US"/>
          </a:p>
        </p:txBody>
      </p:sp>
    </p:spTree>
    <p:extLst>
      <p:ext uri="{BB962C8B-B14F-4D97-AF65-F5344CB8AC3E}">
        <p14:creationId xmlns:p14="http://schemas.microsoft.com/office/powerpoint/2010/main" val="1086969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4FE428-DE20-4D06-9033-31C419529F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DEAB73-F877-4C37-96EC-ABD446D084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721101-3FB8-480A-9458-C350922727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0A0011-BBF4-48C1-A5F4-4C613A439C0E}" type="datetimeFigureOut">
              <a:rPr lang="en-US" smtClean="0"/>
              <a:t>6/16/2023</a:t>
            </a:fld>
            <a:endParaRPr lang="en-US"/>
          </a:p>
        </p:txBody>
      </p:sp>
      <p:sp>
        <p:nvSpPr>
          <p:cNvPr id="5" name="Footer Placeholder 4">
            <a:extLst>
              <a:ext uri="{FF2B5EF4-FFF2-40B4-BE49-F238E27FC236}">
                <a16:creationId xmlns:a16="http://schemas.microsoft.com/office/drawing/2014/main" id="{2D4F7533-9A7B-43FC-802C-FF68C03383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B5964C-C87C-412A-A9A2-A7C6B48868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1131A-5CBD-4CEB-8A1C-FAF9DF184D6D}" type="slidenum">
              <a:rPr lang="en-US" smtClean="0"/>
              <a:t>‹#›</a:t>
            </a:fld>
            <a:endParaRPr lang="en-US"/>
          </a:p>
        </p:txBody>
      </p:sp>
    </p:spTree>
    <p:extLst>
      <p:ext uri="{BB962C8B-B14F-4D97-AF65-F5344CB8AC3E}">
        <p14:creationId xmlns:p14="http://schemas.microsoft.com/office/powerpoint/2010/main" val="1415233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A48372-0F28-4EBE-A8D1-B8DD32509871}"/>
              </a:ext>
            </a:extLst>
          </p:cNvPr>
          <p:cNvSpPr>
            <a:spLocks noGrp="1"/>
          </p:cNvSpPr>
          <p:nvPr>
            <p:ph idx="1"/>
          </p:nvPr>
        </p:nvSpPr>
        <p:spPr>
          <a:xfrm>
            <a:off x="838200" y="180622"/>
            <a:ext cx="10515600" cy="6581422"/>
          </a:xfrm>
        </p:spPr>
        <p:txBody>
          <a:bodyPr>
            <a:normAutofit/>
          </a:bodyPr>
          <a:lstStyle/>
          <a:p>
            <a:pPr>
              <a:buFont typeface="Wingdings" panose="05000000000000000000" pitchFamily="2" charset="2"/>
              <a:buChar char="Ø"/>
            </a:pPr>
            <a:r>
              <a:rPr lang="en-US" sz="4000" b="1" dirty="0"/>
              <a:t>Queue:</a:t>
            </a:r>
          </a:p>
          <a:p>
            <a:r>
              <a:rPr lang="en-US" dirty="0"/>
              <a:t>A </a:t>
            </a:r>
            <a:r>
              <a:rPr lang="en-US" b="1" dirty="0"/>
              <a:t>Queue</a:t>
            </a:r>
            <a:r>
              <a:rPr lang="en-US" dirty="0"/>
              <a:t> is an abstract data structure, defined as a </a:t>
            </a:r>
            <a:r>
              <a:rPr lang="en-US" b="1" dirty="0"/>
              <a:t>linear data structure </a:t>
            </a:r>
            <a:r>
              <a:rPr lang="en-US" dirty="0"/>
              <a:t>that is </a:t>
            </a:r>
            <a:r>
              <a:rPr lang="en-US" b="1" dirty="0"/>
              <a:t>open at both ends </a:t>
            </a:r>
            <a:r>
              <a:rPr lang="en-US" dirty="0"/>
              <a:t>and the </a:t>
            </a:r>
            <a:r>
              <a:rPr lang="en-US" b="1" dirty="0"/>
              <a:t>operations are performed in First In First Out (FIFO) order</a:t>
            </a:r>
            <a:r>
              <a:rPr lang="en-US" dirty="0"/>
              <a:t>.</a:t>
            </a:r>
          </a:p>
          <a:p>
            <a:r>
              <a:rPr lang="en-US" dirty="0"/>
              <a:t>We define a </a:t>
            </a:r>
            <a:r>
              <a:rPr lang="en-US" b="1" dirty="0"/>
              <a:t>queue to be a list </a:t>
            </a:r>
            <a:r>
              <a:rPr lang="en-US" dirty="0"/>
              <a:t>in which </a:t>
            </a:r>
            <a:r>
              <a:rPr lang="en-US" b="1" dirty="0"/>
              <a:t>all additions to the list </a:t>
            </a:r>
            <a:r>
              <a:rPr lang="en-US" dirty="0"/>
              <a:t>are </a:t>
            </a:r>
            <a:r>
              <a:rPr lang="en-US" b="1" dirty="0"/>
              <a:t>made at one end, </a:t>
            </a:r>
            <a:r>
              <a:rPr lang="en-US" dirty="0"/>
              <a:t>and all </a:t>
            </a:r>
            <a:r>
              <a:rPr lang="en-US" b="1" dirty="0"/>
              <a:t>deletions from the list </a:t>
            </a:r>
            <a:r>
              <a:rPr lang="en-US" dirty="0"/>
              <a:t>are </a:t>
            </a:r>
            <a:r>
              <a:rPr lang="en-US" b="1" dirty="0"/>
              <a:t>made at the other </a:t>
            </a:r>
            <a:r>
              <a:rPr lang="en-US" dirty="0"/>
              <a:t>end.</a:t>
            </a:r>
          </a:p>
          <a:p>
            <a:r>
              <a:rPr lang="en-US" dirty="0"/>
              <a:t>The element which is </a:t>
            </a:r>
            <a:r>
              <a:rPr lang="en-US" b="1" dirty="0"/>
              <a:t>first pushed into the order</a:t>
            </a:r>
            <a:r>
              <a:rPr lang="en-US" dirty="0"/>
              <a:t>, the </a:t>
            </a:r>
            <a:r>
              <a:rPr lang="en-US" b="1" dirty="0"/>
              <a:t>operation is first performed on that.</a:t>
            </a:r>
          </a:p>
          <a:p>
            <a:r>
              <a:rPr lang="en-US" dirty="0"/>
              <a:t>A queue is open at both its ends.</a:t>
            </a:r>
          </a:p>
          <a:p>
            <a:r>
              <a:rPr lang="en-US" dirty="0"/>
              <a:t>One end is always used to </a:t>
            </a:r>
            <a:r>
              <a:rPr lang="en-US" b="1" dirty="0"/>
              <a:t>insert data (enqueue) </a:t>
            </a:r>
            <a:r>
              <a:rPr lang="en-US" dirty="0"/>
              <a:t>and the other is used to </a:t>
            </a:r>
            <a:r>
              <a:rPr lang="en-US" b="1" dirty="0"/>
              <a:t>remove data (dequeue). </a:t>
            </a:r>
          </a:p>
          <a:p>
            <a:r>
              <a:rPr lang="en-US" dirty="0"/>
              <a:t>Queue follows First-In-First-Out methodology, i.e., the data item stored first will be accessed first.</a:t>
            </a:r>
            <a:endParaRPr lang="en-US" b="1" dirty="0"/>
          </a:p>
          <a:p>
            <a:pPr marL="0" indent="0">
              <a:buNone/>
            </a:pPr>
            <a:endParaRPr lang="en-US" b="1" dirty="0"/>
          </a:p>
        </p:txBody>
      </p:sp>
    </p:spTree>
    <p:extLst>
      <p:ext uri="{BB962C8B-B14F-4D97-AF65-F5344CB8AC3E}">
        <p14:creationId xmlns:p14="http://schemas.microsoft.com/office/powerpoint/2010/main" val="4012422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6E1FAA6-845C-47D4-B071-1236FF1974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3156" y="293511"/>
            <a:ext cx="11334043" cy="6175022"/>
          </a:xfrm>
        </p:spPr>
      </p:pic>
    </p:spTree>
    <p:extLst>
      <p:ext uri="{BB962C8B-B14F-4D97-AF65-F5344CB8AC3E}">
        <p14:creationId xmlns:p14="http://schemas.microsoft.com/office/powerpoint/2010/main" val="245148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841B6E-10F3-4157-B62C-B84FDDC1417A}"/>
              </a:ext>
            </a:extLst>
          </p:cNvPr>
          <p:cNvSpPr>
            <a:spLocks noGrp="1"/>
          </p:cNvSpPr>
          <p:nvPr>
            <p:ph idx="1"/>
          </p:nvPr>
        </p:nvSpPr>
        <p:spPr>
          <a:xfrm>
            <a:off x="838200" y="124178"/>
            <a:ext cx="10515600" cy="6733822"/>
          </a:xfrm>
        </p:spPr>
        <p:txBody>
          <a:bodyPr/>
          <a:lstStyle/>
          <a:p>
            <a:pPr marL="0" indent="0">
              <a:buNone/>
            </a:pPr>
            <a:r>
              <a:rPr lang="en-US" sz="3600" b="1" dirty="0"/>
              <a:t>FIFO Principle of Queue:</a:t>
            </a:r>
          </a:p>
          <a:p>
            <a:r>
              <a:rPr lang="en-US" sz="3600" dirty="0"/>
              <a:t>A Queue is like a line waiting to purchase tickets, where the first person in line is the first person served. (i.e. First come first serve).</a:t>
            </a:r>
          </a:p>
          <a:p>
            <a:r>
              <a:rPr lang="en-US" sz="3600" dirty="0"/>
              <a:t>Position of the entry in a queue ready to be served, that is, the first entry that will be removed from the queue, is called the </a:t>
            </a:r>
            <a:r>
              <a:rPr lang="en-US" sz="3600" b="1" dirty="0"/>
              <a:t>front</a:t>
            </a:r>
            <a:r>
              <a:rPr lang="en-US" sz="3600" dirty="0"/>
              <a:t> of the queue(sometimes, </a:t>
            </a:r>
            <a:r>
              <a:rPr lang="en-US" sz="3600" b="1" dirty="0"/>
              <a:t>head</a:t>
            </a:r>
            <a:r>
              <a:rPr lang="en-US" sz="3600" dirty="0"/>
              <a:t> of the queue), similarly, the position of the last entry in the queue, that is, the one most recently added, is called the </a:t>
            </a:r>
            <a:r>
              <a:rPr lang="en-US" sz="3600" b="1" dirty="0"/>
              <a:t>rear</a:t>
            </a:r>
            <a:r>
              <a:rPr lang="en-US" sz="3600" dirty="0"/>
              <a:t> (or the </a:t>
            </a:r>
            <a:r>
              <a:rPr lang="en-US" sz="3600" b="1" dirty="0"/>
              <a:t>tail</a:t>
            </a:r>
            <a:r>
              <a:rPr lang="en-US" sz="3600" dirty="0"/>
              <a:t>) of the queue.</a:t>
            </a:r>
          </a:p>
          <a:p>
            <a:endParaRPr lang="en-US" dirty="0"/>
          </a:p>
        </p:txBody>
      </p:sp>
    </p:spTree>
    <p:extLst>
      <p:ext uri="{BB962C8B-B14F-4D97-AF65-F5344CB8AC3E}">
        <p14:creationId xmlns:p14="http://schemas.microsoft.com/office/powerpoint/2010/main" val="1483242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051027-D786-48B6-A908-C78512ABA6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0578" y="327378"/>
            <a:ext cx="11108266" cy="6152444"/>
          </a:xfrm>
        </p:spPr>
      </p:pic>
    </p:spTree>
    <p:extLst>
      <p:ext uri="{BB962C8B-B14F-4D97-AF65-F5344CB8AC3E}">
        <p14:creationId xmlns:p14="http://schemas.microsoft.com/office/powerpoint/2010/main" val="375350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651548-C88C-4298-B344-5A2221B54015}"/>
              </a:ext>
            </a:extLst>
          </p:cNvPr>
          <p:cNvSpPr>
            <a:spLocks noGrp="1"/>
          </p:cNvSpPr>
          <p:nvPr>
            <p:ph idx="1"/>
          </p:nvPr>
        </p:nvSpPr>
        <p:spPr>
          <a:xfrm>
            <a:off x="838200" y="112888"/>
            <a:ext cx="10515600" cy="6615289"/>
          </a:xfrm>
        </p:spPr>
        <p:txBody>
          <a:bodyPr>
            <a:normAutofit/>
          </a:bodyPr>
          <a:lstStyle/>
          <a:p>
            <a:pPr marL="0" indent="0">
              <a:buNone/>
            </a:pPr>
            <a:r>
              <a:rPr lang="en-US" sz="3600" b="1" dirty="0"/>
              <a:t>Characteristics of Queue:</a:t>
            </a:r>
          </a:p>
          <a:p>
            <a:r>
              <a:rPr lang="en-US" sz="3600" dirty="0"/>
              <a:t>Queue can handle multiple data.</a:t>
            </a:r>
          </a:p>
          <a:p>
            <a:r>
              <a:rPr lang="en-US" sz="3600" dirty="0"/>
              <a:t>We can access both ends.</a:t>
            </a:r>
          </a:p>
          <a:p>
            <a:r>
              <a:rPr lang="en-US" sz="3600" dirty="0"/>
              <a:t>They are fast and flexible. </a:t>
            </a:r>
            <a:endParaRPr lang="en-US" sz="3600" b="1" dirty="0"/>
          </a:p>
          <a:p>
            <a:pPr marL="0" indent="0">
              <a:buNone/>
            </a:pPr>
            <a:r>
              <a:rPr lang="en-US" sz="3600" b="1" dirty="0"/>
              <a:t>Types of Queue:</a:t>
            </a:r>
          </a:p>
          <a:p>
            <a:pPr marL="0" indent="0">
              <a:buNone/>
            </a:pPr>
            <a:r>
              <a:rPr lang="en-US" sz="3600" dirty="0"/>
              <a:t>There are </a:t>
            </a:r>
            <a:r>
              <a:rPr lang="en-US" sz="3600" b="1" dirty="0"/>
              <a:t>four different types </a:t>
            </a:r>
            <a:r>
              <a:rPr lang="en-US" sz="3600" dirty="0"/>
              <a:t>of queue as follows;</a:t>
            </a:r>
            <a:endParaRPr lang="en-US" sz="3600" b="1" dirty="0"/>
          </a:p>
          <a:p>
            <a:r>
              <a:rPr lang="fr-FR" sz="3600" dirty="0"/>
              <a:t>Simple Queue or Linear Queue</a:t>
            </a:r>
          </a:p>
          <a:p>
            <a:r>
              <a:rPr lang="fr-FR" sz="3600" dirty="0"/>
              <a:t>Circular Queue</a:t>
            </a:r>
          </a:p>
          <a:p>
            <a:r>
              <a:rPr lang="fr-FR" sz="3600" dirty="0"/>
              <a:t>Priority Queue</a:t>
            </a:r>
          </a:p>
          <a:p>
            <a:r>
              <a:rPr lang="fr-FR" sz="3600" dirty="0"/>
              <a:t>Double Ended Queue (or Deque)</a:t>
            </a:r>
          </a:p>
          <a:p>
            <a:pPr marL="0" indent="0">
              <a:buNone/>
            </a:pPr>
            <a:endParaRPr lang="en-US" dirty="0"/>
          </a:p>
        </p:txBody>
      </p:sp>
    </p:spTree>
    <p:extLst>
      <p:ext uri="{BB962C8B-B14F-4D97-AF65-F5344CB8AC3E}">
        <p14:creationId xmlns:p14="http://schemas.microsoft.com/office/powerpoint/2010/main" val="274229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2601ABB-B382-4F5B-864F-D4C1FB0539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338667"/>
            <a:ext cx="10622844" cy="6378222"/>
          </a:xfrm>
        </p:spPr>
      </p:pic>
    </p:spTree>
    <p:extLst>
      <p:ext uri="{BB962C8B-B14F-4D97-AF65-F5344CB8AC3E}">
        <p14:creationId xmlns:p14="http://schemas.microsoft.com/office/powerpoint/2010/main" val="2277044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BD9B8-59D8-470B-9468-FD6D8067D672}"/>
              </a:ext>
            </a:extLst>
          </p:cNvPr>
          <p:cNvSpPr>
            <a:spLocks noGrp="1"/>
          </p:cNvSpPr>
          <p:nvPr>
            <p:ph idx="1"/>
          </p:nvPr>
        </p:nvSpPr>
        <p:spPr>
          <a:xfrm>
            <a:off x="361244" y="158044"/>
            <a:ext cx="10992556" cy="6570134"/>
          </a:xfrm>
        </p:spPr>
        <p:txBody>
          <a:bodyPr/>
          <a:lstStyle/>
          <a:p>
            <a:pPr marL="0" indent="0">
              <a:buNone/>
            </a:pPr>
            <a:r>
              <a:rPr lang="en-US" sz="3200" b="1" dirty="0"/>
              <a:t>Simple Queue or Linear Queue:</a:t>
            </a:r>
          </a:p>
          <a:p>
            <a:r>
              <a:rPr lang="en-US" sz="3200" dirty="0"/>
              <a:t>In Linear Queue, an insertion takes place from one end while the deletion occurs from another end. </a:t>
            </a:r>
          </a:p>
          <a:p>
            <a:r>
              <a:rPr lang="en-US" sz="3200" dirty="0"/>
              <a:t>The end at which the insertion takes place is known as the rear end, and the end at which the deletion takes place is known as front end. </a:t>
            </a:r>
          </a:p>
          <a:p>
            <a:r>
              <a:rPr lang="en-US" sz="3200" dirty="0"/>
              <a:t>It strictly follows the FIFO rule.</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242CF42A-E76C-4269-B164-CF867F32B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3429000"/>
            <a:ext cx="10092266" cy="2633133"/>
          </a:xfrm>
          <a:prstGeom prst="rect">
            <a:avLst/>
          </a:prstGeom>
        </p:spPr>
      </p:pic>
    </p:spTree>
    <p:extLst>
      <p:ext uri="{BB962C8B-B14F-4D97-AF65-F5344CB8AC3E}">
        <p14:creationId xmlns:p14="http://schemas.microsoft.com/office/powerpoint/2010/main" val="237576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28EA2-2208-48FF-9896-FDF36C582270}"/>
              </a:ext>
            </a:extLst>
          </p:cNvPr>
          <p:cNvSpPr>
            <a:spLocks noGrp="1"/>
          </p:cNvSpPr>
          <p:nvPr>
            <p:ph idx="1"/>
          </p:nvPr>
        </p:nvSpPr>
        <p:spPr>
          <a:xfrm>
            <a:off x="838200" y="158044"/>
            <a:ext cx="10515600" cy="6581423"/>
          </a:xfrm>
        </p:spPr>
        <p:txBody>
          <a:bodyPr>
            <a:normAutofit/>
          </a:bodyPr>
          <a:lstStyle/>
          <a:p>
            <a:r>
              <a:rPr lang="en-US" sz="3600" dirty="0"/>
              <a:t>The major </a:t>
            </a:r>
            <a:r>
              <a:rPr lang="en-US" sz="3600" b="1" dirty="0"/>
              <a:t>drawback</a:t>
            </a:r>
            <a:r>
              <a:rPr lang="en-US" sz="3600" dirty="0"/>
              <a:t> of using a linear Queue is that insertion is done only from the rear end.</a:t>
            </a:r>
          </a:p>
          <a:p>
            <a:r>
              <a:rPr lang="en-US" sz="3600" dirty="0"/>
              <a:t> If the first three elements are deleted from the Queue, we cannot insert more elements even though the space is available in a Linear Queue. </a:t>
            </a:r>
          </a:p>
          <a:p>
            <a:r>
              <a:rPr lang="en-US" sz="3600" dirty="0"/>
              <a:t>In this case, the linear Queue shows the overflow condition as the rear is pointing to the last element of the Queue.</a:t>
            </a:r>
          </a:p>
        </p:txBody>
      </p:sp>
    </p:spTree>
    <p:extLst>
      <p:ext uri="{BB962C8B-B14F-4D97-AF65-F5344CB8AC3E}">
        <p14:creationId xmlns:p14="http://schemas.microsoft.com/office/powerpoint/2010/main" val="957852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C7DC17-40FE-4DE8-99DC-E93F5A103593}"/>
              </a:ext>
            </a:extLst>
          </p:cNvPr>
          <p:cNvSpPr>
            <a:spLocks noGrp="1"/>
          </p:cNvSpPr>
          <p:nvPr>
            <p:ph idx="1"/>
          </p:nvPr>
        </p:nvSpPr>
        <p:spPr>
          <a:xfrm>
            <a:off x="838200" y="124178"/>
            <a:ext cx="10515600" cy="6733822"/>
          </a:xfrm>
        </p:spPr>
        <p:txBody>
          <a:bodyPr/>
          <a:lstStyle/>
          <a:p>
            <a:pPr marL="0" indent="0">
              <a:buNone/>
            </a:pPr>
            <a:r>
              <a:rPr lang="en-US" b="1" dirty="0"/>
              <a:t>Circular Queue:</a:t>
            </a:r>
          </a:p>
          <a:p>
            <a:r>
              <a:rPr lang="en-US" dirty="0"/>
              <a:t>In Circular Queue, all the nodes are represented as circular. </a:t>
            </a:r>
          </a:p>
          <a:p>
            <a:r>
              <a:rPr lang="en-US" dirty="0"/>
              <a:t>It is similar to the linear Queue except that the last element of the queue is connected to the first element. </a:t>
            </a:r>
          </a:p>
          <a:p>
            <a:r>
              <a:rPr lang="en-US" dirty="0"/>
              <a:t>It is also known as </a:t>
            </a:r>
            <a:r>
              <a:rPr lang="en-US" b="1" dirty="0"/>
              <a:t>Ring Buffer</a:t>
            </a:r>
            <a:r>
              <a:rPr lang="en-US" dirty="0"/>
              <a:t>, as all the ends are connected to another end. </a:t>
            </a:r>
          </a:p>
          <a:p>
            <a:r>
              <a:rPr lang="en-US" dirty="0"/>
              <a:t>The representation of circular queue is shown in the below image –</a:t>
            </a:r>
          </a:p>
          <a:p>
            <a:endParaRPr lang="en-US" dirty="0"/>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474771D3-13F6-438B-B6E7-FF05E2136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75" y="3668889"/>
            <a:ext cx="6191250" cy="2675467"/>
          </a:xfrm>
          <a:prstGeom prst="rect">
            <a:avLst/>
          </a:prstGeom>
        </p:spPr>
      </p:pic>
    </p:spTree>
    <p:extLst>
      <p:ext uri="{BB962C8B-B14F-4D97-AF65-F5344CB8AC3E}">
        <p14:creationId xmlns:p14="http://schemas.microsoft.com/office/powerpoint/2010/main" val="1076128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0231E-9C48-459B-B726-7CC2840C3632}"/>
              </a:ext>
            </a:extLst>
          </p:cNvPr>
          <p:cNvSpPr>
            <a:spLocks noGrp="1"/>
          </p:cNvSpPr>
          <p:nvPr>
            <p:ph idx="1"/>
          </p:nvPr>
        </p:nvSpPr>
        <p:spPr>
          <a:xfrm>
            <a:off x="838200" y="135466"/>
            <a:ext cx="10515600" cy="6722533"/>
          </a:xfrm>
        </p:spPr>
        <p:txBody>
          <a:bodyPr>
            <a:normAutofit/>
          </a:bodyPr>
          <a:lstStyle/>
          <a:p>
            <a:r>
              <a:rPr lang="en-US" sz="3600" dirty="0"/>
              <a:t>The drawback that occurs in a linear queue is overcome by using the circular queue. </a:t>
            </a:r>
          </a:p>
          <a:p>
            <a:r>
              <a:rPr lang="en-US" sz="3600" dirty="0"/>
              <a:t>If the empty space is available in a circular queue, the new element can be added in an empty space by simply incrementing the value of rear. </a:t>
            </a:r>
          </a:p>
          <a:p>
            <a:r>
              <a:rPr lang="en-US" sz="3600" dirty="0"/>
              <a:t>The main advantage of using the circular queue is better memory utilization.</a:t>
            </a:r>
          </a:p>
        </p:txBody>
      </p:sp>
    </p:spTree>
    <p:extLst>
      <p:ext uri="{BB962C8B-B14F-4D97-AF65-F5344CB8AC3E}">
        <p14:creationId xmlns:p14="http://schemas.microsoft.com/office/powerpoint/2010/main" val="291022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A5E5A4-1900-43AD-ACA2-943EB02ADE20}"/>
              </a:ext>
            </a:extLst>
          </p:cNvPr>
          <p:cNvSpPr>
            <a:spLocks noGrp="1"/>
          </p:cNvSpPr>
          <p:nvPr>
            <p:ph idx="1"/>
          </p:nvPr>
        </p:nvSpPr>
        <p:spPr>
          <a:xfrm>
            <a:off x="838200" y="169333"/>
            <a:ext cx="10515600" cy="6570134"/>
          </a:xfrm>
        </p:spPr>
        <p:txBody>
          <a:bodyPr/>
          <a:lstStyle/>
          <a:p>
            <a:pPr marL="0" indent="0">
              <a:buNone/>
            </a:pPr>
            <a:r>
              <a:rPr lang="en-US" b="1" dirty="0"/>
              <a:t>Priority Queue:</a:t>
            </a:r>
          </a:p>
          <a:p>
            <a:r>
              <a:rPr lang="en-US" dirty="0"/>
              <a:t>It is a special type of queue in which the elements are arranged based on the priority. </a:t>
            </a:r>
          </a:p>
          <a:p>
            <a:r>
              <a:rPr lang="en-US" dirty="0"/>
              <a:t>It is a special type of queue data structure in which every element has a priority associated with it. </a:t>
            </a:r>
          </a:p>
          <a:p>
            <a:r>
              <a:rPr lang="en-US" dirty="0"/>
              <a:t>Suppose some elements occur with the same priority, they will be arranged according to the FIFO principle. </a:t>
            </a:r>
          </a:p>
          <a:p>
            <a:r>
              <a:rPr lang="en-US" dirty="0"/>
              <a:t>The representation of priority queue is shown in the below image;</a:t>
            </a:r>
          </a:p>
          <a:p>
            <a:pPr marL="0" indent="0">
              <a:buNone/>
            </a:pPr>
            <a:endParaRPr lang="en-US" dirty="0"/>
          </a:p>
          <a:p>
            <a:pPr marL="0" indent="0">
              <a:buNone/>
            </a:pPr>
            <a:endParaRPr lang="en-US" dirty="0"/>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27B0A4AD-BCAB-41C9-9612-FD027D018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711" y="4041421"/>
            <a:ext cx="9584267" cy="2472267"/>
          </a:xfrm>
          <a:prstGeom prst="rect">
            <a:avLst/>
          </a:prstGeom>
        </p:spPr>
      </p:pic>
    </p:spTree>
    <p:extLst>
      <p:ext uri="{BB962C8B-B14F-4D97-AF65-F5344CB8AC3E}">
        <p14:creationId xmlns:p14="http://schemas.microsoft.com/office/powerpoint/2010/main" val="142287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783C0-DEDE-4666-9A77-DE811FFDDE1D}"/>
              </a:ext>
            </a:extLst>
          </p:cNvPr>
          <p:cNvSpPr>
            <a:spLocks noGrp="1"/>
          </p:cNvSpPr>
          <p:nvPr>
            <p:ph idx="1"/>
          </p:nvPr>
        </p:nvSpPr>
        <p:spPr>
          <a:xfrm>
            <a:off x="838200" y="0"/>
            <a:ext cx="10515600" cy="6858000"/>
          </a:xfrm>
        </p:spPr>
        <p:txBody>
          <a:bodyPr/>
          <a:lstStyle/>
          <a:p>
            <a:r>
              <a:rPr lang="en-US" sz="3200" dirty="0"/>
              <a:t>Insertion in priority queue takes place based on the arrival, while deletion in the priority queue occurs based on the priority. </a:t>
            </a:r>
          </a:p>
          <a:p>
            <a:r>
              <a:rPr lang="en-US" sz="3200" dirty="0"/>
              <a:t>Priority queue is mainly used to implement the CPU scheduling algorithms.</a:t>
            </a:r>
          </a:p>
          <a:p>
            <a:r>
              <a:rPr lang="en-US" sz="3200" dirty="0"/>
              <a:t>There are two types of priority queue that are discussed as follows;</a:t>
            </a:r>
          </a:p>
          <a:p>
            <a:pPr marL="0" indent="0">
              <a:buNone/>
            </a:pPr>
            <a:r>
              <a:rPr lang="en-US" sz="3200" b="1" dirty="0"/>
              <a:t>Ascending priority queue:</a:t>
            </a:r>
          </a:p>
          <a:p>
            <a:r>
              <a:rPr lang="en-US" sz="3200" dirty="0"/>
              <a:t>In ascending priority queue, elements can be inserted in arbitrary order, but only smallest can be deleted first. </a:t>
            </a:r>
          </a:p>
          <a:p>
            <a:r>
              <a:rPr lang="en-US" sz="3200" dirty="0"/>
              <a:t>Suppose an array with elements 7, 5, and 3 in the same order, so, insertion can be done with the same sequence, but the order of deleting the elements is 3, 5, 7.</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890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A9E38F-D86A-4638-AB62-806C287CA69D}"/>
              </a:ext>
            </a:extLst>
          </p:cNvPr>
          <p:cNvSpPr>
            <a:spLocks noGrp="1"/>
          </p:cNvSpPr>
          <p:nvPr>
            <p:ph idx="1"/>
          </p:nvPr>
        </p:nvSpPr>
        <p:spPr>
          <a:xfrm>
            <a:off x="838200" y="158044"/>
            <a:ext cx="10515600" cy="6592712"/>
          </a:xfrm>
        </p:spPr>
        <p:txBody>
          <a:bodyPr/>
          <a:lstStyle/>
          <a:p>
            <a:pPr marL="0" indent="0">
              <a:buNone/>
            </a:pPr>
            <a:r>
              <a:rPr lang="en-US" sz="3600" b="1" dirty="0"/>
              <a:t>Descending priority queue:</a:t>
            </a:r>
          </a:p>
          <a:p>
            <a:r>
              <a:rPr lang="en-US" sz="3600" dirty="0"/>
              <a:t>In descending priority queue, elements can be inserted in arbitrary order, but only the largest element can be deleted first. </a:t>
            </a:r>
          </a:p>
          <a:p>
            <a:r>
              <a:rPr lang="en-US" sz="3600" dirty="0"/>
              <a:t>Suppose an array with elements 7, 3, and 5 in the same order, so, insertion can be done with the same sequence, but the order of deleting the elements is 7, 5, 3.</a:t>
            </a:r>
          </a:p>
          <a:p>
            <a:endParaRPr lang="en-US" dirty="0"/>
          </a:p>
          <a:p>
            <a:pPr marL="0" indent="0">
              <a:buNone/>
            </a:pPr>
            <a:endParaRPr lang="en-US" dirty="0"/>
          </a:p>
        </p:txBody>
      </p:sp>
    </p:spTree>
    <p:extLst>
      <p:ext uri="{BB962C8B-B14F-4D97-AF65-F5344CB8AC3E}">
        <p14:creationId xmlns:p14="http://schemas.microsoft.com/office/powerpoint/2010/main" val="1688779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798AE-57E7-4CDF-818C-3509A94EDA45}"/>
              </a:ext>
            </a:extLst>
          </p:cNvPr>
          <p:cNvSpPr>
            <a:spLocks noGrp="1"/>
          </p:cNvSpPr>
          <p:nvPr>
            <p:ph idx="1"/>
          </p:nvPr>
        </p:nvSpPr>
        <p:spPr>
          <a:xfrm>
            <a:off x="838200" y="146756"/>
            <a:ext cx="10515600" cy="6626577"/>
          </a:xfrm>
        </p:spPr>
        <p:txBody>
          <a:bodyPr/>
          <a:lstStyle/>
          <a:p>
            <a:pPr marL="0" indent="0">
              <a:buNone/>
            </a:pPr>
            <a:r>
              <a:rPr lang="en-US" b="1" dirty="0"/>
              <a:t>Deque (or, Double Ended Queue):</a:t>
            </a:r>
          </a:p>
          <a:p>
            <a:r>
              <a:rPr lang="en-US" dirty="0"/>
              <a:t>In Deque or Double Ended Queue, insertion and deletion can be done from both ends of the queue either from the front or rear. </a:t>
            </a:r>
          </a:p>
          <a:p>
            <a:r>
              <a:rPr lang="en-US" dirty="0"/>
              <a:t>It means that we can insert and delete elements from both front and rear ends of the queue. </a:t>
            </a:r>
          </a:p>
          <a:p>
            <a:r>
              <a:rPr lang="en-US" dirty="0"/>
              <a:t>Deque can be used as a palindrome checker means that if we read the string from both ends, then the string would be the same.</a:t>
            </a:r>
          </a:p>
          <a:p>
            <a:r>
              <a:rPr lang="en-US" dirty="0"/>
              <a:t>Deque can be used both as stack and queue as it allows the insertion and deletion operations on both ends. </a:t>
            </a:r>
          </a:p>
          <a:p>
            <a:r>
              <a:rPr lang="en-US" dirty="0"/>
              <a:t>Deque can be considered as stack because stack follows the LIFO (Last In First Out) principle in which insertion and deletion both can be performed only from one end. </a:t>
            </a:r>
          </a:p>
          <a:p>
            <a:r>
              <a:rPr lang="en-US" dirty="0"/>
              <a:t>And in deque, it is possible to perform both insertion and deletion from one end, and Deque does not follow the FIFO principle.</a:t>
            </a:r>
          </a:p>
        </p:txBody>
      </p:sp>
    </p:spTree>
    <p:extLst>
      <p:ext uri="{BB962C8B-B14F-4D97-AF65-F5344CB8AC3E}">
        <p14:creationId xmlns:p14="http://schemas.microsoft.com/office/powerpoint/2010/main" val="298402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31C8-4129-4885-8A1B-5C09856383B3}"/>
              </a:ext>
            </a:extLst>
          </p:cNvPr>
          <p:cNvSpPr>
            <a:spLocks noGrp="1"/>
          </p:cNvSpPr>
          <p:nvPr>
            <p:ph idx="1"/>
          </p:nvPr>
        </p:nvSpPr>
        <p:spPr>
          <a:xfrm>
            <a:off x="838200" y="191910"/>
            <a:ext cx="10515600" cy="6666089"/>
          </a:xfrm>
        </p:spPr>
        <p:txBody>
          <a:bodyPr/>
          <a:lstStyle/>
          <a:p>
            <a:endParaRPr lang="en-US" dirty="0"/>
          </a:p>
          <a:p>
            <a:pPr marL="0" indent="0">
              <a:buNone/>
            </a:pPr>
            <a:r>
              <a:rPr lang="en-US" dirty="0"/>
              <a:t>The representation of the deque is shown in the below image;</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9641C43C-1707-4177-A6B2-5C78905C2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3733" y="1862667"/>
            <a:ext cx="9843911" cy="3939822"/>
          </a:xfrm>
          <a:prstGeom prst="rect">
            <a:avLst/>
          </a:prstGeom>
        </p:spPr>
      </p:pic>
    </p:spTree>
    <p:extLst>
      <p:ext uri="{BB962C8B-B14F-4D97-AF65-F5344CB8AC3E}">
        <p14:creationId xmlns:p14="http://schemas.microsoft.com/office/powerpoint/2010/main" val="1688820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BF86F4-30B8-4B3C-9861-DC96C443CBB3}"/>
              </a:ext>
            </a:extLst>
          </p:cNvPr>
          <p:cNvSpPr>
            <a:spLocks noGrp="1"/>
          </p:cNvSpPr>
          <p:nvPr>
            <p:ph idx="1"/>
          </p:nvPr>
        </p:nvSpPr>
        <p:spPr>
          <a:xfrm>
            <a:off x="838200" y="158044"/>
            <a:ext cx="10515600" cy="6592712"/>
          </a:xfrm>
        </p:spPr>
        <p:txBody>
          <a:bodyPr/>
          <a:lstStyle/>
          <a:p>
            <a:pPr marL="0" indent="0">
              <a:buNone/>
            </a:pPr>
            <a:r>
              <a:rPr lang="en-US" dirty="0"/>
              <a:t>There are </a:t>
            </a:r>
            <a:r>
              <a:rPr lang="en-US" b="1" dirty="0"/>
              <a:t>two types of deque </a:t>
            </a:r>
            <a:r>
              <a:rPr lang="en-US" dirty="0"/>
              <a:t>as follows;</a:t>
            </a:r>
          </a:p>
          <a:p>
            <a:pPr marL="0" indent="0">
              <a:buNone/>
            </a:pPr>
            <a:r>
              <a:rPr lang="en-US" b="1" dirty="0"/>
              <a:t>Input restricted deque:</a:t>
            </a:r>
          </a:p>
          <a:p>
            <a:r>
              <a:rPr lang="en-US" dirty="0"/>
              <a:t> As the name implies, in input restricted queue, insertion operation can be performed at only one end, while deletion can be performed from both ends.</a:t>
            </a:r>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9A28DA47-7209-4A8B-8061-D5AB616BB1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355" y="2754490"/>
            <a:ext cx="10205155" cy="3431822"/>
          </a:xfrm>
          <a:prstGeom prst="rect">
            <a:avLst/>
          </a:prstGeom>
        </p:spPr>
      </p:pic>
    </p:spTree>
    <p:extLst>
      <p:ext uri="{BB962C8B-B14F-4D97-AF65-F5344CB8AC3E}">
        <p14:creationId xmlns:p14="http://schemas.microsoft.com/office/powerpoint/2010/main" val="1691404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8C411-8F5C-4315-BFC5-127CB50F48CE}"/>
              </a:ext>
            </a:extLst>
          </p:cNvPr>
          <p:cNvSpPr>
            <a:spLocks noGrp="1"/>
          </p:cNvSpPr>
          <p:nvPr>
            <p:ph idx="1"/>
          </p:nvPr>
        </p:nvSpPr>
        <p:spPr>
          <a:xfrm>
            <a:off x="838200" y="90310"/>
            <a:ext cx="10515600" cy="6660445"/>
          </a:xfrm>
        </p:spPr>
        <p:txBody>
          <a:bodyPr/>
          <a:lstStyle/>
          <a:p>
            <a:pPr marL="0" indent="0">
              <a:buNone/>
            </a:pPr>
            <a:r>
              <a:rPr lang="en-US" b="1" dirty="0"/>
              <a:t>Output restricted deque:</a:t>
            </a:r>
          </a:p>
          <a:p>
            <a:r>
              <a:rPr lang="en-US" dirty="0"/>
              <a:t>As the name implies, in output restricted queue, deletion operation can be performed at only one end, while insertion can be performed from both ends.</a:t>
            </a:r>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11597749-6D22-46D0-8E6B-CFDFC1422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867" y="2528710"/>
            <a:ext cx="10397066" cy="3770489"/>
          </a:xfrm>
          <a:prstGeom prst="rect">
            <a:avLst/>
          </a:prstGeom>
        </p:spPr>
      </p:pic>
    </p:spTree>
    <p:extLst>
      <p:ext uri="{BB962C8B-B14F-4D97-AF65-F5344CB8AC3E}">
        <p14:creationId xmlns:p14="http://schemas.microsoft.com/office/powerpoint/2010/main" val="1335958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5904CB-32B7-43CF-87D5-1672332E0EFF}"/>
              </a:ext>
            </a:extLst>
          </p:cNvPr>
          <p:cNvSpPr>
            <a:spLocks noGrp="1"/>
          </p:cNvSpPr>
          <p:nvPr>
            <p:ph idx="1"/>
          </p:nvPr>
        </p:nvSpPr>
        <p:spPr>
          <a:xfrm>
            <a:off x="838200" y="135466"/>
            <a:ext cx="10515600" cy="6592711"/>
          </a:xfrm>
        </p:spPr>
        <p:txBody>
          <a:bodyPr>
            <a:normAutofit/>
          </a:bodyPr>
          <a:lstStyle/>
          <a:p>
            <a:pPr marL="0" indent="0">
              <a:buNone/>
            </a:pPr>
            <a:r>
              <a:rPr lang="en-US" sz="3200" b="1" dirty="0"/>
              <a:t>Operations performed on queue:</a:t>
            </a:r>
          </a:p>
          <a:p>
            <a:pPr marL="0" indent="0">
              <a:buNone/>
            </a:pPr>
            <a:r>
              <a:rPr lang="en-US" sz="3200" dirty="0"/>
              <a:t>The </a:t>
            </a:r>
            <a:r>
              <a:rPr lang="en-US" sz="3200" b="1" dirty="0"/>
              <a:t>fundamental (Basic) operations </a:t>
            </a:r>
            <a:r>
              <a:rPr lang="en-US" sz="3200" dirty="0"/>
              <a:t>that can be performed on queue are as follows;</a:t>
            </a:r>
          </a:p>
          <a:p>
            <a:pPr marL="0" indent="0">
              <a:buNone/>
            </a:pPr>
            <a:r>
              <a:rPr lang="en-US" sz="3200" b="1" dirty="0"/>
              <a:t>Enqueue:</a:t>
            </a:r>
            <a:r>
              <a:rPr lang="en-US" sz="3200" dirty="0"/>
              <a:t> </a:t>
            </a:r>
          </a:p>
          <a:p>
            <a:r>
              <a:rPr lang="en-US" sz="3200" dirty="0"/>
              <a:t>The Enqueue operation is used to </a:t>
            </a:r>
            <a:r>
              <a:rPr lang="en-US" sz="3200" b="1" dirty="0"/>
              <a:t>insert the element </a:t>
            </a:r>
            <a:r>
              <a:rPr lang="en-US" sz="3200" dirty="0"/>
              <a:t>at the rear end of the queue. </a:t>
            </a:r>
          </a:p>
          <a:p>
            <a:r>
              <a:rPr lang="en-US" sz="3200" dirty="0"/>
              <a:t>It returns void.</a:t>
            </a:r>
          </a:p>
          <a:p>
            <a:pPr marL="0" indent="0">
              <a:buNone/>
            </a:pPr>
            <a:r>
              <a:rPr lang="en-US" sz="3200" b="1" dirty="0"/>
              <a:t>Dequeue:</a:t>
            </a:r>
          </a:p>
          <a:p>
            <a:r>
              <a:rPr lang="en-US" sz="3200" dirty="0"/>
              <a:t>It performs the </a:t>
            </a:r>
            <a:r>
              <a:rPr lang="en-US" sz="3200" b="1" dirty="0"/>
              <a:t>deletion from the front-end </a:t>
            </a:r>
            <a:r>
              <a:rPr lang="en-US" sz="3200" dirty="0"/>
              <a:t>of the queue. </a:t>
            </a:r>
          </a:p>
          <a:p>
            <a:r>
              <a:rPr lang="en-US" sz="3200" dirty="0"/>
              <a:t>It also returns the element which has been removed from the front-end. </a:t>
            </a:r>
          </a:p>
          <a:p>
            <a:r>
              <a:rPr lang="en-US" sz="3200" dirty="0"/>
              <a:t>It returns an integer value.</a:t>
            </a:r>
          </a:p>
          <a:p>
            <a:endParaRPr lang="en-US" dirty="0"/>
          </a:p>
          <a:p>
            <a:endParaRPr lang="en-US" dirty="0"/>
          </a:p>
        </p:txBody>
      </p:sp>
    </p:spTree>
    <p:extLst>
      <p:ext uri="{BB962C8B-B14F-4D97-AF65-F5344CB8AC3E}">
        <p14:creationId xmlns:p14="http://schemas.microsoft.com/office/powerpoint/2010/main" val="2087090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E77C75-A610-4FCF-B5DA-1DEADFF9B5EE}"/>
              </a:ext>
            </a:extLst>
          </p:cNvPr>
          <p:cNvSpPr>
            <a:spLocks noGrp="1"/>
          </p:cNvSpPr>
          <p:nvPr>
            <p:ph idx="1"/>
          </p:nvPr>
        </p:nvSpPr>
        <p:spPr>
          <a:xfrm>
            <a:off x="838200" y="146756"/>
            <a:ext cx="10515600" cy="6711244"/>
          </a:xfrm>
        </p:spPr>
        <p:txBody>
          <a:bodyPr/>
          <a:lstStyle/>
          <a:p>
            <a:pPr marL="0" indent="0">
              <a:buNone/>
            </a:pPr>
            <a:r>
              <a:rPr lang="en-US" b="1" dirty="0"/>
              <a:t>Enqueue Operation:</a:t>
            </a:r>
          </a:p>
          <a:p>
            <a:pPr marL="0" indent="0">
              <a:buNone/>
            </a:pPr>
            <a:r>
              <a:rPr lang="en-US" dirty="0"/>
              <a:t>Queues maintain two data pointers, </a:t>
            </a:r>
            <a:r>
              <a:rPr lang="en-US" b="1" dirty="0"/>
              <a:t>front</a:t>
            </a:r>
            <a:r>
              <a:rPr lang="en-US" dirty="0"/>
              <a:t> and </a:t>
            </a:r>
            <a:r>
              <a:rPr lang="en-US" b="1" dirty="0"/>
              <a:t>rear</a:t>
            </a:r>
            <a:r>
              <a:rPr lang="en-US" dirty="0"/>
              <a:t>. </a:t>
            </a:r>
          </a:p>
          <a:p>
            <a:pPr marL="0" indent="0">
              <a:buNone/>
            </a:pPr>
            <a:r>
              <a:rPr lang="en-US" dirty="0"/>
              <a:t>Therefore, its operations are comparatively difficult to implement than that of stacks.</a:t>
            </a:r>
          </a:p>
          <a:p>
            <a:pPr marL="0" indent="0">
              <a:buNone/>
            </a:pPr>
            <a:r>
              <a:rPr lang="en-US" dirty="0"/>
              <a:t>The following steps should be taken to </a:t>
            </a:r>
            <a:r>
              <a:rPr lang="en-US" b="1" dirty="0"/>
              <a:t>enqueue (insert) data into </a:t>
            </a:r>
            <a:r>
              <a:rPr lang="en-US" dirty="0"/>
              <a:t>a queue;</a:t>
            </a:r>
          </a:p>
          <a:p>
            <a:r>
              <a:rPr lang="en-US" b="1" dirty="0"/>
              <a:t>Step 1</a:t>
            </a:r>
            <a:r>
              <a:rPr lang="en-US" dirty="0"/>
              <a:t> − Check if the queue is full.</a:t>
            </a:r>
          </a:p>
          <a:p>
            <a:r>
              <a:rPr lang="en-US" b="1" dirty="0"/>
              <a:t>Step 2</a:t>
            </a:r>
            <a:r>
              <a:rPr lang="en-US" dirty="0"/>
              <a:t> − If the queue is full, produce overflow error and exit.</a:t>
            </a:r>
          </a:p>
          <a:p>
            <a:r>
              <a:rPr lang="en-US" b="1" dirty="0"/>
              <a:t>Step 3</a:t>
            </a:r>
            <a:r>
              <a:rPr lang="en-US" dirty="0"/>
              <a:t> − If the queue is not full, increment </a:t>
            </a:r>
            <a:r>
              <a:rPr lang="en-US" b="1" dirty="0"/>
              <a:t>rear</a:t>
            </a:r>
            <a:r>
              <a:rPr lang="en-US" dirty="0"/>
              <a:t> pointer to point the next empty space.</a:t>
            </a:r>
          </a:p>
          <a:p>
            <a:r>
              <a:rPr lang="en-US" b="1" dirty="0"/>
              <a:t>Step 4</a:t>
            </a:r>
            <a:r>
              <a:rPr lang="en-US" dirty="0"/>
              <a:t> − Add data element to the queue location, where the rear is pointing.</a:t>
            </a:r>
          </a:p>
          <a:p>
            <a:r>
              <a:rPr lang="en-US" b="1" dirty="0"/>
              <a:t>Step 5</a:t>
            </a:r>
            <a:r>
              <a:rPr lang="en-US" dirty="0"/>
              <a:t> − return success.</a:t>
            </a:r>
          </a:p>
          <a:p>
            <a:pPr marL="0" indent="0">
              <a:buNone/>
            </a:pPr>
            <a:endParaRPr lang="en-US" dirty="0"/>
          </a:p>
        </p:txBody>
      </p:sp>
    </p:spTree>
    <p:extLst>
      <p:ext uri="{BB962C8B-B14F-4D97-AF65-F5344CB8AC3E}">
        <p14:creationId xmlns:p14="http://schemas.microsoft.com/office/powerpoint/2010/main" val="2010806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347CD0-6500-4D55-9216-7F48350BF9B2}"/>
              </a:ext>
            </a:extLst>
          </p:cNvPr>
          <p:cNvSpPr>
            <a:spLocks noGrp="1"/>
          </p:cNvSpPr>
          <p:nvPr>
            <p:ph idx="1"/>
          </p:nvPr>
        </p:nvSpPr>
        <p:spPr>
          <a:xfrm>
            <a:off x="838200" y="0"/>
            <a:ext cx="10515600" cy="6750756"/>
          </a:xfrm>
        </p:spPr>
        <p:txBody>
          <a:bodyPr/>
          <a:lstStyle/>
          <a:p>
            <a:pPr marL="0" indent="0">
              <a:buNone/>
            </a:pPr>
            <a:r>
              <a:rPr lang="en-US" sz="3200" b="1" dirty="0"/>
              <a:t>Dequeue Operation:</a:t>
            </a:r>
          </a:p>
          <a:p>
            <a:pPr marL="0" indent="0">
              <a:buNone/>
            </a:pPr>
            <a:r>
              <a:rPr lang="en-US" sz="3200" dirty="0"/>
              <a:t>Accessing data from the queue is a process of two tasks, access the data where </a:t>
            </a:r>
            <a:r>
              <a:rPr lang="en-US" sz="3200" b="1" dirty="0"/>
              <a:t>front</a:t>
            </a:r>
            <a:r>
              <a:rPr lang="en-US" sz="3200" dirty="0"/>
              <a:t> is pointing and remove the data after access. </a:t>
            </a:r>
          </a:p>
          <a:p>
            <a:pPr marL="0" indent="0">
              <a:buNone/>
            </a:pPr>
            <a:r>
              <a:rPr lang="en-US" sz="3200" dirty="0"/>
              <a:t>The following steps are taken to perform </a:t>
            </a:r>
            <a:r>
              <a:rPr lang="en-US" sz="3200" b="1" dirty="0"/>
              <a:t>dequeue</a:t>
            </a:r>
            <a:r>
              <a:rPr lang="en-US" sz="3200" dirty="0"/>
              <a:t> operation;</a:t>
            </a:r>
          </a:p>
          <a:p>
            <a:r>
              <a:rPr lang="en-US" sz="3200" b="1" dirty="0"/>
              <a:t>Step 1</a:t>
            </a:r>
            <a:r>
              <a:rPr lang="en-US" sz="3200" dirty="0"/>
              <a:t> − Check if the queue is empty.</a:t>
            </a:r>
          </a:p>
          <a:p>
            <a:r>
              <a:rPr lang="en-US" sz="3200" b="1" dirty="0"/>
              <a:t>Step 2</a:t>
            </a:r>
            <a:r>
              <a:rPr lang="en-US" sz="3200" dirty="0"/>
              <a:t> − If the queue is empty, produce underflow error and exit.</a:t>
            </a:r>
          </a:p>
          <a:p>
            <a:r>
              <a:rPr lang="en-US" sz="3200" b="1" dirty="0"/>
              <a:t>Step 3</a:t>
            </a:r>
            <a:r>
              <a:rPr lang="en-US" sz="3200" dirty="0"/>
              <a:t> − If the queue is not empty, access the data where </a:t>
            </a:r>
            <a:r>
              <a:rPr lang="en-US" sz="3200" b="1" dirty="0"/>
              <a:t>front</a:t>
            </a:r>
            <a:r>
              <a:rPr lang="en-US" sz="3200" dirty="0"/>
              <a:t> is pointing.</a:t>
            </a:r>
          </a:p>
          <a:p>
            <a:r>
              <a:rPr lang="en-US" sz="3200" b="1" dirty="0"/>
              <a:t>Step 4</a:t>
            </a:r>
            <a:r>
              <a:rPr lang="en-US" sz="3200" dirty="0"/>
              <a:t> − Increment </a:t>
            </a:r>
            <a:r>
              <a:rPr lang="en-US" sz="3200" b="1" dirty="0"/>
              <a:t>front</a:t>
            </a:r>
            <a:r>
              <a:rPr lang="en-US" sz="3200" dirty="0"/>
              <a:t> pointer to point to the next available data element.</a:t>
            </a:r>
          </a:p>
          <a:p>
            <a:r>
              <a:rPr lang="en-US" sz="3200" b="1" dirty="0"/>
              <a:t>Step 5</a:t>
            </a:r>
            <a:r>
              <a:rPr lang="en-US" sz="3200" dirty="0"/>
              <a:t> − Return success.</a:t>
            </a:r>
          </a:p>
          <a:p>
            <a:endParaRPr lang="en-US" dirty="0"/>
          </a:p>
        </p:txBody>
      </p:sp>
    </p:spTree>
    <p:extLst>
      <p:ext uri="{BB962C8B-B14F-4D97-AF65-F5344CB8AC3E}">
        <p14:creationId xmlns:p14="http://schemas.microsoft.com/office/powerpoint/2010/main" val="815046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404E45-E0F1-4BE3-8716-A3425B3EB0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316089"/>
            <a:ext cx="10735733" cy="6118578"/>
          </a:xfrm>
        </p:spPr>
      </p:pic>
    </p:spTree>
    <p:extLst>
      <p:ext uri="{BB962C8B-B14F-4D97-AF65-F5344CB8AC3E}">
        <p14:creationId xmlns:p14="http://schemas.microsoft.com/office/powerpoint/2010/main" val="2521207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0AD1E8-169E-4292-A578-0D72BD0C911C}"/>
              </a:ext>
            </a:extLst>
          </p:cNvPr>
          <p:cNvSpPr>
            <a:spLocks noGrp="1"/>
          </p:cNvSpPr>
          <p:nvPr>
            <p:ph idx="1"/>
          </p:nvPr>
        </p:nvSpPr>
        <p:spPr>
          <a:xfrm>
            <a:off x="838200" y="146756"/>
            <a:ext cx="10515600" cy="6581422"/>
          </a:xfrm>
        </p:spPr>
        <p:txBody>
          <a:bodyPr/>
          <a:lstStyle/>
          <a:p>
            <a:pPr marL="0" indent="0">
              <a:buNone/>
            </a:pPr>
            <a:r>
              <a:rPr lang="en-US" sz="3600" b="1" dirty="0"/>
              <a:t>Ways to implement the queue:</a:t>
            </a:r>
          </a:p>
          <a:p>
            <a:pPr marL="0" indent="0">
              <a:buNone/>
            </a:pPr>
            <a:r>
              <a:rPr lang="en-US" sz="3600" dirty="0"/>
              <a:t>There are </a:t>
            </a:r>
            <a:r>
              <a:rPr lang="en-US" sz="3600" b="1" dirty="0"/>
              <a:t>two ways </a:t>
            </a:r>
            <a:r>
              <a:rPr lang="en-US" sz="3600" dirty="0"/>
              <a:t>of implementing the Queue:</a:t>
            </a:r>
          </a:p>
          <a:p>
            <a:pPr marL="0" indent="0">
              <a:buNone/>
            </a:pPr>
            <a:r>
              <a:rPr lang="en-US" sz="3600" b="1" dirty="0"/>
              <a:t>Implementation using array:</a:t>
            </a:r>
            <a:r>
              <a:rPr lang="en-US" sz="3600" dirty="0"/>
              <a:t> </a:t>
            </a:r>
          </a:p>
          <a:p>
            <a:pPr marL="0" indent="0">
              <a:buNone/>
            </a:pPr>
            <a:r>
              <a:rPr lang="en-US" sz="3600" dirty="0"/>
              <a:t>The sequential allocation in a Queue can be implemented using an array. </a:t>
            </a:r>
          </a:p>
          <a:p>
            <a:pPr marL="0" indent="0">
              <a:buNone/>
            </a:pPr>
            <a:r>
              <a:rPr lang="en-US" sz="3600" b="1" dirty="0"/>
              <a:t>Implementation using Linked list:</a:t>
            </a:r>
            <a:r>
              <a:rPr lang="en-US" sz="3600" dirty="0"/>
              <a:t> </a:t>
            </a:r>
          </a:p>
          <a:p>
            <a:pPr marL="0" indent="0">
              <a:buNone/>
            </a:pPr>
            <a:r>
              <a:rPr lang="en-US" sz="3600" dirty="0"/>
              <a:t>The linked list allocation in a Queue can be implemented using a linked list. </a:t>
            </a:r>
            <a:endParaRPr lang="en-US" sz="3600" b="1" dirty="0"/>
          </a:p>
          <a:p>
            <a:pPr marL="0" indent="0">
              <a:buNone/>
            </a:pPr>
            <a:endParaRPr lang="en-US" dirty="0"/>
          </a:p>
        </p:txBody>
      </p:sp>
    </p:spTree>
    <p:extLst>
      <p:ext uri="{BB962C8B-B14F-4D97-AF65-F5344CB8AC3E}">
        <p14:creationId xmlns:p14="http://schemas.microsoft.com/office/powerpoint/2010/main" val="4064343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DB793D-0E86-45E5-B788-0EC804DB7B7B}"/>
              </a:ext>
            </a:extLst>
          </p:cNvPr>
          <p:cNvSpPr>
            <a:spLocks noGrp="1"/>
          </p:cNvSpPr>
          <p:nvPr>
            <p:ph idx="1"/>
          </p:nvPr>
        </p:nvSpPr>
        <p:spPr>
          <a:xfrm>
            <a:off x="838200" y="225778"/>
            <a:ext cx="10515600" cy="6412089"/>
          </a:xfrm>
        </p:spPr>
        <p:txBody>
          <a:bodyPr>
            <a:normAutofit/>
          </a:bodyPr>
          <a:lstStyle/>
          <a:p>
            <a:pPr marL="0" indent="0">
              <a:buNone/>
            </a:pPr>
            <a:r>
              <a:rPr lang="en-US" sz="3600" b="1" dirty="0"/>
              <a:t>Array representation of Queue:</a:t>
            </a:r>
          </a:p>
          <a:p>
            <a:pPr marL="0" indent="0">
              <a:buNone/>
            </a:pPr>
            <a:r>
              <a:rPr lang="en-US" sz="3600" dirty="0"/>
              <a:t>We can easily represent queue by using linear arrays. </a:t>
            </a:r>
          </a:p>
          <a:p>
            <a:pPr marL="0" indent="0">
              <a:buNone/>
            </a:pPr>
            <a:r>
              <a:rPr lang="en-US" sz="3600" dirty="0"/>
              <a:t>There are </a:t>
            </a:r>
            <a:r>
              <a:rPr lang="en-US" sz="3600" b="1" dirty="0"/>
              <a:t>two variables </a:t>
            </a:r>
            <a:r>
              <a:rPr lang="en-US" sz="3600" dirty="0"/>
              <a:t>i.e. front and rear, that are implemented in the case of every queue. </a:t>
            </a:r>
          </a:p>
          <a:p>
            <a:pPr marL="0" indent="0">
              <a:buNone/>
            </a:pPr>
            <a:r>
              <a:rPr lang="en-US" sz="3600" dirty="0"/>
              <a:t>Front and rear variables point to the position from where insertions and deletions are performed in a queue. </a:t>
            </a:r>
          </a:p>
          <a:p>
            <a:pPr marL="0" indent="0">
              <a:buNone/>
            </a:pPr>
            <a:r>
              <a:rPr lang="en-US" sz="3600" dirty="0"/>
              <a:t>Initially, the value of front and </a:t>
            </a:r>
            <a:r>
              <a:rPr lang="en-US" sz="3600" b="1" dirty="0"/>
              <a:t>queue is -1 </a:t>
            </a:r>
            <a:r>
              <a:rPr lang="en-US" sz="3600" dirty="0"/>
              <a:t>which represents an empty queue. </a:t>
            </a:r>
          </a:p>
          <a:p>
            <a:pPr marL="0" indent="0">
              <a:buNone/>
            </a:pPr>
            <a:endParaRPr lang="en-US" dirty="0"/>
          </a:p>
        </p:txBody>
      </p:sp>
    </p:spTree>
    <p:extLst>
      <p:ext uri="{BB962C8B-B14F-4D97-AF65-F5344CB8AC3E}">
        <p14:creationId xmlns:p14="http://schemas.microsoft.com/office/powerpoint/2010/main" val="1727224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CD1C27-B6B2-481E-A3EC-22E3F693F82F}"/>
              </a:ext>
            </a:extLst>
          </p:cNvPr>
          <p:cNvSpPr>
            <a:spLocks noGrp="1"/>
          </p:cNvSpPr>
          <p:nvPr>
            <p:ph idx="1"/>
          </p:nvPr>
        </p:nvSpPr>
        <p:spPr>
          <a:xfrm>
            <a:off x="838200" y="135467"/>
            <a:ext cx="10515600" cy="6604000"/>
          </a:xfrm>
        </p:spPr>
        <p:txBody>
          <a:bodyPr/>
          <a:lstStyle/>
          <a:p>
            <a:pPr marL="0" indent="0">
              <a:buNone/>
            </a:pPr>
            <a:r>
              <a:rPr lang="en-US" dirty="0"/>
              <a:t>Array representation of a queue containing 5 elements along with the respective values of front and rear, is shown in the following figure. </a:t>
            </a:r>
            <a:endParaRPr lang="en-US" b="1" dirty="0"/>
          </a:p>
          <a:p>
            <a:pPr marL="0" indent="0">
              <a:buNone/>
            </a:pPr>
            <a:endParaRPr lang="en-US" dirty="0"/>
          </a:p>
          <a:p>
            <a:pPr marL="0" indent="0">
              <a:buNone/>
            </a:pPr>
            <a:endParaRPr lang="en-US" dirty="0"/>
          </a:p>
          <a:p>
            <a:pPr marL="0" indent="0">
              <a:buNone/>
            </a:pPr>
            <a:endParaRPr lang="en-US" dirty="0"/>
          </a:p>
        </p:txBody>
      </p:sp>
      <p:pic>
        <p:nvPicPr>
          <p:cNvPr id="4" name="Content Placeholder 4">
            <a:extLst>
              <a:ext uri="{FF2B5EF4-FFF2-40B4-BE49-F238E27FC236}">
                <a16:creationId xmlns:a16="http://schemas.microsoft.com/office/drawing/2014/main" id="{443D732E-F814-468D-8D96-B627B899A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489" y="1727199"/>
            <a:ext cx="9922933" cy="4097867"/>
          </a:xfrm>
          <a:prstGeom prst="rect">
            <a:avLst/>
          </a:prstGeom>
        </p:spPr>
      </p:pic>
    </p:spTree>
    <p:extLst>
      <p:ext uri="{BB962C8B-B14F-4D97-AF65-F5344CB8AC3E}">
        <p14:creationId xmlns:p14="http://schemas.microsoft.com/office/powerpoint/2010/main" val="757099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22096-28ED-46D9-9AD1-8D553644B371}"/>
              </a:ext>
            </a:extLst>
          </p:cNvPr>
          <p:cNvSpPr>
            <a:spLocks noGrp="1"/>
          </p:cNvSpPr>
          <p:nvPr>
            <p:ph idx="1"/>
          </p:nvPr>
        </p:nvSpPr>
        <p:spPr>
          <a:xfrm>
            <a:off x="838200" y="158044"/>
            <a:ext cx="10515600" cy="6699956"/>
          </a:xfrm>
        </p:spPr>
        <p:txBody>
          <a:bodyPr>
            <a:normAutofit/>
          </a:bodyPr>
          <a:lstStyle/>
          <a:p>
            <a:pPr marL="0" indent="0">
              <a:buNone/>
            </a:pPr>
            <a:r>
              <a:rPr lang="en-US" sz="3600" dirty="0"/>
              <a:t>The above figure shows the queue of characters forming the English word </a:t>
            </a:r>
            <a:r>
              <a:rPr lang="en-US" sz="3600" b="1" dirty="0"/>
              <a:t>"HELLO"</a:t>
            </a:r>
            <a:r>
              <a:rPr lang="en-US" sz="3600" dirty="0"/>
              <a:t>. </a:t>
            </a:r>
          </a:p>
          <a:p>
            <a:pPr marL="0" indent="0">
              <a:buNone/>
            </a:pPr>
            <a:r>
              <a:rPr lang="en-US" sz="3600" dirty="0"/>
              <a:t>Since, No deletion is performed in the queue till now, therefore the value of front remains 0. </a:t>
            </a:r>
          </a:p>
          <a:p>
            <a:pPr marL="0" indent="0">
              <a:buNone/>
            </a:pPr>
            <a:r>
              <a:rPr lang="en-US" sz="3600" dirty="0"/>
              <a:t>However, the value of rear increases by one every time an insertion is performed in the queue. </a:t>
            </a:r>
          </a:p>
          <a:p>
            <a:pPr marL="0" indent="0">
              <a:buNone/>
            </a:pPr>
            <a:r>
              <a:rPr lang="en-US" sz="3600" dirty="0"/>
              <a:t>After inserting an element into the queue shown in the above figure, the queue will look something like following. </a:t>
            </a:r>
          </a:p>
          <a:p>
            <a:pPr marL="0" indent="0">
              <a:buNone/>
            </a:pPr>
            <a:r>
              <a:rPr lang="en-US" sz="3600" dirty="0"/>
              <a:t>The value of rear will become 5 while the value of front remains same. </a:t>
            </a:r>
          </a:p>
        </p:txBody>
      </p:sp>
    </p:spTree>
    <p:extLst>
      <p:ext uri="{BB962C8B-B14F-4D97-AF65-F5344CB8AC3E}">
        <p14:creationId xmlns:p14="http://schemas.microsoft.com/office/powerpoint/2010/main" val="2231693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CAFDFA1-4DE8-4176-9E66-27A77F0B7F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2489" y="587022"/>
            <a:ext cx="10114843" cy="5396089"/>
          </a:xfrm>
        </p:spPr>
      </p:pic>
    </p:spTree>
    <p:extLst>
      <p:ext uri="{BB962C8B-B14F-4D97-AF65-F5344CB8AC3E}">
        <p14:creationId xmlns:p14="http://schemas.microsoft.com/office/powerpoint/2010/main" val="2313043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D0A16B-3739-4C2B-AF2B-31AECD10C912}"/>
              </a:ext>
            </a:extLst>
          </p:cNvPr>
          <p:cNvSpPr>
            <a:spLocks noGrp="1"/>
          </p:cNvSpPr>
          <p:nvPr>
            <p:ph idx="1"/>
          </p:nvPr>
        </p:nvSpPr>
        <p:spPr>
          <a:xfrm>
            <a:off x="838200" y="124178"/>
            <a:ext cx="10515600" cy="6524978"/>
          </a:xfrm>
        </p:spPr>
        <p:txBody>
          <a:bodyPr/>
          <a:lstStyle/>
          <a:p>
            <a:pPr marL="0" indent="0">
              <a:buNone/>
            </a:pPr>
            <a:r>
              <a:rPr lang="en-US" sz="3600" b="1" dirty="0"/>
              <a:t>Drawback of array implementation:</a:t>
            </a:r>
          </a:p>
          <a:p>
            <a:r>
              <a:rPr lang="en-US" sz="3600" dirty="0"/>
              <a:t>Although, the technique of creating a queue is easy, but there are some drawbacks of using this technique to implement a queue.</a:t>
            </a:r>
          </a:p>
          <a:p>
            <a:pPr marL="0" indent="0">
              <a:buNone/>
            </a:pPr>
            <a:r>
              <a:rPr lang="en-US" sz="3600" b="1" dirty="0"/>
              <a:t>Memory wastage :</a:t>
            </a:r>
            <a:r>
              <a:rPr lang="en-US" sz="3600" dirty="0"/>
              <a:t> </a:t>
            </a:r>
          </a:p>
          <a:p>
            <a:r>
              <a:rPr lang="en-US" sz="3600" dirty="0"/>
              <a:t>The space of the array, which is used to store queue elements, can never be reused to store the elements of that queue because the elements can only be inserted at front end and the value of front might be so high so that, all the space before that, can never be filled.</a:t>
            </a:r>
          </a:p>
          <a:p>
            <a:endParaRPr lang="en-US" dirty="0"/>
          </a:p>
        </p:txBody>
      </p:sp>
    </p:spTree>
    <p:extLst>
      <p:ext uri="{BB962C8B-B14F-4D97-AF65-F5344CB8AC3E}">
        <p14:creationId xmlns:p14="http://schemas.microsoft.com/office/powerpoint/2010/main" val="2868426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A2171F-9F43-4CE9-A484-B216B55160C0}"/>
              </a:ext>
            </a:extLst>
          </p:cNvPr>
          <p:cNvSpPr>
            <a:spLocks noGrp="1"/>
          </p:cNvSpPr>
          <p:nvPr>
            <p:ph idx="1"/>
          </p:nvPr>
        </p:nvSpPr>
        <p:spPr>
          <a:xfrm>
            <a:off x="838199" y="214488"/>
            <a:ext cx="11161889" cy="6547555"/>
          </a:xfrm>
        </p:spPr>
        <p:txBody>
          <a:bodyPr/>
          <a:lstStyle/>
          <a:p>
            <a:r>
              <a:rPr lang="en-US" dirty="0"/>
              <a:t>The above figure shows how the memory space is wasted in the array representation of queue. </a:t>
            </a:r>
          </a:p>
          <a:p>
            <a:r>
              <a:rPr lang="en-US" dirty="0"/>
              <a:t>In the above figure, a queue of size 10 having 3 elements, is shown. </a:t>
            </a:r>
          </a:p>
          <a:p>
            <a:r>
              <a:rPr lang="en-US" dirty="0"/>
              <a:t>The value of the front variable is 5, therefore, we can not reinsert the values in the place of already deleted element before the position of front. </a:t>
            </a:r>
          </a:p>
          <a:p>
            <a:r>
              <a:rPr lang="en-US" dirty="0"/>
              <a:t>That much space of the array is wasted and can not be used in the future (for this queue). </a:t>
            </a:r>
          </a:p>
          <a:p>
            <a:endParaRPr lang="en-US" dirty="0"/>
          </a:p>
          <a:p>
            <a:endParaRPr lang="en-US" dirty="0"/>
          </a:p>
          <a:p>
            <a:endParaRPr lang="en-US" dirty="0"/>
          </a:p>
          <a:p>
            <a:endParaRPr lang="en-US" dirty="0"/>
          </a:p>
        </p:txBody>
      </p:sp>
      <p:pic>
        <p:nvPicPr>
          <p:cNvPr id="6" name="Content Placeholder 3">
            <a:extLst>
              <a:ext uri="{FF2B5EF4-FFF2-40B4-BE49-F238E27FC236}">
                <a16:creationId xmlns:a16="http://schemas.microsoft.com/office/drawing/2014/main" id="{747239F0-7FCA-4DBA-941F-6E39AF725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889" y="3725333"/>
            <a:ext cx="10035822" cy="2709334"/>
          </a:xfrm>
          <a:prstGeom prst="rect">
            <a:avLst/>
          </a:prstGeom>
        </p:spPr>
      </p:pic>
    </p:spTree>
    <p:extLst>
      <p:ext uri="{BB962C8B-B14F-4D97-AF65-F5344CB8AC3E}">
        <p14:creationId xmlns:p14="http://schemas.microsoft.com/office/powerpoint/2010/main" val="2967878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0CF4BC8-04DC-4BBE-8DC5-CAA6B4F8BB41}"/>
              </a:ext>
            </a:extLst>
          </p:cNvPr>
          <p:cNvSpPr>
            <a:spLocks noGrp="1"/>
          </p:cNvSpPr>
          <p:nvPr>
            <p:ph idx="1"/>
          </p:nvPr>
        </p:nvSpPr>
        <p:spPr>
          <a:xfrm>
            <a:off x="838200" y="101600"/>
            <a:ext cx="10515600" cy="6637867"/>
          </a:xfrm>
        </p:spPr>
        <p:txBody>
          <a:bodyPr/>
          <a:lstStyle/>
          <a:p>
            <a:pPr marL="0" indent="0">
              <a:buNone/>
            </a:pPr>
            <a:r>
              <a:rPr lang="en-US" sz="3200" b="1" dirty="0"/>
              <a:t>Deciding the array size:</a:t>
            </a:r>
            <a:endParaRPr lang="en-US" sz="3200" dirty="0"/>
          </a:p>
          <a:p>
            <a:r>
              <a:rPr lang="en-US" sz="3200" dirty="0"/>
              <a:t>On of the most common problem with array implementation is the </a:t>
            </a:r>
            <a:r>
              <a:rPr lang="en-US" sz="3200" b="1" dirty="0"/>
              <a:t>size of the array </a:t>
            </a:r>
            <a:r>
              <a:rPr lang="en-US" sz="3200" dirty="0"/>
              <a:t>which </a:t>
            </a:r>
            <a:r>
              <a:rPr lang="en-US" sz="3200" b="1" dirty="0"/>
              <a:t>requires to be declared in advance. </a:t>
            </a:r>
          </a:p>
          <a:p>
            <a:r>
              <a:rPr lang="en-US" sz="3200" dirty="0"/>
              <a:t>Due to the fact that, the </a:t>
            </a:r>
            <a:r>
              <a:rPr lang="en-US" sz="3200" b="1" dirty="0"/>
              <a:t>queue can be extended at runtime </a:t>
            </a:r>
            <a:r>
              <a:rPr lang="en-US" sz="3200" dirty="0"/>
              <a:t>depending upon the problem, the </a:t>
            </a:r>
            <a:r>
              <a:rPr lang="en-US" sz="3200" b="1" dirty="0"/>
              <a:t>extension in the array size </a:t>
            </a:r>
            <a:r>
              <a:rPr lang="en-US" sz="3200" dirty="0"/>
              <a:t>is a </a:t>
            </a:r>
            <a:r>
              <a:rPr lang="en-US" sz="3200" b="1" dirty="0"/>
              <a:t>time taking process </a:t>
            </a:r>
            <a:r>
              <a:rPr lang="en-US" sz="3200" dirty="0"/>
              <a:t>and </a:t>
            </a:r>
            <a:r>
              <a:rPr lang="en-US" sz="3200" b="1" dirty="0"/>
              <a:t>almost impossible to be performed at runtime </a:t>
            </a:r>
            <a:r>
              <a:rPr lang="en-US" sz="3200" dirty="0"/>
              <a:t>since a </a:t>
            </a:r>
            <a:r>
              <a:rPr lang="en-US" sz="3200" b="1" dirty="0"/>
              <a:t>lot of reallocations take place. </a:t>
            </a:r>
          </a:p>
          <a:p>
            <a:r>
              <a:rPr lang="en-US" sz="3200" dirty="0"/>
              <a:t>Due to this reason, we can declare the array large enough so that we can store queue elements as enough as possible but the main problem with this declaration is that, most of the array slots (nearly half) can never be reused.</a:t>
            </a:r>
          </a:p>
          <a:p>
            <a:r>
              <a:rPr lang="en-US" sz="3200" dirty="0"/>
              <a:t> It will again lead to memory wastage. </a:t>
            </a:r>
          </a:p>
          <a:p>
            <a:endParaRPr lang="en-US" dirty="0"/>
          </a:p>
        </p:txBody>
      </p:sp>
    </p:spTree>
    <p:extLst>
      <p:ext uri="{BB962C8B-B14F-4D97-AF65-F5344CB8AC3E}">
        <p14:creationId xmlns:p14="http://schemas.microsoft.com/office/powerpoint/2010/main" val="1010422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A91CD-D3A3-4C98-97C7-A9EBDFC2379B}"/>
              </a:ext>
            </a:extLst>
          </p:cNvPr>
          <p:cNvSpPr>
            <a:spLocks noGrp="1"/>
          </p:cNvSpPr>
          <p:nvPr>
            <p:ph idx="1"/>
          </p:nvPr>
        </p:nvSpPr>
        <p:spPr>
          <a:xfrm>
            <a:off x="838200" y="79022"/>
            <a:ext cx="10515600" cy="6547556"/>
          </a:xfrm>
        </p:spPr>
        <p:txBody>
          <a:bodyPr>
            <a:normAutofit lnSpcReduction="10000"/>
          </a:bodyPr>
          <a:lstStyle/>
          <a:p>
            <a:pPr marL="0" indent="0">
              <a:buNone/>
            </a:pPr>
            <a:r>
              <a:rPr lang="en-US" sz="3600" b="1" dirty="0"/>
              <a:t>Linked List implementation of Queue:</a:t>
            </a:r>
          </a:p>
          <a:p>
            <a:r>
              <a:rPr lang="en-US" sz="3600" dirty="0"/>
              <a:t>Due to the drawbacks discussed in the array implementation, it can not be used for the large scale applications where the queues are implemented. </a:t>
            </a:r>
          </a:p>
          <a:p>
            <a:r>
              <a:rPr lang="en-US" sz="3600" dirty="0"/>
              <a:t>One of the alternative of array implementation is linked list implementation of queue. </a:t>
            </a:r>
          </a:p>
          <a:p>
            <a:r>
              <a:rPr lang="en-US" sz="3600" dirty="0"/>
              <a:t>The storage requirement of linked representation of a queue with n elements is o(n) while the time requirement for operations is o(1). </a:t>
            </a:r>
          </a:p>
          <a:p>
            <a:r>
              <a:rPr lang="en-US" sz="3600" dirty="0"/>
              <a:t>In a linked queue, each node of the queue consists of two parts i.e. data part and the link part. Each element of the queue points to its immediate next element in the memory</a:t>
            </a:r>
            <a:r>
              <a:rPr lang="en-US" dirty="0"/>
              <a:t>.</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129679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949F2-43E4-4706-9CEB-AF08299D2206}"/>
              </a:ext>
            </a:extLst>
          </p:cNvPr>
          <p:cNvSpPr>
            <a:spLocks noGrp="1"/>
          </p:cNvSpPr>
          <p:nvPr>
            <p:ph idx="1"/>
          </p:nvPr>
        </p:nvSpPr>
        <p:spPr>
          <a:xfrm>
            <a:off x="838200" y="248356"/>
            <a:ext cx="10515600" cy="6389511"/>
          </a:xfrm>
        </p:spPr>
        <p:txBody>
          <a:bodyPr/>
          <a:lstStyle/>
          <a:p>
            <a:r>
              <a:rPr lang="en-US" dirty="0"/>
              <a:t>In the linked queue, there are two pointers maintained in the memory i.e. front pointer and rear pointer.</a:t>
            </a:r>
          </a:p>
          <a:p>
            <a:r>
              <a:rPr lang="en-US" dirty="0"/>
              <a:t> The front pointer contains the address of the starting element of the queue while the rear pointer contains the address of the last element of the queue. </a:t>
            </a:r>
          </a:p>
          <a:p>
            <a:r>
              <a:rPr lang="en-US" dirty="0"/>
              <a:t>Insertion and deletions are performed at rear and front end respectively. </a:t>
            </a:r>
          </a:p>
          <a:p>
            <a:r>
              <a:rPr lang="en-US" dirty="0"/>
              <a:t>If front and rear both are NULL, it indicates that the queue is empty. </a:t>
            </a:r>
          </a:p>
          <a:p>
            <a:r>
              <a:rPr lang="en-US" dirty="0"/>
              <a:t>The linked representation of queue is shown in the following figure. </a:t>
            </a:r>
          </a:p>
          <a:p>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7AF6A83D-F857-4048-9EFD-75C4A5BFE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156" y="4334934"/>
            <a:ext cx="9922933" cy="2274710"/>
          </a:xfrm>
          <a:prstGeom prst="rect">
            <a:avLst/>
          </a:prstGeom>
        </p:spPr>
      </p:pic>
    </p:spTree>
    <p:extLst>
      <p:ext uri="{BB962C8B-B14F-4D97-AF65-F5344CB8AC3E}">
        <p14:creationId xmlns:p14="http://schemas.microsoft.com/office/powerpoint/2010/main" val="2352238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67E6A-6E30-4090-8DE2-81665628FF24}"/>
              </a:ext>
            </a:extLst>
          </p:cNvPr>
          <p:cNvSpPr>
            <a:spLocks noGrp="1"/>
          </p:cNvSpPr>
          <p:nvPr>
            <p:ph idx="1"/>
          </p:nvPr>
        </p:nvSpPr>
        <p:spPr>
          <a:xfrm>
            <a:off x="838200" y="259644"/>
            <a:ext cx="10515600" cy="6389512"/>
          </a:xfrm>
        </p:spPr>
        <p:txBody>
          <a:bodyPr/>
          <a:lstStyle/>
          <a:p>
            <a:pPr marL="0" indent="0">
              <a:buNone/>
            </a:pPr>
            <a:r>
              <a:rPr lang="en-US" sz="3200" b="1" dirty="0"/>
              <a:t>Operation on Linked Queue</a:t>
            </a:r>
          </a:p>
          <a:p>
            <a:r>
              <a:rPr lang="en-US" sz="3200" dirty="0"/>
              <a:t>There are </a:t>
            </a:r>
            <a:r>
              <a:rPr lang="en-US" sz="3200" b="1" dirty="0"/>
              <a:t>two basic operations </a:t>
            </a:r>
            <a:r>
              <a:rPr lang="en-US" sz="3200" dirty="0"/>
              <a:t>which can be implemented on the linked queues.</a:t>
            </a:r>
          </a:p>
          <a:p>
            <a:r>
              <a:rPr lang="en-US" sz="3200" dirty="0"/>
              <a:t> The operations are </a:t>
            </a:r>
            <a:r>
              <a:rPr lang="en-US" sz="3200" b="1" dirty="0"/>
              <a:t>Insertion and Deletion</a:t>
            </a:r>
            <a:r>
              <a:rPr lang="en-US" sz="3200" dirty="0"/>
              <a:t>. </a:t>
            </a:r>
          </a:p>
          <a:p>
            <a:pPr marL="0" indent="0">
              <a:buNone/>
            </a:pPr>
            <a:r>
              <a:rPr lang="en-US" sz="3200" b="1" dirty="0"/>
              <a:t>Insert operation:</a:t>
            </a:r>
          </a:p>
          <a:p>
            <a:r>
              <a:rPr lang="en-US" sz="3200" dirty="0"/>
              <a:t>The insert operation append the queue by adding an element to the end of the queue. </a:t>
            </a:r>
          </a:p>
          <a:p>
            <a:r>
              <a:rPr lang="en-US" sz="3200" dirty="0"/>
              <a:t>The new element will be the last element of the queue. </a:t>
            </a:r>
          </a:p>
          <a:p>
            <a:r>
              <a:rPr lang="en-US" sz="3200" dirty="0"/>
              <a:t>Firstly, allocate the memory for the new node ptr by using the following statement;</a:t>
            </a:r>
          </a:p>
          <a:p>
            <a:r>
              <a:rPr lang="en-US" sz="3200" dirty="0"/>
              <a:t>Ptr = (struct node *) malloc (sizeof(struct node));  </a:t>
            </a:r>
          </a:p>
          <a:p>
            <a:pPr marL="0" indent="0">
              <a:buNone/>
            </a:pPr>
            <a:endParaRPr lang="en-US" dirty="0"/>
          </a:p>
        </p:txBody>
      </p:sp>
    </p:spTree>
    <p:extLst>
      <p:ext uri="{BB962C8B-B14F-4D97-AF65-F5344CB8AC3E}">
        <p14:creationId xmlns:p14="http://schemas.microsoft.com/office/powerpoint/2010/main" val="790492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AD2F70-F126-45DB-840E-62A7882902AC}"/>
              </a:ext>
            </a:extLst>
          </p:cNvPr>
          <p:cNvSpPr>
            <a:spLocks noGrp="1"/>
          </p:cNvSpPr>
          <p:nvPr>
            <p:ph idx="1"/>
          </p:nvPr>
        </p:nvSpPr>
        <p:spPr>
          <a:xfrm>
            <a:off x="838200" y="146756"/>
            <a:ext cx="10515600" cy="6592711"/>
          </a:xfrm>
        </p:spPr>
        <p:txBody>
          <a:bodyPr>
            <a:normAutofit fontScale="92500"/>
          </a:bodyPr>
          <a:lstStyle/>
          <a:p>
            <a:r>
              <a:rPr lang="en-US" dirty="0"/>
              <a:t>There can be the </a:t>
            </a:r>
            <a:r>
              <a:rPr lang="en-US" b="1" dirty="0"/>
              <a:t>two scenario of inserting </a:t>
            </a:r>
            <a:r>
              <a:rPr lang="en-US" dirty="0"/>
              <a:t>this new node ptr into the linked queue. </a:t>
            </a:r>
          </a:p>
          <a:p>
            <a:r>
              <a:rPr lang="en-US" dirty="0"/>
              <a:t>In the first scenario, we insert element into </a:t>
            </a:r>
            <a:r>
              <a:rPr lang="en-US" b="1" dirty="0"/>
              <a:t>an empty queue. </a:t>
            </a:r>
          </a:p>
          <a:p>
            <a:r>
              <a:rPr lang="en-US" dirty="0"/>
              <a:t>In this case, the condition </a:t>
            </a:r>
            <a:r>
              <a:rPr lang="en-US" b="1" dirty="0"/>
              <a:t>front = NULL</a:t>
            </a:r>
            <a:r>
              <a:rPr lang="en-US" dirty="0"/>
              <a:t> becomes true.</a:t>
            </a:r>
          </a:p>
          <a:p>
            <a:r>
              <a:rPr lang="en-US" dirty="0"/>
              <a:t>Now, the new element will be added as the only element of the queue and the next pointer of front and rear pointer both, will point to NULL. </a:t>
            </a:r>
          </a:p>
          <a:p>
            <a:pPr marL="0" indent="0">
              <a:buNone/>
            </a:pPr>
            <a:r>
              <a:rPr lang="en-US" b="1" dirty="0"/>
              <a:t>ptr -&gt; data = item;  </a:t>
            </a:r>
          </a:p>
          <a:p>
            <a:pPr marL="0" indent="0">
              <a:buNone/>
            </a:pPr>
            <a:r>
              <a:rPr lang="en-US" b="1" dirty="0"/>
              <a:t> if(front == NULL)  </a:t>
            </a:r>
          </a:p>
          <a:p>
            <a:pPr marL="0" indent="0">
              <a:buNone/>
            </a:pPr>
            <a:r>
              <a:rPr lang="en-US" b="1" dirty="0"/>
              <a:t>   {  </a:t>
            </a:r>
          </a:p>
          <a:p>
            <a:pPr marL="0" indent="0">
              <a:buNone/>
            </a:pPr>
            <a:r>
              <a:rPr lang="en-US" b="1" dirty="0"/>
              <a:t> front = ptr;  </a:t>
            </a:r>
          </a:p>
          <a:p>
            <a:pPr marL="0" indent="0">
              <a:buNone/>
            </a:pPr>
            <a:r>
              <a:rPr lang="en-US" b="1" dirty="0"/>
              <a:t>rear = ptr;    </a:t>
            </a:r>
          </a:p>
          <a:p>
            <a:pPr marL="0" indent="0">
              <a:buNone/>
            </a:pPr>
            <a:r>
              <a:rPr lang="en-US" b="1" dirty="0"/>
              <a:t> front -&gt; next = NULL;  </a:t>
            </a:r>
          </a:p>
          <a:p>
            <a:pPr marL="0" indent="0">
              <a:buNone/>
            </a:pPr>
            <a:r>
              <a:rPr lang="en-US" b="1" dirty="0"/>
              <a:t>rear -&gt; next = NULL;  </a:t>
            </a:r>
          </a:p>
          <a:p>
            <a:pPr marL="0" indent="0">
              <a:buNone/>
            </a:pPr>
            <a:r>
              <a:rPr lang="en-US" b="1" dirty="0"/>
              <a:t>    }  </a:t>
            </a:r>
          </a:p>
          <a:p>
            <a:endParaRPr lang="en-US" dirty="0"/>
          </a:p>
        </p:txBody>
      </p:sp>
    </p:spTree>
    <p:extLst>
      <p:ext uri="{BB962C8B-B14F-4D97-AF65-F5344CB8AC3E}">
        <p14:creationId xmlns:p14="http://schemas.microsoft.com/office/powerpoint/2010/main" val="2979653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B04CC-4BB9-493B-9405-6BE2591624C6}"/>
              </a:ext>
            </a:extLst>
          </p:cNvPr>
          <p:cNvSpPr>
            <a:spLocks noGrp="1"/>
          </p:cNvSpPr>
          <p:nvPr>
            <p:ph idx="1"/>
          </p:nvPr>
        </p:nvSpPr>
        <p:spPr>
          <a:xfrm>
            <a:off x="838200" y="0"/>
            <a:ext cx="10515600" cy="6615289"/>
          </a:xfrm>
        </p:spPr>
        <p:txBody>
          <a:bodyPr>
            <a:normAutofit fontScale="92500" lnSpcReduction="10000"/>
          </a:bodyPr>
          <a:lstStyle/>
          <a:p>
            <a:pPr marL="0" indent="0">
              <a:buNone/>
            </a:pPr>
            <a:r>
              <a:rPr lang="en-US" sz="3600" dirty="0"/>
              <a:t>In the second case, the queue contains more than one element. </a:t>
            </a:r>
          </a:p>
          <a:p>
            <a:pPr marL="0" indent="0">
              <a:buNone/>
            </a:pPr>
            <a:r>
              <a:rPr lang="en-US" sz="3600" dirty="0"/>
              <a:t>The condition </a:t>
            </a:r>
            <a:r>
              <a:rPr lang="en-US" sz="3600" b="1" dirty="0"/>
              <a:t>front = NULL becomes false</a:t>
            </a:r>
            <a:r>
              <a:rPr lang="en-US" sz="3600" dirty="0"/>
              <a:t>. </a:t>
            </a:r>
          </a:p>
          <a:p>
            <a:pPr marL="0" indent="0">
              <a:buNone/>
            </a:pPr>
            <a:r>
              <a:rPr lang="en-US" sz="3600" dirty="0"/>
              <a:t>In this scenario, we need to update the end pointer rear so that the next pointer of rear will point to the new node </a:t>
            </a:r>
            <a:r>
              <a:rPr lang="en-US" sz="3600" dirty="0" err="1"/>
              <a:t>ptr</a:t>
            </a:r>
            <a:r>
              <a:rPr lang="en-US" sz="3600" dirty="0"/>
              <a:t>. </a:t>
            </a:r>
          </a:p>
          <a:p>
            <a:pPr marL="0" indent="0">
              <a:buNone/>
            </a:pPr>
            <a:r>
              <a:rPr lang="en-US" sz="3600" dirty="0"/>
              <a:t>Since, this is a linked queue, hence we also need to make the rear pointer point to the newly added node </a:t>
            </a:r>
            <a:r>
              <a:rPr lang="en-US" sz="3600" b="1" dirty="0" err="1"/>
              <a:t>ptr</a:t>
            </a:r>
            <a:r>
              <a:rPr lang="en-US" sz="3600" dirty="0"/>
              <a:t>. </a:t>
            </a:r>
          </a:p>
          <a:p>
            <a:pPr marL="0" indent="0">
              <a:buNone/>
            </a:pPr>
            <a:r>
              <a:rPr lang="en-US" sz="3600" dirty="0"/>
              <a:t>We also need to make the next pointer of rear point to NULL. </a:t>
            </a:r>
          </a:p>
          <a:p>
            <a:pPr marL="0" indent="0">
              <a:buNone/>
            </a:pPr>
            <a:r>
              <a:rPr lang="en-US" sz="3600" b="1" dirty="0"/>
              <a:t>rear -&gt; next = </a:t>
            </a:r>
            <a:r>
              <a:rPr lang="en-US" sz="3600" b="1" dirty="0" err="1"/>
              <a:t>ptr</a:t>
            </a:r>
            <a:r>
              <a:rPr lang="en-US" sz="3600" b="1" dirty="0"/>
              <a:t>;  </a:t>
            </a:r>
          </a:p>
          <a:p>
            <a:pPr marL="0" indent="0">
              <a:buNone/>
            </a:pPr>
            <a:r>
              <a:rPr lang="en-US" sz="3600" b="1" dirty="0"/>
              <a:t> rear = </a:t>
            </a:r>
            <a:r>
              <a:rPr lang="en-US" sz="3600" b="1" dirty="0" err="1"/>
              <a:t>ptr</a:t>
            </a:r>
            <a:r>
              <a:rPr lang="en-US" sz="3600" b="1" dirty="0"/>
              <a:t>;  </a:t>
            </a:r>
          </a:p>
          <a:p>
            <a:pPr marL="0" indent="0">
              <a:buNone/>
            </a:pPr>
            <a:r>
              <a:rPr lang="en-US" sz="3600" b="1" dirty="0"/>
              <a:t>rear-&gt;next = NULL;  </a:t>
            </a:r>
          </a:p>
          <a:p>
            <a:pPr marL="0" indent="0">
              <a:buNone/>
            </a:pPr>
            <a:r>
              <a:rPr lang="en-US" sz="3600" dirty="0"/>
              <a:t>In this way, the element is inserted into the queue. </a:t>
            </a:r>
            <a:endParaRPr lang="en-US" sz="3600" b="1" dirty="0"/>
          </a:p>
          <a:p>
            <a:pPr marL="0" indent="0">
              <a:buNone/>
            </a:pPr>
            <a:endParaRPr lang="en-US" b="1" dirty="0"/>
          </a:p>
        </p:txBody>
      </p:sp>
    </p:spTree>
    <p:extLst>
      <p:ext uri="{BB962C8B-B14F-4D97-AF65-F5344CB8AC3E}">
        <p14:creationId xmlns:p14="http://schemas.microsoft.com/office/powerpoint/2010/main" val="3953557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A82DD0-CA27-4BB0-A16D-F26ED1F794A2}"/>
              </a:ext>
            </a:extLst>
          </p:cNvPr>
          <p:cNvSpPr>
            <a:spLocks noGrp="1"/>
          </p:cNvSpPr>
          <p:nvPr>
            <p:ph idx="1"/>
          </p:nvPr>
        </p:nvSpPr>
        <p:spPr>
          <a:xfrm>
            <a:off x="838200" y="203200"/>
            <a:ext cx="10515600" cy="6445956"/>
          </a:xfrm>
        </p:spPr>
        <p:txBody>
          <a:bodyPr/>
          <a:lstStyle/>
          <a:p>
            <a:pPr marL="0" indent="0">
              <a:buNone/>
            </a:pPr>
            <a:r>
              <a:rPr lang="en-US" b="1" dirty="0"/>
              <a:t>Algorithm:</a:t>
            </a:r>
          </a:p>
          <a:p>
            <a:r>
              <a:rPr lang="en-US" b="1" dirty="0"/>
              <a:t>Step 1:</a:t>
            </a:r>
            <a:r>
              <a:rPr lang="en-US" dirty="0"/>
              <a:t> Allocate the space for the new node PTR</a:t>
            </a:r>
          </a:p>
          <a:p>
            <a:r>
              <a:rPr lang="en-US" b="1" dirty="0"/>
              <a:t>Step 2:</a:t>
            </a:r>
            <a:r>
              <a:rPr lang="en-US" dirty="0"/>
              <a:t> SET PTR -&gt; DATA = VAL</a:t>
            </a:r>
          </a:p>
          <a:p>
            <a:r>
              <a:rPr lang="en-US" b="1" dirty="0"/>
              <a:t>Step 3:</a:t>
            </a:r>
            <a:r>
              <a:rPr lang="en-US" dirty="0"/>
              <a:t> IF FRONT = NULL</a:t>
            </a:r>
            <a:br>
              <a:rPr lang="en-US" dirty="0"/>
            </a:br>
            <a:r>
              <a:rPr lang="en-US" dirty="0"/>
              <a:t>SET FRONT = REAR = PTR</a:t>
            </a:r>
            <a:br>
              <a:rPr lang="en-US" dirty="0"/>
            </a:br>
            <a:r>
              <a:rPr lang="en-US" dirty="0"/>
              <a:t>SET FRONT -&gt; NEXT = REAR -&gt; NEXT = NULL</a:t>
            </a:r>
            <a:br>
              <a:rPr lang="en-US" dirty="0"/>
            </a:br>
            <a:r>
              <a:rPr lang="en-US" dirty="0"/>
              <a:t>ELSE</a:t>
            </a:r>
            <a:br>
              <a:rPr lang="en-US" dirty="0"/>
            </a:br>
            <a:r>
              <a:rPr lang="en-US" dirty="0"/>
              <a:t>SET REAR -&gt; NEXT = PTR</a:t>
            </a:r>
            <a:br>
              <a:rPr lang="en-US" dirty="0"/>
            </a:br>
            <a:r>
              <a:rPr lang="en-US" dirty="0"/>
              <a:t>SET REAR = PTR</a:t>
            </a:r>
            <a:br>
              <a:rPr lang="en-US" dirty="0"/>
            </a:br>
            <a:r>
              <a:rPr lang="en-US" dirty="0"/>
              <a:t>SET REAR -&gt; NEXT = NULL</a:t>
            </a:r>
            <a:br>
              <a:rPr lang="en-US" dirty="0"/>
            </a:br>
            <a:r>
              <a:rPr lang="en-US" dirty="0"/>
              <a:t>[END OF IF]</a:t>
            </a:r>
          </a:p>
          <a:p>
            <a:r>
              <a:rPr lang="en-US" b="1" dirty="0"/>
              <a:t>Step 4:</a:t>
            </a:r>
            <a:r>
              <a:rPr lang="en-US" dirty="0"/>
              <a:t> END</a:t>
            </a:r>
          </a:p>
          <a:p>
            <a:endParaRPr lang="en-US" dirty="0"/>
          </a:p>
        </p:txBody>
      </p:sp>
    </p:spTree>
    <p:extLst>
      <p:ext uri="{BB962C8B-B14F-4D97-AF65-F5344CB8AC3E}">
        <p14:creationId xmlns:p14="http://schemas.microsoft.com/office/powerpoint/2010/main" val="1466786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7D1182-6559-4810-A270-365F2806D4A4}"/>
              </a:ext>
            </a:extLst>
          </p:cNvPr>
          <p:cNvSpPr>
            <a:spLocks noGrp="1"/>
          </p:cNvSpPr>
          <p:nvPr>
            <p:ph idx="1"/>
          </p:nvPr>
        </p:nvSpPr>
        <p:spPr>
          <a:xfrm>
            <a:off x="838200" y="191910"/>
            <a:ext cx="10515600" cy="6666089"/>
          </a:xfrm>
        </p:spPr>
        <p:txBody>
          <a:bodyPr/>
          <a:lstStyle/>
          <a:p>
            <a:pPr marL="0" indent="0">
              <a:buNone/>
            </a:pPr>
            <a:r>
              <a:rPr lang="en-US" sz="3200" b="1" dirty="0"/>
              <a:t>Deletion:</a:t>
            </a:r>
          </a:p>
          <a:p>
            <a:r>
              <a:rPr lang="en-US" sz="3200" dirty="0"/>
              <a:t>Deletion operation </a:t>
            </a:r>
            <a:r>
              <a:rPr lang="en-US" sz="3200" b="1" dirty="0"/>
              <a:t>removes </a:t>
            </a:r>
            <a:r>
              <a:rPr lang="en-US" sz="3200" dirty="0"/>
              <a:t>the element that </a:t>
            </a:r>
            <a:r>
              <a:rPr lang="en-US" sz="3200" b="1" dirty="0"/>
              <a:t>is first inserted </a:t>
            </a:r>
            <a:r>
              <a:rPr lang="en-US" sz="3200" dirty="0"/>
              <a:t>among all the queue elements. </a:t>
            </a:r>
          </a:p>
          <a:p>
            <a:r>
              <a:rPr lang="en-US" sz="3200" dirty="0"/>
              <a:t>Firstly, we need to check either the list is empty or not.</a:t>
            </a:r>
          </a:p>
          <a:p>
            <a:r>
              <a:rPr lang="en-US" sz="3200" dirty="0"/>
              <a:t>The condition </a:t>
            </a:r>
            <a:r>
              <a:rPr lang="en-US" sz="3200" b="1" dirty="0"/>
              <a:t>front == NULL becomes true </a:t>
            </a:r>
            <a:r>
              <a:rPr lang="en-US" sz="3200" dirty="0"/>
              <a:t>if the </a:t>
            </a:r>
            <a:r>
              <a:rPr lang="en-US" sz="3200" b="1" dirty="0"/>
              <a:t>list is empty</a:t>
            </a:r>
            <a:r>
              <a:rPr lang="en-US" sz="3200" dirty="0"/>
              <a:t>, in this case , we simply </a:t>
            </a:r>
            <a:r>
              <a:rPr lang="en-US" sz="3200" b="1" dirty="0"/>
              <a:t>write underflow </a:t>
            </a:r>
            <a:r>
              <a:rPr lang="en-US" sz="3200" dirty="0"/>
              <a:t>on the console and </a:t>
            </a:r>
            <a:r>
              <a:rPr lang="en-US" sz="3200" b="1" dirty="0"/>
              <a:t>make exit</a:t>
            </a:r>
            <a:r>
              <a:rPr lang="en-US" sz="3200" dirty="0"/>
              <a:t>. </a:t>
            </a:r>
          </a:p>
          <a:p>
            <a:r>
              <a:rPr lang="en-US" sz="3200" dirty="0"/>
              <a:t>Otherwise, we will </a:t>
            </a:r>
            <a:r>
              <a:rPr lang="en-US" sz="3200" b="1" dirty="0"/>
              <a:t>delete the element </a:t>
            </a:r>
            <a:r>
              <a:rPr lang="en-US" sz="3200" dirty="0"/>
              <a:t>that is pointed by the </a:t>
            </a:r>
            <a:r>
              <a:rPr lang="en-US" sz="3200" b="1" dirty="0"/>
              <a:t>pointer front. </a:t>
            </a:r>
          </a:p>
          <a:p>
            <a:r>
              <a:rPr lang="en-US" sz="3200" dirty="0"/>
              <a:t>For this purpose, copy the node pointed by the front pointer into the pointer </a:t>
            </a:r>
            <a:r>
              <a:rPr lang="en-US" sz="3200" dirty="0" err="1"/>
              <a:t>ptr</a:t>
            </a:r>
            <a:r>
              <a:rPr lang="en-US" sz="3200" dirty="0"/>
              <a:t>.</a:t>
            </a:r>
          </a:p>
          <a:p>
            <a:r>
              <a:rPr lang="en-US" sz="3200" dirty="0"/>
              <a:t>Now, shift the front pointer, point to its next node and free the node pointed by the node </a:t>
            </a:r>
            <a:r>
              <a:rPr lang="en-US" sz="3200" dirty="0" err="1"/>
              <a:t>ptr</a:t>
            </a:r>
            <a:r>
              <a:rPr lang="en-US" sz="3200" dirty="0"/>
              <a:t>. </a:t>
            </a:r>
          </a:p>
          <a:p>
            <a:endParaRPr lang="en-US" dirty="0"/>
          </a:p>
        </p:txBody>
      </p:sp>
    </p:spTree>
    <p:extLst>
      <p:ext uri="{BB962C8B-B14F-4D97-AF65-F5344CB8AC3E}">
        <p14:creationId xmlns:p14="http://schemas.microsoft.com/office/powerpoint/2010/main" val="121645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BB8172-8FDB-4AC6-AF03-B1EDA3172D97}"/>
              </a:ext>
            </a:extLst>
          </p:cNvPr>
          <p:cNvSpPr>
            <a:spLocks noGrp="1"/>
          </p:cNvSpPr>
          <p:nvPr>
            <p:ph idx="1"/>
          </p:nvPr>
        </p:nvSpPr>
        <p:spPr>
          <a:xfrm>
            <a:off x="838200" y="0"/>
            <a:ext cx="10515600" cy="6858000"/>
          </a:xfrm>
        </p:spPr>
        <p:txBody>
          <a:bodyPr/>
          <a:lstStyle/>
          <a:p>
            <a:r>
              <a:rPr lang="en-US" dirty="0"/>
              <a:t>This is done by using the following statements. </a:t>
            </a:r>
          </a:p>
          <a:p>
            <a:pPr marL="0" indent="0">
              <a:buNone/>
            </a:pPr>
            <a:r>
              <a:rPr lang="en-US" b="1" dirty="0" err="1"/>
              <a:t>ptr</a:t>
            </a:r>
            <a:r>
              <a:rPr lang="en-US" b="1" dirty="0"/>
              <a:t> = front;  </a:t>
            </a:r>
          </a:p>
          <a:p>
            <a:pPr marL="0" indent="0">
              <a:buNone/>
            </a:pPr>
            <a:r>
              <a:rPr lang="en-US" b="1" dirty="0"/>
              <a:t>front = front -&gt; next;  </a:t>
            </a:r>
          </a:p>
          <a:p>
            <a:pPr marL="0" indent="0">
              <a:buNone/>
            </a:pPr>
            <a:r>
              <a:rPr lang="en-US" b="1" dirty="0"/>
              <a:t>free(</a:t>
            </a:r>
            <a:r>
              <a:rPr lang="en-US" b="1" dirty="0" err="1"/>
              <a:t>ptr</a:t>
            </a:r>
            <a:r>
              <a:rPr lang="en-US" b="1" dirty="0"/>
              <a:t>); </a:t>
            </a:r>
          </a:p>
          <a:p>
            <a:pPr marL="0" indent="0">
              <a:buNone/>
            </a:pPr>
            <a:r>
              <a:rPr lang="en-US" b="1" dirty="0"/>
              <a:t>Algorithm: </a:t>
            </a:r>
          </a:p>
          <a:p>
            <a:r>
              <a:rPr lang="en-US" b="1" dirty="0"/>
              <a:t>Step 1:</a:t>
            </a:r>
            <a:r>
              <a:rPr lang="en-US" dirty="0"/>
              <a:t> IF FRONT = NULL</a:t>
            </a:r>
            <a:br>
              <a:rPr lang="en-US" dirty="0"/>
            </a:br>
            <a:r>
              <a:rPr lang="en-US" dirty="0"/>
              <a:t>Write " Underflow "</a:t>
            </a:r>
            <a:br>
              <a:rPr lang="en-US" dirty="0"/>
            </a:br>
            <a:r>
              <a:rPr lang="en-US" dirty="0"/>
              <a:t>Go to Step 5</a:t>
            </a:r>
            <a:br>
              <a:rPr lang="en-US" dirty="0"/>
            </a:br>
            <a:r>
              <a:rPr lang="en-US" dirty="0"/>
              <a:t>[END OF IF]</a:t>
            </a:r>
          </a:p>
          <a:p>
            <a:r>
              <a:rPr lang="en-US" b="1" dirty="0"/>
              <a:t>Step 2:</a:t>
            </a:r>
            <a:r>
              <a:rPr lang="en-US" dirty="0"/>
              <a:t> SET PTR = FRONT</a:t>
            </a:r>
          </a:p>
          <a:p>
            <a:r>
              <a:rPr lang="en-US" b="1" dirty="0"/>
              <a:t>Step 3:</a:t>
            </a:r>
            <a:r>
              <a:rPr lang="en-US" dirty="0"/>
              <a:t> SET FRONT = FRONT -&gt; NEXT</a:t>
            </a:r>
          </a:p>
          <a:p>
            <a:r>
              <a:rPr lang="en-US" b="1" dirty="0"/>
              <a:t>Step 4:</a:t>
            </a:r>
            <a:r>
              <a:rPr lang="en-US" dirty="0"/>
              <a:t> FREE PTR</a:t>
            </a:r>
          </a:p>
          <a:p>
            <a:r>
              <a:rPr lang="en-US" b="1" dirty="0"/>
              <a:t>Step 5:</a:t>
            </a:r>
            <a:r>
              <a:rPr lang="en-US" dirty="0"/>
              <a:t> END</a:t>
            </a:r>
          </a:p>
          <a:p>
            <a:pPr marL="0" indent="0">
              <a:buNone/>
            </a:pPr>
            <a:endParaRPr lang="en-US" b="1" dirty="0"/>
          </a:p>
        </p:txBody>
      </p:sp>
    </p:spTree>
    <p:extLst>
      <p:ext uri="{BB962C8B-B14F-4D97-AF65-F5344CB8AC3E}">
        <p14:creationId xmlns:p14="http://schemas.microsoft.com/office/powerpoint/2010/main" val="1559160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3F0728-2C5F-4889-A149-C84655C6E850}"/>
              </a:ext>
            </a:extLst>
          </p:cNvPr>
          <p:cNvSpPr>
            <a:spLocks noGrp="1"/>
          </p:cNvSpPr>
          <p:nvPr>
            <p:ph idx="1"/>
          </p:nvPr>
        </p:nvSpPr>
        <p:spPr>
          <a:xfrm>
            <a:off x="838200" y="146756"/>
            <a:ext cx="10515600" cy="6570133"/>
          </a:xfrm>
        </p:spPr>
        <p:txBody>
          <a:bodyPr>
            <a:normAutofit/>
          </a:bodyPr>
          <a:lstStyle/>
          <a:p>
            <a:pPr>
              <a:buFont typeface="Wingdings" panose="05000000000000000000" pitchFamily="2" charset="2"/>
              <a:buChar char="Ø"/>
            </a:pPr>
            <a:r>
              <a:rPr lang="en-US" sz="4000" b="1" dirty="0"/>
              <a:t>Store an Element in a Queue:</a:t>
            </a:r>
          </a:p>
          <a:p>
            <a:pPr marL="0" indent="0">
              <a:buNone/>
            </a:pPr>
            <a:r>
              <a:rPr lang="en-US" sz="3200" dirty="0"/>
              <a:t>Enqueue an element to a queue.</a:t>
            </a:r>
          </a:p>
          <a:p>
            <a:pPr marL="0" indent="0">
              <a:buNone/>
            </a:pPr>
            <a:r>
              <a:rPr lang="en-US" sz="3200" dirty="0"/>
              <a:t>To store an element in a queue, you need to perform the following steps:</a:t>
            </a:r>
          </a:p>
          <a:p>
            <a:r>
              <a:rPr lang="en-US" sz="3200" dirty="0"/>
              <a:t>Check if the queue is full. If the queue is full, you cannot store any more elements in it.</a:t>
            </a:r>
          </a:p>
          <a:p>
            <a:r>
              <a:rPr lang="en-US" sz="3200" dirty="0"/>
              <a:t>If the queue is not full, then insert the element at the rear end of the queue. </a:t>
            </a:r>
          </a:p>
          <a:p>
            <a:r>
              <a:rPr lang="en-US" sz="3200" dirty="0"/>
              <a:t>This operation is called "enqueue" in the queue data structure.</a:t>
            </a:r>
          </a:p>
          <a:p>
            <a:r>
              <a:rPr lang="en-US" sz="3200" dirty="0"/>
              <a:t>After inserting the element, update the rear pointer of the queue to point to the newly added element.</a:t>
            </a:r>
          </a:p>
          <a:p>
            <a:pPr marL="0" indent="0">
              <a:buNone/>
            </a:pPr>
            <a:endParaRPr lang="en-US" sz="3200" dirty="0"/>
          </a:p>
          <a:p>
            <a:pPr marL="0" indent="0">
              <a:buNone/>
            </a:pPr>
            <a:endParaRPr lang="en-US" b="1" dirty="0"/>
          </a:p>
        </p:txBody>
      </p:sp>
    </p:spTree>
    <p:extLst>
      <p:ext uri="{BB962C8B-B14F-4D97-AF65-F5344CB8AC3E}">
        <p14:creationId xmlns:p14="http://schemas.microsoft.com/office/powerpoint/2010/main" val="41193400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EB3C59-2E52-46BB-8B26-54F5C2224253}"/>
              </a:ext>
            </a:extLst>
          </p:cNvPr>
          <p:cNvSpPr>
            <a:spLocks noGrp="1"/>
          </p:cNvSpPr>
          <p:nvPr>
            <p:ph idx="1"/>
          </p:nvPr>
        </p:nvSpPr>
        <p:spPr>
          <a:xfrm>
            <a:off x="838200" y="124178"/>
            <a:ext cx="10515600" cy="6626578"/>
          </a:xfrm>
        </p:spPr>
        <p:txBody>
          <a:bodyPr/>
          <a:lstStyle/>
          <a:p>
            <a:pPr marL="0" indent="0">
              <a:buNone/>
            </a:pPr>
            <a:r>
              <a:rPr lang="en-US" sz="3200" dirty="0"/>
              <a:t>Here's a sample code in Python to enqueue an element into a queue:</a:t>
            </a:r>
          </a:p>
          <a:p>
            <a:pPr marL="0" indent="0">
              <a:buNone/>
            </a:pPr>
            <a:r>
              <a:rPr lang="en-US" sz="3200" dirty="0"/>
              <a:t>def enqueue(queue, element):</a:t>
            </a:r>
          </a:p>
          <a:p>
            <a:pPr marL="0" indent="0">
              <a:buNone/>
            </a:pPr>
            <a:r>
              <a:rPr lang="en-US" sz="3200" dirty="0"/>
              <a:t>    if </a:t>
            </a:r>
            <a:r>
              <a:rPr lang="en-US" sz="3200" dirty="0" err="1"/>
              <a:t>len</a:t>
            </a:r>
            <a:r>
              <a:rPr lang="en-US" sz="3200" dirty="0"/>
              <a:t>(queue) == MAX_SIZE:</a:t>
            </a:r>
          </a:p>
          <a:p>
            <a:pPr marL="0" indent="0">
              <a:buNone/>
            </a:pPr>
            <a:r>
              <a:rPr lang="en-US" sz="3200" dirty="0"/>
              <a:t>        print("Queue is full.")</a:t>
            </a:r>
          </a:p>
          <a:p>
            <a:pPr marL="0" indent="0">
              <a:buNone/>
            </a:pPr>
            <a:r>
              <a:rPr lang="en-US" sz="3200" dirty="0"/>
              <a:t>    else:</a:t>
            </a:r>
          </a:p>
          <a:p>
            <a:pPr marL="0" indent="0">
              <a:buNone/>
            </a:pPr>
            <a:r>
              <a:rPr lang="en-US" sz="3200" dirty="0"/>
              <a:t>        </a:t>
            </a:r>
            <a:r>
              <a:rPr lang="en-US" sz="3200" dirty="0" err="1"/>
              <a:t>queue.append</a:t>
            </a:r>
            <a:r>
              <a:rPr lang="en-US" sz="3200" dirty="0"/>
              <a:t>(element)</a:t>
            </a:r>
          </a:p>
          <a:p>
            <a:pPr marL="0" indent="0">
              <a:buNone/>
            </a:pPr>
            <a:r>
              <a:rPr lang="en-US" sz="3200" dirty="0"/>
              <a:t>        print("Element enqueued to the queue:", element)</a:t>
            </a:r>
          </a:p>
          <a:p>
            <a:pPr marL="0" indent="0">
              <a:buNone/>
            </a:pPr>
            <a:r>
              <a:rPr lang="en-US" sz="3200" dirty="0"/>
              <a:t>In this code, queue is the list representing the queue and element is the element to be enqueued. </a:t>
            </a:r>
          </a:p>
          <a:p>
            <a:pPr marL="0" indent="0">
              <a:buNone/>
            </a:pPr>
            <a:r>
              <a:rPr lang="en-US" sz="3200" dirty="0"/>
              <a:t>MAX_SIZE is the maximum size of the queue.</a:t>
            </a:r>
          </a:p>
          <a:p>
            <a:pPr marL="0" indent="0">
              <a:buNone/>
            </a:pPr>
            <a:endParaRPr lang="en-US" dirty="0"/>
          </a:p>
        </p:txBody>
      </p:sp>
    </p:spTree>
    <p:extLst>
      <p:ext uri="{BB962C8B-B14F-4D97-AF65-F5344CB8AC3E}">
        <p14:creationId xmlns:p14="http://schemas.microsoft.com/office/powerpoint/2010/main" val="2236745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BD373-A0F9-4A4B-9C6F-5E24DAFB9E20}"/>
              </a:ext>
            </a:extLst>
          </p:cNvPr>
          <p:cNvSpPr>
            <a:spLocks noGrp="1"/>
          </p:cNvSpPr>
          <p:nvPr>
            <p:ph idx="1"/>
          </p:nvPr>
        </p:nvSpPr>
        <p:spPr>
          <a:xfrm>
            <a:off x="838200" y="101600"/>
            <a:ext cx="10515600" cy="6615289"/>
          </a:xfrm>
        </p:spPr>
        <p:txBody>
          <a:bodyPr/>
          <a:lstStyle/>
          <a:p>
            <a:pPr marL="0" indent="0">
              <a:buNone/>
            </a:pPr>
            <a:r>
              <a:rPr lang="en-US" sz="4000" dirty="0"/>
              <a:t>To enqueue an element, you can simply call the enqueue function passing the queue and the element to be enqueued:</a:t>
            </a:r>
          </a:p>
          <a:p>
            <a:pPr marL="0" indent="0">
              <a:buNone/>
            </a:pPr>
            <a:r>
              <a:rPr lang="en-US" sz="4000" dirty="0"/>
              <a:t>queue = []</a:t>
            </a:r>
          </a:p>
          <a:p>
            <a:pPr marL="0" indent="0">
              <a:buNone/>
            </a:pPr>
            <a:r>
              <a:rPr lang="en-US" sz="4000" dirty="0"/>
              <a:t>enqueue(queue, 10)  # enqueues 10 to the queue</a:t>
            </a:r>
          </a:p>
          <a:p>
            <a:pPr marL="0" indent="0">
              <a:buNone/>
            </a:pPr>
            <a:r>
              <a:rPr lang="en-US" sz="4000" dirty="0"/>
              <a:t>enqueue(queue, 20)  # enqueues 20 to the queue</a:t>
            </a:r>
          </a:p>
          <a:p>
            <a:pPr marL="0" indent="0">
              <a:buNone/>
            </a:pPr>
            <a:r>
              <a:rPr lang="en-US" sz="4000" dirty="0"/>
              <a:t>After executing the above code, the queue would look like: [10, 20] where 10 is at the front of the queue and 20 is at the rear.</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41253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2741</Words>
  <Application>Microsoft Office PowerPoint</Application>
  <PresentationFormat>Widescreen</PresentationFormat>
  <Paragraphs>216</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BETTY</dc:creator>
  <cp:lastModifiedBy>BETTY</cp:lastModifiedBy>
  <cp:revision>4</cp:revision>
  <dcterms:created xsi:type="dcterms:W3CDTF">2023-05-03T20:00:39Z</dcterms:created>
  <dcterms:modified xsi:type="dcterms:W3CDTF">2023-06-16T22:03:07Z</dcterms:modified>
</cp:coreProperties>
</file>