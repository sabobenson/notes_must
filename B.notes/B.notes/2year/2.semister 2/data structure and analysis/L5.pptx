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7" r:id="rId45"/>
    <p:sldId id="314" r:id="rId46"/>
    <p:sldId id="315" r:id="rId47"/>
    <p:sldId id="316" r:id="rId48"/>
    <p:sldId id="31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8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C6FE-43F6-4730-85B2-C18302699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0DCF6-16F4-41FA-9A9F-D14F0B32D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DEA66-B1FB-42D8-9319-FC4A1667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97786-11E0-4974-8106-9730C6937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A98EB-E05D-442C-B7B7-F39404749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2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84213-CF62-4124-BCDD-CD785B19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4CBF-831F-4EA8-9B44-D3E4C7248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F8762-DC32-43E2-B596-6CF8961E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A149-089A-456C-97DF-A9A9E8BC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F215E-0ED0-4984-A277-2E34766C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6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417D-3184-4555-B4EA-7F1B8A835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D1FB1-0AA5-4167-B98A-D860B155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A8E4B-DCA2-4506-9FB0-88FE43C9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A345-66CE-4630-8BA4-DFBC8ECA5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85C4E-A1D4-40EE-84F2-F33B7D03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0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339D-3DDF-4A13-8E3F-A0DB6B71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30A91-51F1-4ACE-BB90-CA7746A7B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9E3BA-8BEF-417D-A12E-3F294B474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4F148-69A3-4787-B697-67484940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E77A7-261E-41E4-9606-E1645750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C8BCB-0BAF-4D49-BD9B-D333E302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84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41BB-CF86-46C7-805F-72694D6FC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198AE-5E9D-47AC-892A-DB324EC5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86465-79D5-4D8C-9850-77DD9A9F4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5F8C11-CF3D-4462-8C15-EBFF099B1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40BBC-79B8-4114-985B-8514AD454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F983-30DE-4ED5-8FEE-60C364C2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17ADE3-8284-4FDD-BE0D-9CF4189E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0C06BD-7754-4748-9081-A06325D7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FB04-1ABC-4EEE-84AB-7A9EB23D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30B231-9C80-4610-B963-D89BBF15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BAC59-F11F-475E-83D4-A614BDE2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DC6D6-A336-4F76-A533-D9DCBBD4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26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CA9DDD-0AFF-4D86-88CC-74BC3FC4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544AF-3BD1-4035-85AC-460CCC20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2B81B-4C00-4595-B150-469A08E2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B8846-DB6F-4C67-A75F-DC005A70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D8CE3-BE76-4E39-8EE6-704FCE65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5FD3D-5AB8-4C18-9B65-56CBB2F57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BB3CB-8D0E-41DD-90D6-8BCA3522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32502-3161-4174-A902-808F4C78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77B9B-C95C-4E19-B21B-2B5285C4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2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7ED0-D457-41CA-9E77-ABFD9350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CCE44-49D2-4E99-BAA4-E6F0F6380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4FFF8-0960-4E09-8AFB-C1E14DD83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5B556-C44F-4240-B6C1-2BEB1EBA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2262B-77CB-44DA-9C60-C97BA08F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62280-B393-4EFF-9016-E515DAC89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C32BE-30D8-43CF-ACAA-FB37E2DA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18919-EE5C-4E2E-AAF4-F680E235A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78CC1-BD60-4113-AB4F-FE4699DD5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8F8A-ADF9-43F0-8DB2-FE7ABD4F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D2692-FA2B-4557-975E-80E0F215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2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4BA3B-AF6D-4B11-840B-FF7CE17E96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9915D-821A-442E-8D86-8B0A9DC04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1D58D-0BD7-49F1-BA51-D7E312706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543B4-C859-4E34-835A-E497C462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DC5C8-7B2C-459A-826D-DAA55260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85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19974-E285-4EFE-93E8-B2B8879A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DB78B-B1FD-42A9-9010-ED1190AC4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5F7B-DEBE-47AB-AC2C-CE8A0227E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2C54E-89C9-40EF-9F42-B93C14170D15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5DFC7-AB1C-4FEE-BDC0-7DDD58408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14988-D423-476C-A399-A20AFC6C5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DE1F9-C30B-4600-BAEE-2F5196083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2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83D4C-7E60-4917-9043-574147456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5"/>
            <a:ext cx="10515600" cy="788894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Arrays: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DC1A5-C460-4A80-9015-3191E185B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682"/>
            <a:ext cx="10515600" cy="5836023"/>
          </a:xfrm>
        </p:spPr>
        <p:txBody>
          <a:bodyPr/>
          <a:lstStyle/>
          <a:p>
            <a:pPr marL="0" indent="0">
              <a:buNone/>
            </a:pPr>
            <a:r>
              <a:rPr lang="en-US" sz="4000" b="1" dirty="0"/>
              <a:t>What Are Arrays in Data Structures?</a:t>
            </a:r>
          </a:p>
          <a:p>
            <a:pPr marL="0" indent="0">
              <a:buNone/>
            </a:pPr>
            <a:r>
              <a:rPr lang="en-US" sz="4000" dirty="0"/>
              <a:t>An array is a </a:t>
            </a:r>
            <a:r>
              <a:rPr lang="en-US" sz="4000" b="1" dirty="0"/>
              <a:t>linear data structure </a:t>
            </a:r>
            <a:r>
              <a:rPr lang="en-US" sz="4000" dirty="0"/>
              <a:t>that </a:t>
            </a:r>
            <a:r>
              <a:rPr lang="en-US" sz="4000" b="1" dirty="0"/>
              <a:t>collects elements of the same data type</a:t>
            </a:r>
            <a:r>
              <a:rPr lang="en-US" sz="4000" dirty="0"/>
              <a:t> and </a:t>
            </a:r>
            <a:r>
              <a:rPr lang="en-US" sz="4000" b="1" dirty="0"/>
              <a:t>stores them in contiguous and adjacent memory locations</a:t>
            </a:r>
            <a:r>
              <a:rPr lang="en-US" sz="4000" dirty="0"/>
              <a:t>. </a:t>
            </a:r>
          </a:p>
          <a:p>
            <a:pPr marL="0" indent="0">
              <a:buNone/>
            </a:pPr>
            <a:r>
              <a:rPr lang="en-US" sz="4000" dirty="0"/>
              <a:t>Arrays work on </a:t>
            </a:r>
            <a:r>
              <a:rPr lang="en-US" sz="4000" b="1" dirty="0"/>
              <a:t>an index system </a:t>
            </a:r>
            <a:r>
              <a:rPr lang="en-US" sz="4000" dirty="0"/>
              <a:t>starting from </a:t>
            </a:r>
            <a:r>
              <a:rPr lang="en-US" sz="4000" b="1" dirty="0"/>
              <a:t>0 to (n-1),</a:t>
            </a:r>
            <a:r>
              <a:rPr lang="en-US" sz="4000" dirty="0"/>
              <a:t> where </a:t>
            </a:r>
            <a:r>
              <a:rPr lang="en-US" sz="4000" b="1" dirty="0"/>
              <a:t>n is the size of the array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 Data Structure">
            <a:extLst>
              <a:ext uri="{FF2B5EF4-FFF2-40B4-BE49-F238E27FC236}">
                <a16:creationId xmlns:a16="http://schemas.microsoft.com/office/drawing/2014/main" id="{A7C34B53-FE72-40FB-A744-DAE8FA83C11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941" y="4446494"/>
            <a:ext cx="7763435" cy="2097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880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rrays_in_ds-what-is-array-img1">
            <a:extLst>
              <a:ext uri="{FF2B5EF4-FFF2-40B4-BE49-F238E27FC236}">
                <a16:creationId xmlns:a16="http://schemas.microsoft.com/office/drawing/2014/main" id="{70EB955C-1F43-49A3-A2DF-1F252C1B003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6" y="0"/>
            <a:ext cx="12066494" cy="6705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259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9405-AAD9-4E37-A8C5-C7342C0A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54"/>
            <a:ext cx="10515600" cy="914400"/>
          </a:xfrm>
        </p:spPr>
        <p:txBody>
          <a:bodyPr/>
          <a:lstStyle/>
          <a:p>
            <a:r>
              <a:rPr lang="en-US" b="1" dirty="0"/>
              <a:t>Why Do You Need an Array in Data Structures?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E81FC-29E4-41C9-BC73-4EFCAAC64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0612"/>
            <a:ext cx="10515599" cy="5997388"/>
          </a:xfrm>
        </p:spPr>
        <p:txBody>
          <a:bodyPr/>
          <a:lstStyle/>
          <a:p>
            <a:r>
              <a:rPr lang="en-US" dirty="0"/>
              <a:t>Consider a class consists of 50 students, and the class  advisor has to publish their results. </a:t>
            </a:r>
          </a:p>
          <a:p>
            <a:r>
              <a:rPr lang="en-US" dirty="0"/>
              <a:t>If he/she had  to declare all 50 variables individually, it would be challenging to manipulate and maintain the data. </a:t>
            </a:r>
          </a:p>
          <a:p>
            <a:r>
              <a:rPr lang="en-US" dirty="0"/>
              <a:t>If more students were to join, it would become more difficult to declare all the variables and keep track of it.</a:t>
            </a:r>
          </a:p>
          <a:p>
            <a:r>
              <a:rPr lang="en-US" dirty="0"/>
              <a:t> To overcome this problem, arrays came into the picture.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rrays_in_ds-why-array-img1">
            <a:extLst>
              <a:ext uri="{FF2B5EF4-FFF2-40B4-BE49-F238E27FC236}">
                <a16:creationId xmlns:a16="http://schemas.microsoft.com/office/drawing/2014/main" id="{D2A07A44-90CF-4636-97BB-242194481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4356846"/>
            <a:ext cx="10515600" cy="2285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21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3639-CECC-4F60-ACE8-83DB376A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54424"/>
          </a:xfrm>
        </p:spPr>
        <p:txBody>
          <a:bodyPr>
            <a:normAutofit fontScale="90000"/>
          </a:bodyPr>
          <a:lstStyle/>
          <a:p>
            <a:r>
              <a:rPr lang="en-US" b="1"/>
              <a:t>What Are the Types of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8551A-65C5-4044-8A41-A26462106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5"/>
            <a:ext cx="10515600" cy="58987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majorly </a:t>
            </a:r>
            <a:r>
              <a:rPr lang="en-US" b="1" dirty="0"/>
              <a:t>two types of arrays</a:t>
            </a:r>
            <a:r>
              <a:rPr lang="en-US" dirty="0"/>
              <a:t>, they are:</a:t>
            </a:r>
          </a:p>
          <a:p>
            <a:r>
              <a:rPr lang="en-US" b="1" dirty="0"/>
              <a:t>One-Dimensional Arrays: </a:t>
            </a:r>
            <a:r>
              <a:rPr lang="en-US" b="1" dirty="0">
                <a:solidFill>
                  <a:srgbClr val="FF0000"/>
                </a:solidFill>
              </a:rPr>
              <a:t>int array-name[size];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4" name="Picture 3" descr="Arrays_in_ds-array-type-1d-img1">
            <a:extLst>
              <a:ext uri="{FF2B5EF4-FFF2-40B4-BE49-F238E27FC236}">
                <a16:creationId xmlns:a16="http://schemas.microsoft.com/office/drawing/2014/main" id="{64D06882-4A34-4138-B0E8-C342442E02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35" y="1922930"/>
            <a:ext cx="10076329" cy="30121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96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8433-BF5C-435C-835C-250FB54AB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940"/>
            <a:ext cx="10515600" cy="6589059"/>
          </a:xfrm>
        </p:spPr>
        <p:txBody>
          <a:bodyPr/>
          <a:lstStyle/>
          <a:p>
            <a:r>
              <a:rPr lang="en-US" b="1" dirty="0"/>
              <a:t>Multi-Dimensional Arrays:</a:t>
            </a:r>
          </a:p>
          <a:p>
            <a:pPr marL="0" indent="0">
              <a:buNone/>
            </a:pPr>
            <a:r>
              <a:rPr lang="en-US" dirty="0"/>
              <a:t>These multi-dimensional arrays are again of </a:t>
            </a:r>
            <a:r>
              <a:rPr lang="en-US" b="1" dirty="0"/>
              <a:t>two types</a:t>
            </a:r>
            <a:r>
              <a:rPr lang="en-US" dirty="0"/>
              <a:t>. They are: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Two-Dimensional Arrays.</a:t>
            </a:r>
            <a:endParaRPr lang="en-US" b="1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array-type-2d-img1">
            <a:extLst>
              <a:ext uri="{FF2B5EF4-FFF2-40B4-BE49-F238E27FC236}">
                <a16:creationId xmlns:a16="http://schemas.microsoft.com/office/drawing/2014/main" id="{20ADD9EE-4E54-4745-8307-27B75AA6673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76" y="2528887"/>
            <a:ext cx="9359153" cy="36480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4129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D6150-3DDF-4491-8FF3-04DF0D5E4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687671"/>
          </a:xfrm>
        </p:spPr>
        <p:txBody>
          <a:bodyPr/>
          <a:lstStyle/>
          <a:p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Three-Dimensional Arrays.</a:t>
            </a:r>
            <a:endParaRPr lang="en-US" b="1" i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array-type-3d-img1.">
            <a:extLst>
              <a:ext uri="{FF2B5EF4-FFF2-40B4-BE49-F238E27FC236}">
                <a16:creationId xmlns:a16="http://schemas.microsoft.com/office/drawing/2014/main" id="{A58C8114-6768-49A0-86A1-D323C09B8C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59" y="1308847"/>
            <a:ext cx="9950823" cy="50919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778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7B77-F0CA-4A42-B3FF-F2EA2440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0611"/>
          </a:xfrm>
        </p:spPr>
        <p:txBody>
          <a:bodyPr/>
          <a:lstStyle/>
          <a:p>
            <a:r>
              <a:rPr lang="en-US" b="1" dirty="0"/>
              <a:t>How Do You Declare an Array?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AF6B8-F86C-4A6E-AE15-30C10988A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0612"/>
            <a:ext cx="10515600" cy="5791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Arrays are typically </a:t>
            </a:r>
            <a:r>
              <a:rPr lang="en-US" b="1" dirty="0"/>
              <a:t>declared</a:t>
            </a:r>
            <a:r>
              <a:rPr lang="en-US" dirty="0"/>
              <a:t> with square brackets with the size of the arrays as its argument.</a:t>
            </a:r>
          </a:p>
          <a:p>
            <a:pPr marL="0" indent="0">
              <a:buNone/>
            </a:pPr>
            <a:r>
              <a:rPr lang="en-US" dirty="0"/>
              <a:t>Here is the </a:t>
            </a:r>
            <a:r>
              <a:rPr lang="en-US" b="1" dirty="0"/>
              <a:t>syntax</a:t>
            </a:r>
            <a:r>
              <a:rPr lang="en-US" dirty="0"/>
              <a:t> for arrays declaration:</a:t>
            </a:r>
          </a:p>
          <a:p>
            <a:r>
              <a:rPr lang="en-US" dirty="0"/>
              <a:t>1D Arrays: int </a:t>
            </a:r>
            <a:r>
              <a:rPr lang="en-US" dirty="0" err="1"/>
              <a:t>arr</a:t>
            </a:r>
            <a:r>
              <a:rPr lang="en-US" dirty="0"/>
              <a:t>[n];</a:t>
            </a:r>
          </a:p>
          <a:p>
            <a:r>
              <a:rPr lang="en-US" dirty="0"/>
              <a:t>2D Arrays: int </a:t>
            </a:r>
            <a:r>
              <a:rPr lang="en-US" dirty="0" err="1"/>
              <a:t>arr</a:t>
            </a:r>
            <a:r>
              <a:rPr lang="en-US" dirty="0"/>
              <a:t>[m][n];</a:t>
            </a:r>
          </a:p>
          <a:p>
            <a:r>
              <a:rPr lang="en-US" dirty="0"/>
              <a:t>3D Arrays: int </a:t>
            </a:r>
            <a:r>
              <a:rPr lang="en-US" dirty="0" err="1"/>
              <a:t>arr</a:t>
            </a:r>
            <a:r>
              <a:rPr lang="en-US" dirty="0"/>
              <a:t>[m][n][o];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array-declare-img1.">
            <a:extLst>
              <a:ext uri="{FF2B5EF4-FFF2-40B4-BE49-F238E27FC236}">
                <a16:creationId xmlns:a16="http://schemas.microsoft.com/office/drawing/2014/main" id="{157B34EF-22D3-4691-91EE-9CFCD5B38D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65" y="3998259"/>
            <a:ext cx="10022541" cy="2312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318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BD4-C794-4FFE-A57C-AF389372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5"/>
            <a:ext cx="10515600" cy="62753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Do You Initialize an Array?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5CBB5-2B2A-47DD-B7C8-2B2C6BED2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4"/>
            <a:ext cx="10515600" cy="60511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Arrays can be </a:t>
            </a:r>
            <a:r>
              <a:rPr lang="en-US" b="1" dirty="0"/>
              <a:t>initialized  in four </a:t>
            </a:r>
            <a:r>
              <a:rPr lang="en-US" dirty="0"/>
              <a:t>different ways:</a:t>
            </a:r>
          </a:p>
          <a:p>
            <a:pPr lvl="0"/>
            <a:r>
              <a:rPr lang="en-US" b="1" dirty="0"/>
              <a:t>Method 1:</a:t>
            </a:r>
          </a:p>
          <a:p>
            <a:pPr marL="0" indent="0">
              <a:buNone/>
            </a:pPr>
            <a:r>
              <a:rPr lang="en-US" dirty="0"/>
              <a:t>int a[6] = {2, 3, 5, 7, 11, 13};</a:t>
            </a:r>
          </a:p>
          <a:p>
            <a:pPr lvl="0"/>
            <a:r>
              <a:rPr lang="en-US" b="1" dirty="0"/>
              <a:t>Method 2: 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[]= {2, 3, 5, 7, 11};</a:t>
            </a:r>
          </a:p>
          <a:p>
            <a:pPr lvl="0"/>
            <a:r>
              <a:rPr lang="en-US" b="1" dirty="0"/>
              <a:t>Method 3: </a:t>
            </a:r>
          </a:p>
          <a:p>
            <a:pPr marL="0" indent="0">
              <a:buNone/>
            </a:pPr>
            <a:r>
              <a:rPr lang="en-US" dirty="0"/>
              <a:t>int n;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(“%</a:t>
            </a:r>
            <a:r>
              <a:rPr lang="en-US" dirty="0" err="1"/>
              <a:t>d”,&amp;n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arr</a:t>
            </a:r>
            <a:r>
              <a:rPr lang="en-US" dirty="0"/>
              <a:t>[n];</a:t>
            </a:r>
          </a:p>
          <a:p>
            <a:pPr marL="0" indent="0">
              <a:buNone/>
            </a:pPr>
            <a:r>
              <a:rPr lang="en-US" b="1" dirty="0"/>
              <a:t>for(int </a:t>
            </a:r>
            <a:r>
              <a:rPr lang="en-US" b="1" dirty="0" err="1"/>
              <a:t>i</a:t>
            </a:r>
            <a:r>
              <a:rPr lang="en-US" b="1" dirty="0"/>
              <a:t>=0;i&lt;5;i++)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(“%d”,&amp;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0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695A-DFEF-448E-8757-76147E028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4"/>
            <a:ext cx="10515600" cy="5997669"/>
          </a:xfrm>
        </p:spPr>
        <p:txBody>
          <a:bodyPr/>
          <a:lstStyle/>
          <a:p>
            <a:pPr lvl="0"/>
            <a:endParaRPr lang="en-US" sz="3600" b="1" dirty="0"/>
          </a:p>
          <a:p>
            <a:pPr lvl="0"/>
            <a:r>
              <a:rPr lang="en-US" sz="3600" b="1" dirty="0"/>
              <a:t>Method 4:</a:t>
            </a:r>
          </a:p>
          <a:p>
            <a:pPr marL="0" indent="0">
              <a:buNone/>
            </a:pPr>
            <a:r>
              <a:rPr lang="en-US" sz="3600" dirty="0"/>
              <a:t>int </a:t>
            </a:r>
            <a:r>
              <a:rPr lang="en-US" sz="3600" dirty="0" err="1"/>
              <a:t>arr</a:t>
            </a:r>
            <a:r>
              <a:rPr lang="en-US" sz="3600" dirty="0"/>
              <a:t>[5];</a:t>
            </a:r>
          </a:p>
          <a:p>
            <a:pPr marL="0" indent="0">
              <a:buNone/>
            </a:pPr>
            <a:r>
              <a:rPr lang="en-US" sz="3600" dirty="0" err="1"/>
              <a:t>arr</a:t>
            </a:r>
            <a:r>
              <a:rPr lang="en-US" sz="3600" dirty="0"/>
              <a:t>[0]=1;</a:t>
            </a:r>
          </a:p>
          <a:p>
            <a:pPr marL="0" indent="0">
              <a:buNone/>
            </a:pPr>
            <a:r>
              <a:rPr lang="en-US" sz="3600" dirty="0" err="1"/>
              <a:t>arr</a:t>
            </a:r>
            <a:r>
              <a:rPr lang="en-US" sz="3600" dirty="0"/>
              <a:t>[1]=2;</a:t>
            </a:r>
          </a:p>
          <a:p>
            <a:pPr marL="0" indent="0">
              <a:buNone/>
            </a:pPr>
            <a:r>
              <a:rPr lang="en-US" sz="3600" dirty="0" err="1"/>
              <a:t>arr</a:t>
            </a:r>
            <a:r>
              <a:rPr lang="en-US" sz="3600" dirty="0"/>
              <a:t>[2]=3;</a:t>
            </a:r>
          </a:p>
          <a:p>
            <a:pPr marL="0" indent="0">
              <a:buNone/>
            </a:pPr>
            <a:r>
              <a:rPr lang="en-US" sz="3600" dirty="0" err="1"/>
              <a:t>arr</a:t>
            </a:r>
            <a:r>
              <a:rPr lang="en-US" sz="3600" dirty="0"/>
              <a:t>[3]=4;</a:t>
            </a:r>
          </a:p>
          <a:p>
            <a:pPr marL="0" indent="0">
              <a:buNone/>
            </a:pPr>
            <a:r>
              <a:rPr lang="en-US" sz="3600" dirty="0" err="1"/>
              <a:t>arr</a:t>
            </a:r>
            <a:r>
              <a:rPr lang="en-US" sz="3600" dirty="0"/>
              <a:t>[4]=5;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925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CF27-3434-44C5-AC4A-5BC6A718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1529323"/>
          </a:xfrm>
        </p:spPr>
        <p:txBody>
          <a:bodyPr>
            <a:normAutofit/>
          </a:bodyPr>
          <a:lstStyle/>
          <a:p>
            <a:r>
              <a:rPr lang="en-US" b="1" dirty="0"/>
              <a:t>How Can You Access Elements of Arrays in Data Structures?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F0F4A-1595-42E5-AC52-BAC592CBB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565"/>
            <a:ext cx="10515600" cy="5316070"/>
          </a:xfrm>
        </p:spPr>
        <p:txBody>
          <a:bodyPr/>
          <a:lstStyle/>
          <a:p>
            <a:r>
              <a:rPr lang="en-US" dirty="0"/>
              <a:t>You can </a:t>
            </a:r>
            <a:r>
              <a:rPr lang="en-US" b="1" dirty="0"/>
              <a:t>access elements </a:t>
            </a:r>
            <a:r>
              <a:rPr lang="en-US" dirty="0"/>
              <a:t>with the help of </a:t>
            </a:r>
            <a:r>
              <a:rPr lang="en-US" b="1" dirty="0"/>
              <a:t>the index </a:t>
            </a:r>
            <a:r>
              <a:rPr lang="en-US" dirty="0"/>
              <a:t>at which you stored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array-access-img1">
            <a:extLst>
              <a:ext uri="{FF2B5EF4-FFF2-40B4-BE49-F238E27FC236}">
                <a16:creationId xmlns:a16="http://schemas.microsoft.com/office/drawing/2014/main" id="{93590002-7318-4040-AC7C-5108FB9963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847" y="2528047"/>
            <a:ext cx="10183906" cy="2949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261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F0B5F-93DE-4AA1-BCC6-7FC093310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6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program: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6C6EA-D58C-4F58-AF56-F17DD94D2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58808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a[5] = {2, 3, 5, 7, 11};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(“%d\</a:t>
            </a:r>
            <a:r>
              <a:rPr lang="en-US" b="1" dirty="0" err="1"/>
              <a:t>n”,a</a:t>
            </a:r>
            <a:r>
              <a:rPr lang="en-US" b="1" dirty="0"/>
              <a:t>[0]); // we are accessing 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(“%d\</a:t>
            </a:r>
            <a:r>
              <a:rPr lang="en-US" b="1" dirty="0" err="1"/>
              <a:t>n”,a</a:t>
            </a:r>
            <a:r>
              <a:rPr lang="en-US" b="1" dirty="0"/>
              <a:t>[1]);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(“%d\</a:t>
            </a:r>
            <a:r>
              <a:rPr lang="en-US" b="1" dirty="0" err="1"/>
              <a:t>n”,a</a:t>
            </a:r>
            <a:r>
              <a:rPr lang="en-US" b="1" dirty="0"/>
              <a:t>[2]);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(“%d\</a:t>
            </a:r>
            <a:r>
              <a:rPr lang="en-US" b="1" dirty="0" err="1"/>
              <a:t>n”,a</a:t>
            </a:r>
            <a:r>
              <a:rPr lang="en-US" b="1" dirty="0"/>
              <a:t>[3]);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</a:t>
            </a:r>
            <a:r>
              <a:rPr lang="en-US" b="1" dirty="0" err="1"/>
              <a:t>d”,a</a:t>
            </a:r>
            <a:r>
              <a:rPr lang="en-US" b="1" dirty="0"/>
              <a:t>[4]);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130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0D91-092D-4F0F-947D-28505467F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array-access-img2">
            <a:extLst>
              <a:ext uri="{FF2B5EF4-FFF2-40B4-BE49-F238E27FC236}">
                <a16:creationId xmlns:a16="http://schemas.microsoft.com/office/drawing/2014/main" id="{9F7590B3-8D82-4A90-AC53-2F7DE9094F9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412" y="1308847"/>
            <a:ext cx="10058400" cy="4589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81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7910-9451-41DE-8224-6B3E1941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5439"/>
          </a:xfrm>
        </p:spPr>
        <p:txBody>
          <a:bodyPr>
            <a:noAutofit/>
          </a:bodyPr>
          <a:lstStyle/>
          <a:p>
            <a:r>
              <a:rPr lang="en-US" b="1" dirty="0"/>
              <a:t>What Operations Can You Perform on an Array?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BC1C6-9DBE-4C52-8D3E-1E905FACE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224"/>
            <a:ext cx="10515600" cy="4455739"/>
          </a:xfrm>
        </p:spPr>
        <p:txBody>
          <a:bodyPr/>
          <a:lstStyle/>
          <a:p>
            <a:pPr lvl="0"/>
            <a:r>
              <a:rPr lang="en-US" sz="4000" dirty="0"/>
              <a:t>Traversal</a:t>
            </a:r>
          </a:p>
          <a:p>
            <a:pPr lvl="0"/>
            <a:r>
              <a:rPr lang="en-US" sz="4000" dirty="0"/>
              <a:t>Insertion</a:t>
            </a:r>
          </a:p>
          <a:p>
            <a:pPr lvl="0"/>
            <a:r>
              <a:rPr lang="en-US" sz="4000" dirty="0"/>
              <a:t>Deletion</a:t>
            </a:r>
          </a:p>
          <a:p>
            <a:pPr lvl="0"/>
            <a:r>
              <a:rPr lang="en-US" sz="4000" dirty="0"/>
              <a:t>Searching</a:t>
            </a:r>
          </a:p>
          <a:p>
            <a:pPr lvl="0"/>
            <a:r>
              <a:rPr lang="en-US" sz="4000" dirty="0"/>
              <a:t>Sorting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7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9C1E7-CE3C-488D-80B4-A5D1D28D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255059"/>
          </a:xfrm>
        </p:spPr>
        <p:txBody>
          <a:bodyPr/>
          <a:lstStyle/>
          <a:p>
            <a:r>
              <a:rPr lang="en-US" b="1" dirty="0"/>
              <a:t>Traversing the Array: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4617-5A80-42F8-B6C2-3FE13602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65059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Traversal in an array is a process of </a:t>
            </a:r>
            <a:r>
              <a:rPr lang="en-US" sz="4000" b="1" dirty="0"/>
              <a:t>visiting</a:t>
            </a:r>
            <a:r>
              <a:rPr lang="en-US" sz="4000" dirty="0"/>
              <a:t> each element once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op-traverse-img1">
            <a:extLst>
              <a:ext uri="{FF2B5EF4-FFF2-40B4-BE49-F238E27FC236}">
                <a16:creationId xmlns:a16="http://schemas.microsoft.com/office/drawing/2014/main" id="{75F79DB6-BB1A-42E6-81F6-10DC4C3FBCF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38462"/>
            <a:ext cx="10515600" cy="25479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08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C112-C4A4-4B4A-AA8E-B67401A0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0"/>
            <a:ext cx="10515600" cy="5737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 program for array traversal: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07AE-B52B-4C01-BC02-B29D61E5F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1623"/>
            <a:ext cx="10515600" cy="55760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a[5] = {2, 3, 5, 7, 11};</a:t>
            </a:r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=0;i&lt;5;i++)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//traversing </a:t>
            </a:r>
            <a:r>
              <a:rPr lang="en-US" dirty="0" err="1"/>
              <a:t>ith</a:t>
            </a:r>
            <a:r>
              <a:rPr lang="en-US" dirty="0"/>
              <a:t> element in the array</a:t>
            </a:r>
          </a:p>
          <a:p>
            <a:pPr marL="0" indent="0">
              <a:buNone/>
            </a:pPr>
            <a:r>
              <a:rPr lang="en-US" b="1" dirty="0" err="1"/>
              <a:t>printf</a:t>
            </a:r>
            <a:r>
              <a:rPr lang="en-US" b="1" dirty="0"/>
              <a:t>(“%d\</a:t>
            </a:r>
            <a:r>
              <a:rPr lang="en-US" b="1" dirty="0" err="1"/>
              <a:t>n”,a</a:t>
            </a:r>
            <a:r>
              <a:rPr lang="en-US" b="1" dirty="0"/>
              <a:t>[</a:t>
            </a:r>
            <a:r>
              <a:rPr lang="en-US" b="1" dirty="0" err="1"/>
              <a:t>i</a:t>
            </a:r>
            <a:r>
              <a:rPr lang="en-US" b="1" dirty="0"/>
              <a:t>]);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32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AE28-D1E4-438E-8D7F-E29CF5AB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06"/>
            <a:ext cx="10515600" cy="5555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traverse-img2">
            <a:extLst>
              <a:ext uri="{FF2B5EF4-FFF2-40B4-BE49-F238E27FC236}">
                <a16:creationId xmlns:a16="http://schemas.microsoft.com/office/drawing/2014/main" id="{BFF75651-0181-4A04-9B2F-C333738A514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21976"/>
            <a:ext cx="10815918" cy="5271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428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0BA0-FC27-4E46-AC30-4689DFC5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788895"/>
          </a:xfrm>
        </p:spPr>
        <p:txBody>
          <a:bodyPr>
            <a:normAutofit/>
          </a:bodyPr>
          <a:lstStyle/>
          <a:p>
            <a:r>
              <a:rPr lang="en-US" b="1" dirty="0"/>
              <a:t>Insertion in an Array: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F60E9-2DD3-444B-A98A-397FCBD34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836"/>
            <a:ext cx="10515600" cy="58001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Insertion in an array is the </a:t>
            </a:r>
            <a:r>
              <a:rPr lang="en-US" b="1" dirty="0"/>
              <a:t>process of including/adding one or more elements in an array.</a:t>
            </a:r>
          </a:p>
          <a:p>
            <a:pPr marL="0" indent="0">
              <a:buNone/>
            </a:pPr>
            <a:r>
              <a:rPr lang="en-US" dirty="0"/>
              <a:t>Insertion of an element can be done:</a:t>
            </a:r>
          </a:p>
          <a:p>
            <a:pPr lvl="0"/>
            <a:r>
              <a:rPr lang="en-US" dirty="0"/>
              <a:t>At the beginning</a:t>
            </a:r>
          </a:p>
          <a:p>
            <a:pPr lvl="0"/>
            <a:r>
              <a:rPr lang="en-US" dirty="0"/>
              <a:t>At the end and</a:t>
            </a:r>
          </a:p>
          <a:p>
            <a:pPr lvl="0"/>
            <a:r>
              <a:rPr lang="en-US" dirty="0"/>
              <a:t>At any given index of an array.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op-insertion-img1">
            <a:extLst>
              <a:ext uri="{FF2B5EF4-FFF2-40B4-BE49-F238E27FC236}">
                <a16:creationId xmlns:a16="http://schemas.microsoft.com/office/drawing/2014/main" id="{3FB243AF-F3FB-4AC1-9C0E-B7D8B8C1CC5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3944471"/>
            <a:ext cx="10295964" cy="2420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698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9376-B1BC-48B7-AED0-840AFAF6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4"/>
            <a:ext cx="10515600" cy="5017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 the Beginning: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1ACD5-EB27-42A6-95A4-4F70D4CEF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9976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   int array[10], </a:t>
            </a:r>
            <a:r>
              <a:rPr lang="en-US" dirty="0" err="1"/>
              <a:t>n,i</a:t>
            </a:r>
            <a:r>
              <a:rPr lang="en-US" dirty="0"/>
              <a:t>, item;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printf</a:t>
            </a:r>
            <a:r>
              <a:rPr lang="en-US" dirty="0"/>
              <a:t>("Enter the size of array: ");</a:t>
            </a:r>
          </a:p>
          <a:p>
            <a:pPr marL="0" indent="0">
              <a:buNone/>
            </a:pPr>
            <a:r>
              <a:rPr lang="en-US" dirty="0"/>
              <a:t>     </a:t>
            </a:r>
            <a:r>
              <a:rPr lang="en-US" dirty="0" err="1"/>
              <a:t>scanf</a:t>
            </a:r>
            <a:r>
              <a:rPr lang="en-US" dirty="0"/>
              <a:t>("%d", &amp;n);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Elements in array: ");</a:t>
            </a:r>
          </a:p>
          <a:p>
            <a:pPr marL="0" indent="0">
              <a:buNone/>
            </a:pPr>
            <a:r>
              <a:rPr lang="en-US" dirty="0"/>
              <a:t>        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       {</a:t>
            </a:r>
          </a:p>
          <a:p>
            <a:pPr marL="0" indent="0">
              <a:buNone/>
            </a:pPr>
            <a:r>
              <a:rPr lang="en-US" dirty="0"/>
              <a:t>         </a:t>
            </a:r>
            <a:r>
              <a:rPr lang="en-US" dirty="0" err="1"/>
              <a:t>scanf</a:t>
            </a:r>
            <a:r>
              <a:rPr lang="en-US" dirty="0"/>
              <a:t>("%d", &amp;array[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       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602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61BDB-8519-4F6E-9AFE-A918076A2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012"/>
            <a:ext cx="10515600" cy="66069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printf</a:t>
            </a:r>
            <a:r>
              <a:rPr lang="en-US" dirty="0"/>
              <a:t>("\n enter the element at the beginning");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scanf</a:t>
            </a:r>
            <a:r>
              <a:rPr lang="en-US" dirty="0"/>
              <a:t>("%d", &amp;item);</a:t>
            </a:r>
          </a:p>
          <a:p>
            <a:pPr marL="0" indent="0">
              <a:buNone/>
            </a:pPr>
            <a:r>
              <a:rPr lang="en-US" dirty="0"/>
              <a:t>    n++;</a:t>
            </a:r>
          </a:p>
          <a:p>
            <a:pPr marL="0" indent="0">
              <a:buNone/>
            </a:pPr>
            <a:r>
              <a:rPr lang="en-US" dirty="0"/>
              <a:t>    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&gt;1; </a:t>
            </a:r>
            <a:r>
              <a:rPr lang="en-US" dirty="0" err="1"/>
              <a:t>i</a:t>
            </a:r>
            <a:r>
              <a:rPr lang="en-US" dirty="0"/>
              <a:t>--)</a:t>
            </a:r>
          </a:p>
          <a:p>
            <a:pPr marL="0" indent="0">
              <a:buNone/>
            </a:pPr>
            <a:r>
              <a:rPr lang="en-US" dirty="0"/>
              <a:t>    {</a:t>
            </a:r>
          </a:p>
          <a:p>
            <a:pPr marL="0" indent="0">
              <a:buNone/>
            </a:pPr>
            <a:r>
              <a:rPr lang="en-US" dirty="0"/>
              <a:t>      </a:t>
            </a:r>
            <a:r>
              <a:rPr lang="en-US" b="1" dirty="0"/>
              <a:t>array[i-1]=array[i-2];</a:t>
            </a:r>
          </a:p>
          <a:p>
            <a:pPr marL="0" indent="0">
              <a:buNone/>
            </a:pPr>
            <a:r>
              <a:rPr lang="en-US" dirty="0"/>
              <a:t>    }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b="1" dirty="0"/>
              <a:t>array[0]=item;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printf</a:t>
            </a:r>
            <a:r>
              <a:rPr lang="en-US" dirty="0"/>
              <a:t>("resultant array element");</a:t>
            </a:r>
          </a:p>
          <a:p>
            <a:pPr marL="0" indent="0">
              <a:buNone/>
            </a:pPr>
            <a:r>
              <a:rPr lang="en-US" dirty="0"/>
              <a:t>    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   {</a:t>
            </a:r>
          </a:p>
          <a:p>
            <a:pPr marL="0" indent="0">
              <a:buNone/>
            </a:pPr>
            <a:r>
              <a:rPr lang="en-US" dirty="0"/>
              <a:t>     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n%d</a:t>
            </a:r>
            <a:r>
              <a:rPr lang="en-US" dirty="0"/>
              <a:t>", 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   }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    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587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FFEE-3010-4BDF-A8B7-20790545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851648"/>
          </a:xfrm>
        </p:spPr>
        <p:txBody>
          <a:bodyPr>
            <a:norm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4" name="Content Placeholder 3" descr="Arrays_in_ds-op-insertionbeg-img1">
            <a:extLst>
              <a:ext uri="{FF2B5EF4-FFF2-40B4-BE49-F238E27FC236}">
                <a16:creationId xmlns:a16="http://schemas.microsoft.com/office/drawing/2014/main" id="{032D954F-A25C-4246-83C8-CFC6E83D7DC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71" y="1004047"/>
            <a:ext cx="10762129" cy="5432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103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CB626-58D2-4870-AC1E-4BD016A6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6275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 the End: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564AE-34F1-440C-B64B-0B38A6753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472"/>
            <a:ext cx="10515600" cy="58270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array[10], </a:t>
            </a:r>
            <a:r>
              <a:rPr lang="en-US" dirty="0" err="1"/>
              <a:t>i</a:t>
            </a:r>
            <a:r>
              <a:rPr lang="en-US" dirty="0"/>
              <a:t>, values;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5 Array Elements: ");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&lt;5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    </a:t>
            </a:r>
            <a:r>
              <a:rPr lang="en-US" dirty="0" err="1"/>
              <a:t>scanf</a:t>
            </a:r>
            <a:r>
              <a:rPr lang="en-US" dirty="0"/>
              <a:t>("%d", &amp;array[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Element to Insert: ");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("%d", &amp;values);</a:t>
            </a:r>
          </a:p>
          <a:p>
            <a:pPr marL="0" indent="0">
              <a:buNone/>
            </a:pPr>
            <a:r>
              <a:rPr lang="en-US" b="1" dirty="0"/>
              <a:t>array[</a:t>
            </a:r>
            <a:r>
              <a:rPr lang="en-US" b="1" dirty="0" err="1"/>
              <a:t>i</a:t>
            </a:r>
            <a:r>
              <a:rPr lang="en-US" b="1" dirty="0"/>
              <a:t>] = values;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nThe</a:t>
            </a:r>
            <a:r>
              <a:rPr lang="en-US" dirty="0"/>
              <a:t> New Array is:\n");</a:t>
            </a:r>
          </a:p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&lt;6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    </a:t>
            </a:r>
            <a:r>
              <a:rPr lang="en-US" dirty="0" err="1"/>
              <a:t>printf</a:t>
            </a:r>
            <a:r>
              <a:rPr lang="en-US" dirty="0"/>
              <a:t>("%d ", 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667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E591-6303-4A09-BBC6-44EFBC46F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insertionend-img1">
            <a:extLst>
              <a:ext uri="{FF2B5EF4-FFF2-40B4-BE49-F238E27FC236}">
                <a16:creationId xmlns:a16="http://schemas.microsoft.com/office/drawing/2014/main" id="{951BF182-8974-4BB3-A9DF-F01E8353DB5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624" y="1093695"/>
            <a:ext cx="9592235" cy="53991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7946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FE1B-70FE-4B41-BEF8-8421EDEF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 a Specific Position: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36097-7F07-4927-86DD-CF459BA1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6119"/>
            <a:ext cx="10515600" cy="58718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int array[100], pos, size,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printf</a:t>
            </a:r>
            <a:r>
              <a:rPr lang="en-US" dirty="0"/>
              <a:t>("Enter size of the array:");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scanf</a:t>
            </a:r>
            <a:r>
              <a:rPr lang="en-US" dirty="0"/>
              <a:t>("%d", &amp;size);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%d elements\n", size);</a:t>
            </a:r>
          </a:p>
          <a:p>
            <a:pPr marL="0" indent="0">
              <a:buNone/>
            </a:pPr>
            <a:r>
              <a:rPr lang="en-US" dirty="0"/>
              <a:t> 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 </a:t>
            </a:r>
            <a:r>
              <a:rPr lang="en-US" dirty="0" err="1"/>
              <a:t>scanf</a:t>
            </a:r>
            <a:r>
              <a:rPr lang="en-US" dirty="0"/>
              <a:t>("%d", &amp;array[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printf</a:t>
            </a:r>
            <a:r>
              <a:rPr lang="en-US" dirty="0"/>
              <a:t>("Enter the insertion location\n");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55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6901-FCCF-45DA-AD95-FAF6D1A7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082"/>
            <a:ext cx="10515600" cy="6624918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scanf</a:t>
            </a:r>
            <a:r>
              <a:rPr lang="en-US" dirty="0"/>
              <a:t>("%d", &amp;pos);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printf</a:t>
            </a:r>
            <a:r>
              <a:rPr lang="en-US" dirty="0"/>
              <a:t>("Enter the value to insert\n");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val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b="1" dirty="0"/>
              <a:t>for (int </a:t>
            </a:r>
            <a:r>
              <a:rPr lang="en-US" b="1" dirty="0" err="1"/>
              <a:t>i</a:t>
            </a:r>
            <a:r>
              <a:rPr lang="en-US" b="1" dirty="0"/>
              <a:t> = size - 1; </a:t>
            </a:r>
            <a:r>
              <a:rPr lang="en-US" b="1" dirty="0" err="1"/>
              <a:t>i</a:t>
            </a:r>
            <a:r>
              <a:rPr lang="en-US" b="1" dirty="0"/>
              <a:t> &gt;= pos - 1; </a:t>
            </a:r>
            <a:r>
              <a:rPr lang="en-US" b="1" dirty="0" err="1"/>
              <a:t>i</a:t>
            </a:r>
            <a:r>
              <a:rPr lang="en-US" b="1" dirty="0"/>
              <a:t>--)</a:t>
            </a:r>
          </a:p>
          <a:p>
            <a:pPr marL="0" indent="0">
              <a:buNone/>
            </a:pPr>
            <a:r>
              <a:rPr lang="en-US" dirty="0"/>
              <a:t>  </a:t>
            </a:r>
            <a:r>
              <a:rPr lang="en-US" b="1" dirty="0"/>
              <a:t>array[i+1] = array[</a:t>
            </a:r>
            <a:r>
              <a:rPr lang="en-US" b="1" dirty="0" err="1"/>
              <a:t>i</a:t>
            </a:r>
            <a:r>
              <a:rPr lang="en-US" b="1" dirty="0"/>
              <a:t>];</a:t>
            </a:r>
          </a:p>
          <a:p>
            <a:pPr marL="0" indent="0">
              <a:buNone/>
            </a:pPr>
            <a:r>
              <a:rPr lang="en-US" b="1" dirty="0"/>
              <a:t> array[pos-1] = </a:t>
            </a:r>
            <a:r>
              <a:rPr lang="en-US" b="1" dirty="0" err="1"/>
              <a:t>val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printf</a:t>
            </a:r>
            <a:r>
              <a:rPr lang="en-US" dirty="0"/>
              <a:t>("Resultant array is\n");</a:t>
            </a:r>
          </a:p>
          <a:p>
            <a:pPr marL="0" indent="0">
              <a:buNone/>
            </a:pPr>
            <a:r>
              <a:rPr lang="en-US" dirty="0"/>
              <a:t> 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&lt;= size;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  </a:t>
            </a:r>
            <a:r>
              <a:rPr lang="en-US" dirty="0" err="1"/>
              <a:t>printf</a:t>
            </a:r>
            <a:r>
              <a:rPr lang="en-US" dirty="0"/>
              <a:t>("%d\n", 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400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FCD5-551D-47A6-AF7E-3E689F85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82"/>
            <a:ext cx="10515600" cy="735106"/>
          </a:xfrm>
        </p:spPr>
        <p:txBody>
          <a:bodyPr>
            <a:normAutofit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insertionpos-img1">
            <a:extLst>
              <a:ext uri="{FF2B5EF4-FFF2-40B4-BE49-F238E27FC236}">
                <a16:creationId xmlns:a16="http://schemas.microsoft.com/office/drawing/2014/main" id="{4CD9F5F8-D264-472C-8F91-E1B3F87EDA6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95" y="968188"/>
            <a:ext cx="10130118" cy="5656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4584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675D-66B7-44BF-A938-89E87EAB8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225"/>
            <a:ext cx="10515600" cy="609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Deletion in an Array: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39563-BE43-422E-BF1C-2E28F7CD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6825"/>
            <a:ext cx="10515600" cy="58539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Deletion of an element is the </a:t>
            </a:r>
            <a:r>
              <a:rPr lang="en-US" b="1" dirty="0"/>
              <a:t>process of removing the desired element </a:t>
            </a:r>
            <a:r>
              <a:rPr lang="en-US" dirty="0"/>
              <a:t>and re-organizing it.</a:t>
            </a:r>
          </a:p>
          <a:p>
            <a:pPr marL="0" indent="0">
              <a:buNone/>
            </a:pPr>
            <a:r>
              <a:rPr lang="en-US" dirty="0"/>
              <a:t>Deletion can be done in different ways:</a:t>
            </a:r>
          </a:p>
          <a:p>
            <a:pPr lvl="0"/>
            <a:r>
              <a:rPr lang="en-US" dirty="0"/>
              <a:t>At the beginning</a:t>
            </a:r>
          </a:p>
          <a:p>
            <a:pPr lvl="0"/>
            <a:r>
              <a:rPr lang="en-US" dirty="0"/>
              <a:t>At the end</a:t>
            </a:r>
          </a:p>
          <a:p>
            <a:pPr lvl="0"/>
            <a:r>
              <a:rPr lang="en-US" dirty="0"/>
              <a:t>At a specified location.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op-deletion-img1">
            <a:extLst>
              <a:ext uri="{FF2B5EF4-FFF2-40B4-BE49-F238E27FC236}">
                <a16:creationId xmlns:a16="http://schemas.microsoft.com/office/drawing/2014/main" id="{BA49AE38-DA21-4D09-8B2C-01B3E0A4CFD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752" y="3711388"/>
            <a:ext cx="7655859" cy="2949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0557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D403-5B59-46CE-B770-9E40A326A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20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 the Beginning: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0D5FE-9035-4F0B-AC0C-5C87FCD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30"/>
            <a:ext cx="10515600" cy="592566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#include&lt;</a:t>
            </a:r>
            <a:r>
              <a:rPr lang="en-US" sz="3200" dirty="0" err="1"/>
              <a:t>stdio.h</a:t>
            </a:r>
            <a:r>
              <a:rPr lang="en-US" sz="3200" dirty="0"/>
              <a:t>&gt;</a:t>
            </a:r>
          </a:p>
          <a:p>
            <a:pPr marL="0" indent="0">
              <a:buNone/>
            </a:pPr>
            <a:r>
              <a:rPr lang="en-US" sz="3200" dirty="0"/>
              <a:t>int main()</a:t>
            </a:r>
          </a:p>
          <a:p>
            <a:pPr marL="0" indent="0">
              <a:buNone/>
            </a:pPr>
            <a:r>
              <a:rPr lang="en-US" sz="3200" dirty="0"/>
              <a:t>{</a:t>
            </a:r>
          </a:p>
          <a:p>
            <a:pPr marL="0" indent="0">
              <a:buNone/>
            </a:pPr>
            <a:r>
              <a:rPr lang="en-US" sz="3200" dirty="0"/>
              <a:t>    int </a:t>
            </a:r>
            <a:r>
              <a:rPr lang="en-US" sz="3200" dirty="0" err="1"/>
              <a:t>n,array</a:t>
            </a:r>
            <a:r>
              <a:rPr lang="en-US" sz="3200" dirty="0"/>
              <a:t>[10];</a:t>
            </a:r>
          </a:p>
          <a:p>
            <a:pPr marL="0" indent="0">
              <a:buNone/>
            </a:pPr>
            <a:r>
              <a:rPr lang="en-US" sz="3200" dirty="0"/>
              <a:t>    </a:t>
            </a:r>
            <a:r>
              <a:rPr lang="en-US" sz="3200" dirty="0" err="1"/>
              <a:t>printf</a:t>
            </a:r>
            <a:r>
              <a:rPr lang="en-US" sz="3200" dirty="0"/>
              <a:t>("enter the size of an array");</a:t>
            </a:r>
          </a:p>
          <a:p>
            <a:pPr marL="0" indent="0">
              <a:buNone/>
            </a:pPr>
            <a:r>
              <a:rPr lang="en-US" sz="3200" dirty="0"/>
              <a:t>    </a:t>
            </a:r>
            <a:r>
              <a:rPr lang="en-US" sz="3200" dirty="0" err="1"/>
              <a:t>scanf</a:t>
            </a:r>
            <a:r>
              <a:rPr lang="en-US" sz="3200" dirty="0"/>
              <a:t>("%d" ,&amp;n);</a:t>
            </a:r>
          </a:p>
          <a:p>
            <a:pPr marL="0" indent="0">
              <a:buNone/>
            </a:pPr>
            <a:r>
              <a:rPr lang="en-US" sz="3200" dirty="0"/>
              <a:t>    </a:t>
            </a:r>
            <a:r>
              <a:rPr lang="en-US" sz="3200" dirty="0" err="1"/>
              <a:t>printf</a:t>
            </a:r>
            <a:r>
              <a:rPr lang="en-US" sz="3200" dirty="0"/>
              <a:t>("enter elements in an array");</a:t>
            </a:r>
          </a:p>
          <a:p>
            <a:pPr marL="0" indent="0">
              <a:buNone/>
            </a:pPr>
            <a:r>
              <a:rPr lang="en-US" sz="3200" dirty="0"/>
              <a:t>    for(int </a:t>
            </a:r>
            <a:r>
              <a:rPr lang="en-US" sz="3200" dirty="0" err="1"/>
              <a:t>i</a:t>
            </a:r>
            <a:r>
              <a:rPr lang="en-US" sz="3200" dirty="0"/>
              <a:t>=0;i&lt;</a:t>
            </a:r>
            <a:r>
              <a:rPr lang="en-US" sz="3200" dirty="0" err="1"/>
              <a:t>n;i</a:t>
            </a:r>
            <a:r>
              <a:rPr lang="en-US" sz="3200" dirty="0"/>
              <a:t>++)</a:t>
            </a:r>
          </a:p>
          <a:p>
            <a:pPr marL="0" indent="0">
              <a:buNone/>
            </a:pPr>
            <a:r>
              <a:rPr lang="en-US" sz="3200" dirty="0"/>
              <a:t>     </a:t>
            </a:r>
            <a:r>
              <a:rPr lang="en-US" sz="3200" dirty="0" err="1"/>
              <a:t>scanf</a:t>
            </a:r>
            <a:r>
              <a:rPr lang="en-US" sz="3200" dirty="0"/>
              <a:t>("%d", &amp;array[</a:t>
            </a:r>
            <a:r>
              <a:rPr lang="en-US" sz="3200" dirty="0" err="1"/>
              <a:t>i</a:t>
            </a:r>
            <a:r>
              <a:rPr lang="en-US" sz="3200" dirty="0"/>
              <a:t>]);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4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240C-B531-42DA-8A63-1F3B0B839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870"/>
            <a:ext cx="10515600" cy="6364941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/>
              <a:t> </a:t>
            </a:r>
          </a:p>
          <a:p>
            <a:pPr marL="0" indent="0">
              <a:buNone/>
            </a:pPr>
            <a:r>
              <a:rPr lang="en-US" sz="4400" dirty="0"/>
              <a:t>    </a:t>
            </a:r>
            <a:r>
              <a:rPr lang="en-US" sz="4400" b="1" dirty="0"/>
              <a:t>n--;</a:t>
            </a:r>
          </a:p>
          <a:p>
            <a:pPr marL="0" indent="0">
              <a:buNone/>
            </a:pPr>
            <a:r>
              <a:rPr lang="en-US" sz="4400" dirty="0"/>
              <a:t>    for(int </a:t>
            </a:r>
            <a:r>
              <a:rPr lang="en-US" sz="4400" dirty="0" err="1"/>
              <a:t>i</a:t>
            </a:r>
            <a:r>
              <a:rPr lang="en-US" sz="4400" dirty="0"/>
              <a:t>=0;i&lt;</a:t>
            </a:r>
            <a:r>
              <a:rPr lang="en-US" sz="4400" dirty="0" err="1"/>
              <a:t>n;i</a:t>
            </a:r>
            <a:r>
              <a:rPr lang="en-US" sz="4400" dirty="0"/>
              <a:t>++)</a:t>
            </a:r>
          </a:p>
          <a:p>
            <a:pPr marL="0" indent="0">
              <a:buNone/>
            </a:pPr>
            <a:r>
              <a:rPr lang="en-US" sz="4400" dirty="0"/>
              <a:t>     </a:t>
            </a:r>
            <a:r>
              <a:rPr lang="en-US" sz="4400" b="1" dirty="0"/>
              <a:t>array[</a:t>
            </a:r>
            <a:r>
              <a:rPr lang="en-US" sz="4400" b="1" dirty="0" err="1"/>
              <a:t>i</a:t>
            </a:r>
            <a:r>
              <a:rPr lang="en-US" sz="4400" b="1" dirty="0"/>
              <a:t>]=array[i+1];</a:t>
            </a:r>
          </a:p>
          <a:p>
            <a:pPr marL="0" indent="0">
              <a:buNone/>
            </a:pPr>
            <a:r>
              <a:rPr lang="en-US" sz="4400" dirty="0"/>
              <a:t>    </a:t>
            </a:r>
            <a:r>
              <a:rPr lang="en-US" sz="4400" dirty="0" err="1"/>
              <a:t>printf</a:t>
            </a:r>
            <a:r>
              <a:rPr lang="en-US" sz="4400" dirty="0"/>
              <a:t>("\</a:t>
            </a:r>
            <a:r>
              <a:rPr lang="en-US" sz="4400" dirty="0" err="1"/>
              <a:t>nafter</a:t>
            </a:r>
            <a:r>
              <a:rPr lang="en-US" sz="4400" dirty="0"/>
              <a:t> deletion ");</a:t>
            </a:r>
          </a:p>
          <a:p>
            <a:pPr marL="0" indent="0">
              <a:buNone/>
            </a:pPr>
            <a:r>
              <a:rPr lang="en-US" sz="4400" dirty="0"/>
              <a:t>     for(int </a:t>
            </a:r>
            <a:r>
              <a:rPr lang="en-US" sz="4400" dirty="0" err="1"/>
              <a:t>i</a:t>
            </a:r>
            <a:r>
              <a:rPr lang="en-US" sz="4400" dirty="0"/>
              <a:t>=0;i&lt;</a:t>
            </a:r>
            <a:r>
              <a:rPr lang="en-US" sz="4400" dirty="0" err="1"/>
              <a:t>n;i</a:t>
            </a:r>
            <a:r>
              <a:rPr lang="en-US" sz="4400" dirty="0"/>
              <a:t>++)</a:t>
            </a:r>
          </a:p>
          <a:p>
            <a:pPr marL="0" indent="0">
              <a:buNone/>
            </a:pPr>
            <a:r>
              <a:rPr lang="en-US" sz="4400" dirty="0"/>
              <a:t>     </a:t>
            </a:r>
            <a:r>
              <a:rPr lang="en-US" sz="4400" dirty="0" err="1"/>
              <a:t>printf</a:t>
            </a:r>
            <a:r>
              <a:rPr lang="en-US" sz="4400" dirty="0"/>
              <a:t>("\</a:t>
            </a:r>
            <a:r>
              <a:rPr lang="en-US" sz="4400" dirty="0" err="1"/>
              <a:t>n%d</a:t>
            </a:r>
            <a:r>
              <a:rPr lang="en-US" sz="4400" dirty="0"/>
              <a:t>" , array[</a:t>
            </a:r>
            <a:r>
              <a:rPr lang="en-US" sz="4400" dirty="0" err="1"/>
              <a:t>i</a:t>
            </a:r>
            <a:r>
              <a:rPr lang="en-US" sz="4400" dirty="0"/>
              <a:t>]);</a:t>
            </a:r>
          </a:p>
          <a:p>
            <a:pPr marL="0" indent="0">
              <a:buNone/>
            </a:pPr>
            <a:r>
              <a:rPr lang="en-US" sz="44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68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64BE-6CE4-4221-9BB9-9E4ABF64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5196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deletionbeg-img1">
            <a:extLst>
              <a:ext uri="{FF2B5EF4-FFF2-40B4-BE49-F238E27FC236}">
                <a16:creationId xmlns:a16="http://schemas.microsoft.com/office/drawing/2014/main" id="{1B0D94C1-EBB3-403A-BCC8-32FD3EA664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681038"/>
            <a:ext cx="10278035" cy="5773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4962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3B62-45DC-4FAA-88CE-3DF8306A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153"/>
            <a:ext cx="10515600" cy="950259"/>
          </a:xfrm>
        </p:spPr>
        <p:txBody>
          <a:bodyPr>
            <a:normAutofit/>
          </a:bodyPr>
          <a:lstStyle/>
          <a:p>
            <a:r>
              <a:rPr lang="en-US" b="1" dirty="0"/>
              <a:t>At the End: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2794-891E-4CBC-B59A-8E5F319F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60332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n,array</a:t>
            </a:r>
            <a:r>
              <a:rPr lang="en-US" dirty="0"/>
              <a:t>[10];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the size of an array");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("%d" ,&amp;n);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("enter elements in an array");</a:t>
            </a:r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=0;</a:t>
            </a:r>
            <a:r>
              <a:rPr lang="en-US" b="1" dirty="0"/>
              <a:t>i&lt;</a:t>
            </a:r>
            <a:r>
              <a:rPr lang="en-US" b="1" dirty="0" err="1"/>
              <a:t>n;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 err="1"/>
              <a:t>scanf</a:t>
            </a:r>
            <a:r>
              <a:rPr lang="en-US" dirty="0"/>
              <a:t>("%d", &amp;array[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nafter</a:t>
            </a:r>
            <a:r>
              <a:rPr lang="en-US" dirty="0"/>
              <a:t> deletion array elements are");</a:t>
            </a:r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=0;</a:t>
            </a:r>
            <a:r>
              <a:rPr lang="en-US" b="1" dirty="0"/>
              <a:t>i&lt;n-1;</a:t>
            </a:r>
            <a:r>
              <a:rPr lang="en-US" dirty="0"/>
              <a:t>i++)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n%d</a:t>
            </a:r>
            <a:r>
              <a:rPr lang="en-US" dirty="0"/>
              <a:t>" , 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6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4011-20CA-4D04-A873-95590459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82"/>
            <a:ext cx="10515600" cy="44795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deletionend-img1">
            <a:extLst>
              <a:ext uri="{FF2B5EF4-FFF2-40B4-BE49-F238E27FC236}">
                <a16:creationId xmlns:a16="http://schemas.microsoft.com/office/drawing/2014/main" id="{55E21B22-F3CB-40B8-9BB4-3412D771898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06824"/>
            <a:ext cx="10367682" cy="5593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5427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4307-F4FA-4EC2-991F-C57E9EBA8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013"/>
            <a:ext cx="10515600" cy="788894"/>
          </a:xfrm>
        </p:spPr>
        <p:txBody>
          <a:bodyPr>
            <a:normAutofit/>
          </a:bodyPr>
          <a:lstStyle/>
          <a:p>
            <a:r>
              <a:rPr lang="en-US" b="1" dirty="0"/>
              <a:t>Searching for an Element: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6239-0A30-493E-9191-0239B99B3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907"/>
            <a:ext cx="10515600" cy="58180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method of </a:t>
            </a:r>
            <a:r>
              <a:rPr lang="en-US" b="1" dirty="0"/>
              <a:t>searching/finding for a specific value </a:t>
            </a:r>
            <a:r>
              <a:rPr lang="en-US" dirty="0"/>
              <a:t>in an array is known as searching.</a:t>
            </a:r>
          </a:p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two ways </a:t>
            </a:r>
            <a:r>
              <a:rPr lang="en-US" dirty="0"/>
              <a:t>we can search in an array, they are:</a:t>
            </a:r>
          </a:p>
          <a:p>
            <a:pPr lvl="0"/>
            <a:r>
              <a:rPr lang="en-US" b="1" dirty="0"/>
              <a:t>Linear search</a:t>
            </a:r>
          </a:p>
          <a:p>
            <a:pPr lvl="0"/>
            <a:r>
              <a:rPr lang="en-US" b="1" dirty="0"/>
              <a:t>Binary search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rrays_in_ds-op-search-img1.">
            <a:extLst>
              <a:ext uri="{FF2B5EF4-FFF2-40B4-BE49-F238E27FC236}">
                <a16:creationId xmlns:a16="http://schemas.microsoft.com/office/drawing/2014/main" id="{3A84B05E-705B-459F-8411-A492D440EB7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82" y="3429000"/>
            <a:ext cx="10206317" cy="31779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0581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37DC-92F8-4775-8F4C-0626CD2E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6633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Linear Search: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82FC-D537-4A02-97FC-34988F66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4754"/>
            <a:ext cx="10515600" cy="5871881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A linear search is the </a:t>
            </a:r>
            <a:r>
              <a:rPr lang="en-US" sz="3200" b="1" dirty="0"/>
              <a:t>simplest approach </a:t>
            </a:r>
            <a:r>
              <a:rPr lang="en-US" sz="3200" dirty="0"/>
              <a:t>employed to </a:t>
            </a:r>
            <a:r>
              <a:rPr lang="en-US" sz="3200" b="1" dirty="0"/>
              <a:t>search for an element in a data set.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It </a:t>
            </a:r>
            <a:r>
              <a:rPr lang="en-US" sz="3200" b="1" dirty="0"/>
              <a:t>examines each element until it finds a match, starting at the beginning of the data set, until the end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search is finished and terminated once the target element is located.</a:t>
            </a:r>
            <a:r>
              <a:rPr lang="en-US" sz="3200" dirty="0"/>
              <a:t> If it </a:t>
            </a:r>
            <a:r>
              <a:rPr lang="en-US" sz="3200" b="1" dirty="0"/>
              <a:t>finds no match, the algorithm must terminate its execution and return an appropriate result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 linear search algorithm is easy to implement and efficient </a:t>
            </a:r>
            <a:r>
              <a:rPr lang="en-US" sz="3200" b="1" dirty="0"/>
              <a:t>in two scenarios:</a:t>
            </a:r>
          </a:p>
          <a:p>
            <a:pPr lvl="0"/>
            <a:r>
              <a:rPr lang="en-US" sz="3200" dirty="0"/>
              <a:t>When the array </a:t>
            </a:r>
            <a:r>
              <a:rPr lang="en-US" sz="3200" b="1" dirty="0"/>
              <a:t>contains lesser elements.</a:t>
            </a:r>
            <a:endParaRPr lang="en-US" sz="3200" dirty="0"/>
          </a:p>
          <a:p>
            <a:pPr lvl="0"/>
            <a:r>
              <a:rPr lang="en-US" sz="3200" dirty="0"/>
              <a:t>When searching for a </a:t>
            </a:r>
            <a:r>
              <a:rPr lang="en-US" sz="3200" b="1" dirty="0"/>
              <a:t>single element in an unordered array.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51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9C0B0-A6D8-46C1-B167-FE10FA0A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329"/>
            <a:ext cx="10515600" cy="851647"/>
          </a:xfrm>
        </p:spPr>
        <p:txBody>
          <a:bodyPr>
            <a:normAutofit/>
          </a:bodyPr>
          <a:lstStyle/>
          <a:p>
            <a:r>
              <a:rPr lang="en-US" b="1" dirty="0"/>
              <a:t>What Is a Linear Search Algorithm?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44B54-CE0B-4ED6-86E6-8DC610DF9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976"/>
            <a:ext cx="10515600" cy="5836024"/>
          </a:xfrm>
        </p:spPr>
        <p:txBody>
          <a:bodyPr/>
          <a:lstStyle/>
          <a:p>
            <a:r>
              <a:rPr lang="en-US" dirty="0"/>
              <a:t>Linear search, often known as </a:t>
            </a:r>
            <a:r>
              <a:rPr lang="en-US" b="1" dirty="0"/>
              <a:t>sequential search</a:t>
            </a:r>
            <a:r>
              <a:rPr lang="en-US" dirty="0"/>
              <a:t>, is the </a:t>
            </a:r>
            <a:r>
              <a:rPr lang="en-US" b="1" dirty="0"/>
              <a:t>most basic search technique</a:t>
            </a:r>
            <a:r>
              <a:rPr lang="en-US" dirty="0"/>
              <a:t>. </a:t>
            </a:r>
          </a:p>
          <a:p>
            <a:r>
              <a:rPr lang="en-US" dirty="0"/>
              <a:t>In this type of search, you go through the </a:t>
            </a:r>
            <a:r>
              <a:rPr lang="en-US" b="1" dirty="0"/>
              <a:t>entire list and try to fetch a match for a single element</a:t>
            </a:r>
            <a:r>
              <a:rPr lang="en-US" dirty="0"/>
              <a:t>. </a:t>
            </a:r>
          </a:p>
          <a:p>
            <a:r>
              <a:rPr lang="en-US" dirty="0"/>
              <a:t>If you </a:t>
            </a:r>
            <a:r>
              <a:rPr lang="en-US" b="1" dirty="0"/>
              <a:t>find a match, then the address of the matching target element is returned. </a:t>
            </a:r>
            <a:r>
              <a:rPr lang="en-US" dirty="0"/>
              <a:t>On the other hand, </a:t>
            </a:r>
            <a:r>
              <a:rPr lang="en-US" b="1" dirty="0"/>
              <a:t>if the element is not found, then it returns a NULL value. </a:t>
            </a:r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what-is-linear-search-algorithm.">
            <a:extLst>
              <a:ext uri="{FF2B5EF4-FFF2-40B4-BE49-F238E27FC236}">
                <a16:creationId xmlns:a16="http://schemas.microsoft.com/office/drawing/2014/main" id="{A212BCDE-A212-41F8-B7DD-E3953745F9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553" y="4105836"/>
            <a:ext cx="9950823" cy="27521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24835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FA50-5634-4787-9C69-A99F5C34E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87854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Step-by-step approach employed to perform Linear Search: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48D67-BA1C-4EA4-9D79-114DD68F5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541"/>
            <a:ext cx="10515600" cy="580913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Step 1</a:t>
            </a:r>
            <a:r>
              <a:rPr lang="en-US" dirty="0"/>
              <a:t>: First, read the search element (Target element) in the array.</a:t>
            </a:r>
          </a:p>
          <a:p>
            <a:pPr marL="0" indent="0">
              <a:buNone/>
            </a:pPr>
            <a:r>
              <a:rPr lang="en-US" b="1" dirty="0"/>
              <a:t>Step 2</a:t>
            </a:r>
            <a:r>
              <a:rPr lang="en-US" dirty="0"/>
              <a:t>: In the second step compare the search element with the first element in the array.</a:t>
            </a:r>
          </a:p>
          <a:p>
            <a:pPr marL="0" indent="0">
              <a:buNone/>
            </a:pPr>
            <a:r>
              <a:rPr lang="en-US" b="1" dirty="0"/>
              <a:t>Step 3</a:t>
            </a:r>
            <a:r>
              <a:rPr lang="en-US" dirty="0"/>
              <a:t>: If both are matched, display "</a:t>
            </a:r>
            <a:r>
              <a:rPr lang="en-US" b="1" dirty="0"/>
              <a:t>Target element is found</a:t>
            </a:r>
            <a:r>
              <a:rPr lang="en-US" dirty="0"/>
              <a:t>" and </a:t>
            </a:r>
            <a:r>
              <a:rPr lang="en-US" b="1" dirty="0"/>
              <a:t>terminate the Linear Search </a:t>
            </a:r>
            <a:r>
              <a:rPr lang="en-US" dirty="0"/>
              <a:t>function. </a:t>
            </a:r>
          </a:p>
          <a:p>
            <a:pPr marL="0" indent="0">
              <a:buNone/>
            </a:pPr>
            <a:r>
              <a:rPr lang="en-US" b="1" dirty="0"/>
              <a:t>Step 4</a:t>
            </a:r>
            <a:r>
              <a:rPr lang="en-US" dirty="0"/>
              <a:t>: If both are </a:t>
            </a:r>
            <a:r>
              <a:rPr lang="en-US" b="1" dirty="0"/>
              <a:t>not matched, compare the search element with the next element</a:t>
            </a:r>
            <a:r>
              <a:rPr lang="en-US" dirty="0"/>
              <a:t> in the array. </a:t>
            </a:r>
          </a:p>
          <a:p>
            <a:pPr marL="0" indent="0">
              <a:buNone/>
            </a:pPr>
            <a:r>
              <a:rPr lang="en-US" b="1" dirty="0"/>
              <a:t>Step 5</a:t>
            </a:r>
            <a:r>
              <a:rPr lang="en-US" dirty="0"/>
              <a:t>: In this step, </a:t>
            </a:r>
            <a:r>
              <a:rPr lang="en-US" b="1" dirty="0"/>
              <a:t>repeat steps 3 and 4 until the search </a:t>
            </a:r>
            <a:r>
              <a:rPr lang="en-US" dirty="0"/>
              <a:t>(Target) element is </a:t>
            </a:r>
            <a:r>
              <a:rPr lang="en-US" b="1" dirty="0"/>
              <a:t>compared with the last element </a:t>
            </a:r>
            <a:r>
              <a:rPr lang="en-US" dirty="0"/>
              <a:t>of the array.</a:t>
            </a:r>
          </a:p>
          <a:p>
            <a:pPr marL="0" indent="0">
              <a:buNone/>
            </a:pPr>
            <a:r>
              <a:rPr lang="en-US" b="1" dirty="0"/>
              <a:t>Step 6 :</a:t>
            </a:r>
            <a:r>
              <a:rPr lang="en-US" dirty="0"/>
              <a:t> If the </a:t>
            </a:r>
            <a:r>
              <a:rPr lang="en-US" b="1" dirty="0"/>
              <a:t>last element in the list does not match</a:t>
            </a:r>
            <a:r>
              <a:rPr lang="en-US" dirty="0"/>
              <a:t>, the Linear Search Function will be </a:t>
            </a:r>
            <a:r>
              <a:rPr lang="en-US" b="1" dirty="0"/>
              <a:t>terminated</a:t>
            </a:r>
            <a:r>
              <a:rPr lang="en-US" dirty="0"/>
              <a:t>, and the message "</a:t>
            </a:r>
            <a:r>
              <a:rPr lang="en-US" b="1" dirty="0"/>
              <a:t>Element is not found</a:t>
            </a:r>
            <a:r>
              <a:rPr lang="en-US" dirty="0"/>
              <a:t>" will be displayed.</a:t>
            </a:r>
          </a:p>
        </p:txBody>
      </p:sp>
    </p:spTree>
    <p:extLst>
      <p:ext uri="{BB962C8B-B14F-4D97-AF65-F5344CB8AC3E}">
        <p14:creationId xmlns:p14="http://schemas.microsoft.com/office/powerpoint/2010/main" val="3520791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2ED8-2830-4999-8B50-373FA132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0640"/>
          </a:xfrm>
        </p:spPr>
        <p:txBody>
          <a:bodyPr>
            <a:normAutofit/>
          </a:bodyPr>
          <a:lstStyle/>
          <a:p>
            <a:r>
              <a:rPr lang="en-US" b="1" dirty="0"/>
              <a:t>Algorithm of the Linear Search 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68F80-BF89-4603-85C8-8E571195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766"/>
            <a:ext cx="10515600" cy="561190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Linear Search ( Array </a:t>
            </a:r>
            <a:r>
              <a:rPr lang="en-US" b="1" dirty="0" err="1"/>
              <a:t>Arr</a:t>
            </a:r>
            <a:r>
              <a:rPr lang="en-US" dirty="0"/>
              <a:t>, Value </a:t>
            </a:r>
            <a:r>
              <a:rPr lang="en-US" b="1" dirty="0"/>
              <a:t>a</a:t>
            </a:r>
            <a:r>
              <a:rPr lang="en-US" dirty="0"/>
              <a:t> ) // </a:t>
            </a:r>
            <a:r>
              <a:rPr lang="en-US" dirty="0" err="1"/>
              <a:t>Arr</a:t>
            </a:r>
            <a:r>
              <a:rPr lang="en-US" dirty="0"/>
              <a:t> is the name of the array, and a is the searched element.</a:t>
            </a:r>
          </a:p>
          <a:p>
            <a:r>
              <a:rPr lang="en-US" dirty="0"/>
              <a:t>Step 1: Set </a:t>
            </a:r>
            <a:r>
              <a:rPr lang="en-US" dirty="0" err="1"/>
              <a:t>i</a:t>
            </a:r>
            <a:r>
              <a:rPr lang="en-US" dirty="0"/>
              <a:t> to 0 // </a:t>
            </a:r>
            <a:r>
              <a:rPr lang="en-US" dirty="0" err="1"/>
              <a:t>i</a:t>
            </a:r>
            <a:r>
              <a:rPr lang="en-US" dirty="0"/>
              <a:t> is the index of an array which starts from 0</a:t>
            </a:r>
          </a:p>
          <a:p>
            <a:r>
              <a:rPr lang="en-US" dirty="0"/>
              <a:t>Step 2: if </a:t>
            </a:r>
            <a:r>
              <a:rPr lang="en-US" dirty="0" err="1"/>
              <a:t>i</a:t>
            </a:r>
            <a:r>
              <a:rPr lang="en-US" dirty="0"/>
              <a:t> &gt; n then go to step 7 // n is the number of elements in array</a:t>
            </a:r>
          </a:p>
          <a:p>
            <a:r>
              <a:rPr lang="en-US" dirty="0"/>
              <a:t>Step 3: if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 a then go to step 6</a:t>
            </a:r>
          </a:p>
          <a:p>
            <a:r>
              <a:rPr lang="en-US" dirty="0"/>
              <a:t>Step 4: Set </a:t>
            </a:r>
            <a:r>
              <a:rPr lang="en-US" dirty="0" err="1"/>
              <a:t>i</a:t>
            </a:r>
            <a:r>
              <a:rPr lang="en-US" dirty="0"/>
              <a:t> to </a:t>
            </a:r>
            <a:r>
              <a:rPr lang="en-US" dirty="0" err="1"/>
              <a:t>i</a:t>
            </a:r>
            <a:r>
              <a:rPr lang="en-US" dirty="0"/>
              <a:t> + 1</a:t>
            </a:r>
          </a:p>
          <a:p>
            <a:r>
              <a:rPr lang="en-US" dirty="0"/>
              <a:t>Step 5: </a:t>
            </a:r>
            <a:r>
              <a:rPr lang="en-US" dirty="0" err="1"/>
              <a:t>Goto</a:t>
            </a:r>
            <a:r>
              <a:rPr lang="en-US" dirty="0"/>
              <a:t> step 2</a:t>
            </a:r>
          </a:p>
          <a:p>
            <a:r>
              <a:rPr lang="en-US" dirty="0"/>
              <a:t>Step 6: Print element a found at index </a:t>
            </a:r>
            <a:r>
              <a:rPr lang="en-US" dirty="0" err="1"/>
              <a:t>i</a:t>
            </a:r>
            <a:r>
              <a:rPr lang="en-US" dirty="0"/>
              <a:t> and go to step 8</a:t>
            </a:r>
          </a:p>
          <a:p>
            <a:r>
              <a:rPr lang="en-US" dirty="0"/>
              <a:t>Step 7: Print element not found</a:t>
            </a:r>
          </a:p>
          <a:p>
            <a:r>
              <a:rPr lang="en-US" dirty="0"/>
              <a:t>Step 8: Exit</a:t>
            </a:r>
          </a:p>
        </p:txBody>
      </p:sp>
    </p:spTree>
    <p:extLst>
      <p:ext uri="{BB962C8B-B14F-4D97-AF65-F5344CB8AC3E}">
        <p14:creationId xmlns:p14="http://schemas.microsoft.com/office/powerpoint/2010/main" val="494089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492C-D973-427A-80F7-EDD03940E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224"/>
            <a:ext cx="10515600" cy="6660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Sample Code: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int linear(int a[], int n, int x)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if (a[</a:t>
            </a:r>
            <a:r>
              <a:rPr lang="en-US" dirty="0" err="1"/>
              <a:t>i</a:t>
            </a:r>
            <a:r>
              <a:rPr lang="en-US" dirty="0"/>
              <a:t>] == x)</a:t>
            </a:r>
          </a:p>
          <a:p>
            <a:pPr marL="0" indent="0">
              <a:buNone/>
            </a:pPr>
            <a:r>
              <a:rPr lang="en-US" dirty="0"/>
              <a:t>return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return -1;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main(void)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a[] = { 2, 3, 4, 10, 40 };</a:t>
            </a:r>
          </a:p>
          <a:p>
            <a:pPr marL="0" indent="0">
              <a:buNone/>
            </a:pPr>
            <a:r>
              <a:rPr lang="en-US" dirty="0"/>
              <a:t>int x = 10;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63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D5901-17C3-4AF1-9DBA-59C66BB66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224"/>
            <a:ext cx="10515600" cy="666077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 n = </a:t>
            </a:r>
            <a:r>
              <a:rPr lang="en-US" dirty="0" err="1"/>
              <a:t>sizeof</a:t>
            </a:r>
            <a:r>
              <a:rPr lang="en-US" dirty="0"/>
              <a:t>(a) / </a:t>
            </a:r>
            <a:r>
              <a:rPr lang="en-US" dirty="0" err="1"/>
              <a:t>sizeof</a:t>
            </a:r>
            <a:r>
              <a:rPr lang="en-US" dirty="0"/>
              <a:t>(a[0]);</a:t>
            </a:r>
          </a:p>
          <a:p>
            <a:pPr marL="0" indent="0">
              <a:buNone/>
            </a:pPr>
            <a:r>
              <a:rPr lang="en-US" dirty="0"/>
              <a:t>// Function call</a:t>
            </a:r>
          </a:p>
          <a:p>
            <a:pPr marL="0" indent="0">
              <a:buNone/>
            </a:pPr>
            <a:r>
              <a:rPr lang="en-US" dirty="0"/>
              <a:t>int result = linear(a, n, x);</a:t>
            </a:r>
          </a:p>
          <a:p>
            <a:pPr marL="0" indent="0">
              <a:buNone/>
            </a:pPr>
            <a:r>
              <a:rPr lang="en-US" dirty="0"/>
              <a:t>if(result == -1)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("Element is not present in array");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("Element found at index: %d", result);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78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78BF-0B2C-4BF7-8972-9EE53C33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216"/>
          </a:xfrm>
        </p:spPr>
        <p:txBody>
          <a:bodyPr/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lsearch-img1">
            <a:extLst>
              <a:ext uri="{FF2B5EF4-FFF2-40B4-BE49-F238E27FC236}">
                <a16:creationId xmlns:a16="http://schemas.microsoft.com/office/drawing/2014/main" id="{9D31DFF5-0DE3-4195-99DB-495C842B72D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75" y="1452283"/>
            <a:ext cx="11161059" cy="5199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448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3B29-6A25-4A72-B8B9-70394402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083"/>
            <a:ext cx="10515600" cy="788893"/>
          </a:xfrm>
        </p:spPr>
        <p:txBody>
          <a:bodyPr/>
          <a:lstStyle/>
          <a:p>
            <a:r>
              <a:rPr lang="en-US" b="1" dirty="0"/>
              <a:t>Application of Linear Search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34959-D18C-4E1D-95D2-14D1A317D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405717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The linear search algorithm has the following applications:</a:t>
            </a:r>
          </a:p>
          <a:p>
            <a:pPr lvl="0"/>
            <a:r>
              <a:rPr lang="en-US" sz="3600" dirty="0"/>
              <a:t>Linear search can be </a:t>
            </a:r>
            <a:r>
              <a:rPr lang="en-US" sz="3600" b="1" dirty="0"/>
              <a:t>applied to both single-dimensional and multi-dimensional arrays.</a:t>
            </a:r>
          </a:p>
          <a:p>
            <a:pPr lvl="0"/>
            <a:r>
              <a:rPr lang="en-US" sz="3600" dirty="0"/>
              <a:t>Linear search is </a:t>
            </a:r>
            <a:r>
              <a:rPr lang="en-US" sz="3600" b="1" dirty="0"/>
              <a:t>easy to implement and effective when the array contains only a few elements. </a:t>
            </a:r>
          </a:p>
          <a:p>
            <a:pPr lvl="0"/>
            <a:r>
              <a:rPr lang="en-US" sz="3600" dirty="0"/>
              <a:t>Linear Search is </a:t>
            </a:r>
            <a:r>
              <a:rPr lang="en-US" sz="3600" b="1" dirty="0"/>
              <a:t>also efficient when the search is performed to fetch a single search in an unordered-List.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709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7DBD0-967F-4843-9D2B-680893F7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365"/>
            <a:ext cx="10515600" cy="735107"/>
          </a:xfrm>
        </p:spPr>
        <p:txBody>
          <a:bodyPr>
            <a:normAutofit/>
          </a:bodyPr>
          <a:lstStyle/>
          <a:p>
            <a:r>
              <a:rPr lang="en-US" b="1" dirty="0"/>
              <a:t>Binary Search: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15939-FC8A-4A15-BDEF-D12563396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6472"/>
            <a:ext cx="10515600" cy="5665693"/>
          </a:xfrm>
        </p:spPr>
        <p:txBody>
          <a:bodyPr/>
          <a:lstStyle/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Binary searches are efficient algorithms based on the concept of “</a:t>
            </a:r>
            <a:r>
              <a:rPr lang="en-US" sz="3600" b="1" dirty="0"/>
              <a:t>divide and conquer</a:t>
            </a:r>
            <a:r>
              <a:rPr lang="en-US" sz="3600" dirty="0"/>
              <a:t>” that improves the search by recursively </a:t>
            </a:r>
            <a:r>
              <a:rPr lang="en-US" sz="3600" b="1" dirty="0"/>
              <a:t>dividing the array in half </a:t>
            </a:r>
            <a:r>
              <a:rPr lang="en-US" sz="3600" dirty="0"/>
              <a:t>until you either find the element or the list gets narrowed down to one piece that doesn’t match the needed element.</a:t>
            </a:r>
          </a:p>
          <a:p>
            <a:r>
              <a:rPr lang="en-US" sz="3600" dirty="0"/>
              <a:t>Binary searches </a:t>
            </a:r>
            <a:r>
              <a:rPr lang="en-US" sz="3600" b="1" dirty="0"/>
              <a:t>work under the principle of using the sorted information</a:t>
            </a:r>
            <a:r>
              <a:rPr lang="en-US" sz="3600" dirty="0"/>
              <a:t> in the array to </a:t>
            </a:r>
            <a:r>
              <a:rPr lang="en-US" sz="3600" b="1" dirty="0"/>
              <a:t>reduce the time complexity </a:t>
            </a:r>
            <a:r>
              <a:rPr lang="en-US" sz="3600" dirty="0"/>
              <a:t>to zero.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5306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055B-95BB-4087-95F5-6AEC44E3E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569"/>
          </a:xfrm>
        </p:spPr>
        <p:txBody>
          <a:bodyPr>
            <a:normAutofit/>
          </a:bodyPr>
          <a:lstStyle/>
          <a:p>
            <a:r>
              <a:rPr lang="en-US" b="1" dirty="0"/>
              <a:t>Binary search approach’s basic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8BC4E-51DC-4A6E-B70C-086C7E121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694"/>
            <a:ext cx="10515600" cy="5399181"/>
          </a:xfrm>
        </p:spPr>
        <p:txBody>
          <a:bodyPr/>
          <a:lstStyle/>
          <a:p>
            <a:pPr lvl="0"/>
            <a:r>
              <a:rPr lang="en-US" sz="3200" dirty="0"/>
              <a:t>Begin with an interval that covers the entire array</a:t>
            </a:r>
          </a:p>
          <a:p>
            <a:pPr lvl="0"/>
            <a:r>
              <a:rPr lang="en-US" sz="3200" dirty="0"/>
              <a:t>If the search key value is less than the middle-interval item, narrow the interval to that lower half. Otherwise, narrow the interval to the upper half.</a:t>
            </a:r>
          </a:p>
          <a:p>
            <a:pPr lvl="0"/>
            <a:r>
              <a:rPr lang="en-US" sz="3200" dirty="0"/>
              <a:t>Keep checking the chosen interval until either the value is found or the interval’s empty</a:t>
            </a:r>
          </a:p>
          <a:p>
            <a:pPr marL="0" indent="0">
              <a:buNone/>
            </a:pPr>
            <a:r>
              <a:rPr lang="en-US" sz="3200" b="1" dirty="0"/>
              <a:t>When to Use Binary Search: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Code testing, exams, technical recruiting interviews, code challenges, library tasks, estimate maximum and minimum sizes,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8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D39CC-17E8-4A75-8DDD-C40B67CC9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32328"/>
          </a:xfrm>
        </p:spPr>
        <p:txBody>
          <a:bodyPr/>
          <a:lstStyle/>
          <a:p>
            <a:r>
              <a:rPr lang="en-US" b="1" dirty="0"/>
              <a:t>Implementation of a Binary Search: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E022-0EA8-437E-B096-0C22E854F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29"/>
            <a:ext cx="10515600" cy="5791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b="1" dirty="0"/>
              <a:t>two forms of binary search implementation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Iterative and Recursive </a:t>
            </a:r>
            <a:r>
              <a:rPr lang="en-US" dirty="0"/>
              <a:t>Methods.</a:t>
            </a:r>
          </a:p>
          <a:p>
            <a:r>
              <a:rPr lang="en-US" dirty="0"/>
              <a:t>The most significant </a:t>
            </a:r>
            <a:r>
              <a:rPr lang="en-US" b="1" dirty="0"/>
              <a:t>difference between </a:t>
            </a:r>
            <a:r>
              <a:rPr lang="en-US" dirty="0"/>
              <a:t>the two methods is the Recursive Method has an O(</a:t>
            </a:r>
            <a:r>
              <a:rPr lang="en-US" dirty="0" err="1"/>
              <a:t>logN</a:t>
            </a:r>
            <a:r>
              <a:rPr lang="en-US" dirty="0"/>
              <a:t>) space complexity, while the Iterative Method uses O (1). So, although the </a:t>
            </a:r>
            <a:r>
              <a:rPr lang="en-US" b="1" dirty="0"/>
              <a:t>recursive version is easier to implement</a:t>
            </a:r>
            <a:r>
              <a:rPr lang="en-US" dirty="0"/>
              <a:t>, the </a:t>
            </a:r>
            <a:r>
              <a:rPr lang="en-US" b="1" dirty="0"/>
              <a:t>iterative approach is more efficient</a:t>
            </a:r>
            <a:r>
              <a:rPr lang="en-US" dirty="0"/>
              <a:t>.</a:t>
            </a:r>
          </a:p>
          <a:p>
            <a:r>
              <a:rPr lang="en-US" dirty="0"/>
              <a:t>Iterative algorithms repeat a specific statement set a given number of times. The algorithm uses looping statements (e.g., loop, while loop, do-while loop) to repeat the same steps several times.</a:t>
            </a:r>
          </a:p>
          <a:p>
            <a:r>
              <a:rPr lang="en-US" dirty="0"/>
              <a:t>On the other hand, recursive algorithms rely on a function that calls itself repeatedly until it reaches the base condition (also called the stopping condition).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32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1795E-EA38-422B-9F9D-EEC996747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35"/>
            <a:ext cx="10515600" cy="53760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Sorting in an array: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ED41-6A86-41CC-A0A1-0F60F5BA9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541"/>
            <a:ext cx="10515600" cy="52984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Sorting in an array is the process in which the array </a:t>
            </a:r>
            <a:r>
              <a:rPr lang="en-US" b="1" dirty="0"/>
              <a:t>elements are arranged</a:t>
            </a:r>
            <a:r>
              <a:rPr lang="en-US" dirty="0"/>
              <a:t> in a user-defined order whether </a:t>
            </a:r>
            <a:r>
              <a:rPr lang="en-US" b="1" dirty="0"/>
              <a:t>ascending or descending.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rrays_in_ds-op-sort-img1">
            <a:extLst>
              <a:ext uri="{FF2B5EF4-FFF2-40B4-BE49-F238E27FC236}">
                <a16:creationId xmlns:a16="http://schemas.microsoft.com/office/drawing/2014/main" id="{B591823C-5358-4CA4-8F3A-B515FD64233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18" y="2026024"/>
            <a:ext cx="9717741" cy="4150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97981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6CC11-8EAB-4266-86F8-CC8A4CFD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941"/>
            <a:ext cx="10515600" cy="6400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Example program: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       int temp, size, array[100];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printf</a:t>
            </a:r>
            <a:r>
              <a:rPr lang="en-US" dirty="0"/>
              <a:t>("Enter the size \n");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scanf</a:t>
            </a:r>
            <a:r>
              <a:rPr lang="en-US" dirty="0"/>
              <a:t>("%d", &amp;size);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printf</a:t>
            </a:r>
            <a:r>
              <a:rPr lang="en-US" dirty="0"/>
              <a:t>("Enter the numbers \n");</a:t>
            </a:r>
          </a:p>
          <a:p>
            <a:pPr marL="0" indent="0">
              <a:buNone/>
            </a:pPr>
            <a:r>
              <a:rPr lang="en-US" dirty="0"/>
              <a:t>        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        </a:t>
            </a:r>
            <a:r>
              <a:rPr lang="en-US" dirty="0" err="1"/>
              <a:t>scanf</a:t>
            </a:r>
            <a:r>
              <a:rPr lang="en-US" dirty="0"/>
              <a:t>("%d", &amp;array[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       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       {</a:t>
            </a:r>
          </a:p>
          <a:p>
            <a:pPr marL="0" indent="0">
              <a:buNone/>
            </a:pPr>
            <a:r>
              <a:rPr lang="en-US" dirty="0"/>
              <a:t>          for (int j = </a:t>
            </a:r>
            <a:r>
              <a:rPr lang="en-US" dirty="0" err="1"/>
              <a:t>i</a:t>
            </a:r>
            <a:r>
              <a:rPr lang="en-US" dirty="0"/>
              <a:t> + 1; j &lt; size; ++j)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282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0ECD0-CBDC-4C48-A3DC-324BE6CC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294"/>
            <a:ext cx="10515600" cy="667870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            if (array[</a:t>
            </a:r>
            <a:r>
              <a:rPr lang="en-US" dirty="0" err="1"/>
              <a:t>i</a:t>
            </a:r>
            <a:r>
              <a:rPr lang="en-US" dirty="0"/>
              <a:t>] &gt; array[j])</a:t>
            </a:r>
          </a:p>
          <a:p>
            <a:pPr marL="0" indent="0">
              <a:buNone/>
            </a:pPr>
            <a:r>
              <a:rPr lang="en-US" dirty="0"/>
              <a:t>         {</a:t>
            </a:r>
          </a:p>
          <a:p>
            <a:pPr marL="0" indent="0">
              <a:buNone/>
            </a:pPr>
            <a:r>
              <a:rPr lang="en-US" dirty="0"/>
              <a:t>                 temp = array[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                 array[</a:t>
            </a:r>
            <a:r>
              <a:rPr lang="en-US" dirty="0" err="1"/>
              <a:t>i</a:t>
            </a:r>
            <a:r>
              <a:rPr lang="en-US" dirty="0"/>
              <a:t>] = array[j];</a:t>
            </a:r>
          </a:p>
          <a:p>
            <a:pPr marL="0" indent="0">
              <a:buNone/>
            </a:pPr>
            <a:r>
              <a:rPr lang="en-US" dirty="0"/>
              <a:t>                 array[j] = temp;</a:t>
            </a:r>
          </a:p>
          <a:p>
            <a:pPr marL="0" indent="0">
              <a:buNone/>
            </a:pPr>
            <a:r>
              <a:rPr lang="en-US" dirty="0"/>
              <a:t>          }         }</a:t>
            </a:r>
          </a:p>
          <a:p>
            <a:pPr marL="0" indent="0">
              <a:buNone/>
            </a:pPr>
            <a:r>
              <a:rPr lang="en-US" dirty="0"/>
              <a:t>   }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printf</a:t>
            </a:r>
            <a:r>
              <a:rPr lang="en-US" dirty="0"/>
              <a:t>("sorted array:\n");</a:t>
            </a:r>
          </a:p>
          <a:p>
            <a:pPr marL="0" indent="0">
              <a:buNone/>
            </a:pPr>
            <a:r>
              <a:rPr lang="en-US" dirty="0"/>
              <a:t>       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size;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        </a:t>
            </a:r>
            <a:r>
              <a:rPr lang="en-US" dirty="0" err="1"/>
              <a:t>printf</a:t>
            </a:r>
            <a:r>
              <a:rPr lang="en-US" dirty="0"/>
              <a:t>("%d\n", array[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 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99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8314-C1D2-44E6-8DDA-697C2D8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Output:</a:t>
            </a:r>
          </a:p>
        </p:txBody>
      </p:sp>
      <p:pic>
        <p:nvPicPr>
          <p:cNvPr id="4" name="Content Placeholder 3" descr="Arrays_in_ds-op-sort-img2">
            <a:extLst>
              <a:ext uri="{FF2B5EF4-FFF2-40B4-BE49-F238E27FC236}">
                <a16:creationId xmlns:a16="http://schemas.microsoft.com/office/drawing/2014/main" id="{B21B3B9F-8363-4D1D-9E3A-8DA90E7A66A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60" y="1039907"/>
            <a:ext cx="11062446" cy="5629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6534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CBA8-2F83-4827-9B52-A35E8EDB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295"/>
            <a:ext cx="10515600" cy="68131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Advantages of Arrays in Data Structures: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80AB-8055-4AC1-8AD2-06E28ACA7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0612"/>
            <a:ext cx="10515600" cy="599738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Arrays store multiple elements of the same type with the same name.</a:t>
            </a:r>
          </a:p>
          <a:p>
            <a:pPr lvl="0"/>
            <a:r>
              <a:rPr lang="en-US" dirty="0"/>
              <a:t>You can randomly access elements in the array using an index number.</a:t>
            </a:r>
          </a:p>
          <a:p>
            <a:pPr lvl="0"/>
            <a:r>
              <a:rPr lang="en-US" dirty="0"/>
              <a:t>Array memory is predefined, so there is no extra memory loss.</a:t>
            </a:r>
          </a:p>
          <a:p>
            <a:pPr lvl="0"/>
            <a:r>
              <a:rPr lang="en-US" dirty="0"/>
              <a:t>Arrays avoid memory overflow.</a:t>
            </a:r>
          </a:p>
          <a:p>
            <a:pPr lvl="0"/>
            <a:r>
              <a:rPr lang="en-US" dirty="0"/>
              <a:t>2D arrays can efficiently represent the tabular data.</a:t>
            </a:r>
          </a:p>
          <a:p>
            <a:pPr marL="0" lvl="0" indent="0">
              <a:buNone/>
            </a:pPr>
            <a:r>
              <a:rPr lang="en-US" sz="4000" dirty="0"/>
              <a:t>Disadvantages of Arrays in Data Structures:</a:t>
            </a:r>
          </a:p>
          <a:p>
            <a:pPr lvl="0"/>
            <a:r>
              <a:rPr lang="en-US" dirty="0"/>
              <a:t>The number of elements in an array should be predefined</a:t>
            </a:r>
          </a:p>
          <a:p>
            <a:pPr lvl="0"/>
            <a:r>
              <a:rPr lang="en-US" dirty="0"/>
              <a:t>An array is static. It cannot alter its size after declaration.</a:t>
            </a:r>
          </a:p>
          <a:p>
            <a:pPr lvl="0"/>
            <a:r>
              <a:rPr lang="en-US" dirty="0"/>
              <a:t>Insertion and deletion operation in an array is quite tricky as the array stores elements in continuous form.</a:t>
            </a:r>
          </a:p>
          <a:p>
            <a:pPr lvl="0"/>
            <a:r>
              <a:rPr lang="en-US" dirty="0"/>
              <a:t>Allocating excess memory than required may lead to memory wastage.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95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1814</Words>
  <Application>Microsoft Office PowerPoint</Application>
  <PresentationFormat>Widescreen</PresentationFormat>
  <Paragraphs>321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Arrays:</vt:lpstr>
      <vt:lpstr>PowerPoint Presentation</vt:lpstr>
      <vt:lpstr>Why Do You Need an Array in Data Structures?</vt:lpstr>
      <vt:lpstr>What Are the Types of Arrays?</vt:lpstr>
      <vt:lpstr>PowerPoint Presentation</vt:lpstr>
      <vt:lpstr>PowerPoint Presentation</vt:lpstr>
      <vt:lpstr>How Do You Declare an Array?</vt:lpstr>
      <vt:lpstr>How Do You Initialize an Array?</vt:lpstr>
      <vt:lpstr>PowerPoint Presentation</vt:lpstr>
      <vt:lpstr>How Can You Access Elements of Arrays in Data Structures?</vt:lpstr>
      <vt:lpstr>Example program:</vt:lpstr>
      <vt:lpstr>Output:</vt:lpstr>
      <vt:lpstr>What Operations Can You Perform on an Array?</vt:lpstr>
      <vt:lpstr>Traversing the Array:</vt:lpstr>
      <vt:lpstr>Example program for array traversal:</vt:lpstr>
      <vt:lpstr>Output:</vt:lpstr>
      <vt:lpstr>Insertion in an Array:</vt:lpstr>
      <vt:lpstr>At the Beginning:</vt:lpstr>
      <vt:lpstr>PowerPoint Presentation</vt:lpstr>
      <vt:lpstr>Output:</vt:lpstr>
      <vt:lpstr>At the End:</vt:lpstr>
      <vt:lpstr>Output:</vt:lpstr>
      <vt:lpstr>At a Specific Position:</vt:lpstr>
      <vt:lpstr>PowerPoint Presentation</vt:lpstr>
      <vt:lpstr>Output:</vt:lpstr>
      <vt:lpstr>Deletion in an Array: </vt:lpstr>
      <vt:lpstr>At the Beginning:</vt:lpstr>
      <vt:lpstr>PowerPoint Presentation</vt:lpstr>
      <vt:lpstr>Output:</vt:lpstr>
      <vt:lpstr>At the End:</vt:lpstr>
      <vt:lpstr>Output:</vt:lpstr>
      <vt:lpstr>Searching for an Element:</vt:lpstr>
      <vt:lpstr>Linear Search:</vt:lpstr>
      <vt:lpstr>What Is a Linear Search Algorithm?</vt:lpstr>
      <vt:lpstr>Step-by-step approach employed to perform Linear Search:</vt:lpstr>
      <vt:lpstr>Algorithm of the Linear Search Algorithm:</vt:lpstr>
      <vt:lpstr>PowerPoint Presentation</vt:lpstr>
      <vt:lpstr>PowerPoint Presentation</vt:lpstr>
      <vt:lpstr>Output:</vt:lpstr>
      <vt:lpstr>Application of Linear Search Algorithm</vt:lpstr>
      <vt:lpstr>Binary Search:</vt:lpstr>
      <vt:lpstr>Binary search approach’s basic steps:</vt:lpstr>
      <vt:lpstr>Implementation of a Binary Search:</vt:lpstr>
      <vt:lpstr>Sorting in an array:</vt:lpstr>
      <vt:lpstr>PowerPoint Presentation</vt:lpstr>
      <vt:lpstr>PowerPoint Presentation</vt:lpstr>
      <vt:lpstr>Output:</vt:lpstr>
      <vt:lpstr>Advantages of Arrays in Data Structures: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</cp:lastModifiedBy>
  <cp:revision>100</cp:revision>
  <dcterms:created xsi:type="dcterms:W3CDTF">2022-11-05T18:43:10Z</dcterms:created>
  <dcterms:modified xsi:type="dcterms:W3CDTF">2023-03-31T19:02:53Z</dcterms:modified>
</cp:coreProperties>
</file>