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62" r:id="rId3"/>
    <p:sldId id="263" r:id="rId4"/>
    <p:sldId id="320" r:id="rId5"/>
    <p:sldId id="264" r:id="rId6"/>
    <p:sldId id="321" r:id="rId7"/>
    <p:sldId id="265" r:id="rId8"/>
    <p:sldId id="327" r:id="rId9"/>
    <p:sldId id="267" r:id="rId10"/>
    <p:sldId id="322" r:id="rId11"/>
    <p:sldId id="323" r:id="rId12"/>
    <p:sldId id="324" r:id="rId13"/>
    <p:sldId id="271" r:id="rId14"/>
    <p:sldId id="272" r:id="rId15"/>
    <p:sldId id="274" r:id="rId16"/>
    <p:sldId id="314" r:id="rId17"/>
    <p:sldId id="315" r:id="rId18"/>
    <p:sldId id="325" r:id="rId19"/>
    <p:sldId id="326" r:id="rId20"/>
    <p:sldId id="275" r:id="rId21"/>
    <p:sldId id="276" r:id="rId22"/>
    <p:sldId id="316" r:id="rId23"/>
    <p:sldId id="317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5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charset="0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G4 w 1000"/>
                <a:gd name="T3" fmla="*/ G1 h 1000"/>
              </a:gdLst>
              <a:ahLst/>
              <a:cxnLst>
                <a:cxn ang="0">
                  <a:pos x="0" y="0"/>
                </a:cxn>
                <a:cxn ang="0">
                  <a:pos x="4416" y="0"/>
                </a:cxn>
                <a:cxn ang="0">
                  <a:pos x="4917" y="500"/>
                </a:cxn>
                <a:cxn ang="0">
                  <a:pos x="4417" y="1000"/>
                </a:cxn>
                <a:cxn ang="0">
                  <a:pos x="0" y="1000"/>
                </a:cxn>
              </a:cxnLst>
              <a:rect l="T0" t="T1" r="T2" b="T3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400">
                <a:latin typeface="Times New Roman" charset="0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7415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" y="1427163"/>
            <a:ext cx="8077200" cy="1609725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41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41700"/>
            <a:ext cx="6629400" cy="16764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71488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53163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71488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5893FC2-433B-40A1-BC1A-6B6E8CC4DB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3857E-BA2F-4B5B-891B-86AC9F0E09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B828F-B2BD-49CF-BDBC-0305F9F447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7D827-EB9C-4462-95F6-48957CB42B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481F33-9DFC-460D-8BDE-A564A3D282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56E9C-54AC-414E-9347-7038AABA27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728FC-B442-4475-962D-DAFCF7A2A3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2950E-8C56-4579-A271-BD8AD8C505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D0E5FE-2787-4156-B819-643483D8D3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2290B1-E657-44F7-8A7C-30C72BE4E3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3C4CF-2A07-4CEB-92B3-3F1EAB41B2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152400"/>
            <a:ext cx="8686800" cy="6096000"/>
            <a:chOff x="0" y="96"/>
            <a:chExt cx="5472" cy="3840"/>
          </a:xfrm>
        </p:grpSpPr>
        <p:sp>
          <p:nvSpPr>
            <p:cNvPr id="16387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charset="0"/>
              </a:endParaRPr>
            </a:p>
          </p:txBody>
        </p:sp>
        <p:sp>
          <p:nvSpPr>
            <p:cNvPr id="16388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G4 w 1000"/>
                <a:gd name="T3" fmla="*/ G1 h 1000"/>
              </a:gdLst>
              <a:ahLst/>
              <a:cxnLst>
                <a:cxn ang="0">
                  <a:pos x="0" y="0"/>
                </a:cxn>
                <a:cxn ang="0">
                  <a:pos x="6499" y="0"/>
                </a:cxn>
                <a:cxn ang="0">
                  <a:pos x="7000" y="500"/>
                </a:cxn>
                <a:cxn ang="0">
                  <a:pos x="6500" y="1000"/>
                </a:cxn>
                <a:cxn ang="0">
                  <a:pos x="0" y="1000"/>
                </a:cxn>
              </a:cxnLst>
              <a:rect l="T0" t="T1" r="T2" b="T3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400">
                <a:latin typeface="Times New Roman" charset="0"/>
              </a:endParaRPr>
            </a:p>
          </p:txBody>
        </p:sp>
        <p:sp>
          <p:nvSpPr>
            <p:cNvPr id="16389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3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itchFamily="34" charset="0"/>
              </a:defRPr>
            </a:lvl1pPr>
          </a:lstStyle>
          <a:p>
            <a:pPr>
              <a:defRPr/>
            </a:pPr>
            <a:fld id="{7491BA25-D753-4ED0-A750-AF398EC600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dirty="0"/>
              <a:t>THREADS</a:t>
            </a:r>
          </a:p>
        </p:txBody>
      </p:sp>
      <p:sp>
        <p:nvSpPr>
          <p:cNvPr id="4099" name="Rectangle 2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sz="2800" dirty="0"/>
              <a:t>Objective: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sz="2800" dirty="0"/>
              <a:t>To be acquainted with:</a:t>
            </a:r>
          </a:p>
          <a:p>
            <a:pPr marL="609600" indent="-609600" eaLnBrk="1" hangingPunct="1"/>
            <a:r>
              <a:rPr lang="en-US" sz="2800" dirty="0"/>
              <a:t>The definitions of threads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Definitions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sz="2800" dirty="0"/>
              <a:t>Threads Definitions</a:t>
            </a:r>
          </a:p>
          <a:p>
            <a:pPr marL="609600" indent="-609600" eaLnBrk="1" hangingPunct="1"/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thread is a path of execution within a process. A process can contain multiple threads.</a:t>
            </a:r>
          </a:p>
          <a:p>
            <a:pPr marL="609600" indent="-609600" eaLnBrk="1" hangingPunct="1"/>
            <a:endParaRPr lang="en-US" sz="2800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3657600"/>
            <a:ext cx="6705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Definitions (cont..)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b="1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599" y="1524001"/>
            <a:ext cx="7467601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Threads  relationship to process</a:t>
            </a:r>
          </a:p>
        </p:txBody>
      </p:sp>
      <p:pic>
        <p:nvPicPr>
          <p:cNvPr id="4" name="Picture 10" descr="Fig 4-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64041" y="1600200"/>
            <a:ext cx="7615917" cy="4419600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Definitions (cont..)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sz="2400" b="1" dirty="0"/>
              <a:t>	</a:t>
            </a:r>
            <a:r>
              <a:rPr lang="en-US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Why Multithreading?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thread is also known as lightweight process. The idea is to achieve parallelism by dividing a process into multiple threads. For example, in a browser, multiple tabs can be different threads. MS Word uses multiple threads: one thread to format the text, another thread to process inputs, etc.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</a:p>
        </p:txBody>
      </p:sp>
      <p:pic>
        <p:nvPicPr>
          <p:cNvPr id="716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523999"/>
            <a:ext cx="6248400" cy="472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Single Threads and Multi thread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endParaRPr lang="en-US" sz="2800" dirty="0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00200"/>
            <a:ext cx="8001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Threads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7924800" cy="4648200"/>
          </a:xfrm>
        </p:spPr>
        <p:txBody>
          <a:bodyPr/>
          <a:lstStyle/>
          <a:p>
            <a:r>
              <a:rPr lang="en-US" sz="2400" dirty="0" smtClean="0"/>
              <a:t>It takes less time to create new thread than a process</a:t>
            </a:r>
          </a:p>
          <a:p>
            <a:r>
              <a:rPr lang="en-US" sz="2400" dirty="0" smtClean="0"/>
              <a:t>Takes less time to terminate thread than a process</a:t>
            </a:r>
          </a:p>
          <a:p>
            <a:r>
              <a:rPr lang="en-US" sz="2400" dirty="0" smtClean="0"/>
              <a:t>Takes lass time to switch between threads within the same process</a:t>
            </a:r>
          </a:p>
          <a:p>
            <a:r>
              <a:rPr lang="en-US" sz="2400" dirty="0" smtClean="0"/>
              <a:t>Hence threads within the same process share files and memory, they can communicate with each other without invoking the kernel</a:t>
            </a:r>
          </a:p>
          <a:p>
            <a:r>
              <a:rPr lang="en-US" dirty="0" smtClean="0"/>
              <a:t> Responsiveness</a:t>
            </a:r>
          </a:p>
          <a:p>
            <a:r>
              <a:rPr lang="en-US" dirty="0" smtClean="0"/>
              <a:t>Resource sharing</a:t>
            </a:r>
          </a:p>
          <a:p>
            <a:r>
              <a:rPr lang="en-US" dirty="0" smtClean="0"/>
              <a:t>Economy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02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User  Threads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/>
              <a:t>.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8229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447801"/>
            <a:ext cx="8305799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95400"/>
            <a:ext cx="8305800" cy="4952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Threading Models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Three most popular threading models</a:t>
            </a:r>
          </a:p>
          <a:p>
            <a:pPr lvl="1" eaLnBrk="1" hangingPunct="1"/>
            <a:r>
              <a:rPr lang="en-US" dirty="0"/>
              <a:t>User-level threads</a:t>
            </a:r>
          </a:p>
          <a:p>
            <a:pPr lvl="1" eaLnBrk="1" hangingPunct="1"/>
            <a:r>
              <a:rPr lang="en-US" dirty="0"/>
              <a:t>Kernel-level threads</a:t>
            </a:r>
          </a:p>
          <a:p>
            <a:pPr lvl="1" eaLnBrk="1" hangingPunct="1"/>
            <a:r>
              <a:rPr lang="en-US" dirty="0"/>
              <a:t>Combination of user- and kernel-level threads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dirty="0"/>
              <a:t>           User –Level  Threads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User-level threads perform threading operations in user space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Threads are created by runtime libraries that cannot execute privileged instructions or access kernel primitives directly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User-level thread implementation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Many-to-one thread mappings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Operating system maps all threads in a multithreaded process to single execution context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User-level libraries can schedule its threads to optimize performance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Synchronization performed outside kernel, avoids context switches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More portable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dirty="0"/>
              <a:t>Kernel –Level Threads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Kernel-level threads attempt to address the limitations of user-level threads by mapping each thread to its own execution context</a:t>
            </a:r>
          </a:p>
          <a:p>
            <a:pPr lvl="1" algn="just"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Kernel-level threads provide a one-to-one thread mapping</a:t>
            </a:r>
          </a:p>
          <a:p>
            <a:pPr lvl="2" algn="just" eaLnBrk="1" hangingPunct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Advantages: Increased scalability, interactivity, and throughput</a:t>
            </a:r>
          </a:p>
          <a:p>
            <a:pPr lvl="2" algn="just" eaLnBrk="1" hangingPunct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Disadvantages: Overhead due to context switching and reduced portability due to OS-specific APIs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sz="2400" dirty="0"/>
          </a:p>
        </p:txBody>
      </p:sp>
      <p:pic>
        <p:nvPicPr>
          <p:cNvPr id="4" name="Picture 10" descr="Fig 4-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381000" y="1524000"/>
            <a:ext cx="8229600" cy="4611688"/>
          </a:xfr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/>
              <a:t>Kernel –Level Threads</a:t>
            </a:r>
            <a:r>
              <a:rPr lang="en-US" dirty="0"/>
              <a:t>(cont..)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Courier New" pitchFamily="49" charset="0"/>
              <a:buChar char="o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Kernel-level threads are not always the optimal solution for multithreaded applications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" name="Picture 10" descr="Fig 4-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743200"/>
            <a:ext cx="83058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058150" cy="1371600"/>
          </a:xfrm>
        </p:spPr>
        <p:txBody>
          <a:bodyPr/>
          <a:lstStyle/>
          <a:p>
            <a:pPr eaLnBrk="1" hangingPunct="1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Combining User- and Kernel-level Threads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combination of user- and kernel-level thread implementation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Many-to-many thread mapping (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-to-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thread mapping)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Number of user and kernel threads need not be equal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reduce overhead compared to one-to-one thread mappings by implementing thread </a:t>
            </a:r>
            <a:r>
              <a:rPr lang="en-US" sz="2000" dirty="0"/>
              <a:t>pooling</a:t>
            </a:r>
          </a:p>
          <a:p>
            <a:pPr lvl="2" algn="just" eaLnBrk="1" hangingPunct="1">
              <a:lnSpc>
                <a:spcPct val="80000"/>
              </a:lnSpc>
            </a:pPr>
            <a:endParaRPr lang="en-US" sz="1800" dirty="0"/>
          </a:p>
          <a:p>
            <a:pPr algn="just" eaLnBrk="1" hangingPunct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Worker threads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Persistent kernel threads that occupy the thread pool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Improves performance in environments where threads are frequently created and destroyed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Each new thread is executed by a worker thread</a:t>
            </a:r>
          </a:p>
          <a:p>
            <a:pPr lvl="2" algn="just" eaLnBrk="1" hangingPunct="1">
              <a:lnSpc>
                <a:spcPct val="80000"/>
              </a:lnSpc>
            </a:pP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924800" cy="45720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Scheduler activation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Technique that enables user-level library to schedule its threads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Occurs when the operating system calls a user-level threading library that determines if any of its threads need rescheduling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4" name="Picture 10" descr="Fig 4-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895600"/>
            <a:ext cx="83820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Hybrid threading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Each thread transitions among a series of discrete thread states</a:t>
            </a:r>
          </a:p>
          <a:p>
            <a:pPr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Threads and processes have many operations in common (e.g. create, exit, resume, and suspend)</a:t>
            </a:r>
          </a:p>
          <a:p>
            <a:pPr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Thread creation does not require operating system to initialize resources that are shared between parent processes and its threads.</a:t>
            </a:r>
          </a:p>
          <a:p>
            <a:pPr lvl="1"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-Reduces overhead of thread creation and termination compared to process creation and termination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Thread States: Life Cycle of a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Thread states</a:t>
            </a:r>
          </a:p>
          <a:p>
            <a:pPr lvl="1" algn="just" eaLnBrk="1" hangingPunct="1"/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Born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state</a:t>
            </a:r>
          </a:p>
          <a:p>
            <a:pPr lvl="1" algn="just" eaLnBrk="1" hangingPunct="1"/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Ready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state </a:t>
            </a:r>
          </a:p>
          <a:p>
            <a:pPr lvl="1" algn="just" eaLnBrk="1" hangingPunct="1"/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Running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state</a:t>
            </a:r>
          </a:p>
          <a:p>
            <a:pPr lvl="1" algn="just" eaLnBrk="1" hangingPunct="1"/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Dead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state</a:t>
            </a:r>
          </a:p>
          <a:p>
            <a:pPr lvl="1" algn="just" eaLnBrk="1" hangingPunct="1"/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Blocked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state</a:t>
            </a:r>
          </a:p>
          <a:p>
            <a:pPr lvl="1" algn="just" eaLnBrk="1" hangingPunct="1"/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Waiting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state</a:t>
            </a:r>
          </a:p>
          <a:p>
            <a:pPr lvl="1" algn="just" eaLnBrk="1" hangingPunct="1"/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Sleeping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state</a:t>
            </a:r>
          </a:p>
          <a:p>
            <a:pPr lvl="2" algn="just"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Sleep interval specifies for how long a thread will sleep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Thread Life Cycle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endParaRPr lang="en-US" dirty="0"/>
          </a:p>
        </p:txBody>
      </p:sp>
      <p:pic>
        <p:nvPicPr>
          <p:cNvPr id="4" name="Picture 10" descr="Fig 4-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609600" y="1524000"/>
            <a:ext cx="7924800" cy="4597400"/>
          </a:xfrm>
          <a:noFill/>
        </p:spPr>
      </p:pic>
      <p:pic>
        <p:nvPicPr>
          <p:cNvPr id="5" name="Picture 10" descr="Fig 4-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609600" y="1371600"/>
            <a:ext cx="7848600" cy="4724400"/>
          </a:xfr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 dirty="0"/>
              <a:t>Thread Operations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Threads and processes have common operations</a:t>
            </a:r>
          </a:p>
          <a:p>
            <a:pPr lvl="1" eaLnBrk="1" hangingPunct="1"/>
            <a:r>
              <a:rPr lang="en-US" dirty="0"/>
              <a:t>Create</a:t>
            </a:r>
          </a:p>
          <a:p>
            <a:pPr lvl="1" eaLnBrk="1" hangingPunct="1"/>
            <a:r>
              <a:rPr lang="en-US" dirty="0"/>
              <a:t>Exit (terminate)</a:t>
            </a:r>
          </a:p>
          <a:p>
            <a:pPr lvl="1" eaLnBrk="1" hangingPunct="1"/>
            <a:r>
              <a:rPr lang="en-US" dirty="0"/>
              <a:t>Suspend</a:t>
            </a:r>
          </a:p>
          <a:p>
            <a:pPr lvl="1" eaLnBrk="1" hangingPunct="1"/>
            <a:r>
              <a:rPr lang="en-US" dirty="0"/>
              <a:t>Resume</a:t>
            </a:r>
          </a:p>
          <a:p>
            <a:pPr lvl="1" eaLnBrk="1" hangingPunct="1"/>
            <a:r>
              <a:rPr lang="en-US" dirty="0"/>
              <a:t>Sleep</a:t>
            </a:r>
          </a:p>
          <a:p>
            <a:pPr lvl="1" eaLnBrk="1" hangingPunct="1"/>
            <a:r>
              <a:rPr lang="en-US" dirty="0"/>
              <a:t>Wake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71512" y="1976437"/>
            <a:ext cx="780097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VS  Thread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95337" y="1676400"/>
            <a:ext cx="7553325" cy="396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Vs Threads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Radial</Template>
  <TotalTime>852</TotalTime>
  <Words>502</Words>
  <Application>Microsoft Office PowerPoint</Application>
  <PresentationFormat>On-screen Show (4:3)</PresentationFormat>
  <Paragraphs>86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Arial Black</vt:lpstr>
      <vt:lpstr>Courier New</vt:lpstr>
      <vt:lpstr>Times New Roman</vt:lpstr>
      <vt:lpstr>Wingdings</vt:lpstr>
      <vt:lpstr>Radial</vt:lpstr>
      <vt:lpstr>THREADS</vt:lpstr>
      <vt:lpstr>Definitions</vt:lpstr>
      <vt:lpstr>Definitions (cont..)</vt:lpstr>
      <vt:lpstr>Threads  relationship to process</vt:lpstr>
      <vt:lpstr>Definitions (cont..)</vt:lpstr>
      <vt:lpstr>Cont…</vt:lpstr>
      <vt:lpstr>Single Threads and Multi thread</vt:lpstr>
      <vt:lpstr>BENEFITS OF Threads</vt:lpstr>
      <vt:lpstr>User  Threads</vt:lpstr>
      <vt:lpstr>PowerPoint Presentation</vt:lpstr>
      <vt:lpstr>PowerPoint Presentation</vt:lpstr>
      <vt:lpstr>Threading Models</vt:lpstr>
      <vt:lpstr>           User –Level  Threads</vt:lpstr>
      <vt:lpstr>Kernel –Level Threads</vt:lpstr>
      <vt:lpstr>Kernel –Level Threads(cont..)</vt:lpstr>
      <vt:lpstr>Combining User- and Kernel-level Threads</vt:lpstr>
      <vt:lpstr>Hybrid threading model</vt:lpstr>
      <vt:lpstr>Motivation for Threads</vt:lpstr>
      <vt:lpstr>Thread States: Life Cycle of a Thread</vt:lpstr>
      <vt:lpstr>Thread Life Cycle</vt:lpstr>
      <vt:lpstr>Thread Operations</vt:lpstr>
      <vt:lpstr>Process VS  Thread</vt:lpstr>
      <vt:lpstr>Process Vs Threads</vt:lpstr>
    </vt:vector>
  </TitlesOfParts>
  <Company>PSIS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networking</dc:title>
  <dc:creator>user1</dc:creator>
  <cp:lastModifiedBy>Tehama</cp:lastModifiedBy>
  <cp:revision>74</cp:revision>
  <dcterms:created xsi:type="dcterms:W3CDTF">2007-07-17T09:15:50Z</dcterms:created>
  <dcterms:modified xsi:type="dcterms:W3CDTF">2022-05-09T14:15:50Z</dcterms:modified>
</cp:coreProperties>
</file>