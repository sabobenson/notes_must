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41" name="Picture 40"/>
          <p:cNvPicPr/>
          <p:nvPr/>
        </p:nvPicPr>
        <p:blipFill>
          <a:blip r:embed="rId2"/>
          <a:stretch/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42" name="Picture 41"/>
          <p:cNvPicPr/>
          <p:nvPr/>
        </p:nvPicPr>
        <p:blipFill>
          <a:blip r:embed="rId2"/>
          <a:stretch/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90" name="Picture 89"/>
          <p:cNvPicPr/>
          <p:nvPr/>
        </p:nvPicPr>
        <p:blipFill>
          <a:blip r:embed="rId2"/>
          <a:stretch/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91" name="Picture 90"/>
          <p:cNvPicPr/>
          <p:nvPr/>
        </p:nvPicPr>
        <p:blipFill>
          <a:blip r:embed="rId2"/>
          <a:stretch/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133" name="Picture 132"/>
          <p:cNvPicPr/>
          <p:nvPr/>
        </p:nvPicPr>
        <p:blipFill>
          <a:blip r:embed="rId2"/>
          <a:stretch/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134" name="Picture 133"/>
          <p:cNvPicPr/>
          <p:nvPr/>
        </p:nvPicPr>
        <p:blipFill>
          <a:blip r:embed="rId2"/>
          <a:stretch/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716400" y="5001840"/>
            <a:ext cx="3801600" cy="1442880"/>
          </a:xfrm>
          <a:custGeom>
            <a:avLst/>
            <a:gdLst/>
            <a:ahLst/>
            <a:cxnLst/>
            <a:rect l="l" t="t" r="r" b="b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2"/>
          <p:cNvSpPr/>
          <p:nvPr/>
        </p:nvSpPr>
        <p:spPr>
          <a:xfrm>
            <a:off x="-53640" y="5785200"/>
            <a:ext cx="3801600" cy="837720"/>
          </a:xfrm>
          <a:custGeom>
            <a:avLst/>
            <a:gdLst/>
            <a:ahLst/>
            <a:cxnLst/>
            <a:rect l="l" t="t" r="r" b="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>
            <a:blip r:embed="rId14"/>
            <a:tile/>
          </a:blipFill>
          <a:ln w="12600">
            <a:noFill/>
          </a:ln>
          <a:effectLst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" name="Line 4"/>
          <p:cNvSpPr/>
          <p:nvPr/>
        </p:nvSpPr>
        <p:spPr>
          <a:xfrm>
            <a:off x="-9000" y="5787720"/>
            <a:ext cx="3405240" cy="1084320"/>
          </a:xfrm>
          <a:prstGeom prst="line">
            <a:avLst/>
          </a:prstGeom>
          <a:ln w="12240">
            <a:solidFill>
              <a:srgbClr val="196F85"/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481400"/>
            <a:ext cx="8229240" cy="452556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432000" indent="-324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Click to edit the outline text format</a:t>
            </a:r>
            <a:endParaRPr/>
          </a:p>
          <a:p>
            <a:pPr marL="864000" lvl="1" indent="-324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Second Outline Level</a:t>
            </a:r>
            <a:endParaRPr/>
          </a:p>
          <a:p>
            <a:pPr marL="1296000" lvl="2" indent="-288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Third Outline Level</a:t>
            </a:r>
            <a:endParaRPr/>
          </a:p>
          <a:p>
            <a:pPr marL="1728000" lvl="3" indent="-216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Fourth Outline Level</a:t>
            </a:r>
            <a:endParaRPr/>
          </a:p>
          <a:p>
            <a:pPr marL="2160000" lvl="4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Fifth Outline Level</a:t>
            </a:r>
            <a:endParaRPr/>
          </a:p>
          <a:p>
            <a:pPr marL="2592000" lvl="5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Sixth Outline Level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Seventh Outline LevelClick to edit Master text styles</a:t>
            </a:r>
            <a:endParaRPr/>
          </a:p>
          <a:p>
            <a:pPr marL="621720" lvl="1" indent="-228240">
              <a:lnSpc>
                <a:spcPct val="100000"/>
              </a:lnSpc>
              <a:buClr>
                <a:srgbClr val="2DA2BF"/>
              </a:buClr>
              <a:buFont typeface="Verdana"/>
              <a:buChar char="◦"/>
            </a:pPr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Second level</a:t>
            </a:r>
            <a:endParaRPr/>
          </a:p>
          <a:p>
            <a:pPr marL="859680" lvl="2" indent="-228240">
              <a:lnSpc>
                <a:spcPct val="100000"/>
              </a:lnSpc>
              <a:buClr>
                <a:srgbClr val="DA1F28"/>
              </a:buClr>
              <a:buFont typeface="Wingdings 2" charset="2"/>
              <a:buChar char=""/>
            </a:pPr>
            <a:r>
              <a:rPr lang="en-US" sz="2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Third level</a:t>
            </a:r>
            <a:endParaRPr/>
          </a:p>
          <a:p>
            <a:pPr marL="1143000" lvl="3" indent="-228240">
              <a:lnSpc>
                <a:spcPct val="100000"/>
              </a:lnSpc>
              <a:buClr>
                <a:srgbClr val="DA1F28"/>
              </a:buClr>
              <a:buFont typeface="Wingdings 2" charset="2"/>
              <a:buChar char=""/>
            </a:pPr>
            <a:r>
              <a:rPr lang="en-US" sz="19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Fourth level</a:t>
            </a:r>
            <a:endParaRPr/>
          </a:p>
          <a:p>
            <a:pPr marL="1371600" lvl="4" indent="-228240">
              <a:lnSpc>
                <a:spcPct val="100000"/>
              </a:lnSpc>
              <a:buClr>
                <a:srgbClr val="DA1F28"/>
              </a:buClr>
              <a:buFont typeface="Wingdings 2" charset="2"/>
              <a:buChar char=""/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Fifth level</a:t>
            </a:r>
            <a:endParaRPr/>
          </a:p>
        </p:txBody>
      </p:sp>
      <p:sp>
        <p:nvSpPr>
          <p:cNvPr id="5" name="PlaceHolder 6"/>
          <p:cNvSpPr>
            <a:spLocks noGrp="1"/>
          </p:cNvSpPr>
          <p:nvPr>
            <p:ph type="dt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3/31/22</a:t>
            </a:r>
            <a:endParaRPr/>
          </a:p>
        </p:txBody>
      </p:sp>
      <p:sp>
        <p:nvSpPr>
          <p:cNvPr id="6" name="PlaceHolder 7"/>
          <p:cNvSpPr>
            <a:spLocks noGrp="1"/>
          </p:cNvSpPr>
          <p:nvPr>
            <p:ph type="ftr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7" name="PlaceHolder 8"/>
          <p:cNvSpPr>
            <a:spLocks noGrp="1"/>
          </p:cNvSpPr>
          <p:nvPr>
            <p:ph type="sldNum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F8560CE3-3569-48F4-8741-80BE3E257660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‹#›</a:t>
            </a:fld>
            <a:endParaRPr/>
          </a:p>
        </p:txBody>
      </p:sp>
      <p:sp>
        <p:nvSpPr>
          <p:cNvPr id="8" name="PlaceHolder 9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E94FB-E4E9-4F8F-9F82-5C4A784C8B5F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73483-9245-48A1-BE8B-D1B8B762725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716400" y="5001840"/>
            <a:ext cx="3801600" cy="1442880"/>
          </a:xfrm>
          <a:custGeom>
            <a:avLst/>
            <a:gdLst/>
            <a:ahLst/>
            <a:cxnLst/>
            <a:rect l="l" t="t" r="r" b="b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-53640" y="5785200"/>
            <a:ext cx="3801600" cy="837720"/>
          </a:xfrm>
          <a:custGeom>
            <a:avLst/>
            <a:gdLst/>
            <a:ahLst/>
            <a:cxnLst/>
            <a:rect l="l" t="t" r="r" b="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-6120" y="5791320"/>
            <a:ext cx="3402000" cy="1080360"/>
          </a:xfrm>
          <a:prstGeom prst="rtTriangle">
            <a:avLst/>
          </a:prstGeom>
          <a:blipFill>
            <a:blip r:embed="rId14"/>
            <a:tile/>
          </a:blipFill>
          <a:ln w="12600">
            <a:noFill/>
          </a:ln>
          <a:effectLst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5" name="Line 4"/>
          <p:cNvSpPr/>
          <p:nvPr/>
        </p:nvSpPr>
        <p:spPr>
          <a:xfrm>
            <a:off x="-9000" y="5787720"/>
            <a:ext cx="3405240" cy="1084320"/>
          </a:xfrm>
          <a:prstGeom prst="line">
            <a:avLst/>
          </a:prstGeom>
          <a:ln w="12240">
            <a:solidFill>
              <a:srgbClr val="196F85"/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" name="PlaceHolder 5"/>
          <p:cNvSpPr>
            <a:spLocks noGrp="1"/>
          </p:cNvSpPr>
          <p:nvPr>
            <p:ph type="dt"/>
          </p:nvPr>
        </p:nvSpPr>
        <p:spPr>
          <a:xfrm>
            <a:off x="6726960" y="6408000"/>
            <a:ext cx="1919880" cy="36540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3/31/22</a:t>
            </a:r>
            <a:endParaRPr/>
          </a:p>
        </p:txBody>
      </p:sp>
      <p:sp>
        <p:nvSpPr>
          <p:cNvPr id="97" name="PlaceHolder 6"/>
          <p:cNvSpPr>
            <a:spLocks noGrp="1"/>
          </p:cNvSpPr>
          <p:nvPr>
            <p:ph type="ftr"/>
          </p:nvPr>
        </p:nvSpPr>
        <p:spPr>
          <a:xfrm>
            <a:off x="4380120" y="6408000"/>
            <a:ext cx="235044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98" name="PlaceHolder 7"/>
          <p:cNvSpPr>
            <a:spLocks noGrp="1"/>
          </p:cNvSpPr>
          <p:nvPr>
            <p:ph type="sldNum"/>
          </p:nvPr>
        </p:nvSpPr>
        <p:spPr>
          <a:xfrm>
            <a:off x="8647200" y="6408000"/>
            <a:ext cx="365400" cy="364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5C5E054F-7DB8-4E9A-A91F-646F1AC9E817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‹#›</a:t>
            </a:fld>
            <a:endParaRPr/>
          </a:p>
        </p:txBody>
      </p:sp>
      <p:sp>
        <p:nvSpPr>
          <p:cNvPr id="99" name="PlaceHolder 8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spc="-1">
                <a:latin typeface="Lucida Sans Unicode"/>
              </a:rPr>
              <a:t>Click to edit the title text format</a:t>
            </a:r>
            <a:endParaRPr/>
          </a:p>
        </p:txBody>
      </p:sp>
      <p:sp>
        <p:nvSpPr>
          <p:cNvPr id="100" name="PlaceHolder 9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700" spc="-1">
                <a:latin typeface="Lucida Sans Unicode"/>
              </a:rPr>
              <a:t>Click to edit the outline text format</a:t>
            </a:r>
            <a:endParaRPr/>
          </a:p>
          <a:p>
            <a:pPr marL="864000" lvl="1" indent="-324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2100" spc="-1">
                <a:latin typeface="Lucida Sans Unicode"/>
              </a:rPr>
              <a:t>Second Outline Level</a:t>
            </a:r>
            <a:endParaRPr/>
          </a:p>
          <a:p>
            <a:pPr marL="1296000" lvl="2" indent="-288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1900" spc="-1">
                <a:latin typeface="Lucida Sans Unicode"/>
              </a:rPr>
              <a:t>Third Outline Level</a:t>
            </a:r>
            <a:endParaRPr/>
          </a:p>
          <a:p>
            <a:pPr marL="1728000" lvl="3" indent="-216000">
              <a:buClr>
                <a:srgbClr val="FFFFFF"/>
              </a:buClr>
              <a:buSzPct val="75000"/>
              <a:buFont typeface="StarSymbol"/>
              <a:buChar char=""/>
            </a:pPr>
            <a:r>
              <a:rPr lang="en-US" sz="1800" spc="-1">
                <a:latin typeface="Lucida Sans Unicode"/>
              </a:rPr>
              <a:t>Fourth Outline Level</a:t>
            </a:r>
            <a:endParaRPr/>
          </a:p>
          <a:p>
            <a:pPr marL="2160000" lvl="4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pc="-1">
                <a:latin typeface="Lucida Sans Unicode"/>
              </a:rPr>
              <a:t>Fifth Outline Level</a:t>
            </a:r>
            <a:endParaRPr/>
          </a:p>
          <a:p>
            <a:pPr marL="2592000" lvl="5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pc="-1">
                <a:latin typeface="Lucida Sans Unicode"/>
              </a:rPr>
              <a:t>Sixth Outline Level</a:t>
            </a:r>
            <a:endParaRPr/>
          </a:p>
          <a:p>
            <a:pPr marL="3024000" lvl="6" indent="-216000">
              <a:buClr>
                <a:srgbClr val="FFFFFF"/>
              </a:buClr>
              <a:buSzPct val="45000"/>
              <a:buFont typeface="StarSymbol"/>
              <a:buChar char=""/>
            </a:pPr>
            <a:r>
              <a:rPr lang="en-US" sz="2000" spc="-1">
                <a:latin typeface="Lucida Sans Unicode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dirty="0"/>
          </a:p>
          <a:p>
            <a:pPr marL="109800" algn="ctr">
              <a:lnSpc>
                <a:spcPct val="100000"/>
              </a:lnSpc>
            </a:pPr>
            <a:r>
              <a:rPr lang="en-US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dirty="0"/>
          </a:p>
          <a:p>
            <a:pPr marL="109800" algn="ctr">
              <a:lnSpc>
                <a:spcPct val="100000"/>
              </a:lnSpc>
            </a:pPr>
            <a:endParaRPr dirty="0"/>
          </a:p>
          <a:p>
            <a:pPr marL="109800" algn="ctr">
              <a:lnSpc>
                <a:spcPct val="100000"/>
              </a:lnSpc>
            </a:pPr>
            <a:endParaRPr dirty="0"/>
          </a:p>
          <a:p>
            <a:pPr marL="109800" algn="ctr">
              <a:lnSpc>
                <a:spcPct val="100000"/>
              </a:lnSpc>
            </a:pPr>
            <a:r>
              <a:rPr lang="en-US" sz="2700" i="1" strike="noStrike" spc="-1" dirty="0" smtClean="0">
                <a:solidFill>
                  <a:srgbClr val="3333CC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Facilitator</a:t>
            </a:r>
            <a:r>
              <a:rPr lang="en-US" sz="2700" i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: </a:t>
            </a:r>
            <a:r>
              <a:rPr lang="en-US" sz="27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D. I. </a:t>
            </a:r>
            <a:r>
              <a:rPr lang="en-US" sz="2700" i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Bynite</a:t>
            </a:r>
            <a:endParaRPr dirty="0"/>
          </a:p>
          <a:p>
            <a:pPr marL="109800" algn="ctr">
              <a:lnSpc>
                <a:spcPct val="80000"/>
              </a:lnSpc>
            </a:pPr>
            <a:r>
              <a:rPr lang="en-US" sz="40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rPr>
              <a:t>	</a:t>
            </a:r>
            <a:endParaRPr dirty="0"/>
          </a:p>
          <a:p>
            <a:pPr marL="109800">
              <a:lnSpc>
                <a:spcPct val="80000"/>
              </a:lnSpc>
            </a:pPr>
            <a:r>
              <a:rPr lang="en-US" sz="27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  <a:ea typeface="DejaVu Sans"/>
              </a:rPr>
              <a:t>	</a:t>
            </a:r>
            <a:endParaRPr dirty="0"/>
          </a:p>
        </p:txBody>
      </p:sp>
      <p:sp>
        <p:nvSpPr>
          <p:cNvPr id="136" name="TextShape 2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37" name="TextShape 3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50FD1ED-76C1-4541-BD13-9D9E69504214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</a:t>
            </a:fld>
            <a:endParaRPr/>
          </a:p>
        </p:txBody>
      </p:sp>
      <p:sp>
        <p:nvSpPr>
          <p:cNvPr id="138" name="TextShape 4"/>
          <p:cNvSpPr txBox="1"/>
          <p:nvPr/>
        </p:nvSpPr>
        <p:spPr>
          <a:xfrm>
            <a:off x="231820" y="274680"/>
            <a:ext cx="878078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 dirty="0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     Intro. Operating Systems(ET 8210)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9800">
              <a:lnSpc>
                <a:spcPct val="100000"/>
              </a:lnSpc>
            </a:pPr>
            <a:endParaRPr/>
          </a:p>
          <a:p>
            <a:pPr marL="109800">
              <a:lnSpc>
                <a:spcPct val="100000"/>
              </a:lnSpc>
            </a:pPr>
            <a:endParaRPr/>
          </a:p>
          <a:p>
            <a:pPr marL="109800">
              <a:lnSpc>
                <a:spcPct val="100000"/>
              </a:lnSpc>
            </a:pPr>
            <a:endParaRPr/>
          </a:p>
          <a:p>
            <a:pPr marL="109800">
              <a:lnSpc>
                <a:spcPct val="100000"/>
              </a:lnSpc>
            </a:pPr>
            <a:endParaRPr/>
          </a:p>
          <a:p>
            <a:pPr marL="109800">
              <a:lnSpc>
                <a:spcPct val="100000"/>
              </a:lnSpc>
            </a:pPr>
            <a:endParaRPr/>
          </a:p>
          <a:p>
            <a:pPr marL="109800">
              <a:lnSpc>
                <a:spcPct val="100000"/>
              </a:lnSpc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                             Lecture one</a:t>
            </a:r>
            <a:endParaRPr/>
          </a:p>
        </p:txBody>
      </p:sp>
      <p:sp>
        <p:nvSpPr>
          <p:cNvPr id="140" name="TextShape 2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41" name="TextShape 3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FA8591A9-2300-47F5-824B-78CB5566826F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2</a:t>
            </a:fld>
            <a:endParaRPr/>
          </a:p>
        </p:txBody>
      </p:sp>
      <p:sp>
        <p:nvSpPr>
          <p:cNvPr id="142" name="TextShap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Operating System Overview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A program that controls the execution of application programs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An interface between applications and hardware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A program that acts as an intermediary between a user of a computer and the computer hardware</a:t>
            </a:r>
            <a:endParaRPr/>
          </a:p>
          <a:p>
            <a:pPr marL="109800">
              <a:lnSpc>
                <a:spcPct val="100000"/>
              </a:lnSpc>
            </a:pPr>
            <a:endParaRPr/>
          </a:p>
        </p:txBody>
      </p:sp>
      <p:sp>
        <p:nvSpPr>
          <p:cNvPr id="144" name="TextShape 2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45" name="TextShape 3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A48C6132-03C0-4C03-81E7-24C7668EDC9C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3</a:t>
            </a:fld>
            <a:endParaRPr/>
          </a:p>
        </p:txBody>
      </p:sp>
      <p:sp>
        <p:nvSpPr>
          <p:cNvPr id="146" name="TextShap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What is an operating System?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" charset="2"/>
              <a:buChar char="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 operating system is a program that acts as an interface between the user and the computer hardware and controls the execution of all kinds of programs.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 marL="109800">
              <a:lnSpc>
                <a:spcPct val="100000"/>
              </a:lnSpc>
            </a:pPr>
            <a:endParaRPr/>
          </a:p>
        </p:txBody>
      </p:sp>
      <p:sp>
        <p:nvSpPr>
          <p:cNvPr id="148" name="TextShape 2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49" name="TextShape 3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9F133497-9628-45ED-A8C9-28E3981352BE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4</a:t>
            </a:fld>
            <a:endParaRPr/>
          </a:p>
        </p:txBody>
      </p:sp>
      <p:sp>
        <p:nvSpPr>
          <p:cNvPr id="150" name="TextShap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Cont……</a:t>
            </a:r>
            <a:endParaRPr/>
          </a:p>
        </p:txBody>
      </p:sp>
      <p:pic>
        <p:nvPicPr>
          <p:cNvPr id="151" name="Picture 6"/>
          <p:cNvPicPr/>
          <p:nvPr/>
        </p:nvPicPr>
        <p:blipFill>
          <a:blip r:embed="rId2"/>
          <a:stretch/>
        </p:blipFill>
        <p:spPr>
          <a:xfrm>
            <a:off x="2367000" y="3124080"/>
            <a:ext cx="4409640" cy="2946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53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A185F89-C42B-4806-BB31-BF009E9A731F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5</a:t>
            </a:fld>
            <a:endParaRPr/>
          </a:p>
        </p:txBody>
      </p:sp>
      <p:sp>
        <p:nvSpPr>
          <p:cNvPr id="154" name="TextShap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DA1F28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OS  contd….</a:t>
            </a:r>
            <a:endParaRPr/>
          </a:p>
        </p:txBody>
      </p:sp>
      <p:pic>
        <p:nvPicPr>
          <p:cNvPr id="155" name="Picture 7"/>
          <p:cNvPicPr/>
          <p:nvPr/>
        </p:nvPicPr>
        <p:blipFill>
          <a:blip r:embed="rId2"/>
          <a:stretch/>
        </p:blipFill>
        <p:spPr>
          <a:xfrm>
            <a:off x="914400" y="1417680"/>
            <a:ext cx="7162560" cy="4830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9800">
              <a:lnSpc>
                <a:spcPct val="100000"/>
              </a:lnSpc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Operating system goals:</a:t>
            </a:r>
            <a:endParaRPr/>
          </a:p>
          <a:p>
            <a:pPr marL="109800">
              <a:lnSpc>
                <a:spcPct val="100000"/>
              </a:lnSpc>
            </a:pPr>
            <a:endParaRPr/>
          </a:p>
          <a:p>
            <a:pPr marL="621720" lvl="1" indent="-228240" algn="just">
              <a:lnSpc>
                <a:spcPct val="100000"/>
              </a:lnSpc>
              <a:buClr>
                <a:srgbClr val="2DA2BF"/>
              </a:buClr>
              <a:buFont typeface="Wingdings" charset="2"/>
              <a:buChar char=""/>
            </a:pPr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Execute user programs and make solving user problems easier.</a:t>
            </a:r>
            <a:endParaRPr/>
          </a:p>
          <a:p>
            <a:pPr marL="393120" algn="just"/>
            <a:endParaRPr/>
          </a:p>
          <a:p>
            <a:pPr marL="621720" lvl="1" indent="-228240" algn="just">
              <a:lnSpc>
                <a:spcPct val="100000"/>
              </a:lnSpc>
              <a:buClr>
                <a:srgbClr val="2DA2BF"/>
              </a:buClr>
              <a:buFont typeface="Wingdings" charset="2"/>
              <a:buChar char=""/>
            </a:pPr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Make the computer system convenient to use.</a:t>
            </a:r>
            <a:endParaRPr/>
          </a:p>
          <a:p>
            <a:pPr marL="393120" algn="just"/>
            <a:endParaRPr/>
          </a:p>
          <a:p>
            <a:pPr marL="621720" lvl="1" indent="-228240" algn="just">
              <a:lnSpc>
                <a:spcPct val="100000"/>
              </a:lnSpc>
              <a:buClr>
                <a:srgbClr val="2DA2BF"/>
              </a:buClr>
              <a:buFont typeface="Wingdings" charset="2"/>
              <a:buChar char=""/>
            </a:pPr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Use the computer hardware in an efficient manner.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57" name="TextShape 2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58" name="TextShape 3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DECDEB07-A5B5-49B4-B40C-9A76D463F2B8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6</a:t>
            </a:fld>
            <a:endParaRPr/>
          </a:p>
        </p:txBody>
      </p:sp>
      <p:sp>
        <p:nvSpPr>
          <p:cNvPr id="159" name="TextShap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What are the goals of OS?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55600" algn="just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Convenience</a:t>
            </a:r>
            <a:endParaRPr/>
          </a:p>
          <a:p>
            <a:pPr marL="621720" lvl="1" indent="-228240" algn="just">
              <a:lnSpc>
                <a:spcPct val="100000"/>
              </a:lnSpc>
              <a:buClr>
                <a:srgbClr val="2DA2BF"/>
              </a:buClr>
              <a:buFont typeface="Verdana"/>
              <a:buChar char="-"/>
            </a:pPr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Makes the computer more convenient to use</a:t>
            </a:r>
            <a:endParaRPr/>
          </a:p>
          <a:p>
            <a:pPr marL="393120" algn="just"/>
            <a:endParaRPr/>
          </a:p>
          <a:p>
            <a:pPr marL="365760" indent="-255600" algn="just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Efficiency</a:t>
            </a:r>
            <a:endParaRPr/>
          </a:p>
          <a:p>
            <a:pPr marL="393120" algn="just"/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-Allows computer system resources to be used in an efficient manner</a:t>
            </a:r>
            <a:endParaRPr/>
          </a:p>
          <a:p>
            <a:pPr marL="393120" algn="just"/>
            <a:endParaRPr/>
          </a:p>
          <a:p>
            <a:pPr marL="365760" indent="-255600" algn="just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Ability to evolve</a:t>
            </a:r>
            <a:endParaRPr/>
          </a:p>
          <a:p>
            <a:pPr marL="393120" algn="just"/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-Permit effective development, testing, and introduction of new system functions without interfering with service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61" name="TextShape 2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62" name="TextShape 3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AC89CE0D-54F1-45BB-9FDB-705454BD9C4A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7</a:t>
            </a:fld>
            <a:endParaRPr/>
          </a:p>
        </p:txBody>
      </p:sp>
      <p:sp>
        <p:nvSpPr>
          <p:cNvPr id="163" name="TextShap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Operating System Objectives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65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729A5787-EF10-44E3-BB7F-CCECB356642A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8</a:t>
            </a:fld>
            <a:endParaRPr/>
          </a:p>
        </p:txBody>
      </p:sp>
      <p:sp>
        <p:nvSpPr>
          <p:cNvPr id="166" name="TextShape 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100" b="1" strike="noStrike" spc="-1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Layers of Computer System</a:t>
            </a:r>
            <a:endParaRPr/>
          </a:p>
        </p:txBody>
      </p:sp>
      <p:pic>
        <p:nvPicPr>
          <p:cNvPr id="167" name="Picture 4"/>
          <p:cNvPicPr/>
          <p:nvPr/>
        </p:nvPicPr>
        <p:blipFill>
          <a:blip r:embed="rId2"/>
          <a:stretch/>
        </p:blipFill>
        <p:spPr>
          <a:xfrm>
            <a:off x="2133720" y="1828800"/>
            <a:ext cx="5028840" cy="4419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457200" y="533520"/>
            <a:ext cx="8152920" cy="963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464646"/>
                </a:solidFill>
                <a:uFill>
                  <a:solidFill>
                    <a:srgbClr val="FFFFFF"/>
                  </a:solidFill>
                </a:uFill>
                <a:latin typeface="Verdana"/>
              </a:rPr>
              <a:t>Tasks of the Operating System</a:t>
            </a:r>
            <a:endParaRPr/>
          </a:p>
        </p:txBody>
      </p:sp>
      <p:sp>
        <p:nvSpPr>
          <p:cNvPr id="169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27DDF53-1D47-4015-9F1F-620D93FFB3B4}" type="slidenum">
              <a:rPr lang="en-US" sz="1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9</a:t>
            </a:fld>
            <a:endParaRPr/>
          </a:p>
        </p:txBody>
      </p:sp>
      <p:sp>
        <p:nvSpPr>
          <p:cNvPr id="170" name="TextShape 3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71" name="TextShape 4"/>
          <p:cNvSpPr txBox="1"/>
          <p:nvPr/>
        </p:nvSpPr>
        <p:spPr>
          <a:xfrm>
            <a:off x="304920" y="1828800"/>
            <a:ext cx="8152920" cy="350496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/>
          <a:lstStyle/>
          <a:p>
            <a:pPr algn="just">
              <a:lnSpc>
                <a:spcPct val="100000"/>
              </a:lnSpc>
            </a:pPr>
            <a:r>
              <a:rPr lang="en-US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Operating systems perform the following function:</a:t>
            </a:r>
            <a:endParaRPr/>
          </a:p>
          <a:p>
            <a:pPr algn="just">
              <a:lnSpc>
                <a:spcPct val="100000"/>
              </a:lnSpc>
            </a:pPr>
            <a:endParaRPr/>
          </a:p>
        </p:txBody>
      </p:sp>
      <p:pic>
        <p:nvPicPr>
          <p:cNvPr id="172" name="Picture 8"/>
          <p:cNvPicPr/>
          <p:nvPr/>
        </p:nvPicPr>
        <p:blipFill>
          <a:blip r:embed="rId2"/>
          <a:stretch/>
        </p:blipFill>
        <p:spPr>
          <a:xfrm>
            <a:off x="304920" y="2492280"/>
            <a:ext cx="8457840" cy="2612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1"/>
          <p:cNvSpPr txBox="1"/>
          <p:nvPr/>
        </p:nvSpPr>
        <p:spPr>
          <a:xfrm>
            <a:off x="457200" y="14814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9800">
              <a:lnSpc>
                <a:spcPct val="100000"/>
              </a:lnSpc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Other services provided by OS:</a:t>
            </a:r>
            <a:endParaRPr/>
          </a:p>
          <a:p>
            <a:pPr marL="109800">
              <a:lnSpc>
                <a:spcPct val="100000"/>
              </a:lnSpc>
            </a:pP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Program development</a:t>
            </a:r>
            <a:endParaRPr/>
          </a:p>
          <a:p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-Editors and debuggers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Program execution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Access to I/O devices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Controlled access to files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System access</a:t>
            </a:r>
            <a:endParaRPr/>
          </a:p>
          <a:p>
            <a:pPr marL="109800">
              <a:lnSpc>
                <a:spcPct val="100000"/>
              </a:lnSpc>
            </a:pPr>
            <a:endParaRPr/>
          </a:p>
        </p:txBody>
      </p:sp>
      <p:sp>
        <p:nvSpPr>
          <p:cNvPr id="174" name="TextShape 2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75" name="TextShape 3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51E955AB-519B-4F19-8872-BDDFB94BB022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10</a:t>
            </a:fld>
            <a:endParaRPr/>
          </a:p>
        </p:txBody>
      </p:sp>
      <p:sp>
        <p:nvSpPr>
          <p:cNvPr id="176" name="TextShape 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endParaRPr/>
          </a:p>
        </p:txBody>
      </p:sp>
      <p:pic>
        <p:nvPicPr>
          <p:cNvPr id="177" name="Picture 6"/>
          <p:cNvPicPr/>
          <p:nvPr/>
        </p:nvPicPr>
        <p:blipFill>
          <a:blip r:embed="rId2"/>
          <a:stretch/>
        </p:blipFill>
        <p:spPr>
          <a:xfrm>
            <a:off x="533520" y="457200"/>
            <a:ext cx="8113680" cy="914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79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80A56ADF-0784-4E48-B9D9-B53544C7DD3D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11</a:t>
            </a:fld>
            <a:endParaRPr/>
          </a:p>
        </p:txBody>
      </p:sp>
      <p:sp>
        <p:nvSpPr>
          <p:cNvPr id="180" name="TextShape 3"/>
          <p:cNvSpPr txBox="1"/>
          <p:nvPr/>
        </p:nvSpPr>
        <p:spPr>
          <a:xfrm>
            <a:off x="380880" y="762120"/>
            <a:ext cx="8265960" cy="54860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Error detection and response</a:t>
            </a:r>
            <a:endParaRPr/>
          </a:p>
          <a:p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- internal and external hardware errors</a:t>
            </a:r>
            <a:endParaRPr/>
          </a:p>
          <a:p>
            <a:pPr marL="859680" lvl="2" indent="-228240">
              <a:lnSpc>
                <a:spcPct val="100000"/>
              </a:lnSpc>
              <a:buClr>
                <a:srgbClr val="DA1F28"/>
              </a:buClr>
              <a:buFont typeface="Wingdings 2" charset="2"/>
              <a:buChar char=""/>
            </a:pPr>
            <a:r>
              <a:rPr lang="en-US" sz="2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memory error</a:t>
            </a:r>
            <a:endParaRPr/>
          </a:p>
          <a:p>
            <a:pPr marL="859680" lvl="2" indent="-228240">
              <a:lnSpc>
                <a:spcPct val="100000"/>
              </a:lnSpc>
              <a:buClr>
                <a:srgbClr val="DA1F28"/>
              </a:buClr>
              <a:buFont typeface="Wingdings 2" charset="2"/>
              <a:buChar char=""/>
            </a:pPr>
            <a:r>
              <a:rPr lang="en-US" sz="2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device failure</a:t>
            </a:r>
            <a:endParaRPr/>
          </a:p>
          <a:p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-software errors</a:t>
            </a:r>
            <a:endParaRPr/>
          </a:p>
          <a:p>
            <a:pPr marL="859680" lvl="2" indent="-228240">
              <a:lnSpc>
                <a:spcPct val="100000"/>
              </a:lnSpc>
              <a:buClr>
                <a:srgbClr val="DA1F28"/>
              </a:buClr>
              <a:buFont typeface="Wingdings 2" charset="2"/>
              <a:buChar char=""/>
            </a:pPr>
            <a:r>
              <a:rPr lang="en-US" sz="2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arithmetic overflow</a:t>
            </a:r>
            <a:endParaRPr/>
          </a:p>
          <a:p>
            <a:pPr marL="859680" lvl="2" indent="-228240">
              <a:lnSpc>
                <a:spcPct val="100000"/>
              </a:lnSpc>
              <a:buClr>
                <a:srgbClr val="DA1F28"/>
              </a:buClr>
              <a:buFont typeface="Wingdings 2" charset="2"/>
              <a:buChar char=""/>
            </a:pPr>
            <a:r>
              <a:rPr lang="en-US" sz="2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access forbidden memory locations</a:t>
            </a:r>
            <a:endParaRPr/>
          </a:p>
          <a:p>
            <a:pPr marL="365760" indent="-255600">
              <a:lnSpc>
                <a:spcPct val="100000"/>
              </a:lnSpc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Accounting</a:t>
            </a:r>
            <a:endParaRPr/>
          </a:p>
          <a:p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-collect statistics</a:t>
            </a:r>
            <a:endParaRPr/>
          </a:p>
          <a:p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-monitor performance</a:t>
            </a:r>
            <a:endParaRPr/>
          </a:p>
          <a:p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-used to anticipate future enhancements</a:t>
            </a:r>
            <a:endParaRPr/>
          </a:p>
          <a:p>
            <a:r>
              <a:rPr lang="en-US" sz="23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-used for billing users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82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92F1C93F-636F-4171-ACD2-96989E02EB6D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12</a:t>
            </a:fld>
            <a:endParaRPr/>
          </a:p>
        </p:txBody>
      </p:sp>
      <p:pic>
        <p:nvPicPr>
          <p:cNvPr id="183" name="Picture 3"/>
          <p:cNvPicPr/>
          <p:nvPr/>
        </p:nvPicPr>
        <p:blipFill>
          <a:blip r:embed="rId2"/>
          <a:stretch/>
        </p:blipFill>
        <p:spPr>
          <a:xfrm>
            <a:off x="685800" y="1981080"/>
            <a:ext cx="8113680" cy="3047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85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3D1843C-A58B-4EFC-859D-73369428A7AE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13</a:t>
            </a:fld>
            <a:endParaRPr/>
          </a:p>
        </p:txBody>
      </p:sp>
      <p:pic>
        <p:nvPicPr>
          <p:cNvPr id="186" name="Picture 4"/>
          <p:cNvPicPr/>
          <p:nvPr/>
        </p:nvPicPr>
        <p:blipFill>
          <a:blip r:embed="rId2"/>
          <a:stretch/>
        </p:blipFill>
        <p:spPr>
          <a:xfrm>
            <a:off x="380880" y="533520"/>
            <a:ext cx="8631720" cy="5257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88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1784945-5154-4219-841E-46A7E0F429CF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14</a:t>
            </a:fld>
            <a:endParaRPr/>
          </a:p>
        </p:txBody>
      </p:sp>
      <p:pic>
        <p:nvPicPr>
          <p:cNvPr id="189" name="Picture 4"/>
          <p:cNvPicPr/>
          <p:nvPr/>
        </p:nvPicPr>
        <p:blipFill>
          <a:blip r:embed="rId2"/>
          <a:stretch/>
        </p:blipFill>
        <p:spPr>
          <a:xfrm>
            <a:off x="152280" y="609480"/>
            <a:ext cx="8686440" cy="5181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91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8AD24BF4-DBCB-4F6F-8FE2-AD953CE3CCFE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15</a:t>
            </a:fld>
            <a:endParaRPr/>
          </a:p>
        </p:txBody>
      </p:sp>
      <p:pic>
        <p:nvPicPr>
          <p:cNvPr id="192" name="Picture 4"/>
          <p:cNvPicPr/>
          <p:nvPr/>
        </p:nvPicPr>
        <p:blipFill>
          <a:blip r:embed="rId2"/>
          <a:stretch/>
        </p:blipFill>
        <p:spPr>
          <a:xfrm>
            <a:off x="380880" y="762120"/>
            <a:ext cx="8631720" cy="4876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94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096679B1-F59F-4D4D-BFB8-AE93A87DBACD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16</a:t>
            </a:fld>
            <a:endParaRPr/>
          </a:p>
        </p:txBody>
      </p:sp>
      <p:pic>
        <p:nvPicPr>
          <p:cNvPr id="195" name="Picture 4"/>
          <p:cNvPicPr/>
          <p:nvPr/>
        </p:nvPicPr>
        <p:blipFill>
          <a:blip r:embed="rId2"/>
          <a:stretch/>
        </p:blipFill>
        <p:spPr>
          <a:xfrm>
            <a:off x="152280" y="838080"/>
            <a:ext cx="8860320" cy="5028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197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0C321DD-D069-45E7-A5D9-F28E4D7C2C0B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17</a:t>
            </a:fld>
            <a:endParaRPr/>
          </a:p>
        </p:txBody>
      </p:sp>
      <p:pic>
        <p:nvPicPr>
          <p:cNvPr id="198" name="Picture 4"/>
          <p:cNvPicPr/>
          <p:nvPr/>
        </p:nvPicPr>
        <p:blipFill>
          <a:blip r:embed="rId2"/>
          <a:stretch/>
        </p:blipFill>
        <p:spPr>
          <a:xfrm>
            <a:off x="152280" y="533520"/>
            <a:ext cx="8860320" cy="5486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200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E03D1553-066A-4D67-8B13-D957E2122DC6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18</a:t>
            </a:fld>
            <a:endParaRPr/>
          </a:p>
        </p:txBody>
      </p:sp>
      <p:pic>
        <p:nvPicPr>
          <p:cNvPr id="201" name="Picture 4"/>
          <p:cNvPicPr/>
          <p:nvPr/>
        </p:nvPicPr>
        <p:blipFill>
          <a:blip r:embed="rId2"/>
          <a:stretch/>
        </p:blipFill>
        <p:spPr>
          <a:xfrm>
            <a:off x="380880" y="609480"/>
            <a:ext cx="8631720" cy="5409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203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11E7752-3A12-4A9F-BDF2-BF97574C3C4E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19</a:t>
            </a:fld>
            <a:endParaRPr/>
          </a:p>
        </p:txBody>
      </p:sp>
      <p:pic>
        <p:nvPicPr>
          <p:cNvPr id="204" name="Picture 4"/>
          <p:cNvPicPr/>
          <p:nvPr/>
        </p:nvPicPr>
        <p:blipFill>
          <a:blip r:embed="rId2"/>
          <a:stretch/>
        </p:blipFill>
        <p:spPr>
          <a:xfrm>
            <a:off x="228600" y="533520"/>
            <a:ext cx="8610120" cy="5333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206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874E3417-C3CC-4732-814A-23571C9F6853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20</a:t>
            </a:fld>
            <a:endParaRPr/>
          </a:p>
        </p:txBody>
      </p:sp>
      <p:pic>
        <p:nvPicPr>
          <p:cNvPr id="207" name="Picture 4"/>
          <p:cNvPicPr/>
          <p:nvPr/>
        </p:nvPicPr>
        <p:blipFill>
          <a:blip r:embed="rId2"/>
          <a:stretch/>
        </p:blipFill>
        <p:spPr>
          <a:xfrm>
            <a:off x="533520" y="609480"/>
            <a:ext cx="8229240" cy="5105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209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16194A3-3D8A-486D-BD3C-FCD93D37E22F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21</a:t>
            </a:fld>
            <a:endParaRPr/>
          </a:p>
        </p:txBody>
      </p:sp>
      <p:pic>
        <p:nvPicPr>
          <p:cNvPr id="210" name="Picture 4"/>
          <p:cNvPicPr/>
          <p:nvPr/>
        </p:nvPicPr>
        <p:blipFill>
          <a:blip r:embed="rId2"/>
          <a:stretch/>
        </p:blipFill>
        <p:spPr>
          <a:xfrm>
            <a:off x="0" y="304920"/>
            <a:ext cx="9143640" cy="5486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Shape 1"/>
          <p:cNvSpPr txBox="1"/>
          <p:nvPr/>
        </p:nvSpPr>
        <p:spPr>
          <a:xfrm>
            <a:off x="4380120" y="6408000"/>
            <a:ext cx="23504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endParaRPr/>
          </a:p>
        </p:txBody>
      </p:sp>
      <p:sp>
        <p:nvSpPr>
          <p:cNvPr id="212" name="TextShape 2"/>
          <p:cNvSpPr txBox="1"/>
          <p:nvPr/>
        </p:nvSpPr>
        <p:spPr>
          <a:xfrm>
            <a:off x="8647200" y="6408000"/>
            <a:ext cx="36540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CB21BCC-C223-466B-84FB-1BB65E8DFBBB}" type="slidenum">
              <a:rPr lang="en-US" sz="1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Lucida Sans Unicode"/>
              </a:rPr>
              <a:t>22</a:t>
            </a:fld>
            <a:endParaRPr/>
          </a:p>
        </p:txBody>
      </p:sp>
      <p:pic>
        <p:nvPicPr>
          <p:cNvPr id="213" name="Picture 6"/>
          <p:cNvPicPr/>
          <p:nvPr/>
        </p:nvPicPr>
        <p:blipFill>
          <a:blip r:embed="rId2"/>
          <a:stretch/>
        </p:blipFill>
        <p:spPr>
          <a:xfrm>
            <a:off x="228600" y="457200"/>
            <a:ext cx="8686440" cy="5486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464</TotalTime>
  <Words>277</Words>
  <Application>Microsoft Office PowerPoint</Application>
  <PresentationFormat>On-screen Show (4:3)</PresentationFormat>
  <Paragraphs>84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</vt:lpstr>
      <vt:lpstr>Calibri</vt:lpstr>
      <vt:lpstr>Calibri Light</vt:lpstr>
      <vt:lpstr>DejaVu Sans</vt:lpstr>
      <vt:lpstr>Lucida Sans Unicode</vt:lpstr>
      <vt:lpstr>StarSymbol</vt:lpstr>
      <vt:lpstr>Times New Roman</vt:lpstr>
      <vt:lpstr>Verdana</vt:lpstr>
      <vt:lpstr>Wingdings</vt:lpstr>
      <vt:lpstr>Wingdings 2</vt:lpstr>
      <vt:lpstr>Wingdings 3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 600 – BUSINESS RESEARCH METHODS</dc:title>
  <dc:creator>udom</dc:creator>
  <cp:lastModifiedBy>Tehama</cp:lastModifiedBy>
  <cp:revision>34</cp:revision>
  <dcterms:created xsi:type="dcterms:W3CDTF">2010-01-19T02:52:09Z</dcterms:created>
  <dcterms:modified xsi:type="dcterms:W3CDTF">2023-04-03T15:57:35Z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Grizli777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27</vt:i4>
  </property>
</Properties>
</file>