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319" r:id="rId3"/>
    <p:sldId id="320" r:id="rId4"/>
    <p:sldId id="321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6" r:id="rId18"/>
    <p:sldId id="297" r:id="rId19"/>
    <p:sldId id="298" r:id="rId20"/>
    <p:sldId id="305" r:id="rId21"/>
    <p:sldId id="306" r:id="rId22"/>
    <p:sldId id="273" r:id="rId23"/>
    <p:sldId id="322" r:id="rId24"/>
    <p:sldId id="323" r:id="rId25"/>
    <p:sldId id="324" r:id="rId26"/>
    <p:sldId id="32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F2D9-BBA7-4BE5-B54D-46965F310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315B2-4431-46BB-8687-EB17D00F7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BEAB6-B567-4912-A59A-94A4EC8E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4982F-E278-42B5-AA0A-26B024F9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9581B-8004-44CB-AB67-832D2D3D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FA21-E2C1-4F3E-8662-74B1F3A6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3407F-0482-4491-BFBB-E77C8FE39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4C5A4-75FC-41B5-A701-C4AFF356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5CB35-89A7-4AC6-8758-EF8C6CE0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C0648-3D55-4EF3-9C0F-867233B3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4421-9E70-4D2D-AC4C-9FFBC2D1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ACAB6-A6FA-4B45-8E22-DFF7CA8A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1D43-D937-4557-A436-9FE4A1CB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7138F-5D93-4EC9-8FB3-1177F7C2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3F352-115B-4EC8-8636-406981AC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5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FF1A-FFB5-4DA5-8BA2-8D443A65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03D3-86DE-48A2-B723-076261DEC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55E9D-EB9F-4D1F-83AA-89B123C98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BD6E7-47A8-4DAD-BFB1-888629EE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C0E52-E245-4FF9-AB4E-3A9C43FC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FA7D-31C8-4A17-B2E6-96C49F80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63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6785-C217-4AC7-962D-EC8835DF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D6DE8-7142-4EA9-9AC9-F1C9E6713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611E8-258D-431C-9868-1B8A6C19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616E0-541B-4B7F-9E21-ED020953A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454C9-0A21-45C8-B8F8-6FE465851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A711C-733B-47CF-B7CC-9655AFCD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7A325-775F-434E-B082-567AAEF3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D62062-F089-40F0-9C7F-1FCAF5BA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7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234E-12C0-4868-AD57-4F358EC3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D4BC6-09E3-481C-8FF6-57541E5D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42AEE-5FC0-451F-B72F-838A6F13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BA373-6890-4ED8-BA11-9E2A5498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1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AD607-B513-49EE-84E6-DF0FF871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A46FD-B80F-4E95-B642-CA4D6BBE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248B0-918D-47AA-8AC8-2BA2CDA4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9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FD8C-7922-4F16-89BB-FC12B6EB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7085-EE80-47F6-82DA-A3F8B3E4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8D6C0-5F21-4AAE-AEE9-D4AFCAEDD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4826A-758B-4449-9839-6B4EDACE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9BD63-EB13-4DE7-8425-21ABA551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607C2-1ADB-40A8-BA50-95940A7F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3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441D-6E57-4AF1-BE37-00F3EE54A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A241C-AAEC-4B08-BA85-4855189D8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52A51-8080-4EC6-9BC6-17519A249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32E02-0ECA-41DF-AB81-B0998618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2CF-D699-4D0A-8AD3-E70687A0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6EB13-E580-480A-840D-F0376CE5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EBC4-BDC5-4C80-AFD7-D946C28F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B54AA-7655-4EAD-9D17-A8559A221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A1869-0A92-4A65-A967-72CB93C7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D2180-8249-4386-9DB5-CB65B318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1DE9-AE5E-4468-ACF7-41470A3C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7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9836D-ECBD-4A92-8827-8D98D0032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16B09-09D5-445D-9EB1-D2E6DBCAB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173A9-9FDD-4B39-BD6A-58C36219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1AB95-6810-4098-92C6-AEA2C19E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3681E-19B7-410C-84B5-9E78CC05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4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11A3A2-7638-470E-9FC5-077A5B1E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3D27D-DB25-43AB-8099-FC7CDBE6F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38E24-2FA6-49FE-84A0-C7830BD5E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0A39F-4F2E-4E1F-B9DD-E60DCB6091FA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A18A6-487E-4230-ABE8-20DA2F696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021C1-4589-44D3-BE3D-75C1CB315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79FD3-8A19-4354-B4E9-EB7D36067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264E2-9A35-4BDD-9761-D70D57120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04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Stacks:</a:t>
            </a:r>
          </a:p>
          <a:p>
            <a:r>
              <a:rPr lang="en-US" sz="3600" dirty="0"/>
              <a:t>Stacks is a </a:t>
            </a:r>
            <a:r>
              <a:rPr lang="en-US" sz="3600" b="1" dirty="0"/>
              <a:t>linear type of data structure </a:t>
            </a:r>
            <a:r>
              <a:rPr lang="en-US" sz="3600" dirty="0"/>
              <a:t>that follows the </a:t>
            </a:r>
            <a:r>
              <a:rPr lang="en-US" sz="3600" b="1" dirty="0"/>
              <a:t>LIFO (Last-In-First-Out) principle </a:t>
            </a:r>
            <a:r>
              <a:rPr lang="en-US" sz="3600" dirty="0"/>
              <a:t>and </a:t>
            </a:r>
            <a:r>
              <a:rPr lang="en-US" sz="3600" b="1" dirty="0"/>
              <a:t>allows insertion </a:t>
            </a:r>
            <a:r>
              <a:rPr lang="en-US" sz="3600" dirty="0"/>
              <a:t>and </a:t>
            </a:r>
            <a:r>
              <a:rPr lang="en-US" sz="3600" b="1" dirty="0"/>
              <a:t>deletion operations </a:t>
            </a:r>
            <a:r>
              <a:rPr lang="en-US" sz="3600" dirty="0"/>
              <a:t>from </a:t>
            </a:r>
            <a:r>
              <a:rPr lang="en-US" sz="3600" b="1" dirty="0"/>
              <a:t>one end of the stack </a:t>
            </a:r>
            <a:r>
              <a:rPr lang="en-US" sz="3600" dirty="0"/>
              <a:t>data structure, that is </a:t>
            </a:r>
            <a:r>
              <a:rPr lang="en-US" sz="3600" b="1" dirty="0"/>
              <a:t>top. </a:t>
            </a:r>
          </a:p>
          <a:p>
            <a:r>
              <a:rPr lang="en-US" sz="3600" dirty="0"/>
              <a:t>Implementation of the stack can be done by </a:t>
            </a:r>
            <a:r>
              <a:rPr lang="en-US" sz="3600" b="1" dirty="0"/>
              <a:t>contiguous memory which is an array</a:t>
            </a:r>
            <a:r>
              <a:rPr lang="en-US" sz="3600" dirty="0"/>
              <a:t>, and </a:t>
            </a:r>
            <a:r>
              <a:rPr lang="en-US" sz="3600" b="1" dirty="0"/>
              <a:t>non-contiguous memory which is a linked list</a:t>
            </a:r>
            <a:r>
              <a:rPr lang="en-US" sz="3600" dirty="0"/>
              <a:t>. </a:t>
            </a:r>
          </a:p>
          <a:p>
            <a:r>
              <a:rPr lang="en-US" sz="3600" dirty="0"/>
              <a:t>Stack plays a vital role in </a:t>
            </a:r>
            <a:r>
              <a:rPr lang="en-US" sz="3600" b="1" dirty="0"/>
              <a:t>many applications</a:t>
            </a:r>
            <a:r>
              <a:rPr lang="en-US" sz="3600" dirty="0"/>
              <a:t>. </a:t>
            </a:r>
          </a:p>
          <a:p>
            <a:r>
              <a:rPr lang="en-US" sz="3600" b="1" dirty="0"/>
              <a:t>Real-life examples </a:t>
            </a:r>
            <a:r>
              <a:rPr lang="en-US" sz="3600" dirty="0"/>
              <a:t>of a stack are a deck of cards, piles of books, piles of money, and many more.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108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9206-164D-4A74-8353-F33D57BF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47483"/>
          </a:xfrm>
        </p:spPr>
        <p:txBody>
          <a:bodyPr/>
          <a:lstStyle/>
          <a:p>
            <a:r>
              <a:rPr lang="en-US" b="1" dirty="0"/>
              <a:t>Some key points related to stack: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F77EC-339C-4D3D-8A6F-8061EB14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424"/>
            <a:ext cx="10515600" cy="5172635"/>
          </a:xfrm>
        </p:spPr>
        <p:txBody>
          <a:bodyPr/>
          <a:lstStyle/>
          <a:p>
            <a:pPr lvl="0"/>
            <a:r>
              <a:rPr lang="en-US" sz="3600" dirty="0"/>
              <a:t>It is called as stack because it behaves like a real-world stack, piles of books, etc.</a:t>
            </a:r>
          </a:p>
          <a:p>
            <a:pPr lvl="0"/>
            <a:r>
              <a:rPr lang="en-US" sz="3600" dirty="0"/>
              <a:t>A Stack is an </a:t>
            </a:r>
            <a:r>
              <a:rPr lang="en-US" sz="3600" b="1" dirty="0"/>
              <a:t>abstract data type </a:t>
            </a:r>
            <a:r>
              <a:rPr lang="en-US" sz="3600" dirty="0"/>
              <a:t>with a </a:t>
            </a:r>
            <a:r>
              <a:rPr lang="en-US" sz="3600" b="1" dirty="0"/>
              <a:t>pre-defined capacity</a:t>
            </a:r>
            <a:r>
              <a:rPr lang="en-US" sz="3600" dirty="0"/>
              <a:t>, which means that it </a:t>
            </a:r>
            <a:r>
              <a:rPr lang="en-US" sz="3600" b="1" dirty="0"/>
              <a:t>can store the elements of a limited size.</a:t>
            </a:r>
          </a:p>
          <a:p>
            <a:pPr lvl="0"/>
            <a:r>
              <a:rPr lang="en-US" sz="3600" dirty="0"/>
              <a:t>It is a data structure that </a:t>
            </a:r>
            <a:r>
              <a:rPr lang="en-US" sz="3600" b="1" dirty="0"/>
              <a:t>follows some order to insert and delete the elements, and that order can be LIFO </a:t>
            </a:r>
            <a:r>
              <a:rPr lang="en-US" sz="3600" dirty="0"/>
              <a:t>(LAST IN FIRST OUT) or</a:t>
            </a:r>
            <a:r>
              <a:rPr lang="en-US" sz="3600" b="1" dirty="0"/>
              <a:t> FILO </a:t>
            </a:r>
            <a:r>
              <a:rPr lang="en-US" sz="3600" dirty="0"/>
              <a:t>(FIRST IN LAST OUT).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1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2997-3F58-434C-AF86-2E64CAB6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5"/>
            <a:ext cx="10515600" cy="878540"/>
          </a:xfrm>
        </p:spPr>
        <p:txBody>
          <a:bodyPr/>
          <a:lstStyle/>
          <a:p>
            <a:r>
              <a:rPr lang="en-US" b="1" dirty="0"/>
              <a:t>Working of Stack: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4F7A-2C1A-46CA-9167-B48784DF7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0612"/>
            <a:ext cx="10515600" cy="5818093"/>
          </a:xfrm>
        </p:spPr>
        <p:txBody>
          <a:bodyPr/>
          <a:lstStyle/>
          <a:p>
            <a:r>
              <a:rPr lang="en-US" dirty="0"/>
              <a:t>Stack works on the LIFO pattern.</a:t>
            </a:r>
          </a:p>
          <a:p>
            <a:pPr lvl="0"/>
            <a:r>
              <a:rPr lang="en-US" dirty="0"/>
              <a:t>Inserting a new element in the stack is termed a </a:t>
            </a:r>
            <a:r>
              <a:rPr lang="en-US" b="1" dirty="0"/>
              <a:t>push operation</a:t>
            </a:r>
            <a:r>
              <a:rPr lang="en-US" dirty="0"/>
              <a:t>.</a:t>
            </a:r>
          </a:p>
          <a:p>
            <a:r>
              <a:rPr lang="en-US" dirty="0"/>
              <a:t>Removing or deleting elements from the stack is termed</a:t>
            </a:r>
            <a:r>
              <a:rPr lang="en-US" b="1" dirty="0"/>
              <a:t> pop</a:t>
            </a:r>
            <a:r>
              <a:rPr lang="en-US" dirty="0"/>
              <a:t> </a:t>
            </a:r>
            <a:r>
              <a:rPr lang="en-US" b="1" dirty="0"/>
              <a:t>operation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DS Stack Introduction">
            <a:extLst>
              <a:ext uri="{FF2B5EF4-FFF2-40B4-BE49-F238E27FC236}">
                <a16:creationId xmlns:a16="http://schemas.microsoft.com/office/drawing/2014/main" id="{DCA2568E-F1D0-4B0C-99D3-767A69F3432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904565"/>
            <a:ext cx="10515600" cy="3774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37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7B89-872C-4F29-BD79-A37FFB95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53"/>
            <a:ext cx="10515600" cy="842683"/>
          </a:xfrm>
        </p:spPr>
        <p:txBody>
          <a:bodyPr>
            <a:normAutofit/>
          </a:bodyPr>
          <a:lstStyle/>
          <a:p>
            <a:r>
              <a:rPr lang="en-US" b="1" dirty="0"/>
              <a:t>Standard Stack Operations: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22A7C-6902-4C2B-B302-E69450E8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836"/>
            <a:ext cx="10515600" cy="5800164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push ():</a:t>
            </a:r>
            <a:r>
              <a:rPr lang="en-US" dirty="0"/>
              <a:t> When we </a:t>
            </a:r>
            <a:r>
              <a:rPr lang="en-US" b="1" dirty="0"/>
              <a:t>insert an element </a:t>
            </a:r>
            <a:r>
              <a:rPr lang="en-US" dirty="0"/>
              <a:t>in a stack then the operation is known as a </a:t>
            </a:r>
            <a:r>
              <a:rPr lang="en-US" b="1" dirty="0"/>
              <a:t>push</a:t>
            </a:r>
            <a:r>
              <a:rPr lang="en-US" dirty="0"/>
              <a:t>. If the stack is </a:t>
            </a:r>
            <a:r>
              <a:rPr lang="en-US" b="1" dirty="0"/>
              <a:t>full </a:t>
            </a:r>
            <a:r>
              <a:rPr lang="en-US" dirty="0"/>
              <a:t>then the </a:t>
            </a:r>
            <a:r>
              <a:rPr lang="en-US" b="1" dirty="0"/>
              <a:t>overflow condition </a:t>
            </a:r>
            <a:r>
              <a:rPr lang="en-US" dirty="0"/>
              <a:t>occurs.</a:t>
            </a:r>
          </a:p>
          <a:p>
            <a:pPr lvl="0"/>
            <a:r>
              <a:rPr lang="en-US" b="1" dirty="0"/>
              <a:t>pop ():</a:t>
            </a:r>
            <a:r>
              <a:rPr lang="en-US" dirty="0"/>
              <a:t> When we </a:t>
            </a:r>
            <a:r>
              <a:rPr lang="en-US" b="1" dirty="0"/>
              <a:t>delete an element </a:t>
            </a:r>
            <a:r>
              <a:rPr lang="en-US" dirty="0"/>
              <a:t>from the stack, the operation is known as a </a:t>
            </a:r>
            <a:r>
              <a:rPr lang="en-US" b="1" dirty="0"/>
              <a:t>pop</a:t>
            </a:r>
            <a:r>
              <a:rPr lang="en-US" dirty="0"/>
              <a:t>. If the stack is </a:t>
            </a:r>
            <a:r>
              <a:rPr lang="en-US" b="1" dirty="0"/>
              <a:t>empty </a:t>
            </a:r>
            <a:r>
              <a:rPr lang="en-US" dirty="0"/>
              <a:t>means that no element exists in the stack, this state is known as an </a:t>
            </a:r>
            <a:r>
              <a:rPr lang="en-US" b="1" dirty="0"/>
              <a:t>underflow state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is Empty ():</a:t>
            </a:r>
            <a:r>
              <a:rPr lang="en-US" dirty="0"/>
              <a:t> It </a:t>
            </a:r>
            <a:r>
              <a:rPr lang="en-US" b="1" dirty="0"/>
              <a:t>determines whether the stack is empty </a:t>
            </a:r>
            <a:r>
              <a:rPr lang="en-US" dirty="0"/>
              <a:t>or not.</a:t>
            </a:r>
          </a:p>
          <a:p>
            <a:pPr lvl="0"/>
            <a:r>
              <a:rPr lang="en-US" b="1" dirty="0"/>
              <a:t>Is Full ():</a:t>
            </a:r>
            <a:r>
              <a:rPr lang="en-US" dirty="0"/>
              <a:t> It </a:t>
            </a:r>
            <a:r>
              <a:rPr lang="en-US" b="1" dirty="0"/>
              <a:t>determines whether the stack is full </a:t>
            </a:r>
            <a:r>
              <a:rPr lang="en-US" dirty="0"/>
              <a:t>or not.'</a:t>
            </a:r>
          </a:p>
          <a:p>
            <a:pPr lvl="0"/>
            <a:r>
              <a:rPr lang="en-US" b="1" dirty="0"/>
              <a:t>peek ():</a:t>
            </a:r>
            <a:r>
              <a:rPr lang="en-US" dirty="0"/>
              <a:t> It </a:t>
            </a:r>
            <a:r>
              <a:rPr lang="en-US" b="1" dirty="0"/>
              <a:t>returns the element at the given position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count ():</a:t>
            </a:r>
            <a:r>
              <a:rPr lang="en-US" dirty="0"/>
              <a:t> It </a:t>
            </a:r>
            <a:r>
              <a:rPr lang="en-US" b="1" dirty="0"/>
              <a:t>returns the total number of elements </a:t>
            </a:r>
            <a:r>
              <a:rPr lang="en-US" dirty="0"/>
              <a:t>available in a stack.</a:t>
            </a:r>
          </a:p>
          <a:p>
            <a:pPr lvl="0"/>
            <a:r>
              <a:rPr lang="en-US" b="1" dirty="0"/>
              <a:t>change ():</a:t>
            </a:r>
            <a:r>
              <a:rPr lang="en-US" dirty="0"/>
              <a:t> It </a:t>
            </a:r>
            <a:r>
              <a:rPr lang="en-US" b="1" dirty="0"/>
              <a:t>changes the element at the given position.</a:t>
            </a:r>
          </a:p>
          <a:p>
            <a:pPr lvl="0"/>
            <a:r>
              <a:rPr lang="en-US" b="1" dirty="0"/>
              <a:t>display ():</a:t>
            </a:r>
            <a:r>
              <a:rPr lang="en-US" dirty="0"/>
              <a:t> It </a:t>
            </a:r>
            <a:r>
              <a:rPr lang="en-US" b="1" dirty="0"/>
              <a:t>prints all the elements available in the stack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0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2244-E021-4345-B9E2-C3FDADFF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>
            <a:normAutofit/>
          </a:bodyPr>
          <a:lstStyle/>
          <a:p>
            <a:r>
              <a:rPr lang="en-US" b="1" dirty="0"/>
              <a:t>PUSH operation: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52F9C-1EC5-48EF-AE8A-F06CEA3E6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964"/>
            <a:ext cx="10515600" cy="586291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steps involved in the PUSH operation is given below:</a:t>
            </a:r>
            <a:endParaRPr lang="en-US" dirty="0"/>
          </a:p>
          <a:p>
            <a:pPr lvl="0"/>
            <a:r>
              <a:rPr lang="en-US" dirty="0"/>
              <a:t>Before inserting an element in a stack, we check whether the stack is full.</a:t>
            </a:r>
          </a:p>
          <a:p>
            <a:pPr lvl="0"/>
            <a:r>
              <a:rPr lang="en-US" dirty="0"/>
              <a:t>If we try to insert the element in a stack, and the stack is full, then the </a:t>
            </a:r>
            <a:r>
              <a:rPr lang="en-US" b="1" i="1" dirty="0"/>
              <a:t>overflow</a:t>
            </a:r>
            <a:r>
              <a:rPr lang="en-US" dirty="0"/>
              <a:t> condition occurs.</a:t>
            </a:r>
          </a:p>
          <a:p>
            <a:pPr lvl="0"/>
            <a:r>
              <a:rPr lang="en-US" dirty="0"/>
              <a:t>When we initialize a stack, we set the value of top as -1 to check that the stack is empty.</a:t>
            </a:r>
          </a:p>
          <a:p>
            <a:pPr lvl="0"/>
            <a:r>
              <a:rPr lang="en-US" dirty="0"/>
              <a:t>When the new element is pushed in a stack, first, the value of the top gets incremented, i.e., </a:t>
            </a:r>
            <a:r>
              <a:rPr lang="en-US" b="1" dirty="0"/>
              <a:t>top=top+1,</a:t>
            </a:r>
            <a:r>
              <a:rPr lang="en-US" dirty="0"/>
              <a:t> and the element will be placed at the new position of the </a:t>
            </a:r>
            <a:r>
              <a:rPr lang="en-US" b="1" dirty="0"/>
              <a:t>top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The elements will be inserted until we reach the </a:t>
            </a:r>
            <a:r>
              <a:rPr lang="en-US" b="1" i="1" dirty="0"/>
              <a:t>max</a:t>
            </a:r>
            <a:r>
              <a:rPr lang="en-US" dirty="0"/>
              <a:t> size of the stack.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6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0BB7-6A07-4B47-90AC-744DDDC4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681319"/>
          </a:xfrm>
        </p:spPr>
        <p:txBody>
          <a:bodyPr>
            <a:noAutofit/>
          </a:bodyPr>
          <a:lstStyle/>
          <a:p>
            <a:r>
              <a:rPr lang="en-US" sz="5400" b="1" dirty="0"/>
              <a:t>Push operation includes various steps: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83E9D-C078-4993-8DF0-27D94420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260"/>
            <a:ext cx="10515600" cy="5638799"/>
          </a:xfrm>
        </p:spPr>
        <p:txBody>
          <a:bodyPr/>
          <a:lstStyle/>
          <a:p>
            <a:pPr lvl="0"/>
            <a:r>
              <a:rPr lang="en-US" sz="4400" b="1" dirty="0"/>
              <a:t>Step 1</a:t>
            </a:r>
            <a:r>
              <a:rPr lang="en-US" sz="4400" dirty="0"/>
              <a:t>: First, check whether or not the stack is full</a:t>
            </a:r>
          </a:p>
          <a:p>
            <a:pPr lvl="0"/>
            <a:r>
              <a:rPr lang="en-US" sz="4400" b="1" dirty="0"/>
              <a:t>Step 2: </a:t>
            </a:r>
            <a:r>
              <a:rPr lang="en-US" sz="4400" dirty="0"/>
              <a:t>If the stack is complete, then exit</a:t>
            </a:r>
          </a:p>
          <a:p>
            <a:pPr lvl="0"/>
            <a:r>
              <a:rPr lang="en-US" sz="4400" b="1" dirty="0"/>
              <a:t>Step 3: </a:t>
            </a:r>
            <a:r>
              <a:rPr lang="en-US" sz="4400" dirty="0"/>
              <a:t>If not, increment the top by one</a:t>
            </a:r>
          </a:p>
          <a:p>
            <a:pPr lvl="0"/>
            <a:r>
              <a:rPr lang="en-US" sz="4400" b="1" dirty="0"/>
              <a:t>Step 4: </a:t>
            </a:r>
            <a:r>
              <a:rPr lang="en-US" sz="4400" dirty="0"/>
              <a:t>Insert a new element where the top is pointing</a:t>
            </a:r>
          </a:p>
          <a:p>
            <a:pPr lvl="0"/>
            <a:r>
              <a:rPr lang="en-US" sz="4400" b="1" dirty="0"/>
              <a:t>Step 5: </a:t>
            </a:r>
            <a:r>
              <a:rPr lang="en-US" sz="4400" dirty="0"/>
              <a:t>Success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79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D5B2-C4BF-493B-899F-CA4AA4980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1699"/>
          </a:xfrm>
        </p:spPr>
        <p:txBody>
          <a:bodyPr>
            <a:noAutofit/>
          </a:bodyPr>
          <a:lstStyle/>
          <a:p>
            <a:r>
              <a:rPr lang="en-US" sz="4800" b="1" dirty="0"/>
              <a:t>The algorithm of the push operation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4B925-D42A-4118-BBD4-9D0307D86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4"/>
            <a:ext cx="10515600" cy="5827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Begin push: stack, item</a:t>
            </a:r>
          </a:p>
          <a:p>
            <a:pPr marL="0" indent="0">
              <a:buNone/>
            </a:pPr>
            <a:r>
              <a:rPr lang="en-US" sz="4000" dirty="0"/>
              <a:t>If the stack is complete(Full), return null</a:t>
            </a:r>
          </a:p>
          <a:p>
            <a:pPr marL="0" indent="0">
              <a:buNone/>
            </a:pPr>
            <a:r>
              <a:rPr lang="en-US" sz="4000" dirty="0"/>
              <a:t>end if</a:t>
            </a:r>
          </a:p>
          <a:p>
            <a:pPr marL="0" indent="0">
              <a:buNone/>
            </a:pPr>
            <a:r>
              <a:rPr lang="en-US" sz="4000" dirty="0"/>
              <a:t>top -&gt;top+1;</a:t>
            </a:r>
          </a:p>
          <a:p>
            <a:pPr marL="0" indent="0">
              <a:buNone/>
            </a:pPr>
            <a:r>
              <a:rPr lang="en-US" sz="4000" dirty="0"/>
              <a:t>stack[top] &lt;- item</a:t>
            </a:r>
          </a:p>
          <a:p>
            <a:pPr marL="0" indent="0">
              <a:buNone/>
            </a:pPr>
            <a:r>
              <a:rPr lang="en-US" sz="40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948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S Stack Introduction">
            <a:extLst>
              <a:ext uri="{FF2B5EF4-FFF2-40B4-BE49-F238E27FC236}">
                <a16:creationId xmlns:a16="http://schemas.microsoft.com/office/drawing/2014/main" id="{90826FD0-100F-4D2B-A24F-09E87DFEFDB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12" y="394447"/>
            <a:ext cx="11689976" cy="6257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701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CC2B-D298-4AFD-97FA-C3F9267A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53"/>
            <a:ext cx="10515600" cy="770965"/>
          </a:xfrm>
        </p:spPr>
        <p:txBody>
          <a:bodyPr>
            <a:normAutofit/>
          </a:bodyPr>
          <a:lstStyle/>
          <a:p>
            <a:r>
              <a:rPr lang="en-US" b="1" dirty="0"/>
              <a:t>POP operation: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F48E1-A28D-4CC0-BD29-DE106E4CE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118"/>
            <a:ext cx="10515600" cy="565672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steps involved in the POP operation is given below:</a:t>
            </a:r>
          </a:p>
          <a:p>
            <a:pPr lvl="0"/>
            <a:r>
              <a:rPr lang="en-US" sz="4000" dirty="0"/>
              <a:t>Before deleting the element from the stack, we check whether the stack is empty.</a:t>
            </a:r>
          </a:p>
          <a:p>
            <a:pPr lvl="0"/>
            <a:r>
              <a:rPr lang="en-US" sz="4000" dirty="0"/>
              <a:t>If we try to delete the element from the empty stack, then the </a:t>
            </a:r>
            <a:r>
              <a:rPr lang="en-US" sz="4000" b="1" i="1" dirty="0"/>
              <a:t>underflow</a:t>
            </a:r>
            <a:r>
              <a:rPr lang="en-US" sz="4000" dirty="0"/>
              <a:t> condition occurs.</a:t>
            </a:r>
          </a:p>
          <a:p>
            <a:pPr lvl="0"/>
            <a:r>
              <a:rPr lang="en-US" sz="4000" dirty="0"/>
              <a:t>If the stack is not empty, we first access the element which is pointed by the </a:t>
            </a:r>
            <a:r>
              <a:rPr lang="en-US" sz="4000" b="1" i="1" dirty="0"/>
              <a:t>top</a:t>
            </a:r>
            <a:r>
              <a:rPr lang="en-US" sz="4000" dirty="0"/>
              <a:t> </a:t>
            </a:r>
          </a:p>
          <a:p>
            <a:pPr lvl="0"/>
            <a:r>
              <a:rPr lang="en-US" sz="4000" dirty="0"/>
              <a:t>Once the pop operation is performed, the top is decremented by 1, i.e., </a:t>
            </a:r>
            <a:r>
              <a:rPr lang="en-US" sz="4000" b="1" dirty="0"/>
              <a:t>top=top-1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8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D367-7804-4845-B2FA-201E9094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753035"/>
          </a:xfrm>
        </p:spPr>
        <p:txBody>
          <a:bodyPr>
            <a:normAutofit/>
          </a:bodyPr>
          <a:lstStyle/>
          <a:p>
            <a:r>
              <a:rPr lang="en-US" b="1" dirty="0"/>
              <a:t>Pop operation includes various steps: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0B1B7-D1B7-4E31-B125-C13B1F98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647765"/>
          </a:xfrm>
        </p:spPr>
        <p:txBody>
          <a:bodyPr/>
          <a:lstStyle/>
          <a:p>
            <a:endParaRPr lang="en-US" sz="4000" b="1" dirty="0"/>
          </a:p>
          <a:p>
            <a:r>
              <a:rPr lang="en-US" sz="4000" b="1" dirty="0"/>
              <a:t>Step 1: </a:t>
            </a:r>
            <a:r>
              <a:rPr lang="en-US" sz="4000" dirty="0"/>
              <a:t>First, check whether or not the stack is empty</a:t>
            </a:r>
          </a:p>
          <a:p>
            <a:r>
              <a:rPr lang="en-US" sz="4000" b="1" dirty="0"/>
              <a:t>Step 2: </a:t>
            </a:r>
            <a:r>
              <a:rPr lang="en-US" sz="4000" dirty="0"/>
              <a:t>If the stack is empty, then exit</a:t>
            </a:r>
          </a:p>
          <a:p>
            <a:r>
              <a:rPr lang="en-US" sz="4000" b="1" dirty="0"/>
              <a:t>Step 3: </a:t>
            </a:r>
            <a:r>
              <a:rPr lang="en-US" sz="4000" dirty="0"/>
              <a:t>If not, access the topmost data element</a:t>
            </a:r>
          </a:p>
          <a:p>
            <a:r>
              <a:rPr lang="en-US" sz="4000" b="1" dirty="0"/>
              <a:t>Step 4: </a:t>
            </a:r>
            <a:r>
              <a:rPr lang="en-US" sz="4000" dirty="0"/>
              <a:t>Decrement the top by one</a:t>
            </a:r>
          </a:p>
          <a:p>
            <a:r>
              <a:rPr lang="en-US" sz="4000" b="1" dirty="0"/>
              <a:t>Step 5: </a:t>
            </a:r>
            <a:r>
              <a:rPr lang="en-US" sz="4000" dirty="0"/>
              <a:t>Success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1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A72D-10BD-4CC4-908D-BFA0D3B8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2" y="215153"/>
            <a:ext cx="10515600" cy="914401"/>
          </a:xfrm>
        </p:spPr>
        <p:txBody>
          <a:bodyPr/>
          <a:lstStyle/>
          <a:p>
            <a:r>
              <a:rPr lang="en-US" b="1" dirty="0"/>
              <a:t>The algorithm of the pop operation: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5622-7AB7-4CCC-9E97-C253074CC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554"/>
            <a:ext cx="10515600" cy="5513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Begin pop: stack</a:t>
            </a:r>
          </a:p>
          <a:p>
            <a:pPr marL="0" indent="0">
              <a:buNone/>
            </a:pPr>
            <a:r>
              <a:rPr lang="en-US" sz="4000" dirty="0"/>
              <a:t>if the stack is empty</a:t>
            </a:r>
          </a:p>
          <a:p>
            <a:pPr marL="0" indent="0">
              <a:buNone/>
            </a:pPr>
            <a:r>
              <a:rPr lang="en-US" sz="4000" dirty="0"/>
              <a:t> return null</a:t>
            </a:r>
          </a:p>
          <a:p>
            <a:pPr marL="0" indent="0">
              <a:buNone/>
            </a:pPr>
            <a:r>
              <a:rPr lang="en-US" sz="4000" dirty="0"/>
              <a:t>end if</a:t>
            </a:r>
          </a:p>
          <a:p>
            <a:pPr marL="0" indent="0">
              <a:buNone/>
            </a:pPr>
            <a:r>
              <a:rPr lang="en-US" sz="4000" dirty="0"/>
              <a:t>item -&gt; stack[top] ;</a:t>
            </a:r>
          </a:p>
          <a:p>
            <a:pPr marL="0" indent="0">
              <a:buNone/>
            </a:pPr>
            <a:r>
              <a:rPr lang="en-US" sz="4000" dirty="0"/>
              <a:t>Top -&gt; top - 1;</a:t>
            </a:r>
          </a:p>
          <a:p>
            <a:pPr marL="0" indent="0">
              <a:buNone/>
            </a:pPr>
            <a:r>
              <a:rPr lang="en-US" sz="4000" dirty="0"/>
              <a:t>Return item;</a:t>
            </a:r>
          </a:p>
          <a:p>
            <a:pPr marL="0" indent="0">
              <a:buNone/>
            </a:pPr>
            <a:r>
              <a:rPr lang="en-US" sz="40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51918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S Stack Introduction">
            <a:extLst>
              <a:ext uri="{FF2B5EF4-FFF2-40B4-BE49-F238E27FC236}">
                <a16:creationId xmlns:a16="http://schemas.microsoft.com/office/drawing/2014/main" id="{D15581B8-B21E-4DC3-96F2-7ADCC9A2BAD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5" y="125506"/>
            <a:ext cx="11887199" cy="6508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600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8B65-7BB5-4182-8782-E56F7817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9906"/>
          </a:xfrm>
        </p:spPr>
        <p:txBody>
          <a:bodyPr>
            <a:normAutofit/>
          </a:bodyPr>
          <a:lstStyle/>
          <a:p>
            <a:r>
              <a:rPr lang="en-US" b="1" dirty="0"/>
              <a:t>Peek Operation: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4DFB-8D1D-418A-A1F9-C2035260A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682"/>
            <a:ext cx="10515600" cy="5827059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/>
              <a:t>The algorithm of a peek operation is:</a:t>
            </a:r>
            <a:endParaRPr lang="en-US" b="1" dirty="0"/>
          </a:p>
          <a:p>
            <a:pPr marL="0" indent="0">
              <a:buNone/>
            </a:pPr>
            <a:r>
              <a:rPr lang="en-US" sz="3200" dirty="0"/>
              <a:t>begin to peek</a:t>
            </a:r>
          </a:p>
          <a:p>
            <a:pPr marL="0" indent="0">
              <a:buNone/>
            </a:pPr>
            <a:r>
              <a:rPr lang="en-US" sz="3200" dirty="0"/>
              <a:t>return stack[top];</a:t>
            </a:r>
          </a:p>
          <a:p>
            <a:pPr marL="0" indent="0">
              <a:buNone/>
            </a:pPr>
            <a:r>
              <a:rPr lang="en-US" sz="3200" dirty="0"/>
              <a:t>End</a:t>
            </a:r>
          </a:p>
          <a:p>
            <a:pPr marL="0" indent="0">
              <a:buNone/>
            </a:pPr>
            <a:r>
              <a:rPr lang="en-US" b="1" dirty="0"/>
              <a:t>The implementation of the peek operation is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3200" dirty="0"/>
              <a:t>int peek()</a:t>
            </a:r>
          </a:p>
          <a:p>
            <a:pPr marL="0" indent="0">
              <a:buNone/>
            </a:pPr>
            <a:r>
              <a:rPr lang="en-US" sz="3200" dirty="0"/>
              <a:t>{</a:t>
            </a:r>
          </a:p>
          <a:p>
            <a:pPr marL="0" indent="0">
              <a:buNone/>
            </a:pPr>
            <a:r>
              <a:rPr lang="en-US" sz="3200" dirty="0"/>
              <a:t>return stack[top];</a:t>
            </a:r>
          </a:p>
          <a:p>
            <a:pPr marL="0" indent="0">
              <a:buNone/>
            </a:pPr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644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DA66-DD73-43E1-B66A-B9F59A68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506"/>
            <a:ext cx="10515600" cy="78889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The algorithm of the </a:t>
            </a:r>
            <a:r>
              <a:rPr lang="en-US" b="1" dirty="0" err="1"/>
              <a:t>isEmpty</a:t>
            </a:r>
            <a:r>
              <a:rPr lang="en-US" b="1" dirty="0"/>
              <a:t>() function: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A269A-2995-4DAF-BE88-A9F61A8A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818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begin</a:t>
            </a:r>
          </a:p>
          <a:p>
            <a:pPr marL="0" indent="0">
              <a:buNone/>
            </a:pPr>
            <a:r>
              <a:rPr lang="en-US" sz="3600" dirty="0"/>
              <a:t> if</a:t>
            </a:r>
          </a:p>
          <a:p>
            <a:pPr marL="0" indent="0">
              <a:buNone/>
            </a:pPr>
            <a:r>
              <a:rPr lang="en-US" sz="3600" dirty="0"/>
              <a:t>    topless than 1</a:t>
            </a:r>
          </a:p>
          <a:p>
            <a:pPr marL="0" indent="0">
              <a:buNone/>
            </a:pPr>
            <a:r>
              <a:rPr lang="en-US" sz="3600" dirty="0"/>
              <a:t>        return true</a:t>
            </a:r>
          </a:p>
          <a:p>
            <a:pPr marL="0" indent="0">
              <a:buNone/>
            </a:pPr>
            <a:r>
              <a:rPr lang="en-US" sz="3600" dirty="0"/>
              <a:t>else</a:t>
            </a:r>
          </a:p>
          <a:p>
            <a:pPr marL="0" indent="0">
              <a:buNone/>
            </a:pPr>
            <a:r>
              <a:rPr lang="en-US" sz="3600" dirty="0"/>
              <a:t>       return false</a:t>
            </a:r>
          </a:p>
          <a:p>
            <a:pPr marL="0" indent="0">
              <a:buNone/>
            </a:pPr>
            <a:r>
              <a:rPr lang="en-US" sz="3600" dirty="0"/>
              <a:t>else if</a:t>
            </a:r>
          </a:p>
          <a:p>
            <a:pPr marL="0" indent="0">
              <a:buNone/>
            </a:pPr>
            <a:r>
              <a:rPr lang="en-US" sz="36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64715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2DDB-B67E-44D4-8981-4EB17FEE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659"/>
            <a:ext cx="10515600" cy="1350029"/>
          </a:xfrm>
        </p:spPr>
        <p:txBody>
          <a:bodyPr/>
          <a:lstStyle/>
          <a:p>
            <a:r>
              <a:rPr lang="en-US" b="1" dirty="0"/>
              <a:t>Types of Stacks: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691B-FB4F-4803-ABD9-D45D2FF7A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40"/>
            <a:ext cx="10515600" cy="521745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3600" b="1" dirty="0"/>
              <a:t>Register Stack:</a:t>
            </a:r>
            <a:r>
              <a:rPr lang="en-US" sz="3600" dirty="0"/>
              <a:t> </a:t>
            </a:r>
          </a:p>
          <a:p>
            <a:pPr marL="0" lvl="0" indent="0">
              <a:buNone/>
            </a:pPr>
            <a:r>
              <a:rPr lang="en-US" sz="3600" dirty="0"/>
              <a:t>This type of stack is also a </a:t>
            </a:r>
            <a:r>
              <a:rPr lang="en-US" sz="3600" b="1" dirty="0"/>
              <a:t>memory element </a:t>
            </a:r>
            <a:r>
              <a:rPr lang="en-US" sz="3600" dirty="0"/>
              <a:t>present in the </a:t>
            </a:r>
            <a:r>
              <a:rPr lang="en-US" sz="3600" b="1" dirty="0"/>
              <a:t>memory unit </a:t>
            </a:r>
            <a:r>
              <a:rPr lang="en-US" sz="3600" dirty="0"/>
              <a:t>and </a:t>
            </a:r>
            <a:r>
              <a:rPr lang="en-US" sz="3600" b="1" dirty="0"/>
              <a:t>can handle a small amount of data only</a:t>
            </a:r>
            <a:r>
              <a:rPr lang="en-US" sz="3600" dirty="0"/>
              <a:t>. </a:t>
            </a:r>
          </a:p>
          <a:p>
            <a:pPr marL="0" lvl="0" indent="0">
              <a:buNone/>
            </a:pPr>
            <a:r>
              <a:rPr lang="en-US" sz="3600" dirty="0"/>
              <a:t>The height of the </a:t>
            </a:r>
            <a:r>
              <a:rPr lang="en-US" sz="3600" b="1" dirty="0"/>
              <a:t>register stack is always limited </a:t>
            </a:r>
            <a:r>
              <a:rPr lang="en-US" sz="3600" dirty="0"/>
              <a:t>as the size of the </a:t>
            </a:r>
            <a:r>
              <a:rPr lang="en-US" sz="3600" b="1" dirty="0"/>
              <a:t>register stack is very small compared </a:t>
            </a:r>
            <a:r>
              <a:rPr lang="en-US" sz="3600" dirty="0"/>
              <a:t>to the memory.</a:t>
            </a:r>
          </a:p>
          <a:p>
            <a:pPr lvl="0"/>
            <a:r>
              <a:rPr lang="en-US" sz="3600" b="1" dirty="0"/>
              <a:t>Memory Stack:</a:t>
            </a:r>
            <a:r>
              <a:rPr lang="en-US" sz="3600" dirty="0"/>
              <a:t> </a:t>
            </a:r>
          </a:p>
          <a:p>
            <a:pPr marL="0" lvl="0" indent="0">
              <a:buNone/>
            </a:pPr>
            <a:r>
              <a:rPr lang="en-US" sz="3600" dirty="0"/>
              <a:t>This type of stack </a:t>
            </a:r>
            <a:r>
              <a:rPr lang="en-US" sz="3600" b="1" dirty="0"/>
              <a:t>can handle a large amount of memory data</a:t>
            </a:r>
            <a:r>
              <a:rPr lang="en-US" sz="3600" dirty="0"/>
              <a:t>. </a:t>
            </a:r>
          </a:p>
          <a:p>
            <a:pPr marL="0" lvl="0" indent="0">
              <a:buNone/>
            </a:pPr>
            <a:r>
              <a:rPr lang="en-US" sz="3600" dirty="0"/>
              <a:t>The height of the </a:t>
            </a:r>
            <a:r>
              <a:rPr lang="en-US" sz="3600" b="1" dirty="0"/>
              <a:t>memory stack is flexible </a:t>
            </a:r>
            <a:r>
              <a:rPr lang="en-US" sz="3600" dirty="0"/>
              <a:t>as it </a:t>
            </a:r>
            <a:r>
              <a:rPr lang="en-US" sz="3600" b="1" dirty="0"/>
              <a:t>occupies a large amount of memory data.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52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CB7B-95EF-4344-8631-FE1CF399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506"/>
            <a:ext cx="10515600" cy="57374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of Stack: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E7BCA-B8D0-45AC-A595-71763159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9247"/>
            <a:ext cx="10515600" cy="61587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two ways </a:t>
            </a:r>
            <a:r>
              <a:rPr lang="en-US" dirty="0"/>
              <a:t>to implement a stack</a:t>
            </a:r>
          </a:p>
          <a:p>
            <a:pPr lvl="0"/>
            <a:r>
              <a:rPr lang="en-US" b="1" dirty="0"/>
              <a:t>Using array</a:t>
            </a:r>
          </a:p>
          <a:p>
            <a:pPr lvl="0"/>
            <a:r>
              <a:rPr lang="en-US" b="1" dirty="0"/>
              <a:t>Using linked list</a:t>
            </a:r>
          </a:p>
          <a:p>
            <a:pPr marL="0" indent="0">
              <a:buNone/>
            </a:pPr>
            <a:r>
              <a:rPr lang="en-US" sz="3600" b="1" dirty="0"/>
              <a:t>Implementing Stack using Arrays:</a:t>
            </a:r>
            <a:endParaRPr lang="en-US" sz="3600" dirty="0"/>
          </a:p>
          <a:p>
            <a:r>
              <a:rPr lang="en-US" dirty="0"/>
              <a:t>In array implementation, the stack is formed using an array. All the operations are performed using arrays.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rray-implemnetation-of-stack">
            <a:extLst>
              <a:ext uri="{FF2B5EF4-FFF2-40B4-BE49-F238E27FC236}">
                <a16:creationId xmlns:a16="http://schemas.microsoft.com/office/drawing/2014/main" id="{E68FBAC8-E87A-43F9-8F3A-DEF797D7E58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81" y="3675528"/>
            <a:ext cx="11134166" cy="3119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2770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C78FE-B34D-453F-B3C5-70A51AF7B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35"/>
            <a:ext cx="10515600" cy="6535270"/>
          </a:xfrm>
        </p:spPr>
        <p:txBody>
          <a:bodyPr/>
          <a:lstStyle/>
          <a:p>
            <a:pPr marL="0" indent="0">
              <a:buNone/>
            </a:pPr>
            <a:r>
              <a:rPr lang="en-US" sz="4400" b="1" u="sng" dirty="0"/>
              <a:t>Advantages of array implementation</a:t>
            </a:r>
            <a:r>
              <a:rPr lang="en-US" sz="4000" b="1" u="sng" dirty="0"/>
              <a:t>:</a:t>
            </a:r>
            <a:endParaRPr lang="en-US" sz="4000" dirty="0"/>
          </a:p>
          <a:p>
            <a:pPr lvl="0"/>
            <a:r>
              <a:rPr lang="en-US" sz="4000" dirty="0"/>
              <a:t>Easy to implement.</a:t>
            </a:r>
          </a:p>
          <a:p>
            <a:pPr lvl="0"/>
            <a:r>
              <a:rPr lang="en-US" sz="4000" dirty="0"/>
              <a:t>Memory is saved as pointers are not involved. </a:t>
            </a:r>
          </a:p>
          <a:p>
            <a:pPr marL="0" indent="0">
              <a:buNone/>
            </a:pPr>
            <a:r>
              <a:rPr lang="en-US" sz="4400" b="1" u="sng" dirty="0"/>
              <a:t>Disadvantages of array implementation:</a:t>
            </a:r>
            <a:endParaRPr lang="en-US" sz="4400" dirty="0"/>
          </a:p>
          <a:p>
            <a:pPr lvl="0"/>
            <a:r>
              <a:rPr lang="en-US" sz="4000" dirty="0"/>
              <a:t>It is not dynamic.</a:t>
            </a:r>
          </a:p>
          <a:p>
            <a:pPr lvl="0"/>
            <a:r>
              <a:rPr lang="en-US" sz="4000" dirty="0"/>
              <a:t>It doesn’t grow and shrink depending on needs at runtime.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67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E9C0-B62B-4872-928D-160F2845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>
            <a:normAutofit/>
          </a:bodyPr>
          <a:lstStyle/>
          <a:p>
            <a:r>
              <a:rPr lang="en-US" b="1" dirty="0"/>
              <a:t>Implementing Stack using Linked List: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4A834-FFD6-47E7-BB18-9666A0FA7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412"/>
            <a:ext cx="10515600" cy="5692588"/>
          </a:xfrm>
        </p:spPr>
        <p:txBody>
          <a:bodyPr/>
          <a:lstStyle/>
          <a:p>
            <a:r>
              <a:rPr lang="en-US" sz="4000" dirty="0"/>
              <a:t>Every new element is inserted as a top element in the linked list implementation of stacks in data structures. </a:t>
            </a:r>
          </a:p>
          <a:p>
            <a:r>
              <a:rPr lang="en-US" sz="4000" dirty="0"/>
              <a:t>That means every newly inserted element is pointed to the top. </a:t>
            </a:r>
          </a:p>
          <a:p>
            <a:r>
              <a:rPr lang="en-US" sz="4000" dirty="0"/>
              <a:t>Whenever you want to remove an element from the stack, remove the node indicated by the top, by moving the top to its previous node in the list.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47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tack-implemntation-using-linked-list">
            <a:extLst>
              <a:ext uri="{FF2B5EF4-FFF2-40B4-BE49-F238E27FC236}">
                <a16:creationId xmlns:a16="http://schemas.microsoft.com/office/drawing/2014/main" id="{56EBF250-C1EF-4212-8CAA-BD70251765E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47" y="233082"/>
            <a:ext cx="11474824" cy="6472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933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17CC-1895-43F2-8AF1-26A17D31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1976"/>
          </a:xfrm>
        </p:spPr>
        <p:txBody>
          <a:bodyPr>
            <a:normAutofit/>
          </a:bodyPr>
          <a:lstStyle/>
          <a:p>
            <a:r>
              <a:rPr lang="en-US" b="1" dirty="0"/>
              <a:t>Advantages of Linked List implementation: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9BA5-CAB6-472B-9BE8-E6CDB6723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3"/>
            <a:ext cx="10515600" cy="5862917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The linked list implementation of a stack can grow and shrink according to the needs at runtime.</a:t>
            </a:r>
          </a:p>
          <a:p>
            <a:pPr lvl="0"/>
            <a:r>
              <a:rPr lang="en-US" dirty="0"/>
              <a:t>It is used in many virtual machines like JVM.</a:t>
            </a:r>
          </a:p>
          <a:p>
            <a:pPr lvl="0"/>
            <a:r>
              <a:rPr lang="en-US" dirty="0"/>
              <a:t>Stacks are more secure and reliable as they do not get corrupted easily.</a:t>
            </a:r>
          </a:p>
          <a:p>
            <a:pPr lvl="0"/>
            <a:r>
              <a:rPr lang="en-US" dirty="0"/>
              <a:t>Stack cleans up the objects automatically.</a:t>
            </a:r>
          </a:p>
          <a:p>
            <a:pPr marL="0" indent="0">
              <a:buNone/>
            </a:pPr>
            <a:r>
              <a:rPr lang="en-US" sz="4000" b="1" dirty="0"/>
              <a:t>Disadvantages of Linked List implementation:</a:t>
            </a:r>
            <a:endParaRPr lang="en-US" sz="4000" dirty="0"/>
          </a:p>
          <a:p>
            <a:pPr lvl="0"/>
            <a:r>
              <a:rPr lang="en-US" dirty="0"/>
              <a:t>Requires extra memory due to the involvement of pointers.</a:t>
            </a:r>
          </a:p>
          <a:p>
            <a:pPr lvl="0"/>
            <a:r>
              <a:rPr lang="en-US" dirty="0"/>
              <a:t>Random accessing is not possible in stack.</a:t>
            </a:r>
          </a:p>
          <a:p>
            <a:pPr lvl="0"/>
            <a:r>
              <a:rPr lang="en-US" dirty="0"/>
              <a:t>The total size of the stack must be defined before.</a:t>
            </a:r>
          </a:p>
          <a:p>
            <a:pPr lvl="0"/>
            <a:r>
              <a:rPr lang="en-US" dirty="0"/>
              <a:t>If the stack falls outside the memory it can lead to abnormal termination.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135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BEF1C-9F64-4C8C-9815-46389D36D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842683"/>
          </a:xfrm>
        </p:spPr>
        <p:txBody>
          <a:bodyPr>
            <a:normAutofit/>
          </a:bodyPr>
          <a:lstStyle/>
          <a:p>
            <a:r>
              <a:rPr lang="en-US" b="1" dirty="0"/>
              <a:t>Application of Stack in Data Structures: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DA5BE-615D-4E67-A42E-194A140A6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048"/>
            <a:ext cx="10515600" cy="5692587"/>
          </a:xfrm>
        </p:spPr>
        <p:txBody>
          <a:bodyPr/>
          <a:lstStyle/>
          <a:p>
            <a:pPr lvl="0"/>
            <a:r>
              <a:rPr lang="en-US" sz="4000" dirty="0"/>
              <a:t>Expression Evaluation and Conversion</a:t>
            </a:r>
          </a:p>
          <a:p>
            <a:pPr lvl="0"/>
            <a:r>
              <a:rPr lang="en-US" sz="4000" dirty="0"/>
              <a:t>Backtracking</a:t>
            </a:r>
          </a:p>
          <a:p>
            <a:pPr lvl="0"/>
            <a:r>
              <a:rPr lang="en-US" sz="4000" dirty="0"/>
              <a:t>Function Call</a:t>
            </a:r>
          </a:p>
          <a:p>
            <a:pPr lvl="0"/>
            <a:r>
              <a:rPr lang="en-US" sz="4000" dirty="0"/>
              <a:t>Parentheses Checking</a:t>
            </a:r>
          </a:p>
          <a:p>
            <a:pPr lvl="0"/>
            <a:r>
              <a:rPr lang="en-US" sz="4000" dirty="0"/>
              <a:t>String Reversal</a:t>
            </a:r>
          </a:p>
          <a:p>
            <a:pPr lvl="0"/>
            <a:r>
              <a:rPr lang="en-US" sz="4000" dirty="0"/>
              <a:t>Syntax Parsing</a:t>
            </a:r>
          </a:p>
          <a:p>
            <a:pPr lvl="0"/>
            <a:r>
              <a:rPr lang="en-US" sz="4000" dirty="0"/>
              <a:t>Memory Management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52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ED6CF-5EA2-4C5E-BF54-02A8447EC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7013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Storing two stacks into one Array:</a:t>
            </a:r>
          </a:p>
          <a:p>
            <a:pPr marL="0" indent="0">
              <a:buNone/>
            </a:pPr>
            <a:r>
              <a:rPr lang="en-US" sz="3200" b="1" dirty="0"/>
              <a:t>To store two stacks </a:t>
            </a:r>
            <a:r>
              <a:rPr lang="en-US" sz="3200" dirty="0"/>
              <a:t>into </a:t>
            </a:r>
            <a:r>
              <a:rPr lang="en-US" sz="3200" b="1" dirty="0"/>
              <a:t>one array</a:t>
            </a:r>
            <a:r>
              <a:rPr lang="en-US" sz="3200" dirty="0"/>
              <a:t>, you </a:t>
            </a:r>
            <a:r>
              <a:rPr lang="en-US" sz="3200" b="1" dirty="0"/>
              <a:t>can divide the array into two parts </a:t>
            </a:r>
            <a:r>
              <a:rPr lang="en-US" sz="3200" dirty="0"/>
              <a:t>and </a:t>
            </a:r>
            <a:r>
              <a:rPr lang="en-US" sz="3200" b="1" dirty="0"/>
              <a:t>allocate each part to a separate stack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One way to do this is to </a:t>
            </a:r>
            <a:r>
              <a:rPr lang="en-US" sz="3200" b="1" dirty="0"/>
              <a:t>allocate the first half </a:t>
            </a:r>
            <a:r>
              <a:rPr lang="en-US" sz="3200" dirty="0"/>
              <a:t>of the array </a:t>
            </a:r>
            <a:r>
              <a:rPr lang="en-US" sz="3200" b="1" dirty="0"/>
              <a:t>to one stack </a:t>
            </a:r>
            <a:r>
              <a:rPr lang="en-US" sz="3200" dirty="0"/>
              <a:t>and </a:t>
            </a:r>
            <a:r>
              <a:rPr lang="en-US" sz="3200" b="1" dirty="0"/>
              <a:t>the second half </a:t>
            </a:r>
            <a:r>
              <a:rPr lang="en-US" sz="3200" dirty="0"/>
              <a:t>to the </a:t>
            </a:r>
            <a:r>
              <a:rPr lang="en-US" sz="3200" b="1" dirty="0"/>
              <a:t>other stack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Here's an example </a:t>
            </a:r>
            <a:r>
              <a:rPr lang="en-US" sz="3200" b="1" dirty="0"/>
              <a:t>implementation </a:t>
            </a:r>
            <a:r>
              <a:rPr lang="en-US" sz="3200" dirty="0"/>
              <a:t>in Python:</a:t>
            </a:r>
          </a:p>
          <a:p>
            <a:pPr marL="0" indent="0">
              <a:buNone/>
            </a:pPr>
            <a:r>
              <a:rPr lang="en-US" sz="3200" b="1" dirty="0"/>
              <a:t>class TwoStacks:</a:t>
            </a:r>
          </a:p>
          <a:p>
            <a:pPr marL="0" indent="0">
              <a:buNone/>
            </a:pPr>
            <a:r>
              <a:rPr lang="en-US" sz="3200" b="1" dirty="0"/>
              <a:t>    def __init__(self, n):</a:t>
            </a:r>
          </a:p>
          <a:p>
            <a:pPr marL="0" indent="0">
              <a:buNone/>
            </a:pPr>
            <a:r>
              <a:rPr lang="en-US" sz="3200" b="1" dirty="0"/>
              <a:t>        self.n = n</a:t>
            </a:r>
          </a:p>
          <a:p>
            <a:pPr marL="0" indent="0">
              <a:buNone/>
            </a:pPr>
            <a:r>
              <a:rPr lang="en-US" sz="3200" b="1" dirty="0"/>
              <a:t>        self.array = [None] * n</a:t>
            </a:r>
          </a:p>
          <a:p>
            <a:pPr marL="0" indent="0">
              <a:buNone/>
            </a:pPr>
            <a:r>
              <a:rPr lang="en-US" sz="3200" b="1" dirty="0"/>
              <a:t>        self.top1 = -1</a:t>
            </a:r>
          </a:p>
          <a:p>
            <a:pPr marL="0" indent="0">
              <a:buNone/>
            </a:pPr>
            <a:r>
              <a:rPr lang="en-US" sz="3200" b="1" dirty="0"/>
              <a:t>        self.top2 =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3221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41C12-1A2E-430A-8480-E55D5DA92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701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def push1(self, item):</a:t>
            </a:r>
          </a:p>
          <a:p>
            <a:pPr marL="0" indent="0">
              <a:buNone/>
            </a:pPr>
            <a:r>
              <a:rPr lang="en-US" b="1" dirty="0"/>
              <a:t>        if self.top1 &lt; self.top2 - 1:</a:t>
            </a:r>
          </a:p>
          <a:p>
            <a:pPr marL="0" indent="0">
              <a:buNone/>
            </a:pPr>
            <a:r>
              <a:rPr lang="en-US" b="1" dirty="0"/>
              <a:t>            self.top1 += 1</a:t>
            </a:r>
          </a:p>
          <a:p>
            <a:pPr marL="0" indent="0">
              <a:buNone/>
            </a:pPr>
            <a:r>
              <a:rPr lang="en-US" b="1" dirty="0"/>
              <a:t>            self.array[self.top1] = item</a:t>
            </a:r>
          </a:p>
          <a:p>
            <a:pPr marL="0" indent="0">
              <a:buNone/>
            </a:pPr>
            <a:r>
              <a:rPr lang="en-US" b="1" dirty="0"/>
              <a:t>        else:</a:t>
            </a:r>
          </a:p>
          <a:p>
            <a:pPr marL="0" indent="0">
              <a:buNone/>
            </a:pPr>
            <a:r>
              <a:rPr lang="en-US" b="1" dirty="0"/>
              <a:t>            print("Stack Overflow")</a:t>
            </a:r>
          </a:p>
          <a:p>
            <a:pPr marL="0" indent="0">
              <a:buNone/>
            </a:pPr>
            <a:r>
              <a:rPr lang="en-US" b="1" dirty="0"/>
              <a:t>            return</a:t>
            </a:r>
          </a:p>
          <a:p>
            <a:pPr marL="0" indent="0">
              <a:buNone/>
            </a:pPr>
            <a:r>
              <a:rPr lang="en-US" b="1" dirty="0"/>
              <a:t>def push2(self, item):</a:t>
            </a:r>
          </a:p>
          <a:p>
            <a:pPr marL="0" indent="0">
              <a:buNone/>
            </a:pPr>
            <a:r>
              <a:rPr lang="en-US" b="1" dirty="0"/>
              <a:t>        if self.top1 &lt; self.top2 - 1:</a:t>
            </a:r>
          </a:p>
          <a:p>
            <a:pPr marL="0" indent="0">
              <a:buNone/>
            </a:pPr>
            <a:r>
              <a:rPr lang="en-US" b="1" dirty="0"/>
              <a:t>            self.top2 -= 1</a:t>
            </a:r>
          </a:p>
          <a:p>
            <a:pPr marL="0" indent="0">
              <a:buNone/>
            </a:pPr>
            <a:r>
              <a:rPr lang="en-US" b="1" dirty="0"/>
              <a:t>            self.array[self.top2] = item</a:t>
            </a:r>
          </a:p>
          <a:p>
            <a:pPr marL="0" indent="0">
              <a:buNone/>
            </a:pPr>
            <a:r>
              <a:rPr lang="en-US" b="1" dirty="0"/>
              <a:t>        else:</a:t>
            </a:r>
          </a:p>
          <a:p>
            <a:pPr marL="0" indent="0">
              <a:buNone/>
            </a:pPr>
            <a:r>
              <a:rPr lang="en-US" b="1" dirty="0"/>
              <a:t>            print("Stack Overflow")</a:t>
            </a:r>
          </a:p>
          <a:p>
            <a:pPr marL="0" indent="0">
              <a:buNone/>
            </a:pPr>
            <a:r>
              <a:rPr lang="en-US" b="1" dirty="0"/>
              <a:t>            return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131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77593-E257-4535-951A-8DF90827D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2657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 pop1(self):</a:t>
            </a:r>
          </a:p>
          <a:p>
            <a:pPr marL="0" indent="0">
              <a:buNone/>
            </a:pPr>
            <a:r>
              <a:rPr lang="en-US" b="1" dirty="0"/>
              <a:t>        if self.top1 == -1:</a:t>
            </a:r>
          </a:p>
          <a:p>
            <a:pPr marL="0" indent="0">
              <a:buNone/>
            </a:pPr>
            <a:r>
              <a:rPr lang="en-US" b="1" dirty="0"/>
              <a:t>            print("Stack Underflow")</a:t>
            </a:r>
          </a:p>
          <a:p>
            <a:pPr marL="0" indent="0">
              <a:buNone/>
            </a:pPr>
            <a:r>
              <a:rPr lang="en-US" b="1" dirty="0"/>
              <a:t>            return None</a:t>
            </a:r>
          </a:p>
          <a:p>
            <a:pPr marL="0" indent="0">
              <a:buNone/>
            </a:pPr>
            <a:r>
              <a:rPr lang="en-US" b="1" dirty="0"/>
              <a:t>        else:</a:t>
            </a:r>
          </a:p>
          <a:p>
            <a:pPr marL="0" indent="0">
              <a:buNone/>
            </a:pPr>
            <a:r>
              <a:rPr lang="en-US" b="1" dirty="0"/>
              <a:t>            item = self.array[self.top1]</a:t>
            </a:r>
          </a:p>
          <a:p>
            <a:pPr marL="0" indent="0">
              <a:buNone/>
            </a:pPr>
            <a:r>
              <a:rPr lang="en-US" b="1" dirty="0"/>
              <a:t>            self.top1 -= 1</a:t>
            </a:r>
          </a:p>
          <a:p>
            <a:pPr marL="0" indent="0">
              <a:buNone/>
            </a:pPr>
            <a:r>
              <a:rPr lang="en-US" b="1" dirty="0"/>
              <a:t>            return item</a:t>
            </a:r>
          </a:p>
          <a:p>
            <a:pPr marL="0" indent="0">
              <a:buNone/>
            </a:pPr>
            <a:r>
              <a:rPr lang="en-US" b="1" dirty="0"/>
              <a:t>def pop2(self):</a:t>
            </a:r>
          </a:p>
          <a:p>
            <a:pPr marL="0" indent="0">
              <a:buNone/>
            </a:pPr>
            <a:r>
              <a:rPr lang="en-US" b="1" dirty="0"/>
              <a:t>        if self.top2 == self.n:</a:t>
            </a:r>
          </a:p>
          <a:p>
            <a:pPr marL="0" indent="0">
              <a:buNone/>
            </a:pPr>
            <a:r>
              <a:rPr lang="en-US" b="1" dirty="0"/>
              <a:t>            print("Stack Underflow")</a:t>
            </a:r>
          </a:p>
          <a:p>
            <a:pPr marL="0" indent="0">
              <a:buNone/>
            </a:pPr>
            <a:r>
              <a:rPr lang="en-US" b="1" dirty="0"/>
              <a:t>            return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902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9FED8-3565-4DFD-90AC-4EEFE32BE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733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else:</a:t>
            </a:r>
          </a:p>
          <a:p>
            <a:pPr marL="0" indent="0">
              <a:buNone/>
            </a:pPr>
            <a:r>
              <a:rPr lang="en-US" sz="3600" b="1" dirty="0"/>
              <a:t>            item = self.array[self.top2]</a:t>
            </a:r>
          </a:p>
          <a:p>
            <a:pPr marL="0" indent="0">
              <a:buNone/>
            </a:pPr>
            <a:r>
              <a:rPr lang="en-US" sz="3600" b="1" dirty="0"/>
              <a:t>            self.top2 += 1</a:t>
            </a:r>
          </a:p>
          <a:p>
            <a:pPr marL="0" indent="0">
              <a:buNone/>
            </a:pPr>
            <a:r>
              <a:rPr lang="en-US" sz="3600" b="1" dirty="0"/>
              <a:t>            return item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dirty="0"/>
              <a:t>In the above </a:t>
            </a:r>
            <a:r>
              <a:rPr lang="en-US" sz="3600" b="1" dirty="0"/>
              <a:t>example</a:t>
            </a:r>
            <a:r>
              <a:rPr lang="en-US" sz="3600" dirty="0"/>
              <a:t>, the </a:t>
            </a:r>
            <a:r>
              <a:rPr lang="en-US" sz="3600" b="1" dirty="0"/>
              <a:t>TwoStacks class initializes the array </a:t>
            </a:r>
            <a:r>
              <a:rPr lang="en-US" sz="3600" dirty="0"/>
              <a:t>with a </a:t>
            </a:r>
            <a:r>
              <a:rPr lang="en-US" sz="3600" b="1" dirty="0"/>
              <a:t>length n and initializes two pointers top1 and top2 </a:t>
            </a:r>
            <a:r>
              <a:rPr lang="en-US" sz="3600" dirty="0"/>
              <a:t>to </a:t>
            </a:r>
            <a:r>
              <a:rPr lang="en-US" sz="3600" b="1" dirty="0"/>
              <a:t>track the top of each stack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The </a:t>
            </a:r>
            <a:r>
              <a:rPr lang="en-US" sz="3600" b="1" dirty="0"/>
              <a:t>push1 method pushes an item onto the first stack, push2 pushes an item onto the second stack</a:t>
            </a:r>
            <a:r>
              <a:rPr lang="en-US" sz="3600" dirty="0"/>
              <a:t>, </a:t>
            </a:r>
            <a:r>
              <a:rPr lang="en-US" sz="3600" b="1" dirty="0"/>
              <a:t>pop1 pops an item off the first stack</a:t>
            </a:r>
            <a:r>
              <a:rPr lang="en-US" sz="3600" dirty="0"/>
              <a:t>, and </a:t>
            </a:r>
            <a:r>
              <a:rPr lang="en-US" sz="3600" b="1" dirty="0"/>
              <a:t>pop2 pops an item off the second stack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82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B289-C9DB-4490-B680-154742173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7"/>
            <a:ext cx="10515600" cy="660400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To </a:t>
            </a:r>
            <a:r>
              <a:rPr lang="en-US" sz="3600" b="1" dirty="0"/>
              <a:t>push an item onto a stack</a:t>
            </a:r>
            <a:r>
              <a:rPr lang="en-US" sz="3600" dirty="0"/>
              <a:t>, the </a:t>
            </a:r>
            <a:r>
              <a:rPr lang="en-US" sz="3600" b="1" dirty="0"/>
              <a:t>method first checks if there is enough space in the array. </a:t>
            </a:r>
          </a:p>
          <a:p>
            <a:r>
              <a:rPr lang="en-US" sz="3600" dirty="0"/>
              <a:t>If </a:t>
            </a:r>
            <a:r>
              <a:rPr lang="en-US" sz="3600" b="1" dirty="0"/>
              <a:t>there is, it increments the top pointer</a:t>
            </a:r>
            <a:r>
              <a:rPr lang="en-US" sz="3600" dirty="0"/>
              <a:t> and </a:t>
            </a:r>
            <a:r>
              <a:rPr lang="en-US" sz="3600" b="1" dirty="0"/>
              <a:t>sets the item at the top of the stack</a:t>
            </a:r>
            <a:r>
              <a:rPr lang="en-US" sz="3600" dirty="0"/>
              <a:t>. </a:t>
            </a:r>
          </a:p>
          <a:p>
            <a:r>
              <a:rPr lang="en-US" sz="3600" dirty="0"/>
              <a:t>If </a:t>
            </a:r>
            <a:r>
              <a:rPr lang="en-US" sz="3600" b="1" dirty="0"/>
              <a:t>there is not enough space</a:t>
            </a:r>
            <a:r>
              <a:rPr lang="en-US" sz="3600" dirty="0"/>
              <a:t>, it </a:t>
            </a:r>
            <a:r>
              <a:rPr lang="en-US" sz="3600" b="1" dirty="0"/>
              <a:t>prints an error message and returns</a:t>
            </a:r>
            <a:r>
              <a:rPr lang="en-US" sz="3600" dirty="0"/>
              <a:t>.</a:t>
            </a:r>
          </a:p>
          <a:p>
            <a:r>
              <a:rPr lang="en-US" sz="3600" dirty="0"/>
              <a:t>To </a:t>
            </a:r>
            <a:r>
              <a:rPr lang="en-US" sz="3600" b="1" dirty="0"/>
              <a:t>pop an item off a stack</a:t>
            </a:r>
            <a:r>
              <a:rPr lang="en-US" sz="3600" dirty="0"/>
              <a:t>, the </a:t>
            </a:r>
            <a:r>
              <a:rPr lang="en-US" sz="3600" b="1" dirty="0"/>
              <a:t>method first checks if the stack is empty</a:t>
            </a:r>
            <a:r>
              <a:rPr lang="en-US" sz="3600" dirty="0"/>
              <a:t>.</a:t>
            </a:r>
          </a:p>
          <a:p>
            <a:r>
              <a:rPr lang="en-US" sz="3600" dirty="0"/>
              <a:t> </a:t>
            </a:r>
            <a:r>
              <a:rPr lang="en-US" sz="3600" b="1" dirty="0"/>
              <a:t>If it is, it prints an error message and returns</a:t>
            </a:r>
            <a:r>
              <a:rPr lang="en-US" sz="3600" dirty="0"/>
              <a:t>. </a:t>
            </a:r>
          </a:p>
          <a:p>
            <a:r>
              <a:rPr lang="en-US" sz="3600" dirty="0"/>
              <a:t>If it is </a:t>
            </a:r>
            <a:r>
              <a:rPr lang="en-US" sz="3600" b="1" dirty="0"/>
              <a:t>not empty, it retrieves the item at the top of the stack</a:t>
            </a:r>
            <a:r>
              <a:rPr lang="en-US" sz="3600" dirty="0"/>
              <a:t>, </a:t>
            </a:r>
            <a:r>
              <a:rPr lang="en-US" sz="3600" b="1" dirty="0"/>
              <a:t>decrements the top pointer</a:t>
            </a:r>
            <a:r>
              <a:rPr lang="en-US" sz="3600" dirty="0"/>
              <a:t>, and returns the </a:t>
            </a:r>
            <a:r>
              <a:rPr lang="en-US" sz="3600" b="1" dirty="0"/>
              <a:t>item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0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1611</Words>
  <Application>Microsoft Office PowerPoint</Application>
  <PresentationFormat>Widescreen</PresentationFormat>
  <Paragraphs>175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PowerPoint Presentation</vt:lpstr>
      <vt:lpstr>Some key points related to stack:</vt:lpstr>
      <vt:lpstr>Working of Stack:</vt:lpstr>
      <vt:lpstr>Standard Stack Operations:</vt:lpstr>
      <vt:lpstr>PUSH operation:</vt:lpstr>
      <vt:lpstr>Push operation includes various steps:</vt:lpstr>
      <vt:lpstr>The algorithm of the push operation is:</vt:lpstr>
      <vt:lpstr>PowerPoint Presentation</vt:lpstr>
      <vt:lpstr>POP operation:</vt:lpstr>
      <vt:lpstr>Pop operation includes various steps:</vt:lpstr>
      <vt:lpstr>The algorithm of the pop operation:</vt:lpstr>
      <vt:lpstr>PowerPoint Presentation</vt:lpstr>
      <vt:lpstr>Peek Operation:</vt:lpstr>
      <vt:lpstr> The algorithm of the isEmpty() function: </vt:lpstr>
      <vt:lpstr>Types of Stacks:</vt:lpstr>
      <vt:lpstr>Implementation of Stack: </vt:lpstr>
      <vt:lpstr>PowerPoint Presentation</vt:lpstr>
      <vt:lpstr>Implementing Stack using Linked List:</vt:lpstr>
      <vt:lpstr>PowerPoint Presentation</vt:lpstr>
      <vt:lpstr>Advantages of Linked List implementation:</vt:lpstr>
      <vt:lpstr>Application of Stack in Data Structures: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</cp:lastModifiedBy>
  <cp:revision>1</cp:revision>
  <dcterms:created xsi:type="dcterms:W3CDTF">2023-05-08T21:29:18Z</dcterms:created>
  <dcterms:modified xsi:type="dcterms:W3CDTF">2023-06-16T22:15:07Z</dcterms:modified>
</cp:coreProperties>
</file>