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8" r:id="rId4"/>
    <p:sldId id="286" r:id="rId5"/>
    <p:sldId id="287" r:id="rId6"/>
    <p:sldId id="288" r:id="rId7"/>
    <p:sldId id="289" r:id="rId8"/>
    <p:sldId id="291" r:id="rId9"/>
    <p:sldId id="259" r:id="rId10"/>
    <p:sldId id="292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294" r:id="rId19"/>
    <p:sldId id="295" r:id="rId20"/>
    <p:sldId id="296" r:id="rId21"/>
    <p:sldId id="297" r:id="rId22"/>
    <p:sldId id="298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306" r:id="rId31"/>
    <p:sldId id="307" r:id="rId32"/>
    <p:sldId id="308" r:id="rId33"/>
    <p:sldId id="309" r:id="rId34"/>
    <p:sldId id="31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3C6C6-EF49-42DB-B339-BBE59E00D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A45F8-D56F-4426-989E-164C7D192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59518-0213-49EB-BA2C-CABA32BA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0886C-15BF-4CD5-BDCA-22F9B1D2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27688-D64C-430E-AE69-94DE9F25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4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6A14-1DAF-4026-BFD8-86BEEC1F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E473C-6ADF-4611-A11A-89881DEAD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EE803-6C14-4F72-8C2C-5AECAA513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32238-4132-4DF9-B4B0-01A69C39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2BCD8-175C-4981-B192-3E922ED1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04D0-2DA9-4B14-A9DE-85BB49A5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FE1EA-499B-4D16-89FC-D205B8F55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B2108-E0B1-4762-8149-66CC96B8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A2996-5CAD-4094-9860-5721ED78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39144-782E-4B5B-8D32-1E7EF1AF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34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D21F-3E7D-4F4F-82ED-FD847F90F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00127-4CC1-4E40-B27F-7FE9CD0ED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9F559-B3C5-41F6-996E-80B997756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D2B09-423B-4F3B-BA5A-61F4D9E4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2FA63-0FCD-4D8B-9F33-49A77B6E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05A9B-3590-49B3-B1ED-12B6217E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31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48F00-25B1-45E2-9EFA-6F6EFC37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FF579-5A2C-4105-8897-977C4945D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B0620-7371-41AC-9407-A66D7D2BE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2E040-E119-4362-9BAE-32ACAD13E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FA7C7-A4E2-44C0-AD02-07E3DE0E8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B179-5258-4218-92AD-1D42E0A7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0996EC-CBFA-46A4-A993-4C11898A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5F0FC-CD98-4AA7-A20E-79BFBD00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8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43136-FF57-4022-9659-B4A049CE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E87B9-F221-4A86-A8A5-1DE163F6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3E9F0-0368-4C52-9B44-EF9DF164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9B27-C4B5-4BD2-A552-16B18C68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3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FDDDB-3029-42D3-9E1E-11E51BA2E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BC2FA-8F38-4F8B-B6E2-3E3A493BE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4DA42-ACCD-4936-84A2-AE375463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E2F3-5226-4787-B7EB-3F3FCFA8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2D76D-5252-4E18-AA5E-73E2BAB53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0364D-C40A-4575-8118-B0FB7917A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713DE-5EEB-43AD-8D56-338C4F7C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3AD20-A67B-4093-9461-7A34E6B4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3F4E2-926F-48C2-91E8-BBBF4CE4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2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927C-820B-4A45-A6D0-4FBEA800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D0165B-2DFC-45AE-8703-6535840DF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A5D59-4F08-4BA1-A8B1-671152F56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B35C9-23DC-40B1-B81D-43620880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C6D46-437C-4A90-BB12-869B1FDB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AA7B5-5F5F-4B16-9E7C-427AE025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6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2E12-2D09-4CA4-9354-92664006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E448C-804B-45E2-BFFC-AF91628EC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C314D-175B-4D9A-AA60-773C69ADC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B917-4F10-488B-A83D-57F8960E0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39C23-A089-41D2-8518-6BA678B25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7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5775F-CC65-4D60-A15C-7766F613DF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5A8CB-62E4-4E52-89BA-7EEB04DA8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783C1-2542-418E-9B56-B37340733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75FB9-04C2-472D-8B57-C851BD1AB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398C2-CA04-4459-96DC-DBEDBF90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9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FB416-6C81-468E-B20E-9946D4F8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4A80-7658-4966-A5B9-AC8142F39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14691-8820-410E-8FC0-31D020F3F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9A585-8DEB-4530-8B2A-257B0C1C1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92E82-5A4E-4B83-B8CB-0F3A4A9B9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83AC8-0681-481F-A1E2-6D2A70890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68866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Introduction to Algorithm Analysis:</a:t>
            </a:r>
          </a:p>
          <a:p>
            <a:pPr marL="0" indent="0">
              <a:buNone/>
            </a:pPr>
            <a:r>
              <a:rPr lang="en-US" sz="3600" b="1" dirty="0"/>
              <a:t>Definition of an Algorithm:</a:t>
            </a:r>
          </a:p>
          <a:p>
            <a:pPr marL="0" indent="0">
              <a:buNone/>
            </a:pPr>
            <a:r>
              <a:rPr lang="en-US" sz="3600" b="1" dirty="0"/>
              <a:t>What is an algorithm?</a:t>
            </a:r>
          </a:p>
          <a:p>
            <a:pPr marL="0" indent="0">
              <a:buNone/>
            </a:pPr>
            <a:r>
              <a:rPr lang="en-US" sz="3600" dirty="0"/>
              <a:t>Algorithm is a </a:t>
            </a:r>
            <a:r>
              <a:rPr lang="en-US" sz="3600" b="1" dirty="0"/>
              <a:t>step-by-step procedure</a:t>
            </a:r>
            <a:r>
              <a:rPr lang="en-US" sz="3600" dirty="0"/>
              <a:t>, which defines a </a:t>
            </a:r>
            <a:r>
              <a:rPr lang="en-US" sz="3600" b="1" dirty="0"/>
              <a:t>set of instructions </a:t>
            </a:r>
            <a:r>
              <a:rPr lang="en-US" sz="3600" dirty="0"/>
              <a:t>to be </a:t>
            </a:r>
            <a:r>
              <a:rPr lang="en-US" sz="3600" b="1" dirty="0"/>
              <a:t>executed</a:t>
            </a:r>
            <a:r>
              <a:rPr lang="en-US" sz="3600" dirty="0"/>
              <a:t> in a </a:t>
            </a:r>
            <a:r>
              <a:rPr lang="en-US" sz="3600" b="1" dirty="0"/>
              <a:t>certain order  so as </a:t>
            </a:r>
            <a:r>
              <a:rPr lang="en-US" sz="3600" dirty="0"/>
              <a:t>to get the desired output when solving a given problem.</a:t>
            </a:r>
          </a:p>
          <a:p>
            <a:pPr marL="0" indent="0">
              <a:buNone/>
            </a:pPr>
            <a:r>
              <a:rPr lang="en-US" sz="3600" dirty="0"/>
              <a:t>It is a </a:t>
            </a:r>
            <a:r>
              <a:rPr lang="en-US" sz="3600" b="1" dirty="0"/>
              <a:t>finite steps by step procedure </a:t>
            </a:r>
            <a:r>
              <a:rPr lang="en-US" sz="3600" dirty="0"/>
              <a:t>to achieve a </a:t>
            </a:r>
            <a:r>
              <a:rPr lang="en-US" sz="3600" b="1" dirty="0"/>
              <a:t>required output.</a:t>
            </a:r>
          </a:p>
          <a:p>
            <a:pPr marL="0" indent="0">
              <a:buNone/>
            </a:pPr>
            <a:r>
              <a:rPr lang="en-US" sz="3600" b="1" dirty="0"/>
              <a:t>It is a sequence of computational steps that transform input to output.</a:t>
            </a:r>
          </a:p>
          <a:p>
            <a:pPr marL="0" indent="0">
              <a:buNone/>
            </a:pPr>
            <a:r>
              <a:rPr lang="en-US" sz="3600" dirty="0"/>
              <a:t>Algorithms are generally created independent of underlying </a:t>
            </a:r>
            <a:r>
              <a:rPr lang="en-US" sz="3600" b="1" dirty="0"/>
              <a:t>languages,</a:t>
            </a:r>
            <a:r>
              <a:rPr lang="en-US" sz="3600" dirty="0"/>
              <a:t> i.e. an algorithm can be implemented in more than one programming language.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845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B5EAE-7ED2-47B3-8CAA-3302E8BBB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912"/>
            <a:ext cx="10515600" cy="66660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algorithm is an </a:t>
            </a:r>
            <a:r>
              <a:rPr lang="en-US" b="1" dirty="0"/>
              <a:t>effective step-by-step procedure for solving a problem in a finite number of steps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 other words, it is a </a:t>
            </a:r>
            <a:r>
              <a:rPr lang="en-US" b="1" dirty="0"/>
              <a:t>finite set of well-defined instructions </a:t>
            </a:r>
            <a:r>
              <a:rPr lang="en-US" dirty="0"/>
              <a:t>or </a:t>
            </a:r>
            <a:r>
              <a:rPr lang="en-US" b="1" dirty="0"/>
              <a:t>step-by-step description of the procedure written in human readable language for solving a given problem.</a:t>
            </a:r>
          </a:p>
          <a:p>
            <a:pPr marL="0" indent="0">
              <a:buNone/>
            </a:pPr>
            <a:r>
              <a:rPr lang="en-US" dirty="0"/>
              <a:t>An algorithm </a:t>
            </a:r>
            <a:r>
              <a:rPr lang="en-US" b="1" dirty="0"/>
              <a:t>itself is division of a problem </a:t>
            </a:r>
            <a:r>
              <a:rPr lang="en-US" dirty="0"/>
              <a:t>into </a:t>
            </a:r>
            <a:r>
              <a:rPr lang="en-US" b="1" dirty="0"/>
              <a:t>small steps </a:t>
            </a:r>
            <a:r>
              <a:rPr lang="en-US" dirty="0"/>
              <a:t>which are </a:t>
            </a:r>
            <a:r>
              <a:rPr lang="en-US" b="1" dirty="0"/>
              <a:t>ordered in sequence </a:t>
            </a:r>
            <a:r>
              <a:rPr lang="en-US" dirty="0"/>
              <a:t>and </a:t>
            </a:r>
            <a:r>
              <a:rPr lang="en-US" b="1" dirty="0"/>
              <a:t>easily understandable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Algorithms are very </a:t>
            </a:r>
            <a:r>
              <a:rPr lang="en-US" b="1" dirty="0"/>
              <a:t>important to the way computers process information, because a computer program is basically an algorithm that tells computer what specific tasks to perform in what specific order to accomplish a specific task.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same problem can be solved with different methods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So, for solving the same problem, </a:t>
            </a:r>
            <a:r>
              <a:rPr lang="en-US" b="1" dirty="0"/>
              <a:t>different algorithms </a:t>
            </a:r>
            <a:r>
              <a:rPr lang="en-US" dirty="0"/>
              <a:t>can be designed. In these algorithms, </a:t>
            </a:r>
            <a:r>
              <a:rPr lang="en-US" b="1" dirty="0"/>
              <a:t>number of steps, time and efforts may vary more or less.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77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06182-4475-41BD-A8E9-5469F49CA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699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The following are some </a:t>
            </a:r>
            <a:r>
              <a:rPr lang="en-US" sz="3600" b="1" dirty="0"/>
              <a:t>important categories </a:t>
            </a:r>
            <a:r>
              <a:rPr lang="en-US" sz="3600" dirty="0"/>
              <a:t>of algorithms;</a:t>
            </a:r>
          </a:p>
          <a:p>
            <a:r>
              <a:rPr lang="en-US" sz="3600" b="1" dirty="0"/>
              <a:t>Search</a:t>
            </a:r>
            <a:r>
              <a:rPr lang="en-US" sz="3600" dirty="0"/>
              <a:t> − Algorithm to search an item in a data structure.</a:t>
            </a:r>
          </a:p>
          <a:p>
            <a:r>
              <a:rPr lang="en-US" sz="3600" b="1" dirty="0"/>
              <a:t>Sort</a:t>
            </a:r>
            <a:r>
              <a:rPr lang="en-US" sz="3600" dirty="0"/>
              <a:t> − Algorithm to sort items in a certain order.</a:t>
            </a:r>
          </a:p>
          <a:p>
            <a:r>
              <a:rPr lang="en-US" sz="3600" b="1" dirty="0"/>
              <a:t>Insert</a:t>
            </a:r>
            <a:r>
              <a:rPr lang="en-US" sz="3600" dirty="0"/>
              <a:t> − Algorithm to insert item in a data structure.</a:t>
            </a:r>
          </a:p>
          <a:p>
            <a:r>
              <a:rPr lang="en-US" sz="3600" b="1" dirty="0"/>
              <a:t>Update</a:t>
            </a:r>
            <a:r>
              <a:rPr lang="en-US" sz="3600" dirty="0"/>
              <a:t> − Algorithm to update an existing item in a data structure.</a:t>
            </a:r>
          </a:p>
          <a:p>
            <a:r>
              <a:rPr lang="en-US" sz="3600" b="1" dirty="0"/>
              <a:t>Delete</a:t>
            </a:r>
            <a:r>
              <a:rPr lang="en-US" sz="3600" dirty="0"/>
              <a:t> − Algorithm to delete an existing item from a data structure.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65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46D83-7BE6-4ED4-A4CC-AF9AAB7F7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637867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Characteristics of an Algorithm:</a:t>
            </a:r>
          </a:p>
          <a:p>
            <a:pPr marL="0" indent="0">
              <a:buNone/>
            </a:pPr>
            <a:r>
              <a:rPr lang="en-US" sz="3600" dirty="0"/>
              <a:t>An algorithm </a:t>
            </a:r>
            <a:r>
              <a:rPr lang="en-US" sz="3600" b="1" dirty="0"/>
              <a:t>must possess </a:t>
            </a:r>
            <a:r>
              <a:rPr lang="en-US" sz="3600" dirty="0"/>
              <a:t>following characteristics;</a:t>
            </a:r>
          </a:p>
          <a:p>
            <a:r>
              <a:rPr lang="en-US" sz="3600" b="1" dirty="0"/>
              <a:t>Finiteness:</a:t>
            </a:r>
            <a:r>
              <a:rPr lang="en-US" sz="3600" dirty="0"/>
              <a:t> An algorithm should have </a:t>
            </a:r>
            <a:r>
              <a:rPr lang="en-US" sz="3600" b="1" dirty="0"/>
              <a:t>finite number </a:t>
            </a:r>
            <a:r>
              <a:rPr lang="en-US" sz="3600" dirty="0"/>
              <a:t>of steps and it should end after a finite time.</a:t>
            </a:r>
          </a:p>
          <a:p>
            <a:r>
              <a:rPr lang="en-US" sz="3600" b="1" dirty="0"/>
              <a:t>Input: </a:t>
            </a:r>
            <a:r>
              <a:rPr lang="en-US" sz="3600" dirty="0"/>
              <a:t>An algorithm may have many </a:t>
            </a:r>
            <a:r>
              <a:rPr lang="en-US" sz="3600" b="1" dirty="0"/>
              <a:t>inputs or no inputs at all.</a:t>
            </a:r>
          </a:p>
          <a:p>
            <a:r>
              <a:rPr lang="en-US" sz="3600" b="1" dirty="0"/>
              <a:t>Output: </a:t>
            </a:r>
            <a:r>
              <a:rPr lang="en-US" sz="3600" dirty="0"/>
              <a:t>It should result at </a:t>
            </a:r>
            <a:r>
              <a:rPr lang="en-US" sz="3600" b="1" dirty="0"/>
              <a:t>least one output</a:t>
            </a:r>
            <a:r>
              <a:rPr lang="en-US" sz="3600" dirty="0"/>
              <a:t>.</a:t>
            </a:r>
          </a:p>
          <a:p>
            <a:r>
              <a:rPr lang="en-US" sz="3600" b="1" dirty="0"/>
              <a:t>Definiteness:</a:t>
            </a:r>
            <a:r>
              <a:rPr lang="en-US" sz="3600" dirty="0"/>
              <a:t> Each step </a:t>
            </a:r>
            <a:r>
              <a:rPr lang="en-US" sz="3600" b="1" dirty="0"/>
              <a:t>must be clear, </a:t>
            </a:r>
            <a:r>
              <a:rPr lang="en-US" sz="3600" dirty="0"/>
              <a:t>well-defined and precise. There should be </a:t>
            </a:r>
            <a:r>
              <a:rPr lang="en-US" sz="3600" b="1" dirty="0"/>
              <a:t>no any ambiguity</a:t>
            </a:r>
            <a:r>
              <a:rPr lang="en-US" sz="3600" dirty="0"/>
              <a:t>.</a:t>
            </a:r>
          </a:p>
          <a:p>
            <a:r>
              <a:rPr lang="en-US" sz="3600" b="1" dirty="0"/>
              <a:t>Effectiveness: </a:t>
            </a:r>
            <a:r>
              <a:rPr lang="en-US" sz="3600" dirty="0"/>
              <a:t>Each step must be</a:t>
            </a:r>
            <a:r>
              <a:rPr lang="en-US" sz="3600" b="1" dirty="0"/>
              <a:t> simple </a:t>
            </a:r>
            <a:r>
              <a:rPr lang="en-US" sz="3600" dirty="0"/>
              <a:t>and should </a:t>
            </a:r>
            <a:r>
              <a:rPr lang="en-US" sz="3600" b="1" dirty="0"/>
              <a:t>take a finite amount of time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62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F3F18-F665-4E9E-9CB7-4FBB9F38C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22"/>
            <a:ext cx="10515600" cy="6660445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Guidelines for Developing an Algorithm:</a:t>
            </a:r>
          </a:p>
          <a:p>
            <a:pPr marL="0" indent="0">
              <a:buNone/>
            </a:pPr>
            <a:r>
              <a:rPr lang="en-US" sz="3600" dirty="0"/>
              <a:t>Following guidelines must be followed while developing an algorithm:</a:t>
            </a:r>
          </a:p>
          <a:p>
            <a:r>
              <a:rPr lang="en-US" sz="3600" dirty="0"/>
              <a:t>An algorithm will be enclosed by </a:t>
            </a:r>
            <a:r>
              <a:rPr lang="en-US" sz="3600" b="1" dirty="0"/>
              <a:t>START (or BEGIN</a:t>
            </a:r>
            <a:r>
              <a:rPr lang="en-US" sz="3600" dirty="0"/>
              <a:t>) and </a:t>
            </a:r>
            <a:r>
              <a:rPr lang="en-US" sz="3600" b="1" dirty="0"/>
              <a:t>STOP (or END).</a:t>
            </a:r>
          </a:p>
          <a:p>
            <a:r>
              <a:rPr lang="en-US" sz="3600" dirty="0"/>
              <a:t>To accept data from user, generally used statements are </a:t>
            </a:r>
            <a:r>
              <a:rPr lang="en-US" sz="3600" b="1" dirty="0"/>
              <a:t>INPUT, READ, GET or OBTAIN.</a:t>
            </a:r>
          </a:p>
          <a:p>
            <a:r>
              <a:rPr lang="en-US" sz="3600" dirty="0"/>
              <a:t>To display result or any message, generally used statements are </a:t>
            </a:r>
            <a:r>
              <a:rPr lang="en-US" sz="3600" b="1" dirty="0"/>
              <a:t>PRINT, DISPLAY, or WRITE</a:t>
            </a:r>
            <a:r>
              <a:rPr lang="en-US" sz="3600" dirty="0"/>
              <a:t>. </a:t>
            </a:r>
          </a:p>
          <a:p>
            <a:r>
              <a:rPr lang="en-US" sz="3600" dirty="0"/>
              <a:t>Generally, </a:t>
            </a:r>
            <a:r>
              <a:rPr lang="en-US" sz="3600" b="1" dirty="0"/>
              <a:t>COMPUTE or CALCULATE </a:t>
            </a:r>
            <a:r>
              <a:rPr lang="en-US" sz="3600" dirty="0"/>
              <a:t>is used while describing mathematical expressions and based on situation relevant operators can be used.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290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985AD-2DAE-4D69-B92E-D1ADBFAB7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683022"/>
          </a:xfrm>
        </p:spPr>
        <p:txBody>
          <a:bodyPr/>
          <a:lstStyle/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/>
              <a:t>Example of an Algorithm:</a:t>
            </a:r>
          </a:p>
          <a:p>
            <a:pPr marL="0" indent="0">
              <a:buNone/>
            </a:pPr>
            <a:r>
              <a:rPr lang="en-US" sz="4000" b="1" dirty="0"/>
              <a:t>Algorithm :</a:t>
            </a:r>
            <a:r>
              <a:rPr lang="en-US" sz="4000" dirty="0"/>
              <a:t> Calculation of Simple Interest;</a:t>
            </a:r>
          </a:p>
          <a:p>
            <a:pPr marL="0" indent="0">
              <a:buNone/>
            </a:pPr>
            <a:r>
              <a:rPr lang="en-US" sz="4000" b="1" dirty="0"/>
              <a:t>Step 1: Start</a:t>
            </a:r>
          </a:p>
          <a:p>
            <a:pPr marL="0" indent="0">
              <a:buNone/>
            </a:pPr>
            <a:r>
              <a:rPr lang="en-US" sz="4000" b="1" dirty="0"/>
              <a:t>Step 2: Read Principle(P), Time (T) and Rate (R)</a:t>
            </a:r>
          </a:p>
          <a:p>
            <a:pPr marL="0" indent="0">
              <a:buNone/>
            </a:pPr>
            <a:r>
              <a:rPr lang="en-US" sz="4000" b="1" dirty="0"/>
              <a:t>Step 3: Calculate I =P*T*R/100</a:t>
            </a:r>
          </a:p>
          <a:p>
            <a:pPr marL="0" indent="0">
              <a:buNone/>
            </a:pPr>
            <a:r>
              <a:rPr lang="en-US" sz="4000" b="1" dirty="0"/>
              <a:t>Step 4: Print I as Interest</a:t>
            </a:r>
          </a:p>
          <a:p>
            <a:pPr marL="0" indent="0">
              <a:buNone/>
            </a:pPr>
            <a:r>
              <a:rPr lang="en-US" sz="4000" b="1" dirty="0"/>
              <a:t>Step 5: Stop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87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58894-DFFE-4ADC-AF26-BB1F7DF51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592711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Advantages of an Algorithm:</a:t>
            </a:r>
          </a:p>
          <a:p>
            <a:pPr marL="0" indent="0">
              <a:buNone/>
            </a:pPr>
            <a:r>
              <a:rPr lang="en-US" sz="3200" dirty="0"/>
              <a:t>Designing an algorithm has following advantages :</a:t>
            </a:r>
          </a:p>
          <a:p>
            <a:r>
              <a:rPr lang="en-US" sz="3200" b="1" dirty="0"/>
              <a:t>Effective Communication:</a:t>
            </a:r>
            <a:r>
              <a:rPr lang="en-US" sz="3200" dirty="0"/>
              <a:t> Since algorithm is written in English like language, it is simple to understand step-by-step solution of the problems.</a:t>
            </a:r>
          </a:p>
          <a:p>
            <a:r>
              <a:rPr lang="en-US" sz="3200" b="1" dirty="0"/>
              <a:t>Easy Debugging:</a:t>
            </a:r>
            <a:r>
              <a:rPr lang="en-US" sz="3200" dirty="0"/>
              <a:t> Well-designed algorithm makes debugging easy so that we can identify logical error in the program.</a:t>
            </a:r>
          </a:p>
          <a:p>
            <a:r>
              <a:rPr lang="en-US" sz="3200" b="1" dirty="0"/>
              <a:t>Easy and Efficient Coding:</a:t>
            </a:r>
            <a:r>
              <a:rPr lang="en-US" sz="3200" dirty="0"/>
              <a:t> An algorithm acts as a blueprint of a program and helps during program development.</a:t>
            </a:r>
          </a:p>
          <a:p>
            <a:r>
              <a:rPr lang="en-US" sz="3200" b="1" dirty="0"/>
              <a:t>Independent of Programming Language:</a:t>
            </a:r>
            <a:r>
              <a:rPr lang="en-US" sz="3200" dirty="0"/>
              <a:t> An algorithm is independent of programming languages and can be easily coded using any high level language.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306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66A16-0120-41BE-9700-57D51C226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592711"/>
          </a:xfrm>
        </p:spPr>
        <p:txBody>
          <a:bodyPr/>
          <a:lstStyle/>
          <a:p>
            <a:pPr marL="0" indent="0">
              <a:buNone/>
            </a:pPr>
            <a:r>
              <a:rPr lang="en-US" sz="4400" b="1" dirty="0"/>
              <a:t>Disadvantages of an Algorithm:</a:t>
            </a:r>
          </a:p>
          <a:p>
            <a:pPr marL="0" indent="0">
              <a:buNone/>
            </a:pPr>
            <a:r>
              <a:rPr lang="en-US" sz="4400" dirty="0"/>
              <a:t>An algorithm has following disadvantages :</a:t>
            </a:r>
          </a:p>
          <a:p>
            <a:r>
              <a:rPr lang="en-US" sz="4400" dirty="0"/>
              <a:t>Developing algorithm for complex problems would be </a:t>
            </a:r>
            <a:r>
              <a:rPr lang="en-US" sz="4400" b="1" dirty="0"/>
              <a:t>time consuming and difficult to understand.</a:t>
            </a:r>
          </a:p>
          <a:p>
            <a:r>
              <a:rPr lang="en-US" sz="4400" dirty="0"/>
              <a:t>Understanding </a:t>
            </a:r>
            <a:r>
              <a:rPr lang="en-US" sz="4400" b="1" dirty="0"/>
              <a:t>complex logic through algorithms can be very difficult</a:t>
            </a:r>
            <a:r>
              <a:rPr lang="en-US" sz="4400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148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C7D73-7B85-4F4D-87C8-A420FBDF7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51368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Algorithmic notation:</a:t>
            </a:r>
          </a:p>
          <a:p>
            <a:pPr marL="0" indent="0">
              <a:buNone/>
            </a:pPr>
            <a:r>
              <a:rPr lang="en-US" sz="3200" b="1" dirty="0"/>
              <a:t>Algorithmic notation is a way of describing algorithms, </a:t>
            </a:r>
            <a:r>
              <a:rPr lang="en-US" sz="3200" dirty="0"/>
              <a:t>which are step by step procedures for solving problems.</a:t>
            </a:r>
          </a:p>
          <a:p>
            <a:pPr marL="0" indent="0">
              <a:buNone/>
            </a:pPr>
            <a:r>
              <a:rPr lang="en-US" sz="3200" b="1" dirty="0"/>
              <a:t>It is a crucial tool for describing and communicating algorithms in a clear and understandable  manner.</a:t>
            </a:r>
          </a:p>
          <a:p>
            <a:pPr marL="0" indent="0">
              <a:buNone/>
            </a:pPr>
            <a:r>
              <a:rPr lang="en-US" sz="3200" dirty="0"/>
              <a:t>There are </a:t>
            </a:r>
            <a:r>
              <a:rPr lang="en-US" sz="3200" b="1" dirty="0"/>
              <a:t>various notations  </a:t>
            </a:r>
            <a:r>
              <a:rPr lang="en-US" sz="3200" dirty="0"/>
              <a:t>used  for </a:t>
            </a:r>
            <a:r>
              <a:rPr lang="en-US" sz="3200" b="1" dirty="0"/>
              <a:t>representing algorithms</a:t>
            </a:r>
            <a:r>
              <a:rPr lang="en-US" sz="3200" dirty="0"/>
              <a:t>, such as </a:t>
            </a:r>
            <a:r>
              <a:rPr lang="en-US" sz="3200" b="1" dirty="0"/>
              <a:t>pseudocode, flow charts and programming languages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b="1" dirty="0"/>
              <a:t>Pseudocode</a:t>
            </a:r>
            <a:r>
              <a:rPr lang="en-US" sz="3200" dirty="0"/>
              <a:t> is </a:t>
            </a:r>
            <a:r>
              <a:rPr lang="en-US" sz="3200" b="1" dirty="0"/>
              <a:t>a high level description of an algorithm </a:t>
            </a:r>
            <a:r>
              <a:rPr lang="en-US" sz="3200" dirty="0"/>
              <a:t>that is designed to be </a:t>
            </a:r>
            <a:r>
              <a:rPr lang="en-US" sz="3200" b="1" dirty="0"/>
              <a:t>easily understood by humans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It is similar to programming code, but it is </a:t>
            </a:r>
            <a:r>
              <a:rPr lang="en-US" sz="3200" b="1" dirty="0"/>
              <a:t>not written in a specific programming language.</a:t>
            </a:r>
          </a:p>
          <a:p>
            <a:pPr marL="0" indent="0">
              <a:buNone/>
            </a:pPr>
            <a:r>
              <a:rPr lang="en-US" sz="3200" dirty="0"/>
              <a:t>Instead, it uses </a:t>
            </a:r>
            <a:r>
              <a:rPr lang="en-US" sz="3200" b="1" dirty="0"/>
              <a:t>plain language </a:t>
            </a:r>
            <a:r>
              <a:rPr lang="en-US" sz="3200" dirty="0"/>
              <a:t>and </a:t>
            </a:r>
            <a:r>
              <a:rPr lang="en-US" sz="3200" b="1" dirty="0"/>
              <a:t>simple syntax </a:t>
            </a:r>
            <a:r>
              <a:rPr lang="en-US" sz="3200" dirty="0"/>
              <a:t>to </a:t>
            </a:r>
            <a:r>
              <a:rPr lang="en-US" sz="3200" b="1" dirty="0"/>
              <a:t>describe the steps of an algorithm.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24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1C8C-EF8F-4DDA-9078-FCEF9978F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536267"/>
          </a:xfrm>
        </p:spPr>
        <p:txBody>
          <a:bodyPr>
            <a:normAutofit/>
          </a:bodyPr>
          <a:lstStyle/>
          <a:p>
            <a:r>
              <a:rPr lang="en-US" sz="4000" b="1" dirty="0"/>
              <a:t>Flowcharts</a:t>
            </a:r>
            <a:r>
              <a:rPr lang="en-US" sz="4000" dirty="0"/>
              <a:t> are </a:t>
            </a:r>
            <a:r>
              <a:rPr lang="en-US" sz="4000" b="1" dirty="0"/>
              <a:t>graphical representation </a:t>
            </a:r>
            <a:r>
              <a:rPr lang="en-US" sz="4000" dirty="0"/>
              <a:t>of an </a:t>
            </a:r>
            <a:r>
              <a:rPr lang="en-US" sz="4000" b="1" dirty="0"/>
              <a:t>algorithm that use symbols and arrows </a:t>
            </a:r>
            <a:r>
              <a:rPr lang="en-US" sz="4000" dirty="0"/>
              <a:t>to </a:t>
            </a:r>
            <a:r>
              <a:rPr lang="en-US" sz="4000" b="1" dirty="0"/>
              <a:t>show the flow of the algorithm</a:t>
            </a:r>
            <a:r>
              <a:rPr lang="en-US" sz="4000" dirty="0"/>
              <a:t>. </a:t>
            </a:r>
          </a:p>
          <a:p>
            <a:r>
              <a:rPr lang="en-US" sz="4000" dirty="0"/>
              <a:t>Each symbol represents a </a:t>
            </a:r>
            <a:r>
              <a:rPr lang="en-US" sz="4000" b="1" dirty="0"/>
              <a:t>specific action</a:t>
            </a:r>
            <a:r>
              <a:rPr lang="en-US" sz="4000" dirty="0"/>
              <a:t>, such as a </a:t>
            </a:r>
            <a:r>
              <a:rPr lang="en-US" sz="4000" b="1" dirty="0"/>
              <a:t>process </a:t>
            </a:r>
            <a:r>
              <a:rPr lang="en-US" sz="4000" dirty="0"/>
              <a:t>or a </a:t>
            </a:r>
            <a:r>
              <a:rPr lang="en-US" sz="4000" b="1" dirty="0"/>
              <a:t>decision a</a:t>
            </a:r>
            <a:r>
              <a:rPr lang="en-US" sz="4000" dirty="0"/>
              <a:t>nd the </a:t>
            </a:r>
            <a:r>
              <a:rPr lang="en-US" sz="4000" b="1" dirty="0"/>
              <a:t>arrow show the direction of the flow.</a:t>
            </a:r>
            <a:endParaRPr lang="en-US" sz="4000" dirty="0"/>
          </a:p>
          <a:p>
            <a:r>
              <a:rPr lang="en-US" sz="4000" b="1" dirty="0"/>
              <a:t>Programming languages </a:t>
            </a:r>
            <a:r>
              <a:rPr lang="en-US" sz="4000" dirty="0"/>
              <a:t>such as Java, Python and C++, use a specific syntax to represent algorithms.</a:t>
            </a:r>
          </a:p>
          <a:p>
            <a:r>
              <a:rPr lang="en-US" sz="4000" dirty="0"/>
              <a:t>They allow algorithms to be written  in a way that can be </a:t>
            </a:r>
            <a:r>
              <a:rPr lang="en-US" sz="4000" b="1" dirty="0"/>
              <a:t>executed by a computer.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96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0A42-2C08-4283-9B7E-66AB69700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745111"/>
          </a:xfrm>
        </p:spPr>
        <p:txBody>
          <a:bodyPr/>
          <a:lstStyle/>
          <a:p>
            <a:r>
              <a:rPr lang="en-US" sz="4000" b="1" dirty="0"/>
              <a:t>Pseudocodes:</a:t>
            </a:r>
          </a:p>
          <a:p>
            <a:pPr marL="0" indent="0">
              <a:buNone/>
            </a:pPr>
            <a:r>
              <a:rPr lang="en-US" sz="3600" dirty="0"/>
              <a:t>Pseudocode is structured English for describing algorithms concisely.</a:t>
            </a:r>
          </a:p>
          <a:p>
            <a:pPr marL="0" indent="0">
              <a:buNone/>
            </a:pPr>
            <a:r>
              <a:rPr lang="en-US" sz="3600" dirty="0"/>
              <a:t>It is made up of two words, namely</a:t>
            </a:r>
            <a:r>
              <a:rPr lang="en-US" sz="3600" b="1" dirty="0"/>
              <a:t>, pseudo </a:t>
            </a:r>
            <a:r>
              <a:rPr lang="en-US" sz="3600" dirty="0"/>
              <a:t>meaning </a:t>
            </a:r>
            <a:r>
              <a:rPr lang="en-US" sz="3600" b="1" dirty="0"/>
              <a:t>imitation</a:t>
            </a:r>
            <a:r>
              <a:rPr lang="en-US" sz="3600" dirty="0"/>
              <a:t> and </a:t>
            </a:r>
            <a:r>
              <a:rPr lang="en-US" sz="3600" b="1" dirty="0"/>
              <a:t>code</a:t>
            </a:r>
            <a:r>
              <a:rPr lang="en-US" sz="3600" dirty="0"/>
              <a:t> meaning </a:t>
            </a:r>
            <a:r>
              <a:rPr lang="en-US" sz="3600" b="1" dirty="0"/>
              <a:t>instructions. </a:t>
            </a:r>
          </a:p>
          <a:p>
            <a:pPr marL="0" indent="0">
              <a:buNone/>
            </a:pPr>
            <a:r>
              <a:rPr lang="en-US" sz="3600" dirty="0"/>
              <a:t>As the name suggests, pseudocode does not obey the syntax rules of any particular programming language i.e. it is not a real programming code. </a:t>
            </a:r>
          </a:p>
          <a:p>
            <a:pPr marL="0" indent="0">
              <a:buNone/>
            </a:pPr>
            <a:r>
              <a:rPr lang="en-US" sz="3600" dirty="0"/>
              <a:t>It allows the designer to focus on main logic without being distracted by programming languages syntax.</a:t>
            </a:r>
            <a:endParaRPr lang="en-US" sz="36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088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4302-F9EF-4584-B180-724E601F4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694311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Guidelines for Preparing Pseudocode:</a:t>
            </a:r>
          </a:p>
          <a:p>
            <a:pPr marL="0" indent="0">
              <a:buNone/>
            </a:pPr>
            <a:r>
              <a:rPr lang="en-US" sz="3200" dirty="0"/>
              <a:t>Following points should be remembered while preparing pseudocode :</a:t>
            </a:r>
          </a:p>
          <a:p>
            <a:r>
              <a:rPr lang="en-US" sz="3200" dirty="0"/>
              <a:t>Pseudocode will be enclosed by </a:t>
            </a:r>
            <a:r>
              <a:rPr lang="en-US" sz="3200" b="1" dirty="0"/>
              <a:t>START (or BEGIN) </a:t>
            </a:r>
            <a:r>
              <a:rPr lang="en-US" sz="3200" dirty="0"/>
              <a:t>and </a:t>
            </a:r>
            <a:r>
              <a:rPr lang="en-US" sz="3200" b="1" dirty="0"/>
              <a:t>STOP (or END).</a:t>
            </a:r>
          </a:p>
          <a:p>
            <a:r>
              <a:rPr lang="en-US" sz="3200" dirty="0"/>
              <a:t>Pseudocode should be concise so ignore unnecessary details.</a:t>
            </a:r>
          </a:p>
          <a:p>
            <a:r>
              <a:rPr lang="en-US" sz="3200" dirty="0"/>
              <a:t>To accept data from user, generally used statements are </a:t>
            </a:r>
            <a:r>
              <a:rPr lang="en-US" sz="3200" b="1" dirty="0"/>
              <a:t>INPUT, READ, GET or OBTAIN</a:t>
            </a:r>
            <a:r>
              <a:rPr lang="en-US" sz="3200" dirty="0"/>
              <a:t>.</a:t>
            </a:r>
          </a:p>
          <a:p>
            <a:r>
              <a:rPr lang="en-US" sz="3200" dirty="0"/>
              <a:t>To display result or any message, generally used statements are </a:t>
            </a:r>
            <a:r>
              <a:rPr lang="en-US" sz="3200" b="1" dirty="0"/>
              <a:t>PRINT, DISPLAY, or WRITE</a:t>
            </a:r>
            <a:r>
              <a:rPr lang="en-US" sz="3200" dirty="0"/>
              <a:t>. </a:t>
            </a:r>
          </a:p>
          <a:p>
            <a:r>
              <a:rPr lang="en-US" sz="3200" dirty="0"/>
              <a:t>Generally used keywords are </a:t>
            </a:r>
            <a:r>
              <a:rPr lang="en-US" sz="3200" b="1" dirty="0"/>
              <a:t>capitalized </a:t>
            </a:r>
            <a:r>
              <a:rPr lang="en-US" sz="3200" dirty="0"/>
              <a:t>while preparing pseudocode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3516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E9A99-A479-4098-BA1B-8F4F25BE3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683022"/>
          </a:xfrm>
        </p:spPr>
        <p:txBody>
          <a:bodyPr/>
          <a:lstStyle/>
          <a:p>
            <a:pPr marL="0" indent="0">
              <a:buNone/>
            </a:pPr>
            <a:r>
              <a:rPr lang="en-US" sz="4400" b="1" dirty="0"/>
              <a:t>Example of Pseudocode:</a:t>
            </a:r>
          </a:p>
          <a:p>
            <a:pPr marL="0" indent="0">
              <a:buNone/>
            </a:pPr>
            <a:r>
              <a:rPr lang="en-US" sz="4400" b="1" dirty="0"/>
              <a:t>Pseudocode :</a:t>
            </a:r>
            <a:r>
              <a:rPr lang="en-US" sz="4400" dirty="0"/>
              <a:t> Calculation of Simple Interest;</a:t>
            </a:r>
          </a:p>
          <a:p>
            <a:pPr marL="0" indent="0">
              <a:buNone/>
            </a:pPr>
            <a:endParaRPr lang="en-US" sz="4400" b="1" dirty="0"/>
          </a:p>
          <a:p>
            <a:pPr marL="0" indent="0">
              <a:buNone/>
            </a:pPr>
            <a:r>
              <a:rPr lang="en-US" sz="4400" b="1" dirty="0"/>
              <a:t>Step 1: START</a:t>
            </a:r>
          </a:p>
          <a:p>
            <a:pPr marL="0" indent="0">
              <a:buNone/>
            </a:pPr>
            <a:r>
              <a:rPr lang="en-US" sz="4400" b="1" dirty="0"/>
              <a:t>Step 2: Read P, T, R</a:t>
            </a:r>
          </a:p>
          <a:p>
            <a:pPr marL="0" indent="0">
              <a:buNone/>
            </a:pPr>
            <a:r>
              <a:rPr lang="en-US" sz="4400" b="1" dirty="0"/>
              <a:t>Step 3:  I =P*T*R/100</a:t>
            </a:r>
          </a:p>
          <a:p>
            <a:pPr marL="0" indent="0">
              <a:buNone/>
            </a:pPr>
            <a:r>
              <a:rPr lang="en-US" sz="4400" b="1" dirty="0"/>
              <a:t>Step 4: PRINT I </a:t>
            </a:r>
          </a:p>
          <a:p>
            <a:pPr marL="0" indent="0">
              <a:buNone/>
            </a:pPr>
            <a:r>
              <a:rPr lang="en-US" sz="4400" b="1" dirty="0"/>
              <a:t>Step 5: STOP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560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877B2-1F87-4222-89D9-BCF6B575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60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>Advantages of Pseudocode:</a:t>
            </a:r>
          </a:p>
          <a:p>
            <a:pPr marL="0" indent="0">
              <a:buNone/>
            </a:pPr>
            <a:r>
              <a:rPr lang="en-US" sz="3600" dirty="0"/>
              <a:t>Preparing pseudocode while solving any problem through computer has following advantages : </a:t>
            </a:r>
          </a:p>
          <a:p>
            <a:r>
              <a:rPr lang="en-US" sz="3600" dirty="0"/>
              <a:t>It allows the designer to focus on main logic without being distracted by programming languages syntax.</a:t>
            </a:r>
          </a:p>
          <a:p>
            <a:r>
              <a:rPr lang="en-US" sz="3600" dirty="0"/>
              <a:t>Since it is language independent, it can be translated to any computer language code.</a:t>
            </a:r>
          </a:p>
          <a:p>
            <a:r>
              <a:rPr lang="en-US" sz="3600" dirty="0"/>
              <a:t>It allows designer to express logic in plain natural language.</a:t>
            </a:r>
          </a:p>
          <a:p>
            <a:r>
              <a:rPr lang="en-US" sz="3600" dirty="0"/>
              <a:t>It is easier to write actual code using pseudocode.</a:t>
            </a:r>
          </a:p>
          <a:p>
            <a:r>
              <a:rPr lang="en-US" sz="3600" dirty="0"/>
              <a:t>Unlike algorithms, pseudocodes are concise so pseudocodes are more readable and easier to modify. </a:t>
            </a:r>
          </a:p>
        </p:txBody>
      </p:sp>
    </p:spTree>
    <p:extLst>
      <p:ext uri="{BB962C8B-B14F-4D97-AF65-F5344CB8AC3E}">
        <p14:creationId xmlns:p14="http://schemas.microsoft.com/office/powerpoint/2010/main" val="3272520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FF4F-89FF-4B84-844B-382974295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22"/>
            <a:ext cx="10515600" cy="6649156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/>
              <a:t>Disadvantages of Pseudocode:</a:t>
            </a:r>
          </a:p>
          <a:p>
            <a:pPr marL="0" indent="0">
              <a:buNone/>
            </a:pPr>
            <a:r>
              <a:rPr lang="en-US" sz="4000" dirty="0"/>
              <a:t>Pseudocode has following </a:t>
            </a:r>
            <a:r>
              <a:rPr lang="en-US" sz="4000" b="1" dirty="0"/>
              <a:t>disadvantages </a:t>
            </a:r>
            <a:r>
              <a:rPr lang="en-US" sz="4000" dirty="0"/>
              <a:t>:</a:t>
            </a:r>
          </a:p>
          <a:p>
            <a:r>
              <a:rPr lang="en-US" sz="4000" dirty="0"/>
              <a:t>There are </a:t>
            </a:r>
            <a:r>
              <a:rPr lang="en-US" sz="4000" b="1" dirty="0"/>
              <a:t>no accepted standards </a:t>
            </a:r>
            <a:r>
              <a:rPr lang="en-US" sz="4000" dirty="0"/>
              <a:t>for </a:t>
            </a:r>
            <a:r>
              <a:rPr lang="en-US" sz="4000" b="1" dirty="0"/>
              <a:t>writing pseudocodes and designer use their own style </a:t>
            </a:r>
            <a:r>
              <a:rPr lang="en-US" sz="4000" dirty="0"/>
              <a:t>while writing pseudocodes.</a:t>
            </a:r>
          </a:p>
          <a:p>
            <a:r>
              <a:rPr lang="en-US" sz="4000" dirty="0"/>
              <a:t>Pseudocode </a:t>
            </a:r>
            <a:r>
              <a:rPr lang="en-US" sz="4000" b="1" dirty="0"/>
              <a:t>cannot be compiled and executed </a:t>
            </a:r>
            <a:r>
              <a:rPr lang="en-US" sz="4000" dirty="0"/>
              <a:t>so </a:t>
            </a:r>
            <a:r>
              <a:rPr lang="en-US" sz="4000" b="1" dirty="0"/>
              <a:t>its correctness cannot be verified </a:t>
            </a:r>
            <a:r>
              <a:rPr lang="en-US" sz="4000" dirty="0"/>
              <a:t>by using computers.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251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A8E71-91C3-4D29-857B-057D3F97E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615289"/>
          </a:xfrm>
        </p:spPr>
        <p:txBody>
          <a:bodyPr/>
          <a:lstStyle/>
          <a:p>
            <a:r>
              <a:rPr lang="en-US" sz="4000" b="1" dirty="0"/>
              <a:t>Flowcharts:</a:t>
            </a:r>
          </a:p>
          <a:p>
            <a:pPr marL="0" indent="0">
              <a:buNone/>
            </a:pPr>
            <a:r>
              <a:rPr lang="en-US" sz="3200" b="1" dirty="0"/>
              <a:t>Flowchart is basically a pictorial or diagrammatic representation of an algorithm using standard symbols. </a:t>
            </a:r>
          </a:p>
          <a:p>
            <a:pPr marL="0" indent="0">
              <a:buNone/>
            </a:pPr>
            <a:r>
              <a:rPr lang="en-US" sz="3200" dirty="0"/>
              <a:t>In other words, </a:t>
            </a:r>
            <a:r>
              <a:rPr lang="en-US" sz="3200" b="1" dirty="0"/>
              <a:t>flowchart</a:t>
            </a:r>
            <a:r>
              <a:rPr lang="en-US" sz="3200" dirty="0"/>
              <a:t> is a </a:t>
            </a:r>
            <a:r>
              <a:rPr lang="en-US" sz="3200" b="1" dirty="0"/>
              <a:t>graphical representation </a:t>
            </a:r>
            <a:r>
              <a:rPr lang="en-US" sz="3200" dirty="0"/>
              <a:t>that explains the </a:t>
            </a:r>
            <a:r>
              <a:rPr lang="en-US" sz="3200" b="1" dirty="0"/>
              <a:t>sequence of operations to be performed </a:t>
            </a:r>
            <a:r>
              <a:rPr lang="en-US" sz="3200" dirty="0"/>
              <a:t>in order to </a:t>
            </a:r>
            <a:r>
              <a:rPr lang="en-US" sz="3200" b="1" dirty="0"/>
              <a:t>solve a problem under consideration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b="1" dirty="0"/>
              <a:t>Standard Flowchart Symbols</a:t>
            </a:r>
          </a:p>
          <a:p>
            <a:pPr marL="0" indent="0">
              <a:buNone/>
            </a:pPr>
            <a:r>
              <a:rPr lang="en-US" sz="3200" dirty="0"/>
              <a:t>To express different operations in the flowchart various </a:t>
            </a:r>
            <a:r>
              <a:rPr lang="en-US" sz="3200" b="1" dirty="0"/>
              <a:t>standard symbols</a:t>
            </a:r>
            <a:r>
              <a:rPr lang="en-US" sz="3200" dirty="0"/>
              <a:t> are used. All symbols are connected among themselves in order to show the flow of information and processing. Different symbols as prescribed by </a:t>
            </a:r>
            <a:r>
              <a:rPr lang="en-US" sz="3200" b="1" dirty="0"/>
              <a:t>American National Standard Institute (ANSI)</a:t>
            </a:r>
            <a:r>
              <a:rPr lang="en-US" sz="3200" dirty="0"/>
              <a:t> which are frequently required while drawing flowchart.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84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3A14BF-55DC-4B9A-8430-02E00A04A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44" y="79022"/>
            <a:ext cx="11684000" cy="6778978"/>
          </a:xfrm>
        </p:spPr>
      </p:pic>
    </p:spTree>
    <p:extLst>
      <p:ext uri="{BB962C8B-B14F-4D97-AF65-F5344CB8AC3E}">
        <p14:creationId xmlns:p14="http://schemas.microsoft.com/office/powerpoint/2010/main" val="2391632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34B70-4FD5-44DE-A71D-72CD7910E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22"/>
            <a:ext cx="10515600" cy="677897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Guidelines for Preparing Flowchart:</a:t>
            </a:r>
          </a:p>
          <a:p>
            <a:pPr marL="0" indent="0">
              <a:buNone/>
            </a:pPr>
            <a:r>
              <a:rPr lang="en-US" sz="3200" dirty="0"/>
              <a:t>Following </a:t>
            </a:r>
            <a:r>
              <a:rPr lang="en-US" sz="3200" b="1" dirty="0"/>
              <a:t>guidelines</a:t>
            </a:r>
            <a:r>
              <a:rPr lang="en-US" sz="3200" dirty="0"/>
              <a:t> must be followed while preparing the flowcharts:</a:t>
            </a:r>
          </a:p>
          <a:p>
            <a:r>
              <a:rPr lang="en-US" sz="3200" dirty="0"/>
              <a:t>Standard symbols should be used while drawing flowchart.</a:t>
            </a:r>
          </a:p>
          <a:p>
            <a:r>
              <a:rPr lang="en-US" sz="3200" dirty="0"/>
              <a:t>Ensure that flowchart has </a:t>
            </a:r>
            <a:r>
              <a:rPr lang="en-US" sz="3200" b="1" dirty="0"/>
              <a:t>START (or BEGIN) </a:t>
            </a:r>
            <a:r>
              <a:rPr lang="en-US" sz="3200" dirty="0"/>
              <a:t>and </a:t>
            </a:r>
            <a:r>
              <a:rPr lang="en-US" sz="3200" b="1" dirty="0"/>
              <a:t>STOP (or END).</a:t>
            </a:r>
          </a:p>
          <a:p>
            <a:r>
              <a:rPr lang="en-US" sz="3200" dirty="0"/>
              <a:t>Flowchart should be neat, clean and easy to follow. There should be no any ambiguity.</a:t>
            </a:r>
          </a:p>
          <a:p>
            <a:r>
              <a:rPr lang="en-US" sz="3200" dirty="0"/>
              <a:t>The usual direction of flowchart is from top to bottom or from left to right.</a:t>
            </a:r>
          </a:p>
          <a:p>
            <a:r>
              <a:rPr lang="en-US" sz="3200" dirty="0"/>
              <a:t>The terminal symbol, that is, START/BEGIN or STOP/END should have only one flow line.</a:t>
            </a:r>
            <a:endParaRPr lang="en-US" sz="32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908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BB415-DB1C-4870-A446-683E9568C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3"/>
            <a:ext cx="10515600" cy="6524978"/>
          </a:xfrm>
        </p:spPr>
        <p:txBody>
          <a:bodyPr>
            <a:normAutofit/>
          </a:bodyPr>
          <a:lstStyle/>
          <a:p>
            <a:r>
              <a:rPr lang="en-US" sz="3600" dirty="0"/>
              <a:t>Only one flow line should come out from process symbol.</a:t>
            </a:r>
          </a:p>
          <a:p>
            <a:r>
              <a:rPr lang="en-US" sz="3600" dirty="0"/>
              <a:t>Only one flow line should enter a decision symbol, but two or three flow-lines, one for each possible answer, can leave the decision symbol.</a:t>
            </a:r>
          </a:p>
          <a:p>
            <a:r>
              <a:rPr lang="en-US" sz="3600" dirty="0"/>
              <a:t>If the flowchart is lengthy and complex connector symbol should be used to reduce the number of flow lines.</a:t>
            </a:r>
          </a:p>
          <a:p>
            <a:r>
              <a:rPr lang="en-US" sz="3600" dirty="0"/>
              <a:t>Avoid intersection of flow lines.</a:t>
            </a:r>
          </a:p>
          <a:p>
            <a:r>
              <a:rPr lang="en-US" sz="3600" dirty="0"/>
              <a:t>Use annotation symbol to describe steps more clearly.</a:t>
            </a:r>
          </a:p>
        </p:txBody>
      </p:sp>
    </p:spTree>
    <p:extLst>
      <p:ext uri="{BB962C8B-B14F-4D97-AF65-F5344CB8AC3E}">
        <p14:creationId xmlns:p14="http://schemas.microsoft.com/office/powerpoint/2010/main" val="2020083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B09BB-90C8-4447-9925-E215BE1D9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10"/>
            <a:ext cx="10515600" cy="676768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 of Flowchart:</a:t>
            </a:r>
          </a:p>
          <a:p>
            <a:pPr marL="0" indent="0">
              <a:buNone/>
            </a:pPr>
            <a:r>
              <a:rPr lang="en-US" b="1" dirty="0"/>
              <a:t>Flowchart example</a:t>
            </a:r>
            <a:r>
              <a:rPr lang="en-US" dirty="0"/>
              <a:t> for calculating simple interest is shown below: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52D65-AFD1-4292-AE64-A70CEAE38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022" y="1275644"/>
            <a:ext cx="6445957" cy="528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5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27757-D56B-4AC5-BC5D-5A80F2DAB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22"/>
            <a:ext cx="10515600" cy="655884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Advantages of Flowchart:</a:t>
            </a:r>
          </a:p>
          <a:p>
            <a:pPr marL="0" indent="0">
              <a:buNone/>
            </a:pPr>
            <a:r>
              <a:rPr lang="en-US" dirty="0"/>
              <a:t>Drawing flowchart while solving any problem has following </a:t>
            </a: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r>
              <a:rPr lang="en-US" b="1" dirty="0"/>
              <a:t>Effective Communication : </a:t>
            </a:r>
            <a:r>
              <a:rPr lang="en-US" dirty="0"/>
              <a:t>Flowcharts are better way of communicating the logic of the system.</a:t>
            </a:r>
          </a:p>
          <a:p>
            <a:r>
              <a:rPr lang="en-US" b="1" dirty="0"/>
              <a:t>Effective Analysis : </a:t>
            </a:r>
            <a:r>
              <a:rPr lang="en-US" dirty="0"/>
              <a:t>Using flowchart problem can be analyzed more efficiently.</a:t>
            </a:r>
          </a:p>
          <a:p>
            <a:r>
              <a:rPr lang="en-US" b="1" dirty="0"/>
              <a:t>Easy Debugging and Efficient Testing : </a:t>
            </a:r>
            <a:r>
              <a:rPr lang="en-US" dirty="0"/>
              <a:t>The Flowchart helps in debugging and testing process.</a:t>
            </a:r>
          </a:p>
          <a:p>
            <a:r>
              <a:rPr lang="en-US" b="1" dirty="0"/>
              <a:t>Efficient Coding : </a:t>
            </a:r>
            <a:r>
              <a:rPr lang="en-US" dirty="0"/>
              <a:t>The flowcharts are very useful during program development phase.</a:t>
            </a:r>
          </a:p>
          <a:p>
            <a:r>
              <a:rPr lang="en-US" b="1" dirty="0"/>
              <a:t>Proper Documentation : </a:t>
            </a:r>
            <a:r>
              <a:rPr lang="en-US" dirty="0"/>
              <a:t>Flowcharts serves as a good program documentation, which is needed for various purpose.</a:t>
            </a:r>
          </a:p>
          <a:p>
            <a:r>
              <a:rPr lang="en-US" b="1" dirty="0"/>
              <a:t>Efficient Program Maintenance :</a:t>
            </a:r>
            <a:r>
              <a:rPr lang="en-US" dirty="0"/>
              <a:t> Maintenance of operating programs becomes easy with the help of flowchart.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6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4364B-20BE-4DDD-A8CA-7023E9701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722533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/>
              <a:t>Disadvantages of Flowchart:</a:t>
            </a:r>
          </a:p>
          <a:p>
            <a:pPr marL="0" indent="0">
              <a:buNone/>
            </a:pPr>
            <a:r>
              <a:rPr lang="en-US" sz="4000" dirty="0"/>
              <a:t>Flowchart has following disadvantages:</a:t>
            </a:r>
          </a:p>
          <a:p>
            <a:r>
              <a:rPr lang="en-US" sz="4000" b="1" dirty="0"/>
              <a:t>Complex Logic:</a:t>
            </a:r>
            <a:r>
              <a:rPr lang="en-US" sz="4000" dirty="0"/>
              <a:t> For complicated logic, flowchart becomes complex and clumsy.</a:t>
            </a:r>
          </a:p>
          <a:p>
            <a:r>
              <a:rPr lang="en-US" sz="4000" b="1" dirty="0"/>
              <a:t>Difficulty in Modifications:</a:t>
            </a:r>
            <a:r>
              <a:rPr lang="en-US" sz="4000" dirty="0"/>
              <a:t> If change is required in the logic then flowchart needs to be redrawn and requires a lot of time.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441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63BA7-5105-4654-A380-768195AFF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6886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Space and Time Analysis:</a:t>
            </a:r>
          </a:p>
          <a:p>
            <a:pPr marL="0" indent="0">
              <a:buNone/>
            </a:pPr>
            <a:r>
              <a:rPr lang="en-US" sz="3200" dirty="0"/>
              <a:t>Generally, there is always </a:t>
            </a:r>
            <a:r>
              <a:rPr lang="en-US" sz="3200" b="1" dirty="0"/>
              <a:t>more than one </a:t>
            </a:r>
            <a:r>
              <a:rPr lang="en-US" sz="3200" dirty="0"/>
              <a:t>way to </a:t>
            </a:r>
            <a:r>
              <a:rPr lang="en-US" sz="3200" b="1" dirty="0"/>
              <a:t>solve a problem </a:t>
            </a:r>
            <a:r>
              <a:rPr lang="en-US" sz="3200" dirty="0"/>
              <a:t>in computer science with </a:t>
            </a:r>
            <a:r>
              <a:rPr lang="en-US" sz="3200" b="1" dirty="0"/>
              <a:t>different algorithms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Therefore, it is highly </a:t>
            </a:r>
            <a:r>
              <a:rPr lang="en-US" sz="3200" b="1" dirty="0"/>
              <a:t>required to use a method to compare </a:t>
            </a:r>
            <a:r>
              <a:rPr lang="en-US" sz="3200" dirty="0"/>
              <a:t>the </a:t>
            </a:r>
            <a:r>
              <a:rPr lang="en-US" sz="3200" b="1" dirty="0"/>
              <a:t>solutions in order to judge </a:t>
            </a:r>
            <a:r>
              <a:rPr lang="en-US" sz="3200" dirty="0"/>
              <a:t>which </a:t>
            </a:r>
            <a:r>
              <a:rPr lang="en-US" sz="3200" b="1" dirty="0"/>
              <a:t>one is more optimal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The method must be:</a:t>
            </a:r>
          </a:p>
          <a:p>
            <a:r>
              <a:rPr lang="en-US" sz="3200" b="1" dirty="0"/>
              <a:t>Independent of the machine and its configuration</a:t>
            </a:r>
            <a:r>
              <a:rPr lang="en-US" sz="3200" dirty="0"/>
              <a:t>, on which the </a:t>
            </a:r>
            <a:r>
              <a:rPr lang="en-US" sz="3200" b="1" dirty="0"/>
              <a:t>algorithm is running </a:t>
            </a:r>
            <a:r>
              <a:rPr lang="en-US" sz="3200" dirty="0"/>
              <a:t>on.</a:t>
            </a:r>
          </a:p>
          <a:p>
            <a:r>
              <a:rPr lang="en-US" sz="3200" dirty="0"/>
              <a:t>Shows a </a:t>
            </a:r>
            <a:r>
              <a:rPr lang="en-US" sz="3200" b="1" dirty="0"/>
              <a:t>direct correlation with the number of inputs</a:t>
            </a:r>
            <a:r>
              <a:rPr lang="en-US" sz="3200" dirty="0"/>
              <a:t>.</a:t>
            </a:r>
          </a:p>
          <a:p>
            <a:r>
              <a:rPr lang="en-US" sz="3200" b="1" dirty="0"/>
              <a:t>Can distinguish two algorithms clearly without ambiguity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86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8E36A-067F-4FAB-B247-F3D219159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3"/>
            <a:ext cx="10515600" cy="6570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There are </a:t>
            </a:r>
            <a:r>
              <a:rPr lang="en-US" sz="3200" b="1" dirty="0"/>
              <a:t>two such methods </a:t>
            </a:r>
            <a:r>
              <a:rPr lang="en-US" sz="3200" dirty="0"/>
              <a:t>used, </a:t>
            </a:r>
            <a:r>
              <a:rPr lang="en-US" sz="3200" b="1" dirty="0"/>
              <a:t>time complexity</a:t>
            </a:r>
            <a:r>
              <a:rPr lang="en-US" sz="3200" dirty="0"/>
              <a:t> and </a:t>
            </a:r>
            <a:r>
              <a:rPr lang="en-US" sz="3200" b="1" dirty="0"/>
              <a:t>space complexity</a:t>
            </a:r>
            <a:r>
              <a:rPr lang="en-US" sz="3200" dirty="0"/>
              <a:t> which are given below:</a:t>
            </a:r>
          </a:p>
          <a:p>
            <a:pPr marL="0" indent="0">
              <a:buNone/>
            </a:pPr>
            <a:r>
              <a:rPr lang="en-US" sz="3200" b="1" dirty="0"/>
              <a:t>Time Complexity: </a:t>
            </a:r>
          </a:p>
          <a:p>
            <a:r>
              <a:rPr lang="en-US" sz="3200" b="1" dirty="0"/>
              <a:t>The time required by the algorithm to solve given problem</a:t>
            </a:r>
            <a:r>
              <a:rPr lang="en-US" sz="3200" dirty="0"/>
              <a:t> is called </a:t>
            </a:r>
            <a:r>
              <a:rPr lang="en-US" sz="3200" b="1" i="1" dirty="0"/>
              <a:t>time complexity </a:t>
            </a:r>
            <a:r>
              <a:rPr lang="en-US" sz="3200" dirty="0"/>
              <a:t> of the algorithm. </a:t>
            </a:r>
            <a:endParaRPr lang="en-US" sz="3200" b="1" dirty="0"/>
          </a:p>
          <a:p>
            <a:r>
              <a:rPr lang="en-US" sz="3200" dirty="0"/>
              <a:t>The time complexity of an algorithm </a:t>
            </a:r>
            <a:r>
              <a:rPr lang="en-US" sz="3200" b="1" dirty="0"/>
              <a:t>quantifies the amount of time taken by an algorithm to run as a function of the length of the input</a:t>
            </a:r>
            <a:r>
              <a:rPr lang="en-US" sz="3200" dirty="0"/>
              <a:t>. </a:t>
            </a:r>
          </a:p>
          <a:p>
            <a:r>
              <a:rPr lang="en-US" sz="3200" b="1" dirty="0"/>
              <a:t>Note</a:t>
            </a:r>
            <a:r>
              <a:rPr lang="en-US" sz="3200" dirty="0"/>
              <a:t> that the </a:t>
            </a:r>
            <a:r>
              <a:rPr lang="en-US" sz="3200" b="1" dirty="0"/>
              <a:t>time to run is a function of the length of the input </a:t>
            </a:r>
            <a:r>
              <a:rPr lang="en-US" sz="3200" dirty="0"/>
              <a:t>and </a:t>
            </a:r>
            <a:r>
              <a:rPr lang="en-US" sz="3200" b="1" dirty="0"/>
              <a:t>not the actual execution time </a:t>
            </a:r>
            <a:r>
              <a:rPr lang="en-US" sz="3200" dirty="0"/>
              <a:t>of the machine on which the algorithm is running 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93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81F00-7FF0-4D7A-BE66-B5835D050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581423"/>
          </a:xfrm>
        </p:spPr>
        <p:txBody>
          <a:bodyPr>
            <a:normAutofit/>
          </a:bodyPr>
          <a:lstStyle/>
          <a:p>
            <a:r>
              <a:rPr lang="en-US" sz="4000" dirty="0"/>
              <a:t>The valid algorithm takes a </a:t>
            </a:r>
            <a:r>
              <a:rPr lang="en-US" sz="4000" b="1" dirty="0"/>
              <a:t>finite amount of time for execution</a:t>
            </a:r>
            <a:r>
              <a:rPr lang="en-US" sz="4000" dirty="0"/>
              <a:t>. </a:t>
            </a:r>
          </a:p>
          <a:p>
            <a:r>
              <a:rPr lang="en-US" sz="4000" dirty="0"/>
              <a:t>Time complexity is very </a:t>
            </a:r>
            <a:r>
              <a:rPr lang="en-US" sz="4000" b="1" dirty="0"/>
              <a:t>useful measure in algorithm analysis</a:t>
            </a:r>
            <a:r>
              <a:rPr lang="en-US" sz="4000" dirty="0"/>
              <a:t>.</a:t>
            </a:r>
          </a:p>
          <a:p>
            <a:r>
              <a:rPr lang="en-US" sz="4000" dirty="0"/>
              <a:t>It is the time needed for the </a:t>
            </a:r>
            <a:r>
              <a:rPr lang="en-US" sz="4000" b="1" dirty="0"/>
              <a:t>completion of an algorithm</a:t>
            </a:r>
            <a:r>
              <a:rPr lang="en-US" sz="4000" dirty="0"/>
              <a:t>. </a:t>
            </a:r>
          </a:p>
          <a:p>
            <a:r>
              <a:rPr lang="en-US" sz="4000" dirty="0"/>
              <a:t>To estimate the time complexity, we need to consider the cost of each fundamental instruction and the number of times the instruction is executed.</a:t>
            </a:r>
          </a:p>
          <a:p>
            <a:endParaRPr lang="en-US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41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F1019-7D89-4185-819F-7399EE016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711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Space Complexity: </a:t>
            </a:r>
          </a:p>
          <a:p>
            <a:r>
              <a:rPr lang="en-US" sz="3600" dirty="0"/>
              <a:t>The amount of memory required by the algorithm to solve given problem is called </a:t>
            </a:r>
            <a:r>
              <a:rPr lang="en-US" sz="3600" b="1" dirty="0"/>
              <a:t>space complexity</a:t>
            </a:r>
            <a:r>
              <a:rPr lang="en-US" sz="3600" dirty="0"/>
              <a:t> of the algorithm.</a:t>
            </a:r>
          </a:p>
          <a:p>
            <a:r>
              <a:rPr lang="en-US" sz="3600" dirty="0"/>
              <a:t>Problem-solving using computer requires memory to hold temporary data or final result while the program is in execution. </a:t>
            </a:r>
          </a:p>
          <a:p>
            <a:r>
              <a:rPr lang="en-US" sz="3600" dirty="0"/>
              <a:t>The </a:t>
            </a:r>
            <a:r>
              <a:rPr lang="en-US" sz="3600" b="1" dirty="0"/>
              <a:t>space complexity of an algorithm quantifies the amount of space taken by an algorithm to run as a function of the length of the input. </a:t>
            </a:r>
          </a:p>
          <a:p>
            <a:r>
              <a:rPr lang="en-US" sz="3600" dirty="0"/>
              <a:t>It is the </a:t>
            </a:r>
            <a:r>
              <a:rPr lang="en-US" sz="3600" b="1" dirty="0"/>
              <a:t>amount of memory needed for the completion of an algorithm.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642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78A79-CC58-4028-9AC0-90F4EC915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637866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/>
              <a:t>To </a:t>
            </a:r>
            <a:r>
              <a:rPr lang="en-US" sz="4000" b="1" dirty="0"/>
              <a:t>estimate the memory requirement </a:t>
            </a:r>
            <a:r>
              <a:rPr lang="en-US" sz="4000" dirty="0"/>
              <a:t>we need to focus on </a:t>
            </a:r>
            <a:r>
              <a:rPr lang="en-US" sz="4000" b="1" dirty="0"/>
              <a:t>two parts: </a:t>
            </a:r>
          </a:p>
          <a:p>
            <a:r>
              <a:rPr lang="en-US" sz="4000" b="1" dirty="0"/>
              <a:t>(1) A fixed part:</a:t>
            </a:r>
            <a:r>
              <a:rPr lang="en-US" sz="4000" dirty="0"/>
              <a:t> It is independent of the input size. It includes memory for instructions (code), constants, variables, etc.</a:t>
            </a:r>
          </a:p>
          <a:p>
            <a:r>
              <a:rPr lang="en-US" sz="4000" b="1" dirty="0"/>
              <a:t>(2) A variable part: </a:t>
            </a:r>
            <a:r>
              <a:rPr lang="en-US" sz="4000" dirty="0"/>
              <a:t>It is dependent on the input size. It includes memory for recursion stack, referenced variables,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1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2D0BB-B0BB-4426-978B-92160325E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55884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Common algorithms used in data manipulation:</a:t>
            </a:r>
          </a:p>
          <a:p>
            <a:pPr marL="0" indent="0">
              <a:buNone/>
            </a:pPr>
            <a:r>
              <a:rPr lang="en-US" sz="3600" b="1" dirty="0"/>
              <a:t>C4.5 Algorithm:</a:t>
            </a:r>
          </a:p>
          <a:p>
            <a:r>
              <a:rPr lang="en-US" sz="3600" dirty="0"/>
              <a:t>C4.5 is one of the top data mining algorithms and was developed by Ross Quinlan. </a:t>
            </a:r>
          </a:p>
          <a:p>
            <a:r>
              <a:rPr lang="en-US" sz="3600" dirty="0"/>
              <a:t>C4.5 is used to generate a classifier in the form of a decision tree from a set of data that has already been classified. </a:t>
            </a:r>
          </a:p>
          <a:p>
            <a:r>
              <a:rPr lang="en-US" sz="3600" dirty="0"/>
              <a:t>Classifier here refers to a data mining tool that takes data that we need to classify and tries to predict the class of new data. </a:t>
            </a:r>
          </a:p>
          <a:p>
            <a:pPr marL="0" indent="0">
              <a:buNone/>
            </a:pP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47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0AA1-D809-41A8-AC05-441EC28C1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479823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K-mean Algorithm:</a:t>
            </a:r>
          </a:p>
          <a:p>
            <a:r>
              <a:rPr lang="en-US" sz="3600" dirty="0"/>
              <a:t>One of the most common clustering algorithms, k-means works by creating a k number of groups from a set of objects based on the similarity between objects. </a:t>
            </a:r>
          </a:p>
          <a:p>
            <a:r>
              <a:rPr lang="en-US" sz="3600" dirty="0"/>
              <a:t>It may not be guaranteed that group members will be exactly similar, but group members will be more similar as compared to non-group members.</a:t>
            </a:r>
          </a:p>
          <a:p>
            <a:r>
              <a:rPr lang="en-US" sz="3600" dirty="0"/>
              <a:t>As per standard implementations, k-means is an unsupervised learning algorithm as it learns the cluster on its own without any external information.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451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A1920-FA5E-4E9A-BC90-C00237847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22"/>
            <a:ext cx="10515600" cy="667737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Support Vector Machines:</a:t>
            </a:r>
          </a:p>
          <a:p>
            <a:r>
              <a:rPr lang="en-US" sz="3600" dirty="0"/>
              <a:t>In terms of tasks, Support vector machine (SVM) works similar to C4.5 algorithm except that SVM doesn’t use any decision trees at all.</a:t>
            </a:r>
          </a:p>
          <a:p>
            <a:r>
              <a:rPr lang="en-US" sz="3600" dirty="0"/>
              <a:t> SVM learns the datasets and defines a hyperplane to classify data into two classes. </a:t>
            </a:r>
          </a:p>
          <a:p>
            <a:r>
              <a:rPr lang="en-US" sz="3600" dirty="0"/>
              <a:t>A hyperplane is an equation for a line that looks something like “</a:t>
            </a:r>
            <a:r>
              <a:rPr lang="en-US" sz="3600" i="1" dirty="0"/>
              <a:t>y = mx + b”. </a:t>
            </a:r>
          </a:p>
          <a:p>
            <a:r>
              <a:rPr lang="en-US" sz="3600" dirty="0"/>
              <a:t>SVM exaggerates to project your data to higher dimensions. </a:t>
            </a:r>
          </a:p>
          <a:p>
            <a:r>
              <a:rPr lang="en-US" sz="3600" dirty="0"/>
              <a:t>Once projected, SVM defined the best hyperplane to separate the data into the two classes.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71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34FA8-E600-4EE1-B9C2-A6BD2E7B9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6265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Apriori Algorithm:</a:t>
            </a:r>
          </a:p>
          <a:p>
            <a:r>
              <a:rPr lang="en-US" sz="3600" dirty="0"/>
              <a:t>Apriori algorithm works by learning association rules. </a:t>
            </a:r>
          </a:p>
          <a:p>
            <a:r>
              <a:rPr lang="en-US" sz="3600" dirty="0"/>
              <a:t>Association rules are a data mining technique that is used for learning correlations between variables in a database. </a:t>
            </a:r>
          </a:p>
          <a:p>
            <a:r>
              <a:rPr lang="en-US" sz="3600" dirty="0"/>
              <a:t>Once the association rules are learned, it is applied to a database containing a large number of transactions. </a:t>
            </a:r>
          </a:p>
          <a:p>
            <a:r>
              <a:rPr lang="en-US" sz="3600" dirty="0"/>
              <a:t>Apriori algorithm is used for discovering interesting patterns and mutual relationships and hence is treated as an unsupervised learning approach. </a:t>
            </a:r>
          </a:p>
          <a:p>
            <a:r>
              <a:rPr lang="en-US" sz="3600" dirty="0"/>
              <a:t>Thought the algorithm is highly efficient, it consumes a lot of memory, utilizes a lot of disk space and takes a lot of time.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215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46349-6864-43B1-B763-6E6C78B1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592712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PageRank Algorithm:</a:t>
            </a:r>
          </a:p>
          <a:p>
            <a:r>
              <a:rPr lang="en-US" sz="3600" dirty="0"/>
              <a:t>PageRank is commonly used by search engines like Google. </a:t>
            </a:r>
          </a:p>
          <a:p>
            <a:r>
              <a:rPr lang="en-US" sz="3600" dirty="0"/>
              <a:t>It is a link analysis algorithm that determines the relative importance of an object linked within a network of objects.</a:t>
            </a:r>
          </a:p>
          <a:p>
            <a:r>
              <a:rPr lang="en-US" sz="3600" dirty="0"/>
              <a:t>Link analysis is a type of network analysis that explores the associations among objects.</a:t>
            </a:r>
          </a:p>
          <a:p>
            <a:r>
              <a:rPr lang="en-US" sz="3600" dirty="0"/>
              <a:t>Google search uses this algorithm by understanding the backlinks between web pages.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456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0F0F-6E9A-4507-8F74-ABCB628F1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7"/>
            <a:ext cx="10515600" cy="65362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Adaboost Algorithm:</a:t>
            </a:r>
          </a:p>
          <a:p>
            <a:r>
              <a:rPr lang="en-US" dirty="0"/>
              <a:t>AdaBoost is a boosting algorithm used to construct a classifier. A classifier is a data mining tool that takes data predicts the class of the data based on inputs. </a:t>
            </a:r>
          </a:p>
          <a:p>
            <a:r>
              <a:rPr lang="en-US" dirty="0"/>
              <a:t>Boosting algorithm is an ensemble learning algorithm which runs multiple learning algorithms and combines them.</a:t>
            </a:r>
          </a:p>
          <a:p>
            <a:r>
              <a:rPr lang="en-US" dirty="0"/>
              <a:t>Boosting algorithms take a group of weak learners and combine them to make a single strong learner. </a:t>
            </a:r>
          </a:p>
          <a:p>
            <a:r>
              <a:rPr lang="en-US" dirty="0"/>
              <a:t>A weak learner classifies data with less accuracy. </a:t>
            </a:r>
          </a:p>
          <a:p>
            <a:r>
              <a:rPr lang="en-US"/>
              <a:t>The </a:t>
            </a:r>
            <a:r>
              <a:rPr lang="en-US" dirty="0"/>
              <a:t>best example of a weak algorithm is the decision stump algorithm which is basically a one-step decision </a:t>
            </a:r>
            <a:r>
              <a:rPr lang="en-US"/>
              <a:t>tree.</a:t>
            </a:r>
          </a:p>
          <a:p>
            <a:r>
              <a:rPr lang="en-US"/>
              <a:t> </a:t>
            </a:r>
            <a:r>
              <a:rPr lang="en-US" dirty="0"/>
              <a:t>Adaboost is perfect supervised learning as it works in iterations and in each iteration, it trains the weaker learners with the labelled dataset. Adaboost is a simple and pretty straightforward algorithm to implement.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212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2EC28-30CB-4B29-B555-B55DFB27B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74511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991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2378</Words>
  <Application>Microsoft Office PowerPoint</Application>
  <PresentationFormat>Widescreen</PresentationFormat>
  <Paragraphs>183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BETTY</dc:creator>
  <cp:lastModifiedBy>BETTY</cp:lastModifiedBy>
  <cp:revision>53</cp:revision>
  <dcterms:created xsi:type="dcterms:W3CDTF">2023-03-19T17:47:03Z</dcterms:created>
  <dcterms:modified xsi:type="dcterms:W3CDTF">2023-03-22T22:44:07Z</dcterms:modified>
</cp:coreProperties>
</file>