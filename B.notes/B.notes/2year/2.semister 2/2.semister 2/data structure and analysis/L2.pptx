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type="screen16x9" cy="6858000" cx="12192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126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tableStyles" Target="tableStyles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74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7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7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20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2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6725CF-0BAE-4B18-8498-7292014C8BC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104862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9CC3729-6DBF-45E0-A456-7B638C5C54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6725CF-0BAE-4B18-8498-7292014C8BC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9CC3729-6DBF-45E0-A456-7B638C5C54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45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6725CF-0BAE-4B18-8498-7292014C8BC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104864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9CC3729-6DBF-45E0-A456-7B638C5C54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50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1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6725CF-0BAE-4B18-8498-7292014C8BC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104865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9CC3729-6DBF-45E0-A456-7B638C5C54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56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7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9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6725CF-0BAE-4B18-8498-7292014C8BC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104866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9CC3729-6DBF-45E0-A456-7B638C5C54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2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6725CF-0BAE-4B18-8498-7292014C8BC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104862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9CC3729-6DBF-45E0-A456-7B638C5C54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6725CF-0BAE-4B18-8498-7292014C8BC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104866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9CC3729-6DBF-45E0-A456-7B638C5C54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7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8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6725CF-0BAE-4B18-8498-7292014C8BC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104867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9CC3729-6DBF-45E0-A456-7B638C5C54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34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35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6725CF-0BAE-4B18-8498-7292014C8BC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104863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9CC3729-6DBF-45E0-A456-7B638C5C54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4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6725CF-0BAE-4B18-8498-7292014C8BC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104864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9CC3729-6DBF-45E0-A456-7B638C5C54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en-US"/>
              <a:t>Click to edit Master title style</a:t>
            </a:r>
          </a:p>
        </p:txBody>
      </p:sp>
      <p:sp>
        <p:nvSpPr>
          <p:cNvPr id="104862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6725CF-0BAE-4B18-8498-7292014C8BC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104863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9CC3729-6DBF-45E0-A456-7B638C5C54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725CF-0BAE-4B18-8498-7292014C8BC9}" type="datetimeFigureOut">
              <a:rPr lang="en-US" smtClean="0"/>
              <a:t>3/22/2023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C3729-6DBF-45E0-A456-7B638C5C548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Content Placeholder 2"/>
          <p:cNvSpPr>
            <a:spLocks noGrp="1"/>
          </p:cNvSpPr>
          <p:nvPr>
            <p:ph idx="1"/>
          </p:nvPr>
        </p:nvSpPr>
        <p:spPr>
          <a:xfrm>
            <a:off x="838200" y="169332"/>
            <a:ext cx="10515600" cy="6688667"/>
          </a:xfrm>
        </p:spPr>
        <p:txBody>
          <a:bodyPr>
            <a:normAutofit fontScale="89286" lnSpcReduction="10000"/>
          </a:bodyPr>
          <a:p>
            <a:pPr>
              <a:buFont typeface="Wingdings" panose="05000000000000000000" pitchFamily="2" charset="2"/>
              <a:buChar char="Ø"/>
            </a:pPr>
            <a:r>
              <a:rPr b="1" dirty="0" sz="4000" lang="en-US"/>
              <a:t>Introduction to Algorithm Analysis:</a:t>
            </a:r>
          </a:p>
          <a:p>
            <a:pPr indent="0" marL="0">
              <a:buNone/>
            </a:pPr>
            <a:r>
              <a:rPr b="1" dirty="0" sz="3600" lang="en-US"/>
              <a:t>Definition of an Algorithm:</a:t>
            </a:r>
          </a:p>
          <a:p>
            <a:pPr indent="0" marL="0">
              <a:buNone/>
            </a:pPr>
            <a:r>
              <a:rPr b="1" dirty="0" sz="3600" lang="en-US"/>
              <a:t>What is an algorithm?</a:t>
            </a:r>
          </a:p>
          <a:p>
            <a:pPr indent="0" marL="0">
              <a:buNone/>
            </a:pPr>
            <a:r>
              <a:rPr dirty="0" sz="3600" lang="en-US"/>
              <a:t>Algorithm is a </a:t>
            </a:r>
            <a:r>
              <a:rPr b="1" dirty="0" sz="3600" lang="en-US"/>
              <a:t>step-by-step procedure</a:t>
            </a:r>
            <a:r>
              <a:rPr dirty="0" sz="3600" lang="en-US"/>
              <a:t>, which defines a </a:t>
            </a:r>
            <a:r>
              <a:rPr b="1" dirty="0" sz="3600" lang="en-US"/>
              <a:t>set of instructions </a:t>
            </a:r>
            <a:r>
              <a:rPr dirty="0" sz="3600" lang="en-US"/>
              <a:t>to be </a:t>
            </a:r>
            <a:r>
              <a:rPr b="1" dirty="0" sz="3600" lang="en-US"/>
              <a:t>executed</a:t>
            </a:r>
            <a:r>
              <a:rPr dirty="0" sz="3600" lang="en-US"/>
              <a:t> in a </a:t>
            </a:r>
            <a:r>
              <a:rPr b="1" dirty="0" sz="3600" lang="en-US"/>
              <a:t>certain order  so as </a:t>
            </a:r>
            <a:r>
              <a:rPr dirty="0" sz="3600" lang="en-US"/>
              <a:t>to get the desired output when solving a given problem.</a:t>
            </a:r>
          </a:p>
          <a:p>
            <a:pPr indent="0" marL="0">
              <a:buNone/>
            </a:pPr>
            <a:r>
              <a:rPr dirty="0" sz="3600" lang="en-US"/>
              <a:t>It is a </a:t>
            </a:r>
            <a:r>
              <a:rPr b="1" dirty="0" sz="3600" lang="en-US"/>
              <a:t>finite steps by step procedure </a:t>
            </a:r>
            <a:r>
              <a:rPr dirty="0" sz="3600" lang="en-US"/>
              <a:t>to achieve a </a:t>
            </a:r>
            <a:r>
              <a:rPr b="1" dirty="0" sz="3600" lang="en-US"/>
              <a:t>required output.</a:t>
            </a:r>
          </a:p>
          <a:p>
            <a:pPr indent="0" marL="0">
              <a:buNone/>
            </a:pPr>
            <a:r>
              <a:rPr b="1" dirty="0" sz="3600" lang="en-US"/>
              <a:t>It is a sequence of computational steps that transform input to output.</a:t>
            </a:r>
          </a:p>
          <a:p>
            <a:pPr indent="0" marL="0">
              <a:buNone/>
            </a:pPr>
            <a:r>
              <a:rPr dirty="0" sz="3600" lang="en-US"/>
              <a:t>Algorithms are generally created independent of underlying </a:t>
            </a:r>
            <a:r>
              <a:rPr b="1" dirty="0" sz="3600" lang="en-US"/>
              <a:t>languages,</a:t>
            </a:r>
            <a:r>
              <a:rPr dirty="0" sz="3600" lang="en-US"/>
              <a:t> i.e. an algorithm can be implemented in more than one programming language.</a:t>
            </a:r>
          </a:p>
          <a:p>
            <a:pPr indent="0" marL="0">
              <a:buNone/>
            </a:pPr>
            <a:endParaRPr dirty="0" lang="en-US"/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Content Placeholder 2"/>
          <p:cNvSpPr>
            <a:spLocks noGrp="1"/>
          </p:cNvSpPr>
          <p:nvPr>
            <p:ph idx="1"/>
          </p:nvPr>
        </p:nvSpPr>
        <p:spPr>
          <a:xfrm>
            <a:off x="838200" y="191912"/>
            <a:ext cx="10515600" cy="6666088"/>
          </a:xfrm>
        </p:spPr>
        <p:txBody>
          <a:bodyPr/>
          <a:p>
            <a:pPr indent="0" marL="0">
              <a:buNone/>
            </a:pPr>
            <a:r>
              <a:rPr dirty="0" lang="en-US"/>
              <a:t>An algorithm is an </a:t>
            </a:r>
            <a:r>
              <a:rPr b="1" dirty="0" lang="en-US"/>
              <a:t>effective step-by-step procedure for solving a problem in a finite number of steps</a:t>
            </a:r>
            <a:r>
              <a:rPr dirty="0" lang="en-US"/>
              <a:t>.</a:t>
            </a:r>
          </a:p>
          <a:p>
            <a:pPr indent="0" marL="0">
              <a:buNone/>
            </a:pPr>
            <a:r>
              <a:rPr dirty="0" lang="en-US"/>
              <a:t>In other words, it is a </a:t>
            </a:r>
            <a:r>
              <a:rPr b="1" dirty="0" lang="en-US"/>
              <a:t>finite set of well-defined instructions </a:t>
            </a:r>
            <a:r>
              <a:rPr dirty="0" lang="en-US"/>
              <a:t>or </a:t>
            </a:r>
            <a:r>
              <a:rPr b="1" dirty="0" lang="en-US"/>
              <a:t>step-by-step description of the procedure written in human readable language for solving a given problem.</a:t>
            </a:r>
          </a:p>
          <a:p>
            <a:pPr indent="0" marL="0">
              <a:buNone/>
            </a:pPr>
            <a:r>
              <a:rPr dirty="0" lang="en-US"/>
              <a:t>An algorithm </a:t>
            </a:r>
            <a:r>
              <a:rPr b="1" dirty="0" lang="en-US"/>
              <a:t>itself is division of a problem </a:t>
            </a:r>
            <a:r>
              <a:rPr dirty="0" lang="en-US"/>
              <a:t>into </a:t>
            </a:r>
            <a:r>
              <a:rPr b="1" dirty="0" lang="en-US"/>
              <a:t>small steps </a:t>
            </a:r>
            <a:r>
              <a:rPr dirty="0" lang="en-US"/>
              <a:t>which are </a:t>
            </a:r>
            <a:r>
              <a:rPr b="1" dirty="0" lang="en-US"/>
              <a:t>ordered in sequence </a:t>
            </a:r>
            <a:r>
              <a:rPr dirty="0" lang="en-US"/>
              <a:t>and </a:t>
            </a:r>
            <a:r>
              <a:rPr b="1" dirty="0" lang="en-US"/>
              <a:t>easily understandable</a:t>
            </a:r>
            <a:r>
              <a:rPr dirty="0" lang="en-US"/>
              <a:t>. </a:t>
            </a:r>
          </a:p>
          <a:p>
            <a:pPr indent="0" marL="0">
              <a:buNone/>
            </a:pPr>
            <a:r>
              <a:rPr dirty="0" lang="en-US"/>
              <a:t>Algorithms are very </a:t>
            </a:r>
            <a:r>
              <a:rPr b="1" dirty="0" lang="en-US"/>
              <a:t>important to the way computers process information, because a computer program is basically an algorithm that tells computer what specific tasks to perform in what specific order to accomplish a specific task.</a:t>
            </a:r>
          </a:p>
          <a:p>
            <a:pPr indent="0" marL="0">
              <a:buNone/>
            </a:pPr>
            <a:r>
              <a:rPr dirty="0" lang="en-US"/>
              <a:t>The </a:t>
            </a:r>
            <a:r>
              <a:rPr b="1" dirty="0" lang="en-US"/>
              <a:t>same problem can be solved with different methods</a:t>
            </a:r>
            <a:r>
              <a:rPr dirty="0" lang="en-US"/>
              <a:t>. </a:t>
            </a:r>
          </a:p>
          <a:p>
            <a:pPr indent="0" marL="0">
              <a:buNone/>
            </a:pPr>
            <a:r>
              <a:rPr dirty="0" lang="en-US"/>
              <a:t>So, for solving the same problem, </a:t>
            </a:r>
            <a:r>
              <a:rPr b="1" dirty="0" lang="en-US"/>
              <a:t>different algorithms </a:t>
            </a:r>
            <a:r>
              <a:rPr dirty="0" lang="en-US"/>
              <a:t>can be designed. In these algorithms, </a:t>
            </a:r>
            <a:r>
              <a:rPr b="1" dirty="0" lang="en-US"/>
              <a:t>number of steps, time and efforts may vary more or less. </a:t>
            </a:r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Content Placeholder 2"/>
          <p:cNvSpPr>
            <a:spLocks noGrp="1"/>
          </p:cNvSpPr>
          <p:nvPr>
            <p:ph idx="1"/>
          </p:nvPr>
        </p:nvSpPr>
        <p:spPr>
          <a:xfrm>
            <a:off x="838200" y="158044"/>
            <a:ext cx="10515600" cy="6699956"/>
          </a:xfrm>
        </p:spPr>
        <p:txBody>
          <a:bodyPr>
            <a:normAutofit/>
          </a:bodyPr>
          <a:p>
            <a:pPr indent="0" marL="0">
              <a:buNone/>
            </a:pPr>
            <a:r>
              <a:rPr dirty="0" sz="3600" lang="en-US"/>
              <a:t>The following are some </a:t>
            </a:r>
            <a:r>
              <a:rPr b="1" dirty="0" sz="3600" lang="en-US"/>
              <a:t>important categories </a:t>
            </a:r>
            <a:r>
              <a:rPr dirty="0" sz="3600" lang="en-US"/>
              <a:t>of algorithms;</a:t>
            </a:r>
          </a:p>
          <a:p>
            <a:r>
              <a:rPr b="1" dirty="0" sz="3600" lang="en-US"/>
              <a:t>Search</a:t>
            </a:r>
            <a:r>
              <a:rPr dirty="0" sz="3600" lang="en-US"/>
              <a:t> − Algorithm to search an item in a data structure.</a:t>
            </a:r>
          </a:p>
          <a:p>
            <a:r>
              <a:rPr b="1" dirty="0" sz="3600" lang="en-US"/>
              <a:t>Sort</a:t>
            </a:r>
            <a:r>
              <a:rPr dirty="0" sz="3600" lang="en-US"/>
              <a:t> − Algorithm to sort items in a certain order.</a:t>
            </a:r>
          </a:p>
          <a:p>
            <a:r>
              <a:rPr b="1" dirty="0" sz="3600" lang="en-US"/>
              <a:t>Insert</a:t>
            </a:r>
            <a:r>
              <a:rPr dirty="0" sz="3600" lang="en-US"/>
              <a:t> − Algorithm to insert item in a data structure.</a:t>
            </a:r>
          </a:p>
          <a:p>
            <a:r>
              <a:rPr b="1" dirty="0" sz="3600" lang="en-US"/>
              <a:t>Update</a:t>
            </a:r>
            <a:r>
              <a:rPr dirty="0" sz="3600" lang="en-US"/>
              <a:t> − Algorithm to update an existing item in a data structure.</a:t>
            </a:r>
          </a:p>
          <a:p>
            <a:r>
              <a:rPr b="1" dirty="0" sz="3600" lang="en-US"/>
              <a:t>Delete</a:t>
            </a:r>
            <a:r>
              <a:rPr dirty="0" sz="3600" lang="en-US"/>
              <a:t> − Algorithm to delete an existing item from a data structure.</a:t>
            </a:r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Content Placeholder 2"/>
          <p:cNvSpPr>
            <a:spLocks noGrp="1"/>
          </p:cNvSpPr>
          <p:nvPr>
            <p:ph idx="1"/>
          </p:nvPr>
        </p:nvSpPr>
        <p:spPr>
          <a:xfrm>
            <a:off x="838200" y="112888"/>
            <a:ext cx="10515600" cy="6637867"/>
          </a:xfrm>
        </p:spPr>
        <p:txBody>
          <a:bodyPr>
            <a:normAutofit fontScale="96429"/>
          </a:bodyPr>
          <a:p>
            <a:pPr indent="0" marL="0">
              <a:buNone/>
            </a:pPr>
            <a:r>
              <a:rPr b="1" dirty="0" sz="3600" lang="en-US"/>
              <a:t>Characteristics of an Algorithm:</a:t>
            </a:r>
          </a:p>
          <a:p>
            <a:pPr indent="0" marL="0">
              <a:buNone/>
            </a:pPr>
            <a:r>
              <a:rPr dirty="0" sz="3600" lang="en-US"/>
              <a:t>An algorithm </a:t>
            </a:r>
            <a:r>
              <a:rPr b="1" dirty="0" sz="3600" lang="en-US"/>
              <a:t>must possess </a:t>
            </a:r>
            <a:r>
              <a:rPr dirty="0" sz="3600" lang="en-US"/>
              <a:t>following characteristics;</a:t>
            </a:r>
          </a:p>
          <a:p>
            <a:r>
              <a:rPr b="1" dirty="0" sz="3600" lang="en-US"/>
              <a:t>Finiteness:</a:t>
            </a:r>
            <a:r>
              <a:rPr dirty="0" sz="3600" lang="en-US"/>
              <a:t> An algorithm should have </a:t>
            </a:r>
            <a:r>
              <a:rPr b="1" dirty="0" sz="3600" lang="en-US"/>
              <a:t>finite number </a:t>
            </a:r>
            <a:r>
              <a:rPr dirty="0" sz="3600" lang="en-US"/>
              <a:t>of steps and it should end after a finite time.</a:t>
            </a:r>
          </a:p>
          <a:p>
            <a:r>
              <a:rPr b="1" dirty="0" sz="3600" lang="en-US"/>
              <a:t>Input: </a:t>
            </a:r>
            <a:r>
              <a:rPr dirty="0" sz="3600" lang="en-US"/>
              <a:t>An algorithm may have many </a:t>
            </a:r>
            <a:r>
              <a:rPr b="1" dirty="0" sz="3600" lang="en-US"/>
              <a:t>inputs or no inputs at all.</a:t>
            </a:r>
          </a:p>
          <a:p>
            <a:r>
              <a:rPr b="1" dirty="0" sz="3600" lang="en-US"/>
              <a:t>Output: </a:t>
            </a:r>
            <a:r>
              <a:rPr dirty="0" sz="3600" lang="en-US"/>
              <a:t>It should result at </a:t>
            </a:r>
            <a:r>
              <a:rPr b="1" dirty="0" sz="3600" lang="en-US"/>
              <a:t>least one output</a:t>
            </a:r>
            <a:r>
              <a:rPr dirty="0" sz="3600" lang="en-US"/>
              <a:t>.</a:t>
            </a:r>
          </a:p>
          <a:p>
            <a:r>
              <a:rPr b="1" dirty="0" sz="3600" lang="en-US"/>
              <a:t>Definiteness:</a:t>
            </a:r>
            <a:r>
              <a:rPr dirty="0" sz="3600" lang="en-US"/>
              <a:t> Each step </a:t>
            </a:r>
            <a:r>
              <a:rPr b="1" dirty="0" sz="3600" lang="en-US"/>
              <a:t>must be clear, </a:t>
            </a:r>
            <a:r>
              <a:rPr dirty="0" sz="3600" lang="en-US"/>
              <a:t>well-defined and precise. There should be </a:t>
            </a:r>
            <a:r>
              <a:rPr b="1" dirty="0" sz="3600" lang="en-US"/>
              <a:t>no any ambiguity</a:t>
            </a:r>
            <a:r>
              <a:rPr dirty="0" sz="3600" lang="en-US"/>
              <a:t>.</a:t>
            </a:r>
          </a:p>
          <a:p>
            <a:r>
              <a:rPr b="1" dirty="0" sz="3600" lang="en-US"/>
              <a:t>Effectiveness: </a:t>
            </a:r>
            <a:r>
              <a:rPr dirty="0" sz="3600" lang="en-US"/>
              <a:t>Each step must be</a:t>
            </a:r>
            <a:r>
              <a:rPr b="1" dirty="0" sz="3600" lang="en-US"/>
              <a:t> simple </a:t>
            </a:r>
            <a:r>
              <a:rPr dirty="0" sz="3600" lang="en-US"/>
              <a:t>and should </a:t>
            </a:r>
            <a:r>
              <a:rPr b="1" dirty="0" sz="3600" lang="en-US"/>
              <a:t>take a finite amount of time</a:t>
            </a:r>
            <a:r>
              <a:rPr dirty="0" sz="3600" lang="en-US"/>
              <a:t>.</a:t>
            </a:r>
          </a:p>
          <a:p>
            <a:pPr indent="0" marL="0">
              <a:buNone/>
            </a:pPr>
            <a:endParaRPr dirty="0" lang="en-US"/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Content Placeholder 2"/>
          <p:cNvSpPr>
            <a:spLocks noGrp="1"/>
          </p:cNvSpPr>
          <p:nvPr>
            <p:ph idx="1"/>
          </p:nvPr>
        </p:nvSpPr>
        <p:spPr>
          <a:xfrm>
            <a:off x="838200" y="79022"/>
            <a:ext cx="10515600" cy="6660445"/>
          </a:xfrm>
        </p:spPr>
        <p:txBody>
          <a:bodyPr/>
          <a:p>
            <a:pPr indent="0" marL="0">
              <a:buNone/>
            </a:pPr>
            <a:r>
              <a:rPr b="1" dirty="0" sz="3600" lang="en-US"/>
              <a:t>Guidelines for Developing an Algorithm:</a:t>
            </a:r>
          </a:p>
          <a:p>
            <a:pPr indent="0" marL="0">
              <a:buNone/>
            </a:pPr>
            <a:r>
              <a:rPr dirty="0" sz="3600" lang="en-US"/>
              <a:t>Following guidelines must be followed while developing an algorithm:</a:t>
            </a:r>
          </a:p>
          <a:p>
            <a:r>
              <a:rPr dirty="0" sz="3600" lang="en-US"/>
              <a:t>An algorithm will be enclosed by </a:t>
            </a:r>
            <a:r>
              <a:rPr b="1" dirty="0" sz="3600" lang="en-US"/>
              <a:t>START (or BEGIN</a:t>
            </a:r>
            <a:r>
              <a:rPr dirty="0" sz="3600" lang="en-US"/>
              <a:t>) and </a:t>
            </a:r>
            <a:r>
              <a:rPr b="1" dirty="0" sz="3600" lang="en-US"/>
              <a:t>STOP (or END).</a:t>
            </a:r>
          </a:p>
          <a:p>
            <a:r>
              <a:rPr dirty="0" sz="3600" lang="en-US"/>
              <a:t>To accept data from user, generally used statements are </a:t>
            </a:r>
            <a:r>
              <a:rPr b="1" dirty="0" sz="3600" lang="en-US"/>
              <a:t>INPUT, READ, GET or OBTAIN.</a:t>
            </a:r>
          </a:p>
          <a:p>
            <a:r>
              <a:rPr dirty="0" sz="3600" lang="en-US"/>
              <a:t>To display result or any message, generally used statements are </a:t>
            </a:r>
            <a:r>
              <a:rPr b="1" dirty="0" sz="3600" lang="en-US"/>
              <a:t>PRINT, DISPLAY, or WRITE</a:t>
            </a:r>
            <a:r>
              <a:rPr dirty="0" sz="3600" lang="en-US"/>
              <a:t>. </a:t>
            </a:r>
          </a:p>
          <a:p>
            <a:r>
              <a:rPr dirty="0" sz="3600" lang="en-US"/>
              <a:t>Generally, </a:t>
            </a:r>
            <a:r>
              <a:rPr b="1" dirty="0" sz="3600" lang="en-US"/>
              <a:t>COMPUTE or CALCULATE </a:t>
            </a:r>
            <a:r>
              <a:rPr dirty="0" sz="3600" lang="en-US"/>
              <a:t>is used while describing mathematical expressions and based on situation relevant operators can be used.</a:t>
            </a:r>
          </a:p>
          <a:p>
            <a:pPr indent="0" marL="0">
              <a:buNone/>
            </a:pPr>
            <a:endParaRPr dirty="0" lang="en-US"/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Content Placeholder 2"/>
          <p:cNvSpPr>
            <a:spLocks noGrp="1"/>
          </p:cNvSpPr>
          <p:nvPr>
            <p:ph idx="1"/>
          </p:nvPr>
        </p:nvSpPr>
        <p:spPr>
          <a:xfrm>
            <a:off x="838200" y="90311"/>
            <a:ext cx="10515600" cy="6683022"/>
          </a:xfrm>
        </p:spPr>
        <p:txBody>
          <a:bodyPr/>
          <a:p>
            <a:pPr indent="0" marL="0">
              <a:buNone/>
            </a:pPr>
            <a:endParaRPr b="1" dirty="0" sz="4000" lang="en-US"/>
          </a:p>
          <a:p>
            <a:pPr indent="0" marL="0">
              <a:buNone/>
            </a:pPr>
            <a:r>
              <a:rPr b="1" dirty="0" sz="4000" lang="en-US"/>
              <a:t>Example of an Algorithm:</a:t>
            </a:r>
          </a:p>
          <a:p>
            <a:pPr indent="0" marL="0">
              <a:buNone/>
            </a:pPr>
            <a:r>
              <a:rPr b="1" dirty="0" sz="4000" lang="en-US"/>
              <a:t>Algorithm :</a:t>
            </a:r>
            <a:r>
              <a:rPr dirty="0" sz="4000" lang="en-US"/>
              <a:t> Calculation of Simple Interest;</a:t>
            </a:r>
          </a:p>
          <a:p>
            <a:pPr indent="0" marL="0">
              <a:buNone/>
            </a:pPr>
            <a:r>
              <a:rPr b="1" dirty="0" sz="4000" lang="en-US"/>
              <a:t>Step 1: Start</a:t>
            </a:r>
          </a:p>
          <a:p>
            <a:pPr indent="0" marL="0">
              <a:buNone/>
            </a:pPr>
            <a:r>
              <a:rPr b="1" dirty="0" sz="4000" lang="en-US"/>
              <a:t>Step 2: Read Principle(P), Time (T) and Rate (R)</a:t>
            </a:r>
          </a:p>
          <a:p>
            <a:pPr indent="0" marL="0">
              <a:buNone/>
            </a:pPr>
            <a:r>
              <a:rPr b="1" dirty="0" sz="4000" lang="en-US"/>
              <a:t>Step 3: Calculate I =P*T*R/100</a:t>
            </a:r>
          </a:p>
          <a:p>
            <a:pPr indent="0" marL="0">
              <a:buNone/>
            </a:pPr>
            <a:r>
              <a:rPr b="1" dirty="0" sz="4000" lang="en-US"/>
              <a:t>Step 4: Print I as Interest</a:t>
            </a:r>
          </a:p>
          <a:p>
            <a:pPr indent="0" marL="0">
              <a:buNone/>
            </a:pPr>
            <a:r>
              <a:rPr b="1" dirty="0" sz="4000" lang="en-US"/>
              <a:t>Step 5: Stop</a:t>
            </a:r>
          </a:p>
          <a:p>
            <a:pPr indent="0" marL="0">
              <a:buNone/>
            </a:pPr>
            <a:endParaRPr b="1" dirty="0" lang="en-US"/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Content Placeholder 2"/>
          <p:cNvSpPr>
            <a:spLocks noGrp="1"/>
          </p:cNvSpPr>
          <p:nvPr>
            <p:ph idx="1"/>
          </p:nvPr>
        </p:nvSpPr>
        <p:spPr>
          <a:xfrm>
            <a:off x="838200" y="124178"/>
            <a:ext cx="10515600" cy="6592711"/>
          </a:xfrm>
        </p:spPr>
        <p:txBody>
          <a:bodyPr/>
          <a:p>
            <a:pPr indent="0" marL="0">
              <a:buNone/>
            </a:pPr>
            <a:r>
              <a:rPr b="1" dirty="0" sz="3200" lang="en-US"/>
              <a:t>Advantages of an Algorithm:</a:t>
            </a:r>
          </a:p>
          <a:p>
            <a:pPr indent="0" marL="0">
              <a:buNone/>
            </a:pPr>
            <a:r>
              <a:rPr dirty="0" sz="3200" lang="en-US"/>
              <a:t>Designing an algorithm has following advantages :</a:t>
            </a:r>
          </a:p>
          <a:p>
            <a:r>
              <a:rPr b="1" dirty="0" sz="3200" lang="en-US"/>
              <a:t>Effective Communication:</a:t>
            </a:r>
            <a:r>
              <a:rPr dirty="0" sz="3200" lang="en-US"/>
              <a:t> Since algorithm is written in English like language, it is simple to understand step-by-step solution of the problems.</a:t>
            </a:r>
          </a:p>
          <a:p>
            <a:r>
              <a:rPr b="1" dirty="0" sz="3200" lang="en-US"/>
              <a:t>Easy Debugging:</a:t>
            </a:r>
            <a:r>
              <a:rPr dirty="0" sz="3200" lang="en-US"/>
              <a:t> Well-designed algorithm makes debugging easy so that we can identify logical error in the program.</a:t>
            </a:r>
          </a:p>
          <a:p>
            <a:r>
              <a:rPr b="1" dirty="0" sz="3200" lang="en-US"/>
              <a:t>Easy and Efficient Coding:</a:t>
            </a:r>
            <a:r>
              <a:rPr dirty="0" sz="3200" lang="en-US"/>
              <a:t> An algorithm acts as a blueprint of a program and helps during program development.</a:t>
            </a:r>
          </a:p>
          <a:p>
            <a:r>
              <a:rPr b="1" dirty="0" sz="3200" lang="en-US"/>
              <a:t>Independent of Programming Language:</a:t>
            </a:r>
            <a:r>
              <a:rPr dirty="0" sz="3200" lang="en-US"/>
              <a:t> An algorithm is independent of programming languages and can be easily coded using any high level language. </a:t>
            </a:r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Content Placeholder 2"/>
          <p:cNvSpPr>
            <a:spLocks noGrp="1"/>
          </p:cNvSpPr>
          <p:nvPr>
            <p:ph idx="1"/>
          </p:nvPr>
        </p:nvSpPr>
        <p:spPr>
          <a:xfrm>
            <a:off x="838200" y="135466"/>
            <a:ext cx="10515600" cy="6592711"/>
          </a:xfrm>
        </p:spPr>
        <p:txBody>
          <a:bodyPr/>
          <a:p>
            <a:pPr indent="0" marL="0">
              <a:buNone/>
            </a:pPr>
            <a:r>
              <a:rPr b="1" dirty="0" sz="4400" lang="en-US"/>
              <a:t>Disadvantages of an Algorithm:</a:t>
            </a:r>
          </a:p>
          <a:p>
            <a:pPr indent="0" marL="0">
              <a:buNone/>
            </a:pPr>
            <a:r>
              <a:rPr dirty="0" sz="4400" lang="en-US"/>
              <a:t>An algorithm has following disadvantages :</a:t>
            </a:r>
          </a:p>
          <a:p>
            <a:r>
              <a:rPr dirty="0" sz="4400" lang="en-US"/>
              <a:t>Developing algorithm for complex problems would be </a:t>
            </a:r>
            <a:r>
              <a:rPr b="1" dirty="0" sz="4400" lang="en-US"/>
              <a:t>time consuming and difficult to understand.</a:t>
            </a:r>
          </a:p>
          <a:p>
            <a:r>
              <a:rPr dirty="0" sz="4400" lang="en-US"/>
              <a:t>Understanding </a:t>
            </a:r>
            <a:r>
              <a:rPr b="1" dirty="0" sz="4400" lang="en-US"/>
              <a:t>complex logic through algorithms can be very difficult</a:t>
            </a:r>
            <a:r>
              <a:rPr dirty="0" sz="4400" lang="en-US"/>
              <a:t>. </a:t>
            </a:r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Content Placeholder 2"/>
          <p:cNvSpPr>
            <a:spLocks noGrp="1"/>
          </p:cNvSpPr>
          <p:nvPr>
            <p:ph idx="1"/>
          </p:nvPr>
        </p:nvSpPr>
        <p:spPr>
          <a:xfrm>
            <a:off x="838200" y="169332"/>
            <a:ext cx="10515600" cy="6513689"/>
          </a:xfrm>
        </p:spPr>
        <p:txBody>
          <a:bodyPr>
            <a:normAutofit lnSpcReduction="10000"/>
          </a:bodyPr>
          <a:p>
            <a:pPr>
              <a:buFont typeface="Wingdings" panose="05000000000000000000" pitchFamily="2" charset="2"/>
              <a:buChar char="Ø"/>
            </a:pPr>
            <a:r>
              <a:rPr b="1" dirty="0" sz="4000" lang="en-US"/>
              <a:t>Algorithmic notation:</a:t>
            </a:r>
          </a:p>
          <a:p>
            <a:pPr indent="0" marL="0">
              <a:buNone/>
            </a:pPr>
            <a:r>
              <a:rPr b="1" dirty="0" sz="3200" lang="en-US"/>
              <a:t>Algorithmic notation is a way of describing algorithms, </a:t>
            </a:r>
            <a:r>
              <a:rPr dirty="0" sz="3200" lang="en-US"/>
              <a:t>which are step by step procedures for solving problems.</a:t>
            </a:r>
          </a:p>
          <a:p>
            <a:pPr indent="0" marL="0">
              <a:buNone/>
            </a:pPr>
            <a:r>
              <a:rPr b="1" dirty="0" sz="3200" lang="en-US"/>
              <a:t>It is a crucial tool for describing and communicating algorithms in a clear and understandable  manner.</a:t>
            </a:r>
          </a:p>
          <a:p>
            <a:pPr indent="0" marL="0">
              <a:buNone/>
            </a:pPr>
            <a:r>
              <a:rPr dirty="0" sz="3200" lang="en-US"/>
              <a:t>There are </a:t>
            </a:r>
            <a:r>
              <a:rPr b="1" dirty="0" sz="3200" lang="en-US"/>
              <a:t>various notations  </a:t>
            </a:r>
            <a:r>
              <a:rPr dirty="0" sz="3200" lang="en-US"/>
              <a:t>used  for </a:t>
            </a:r>
            <a:r>
              <a:rPr b="1" dirty="0" sz="3200" lang="en-US"/>
              <a:t>representing algorithms</a:t>
            </a:r>
            <a:r>
              <a:rPr dirty="0" sz="3200" lang="en-US"/>
              <a:t>, such as </a:t>
            </a:r>
            <a:r>
              <a:rPr b="1" dirty="0" sz="3200" lang="en-US"/>
              <a:t>pseudocode, flow charts and programming languages</a:t>
            </a:r>
            <a:r>
              <a:rPr dirty="0" sz="3200" lang="en-US"/>
              <a:t>.</a:t>
            </a:r>
          </a:p>
          <a:p>
            <a:pPr indent="0" marL="0">
              <a:buNone/>
            </a:pPr>
            <a:r>
              <a:rPr b="1" dirty="0" sz="3200" lang="en-US"/>
              <a:t>Pseudocode</a:t>
            </a:r>
            <a:r>
              <a:rPr dirty="0" sz="3200" lang="en-US"/>
              <a:t> is </a:t>
            </a:r>
            <a:r>
              <a:rPr b="1" dirty="0" sz="3200" lang="en-US"/>
              <a:t>a high level description of an algorithm </a:t>
            </a:r>
            <a:r>
              <a:rPr dirty="0" sz="3200" lang="en-US"/>
              <a:t>that is designed to be </a:t>
            </a:r>
            <a:r>
              <a:rPr b="1" dirty="0" sz="3200" lang="en-US"/>
              <a:t>easily understood by humans</a:t>
            </a:r>
            <a:r>
              <a:rPr dirty="0" sz="3200" lang="en-US"/>
              <a:t>. </a:t>
            </a:r>
          </a:p>
          <a:p>
            <a:pPr indent="0" marL="0">
              <a:buNone/>
            </a:pPr>
            <a:r>
              <a:rPr dirty="0" sz="3200" lang="en-US"/>
              <a:t>It is similar to programming code, but it is </a:t>
            </a:r>
            <a:r>
              <a:rPr b="1" dirty="0" sz="3200" lang="en-US"/>
              <a:t>not written in a specific programming language.</a:t>
            </a:r>
          </a:p>
          <a:p>
            <a:pPr indent="0" marL="0">
              <a:buNone/>
            </a:pPr>
            <a:r>
              <a:rPr dirty="0" sz="3200" lang="en-US"/>
              <a:t>Instead, it uses </a:t>
            </a:r>
            <a:r>
              <a:rPr b="1" dirty="0" sz="3200" lang="en-US"/>
              <a:t>plain language </a:t>
            </a:r>
            <a:r>
              <a:rPr dirty="0" sz="3200" lang="en-US"/>
              <a:t>and </a:t>
            </a:r>
            <a:r>
              <a:rPr b="1" dirty="0" sz="3200" lang="en-US"/>
              <a:t>simple syntax </a:t>
            </a:r>
            <a:r>
              <a:rPr dirty="0" sz="3200" lang="en-US"/>
              <a:t>to </a:t>
            </a:r>
            <a:r>
              <a:rPr b="1" dirty="0" sz="3200" lang="en-US"/>
              <a:t>describe the steps of an algorithm.</a:t>
            </a:r>
          </a:p>
          <a:p>
            <a:pPr indent="0" marL="0">
              <a:buNone/>
            </a:pPr>
            <a:endParaRPr b="1" dirty="0" lang="en-US"/>
          </a:p>
          <a:p>
            <a:pPr indent="0" marL="0">
              <a:buNone/>
            </a:pPr>
            <a:endParaRPr dirty="0" lang="en-US"/>
          </a:p>
          <a:p>
            <a:pPr indent="0" marL="0">
              <a:buNone/>
            </a:pPr>
            <a:endParaRPr dirty="0" lang="en-US"/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Content Placeholder 2"/>
          <p:cNvSpPr>
            <a:spLocks noGrp="1"/>
          </p:cNvSpPr>
          <p:nvPr>
            <p:ph idx="1"/>
          </p:nvPr>
        </p:nvSpPr>
        <p:spPr>
          <a:xfrm>
            <a:off x="838200" y="158044"/>
            <a:ext cx="10515600" cy="6536267"/>
          </a:xfrm>
        </p:spPr>
        <p:txBody>
          <a:bodyPr>
            <a:normAutofit/>
          </a:bodyPr>
          <a:p>
            <a:r>
              <a:rPr b="1" dirty="0" sz="4000" lang="en-US"/>
              <a:t>Flowcharts</a:t>
            </a:r>
            <a:r>
              <a:rPr dirty="0" sz="4000" lang="en-US"/>
              <a:t> are </a:t>
            </a:r>
            <a:r>
              <a:rPr b="1" dirty="0" sz="4000" lang="en-US"/>
              <a:t>graphical representation </a:t>
            </a:r>
            <a:r>
              <a:rPr dirty="0" sz="4000" lang="en-US"/>
              <a:t>of an </a:t>
            </a:r>
            <a:r>
              <a:rPr b="1" dirty="0" sz="4000" lang="en-US"/>
              <a:t>algorithm that use symbols and arrows </a:t>
            </a:r>
            <a:r>
              <a:rPr dirty="0" sz="4000" lang="en-US"/>
              <a:t>to </a:t>
            </a:r>
            <a:r>
              <a:rPr b="1" dirty="0" sz="4000" lang="en-US"/>
              <a:t>show the flow of the algorithm</a:t>
            </a:r>
            <a:r>
              <a:rPr dirty="0" sz="4000" lang="en-US"/>
              <a:t>. </a:t>
            </a:r>
          </a:p>
          <a:p>
            <a:r>
              <a:rPr dirty="0" sz="4000" lang="en-US"/>
              <a:t>Each symbol represents a </a:t>
            </a:r>
            <a:r>
              <a:rPr b="1" dirty="0" sz="4000" lang="en-US"/>
              <a:t>specific action</a:t>
            </a:r>
            <a:r>
              <a:rPr dirty="0" sz="4000" lang="en-US"/>
              <a:t>, such as a </a:t>
            </a:r>
            <a:r>
              <a:rPr b="1" dirty="0" sz="4000" lang="en-US"/>
              <a:t>process </a:t>
            </a:r>
            <a:r>
              <a:rPr dirty="0" sz="4000" lang="en-US"/>
              <a:t>or a </a:t>
            </a:r>
            <a:r>
              <a:rPr b="1" dirty="0" sz="4000" lang="en-US"/>
              <a:t>decision a</a:t>
            </a:r>
            <a:r>
              <a:rPr dirty="0" sz="4000" lang="en-US"/>
              <a:t>nd the </a:t>
            </a:r>
            <a:r>
              <a:rPr b="1" dirty="0" sz="4000" lang="en-US"/>
              <a:t>arrow show the direction of the flow.</a:t>
            </a:r>
            <a:endParaRPr dirty="0" sz="4000" lang="en-US"/>
          </a:p>
          <a:p>
            <a:r>
              <a:rPr b="1" dirty="0" sz="4000" lang="en-US"/>
              <a:t>Programming languages </a:t>
            </a:r>
            <a:r>
              <a:rPr dirty="0" sz="4000" lang="en-US"/>
              <a:t>such as Java, Python and C++, use a specific syntax to represent algorithms.</a:t>
            </a:r>
          </a:p>
          <a:p>
            <a:r>
              <a:rPr dirty="0" sz="4000" lang="en-US"/>
              <a:t>They allow algorithms to be written  in a way that can be </a:t>
            </a:r>
            <a:r>
              <a:rPr b="1" dirty="0" sz="4000" lang="en-US"/>
              <a:t>executed by a computer.</a:t>
            </a:r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Content Placeholder 2"/>
          <p:cNvSpPr>
            <a:spLocks noGrp="1"/>
          </p:cNvSpPr>
          <p:nvPr>
            <p:ph idx="1"/>
          </p:nvPr>
        </p:nvSpPr>
        <p:spPr>
          <a:xfrm>
            <a:off x="838200" y="112888"/>
            <a:ext cx="10515600" cy="6745111"/>
          </a:xfrm>
        </p:spPr>
        <p:txBody>
          <a:bodyPr/>
          <a:p>
            <a:r>
              <a:rPr b="1" dirty="0" sz="4000" lang="en-US"/>
              <a:t>Pseudocodes:</a:t>
            </a:r>
          </a:p>
          <a:p>
            <a:pPr indent="0" marL="0">
              <a:buNone/>
            </a:pPr>
            <a:r>
              <a:rPr dirty="0" sz="3600" lang="en-US"/>
              <a:t>Pseudocode is structured English for describing algorithms concisely.</a:t>
            </a:r>
          </a:p>
          <a:p>
            <a:pPr indent="0" marL="0">
              <a:buNone/>
            </a:pPr>
            <a:r>
              <a:rPr dirty="0" sz="3600" lang="en-US"/>
              <a:t>It is made up of two words, namely</a:t>
            </a:r>
            <a:r>
              <a:rPr b="1" dirty="0" sz="3600" lang="en-US"/>
              <a:t>, pseudo </a:t>
            </a:r>
            <a:r>
              <a:rPr dirty="0" sz="3600" lang="en-US"/>
              <a:t>meaning </a:t>
            </a:r>
            <a:r>
              <a:rPr b="1" dirty="0" sz="3600" lang="en-US"/>
              <a:t>imitation</a:t>
            </a:r>
            <a:r>
              <a:rPr dirty="0" sz="3600" lang="en-US"/>
              <a:t> and </a:t>
            </a:r>
            <a:r>
              <a:rPr b="1" dirty="0" sz="3600" lang="en-US"/>
              <a:t>code</a:t>
            </a:r>
            <a:r>
              <a:rPr dirty="0" sz="3600" lang="en-US"/>
              <a:t> meaning </a:t>
            </a:r>
            <a:r>
              <a:rPr b="1" dirty="0" sz="3600" lang="en-US"/>
              <a:t>instructions. </a:t>
            </a:r>
          </a:p>
          <a:p>
            <a:pPr indent="0" marL="0">
              <a:buNone/>
            </a:pPr>
            <a:r>
              <a:rPr dirty="0" sz="3600" lang="en-US"/>
              <a:t>As the name suggests, pseudocode does not obey the syntax rules of any particular programming language i.e. it is not a real programming code. </a:t>
            </a:r>
          </a:p>
          <a:p>
            <a:pPr indent="0" marL="0">
              <a:buNone/>
            </a:pPr>
            <a:r>
              <a:rPr dirty="0" sz="3600" lang="en-US"/>
              <a:t>It allows the designer to focus on main logic without being distracted by programming languages syntax.</a:t>
            </a:r>
            <a:endParaRPr b="1" dirty="0" sz="3600" lang="en-US"/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Content Placeholder 2"/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694311"/>
          </a:xfrm>
        </p:spPr>
        <p:txBody>
          <a:bodyPr/>
          <a:p>
            <a:pPr indent="0" marL="0">
              <a:buNone/>
            </a:pPr>
            <a:r>
              <a:rPr b="1" dirty="0" sz="3200" lang="en-US"/>
              <a:t>Guidelines for Preparing Pseudocode:</a:t>
            </a:r>
          </a:p>
          <a:p>
            <a:pPr indent="0" marL="0">
              <a:buNone/>
            </a:pPr>
            <a:r>
              <a:rPr dirty="0" sz="3200" lang="en-US"/>
              <a:t>Following points should be remembered while preparing pseudocode :</a:t>
            </a:r>
          </a:p>
          <a:p>
            <a:r>
              <a:rPr dirty="0" sz="3200" lang="en-US"/>
              <a:t>Pseudocode will be enclosed by </a:t>
            </a:r>
            <a:r>
              <a:rPr b="1" dirty="0" sz="3200" lang="en-US"/>
              <a:t>START (or BEGIN) </a:t>
            </a:r>
            <a:r>
              <a:rPr dirty="0" sz="3200" lang="en-US"/>
              <a:t>and </a:t>
            </a:r>
            <a:r>
              <a:rPr b="1" dirty="0" sz="3200" lang="en-US"/>
              <a:t>STOP (or END).</a:t>
            </a:r>
          </a:p>
          <a:p>
            <a:r>
              <a:rPr dirty="0" sz="3200" lang="en-US"/>
              <a:t>Pseudocode should be concise so ignore unnecessary details.</a:t>
            </a:r>
          </a:p>
          <a:p>
            <a:r>
              <a:rPr dirty="0" sz="3200" lang="en-US"/>
              <a:t>To accept data from user, generally used statements are </a:t>
            </a:r>
            <a:r>
              <a:rPr b="1" dirty="0" sz="3200" lang="en-US"/>
              <a:t>INPUT, READ, GET or OBTAIN</a:t>
            </a:r>
            <a:r>
              <a:rPr dirty="0" sz="3200" lang="en-US"/>
              <a:t>.</a:t>
            </a:r>
          </a:p>
          <a:p>
            <a:r>
              <a:rPr dirty="0" sz="3200" lang="en-US"/>
              <a:t>To display result or any message, generally used statements are </a:t>
            </a:r>
            <a:r>
              <a:rPr b="1" dirty="0" sz="3200" lang="en-US"/>
              <a:t>PRINT, DISPLAY, or WRITE</a:t>
            </a:r>
            <a:r>
              <a:rPr dirty="0" sz="3200" lang="en-US"/>
              <a:t>. </a:t>
            </a:r>
          </a:p>
          <a:p>
            <a:r>
              <a:rPr dirty="0" sz="3200" lang="en-US"/>
              <a:t>Generally used keywords are </a:t>
            </a:r>
            <a:r>
              <a:rPr b="1" dirty="0" sz="3200" lang="en-US"/>
              <a:t>capitalized </a:t>
            </a:r>
            <a:r>
              <a:rPr dirty="0" sz="3200" lang="en-US"/>
              <a:t>while preparing pseudocode</a:t>
            </a:r>
            <a:r>
              <a:rPr dirty="0" lang="en-US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Content Placeholder 2"/>
          <p:cNvSpPr>
            <a:spLocks noGrp="1"/>
          </p:cNvSpPr>
          <p:nvPr>
            <p:ph idx="1"/>
          </p:nvPr>
        </p:nvSpPr>
        <p:spPr>
          <a:xfrm>
            <a:off x="838200" y="90311"/>
            <a:ext cx="10515600" cy="6683022"/>
          </a:xfrm>
        </p:spPr>
        <p:txBody>
          <a:bodyPr/>
          <a:p>
            <a:pPr indent="0" marL="0">
              <a:buNone/>
            </a:pPr>
            <a:r>
              <a:rPr b="1" dirty="0" sz="4400" lang="en-US"/>
              <a:t>Example of Pseudocode:</a:t>
            </a:r>
          </a:p>
          <a:p>
            <a:pPr indent="0" marL="0">
              <a:buNone/>
            </a:pPr>
            <a:r>
              <a:rPr b="1" dirty="0" sz="4400" lang="en-US"/>
              <a:t>Pseudocode :</a:t>
            </a:r>
            <a:r>
              <a:rPr dirty="0" sz="4400" lang="en-US"/>
              <a:t> Calculation of Simple Interest;</a:t>
            </a:r>
          </a:p>
          <a:p>
            <a:pPr indent="0" marL="0">
              <a:buNone/>
            </a:pPr>
            <a:endParaRPr b="1" dirty="0" sz="4400" lang="en-US"/>
          </a:p>
          <a:p>
            <a:pPr indent="0" marL="0">
              <a:buNone/>
            </a:pPr>
            <a:r>
              <a:rPr b="1" dirty="0" sz="4400" lang="en-US"/>
              <a:t>Step 1: START</a:t>
            </a:r>
          </a:p>
          <a:p>
            <a:pPr indent="0" marL="0">
              <a:buNone/>
            </a:pPr>
            <a:r>
              <a:rPr b="1" dirty="0" sz="4400" lang="en-US"/>
              <a:t>Step 2: Read P, T, R</a:t>
            </a:r>
          </a:p>
          <a:p>
            <a:pPr indent="0" marL="0">
              <a:buNone/>
            </a:pPr>
            <a:r>
              <a:rPr b="1" dirty="0" sz="4400" lang="en-US"/>
              <a:t>Step 3:  I =P*T*R/100</a:t>
            </a:r>
          </a:p>
          <a:p>
            <a:pPr indent="0" marL="0">
              <a:buNone/>
            </a:pPr>
            <a:r>
              <a:rPr b="1" dirty="0" sz="4400" lang="en-US"/>
              <a:t>Step 4: PRINT I </a:t>
            </a:r>
          </a:p>
          <a:p>
            <a:pPr indent="0" marL="0">
              <a:buNone/>
            </a:pPr>
            <a:r>
              <a:rPr b="1" dirty="0" sz="4400" lang="en-US"/>
              <a:t>Step 5: STOP</a:t>
            </a:r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Content Placeholder 2"/>
          <p:cNvSpPr>
            <a:spLocks noGrp="1"/>
          </p:cNvSpPr>
          <p:nvPr>
            <p:ph idx="1"/>
          </p:nvPr>
        </p:nvSpPr>
        <p:spPr>
          <a:xfrm>
            <a:off x="838200" y="112889"/>
            <a:ext cx="10515600" cy="6604000"/>
          </a:xfrm>
        </p:spPr>
        <p:txBody>
          <a:bodyPr>
            <a:noAutofit/>
          </a:bodyPr>
          <a:p>
            <a:pPr indent="0" marL="0">
              <a:buNone/>
            </a:pPr>
            <a:r>
              <a:rPr b="1" dirty="0" sz="3600" lang="en-US"/>
              <a:t>Advantages of Pseudocode:</a:t>
            </a:r>
          </a:p>
          <a:p>
            <a:pPr indent="0" marL="0">
              <a:buNone/>
            </a:pPr>
            <a:r>
              <a:rPr dirty="0" sz="3600" lang="en-US"/>
              <a:t>Preparing pseudocode while solving any problem through computer has following advantages : </a:t>
            </a:r>
          </a:p>
          <a:p>
            <a:r>
              <a:rPr dirty="0" sz="3600" lang="en-US"/>
              <a:t>It allows the designer to focus on main logic without being distracted by programming languages syntax.</a:t>
            </a:r>
          </a:p>
          <a:p>
            <a:r>
              <a:rPr dirty="0" sz="3600" lang="en-US"/>
              <a:t>Since it is language independent, it can be translated to any computer language code.</a:t>
            </a:r>
          </a:p>
          <a:p>
            <a:r>
              <a:rPr dirty="0" sz="3600" lang="en-US"/>
              <a:t>It allows designer to express logic in plain natural language.</a:t>
            </a:r>
          </a:p>
          <a:p>
            <a:r>
              <a:rPr dirty="0" sz="3600" lang="en-US"/>
              <a:t>It is easier to write actual code using pseudocode.</a:t>
            </a:r>
          </a:p>
          <a:p>
            <a:r>
              <a:rPr dirty="0" sz="3600" lang="en-US"/>
              <a:t>Unlike algorithms, pseudocodes are concise so pseudocodes are more readable and easier to modify.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Content Placeholder 2"/>
          <p:cNvSpPr>
            <a:spLocks noGrp="1"/>
          </p:cNvSpPr>
          <p:nvPr>
            <p:ph idx="1"/>
          </p:nvPr>
        </p:nvSpPr>
        <p:spPr>
          <a:xfrm>
            <a:off x="838200" y="79022"/>
            <a:ext cx="10515600" cy="6649156"/>
          </a:xfrm>
        </p:spPr>
        <p:txBody>
          <a:bodyPr/>
          <a:p>
            <a:pPr indent="0" marL="0">
              <a:buNone/>
            </a:pPr>
            <a:r>
              <a:rPr b="1" dirty="0" sz="4000" lang="en-US"/>
              <a:t>Disadvantages of Pseudocode:</a:t>
            </a:r>
          </a:p>
          <a:p>
            <a:pPr indent="0" marL="0">
              <a:buNone/>
            </a:pPr>
            <a:r>
              <a:rPr dirty="0" sz="4000" lang="en-US"/>
              <a:t>Pseudocode has following </a:t>
            </a:r>
            <a:r>
              <a:rPr b="1" dirty="0" sz="4000" lang="en-US"/>
              <a:t>disadvantages </a:t>
            </a:r>
            <a:r>
              <a:rPr dirty="0" sz="4000" lang="en-US"/>
              <a:t>:</a:t>
            </a:r>
          </a:p>
          <a:p>
            <a:r>
              <a:rPr dirty="0" sz="4000" lang="en-US"/>
              <a:t>There are </a:t>
            </a:r>
            <a:r>
              <a:rPr b="1" dirty="0" sz="4000" lang="en-US"/>
              <a:t>no accepted standards </a:t>
            </a:r>
            <a:r>
              <a:rPr dirty="0" sz="4000" lang="en-US"/>
              <a:t>for </a:t>
            </a:r>
            <a:r>
              <a:rPr b="1" dirty="0" sz="4000" lang="en-US"/>
              <a:t>writing pseudocodes and designer use their own style </a:t>
            </a:r>
            <a:r>
              <a:rPr dirty="0" sz="4000" lang="en-US"/>
              <a:t>while writing pseudocodes.</a:t>
            </a:r>
          </a:p>
          <a:p>
            <a:r>
              <a:rPr dirty="0" sz="4000" lang="en-US"/>
              <a:t>Pseudocode </a:t>
            </a:r>
            <a:r>
              <a:rPr b="1" dirty="0" sz="4000" lang="en-US"/>
              <a:t>cannot be compiled and executed </a:t>
            </a:r>
            <a:r>
              <a:rPr dirty="0" sz="4000" lang="en-US"/>
              <a:t>so </a:t>
            </a:r>
            <a:r>
              <a:rPr b="1" dirty="0" sz="4000" lang="en-US"/>
              <a:t>its correctness cannot be verified </a:t>
            </a:r>
            <a:r>
              <a:rPr dirty="0" sz="4000" lang="en-US"/>
              <a:t>by using computers.</a:t>
            </a:r>
          </a:p>
          <a:p>
            <a:pPr indent="0" marL="0">
              <a:buNone/>
            </a:pPr>
            <a:endParaRPr dirty="0" lang="en-US"/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Content Placeholder 2"/>
          <p:cNvSpPr>
            <a:spLocks noGrp="1"/>
          </p:cNvSpPr>
          <p:nvPr>
            <p:ph idx="1"/>
          </p:nvPr>
        </p:nvSpPr>
        <p:spPr>
          <a:xfrm>
            <a:off x="838200" y="101600"/>
            <a:ext cx="10515600" cy="6615289"/>
          </a:xfrm>
        </p:spPr>
        <p:txBody>
          <a:bodyPr/>
          <a:p>
            <a:r>
              <a:rPr b="1" dirty="0" sz="4000" lang="en-US"/>
              <a:t>Flowcharts:</a:t>
            </a:r>
          </a:p>
          <a:p>
            <a:pPr indent="0" marL="0">
              <a:buNone/>
            </a:pPr>
            <a:r>
              <a:rPr b="1" dirty="0" sz="3200" lang="en-US"/>
              <a:t>Flowchart is basically a pictorial or diagrammatic representation of an algorithm using standard symbols. </a:t>
            </a:r>
          </a:p>
          <a:p>
            <a:pPr indent="0" marL="0">
              <a:buNone/>
            </a:pPr>
            <a:r>
              <a:rPr dirty="0" sz="3200" lang="en-US"/>
              <a:t>In other words, </a:t>
            </a:r>
            <a:r>
              <a:rPr b="1" dirty="0" sz="3200" lang="en-US"/>
              <a:t>flowchart</a:t>
            </a:r>
            <a:r>
              <a:rPr dirty="0" sz="3200" lang="en-US"/>
              <a:t> is a </a:t>
            </a:r>
            <a:r>
              <a:rPr b="1" dirty="0" sz="3200" lang="en-US"/>
              <a:t>graphical representation </a:t>
            </a:r>
            <a:r>
              <a:rPr dirty="0" sz="3200" lang="en-US"/>
              <a:t>that explains the </a:t>
            </a:r>
            <a:r>
              <a:rPr b="1" dirty="0" sz="3200" lang="en-US"/>
              <a:t>sequence of operations to be performed </a:t>
            </a:r>
            <a:r>
              <a:rPr dirty="0" sz="3200" lang="en-US"/>
              <a:t>in order to </a:t>
            </a:r>
            <a:r>
              <a:rPr b="1" dirty="0" sz="3200" lang="en-US"/>
              <a:t>solve a problem under consideration</a:t>
            </a:r>
            <a:r>
              <a:rPr dirty="0" sz="3200" lang="en-US"/>
              <a:t>.</a:t>
            </a:r>
          </a:p>
          <a:p>
            <a:pPr indent="0" marL="0">
              <a:buNone/>
            </a:pPr>
            <a:r>
              <a:rPr b="1" dirty="0" sz="3200" lang="en-US"/>
              <a:t>Standard Flowchart Symbols</a:t>
            </a:r>
          </a:p>
          <a:p>
            <a:pPr indent="0" marL="0">
              <a:buNone/>
            </a:pPr>
            <a:r>
              <a:rPr dirty="0" sz="3200" lang="en-US"/>
              <a:t>To express different operations in the flowchart various </a:t>
            </a:r>
            <a:r>
              <a:rPr b="1" dirty="0" sz="3200" lang="en-US"/>
              <a:t>standard symbols</a:t>
            </a:r>
            <a:r>
              <a:rPr dirty="0" sz="3200" lang="en-US"/>
              <a:t> are used. All symbols are connected among themselves in order to show the flow of information and processing. Different symbols as prescribed by </a:t>
            </a:r>
            <a:r>
              <a:rPr b="1" dirty="0" sz="3200" lang="en-US"/>
              <a:t>American National Standard Institute (ANSI)</a:t>
            </a:r>
            <a:r>
              <a:rPr dirty="0" sz="3200" lang="en-US"/>
              <a:t> which are frequently required while drawing flowchart.</a:t>
            </a:r>
          </a:p>
          <a:p>
            <a:pPr indent="0" marL="0">
              <a:buNone/>
            </a:pPr>
            <a:endParaRPr b="1" dirty="0" sz="3200" lang="en-US"/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59644" y="79022"/>
            <a:ext cx="11684000" cy="6778978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Content Placeholder 2"/>
          <p:cNvSpPr>
            <a:spLocks noGrp="1"/>
          </p:cNvSpPr>
          <p:nvPr>
            <p:ph idx="1"/>
          </p:nvPr>
        </p:nvSpPr>
        <p:spPr>
          <a:xfrm>
            <a:off x="838200" y="79022"/>
            <a:ext cx="10515600" cy="6778978"/>
          </a:xfrm>
        </p:spPr>
        <p:txBody>
          <a:bodyPr/>
          <a:p>
            <a:pPr indent="0" marL="0">
              <a:buNone/>
            </a:pPr>
            <a:r>
              <a:rPr b="1" dirty="0" sz="3200" lang="en-US"/>
              <a:t>Guidelines for Preparing Flowchart:</a:t>
            </a:r>
          </a:p>
          <a:p>
            <a:pPr indent="0" marL="0">
              <a:buNone/>
            </a:pPr>
            <a:r>
              <a:rPr dirty="0" sz="3200" lang="en-US"/>
              <a:t>Following </a:t>
            </a:r>
            <a:r>
              <a:rPr b="1" dirty="0" sz="3200" lang="en-US"/>
              <a:t>guidelines</a:t>
            </a:r>
            <a:r>
              <a:rPr dirty="0" sz="3200" lang="en-US"/>
              <a:t> must be followed while preparing the flowcharts:</a:t>
            </a:r>
          </a:p>
          <a:p>
            <a:r>
              <a:rPr dirty="0" sz="3200" lang="en-US"/>
              <a:t>Standard symbols should be used while drawing flowchart.</a:t>
            </a:r>
          </a:p>
          <a:p>
            <a:r>
              <a:rPr dirty="0" sz="3200" lang="en-US"/>
              <a:t>Ensure that flowchart has </a:t>
            </a:r>
            <a:r>
              <a:rPr b="1" dirty="0" sz="3200" lang="en-US"/>
              <a:t>START (or BEGIN) </a:t>
            </a:r>
            <a:r>
              <a:rPr dirty="0" sz="3200" lang="en-US"/>
              <a:t>and </a:t>
            </a:r>
            <a:r>
              <a:rPr b="1" dirty="0" sz="3200" lang="en-US"/>
              <a:t>STOP (or END).</a:t>
            </a:r>
          </a:p>
          <a:p>
            <a:r>
              <a:rPr dirty="0" sz="3200" lang="en-US"/>
              <a:t>Flowchart should be neat, clean and easy to follow. There should be no any ambiguity.</a:t>
            </a:r>
          </a:p>
          <a:p>
            <a:r>
              <a:rPr dirty="0" sz="3200" lang="en-US"/>
              <a:t>The usual direction of flowchart is from top to bottom or from left to right.</a:t>
            </a:r>
          </a:p>
          <a:p>
            <a:r>
              <a:rPr dirty="0" sz="3200" lang="en-US"/>
              <a:t>The terminal symbol, that is, START/BEGIN or STOP/END should have only one flow line.</a:t>
            </a:r>
            <a:endParaRPr b="1" dirty="0" sz="3200" lang="en-US"/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Content Placeholder 2"/>
          <p:cNvSpPr>
            <a:spLocks noGrp="1"/>
          </p:cNvSpPr>
          <p:nvPr>
            <p:ph idx="1"/>
          </p:nvPr>
        </p:nvSpPr>
        <p:spPr>
          <a:xfrm>
            <a:off x="838200" y="169333"/>
            <a:ext cx="10515600" cy="6524978"/>
          </a:xfrm>
        </p:spPr>
        <p:txBody>
          <a:bodyPr>
            <a:normAutofit/>
          </a:bodyPr>
          <a:p>
            <a:r>
              <a:rPr dirty="0" sz="3600" lang="en-US"/>
              <a:t>Only one flow line should come out from process symbol.</a:t>
            </a:r>
          </a:p>
          <a:p>
            <a:r>
              <a:rPr dirty="0" sz="3600" lang="en-US"/>
              <a:t>Only one flow line should enter a decision symbol, but two or three flow-lines, one for each possible answer, can leave the decision symbol.</a:t>
            </a:r>
          </a:p>
          <a:p>
            <a:r>
              <a:rPr dirty="0" sz="3600" lang="en-US"/>
              <a:t>If the flowchart is lengthy and complex connector symbol should be used to reduce the number of flow lines.</a:t>
            </a:r>
          </a:p>
          <a:p>
            <a:r>
              <a:rPr dirty="0" sz="3600" lang="en-US"/>
              <a:t>Avoid intersection of flow lines.</a:t>
            </a:r>
          </a:p>
          <a:p>
            <a:r>
              <a:rPr dirty="0" sz="3600" lang="en-US"/>
              <a:t>Use annotation symbol to describe steps more clearly.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838200" y="90310"/>
            <a:ext cx="10515600" cy="6767689"/>
          </a:xfrm>
        </p:spPr>
        <p:txBody>
          <a:bodyPr/>
          <a:p>
            <a:pPr indent="0" marL="0">
              <a:buNone/>
            </a:pPr>
            <a:r>
              <a:rPr b="1" dirty="0" lang="en-US"/>
              <a:t>Example of Flowchart:</a:t>
            </a:r>
          </a:p>
          <a:p>
            <a:pPr indent="0" marL="0">
              <a:buNone/>
            </a:pPr>
            <a:r>
              <a:rPr b="1" dirty="0" lang="en-US"/>
              <a:t>Flowchart example</a:t>
            </a:r>
            <a:r>
              <a:rPr dirty="0" lang="en-US"/>
              <a:t> for calculating simple interest is shown below:</a:t>
            </a:r>
          </a:p>
          <a:p>
            <a:pPr indent="0" marL="0">
              <a:buNone/>
            </a:pPr>
            <a:endParaRPr b="1" dirty="0" lang="en-US"/>
          </a:p>
          <a:p>
            <a:pPr indent="0" marL="0">
              <a:buNone/>
            </a:pPr>
            <a:endParaRPr b="1" dirty="0" lang="en-US"/>
          </a:p>
          <a:p>
            <a:endParaRPr dirty="0" lang="en-US"/>
          </a:p>
        </p:txBody>
      </p:sp>
      <p:pic>
        <p:nvPicPr>
          <p:cNvPr id="2097153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111022" y="1275644"/>
            <a:ext cx="6445957" cy="5283199"/>
          </a:xfrm>
          <a:prstGeom prst="rect"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Content Placeholder 2"/>
          <p:cNvSpPr>
            <a:spLocks noGrp="1"/>
          </p:cNvSpPr>
          <p:nvPr>
            <p:ph idx="1"/>
          </p:nvPr>
        </p:nvSpPr>
        <p:spPr>
          <a:xfrm>
            <a:off x="838200" y="180622"/>
            <a:ext cx="10515600" cy="6558845"/>
          </a:xfrm>
        </p:spPr>
        <p:txBody>
          <a:bodyPr/>
          <a:p>
            <a:pPr indent="0" marL="0">
              <a:buNone/>
            </a:pPr>
            <a:r>
              <a:rPr b="1" dirty="0" lang="en-US"/>
              <a:t>Advantages of Flowchart:</a:t>
            </a:r>
          </a:p>
          <a:p>
            <a:pPr indent="0" marL="0">
              <a:buNone/>
            </a:pPr>
            <a:r>
              <a:rPr dirty="0" lang="en-US"/>
              <a:t>Drawing flowchart while solving any problem has following </a:t>
            </a:r>
            <a:r>
              <a:rPr b="1" dirty="0" lang="en-US"/>
              <a:t>advantages</a:t>
            </a:r>
            <a:r>
              <a:rPr dirty="0" lang="en-US"/>
              <a:t>:</a:t>
            </a:r>
          </a:p>
          <a:p>
            <a:r>
              <a:rPr b="1" dirty="0" lang="en-US"/>
              <a:t>Effective Communication : </a:t>
            </a:r>
            <a:r>
              <a:rPr dirty="0" lang="en-US"/>
              <a:t>Flowcharts are better way of communicating the logic of the system.</a:t>
            </a:r>
          </a:p>
          <a:p>
            <a:r>
              <a:rPr b="1" dirty="0" lang="en-US"/>
              <a:t>Effective Analysis : </a:t>
            </a:r>
            <a:r>
              <a:rPr dirty="0" lang="en-US"/>
              <a:t>Using flowchart problem can be analyzed more efficiently.</a:t>
            </a:r>
          </a:p>
          <a:p>
            <a:r>
              <a:rPr b="1" dirty="0" lang="en-US"/>
              <a:t>Easy Debugging and Efficient Testing : </a:t>
            </a:r>
            <a:r>
              <a:rPr dirty="0" lang="en-US"/>
              <a:t>The Flowchart helps in debugging and testing process.</a:t>
            </a:r>
          </a:p>
          <a:p>
            <a:r>
              <a:rPr b="1" dirty="0" lang="en-US"/>
              <a:t>Efficient Coding : </a:t>
            </a:r>
            <a:r>
              <a:rPr dirty="0" lang="en-US"/>
              <a:t>The flowcharts are very useful during program development phase.</a:t>
            </a:r>
          </a:p>
          <a:p>
            <a:r>
              <a:rPr b="1" dirty="0" lang="en-US"/>
              <a:t>Proper Documentation : </a:t>
            </a:r>
            <a:r>
              <a:rPr dirty="0" lang="en-US"/>
              <a:t>Flowcharts serves as a good program documentation, which is needed for various purpose.</a:t>
            </a:r>
          </a:p>
          <a:p>
            <a:r>
              <a:rPr b="1" dirty="0" lang="en-US"/>
              <a:t>Efficient Program Maintenance :</a:t>
            </a:r>
            <a:r>
              <a:rPr dirty="0" lang="en-US"/>
              <a:t> Maintenance of operating programs becomes easy with the help of flowchart.</a:t>
            </a:r>
            <a:endParaRPr b="1" dirty="0" lang="en-US"/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Content Placeholder 2"/>
          <p:cNvSpPr>
            <a:spLocks noGrp="1"/>
          </p:cNvSpPr>
          <p:nvPr>
            <p:ph idx="1"/>
          </p:nvPr>
        </p:nvSpPr>
        <p:spPr>
          <a:xfrm>
            <a:off x="838200" y="135466"/>
            <a:ext cx="10515600" cy="6722533"/>
          </a:xfrm>
        </p:spPr>
        <p:txBody>
          <a:bodyPr/>
          <a:p>
            <a:pPr indent="0" marL="0">
              <a:buNone/>
            </a:pPr>
            <a:r>
              <a:rPr b="1" dirty="0" sz="4000" lang="en-US"/>
              <a:t>Disadvantages of Flowchart:</a:t>
            </a:r>
          </a:p>
          <a:p>
            <a:pPr indent="0" marL="0">
              <a:buNone/>
            </a:pPr>
            <a:r>
              <a:rPr dirty="0" sz="4000" lang="en-US"/>
              <a:t>Flowchart has following disadvantages:</a:t>
            </a:r>
          </a:p>
          <a:p>
            <a:r>
              <a:rPr b="1" dirty="0" sz="4000" lang="en-US"/>
              <a:t>Complex Logic:</a:t>
            </a:r>
            <a:r>
              <a:rPr dirty="0" sz="4000" lang="en-US"/>
              <a:t> For complicated logic, flowchart becomes complex and clumsy.</a:t>
            </a:r>
          </a:p>
          <a:p>
            <a:r>
              <a:rPr b="1" dirty="0" sz="4000" lang="en-US"/>
              <a:t>Difficulty in Modifications:</a:t>
            </a:r>
            <a:r>
              <a:rPr dirty="0" sz="4000" lang="en-US"/>
              <a:t> If change is required in the logic then flowchart needs to be redrawn and requires a lot of time.</a:t>
            </a:r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Content Placeholder 2"/>
          <p:cNvSpPr>
            <a:spLocks noGrp="1"/>
          </p:cNvSpPr>
          <p:nvPr>
            <p:ph idx="1"/>
          </p:nvPr>
        </p:nvSpPr>
        <p:spPr>
          <a:xfrm>
            <a:off x="838200" y="169332"/>
            <a:ext cx="10515600" cy="6688667"/>
          </a:xfrm>
        </p:spPr>
        <p:txBody>
          <a:bodyPr>
            <a:normAutofit/>
          </a:bodyPr>
          <a:p>
            <a:pPr>
              <a:buFont typeface="Wingdings" panose="05000000000000000000" pitchFamily="2" charset="2"/>
              <a:buChar char="Ø"/>
            </a:pPr>
            <a:r>
              <a:rPr b="1" dirty="0" sz="4000" lang="en-US"/>
              <a:t>Space and Time Analysis:</a:t>
            </a:r>
          </a:p>
          <a:p>
            <a:pPr indent="0" marL="0">
              <a:buNone/>
            </a:pPr>
            <a:r>
              <a:rPr dirty="0" sz="3200" lang="en-US"/>
              <a:t>Generally, there is always </a:t>
            </a:r>
            <a:r>
              <a:rPr b="1" dirty="0" sz="3200" lang="en-US"/>
              <a:t>more than one </a:t>
            </a:r>
            <a:r>
              <a:rPr dirty="0" sz="3200" lang="en-US"/>
              <a:t>way to </a:t>
            </a:r>
            <a:r>
              <a:rPr b="1" dirty="0" sz="3200" lang="en-US"/>
              <a:t>solve a problem </a:t>
            </a:r>
            <a:r>
              <a:rPr dirty="0" sz="3200" lang="en-US"/>
              <a:t>in computer science with </a:t>
            </a:r>
            <a:r>
              <a:rPr b="1" dirty="0" sz="3200" lang="en-US"/>
              <a:t>different algorithms</a:t>
            </a:r>
            <a:r>
              <a:rPr dirty="0" sz="3200" lang="en-US"/>
              <a:t>. </a:t>
            </a:r>
          </a:p>
          <a:p>
            <a:pPr indent="0" marL="0">
              <a:buNone/>
            </a:pPr>
            <a:r>
              <a:rPr dirty="0" sz="3200" lang="en-US"/>
              <a:t>Therefore, it is highly </a:t>
            </a:r>
            <a:r>
              <a:rPr b="1" dirty="0" sz="3200" lang="en-US"/>
              <a:t>required to use a method to compare </a:t>
            </a:r>
            <a:r>
              <a:rPr dirty="0" sz="3200" lang="en-US"/>
              <a:t>the </a:t>
            </a:r>
            <a:r>
              <a:rPr b="1" dirty="0" sz="3200" lang="en-US"/>
              <a:t>solutions in order to judge </a:t>
            </a:r>
            <a:r>
              <a:rPr dirty="0" sz="3200" lang="en-US"/>
              <a:t>which </a:t>
            </a:r>
            <a:r>
              <a:rPr b="1" dirty="0" sz="3200" lang="en-US"/>
              <a:t>one is more optimal</a:t>
            </a:r>
            <a:r>
              <a:rPr dirty="0" sz="3200" lang="en-US"/>
              <a:t>. </a:t>
            </a:r>
          </a:p>
          <a:p>
            <a:pPr indent="0" marL="0">
              <a:buNone/>
            </a:pPr>
            <a:r>
              <a:rPr dirty="0" sz="3200" lang="en-US"/>
              <a:t>The method must be:</a:t>
            </a:r>
          </a:p>
          <a:p>
            <a:r>
              <a:rPr b="1" dirty="0" sz="3200" lang="en-US"/>
              <a:t>Independent of the machine and its configuration</a:t>
            </a:r>
            <a:r>
              <a:rPr dirty="0" sz="3200" lang="en-US"/>
              <a:t>, on which the </a:t>
            </a:r>
            <a:r>
              <a:rPr b="1" dirty="0" sz="3200" lang="en-US"/>
              <a:t>algorithm is running </a:t>
            </a:r>
            <a:r>
              <a:rPr dirty="0" sz="3200" lang="en-US"/>
              <a:t>on.</a:t>
            </a:r>
          </a:p>
          <a:p>
            <a:r>
              <a:rPr dirty="0" sz="3200" lang="en-US"/>
              <a:t>Shows a </a:t>
            </a:r>
            <a:r>
              <a:rPr b="1" dirty="0" sz="3200" lang="en-US"/>
              <a:t>direct correlation with the number of inputs</a:t>
            </a:r>
            <a:r>
              <a:rPr dirty="0" sz="3200" lang="en-US"/>
              <a:t>.</a:t>
            </a:r>
          </a:p>
          <a:p>
            <a:r>
              <a:rPr b="1" dirty="0" sz="3200" lang="en-US"/>
              <a:t>Can distinguish two algorithms clearly without ambiguity</a:t>
            </a:r>
            <a:r>
              <a:rPr dirty="0" sz="3200" lang="en-US"/>
              <a:t>.</a:t>
            </a:r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Content Placeholder 2"/>
          <p:cNvSpPr>
            <a:spLocks noGrp="1"/>
          </p:cNvSpPr>
          <p:nvPr>
            <p:ph idx="1"/>
          </p:nvPr>
        </p:nvSpPr>
        <p:spPr>
          <a:xfrm>
            <a:off x="838200" y="169333"/>
            <a:ext cx="10515600" cy="6570134"/>
          </a:xfrm>
        </p:spPr>
        <p:txBody>
          <a:bodyPr>
            <a:normAutofit/>
          </a:bodyPr>
          <a:p>
            <a:pPr indent="0" marL="0">
              <a:buNone/>
            </a:pPr>
            <a:r>
              <a:rPr dirty="0" sz="3200" lang="en-US"/>
              <a:t>There are </a:t>
            </a:r>
            <a:r>
              <a:rPr b="1" dirty="0" sz="3200" lang="en-US"/>
              <a:t>two such methods </a:t>
            </a:r>
            <a:r>
              <a:rPr dirty="0" sz="3200" lang="en-US"/>
              <a:t>used, </a:t>
            </a:r>
            <a:r>
              <a:rPr b="1" dirty="0" sz="3200" lang="en-US"/>
              <a:t>time complexity</a:t>
            </a:r>
            <a:r>
              <a:rPr dirty="0" sz="3200" lang="en-US"/>
              <a:t> and </a:t>
            </a:r>
            <a:r>
              <a:rPr b="1" dirty="0" sz="3200" lang="en-US"/>
              <a:t>space complexity</a:t>
            </a:r>
            <a:r>
              <a:rPr dirty="0" sz="3200" lang="en-US"/>
              <a:t> which are given below:</a:t>
            </a:r>
          </a:p>
          <a:p>
            <a:pPr indent="0" marL="0">
              <a:buNone/>
            </a:pPr>
            <a:r>
              <a:rPr b="1" dirty="0" sz="3200" lang="en-US"/>
              <a:t>Time Complexity: </a:t>
            </a:r>
          </a:p>
          <a:p>
            <a:r>
              <a:rPr b="1" dirty="0" sz="3200" lang="en-US"/>
              <a:t>The time required by the algorithm to solve given problem</a:t>
            </a:r>
            <a:r>
              <a:rPr dirty="0" sz="3200" lang="en-US"/>
              <a:t> is called </a:t>
            </a:r>
            <a:r>
              <a:rPr b="1" dirty="0" sz="3200" i="1" lang="en-US"/>
              <a:t>time complexity </a:t>
            </a:r>
            <a:r>
              <a:rPr dirty="0" sz="3200" lang="en-US"/>
              <a:t> of the algorithm. </a:t>
            </a:r>
            <a:endParaRPr b="1" dirty="0" sz="3200" lang="en-US"/>
          </a:p>
          <a:p>
            <a:r>
              <a:rPr dirty="0" sz="3200" lang="en-US"/>
              <a:t>The time complexity of an algorithm </a:t>
            </a:r>
            <a:r>
              <a:rPr b="1" dirty="0" sz="3200" lang="en-US"/>
              <a:t>quantifies the amount of time taken by an algorithm to run as a function of the length of the input</a:t>
            </a:r>
            <a:r>
              <a:rPr dirty="0" sz="3200" lang="en-US"/>
              <a:t>. </a:t>
            </a:r>
          </a:p>
          <a:p>
            <a:r>
              <a:rPr b="1" dirty="0" sz="3200" lang="en-US"/>
              <a:t>Note</a:t>
            </a:r>
            <a:r>
              <a:rPr dirty="0" sz="3200" lang="en-US"/>
              <a:t> that the </a:t>
            </a:r>
            <a:r>
              <a:rPr b="1" dirty="0" sz="3200" lang="en-US"/>
              <a:t>time to run is a function of the length of the input </a:t>
            </a:r>
            <a:r>
              <a:rPr dirty="0" sz="3200" lang="en-US"/>
              <a:t>and </a:t>
            </a:r>
            <a:r>
              <a:rPr b="1" dirty="0" sz="3200" lang="en-US"/>
              <a:t>not the actual execution time </a:t>
            </a:r>
            <a:r>
              <a:rPr dirty="0" sz="3200" lang="en-US"/>
              <a:t>of the machine on which the algorithm is running on.</a:t>
            </a:r>
          </a:p>
          <a:p>
            <a:endParaRPr dirty="0"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Content Placeholder 2"/>
          <p:cNvSpPr>
            <a:spLocks noGrp="1"/>
          </p:cNvSpPr>
          <p:nvPr>
            <p:ph idx="1"/>
          </p:nvPr>
        </p:nvSpPr>
        <p:spPr>
          <a:xfrm>
            <a:off x="838200" y="169332"/>
            <a:ext cx="10515600" cy="6581423"/>
          </a:xfrm>
        </p:spPr>
        <p:txBody>
          <a:bodyPr>
            <a:normAutofit/>
          </a:bodyPr>
          <a:p>
            <a:r>
              <a:rPr dirty="0" sz="4000" lang="en-US"/>
              <a:t>The valid algorithm takes a </a:t>
            </a:r>
            <a:r>
              <a:rPr b="1" dirty="0" sz="4000" lang="en-US"/>
              <a:t>finite amount of time for execution</a:t>
            </a:r>
            <a:r>
              <a:rPr dirty="0" sz="4000" lang="en-US"/>
              <a:t>. </a:t>
            </a:r>
          </a:p>
          <a:p>
            <a:r>
              <a:rPr dirty="0" sz="4000" lang="en-US"/>
              <a:t>Time complexity is very </a:t>
            </a:r>
            <a:r>
              <a:rPr b="1" dirty="0" sz="4000" lang="en-US"/>
              <a:t>useful measure in algorithm analysis</a:t>
            </a:r>
            <a:r>
              <a:rPr dirty="0" sz="4000" lang="en-US"/>
              <a:t>.</a:t>
            </a:r>
          </a:p>
          <a:p>
            <a:r>
              <a:rPr dirty="0" sz="4000" lang="en-US"/>
              <a:t>It is the time needed for the </a:t>
            </a:r>
            <a:r>
              <a:rPr b="1" dirty="0" sz="4000" lang="en-US"/>
              <a:t>completion of an algorithm</a:t>
            </a:r>
            <a:r>
              <a:rPr dirty="0" sz="4000" lang="en-US"/>
              <a:t>. </a:t>
            </a:r>
          </a:p>
          <a:p>
            <a:r>
              <a:rPr dirty="0" sz="4000" lang="en-US"/>
              <a:t>To estimate the time complexity, we need to consider the cost of each fundamental instruction and the number of times the instruction is executed.</a:t>
            </a:r>
          </a:p>
          <a:p>
            <a:endParaRPr dirty="0" sz="4000" lang="en-US"/>
          </a:p>
          <a:p>
            <a:endParaRPr dirty="0"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Content Placeholder 2"/>
          <p:cNvSpPr>
            <a:spLocks noGrp="1"/>
          </p:cNvSpPr>
          <p:nvPr>
            <p:ph idx="1"/>
          </p:nvPr>
        </p:nvSpPr>
        <p:spPr>
          <a:xfrm>
            <a:off x="838200" y="146756"/>
            <a:ext cx="10515600" cy="6711244"/>
          </a:xfrm>
        </p:spPr>
        <p:txBody>
          <a:bodyPr>
            <a:normAutofit/>
          </a:bodyPr>
          <a:p>
            <a:pPr indent="0" marL="0">
              <a:buNone/>
            </a:pPr>
            <a:r>
              <a:rPr b="1" dirty="0" sz="3600" lang="en-US"/>
              <a:t>Space Complexity: </a:t>
            </a:r>
          </a:p>
          <a:p>
            <a:r>
              <a:rPr dirty="0" sz="3600" lang="en-US"/>
              <a:t>The amount of memory required by the algorithm to solve given problem is called </a:t>
            </a:r>
            <a:r>
              <a:rPr b="1" dirty="0" sz="3600" lang="en-US"/>
              <a:t>space complexity</a:t>
            </a:r>
            <a:r>
              <a:rPr dirty="0" sz="3600" lang="en-US"/>
              <a:t> of the algorithm.</a:t>
            </a:r>
          </a:p>
          <a:p>
            <a:r>
              <a:rPr dirty="0" sz="3600" lang="en-US"/>
              <a:t>Problem-solving using computer requires memory to hold temporary data or final result while the program is in execution. </a:t>
            </a:r>
          </a:p>
          <a:p>
            <a:r>
              <a:rPr dirty="0" sz="3600" lang="en-US"/>
              <a:t>The </a:t>
            </a:r>
            <a:r>
              <a:rPr b="1" dirty="0" sz="3600" lang="en-US"/>
              <a:t>space complexity of an algorithm quantifies the amount of space taken by an algorithm to run as a function of the length of the input. </a:t>
            </a:r>
          </a:p>
          <a:p>
            <a:r>
              <a:rPr dirty="0" sz="3600" lang="en-US"/>
              <a:t>It is the </a:t>
            </a:r>
            <a:r>
              <a:rPr b="1" dirty="0" sz="3600" lang="en-US"/>
              <a:t>amount of memory needed for the completion of an algorithm. </a:t>
            </a:r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Content Placeholder 2"/>
          <p:cNvSpPr>
            <a:spLocks noGrp="1"/>
          </p:cNvSpPr>
          <p:nvPr>
            <p:ph idx="1"/>
          </p:nvPr>
        </p:nvSpPr>
        <p:spPr>
          <a:xfrm>
            <a:off x="838200" y="124178"/>
            <a:ext cx="10515600" cy="6637866"/>
          </a:xfrm>
        </p:spPr>
        <p:txBody>
          <a:bodyPr/>
          <a:p>
            <a:pPr indent="0" marL="0">
              <a:buNone/>
            </a:pPr>
            <a:r>
              <a:rPr dirty="0" sz="4000" lang="en-US"/>
              <a:t>To </a:t>
            </a:r>
            <a:r>
              <a:rPr b="1" dirty="0" sz="4000" lang="en-US"/>
              <a:t>estimate the memory requirement </a:t>
            </a:r>
            <a:r>
              <a:rPr dirty="0" sz="4000" lang="en-US"/>
              <a:t>we need to focus on </a:t>
            </a:r>
            <a:r>
              <a:rPr b="1" dirty="0" sz="4000" lang="en-US"/>
              <a:t>two parts: </a:t>
            </a:r>
          </a:p>
          <a:p>
            <a:r>
              <a:rPr b="1" dirty="0" sz="4000" lang="en-US"/>
              <a:t>(1) A fixed part:</a:t>
            </a:r>
            <a:r>
              <a:rPr dirty="0" sz="4000" lang="en-US"/>
              <a:t> It is independent of the input size. It includes memory for instructions (code), constants, variables, etc.</a:t>
            </a:r>
          </a:p>
          <a:p>
            <a:r>
              <a:rPr b="1" dirty="0" sz="4000" lang="en-US"/>
              <a:t>(2) A variable part: </a:t>
            </a:r>
            <a:r>
              <a:rPr dirty="0" sz="4000" lang="en-US"/>
              <a:t>It is dependent on the input size. It includes memory for recursion stack, referenced variables, etc.</a:t>
            </a:r>
          </a:p>
          <a:p>
            <a:endParaRPr dirty="0"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Content Placeholder 2"/>
          <p:cNvSpPr>
            <a:spLocks noGrp="1"/>
          </p:cNvSpPr>
          <p:nvPr>
            <p:ph idx="1"/>
          </p:nvPr>
        </p:nvSpPr>
        <p:spPr>
          <a:xfrm>
            <a:off x="838200" y="169332"/>
            <a:ext cx="10515600" cy="6558845"/>
          </a:xfrm>
        </p:spPr>
        <p:txBody>
          <a:bodyPr>
            <a:normAutofit/>
          </a:bodyPr>
          <a:p>
            <a:pPr>
              <a:buFont typeface="Wingdings" panose="05000000000000000000" pitchFamily="2" charset="2"/>
              <a:buChar char="Ø"/>
            </a:pPr>
            <a:r>
              <a:rPr dirty="0" sz="4000" lang="en-US"/>
              <a:t>Common algorithms used in data manipulation:</a:t>
            </a:r>
          </a:p>
          <a:p>
            <a:pPr indent="0" marL="0">
              <a:buNone/>
            </a:pPr>
            <a:r>
              <a:rPr b="1" dirty="0" sz="3600" lang="en-US"/>
              <a:t>C4.5 Algorithm:</a:t>
            </a:r>
          </a:p>
          <a:p>
            <a:r>
              <a:rPr dirty="0" sz="3600" lang="en-US"/>
              <a:t>C4.5 is one of the top data mining algorithms and was developed by Ross Quinlan. </a:t>
            </a:r>
          </a:p>
          <a:p>
            <a:r>
              <a:rPr dirty="0" sz="3600" lang="en-US"/>
              <a:t>C4.5 is used to generate a classifier in the form of a decision tree from a set of data that has already been classified. </a:t>
            </a:r>
          </a:p>
          <a:p>
            <a:r>
              <a:rPr dirty="0" sz="3600" lang="en-US"/>
              <a:t>Classifier here refers to a data mining tool that takes data that we need to classify and tries to predict the class of new data. </a:t>
            </a:r>
          </a:p>
          <a:p>
            <a:pPr indent="0" marL="0">
              <a:buNone/>
            </a:pPr>
            <a:endParaRPr dirty="0" sz="3600" lang="en-US"/>
          </a:p>
          <a:p>
            <a:endParaRPr dirty="0"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Content Placeholder 2"/>
          <p:cNvSpPr>
            <a:spLocks noGrp="1"/>
          </p:cNvSpPr>
          <p:nvPr>
            <p:ph idx="1"/>
          </p:nvPr>
        </p:nvSpPr>
        <p:spPr>
          <a:xfrm>
            <a:off x="838200" y="169332"/>
            <a:ext cx="10515600" cy="6479823"/>
          </a:xfrm>
        </p:spPr>
        <p:txBody>
          <a:bodyPr/>
          <a:p>
            <a:pPr indent="0" marL="0">
              <a:buNone/>
            </a:pPr>
            <a:r>
              <a:rPr b="1" dirty="0" sz="3600" lang="en-US"/>
              <a:t>K-mean Algorithm:</a:t>
            </a:r>
          </a:p>
          <a:p>
            <a:r>
              <a:rPr dirty="0" sz="3600" lang="en-US"/>
              <a:t>One of the most common clustering algorithms, k-means works by creating a k number of groups from a set of objects based on the similarity between objects. </a:t>
            </a:r>
          </a:p>
          <a:p>
            <a:r>
              <a:rPr dirty="0" sz="3600" lang="en-US"/>
              <a:t>It may not be guaranteed that group members will be exactly similar, but group members will be more similar as compared to non-group members.</a:t>
            </a:r>
          </a:p>
          <a:p>
            <a:r>
              <a:rPr dirty="0" sz="3600" lang="en-US"/>
              <a:t>As per standard implementations, k-means is an unsupervised learning algorithm as it learns the cluster on its own without any external information. </a:t>
            </a:r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Content Placeholder 2"/>
          <p:cNvSpPr>
            <a:spLocks noGrp="1"/>
          </p:cNvSpPr>
          <p:nvPr>
            <p:ph idx="1"/>
          </p:nvPr>
        </p:nvSpPr>
        <p:spPr>
          <a:xfrm>
            <a:off x="838200" y="180622"/>
            <a:ext cx="10515600" cy="6677378"/>
          </a:xfrm>
        </p:spPr>
        <p:txBody>
          <a:bodyPr/>
          <a:p>
            <a:pPr indent="0" marL="0">
              <a:buNone/>
            </a:pPr>
            <a:r>
              <a:rPr b="1" dirty="0" sz="3600" lang="en-US"/>
              <a:t>Support Vector Machines:</a:t>
            </a:r>
          </a:p>
          <a:p>
            <a:r>
              <a:rPr dirty="0" sz="3600" lang="en-US"/>
              <a:t>In terms of tasks, Support vector machine (SVM) works similar to C4.5 algorithm except that SVM doesn’t use any decision trees at all.</a:t>
            </a:r>
          </a:p>
          <a:p>
            <a:r>
              <a:rPr dirty="0" sz="3600" lang="en-US"/>
              <a:t> SVM learns the datasets and defines a hyperplane to classify data into two classes. </a:t>
            </a:r>
          </a:p>
          <a:p>
            <a:r>
              <a:rPr dirty="0" sz="3600" lang="en-US"/>
              <a:t>A hyperplane is an equation for a line that looks something like “</a:t>
            </a:r>
            <a:r>
              <a:rPr dirty="0" sz="3600" i="1" lang="en-US"/>
              <a:t>y = mx + b”. </a:t>
            </a:r>
          </a:p>
          <a:p>
            <a:r>
              <a:rPr dirty="0" sz="3600" lang="en-US"/>
              <a:t>SVM exaggerates to project your data to higher dimensions. </a:t>
            </a:r>
          </a:p>
          <a:p>
            <a:r>
              <a:rPr dirty="0" sz="3600" lang="en-US"/>
              <a:t>Once projected, SVM defined the best hyperplane to separate the data into the two classes.</a:t>
            </a:r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Content Placeholder 2"/>
          <p:cNvSpPr>
            <a:spLocks noGrp="1"/>
          </p:cNvSpPr>
          <p:nvPr>
            <p:ph idx="1"/>
          </p:nvPr>
        </p:nvSpPr>
        <p:spPr>
          <a:xfrm>
            <a:off x="838200" y="135466"/>
            <a:ext cx="10515600" cy="6626577"/>
          </a:xfrm>
        </p:spPr>
        <p:txBody>
          <a:bodyPr>
            <a:normAutofit lnSpcReduction="10000"/>
          </a:bodyPr>
          <a:p>
            <a:pPr indent="0" marL="0">
              <a:buNone/>
            </a:pPr>
            <a:r>
              <a:rPr b="1" dirty="0" sz="3600" lang="en-US"/>
              <a:t>Apriori Algorithm:</a:t>
            </a:r>
          </a:p>
          <a:p>
            <a:r>
              <a:rPr dirty="0" sz="3600" lang="en-US"/>
              <a:t>Apriori algorithm works by learning association rules. </a:t>
            </a:r>
          </a:p>
          <a:p>
            <a:r>
              <a:rPr dirty="0" sz="3600" lang="en-US"/>
              <a:t>Association rules are a data mining technique that is used for learning correlations between variables in a database. </a:t>
            </a:r>
          </a:p>
          <a:p>
            <a:r>
              <a:rPr dirty="0" sz="3600" lang="en-US"/>
              <a:t>Once the association rules are learned, it is applied to a database containing a large number of transactions. </a:t>
            </a:r>
          </a:p>
          <a:p>
            <a:r>
              <a:rPr dirty="0" sz="3600" lang="en-US"/>
              <a:t>Apriori algorithm is used for discovering interesting patterns and mutual relationships and hence is treated as an unsupervised learning approach. </a:t>
            </a:r>
          </a:p>
          <a:p>
            <a:r>
              <a:rPr dirty="0" sz="3600" lang="en-US"/>
              <a:t>Thought the algorithm is highly efficient, it consumes a lot of memory, utilizes a lot of disk space and takes a lot of time. </a:t>
            </a:r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Content Placeholder 2"/>
          <p:cNvSpPr>
            <a:spLocks noGrp="1"/>
          </p:cNvSpPr>
          <p:nvPr>
            <p:ph idx="1"/>
          </p:nvPr>
        </p:nvSpPr>
        <p:spPr>
          <a:xfrm>
            <a:off x="838200" y="158044"/>
            <a:ext cx="10515600" cy="6592712"/>
          </a:xfrm>
        </p:spPr>
        <p:txBody>
          <a:bodyPr/>
          <a:p>
            <a:pPr indent="0" marL="0">
              <a:buNone/>
            </a:pPr>
            <a:r>
              <a:rPr b="1" dirty="0" sz="3600" lang="en-US"/>
              <a:t>PageRank Algorithm:</a:t>
            </a:r>
          </a:p>
          <a:p>
            <a:r>
              <a:rPr dirty="0" sz="3600" lang="en-US"/>
              <a:t>PageRank is commonly used by search engines like Google. </a:t>
            </a:r>
          </a:p>
          <a:p>
            <a:r>
              <a:rPr dirty="0" sz="3600" lang="en-US"/>
              <a:t>It is a link analysis algorithm that determines the relative importance of an object linked within a network of objects.</a:t>
            </a:r>
          </a:p>
          <a:p>
            <a:r>
              <a:rPr dirty="0" sz="3600" lang="en-US"/>
              <a:t>Link analysis is a type of network analysis that explores the associations among objects.</a:t>
            </a:r>
          </a:p>
          <a:p>
            <a:r>
              <a:rPr dirty="0" sz="3600" lang="en-US"/>
              <a:t>Google search uses this algorithm by understanding the backlinks between web pages. </a:t>
            </a:r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Content Placeholder 2"/>
          <p:cNvSpPr>
            <a:spLocks noGrp="1"/>
          </p:cNvSpPr>
          <p:nvPr>
            <p:ph idx="1"/>
          </p:nvPr>
        </p:nvSpPr>
        <p:spPr>
          <a:xfrm>
            <a:off x="838200" y="135467"/>
            <a:ext cx="10515600" cy="6536266"/>
          </a:xfrm>
        </p:spPr>
        <p:txBody>
          <a:bodyPr>
            <a:normAutofit lnSpcReduction="10000"/>
          </a:bodyPr>
          <a:p>
            <a:pPr indent="0" marL="0">
              <a:buNone/>
            </a:pPr>
            <a:r>
              <a:rPr b="1" dirty="0" lang="en-US"/>
              <a:t>Adaboost Algorithm:</a:t>
            </a:r>
          </a:p>
          <a:p>
            <a:r>
              <a:rPr dirty="0" lang="en-US"/>
              <a:t>AdaBoost is a boosting algorithm used to construct a classifier. A classifier is a data mining tool that takes data predicts the class of the data based on inputs. </a:t>
            </a:r>
          </a:p>
          <a:p>
            <a:r>
              <a:rPr dirty="0" lang="en-US"/>
              <a:t>Boosting algorithm is an ensemble learning algorithm which runs multiple learning algorithms and combines them.</a:t>
            </a:r>
          </a:p>
          <a:p>
            <a:r>
              <a:rPr dirty="0" lang="en-US"/>
              <a:t>Boosting algorithms take a group of weak learners and combine them to make a single strong learner. </a:t>
            </a:r>
          </a:p>
          <a:p>
            <a:r>
              <a:rPr dirty="0" lang="en-US"/>
              <a:t>A weak learner classifies data with less accuracy. </a:t>
            </a:r>
          </a:p>
          <a:p>
            <a:r>
              <a:rPr lang="en-US"/>
              <a:t>The </a:t>
            </a:r>
            <a:r>
              <a:rPr dirty="0" lang="en-US"/>
              <a:t>best example of a weak algorithm is the decision stump algorithm which is basically a one-step decision </a:t>
            </a:r>
            <a:r>
              <a:rPr lang="en-US"/>
              <a:t>tree.</a:t>
            </a:r>
          </a:p>
          <a:p>
            <a:r>
              <a:rPr lang="en-US"/>
              <a:t> </a:t>
            </a:r>
            <a:r>
              <a:rPr dirty="0" lang="en-US"/>
              <a:t>Adaboost is perfect supervised learning as it works in iterations and in each iteration, it trains the weaker learners with the labelled dataset. Adaboost is a simple and pretty straightforward algorithm to implement. </a:t>
            </a:r>
          </a:p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Content Placeholder 2"/>
          <p:cNvSpPr>
            <a:spLocks noGrp="1"/>
          </p:cNvSpPr>
          <p:nvPr>
            <p:ph idx="1"/>
          </p:nvPr>
        </p:nvSpPr>
        <p:spPr>
          <a:xfrm>
            <a:off x="838200" y="112888"/>
            <a:ext cx="10515600" cy="6745111"/>
          </a:xfrm>
        </p:spPr>
        <p:txBody>
          <a:bodyPr/>
          <a:p>
            <a:endParaRPr dirty="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Presentation</dc:title>
  <dc:creator>BETTY</dc:creator>
  <cp:lastModifiedBy>BETTY</cp:lastModifiedBy>
  <dcterms:created xsi:type="dcterms:W3CDTF">2023-03-19T11:47:03Z</dcterms:created>
  <dcterms:modified xsi:type="dcterms:W3CDTF">2024-03-27T13:47:54Z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06a29f78ab7a4308962c5ba757fe604c</vt:lpwstr>
  </property>
</Properties>
</file>