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8F066-3C78-4A0B-8B7C-358680F0A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493A5-D836-41C0-A6C2-9CDF93217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121A7-B979-4C34-BAC7-997C9907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E374-E45A-4487-B7AC-5778B3BF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2F320-E53C-448B-84E0-90E76AEC9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82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B981-7418-459F-A532-261132EF4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F4690-5ECA-4AE3-A480-0580A691C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351CB-89AA-4D58-AC79-E5117AE8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63355-8E88-4C58-B83E-6D86044D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10C48-ED7E-44A2-93F4-641A609B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01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C095-D0EC-4566-B5D9-DAB15D33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DF7A7-69F8-4C7D-8E91-78D4627A1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6A8E3-91D3-4948-AEBB-4275C7B8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816F8-3B4D-4E56-9F29-83A9F7CA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01AE-15C0-4289-A018-F992A5310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39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6B21-F3A5-4454-8830-79CF7F7A5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6C55-F1DA-4738-86EE-628D7EB2B3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0471D-59D6-464A-AAAD-0E0EE108F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71921-3681-4E8C-80AE-553E294E3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2F911-80D4-4CA0-9676-3956DF48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78CA8-A68D-45A4-83A8-D19CBDEF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77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50E6-D7C9-4361-93AF-B4F5516F8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540B-14F0-4574-87B4-F3A93C2B7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1C7E3-9597-4AE9-A395-AD56E3B72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186167-2224-4A05-8946-830CBB2FC9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24536-CF35-4652-A32B-85ED9BF9E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041C4D-6E34-4CFC-A871-2B1F17F17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E4A373-712C-4D98-BBA3-CE27C2697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88C17B-A3F2-499C-9D2A-D0C5DC82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1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F6D11-A7EE-472E-81FE-2A11489F3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48F99-5A81-4F5A-A151-A7520CFD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2C8E1B-7DD7-483E-B357-79B4E927E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AF3B5-778F-45E0-9A66-7A0551B0F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5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16876B-FFB0-43C6-B9D3-8AE62CC75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600F39-30F3-4E13-8327-5177A398B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E3743-BE80-4E3F-A07C-D8207EB3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30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B2BE5-0FB8-46DE-BE5D-89C0FBAE6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B0F86-DC4D-445C-8E16-EDB60EC25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761FF-8EA0-41D7-882B-999110CF4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E0C680-8E1E-41C5-BC74-D2B06767E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614F6-EC56-4F81-9F73-A9E17FF34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7497A-C0CC-4730-AF6E-ABC1991C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22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45AB-0499-4F42-9B60-FFD73316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D87548-7A70-4B19-BB03-EC2693E0C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74D44-B024-4651-9A67-14345E70B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C9D0D-2E51-4E70-BA30-176875EF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6F254-D6F8-4718-8887-1F8CB28C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0C7A7-389E-4E22-B581-7F6D67CE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0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7FF8-0FF4-4A09-94DF-EFAC2319E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3D25A-EFA9-499A-94E1-ABDB29A35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69C58-6B4C-4FA0-B7CB-2F1C80B3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657CB-8425-48F6-9811-E67C71238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D0B2C-CF8C-4694-B972-9CC05204F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0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54C6C0-C2C9-4B42-AA39-D45DC8C6F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BB29C-1E3D-4C58-804C-E189794BC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21551-0F14-4CDD-AA1A-16B088BF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BFB71-8EA4-430D-BEB3-37BB660BC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2D70A-5DBD-4403-9C74-7D8C085D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445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1D0CD7-BDCB-48D1-96A5-59520F10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D14F-EE35-4198-B4E4-81A7814B1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D6A0-8387-47BC-ACE6-17C431BCBF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FB9E9-C597-412A-A63E-7DCB375860C3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C8E53-7008-4B18-85E8-886950E26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96AE7-7B47-46C9-B7B3-6051B31BD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73848-7343-41D8-896B-7551AC454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9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F5966-6B2F-4767-AC3D-053F37E28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00"/>
            <a:ext cx="10515600" cy="665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b="1" dirty="0"/>
              <a:t>Common algorithms used in data manipulation:</a:t>
            </a:r>
          </a:p>
          <a:p>
            <a:pPr marL="0" indent="0">
              <a:buNone/>
            </a:pPr>
            <a:r>
              <a:rPr lang="en-US" sz="3200" dirty="0"/>
              <a:t>There are many algorithms used for data manipulation, depending on the type of data and the specific task at hand. </a:t>
            </a:r>
          </a:p>
          <a:p>
            <a:pPr marL="0" indent="0">
              <a:buNone/>
            </a:pPr>
            <a:r>
              <a:rPr lang="en-US" sz="3200" dirty="0"/>
              <a:t>Here are some common algorithms used for data manipulation:</a:t>
            </a:r>
          </a:p>
          <a:p>
            <a:r>
              <a:rPr lang="en-US" sz="3200" b="1" dirty="0"/>
              <a:t>Sorting algorithms:</a:t>
            </a:r>
          </a:p>
          <a:p>
            <a:pPr marL="0" indent="0">
              <a:buNone/>
            </a:pPr>
            <a:r>
              <a:rPr lang="en-US" sz="3200" dirty="0"/>
              <a:t>These algorithms are used to </a:t>
            </a:r>
            <a:r>
              <a:rPr lang="en-US" sz="3200" b="1" dirty="0"/>
              <a:t>sort data in a specific order</a:t>
            </a:r>
            <a:r>
              <a:rPr lang="en-US" sz="3200" dirty="0"/>
              <a:t>, such as alphabetical or numerical. Common sorting algorithms include </a:t>
            </a:r>
            <a:r>
              <a:rPr lang="en-US" sz="3200" b="1" dirty="0"/>
              <a:t>bubble sort, merge sort, and quicksort</a:t>
            </a:r>
            <a:r>
              <a:rPr lang="en-US" sz="3200" dirty="0"/>
              <a:t>.</a:t>
            </a:r>
          </a:p>
          <a:p>
            <a:r>
              <a:rPr lang="en-US" sz="3200" b="1" dirty="0"/>
              <a:t>Filtering algorithms:</a:t>
            </a:r>
          </a:p>
          <a:p>
            <a:pPr marL="0" indent="0">
              <a:buNone/>
            </a:pPr>
            <a:r>
              <a:rPr lang="en-US" sz="3200" dirty="0"/>
              <a:t>These algorithms are </a:t>
            </a:r>
            <a:r>
              <a:rPr lang="en-US" sz="3200" b="1" dirty="0"/>
              <a:t>used to extract data based </a:t>
            </a:r>
            <a:r>
              <a:rPr lang="en-US" sz="3200" dirty="0"/>
              <a:t>on certain criteria, such as date range or specific keywords. Common filtering algorithms include </a:t>
            </a:r>
            <a:r>
              <a:rPr lang="en-US" sz="3200" b="1" dirty="0"/>
              <a:t>linear search and binary search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16785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9DA42-6D31-40B0-A1CB-2872EA29D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581423"/>
          </a:xfrm>
        </p:spPr>
        <p:txBody>
          <a:bodyPr/>
          <a:lstStyle/>
          <a:p>
            <a:r>
              <a:rPr lang="en-US" b="1" dirty="0"/>
              <a:t>Aggregation algorithms:</a:t>
            </a:r>
          </a:p>
          <a:p>
            <a:pPr marL="0" indent="0">
              <a:buNone/>
            </a:pPr>
            <a:r>
              <a:rPr lang="en-US" dirty="0"/>
              <a:t>These algorithms are </a:t>
            </a:r>
            <a:r>
              <a:rPr lang="en-US" b="1" dirty="0"/>
              <a:t>used to summarize data into groups or categories</a:t>
            </a:r>
            <a:r>
              <a:rPr lang="en-US" dirty="0"/>
              <a:t>, such as counting the number of occurrences of a particular value or finding the average of a set of numbers. Common </a:t>
            </a:r>
            <a:r>
              <a:rPr lang="en-US" b="1" dirty="0"/>
              <a:t>aggregation algorithms include sum, count, and average.</a:t>
            </a:r>
          </a:p>
          <a:p>
            <a:r>
              <a:rPr lang="en-US" b="1" dirty="0"/>
              <a:t>Join algorithms: </a:t>
            </a:r>
          </a:p>
          <a:p>
            <a:pPr marL="0" indent="0">
              <a:buNone/>
            </a:pPr>
            <a:r>
              <a:rPr lang="en-US" dirty="0"/>
              <a:t>These algorithms are </a:t>
            </a:r>
            <a:r>
              <a:rPr lang="en-US" b="1" dirty="0"/>
              <a:t>used to combine data from multiple sources </a:t>
            </a:r>
            <a:r>
              <a:rPr lang="en-US" dirty="0"/>
              <a:t>based on a common attribute or key. </a:t>
            </a:r>
            <a:r>
              <a:rPr lang="en-US" b="1" dirty="0"/>
              <a:t>Common join algorithms </a:t>
            </a:r>
            <a:r>
              <a:rPr lang="en-US" dirty="0"/>
              <a:t>include </a:t>
            </a:r>
            <a:r>
              <a:rPr lang="en-US" b="1" dirty="0"/>
              <a:t>inner join, outer join, and cross join.</a:t>
            </a:r>
          </a:p>
          <a:p>
            <a:r>
              <a:rPr lang="en-US" b="1" dirty="0"/>
              <a:t>Transformation algorithms:</a:t>
            </a:r>
          </a:p>
          <a:p>
            <a:pPr marL="0" indent="0">
              <a:buNone/>
            </a:pPr>
            <a:r>
              <a:rPr lang="en-US" dirty="0"/>
              <a:t>These algorithms are </a:t>
            </a:r>
            <a:r>
              <a:rPr lang="en-US" b="1" dirty="0"/>
              <a:t>used to convert data from one format to another</a:t>
            </a:r>
            <a:r>
              <a:rPr lang="en-US" dirty="0"/>
              <a:t>, such as converting a string to a date or a number to a percentage. Common transformation algorithms include </a:t>
            </a:r>
            <a:r>
              <a:rPr lang="en-US" b="1" dirty="0"/>
              <a:t>parsing and formatting.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389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84BCA-3277-4D01-BD03-76EB165F4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22"/>
            <a:ext cx="10515600" cy="6677378"/>
          </a:xfrm>
        </p:spPr>
        <p:txBody>
          <a:bodyPr/>
          <a:lstStyle/>
          <a:p>
            <a:r>
              <a:rPr lang="en-US" b="1" dirty="0"/>
              <a:t>Sampling algorithms: </a:t>
            </a:r>
          </a:p>
          <a:p>
            <a:pPr marL="0" indent="0">
              <a:buNone/>
            </a:pPr>
            <a:r>
              <a:rPr lang="en-US" dirty="0"/>
              <a:t>These algorithms are </a:t>
            </a:r>
            <a:r>
              <a:rPr lang="en-US" b="1" dirty="0"/>
              <a:t>used to extract a random subset of data </a:t>
            </a:r>
            <a:r>
              <a:rPr lang="en-US" dirty="0"/>
              <a:t>from a larger dataset, which can be useful for testing or analysis. Common sampling algorithms include </a:t>
            </a:r>
            <a:r>
              <a:rPr lang="en-US" b="1" dirty="0"/>
              <a:t>simple random sampling </a:t>
            </a:r>
            <a:r>
              <a:rPr lang="en-US" dirty="0"/>
              <a:t>and </a:t>
            </a:r>
            <a:r>
              <a:rPr lang="en-US" b="1" dirty="0"/>
              <a:t>stratified sampling.</a:t>
            </a:r>
          </a:p>
          <a:p>
            <a:r>
              <a:rPr lang="en-US" b="1" dirty="0"/>
              <a:t>Clustering algorithms:</a:t>
            </a:r>
          </a:p>
          <a:p>
            <a:pPr marL="0" indent="0">
              <a:buNone/>
            </a:pPr>
            <a:r>
              <a:rPr lang="en-US" dirty="0"/>
              <a:t>These algorithms are </a:t>
            </a:r>
            <a:r>
              <a:rPr lang="en-US" b="1" dirty="0"/>
              <a:t>used to group similar data points together </a:t>
            </a:r>
            <a:r>
              <a:rPr lang="en-US" dirty="0"/>
              <a:t>based on their characteristics, such as demographic information or user behavior. Common clustering algorithms include </a:t>
            </a:r>
            <a:r>
              <a:rPr lang="en-US" b="1" dirty="0"/>
              <a:t>k-means</a:t>
            </a:r>
            <a:r>
              <a:rPr lang="en-US" dirty="0"/>
              <a:t> and </a:t>
            </a:r>
            <a:r>
              <a:rPr lang="en-US" b="1" dirty="0"/>
              <a:t>hierarchical clustering.</a:t>
            </a:r>
          </a:p>
          <a:p>
            <a:r>
              <a:rPr lang="en-US" b="1" dirty="0"/>
              <a:t>Prediction algorithms:</a:t>
            </a:r>
          </a:p>
          <a:p>
            <a:pPr marL="0" indent="0">
              <a:buNone/>
            </a:pPr>
            <a:r>
              <a:rPr lang="en-US" dirty="0"/>
              <a:t>These algorithms are </a:t>
            </a:r>
            <a:r>
              <a:rPr lang="en-US" b="1" dirty="0"/>
              <a:t>used to make predictions based on patterns </a:t>
            </a:r>
            <a:r>
              <a:rPr lang="en-US" dirty="0"/>
              <a:t>in the data, such as </a:t>
            </a:r>
            <a:r>
              <a:rPr lang="en-US" b="1" dirty="0"/>
              <a:t>forecasting sales </a:t>
            </a:r>
            <a:r>
              <a:rPr lang="en-US" dirty="0"/>
              <a:t>or </a:t>
            </a:r>
            <a:r>
              <a:rPr lang="en-US" b="1" dirty="0"/>
              <a:t>predicting customer churn. </a:t>
            </a:r>
            <a:r>
              <a:rPr lang="en-US" dirty="0"/>
              <a:t>Common prediction algorithms include regression analysis and decision trees.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054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10319-7576-43D3-87B4-F5E6F4FC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00"/>
            <a:ext cx="10515600" cy="653626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Best, Worst and Average Cases of an Algorithm:</a:t>
            </a:r>
          </a:p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dirty="0"/>
              <a:t>best, worst, and average case </a:t>
            </a:r>
            <a:r>
              <a:rPr lang="en-US" sz="3200" dirty="0"/>
              <a:t>of an algorithm refer </a:t>
            </a:r>
            <a:r>
              <a:rPr lang="en-US" sz="3200" b="1" dirty="0"/>
              <a:t>to the different possible scenarios </a:t>
            </a:r>
            <a:r>
              <a:rPr lang="en-US" sz="3200" dirty="0"/>
              <a:t>of </a:t>
            </a:r>
            <a:r>
              <a:rPr lang="en-US" sz="3200" b="1" dirty="0"/>
              <a:t>input data </a:t>
            </a:r>
            <a:r>
              <a:rPr lang="en-US" sz="3200" dirty="0"/>
              <a:t>that the </a:t>
            </a:r>
            <a:r>
              <a:rPr lang="en-US" sz="3200" b="1" dirty="0"/>
              <a:t>algorithm might encounter and how the algorithm performs in each scenario.</a:t>
            </a:r>
          </a:p>
          <a:p>
            <a:r>
              <a:rPr lang="en-US" sz="3200" b="1" dirty="0"/>
              <a:t>Best Case:</a:t>
            </a:r>
          </a:p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dirty="0"/>
              <a:t>best case scenario </a:t>
            </a:r>
            <a:r>
              <a:rPr lang="en-US" sz="3200" dirty="0"/>
              <a:t>of </a:t>
            </a:r>
            <a:r>
              <a:rPr lang="en-US" sz="3200" b="1" dirty="0"/>
              <a:t>an algorithm </a:t>
            </a:r>
            <a:r>
              <a:rPr lang="en-US" sz="3200" dirty="0"/>
              <a:t>is when the input data is such that the </a:t>
            </a:r>
            <a:r>
              <a:rPr lang="en-US" sz="3200" b="1" dirty="0"/>
              <a:t>algorithm runs in the least amount of time </a:t>
            </a:r>
            <a:r>
              <a:rPr lang="en-US" sz="3200" dirty="0"/>
              <a:t>or </a:t>
            </a:r>
            <a:r>
              <a:rPr lang="en-US" sz="3200" b="1" dirty="0"/>
              <a:t>requires the least amount of resources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b="1" dirty="0"/>
              <a:t>For example</a:t>
            </a:r>
            <a:r>
              <a:rPr lang="en-US" sz="3200" dirty="0"/>
              <a:t>, the </a:t>
            </a:r>
            <a:r>
              <a:rPr lang="en-US" sz="3200" b="1" dirty="0"/>
              <a:t>best case for a sorting algorithm </a:t>
            </a:r>
            <a:r>
              <a:rPr lang="en-US" sz="3200" dirty="0"/>
              <a:t>would be when the </a:t>
            </a:r>
            <a:r>
              <a:rPr lang="en-US" sz="3200" b="1" dirty="0"/>
              <a:t>input data is already sorted</a:t>
            </a:r>
            <a:r>
              <a:rPr lang="en-US" sz="3200" dirty="0"/>
              <a:t>, so the algorithm would </a:t>
            </a:r>
            <a:r>
              <a:rPr lang="en-US" sz="3200" b="1" dirty="0"/>
              <a:t>simply need to verify that it is sorted and not </a:t>
            </a:r>
            <a:r>
              <a:rPr lang="en-US" sz="3200" dirty="0"/>
              <a:t>have </a:t>
            </a:r>
            <a:r>
              <a:rPr lang="en-US" sz="3200" b="1" dirty="0"/>
              <a:t>to perform </a:t>
            </a:r>
            <a:r>
              <a:rPr lang="en-US" sz="3200" dirty="0"/>
              <a:t>any </a:t>
            </a:r>
            <a:r>
              <a:rPr lang="en-US" sz="3200" b="1" dirty="0"/>
              <a:t>actual sorting </a:t>
            </a:r>
            <a:r>
              <a:rPr lang="en-US" sz="3200" dirty="0"/>
              <a:t>operations.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42747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96029-E6DA-46D1-8444-1EAFAC7D2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756400"/>
          </a:xfrm>
        </p:spPr>
        <p:txBody>
          <a:bodyPr>
            <a:normAutofit lnSpcReduction="10000"/>
          </a:bodyPr>
          <a:lstStyle/>
          <a:p>
            <a:r>
              <a:rPr lang="en-US" sz="3200" b="1" dirty="0"/>
              <a:t>Worst Case: </a:t>
            </a:r>
          </a:p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dirty="0"/>
              <a:t>worst-case scenario </a:t>
            </a:r>
            <a:r>
              <a:rPr lang="en-US" sz="3200" dirty="0"/>
              <a:t>of an algorithm </a:t>
            </a:r>
            <a:r>
              <a:rPr lang="en-US" sz="3200" b="1" dirty="0"/>
              <a:t>is when </a:t>
            </a:r>
            <a:r>
              <a:rPr lang="en-US" sz="3200" dirty="0"/>
              <a:t>the input data is such that </a:t>
            </a:r>
            <a:r>
              <a:rPr lang="en-US" sz="3200" b="1" dirty="0"/>
              <a:t>the algorithm runs in the maximum amount of time </a:t>
            </a:r>
            <a:r>
              <a:rPr lang="en-US" sz="3200" dirty="0"/>
              <a:t>or </a:t>
            </a:r>
            <a:r>
              <a:rPr lang="en-US" sz="3200" b="1" dirty="0"/>
              <a:t>requires the maximum amount of resources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b="1" dirty="0"/>
              <a:t>For example</a:t>
            </a:r>
            <a:r>
              <a:rPr lang="en-US" sz="3200" dirty="0"/>
              <a:t>, the </a:t>
            </a:r>
            <a:r>
              <a:rPr lang="en-US" sz="3200" b="1" dirty="0"/>
              <a:t>worst case for a sorting algorithm </a:t>
            </a:r>
            <a:r>
              <a:rPr lang="en-US" sz="3200" dirty="0"/>
              <a:t>would be when the </a:t>
            </a:r>
            <a:r>
              <a:rPr lang="en-US" sz="3200" b="1" dirty="0"/>
              <a:t>input data is in reverse order</a:t>
            </a:r>
            <a:r>
              <a:rPr lang="en-US" sz="3200" dirty="0"/>
              <a:t>, so the </a:t>
            </a:r>
            <a:r>
              <a:rPr lang="en-US" sz="3200" b="1" dirty="0"/>
              <a:t>algorithm would have to perform the maximum number of sorting operations</a:t>
            </a:r>
            <a:r>
              <a:rPr lang="en-US" sz="3200" dirty="0"/>
              <a:t>.</a:t>
            </a:r>
          </a:p>
          <a:p>
            <a:r>
              <a:rPr lang="en-US" sz="3200" b="1" dirty="0"/>
              <a:t>Average Case:</a:t>
            </a:r>
          </a:p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dirty="0"/>
              <a:t>average-case scenario </a:t>
            </a:r>
            <a:r>
              <a:rPr lang="en-US" sz="3200" dirty="0"/>
              <a:t>of an </a:t>
            </a:r>
            <a:r>
              <a:rPr lang="en-US" sz="3200" b="1" dirty="0"/>
              <a:t>algorithm is when </a:t>
            </a:r>
            <a:r>
              <a:rPr lang="en-US" sz="3200" dirty="0"/>
              <a:t>the input data is such that the </a:t>
            </a:r>
            <a:r>
              <a:rPr lang="en-US" sz="3200" b="1" dirty="0"/>
              <a:t>algorithm runs in an average amount of time </a:t>
            </a:r>
            <a:r>
              <a:rPr lang="en-US" sz="3200" dirty="0"/>
              <a:t>or r</a:t>
            </a:r>
            <a:r>
              <a:rPr lang="en-US" sz="3200" b="1" dirty="0"/>
              <a:t>equires an average amount of resources.</a:t>
            </a:r>
            <a:r>
              <a:rPr lang="en-US" sz="3200" dirty="0"/>
              <a:t> </a:t>
            </a:r>
          </a:p>
          <a:p>
            <a:pPr marL="0" indent="0">
              <a:buNone/>
            </a:pPr>
            <a:r>
              <a:rPr lang="en-US" sz="3200" dirty="0"/>
              <a:t>This scenario is often </a:t>
            </a:r>
            <a:r>
              <a:rPr lang="en-US" sz="3200" b="1" dirty="0"/>
              <a:t>calculated as an average </a:t>
            </a:r>
            <a:r>
              <a:rPr lang="en-US" sz="3200" dirty="0"/>
              <a:t>of many possible scenarios of input data.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964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72BA8-F8AE-4386-924D-A5A36D643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711244"/>
          </a:xfrm>
        </p:spPr>
        <p:txBody>
          <a:bodyPr/>
          <a:lstStyle/>
          <a:p>
            <a:r>
              <a:rPr lang="en-US" sz="3600" dirty="0"/>
              <a:t>It's important to consider the </a:t>
            </a:r>
            <a:r>
              <a:rPr lang="en-US" sz="3600" b="1" dirty="0"/>
              <a:t>best, worst, and average </a:t>
            </a:r>
            <a:r>
              <a:rPr lang="en-US" sz="3600" dirty="0"/>
              <a:t>case of an algorithm </a:t>
            </a:r>
            <a:r>
              <a:rPr lang="en-US" sz="3600" b="1" dirty="0"/>
              <a:t>because it can help in understanding how the algorithm will perform in different scenarios and make decisions based on that understanding.</a:t>
            </a:r>
            <a:r>
              <a:rPr lang="en-US" sz="3600" dirty="0"/>
              <a:t> </a:t>
            </a:r>
          </a:p>
          <a:p>
            <a:r>
              <a:rPr lang="en-US" sz="3600" b="1" dirty="0"/>
              <a:t>For example</a:t>
            </a:r>
            <a:r>
              <a:rPr lang="en-US" sz="3600" dirty="0"/>
              <a:t>, if an </a:t>
            </a:r>
            <a:r>
              <a:rPr lang="en-US" sz="3600" b="1" dirty="0"/>
              <a:t>algorithm's worst </a:t>
            </a:r>
            <a:r>
              <a:rPr lang="en-US" sz="3600" dirty="0"/>
              <a:t>case scenario is </a:t>
            </a:r>
            <a:r>
              <a:rPr lang="en-US" sz="3600" b="1" dirty="0"/>
              <a:t>too slow</a:t>
            </a:r>
            <a:r>
              <a:rPr lang="en-US" sz="3600" dirty="0"/>
              <a:t>, it might </a:t>
            </a:r>
            <a:r>
              <a:rPr lang="en-US" sz="3600" b="1" dirty="0"/>
              <a:t>not be suitable for certain applications</a:t>
            </a:r>
            <a:r>
              <a:rPr lang="en-US" sz="3600" dirty="0"/>
              <a:t>, and a </a:t>
            </a:r>
            <a:r>
              <a:rPr lang="en-US" sz="3600" b="1" dirty="0"/>
              <a:t>different algorithm might be a better choice</a:t>
            </a:r>
            <a:r>
              <a:rPr lang="en-US" sz="3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27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948C4-FB79-4D93-A255-E8C81A55B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5362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A faster computer or a faster algorithm?</a:t>
            </a:r>
          </a:p>
          <a:p>
            <a:r>
              <a:rPr lang="en-US" sz="3600" dirty="0"/>
              <a:t>When it comes to </a:t>
            </a:r>
            <a:r>
              <a:rPr lang="en-US" sz="3600" b="1" dirty="0"/>
              <a:t>improving the performance of a computer program</a:t>
            </a:r>
            <a:r>
              <a:rPr lang="en-US" sz="3600" dirty="0"/>
              <a:t>, </a:t>
            </a:r>
            <a:r>
              <a:rPr lang="en-US" sz="3600" b="1" dirty="0"/>
              <a:t>both a faster computer and a faster algorithm can play a role, </a:t>
            </a:r>
            <a:r>
              <a:rPr lang="en-US" sz="3600" dirty="0"/>
              <a:t>but the impact of each can be quite different.</a:t>
            </a:r>
          </a:p>
          <a:p>
            <a:r>
              <a:rPr lang="en-US" sz="3600" b="1" dirty="0"/>
              <a:t>A faster computer can help improve program performance </a:t>
            </a:r>
            <a:r>
              <a:rPr lang="en-US" sz="3600" dirty="0"/>
              <a:t>by </a:t>
            </a:r>
            <a:r>
              <a:rPr lang="en-US" sz="3600" b="1" dirty="0"/>
              <a:t>executing the same code more quickly</a:t>
            </a:r>
            <a:r>
              <a:rPr lang="en-US" sz="3600" dirty="0"/>
              <a:t>.</a:t>
            </a:r>
          </a:p>
          <a:p>
            <a:r>
              <a:rPr lang="en-US" sz="3600" dirty="0"/>
              <a:t>However, this </a:t>
            </a:r>
            <a:r>
              <a:rPr lang="en-US" sz="3600" b="1" dirty="0"/>
              <a:t>improvement </a:t>
            </a:r>
            <a:r>
              <a:rPr lang="en-US" sz="3600" dirty="0"/>
              <a:t>is often </a:t>
            </a:r>
            <a:r>
              <a:rPr lang="en-US" sz="3600" b="1" dirty="0"/>
              <a:t>limited by the inherent complexity </a:t>
            </a:r>
            <a:r>
              <a:rPr lang="en-US" sz="3600" dirty="0"/>
              <a:t>of the </a:t>
            </a:r>
            <a:r>
              <a:rPr lang="en-US" sz="3600" b="1" dirty="0"/>
              <a:t>algorithm itself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02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1C944-1BE0-410C-9CF7-0DFA44333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592711"/>
          </a:xfrm>
        </p:spPr>
        <p:txBody>
          <a:bodyPr>
            <a:normAutofit/>
          </a:bodyPr>
          <a:lstStyle/>
          <a:p>
            <a:r>
              <a:rPr lang="en-US" sz="3600" b="1" dirty="0"/>
              <a:t>For example</a:t>
            </a:r>
            <a:r>
              <a:rPr lang="en-US" sz="3600" dirty="0"/>
              <a:t>, if the </a:t>
            </a:r>
            <a:r>
              <a:rPr lang="en-US" sz="3600" b="1" dirty="0"/>
              <a:t>algorithm requires a large number of calculations </a:t>
            </a:r>
            <a:r>
              <a:rPr lang="en-US" sz="3600" dirty="0"/>
              <a:t>or a </a:t>
            </a:r>
            <a:r>
              <a:rPr lang="en-US" sz="3600" b="1" dirty="0"/>
              <a:t>significant amount of data access</a:t>
            </a:r>
            <a:r>
              <a:rPr lang="en-US" sz="3600" dirty="0"/>
              <a:t>, a </a:t>
            </a:r>
            <a:r>
              <a:rPr lang="en-US" sz="3600" b="1" dirty="0"/>
              <a:t>faster computer </a:t>
            </a:r>
            <a:r>
              <a:rPr lang="en-US" sz="3600" dirty="0"/>
              <a:t>may not </a:t>
            </a:r>
            <a:r>
              <a:rPr lang="en-US" sz="3600" b="1" dirty="0"/>
              <a:t>result in a significant speed improvement</a:t>
            </a:r>
            <a:r>
              <a:rPr lang="en-US" sz="3600" dirty="0"/>
              <a:t>.</a:t>
            </a:r>
          </a:p>
          <a:p>
            <a:r>
              <a:rPr lang="en-US" sz="3600" dirty="0"/>
              <a:t>On the other hand, </a:t>
            </a:r>
            <a:r>
              <a:rPr lang="en-US" sz="3600" b="1" dirty="0"/>
              <a:t>a faster algorithm can significantly improve program performance by reducing the amount of computation or data access required.</a:t>
            </a:r>
            <a:r>
              <a:rPr lang="en-US" sz="3600" dirty="0"/>
              <a:t> </a:t>
            </a:r>
          </a:p>
          <a:p>
            <a:r>
              <a:rPr lang="en-US" sz="3600" b="1" dirty="0"/>
              <a:t>A more efficient algorithm </a:t>
            </a:r>
            <a:r>
              <a:rPr lang="en-US" sz="3600" dirty="0"/>
              <a:t>may be able </a:t>
            </a:r>
            <a:r>
              <a:rPr lang="en-US" sz="3600" b="1" dirty="0"/>
              <a:t>to solve a problem </a:t>
            </a:r>
            <a:r>
              <a:rPr lang="en-US" sz="3600" dirty="0"/>
              <a:t>using </a:t>
            </a:r>
            <a:r>
              <a:rPr lang="en-US" sz="3600" b="1" dirty="0"/>
              <a:t>fewer steps or less memory</a:t>
            </a:r>
            <a:r>
              <a:rPr lang="en-US" sz="3600" dirty="0"/>
              <a:t>, leading </a:t>
            </a:r>
            <a:r>
              <a:rPr lang="en-US" sz="3600" b="1" dirty="0"/>
              <a:t>to faster execution times </a:t>
            </a:r>
            <a:r>
              <a:rPr lang="en-US" sz="3600" dirty="0"/>
              <a:t>even on </a:t>
            </a:r>
            <a:r>
              <a:rPr lang="en-US" sz="3600" b="1" dirty="0"/>
              <a:t>slower computers.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13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0F659-9B70-4727-B39B-F9FE81A04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615289"/>
          </a:xfrm>
        </p:spPr>
        <p:txBody>
          <a:bodyPr/>
          <a:lstStyle/>
          <a:p>
            <a:r>
              <a:rPr lang="en-US" sz="3600" dirty="0"/>
              <a:t>In general, </a:t>
            </a:r>
            <a:r>
              <a:rPr lang="en-US" sz="3600" b="1" dirty="0"/>
              <a:t>improving the algorithm </a:t>
            </a:r>
            <a:r>
              <a:rPr lang="en-US" sz="3600" dirty="0"/>
              <a:t>is </a:t>
            </a:r>
            <a:r>
              <a:rPr lang="en-US" sz="3600" b="1" dirty="0"/>
              <a:t>often the more effective </a:t>
            </a:r>
            <a:r>
              <a:rPr lang="en-US" sz="3600" dirty="0"/>
              <a:t>way </a:t>
            </a:r>
            <a:r>
              <a:rPr lang="en-US" sz="3600" b="1" dirty="0"/>
              <a:t>to improve program performance</a:t>
            </a:r>
            <a:r>
              <a:rPr lang="en-US" sz="3600" dirty="0"/>
              <a:t>, as it </a:t>
            </a:r>
            <a:r>
              <a:rPr lang="en-US" sz="3600" b="1" dirty="0"/>
              <a:t>can result in larger performance gains</a:t>
            </a:r>
            <a:r>
              <a:rPr lang="en-US" sz="3600" dirty="0"/>
              <a:t> than simply </a:t>
            </a:r>
            <a:r>
              <a:rPr lang="en-US" sz="3600" b="1" dirty="0"/>
              <a:t>upgrading the hardware</a:t>
            </a:r>
            <a:r>
              <a:rPr lang="en-US" sz="3600" dirty="0"/>
              <a:t>. </a:t>
            </a:r>
          </a:p>
          <a:p>
            <a:r>
              <a:rPr lang="en-US" sz="3600" dirty="0"/>
              <a:t>However, there may be cases where </a:t>
            </a:r>
            <a:r>
              <a:rPr lang="en-US" sz="3600" b="1" dirty="0"/>
              <a:t>hardware limitations </a:t>
            </a:r>
            <a:r>
              <a:rPr lang="en-US" sz="3600" dirty="0"/>
              <a:t>are the </a:t>
            </a:r>
            <a:r>
              <a:rPr lang="en-US" sz="3600" b="1" dirty="0"/>
              <a:t>bottleneck, and upgrading the computer </a:t>
            </a:r>
            <a:r>
              <a:rPr lang="en-US" sz="3600" dirty="0"/>
              <a:t>can be a </a:t>
            </a:r>
            <a:r>
              <a:rPr lang="en-US" sz="3600" b="1" dirty="0"/>
              <a:t>more practical solution.</a:t>
            </a:r>
          </a:p>
          <a:p>
            <a:r>
              <a:rPr lang="en-US" sz="3600" dirty="0"/>
              <a:t>Ultimately, the </a:t>
            </a:r>
            <a:r>
              <a:rPr lang="en-US" sz="3600" b="1" dirty="0"/>
              <a:t>best approach will depend on the specific situation</a:t>
            </a:r>
            <a:r>
              <a:rPr lang="en-US" sz="3600" dirty="0"/>
              <a:t>, including the </a:t>
            </a:r>
            <a:r>
              <a:rPr lang="en-US" sz="3600" b="1" dirty="0"/>
              <a:t>characteristics of the program</a:t>
            </a:r>
            <a:r>
              <a:rPr lang="en-US" sz="3600" dirty="0"/>
              <a:t>, the </a:t>
            </a:r>
            <a:r>
              <a:rPr lang="en-US" sz="3600" b="1" dirty="0"/>
              <a:t>available hardware</a:t>
            </a:r>
            <a:r>
              <a:rPr lang="en-US" sz="3600" dirty="0"/>
              <a:t>, and the </a:t>
            </a:r>
            <a:r>
              <a:rPr lang="en-US" sz="3600" b="1" dirty="0"/>
              <a:t>performance requirements of the application</a:t>
            </a:r>
            <a:r>
              <a:rPr lang="en-US" sz="3600" dirty="0"/>
              <a:t>.</a:t>
            </a:r>
            <a:endParaRPr lang="en-US" sz="36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839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54889-977A-4B76-9720-EAA8118C3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32"/>
            <a:ext cx="10515600" cy="68410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Asymptotic analysis:</a:t>
            </a:r>
          </a:p>
          <a:p>
            <a:pPr marL="0" indent="0">
              <a:buNone/>
            </a:pPr>
            <a:r>
              <a:rPr lang="en-US" sz="3200" b="1" dirty="0"/>
              <a:t>Asymptotic analysis </a:t>
            </a:r>
            <a:r>
              <a:rPr lang="en-US" sz="3200" dirty="0"/>
              <a:t>is a </a:t>
            </a:r>
            <a:r>
              <a:rPr lang="en-US" sz="3200" b="1" dirty="0"/>
              <a:t>technique used</a:t>
            </a:r>
            <a:r>
              <a:rPr lang="en-US" sz="3200" dirty="0"/>
              <a:t> in computer science and mathematics </a:t>
            </a:r>
            <a:r>
              <a:rPr lang="en-US" sz="3200" b="1" dirty="0"/>
              <a:t>to analyze the performance of algorithms </a:t>
            </a:r>
            <a:r>
              <a:rPr lang="en-US" sz="3200" dirty="0"/>
              <a:t>in </a:t>
            </a:r>
            <a:r>
              <a:rPr lang="en-US" sz="3200" b="1" dirty="0"/>
              <a:t>terms of their running time and space complexity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b="1" dirty="0"/>
              <a:t>The goal of asymptotic analysis </a:t>
            </a:r>
            <a:r>
              <a:rPr lang="en-US" sz="3200" dirty="0"/>
              <a:t>is </a:t>
            </a:r>
            <a:r>
              <a:rPr lang="en-US" sz="3200" b="1" dirty="0"/>
              <a:t>to understand how the performance </a:t>
            </a:r>
            <a:r>
              <a:rPr lang="en-US" sz="3200" dirty="0"/>
              <a:t>of </a:t>
            </a:r>
            <a:r>
              <a:rPr lang="en-US" sz="3200" b="1" dirty="0"/>
              <a:t>an algorithm changes </a:t>
            </a:r>
            <a:r>
              <a:rPr lang="en-US" sz="3200" dirty="0"/>
              <a:t>as the </a:t>
            </a:r>
            <a:r>
              <a:rPr lang="en-US" sz="3200" b="1" dirty="0"/>
              <a:t>input size grows towards infinity.</a:t>
            </a:r>
          </a:p>
          <a:p>
            <a:pPr marL="0" indent="0">
              <a:buNone/>
            </a:pPr>
            <a:r>
              <a:rPr lang="en-US" sz="3200" b="1" dirty="0"/>
              <a:t>Asymptotic analysis involves analyzing </a:t>
            </a:r>
            <a:r>
              <a:rPr lang="en-US" sz="3200" dirty="0"/>
              <a:t>the </a:t>
            </a:r>
            <a:r>
              <a:rPr lang="en-US" sz="3200" b="1" dirty="0">
                <a:solidFill>
                  <a:srgbClr val="FF0000"/>
                </a:solidFill>
              </a:rPr>
              <a:t>upper and lower bounds </a:t>
            </a:r>
            <a:r>
              <a:rPr lang="en-US" sz="3200" dirty="0"/>
              <a:t>of </a:t>
            </a:r>
            <a:r>
              <a:rPr lang="en-US" sz="3200" b="1" dirty="0"/>
              <a:t>an algorithm's </a:t>
            </a:r>
            <a:r>
              <a:rPr lang="en-US" sz="3200" b="1" dirty="0">
                <a:solidFill>
                  <a:srgbClr val="FF0000"/>
                </a:solidFill>
              </a:rPr>
              <a:t>running time or space complexity</a:t>
            </a:r>
            <a:r>
              <a:rPr lang="en-US" sz="3200" dirty="0"/>
              <a:t>, </a:t>
            </a:r>
            <a:r>
              <a:rPr lang="en-US" sz="3200" b="1" dirty="0"/>
              <a:t>denoted by </a:t>
            </a:r>
            <a:r>
              <a:rPr lang="en-US" sz="3200" b="1" dirty="0">
                <a:solidFill>
                  <a:srgbClr val="FF0000"/>
                </a:solidFill>
              </a:rPr>
              <a:t>O(), Ω(), and Θ() </a:t>
            </a:r>
            <a:r>
              <a:rPr lang="en-US" sz="3200" b="1" dirty="0"/>
              <a:t>notations.</a:t>
            </a:r>
          </a:p>
          <a:p>
            <a:pPr marL="0" indent="0">
              <a:buNone/>
            </a:pPr>
            <a:r>
              <a:rPr lang="en-US" sz="3200" b="1" dirty="0"/>
              <a:t> </a:t>
            </a:r>
            <a:r>
              <a:rPr lang="en-US" sz="3200" dirty="0"/>
              <a:t>These </a:t>
            </a:r>
            <a:r>
              <a:rPr lang="en-US" sz="3200" b="1" dirty="0"/>
              <a:t>notations provide an estimate of how an algorithm's performance changes as the input size grows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sz="32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106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7C735-5702-4377-9991-1D7AACF7E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711244"/>
          </a:xfrm>
        </p:spPr>
        <p:txBody>
          <a:bodyPr>
            <a:normAutofit/>
          </a:bodyPr>
          <a:lstStyle/>
          <a:p>
            <a:r>
              <a:rPr lang="en-US" sz="3600" dirty="0"/>
              <a:t>The </a:t>
            </a:r>
            <a:r>
              <a:rPr lang="en-US" sz="3600" b="1" dirty="0">
                <a:solidFill>
                  <a:srgbClr val="FF0000"/>
                </a:solidFill>
              </a:rPr>
              <a:t>O() notation </a:t>
            </a:r>
            <a:r>
              <a:rPr lang="en-US" sz="3600" b="1" dirty="0"/>
              <a:t>represents the </a:t>
            </a:r>
            <a:r>
              <a:rPr lang="en-US" sz="3600" b="1" dirty="0">
                <a:solidFill>
                  <a:srgbClr val="FF0000"/>
                </a:solidFill>
              </a:rPr>
              <a:t>upper bound </a:t>
            </a:r>
            <a:r>
              <a:rPr lang="en-US" sz="3600" dirty="0"/>
              <a:t>of an algorithm's </a:t>
            </a:r>
            <a:r>
              <a:rPr lang="en-US" sz="3600" b="1" dirty="0"/>
              <a:t>running time or space complexity</a:t>
            </a:r>
            <a:r>
              <a:rPr lang="en-US" sz="3600" dirty="0"/>
              <a:t>. </a:t>
            </a:r>
          </a:p>
          <a:p>
            <a:r>
              <a:rPr lang="en-US" sz="3600" dirty="0"/>
              <a:t>It </a:t>
            </a:r>
            <a:r>
              <a:rPr lang="en-US" sz="3600" b="1" dirty="0"/>
              <a:t>gives</a:t>
            </a:r>
            <a:r>
              <a:rPr lang="en-US" sz="3600" dirty="0"/>
              <a:t> an </a:t>
            </a:r>
            <a:r>
              <a:rPr lang="en-US" sz="3600" b="1" dirty="0"/>
              <a:t>estimate of the worst-case scenario </a:t>
            </a:r>
            <a:r>
              <a:rPr lang="en-US" sz="3600" dirty="0"/>
              <a:t>for the algorithm's </a:t>
            </a:r>
            <a:r>
              <a:rPr lang="en-US" sz="3600" b="1" dirty="0"/>
              <a:t>performance,</a:t>
            </a:r>
            <a:r>
              <a:rPr lang="en-US" sz="3600" dirty="0"/>
              <a:t> which </a:t>
            </a:r>
            <a:r>
              <a:rPr lang="en-US" sz="3600" b="1" dirty="0"/>
              <a:t>means that the actual running time or space complexity will not exceed this bound.</a:t>
            </a:r>
          </a:p>
          <a:p>
            <a:r>
              <a:rPr lang="en-US" sz="3600" dirty="0"/>
              <a:t>The </a:t>
            </a:r>
            <a:r>
              <a:rPr lang="en-US" sz="3600" b="1" dirty="0">
                <a:solidFill>
                  <a:srgbClr val="FF0000"/>
                </a:solidFill>
              </a:rPr>
              <a:t>Ω() notation </a:t>
            </a:r>
            <a:r>
              <a:rPr lang="en-US" sz="3600" b="1" dirty="0"/>
              <a:t>represents the </a:t>
            </a:r>
            <a:r>
              <a:rPr lang="en-US" sz="3600" b="1" dirty="0">
                <a:solidFill>
                  <a:srgbClr val="FF0000"/>
                </a:solidFill>
              </a:rPr>
              <a:t>lower bound </a:t>
            </a:r>
            <a:r>
              <a:rPr lang="en-US" sz="3600" dirty="0"/>
              <a:t>of an algorithm's </a:t>
            </a:r>
            <a:r>
              <a:rPr lang="en-US" sz="3600" b="1" dirty="0"/>
              <a:t>running time or space complexity</a:t>
            </a:r>
            <a:r>
              <a:rPr lang="en-US" sz="3600" dirty="0"/>
              <a:t>.</a:t>
            </a:r>
          </a:p>
          <a:p>
            <a:r>
              <a:rPr lang="en-US" sz="3600" dirty="0"/>
              <a:t> It </a:t>
            </a:r>
            <a:r>
              <a:rPr lang="en-US" sz="3600" b="1" dirty="0"/>
              <a:t>gives</a:t>
            </a:r>
            <a:r>
              <a:rPr lang="en-US" sz="3600" dirty="0"/>
              <a:t> an </a:t>
            </a:r>
            <a:r>
              <a:rPr lang="en-US" sz="3600" b="1" dirty="0"/>
              <a:t>estimate of the best-case scenario </a:t>
            </a:r>
            <a:r>
              <a:rPr lang="en-US" sz="3600" dirty="0"/>
              <a:t>for the algorithm's </a:t>
            </a:r>
            <a:r>
              <a:rPr lang="en-US" sz="3600" b="1" dirty="0"/>
              <a:t>performance,</a:t>
            </a:r>
            <a:r>
              <a:rPr lang="en-US" sz="3600" dirty="0"/>
              <a:t> which </a:t>
            </a:r>
            <a:r>
              <a:rPr lang="en-US" sz="3600" b="1" dirty="0"/>
              <a:t>means that the actual running time or space complexity will not be lower than this bound.</a:t>
            </a:r>
          </a:p>
        </p:txBody>
      </p:sp>
    </p:spTree>
    <p:extLst>
      <p:ext uri="{BB962C8B-B14F-4D97-AF65-F5344CB8AC3E}">
        <p14:creationId xmlns:p14="http://schemas.microsoft.com/office/powerpoint/2010/main" val="3118707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ADB18-98B7-42CB-8CE9-A15331128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626578"/>
          </a:xfrm>
        </p:spPr>
        <p:txBody>
          <a:bodyPr>
            <a:normAutofit lnSpcReduction="10000"/>
          </a:bodyPr>
          <a:lstStyle/>
          <a:p>
            <a:r>
              <a:rPr lang="en-US" sz="3600" b="1" dirty="0"/>
              <a:t>The </a:t>
            </a:r>
            <a:r>
              <a:rPr lang="en-US" sz="3600" b="1" dirty="0">
                <a:solidFill>
                  <a:srgbClr val="FF0000"/>
                </a:solidFill>
              </a:rPr>
              <a:t>Θ() notation </a:t>
            </a:r>
            <a:r>
              <a:rPr lang="en-US" sz="3600" b="1" dirty="0"/>
              <a:t>represents the </a:t>
            </a:r>
            <a:r>
              <a:rPr lang="en-US" sz="3600" b="1" dirty="0">
                <a:solidFill>
                  <a:srgbClr val="FF0000"/>
                </a:solidFill>
              </a:rPr>
              <a:t>tight bound </a:t>
            </a:r>
            <a:r>
              <a:rPr lang="en-US" sz="3600" b="1" dirty="0"/>
              <a:t>of an algorithm's running time or space complexity.</a:t>
            </a:r>
            <a:r>
              <a:rPr lang="en-US" sz="3600" dirty="0"/>
              <a:t> </a:t>
            </a:r>
          </a:p>
          <a:p>
            <a:r>
              <a:rPr lang="en-US" sz="3600" dirty="0"/>
              <a:t>It </a:t>
            </a:r>
            <a:r>
              <a:rPr lang="en-US" sz="3600" b="1" dirty="0"/>
              <a:t>gives</a:t>
            </a:r>
            <a:r>
              <a:rPr lang="en-US" sz="3600" dirty="0"/>
              <a:t> an </a:t>
            </a:r>
            <a:r>
              <a:rPr lang="en-US" sz="3600" b="1" dirty="0"/>
              <a:t>estimate of both </a:t>
            </a:r>
            <a:r>
              <a:rPr lang="en-US" sz="3600" b="1" dirty="0">
                <a:solidFill>
                  <a:srgbClr val="FF0000"/>
                </a:solidFill>
              </a:rPr>
              <a:t>the upper and lower bounds </a:t>
            </a:r>
            <a:r>
              <a:rPr lang="en-US" sz="3600" dirty="0"/>
              <a:t>of the algorithm's </a:t>
            </a:r>
            <a:r>
              <a:rPr lang="en-US" sz="3600" b="1" dirty="0"/>
              <a:t>performance</a:t>
            </a:r>
            <a:r>
              <a:rPr lang="en-US" sz="3600" dirty="0"/>
              <a:t>, which </a:t>
            </a:r>
            <a:r>
              <a:rPr lang="en-US" sz="3600" b="1" dirty="0"/>
              <a:t>means that the actual running time or space complexity will be between these two bounds.</a:t>
            </a:r>
          </a:p>
          <a:p>
            <a:r>
              <a:rPr lang="en-US" sz="3600" dirty="0"/>
              <a:t>Asymptotic analysis is </a:t>
            </a:r>
            <a:r>
              <a:rPr lang="en-US" sz="3600" b="1" dirty="0"/>
              <a:t>useful for comparing the performance </a:t>
            </a:r>
            <a:r>
              <a:rPr lang="en-US" sz="3600" dirty="0"/>
              <a:t>of </a:t>
            </a:r>
            <a:r>
              <a:rPr lang="en-US" sz="3600" b="1" dirty="0"/>
              <a:t>different algorithms and selecting the most efficient one </a:t>
            </a:r>
            <a:r>
              <a:rPr lang="en-US" sz="3600" dirty="0"/>
              <a:t>for </a:t>
            </a:r>
            <a:r>
              <a:rPr lang="en-US" sz="3600" b="1" dirty="0"/>
              <a:t>a given problem.</a:t>
            </a:r>
          </a:p>
          <a:p>
            <a:r>
              <a:rPr lang="en-US" sz="3600" b="1" dirty="0"/>
              <a:t> </a:t>
            </a:r>
            <a:r>
              <a:rPr lang="en-US" sz="3600" dirty="0"/>
              <a:t>It is also </a:t>
            </a:r>
            <a:r>
              <a:rPr lang="en-US" sz="3600" b="1" dirty="0"/>
              <a:t>useful for understanding how an algorithm's performance changes as the input size grows</a:t>
            </a:r>
            <a:r>
              <a:rPr lang="en-US" sz="3600" dirty="0"/>
              <a:t>, which can </a:t>
            </a:r>
            <a:r>
              <a:rPr lang="en-US" sz="3600" b="1" dirty="0"/>
              <a:t>help identify potential scalability issues.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83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5993B-58CB-44A8-A783-82ED57569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59271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Simplifying rules:</a:t>
            </a:r>
          </a:p>
          <a:p>
            <a:pPr marL="0" indent="0">
              <a:buNone/>
            </a:pPr>
            <a:r>
              <a:rPr lang="en-US" sz="3200" b="1" dirty="0"/>
              <a:t>Simplifying rules </a:t>
            </a:r>
            <a:r>
              <a:rPr lang="en-US" sz="3200" dirty="0"/>
              <a:t>of an algorithm </a:t>
            </a:r>
            <a:r>
              <a:rPr lang="en-US" sz="3200" b="1" dirty="0"/>
              <a:t>involves reducing the complexity </a:t>
            </a:r>
            <a:r>
              <a:rPr lang="en-US" sz="3200" dirty="0"/>
              <a:t>and </a:t>
            </a:r>
            <a:r>
              <a:rPr lang="en-US" sz="3200" b="1" dirty="0"/>
              <a:t>increasing the clarity </a:t>
            </a:r>
            <a:r>
              <a:rPr lang="en-US" sz="3200" dirty="0"/>
              <a:t>of the </a:t>
            </a:r>
            <a:r>
              <a:rPr lang="en-US" sz="3200" b="1" dirty="0"/>
              <a:t>steps required to solve a particular problem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This can be </a:t>
            </a:r>
            <a:r>
              <a:rPr lang="en-US" sz="3200" b="1" dirty="0"/>
              <a:t>achieved in the following ways</a:t>
            </a:r>
            <a:r>
              <a:rPr lang="en-US" sz="3200" dirty="0"/>
              <a:t>: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Remove unnecessary steps: </a:t>
            </a:r>
          </a:p>
          <a:p>
            <a:pPr marL="0" indent="0">
              <a:buNone/>
            </a:pPr>
            <a:r>
              <a:rPr lang="en-US" sz="3200" b="1" dirty="0"/>
              <a:t>Review </a:t>
            </a:r>
            <a:r>
              <a:rPr lang="en-US" sz="3200" dirty="0"/>
              <a:t>the algorithm and </a:t>
            </a:r>
            <a:r>
              <a:rPr lang="en-US" sz="3200" b="1" dirty="0"/>
              <a:t>identify any steps </a:t>
            </a:r>
            <a:r>
              <a:rPr lang="en-US" sz="3200" dirty="0"/>
              <a:t>that </a:t>
            </a:r>
            <a:r>
              <a:rPr lang="en-US" sz="3200" b="1" dirty="0"/>
              <a:t>do not contribute </a:t>
            </a:r>
            <a:r>
              <a:rPr lang="en-US" sz="3200" dirty="0"/>
              <a:t>to the </a:t>
            </a:r>
            <a:r>
              <a:rPr lang="en-US" sz="3200" b="1" dirty="0"/>
              <a:t>solution of the problem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These steps can be </a:t>
            </a:r>
            <a:r>
              <a:rPr lang="en-US" sz="3200" b="1" dirty="0"/>
              <a:t>removed to simplify </a:t>
            </a:r>
            <a:r>
              <a:rPr lang="en-US" sz="3200" dirty="0"/>
              <a:t>the algorithm and </a:t>
            </a:r>
            <a:r>
              <a:rPr lang="en-US" sz="3200" b="1" dirty="0"/>
              <a:t>reduce its complexity.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Combine similar steps:</a:t>
            </a:r>
          </a:p>
          <a:p>
            <a:pPr marL="0" indent="0">
              <a:buNone/>
            </a:pPr>
            <a:r>
              <a:rPr lang="en-US" sz="3200" dirty="0"/>
              <a:t>Look for </a:t>
            </a:r>
            <a:r>
              <a:rPr lang="en-US" sz="3200" b="1" dirty="0"/>
              <a:t>steps that perform similar operations </a:t>
            </a:r>
            <a:r>
              <a:rPr lang="en-US" sz="3200" dirty="0"/>
              <a:t>and consider </a:t>
            </a:r>
            <a:r>
              <a:rPr lang="en-US" sz="3200" b="1" dirty="0"/>
              <a:t>merging them into a single step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 This </a:t>
            </a:r>
            <a:r>
              <a:rPr lang="en-US" sz="3200" b="1" dirty="0"/>
              <a:t>can make the algorithm easier to read and understand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618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E0E8-8307-411C-8BEC-B2F8B0E5B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89"/>
            <a:ext cx="10515600" cy="660400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Use descriptive variable names:</a:t>
            </a:r>
          </a:p>
          <a:p>
            <a:pPr marL="0" indent="0">
              <a:buNone/>
            </a:pPr>
            <a:r>
              <a:rPr lang="en-US" sz="3600" b="1" dirty="0"/>
              <a:t>Instead of using generic variable names like "</a:t>
            </a:r>
            <a:r>
              <a:rPr lang="en-US" sz="3600" b="1" dirty="0" err="1"/>
              <a:t>i</a:t>
            </a:r>
            <a:r>
              <a:rPr lang="en-US" sz="3600" b="1" dirty="0"/>
              <a:t>" or "j", use descriptive </a:t>
            </a:r>
            <a:r>
              <a:rPr lang="en-US" sz="3600" dirty="0"/>
              <a:t>names that </a:t>
            </a:r>
            <a:r>
              <a:rPr lang="en-US" sz="3600" b="1" dirty="0"/>
              <a:t>describe the purpose of the variable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This </a:t>
            </a:r>
            <a:r>
              <a:rPr lang="en-US" sz="3600" b="1" dirty="0"/>
              <a:t>can make the algorithm easier to follow and understand</a:t>
            </a:r>
            <a:r>
              <a:rPr lang="en-US" sz="3600" dirty="0"/>
              <a:t>.</a:t>
            </a:r>
          </a:p>
          <a:p>
            <a:r>
              <a:rPr lang="en-US" sz="3600" b="1" dirty="0">
                <a:solidFill>
                  <a:srgbClr val="C00000"/>
                </a:solidFill>
              </a:rPr>
              <a:t>Break down complex steps:</a:t>
            </a:r>
          </a:p>
          <a:p>
            <a:pPr marL="0" indent="0">
              <a:buNone/>
            </a:pPr>
            <a:r>
              <a:rPr lang="en-US" sz="3600" dirty="0"/>
              <a:t>If a step in the algorithm is </a:t>
            </a:r>
            <a:r>
              <a:rPr lang="en-US" sz="3600" b="1" dirty="0"/>
              <a:t>particularly complex</a:t>
            </a:r>
            <a:r>
              <a:rPr lang="en-US" sz="3600" dirty="0"/>
              <a:t>, consider </a:t>
            </a:r>
            <a:r>
              <a:rPr lang="en-US" sz="3600" b="1" dirty="0"/>
              <a:t>breaking it</a:t>
            </a:r>
            <a:r>
              <a:rPr lang="en-US" sz="3600" dirty="0"/>
              <a:t> </a:t>
            </a:r>
            <a:r>
              <a:rPr lang="en-US" sz="3600" b="1" dirty="0"/>
              <a:t>down into smaller, simpler steps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This </a:t>
            </a:r>
            <a:r>
              <a:rPr lang="en-US" sz="3600" b="1" dirty="0"/>
              <a:t>can make the algorithm easier to understand and debug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328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062E1-44D2-41F4-8537-C6BCD164D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592711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Use comments: </a:t>
            </a:r>
          </a:p>
          <a:p>
            <a:pPr marL="0" indent="0">
              <a:buNone/>
            </a:pPr>
            <a:r>
              <a:rPr lang="en-US" sz="3600" b="1" dirty="0"/>
              <a:t>Comments can be used to explain the purpose of each step </a:t>
            </a:r>
            <a:r>
              <a:rPr lang="en-US" sz="3600" dirty="0"/>
              <a:t>and </a:t>
            </a:r>
            <a:r>
              <a:rPr lang="en-US" sz="3600" b="1" dirty="0"/>
              <a:t>how it contributes to the overall solution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This </a:t>
            </a:r>
            <a:r>
              <a:rPr lang="en-US" sz="3600" b="1" dirty="0"/>
              <a:t>can help make </a:t>
            </a:r>
            <a:r>
              <a:rPr lang="en-US" sz="3600" dirty="0"/>
              <a:t>the algorithm </a:t>
            </a:r>
            <a:r>
              <a:rPr lang="en-US" sz="3600" b="1" dirty="0"/>
              <a:t>more understandable to others </a:t>
            </a:r>
            <a:r>
              <a:rPr lang="en-US" sz="3600" dirty="0"/>
              <a:t>who may </a:t>
            </a:r>
            <a:r>
              <a:rPr lang="en-US" sz="3600" b="1" dirty="0"/>
              <a:t>need to work with </a:t>
            </a:r>
            <a:r>
              <a:rPr lang="en-US" sz="3600" dirty="0"/>
              <a:t>it.</a:t>
            </a:r>
          </a:p>
          <a:p>
            <a:pPr marL="0" indent="0">
              <a:buNone/>
            </a:pPr>
            <a:r>
              <a:rPr lang="en-US" sz="3600" b="1" dirty="0"/>
              <a:t>Simplifying rules </a:t>
            </a:r>
            <a:r>
              <a:rPr lang="en-US" sz="3600" dirty="0"/>
              <a:t>of an algorithm </a:t>
            </a:r>
            <a:r>
              <a:rPr lang="en-US" sz="3600" b="1" dirty="0"/>
              <a:t>can make it easier to read</a:t>
            </a:r>
            <a:r>
              <a:rPr lang="en-US" sz="3600" dirty="0"/>
              <a:t>, </a:t>
            </a:r>
            <a:r>
              <a:rPr lang="en-US" sz="3600" b="1" dirty="0"/>
              <a:t>understand, and maintain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This can be especially </a:t>
            </a:r>
            <a:r>
              <a:rPr lang="en-US" sz="3600" b="1" dirty="0"/>
              <a:t>important in larger projects </a:t>
            </a:r>
            <a:r>
              <a:rPr lang="en-US" sz="3600" dirty="0"/>
              <a:t>or in </a:t>
            </a:r>
            <a:r>
              <a:rPr lang="en-US" sz="3600" b="1" dirty="0"/>
              <a:t>situations </a:t>
            </a:r>
            <a:r>
              <a:rPr lang="en-US" sz="3600" dirty="0"/>
              <a:t>where </a:t>
            </a:r>
            <a:r>
              <a:rPr lang="en-US" sz="3600" b="1" dirty="0"/>
              <a:t>multiple people </a:t>
            </a:r>
            <a:r>
              <a:rPr lang="en-US" sz="3600" dirty="0"/>
              <a:t>may be </a:t>
            </a:r>
            <a:r>
              <a:rPr lang="en-US" sz="3600" b="1" dirty="0"/>
              <a:t>working on the same code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208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B85C9-E5E5-4BF3-92AE-E70BF67AC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57013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Classifying functions:</a:t>
            </a:r>
          </a:p>
          <a:p>
            <a:pPr marL="0" indent="0">
              <a:buNone/>
            </a:pPr>
            <a:r>
              <a:rPr lang="en-US" sz="3200" b="1" dirty="0"/>
              <a:t>Functions in an algorithm can be classified </a:t>
            </a:r>
            <a:r>
              <a:rPr lang="en-US" sz="3200" dirty="0"/>
              <a:t>into </a:t>
            </a:r>
            <a:r>
              <a:rPr lang="en-US" sz="3200" b="1" dirty="0"/>
              <a:t>several categories based on their purpose and behavior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Some </a:t>
            </a:r>
            <a:r>
              <a:rPr lang="en-US" sz="3200" b="1" dirty="0"/>
              <a:t>common categories of functions </a:t>
            </a:r>
            <a:r>
              <a:rPr lang="en-US" sz="3200" dirty="0"/>
              <a:t>in an algorithm include: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Input functions: </a:t>
            </a:r>
          </a:p>
          <a:p>
            <a:pPr marL="0" indent="0">
              <a:buNone/>
            </a:pPr>
            <a:r>
              <a:rPr lang="en-US" sz="3200" dirty="0"/>
              <a:t>These functions are </a:t>
            </a:r>
            <a:r>
              <a:rPr lang="en-US" sz="3200" b="1" dirty="0"/>
              <a:t>responsible for receiving input data from the user or from external sources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They typically perform some </a:t>
            </a:r>
            <a:r>
              <a:rPr lang="en-US" sz="3200" b="1" dirty="0"/>
              <a:t>validation and conversion </a:t>
            </a:r>
            <a:r>
              <a:rPr lang="en-US" sz="3200" dirty="0"/>
              <a:t>of the </a:t>
            </a:r>
            <a:r>
              <a:rPr lang="en-US" sz="3200" b="1" dirty="0"/>
              <a:t>input data before passing it to the main processing functions</a:t>
            </a:r>
            <a:r>
              <a:rPr lang="en-US" sz="3200" dirty="0"/>
              <a:t>.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Processing functions:</a:t>
            </a:r>
          </a:p>
          <a:p>
            <a:pPr marL="0" indent="0">
              <a:buNone/>
            </a:pPr>
            <a:r>
              <a:rPr lang="en-US" sz="3200" dirty="0"/>
              <a:t>These functions perform the </a:t>
            </a:r>
            <a:r>
              <a:rPr lang="en-US" sz="3200" b="1" dirty="0"/>
              <a:t>main computations </a:t>
            </a:r>
            <a:r>
              <a:rPr lang="en-US" sz="3200" dirty="0"/>
              <a:t>and </a:t>
            </a:r>
            <a:r>
              <a:rPr lang="en-US" sz="3200" b="1" dirty="0"/>
              <a:t>manipulations of the input data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They may </a:t>
            </a:r>
            <a:r>
              <a:rPr lang="en-US" sz="3200" b="1" dirty="0"/>
              <a:t>use loops, conditionals, or other control structures </a:t>
            </a:r>
            <a:r>
              <a:rPr lang="en-US" sz="3200" dirty="0"/>
              <a:t>to </a:t>
            </a:r>
            <a:r>
              <a:rPr lang="en-US" sz="3200" b="1" dirty="0"/>
              <a:t>process the data and generate the output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326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F9C95-FC17-4AA6-B6AF-4200F5979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683022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Output functions: </a:t>
            </a:r>
          </a:p>
          <a:p>
            <a:pPr marL="0" indent="0">
              <a:buNone/>
            </a:pPr>
            <a:r>
              <a:rPr lang="en-US" sz="3200" dirty="0"/>
              <a:t>These functions are </a:t>
            </a:r>
            <a:r>
              <a:rPr lang="en-US" sz="3200" b="1" dirty="0"/>
              <a:t>responsible for displaying the results </a:t>
            </a:r>
            <a:r>
              <a:rPr lang="en-US" sz="3200" dirty="0"/>
              <a:t>of the </a:t>
            </a:r>
            <a:r>
              <a:rPr lang="en-US" sz="3200" b="1" dirty="0"/>
              <a:t>processing functions </a:t>
            </a:r>
            <a:r>
              <a:rPr lang="en-US" sz="3200" dirty="0"/>
              <a:t>to the </a:t>
            </a:r>
            <a:r>
              <a:rPr lang="en-US" sz="3200" b="1" dirty="0"/>
              <a:t>user or writing the results to an output file </a:t>
            </a:r>
            <a:r>
              <a:rPr lang="en-US" sz="3200" dirty="0"/>
              <a:t>or</a:t>
            </a:r>
            <a:r>
              <a:rPr lang="en-US" sz="3200" b="1" dirty="0"/>
              <a:t> database</a:t>
            </a:r>
            <a:r>
              <a:rPr lang="en-US" sz="3200" dirty="0"/>
              <a:t>.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Utility functions: </a:t>
            </a:r>
          </a:p>
          <a:p>
            <a:pPr marL="0" indent="0">
              <a:buNone/>
            </a:pPr>
            <a:r>
              <a:rPr lang="en-US" sz="3200" dirty="0"/>
              <a:t>These functions </a:t>
            </a:r>
            <a:r>
              <a:rPr lang="en-US" sz="3200" b="1" dirty="0"/>
              <a:t>provide support to other functions</a:t>
            </a:r>
            <a:r>
              <a:rPr lang="en-US" sz="3200" dirty="0"/>
              <a:t> in the algorithm. They may </a:t>
            </a:r>
            <a:r>
              <a:rPr lang="en-US" sz="3200" b="1" dirty="0"/>
              <a:t>perform tasks such as sorting data</a:t>
            </a:r>
            <a:r>
              <a:rPr lang="en-US" sz="3200" dirty="0"/>
              <a:t>, </a:t>
            </a:r>
            <a:r>
              <a:rPr lang="en-US" sz="3200" b="1" dirty="0"/>
              <a:t>searching for values</a:t>
            </a:r>
            <a:r>
              <a:rPr lang="en-US" sz="3200" dirty="0"/>
              <a:t>, or </a:t>
            </a:r>
            <a:r>
              <a:rPr lang="en-US" sz="3200" b="1" dirty="0"/>
              <a:t>performing calculations</a:t>
            </a:r>
            <a:r>
              <a:rPr lang="en-US" sz="3200" dirty="0"/>
              <a:t>.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Error handling functions:</a:t>
            </a:r>
          </a:p>
          <a:p>
            <a:pPr marL="0" indent="0">
              <a:buNone/>
            </a:pPr>
            <a:r>
              <a:rPr lang="en-US" sz="3200" dirty="0"/>
              <a:t>These functions are </a:t>
            </a:r>
            <a:r>
              <a:rPr lang="en-US" sz="3200" b="1" dirty="0"/>
              <a:t>responsible for detecting </a:t>
            </a:r>
            <a:r>
              <a:rPr lang="en-US" sz="3200" dirty="0"/>
              <a:t>and </a:t>
            </a:r>
            <a:r>
              <a:rPr lang="en-US" sz="3200" b="1" dirty="0"/>
              <a:t>handling errors </a:t>
            </a:r>
            <a:r>
              <a:rPr lang="en-US" sz="3200" dirty="0"/>
              <a:t>or </a:t>
            </a:r>
            <a:r>
              <a:rPr lang="en-US" sz="3200" b="1" dirty="0"/>
              <a:t>exceptions that occur during the execution </a:t>
            </a:r>
            <a:r>
              <a:rPr lang="en-US" sz="3200" dirty="0"/>
              <a:t>of the algorithm. </a:t>
            </a:r>
          </a:p>
          <a:p>
            <a:pPr marL="0" indent="0">
              <a:buNone/>
            </a:pPr>
            <a:r>
              <a:rPr lang="en-US" sz="3200" dirty="0"/>
              <a:t>They may </a:t>
            </a:r>
            <a:r>
              <a:rPr lang="en-US" sz="3200" b="1" dirty="0"/>
              <a:t>display error messages to the user</a:t>
            </a:r>
            <a:r>
              <a:rPr lang="en-US" sz="3200" dirty="0"/>
              <a:t>, </a:t>
            </a:r>
            <a:r>
              <a:rPr lang="en-US" sz="3200" b="1" dirty="0"/>
              <a:t>log errors </a:t>
            </a:r>
            <a:r>
              <a:rPr lang="en-US" sz="3200" dirty="0"/>
              <a:t>for later analysis, or </a:t>
            </a:r>
            <a:r>
              <a:rPr lang="en-US" sz="3200" b="1" dirty="0"/>
              <a:t>attempt to recover from errors.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311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6F595-31F4-4527-95C7-BFB654969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722533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Initialization functions:</a:t>
            </a:r>
          </a:p>
          <a:p>
            <a:pPr marL="0" indent="0">
              <a:buNone/>
            </a:pPr>
            <a:r>
              <a:rPr lang="en-US" sz="3600" dirty="0"/>
              <a:t>These functions </a:t>
            </a:r>
            <a:r>
              <a:rPr lang="en-US" sz="3600" b="1" dirty="0"/>
              <a:t>initialize the algorithm</a:t>
            </a:r>
            <a:r>
              <a:rPr lang="en-US" sz="3600" dirty="0"/>
              <a:t> and </a:t>
            </a:r>
            <a:r>
              <a:rPr lang="en-US" sz="3600" b="1" dirty="0"/>
              <a:t>set up any necessary data structures or variables before processing begins</a:t>
            </a:r>
            <a:r>
              <a:rPr lang="en-US" sz="3600" dirty="0"/>
              <a:t>.</a:t>
            </a:r>
          </a:p>
          <a:p>
            <a:r>
              <a:rPr lang="en-US" sz="3600" b="1" dirty="0">
                <a:solidFill>
                  <a:srgbClr val="C00000"/>
                </a:solidFill>
              </a:rPr>
              <a:t>Cleanup functions: </a:t>
            </a:r>
          </a:p>
          <a:p>
            <a:pPr marL="0" indent="0">
              <a:buNone/>
            </a:pPr>
            <a:r>
              <a:rPr lang="en-US" sz="3600" dirty="0"/>
              <a:t>These functions </a:t>
            </a:r>
            <a:r>
              <a:rPr lang="en-US" sz="3600" b="1" dirty="0"/>
              <a:t>perform any necessary cleanup tasks</a:t>
            </a:r>
            <a:r>
              <a:rPr lang="en-US" sz="3600" dirty="0"/>
              <a:t>, such as </a:t>
            </a:r>
            <a:r>
              <a:rPr lang="en-US" sz="3600" b="1" dirty="0"/>
              <a:t>closing files or releasing memory</a:t>
            </a:r>
            <a:r>
              <a:rPr lang="en-US" sz="3600" dirty="0"/>
              <a:t>, </a:t>
            </a:r>
            <a:r>
              <a:rPr lang="en-US" sz="3600" b="1" dirty="0"/>
              <a:t>after the algorithm has finished executing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By classifying functions in an algorithm, it </a:t>
            </a:r>
            <a:r>
              <a:rPr lang="en-US" sz="3600" b="1" dirty="0"/>
              <a:t>becomes easier </a:t>
            </a:r>
            <a:r>
              <a:rPr lang="en-US" sz="3600" dirty="0"/>
              <a:t>to </a:t>
            </a:r>
            <a:r>
              <a:rPr lang="en-US" sz="3600" b="1" dirty="0"/>
              <a:t>understand the purpose and behavior of each function </a:t>
            </a:r>
            <a:r>
              <a:rPr lang="en-US" sz="3600" dirty="0"/>
              <a:t>and </a:t>
            </a:r>
            <a:r>
              <a:rPr lang="en-US" sz="3600" b="1" dirty="0"/>
              <a:t>how they work together to achieve the desired outcome.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987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B088-BC8B-4D39-BE29-B5C775AF1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5927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Big O Notation:</a:t>
            </a:r>
          </a:p>
          <a:p>
            <a:pPr marL="0" indent="0">
              <a:buNone/>
            </a:pPr>
            <a:r>
              <a:rPr lang="en-US" sz="3200" b="1" dirty="0"/>
              <a:t>Big O notation </a:t>
            </a:r>
            <a:r>
              <a:rPr lang="en-US" sz="3200" dirty="0"/>
              <a:t>is a </a:t>
            </a:r>
            <a:r>
              <a:rPr lang="en-US" sz="3200" b="1" dirty="0"/>
              <a:t>mathematical notation used to describe the performance or complexity of an algorithm. </a:t>
            </a:r>
          </a:p>
          <a:p>
            <a:pPr marL="0" indent="0">
              <a:buNone/>
            </a:pPr>
            <a:r>
              <a:rPr lang="en-US" sz="3200" dirty="0"/>
              <a:t>It</a:t>
            </a:r>
            <a:r>
              <a:rPr lang="en-US" sz="3200" b="1" dirty="0"/>
              <a:t> provides an upper bound </a:t>
            </a:r>
            <a:r>
              <a:rPr lang="en-US" sz="3200" dirty="0"/>
              <a:t>on the </a:t>
            </a:r>
            <a:r>
              <a:rPr lang="en-US" sz="3200" b="1" dirty="0"/>
              <a:t>growth rate </a:t>
            </a:r>
            <a:r>
              <a:rPr lang="en-US" sz="3200" dirty="0"/>
              <a:t>of an algorithm, and is typically </a:t>
            </a:r>
            <a:r>
              <a:rPr lang="en-US" sz="3200" b="1" dirty="0"/>
              <a:t>used to analyze the worst-case scenario </a:t>
            </a:r>
            <a:r>
              <a:rPr lang="en-US" sz="3200" dirty="0"/>
              <a:t>for an algorithm's </a:t>
            </a:r>
            <a:r>
              <a:rPr lang="en-US" sz="3200" b="1" dirty="0"/>
              <a:t>running time or space complexity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In Big O notation, the letter "O" </a:t>
            </a:r>
            <a:r>
              <a:rPr lang="en-US" sz="3200" b="1" dirty="0"/>
              <a:t>represents the order of growth </a:t>
            </a:r>
            <a:r>
              <a:rPr lang="en-US" sz="3200" dirty="0"/>
              <a:t>or the </a:t>
            </a:r>
            <a:r>
              <a:rPr lang="en-US" sz="3200" b="1" dirty="0"/>
              <a:t>complexity of the algorithm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r>
              <a:rPr lang="en-US" sz="3200" dirty="0"/>
              <a:t>The </a:t>
            </a:r>
            <a:r>
              <a:rPr lang="en-US" sz="3200" b="1" dirty="0"/>
              <a:t>complexity is typically expressed as a function of the input size "n", </a:t>
            </a:r>
            <a:r>
              <a:rPr lang="en-US" sz="3200" dirty="0"/>
              <a:t>and the </a:t>
            </a:r>
            <a:r>
              <a:rPr lang="en-US" sz="3200" b="1" dirty="0"/>
              <a:t>notation O(f(n)) means that the algorithm's performance grows no faster than the function f(n)</a:t>
            </a:r>
            <a:r>
              <a:rPr lang="en-US" sz="3200" dirty="0"/>
              <a:t> as the </a:t>
            </a:r>
            <a:r>
              <a:rPr lang="en-US" sz="3200" b="1" dirty="0"/>
              <a:t>input size increases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10266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4512E-4A36-406A-ABA7-7EC495397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56"/>
            <a:ext cx="10515600" cy="6604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/>
              <a:t>For example</a:t>
            </a:r>
            <a:r>
              <a:rPr lang="en-US" sz="3600" dirty="0"/>
              <a:t>, if an algorithm has a </a:t>
            </a:r>
            <a:r>
              <a:rPr lang="en-US" sz="3600" b="1" dirty="0"/>
              <a:t>running time of O(n^2), </a:t>
            </a:r>
            <a:r>
              <a:rPr lang="en-US" sz="3600" dirty="0"/>
              <a:t>it </a:t>
            </a:r>
            <a:r>
              <a:rPr lang="en-US" sz="3600" b="1" dirty="0"/>
              <a:t>means </a:t>
            </a:r>
            <a:r>
              <a:rPr lang="en-US" sz="3600" dirty="0"/>
              <a:t>that </a:t>
            </a:r>
            <a:r>
              <a:rPr lang="en-US" sz="3600" b="1" dirty="0"/>
              <a:t>its worst-case scenario running time grows no faster than n^2 </a:t>
            </a:r>
            <a:r>
              <a:rPr lang="en-US" sz="3600" dirty="0"/>
              <a:t>as the </a:t>
            </a:r>
            <a:r>
              <a:rPr lang="en-US" sz="3600" b="1" dirty="0"/>
              <a:t>input size increases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This </a:t>
            </a:r>
            <a:r>
              <a:rPr lang="en-US" sz="3600" b="1" dirty="0"/>
              <a:t>means</a:t>
            </a:r>
            <a:r>
              <a:rPr lang="en-US" sz="3600" dirty="0"/>
              <a:t> that </a:t>
            </a:r>
            <a:r>
              <a:rPr lang="en-US" sz="3600" b="1" dirty="0"/>
              <a:t>as the input size doubles</a:t>
            </a:r>
            <a:r>
              <a:rPr lang="en-US" sz="3600" dirty="0"/>
              <a:t>, the </a:t>
            </a:r>
            <a:r>
              <a:rPr lang="en-US" sz="3600" b="1" dirty="0"/>
              <a:t>running time </a:t>
            </a:r>
            <a:r>
              <a:rPr lang="en-US" sz="3600" dirty="0"/>
              <a:t>of the algorithm </a:t>
            </a:r>
            <a:r>
              <a:rPr lang="en-US" sz="3600" b="1" dirty="0"/>
              <a:t>increases by a factor of four (2^2).</a:t>
            </a:r>
          </a:p>
          <a:p>
            <a:pPr marL="0" indent="0">
              <a:buNone/>
            </a:pPr>
            <a:r>
              <a:rPr lang="en-US" sz="3600" dirty="0"/>
              <a:t>Some </a:t>
            </a:r>
            <a:r>
              <a:rPr lang="en-US" sz="3600" b="1" dirty="0"/>
              <a:t>common examples </a:t>
            </a:r>
            <a:r>
              <a:rPr lang="en-US" sz="3600" dirty="0"/>
              <a:t>of </a:t>
            </a:r>
            <a:r>
              <a:rPr lang="en-US" sz="3600" b="1" dirty="0"/>
              <a:t>Big O notation </a:t>
            </a:r>
            <a:r>
              <a:rPr lang="en-US" sz="3600" dirty="0"/>
              <a:t>and their corresponding algorithms include:</a:t>
            </a:r>
          </a:p>
          <a:p>
            <a:r>
              <a:rPr lang="en-US" sz="3600" b="1" dirty="0">
                <a:solidFill>
                  <a:srgbClr val="C00000"/>
                </a:solidFill>
              </a:rPr>
              <a:t>O(1): </a:t>
            </a:r>
          </a:p>
          <a:p>
            <a:pPr marL="0" indent="0">
              <a:buNone/>
            </a:pPr>
            <a:r>
              <a:rPr lang="en-US" sz="3600" b="1" dirty="0"/>
              <a:t>Constant time complexity</a:t>
            </a:r>
            <a:r>
              <a:rPr lang="en-US" sz="3600" dirty="0"/>
              <a:t>, which </a:t>
            </a:r>
            <a:r>
              <a:rPr lang="en-US" sz="3600" b="1" dirty="0"/>
              <a:t>means that the algorithm's running time is constant regardless of the input size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b="1" dirty="0"/>
              <a:t>Examples</a:t>
            </a:r>
            <a:r>
              <a:rPr lang="en-US" sz="3600" dirty="0"/>
              <a:t> include </a:t>
            </a:r>
            <a:r>
              <a:rPr lang="en-US" sz="3600" b="1" dirty="0"/>
              <a:t>accessing an element in an array </a:t>
            </a:r>
            <a:r>
              <a:rPr lang="en-US" sz="3600" dirty="0"/>
              <a:t>or </a:t>
            </a:r>
            <a:r>
              <a:rPr lang="en-US" sz="3600" b="1" dirty="0"/>
              <a:t>performing a simple arithmetic operation.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95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B60A6-D15B-4CE9-9BA1-FDEB8039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62044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O(log n):</a:t>
            </a:r>
          </a:p>
          <a:p>
            <a:pPr marL="0" indent="0">
              <a:buNone/>
            </a:pPr>
            <a:r>
              <a:rPr lang="en-US" sz="3200" b="1" dirty="0"/>
              <a:t>Logarithmic time complexity</a:t>
            </a:r>
            <a:r>
              <a:rPr lang="en-US" sz="3200" dirty="0"/>
              <a:t>, which </a:t>
            </a:r>
            <a:r>
              <a:rPr lang="en-US" sz="3200" b="1" dirty="0"/>
              <a:t>means</a:t>
            </a:r>
            <a:r>
              <a:rPr lang="en-US" sz="3200" dirty="0"/>
              <a:t> that the algorithm's </a:t>
            </a:r>
            <a:r>
              <a:rPr lang="en-US" sz="3200" b="1" dirty="0"/>
              <a:t>running time increases logarithmically as the input size increases</a:t>
            </a:r>
            <a:r>
              <a:rPr lang="en-US" sz="3200" dirty="0"/>
              <a:t>. </a:t>
            </a:r>
            <a:r>
              <a:rPr lang="en-US" sz="3200" b="1" dirty="0"/>
              <a:t>Examples</a:t>
            </a:r>
            <a:r>
              <a:rPr lang="en-US" sz="3200" dirty="0"/>
              <a:t> include </a:t>
            </a:r>
            <a:r>
              <a:rPr lang="en-US" sz="3200" b="1" dirty="0"/>
              <a:t>binary search </a:t>
            </a:r>
            <a:r>
              <a:rPr lang="en-US" sz="3200" dirty="0"/>
              <a:t>or </a:t>
            </a:r>
            <a:r>
              <a:rPr lang="en-US" sz="3200" b="1" dirty="0"/>
              <a:t>divide and conquer algorithms</a:t>
            </a:r>
            <a:r>
              <a:rPr lang="en-US" sz="3200" dirty="0"/>
              <a:t>.</a:t>
            </a:r>
          </a:p>
          <a:p>
            <a:r>
              <a:rPr lang="en-US" sz="3200" b="1" dirty="0">
                <a:solidFill>
                  <a:srgbClr val="C00000"/>
                </a:solidFill>
              </a:rPr>
              <a:t>O(n): </a:t>
            </a:r>
          </a:p>
          <a:p>
            <a:pPr marL="0" indent="0">
              <a:buNone/>
            </a:pPr>
            <a:r>
              <a:rPr lang="en-US" sz="3200" b="1" dirty="0"/>
              <a:t>Linear time complexity</a:t>
            </a:r>
            <a:r>
              <a:rPr lang="en-US" sz="3200" dirty="0"/>
              <a:t>, which </a:t>
            </a:r>
            <a:r>
              <a:rPr lang="en-US" sz="3200" b="1" dirty="0"/>
              <a:t>means</a:t>
            </a:r>
            <a:r>
              <a:rPr lang="en-US" sz="3200" dirty="0"/>
              <a:t> that the algorithm's </a:t>
            </a:r>
            <a:r>
              <a:rPr lang="en-US" sz="3200" b="1" dirty="0"/>
              <a:t>running time increases linearly as the input size increases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b="1" dirty="0"/>
              <a:t>Examples</a:t>
            </a:r>
            <a:r>
              <a:rPr lang="en-US" sz="3200" dirty="0"/>
              <a:t> include </a:t>
            </a:r>
            <a:r>
              <a:rPr lang="en-US" sz="3200" b="1" dirty="0"/>
              <a:t>iterating through an array </a:t>
            </a:r>
            <a:r>
              <a:rPr lang="en-US" sz="3200" dirty="0"/>
              <a:t>or </a:t>
            </a:r>
            <a:r>
              <a:rPr lang="en-US" sz="3200" b="1" dirty="0"/>
              <a:t>performing a simple search.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C00000"/>
                </a:solidFill>
              </a:rPr>
              <a:t>O(n^2): </a:t>
            </a:r>
          </a:p>
          <a:p>
            <a:pPr marL="0" indent="0">
              <a:buNone/>
            </a:pPr>
            <a:r>
              <a:rPr lang="en-US" sz="3200" b="1" dirty="0"/>
              <a:t>Quadratic time complexity</a:t>
            </a:r>
            <a:r>
              <a:rPr lang="en-US" sz="3200" dirty="0"/>
              <a:t>, which </a:t>
            </a:r>
            <a:r>
              <a:rPr lang="en-US" sz="3200" b="1" dirty="0"/>
              <a:t>means</a:t>
            </a:r>
            <a:r>
              <a:rPr lang="en-US" sz="3200" dirty="0"/>
              <a:t> that the algorithm's </a:t>
            </a:r>
            <a:r>
              <a:rPr lang="en-US" sz="3200" b="1" dirty="0"/>
              <a:t>running time grows quadratically as the input size increases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b="1" dirty="0"/>
              <a:t>Examples</a:t>
            </a:r>
            <a:r>
              <a:rPr lang="en-US" sz="3200" dirty="0"/>
              <a:t> include </a:t>
            </a:r>
            <a:r>
              <a:rPr lang="en-US" sz="3200" b="1" dirty="0"/>
              <a:t>nested loops or bubble sort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821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91D72-D88D-4F63-BB0F-9C500AFD3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O(2^n):</a:t>
            </a:r>
          </a:p>
          <a:p>
            <a:pPr marL="0" indent="0">
              <a:buNone/>
            </a:pPr>
            <a:r>
              <a:rPr lang="en-US" sz="3600" b="1" dirty="0"/>
              <a:t>Exponential time complexity</a:t>
            </a:r>
            <a:r>
              <a:rPr lang="en-US" sz="3600" dirty="0"/>
              <a:t>, which </a:t>
            </a:r>
            <a:r>
              <a:rPr lang="en-US" sz="3600" b="1" dirty="0"/>
              <a:t>means</a:t>
            </a:r>
            <a:r>
              <a:rPr lang="en-US" sz="3600" dirty="0"/>
              <a:t> that the algorithm's </a:t>
            </a:r>
            <a:r>
              <a:rPr lang="en-US" sz="3600" b="1" dirty="0"/>
              <a:t>running time grows exponentially as the input size increases</a:t>
            </a:r>
            <a:r>
              <a:rPr lang="en-US" sz="3600" dirty="0"/>
              <a:t>. </a:t>
            </a:r>
            <a:r>
              <a:rPr lang="en-US" sz="3600" b="1" dirty="0"/>
              <a:t>Examples</a:t>
            </a:r>
            <a:r>
              <a:rPr lang="en-US" sz="3600" dirty="0"/>
              <a:t> include </a:t>
            </a:r>
            <a:r>
              <a:rPr lang="en-US" sz="3600" b="1" dirty="0"/>
              <a:t>brute force </a:t>
            </a:r>
            <a:r>
              <a:rPr lang="en-US" sz="3600" dirty="0"/>
              <a:t>or </a:t>
            </a:r>
            <a:r>
              <a:rPr lang="en-US" sz="3600" b="1" dirty="0"/>
              <a:t>exhaustive search algorithms</a:t>
            </a:r>
            <a:r>
              <a:rPr lang="en-US" sz="3600" dirty="0"/>
              <a:t>.</a:t>
            </a:r>
          </a:p>
          <a:p>
            <a:r>
              <a:rPr lang="en-US" sz="3600" b="1" dirty="0"/>
              <a:t>Big O notation </a:t>
            </a:r>
            <a:r>
              <a:rPr lang="en-US" sz="3600" dirty="0"/>
              <a:t>is </a:t>
            </a:r>
            <a:r>
              <a:rPr lang="en-US" sz="3600" b="1" dirty="0"/>
              <a:t>useful for comparing the performance of different </a:t>
            </a:r>
            <a:r>
              <a:rPr lang="en-US" sz="3600" dirty="0"/>
              <a:t>algorithms and </a:t>
            </a:r>
            <a:r>
              <a:rPr lang="en-US" sz="3600" b="1" dirty="0"/>
              <a:t>selecting the most efficient one for a given problem</a:t>
            </a:r>
            <a:r>
              <a:rPr lang="en-US" sz="3600" dirty="0"/>
              <a:t>. It can </a:t>
            </a:r>
            <a:r>
              <a:rPr lang="en-US" sz="3600" b="1" dirty="0"/>
              <a:t>also be used </a:t>
            </a:r>
            <a:r>
              <a:rPr lang="en-US" sz="3600" dirty="0"/>
              <a:t>to </a:t>
            </a:r>
            <a:r>
              <a:rPr lang="en-US" sz="3600" b="1" dirty="0"/>
              <a:t>identify potential scalability issues </a:t>
            </a:r>
            <a:r>
              <a:rPr lang="en-US" sz="3600" dirty="0"/>
              <a:t>and </a:t>
            </a:r>
            <a:r>
              <a:rPr lang="en-US" sz="3600" b="1" dirty="0"/>
              <a:t>improve the efficiency of existing algorithms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460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A92EC-6C52-45FA-9FDF-1465D0ABA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78"/>
            <a:ext cx="10515600" cy="664915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b="1" dirty="0"/>
              <a:t>Calculating the running time for a program:</a:t>
            </a:r>
          </a:p>
          <a:p>
            <a:pPr marL="0" indent="0">
              <a:buNone/>
            </a:pPr>
            <a:r>
              <a:rPr lang="en-US" sz="3600" dirty="0"/>
              <a:t>Calculating the </a:t>
            </a:r>
            <a:r>
              <a:rPr lang="en-US" sz="3600" b="1" dirty="0"/>
              <a:t>running time of a program </a:t>
            </a:r>
            <a:r>
              <a:rPr lang="en-US" sz="3600" dirty="0"/>
              <a:t>is </a:t>
            </a:r>
            <a:r>
              <a:rPr lang="en-US" sz="3600" b="1" dirty="0"/>
              <a:t>essential for optimizing its performance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Here are some </a:t>
            </a:r>
            <a:r>
              <a:rPr lang="en-US" sz="3600" b="1" dirty="0"/>
              <a:t>steps to calculate the running time </a:t>
            </a:r>
            <a:r>
              <a:rPr lang="en-US" sz="3600" dirty="0"/>
              <a:t>of a program: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Determine the algorithmic complexity </a:t>
            </a:r>
            <a:r>
              <a:rPr lang="en-US" sz="3600" dirty="0">
                <a:solidFill>
                  <a:srgbClr val="FF0000"/>
                </a:solidFill>
              </a:rPr>
              <a:t>of your program. </a:t>
            </a:r>
          </a:p>
          <a:p>
            <a:pPr marL="0" indent="0">
              <a:buNone/>
            </a:pPr>
            <a:r>
              <a:rPr lang="en-US" sz="3600" dirty="0"/>
              <a:t>This can be done by </a:t>
            </a:r>
            <a:r>
              <a:rPr lang="en-US" sz="3600" b="1" dirty="0"/>
              <a:t>analyzing the worst-case scenario </a:t>
            </a:r>
            <a:r>
              <a:rPr lang="en-US" sz="3600" dirty="0"/>
              <a:t>for the program's input size. </a:t>
            </a:r>
          </a:p>
          <a:p>
            <a:pPr marL="0" indent="0">
              <a:buNone/>
            </a:pPr>
            <a:r>
              <a:rPr lang="en-US" sz="3600" dirty="0"/>
              <a:t>The </a:t>
            </a:r>
            <a:r>
              <a:rPr lang="en-US" sz="3600" b="1" dirty="0"/>
              <a:t>algorithmic complexity </a:t>
            </a:r>
            <a:r>
              <a:rPr lang="en-US" sz="3600" dirty="0"/>
              <a:t>can be represented by a </a:t>
            </a:r>
            <a:r>
              <a:rPr lang="en-US" sz="3600" b="1" dirty="0"/>
              <a:t>Big-O notation </a:t>
            </a:r>
            <a:r>
              <a:rPr lang="en-US" sz="3600" dirty="0"/>
              <a:t>(e.g., O(n), O(n^2), O(log n)).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Measure the actual running time of the program by using a timer or stopwatch. </a:t>
            </a:r>
          </a:p>
          <a:p>
            <a:pPr marL="0" indent="0">
              <a:buNone/>
            </a:pPr>
            <a:r>
              <a:rPr lang="en-US" sz="3600" dirty="0"/>
              <a:t>Run the program several times for different input sizes.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89347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BDCE8-1E01-4268-899B-AF2894A85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"/>
            <a:ext cx="10515600" cy="6649156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Calculate the average running time of the program for each input size.</a:t>
            </a:r>
            <a:endParaRPr lang="en-US" sz="3600" b="1" dirty="0"/>
          </a:p>
          <a:p>
            <a:r>
              <a:rPr lang="en-US" sz="3600" b="1" dirty="0">
                <a:solidFill>
                  <a:srgbClr val="FF0000"/>
                </a:solidFill>
              </a:rPr>
              <a:t>Plot the input size on the x-axis</a:t>
            </a:r>
            <a:r>
              <a:rPr lang="en-US" sz="3600" dirty="0">
                <a:solidFill>
                  <a:srgbClr val="FF0000"/>
                </a:solidFill>
              </a:rPr>
              <a:t> and the </a:t>
            </a:r>
            <a:r>
              <a:rPr lang="en-US" sz="3600" b="1" dirty="0">
                <a:solidFill>
                  <a:srgbClr val="FF0000"/>
                </a:solidFill>
              </a:rPr>
              <a:t>average running time </a:t>
            </a:r>
            <a:r>
              <a:rPr lang="en-US" sz="3600" dirty="0">
                <a:solidFill>
                  <a:srgbClr val="FF0000"/>
                </a:solidFill>
              </a:rPr>
              <a:t>on the </a:t>
            </a:r>
            <a:r>
              <a:rPr lang="en-US" sz="3600" b="1" dirty="0">
                <a:solidFill>
                  <a:srgbClr val="FF0000"/>
                </a:solidFill>
              </a:rPr>
              <a:t>y-axis</a:t>
            </a:r>
            <a:r>
              <a:rPr lang="en-US" sz="3600" dirty="0">
                <a:solidFill>
                  <a:srgbClr val="FF0000"/>
                </a:solidFill>
              </a:rPr>
              <a:t>. </a:t>
            </a:r>
          </a:p>
          <a:p>
            <a:r>
              <a:rPr lang="en-US" sz="3600" dirty="0"/>
              <a:t>This will </a:t>
            </a:r>
            <a:r>
              <a:rPr lang="en-US" sz="3600" b="1" dirty="0"/>
              <a:t>give you a graphical representation </a:t>
            </a:r>
            <a:r>
              <a:rPr lang="en-US" sz="3600" dirty="0"/>
              <a:t>of how the program's </a:t>
            </a:r>
            <a:r>
              <a:rPr lang="en-US" sz="3600" b="1" dirty="0"/>
              <a:t>running time increases as the input size increases</a:t>
            </a:r>
            <a:r>
              <a:rPr lang="en-US" sz="3600" dirty="0"/>
              <a:t>.</a:t>
            </a:r>
          </a:p>
          <a:p>
            <a:r>
              <a:rPr lang="en-US" sz="3600" b="1" dirty="0">
                <a:solidFill>
                  <a:srgbClr val="FF0000"/>
                </a:solidFill>
              </a:rPr>
              <a:t>Analyze the graph to determine if the program's running time matches its algorithmic complexity.</a:t>
            </a:r>
          </a:p>
          <a:p>
            <a:r>
              <a:rPr lang="en-US" sz="3600" dirty="0"/>
              <a:t> If the </a:t>
            </a:r>
            <a:r>
              <a:rPr lang="en-US" sz="3600" b="1" dirty="0"/>
              <a:t>program's running time is significantly greater </a:t>
            </a:r>
            <a:r>
              <a:rPr lang="en-US" sz="3600" dirty="0"/>
              <a:t>than its </a:t>
            </a:r>
            <a:r>
              <a:rPr lang="en-US" sz="3600" b="1" dirty="0"/>
              <a:t>algorithmic complexity</a:t>
            </a:r>
            <a:r>
              <a:rPr lang="en-US" sz="3600" dirty="0"/>
              <a:t>, there may be a </a:t>
            </a:r>
            <a:r>
              <a:rPr lang="en-US" sz="3600" b="1" dirty="0"/>
              <a:t>performance issue </a:t>
            </a:r>
            <a:r>
              <a:rPr lang="en-US" sz="3600" dirty="0"/>
              <a:t>that </a:t>
            </a:r>
            <a:r>
              <a:rPr lang="en-US" sz="3600" b="1" dirty="0"/>
              <a:t>needs to be addressed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063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FD1DB-4F49-4D28-8B75-5A951E572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"/>
            <a:ext cx="10515600" cy="6626577"/>
          </a:xfrm>
        </p:spPr>
        <p:txBody>
          <a:bodyPr>
            <a:normAutofit lnSpcReduction="10000"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Use profiling tools to identify specific sections </a:t>
            </a:r>
            <a:r>
              <a:rPr lang="en-US" sz="3600" dirty="0">
                <a:solidFill>
                  <a:srgbClr val="FF0000"/>
                </a:solidFill>
              </a:rPr>
              <a:t>of the </a:t>
            </a:r>
            <a:r>
              <a:rPr lang="en-US" sz="3600" b="1" dirty="0">
                <a:solidFill>
                  <a:srgbClr val="FF0000"/>
                </a:solidFill>
              </a:rPr>
              <a:t>code </a:t>
            </a:r>
            <a:r>
              <a:rPr lang="en-US" sz="3600" dirty="0">
                <a:solidFill>
                  <a:srgbClr val="FF0000"/>
                </a:solidFill>
              </a:rPr>
              <a:t>that are </a:t>
            </a:r>
            <a:r>
              <a:rPr lang="en-US" sz="3600" b="1" dirty="0">
                <a:solidFill>
                  <a:srgbClr val="FF0000"/>
                </a:solidFill>
              </a:rPr>
              <a:t>causing performance issues</a:t>
            </a:r>
            <a:r>
              <a:rPr lang="en-US" sz="3600" dirty="0">
                <a:solidFill>
                  <a:srgbClr val="FF0000"/>
                </a:solidFill>
              </a:rPr>
              <a:t>. </a:t>
            </a:r>
          </a:p>
          <a:p>
            <a:r>
              <a:rPr lang="en-US" sz="3600" dirty="0"/>
              <a:t>Once these </a:t>
            </a:r>
            <a:r>
              <a:rPr lang="en-US" sz="3600" b="1" dirty="0"/>
              <a:t>sections are identified</a:t>
            </a:r>
            <a:r>
              <a:rPr lang="en-US" sz="3600" dirty="0"/>
              <a:t>, they can </a:t>
            </a:r>
            <a:r>
              <a:rPr lang="en-US" sz="3600" b="1" dirty="0"/>
              <a:t>be optimized </a:t>
            </a:r>
            <a:r>
              <a:rPr lang="en-US" sz="3600" dirty="0"/>
              <a:t>to </a:t>
            </a:r>
            <a:r>
              <a:rPr lang="en-US" sz="3600" b="1" dirty="0"/>
              <a:t>improve</a:t>
            </a:r>
            <a:r>
              <a:rPr lang="en-US" sz="3600" dirty="0"/>
              <a:t> the </a:t>
            </a:r>
            <a:r>
              <a:rPr lang="en-US" sz="3600" b="1" dirty="0"/>
              <a:t>program's running time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r>
              <a:rPr lang="en-US" sz="3600" dirty="0"/>
              <a:t>It's worth noting that there are </a:t>
            </a:r>
            <a:r>
              <a:rPr lang="en-US" sz="3600" b="1" dirty="0"/>
              <a:t>many factors </a:t>
            </a:r>
            <a:r>
              <a:rPr lang="en-US" sz="3600" dirty="0"/>
              <a:t>that can </a:t>
            </a:r>
            <a:r>
              <a:rPr lang="en-US" sz="3600" b="1" dirty="0"/>
              <a:t>affect</a:t>
            </a:r>
            <a:r>
              <a:rPr lang="en-US" sz="3600" dirty="0"/>
              <a:t> a </a:t>
            </a:r>
            <a:r>
              <a:rPr lang="en-US" sz="3600" b="1" dirty="0"/>
              <a:t>program's running time</a:t>
            </a:r>
            <a:r>
              <a:rPr lang="en-US" sz="3600" dirty="0"/>
              <a:t>, such as </a:t>
            </a:r>
          </a:p>
          <a:p>
            <a:r>
              <a:rPr lang="en-US" sz="3600" b="1" dirty="0"/>
              <a:t>hardware specifications</a:t>
            </a:r>
            <a:r>
              <a:rPr lang="en-US" sz="3600" dirty="0"/>
              <a:t>,</a:t>
            </a:r>
          </a:p>
          <a:p>
            <a:r>
              <a:rPr lang="en-US" sz="3600" dirty="0"/>
              <a:t> </a:t>
            </a:r>
            <a:r>
              <a:rPr lang="en-US" sz="3600" b="1" dirty="0"/>
              <a:t>operating system</a:t>
            </a:r>
            <a:r>
              <a:rPr lang="en-US" sz="3600" dirty="0"/>
              <a:t>, and </a:t>
            </a:r>
          </a:p>
          <a:p>
            <a:r>
              <a:rPr lang="en-US" sz="3600" b="1" dirty="0"/>
              <a:t>other programs running on the same machine</a:t>
            </a:r>
            <a:r>
              <a:rPr lang="en-US" sz="3600" dirty="0"/>
              <a:t>. </a:t>
            </a:r>
          </a:p>
          <a:p>
            <a:pPr marL="0" indent="0">
              <a:buNone/>
            </a:pPr>
            <a:r>
              <a:rPr lang="en-US" sz="3600" dirty="0"/>
              <a:t>Therefore, it's </a:t>
            </a:r>
            <a:r>
              <a:rPr lang="en-US" sz="3600" b="1" dirty="0"/>
              <a:t>important to run the program </a:t>
            </a:r>
            <a:r>
              <a:rPr lang="en-US" sz="3600" dirty="0"/>
              <a:t>on a </a:t>
            </a:r>
            <a:r>
              <a:rPr lang="en-US" sz="3600" b="1" dirty="0"/>
              <a:t>consistent</a:t>
            </a:r>
            <a:r>
              <a:rPr lang="en-US" sz="3600" dirty="0"/>
              <a:t> and </a:t>
            </a:r>
            <a:r>
              <a:rPr lang="en-US" sz="3600" b="1" dirty="0"/>
              <a:t>controlled environment </a:t>
            </a:r>
            <a:r>
              <a:rPr lang="en-US" sz="3600" dirty="0"/>
              <a:t>to </a:t>
            </a:r>
            <a:r>
              <a:rPr lang="en-US" sz="3600" b="1" dirty="0"/>
              <a:t>obtain accurate results</a:t>
            </a:r>
            <a:r>
              <a:rPr lang="en-US" sz="36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667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2431</Words>
  <Application>Microsoft Office PowerPoint</Application>
  <PresentationFormat>Widescreen</PresentationFormat>
  <Paragraphs>151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BETTY</dc:creator>
  <cp:lastModifiedBy>BETTY</cp:lastModifiedBy>
  <cp:revision>45</cp:revision>
  <dcterms:created xsi:type="dcterms:W3CDTF">2023-03-26T16:31:52Z</dcterms:created>
  <dcterms:modified xsi:type="dcterms:W3CDTF">2023-03-27T00:34:47Z</dcterms:modified>
</cp:coreProperties>
</file>