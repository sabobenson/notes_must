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58" r:id="rId4"/>
    <p:sldId id="259" r:id="rId5"/>
    <p:sldId id="260" r:id="rId6"/>
    <p:sldId id="267" r:id="rId7"/>
    <p:sldId id="268" r:id="rId8"/>
    <p:sldId id="262" r:id="rId9"/>
    <p:sldId id="263" r:id="rId10"/>
    <p:sldId id="264" r:id="rId11"/>
    <p:sldId id="261" r:id="rId12"/>
    <p:sldId id="265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C9BF-0EC0-438A-A05B-B4B51B741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A7C37-5C3D-428F-A186-CA9DE5728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BA9FE-0335-4458-BB14-9D689D18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565E4-7701-47BB-9561-F22FBCFA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AEA38-5870-4E30-A3BC-C338F068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4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A809-BBAC-41DE-919D-E6B86172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60099-95D4-4480-BACF-DF4E54C8F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E6961-7056-4983-A632-5BE88E459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0E349-797B-4572-AF24-5CE169B5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90CE4-3E34-4862-83D4-E663A615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7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98FC-F4F0-4F72-8870-6E5669815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A82B8-63E9-4E00-84A1-FBACC617A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A7C75-A01E-4052-8B6F-A08AE9415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FB4FB-C94C-449B-A230-916D9792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ABF56-A462-458A-B1C4-E03263C2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47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56D5-243D-4103-AAB8-2DEDFA32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83BE4-ADCF-4AA2-858F-5B280616D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66EA2-0635-4FD2-BAEB-46E8ED5D9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FCD37-E322-48DC-8A27-95EAC5AF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472A9-0F51-4D5F-925A-DA34811C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CC830-CCA6-47B4-9EAC-2D7C1EE7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5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E3CA-BA9B-41F8-9C95-8E977C08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3F9DE-3F4C-47EB-8FFC-A18D73F4D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E18B1-C75D-44EB-9652-70285EEA8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BA66B-6D08-4130-B502-23507FE50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411E90-F6CB-4AEF-92F5-86001C78D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800AD7-6D00-45DC-A54C-9C0CD324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185D2-62BE-43B8-AACE-49F978F8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7E1E0-C175-458B-9AF5-70647051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3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5A8D-62E4-405D-9A5B-1BDA1A5E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07249-CE18-42DB-9C6A-B7AE5F6E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37982-A70E-4A26-B080-7402D38C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80AF9-FEB8-4745-A754-C37AF4584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84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FFCA4-1C13-4C4E-AD0C-F2F7DC6D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B77014-2807-4319-8BBB-FE52246E2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0037C-F57B-421A-B19E-7B535D08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2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7195-786F-43C4-8C17-F4246212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7391E-23DD-4104-8E61-9BA6982D4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AD3C1-AC83-4F9A-985F-BFC2A30D3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CBF97-832C-42EE-924E-EBAA61DF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75E16-FE83-4C54-A478-E8B25FEB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9F5E-188C-4634-AD56-53AB7E5B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6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D944-E55F-4FCC-9A24-7AA656BF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EB00E2-0B8E-4740-9377-972582371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C27C7-39F8-48DE-AF59-DF9318924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2AB7F-53E0-4432-8054-30E3CD63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598D8-D194-486F-A0F0-D49B230C5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E01C5-759E-4825-8A57-3DE4306A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95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DB5F-4AA1-4867-BC07-25C58A2F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7F444-C84F-427C-A9AF-5C297C5FB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46408-69AF-4C3C-B858-90E1FC4E3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6FC6B-B940-4FF3-95D1-27243571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AF9EA-5990-4C6B-BE17-DB83C29D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7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B4097-33B8-44AA-B9FA-7EBD24538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00792-B6ED-4A3C-AEE6-44856108A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0BD50-ADC9-493D-9D7C-D37AA2987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2912E-D5CF-40C6-A0F9-B9BA29E9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EC59F-1C50-45D8-BE7A-F4E63104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67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DE243-480A-44B7-A279-92BD4C3A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5D71A-CF61-4CCF-9BBD-2E432159F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40C5B-A7DB-4DCB-97BE-A927B7351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47DFB-1F86-43D3-8ED7-154A4D60680E}" type="datetimeFigureOut">
              <a:rPr lang="en-US" smtClean="0"/>
              <a:t>5/9/2023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A618F-C6C0-4791-B68C-C2A95EBD2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82DD0-7279-4F58-B3E4-0C66D549A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CF0CA-E68E-4642-845D-B4F661DC4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37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2C53-9E86-4161-ACD8-F34E0E7D0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62657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400" b="1" dirty="0"/>
              <a:t>Non Linear Data Structure:</a:t>
            </a:r>
          </a:p>
          <a:p>
            <a:pPr marL="0" indent="0">
              <a:buNone/>
            </a:pPr>
            <a:r>
              <a:rPr lang="en-US" sz="3200" b="1" dirty="0"/>
              <a:t>Tree Data Structure</a:t>
            </a:r>
          </a:p>
          <a:p>
            <a:r>
              <a:rPr lang="en-US" sz="3200" b="1" dirty="0"/>
              <a:t>A tree is a nonlinear hierarchical data structure that consists of nodes connected by edges</a:t>
            </a:r>
            <a:r>
              <a:rPr lang="en-US" sz="3200" dirty="0"/>
              <a:t>.</a:t>
            </a:r>
          </a:p>
          <a:p>
            <a:r>
              <a:rPr lang="en-US" sz="3200" dirty="0"/>
              <a:t>A </a:t>
            </a:r>
            <a:r>
              <a:rPr lang="en-US" sz="3200" b="1" dirty="0"/>
              <a:t>tree data structure</a:t>
            </a:r>
            <a:r>
              <a:rPr lang="en-US" sz="3200" dirty="0"/>
              <a:t> is a hierarchical structure that is used to represent and organize data in a way that is easy to navigate and search. </a:t>
            </a:r>
          </a:p>
          <a:p>
            <a:r>
              <a:rPr lang="en-US" sz="3200" dirty="0"/>
              <a:t>It is a collection of nodes that are connected by edges and has a hierarchical relationship between the nodes. </a:t>
            </a:r>
          </a:p>
          <a:p>
            <a:r>
              <a:rPr lang="en-US" sz="3200" dirty="0"/>
              <a:t>The topmost node of the tree is called the root, and the nodes below it are called the child nodes. </a:t>
            </a:r>
          </a:p>
          <a:p>
            <a:r>
              <a:rPr lang="en-US" sz="3200" dirty="0"/>
              <a:t>Each node can have multiple child nodes, and these child nodes can also have their own child nodes, forming a recursive structure.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87073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205D97B-ECA1-4427-AFEC-2C9239C44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0125" y="180622"/>
            <a:ext cx="1019175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196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D8E1E-A297-4522-B58E-EA0F61A4E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/>
          <a:lstStyle/>
          <a:p>
            <a:r>
              <a:rPr lang="en-US" sz="3200" dirty="0"/>
              <a:t>A tree consists of a root, and zero or more subtrees T</a:t>
            </a:r>
            <a:r>
              <a:rPr lang="en-US" sz="3200" baseline="-25000" dirty="0"/>
              <a:t>1</a:t>
            </a:r>
            <a:r>
              <a:rPr lang="en-US" sz="3200" dirty="0"/>
              <a:t>, T</a:t>
            </a:r>
            <a:r>
              <a:rPr lang="en-US" sz="3200" baseline="-25000" dirty="0"/>
              <a:t>2</a:t>
            </a:r>
            <a:r>
              <a:rPr lang="en-US" sz="3200" dirty="0"/>
              <a:t>, … , T</a:t>
            </a:r>
            <a:r>
              <a:rPr lang="en-US" sz="3200" baseline="-25000" dirty="0"/>
              <a:t>k</a:t>
            </a:r>
            <a:r>
              <a:rPr lang="en-US" sz="3200" dirty="0"/>
              <a:t> such that there is an edge from the root of the tree to the root of each subtree.</a:t>
            </a:r>
          </a:p>
          <a:p>
            <a:pPr marL="0" indent="0">
              <a:buNone/>
            </a:pPr>
            <a:r>
              <a:rPr lang="en-US" sz="3200" b="1" dirty="0"/>
              <a:t>Why Tree Data Structure?</a:t>
            </a:r>
          </a:p>
          <a:p>
            <a:r>
              <a:rPr lang="en-US" sz="3200" dirty="0"/>
              <a:t>Other data structures such as arrays, linked list, stack and queue are linear data structures that store data sequentially. </a:t>
            </a:r>
          </a:p>
          <a:p>
            <a:r>
              <a:rPr lang="en-US" sz="3200" dirty="0"/>
              <a:t>In order to perform any operation in a linear data structure, the time complexity increases with the increase in the data size. </a:t>
            </a:r>
          </a:p>
          <a:p>
            <a:r>
              <a:rPr lang="en-US" sz="3200" dirty="0"/>
              <a:t>But, it is not acceptable in today's computational world.</a:t>
            </a:r>
          </a:p>
          <a:p>
            <a:r>
              <a:rPr lang="en-US" sz="3200" dirty="0"/>
              <a:t>Different tree data structures allow quicker and easier access to the data as it is a non-linear data structure.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12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A9D76-7D1D-48B7-AA31-DE6401863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604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Tree Terminologies</a:t>
            </a:r>
          </a:p>
          <a:p>
            <a:pPr marL="0" indent="0">
              <a:buNone/>
            </a:pPr>
            <a:r>
              <a:rPr lang="en-US" b="1" dirty="0"/>
              <a:t>Node</a:t>
            </a:r>
          </a:p>
          <a:p>
            <a:r>
              <a:rPr lang="en-US" dirty="0"/>
              <a:t>A node is an entity that contains a key or value and pointers to its child nodes.</a:t>
            </a:r>
          </a:p>
          <a:p>
            <a:r>
              <a:rPr lang="en-US" dirty="0"/>
              <a:t>The last nodes of each path are called </a:t>
            </a:r>
            <a:r>
              <a:rPr lang="en-US" b="1" dirty="0"/>
              <a:t>leaf nodes or external nodes</a:t>
            </a:r>
            <a:r>
              <a:rPr lang="en-US" dirty="0"/>
              <a:t> that do not contain a link/pointer to child nodes.</a:t>
            </a:r>
          </a:p>
          <a:p>
            <a:r>
              <a:rPr lang="en-US" dirty="0"/>
              <a:t>The node having at least a child node is called an </a:t>
            </a:r>
            <a:r>
              <a:rPr lang="en-US" b="1" dirty="0"/>
              <a:t>internal node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Edge</a:t>
            </a:r>
          </a:p>
          <a:p>
            <a:r>
              <a:rPr lang="en-US" dirty="0"/>
              <a:t>It is the link between any two nodes.</a:t>
            </a:r>
          </a:p>
          <a:p>
            <a:pPr marL="0" indent="0">
              <a:buNone/>
            </a:pPr>
            <a:r>
              <a:rPr lang="en-US" b="1" dirty="0"/>
              <a:t>Root</a:t>
            </a:r>
          </a:p>
          <a:p>
            <a:r>
              <a:rPr lang="en-US" dirty="0"/>
              <a:t>It is the topmost node of a tree.</a:t>
            </a:r>
          </a:p>
          <a:p>
            <a:pPr marL="0" indent="0">
              <a:buNone/>
            </a:pPr>
            <a:r>
              <a:rPr lang="en-US" b="1" dirty="0"/>
              <a:t>Height of a Node</a:t>
            </a:r>
          </a:p>
          <a:p>
            <a:r>
              <a:rPr lang="en-US" dirty="0"/>
              <a:t>The height of a node is the number of edges from the node to the deepest leaf (</a:t>
            </a:r>
            <a:r>
              <a:rPr lang="en-US" dirty="0" err="1"/>
              <a:t>ie</a:t>
            </a:r>
            <a:r>
              <a:rPr lang="en-US" dirty="0"/>
              <a:t>. the longest path from the node to a leaf node).</a:t>
            </a:r>
          </a:p>
          <a:p>
            <a:pPr marL="0" indent="0">
              <a:buNone/>
            </a:pPr>
            <a:r>
              <a:rPr lang="en-US" b="1" dirty="0"/>
              <a:t>Depth of a Node</a:t>
            </a:r>
          </a:p>
          <a:p>
            <a:r>
              <a:rPr lang="en-US" dirty="0"/>
              <a:t>The depth of a node is the number of edges from the root to the node.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512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BF980-B2D4-4F40-B5E2-D9F9DB12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7338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Height of a Tree</a:t>
            </a:r>
          </a:p>
          <a:p>
            <a:r>
              <a:rPr lang="en-US" dirty="0"/>
              <a:t>The height of a Tree is the height of the root node or the depth of the deepest node.</a:t>
            </a:r>
          </a:p>
          <a:p>
            <a:pPr marL="0" indent="0">
              <a:buNone/>
            </a:pPr>
            <a:r>
              <a:rPr lang="en-US" b="1" dirty="0"/>
              <a:t>Degree of a Node</a:t>
            </a:r>
          </a:p>
          <a:p>
            <a:r>
              <a:rPr lang="en-US" dirty="0"/>
              <a:t>The degree of a node is the total number of branches of that node.</a:t>
            </a:r>
          </a:p>
          <a:p>
            <a:pPr marL="0" indent="0">
              <a:buNone/>
            </a:pPr>
            <a:r>
              <a:rPr lang="en-US" b="1" dirty="0"/>
              <a:t>Forest</a:t>
            </a:r>
          </a:p>
          <a:p>
            <a:r>
              <a:rPr lang="en-US" dirty="0"/>
              <a:t>A collection of disjoint trees is called a forest.</a:t>
            </a:r>
          </a:p>
          <a:p>
            <a:pPr marL="0" indent="0">
              <a:buNone/>
            </a:pPr>
            <a:r>
              <a:rPr lang="en-US" b="1" dirty="0"/>
              <a:t>Parent Node:</a:t>
            </a:r>
            <a:r>
              <a:rPr lang="en-US" dirty="0"/>
              <a:t> </a:t>
            </a:r>
          </a:p>
          <a:p>
            <a:r>
              <a:rPr lang="en-US" dirty="0"/>
              <a:t>The node which is a predecessor of a node is called the parent node of that node.</a:t>
            </a:r>
            <a:r>
              <a:rPr lang="en-US" b="1" dirty="0"/>
              <a:t> {B}</a:t>
            </a:r>
            <a:r>
              <a:rPr lang="en-US" dirty="0"/>
              <a:t> is the parent node of </a:t>
            </a:r>
            <a:r>
              <a:rPr lang="en-US" b="1" dirty="0"/>
              <a:t>{D, E}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Child Node:</a:t>
            </a:r>
          </a:p>
          <a:p>
            <a:r>
              <a:rPr lang="en-US" dirty="0"/>
              <a:t> The node which is the immediate successor of a node is called the child node of that node. Examples: </a:t>
            </a:r>
            <a:r>
              <a:rPr lang="en-US" b="1" dirty="0"/>
              <a:t>{D, E}</a:t>
            </a:r>
            <a:r>
              <a:rPr lang="en-US" dirty="0"/>
              <a:t> are the child nodes of </a:t>
            </a:r>
            <a:r>
              <a:rPr lang="en-US" b="1" dirty="0"/>
              <a:t>{B}.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598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B4878-774C-4619-9CC2-EF84E719D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62657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Root Node:</a:t>
            </a:r>
            <a:r>
              <a:rPr lang="en-US" dirty="0"/>
              <a:t> </a:t>
            </a:r>
          </a:p>
          <a:p>
            <a:r>
              <a:rPr lang="en-US" dirty="0"/>
              <a:t>The topmost node of a tree or the node which does not have any parent node is called the root node. </a:t>
            </a:r>
          </a:p>
          <a:p>
            <a:r>
              <a:rPr lang="en-US" dirty="0"/>
              <a:t>{A</a:t>
            </a:r>
            <a:r>
              <a:rPr lang="en-US" b="1" dirty="0"/>
              <a:t>}</a:t>
            </a:r>
            <a:r>
              <a:rPr lang="en-US" dirty="0"/>
              <a:t> is the root node of the tree. </a:t>
            </a:r>
          </a:p>
          <a:p>
            <a:r>
              <a:rPr lang="en-US" dirty="0"/>
              <a:t>A non-empty tree must contain exactly one root node and exactly one path from the root to all other nodes of the tree.</a:t>
            </a:r>
          </a:p>
          <a:p>
            <a:pPr marL="0" indent="0">
              <a:buNone/>
            </a:pPr>
            <a:r>
              <a:rPr lang="en-US" b="1" dirty="0"/>
              <a:t>Leaf Node or External Node:</a:t>
            </a:r>
          </a:p>
          <a:p>
            <a:r>
              <a:rPr lang="en-US" dirty="0"/>
              <a:t> The nodes which do not have any child nodes are called leaf nodes. </a:t>
            </a:r>
            <a:r>
              <a:rPr lang="en-US" b="1" dirty="0"/>
              <a:t>{K, L, M, N, O, P}</a:t>
            </a:r>
            <a:r>
              <a:rPr lang="en-US" dirty="0"/>
              <a:t> are the leaf nodes of the tree.</a:t>
            </a:r>
          </a:p>
          <a:p>
            <a:pPr marL="0" indent="0">
              <a:buNone/>
            </a:pPr>
            <a:r>
              <a:rPr lang="en-US" b="1" dirty="0"/>
              <a:t>Ancestor of a Node:</a:t>
            </a:r>
          </a:p>
          <a:p>
            <a:r>
              <a:rPr lang="en-US" dirty="0"/>
              <a:t> Any predecessor nodes on the path of the root to that node are called Ancestors of that node.</a:t>
            </a:r>
            <a:r>
              <a:rPr lang="en-US" b="1" dirty="0"/>
              <a:t> </a:t>
            </a:r>
          </a:p>
          <a:p>
            <a:r>
              <a:rPr lang="en-US" b="1" dirty="0"/>
              <a:t>{A,B}</a:t>
            </a:r>
            <a:r>
              <a:rPr lang="en-US" dirty="0"/>
              <a:t> are the ancestor nodes of the node</a:t>
            </a:r>
            <a:r>
              <a:rPr lang="en-US" b="1" dirty="0"/>
              <a:t> {E}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602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4EFA1-C30D-43F8-818F-1A0E4EE66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3946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Descendant:</a:t>
            </a:r>
            <a:r>
              <a:rPr lang="en-US" dirty="0"/>
              <a:t> </a:t>
            </a:r>
          </a:p>
          <a:p>
            <a:r>
              <a:rPr lang="en-US" dirty="0"/>
              <a:t>Any successor node on the path from the leaf node to that node. </a:t>
            </a:r>
          </a:p>
          <a:p>
            <a:r>
              <a:rPr lang="en-US" b="1" dirty="0"/>
              <a:t>{E,I} </a:t>
            </a:r>
            <a:r>
              <a:rPr lang="en-US" dirty="0"/>
              <a:t>are the descendants of the node </a:t>
            </a:r>
            <a:r>
              <a:rPr lang="en-US" b="1" dirty="0"/>
              <a:t>{B}.</a:t>
            </a:r>
          </a:p>
          <a:p>
            <a:pPr marL="0" indent="0">
              <a:buNone/>
            </a:pPr>
            <a:r>
              <a:rPr lang="en-US" b="1" dirty="0"/>
              <a:t>Sibling:</a:t>
            </a:r>
          </a:p>
          <a:p>
            <a:r>
              <a:rPr lang="en-US" dirty="0"/>
              <a:t> Children of the same parent node are called siblings.</a:t>
            </a:r>
            <a:r>
              <a:rPr lang="en-US" b="1" dirty="0"/>
              <a:t> </a:t>
            </a:r>
          </a:p>
          <a:p>
            <a:r>
              <a:rPr lang="en-US" b="1" dirty="0"/>
              <a:t>{D,E}</a:t>
            </a:r>
            <a:r>
              <a:rPr lang="en-US" dirty="0"/>
              <a:t> are called siblings.</a:t>
            </a:r>
          </a:p>
          <a:p>
            <a:pPr marL="0" indent="0">
              <a:buNone/>
            </a:pPr>
            <a:r>
              <a:rPr lang="en-US" b="1" dirty="0"/>
              <a:t>Level of a node:</a:t>
            </a:r>
          </a:p>
          <a:p>
            <a:r>
              <a:rPr lang="en-US" dirty="0"/>
              <a:t> The count of edges on the path from the root node to that node.</a:t>
            </a:r>
          </a:p>
          <a:p>
            <a:r>
              <a:rPr lang="en-US" dirty="0"/>
              <a:t>The root node has level </a:t>
            </a:r>
            <a:r>
              <a:rPr lang="en-US" b="1" dirty="0"/>
              <a:t>0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Internal node:</a:t>
            </a:r>
            <a:r>
              <a:rPr lang="en-US" dirty="0"/>
              <a:t> A node with at least one child is called Internal Node.</a:t>
            </a:r>
          </a:p>
          <a:p>
            <a:pPr marL="0" indent="0">
              <a:buNone/>
            </a:pPr>
            <a:r>
              <a:rPr lang="en-US" b="1" dirty="0"/>
              <a:t>Neighbors of a Node:</a:t>
            </a:r>
            <a:r>
              <a:rPr lang="en-US" dirty="0"/>
              <a:t> Parent or child nodes of that node are called neighbors of that node.</a:t>
            </a:r>
          </a:p>
          <a:p>
            <a:pPr marL="0" indent="0">
              <a:buNone/>
            </a:pPr>
            <a:r>
              <a:rPr lang="en-US" b="1" dirty="0"/>
              <a:t>Subtree</a:t>
            </a:r>
            <a:r>
              <a:rPr lang="en-US" dirty="0"/>
              <a:t>: Any node of the tree along with its descendant.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642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111B-6802-4DA4-B511-72FD41C3B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3"/>
            <a:ext cx="10515600" cy="6547556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Properties of a Tree:</a:t>
            </a:r>
          </a:p>
          <a:p>
            <a:pPr marL="0" indent="0">
              <a:buNone/>
            </a:pPr>
            <a:r>
              <a:rPr lang="en-US" sz="3200" b="1" dirty="0"/>
              <a:t>Number of edges:</a:t>
            </a:r>
            <a:r>
              <a:rPr lang="en-US" sz="3200" dirty="0"/>
              <a:t> </a:t>
            </a:r>
          </a:p>
          <a:p>
            <a:r>
              <a:rPr lang="en-US" sz="3200" dirty="0"/>
              <a:t>An edge can be defined as the connection between two nodes. If a tree has N nodes then it will have (N-1) edges. </a:t>
            </a:r>
          </a:p>
          <a:p>
            <a:r>
              <a:rPr lang="en-US" sz="3200" dirty="0"/>
              <a:t>There is only one path from each node to any other node of the tree.</a:t>
            </a:r>
          </a:p>
          <a:p>
            <a:pPr marL="0" indent="0">
              <a:buNone/>
            </a:pPr>
            <a:r>
              <a:rPr lang="en-US" sz="3200" b="1" dirty="0"/>
              <a:t>Depth of a node:</a:t>
            </a:r>
          </a:p>
          <a:p>
            <a:r>
              <a:rPr lang="en-US" sz="3200" dirty="0"/>
              <a:t> The depth of a node is defined as the length of the path from the root to that node. </a:t>
            </a:r>
          </a:p>
          <a:p>
            <a:r>
              <a:rPr lang="en-US" sz="3200" dirty="0"/>
              <a:t>Each edge adds 1 unit of length to the path. </a:t>
            </a:r>
          </a:p>
          <a:p>
            <a:r>
              <a:rPr lang="en-US" sz="3200" dirty="0"/>
              <a:t>So, it can also be defined as the number of edges in the path from the root of the tree to the node.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26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7FD36-9DF7-4E14-8895-A142A2A43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64915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Height of a node:</a:t>
            </a:r>
            <a:r>
              <a:rPr lang="en-US" dirty="0"/>
              <a:t> </a:t>
            </a:r>
          </a:p>
          <a:p>
            <a:r>
              <a:rPr lang="en-US" dirty="0"/>
              <a:t>The height of a node can be defined as the length of the longest path from the node to a leaf node of the tree.</a:t>
            </a:r>
          </a:p>
          <a:p>
            <a:pPr marL="0" indent="0">
              <a:buNone/>
            </a:pPr>
            <a:r>
              <a:rPr lang="en-US" b="1" dirty="0"/>
              <a:t>Height of the Tree:</a:t>
            </a:r>
            <a:r>
              <a:rPr lang="en-US" dirty="0"/>
              <a:t> </a:t>
            </a:r>
          </a:p>
          <a:p>
            <a:r>
              <a:rPr lang="en-US" dirty="0"/>
              <a:t>The height of a tree is the length of the longest path from the root of the tree to a leaf node of the tree.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Degree of a Node:</a:t>
            </a:r>
          </a:p>
          <a:p>
            <a:r>
              <a:rPr lang="en-US" dirty="0"/>
              <a:t> The total count of subtrees attached to that node is called the degree of the node.</a:t>
            </a:r>
          </a:p>
          <a:p>
            <a:r>
              <a:rPr lang="en-US" dirty="0"/>
              <a:t>The degree of a leaf node must be </a:t>
            </a:r>
            <a:r>
              <a:rPr lang="en-US" b="1" dirty="0"/>
              <a:t>0</a:t>
            </a:r>
            <a:r>
              <a:rPr lang="en-US" dirty="0"/>
              <a:t>. </a:t>
            </a:r>
          </a:p>
          <a:p>
            <a:r>
              <a:rPr lang="en-US" dirty="0"/>
              <a:t>The degree of a tree is the maximum degree of a node among all the nodes in the tree.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6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4F45D-F723-4383-80A7-BAA808C66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592711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Why to use Tree Data Structure? </a:t>
            </a:r>
          </a:p>
          <a:p>
            <a:pPr marL="0" indent="0">
              <a:buNone/>
            </a:pPr>
            <a:r>
              <a:rPr lang="en-US" sz="3200" b="1" dirty="0"/>
              <a:t>1.</a:t>
            </a:r>
            <a:r>
              <a:rPr lang="en-US" sz="3200" dirty="0"/>
              <a:t> One reason to use trees might be because you want to store information that naturally forms a hierarchy. </a:t>
            </a:r>
          </a:p>
          <a:p>
            <a:pPr marL="0" indent="0">
              <a:buNone/>
            </a:pPr>
            <a:r>
              <a:rPr lang="en-US" sz="3200" dirty="0"/>
              <a:t>For example, the file system on a computer. </a:t>
            </a:r>
          </a:p>
          <a:p>
            <a:pPr marL="0" indent="0">
              <a:buNone/>
            </a:pPr>
            <a:r>
              <a:rPr lang="en-US" sz="3200" b="1" dirty="0"/>
              <a:t>2.</a:t>
            </a:r>
            <a:r>
              <a:rPr lang="en-US" sz="3200" dirty="0"/>
              <a:t> Trees (with some ordering e.g., BST) provide moderate access/search (quicker than Linked List and slower than arrays). </a:t>
            </a:r>
            <a:br>
              <a:rPr lang="en-US" sz="3200" dirty="0"/>
            </a:br>
            <a:r>
              <a:rPr lang="en-US" sz="3200" b="1" dirty="0"/>
              <a:t>3.</a:t>
            </a:r>
            <a:r>
              <a:rPr lang="en-US" sz="3200" dirty="0"/>
              <a:t> Trees provide moderate insertion/deletion (quicker than Arrays and slower than Unordered Linked Lists). </a:t>
            </a:r>
            <a:br>
              <a:rPr lang="en-US" sz="3200" dirty="0"/>
            </a:br>
            <a:r>
              <a:rPr lang="en-US" sz="3200" b="1" dirty="0"/>
              <a:t>4.</a:t>
            </a:r>
            <a:r>
              <a:rPr lang="en-US" sz="3200" dirty="0"/>
              <a:t> Like Linked Lists and unlike Arrays, Trees don’t have an upper limit on the number of nodes as nodes are linked using pointers.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968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3697C-8F57-4F0E-9BC3-3E90D6E1D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507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Types of Tree</a:t>
            </a:r>
          </a:p>
          <a:p>
            <a:pPr marL="0" indent="0">
              <a:buNone/>
            </a:pPr>
            <a:r>
              <a:rPr lang="en-US" dirty="0"/>
              <a:t>The different types of tree data structures are as follows:</a:t>
            </a:r>
          </a:p>
          <a:p>
            <a:pPr marL="0" indent="0">
              <a:buNone/>
            </a:pPr>
            <a:r>
              <a:rPr lang="en-US" dirty="0"/>
              <a:t>1.</a:t>
            </a:r>
            <a:r>
              <a:rPr lang="en-US" b="1" dirty="0"/>
              <a:t> General tree</a:t>
            </a:r>
            <a:endParaRPr lang="en-US" dirty="0"/>
          </a:p>
          <a:p>
            <a:r>
              <a:rPr lang="en-US" dirty="0"/>
              <a:t>A general tree data structure has no restriction on the number of nodes. </a:t>
            </a:r>
          </a:p>
          <a:p>
            <a:r>
              <a:rPr lang="en-US" dirty="0"/>
              <a:t>It means that a parent node can have any number of child nodes.  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Binary tree  </a:t>
            </a:r>
            <a:endParaRPr lang="en-US" dirty="0"/>
          </a:p>
          <a:p>
            <a:r>
              <a:rPr lang="en-US" dirty="0"/>
              <a:t>A node of a binary tree can have a maximum of two child nodes. </a:t>
            </a:r>
          </a:p>
          <a:p>
            <a:r>
              <a:rPr lang="en-US" dirty="0"/>
              <a:t>In the given tree diagram, node B, D, and F are left children, while E, C, and G are the right children.  </a:t>
            </a:r>
          </a:p>
          <a:p>
            <a:pPr marL="0" indent="0">
              <a:buNone/>
            </a:pPr>
            <a:r>
              <a:rPr lang="en-US" dirty="0"/>
              <a:t>3.</a:t>
            </a:r>
            <a:r>
              <a:rPr lang="en-US" b="1" dirty="0"/>
              <a:t> Balanced tree</a:t>
            </a:r>
            <a:endParaRPr lang="en-US" dirty="0"/>
          </a:p>
          <a:p>
            <a:r>
              <a:rPr lang="en-US" dirty="0"/>
              <a:t>If the height of the left sub-tree and the right sub-tree is equal or differs at most by 1, the tree is known as a balanced tree. 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449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B9625B-9C80-4109-B859-38BA042C9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11" y="327378"/>
            <a:ext cx="11367911" cy="6530622"/>
          </a:xfrm>
        </p:spPr>
      </p:pic>
    </p:spTree>
    <p:extLst>
      <p:ext uri="{BB962C8B-B14F-4D97-AF65-F5344CB8AC3E}">
        <p14:creationId xmlns:p14="http://schemas.microsoft.com/office/powerpoint/2010/main" val="49588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6206C-3AFC-4461-BFED-729B11D2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75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4</a:t>
            </a:r>
            <a:r>
              <a:rPr lang="en-US" sz="3200" dirty="0"/>
              <a:t>. </a:t>
            </a:r>
            <a:r>
              <a:rPr lang="en-US" sz="3200" b="1" dirty="0"/>
              <a:t>Binary search tree</a:t>
            </a:r>
            <a:endParaRPr lang="en-US" sz="3200" dirty="0"/>
          </a:p>
          <a:p>
            <a:r>
              <a:rPr lang="en-US" sz="3200" dirty="0"/>
              <a:t>As the name implies, binary search trees are used for various searching and sorting algorithms.</a:t>
            </a:r>
          </a:p>
          <a:p>
            <a:r>
              <a:rPr lang="en-US" sz="3200" dirty="0"/>
              <a:t>The examples include AVL tree and red-black tree. </a:t>
            </a:r>
          </a:p>
          <a:p>
            <a:r>
              <a:rPr lang="en-US" sz="3200" dirty="0"/>
              <a:t>It is a non-linear data structure. </a:t>
            </a:r>
          </a:p>
          <a:p>
            <a:r>
              <a:rPr lang="en-US" sz="3200" dirty="0"/>
              <a:t>It shows that the value of the left node is less than its parent, while the value of the right node is greater than its parent.</a:t>
            </a:r>
          </a:p>
          <a:p>
            <a:pPr marL="0" indent="0">
              <a:buNone/>
            </a:pPr>
            <a:r>
              <a:rPr lang="en-US" sz="3200" dirty="0"/>
              <a:t>5</a:t>
            </a:r>
            <a:r>
              <a:rPr lang="en-US" sz="3200" b="1" dirty="0"/>
              <a:t>. AVL Tree</a:t>
            </a:r>
          </a:p>
          <a:p>
            <a:r>
              <a:rPr lang="en-US" sz="3200" dirty="0"/>
              <a:t>AVL tree is a self-balancing binary search tree in which each node maintains extra information called a balance factor whose value is either -1, 0 or +1.</a:t>
            </a:r>
          </a:p>
          <a:p>
            <a:r>
              <a:rPr lang="en-US" sz="3200" dirty="0"/>
              <a:t>AVL tree got its name after its inventor Georgy Adelson-</a:t>
            </a:r>
            <a:r>
              <a:rPr lang="en-US" sz="3200" dirty="0" err="1"/>
              <a:t>Velsky</a:t>
            </a:r>
            <a:r>
              <a:rPr lang="en-US" sz="3200" dirty="0"/>
              <a:t> and Landis.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300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76D2B-8FFA-46C1-ABEC-1845912AB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Balance Factor</a:t>
            </a:r>
          </a:p>
          <a:p>
            <a:r>
              <a:rPr lang="en-US" sz="3600" dirty="0"/>
              <a:t>Balance factor of a node in an AVL tree is the difference between the height of the left subtree and that of the right subtree of that node.</a:t>
            </a:r>
          </a:p>
          <a:p>
            <a:r>
              <a:rPr lang="en-US" sz="3600" dirty="0"/>
              <a:t>Balance Factor = (Height of Left Subtree - Height of Right Subtree) or (Height of Right Subtree - Height of Left Subtree)</a:t>
            </a:r>
          </a:p>
          <a:p>
            <a:r>
              <a:rPr lang="en-US" sz="3600" dirty="0"/>
              <a:t>The self balancing property of an avl tree is maintained by the balance factor. </a:t>
            </a:r>
          </a:p>
          <a:p>
            <a:r>
              <a:rPr lang="en-US" sz="3600" dirty="0"/>
              <a:t>The value of balance factor should always be -1, 0 or +1.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51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04AE7E-EAF8-42CC-BAA9-A103B13CA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56" y="158044"/>
            <a:ext cx="11729155" cy="6570134"/>
          </a:xfrm>
        </p:spPr>
      </p:pic>
    </p:spTree>
    <p:extLst>
      <p:ext uri="{BB962C8B-B14F-4D97-AF65-F5344CB8AC3E}">
        <p14:creationId xmlns:p14="http://schemas.microsoft.com/office/powerpoint/2010/main" val="1361288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4DF1-42DA-48B5-A5F5-CC5B0EB2C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649155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Applications of AVL Tree:</a:t>
            </a:r>
          </a:p>
          <a:p>
            <a:r>
              <a:rPr lang="en-US" sz="3600" dirty="0"/>
              <a:t>It is used to index huge records in a database and also to efficiently search in that.</a:t>
            </a:r>
          </a:p>
          <a:p>
            <a:r>
              <a:rPr lang="en-US" sz="3600" dirty="0"/>
              <a:t>For all types of in-memory collections, including sets and dictionaries, AVL Trees are used.</a:t>
            </a:r>
          </a:p>
          <a:p>
            <a:r>
              <a:rPr lang="en-US" sz="3600" dirty="0"/>
              <a:t>Database applications, where insertions and deletions are less common but frequent data lookups are necessary</a:t>
            </a:r>
          </a:p>
          <a:p>
            <a:r>
              <a:rPr lang="en-US" sz="3600" dirty="0"/>
              <a:t>Software that needs optimized search.</a:t>
            </a:r>
          </a:p>
          <a:p>
            <a:r>
              <a:rPr lang="en-US" sz="3600" dirty="0"/>
              <a:t>It is applied in corporate areas and storyline games.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998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D575F-8905-452C-8F52-6E816E997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16889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Advantages of AVL Tree:</a:t>
            </a:r>
          </a:p>
          <a:p>
            <a:r>
              <a:rPr lang="en-US" sz="3600" dirty="0"/>
              <a:t>AVL trees can self-balance themselves.</a:t>
            </a:r>
          </a:p>
          <a:p>
            <a:r>
              <a:rPr lang="en-US" sz="3600" dirty="0"/>
              <a:t>It is surely not skewed.</a:t>
            </a:r>
          </a:p>
          <a:p>
            <a:r>
              <a:rPr lang="en-US" sz="3600" dirty="0"/>
              <a:t>It provides faster lookups than Red-Black Trees</a:t>
            </a:r>
          </a:p>
          <a:p>
            <a:r>
              <a:rPr lang="en-US" sz="3600" dirty="0"/>
              <a:t>Better searching time complexity compared to other trees like binary tree.</a:t>
            </a:r>
          </a:p>
          <a:p>
            <a:r>
              <a:rPr lang="en-US" sz="3600" dirty="0"/>
              <a:t>Height cannot exceed log(N), where, N is the total number of nodes in the tree.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726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DE3D5-BF90-4B92-B1D9-90835EE3C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39467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Disadvantages of AVL Tree:</a:t>
            </a:r>
          </a:p>
          <a:p>
            <a:r>
              <a:rPr lang="en-US" sz="3600" dirty="0"/>
              <a:t>It is difficult to implement.</a:t>
            </a:r>
          </a:p>
          <a:p>
            <a:r>
              <a:rPr lang="en-US" sz="3600" dirty="0"/>
              <a:t>It has high constant factors for some of the operations.</a:t>
            </a:r>
          </a:p>
          <a:p>
            <a:r>
              <a:rPr lang="en-US" sz="3600" dirty="0"/>
              <a:t>Less used compared to Red-Black trees.</a:t>
            </a:r>
          </a:p>
          <a:p>
            <a:r>
              <a:rPr lang="en-US" sz="3600" dirty="0"/>
              <a:t>Due to its rather strict balance, AVL trees provide complicated insertion and removal operations as more rotations are performed.</a:t>
            </a:r>
          </a:p>
          <a:p>
            <a:r>
              <a:rPr lang="en-US" sz="3600" dirty="0"/>
              <a:t>Take more processing for balancing.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29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DB35C-3903-4FFB-97C1-A231920FB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5927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6. </a:t>
            </a:r>
            <a:r>
              <a:rPr lang="en-US" b="1" dirty="0"/>
              <a:t>B-tree</a:t>
            </a:r>
          </a:p>
          <a:p>
            <a:r>
              <a:rPr lang="en-US" dirty="0"/>
              <a:t>B-tree is a special type of self-balancing search tree in which each node can contain more than one key and can have more than two children. </a:t>
            </a:r>
          </a:p>
          <a:p>
            <a:r>
              <a:rPr lang="en-US" dirty="0"/>
              <a:t>It is a generalized form of the binary search tree.</a:t>
            </a:r>
          </a:p>
          <a:p>
            <a:r>
              <a:rPr lang="en-US" dirty="0"/>
              <a:t>It is also known as a height-balanced m-way tree.</a:t>
            </a:r>
          </a:p>
          <a:p>
            <a:pPr marL="0" indent="0">
              <a:buNone/>
            </a:pPr>
            <a:r>
              <a:rPr lang="en-US" b="1" dirty="0"/>
              <a:t>Why do you need a B-tree data structure?</a:t>
            </a:r>
          </a:p>
          <a:p>
            <a:r>
              <a:rPr lang="en-US" dirty="0"/>
              <a:t>The need for B-tree arose with the rise in the need for lesser time in accessing physical storage media like a hard disk. The secondary storage devices are slower with a larger capacity. There was a need for such types of data structures that minimize the disk access.</a:t>
            </a:r>
          </a:p>
          <a:p>
            <a:r>
              <a:rPr lang="en-US" dirty="0"/>
              <a:t>Other data structures such as a binary search tree, avl tree, red-black tree, </a:t>
            </a:r>
            <a:r>
              <a:rPr lang="en-US" dirty="0" err="1"/>
              <a:t>etc</a:t>
            </a:r>
            <a:r>
              <a:rPr lang="en-US" dirty="0"/>
              <a:t> can store only one key in one node. If you have to store a large number of keys, then the height of such trees becomes very large, and the access time increases.</a:t>
            </a:r>
          </a:p>
          <a:p>
            <a:r>
              <a:rPr lang="en-US" dirty="0"/>
              <a:t>However, B-tree can store many keys in a single node and can have multiple child nodes. This decreases the height significantly allowing faster disk accesses.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238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8EAB6-8DAD-43EE-82C4-343E02490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6491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/>
              <a:t>B-tree Properties</a:t>
            </a:r>
          </a:p>
          <a:p>
            <a:r>
              <a:rPr lang="en-US" sz="3600" dirty="0"/>
              <a:t>For each node </a:t>
            </a:r>
            <a:r>
              <a:rPr lang="en-US" sz="3600" i="1" dirty="0"/>
              <a:t>x</a:t>
            </a:r>
            <a:r>
              <a:rPr lang="en-US" sz="3600" dirty="0"/>
              <a:t>, the keys are stored in increasing order.</a:t>
            </a:r>
          </a:p>
          <a:p>
            <a:r>
              <a:rPr lang="en-US" sz="3600" dirty="0"/>
              <a:t>In each node, there is a </a:t>
            </a:r>
            <a:r>
              <a:rPr lang="en-US" sz="3600" dirty="0" err="1"/>
              <a:t>boolean</a:t>
            </a:r>
            <a:r>
              <a:rPr lang="en-US" sz="3600" dirty="0"/>
              <a:t> value </a:t>
            </a:r>
            <a:r>
              <a:rPr lang="en-US" sz="3600" i="1" dirty="0" err="1"/>
              <a:t>x.leaf</a:t>
            </a:r>
            <a:r>
              <a:rPr lang="en-US" sz="3600" dirty="0"/>
              <a:t> which is true if </a:t>
            </a:r>
            <a:r>
              <a:rPr lang="en-US" sz="3600" i="1" dirty="0"/>
              <a:t>x</a:t>
            </a:r>
            <a:r>
              <a:rPr lang="en-US" sz="3600" dirty="0"/>
              <a:t> is a leaf.</a:t>
            </a:r>
          </a:p>
          <a:p>
            <a:r>
              <a:rPr lang="en-US" sz="3600" dirty="0"/>
              <a:t>If </a:t>
            </a:r>
            <a:r>
              <a:rPr lang="en-US" sz="3600" i="1" dirty="0"/>
              <a:t>n</a:t>
            </a:r>
            <a:r>
              <a:rPr lang="en-US" sz="3600" dirty="0"/>
              <a:t> is the order of the tree, each internal node can contain at most </a:t>
            </a:r>
            <a:r>
              <a:rPr lang="en-US" sz="3600" i="1" dirty="0"/>
              <a:t>n - 1</a:t>
            </a:r>
            <a:r>
              <a:rPr lang="en-US" sz="3600" dirty="0"/>
              <a:t> keys along with a pointer to each child.</a:t>
            </a:r>
          </a:p>
          <a:p>
            <a:r>
              <a:rPr lang="en-US" sz="3600" dirty="0"/>
              <a:t>Each node except root can have at most n children and at least </a:t>
            </a:r>
            <a:r>
              <a:rPr lang="en-US" sz="3600" i="1" dirty="0"/>
              <a:t>n/2</a:t>
            </a:r>
            <a:r>
              <a:rPr lang="en-US" sz="3600" dirty="0"/>
              <a:t> children.</a:t>
            </a:r>
          </a:p>
          <a:p>
            <a:r>
              <a:rPr lang="en-US" sz="3600" dirty="0"/>
              <a:t>All leaves have the same depth (i.e. height-h of the tree).</a:t>
            </a:r>
          </a:p>
          <a:p>
            <a:r>
              <a:rPr lang="en-US" sz="3600" dirty="0"/>
              <a:t>The root has at least 2 children and contains a minimum of 1 key.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33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5B55C-6D98-46CD-8FAC-4C8BD19A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55884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Advantages of Tree data structure</a:t>
            </a:r>
          </a:p>
          <a:p>
            <a:r>
              <a:rPr lang="en-US" dirty="0"/>
              <a:t>Efficient insertion, deletion, and search operations.</a:t>
            </a:r>
          </a:p>
          <a:p>
            <a:r>
              <a:rPr lang="en-US" dirty="0"/>
              <a:t>Trees are flexibility in terms of the types of data that can be stored.</a:t>
            </a:r>
          </a:p>
          <a:p>
            <a:r>
              <a:rPr lang="en-US" dirty="0"/>
              <a:t>It is used to represent hierarchical relationships.</a:t>
            </a:r>
          </a:p>
          <a:p>
            <a:r>
              <a:rPr lang="en-US" dirty="0"/>
              <a:t>It has the ability to represent a recursive structure.</a:t>
            </a:r>
          </a:p>
          <a:p>
            <a:r>
              <a:rPr lang="en-US" dirty="0"/>
              <a:t>Used in various algorithms and data structures such as Huffman coding and decision trees.</a:t>
            </a:r>
          </a:p>
          <a:p>
            <a:r>
              <a:rPr lang="en-US" dirty="0"/>
              <a:t>Trees use less space than other data structures, like lists, and linked lists.</a:t>
            </a:r>
          </a:p>
          <a:p>
            <a:r>
              <a:rPr lang="en-US" dirty="0"/>
              <a:t>Trees are dynamic in nature.</a:t>
            </a:r>
          </a:p>
          <a:p>
            <a:r>
              <a:rPr lang="en-US" dirty="0"/>
              <a:t>Tree data structures can automatically self-organize as new data is added or removed, which can improve performance and reduce complexity.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2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AD1AE-8695-466D-88A9-92F551DAC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5814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Disadvantages of Tree data structure</a:t>
            </a:r>
          </a:p>
          <a:p>
            <a:r>
              <a:rPr lang="en-US" dirty="0"/>
              <a:t>Trees require additional memory for pointers.</a:t>
            </a:r>
          </a:p>
          <a:p>
            <a:r>
              <a:rPr lang="en-US" dirty="0"/>
              <a:t>Trees are not the best choice for data that does not have hierarchical relationships.</a:t>
            </a:r>
          </a:p>
          <a:p>
            <a:r>
              <a:rPr lang="en-US" dirty="0"/>
              <a:t>Trees with many levels can become expensive to search and traverse.</a:t>
            </a:r>
          </a:p>
          <a:p>
            <a:r>
              <a:rPr lang="en-US" dirty="0"/>
              <a:t>Limited scalability compared to other data structures such as hash tables.</a:t>
            </a:r>
          </a:p>
          <a:p>
            <a:r>
              <a:rPr lang="en-US" dirty="0"/>
              <a:t>Trees are typically used for storing and manipulating hierarchical data, and may not be the best choice for other types of data.</a:t>
            </a:r>
          </a:p>
          <a:p>
            <a:r>
              <a:rPr lang="en-US" dirty="0"/>
              <a:t>Not suitable for large datasets.</a:t>
            </a:r>
          </a:p>
          <a:p>
            <a:r>
              <a:rPr lang="en-US" dirty="0"/>
              <a:t>Trees can become unbalanced, leading to poor performance and decreased efficiency.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003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359B1-CD60-4097-8E2E-49302780F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61528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Applications of Tree data structure:</a:t>
            </a:r>
          </a:p>
          <a:p>
            <a:r>
              <a:rPr lang="en-US" dirty="0"/>
              <a:t>The applications of tree data structures are as follows:</a:t>
            </a:r>
          </a:p>
          <a:p>
            <a:r>
              <a:rPr lang="en-US" b="1" dirty="0"/>
              <a:t>Spanning trees:</a:t>
            </a:r>
            <a:r>
              <a:rPr lang="en-US" dirty="0"/>
              <a:t> It is the shortest path tree used in the routers to direct the packets to the destination.  </a:t>
            </a:r>
          </a:p>
          <a:p>
            <a:r>
              <a:rPr lang="en-US" b="1" dirty="0"/>
              <a:t>Binary Search Tree:</a:t>
            </a:r>
            <a:r>
              <a:rPr lang="en-US" dirty="0"/>
              <a:t> It is a type of tree data structure that helps in maintaining a sorted stream of data.  </a:t>
            </a:r>
          </a:p>
          <a:p>
            <a:r>
              <a:rPr lang="en-US" b="1" dirty="0"/>
              <a:t>Storing hierarchical data:</a:t>
            </a:r>
            <a:r>
              <a:rPr lang="en-US" dirty="0"/>
              <a:t> Tree data structures are used to store the hierarchical data, which means data is arranged in the form of order.  </a:t>
            </a:r>
          </a:p>
          <a:p>
            <a:r>
              <a:rPr lang="en-US" b="1" dirty="0"/>
              <a:t>Syntax tree:</a:t>
            </a:r>
            <a:r>
              <a:rPr lang="en-US" dirty="0"/>
              <a:t> The syntax tree represents the structure of the program’s source code, which is used in compilers.  </a:t>
            </a:r>
          </a:p>
          <a:p>
            <a:r>
              <a:rPr lang="en-US" b="1" dirty="0" err="1"/>
              <a:t>Trie</a:t>
            </a:r>
            <a:r>
              <a:rPr lang="en-US" b="1" dirty="0"/>
              <a:t>:</a:t>
            </a:r>
            <a:r>
              <a:rPr lang="en-US" dirty="0"/>
              <a:t> It is a fast and efficient way for dynamic spell checking. It is also used for locating specific keys from within a set. 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973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3C580-7338-464C-9A2A-4535F28A0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722533"/>
          </a:xfrm>
        </p:spPr>
        <p:txBody>
          <a:bodyPr>
            <a:noAutofit/>
          </a:bodyPr>
          <a:lstStyle/>
          <a:p>
            <a:r>
              <a:rPr lang="en-US" sz="3200" b="1" dirty="0"/>
              <a:t>Heap:</a:t>
            </a:r>
            <a:r>
              <a:rPr lang="en-US" sz="3200" dirty="0"/>
              <a:t> It is also a tree data structure that can be represented in a form of an array. It is used to implement priority queues.</a:t>
            </a:r>
          </a:p>
          <a:p>
            <a:r>
              <a:rPr lang="en-US" sz="3200" b="1" dirty="0"/>
              <a:t>Artificial intelligence:</a:t>
            </a:r>
            <a:r>
              <a:rPr lang="en-US" sz="3200" dirty="0"/>
              <a:t> Decision trees and other tree-based models are commonly used in machine learning and artificial intelligence to make predictions and classify data. </a:t>
            </a:r>
          </a:p>
          <a:p>
            <a:r>
              <a:rPr lang="en-US" sz="3200" b="1" dirty="0"/>
              <a:t>Database:</a:t>
            </a:r>
            <a:r>
              <a:rPr lang="en-US" sz="3200" dirty="0"/>
              <a:t> Some databases use trees to organize data for efficient searching and sorting.</a:t>
            </a:r>
          </a:p>
          <a:p>
            <a:r>
              <a:rPr lang="en-US" sz="3200" b="1" dirty="0"/>
              <a:t>Network: </a:t>
            </a:r>
            <a:r>
              <a:rPr lang="en-US" sz="3200" dirty="0"/>
              <a:t>Routing algorithms for networks, such as Internet Protocol (IP) routing, use trees to find the best path for data to travel from one network to another.</a:t>
            </a:r>
          </a:p>
        </p:txBody>
      </p:sp>
    </p:spTree>
    <p:extLst>
      <p:ext uri="{BB962C8B-B14F-4D97-AF65-F5344CB8AC3E}">
        <p14:creationId xmlns:p14="http://schemas.microsoft.com/office/powerpoint/2010/main" val="149072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96BD-A984-4709-B94C-AFEF2DB14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22"/>
            <a:ext cx="10515600" cy="6615289"/>
          </a:xfrm>
        </p:spPr>
        <p:txBody>
          <a:bodyPr/>
          <a:lstStyle/>
          <a:p>
            <a:r>
              <a:rPr lang="en-US" dirty="0"/>
              <a:t>B- </a:t>
            </a:r>
            <a:r>
              <a:rPr lang="en-US"/>
              <a:t>tree traversal: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1988</Words>
  <Application>Microsoft Office PowerPoint</Application>
  <PresentationFormat>Widescreen</PresentationFormat>
  <Paragraphs>163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BETTY</dc:creator>
  <cp:lastModifiedBy>BETTY</cp:lastModifiedBy>
  <cp:revision>18</cp:revision>
  <dcterms:created xsi:type="dcterms:W3CDTF">2023-05-09T21:11:38Z</dcterms:created>
  <dcterms:modified xsi:type="dcterms:W3CDTF">2023-05-09T22:26:00Z</dcterms:modified>
</cp:coreProperties>
</file>