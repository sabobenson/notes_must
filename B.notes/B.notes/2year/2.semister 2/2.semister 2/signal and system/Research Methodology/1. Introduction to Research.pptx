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381" r:id="rId2"/>
    <p:sldId id="411" r:id="rId3"/>
    <p:sldId id="387" r:id="rId4"/>
    <p:sldId id="398" r:id="rId5"/>
    <p:sldId id="412" r:id="rId6"/>
    <p:sldId id="423" r:id="rId7"/>
    <p:sldId id="397" r:id="rId8"/>
    <p:sldId id="413" r:id="rId9"/>
    <p:sldId id="396" r:id="rId10"/>
    <p:sldId id="414" r:id="rId11"/>
    <p:sldId id="415" r:id="rId12"/>
    <p:sldId id="416" r:id="rId13"/>
    <p:sldId id="421" r:id="rId14"/>
    <p:sldId id="422" r:id="rId15"/>
    <p:sldId id="424" r:id="rId16"/>
    <p:sldId id="417" r:id="rId17"/>
    <p:sldId id="401" r:id="rId18"/>
    <p:sldId id="418" r:id="rId19"/>
    <p:sldId id="402" r:id="rId20"/>
    <p:sldId id="419" r:id="rId21"/>
    <p:sldId id="404" r:id="rId22"/>
    <p:sldId id="403" r:id="rId23"/>
    <p:sldId id="425" r:id="rId24"/>
    <p:sldId id="426" r:id="rId25"/>
    <p:sldId id="427" r:id="rId26"/>
    <p:sldId id="428" r:id="rId27"/>
    <p:sldId id="429" r:id="rId28"/>
    <p:sldId id="336" r:id="rId29"/>
    <p:sldId id="420" r:id="rId30"/>
    <p:sldId id="262" r:id="rId31"/>
    <p:sldId id="394" r:id="rId32"/>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20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898102" y="0"/>
            <a:ext cx="2982119" cy="464820"/>
          </a:xfrm>
          <a:prstGeom prst="rect">
            <a:avLst/>
          </a:prstGeom>
        </p:spPr>
        <p:txBody>
          <a:bodyPr vert="horz" lIns="93177" tIns="46589" rIns="93177" bIns="46589" rtlCol="0"/>
          <a:lstStyle>
            <a:lvl1pPr algn="r">
              <a:defRPr sz="1200"/>
            </a:lvl1pPr>
          </a:lstStyle>
          <a:p>
            <a:fld id="{06EF641E-DAD4-4691-A429-8EE5BF7E30F0}" type="datetimeFigureOut">
              <a:rPr lang="en-US" smtClean="0"/>
              <a:pPr/>
              <a:t>4/12/2024</a:t>
            </a:fld>
            <a:endParaRPr lang="en-US"/>
          </a:p>
        </p:txBody>
      </p:sp>
      <p:sp>
        <p:nvSpPr>
          <p:cNvPr id="4" name="Footer Placeholder 3"/>
          <p:cNvSpPr>
            <a:spLocks noGrp="1"/>
          </p:cNvSpPr>
          <p:nvPr>
            <p:ph type="ftr" sz="quarter" idx="2"/>
          </p:nvPr>
        </p:nvSpPr>
        <p:spPr>
          <a:xfrm>
            <a:off x="0" y="8829967"/>
            <a:ext cx="2982119"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898102" y="8829967"/>
            <a:ext cx="2982119" cy="464820"/>
          </a:xfrm>
          <a:prstGeom prst="rect">
            <a:avLst/>
          </a:prstGeom>
        </p:spPr>
        <p:txBody>
          <a:bodyPr vert="horz" lIns="93177" tIns="46589" rIns="93177" bIns="46589" rtlCol="0" anchor="b"/>
          <a:lstStyle>
            <a:lvl1pPr algn="r">
              <a:defRPr sz="1200"/>
            </a:lvl1pPr>
          </a:lstStyle>
          <a:p>
            <a:fld id="{AB3D2346-E6A9-457A-BD3B-502A6F9625C2}"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898102" y="0"/>
            <a:ext cx="2982119" cy="464820"/>
          </a:xfrm>
          <a:prstGeom prst="rect">
            <a:avLst/>
          </a:prstGeom>
        </p:spPr>
        <p:txBody>
          <a:bodyPr vert="horz" lIns="93177" tIns="46589" rIns="93177" bIns="46589" rtlCol="0"/>
          <a:lstStyle>
            <a:lvl1pPr algn="r">
              <a:defRPr sz="1200"/>
            </a:lvl1pPr>
          </a:lstStyle>
          <a:p>
            <a:fld id="{A7941E2F-51F9-4205-9668-894AEF149C20}" type="datetimeFigureOut">
              <a:rPr lang="en-US" smtClean="0"/>
              <a:pPr/>
              <a:t>4/12/2024</a:t>
            </a:fld>
            <a:endParaRPr lang="en-US"/>
          </a:p>
        </p:txBody>
      </p:sp>
      <p:sp>
        <p:nvSpPr>
          <p:cNvPr id="4" name="Slide Image Placeholder 3"/>
          <p:cNvSpPr>
            <a:spLocks noGrp="1" noRot="1" noChangeAspect="1"/>
          </p:cNvSpPr>
          <p:nvPr>
            <p:ph type="sldImg" idx="2"/>
          </p:nvPr>
        </p:nvSpPr>
        <p:spPr>
          <a:xfrm>
            <a:off x="1117600" y="696913"/>
            <a:ext cx="4646613"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82119"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3177" tIns="46589" rIns="93177" bIns="46589" rtlCol="0" anchor="b"/>
          <a:lstStyle>
            <a:lvl1pPr algn="r">
              <a:defRPr sz="1200"/>
            </a:lvl1pPr>
          </a:lstStyle>
          <a:p>
            <a:fld id="{5A7F95B6-9795-44AA-86A8-602A667BF67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3C3A587-C8BC-42CA-9FDF-F181DF9C698E}" type="datetimeFigureOut">
              <a:rPr lang="en-US" smtClean="0"/>
              <a:pPr/>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C3A587-C8BC-42CA-9FDF-F181DF9C698E}" type="datetimeFigureOut">
              <a:rPr lang="en-US" smtClean="0"/>
              <a:pPr/>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C3A587-C8BC-42CA-9FDF-F181DF9C698E}" type="datetimeFigureOut">
              <a:rPr lang="en-US" smtClean="0"/>
              <a:pPr/>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C3A587-C8BC-42CA-9FDF-F181DF9C698E}" type="datetimeFigureOut">
              <a:rPr lang="en-US" smtClean="0"/>
              <a:pPr/>
              <a:t>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C3A587-C8BC-42CA-9FDF-F181DF9C698E}" type="datetimeFigureOut">
              <a:rPr lang="en-US" smtClean="0"/>
              <a:pPr/>
              <a:t>4/12/2024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C3A587-C8BC-42CA-9FDF-F181DF9C698E}" type="datetimeFigureOut">
              <a:rPr lang="en-US" smtClean="0"/>
              <a:pPr/>
              <a:t>4/12/2024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C3A587-C8BC-42CA-9FDF-F181DF9C698E}" type="datetimeFigureOut">
              <a:rPr lang="en-US" smtClean="0"/>
              <a:pPr/>
              <a:t>4/12/2024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C3A587-C8BC-42CA-9FDF-F181DF9C698E}" type="datetimeFigureOut">
              <a:rPr lang="en-US" smtClean="0"/>
              <a:pPr/>
              <a:t>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C3A587-C8BC-42CA-9FDF-F181DF9C698E}" type="datetimeFigureOut">
              <a:rPr lang="en-US" smtClean="0"/>
              <a:pPr/>
              <a:t>4/12/2024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C3A587-C8BC-42CA-9FDF-F181DF9C698E}" type="datetimeFigureOut">
              <a:rPr lang="en-US" smtClean="0"/>
              <a:pPr/>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C3A587-C8BC-42CA-9FDF-F181DF9C698E}" type="datetimeFigureOut">
              <a:rPr lang="en-US" smtClean="0"/>
              <a:pPr/>
              <a:t>4/12/2024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2EC047-FEBA-4BA6-9230-30C8CFBDCEE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C3A587-C8BC-42CA-9FDF-F181DF9C698E}" type="datetimeFigureOut">
              <a:rPr lang="en-US" smtClean="0"/>
              <a:pPr/>
              <a:t>4/12/2024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2EC047-FEBA-4BA6-9230-30C8CFBDCEE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rtlCol="0" anchor="ctr">
            <a:normAutofit/>
          </a:bodyPr>
          <a:lstStyle/>
          <a:p>
            <a:pPr marL="574675" indent="-574675" algn="just" eaLnBrk="1" fontAlgn="auto" hangingPunct="1">
              <a:spcAft>
                <a:spcPts val="0"/>
              </a:spcAft>
              <a:buFont typeface="+mj-lt"/>
              <a:buAutoNum type="arabicPeriod"/>
              <a:defRPr/>
            </a:pPr>
            <a:r>
              <a:rPr lang="en-US" sz="3000" b="1" dirty="0">
                <a:solidFill>
                  <a:schemeClr val="tx1"/>
                </a:solidFill>
                <a:latin typeface="Garamond" panose="02020404030301010803" pitchFamily="18" charset="0"/>
                <a:cs typeface="Microsoft New Tai Lue" pitchFamily="34" charset="0"/>
              </a:rPr>
              <a:t>Over view of Research</a:t>
            </a:r>
          </a:p>
          <a:p>
            <a:pPr marL="574675" indent="-574675" algn="just" eaLnBrk="1" fontAlgn="auto" hangingPunct="1">
              <a:spcAft>
                <a:spcPts val="0"/>
              </a:spcAft>
              <a:buAutoNum type="alphaLcParenR"/>
              <a:defRPr/>
            </a:pPr>
            <a:r>
              <a:rPr lang="en-US" sz="3000" b="1" dirty="0">
                <a:solidFill>
                  <a:schemeClr val="tx1"/>
                </a:solidFill>
                <a:latin typeface="Garamond" panose="02020404030301010803" pitchFamily="18" charset="0"/>
                <a:cs typeface="Microsoft New Tai Lue" pitchFamily="34" charset="0"/>
              </a:rPr>
              <a:t>Meaning of Research</a:t>
            </a:r>
          </a:p>
          <a:p>
            <a:pPr marL="574675" indent="-574675" algn="just" eaLnBrk="1" fontAlgn="auto" hangingPunct="1">
              <a:spcAft>
                <a:spcPts val="0"/>
              </a:spcAft>
              <a:buFont typeface="Arial" pitchFamily="34" charset="0"/>
              <a:buChar char="•"/>
              <a:defRPr/>
            </a:pPr>
            <a:r>
              <a:rPr lang="en-US" sz="3000" dirty="0">
                <a:solidFill>
                  <a:schemeClr val="tx1"/>
                </a:solidFill>
                <a:latin typeface="Garamond" panose="02020404030301010803" pitchFamily="18" charset="0"/>
                <a:cs typeface="Microsoft New Tai Lue" pitchFamily="34" charset="0"/>
              </a:rPr>
              <a:t>The term research is</a:t>
            </a:r>
          </a:p>
          <a:p>
            <a:pPr marL="1031875" lvl="1" indent="-574675" algn="just">
              <a:buFont typeface="Courier New" panose="02070309020205020404" pitchFamily="49" charset="0"/>
              <a:buChar char="o"/>
              <a:defRPr/>
            </a:pPr>
            <a:r>
              <a:rPr lang="en-US" sz="3000" dirty="0">
                <a:solidFill>
                  <a:schemeClr val="tx1"/>
                </a:solidFill>
                <a:latin typeface="Garamond" panose="02020404030301010803" pitchFamily="18" charset="0"/>
                <a:cs typeface="Microsoft New Tai Lue" pitchFamily="34" charset="0"/>
              </a:rPr>
              <a:t>made of two </a:t>
            </a:r>
            <a:r>
              <a:rPr lang="en-US" sz="3000" dirty="0">
                <a:solidFill>
                  <a:schemeClr val="tx1"/>
                </a:solidFill>
                <a:latin typeface="Garamond" panose="02020404030301010803" pitchFamily="18" charset="0"/>
              </a:rPr>
              <a:t>syllables</a:t>
            </a:r>
            <a:r>
              <a:rPr lang="en-US" sz="3000" dirty="0">
                <a:solidFill>
                  <a:schemeClr val="tx1"/>
                </a:solidFill>
                <a:latin typeface="Garamond" panose="02020404030301010803" pitchFamily="18" charset="0"/>
                <a:cs typeface="Microsoft New Tai Lue" pitchFamily="34" charset="0"/>
              </a:rPr>
              <a:t>:-</a:t>
            </a:r>
          </a:p>
          <a:p>
            <a:pPr marL="1028700" lvl="1" indent="-571500" algn="just">
              <a:buFontTx/>
              <a:buChar char="-"/>
              <a:defRPr/>
            </a:pPr>
            <a:r>
              <a:rPr lang="en-US" sz="3000" dirty="0">
                <a:solidFill>
                  <a:schemeClr val="tx1"/>
                </a:solidFill>
                <a:latin typeface="Garamond" panose="02020404030301010803" pitchFamily="18" charset="0"/>
                <a:cs typeface="Microsoft New Tai Lue" pitchFamily="34" charset="0"/>
              </a:rPr>
              <a:t>a prefix “re” which means again or repeat</a:t>
            </a:r>
          </a:p>
          <a:p>
            <a:pPr marL="1028700" lvl="1" indent="-571500" algn="just">
              <a:buFontTx/>
              <a:buChar char="-"/>
              <a:defRPr/>
            </a:pPr>
            <a:r>
              <a:rPr lang="en-US" sz="3000" dirty="0">
                <a:solidFill>
                  <a:schemeClr val="tx1"/>
                </a:solidFill>
                <a:latin typeface="Garamond" panose="02020404030301010803" pitchFamily="18" charset="0"/>
                <a:cs typeface="Microsoft New Tai Lue" pitchFamily="34" charset="0"/>
              </a:rPr>
              <a:t>a verb “search” which means find or look for new information about something</a:t>
            </a:r>
          </a:p>
          <a:p>
            <a:pPr marL="1031875" lvl="1" indent="-574675" algn="just">
              <a:buFont typeface="Courier New" panose="02070309020205020404" pitchFamily="49" charset="0"/>
              <a:buChar char="o"/>
              <a:defRPr/>
            </a:pPr>
            <a:r>
              <a:rPr lang="en-US" sz="3000" dirty="0">
                <a:solidFill>
                  <a:schemeClr val="tx1"/>
                </a:solidFill>
                <a:latin typeface="Garamond" panose="02020404030301010803" pitchFamily="18" charset="0"/>
                <a:cs typeface="Microsoft New Tai Lue" pitchFamily="34" charset="0"/>
              </a:rPr>
              <a:t>originates from</a:t>
            </a:r>
          </a:p>
          <a:p>
            <a:pPr marL="1028700" lvl="1" indent="-571500" algn="just">
              <a:buFontTx/>
              <a:buChar char="-"/>
              <a:defRPr/>
            </a:pPr>
            <a:r>
              <a:rPr lang="en-US" sz="3000" dirty="0">
                <a:solidFill>
                  <a:schemeClr val="tx1"/>
                </a:solidFill>
                <a:latin typeface="Garamond" panose="02020404030301010803" pitchFamily="18" charset="0"/>
                <a:cs typeface="Microsoft New Tai Lue" pitchFamily="34" charset="0"/>
              </a:rPr>
              <a:t>a French word  “</a:t>
            </a:r>
            <a:r>
              <a:rPr lang="en-US" sz="3000" dirty="0">
                <a:solidFill>
                  <a:schemeClr val="tx1"/>
                </a:solidFill>
                <a:latin typeface="Garamond" panose="02020404030301010803" pitchFamily="18" charset="0"/>
              </a:rPr>
              <a:t>recerchier” (re- for again, and cerchier- for search), meaning search again for something (knowledge), assuming the prior search was incomplete and there is room for improvement.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571500" indent="-571500" algn="just">
              <a:buFont typeface="Arial" panose="020B0604020202020204" pitchFamily="34" charset="0"/>
              <a:buChar char="•"/>
              <a:defRPr/>
            </a:pPr>
            <a:r>
              <a:rPr lang="en-US" sz="2800" dirty="0">
                <a:solidFill>
                  <a:schemeClr val="tx1"/>
                </a:solidFill>
                <a:latin typeface="Garamond" panose="02020404030301010803" pitchFamily="18" charset="0"/>
              </a:rPr>
              <a:t>In academia, the search for knowledge or solution on questions and problems again and gain has been standardized to arrive at expected outcomes.</a:t>
            </a:r>
          </a:p>
          <a:p>
            <a:pPr marL="571500" indent="-571500" algn="just">
              <a:buFont typeface="Arial" panose="020B0604020202020204" pitchFamily="34" charset="0"/>
              <a:buChar char="•"/>
              <a:defRPr/>
            </a:pPr>
            <a:r>
              <a:rPr lang="en-US" sz="2800" dirty="0">
                <a:solidFill>
                  <a:schemeClr val="tx1"/>
                </a:solidFill>
                <a:latin typeface="Garamond" panose="02020404030301010803" pitchFamily="18" charset="0"/>
                <a:cs typeface="Cordia New" pitchFamily="34" charset="-34"/>
              </a:rPr>
              <a:t>Thus formal definitions of research that take into account the standardization are needed. </a:t>
            </a:r>
          </a:p>
          <a:p>
            <a:pPr marL="1028700" lvl="1" indent="-571500" algn="just">
              <a:buFont typeface="Courier New" panose="02070309020205020404" pitchFamily="49" charset="0"/>
              <a:buChar char="o"/>
              <a:defRPr/>
            </a:pPr>
            <a:r>
              <a:rPr lang="en-US" dirty="0">
                <a:solidFill>
                  <a:schemeClr val="tx1"/>
                </a:solidFill>
                <a:latin typeface="Garamond" panose="02020404030301010803" pitchFamily="18" charset="0"/>
              </a:rPr>
              <a:t>Research means "gathering and analyzing a body of information or data and extracting new meaning from it or developing unique solutions to problems or cases (Cohen &amp; Arieli, 2011).</a:t>
            </a:r>
          </a:p>
          <a:p>
            <a:pPr marL="971550" lvl="1" indent="-514350" algn="just">
              <a:buFont typeface="Courier New" panose="02070309020205020404" pitchFamily="49" charset="0"/>
              <a:buChar char="o"/>
              <a:defRPr/>
            </a:pPr>
            <a:r>
              <a:rPr lang="en-US" dirty="0">
                <a:solidFill>
                  <a:schemeClr val="tx1"/>
                </a:solidFill>
                <a:latin typeface="Garamond" panose="02020404030301010803" pitchFamily="18" charset="0"/>
              </a:rPr>
              <a:t>Research is a process of steps used to collect and analyze information to increase our understanding of a topic or issue (Creswell, 2008).</a:t>
            </a:r>
            <a:endParaRPr lang="en-US" dirty="0">
              <a:solidFill>
                <a:schemeClr val="tx1"/>
              </a:solidFill>
              <a:latin typeface="Garamond" panose="02020404030301010803" pitchFamily="18" charset="0"/>
              <a:cs typeface="Cordia New" pitchFamily="34" charset="-3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a:bodyPr>
          <a:lstStyle/>
          <a:p>
            <a:pPr marL="742950" indent="-742950" algn="just" eaLnBrk="1" fontAlgn="auto" hangingPunct="1">
              <a:spcAft>
                <a:spcPts val="0"/>
              </a:spcAft>
              <a:buAutoNum type="alphaLcParenR" startAt="2"/>
              <a:defRPr/>
            </a:pPr>
            <a:endParaRPr lang="en-US" sz="3600" b="1" dirty="0">
              <a:solidFill>
                <a:schemeClr val="tx1"/>
              </a:solidFill>
              <a:latin typeface="Bodoni MT" panose="02070603080606020203" pitchFamily="18" charset="0"/>
              <a:cs typeface="Microsoft New Tai Lue" pitchFamily="34" charset="0"/>
            </a:endParaRPr>
          </a:p>
          <a:p>
            <a:pPr marL="742950" indent="-742950" algn="just" eaLnBrk="1" fontAlgn="auto" hangingPunct="1">
              <a:spcAft>
                <a:spcPts val="0"/>
              </a:spcAft>
              <a:buAutoNum type="alphaLcParenR" startAt="2"/>
              <a:defRPr/>
            </a:pPr>
            <a:r>
              <a:rPr lang="en-US" sz="3000" b="1" dirty="0">
                <a:solidFill>
                  <a:schemeClr val="tx1"/>
                </a:solidFill>
                <a:latin typeface="Garamond" panose="02020404030301010803" pitchFamily="18" charset="0"/>
                <a:cs typeface="Microsoft New Tai Lue" pitchFamily="34" charset="0"/>
              </a:rPr>
              <a:t>Characteristics of a good research</a:t>
            </a:r>
          </a:p>
          <a:p>
            <a:pPr marL="574675" indent="-574675" algn="just" eaLnBrk="1" fontAlgn="auto" hangingPunct="1">
              <a:spcAft>
                <a:spcPts val="0"/>
              </a:spcAft>
              <a:buFont typeface="Arial" pitchFamily="34" charset="0"/>
              <a:buChar char="•"/>
              <a:defRPr/>
            </a:pPr>
            <a:r>
              <a:rPr lang="en-US" sz="3000" dirty="0">
                <a:solidFill>
                  <a:schemeClr val="tx1"/>
                </a:solidFill>
                <a:latin typeface="Garamond" panose="02020404030301010803" pitchFamily="18" charset="0"/>
              </a:rPr>
              <a:t>Research entails certain characteristics that make it good. These characteristics include:-</a:t>
            </a:r>
            <a:endParaRPr lang="en-US" sz="3000" dirty="0">
              <a:solidFill>
                <a:schemeClr val="tx1"/>
              </a:solidFill>
              <a:latin typeface="Garamond" panose="02020404030301010803" pitchFamily="18" charset="0"/>
              <a:cs typeface="Cordia New" pitchFamily="34" charset="-34"/>
            </a:endParaRPr>
          </a:p>
          <a:p>
            <a:pPr marL="1031875" lvl="1" indent="-574675" algn="just">
              <a:buFont typeface="Courier New" panose="02070309020205020404" pitchFamily="49" charset="0"/>
              <a:buChar char="o"/>
              <a:defRPr/>
            </a:pPr>
            <a:r>
              <a:rPr lang="en-US" sz="3000" b="1" dirty="0">
                <a:solidFill>
                  <a:schemeClr val="tx1"/>
                </a:solidFill>
                <a:latin typeface="Garamond" panose="02020404030301010803" pitchFamily="18" charset="0"/>
              </a:rPr>
              <a:t>Systematic: </a:t>
            </a:r>
            <a:r>
              <a:rPr lang="en-US" sz="3000" dirty="0">
                <a:solidFill>
                  <a:schemeClr val="tx1"/>
                </a:solidFill>
                <a:latin typeface="Garamond" panose="02020404030301010803" pitchFamily="18" charset="0"/>
              </a:rPr>
              <a:t>this means a research has to be structured, following specific steps in a specified sequence.</a:t>
            </a:r>
          </a:p>
          <a:p>
            <a:pPr marL="1031875" lvl="1" indent="-574675" algn="just">
              <a:buFont typeface="Arial" panose="020B0604020202020204" pitchFamily="34" charset="0"/>
              <a:buChar char="•"/>
              <a:defRPr/>
            </a:pPr>
            <a:r>
              <a:rPr lang="en-US" sz="3000" dirty="0">
                <a:solidFill>
                  <a:schemeClr val="tx1"/>
                </a:solidFill>
                <a:latin typeface="Garamond" panose="02020404030301010803" pitchFamily="18" charset="0"/>
              </a:rPr>
              <a:t>However, this systemization does not rule out creative thinking. But certainly does reject the use of guessing and intuition in arriving at conclusions.</a:t>
            </a:r>
          </a:p>
        </p:txBody>
      </p:sp>
    </p:spTree>
    <p:extLst>
      <p:ext uri="{BB962C8B-B14F-4D97-AF65-F5344CB8AC3E}">
        <p14:creationId xmlns:p14="http://schemas.microsoft.com/office/powerpoint/2010/main" val="4242888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574675" indent="-574675" algn="just">
              <a:buFont typeface="Courier New" panose="02070309020205020404" pitchFamily="49" charset="0"/>
              <a:buChar char="o"/>
              <a:defRPr/>
            </a:pPr>
            <a:r>
              <a:rPr lang="en-US" sz="3000" b="1" dirty="0">
                <a:solidFill>
                  <a:schemeClr val="tx1"/>
                </a:solidFill>
                <a:latin typeface="Garamond" panose="02020404030301010803" pitchFamily="18" charset="0"/>
              </a:rPr>
              <a:t>Logical: </a:t>
            </a:r>
            <a:r>
              <a:rPr lang="en-US" sz="3000" dirty="0">
                <a:solidFill>
                  <a:schemeClr val="tx1"/>
                </a:solidFill>
                <a:latin typeface="Garamond" panose="02020404030301010803" pitchFamily="18" charset="0"/>
              </a:rPr>
              <a:t>this means a good research basis on the rules of justifiable reasoning.</a:t>
            </a:r>
          </a:p>
          <a:p>
            <a:pPr marL="574675" indent="-574675" algn="just">
              <a:buFont typeface="Arial" panose="020B0604020202020204" pitchFamily="34" charset="0"/>
              <a:buChar char="•"/>
              <a:defRPr/>
            </a:pPr>
            <a:r>
              <a:rPr lang="en-US" sz="3000" dirty="0">
                <a:solidFill>
                  <a:schemeClr val="tx1"/>
                </a:solidFill>
                <a:latin typeface="Garamond" panose="02020404030301010803" pitchFamily="18" charset="0"/>
              </a:rPr>
              <a:t>The logical process of induction and deduction are of great value in carrying out research.</a:t>
            </a:r>
          </a:p>
          <a:p>
            <a:pPr marL="1028700" lvl="1" indent="-571500" algn="just">
              <a:buFontTx/>
              <a:buChar char="-"/>
              <a:defRPr/>
            </a:pPr>
            <a:r>
              <a:rPr lang="en-US" sz="3000" dirty="0">
                <a:solidFill>
                  <a:schemeClr val="tx1"/>
                </a:solidFill>
                <a:latin typeface="Garamond" panose="02020404030301010803" pitchFamily="18" charset="0"/>
              </a:rPr>
              <a:t>Induction: empirical evidence or data is used to guide reasoning (form explanations). For example: Newton started from observing data of falling objects to form the reason for gravitation force.</a:t>
            </a:r>
          </a:p>
          <a:p>
            <a:pPr marL="1028700" lvl="1" indent="-571500" algn="just">
              <a:buFontTx/>
              <a:buChar char="-"/>
              <a:defRPr/>
            </a:pPr>
            <a:r>
              <a:rPr lang="en-US" sz="3000" dirty="0">
                <a:solidFill>
                  <a:schemeClr val="tx1"/>
                </a:solidFill>
                <a:latin typeface="Garamond" panose="02020404030301010803" pitchFamily="18" charset="0"/>
              </a:rPr>
              <a:t>Deductive: reasoning (explanations) from theories guide data collection to test the theory. For example: poor performance of highly paid employee may call for research to test the reason of motivation theory.</a:t>
            </a:r>
          </a:p>
        </p:txBody>
      </p:sp>
    </p:spTree>
    <p:extLst>
      <p:ext uri="{BB962C8B-B14F-4D97-AF65-F5344CB8AC3E}">
        <p14:creationId xmlns:p14="http://schemas.microsoft.com/office/powerpoint/2010/main" val="1828681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lstStyle/>
          <a:p>
            <a:pPr marL="574675" indent="-574675" algn="just">
              <a:buFont typeface="Courier New" panose="02070309020205020404" pitchFamily="49" charset="0"/>
              <a:buChar char="o"/>
              <a:defRPr/>
            </a:pPr>
            <a:r>
              <a:rPr lang="en-US" sz="3000" b="1" dirty="0">
                <a:solidFill>
                  <a:schemeClr val="tx1"/>
                </a:solidFill>
                <a:latin typeface="Garamond" panose="02020404030301010803" pitchFamily="18" charset="0"/>
              </a:rPr>
              <a:t>Empirical: </a:t>
            </a:r>
            <a:r>
              <a:rPr lang="en-US" sz="3000" dirty="0">
                <a:solidFill>
                  <a:schemeClr val="tx1"/>
                </a:solidFill>
                <a:latin typeface="Garamond" panose="02020404030301010803" pitchFamily="18" charset="0"/>
              </a:rPr>
              <a:t>a good research should be based on real situations and deals. One should not forge data. </a:t>
            </a:r>
          </a:p>
          <a:p>
            <a:pPr marL="574675" indent="-574675" algn="just">
              <a:buFont typeface="Courier New" panose="02070309020205020404" pitchFamily="49" charset="0"/>
              <a:buChar char="o"/>
              <a:defRPr/>
            </a:pPr>
            <a:r>
              <a:rPr lang="en-US" sz="3000" b="1" dirty="0">
                <a:solidFill>
                  <a:schemeClr val="tx1"/>
                </a:solidFill>
                <a:latin typeface="Garamond" panose="02020404030301010803" pitchFamily="18" charset="0"/>
              </a:rPr>
              <a:t>Replicable/reproducible: </a:t>
            </a:r>
            <a:r>
              <a:rPr lang="en-US" sz="3000" dirty="0">
                <a:solidFill>
                  <a:schemeClr val="tx1"/>
                </a:solidFill>
                <a:latin typeface="Garamond" panose="02020404030301010803" pitchFamily="18" charset="0"/>
              </a:rPr>
              <a:t>this means a good research should produce results that can be verified by replicating the study and thereby building a sound basis for decisions. This means the procedures are well elaborate such that another researcher can follow them to arrive at the same results.</a:t>
            </a:r>
          </a:p>
          <a:p>
            <a:pPr marL="574675" indent="-574675" algn="just">
              <a:buFont typeface="Courier New" panose="02070309020205020404" pitchFamily="49" charset="0"/>
              <a:buChar char="o"/>
              <a:defRPr/>
            </a:pPr>
            <a:r>
              <a:rPr lang="en-US" sz="3000" b="1" dirty="0">
                <a:solidFill>
                  <a:schemeClr val="tx1"/>
                </a:solidFill>
                <a:latin typeface="Garamond" panose="02020404030301010803" pitchFamily="18" charset="0"/>
              </a:rPr>
              <a:t>Ethical: </a:t>
            </a:r>
            <a:r>
              <a:rPr lang="en-US" sz="3000" dirty="0">
                <a:solidFill>
                  <a:schemeClr val="tx1"/>
                </a:solidFill>
                <a:latin typeface="Garamond" panose="02020404030301010803" pitchFamily="18" charset="0"/>
              </a:rPr>
              <a:t>this means a good research should be based on acceptable and be free of practices or procedures that may not be honest or may give error or bias results. For example: receiving money to produce results to justify management decisions.</a:t>
            </a:r>
            <a:endParaRPr lang="en-US" sz="3000" dirty="0">
              <a:solidFill>
                <a:schemeClr val="tx1"/>
              </a:solidFill>
              <a:latin typeface="Garamond" panose="02020404030301010803" pitchFamily="18" charset="0"/>
              <a:cs typeface="Cordia New" pitchFamily="34" charset="-34"/>
            </a:endParaRPr>
          </a:p>
          <a:p>
            <a:endParaRPr lang="en-US" dirty="0"/>
          </a:p>
        </p:txBody>
      </p:sp>
    </p:spTree>
    <p:extLst>
      <p:ext uri="{BB962C8B-B14F-4D97-AF65-F5344CB8AC3E}">
        <p14:creationId xmlns:p14="http://schemas.microsoft.com/office/powerpoint/2010/main" val="657918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lstStyle/>
          <a:p>
            <a:pPr marL="574675" indent="-574675" algn="just">
              <a:buFont typeface="Courier New" panose="02070309020205020404" pitchFamily="49" charset="0"/>
              <a:buChar char="o"/>
              <a:defRPr/>
            </a:pPr>
            <a:r>
              <a:rPr lang="en-US" sz="3000" b="1" dirty="0">
                <a:solidFill>
                  <a:schemeClr val="tx1"/>
                </a:solidFill>
                <a:latin typeface="Garamond" panose="02020404030301010803" pitchFamily="18" charset="0"/>
              </a:rPr>
              <a:t>Original: </a:t>
            </a:r>
            <a:r>
              <a:rPr lang="en-US" sz="3000" dirty="0">
                <a:solidFill>
                  <a:schemeClr val="tx1"/>
                </a:solidFill>
                <a:latin typeface="Garamond" panose="02020404030301010803" pitchFamily="18" charset="0"/>
              </a:rPr>
              <a:t>Good research should not repeat existing ideas but contain unique ideas.</a:t>
            </a:r>
          </a:p>
          <a:p>
            <a:pPr marL="574675" indent="-574675" algn="just">
              <a:buFont typeface="Courier New" panose="02070309020205020404" pitchFamily="49" charset="0"/>
              <a:buChar char="o"/>
              <a:defRPr/>
            </a:pPr>
            <a:r>
              <a:rPr lang="en-US" sz="3000" b="1" dirty="0">
                <a:solidFill>
                  <a:schemeClr val="tx1"/>
                </a:solidFill>
                <a:latin typeface="Garamond" panose="02020404030301010803" pitchFamily="18" charset="0"/>
              </a:rPr>
              <a:t>Reductive: </a:t>
            </a:r>
            <a:r>
              <a:rPr lang="en-US" sz="3000" dirty="0">
                <a:solidFill>
                  <a:schemeClr val="tx1"/>
                </a:solidFill>
                <a:latin typeface="Garamond" panose="02020404030301010803" pitchFamily="18" charset="0"/>
              </a:rPr>
              <a:t>This means findings from one research are transferable to another without simply repeating them but adding something new. It allows the accumulation of previous findings for further learning. </a:t>
            </a:r>
          </a:p>
          <a:p>
            <a:endParaRPr lang="en-US" dirty="0"/>
          </a:p>
        </p:txBody>
      </p:sp>
    </p:spTree>
    <p:extLst>
      <p:ext uri="{BB962C8B-B14F-4D97-AF65-F5344CB8AC3E}">
        <p14:creationId xmlns:p14="http://schemas.microsoft.com/office/powerpoint/2010/main" val="895112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t">
            <a:normAutofit/>
          </a:bodyPr>
          <a:lstStyle/>
          <a:p>
            <a:pPr marL="514350" indent="-514350" algn="just" eaLnBrk="1" fontAlgn="auto" hangingPunct="1">
              <a:spcAft>
                <a:spcPts val="0"/>
              </a:spcAft>
              <a:buAutoNum type="alphaLcParenR" startAt="3"/>
              <a:defRPr/>
            </a:pPr>
            <a:r>
              <a:rPr lang="en-US" sz="3000" b="1" dirty="0">
                <a:solidFill>
                  <a:schemeClr val="tx1"/>
                </a:solidFill>
                <a:latin typeface="Garamond" panose="02020404030301010803" pitchFamily="18" charset="0"/>
                <a:cs typeface="Microsoft New Tai Lue" pitchFamily="34" charset="0"/>
              </a:rPr>
              <a:t>Research process</a:t>
            </a:r>
          </a:p>
          <a:p>
            <a:pPr marL="574675" indent="-574675" algn="just" eaLnBrk="1" fontAlgn="auto" hangingPunct="1">
              <a:spcAft>
                <a:spcPts val="0"/>
              </a:spcAft>
              <a:buFont typeface="Arial" pitchFamily="34" charset="0"/>
              <a:buChar char="•"/>
              <a:defRPr/>
            </a:pPr>
            <a:r>
              <a:rPr lang="en-US" sz="3000" dirty="0">
                <a:solidFill>
                  <a:schemeClr val="tx1"/>
                </a:solidFill>
                <a:latin typeface="Garamond" panose="02020404030301010803" pitchFamily="18" charset="0"/>
                <a:cs typeface="Microsoft New Tai Lue" pitchFamily="34" charset="0"/>
              </a:rPr>
              <a:t>One of the characteristics of good research is that it has to be systematic, following a specific sequence of steps. </a:t>
            </a:r>
          </a:p>
          <a:p>
            <a:pPr marL="574675" indent="-574675" algn="just" eaLnBrk="1" fontAlgn="auto" hangingPunct="1">
              <a:spcAft>
                <a:spcPts val="0"/>
              </a:spcAft>
              <a:buFont typeface="Arial" pitchFamily="34" charset="0"/>
              <a:buChar char="•"/>
              <a:defRPr/>
            </a:pPr>
            <a:r>
              <a:rPr lang="en-US" sz="3000" dirty="0">
                <a:solidFill>
                  <a:schemeClr val="tx1"/>
                </a:solidFill>
                <a:latin typeface="Garamond" panose="02020404030301010803" pitchFamily="18" charset="0"/>
                <a:cs typeface="Microsoft New Tai Lue" pitchFamily="34" charset="0"/>
              </a:rPr>
              <a:t>The steps of research slightly differ from one scholar to another scholar depending on the criteria used:-</a:t>
            </a:r>
          </a:p>
          <a:p>
            <a:pPr marL="1031875" lvl="1" indent="-574675" algn="just">
              <a:buFont typeface="Courier New" panose="02070309020205020404" pitchFamily="49" charset="0"/>
              <a:buChar char="o"/>
              <a:defRPr/>
            </a:pPr>
            <a:r>
              <a:rPr lang="en-US" sz="3000" dirty="0">
                <a:solidFill>
                  <a:schemeClr val="tx1"/>
                </a:solidFill>
                <a:latin typeface="Garamond" panose="02020404030301010803" pitchFamily="18" charset="0"/>
                <a:cs typeface="Microsoft New Tai Lue" pitchFamily="34" charset="0"/>
              </a:rPr>
              <a:t>Based on the criterion of question, </a:t>
            </a:r>
            <a:r>
              <a:rPr lang="en-US" sz="3000" dirty="0">
                <a:solidFill>
                  <a:schemeClr val="tx1"/>
                </a:solidFill>
                <a:latin typeface="Garamond" panose="02020404030301010803" pitchFamily="18" charset="0"/>
              </a:rPr>
              <a:t>Creswell (2008) identifies three steps of </a:t>
            </a:r>
            <a:r>
              <a:rPr lang="en-US" sz="3000" dirty="0">
                <a:solidFill>
                  <a:schemeClr val="tx1"/>
                </a:solidFill>
                <a:latin typeface="Garamond" panose="02020404030301010803" pitchFamily="18" charset="0"/>
                <a:cs typeface="Microsoft New Tai Lue" pitchFamily="34" charset="0"/>
              </a:rPr>
              <a:t>the research process:- </a:t>
            </a:r>
          </a:p>
          <a:p>
            <a:pPr marL="1485900" lvl="2" indent="-571500" algn="just">
              <a:buAutoNum type="romanLcParenR"/>
              <a:defRPr/>
            </a:pPr>
            <a:r>
              <a:rPr lang="en-US" sz="3000" b="1" dirty="0">
                <a:solidFill>
                  <a:schemeClr val="tx1"/>
                </a:solidFill>
                <a:latin typeface="Garamond" panose="02020404030301010803" pitchFamily="18" charset="0"/>
              </a:rPr>
              <a:t>Pose a question: </a:t>
            </a:r>
            <a:r>
              <a:rPr lang="en-US" sz="3000" dirty="0">
                <a:solidFill>
                  <a:schemeClr val="tx1"/>
                </a:solidFill>
                <a:latin typeface="Garamond" panose="02020404030301010803" pitchFamily="18" charset="0"/>
              </a:rPr>
              <a:t>the first step is to specify the questions that requires a research to answer. For example: why are small businesses at Ikuti-Mbeya  not adopting ICT in their business transactions?</a:t>
            </a:r>
          </a:p>
          <a:p>
            <a:pPr lvl="2" algn="just">
              <a:defRPr/>
            </a:pPr>
            <a:r>
              <a:rPr lang="en-US" sz="3000" dirty="0">
                <a:solidFill>
                  <a:schemeClr val="tx1"/>
                </a:solidFill>
                <a:latin typeface="Garamond" panose="02020404030301010803" pitchFamily="18" charset="0"/>
              </a:rPr>
              <a:t>	</a:t>
            </a:r>
            <a:endParaRPr lang="en-US" sz="3000" dirty="0">
              <a:solidFill>
                <a:schemeClr val="tx1"/>
              </a:solidFill>
              <a:latin typeface="Garamond" panose="02020404030301010803" pitchFamily="18" charset="0"/>
              <a:cs typeface="Cordia New" pitchFamily="34" charset="-3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 y="14990"/>
            <a:ext cx="9296400" cy="6858000"/>
          </a:xfrm>
        </p:spPr>
        <p:txBody>
          <a:bodyPr anchor="t">
            <a:normAutofit/>
          </a:bodyPr>
          <a:lstStyle/>
          <a:p>
            <a:pPr marL="1485900" lvl="2" indent="-571500" algn="just">
              <a:buAutoNum type="romanLcParenR" startAt="2"/>
              <a:defRPr/>
            </a:pPr>
            <a:r>
              <a:rPr lang="en-US" sz="3000" b="1" dirty="0">
                <a:solidFill>
                  <a:schemeClr val="tx1"/>
                </a:solidFill>
                <a:latin typeface="Garamond" panose="02020404030301010803" pitchFamily="18" charset="0"/>
              </a:rPr>
              <a:t>Collect data to answer the question: </a:t>
            </a:r>
            <a:r>
              <a:rPr lang="en-US" sz="3000" dirty="0">
                <a:solidFill>
                  <a:schemeClr val="tx1"/>
                </a:solidFill>
                <a:latin typeface="Garamond" panose="02020404030301010803" pitchFamily="18" charset="0"/>
              </a:rPr>
              <a:t>this step involves applying research methods to collect data that the researcher needs to answer the question.</a:t>
            </a:r>
          </a:p>
          <a:p>
            <a:pPr marL="1485900" lvl="2" indent="-571500" algn="just">
              <a:buFont typeface="Arial" panose="020B0604020202020204" pitchFamily="34" charset="0"/>
              <a:buChar char="•"/>
              <a:defRPr/>
            </a:pPr>
            <a:r>
              <a:rPr lang="en-US" sz="3000" dirty="0">
                <a:solidFill>
                  <a:schemeClr val="tx1"/>
                </a:solidFill>
                <a:latin typeface="Garamond" panose="02020404030301010803" pitchFamily="18" charset="0"/>
              </a:rPr>
              <a:t>Specific activities: identifying the sample from which to collect data, selecting the sample, designing questions for asking the respondents, &amp; administering the questions to the respondents.</a:t>
            </a:r>
          </a:p>
          <a:p>
            <a:pPr marL="1485900" lvl="2" indent="-571500" algn="just">
              <a:buAutoNum type="romanLcParenR" startAt="3"/>
              <a:defRPr/>
            </a:pPr>
            <a:r>
              <a:rPr lang="en-US" sz="3000" b="1" dirty="0">
                <a:solidFill>
                  <a:schemeClr val="tx1"/>
                </a:solidFill>
                <a:latin typeface="Garamond" panose="02020404030301010803" pitchFamily="18" charset="0"/>
              </a:rPr>
              <a:t>Present an answer to the question: </a:t>
            </a:r>
            <a:r>
              <a:rPr lang="en-US" sz="3000" dirty="0">
                <a:solidFill>
                  <a:schemeClr val="tx1"/>
                </a:solidFill>
                <a:latin typeface="Garamond" panose="02020404030301010803" pitchFamily="18" charset="0"/>
              </a:rPr>
              <a:t>this step concerns the use of collected data to generate information for answering the question.</a:t>
            </a:r>
          </a:p>
          <a:p>
            <a:pPr marL="1485900" lvl="2" indent="-571500" algn="just">
              <a:buFont typeface="Arial" panose="020B0604020202020204" pitchFamily="34" charset="0"/>
              <a:buChar char="•"/>
              <a:defRPr/>
            </a:pPr>
            <a:r>
              <a:rPr lang="en-US" sz="3000" dirty="0">
                <a:solidFill>
                  <a:schemeClr val="tx1"/>
                </a:solidFill>
                <a:latin typeface="Garamond" panose="02020404030301010803" pitchFamily="18" charset="0"/>
              </a:rPr>
              <a:t>The specific activities: preparing the data in a format suitable for analysis, &amp; analyzing the data to derive their meaning.</a:t>
            </a:r>
          </a:p>
        </p:txBody>
      </p:sp>
    </p:spTree>
    <p:extLst>
      <p:ext uri="{BB962C8B-B14F-4D97-AF65-F5344CB8AC3E}">
        <p14:creationId xmlns:p14="http://schemas.microsoft.com/office/powerpoint/2010/main" val="575720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1031875" lvl="1" indent="-574675" algn="just">
              <a:buFont typeface="Courier New" panose="02070309020205020404" pitchFamily="49" charset="0"/>
              <a:buChar char="o"/>
              <a:defRPr/>
            </a:pPr>
            <a:r>
              <a:rPr lang="en-US" sz="3000" dirty="0">
                <a:solidFill>
                  <a:schemeClr val="tx1"/>
                </a:solidFill>
                <a:latin typeface="Garamond" panose="02020404030301010803" pitchFamily="18" charset="0"/>
                <a:cs typeface="Microsoft New Tai Lue" pitchFamily="34" charset="0"/>
              </a:rPr>
              <a:t>Based on the specific activities for conducting research, the research process involve:- </a:t>
            </a:r>
          </a:p>
          <a:p>
            <a:pPr marL="1771650" lvl="2" indent="-857250" algn="just">
              <a:buAutoNum type="romanLcParenR"/>
              <a:defRPr/>
            </a:pPr>
            <a:r>
              <a:rPr lang="en-US" sz="3000" b="1" dirty="0">
                <a:solidFill>
                  <a:schemeClr val="tx1"/>
                </a:solidFill>
                <a:latin typeface="Garamond" panose="02020404030301010803" pitchFamily="18" charset="0"/>
              </a:rPr>
              <a:t>Problem identification: </a:t>
            </a:r>
            <a:r>
              <a:rPr lang="en-US" sz="3000" dirty="0">
                <a:solidFill>
                  <a:schemeClr val="tx1"/>
                </a:solidFill>
                <a:latin typeface="Garamond" panose="02020404030301010803" pitchFamily="18" charset="0"/>
              </a:rPr>
              <a:t>specifying the problem that need to be researched. For example, poor adoption of ICT among small firms at Ikuti-Mbeya</a:t>
            </a:r>
          </a:p>
          <a:p>
            <a:pPr marL="1771650" lvl="2" indent="-857250" algn="just">
              <a:buAutoNum type="romanLcParenR"/>
              <a:defRPr/>
            </a:pPr>
            <a:r>
              <a:rPr lang="en-US" sz="3000" b="1" dirty="0">
                <a:solidFill>
                  <a:schemeClr val="tx1"/>
                </a:solidFill>
                <a:latin typeface="Garamond" panose="02020404030301010803" pitchFamily="18" charset="0"/>
              </a:rPr>
              <a:t>Reviewing information (literature review): </a:t>
            </a:r>
            <a:r>
              <a:rPr lang="en-US" sz="3000" dirty="0">
                <a:solidFill>
                  <a:schemeClr val="tx1"/>
                </a:solidFill>
                <a:latin typeface="Garamond" panose="02020404030301010803" pitchFamily="18" charset="0"/>
              </a:rPr>
              <a:t>conducting a review of previous research on the problem.</a:t>
            </a:r>
          </a:p>
          <a:p>
            <a:pPr marL="1771650" lvl="2" indent="-857250" algn="just">
              <a:buFont typeface="Arial" panose="020B0604020202020204" pitchFamily="34" charset="0"/>
              <a:buChar char="•"/>
              <a:defRPr/>
            </a:pPr>
            <a:r>
              <a:rPr lang="en-US" sz="3000" dirty="0">
                <a:solidFill>
                  <a:schemeClr val="tx1"/>
                </a:solidFill>
                <a:latin typeface="Garamond" panose="02020404030301010803" pitchFamily="18" charset="0"/>
              </a:rPr>
              <a:t>The aim is to understand what the prior studies found out about the problem and what is left unresolved for you to study.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lvl="2" algn="just">
              <a:defRPr/>
            </a:pPr>
            <a:r>
              <a:rPr lang="en-US" sz="3000" dirty="0">
                <a:solidFill>
                  <a:schemeClr val="tx1"/>
                </a:solidFill>
                <a:latin typeface="Garamond" panose="02020404030301010803" pitchFamily="18" charset="0"/>
              </a:rPr>
              <a:t>	For example: prior research may have focused 	on external factors which imped adoption of 	ICT among small firms in different places. 	Therefore, your new research may study:-</a:t>
            </a:r>
          </a:p>
          <a:p>
            <a:pPr marL="1828800" lvl="3" indent="-457200" algn="just">
              <a:buFontTx/>
              <a:buChar char="-"/>
              <a:defRPr/>
            </a:pPr>
            <a:r>
              <a:rPr lang="en-US" sz="3000" dirty="0">
                <a:solidFill>
                  <a:schemeClr val="tx1"/>
                </a:solidFill>
                <a:latin typeface="Garamond" panose="02020404030301010803" pitchFamily="18" charset="0"/>
              </a:rPr>
              <a:t>the same external factors to see if the prior results apply to the small businesses community of Ikuti</a:t>
            </a:r>
          </a:p>
          <a:p>
            <a:pPr marL="1828800" lvl="3" indent="-457200" algn="just">
              <a:buFontTx/>
              <a:buChar char="-"/>
              <a:defRPr/>
            </a:pPr>
            <a:r>
              <a:rPr lang="en-US" sz="3000" dirty="0">
                <a:solidFill>
                  <a:schemeClr val="tx1"/>
                </a:solidFill>
                <a:latin typeface="Garamond" panose="02020404030301010803" pitchFamily="18" charset="0"/>
              </a:rPr>
              <a:t>Internal factors which impend adoption of ICT among small businesses at Ikuti-Mbeya</a:t>
            </a:r>
          </a:p>
        </p:txBody>
      </p:sp>
    </p:spTree>
    <p:extLst>
      <p:ext uri="{BB962C8B-B14F-4D97-AF65-F5344CB8AC3E}">
        <p14:creationId xmlns:p14="http://schemas.microsoft.com/office/powerpoint/2010/main" val="275260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1485900" lvl="2" indent="-571500" algn="just">
              <a:buAutoNum type="romanLcParenR" startAt="3"/>
              <a:defRPr/>
            </a:pPr>
            <a:r>
              <a:rPr lang="en-US" sz="3000" dirty="0">
                <a:solidFill>
                  <a:schemeClr val="tx1"/>
                </a:solidFill>
                <a:latin typeface="Bodoni MT" panose="02070603080606020203" pitchFamily="18" charset="0"/>
              </a:rPr>
              <a:t>Data collection: </a:t>
            </a:r>
            <a:r>
              <a:rPr lang="en-US" sz="3000" dirty="0">
                <a:solidFill>
                  <a:schemeClr val="tx1"/>
                </a:solidFill>
                <a:latin typeface="Garamond" panose="02020404030301010803" pitchFamily="18" charset="0"/>
              </a:rPr>
              <a:t>application of research methods to collect data that the researcher needs to get information for solving the problem.</a:t>
            </a:r>
          </a:p>
          <a:p>
            <a:pPr marL="1485900" lvl="2" indent="-571500" algn="just">
              <a:buFont typeface="Arial" panose="020B0604020202020204" pitchFamily="34" charset="0"/>
              <a:buChar char="•"/>
              <a:defRPr/>
            </a:pPr>
            <a:r>
              <a:rPr lang="en-US" sz="3000" dirty="0">
                <a:solidFill>
                  <a:schemeClr val="tx1"/>
                </a:solidFill>
                <a:latin typeface="Garamond" panose="02020404030301010803" pitchFamily="18" charset="0"/>
              </a:rPr>
              <a:t>Specific activities: identifying the sample from which to collect data, selecting the sample, designing questions for asking the respondents, &amp; administering the questions to the respondents.</a:t>
            </a:r>
          </a:p>
          <a:p>
            <a:pPr marL="1485900" lvl="2" indent="-571500" algn="just">
              <a:buAutoNum type="romanLcParenR" startAt="4"/>
              <a:defRPr/>
            </a:pPr>
            <a:r>
              <a:rPr lang="en-US" sz="3000" b="1" dirty="0">
                <a:solidFill>
                  <a:schemeClr val="tx1"/>
                </a:solidFill>
                <a:latin typeface="Garamond" panose="02020404030301010803" pitchFamily="18" charset="0"/>
              </a:rPr>
              <a:t>Analysis: </a:t>
            </a:r>
            <a:r>
              <a:rPr lang="en-US" sz="3000" dirty="0">
                <a:solidFill>
                  <a:schemeClr val="tx1"/>
                </a:solidFill>
                <a:latin typeface="Garamond" panose="02020404030301010803" pitchFamily="18" charset="0"/>
              </a:rPr>
              <a:t> careful examination of collected data to derive information for solving the problem.</a:t>
            </a:r>
          </a:p>
          <a:p>
            <a:pPr marL="1485900" lvl="2" indent="-571500" algn="just">
              <a:buFont typeface="Arial" panose="020B0604020202020204" pitchFamily="34" charset="0"/>
              <a:buChar char="•"/>
              <a:defRPr/>
            </a:pPr>
            <a:r>
              <a:rPr lang="en-US" sz="3000" dirty="0">
                <a:solidFill>
                  <a:schemeClr val="tx1"/>
                </a:solidFill>
                <a:latin typeface="Garamond" panose="02020404030301010803" pitchFamily="18" charset="0"/>
              </a:rPr>
              <a:t>The specific activities: preparing the data in a format suitable for analysis, analyzing the data, &amp; reporting information derived from data.</a:t>
            </a:r>
            <a:endParaRPr lang="en-US" sz="3000" dirty="0">
              <a:solidFill>
                <a:schemeClr val="tx1"/>
              </a:solidFill>
              <a:latin typeface="Bodoni MT" panose="02070603080606020203" pitchFamily="18" charset="0"/>
            </a:endParaRPr>
          </a:p>
          <a:p>
            <a:pPr lvl="2" algn="just">
              <a:defRPr/>
            </a:pPr>
            <a:r>
              <a:rPr lang="en-US" sz="3000" dirty="0">
                <a:solidFill>
                  <a:schemeClr val="tx1"/>
                </a:solidFill>
                <a:latin typeface="Garamond" panose="02020404030301010803" pitchFamily="18" charset="0"/>
              </a:rPr>
              <a:t>	</a:t>
            </a:r>
            <a:endParaRPr lang="en-US" sz="3800" dirty="0">
              <a:solidFill>
                <a:schemeClr val="tx1"/>
              </a:solidFill>
              <a:latin typeface="Bodoni MT" pitchFamily="18" charset="0"/>
              <a:cs typeface="Microsoft New Tai Lue" pitchFamily="34" charset="0"/>
            </a:endParaRPr>
          </a:p>
        </p:txBody>
      </p:sp>
    </p:spTree>
    <p:extLst>
      <p:ext uri="{BB962C8B-B14F-4D97-AF65-F5344CB8AC3E}">
        <p14:creationId xmlns:p14="http://schemas.microsoft.com/office/powerpoint/2010/main" val="358713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1485900" lvl="2" indent="-571500" algn="just">
              <a:buAutoNum type="romanLcParenR" startAt="5"/>
              <a:defRPr/>
            </a:pPr>
            <a:r>
              <a:rPr lang="en-US" sz="3000" dirty="0">
                <a:solidFill>
                  <a:schemeClr val="tx1"/>
                </a:solidFill>
                <a:latin typeface="Bodoni MT" panose="02070603080606020203" pitchFamily="18" charset="0"/>
              </a:rPr>
              <a:t>Concluding and recommending: </a:t>
            </a:r>
            <a:r>
              <a:rPr lang="en-US" sz="3000" dirty="0">
                <a:solidFill>
                  <a:schemeClr val="tx1"/>
                </a:solidFill>
                <a:latin typeface="Garamond" panose="02020404030301010803" pitchFamily="18" charset="0"/>
              </a:rPr>
              <a:t>this is concerned with forming the research stance about the results. For example: summarizing concisely on what the research considers to be the internal factors that imped adoption of ICT among small business at Ikuti (if this is what was studied).</a:t>
            </a:r>
          </a:p>
          <a:p>
            <a:pPr marL="1485900" lvl="2" indent="-571500" algn="just">
              <a:buFont typeface="Arial" panose="020B0604020202020204" pitchFamily="34" charset="0"/>
              <a:buChar char="•"/>
              <a:defRPr/>
            </a:pPr>
            <a:r>
              <a:rPr lang="en-US" sz="3000" dirty="0">
                <a:solidFill>
                  <a:schemeClr val="tx1"/>
                </a:solidFill>
                <a:latin typeface="Garamond" panose="02020404030301010803" pitchFamily="18" charset="0"/>
              </a:rPr>
              <a:t>Subsequently, the step involves suggesting courses of actions that reflect the results and which when taken can contribute to resolving the problem.</a:t>
            </a:r>
          </a:p>
          <a:p>
            <a:pPr marL="1485900" lvl="2" indent="-571500" algn="just">
              <a:buFont typeface="Arial" panose="020B0604020202020204" pitchFamily="34" charset="0"/>
              <a:buChar char="•"/>
              <a:defRPr/>
            </a:pPr>
            <a:r>
              <a:rPr lang="en-US" sz="3000" dirty="0">
                <a:solidFill>
                  <a:schemeClr val="tx1"/>
                </a:solidFill>
                <a:latin typeface="Garamond" panose="02020404030301010803" pitchFamily="18" charset="0"/>
              </a:rPr>
              <a:t>Also, the step calls for applying good practices of communicate skills to draft a report for presenting the results to the responsible management unit.</a:t>
            </a:r>
          </a:p>
        </p:txBody>
      </p:sp>
    </p:spTree>
    <p:extLst>
      <p:ext uri="{BB962C8B-B14F-4D97-AF65-F5344CB8AC3E}">
        <p14:creationId xmlns:p14="http://schemas.microsoft.com/office/powerpoint/2010/main" val="2885648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971550" lvl="1" indent="-514350" algn="just">
              <a:buAutoNum type="alphaLcParenR" startAt="4"/>
              <a:defRPr/>
            </a:pPr>
            <a:r>
              <a:rPr lang="en-US" sz="3400" dirty="0">
                <a:solidFill>
                  <a:schemeClr val="tx1"/>
                </a:solidFill>
                <a:latin typeface="Bodoni MT" panose="02070603080606020203" pitchFamily="18" charset="0"/>
              </a:rPr>
              <a:t>Research variables</a:t>
            </a:r>
          </a:p>
          <a:p>
            <a:pPr marL="914400" lvl="1" indent="-457200" algn="just">
              <a:buFont typeface="Arial" panose="020B0604020202020204" pitchFamily="34" charset="0"/>
              <a:buChar char="•"/>
              <a:defRPr/>
            </a:pPr>
            <a:r>
              <a:rPr lang="en-US" sz="3400" dirty="0">
                <a:solidFill>
                  <a:schemeClr val="tx1"/>
                </a:solidFill>
                <a:latin typeface="Bodoni MT" panose="02070603080606020203" pitchFamily="18" charset="0"/>
              </a:rPr>
              <a:t>Because research involves collection of data, the characteristic (property) for which data is collected is called variable.</a:t>
            </a:r>
          </a:p>
          <a:p>
            <a:pPr marL="914400" lvl="1" indent="-457200" algn="just">
              <a:buFont typeface="Arial" panose="020B0604020202020204" pitchFamily="34" charset="0"/>
              <a:buChar char="•"/>
              <a:defRPr/>
            </a:pPr>
            <a:r>
              <a:rPr lang="en-US" sz="3400" dirty="0">
                <a:solidFill>
                  <a:schemeClr val="tx1"/>
                </a:solidFill>
                <a:latin typeface="Garamond" panose="02020404030301010803" pitchFamily="18" charset="0"/>
              </a:rPr>
              <a:t>For-example: Determinants of ICT adoption in small business at Ikuti.</a:t>
            </a:r>
          </a:p>
          <a:p>
            <a:pPr marL="1485900" lvl="2" indent="-571500" algn="just">
              <a:buFont typeface="Arial" panose="020B0604020202020204" pitchFamily="34" charset="0"/>
              <a:buChar char="•"/>
              <a:defRPr/>
            </a:pPr>
            <a:r>
              <a:rPr lang="en-US" sz="3000" dirty="0">
                <a:solidFill>
                  <a:schemeClr val="tx1"/>
                </a:solidFill>
                <a:latin typeface="Garamond" panose="02020404030301010803" pitchFamily="18" charset="0"/>
              </a:rPr>
              <a:t>Data for determinants of ICT adoption for this study may include data on capital, ownership, experience etc.</a:t>
            </a:r>
          </a:p>
          <a:p>
            <a:pPr marL="1485900" lvl="2" indent="-571500" algn="just">
              <a:buFont typeface="Arial" panose="020B0604020202020204" pitchFamily="34" charset="0"/>
              <a:buChar char="•"/>
              <a:defRPr/>
            </a:pPr>
            <a:r>
              <a:rPr lang="en-US" sz="3000" dirty="0">
                <a:solidFill>
                  <a:schemeClr val="tx1"/>
                </a:solidFill>
                <a:latin typeface="Garamond" panose="02020404030301010803" pitchFamily="18" charset="0"/>
              </a:rPr>
              <a:t>Also, data about the adoption of ICT will be collected, for example, on number of ICT services used.</a:t>
            </a:r>
          </a:p>
        </p:txBody>
      </p:sp>
    </p:spTree>
    <p:extLst>
      <p:ext uri="{BB962C8B-B14F-4D97-AF65-F5344CB8AC3E}">
        <p14:creationId xmlns:p14="http://schemas.microsoft.com/office/powerpoint/2010/main" val="1469785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914400" lvl="1" indent="-457200" algn="just">
              <a:buFont typeface="Arial" panose="020B0604020202020204" pitchFamily="34" charset="0"/>
              <a:buChar char="•"/>
              <a:defRPr/>
            </a:pPr>
            <a:r>
              <a:rPr lang="en-US" sz="3200" dirty="0">
                <a:solidFill>
                  <a:schemeClr val="tx1"/>
                </a:solidFill>
                <a:latin typeface="Garamond" panose="02020404030301010803" pitchFamily="18" charset="0"/>
              </a:rPr>
              <a:t>The data for each determinant of ICT adoption differ from one firm to another, which is why it is called a variable.</a:t>
            </a:r>
          </a:p>
          <a:p>
            <a:pPr marL="914400" lvl="1" indent="-457200" algn="just">
              <a:buFont typeface="Arial" panose="020B0604020202020204" pitchFamily="34" charset="0"/>
              <a:buChar char="•"/>
              <a:defRPr/>
            </a:pPr>
            <a:r>
              <a:rPr lang="en-US" sz="3200" dirty="0">
                <a:solidFill>
                  <a:schemeClr val="tx1"/>
                </a:solidFill>
                <a:latin typeface="Garamond" panose="02020404030301010803" pitchFamily="18" charset="0"/>
              </a:rPr>
              <a:t>There are many forms of variables, but the most common ones are:-</a:t>
            </a:r>
          </a:p>
          <a:p>
            <a:pPr marL="1371600" lvl="2" indent="-457200" algn="just">
              <a:buFontTx/>
              <a:buChar char="-"/>
              <a:defRPr/>
            </a:pPr>
            <a:r>
              <a:rPr lang="en-US" sz="3200" b="1" dirty="0">
                <a:solidFill>
                  <a:schemeClr val="tx1"/>
                </a:solidFill>
                <a:latin typeface="Garamond" panose="02020404030301010803" pitchFamily="18" charset="0"/>
              </a:rPr>
              <a:t>Independent variable: </a:t>
            </a:r>
            <a:r>
              <a:rPr lang="en-US" sz="3200" dirty="0">
                <a:solidFill>
                  <a:schemeClr val="tx1"/>
                </a:solidFill>
                <a:latin typeface="Garamond" panose="02020404030301010803" pitchFamily="18" charset="0"/>
              </a:rPr>
              <a:t>A variable that is assumed to occur on its own or without another influence. In the example of determinants of ICT adoption, experience, ownership and capital are independent variables.</a:t>
            </a:r>
          </a:p>
          <a:p>
            <a:pPr marL="914400" lvl="1" indent="-457200" algn="just">
              <a:buFontTx/>
              <a:buChar char="-"/>
              <a:defRPr/>
            </a:pPr>
            <a:endParaRPr lang="en-US" sz="3000" dirty="0">
              <a:solidFill>
                <a:schemeClr val="tx1"/>
              </a:solidFill>
              <a:latin typeface="Garamond" panose="02020404030301010803" pitchFamily="18" charset="0"/>
            </a:endParaRPr>
          </a:p>
        </p:txBody>
      </p:sp>
    </p:spTree>
    <p:extLst>
      <p:ext uri="{BB962C8B-B14F-4D97-AF65-F5344CB8AC3E}">
        <p14:creationId xmlns:p14="http://schemas.microsoft.com/office/powerpoint/2010/main" val="1079157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1371600" lvl="2" indent="-457200" algn="just">
              <a:buFontTx/>
              <a:buChar char="-"/>
              <a:defRPr/>
            </a:pPr>
            <a:r>
              <a:rPr lang="en-US" sz="3200" b="1" dirty="0">
                <a:solidFill>
                  <a:schemeClr val="tx1"/>
                </a:solidFill>
                <a:latin typeface="Garamond" panose="02020404030301010803" pitchFamily="18" charset="0"/>
              </a:rPr>
              <a:t>Dependent variable: </a:t>
            </a:r>
            <a:r>
              <a:rPr lang="en-US" sz="3200" dirty="0">
                <a:solidFill>
                  <a:schemeClr val="tx1"/>
                </a:solidFill>
                <a:latin typeface="Garamond" panose="02020404030301010803" pitchFamily="18" charset="0"/>
              </a:rPr>
              <a:t>A variable that is assumed to be caused to occur by another variable. For example, the adoption of ICT is a dependent variable. It can be caused by capital because if the firm has capital it can buy ICT facilities. </a:t>
            </a:r>
            <a:endParaRPr lang="en-US" sz="3200" b="1" dirty="0">
              <a:solidFill>
                <a:schemeClr val="tx1"/>
              </a:solidFill>
              <a:latin typeface="Garamond" panose="02020404030301010803" pitchFamily="18" charset="0"/>
            </a:endParaRPr>
          </a:p>
          <a:p>
            <a:pPr marL="1371600" lvl="2" indent="-457200" algn="just">
              <a:buFontTx/>
              <a:buChar char="-"/>
              <a:defRPr/>
            </a:pPr>
            <a:r>
              <a:rPr lang="en-US" sz="3200" b="1" dirty="0">
                <a:solidFill>
                  <a:schemeClr val="tx1"/>
                </a:solidFill>
                <a:latin typeface="Garamond" panose="02020404030301010803" pitchFamily="18" charset="0"/>
              </a:rPr>
              <a:t>Intervening variable: </a:t>
            </a:r>
            <a:r>
              <a:rPr lang="en-US" sz="3200" dirty="0">
                <a:solidFill>
                  <a:schemeClr val="tx1"/>
                </a:solidFill>
                <a:latin typeface="Garamond" panose="02020404030301010803" pitchFamily="18" charset="0"/>
              </a:rPr>
              <a:t>A variable that is assumed to intervene in the occurrence of a subsequent variable. For example, for determinants of ICT adoption, experience can contribute to perceived usefulness, which in turn leads to ICT adoption. Thus, perceived ease of use is an intervening/mediator variable.</a:t>
            </a:r>
          </a:p>
          <a:p>
            <a:pPr lvl="1" algn="just">
              <a:defRPr/>
            </a:pPr>
            <a:endParaRPr lang="en-US" sz="3000" dirty="0">
              <a:solidFill>
                <a:schemeClr val="tx1"/>
              </a:solidFill>
              <a:latin typeface="Garamond" panose="02020404030301010803" pitchFamily="18" charset="0"/>
            </a:endParaRPr>
          </a:p>
        </p:txBody>
      </p:sp>
    </p:spTree>
    <p:extLst>
      <p:ext uri="{BB962C8B-B14F-4D97-AF65-F5344CB8AC3E}">
        <p14:creationId xmlns:p14="http://schemas.microsoft.com/office/powerpoint/2010/main" val="3520166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246" y="0"/>
            <a:ext cx="9144000" cy="6858000"/>
          </a:xfrm>
        </p:spPr>
        <p:txBody>
          <a:bodyPr anchor="ctr">
            <a:noAutofit/>
          </a:bodyPr>
          <a:lstStyle/>
          <a:p>
            <a:pPr marL="514350" indent="-514350" algn="just">
              <a:buAutoNum type="alphaLcParenR" startAt="5"/>
            </a:pPr>
            <a:r>
              <a:rPr lang="en-US" sz="3000" b="1" dirty="0">
                <a:solidFill>
                  <a:schemeClr val="tx1"/>
                </a:solidFill>
                <a:latin typeface="Garamond" panose="02020404030301010803" pitchFamily="18" charset="0"/>
              </a:rPr>
              <a:t>Types of research </a:t>
            </a:r>
          </a:p>
          <a:p>
            <a:pPr marL="342900" indent="-342900" algn="just">
              <a:buFont typeface="Arial" panose="020B0604020202020204" pitchFamily="34" charset="0"/>
              <a:buChar char="•"/>
            </a:pPr>
            <a:r>
              <a:rPr lang="en-US" sz="3000" dirty="0">
                <a:solidFill>
                  <a:schemeClr val="tx1"/>
                </a:solidFill>
                <a:latin typeface="Garamond" panose="02020404030301010803" pitchFamily="18" charset="0"/>
              </a:rPr>
              <a:t>There are different ways of classifying research, including application (use), objectives of research, and mode of enquiry. </a:t>
            </a:r>
          </a:p>
          <a:p>
            <a:pPr marL="457200" indent="-457200" algn="just">
              <a:buFont typeface="Courier New" panose="02070309020205020404" pitchFamily="49" charset="0"/>
              <a:buChar char="o"/>
            </a:pPr>
            <a:r>
              <a:rPr lang="en-US" sz="3000" dirty="0">
                <a:solidFill>
                  <a:schemeClr val="tx1"/>
                </a:solidFill>
                <a:latin typeface="Garamond" panose="02020404030301010803" pitchFamily="18" charset="0"/>
              </a:rPr>
              <a:t>Based on the application of research</a:t>
            </a:r>
          </a:p>
          <a:p>
            <a:pPr marL="1028700" lvl="1" indent="-571500" algn="just">
              <a:buAutoNum type="romanLcParenR"/>
            </a:pPr>
            <a:r>
              <a:rPr lang="en-US" sz="3000" b="1" dirty="0">
                <a:solidFill>
                  <a:schemeClr val="tx1"/>
                </a:solidFill>
                <a:latin typeface="Garamond" panose="02020404030301010803" pitchFamily="18" charset="0"/>
              </a:rPr>
              <a:t>Basic/pure research: </a:t>
            </a:r>
            <a:r>
              <a:rPr lang="en-US" sz="3000" dirty="0">
                <a:solidFill>
                  <a:schemeClr val="tx1"/>
                </a:solidFill>
                <a:latin typeface="Garamond" panose="02020404030301010803" pitchFamily="18" charset="0"/>
              </a:rPr>
              <a:t>This kind of research has no apparent or direct applications to any existing practical problem, performance, or policy decision.</a:t>
            </a:r>
          </a:p>
          <a:p>
            <a:pPr marL="1028700" lvl="1" indent="-571500" algn="just">
              <a:buFont typeface="Arial" panose="020B0604020202020204" pitchFamily="34" charset="0"/>
              <a:buChar char="•"/>
            </a:pPr>
            <a:r>
              <a:rPr lang="en-US" sz="3000" dirty="0">
                <a:solidFill>
                  <a:schemeClr val="tx1"/>
                </a:solidFill>
                <a:latin typeface="Garamond" panose="02020404030301010803" pitchFamily="18" charset="0"/>
              </a:rPr>
              <a:t>Pure research is more academic (interesting to the scholarly community or researchers), and tends to generate and expand knowledge.</a:t>
            </a:r>
          </a:p>
          <a:p>
            <a:pPr marL="1371600" lvl="2" indent="-457200" algn="just">
              <a:buFontTx/>
              <a:buChar char="-"/>
            </a:pPr>
            <a:r>
              <a:rPr lang="en-US" sz="3000" dirty="0">
                <a:solidFill>
                  <a:schemeClr val="tx1"/>
                </a:solidFill>
                <a:latin typeface="Garamond" panose="02020404030301010803" pitchFamily="18" charset="0"/>
              </a:rPr>
              <a:t>For example, a social researcher studying if there is any relationship between religion and occupation. </a:t>
            </a:r>
          </a:p>
        </p:txBody>
      </p:sp>
    </p:spTree>
    <p:extLst>
      <p:ext uri="{BB962C8B-B14F-4D97-AF65-F5344CB8AC3E}">
        <p14:creationId xmlns:p14="http://schemas.microsoft.com/office/powerpoint/2010/main" val="3635901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514350" indent="-514350" algn="just">
              <a:buAutoNum type="romanLcParenR" startAt="2"/>
            </a:pPr>
            <a:r>
              <a:rPr lang="en-US" sz="3000" b="1" dirty="0">
                <a:solidFill>
                  <a:schemeClr val="tx1"/>
                </a:solidFill>
                <a:latin typeface="Garamond" panose="02020404030301010803" pitchFamily="18" charset="0"/>
              </a:rPr>
              <a:t>Applied research: </a:t>
            </a:r>
            <a:r>
              <a:rPr lang="en-US" sz="3000" dirty="0">
                <a:solidFill>
                  <a:schemeClr val="tx1"/>
                </a:solidFill>
                <a:latin typeface="Garamond" panose="02020404030301010803" pitchFamily="18" charset="0"/>
              </a:rPr>
              <a:t>Also, this kind of research is called developmental, action, operations, social, or decision-linked research.</a:t>
            </a:r>
          </a:p>
          <a:p>
            <a:pPr marL="514350" indent="-514350" algn="just">
              <a:buFont typeface="Arial" panose="020B0604020202020204" pitchFamily="34" charset="0"/>
              <a:buChar char="•"/>
            </a:pPr>
            <a:r>
              <a:rPr lang="en-US" sz="3000" dirty="0">
                <a:solidFill>
                  <a:schemeClr val="tx1"/>
                </a:solidFill>
                <a:latin typeface="Garamond" panose="02020404030301010803" pitchFamily="18" charset="0"/>
              </a:rPr>
              <a:t>This is the kind of research that is conducted to find a practical solution for an immediate problem or answers to action, performance, or policy needs. </a:t>
            </a:r>
          </a:p>
          <a:p>
            <a:pPr algn="just"/>
            <a:r>
              <a:rPr lang="en-US" sz="3000" dirty="0">
                <a:solidFill>
                  <a:schemeClr val="tx1"/>
                </a:solidFill>
                <a:latin typeface="Garamond" panose="02020404030301010803" pitchFamily="18" charset="0"/>
              </a:rPr>
              <a:t>	Examples</a:t>
            </a:r>
          </a:p>
          <a:p>
            <a:pPr marL="914400" lvl="1" indent="-457200" algn="just">
              <a:buFontTx/>
              <a:buChar char="-"/>
            </a:pPr>
            <a:r>
              <a:rPr lang="en-US" sz="3000" dirty="0">
                <a:solidFill>
                  <a:schemeClr val="tx1"/>
                </a:solidFill>
                <a:latin typeface="Garamond" panose="02020404030301010803" pitchFamily="18" charset="0"/>
              </a:rPr>
              <a:t>finding out if height is one of the risk factors associated with the high proportion of women who deliver through the Caesarian section.</a:t>
            </a:r>
          </a:p>
          <a:p>
            <a:pPr marL="914400" lvl="1" indent="-457200" algn="just">
              <a:buFontTx/>
              <a:buChar char="-"/>
            </a:pPr>
            <a:r>
              <a:rPr lang="en-US" sz="3000" dirty="0">
                <a:solidFill>
                  <a:schemeClr val="tx1"/>
                </a:solidFill>
                <a:latin typeface="Garamond" panose="02020404030301010803" pitchFamily="18" charset="0"/>
              </a:rPr>
              <a:t>research conducted to determine the optimal use of degrading use of available resources such as forests. </a:t>
            </a:r>
          </a:p>
          <a:p>
            <a:pPr algn="just"/>
            <a:endParaRPr lang="en-US" sz="2000" dirty="0">
              <a:latin typeface="Garamond" panose="02020404030301010803" pitchFamily="18" charset="0"/>
            </a:endParaRPr>
          </a:p>
        </p:txBody>
      </p:sp>
    </p:spTree>
    <p:extLst>
      <p:ext uri="{BB962C8B-B14F-4D97-AF65-F5344CB8AC3E}">
        <p14:creationId xmlns:p14="http://schemas.microsoft.com/office/powerpoint/2010/main" val="33948469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a:bodyPr>
          <a:lstStyle/>
          <a:p>
            <a:pPr marL="342900" indent="-342900" algn="just">
              <a:buFont typeface="Courier New" panose="02070309020205020404" pitchFamily="49" charset="0"/>
              <a:buChar char="o"/>
            </a:pPr>
            <a:r>
              <a:rPr lang="en-US" sz="3000" dirty="0">
                <a:solidFill>
                  <a:schemeClr val="tx1"/>
                </a:solidFill>
                <a:latin typeface="Garamond" panose="02020404030301010803" pitchFamily="18" charset="0"/>
              </a:rPr>
              <a:t>Based on the objectives of the research:-</a:t>
            </a:r>
          </a:p>
          <a:p>
            <a:pPr marL="971550" lvl="1" indent="-514350" algn="just">
              <a:buAutoNum type="romanLcParenR"/>
            </a:pPr>
            <a:r>
              <a:rPr lang="en-US" sz="3000" b="1" dirty="0">
                <a:solidFill>
                  <a:schemeClr val="tx1"/>
                </a:solidFill>
                <a:latin typeface="Garamond" panose="02020404030301010803" pitchFamily="18" charset="0"/>
              </a:rPr>
              <a:t>Descriptive research: </a:t>
            </a:r>
            <a:r>
              <a:rPr lang="en-US" sz="3000" dirty="0">
                <a:solidFill>
                  <a:schemeClr val="tx1"/>
                </a:solidFill>
                <a:latin typeface="Garamond" panose="02020404030301010803" pitchFamily="18" charset="0"/>
              </a:rPr>
              <a:t>This kind of research reveals the state or status quo of a situation, problem, phenomenon, service, or, program. </a:t>
            </a:r>
          </a:p>
          <a:p>
            <a:pPr marL="971550" lvl="1" indent="-514350" algn="just">
              <a:buFont typeface="Arial" panose="020B0604020202020204" pitchFamily="34" charset="0"/>
              <a:buChar char="•"/>
            </a:pPr>
            <a:r>
              <a:rPr lang="en-US" sz="3000" dirty="0">
                <a:solidFill>
                  <a:schemeClr val="tx1"/>
                </a:solidFill>
                <a:latin typeface="Garamond" panose="02020404030301010803" pitchFamily="18" charset="0"/>
              </a:rPr>
              <a:t>Descriptive research observes and describes a research subject or problem without manipulating the variables involved anyway. It answers questions such as who, what, when, and where.</a:t>
            </a:r>
          </a:p>
          <a:p>
            <a:pPr marL="971550" lvl="1" indent="-514350" algn="just">
              <a:buFont typeface="Arial" panose="020B0604020202020204" pitchFamily="34" charset="0"/>
              <a:buChar char="•"/>
            </a:pPr>
            <a:r>
              <a:rPr lang="en-US" sz="3000" dirty="0">
                <a:solidFill>
                  <a:schemeClr val="tx1"/>
                </a:solidFill>
                <a:latin typeface="Garamond" panose="02020404030301010803" pitchFamily="18" charset="0"/>
              </a:rPr>
              <a:t>The main statistics involved are percentages, frequency, mean, and standard deviation</a:t>
            </a:r>
          </a:p>
          <a:p>
            <a:pPr marL="1257300" lvl="2" indent="-342900" algn="just">
              <a:buFontTx/>
              <a:buChar char="-"/>
            </a:pPr>
            <a:r>
              <a:rPr lang="en-US" sz="3000" dirty="0">
                <a:solidFill>
                  <a:schemeClr val="tx1"/>
                </a:solidFill>
                <a:latin typeface="Garamond" panose="02020404030301010803" pitchFamily="18" charset="0"/>
              </a:rPr>
              <a:t>For example, determining the proportion of business people who are considering using internet banking. </a:t>
            </a:r>
          </a:p>
        </p:txBody>
      </p:sp>
    </p:spTree>
    <p:extLst>
      <p:ext uri="{BB962C8B-B14F-4D97-AF65-F5344CB8AC3E}">
        <p14:creationId xmlns:p14="http://schemas.microsoft.com/office/powerpoint/2010/main" val="1070533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a:bodyPr>
          <a:lstStyle/>
          <a:p>
            <a:pPr marL="971550" lvl="1" indent="-514350" algn="just">
              <a:buAutoNum type="romanLcParenR" startAt="2"/>
            </a:pPr>
            <a:r>
              <a:rPr lang="en-US" sz="3000" b="1" dirty="0">
                <a:solidFill>
                  <a:schemeClr val="tx1"/>
                </a:solidFill>
                <a:latin typeface="Garamond" panose="02020404030301010803" pitchFamily="18" charset="0"/>
              </a:rPr>
              <a:t>Co-relational research: </a:t>
            </a:r>
            <a:r>
              <a:rPr lang="en-US" sz="3000" dirty="0">
                <a:solidFill>
                  <a:schemeClr val="tx1"/>
                </a:solidFill>
                <a:latin typeface="Garamond" panose="02020404030301010803" pitchFamily="18" charset="0"/>
              </a:rPr>
              <a:t>This type of research conducted  to establish, understand, or assess the statistical relationship between two variables.</a:t>
            </a:r>
          </a:p>
          <a:p>
            <a:pPr marL="1314450" lvl="1" indent="-857250" algn="just">
              <a:buFont typeface="Arial" panose="020B0604020202020204" pitchFamily="34" charset="0"/>
              <a:buChar char="•"/>
            </a:pPr>
            <a:r>
              <a:rPr lang="en-US" sz="3000" dirty="0">
                <a:solidFill>
                  <a:schemeClr val="tx1"/>
                </a:solidFill>
                <a:latin typeface="Garamond" panose="02020404030301010803" pitchFamily="18" charset="0"/>
              </a:rPr>
              <a:t>It involves looking for interaction between variables so that when you see one variable changing, you have a fair idea how the other variable will change.</a:t>
            </a:r>
          </a:p>
          <a:p>
            <a:pPr marL="1371600" lvl="2" indent="-457200" algn="just">
              <a:buFontTx/>
              <a:buChar char="-"/>
            </a:pPr>
            <a:r>
              <a:rPr lang="en-US" sz="3000" dirty="0">
                <a:solidFill>
                  <a:schemeClr val="tx1"/>
                </a:solidFill>
                <a:latin typeface="Garamond" panose="02020404030301010803" pitchFamily="18" charset="0"/>
              </a:rPr>
              <a:t>For example, the mind can memorize the bell of an ice cream seller. The Louder the bell sound, the closer is the vendor to us. This as an example of a co-relational relationship between two variables of bell sound and distance of the vendor. </a:t>
            </a:r>
          </a:p>
          <a:p>
            <a:pPr marL="1371600" lvl="2" indent="-457200" algn="just">
              <a:buFontTx/>
              <a:buChar char="-"/>
            </a:pPr>
            <a:r>
              <a:rPr lang="en-US" sz="3000" dirty="0">
                <a:solidFill>
                  <a:schemeClr val="tx1"/>
                </a:solidFill>
                <a:latin typeface="Garamond" panose="02020404030301010803" pitchFamily="18" charset="0"/>
              </a:rPr>
              <a:t>In this kind of relationship there is no assumption of one variable dictating occurrence of the other.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a:bodyPr>
          <a:lstStyle/>
          <a:p>
            <a:pPr marL="971550" lvl="1" indent="-514350" algn="just">
              <a:buAutoNum type="romanLcParenR" startAt="3"/>
            </a:pPr>
            <a:r>
              <a:rPr lang="en-US" sz="3000" b="1" dirty="0">
                <a:solidFill>
                  <a:schemeClr val="tx1"/>
                </a:solidFill>
                <a:latin typeface="Garamond" panose="02020404030301010803" pitchFamily="18" charset="0"/>
              </a:rPr>
              <a:t>Explanatory: </a:t>
            </a:r>
            <a:r>
              <a:rPr lang="en-US" sz="3000" dirty="0">
                <a:solidFill>
                  <a:schemeClr val="tx1"/>
                </a:solidFill>
                <a:latin typeface="Garamond" panose="02020404030301010803" pitchFamily="18" charset="0"/>
              </a:rPr>
              <a:t>this type of research intends to build, elaborate, extend or test to explanations (theory) why events occur.</a:t>
            </a:r>
          </a:p>
          <a:p>
            <a:pPr marL="971550" lvl="1" indent="-514350" algn="just">
              <a:buFont typeface="Arial" panose="020B0604020202020204" pitchFamily="34" charset="0"/>
              <a:buChar char="•"/>
            </a:pPr>
            <a:r>
              <a:rPr lang="en-US" sz="3000" dirty="0">
                <a:solidFill>
                  <a:schemeClr val="tx1"/>
                </a:solidFill>
                <a:latin typeface="Garamond" panose="02020404030301010803" pitchFamily="18" charset="0"/>
              </a:rPr>
              <a:t>It establishes what factors comes first so that it causes the other factor to occur.</a:t>
            </a:r>
          </a:p>
          <a:p>
            <a:pPr marL="1428750" lvl="2" indent="-514350" algn="just">
              <a:buFont typeface="Arial" panose="020B0604020202020204" pitchFamily="34" charset="0"/>
              <a:buChar char="•"/>
            </a:pPr>
            <a:r>
              <a:rPr lang="en-US" sz="3000" dirty="0">
                <a:solidFill>
                  <a:schemeClr val="tx1"/>
                </a:solidFill>
                <a:latin typeface="Garamond" panose="02020404030301010803" pitchFamily="18" charset="0"/>
              </a:rPr>
              <a:t>Examples</a:t>
            </a:r>
          </a:p>
          <a:p>
            <a:pPr marL="1371600" lvl="2" indent="-457200" algn="just">
              <a:buFontTx/>
              <a:buChar char="-"/>
            </a:pPr>
            <a:r>
              <a:rPr lang="en-US" sz="3000" dirty="0">
                <a:solidFill>
                  <a:schemeClr val="tx1"/>
                </a:solidFill>
                <a:latin typeface="Garamond" panose="02020404030301010803" pitchFamily="18" charset="0"/>
              </a:rPr>
              <a:t>research on the factors that contribute to customer satisfaction and determine the relative weight of each factor.</a:t>
            </a:r>
          </a:p>
          <a:p>
            <a:pPr marL="1371600" lvl="2" indent="-457200" algn="just">
              <a:buFontTx/>
              <a:buChar char="-"/>
            </a:pPr>
            <a:r>
              <a:rPr lang="en-US" sz="3000" dirty="0">
                <a:solidFill>
                  <a:schemeClr val="tx1"/>
                </a:solidFill>
                <a:latin typeface="Garamond" panose="02020404030301010803" pitchFamily="18" charset="0"/>
              </a:rPr>
              <a:t>research on what causes university students to use ICT services</a:t>
            </a:r>
          </a:p>
        </p:txBody>
      </p:sp>
    </p:spTree>
    <p:extLst>
      <p:ext uri="{BB962C8B-B14F-4D97-AF65-F5344CB8AC3E}">
        <p14:creationId xmlns:p14="http://schemas.microsoft.com/office/powerpoint/2010/main" val="2453127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Autofit/>
          </a:bodyPr>
          <a:lstStyle/>
          <a:p>
            <a:pPr marL="857250" indent="-857250" algn="just">
              <a:buFont typeface="Arial" pitchFamily="34" charset="0"/>
              <a:buAutoNum type="romanLcParenR" startAt="4"/>
            </a:pPr>
            <a:r>
              <a:rPr lang="en-US" sz="3000" b="1" dirty="0">
                <a:solidFill>
                  <a:schemeClr val="tx1"/>
                </a:solidFill>
                <a:latin typeface="Garamond" panose="02020404030301010803" pitchFamily="18" charset="0"/>
              </a:rPr>
              <a:t>Exploratory research: </a:t>
            </a:r>
            <a:r>
              <a:rPr lang="en-US" sz="3000" dirty="0">
                <a:solidFill>
                  <a:schemeClr val="tx1"/>
                </a:solidFill>
                <a:latin typeface="Garamond" panose="02020404030301010803" pitchFamily="18" charset="0"/>
              </a:rPr>
              <a:t>this form of research is often called grounded theory or interpretive research or formulative research. </a:t>
            </a:r>
          </a:p>
          <a:p>
            <a:pPr marL="857250" indent="-857250" algn="just">
              <a:buFont typeface="Arial" panose="020B0604020202020204" pitchFamily="34" charset="0"/>
              <a:buChar char="•"/>
            </a:pPr>
            <a:r>
              <a:rPr lang="en-US" sz="3000" dirty="0">
                <a:solidFill>
                  <a:schemeClr val="tx1"/>
                </a:solidFill>
                <a:latin typeface="Garamond" panose="02020404030301010803" pitchFamily="18" charset="0"/>
              </a:rPr>
              <a:t>It is used to answer questions like what, why, and how. It focuses on finding/understanding new things or their meaning.</a:t>
            </a:r>
          </a:p>
          <a:p>
            <a:pPr algn="just"/>
            <a:r>
              <a:rPr lang="en-US" sz="3000" dirty="0">
                <a:solidFill>
                  <a:schemeClr val="tx1"/>
                </a:solidFill>
                <a:latin typeface="Garamond" panose="02020404030301010803" pitchFamily="18" charset="0"/>
              </a:rPr>
              <a:t>	Examples</a:t>
            </a:r>
          </a:p>
          <a:p>
            <a:pPr marL="1485900" lvl="2" indent="-571500" algn="just">
              <a:buFontTx/>
              <a:buChar char="-"/>
            </a:pPr>
            <a:r>
              <a:rPr lang="en-US" sz="3000" dirty="0">
                <a:solidFill>
                  <a:schemeClr val="tx1"/>
                </a:solidFill>
                <a:latin typeface="Garamond" panose="02020404030301010803" pitchFamily="18" charset="0"/>
              </a:rPr>
              <a:t>searching for new destinations, new food, and new cultures has been the basis of most tourist and travel journeys.</a:t>
            </a:r>
          </a:p>
          <a:p>
            <a:pPr marL="1485900" lvl="2" indent="-571500" algn="just">
              <a:buFontTx/>
              <a:buChar char="-"/>
            </a:pPr>
            <a:r>
              <a:rPr lang="en-US" sz="3000" dirty="0">
                <a:solidFill>
                  <a:schemeClr val="tx1"/>
                </a:solidFill>
                <a:latin typeface="Garamond" panose="02020404030301010803" pitchFamily="18" charset="0"/>
              </a:rPr>
              <a:t>finding a solution for a problem that has not been studied more clearly, intended to establish priorities, develop operational definitions and improve the final research design.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a:bodyPr>
          <a:lstStyle/>
          <a:p>
            <a:pPr marL="1028700" lvl="1" indent="-571500" algn="just">
              <a:buAutoNum type="romanLcParenR" startAt="5"/>
            </a:pPr>
            <a:r>
              <a:rPr lang="en-US" sz="3000" b="1" dirty="0">
                <a:solidFill>
                  <a:schemeClr val="tx1"/>
                </a:solidFill>
                <a:latin typeface="Garamond" panose="02020404030301010803" pitchFamily="18" charset="0"/>
              </a:rPr>
              <a:t>Evaluative research: </a:t>
            </a:r>
            <a:r>
              <a:rPr lang="en-US" sz="3000" dirty="0">
                <a:solidFill>
                  <a:schemeClr val="tx1"/>
                </a:solidFill>
                <a:latin typeface="Garamond" panose="02020404030301010803" pitchFamily="18" charset="0"/>
              </a:rPr>
              <a:t>This kind of research is concerned with assessing the effect/consequence of organizational programs or interventions or policies.</a:t>
            </a:r>
          </a:p>
          <a:p>
            <a:pPr lvl="1" algn="just"/>
            <a:endParaRPr lang="en-US" sz="3000" dirty="0">
              <a:solidFill>
                <a:schemeClr val="tx1"/>
              </a:solidFill>
              <a:latin typeface="Garamond" panose="02020404030301010803" pitchFamily="18" charset="0"/>
            </a:endParaRPr>
          </a:p>
          <a:p>
            <a:pPr marL="914400" lvl="1" indent="-457200" algn="just">
              <a:buFont typeface="Arial" panose="020B0604020202020204" pitchFamily="34" charset="0"/>
              <a:buChar char="•"/>
            </a:pPr>
            <a:r>
              <a:rPr lang="en-US" sz="3000" dirty="0">
                <a:solidFill>
                  <a:schemeClr val="tx1"/>
                </a:solidFill>
                <a:latin typeface="Garamond" panose="02020404030301010803" pitchFamily="18" charset="0"/>
              </a:rPr>
              <a:t>Such kind of research attempts to:-</a:t>
            </a:r>
          </a:p>
          <a:p>
            <a:pPr marL="1371600" lvl="2" indent="-457200" algn="just">
              <a:buFontTx/>
              <a:buChar char="-"/>
            </a:pPr>
            <a:r>
              <a:rPr lang="en-US" sz="3000" dirty="0">
                <a:solidFill>
                  <a:schemeClr val="tx1"/>
                </a:solidFill>
                <a:latin typeface="Garamond" panose="02020404030301010803" pitchFamily="18" charset="0"/>
              </a:rPr>
              <a:t>assess if certain activities have been implemented activities; examine the effects of the activities,</a:t>
            </a:r>
          </a:p>
          <a:p>
            <a:pPr marL="1371600" lvl="2" indent="-457200" algn="just">
              <a:buFontTx/>
              <a:buChar char="-"/>
            </a:pPr>
            <a:r>
              <a:rPr lang="en-US" sz="3000" dirty="0">
                <a:solidFill>
                  <a:schemeClr val="tx1"/>
                </a:solidFill>
                <a:latin typeface="Garamond" panose="02020404030301010803" pitchFamily="18" charset="0"/>
              </a:rPr>
              <a:t>determine the impact of a program,</a:t>
            </a:r>
          </a:p>
          <a:p>
            <a:pPr marL="1371600" lvl="2" indent="-457200" algn="just">
              <a:buFontTx/>
              <a:buChar char="-"/>
            </a:pPr>
            <a:r>
              <a:rPr lang="en-US" sz="3000" dirty="0">
                <a:solidFill>
                  <a:schemeClr val="tx1"/>
                </a:solidFill>
                <a:latin typeface="Garamond" panose="02020404030301010803" pitchFamily="18" charset="0"/>
              </a:rPr>
              <a:t>evaluate the success of the intervention.</a:t>
            </a:r>
          </a:p>
        </p:txBody>
      </p:sp>
    </p:spTree>
    <p:extLst>
      <p:ext uri="{BB962C8B-B14F-4D97-AF65-F5344CB8AC3E}">
        <p14:creationId xmlns:p14="http://schemas.microsoft.com/office/powerpoint/2010/main" val="3890514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a:bodyPr>
          <a:lstStyle/>
          <a:p>
            <a:pPr marL="342900" indent="-342900" algn="just">
              <a:buFont typeface="Courier New" panose="02070309020205020404" pitchFamily="49" charset="0"/>
              <a:buChar char="o"/>
            </a:pPr>
            <a:r>
              <a:rPr lang="en-US" sz="3000" dirty="0">
                <a:solidFill>
                  <a:schemeClr val="tx1"/>
                </a:solidFill>
                <a:latin typeface="Garamond" panose="02020404030301010803" pitchFamily="18" charset="0"/>
              </a:rPr>
              <a:t>Based on mode of enquiry (nature of data and research methods or design):-</a:t>
            </a:r>
          </a:p>
          <a:p>
            <a:pPr marL="971550" lvl="1" indent="-514350" algn="just">
              <a:buAutoNum type="romanLcParenR"/>
            </a:pPr>
            <a:r>
              <a:rPr lang="en-US" sz="3000" b="1" dirty="0">
                <a:solidFill>
                  <a:schemeClr val="tx1"/>
                </a:solidFill>
                <a:latin typeface="Garamond" panose="02020404030301010803" pitchFamily="18" charset="0"/>
              </a:rPr>
              <a:t>Quantitative research: </a:t>
            </a:r>
            <a:r>
              <a:rPr lang="en-US" sz="3000" dirty="0">
                <a:solidFill>
                  <a:schemeClr val="tx1"/>
                </a:solidFill>
                <a:latin typeface="Garamond" panose="02020404030301010803" pitchFamily="18" charset="0"/>
              </a:rPr>
              <a:t>Research that collects and uses data in the form of quantities. It requires a large number of participants and data, which are analyzed using quantitative methods such as regression analysis, frequency, percentage etc. and the results generalized to the whole population under study. </a:t>
            </a:r>
          </a:p>
          <a:p>
            <a:pPr marL="971550" lvl="1" indent="-514350" algn="just">
              <a:buFont typeface="Wingdings" panose="05000000000000000000" pitchFamily="2" charset="2"/>
              <a:buChar char="§"/>
            </a:pPr>
            <a:r>
              <a:rPr lang="en-US" sz="3000" b="1" dirty="0">
                <a:solidFill>
                  <a:schemeClr val="tx1"/>
                </a:solidFill>
                <a:latin typeface="Garamond" panose="02020404030301010803" pitchFamily="18" charset="0"/>
              </a:rPr>
              <a:t>Census: </a:t>
            </a:r>
            <a:r>
              <a:rPr lang="en-US" sz="3000" dirty="0">
                <a:solidFill>
                  <a:schemeClr val="tx1"/>
                </a:solidFill>
                <a:latin typeface="Garamond" panose="02020404030301010803" pitchFamily="18" charset="0"/>
              </a:rPr>
              <a:t>collects quantitative data from all members of the population under study.</a:t>
            </a:r>
          </a:p>
          <a:p>
            <a:pPr marL="971550" lvl="1" indent="-514350" algn="just">
              <a:buFont typeface="Wingdings" panose="05000000000000000000" pitchFamily="2" charset="2"/>
              <a:buChar char="§"/>
            </a:pPr>
            <a:r>
              <a:rPr lang="en-US" sz="3000" b="1" dirty="0">
                <a:solidFill>
                  <a:schemeClr val="tx1"/>
                </a:solidFill>
                <a:latin typeface="Garamond" panose="02020404030301010803" pitchFamily="18" charset="0"/>
              </a:rPr>
              <a:t>Survey: </a:t>
            </a:r>
            <a:r>
              <a:rPr lang="en-US" sz="3000" dirty="0">
                <a:solidFill>
                  <a:schemeClr val="tx1"/>
                </a:solidFill>
                <a:latin typeface="Garamond" panose="02020404030301010803" pitchFamily="18" charset="0"/>
              </a:rPr>
              <a:t>involves collecting data from many population members who are selected to represent the entire population under study.</a:t>
            </a:r>
          </a:p>
        </p:txBody>
      </p:sp>
    </p:spTree>
    <p:extLst>
      <p:ext uri="{BB962C8B-B14F-4D97-AF65-F5344CB8AC3E}">
        <p14:creationId xmlns:p14="http://schemas.microsoft.com/office/powerpoint/2010/main" val="3747806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lnSpcReduction="10000"/>
          </a:bodyPr>
          <a:lstStyle/>
          <a:p>
            <a:pPr marL="971550" lvl="1" indent="-514350" algn="just">
              <a:buFont typeface="Wingdings" panose="05000000000000000000" pitchFamily="2" charset="2"/>
              <a:buChar char="§"/>
            </a:pPr>
            <a:r>
              <a:rPr lang="en-US" sz="3000" b="1" dirty="0">
                <a:solidFill>
                  <a:schemeClr val="tx1"/>
                </a:solidFill>
                <a:latin typeface="Garamond" panose="02020404030301010803" pitchFamily="18" charset="0"/>
              </a:rPr>
              <a:t>Case studies (multiple case studies): </a:t>
            </a:r>
            <a:r>
              <a:rPr lang="en-US" sz="3000" dirty="0">
                <a:solidFill>
                  <a:schemeClr val="tx1"/>
                </a:solidFill>
                <a:latin typeface="Garamond" panose="02020404030301010803" pitchFamily="18" charset="0"/>
              </a:rPr>
              <a:t>Collects quantitative data from a few members who are carefully selected to represent the population under study. For example, a study about ICT adoption and performance of private secondary in Tanzania may select 3 poorly, 3 average, and 3 top performing private secondary schools to represent all private secondary schools in Tanzania.</a:t>
            </a:r>
          </a:p>
          <a:p>
            <a:pPr marL="971550" lvl="1" indent="-514350" algn="just">
              <a:buFont typeface="Wingdings" panose="05000000000000000000" pitchFamily="2" charset="2"/>
              <a:buChar char="§"/>
            </a:pPr>
            <a:r>
              <a:rPr lang="en-US" sz="3000" b="1" dirty="0">
                <a:solidFill>
                  <a:schemeClr val="tx1"/>
                </a:solidFill>
                <a:latin typeface="Garamond" panose="02020404030301010803" pitchFamily="18" charset="0"/>
              </a:rPr>
              <a:t>Experimental research: </a:t>
            </a:r>
            <a:r>
              <a:rPr lang="en-US" sz="3000" dirty="0">
                <a:solidFill>
                  <a:schemeClr val="tx1"/>
                </a:solidFill>
                <a:latin typeface="Garamond" panose="02020404030301010803" pitchFamily="18" charset="0"/>
              </a:rPr>
              <a:t>research that uses a laboratory setting to isolate only factors of research interest from which to collect quantitative data. For example: Effect of fertilizer on composition of nutrients in vegetables. Establish a greenhouse where other factors like water and type of soil are controlled to see the effect of fertilizer in the lab.</a:t>
            </a:r>
          </a:p>
        </p:txBody>
      </p:sp>
    </p:spTree>
    <p:extLst>
      <p:ext uri="{BB962C8B-B14F-4D97-AF65-F5344CB8AC3E}">
        <p14:creationId xmlns:p14="http://schemas.microsoft.com/office/powerpoint/2010/main" val="2153366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a:bodyPr>
          <a:lstStyle/>
          <a:p>
            <a:pPr marL="971550" lvl="1" indent="-514350" algn="just">
              <a:buFont typeface="Wingdings" panose="05000000000000000000" pitchFamily="2" charset="2"/>
              <a:buChar char="§"/>
            </a:pPr>
            <a:r>
              <a:rPr lang="en-US" sz="3000" b="1" dirty="0">
                <a:solidFill>
                  <a:schemeClr val="tx1"/>
                </a:solidFill>
                <a:latin typeface="Garamond" panose="02020404030301010803" pitchFamily="18" charset="0"/>
              </a:rPr>
              <a:t>Quasi-experimental research: </a:t>
            </a:r>
            <a:r>
              <a:rPr lang="en-US" sz="3000" dirty="0">
                <a:solidFill>
                  <a:schemeClr val="tx1"/>
                </a:solidFill>
                <a:latin typeface="Garamond" panose="02020404030301010803" pitchFamily="18" charset="0"/>
              </a:rPr>
              <a:t>research that does not use a laboratory setting to isolate factors of research interest from which to collect quantitative data but uses other conditions which can nearly match lab-conditioned results. For example, research on determinants of ICT adoption. Collect data from firms in the same area and similar characteristics which have adopted ICT and which have not (With and without ICT comparison research or collect data from the same business before and after the adoption of ICT- Before and after ICT comparison research).</a:t>
            </a:r>
          </a:p>
        </p:txBody>
      </p:sp>
    </p:spTree>
    <p:extLst>
      <p:ext uri="{BB962C8B-B14F-4D97-AF65-F5344CB8AC3E}">
        <p14:creationId xmlns:p14="http://schemas.microsoft.com/office/powerpoint/2010/main" val="2084237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a:bodyPr>
          <a:lstStyle/>
          <a:p>
            <a:pPr marL="1028700" lvl="1" indent="-571500" algn="just">
              <a:buAutoNum type="romanLcParenR" startAt="2"/>
            </a:pPr>
            <a:r>
              <a:rPr lang="en-US" sz="3000" b="1" dirty="0">
                <a:solidFill>
                  <a:schemeClr val="tx1"/>
                </a:solidFill>
                <a:latin typeface="Garamond" panose="02020404030301010803" pitchFamily="18" charset="0"/>
              </a:rPr>
              <a:t>Qualitative research: </a:t>
            </a:r>
            <a:r>
              <a:rPr lang="en-US" sz="3000" dirty="0">
                <a:solidFill>
                  <a:schemeClr val="tx1"/>
                </a:solidFill>
                <a:latin typeface="Garamond" panose="02020404030301010803" pitchFamily="18" charset="0"/>
              </a:rPr>
              <a:t>Research that collects and uses data in the form of explanations. It asks questions like why, how, or even what? It requires a small number of participants to ask for detailed explanations about the topic under study and analyze the data using quotations, themes, etc. </a:t>
            </a:r>
          </a:p>
          <a:p>
            <a:pPr marL="971550" lvl="1" indent="-514350" algn="just">
              <a:buFont typeface="Wingdings" panose="05000000000000000000" pitchFamily="2" charset="2"/>
              <a:buChar char="§"/>
            </a:pPr>
            <a:r>
              <a:rPr lang="en-US" sz="3000" b="1" dirty="0">
                <a:solidFill>
                  <a:schemeClr val="tx1"/>
                </a:solidFill>
                <a:latin typeface="Garamond" panose="02020404030301010803" pitchFamily="18" charset="0"/>
              </a:rPr>
              <a:t>Case study: </a:t>
            </a:r>
            <a:r>
              <a:rPr lang="en-US" sz="3000" dirty="0">
                <a:solidFill>
                  <a:schemeClr val="tx1"/>
                </a:solidFill>
                <a:latin typeface="Garamond" panose="02020404030301010803" pitchFamily="18" charset="0"/>
              </a:rPr>
              <a:t>collect explanations from one or a few members who are knowledgeable about the issue being researched.</a:t>
            </a:r>
          </a:p>
          <a:p>
            <a:pPr marL="971550" lvl="1" indent="-514350" algn="just">
              <a:buFont typeface="Wingdings" panose="05000000000000000000" pitchFamily="2" charset="2"/>
              <a:buChar char="§"/>
            </a:pPr>
            <a:r>
              <a:rPr lang="en-US" sz="3000" b="1" dirty="0">
                <a:solidFill>
                  <a:schemeClr val="tx1"/>
                </a:solidFill>
                <a:latin typeface="Garamond" panose="02020404030301010803" pitchFamily="18" charset="0"/>
              </a:rPr>
              <a:t>Ethnography: </a:t>
            </a:r>
            <a:r>
              <a:rPr lang="en-US" sz="3000" dirty="0">
                <a:solidFill>
                  <a:schemeClr val="tx1"/>
                </a:solidFill>
                <a:latin typeface="Garamond" panose="02020404030301010803" pitchFamily="18" charset="0"/>
              </a:rPr>
              <a:t>Collect data from a few members of a population by living with them for a long time, observing the data about the topic of interest, and providing explanations.</a:t>
            </a:r>
          </a:p>
        </p:txBody>
      </p:sp>
    </p:spTree>
    <p:extLst>
      <p:ext uri="{BB962C8B-B14F-4D97-AF65-F5344CB8AC3E}">
        <p14:creationId xmlns:p14="http://schemas.microsoft.com/office/powerpoint/2010/main" val="928470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chor="ctr">
            <a:normAutofit/>
          </a:bodyPr>
          <a:lstStyle/>
          <a:p>
            <a:pPr marL="1028700" lvl="1" indent="-571500" algn="just">
              <a:buAutoNum type="romanLcParenR" startAt="3"/>
            </a:pPr>
            <a:r>
              <a:rPr lang="en-US" sz="3000" b="1" dirty="0">
                <a:solidFill>
                  <a:schemeClr val="tx1"/>
                </a:solidFill>
                <a:latin typeface="Garamond" panose="02020404030301010803" pitchFamily="18" charset="0"/>
              </a:rPr>
              <a:t>Mixed research: </a:t>
            </a:r>
            <a:r>
              <a:rPr lang="en-US" sz="3000" dirty="0">
                <a:solidFill>
                  <a:schemeClr val="tx1"/>
                </a:solidFill>
                <a:latin typeface="Garamond" panose="02020404030301010803" pitchFamily="18" charset="0"/>
              </a:rPr>
              <a:t>Research that collects and uses data in the form of both explanations and quantities. For example: If it seems small businesses are reluctant to adopt ICT and it is not clear about the actual status of adoption, one can start by doing quantitative research (Survey) to describe the proportion of small businesses who have adopted ICT. Thereafter, one can continue with another research by selecting a few small businesses that have not adopted ICT and researching them to know why they have not adopted ICT.</a:t>
            </a:r>
          </a:p>
        </p:txBody>
      </p:sp>
    </p:spTree>
    <p:extLst>
      <p:ext uri="{BB962C8B-B14F-4D97-AF65-F5344CB8AC3E}">
        <p14:creationId xmlns:p14="http://schemas.microsoft.com/office/powerpoint/2010/main" val="26339971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ubtitle 2"/>
          <p:cNvSpPr>
            <a:spLocks noGrp="1"/>
          </p:cNvSpPr>
          <p:nvPr>
            <p:ph type="subTitle" idx="1"/>
          </p:nvPr>
        </p:nvSpPr>
        <p:spPr>
          <a:xfrm>
            <a:off x="0" y="-8744"/>
            <a:ext cx="9144000" cy="6858000"/>
          </a:xfrm>
        </p:spPr>
        <p:txBody>
          <a:bodyPr>
            <a:noAutofit/>
          </a:bodyPr>
          <a:lstStyle/>
          <a:p>
            <a:pPr marL="457200" indent="-457200" algn="just">
              <a:buAutoNum type="alphaLcParenR" startAt="6"/>
            </a:pPr>
            <a:r>
              <a:rPr lang="en-US" sz="3000" b="1" dirty="0">
                <a:solidFill>
                  <a:schemeClr val="tx1"/>
                </a:solidFill>
                <a:latin typeface="Garamond" panose="02020404030301010803" pitchFamily="18" charset="0"/>
              </a:rPr>
              <a:t>Importance of research:-</a:t>
            </a:r>
          </a:p>
          <a:p>
            <a:pPr marL="342900" indent="-342900" algn="just">
              <a:buFont typeface="Arial" panose="020B0604020202020204" pitchFamily="34" charset="0"/>
              <a:buChar char="•"/>
            </a:pPr>
            <a:r>
              <a:rPr lang="en-US" sz="3000" dirty="0">
                <a:solidFill>
                  <a:schemeClr val="tx1"/>
                </a:solidFill>
                <a:latin typeface="Garamond" panose="02020404030301010803" pitchFamily="18" charset="0"/>
              </a:rPr>
              <a:t>Research has the following importance:-</a:t>
            </a:r>
          </a:p>
          <a:p>
            <a:pPr marL="800100" lvl="1" indent="-342900" algn="just">
              <a:buFont typeface="Courier New" panose="02070309020205020404" pitchFamily="49" charset="0"/>
              <a:buChar char="o"/>
            </a:pPr>
            <a:r>
              <a:rPr lang="en-US" sz="3000" dirty="0">
                <a:solidFill>
                  <a:schemeClr val="tx1"/>
                </a:solidFill>
                <a:latin typeface="Garamond" panose="02020404030301010803" pitchFamily="18" charset="0"/>
              </a:rPr>
              <a:t> </a:t>
            </a:r>
            <a:r>
              <a:rPr lang="en-US" sz="3000" b="1" dirty="0">
                <a:solidFill>
                  <a:schemeClr val="tx1"/>
                </a:solidFill>
                <a:latin typeface="Garamond" panose="02020404030301010803" pitchFamily="18" charset="0"/>
              </a:rPr>
              <a:t>Helps in seeking answers to various social problems: </a:t>
            </a:r>
            <a:r>
              <a:rPr lang="en-US" sz="3000" dirty="0">
                <a:solidFill>
                  <a:schemeClr val="tx1"/>
                </a:solidFill>
                <a:latin typeface="Garamond" panose="02020404030301010803" pitchFamily="18" charset="0"/>
              </a:rPr>
              <a:t>research conducted to study problems enables us to understand and develop solutions for the problems </a:t>
            </a:r>
          </a:p>
          <a:p>
            <a:pPr marL="800100" lvl="1" indent="-342900" algn="just">
              <a:buFont typeface="Courier New" panose="02070309020205020404" pitchFamily="49" charset="0"/>
              <a:buChar char="o"/>
            </a:pPr>
            <a:r>
              <a:rPr lang="en-US" sz="3000" b="1" dirty="0">
                <a:solidFill>
                  <a:schemeClr val="tx1"/>
                </a:solidFill>
                <a:latin typeface="Garamond" panose="02020404030301010803" pitchFamily="18" charset="0"/>
              </a:rPr>
              <a:t>Research provides the basis for nearly all government policies in our economic system: </a:t>
            </a:r>
            <a:r>
              <a:rPr lang="en-US" sz="3000" dirty="0">
                <a:solidFill>
                  <a:schemeClr val="tx1"/>
                </a:solidFill>
                <a:latin typeface="Garamond" panose="02020404030301010803" pitchFamily="18" charset="0"/>
              </a:rPr>
              <a:t>recommendations from research are used to formulate policies.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ubtitle 2"/>
          <p:cNvSpPr>
            <a:spLocks noGrp="1"/>
          </p:cNvSpPr>
          <p:nvPr>
            <p:ph type="subTitle" idx="1"/>
          </p:nvPr>
        </p:nvSpPr>
        <p:spPr>
          <a:xfrm>
            <a:off x="0" y="-8744"/>
            <a:ext cx="9144000" cy="6858000"/>
          </a:xfrm>
        </p:spPr>
        <p:txBody>
          <a:bodyPr>
            <a:noAutofit/>
          </a:bodyPr>
          <a:lstStyle/>
          <a:p>
            <a:pPr marL="800100" lvl="1" indent="-342900" algn="just">
              <a:buFont typeface="Courier New" panose="02070309020205020404" pitchFamily="49" charset="0"/>
              <a:buChar char="o"/>
            </a:pPr>
            <a:r>
              <a:rPr lang="en-US" sz="3000" b="1" dirty="0">
                <a:solidFill>
                  <a:schemeClr val="tx1"/>
                </a:solidFill>
                <a:latin typeface="Garamond" panose="02020404030301010803" pitchFamily="18" charset="0"/>
              </a:rPr>
              <a:t>Improves productivity: </a:t>
            </a:r>
            <a:r>
              <a:rPr lang="en-US" sz="3000" dirty="0">
                <a:solidFill>
                  <a:schemeClr val="tx1"/>
                </a:solidFill>
                <a:latin typeface="Garamond" panose="02020404030301010803" pitchFamily="18" charset="0"/>
              </a:rPr>
              <a:t>Research has its special significance in solving various operations and planning of business and industry.</a:t>
            </a:r>
          </a:p>
          <a:p>
            <a:pPr marL="800100" lvl="1" indent="-342900" algn="just">
              <a:buFont typeface="Courier New" panose="02070309020205020404" pitchFamily="49" charset="0"/>
              <a:buChar char="o"/>
            </a:pPr>
            <a:r>
              <a:rPr lang="en-US" sz="3000" b="1" dirty="0">
                <a:solidFill>
                  <a:schemeClr val="tx1"/>
                </a:solidFill>
                <a:latin typeface="Garamond" panose="02020404030301010803" pitchFamily="18" charset="0"/>
              </a:rPr>
              <a:t>Knowledge generation: </a:t>
            </a:r>
            <a:r>
              <a:rPr lang="en-US" sz="3000" dirty="0">
                <a:solidFill>
                  <a:schemeClr val="tx1"/>
                </a:solidFill>
                <a:latin typeface="Garamond" panose="02020404030301010803" pitchFamily="18" charset="0"/>
              </a:rPr>
              <a:t>Research inculcates scientific and inductive thinking and it promotes the development of logical habits of thinking and organization.</a:t>
            </a:r>
          </a:p>
          <a:p>
            <a:pPr marL="800100" lvl="1" indent="-342900" algn="just">
              <a:buFont typeface="Courier New" panose="02070309020205020404" pitchFamily="49" charset="0"/>
              <a:buChar char="o"/>
            </a:pPr>
            <a:r>
              <a:rPr lang="en-US" sz="3000" b="1" dirty="0">
                <a:solidFill>
                  <a:schemeClr val="tx1"/>
                </a:solidFill>
                <a:latin typeface="Garamond" panose="02020404030301010803" pitchFamily="18" charset="0"/>
              </a:rPr>
              <a:t>Employment and career development: </a:t>
            </a:r>
            <a:r>
              <a:rPr lang="en-US" sz="3000" dirty="0">
                <a:solidFill>
                  <a:schemeClr val="tx1"/>
                </a:solidFill>
                <a:latin typeface="Garamond" panose="02020404030301010803" pitchFamily="18" charset="0"/>
              </a:rPr>
              <a:t>To students who are to write a master’s or PhD thesis, research may mean a way to attain a high position in the social structure. To professionals, research may mean a source of livelihood.</a:t>
            </a:r>
          </a:p>
          <a:p>
            <a:pPr algn="just"/>
            <a:endParaRPr lang="en-US" sz="2400" dirty="0">
              <a:solidFill>
                <a:schemeClr val="tx1"/>
              </a:solidFill>
            </a:endParaRPr>
          </a:p>
        </p:txBody>
      </p:sp>
    </p:spTree>
    <p:extLst>
      <p:ext uri="{BB962C8B-B14F-4D97-AF65-F5344CB8AC3E}">
        <p14:creationId xmlns:p14="http://schemas.microsoft.com/office/powerpoint/2010/main" val="4902179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Autofit/>
          </a:bodyPr>
          <a:lstStyle/>
          <a:p>
            <a:r>
              <a:rPr lang="en-US" sz="2800" b="1" dirty="0">
                <a:solidFill>
                  <a:schemeClr val="tx1"/>
                </a:solidFill>
                <a:latin typeface="Garamond" panose="02020404030301010803" pitchFamily="18" charset="0"/>
                <a:cs typeface="Cordia New" pitchFamily="34" charset="-34"/>
              </a:rPr>
              <a:t>TUTORIAL QUESTIONS</a:t>
            </a:r>
            <a:endParaRPr lang="en-US" sz="2800" dirty="0">
              <a:solidFill>
                <a:schemeClr val="tx1"/>
              </a:solidFill>
              <a:latin typeface="Garamond" panose="02020404030301010803" pitchFamily="18" charset="0"/>
              <a:cs typeface="Cordia New" pitchFamily="34" charset="-34"/>
            </a:endParaRPr>
          </a:p>
          <a:p>
            <a:pPr marL="636588" indent="-636588" algn="just">
              <a:buFont typeface="+mj-lt"/>
              <a:buAutoNum type="arabicPeriod"/>
              <a:tabLst>
                <a:tab pos="636588" algn="l"/>
              </a:tabLst>
            </a:pPr>
            <a:r>
              <a:rPr lang="en-US" sz="3000" dirty="0">
                <a:solidFill>
                  <a:schemeClr val="tx1"/>
                </a:solidFill>
                <a:latin typeface="Garamond" panose="02020404030301010803" pitchFamily="18" charset="0"/>
                <a:cs typeface="Cordia New" pitchFamily="34" charset="-34"/>
              </a:rPr>
              <a:t>Define the term research and variable </a:t>
            </a:r>
          </a:p>
          <a:p>
            <a:pPr marL="636588" indent="-636588" algn="just">
              <a:buFont typeface="+mj-lt"/>
              <a:buAutoNum type="arabicPeriod"/>
              <a:tabLst>
                <a:tab pos="636588" algn="l"/>
              </a:tabLst>
            </a:pPr>
            <a:r>
              <a:rPr lang="en-US" sz="3000" dirty="0">
                <a:solidFill>
                  <a:schemeClr val="tx1"/>
                </a:solidFill>
                <a:latin typeface="Garamond" panose="02020404030301010803" pitchFamily="18" charset="0"/>
                <a:cs typeface="Cordia New" pitchFamily="34" charset="-34"/>
              </a:rPr>
              <a:t>Clarify three importance of research</a:t>
            </a:r>
          </a:p>
          <a:p>
            <a:pPr marL="636588" indent="-636588" algn="just">
              <a:buFont typeface="+mj-lt"/>
              <a:buAutoNum type="arabicPeriod"/>
              <a:tabLst>
                <a:tab pos="636588" algn="l"/>
              </a:tabLst>
            </a:pPr>
            <a:r>
              <a:rPr lang="en-US" sz="3000" dirty="0">
                <a:solidFill>
                  <a:schemeClr val="tx1"/>
                </a:solidFill>
                <a:latin typeface="Garamond" panose="02020404030301010803" pitchFamily="18" charset="0"/>
                <a:cs typeface="Cordia New" pitchFamily="34" charset="-34"/>
              </a:rPr>
              <a:t>Describe the research process based on the research activities.</a:t>
            </a:r>
          </a:p>
          <a:p>
            <a:pPr marL="636588" indent="-636588" algn="just">
              <a:buFont typeface="+mj-lt"/>
              <a:buAutoNum type="arabicPeriod"/>
              <a:tabLst>
                <a:tab pos="636588" algn="l"/>
              </a:tabLst>
            </a:pPr>
            <a:r>
              <a:rPr lang="en-US" sz="3000" dirty="0">
                <a:solidFill>
                  <a:schemeClr val="tx1"/>
                </a:solidFill>
                <a:latin typeface="Garamond" panose="02020404030301010803" pitchFamily="18" charset="0"/>
                <a:cs typeface="Cordia New" pitchFamily="34" charset="-34"/>
              </a:rPr>
              <a:t>Describe the characteristics of a good research</a:t>
            </a:r>
          </a:p>
          <a:p>
            <a:pPr marL="636588" indent="-636588" algn="just">
              <a:buFont typeface="+mj-lt"/>
              <a:buAutoNum type="arabicPeriod"/>
              <a:tabLst>
                <a:tab pos="636588" algn="l"/>
              </a:tabLst>
            </a:pPr>
            <a:r>
              <a:rPr lang="en-US" sz="3000" dirty="0">
                <a:solidFill>
                  <a:schemeClr val="tx1"/>
                </a:solidFill>
                <a:latin typeface="Garamond" panose="02020404030301010803" pitchFamily="18" charset="0"/>
                <a:cs typeface="Cordia New" pitchFamily="34" charset="-34"/>
              </a:rPr>
              <a:t>In each of the following research topics, identify the dependent and independent variables</a:t>
            </a:r>
          </a:p>
          <a:p>
            <a:pPr marL="1028700" lvl="1" indent="-571500" algn="just">
              <a:buAutoNum type="romanLcParenR"/>
              <a:tabLst>
                <a:tab pos="636588" algn="l"/>
              </a:tabLst>
            </a:pPr>
            <a:r>
              <a:rPr lang="en-US" sz="3000" dirty="0">
                <a:solidFill>
                  <a:schemeClr val="tx1"/>
                </a:solidFill>
                <a:latin typeface="Garamond" panose="02020404030301010803" pitchFamily="18" charset="0"/>
                <a:cs typeface="Cordia New" pitchFamily="34" charset="-34"/>
              </a:rPr>
              <a:t>Investigation on the relationship between business owner manager’s education and succession planning</a:t>
            </a:r>
          </a:p>
          <a:p>
            <a:pPr marL="1028700" lvl="1" indent="-571500" algn="just">
              <a:buAutoNum type="romanLcParenR"/>
              <a:tabLst>
                <a:tab pos="636588" algn="l"/>
              </a:tabLst>
            </a:pPr>
            <a:r>
              <a:rPr lang="en-US" sz="3000" dirty="0">
                <a:solidFill>
                  <a:schemeClr val="tx1"/>
                </a:solidFill>
                <a:latin typeface="Garamond" panose="02020404030301010803" pitchFamily="18" charset="0"/>
                <a:cs typeface="Cordia New" pitchFamily="34" charset="-34"/>
              </a:rPr>
              <a:t>Influence of computer literacy on the application of social media apps in business</a:t>
            </a:r>
            <a:endParaRPr lang="en-US" dirty="0">
              <a:solidFill>
                <a:schemeClr val="tx1"/>
              </a:solidFill>
              <a:latin typeface="Garamond" panose="02020404030301010803" pitchFamily="18" charset="0"/>
              <a:cs typeface="Cordia New" pitchFamily="34" charset="-34"/>
            </a:endParaRPr>
          </a:p>
          <a:p>
            <a:pPr marL="1028700" lvl="1" indent="-571500" algn="just">
              <a:buAutoNum type="romanLcParenR"/>
              <a:tabLst>
                <a:tab pos="636588" algn="l"/>
              </a:tabLst>
            </a:pPr>
            <a:endParaRPr lang="en-US" sz="3000" dirty="0">
              <a:latin typeface="Garamond" panose="02020404030301010803"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marL="514350" indent="-514350" algn="just">
              <a:buAutoNum type="arabicPeriod" startAt="6"/>
            </a:pPr>
            <a:r>
              <a:rPr lang="en-US" sz="3000" dirty="0">
                <a:solidFill>
                  <a:schemeClr val="tx1"/>
                </a:solidFill>
                <a:latin typeface="Garamond" panose="02020404030301010803" pitchFamily="18" charset="0"/>
                <a:cs typeface="Cordia New" pitchFamily="34" charset="-34"/>
              </a:rPr>
              <a:t>An increasing number of youth have been addicted to social media. The addicted youth waste much of their working time charting online with strangers and easily fall into sexual exploitation and human trafficking. A second-year student studying a bachelor of telecommunication engineering at MUST has decided to study the causes of social media addiction. It is hoped that knowledge of the causes of social media addiction will help peer educators design lessons relevant to youths. Propose the independent, dependent variable, and mediating variables to this research. In addition, propose the type of this research based on 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6633</TotalTime>
  <Words>2762</Words>
  <Application>Microsoft Office PowerPoint</Application>
  <PresentationFormat>On-screen Show (4:3)</PresentationFormat>
  <Paragraphs>124</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Bodoni MT</vt:lpstr>
      <vt:lpstr>Calibri</vt:lpstr>
      <vt:lpstr>Courier New</vt:lpstr>
      <vt:lpstr>Garamond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modesta</dc:creator>
  <cp:lastModifiedBy>usderr</cp:lastModifiedBy>
  <cp:revision>217</cp:revision>
  <dcterms:created xsi:type="dcterms:W3CDTF">2014-11-21T07:50:24Z</dcterms:created>
  <dcterms:modified xsi:type="dcterms:W3CDTF">2024-04-12T15:13:58Z</dcterms:modified>
</cp:coreProperties>
</file>