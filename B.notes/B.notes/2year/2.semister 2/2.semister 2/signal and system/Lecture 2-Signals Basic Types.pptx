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WIS MKWABU" initials="LM" lastIdx="2" clrIdx="0">
    <p:extLst>
      <p:ext uri="{19B8F6BF-5375-455C-9EA6-DF929625EA0E}">
        <p15:presenceInfo xmlns:p15="http://schemas.microsoft.com/office/powerpoint/2012/main" userId="LEWIS MKWAB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CB363-5772-4851-8062-DF57DE7CF40E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30FF6-321B-403C-8996-A7CDE3540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7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3A26C4-9148-4438-A94F-4C6FB2D1FCB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776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5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5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7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2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73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2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5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0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3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67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3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9B355-B941-4F0C-B6A0-CF37CFDECF4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C5C6-60CC-4D10-B190-E9325A15E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5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cnyatega@mustnet.ac.tz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1428750" y="1371600"/>
            <a:ext cx="6286500" cy="11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1628776" y="1343026"/>
            <a:ext cx="400050" cy="23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7115771" y="1342430"/>
            <a:ext cx="400050" cy="11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1629371" y="5457230"/>
            <a:ext cx="400050" cy="11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7115771" y="5457230"/>
            <a:ext cx="400050" cy="11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485900" y="5486400"/>
            <a:ext cx="6286500" cy="11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4" name="TextBox 14"/>
          <p:cNvSpPr txBox="1">
            <a:spLocks noChangeArrowheads="1"/>
          </p:cNvSpPr>
          <p:nvPr/>
        </p:nvSpPr>
        <p:spPr bwMode="auto">
          <a:xfrm>
            <a:off x="960120" y="1485900"/>
            <a:ext cx="652653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3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Signal and Systems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(ET 8211)</a:t>
            </a:r>
          </a:p>
        </p:txBody>
      </p:sp>
      <p:sp>
        <p:nvSpPr>
          <p:cNvPr id="4105" name="TextBox 15"/>
          <p:cNvSpPr txBox="1">
            <a:spLocks noChangeArrowheads="1"/>
          </p:cNvSpPr>
          <p:nvPr/>
        </p:nvSpPr>
        <p:spPr bwMode="auto">
          <a:xfrm>
            <a:off x="1285184" y="2696170"/>
            <a:ext cx="6511719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50" i="1" dirty="0">
                <a:solidFill>
                  <a:srgbClr val="7030A0"/>
                </a:solidFill>
                <a:latin typeface="Bookman Old Style" panose="02050604050505020204" pitchFamily="18" charset="0"/>
              </a:rPr>
              <a:t>Department of Electronics and Telecommunication Engineering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rgbClr val="7030A0"/>
                </a:solidFill>
                <a:latin typeface="Bookman Old Style" panose="02050604050505020204" pitchFamily="18" charset="0"/>
              </a:rPr>
              <a:t>Mbeya University of Science and Technology</a:t>
            </a:r>
          </a:p>
        </p:txBody>
      </p:sp>
      <p:pic>
        <p:nvPicPr>
          <p:cNvPr id="4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1" y="3628431"/>
            <a:ext cx="1475185" cy="116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TextBox 17"/>
          <p:cNvSpPr txBox="1">
            <a:spLocks noChangeArrowheads="1"/>
          </p:cNvSpPr>
          <p:nvPr/>
        </p:nvSpPr>
        <p:spPr bwMode="auto">
          <a:xfrm>
            <a:off x="3109984" y="5015426"/>
            <a:ext cx="308770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Email : </a:t>
            </a:r>
            <a:r>
              <a:rPr lang="en-US" altLang="en-US" sz="1350" b="1" u="sng" dirty="0">
                <a:solidFill>
                  <a:srgbClr val="7030A0"/>
                </a:solidFill>
                <a:latin typeface="Bookman Old Style" panose="02050604050505020204" pitchFamily="18" charset="0"/>
                <a:hlinkClick r:id="rId4"/>
              </a:rPr>
              <a:t>cnyatega@mustnet.ac.tz</a:t>
            </a:r>
            <a:endParaRPr lang="en-US" altLang="en-US" sz="1350" b="1" u="sng" dirty="0">
              <a:solidFill>
                <a:srgbClr val="7030A0"/>
              </a:solidFill>
              <a:latin typeface="Bookman Old Style" panose="02050604050505020204" pitchFamily="18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35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Mobile : </a:t>
            </a:r>
            <a:r>
              <a:rPr lang="en-US" altLang="en-US" sz="135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0742100004</a:t>
            </a:r>
          </a:p>
        </p:txBody>
      </p:sp>
    </p:spTree>
    <p:extLst>
      <p:ext uri="{BB962C8B-B14F-4D97-AF65-F5344CB8AC3E}">
        <p14:creationId xmlns:p14="http://schemas.microsoft.com/office/powerpoint/2010/main" val="228331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179" y="308919"/>
            <a:ext cx="8220075" cy="155733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Signals Basic Types</a:t>
            </a:r>
            <a:br>
              <a:rPr lang="en-US" sz="4800" dirty="0">
                <a:latin typeface="Palatino Linotype" panose="02040502050505030304" pitchFamily="18" charset="0"/>
                <a:cs typeface="Times New Roman" panose="02020603050405020304" pitchFamily="18" charset="0"/>
              </a:rPr>
            </a:br>
            <a:endParaRPr lang="en-US" sz="48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61" y="1087588"/>
            <a:ext cx="8220075" cy="4385619"/>
          </a:xfrm>
        </p:spPr>
        <p:txBody>
          <a:bodyPr/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Here are a few basic signals:</a:t>
            </a:r>
            <a:endParaRPr lang="en-US" altLang="en-US" sz="21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a) Unit Step Function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Unit step function is denoted by u(t).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It is defined as: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                                 u(t) = {1 t&gt;=0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                                           {0 t&lt; 0</a:t>
            </a:r>
            <a:endParaRPr lang="en-US" alt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  </a:t>
            </a:r>
            <a:endParaRPr lang="en-US" altLang="en-US" sz="195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It is used as best test signal.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Area under unit step function is unity.</a:t>
            </a:r>
          </a:p>
          <a:p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04926" y="2612488"/>
            <a:ext cx="138564" cy="24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endParaRPr lang="en-US" altLang="en-US" sz="1350" dirty="0"/>
          </a:p>
        </p:txBody>
      </p:sp>
      <p:pic>
        <p:nvPicPr>
          <p:cNvPr id="1026" name="Picture 2" descr="Unit Step 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199" y="4571614"/>
            <a:ext cx="2035969" cy="155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5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09" y="247227"/>
            <a:ext cx="8003381" cy="5503010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b) Unit Impulse Function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Impulse function is denoted by δ(t).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it is defined as: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               δ(t) = {1 t=0  </a:t>
            </a:r>
            <a:endParaRPr lang="en-US" altLang="en-US" sz="2400" dirty="0">
              <a:solidFill>
                <a:srgbClr val="000000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altLang="en-US" dirty="0">
                <a:solidFill>
                  <a:srgbClr val="0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{0 t ≠0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" y="786327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br>
              <a:rPr lang="en-US" altLang="en-US" sz="1350" dirty="0"/>
            </a:br>
            <a:endParaRPr lang="en-US" altLang="en-US" sz="1350" dirty="0"/>
          </a:p>
        </p:txBody>
      </p:sp>
      <p:pic>
        <p:nvPicPr>
          <p:cNvPr id="2052" name="Picture 4" descr="Unit Impulse 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2667000"/>
            <a:ext cx="2043113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893791" y="1618992"/>
                <a:ext cx="3095625" cy="918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en-US" sz="1200" dirty="0">
                            <a:latin typeface="MathJax_Main"/>
                          </a:rPr>
                          <m:t>−∞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en-US" sz="1200" dirty="0">
                            <a:latin typeface="MathJax_Main"/>
                          </a:rPr>
                          <m:t>∞</m:t>
                        </m:r>
                      </m:sup>
                      <m:e>
                        <m:r>
                          <m:rPr>
                            <m:nor/>
                          </m:rPr>
                          <a:rPr lang="el-GR" sz="1350"/>
                          <m:t>δ</m:t>
                        </m:r>
                        <m:r>
                          <m:rPr>
                            <m:nor/>
                          </m:rPr>
                          <a:rPr lang="el-GR" sz="1350"/>
                          <m:t>(</m:t>
                        </m:r>
                        <m:r>
                          <m:rPr>
                            <m:nor/>
                          </m:rPr>
                          <a:rPr lang="en-US" sz="1350"/>
                          <m:t>t</m:t>
                        </m:r>
                        <m:r>
                          <m:rPr>
                            <m:nor/>
                          </m:rPr>
                          <a:rPr lang="en-US" sz="1350"/>
                          <m:t>)</m:t>
                        </m:r>
                        <m:r>
                          <m:rPr>
                            <m:nor/>
                          </m:rPr>
                          <a:rPr lang="en-US" sz="1350"/>
                          <m:t>dt</m:t>
                        </m:r>
                      </m:e>
                    </m:nary>
                  </m:oMath>
                </a14:m>
                <a:r>
                  <a:rPr lang="en-US" altLang="en-US" sz="1200" dirty="0"/>
                  <a:t>=</a:t>
                </a:r>
                <a:r>
                  <a:rPr lang="en-US" altLang="en-US" sz="1200" dirty="0">
                    <a:latin typeface="MathJax_Math-italic"/>
                  </a:rPr>
                  <a:t>u</a:t>
                </a:r>
                <a:r>
                  <a:rPr lang="en-US" altLang="en-US" sz="1200" dirty="0">
                    <a:latin typeface="MathJax_Main"/>
                  </a:rPr>
                  <a:t>(</a:t>
                </a:r>
                <a:r>
                  <a:rPr lang="en-US" altLang="en-US" sz="1200" dirty="0">
                    <a:latin typeface="MathJax_Math-italic"/>
                  </a:rPr>
                  <a:t>t</a:t>
                </a:r>
                <a:r>
                  <a:rPr lang="en-US" altLang="en-US" sz="1200" dirty="0">
                    <a:latin typeface="MathJax_Main"/>
                  </a:rPr>
                  <a:t>)</a:t>
                </a:r>
              </a:p>
              <a:p>
                <a:pPr lvl="0"/>
                <a:br>
                  <a:rPr lang="en-US" altLang="en-US" sz="1200" dirty="0"/>
                </a:br>
                <a:r>
                  <a:rPr lang="el-GR" sz="1350" dirty="0"/>
                  <a:t>δ(</a:t>
                </a:r>
                <a:r>
                  <a:rPr lang="en-US" sz="1350" dirty="0"/>
                  <a:t>t)</a:t>
                </a:r>
                <a:r>
                  <a:rPr lang="en-US" altLang="en-US" sz="1200" dirty="0"/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350"/>
                      <m:t>du</m:t>
                    </m:r>
                    <m:r>
                      <m:rPr>
                        <m:nor/>
                      </m:rPr>
                      <a:rPr lang="en-US" sz="1350"/>
                      <m:t>(</m:t>
                    </m:r>
                    <m:r>
                      <m:rPr>
                        <m:nor/>
                      </m:rPr>
                      <a:rPr lang="en-US" sz="1350"/>
                      <m:t>t</m:t>
                    </m:r>
                    <m:r>
                      <m:rPr>
                        <m:nor/>
                      </m:rPr>
                      <a:rPr lang="en-US" sz="1350"/>
                      <m:t>)/</m:t>
                    </m:r>
                    <m:r>
                      <m:rPr>
                        <m:nor/>
                      </m:rPr>
                      <a:rPr lang="en-US" sz="1350"/>
                      <m:t>dt</m:t>
                    </m:r>
                  </m:oMath>
                </a14:m>
                <a:br>
                  <a:rPr lang="en-US" sz="1200" dirty="0"/>
                </a:br>
                <a:endParaRPr lang="en-US" altLang="en-US" sz="1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791" y="1618992"/>
                <a:ext cx="3095625" cy="918521"/>
              </a:xfrm>
              <a:prstGeom prst="rect">
                <a:avLst/>
              </a:prstGeom>
              <a:blipFill>
                <a:blip r:embed="rId3"/>
                <a:stretch>
                  <a:fillRect l="-7874" t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9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325414" y="1438849"/>
            <a:ext cx="8677275" cy="159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>
                <a:latin typeface="Palatino Linotype" panose="02040502050505030304" pitchFamily="18" charset="0"/>
              </a:rPr>
              <a:t>Ramp Signal</a:t>
            </a:r>
          </a:p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Ramp signal is denoted by r(t),</a:t>
            </a:r>
            <a:r>
              <a:rPr lang="en-US" sz="4000" dirty="0">
                <a:latin typeface="Palatino Linotype" panose="02040502050505030304" pitchFamily="18" charset="0"/>
              </a:rPr>
              <a:t> </a:t>
            </a:r>
            <a:r>
              <a:rPr lang="en-US" sz="2000" dirty="0">
                <a:latin typeface="Palatino Linotype" panose="02040502050505030304" pitchFamily="18" charset="0"/>
              </a:rPr>
              <a:t>it is defined as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alatino Linotype" panose="02040502050505030304" pitchFamily="18" charset="0"/>
              </a:rPr>
              <a:t>Area under unit ramp is unity.</a:t>
            </a:r>
            <a:endParaRPr lang="en-US" sz="2000" dirty="0">
              <a:latin typeface="Palatino Linotype" panose="02040502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800" dirty="0">
              <a:latin typeface="Palatino Linotype" panose="0204050205050503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71" y="2841539"/>
            <a:ext cx="2185988" cy="8863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12" y="3106429"/>
            <a:ext cx="2050256" cy="12430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46" y="4106207"/>
            <a:ext cx="2774156" cy="118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8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Parabolic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5426"/>
            <a:ext cx="7886700" cy="4351338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Parabolic signal can be defined as: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2785270"/>
            <a:ext cx="2505075" cy="88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2571750"/>
            <a:ext cx="3086100" cy="1189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262" y="4181475"/>
            <a:ext cx="4481513" cy="172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Signum Function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Signum function is denoted as </a:t>
            </a:r>
            <a:r>
              <a:rPr lang="en-US" dirty="0" err="1">
                <a:latin typeface="Palatino Linotype" panose="02040502050505030304" pitchFamily="18" charset="0"/>
              </a:rPr>
              <a:t>sgn</a:t>
            </a:r>
            <a:r>
              <a:rPr lang="en-US" dirty="0">
                <a:latin typeface="Palatino Linotype" panose="02040502050505030304" pitchFamily="18" charset="0"/>
              </a:rPr>
              <a:t>(t).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It is defined 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05" y="2284413"/>
            <a:ext cx="2219325" cy="866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083" y="3286124"/>
            <a:ext cx="3760090" cy="22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4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39647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Exponential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7574"/>
            <a:ext cx="7886700" cy="3962399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Exponential signal is in the form of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1471811"/>
            <a:ext cx="1447800" cy="5977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941823"/>
            <a:ext cx="7134226" cy="38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2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1" y="857250"/>
            <a:ext cx="3924300" cy="19526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4851" y="3290501"/>
            <a:ext cx="3371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Rectangular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050" y="3729082"/>
            <a:ext cx="5047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Let it be denoted as x(t) and it is defined as</a:t>
            </a: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50" y="4219440"/>
            <a:ext cx="7238525" cy="155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42976"/>
            <a:ext cx="5162550" cy="69532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Sinusoidal Signal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33" y="1638302"/>
            <a:ext cx="7724067" cy="32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6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975" y="1685926"/>
            <a:ext cx="8048625" cy="38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8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2550"/>
            <a:ext cx="7734300" cy="387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3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Signals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Palatino Linotype" panose="02040502050505030304" pitchFamily="18" charset="0"/>
              </a:rPr>
              <a:t>Signals are classified into the following categories: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Continuous Time and Discrete Time Signals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Deterministic and Non-deterministic Signals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Even and Odd Signals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Periodic and Aperiodic Signals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Energy and Power Signals</a:t>
            </a:r>
          </a:p>
          <a:p>
            <a:pPr lvl="2"/>
            <a:r>
              <a:rPr lang="en-US" sz="1800" dirty="0">
                <a:latin typeface="Palatino Linotype" panose="02040502050505030304" pitchFamily="18" charset="0"/>
              </a:rPr>
              <a:t>Real and Imaginary Signals</a:t>
            </a:r>
          </a:p>
          <a:p>
            <a:pPr marL="0" indent="0">
              <a:buNone/>
            </a:pPr>
            <a:r>
              <a:rPr lang="en-US" b="1" dirty="0">
                <a:latin typeface="Palatino Linotype" panose="02040502050505030304" pitchFamily="18" charset="0"/>
              </a:rPr>
              <a:t>Continuous Time and Discrete Time Signals</a:t>
            </a:r>
          </a:p>
          <a:p>
            <a:pPr marL="0" indent="0">
              <a:buNone/>
            </a:pPr>
            <a:r>
              <a:rPr lang="en-US" sz="1800" dirty="0">
                <a:latin typeface="Palatino Linotype" panose="02040502050505030304" pitchFamily="18" charset="0"/>
              </a:rPr>
              <a:t>      A signal is said to be continuous when it is defined for all instants of time</a:t>
            </a:r>
          </a:p>
          <a:p>
            <a:pPr lvl="2"/>
            <a:endParaRPr lang="en-US" sz="1800" dirty="0">
              <a:latin typeface="Palatino Linotype" panose="02040502050505030304" pitchFamily="18" charset="0"/>
            </a:endParaRPr>
          </a:p>
          <a:p>
            <a:endParaRPr lang="en-US" sz="1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1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73" y="1131094"/>
            <a:ext cx="4560827" cy="15835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6" y="2809876"/>
            <a:ext cx="8277224" cy="29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5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796467"/>
            <a:ext cx="7886700" cy="503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64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85875"/>
            <a:ext cx="79533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34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50" y="1343026"/>
            <a:ext cx="8143875" cy="453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17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1" y="1131094"/>
            <a:ext cx="8429624" cy="435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63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75" y="1488200"/>
            <a:ext cx="8143875" cy="368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9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Signals Basic Operations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6" y="1661848"/>
            <a:ext cx="7972424" cy="426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13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1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4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6"/>
            <a:ext cx="9144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24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824"/>
            <a:ext cx="8543925" cy="49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54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36" y="1210963"/>
            <a:ext cx="6686550" cy="8452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36" y="2056227"/>
            <a:ext cx="3700463" cy="4151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81" y="2836274"/>
            <a:ext cx="8080730" cy="228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89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10" y="1667445"/>
            <a:ext cx="6665119" cy="657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87" y="2909445"/>
            <a:ext cx="6750844" cy="20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94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97" y="1921669"/>
            <a:ext cx="3479006" cy="30146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7925" y="1533253"/>
            <a:ext cx="4180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Draw time Reversal of the following Signals</a:t>
            </a:r>
          </a:p>
        </p:txBody>
      </p:sp>
    </p:spTree>
    <p:extLst>
      <p:ext uri="{BB962C8B-B14F-4D97-AF65-F5344CB8AC3E}">
        <p14:creationId xmlns:p14="http://schemas.microsoft.com/office/powerpoint/2010/main" val="2902006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13" y="1982391"/>
            <a:ext cx="3457575" cy="28932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7032" y="1543050"/>
            <a:ext cx="108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468544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922" y="1907381"/>
            <a:ext cx="3536156" cy="3043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893" y="1329190"/>
            <a:ext cx="544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Draw time reversal of the following discrete signals</a:t>
            </a:r>
          </a:p>
        </p:txBody>
      </p:sp>
    </p:spTree>
    <p:extLst>
      <p:ext uri="{BB962C8B-B14F-4D97-AF65-F5344CB8AC3E}">
        <p14:creationId xmlns:p14="http://schemas.microsoft.com/office/powerpoint/2010/main" val="1075097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2" y="1860947"/>
            <a:ext cx="3421856" cy="31361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56016" y="1478857"/>
            <a:ext cx="108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787267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3" y="2121694"/>
            <a:ext cx="6772275" cy="26146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0015" y="128832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Other examples</a:t>
            </a:r>
          </a:p>
        </p:txBody>
      </p:sp>
    </p:spTree>
    <p:extLst>
      <p:ext uri="{BB962C8B-B14F-4D97-AF65-F5344CB8AC3E}">
        <p14:creationId xmlns:p14="http://schemas.microsoft.com/office/powerpoint/2010/main" val="926980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42141" y="1349838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Sketch the following signals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8" y="1810252"/>
            <a:ext cx="1293019" cy="257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75" y="2618924"/>
            <a:ext cx="1221581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86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432118"/>
            <a:ext cx="6429375" cy="7215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274" y="2153637"/>
            <a:ext cx="2143125" cy="1421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210" y="4036321"/>
            <a:ext cx="2135981" cy="14501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47" y="3562894"/>
            <a:ext cx="4107656" cy="2428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403" y="3548861"/>
            <a:ext cx="464344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5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47" y="1148947"/>
            <a:ext cx="3335661" cy="2101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08" y="1166240"/>
            <a:ext cx="3500438" cy="1928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4" y="1612039"/>
            <a:ext cx="22288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96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Systems Classification</a:t>
            </a:r>
            <a:br>
              <a:rPr lang="en-US" dirty="0">
                <a:latin typeface="Palatino Linotype" panose="02040502050505030304" pitchFamily="18" charset="0"/>
              </a:rPr>
            </a:b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984" y="1182256"/>
            <a:ext cx="8241957" cy="49837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3186626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71437" y="6342833"/>
            <a:ext cx="9001125" cy="30008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Arial" panose="020B0604020202020204" pitchFamily="34" charset="0"/>
              </a:rPr>
              <a:t>From the above expression, is clear that response of overall system is equal to response of individual system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916131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6" y="135925"/>
            <a:ext cx="8625016" cy="635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70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354" y="1559263"/>
            <a:ext cx="6825560" cy="363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98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347" y="358346"/>
            <a:ext cx="8365524" cy="64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35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361" y="1230406"/>
            <a:ext cx="6209369" cy="453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41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78" y="407773"/>
            <a:ext cx="7982465" cy="607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26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Signals Analysis</a:t>
            </a:r>
            <a:br>
              <a:rPr lang="en-US" dirty="0">
                <a:latin typeface="Palatino Linotype" panose="02040502050505030304" pitchFamily="18" charset="0"/>
              </a:rPr>
            </a:b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37" y="1215368"/>
            <a:ext cx="8543925" cy="50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25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96" y="407773"/>
            <a:ext cx="7610218" cy="603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2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92" y="370703"/>
            <a:ext cx="8130746" cy="607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13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0" y="531341"/>
            <a:ext cx="7834185" cy="546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45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1" y="308919"/>
            <a:ext cx="7685903" cy="60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07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175"/>
            <a:ext cx="9144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73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1" y="444843"/>
            <a:ext cx="7092778" cy="59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30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6" y="593124"/>
            <a:ext cx="8068962" cy="578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0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78" y="321276"/>
            <a:ext cx="7525265" cy="610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8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32" y="857250"/>
            <a:ext cx="83655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08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375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725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739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2486"/>
            <a:ext cx="7886700" cy="12727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Fourier Series</a:t>
            </a:r>
            <a:br>
              <a:rPr lang="en-US" dirty="0">
                <a:latin typeface="Palatino Linotype" panose="02040502050505030304" pitchFamily="18" charset="0"/>
              </a:rPr>
            </a:br>
            <a:endParaRPr lang="en-US" dirty="0">
              <a:latin typeface="Palatino Linotype" panose="0204050205050503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75" y="1096404"/>
            <a:ext cx="8629650" cy="53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22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90600"/>
            <a:ext cx="90297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996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23926"/>
            <a:ext cx="9143999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84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736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1"/>
            <a:ext cx="9144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390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064" y="487917"/>
            <a:ext cx="853851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3200" dirty="0">
                <a:solidFill>
                  <a:prstClr val="black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FOURIER SERIES PROPERTIES</a:t>
            </a:r>
          </a:p>
          <a:p>
            <a:pPr defTabSz="685800">
              <a:defRPr/>
            </a:pPr>
            <a:endParaRPr lang="en-US" sz="3200" dirty="0">
              <a:solidFill>
                <a:prstClr val="black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8" y="1076324"/>
            <a:ext cx="8625018" cy="544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95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1"/>
            <a:ext cx="950595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98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00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6"/>
            <a:ext cx="9144000" cy="517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948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28850" y="994976"/>
            <a:ext cx="4810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1400" dirty="0">
                <a:solidFill>
                  <a:prstClr val="black"/>
                </a:solidFill>
                <a:latin typeface="Palatino Linotype" panose="0204050205050503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FOURIER TRANSFORMS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557"/>
            <a:ext cx="9001125" cy="456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357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725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1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02017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31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7251"/>
            <a:ext cx="8896349" cy="524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346</Words>
  <Application>Microsoft Office PowerPoint</Application>
  <PresentationFormat>On-screen Show (4:3)</PresentationFormat>
  <Paragraphs>62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Bookman Old Style</vt:lpstr>
      <vt:lpstr>Calibri</vt:lpstr>
      <vt:lpstr>Calibri Light</vt:lpstr>
      <vt:lpstr>Cambria Math</vt:lpstr>
      <vt:lpstr>MathJax_Main</vt:lpstr>
      <vt:lpstr>MathJax_Math-italic</vt:lpstr>
      <vt:lpstr>Palatino Linotype</vt:lpstr>
      <vt:lpstr>Office Theme</vt:lpstr>
      <vt:lpstr>PowerPoint Presentation</vt:lpstr>
      <vt:lpstr>Signals Basic Types </vt:lpstr>
      <vt:lpstr>PowerPoint Presentation</vt:lpstr>
      <vt:lpstr>PowerPoint Presentation</vt:lpstr>
      <vt:lpstr>Parabolic Signal</vt:lpstr>
      <vt:lpstr>Signum Function</vt:lpstr>
      <vt:lpstr>Exponential Signal</vt:lpstr>
      <vt:lpstr>PowerPoint Presentation</vt:lpstr>
      <vt:lpstr>Sinusoidal Signal</vt:lpstr>
      <vt:lpstr>PowerPoint Presentation</vt:lpstr>
      <vt:lpstr>PowerPoint Presentation</vt:lpstr>
      <vt:lpstr>Signals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Signals Basic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Systems Classification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Signals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Fourier Series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Nyatega</dc:creator>
  <cp:lastModifiedBy>LEWIS MKWABU</cp:lastModifiedBy>
  <cp:revision>32</cp:revision>
  <dcterms:created xsi:type="dcterms:W3CDTF">2021-11-12T13:04:58Z</dcterms:created>
  <dcterms:modified xsi:type="dcterms:W3CDTF">2022-06-29T18:57:34Z</dcterms:modified>
</cp:coreProperties>
</file>