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4" r:id="rId1"/>
  </p:sldMasterIdLst>
  <p:notesMasterIdLst>
    <p:notesMasterId r:id="rId38"/>
  </p:notesMasterIdLst>
  <p:sldIdLst>
    <p:sldId id="328" r:id="rId2"/>
    <p:sldId id="266" r:id="rId3"/>
    <p:sldId id="277" r:id="rId4"/>
    <p:sldId id="299" r:id="rId5"/>
    <p:sldId id="315" r:id="rId6"/>
    <p:sldId id="313" r:id="rId7"/>
    <p:sldId id="314" r:id="rId8"/>
    <p:sldId id="308" r:id="rId9"/>
    <p:sldId id="309" r:id="rId10"/>
    <p:sldId id="316" r:id="rId11"/>
    <p:sldId id="278" r:id="rId12"/>
    <p:sldId id="271" r:id="rId13"/>
    <p:sldId id="273" r:id="rId14"/>
    <p:sldId id="317" r:id="rId15"/>
    <p:sldId id="283" r:id="rId16"/>
    <p:sldId id="284" r:id="rId17"/>
    <p:sldId id="296" r:id="rId18"/>
    <p:sldId id="297" r:id="rId19"/>
    <p:sldId id="318" r:id="rId20"/>
    <p:sldId id="319" r:id="rId21"/>
    <p:sldId id="320" r:id="rId22"/>
    <p:sldId id="321" r:id="rId23"/>
    <p:sldId id="322" r:id="rId24"/>
    <p:sldId id="327" r:id="rId25"/>
    <p:sldId id="323" r:id="rId26"/>
    <p:sldId id="324" r:id="rId27"/>
    <p:sldId id="325" r:id="rId28"/>
    <p:sldId id="326" r:id="rId29"/>
    <p:sldId id="301" r:id="rId30"/>
    <p:sldId id="295" r:id="rId31"/>
    <p:sldId id="285" r:id="rId32"/>
    <p:sldId id="286" r:id="rId33"/>
    <p:sldId id="287" r:id="rId34"/>
    <p:sldId id="288" r:id="rId35"/>
    <p:sldId id="298" r:id="rId36"/>
    <p:sldId id="274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126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4" Type="http://schemas.openxmlformats.org/officeDocument/2006/relationships/image" Target="../media/image2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653F05-F27D-44D5-9ACB-D5A65EE99D32}" type="datetimeFigureOut">
              <a:rPr lang="en-US" smtClean="0"/>
              <a:pPr/>
              <a:t>6/29/2022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B0B0FA-3D41-4606-8540-1B61235219D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Ecosystem" TargetMode="External"/><Relationship Id="rId7" Type="http://schemas.openxmlformats.org/officeDocument/2006/relationships/hyperlink" Target="http://en.wikipedia.org/wiki/Ethics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://en.wikipedia.org/wiki/Computer_programs" TargetMode="External"/><Relationship Id="rId5" Type="http://schemas.openxmlformats.org/officeDocument/2006/relationships/hyperlink" Target="http://en.wikipedia.org/wiki/Model" TargetMode="External"/><Relationship Id="rId4" Type="http://schemas.openxmlformats.org/officeDocument/2006/relationships/hyperlink" Target="http://en.wikipedia.org/wiki/Sculpture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D8D718F-C1A5-4470-8E9D-88A7F85EF820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4900" y="652463"/>
            <a:ext cx="4646613" cy="3484562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8688" y="4354513"/>
            <a:ext cx="5000625" cy="4137025"/>
          </a:xfrm>
          <a:noFill/>
          <a:ln/>
        </p:spPr>
        <p:txBody>
          <a:bodyPr/>
          <a:lstStyle/>
          <a:p>
            <a:pPr eaLnBrk="1" hangingPunct="1"/>
            <a:r>
              <a:rPr lang="en-US" dirty="0"/>
              <a:t>Natural Systems: These are systems like the </a:t>
            </a:r>
            <a:r>
              <a:rPr lang="en-US" dirty="0">
                <a:hlinkClick r:id="rId3" tooltip="Ecosystem"/>
              </a:rPr>
              <a:t>ecosystem</a:t>
            </a:r>
            <a:r>
              <a:rPr lang="en-US" dirty="0"/>
              <a:t>, blood system and solar system. </a:t>
            </a:r>
          </a:p>
          <a:p>
            <a:pPr eaLnBrk="1" hangingPunct="1"/>
            <a:r>
              <a:rPr lang="en-US" dirty="0"/>
              <a:t>Human-made System: These systems include not designed and designed physical systems such as: machines, industrial plants, telecomunication infrastructure networks, computer storage systems and modern </a:t>
            </a:r>
            <a:r>
              <a:rPr lang="en-US" dirty="0">
                <a:hlinkClick r:id="rId4" tooltip="Sculpture"/>
              </a:rPr>
              <a:t>sculptures</a:t>
            </a:r>
            <a:r>
              <a:rPr lang="en-US" dirty="0"/>
              <a:t>. </a:t>
            </a:r>
          </a:p>
          <a:p>
            <a:pPr eaLnBrk="1" hangingPunct="1"/>
            <a:r>
              <a:rPr lang="en-US" dirty="0"/>
              <a:t>Abstract Systems: Every conceptual </a:t>
            </a:r>
            <a:r>
              <a:rPr lang="en-US" dirty="0">
                <a:hlinkClick r:id="rId5" tooltip="Model"/>
              </a:rPr>
              <a:t>model</a:t>
            </a:r>
            <a:r>
              <a:rPr lang="en-US" dirty="0"/>
              <a:t> is an abstract system, for example, traffic system models and </a:t>
            </a:r>
            <a:r>
              <a:rPr lang="en-US" dirty="0">
                <a:hlinkClick r:id="rId6" tooltip="Computer programs"/>
              </a:rPr>
              <a:t>computer programs</a:t>
            </a:r>
            <a:r>
              <a:rPr lang="en-US" dirty="0"/>
              <a:t> are both types of modeled systems. They can be the product of identification, design or invention. </a:t>
            </a:r>
          </a:p>
          <a:p>
            <a:pPr eaLnBrk="1" hangingPunct="1"/>
            <a:r>
              <a:rPr lang="en-US" dirty="0"/>
              <a:t>Descriptive and Normative Systems: They relates to human and other living system activity, an example of these are; plans, bus/train timetable, </a:t>
            </a:r>
            <a:r>
              <a:rPr lang="en-US" dirty="0">
                <a:hlinkClick r:id="rId7" tooltip="Ethics"/>
              </a:rPr>
              <a:t>ethical</a:t>
            </a:r>
            <a:r>
              <a:rPr lang="en-US" dirty="0"/>
              <a:t> systems. 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31D71161-A1C8-4FC0-A894-6867D87E13BB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5F99E4D-8DBC-4308-8050-76084E1BBE78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B68EEB0-B4E1-4AC6-869D-2E4E61B9D0EB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</p:spPr>
        <p:txBody>
          <a:bodyPr/>
          <a:lstStyle/>
          <a:p>
            <a:pPr eaLnBrk="1" hangingPunct="1"/>
            <a:endParaRPr lang="tr-T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FBCE6B5-B8FA-447D-9538-BB8FC5C429C9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6C5F926D-C3B2-49F7-BF22-BB047C78486A}" type="slidenum">
              <a:rPr lang="en-US" smtClean="0"/>
              <a:pPr/>
              <a:t>16</a:t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46E2F4B5-F221-465E-BEE9-A296536F16C3}" type="slidenum">
              <a:rPr lang="en-US" smtClean="0"/>
              <a:pPr/>
              <a:t>31</a:t>
            </a:fld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76DCDA2-B670-45E1-B600-C9E94C7D72E5}" type="slidenum">
              <a:rPr lang="en-US" smtClean="0"/>
              <a:pPr/>
              <a:t>32</a:t>
            </a:fld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677E8D15-7CD8-4262-8D4E-AA191329AD6E}" type="slidenum">
              <a:rPr lang="en-US" smtClean="0"/>
              <a:pPr/>
              <a:t>33</a:t>
            </a:fld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16372E2E-2E1B-4A37-B2F8-CC72B4BC9BC8}" type="slidenum">
              <a:rPr lang="en-US" smtClean="0"/>
              <a:pPr/>
              <a:t>34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-8467"/>
            <a:ext cx="9144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2404534"/>
            <a:ext cx="5825202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4050834"/>
            <a:ext cx="5825202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20C99-C6C7-4B98-8757-60086F0ED38B}" type="datetimeFigureOut">
              <a:rPr lang="en-US" smtClean="0"/>
              <a:pPr/>
              <a:t>6/29/2022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FCB7-9696-4F1E-A95D-A8E95272256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471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20C99-C6C7-4B98-8757-60086F0ED38B}" type="datetimeFigureOut">
              <a:rPr lang="en-US" smtClean="0"/>
              <a:pPr/>
              <a:t>6/29/2022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FCB7-9696-4F1E-A95D-A8E95272256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7257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700868"/>
            <a:ext cx="6447501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4527448"/>
            <a:ext cx="6447501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20C99-C6C7-4B98-8757-60086F0ED38B}" type="datetimeFigureOut">
              <a:rPr lang="en-US" smtClean="0"/>
              <a:pPr/>
              <a:t>6/29/2022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FCB7-9696-4F1E-A95D-A8E95272256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247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2160589"/>
            <a:ext cx="3138026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2160590"/>
            <a:ext cx="3138026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20C99-C6C7-4B98-8757-60086F0ED38B}" type="datetimeFigureOut">
              <a:rPr lang="en-US" smtClean="0"/>
              <a:pPr/>
              <a:t>6/29/2022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FCB7-9696-4F1E-A95D-A8E95272256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407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2160983"/>
            <a:ext cx="313921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737246"/>
            <a:ext cx="31392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2160983"/>
            <a:ext cx="313921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737246"/>
            <a:ext cx="313921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20C99-C6C7-4B98-8757-60086F0ED38B}" type="datetimeFigureOut">
              <a:rPr lang="en-US" smtClean="0"/>
              <a:pPr/>
              <a:t>6/29/2022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FCB7-9696-4F1E-A95D-A8E95272256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65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609600"/>
            <a:ext cx="6447501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20C99-C6C7-4B98-8757-60086F0ED38B}" type="datetimeFigureOut">
              <a:rPr lang="en-US" smtClean="0"/>
              <a:pPr/>
              <a:t>6/29/2022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FCB7-9696-4F1E-A95D-A8E95272256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817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20C99-C6C7-4B98-8757-60086F0ED38B}" type="datetimeFigureOut">
              <a:rPr lang="en-US" smtClean="0"/>
              <a:pPr/>
              <a:t>6/29/2022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FCB7-9696-4F1E-A95D-A8E95272256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709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98604"/>
            <a:ext cx="2890896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514925"/>
            <a:ext cx="3385156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777069"/>
            <a:ext cx="2890896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20C99-C6C7-4B98-8757-60086F0ED38B}" type="datetimeFigureOut">
              <a:rPr lang="en-US" smtClean="0"/>
              <a:pPr/>
              <a:t>6/29/2022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FCB7-9696-4F1E-A95D-A8E95272256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590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800600"/>
            <a:ext cx="64475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609600"/>
            <a:ext cx="6447501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5367338"/>
            <a:ext cx="6447500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20C99-C6C7-4B98-8757-60086F0ED38B}" type="datetimeFigureOut">
              <a:rPr lang="en-US" smtClean="0"/>
              <a:pPr/>
              <a:t>6/29/2022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FCB7-9696-4F1E-A95D-A8E95272256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3048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609600"/>
            <a:ext cx="6447501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4470400"/>
            <a:ext cx="6447501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20C99-C6C7-4B98-8757-60086F0ED38B}" type="datetimeFigureOut">
              <a:rPr lang="en-US" smtClean="0"/>
              <a:pPr/>
              <a:t>6/29/2022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FCB7-9696-4F1E-A95D-A8E95272256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050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609600"/>
            <a:ext cx="6070601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3632200"/>
            <a:ext cx="5418393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4470400"/>
            <a:ext cx="6447501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20C99-C6C7-4B98-8757-60086F0ED38B}" type="datetimeFigureOut">
              <a:rPr lang="en-US" smtClean="0"/>
              <a:pPr/>
              <a:t>6/29/2022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FCB7-9696-4F1E-A95D-A8E95272256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79037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88655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72465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931988"/>
            <a:ext cx="6447501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4527448"/>
            <a:ext cx="6447501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20C99-C6C7-4B98-8757-60086F0ED38B}" type="datetimeFigureOut">
              <a:rPr lang="en-US" smtClean="0"/>
              <a:pPr/>
              <a:t>6/29/2022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FCB7-9696-4F1E-A95D-A8E95272256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73086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609600"/>
            <a:ext cx="6070601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4013200"/>
            <a:ext cx="6447502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4527448"/>
            <a:ext cx="6447501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20C99-C6C7-4B98-8757-60086F0ED38B}" type="datetimeFigureOut">
              <a:rPr lang="en-US" smtClean="0"/>
              <a:pPr/>
              <a:t>6/29/2022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FCB7-9696-4F1E-A95D-A8E95272256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79037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88655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351992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609600"/>
            <a:ext cx="644115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4013200"/>
            <a:ext cx="6447502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4527448"/>
            <a:ext cx="6447501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20C99-C6C7-4B98-8757-60086F0ED38B}" type="datetimeFigureOut">
              <a:rPr lang="en-US" smtClean="0"/>
              <a:pPr/>
              <a:t>6/29/2022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FCB7-9696-4F1E-A95D-A8E95272256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0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20C99-C6C7-4B98-8757-60086F0ED38B}" type="datetimeFigureOut">
              <a:rPr lang="en-US" smtClean="0"/>
              <a:pPr/>
              <a:t>6/29/2022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FCB7-9696-4F1E-A95D-A8E95272256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054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609600"/>
            <a:ext cx="978557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609600"/>
            <a:ext cx="5295113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20C99-C6C7-4B98-8757-60086F0ED38B}" type="datetimeFigureOut">
              <a:rPr lang="en-US" smtClean="0"/>
              <a:pPr/>
              <a:t>6/29/2022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9FCB7-9696-4F1E-A95D-A8E95272256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372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C8320C99-C6C7-4B98-8757-60086F0ED38B}" type="datetimeFigureOut">
              <a:rPr lang="en-US" smtClean="0"/>
              <a:pPr/>
              <a:t>6/29/2022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3F49FCB7-9696-4F1E-A95D-A8E95272256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988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5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2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2"/>
            <a:ext cx="40386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41763"/>
            <a:ext cx="40386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4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4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FD1EBD-4ACA-4405-B2C9-E84511395FC1}" type="slidenum">
              <a:rPr lang="ar-SA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3160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8"/>
          <p:cNvGrpSpPr/>
          <p:nvPr/>
        </p:nvGrpSpPr>
        <p:grpSpPr>
          <a:xfrm>
            <a:off x="0" y="-8467"/>
            <a:ext cx="9144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609600"/>
            <a:ext cx="6447501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2160590"/>
            <a:ext cx="6447501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6041363"/>
            <a:ext cx="6839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320C99-C6C7-4B98-8757-60086F0ED38B}" type="datetimeFigureOut">
              <a:rPr lang="en-US" smtClean="0"/>
              <a:pPr/>
              <a:t>6/29/2022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6041363"/>
            <a:ext cx="47232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6041363"/>
            <a:ext cx="5125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3F49FCB7-9696-4F1E-A95D-A8E95272256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277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5" r:id="rId1"/>
    <p:sldLayoutId id="2147484006" r:id="rId2"/>
    <p:sldLayoutId id="2147484007" r:id="rId3"/>
    <p:sldLayoutId id="2147484008" r:id="rId4"/>
    <p:sldLayoutId id="2147484009" r:id="rId5"/>
    <p:sldLayoutId id="2147484010" r:id="rId6"/>
    <p:sldLayoutId id="2147484011" r:id="rId7"/>
    <p:sldLayoutId id="2147484012" r:id="rId8"/>
    <p:sldLayoutId id="2147484013" r:id="rId9"/>
    <p:sldLayoutId id="2147484014" r:id="rId10"/>
    <p:sldLayoutId id="2147484015" r:id="rId11"/>
    <p:sldLayoutId id="2147484016" r:id="rId12"/>
    <p:sldLayoutId id="2147484017" r:id="rId13"/>
    <p:sldLayoutId id="2147484018" r:id="rId14"/>
    <p:sldLayoutId id="2147484019" r:id="rId15"/>
    <p:sldLayoutId id="2147484020" r:id="rId16"/>
    <p:sldLayoutId id="2147484021" r:id="rId17"/>
    <p:sldLayoutId id="2147484022" r:id="rId18"/>
  </p:sldLayoutIdLst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2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4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6.w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9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25.wmf"/><Relationship Id="rId4" Type="http://schemas.openxmlformats.org/officeDocument/2006/relationships/image" Target="../media/image22.wmf"/><Relationship Id="rId9" Type="http://schemas.openxmlformats.org/officeDocument/2006/relationships/oleObject" Target="../embeddings/oleObject12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Subtitle 2"/>
          <p:cNvSpPr>
            <a:spLocks noGrp="1"/>
          </p:cNvSpPr>
          <p:nvPr>
            <p:ph type="subTitle" idx="1"/>
          </p:nvPr>
        </p:nvSpPr>
        <p:spPr>
          <a:xfrm>
            <a:off x="381000" y="1600200"/>
            <a:ext cx="8534400" cy="3200400"/>
          </a:xfrm>
        </p:spPr>
        <p:txBody>
          <a:bodyPr>
            <a:normAutofit fontScale="25000" lnSpcReduction="20000"/>
          </a:bodyPr>
          <a:lstStyle/>
          <a:p>
            <a:pPr algn="ctr"/>
            <a:r>
              <a:rPr lang="en-US" sz="96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Department of Electronics &amp; Telecommunication Engineering</a:t>
            </a:r>
            <a:endParaRPr lang="en-US" sz="9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endParaRPr lang="en-US" sz="960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11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Presentation</a:t>
            </a:r>
            <a:r>
              <a:rPr lang="en-US" sz="1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endParaRPr lang="en-US" sz="96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96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On</a:t>
            </a:r>
          </a:p>
          <a:p>
            <a:pPr algn="ctr"/>
            <a:r>
              <a:rPr lang="en-US" sz="12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Signals &amp; Systems</a:t>
            </a:r>
            <a:r>
              <a:rPr lang="en-US" sz="17100" dirty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sz="12800" dirty="0">
              <a:solidFill>
                <a:schemeClr val="accent2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1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1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	          	</a:t>
            </a:r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0" y="1219200"/>
            <a:ext cx="91440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bIns="0"/>
          <a:lstStyle/>
          <a:p>
            <a:pPr marL="495300" indent="-495300" algn="just">
              <a:lnSpc>
                <a:spcPct val="90000"/>
              </a:lnSpc>
              <a:spcBef>
                <a:spcPct val="25000"/>
              </a:spcBef>
              <a:spcAft>
                <a:spcPct val="15000"/>
              </a:spcAft>
              <a:buClr>
                <a:schemeClr val="tx2"/>
              </a:buClr>
              <a:buSzPct val="75000"/>
              <a:buFont typeface="Wingdings" pitchFamily="2" charset="2"/>
              <a:buChar char="Ø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Signals are variables that carry information.</a:t>
            </a:r>
          </a:p>
          <a:p>
            <a:pPr marL="495300" indent="-495300" algn="just">
              <a:lnSpc>
                <a:spcPct val="90000"/>
              </a:lnSpc>
              <a:spcBef>
                <a:spcPct val="25000"/>
              </a:spcBef>
              <a:spcAft>
                <a:spcPct val="15000"/>
              </a:spcAft>
              <a:buClr>
                <a:schemeClr val="tx2"/>
              </a:buClr>
              <a:buSzPct val="75000"/>
              <a:buFont typeface="Wingdings" pitchFamily="2" charset="2"/>
              <a:buChar char="Ø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It is described as a function of one or more independent variables.</a:t>
            </a:r>
          </a:p>
          <a:p>
            <a:pPr marL="495300" indent="-495300" algn="just">
              <a:lnSpc>
                <a:spcPct val="90000"/>
              </a:lnSpc>
              <a:spcBef>
                <a:spcPct val="25000"/>
              </a:spcBef>
              <a:spcAft>
                <a:spcPct val="15000"/>
              </a:spcAft>
              <a:buClr>
                <a:schemeClr val="tx2"/>
              </a:buClr>
              <a:buSzPct val="75000"/>
              <a:buFont typeface="Wingdings" pitchFamily="2" charset="2"/>
              <a:buChar char="Ø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Basically it is a physical quantity. It varies with some independent or dependent variables.</a:t>
            </a:r>
          </a:p>
          <a:p>
            <a:pPr marL="495300" indent="-495300" algn="just">
              <a:lnSpc>
                <a:spcPct val="90000"/>
              </a:lnSpc>
              <a:spcBef>
                <a:spcPct val="25000"/>
              </a:spcBef>
              <a:spcAft>
                <a:spcPct val="15000"/>
              </a:spcAft>
              <a:buClr>
                <a:schemeClr val="tx2"/>
              </a:buClr>
              <a:buSzPct val="75000"/>
              <a:buFont typeface="Wingdings" pitchFamily="2" charset="2"/>
              <a:buChar char="Ø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Signals can be One-dimensional or multi-dimensional.</a:t>
            </a:r>
          </a:p>
          <a:p>
            <a:pPr marL="495300" indent="-495300">
              <a:lnSpc>
                <a:spcPct val="90000"/>
              </a:lnSpc>
              <a:spcBef>
                <a:spcPct val="25000"/>
              </a:spcBef>
              <a:spcAft>
                <a:spcPct val="15000"/>
              </a:spcAft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en-US" sz="3200" spc="300" dirty="0">
                <a:latin typeface="Times New Roman" pitchFamily="18" charset="0"/>
              </a:rPr>
              <a:t>	</a:t>
            </a:r>
          </a:p>
          <a:p>
            <a:pPr marL="495300" indent="-495300">
              <a:lnSpc>
                <a:spcPct val="90000"/>
              </a:lnSpc>
              <a:spcBef>
                <a:spcPct val="25000"/>
              </a:spcBef>
              <a:spcAft>
                <a:spcPct val="15000"/>
              </a:spcAft>
              <a:buClr>
                <a:schemeClr val="tx2"/>
              </a:buClr>
              <a:buSzPct val="75000"/>
              <a:buFont typeface="Wingdings" pitchFamily="2" charset="2"/>
              <a:buNone/>
            </a:pPr>
            <a:endParaRPr lang="en-US" sz="3200" dirty="0">
              <a:latin typeface="Times New Roman" pitchFamily="18" charset="0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sz="4800" b="1" u="sng" spc="3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Introduction to Signals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609600"/>
            <a:ext cx="8382000" cy="5867400"/>
          </a:xfrm>
        </p:spPr>
        <p:txBody>
          <a:bodyPr>
            <a:noAutofit/>
          </a:bodyPr>
          <a:lstStyle/>
          <a:p>
            <a:pPr eaLnBrk="1" hangingPunct="1">
              <a:buFont typeface="Wingdings" pitchFamily="2" charset="2"/>
              <a:buChar char="Ø"/>
            </a:pPr>
            <a:r>
              <a:rPr lang="en-US" sz="24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Signal: </a:t>
            </a:r>
            <a:r>
              <a:rPr lang="en-US" sz="24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 function of one or more variables that convey information on the nature of a physical  phenomenon.</a:t>
            </a:r>
          </a:p>
          <a:p>
            <a:pPr eaLnBrk="1" hangingPunct="1">
              <a:buNone/>
            </a:pPr>
            <a:endParaRPr lang="en-US" sz="2400" i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buFont typeface="Wingdings 2" pitchFamily="18" charset="2"/>
              <a:buNone/>
            </a:pPr>
            <a:r>
              <a:rPr lang="en-US" sz="24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Examples</a:t>
            </a:r>
            <a:r>
              <a:rPr lang="en-US" sz="24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 v(t),i(t),x(t),heartbeat, blood pressure, temperature, vibration.</a:t>
            </a:r>
          </a:p>
          <a:p>
            <a:pPr eaLnBrk="1" hangingPunct="1">
              <a:buFont typeface="Wingdings 2" pitchFamily="18" charset="2"/>
              <a:buNone/>
            </a:pPr>
            <a:endParaRPr lang="en-US" sz="2400" i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lang="en-US" sz="24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One-dimensional signals: </a:t>
            </a:r>
            <a:r>
              <a:rPr lang="en-US" sz="24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function depends on a single  variable, e.g., speech signal</a:t>
            </a:r>
          </a:p>
          <a:p>
            <a:pPr eaLnBrk="1" hangingPunct="1">
              <a:buFont typeface="Wingdings 2" pitchFamily="18" charset="2"/>
              <a:buNone/>
            </a:pPr>
            <a:endParaRPr lang="en-US" sz="2400" i="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buFont typeface="Arial" pitchFamily="34" charset="0"/>
              <a:buChar char="•"/>
            </a:pPr>
            <a:r>
              <a:rPr lang="en-US" sz="2400" b="1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Multi-dimensional signals: </a:t>
            </a:r>
            <a:r>
              <a:rPr lang="en-US" sz="2400" i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function depends on two or more variables, e.g., image</a:t>
            </a:r>
          </a:p>
          <a:p>
            <a:pPr eaLnBrk="1" hangingPunct="1"/>
            <a:endParaRPr lang="en-US" sz="2400" i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6447501" cy="1320800"/>
          </a:xfrm>
        </p:spPr>
        <p:txBody>
          <a:bodyPr/>
          <a:lstStyle/>
          <a:p>
            <a:r>
              <a:rPr lang="en-US" altLang="zh-TW" b="1" u="sng" dirty="0">
                <a:solidFill>
                  <a:schemeClr val="accent2">
                    <a:lumMod val="75000"/>
                  </a:schemeClr>
                </a:solidFill>
              </a:rPr>
              <a:t>Classification</a:t>
            </a:r>
            <a:r>
              <a:rPr lang="en-US" altLang="zh-TW" b="1" u="sng" dirty="0"/>
              <a:t> </a:t>
            </a:r>
            <a:r>
              <a:rPr lang="en-US" altLang="zh-TW" b="1" u="sng" dirty="0">
                <a:solidFill>
                  <a:schemeClr val="accent2">
                    <a:lumMod val="75000"/>
                  </a:schemeClr>
                </a:solidFill>
              </a:rPr>
              <a:t>of signals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39888"/>
            <a:ext cx="8229600" cy="4525962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altLang="zh-TW" sz="3200" dirty="0">
                <a:latin typeface="Times New Roman" pitchFamily="18" charset="0"/>
                <a:cs typeface="Times New Roman" pitchFamily="18" charset="0"/>
              </a:rPr>
              <a:t>Continuous-time and discrete-time signals</a:t>
            </a:r>
          </a:p>
          <a:p>
            <a:pPr>
              <a:buFont typeface="Wingdings" pitchFamily="2" charset="2"/>
              <a:buChar char="Ø"/>
            </a:pPr>
            <a:r>
              <a:rPr lang="en-US" altLang="zh-TW" sz="3200" dirty="0">
                <a:latin typeface="Times New Roman" pitchFamily="18" charset="0"/>
                <a:cs typeface="Times New Roman" pitchFamily="18" charset="0"/>
              </a:rPr>
              <a:t>Periodic and non-periodic signals</a:t>
            </a:r>
          </a:p>
          <a:p>
            <a:pPr>
              <a:buFont typeface="Wingdings" pitchFamily="2" charset="2"/>
              <a:buChar char="Ø"/>
            </a:pPr>
            <a:r>
              <a:rPr lang="en-US" altLang="zh-TW" sz="3200" dirty="0">
                <a:latin typeface="Times New Roman" pitchFamily="18" charset="0"/>
                <a:cs typeface="Times New Roman" pitchFamily="18" charset="0"/>
              </a:rPr>
              <a:t>Casual and Non-casual signals</a:t>
            </a:r>
          </a:p>
          <a:p>
            <a:pPr>
              <a:buFont typeface="Wingdings" pitchFamily="2" charset="2"/>
              <a:buChar char="Ø"/>
            </a:pPr>
            <a:r>
              <a:rPr lang="en-US" altLang="zh-TW" sz="3200" dirty="0">
                <a:latin typeface="Times New Roman" pitchFamily="18" charset="0"/>
                <a:cs typeface="Times New Roman" pitchFamily="18" charset="0"/>
              </a:rPr>
              <a:t>Deterministic and random signals</a:t>
            </a:r>
          </a:p>
          <a:p>
            <a:pPr>
              <a:buFont typeface="Wingdings" pitchFamily="2" charset="2"/>
              <a:buChar char="Ø"/>
            </a:pPr>
            <a:r>
              <a:rPr lang="en-US" altLang="zh-TW" sz="3200" dirty="0">
                <a:latin typeface="Times New Roman" pitchFamily="18" charset="0"/>
                <a:cs typeface="Times New Roman" pitchFamily="18" charset="0"/>
              </a:rPr>
              <a:t>Even and odd signals</a:t>
            </a:r>
          </a:p>
          <a:p>
            <a:pPr>
              <a:buFont typeface="Wingdings" pitchFamily="2" charset="2"/>
              <a:buChar char="Ø"/>
            </a:pPr>
            <a:endParaRPr lang="en-US" altLang="zh-TW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320800"/>
          </a:xfrm>
        </p:spPr>
        <p:txBody>
          <a:bodyPr>
            <a:noAutofit/>
          </a:bodyPr>
          <a:lstStyle/>
          <a:p>
            <a:pPr marL="342900" indent="-342900">
              <a:lnSpc>
                <a:spcPct val="90000"/>
              </a:lnSpc>
              <a:spcBef>
                <a:spcPct val="25000"/>
              </a:spcBef>
              <a:spcAft>
                <a:spcPct val="15000"/>
              </a:spcAft>
            </a:pPr>
            <a:r>
              <a:rPr lang="en-US" sz="4000" b="1" spc="300" dirty="0">
                <a:latin typeface="Times New Roman" pitchFamily="18" charset="0"/>
              </a:rPr>
              <a:t>       </a:t>
            </a:r>
            <a:r>
              <a:rPr lang="en-US" b="1" spc="300" dirty="0">
                <a:latin typeface="Times New Roman" pitchFamily="18" charset="0"/>
              </a:rPr>
              <a:t>Continuous time (CT) &amp;</a:t>
            </a:r>
            <a:br>
              <a:rPr lang="en-US" b="1" spc="300" dirty="0">
                <a:latin typeface="Times New Roman" pitchFamily="18" charset="0"/>
              </a:rPr>
            </a:br>
            <a:r>
              <a:rPr lang="en-US" b="1" spc="300" dirty="0">
                <a:latin typeface="Times New Roman" pitchFamily="18" charset="0"/>
              </a:rPr>
              <a:t>      discrete time (DT) signals:</a:t>
            </a:r>
            <a:br>
              <a:rPr lang="en-US" b="1" spc="300" dirty="0">
                <a:latin typeface="Times New Roman" pitchFamily="18" charset="0"/>
              </a:rPr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24000"/>
            <a:ext cx="9144000" cy="4953000"/>
          </a:xfrm>
        </p:spPr>
        <p:txBody>
          <a:bodyPr>
            <a:normAutofit/>
          </a:bodyPr>
          <a:lstStyle/>
          <a:p>
            <a:pPr algn="just">
              <a:lnSpc>
                <a:spcPct val="90000"/>
              </a:lnSpc>
              <a:spcBef>
                <a:spcPct val="25000"/>
              </a:spcBef>
              <a:spcAft>
                <a:spcPct val="15000"/>
              </a:spcAft>
              <a:buClr>
                <a:schemeClr val="tx2"/>
              </a:buClr>
              <a:buSzPct val="75000"/>
              <a:buFont typeface="Wingdings" pitchFamily="2" charset="2"/>
              <a:buChar char="Ø"/>
            </a:pPr>
            <a:r>
              <a:rPr lang="en-US" sz="2400" spc="300" dirty="0">
                <a:solidFill>
                  <a:schemeClr val="tx1"/>
                </a:solidFill>
                <a:latin typeface="Times New Roman" pitchFamily="18" charset="0"/>
              </a:rPr>
              <a:t>CT signals take on real or complex values as a function of an</a:t>
            </a:r>
            <a:r>
              <a:rPr lang="tr-TR" sz="2400" spc="300" dirty="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en-US" sz="2400" spc="300" dirty="0">
                <a:solidFill>
                  <a:schemeClr val="tx1"/>
                </a:solidFill>
                <a:latin typeface="Times New Roman" pitchFamily="18" charset="0"/>
              </a:rPr>
              <a:t>independent</a:t>
            </a:r>
            <a:r>
              <a:rPr lang="tr-TR" sz="2400" spc="300" dirty="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en-US" sz="2400" spc="300" dirty="0">
                <a:solidFill>
                  <a:schemeClr val="tx1"/>
                </a:solidFill>
                <a:latin typeface="Times New Roman" pitchFamily="18" charset="0"/>
              </a:rPr>
              <a:t>variable that ranges over the real numbers and are</a:t>
            </a:r>
            <a:r>
              <a:rPr lang="tr-TR" sz="2400" spc="300" dirty="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en-US" sz="2400" spc="300" dirty="0">
                <a:solidFill>
                  <a:schemeClr val="tx1"/>
                </a:solidFill>
                <a:latin typeface="Times New Roman" pitchFamily="18" charset="0"/>
              </a:rPr>
              <a:t>denoted as x(t).  </a:t>
            </a:r>
            <a:endParaRPr lang="tr-TR" sz="2400" spc="300" dirty="0">
              <a:solidFill>
                <a:schemeClr val="tx1"/>
              </a:solidFill>
              <a:latin typeface="Times New Roman" pitchFamily="18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sz="2400" spc="300" dirty="0">
                <a:solidFill>
                  <a:schemeClr val="tx1"/>
                </a:solidFill>
                <a:latin typeface="Times New Roman" pitchFamily="18" charset="0"/>
              </a:rPr>
              <a:t>DT signals take on real or complex values as a function of an independent</a:t>
            </a:r>
            <a:r>
              <a:rPr lang="tr-TR" sz="2400" spc="300" dirty="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en-US" sz="2400" spc="300" dirty="0">
                <a:solidFill>
                  <a:schemeClr val="tx1"/>
                </a:solidFill>
                <a:latin typeface="Times New Roman" pitchFamily="18" charset="0"/>
              </a:rPr>
              <a:t>variable that ranges over the integers and are denoted as x[n].  </a:t>
            </a:r>
            <a:endParaRPr lang="tr-TR" sz="2400" spc="300" dirty="0">
              <a:solidFill>
                <a:schemeClr val="tx1"/>
              </a:solidFill>
              <a:latin typeface="Times New Roman" pitchFamily="18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sz="2400" spc="300" dirty="0">
                <a:solidFill>
                  <a:schemeClr val="tx1"/>
                </a:solidFill>
                <a:latin typeface="Times New Roman" pitchFamily="18" charset="0"/>
              </a:rPr>
              <a:t>Note the subtle use of parentheses and square brackets to distinguish between CT and DT signals. 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57400" y="5257800"/>
            <a:ext cx="4371429" cy="1343955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8763000" cy="1143000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b="1" spc="300" dirty="0">
                <a:latin typeface="Times New Roman" pitchFamily="18" charset="0"/>
                <a:cs typeface="Times New Roman" pitchFamily="18" charset="0"/>
              </a:rPr>
              <a:t>Periodic &amp; Non-periodic Signals</a:t>
            </a:r>
          </a:p>
        </p:txBody>
      </p:sp>
      <p:pic>
        <p:nvPicPr>
          <p:cNvPr id="23556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295400" y="4343400"/>
            <a:ext cx="4839376" cy="1142857"/>
          </a:xfrm>
          <a:noFill/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52400" y="1295400"/>
            <a:ext cx="87630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bIns="0"/>
          <a:lstStyle/>
          <a:p>
            <a:pPr marL="342900" indent="-342900" algn="just">
              <a:lnSpc>
                <a:spcPct val="90000"/>
              </a:lnSpc>
              <a:spcBef>
                <a:spcPct val="25000"/>
              </a:spcBef>
              <a:spcAft>
                <a:spcPct val="15000"/>
              </a:spcAft>
              <a:buClr>
                <a:schemeClr val="tx2"/>
              </a:buClr>
              <a:buSzPct val="75000"/>
              <a:buFont typeface="Wingdings" pitchFamily="2" charset="2"/>
              <a:buChar char="Ø"/>
            </a:pPr>
            <a:r>
              <a:rPr lang="en-US" sz="2800" spc="300" dirty="0">
                <a:latin typeface="Times New Roman" pitchFamily="18" charset="0"/>
                <a:cs typeface="Times New Roman" pitchFamily="18" charset="0"/>
              </a:rPr>
              <a:t>Periodic signals have the property that </a:t>
            </a:r>
          </a:p>
          <a:p>
            <a:pPr algn="just">
              <a:lnSpc>
                <a:spcPct val="90000"/>
              </a:lnSpc>
              <a:spcBef>
                <a:spcPct val="25000"/>
              </a:spcBef>
              <a:spcAft>
                <a:spcPct val="15000"/>
              </a:spcAft>
              <a:buClr>
                <a:schemeClr val="tx2"/>
              </a:buClr>
              <a:buSzPct val="75000"/>
            </a:pPr>
            <a:r>
              <a:rPr lang="en-US" sz="2800" spc="300" dirty="0">
                <a:latin typeface="Times New Roman" pitchFamily="18" charset="0"/>
                <a:cs typeface="Times New Roman" pitchFamily="18" charset="0"/>
              </a:rPr>
              <a:t>x(t + T) = x(t) for all t.</a:t>
            </a:r>
          </a:p>
          <a:p>
            <a:pPr marL="342900" indent="-342900" algn="just">
              <a:lnSpc>
                <a:spcPct val="90000"/>
              </a:lnSpc>
              <a:spcBef>
                <a:spcPct val="25000"/>
              </a:spcBef>
              <a:spcAft>
                <a:spcPct val="15000"/>
              </a:spcAft>
              <a:buClr>
                <a:schemeClr val="tx2"/>
              </a:buClr>
              <a:buSzPct val="75000"/>
              <a:buFont typeface="Wingdings" pitchFamily="2" charset="2"/>
              <a:buChar char="Ø"/>
            </a:pPr>
            <a:r>
              <a:rPr lang="en-US" sz="2800" spc="300" dirty="0">
                <a:latin typeface="Times New Roman" pitchFamily="18" charset="0"/>
                <a:cs typeface="Times New Roman" pitchFamily="18" charset="0"/>
              </a:rPr>
              <a:t>The smallest value of T that satisfies the definition is called the period. </a:t>
            </a:r>
          </a:p>
          <a:p>
            <a:pPr marL="342900" indent="-342900" algn="just">
              <a:lnSpc>
                <a:spcPct val="90000"/>
              </a:lnSpc>
              <a:spcBef>
                <a:spcPct val="25000"/>
              </a:spcBef>
              <a:spcAft>
                <a:spcPct val="15000"/>
              </a:spcAft>
              <a:buClr>
                <a:schemeClr val="tx2"/>
              </a:buClr>
              <a:buSzPct val="75000"/>
              <a:buFont typeface="Wingdings" pitchFamily="2" charset="2"/>
              <a:buChar char="Ø"/>
            </a:pPr>
            <a:r>
              <a:rPr lang="en-US" sz="2800" spc="300" dirty="0">
                <a:latin typeface="Times New Roman" pitchFamily="18" charset="0"/>
                <a:cs typeface="Times New Roman" pitchFamily="18" charset="0"/>
              </a:rPr>
              <a:t>Shown below are an non-periodic signal (left) and a periodic signal (right).</a:t>
            </a:r>
          </a:p>
          <a:p>
            <a:pPr marL="342900" indent="-342900" algn="just">
              <a:lnSpc>
                <a:spcPct val="90000"/>
              </a:lnSpc>
              <a:spcBef>
                <a:spcPct val="25000"/>
              </a:spcBef>
              <a:spcAft>
                <a:spcPct val="15000"/>
              </a:spcAft>
              <a:buClr>
                <a:schemeClr val="tx2"/>
              </a:buClr>
              <a:buSzPct val="75000"/>
            </a:pPr>
            <a:endParaRPr lang="en-US" sz="2800" spc="3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lnSpc>
                <a:spcPct val="90000"/>
              </a:lnSpc>
              <a:spcBef>
                <a:spcPct val="25000"/>
              </a:spcBef>
              <a:spcAft>
                <a:spcPct val="15000"/>
              </a:spcAft>
              <a:buClr>
                <a:schemeClr val="tx2"/>
              </a:buClr>
              <a:buSzPct val="75000"/>
              <a:buFont typeface="Wingdings" pitchFamily="2" charset="2"/>
              <a:buChar char="l"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0" y="1295400"/>
            <a:ext cx="9144000" cy="556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bIns="0"/>
          <a:lstStyle/>
          <a:p>
            <a:pPr marL="342900" indent="-342900">
              <a:lnSpc>
                <a:spcPct val="90000"/>
              </a:lnSpc>
              <a:spcBef>
                <a:spcPct val="25000"/>
              </a:spcBef>
              <a:spcAft>
                <a:spcPct val="15000"/>
              </a:spcAft>
              <a:buClr>
                <a:schemeClr val="tx2"/>
              </a:buClr>
              <a:buSzPct val="75000"/>
              <a:buFont typeface="Wingdings" pitchFamily="2" charset="2"/>
              <a:buChar char="Ø"/>
            </a:pPr>
            <a:r>
              <a:rPr lang="en-US" sz="2800" spc="300" dirty="0">
                <a:latin typeface="Times New Roman" pitchFamily="18" charset="0"/>
              </a:rPr>
              <a:t>A </a:t>
            </a:r>
            <a:r>
              <a:rPr lang="en-US" sz="2800" b="1" spc="300" dirty="0">
                <a:latin typeface="Times New Roman" pitchFamily="18" charset="0"/>
              </a:rPr>
              <a:t>causal</a:t>
            </a:r>
            <a:r>
              <a:rPr lang="en-US" sz="2800" spc="300" dirty="0">
                <a:latin typeface="Times New Roman" pitchFamily="18" charset="0"/>
              </a:rPr>
              <a:t> signal is zero for t &lt; 0 and</a:t>
            </a:r>
          </a:p>
          <a:p>
            <a:pPr>
              <a:lnSpc>
                <a:spcPct val="90000"/>
              </a:lnSpc>
              <a:spcBef>
                <a:spcPct val="25000"/>
              </a:spcBef>
              <a:spcAft>
                <a:spcPct val="15000"/>
              </a:spcAft>
              <a:buClr>
                <a:schemeClr val="tx2"/>
              </a:buClr>
              <a:buSzPct val="75000"/>
            </a:pPr>
            <a:r>
              <a:rPr lang="en-US" sz="2800" spc="300" dirty="0">
                <a:latin typeface="Times New Roman" pitchFamily="18" charset="0"/>
              </a:rPr>
              <a:t> </a:t>
            </a:r>
            <a:r>
              <a:rPr lang="en-US" sz="2800" b="1" spc="300" dirty="0">
                <a:latin typeface="Times New Roman" pitchFamily="18" charset="0"/>
              </a:rPr>
              <a:t>non-causal </a:t>
            </a:r>
            <a:r>
              <a:rPr lang="en-US" sz="2800" spc="300" dirty="0">
                <a:latin typeface="Times New Roman" pitchFamily="18" charset="0"/>
              </a:rPr>
              <a:t>signal is zero for t &gt; 0</a:t>
            </a:r>
          </a:p>
          <a:p>
            <a:pPr marL="342900" indent="-342900">
              <a:lnSpc>
                <a:spcPct val="90000"/>
              </a:lnSpc>
              <a:spcBef>
                <a:spcPct val="25000"/>
              </a:spcBef>
              <a:spcAft>
                <a:spcPct val="15000"/>
              </a:spcAft>
              <a:buClr>
                <a:schemeClr val="tx2"/>
              </a:buClr>
              <a:buSzPct val="75000"/>
              <a:buFont typeface="Wingdings" pitchFamily="2" charset="2"/>
              <a:buChar char="Ø"/>
            </a:pPr>
            <a:endParaRPr lang="en-US" sz="2800" spc="300" dirty="0">
              <a:latin typeface="Times New Roman" pitchFamily="18" charset="0"/>
            </a:endParaRPr>
          </a:p>
          <a:p>
            <a:pPr marL="342900" indent="-342900">
              <a:lnSpc>
                <a:spcPct val="90000"/>
              </a:lnSpc>
              <a:spcBef>
                <a:spcPct val="25000"/>
              </a:spcBef>
              <a:spcAft>
                <a:spcPct val="15000"/>
              </a:spcAft>
              <a:buClr>
                <a:schemeClr val="tx2"/>
              </a:buClr>
              <a:buSzPct val="75000"/>
              <a:buFont typeface="Wingdings" pitchFamily="2" charset="2"/>
              <a:buChar char="Ø"/>
            </a:pPr>
            <a:endParaRPr lang="en-US" sz="2800" spc="300" dirty="0">
              <a:latin typeface="Times New Roman" pitchFamily="18" charset="0"/>
            </a:endParaRPr>
          </a:p>
          <a:p>
            <a:pPr marL="342900" indent="-342900">
              <a:lnSpc>
                <a:spcPct val="90000"/>
              </a:lnSpc>
              <a:spcBef>
                <a:spcPct val="25000"/>
              </a:spcBef>
              <a:spcAft>
                <a:spcPct val="15000"/>
              </a:spcAft>
              <a:buClr>
                <a:schemeClr val="tx2"/>
              </a:buClr>
              <a:buSzPct val="75000"/>
            </a:pPr>
            <a:r>
              <a:rPr lang="en-US" sz="2800" b="1" spc="300" dirty="0">
                <a:latin typeface="Times New Roman" pitchFamily="18" charset="0"/>
              </a:rPr>
              <a:t>Right- and left-sided signals: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US" sz="2800" spc="300" dirty="0">
                <a:latin typeface="Times New Roman" pitchFamily="18" charset="0"/>
              </a:rPr>
              <a:t>A right-sided signal is zero for t &lt; T and a left-sided signal is zero for t &gt; T where T can be positive or negative.</a:t>
            </a:r>
          </a:p>
          <a:p>
            <a:pPr marL="342900" indent="-342900">
              <a:lnSpc>
                <a:spcPct val="90000"/>
              </a:lnSpc>
              <a:spcBef>
                <a:spcPct val="25000"/>
              </a:spcBef>
              <a:spcAft>
                <a:spcPct val="15000"/>
              </a:spcAft>
              <a:buClr>
                <a:schemeClr val="tx2"/>
              </a:buClr>
              <a:buSzPct val="75000"/>
              <a:buFont typeface="Wingdings" pitchFamily="2" charset="2"/>
              <a:buChar char="l"/>
            </a:pPr>
            <a:endParaRPr lang="en-US" sz="2800" spc="300" dirty="0">
              <a:latin typeface="Times New Roman" pitchFamily="18" charset="0"/>
            </a:endParaRPr>
          </a:p>
          <a:p>
            <a:pPr marL="342900" indent="-342900">
              <a:lnSpc>
                <a:spcPct val="90000"/>
              </a:lnSpc>
              <a:spcBef>
                <a:spcPct val="25000"/>
              </a:spcBef>
              <a:spcAft>
                <a:spcPct val="15000"/>
              </a:spcAft>
              <a:buClr>
                <a:schemeClr val="tx2"/>
              </a:buClr>
              <a:buSzPct val="75000"/>
              <a:buFont typeface="Wingdings" pitchFamily="2" charset="2"/>
              <a:buChar char="l"/>
            </a:pPr>
            <a:endParaRPr lang="en-US" sz="2800" spc="300" dirty="0">
              <a:latin typeface="Times New Roman" pitchFamily="18" charset="0"/>
            </a:endParaRP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8839200" cy="1143000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b="1" spc="300" dirty="0">
                <a:latin typeface="Times New Roman" pitchFamily="18" charset="0"/>
                <a:cs typeface="Times New Roman" pitchFamily="18" charset="0"/>
              </a:rPr>
              <a:t>Causal &amp;Non-causal Signals:</a:t>
            </a:r>
          </a:p>
        </p:txBody>
      </p:sp>
      <p:pic>
        <p:nvPicPr>
          <p:cNvPr id="24580" name="Picture 4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2286000" y="2209800"/>
            <a:ext cx="2980953" cy="838095"/>
          </a:xfrm>
          <a:noFill/>
        </p:spPr>
      </p:pic>
      <p:pic>
        <p:nvPicPr>
          <p:cNvPr id="24581" name="Picture 5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1219200" y="5334000"/>
            <a:ext cx="6027738" cy="1271588"/>
          </a:xfrm>
          <a:noFill/>
        </p:spPr>
      </p:pic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ChangeArrowheads="1"/>
          </p:cNvSpPr>
          <p:nvPr/>
        </p:nvSpPr>
        <p:spPr bwMode="auto">
          <a:xfrm>
            <a:off x="152400" y="0"/>
            <a:ext cx="8107363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altLang="ko-KR" sz="3600" b="1" dirty="0">
                <a:solidFill>
                  <a:schemeClr val="accent1">
                    <a:lumMod val="75000"/>
                  </a:schemeClr>
                </a:solidFill>
                <a:ea typeface="Gulim" pitchFamily="34" charset="-127"/>
              </a:rPr>
              <a:t>Deterministic &amp; Random Signals</a:t>
            </a:r>
            <a:endParaRPr lang="ko-KR" altLang="en-US" sz="3600" b="1" dirty="0">
              <a:solidFill>
                <a:schemeClr val="accent1">
                  <a:lumMod val="75000"/>
                </a:schemeClr>
              </a:solidFill>
              <a:ea typeface="Gulim" pitchFamily="34" charset="-127"/>
            </a:endParaRPr>
          </a:p>
        </p:txBody>
      </p:sp>
      <p:sp>
        <p:nvSpPr>
          <p:cNvPr id="59395" name="Rectangle 3"/>
          <p:cNvSpPr>
            <a:spLocks noChangeArrowheads="1"/>
          </p:cNvSpPr>
          <p:nvPr/>
        </p:nvSpPr>
        <p:spPr bwMode="auto">
          <a:xfrm>
            <a:off x="0" y="1600200"/>
            <a:ext cx="88392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altLang="ko-KR" sz="2800" b="1" dirty="0">
                <a:ea typeface="Gulim" pitchFamily="34" charset="-127"/>
              </a:rPr>
              <a:t>Deterministic signals :</a:t>
            </a:r>
            <a:endParaRPr lang="en-US" altLang="ko-KR" sz="3200" b="1" dirty="0">
              <a:solidFill>
                <a:srgbClr val="C00000"/>
              </a:solidFill>
              <a:latin typeface="Times New Roman" pitchFamily="18" charset="0"/>
              <a:ea typeface="Gulim" pitchFamily="34" charset="-127"/>
              <a:cs typeface="Times New Roman" pitchFamily="18" charset="0"/>
            </a:endParaRP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ko-KR" sz="2800" dirty="0">
                <a:latin typeface="Times New Roman" pitchFamily="18" charset="0"/>
                <a:ea typeface="Gulim" pitchFamily="34" charset="-127"/>
                <a:cs typeface="Times New Roman" pitchFamily="18" charset="0"/>
              </a:rPr>
              <a:t>Behavior of these signals is predictable w.r.t time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ko-KR" sz="2800" dirty="0">
                <a:latin typeface="Times New Roman" pitchFamily="18" charset="0"/>
                <a:ea typeface="Gulim" pitchFamily="34" charset="-127"/>
                <a:cs typeface="Times New Roman" pitchFamily="18" charset="0"/>
              </a:rPr>
              <a:t>There is no uncertainty with respect to  its value at any time. 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ko-KR" sz="2800" dirty="0">
                <a:latin typeface="Times New Roman" pitchFamily="18" charset="0"/>
                <a:ea typeface="Gulim" pitchFamily="34" charset="-127"/>
                <a:cs typeface="Times New Roman" pitchFamily="18" charset="0"/>
              </a:rPr>
              <a:t>These signals can be expressed mathematically. 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buFont typeface="Wingdings" pitchFamily="2" charset="2"/>
              <a:buChar char="Ø"/>
            </a:pPr>
            <a:r>
              <a:rPr lang="en-US" altLang="ko-KR" sz="2800" dirty="0">
                <a:latin typeface="Times New Roman" pitchFamily="18" charset="0"/>
                <a:ea typeface="Gulim" pitchFamily="34" charset="-127"/>
                <a:cs typeface="Times New Roman" pitchFamily="18" charset="0"/>
              </a:rPr>
              <a:t> For example  x(t) = sin(3t) is deterministic signal</a:t>
            </a:r>
            <a:r>
              <a:rPr lang="en-US" altLang="ko-KR" sz="2800" b="1" dirty="0">
                <a:latin typeface="Times New Roman" pitchFamily="18" charset="0"/>
                <a:ea typeface="Gulim" pitchFamily="34" charset="-127"/>
                <a:cs typeface="Times New Roman" pitchFamily="18" charset="0"/>
              </a:rPr>
              <a:t>.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endParaRPr lang="en-US" altLang="ko-KR" b="1" dirty="0">
              <a:ea typeface="Gulim" pitchFamily="34" charset="-127"/>
            </a:endParaRPr>
          </a:p>
          <a:p>
            <a:pPr marL="342900" indent="-342900">
              <a:lnSpc>
                <a:spcPct val="120000"/>
              </a:lnSpc>
              <a:spcBef>
                <a:spcPct val="20000"/>
              </a:spcBef>
            </a:pPr>
            <a:endParaRPr lang="en-US" altLang="ko-KR" sz="2800" b="1" dirty="0">
              <a:ea typeface="Gulim" pitchFamily="34" charset="-127"/>
            </a:endParaRPr>
          </a:p>
        </p:txBody>
      </p:sp>
      <p:pic>
        <p:nvPicPr>
          <p:cNvPr id="59396" name="Picture 4" descr="ran_sin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5029200"/>
            <a:ext cx="4781550" cy="120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8915400" cy="4114800"/>
          </a:xfrm>
        </p:spPr>
        <p:txBody>
          <a:bodyPr/>
          <a:lstStyle/>
          <a:p>
            <a:pPr algn="just">
              <a:buFont typeface="Wingdings" pitchFamily="2" charset="2"/>
              <a:buChar char="Ø"/>
              <a:defRPr/>
            </a:pPr>
            <a:r>
              <a:rPr lang="en-US" altLang="ko-KR" sz="2800" dirty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Behavior of these signals is</a:t>
            </a:r>
            <a:r>
              <a:rPr lang="en-US" altLang="ko-KR" sz="2800" dirty="0">
                <a:solidFill>
                  <a:schemeClr val="tx1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 random </a:t>
            </a:r>
            <a:r>
              <a:rPr lang="en-US" altLang="ko-KR" sz="2800" dirty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i.e. not predictable w.r.t time.</a:t>
            </a:r>
          </a:p>
          <a:p>
            <a:pPr algn="just">
              <a:lnSpc>
                <a:spcPct val="80000"/>
              </a:lnSpc>
              <a:buFont typeface="Wingdings" pitchFamily="2" charset="2"/>
              <a:buChar char="Ø"/>
              <a:defRPr/>
            </a:pPr>
            <a:r>
              <a:rPr lang="en-US" altLang="ko-KR" sz="2800" dirty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There is an uncertainty with respect to  its value at any time. </a:t>
            </a:r>
          </a:p>
          <a:p>
            <a:pPr algn="just">
              <a:lnSpc>
                <a:spcPct val="80000"/>
              </a:lnSpc>
              <a:buFont typeface="Wingdings" pitchFamily="2" charset="2"/>
              <a:buChar char="Ø"/>
              <a:defRPr/>
            </a:pPr>
            <a:r>
              <a:rPr lang="en-US" altLang="ko-KR" sz="2800" dirty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These signals can’t be expressed mathematically. </a:t>
            </a:r>
          </a:p>
          <a:p>
            <a:pPr algn="just">
              <a:lnSpc>
                <a:spcPct val="80000"/>
              </a:lnSpc>
              <a:buFont typeface="Wingdings" pitchFamily="2" charset="2"/>
              <a:buChar char="Ø"/>
              <a:defRPr/>
            </a:pPr>
            <a:r>
              <a:rPr lang="en-US" altLang="ko-KR" sz="2800" dirty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For example:</a:t>
            </a:r>
            <a:r>
              <a:rPr lang="en-US" altLang="ko-KR" sz="2800" dirty="0">
                <a:solidFill>
                  <a:schemeClr val="tx1"/>
                </a:solidFill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Thermal Noise </a:t>
            </a:r>
            <a:r>
              <a:rPr lang="en-US" altLang="ko-KR" sz="2800" dirty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generated is non deterministic signal(Random Signals)</a:t>
            </a:r>
            <a:endParaRPr lang="ko-KR" altLang="en-US" sz="2800" dirty="0">
              <a:latin typeface="Times New Roman" pitchFamily="18" charset="0"/>
              <a:ea typeface="굴림" pitchFamily="50" charset="-127"/>
              <a:cs typeface="Times New Roman" pitchFamily="18" charset="0"/>
            </a:endParaRPr>
          </a:p>
          <a:p>
            <a:pPr>
              <a:defRPr/>
            </a:pPr>
            <a:endParaRPr lang="en-US" dirty="0"/>
          </a:p>
        </p:txBody>
      </p:sp>
      <p:pic>
        <p:nvPicPr>
          <p:cNvPr id="60420" name="Picture 5" descr="ran_no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4648200"/>
            <a:ext cx="58674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0" y="228600"/>
            <a:ext cx="6447501" cy="1320800"/>
          </a:xfrm>
        </p:spPr>
        <p:txBody>
          <a:bodyPr/>
          <a:lstStyle/>
          <a:p>
            <a:pPr algn="ctr"/>
            <a:r>
              <a:rPr lang="en-US" dirty="0"/>
              <a:t>Random Signals: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686800" cy="1143000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sz="4000" b="1" spc="300">
                <a:latin typeface="Times New Roman" pitchFamily="18" charset="0"/>
                <a:cs typeface="Times New Roman" pitchFamily="18" charset="0"/>
              </a:rPr>
              <a:t>Even &amp; Odd </a:t>
            </a:r>
            <a:r>
              <a:rPr lang="en-US" sz="4000" b="1" spc="300" dirty="0">
                <a:latin typeface="Times New Roman" pitchFamily="18" charset="0"/>
                <a:cs typeface="Times New Roman" pitchFamily="18" charset="0"/>
              </a:rPr>
              <a:t>Signals</a:t>
            </a:r>
          </a:p>
        </p:txBody>
      </p:sp>
      <p:pic>
        <p:nvPicPr>
          <p:cNvPr id="26628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209800" y="4495800"/>
            <a:ext cx="2971429" cy="2200582"/>
          </a:xfrm>
          <a:noFill/>
        </p:spPr>
      </p:pic>
      <p:sp>
        <p:nvSpPr>
          <p:cNvPr id="26627" name="Rectangle 3"/>
          <p:cNvSpPr>
            <a:spLocks noChangeArrowheads="1"/>
          </p:cNvSpPr>
          <p:nvPr/>
        </p:nvSpPr>
        <p:spPr bwMode="auto">
          <a:xfrm>
            <a:off x="0" y="1295400"/>
            <a:ext cx="9144000" cy="556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bIns="0"/>
          <a:lstStyle/>
          <a:p>
            <a:pPr marL="342900" indent="-342900">
              <a:lnSpc>
                <a:spcPct val="90000"/>
              </a:lnSpc>
              <a:spcBef>
                <a:spcPct val="25000"/>
              </a:spcBef>
              <a:spcAft>
                <a:spcPct val="15000"/>
              </a:spcAft>
              <a:buClr>
                <a:schemeClr val="tx2"/>
              </a:buClr>
              <a:buSzPct val="75000"/>
              <a:buFont typeface="Wingdings" pitchFamily="2" charset="2"/>
              <a:buChar char="l"/>
            </a:pPr>
            <a:r>
              <a:rPr lang="en-US" sz="2400" spc="300" dirty="0">
                <a:latin typeface="Times New Roman" pitchFamily="18" charset="0"/>
              </a:rPr>
              <a:t>Even signals xe(t) and odd signals xo(t) are defined as</a:t>
            </a:r>
          </a:p>
          <a:p>
            <a:pPr marL="342900" indent="-342900" algn="ctr"/>
            <a:r>
              <a:rPr lang="en-US" sz="2400" spc="300" dirty="0">
                <a:latin typeface="Times New Roman" pitchFamily="18" charset="0"/>
              </a:rPr>
              <a:t>x</a:t>
            </a:r>
            <a:r>
              <a:rPr lang="en-US" sz="1600" spc="300" dirty="0">
                <a:latin typeface="Times New Roman" pitchFamily="18" charset="0"/>
              </a:rPr>
              <a:t>e</a:t>
            </a:r>
            <a:r>
              <a:rPr lang="en-US" sz="2400" spc="300" dirty="0">
                <a:latin typeface="Times New Roman" pitchFamily="18" charset="0"/>
              </a:rPr>
              <a:t>(t) = x</a:t>
            </a:r>
            <a:r>
              <a:rPr lang="en-US" sz="1600" spc="300" dirty="0">
                <a:latin typeface="Times New Roman" pitchFamily="18" charset="0"/>
              </a:rPr>
              <a:t>e</a:t>
            </a:r>
            <a:r>
              <a:rPr lang="en-US" sz="2400" spc="300" dirty="0">
                <a:latin typeface="Times New Roman" pitchFamily="18" charset="0"/>
              </a:rPr>
              <a:t>(−t) and x</a:t>
            </a:r>
            <a:r>
              <a:rPr lang="en-US" sz="1600" spc="300" dirty="0">
                <a:latin typeface="Times New Roman" pitchFamily="18" charset="0"/>
              </a:rPr>
              <a:t>o</a:t>
            </a:r>
            <a:r>
              <a:rPr lang="en-US" sz="2400" spc="300" dirty="0">
                <a:latin typeface="Times New Roman" pitchFamily="18" charset="0"/>
              </a:rPr>
              <a:t>(t) = −x</a:t>
            </a:r>
            <a:r>
              <a:rPr lang="en-US" sz="1600" spc="300" dirty="0">
                <a:latin typeface="Times New Roman" pitchFamily="18" charset="0"/>
              </a:rPr>
              <a:t>o</a:t>
            </a:r>
            <a:r>
              <a:rPr lang="en-US" sz="2400" spc="300" dirty="0">
                <a:latin typeface="Times New Roman" pitchFamily="18" charset="0"/>
              </a:rPr>
              <a:t>(−t).</a:t>
            </a:r>
          </a:p>
          <a:p>
            <a:pPr marL="342900" indent="-342900">
              <a:lnSpc>
                <a:spcPct val="90000"/>
              </a:lnSpc>
              <a:spcBef>
                <a:spcPct val="25000"/>
              </a:spcBef>
              <a:spcAft>
                <a:spcPct val="15000"/>
              </a:spcAft>
              <a:buClr>
                <a:schemeClr val="tx2"/>
              </a:buClr>
              <a:buSzPct val="75000"/>
              <a:buFont typeface="Wingdings" pitchFamily="2" charset="2"/>
              <a:buChar char="l"/>
            </a:pPr>
            <a:r>
              <a:rPr lang="en-US" sz="2400" spc="300" dirty="0">
                <a:latin typeface="Times New Roman" pitchFamily="18" charset="0"/>
              </a:rPr>
              <a:t>Any signal is a sum of unique odd and even signals. Using</a:t>
            </a:r>
          </a:p>
          <a:p>
            <a:pPr marL="342900" indent="-342900" algn="ctr"/>
            <a:r>
              <a:rPr lang="en-US" sz="2400" spc="300" dirty="0">
                <a:latin typeface="Times New Roman" pitchFamily="18" charset="0"/>
              </a:rPr>
              <a:t>x(t) = x</a:t>
            </a:r>
            <a:r>
              <a:rPr lang="en-US" sz="2400" spc="300" baseline="-25000" dirty="0">
                <a:latin typeface="Times New Roman" pitchFamily="18" charset="0"/>
              </a:rPr>
              <a:t>e</a:t>
            </a:r>
            <a:r>
              <a:rPr lang="en-US" sz="2400" spc="300" dirty="0">
                <a:latin typeface="Times New Roman" pitchFamily="18" charset="0"/>
              </a:rPr>
              <a:t>(t)+x</a:t>
            </a:r>
            <a:r>
              <a:rPr lang="en-US" sz="2400" spc="300" baseline="-25000" dirty="0">
                <a:latin typeface="Times New Roman" pitchFamily="18" charset="0"/>
              </a:rPr>
              <a:t>o</a:t>
            </a:r>
            <a:r>
              <a:rPr lang="en-US" sz="2400" spc="300" dirty="0">
                <a:latin typeface="Times New Roman" pitchFamily="18" charset="0"/>
              </a:rPr>
              <a:t>(t) and x(−t) = x</a:t>
            </a:r>
            <a:r>
              <a:rPr lang="en-US" sz="2400" spc="300" baseline="-25000" dirty="0">
                <a:latin typeface="Times New Roman" pitchFamily="18" charset="0"/>
              </a:rPr>
              <a:t>e</a:t>
            </a:r>
            <a:r>
              <a:rPr lang="en-US" sz="2400" spc="300" dirty="0">
                <a:latin typeface="Times New Roman" pitchFamily="18" charset="0"/>
              </a:rPr>
              <a:t>(t) − x</a:t>
            </a:r>
            <a:r>
              <a:rPr lang="en-US" sz="2400" spc="300" baseline="-25000" dirty="0">
                <a:latin typeface="Times New Roman" pitchFamily="18" charset="0"/>
              </a:rPr>
              <a:t>o</a:t>
            </a:r>
            <a:r>
              <a:rPr lang="en-US" sz="2400" spc="300" dirty="0">
                <a:latin typeface="Times New Roman" pitchFamily="18" charset="0"/>
              </a:rPr>
              <a:t>(t), yields</a:t>
            </a:r>
          </a:p>
          <a:p>
            <a:pPr marL="342900" indent="-342900" algn="ctr"/>
            <a:endParaRPr lang="en-US" sz="2400" spc="300" dirty="0">
              <a:latin typeface="Times New Roman" pitchFamily="18" charset="0"/>
            </a:endParaRPr>
          </a:p>
          <a:p>
            <a:pPr marL="342900" indent="-342900" algn="ctr"/>
            <a:r>
              <a:rPr lang="en-US" sz="2400" spc="300" dirty="0">
                <a:latin typeface="Times New Roman" pitchFamily="18" charset="0"/>
              </a:rPr>
              <a:t>x</a:t>
            </a:r>
            <a:r>
              <a:rPr lang="en-US" sz="2400" spc="300" baseline="-25000" dirty="0">
                <a:latin typeface="Times New Roman" pitchFamily="18" charset="0"/>
              </a:rPr>
              <a:t>e</a:t>
            </a:r>
            <a:r>
              <a:rPr lang="en-US" sz="2400" spc="300" dirty="0">
                <a:latin typeface="Times New Roman" pitchFamily="18" charset="0"/>
              </a:rPr>
              <a:t>(t) =0.5(x(t)+x(−t)) and x</a:t>
            </a:r>
            <a:r>
              <a:rPr lang="en-US" sz="2400" spc="300" baseline="-25000" dirty="0">
                <a:latin typeface="Times New Roman" pitchFamily="18" charset="0"/>
              </a:rPr>
              <a:t>o</a:t>
            </a:r>
            <a:r>
              <a:rPr lang="en-US" sz="2400" spc="300" dirty="0">
                <a:latin typeface="Times New Roman" pitchFamily="18" charset="0"/>
              </a:rPr>
              <a:t>(t) =0.5(x(t) − x(−t)).</a:t>
            </a:r>
          </a:p>
          <a:p>
            <a:pPr marL="342900" indent="-342900" algn="ctr"/>
            <a:endParaRPr lang="en-US" sz="2400" dirty="0">
              <a:latin typeface="Times New Roman" pitchFamily="18" charset="0"/>
            </a:endParaRPr>
          </a:p>
          <a:p>
            <a:pPr marL="342900" indent="-342900">
              <a:lnSpc>
                <a:spcPct val="90000"/>
              </a:lnSpc>
              <a:spcBef>
                <a:spcPct val="25000"/>
              </a:spcBef>
              <a:spcAft>
                <a:spcPct val="15000"/>
              </a:spcAft>
              <a:buClr>
                <a:schemeClr val="tx2"/>
              </a:buClr>
              <a:buSzPct val="75000"/>
              <a:buFont typeface="Wingdings" pitchFamily="2" charset="2"/>
              <a:buChar char="l"/>
            </a:pPr>
            <a:endParaRPr lang="en-US" sz="2400" dirty="0">
              <a:latin typeface="Times New Roman" pitchFamily="18" charset="0"/>
            </a:endParaRP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5943600"/>
            <a:ext cx="8183563" cy="609600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br>
              <a:rPr lang="en-US" dirty="0">
                <a:solidFill>
                  <a:schemeClr val="tx1"/>
                </a:solidFill>
                <a:latin typeface="Arial" pitchFamily="34" charset="0"/>
              </a:rPr>
            </a:br>
            <a:br>
              <a:rPr lang="en-US" dirty="0">
                <a:solidFill>
                  <a:schemeClr val="tx1"/>
                </a:solidFill>
                <a:latin typeface="Arial" pitchFamily="34" charset="0"/>
              </a:rPr>
            </a:br>
            <a:br>
              <a:rPr lang="en-US" dirty="0">
                <a:solidFill>
                  <a:schemeClr val="tx1"/>
                </a:solidFill>
                <a:latin typeface="Arial" pitchFamily="34" charset="0"/>
              </a:rPr>
            </a:br>
            <a:br>
              <a:rPr lang="en-US" dirty="0">
                <a:solidFill>
                  <a:schemeClr val="tx1"/>
                </a:solidFill>
                <a:latin typeface="Arial" pitchFamily="34" charset="0"/>
              </a:rPr>
            </a:br>
            <a:br>
              <a:rPr lang="en-US" dirty="0">
                <a:solidFill>
                  <a:schemeClr val="tx1"/>
                </a:solidFill>
                <a:latin typeface="Arial" pitchFamily="34" charset="0"/>
              </a:rPr>
            </a:br>
            <a:br>
              <a:rPr lang="en-US" dirty="0">
                <a:solidFill>
                  <a:schemeClr val="tx1"/>
                </a:solidFill>
                <a:latin typeface="Arial" pitchFamily="34" charset="0"/>
              </a:rPr>
            </a:br>
            <a:r>
              <a:rPr lang="en-US" dirty="0">
                <a:solidFill>
                  <a:schemeClr val="tx1"/>
                </a:solidFill>
                <a:latin typeface="Arial" pitchFamily="34" charset="0"/>
              </a:rPr>
              <a:t> </a:t>
            </a:r>
            <a:r>
              <a:rPr lang="en-US" dirty="0"/>
              <a:t>Classification of signals (cont.)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xfrm>
            <a:off x="0" y="1143000"/>
            <a:ext cx="8991600" cy="5486400"/>
          </a:xfrm>
        </p:spPr>
        <p:txBody>
          <a:bodyPr>
            <a:normAutofit/>
          </a:bodyPr>
          <a:lstStyle/>
          <a:p>
            <a:pPr marL="265176" indent="-265176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</a:rPr>
              <a:t>Even:</a:t>
            </a:r>
            <a:r>
              <a:rPr lang="en-US" sz="2400" dirty="0">
                <a:solidFill>
                  <a:srgbClr val="000000"/>
                </a:solidFill>
                <a:latin typeface="CMEX10" charset="0"/>
              </a:rPr>
              <a:t>               </a:t>
            </a:r>
          </a:p>
          <a:p>
            <a:pPr marL="265176" indent="-265176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dirty="0">
                <a:solidFill>
                  <a:srgbClr val="000000"/>
                </a:solidFill>
                <a:latin typeface="CMEX10" charset="0"/>
              </a:rPr>
              <a:t>                          </a:t>
            </a:r>
            <a:r>
              <a:rPr lang="en-US" dirty="0">
                <a:solidFill>
                  <a:srgbClr val="000000"/>
                </a:solidFill>
                <a:latin typeface="CMMI10" charset="0"/>
              </a:rPr>
              <a:t>x</a:t>
            </a:r>
            <a:r>
              <a:rPr lang="en-US" dirty="0">
                <a:solidFill>
                  <a:srgbClr val="000000"/>
                </a:solidFill>
                <a:latin typeface="CMR10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MSY10" charset="0"/>
              </a:rPr>
              <a:t>−</a:t>
            </a:r>
            <a:r>
              <a:rPr lang="en-US" dirty="0">
                <a:solidFill>
                  <a:srgbClr val="000000"/>
                </a:solidFill>
                <a:latin typeface="CMMI10" charset="0"/>
              </a:rPr>
              <a:t>t</a:t>
            </a:r>
            <a:r>
              <a:rPr lang="en-US" dirty="0">
                <a:solidFill>
                  <a:srgbClr val="000000"/>
                </a:solidFill>
                <a:latin typeface="CMR10" charset="0"/>
              </a:rPr>
              <a:t>) = </a:t>
            </a:r>
            <a:r>
              <a:rPr lang="en-US" dirty="0">
                <a:solidFill>
                  <a:srgbClr val="000000"/>
                </a:solidFill>
                <a:latin typeface="CMMI10" charset="0"/>
              </a:rPr>
              <a:t>x</a:t>
            </a:r>
            <a:r>
              <a:rPr lang="en-US" dirty="0">
                <a:solidFill>
                  <a:srgbClr val="000000"/>
                </a:solidFill>
                <a:latin typeface="CMR10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MMI10" charset="0"/>
              </a:rPr>
              <a:t>t</a:t>
            </a:r>
            <a:r>
              <a:rPr lang="en-US" dirty="0">
                <a:solidFill>
                  <a:srgbClr val="000000"/>
                </a:solidFill>
                <a:latin typeface="CMR10" charset="0"/>
              </a:rPr>
              <a:t>)</a:t>
            </a:r>
          </a:p>
          <a:p>
            <a:pPr marL="265176" indent="-265176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dirty="0">
                <a:solidFill>
                  <a:srgbClr val="000000"/>
                </a:solidFill>
                <a:latin typeface="CMMI10" charset="0"/>
              </a:rPr>
              <a:t>                         x</a:t>
            </a:r>
            <a:r>
              <a:rPr lang="en-US" dirty="0">
                <a:solidFill>
                  <a:srgbClr val="000000"/>
                </a:solidFill>
                <a:latin typeface="CMR10" charset="0"/>
              </a:rPr>
              <a:t>[</a:t>
            </a:r>
            <a:r>
              <a:rPr lang="en-US" dirty="0">
                <a:solidFill>
                  <a:srgbClr val="000000"/>
                </a:solidFill>
                <a:latin typeface="CMSY10" charset="0"/>
              </a:rPr>
              <a:t>−</a:t>
            </a:r>
            <a:r>
              <a:rPr lang="en-US" dirty="0">
                <a:solidFill>
                  <a:srgbClr val="000000"/>
                </a:solidFill>
                <a:latin typeface="CMMI10" charset="0"/>
              </a:rPr>
              <a:t>n</a:t>
            </a:r>
            <a:r>
              <a:rPr lang="en-US" dirty="0">
                <a:solidFill>
                  <a:srgbClr val="000000"/>
                </a:solidFill>
                <a:latin typeface="CMR10" charset="0"/>
              </a:rPr>
              <a:t>] = </a:t>
            </a:r>
            <a:r>
              <a:rPr lang="en-US" dirty="0">
                <a:solidFill>
                  <a:srgbClr val="000000"/>
                </a:solidFill>
                <a:latin typeface="CMMI10" charset="0"/>
              </a:rPr>
              <a:t>x</a:t>
            </a:r>
            <a:r>
              <a:rPr lang="en-US" dirty="0">
                <a:solidFill>
                  <a:srgbClr val="000000"/>
                </a:solidFill>
                <a:latin typeface="CMR10" charset="0"/>
              </a:rPr>
              <a:t>[</a:t>
            </a:r>
            <a:r>
              <a:rPr lang="en-US" dirty="0">
                <a:solidFill>
                  <a:srgbClr val="000000"/>
                </a:solidFill>
                <a:latin typeface="CMMI10" charset="0"/>
              </a:rPr>
              <a:t>n</a:t>
            </a:r>
            <a:r>
              <a:rPr lang="en-US" dirty="0">
                <a:solidFill>
                  <a:srgbClr val="000000"/>
                </a:solidFill>
                <a:latin typeface="CMR10" charset="0"/>
              </a:rPr>
              <a:t>]</a:t>
            </a:r>
          </a:p>
          <a:p>
            <a:pPr marL="265176" indent="-265176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</a:rPr>
              <a:t>Odd:</a:t>
            </a:r>
          </a:p>
          <a:p>
            <a:pPr marL="265176" indent="-265176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dirty="0">
                <a:solidFill>
                  <a:srgbClr val="000000"/>
                </a:solidFill>
                <a:latin typeface="CMEX10" charset="0"/>
              </a:rPr>
              <a:t>                          </a:t>
            </a:r>
            <a:r>
              <a:rPr lang="en-US" dirty="0">
                <a:solidFill>
                  <a:srgbClr val="000000"/>
                </a:solidFill>
                <a:latin typeface="CMMI10" charset="0"/>
              </a:rPr>
              <a:t>x</a:t>
            </a:r>
            <a:r>
              <a:rPr lang="en-US" dirty="0">
                <a:solidFill>
                  <a:srgbClr val="000000"/>
                </a:solidFill>
                <a:latin typeface="CMR10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MSY10" charset="0"/>
              </a:rPr>
              <a:t>−</a:t>
            </a:r>
            <a:r>
              <a:rPr lang="en-US" dirty="0">
                <a:solidFill>
                  <a:srgbClr val="000000"/>
                </a:solidFill>
                <a:latin typeface="CMMI10" charset="0"/>
              </a:rPr>
              <a:t>t</a:t>
            </a:r>
            <a:r>
              <a:rPr lang="en-US" dirty="0">
                <a:solidFill>
                  <a:srgbClr val="000000"/>
                </a:solidFill>
                <a:latin typeface="CMR10" charset="0"/>
              </a:rPr>
              <a:t>) = </a:t>
            </a:r>
            <a:r>
              <a:rPr lang="en-US" dirty="0">
                <a:solidFill>
                  <a:srgbClr val="000000"/>
                </a:solidFill>
                <a:latin typeface="CMSY10" charset="0"/>
              </a:rPr>
              <a:t>−</a:t>
            </a:r>
            <a:r>
              <a:rPr lang="en-US" dirty="0">
                <a:solidFill>
                  <a:srgbClr val="000000"/>
                </a:solidFill>
                <a:latin typeface="CMMI10" charset="0"/>
              </a:rPr>
              <a:t>x</a:t>
            </a:r>
            <a:r>
              <a:rPr lang="en-US" dirty="0">
                <a:solidFill>
                  <a:srgbClr val="000000"/>
                </a:solidFill>
                <a:latin typeface="CMR10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MMI10" charset="0"/>
              </a:rPr>
              <a:t>t</a:t>
            </a:r>
            <a:r>
              <a:rPr lang="en-US" dirty="0">
                <a:solidFill>
                  <a:srgbClr val="000000"/>
                </a:solidFill>
                <a:latin typeface="CMR10" charset="0"/>
              </a:rPr>
              <a:t>)</a:t>
            </a:r>
          </a:p>
          <a:p>
            <a:pPr marL="265176" indent="-265176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dirty="0">
                <a:solidFill>
                  <a:srgbClr val="000000"/>
                </a:solidFill>
                <a:latin typeface="CMMI10" charset="0"/>
              </a:rPr>
              <a:t>                         x</a:t>
            </a:r>
            <a:r>
              <a:rPr lang="en-US" dirty="0">
                <a:solidFill>
                  <a:srgbClr val="000000"/>
                </a:solidFill>
                <a:latin typeface="CMR10" charset="0"/>
              </a:rPr>
              <a:t>[</a:t>
            </a:r>
            <a:r>
              <a:rPr lang="en-US" dirty="0">
                <a:solidFill>
                  <a:srgbClr val="000000"/>
                </a:solidFill>
                <a:latin typeface="CMSY10" charset="0"/>
              </a:rPr>
              <a:t>−</a:t>
            </a:r>
            <a:r>
              <a:rPr lang="en-US" dirty="0">
                <a:solidFill>
                  <a:srgbClr val="000000"/>
                </a:solidFill>
                <a:latin typeface="CMMI10" charset="0"/>
              </a:rPr>
              <a:t>n</a:t>
            </a:r>
            <a:r>
              <a:rPr lang="en-US" dirty="0">
                <a:solidFill>
                  <a:srgbClr val="000000"/>
                </a:solidFill>
                <a:latin typeface="CMR10" charset="0"/>
              </a:rPr>
              <a:t>] = </a:t>
            </a:r>
            <a:r>
              <a:rPr lang="en-US" dirty="0">
                <a:solidFill>
                  <a:srgbClr val="000000"/>
                </a:solidFill>
                <a:latin typeface="CMSY10" charset="0"/>
              </a:rPr>
              <a:t>−</a:t>
            </a:r>
            <a:r>
              <a:rPr lang="en-US" dirty="0">
                <a:solidFill>
                  <a:srgbClr val="000000"/>
                </a:solidFill>
                <a:latin typeface="CMMI10" charset="0"/>
              </a:rPr>
              <a:t>x</a:t>
            </a:r>
            <a:r>
              <a:rPr lang="en-US" dirty="0">
                <a:solidFill>
                  <a:srgbClr val="000000"/>
                </a:solidFill>
                <a:latin typeface="CMR10" charset="0"/>
              </a:rPr>
              <a:t>[</a:t>
            </a:r>
            <a:r>
              <a:rPr lang="en-US" dirty="0">
                <a:solidFill>
                  <a:srgbClr val="000000"/>
                </a:solidFill>
                <a:latin typeface="CMMI10" charset="0"/>
              </a:rPr>
              <a:t>n</a:t>
            </a:r>
            <a:r>
              <a:rPr lang="en-US" dirty="0">
                <a:solidFill>
                  <a:srgbClr val="000000"/>
                </a:solidFill>
                <a:latin typeface="CMR10" charset="0"/>
              </a:rPr>
              <a:t>]</a:t>
            </a:r>
          </a:p>
          <a:p>
            <a:pPr marL="265176" indent="-265176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Any signal </a:t>
            </a:r>
            <a:r>
              <a:rPr lang="en-US" dirty="0">
                <a:solidFill>
                  <a:srgbClr val="000000"/>
                </a:solidFill>
                <a:latin typeface="CMMI10" charset="0"/>
              </a:rPr>
              <a:t>x</a:t>
            </a:r>
            <a:r>
              <a:rPr lang="en-US" dirty="0">
                <a:solidFill>
                  <a:srgbClr val="000000"/>
                </a:solidFill>
                <a:latin typeface="CMR10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MMI10" charset="0"/>
              </a:rPr>
              <a:t>t</a:t>
            </a:r>
            <a:r>
              <a:rPr lang="en-US" dirty="0">
                <a:solidFill>
                  <a:srgbClr val="000000"/>
                </a:solidFill>
                <a:latin typeface="CMR10" charset="0"/>
              </a:rPr>
              <a:t>) </a:t>
            </a:r>
            <a:r>
              <a:rPr lang="en-US" dirty="0">
                <a:solidFill>
                  <a:srgbClr val="000000"/>
                </a:solidFill>
                <a:latin typeface="Arial" pitchFamily="34" charset="0"/>
              </a:rPr>
              <a:t>can be expressed as</a:t>
            </a:r>
          </a:p>
          <a:p>
            <a:pPr marL="265176" indent="-265176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dirty="0">
                <a:solidFill>
                  <a:srgbClr val="000000"/>
                </a:solidFill>
                <a:latin typeface="CMMI10" charset="0"/>
              </a:rPr>
              <a:t>                        x</a:t>
            </a:r>
            <a:r>
              <a:rPr lang="en-US" dirty="0">
                <a:solidFill>
                  <a:srgbClr val="000000"/>
                </a:solidFill>
                <a:latin typeface="CMR10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MMI10" charset="0"/>
              </a:rPr>
              <a:t>t</a:t>
            </a:r>
            <a:r>
              <a:rPr lang="en-US" dirty="0">
                <a:solidFill>
                  <a:srgbClr val="000000"/>
                </a:solidFill>
                <a:latin typeface="CMR10" charset="0"/>
              </a:rPr>
              <a:t>) =   </a:t>
            </a:r>
            <a:r>
              <a:rPr lang="en-US" dirty="0">
                <a:solidFill>
                  <a:srgbClr val="000000"/>
                </a:solidFill>
                <a:latin typeface="CMMI10" charset="0"/>
              </a:rPr>
              <a:t>x</a:t>
            </a:r>
            <a:r>
              <a:rPr lang="en-US" sz="2000" dirty="0">
                <a:solidFill>
                  <a:srgbClr val="000000"/>
                </a:solidFill>
                <a:latin typeface="CMMI7" charset="0"/>
              </a:rPr>
              <a:t>e</a:t>
            </a:r>
            <a:r>
              <a:rPr lang="en-US" dirty="0">
                <a:solidFill>
                  <a:srgbClr val="000000"/>
                </a:solidFill>
                <a:latin typeface="CMR10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MMI10" charset="0"/>
              </a:rPr>
              <a:t>t</a:t>
            </a:r>
            <a:r>
              <a:rPr lang="en-US" dirty="0">
                <a:solidFill>
                  <a:srgbClr val="000000"/>
                </a:solidFill>
                <a:latin typeface="CMR10" charset="0"/>
              </a:rPr>
              <a:t>) + </a:t>
            </a:r>
            <a:r>
              <a:rPr lang="en-US" dirty="0">
                <a:solidFill>
                  <a:srgbClr val="000000"/>
                </a:solidFill>
                <a:latin typeface="CMMI10" charset="0"/>
              </a:rPr>
              <a:t>x</a:t>
            </a:r>
            <a:r>
              <a:rPr lang="en-US" sz="2000" dirty="0">
                <a:solidFill>
                  <a:srgbClr val="000000"/>
                </a:solidFill>
                <a:latin typeface="CMMI7" charset="0"/>
              </a:rPr>
              <a:t>o</a:t>
            </a:r>
            <a:r>
              <a:rPr lang="en-US" dirty="0">
                <a:solidFill>
                  <a:srgbClr val="000000"/>
                </a:solidFill>
                <a:latin typeface="CMR10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MMI10" charset="0"/>
              </a:rPr>
              <a:t>t</a:t>
            </a:r>
            <a:r>
              <a:rPr lang="en-US" dirty="0">
                <a:solidFill>
                  <a:srgbClr val="000000"/>
                </a:solidFill>
                <a:latin typeface="CMR10" charset="0"/>
              </a:rPr>
              <a:t>) </a:t>
            </a:r>
            <a:r>
              <a:rPr lang="en-US" dirty="0">
                <a:solidFill>
                  <a:srgbClr val="000000"/>
                </a:solidFill>
                <a:latin typeface="CMSY10" charset="0"/>
              </a:rPr>
              <a:t>)</a:t>
            </a:r>
          </a:p>
          <a:p>
            <a:pPr marL="265176" indent="-265176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dirty="0">
                <a:solidFill>
                  <a:srgbClr val="000000"/>
                </a:solidFill>
                <a:latin typeface="CMMI10" charset="0"/>
              </a:rPr>
              <a:t>                        x</a:t>
            </a:r>
            <a:r>
              <a:rPr lang="en-US" dirty="0">
                <a:solidFill>
                  <a:srgbClr val="000000"/>
                </a:solidFill>
                <a:latin typeface="CMR10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MSY10" charset="0"/>
              </a:rPr>
              <a:t>−</a:t>
            </a:r>
            <a:r>
              <a:rPr lang="en-US" dirty="0">
                <a:solidFill>
                  <a:srgbClr val="000000"/>
                </a:solidFill>
                <a:latin typeface="CMMI10" charset="0"/>
              </a:rPr>
              <a:t>t</a:t>
            </a:r>
            <a:r>
              <a:rPr lang="en-US" dirty="0">
                <a:solidFill>
                  <a:srgbClr val="000000"/>
                </a:solidFill>
                <a:latin typeface="CMR10" charset="0"/>
              </a:rPr>
              <a:t>) = </a:t>
            </a:r>
            <a:r>
              <a:rPr lang="en-US" dirty="0">
                <a:solidFill>
                  <a:srgbClr val="000000"/>
                </a:solidFill>
                <a:latin typeface="CMMI10" charset="0"/>
              </a:rPr>
              <a:t>x</a:t>
            </a:r>
            <a:r>
              <a:rPr lang="en-US" sz="2000" dirty="0">
                <a:solidFill>
                  <a:srgbClr val="000000"/>
                </a:solidFill>
                <a:latin typeface="CMMI7" charset="0"/>
              </a:rPr>
              <a:t>e</a:t>
            </a:r>
            <a:r>
              <a:rPr lang="en-US" dirty="0">
                <a:solidFill>
                  <a:srgbClr val="000000"/>
                </a:solidFill>
                <a:latin typeface="CMR10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MMI10" charset="0"/>
              </a:rPr>
              <a:t>t</a:t>
            </a:r>
            <a:r>
              <a:rPr lang="en-US" dirty="0">
                <a:solidFill>
                  <a:srgbClr val="000000"/>
                </a:solidFill>
                <a:latin typeface="CMR10" charset="0"/>
              </a:rPr>
              <a:t>) </a:t>
            </a:r>
            <a:r>
              <a:rPr lang="en-US" dirty="0">
                <a:solidFill>
                  <a:srgbClr val="000000"/>
                </a:solidFill>
                <a:latin typeface="CMSY10" charset="0"/>
              </a:rPr>
              <a:t>− </a:t>
            </a:r>
            <a:r>
              <a:rPr lang="en-US" dirty="0">
                <a:solidFill>
                  <a:srgbClr val="000000"/>
                </a:solidFill>
                <a:latin typeface="CMMI10" charset="0"/>
              </a:rPr>
              <a:t>x</a:t>
            </a:r>
            <a:r>
              <a:rPr lang="en-US" sz="2000" dirty="0">
                <a:solidFill>
                  <a:srgbClr val="000000"/>
                </a:solidFill>
                <a:latin typeface="CMMI7" charset="0"/>
              </a:rPr>
              <a:t>o</a:t>
            </a:r>
            <a:r>
              <a:rPr lang="en-US" dirty="0">
                <a:solidFill>
                  <a:srgbClr val="000000"/>
                </a:solidFill>
                <a:latin typeface="CMR10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MMI10" charset="0"/>
              </a:rPr>
              <a:t>t</a:t>
            </a:r>
            <a:r>
              <a:rPr lang="en-US" dirty="0">
                <a:solidFill>
                  <a:srgbClr val="000000"/>
                </a:solidFill>
                <a:latin typeface="CMR10" charset="0"/>
              </a:rPr>
              <a:t>)</a:t>
            </a:r>
          </a:p>
          <a:p>
            <a:pPr marL="265176" indent="-265176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dirty="0">
                <a:solidFill>
                  <a:srgbClr val="000000"/>
                </a:solidFill>
                <a:latin typeface="CMR10" charset="0"/>
              </a:rPr>
              <a:t>     where</a:t>
            </a:r>
          </a:p>
          <a:p>
            <a:pPr marL="265176" indent="-265176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dirty="0">
                <a:solidFill>
                  <a:srgbClr val="000000"/>
                </a:solidFill>
                <a:latin typeface="CMMI10" charset="0"/>
              </a:rPr>
              <a:t>                    x</a:t>
            </a:r>
            <a:r>
              <a:rPr lang="en-US" sz="2000" dirty="0">
                <a:solidFill>
                  <a:srgbClr val="000000"/>
                </a:solidFill>
                <a:latin typeface="CMMI7" charset="0"/>
              </a:rPr>
              <a:t>e</a:t>
            </a:r>
            <a:r>
              <a:rPr lang="en-US" dirty="0">
                <a:solidFill>
                  <a:srgbClr val="000000"/>
                </a:solidFill>
                <a:latin typeface="CMR10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MMI10" charset="0"/>
              </a:rPr>
              <a:t>t</a:t>
            </a:r>
            <a:r>
              <a:rPr lang="en-US" dirty="0">
                <a:solidFill>
                  <a:srgbClr val="000000"/>
                </a:solidFill>
                <a:latin typeface="CMR10" charset="0"/>
              </a:rPr>
              <a:t>) = </a:t>
            </a:r>
            <a:r>
              <a:rPr lang="en-US" dirty="0">
                <a:solidFill>
                  <a:srgbClr val="000000"/>
                </a:solidFill>
                <a:latin typeface="CMR7" charset="0"/>
              </a:rPr>
              <a:t>1/2</a:t>
            </a:r>
            <a:r>
              <a:rPr lang="en-US" dirty="0">
                <a:solidFill>
                  <a:srgbClr val="000000"/>
                </a:solidFill>
                <a:latin typeface="CMR10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MMI10" charset="0"/>
              </a:rPr>
              <a:t>x</a:t>
            </a:r>
            <a:r>
              <a:rPr lang="en-US" dirty="0">
                <a:solidFill>
                  <a:srgbClr val="000000"/>
                </a:solidFill>
                <a:latin typeface="CMR10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MMI10" charset="0"/>
              </a:rPr>
              <a:t>t</a:t>
            </a:r>
            <a:r>
              <a:rPr lang="en-US" dirty="0">
                <a:solidFill>
                  <a:srgbClr val="000000"/>
                </a:solidFill>
                <a:latin typeface="CMR10" charset="0"/>
              </a:rPr>
              <a:t>) + </a:t>
            </a:r>
            <a:r>
              <a:rPr lang="en-US" dirty="0">
                <a:solidFill>
                  <a:srgbClr val="000000"/>
                </a:solidFill>
                <a:latin typeface="CMMI10" charset="0"/>
              </a:rPr>
              <a:t>x</a:t>
            </a:r>
            <a:r>
              <a:rPr lang="en-US" dirty="0">
                <a:solidFill>
                  <a:srgbClr val="000000"/>
                </a:solidFill>
                <a:latin typeface="CMR10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MSY10" charset="0"/>
              </a:rPr>
              <a:t>−</a:t>
            </a:r>
            <a:r>
              <a:rPr lang="en-US" dirty="0">
                <a:solidFill>
                  <a:srgbClr val="000000"/>
                </a:solidFill>
                <a:latin typeface="CMMI10" charset="0"/>
              </a:rPr>
              <a:t>t</a:t>
            </a:r>
            <a:r>
              <a:rPr lang="en-US" dirty="0">
                <a:solidFill>
                  <a:srgbClr val="000000"/>
                </a:solidFill>
                <a:latin typeface="CMR10" charset="0"/>
              </a:rPr>
              <a:t>))</a:t>
            </a:r>
          </a:p>
          <a:p>
            <a:pPr marL="265176" indent="-265176" eaLnBrk="1" fontAlgn="auto" hangingPunct="1">
              <a:lnSpc>
                <a:spcPct val="90000"/>
              </a:lnSpc>
              <a:spcAft>
                <a:spcPts val="0"/>
              </a:spcAft>
              <a:buFontTx/>
              <a:buNone/>
              <a:defRPr/>
            </a:pPr>
            <a:r>
              <a:rPr lang="en-US" dirty="0">
                <a:solidFill>
                  <a:srgbClr val="000000"/>
                </a:solidFill>
                <a:latin typeface="CMMI10" charset="0"/>
              </a:rPr>
              <a:t>                    x</a:t>
            </a:r>
            <a:r>
              <a:rPr lang="en-US" sz="2000" dirty="0">
                <a:solidFill>
                  <a:srgbClr val="000000"/>
                </a:solidFill>
                <a:latin typeface="CMMI7" charset="0"/>
              </a:rPr>
              <a:t>o</a:t>
            </a:r>
            <a:r>
              <a:rPr lang="en-US" dirty="0">
                <a:solidFill>
                  <a:srgbClr val="000000"/>
                </a:solidFill>
                <a:latin typeface="CMR10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MMI10" charset="0"/>
              </a:rPr>
              <a:t>t</a:t>
            </a:r>
            <a:r>
              <a:rPr lang="en-US" dirty="0">
                <a:solidFill>
                  <a:srgbClr val="000000"/>
                </a:solidFill>
                <a:latin typeface="CMR10" charset="0"/>
              </a:rPr>
              <a:t>) = </a:t>
            </a:r>
            <a:r>
              <a:rPr lang="en-US" dirty="0">
                <a:solidFill>
                  <a:srgbClr val="000000"/>
                </a:solidFill>
                <a:latin typeface="CMR7" charset="0"/>
              </a:rPr>
              <a:t>1/2</a:t>
            </a:r>
            <a:r>
              <a:rPr lang="en-US" dirty="0">
                <a:solidFill>
                  <a:srgbClr val="000000"/>
                </a:solidFill>
                <a:latin typeface="CMR10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MMI10" charset="0"/>
              </a:rPr>
              <a:t>x</a:t>
            </a:r>
            <a:r>
              <a:rPr lang="en-US" dirty="0">
                <a:solidFill>
                  <a:srgbClr val="000000"/>
                </a:solidFill>
                <a:latin typeface="CMR10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MMI10" charset="0"/>
              </a:rPr>
              <a:t>t</a:t>
            </a:r>
            <a:r>
              <a:rPr lang="en-US" dirty="0">
                <a:solidFill>
                  <a:srgbClr val="000000"/>
                </a:solidFill>
                <a:latin typeface="CMR10" charset="0"/>
              </a:rPr>
              <a:t>) </a:t>
            </a:r>
            <a:r>
              <a:rPr lang="en-US" dirty="0">
                <a:solidFill>
                  <a:srgbClr val="000000"/>
                </a:solidFill>
                <a:latin typeface="CMSY10" charset="0"/>
              </a:rPr>
              <a:t>− </a:t>
            </a:r>
            <a:r>
              <a:rPr lang="en-US" dirty="0">
                <a:solidFill>
                  <a:srgbClr val="000000"/>
                </a:solidFill>
                <a:latin typeface="CMMI10" charset="0"/>
              </a:rPr>
              <a:t>x</a:t>
            </a:r>
            <a:r>
              <a:rPr lang="en-US" dirty="0">
                <a:solidFill>
                  <a:srgbClr val="000000"/>
                </a:solidFill>
                <a:latin typeface="CMR10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MSY10" charset="0"/>
              </a:rPr>
              <a:t>−</a:t>
            </a:r>
            <a:r>
              <a:rPr lang="en-US" dirty="0">
                <a:solidFill>
                  <a:srgbClr val="000000"/>
                </a:solidFill>
                <a:latin typeface="CMMI10" charset="0"/>
              </a:rPr>
              <a:t>t</a:t>
            </a:r>
            <a:r>
              <a:rPr lang="en-US" dirty="0">
                <a:solidFill>
                  <a:srgbClr val="000000"/>
                </a:solidFill>
                <a:latin typeface="CMR10" charset="0"/>
              </a:rPr>
              <a:t>))</a:t>
            </a:r>
            <a:endParaRPr lang="en-US" dirty="0">
              <a:solidFill>
                <a:srgbClr val="000000"/>
              </a:solidFill>
              <a:latin typeface="Arial" pitchFamily="34" charset="0"/>
            </a:endParaRPr>
          </a:p>
          <a:p>
            <a:pPr marL="265176" indent="-265176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"/>
              <a:defRPr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381000"/>
            <a:ext cx="647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spc="300" dirty="0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Even &amp; Odd Signals:</a:t>
            </a:r>
            <a:endParaRPr 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610600" cy="1143000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b="1" spc="300" dirty="0">
                <a:latin typeface="Times New Roman" pitchFamily="18" charset="0"/>
                <a:cs typeface="Times New Roman" pitchFamily="18" charset="0"/>
              </a:rPr>
              <a:t>Bounded &amp;Unbounded Signals:</a:t>
            </a:r>
          </a:p>
        </p:txBody>
      </p:sp>
      <p:pic>
        <p:nvPicPr>
          <p:cNvPr id="2560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269514" y="3158200"/>
            <a:ext cx="4923810" cy="1886213"/>
          </a:xfrm>
          <a:noFill/>
        </p:spPr>
      </p:pic>
      <p:sp>
        <p:nvSpPr>
          <p:cNvPr id="25603" name="Rectangle 3"/>
          <p:cNvSpPr>
            <a:spLocks noChangeArrowheads="1"/>
          </p:cNvSpPr>
          <p:nvPr/>
        </p:nvSpPr>
        <p:spPr bwMode="auto">
          <a:xfrm>
            <a:off x="0" y="1524000"/>
            <a:ext cx="8839200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bIns="0"/>
          <a:lstStyle/>
          <a:p>
            <a:pPr marL="342900" indent="-342900" algn="just">
              <a:lnSpc>
                <a:spcPct val="90000"/>
              </a:lnSpc>
              <a:spcBef>
                <a:spcPct val="25000"/>
              </a:spcBef>
              <a:spcAft>
                <a:spcPct val="15000"/>
              </a:spcAft>
              <a:buClr>
                <a:schemeClr val="tx2"/>
              </a:buClr>
              <a:buSzPct val="75000"/>
              <a:buFont typeface="Wingdings" pitchFamily="2" charset="2"/>
              <a:buChar char="l"/>
            </a:pPr>
            <a:r>
              <a:rPr lang="en-US" sz="2800" spc="300" dirty="0">
                <a:latin typeface="Times New Roman" pitchFamily="18" charset="0"/>
              </a:rPr>
              <a:t>Every system is bounded, but meaningful signal is always bounded</a:t>
            </a: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660400"/>
          </a:xfrm>
        </p:spPr>
        <p:txBody>
          <a:bodyPr>
            <a:normAutofit/>
          </a:bodyPr>
          <a:lstStyle/>
          <a:p>
            <a:pPr eaLnBrk="1" hangingPunct="1"/>
            <a:r>
              <a:rPr lang="en-US" b="1" dirty="0"/>
              <a:t>Power and Energy Signals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722313" y="1295400"/>
            <a:ext cx="3810000" cy="4572000"/>
          </a:xfrm>
        </p:spPr>
        <p:txBody>
          <a:bodyPr>
            <a:normAutofit/>
          </a:bodyPr>
          <a:lstStyle/>
          <a:p>
            <a:pPr eaLnBrk="1" hangingPunct="1">
              <a:buFont typeface="Wingdings" pitchFamily="2" charset="2"/>
              <a:buChar char="Ø"/>
            </a:pPr>
            <a:r>
              <a:rPr lang="en-US" sz="2400" dirty="0"/>
              <a:t>Power Signal</a:t>
            </a:r>
          </a:p>
          <a:p>
            <a:pPr lvl="1" eaLnBrk="1" hangingPunct="1"/>
            <a:r>
              <a:rPr lang="en-US" sz="2000" b="1" dirty="0"/>
              <a:t>Infinite duration</a:t>
            </a:r>
          </a:p>
          <a:p>
            <a:pPr lvl="1" eaLnBrk="1" hangingPunct="1"/>
            <a:r>
              <a:rPr lang="en-US" sz="2000" b="1" dirty="0"/>
              <a:t>Normalized power is finite and non-zero</a:t>
            </a:r>
          </a:p>
          <a:p>
            <a:pPr lvl="1" eaLnBrk="1" hangingPunct="1"/>
            <a:r>
              <a:rPr lang="en-US" sz="2000" b="1" dirty="0"/>
              <a:t>Normalized energy averaged over infinite time is infinite</a:t>
            </a:r>
          </a:p>
          <a:p>
            <a:pPr lvl="1" eaLnBrk="1" hangingPunct="1"/>
            <a:r>
              <a:rPr lang="en-US" sz="2000" b="1" dirty="0"/>
              <a:t>Mathematically tractable</a:t>
            </a:r>
          </a:p>
          <a:p>
            <a:pPr lvl="1" eaLnBrk="1" hangingPunct="1"/>
            <a:endParaRPr lang="en-US" b="1" dirty="0"/>
          </a:p>
          <a:p>
            <a:pPr lvl="1" eaLnBrk="1" hangingPunct="1"/>
            <a:endParaRPr lang="en-US" dirty="0"/>
          </a:p>
        </p:txBody>
      </p:sp>
      <p:sp>
        <p:nvSpPr>
          <p:cNvPr id="28676" name="Rectangle 4"/>
          <p:cNvSpPr>
            <a:spLocks noGrp="1" noChangeArrowheads="1"/>
          </p:cNvSpPr>
          <p:nvPr>
            <p:ph sz="half" idx="2"/>
          </p:nvPr>
        </p:nvSpPr>
        <p:spPr>
          <a:xfrm>
            <a:off x="4648200" y="1371600"/>
            <a:ext cx="3810000" cy="4953000"/>
          </a:xfrm>
        </p:spPr>
        <p:txBody>
          <a:bodyPr>
            <a:normAutofit/>
          </a:bodyPr>
          <a:lstStyle/>
          <a:p>
            <a:pPr eaLnBrk="1" hangingPunct="1">
              <a:buFont typeface="Wingdings" pitchFamily="2" charset="2"/>
              <a:buChar char="Ø"/>
            </a:pPr>
            <a:r>
              <a:rPr lang="en-US" sz="2400" dirty="0"/>
              <a:t>Energy Signal</a:t>
            </a:r>
          </a:p>
          <a:p>
            <a:pPr lvl="1" eaLnBrk="1" hangingPunct="1"/>
            <a:r>
              <a:rPr lang="en-US" sz="2000" b="1" dirty="0"/>
              <a:t>Finite duration</a:t>
            </a:r>
          </a:p>
          <a:p>
            <a:pPr lvl="1" eaLnBrk="1" hangingPunct="1"/>
            <a:r>
              <a:rPr lang="en-US" sz="2000" b="1" dirty="0"/>
              <a:t>Normalized energy is finite and non-zero</a:t>
            </a:r>
          </a:p>
          <a:p>
            <a:pPr lvl="1" eaLnBrk="1" hangingPunct="1"/>
            <a:r>
              <a:rPr lang="en-US" sz="2000" b="1" dirty="0"/>
              <a:t>Normalized power averaged over infinite time is zero</a:t>
            </a:r>
          </a:p>
          <a:p>
            <a:pPr lvl="1" eaLnBrk="1" hangingPunct="1"/>
            <a:r>
              <a:rPr lang="en-US" sz="2000" b="1" dirty="0"/>
              <a:t>Physically realizable</a:t>
            </a:r>
            <a:endParaRPr lang="en-US" sz="2000" dirty="0"/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Elementary signals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altLang="zh-TW" sz="3200" dirty="0"/>
              <a:t>Step function</a:t>
            </a:r>
          </a:p>
          <a:p>
            <a:pPr>
              <a:buFont typeface="Wingdings" pitchFamily="2" charset="2"/>
              <a:buChar char="Ø"/>
            </a:pPr>
            <a:r>
              <a:rPr lang="en-US" altLang="zh-TW" sz="3200" dirty="0"/>
              <a:t>Impulse function </a:t>
            </a:r>
          </a:p>
          <a:p>
            <a:pPr>
              <a:buFont typeface="Wingdings" pitchFamily="2" charset="2"/>
              <a:buChar char="Ø"/>
            </a:pPr>
            <a:r>
              <a:rPr lang="en-US" altLang="zh-TW" sz="3200" dirty="0"/>
              <a:t>Ramp function</a:t>
            </a: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143000"/>
            <a:ext cx="6447501" cy="3880773"/>
          </a:xfrm>
        </p:spPr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en-US" sz="2800" b="1" dirty="0">
                <a:latin typeface="Arial" pitchFamily="34" charset="0"/>
              </a:rPr>
              <a:t> Unit Step function:</a:t>
            </a:r>
          </a:p>
          <a:p>
            <a:pPr eaLnBrk="1" hangingPunct="1"/>
            <a:endParaRPr lang="en-US" dirty="0">
              <a:latin typeface="Arial" pitchFamily="34" charset="0"/>
            </a:endParaRPr>
          </a:p>
          <a:p>
            <a:pPr eaLnBrk="1" hangingPunct="1"/>
            <a:endParaRPr lang="en-US" dirty="0"/>
          </a:p>
        </p:txBody>
      </p:sp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2286000"/>
            <a:ext cx="63246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990600"/>
            <a:ext cx="6400800" cy="153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555" name="Rectangle 5"/>
          <p:cNvSpPr>
            <a:spLocks noChangeArrowheads="1"/>
          </p:cNvSpPr>
          <p:nvPr/>
        </p:nvSpPr>
        <p:spPr bwMode="auto">
          <a:xfrm>
            <a:off x="457200" y="2971800"/>
            <a:ext cx="35052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800" b="1" dirty="0">
                <a:latin typeface="Arial" pitchFamily="34" charset="0"/>
              </a:rPr>
              <a:t>Unit ramp function:</a:t>
            </a:r>
          </a:p>
        </p:txBody>
      </p:sp>
      <p:pic>
        <p:nvPicPr>
          <p:cNvPr id="23557" name="Picture 8"/>
          <p:cNvPicPr>
            <a:picLocks noGrp="1" noChangeAspect="1" noChangeArrowheads="1"/>
          </p:cNvPicPr>
          <p:nvPr>
            <p:ph idx="1"/>
          </p:nvPr>
        </p:nvPicPr>
        <p:blipFill>
          <a:blip r:embed="rId4" cstate="print"/>
          <a:stretch>
            <a:fillRect/>
          </a:stretch>
        </p:blipFill>
        <p:spPr>
          <a:xfrm>
            <a:off x="1828800" y="3810000"/>
            <a:ext cx="2971800" cy="2514600"/>
          </a:xfrm>
          <a:noFill/>
        </p:spPr>
      </p:pic>
      <p:sp>
        <p:nvSpPr>
          <p:cNvPr id="23558" name="Rectangle 5"/>
          <p:cNvSpPr>
            <a:spLocks noChangeArrowheads="1"/>
          </p:cNvSpPr>
          <p:nvPr/>
        </p:nvSpPr>
        <p:spPr bwMode="auto">
          <a:xfrm>
            <a:off x="304800" y="228600"/>
            <a:ext cx="4572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b="1" dirty="0">
                <a:latin typeface="Arial" pitchFamily="34" charset="0"/>
              </a:rPr>
              <a:t>Unit impulse function:</a:t>
            </a:r>
          </a:p>
        </p:txBody>
      </p:sp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050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6447501" cy="1320800"/>
          </a:xfrm>
        </p:spPr>
        <p:txBody>
          <a:bodyPr>
            <a:normAutofit/>
          </a:bodyPr>
          <a:lstStyle/>
          <a:p>
            <a:r>
              <a:rPr lang="en-GB" b="1" dirty="0">
                <a:latin typeface="Times New Roman" pitchFamily="18" charset="0"/>
                <a:cs typeface="Times New Roman" pitchFamily="18" charset="0"/>
              </a:rPr>
              <a:t>What is a System?</a:t>
            </a:r>
          </a:p>
        </p:txBody>
      </p:sp>
      <p:sp>
        <p:nvSpPr>
          <p:cNvPr id="39939" name="Rectangle 2051"/>
          <p:cNvSpPr>
            <a:spLocks noGrp="1" noChangeArrowheads="1"/>
          </p:cNvSpPr>
          <p:nvPr>
            <p:ph idx="1"/>
          </p:nvPr>
        </p:nvSpPr>
        <p:spPr>
          <a:xfrm>
            <a:off x="228601" y="1143000"/>
            <a:ext cx="8686800" cy="57150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Systems process input signals to produce output signals.</a:t>
            </a:r>
          </a:p>
          <a:p>
            <a:endParaRPr lang="en-GB" dirty="0"/>
          </a:p>
          <a:p>
            <a:r>
              <a:rPr lang="en-GB" sz="2800" b="1" dirty="0">
                <a:latin typeface="Times New Roman" pitchFamily="18" charset="0"/>
                <a:cs typeface="Times New Roman" pitchFamily="18" charset="0"/>
              </a:rPr>
              <a:t>Examples:</a:t>
            </a:r>
          </a:p>
          <a:p>
            <a:pPr lvl="1">
              <a:buFont typeface="Wingdings" pitchFamily="2" charset="2"/>
              <a:buChar char="Ø"/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A circuit involving a capacitor can be viewed as a system that transforms the source voltage (signal) to the voltage (signal) across the capacitor</a:t>
            </a:r>
          </a:p>
          <a:p>
            <a:pPr lvl="1">
              <a:buFont typeface="Wingdings" pitchFamily="2" charset="2"/>
              <a:buChar char="Ø"/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A CD player takes the signal on the CD and transforms it into a signal sent to the loud speaker</a:t>
            </a:r>
          </a:p>
          <a:p>
            <a:pPr lvl="1">
              <a:buFont typeface="Wingdings" pitchFamily="2" charset="2"/>
              <a:buChar char="Ø"/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A communication system is generally composed of three sub-systems, the transmitter, the channel and the receiver.  The channel typically attenuates and adds noise to the transmitted signal which must be processed by the receiver</a:t>
            </a:r>
          </a:p>
        </p:txBody>
      </p:sp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050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915400" cy="1320800"/>
          </a:xfrm>
        </p:spPr>
        <p:txBody>
          <a:bodyPr/>
          <a:lstStyle/>
          <a:p>
            <a:r>
              <a:rPr lang="en-GB" b="1" dirty="0"/>
              <a:t>How is a System Represented?</a:t>
            </a:r>
          </a:p>
        </p:txBody>
      </p:sp>
      <p:sp>
        <p:nvSpPr>
          <p:cNvPr id="45059" name="Rectangle 2051"/>
          <p:cNvSpPr>
            <a:spLocks noGrp="1" noChangeArrowheads="1"/>
          </p:cNvSpPr>
          <p:nvPr>
            <p:ph idx="1"/>
          </p:nvPr>
        </p:nvSpPr>
        <p:spPr>
          <a:xfrm>
            <a:off x="228600" y="1066800"/>
            <a:ext cx="8610600" cy="548640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Ø"/>
            </a:pPr>
            <a:r>
              <a:rPr lang="en-GB" sz="2400" dirty="0"/>
              <a:t>A system takes a signal as an input and transforms it into another signal</a:t>
            </a:r>
          </a:p>
          <a:p>
            <a:pPr>
              <a:lnSpc>
                <a:spcPct val="90000"/>
              </a:lnSpc>
              <a:buFont typeface="Wingdings" pitchFamily="2" charset="2"/>
              <a:buChar char="Ø"/>
            </a:pPr>
            <a:endParaRPr lang="en-GB" sz="2400" dirty="0"/>
          </a:p>
          <a:p>
            <a:pPr>
              <a:lnSpc>
                <a:spcPct val="90000"/>
              </a:lnSpc>
              <a:buFont typeface="Wingdings" pitchFamily="2" charset="2"/>
              <a:buChar char="Ø"/>
            </a:pPr>
            <a:endParaRPr lang="en-GB" sz="2400" dirty="0"/>
          </a:p>
          <a:p>
            <a:pPr>
              <a:lnSpc>
                <a:spcPct val="90000"/>
              </a:lnSpc>
              <a:buFont typeface="Wingdings" pitchFamily="2" charset="2"/>
              <a:buChar char="Ø"/>
            </a:pPr>
            <a:endParaRPr lang="en-GB" sz="2400" dirty="0"/>
          </a:p>
          <a:p>
            <a:pPr>
              <a:lnSpc>
                <a:spcPct val="90000"/>
              </a:lnSpc>
              <a:buFont typeface="Wingdings" pitchFamily="2" charset="2"/>
              <a:buChar char="Ø"/>
            </a:pPr>
            <a:endParaRPr lang="en-GB" sz="2400" dirty="0"/>
          </a:p>
          <a:p>
            <a:pPr>
              <a:lnSpc>
                <a:spcPct val="90000"/>
              </a:lnSpc>
              <a:buFont typeface="Wingdings" pitchFamily="2" charset="2"/>
              <a:buChar char="Ø"/>
            </a:pPr>
            <a:endParaRPr lang="en-GB" sz="2400" dirty="0"/>
          </a:p>
          <a:p>
            <a:pPr>
              <a:lnSpc>
                <a:spcPct val="90000"/>
              </a:lnSpc>
              <a:buFont typeface="Wingdings" pitchFamily="2" charset="2"/>
              <a:buChar char="Ø"/>
            </a:pPr>
            <a:r>
              <a:rPr lang="en-GB" sz="2400" dirty="0"/>
              <a:t>In a very broad sense, a system can be represented as the ratio of the output signal over the input signal</a:t>
            </a:r>
          </a:p>
          <a:p>
            <a:pPr>
              <a:lnSpc>
                <a:spcPct val="90000"/>
              </a:lnSpc>
              <a:buFont typeface="Wingdings" pitchFamily="2" charset="2"/>
              <a:buChar char="Ø"/>
            </a:pPr>
            <a:endParaRPr lang="en-GB" sz="2400" dirty="0"/>
          </a:p>
          <a:p>
            <a:pPr lvl="1">
              <a:lnSpc>
                <a:spcPct val="90000"/>
              </a:lnSpc>
              <a:buFont typeface="Wingdings" pitchFamily="2" charset="2"/>
              <a:buChar char="Ø"/>
            </a:pPr>
            <a:r>
              <a:rPr lang="en-GB" sz="2000" dirty="0"/>
              <a:t>That way, when we “multiply” the system by the input signal, we get the output signal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Ø"/>
            </a:pPr>
            <a:r>
              <a:rPr lang="en-GB" sz="2000" dirty="0"/>
              <a:t>This concept will be firmed up in the coming weeks</a:t>
            </a:r>
          </a:p>
        </p:txBody>
      </p:sp>
      <p:sp>
        <p:nvSpPr>
          <p:cNvPr id="45060" name="Rectangle 2052"/>
          <p:cNvSpPr>
            <a:spLocks noChangeArrowheads="1"/>
          </p:cNvSpPr>
          <p:nvPr/>
        </p:nvSpPr>
        <p:spPr bwMode="auto">
          <a:xfrm>
            <a:off x="3386138" y="2133600"/>
            <a:ext cx="2209800" cy="1143000"/>
          </a:xfrm>
          <a:prstGeom prst="rect">
            <a:avLst/>
          </a:prstGeom>
          <a:solidFill>
            <a:srgbClr val="C0C0C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buFontTx/>
              <a:buNone/>
            </a:pPr>
            <a:r>
              <a:rPr lang="en-US" sz="2400" i="0" dirty="0"/>
              <a:t>System</a:t>
            </a:r>
            <a:endParaRPr lang="en-GB" sz="2400" i="0" dirty="0"/>
          </a:p>
        </p:txBody>
      </p:sp>
      <p:cxnSp>
        <p:nvCxnSpPr>
          <p:cNvPr id="45062" name="AutoShape 2054"/>
          <p:cNvCxnSpPr>
            <a:cxnSpLocks noChangeShapeType="1"/>
            <a:endCxn id="45060" idx="1"/>
          </p:cNvCxnSpPr>
          <p:nvPr/>
        </p:nvCxnSpPr>
        <p:spPr bwMode="auto">
          <a:xfrm>
            <a:off x="1600200" y="2705100"/>
            <a:ext cx="1776413" cy="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45063" name="AutoShape 2055"/>
          <p:cNvCxnSpPr>
            <a:cxnSpLocks noChangeShapeType="1"/>
            <a:stCxn id="45060" idx="3"/>
          </p:cNvCxnSpPr>
          <p:nvPr/>
        </p:nvCxnSpPr>
        <p:spPr bwMode="auto">
          <a:xfrm flipV="1">
            <a:off x="5605463" y="2697163"/>
            <a:ext cx="1768475" cy="7937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45064" name="Text Box 2056"/>
          <p:cNvSpPr txBox="1">
            <a:spLocks noChangeArrowheads="1"/>
          </p:cNvSpPr>
          <p:nvPr/>
        </p:nvSpPr>
        <p:spPr bwMode="auto">
          <a:xfrm>
            <a:off x="1143000" y="2263775"/>
            <a:ext cx="1854200" cy="88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buFontTx/>
              <a:buNone/>
            </a:pPr>
            <a:r>
              <a:rPr lang="en-US" sz="2400" i="0" dirty="0"/>
              <a:t>Input signal</a:t>
            </a:r>
          </a:p>
          <a:p>
            <a:pPr algn="r">
              <a:buFontTx/>
              <a:buNone/>
            </a:pPr>
            <a:endParaRPr lang="en-US" sz="400" i="0" dirty="0"/>
          </a:p>
          <a:p>
            <a:pPr algn="r">
              <a:buFontTx/>
              <a:buNone/>
            </a:pPr>
            <a:r>
              <a:rPr lang="en-US" sz="2400" dirty="0"/>
              <a:t>x</a:t>
            </a:r>
            <a:r>
              <a:rPr lang="en-US" sz="2400" i="0" dirty="0"/>
              <a:t>(</a:t>
            </a:r>
            <a:r>
              <a:rPr lang="en-US" sz="2400" dirty="0"/>
              <a:t>t</a:t>
            </a:r>
            <a:r>
              <a:rPr lang="en-US" sz="2400" i="0" dirty="0"/>
              <a:t>)</a:t>
            </a:r>
            <a:endParaRPr lang="en-GB" sz="2400" i="0" dirty="0"/>
          </a:p>
        </p:txBody>
      </p:sp>
      <p:sp>
        <p:nvSpPr>
          <p:cNvPr id="45065" name="Text Box 2057"/>
          <p:cNvSpPr txBox="1">
            <a:spLocks noChangeArrowheads="1"/>
          </p:cNvSpPr>
          <p:nvPr/>
        </p:nvSpPr>
        <p:spPr bwMode="auto">
          <a:xfrm>
            <a:off x="5748338" y="2263775"/>
            <a:ext cx="2176462" cy="88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Tx/>
              <a:buNone/>
            </a:pPr>
            <a:r>
              <a:rPr lang="en-US" sz="2400" i="0" dirty="0"/>
              <a:t>Output signal</a:t>
            </a:r>
          </a:p>
          <a:p>
            <a:pPr>
              <a:buFontTx/>
              <a:buNone/>
            </a:pPr>
            <a:endParaRPr lang="en-US" sz="400" i="0" dirty="0"/>
          </a:p>
          <a:p>
            <a:pPr>
              <a:buFontTx/>
              <a:buNone/>
            </a:pPr>
            <a:r>
              <a:rPr lang="en-US" sz="2400" dirty="0"/>
              <a:t>y</a:t>
            </a:r>
            <a:r>
              <a:rPr lang="en-US" sz="2400" i="0" dirty="0"/>
              <a:t>(</a:t>
            </a:r>
            <a:r>
              <a:rPr lang="en-US" sz="2400" dirty="0"/>
              <a:t>t</a:t>
            </a:r>
            <a:r>
              <a:rPr lang="en-US" sz="2400" i="0" dirty="0"/>
              <a:t>)</a:t>
            </a:r>
            <a:endParaRPr lang="en-GB" sz="2400" i="0" dirty="0"/>
          </a:p>
        </p:txBody>
      </p:sp>
    </p:spTree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GB" sz="4000" dirty="0"/>
              <a:t>Types of Systems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447800"/>
            <a:ext cx="8229600" cy="4114800"/>
          </a:xfrm>
        </p:spPr>
        <p:txBody>
          <a:bodyPr/>
          <a:lstStyle/>
          <a:p>
            <a:pPr algn="just" eaLnBrk="1" hangingPunct="1">
              <a:defRPr/>
            </a:pPr>
            <a:r>
              <a:rPr lang="en-GB" sz="2800" dirty="0">
                <a:latin typeface="+mj-lt"/>
              </a:rPr>
              <a:t>Causal &amp; Non-causal</a:t>
            </a:r>
          </a:p>
          <a:p>
            <a:pPr algn="just" eaLnBrk="1" hangingPunct="1">
              <a:defRPr/>
            </a:pPr>
            <a:r>
              <a:rPr lang="en-GB" sz="2800" dirty="0">
                <a:latin typeface="+mj-lt"/>
              </a:rPr>
              <a:t>Linear &amp; Non Linear</a:t>
            </a:r>
          </a:p>
          <a:p>
            <a:pPr algn="just" eaLnBrk="1" hangingPunct="1">
              <a:defRPr/>
            </a:pPr>
            <a:r>
              <a:rPr lang="en-GB" sz="2800" dirty="0">
                <a:latin typeface="+mj-lt"/>
              </a:rPr>
              <a:t>Time Variant &amp;Time-invariant</a:t>
            </a:r>
          </a:p>
          <a:p>
            <a:pPr>
              <a:defRPr/>
            </a:pPr>
            <a:r>
              <a:rPr lang="en-US" sz="2800" dirty="0">
                <a:latin typeface="+mj-lt"/>
              </a:rPr>
              <a:t>Stable &amp; Unstable </a:t>
            </a:r>
          </a:p>
          <a:p>
            <a:pPr>
              <a:defRPr/>
            </a:pPr>
            <a:r>
              <a:rPr lang="en-US" sz="2800" dirty="0">
                <a:latin typeface="+mj-lt"/>
              </a:rPr>
              <a:t>Static &amp; Dynamic</a:t>
            </a:r>
          </a:p>
          <a:p>
            <a:pPr algn="just" eaLnBrk="1" hangingPunct="1">
              <a:buNone/>
              <a:defRPr/>
            </a:pPr>
            <a:endParaRPr lang="en-US" sz="2800" dirty="0"/>
          </a:p>
        </p:txBody>
      </p:sp>
    </p:spTree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3600" b="1" dirty="0">
                <a:solidFill>
                  <a:schemeClr val="accent2">
                    <a:lumMod val="75000"/>
                  </a:schemeClr>
                </a:solidFill>
                <a:ea typeface="Gulim" pitchFamily="34" charset="-127"/>
              </a:rPr>
              <a:t>Causal Systems</a:t>
            </a:r>
            <a:endParaRPr lang="en-US" altLang="ko-KR" sz="3600" dirty="0">
              <a:solidFill>
                <a:schemeClr val="accent2">
                  <a:lumMod val="75000"/>
                </a:schemeClr>
              </a:solidFill>
              <a:ea typeface="Gulim" pitchFamily="34" charset="-127"/>
            </a:endParaRP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76400"/>
            <a:ext cx="7772400" cy="4114800"/>
          </a:xfrm>
        </p:spPr>
        <p:txBody>
          <a:bodyPr/>
          <a:lstStyle/>
          <a:p>
            <a:pPr algn="just" eaLnBrk="1" hangingPunct="1"/>
            <a:r>
              <a:rPr lang="en-US" altLang="ko-KR" sz="2800" dirty="0">
                <a:ea typeface="Gulim" pitchFamily="34" charset="-127"/>
              </a:rPr>
              <a:t>Causal system : A system is said to be </a:t>
            </a:r>
            <a:r>
              <a:rPr lang="en-US" altLang="ko-KR" sz="2800" i="1" dirty="0">
                <a:solidFill>
                  <a:schemeClr val="tx1"/>
                </a:solidFill>
                <a:ea typeface="Gulim" pitchFamily="34" charset="-127"/>
              </a:rPr>
              <a:t>causal</a:t>
            </a:r>
            <a:r>
              <a:rPr lang="en-US" altLang="ko-KR" sz="2800" dirty="0">
                <a:ea typeface="Gulim" pitchFamily="34" charset="-127"/>
              </a:rPr>
              <a:t> if the present value of the output signal depends only on the present and/or past values of the input signal.</a:t>
            </a:r>
          </a:p>
          <a:p>
            <a:pPr algn="just" eaLnBrk="1" hangingPunct="1"/>
            <a:r>
              <a:rPr lang="en-US" altLang="ko-KR" sz="2800" dirty="0">
                <a:ea typeface="Gulim" pitchFamily="34" charset="-127"/>
              </a:rPr>
              <a:t>Example:    </a:t>
            </a:r>
            <a:r>
              <a:rPr lang="en-US" altLang="ko-KR" sz="2800" i="1" dirty="0">
                <a:ea typeface="Gulim" pitchFamily="34" charset="-127"/>
              </a:rPr>
              <a:t>y</a:t>
            </a:r>
            <a:r>
              <a:rPr lang="en-US" altLang="ko-KR" sz="2800" dirty="0">
                <a:ea typeface="Gulim" pitchFamily="34" charset="-127"/>
              </a:rPr>
              <a:t>[</a:t>
            </a:r>
            <a:r>
              <a:rPr lang="en-US" altLang="ko-KR" sz="2800" i="1" dirty="0">
                <a:ea typeface="Gulim" pitchFamily="34" charset="-127"/>
              </a:rPr>
              <a:t>n</a:t>
            </a:r>
            <a:r>
              <a:rPr lang="en-US" altLang="ko-KR" sz="2800" dirty="0">
                <a:ea typeface="Gulim" pitchFamily="34" charset="-127"/>
              </a:rPr>
              <a:t>]=</a:t>
            </a:r>
            <a:r>
              <a:rPr lang="en-US" altLang="ko-KR" sz="2800" i="1" dirty="0">
                <a:ea typeface="Gulim" pitchFamily="34" charset="-127"/>
              </a:rPr>
              <a:t>x</a:t>
            </a:r>
            <a:r>
              <a:rPr lang="en-US" altLang="ko-KR" sz="2800" dirty="0">
                <a:ea typeface="Gulim" pitchFamily="34" charset="-127"/>
              </a:rPr>
              <a:t>[</a:t>
            </a:r>
            <a:r>
              <a:rPr lang="en-US" altLang="ko-KR" sz="2800" i="1" dirty="0">
                <a:ea typeface="Gulim" pitchFamily="34" charset="-127"/>
              </a:rPr>
              <a:t>n</a:t>
            </a:r>
            <a:r>
              <a:rPr lang="en-US" altLang="ko-KR" sz="2800" dirty="0">
                <a:ea typeface="Gulim" pitchFamily="34" charset="-127"/>
              </a:rPr>
              <a:t>]+1/2</a:t>
            </a:r>
            <a:r>
              <a:rPr lang="en-US" altLang="ko-KR" sz="2800" i="1" dirty="0">
                <a:ea typeface="Gulim" pitchFamily="34" charset="-127"/>
              </a:rPr>
              <a:t>x</a:t>
            </a:r>
            <a:r>
              <a:rPr lang="en-US" altLang="ko-KR" sz="2800" dirty="0">
                <a:ea typeface="Gulim" pitchFamily="34" charset="-127"/>
              </a:rPr>
              <a:t>[</a:t>
            </a:r>
            <a:r>
              <a:rPr lang="en-US" altLang="ko-KR" sz="2800" i="1" dirty="0">
                <a:ea typeface="Gulim" pitchFamily="34" charset="-127"/>
              </a:rPr>
              <a:t>n</a:t>
            </a:r>
            <a:r>
              <a:rPr lang="en-US" altLang="ko-KR" sz="2800" dirty="0">
                <a:ea typeface="Gulim" pitchFamily="34" charset="-127"/>
              </a:rPr>
              <a:t>-1]</a:t>
            </a:r>
          </a:p>
          <a:p>
            <a:pPr algn="just" eaLnBrk="1" hangingPunct="1">
              <a:buFontTx/>
              <a:buNone/>
            </a:pPr>
            <a:r>
              <a:rPr lang="en-US" altLang="ko-KR" sz="2800" dirty="0">
                <a:ea typeface="Gulim" pitchFamily="34" charset="-127"/>
              </a:rPr>
              <a:t>    </a:t>
            </a:r>
          </a:p>
          <a:p>
            <a:pPr eaLnBrk="1" hangingPunct="1">
              <a:buFontTx/>
              <a:buNone/>
            </a:pPr>
            <a:r>
              <a:rPr lang="en-US" altLang="ko-KR" dirty="0">
                <a:ea typeface="Gulim" pitchFamily="34" charset="-127"/>
              </a:rPr>
              <a:t>   </a:t>
            </a:r>
          </a:p>
        </p:txBody>
      </p:sp>
    </p:spTree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  <a:ea typeface="Gulim" pitchFamily="34" charset="-127"/>
              </a:rPr>
              <a:t>Non-</a:t>
            </a:r>
            <a:r>
              <a:rPr lang="en-US" altLang="ko-KR" sz="3600" b="1" dirty="0">
                <a:solidFill>
                  <a:schemeClr val="accent2">
                    <a:lumMod val="75000"/>
                  </a:schemeClr>
                </a:solidFill>
                <a:ea typeface="Gulim" pitchFamily="34" charset="-127"/>
              </a:rPr>
              <a:t>causal Systems</a:t>
            </a:r>
            <a:endParaRPr lang="en-US" sz="3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2947" name="Content Placeholder 2"/>
          <p:cNvSpPr>
            <a:spLocks noGrp="1"/>
          </p:cNvSpPr>
          <p:nvPr>
            <p:ph idx="1"/>
          </p:nvPr>
        </p:nvSpPr>
        <p:spPr>
          <a:xfrm>
            <a:off x="609600" y="1676400"/>
            <a:ext cx="7772400" cy="4114800"/>
          </a:xfrm>
        </p:spPr>
        <p:txBody>
          <a:bodyPr/>
          <a:lstStyle/>
          <a:p>
            <a:r>
              <a:rPr lang="en-US" altLang="ko-KR" sz="2800" dirty="0">
                <a:latin typeface="Times New Roman" pitchFamily="18" charset="0"/>
                <a:ea typeface="Gulim" pitchFamily="34" charset="-127"/>
                <a:cs typeface="Times New Roman" pitchFamily="18" charset="0"/>
              </a:rPr>
              <a:t>Non-causal system : A system is said to be anticausal if the present value of the output signal depends only on the future values of the input signal.</a:t>
            </a: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Example:</a:t>
            </a:r>
            <a:r>
              <a:rPr lang="en-US" altLang="ko-KR" sz="2800" dirty="0">
                <a:latin typeface="Times New Roman" pitchFamily="18" charset="0"/>
                <a:ea typeface="Gulim" pitchFamily="34" charset="-127"/>
                <a:cs typeface="Times New Roman" pitchFamily="18" charset="0"/>
              </a:rPr>
              <a:t> y[n]=x[n+1]+1/2x[n-1</a:t>
            </a:r>
            <a:r>
              <a:rPr lang="en-US" altLang="ko-KR" sz="2800" dirty="0">
                <a:ea typeface="Gulim" pitchFamily="34" charset="-127"/>
              </a:rPr>
              <a:t>]</a:t>
            </a:r>
            <a:endParaRPr lang="en-US" dirty="0"/>
          </a:p>
        </p:txBody>
      </p:sp>
    </p:spTree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4572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ko-KR" sz="3600" b="1" dirty="0">
                <a:solidFill>
                  <a:schemeClr val="accent2">
                    <a:lumMod val="75000"/>
                  </a:schemeClr>
                </a:solidFill>
                <a:ea typeface="Gulim" pitchFamily="34" charset="-127"/>
              </a:rPr>
              <a:t>Linear &amp; Non Linear Systems</a:t>
            </a:r>
            <a:endParaRPr lang="en-US" altLang="ko-KR" sz="3600" dirty="0">
              <a:solidFill>
                <a:schemeClr val="accent2">
                  <a:lumMod val="75000"/>
                </a:schemeClr>
              </a:solidFill>
              <a:ea typeface="Gulim" pitchFamily="34" charset="-127"/>
            </a:endParaRP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772400" cy="4495800"/>
          </a:xfrm>
        </p:spPr>
        <p:txBody>
          <a:bodyPr>
            <a:normAutofit lnSpcReduction="10000"/>
          </a:bodyPr>
          <a:lstStyle/>
          <a:p>
            <a:pPr algn="just" eaLnBrk="1" hangingPunct="1"/>
            <a:r>
              <a:rPr lang="en-US" altLang="ko-KR" sz="2800" dirty="0">
                <a:ea typeface="Gulim" pitchFamily="34" charset="-127"/>
              </a:rPr>
              <a:t>A system is said to be linear if it satisfies the principle of superposition</a:t>
            </a:r>
          </a:p>
          <a:p>
            <a:pPr algn="just" eaLnBrk="1" hangingPunct="1"/>
            <a:r>
              <a:rPr lang="en-US" altLang="ko-KR" sz="2800" dirty="0">
                <a:ea typeface="Gulim" pitchFamily="34" charset="-127"/>
              </a:rPr>
              <a:t>For checking the linearity of the given system, firstly we check the response due to linear combination of inputs </a:t>
            </a:r>
          </a:p>
          <a:p>
            <a:pPr algn="just" eaLnBrk="1" hangingPunct="1"/>
            <a:r>
              <a:rPr lang="en-US" altLang="ko-KR" sz="2800" dirty="0">
                <a:ea typeface="Gulim" pitchFamily="34" charset="-127"/>
              </a:rPr>
              <a:t>Then we combine the two outputs linearly in the same manner as the inputs are combined and again total response is checked</a:t>
            </a:r>
          </a:p>
          <a:p>
            <a:pPr algn="just" eaLnBrk="1" hangingPunct="1"/>
            <a:r>
              <a:rPr lang="en-US" altLang="ko-KR" sz="2800" dirty="0">
                <a:ea typeface="Gulim" pitchFamily="34" charset="-127"/>
              </a:rPr>
              <a:t>If response in step 2 and 3 are the same,the system is linear othewise it is non linear.</a:t>
            </a:r>
          </a:p>
        </p:txBody>
      </p:sp>
      <p:sp>
        <p:nvSpPr>
          <p:cNvPr id="83972" name="Rectangle 4"/>
          <p:cNvSpPr>
            <a:spLocks noChangeArrowheads="1"/>
          </p:cNvSpPr>
          <p:nvPr/>
        </p:nvSpPr>
        <p:spPr bwMode="auto">
          <a:xfrm>
            <a:off x="0" y="27670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>
          <a:xfrm>
            <a:off x="508001" y="609600"/>
            <a:ext cx="8407399" cy="1320800"/>
          </a:xfrm>
        </p:spPr>
        <p:txBody>
          <a:bodyPr/>
          <a:lstStyle/>
          <a:p>
            <a:pPr eaLnBrk="1" hangingPunct="1"/>
            <a:r>
              <a:rPr lang="en-US" altLang="ko-KR" sz="3600" b="1" i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ea typeface="Gulim" pitchFamily="34" charset="-127"/>
                <a:cs typeface="Times New Roman" pitchFamily="18" charset="0"/>
              </a:rPr>
              <a:t>Time  Invariant and Time Variant Systems</a:t>
            </a:r>
            <a:endParaRPr lang="en-US" altLang="ko-KR" sz="3600" i="1" dirty="0">
              <a:solidFill>
                <a:schemeClr val="accent2">
                  <a:lumMod val="75000"/>
                </a:schemeClr>
              </a:solidFill>
              <a:latin typeface="Times New Roman" pitchFamily="18" charset="0"/>
              <a:ea typeface="Gulim" pitchFamily="34" charset="-127"/>
              <a:cs typeface="Times New Roman" pitchFamily="18" charset="0"/>
            </a:endParaRPr>
          </a:p>
        </p:txBody>
      </p:sp>
      <p:sp>
        <p:nvSpPr>
          <p:cNvPr id="307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5474" y="1371600"/>
            <a:ext cx="6447501" cy="3880773"/>
          </a:xfrm>
        </p:spPr>
        <p:txBody>
          <a:bodyPr/>
          <a:lstStyle/>
          <a:p>
            <a:pPr algn="just" eaLnBrk="1" hangingPunct="1"/>
            <a:r>
              <a:rPr lang="en-US" altLang="ko-KR" sz="2800" dirty="0">
                <a:ea typeface="Gulim" pitchFamily="34" charset="-127"/>
              </a:rPr>
              <a:t>A system is said to be </a:t>
            </a:r>
            <a:r>
              <a:rPr lang="en-US" altLang="ko-KR" sz="2800" i="1" dirty="0">
                <a:ea typeface="Gulim" pitchFamily="34" charset="-127"/>
              </a:rPr>
              <a:t>time invariant</a:t>
            </a:r>
            <a:r>
              <a:rPr lang="en-US" altLang="ko-KR" sz="2800" dirty="0">
                <a:ea typeface="Gulim" pitchFamily="34" charset="-127"/>
              </a:rPr>
              <a:t> if a time delay or time advance of the input signal leads to a identical time shift in the output signal.</a:t>
            </a:r>
          </a:p>
        </p:txBody>
      </p:sp>
      <p:sp>
        <p:nvSpPr>
          <p:cNvPr id="30726" name="Rectangle 4"/>
          <p:cNvSpPr>
            <a:spLocks noChangeArrowheads="1"/>
          </p:cNvSpPr>
          <p:nvPr/>
        </p:nvSpPr>
        <p:spPr bwMode="auto">
          <a:xfrm>
            <a:off x="0" y="32004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dirty="0"/>
          </a:p>
        </p:txBody>
      </p:sp>
      <p:graphicFrame>
        <p:nvGraphicFramePr>
          <p:cNvPr id="3072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0528061"/>
              </p:ext>
            </p:extLst>
          </p:nvPr>
        </p:nvGraphicFramePr>
        <p:xfrm>
          <a:off x="2057399" y="3289448"/>
          <a:ext cx="3803650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02" name="Equation" r:id="rId3" imgW="1778000" imgH="457200" progId="">
                  <p:embed/>
                </p:oleObj>
              </mc:Choice>
              <mc:Fallback>
                <p:oleObj name="Equation" r:id="rId3" imgW="1778000" imgH="457200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399" y="3289448"/>
                        <a:ext cx="3803650" cy="976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7" name="Rectangle 6"/>
          <p:cNvSpPr>
            <a:spLocks noChangeArrowheads="1"/>
          </p:cNvSpPr>
          <p:nvPr/>
        </p:nvSpPr>
        <p:spPr bwMode="auto">
          <a:xfrm>
            <a:off x="0" y="31861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dirty="0"/>
          </a:p>
        </p:txBody>
      </p:sp>
      <p:graphicFrame>
        <p:nvGraphicFramePr>
          <p:cNvPr id="307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3106257"/>
              </p:ext>
            </p:extLst>
          </p:nvPr>
        </p:nvGraphicFramePr>
        <p:xfrm>
          <a:off x="2154011" y="4441827"/>
          <a:ext cx="3763963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03" name="Equation" r:id="rId5" imgW="1803400" imgH="482600" progId="">
                  <p:embed/>
                </p:oleObj>
              </mc:Choice>
              <mc:Fallback>
                <p:oleObj name="Equation" r:id="rId5" imgW="1803400" imgH="482600" progId="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4011" y="4441827"/>
                        <a:ext cx="3763963" cy="1016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rtl="0" eaLnBrk="1" hangingPunct="1"/>
            <a:r>
              <a:rPr lang="en-US" b="1" i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	Linear Time-Invariant Systems</a:t>
            </a:r>
            <a:endParaRPr lang="fa-IR" b="1" i="1" dirty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22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9750" y="1557338"/>
            <a:ext cx="8291513" cy="4525962"/>
          </a:xfrm>
        </p:spPr>
        <p:txBody>
          <a:bodyPr/>
          <a:lstStyle/>
          <a:p>
            <a:pPr algn="l" rtl="0">
              <a:tabLst>
                <a:tab pos="182563" algn="l"/>
              </a:tabLst>
            </a:pPr>
            <a:r>
              <a:rPr lang="en-US" sz="2400" dirty="0">
                <a:latin typeface="Cambria" pitchFamily="18" charset="0"/>
              </a:rPr>
              <a:t>Special importance for their mathematical tractability</a:t>
            </a:r>
          </a:p>
          <a:p>
            <a:pPr algn="l" rtl="0">
              <a:tabLst>
                <a:tab pos="182563" algn="l"/>
              </a:tabLst>
            </a:pPr>
            <a:r>
              <a:rPr lang="en-US" sz="2400" dirty="0">
                <a:latin typeface="Cambria" pitchFamily="18" charset="0"/>
              </a:rPr>
              <a:t>Most signal processing applications involve LTI systems</a:t>
            </a:r>
          </a:p>
          <a:p>
            <a:pPr algn="l" rtl="0">
              <a:tabLst>
                <a:tab pos="182563" algn="l"/>
              </a:tabLst>
            </a:pPr>
            <a:r>
              <a:rPr lang="en-US" sz="2400" dirty="0">
                <a:latin typeface="Cambria" pitchFamily="18" charset="0"/>
              </a:rPr>
              <a:t>LTI system can be completely characterized by their impulse response</a:t>
            </a:r>
          </a:p>
          <a:p>
            <a:pPr algn="l" rtl="0">
              <a:tabLst>
                <a:tab pos="182563" algn="l"/>
              </a:tabLst>
            </a:pPr>
            <a:endParaRPr lang="en-US" sz="2400" dirty="0"/>
          </a:p>
          <a:p>
            <a:pPr algn="l" rtl="0">
              <a:tabLst>
                <a:tab pos="182563" algn="l"/>
              </a:tabLst>
            </a:pPr>
            <a:endParaRPr lang="en-US" sz="2400" dirty="0"/>
          </a:p>
          <a:p>
            <a:pPr algn="l" rtl="0">
              <a:tabLst>
                <a:tab pos="182563" algn="l"/>
              </a:tabLst>
            </a:pPr>
            <a:endParaRPr lang="en-US" sz="2400" dirty="0"/>
          </a:p>
        </p:txBody>
      </p:sp>
      <p:graphicFrame>
        <p:nvGraphicFramePr>
          <p:cNvPr id="9218" name="Object 7"/>
          <p:cNvGraphicFramePr>
            <a:graphicFrameLocks noChangeAspect="1"/>
          </p:cNvGraphicFramePr>
          <p:nvPr/>
        </p:nvGraphicFramePr>
        <p:xfrm>
          <a:off x="1697038" y="3255963"/>
          <a:ext cx="5735637" cy="161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50" name="Equation" r:id="rId3" imgW="3251160" imgH="914400" progId="">
                  <p:embed/>
                </p:oleObj>
              </mc:Choice>
              <mc:Fallback>
                <p:oleObj name="Equation" r:id="rId3" imgW="3251160" imgH="914400" progId="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7038" y="3255963"/>
                        <a:ext cx="5735637" cy="161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9" name="Object 8"/>
          <p:cNvGraphicFramePr>
            <a:graphicFrameLocks noChangeAspect="1"/>
          </p:cNvGraphicFramePr>
          <p:nvPr/>
        </p:nvGraphicFramePr>
        <p:xfrm>
          <a:off x="2630488" y="4972050"/>
          <a:ext cx="3741737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51" name="Equation" r:id="rId5" imgW="2120760" imgH="431640" progId="">
                  <p:embed/>
                </p:oleObj>
              </mc:Choice>
              <mc:Fallback>
                <p:oleObj name="Equation" r:id="rId5" imgW="2120760" imgH="431640" progId="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0488" y="4972050"/>
                        <a:ext cx="3741737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3600" b="1" dirty="0">
                <a:solidFill>
                  <a:schemeClr val="accent2">
                    <a:lumMod val="75000"/>
                  </a:schemeClr>
                </a:solidFill>
                <a:ea typeface="Gulim" pitchFamily="34" charset="-127"/>
              </a:rPr>
              <a:t>Stable &amp; Unstable Systems</a:t>
            </a:r>
            <a:endParaRPr lang="ko-KR" altLang="en-US" sz="3600" b="1" dirty="0">
              <a:solidFill>
                <a:schemeClr val="accent2">
                  <a:lumMod val="75000"/>
                </a:schemeClr>
              </a:solidFill>
              <a:ea typeface="Gulim" pitchFamily="34" charset="-127"/>
            </a:endParaRP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600200"/>
            <a:ext cx="7772400" cy="4114800"/>
          </a:xfrm>
        </p:spPr>
        <p:txBody>
          <a:bodyPr/>
          <a:lstStyle/>
          <a:p>
            <a:pPr algn="just" eaLnBrk="1" hangingPunct="1"/>
            <a:r>
              <a:rPr lang="en-US" altLang="ko-KR" sz="2800" dirty="0">
                <a:ea typeface="Gulim" pitchFamily="34" charset="-127"/>
              </a:rPr>
              <a:t> A system is said to be </a:t>
            </a:r>
            <a:r>
              <a:rPr lang="en-US" altLang="ko-KR" sz="2800" i="1" dirty="0">
                <a:ea typeface="Gulim" pitchFamily="34" charset="-127"/>
              </a:rPr>
              <a:t>bounded-input bounded-output stable</a:t>
            </a:r>
            <a:r>
              <a:rPr lang="en-US" altLang="ko-KR" sz="2800" dirty="0">
                <a:ea typeface="Gulim" pitchFamily="34" charset="-127"/>
              </a:rPr>
              <a:t> (BIBO stable) if every bounded input results in a bounded output.</a:t>
            </a:r>
          </a:p>
          <a:p>
            <a:pPr eaLnBrk="1" hangingPunct="1">
              <a:buFontTx/>
              <a:buNone/>
            </a:pPr>
            <a:r>
              <a:rPr lang="en-US" altLang="ko-KR" dirty="0">
                <a:ea typeface="Gulim" pitchFamily="34" charset="-127"/>
              </a:rPr>
              <a:t>    i.e.</a:t>
            </a:r>
          </a:p>
          <a:p>
            <a:pPr eaLnBrk="1" hangingPunct="1">
              <a:buFontTx/>
              <a:buNone/>
            </a:pPr>
            <a:endParaRPr lang="en-US" altLang="ko-KR" dirty="0">
              <a:ea typeface="Gulim" pitchFamily="34" charset="-127"/>
            </a:endParaRPr>
          </a:p>
        </p:txBody>
      </p:sp>
      <p:sp>
        <p:nvSpPr>
          <p:cNvPr id="31749" name="Rectangle 4"/>
          <p:cNvSpPr>
            <a:spLocks noChangeArrowheads="1"/>
          </p:cNvSpPr>
          <p:nvPr/>
        </p:nvSpPr>
        <p:spPr bwMode="auto">
          <a:xfrm>
            <a:off x="0" y="32956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dirty="0"/>
          </a:p>
        </p:txBody>
      </p:sp>
      <p:graphicFrame>
        <p:nvGraphicFramePr>
          <p:cNvPr id="31746" name="Object 5"/>
          <p:cNvGraphicFramePr>
            <a:graphicFrameLocks noChangeAspect="1"/>
          </p:cNvGraphicFramePr>
          <p:nvPr/>
        </p:nvGraphicFramePr>
        <p:xfrm>
          <a:off x="1752600" y="3733800"/>
          <a:ext cx="6037263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218" name="Equation" r:id="rId3" imgW="2667000" imgH="266700" progId="">
                  <p:embed/>
                </p:oleObj>
              </mc:Choice>
              <mc:Fallback>
                <p:oleObj name="Equation" r:id="rId3" imgW="2667000" imgH="266700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3733800"/>
                        <a:ext cx="6037263" cy="603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/>
          </p:nvPr>
        </p:nvSpPr>
        <p:spPr>
          <a:xfrm>
            <a:off x="508001" y="609600"/>
            <a:ext cx="8254999" cy="1320800"/>
          </a:xfrm>
        </p:spPr>
        <p:txBody>
          <a:bodyPr/>
          <a:lstStyle/>
          <a:p>
            <a:r>
              <a:rPr lang="en-US" altLang="ko-KR" sz="3600" b="1" dirty="0">
                <a:solidFill>
                  <a:schemeClr val="accent2">
                    <a:lumMod val="75000"/>
                  </a:schemeClr>
                </a:solidFill>
                <a:ea typeface="Gulim" pitchFamily="34" charset="-127"/>
              </a:rPr>
              <a:t>Stable &amp; Unstable Systems </a:t>
            </a:r>
            <a:endParaRPr lang="en-US" sz="3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4995" name="Content Placeholder 2"/>
          <p:cNvSpPr>
            <a:spLocks noGrp="1"/>
          </p:cNvSpPr>
          <p:nvPr>
            <p:ph idx="1"/>
          </p:nvPr>
        </p:nvSpPr>
        <p:spPr>
          <a:xfrm>
            <a:off x="762000" y="1752600"/>
            <a:ext cx="7772400" cy="4114800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sz="2800" dirty="0">
                <a:solidFill>
                  <a:srgbClr val="C00000"/>
                </a:solidFill>
              </a:rPr>
              <a:t>Example:</a:t>
            </a:r>
            <a:r>
              <a:rPr lang="en-US" sz="2800" dirty="0"/>
              <a:t> The system represented by</a:t>
            </a:r>
          </a:p>
          <a:p>
            <a:pPr>
              <a:buFontTx/>
              <a:buNone/>
            </a:pPr>
            <a:r>
              <a:rPr lang="en-US" sz="2800" dirty="0"/>
              <a:t>                  y(t) = A x(t) is unstable ; A˃1</a:t>
            </a:r>
          </a:p>
          <a:p>
            <a:pPr>
              <a:buFontTx/>
              <a:buNone/>
            </a:pPr>
            <a:r>
              <a:rPr lang="en-US" sz="2800" dirty="0"/>
              <a:t>   </a:t>
            </a:r>
            <a:r>
              <a:rPr lang="en-US" sz="2800" dirty="0">
                <a:solidFill>
                  <a:srgbClr val="002060"/>
                </a:solidFill>
              </a:rPr>
              <a:t>Reason:</a:t>
            </a:r>
            <a:r>
              <a:rPr lang="en-US" sz="2800" dirty="0"/>
              <a:t> let us assume x(t) = u(t), then at every instant  u(t) will keep on multiplying with A and hence it will not be bonded.</a:t>
            </a:r>
          </a:p>
        </p:txBody>
      </p:sp>
    </p:spTree>
  </p:cSld>
  <p:clrMapOvr>
    <a:masterClrMapping/>
  </p:clrMapOvr>
  <p:transition spd="slow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z="3600" b="1" dirty="0">
                <a:solidFill>
                  <a:schemeClr val="accent2">
                    <a:lumMod val="75000"/>
                  </a:schemeClr>
                </a:solidFill>
                <a:ea typeface="Gulim" pitchFamily="34" charset="-127"/>
              </a:rPr>
              <a:t>Static Systems</a:t>
            </a:r>
            <a:endParaRPr lang="en-US" altLang="ko-KR" sz="3600" dirty="0">
              <a:solidFill>
                <a:schemeClr val="accent2">
                  <a:lumMod val="75000"/>
                </a:schemeClr>
              </a:solidFill>
              <a:ea typeface="Gulim" pitchFamily="34" charset="-127"/>
            </a:endParaRP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828800"/>
            <a:ext cx="7772400" cy="4114800"/>
          </a:xfrm>
        </p:spPr>
        <p:txBody>
          <a:bodyPr/>
          <a:lstStyle/>
          <a:p>
            <a:pPr algn="just" eaLnBrk="1" hangingPunct="1"/>
            <a:r>
              <a:rPr lang="en-US" altLang="ko-KR" sz="2800" dirty="0">
                <a:ea typeface="Gulim" pitchFamily="34" charset="-127"/>
              </a:rPr>
              <a:t>A static system is memoryless system</a:t>
            </a:r>
          </a:p>
          <a:p>
            <a:pPr algn="just" eaLnBrk="1" hangingPunct="1"/>
            <a:r>
              <a:rPr lang="en-US" altLang="ko-KR" sz="2800" dirty="0">
                <a:ea typeface="Gulim" pitchFamily="34" charset="-127"/>
              </a:rPr>
              <a:t>It has no storage devices</a:t>
            </a:r>
          </a:p>
          <a:p>
            <a:pPr algn="just" eaLnBrk="1" hangingPunct="1"/>
            <a:r>
              <a:rPr lang="en-US" altLang="ko-KR" sz="2800" dirty="0">
                <a:ea typeface="Gulim" pitchFamily="34" charset="-127"/>
              </a:rPr>
              <a:t>its output signal depends on present values of the input signal</a:t>
            </a:r>
          </a:p>
          <a:p>
            <a:pPr algn="just" eaLnBrk="1" hangingPunct="1"/>
            <a:r>
              <a:rPr lang="en-US" altLang="ko-KR" sz="2800" dirty="0">
                <a:ea typeface="Gulim" pitchFamily="34" charset="-127"/>
              </a:rPr>
              <a:t>For example</a:t>
            </a:r>
          </a:p>
          <a:p>
            <a:pPr eaLnBrk="1" hangingPunct="1">
              <a:buFontTx/>
              <a:buNone/>
            </a:pPr>
            <a:r>
              <a:rPr lang="en-US" altLang="ko-KR" dirty="0">
                <a:ea typeface="Gulim" pitchFamily="34" charset="-127"/>
              </a:rPr>
              <a:t>    </a:t>
            </a:r>
            <a:endParaRPr lang="en-US" altLang="ko-KR" b="1" dirty="0">
              <a:ea typeface="Gulim" pitchFamily="34" charset="-127"/>
            </a:endParaRPr>
          </a:p>
        </p:txBody>
      </p:sp>
      <p:sp>
        <p:nvSpPr>
          <p:cNvPr id="86020" name="Rectangle 4"/>
          <p:cNvSpPr>
            <a:spLocks noChangeArrowheads="1"/>
          </p:cNvSpPr>
          <p:nvPr/>
        </p:nvSpPr>
        <p:spPr bwMode="auto">
          <a:xfrm>
            <a:off x="0" y="292893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 dirty="0"/>
          </a:p>
        </p:txBody>
      </p:sp>
      <p:pic>
        <p:nvPicPr>
          <p:cNvPr id="8602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05200" y="4343400"/>
            <a:ext cx="18383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914400"/>
          </a:xfrm>
        </p:spPr>
        <p:txBody>
          <a:bodyPr/>
          <a:lstStyle/>
          <a:p>
            <a:r>
              <a:rPr lang="en-US" altLang="ko-KR" sz="3600" b="1" dirty="0">
                <a:solidFill>
                  <a:schemeClr val="accent2">
                    <a:lumMod val="75000"/>
                  </a:schemeClr>
                </a:solidFill>
                <a:ea typeface="Gulim" pitchFamily="34" charset="-127"/>
              </a:rPr>
              <a:t>Dynamic Systems </a:t>
            </a:r>
            <a:endParaRPr lang="en-US" sz="3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7043" name="Content Placeholder 2"/>
          <p:cNvSpPr>
            <a:spLocks noGrp="1"/>
          </p:cNvSpPr>
          <p:nvPr>
            <p:ph idx="1"/>
          </p:nvPr>
        </p:nvSpPr>
        <p:spPr>
          <a:xfrm>
            <a:off x="838200" y="1524000"/>
            <a:ext cx="7772400" cy="4114800"/>
          </a:xfrm>
        </p:spPr>
        <p:txBody>
          <a:bodyPr/>
          <a:lstStyle/>
          <a:p>
            <a:r>
              <a:rPr lang="en-US" altLang="ko-KR" sz="2800" dirty="0">
                <a:ea typeface="Gulim" pitchFamily="34" charset="-127"/>
              </a:rPr>
              <a:t>A dynamic system possesses memory</a:t>
            </a:r>
          </a:p>
          <a:p>
            <a:r>
              <a:rPr lang="en-US" altLang="ko-KR" sz="2800" dirty="0">
                <a:ea typeface="Gulim" pitchFamily="34" charset="-127"/>
              </a:rPr>
              <a:t>It has the storage devices</a:t>
            </a:r>
          </a:p>
          <a:p>
            <a:pPr algn="just"/>
            <a:r>
              <a:rPr lang="en-US" altLang="ko-KR" sz="2800" dirty="0">
                <a:ea typeface="Gulim" pitchFamily="34" charset="-127"/>
              </a:rPr>
              <a:t>A system is said to possess </a:t>
            </a:r>
            <a:r>
              <a:rPr lang="en-US" altLang="ko-KR" sz="2800" i="1" dirty="0">
                <a:ea typeface="Gulim" pitchFamily="34" charset="-127"/>
              </a:rPr>
              <a:t>memory</a:t>
            </a:r>
            <a:r>
              <a:rPr lang="en-US" altLang="ko-KR" sz="2800" dirty="0">
                <a:ea typeface="Gulim" pitchFamily="34" charset="-127"/>
              </a:rPr>
              <a:t> if its output signal depends on past values and future values of the input signal</a:t>
            </a:r>
          </a:p>
          <a:p>
            <a:endParaRPr lang="en-US" dirty="0"/>
          </a:p>
        </p:txBody>
      </p:sp>
      <p:pic>
        <p:nvPicPr>
          <p:cNvPr id="8704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81362" y="4162425"/>
            <a:ext cx="2886075" cy="1476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sz="3500" b="1" i="1" dirty="0">
                <a:solidFill>
                  <a:schemeClr val="accent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Memoryless  System </a:t>
            </a:r>
            <a:endParaRPr lang="fa-IR" sz="3500" b="1" i="1" dirty="0">
              <a:solidFill>
                <a:schemeClr val="accent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0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9750" y="1557338"/>
            <a:ext cx="8353425" cy="4525962"/>
          </a:xfrm>
        </p:spPr>
        <p:txBody>
          <a:bodyPr lIns="36000"/>
          <a:lstStyle/>
          <a:p>
            <a:pPr lvl="1" algn="l" rtl="0">
              <a:buFontTx/>
              <a:buNone/>
              <a:tabLst>
                <a:tab pos="182563" algn="l"/>
              </a:tabLst>
            </a:pPr>
            <a:r>
              <a:rPr lang="en-US" sz="2400" dirty="0">
                <a:latin typeface="Cambria" pitchFamily="18" charset="0"/>
              </a:rPr>
              <a:t>	A system is memoryless if the output y[n] at every value of n depends only on the input x[n] at the same value of n</a:t>
            </a:r>
          </a:p>
          <a:p>
            <a:pPr lvl="1" algn="l" rtl="0">
              <a:buFontTx/>
              <a:buNone/>
              <a:tabLst>
                <a:tab pos="182563" algn="l"/>
              </a:tabLst>
            </a:pPr>
            <a:r>
              <a:rPr lang="en-US" sz="2400" dirty="0">
                <a:latin typeface="Cambria" pitchFamily="18" charset="0"/>
              </a:rPr>
              <a:t>		</a:t>
            </a:r>
            <a:r>
              <a:rPr lang="en-US" sz="2400" dirty="0">
                <a:solidFill>
                  <a:srgbClr val="0000FF"/>
                </a:solidFill>
                <a:latin typeface="Cambria" pitchFamily="18" charset="0"/>
              </a:rPr>
              <a:t>Example</a:t>
            </a:r>
            <a:r>
              <a:rPr lang="en-US" sz="2400" dirty="0">
                <a:latin typeface="Cambria" pitchFamily="18" charset="0"/>
              </a:rPr>
              <a:t> : </a:t>
            </a:r>
          </a:p>
          <a:p>
            <a:pPr lvl="1" algn="l" rtl="0">
              <a:buFontTx/>
              <a:buNone/>
              <a:tabLst>
                <a:tab pos="182563" algn="l"/>
              </a:tabLst>
            </a:pPr>
            <a:r>
              <a:rPr lang="en-US" sz="2400" dirty="0">
                <a:latin typeface="Cambria" pitchFamily="18" charset="0"/>
              </a:rPr>
              <a:t>		Square</a:t>
            </a:r>
          </a:p>
          <a:p>
            <a:pPr lvl="1" algn="l" rtl="0">
              <a:buFontTx/>
              <a:buNone/>
              <a:tabLst>
                <a:tab pos="182563" algn="l"/>
              </a:tabLst>
            </a:pPr>
            <a:endParaRPr lang="en-US" sz="2400" dirty="0">
              <a:latin typeface="Cambria" pitchFamily="18" charset="0"/>
            </a:endParaRPr>
          </a:p>
          <a:p>
            <a:pPr lvl="1" algn="l" rtl="0">
              <a:buFontTx/>
              <a:buNone/>
              <a:tabLst>
                <a:tab pos="182563" algn="l"/>
              </a:tabLst>
            </a:pPr>
            <a:r>
              <a:rPr lang="en-US" sz="2400" dirty="0">
                <a:latin typeface="Cambria" pitchFamily="18" charset="0"/>
              </a:rPr>
              <a:t>		Sign</a:t>
            </a:r>
          </a:p>
          <a:p>
            <a:pPr lvl="1" algn="l" rtl="0">
              <a:tabLst>
                <a:tab pos="182563" algn="l"/>
              </a:tabLst>
            </a:pPr>
            <a:endParaRPr lang="en-US" sz="2400" dirty="0">
              <a:latin typeface="Cambria" pitchFamily="18" charset="0"/>
            </a:endParaRPr>
          </a:p>
          <a:p>
            <a:pPr lvl="1" algn="l" rtl="0">
              <a:buFontTx/>
              <a:buNone/>
              <a:tabLst>
                <a:tab pos="182563" algn="l"/>
              </a:tabLst>
            </a:pPr>
            <a:r>
              <a:rPr lang="en-US" sz="2400" dirty="0">
                <a:latin typeface="Cambria" pitchFamily="18" charset="0"/>
              </a:rPr>
              <a:t>		</a:t>
            </a:r>
            <a:r>
              <a:rPr lang="en-US" sz="2400" dirty="0">
                <a:solidFill>
                  <a:srgbClr val="0000FF"/>
                </a:solidFill>
                <a:latin typeface="Cambria" pitchFamily="18" charset="0"/>
              </a:rPr>
              <a:t>counter example</a:t>
            </a:r>
            <a:r>
              <a:rPr lang="en-US" sz="2400" dirty="0">
                <a:latin typeface="Cambria" pitchFamily="18" charset="0"/>
              </a:rPr>
              <a:t>: </a:t>
            </a:r>
          </a:p>
          <a:p>
            <a:pPr lvl="1" algn="l" rtl="0">
              <a:buFontTx/>
              <a:buNone/>
              <a:tabLst>
                <a:tab pos="182563" algn="l"/>
              </a:tabLst>
            </a:pPr>
            <a:r>
              <a:rPr lang="en-US" sz="2400" dirty="0">
                <a:latin typeface="Cambria" pitchFamily="18" charset="0"/>
              </a:rPr>
              <a:t>		Ideal Delay System</a:t>
            </a:r>
          </a:p>
          <a:p>
            <a:pPr algn="l" rtl="0" eaLnBrk="1" hangingPunct="1">
              <a:tabLst>
                <a:tab pos="182563" algn="l"/>
              </a:tabLst>
            </a:pPr>
            <a:endParaRPr lang="fa-IR" sz="2400" dirty="0">
              <a:latin typeface="Cambria" pitchFamily="18" charset="0"/>
              <a:cs typeface="Times New Roman" pitchFamily="18" charset="0"/>
            </a:endParaRPr>
          </a:p>
        </p:txBody>
      </p:sp>
      <p:graphicFrame>
        <p:nvGraphicFramePr>
          <p:cNvPr id="4098" name="Object 5"/>
          <p:cNvGraphicFramePr>
            <a:graphicFrameLocks noChangeAspect="1"/>
          </p:cNvGraphicFramePr>
          <p:nvPr/>
        </p:nvGraphicFramePr>
        <p:xfrm>
          <a:off x="5148263" y="2781300"/>
          <a:ext cx="1630362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6" name="Equation" r:id="rId3" imgW="927000" imgH="253800" progId="">
                  <p:embed/>
                </p:oleObj>
              </mc:Choice>
              <mc:Fallback>
                <p:oleObj name="Equation" r:id="rId3" imgW="927000" imgH="253800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2781300"/>
                        <a:ext cx="1630362" cy="446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6"/>
          <p:cNvGraphicFramePr>
            <a:graphicFrameLocks noChangeAspect="1"/>
          </p:cNvGraphicFramePr>
          <p:nvPr/>
        </p:nvGraphicFramePr>
        <p:xfrm>
          <a:off x="5110163" y="3705225"/>
          <a:ext cx="2054225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7" name="Equation" r:id="rId5" imgW="1168200" imgH="215640" progId="">
                  <p:embed/>
                </p:oleObj>
              </mc:Choice>
              <mc:Fallback>
                <p:oleObj name="Equation" r:id="rId5" imgW="1168200" imgH="215640" progId="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0163" y="3705225"/>
                        <a:ext cx="2054225" cy="379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0" name="Object 7"/>
          <p:cNvGraphicFramePr>
            <a:graphicFrameLocks noChangeAspect="1"/>
          </p:cNvGraphicFramePr>
          <p:nvPr/>
        </p:nvGraphicFramePr>
        <p:xfrm>
          <a:off x="5200650" y="5013325"/>
          <a:ext cx="1943100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8" name="Equation" r:id="rId7" imgW="1104840" imgH="228600" progId="">
                  <p:embed/>
                </p:oleObj>
              </mc:Choice>
              <mc:Fallback>
                <p:oleObj name="Equation" r:id="rId7" imgW="1104840" imgH="228600" progId="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0650" y="5013325"/>
                        <a:ext cx="1943100" cy="401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Discrete-Time Systems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508001" y="1676400"/>
            <a:ext cx="7492999" cy="4261773"/>
          </a:xfrm>
        </p:spPr>
        <p:txBody>
          <a:bodyPr>
            <a:normAutofit fontScale="92500" lnSpcReduction="20000"/>
          </a:bodyPr>
          <a:lstStyle/>
          <a:p>
            <a:r>
              <a:rPr lang="en-US" sz="1900" dirty="0"/>
              <a:t>Discrete-Time Sequence is a mathematical operation that maps a given input sequence x[n] into an output sequence y[n]</a:t>
            </a:r>
          </a:p>
          <a:p>
            <a:endParaRPr lang="en-US" dirty="0">
              <a:latin typeface="Times New Roman" pitchFamily="18" charset="0"/>
            </a:endParaRPr>
          </a:p>
          <a:p>
            <a:endParaRPr lang="en-US" dirty="0">
              <a:latin typeface="Times New Roman" pitchFamily="18" charset="0"/>
            </a:endParaRPr>
          </a:p>
          <a:p>
            <a:endParaRPr lang="en-US" dirty="0">
              <a:latin typeface="Times New Roman" pitchFamily="18" charset="0"/>
            </a:endParaRPr>
          </a:p>
          <a:p>
            <a:r>
              <a:rPr lang="en-US" sz="1900" dirty="0"/>
              <a:t>Example Discrete-Time Systems</a:t>
            </a:r>
          </a:p>
          <a:p>
            <a:pPr lvl="1"/>
            <a:r>
              <a:rPr lang="en-US" sz="1900" dirty="0"/>
              <a:t>Moving (Running) Average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sz="1900" dirty="0"/>
              <a:t>Maximum</a:t>
            </a:r>
            <a:r>
              <a:rPr lang="en-US" dirty="0"/>
              <a:t>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sz="1900" dirty="0"/>
              <a:t>Ideal Delay System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32772" name="Object 4"/>
          <p:cNvGraphicFramePr>
            <a:graphicFrameLocks noChangeAspect="1"/>
          </p:cNvGraphicFramePr>
          <p:nvPr/>
        </p:nvGraphicFramePr>
        <p:xfrm>
          <a:off x="990600" y="2819400"/>
          <a:ext cx="188277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6" name="Equation" r:id="rId3" imgW="1066680" imgH="215640" progId="Equation.3">
                  <p:embed/>
                </p:oleObj>
              </mc:Choice>
              <mc:Fallback>
                <p:oleObj name="Equation" r:id="rId3" imgW="1066680" imgH="215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819400"/>
                        <a:ext cx="1882775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3" name="Rectangle 5"/>
          <p:cNvSpPr>
            <a:spLocks noChangeArrowheads="1"/>
          </p:cNvSpPr>
          <p:nvPr/>
        </p:nvSpPr>
        <p:spPr bwMode="auto">
          <a:xfrm>
            <a:off x="4810125" y="2522537"/>
            <a:ext cx="1397000" cy="7540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dirty="0">
                <a:latin typeface="Verdana" pitchFamily="34" charset="0"/>
              </a:rPr>
              <a:t>T{.}</a:t>
            </a:r>
          </a:p>
        </p:txBody>
      </p:sp>
      <p:sp>
        <p:nvSpPr>
          <p:cNvPr id="32777" name="Rectangle 9"/>
          <p:cNvSpPr>
            <a:spLocks noChangeArrowheads="1"/>
          </p:cNvSpPr>
          <p:nvPr/>
        </p:nvSpPr>
        <p:spPr bwMode="auto">
          <a:xfrm>
            <a:off x="3840163" y="2522537"/>
            <a:ext cx="506412" cy="754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dirty="0">
                <a:latin typeface="Verdana" pitchFamily="34" charset="0"/>
              </a:rPr>
              <a:t>x[n]</a:t>
            </a:r>
          </a:p>
        </p:txBody>
      </p:sp>
      <p:sp>
        <p:nvSpPr>
          <p:cNvPr id="32778" name="Rectangle 10"/>
          <p:cNvSpPr>
            <a:spLocks noChangeArrowheads="1"/>
          </p:cNvSpPr>
          <p:nvPr/>
        </p:nvSpPr>
        <p:spPr bwMode="auto">
          <a:xfrm>
            <a:off x="6743700" y="2522537"/>
            <a:ext cx="582613" cy="754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2000" dirty="0">
                <a:latin typeface="Verdana" pitchFamily="34" charset="0"/>
              </a:rPr>
              <a:t>y[n]</a:t>
            </a:r>
          </a:p>
        </p:txBody>
      </p:sp>
      <p:cxnSp>
        <p:nvCxnSpPr>
          <p:cNvPr id="32779" name="AutoShape 11"/>
          <p:cNvCxnSpPr>
            <a:cxnSpLocks noChangeShapeType="1"/>
          </p:cNvCxnSpPr>
          <p:nvPr/>
        </p:nvCxnSpPr>
        <p:spPr bwMode="auto">
          <a:xfrm>
            <a:off x="4346575" y="2895600"/>
            <a:ext cx="46355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32780" name="AutoShape 12"/>
          <p:cNvCxnSpPr>
            <a:cxnSpLocks noChangeShapeType="1"/>
          </p:cNvCxnSpPr>
          <p:nvPr/>
        </p:nvCxnSpPr>
        <p:spPr bwMode="auto">
          <a:xfrm>
            <a:off x="6248400" y="2895600"/>
            <a:ext cx="536575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graphicFrame>
        <p:nvGraphicFramePr>
          <p:cNvPr id="32783" name="Object 15"/>
          <p:cNvGraphicFramePr>
            <a:graphicFrameLocks noChangeAspect="1"/>
          </p:cNvGraphicFramePr>
          <p:nvPr/>
        </p:nvGraphicFramePr>
        <p:xfrm>
          <a:off x="1219200" y="4114800"/>
          <a:ext cx="5046663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7" name="Equation" r:id="rId5" imgW="2869920" imgH="215640" progId="Equation.3">
                  <p:embed/>
                </p:oleObj>
              </mc:Choice>
              <mc:Fallback>
                <p:oleObj name="Equation" r:id="rId5" imgW="2869920" imgH="2156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4114800"/>
                        <a:ext cx="5046663" cy="379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5" name="Object 17"/>
          <p:cNvGraphicFramePr>
            <a:graphicFrameLocks noChangeAspect="1"/>
          </p:cNvGraphicFramePr>
          <p:nvPr/>
        </p:nvGraphicFramePr>
        <p:xfrm>
          <a:off x="1295400" y="4953000"/>
          <a:ext cx="4243388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8" name="Equation" r:id="rId7" imgW="2412720" imgH="215640" progId="Equation.3">
                  <p:embed/>
                </p:oleObj>
              </mc:Choice>
              <mc:Fallback>
                <p:oleObj name="Equation" r:id="rId7" imgW="2412720" imgH="2156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4953000"/>
                        <a:ext cx="4243388" cy="379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6" name="Object 18"/>
          <p:cNvGraphicFramePr>
            <a:graphicFrameLocks noChangeAspect="1"/>
          </p:cNvGraphicFramePr>
          <p:nvPr/>
        </p:nvGraphicFramePr>
        <p:xfrm>
          <a:off x="1295400" y="5943600"/>
          <a:ext cx="1943100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9" name="Equation" r:id="rId9" imgW="1104840" imgH="228600" progId="Equation.3">
                  <p:embed/>
                </p:oleObj>
              </mc:Choice>
              <mc:Fallback>
                <p:oleObj name="Equation" r:id="rId9" imgW="1104840" imgH="22860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5943600"/>
                        <a:ext cx="1943100" cy="401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20000" contrast="-30000"/>
          </a:blip>
          <a:srcRect/>
          <a:stretch>
            <a:fillRect/>
          </a:stretch>
        </p:blipFill>
        <p:spPr bwMode="auto">
          <a:xfrm>
            <a:off x="457200" y="914400"/>
            <a:ext cx="8229600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le 6"/>
          <p:cNvSpPr txBox="1">
            <a:spLocks/>
          </p:cNvSpPr>
          <p:nvPr/>
        </p:nvSpPr>
        <p:spPr>
          <a:xfrm>
            <a:off x="0" y="0"/>
            <a:ext cx="8183563" cy="593725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/>
            </a:pPr>
            <a:r>
              <a:rPr lang="en-US" sz="3600" b="1" i="1" u="sng" dirty="0">
                <a:solidFill>
                  <a:srgbClr val="6594DA"/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rPr>
              <a:t>System Properties</a:t>
            </a:r>
          </a:p>
        </p:txBody>
      </p:sp>
    </p:spTree>
  </p:cSld>
  <p:clrMapOvr>
    <a:masterClrMapping/>
  </p:clrMapOvr>
  <p:transition spd="slow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Content Placeholder 2"/>
          <p:cNvSpPr>
            <a:spLocks noGrp="1"/>
          </p:cNvSpPr>
          <p:nvPr>
            <p:ph idx="1"/>
          </p:nvPr>
        </p:nvSpPr>
        <p:spPr>
          <a:xfrm>
            <a:off x="152400" y="228601"/>
            <a:ext cx="8839200" cy="4419600"/>
          </a:xfrm>
        </p:spPr>
        <p:txBody>
          <a:bodyPr>
            <a:normAutofit lnSpcReduction="10000"/>
          </a:bodyPr>
          <a:lstStyle/>
          <a:p>
            <a:pPr eaLnBrk="1" hangingPunct="1">
              <a:buFont typeface="Wingdings 2" pitchFamily="18" charset="2"/>
              <a:buNone/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</a:rPr>
              <a:t>2.Memory /Memoryless:</a:t>
            </a:r>
          </a:p>
          <a:p>
            <a:pPr algn="just" eaLnBrk="1" hangingPunct="1">
              <a:buFont typeface="Wingdings" pitchFamily="2" charset="2"/>
              <a:buChar char="Ø"/>
            </a:pPr>
            <a:r>
              <a:rPr lang="en-US" sz="2400" dirty="0"/>
              <a:t>Memory system: present output value depend on                                  future/past input.</a:t>
            </a:r>
          </a:p>
          <a:p>
            <a:pPr algn="just" eaLnBrk="1" hangingPunct="1">
              <a:buFont typeface="Wingdings" pitchFamily="2" charset="2"/>
              <a:buChar char="Ø"/>
            </a:pPr>
            <a:r>
              <a:rPr lang="en-US" sz="2400" dirty="0"/>
              <a:t>Memoryless system: present output value depend only on present input.</a:t>
            </a:r>
          </a:p>
          <a:p>
            <a:pPr algn="just" eaLnBrk="1" hangingPunct="1">
              <a:buFont typeface="Wingdings" pitchFamily="2" charset="2"/>
              <a:buChar char="Ø"/>
            </a:pPr>
            <a:r>
              <a:rPr lang="en-US" sz="2400" dirty="0"/>
              <a:t>Example:</a:t>
            </a:r>
          </a:p>
          <a:p>
            <a:pPr algn="just" eaLnBrk="1" hangingPunct="1">
              <a:buFont typeface="Wingdings 2" pitchFamily="18" charset="2"/>
              <a:buNone/>
            </a:pPr>
            <a:endParaRPr lang="en-US" sz="2400" dirty="0"/>
          </a:p>
          <a:p>
            <a:pPr eaLnBrk="1" hangingPunct="1">
              <a:buFont typeface="Wingdings 2" pitchFamily="18" charset="2"/>
              <a:buNone/>
            </a:pPr>
            <a:endParaRPr lang="en-US" sz="2400" dirty="0"/>
          </a:p>
          <a:p>
            <a:pPr eaLnBrk="1" hangingPunct="1">
              <a:buFont typeface="Wingdings 2" pitchFamily="18" charset="2"/>
              <a:buNone/>
            </a:pPr>
            <a:endParaRPr lang="en-US" dirty="0"/>
          </a:p>
          <a:p>
            <a:pPr eaLnBrk="1" hangingPunct="1">
              <a:buFont typeface="Wingdings 2" pitchFamily="18" charset="2"/>
              <a:buNone/>
            </a:pPr>
            <a:r>
              <a:rPr lang="en-US" dirty="0"/>
              <a:t> </a:t>
            </a:r>
          </a:p>
        </p:txBody>
      </p:sp>
      <p:pic>
        <p:nvPicPr>
          <p:cNvPr id="2560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3086101"/>
            <a:ext cx="685800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20000" contrast="-30000"/>
          </a:blip>
          <a:srcRect/>
          <a:stretch>
            <a:fillRect/>
          </a:stretch>
        </p:blipFill>
        <p:spPr>
          <a:xfrm>
            <a:off x="381000" y="533400"/>
            <a:ext cx="8153400" cy="6022975"/>
          </a:xfrm>
          <a:noFill/>
        </p:spPr>
      </p:pic>
    </p:spTree>
  </p:cSld>
  <p:clrMapOvr>
    <a:masterClrMapping/>
  </p:clrMapOvr>
  <p:transition spd="slow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20000" contrast="-30000"/>
          </a:blip>
          <a:srcRect/>
          <a:stretch>
            <a:fillRect/>
          </a:stretch>
        </p:blipFill>
        <p:spPr>
          <a:xfrm>
            <a:off x="1295400" y="1143000"/>
            <a:ext cx="6172200" cy="1905000"/>
          </a:xfrm>
          <a:noFill/>
        </p:spPr>
      </p:pic>
    </p:spTree>
  </p:cSld>
  <p:clrMapOvr>
    <a:masterClrMapping/>
  </p:clrMapOvr>
  <p:transition spd="slow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79400"/>
            <a:ext cx="6447501" cy="1320800"/>
          </a:xfrm>
        </p:spPr>
        <p:txBody>
          <a:bodyPr/>
          <a:lstStyle/>
          <a:p>
            <a:r>
              <a:rPr lang="en-GB" b="1" dirty="0">
                <a:latin typeface="Times New Roman" pitchFamily="18" charset="0"/>
                <a:cs typeface="Times New Roman" pitchFamily="18" charset="0"/>
              </a:rPr>
              <a:t>Properties of a System: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066800"/>
            <a:ext cx="8610600" cy="53340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On this course, we shall be particularly interested in signals with certain properties:</a:t>
            </a:r>
          </a:p>
          <a:p>
            <a:pPr>
              <a:buFont typeface="Wingdings" pitchFamily="2" charset="2"/>
              <a:buChar char="Ø"/>
            </a:pPr>
            <a:r>
              <a:rPr lang="en-GB" sz="2400" b="1" dirty="0">
                <a:latin typeface="Times New Roman" pitchFamily="18" charset="0"/>
                <a:cs typeface="Times New Roman" pitchFamily="18" charset="0"/>
              </a:rPr>
              <a:t>Causal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: a system is causal if the output at a time, only depends on input values up to that time.</a:t>
            </a:r>
          </a:p>
          <a:p>
            <a:pPr>
              <a:buFont typeface="Wingdings" pitchFamily="2" charset="2"/>
              <a:buChar char="Ø"/>
            </a:pPr>
            <a:r>
              <a:rPr lang="en-GB" sz="2400" b="1" dirty="0">
                <a:latin typeface="Times New Roman" pitchFamily="18" charset="0"/>
                <a:cs typeface="Times New Roman" pitchFamily="18" charset="0"/>
              </a:rPr>
              <a:t>Linear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: a system is linear if the output of the scaled sum of two input signals is the equivalent scaled sum of outputs</a:t>
            </a:r>
          </a:p>
          <a:p>
            <a:pPr>
              <a:buFont typeface="Wingdings" pitchFamily="2" charset="2"/>
              <a:buChar char="Ø"/>
            </a:pPr>
            <a:r>
              <a:rPr lang="en-GB" sz="2400" b="1" dirty="0">
                <a:latin typeface="Times New Roman" pitchFamily="18" charset="0"/>
                <a:cs typeface="Times New Roman" pitchFamily="18" charset="0"/>
              </a:rPr>
              <a:t>Time-invariance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: a system is time invariant if the system’s output is the same, given the same input signal, regardless of time.</a:t>
            </a:r>
          </a:p>
          <a:p>
            <a:pPr>
              <a:buFont typeface="Wingdings" pitchFamily="2" charset="2"/>
              <a:buChar char="Ø"/>
            </a:pPr>
            <a:endParaRPr lang="en-GB" sz="11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These properties define a large class of tractable, useful systems and will be further considered in the coming lectures</a:t>
            </a:r>
          </a:p>
        </p:txBody>
      </p:sp>
    </p:spTree>
  </p:cSld>
  <p:clrMapOvr>
    <a:masterClrMapping/>
  </p:clrMapOvr>
  <p:transition spd="slow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 rot="1984884">
            <a:off x="1062587" y="2731023"/>
            <a:ext cx="73286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spc="3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skerville Old Face" pitchFamily="18" charset="0"/>
              </a:rPr>
              <a:t>Thank You..!!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Theme3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Theme3</Template>
  <TotalTime>378</TotalTime>
  <Words>1810</Words>
  <Application>Microsoft Office PowerPoint</Application>
  <PresentationFormat>On-screen Show (4:3)</PresentationFormat>
  <Paragraphs>219</Paragraphs>
  <Slides>36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54" baseType="lpstr">
      <vt:lpstr>Arial</vt:lpstr>
      <vt:lpstr>Baskerville Old Face</vt:lpstr>
      <vt:lpstr>Calibri</vt:lpstr>
      <vt:lpstr>Cambria</vt:lpstr>
      <vt:lpstr>CMEX10</vt:lpstr>
      <vt:lpstr>CMMI10</vt:lpstr>
      <vt:lpstr>CMMI7</vt:lpstr>
      <vt:lpstr>CMR10</vt:lpstr>
      <vt:lpstr>CMR7</vt:lpstr>
      <vt:lpstr>CMSY10</vt:lpstr>
      <vt:lpstr>Times New Roman</vt:lpstr>
      <vt:lpstr>Trebuchet MS</vt:lpstr>
      <vt:lpstr>Verdana</vt:lpstr>
      <vt:lpstr>Wingdings</vt:lpstr>
      <vt:lpstr>Wingdings 2</vt:lpstr>
      <vt:lpstr>Wingdings 3</vt:lpstr>
      <vt:lpstr>Theme3</vt:lpstr>
      <vt:lpstr>Equation</vt:lpstr>
      <vt:lpstr>PowerPoint Presentation</vt:lpstr>
      <vt:lpstr>Introduction to Signals</vt:lpstr>
      <vt:lpstr>PowerPoint Presentation</vt:lpstr>
      <vt:lpstr>Classification of signals</vt:lpstr>
      <vt:lpstr>       Continuous time (CT) &amp;       discrete time (DT) signals: </vt:lpstr>
      <vt:lpstr>Periodic &amp; Non-periodic Signals</vt:lpstr>
      <vt:lpstr>Causal &amp;Non-causal Signals:</vt:lpstr>
      <vt:lpstr>PowerPoint Presentation</vt:lpstr>
      <vt:lpstr>Random Signals:</vt:lpstr>
      <vt:lpstr>Even &amp; Odd Signals</vt:lpstr>
      <vt:lpstr>       Classification of signals (cont.)</vt:lpstr>
      <vt:lpstr>Bounded &amp;Unbounded Signals:</vt:lpstr>
      <vt:lpstr>Power and Energy Signals</vt:lpstr>
      <vt:lpstr>Elementary signals</vt:lpstr>
      <vt:lpstr>PowerPoint Presentation</vt:lpstr>
      <vt:lpstr>PowerPoint Presentation</vt:lpstr>
      <vt:lpstr>What is a System?</vt:lpstr>
      <vt:lpstr>How is a System Represented?</vt:lpstr>
      <vt:lpstr>Types of Systems</vt:lpstr>
      <vt:lpstr>Causal Systems</vt:lpstr>
      <vt:lpstr>Non-causal Systems</vt:lpstr>
      <vt:lpstr>Linear &amp; Non Linear Systems</vt:lpstr>
      <vt:lpstr>Time  Invariant and Time Variant Systems</vt:lpstr>
      <vt:lpstr> Linear Time-Invariant Systems</vt:lpstr>
      <vt:lpstr>Stable &amp; Unstable Systems</vt:lpstr>
      <vt:lpstr>Stable &amp; Unstable Systems </vt:lpstr>
      <vt:lpstr>Static Systems</vt:lpstr>
      <vt:lpstr>Dynamic Systems </vt:lpstr>
      <vt:lpstr>Memoryless  System </vt:lpstr>
      <vt:lpstr>Discrete-Time Systems</vt:lpstr>
      <vt:lpstr>PowerPoint Presentation</vt:lpstr>
      <vt:lpstr>PowerPoint Presentation</vt:lpstr>
      <vt:lpstr>PowerPoint Presentation</vt:lpstr>
      <vt:lpstr>PowerPoint Presentation</vt:lpstr>
      <vt:lpstr>Properties of a System: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Jay</dc:creator>
  <cp:lastModifiedBy>LEWIS MKWABU</cp:lastModifiedBy>
  <cp:revision>46</cp:revision>
  <dcterms:created xsi:type="dcterms:W3CDTF">2017-04-08T04:32:10Z</dcterms:created>
  <dcterms:modified xsi:type="dcterms:W3CDTF">2022-06-29T18:50:24Z</dcterms:modified>
</cp:coreProperties>
</file>