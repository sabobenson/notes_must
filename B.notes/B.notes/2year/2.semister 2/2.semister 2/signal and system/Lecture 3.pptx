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303" r:id="rId25"/>
    <p:sldId id="304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</p:sldIdLst>
  <p:sldSz cx="5067300" cy="3797300"/>
  <p:notesSz cx="5067300" cy="37973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3" d="100"/>
          <a:sy n="123" d="100"/>
        </p:scale>
        <p:origin x="1434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0047" y="1177163"/>
            <a:ext cx="4307205" cy="7974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0000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60095" y="2126488"/>
            <a:ext cx="3547110" cy="949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5905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00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5905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00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53365" y="873379"/>
            <a:ext cx="2204275" cy="25062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609659" y="873379"/>
            <a:ext cx="2204275" cy="25062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5905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00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5905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5905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26525" y="294590"/>
            <a:ext cx="4808220" cy="0"/>
          </a:xfrm>
          <a:custGeom>
            <a:avLst/>
            <a:gdLst/>
            <a:ahLst/>
            <a:cxnLst/>
            <a:rect l="l" t="t" r="r" b="b"/>
            <a:pathLst>
              <a:path w="4808220">
                <a:moveTo>
                  <a:pt x="0" y="0"/>
                </a:moveTo>
                <a:lnTo>
                  <a:pt x="480796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3830" y="63474"/>
            <a:ext cx="469582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0000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1748" y="1138047"/>
            <a:ext cx="4476750" cy="168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722882" y="3531489"/>
            <a:ext cx="1621536" cy="189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53365" y="3531489"/>
            <a:ext cx="1165479" cy="189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450033" y="3690416"/>
            <a:ext cx="173989" cy="111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5905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6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2152" y="908050"/>
            <a:ext cx="3642995" cy="7023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99794" algn="l"/>
              </a:tabLst>
            </a:pPr>
            <a:r>
              <a:rPr sz="1700" b="1" spc="65" dirty="0">
                <a:latin typeface="Arial"/>
                <a:cs typeface="Arial"/>
              </a:rPr>
              <a:t>Signals</a:t>
            </a:r>
            <a:r>
              <a:rPr sz="1700" b="1" spc="325" dirty="0">
                <a:latin typeface="Arial"/>
                <a:cs typeface="Arial"/>
              </a:rPr>
              <a:t> </a:t>
            </a:r>
            <a:r>
              <a:rPr sz="1700" b="1" spc="120" dirty="0">
                <a:latin typeface="Arial"/>
                <a:cs typeface="Arial"/>
              </a:rPr>
              <a:t>and</a:t>
            </a:r>
            <a:r>
              <a:rPr sz="1700" b="1" spc="320" dirty="0">
                <a:latin typeface="Arial"/>
                <a:cs typeface="Arial"/>
              </a:rPr>
              <a:t> </a:t>
            </a:r>
            <a:r>
              <a:rPr sz="1700" b="1" spc="100" dirty="0">
                <a:latin typeface="Arial"/>
                <a:cs typeface="Arial"/>
              </a:rPr>
              <a:t>Systems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60"/>
              </a:spcBef>
            </a:pPr>
            <a:r>
              <a:rPr sz="1200" b="1" spc="100" dirty="0">
                <a:solidFill>
                  <a:srgbClr val="0000CC"/>
                </a:solidFill>
                <a:latin typeface="Arial"/>
                <a:cs typeface="Arial"/>
              </a:rPr>
              <a:t>Feedback,</a:t>
            </a:r>
            <a:r>
              <a:rPr sz="1200" b="1" spc="22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1200" b="1" spc="75" dirty="0">
                <a:solidFill>
                  <a:srgbClr val="0000CC"/>
                </a:solidFill>
                <a:latin typeface="Arial"/>
                <a:cs typeface="Arial"/>
              </a:rPr>
              <a:t>Poles,</a:t>
            </a:r>
            <a:r>
              <a:rPr sz="1200" b="1" spc="229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1200" b="1" spc="85" dirty="0">
                <a:solidFill>
                  <a:srgbClr val="0000CC"/>
                </a:solidFill>
                <a:latin typeface="Arial"/>
                <a:cs typeface="Arial"/>
              </a:rPr>
              <a:t>and</a:t>
            </a:r>
            <a:r>
              <a:rPr sz="1200" b="1" spc="229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1200" b="1" spc="105" dirty="0">
                <a:solidFill>
                  <a:srgbClr val="0000CC"/>
                </a:solidFill>
                <a:latin typeface="Arial"/>
                <a:cs typeface="Arial"/>
              </a:rPr>
              <a:t>Fundamental</a:t>
            </a:r>
            <a:r>
              <a:rPr sz="1200" b="1" spc="229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1200" b="1" spc="105" dirty="0">
                <a:solidFill>
                  <a:srgbClr val="0000CC"/>
                </a:solidFill>
                <a:latin typeface="Arial"/>
                <a:cs typeface="Arial"/>
              </a:rPr>
              <a:t>Modes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830" y="3472548"/>
            <a:ext cx="1475105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z="1100" i="1" spc="65" dirty="0">
                <a:latin typeface="Arial"/>
                <a:cs typeface="Arial"/>
              </a:rPr>
              <a:t>April</a:t>
            </a:r>
            <a:r>
              <a:rPr sz="1100" i="1" spc="160" dirty="0">
                <a:latin typeface="Arial"/>
                <a:cs typeface="Arial"/>
              </a:rPr>
              <a:t> </a:t>
            </a:r>
            <a:r>
              <a:rPr lang="en-GB" sz="1100" i="1" spc="70" dirty="0">
                <a:latin typeface="Arial"/>
                <a:cs typeface="Arial"/>
              </a:rPr>
              <a:t>2024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10CF60-C629-1AE5-9CF4-902134BCE978}"/>
              </a:ext>
            </a:extLst>
          </p:cNvPr>
          <p:cNvSpPr txBox="1"/>
          <p:nvPr/>
        </p:nvSpPr>
        <p:spPr>
          <a:xfrm>
            <a:off x="2686050" y="3422650"/>
            <a:ext cx="190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Presented by Nyatega, C.O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3830" y="381266"/>
            <a:ext cx="4572635" cy="1398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100" b="1" spc="80" dirty="0">
                <a:solidFill>
                  <a:srgbClr val="0000CC"/>
                </a:solidFill>
                <a:latin typeface="Arial"/>
                <a:cs typeface="Arial"/>
              </a:rPr>
              <a:t>Verbal</a:t>
            </a:r>
            <a:r>
              <a:rPr sz="1100" b="1" spc="254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1100" b="1" spc="50" dirty="0">
                <a:solidFill>
                  <a:srgbClr val="0000CC"/>
                </a:solidFill>
                <a:latin typeface="Arial"/>
                <a:cs typeface="Arial"/>
              </a:rPr>
              <a:t>descriptions:</a:t>
            </a:r>
            <a:r>
              <a:rPr sz="1100" b="1" spc="37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preserve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rationale.</a:t>
            </a:r>
            <a:endParaRPr sz="1100">
              <a:latin typeface="Arial"/>
              <a:cs typeface="Arial"/>
            </a:endParaRPr>
          </a:p>
          <a:p>
            <a:pPr marL="273050" marR="5080" indent="-86995" algn="just">
              <a:lnSpc>
                <a:spcPct val="121000"/>
              </a:lnSpc>
              <a:spcBef>
                <a:spcPts val="600"/>
              </a:spcBef>
            </a:pPr>
            <a:r>
              <a:rPr sz="1100" spc="190" dirty="0">
                <a:latin typeface="Arial"/>
                <a:cs typeface="Arial"/>
              </a:rPr>
              <a:t>“To</a:t>
            </a:r>
            <a:r>
              <a:rPr sz="1100" spc="19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reduce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spc="80" dirty="0">
                <a:latin typeface="Arial"/>
                <a:cs typeface="Arial"/>
              </a:rPr>
              <a:t>number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bits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needed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spc="130" dirty="0">
                <a:latin typeface="Arial"/>
                <a:cs typeface="Arial"/>
              </a:rPr>
              <a:t>to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store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sequence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of </a:t>
            </a:r>
            <a:r>
              <a:rPr sz="1100" dirty="0">
                <a:latin typeface="Arial"/>
                <a:cs typeface="Arial"/>
              </a:rPr>
              <a:t>large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numbers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120" dirty="0">
                <a:latin typeface="Arial"/>
                <a:cs typeface="Arial"/>
              </a:rPr>
              <a:t>that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nearly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equal,</a:t>
            </a:r>
            <a:r>
              <a:rPr sz="1100" spc="18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record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105" dirty="0">
                <a:latin typeface="Arial"/>
                <a:cs typeface="Arial"/>
              </a:rPr>
              <a:t>ﬁrst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number, </a:t>
            </a:r>
            <a:r>
              <a:rPr sz="1100" spc="55" dirty="0">
                <a:latin typeface="Arial"/>
                <a:cs typeface="Arial"/>
              </a:rPr>
              <a:t>and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80" dirty="0">
                <a:latin typeface="Arial"/>
                <a:cs typeface="Arial"/>
              </a:rPr>
              <a:t>then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record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successive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diﬀerences.”</a:t>
            </a:r>
            <a:endParaRPr sz="11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875"/>
              </a:spcBef>
            </a:pPr>
            <a:r>
              <a:rPr sz="1100" b="1" spc="95" dirty="0">
                <a:solidFill>
                  <a:srgbClr val="0000CC"/>
                </a:solidFill>
                <a:latin typeface="Arial"/>
                <a:cs typeface="Arial"/>
              </a:rPr>
              <a:t>Diﬀerence</a:t>
            </a:r>
            <a:r>
              <a:rPr sz="1100" b="1" spc="21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1100" b="1" spc="65" dirty="0">
                <a:solidFill>
                  <a:srgbClr val="0000CC"/>
                </a:solidFill>
                <a:latin typeface="Arial"/>
                <a:cs typeface="Arial"/>
              </a:rPr>
              <a:t>equations:</a:t>
            </a:r>
            <a:r>
              <a:rPr sz="1100" b="1" spc="31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1100" spc="75" dirty="0">
                <a:latin typeface="Arial"/>
                <a:cs typeface="Arial"/>
              </a:rPr>
              <a:t>mathematically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75" dirty="0">
                <a:latin typeface="Arial"/>
                <a:cs typeface="Arial"/>
              </a:rPr>
              <a:t>compact.</a:t>
            </a:r>
            <a:endParaRPr sz="11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585"/>
              </a:spcBef>
            </a:pPr>
            <a:r>
              <a:rPr sz="1100" i="1" spc="-20" dirty="0">
                <a:latin typeface="Georgia"/>
                <a:cs typeface="Georgia"/>
              </a:rPr>
              <a:t>y</a:t>
            </a:r>
            <a:r>
              <a:rPr sz="1100" spc="-20" dirty="0">
                <a:latin typeface="Palatino Linotype"/>
                <a:cs typeface="Palatino Linotype"/>
              </a:rPr>
              <a:t>[</a:t>
            </a:r>
            <a:r>
              <a:rPr sz="1100" i="1" spc="-20" dirty="0">
                <a:latin typeface="Georgia"/>
                <a:cs typeface="Georgia"/>
              </a:rPr>
              <a:t>n</a:t>
            </a:r>
            <a:r>
              <a:rPr sz="1100" spc="-20" dirty="0">
                <a:latin typeface="Palatino Linotype"/>
                <a:cs typeface="Palatino Linotype"/>
              </a:rPr>
              <a:t>]</a:t>
            </a:r>
            <a:r>
              <a:rPr sz="1100" spc="10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15" dirty="0">
                <a:latin typeface="Palatino Linotype"/>
                <a:cs typeface="Palatino Linotype"/>
              </a:rPr>
              <a:t> </a:t>
            </a:r>
            <a:r>
              <a:rPr sz="1100" i="1" spc="-10" dirty="0">
                <a:latin typeface="Georgia"/>
                <a:cs typeface="Georgia"/>
              </a:rPr>
              <a:t>x</a:t>
            </a:r>
            <a:r>
              <a:rPr sz="1100" spc="-10" dirty="0">
                <a:latin typeface="Palatino Linotype"/>
                <a:cs typeface="Palatino Linotype"/>
              </a:rPr>
              <a:t>[</a:t>
            </a:r>
            <a:r>
              <a:rPr sz="1100" i="1" spc="-10" dirty="0">
                <a:latin typeface="Georgia"/>
                <a:cs typeface="Georgia"/>
              </a:rPr>
              <a:t>n</a:t>
            </a:r>
            <a:r>
              <a:rPr sz="1100" spc="-10" dirty="0">
                <a:latin typeface="Palatino Linotype"/>
                <a:cs typeface="Palatino Linotype"/>
              </a:rPr>
              <a:t>]</a:t>
            </a:r>
            <a:r>
              <a:rPr sz="1100" spc="-4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4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Georgia"/>
                <a:cs typeface="Georgia"/>
              </a:rPr>
              <a:t>x</a:t>
            </a:r>
            <a:r>
              <a:rPr sz="1100" dirty="0">
                <a:latin typeface="Palatino Linotype"/>
                <a:cs typeface="Palatino Linotype"/>
              </a:rPr>
              <a:t>[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i="1" spc="-35" dirty="0">
                <a:latin typeface="Georgia"/>
                <a:cs typeface="Georgia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Palatino Linotype"/>
                <a:cs typeface="Palatino Linotype"/>
              </a:rPr>
              <a:t>1]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9156" y="2356514"/>
            <a:ext cx="20383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25" dirty="0">
                <a:latin typeface="Times New Roman"/>
                <a:cs typeface="Times New Roman"/>
              </a:rPr>
              <a:t>−</a:t>
            </a:r>
            <a:r>
              <a:rPr sz="1100" spc="25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03199" y="2374279"/>
            <a:ext cx="470534" cy="192405"/>
          </a:xfrm>
          <a:prstGeom prst="rect">
            <a:avLst/>
          </a:prstGeom>
          <a:ln w="12652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280"/>
              </a:lnSpc>
            </a:pPr>
            <a:r>
              <a:rPr sz="1100" spc="40" dirty="0">
                <a:latin typeface="Arial"/>
                <a:cs typeface="Arial"/>
              </a:rPr>
              <a:t>Delay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52452" y="2049886"/>
            <a:ext cx="1943735" cy="616585"/>
            <a:chOff x="1552452" y="2049886"/>
            <a:chExt cx="1943735" cy="616585"/>
          </a:xfrm>
        </p:grpSpPr>
        <p:sp>
          <p:nvSpPr>
            <p:cNvPr id="7" name="object 7"/>
            <p:cNvSpPr/>
            <p:nvPr/>
          </p:nvSpPr>
          <p:spPr>
            <a:xfrm>
              <a:off x="1996952" y="2280920"/>
              <a:ext cx="316230" cy="379095"/>
            </a:xfrm>
            <a:custGeom>
              <a:avLst/>
              <a:gdLst/>
              <a:ahLst/>
              <a:cxnLst/>
              <a:rect l="l" t="t" r="r" b="b"/>
              <a:pathLst>
                <a:path w="316230" h="379094">
                  <a:moveTo>
                    <a:pt x="0" y="378900"/>
                  </a:moveTo>
                  <a:lnTo>
                    <a:pt x="315746" y="189450"/>
                  </a:lnTo>
                  <a:lnTo>
                    <a:pt x="0" y="0"/>
                  </a:lnTo>
                  <a:lnTo>
                    <a:pt x="0" y="378900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1254" y="2049886"/>
              <a:ext cx="205967" cy="20596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552452" y="2152870"/>
              <a:ext cx="1490345" cy="0"/>
            </a:xfrm>
            <a:custGeom>
              <a:avLst/>
              <a:gdLst/>
              <a:ahLst/>
              <a:cxnLst/>
              <a:rect l="l" t="t" r="r" b="b"/>
              <a:pathLst>
                <a:path w="1490345">
                  <a:moveTo>
                    <a:pt x="0" y="0"/>
                  </a:moveTo>
                  <a:lnTo>
                    <a:pt x="1489812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83816" y="212865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22"/>
                  </a:lnTo>
                  <a:lnTo>
                    <a:pt x="58449" y="242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06452" y="2128659"/>
              <a:ext cx="1236345" cy="342265"/>
            </a:xfrm>
            <a:custGeom>
              <a:avLst/>
              <a:gdLst/>
              <a:ahLst/>
              <a:cxnLst/>
              <a:rect l="l" t="t" r="r" b="b"/>
              <a:pathLst>
                <a:path w="1236345" h="342264">
                  <a:moveTo>
                    <a:pt x="1177363" y="48422"/>
                  </a:moveTo>
                  <a:lnTo>
                    <a:pt x="1235812" y="24211"/>
                  </a:lnTo>
                  <a:lnTo>
                    <a:pt x="1177363" y="0"/>
                  </a:lnTo>
                  <a:lnTo>
                    <a:pt x="1177363" y="48422"/>
                  </a:lnTo>
                  <a:close/>
                </a:path>
                <a:path w="1236345" h="342264">
                  <a:moveTo>
                    <a:pt x="0" y="24211"/>
                  </a:moveTo>
                  <a:lnTo>
                    <a:pt x="0" y="341711"/>
                  </a:lnTo>
                  <a:lnTo>
                    <a:pt x="165196" y="341711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13202" y="244616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13202" y="2446160"/>
              <a:ext cx="565150" cy="48895"/>
            </a:xfrm>
            <a:custGeom>
              <a:avLst/>
              <a:gdLst/>
              <a:ahLst/>
              <a:cxnLst/>
              <a:rect l="l" t="t" r="r" b="b"/>
              <a:pathLst>
                <a:path w="565150" h="48894">
                  <a:moveTo>
                    <a:pt x="0" y="48419"/>
                  </a:moveTo>
                  <a:lnTo>
                    <a:pt x="58446" y="24209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  <a:path w="565150" h="48894">
                  <a:moveTo>
                    <a:pt x="399496" y="24209"/>
                  </a:moveTo>
                  <a:lnTo>
                    <a:pt x="564692" y="242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19449" y="244616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19449" y="244616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48419"/>
                  </a:moveTo>
                  <a:lnTo>
                    <a:pt x="58446" y="24209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67411" y="2268505"/>
              <a:ext cx="227362" cy="20819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260895" y="2152870"/>
              <a:ext cx="229235" cy="0"/>
            </a:xfrm>
            <a:custGeom>
              <a:avLst/>
              <a:gdLst/>
              <a:ahLst/>
              <a:cxnLst/>
              <a:rect l="l" t="t" r="r" b="b"/>
              <a:pathLst>
                <a:path w="229235">
                  <a:moveTo>
                    <a:pt x="0" y="0"/>
                  </a:moveTo>
                  <a:lnTo>
                    <a:pt x="228695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31143" y="212866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20"/>
                  </a:lnTo>
                  <a:lnTo>
                    <a:pt x="58447" y="24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31143" y="212866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48420"/>
                  </a:moveTo>
                  <a:lnTo>
                    <a:pt x="58447" y="24210"/>
                  </a:lnTo>
                  <a:lnTo>
                    <a:pt x="0" y="0"/>
                  </a:lnTo>
                  <a:lnTo>
                    <a:pt x="0" y="48420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13551" y="1865892"/>
            <a:ext cx="3268979" cy="362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90" dirty="0">
                <a:solidFill>
                  <a:srgbClr val="0000CC"/>
                </a:solidFill>
                <a:latin typeface="Arial"/>
                <a:cs typeface="Arial"/>
              </a:rPr>
              <a:t>Block</a:t>
            </a:r>
            <a:r>
              <a:rPr sz="1100" b="1" spc="254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1100" b="1" spc="65" dirty="0">
                <a:solidFill>
                  <a:srgbClr val="0000CC"/>
                </a:solidFill>
                <a:latin typeface="Arial"/>
                <a:cs typeface="Arial"/>
              </a:rPr>
              <a:t>diagrams:</a:t>
            </a:r>
            <a:r>
              <a:rPr sz="1100" b="1" spc="38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illustrate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signal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105" dirty="0">
                <a:latin typeface="Arial"/>
                <a:cs typeface="Arial"/>
              </a:rPr>
              <a:t>ﬂow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paths.</a:t>
            </a:r>
            <a:endParaRPr sz="1100">
              <a:latin typeface="Arial"/>
              <a:cs typeface="Arial"/>
            </a:endParaRPr>
          </a:p>
          <a:p>
            <a:pPr marL="1146810">
              <a:lnSpc>
                <a:spcPct val="100000"/>
              </a:lnSpc>
              <a:spcBef>
                <a:spcPts val="15"/>
              </a:spcBef>
              <a:tabLst>
                <a:tab pos="2995930" algn="l"/>
              </a:tabLst>
            </a:pPr>
            <a:r>
              <a:rPr sz="1100" i="1" spc="-20" dirty="0">
                <a:latin typeface="Georgia"/>
                <a:cs typeface="Georgia"/>
              </a:rPr>
              <a:t>x</a:t>
            </a:r>
            <a:r>
              <a:rPr sz="1100" spc="-20" dirty="0">
                <a:latin typeface="Palatino Linotype"/>
                <a:cs typeface="Palatino Linotype"/>
              </a:rPr>
              <a:t>[</a:t>
            </a:r>
            <a:r>
              <a:rPr sz="1100" i="1" spc="-20" dirty="0">
                <a:latin typeface="Georgia"/>
                <a:cs typeface="Georgia"/>
              </a:rPr>
              <a:t>n</a:t>
            </a:r>
            <a:r>
              <a:rPr sz="1100" spc="-20" dirty="0">
                <a:latin typeface="Palatino Linotype"/>
                <a:cs typeface="Palatino Linotype"/>
              </a:rPr>
              <a:t>]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21" name="object 21"/>
          <p:cNvSpPr txBox="1"/>
          <p:nvPr/>
        </p:nvSpPr>
        <p:spPr>
          <a:xfrm>
            <a:off x="3552977" y="2035789"/>
            <a:ext cx="2603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30" dirty="0">
                <a:latin typeface="Georgia"/>
                <a:cs typeface="Georgia"/>
              </a:rPr>
              <a:t>y</a:t>
            </a:r>
            <a:r>
              <a:rPr sz="1100" spc="-30" dirty="0">
                <a:latin typeface="Palatino Linotype"/>
                <a:cs typeface="Palatino Linotype"/>
              </a:rPr>
              <a:t>[</a:t>
            </a:r>
            <a:r>
              <a:rPr sz="1100" i="1" spc="-30" dirty="0">
                <a:latin typeface="Georgia"/>
                <a:cs typeface="Georgia"/>
              </a:rPr>
              <a:t>n</a:t>
            </a:r>
            <a:r>
              <a:rPr sz="1100" spc="-30" dirty="0">
                <a:latin typeface="Palatino Linotype"/>
                <a:cs typeface="Palatino Linotype"/>
              </a:rPr>
              <a:t>]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3830" y="2718752"/>
            <a:ext cx="4383405" cy="508634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100" b="1" spc="110" dirty="0">
                <a:solidFill>
                  <a:srgbClr val="0000CC"/>
                </a:solidFill>
                <a:latin typeface="Arial"/>
                <a:cs typeface="Arial"/>
              </a:rPr>
              <a:t>Operator</a:t>
            </a:r>
            <a:r>
              <a:rPr sz="1100" b="1" spc="25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1100" b="1" spc="65" dirty="0">
                <a:solidFill>
                  <a:srgbClr val="0000CC"/>
                </a:solidFill>
                <a:latin typeface="Arial"/>
                <a:cs typeface="Arial"/>
              </a:rPr>
              <a:t>representations:</a:t>
            </a:r>
            <a:r>
              <a:rPr sz="1100" b="1" spc="37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analyze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45" dirty="0">
                <a:latin typeface="Arial"/>
                <a:cs typeface="Arial"/>
              </a:rPr>
              <a:t>systems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polynomials.</a:t>
            </a:r>
            <a:endParaRPr sz="11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585"/>
              </a:spcBef>
            </a:pPr>
            <a:r>
              <a:rPr sz="1100" i="1" dirty="0">
                <a:latin typeface="Georgia"/>
                <a:cs typeface="Georgia"/>
              </a:rPr>
              <a:t>Y</a:t>
            </a:r>
            <a:r>
              <a:rPr sz="1100" i="1" spc="280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3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(1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0" dirty="0">
                <a:latin typeface="Times New Roman"/>
                <a:cs typeface="Times New Roman"/>
              </a:rPr>
              <a:t> </a:t>
            </a:r>
            <a:r>
              <a:rPr sz="1100" i="1" spc="150" dirty="0">
                <a:latin typeface="Times New Roman"/>
                <a:cs typeface="Times New Roman"/>
              </a:rPr>
              <a:t>R</a:t>
            </a:r>
            <a:r>
              <a:rPr sz="1100" spc="150" dirty="0">
                <a:latin typeface="Palatino Linotype"/>
                <a:cs typeface="Palatino Linotype"/>
              </a:rPr>
              <a:t>)</a:t>
            </a:r>
            <a:r>
              <a:rPr sz="1100" spc="-95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Georgia"/>
                <a:cs typeface="Georgia"/>
              </a:rPr>
              <a:t>X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77328C10-B7A9-6203-AAB3-41F3706ED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30" y="63474"/>
            <a:ext cx="4695825" cy="369332"/>
          </a:xfrm>
        </p:spPr>
        <p:txBody>
          <a:bodyPr/>
          <a:lstStyle/>
          <a:p>
            <a:r>
              <a:rPr lang="en-GB" dirty="0"/>
              <a:t>                 Feedback, Poles, and Fundamental Modes</a:t>
            </a:r>
            <a:br>
              <a:rPr lang="en-GB" dirty="0"/>
            </a:b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10" dirty="0"/>
              <a:t>Last</a:t>
            </a:r>
            <a:r>
              <a:rPr spc="220" dirty="0"/>
              <a:t> </a:t>
            </a:r>
            <a:r>
              <a:rPr spc="160" dirty="0"/>
              <a:t>Time:</a:t>
            </a:r>
            <a:r>
              <a:rPr spc="405" dirty="0"/>
              <a:t> </a:t>
            </a:r>
            <a:r>
              <a:rPr spc="100" dirty="0"/>
              <a:t>Feedback,</a:t>
            </a:r>
            <a:r>
              <a:rPr spc="220" dirty="0"/>
              <a:t> </a:t>
            </a:r>
            <a:r>
              <a:rPr spc="60" dirty="0"/>
              <a:t>Cyclic</a:t>
            </a:r>
            <a:r>
              <a:rPr spc="220" dirty="0"/>
              <a:t> </a:t>
            </a:r>
            <a:r>
              <a:rPr spc="65" dirty="0"/>
              <a:t>Signal</a:t>
            </a:r>
            <a:r>
              <a:rPr spc="225" dirty="0"/>
              <a:t> </a:t>
            </a:r>
            <a:r>
              <a:rPr spc="105" dirty="0"/>
              <a:t>Paths,</a:t>
            </a:r>
            <a:r>
              <a:rPr spc="220" dirty="0"/>
              <a:t> </a:t>
            </a:r>
            <a:r>
              <a:rPr spc="85" dirty="0"/>
              <a:t>and</a:t>
            </a:r>
            <a:r>
              <a:rPr spc="220" dirty="0"/>
              <a:t> </a:t>
            </a:r>
            <a:r>
              <a:rPr spc="95" dirty="0"/>
              <a:t>Modes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830" y="345358"/>
            <a:ext cx="4834255" cy="954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Systems</a:t>
            </a:r>
            <a:r>
              <a:rPr sz="1100" spc="409" dirty="0">
                <a:latin typeface="Arial"/>
                <a:cs typeface="Arial"/>
              </a:rPr>
              <a:t> </a:t>
            </a:r>
            <a:r>
              <a:rPr sz="1100" spc="105" dirty="0">
                <a:latin typeface="Arial"/>
                <a:cs typeface="Arial"/>
              </a:rPr>
              <a:t>with</a:t>
            </a:r>
            <a:r>
              <a:rPr sz="1100" spc="4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signals</a:t>
            </a:r>
            <a:r>
              <a:rPr sz="1100" spc="409" dirty="0">
                <a:latin typeface="Arial"/>
                <a:cs typeface="Arial"/>
              </a:rPr>
              <a:t> </a:t>
            </a:r>
            <a:r>
              <a:rPr sz="1100" spc="120" dirty="0">
                <a:latin typeface="Arial"/>
                <a:cs typeface="Arial"/>
              </a:rPr>
              <a:t>that</a:t>
            </a:r>
            <a:r>
              <a:rPr sz="1100" spc="4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depend</a:t>
            </a:r>
            <a:r>
              <a:rPr sz="1100" spc="415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on</a:t>
            </a:r>
            <a:r>
              <a:rPr sz="1100" spc="409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previous</a:t>
            </a:r>
            <a:r>
              <a:rPr sz="1100" spc="4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values</a:t>
            </a:r>
            <a:r>
              <a:rPr sz="1100" spc="415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409" dirty="0">
                <a:latin typeface="Arial"/>
                <a:cs typeface="Arial"/>
              </a:rPr>
              <a:t> </a:t>
            </a:r>
            <a:r>
              <a:rPr sz="1100" spc="80" dirty="0">
                <a:latin typeface="Arial"/>
                <a:cs typeface="Arial"/>
              </a:rPr>
              <a:t>the</a:t>
            </a:r>
            <a:r>
              <a:rPr sz="1100" spc="4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same </a:t>
            </a:r>
            <a:r>
              <a:rPr sz="1100" dirty="0">
                <a:latin typeface="Arial"/>
                <a:cs typeface="Arial"/>
              </a:rPr>
              <a:t>signal</a:t>
            </a:r>
            <a:r>
              <a:rPr sz="1100" spc="2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27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said</a:t>
            </a:r>
            <a:r>
              <a:rPr sz="1100" spc="270" dirty="0">
                <a:latin typeface="Arial"/>
                <a:cs typeface="Arial"/>
              </a:rPr>
              <a:t> </a:t>
            </a:r>
            <a:r>
              <a:rPr sz="1100" spc="130" dirty="0">
                <a:latin typeface="Arial"/>
                <a:cs typeface="Arial"/>
              </a:rPr>
              <a:t>to</a:t>
            </a:r>
            <a:r>
              <a:rPr sz="1100" spc="27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have</a:t>
            </a:r>
            <a:r>
              <a:rPr sz="1100" spc="270" dirty="0">
                <a:latin typeface="Arial"/>
                <a:cs typeface="Arial"/>
              </a:rPr>
              <a:t> </a:t>
            </a:r>
            <a:r>
              <a:rPr sz="1100" b="1" spc="65" dirty="0">
                <a:solidFill>
                  <a:srgbClr val="0000CC"/>
                </a:solidFill>
                <a:latin typeface="Arial"/>
                <a:cs typeface="Arial"/>
              </a:rPr>
              <a:t>feedback</a:t>
            </a:r>
            <a:r>
              <a:rPr sz="1100" spc="6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65" dirty="0">
                <a:latin typeface="Arial"/>
                <a:cs typeface="Arial"/>
              </a:rPr>
              <a:t>Example:</a:t>
            </a:r>
            <a:r>
              <a:rPr sz="1100" spc="325" dirty="0">
                <a:latin typeface="Arial"/>
                <a:cs typeface="Arial"/>
              </a:rPr>
              <a:t> </a:t>
            </a:r>
            <a:r>
              <a:rPr sz="1100" spc="120" dirty="0">
                <a:latin typeface="Arial"/>
                <a:cs typeface="Arial"/>
              </a:rPr>
              <a:t>The</a:t>
            </a:r>
            <a:r>
              <a:rPr sz="1100" spc="180" dirty="0">
                <a:latin typeface="Arial"/>
                <a:cs typeface="Arial"/>
              </a:rPr>
              <a:t> </a:t>
            </a:r>
            <a:r>
              <a:rPr sz="1100" spc="75" dirty="0">
                <a:latin typeface="Arial"/>
                <a:cs typeface="Arial"/>
              </a:rPr>
              <a:t>accumulator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system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40" dirty="0">
                <a:latin typeface="Arial"/>
                <a:cs typeface="Arial"/>
              </a:rPr>
              <a:t>feedback.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2451" y="1766075"/>
            <a:ext cx="470534" cy="192405"/>
          </a:xfrm>
          <a:prstGeom prst="rect">
            <a:avLst/>
          </a:prstGeom>
          <a:ln w="12652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80"/>
              </a:lnSpc>
            </a:pPr>
            <a:r>
              <a:rPr sz="1100" spc="40" dirty="0">
                <a:latin typeface="Arial"/>
                <a:cs typeface="Arial"/>
              </a:rPr>
              <a:t>Delay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62578" y="1428771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842955" y="1442869"/>
            <a:ext cx="1370965" cy="450215"/>
            <a:chOff x="1842955" y="1442869"/>
            <a:chExt cx="1370965" cy="45021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42955" y="1442869"/>
              <a:ext cx="389428" cy="20596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26058" y="1545853"/>
              <a:ext cx="981710" cy="0"/>
            </a:xfrm>
            <a:custGeom>
              <a:avLst/>
              <a:gdLst/>
              <a:ahLst/>
              <a:cxnLst/>
              <a:rect l="l" t="t" r="r" b="b"/>
              <a:pathLst>
                <a:path w="981710">
                  <a:moveTo>
                    <a:pt x="0" y="0"/>
                  </a:moveTo>
                  <a:lnTo>
                    <a:pt x="981197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48815" y="1521645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4"/>
                  </a:lnTo>
                  <a:lnTo>
                    <a:pt x="58440" y="242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78294" y="1521645"/>
              <a:ext cx="329565" cy="340995"/>
            </a:xfrm>
            <a:custGeom>
              <a:avLst/>
              <a:gdLst/>
              <a:ahLst/>
              <a:cxnLst/>
              <a:rect l="l" t="t" r="r" b="b"/>
              <a:pathLst>
                <a:path w="329564" h="340994">
                  <a:moveTo>
                    <a:pt x="270520" y="48414"/>
                  </a:moveTo>
                  <a:lnTo>
                    <a:pt x="328960" y="24207"/>
                  </a:lnTo>
                  <a:lnTo>
                    <a:pt x="270520" y="0"/>
                  </a:lnTo>
                  <a:lnTo>
                    <a:pt x="270520" y="48414"/>
                  </a:lnTo>
                  <a:close/>
                </a:path>
                <a:path w="329564" h="340994">
                  <a:moveTo>
                    <a:pt x="164483" y="24207"/>
                  </a:moveTo>
                  <a:lnTo>
                    <a:pt x="164483" y="340520"/>
                  </a:lnTo>
                  <a:lnTo>
                    <a:pt x="0" y="34052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78294" y="183795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10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29400" y="1667816"/>
              <a:ext cx="807720" cy="219075"/>
            </a:xfrm>
            <a:custGeom>
              <a:avLst/>
              <a:gdLst/>
              <a:ahLst/>
              <a:cxnLst/>
              <a:rect l="l" t="t" r="r" b="b"/>
              <a:pathLst>
                <a:path w="807719" h="219075">
                  <a:moveTo>
                    <a:pt x="807340" y="170140"/>
                  </a:moveTo>
                  <a:lnTo>
                    <a:pt x="748893" y="194350"/>
                  </a:lnTo>
                  <a:lnTo>
                    <a:pt x="807340" y="218560"/>
                  </a:lnTo>
                  <a:lnTo>
                    <a:pt x="807340" y="170140"/>
                  </a:lnTo>
                  <a:close/>
                </a:path>
                <a:path w="807719" h="219075">
                  <a:moveTo>
                    <a:pt x="253050" y="194350"/>
                  </a:moveTo>
                  <a:lnTo>
                    <a:pt x="0" y="194350"/>
                  </a:lnTo>
                  <a:lnTo>
                    <a:pt x="0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05191" y="1667816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24209" y="0"/>
                  </a:moveTo>
                  <a:lnTo>
                    <a:pt x="0" y="58445"/>
                  </a:lnTo>
                  <a:lnTo>
                    <a:pt x="48419" y="58445"/>
                  </a:lnTo>
                  <a:lnTo>
                    <a:pt x="24209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105191" y="1667816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48419" y="58445"/>
                  </a:moveTo>
                  <a:lnTo>
                    <a:pt x="24209" y="0"/>
                  </a:lnTo>
                  <a:lnTo>
                    <a:pt x="0" y="58445"/>
                  </a:lnTo>
                  <a:lnTo>
                    <a:pt x="48419" y="58445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653284" y="1441529"/>
            <a:ext cx="172402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29410" algn="l"/>
              </a:tabLst>
            </a:pPr>
            <a:r>
              <a:rPr sz="1100" i="1" spc="65" dirty="0">
                <a:latin typeface="Georgia"/>
                <a:cs typeface="Georgia"/>
              </a:rPr>
              <a:t>X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i="1" spc="-50" dirty="0">
                <a:latin typeface="Georgia"/>
                <a:cs typeface="Georgia"/>
              </a:rPr>
              <a:t>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03247" y="3071320"/>
            <a:ext cx="20383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25" dirty="0">
                <a:latin typeface="Times New Roman"/>
                <a:cs typeface="Times New Roman"/>
              </a:rPr>
              <a:t>−</a:t>
            </a:r>
            <a:r>
              <a:rPr sz="1100" spc="25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07289" y="3089086"/>
            <a:ext cx="470534" cy="192405"/>
          </a:xfrm>
          <a:prstGeom prst="rect">
            <a:avLst/>
          </a:prstGeom>
          <a:ln w="12652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280"/>
              </a:lnSpc>
            </a:pPr>
            <a:r>
              <a:rPr sz="1100" spc="40" dirty="0">
                <a:latin typeface="Arial"/>
                <a:cs typeface="Arial"/>
              </a:rPr>
              <a:t>Delay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01489" y="2750595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556543" y="2764693"/>
            <a:ext cx="1943735" cy="616585"/>
            <a:chOff x="1556543" y="2764693"/>
            <a:chExt cx="1943735" cy="616585"/>
          </a:xfrm>
        </p:grpSpPr>
        <p:sp>
          <p:nvSpPr>
            <p:cNvPr id="20" name="object 20"/>
            <p:cNvSpPr/>
            <p:nvPr/>
          </p:nvSpPr>
          <p:spPr>
            <a:xfrm>
              <a:off x="2001043" y="2995726"/>
              <a:ext cx="316230" cy="379095"/>
            </a:xfrm>
            <a:custGeom>
              <a:avLst/>
              <a:gdLst/>
              <a:ahLst/>
              <a:cxnLst/>
              <a:rect l="l" t="t" r="r" b="b"/>
              <a:pathLst>
                <a:path w="316230" h="379095">
                  <a:moveTo>
                    <a:pt x="0" y="378900"/>
                  </a:moveTo>
                  <a:lnTo>
                    <a:pt x="315746" y="189450"/>
                  </a:lnTo>
                  <a:lnTo>
                    <a:pt x="0" y="0"/>
                  </a:lnTo>
                  <a:lnTo>
                    <a:pt x="0" y="378900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65344" y="2764693"/>
              <a:ext cx="205967" cy="20596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556543" y="2867676"/>
              <a:ext cx="1490345" cy="0"/>
            </a:xfrm>
            <a:custGeom>
              <a:avLst/>
              <a:gdLst/>
              <a:ahLst/>
              <a:cxnLst/>
              <a:rect l="l" t="t" r="r" b="b"/>
              <a:pathLst>
                <a:path w="1490345">
                  <a:moveTo>
                    <a:pt x="0" y="0"/>
                  </a:moveTo>
                  <a:lnTo>
                    <a:pt x="1489812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87906" y="2843465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22"/>
                  </a:lnTo>
                  <a:lnTo>
                    <a:pt x="58449" y="242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810543" y="2843465"/>
              <a:ext cx="1236345" cy="342265"/>
            </a:xfrm>
            <a:custGeom>
              <a:avLst/>
              <a:gdLst/>
              <a:ahLst/>
              <a:cxnLst/>
              <a:rect l="l" t="t" r="r" b="b"/>
              <a:pathLst>
                <a:path w="1236345" h="342264">
                  <a:moveTo>
                    <a:pt x="1177363" y="48422"/>
                  </a:moveTo>
                  <a:lnTo>
                    <a:pt x="1235812" y="24211"/>
                  </a:lnTo>
                  <a:lnTo>
                    <a:pt x="1177363" y="0"/>
                  </a:lnTo>
                  <a:lnTo>
                    <a:pt x="1177363" y="48422"/>
                  </a:lnTo>
                  <a:close/>
                </a:path>
                <a:path w="1236345" h="342264">
                  <a:moveTo>
                    <a:pt x="0" y="24211"/>
                  </a:moveTo>
                  <a:lnTo>
                    <a:pt x="0" y="341711"/>
                  </a:lnTo>
                  <a:lnTo>
                    <a:pt x="165196" y="341711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917293" y="3160967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17293" y="3160967"/>
              <a:ext cx="565150" cy="48895"/>
            </a:xfrm>
            <a:custGeom>
              <a:avLst/>
              <a:gdLst/>
              <a:ahLst/>
              <a:cxnLst/>
              <a:rect l="l" t="t" r="r" b="b"/>
              <a:pathLst>
                <a:path w="565150" h="48894">
                  <a:moveTo>
                    <a:pt x="0" y="48419"/>
                  </a:moveTo>
                  <a:lnTo>
                    <a:pt x="58446" y="24209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  <a:path w="565150" h="48894">
                  <a:moveTo>
                    <a:pt x="399496" y="24209"/>
                  </a:moveTo>
                  <a:lnTo>
                    <a:pt x="564692" y="242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423540" y="3160967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423540" y="3160967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48419"/>
                  </a:moveTo>
                  <a:lnTo>
                    <a:pt x="58446" y="24209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71502" y="2983311"/>
              <a:ext cx="227362" cy="208191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264985" y="2867676"/>
              <a:ext cx="229235" cy="0"/>
            </a:xfrm>
            <a:custGeom>
              <a:avLst/>
              <a:gdLst/>
              <a:ahLst/>
              <a:cxnLst/>
              <a:rect l="l" t="t" r="r" b="b"/>
              <a:pathLst>
                <a:path w="229235">
                  <a:moveTo>
                    <a:pt x="0" y="0"/>
                  </a:moveTo>
                  <a:lnTo>
                    <a:pt x="228695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35234" y="284346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20"/>
                  </a:lnTo>
                  <a:lnTo>
                    <a:pt x="58447" y="24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35234" y="284346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48420"/>
                  </a:moveTo>
                  <a:lnTo>
                    <a:pt x="58447" y="24210"/>
                  </a:lnTo>
                  <a:lnTo>
                    <a:pt x="0" y="0"/>
                  </a:lnTo>
                  <a:lnTo>
                    <a:pt x="0" y="48420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366823" y="2763353"/>
            <a:ext cx="229679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02815" algn="l"/>
              </a:tabLst>
            </a:pPr>
            <a:r>
              <a:rPr sz="1100" i="1" spc="65" dirty="0">
                <a:latin typeface="Georgia"/>
                <a:cs typeface="Georgia"/>
              </a:rPr>
              <a:t>X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i="1" spc="-50" dirty="0">
                <a:latin typeface="Georgia"/>
                <a:cs typeface="Georgia"/>
              </a:rPr>
              <a:t>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4" name="object 34"/>
          <p:cNvSpPr txBox="1"/>
          <p:nvPr/>
        </p:nvSpPr>
        <p:spPr>
          <a:xfrm>
            <a:off x="113830" y="2428608"/>
            <a:ext cx="436118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100" dirty="0">
                <a:latin typeface="Arial"/>
                <a:cs typeface="Arial"/>
              </a:rPr>
              <a:t>By</a:t>
            </a:r>
            <a:r>
              <a:rPr sz="1100" spc="195" dirty="0">
                <a:latin typeface="Arial"/>
                <a:cs typeface="Arial"/>
              </a:rPr>
              <a:t> </a:t>
            </a:r>
            <a:r>
              <a:rPr sz="1100" spc="80" dirty="0">
                <a:latin typeface="Arial"/>
                <a:cs typeface="Arial"/>
              </a:rPr>
              <a:t>contrast,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diﬀerence</a:t>
            </a:r>
            <a:r>
              <a:rPr sz="1100" spc="19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machine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does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spc="110" dirty="0">
                <a:latin typeface="Arial"/>
                <a:cs typeface="Arial"/>
              </a:rPr>
              <a:t>not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have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spc="40" dirty="0">
                <a:latin typeface="Arial"/>
                <a:cs typeface="Arial"/>
              </a:rPr>
              <a:t>feedback.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10" dirty="0"/>
              <a:t>Last</a:t>
            </a:r>
            <a:r>
              <a:rPr spc="220" dirty="0"/>
              <a:t> </a:t>
            </a:r>
            <a:r>
              <a:rPr spc="160" dirty="0"/>
              <a:t>Time:</a:t>
            </a:r>
            <a:r>
              <a:rPr spc="405" dirty="0"/>
              <a:t> </a:t>
            </a:r>
            <a:r>
              <a:rPr spc="100" dirty="0"/>
              <a:t>Feedback,</a:t>
            </a:r>
            <a:r>
              <a:rPr spc="220" dirty="0"/>
              <a:t> </a:t>
            </a:r>
            <a:r>
              <a:rPr spc="60" dirty="0"/>
              <a:t>Cyclic</a:t>
            </a:r>
            <a:r>
              <a:rPr spc="220" dirty="0"/>
              <a:t> </a:t>
            </a:r>
            <a:r>
              <a:rPr spc="65" dirty="0"/>
              <a:t>Signal</a:t>
            </a:r>
            <a:r>
              <a:rPr spc="225" dirty="0"/>
              <a:t> </a:t>
            </a:r>
            <a:r>
              <a:rPr spc="105" dirty="0"/>
              <a:t>Paths,</a:t>
            </a:r>
            <a:r>
              <a:rPr spc="220" dirty="0"/>
              <a:t> </a:t>
            </a:r>
            <a:r>
              <a:rPr spc="85" dirty="0"/>
              <a:t>and</a:t>
            </a:r>
            <a:r>
              <a:rPr spc="220" dirty="0"/>
              <a:t> </a:t>
            </a:r>
            <a:r>
              <a:rPr spc="95" dirty="0"/>
              <a:t>Modes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830" y="345358"/>
            <a:ext cx="4834255" cy="43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1100" spc="120" dirty="0">
                <a:latin typeface="Arial"/>
                <a:cs typeface="Arial"/>
              </a:rPr>
              <a:t>The</a:t>
            </a:r>
            <a:r>
              <a:rPr sz="1100" spc="100" dirty="0">
                <a:latin typeface="Arial"/>
                <a:cs typeface="Arial"/>
              </a:rPr>
              <a:t>  </a:t>
            </a:r>
            <a:r>
              <a:rPr sz="1100" spc="90" dirty="0">
                <a:latin typeface="Arial"/>
                <a:cs typeface="Arial"/>
              </a:rPr>
              <a:t>eﬀect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spc="50" dirty="0">
                <a:latin typeface="Arial"/>
                <a:cs typeface="Arial"/>
              </a:rPr>
              <a:t>feedback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spc="50" dirty="0">
                <a:latin typeface="Arial"/>
                <a:cs typeface="Arial"/>
              </a:rPr>
              <a:t>can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dirty="0">
                <a:latin typeface="Arial"/>
                <a:cs typeface="Arial"/>
              </a:rPr>
              <a:t>visualized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spc="80" dirty="0">
                <a:latin typeface="Arial"/>
                <a:cs typeface="Arial"/>
              </a:rPr>
              <a:t>tracing</a:t>
            </a:r>
            <a:r>
              <a:rPr sz="1100" spc="110" dirty="0">
                <a:latin typeface="Arial"/>
                <a:cs typeface="Arial"/>
              </a:rPr>
              <a:t> 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100" dirty="0">
                <a:latin typeface="Arial"/>
                <a:cs typeface="Arial"/>
              </a:rPr>
              <a:t>  </a:t>
            </a:r>
            <a:r>
              <a:rPr sz="1100" spc="-10" dirty="0">
                <a:latin typeface="Arial"/>
                <a:cs typeface="Arial"/>
              </a:rPr>
              <a:t>cycle </a:t>
            </a:r>
            <a:r>
              <a:rPr sz="1100" spc="90" dirty="0">
                <a:latin typeface="Arial"/>
                <a:cs typeface="Arial"/>
              </a:rPr>
              <a:t>through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2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cyclic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signal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paths.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68914" y="1378139"/>
            <a:ext cx="470534" cy="192405"/>
          </a:xfrm>
          <a:prstGeom prst="rect">
            <a:avLst/>
          </a:prstGeom>
          <a:ln w="12652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80"/>
              </a:lnSpc>
            </a:pPr>
            <a:r>
              <a:rPr sz="1100" spc="40" dirty="0">
                <a:latin typeface="Arial"/>
                <a:cs typeface="Arial"/>
              </a:rPr>
              <a:t>Delay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76116" y="906222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67351" y="1338782"/>
            <a:ext cx="205104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spc="-25" dirty="0">
                <a:latin typeface="Georgia"/>
                <a:cs typeface="Georgia"/>
              </a:rPr>
              <a:t>p</a:t>
            </a:r>
            <a:r>
              <a:rPr sz="1350" spc="-37" baseline="-12345" dirty="0">
                <a:latin typeface="Palatino Linotype"/>
                <a:cs typeface="Palatino Linotype"/>
              </a:rPr>
              <a:t>0</a:t>
            </a:r>
            <a:endParaRPr sz="1350" baseline="-12345">
              <a:latin typeface="Palatino Linotype"/>
              <a:cs typeface="Palatino Linotyp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56488" y="920318"/>
            <a:ext cx="1744345" cy="746125"/>
            <a:chOff x="1656488" y="920318"/>
            <a:chExt cx="1744345" cy="74612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39949" y="920318"/>
              <a:ext cx="205966" cy="20596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069458" y="1288854"/>
              <a:ext cx="309245" cy="370840"/>
            </a:xfrm>
            <a:custGeom>
              <a:avLst/>
              <a:gdLst/>
              <a:ahLst/>
              <a:cxnLst/>
              <a:rect l="l" t="t" r="r" b="b"/>
              <a:pathLst>
                <a:path w="309244" h="370839">
                  <a:moveTo>
                    <a:pt x="0" y="185375"/>
                  </a:moveTo>
                  <a:lnTo>
                    <a:pt x="308955" y="370750"/>
                  </a:lnTo>
                  <a:lnTo>
                    <a:pt x="308955" y="0"/>
                  </a:lnTo>
                  <a:lnTo>
                    <a:pt x="0" y="185375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56488" y="1023302"/>
              <a:ext cx="165100" cy="0"/>
            </a:xfrm>
            <a:custGeom>
              <a:avLst/>
              <a:gdLst/>
              <a:ahLst/>
              <a:cxnLst/>
              <a:rect l="l" t="t" r="r" b="b"/>
              <a:pathLst>
                <a:path w="165100">
                  <a:moveTo>
                    <a:pt x="0" y="0"/>
                  </a:moveTo>
                  <a:lnTo>
                    <a:pt x="164483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62524" y="999092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62524" y="999092"/>
              <a:ext cx="1631950" cy="48895"/>
            </a:xfrm>
            <a:custGeom>
              <a:avLst/>
              <a:gdLst/>
              <a:ahLst/>
              <a:cxnLst/>
              <a:rect l="l" t="t" r="r" b="b"/>
              <a:pathLst>
                <a:path w="1631950" h="48894">
                  <a:moveTo>
                    <a:pt x="0" y="48419"/>
                  </a:moveTo>
                  <a:lnTo>
                    <a:pt x="58446" y="24210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  <a:path w="1631950" h="48894">
                  <a:moveTo>
                    <a:pt x="277065" y="24210"/>
                  </a:moveTo>
                  <a:lnTo>
                    <a:pt x="1631902" y="2421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35982" y="999093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17"/>
                  </a:lnTo>
                  <a:lnTo>
                    <a:pt x="58444" y="242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64757" y="999093"/>
              <a:ext cx="330200" cy="475615"/>
            </a:xfrm>
            <a:custGeom>
              <a:avLst/>
              <a:gdLst/>
              <a:ahLst/>
              <a:cxnLst/>
              <a:rect l="l" t="t" r="r" b="b"/>
              <a:pathLst>
                <a:path w="330200" h="475615">
                  <a:moveTo>
                    <a:pt x="271225" y="48417"/>
                  </a:moveTo>
                  <a:lnTo>
                    <a:pt x="329669" y="24208"/>
                  </a:lnTo>
                  <a:lnTo>
                    <a:pt x="271225" y="0"/>
                  </a:lnTo>
                  <a:lnTo>
                    <a:pt x="271225" y="48417"/>
                  </a:lnTo>
                  <a:close/>
                </a:path>
                <a:path w="330200" h="475615">
                  <a:moveTo>
                    <a:pt x="164483" y="24208"/>
                  </a:moveTo>
                  <a:lnTo>
                    <a:pt x="164483" y="475136"/>
                  </a:lnTo>
                  <a:lnTo>
                    <a:pt x="0" y="475136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64757" y="145001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10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42933" y="1145263"/>
              <a:ext cx="1180465" cy="353695"/>
            </a:xfrm>
            <a:custGeom>
              <a:avLst/>
              <a:gdLst/>
              <a:ahLst/>
              <a:cxnLst/>
              <a:rect l="l" t="t" r="r" b="b"/>
              <a:pathLst>
                <a:path w="1180464" h="353694">
                  <a:moveTo>
                    <a:pt x="1180270" y="304756"/>
                  </a:moveTo>
                  <a:lnTo>
                    <a:pt x="1121824" y="328966"/>
                  </a:lnTo>
                  <a:lnTo>
                    <a:pt x="1180270" y="353176"/>
                  </a:lnTo>
                  <a:lnTo>
                    <a:pt x="1180270" y="304756"/>
                  </a:lnTo>
                  <a:close/>
                </a:path>
                <a:path w="1180464" h="353694">
                  <a:moveTo>
                    <a:pt x="126525" y="328966"/>
                  </a:moveTo>
                  <a:lnTo>
                    <a:pt x="0" y="328966"/>
                  </a:lnTo>
                  <a:lnTo>
                    <a:pt x="0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18723" y="1145263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24209" y="0"/>
                  </a:moveTo>
                  <a:lnTo>
                    <a:pt x="0" y="58446"/>
                  </a:lnTo>
                  <a:lnTo>
                    <a:pt x="48419" y="58446"/>
                  </a:lnTo>
                  <a:lnTo>
                    <a:pt x="24209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18723" y="1145263"/>
              <a:ext cx="650240" cy="329565"/>
            </a:xfrm>
            <a:custGeom>
              <a:avLst/>
              <a:gdLst/>
              <a:ahLst/>
              <a:cxnLst/>
              <a:rect l="l" t="t" r="r" b="b"/>
              <a:pathLst>
                <a:path w="650239" h="329565">
                  <a:moveTo>
                    <a:pt x="48419" y="58446"/>
                  </a:moveTo>
                  <a:lnTo>
                    <a:pt x="24209" y="0"/>
                  </a:lnTo>
                  <a:lnTo>
                    <a:pt x="0" y="58446"/>
                  </a:lnTo>
                  <a:lnTo>
                    <a:pt x="48419" y="58446"/>
                  </a:lnTo>
                  <a:close/>
                </a:path>
                <a:path w="650239" h="329565">
                  <a:moveTo>
                    <a:pt x="650190" y="328966"/>
                  </a:moveTo>
                  <a:lnTo>
                    <a:pt x="484994" y="328966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03717" y="145002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03717" y="145002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466821" y="918980"/>
            <a:ext cx="20967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02789" algn="l"/>
              </a:tabLst>
            </a:pPr>
            <a:r>
              <a:rPr sz="1100" i="1" spc="65" dirty="0">
                <a:latin typeface="Georgia"/>
                <a:cs typeface="Georgia"/>
              </a:rPr>
              <a:t>X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i="1" spc="-50" dirty="0">
                <a:latin typeface="Georgia"/>
                <a:cs typeface="Georgia"/>
              </a:rPr>
              <a:t>Y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88443" y="2020777"/>
            <a:ext cx="1044575" cy="572135"/>
            <a:chOff x="988443" y="2020777"/>
            <a:chExt cx="1044575" cy="572135"/>
          </a:xfrm>
        </p:grpSpPr>
        <p:sp>
          <p:nvSpPr>
            <p:cNvPr id="23" name="object 23"/>
            <p:cNvSpPr/>
            <p:nvPr/>
          </p:nvSpPr>
          <p:spPr>
            <a:xfrm>
              <a:off x="988443" y="2020777"/>
              <a:ext cx="1044575" cy="540385"/>
            </a:xfrm>
            <a:custGeom>
              <a:avLst/>
              <a:gdLst/>
              <a:ahLst/>
              <a:cxnLst/>
              <a:rect l="l" t="t" r="r" b="b"/>
              <a:pathLst>
                <a:path w="1044575" h="540385">
                  <a:moveTo>
                    <a:pt x="0" y="539999"/>
                  </a:moveTo>
                  <a:lnTo>
                    <a:pt x="1043997" y="539999"/>
                  </a:lnTo>
                </a:path>
                <a:path w="1044575" h="540385">
                  <a:moveTo>
                    <a:pt x="251998" y="539999"/>
                  </a:moveTo>
                  <a:lnTo>
                    <a:pt x="251998" y="0"/>
                  </a:lnTo>
                </a:path>
              </a:pathLst>
            </a:custGeom>
            <a:ln w="12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52822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0" y="7619"/>
                  </a:moveTo>
                  <a:lnTo>
                    <a:pt x="2231" y="2231"/>
                  </a:lnTo>
                  <a:lnTo>
                    <a:pt x="7619" y="0"/>
                  </a:lnTo>
                  <a:lnTo>
                    <a:pt x="13008" y="2231"/>
                  </a:lnTo>
                  <a:lnTo>
                    <a:pt x="15239" y="7619"/>
                  </a:lnTo>
                  <a:lnTo>
                    <a:pt x="13008" y="13008"/>
                  </a:lnTo>
                  <a:lnTo>
                    <a:pt x="7619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28692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50917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40442" y="2272776"/>
              <a:ext cx="0" cy="288290"/>
            </a:xfrm>
            <a:custGeom>
              <a:avLst/>
              <a:gdLst/>
              <a:ahLst/>
              <a:cxnLst/>
              <a:rect l="l" t="t" r="r" b="b"/>
              <a:pathLst>
                <a:path h="288289">
                  <a:moveTo>
                    <a:pt x="0" y="288001"/>
                  </a:moveTo>
                  <a:lnTo>
                    <a:pt x="0" y="0"/>
                  </a:lnTo>
                </a:path>
              </a:pathLst>
            </a:custGeom>
            <a:ln w="15240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08692" y="2241026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499" y="40170"/>
                  </a:lnTo>
                  <a:lnTo>
                    <a:pt x="63499" y="31750"/>
                  </a:lnTo>
                  <a:lnTo>
                    <a:pt x="63499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30917" y="2263251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49" y="12051"/>
                  </a:lnTo>
                  <a:lnTo>
                    <a:pt x="19049" y="9525"/>
                  </a:lnTo>
                  <a:lnTo>
                    <a:pt x="19049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412822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0" y="7619"/>
                  </a:moveTo>
                  <a:lnTo>
                    <a:pt x="2231" y="2231"/>
                  </a:lnTo>
                  <a:lnTo>
                    <a:pt x="7619" y="0"/>
                  </a:lnTo>
                  <a:lnTo>
                    <a:pt x="13008" y="2231"/>
                  </a:lnTo>
                  <a:lnTo>
                    <a:pt x="15239" y="7619"/>
                  </a:lnTo>
                  <a:lnTo>
                    <a:pt x="13008" y="13008"/>
                  </a:lnTo>
                  <a:lnTo>
                    <a:pt x="7619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88692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10917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92822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0" y="7619"/>
                  </a:moveTo>
                  <a:lnTo>
                    <a:pt x="2231" y="2231"/>
                  </a:lnTo>
                  <a:lnTo>
                    <a:pt x="7619" y="0"/>
                  </a:lnTo>
                  <a:lnTo>
                    <a:pt x="13008" y="2231"/>
                  </a:lnTo>
                  <a:lnTo>
                    <a:pt x="15239" y="7619"/>
                  </a:lnTo>
                  <a:lnTo>
                    <a:pt x="13008" y="13008"/>
                  </a:lnTo>
                  <a:lnTo>
                    <a:pt x="7619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68692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590917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772822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0" y="7619"/>
                  </a:moveTo>
                  <a:lnTo>
                    <a:pt x="2231" y="2231"/>
                  </a:lnTo>
                  <a:lnTo>
                    <a:pt x="7620" y="0"/>
                  </a:lnTo>
                  <a:lnTo>
                    <a:pt x="13008" y="2231"/>
                  </a:lnTo>
                  <a:lnTo>
                    <a:pt x="15240" y="7619"/>
                  </a:lnTo>
                  <a:lnTo>
                    <a:pt x="13008" y="13008"/>
                  </a:lnTo>
                  <a:lnTo>
                    <a:pt x="7620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48692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770917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52822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0" y="7619"/>
                  </a:moveTo>
                  <a:lnTo>
                    <a:pt x="2231" y="2231"/>
                  </a:lnTo>
                  <a:lnTo>
                    <a:pt x="7619" y="0"/>
                  </a:lnTo>
                  <a:lnTo>
                    <a:pt x="13008" y="2231"/>
                  </a:lnTo>
                  <a:lnTo>
                    <a:pt x="15239" y="7619"/>
                  </a:lnTo>
                  <a:lnTo>
                    <a:pt x="13008" y="13008"/>
                  </a:lnTo>
                  <a:lnTo>
                    <a:pt x="7619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28692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50917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900068" y="1783311"/>
            <a:ext cx="68135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dirty="0">
                <a:latin typeface="Georgia"/>
                <a:cs typeface="Georgia"/>
              </a:rPr>
              <a:t>x</a:t>
            </a:r>
            <a:r>
              <a:rPr sz="1100" dirty="0">
                <a:latin typeface="Palatino Linotype"/>
                <a:cs typeface="Palatino Linotype"/>
              </a:rPr>
              <a:t>[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dirty="0">
                <a:latin typeface="Palatino Linotype"/>
                <a:cs typeface="Palatino Linotype"/>
              </a:rPr>
              <a:t>]</a:t>
            </a:r>
            <a:r>
              <a:rPr sz="1100" spc="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5" dirty="0">
                <a:latin typeface="Palatino Linotype"/>
                <a:cs typeface="Palatino Linotype"/>
              </a:rPr>
              <a:t> </a:t>
            </a:r>
            <a:r>
              <a:rPr sz="1100" i="1" spc="-30" dirty="0">
                <a:latin typeface="Georgia"/>
                <a:cs typeface="Georgia"/>
              </a:rPr>
              <a:t>δ</a:t>
            </a:r>
            <a:r>
              <a:rPr sz="1100" spc="-30" dirty="0">
                <a:latin typeface="Palatino Linotype"/>
                <a:cs typeface="Palatino Linotype"/>
              </a:rPr>
              <a:t>[</a:t>
            </a:r>
            <a:r>
              <a:rPr sz="1100" i="1" spc="-30" dirty="0">
                <a:latin typeface="Georgia"/>
                <a:cs typeface="Georgia"/>
              </a:rPr>
              <a:t>n</a:t>
            </a:r>
            <a:r>
              <a:rPr sz="1100" spc="-30" dirty="0">
                <a:latin typeface="Palatino Linotype"/>
                <a:cs typeface="Palatino Linotype"/>
              </a:rPr>
              <a:t>]</a:t>
            </a:r>
            <a:endParaRPr sz="1100">
              <a:latin typeface="Palatino Linotype"/>
              <a:cs typeface="Palatino Linotype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969929" y="2020777"/>
            <a:ext cx="1044575" cy="572135"/>
            <a:chOff x="2969929" y="2020777"/>
            <a:chExt cx="1044575" cy="572135"/>
          </a:xfrm>
        </p:grpSpPr>
        <p:sp>
          <p:nvSpPr>
            <p:cNvPr id="44" name="object 44"/>
            <p:cNvSpPr/>
            <p:nvPr/>
          </p:nvSpPr>
          <p:spPr>
            <a:xfrm>
              <a:off x="2969929" y="2020777"/>
              <a:ext cx="1044575" cy="540385"/>
            </a:xfrm>
            <a:custGeom>
              <a:avLst/>
              <a:gdLst/>
              <a:ahLst/>
              <a:cxnLst/>
              <a:rect l="l" t="t" r="r" b="b"/>
              <a:pathLst>
                <a:path w="1044575" h="540385">
                  <a:moveTo>
                    <a:pt x="0" y="539999"/>
                  </a:moveTo>
                  <a:lnTo>
                    <a:pt x="1043997" y="539999"/>
                  </a:lnTo>
                </a:path>
                <a:path w="1044575" h="540385">
                  <a:moveTo>
                    <a:pt x="251998" y="539999"/>
                  </a:moveTo>
                  <a:lnTo>
                    <a:pt x="251998" y="0"/>
                  </a:lnTo>
                </a:path>
              </a:pathLst>
            </a:custGeom>
            <a:ln w="12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034308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0" y="7619"/>
                  </a:moveTo>
                  <a:lnTo>
                    <a:pt x="2231" y="2231"/>
                  </a:lnTo>
                  <a:lnTo>
                    <a:pt x="7619" y="0"/>
                  </a:lnTo>
                  <a:lnTo>
                    <a:pt x="13008" y="2231"/>
                  </a:lnTo>
                  <a:lnTo>
                    <a:pt x="15239" y="7619"/>
                  </a:lnTo>
                  <a:lnTo>
                    <a:pt x="13008" y="13008"/>
                  </a:lnTo>
                  <a:lnTo>
                    <a:pt x="7619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010178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032403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091833" y="1783311"/>
            <a:ext cx="2603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30" dirty="0">
                <a:latin typeface="Georgia"/>
                <a:cs typeface="Georgia"/>
              </a:rPr>
              <a:t>y</a:t>
            </a:r>
            <a:r>
              <a:rPr sz="1100" spc="-30" dirty="0">
                <a:latin typeface="Palatino Linotype"/>
                <a:cs typeface="Palatino Linotype"/>
              </a:rPr>
              <a:t>[</a:t>
            </a:r>
            <a:r>
              <a:rPr sz="1100" i="1" spc="-30" dirty="0">
                <a:latin typeface="Georgia"/>
                <a:cs typeface="Georgia"/>
              </a:rPr>
              <a:t>n</a:t>
            </a:r>
            <a:r>
              <a:rPr sz="1100" spc="-30" dirty="0">
                <a:latin typeface="Palatino Linotype"/>
                <a:cs typeface="Palatino Linotype"/>
              </a:rPr>
              <a:t>]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070529" y="2473654"/>
            <a:ext cx="10922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0"/>
              </a:lnSpc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052015" y="2473654"/>
            <a:ext cx="10922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0"/>
              </a:lnSpc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58823" y="2555064"/>
            <a:ext cx="1049655" cy="31623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i="1" spc="50" dirty="0">
                <a:latin typeface="Times New Roman"/>
                <a:cs typeface="Times New Roman"/>
              </a:rPr>
              <a:t>−</a:t>
            </a:r>
            <a:r>
              <a:rPr sz="1100" spc="50" dirty="0">
                <a:latin typeface="Palatino Linotype"/>
                <a:cs typeface="Palatino Linotype"/>
              </a:rPr>
              <a:t>1</a:t>
            </a:r>
            <a:r>
              <a:rPr sz="1100" spc="1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2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3</a:t>
            </a:r>
            <a:r>
              <a:rPr sz="1100" spc="160" dirty="0">
                <a:latin typeface="Palatino Linotype"/>
                <a:cs typeface="Palatino Linotype"/>
              </a:rPr>
              <a:t>  </a:t>
            </a:r>
            <a:r>
              <a:rPr sz="1100" spc="-50" dirty="0">
                <a:latin typeface="Palatino Linotype"/>
                <a:cs typeface="Palatino Linotype"/>
              </a:rPr>
              <a:t>4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940309" y="2555064"/>
            <a:ext cx="1049655" cy="31623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i="1" spc="50" dirty="0">
                <a:latin typeface="Times New Roman"/>
                <a:cs typeface="Times New Roman"/>
              </a:rPr>
              <a:t>−</a:t>
            </a:r>
            <a:r>
              <a:rPr sz="1100" spc="50" dirty="0">
                <a:latin typeface="Palatino Linotype"/>
                <a:cs typeface="Palatino Linotype"/>
              </a:rPr>
              <a:t>1</a:t>
            </a:r>
            <a:r>
              <a:rPr sz="1100" spc="1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2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3</a:t>
            </a:r>
            <a:r>
              <a:rPr sz="1100" spc="160" dirty="0">
                <a:latin typeface="Palatino Linotype"/>
                <a:cs typeface="Palatino Linotype"/>
              </a:rPr>
              <a:t>  </a:t>
            </a:r>
            <a:r>
              <a:rPr sz="1100" spc="-50" dirty="0">
                <a:latin typeface="Palatino Linotype"/>
                <a:cs typeface="Palatino Linotype"/>
              </a:rPr>
              <a:t>4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13830" y="3034568"/>
            <a:ext cx="3539490" cy="174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z="1100" spc="65" dirty="0">
                <a:latin typeface="Arial"/>
                <a:cs typeface="Arial"/>
              </a:rPr>
              <a:t>Each</a:t>
            </a:r>
            <a:r>
              <a:rPr sz="1100" spc="2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cycle</a:t>
            </a:r>
            <a:r>
              <a:rPr sz="1100" spc="2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creates</a:t>
            </a:r>
            <a:r>
              <a:rPr sz="1100" spc="260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another</a:t>
            </a:r>
            <a:r>
              <a:rPr sz="1100" spc="2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sample</a:t>
            </a:r>
            <a:r>
              <a:rPr sz="1100" spc="265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in</a:t>
            </a:r>
            <a:r>
              <a:rPr sz="1100" spc="27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65" dirty="0">
                <a:latin typeface="Arial"/>
                <a:cs typeface="Arial"/>
              </a:rPr>
              <a:t> </a:t>
            </a:r>
            <a:r>
              <a:rPr sz="1100" spc="95" dirty="0">
                <a:latin typeface="Arial"/>
                <a:cs typeface="Arial"/>
              </a:rPr>
              <a:t>output.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10" dirty="0"/>
              <a:t>Last</a:t>
            </a:r>
            <a:r>
              <a:rPr spc="220" dirty="0"/>
              <a:t> </a:t>
            </a:r>
            <a:r>
              <a:rPr spc="160" dirty="0"/>
              <a:t>Time:</a:t>
            </a:r>
            <a:r>
              <a:rPr spc="405" dirty="0"/>
              <a:t> </a:t>
            </a:r>
            <a:r>
              <a:rPr spc="100" dirty="0"/>
              <a:t>Feedback,</a:t>
            </a:r>
            <a:r>
              <a:rPr spc="220" dirty="0"/>
              <a:t> </a:t>
            </a:r>
            <a:r>
              <a:rPr spc="60" dirty="0"/>
              <a:t>Cyclic</a:t>
            </a:r>
            <a:r>
              <a:rPr spc="220" dirty="0"/>
              <a:t> </a:t>
            </a:r>
            <a:r>
              <a:rPr spc="65" dirty="0"/>
              <a:t>Signal</a:t>
            </a:r>
            <a:r>
              <a:rPr spc="225" dirty="0"/>
              <a:t> </a:t>
            </a:r>
            <a:r>
              <a:rPr spc="105" dirty="0"/>
              <a:t>Paths,</a:t>
            </a:r>
            <a:r>
              <a:rPr spc="220" dirty="0"/>
              <a:t> </a:t>
            </a:r>
            <a:r>
              <a:rPr spc="85" dirty="0"/>
              <a:t>and</a:t>
            </a:r>
            <a:r>
              <a:rPr spc="220" dirty="0"/>
              <a:t> </a:t>
            </a:r>
            <a:r>
              <a:rPr spc="95" dirty="0"/>
              <a:t>Modes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830" y="345358"/>
            <a:ext cx="4834255" cy="43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1100" spc="120" dirty="0">
                <a:latin typeface="Arial"/>
                <a:cs typeface="Arial"/>
              </a:rPr>
              <a:t>The</a:t>
            </a:r>
            <a:r>
              <a:rPr sz="1100" spc="100" dirty="0">
                <a:latin typeface="Arial"/>
                <a:cs typeface="Arial"/>
              </a:rPr>
              <a:t>  </a:t>
            </a:r>
            <a:r>
              <a:rPr sz="1100" spc="90" dirty="0">
                <a:latin typeface="Arial"/>
                <a:cs typeface="Arial"/>
              </a:rPr>
              <a:t>eﬀect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spc="50" dirty="0">
                <a:latin typeface="Arial"/>
                <a:cs typeface="Arial"/>
              </a:rPr>
              <a:t>feedback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spc="50" dirty="0">
                <a:latin typeface="Arial"/>
                <a:cs typeface="Arial"/>
              </a:rPr>
              <a:t>can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dirty="0">
                <a:latin typeface="Arial"/>
                <a:cs typeface="Arial"/>
              </a:rPr>
              <a:t>visualized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spc="80" dirty="0">
                <a:latin typeface="Arial"/>
                <a:cs typeface="Arial"/>
              </a:rPr>
              <a:t>tracing</a:t>
            </a:r>
            <a:r>
              <a:rPr sz="1100" spc="110" dirty="0">
                <a:latin typeface="Arial"/>
                <a:cs typeface="Arial"/>
              </a:rPr>
              <a:t> 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100" dirty="0">
                <a:latin typeface="Arial"/>
                <a:cs typeface="Arial"/>
              </a:rPr>
              <a:t>  </a:t>
            </a:r>
            <a:r>
              <a:rPr sz="1100" spc="-10" dirty="0">
                <a:latin typeface="Arial"/>
                <a:cs typeface="Arial"/>
              </a:rPr>
              <a:t>cycle </a:t>
            </a:r>
            <a:r>
              <a:rPr sz="1100" spc="90" dirty="0">
                <a:latin typeface="Arial"/>
                <a:cs typeface="Arial"/>
              </a:rPr>
              <a:t>through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2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cyclic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signal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paths.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68914" y="1378139"/>
            <a:ext cx="470534" cy="192405"/>
          </a:xfrm>
          <a:prstGeom prst="rect">
            <a:avLst/>
          </a:prstGeom>
          <a:ln w="12652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80"/>
              </a:lnSpc>
            </a:pPr>
            <a:r>
              <a:rPr sz="1100" spc="40" dirty="0">
                <a:latin typeface="Arial"/>
                <a:cs typeface="Arial"/>
              </a:rPr>
              <a:t>Delay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76116" y="906222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67351" y="1338782"/>
            <a:ext cx="205104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spc="-25" dirty="0">
                <a:latin typeface="Georgia"/>
                <a:cs typeface="Georgia"/>
              </a:rPr>
              <a:t>p</a:t>
            </a:r>
            <a:r>
              <a:rPr sz="1350" spc="-37" baseline="-12345" dirty="0">
                <a:latin typeface="Palatino Linotype"/>
                <a:cs typeface="Palatino Linotype"/>
              </a:rPr>
              <a:t>0</a:t>
            </a:r>
            <a:endParaRPr sz="1350" baseline="-12345">
              <a:latin typeface="Palatino Linotype"/>
              <a:cs typeface="Palatino Linotyp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50138" y="920318"/>
            <a:ext cx="1750695" cy="746125"/>
            <a:chOff x="1650138" y="920318"/>
            <a:chExt cx="1750695" cy="74612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39949" y="920318"/>
              <a:ext cx="205966" cy="20596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069458" y="1288854"/>
              <a:ext cx="309245" cy="370840"/>
            </a:xfrm>
            <a:custGeom>
              <a:avLst/>
              <a:gdLst/>
              <a:ahLst/>
              <a:cxnLst/>
              <a:rect l="l" t="t" r="r" b="b"/>
              <a:pathLst>
                <a:path w="309244" h="370839">
                  <a:moveTo>
                    <a:pt x="0" y="185375"/>
                  </a:moveTo>
                  <a:lnTo>
                    <a:pt x="308955" y="370750"/>
                  </a:lnTo>
                  <a:lnTo>
                    <a:pt x="308955" y="0"/>
                  </a:lnTo>
                  <a:lnTo>
                    <a:pt x="0" y="185375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56488" y="1023302"/>
              <a:ext cx="165100" cy="0"/>
            </a:xfrm>
            <a:custGeom>
              <a:avLst/>
              <a:gdLst/>
              <a:ahLst/>
              <a:cxnLst/>
              <a:rect l="l" t="t" r="r" b="b"/>
              <a:pathLst>
                <a:path w="165100">
                  <a:moveTo>
                    <a:pt x="0" y="0"/>
                  </a:moveTo>
                  <a:lnTo>
                    <a:pt x="164483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62524" y="999092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62524" y="999092"/>
              <a:ext cx="1631950" cy="48895"/>
            </a:xfrm>
            <a:custGeom>
              <a:avLst/>
              <a:gdLst/>
              <a:ahLst/>
              <a:cxnLst/>
              <a:rect l="l" t="t" r="r" b="b"/>
              <a:pathLst>
                <a:path w="1631950" h="48894">
                  <a:moveTo>
                    <a:pt x="0" y="48419"/>
                  </a:moveTo>
                  <a:lnTo>
                    <a:pt x="58446" y="24210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  <a:path w="1631950" h="48894">
                  <a:moveTo>
                    <a:pt x="277065" y="24210"/>
                  </a:moveTo>
                  <a:lnTo>
                    <a:pt x="1631902" y="2421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35982" y="999093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17"/>
                  </a:lnTo>
                  <a:lnTo>
                    <a:pt x="58444" y="242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64757" y="999093"/>
              <a:ext cx="330200" cy="475615"/>
            </a:xfrm>
            <a:custGeom>
              <a:avLst/>
              <a:gdLst/>
              <a:ahLst/>
              <a:cxnLst/>
              <a:rect l="l" t="t" r="r" b="b"/>
              <a:pathLst>
                <a:path w="330200" h="475615">
                  <a:moveTo>
                    <a:pt x="271225" y="48417"/>
                  </a:moveTo>
                  <a:lnTo>
                    <a:pt x="329669" y="24208"/>
                  </a:lnTo>
                  <a:lnTo>
                    <a:pt x="271225" y="0"/>
                  </a:lnTo>
                  <a:lnTo>
                    <a:pt x="271225" y="48417"/>
                  </a:lnTo>
                  <a:close/>
                </a:path>
                <a:path w="330200" h="475615">
                  <a:moveTo>
                    <a:pt x="164483" y="24208"/>
                  </a:moveTo>
                  <a:lnTo>
                    <a:pt x="164483" y="475136"/>
                  </a:lnTo>
                  <a:lnTo>
                    <a:pt x="0" y="475136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64757" y="145001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10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42933" y="1145263"/>
              <a:ext cx="1180465" cy="353695"/>
            </a:xfrm>
            <a:custGeom>
              <a:avLst/>
              <a:gdLst/>
              <a:ahLst/>
              <a:cxnLst/>
              <a:rect l="l" t="t" r="r" b="b"/>
              <a:pathLst>
                <a:path w="1180464" h="353694">
                  <a:moveTo>
                    <a:pt x="1180270" y="304756"/>
                  </a:moveTo>
                  <a:lnTo>
                    <a:pt x="1121824" y="328966"/>
                  </a:lnTo>
                  <a:lnTo>
                    <a:pt x="1180270" y="353176"/>
                  </a:lnTo>
                  <a:lnTo>
                    <a:pt x="1180270" y="304756"/>
                  </a:lnTo>
                  <a:close/>
                </a:path>
                <a:path w="1180464" h="353694">
                  <a:moveTo>
                    <a:pt x="126525" y="328966"/>
                  </a:moveTo>
                  <a:lnTo>
                    <a:pt x="0" y="328966"/>
                  </a:lnTo>
                  <a:lnTo>
                    <a:pt x="0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18723" y="1145263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24209" y="0"/>
                  </a:moveTo>
                  <a:lnTo>
                    <a:pt x="0" y="58446"/>
                  </a:lnTo>
                  <a:lnTo>
                    <a:pt x="48419" y="58446"/>
                  </a:lnTo>
                  <a:lnTo>
                    <a:pt x="24209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18723" y="1145263"/>
              <a:ext cx="650240" cy="329565"/>
            </a:xfrm>
            <a:custGeom>
              <a:avLst/>
              <a:gdLst/>
              <a:ahLst/>
              <a:cxnLst/>
              <a:rect l="l" t="t" r="r" b="b"/>
              <a:pathLst>
                <a:path w="650239" h="329565">
                  <a:moveTo>
                    <a:pt x="48419" y="58446"/>
                  </a:moveTo>
                  <a:lnTo>
                    <a:pt x="24209" y="0"/>
                  </a:lnTo>
                  <a:lnTo>
                    <a:pt x="0" y="58446"/>
                  </a:lnTo>
                  <a:lnTo>
                    <a:pt x="48419" y="58446"/>
                  </a:lnTo>
                  <a:close/>
                </a:path>
                <a:path w="650239" h="329565">
                  <a:moveTo>
                    <a:pt x="650190" y="328966"/>
                  </a:moveTo>
                  <a:lnTo>
                    <a:pt x="484994" y="328966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03717" y="145002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03717" y="145002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466821" y="918980"/>
            <a:ext cx="20967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02789" algn="l"/>
              </a:tabLst>
            </a:pPr>
            <a:r>
              <a:rPr sz="1100" i="1" spc="65" dirty="0">
                <a:latin typeface="Georgia"/>
                <a:cs typeface="Georgia"/>
              </a:rPr>
              <a:t>X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i="1" spc="-50" dirty="0">
                <a:latin typeface="Georgia"/>
                <a:cs typeface="Georgia"/>
              </a:rPr>
              <a:t>Y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655776" y="986389"/>
            <a:ext cx="1764030" cy="74295"/>
            <a:chOff x="1655776" y="986389"/>
            <a:chExt cx="1764030" cy="74295"/>
          </a:xfrm>
        </p:grpSpPr>
        <p:sp>
          <p:nvSpPr>
            <p:cNvPr id="23" name="object 23"/>
            <p:cNvSpPr/>
            <p:nvPr/>
          </p:nvSpPr>
          <p:spPr>
            <a:xfrm>
              <a:off x="1655776" y="1023302"/>
              <a:ext cx="1764030" cy="0"/>
            </a:xfrm>
            <a:custGeom>
              <a:avLst/>
              <a:gdLst/>
              <a:ahLst/>
              <a:cxnLst/>
              <a:rect l="l" t="t" r="r" b="b"/>
              <a:pathLst>
                <a:path w="1764029">
                  <a:moveTo>
                    <a:pt x="0" y="0"/>
                  </a:moveTo>
                  <a:lnTo>
                    <a:pt x="1763964" y="0"/>
                  </a:lnTo>
                </a:path>
                <a:path w="1764029">
                  <a:moveTo>
                    <a:pt x="0" y="0"/>
                  </a:moveTo>
                  <a:lnTo>
                    <a:pt x="944088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8711" y="986389"/>
              <a:ext cx="83853" cy="73825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988443" y="2020777"/>
            <a:ext cx="1044575" cy="572135"/>
            <a:chOff x="988443" y="2020777"/>
            <a:chExt cx="1044575" cy="572135"/>
          </a:xfrm>
        </p:grpSpPr>
        <p:sp>
          <p:nvSpPr>
            <p:cNvPr id="26" name="object 26"/>
            <p:cNvSpPr/>
            <p:nvPr/>
          </p:nvSpPr>
          <p:spPr>
            <a:xfrm>
              <a:off x="988443" y="2020777"/>
              <a:ext cx="1044575" cy="540385"/>
            </a:xfrm>
            <a:custGeom>
              <a:avLst/>
              <a:gdLst/>
              <a:ahLst/>
              <a:cxnLst/>
              <a:rect l="l" t="t" r="r" b="b"/>
              <a:pathLst>
                <a:path w="1044575" h="540385">
                  <a:moveTo>
                    <a:pt x="0" y="539999"/>
                  </a:moveTo>
                  <a:lnTo>
                    <a:pt x="1043997" y="539999"/>
                  </a:lnTo>
                </a:path>
                <a:path w="1044575" h="540385">
                  <a:moveTo>
                    <a:pt x="251998" y="539999"/>
                  </a:moveTo>
                  <a:lnTo>
                    <a:pt x="251998" y="0"/>
                  </a:lnTo>
                </a:path>
              </a:pathLst>
            </a:custGeom>
            <a:ln w="12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52822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0" y="7619"/>
                  </a:moveTo>
                  <a:lnTo>
                    <a:pt x="2231" y="2231"/>
                  </a:lnTo>
                  <a:lnTo>
                    <a:pt x="7619" y="0"/>
                  </a:lnTo>
                  <a:lnTo>
                    <a:pt x="13008" y="2231"/>
                  </a:lnTo>
                  <a:lnTo>
                    <a:pt x="15239" y="7619"/>
                  </a:lnTo>
                  <a:lnTo>
                    <a:pt x="13008" y="13008"/>
                  </a:lnTo>
                  <a:lnTo>
                    <a:pt x="7619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28692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50917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40442" y="2272776"/>
              <a:ext cx="0" cy="288290"/>
            </a:xfrm>
            <a:custGeom>
              <a:avLst/>
              <a:gdLst/>
              <a:ahLst/>
              <a:cxnLst/>
              <a:rect l="l" t="t" r="r" b="b"/>
              <a:pathLst>
                <a:path h="288289">
                  <a:moveTo>
                    <a:pt x="0" y="288001"/>
                  </a:moveTo>
                  <a:lnTo>
                    <a:pt x="0" y="0"/>
                  </a:lnTo>
                </a:path>
              </a:pathLst>
            </a:custGeom>
            <a:ln w="1524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208692" y="2241026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499" y="40170"/>
                  </a:lnTo>
                  <a:lnTo>
                    <a:pt x="63499" y="31750"/>
                  </a:lnTo>
                  <a:lnTo>
                    <a:pt x="63499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30917" y="2263251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49" y="12051"/>
                  </a:lnTo>
                  <a:lnTo>
                    <a:pt x="19049" y="9525"/>
                  </a:lnTo>
                  <a:lnTo>
                    <a:pt x="19049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412822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0" y="7619"/>
                  </a:moveTo>
                  <a:lnTo>
                    <a:pt x="2231" y="2231"/>
                  </a:lnTo>
                  <a:lnTo>
                    <a:pt x="7619" y="0"/>
                  </a:lnTo>
                  <a:lnTo>
                    <a:pt x="13008" y="2231"/>
                  </a:lnTo>
                  <a:lnTo>
                    <a:pt x="15239" y="7619"/>
                  </a:lnTo>
                  <a:lnTo>
                    <a:pt x="13008" y="13008"/>
                  </a:lnTo>
                  <a:lnTo>
                    <a:pt x="7619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88692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410917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592822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0" y="7619"/>
                  </a:moveTo>
                  <a:lnTo>
                    <a:pt x="2231" y="2231"/>
                  </a:lnTo>
                  <a:lnTo>
                    <a:pt x="7619" y="0"/>
                  </a:lnTo>
                  <a:lnTo>
                    <a:pt x="13008" y="2231"/>
                  </a:lnTo>
                  <a:lnTo>
                    <a:pt x="15239" y="7619"/>
                  </a:lnTo>
                  <a:lnTo>
                    <a:pt x="13008" y="13008"/>
                  </a:lnTo>
                  <a:lnTo>
                    <a:pt x="7619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568692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590917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772822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0" y="7619"/>
                  </a:moveTo>
                  <a:lnTo>
                    <a:pt x="2231" y="2231"/>
                  </a:lnTo>
                  <a:lnTo>
                    <a:pt x="7620" y="0"/>
                  </a:lnTo>
                  <a:lnTo>
                    <a:pt x="13008" y="2231"/>
                  </a:lnTo>
                  <a:lnTo>
                    <a:pt x="15240" y="7619"/>
                  </a:lnTo>
                  <a:lnTo>
                    <a:pt x="13008" y="13008"/>
                  </a:lnTo>
                  <a:lnTo>
                    <a:pt x="7620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748692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770917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952822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0" y="7619"/>
                  </a:moveTo>
                  <a:lnTo>
                    <a:pt x="2231" y="2231"/>
                  </a:lnTo>
                  <a:lnTo>
                    <a:pt x="7619" y="0"/>
                  </a:lnTo>
                  <a:lnTo>
                    <a:pt x="13008" y="2231"/>
                  </a:lnTo>
                  <a:lnTo>
                    <a:pt x="15239" y="7619"/>
                  </a:lnTo>
                  <a:lnTo>
                    <a:pt x="13008" y="13008"/>
                  </a:lnTo>
                  <a:lnTo>
                    <a:pt x="7619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928692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950917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900068" y="1783311"/>
            <a:ext cx="68135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dirty="0">
                <a:latin typeface="Georgia"/>
                <a:cs typeface="Georgia"/>
              </a:rPr>
              <a:t>x</a:t>
            </a:r>
            <a:r>
              <a:rPr sz="1100" dirty="0">
                <a:latin typeface="Palatino Linotype"/>
                <a:cs typeface="Palatino Linotype"/>
              </a:rPr>
              <a:t>[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dirty="0">
                <a:latin typeface="Palatino Linotype"/>
                <a:cs typeface="Palatino Linotype"/>
              </a:rPr>
              <a:t>]</a:t>
            </a:r>
            <a:r>
              <a:rPr sz="1100" spc="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5" dirty="0">
                <a:latin typeface="Palatino Linotype"/>
                <a:cs typeface="Palatino Linotype"/>
              </a:rPr>
              <a:t> </a:t>
            </a:r>
            <a:r>
              <a:rPr sz="1100" i="1" spc="-30" dirty="0">
                <a:latin typeface="Georgia"/>
                <a:cs typeface="Georgia"/>
              </a:rPr>
              <a:t>δ</a:t>
            </a:r>
            <a:r>
              <a:rPr sz="1100" spc="-30" dirty="0">
                <a:latin typeface="Palatino Linotype"/>
                <a:cs typeface="Palatino Linotype"/>
              </a:rPr>
              <a:t>[</a:t>
            </a:r>
            <a:r>
              <a:rPr sz="1100" i="1" spc="-30" dirty="0">
                <a:latin typeface="Georgia"/>
                <a:cs typeface="Georgia"/>
              </a:rPr>
              <a:t>n</a:t>
            </a:r>
            <a:r>
              <a:rPr sz="1100" spc="-30" dirty="0">
                <a:latin typeface="Palatino Linotype"/>
                <a:cs typeface="Palatino Linotype"/>
              </a:rPr>
              <a:t>]</a:t>
            </a:r>
            <a:endParaRPr sz="1100">
              <a:latin typeface="Palatino Linotype"/>
              <a:cs typeface="Palatino Linotype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2969929" y="2020777"/>
            <a:ext cx="1044575" cy="572135"/>
            <a:chOff x="2969929" y="2020777"/>
            <a:chExt cx="1044575" cy="572135"/>
          </a:xfrm>
        </p:grpSpPr>
        <p:sp>
          <p:nvSpPr>
            <p:cNvPr id="47" name="object 47"/>
            <p:cNvSpPr/>
            <p:nvPr/>
          </p:nvSpPr>
          <p:spPr>
            <a:xfrm>
              <a:off x="2969929" y="2020777"/>
              <a:ext cx="1044575" cy="540385"/>
            </a:xfrm>
            <a:custGeom>
              <a:avLst/>
              <a:gdLst/>
              <a:ahLst/>
              <a:cxnLst/>
              <a:rect l="l" t="t" r="r" b="b"/>
              <a:pathLst>
                <a:path w="1044575" h="540385">
                  <a:moveTo>
                    <a:pt x="0" y="539999"/>
                  </a:moveTo>
                  <a:lnTo>
                    <a:pt x="1043997" y="539999"/>
                  </a:lnTo>
                </a:path>
                <a:path w="1044575" h="540385">
                  <a:moveTo>
                    <a:pt x="251998" y="539999"/>
                  </a:moveTo>
                  <a:lnTo>
                    <a:pt x="251998" y="0"/>
                  </a:lnTo>
                </a:path>
              </a:pathLst>
            </a:custGeom>
            <a:ln w="12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034308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0" y="7619"/>
                  </a:moveTo>
                  <a:lnTo>
                    <a:pt x="2231" y="2231"/>
                  </a:lnTo>
                  <a:lnTo>
                    <a:pt x="7619" y="0"/>
                  </a:lnTo>
                  <a:lnTo>
                    <a:pt x="13008" y="2231"/>
                  </a:lnTo>
                  <a:lnTo>
                    <a:pt x="15239" y="7619"/>
                  </a:lnTo>
                  <a:lnTo>
                    <a:pt x="13008" y="13008"/>
                  </a:lnTo>
                  <a:lnTo>
                    <a:pt x="7619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010178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032403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221928" y="2272776"/>
              <a:ext cx="0" cy="288290"/>
            </a:xfrm>
            <a:custGeom>
              <a:avLst/>
              <a:gdLst/>
              <a:ahLst/>
              <a:cxnLst/>
              <a:rect l="l" t="t" r="r" b="b"/>
              <a:pathLst>
                <a:path h="288289">
                  <a:moveTo>
                    <a:pt x="0" y="288001"/>
                  </a:moveTo>
                  <a:lnTo>
                    <a:pt x="0" y="0"/>
                  </a:lnTo>
                </a:path>
              </a:pathLst>
            </a:custGeom>
            <a:ln w="1524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190178" y="2241026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212403" y="2263251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091833" y="1783311"/>
            <a:ext cx="2603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30" dirty="0">
                <a:latin typeface="Georgia"/>
                <a:cs typeface="Georgia"/>
              </a:rPr>
              <a:t>y</a:t>
            </a:r>
            <a:r>
              <a:rPr sz="1100" spc="-30" dirty="0">
                <a:latin typeface="Palatino Linotype"/>
                <a:cs typeface="Palatino Linotype"/>
              </a:rPr>
              <a:t>[</a:t>
            </a:r>
            <a:r>
              <a:rPr sz="1100" i="1" spc="-30" dirty="0">
                <a:latin typeface="Georgia"/>
                <a:cs typeface="Georgia"/>
              </a:rPr>
              <a:t>n</a:t>
            </a:r>
            <a:r>
              <a:rPr sz="1100" spc="-30" dirty="0">
                <a:latin typeface="Palatino Linotype"/>
                <a:cs typeface="Palatino Linotype"/>
              </a:rPr>
              <a:t>]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070529" y="2473654"/>
            <a:ext cx="10922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0"/>
              </a:lnSpc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052015" y="2473654"/>
            <a:ext cx="10922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0"/>
              </a:lnSpc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58823" y="2555064"/>
            <a:ext cx="1049655" cy="31623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i="1" spc="50" dirty="0">
                <a:latin typeface="Times New Roman"/>
                <a:cs typeface="Times New Roman"/>
              </a:rPr>
              <a:t>−</a:t>
            </a:r>
            <a:r>
              <a:rPr sz="1100" spc="50" dirty="0">
                <a:latin typeface="Palatino Linotype"/>
                <a:cs typeface="Palatino Linotype"/>
              </a:rPr>
              <a:t>1</a:t>
            </a:r>
            <a:r>
              <a:rPr sz="1100" spc="1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2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3</a:t>
            </a:r>
            <a:r>
              <a:rPr sz="1100" spc="160" dirty="0">
                <a:latin typeface="Palatino Linotype"/>
                <a:cs typeface="Palatino Linotype"/>
              </a:rPr>
              <a:t>  </a:t>
            </a:r>
            <a:r>
              <a:rPr sz="1100" spc="-50" dirty="0">
                <a:latin typeface="Palatino Linotype"/>
                <a:cs typeface="Palatino Linotype"/>
              </a:rPr>
              <a:t>4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940309" y="2555064"/>
            <a:ext cx="1049655" cy="31623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i="1" spc="50" dirty="0">
                <a:latin typeface="Times New Roman"/>
                <a:cs typeface="Times New Roman"/>
              </a:rPr>
              <a:t>−</a:t>
            </a:r>
            <a:r>
              <a:rPr sz="1100" spc="50" dirty="0">
                <a:latin typeface="Palatino Linotype"/>
                <a:cs typeface="Palatino Linotype"/>
              </a:rPr>
              <a:t>1</a:t>
            </a:r>
            <a:r>
              <a:rPr sz="1100" spc="1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2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3</a:t>
            </a:r>
            <a:r>
              <a:rPr sz="1100" spc="160" dirty="0">
                <a:latin typeface="Palatino Linotype"/>
                <a:cs typeface="Palatino Linotype"/>
              </a:rPr>
              <a:t>  </a:t>
            </a:r>
            <a:r>
              <a:rPr sz="1100" spc="-50" dirty="0">
                <a:latin typeface="Palatino Linotype"/>
                <a:cs typeface="Palatino Linotype"/>
              </a:rPr>
              <a:t>4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13830" y="3034568"/>
            <a:ext cx="3539490" cy="174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z="1100" spc="65" dirty="0">
                <a:latin typeface="Arial"/>
                <a:cs typeface="Arial"/>
              </a:rPr>
              <a:t>Each</a:t>
            </a:r>
            <a:r>
              <a:rPr sz="1100" spc="2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cycle</a:t>
            </a:r>
            <a:r>
              <a:rPr sz="1100" spc="2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creates</a:t>
            </a:r>
            <a:r>
              <a:rPr sz="1100" spc="260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another</a:t>
            </a:r>
            <a:r>
              <a:rPr sz="1100" spc="2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sample</a:t>
            </a:r>
            <a:r>
              <a:rPr sz="1100" spc="265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in</a:t>
            </a:r>
            <a:r>
              <a:rPr sz="1100" spc="27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65" dirty="0">
                <a:latin typeface="Arial"/>
                <a:cs typeface="Arial"/>
              </a:rPr>
              <a:t> </a:t>
            </a:r>
            <a:r>
              <a:rPr sz="1100" spc="95" dirty="0">
                <a:latin typeface="Arial"/>
                <a:cs typeface="Arial"/>
              </a:rPr>
              <a:t>output.</a:t>
            </a:r>
            <a:endParaRPr sz="1100">
              <a:latin typeface="Arial"/>
              <a:cs typeface="Arial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10" dirty="0"/>
              <a:t>Last</a:t>
            </a:r>
            <a:r>
              <a:rPr spc="220" dirty="0"/>
              <a:t> </a:t>
            </a:r>
            <a:r>
              <a:rPr spc="160" dirty="0"/>
              <a:t>Time:</a:t>
            </a:r>
            <a:r>
              <a:rPr spc="405" dirty="0"/>
              <a:t> </a:t>
            </a:r>
            <a:r>
              <a:rPr spc="100" dirty="0"/>
              <a:t>Feedback,</a:t>
            </a:r>
            <a:r>
              <a:rPr spc="220" dirty="0"/>
              <a:t> </a:t>
            </a:r>
            <a:r>
              <a:rPr spc="60" dirty="0"/>
              <a:t>Cyclic</a:t>
            </a:r>
            <a:r>
              <a:rPr spc="220" dirty="0"/>
              <a:t> </a:t>
            </a:r>
            <a:r>
              <a:rPr spc="65" dirty="0"/>
              <a:t>Signal</a:t>
            </a:r>
            <a:r>
              <a:rPr spc="225" dirty="0"/>
              <a:t> </a:t>
            </a:r>
            <a:r>
              <a:rPr spc="105" dirty="0"/>
              <a:t>Paths,</a:t>
            </a:r>
            <a:r>
              <a:rPr spc="220" dirty="0"/>
              <a:t> </a:t>
            </a:r>
            <a:r>
              <a:rPr spc="85" dirty="0"/>
              <a:t>and</a:t>
            </a:r>
            <a:r>
              <a:rPr spc="220" dirty="0"/>
              <a:t> </a:t>
            </a:r>
            <a:r>
              <a:rPr spc="95" dirty="0"/>
              <a:t>Modes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830" y="345358"/>
            <a:ext cx="4834255" cy="43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1100" spc="120" dirty="0">
                <a:latin typeface="Arial"/>
                <a:cs typeface="Arial"/>
              </a:rPr>
              <a:t>The</a:t>
            </a:r>
            <a:r>
              <a:rPr sz="1100" spc="100" dirty="0">
                <a:latin typeface="Arial"/>
                <a:cs typeface="Arial"/>
              </a:rPr>
              <a:t>  </a:t>
            </a:r>
            <a:r>
              <a:rPr sz="1100" spc="90" dirty="0">
                <a:latin typeface="Arial"/>
                <a:cs typeface="Arial"/>
              </a:rPr>
              <a:t>eﬀect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spc="50" dirty="0">
                <a:latin typeface="Arial"/>
                <a:cs typeface="Arial"/>
              </a:rPr>
              <a:t>feedback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spc="50" dirty="0">
                <a:latin typeface="Arial"/>
                <a:cs typeface="Arial"/>
              </a:rPr>
              <a:t>can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dirty="0">
                <a:latin typeface="Arial"/>
                <a:cs typeface="Arial"/>
              </a:rPr>
              <a:t>visualized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spc="80" dirty="0">
                <a:latin typeface="Arial"/>
                <a:cs typeface="Arial"/>
              </a:rPr>
              <a:t>tracing</a:t>
            </a:r>
            <a:r>
              <a:rPr sz="1100" spc="110" dirty="0">
                <a:latin typeface="Arial"/>
                <a:cs typeface="Arial"/>
              </a:rPr>
              <a:t> 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100" dirty="0">
                <a:latin typeface="Arial"/>
                <a:cs typeface="Arial"/>
              </a:rPr>
              <a:t>  </a:t>
            </a:r>
            <a:r>
              <a:rPr sz="1100" spc="-10" dirty="0">
                <a:latin typeface="Arial"/>
                <a:cs typeface="Arial"/>
              </a:rPr>
              <a:t>cycle </a:t>
            </a:r>
            <a:r>
              <a:rPr sz="1100" spc="90" dirty="0">
                <a:latin typeface="Arial"/>
                <a:cs typeface="Arial"/>
              </a:rPr>
              <a:t>through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2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cyclic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signal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paths.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94314" y="1361011"/>
            <a:ext cx="419734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40" dirty="0">
                <a:latin typeface="Arial"/>
                <a:cs typeface="Arial"/>
              </a:rPr>
              <a:t>Delay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76116" y="906222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67351" y="1338782"/>
            <a:ext cx="205104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spc="-25" dirty="0">
                <a:latin typeface="Georgia"/>
                <a:cs typeface="Georgia"/>
              </a:rPr>
              <a:t>p</a:t>
            </a:r>
            <a:r>
              <a:rPr sz="1350" spc="-37" baseline="-12345" dirty="0">
                <a:latin typeface="Palatino Linotype"/>
                <a:cs typeface="Palatino Linotype"/>
              </a:rPr>
              <a:t>0</a:t>
            </a:r>
            <a:endParaRPr sz="1350" baseline="-12345">
              <a:latin typeface="Palatino Linotype"/>
              <a:cs typeface="Palatino Linotyp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50138" y="920318"/>
            <a:ext cx="1750695" cy="746125"/>
            <a:chOff x="1650138" y="920318"/>
            <a:chExt cx="1750695" cy="746125"/>
          </a:xfrm>
        </p:grpSpPr>
        <p:sp>
          <p:nvSpPr>
            <p:cNvPr id="8" name="object 8"/>
            <p:cNvSpPr/>
            <p:nvPr/>
          </p:nvSpPr>
          <p:spPr>
            <a:xfrm>
              <a:off x="2568914" y="1378139"/>
              <a:ext cx="470534" cy="192405"/>
            </a:xfrm>
            <a:custGeom>
              <a:avLst/>
              <a:gdLst/>
              <a:ahLst/>
              <a:cxnLst/>
              <a:rect l="l" t="t" r="r" b="b"/>
              <a:pathLst>
                <a:path w="470535" h="192405">
                  <a:moveTo>
                    <a:pt x="0" y="192181"/>
                  </a:moveTo>
                  <a:lnTo>
                    <a:pt x="470538" y="192181"/>
                  </a:lnTo>
                  <a:lnTo>
                    <a:pt x="470538" y="0"/>
                  </a:lnTo>
                  <a:lnTo>
                    <a:pt x="0" y="0"/>
                  </a:lnTo>
                  <a:lnTo>
                    <a:pt x="0" y="192181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39949" y="920318"/>
              <a:ext cx="205966" cy="20596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069458" y="1288854"/>
              <a:ext cx="309245" cy="370840"/>
            </a:xfrm>
            <a:custGeom>
              <a:avLst/>
              <a:gdLst/>
              <a:ahLst/>
              <a:cxnLst/>
              <a:rect l="l" t="t" r="r" b="b"/>
              <a:pathLst>
                <a:path w="309244" h="370839">
                  <a:moveTo>
                    <a:pt x="0" y="185375"/>
                  </a:moveTo>
                  <a:lnTo>
                    <a:pt x="308955" y="370750"/>
                  </a:lnTo>
                  <a:lnTo>
                    <a:pt x="308955" y="0"/>
                  </a:lnTo>
                  <a:lnTo>
                    <a:pt x="0" y="185375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56488" y="1023302"/>
              <a:ext cx="165100" cy="0"/>
            </a:xfrm>
            <a:custGeom>
              <a:avLst/>
              <a:gdLst/>
              <a:ahLst/>
              <a:cxnLst/>
              <a:rect l="l" t="t" r="r" b="b"/>
              <a:pathLst>
                <a:path w="165100">
                  <a:moveTo>
                    <a:pt x="0" y="0"/>
                  </a:moveTo>
                  <a:lnTo>
                    <a:pt x="164483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62524" y="999092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62524" y="999092"/>
              <a:ext cx="1631950" cy="48895"/>
            </a:xfrm>
            <a:custGeom>
              <a:avLst/>
              <a:gdLst/>
              <a:ahLst/>
              <a:cxnLst/>
              <a:rect l="l" t="t" r="r" b="b"/>
              <a:pathLst>
                <a:path w="1631950" h="48894">
                  <a:moveTo>
                    <a:pt x="0" y="48419"/>
                  </a:moveTo>
                  <a:lnTo>
                    <a:pt x="58446" y="24210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  <a:path w="1631950" h="48894">
                  <a:moveTo>
                    <a:pt x="277065" y="24210"/>
                  </a:moveTo>
                  <a:lnTo>
                    <a:pt x="1631902" y="2421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35982" y="999093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17"/>
                  </a:lnTo>
                  <a:lnTo>
                    <a:pt x="58444" y="242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64757" y="999093"/>
              <a:ext cx="330200" cy="475615"/>
            </a:xfrm>
            <a:custGeom>
              <a:avLst/>
              <a:gdLst/>
              <a:ahLst/>
              <a:cxnLst/>
              <a:rect l="l" t="t" r="r" b="b"/>
              <a:pathLst>
                <a:path w="330200" h="475615">
                  <a:moveTo>
                    <a:pt x="271225" y="48417"/>
                  </a:moveTo>
                  <a:lnTo>
                    <a:pt x="329669" y="24208"/>
                  </a:lnTo>
                  <a:lnTo>
                    <a:pt x="271225" y="0"/>
                  </a:lnTo>
                  <a:lnTo>
                    <a:pt x="271225" y="48417"/>
                  </a:lnTo>
                  <a:close/>
                </a:path>
                <a:path w="330200" h="475615">
                  <a:moveTo>
                    <a:pt x="164483" y="24208"/>
                  </a:moveTo>
                  <a:lnTo>
                    <a:pt x="164483" y="475136"/>
                  </a:lnTo>
                  <a:lnTo>
                    <a:pt x="0" y="475136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64757" y="145001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10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42933" y="1145263"/>
              <a:ext cx="1180465" cy="353695"/>
            </a:xfrm>
            <a:custGeom>
              <a:avLst/>
              <a:gdLst/>
              <a:ahLst/>
              <a:cxnLst/>
              <a:rect l="l" t="t" r="r" b="b"/>
              <a:pathLst>
                <a:path w="1180464" h="353694">
                  <a:moveTo>
                    <a:pt x="1180270" y="304756"/>
                  </a:moveTo>
                  <a:lnTo>
                    <a:pt x="1121824" y="328966"/>
                  </a:lnTo>
                  <a:lnTo>
                    <a:pt x="1180270" y="353176"/>
                  </a:lnTo>
                  <a:lnTo>
                    <a:pt x="1180270" y="304756"/>
                  </a:lnTo>
                  <a:close/>
                </a:path>
                <a:path w="1180464" h="353694">
                  <a:moveTo>
                    <a:pt x="126525" y="328966"/>
                  </a:moveTo>
                  <a:lnTo>
                    <a:pt x="0" y="328966"/>
                  </a:lnTo>
                  <a:lnTo>
                    <a:pt x="0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18723" y="1145263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24209" y="0"/>
                  </a:moveTo>
                  <a:lnTo>
                    <a:pt x="0" y="58446"/>
                  </a:lnTo>
                  <a:lnTo>
                    <a:pt x="48419" y="58446"/>
                  </a:lnTo>
                  <a:lnTo>
                    <a:pt x="24209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18723" y="1145263"/>
              <a:ext cx="650240" cy="329565"/>
            </a:xfrm>
            <a:custGeom>
              <a:avLst/>
              <a:gdLst/>
              <a:ahLst/>
              <a:cxnLst/>
              <a:rect l="l" t="t" r="r" b="b"/>
              <a:pathLst>
                <a:path w="650239" h="329565">
                  <a:moveTo>
                    <a:pt x="48419" y="58446"/>
                  </a:moveTo>
                  <a:lnTo>
                    <a:pt x="24209" y="0"/>
                  </a:lnTo>
                  <a:lnTo>
                    <a:pt x="0" y="58446"/>
                  </a:lnTo>
                  <a:lnTo>
                    <a:pt x="48419" y="58446"/>
                  </a:lnTo>
                  <a:close/>
                </a:path>
                <a:path w="650239" h="329565">
                  <a:moveTo>
                    <a:pt x="650190" y="328966"/>
                  </a:moveTo>
                  <a:lnTo>
                    <a:pt x="484994" y="328966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03717" y="145002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03717" y="145002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466821" y="918980"/>
            <a:ext cx="20967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02789" algn="l"/>
              </a:tabLst>
            </a:pPr>
            <a:r>
              <a:rPr sz="1100" i="1" spc="65" dirty="0">
                <a:latin typeface="Georgia"/>
                <a:cs typeface="Georgia"/>
              </a:rPr>
              <a:t>X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i="1" spc="-50" dirty="0">
                <a:latin typeface="Georgia"/>
                <a:cs typeface="Georgia"/>
              </a:rPr>
              <a:t>Y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643076" y="1010602"/>
            <a:ext cx="1789430" cy="476884"/>
            <a:chOff x="1643076" y="1010602"/>
            <a:chExt cx="1789430" cy="476884"/>
          </a:xfrm>
        </p:grpSpPr>
        <p:sp>
          <p:nvSpPr>
            <p:cNvPr id="24" name="object 24"/>
            <p:cNvSpPr/>
            <p:nvPr/>
          </p:nvSpPr>
          <p:spPr>
            <a:xfrm>
              <a:off x="1655776" y="1023302"/>
              <a:ext cx="1764030" cy="451484"/>
            </a:xfrm>
            <a:custGeom>
              <a:avLst/>
              <a:gdLst/>
              <a:ahLst/>
              <a:cxnLst/>
              <a:rect l="l" t="t" r="r" b="b"/>
              <a:pathLst>
                <a:path w="1764029" h="451484">
                  <a:moveTo>
                    <a:pt x="0" y="0"/>
                  </a:moveTo>
                  <a:lnTo>
                    <a:pt x="1573464" y="0"/>
                  </a:lnTo>
                  <a:lnTo>
                    <a:pt x="1574176" y="450927"/>
                  </a:lnTo>
                  <a:lnTo>
                    <a:pt x="286682" y="450927"/>
                  </a:lnTo>
                  <a:lnTo>
                    <a:pt x="287157" y="50800"/>
                  </a:lnTo>
                  <a:lnTo>
                    <a:pt x="1763964" y="5080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48602" y="1037195"/>
              <a:ext cx="83838" cy="73813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988443" y="2020777"/>
            <a:ext cx="1044575" cy="572135"/>
            <a:chOff x="988443" y="2020777"/>
            <a:chExt cx="1044575" cy="572135"/>
          </a:xfrm>
        </p:grpSpPr>
        <p:sp>
          <p:nvSpPr>
            <p:cNvPr id="27" name="object 27"/>
            <p:cNvSpPr/>
            <p:nvPr/>
          </p:nvSpPr>
          <p:spPr>
            <a:xfrm>
              <a:off x="988443" y="2020777"/>
              <a:ext cx="1044575" cy="540385"/>
            </a:xfrm>
            <a:custGeom>
              <a:avLst/>
              <a:gdLst/>
              <a:ahLst/>
              <a:cxnLst/>
              <a:rect l="l" t="t" r="r" b="b"/>
              <a:pathLst>
                <a:path w="1044575" h="540385">
                  <a:moveTo>
                    <a:pt x="0" y="539999"/>
                  </a:moveTo>
                  <a:lnTo>
                    <a:pt x="1043997" y="539999"/>
                  </a:lnTo>
                </a:path>
                <a:path w="1044575" h="540385">
                  <a:moveTo>
                    <a:pt x="251998" y="539999"/>
                  </a:moveTo>
                  <a:lnTo>
                    <a:pt x="251998" y="0"/>
                  </a:lnTo>
                </a:path>
              </a:pathLst>
            </a:custGeom>
            <a:ln w="12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52822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0" y="7619"/>
                  </a:moveTo>
                  <a:lnTo>
                    <a:pt x="2231" y="2231"/>
                  </a:lnTo>
                  <a:lnTo>
                    <a:pt x="7619" y="0"/>
                  </a:lnTo>
                  <a:lnTo>
                    <a:pt x="13008" y="2231"/>
                  </a:lnTo>
                  <a:lnTo>
                    <a:pt x="15239" y="7619"/>
                  </a:lnTo>
                  <a:lnTo>
                    <a:pt x="13008" y="13008"/>
                  </a:lnTo>
                  <a:lnTo>
                    <a:pt x="7619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28692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50917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240442" y="2272776"/>
              <a:ext cx="0" cy="288290"/>
            </a:xfrm>
            <a:custGeom>
              <a:avLst/>
              <a:gdLst/>
              <a:ahLst/>
              <a:cxnLst/>
              <a:rect l="l" t="t" r="r" b="b"/>
              <a:pathLst>
                <a:path h="288289">
                  <a:moveTo>
                    <a:pt x="0" y="288001"/>
                  </a:moveTo>
                  <a:lnTo>
                    <a:pt x="0" y="0"/>
                  </a:lnTo>
                </a:path>
              </a:pathLst>
            </a:custGeom>
            <a:ln w="15240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08692" y="2241026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499" y="40170"/>
                  </a:lnTo>
                  <a:lnTo>
                    <a:pt x="63499" y="31750"/>
                  </a:lnTo>
                  <a:lnTo>
                    <a:pt x="63499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30917" y="2263251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49" y="12051"/>
                  </a:lnTo>
                  <a:lnTo>
                    <a:pt x="19049" y="9525"/>
                  </a:lnTo>
                  <a:lnTo>
                    <a:pt x="19049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412822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0" y="7619"/>
                  </a:moveTo>
                  <a:lnTo>
                    <a:pt x="2231" y="2231"/>
                  </a:lnTo>
                  <a:lnTo>
                    <a:pt x="7619" y="0"/>
                  </a:lnTo>
                  <a:lnTo>
                    <a:pt x="13008" y="2231"/>
                  </a:lnTo>
                  <a:lnTo>
                    <a:pt x="15239" y="7619"/>
                  </a:lnTo>
                  <a:lnTo>
                    <a:pt x="13008" y="13008"/>
                  </a:lnTo>
                  <a:lnTo>
                    <a:pt x="7619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388692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410917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592822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0" y="7619"/>
                  </a:moveTo>
                  <a:lnTo>
                    <a:pt x="2231" y="2231"/>
                  </a:lnTo>
                  <a:lnTo>
                    <a:pt x="7619" y="0"/>
                  </a:lnTo>
                  <a:lnTo>
                    <a:pt x="13008" y="2231"/>
                  </a:lnTo>
                  <a:lnTo>
                    <a:pt x="15239" y="7619"/>
                  </a:lnTo>
                  <a:lnTo>
                    <a:pt x="13008" y="13008"/>
                  </a:lnTo>
                  <a:lnTo>
                    <a:pt x="7619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568692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590917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772822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0" y="7619"/>
                  </a:moveTo>
                  <a:lnTo>
                    <a:pt x="2231" y="2231"/>
                  </a:lnTo>
                  <a:lnTo>
                    <a:pt x="7620" y="0"/>
                  </a:lnTo>
                  <a:lnTo>
                    <a:pt x="13008" y="2231"/>
                  </a:lnTo>
                  <a:lnTo>
                    <a:pt x="15240" y="7619"/>
                  </a:lnTo>
                  <a:lnTo>
                    <a:pt x="13008" y="13008"/>
                  </a:lnTo>
                  <a:lnTo>
                    <a:pt x="7620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748692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770917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952822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0" y="7619"/>
                  </a:moveTo>
                  <a:lnTo>
                    <a:pt x="2231" y="2231"/>
                  </a:lnTo>
                  <a:lnTo>
                    <a:pt x="7619" y="0"/>
                  </a:lnTo>
                  <a:lnTo>
                    <a:pt x="13008" y="2231"/>
                  </a:lnTo>
                  <a:lnTo>
                    <a:pt x="15239" y="7619"/>
                  </a:lnTo>
                  <a:lnTo>
                    <a:pt x="13008" y="13008"/>
                  </a:lnTo>
                  <a:lnTo>
                    <a:pt x="7619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928692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950917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900068" y="1783311"/>
            <a:ext cx="68135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dirty="0">
                <a:latin typeface="Georgia"/>
                <a:cs typeface="Georgia"/>
              </a:rPr>
              <a:t>x</a:t>
            </a:r>
            <a:r>
              <a:rPr sz="1100" dirty="0">
                <a:latin typeface="Palatino Linotype"/>
                <a:cs typeface="Palatino Linotype"/>
              </a:rPr>
              <a:t>[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dirty="0">
                <a:latin typeface="Palatino Linotype"/>
                <a:cs typeface="Palatino Linotype"/>
              </a:rPr>
              <a:t>]</a:t>
            </a:r>
            <a:r>
              <a:rPr sz="1100" spc="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5" dirty="0">
                <a:latin typeface="Palatino Linotype"/>
                <a:cs typeface="Palatino Linotype"/>
              </a:rPr>
              <a:t> </a:t>
            </a:r>
            <a:r>
              <a:rPr sz="1100" i="1" spc="-30" dirty="0">
                <a:latin typeface="Georgia"/>
                <a:cs typeface="Georgia"/>
              </a:rPr>
              <a:t>δ</a:t>
            </a:r>
            <a:r>
              <a:rPr sz="1100" spc="-30" dirty="0">
                <a:latin typeface="Palatino Linotype"/>
                <a:cs typeface="Palatino Linotype"/>
              </a:rPr>
              <a:t>[</a:t>
            </a:r>
            <a:r>
              <a:rPr sz="1100" i="1" spc="-30" dirty="0">
                <a:latin typeface="Georgia"/>
                <a:cs typeface="Georgia"/>
              </a:rPr>
              <a:t>n</a:t>
            </a:r>
            <a:r>
              <a:rPr sz="1100" spc="-30" dirty="0">
                <a:latin typeface="Palatino Linotype"/>
                <a:cs typeface="Palatino Linotype"/>
              </a:rPr>
              <a:t>]</a:t>
            </a:r>
            <a:endParaRPr sz="1100">
              <a:latin typeface="Palatino Linotype"/>
              <a:cs typeface="Palatino Linotype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969929" y="2020777"/>
            <a:ext cx="1044575" cy="572135"/>
            <a:chOff x="2969929" y="2020777"/>
            <a:chExt cx="1044575" cy="572135"/>
          </a:xfrm>
        </p:grpSpPr>
        <p:sp>
          <p:nvSpPr>
            <p:cNvPr id="48" name="object 48"/>
            <p:cNvSpPr/>
            <p:nvPr/>
          </p:nvSpPr>
          <p:spPr>
            <a:xfrm>
              <a:off x="2969929" y="2020777"/>
              <a:ext cx="1044575" cy="540385"/>
            </a:xfrm>
            <a:custGeom>
              <a:avLst/>
              <a:gdLst/>
              <a:ahLst/>
              <a:cxnLst/>
              <a:rect l="l" t="t" r="r" b="b"/>
              <a:pathLst>
                <a:path w="1044575" h="540385">
                  <a:moveTo>
                    <a:pt x="0" y="539999"/>
                  </a:moveTo>
                  <a:lnTo>
                    <a:pt x="1043997" y="539999"/>
                  </a:lnTo>
                </a:path>
                <a:path w="1044575" h="540385">
                  <a:moveTo>
                    <a:pt x="251998" y="539999"/>
                  </a:moveTo>
                  <a:lnTo>
                    <a:pt x="251998" y="0"/>
                  </a:lnTo>
                </a:path>
              </a:pathLst>
            </a:custGeom>
            <a:ln w="12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034308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0" y="7619"/>
                  </a:moveTo>
                  <a:lnTo>
                    <a:pt x="2231" y="2231"/>
                  </a:lnTo>
                  <a:lnTo>
                    <a:pt x="7619" y="0"/>
                  </a:lnTo>
                  <a:lnTo>
                    <a:pt x="13008" y="2231"/>
                  </a:lnTo>
                  <a:lnTo>
                    <a:pt x="15239" y="7619"/>
                  </a:lnTo>
                  <a:lnTo>
                    <a:pt x="13008" y="13008"/>
                  </a:lnTo>
                  <a:lnTo>
                    <a:pt x="7619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010178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032403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221928" y="2272776"/>
              <a:ext cx="0" cy="288290"/>
            </a:xfrm>
            <a:custGeom>
              <a:avLst/>
              <a:gdLst/>
              <a:ahLst/>
              <a:cxnLst/>
              <a:rect l="l" t="t" r="r" b="b"/>
              <a:pathLst>
                <a:path h="288289">
                  <a:moveTo>
                    <a:pt x="0" y="288001"/>
                  </a:moveTo>
                  <a:lnTo>
                    <a:pt x="0" y="0"/>
                  </a:lnTo>
                </a:path>
              </a:pathLst>
            </a:custGeom>
            <a:ln w="15240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190178" y="2241026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12403" y="2263251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401928" y="2215176"/>
              <a:ext cx="0" cy="346075"/>
            </a:xfrm>
            <a:custGeom>
              <a:avLst/>
              <a:gdLst/>
              <a:ahLst/>
              <a:cxnLst/>
              <a:rect l="l" t="t" r="r" b="b"/>
              <a:pathLst>
                <a:path h="346075">
                  <a:moveTo>
                    <a:pt x="0" y="345600"/>
                  </a:moveTo>
                  <a:lnTo>
                    <a:pt x="0" y="0"/>
                  </a:lnTo>
                </a:path>
              </a:pathLst>
            </a:custGeom>
            <a:ln w="1524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370178" y="2183426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499"/>
                  </a:lnTo>
                  <a:lnTo>
                    <a:pt x="40170" y="63499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49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392403" y="2205651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49"/>
                  </a:lnTo>
                  <a:lnTo>
                    <a:pt x="12051" y="19049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4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3091833" y="1783311"/>
            <a:ext cx="2603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30" dirty="0">
                <a:latin typeface="Georgia"/>
                <a:cs typeface="Georgia"/>
              </a:rPr>
              <a:t>y</a:t>
            </a:r>
            <a:r>
              <a:rPr sz="1100" spc="-30" dirty="0">
                <a:latin typeface="Palatino Linotype"/>
                <a:cs typeface="Palatino Linotype"/>
              </a:rPr>
              <a:t>[</a:t>
            </a:r>
            <a:r>
              <a:rPr sz="1100" i="1" spc="-30" dirty="0">
                <a:latin typeface="Georgia"/>
                <a:cs typeface="Georgia"/>
              </a:rPr>
              <a:t>n</a:t>
            </a:r>
            <a:r>
              <a:rPr sz="1100" spc="-30" dirty="0">
                <a:latin typeface="Palatino Linotype"/>
                <a:cs typeface="Palatino Linotype"/>
              </a:rPr>
              <a:t>]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070529" y="2473654"/>
            <a:ext cx="10922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0"/>
              </a:lnSpc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052015" y="2473654"/>
            <a:ext cx="10922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0"/>
              </a:lnSpc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58823" y="2555064"/>
            <a:ext cx="1049655" cy="31623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i="1" spc="50" dirty="0">
                <a:latin typeface="Times New Roman"/>
                <a:cs typeface="Times New Roman"/>
              </a:rPr>
              <a:t>−</a:t>
            </a:r>
            <a:r>
              <a:rPr sz="1100" spc="50" dirty="0">
                <a:latin typeface="Palatino Linotype"/>
                <a:cs typeface="Palatino Linotype"/>
              </a:rPr>
              <a:t>1</a:t>
            </a:r>
            <a:r>
              <a:rPr sz="1100" spc="1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2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3</a:t>
            </a:r>
            <a:r>
              <a:rPr sz="1100" spc="160" dirty="0">
                <a:latin typeface="Palatino Linotype"/>
                <a:cs typeface="Palatino Linotype"/>
              </a:rPr>
              <a:t>  </a:t>
            </a:r>
            <a:r>
              <a:rPr sz="1100" spc="-50" dirty="0">
                <a:latin typeface="Palatino Linotype"/>
                <a:cs typeface="Palatino Linotype"/>
              </a:rPr>
              <a:t>4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940309" y="2555064"/>
            <a:ext cx="1049655" cy="31623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i="1" spc="50" dirty="0">
                <a:latin typeface="Times New Roman"/>
                <a:cs typeface="Times New Roman"/>
              </a:rPr>
              <a:t>−</a:t>
            </a:r>
            <a:r>
              <a:rPr sz="1100" spc="50" dirty="0">
                <a:latin typeface="Palatino Linotype"/>
                <a:cs typeface="Palatino Linotype"/>
              </a:rPr>
              <a:t>1</a:t>
            </a:r>
            <a:r>
              <a:rPr sz="1100" spc="1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2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3</a:t>
            </a:r>
            <a:r>
              <a:rPr sz="1100" spc="160" dirty="0">
                <a:latin typeface="Palatino Linotype"/>
                <a:cs typeface="Palatino Linotype"/>
              </a:rPr>
              <a:t>  </a:t>
            </a:r>
            <a:r>
              <a:rPr sz="1100" spc="-50" dirty="0">
                <a:latin typeface="Palatino Linotype"/>
                <a:cs typeface="Palatino Linotype"/>
              </a:rPr>
              <a:t>4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13830" y="3034568"/>
            <a:ext cx="3539490" cy="174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z="1100" spc="65" dirty="0">
                <a:latin typeface="Arial"/>
                <a:cs typeface="Arial"/>
              </a:rPr>
              <a:t>Each</a:t>
            </a:r>
            <a:r>
              <a:rPr sz="1100" spc="2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cycle</a:t>
            </a:r>
            <a:r>
              <a:rPr sz="1100" spc="2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creates</a:t>
            </a:r>
            <a:r>
              <a:rPr sz="1100" spc="260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another</a:t>
            </a:r>
            <a:r>
              <a:rPr sz="1100" spc="2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sample</a:t>
            </a:r>
            <a:r>
              <a:rPr sz="1100" spc="265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in</a:t>
            </a:r>
            <a:r>
              <a:rPr sz="1100" spc="27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65" dirty="0">
                <a:latin typeface="Arial"/>
                <a:cs typeface="Arial"/>
              </a:rPr>
              <a:t> </a:t>
            </a:r>
            <a:r>
              <a:rPr sz="1100" spc="95" dirty="0">
                <a:latin typeface="Arial"/>
                <a:cs typeface="Arial"/>
              </a:rPr>
              <a:t>output.</a:t>
            </a:r>
            <a:endParaRPr sz="1100">
              <a:latin typeface="Arial"/>
              <a:cs typeface="Arial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10" dirty="0"/>
              <a:t>Last</a:t>
            </a:r>
            <a:r>
              <a:rPr spc="220" dirty="0"/>
              <a:t> </a:t>
            </a:r>
            <a:r>
              <a:rPr spc="160" dirty="0"/>
              <a:t>Time:</a:t>
            </a:r>
            <a:r>
              <a:rPr spc="405" dirty="0"/>
              <a:t> </a:t>
            </a:r>
            <a:r>
              <a:rPr spc="100" dirty="0"/>
              <a:t>Feedback,</a:t>
            </a:r>
            <a:r>
              <a:rPr spc="220" dirty="0"/>
              <a:t> </a:t>
            </a:r>
            <a:r>
              <a:rPr spc="60" dirty="0"/>
              <a:t>Cyclic</a:t>
            </a:r>
            <a:r>
              <a:rPr spc="220" dirty="0"/>
              <a:t> </a:t>
            </a:r>
            <a:r>
              <a:rPr spc="65" dirty="0"/>
              <a:t>Signal</a:t>
            </a:r>
            <a:r>
              <a:rPr spc="225" dirty="0"/>
              <a:t> </a:t>
            </a:r>
            <a:r>
              <a:rPr spc="105" dirty="0"/>
              <a:t>Paths,</a:t>
            </a:r>
            <a:r>
              <a:rPr spc="220" dirty="0"/>
              <a:t> </a:t>
            </a:r>
            <a:r>
              <a:rPr spc="85" dirty="0"/>
              <a:t>and</a:t>
            </a:r>
            <a:r>
              <a:rPr spc="220" dirty="0"/>
              <a:t> </a:t>
            </a:r>
            <a:r>
              <a:rPr spc="95" dirty="0"/>
              <a:t>Modes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830" y="345358"/>
            <a:ext cx="4834255" cy="43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1100" spc="120" dirty="0">
                <a:latin typeface="Arial"/>
                <a:cs typeface="Arial"/>
              </a:rPr>
              <a:t>The</a:t>
            </a:r>
            <a:r>
              <a:rPr sz="1100" spc="100" dirty="0">
                <a:latin typeface="Arial"/>
                <a:cs typeface="Arial"/>
              </a:rPr>
              <a:t>  </a:t>
            </a:r>
            <a:r>
              <a:rPr sz="1100" spc="90" dirty="0">
                <a:latin typeface="Arial"/>
                <a:cs typeface="Arial"/>
              </a:rPr>
              <a:t>eﬀect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spc="50" dirty="0">
                <a:latin typeface="Arial"/>
                <a:cs typeface="Arial"/>
              </a:rPr>
              <a:t>feedback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spc="50" dirty="0">
                <a:latin typeface="Arial"/>
                <a:cs typeface="Arial"/>
              </a:rPr>
              <a:t>can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dirty="0">
                <a:latin typeface="Arial"/>
                <a:cs typeface="Arial"/>
              </a:rPr>
              <a:t>visualized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105" dirty="0">
                <a:latin typeface="Arial"/>
                <a:cs typeface="Arial"/>
              </a:rPr>
              <a:t>  </a:t>
            </a:r>
            <a:r>
              <a:rPr sz="1100" spc="80" dirty="0">
                <a:latin typeface="Arial"/>
                <a:cs typeface="Arial"/>
              </a:rPr>
              <a:t>tracing</a:t>
            </a:r>
            <a:r>
              <a:rPr sz="1100" spc="110" dirty="0">
                <a:latin typeface="Arial"/>
                <a:cs typeface="Arial"/>
              </a:rPr>
              <a:t> 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100" dirty="0">
                <a:latin typeface="Arial"/>
                <a:cs typeface="Arial"/>
              </a:rPr>
              <a:t>  </a:t>
            </a:r>
            <a:r>
              <a:rPr sz="1100" spc="-10" dirty="0">
                <a:latin typeface="Arial"/>
                <a:cs typeface="Arial"/>
              </a:rPr>
              <a:t>cycle </a:t>
            </a:r>
            <a:r>
              <a:rPr sz="1100" spc="90" dirty="0">
                <a:latin typeface="Arial"/>
                <a:cs typeface="Arial"/>
              </a:rPr>
              <a:t>through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2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cyclic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signal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paths.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75240" y="1361011"/>
            <a:ext cx="480059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95"/>
              </a:spcBef>
            </a:pPr>
            <a:r>
              <a:rPr sz="1100" spc="40" dirty="0">
                <a:latin typeface="Arial"/>
                <a:cs typeface="Arial"/>
              </a:rPr>
              <a:t>Delay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76116" y="906222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67351" y="1338782"/>
            <a:ext cx="205104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spc="-25" dirty="0">
                <a:latin typeface="Georgia"/>
                <a:cs typeface="Georgia"/>
              </a:rPr>
              <a:t>p</a:t>
            </a:r>
            <a:r>
              <a:rPr sz="1350" spc="-37" baseline="-12345" dirty="0">
                <a:latin typeface="Palatino Linotype"/>
                <a:cs typeface="Palatino Linotype"/>
              </a:rPr>
              <a:t>0</a:t>
            </a:r>
            <a:endParaRPr sz="1350" baseline="-12345">
              <a:latin typeface="Palatino Linotype"/>
              <a:cs typeface="Palatino Linotyp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50138" y="920318"/>
            <a:ext cx="1750695" cy="746125"/>
            <a:chOff x="1650138" y="920318"/>
            <a:chExt cx="1750695" cy="746125"/>
          </a:xfrm>
        </p:grpSpPr>
        <p:sp>
          <p:nvSpPr>
            <p:cNvPr id="8" name="object 8"/>
            <p:cNvSpPr/>
            <p:nvPr/>
          </p:nvSpPr>
          <p:spPr>
            <a:xfrm>
              <a:off x="2568914" y="1378139"/>
              <a:ext cx="470534" cy="192405"/>
            </a:xfrm>
            <a:custGeom>
              <a:avLst/>
              <a:gdLst/>
              <a:ahLst/>
              <a:cxnLst/>
              <a:rect l="l" t="t" r="r" b="b"/>
              <a:pathLst>
                <a:path w="470535" h="192405">
                  <a:moveTo>
                    <a:pt x="0" y="192181"/>
                  </a:moveTo>
                  <a:lnTo>
                    <a:pt x="470538" y="192181"/>
                  </a:lnTo>
                  <a:lnTo>
                    <a:pt x="470538" y="0"/>
                  </a:lnTo>
                  <a:lnTo>
                    <a:pt x="0" y="0"/>
                  </a:lnTo>
                  <a:lnTo>
                    <a:pt x="0" y="192181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39949" y="920318"/>
              <a:ext cx="205966" cy="20596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069458" y="1288854"/>
              <a:ext cx="309245" cy="370840"/>
            </a:xfrm>
            <a:custGeom>
              <a:avLst/>
              <a:gdLst/>
              <a:ahLst/>
              <a:cxnLst/>
              <a:rect l="l" t="t" r="r" b="b"/>
              <a:pathLst>
                <a:path w="309244" h="370839">
                  <a:moveTo>
                    <a:pt x="0" y="185375"/>
                  </a:moveTo>
                  <a:lnTo>
                    <a:pt x="308955" y="370750"/>
                  </a:lnTo>
                  <a:lnTo>
                    <a:pt x="308955" y="0"/>
                  </a:lnTo>
                  <a:lnTo>
                    <a:pt x="0" y="185375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56488" y="1023302"/>
              <a:ext cx="165100" cy="0"/>
            </a:xfrm>
            <a:custGeom>
              <a:avLst/>
              <a:gdLst/>
              <a:ahLst/>
              <a:cxnLst/>
              <a:rect l="l" t="t" r="r" b="b"/>
              <a:pathLst>
                <a:path w="165100">
                  <a:moveTo>
                    <a:pt x="0" y="0"/>
                  </a:moveTo>
                  <a:lnTo>
                    <a:pt x="164483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62524" y="999092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62524" y="999092"/>
              <a:ext cx="1631950" cy="48895"/>
            </a:xfrm>
            <a:custGeom>
              <a:avLst/>
              <a:gdLst/>
              <a:ahLst/>
              <a:cxnLst/>
              <a:rect l="l" t="t" r="r" b="b"/>
              <a:pathLst>
                <a:path w="1631950" h="48894">
                  <a:moveTo>
                    <a:pt x="0" y="48419"/>
                  </a:moveTo>
                  <a:lnTo>
                    <a:pt x="58446" y="24210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  <a:path w="1631950" h="48894">
                  <a:moveTo>
                    <a:pt x="277065" y="24210"/>
                  </a:moveTo>
                  <a:lnTo>
                    <a:pt x="1631902" y="2421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35982" y="999093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17"/>
                  </a:lnTo>
                  <a:lnTo>
                    <a:pt x="58444" y="242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64757" y="999093"/>
              <a:ext cx="330200" cy="475615"/>
            </a:xfrm>
            <a:custGeom>
              <a:avLst/>
              <a:gdLst/>
              <a:ahLst/>
              <a:cxnLst/>
              <a:rect l="l" t="t" r="r" b="b"/>
              <a:pathLst>
                <a:path w="330200" h="475615">
                  <a:moveTo>
                    <a:pt x="271225" y="48417"/>
                  </a:moveTo>
                  <a:lnTo>
                    <a:pt x="329669" y="24208"/>
                  </a:lnTo>
                  <a:lnTo>
                    <a:pt x="271225" y="0"/>
                  </a:lnTo>
                  <a:lnTo>
                    <a:pt x="271225" y="48417"/>
                  </a:lnTo>
                  <a:close/>
                </a:path>
                <a:path w="330200" h="475615">
                  <a:moveTo>
                    <a:pt x="164483" y="24208"/>
                  </a:moveTo>
                  <a:lnTo>
                    <a:pt x="164483" y="475136"/>
                  </a:lnTo>
                  <a:lnTo>
                    <a:pt x="0" y="475136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64757" y="145001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10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42933" y="1145263"/>
              <a:ext cx="1180465" cy="353695"/>
            </a:xfrm>
            <a:custGeom>
              <a:avLst/>
              <a:gdLst/>
              <a:ahLst/>
              <a:cxnLst/>
              <a:rect l="l" t="t" r="r" b="b"/>
              <a:pathLst>
                <a:path w="1180464" h="353694">
                  <a:moveTo>
                    <a:pt x="1180270" y="304756"/>
                  </a:moveTo>
                  <a:lnTo>
                    <a:pt x="1121824" y="328966"/>
                  </a:lnTo>
                  <a:lnTo>
                    <a:pt x="1180270" y="353176"/>
                  </a:lnTo>
                  <a:lnTo>
                    <a:pt x="1180270" y="304756"/>
                  </a:lnTo>
                  <a:close/>
                </a:path>
                <a:path w="1180464" h="353694">
                  <a:moveTo>
                    <a:pt x="126525" y="328966"/>
                  </a:moveTo>
                  <a:lnTo>
                    <a:pt x="0" y="328966"/>
                  </a:lnTo>
                  <a:lnTo>
                    <a:pt x="0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18723" y="1145263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24209" y="0"/>
                  </a:moveTo>
                  <a:lnTo>
                    <a:pt x="0" y="58446"/>
                  </a:lnTo>
                  <a:lnTo>
                    <a:pt x="48419" y="58446"/>
                  </a:lnTo>
                  <a:lnTo>
                    <a:pt x="24209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18723" y="1145263"/>
              <a:ext cx="650240" cy="329565"/>
            </a:xfrm>
            <a:custGeom>
              <a:avLst/>
              <a:gdLst/>
              <a:ahLst/>
              <a:cxnLst/>
              <a:rect l="l" t="t" r="r" b="b"/>
              <a:pathLst>
                <a:path w="650239" h="329565">
                  <a:moveTo>
                    <a:pt x="48419" y="58446"/>
                  </a:moveTo>
                  <a:lnTo>
                    <a:pt x="24209" y="0"/>
                  </a:lnTo>
                  <a:lnTo>
                    <a:pt x="0" y="58446"/>
                  </a:lnTo>
                  <a:lnTo>
                    <a:pt x="48419" y="58446"/>
                  </a:lnTo>
                  <a:close/>
                </a:path>
                <a:path w="650239" h="329565">
                  <a:moveTo>
                    <a:pt x="650190" y="328966"/>
                  </a:moveTo>
                  <a:lnTo>
                    <a:pt x="484994" y="328966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03717" y="145002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03717" y="145002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466821" y="918980"/>
            <a:ext cx="20967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02789" algn="l"/>
              </a:tabLst>
            </a:pPr>
            <a:r>
              <a:rPr sz="1100" i="1" spc="65" dirty="0">
                <a:latin typeface="Georgia"/>
                <a:cs typeface="Georgia"/>
              </a:rPr>
              <a:t>X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i="1" spc="-50" dirty="0">
                <a:latin typeface="Georgia"/>
                <a:cs typeface="Georgia"/>
              </a:rPr>
              <a:t>Y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643076" y="1010602"/>
            <a:ext cx="1789430" cy="476884"/>
            <a:chOff x="1643076" y="1010602"/>
            <a:chExt cx="1789430" cy="476884"/>
          </a:xfrm>
        </p:grpSpPr>
        <p:sp>
          <p:nvSpPr>
            <p:cNvPr id="24" name="object 24"/>
            <p:cNvSpPr/>
            <p:nvPr/>
          </p:nvSpPr>
          <p:spPr>
            <a:xfrm>
              <a:off x="1655776" y="1023302"/>
              <a:ext cx="1764030" cy="451484"/>
            </a:xfrm>
            <a:custGeom>
              <a:avLst/>
              <a:gdLst/>
              <a:ahLst/>
              <a:cxnLst/>
              <a:rect l="l" t="t" r="r" b="b"/>
              <a:pathLst>
                <a:path w="1764029" h="451484">
                  <a:moveTo>
                    <a:pt x="0" y="0"/>
                  </a:moveTo>
                  <a:lnTo>
                    <a:pt x="1573464" y="0"/>
                  </a:lnTo>
                  <a:lnTo>
                    <a:pt x="1574176" y="450927"/>
                  </a:lnTo>
                  <a:lnTo>
                    <a:pt x="286682" y="450927"/>
                  </a:lnTo>
                  <a:lnTo>
                    <a:pt x="287157" y="50800"/>
                  </a:lnTo>
                  <a:lnTo>
                    <a:pt x="1522664" y="50800"/>
                  </a:lnTo>
                  <a:lnTo>
                    <a:pt x="1523376" y="400127"/>
                  </a:lnTo>
                  <a:lnTo>
                    <a:pt x="337482" y="400127"/>
                  </a:lnTo>
                  <a:lnTo>
                    <a:pt x="337957" y="101600"/>
                  </a:lnTo>
                  <a:lnTo>
                    <a:pt x="1471864" y="101600"/>
                  </a:lnTo>
                  <a:lnTo>
                    <a:pt x="1472576" y="349327"/>
                  </a:lnTo>
                  <a:lnTo>
                    <a:pt x="388282" y="349327"/>
                  </a:lnTo>
                  <a:lnTo>
                    <a:pt x="388757" y="152400"/>
                  </a:lnTo>
                  <a:lnTo>
                    <a:pt x="1421064" y="152400"/>
                  </a:lnTo>
                  <a:lnTo>
                    <a:pt x="1421776" y="298527"/>
                  </a:lnTo>
                  <a:lnTo>
                    <a:pt x="439082" y="298527"/>
                  </a:lnTo>
                  <a:lnTo>
                    <a:pt x="439557" y="203200"/>
                  </a:lnTo>
                  <a:lnTo>
                    <a:pt x="1763964" y="20320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48602" y="1189595"/>
              <a:ext cx="83838" cy="73813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988443" y="2020777"/>
            <a:ext cx="1044575" cy="540385"/>
          </a:xfrm>
          <a:custGeom>
            <a:avLst/>
            <a:gdLst/>
            <a:ahLst/>
            <a:cxnLst/>
            <a:rect l="l" t="t" r="r" b="b"/>
            <a:pathLst>
              <a:path w="1044575" h="540385">
                <a:moveTo>
                  <a:pt x="0" y="539999"/>
                </a:moveTo>
                <a:lnTo>
                  <a:pt x="1043997" y="539999"/>
                </a:lnTo>
              </a:path>
              <a:path w="1044575" h="540385">
                <a:moveTo>
                  <a:pt x="251998" y="539999"/>
                </a:moveTo>
                <a:lnTo>
                  <a:pt x="251998" y="0"/>
                </a:lnTo>
              </a:path>
            </a:pathLst>
          </a:custGeom>
          <a:ln w="126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58823" y="2438859"/>
            <a:ext cx="1221105" cy="326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1185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ts val="1185"/>
              </a:lnSpc>
            </a:pPr>
            <a:r>
              <a:rPr sz="1100" i="1" spc="50" dirty="0">
                <a:latin typeface="Times New Roman"/>
                <a:cs typeface="Times New Roman"/>
              </a:rPr>
              <a:t>−</a:t>
            </a:r>
            <a:r>
              <a:rPr sz="1100" spc="50" dirty="0">
                <a:latin typeface="Palatino Linotype"/>
                <a:cs typeface="Palatino Linotype"/>
              </a:rPr>
              <a:t>1</a:t>
            </a:r>
            <a:r>
              <a:rPr sz="1100" spc="1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2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3</a:t>
            </a:r>
            <a:r>
              <a:rPr sz="1100" spc="160" dirty="0">
                <a:latin typeface="Palatino Linotype"/>
                <a:cs typeface="Palatino Linotype"/>
              </a:rPr>
              <a:t>  </a:t>
            </a:r>
            <a:r>
              <a:rPr sz="1100" spc="-50" dirty="0">
                <a:latin typeface="Palatino Linotype"/>
                <a:cs typeface="Palatino Linotype"/>
              </a:rPr>
              <a:t>4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00068" y="1783311"/>
            <a:ext cx="68135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dirty="0">
                <a:latin typeface="Georgia"/>
                <a:cs typeface="Georgia"/>
              </a:rPr>
              <a:t>x</a:t>
            </a:r>
            <a:r>
              <a:rPr sz="1100" dirty="0">
                <a:latin typeface="Palatino Linotype"/>
                <a:cs typeface="Palatino Linotype"/>
              </a:rPr>
              <a:t>[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dirty="0">
                <a:latin typeface="Palatino Linotype"/>
                <a:cs typeface="Palatino Linotype"/>
              </a:rPr>
              <a:t>]</a:t>
            </a:r>
            <a:r>
              <a:rPr sz="1100" spc="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5" dirty="0">
                <a:latin typeface="Palatino Linotype"/>
                <a:cs typeface="Palatino Linotype"/>
              </a:rPr>
              <a:t> </a:t>
            </a:r>
            <a:r>
              <a:rPr sz="1100" i="1" spc="-30" dirty="0">
                <a:latin typeface="Georgia"/>
                <a:cs typeface="Georgia"/>
              </a:rPr>
              <a:t>δ</a:t>
            </a:r>
            <a:r>
              <a:rPr sz="1100" spc="-30" dirty="0">
                <a:latin typeface="Palatino Linotype"/>
                <a:cs typeface="Palatino Linotype"/>
              </a:rPr>
              <a:t>[</a:t>
            </a:r>
            <a:r>
              <a:rPr sz="1100" i="1" spc="-30" dirty="0">
                <a:latin typeface="Georgia"/>
                <a:cs typeface="Georgia"/>
              </a:rPr>
              <a:t>n</a:t>
            </a:r>
            <a:r>
              <a:rPr sz="1100" spc="-30" dirty="0">
                <a:latin typeface="Palatino Linotype"/>
                <a:cs typeface="Palatino Linotype"/>
              </a:rPr>
              <a:t>]</a:t>
            </a:r>
            <a:endParaRPr sz="1100">
              <a:latin typeface="Palatino Linotype"/>
              <a:cs typeface="Palatino Linotype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028692" y="2241026"/>
            <a:ext cx="963930" cy="351790"/>
            <a:chOff x="1028692" y="2241026"/>
            <a:chExt cx="963930" cy="351790"/>
          </a:xfrm>
        </p:grpSpPr>
        <p:sp>
          <p:nvSpPr>
            <p:cNvPr id="30" name="object 30"/>
            <p:cNvSpPr/>
            <p:nvPr/>
          </p:nvSpPr>
          <p:spPr>
            <a:xfrm>
              <a:off x="1052822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0" y="7619"/>
                  </a:moveTo>
                  <a:lnTo>
                    <a:pt x="2231" y="2231"/>
                  </a:lnTo>
                  <a:lnTo>
                    <a:pt x="7619" y="0"/>
                  </a:lnTo>
                  <a:lnTo>
                    <a:pt x="13008" y="2231"/>
                  </a:lnTo>
                  <a:lnTo>
                    <a:pt x="15239" y="7619"/>
                  </a:lnTo>
                  <a:lnTo>
                    <a:pt x="13008" y="13008"/>
                  </a:lnTo>
                  <a:lnTo>
                    <a:pt x="7619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28692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50917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40442" y="2272776"/>
              <a:ext cx="0" cy="288290"/>
            </a:xfrm>
            <a:custGeom>
              <a:avLst/>
              <a:gdLst/>
              <a:ahLst/>
              <a:cxnLst/>
              <a:rect l="l" t="t" r="r" b="b"/>
              <a:pathLst>
                <a:path h="288289">
                  <a:moveTo>
                    <a:pt x="0" y="288001"/>
                  </a:moveTo>
                  <a:lnTo>
                    <a:pt x="0" y="0"/>
                  </a:lnTo>
                </a:path>
              </a:pathLst>
            </a:custGeom>
            <a:ln w="15240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208692" y="2241026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499" y="40170"/>
                  </a:lnTo>
                  <a:lnTo>
                    <a:pt x="63499" y="31750"/>
                  </a:lnTo>
                  <a:lnTo>
                    <a:pt x="63499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230917" y="2263251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49" y="12051"/>
                  </a:lnTo>
                  <a:lnTo>
                    <a:pt x="19049" y="9525"/>
                  </a:lnTo>
                  <a:lnTo>
                    <a:pt x="19049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412822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0" y="7619"/>
                  </a:moveTo>
                  <a:lnTo>
                    <a:pt x="2231" y="2231"/>
                  </a:lnTo>
                  <a:lnTo>
                    <a:pt x="7619" y="0"/>
                  </a:lnTo>
                  <a:lnTo>
                    <a:pt x="13008" y="2231"/>
                  </a:lnTo>
                  <a:lnTo>
                    <a:pt x="15239" y="7619"/>
                  </a:lnTo>
                  <a:lnTo>
                    <a:pt x="13008" y="13008"/>
                  </a:lnTo>
                  <a:lnTo>
                    <a:pt x="7619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388692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410917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592822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0" y="7619"/>
                  </a:moveTo>
                  <a:lnTo>
                    <a:pt x="2231" y="2231"/>
                  </a:lnTo>
                  <a:lnTo>
                    <a:pt x="7619" y="0"/>
                  </a:lnTo>
                  <a:lnTo>
                    <a:pt x="13008" y="2231"/>
                  </a:lnTo>
                  <a:lnTo>
                    <a:pt x="15239" y="7619"/>
                  </a:lnTo>
                  <a:lnTo>
                    <a:pt x="13008" y="13008"/>
                  </a:lnTo>
                  <a:lnTo>
                    <a:pt x="7619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568692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590917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772822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0" y="7619"/>
                  </a:moveTo>
                  <a:lnTo>
                    <a:pt x="2231" y="2231"/>
                  </a:lnTo>
                  <a:lnTo>
                    <a:pt x="7620" y="0"/>
                  </a:lnTo>
                  <a:lnTo>
                    <a:pt x="13008" y="2231"/>
                  </a:lnTo>
                  <a:lnTo>
                    <a:pt x="15240" y="7619"/>
                  </a:lnTo>
                  <a:lnTo>
                    <a:pt x="13008" y="13008"/>
                  </a:lnTo>
                  <a:lnTo>
                    <a:pt x="7620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748692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770917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952822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0" y="7619"/>
                  </a:moveTo>
                  <a:lnTo>
                    <a:pt x="2231" y="2231"/>
                  </a:lnTo>
                  <a:lnTo>
                    <a:pt x="7619" y="0"/>
                  </a:lnTo>
                  <a:lnTo>
                    <a:pt x="13008" y="2231"/>
                  </a:lnTo>
                  <a:lnTo>
                    <a:pt x="15239" y="7619"/>
                  </a:lnTo>
                  <a:lnTo>
                    <a:pt x="13008" y="13008"/>
                  </a:lnTo>
                  <a:lnTo>
                    <a:pt x="7619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28692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950917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/>
          <p:nvPr/>
        </p:nvSpPr>
        <p:spPr>
          <a:xfrm>
            <a:off x="2969929" y="2020777"/>
            <a:ext cx="1044575" cy="540385"/>
          </a:xfrm>
          <a:custGeom>
            <a:avLst/>
            <a:gdLst/>
            <a:ahLst/>
            <a:cxnLst/>
            <a:rect l="l" t="t" r="r" b="b"/>
            <a:pathLst>
              <a:path w="1044575" h="540385">
                <a:moveTo>
                  <a:pt x="0" y="539999"/>
                </a:moveTo>
                <a:lnTo>
                  <a:pt x="1043997" y="539999"/>
                </a:lnTo>
              </a:path>
              <a:path w="1044575" h="540385">
                <a:moveTo>
                  <a:pt x="251998" y="539999"/>
                </a:moveTo>
                <a:lnTo>
                  <a:pt x="251998" y="0"/>
                </a:lnTo>
              </a:path>
            </a:pathLst>
          </a:custGeom>
          <a:ln w="126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940309" y="2438859"/>
            <a:ext cx="1221105" cy="326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1185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ts val="1185"/>
              </a:lnSpc>
            </a:pPr>
            <a:r>
              <a:rPr sz="1100" i="1" spc="50" dirty="0">
                <a:latin typeface="Times New Roman"/>
                <a:cs typeface="Times New Roman"/>
              </a:rPr>
              <a:t>−</a:t>
            </a:r>
            <a:r>
              <a:rPr sz="1100" spc="50" dirty="0">
                <a:latin typeface="Palatino Linotype"/>
                <a:cs typeface="Palatino Linotype"/>
              </a:rPr>
              <a:t>1</a:t>
            </a:r>
            <a:r>
              <a:rPr sz="1100" spc="1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2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3</a:t>
            </a:r>
            <a:r>
              <a:rPr sz="1100" spc="160" dirty="0">
                <a:latin typeface="Palatino Linotype"/>
                <a:cs typeface="Palatino Linotype"/>
              </a:rPr>
              <a:t>  </a:t>
            </a:r>
            <a:r>
              <a:rPr sz="1100" spc="-50" dirty="0">
                <a:latin typeface="Palatino Linotype"/>
                <a:cs typeface="Palatino Linotype"/>
              </a:rPr>
              <a:t>4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091833" y="1783311"/>
            <a:ext cx="2603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30" dirty="0">
                <a:latin typeface="Georgia"/>
                <a:cs typeface="Georgia"/>
              </a:rPr>
              <a:t>y</a:t>
            </a:r>
            <a:r>
              <a:rPr sz="1100" spc="-30" dirty="0">
                <a:latin typeface="Palatino Linotype"/>
                <a:cs typeface="Palatino Linotype"/>
              </a:rPr>
              <a:t>[</a:t>
            </a:r>
            <a:r>
              <a:rPr sz="1100" i="1" spc="-30" dirty="0">
                <a:latin typeface="Georgia"/>
                <a:cs typeface="Georgia"/>
              </a:rPr>
              <a:t>n</a:t>
            </a:r>
            <a:r>
              <a:rPr sz="1100" spc="-30" dirty="0">
                <a:latin typeface="Palatino Linotype"/>
                <a:cs typeface="Palatino Linotype"/>
              </a:rPr>
              <a:t>]</a:t>
            </a:r>
            <a:endParaRPr sz="1100">
              <a:latin typeface="Palatino Linotype"/>
              <a:cs typeface="Palatino Linotype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010178" y="1931834"/>
            <a:ext cx="963930" cy="661035"/>
            <a:chOff x="3010178" y="1931834"/>
            <a:chExt cx="963930" cy="661035"/>
          </a:xfrm>
        </p:grpSpPr>
        <p:sp>
          <p:nvSpPr>
            <p:cNvPr id="52" name="object 52"/>
            <p:cNvSpPr/>
            <p:nvPr/>
          </p:nvSpPr>
          <p:spPr>
            <a:xfrm>
              <a:off x="3034308" y="255315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0" y="7619"/>
                  </a:moveTo>
                  <a:lnTo>
                    <a:pt x="2231" y="2231"/>
                  </a:lnTo>
                  <a:lnTo>
                    <a:pt x="7619" y="0"/>
                  </a:lnTo>
                  <a:lnTo>
                    <a:pt x="13008" y="2231"/>
                  </a:lnTo>
                  <a:lnTo>
                    <a:pt x="15239" y="7619"/>
                  </a:lnTo>
                  <a:lnTo>
                    <a:pt x="13008" y="13008"/>
                  </a:lnTo>
                  <a:lnTo>
                    <a:pt x="7619" y="15239"/>
                  </a:lnTo>
                  <a:lnTo>
                    <a:pt x="2231" y="13008"/>
                  </a:lnTo>
                  <a:lnTo>
                    <a:pt x="0" y="7619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010178" y="252902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032403" y="255125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221928" y="2272776"/>
              <a:ext cx="0" cy="288290"/>
            </a:xfrm>
            <a:custGeom>
              <a:avLst/>
              <a:gdLst/>
              <a:ahLst/>
              <a:cxnLst/>
              <a:rect l="l" t="t" r="r" b="b"/>
              <a:pathLst>
                <a:path h="288289">
                  <a:moveTo>
                    <a:pt x="0" y="288001"/>
                  </a:moveTo>
                  <a:lnTo>
                    <a:pt x="0" y="0"/>
                  </a:lnTo>
                </a:path>
              </a:pathLst>
            </a:custGeom>
            <a:ln w="15240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190178" y="2241026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212403" y="2263251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401928" y="2215176"/>
              <a:ext cx="0" cy="346075"/>
            </a:xfrm>
            <a:custGeom>
              <a:avLst/>
              <a:gdLst/>
              <a:ahLst/>
              <a:cxnLst/>
              <a:rect l="l" t="t" r="r" b="b"/>
              <a:pathLst>
                <a:path h="346075">
                  <a:moveTo>
                    <a:pt x="0" y="345600"/>
                  </a:moveTo>
                  <a:lnTo>
                    <a:pt x="0" y="0"/>
                  </a:lnTo>
                </a:path>
              </a:pathLst>
            </a:custGeom>
            <a:ln w="15240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370178" y="2183426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499"/>
                  </a:lnTo>
                  <a:lnTo>
                    <a:pt x="40170" y="63499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49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392403" y="2205651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49"/>
                  </a:lnTo>
                  <a:lnTo>
                    <a:pt x="12051" y="19049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4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581928" y="2146059"/>
              <a:ext cx="0" cy="415290"/>
            </a:xfrm>
            <a:custGeom>
              <a:avLst/>
              <a:gdLst/>
              <a:ahLst/>
              <a:cxnLst/>
              <a:rect l="l" t="t" r="r" b="b"/>
              <a:pathLst>
                <a:path h="415289">
                  <a:moveTo>
                    <a:pt x="0" y="414717"/>
                  </a:moveTo>
                  <a:lnTo>
                    <a:pt x="0" y="0"/>
                  </a:lnTo>
                </a:path>
              </a:pathLst>
            </a:custGeom>
            <a:ln w="15240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550178" y="2114309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499" y="40170"/>
                  </a:lnTo>
                  <a:lnTo>
                    <a:pt x="63499" y="31750"/>
                  </a:lnTo>
                  <a:lnTo>
                    <a:pt x="63499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572403" y="2136534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49" y="12051"/>
                  </a:lnTo>
                  <a:lnTo>
                    <a:pt x="19049" y="9525"/>
                  </a:lnTo>
                  <a:lnTo>
                    <a:pt x="19049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761928" y="2063116"/>
              <a:ext cx="0" cy="497840"/>
            </a:xfrm>
            <a:custGeom>
              <a:avLst/>
              <a:gdLst/>
              <a:ahLst/>
              <a:cxnLst/>
              <a:rect l="l" t="t" r="r" b="b"/>
              <a:pathLst>
                <a:path h="497839">
                  <a:moveTo>
                    <a:pt x="0" y="497660"/>
                  </a:moveTo>
                  <a:lnTo>
                    <a:pt x="0" y="0"/>
                  </a:lnTo>
                </a:path>
              </a:pathLst>
            </a:custGeom>
            <a:ln w="15240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730178" y="2031366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499"/>
                  </a:lnTo>
                  <a:lnTo>
                    <a:pt x="40170" y="63499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499" y="40170"/>
                  </a:lnTo>
                  <a:lnTo>
                    <a:pt x="63499" y="31749"/>
                  </a:lnTo>
                  <a:lnTo>
                    <a:pt x="63499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752403" y="2053591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49"/>
                  </a:lnTo>
                  <a:lnTo>
                    <a:pt x="12051" y="19049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49" y="12051"/>
                  </a:lnTo>
                  <a:lnTo>
                    <a:pt x="19049" y="9524"/>
                  </a:lnTo>
                  <a:lnTo>
                    <a:pt x="19049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941928" y="1963584"/>
              <a:ext cx="0" cy="597535"/>
            </a:xfrm>
            <a:custGeom>
              <a:avLst/>
              <a:gdLst/>
              <a:ahLst/>
              <a:cxnLst/>
              <a:rect l="l" t="t" r="r" b="b"/>
              <a:pathLst>
                <a:path h="597535">
                  <a:moveTo>
                    <a:pt x="0" y="597192"/>
                  </a:moveTo>
                  <a:lnTo>
                    <a:pt x="0" y="0"/>
                  </a:lnTo>
                </a:path>
              </a:pathLst>
            </a:custGeom>
            <a:ln w="1524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910178" y="1931834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40170" y="0"/>
                  </a:moveTo>
                  <a:lnTo>
                    <a:pt x="23329" y="0"/>
                  </a:lnTo>
                  <a:lnTo>
                    <a:pt x="15253" y="3345"/>
                  </a:lnTo>
                  <a:lnTo>
                    <a:pt x="3345" y="15253"/>
                  </a:lnTo>
                  <a:lnTo>
                    <a:pt x="0" y="23329"/>
                  </a:lnTo>
                  <a:lnTo>
                    <a:pt x="0" y="40170"/>
                  </a:lnTo>
                  <a:lnTo>
                    <a:pt x="3345" y="48246"/>
                  </a:lnTo>
                  <a:lnTo>
                    <a:pt x="15253" y="60154"/>
                  </a:lnTo>
                  <a:lnTo>
                    <a:pt x="23329" y="63500"/>
                  </a:lnTo>
                  <a:lnTo>
                    <a:pt x="40170" y="63500"/>
                  </a:lnTo>
                  <a:lnTo>
                    <a:pt x="48246" y="60154"/>
                  </a:lnTo>
                  <a:lnTo>
                    <a:pt x="60154" y="48246"/>
                  </a:lnTo>
                  <a:lnTo>
                    <a:pt x="63500" y="40170"/>
                  </a:lnTo>
                  <a:lnTo>
                    <a:pt x="63500" y="31750"/>
                  </a:lnTo>
                  <a:lnTo>
                    <a:pt x="63500" y="23329"/>
                  </a:lnTo>
                  <a:lnTo>
                    <a:pt x="60154" y="15253"/>
                  </a:lnTo>
                  <a:lnTo>
                    <a:pt x="48246" y="3345"/>
                  </a:lnTo>
                  <a:lnTo>
                    <a:pt x="4017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932403" y="1954059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051" y="0"/>
                  </a:moveTo>
                  <a:lnTo>
                    <a:pt x="6998" y="0"/>
                  </a:lnTo>
                  <a:lnTo>
                    <a:pt x="4576" y="1003"/>
                  </a:lnTo>
                  <a:lnTo>
                    <a:pt x="1003" y="4576"/>
                  </a:lnTo>
                  <a:lnTo>
                    <a:pt x="0" y="6998"/>
                  </a:lnTo>
                  <a:lnTo>
                    <a:pt x="0" y="12051"/>
                  </a:lnTo>
                  <a:lnTo>
                    <a:pt x="1003" y="14473"/>
                  </a:lnTo>
                  <a:lnTo>
                    <a:pt x="4576" y="18046"/>
                  </a:lnTo>
                  <a:lnTo>
                    <a:pt x="6998" y="19050"/>
                  </a:lnTo>
                  <a:lnTo>
                    <a:pt x="12051" y="19050"/>
                  </a:lnTo>
                  <a:lnTo>
                    <a:pt x="14473" y="18046"/>
                  </a:lnTo>
                  <a:lnTo>
                    <a:pt x="18046" y="14473"/>
                  </a:lnTo>
                  <a:lnTo>
                    <a:pt x="19050" y="12051"/>
                  </a:lnTo>
                  <a:lnTo>
                    <a:pt x="19050" y="9525"/>
                  </a:lnTo>
                  <a:lnTo>
                    <a:pt x="19050" y="6998"/>
                  </a:lnTo>
                  <a:lnTo>
                    <a:pt x="18046" y="4576"/>
                  </a:lnTo>
                  <a:lnTo>
                    <a:pt x="14473" y="1003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113830" y="3015640"/>
            <a:ext cx="4324985" cy="471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65" dirty="0">
                <a:latin typeface="Arial"/>
                <a:cs typeface="Arial"/>
              </a:rPr>
              <a:t>Each</a:t>
            </a:r>
            <a:r>
              <a:rPr sz="1100" spc="2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cycle</a:t>
            </a:r>
            <a:r>
              <a:rPr sz="1100" spc="2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creates</a:t>
            </a:r>
            <a:r>
              <a:rPr sz="1100" spc="260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another</a:t>
            </a:r>
            <a:r>
              <a:rPr sz="1100" spc="2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sample</a:t>
            </a:r>
            <a:r>
              <a:rPr sz="1100" spc="265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in</a:t>
            </a:r>
            <a:r>
              <a:rPr sz="1100" spc="27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65" dirty="0">
                <a:latin typeface="Arial"/>
                <a:cs typeface="Arial"/>
              </a:rPr>
              <a:t> </a:t>
            </a:r>
            <a:r>
              <a:rPr sz="1100" spc="95" dirty="0">
                <a:latin typeface="Arial"/>
                <a:cs typeface="Arial"/>
              </a:rPr>
              <a:t>output.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100" spc="120" dirty="0">
                <a:latin typeface="Arial"/>
                <a:cs typeface="Arial"/>
              </a:rPr>
              <a:t>The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response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will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persist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even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though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input</a:t>
            </a:r>
            <a:r>
              <a:rPr sz="1100" spc="19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transient.</a:t>
            </a:r>
            <a:endParaRPr sz="1100">
              <a:latin typeface="Arial"/>
              <a:cs typeface="Arial"/>
            </a:endParaRPr>
          </a:p>
        </p:txBody>
      </p:sp>
      <p:sp>
        <p:nvSpPr>
          <p:cNvPr id="71" name="object 7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445" y="2642748"/>
            <a:ext cx="1203852" cy="57807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25530" y="3060830"/>
            <a:ext cx="10922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424" y="3194711"/>
            <a:ext cx="1100455" cy="470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spc="50" dirty="0">
                <a:latin typeface="Times New Roman"/>
                <a:cs typeface="Times New Roman"/>
              </a:rPr>
              <a:t>−</a:t>
            </a:r>
            <a:r>
              <a:rPr sz="1100" spc="50" dirty="0">
                <a:latin typeface="Palatino Linotype"/>
                <a:cs typeface="Palatino Linotype"/>
              </a:rPr>
              <a:t>1</a:t>
            </a:r>
            <a:r>
              <a:rPr sz="1100" spc="1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2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3</a:t>
            </a:r>
            <a:r>
              <a:rPr sz="1100" spc="160" dirty="0">
                <a:latin typeface="Palatino Linotype"/>
                <a:cs typeface="Palatino Linotype"/>
              </a:rPr>
              <a:t>  </a:t>
            </a:r>
            <a:r>
              <a:rPr sz="1100" spc="-50" dirty="0">
                <a:latin typeface="Palatino Linotype"/>
                <a:cs typeface="Palatino Linotype"/>
              </a:rPr>
              <a:t>4</a:t>
            </a:r>
            <a:endParaRPr sz="1100">
              <a:latin typeface="Palatino Linotype"/>
              <a:cs typeface="Palatino Linotype"/>
            </a:endParaRPr>
          </a:p>
          <a:p>
            <a:pPr marL="370205">
              <a:lnSpc>
                <a:spcPct val="100000"/>
              </a:lnSpc>
              <a:spcBef>
                <a:spcPts val="865"/>
              </a:spcBef>
            </a:pPr>
            <a:r>
              <a:rPr sz="1100" i="1" dirty="0">
                <a:latin typeface="Georgia"/>
                <a:cs typeface="Georgia"/>
              </a:rPr>
              <a:t>p</a:t>
            </a:r>
            <a:r>
              <a:rPr sz="1350" baseline="-12345" dirty="0">
                <a:latin typeface="Palatino Linotype"/>
                <a:cs typeface="Palatino Linotype"/>
              </a:rPr>
              <a:t>0</a:t>
            </a:r>
            <a:r>
              <a:rPr sz="1350" spc="120" baseline="-1234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-10" dirty="0">
                <a:latin typeface="Palatino Linotype"/>
                <a:cs typeface="Palatino Linotype"/>
              </a:rPr>
              <a:t> </a:t>
            </a:r>
            <a:r>
              <a:rPr sz="1100" spc="-25" dirty="0">
                <a:latin typeface="Palatino Linotype"/>
                <a:cs typeface="Palatino Linotype"/>
              </a:rPr>
              <a:t>0</a:t>
            </a:r>
            <a:r>
              <a:rPr sz="1100" i="1" spc="-25" dirty="0">
                <a:latin typeface="Georgia"/>
                <a:cs typeface="Georgia"/>
              </a:rPr>
              <a:t>.</a:t>
            </a:r>
            <a:r>
              <a:rPr sz="1100" spc="-25" dirty="0">
                <a:latin typeface="Palatino Linotype"/>
                <a:cs typeface="Palatino Linotype"/>
              </a:rPr>
              <a:t>5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5349" y="2405282"/>
            <a:ext cx="2603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30" dirty="0">
                <a:latin typeface="Georgia"/>
                <a:cs typeface="Georgia"/>
              </a:rPr>
              <a:t>y</a:t>
            </a:r>
            <a:r>
              <a:rPr sz="1100" spc="-30" dirty="0">
                <a:latin typeface="Palatino Linotype"/>
                <a:cs typeface="Palatino Linotype"/>
              </a:rPr>
              <a:t>[</a:t>
            </a:r>
            <a:r>
              <a:rPr sz="1100" i="1" spc="-30" dirty="0">
                <a:latin typeface="Georgia"/>
                <a:cs typeface="Georgia"/>
              </a:rPr>
              <a:t>n</a:t>
            </a:r>
            <a:r>
              <a:rPr sz="1100" spc="-30" dirty="0">
                <a:latin typeface="Palatino Linotype"/>
                <a:cs typeface="Palatino Linotype"/>
              </a:rPr>
              <a:t>]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5" dirty="0"/>
              <a:t>Geometric</a:t>
            </a:r>
            <a:r>
              <a:rPr spc="225" dirty="0"/>
              <a:t> </a:t>
            </a:r>
            <a:r>
              <a:rPr spc="105" dirty="0"/>
              <a:t>Growth:</a:t>
            </a:r>
            <a:r>
              <a:rPr spc="400" dirty="0"/>
              <a:t> </a:t>
            </a:r>
            <a:r>
              <a:rPr spc="55" dirty="0"/>
              <a:t>Poles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3830" y="345358"/>
            <a:ext cx="4833620" cy="43180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100" spc="65" dirty="0">
                <a:latin typeface="Arial"/>
                <a:cs typeface="Arial"/>
              </a:rPr>
              <a:t>These</a:t>
            </a:r>
            <a:r>
              <a:rPr sz="1100" spc="7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unit-</a:t>
            </a:r>
            <a:r>
              <a:rPr sz="1100" spc="75" dirty="0">
                <a:latin typeface="Arial"/>
                <a:cs typeface="Arial"/>
              </a:rPr>
              <a:t>sample</a:t>
            </a:r>
            <a:r>
              <a:rPr sz="1100" spc="8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responses</a:t>
            </a:r>
            <a:r>
              <a:rPr sz="1100" spc="80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can</a:t>
            </a:r>
            <a:r>
              <a:rPr sz="1100" spc="8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7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characterized</a:t>
            </a:r>
            <a:r>
              <a:rPr sz="1100" spc="8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8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8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single</a:t>
            </a:r>
            <a:r>
              <a:rPr sz="1100" spc="80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number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100" spc="260" dirty="0">
                <a:latin typeface="Arial"/>
                <a:cs typeface="Arial"/>
              </a:rPr>
              <a:t>—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b="1" spc="70" dirty="0">
                <a:solidFill>
                  <a:srgbClr val="0000CC"/>
                </a:solidFill>
                <a:latin typeface="Arial"/>
                <a:cs typeface="Arial"/>
              </a:rPr>
              <a:t>pole</a:t>
            </a:r>
            <a:r>
              <a:rPr sz="1100" b="1" spc="16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1100" spc="260" dirty="0">
                <a:latin typeface="Arial"/>
                <a:cs typeface="Arial"/>
              </a:rPr>
              <a:t>—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which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base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75" dirty="0">
                <a:latin typeface="Arial"/>
                <a:cs typeface="Arial"/>
              </a:rPr>
              <a:t>geometric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sequence.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68914" y="1378139"/>
            <a:ext cx="470534" cy="192405"/>
          </a:xfrm>
          <a:prstGeom prst="rect">
            <a:avLst/>
          </a:prstGeom>
          <a:ln w="12652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80"/>
              </a:lnSpc>
            </a:pPr>
            <a:r>
              <a:rPr sz="1100" spc="40" dirty="0">
                <a:latin typeface="Arial"/>
                <a:cs typeface="Arial"/>
              </a:rPr>
              <a:t>Delay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76116" y="906222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67351" y="1338782"/>
            <a:ext cx="205104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spc="-25" dirty="0">
                <a:latin typeface="Georgia"/>
                <a:cs typeface="Georgia"/>
              </a:rPr>
              <a:t>p</a:t>
            </a:r>
            <a:r>
              <a:rPr sz="1350" spc="-37" baseline="-12345" dirty="0">
                <a:latin typeface="Palatino Linotype"/>
                <a:cs typeface="Palatino Linotype"/>
              </a:rPr>
              <a:t>0</a:t>
            </a:r>
            <a:endParaRPr sz="1350" baseline="-12345">
              <a:latin typeface="Palatino Linotype"/>
              <a:cs typeface="Palatino Linotyp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56488" y="920318"/>
            <a:ext cx="1743710" cy="746125"/>
            <a:chOff x="1656488" y="920318"/>
            <a:chExt cx="1743710" cy="74612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9949" y="920318"/>
              <a:ext cx="205966" cy="20596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69458" y="1288854"/>
              <a:ext cx="309245" cy="370840"/>
            </a:xfrm>
            <a:custGeom>
              <a:avLst/>
              <a:gdLst/>
              <a:ahLst/>
              <a:cxnLst/>
              <a:rect l="l" t="t" r="r" b="b"/>
              <a:pathLst>
                <a:path w="309244" h="370839">
                  <a:moveTo>
                    <a:pt x="0" y="185375"/>
                  </a:moveTo>
                  <a:lnTo>
                    <a:pt x="308955" y="370750"/>
                  </a:lnTo>
                  <a:lnTo>
                    <a:pt x="308955" y="0"/>
                  </a:lnTo>
                  <a:lnTo>
                    <a:pt x="0" y="185375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56488" y="1023302"/>
              <a:ext cx="165100" cy="0"/>
            </a:xfrm>
            <a:custGeom>
              <a:avLst/>
              <a:gdLst/>
              <a:ahLst/>
              <a:cxnLst/>
              <a:rect l="l" t="t" r="r" b="b"/>
              <a:pathLst>
                <a:path w="165100">
                  <a:moveTo>
                    <a:pt x="0" y="0"/>
                  </a:moveTo>
                  <a:lnTo>
                    <a:pt x="164483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62524" y="999092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62524" y="999092"/>
              <a:ext cx="1631314" cy="48895"/>
            </a:xfrm>
            <a:custGeom>
              <a:avLst/>
              <a:gdLst/>
              <a:ahLst/>
              <a:cxnLst/>
              <a:rect l="l" t="t" r="r" b="b"/>
              <a:pathLst>
                <a:path w="1631314" h="48894">
                  <a:moveTo>
                    <a:pt x="0" y="48419"/>
                  </a:moveTo>
                  <a:lnTo>
                    <a:pt x="58446" y="24210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  <a:path w="1631314" h="48894">
                  <a:moveTo>
                    <a:pt x="277065" y="24210"/>
                  </a:moveTo>
                  <a:lnTo>
                    <a:pt x="1631203" y="2421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35275" y="99908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24"/>
                  </a:lnTo>
                  <a:lnTo>
                    <a:pt x="58452" y="242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64757" y="999089"/>
              <a:ext cx="329565" cy="475615"/>
            </a:xfrm>
            <a:custGeom>
              <a:avLst/>
              <a:gdLst/>
              <a:ahLst/>
              <a:cxnLst/>
              <a:rect l="l" t="t" r="r" b="b"/>
              <a:pathLst>
                <a:path w="329564" h="475615">
                  <a:moveTo>
                    <a:pt x="270518" y="48424"/>
                  </a:moveTo>
                  <a:lnTo>
                    <a:pt x="328970" y="24212"/>
                  </a:lnTo>
                  <a:lnTo>
                    <a:pt x="270518" y="0"/>
                  </a:lnTo>
                  <a:lnTo>
                    <a:pt x="270518" y="48424"/>
                  </a:lnTo>
                  <a:close/>
                </a:path>
                <a:path w="329564" h="475615">
                  <a:moveTo>
                    <a:pt x="164483" y="24212"/>
                  </a:moveTo>
                  <a:lnTo>
                    <a:pt x="164483" y="475140"/>
                  </a:lnTo>
                  <a:lnTo>
                    <a:pt x="0" y="47514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64757" y="145001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10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42933" y="1145263"/>
              <a:ext cx="1180465" cy="353695"/>
            </a:xfrm>
            <a:custGeom>
              <a:avLst/>
              <a:gdLst/>
              <a:ahLst/>
              <a:cxnLst/>
              <a:rect l="l" t="t" r="r" b="b"/>
              <a:pathLst>
                <a:path w="1180464" h="353694">
                  <a:moveTo>
                    <a:pt x="1180270" y="304756"/>
                  </a:moveTo>
                  <a:lnTo>
                    <a:pt x="1121824" y="328966"/>
                  </a:lnTo>
                  <a:lnTo>
                    <a:pt x="1180270" y="353176"/>
                  </a:lnTo>
                  <a:lnTo>
                    <a:pt x="1180270" y="304756"/>
                  </a:lnTo>
                  <a:close/>
                </a:path>
                <a:path w="1180464" h="353694">
                  <a:moveTo>
                    <a:pt x="126525" y="328966"/>
                  </a:moveTo>
                  <a:lnTo>
                    <a:pt x="0" y="328966"/>
                  </a:lnTo>
                  <a:lnTo>
                    <a:pt x="0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18723" y="1145263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24209" y="0"/>
                  </a:moveTo>
                  <a:lnTo>
                    <a:pt x="0" y="58446"/>
                  </a:lnTo>
                  <a:lnTo>
                    <a:pt x="48419" y="58446"/>
                  </a:lnTo>
                  <a:lnTo>
                    <a:pt x="24209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18723" y="1145263"/>
              <a:ext cx="650240" cy="329565"/>
            </a:xfrm>
            <a:custGeom>
              <a:avLst/>
              <a:gdLst/>
              <a:ahLst/>
              <a:cxnLst/>
              <a:rect l="l" t="t" r="r" b="b"/>
              <a:pathLst>
                <a:path w="650239" h="329565">
                  <a:moveTo>
                    <a:pt x="48419" y="58446"/>
                  </a:moveTo>
                  <a:lnTo>
                    <a:pt x="24209" y="0"/>
                  </a:lnTo>
                  <a:lnTo>
                    <a:pt x="0" y="58446"/>
                  </a:lnTo>
                  <a:lnTo>
                    <a:pt x="48419" y="58446"/>
                  </a:lnTo>
                  <a:close/>
                </a:path>
                <a:path w="650239" h="329565">
                  <a:moveTo>
                    <a:pt x="650190" y="328966"/>
                  </a:moveTo>
                  <a:lnTo>
                    <a:pt x="484994" y="328966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03717" y="145002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03717" y="145002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466821" y="918980"/>
            <a:ext cx="20967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02789" algn="l"/>
              </a:tabLst>
            </a:pPr>
            <a:r>
              <a:rPr sz="1100" i="1" spc="65" dirty="0">
                <a:latin typeface="Georgia"/>
                <a:cs typeface="Georgia"/>
              </a:rPr>
              <a:t>X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i="1" spc="-50" dirty="0">
                <a:latin typeface="Georgia"/>
                <a:cs typeface="Georgia"/>
              </a:rPr>
              <a:t>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00669" y="1736305"/>
            <a:ext cx="4076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20" dirty="0">
                <a:latin typeface="Georgia"/>
                <a:cs typeface="Georgia"/>
              </a:rPr>
              <a:t>y</a:t>
            </a:r>
            <a:r>
              <a:rPr sz="1100" spc="-20" dirty="0">
                <a:latin typeface="Palatino Linotype"/>
                <a:cs typeface="Palatino Linotype"/>
              </a:rPr>
              <a:t>[</a:t>
            </a:r>
            <a:r>
              <a:rPr sz="1100" i="1" spc="-20" dirty="0">
                <a:latin typeface="Georgia"/>
                <a:cs typeface="Georgia"/>
              </a:rPr>
              <a:t>n</a:t>
            </a:r>
            <a:r>
              <a:rPr sz="1100" spc="-20" dirty="0">
                <a:latin typeface="Palatino Linotype"/>
                <a:cs typeface="Palatino Linotype"/>
              </a:rPr>
              <a:t>]</a:t>
            </a:r>
            <a:r>
              <a:rPr sz="1100" spc="-45" dirty="0">
                <a:latin typeface="Palatino Linotype"/>
                <a:cs typeface="Palatino Linotype"/>
              </a:rPr>
              <a:t> </a:t>
            </a:r>
            <a:r>
              <a:rPr sz="1100" spc="250" dirty="0">
                <a:latin typeface="Palatino Linotype"/>
                <a:cs typeface="Palatino Linotype"/>
              </a:rPr>
              <a:t>=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20991" y="1540062"/>
            <a:ext cx="13017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Graphite Std"/>
                <a:cs typeface="Graphite Std"/>
              </a:rPr>
              <a:t> </a:t>
            </a:r>
            <a:endParaRPr sz="1100">
              <a:latin typeface="Graphite Std"/>
              <a:cs typeface="Graphite Std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18639" y="1611071"/>
            <a:ext cx="965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50" dirty="0">
                <a:latin typeface="Georgia"/>
                <a:cs typeface="Georgia"/>
              </a:rPr>
              <a:t>n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23189" y="1600295"/>
            <a:ext cx="1155065" cy="43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1100"/>
              </a:lnSpc>
              <a:spcBef>
                <a:spcPts val="100"/>
              </a:spcBef>
              <a:tabLst>
                <a:tab pos="397510" algn="l"/>
              </a:tabLst>
            </a:pPr>
            <a:r>
              <a:rPr sz="1100" i="1" spc="-50" dirty="0">
                <a:latin typeface="Georgia"/>
                <a:cs typeface="Georgia"/>
              </a:rPr>
              <a:t>p</a:t>
            </a:r>
            <a:r>
              <a:rPr sz="1350" spc="-75" baseline="-21604" dirty="0">
                <a:latin typeface="Palatino Linotype"/>
                <a:cs typeface="Palatino Linotype"/>
              </a:rPr>
              <a:t>0</a:t>
            </a:r>
            <a:r>
              <a:rPr sz="1350" spc="-104" baseline="-21604" dirty="0">
                <a:latin typeface="Palatino Linotype"/>
                <a:cs typeface="Palatino Linotype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,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spc="85" dirty="0">
                <a:latin typeface="Arial"/>
                <a:cs typeface="Arial"/>
              </a:rPr>
              <a:t>if</a:t>
            </a:r>
            <a:r>
              <a:rPr sz="1100" spc="150" dirty="0">
                <a:latin typeface="Arial"/>
                <a:cs typeface="Arial"/>
              </a:rPr>
              <a:t> 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i="1" spc="40" dirty="0">
                <a:latin typeface="Georgia"/>
                <a:cs typeface="Georgia"/>
              </a:rPr>
              <a:t> </a:t>
            </a:r>
            <a:r>
              <a:rPr sz="1100" i="1" spc="215" dirty="0">
                <a:latin typeface="Georgia"/>
                <a:cs typeface="Georgia"/>
              </a:rPr>
              <a:t>&gt;</a:t>
            </a:r>
            <a:r>
              <a:rPr sz="1100" spc="215" dirty="0">
                <a:latin typeface="Palatino Linotype"/>
                <a:cs typeface="Palatino Linotype"/>
              </a:rPr>
              <a:t>=</a:t>
            </a:r>
            <a:r>
              <a:rPr sz="1100" spc="25" dirty="0">
                <a:latin typeface="Palatino Linotype"/>
                <a:cs typeface="Palatino Linotype"/>
              </a:rPr>
              <a:t> </a:t>
            </a:r>
            <a:r>
              <a:rPr sz="1100" spc="-25" dirty="0">
                <a:latin typeface="Palatino Linotype"/>
                <a:cs typeface="Palatino Linotype"/>
              </a:rPr>
              <a:t>0</a:t>
            </a:r>
            <a:r>
              <a:rPr sz="1100" spc="-25" dirty="0">
                <a:latin typeface="Arial"/>
                <a:cs typeface="Arial"/>
              </a:rPr>
              <a:t>; </a:t>
            </a:r>
            <a:r>
              <a:rPr sz="1100" spc="-25" dirty="0">
                <a:latin typeface="Palatino Linotype"/>
                <a:cs typeface="Palatino Linotype"/>
              </a:rPr>
              <a:t>0</a:t>
            </a:r>
            <a:r>
              <a:rPr sz="1100" i="1" spc="-25" dirty="0">
                <a:latin typeface="Georgia"/>
                <a:cs typeface="Georgia"/>
              </a:rPr>
              <a:t>,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spc="50" dirty="0">
                <a:latin typeface="Arial"/>
                <a:cs typeface="Arial"/>
              </a:rPr>
              <a:t>otherwise.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30" name="object 3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46101" y="2642748"/>
            <a:ext cx="1203852" cy="578076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2828187" y="3060830"/>
            <a:ext cx="10922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91081" y="3194711"/>
            <a:ext cx="1100455" cy="470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spc="50" dirty="0">
                <a:latin typeface="Times New Roman"/>
                <a:cs typeface="Times New Roman"/>
              </a:rPr>
              <a:t>−</a:t>
            </a:r>
            <a:r>
              <a:rPr sz="1100" spc="50" dirty="0">
                <a:latin typeface="Palatino Linotype"/>
                <a:cs typeface="Palatino Linotype"/>
              </a:rPr>
              <a:t>1</a:t>
            </a:r>
            <a:r>
              <a:rPr sz="1100" spc="1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2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3</a:t>
            </a:r>
            <a:r>
              <a:rPr sz="1100" spc="160" dirty="0">
                <a:latin typeface="Palatino Linotype"/>
                <a:cs typeface="Palatino Linotype"/>
              </a:rPr>
              <a:t>  </a:t>
            </a:r>
            <a:r>
              <a:rPr sz="1100" spc="-50" dirty="0">
                <a:latin typeface="Palatino Linotype"/>
                <a:cs typeface="Palatino Linotype"/>
              </a:rPr>
              <a:t>4</a:t>
            </a:r>
            <a:endParaRPr sz="1100">
              <a:latin typeface="Palatino Linotype"/>
              <a:cs typeface="Palatino Linotype"/>
            </a:endParaRPr>
          </a:p>
          <a:p>
            <a:pPr marL="424180">
              <a:lnSpc>
                <a:spcPct val="100000"/>
              </a:lnSpc>
              <a:spcBef>
                <a:spcPts val="865"/>
              </a:spcBef>
            </a:pPr>
            <a:r>
              <a:rPr sz="1100" i="1" dirty="0">
                <a:latin typeface="Georgia"/>
                <a:cs typeface="Georgia"/>
              </a:rPr>
              <a:t>p</a:t>
            </a:r>
            <a:r>
              <a:rPr sz="1350" baseline="-12345" dirty="0">
                <a:latin typeface="Palatino Linotype"/>
                <a:cs typeface="Palatino Linotype"/>
              </a:rPr>
              <a:t>0</a:t>
            </a:r>
            <a:r>
              <a:rPr sz="1350" spc="120" baseline="-1234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-10" dirty="0">
                <a:latin typeface="Palatino Linotype"/>
                <a:cs typeface="Palatino Linotype"/>
              </a:rPr>
              <a:t> </a:t>
            </a:r>
            <a:r>
              <a:rPr sz="1100" spc="-50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68006" y="2405282"/>
            <a:ext cx="2603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30" dirty="0">
                <a:latin typeface="Georgia"/>
                <a:cs typeface="Georgia"/>
              </a:rPr>
              <a:t>y</a:t>
            </a:r>
            <a:r>
              <a:rPr sz="1100" spc="-30" dirty="0">
                <a:latin typeface="Palatino Linotype"/>
                <a:cs typeface="Palatino Linotype"/>
              </a:rPr>
              <a:t>[</a:t>
            </a:r>
            <a:r>
              <a:rPr sz="1100" i="1" spc="-30" dirty="0">
                <a:latin typeface="Georgia"/>
                <a:cs typeface="Georgia"/>
              </a:rPr>
              <a:t>n</a:t>
            </a:r>
            <a:r>
              <a:rPr sz="1100" spc="-30" dirty="0">
                <a:latin typeface="Palatino Linotype"/>
                <a:cs typeface="Palatino Linotype"/>
              </a:rPr>
              <a:t>]</a:t>
            </a:r>
            <a:endParaRPr sz="1100">
              <a:latin typeface="Palatino Linotype"/>
              <a:cs typeface="Palatino Linotype"/>
            </a:endParaRPr>
          </a:p>
        </p:txBody>
      </p:sp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48758" y="2547479"/>
            <a:ext cx="1203852" cy="673345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4430844" y="3060830"/>
            <a:ext cx="10922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36" name="object 36"/>
          <p:cNvSpPr txBox="1"/>
          <p:nvPr/>
        </p:nvSpPr>
        <p:spPr>
          <a:xfrm>
            <a:off x="3470663" y="2405282"/>
            <a:ext cx="2603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30" dirty="0">
                <a:latin typeface="Georgia"/>
                <a:cs typeface="Georgia"/>
              </a:rPr>
              <a:t>y</a:t>
            </a:r>
            <a:r>
              <a:rPr sz="1100" spc="-30" dirty="0">
                <a:latin typeface="Palatino Linotype"/>
                <a:cs typeface="Palatino Linotype"/>
              </a:rPr>
              <a:t>[</a:t>
            </a:r>
            <a:r>
              <a:rPr sz="1100" i="1" spc="-30" dirty="0">
                <a:latin typeface="Georgia"/>
                <a:cs typeface="Georgia"/>
              </a:rPr>
              <a:t>n</a:t>
            </a:r>
            <a:r>
              <a:rPr sz="1100" spc="-30" dirty="0">
                <a:latin typeface="Palatino Linotype"/>
                <a:cs typeface="Palatino Linotype"/>
              </a:rPr>
              <a:t>]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293738" y="3194711"/>
            <a:ext cx="1100455" cy="470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spc="50" dirty="0">
                <a:latin typeface="Times New Roman"/>
                <a:cs typeface="Times New Roman"/>
              </a:rPr>
              <a:t>−</a:t>
            </a:r>
            <a:r>
              <a:rPr sz="1100" spc="50" dirty="0">
                <a:latin typeface="Palatino Linotype"/>
                <a:cs typeface="Palatino Linotype"/>
              </a:rPr>
              <a:t>1</a:t>
            </a:r>
            <a:r>
              <a:rPr sz="1100" spc="1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2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3</a:t>
            </a:r>
            <a:r>
              <a:rPr sz="1100" spc="160" dirty="0">
                <a:latin typeface="Palatino Linotype"/>
                <a:cs typeface="Palatino Linotype"/>
              </a:rPr>
              <a:t>  </a:t>
            </a:r>
            <a:r>
              <a:rPr sz="1100" spc="-50" dirty="0">
                <a:latin typeface="Palatino Linotype"/>
                <a:cs typeface="Palatino Linotype"/>
              </a:rPr>
              <a:t>4</a:t>
            </a:r>
            <a:endParaRPr sz="1100">
              <a:latin typeface="Palatino Linotype"/>
              <a:cs typeface="Palatino Linotype"/>
            </a:endParaRPr>
          </a:p>
          <a:p>
            <a:pPr marL="398780">
              <a:lnSpc>
                <a:spcPct val="100000"/>
              </a:lnSpc>
              <a:spcBef>
                <a:spcPts val="865"/>
              </a:spcBef>
            </a:pPr>
            <a:r>
              <a:rPr sz="1100" i="1" dirty="0">
                <a:latin typeface="Georgia"/>
                <a:cs typeface="Georgia"/>
              </a:rPr>
              <a:t>p</a:t>
            </a:r>
            <a:r>
              <a:rPr sz="1350" baseline="-12345" dirty="0">
                <a:latin typeface="Palatino Linotype"/>
                <a:cs typeface="Palatino Linotype"/>
              </a:rPr>
              <a:t>0</a:t>
            </a:r>
            <a:r>
              <a:rPr sz="1350" spc="120" baseline="-1234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-15" dirty="0">
                <a:latin typeface="Palatino Linotype"/>
                <a:cs typeface="Palatino Linotype"/>
              </a:rPr>
              <a:t> </a:t>
            </a:r>
            <a:r>
              <a:rPr sz="1100" spc="-25" dirty="0">
                <a:latin typeface="Palatino Linotype"/>
                <a:cs typeface="Palatino Linotype"/>
              </a:rPr>
              <a:t>1</a:t>
            </a:r>
            <a:r>
              <a:rPr sz="1100" i="1" spc="-25" dirty="0">
                <a:latin typeface="Georgia"/>
                <a:cs typeface="Georgia"/>
              </a:rPr>
              <a:t>.</a:t>
            </a:r>
            <a:r>
              <a:rPr sz="1100" spc="-25" dirty="0">
                <a:latin typeface="Palatino Linotype"/>
                <a:cs typeface="Palatino Linotype"/>
              </a:rPr>
              <a:t>2</a:t>
            </a:r>
            <a:endParaRPr sz="11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0" dirty="0"/>
              <a:t>Check</a:t>
            </a:r>
            <a:r>
              <a:rPr spc="215" dirty="0"/>
              <a:t> </a:t>
            </a:r>
            <a:r>
              <a:rPr spc="50" dirty="0"/>
              <a:t>Yourself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533" y="438436"/>
            <a:ext cx="4807940" cy="320492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1893" y="567316"/>
            <a:ext cx="4117975" cy="43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1100" spc="75" dirty="0">
                <a:latin typeface="Arial"/>
                <a:cs typeface="Arial"/>
              </a:rPr>
              <a:t>How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many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following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unit-</a:t>
            </a:r>
            <a:r>
              <a:rPr sz="1100" spc="75" dirty="0">
                <a:latin typeface="Arial"/>
                <a:cs typeface="Arial"/>
              </a:rPr>
              <a:t>sample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responses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can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be </a:t>
            </a:r>
            <a:r>
              <a:rPr sz="1100" spc="10" dirty="0">
                <a:latin typeface="Arial"/>
                <a:cs typeface="Arial"/>
              </a:rPr>
              <a:t>represented</a:t>
            </a:r>
            <a:r>
              <a:rPr sz="1100" spc="300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by</a:t>
            </a:r>
            <a:r>
              <a:rPr sz="1100" spc="305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a</a:t>
            </a:r>
            <a:r>
              <a:rPr sz="1100" spc="305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single</a:t>
            </a:r>
            <a:r>
              <a:rPr sz="1100" spc="30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pole?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03680" y="3113014"/>
            <a:ext cx="10922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0"/>
              </a:lnSpc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087692" y="1554238"/>
            <a:ext cx="10922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19669" y="1554238"/>
            <a:ext cx="10922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87692" y="2316228"/>
            <a:ext cx="10922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19669" y="2316228"/>
            <a:ext cx="10922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0" dirty="0"/>
              <a:t>Check</a:t>
            </a:r>
            <a:r>
              <a:rPr spc="215" dirty="0"/>
              <a:t> </a:t>
            </a:r>
            <a:r>
              <a:rPr spc="50" dirty="0"/>
              <a:t>Yourself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533" y="438436"/>
            <a:ext cx="4807940" cy="320492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1893" y="567316"/>
            <a:ext cx="4117975" cy="43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  <a:tabLst>
                <a:tab pos="2242820" algn="l"/>
              </a:tabLst>
            </a:pPr>
            <a:r>
              <a:rPr sz="1100" spc="75" dirty="0">
                <a:latin typeface="Arial"/>
                <a:cs typeface="Arial"/>
              </a:rPr>
              <a:t>How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many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following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unit-</a:t>
            </a:r>
            <a:r>
              <a:rPr sz="1100" spc="75" dirty="0">
                <a:latin typeface="Arial"/>
                <a:cs typeface="Arial"/>
              </a:rPr>
              <a:t>sample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responses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can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be </a:t>
            </a:r>
            <a:r>
              <a:rPr sz="1100" spc="10" dirty="0">
                <a:latin typeface="Arial"/>
                <a:cs typeface="Arial"/>
              </a:rPr>
              <a:t>represented</a:t>
            </a:r>
            <a:r>
              <a:rPr sz="1100" spc="300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by</a:t>
            </a:r>
            <a:r>
              <a:rPr sz="1100" spc="305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a</a:t>
            </a:r>
            <a:r>
              <a:rPr sz="1100" spc="305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single</a:t>
            </a:r>
            <a:r>
              <a:rPr sz="1100" spc="30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pole?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15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03680" y="3113014"/>
            <a:ext cx="10922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0"/>
              </a:lnSpc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089273" y="1554239"/>
            <a:ext cx="10922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1249" y="1554239"/>
            <a:ext cx="10922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89273" y="2316229"/>
            <a:ext cx="10922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21249" y="2316229"/>
            <a:ext cx="10922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5" dirty="0"/>
              <a:t>Geometric</a:t>
            </a:r>
            <a:r>
              <a:rPr spc="220" dirty="0"/>
              <a:t> </a:t>
            </a:r>
            <a:r>
              <a:rPr spc="105" dirty="0"/>
              <a:t>Growth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430" y="381266"/>
            <a:ext cx="34232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spc="120" dirty="0">
                <a:latin typeface="Arial"/>
                <a:cs typeface="Arial"/>
              </a:rPr>
              <a:t>The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value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i="1" dirty="0">
                <a:latin typeface="Georgia"/>
                <a:cs typeface="Georgia"/>
              </a:rPr>
              <a:t>p</a:t>
            </a:r>
            <a:r>
              <a:rPr sz="1350" baseline="-12345" dirty="0">
                <a:latin typeface="Palatino Linotype"/>
                <a:cs typeface="Palatino Linotype"/>
              </a:rPr>
              <a:t>0</a:t>
            </a:r>
            <a:r>
              <a:rPr sz="1350" spc="457" baseline="-12345" dirty="0">
                <a:latin typeface="Palatino Linotype"/>
                <a:cs typeface="Palatino Linotype"/>
              </a:rPr>
              <a:t> </a:t>
            </a:r>
            <a:r>
              <a:rPr sz="1100" spc="55" dirty="0">
                <a:latin typeface="Arial"/>
                <a:cs typeface="Arial"/>
              </a:rPr>
              <a:t>determines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75" dirty="0">
                <a:latin typeface="Arial"/>
                <a:cs typeface="Arial"/>
              </a:rPr>
              <a:t>rate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80" dirty="0">
                <a:latin typeface="Arial"/>
                <a:cs typeface="Arial"/>
              </a:rPr>
              <a:t>growth.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211" y="1092398"/>
            <a:ext cx="897846" cy="9213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3518" y="957751"/>
            <a:ext cx="2603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30" dirty="0">
                <a:latin typeface="Georgia"/>
                <a:cs typeface="Georgia"/>
              </a:rPr>
              <a:t>y</a:t>
            </a:r>
            <a:r>
              <a:rPr sz="1100" spc="-30" dirty="0">
                <a:latin typeface="Palatino Linotype"/>
                <a:cs typeface="Palatino Linotype"/>
              </a:rPr>
              <a:t>[</a:t>
            </a:r>
            <a:r>
              <a:rPr sz="1100" i="1" spc="-30" dirty="0">
                <a:latin typeface="Georgia"/>
                <a:cs typeface="Georgia"/>
              </a:rPr>
              <a:t>n</a:t>
            </a:r>
            <a:r>
              <a:rPr sz="1100" spc="-30" dirty="0">
                <a:latin typeface="Palatino Linotype"/>
                <a:cs typeface="Palatino Linotype"/>
              </a:rPr>
              <a:t>]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6919" y="957751"/>
            <a:ext cx="2603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30" dirty="0">
                <a:latin typeface="Georgia"/>
                <a:cs typeface="Georgia"/>
              </a:rPr>
              <a:t>y</a:t>
            </a:r>
            <a:r>
              <a:rPr sz="1100" spc="-30" dirty="0">
                <a:latin typeface="Palatino Linotype"/>
                <a:cs typeface="Palatino Linotype"/>
              </a:rPr>
              <a:t>[</a:t>
            </a:r>
            <a:r>
              <a:rPr sz="1100" i="1" spc="-30" dirty="0">
                <a:latin typeface="Georgia"/>
                <a:cs typeface="Georgia"/>
              </a:rPr>
              <a:t>n</a:t>
            </a:r>
            <a:r>
              <a:rPr sz="1100" spc="-30" dirty="0">
                <a:latin typeface="Palatino Linotype"/>
                <a:cs typeface="Palatino Linotype"/>
              </a:rPr>
              <a:t>]</a:t>
            </a:r>
            <a:endParaRPr sz="1100">
              <a:latin typeface="Palatino Linotype"/>
              <a:cs typeface="Palatino Linotype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0612" y="1195220"/>
            <a:ext cx="897846" cy="65799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700322" y="957751"/>
            <a:ext cx="2603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30" dirty="0">
                <a:latin typeface="Georgia"/>
                <a:cs typeface="Georgia"/>
              </a:rPr>
              <a:t>y</a:t>
            </a:r>
            <a:r>
              <a:rPr sz="1100" spc="-30" dirty="0">
                <a:latin typeface="Palatino Linotype"/>
                <a:cs typeface="Palatino Linotype"/>
              </a:rPr>
              <a:t>[</a:t>
            </a:r>
            <a:r>
              <a:rPr sz="1100" i="1" spc="-30" dirty="0">
                <a:latin typeface="Georgia"/>
                <a:cs typeface="Georgia"/>
              </a:rPr>
              <a:t>n</a:t>
            </a:r>
            <a:r>
              <a:rPr sz="1100" spc="-30" dirty="0">
                <a:latin typeface="Palatino Linotype"/>
                <a:cs typeface="Palatino Linotype"/>
              </a:rPr>
              <a:t>]</a:t>
            </a:r>
            <a:endParaRPr sz="1100">
              <a:latin typeface="Palatino Linotype"/>
              <a:cs typeface="Palatino Linotype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54015" y="1195220"/>
            <a:ext cx="897846" cy="4160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97417" y="1092398"/>
            <a:ext cx="897846" cy="51889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843724" y="957751"/>
            <a:ext cx="2603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30" dirty="0">
                <a:latin typeface="Georgia"/>
                <a:cs typeface="Georgia"/>
              </a:rPr>
              <a:t>y</a:t>
            </a:r>
            <a:r>
              <a:rPr sz="1100" spc="-30" dirty="0">
                <a:latin typeface="Palatino Linotype"/>
                <a:cs typeface="Palatino Linotype"/>
              </a:rPr>
              <a:t>[</a:t>
            </a:r>
            <a:r>
              <a:rPr sz="1100" i="1" spc="-30" dirty="0">
                <a:latin typeface="Georgia"/>
                <a:cs typeface="Georgia"/>
              </a:rPr>
              <a:t>n</a:t>
            </a:r>
            <a:r>
              <a:rPr sz="1100" spc="-30" dirty="0">
                <a:latin typeface="Palatino Linotype"/>
                <a:cs typeface="Palatino Linotype"/>
              </a:rPr>
              <a:t>]</a:t>
            </a:r>
            <a:endParaRPr sz="1100">
              <a:latin typeface="Palatino Linotype"/>
              <a:cs typeface="Palatino Linotyp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20881" y="2168190"/>
            <a:ext cx="4104004" cy="220345"/>
            <a:chOff x="420881" y="2168190"/>
            <a:chExt cx="4104004" cy="220345"/>
          </a:xfrm>
        </p:grpSpPr>
        <p:sp>
          <p:nvSpPr>
            <p:cNvPr id="13" name="object 13"/>
            <p:cNvSpPr/>
            <p:nvPr/>
          </p:nvSpPr>
          <p:spPr>
            <a:xfrm>
              <a:off x="420881" y="2261990"/>
              <a:ext cx="4104004" cy="127000"/>
            </a:xfrm>
            <a:custGeom>
              <a:avLst/>
              <a:gdLst/>
              <a:ahLst/>
              <a:cxnLst/>
              <a:rect l="l" t="t" r="r" b="b"/>
              <a:pathLst>
                <a:path w="4104004" h="127000">
                  <a:moveTo>
                    <a:pt x="0" y="63262"/>
                  </a:moveTo>
                  <a:lnTo>
                    <a:pt x="4103986" y="63262"/>
                  </a:lnTo>
                </a:path>
                <a:path w="4104004" h="127000">
                  <a:moveTo>
                    <a:pt x="1025996" y="0"/>
                  </a:moveTo>
                  <a:lnTo>
                    <a:pt x="1025996" y="126525"/>
                  </a:lnTo>
                </a:path>
                <a:path w="4104004" h="127000">
                  <a:moveTo>
                    <a:pt x="2051993" y="0"/>
                  </a:moveTo>
                  <a:lnTo>
                    <a:pt x="2051993" y="126525"/>
                  </a:lnTo>
                </a:path>
                <a:path w="4104004" h="127000">
                  <a:moveTo>
                    <a:pt x="3077990" y="0"/>
                  </a:moveTo>
                  <a:lnTo>
                    <a:pt x="3077990" y="126525"/>
                  </a:lnTo>
                </a:path>
              </a:pathLst>
            </a:custGeom>
            <a:ln w="12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8839" y="2192401"/>
              <a:ext cx="950594" cy="12700"/>
            </a:xfrm>
            <a:custGeom>
              <a:avLst/>
              <a:gdLst/>
              <a:ahLst/>
              <a:cxnLst/>
              <a:rect l="l" t="t" r="r" b="b"/>
              <a:pathLst>
                <a:path w="950594" h="12700">
                  <a:moveTo>
                    <a:pt x="0" y="12652"/>
                  </a:moveTo>
                  <a:lnTo>
                    <a:pt x="950081" y="12652"/>
                  </a:lnTo>
                  <a:lnTo>
                    <a:pt x="950081" y="0"/>
                  </a:lnTo>
                  <a:lnTo>
                    <a:pt x="0" y="0"/>
                  </a:lnTo>
                  <a:lnTo>
                    <a:pt x="0" y="126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50471" y="217451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22"/>
                  </a:lnTo>
                  <a:lnTo>
                    <a:pt x="58449" y="242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50471" y="217451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48422"/>
                  </a:moveTo>
                  <a:lnTo>
                    <a:pt x="58449" y="24211"/>
                  </a:lnTo>
                  <a:lnTo>
                    <a:pt x="0" y="0"/>
                  </a:lnTo>
                  <a:lnTo>
                    <a:pt x="0" y="48422"/>
                  </a:lnTo>
                  <a:close/>
                </a:path>
              </a:pathLst>
            </a:custGeom>
            <a:ln w="12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84835" y="2192401"/>
              <a:ext cx="950594" cy="12700"/>
            </a:xfrm>
            <a:custGeom>
              <a:avLst/>
              <a:gdLst/>
              <a:ahLst/>
              <a:cxnLst/>
              <a:rect l="l" t="t" r="r" b="b"/>
              <a:pathLst>
                <a:path w="950594" h="12700">
                  <a:moveTo>
                    <a:pt x="0" y="12652"/>
                  </a:moveTo>
                  <a:lnTo>
                    <a:pt x="950081" y="12652"/>
                  </a:lnTo>
                  <a:lnTo>
                    <a:pt x="950081" y="0"/>
                  </a:lnTo>
                  <a:lnTo>
                    <a:pt x="0" y="0"/>
                  </a:lnTo>
                  <a:lnTo>
                    <a:pt x="0" y="126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76468" y="217451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22"/>
                  </a:lnTo>
                  <a:lnTo>
                    <a:pt x="58449" y="242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76468" y="217451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48422"/>
                  </a:moveTo>
                  <a:lnTo>
                    <a:pt x="58449" y="24211"/>
                  </a:lnTo>
                  <a:lnTo>
                    <a:pt x="0" y="0"/>
                  </a:lnTo>
                  <a:lnTo>
                    <a:pt x="0" y="48422"/>
                  </a:lnTo>
                  <a:close/>
                </a:path>
              </a:pathLst>
            </a:custGeom>
            <a:ln w="12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10832" y="2192401"/>
              <a:ext cx="950594" cy="12700"/>
            </a:xfrm>
            <a:custGeom>
              <a:avLst/>
              <a:gdLst/>
              <a:ahLst/>
              <a:cxnLst/>
              <a:rect l="l" t="t" r="r" b="b"/>
              <a:pathLst>
                <a:path w="950595" h="12700">
                  <a:moveTo>
                    <a:pt x="0" y="12652"/>
                  </a:moveTo>
                  <a:lnTo>
                    <a:pt x="950081" y="12652"/>
                  </a:lnTo>
                  <a:lnTo>
                    <a:pt x="950081" y="0"/>
                  </a:lnTo>
                  <a:lnTo>
                    <a:pt x="0" y="0"/>
                  </a:lnTo>
                  <a:lnTo>
                    <a:pt x="0" y="126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402465" y="217451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22"/>
                  </a:lnTo>
                  <a:lnTo>
                    <a:pt x="58449" y="242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402465" y="217451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48422"/>
                  </a:moveTo>
                  <a:lnTo>
                    <a:pt x="58449" y="24211"/>
                  </a:lnTo>
                  <a:lnTo>
                    <a:pt x="0" y="0"/>
                  </a:lnTo>
                  <a:lnTo>
                    <a:pt x="0" y="48422"/>
                  </a:lnTo>
                  <a:close/>
                </a:path>
              </a:pathLst>
            </a:custGeom>
            <a:ln w="12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36829" y="2192401"/>
              <a:ext cx="950594" cy="12700"/>
            </a:xfrm>
            <a:custGeom>
              <a:avLst/>
              <a:gdLst/>
              <a:ahLst/>
              <a:cxnLst/>
              <a:rect l="l" t="t" r="r" b="b"/>
              <a:pathLst>
                <a:path w="950595" h="12700">
                  <a:moveTo>
                    <a:pt x="0" y="12652"/>
                  </a:moveTo>
                  <a:lnTo>
                    <a:pt x="950081" y="12652"/>
                  </a:lnTo>
                  <a:lnTo>
                    <a:pt x="950081" y="0"/>
                  </a:lnTo>
                  <a:lnTo>
                    <a:pt x="0" y="0"/>
                  </a:lnTo>
                  <a:lnTo>
                    <a:pt x="0" y="126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28462" y="217451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22"/>
                  </a:lnTo>
                  <a:lnTo>
                    <a:pt x="58449" y="242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28462" y="217451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48422"/>
                  </a:moveTo>
                  <a:lnTo>
                    <a:pt x="58449" y="24211"/>
                  </a:lnTo>
                  <a:lnTo>
                    <a:pt x="0" y="0"/>
                  </a:lnTo>
                  <a:lnTo>
                    <a:pt x="0" y="48422"/>
                  </a:lnTo>
                  <a:close/>
                </a:path>
              </a:pathLst>
            </a:custGeom>
            <a:ln w="12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8839" y="2192401"/>
              <a:ext cx="950594" cy="12700"/>
            </a:xfrm>
            <a:custGeom>
              <a:avLst/>
              <a:gdLst/>
              <a:ahLst/>
              <a:cxnLst/>
              <a:rect l="l" t="t" r="r" b="b"/>
              <a:pathLst>
                <a:path w="950594" h="12700">
                  <a:moveTo>
                    <a:pt x="0" y="12652"/>
                  </a:moveTo>
                  <a:lnTo>
                    <a:pt x="950081" y="12652"/>
                  </a:lnTo>
                  <a:lnTo>
                    <a:pt x="950081" y="0"/>
                  </a:lnTo>
                  <a:lnTo>
                    <a:pt x="0" y="0"/>
                  </a:lnTo>
                  <a:lnTo>
                    <a:pt x="0" y="126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8839" y="217451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58449" y="0"/>
                  </a:moveTo>
                  <a:lnTo>
                    <a:pt x="0" y="24211"/>
                  </a:lnTo>
                  <a:lnTo>
                    <a:pt x="58449" y="48422"/>
                  </a:lnTo>
                  <a:lnTo>
                    <a:pt x="58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8839" y="217451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58449" y="0"/>
                  </a:moveTo>
                  <a:lnTo>
                    <a:pt x="0" y="24211"/>
                  </a:lnTo>
                  <a:lnTo>
                    <a:pt x="58449" y="48422"/>
                  </a:lnTo>
                  <a:lnTo>
                    <a:pt x="58449" y="0"/>
                  </a:lnTo>
                  <a:close/>
                </a:path>
              </a:pathLst>
            </a:custGeom>
            <a:ln w="12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484835" y="2192401"/>
              <a:ext cx="950594" cy="12700"/>
            </a:xfrm>
            <a:custGeom>
              <a:avLst/>
              <a:gdLst/>
              <a:ahLst/>
              <a:cxnLst/>
              <a:rect l="l" t="t" r="r" b="b"/>
              <a:pathLst>
                <a:path w="950594" h="12700">
                  <a:moveTo>
                    <a:pt x="0" y="12652"/>
                  </a:moveTo>
                  <a:lnTo>
                    <a:pt x="950081" y="12652"/>
                  </a:lnTo>
                  <a:lnTo>
                    <a:pt x="950081" y="0"/>
                  </a:lnTo>
                  <a:lnTo>
                    <a:pt x="0" y="0"/>
                  </a:lnTo>
                  <a:lnTo>
                    <a:pt x="0" y="126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484835" y="217451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9" y="0"/>
                  </a:moveTo>
                  <a:lnTo>
                    <a:pt x="0" y="24211"/>
                  </a:lnTo>
                  <a:lnTo>
                    <a:pt x="58449" y="48422"/>
                  </a:lnTo>
                  <a:lnTo>
                    <a:pt x="58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84835" y="217451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9" y="0"/>
                  </a:moveTo>
                  <a:lnTo>
                    <a:pt x="0" y="24211"/>
                  </a:lnTo>
                  <a:lnTo>
                    <a:pt x="58449" y="48422"/>
                  </a:lnTo>
                  <a:lnTo>
                    <a:pt x="58449" y="0"/>
                  </a:lnTo>
                  <a:close/>
                </a:path>
              </a:pathLst>
            </a:custGeom>
            <a:ln w="12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10832" y="2192401"/>
              <a:ext cx="950594" cy="12700"/>
            </a:xfrm>
            <a:custGeom>
              <a:avLst/>
              <a:gdLst/>
              <a:ahLst/>
              <a:cxnLst/>
              <a:rect l="l" t="t" r="r" b="b"/>
              <a:pathLst>
                <a:path w="950595" h="12700">
                  <a:moveTo>
                    <a:pt x="0" y="12652"/>
                  </a:moveTo>
                  <a:lnTo>
                    <a:pt x="950081" y="12652"/>
                  </a:lnTo>
                  <a:lnTo>
                    <a:pt x="950081" y="0"/>
                  </a:lnTo>
                  <a:lnTo>
                    <a:pt x="0" y="0"/>
                  </a:lnTo>
                  <a:lnTo>
                    <a:pt x="0" y="126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10832" y="217451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9" y="0"/>
                  </a:moveTo>
                  <a:lnTo>
                    <a:pt x="0" y="24211"/>
                  </a:lnTo>
                  <a:lnTo>
                    <a:pt x="58449" y="48422"/>
                  </a:lnTo>
                  <a:lnTo>
                    <a:pt x="58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10832" y="217451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9" y="0"/>
                  </a:moveTo>
                  <a:lnTo>
                    <a:pt x="0" y="24211"/>
                  </a:lnTo>
                  <a:lnTo>
                    <a:pt x="58449" y="48422"/>
                  </a:lnTo>
                  <a:lnTo>
                    <a:pt x="58449" y="0"/>
                  </a:lnTo>
                  <a:close/>
                </a:path>
              </a:pathLst>
            </a:custGeom>
            <a:ln w="12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536829" y="2192401"/>
              <a:ext cx="950594" cy="12700"/>
            </a:xfrm>
            <a:custGeom>
              <a:avLst/>
              <a:gdLst/>
              <a:ahLst/>
              <a:cxnLst/>
              <a:rect l="l" t="t" r="r" b="b"/>
              <a:pathLst>
                <a:path w="950595" h="12700">
                  <a:moveTo>
                    <a:pt x="0" y="12652"/>
                  </a:moveTo>
                  <a:lnTo>
                    <a:pt x="950081" y="12652"/>
                  </a:lnTo>
                  <a:lnTo>
                    <a:pt x="950081" y="0"/>
                  </a:lnTo>
                  <a:lnTo>
                    <a:pt x="0" y="0"/>
                  </a:lnTo>
                  <a:lnTo>
                    <a:pt x="0" y="126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36829" y="217451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58449" y="0"/>
                  </a:moveTo>
                  <a:lnTo>
                    <a:pt x="0" y="24211"/>
                  </a:lnTo>
                  <a:lnTo>
                    <a:pt x="58449" y="48422"/>
                  </a:lnTo>
                  <a:lnTo>
                    <a:pt x="58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36829" y="217451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58449" y="0"/>
                  </a:moveTo>
                  <a:lnTo>
                    <a:pt x="0" y="24211"/>
                  </a:lnTo>
                  <a:lnTo>
                    <a:pt x="58449" y="48422"/>
                  </a:lnTo>
                  <a:lnTo>
                    <a:pt x="58449" y="0"/>
                  </a:lnTo>
                  <a:close/>
                </a:path>
              </a:pathLst>
            </a:custGeom>
            <a:ln w="12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345247" y="2375030"/>
            <a:ext cx="20383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25" dirty="0">
                <a:latin typeface="Times New Roman"/>
                <a:cs typeface="Times New Roman"/>
              </a:rPr>
              <a:t>−</a:t>
            </a:r>
            <a:r>
              <a:rPr sz="1100" spc="25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9" name="object 39"/>
          <p:cNvSpPr txBox="1"/>
          <p:nvPr/>
        </p:nvSpPr>
        <p:spPr>
          <a:xfrm>
            <a:off x="2425385" y="2375030"/>
            <a:ext cx="952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Palatino Linotype"/>
                <a:cs typeface="Palatino Linotype"/>
              </a:rPr>
              <a:t>0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51275" y="2375030"/>
            <a:ext cx="952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62919" y="2203335"/>
            <a:ext cx="901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z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43585" y="2863634"/>
            <a:ext cx="62293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dirty="0">
                <a:latin typeface="Georgia"/>
                <a:cs typeface="Georgia"/>
              </a:rPr>
              <a:t>p</a:t>
            </a:r>
            <a:r>
              <a:rPr sz="1350" baseline="-12345" dirty="0">
                <a:latin typeface="Palatino Linotype"/>
                <a:cs typeface="Palatino Linotype"/>
              </a:rPr>
              <a:t>0</a:t>
            </a:r>
            <a:r>
              <a:rPr sz="1350" spc="120" baseline="-12345" dirty="0">
                <a:latin typeface="Palatino Linotype"/>
                <a:cs typeface="Palatino Linotype"/>
              </a:rPr>
              <a:t> </a:t>
            </a:r>
            <a:r>
              <a:rPr sz="1100" i="1" spc="135" dirty="0">
                <a:latin typeface="Georgia"/>
                <a:cs typeface="Georgia"/>
              </a:rPr>
              <a:t>&lt;</a:t>
            </a:r>
            <a:r>
              <a:rPr sz="1100" i="1" dirty="0">
                <a:latin typeface="Georgia"/>
                <a:cs typeface="Georgia"/>
              </a:rPr>
              <a:t> </a:t>
            </a:r>
            <a:r>
              <a:rPr sz="1100" i="1" spc="30" dirty="0">
                <a:latin typeface="Times New Roman"/>
                <a:cs typeface="Times New Roman"/>
              </a:rPr>
              <a:t>−</a:t>
            </a:r>
            <a:r>
              <a:rPr sz="1100" spc="30" dirty="0">
                <a:latin typeface="Palatino Linotype"/>
                <a:cs typeface="Palatino Linotype"/>
              </a:rPr>
              <a:t>1</a:t>
            </a:r>
            <a:r>
              <a:rPr sz="1100" spc="3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89592" y="2827677"/>
            <a:ext cx="2729865" cy="837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100"/>
              </a:lnSpc>
              <a:spcBef>
                <a:spcPts val="100"/>
              </a:spcBef>
            </a:pPr>
            <a:r>
              <a:rPr sz="1100" spc="75" dirty="0">
                <a:latin typeface="Arial"/>
                <a:cs typeface="Arial"/>
              </a:rPr>
              <a:t>magnitude</a:t>
            </a:r>
            <a:r>
              <a:rPr sz="1100" spc="3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diverges,</a:t>
            </a:r>
            <a:r>
              <a:rPr sz="1100" spc="300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alternating</a:t>
            </a:r>
            <a:r>
              <a:rPr sz="1100" spc="30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sign </a:t>
            </a:r>
            <a:r>
              <a:rPr sz="1100" spc="75" dirty="0">
                <a:latin typeface="Arial"/>
                <a:cs typeface="Arial"/>
              </a:rPr>
              <a:t>magnitude</a:t>
            </a:r>
            <a:r>
              <a:rPr sz="1100" spc="3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converges,</a:t>
            </a:r>
            <a:r>
              <a:rPr sz="1100" spc="320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alternating</a:t>
            </a:r>
            <a:r>
              <a:rPr sz="1100" spc="3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sign </a:t>
            </a:r>
            <a:r>
              <a:rPr sz="1100" spc="75" dirty="0">
                <a:latin typeface="Arial"/>
                <a:cs typeface="Arial"/>
              </a:rPr>
              <a:t>magnitude</a:t>
            </a:r>
            <a:r>
              <a:rPr sz="1100" spc="3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converges</a:t>
            </a:r>
            <a:r>
              <a:rPr sz="1100" spc="345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monotonically </a:t>
            </a:r>
            <a:r>
              <a:rPr sz="1100" spc="75" dirty="0">
                <a:latin typeface="Arial"/>
                <a:cs typeface="Arial"/>
              </a:rPr>
              <a:t>magnitude</a:t>
            </a:r>
            <a:r>
              <a:rPr sz="1100" spc="3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diverges</a:t>
            </a:r>
            <a:r>
              <a:rPr sz="1100" spc="32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monotonically</a:t>
            </a:r>
            <a:endParaRPr sz="11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8430" y="3066605"/>
            <a:ext cx="87820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spc="50" dirty="0">
                <a:latin typeface="Times New Roman"/>
                <a:cs typeface="Times New Roman"/>
              </a:rPr>
              <a:t>−</a:t>
            </a:r>
            <a:r>
              <a:rPr sz="1100" spc="50" dirty="0">
                <a:latin typeface="Palatino Linotype"/>
                <a:cs typeface="Palatino Linotype"/>
              </a:rPr>
              <a:t>1</a:t>
            </a:r>
            <a:r>
              <a:rPr sz="1100" dirty="0">
                <a:latin typeface="Palatino Linotype"/>
                <a:cs typeface="Palatino Linotype"/>
              </a:rPr>
              <a:t> </a:t>
            </a:r>
            <a:r>
              <a:rPr sz="1100" i="1" spc="135" dirty="0">
                <a:latin typeface="Georgia"/>
                <a:cs typeface="Georgia"/>
              </a:rPr>
              <a:t>&lt;</a:t>
            </a:r>
            <a:r>
              <a:rPr sz="1100" i="1" spc="1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p</a:t>
            </a:r>
            <a:r>
              <a:rPr sz="1350" baseline="-12345" dirty="0">
                <a:latin typeface="Palatino Linotype"/>
                <a:cs typeface="Palatino Linotype"/>
              </a:rPr>
              <a:t>0</a:t>
            </a:r>
            <a:r>
              <a:rPr sz="1350" spc="157" baseline="-12345" dirty="0">
                <a:latin typeface="Palatino Linotype"/>
                <a:cs typeface="Palatino Linotype"/>
              </a:rPr>
              <a:t> </a:t>
            </a:r>
            <a:r>
              <a:rPr sz="1100" i="1" spc="135" dirty="0">
                <a:latin typeface="Georgia"/>
                <a:cs typeface="Georgia"/>
              </a:rPr>
              <a:t>&lt;</a:t>
            </a:r>
            <a:r>
              <a:rPr sz="1100" i="1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Palatino Linotype"/>
                <a:cs typeface="Palatino Linotype"/>
              </a:rPr>
              <a:t>0</a:t>
            </a:r>
            <a:r>
              <a:rPr sz="1100" spc="-25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96688" y="3233572"/>
            <a:ext cx="770255" cy="4318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380"/>
              </a:spcBef>
            </a:pPr>
            <a:r>
              <a:rPr sz="1100" dirty="0">
                <a:latin typeface="Palatino Linotype"/>
                <a:cs typeface="Palatino Linotype"/>
              </a:rPr>
              <a:t>0 </a:t>
            </a:r>
            <a:r>
              <a:rPr sz="1100" i="1" spc="135" dirty="0">
                <a:latin typeface="Georgia"/>
                <a:cs typeface="Georgia"/>
              </a:rPr>
              <a:t>&lt;</a:t>
            </a:r>
            <a:r>
              <a:rPr sz="1100" i="1" spc="1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p</a:t>
            </a:r>
            <a:r>
              <a:rPr sz="1350" baseline="-12345" dirty="0">
                <a:latin typeface="Palatino Linotype"/>
                <a:cs typeface="Palatino Linotype"/>
              </a:rPr>
              <a:t>0</a:t>
            </a:r>
            <a:r>
              <a:rPr sz="1350" spc="150" baseline="-12345" dirty="0">
                <a:latin typeface="Palatino Linotype"/>
                <a:cs typeface="Palatino Linotype"/>
              </a:rPr>
              <a:t> </a:t>
            </a:r>
            <a:r>
              <a:rPr sz="1100" i="1" spc="135" dirty="0">
                <a:latin typeface="Georgia"/>
                <a:cs typeface="Georgia"/>
              </a:rPr>
              <a:t>&lt;</a:t>
            </a:r>
            <a:r>
              <a:rPr sz="1100" i="1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Palatino Linotype"/>
                <a:cs typeface="Palatino Linotype"/>
              </a:rPr>
              <a:t>1</a:t>
            </a:r>
            <a:r>
              <a:rPr sz="1100" spc="-25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R="30480" algn="r">
              <a:lnSpc>
                <a:spcPct val="100000"/>
              </a:lnSpc>
              <a:spcBef>
                <a:spcPts val="275"/>
              </a:spcBef>
            </a:pPr>
            <a:r>
              <a:rPr sz="1100" i="1" dirty="0">
                <a:latin typeface="Georgia"/>
                <a:cs typeface="Georgia"/>
              </a:rPr>
              <a:t>p</a:t>
            </a:r>
            <a:r>
              <a:rPr sz="1350" baseline="-12345" dirty="0">
                <a:latin typeface="Palatino Linotype"/>
                <a:cs typeface="Palatino Linotype"/>
              </a:rPr>
              <a:t>0</a:t>
            </a:r>
            <a:r>
              <a:rPr sz="1350" spc="112" baseline="-12345" dirty="0">
                <a:latin typeface="Palatino Linotype"/>
                <a:cs typeface="Palatino Linotype"/>
              </a:rPr>
              <a:t> </a:t>
            </a:r>
            <a:r>
              <a:rPr sz="1100" i="1" spc="135" dirty="0">
                <a:latin typeface="Georgia"/>
                <a:cs typeface="Georgia"/>
              </a:rPr>
              <a:t>&gt;</a:t>
            </a:r>
            <a:r>
              <a:rPr sz="1100" i="1" dirty="0">
                <a:latin typeface="Georgia"/>
                <a:cs typeface="Georgia"/>
              </a:rPr>
              <a:t> </a:t>
            </a:r>
            <a:r>
              <a:rPr sz="1100" spc="-25" dirty="0">
                <a:latin typeface="Palatino Linotype"/>
                <a:cs typeface="Palatino Linotype"/>
              </a:rPr>
              <a:t>1</a:t>
            </a:r>
            <a:r>
              <a:rPr sz="1100" spc="-25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5" dirty="0"/>
              <a:t>Second-</a:t>
            </a:r>
            <a:r>
              <a:rPr spc="100" dirty="0"/>
              <a:t>Order</a:t>
            </a:r>
            <a:r>
              <a:rPr spc="254" dirty="0"/>
              <a:t> </a:t>
            </a:r>
            <a:r>
              <a:rPr spc="7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830" y="345358"/>
            <a:ext cx="4833620" cy="43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1100" spc="120" dirty="0">
                <a:latin typeface="Arial"/>
                <a:cs typeface="Arial"/>
              </a:rPr>
              <a:t>The</a:t>
            </a:r>
            <a:r>
              <a:rPr sz="1100" spc="28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unit-</a:t>
            </a:r>
            <a:r>
              <a:rPr sz="1100" spc="75" dirty="0">
                <a:latin typeface="Arial"/>
                <a:cs typeface="Arial"/>
              </a:rPr>
              <a:t>sample</a:t>
            </a:r>
            <a:r>
              <a:rPr sz="1100" spc="28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responses</a:t>
            </a:r>
            <a:r>
              <a:rPr sz="1100" spc="29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290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more</a:t>
            </a:r>
            <a:r>
              <a:rPr sz="1100" spc="29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complicated</a:t>
            </a:r>
            <a:r>
              <a:rPr sz="1100" spc="290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cyclic</a:t>
            </a:r>
            <a:r>
              <a:rPr sz="1100" spc="29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systems</a:t>
            </a:r>
            <a:r>
              <a:rPr sz="1100" spc="29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are </a:t>
            </a:r>
            <a:r>
              <a:rPr sz="1100" spc="65" dirty="0">
                <a:latin typeface="Arial"/>
                <a:cs typeface="Arial"/>
              </a:rPr>
              <a:t>more</a:t>
            </a:r>
            <a:r>
              <a:rPr sz="1100" spc="150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complicated.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13738" y="906222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31412" y="1213803"/>
            <a:ext cx="320675" cy="297815"/>
          </a:xfrm>
          <a:custGeom>
            <a:avLst/>
            <a:gdLst/>
            <a:ahLst/>
            <a:cxnLst/>
            <a:rect l="l" t="t" r="r" b="b"/>
            <a:pathLst>
              <a:path w="320675" h="297815">
                <a:moveTo>
                  <a:pt x="0" y="297545"/>
                </a:moveTo>
                <a:lnTo>
                  <a:pt x="320394" y="297545"/>
                </a:lnTo>
                <a:lnTo>
                  <a:pt x="320394" y="0"/>
                </a:lnTo>
                <a:lnTo>
                  <a:pt x="0" y="0"/>
                </a:lnTo>
                <a:lnTo>
                  <a:pt x="0" y="297545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31412" y="1765349"/>
            <a:ext cx="320675" cy="297815"/>
          </a:xfrm>
          <a:custGeom>
            <a:avLst/>
            <a:gdLst/>
            <a:ahLst/>
            <a:cxnLst/>
            <a:rect l="l" t="t" r="r" b="b"/>
            <a:pathLst>
              <a:path w="320675" h="297814">
                <a:moveTo>
                  <a:pt x="0" y="297545"/>
                </a:moveTo>
                <a:lnTo>
                  <a:pt x="320394" y="297545"/>
                </a:lnTo>
                <a:lnTo>
                  <a:pt x="320394" y="0"/>
                </a:lnTo>
                <a:lnTo>
                  <a:pt x="0" y="0"/>
                </a:lnTo>
                <a:lnTo>
                  <a:pt x="0" y="297545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793395" y="920320"/>
            <a:ext cx="1470025" cy="1520190"/>
            <a:chOff x="1793395" y="920320"/>
            <a:chExt cx="1470025" cy="1520190"/>
          </a:xfrm>
        </p:grpSpPr>
        <p:sp>
          <p:nvSpPr>
            <p:cNvPr id="8" name="object 8"/>
            <p:cNvSpPr/>
            <p:nvPr/>
          </p:nvSpPr>
          <p:spPr>
            <a:xfrm>
              <a:off x="2431209" y="1394507"/>
              <a:ext cx="406400" cy="1039494"/>
            </a:xfrm>
            <a:custGeom>
              <a:avLst/>
              <a:gdLst/>
              <a:ahLst/>
              <a:cxnLst/>
              <a:rect l="l" t="t" r="r" b="b"/>
              <a:pathLst>
                <a:path w="406400" h="1039494">
                  <a:moveTo>
                    <a:pt x="0" y="243842"/>
                  </a:moveTo>
                  <a:lnTo>
                    <a:pt x="406400" y="487684"/>
                  </a:lnTo>
                  <a:lnTo>
                    <a:pt x="406400" y="0"/>
                  </a:lnTo>
                  <a:lnTo>
                    <a:pt x="0" y="243842"/>
                  </a:lnTo>
                  <a:close/>
                </a:path>
                <a:path w="406400" h="1039494">
                  <a:moveTo>
                    <a:pt x="5" y="795388"/>
                  </a:moveTo>
                  <a:lnTo>
                    <a:pt x="406400" y="1039227"/>
                  </a:lnTo>
                  <a:lnTo>
                    <a:pt x="406400" y="551548"/>
                  </a:lnTo>
                  <a:lnTo>
                    <a:pt x="5" y="795388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3395" y="920320"/>
              <a:ext cx="390140" cy="20596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177209" y="1023303"/>
              <a:ext cx="1080135" cy="0"/>
            </a:xfrm>
            <a:custGeom>
              <a:avLst/>
              <a:gdLst/>
              <a:ahLst/>
              <a:cxnLst/>
              <a:rect l="l" t="t" r="r" b="b"/>
              <a:pathLst>
                <a:path w="1080135">
                  <a:moveTo>
                    <a:pt x="0" y="0"/>
                  </a:moveTo>
                  <a:lnTo>
                    <a:pt x="1079593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98362" y="999095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15"/>
                  </a:lnTo>
                  <a:lnTo>
                    <a:pt x="58441" y="242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91609" y="999095"/>
              <a:ext cx="165735" cy="189865"/>
            </a:xfrm>
            <a:custGeom>
              <a:avLst/>
              <a:gdLst/>
              <a:ahLst/>
              <a:cxnLst/>
              <a:rect l="l" t="t" r="r" b="b"/>
              <a:pathLst>
                <a:path w="165735" h="189865">
                  <a:moveTo>
                    <a:pt x="106752" y="48415"/>
                  </a:moveTo>
                  <a:lnTo>
                    <a:pt x="165193" y="24207"/>
                  </a:lnTo>
                  <a:lnTo>
                    <a:pt x="106752" y="0"/>
                  </a:lnTo>
                  <a:lnTo>
                    <a:pt x="106752" y="48415"/>
                  </a:lnTo>
                  <a:close/>
                </a:path>
                <a:path w="165735" h="189865">
                  <a:moveTo>
                    <a:pt x="0" y="24207"/>
                  </a:moveTo>
                  <a:lnTo>
                    <a:pt x="0" y="189404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67400" y="1130053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48419" y="0"/>
                  </a:moveTo>
                  <a:lnTo>
                    <a:pt x="0" y="0"/>
                  </a:lnTo>
                  <a:lnTo>
                    <a:pt x="24209" y="58446"/>
                  </a:lnTo>
                  <a:lnTo>
                    <a:pt x="48419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67400" y="1130053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0" y="0"/>
                  </a:moveTo>
                  <a:lnTo>
                    <a:pt x="24209" y="58446"/>
                  </a:lnTo>
                  <a:lnTo>
                    <a:pt x="48419" y="0"/>
                  </a:lnTo>
                  <a:lnTo>
                    <a:pt x="0" y="0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6588" y="1511349"/>
              <a:ext cx="265557" cy="23502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122241" y="1137947"/>
              <a:ext cx="309245" cy="501015"/>
            </a:xfrm>
            <a:custGeom>
              <a:avLst/>
              <a:gdLst/>
              <a:ahLst/>
              <a:cxnLst/>
              <a:rect l="l" t="t" r="r" b="b"/>
              <a:pathLst>
                <a:path w="309244" h="501014">
                  <a:moveTo>
                    <a:pt x="308968" y="500402"/>
                  </a:moveTo>
                  <a:lnTo>
                    <a:pt x="181968" y="500402"/>
                  </a:lnTo>
                  <a:lnTo>
                    <a:pt x="0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19463" y="1137947"/>
              <a:ext cx="45720" cy="63500"/>
            </a:xfrm>
            <a:custGeom>
              <a:avLst/>
              <a:gdLst/>
              <a:ahLst/>
              <a:cxnLst/>
              <a:rect l="l" t="t" r="r" b="b"/>
              <a:pathLst>
                <a:path w="45719" h="63500">
                  <a:moveTo>
                    <a:pt x="2778" y="0"/>
                  </a:moveTo>
                  <a:lnTo>
                    <a:pt x="0" y="63197"/>
                  </a:lnTo>
                  <a:lnTo>
                    <a:pt x="45502" y="46651"/>
                  </a:lnTo>
                  <a:lnTo>
                    <a:pt x="2778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19463" y="1137947"/>
              <a:ext cx="45720" cy="63500"/>
            </a:xfrm>
            <a:custGeom>
              <a:avLst/>
              <a:gdLst/>
              <a:ahLst/>
              <a:cxnLst/>
              <a:rect l="l" t="t" r="r" b="b"/>
              <a:pathLst>
                <a:path w="45719" h="63500">
                  <a:moveTo>
                    <a:pt x="45502" y="46651"/>
                  </a:moveTo>
                  <a:lnTo>
                    <a:pt x="2778" y="0"/>
                  </a:lnTo>
                  <a:lnTo>
                    <a:pt x="0" y="63197"/>
                  </a:lnTo>
                  <a:lnTo>
                    <a:pt x="45502" y="46651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56588" y="2056569"/>
              <a:ext cx="241347" cy="16386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080552" y="1145266"/>
              <a:ext cx="351155" cy="1045210"/>
            </a:xfrm>
            <a:custGeom>
              <a:avLst/>
              <a:gdLst/>
              <a:ahLst/>
              <a:cxnLst/>
              <a:rect l="l" t="t" r="r" b="b"/>
              <a:pathLst>
                <a:path w="351155" h="1045210">
                  <a:moveTo>
                    <a:pt x="350662" y="1044628"/>
                  </a:moveTo>
                  <a:lnTo>
                    <a:pt x="0" y="1044628"/>
                  </a:lnTo>
                  <a:lnTo>
                    <a:pt x="0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56342" y="1145266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24210" y="0"/>
                  </a:moveTo>
                  <a:lnTo>
                    <a:pt x="0" y="58448"/>
                  </a:lnTo>
                  <a:lnTo>
                    <a:pt x="48421" y="58448"/>
                  </a:lnTo>
                  <a:lnTo>
                    <a:pt x="2421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56342" y="1145266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48421" y="58448"/>
                  </a:moveTo>
                  <a:lnTo>
                    <a:pt x="24210" y="0"/>
                  </a:lnTo>
                  <a:lnTo>
                    <a:pt x="0" y="58448"/>
                  </a:lnTo>
                  <a:lnTo>
                    <a:pt x="48421" y="58448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603684" y="918980"/>
            <a:ext cx="18230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29105" algn="l"/>
              </a:tabLst>
            </a:pPr>
            <a:r>
              <a:rPr sz="1100" i="1" spc="65" dirty="0">
                <a:latin typeface="Georgia"/>
                <a:cs typeface="Georgia"/>
              </a:rPr>
              <a:t>X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i="1" spc="-50" dirty="0">
                <a:latin typeface="Georgia"/>
                <a:cs typeface="Georgia"/>
              </a:rPr>
              <a:t>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98960" y="1258249"/>
            <a:ext cx="1464945" cy="1339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00">
              <a:lnSpc>
                <a:spcPct val="100000"/>
              </a:lnSpc>
              <a:spcBef>
                <a:spcPts val="95"/>
              </a:spcBef>
            </a:pP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  <a:p>
            <a:pPr marL="922655">
              <a:lnSpc>
                <a:spcPct val="100000"/>
              </a:lnSpc>
              <a:spcBef>
                <a:spcPts val="819"/>
              </a:spcBef>
            </a:pPr>
            <a:r>
              <a:rPr sz="1100" spc="-25" dirty="0">
                <a:latin typeface="Palatino Linotype"/>
                <a:cs typeface="Palatino Linotype"/>
              </a:rPr>
              <a:t>1</a:t>
            </a:r>
            <a:r>
              <a:rPr sz="1100" i="1" spc="-25" dirty="0">
                <a:latin typeface="Georgia"/>
                <a:cs typeface="Georgia"/>
              </a:rPr>
              <a:t>.</a:t>
            </a:r>
            <a:r>
              <a:rPr sz="1100" spc="-25" dirty="0">
                <a:latin typeface="Palatino Linotype"/>
                <a:cs typeface="Palatino Linotype"/>
              </a:rPr>
              <a:t>6</a:t>
            </a:r>
            <a:endParaRPr sz="1100">
              <a:latin typeface="Palatino Linotype"/>
              <a:cs typeface="Palatino Linotype"/>
            </a:endParaRPr>
          </a:p>
          <a:p>
            <a:pPr marL="1333500">
              <a:lnSpc>
                <a:spcPct val="100000"/>
              </a:lnSpc>
              <a:spcBef>
                <a:spcPts val="880"/>
              </a:spcBef>
            </a:pP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  <a:p>
            <a:pPr marL="744855">
              <a:lnSpc>
                <a:spcPct val="100000"/>
              </a:lnSpc>
              <a:spcBef>
                <a:spcPts val="780"/>
              </a:spcBef>
            </a:pPr>
            <a:r>
              <a:rPr sz="1100" i="1" spc="-10" dirty="0">
                <a:latin typeface="Times New Roman"/>
                <a:cs typeface="Times New Roman"/>
              </a:rPr>
              <a:t>−</a:t>
            </a:r>
            <a:r>
              <a:rPr sz="1100" spc="-10" dirty="0">
                <a:latin typeface="Palatino Linotype"/>
                <a:cs typeface="Palatino Linotype"/>
              </a:rPr>
              <a:t>0</a:t>
            </a:r>
            <a:r>
              <a:rPr sz="1100" i="1" spc="-10" dirty="0">
                <a:latin typeface="Georgia"/>
                <a:cs typeface="Georgia"/>
              </a:rPr>
              <a:t>.</a:t>
            </a:r>
            <a:r>
              <a:rPr sz="1100" spc="-10" dirty="0">
                <a:latin typeface="Palatino Linotype"/>
                <a:cs typeface="Palatino Linotype"/>
              </a:rPr>
              <a:t>63</a:t>
            </a:r>
            <a:endParaRPr sz="11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1100" i="1" spc="-20" dirty="0">
                <a:latin typeface="Georgia"/>
                <a:cs typeface="Georgia"/>
              </a:rPr>
              <a:t>y</a:t>
            </a:r>
            <a:r>
              <a:rPr sz="1100" spc="-20" dirty="0">
                <a:latin typeface="Palatino Linotype"/>
                <a:cs typeface="Palatino Linotype"/>
              </a:rPr>
              <a:t>[</a:t>
            </a:r>
            <a:r>
              <a:rPr sz="1100" i="1" spc="-20" dirty="0">
                <a:latin typeface="Georgia"/>
                <a:cs typeface="Georgia"/>
              </a:rPr>
              <a:t>n</a:t>
            </a:r>
            <a:r>
              <a:rPr sz="1100" spc="-20" dirty="0">
                <a:latin typeface="Palatino Linotype"/>
                <a:cs typeface="Palatino Linotype"/>
              </a:rPr>
              <a:t>]</a:t>
            </a:r>
            <a:endParaRPr sz="1100">
              <a:latin typeface="Palatino Linotype"/>
              <a:cs typeface="Palatino Linotype"/>
            </a:endParaRPr>
          </a:p>
        </p:txBody>
      </p:sp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77055" y="2642670"/>
            <a:ext cx="1923852" cy="578076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13830" y="3060753"/>
            <a:ext cx="3569335" cy="617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99390" algn="r">
              <a:lnSpc>
                <a:spcPts val="1185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  <a:p>
            <a:pPr marL="1445895">
              <a:lnSpc>
                <a:spcPts val="1185"/>
              </a:lnSpc>
            </a:pPr>
            <a:r>
              <a:rPr sz="1100" i="1" spc="50" dirty="0">
                <a:latin typeface="Times New Roman"/>
                <a:cs typeface="Times New Roman"/>
              </a:rPr>
              <a:t>−</a:t>
            </a:r>
            <a:r>
              <a:rPr sz="1100" spc="50" dirty="0">
                <a:latin typeface="Palatino Linotype"/>
                <a:cs typeface="Palatino Linotype"/>
              </a:rPr>
              <a:t>1</a:t>
            </a:r>
            <a:r>
              <a:rPr sz="1100" spc="1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2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3</a:t>
            </a:r>
            <a:r>
              <a:rPr sz="1100" spc="160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4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5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6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7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spc="-50" dirty="0">
                <a:latin typeface="Palatino Linotype"/>
                <a:cs typeface="Palatino Linotype"/>
              </a:rPr>
              <a:t>8</a:t>
            </a:r>
            <a:endParaRPr sz="11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sz="1100" spc="110" dirty="0">
                <a:latin typeface="Arial"/>
                <a:cs typeface="Arial"/>
              </a:rPr>
              <a:t>Not</a:t>
            </a:r>
            <a:r>
              <a:rPr sz="1100" spc="195" dirty="0">
                <a:latin typeface="Arial"/>
                <a:cs typeface="Arial"/>
              </a:rPr>
              <a:t> </a:t>
            </a:r>
            <a:r>
              <a:rPr sz="1100" spc="75" dirty="0">
                <a:latin typeface="Arial"/>
                <a:cs typeface="Arial"/>
              </a:rPr>
              <a:t>geometric.</a:t>
            </a:r>
            <a:r>
              <a:rPr sz="1100" spc="360" dirty="0">
                <a:latin typeface="Arial"/>
                <a:cs typeface="Arial"/>
              </a:rPr>
              <a:t> </a:t>
            </a:r>
            <a:r>
              <a:rPr sz="1100" spc="95" dirty="0">
                <a:latin typeface="Arial"/>
                <a:cs typeface="Arial"/>
              </a:rPr>
              <a:t>This</a:t>
            </a:r>
            <a:r>
              <a:rPr sz="1100" spc="19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response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grows</a:t>
            </a:r>
            <a:r>
              <a:rPr sz="1100" spc="195" dirty="0">
                <a:latin typeface="Arial"/>
                <a:cs typeface="Arial"/>
              </a:rPr>
              <a:t> </a:t>
            </a:r>
            <a:r>
              <a:rPr sz="1100" spc="80" dirty="0">
                <a:latin typeface="Arial"/>
                <a:cs typeface="Arial"/>
              </a:rPr>
              <a:t>then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decays.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0" dirty="0"/>
              <a:t>Factoring</a:t>
            </a:r>
            <a:r>
              <a:rPr spc="240" dirty="0"/>
              <a:t> </a:t>
            </a:r>
            <a:r>
              <a:rPr spc="105" dirty="0"/>
              <a:t>Second-</a:t>
            </a:r>
            <a:r>
              <a:rPr spc="100" dirty="0"/>
              <a:t>Order</a:t>
            </a:r>
            <a:r>
              <a:rPr spc="235" dirty="0"/>
              <a:t> </a:t>
            </a:r>
            <a:r>
              <a:rPr spc="7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830" y="345358"/>
            <a:ext cx="4833620" cy="43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1100" spc="80" dirty="0">
                <a:latin typeface="Arial"/>
                <a:cs typeface="Arial"/>
              </a:rPr>
              <a:t>Factor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operator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expression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130" dirty="0">
                <a:latin typeface="Arial"/>
                <a:cs typeface="Arial"/>
              </a:rPr>
              <a:t>to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break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system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95" dirty="0">
                <a:latin typeface="Arial"/>
                <a:cs typeface="Arial"/>
              </a:rPr>
              <a:t>into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95" dirty="0">
                <a:latin typeface="Arial"/>
                <a:cs typeface="Arial"/>
              </a:rPr>
              <a:t>two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45" dirty="0">
                <a:latin typeface="Arial"/>
                <a:cs typeface="Arial"/>
              </a:rPr>
              <a:t>simpler </a:t>
            </a:r>
            <a:r>
              <a:rPr sz="1100" dirty="0">
                <a:latin typeface="Arial"/>
                <a:cs typeface="Arial"/>
              </a:rPr>
              <a:t>systems</a:t>
            </a:r>
            <a:r>
              <a:rPr sz="1100" spc="265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(divide</a:t>
            </a:r>
            <a:r>
              <a:rPr sz="1100" spc="26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and</a:t>
            </a:r>
            <a:r>
              <a:rPr sz="1100" spc="270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conquer).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31140" y="1267914"/>
            <a:ext cx="732790" cy="1010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1345">
              <a:lnSpc>
                <a:spcPct val="100000"/>
              </a:lnSpc>
              <a:spcBef>
                <a:spcPts val="95"/>
              </a:spcBef>
            </a:pP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  <a:p>
            <a:pPr marL="190500">
              <a:lnSpc>
                <a:spcPct val="100000"/>
              </a:lnSpc>
              <a:spcBef>
                <a:spcPts val="819"/>
              </a:spcBef>
            </a:pPr>
            <a:r>
              <a:rPr sz="1100" spc="-25" dirty="0">
                <a:latin typeface="Palatino Linotype"/>
                <a:cs typeface="Palatino Linotype"/>
              </a:rPr>
              <a:t>1</a:t>
            </a:r>
            <a:r>
              <a:rPr sz="1100" i="1" spc="-25" dirty="0">
                <a:latin typeface="Georgia"/>
                <a:cs typeface="Georgia"/>
              </a:rPr>
              <a:t>.</a:t>
            </a:r>
            <a:r>
              <a:rPr sz="1100" spc="-25" dirty="0">
                <a:latin typeface="Palatino Linotype"/>
                <a:cs typeface="Palatino Linotype"/>
              </a:rPr>
              <a:t>6</a:t>
            </a:r>
            <a:endParaRPr sz="1100">
              <a:latin typeface="Palatino Linotype"/>
              <a:cs typeface="Palatino Linotype"/>
            </a:endParaRPr>
          </a:p>
          <a:p>
            <a:pPr marL="601345">
              <a:lnSpc>
                <a:spcPct val="100000"/>
              </a:lnSpc>
              <a:spcBef>
                <a:spcPts val="880"/>
              </a:spcBef>
            </a:pP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100" i="1" spc="-10" dirty="0">
                <a:latin typeface="Times New Roman"/>
                <a:cs typeface="Times New Roman"/>
              </a:rPr>
              <a:t>−</a:t>
            </a:r>
            <a:r>
              <a:rPr sz="1100" spc="-10" dirty="0">
                <a:latin typeface="Palatino Linotype"/>
                <a:cs typeface="Palatino Linotype"/>
              </a:rPr>
              <a:t>0</a:t>
            </a:r>
            <a:r>
              <a:rPr sz="1100" i="1" spc="-10" dirty="0">
                <a:latin typeface="Georgia"/>
                <a:cs typeface="Georgia"/>
              </a:rPr>
              <a:t>.</a:t>
            </a:r>
            <a:r>
              <a:rPr sz="1100" spc="-10" dirty="0">
                <a:latin typeface="Palatino Linotype"/>
                <a:cs typeface="Palatino Linotype"/>
              </a:rPr>
              <a:t>63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13738" y="915887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31412" y="1223468"/>
            <a:ext cx="320675" cy="297815"/>
          </a:xfrm>
          <a:custGeom>
            <a:avLst/>
            <a:gdLst/>
            <a:ahLst/>
            <a:cxnLst/>
            <a:rect l="l" t="t" r="r" b="b"/>
            <a:pathLst>
              <a:path w="320675" h="297815">
                <a:moveTo>
                  <a:pt x="0" y="297545"/>
                </a:moveTo>
                <a:lnTo>
                  <a:pt x="320394" y="297545"/>
                </a:lnTo>
                <a:lnTo>
                  <a:pt x="320394" y="0"/>
                </a:lnTo>
                <a:lnTo>
                  <a:pt x="0" y="0"/>
                </a:lnTo>
                <a:lnTo>
                  <a:pt x="0" y="297545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31412" y="1775014"/>
            <a:ext cx="320675" cy="297815"/>
          </a:xfrm>
          <a:custGeom>
            <a:avLst/>
            <a:gdLst/>
            <a:ahLst/>
            <a:cxnLst/>
            <a:rect l="l" t="t" r="r" b="b"/>
            <a:pathLst>
              <a:path w="320675" h="297814">
                <a:moveTo>
                  <a:pt x="0" y="297545"/>
                </a:moveTo>
                <a:lnTo>
                  <a:pt x="320394" y="297545"/>
                </a:lnTo>
                <a:lnTo>
                  <a:pt x="320394" y="0"/>
                </a:lnTo>
                <a:lnTo>
                  <a:pt x="0" y="0"/>
                </a:lnTo>
                <a:lnTo>
                  <a:pt x="0" y="297545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793395" y="929984"/>
            <a:ext cx="1470025" cy="1520190"/>
            <a:chOff x="1793395" y="929984"/>
            <a:chExt cx="1470025" cy="1520190"/>
          </a:xfrm>
        </p:grpSpPr>
        <p:sp>
          <p:nvSpPr>
            <p:cNvPr id="9" name="object 9"/>
            <p:cNvSpPr/>
            <p:nvPr/>
          </p:nvSpPr>
          <p:spPr>
            <a:xfrm>
              <a:off x="2431209" y="1404171"/>
              <a:ext cx="406400" cy="1039494"/>
            </a:xfrm>
            <a:custGeom>
              <a:avLst/>
              <a:gdLst/>
              <a:ahLst/>
              <a:cxnLst/>
              <a:rect l="l" t="t" r="r" b="b"/>
              <a:pathLst>
                <a:path w="406400" h="1039494">
                  <a:moveTo>
                    <a:pt x="0" y="243842"/>
                  </a:moveTo>
                  <a:lnTo>
                    <a:pt x="406400" y="487684"/>
                  </a:lnTo>
                  <a:lnTo>
                    <a:pt x="406400" y="0"/>
                  </a:lnTo>
                  <a:lnTo>
                    <a:pt x="0" y="243842"/>
                  </a:lnTo>
                  <a:close/>
                </a:path>
                <a:path w="406400" h="1039494">
                  <a:moveTo>
                    <a:pt x="5" y="795388"/>
                  </a:moveTo>
                  <a:lnTo>
                    <a:pt x="406400" y="1039227"/>
                  </a:lnTo>
                  <a:lnTo>
                    <a:pt x="406400" y="551548"/>
                  </a:lnTo>
                  <a:lnTo>
                    <a:pt x="5" y="795388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3395" y="929984"/>
              <a:ext cx="390140" cy="20596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77209" y="1032968"/>
              <a:ext cx="1080135" cy="0"/>
            </a:xfrm>
            <a:custGeom>
              <a:avLst/>
              <a:gdLst/>
              <a:ahLst/>
              <a:cxnLst/>
              <a:rect l="l" t="t" r="r" b="b"/>
              <a:pathLst>
                <a:path w="1080135">
                  <a:moveTo>
                    <a:pt x="0" y="0"/>
                  </a:moveTo>
                  <a:lnTo>
                    <a:pt x="1079593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98362" y="100876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15"/>
                  </a:lnTo>
                  <a:lnTo>
                    <a:pt x="58441" y="242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91609" y="1008760"/>
              <a:ext cx="165735" cy="189865"/>
            </a:xfrm>
            <a:custGeom>
              <a:avLst/>
              <a:gdLst/>
              <a:ahLst/>
              <a:cxnLst/>
              <a:rect l="l" t="t" r="r" b="b"/>
              <a:pathLst>
                <a:path w="165735" h="189865">
                  <a:moveTo>
                    <a:pt x="106752" y="48415"/>
                  </a:moveTo>
                  <a:lnTo>
                    <a:pt x="165193" y="24207"/>
                  </a:lnTo>
                  <a:lnTo>
                    <a:pt x="106752" y="0"/>
                  </a:lnTo>
                  <a:lnTo>
                    <a:pt x="106752" y="48415"/>
                  </a:lnTo>
                  <a:close/>
                </a:path>
                <a:path w="165735" h="189865">
                  <a:moveTo>
                    <a:pt x="0" y="24207"/>
                  </a:moveTo>
                  <a:lnTo>
                    <a:pt x="0" y="189404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67400" y="1139718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48419" y="0"/>
                  </a:moveTo>
                  <a:lnTo>
                    <a:pt x="0" y="0"/>
                  </a:lnTo>
                  <a:lnTo>
                    <a:pt x="24209" y="58446"/>
                  </a:lnTo>
                  <a:lnTo>
                    <a:pt x="48419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67400" y="1139718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0" y="0"/>
                  </a:moveTo>
                  <a:lnTo>
                    <a:pt x="24209" y="58446"/>
                  </a:lnTo>
                  <a:lnTo>
                    <a:pt x="48419" y="0"/>
                  </a:lnTo>
                  <a:lnTo>
                    <a:pt x="0" y="0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6588" y="1521014"/>
              <a:ext cx="265557" cy="23502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122241" y="1147611"/>
              <a:ext cx="309245" cy="501015"/>
            </a:xfrm>
            <a:custGeom>
              <a:avLst/>
              <a:gdLst/>
              <a:ahLst/>
              <a:cxnLst/>
              <a:rect l="l" t="t" r="r" b="b"/>
              <a:pathLst>
                <a:path w="309244" h="501014">
                  <a:moveTo>
                    <a:pt x="308968" y="500402"/>
                  </a:moveTo>
                  <a:lnTo>
                    <a:pt x="181968" y="500402"/>
                  </a:lnTo>
                  <a:lnTo>
                    <a:pt x="0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19463" y="1147611"/>
              <a:ext cx="45720" cy="63500"/>
            </a:xfrm>
            <a:custGeom>
              <a:avLst/>
              <a:gdLst/>
              <a:ahLst/>
              <a:cxnLst/>
              <a:rect l="l" t="t" r="r" b="b"/>
              <a:pathLst>
                <a:path w="45719" h="63500">
                  <a:moveTo>
                    <a:pt x="2778" y="0"/>
                  </a:moveTo>
                  <a:lnTo>
                    <a:pt x="0" y="63197"/>
                  </a:lnTo>
                  <a:lnTo>
                    <a:pt x="45502" y="46651"/>
                  </a:lnTo>
                  <a:lnTo>
                    <a:pt x="2778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19463" y="1147611"/>
              <a:ext cx="45720" cy="63500"/>
            </a:xfrm>
            <a:custGeom>
              <a:avLst/>
              <a:gdLst/>
              <a:ahLst/>
              <a:cxnLst/>
              <a:rect l="l" t="t" r="r" b="b"/>
              <a:pathLst>
                <a:path w="45719" h="63500">
                  <a:moveTo>
                    <a:pt x="45502" y="46651"/>
                  </a:moveTo>
                  <a:lnTo>
                    <a:pt x="2778" y="0"/>
                  </a:lnTo>
                  <a:lnTo>
                    <a:pt x="0" y="63197"/>
                  </a:lnTo>
                  <a:lnTo>
                    <a:pt x="45502" y="46651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56588" y="2066233"/>
              <a:ext cx="241347" cy="16386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080552" y="1154931"/>
              <a:ext cx="351155" cy="1045210"/>
            </a:xfrm>
            <a:custGeom>
              <a:avLst/>
              <a:gdLst/>
              <a:ahLst/>
              <a:cxnLst/>
              <a:rect l="l" t="t" r="r" b="b"/>
              <a:pathLst>
                <a:path w="351155" h="1045210">
                  <a:moveTo>
                    <a:pt x="350662" y="1044628"/>
                  </a:moveTo>
                  <a:lnTo>
                    <a:pt x="0" y="1044628"/>
                  </a:lnTo>
                  <a:lnTo>
                    <a:pt x="0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56342" y="1154931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24210" y="0"/>
                  </a:moveTo>
                  <a:lnTo>
                    <a:pt x="0" y="58448"/>
                  </a:lnTo>
                  <a:lnTo>
                    <a:pt x="48421" y="58448"/>
                  </a:lnTo>
                  <a:lnTo>
                    <a:pt x="2421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56342" y="1154931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48421" y="58448"/>
                  </a:moveTo>
                  <a:lnTo>
                    <a:pt x="24210" y="0"/>
                  </a:lnTo>
                  <a:lnTo>
                    <a:pt x="0" y="58448"/>
                  </a:lnTo>
                  <a:lnTo>
                    <a:pt x="48421" y="58448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603684" y="928645"/>
            <a:ext cx="18230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29105" algn="l"/>
              </a:tabLst>
            </a:pPr>
            <a:r>
              <a:rPr sz="1100" i="1" spc="65" dirty="0">
                <a:latin typeface="Georgia"/>
                <a:cs typeface="Georgia"/>
              </a:rPr>
              <a:t>X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i="1" spc="-50" dirty="0">
                <a:latin typeface="Georgia"/>
                <a:cs typeface="Georgia"/>
              </a:rPr>
              <a:t>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25" name="object 25"/>
          <p:cNvSpPr txBox="1"/>
          <p:nvPr/>
        </p:nvSpPr>
        <p:spPr>
          <a:xfrm>
            <a:off x="366877" y="2520086"/>
            <a:ext cx="156273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dirty="0">
                <a:latin typeface="Georgia"/>
                <a:cs typeface="Georgia"/>
              </a:rPr>
              <a:t>Y</a:t>
            </a:r>
            <a:r>
              <a:rPr sz="1100" i="1" spc="315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45" dirty="0">
                <a:latin typeface="Palatino Linotype"/>
                <a:cs typeface="Palatino Linotype"/>
              </a:rPr>
              <a:t> </a:t>
            </a:r>
            <a:r>
              <a:rPr sz="1100" i="1" spc="114" dirty="0">
                <a:latin typeface="Georgia"/>
                <a:cs typeface="Georgia"/>
              </a:rPr>
              <a:t>X</a:t>
            </a:r>
            <a:r>
              <a:rPr sz="1100" i="1" spc="85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1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6</a:t>
            </a:r>
            <a:r>
              <a:rPr sz="1100" i="1" dirty="0">
                <a:latin typeface="Times New Roman"/>
                <a:cs typeface="Times New Roman"/>
              </a:rPr>
              <a:t>R</a:t>
            </a:r>
            <a:r>
              <a:rPr sz="1100" i="1" dirty="0">
                <a:latin typeface="Georgia"/>
                <a:cs typeface="Georgia"/>
              </a:rPr>
              <a:t>Y</a:t>
            </a:r>
            <a:r>
              <a:rPr sz="1100" i="1" spc="250" dirty="0">
                <a:latin typeface="Georgia"/>
                <a:cs typeface="Georgia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Palatino Linotype"/>
                <a:cs typeface="Palatino Linotype"/>
              </a:rPr>
              <a:t>0</a:t>
            </a:r>
            <a:r>
              <a:rPr sz="1100" i="1" spc="-20" dirty="0">
                <a:latin typeface="Georgia"/>
                <a:cs typeface="Georgia"/>
              </a:rPr>
              <a:t>.</a:t>
            </a:r>
            <a:r>
              <a:rPr sz="1100" spc="-20" dirty="0">
                <a:latin typeface="Palatino Linotype"/>
                <a:cs typeface="Palatino Linotype"/>
              </a:rPr>
              <a:t>63</a:t>
            </a:r>
            <a:r>
              <a:rPr sz="1100" i="1" spc="-20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78126" y="2462618"/>
            <a:ext cx="2222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Palatino Linotype"/>
                <a:cs typeface="Palatino Linotype"/>
              </a:rPr>
              <a:t>2</a:t>
            </a:r>
            <a:r>
              <a:rPr sz="1650" i="1" spc="-37" baseline="-22727" dirty="0">
                <a:latin typeface="Georgia"/>
                <a:cs typeface="Georgia"/>
              </a:rPr>
              <a:t>Y</a:t>
            </a:r>
            <a:endParaRPr sz="1650" baseline="-22727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91983" y="2721775"/>
            <a:ext cx="844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6836" y="2753907"/>
            <a:ext cx="17056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Palatino Linotype"/>
                <a:cs typeface="Palatino Linotype"/>
              </a:rPr>
              <a:t>(1</a:t>
            </a:r>
            <a:r>
              <a:rPr sz="1100" spc="-1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Palatino Linotype"/>
                <a:cs typeface="Palatino Linotype"/>
              </a:rPr>
              <a:t>1</a:t>
            </a:r>
            <a:r>
              <a:rPr sz="1100" i="1" spc="55" dirty="0">
                <a:latin typeface="Georgia"/>
                <a:cs typeface="Georgia"/>
              </a:rPr>
              <a:t>.</a:t>
            </a:r>
            <a:r>
              <a:rPr sz="1100" spc="55" dirty="0">
                <a:latin typeface="Palatino Linotype"/>
                <a:cs typeface="Palatino Linotype"/>
              </a:rPr>
              <a:t>6</a:t>
            </a:r>
            <a:r>
              <a:rPr sz="1100" i="1" spc="55" dirty="0">
                <a:latin typeface="Times New Roman"/>
                <a:cs typeface="Times New Roman"/>
              </a:rPr>
              <a:t>R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1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63</a:t>
            </a:r>
            <a:r>
              <a:rPr sz="1100" i="1" dirty="0">
                <a:latin typeface="Times New Roman"/>
                <a:cs typeface="Times New Roman"/>
              </a:rPr>
              <a:t>R</a:t>
            </a:r>
            <a:r>
              <a:rPr sz="1100" i="1" spc="290" dirty="0">
                <a:latin typeface="Times New Roman"/>
                <a:cs typeface="Times New Roman"/>
              </a:rPr>
              <a:t> </a:t>
            </a:r>
            <a:r>
              <a:rPr sz="1100" spc="60" dirty="0">
                <a:latin typeface="Palatino Linotype"/>
                <a:cs typeface="Palatino Linotype"/>
              </a:rPr>
              <a:t>)</a:t>
            </a:r>
            <a:r>
              <a:rPr sz="1100" spc="-7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Y</a:t>
            </a:r>
            <a:r>
              <a:rPr sz="1100" i="1" spc="335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55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Georgia"/>
                <a:cs typeface="Georgia"/>
              </a:rPr>
              <a:t>X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6877" y="3010979"/>
            <a:ext cx="1748789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Palatino Linotype"/>
                <a:cs typeface="Palatino Linotype"/>
                <a:hlinkClick r:id="rId5" action="ppaction://hlinksldjump"/>
              </a:rPr>
              <a:t>(1</a:t>
            </a:r>
            <a:r>
              <a:rPr sz="1100" spc="-30" dirty="0">
                <a:latin typeface="Palatino Linotype"/>
                <a:cs typeface="Palatino Linotype"/>
                <a:hlinkClick r:id="rId5" action="ppaction://hlinksldjump"/>
              </a:rPr>
              <a:t> </a:t>
            </a:r>
            <a:r>
              <a:rPr sz="1100" i="1" spc="110" dirty="0">
                <a:latin typeface="Times New Roman"/>
                <a:cs typeface="Times New Roman"/>
                <a:hlinkClick r:id="rId5" action="ppaction://hlinksldjump"/>
              </a:rPr>
              <a:t>−</a:t>
            </a:r>
            <a:r>
              <a:rPr sz="1100" i="1" spc="-25" dirty="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100" spc="45" dirty="0">
                <a:latin typeface="Palatino Linotype"/>
                <a:cs typeface="Palatino Linotype"/>
                <a:hlinkClick r:id="rId5" action="ppaction://hlinksldjump"/>
              </a:rPr>
              <a:t>0</a:t>
            </a:r>
            <a:r>
              <a:rPr sz="1100" i="1" spc="45" dirty="0">
                <a:latin typeface="Georgia"/>
                <a:cs typeface="Georgia"/>
                <a:hlinkClick r:id="rId5" action="ppaction://hlinksldjump"/>
              </a:rPr>
              <a:t>.</a:t>
            </a:r>
            <a:r>
              <a:rPr sz="1100" spc="45" dirty="0">
                <a:latin typeface="Palatino Linotype"/>
                <a:cs typeface="Palatino Linotype"/>
                <a:hlinkClick r:id="rId5" action="ppaction://hlinksldjump"/>
              </a:rPr>
              <a:t>7</a:t>
            </a:r>
            <a:r>
              <a:rPr sz="1100" i="1" spc="45" dirty="0">
                <a:latin typeface="Times New Roman"/>
                <a:cs typeface="Times New Roman"/>
                <a:hlinkClick r:id="rId5" action="ppaction://hlinksldjump"/>
              </a:rPr>
              <a:t>R</a:t>
            </a:r>
            <a:r>
              <a:rPr sz="1100" spc="45" dirty="0">
                <a:latin typeface="Palatino Linotype"/>
                <a:cs typeface="Palatino Linotype"/>
                <a:hlinkClick r:id="rId5" action="ppaction://hlinksldjump"/>
              </a:rPr>
              <a:t>)(1</a:t>
            </a:r>
            <a:r>
              <a:rPr sz="1100" spc="-30" dirty="0">
                <a:latin typeface="Palatino Linotype"/>
                <a:cs typeface="Palatino Linotype"/>
                <a:hlinkClick r:id="rId5" action="ppaction://hlinksldjump"/>
              </a:rPr>
              <a:t> </a:t>
            </a:r>
            <a:r>
              <a:rPr sz="1100" i="1" spc="110" dirty="0">
                <a:latin typeface="Times New Roman"/>
                <a:cs typeface="Times New Roman"/>
                <a:hlinkClick r:id="rId5" action="ppaction://hlinksldjump"/>
              </a:rPr>
              <a:t>−</a:t>
            </a:r>
            <a:r>
              <a:rPr sz="1100" i="1" spc="-25" dirty="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100" spc="55" dirty="0">
                <a:latin typeface="Palatino Linotype"/>
                <a:cs typeface="Palatino Linotype"/>
                <a:hlinkClick r:id="rId5" action="ppaction://hlinksldjump"/>
              </a:rPr>
              <a:t>0</a:t>
            </a:r>
            <a:r>
              <a:rPr sz="1100" i="1" spc="55" dirty="0">
                <a:latin typeface="Georgia"/>
                <a:cs typeface="Georgia"/>
                <a:hlinkClick r:id="rId5" action="ppaction://hlinksldjump"/>
              </a:rPr>
              <a:t>.</a:t>
            </a:r>
            <a:r>
              <a:rPr sz="1100" spc="55" dirty="0">
                <a:latin typeface="Palatino Linotype"/>
                <a:cs typeface="Palatino Linotype"/>
                <a:hlinkClick r:id="rId5" action="ppaction://hlinksldjump"/>
              </a:rPr>
              <a:t>9</a:t>
            </a:r>
            <a:r>
              <a:rPr sz="1100" i="1" spc="55" dirty="0">
                <a:latin typeface="Times New Roman"/>
                <a:cs typeface="Times New Roman"/>
                <a:hlinkClick r:id="rId5" action="ppaction://hlinksldjump"/>
              </a:rPr>
              <a:t>R</a:t>
            </a:r>
            <a:r>
              <a:rPr sz="1100" spc="55" dirty="0">
                <a:latin typeface="Palatino Linotype"/>
                <a:cs typeface="Palatino Linotype"/>
                <a:hlinkClick r:id="rId5" action="ppaction://hlinksldjump"/>
              </a:rPr>
              <a:t>)</a:t>
            </a:r>
            <a:r>
              <a:rPr sz="1100" spc="-90" dirty="0">
                <a:latin typeface="Palatino Linotype"/>
                <a:cs typeface="Palatino Linotype"/>
                <a:hlinkClick r:id="rId5" action="ppaction://hlinksldjump"/>
              </a:rPr>
              <a:t> </a:t>
            </a:r>
            <a:r>
              <a:rPr sz="1100" i="1" dirty="0">
                <a:latin typeface="Georgia"/>
                <a:cs typeface="Georgia"/>
                <a:hlinkClick r:id="rId5" action="ppaction://hlinksldjump"/>
              </a:rPr>
              <a:t>Y</a:t>
            </a:r>
            <a:r>
              <a:rPr sz="1100" i="1" spc="295" dirty="0"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1100" spc="300" dirty="0">
                <a:latin typeface="Palatino Linotype"/>
                <a:cs typeface="Palatino Linotype"/>
                <a:hlinkClick r:id="rId5" action="ppaction://hlinksldjump"/>
              </a:rPr>
              <a:t>=</a:t>
            </a:r>
            <a:r>
              <a:rPr sz="1100" spc="35" dirty="0">
                <a:latin typeface="Palatino Linotype"/>
                <a:cs typeface="Palatino Linotype"/>
                <a:hlinkClick r:id="rId5" action="ppaction://hlinksldjump"/>
              </a:rPr>
              <a:t> </a:t>
            </a:r>
            <a:r>
              <a:rPr sz="1100" i="1" spc="65" dirty="0">
                <a:latin typeface="Georgia"/>
                <a:cs typeface="Georgia"/>
                <a:hlinkClick r:id="rId5" action="ppaction://hlinksldjump"/>
              </a:rPr>
              <a:t>X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0" dirty="0"/>
              <a:t>Factoring</a:t>
            </a:r>
            <a:r>
              <a:rPr spc="240" dirty="0"/>
              <a:t> </a:t>
            </a:r>
            <a:r>
              <a:rPr spc="105" dirty="0"/>
              <a:t>Second-</a:t>
            </a:r>
            <a:r>
              <a:rPr spc="100" dirty="0"/>
              <a:t>Order</a:t>
            </a:r>
            <a:r>
              <a:rPr spc="235" dirty="0"/>
              <a:t> </a:t>
            </a:r>
            <a:r>
              <a:rPr spc="7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830" y="306666"/>
            <a:ext cx="4608830" cy="508634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100" spc="120" dirty="0">
                <a:latin typeface="Arial"/>
                <a:cs typeface="Arial"/>
              </a:rPr>
              <a:t>The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factored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spc="95" dirty="0">
                <a:latin typeface="Arial"/>
                <a:cs typeface="Arial"/>
              </a:rPr>
              <a:t>form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corresponds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spc="130" dirty="0">
                <a:latin typeface="Arial"/>
                <a:cs typeface="Arial"/>
              </a:rPr>
              <a:t>to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a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cascade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simpler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systems.</a:t>
            </a:r>
            <a:endParaRPr sz="11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585"/>
              </a:spcBef>
            </a:pPr>
            <a:r>
              <a:rPr sz="1100" dirty="0">
                <a:latin typeface="Palatino Linotype"/>
                <a:cs typeface="Palatino Linotype"/>
              </a:rPr>
              <a:t>(1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25" dirty="0">
                <a:latin typeface="Times New Roman"/>
                <a:cs typeface="Times New Roman"/>
              </a:rPr>
              <a:t> </a:t>
            </a:r>
            <a:r>
              <a:rPr sz="1100" spc="45" dirty="0">
                <a:latin typeface="Palatino Linotype"/>
                <a:cs typeface="Palatino Linotype"/>
              </a:rPr>
              <a:t>0</a:t>
            </a:r>
            <a:r>
              <a:rPr sz="1100" i="1" spc="45" dirty="0">
                <a:latin typeface="Georgia"/>
                <a:cs typeface="Georgia"/>
              </a:rPr>
              <a:t>.</a:t>
            </a:r>
            <a:r>
              <a:rPr sz="1100" spc="45" dirty="0">
                <a:latin typeface="Palatino Linotype"/>
                <a:cs typeface="Palatino Linotype"/>
              </a:rPr>
              <a:t>7</a:t>
            </a:r>
            <a:r>
              <a:rPr sz="1100" i="1" spc="45" dirty="0">
                <a:latin typeface="Times New Roman"/>
                <a:cs typeface="Times New Roman"/>
              </a:rPr>
              <a:t>R</a:t>
            </a:r>
            <a:r>
              <a:rPr sz="1100" spc="45" dirty="0">
                <a:latin typeface="Palatino Linotype"/>
                <a:cs typeface="Palatino Linotype"/>
              </a:rPr>
              <a:t>)(1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2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Palatino Linotype"/>
                <a:cs typeface="Palatino Linotype"/>
              </a:rPr>
              <a:t>0</a:t>
            </a:r>
            <a:r>
              <a:rPr sz="1100" i="1" spc="55" dirty="0">
                <a:latin typeface="Georgia"/>
                <a:cs typeface="Georgia"/>
              </a:rPr>
              <a:t>.</a:t>
            </a:r>
            <a:r>
              <a:rPr sz="1100" spc="55" dirty="0">
                <a:latin typeface="Palatino Linotype"/>
                <a:cs typeface="Palatino Linotype"/>
              </a:rPr>
              <a:t>9</a:t>
            </a:r>
            <a:r>
              <a:rPr sz="1100" i="1" spc="55" dirty="0">
                <a:latin typeface="Times New Roman"/>
                <a:cs typeface="Times New Roman"/>
              </a:rPr>
              <a:t>R</a:t>
            </a:r>
            <a:r>
              <a:rPr sz="1100" spc="55" dirty="0">
                <a:latin typeface="Palatino Linotype"/>
                <a:cs typeface="Palatino Linotype"/>
              </a:rPr>
              <a:t>)</a:t>
            </a:r>
            <a:r>
              <a:rPr sz="1100" spc="-9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Y</a:t>
            </a:r>
            <a:r>
              <a:rPr sz="1100" i="1" spc="295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35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Georgia"/>
                <a:cs typeface="Georgia"/>
              </a:rPr>
              <a:t>X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7911" y="875104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46260" y="875104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48209" y="1097417"/>
            <a:ext cx="320675" cy="297815"/>
          </a:xfrm>
          <a:custGeom>
            <a:avLst/>
            <a:gdLst/>
            <a:ahLst/>
            <a:cxnLst/>
            <a:rect l="l" t="t" r="r" b="b"/>
            <a:pathLst>
              <a:path w="320675" h="297815">
                <a:moveTo>
                  <a:pt x="0" y="297545"/>
                </a:moveTo>
                <a:lnTo>
                  <a:pt x="320394" y="297545"/>
                </a:lnTo>
                <a:lnTo>
                  <a:pt x="320394" y="0"/>
                </a:lnTo>
                <a:lnTo>
                  <a:pt x="0" y="0"/>
                </a:lnTo>
                <a:lnTo>
                  <a:pt x="0" y="297545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46577" y="1097417"/>
            <a:ext cx="320675" cy="297815"/>
          </a:xfrm>
          <a:custGeom>
            <a:avLst/>
            <a:gdLst/>
            <a:ahLst/>
            <a:cxnLst/>
            <a:rect l="l" t="t" r="r" b="b"/>
            <a:pathLst>
              <a:path w="320675" h="297815">
                <a:moveTo>
                  <a:pt x="0" y="297545"/>
                </a:moveTo>
                <a:lnTo>
                  <a:pt x="320394" y="297545"/>
                </a:lnTo>
                <a:lnTo>
                  <a:pt x="320394" y="0"/>
                </a:lnTo>
                <a:lnTo>
                  <a:pt x="0" y="0"/>
                </a:lnTo>
                <a:lnTo>
                  <a:pt x="0" y="297545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927580" y="889206"/>
            <a:ext cx="3201670" cy="575310"/>
            <a:chOff x="927580" y="889206"/>
            <a:chExt cx="3201670" cy="575310"/>
          </a:xfrm>
        </p:grpSpPr>
        <p:sp>
          <p:nvSpPr>
            <p:cNvPr id="9" name="object 9"/>
            <p:cNvSpPr/>
            <p:nvPr/>
          </p:nvSpPr>
          <p:spPr>
            <a:xfrm>
              <a:off x="1118080" y="895532"/>
              <a:ext cx="2138045" cy="562610"/>
            </a:xfrm>
            <a:custGeom>
              <a:avLst/>
              <a:gdLst/>
              <a:ahLst/>
              <a:cxnLst/>
              <a:rect l="l" t="t" r="r" b="b"/>
              <a:pathLst>
                <a:path w="2138045" h="562610">
                  <a:moveTo>
                    <a:pt x="287157" y="350657"/>
                  </a:moveTo>
                  <a:lnTo>
                    <a:pt x="639630" y="562143"/>
                  </a:lnTo>
                  <a:lnTo>
                    <a:pt x="639630" y="139171"/>
                  </a:lnTo>
                  <a:lnTo>
                    <a:pt x="287157" y="350657"/>
                  </a:lnTo>
                  <a:close/>
                </a:path>
                <a:path w="2138045" h="562610">
                  <a:moveTo>
                    <a:pt x="1785524" y="350657"/>
                  </a:moveTo>
                  <a:lnTo>
                    <a:pt x="2137997" y="562143"/>
                  </a:lnTo>
                  <a:lnTo>
                    <a:pt x="2137997" y="139171"/>
                  </a:lnTo>
                  <a:lnTo>
                    <a:pt x="1785524" y="350657"/>
                  </a:lnTo>
                  <a:close/>
                </a:path>
                <a:path w="2138045" h="562610">
                  <a:moveTo>
                    <a:pt x="193314" y="96657"/>
                  </a:moveTo>
                  <a:lnTo>
                    <a:pt x="185718" y="59033"/>
                  </a:lnTo>
                  <a:lnTo>
                    <a:pt x="165004" y="28310"/>
                  </a:lnTo>
                  <a:lnTo>
                    <a:pt x="134280" y="7595"/>
                  </a:lnTo>
                  <a:lnTo>
                    <a:pt x="96657" y="0"/>
                  </a:lnTo>
                  <a:lnTo>
                    <a:pt x="59033" y="7595"/>
                  </a:lnTo>
                  <a:lnTo>
                    <a:pt x="28310" y="28310"/>
                  </a:lnTo>
                  <a:lnTo>
                    <a:pt x="7595" y="59033"/>
                  </a:lnTo>
                  <a:lnTo>
                    <a:pt x="0" y="96657"/>
                  </a:lnTo>
                  <a:lnTo>
                    <a:pt x="7595" y="134280"/>
                  </a:lnTo>
                  <a:lnTo>
                    <a:pt x="28310" y="165004"/>
                  </a:lnTo>
                  <a:lnTo>
                    <a:pt x="59033" y="185718"/>
                  </a:lnTo>
                  <a:lnTo>
                    <a:pt x="96657" y="193314"/>
                  </a:lnTo>
                  <a:lnTo>
                    <a:pt x="134280" y="185718"/>
                  </a:lnTo>
                  <a:lnTo>
                    <a:pt x="165004" y="165004"/>
                  </a:lnTo>
                  <a:lnTo>
                    <a:pt x="185718" y="134280"/>
                  </a:lnTo>
                  <a:lnTo>
                    <a:pt x="193314" y="96657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0120" y="889206"/>
              <a:ext cx="205967" cy="20596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27580" y="992190"/>
              <a:ext cx="165735" cy="0"/>
            </a:xfrm>
            <a:custGeom>
              <a:avLst/>
              <a:gdLst/>
              <a:ahLst/>
              <a:cxnLst/>
              <a:rect l="l" t="t" r="r" b="b"/>
              <a:pathLst>
                <a:path w="165734">
                  <a:moveTo>
                    <a:pt x="0" y="0"/>
                  </a:moveTo>
                  <a:lnTo>
                    <a:pt x="165196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4330" y="96798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34330" y="967980"/>
              <a:ext cx="1557020" cy="48895"/>
            </a:xfrm>
            <a:custGeom>
              <a:avLst/>
              <a:gdLst/>
              <a:ahLst/>
              <a:cxnLst/>
              <a:rect l="l" t="t" r="r" b="b"/>
              <a:pathLst>
                <a:path w="1557020" h="48894">
                  <a:moveTo>
                    <a:pt x="0" y="48419"/>
                  </a:moveTo>
                  <a:lnTo>
                    <a:pt x="58446" y="24209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  <a:path w="1557020" h="48894">
                  <a:moveTo>
                    <a:pt x="277064" y="24209"/>
                  </a:moveTo>
                  <a:lnTo>
                    <a:pt x="1556806" y="242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32684" y="967977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24"/>
                  </a:lnTo>
                  <a:lnTo>
                    <a:pt x="58452" y="242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93908" y="967977"/>
              <a:ext cx="297815" cy="278765"/>
            </a:xfrm>
            <a:custGeom>
              <a:avLst/>
              <a:gdLst/>
              <a:ahLst/>
              <a:cxnLst/>
              <a:rect l="l" t="t" r="r" b="b"/>
              <a:pathLst>
                <a:path w="297814" h="278765">
                  <a:moveTo>
                    <a:pt x="238776" y="48424"/>
                  </a:moveTo>
                  <a:lnTo>
                    <a:pt x="297228" y="24212"/>
                  </a:lnTo>
                  <a:lnTo>
                    <a:pt x="238776" y="0"/>
                  </a:lnTo>
                  <a:lnTo>
                    <a:pt x="238776" y="48424"/>
                  </a:lnTo>
                  <a:close/>
                </a:path>
                <a:path w="297814" h="278765">
                  <a:moveTo>
                    <a:pt x="165196" y="24212"/>
                  </a:moveTo>
                  <a:lnTo>
                    <a:pt x="165196" y="278212"/>
                  </a:lnTo>
                  <a:lnTo>
                    <a:pt x="0" y="278212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93908" y="122198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5" y="0"/>
                  </a:moveTo>
                  <a:lnTo>
                    <a:pt x="0" y="24209"/>
                  </a:lnTo>
                  <a:lnTo>
                    <a:pt x="58445" y="48419"/>
                  </a:lnTo>
                  <a:lnTo>
                    <a:pt x="58445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83013" y="1221980"/>
              <a:ext cx="569595" cy="48895"/>
            </a:xfrm>
            <a:custGeom>
              <a:avLst/>
              <a:gdLst/>
              <a:ahLst/>
              <a:cxnLst/>
              <a:rect l="l" t="t" r="r" b="b"/>
              <a:pathLst>
                <a:path w="569594" h="48894">
                  <a:moveTo>
                    <a:pt x="569340" y="0"/>
                  </a:moveTo>
                  <a:lnTo>
                    <a:pt x="510894" y="24209"/>
                  </a:lnTo>
                  <a:lnTo>
                    <a:pt x="569340" y="48419"/>
                  </a:lnTo>
                  <a:lnTo>
                    <a:pt x="569340" y="0"/>
                  </a:lnTo>
                  <a:close/>
                </a:path>
                <a:path w="569594" h="48894">
                  <a:moveTo>
                    <a:pt x="165196" y="24209"/>
                  </a:moveTo>
                  <a:lnTo>
                    <a:pt x="0" y="242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83013" y="122198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83013" y="122198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4200" y="1107826"/>
              <a:ext cx="227362" cy="14469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809761" y="992190"/>
              <a:ext cx="1313180" cy="0"/>
            </a:xfrm>
            <a:custGeom>
              <a:avLst/>
              <a:gdLst/>
              <a:ahLst/>
              <a:cxnLst/>
              <a:rect l="l" t="t" r="r" b="b"/>
              <a:pathLst>
                <a:path w="1313179">
                  <a:moveTo>
                    <a:pt x="0" y="0"/>
                  </a:moveTo>
                  <a:lnTo>
                    <a:pt x="1312910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64222" y="967978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22"/>
                  </a:lnTo>
                  <a:lnTo>
                    <a:pt x="58449" y="242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792275" y="967978"/>
              <a:ext cx="330835" cy="278765"/>
            </a:xfrm>
            <a:custGeom>
              <a:avLst/>
              <a:gdLst/>
              <a:ahLst/>
              <a:cxnLst/>
              <a:rect l="l" t="t" r="r" b="b"/>
              <a:pathLst>
                <a:path w="330835" h="278765">
                  <a:moveTo>
                    <a:pt x="271947" y="48422"/>
                  </a:moveTo>
                  <a:lnTo>
                    <a:pt x="330396" y="24211"/>
                  </a:lnTo>
                  <a:lnTo>
                    <a:pt x="271947" y="0"/>
                  </a:lnTo>
                  <a:lnTo>
                    <a:pt x="271947" y="48422"/>
                  </a:lnTo>
                  <a:close/>
                </a:path>
                <a:path w="330835" h="278765">
                  <a:moveTo>
                    <a:pt x="165196" y="24211"/>
                  </a:moveTo>
                  <a:lnTo>
                    <a:pt x="165196" y="278211"/>
                  </a:lnTo>
                  <a:lnTo>
                    <a:pt x="0" y="278211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92275" y="122198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81380" y="1221980"/>
              <a:ext cx="569595" cy="48895"/>
            </a:xfrm>
            <a:custGeom>
              <a:avLst/>
              <a:gdLst/>
              <a:ahLst/>
              <a:cxnLst/>
              <a:rect l="l" t="t" r="r" b="b"/>
              <a:pathLst>
                <a:path w="569595" h="48894">
                  <a:moveTo>
                    <a:pt x="569340" y="0"/>
                  </a:moveTo>
                  <a:lnTo>
                    <a:pt x="510894" y="24209"/>
                  </a:lnTo>
                  <a:lnTo>
                    <a:pt x="569340" y="48419"/>
                  </a:lnTo>
                  <a:lnTo>
                    <a:pt x="569340" y="0"/>
                  </a:lnTo>
                  <a:close/>
                </a:path>
                <a:path w="569595" h="48894">
                  <a:moveTo>
                    <a:pt x="165196" y="24209"/>
                  </a:moveTo>
                  <a:lnTo>
                    <a:pt x="0" y="242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81380" y="122198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81380" y="122198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2568" y="1107826"/>
              <a:ext cx="227362" cy="14469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737857" y="887863"/>
            <a:ext cx="1409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65" dirty="0">
                <a:latin typeface="Georgia"/>
                <a:cs typeface="Georgia"/>
              </a:rPr>
              <a:t>X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86094" y="887863"/>
            <a:ext cx="10668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48167" y="765400"/>
            <a:ext cx="21590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spc="-25" dirty="0">
                <a:latin typeface="Georgia"/>
                <a:cs typeface="Georgia"/>
              </a:rPr>
              <a:t>Y</a:t>
            </a:r>
            <a:r>
              <a:rPr sz="1350" spc="-37" baseline="-12345" dirty="0">
                <a:latin typeface="Palatino Linotype"/>
                <a:cs typeface="Palatino Linotype"/>
              </a:rPr>
              <a:t>2</a:t>
            </a:r>
            <a:endParaRPr sz="1350" baseline="-12345">
              <a:latin typeface="Palatino Linotype"/>
              <a:cs typeface="Palatino Linotyp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56626" y="1141860"/>
            <a:ext cx="1215390" cy="585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95"/>
              </a:spcBef>
              <a:tabLst>
                <a:tab pos="792480" algn="l"/>
              </a:tabLst>
            </a:pPr>
            <a:r>
              <a:rPr sz="1650" spc="-37" baseline="2525" dirty="0">
                <a:latin typeface="Palatino Linotype"/>
                <a:cs typeface="Palatino Linotype"/>
              </a:rPr>
              <a:t>0</a:t>
            </a:r>
            <a:r>
              <a:rPr sz="1650" i="1" spc="-37" baseline="2525" dirty="0">
                <a:latin typeface="Georgia"/>
                <a:cs typeface="Georgia"/>
              </a:rPr>
              <a:t>.</a:t>
            </a:r>
            <a:r>
              <a:rPr sz="1650" spc="-37" baseline="2525" dirty="0">
                <a:latin typeface="Palatino Linotype"/>
                <a:cs typeface="Palatino Linotype"/>
              </a:rPr>
              <a:t>7</a:t>
            </a:r>
            <a:r>
              <a:rPr sz="1650" baseline="2525" dirty="0">
                <a:latin typeface="Palatino Linotype"/>
                <a:cs typeface="Palatino Linotype"/>
              </a:rPr>
              <a:t>	</a:t>
            </a: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1100" dirty="0">
                <a:latin typeface="Palatino Linotype"/>
                <a:cs typeface="Palatino Linotype"/>
              </a:rPr>
              <a:t>(1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Palatino Linotype"/>
                <a:cs typeface="Palatino Linotype"/>
              </a:rPr>
              <a:t>0</a:t>
            </a:r>
            <a:r>
              <a:rPr sz="1100" i="1" spc="55" dirty="0">
                <a:latin typeface="Georgia"/>
                <a:cs typeface="Georgia"/>
              </a:rPr>
              <a:t>.</a:t>
            </a:r>
            <a:r>
              <a:rPr sz="1100" spc="55" dirty="0">
                <a:latin typeface="Palatino Linotype"/>
                <a:cs typeface="Palatino Linotype"/>
              </a:rPr>
              <a:t>7</a:t>
            </a:r>
            <a:r>
              <a:rPr sz="1100" i="1" spc="55" dirty="0">
                <a:latin typeface="Times New Roman"/>
                <a:cs typeface="Times New Roman"/>
              </a:rPr>
              <a:t>R</a:t>
            </a:r>
            <a:r>
              <a:rPr sz="1100" spc="55" dirty="0">
                <a:latin typeface="Palatino Linotype"/>
                <a:cs typeface="Palatino Linotype"/>
              </a:rPr>
              <a:t>)</a:t>
            </a:r>
            <a:r>
              <a:rPr sz="1100" spc="-8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Y</a:t>
            </a:r>
            <a:r>
              <a:rPr sz="1350" baseline="-12345" dirty="0">
                <a:latin typeface="Palatino Linotype"/>
                <a:cs typeface="Palatino Linotype"/>
              </a:rPr>
              <a:t>2</a:t>
            </a:r>
            <a:r>
              <a:rPr sz="1350" spc="202" baseline="-1234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30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Georgia"/>
                <a:cs typeface="Georgia"/>
              </a:rPr>
              <a:t>X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729027" y="1141860"/>
            <a:ext cx="1205230" cy="585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0515">
              <a:lnSpc>
                <a:spcPct val="100000"/>
              </a:lnSpc>
              <a:spcBef>
                <a:spcPts val="95"/>
              </a:spcBef>
              <a:tabLst>
                <a:tab pos="818515" algn="l"/>
              </a:tabLst>
            </a:pPr>
            <a:r>
              <a:rPr sz="1650" spc="-37" baseline="2525" dirty="0">
                <a:latin typeface="Palatino Linotype"/>
                <a:cs typeface="Palatino Linotype"/>
              </a:rPr>
              <a:t>0</a:t>
            </a:r>
            <a:r>
              <a:rPr sz="1650" i="1" spc="-37" baseline="2525" dirty="0">
                <a:latin typeface="Georgia"/>
                <a:cs typeface="Georgia"/>
              </a:rPr>
              <a:t>.</a:t>
            </a:r>
            <a:r>
              <a:rPr sz="1650" spc="-37" baseline="2525" dirty="0">
                <a:latin typeface="Palatino Linotype"/>
                <a:cs typeface="Palatino Linotype"/>
              </a:rPr>
              <a:t>9</a:t>
            </a:r>
            <a:r>
              <a:rPr sz="1650" baseline="2525" dirty="0">
                <a:latin typeface="Palatino Linotype"/>
                <a:cs typeface="Palatino Linotype"/>
              </a:rPr>
              <a:t>	</a:t>
            </a: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1100" dirty="0">
                <a:latin typeface="Palatino Linotype"/>
                <a:cs typeface="Palatino Linotype"/>
              </a:rPr>
              <a:t>(1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Palatino Linotype"/>
                <a:cs typeface="Palatino Linotype"/>
              </a:rPr>
              <a:t>0</a:t>
            </a:r>
            <a:r>
              <a:rPr sz="1100" i="1" spc="55" dirty="0">
                <a:latin typeface="Georgia"/>
                <a:cs typeface="Georgia"/>
              </a:rPr>
              <a:t>.</a:t>
            </a:r>
            <a:r>
              <a:rPr sz="1100" spc="55" dirty="0">
                <a:latin typeface="Palatino Linotype"/>
                <a:cs typeface="Palatino Linotype"/>
              </a:rPr>
              <a:t>9</a:t>
            </a:r>
            <a:r>
              <a:rPr sz="1100" i="1" spc="55" dirty="0">
                <a:latin typeface="Times New Roman"/>
                <a:cs typeface="Times New Roman"/>
              </a:rPr>
              <a:t>R</a:t>
            </a:r>
            <a:r>
              <a:rPr sz="1100" spc="55" dirty="0">
                <a:latin typeface="Palatino Linotype"/>
                <a:cs typeface="Palatino Linotype"/>
              </a:rPr>
              <a:t>)</a:t>
            </a:r>
            <a:r>
              <a:rPr sz="1100" spc="-9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Y</a:t>
            </a:r>
            <a:r>
              <a:rPr sz="1100" i="1" spc="285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35" dirty="0">
                <a:latin typeface="Palatino Linotype"/>
                <a:cs typeface="Palatino Linotype"/>
              </a:rPr>
              <a:t> </a:t>
            </a:r>
            <a:r>
              <a:rPr sz="1100" i="1" spc="-25" dirty="0">
                <a:latin typeface="Georgia"/>
                <a:cs typeface="Georgia"/>
              </a:rPr>
              <a:t>Y</a:t>
            </a:r>
            <a:r>
              <a:rPr sz="1350" spc="-37" baseline="-12345" dirty="0">
                <a:latin typeface="Palatino Linotype"/>
                <a:cs typeface="Palatino Linotype"/>
              </a:rPr>
              <a:t>2</a:t>
            </a:r>
            <a:endParaRPr sz="1350" baseline="-12345">
              <a:latin typeface="Palatino Linotype"/>
              <a:cs typeface="Palatino Linotyp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47911" y="2160409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46260" y="2160409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948209" y="2382722"/>
            <a:ext cx="320675" cy="297815"/>
          </a:xfrm>
          <a:custGeom>
            <a:avLst/>
            <a:gdLst/>
            <a:ahLst/>
            <a:cxnLst/>
            <a:rect l="l" t="t" r="r" b="b"/>
            <a:pathLst>
              <a:path w="320675" h="297814">
                <a:moveTo>
                  <a:pt x="0" y="297545"/>
                </a:moveTo>
                <a:lnTo>
                  <a:pt x="320394" y="297545"/>
                </a:lnTo>
                <a:lnTo>
                  <a:pt x="320394" y="0"/>
                </a:lnTo>
                <a:lnTo>
                  <a:pt x="0" y="0"/>
                </a:lnTo>
                <a:lnTo>
                  <a:pt x="0" y="297545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446577" y="2382722"/>
            <a:ext cx="320675" cy="297815"/>
          </a:xfrm>
          <a:custGeom>
            <a:avLst/>
            <a:gdLst/>
            <a:ahLst/>
            <a:cxnLst/>
            <a:rect l="l" t="t" r="r" b="b"/>
            <a:pathLst>
              <a:path w="320675" h="297814">
                <a:moveTo>
                  <a:pt x="0" y="297545"/>
                </a:moveTo>
                <a:lnTo>
                  <a:pt x="320394" y="297545"/>
                </a:lnTo>
                <a:lnTo>
                  <a:pt x="320394" y="0"/>
                </a:lnTo>
                <a:lnTo>
                  <a:pt x="0" y="0"/>
                </a:lnTo>
                <a:lnTo>
                  <a:pt x="0" y="297545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8" name="object 38"/>
          <p:cNvGrpSpPr/>
          <p:nvPr/>
        </p:nvGrpSpPr>
        <p:grpSpPr>
          <a:xfrm>
            <a:off x="927580" y="2174511"/>
            <a:ext cx="3201670" cy="575310"/>
            <a:chOff x="927580" y="2174511"/>
            <a:chExt cx="3201670" cy="575310"/>
          </a:xfrm>
        </p:grpSpPr>
        <p:sp>
          <p:nvSpPr>
            <p:cNvPr id="39" name="object 39"/>
            <p:cNvSpPr/>
            <p:nvPr/>
          </p:nvSpPr>
          <p:spPr>
            <a:xfrm>
              <a:off x="1118080" y="2180837"/>
              <a:ext cx="2138045" cy="562610"/>
            </a:xfrm>
            <a:custGeom>
              <a:avLst/>
              <a:gdLst/>
              <a:ahLst/>
              <a:cxnLst/>
              <a:rect l="l" t="t" r="r" b="b"/>
              <a:pathLst>
                <a:path w="2138045" h="562610">
                  <a:moveTo>
                    <a:pt x="287157" y="350657"/>
                  </a:moveTo>
                  <a:lnTo>
                    <a:pt x="639630" y="562143"/>
                  </a:lnTo>
                  <a:lnTo>
                    <a:pt x="639630" y="139171"/>
                  </a:lnTo>
                  <a:lnTo>
                    <a:pt x="287157" y="350657"/>
                  </a:lnTo>
                  <a:close/>
                </a:path>
                <a:path w="2138045" h="562610">
                  <a:moveTo>
                    <a:pt x="1785524" y="350657"/>
                  </a:moveTo>
                  <a:lnTo>
                    <a:pt x="2137997" y="562143"/>
                  </a:lnTo>
                  <a:lnTo>
                    <a:pt x="2137997" y="139171"/>
                  </a:lnTo>
                  <a:lnTo>
                    <a:pt x="1785524" y="350657"/>
                  </a:lnTo>
                  <a:close/>
                </a:path>
                <a:path w="2138045" h="562610">
                  <a:moveTo>
                    <a:pt x="193314" y="96657"/>
                  </a:moveTo>
                  <a:lnTo>
                    <a:pt x="185718" y="59033"/>
                  </a:lnTo>
                  <a:lnTo>
                    <a:pt x="165004" y="28310"/>
                  </a:lnTo>
                  <a:lnTo>
                    <a:pt x="134280" y="7595"/>
                  </a:lnTo>
                  <a:lnTo>
                    <a:pt x="96657" y="0"/>
                  </a:lnTo>
                  <a:lnTo>
                    <a:pt x="59033" y="7595"/>
                  </a:lnTo>
                  <a:lnTo>
                    <a:pt x="28310" y="28310"/>
                  </a:lnTo>
                  <a:lnTo>
                    <a:pt x="7595" y="59033"/>
                  </a:lnTo>
                  <a:lnTo>
                    <a:pt x="0" y="96657"/>
                  </a:lnTo>
                  <a:lnTo>
                    <a:pt x="7595" y="134280"/>
                  </a:lnTo>
                  <a:lnTo>
                    <a:pt x="28310" y="165004"/>
                  </a:lnTo>
                  <a:lnTo>
                    <a:pt x="59033" y="185718"/>
                  </a:lnTo>
                  <a:lnTo>
                    <a:pt x="96657" y="193314"/>
                  </a:lnTo>
                  <a:lnTo>
                    <a:pt x="134280" y="185718"/>
                  </a:lnTo>
                  <a:lnTo>
                    <a:pt x="165004" y="165004"/>
                  </a:lnTo>
                  <a:lnTo>
                    <a:pt x="185718" y="134280"/>
                  </a:lnTo>
                  <a:lnTo>
                    <a:pt x="193314" y="96657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0120" y="2174511"/>
              <a:ext cx="205967" cy="20596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927580" y="2277494"/>
              <a:ext cx="165735" cy="0"/>
            </a:xfrm>
            <a:custGeom>
              <a:avLst/>
              <a:gdLst/>
              <a:ahLst/>
              <a:cxnLst/>
              <a:rect l="l" t="t" r="r" b="b"/>
              <a:pathLst>
                <a:path w="165734">
                  <a:moveTo>
                    <a:pt x="0" y="0"/>
                  </a:moveTo>
                  <a:lnTo>
                    <a:pt x="165196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034330" y="2253285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034330" y="2253285"/>
              <a:ext cx="1557020" cy="48895"/>
            </a:xfrm>
            <a:custGeom>
              <a:avLst/>
              <a:gdLst/>
              <a:ahLst/>
              <a:cxnLst/>
              <a:rect l="l" t="t" r="r" b="b"/>
              <a:pathLst>
                <a:path w="1557020" h="48894">
                  <a:moveTo>
                    <a:pt x="0" y="48419"/>
                  </a:moveTo>
                  <a:lnTo>
                    <a:pt x="58446" y="24209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  <a:path w="1557020" h="48894">
                  <a:moveTo>
                    <a:pt x="277064" y="24209"/>
                  </a:moveTo>
                  <a:lnTo>
                    <a:pt x="1556806" y="242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32684" y="2253282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24"/>
                  </a:lnTo>
                  <a:lnTo>
                    <a:pt x="58452" y="242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293908" y="2253282"/>
              <a:ext cx="297815" cy="278765"/>
            </a:xfrm>
            <a:custGeom>
              <a:avLst/>
              <a:gdLst/>
              <a:ahLst/>
              <a:cxnLst/>
              <a:rect l="l" t="t" r="r" b="b"/>
              <a:pathLst>
                <a:path w="297814" h="278764">
                  <a:moveTo>
                    <a:pt x="238776" y="48424"/>
                  </a:moveTo>
                  <a:lnTo>
                    <a:pt x="297228" y="24212"/>
                  </a:lnTo>
                  <a:lnTo>
                    <a:pt x="238776" y="0"/>
                  </a:lnTo>
                  <a:lnTo>
                    <a:pt x="238776" y="48424"/>
                  </a:lnTo>
                  <a:close/>
                </a:path>
                <a:path w="297814" h="278764">
                  <a:moveTo>
                    <a:pt x="165196" y="24212"/>
                  </a:moveTo>
                  <a:lnTo>
                    <a:pt x="165196" y="278212"/>
                  </a:lnTo>
                  <a:lnTo>
                    <a:pt x="0" y="278212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293908" y="2507285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5" y="0"/>
                  </a:moveTo>
                  <a:lnTo>
                    <a:pt x="0" y="24209"/>
                  </a:lnTo>
                  <a:lnTo>
                    <a:pt x="58445" y="48419"/>
                  </a:lnTo>
                  <a:lnTo>
                    <a:pt x="58445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783013" y="2507285"/>
              <a:ext cx="569595" cy="48895"/>
            </a:xfrm>
            <a:custGeom>
              <a:avLst/>
              <a:gdLst/>
              <a:ahLst/>
              <a:cxnLst/>
              <a:rect l="l" t="t" r="r" b="b"/>
              <a:pathLst>
                <a:path w="569594" h="48894">
                  <a:moveTo>
                    <a:pt x="569340" y="0"/>
                  </a:moveTo>
                  <a:lnTo>
                    <a:pt x="510894" y="24209"/>
                  </a:lnTo>
                  <a:lnTo>
                    <a:pt x="569340" y="48419"/>
                  </a:lnTo>
                  <a:lnTo>
                    <a:pt x="569340" y="0"/>
                  </a:lnTo>
                  <a:close/>
                </a:path>
                <a:path w="569594" h="48894">
                  <a:moveTo>
                    <a:pt x="165196" y="24209"/>
                  </a:moveTo>
                  <a:lnTo>
                    <a:pt x="0" y="242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783013" y="2507285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783013" y="2507285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4200" y="2393130"/>
              <a:ext cx="227362" cy="14469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809761" y="2277494"/>
              <a:ext cx="1313180" cy="0"/>
            </a:xfrm>
            <a:custGeom>
              <a:avLst/>
              <a:gdLst/>
              <a:ahLst/>
              <a:cxnLst/>
              <a:rect l="l" t="t" r="r" b="b"/>
              <a:pathLst>
                <a:path w="1313179">
                  <a:moveTo>
                    <a:pt x="0" y="0"/>
                  </a:moveTo>
                  <a:lnTo>
                    <a:pt x="1312910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064222" y="2253283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22"/>
                  </a:lnTo>
                  <a:lnTo>
                    <a:pt x="58449" y="242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92275" y="2253283"/>
              <a:ext cx="330835" cy="278765"/>
            </a:xfrm>
            <a:custGeom>
              <a:avLst/>
              <a:gdLst/>
              <a:ahLst/>
              <a:cxnLst/>
              <a:rect l="l" t="t" r="r" b="b"/>
              <a:pathLst>
                <a:path w="330835" h="278764">
                  <a:moveTo>
                    <a:pt x="271947" y="48422"/>
                  </a:moveTo>
                  <a:lnTo>
                    <a:pt x="330396" y="24211"/>
                  </a:lnTo>
                  <a:lnTo>
                    <a:pt x="271947" y="0"/>
                  </a:lnTo>
                  <a:lnTo>
                    <a:pt x="271947" y="48422"/>
                  </a:lnTo>
                  <a:close/>
                </a:path>
                <a:path w="330835" h="278764">
                  <a:moveTo>
                    <a:pt x="165196" y="24211"/>
                  </a:moveTo>
                  <a:lnTo>
                    <a:pt x="165196" y="278211"/>
                  </a:lnTo>
                  <a:lnTo>
                    <a:pt x="0" y="278211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792275" y="2507285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281380" y="2507285"/>
              <a:ext cx="569595" cy="48895"/>
            </a:xfrm>
            <a:custGeom>
              <a:avLst/>
              <a:gdLst/>
              <a:ahLst/>
              <a:cxnLst/>
              <a:rect l="l" t="t" r="r" b="b"/>
              <a:pathLst>
                <a:path w="569595" h="48894">
                  <a:moveTo>
                    <a:pt x="569340" y="0"/>
                  </a:moveTo>
                  <a:lnTo>
                    <a:pt x="510894" y="24209"/>
                  </a:lnTo>
                  <a:lnTo>
                    <a:pt x="569340" y="48419"/>
                  </a:lnTo>
                  <a:lnTo>
                    <a:pt x="569340" y="0"/>
                  </a:lnTo>
                  <a:close/>
                </a:path>
                <a:path w="569595" h="48894">
                  <a:moveTo>
                    <a:pt x="165196" y="24209"/>
                  </a:moveTo>
                  <a:lnTo>
                    <a:pt x="0" y="242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281380" y="2507285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281380" y="2507285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82568" y="2393130"/>
              <a:ext cx="227362" cy="144690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737857" y="2173168"/>
            <a:ext cx="1409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65" dirty="0">
                <a:latin typeface="Georgia"/>
                <a:cs typeface="Georgia"/>
              </a:rPr>
              <a:t>X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60" name="object 60"/>
          <p:cNvSpPr txBox="1"/>
          <p:nvPr/>
        </p:nvSpPr>
        <p:spPr>
          <a:xfrm>
            <a:off x="4186094" y="2173168"/>
            <a:ext cx="10668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348167" y="2050705"/>
            <a:ext cx="21590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spc="-25" dirty="0">
                <a:latin typeface="Georgia"/>
                <a:cs typeface="Georgia"/>
              </a:rPr>
              <a:t>Y</a:t>
            </a:r>
            <a:r>
              <a:rPr sz="1350" spc="-37" baseline="-12345" dirty="0">
                <a:latin typeface="Palatino Linotype"/>
                <a:cs typeface="Palatino Linotype"/>
              </a:rPr>
              <a:t>1</a:t>
            </a:r>
            <a:endParaRPr sz="1350" baseline="-12345">
              <a:latin typeface="Palatino Linotype"/>
              <a:cs typeface="Palatino Linotype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256626" y="2427165"/>
            <a:ext cx="1215390" cy="585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95"/>
              </a:spcBef>
              <a:tabLst>
                <a:tab pos="792480" algn="l"/>
              </a:tabLst>
            </a:pPr>
            <a:r>
              <a:rPr sz="1650" spc="-37" baseline="2525" dirty="0">
                <a:latin typeface="Palatino Linotype"/>
                <a:cs typeface="Palatino Linotype"/>
              </a:rPr>
              <a:t>0</a:t>
            </a:r>
            <a:r>
              <a:rPr sz="1650" i="1" spc="-37" baseline="2525" dirty="0">
                <a:latin typeface="Georgia"/>
                <a:cs typeface="Georgia"/>
              </a:rPr>
              <a:t>.</a:t>
            </a:r>
            <a:r>
              <a:rPr sz="1650" spc="-37" baseline="2525" dirty="0">
                <a:latin typeface="Palatino Linotype"/>
                <a:cs typeface="Palatino Linotype"/>
              </a:rPr>
              <a:t>9</a:t>
            </a:r>
            <a:r>
              <a:rPr sz="1650" baseline="2525" dirty="0">
                <a:latin typeface="Palatino Linotype"/>
                <a:cs typeface="Palatino Linotype"/>
              </a:rPr>
              <a:t>	</a:t>
            </a: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1100" dirty="0">
                <a:latin typeface="Palatino Linotype"/>
                <a:cs typeface="Palatino Linotype"/>
              </a:rPr>
              <a:t>(1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Palatino Linotype"/>
                <a:cs typeface="Palatino Linotype"/>
              </a:rPr>
              <a:t>0</a:t>
            </a:r>
            <a:r>
              <a:rPr sz="1100" i="1" spc="55" dirty="0">
                <a:latin typeface="Georgia"/>
                <a:cs typeface="Georgia"/>
              </a:rPr>
              <a:t>.</a:t>
            </a:r>
            <a:r>
              <a:rPr sz="1100" spc="55" dirty="0">
                <a:latin typeface="Palatino Linotype"/>
                <a:cs typeface="Palatino Linotype"/>
              </a:rPr>
              <a:t>9</a:t>
            </a:r>
            <a:r>
              <a:rPr sz="1100" i="1" spc="55" dirty="0">
                <a:latin typeface="Times New Roman"/>
                <a:cs typeface="Times New Roman"/>
              </a:rPr>
              <a:t>R</a:t>
            </a:r>
            <a:r>
              <a:rPr sz="1100" spc="55" dirty="0">
                <a:latin typeface="Palatino Linotype"/>
                <a:cs typeface="Palatino Linotype"/>
              </a:rPr>
              <a:t>)</a:t>
            </a:r>
            <a:r>
              <a:rPr sz="1100" spc="-8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Y</a:t>
            </a:r>
            <a:r>
              <a:rPr sz="1350" baseline="-12345" dirty="0">
                <a:latin typeface="Palatino Linotype"/>
                <a:cs typeface="Palatino Linotype"/>
              </a:rPr>
              <a:t>1</a:t>
            </a:r>
            <a:r>
              <a:rPr sz="1350" spc="202" baseline="-1234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30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Georgia"/>
                <a:cs typeface="Georgia"/>
              </a:rPr>
              <a:t>X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729027" y="2427165"/>
            <a:ext cx="1205230" cy="585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0515">
              <a:lnSpc>
                <a:spcPct val="100000"/>
              </a:lnSpc>
              <a:spcBef>
                <a:spcPts val="95"/>
              </a:spcBef>
              <a:tabLst>
                <a:tab pos="818515" algn="l"/>
              </a:tabLst>
            </a:pPr>
            <a:r>
              <a:rPr sz="1650" spc="-37" baseline="2525" dirty="0">
                <a:latin typeface="Palatino Linotype"/>
                <a:cs typeface="Palatino Linotype"/>
              </a:rPr>
              <a:t>0</a:t>
            </a:r>
            <a:r>
              <a:rPr sz="1650" i="1" spc="-37" baseline="2525" dirty="0">
                <a:latin typeface="Georgia"/>
                <a:cs typeface="Georgia"/>
              </a:rPr>
              <a:t>.</a:t>
            </a:r>
            <a:r>
              <a:rPr sz="1650" spc="-37" baseline="2525" dirty="0">
                <a:latin typeface="Palatino Linotype"/>
                <a:cs typeface="Palatino Linotype"/>
              </a:rPr>
              <a:t>7</a:t>
            </a:r>
            <a:r>
              <a:rPr sz="1650" baseline="2525" dirty="0">
                <a:latin typeface="Palatino Linotype"/>
                <a:cs typeface="Palatino Linotype"/>
              </a:rPr>
              <a:t>	</a:t>
            </a: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1100" dirty="0">
                <a:latin typeface="Palatino Linotype"/>
                <a:cs typeface="Palatino Linotype"/>
              </a:rPr>
              <a:t>(1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Palatino Linotype"/>
                <a:cs typeface="Palatino Linotype"/>
              </a:rPr>
              <a:t>0</a:t>
            </a:r>
            <a:r>
              <a:rPr sz="1100" i="1" spc="55" dirty="0">
                <a:latin typeface="Georgia"/>
                <a:cs typeface="Georgia"/>
              </a:rPr>
              <a:t>.</a:t>
            </a:r>
            <a:r>
              <a:rPr sz="1100" spc="55" dirty="0">
                <a:latin typeface="Palatino Linotype"/>
                <a:cs typeface="Palatino Linotype"/>
              </a:rPr>
              <a:t>7</a:t>
            </a:r>
            <a:r>
              <a:rPr sz="1100" i="1" spc="55" dirty="0">
                <a:latin typeface="Times New Roman"/>
                <a:cs typeface="Times New Roman"/>
              </a:rPr>
              <a:t>R</a:t>
            </a:r>
            <a:r>
              <a:rPr sz="1100" spc="55" dirty="0">
                <a:latin typeface="Palatino Linotype"/>
                <a:cs typeface="Palatino Linotype"/>
              </a:rPr>
              <a:t>)</a:t>
            </a:r>
            <a:r>
              <a:rPr sz="1100" spc="-9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Y</a:t>
            </a:r>
            <a:r>
              <a:rPr sz="1100" i="1" spc="285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35" dirty="0">
                <a:latin typeface="Palatino Linotype"/>
                <a:cs typeface="Palatino Linotype"/>
              </a:rPr>
              <a:t> </a:t>
            </a:r>
            <a:r>
              <a:rPr sz="1100" i="1" spc="-25" dirty="0">
                <a:latin typeface="Georgia"/>
                <a:cs typeface="Georgia"/>
              </a:rPr>
              <a:t>Y</a:t>
            </a:r>
            <a:r>
              <a:rPr sz="1350" spc="-37" baseline="-12345" dirty="0">
                <a:latin typeface="Palatino Linotype"/>
                <a:cs typeface="Palatino Linotype"/>
              </a:rPr>
              <a:t>1</a:t>
            </a:r>
            <a:endParaRPr sz="1350" baseline="-12345">
              <a:latin typeface="Palatino Linotype"/>
              <a:cs typeface="Palatino Linotype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13830" y="3472535"/>
            <a:ext cx="4151629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120" dirty="0">
                <a:latin typeface="Arial"/>
                <a:cs typeface="Arial"/>
              </a:rPr>
              <a:t>The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order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doesn’t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105" dirty="0">
                <a:latin typeface="Arial"/>
                <a:cs typeface="Arial"/>
              </a:rPr>
              <a:t>matter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spc="110" dirty="0">
                <a:latin typeface="Arial"/>
                <a:cs typeface="Arial"/>
              </a:rPr>
              <a:t>(if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systems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initially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110" dirty="0">
                <a:latin typeface="Arial"/>
                <a:cs typeface="Arial"/>
              </a:rPr>
              <a:t>at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rest).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9120" y="1714101"/>
            <a:ext cx="958850" cy="17145"/>
          </a:xfrm>
          <a:custGeom>
            <a:avLst/>
            <a:gdLst/>
            <a:ahLst/>
            <a:cxnLst/>
            <a:rect l="l" t="t" r="r" b="b"/>
            <a:pathLst>
              <a:path w="958850" h="17144">
                <a:moveTo>
                  <a:pt x="958443" y="0"/>
                </a:moveTo>
                <a:lnTo>
                  <a:pt x="0" y="0"/>
                </a:lnTo>
                <a:lnTo>
                  <a:pt x="0" y="16700"/>
                </a:lnTo>
                <a:lnTo>
                  <a:pt x="958443" y="16700"/>
                </a:lnTo>
                <a:lnTo>
                  <a:pt x="9584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94867" y="1714101"/>
            <a:ext cx="958850" cy="17145"/>
          </a:xfrm>
          <a:custGeom>
            <a:avLst/>
            <a:gdLst/>
            <a:ahLst/>
            <a:cxnLst/>
            <a:rect l="l" t="t" r="r" b="b"/>
            <a:pathLst>
              <a:path w="958850" h="17144">
                <a:moveTo>
                  <a:pt x="958443" y="0"/>
                </a:moveTo>
                <a:lnTo>
                  <a:pt x="0" y="0"/>
                </a:lnTo>
                <a:lnTo>
                  <a:pt x="0" y="16700"/>
                </a:lnTo>
                <a:lnTo>
                  <a:pt x="958443" y="16700"/>
                </a:lnTo>
                <a:lnTo>
                  <a:pt x="9584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597529" y="1334761"/>
            <a:ext cx="977900" cy="337185"/>
            <a:chOff x="1597529" y="1334761"/>
            <a:chExt cx="977900" cy="337185"/>
          </a:xfrm>
        </p:grpSpPr>
        <p:sp>
          <p:nvSpPr>
            <p:cNvPr id="5" name="object 5"/>
            <p:cNvSpPr/>
            <p:nvPr/>
          </p:nvSpPr>
          <p:spPr>
            <a:xfrm>
              <a:off x="1610189" y="1347416"/>
              <a:ext cx="952500" cy="300990"/>
            </a:xfrm>
            <a:custGeom>
              <a:avLst/>
              <a:gdLst/>
              <a:ahLst/>
              <a:cxnLst/>
              <a:rect l="l" t="t" r="r" b="b"/>
              <a:pathLst>
                <a:path w="952500" h="300989">
                  <a:moveTo>
                    <a:pt x="952017" y="0"/>
                  </a:moveTo>
                  <a:lnTo>
                    <a:pt x="0" y="300901"/>
                  </a:lnTo>
                </a:path>
              </a:pathLst>
            </a:custGeom>
            <a:ln w="2531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7529" y="1553955"/>
              <a:ext cx="151841" cy="11799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0" dirty="0"/>
              <a:t>Factoring</a:t>
            </a:r>
            <a:r>
              <a:rPr spc="240" dirty="0"/>
              <a:t> </a:t>
            </a:r>
            <a:r>
              <a:rPr spc="105" dirty="0"/>
              <a:t>Second-</a:t>
            </a:r>
            <a:r>
              <a:rPr spc="100" dirty="0"/>
              <a:t>Order</a:t>
            </a:r>
            <a:r>
              <a:rPr spc="235" dirty="0"/>
              <a:t> </a:t>
            </a:r>
            <a:r>
              <a:rPr spc="70" dirty="0"/>
              <a:t>Systems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1130" y="345358"/>
            <a:ext cx="4859020" cy="731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>
              <a:lnSpc>
                <a:spcPct val="121000"/>
              </a:lnSpc>
              <a:spcBef>
                <a:spcPts val="100"/>
              </a:spcBef>
            </a:pPr>
            <a:r>
              <a:rPr sz="1100" spc="120" dirty="0">
                <a:latin typeface="Arial"/>
                <a:cs typeface="Arial"/>
              </a:rPr>
              <a:t>The</a:t>
            </a:r>
            <a:r>
              <a:rPr sz="1100" spc="24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unit-</a:t>
            </a:r>
            <a:r>
              <a:rPr sz="1100" spc="75" dirty="0">
                <a:latin typeface="Arial"/>
                <a:cs typeface="Arial"/>
              </a:rPr>
              <a:t>sample</a:t>
            </a:r>
            <a:r>
              <a:rPr sz="1100" spc="2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response</a:t>
            </a:r>
            <a:r>
              <a:rPr sz="1100" spc="245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25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cascaded</a:t>
            </a:r>
            <a:r>
              <a:rPr sz="1100" spc="25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system</a:t>
            </a:r>
            <a:r>
              <a:rPr sz="1100" spc="24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can</a:t>
            </a:r>
            <a:r>
              <a:rPr sz="1100" spc="2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250" dirty="0">
                <a:latin typeface="Arial"/>
                <a:cs typeface="Arial"/>
              </a:rPr>
              <a:t> </a:t>
            </a:r>
            <a:r>
              <a:rPr sz="1100" spc="75" dirty="0">
                <a:latin typeface="Arial"/>
                <a:cs typeface="Arial"/>
              </a:rPr>
              <a:t>found</a:t>
            </a:r>
            <a:r>
              <a:rPr sz="1100" spc="24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by </a:t>
            </a:r>
            <a:r>
              <a:rPr sz="1100" spc="80" dirty="0">
                <a:latin typeface="Arial"/>
                <a:cs typeface="Arial"/>
              </a:rPr>
              <a:t>multiplying</a:t>
            </a:r>
            <a:r>
              <a:rPr sz="1100" spc="15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polynomial</a:t>
            </a:r>
            <a:r>
              <a:rPr sz="1100" spc="15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representations</a:t>
            </a:r>
            <a:r>
              <a:rPr sz="1100" spc="15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subsystems.</a:t>
            </a:r>
            <a:endParaRPr sz="11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1040"/>
              </a:spcBef>
              <a:tabLst>
                <a:tab pos="1244600" algn="l"/>
                <a:tab pos="1922780" algn="l"/>
                <a:tab pos="2425700" algn="l"/>
                <a:tab pos="2782570" algn="l"/>
                <a:tab pos="3254375" algn="l"/>
                <a:tab pos="3611245" algn="l"/>
              </a:tabLst>
            </a:pPr>
            <a:r>
              <a:rPr sz="1100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Y</a:t>
            </a:r>
            <a:r>
              <a:rPr sz="1100" i="1" spc="500" dirty="0">
                <a:latin typeface="Georgia"/>
                <a:cs typeface="Georgia"/>
              </a:rPr>
              <a:t> </a:t>
            </a:r>
            <a:r>
              <a:rPr sz="1650" spc="450" baseline="-37878" dirty="0">
                <a:latin typeface="Palatino Linotype"/>
                <a:cs typeface="Palatino Linotype"/>
              </a:rPr>
              <a:t>=</a:t>
            </a:r>
            <a:r>
              <a:rPr sz="1650" spc="315" baseline="-37878" dirty="0">
                <a:latin typeface="Palatino Linotype"/>
                <a:cs typeface="Palatino Linotype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 </a:t>
            </a:r>
            <a:r>
              <a:rPr sz="1650" spc="450" baseline="-37878" dirty="0">
                <a:latin typeface="Palatino Linotype"/>
                <a:cs typeface="Palatino Linotype"/>
              </a:rPr>
              <a:t>=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 </a:t>
            </a:r>
            <a:r>
              <a:rPr sz="1650" i="1" spc="165" baseline="-37878" dirty="0">
                <a:latin typeface="Times New Roman"/>
                <a:cs typeface="Times New Roman"/>
              </a:rPr>
              <a:t>×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889" y="1073544"/>
            <a:ext cx="33439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330" algn="l"/>
                <a:tab pos="1858010" algn="l"/>
                <a:tab pos="2686685" algn="l"/>
              </a:tabLst>
            </a:pPr>
            <a:r>
              <a:rPr sz="1100" i="1" spc="65" dirty="0">
                <a:latin typeface="Georgia"/>
                <a:cs typeface="Georgia"/>
              </a:rPr>
              <a:t>X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(1</a:t>
            </a:r>
            <a:r>
              <a:rPr sz="1100" spc="-15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spc="45" dirty="0">
                <a:latin typeface="Palatino Linotype"/>
                <a:cs typeface="Palatino Linotype"/>
              </a:rPr>
              <a:t>0</a:t>
            </a:r>
            <a:r>
              <a:rPr sz="1100" i="1" spc="45" dirty="0">
                <a:latin typeface="Georgia"/>
                <a:cs typeface="Georgia"/>
              </a:rPr>
              <a:t>.</a:t>
            </a:r>
            <a:r>
              <a:rPr sz="1100" spc="45" dirty="0">
                <a:latin typeface="Palatino Linotype"/>
                <a:cs typeface="Palatino Linotype"/>
              </a:rPr>
              <a:t>7</a:t>
            </a:r>
            <a:r>
              <a:rPr sz="1100" i="1" spc="45" dirty="0">
                <a:latin typeface="Times New Roman"/>
                <a:cs typeface="Times New Roman"/>
              </a:rPr>
              <a:t>R</a:t>
            </a:r>
            <a:r>
              <a:rPr sz="1100" spc="45" dirty="0">
                <a:latin typeface="Palatino Linotype"/>
                <a:cs typeface="Palatino Linotype"/>
              </a:rPr>
              <a:t>)(1</a:t>
            </a:r>
            <a:r>
              <a:rPr sz="1100" spc="-1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spc="35" dirty="0">
                <a:latin typeface="Palatino Linotype"/>
                <a:cs typeface="Palatino Linotype"/>
              </a:rPr>
              <a:t>0</a:t>
            </a:r>
            <a:r>
              <a:rPr sz="1100" i="1" spc="35" dirty="0">
                <a:latin typeface="Georgia"/>
                <a:cs typeface="Georgia"/>
              </a:rPr>
              <a:t>.</a:t>
            </a:r>
            <a:r>
              <a:rPr sz="1100" spc="35" dirty="0">
                <a:latin typeface="Palatino Linotype"/>
                <a:cs typeface="Palatino Linotype"/>
              </a:rPr>
              <a:t>9</a:t>
            </a:r>
            <a:r>
              <a:rPr sz="1100" i="1" spc="35" dirty="0">
                <a:latin typeface="Times New Roman"/>
                <a:cs typeface="Times New Roman"/>
              </a:rPr>
              <a:t>R</a:t>
            </a:r>
            <a:r>
              <a:rPr sz="1100" spc="35" dirty="0">
                <a:latin typeface="Palatino Linotype"/>
                <a:cs typeface="Palatino Linotype"/>
              </a:rPr>
              <a:t>)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u="heavy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(1</a:t>
            </a:r>
            <a:r>
              <a:rPr sz="1100" u="heavy" spc="-1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100" i="1" u="heavy" spc="1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−</a:t>
            </a:r>
            <a:r>
              <a:rPr sz="1100" i="1" spc="-5" dirty="0">
                <a:latin typeface="Times New Roman"/>
                <a:cs typeface="Times New Roman"/>
              </a:rPr>
              <a:t> </a:t>
            </a:r>
            <a:r>
              <a:rPr sz="1100" spc="45" dirty="0">
                <a:latin typeface="Palatino Linotype"/>
                <a:cs typeface="Palatino Linotype"/>
              </a:rPr>
              <a:t>0</a:t>
            </a:r>
            <a:r>
              <a:rPr sz="1100" i="1" spc="45" dirty="0">
                <a:latin typeface="Georgia"/>
                <a:cs typeface="Georgia"/>
              </a:rPr>
              <a:t>.</a:t>
            </a:r>
            <a:r>
              <a:rPr sz="1100" u="heavy" spc="4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7</a:t>
            </a:r>
            <a:r>
              <a:rPr sz="1100" i="1" u="heavy" spc="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1100" spc="45" dirty="0">
                <a:latin typeface="Palatino Linotype"/>
                <a:cs typeface="Palatino Linotype"/>
              </a:rPr>
              <a:t>)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u="heavy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(1</a:t>
            </a:r>
            <a:r>
              <a:rPr sz="1100" u="heavy" spc="-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100" i="1" u="heavy" spc="1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−</a:t>
            </a:r>
            <a:r>
              <a:rPr sz="1100" i="1" spc="-5" dirty="0">
                <a:latin typeface="Times New Roman"/>
                <a:cs typeface="Times New Roman"/>
              </a:rPr>
              <a:t> </a:t>
            </a:r>
            <a:r>
              <a:rPr sz="1100" spc="45" dirty="0">
                <a:latin typeface="Palatino Linotype"/>
                <a:cs typeface="Palatino Linotype"/>
              </a:rPr>
              <a:t>0</a:t>
            </a:r>
            <a:r>
              <a:rPr sz="1100" i="1" spc="45" dirty="0">
                <a:latin typeface="Georgia"/>
                <a:cs typeface="Georgia"/>
              </a:rPr>
              <a:t>.</a:t>
            </a:r>
            <a:r>
              <a:rPr sz="1100" u="heavy" spc="4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9</a:t>
            </a:r>
            <a:r>
              <a:rPr sz="1100" i="1" u="heavy" spc="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1100" spc="45" dirty="0">
                <a:latin typeface="Palatino Linotype"/>
                <a:cs typeface="Palatino Linotype"/>
              </a:rPr>
              <a:t>)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60121" y="1163036"/>
            <a:ext cx="2222500" cy="19304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ts val="550"/>
              </a:lnSpc>
              <a:spcBef>
                <a:spcPts val="645"/>
              </a:spcBef>
              <a:tabLst>
                <a:tab pos="564515" algn="l"/>
                <a:tab pos="1250950" algn="l"/>
              </a:tabLst>
            </a:pPr>
            <a:r>
              <a:rPr sz="11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u="heavy" spc="5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100">
              <a:latin typeface="Times New Roman"/>
              <a:cs typeface="Times New Roman"/>
            </a:endParaRPr>
          </a:p>
          <a:p>
            <a:pPr marL="564515">
              <a:lnSpc>
                <a:spcPts val="220"/>
              </a:lnSpc>
              <a:tabLst>
                <a:tab pos="838835" algn="l"/>
                <a:tab pos="1176020" algn="l"/>
                <a:tab pos="1393190" algn="l"/>
                <a:tab pos="1668145" algn="l"/>
                <a:tab pos="2004695" algn="l"/>
                <a:tab pos="2209165" algn="l"/>
              </a:tabLst>
            </a:pPr>
            <a:r>
              <a:rPr sz="1100" u="heavy" dirty="0">
                <a:uFill>
                  <a:solidFill>
                    <a:srgbClr val="000000"/>
                  </a:solidFill>
                </a:uFill>
                <a:latin typeface="Graphite Std"/>
                <a:cs typeface="Graphite Std"/>
              </a:rPr>
              <a:t>	</a:t>
            </a:r>
            <a:r>
              <a:rPr sz="1100" u="heavy" spc="500" dirty="0">
                <a:uFill>
                  <a:solidFill>
                    <a:srgbClr val="000000"/>
                  </a:solidFill>
                </a:uFill>
                <a:latin typeface="Graphite Std"/>
                <a:cs typeface="Graphite Std"/>
              </a:rPr>
              <a:t> </a:t>
            </a:r>
            <a:r>
              <a:rPr sz="1100" dirty="0">
                <a:latin typeface="Graphite Std"/>
                <a:cs typeface="Graphite Std"/>
              </a:rPr>
              <a:t>	</a:t>
            </a:r>
            <a:r>
              <a:rPr sz="1100" spc="-50" dirty="0">
                <a:latin typeface="Graphite Std"/>
                <a:cs typeface="Graphite Std"/>
              </a:rPr>
              <a:t>_</a:t>
            </a:r>
            <a:r>
              <a:rPr sz="1100" dirty="0">
                <a:latin typeface="Graphite Std"/>
                <a:cs typeface="Graphite Std"/>
              </a:rPr>
              <a:t>	</a:t>
            </a:r>
            <a:r>
              <a:rPr sz="1100" u="heavy" dirty="0">
                <a:uFill>
                  <a:solidFill>
                    <a:srgbClr val="000000"/>
                  </a:solidFill>
                </a:uFill>
                <a:latin typeface="Graphite Std"/>
                <a:cs typeface="Graphite Std"/>
              </a:rPr>
              <a:t>		</a:t>
            </a:r>
            <a:r>
              <a:rPr sz="1100" u="heavy" spc="-50" dirty="0">
                <a:uFill>
                  <a:solidFill>
                    <a:srgbClr val="000000"/>
                  </a:solidFill>
                </a:uFill>
                <a:latin typeface="Graphite Std"/>
                <a:cs typeface="Graphite Std"/>
              </a:rPr>
              <a:t>_</a:t>
            </a:r>
            <a:r>
              <a:rPr sz="1100" u="heavy" dirty="0">
                <a:uFill>
                  <a:solidFill>
                    <a:srgbClr val="000000"/>
                  </a:solidFill>
                </a:uFill>
                <a:latin typeface="Graphite Std"/>
                <a:cs typeface="Graphite Std"/>
              </a:rPr>
              <a:t>	</a:t>
            </a:r>
            <a:endParaRPr sz="1100">
              <a:latin typeface="Graphite Std"/>
              <a:cs typeface="Graphite Std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78297" y="1334761"/>
            <a:ext cx="567055" cy="326390"/>
            <a:chOff x="3378297" y="1334761"/>
            <a:chExt cx="567055" cy="326390"/>
          </a:xfrm>
        </p:grpSpPr>
        <p:sp>
          <p:nvSpPr>
            <p:cNvPr id="12" name="object 12"/>
            <p:cNvSpPr/>
            <p:nvPr/>
          </p:nvSpPr>
          <p:spPr>
            <a:xfrm>
              <a:off x="3390953" y="1347416"/>
              <a:ext cx="541655" cy="300990"/>
            </a:xfrm>
            <a:custGeom>
              <a:avLst/>
              <a:gdLst/>
              <a:ahLst/>
              <a:cxnLst/>
              <a:rect l="l" t="t" r="r" b="b"/>
              <a:pathLst>
                <a:path w="541654" h="300989">
                  <a:moveTo>
                    <a:pt x="0" y="0"/>
                  </a:moveTo>
                  <a:lnTo>
                    <a:pt x="541274" y="300901"/>
                  </a:lnTo>
                </a:path>
              </a:pathLst>
            </a:custGeom>
            <a:ln w="2531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93403" y="1536164"/>
              <a:ext cx="151472" cy="12480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13791" y="1578914"/>
            <a:ext cx="7937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Graphite Std"/>
                <a:cs typeface="Graphite Std"/>
              </a:rPr>
              <a:t> </a:t>
            </a:r>
            <a:endParaRPr sz="1100">
              <a:latin typeface="Graphite Std"/>
              <a:cs typeface="Graphite Std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15" name="object 15"/>
          <p:cNvSpPr txBox="1"/>
          <p:nvPr/>
        </p:nvSpPr>
        <p:spPr>
          <a:xfrm>
            <a:off x="1534810" y="1578914"/>
            <a:ext cx="13843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Graphite Std"/>
                <a:cs typeface="Graphite Std"/>
              </a:rPr>
              <a:t>_ </a:t>
            </a:r>
            <a:endParaRPr sz="1100">
              <a:latin typeface="Graphite Std"/>
              <a:cs typeface="Graphite St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18460" y="1578914"/>
            <a:ext cx="137668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9870" algn="l"/>
                <a:tab pos="1250315" algn="l"/>
              </a:tabLst>
            </a:pPr>
            <a:r>
              <a:rPr sz="1100" dirty="0">
                <a:latin typeface="Graphite Std"/>
                <a:cs typeface="Graphite Std"/>
              </a:rPr>
              <a:t>		</a:t>
            </a:r>
            <a:r>
              <a:rPr sz="1100" spc="-60" dirty="0">
                <a:latin typeface="Graphite Std"/>
                <a:cs typeface="Graphite Std"/>
              </a:rPr>
              <a:t>_ </a:t>
            </a:r>
            <a:endParaRPr sz="1100">
              <a:latin typeface="Graphite Std"/>
              <a:cs typeface="Graphite Std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6678" y="1746347"/>
            <a:ext cx="57467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4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(1</a:t>
            </a:r>
            <a:r>
              <a:rPr sz="1100" spc="-1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15" dirty="0">
                <a:latin typeface="Palatino Linotype"/>
                <a:cs typeface="Palatino Linotype"/>
              </a:rPr>
              <a:t> </a:t>
            </a:r>
            <a:r>
              <a:rPr sz="1100" spc="-25" dirty="0">
                <a:latin typeface="Palatino Linotype"/>
                <a:cs typeface="Palatino Linotype"/>
              </a:rPr>
              <a:t>0</a:t>
            </a:r>
            <a:r>
              <a:rPr sz="1100" i="1" spc="-25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5657" y="1746347"/>
            <a:ext cx="49149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120" dirty="0">
                <a:latin typeface="Palatino Linotype"/>
                <a:cs typeface="Palatino Linotype"/>
              </a:rPr>
              <a:t>7</a:t>
            </a:r>
            <a:r>
              <a:rPr sz="1100" i="1" spc="120" dirty="0">
                <a:latin typeface="Times New Roman"/>
                <a:cs typeface="Times New Roman"/>
              </a:rPr>
              <a:t>R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spc="-25" dirty="0">
                <a:latin typeface="Palatino Linotype"/>
                <a:cs typeface="Palatino Linotype"/>
              </a:rPr>
              <a:t>0</a:t>
            </a:r>
            <a:r>
              <a:rPr sz="1100" i="1" spc="-25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51355" y="1714245"/>
            <a:ext cx="2673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Palatino Linotype"/>
                <a:cs typeface="Palatino Linotype"/>
              </a:rPr>
              <a:t>2</a:t>
            </a:r>
            <a:r>
              <a:rPr sz="900" spc="265" dirty="0">
                <a:latin typeface="Palatino Linotype"/>
                <a:cs typeface="Palatino Linotype"/>
              </a:rPr>
              <a:t>  </a:t>
            </a:r>
            <a:r>
              <a:rPr sz="900" spc="-50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81657" y="1746347"/>
            <a:ext cx="62166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Palatino Linotype"/>
                <a:cs typeface="Palatino Linotype"/>
              </a:rPr>
              <a:t>7</a:t>
            </a:r>
            <a:r>
              <a:rPr sz="1100" spc="235" dirty="0">
                <a:latin typeface="Palatino Linotype"/>
                <a:cs typeface="Palatino Linotype"/>
              </a:rPr>
              <a:t> </a:t>
            </a:r>
            <a:r>
              <a:rPr sz="1100" i="1" spc="245" dirty="0">
                <a:latin typeface="Times New Roman"/>
                <a:cs typeface="Times New Roman"/>
              </a:rPr>
              <a:t>R</a:t>
            </a:r>
            <a:r>
              <a:rPr sz="1100" i="1" spc="475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spc="-25" dirty="0">
                <a:latin typeface="Palatino Linotype"/>
                <a:cs typeface="Palatino Linotype"/>
              </a:rPr>
              <a:t>0</a:t>
            </a:r>
            <a:r>
              <a:rPr sz="1100" i="1" spc="-25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46947" y="1714245"/>
            <a:ext cx="2673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Palatino Linotype"/>
                <a:cs typeface="Palatino Linotype"/>
              </a:rPr>
              <a:t>3</a:t>
            </a:r>
            <a:r>
              <a:rPr sz="900" spc="265" dirty="0">
                <a:latin typeface="Palatino Linotype"/>
                <a:cs typeface="Palatino Linotype"/>
              </a:rPr>
              <a:t>  </a:t>
            </a:r>
            <a:r>
              <a:rPr sz="900" spc="-50" dirty="0"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77335" y="1746402"/>
            <a:ext cx="6756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Palatino Linotype"/>
                <a:cs typeface="Palatino Linotype"/>
              </a:rPr>
              <a:t>7</a:t>
            </a:r>
            <a:r>
              <a:rPr sz="1100" spc="250" dirty="0">
                <a:latin typeface="Palatino Linotype"/>
                <a:cs typeface="Palatino Linotype"/>
              </a:rPr>
              <a:t> </a:t>
            </a:r>
            <a:r>
              <a:rPr sz="1100" i="1" spc="245" dirty="0">
                <a:latin typeface="Times New Roman"/>
                <a:cs typeface="Times New Roman"/>
              </a:rPr>
              <a:t>R</a:t>
            </a:r>
            <a:r>
              <a:rPr sz="1100" i="1" spc="495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2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·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73398" y="1714245"/>
            <a:ext cx="2673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Palatino Linotype"/>
                <a:cs typeface="Palatino Linotype"/>
              </a:rPr>
              <a:t>2</a:t>
            </a:r>
            <a:r>
              <a:rPr sz="900" spc="265" dirty="0">
                <a:latin typeface="Palatino Linotype"/>
                <a:cs typeface="Palatino Linotype"/>
              </a:rPr>
              <a:t>  </a:t>
            </a:r>
            <a:r>
              <a:rPr sz="900" spc="-50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01640" y="1746402"/>
            <a:ext cx="246570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660"/>
              </a:lnSpc>
              <a:spcBef>
                <a:spcPts val="95"/>
              </a:spcBef>
            </a:pPr>
            <a:r>
              <a:rPr sz="1100" spc="60" dirty="0">
                <a:latin typeface="Palatino Linotype"/>
                <a:cs typeface="Palatino Linotype"/>
              </a:rPr>
              <a:t>)</a:t>
            </a:r>
            <a:r>
              <a:rPr sz="1100" spc="-9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×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(1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25" dirty="0">
                <a:latin typeface="Palatino Linotype"/>
                <a:cs typeface="Palatino Linotype"/>
              </a:rPr>
              <a:t> </a:t>
            </a:r>
            <a:r>
              <a:rPr sz="1100" spc="55" dirty="0">
                <a:latin typeface="Palatino Linotype"/>
                <a:cs typeface="Palatino Linotype"/>
              </a:rPr>
              <a:t>0</a:t>
            </a:r>
            <a:r>
              <a:rPr sz="1100" i="1" spc="55" dirty="0">
                <a:latin typeface="Georgia"/>
                <a:cs typeface="Georgia"/>
              </a:rPr>
              <a:t>.</a:t>
            </a:r>
            <a:r>
              <a:rPr sz="1100" spc="55" dirty="0">
                <a:latin typeface="Palatino Linotype"/>
                <a:cs typeface="Palatino Linotype"/>
              </a:rPr>
              <a:t>9</a:t>
            </a:r>
            <a:r>
              <a:rPr sz="1100" i="1" spc="55" dirty="0">
                <a:latin typeface="Times New Roman"/>
                <a:cs typeface="Times New Roman"/>
              </a:rPr>
              <a:t>R</a:t>
            </a:r>
            <a:r>
              <a:rPr sz="1100" i="1" spc="-30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9</a:t>
            </a:r>
            <a:r>
              <a:rPr sz="1100" spc="254" dirty="0">
                <a:latin typeface="Palatino Linotype"/>
                <a:cs typeface="Palatino Linotype"/>
              </a:rPr>
              <a:t> </a:t>
            </a:r>
            <a:r>
              <a:rPr sz="1100" i="1" spc="245" dirty="0">
                <a:latin typeface="Times New Roman"/>
                <a:cs typeface="Times New Roman"/>
              </a:rPr>
              <a:t>R</a:t>
            </a:r>
            <a:r>
              <a:rPr sz="1100" i="1" spc="495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2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9</a:t>
            </a:r>
            <a:r>
              <a:rPr sz="1350" baseline="27777" dirty="0">
                <a:latin typeface="Palatino Linotype"/>
                <a:cs typeface="Palatino Linotype"/>
              </a:rPr>
              <a:t>3</a:t>
            </a:r>
            <a:r>
              <a:rPr sz="1350" spc="412" baseline="27777" dirty="0">
                <a:latin typeface="Palatino Linotype"/>
                <a:cs typeface="Palatino Linotype"/>
              </a:rPr>
              <a:t>  </a:t>
            </a:r>
            <a:r>
              <a:rPr sz="1350" baseline="27777" dirty="0">
                <a:latin typeface="Palatino Linotype"/>
                <a:cs typeface="Palatino Linotype"/>
              </a:rPr>
              <a:t>3</a:t>
            </a:r>
            <a:r>
              <a:rPr sz="1350" spc="112" baseline="27777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2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·</a:t>
            </a:r>
            <a:r>
              <a:rPr sz="1650" spc="-390" baseline="65656" dirty="0">
                <a:latin typeface="Graphite Std"/>
                <a:cs typeface="Graphite Std"/>
              </a:rPr>
              <a:t> </a:t>
            </a:r>
            <a:r>
              <a:rPr sz="1100" spc="10" dirty="0">
                <a:latin typeface="Palatino Linotype"/>
                <a:cs typeface="Palatino Linotype"/>
              </a:rPr>
              <a:t>)</a:t>
            </a:r>
            <a:endParaRPr sz="1100">
              <a:latin typeface="Palatino Linotype"/>
              <a:cs typeface="Palatino Linotype"/>
            </a:endParaRPr>
          </a:p>
          <a:p>
            <a:pPr marR="494030" algn="r">
              <a:lnSpc>
                <a:spcPts val="660"/>
              </a:lnSpc>
            </a:pP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3799" y="2177719"/>
            <a:ext cx="30759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75" dirty="0">
                <a:latin typeface="Arial"/>
                <a:cs typeface="Arial"/>
              </a:rPr>
              <a:t>Multiply,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spc="80" dirty="0">
                <a:latin typeface="Arial"/>
                <a:cs typeface="Arial"/>
              </a:rPr>
              <a:t>then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collect</a:t>
            </a:r>
            <a:r>
              <a:rPr sz="1100" spc="195" dirty="0">
                <a:latin typeface="Arial"/>
                <a:cs typeface="Arial"/>
              </a:rPr>
              <a:t> </a:t>
            </a:r>
            <a:r>
              <a:rPr sz="1100" spc="75" dirty="0">
                <a:latin typeface="Arial"/>
                <a:cs typeface="Arial"/>
              </a:rPr>
              <a:t>terms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equal</a:t>
            </a:r>
            <a:r>
              <a:rPr sz="1100" spc="195" dirty="0">
                <a:latin typeface="Arial"/>
                <a:cs typeface="Arial"/>
              </a:rPr>
              <a:t> </a:t>
            </a:r>
            <a:r>
              <a:rPr sz="1100" spc="45" dirty="0">
                <a:latin typeface="Arial"/>
                <a:cs typeface="Arial"/>
              </a:rPr>
              <a:t>order: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5256" y="2453611"/>
            <a:ext cx="140970" cy="405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85">
              <a:lnSpc>
                <a:spcPct val="113100"/>
              </a:lnSpc>
              <a:spcBef>
                <a:spcPts val="100"/>
              </a:spcBef>
            </a:pPr>
            <a:r>
              <a:rPr sz="1100" i="1" u="sng" spc="-5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Y</a:t>
            </a:r>
            <a:r>
              <a:rPr sz="1100" i="1" spc="-50" dirty="0">
                <a:latin typeface="Georgia"/>
                <a:cs typeface="Georgia"/>
              </a:rPr>
              <a:t> </a:t>
            </a:r>
            <a:r>
              <a:rPr sz="1100" i="1" spc="65" dirty="0">
                <a:latin typeface="Georgia"/>
                <a:cs typeface="Georgia"/>
              </a:rPr>
              <a:t>X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7238" y="2570343"/>
            <a:ext cx="29756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3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-2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(0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7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25" dirty="0">
                <a:latin typeface="Palatino Linotype"/>
                <a:cs typeface="Palatino Linotype"/>
              </a:rPr>
              <a:t> </a:t>
            </a:r>
            <a:r>
              <a:rPr sz="1100" spc="55" dirty="0">
                <a:latin typeface="Palatino Linotype"/>
                <a:cs typeface="Palatino Linotype"/>
              </a:rPr>
              <a:t>0</a:t>
            </a:r>
            <a:r>
              <a:rPr sz="1100" i="1" spc="55" dirty="0">
                <a:latin typeface="Georgia"/>
                <a:cs typeface="Georgia"/>
              </a:rPr>
              <a:t>.</a:t>
            </a:r>
            <a:r>
              <a:rPr sz="1100" spc="55" dirty="0">
                <a:latin typeface="Palatino Linotype"/>
                <a:cs typeface="Palatino Linotype"/>
              </a:rPr>
              <a:t>9)</a:t>
            </a:r>
            <a:r>
              <a:rPr sz="1100" i="1" spc="55" dirty="0">
                <a:latin typeface="Times New Roman"/>
                <a:cs typeface="Times New Roman"/>
              </a:rPr>
              <a:t>R</a:t>
            </a:r>
            <a:r>
              <a:rPr sz="1100" i="1" spc="-30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2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(0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7</a:t>
            </a:r>
            <a:r>
              <a:rPr sz="1350" baseline="27777" dirty="0">
                <a:latin typeface="Palatino Linotype"/>
                <a:cs typeface="Palatino Linotype"/>
              </a:rPr>
              <a:t>2</a:t>
            </a:r>
            <a:r>
              <a:rPr sz="1350" spc="104" baseline="27777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2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7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×</a:t>
            </a:r>
            <a:r>
              <a:rPr sz="1100" i="1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9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spc="45" dirty="0">
                <a:latin typeface="Palatino Linotype"/>
                <a:cs typeface="Palatino Linotype"/>
              </a:rPr>
              <a:t>0</a:t>
            </a:r>
            <a:r>
              <a:rPr sz="1100" i="1" spc="45" dirty="0">
                <a:latin typeface="Georgia"/>
                <a:cs typeface="Georgia"/>
              </a:rPr>
              <a:t>.</a:t>
            </a:r>
            <a:r>
              <a:rPr sz="1100" spc="45" dirty="0">
                <a:latin typeface="Palatino Linotype"/>
                <a:cs typeface="Palatino Linotype"/>
              </a:rPr>
              <a:t>9</a:t>
            </a:r>
            <a:r>
              <a:rPr sz="1350" spc="67" baseline="27777" dirty="0">
                <a:latin typeface="Palatino Linotype"/>
                <a:cs typeface="Palatino Linotype"/>
              </a:rPr>
              <a:t>2</a:t>
            </a:r>
            <a:r>
              <a:rPr sz="1100" spc="45" dirty="0">
                <a:latin typeface="Palatino Linotype"/>
                <a:cs typeface="Palatino Linotype"/>
              </a:rPr>
              <a:t>)</a:t>
            </a:r>
            <a:r>
              <a:rPr sz="1100" i="1" spc="4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71608" y="2538298"/>
            <a:ext cx="844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4715" y="2859518"/>
            <a:ext cx="26314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(0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7</a:t>
            </a:r>
            <a:r>
              <a:rPr sz="1350" baseline="27777" dirty="0">
                <a:latin typeface="Palatino Linotype"/>
                <a:cs typeface="Palatino Linotype"/>
              </a:rPr>
              <a:t>3</a:t>
            </a:r>
            <a:r>
              <a:rPr sz="1350" spc="104" baseline="27777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7</a:t>
            </a:r>
            <a:r>
              <a:rPr sz="1350" baseline="27777" dirty="0">
                <a:latin typeface="Palatino Linotype"/>
                <a:cs typeface="Palatino Linotype"/>
              </a:rPr>
              <a:t>2</a:t>
            </a:r>
            <a:r>
              <a:rPr sz="1350" spc="104" baseline="27777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×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9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7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×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9</a:t>
            </a:r>
            <a:r>
              <a:rPr sz="1350" baseline="27777" dirty="0">
                <a:latin typeface="Palatino Linotype"/>
                <a:cs typeface="Palatino Linotype"/>
              </a:rPr>
              <a:t>2</a:t>
            </a:r>
            <a:r>
              <a:rPr sz="1350" spc="104" baseline="27777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spc="45" dirty="0">
                <a:latin typeface="Palatino Linotype"/>
                <a:cs typeface="Palatino Linotype"/>
              </a:rPr>
              <a:t>0</a:t>
            </a:r>
            <a:r>
              <a:rPr sz="1100" i="1" spc="45" dirty="0">
                <a:latin typeface="Georgia"/>
                <a:cs typeface="Georgia"/>
              </a:rPr>
              <a:t>.</a:t>
            </a:r>
            <a:r>
              <a:rPr sz="1100" spc="45" dirty="0">
                <a:latin typeface="Palatino Linotype"/>
                <a:cs typeface="Palatino Linotype"/>
              </a:rPr>
              <a:t>9</a:t>
            </a:r>
            <a:r>
              <a:rPr sz="1350" spc="67" baseline="27777" dirty="0">
                <a:latin typeface="Palatino Linotype"/>
                <a:cs typeface="Palatino Linotype"/>
              </a:rPr>
              <a:t>3</a:t>
            </a:r>
            <a:r>
              <a:rPr sz="1100" spc="45" dirty="0">
                <a:latin typeface="Palatino Linotype"/>
                <a:cs typeface="Palatino Linotype"/>
              </a:rPr>
              <a:t>)</a:t>
            </a:r>
            <a:r>
              <a:rPr sz="1100" i="1" spc="4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49688" y="2859506"/>
            <a:ext cx="473709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baseline="27777" dirty="0">
                <a:latin typeface="Palatino Linotype"/>
                <a:cs typeface="Palatino Linotype"/>
              </a:rPr>
              <a:t>3</a:t>
            </a:r>
            <a:r>
              <a:rPr sz="1350" spc="127" baseline="27777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2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8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80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·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85" dirty="0"/>
              <a:t>Multiplying</a:t>
            </a:r>
            <a:r>
              <a:rPr spc="229" dirty="0"/>
              <a:t> </a:t>
            </a:r>
            <a:r>
              <a:rPr spc="75" dirty="0"/>
              <a:t>Polynomial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830" y="381266"/>
            <a:ext cx="3841750" cy="340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40"/>
              </a:lnSpc>
              <a:spcBef>
                <a:spcPts val="95"/>
              </a:spcBef>
            </a:pPr>
            <a:r>
              <a:rPr sz="1100" spc="55" dirty="0">
                <a:latin typeface="Arial"/>
                <a:cs typeface="Arial"/>
              </a:rPr>
              <a:t>Graphical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representation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polynomial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multiplication.</a:t>
            </a:r>
            <a:endParaRPr sz="1100">
              <a:latin typeface="Arial"/>
              <a:cs typeface="Arial"/>
            </a:endParaRPr>
          </a:p>
          <a:p>
            <a:pPr marL="287655">
              <a:lnSpc>
                <a:spcPts val="1240"/>
              </a:lnSpc>
            </a:pPr>
            <a:r>
              <a:rPr sz="1100" i="1" u="sng" spc="-5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830" y="2885478"/>
            <a:ext cx="2073910" cy="340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40"/>
              </a:lnSpc>
              <a:spcBef>
                <a:spcPts val="95"/>
              </a:spcBef>
            </a:pPr>
            <a:r>
              <a:rPr sz="1100" spc="65" dirty="0">
                <a:latin typeface="Arial"/>
                <a:cs typeface="Arial"/>
              </a:rPr>
              <a:t>Collect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75" dirty="0">
                <a:latin typeface="Arial"/>
                <a:cs typeface="Arial"/>
              </a:rPr>
              <a:t>terms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equal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45" dirty="0">
                <a:latin typeface="Arial"/>
                <a:cs typeface="Arial"/>
              </a:rPr>
              <a:t>order:</a:t>
            </a:r>
            <a:endParaRPr sz="1100">
              <a:latin typeface="Arial"/>
              <a:cs typeface="Arial"/>
            </a:endParaRPr>
          </a:p>
          <a:p>
            <a:pPr marL="287655">
              <a:lnSpc>
                <a:spcPts val="1240"/>
              </a:lnSpc>
            </a:pPr>
            <a:r>
              <a:rPr sz="1100" i="1" u="sng" spc="-5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2054" y="718324"/>
            <a:ext cx="1409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65" dirty="0">
                <a:latin typeface="Georgia"/>
                <a:cs typeface="Georgia"/>
              </a:rPr>
              <a:t>X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6752" y="622847"/>
            <a:ext cx="113538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4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(1</a:t>
            </a:r>
            <a:r>
              <a:rPr sz="1100" spc="-2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20" dirty="0">
                <a:latin typeface="Palatino Linotype"/>
                <a:cs typeface="Palatino Linotype"/>
              </a:rPr>
              <a:t> </a:t>
            </a:r>
            <a:r>
              <a:rPr sz="1100" i="1" spc="95" dirty="0">
                <a:latin typeface="Georgia"/>
                <a:cs typeface="Georgia"/>
              </a:rPr>
              <a:t>a</a:t>
            </a:r>
            <a:r>
              <a:rPr sz="1100" i="1" spc="95" dirty="0">
                <a:latin typeface="Times New Roman"/>
                <a:cs typeface="Times New Roman"/>
              </a:rPr>
              <a:t>R</a:t>
            </a:r>
            <a:r>
              <a:rPr sz="1100" i="1" spc="-25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20" dirty="0">
                <a:latin typeface="Palatino Linotype"/>
                <a:cs typeface="Palatino Linotype"/>
              </a:rPr>
              <a:t> </a:t>
            </a:r>
            <a:r>
              <a:rPr sz="1100" i="1" spc="55" dirty="0">
                <a:latin typeface="Georgia"/>
                <a:cs typeface="Georgia"/>
              </a:rPr>
              <a:t>a</a:t>
            </a:r>
            <a:r>
              <a:rPr sz="1350" spc="82" baseline="27777" dirty="0">
                <a:latin typeface="Palatino Linotype"/>
                <a:cs typeface="Palatino Linotype"/>
              </a:rPr>
              <a:t>2</a:t>
            </a:r>
            <a:r>
              <a:rPr sz="1100" i="1" spc="5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94242" y="590689"/>
            <a:ext cx="1662430" cy="224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0175">
              <a:lnSpc>
                <a:spcPts val="665"/>
              </a:lnSpc>
              <a:spcBef>
                <a:spcPts val="95"/>
              </a:spcBef>
              <a:tabLst>
                <a:tab pos="1452880" algn="l"/>
              </a:tabLst>
            </a:pPr>
            <a:r>
              <a:rPr sz="900" spc="-50" dirty="0">
                <a:latin typeface="Palatino Linotype"/>
                <a:cs typeface="Palatino Linotype"/>
              </a:rPr>
              <a:t>3</a:t>
            </a:r>
            <a:r>
              <a:rPr sz="900" dirty="0">
                <a:latin typeface="Palatino Linotype"/>
                <a:cs typeface="Palatino Linotype"/>
              </a:rPr>
              <a:t>	</a:t>
            </a:r>
            <a:r>
              <a:rPr sz="900" spc="-50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  <a:p>
            <a:pPr marL="12700">
              <a:lnSpc>
                <a:spcPts val="905"/>
              </a:lnSpc>
            </a:pPr>
            <a:r>
              <a:rPr sz="1100" i="1" spc="245" dirty="0">
                <a:latin typeface="Times New Roman"/>
                <a:cs typeface="Times New Roman"/>
              </a:rPr>
              <a:t>R</a:t>
            </a:r>
            <a:r>
              <a:rPr sz="1100" i="1" spc="484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dirty="0">
                <a:latin typeface="Palatino Linotype"/>
                <a:cs typeface="Palatino Linotype"/>
              </a:rPr>
              <a:t>)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×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(1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i="1" spc="50" dirty="0">
                <a:latin typeface="Georgia"/>
                <a:cs typeface="Georgia"/>
              </a:rPr>
              <a:t>b</a:t>
            </a:r>
            <a:r>
              <a:rPr sz="1100" i="1" spc="50" dirty="0">
                <a:latin typeface="Times New Roman"/>
                <a:cs typeface="Times New Roman"/>
              </a:rPr>
              <a:t>R</a:t>
            </a:r>
            <a:r>
              <a:rPr sz="1100" i="1" spc="-30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b</a:t>
            </a:r>
            <a:r>
              <a:rPr sz="1100" i="1" spc="245" dirty="0">
                <a:latin typeface="Georgia"/>
                <a:cs typeface="Georgia"/>
              </a:rPr>
              <a:t> </a:t>
            </a: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82775" y="565378"/>
            <a:ext cx="24523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2047239" algn="l"/>
              </a:tabLst>
            </a:pPr>
            <a:r>
              <a:rPr sz="900" dirty="0">
                <a:latin typeface="Palatino Linotype"/>
                <a:cs typeface="Palatino Linotype"/>
              </a:rPr>
              <a:t>2</a:t>
            </a:r>
            <a:r>
              <a:rPr sz="900" spc="70" dirty="0">
                <a:latin typeface="Palatino Linotype"/>
                <a:cs typeface="Palatino Linotype"/>
              </a:rPr>
              <a:t> </a:t>
            </a:r>
            <a:r>
              <a:rPr sz="1650" spc="450" baseline="-22727" dirty="0">
                <a:latin typeface="Palatino Linotype"/>
                <a:cs typeface="Palatino Linotype"/>
              </a:rPr>
              <a:t>+</a:t>
            </a:r>
            <a:r>
              <a:rPr sz="1650" spc="-44" baseline="-22727" dirty="0">
                <a:latin typeface="Palatino Linotype"/>
                <a:cs typeface="Palatino Linotype"/>
              </a:rPr>
              <a:t> </a:t>
            </a:r>
            <a:r>
              <a:rPr sz="1650" i="1" spc="-37" baseline="-22727" dirty="0">
                <a:latin typeface="Georgia"/>
                <a:cs typeface="Georgia"/>
              </a:rPr>
              <a:t>a</a:t>
            </a:r>
            <a:r>
              <a:rPr sz="900" spc="-25" dirty="0">
                <a:latin typeface="Palatino Linotype"/>
                <a:cs typeface="Palatino Linotype"/>
              </a:rPr>
              <a:t>3</a:t>
            </a:r>
            <a:r>
              <a:rPr sz="900" dirty="0">
                <a:latin typeface="Palatino Linotype"/>
                <a:cs typeface="Palatino Linotype"/>
              </a:rPr>
              <a:t>	2</a:t>
            </a:r>
            <a:r>
              <a:rPr sz="900" spc="70" dirty="0">
                <a:latin typeface="Palatino Linotype"/>
                <a:cs typeface="Palatino Linotype"/>
              </a:rPr>
              <a:t> </a:t>
            </a:r>
            <a:r>
              <a:rPr sz="1650" spc="450" baseline="-22727" dirty="0">
                <a:latin typeface="Palatino Linotype"/>
                <a:cs typeface="Palatino Linotype"/>
              </a:rPr>
              <a:t>+</a:t>
            </a:r>
            <a:r>
              <a:rPr sz="1650" spc="-44" baseline="-22727" dirty="0">
                <a:latin typeface="Palatino Linotype"/>
                <a:cs typeface="Palatino Linotype"/>
              </a:rPr>
              <a:t> </a:t>
            </a:r>
            <a:r>
              <a:rPr sz="1650" i="1" spc="-37" baseline="-22727" dirty="0">
                <a:latin typeface="Georgia"/>
                <a:cs typeface="Georgia"/>
              </a:rPr>
              <a:t>b</a:t>
            </a:r>
            <a:r>
              <a:rPr sz="900" spc="-25" dirty="0"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77436" y="590689"/>
            <a:ext cx="607695" cy="224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0175">
              <a:lnSpc>
                <a:spcPts val="665"/>
              </a:lnSpc>
              <a:spcBef>
                <a:spcPts val="95"/>
              </a:spcBef>
            </a:pPr>
            <a:r>
              <a:rPr sz="900" spc="-50" dirty="0"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  <a:p>
            <a:pPr marL="12700">
              <a:lnSpc>
                <a:spcPts val="905"/>
              </a:lnSpc>
            </a:pPr>
            <a:r>
              <a:rPr sz="1100" i="1" spc="245" dirty="0">
                <a:latin typeface="Times New Roman"/>
                <a:cs typeface="Times New Roman"/>
              </a:rPr>
              <a:t>R</a:t>
            </a:r>
            <a:r>
              <a:rPr sz="1100" i="1" spc="114" dirty="0">
                <a:latin typeface="Times New Roman"/>
                <a:cs typeface="Times New Roman"/>
              </a:rPr>
              <a:t> 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2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85" dirty="0">
                <a:latin typeface="Times New Roman"/>
                <a:cs typeface="Times New Roman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·</a:t>
            </a:r>
            <a:r>
              <a:rPr sz="1100" spc="-25" dirty="0">
                <a:latin typeface="Palatino Linotype"/>
                <a:cs typeface="Palatino Linotype"/>
              </a:rPr>
              <a:t>)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12095" y="997242"/>
            <a:ext cx="952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22124" y="1427876"/>
            <a:ext cx="9906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a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96724" y="1853181"/>
            <a:ext cx="20891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-37" baseline="-20202" dirty="0">
                <a:latin typeface="Georgia"/>
                <a:cs typeface="Georgia"/>
              </a:rPr>
              <a:t>a</a:t>
            </a:r>
            <a:r>
              <a:rPr sz="900" spc="-25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0312" y="1445467"/>
            <a:ext cx="311785" cy="600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100">
              <a:latin typeface="Times New Roman"/>
              <a:cs typeface="Times New Roman"/>
            </a:endParaRPr>
          </a:p>
          <a:p>
            <a:pPr marL="96520">
              <a:lnSpc>
                <a:spcPct val="100000"/>
              </a:lnSpc>
            </a:pPr>
            <a:r>
              <a:rPr sz="1650" i="1" spc="150" baseline="-20202" dirty="0">
                <a:latin typeface="Times New Roman"/>
                <a:cs typeface="Times New Roman"/>
              </a:rPr>
              <a:t>R</a:t>
            </a:r>
            <a:r>
              <a:rPr sz="900" spc="100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96724" y="2297676"/>
            <a:ext cx="20891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-37" baseline="-20202" dirty="0">
                <a:latin typeface="Georgia"/>
                <a:cs typeface="Georgia"/>
              </a:rPr>
              <a:t>a</a:t>
            </a:r>
            <a:r>
              <a:rPr sz="900" spc="-25" dirty="0"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29358" y="2297676"/>
            <a:ext cx="252729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150" baseline="-20202" dirty="0">
                <a:latin typeface="Times New Roman"/>
                <a:cs typeface="Times New Roman"/>
              </a:rPr>
              <a:t>R</a:t>
            </a:r>
            <a:r>
              <a:rPr sz="900" spc="100" dirty="0"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02525" y="1877203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37600" y="997242"/>
            <a:ext cx="952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39244" y="1446240"/>
            <a:ext cx="8572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95" dirty="0">
                <a:latin typeface="Georgia"/>
                <a:cs typeface="Georgia"/>
              </a:rPr>
              <a:t>b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13844" y="1853181"/>
            <a:ext cx="19494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-37" baseline="-20202" dirty="0">
                <a:latin typeface="Georgia"/>
                <a:cs typeface="Georgia"/>
              </a:rPr>
              <a:t>b</a:t>
            </a:r>
            <a:r>
              <a:rPr sz="900" spc="-25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04202" y="1445467"/>
            <a:ext cx="281305" cy="600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100">
              <a:latin typeface="Times New Roman"/>
              <a:cs typeface="Times New Roman"/>
            </a:endParaRPr>
          </a:p>
          <a:p>
            <a:pPr marL="66040">
              <a:lnSpc>
                <a:spcPct val="100000"/>
              </a:lnSpc>
            </a:pPr>
            <a:r>
              <a:rPr sz="1650" i="1" spc="150" baseline="-20202" dirty="0">
                <a:latin typeface="Times New Roman"/>
                <a:cs typeface="Times New Roman"/>
              </a:rPr>
              <a:t>R</a:t>
            </a:r>
            <a:r>
              <a:rPr sz="900" spc="100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13844" y="2297676"/>
            <a:ext cx="19494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-37" baseline="-20202" dirty="0">
                <a:latin typeface="Georgia"/>
                <a:cs typeface="Georgia"/>
              </a:rPr>
              <a:t>b</a:t>
            </a:r>
            <a:r>
              <a:rPr sz="900" spc="-25" dirty="0"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32642" y="2297676"/>
            <a:ext cx="252729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150" baseline="-20202" dirty="0">
                <a:latin typeface="Times New Roman"/>
                <a:cs typeface="Times New Roman"/>
              </a:rPr>
              <a:t>R</a:t>
            </a:r>
            <a:r>
              <a:rPr sz="900" spc="100" dirty="0"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05808" y="1877203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729362" y="1894921"/>
            <a:ext cx="259079" cy="198755"/>
          </a:xfrm>
          <a:custGeom>
            <a:avLst/>
            <a:gdLst/>
            <a:ahLst/>
            <a:cxnLst/>
            <a:rect l="l" t="t" r="r" b="b"/>
            <a:pathLst>
              <a:path w="259080" h="198755">
                <a:moveTo>
                  <a:pt x="0" y="198756"/>
                </a:moveTo>
                <a:lnTo>
                  <a:pt x="258998" y="198756"/>
                </a:lnTo>
                <a:lnTo>
                  <a:pt x="258998" y="0"/>
                </a:lnTo>
                <a:lnTo>
                  <a:pt x="0" y="0"/>
                </a:lnTo>
                <a:lnTo>
                  <a:pt x="0" y="198756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29362" y="2339421"/>
            <a:ext cx="259079" cy="198755"/>
          </a:xfrm>
          <a:custGeom>
            <a:avLst/>
            <a:gdLst/>
            <a:ahLst/>
            <a:cxnLst/>
            <a:rect l="l" t="t" r="r" b="b"/>
            <a:pathLst>
              <a:path w="259080" h="198755">
                <a:moveTo>
                  <a:pt x="0" y="198756"/>
                </a:moveTo>
                <a:lnTo>
                  <a:pt x="258998" y="198756"/>
                </a:lnTo>
                <a:lnTo>
                  <a:pt x="258998" y="0"/>
                </a:lnTo>
                <a:lnTo>
                  <a:pt x="0" y="0"/>
                </a:lnTo>
                <a:lnTo>
                  <a:pt x="0" y="198756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332663" y="1894921"/>
            <a:ext cx="259079" cy="198755"/>
          </a:xfrm>
          <a:custGeom>
            <a:avLst/>
            <a:gdLst/>
            <a:ahLst/>
            <a:cxnLst/>
            <a:rect l="l" t="t" r="r" b="b"/>
            <a:pathLst>
              <a:path w="259079" h="198755">
                <a:moveTo>
                  <a:pt x="0" y="198756"/>
                </a:moveTo>
                <a:lnTo>
                  <a:pt x="258999" y="198756"/>
                </a:lnTo>
                <a:lnTo>
                  <a:pt x="258999" y="0"/>
                </a:lnTo>
                <a:lnTo>
                  <a:pt x="0" y="0"/>
                </a:lnTo>
                <a:lnTo>
                  <a:pt x="0" y="198756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32664" y="2339421"/>
            <a:ext cx="259079" cy="198755"/>
          </a:xfrm>
          <a:custGeom>
            <a:avLst/>
            <a:gdLst/>
            <a:ahLst/>
            <a:cxnLst/>
            <a:rect l="l" t="t" r="r" b="b"/>
            <a:pathLst>
              <a:path w="259079" h="198755">
                <a:moveTo>
                  <a:pt x="0" y="198756"/>
                </a:moveTo>
                <a:lnTo>
                  <a:pt x="258998" y="198756"/>
                </a:lnTo>
                <a:lnTo>
                  <a:pt x="258998" y="0"/>
                </a:lnTo>
                <a:lnTo>
                  <a:pt x="0" y="0"/>
                </a:lnTo>
                <a:lnTo>
                  <a:pt x="0" y="198756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809371" y="882824"/>
            <a:ext cx="3266440" cy="1816735"/>
            <a:chOff x="809371" y="882824"/>
            <a:chExt cx="3266440" cy="1816735"/>
          </a:xfrm>
        </p:grpSpPr>
        <p:sp>
          <p:nvSpPr>
            <p:cNvPr id="29" name="object 29"/>
            <p:cNvSpPr/>
            <p:nvPr/>
          </p:nvSpPr>
          <p:spPr>
            <a:xfrm>
              <a:off x="1196721" y="889174"/>
              <a:ext cx="725805" cy="1755139"/>
            </a:xfrm>
            <a:custGeom>
              <a:avLst/>
              <a:gdLst/>
              <a:ahLst/>
              <a:cxnLst/>
              <a:rect l="l" t="t" r="r" b="b"/>
              <a:pathLst>
                <a:path w="725805" h="1755139">
                  <a:moveTo>
                    <a:pt x="231984" y="432250"/>
                  </a:moveTo>
                  <a:lnTo>
                    <a:pt x="592189" y="216125"/>
                  </a:lnTo>
                  <a:lnTo>
                    <a:pt x="231984" y="0"/>
                  </a:lnTo>
                  <a:lnTo>
                    <a:pt x="231984" y="432250"/>
                  </a:lnTo>
                  <a:close/>
                </a:path>
                <a:path w="725805" h="1755139">
                  <a:moveTo>
                    <a:pt x="0" y="830483"/>
                  </a:moveTo>
                  <a:lnTo>
                    <a:pt x="283093" y="660625"/>
                  </a:lnTo>
                  <a:lnTo>
                    <a:pt x="0" y="490767"/>
                  </a:lnTo>
                  <a:lnTo>
                    <a:pt x="0" y="830483"/>
                  </a:lnTo>
                  <a:close/>
                </a:path>
                <a:path w="725805" h="1755139">
                  <a:moveTo>
                    <a:pt x="473593" y="746278"/>
                  </a:moveTo>
                  <a:lnTo>
                    <a:pt x="725738" y="746278"/>
                  </a:lnTo>
                  <a:lnTo>
                    <a:pt x="725738" y="574972"/>
                  </a:lnTo>
                  <a:lnTo>
                    <a:pt x="473593" y="574972"/>
                  </a:lnTo>
                  <a:lnTo>
                    <a:pt x="473593" y="746278"/>
                  </a:lnTo>
                  <a:close/>
                </a:path>
                <a:path w="725805" h="1755139">
                  <a:moveTo>
                    <a:pt x="0" y="1310411"/>
                  </a:moveTo>
                  <a:lnTo>
                    <a:pt x="342140" y="1105125"/>
                  </a:lnTo>
                  <a:lnTo>
                    <a:pt x="0" y="899839"/>
                  </a:lnTo>
                  <a:lnTo>
                    <a:pt x="0" y="1310411"/>
                  </a:lnTo>
                  <a:close/>
                </a:path>
                <a:path w="725805" h="1755139">
                  <a:moveTo>
                    <a:pt x="0" y="1754911"/>
                  </a:moveTo>
                  <a:lnTo>
                    <a:pt x="342140" y="1549625"/>
                  </a:lnTo>
                  <a:lnTo>
                    <a:pt x="0" y="1344339"/>
                  </a:lnTo>
                  <a:lnTo>
                    <a:pt x="0" y="1754911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6377" y="1891315"/>
              <a:ext cx="205967" cy="20596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813861" y="889174"/>
              <a:ext cx="742950" cy="1746885"/>
            </a:xfrm>
            <a:custGeom>
              <a:avLst/>
              <a:gdLst/>
              <a:ahLst/>
              <a:cxnLst/>
              <a:rect l="l" t="t" r="r" b="b"/>
              <a:pathLst>
                <a:path w="742950" h="1746885">
                  <a:moveTo>
                    <a:pt x="240368" y="432250"/>
                  </a:moveTo>
                  <a:lnTo>
                    <a:pt x="600573" y="216125"/>
                  </a:lnTo>
                  <a:lnTo>
                    <a:pt x="240368" y="0"/>
                  </a:lnTo>
                  <a:lnTo>
                    <a:pt x="240368" y="432250"/>
                  </a:lnTo>
                  <a:close/>
                </a:path>
                <a:path w="742950" h="1746885">
                  <a:moveTo>
                    <a:pt x="0" y="840544"/>
                  </a:moveTo>
                  <a:lnTo>
                    <a:pt x="299862" y="660625"/>
                  </a:lnTo>
                  <a:lnTo>
                    <a:pt x="0" y="480706"/>
                  </a:lnTo>
                  <a:lnTo>
                    <a:pt x="0" y="840544"/>
                  </a:lnTo>
                  <a:close/>
                </a:path>
                <a:path w="742950" h="1746885">
                  <a:moveTo>
                    <a:pt x="490362" y="746278"/>
                  </a:moveTo>
                  <a:lnTo>
                    <a:pt x="742507" y="746278"/>
                  </a:lnTo>
                  <a:lnTo>
                    <a:pt x="742507" y="574972"/>
                  </a:lnTo>
                  <a:lnTo>
                    <a:pt x="490362" y="574972"/>
                  </a:lnTo>
                  <a:lnTo>
                    <a:pt x="490362" y="746278"/>
                  </a:lnTo>
                  <a:close/>
                </a:path>
                <a:path w="742950" h="1746885">
                  <a:moveTo>
                    <a:pt x="0" y="1302109"/>
                  </a:moveTo>
                  <a:lnTo>
                    <a:pt x="328302" y="1105125"/>
                  </a:lnTo>
                  <a:lnTo>
                    <a:pt x="0" y="908141"/>
                  </a:lnTo>
                  <a:lnTo>
                    <a:pt x="0" y="1302109"/>
                  </a:lnTo>
                  <a:close/>
                </a:path>
                <a:path w="742950" h="1746885">
                  <a:moveTo>
                    <a:pt x="0" y="1746609"/>
                  </a:moveTo>
                  <a:lnTo>
                    <a:pt x="328302" y="1549625"/>
                  </a:lnTo>
                  <a:lnTo>
                    <a:pt x="0" y="1352641"/>
                  </a:lnTo>
                  <a:lnTo>
                    <a:pt x="0" y="1746609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9679" y="1891315"/>
              <a:ext cx="205967" cy="20596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15721" y="1105299"/>
              <a:ext cx="588010" cy="889000"/>
            </a:xfrm>
            <a:custGeom>
              <a:avLst/>
              <a:gdLst/>
              <a:ahLst/>
              <a:cxnLst/>
              <a:rect l="l" t="t" r="r" b="b"/>
              <a:pathLst>
                <a:path w="588010" h="889000">
                  <a:moveTo>
                    <a:pt x="0" y="888999"/>
                  </a:moveTo>
                  <a:lnTo>
                    <a:pt x="190500" y="888999"/>
                  </a:lnTo>
                  <a:lnTo>
                    <a:pt x="190500" y="0"/>
                  </a:lnTo>
                  <a:lnTo>
                    <a:pt x="587681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44953" y="1081088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22"/>
                  </a:lnTo>
                  <a:lnTo>
                    <a:pt x="58449" y="242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06221" y="1081088"/>
              <a:ext cx="397510" cy="469265"/>
            </a:xfrm>
            <a:custGeom>
              <a:avLst/>
              <a:gdLst/>
              <a:ahLst/>
              <a:cxnLst/>
              <a:rect l="l" t="t" r="r" b="b"/>
              <a:pathLst>
                <a:path w="397509" h="469265">
                  <a:moveTo>
                    <a:pt x="338731" y="48422"/>
                  </a:moveTo>
                  <a:lnTo>
                    <a:pt x="397181" y="24211"/>
                  </a:lnTo>
                  <a:lnTo>
                    <a:pt x="338731" y="0"/>
                  </a:lnTo>
                  <a:lnTo>
                    <a:pt x="338731" y="48422"/>
                  </a:lnTo>
                  <a:close/>
                </a:path>
                <a:path w="397509" h="469265">
                  <a:moveTo>
                    <a:pt x="0" y="468711"/>
                  </a:moveTo>
                  <a:lnTo>
                    <a:pt x="165196" y="468711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112972" y="152558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06221" y="1525589"/>
              <a:ext cx="165735" cy="469265"/>
            </a:xfrm>
            <a:custGeom>
              <a:avLst/>
              <a:gdLst/>
              <a:ahLst/>
              <a:cxnLst/>
              <a:rect l="l" t="t" r="r" b="b"/>
              <a:pathLst>
                <a:path w="165734" h="469264">
                  <a:moveTo>
                    <a:pt x="106750" y="48419"/>
                  </a:moveTo>
                  <a:lnTo>
                    <a:pt x="165196" y="24209"/>
                  </a:lnTo>
                  <a:lnTo>
                    <a:pt x="106750" y="0"/>
                  </a:lnTo>
                  <a:lnTo>
                    <a:pt x="106750" y="48419"/>
                  </a:lnTo>
                  <a:close/>
                </a:path>
                <a:path w="165734" h="469264">
                  <a:moveTo>
                    <a:pt x="0" y="468709"/>
                  </a:moveTo>
                  <a:lnTo>
                    <a:pt x="165196" y="4687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112972" y="197008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006221" y="1970089"/>
              <a:ext cx="165735" cy="469265"/>
            </a:xfrm>
            <a:custGeom>
              <a:avLst/>
              <a:gdLst/>
              <a:ahLst/>
              <a:cxnLst/>
              <a:rect l="l" t="t" r="r" b="b"/>
              <a:pathLst>
                <a:path w="165734" h="469264">
                  <a:moveTo>
                    <a:pt x="106750" y="48419"/>
                  </a:moveTo>
                  <a:lnTo>
                    <a:pt x="165196" y="24209"/>
                  </a:lnTo>
                  <a:lnTo>
                    <a:pt x="106750" y="0"/>
                  </a:lnTo>
                  <a:lnTo>
                    <a:pt x="106750" y="48419"/>
                  </a:lnTo>
                  <a:close/>
                </a:path>
                <a:path w="165734" h="469264">
                  <a:moveTo>
                    <a:pt x="0" y="24209"/>
                  </a:moveTo>
                  <a:lnTo>
                    <a:pt x="0" y="468709"/>
                  </a:lnTo>
                  <a:lnTo>
                    <a:pt x="165196" y="4687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112972" y="241458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006221" y="2414589"/>
              <a:ext cx="165735" cy="253365"/>
            </a:xfrm>
            <a:custGeom>
              <a:avLst/>
              <a:gdLst/>
              <a:ahLst/>
              <a:cxnLst/>
              <a:rect l="l" t="t" r="r" b="b"/>
              <a:pathLst>
                <a:path w="165734" h="253364">
                  <a:moveTo>
                    <a:pt x="106750" y="48419"/>
                  </a:moveTo>
                  <a:lnTo>
                    <a:pt x="165196" y="24209"/>
                  </a:lnTo>
                  <a:lnTo>
                    <a:pt x="106750" y="0"/>
                  </a:lnTo>
                  <a:lnTo>
                    <a:pt x="106750" y="48419"/>
                  </a:lnTo>
                  <a:close/>
                </a:path>
                <a:path w="165734" h="253364">
                  <a:moveTo>
                    <a:pt x="0" y="24209"/>
                  </a:moveTo>
                  <a:lnTo>
                    <a:pt x="0" y="252905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82011" y="2609047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48420" y="0"/>
                  </a:moveTo>
                  <a:lnTo>
                    <a:pt x="0" y="0"/>
                  </a:lnTo>
                  <a:lnTo>
                    <a:pt x="24210" y="58447"/>
                  </a:lnTo>
                  <a:lnTo>
                    <a:pt x="4842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82011" y="1105299"/>
              <a:ext cx="1346200" cy="1562735"/>
            </a:xfrm>
            <a:custGeom>
              <a:avLst/>
              <a:gdLst/>
              <a:ahLst/>
              <a:cxnLst/>
              <a:rect l="l" t="t" r="r" b="b"/>
              <a:pathLst>
                <a:path w="1346200" h="1562735">
                  <a:moveTo>
                    <a:pt x="0" y="1503748"/>
                  </a:moveTo>
                  <a:lnTo>
                    <a:pt x="24210" y="1562195"/>
                  </a:lnTo>
                  <a:lnTo>
                    <a:pt x="48420" y="1503748"/>
                  </a:lnTo>
                  <a:lnTo>
                    <a:pt x="0" y="1503748"/>
                  </a:lnTo>
                  <a:close/>
                </a:path>
                <a:path w="1346200" h="1562735">
                  <a:moveTo>
                    <a:pt x="806899" y="0"/>
                  </a:moveTo>
                  <a:lnTo>
                    <a:pt x="1067448" y="0"/>
                  </a:lnTo>
                  <a:lnTo>
                    <a:pt x="1346048" y="774226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285488" y="1816330"/>
              <a:ext cx="45720" cy="63500"/>
            </a:xfrm>
            <a:custGeom>
              <a:avLst/>
              <a:gdLst/>
              <a:ahLst/>
              <a:cxnLst/>
              <a:rect l="l" t="t" r="r" b="b"/>
              <a:pathLst>
                <a:path w="45719" h="63500">
                  <a:moveTo>
                    <a:pt x="45562" y="0"/>
                  </a:moveTo>
                  <a:lnTo>
                    <a:pt x="0" y="16395"/>
                  </a:lnTo>
                  <a:lnTo>
                    <a:pt x="42572" y="63195"/>
                  </a:lnTo>
                  <a:lnTo>
                    <a:pt x="45562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922460" y="1549799"/>
              <a:ext cx="408940" cy="346075"/>
            </a:xfrm>
            <a:custGeom>
              <a:avLst/>
              <a:gdLst/>
              <a:ahLst/>
              <a:cxnLst/>
              <a:rect l="l" t="t" r="r" b="b"/>
              <a:pathLst>
                <a:path w="408939" h="346075">
                  <a:moveTo>
                    <a:pt x="363028" y="282926"/>
                  </a:moveTo>
                  <a:lnTo>
                    <a:pt x="405600" y="329726"/>
                  </a:lnTo>
                  <a:lnTo>
                    <a:pt x="408591" y="266531"/>
                  </a:lnTo>
                  <a:lnTo>
                    <a:pt x="363028" y="282926"/>
                  </a:lnTo>
                  <a:close/>
                </a:path>
                <a:path w="408939" h="346075">
                  <a:moveTo>
                    <a:pt x="0" y="0"/>
                  </a:moveTo>
                  <a:lnTo>
                    <a:pt x="126999" y="0"/>
                  </a:lnTo>
                  <a:lnTo>
                    <a:pt x="375653" y="345502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7994" y="1827393"/>
              <a:ext cx="66445" cy="74234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988361" y="1994299"/>
              <a:ext cx="259079" cy="0"/>
            </a:xfrm>
            <a:custGeom>
              <a:avLst/>
              <a:gdLst/>
              <a:ahLst/>
              <a:cxnLst/>
              <a:rect l="l" t="t" r="r" b="b"/>
              <a:pathLst>
                <a:path w="259080">
                  <a:moveTo>
                    <a:pt x="0" y="0"/>
                  </a:moveTo>
                  <a:lnTo>
                    <a:pt x="126999" y="0"/>
                  </a:lnTo>
                  <a:lnTo>
                    <a:pt x="259037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188951" y="197008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20"/>
                  </a:lnTo>
                  <a:lnTo>
                    <a:pt x="58447" y="24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988361" y="1970089"/>
              <a:ext cx="320675" cy="469265"/>
            </a:xfrm>
            <a:custGeom>
              <a:avLst/>
              <a:gdLst/>
              <a:ahLst/>
              <a:cxnLst/>
              <a:rect l="l" t="t" r="r" b="b"/>
              <a:pathLst>
                <a:path w="320675" h="469264">
                  <a:moveTo>
                    <a:pt x="200590" y="48420"/>
                  </a:moveTo>
                  <a:lnTo>
                    <a:pt x="259037" y="24210"/>
                  </a:lnTo>
                  <a:lnTo>
                    <a:pt x="200590" y="0"/>
                  </a:lnTo>
                  <a:lnTo>
                    <a:pt x="200590" y="48420"/>
                  </a:lnTo>
                  <a:close/>
                </a:path>
                <a:path w="320675" h="469264">
                  <a:moveTo>
                    <a:pt x="0" y="468710"/>
                  </a:moveTo>
                  <a:lnTo>
                    <a:pt x="126999" y="468710"/>
                  </a:lnTo>
                  <a:lnTo>
                    <a:pt x="320484" y="130112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258828" y="2100201"/>
              <a:ext cx="50165" cy="62865"/>
            </a:xfrm>
            <a:custGeom>
              <a:avLst/>
              <a:gdLst/>
              <a:ahLst/>
              <a:cxnLst/>
              <a:rect l="l" t="t" r="r" b="b"/>
              <a:pathLst>
                <a:path w="50164" h="62864">
                  <a:moveTo>
                    <a:pt x="50016" y="0"/>
                  </a:moveTo>
                  <a:lnTo>
                    <a:pt x="0" y="38733"/>
                  </a:lnTo>
                  <a:lnTo>
                    <a:pt x="42039" y="62756"/>
                  </a:lnTo>
                  <a:lnTo>
                    <a:pt x="5001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115361" y="2100201"/>
              <a:ext cx="212725" cy="593090"/>
            </a:xfrm>
            <a:custGeom>
              <a:avLst/>
              <a:gdLst/>
              <a:ahLst/>
              <a:cxnLst/>
              <a:rect l="l" t="t" r="r" b="b"/>
              <a:pathLst>
                <a:path w="212725" h="593089">
                  <a:moveTo>
                    <a:pt x="185506" y="62756"/>
                  </a:moveTo>
                  <a:lnTo>
                    <a:pt x="193484" y="0"/>
                  </a:lnTo>
                  <a:lnTo>
                    <a:pt x="143467" y="38733"/>
                  </a:lnTo>
                  <a:lnTo>
                    <a:pt x="185506" y="62756"/>
                  </a:lnTo>
                  <a:close/>
                </a:path>
                <a:path w="212725" h="593089">
                  <a:moveTo>
                    <a:pt x="0" y="592597"/>
                  </a:moveTo>
                  <a:lnTo>
                    <a:pt x="212311" y="8741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284949" y="2108943"/>
              <a:ext cx="45720" cy="63500"/>
            </a:xfrm>
            <a:custGeom>
              <a:avLst/>
              <a:gdLst/>
              <a:ahLst/>
              <a:cxnLst/>
              <a:rect l="l" t="t" r="r" b="b"/>
              <a:pathLst>
                <a:path w="45719" h="63500">
                  <a:moveTo>
                    <a:pt x="42722" y="0"/>
                  </a:moveTo>
                  <a:lnTo>
                    <a:pt x="0" y="46650"/>
                  </a:lnTo>
                  <a:lnTo>
                    <a:pt x="45501" y="63196"/>
                  </a:lnTo>
                  <a:lnTo>
                    <a:pt x="42722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479815" y="1549799"/>
              <a:ext cx="850900" cy="622935"/>
            </a:xfrm>
            <a:custGeom>
              <a:avLst/>
              <a:gdLst/>
              <a:ahLst/>
              <a:cxnLst/>
              <a:rect l="l" t="t" r="r" b="b"/>
              <a:pathLst>
                <a:path w="850900" h="622935">
                  <a:moveTo>
                    <a:pt x="850634" y="622340"/>
                  </a:moveTo>
                  <a:lnTo>
                    <a:pt x="847856" y="559144"/>
                  </a:lnTo>
                  <a:lnTo>
                    <a:pt x="805133" y="605794"/>
                  </a:lnTo>
                  <a:lnTo>
                    <a:pt x="850634" y="622340"/>
                  </a:lnTo>
                  <a:close/>
                </a:path>
                <a:path w="850900" h="622935">
                  <a:moveTo>
                    <a:pt x="0" y="0"/>
                  </a:moveTo>
                  <a:lnTo>
                    <a:pt x="165196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586566" y="152558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538862" y="1525589"/>
              <a:ext cx="165735" cy="469265"/>
            </a:xfrm>
            <a:custGeom>
              <a:avLst/>
              <a:gdLst/>
              <a:ahLst/>
              <a:cxnLst/>
              <a:rect l="l" t="t" r="r" b="b"/>
              <a:pathLst>
                <a:path w="165735" h="469264">
                  <a:moveTo>
                    <a:pt x="47704" y="48419"/>
                  </a:moveTo>
                  <a:lnTo>
                    <a:pt x="106150" y="24209"/>
                  </a:lnTo>
                  <a:lnTo>
                    <a:pt x="47704" y="0"/>
                  </a:lnTo>
                  <a:lnTo>
                    <a:pt x="47704" y="48419"/>
                  </a:lnTo>
                  <a:close/>
                </a:path>
                <a:path w="165735" h="469264">
                  <a:moveTo>
                    <a:pt x="0" y="468709"/>
                  </a:moveTo>
                  <a:lnTo>
                    <a:pt x="165196" y="4687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645612" y="197008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538862" y="1970089"/>
              <a:ext cx="165735" cy="469265"/>
            </a:xfrm>
            <a:custGeom>
              <a:avLst/>
              <a:gdLst/>
              <a:ahLst/>
              <a:cxnLst/>
              <a:rect l="l" t="t" r="r" b="b"/>
              <a:pathLst>
                <a:path w="165735" h="469264">
                  <a:moveTo>
                    <a:pt x="106750" y="48419"/>
                  </a:moveTo>
                  <a:lnTo>
                    <a:pt x="165196" y="24209"/>
                  </a:lnTo>
                  <a:lnTo>
                    <a:pt x="106750" y="0"/>
                  </a:lnTo>
                  <a:lnTo>
                    <a:pt x="106750" y="48419"/>
                  </a:lnTo>
                  <a:close/>
                </a:path>
                <a:path w="165735" h="469264">
                  <a:moveTo>
                    <a:pt x="0" y="468709"/>
                  </a:moveTo>
                  <a:lnTo>
                    <a:pt x="165196" y="4687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645612" y="241458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645612" y="241458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48419"/>
                  </a:moveTo>
                  <a:lnTo>
                    <a:pt x="58446" y="24209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935537" y="2606393"/>
            <a:ext cx="12509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21410" algn="l"/>
              </a:tabLst>
            </a:pPr>
            <a:r>
              <a:rPr sz="1100" i="1" spc="-25" dirty="0">
                <a:solidFill>
                  <a:srgbClr val="0000CC"/>
                </a:solidFill>
                <a:latin typeface="Georgia"/>
                <a:cs typeface="Georgia"/>
              </a:rPr>
              <a:t>...</a:t>
            </a:r>
            <a:r>
              <a:rPr sz="1100" i="1" dirty="0">
                <a:solidFill>
                  <a:srgbClr val="0000CC"/>
                </a:solidFill>
                <a:latin typeface="Georgia"/>
                <a:cs typeface="Georgia"/>
              </a:rPr>
              <a:t>	</a:t>
            </a:r>
            <a:r>
              <a:rPr sz="1100" i="1" spc="-25" dirty="0">
                <a:solidFill>
                  <a:srgbClr val="0000CC"/>
                </a:solidFill>
                <a:latin typeface="Georgia"/>
                <a:cs typeface="Georgia"/>
              </a:rPr>
              <a:t>...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2459692" y="1074762"/>
            <a:ext cx="1781175" cy="1624965"/>
            <a:chOff x="2459692" y="1074762"/>
            <a:chExt cx="1781175" cy="1624965"/>
          </a:xfrm>
        </p:grpSpPr>
        <p:sp>
          <p:nvSpPr>
            <p:cNvPr id="62" name="object 62"/>
            <p:cNvSpPr/>
            <p:nvPr/>
          </p:nvSpPr>
          <p:spPr>
            <a:xfrm>
              <a:off x="2466018" y="1105299"/>
              <a:ext cx="563245" cy="889000"/>
            </a:xfrm>
            <a:custGeom>
              <a:avLst/>
              <a:gdLst/>
              <a:ahLst/>
              <a:cxnLst/>
              <a:rect l="l" t="t" r="r" b="b"/>
              <a:pathLst>
                <a:path w="563244" h="889000">
                  <a:moveTo>
                    <a:pt x="0" y="888999"/>
                  </a:moveTo>
                  <a:lnTo>
                    <a:pt x="157342" y="888999"/>
                  </a:lnTo>
                  <a:lnTo>
                    <a:pt x="157342" y="0"/>
                  </a:lnTo>
                  <a:lnTo>
                    <a:pt x="562905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970475" y="1081088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21"/>
                  </a:lnTo>
                  <a:lnTo>
                    <a:pt x="58448" y="24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623361" y="1081088"/>
              <a:ext cx="405765" cy="469265"/>
            </a:xfrm>
            <a:custGeom>
              <a:avLst/>
              <a:gdLst/>
              <a:ahLst/>
              <a:cxnLst/>
              <a:rect l="l" t="t" r="r" b="b"/>
              <a:pathLst>
                <a:path w="405764" h="469265">
                  <a:moveTo>
                    <a:pt x="347114" y="48421"/>
                  </a:moveTo>
                  <a:lnTo>
                    <a:pt x="405562" y="24210"/>
                  </a:lnTo>
                  <a:lnTo>
                    <a:pt x="347114" y="0"/>
                  </a:lnTo>
                  <a:lnTo>
                    <a:pt x="347114" y="48421"/>
                  </a:lnTo>
                  <a:close/>
                </a:path>
                <a:path w="405764" h="469265">
                  <a:moveTo>
                    <a:pt x="0" y="468710"/>
                  </a:moveTo>
                  <a:lnTo>
                    <a:pt x="165196" y="46871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730111" y="152558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623361" y="1525589"/>
              <a:ext cx="165735" cy="469265"/>
            </a:xfrm>
            <a:custGeom>
              <a:avLst/>
              <a:gdLst/>
              <a:ahLst/>
              <a:cxnLst/>
              <a:rect l="l" t="t" r="r" b="b"/>
              <a:pathLst>
                <a:path w="165735" h="469264">
                  <a:moveTo>
                    <a:pt x="106750" y="48419"/>
                  </a:moveTo>
                  <a:lnTo>
                    <a:pt x="165196" y="24209"/>
                  </a:lnTo>
                  <a:lnTo>
                    <a:pt x="106750" y="0"/>
                  </a:lnTo>
                  <a:lnTo>
                    <a:pt x="106750" y="48419"/>
                  </a:lnTo>
                  <a:close/>
                </a:path>
                <a:path w="165735" h="469264">
                  <a:moveTo>
                    <a:pt x="0" y="468709"/>
                  </a:moveTo>
                  <a:lnTo>
                    <a:pt x="165196" y="4687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730111" y="197008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623361" y="1970089"/>
              <a:ext cx="165735" cy="469265"/>
            </a:xfrm>
            <a:custGeom>
              <a:avLst/>
              <a:gdLst/>
              <a:ahLst/>
              <a:cxnLst/>
              <a:rect l="l" t="t" r="r" b="b"/>
              <a:pathLst>
                <a:path w="165735" h="469264">
                  <a:moveTo>
                    <a:pt x="106750" y="48419"/>
                  </a:moveTo>
                  <a:lnTo>
                    <a:pt x="165196" y="24209"/>
                  </a:lnTo>
                  <a:lnTo>
                    <a:pt x="106750" y="0"/>
                  </a:lnTo>
                  <a:lnTo>
                    <a:pt x="106750" y="48419"/>
                  </a:lnTo>
                  <a:close/>
                </a:path>
                <a:path w="165735" h="469264">
                  <a:moveTo>
                    <a:pt x="0" y="24209"/>
                  </a:moveTo>
                  <a:lnTo>
                    <a:pt x="0" y="468709"/>
                  </a:lnTo>
                  <a:lnTo>
                    <a:pt x="165196" y="4687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730111" y="241458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623361" y="2414589"/>
              <a:ext cx="165735" cy="253365"/>
            </a:xfrm>
            <a:custGeom>
              <a:avLst/>
              <a:gdLst/>
              <a:ahLst/>
              <a:cxnLst/>
              <a:rect l="l" t="t" r="r" b="b"/>
              <a:pathLst>
                <a:path w="165735" h="253364">
                  <a:moveTo>
                    <a:pt x="106750" y="48419"/>
                  </a:moveTo>
                  <a:lnTo>
                    <a:pt x="165196" y="24209"/>
                  </a:lnTo>
                  <a:lnTo>
                    <a:pt x="106750" y="0"/>
                  </a:lnTo>
                  <a:lnTo>
                    <a:pt x="106750" y="48419"/>
                  </a:lnTo>
                  <a:close/>
                </a:path>
                <a:path w="165735" h="253364">
                  <a:moveTo>
                    <a:pt x="0" y="24209"/>
                  </a:moveTo>
                  <a:lnTo>
                    <a:pt x="0" y="252905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599150" y="2609047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48420" y="0"/>
                  </a:moveTo>
                  <a:lnTo>
                    <a:pt x="0" y="0"/>
                  </a:lnTo>
                  <a:lnTo>
                    <a:pt x="24210" y="58447"/>
                  </a:lnTo>
                  <a:lnTo>
                    <a:pt x="4842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599150" y="1105299"/>
              <a:ext cx="1336040" cy="1562735"/>
            </a:xfrm>
            <a:custGeom>
              <a:avLst/>
              <a:gdLst/>
              <a:ahLst/>
              <a:cxnLst/>
              <a:rect l="l" t="t" r="r" b="b"/>
              <a:pathLst>
                <a:path w="1336039" h="1562735">
                  <a:moveTo>
                    <a:pt x="0" y="1503748"/>
                  </a:moveTo>
                  <a:lnTo>
                    <a:pt x="24210" y="1562195"/>
                  </a:lnTo>
                  <a:lnTo>
                    <a:pt x="48420" y="1503748"/>
                  </a:lnTo>
                  <a:lnTo>
                    <a:pt x="0" y="1503748"/>
                  </a:lnTo>
                  <a:close/>
                </a:path>
                <a:path w="1336039" h="1562735">
                  <a:moveTo>
                    <a:pt x="815284" y="0"/>
                  </a:moveTo>
                  <a:lnTo>
                    <a:pt x="1084217" y="0"/>
                  </a:lnTo>
                  <a:lnTo>
                    <a:pt x="1335759" y="772987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893805" y="1815221"/>
              <a:ext cx="46355" cy="63500"/>
            </a:xfrm>
            <a:custGeom>
              <a:avLst/>
              <a:gdLst/>
              <a:ahLst/>
              <a:cxnLst/>
              <a:rect l="l" t="t" r="r" b="b"/>
              <a:pathLst>
                <a:path w="46354" h="63500">
                  <a:moveTo>
                    <a:pt x="46040" y="0"/>
                  </a:moveTo>
                  <a:lnTo>
                    <a:pt x="0" y="14982"/>
                  </a:lnTo>
                  <a:lnTo>
                    <a:pt x="41105" y="63065"/>
                  </a:lnTo>
                  <a:lnTo>
                    <a:pt x="4604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556368" y="1549799"/>
              <a:ext cx="383540" cy="342900"/>
            </a:xfrm>
            <a:custGeom>
              <a:avLst/>
              <a:gdLst/>
              <a:ahLst/>
              <a:cxnLst/>
              <a:rect l="l" t="t" r="r" b="b"/>
              <a:pathLst>
                <a:path w="383539" h="342900">
                  <a:moveTo>
                    <a:pt x="337437" y="280404"/>
                  </a:moveTo>
                  <a:lnTo>
                    <a:pt x="378542" y="328487"/>
                  </a:lnTo>
                  <a:lnTo>
                    <a:pt x="383477" y="265421"/>
                  </a:lnTo>
                  <a:lnTo>
                    <a:pt x="337437" y="280404"/>
                  </a:lnTo>
                  <a:close/>
                </a:path>
                <a:path w="383539" h="342900">
                  <a:moveTo>
                    <a:pt x="0" y="0"/>
                  </a:moveTo>
                  <a:lnTo>
                    <a:pt x="127000" y="0"/>
                  </a:lnTo>
                  <a:lnTo>
                    <a:pt x="349762" y="342273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7633" y="1823556"/>
              <a:ext cx="64823" cy="74842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3591662" y="1994299"/>
              <a:ext cx="259079" cy="0"/>
            </a:xfrm>
            <a:custGeom>
              <a:avLst/>
              <a:gdLst/>
              <a:ahLst/>
              <a:cxnLst/>
              <a:rect l="l" t="t" r="r" b="b"/>
              <a:pathLst>
                <a:path w="259079">
                  <a:moveTo>
                    <a:pt x="0" y="0"/>
                  </a:moveTo>
                  <a:lnTo>
                    <a:pt x="126999" y="0"/>
                  </a:lnTo>
                  <a:lnTo>
                    <a:pt x="259037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792253" y="197008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20"/>
                  </a:lnTo>
                  <a:lnTo>
                    <a:pt x="58446" y="24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591662" y="1970089"/>
              <a:ext cx="320675" cy="469265"/>
            </a:xfrm>
            <a:custGeom>
              <a:avLst/>
              <a:gdLst/>
              <a:ahLst/>
              <a:cxnLst/>
              <a:rect l="l" t="t" r="r" b="b"/>
              <a:pathLst>
                <a:path w="320675" h="469264">
                  <a:moveTo>
                    <a:pt x="200590" y="48420"/>
                  </a:moveTo>
                  <a:lnTo>
                    <a:pt x="259037" y="24210"/>
                  </a:lnTo>
                  <a:lnTo>
                    <a:pt x="200590" y="0"/>
                  </a:lnTo>
                  <a:lnTo>
                    <a:pt x="200590" y="48420"/>
                  </a:lnTo>
                  <a:close/>
                </a:path>
                <a:path w="320675" h="469264">
                  <a:moveTo>
                    <a:pt x="0" y="468710"/>
                  </a:moveTo>
                  <a:lnTo>
                    <a:pt x="126999" y="468710"/>
                  </a:lnTo>
                  <a:lnTo>
                    <a:pt x="320484" y="130112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862130" y="2100201"/>
              <a:ext cx="50165" cy="62865"/>
            </a:xfrm>
            <a:custGeom>
              <a:avLst/>
              <a:gdLst/>
              <a:ahLst/>
              <a:cxnLst/>
              <a:rect l="l" t="t" r="r" b="b"/>
              <a:pathLst>
                <a:path w="50164" h="62864">
                  <a:moveTo>
                    <a:pt x="50016" y="0"/>
                  </a:moveTo>
                  <a:lnTo>
                    <a:pt x="0" y="38733"/>
                  </a:lnTo>
                  <a:lnTo>
                    <a:pt x="42039" y="62756"/>
                  </a:lnTo>
                  <a:lnTo>
                    <a:pt x="5001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718662" y="2100201"/>
              <a:ext cx="212725" cy="593090"/>
            </a:xfrm>
            <a:custGeom>
              <a:avLst/>
              <a:gdLst/>
              <a:ahLst/>
              <a:cxnLst/>
              <a:rect l="l" t="t" r="r" b="b"/>
              <a:pathLst>
                <a:path w="212725" h="593089">
                  <a:moveTo>
                    <a:pt x="185507" y="62756"/>
                  </a:moveTo>
                  <a:lnTo>
                    <a:pt x="193484" y="0"/>
                  </a:lnTo>
                  <a:lnTo>
                    <a:pt x="143467" y="38733"/>
                  </a:lnTo>
                  <a:lnTo>
                    <a:pt x="185507" y="62756"/>
                  </a:lnTo>
                  <a:close/>
                </a:path>
                <a:path w="212725" h="593089">
                  <a:moveTo>
                    <a:pt x="0" y="592597"/>
                  </a:moveTo>
                  <a:lnTo>
                    <a:pt x="212311" y="8741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888251" y="2108943"/>
              <a:ext cx="45720" cy="63500"/>
            </a:xfrm>
            <a:custGeom>
              <a:avLst/>
              <a:gdLst/>
              <a:ahLst/>
              <a:cxnLst/>
              <a:rect l="l" t="t" r="r" b="b"/>
              <a:pathLst>
                <a:path w="45720" h="63500">
                  <a:moveTo>
                    <a:pt x="42722" y="0"/>
                  </a:moveTo>
                  <a:lnTo>
                    <a:pt x="0" y="46650"/>
                  </a:lnTo>
                  <a:lnTo>
                    <a:pt x="45501" y="63196"/>
                  </a:lnTo>
                  <a:lnTo>
                    <a:pt x="42722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888251" y="1994299"/>
              <a:ext cx="346710" cy="178435"/>
            </a:xfrm>
            <a:custGeom>
              <a:avLst/>
              <a:gdLst/>
              <a:ahLst/>
              <a:cxnLst/>
              <a:rect l="l" t="t" r="r" b="b"/>
              <a:pathLst>
                <a:path w="346710" h="178435">
                  <a:moveTo>
                    <a:pt x="45501" y="177840"/>
                  </a:moveTo>
                  <a:lnTo>
                    <a:pt x="42722" y="114644"/>
                  </a:lnTo>
                  <a:lnTo>
                    <a:pt x="0" y="161294"/>
                  </a:lnTo>
                  <a:lnTo>
                    <a:pt x="45501" y="177840"/>
                  </a:lnTo>
                  <a:close/>
                </a:path>
                <a:path w="346710" h="178435">
                  <a:moveTo>
                    <a:pt x="181068" y="0"/>
                  </a:moveTo>
                  <a:lnTo>
                    <a:pt x="346265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176070" y="197008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113723" y="1549799"/>
              <a:ext cx="1121410" cy="469265"/>
            </a:xfrm>
            <a:custGeom>
              <a:avLst/>
              <a:gdLst/>
              <a:ahLst/>
              <a:cxnLst/>
              <a:rect l="l" t="t" r="r" b="b"/>
              <a:pathLst>
                <a:path w="1121410" h="469264">
                  <a:moveTo>
                    <a:pt x="1062347" y="468709"/>
                  </a:moveTo>
                  <a:lnTo>
                    <a:pt x="1120793" y="444499"/>
                  </a:lnTo>
                  <a:lnTo>
                    <a:pt x="1062347" y="420290"/>
                  </a:lnTo>
                  <a:lnTo>
                    <a:pt x="1062347" y="468709"/>
                  </a:lnTo>
                  <a:close/>
                </a:path>
                <a:path w="1121410" h="469264">
                  <a:moveTo>
                    <a:pt x="0" y="0"/>
                  </a:moveTo>
                  <a:lnTo>
                    <a:pt x="165196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220473" y="152558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142163" y="1525589"/>
              <a:ext cx="165735" cy="469265"/>
            </a:xfrm>
            <a:custGeom>
              <a:avLst/>
              <a:gdLst/>
              <a:ahLst/>
              <a:cxnLst/>
              <a:rect l="l" t="t" r="r" b="b"/>
              <a:pathLst>
                <a:path w="165735" h="469264">
                  <a:moveTo>
                    <a:pt x="78309" y="48419"/>
                  </a:moveTo>
                  <a:lnTo>
                    <a:pt x="136755" y="24209"/>
                  </a:lnTo>
                  <a:lnTo>
                    <a:pt x="78309" y="0"/>
                  </a:lnTo>
                  <a:lnTo>
                    <a:pt x="78309" y="48419"/>
                  </a:lnTo>
                  <a:close/>
                </a:path>
                <a:path w="165735" h="469264">
                  <a:moveTo>
                    <a:pt x="0" y="468709"/>
                  </a:moveTo>
                  <a:lnTo>
                    <a:pt x="165196" y="4687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248913" y="197008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142163" y="1970089"/>
              <a:ext cx="165735" cy="469265"/>
            </a:xfrm>
            <a:custGeom>
              <a:avLst/>
              <a:gdLst/>
              <a:ahLst/>
              <a:cxnLst/>
              <a:rect l="l" t="t" r="r" b="b"/>
              <a:pathLst>
                <a:path w="165735" h="469264">
                  <a:moveTo>
                    <a:pt x="106750" y="48419"/>
                  </a:moveTo>
                  <a:lnTo>
                    <a:pt x="165196" y="24209"/>
                  </a:lnTo>
                  <a:lnTo>
                    <a:pt x="106750" y="0"/>
                  </a:lnTo>
                  <a:lnTo>
                    <a:pt x="106750" y="48419"/>
                  </a:lnTo>
                  <a:close/>
                </a:path>
                <a:path w="165735" h="469264">
                  <a:moveTo>
                    <a:pt x="0" y="468709"/>
                  </a:moveTo>
                  <a:lnTo>
                    <a:pt x="165196" y="4687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248914" y="241458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248914" y="241458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48419"/>
                  </a:moveTo>
                  <a:lnTo>
                    <a:pt x="58446" y="24209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2552658" y="2606393"/>
            <a:ext cx="14160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25" dirty="0">
                <a:solidFill>
                  <a:srgbClr val="0000CC"/>
                </a:solidFill>
                <a:latin typeface="Georgia"/>
                <a:cs typeface="Georgia"/>
              </a:rPr>
              <a:t>...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8" name="object 9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92" name="object 92"/>
          <p:cNvSpPr txBox="1"/>
          <p:nvPr/>
        </p:nvSpPr>
        <p:spPr>
          <a:xfrm>
            <a:off x="3647915" y="2606393"/>
            <a:ext cx="14160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25" dirty="0">
                <a:solidFill>
                  <a:srgbClr val="0000CC"/>
                </a:solidFill>
                <a:latin typeface="Georgia"/>
                <a:cs typeface="Georgia"/>
              </a:rPr>
              <a:t>...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626004" y="1889961"/>
            <a:ext cx="1409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65" dirty="0">
                <a:latin typeface="Georgia"/>
                <a:cs typeface="Georgia"/>
              </a:rPr>
              <a:t>X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4297902" y="1889961"/>
            <a:ext cx="10668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36727" y="3127057"/>
            <a:ext cx="20078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3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(</a:t>
            </a:r>
            <a:r>
              <a:rPr sz="1100" i="1" dirty="0">
                <a:latin typeface="Georgia"/>
                <a:cs typeface="Georgia"/>
              </a:rPr>
              <a:t>a</a:t>
            </a:r>
            <a:r>
              <a:rPr sz="1100" i="1" spc="-20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i="1" spc="50" dirty="0">
                <a:latin typeface="Georgia"/>
                <a:cs typeface="Georgia"/>
              </a:rPr>
              <a:t>b</a:t>
            </a:r>
            <a:r>
              <a:rPr sz="1100" spc="50" dirty="0">
                <a:latin typeface="Palatino Linotype"/>
                <a:cs typeface="Palatino Linotype"/>
              </a:rPr>
              <a:t>)</a:t>
            </a:r>
            <a:r>
              <a:rPr sz="1100" i="1" spc="50" dirty="0">
                <a:latin typeface="Times New Roman"/>
                <a:cs typeface="Times New Roman"/>
              </a:rPr>
              <a:t>R</a:t>
            </a:r>
            <a:r>
              <a:rPr sz="1100" i="1" spc="-30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(</a:t>
            </a:r>
            <a:r>
              <a:rPr sz="1100" i="1" dirty="0">
                <a:latin typeface="Georgia"/>
                <a:cs typeface="Georgia"/>
              </a:rPr>
              <a:t>a</a:t>
            </a:r>
            <a:r>
              <a:rPr sz="1350" baseline="27777" dirty="0">
                <a:latin typeface="Palatino Linotype"/>
                <a:cs typeface="Palatino Linotype"/>
              </a:rPr>
              <a:t>2</a:t>
            </a:r>
            <a:r>
              <a:rPr sz="1350" spc="104" baseline="27777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i="1" spc="-105" dirty="0">
                <a:latin typeface="Georgia"/>
                <a:cs typeface="Georgia"/>
              </a:rPr>
              <a:t>ab</a:t>
            </a:r>
            <a:r>
              <a:rPr sz="1100" i="1" spc="-20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i="1" spc="-25" dirty="0">
                <a:latin typeface="Georgia"/>
                <a:cs typeface="Georgia"/>
              </a:rPr>
              <a:t>b</a:t>
            </a:r>
            <a:r>
              <a:rPr sz="1350" spc="-37" baseline="27777" dirty="0">
                <a:latin typeface="Palatino Linotype"/>
                <a:cs typeface="Palatino Linotype"/>
              </a:rPr>
              <a:t>2</a:t>
            </a:r>
            <a:r>
              <a:rPr sz="1100" spc="-25" dirty="0">
                <a:latin typeface="Palatino Linotype"/>
                <a:cs typeface="Palatino Linotype"/>
              </a:rPr>
              <a:t>)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2493212" y="3094901"/>
            <a:ext cx="2197100" cy="224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0175">
              <a:lnSpc>
                <a:spcPts val="665"/>
              </a:lnSpc>
              <a:spcBef>
                <a:spcPts val="95"/>
              </a:spcBef>
              <a:tabLst>
                <a:tab pos="492759" algn="l"/>
                <a:tab pos="801370" algn="l"/>
                <a:tab pos="1229360" algn="l"/>
                <a:tab pos="1524000" algn="l"/>
                <a:tab pos="1760855" algn="l"/>
              </a:tabLst>
            </a:pPr>
            <a:r>
              <a:rPr sz="900" spc="-50" dirty="0">
                <a:latin typeface="Palatino Linotype"/>
                <a:cs typeface="Palatino Linotype"/>
              </a:rPr>
              <a:t>2</a:t>
            </a:r>
            <a:r>
              <a:rPr sz="900" dirty="0">
                <a:latin typeface="Palatino Linotype"/>
                <a:cs typeface="Palatino Linotype"/>
              </a:rPr>
              <a:t>	</a:t>
            </a:r>
            <a:r>
              <a:rPr sz="900" spc="-50" dirty="0">
                <a:latin typeface="Palatino Linotype"/>
                <a:cs typeface="Palatino Linotype"/>
              </a:rPr>
              <a:t>3</a:t>
            </a:r>
            <a:r>
              <a:rPr sz="900" dirty="0">
                <a:latin typeface="Palatino Linotype"/>
                <a:cs typeface="Palatino Linotype"/>
              </a:rPr>
              <a:t>	</a:t>
            </a:r>
            <a:r>
              <a:rPr sz="900" spc="-50" dirty="0">
                <a:latin typeface="Palatino Linotype"/>
                <a:cs typeface="Palatino Linotype"/>
              </a:rPr>
              <a:t>2</a:t>
            </a:r>
            <a:r>
              <a:rPr sz="900" dirty="0">
                <a:latin typeface="Palatino Linotype"/>
                <a:cs typeface="Palatino Linotype"/>
              </a:rPr>
              <a:t>	</a:t>
            </a:r>
            <a:r>
              <a:rPr sz="900" spc="-50" dirty="0">
                <a:latin typeface="Palatino Linotype"/>
                <a:cs typeface="Palatino Linotype"/>
              </a:rPr>
              <a:t>2</a:t>
            </a:r>
            <a:r>
              <a:rPr sz="900" dirty="0">
                <a:latin typeface="Palatino Linotype"/>
                <a:cs typeface="Palatino Linotype"/>
              </a:rPr>
              <a:t>	</a:t>
            </a:r>
            <a:r>
              <a:rPr sz="900" spc="-50" dirty="0">
                <a:latin typeface="Palatino Linotype"/>
                <a:cs typeface="Palatino Linotype"/>
              </a:rPr>
              <a:t>3</a:t>
            </a:r>
            <a:r>
              <a:rPr sz="900" dirty="0">
                <a:latin typeface="Palatino Linotype"/>
                <a:cs typeface="Palatino Linotype"/>
              </a:rPr>
              <a:t>	</a:t>
            </a:r>
            <a:r>
              <a:rPr sz="900" spc="-50" dirty="0"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  <a:p>
            <a:pPr marL="12700">
              <a:lnSpc>
                <a:spcPts val="905"/>
              </a:lnSpc>
            </a:pPr>
            <a:r>
              <a:rPr sz="1100" i="1" spc="245" dirty="0">
                <a:latin typeface="Times New Roman"/>
                <a:cs typeface="Times New Roman"/>
              </a:rPr>
              <a:t>R</a:t>
            </a:r>
            <a:r>
              <a:rPr sz="1100" i="1" spc="400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4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(</a:t>
            </a:r>
            <a:r>
              <a:rPr sz="1100" i="1" dirty="0">
                <a:latin typeface="Georgia"/>
                <a:cs typeface="Georgia"/>
              </a:rPr>
              <a:t>a</a:t>
            </a:r>
            <a:r>
              <a:rPr sz="1100" i="1" spc="440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4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a</a:t>
            </a:r>
            <a:r>
              <a:rPr sz="1100" i="1" spc="204" dirty="0">
                <a:latin typeface="Georgia"/>
                <a:cs typeface="Georgia"/>
              </a:rPr>
              <a:t> </a:t>
            </a:r>
            <a:r>
              <a:rPr sz="1100" i="1" spc="-155" dirty="0">
                <a:latin typeface="Georgia"/>
                <a:cs typeface="Georgia"/>
              </a:rPr>
              <a:t>b</a:t>
            </a:r>
            <a:r>
              <a:rPr sz="1100" i="1" spc="-25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4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ab</a:t>
            </a:r>
            <a:r>
              <a:rPr sz="1100" i="1" spc="440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4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b</a:t>
            </a:r>
            <a:r>
              <a:rPr sz="1100" i="1" spc="210" dirty="0">
                <a:latin typeface="Georgia"/>
                <a:cs typeface="Georgia"/>
              </a:rPr>
              <a:t> </a:t>
            </a:r>
            <a:r>
              <a:rPr sz="1100" spc="150" dirty="0">
                <a:latin typeface="Palatino Linotype"/>
                <a:cs typeface="Palatino Linotype"/>
              </a:rPr>
              <a:t>)</a:t>
            </a:r>
            <a:r>
              <a:rPr sz="1100" i="1" spc="150" dirty="0">
                <a:latin typeface="Times New Roman"/>
                <a:cs typeface="Times New Roman"/>
              </a:rPr>
              <a:t>R</a:t>
            </a:r>
            <a:r>
              <a:rPr sz="1100" i="1" spc="440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5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·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82082" y="3222534"/>
            <a:ext cx="1409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65" dirty="0">
                <a:latin typeface="Georgia"/>
                <a:cs typeface="Georgia"/>
              </a:rPr>
              <a:t>X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7303" y="1152140"/>
            <a:ext cx="3126740" cy="0"/>
          </a:xfrm>
          <a:custGeom>
            <a:avLst/>
            <a:gdLst/>
            <a:ahLst/>
            <a:cxnLst/>
            <a:rect l="l" t="t" r="r" b="b"/>
            <a:pathLst>
              <a:path w="3126740">
                <a:moveTo>
                  <a:pt x="0" y="0"/>
                </a:moveTo>
                <a:lnTo>
                  <a:pt x="312640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7055" y="2965809"/>
            <a:ext cx="1923852" cy="5780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47435" y="3383892"/>
            <a:ext cx="1941195" cy="326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1185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ts val="1185"/>
              </a:lnSpc>
            </a:pPr>
            <a:r>
              <a:rPr sz="1100" i="1" spc="50" dirty="0">
                <a:latin typeface="Times New Roman"/>
                <a:cs typeface="Times New Roman"/>
              </a:rPr>
              <a:t>−</a:t>
            </a:r>
            <a:r>
              <a:rPr sz="1100" spc="50" dirty="0">
                <a:latin typeface="Palatino Linotype"/>
                <a:cs typeface="Palatino Linotype"/>
              </a:rPr>
              <a:t>1</a:t>
            </a:r>
            <a:r>
              <a:rPr sz="1100" spc="1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2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3</a:t>
            </a:r>
            <a:r>
              <a:rPr sz="1100" spc="160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4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5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6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7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spc="-50" dirty="0">
                <a:latin typeface="Palatino Linotype"/>
                <a:cs typeface="Palatino Linotype"/>
              </a:rPr>
              <a:t>8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698960" y="2728343"/>
            <a:ext cx="2603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30" dirty="0">
                <a:latin typeface="Georgia"/>
                <a:cs typeface="Georgia"/>
              </a:rPr>
              <a:t>y</a:t>
            </a:r>
            <a:r>
              <a:rPr sz="1100" spc="-30" dirty="0">
                <a:latin typeface="Palatino Linotype"/>
                <a:cs typeface="Palatino Linotype"/>
              </a:rPr>
              <a:t>[</a:t>
            </a:r>
            <a:r>
              <a:rPr sz="1100" i="1" spc="-30" dirty="0">
                <a:latin typeface="Georgia"/>
                <a:cs typeface="Georgia"/>
              </a:rPr>
              <a:t>n</a:t>
            </a:r>
            <a:r>
              <a:rPr sz="1100" spc="-30" dirty="0">
                <a:latin typeface="Palatino Linotype"/>
                <a:cs typeface="Palatino Linotype"/>
              </a:rPr>
              <a:t>]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85" dirty="0"/>
              <a:t>Multiplying</a:t>
            </a:r>
            <a:r>
              <a:rPr spc="229" dirty="0"/>
              <a:t> </a:t>
            </a:r>
            <a:r>
              <a:rPr spc="60" dirty="0"/>
              <a:t>Polynomials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8430" y="330022"/>
            <a:ext cx="4167504" cy="48005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75"/>
              </a:spcBef>
            </a:pPr>
            <a:r>
              <a:rPr sz="1100" spc="65" dirty="0">
                <a:latin typeface="Arial"/>
                <a:cs typeface="Arial"/>
              </a:rPr>
              <a:t>Tabular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representation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polynomial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multiplication.</a:t>
            </a:r>
            <a:endParaRPr sz="1100">
              <a:latin typeface="Arial"/>
              <a:cs typeface="Arial"/>
            </a:endParaRPr>
          </a:p>
          <a:p>
            <a:pPr marL="1202690">
              <a:lnSpc>
                <a:spcPts val="665"/>
              </a:lnSpc>
              <a:spcBef>
                <a:spcPts val="310"/>
              </a:spcBef>
              <a:tabLst>
                <a:tab pos="1511300" algn="l"/>
                <a:tab pos="3016885" algn="l"/>
                <a:tab pos="3494404" algn="l"/>
              </a:tabLst>
            </a:pPr>
            <a:r>
              <a:rPr sz="900" spc="-50" dirty="0">
                <a:latin typeface="Palatino Linotype"/>
                <a:cs typeface="Palatino Linotype"/>
              </a:rPr>
              <a:t>2</a:t>
            </a:r>
            <a:r>
              <a:rPr sz="900" dirty="0">
                <a:latin typeface="Palatino Linotype"/>
                <a:cs typeface="Palatino Linotype"/>
              </a:rPr>
              <a:t>	3</a:t>
            </a:r>
            <a:r>
              <a:rPr sz="900" spc="265" dirty="0">
                <a:latin typeface="Palatino Linotype"/>
                <a:cs typeface="Palatino Linotype"/>
              </a:rPr>
              <a:t>  </a:t>
            </a:r>
            <a:r>
              <a:rPr sz="900" spc="-50" dirty="0">
                <a:latin typeface="Palatino Linotype"/>
                <a:cs typeface="Palatino Linotype"/>
              </a:rPr>
              <a:t>3</a:t>
            </a:r>
            <a:r>
              <a:rPr sz="900" dirty="0">
                <a:latin typeface="Palatino Linotype"/>
                <a:cs typeface="Palatino Linotype"/>
              </a:rPr>
              <a:t>	2</a:t>
            </a:r>
            <a:r>
              <a:rPr sz="900" spc="265" dirty="0">
                <a:latin typeface="Palatino Linotype"/>
                <a:cs typeface="Palatino Linotype"/>
              </a:rPr>
              <a:t>  </a:t>
            </a:r>
            <a:r>
              <a:rPr sz="900" spc="-50" dirty="0">
                <a:latin typeface="Palatino Linotype"/>
                <a:cs typeface="Palatino Linotype"/>
              </a:rPr>
              <a:t>2</a:t>
            </a:r>
            <a:r>
              <a:rPr sz="900" dirty="0">
                <a:latin typeface="Palatino Linotype"/>
                <a:cs typeface="Palatino Linotype"/>
              </a:rPr>
              <a:t>	3</a:t>
            </a:r>
            <a:r>
              <a:rPr sz="900" spc="265" dirty="0">
                <a:latin typeface="Palatino Linotype"/>
                <a:cs typeface="Palatino Linotype"/>
              </a:rPr>
              <a:t>  </a:t>
            </a:r>
            <a:r>
              <a:rPr sz="900" spc="-50" dirty="0"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  <a:p>
            <a:pPr marL="290830">
              <a:lnSpc>
                <a:spcPts val="905"/>
              </a:lnSpc>
            </a:pPr>
            <a:r>
              <a:rPr sz="1100" dirty="0">
                <a:latin typeface="Palatino Linotype"/>
                <a:cs typeface="Palatino Linotype"/>
              </a:rPr>
              <a:t>(1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i="1" spc="95" dirty="0">
                <a:latin typeface="Georgia"/>
                <a:cs typeface="Georgia"/>
              </a:rPr>
              <a:t>a</a:t>
            </a:r>
            <a:r>
              <a:rPr sz="1100" i="1" spc="95" dirty="0">
                <a:latin typeface="Times New Roman"/>
                <a:cs typeface="Times New Roman"/>
              </a:rPr>
              <a:t>R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i="1" spc="80" dirty="0">
                <a:latin typeface="Georgia"/>
                <a:cs typeface="Georgia"/>
              </a:rPr>
              <a:t>a</a:t>
            </a:r>
            <a:r>
              <a:rPr sz="1350" spc="120" baseline="27777" dirty="0">
                <a:latin typeface="Palatino Linotype"/>
                <a:cs typeface="Palatino Linotype"/>
              </a:rPr>
              <a:t>2</a:t>
            </a:r>
            <a:r>
              <a:rPr sz="1100" i="1" spc="80" dirty="0">
                <a:latin typeface="Times New Roman"/>
                <a:cs typeface="Times New Roman"/>
              </a:rPr>
              <a:t>R</a:t>
            </a:r>
            <a:r>
              <a:rPr sz="1100" i="1" spc="475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a</a:t>
            </a:r>
            <a:r>
              <a:rPr sz="1100" i="1" spc="235" dirty="0">
                <a:latin typeface="Georgia"/>
                <a:cs typeface="Georgia"/>
              </a:rPr>
              <a:t> </a:t>
            </a:r>
            <a:r>
              <a:rPr sz="1100" i="1" spc="245" dirty="0">
                <a:latin typeface="Times New Roman"/>
                <a:cs typeface="Times New Roman"/>
              </a:rPr>
              <a:t>R</a:t>
            </a:r>
            <a:r>
              <a:rPr sz="1100" i="1" spc="480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dirty="0">
                <a:latin typeface="Palatino Linotype"/>
                <a:cs typeface="Palatino Linotype"/>
              </a:rPr>
              <a:t>)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×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(1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i="1" spc="50" dirty="0">
                <a:latin typeface="Georgia"/>
                <a:cs typeface="Georgia"/>
              </a:rPr>
              <a:t>b</a:t>
            </a:r>
            <a:r>
              <a:rPr sz="1100" i="1" spc="50" dirty="0">
                <a:latin typeface="Times New Roman"/>
                <a:cs typeface="Times New Roman"/>
              </a:rPr>
              <a:t>R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b</a:t>
            </a:r>
            <a:r>
              <a:rPr sz="1100" i="1" spc="240" dirty="0">
                <a:latin typeface="Georgia"/>
                <a:cs typeface="Georgia"/>
              </a:rPr>
              <a:t> </a:t>
            </a:r>
            <a:r>
              <a:rPr sz="1100" i="1" spc="245" dirty="0">
                <a:latin typeface="Times New Roman"/>
                <a:cs typeface="Times New Roman"/>
              </a:rPr>
              <a:t>R</a:t>
            </a:r>
            <a:r>
              <a:rPr sz="1100" i="1" spc="475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b</a:t>
            </a:r>
            <a:r>
              <a:rPr sz="1100" i="1" spc="240" dirty="0">
                <a:latin typeface="Georgia"/>
                <a:cs typeface="Georgia"/>
              </a:rPr>
              <a:t> </a:t>
            </a:r>
            <a:r>
              <a:rPr sz="1100" i="1" spc="245" dirty="0">
                <a:latin typeface="Times New Roman"/>
                <a:cs typeface="Times New Roman"/>
              </a:rPr>
              <a:t>R</a:t>
            </a:r>
            <a:r>
              <a:rPr sz="1100" i="1" spc="475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·</a:t>
            </a:r>
            <a:r>
              <a:rPr sz="1100" spc="-25" dirty="0">
                <a:latin typeface="Palatino Linotype"/>
                <a:cs typeface="Palatino Linotype"/>
              </a:rPr>
              <a:t>)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20083" y="883958"/>
            <a:ext cx="1033144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680720" algn="l"/>
              </a:tabLst>
            </a:pPr>
            <a:r>
              <a:rPr sz="1650" i="1" spc="-30" baseline="-20202" dirty="0">
                <a:solidFill>
                  <a:srgbClr val="FF0000"/>
                </a:solidFill>
                <a:latin typeface="Georgia"/>
                <a:cs typeface="Georgia"/>
              </a:rPr>
              <a:t>b</a:t>
            </a:r>
            <a:r>
              <a:rPr sz="900" spc="-20" dirty="0">
                <a:solidFill>
                  <a:srgbClr val="FF0000"/>
                </a:solidFill>
                <a:latin typeface="Palatino Linotype"/>
                <a:cs typeface="Palatino Linotype"/>
              </a:rPr>
              <a:t>2</a:t>
            </a:r>
            <a:r>
              <a:rPr sz="1650" i="1" spc="-30" baseline="-20202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900" spc="-20" dirty="0">
                <a:solidFill>
                  <a:srgbClr val="FF0000"/>
                </a:solidFill>
                <a:latin typeface="Palatino Linotype"/>
                <a:cs typeface="Palatino Linotype"/>
              </a:rPr>
              <a:t>2</a:t>
            </a:r>
            <a:r>
              <a:rPr sz="900" dirty="0">
                <a:solidFill>
                  <a:srgbClr val="FF0000"/>
                </a:solidFill>
                <a:latin typeface="Palatino Linotype"/>
                <a:cs typeface="Palatino Linotype"/>
              </a:rPr>
              <a:t>	</a:t>
            </a:r>
            <a:r>
              <a:rPr sz="1650" i="1" spc="-30" baseline="-20202" dirty="0">
                <a:solidFill>
                  <a:srgbClr val="FF0000"/>
                </a:solidFill>
                <a:latin typeface="Georgia"/>
                <a:cs typeface="Georgia"/>
              </a:rPr>
              <a:t>b</a:t>
            </a:r>
            <a:r>
              <a:rPr sz="900" spc="-20" dirty="0">
                <a:solidFill>
                  <a:srgbClr val="FF0000"/>
                </a:solidFill>
                <a:latin typeface="Palatino Linotype"/>
                <a:cs typeface="Palatino Linotype"/>
              </a:rPr>
              <a:t>3</a:t>
            </a:r>
            <a:r>
              <a:rPr sz="1650" i="1" spc="-30" baseline="-20202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900" spc="-20" dirty="0">
                <a:solidFill>
                  <a:srgbClr val="FF0000"/>
                </a:solidFill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6920" y="934448"/>
            <a:ext cx="251968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8159" algn="l"/>
                <a:tab pos="2343785" algn="l"/>
              </a:tabLst>
            </a:pPr>
            <a:r>
              <a:rPr sz="1100" spc="-50" dirty="0">
                <a:solidFill>
                  <a:srgbClr val="FF0000"/>
                </a:solidFill>
                <a:latin typeface="Palatino Linotype"/>
                <a:cs typeface="Palatino Linotype"/>
              </a:rPr>
              <a:t>1</a:t>
            </a:r>
            <a:r>
              <a:rPr sz="1100" dirty="0">
                <a:solidFill>
                  <a:srgbClr val="FF0000"/>
                </a:solidFill>
                <a:latin typeface="Palatino Linotype"/>
                <a:cs typeface="Palatino Linotype"/>
              </a:rPr>
              <a:t>	</a:t>
            </a:r>
            <a:r>
              <a:rPr sz="1100" i="1" spc="25" dirty="0">
                <a:solidFill>
                  <a:srgbClr val="FF0000"/>
                </a:solidFill>
                <a:latin typeface="Georgia"/>
                <a:cs typeface="Georgia"/>
              </a:rPr>
              <a:t>b</a:t>
            </a:r>
            <a:r>
              <a:rPr sz="1100" i="1" spc="2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100" i="1" dirty="0">
                <a:solidFill>
                  <a:srgbClr val="FF0000"/>
                </a:solidFill>
                <a:latin typeface="Times New Roman"/>
                <a:cs typeface="Times New Roman"/>
              </a:rPr>
              <a:t>	·</a:t>
            </a:r>
            <a:r>
              <a:rPr sz="1100" i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FF0000"/>
                </a:solidFill>
                <a:latin typeface="Times New Roman"/>
                <a:cs typeface="Times New Roman"/>
              </a:rPr>
              <a:t>·</a:t>
            </a:r>
            <a:r>
              <a:rPr sz="1100"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·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6208" y="1188607"/>
            <a:ext cx="952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solidFill>
                  <a:srgbClr val="FF0000"/>
                </a:solidFill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6863" y="1188607"/>
            <a:ext cx="70929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8159" algn="l"/>
              </a:tabLst>
            </a:pPr>
            <a:r>
              <a:rPr sz="1100" spc="-50" dirty="0">
                <a:latin typeface="Palatino Linotype"/>
                <a:cs typeface="Palatino Linotype"/>
              </a:rPr>
              <a:t>1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i="1" spc="25" dirty="0">
                <a:latin typeface="Georgia"/>
                <a:cs typeface="Georgia"/>
              </a:rPr>
              <a:t>b</a:t>
            </a:r>
            <a:r>
              <a:rPr sz="1100" i="1" spc="2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32726" y="1138097"/>
            <a:ext cx="37719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-30" baseline="-20202" dirty="0">
                <a:latin typeface="Georgia"/>
                <a:cs typeface="Georgia"/>
              </a:rPr>
              <a:t>b</a:t>
            </a:r>
            <a:r>
              <a:rPr sz="900" spc="-20" dirty="0">
                <a:latin typeface="Palatino Linotype"/>
                <a:cs typeface="Palatino Linotype"/>
              </a:rPr>
              <a:t>2</a:t>
            </a:r>
            <a:r>
              <a:rPr sz="1650" i="1" spc="-30" baseline="-20202" dirty="0">
                <a:latin typeface="Times New Roman"/>
                <a:cs typeface="Times New Roman"/>
              </a:rPr>
              <a:t>R</a:t>
            </a:r>
            <a:r>
              <a:rPr sz="900" spc="-20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62934" y="1138097"/>
            <a:ext cx="37782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-30" baseline="-20202" dirty="0">
                <a:latin typeface="Georgia"/>
                <a:cs typeface="Georgia"/>
              </a:rPr>
              <a:t>b</a:t>
            </a:r>
            <a:r>
              <a:rPr sz="900" spc="-20" dirty="0">
                <a:latin typeface="Palatino Linotype"/>
                <a:cs typeface="Palatino Linotype"/>
              </a:rPr>
              <a:t>3</a:t>
            </a:r>
            <a:r>
              <a:rPr sz="1650" i="1" spc="-30" baseline="-20202" dirty="0">
                <a:latin typeface="Times New Roman"/>
                <a:cs typeface="Times New Roman"/>
              </a:rPr>
              <a:t>R</a:t>
            </a:r>
            <a:r>
              <a:rPr sz="900" spc="-20" dirty="0"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4249" y="1391529"/>
            <a:ext cx="2171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70" dirty="0">
                <a:solidFill>
                  <a:srgbClr val="FF0000"/>
                </a:solidFill>
                <a:latin typeface="Georgia"/>
                <a:cs typeface="Georgia"/>
              </a:rPr>
              <a:t>a</a:t>
            </a:r>
            <a:r>
              <a:rPr sz="1100" i="1" spc="7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61425" y="1391529"/>
            <a:ext cx="90487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43560" algn="l"/>
              </a:tabLst>
            </a:pPr>
            <a:r>
              <a:rPr sz="1100" i="1" spc="70" dirty="0">
                <a:latin typeface="Georgia"/>
                <a:cs typeface="Georgia"/>
              </a:rPr>
              <a:t>a</a:t>
            </a:r>
            <a:r>
              <a:rPr sz="1100" i="1" spc="70" dirty="0">
                <a:latin typeface="Times New Roman"/>
                <a:cs typeface="Times New Roman"/>
              </a:rPr>
              <a:t>R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20" dirty="0">
                <a:latin typeface="Georgia"/>
                <a:cs typeface="Georgia"/>
              </a:rPr>
              <a:t>ab</a:t>
            </a:r>
            <a:r>
              <a:rPr sz="1100" i="1" spc="-20" dirty="0">
                <a:latin typeface="Times New Roman"/>
                <a:cs typeface="Times New Roman"/>
              </a:rPr>
              <a:t>R</a:t>
            </a:r>
            <a:r>
              <a:rPr sz="1350" spc="-30" baseline="24691" dirty="0">
                <a:latin typeface="Palatino Linotype"/>
                <a:cs typeface="Palatino Linotype"/>
              </a:rPr>
              <a:t>2</a:t>
            </a:r>
            <a:endParaRPr sz="1350" baseline="24691">
              <a:latin typeface="Palatino Linotype"/>
              <a:cs typeface="Palatino Linotyp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32633" y="1391577"/>
            <a:ext cx="4508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spc="-10" dirty="0">
                <a:latin typeface="Georgia"/>
                <a:cs typeface="Georgia"/>
              </a:rPr>
              <a:t>ab</a:t>
            </a:r>
            <a:r>
              <a:rPr sz="1350" spc="-15" baseline="24691" dirty="0">
                <a:latin typeface="Palatino Linotype"/>
                <a:cs typeface="Palatino Linotype"/>
              </a:rPr>
              <a:t>2</a:t>
            </a:r>
            <a:r>
              <a:rPr sz="1100" i="1" spc="-10" dirty="0">
                <a:latin typeface="Times New Roman"/>
                <a:cs typeface="Times New Roman"/>
              </a:rPr>
              <a:t>R</a:t>
            </a:r>
            <a:r>
              <a:rPr sz="1350" spc="-15" baseline="24691" dirty="0">
                <a:latin typeface="Palatino Linotype"/>
                <a:cs typeface="Palatino Linotype"/>
              </a:rPr>
              <a:t>3</a:t>
            </a:r>
            <a:endParaRPr sz="1350" baseline="24691">
              <a:latin typeface="Palatino Linotype"/>
              <a:cs typeface="Palatino Linotyp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9159" y="1544040"/>
            <a:ext cx="39116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60" baseline="-20202" dirty="0">
                <a:solidFill>
                  <a:srgbClr val="FF0000"/>
                </a:solidFill>
                <a:latin typeface="Georgia"/>
                <a:cs typeface="Georgia"/>
              </a:rPr>
              <a:t>a</a:t>
            </a:r>
            <a:r>
              <a:rPr sz="900" spc="40" dirty="0">
                <a:solidFill>
                  <a:srgbClr val="FF0000"/>
                </a:solidFill>
                <a:latin typeface="Palatino Linotype"/>
                <a:cs typeface="Palatino Linotype"/>
              </a:rPr>
              <a:t>2</a:t>
            </a:r>
            <a:r>
              <a:rPr sz="1650" i="1" spc="60" baseline="-20202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900" spc="40" dirty="0">
                <a:solidFill>
                  <a:srgbClr val="FF0000"/>
                </a:solidFill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61477" y="1544040"/>
            <a:ext cx="39116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60" baseline="-20202" dirty="0">
                <a:latin typeface="Georgia"/>
                <a:cs typeface="Georgia"/>
              </a:rPr>
              <a:t>a</a:t>
            </a:r>
            <a:r>
              <a:rPr sz="900" spc="40" dirty="0">
                <a:latin typeface="Palatino Linotype"/>
                <a:cs typeface="Palatino Linotype"/>
              </a:rPr>
              <a:t>2</a:t>
            </a:r>
            <a:r>
              <a:rPr sz="1650" i="1" spc="60" baseline="-20202" dirty="0">
                <a:latin typeface="Times New Roman"/>
                <a:cs typeface="Times New Roman"/>
              </a:rPr>
              <a:t>R</a:t>
            </a:r>
            <a:r>
              <a:rPr sz="900" spc="40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67217" y="1594548"/>
            <a:ext cx="4508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spc="-10" dirty="0">
                <a:latin typeface="Georgia"/>
                <a:cs typeface="Georgia"/>
              </a:rPr>
              <a:t>a</a:t>
            </a:r>
            <a:r>
              <a:rPr sz="1350" spc="-15" baseline="24691" dirty="0">
                <a:latin typeface="Palatino Linotype"/>
                <a:cs typeface="Palatino Linotype"/>
              </a:rPr>
              <a:t>2</a:t>
            </a:r>
            <a:r>
              <a:rPr sz="1100" i="1" spc="-10" dirty="0">
                <a:latin typeface="Georgia"/>
                <a:cs typeface="Georgia"/>
              </a:rPr>
              <a:t>b</a:t>
            </a:r>
            <a:r>
              <a:rPr sz="1100" i="1" spc="-10" dirty="0">
                <a:latin typeface="Times New Roman"/>
                <a:cs typeface="Times New Roman"/>
              </a:rPr>
              <a:t>R</a:t>
            </a:r>
            <a:r>
              <a:rPr sz="1350" spc="-15" baseline="24691" dirty="0">
                <a:latin typeface="Palatino Linotype"/>
                <a:cs typeface="Palatino Linotype"/>
              </a:rPr>
              <a:t>3</a:t>
            </a:r>
            <a:endParaRPr sz="1350" baseline="24691">
              <a:latin typeface="Palatino Linotype"/>
              <a:cs typeface="Palatino Linotyp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32684" y="1544040"/>
            <a:ext cx="51625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-15" baseline="-20202" dirty="0">
                <a:latin typeface="Georgia"/>
                <a:cs typeface="Georgia"/>
              </a:rPr>
              <a:t>a</a:t>
            </a:r>
            <a:r>
              <a:rPr sz="900" spc="-10" dirty="0">
                <a:latin typeface="Palatino Linotype"/>
                <a:cs typeface="Palatino Linotype"/>
              </a:rPr>
              <a:t>2</a:t>
            </a:r>
            <a:r>
              <a:rPr sz="1650" i="1" spc="-15" baseline="-20202" dirty="0">
                <a:latin typeface="Georgia"/>
                <a:cs typeface="Georgia"/>
              </a:rPr>
              <a:t>b</a:t>
            </a:r>
            <a:r>
              <a:rPr sz="900" spc="-10" dirty="0">
                <a:latin typeface="Palatino Linotype"/>
                <a:cs typeface="Palatino Linotype"/>
              </a:rPr>
              <a:t>2</a:t>
            </a:r>
            <a:r>
              <a:rPr sz="1650" i="1" spc="-15" baseline="-20202" dirty="0">
                <a:latin typeface="Times New Roman"/>
                <a:cs typeface="Times New Roman"/>
              </a:rPr>
              <a:t>R</a:t>
            </a:r>
            <a:r>
              <a:rPr sz="900" spc="-10" dirty="0">
                <a:latin typeface="Palatino Linotype"/>
                <a:cs typeface="Palatino Linotype"/>
              </a:rPr>
              <a:t>4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62998" y="1544040"/>
            <a:ext cx="51625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-15" baseline="-20202" dirty="0">
                <a:latin typeface="Georgia"/>
                <a:cs typeface="Georgia"/>
              </a:rPr>
              <a:t>a</a:t>
            </a:r>
            <a:r>
              <a:rPr sz="900" spc="-10" dirty="0">
                <a:latin typeface="Palatino Linotype"/>
                <a:cs typeface="Palatino Linotype"/>
              </a:rPr>
              <a:t>2</a:t>
            </a:r>
            <a:r>
              <a:rPr sz="1650" i="1" spc="-15" baseline="-20202" dirty="0">
                <a:latin typeface="Georgia"/>
                <a:cs typeface="Georgia"/>
              </a:rPr>
              <a:t>b</a:t>
            </a:r>
            <a:r>
              <a:rPr sz="900" spc="-10" dirty="0">
                <a:latin typeface="Palatino Linotype"/>
                <a:cs typeface="Palatino Linotype"/>
              </a:rPr>
              <a:t>3</a:t>
            </a:r>
            <a:r>
              <a:rPr sz="1650" i="1" spc="-15" baseline="-20202" dirty="0">
                <a:latin typeface="Times New Roman"/>
                <a:cs typeface="Times New Roman"/>
              </a:rPr>
              <a:t>R</a:t>
            </a:r>
            <a:r>
              <a:rPr sz="900" spc="-10" dirty="0">
                <a:latin typeface="Palatino Linotype"/>
                <a:cs typeface="Palatino Linotype"/>
              </a:rPr>
              <a:t>5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9210" y="1747011"/>
            <a:ext cx="39116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60" baseline="-20202" dirty="0">
                <a:solidFill>
                  <a:srgbClr val="FF0000"/>
                </a:solidFill>
                <a:latin typeface="Georgia"/>
                <a:cs typeface="Georgia"/>
              </a:rPr>
              <a:t>a</a:t>
            </a:r>
            <a:r>
              <a:rPr sz="900" spc="40" dirty="0">
                <a:solidFill>
                  <a:srgbClr val="FF0000"/>
                </a:solidFill>
                <a:latin typeface="Palatino Linotype"/>
                <a:cs typeface="Palatino Linotype"/>
              </a:rPr>
              <a:t>3</a:t>
            </a:r>
            <a:r>
              <a:rPr sz="1650" i="1" spc="60" baseline="-20202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900" spc="40" dirty="0">
                <a:solidFill>
                  <a:srgbClr val="FF0000"/>
                </a:solidFill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61528" y="1747011"/>
            <a:ext cx="39116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60" baseline="-20202" dirty="0">
                <a:latin typeface="Georgia"/>
                <a:cs typeface="Georgia"/>
              </a:rPr>
              <a:t>a</a:t>
            </a:r>
            <a:r>
              <a:rPr sz="900" spc="40" dirty="0">
                <a:latin typeface="Palatino Linotype"/>
                <a:cs typeface="Palatino Linotype"/>
              </a:rPr>
              <a:t>3</a:t>
            </a:r>
            <a:r>
              <a:rPr sz="1650" i="1" spc="60" baseline="-20202" dirty="0">
                <a:latin typeface="Times New Roman"/>
                <a:cs typeface="Times New Roman"/>
              </a:rPr>
              <a:t>R</a:t>
            </a:r>
            <a:r>
              <a:rPr sz="900" spc="40" dirty="0"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67267" y="1797519"/>
            <a:ext cx="4508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spc="-10" dirty="0">
                <a:latin typeface="Georgia"/>
                <a:cs typeface="Georgia"/>
              </a:rPr>
              <a:t>a</a:t>
            </a:r>
            <a:r>
              <a:rPr sz="1350" spc="-15" baseline="24691" dirty="0">
                <a:latin typeface="Palatino Linotype"/>
                <a:cs typeface="Palatino Linotype"/>
              </a:rPr>
              <a:t>3</a:t>
            </a:r>
            <a:r>
              <a:rPr sz="1100" i="1" spc="-10" dirty="0">
                <a:latin typeface="Georgia"/>
                <a:cs typeface="Georgia"/>
              </a:rPr>
              <a:t>b</a:t>
            </a:r>
            <a:r>
              <a:rPr sz="1100" i="1" spc="-10" dirty="0">
                <a:latin typeface="Times New Roman"/>
                <a:cs typeface="Times New Roman"/>
              </a:rPr>
              <a:t>R</a:t>
            </a:r>
            <a:r>
              <a:rPr sz="1350" spc="-15" baseline="24691" dirty="0">
                <a:latin typeface="Palatino Linotype"/>
                <a:cs typeface="Palatino Linotype"/>
              </a:rPr>
              <a:t>4</a:t>
            </a:r>
            <a:endParaRPr sz="1350" baseline="24691">
              <a:latin typeface="Palatino Linotype"/>
              <a:cs typeface="Palatino Linotyp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32735" y="1747011"/>
            <a:ext cx="51625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-15" baseline="-20202" dirty="0">
                <a:latin typeface="Georgia"/>
                <a:cs typeface="Georgia"/>
              </a:rPr>
              <a:t>a</a:t>
            </a:r>
            <a:r>
              <a:rPr sz="900" spc="-10" dirty="0">
                <a:latin typeface="Palatino Linotype"/>
                <a:cs typeface="Palatino Linotype"/>
              </a:rPr>
              <a:t>3</a:t>
            </a:r>
            <a:r>
              <a:rPr sz="1650" i="1" spc="-15" baseline="-20202" dirty="0">
                <a:latin typeface="Georgia"/>
                <a:cs typeface="Georgia"/>
              </a:rPr>
              <a:t>b</a:t>
            </a:r>
            <a:r>
              <a:rPr sz="900" spc="-10" dirty="0">
                <a:latin typeface="Palatino Linotype"/>
                <a:cs typeface="Palatino Linotype"/>
              </a:rPr>
              <a:t>2</a:t>
            </a:r>
            <a:r>
              <a:rPr sz="1650" i="1" spc="-15" baseline="-20202" dirty="0">
                <a:latin typeface="Times New Roman"/>
                <a:cs typeface="Times New Roman"/>
              </a:rPr>
              <a:t>R</a:t>
            </a:r>
            <a:r>
              <a:rPr sz="900" spc="-10" dirty="0">
                <a:latin typeface="Palatino Linotype"/>
                <a:cs typeface="Palatino Linotype"/>
              </a:rPr>
              <a:t>5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63049" y="1747011"/>
            <a:ext cx="51625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-15" baseline="-20202" dirty="0">
                <a:latin typeface="Georgia"/>
                <a:cs typeface="Georgia"/>
              </a:rPr>
              <a:t>a</a:t>
            </a:r>
            <a:r>
              <a:rPr sz="900" spc="-10" dirty="0">
                <a:latin typeface="Palatino Linotype"/>
                <a:cs typeface="Palatino Linotype"/>
              </a:rPr>
              <a:t>3</a:t>
            </a:r>
            <a:r>
              <a:rPr sz="1650" i="1" spc="-15" baseline="-20202" dirty="0">
                <a:latin typeface="Georgia"/>
                <a:cs typeface="Georgia"/>
              </a:rPr>
              <a:t>b</a:t>
            </a:r>
            <a:r>
              <a:rPr sz="900" spc="-10" dirty="0">
                <a:latin typeface="Palatino Linotype"/>
                <a:cs typeface="Palatino Linotype"/>
              </a:rPr>
              <a:t>3</a:t>
            </a:r>
            <a:r>
              <a:rPr sz="1650" i="1" spc="-15" baseline="-20202" dirty="0">
                <a:latin typeface="Times New Roman"/>
                <a:cs typeface="Times New Roman"/>
              </a:rPr>
              <a:t>R</a:t>
            </a:r>
            <a:r>
              <a:rPr sz="900" spc="-10" dirty="0">
                <a:latin typeface="Palatino Linotype"/>
                <a:cs typeface="Palatino Linotype"/>
              </a:rPr>
              <a:t>6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13604" y="2000443"/>
            <a:ext cx="23634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5775" algn="l"/>
                <a:tab pos="991869" algn="l"/>
                <a:tab pos="1557020" algn="l"/>
                <a:tab pos="2187575" algn="l"/>
              </a:tabLst>
            </a:pPr>
            <a:r>
              <a:rPr sz="1100" i="1" dirty="0">
                <a:solidFill>
                  <a:srgbClr val="FF0000"/>
                </a:solidFill>
                <a:latin typeface="Times New Roman"/>
                <a:cs typeface="Times New Roman"/>
              </a:rPr>
              <a:t>·</a:t>
            </a:r>
            <a:r>
              <a:rPr sz="1100" i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i="1" dirty="0">
                <a:solidFill>
                  <a:srgbClr val="FF0000"/>
                </a:solidFill>
                <a:latin typeface="Times New Roman"/>
                <a:cs typeface="Times New Roman"/>
              </a:rPr>
              <a:t>·</a:t>
            </a:r>
            <a:r>
              <a:rPr sz="1100"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·</a:t>
            </a:r>
            <a:r>
              <a:rPr sz="1100" i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8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6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·</a:t>
            </a:r>
            <a:r>
              <a:rPr sz="1100" i="1" dirty="0">
                <a:latin typeface="Times New Roman"/>
                <a:cs typeface="Times New Roman"/>
              </a:rPr>
              <a:t>	·</a:t>
            </a:r>
            <a:r>
              <a:rPr sz="1100" i="1" spc="-7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6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·</a:t>
            </a:r>
            <a:r>
              <a:rPr sz="1100" i="1" dirty="0">
                <a:latin typeface="Times New Roman"/>
                <a:cs typeface="Times New Roman"/>
              </a:rPr>
              <a:t>	·</a:t>
            </a:r>
            <a:r>
              <a:rPr sz="1100" i="1" spc="-7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6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·</a:t>
            </a:r>
            <a:r>
              <a:rPr sz="1100" i="1" dirty="0">
                <a:latin typeface="Times New Roman"/>
                <a:cs typeface="Times New Roman"/>
              </a:rPr>
              <a:t>	·</a:t>
            </a:r>
            <a:r>
              <a:rPr sz="1100" i="1" spc="-7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6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·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50247" y="1152649"/>
            <a:ext cx="882650" cy="104076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80"/>
              </a:spcBef>
              <a:tabLst>
                <a:tab pos="680720" algn="l"/>
              </a:tabLst>
            </a:pPr>
            <a:r>
              <a:rPr sz="1650" i="1" spc="-15" baseline="-80808" dirty="0">
                <a:latin typeface="Georgia"/>
                <a:cs typeface="Georgia"/>
              </a:rPr>
              <a:t>ab</a:t>
            </a:r>
            <a:r>
              <a:rPr sz="1350" spc="-15" baseline="-74074" dirty="0">
                <a:latin typeface="Palatino Linotype"/>
                <a:cs typeface="Palatino Linotype"/>
              </a:rPr>
              <a:t>3</a:t>
            </a:r>
            <a:r>
              <a:rPr sz="1650" i="1" spc="-15" baseline="-80808" dirty="0">
                <a:latin typeface="Times New Roman"/>
                <a:cs typeface="Times New Roman"/>
              </a:rPr>
              <a:t>R</a:t>
            </a:r>
            <a:r>
              <a:rPr sz="1350" spc="-15" baseline="-74074" dirty="0">
                <a:latin typeface="Palatino Linotype"/>
                <a:cs typeface="Palatino Linotype"/>
              </a:rPr>
              <a:t>4</a:t>
            </a:r>
            <a:r>
              <a:rPr sz="1350" baseline="-74074" dirty="0">
                <a:latin typeface="Palatino Linotype"/>
                <a:cs typeface="Palatino Linotype"/>
              </a:rPr>
              <a:t>	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8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6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·</a:t>
            </a:r>
            <a:endParaRPr sz="1100">
              <a:latin typeface="Times New Roman"/>
              <a:cs typeface="Times New Roman"/>
            </a:endParaRPr>
          </a:p>
          <a:p>
            <a:pPr marR="31115" algn="r">
              <a:lnSpc>
                <a:spcPct val="100000"/>
              </a:lnSpc>
              <a:spcBef>
                <a:spcPts val="275"/>
              </a:spcBef>
            </a:pP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7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6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·</a:t>
            </a:r>
            <a:endParaRPr sz="1100">
              <a:latin typeface="Times New Roman"/>
              <a:cs typeface="Times New Roman"/>
            </a:endParaRPr>
          </a:p>
          <a:p>
            <a:pPr marR="30480" algn="r">
              <a:lnSpc>
                <a:spcPct val="100000"/>
              </a:lnSpc>
              <a:spcBef>
                <a:spcPts val="280"/>
              </a:spcBef>
            </a:pP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7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6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·</a:t>
            </a:r>
            <a:endParaRPr sz="1100">
              <a:latin typeface="Times New Roman"/>
              <a:cs typeface="Times New Roman"/>
            </a:endParaRPr>
          </a:p>
          <a:p>
            <a:pPr marR="30480" algn="r">
              <a:lnSpc>
                <a:spcPct val="100000"/>
              </a:lnSpc>
              <a:spcBef>
                <a:spcPts val="275"/>
              </a:spcBef>
            </a:pP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7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6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·</a:t>
            </a:r>
            <a:endParaRPr sz="1100">
              <a:latin typeface="Times New Roman"/>
              <a:cs typeface="Times New Roman"/>
            </a:endParaRPr>
          </a:p>
          <a:p>
            <a:pPr marR="30480" algn="r">
              <a:lnSpc>
                <a:spcPct val="100000"/>
              </a:lnSpc>
              <a:spcBef>
                <a:spcPts val="280"/>
              </a:spcBef>
            </a:pP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7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6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·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4018" y="2276853"/>
            <a:ext cx="40157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70" dirty="0">
                <a:latin typeface="Arial"/>
                <a:cs typeface="Arial"/>
              </a:rPr>
              <a:t>Group</a:t>
            </a:r>
            <a:r>
              <a:rPr sz="1100" spc="2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same</a:t>
            </a:r>
            <a:r>
              <a:rPr sz="1100" spc="229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powers</a:t>
            </a:r>
            <a:r>
              <a:rPr sz="1100" spc="24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240" dirty="0">
                <a:latin typeface="Arial"/>
                <a:cs typeface="Arial"/>
              </a:rPr>
              <a:t> </a:t>
            </a:r>
            <a:r>
              <a:rPr sz="1100" i="1" spc="245" dirty="0">
                <a:latin typeface="Times New Roman"/>
                <a:cs typeface="Times New Roman"/>
              </a:rPr>
              <a:t>R</a:t>
            </a:r>
            <a:r>
              <a:rPr sz="1100" i="1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24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following</a:t>
            </a:r>
            <a:r>
              <a:rPr sz="1100" spc="2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reverse</a:t>
            </a:r>
            <a:r>
              <a:rPr sz="1100" spc="240" dirty="0">
                <a:latin typeface="Arial"/>
                <a:cs typeface="Arial"/>
              </a:rPr>
              <a:t> </a:t>
            </a:r>
            <a:r>
              <a:rPr sz="1100" spc="40" dirty="0">
                <a:latin typeface="Arial"/>
                <a:cs typeface="Arial"/>
              </a:rPr>
              <a:t>diagonals: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82082" y="2398893"/>
            <a:ext cx="140970" cy="405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85">
              <a:lnSpc>
                <a:spcPct val="113199"/>
              </a:lnSpc>
              <a:spcBef>
                <a:spcPts val="100"/>
              </a:spcBef>
            </a:pPr>
            <a:r>
              <a:rPr sz="1100" i="1" u="sng" spc="-5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Y</a:t>
            </a:r>
            <a:r>
              <a:rPr sz="1100" i="1" spc="-50" dirty="0">
                <a:latin typeface="Georgia"/>
                <a:cs typeface="Georgia"/>
              </a:rPr>
              <a:t> </a:t>
            </a:r>
            <a:r>
              <a:rPr sz="1100" i="1" spc="65" dirty="0">
                <a:latin typeface="Georgia"/>
                <a:cs typeface="Georgia"/>
              </a:rPr>
              <a:t>X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6775" y="2483688"/>
            <a:ext cx="4153535" cy="224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86610">
              <a:lnSpc>
                <a:spcPts val="665"/>
              </a:lnSpc>
              <a:spcBef>
                <a:spcPts val="95"/>
              </a:spcBef>
              <a:tabLst>
                <a:tab pos="2449195" algn="l"/>
                <a:tab pos="2757805" algn="l"/>
                <a:tab pos="3185795" algn="l"/>
                <a:tab pos="3480435" algn="l"/>
                <a:tab pos="3717290" algn="l"/>
              </a:tabLst>
            </a:pPr>
            <a:r>
              <a:rPr sz="900" spc="-50" dirty="0">
                <a:latin typeface="Palatino Linotype"/>
                <a:cs typeface="Palatino Linotype"/>
              </a:rPr>
              <a:t>2</a:t>
            </a:r>
            <a:r>
              <a:rPr sz="900" dirty="0">
                <a:latin typeface="Palatino Linotype"/>
                <a:cs typeface="Palatino Linotype"/>
              </a:rPr>
              <a:t>	</a:t>
            </a:r>
            <a:r>
              <a:rPr sz="900" spc="-50" dirty="0">
                <a:latin typeface="Palatino Linotype"/>
                <a:cs typeface="Palatino Linotype"/>
              </a:rPr>
              <a:t>3</a:t>
            </a:r>
            <a:r>
              <a:rPr sz="900" dirty="0">
                <a:latin typeface="Palatino Linotype"/>
                <a:cs typeface="Palatino Linotype"/>
              </a:rPr>
              <a:t>	</a:t>
            </a:r>
            <a:r>
              <a:rPr sz="900" spc="-50" dirty="0">
                <a:latin typeface="Palatino Linotype"/>
                <a:cs typeface="Palatino Linotype"/>
              </a:rPr>
              <a:t>2</a:t>
            </a:r>
            <a:r>
              <a:rPr sz="900" dirty="0">
                <a:latin typeface="Palatino Linotype"/>
                <a:cs typeface="Palatino Linotype"/>
              </a:rPr>
              <a:t>	</a:t>
            </a:r>
            <a:r>
              <a:rPr sz="900" spc="-50" dirty="0">
                <a:latin typeface="Palatino Linotype"/>
                <a:cs typeface="Palatino Linotype"/>
              </a:rPr>
              <a:t>2</a:t>
            </a:r>
            <a:r>
              <a:rPr sz="900" dirty="0">
                <a:latin typeface="Palatino Linotype"/>
                <a:cs typeface="Palatino Linotype"/>
              </a:rPr>
              <a:t>	</a:t>
            </a:r>
            <a:r>
              <a:rPr sz="900" spc="-50" dirty="0">
                <a:latin typeface="Palatino Linotype"/>
                <a:cs typeface="Palatino Linotype"/>
              </a:rPr>
              <a:t>3</a:t>
            </a:r>
            <a:r>
              <a:rPr sz="900" dirty="0">
                <a:latin typeface="Palatino Linotype"/>
                <a:cs typeface="Palatino Linotype"/>
              </a:rPr>
              <a:t>	</a:t>
            </a:r>
            <a:r>
              <a:rPr sz="900" spc="-50" dirty="0"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  <a:p>
            <a:pPr marL="38100">
              <a:lnSpc>
                <a:spcPts val="905"/>
              </a:lnSpc>
            </a:pP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-2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-40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4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(</a:t>
            </a:r>
            <a:r>
              <a:rPr sz="1100" i="1" dirty="0">
                <a:latin typeface="Georgia"/>
                <a:cs typeface="Georgia"/>
              </a:rPr>
              <a:t>a</a:t>
            </a:r>
            <a:r>
              <a:rPr sz="1100" i="1" spc="-30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45" dirty="0">
                <a:latin typeface="Palatino Linotype"/>
                <a:cs typeface="Palatino Linotype"/>
              </a:rPr>
              <a:t> </a:t>
            </a:r>
            <a:r>
              <a:rPr sz="1100" i="1" spc="50" dirty="0">
                <a:latin typeface="Georgia"/>
                <a:cs typeface="Georgia"/>
              </a:rPr>
              <a:t>b</a:t>
            </a:r>
            <a:r>
              <a:rPr sz="1100" spc="50" dirty="0">
                <a:latin typeface="Palatino Linotype"/>
                <a:cs typeface="Palatino Linotype"/>
              </a:rPr>
              <a:t>)</a:t>
            </a:r>
            <a:r>
              <a:rPr sz="1100" i="1" spc="50" dirty="0">
                <a:latin typeface="Times New Roman"/>
                <a:cs typeface="Times New Roman"/>
              </a:rPr>
              <a:t>R</a:t>
            </a:r>
            <a:r>
              <a:rPr sz="1100" i="1" spc="-40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4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(</a:t>
            </a:r>
            <a:r>
              <a:rPr sz="1100" i="1" dirty="0">
                <a:latin typeface="Georgia"/>
                <a:cs typeface="Georgia"/>
              </a:rPr>
              <a:t>a</a:t>
            </a:r>
            <a:r>
              <a:rPr sz="1350" baseline="27777" dirty="0">
                <a:latin typeface="Palatino Linotype"/>
                <a:cs typeface="Palatino Linotype"/>
              </a:rPr>
              <a:t>2</a:t>
            </a:r>
            <a:r>
              <a:rPr sz="1350" spc="82" baseline="27777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40" dirty="0">
                <a:latin typeface="Palatino Linotype"/>
                <a:cs typeface="Palatino Linotype"/>
              </a:rPr>
              <a:t> </a:t>
            </a:r>
            <a:r>
              <a:rPr sz="1100" i="1" spc="-105" dirty="0">
                <a:latin typeface="Georgia"/>
                <a:cs typeface="Georgia"/>
              </a:rPr>
              <a:t>ab</a:t>
            </a:r>
            <a:r>
              <a:rPr sz="1100" i="1" spc="-25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45" dirty="0">
                <a:latin typeface="Palatino Linotype"/>
                <a:cs typeface="Palatino Linotype"/>
              </a:rPr>
              <a:t> </a:t>
            </a:r>
            <a:r>
              <a:rPr sz="1100" i="1" spc="50" dirty="0">
                <a:latin typeface="Georgia"/>
                <a:cs typeface="Georgia"/>
              </a:rPr>
              <a:t>b</a:t>
            </a:r>
            <a:r>
              <a:rPr sz="1350" spc="75" baseline="27777" dirty="0">
                <a:latin typeface="Palatino Linotype"/>
                <a:cs typeface="Palatino Linotype"/>
              </a:rPr>
              <a:t>2</a:t>
            </a:r>
            <a:r>
              <a:rPr sz="1100" spc="50" dirty="0">
                <a:latin typeface="Palatino Linotype"/>
                <a:cs typeface="Palatino Linotype"/>
              </a:rPr>
              <a:t>)</a:t>
            </a:r>
            <a:r>
              <a:rPr sz="1100" i="1" spc="50" dirty="0">
                <a:latin typeface="Times New Roman"/>
                <a:cs typeface="Times New Roman"/>
              </a:rPr>
              <a:t>R</a:t>
            </a:r>
            <a:r>
              <a:rPr sz="1100" i="1" spc="455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4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(</a:t>
            </a:r>
            <a:r>
              <a:rPr sz="1100" i="1" dirty="0">
                <a:latin typeface="Georgia"/>
                <a:cs typeface="Georgia"/>
              </a:rPr>
              <a:t>a</a:t>
            </a:r>
            <a:r>
              <a:rPr sz="1100" i="1" spc="455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4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a</a:t>
            </a:r>
            <a:r>
              <a:rPr sz="1100" i="1" spc="220" dirty="0">
                <a:latin typeface="Georgia"/>
                <a:cs typeface="Georgia"/>
              </a:rPr>
              <a:t> </a:t>
            </a:r>
            <a:r>
              <a:rPr sz="1100" i="1" spc="-155" dirty="0">
                <a:latin typeface="Georgia"/>
                <a:cs typeface="Georgia"/>
              </a:rPr>
              <a:t>b</a:t>
            </a:r>
            <a:r>
              <a:rPr sz="1100" i="1" spc="-25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4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ab</a:t>
            </a:r>
            <a:r>
              <a:rPr sz="1100" i="1" spc="455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4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b</a:t>
            </a:r>
            <a:r>
              <a:rPr sz="1100" i="1" spc="225" dirty="0">
                <a:latin typeface="Georgia"/>
                <a:cs typeface="Georgia"/>
              </a:rPr>
              <a:t> </a:t>
            </a:r>
            <a:r>
              <a:rPr sz="1100" spc="150" dirty="0">
                <a:latin typeface="Palatino Linotype"/>
                <a:cs typeface="Palatino Linotype"/>
              </a:rPr>
              <a:t>)</a:t>
            </a:r>
            <a:r>
              <a:rPr sz="1100" i="1" spc="150" dirty="0">
                <a:latin typeface="Times New Roman"/>
                <a:cs typeface="Times New Roman"/>
              </a:rPr>
              <a:t>R</a:t>
            </a:r>
            <a:r>
              <a:rPr sz="1100" i="1" spc="455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4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·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·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925" y="2970363"/>
            <a:ext cx="1136015" cy="0"/>
          </a:xfrm>
          <a:custGeom>
            <a:avLst/>
            <a:gdLst/>
            <a:ahLst/>
            <a:cxnLst/>
            <a:rect l="l" t="t" r="r" b="b"/>
            <a:pathLst>
              <a:path w="1136014">
                <a:moveTo>
                  <a:pt x="0" y="0"/>
                </a:moveTo>
                <a:lnTo>
                  <a:pt x="1135824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5" dirty="0"/>
              <a:t>Partial</a:t>
            </a:r>
            <a:r>
              <a:rPr spc="215" dirty="0"/>
              <a:t> </a:t>
            </a:r>
            <a:r>
              <a:rPr spc="70" dirty="0"/>
              <a:t>Fractions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830" y="381266"/>
            <a:ext cx="41465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Arial"/>
                <a:cs typeface="Arial"/>
              </a:rPr>
              <a:t>Use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partial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fractions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130" dirty="0">
                <a:latin typeface="Arial"/>
                <a:cs typeface="Arial"/>
              </a:rPr>
              <a:t>to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75" dirty="0">
                <a:latin typeface="Arial"/>
                <a:cs typeface="Arial"/>
              </a:rPr>
              <a:t>rewrite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b="1" spc="65" dirty="0">
                <a:solidFill>
                  <a:srgbClr val="0000CC"/>
                </a:solidFill>
                <a:latin typeface="Arial"/>
                <a:cs typeface="Arial"/>
              </a:rPr>
              <a:t>sum</a:t>
            </a:r>
            <a:r>
              <a:rPr sz="1100" b="1" spc="16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simpler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parts.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31140" y="1055280"/>
            <a:ext cx="732790" cy="1010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1345">
              <a:lnSpc>
                <a:spcPct val="100000"/>
              </a:lnSpc>
              <a:spcBef>
                <a:spcPts val="95"/>
              </a:spcBef>
            </a:pP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  <a:p>
            <a:pPr marL="190500">
              <a:lnSpc>
                <a:spcPct val="100000"/>
              </a:lnSpc>
              <a:spcBef>
                <a:spcPts val="819"/>
              </a:spcBef>
            </a:pPr>
            <a:r>
              <a:rPr sz="1100" spc="-25" dirty="0">
                <a:latin typeface="Palatino Linotype"/>
                <a:cs typeface="Palatino Linotype"/>
              </a:rPr>
              <a:t>1</a:t>
            </a:r>
            <a:r>
              <a:rPr sz="1100" i="1" spc="-25" dirty="0">
                <a:latin typeface="Georgia"/>
                <a:cs typeface="Georgia"/>
              </a:rPr>
              <a:t>.</a:t>
            </a:r>
            <a:r>
              <a:rPr sz="1100" spc="-25" dirty="0">
                <a:latin typeface="Palatino Linotype"/>
                <a:cs typeface="Palatino Linotype"/>
              </a:rPr>
              <a:t>6</a:t>
            </a:r>
            <a:endParaRPr sz="1100">
              <a:latin typeface="Palatino Linotype"/>
              <a:cs typeface="Palatino Linotype"/>
            </a:endParaRPr>
          </a:p>
          <a:p>
            <a:pPr marL="601345">
              <a:lnSpc>
                <a:spcPct val="100000"/>
              </a:lnSpc>
              <a:spcBef>
                <a:spcPts val="880"/>
              </a:spcBef>
            </a:pP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100" i="1" spc="-10" dirty="0">
                <a:latin typeface="Times New Roman"/>
                <a:cs typeface="Times New Roman"/>
              </a:rPr>
              <a:t>−</a:t>
            </a:r>
            <a:r>
              <a:rPr sz="1100" spc="-10" dirty="0">
                <a:latin typeface="Palatino Linotype"/>
                <a:cs typeface="Palatino Linotype"/>
              </a:rPr>
              <a:t>0</a:t>
            </a:r>
            <a:r>
              <a:rPr sz="1100" i="1" spc="-10" dirty="0">
                <a:latin typeface="Georgia"/>
                <a:cs typeface="Georgia"/>
              </a:rPr>
              <a:t>.</a:t>
            </a:r>
            <a:r>
              <a:rPr sz="1100" spc="-10" dirty="0">
                <a:latin typeface="Palatino Linotype"/>
                <a:cs typeface="Palatino Linotype"/>
              </a:rPr>
              <a:t>63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13738" y="703253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31412" y="1010834"/>
            <a:ext cx="320675" cy="297815"/>
          </a:xfrm>
          <a:custGeom>
            <a:avLst/>
            <a:gdLst/>
            <a:ahLst/>
            <a:cxnLst/>
            <a:rect l="l" t="t" r="r" b="b"/>
            <a:pathLst>
              <a:path w="320675" h="297815">
                <a:moveTo>
                  <a:pt x="0" y="297545"/>
                </a:moveTo>
                <a:lnTo>
                  <a:pt x="320394" y="297545"/>
                </a:lnTo>
                <a:lnTo>
                  <a:pt x="320394" y="0"/>
                </a:lnTo>
                <a:lnTo>
                  <a:pt x="0" y="0"/>
                </a:lnTo>
                <a:lnTo>
                  <a:pt x="0" y="297545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31412" y="1562380"/>
            <a:ext cx="320675" cy="297815"/>
          </a:xfrm>
          <a:custGeom>
            <a:avLst/>
            <a:gdLst/>
            <a:ahLst/>
            <a:cxnLst/>
            <a:rect l="l" t="t" r="r" b="b"/>
            <a:pathLst>
              <a:path w="320675" h="297814">
                <a:moveTo>
                  <a:pt x="0" y="297545"/>
                </a:moveTo>
                <a:lnTo>
                  <a:pt x="320394" y="297545"/>
                </a:lnTo>
                <a:lnTo>
                  <a:pt x="320394" y="0"/>
                </a:lnTo>
                <a:lnTo>
                  <a:pt x="0" y="0"/>
                </a:lnTo>
                <a:lnTo>
                  <a:pt x="0" y="297545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793395" y="717351"/>
            <a:ext cx="1470025" cy="1520190"/>
            <a:chOff x="1793395" y="717351"/>
            <a:chExt cx="1470025" cy="1520190"/>
          </a:xfrm>
        </p:grpSpPr>
        <p:sp>
          <p:nvSpPr>
            <p:cNvPr id="10" name="object 10"/>
            <p:cNvSpPr/>
            <p:nvPr/>
          </p:nvSpPr>
          <p:spPr>
            <a:xfrm>
              <a:off x="2431209" y="1191538"/>
              <a:ext cx="406400" cy="1039494"/>
            </a:xfrm>
            <a:custGeom>
              <a:avLst/>
              <a:gdLst/>
              <a:ahLst/>
              <a:cxnLst/>
              <a:rect l="l" t="t" r="r" b="b"/>
              <a:pathLst>
                <a:path w="406400" h="1039494">
                  <a:moveTo>
                    <a:pt x="0" y="243842"/>
                  </a:moveTo>
                  <a:lnTo>
                    <a:pt x="406400" y="487684"/>
                  </a:lnTo>
                  <a:lnTo>
                    <a:pt x="406400" y="0"/>
                  </a:lnTo>
                  <a:lnTo>
                    <a:pt x="0" y="243842"/>
                  </a:lnTo>
                  <a:close/>
                </a:path>
                <a:path w="406400" h="1039494">
                  <a:moveTo>
                    <a:pt x="5" y="795388"/>
                  </a:moveTo>
                  <a:lnTo>
                    <a:pt x="406400" y="1039227"/>
                  </a:lnTo>
                  <a:lnTo>
                    <a:pt x="406400" y="551548"/>
                  </a:lnTo>
                  <a:lnTo>
                    <a:pt x="5" y="795388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3395" y="717351"/>
              <a:ext cx="390140" cy="20596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77209" y="820334"/>
              <a:ext cx="1080135" cy="0"/>
            </a:xfrm>
            <a:custGeom>
              <a:avLst/>
              <a:gdLst/>
              <a:ahLst/>
              <a:cxnLst/>
              <a:rect l="l" t="t" r="r" b="b"/>
              <a:pathLst>
                <a:path w="1080135">
                  <a:moveTo>
                    <a:pt x="0" y="0"/>
                  </a:moveTo>
                  <a:lnTo>
                    <a:pt x="1079593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98362" y="79612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15"/>
                  </a:lnTo>
                  <a:lnTo>
                    <a:pt x="58441" y="242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91609" y="796126"/>
              <a:ext cx="165735" cy="189865"/>
            </a:xfrm>
            <a:custGeom>
              <a:avLst/>
              <a:gdLst/>
              <a:ahLst/>
              <a:cxnLst/>
              <a:rect l="l" t="t" r="r" b="b"/>
              <a:pathLst>
                <a:path w="165735" h="189865">
                  <a:moveTo>
                    <a:pt x="106752" y="48415"/>
                  </a:moveTo>
                  <a:lnTo>
                    <a:pt x="165193" y="24207"/>
                  </a:lnTo>
                  <a:lnTo>
                    <a:pt x="106752" y="0"/>
                  </a:lnTo>
                  <a:lnTo>
                    <a:pt x="106752" y="48415"/>
                  </a:lnTo>
                  <a:close/>
                </a:path>
                <a:path w="165735" h="189865">
                  <a:moveTo>
                    <a:pt x="0" y="24207"/>
                  </a:moveTo>
                  <a:lnTo>
                    <a:pt x="0" y="189404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67400" y="927084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48419" y="0"/>
                  </a:moveTo>
                  <a:lnTo>
                    <a:pt x="0" y="0"/>
                  </a:lnTo>
                  <a:lnTo>
                    <a:pt x="24209" y="58446"/>
                  </a:lnTo>
                  <a:lnTo>
                    <a:pt x="48419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67400" y="927084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0" y="0"/>
                  </a:moveTo>
                  <a:lnTo>
                    <a:pt x="24209" y="58446"/>
                  </a:lnTo>
                  <a:lnTo>
                    <a:pt x="48419" y="0"/>
                  </a:lnTo>
                  <a:lnTo>
                    <a:pt x="0" y="0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6588" y="1308380"/>
              <a:ext cx="265557" cy="23502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122241" y="934978"/>
              <a:ext cx="309245" cy="501015"/>
            </a:xfrm>
            <a:custGeom>
              <a:avLst/>
              <a:gdLst/>
              <a:ahLst/>
              <a:cxnLst/>
              <a:rect l="l" t="t" r="r" b="b"/>
              <a:pathLst>
                <a:path w="309244" h="501015">
                  <a:moveTo>
                    <a:pt x="308968" y="500402"/>
                  </a:moveTo>
                  <a:lnTo>
                    <a:pt x="181968" y="500402"/>
                  </a:lnTo>
                  <a:lnTo>
                    <a:pt x="0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19463" y="934978"/>
              <a:ext cx="45720" cy="63500"/>
            </a:xfrm>
            <a:custGeom>
              <a:avLst/>
              <a:gdLst/>
              <a:ahLst/>
              <a:cxnLst/>
              <a:rect l="l" t="t" r="r" b="b"/>
              <a:pathLst>
                <a:path w="45719" h="63500">
                  <a:moveTo>
                    <a:pt x="2778" y="0"/>
                  </a:moveTo>
                  <a:lnTo>
                    <a:pt x="0" y="63197"/>
                  </a:lnTo>
                  <a:lnTo>
                    <a:pt x="45502" y="46651"/>
                  </a:lnTo>
                  <a:lnTo>
                    <a:pt x="2778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19463" y="934978"/>
              <a:ext cx="45720" cy="63500"/>
            </a:xfrm>
            <a:custGeom>
              <a:avLst/>
              <a:gdLst/>
              <a:ahLst/>
              <a:cxnLst/>
              <a:rect l="l" t="t" r="r" b="b"/>
              <a:pathLst>
                <a:path w="45719" h="63500">
                  <a:moveTo>
                    <a:pt x="45502" y="46651"/>
                  </a:moveTo>
                  <a:lnTo>
                    <a:pt x="2778" y="0"/>
                  </a:lnTo>
                  <a:lnTo>
                    <a:pt x="0" y="63197"/>
                  </a:lnTo>
                  <a:lnTo>
                    <a:pt x="45502" y="46651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56588" y="1853600"/>
              <a:ext cx="241347" cy="16386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080552" y="942297"/>
              <a:ext cx="351155" cy="1045210"/>
            </a:xfrm>
            <a:custGeom>
              <a:avLst/>
              <a:gdLst/>
              <a:ahLst/>
              <a:cxnLst/>
              <a:rect l="l" t="t" r="r" b="b"/>
              <a:pathLst>
                <a:path w="351155" h="1045210">
                  <a:moveTo>
                    <a:pt x="350662" y="1044628"/>
                  </a:moveTo>
                  <a:lnTo>
                    <a:pt x="0" y="1044628"/>
                  </a:lnTo>
                  <a:lnTo>
                    <a:pt x="0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56342" y="942297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24210" y="0"/>
                  </a:moveTo>
                  <a:lnTo>
                    <a:pt x="0" y="58448"/>
                  </a:lnTo>
                  <a:lnTo>
                    <a:pt x="48421" y="58448"/>
                  </a:lnTo>
                  <a:lnTo>
                    <a:pt x="2421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056342" y="942297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48421" y="58448"/>
                  </a:moveTo>
                  <a:lnTo>
                    <a:pt x="24210" y="0"/>
                  </a:lnTo>
                  <a:lnTo>
                    <a:pt x="0" y="58448"/>
                  </a:lnTo>
                  <a:lnTo>
                    <a:pt x="48421" y="58448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603684" y="716011"/>
            <a:ext cx="18230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29105" algn="l"/>
              </a:tabLst>
            </a:pPr>
            <a:r>
              <a:rPr sz="1100" i="1" spc="65" dirty="0">
                <a:latin typeface="Georgia"/>
                <a:cs typeface="Georgia"/>
              </a:rPr>
              <a:t>X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i="1" spc="-50" dirty="0">
                <a:latin typeface="Georgia"/>
                <a:cs typeface="Georgia"/>
              </a:rPr>
              <a:t>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26" name="object 26"/>
          <p:cNvSpPr txBox="1"/>
          <p:nvPr/>
        </p:nvSpPr>
        <p:spPr>
          <a:xfrm>
            <a:off x="389305" y="2759125"/>
            <a:ext cx="963294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0110" algn="l"/>
              </a:tabLst>
            </a:pPr>
            <a:r>
              <a:rPr sz="1100" i="1" u="sng" spc="-5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Y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spc="-50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62166" y="2853350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=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69795" y="2759125"/>
            <a:ext cx="313245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927735" algn="l"/>
                <a:tab pos="1605915" algn="l"/>
                <a:tab pos="2000885" algn="l"/>
                <a:tab pos="2357120" algn="l"/>
                <a:tab pos="2736850" algn="l"/>
                <a:tab pos="3093085" algn="l"/>
              </a:tabLst>
            </a:pPr>
            <a:r>
              <a:rPr sz="1350" baseline="-74074" dirty="0">
                <a:latin typeface="Palatino Linotype"/>
                <a:cs typeface="Palatino Linotype"/>
              </a:rPr>
              <a:t>2</a:t>
            </a:r>
            <a:r>
              <a:rPr sz="1350" spc="450" baseline="-74074" dirty="0">
                <a:latin typeface="Palatino Linotype"/>
                <a:cs typeface="Palatino Linotype"/>
              </a:rPr>
              <a:t> </a:t>
            </a:r>
            <a:r>
              <a:rPr sz="1650" spc="450" baseline="-37878" dirty="0">
                <a:latin typeface="Palatino Linotype"/>
                <a:cs typeface="Palatino Linotype"/>
              </a:rPr>
              <a:t>=</a:t>
            </a:r>
            <a:r>
              <a:rPr sz="1650" spc="375" baseline="-37878" dirty="0">
                <a:latin typeface="Palatino Linotype"/>
                <a:cs typeface="Palatino Linotype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 </a:t>
            </a:r>
            <a:r>
              <a:rPr sz="1650" spc="450" baseline="-37878" dirty="0">
                <a:latin typeface="Palatino Linotype"/>
                <a:cs typeface="Palatino Linotype"/>
              </a:rPr>
              <a:t>=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4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.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5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 </a:t>
            </a:r>
            <a:r>
              <a:rPr sz="1650" i="1" spc="165" baseline="-37878" dirty="0">
                <a:latin typeface="Times New Roman"/>
                <a:cs typeface="Times New Roman"/>
              </a:rPr>
              <a:t>−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3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.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5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2068" y="2950358"/>
            <a:ext cx="449453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330" algn="l"/>
                <a:tab pos="1706245" algn="l"/>
                <a:tab pos="3209290" algn="l"/>
                <a:tab pos="3945890" algn="l"/>
              </a:tabLst>
            </a:pPr>
            <a:r>
              <a:rPr sz="1100" i="1" spc="65" dirty="0">
                <a:latin typeface="Georgia"/>
                <a:cs typeface="Georgia"/>
              </a:rPr>
              <a:t>X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Palatino Linotype"/>
                <a:cs typeface="Palatino Linotype"/>
              </a:rPr>
              <a:t>1</a:t>
            </a:r>
            <a:r>
              <a:rPr sz="1100" i="1" spc="55" dirty="0">
                <a:latin typeface="Georgia"/>
                <a:cs typeface="Georgia"/>
              </a:rPr>
              <a:t>.</a:t>
            </a:r>
            <a:r>
              <a:rPr sz="1100" spc="55" dirty="0">
                <a:latin typeface="Palatino Linotype"/>
                <a:cs typeface="Palatino Linotype"/>
              </a:rPr>
              <a:t>6</a:t>
            </a:r>
            <a:r>
              <a:rPr sz="1100" i="1" spc="55" dirty="0">
                <a:latin typeface="Times New Roman"/>
                <a:cs typeface="Times New Roman"/>
              </a:rPr>
              <a:t>R</a:t>
            </a:r>
            <a:r>
              <a:rPr sz="1100" i="1" spc="-30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spc="-20" dirty="0">
                <a:latin typeface="Palatino Linotype"/>
                <a:cs typeface="Palatino Linotype"/>
              </a:rPr>
              <a:t>0</a:t>
            </a:r>
            <a:r>
              <a:rPr sz="1100" i="1" spc="-20" dirty="0">
                <a:latin typeface="Georgia"/>
                <a:cs typeface="Georgia"/>
              </a:rPr>
              <a:t>.</a:t>
            </a:r>
            <a:r>
              <a:rPr sz="1100" spc="-20" dirty="0">
                <a:latin typeface="Palatino Linotype"/>
                <a:cs typeface="Palatino Linotype"/>
              </a:rPr>
              <a:t>63</a:t>
            </a:r>
            <a:r>
              <a:rPr sz="1100" i="1" spc="-20" dirty="0">
                <a:latin typeface="Times New Roman"/>
                <a:cs typeface="Times New Roman"/>
              </a:rPr>
              <a:t>R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(1</a:t>
            </a:r>
            <a:r>
              <a:rPr sz="1100" spc="-15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spc="45" dirty="0">
                <a:latin typeface="Palatino Linotype"/>
                <a:cs typeface="Palatino Linotype"/>
              </a:rPr>
              <a:t>0</a:t>
            </a:r>
            <a:r>
              <a:rPr sz="1100" i="1" spc="45" dirty="0">
                <a:latin typeface="Georgia"/>
                <a:cs typeface="Georgia"/>
              </a:rPr>
              <a:t>.</a:t>
            </a:r>
            <a:r>
              <a:rPr sz="1100" spc="45" dirty="0">
                <a:latin typeface="Palatino Linotype"/>
                <a:cs typeface="Palatino Linotype"/>
              </a:rPr>
              <a:t>9</a:t>
            </a:r>
            <a:r>
              <a:rPr sz="1100" i="1" spc="45" dirty="0">
                <a:latin typeface="Times New Roman"/>
                <a:cs typeface="Times New Roman"/>
              </a:rPr>
              <a:t>R</a:t>
            </a:r>
            <a:r>
              <a:rPr sz="1100" spc="45" dirty="0">
                <a:latin typeface="Palatino Linotype"/>
                <a:cs typeface="Palatino Linotype"/>
              </a:rPr>
              <a:t>)(1</a:t>
            </a:r>
            <a:r>
              <a:rPr sz="1100" spc="-1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spc="45" dirty="0">
                <a:latin typeface="Palatino Linotype"/>
                <a:cs typeface="Palatino Linotype"/>
              </a:rPr>
              <a:t>0</a:t>
            </a:r>
            <a:r>
              <a:rPr sz="1100" i="1" spc="45" dirty="0">
                <a:latin typeface="Georgia"/>
                <a:cs typeface="Georgia"/>
              </a:rPr>
              <a:t>.</a:t>
            </a:r>
            <a:r>
              <a:rPr sz="1100" spc="45" dirty="0">
                <a:latin typeface="Palatino Linotype"/>
                <a:cs typeface="Palatino Linotype"/>
              </a:rPr>
              <a:t>7</a:t>
            </a:r>
            <a:r>
              <a:rPr sz="1100" i="1" spc="45" dirty="0">
                <a:latin typeface="Times New Roman"/>
                <a:cs typeface="Times New Roman"/>
              </a:rPr>
              <a:t>R</a:t>
            </a:r>
            <a:r>
              <a:rPr sz="1100" spc="45" dirty="0">
                <a:latin typeface="Palatino Linotype"/>
                <a:cs typeface="Palatino Linotype"/>
              </a:rPr>
              <a:t>)</a:t>
            </a:r>
            <a:r>
              <a:rPr sz="1100" dirty="0">
                <a:latin typeface="Palatino Linotype"/>
                <a:cs typeface="Palatino Linotype"/>
              </a:rPr>
              <a:t>	1</a:t>
            </a:r>
            <a:r>
              <a:rPr sz="1100" spc="-4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spc="35" dirty="0">
                <a:latin typeface="Palatino Linotype"/>
                <a:cs typeface="Palatino Linotype"/>
              </a:rPr>
              <a:t>0</a:t>
            </a:r>
            <a:r>
              <a:rPr sz="1100" i="1" spc="35" dirty="0">
                <a:latin typeface="Georgia"/>
                <a:cs typeface="Georgia"/>
              </a:rPr>
              <a:t>.</a:t>
            </a:r>
            <a:r>
              <a:rPr sz="1100" spc="35" dirty="0">
                <a:latin typeface="Palatino Linotype"/>
                <a:cs typeface="Palatino Linotype"/>
              </a:rPr>
              <a:t>9</a:t>
            </a:r>
            <a:r>
              <a:rPr sz="1100" i="1" spc="35" dirty="0">
                <a:latin typeface="Times New Roman"/>
                <a:cs typeface="Times New Roman"/>
              </a:rPr>
              <a:t>R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-4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spc="35" dirty="0">
                <a:latin typeface="Palatino Linotype"/>
                <a:cs typeface="Palatino Linotype"/>
              </a:rPr>
              <a:t>0</a:t>
            </a:r>
            <a:r>
              <a:rPr sz="1100" i="1" spc="35" dirty="0">
                <a:latin typeface="Georgia"/>
                <a:cs typeface="Georgia"/>
              </a:rPr>
              <a:t>.</a:t>
            </a:r>
            <a:r>
              <a:rPr sz="1100" spc="35" dirty="0">
                <a:latin typeface="Palatino Linotype"/>
                <a:cs typeface="Palatino Linotype"/>
              </a:rPr>
              <a:t>7</a:t>
            </a:r>
            <a:r>
              <a:rPr sz="1100" i="1" spc="3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5" dirty="0"/>
              <a:t>Second-</a:t>
            </a:r>
            <a:r>
              <a:rPr spc="100" dirty="0"/>
              <a:t>Order</a:t>
            </a:r>
            <a:r>
              <a:rPr spc="235" dirty="0"/>
              <a:t> </a:t>
            </a:r>
            <a:r>
              <a:rPr spc="75" dirty="0"/>
              <a:t>Systems:</a:t>
            </a:r>
            <a:r>
              <a:rPr spc="434" dirty="0"/>
              <a:t> </a:t>
            </a:r>
            <a:r>
              <a:rPr spc="90" dirty="0"/>
              <a:t>Equivalent</a:t>
            </a:r>
            <a:r>
              <a:rPr spc="240" dirty="0"/>
              <a:t> </a:t>
            </a:r>
            <a:r>
              <a:rPr spc="70" dirty="0"/>
              <a:t>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85248" y="1433942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94931" y="1696967"/>
            <a:ext cx="20383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25" dirty="0">
                <a:latin typeface="Palatino Linotype"/>
                <a:cs typeface="Palatino Linotype"/>
              </a:rPr>
              <a:t>0</a:t>
            </a:r>
            <a:r>
              <a:rPr sz="1100" i="1" spc="-25" dirty="0">
                <a:latin typeface="Georgia"/>
                <a:cs typeface="Georgia"/>
              </a:rPr>
              <a:t>.</a:t>
            </a:r>
            <a:r>
              <a:rPr sz="1100" spc="-25" dirty="0">
                <a:latin typeface="Palatino Linotype"/>
                <a:cs typeface="Palatino Linotype"/>
              </a:rPr>
              <a:t>9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2583" y="1700698"/>
            <a:ext cx="1435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64045" y="1442970"/>
            <a:ext cx="20383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25" dirty="0">
                <a:latin typeface="Palatino Linotype"/>
                <a:cs typeface="Palatino Linotype"/>
              </a:rPr>
              <a:t>4</a:t>
            </a:r>
            <a:r>
              <a:rPr sz="1100" i="1" spc="-25" dirty="0">
                <a:latin typeface="Georgia"/>
                <a:cs typeface="Georgia"/>
              </a:rPr>
              <a:t>.</a:t>
            </a:r>
            <a:r>
              <a:rPr sz="1100" spc="-25" dirty="0">
                <a:latin typeface="Palatino Linotype"/>
                <a:cs typeface="Palatino Linotype"/>
              </a:rPr>
              <a:t>5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83617" y="1433942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94458" y="2041822"/>
            <a:ext cx="3117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20" dirty="0">
                <a:latin typeface="Times New Roman"/>
                <a:cs typeface="Times New Roman"/>
              </a:rPr>
              <a:t>−</a:t>
            </a:r>
            <a:r>
              <a:rPr sz="1100" spc="-20" dirty="0">
                <a:latin typeface="Palatino Linotype"/>
                <a:cs typeface="Palatino Linotype"/>
              </a:rPr>
              <a:t>3</a:t>
            </a:r>
            <a:r>
              <a:rPr sz="1100" i="1" spc="-20" dirty="0">
                <a:latin typeface="Georgia"/>
                <a:cs typeface="Georgia"/>
              </a:rPr>
              <a:t>.</a:t>
            </a:r>
            <a:r>
              <a:rPr sz="1100" spc="-20" dirty="0">
                <a:latin typeface="Palatino Linotype"/>
                <a:cs typeface="Palatino Linotype"/>
              </a:rPr>
              <a:t>5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02583" y="2305348"/>
            <a:ext cx="1435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94931" y="2301617"/>
            <a:ext cx="20383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25" dirty="0">
                <a:latin typeface="Palatino Linotype"/>
                <a:cs typeface="Palatino Linotype"/>
              </a:rPr>
              <a:t>0</a:t>
            </a:r>
            <a:r>
              <a:rPr sz="1100" i="1" spc="-25" dirty="0">
                <a:latin typeface="Georgia"/>
                <a:cs typeface="Georgia"/>
              </a:rPr>
              <a:t>.</a:t>
            </a:r>
            <a:r>
              <a:rPr sz="1100" spc="-25" dirty="0">
                <a:latin typeface="Palatino Linotype"/>
                <a:cs typeface="Palatino Linotype"/>
              </a:rPr>
              <a:t>7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85247" y="2038592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14074" y="1656255"/>
            <a:ext cx="320675" cy="297815"/>
          </a:xfrm>
          <a:custGeom>
            <a:avLst/>
            <a:gdLst/>
            <a:ahLst/>
            <a:cxnLst/>
            <a:rect l="l" t="t" r="r" b="b"/>
            <a:pathLst>
              <a:path w="320675" h="297814">
                <a:moveTo>
                  <a:pt x="0" y="297545"/>
                </a:moveTo>
                <a:lnTo>
                  <a:pt x="320394" y="297545"/>
                </a:lnTo>
                <a:lnTo>
                  <a:pt x="320394" y="0"/>
                </a:lnTo>
                <a:lnTo>
                  <a:pt x="0" y="0"/>
                </a:lnTo>
                <a:lnTo>
                  <a:pt x="0" y="297545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14074" y="2260912"/>
            <a:ext cx="320675" cy="297815"/>
          </a:xfrm>
          <a:custGeom>
            <a:avLst/>
            <a:gdLst/>
            <a:ahLst/>
            <a:cxnLst/>
            <a:rect l="l" t="t" r="r" b="b"/>
            <a:pathLst>
              <a:path w="320675" h="297814">
                <a:moveTo>
                  <a:pt x="0" y="297545"/>
                </a:moveTo>
                <a:lnTo>
                  <a:pt x="320394" y="297545"/>
                </a:lnTo>
                <a:lnTo>
                  <a:pt x="320394" y="0"/>
                </a:lnTo>
                <a:lnTo>
                  <a:pt x="0" y="0"/>
                </a:lnTo>
                <a:lnTo>
                  <a:pt x="0" y="297545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1137917" y="1316099"/>
            <a:ext cx="2781300" cy="1329055"/>
            <a:chOff x="1137917" y="1316099"/>
            <a:chExt cx="2781300" cy="132905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9091" y="1448044"/>
              <a:ext cx="205966" cy="20596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742574" y="1322425"/>
              <a:ext cx="1654175" cy="711200"/>
            </a:xfrm>
            <a:custGeom>
              <a:avLst/>
              <a:gdLst/>
              <a:ahLst/>
              <a:cxnLst/>
              <a:rect l="l" t="t" r="r" b="b"/>
              <a:pathLst>
                <a:path w="1654175" h="711200">
                  <a:moveTo>
                    <a:pt x="0" y="482602"/>
                  </a:moveTo>
                  <a:lnTo>
                    <a:pt x="381000" y="711204"/>
                  </a:lnTo>
                  <a:lnTo>
                    <a:pt x="381000" y="254000"/>
                  </a:lnTo>
                  <a:lnTo>
                    <a:pt x="0" y="482602"/>
                  </a:lnTo>
                  <a:close/>
                </a:path>
                <a:path w="1654175" h="711200">
                  <a:moveTo>
                    <a:pt x="1272894" y="457204"/>
                  </a:moveTo>
                  <a:lnTo>
                    <a:pt x="1653894" y="228602"/>
                  </a:lnTo>
                  <a:lnTo>
                    <a:pt x="1272894" y="0"/>
                  </a:lnTo>
                  <a:lnTo>
                    <a:pt x="1272894" y="457204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7485" y="1448044"/>
              <a:ext cx="205967" cy="20596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742574" y="1927083"/>
              <a:ext cx="1654175" cy="711200"/>
            </a:xfrm>
            <a:custGeom>
              <a:avLst/>
              <a:gdLst/>
              <a:ahLst/>
              <a:cxnLst/>
              <a:rect l="l" t="t" r="r" b="b"/>
              <a:pathLst>
                <a:path w="1654175" h="711200">
                  <a:moveTo>
                    <a:pt x="1272894" y="457204"/>
                  </a:moveTo>
                  <a:lnTo>
                    <a:pt x="1653894" y="228602"/>
                  </a:lnTo>
                  <a:lnTo>
                    <a:pt x="1272894" y="0"/>
                  </a:lnTo>
                  <a:lnTo>
                    <a:pt x="1272894" y="457204"/>
                  </a:lnTo>
                  <a:close/>
                </a:path>
                <a:path w="1654175" h="711200">
                  <a:moveTo>
                    <a:pt x="0" y="482602"/>
                  </a:moveTo>
                  <a:lnTo>
                    <a:pt x="381000" y="711204"/>
                  </a:lnTo>
                  <a:lnTo>
                    <a:pt x="381000" y="254000"/>
                  </a:lnTo>
                  <a:lnTo>
                    <a:pt x="0" y="482602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9091" y="2052701"/>
              <a:ext cx="205966" cy="20596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137917" y="1551028"/>
              <a:ext cx="292735" cy="0"/>
            </a:xfrm>
            <a:custGeom>
              <a:avLst/>
              <a:gdLst/>
              <a:ahLst/>
              <a:cxnLst/>
              <a:rect l="l" t="t" r="r" b="b"/>
              <a:pathLst>
                <a:path w="292734">
                  <a:moveTo>
                    <a:pt x="0" y="0"/>
                  </a:moveTo>
                  <a:lnTo>
                    <a:pt x="292196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71667" y="1526818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20"/>
                  </a:lnTo>
                  <a:lnTo>
                    <a:pt x="58446" y="24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71667" y="1526818"/>
              <a:ext cx="1618615" cy="48895"/>
            </a:xfrm>
            <a:custGeom>
              <a:avLst/>
              <a:gdLst/>
              <a:ahLst/>
              <a:cxnLst/>
              <a:rect l="l" t="t" r="r" b="b"/>
              <a:pathLst>
                <a:path w="1618614" h="48894">
                  <a:moveTo>
                    <a:pt x="0" y="48420"/>
                  </a:moveTo>
                  <a:lnTo>
                    <a:pt x="58446" y="24210"/>
                  </a:lnTo>
                  <a:lnTo>
                    <a:pt x="0" y="0"/>
                  </a:lnTo>
                  <a:lnTo>
                    <a:pt x="0" y="48420"/>
                  </a:lnTo>
                  <a:close/>
                </a:path>
                <a:path w="1618614" h="48894">
                  <a:moveTo>
                    <a:pt x="277064" y="24210"/>
                  </a:moveTo>
                  <a:lnTo>
                    <a:pt x="1618505" y="2421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31719" y="1526815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24"/>
                  </a:lnTo>
                  <a:lnTo>
                    <a:pt x="58452" y="242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659772" y="1526815"/>
              <a:ext cx="330835" cy="278765"/>
            </a:xfrm>
            <a:custGeom>
              <a:avLst/>
              <a:gdLst/>
              <a:ahLst/>
              <a:cxnLst/>
              <a:rect l="l" t="t" r="r" b="b"/>
              <a:pathLst>
                <a:path w="330835" h="278764">
                  <a:moveTo>
                    <a:pt x="271947" y="48424"/>
                  </a:moveTo>
                  <a:lnTo>
                    <a:pt x="330399" y="24212"/>
                  </a:lnTo>
                  <a:lnTo>
                    <a:pt x="271947" y="0"/>
                  </a:lnTo>
                  <a:lnTo>
                    <a:pt x="271947" y="48424"/>
                  </a:lnTo>
                  <a:close/>
                </a:path>
                <a:path w="330835" h="278764">
                  <a:moveTo>
                    <a:pt x="165196" y="24212"/>
                  </a:moveTo>
                  <a:lnTo>
                    <a:pt x="165196" y="278212"/>
                  </a:lnTo>
                  <a:lnTo>
                    <a:pt x="0" y="278212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59772" y="1780818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48878" y="1780818"/>
              <a:ext cx="569595" cy="48895"/>
            </a:xfrm>
            <a:custGeom>
              <a:avLst/>
              <a:gdLst/>
              <a:ahLst/>
              <a:cxnLst/>
              <a:rect l="l" t="t" r="r" b="b"/>
              <a:pathLst>
                <a:path w="569594" h="48894">
                  <a:moveTo>
                    <a:pt x="569340" y="0"/>
                  </a:moveTo>
                  <a:lnTo>
                    <a:pt x="510894" y="24209"/>
                  </a:lnTo>
                  <a:lnTo>
                    <a:pt x="569340" y="48419"/>
                  </a:lnTo>
                  <a:lnTo>
                    <a:pt x="569340" y="0"/>
                  </a:lnTo>
                  <a:close/>
                </a:path>
                <a:path w="569594" h="48894">
                  <a:moveTo>
                    <a:pt x="165196" y="24209"/>
                  </a:moveTo>
                  <a:lnTo>
                    <a:pt x="0" y="242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148878" y="1780818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48878" y="1780818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1538" y="1666663"/>
              <a:ext cx="227362" cy="14469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48731" y="2155685"/>
              <a:ext cx="1341755" cy="0"/>
            </a:xfrm>
            <a:custGeom>
              <a:avLst/>
              <a:gdLst/>
              <a:ahLst/>
              <a:cxnLst/>
              <a:rect l="l" t="t" r="r" b="b"/>
              <a:pathLst>
                <a:path w="1341755">
                  <a:moveTo>
                    <a:pt x="0" y="0"/>
                  </a:moveTo>
                  <a:lnTo>
                    <a:pt x="1341440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931719" y="2131472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24"/>
                  </a:lnTo>
                  <a:lnTo>
                    <a:pt x="58452" y="242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659772" y="2131472"/>
              <a:ext cx="330835" cy="278765"/>
            </a:xfrm>
            <a:custGeom>
              <a:avLst/>
              <a:gdLst/>
              <a:ahLst/>
              <a:cxnLst/>
              <a:rect l="l" t="t" r="r" b="b"/>
              <a:pathLst>
                <a:path w="330835" h="278764">
                  <a:moveTo>
                    <a:pt x="271947" y="48424"/>
                  </a:moveTo>
                  <a:lnTo>
                    <a:pt x="330399" y="24212"/>
                  </a:lnTo>
                  <a:lnTo>
                    <a:pt x="271947" y="0"/>
                  </a:lnTo>
                  <a:lnTo>
                    <a:pt x="271947" y="48424"/>
                  </a:lnTo>
                  <a:close/>
                </a:path>
                <a:path w="330835" h="278764">
                  <a:moveTo>
                    <a:pt x="165196" y="24212"/>
                  </a:moveTo>
                  <a:lnTo>
                    <a:pt x="165196" y="278212"/>
                  </a:lnTo>
                  <a:lnTo>
                    <a:pt x="0" y="278212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59772" y="2385475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48878" y="2385475"/>
              <a:ext cx="569595" cy="48895"/>
            </a:xfrm>
            <a:custGeom>
              <a:avLst/>
              <a:gdLst/>
              <a:ahLst/>
              <a:cxnLst/>
              <a:rect l="l" t="t" r="r" b="b"/>
              <a:pathLst>
                <a:path w="569594" h="48894">
                  <a:moveTo>
                    <a:pt x="569340" y="0"/>
                  </a:moveTo>
                  <a:lnTo>
                    <a:pt x="510894" y="24209"/>
                  </a:lnTo>
                  <a:lnTo>
                    <a:pt x="569340" y="48419"/>
                  </a:lnTo>
                  <a:lnTo>
                    <a:pt x="569340" y="0"/>
                  </a:lnTo>
                  <a:close/>
                </a:path>
                <a:path w="569594" h="48894">
                  <a:moveTo>
                    <a:pt x="165196" y="24209"/>
                  </a:moveTo>
                  <a:lnTo>
                    <a:pt x="0" y="242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48878" y="2385475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48878" y="2385475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1538" y="2271321"/>
              <a:ext cx="227362" cy="14469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396468" y="1551028"/>
              <a:ext cx="132080" cy="0"/>
            </a:xfrm>
            <a:custGeom>
              <a:avLst/>
              <a:gdLst/>
              <a:ahLst/>
              <a:cxnLst/>
              <a:rect l="l" t="t" r="r" b="b"/>
              <a:pathLst>
                <a:path w="132079">
                  <a:moveTo>
                    <a:pt x="0" y="0"/>
                  </a:moveTo>
                  <a:lnTo>
                    <a:pt x="132037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470059" y="1526817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20"/>
                  </a:lnTo>
                  <a:lnTo>
                    <a:pt x="58447" y="24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396468" y="1526817"/>
              <a:ext cx="254000" cy="629285"/>
            </a:xfrm>
            <a:custGeom>
              <a:avLst/>
              <a:gdLst/>
              <a:ahLst/>
              <a:cxnLst/>
              <a:rect l="l" t="t" r="r" b="b"/>
              <a:pathLst>
                <a:path w="254000" h="629285">
                  <a:moveTo>
                    <a:pt x="73590" y="48420"/>
                  </a:moveTo>
                  <a:lnTo>
                    <a:pt x="132037" y="24210"/>
                  </a:lnTo>
                  <a:lnTo>
                    <a:pt x="73590" y="0"/>
                  </a:lnTo>
                  <a:lnTo>
                    <a:pt x="73590" y="48420"/>
                  </a:lnTo>
                  <a:close/>
                </a:path>
                <a:path w="254000" h="629285">
                  <a:moveTo>
                    <a:pt x="0" y="628867"/>
                  </a:moveTo>
                  <a:lnTo>
                    <a:pt x="254000" y="628867"/>
                  </a:lnTo>
                  <a:lnTo>
                    <a:pt x="254000" y="146175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626259" y="1672993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5" h="59055">
                  <a:moveTo>
                    <a:pt x="24209" y="0"/>
                  </a:moveTo>
                  <a:lnTo>
                    <a:pt x="0" y="58444"/>
                  </a:lnTo>
                  <a:lnTo>
                    <a:pt x="48418" y="58444"/>
                  </a:lnTo>
                  <a:lnTo>
                    <a:pt x="24209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626259" y="1551028"/>
              <a:ext cx="286385" cy="180975"/>
            </a:xfrm>
            <a:custGeom>
              <a:avLst/>
              <a:gdLst/>
              <a:ahLst/>
              <a:cxnLst/>
              <a:rect l="l" t="t" r="r" b="b"/>
              <a:pathLst>
                <a:path w="286385" h="180975">
                  <a:moveTo>
                    <a:pt x="48418" y="180410"/>
                  </a:moveTo>
                  <a:lnTo>
                    <a:pt x="24209" y="121965"/>
                  </a:lnTo>
                  <a:lnTo>
                    <a:pt x="0" y="180410"/>
                  </a:lnTo>
                  <a:lnTo>
                    <a:pt x="48418" y="180410"/>
                  </a:lnTo>
                  <a:close/>
                </a:path>
                <a:path w="286385" h="180975">
                  <a:moveTo>
                    <a:pt x="120866" y="0"/>
                  </a:moveTo>
                  <a:lnTo>
                    <a:pt x="286062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853876" y="1526818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264917" y="1526818"/>
              <a:ext cx="2647950" cy="629285"/>
            </a:xfrm>
            <a:custGeom>
              <a:avLst/>
              <a:gdLst/>
              <a:ahLst/>
              <a:cxnLst/>
              <a:rect l="l" t="t" r="r" b="b"/>
              <a:pathLst>
                <a:path w="2647950" h="629285">
                  <a:moveTo>
                    <a:pt x="2588959" y="48419"/>
                  </a:moveTo>
                  <a:lnTo>
                    <a:pt x="2647405" y="24209"/>
                  </a:lnTo>
                  <a:lnTo>
                    <a:pt x="2588959" y="0"/>
                  </a:lnTo>
                  <a:lnTo>
                    <a:pt x="2588959" y="48419"/>
                  </a:lnTo>
                  <a:close/>
                </a:path>
                <a:path w="2647950" h="629285">
                  <a:moveTo>
                    <a:pt x="0" y="24209"/>
                  </a:moveTo>
                  <a:lnTo>
                    <a:pt x="0" y="628867"/>
                  </a:lnTo>
                  <a:lnTo>
                    <a:pt x="165196" y="628867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371667" y="2131475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371667" y="2131475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48419"/>
                  </a:moveTo>
                  <a:lnTo>
                    <a:pt x="58446" y="24209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948195" y="1446701"/>
            <a:ext cx="1409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65" dirty="0">
                <a:latin typeface="Georgia"/>
                <a:cs typeface="Georgia"/>
              </a:rPr>
              <a:t>X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48" name="object 48"/>
          <p:cNvSpPr txBox="1"/>
          <p:nvPr/>
        </p:nvSpPr>
        <p:spPr>
          <a:xfrm>
            <a:off x="3975693" y="1446701"/>
            <a:ext cx="10668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5730" y="381266"/>
            <a:ext cx="4463415" cy="1123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100" spc="120" dirty="0">
                <a:latin typeface="Arial"/>
                <a:cs typeface="Arial"/>
              </a:rPr>
              <a:t>The</a:t>
            </a:r>
            <a:r>
              <a:rPr sz="1100" spc="235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sum</a:t>
            </a:r>
            <a:r>
              <a:rPr sz="1100" spc="235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23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simpler</a:t>
            </a:r>
            <a:r>
              <a:rPr sz="1100" spc="240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parts</a:t>
            </a:r>
            <a:r>
              <a:rPr sz="1100" spc="2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suggests</a:t>
            </a:r>
            <a:r>
              <a:rPr sz="1100" spc="2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parallel</a:t>
            </a:r>
            <a:r>
              <a:rPr sz="1100" spc="235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implementation.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100">
              <a:latin typeface="Arial"/>
              <a:cs typeface="Arial"/>
            </a:endParaRPr>
          </a:p>
          <a:p>
            <a:pPr marL="325755">
              <a:lnSpc>
                <a:spcPct val="100000"/>
              </a:lnSpc>
              <a:tabLst>
                <a:tab pos="839469" algn="l"/>
                <a:tab pos="1196340" algn="l"/>
                <a:tab pos="1575435" algn="l"/>
                <a:tab pos="1932305" algn="l"/>
              </a:tabLst>
            </a:pPr>
            <a:r>
              <a:rPr sz="1100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Y</a:t>
            </a:r>
            <a:r>
              <a:rPr sz="1100" i="1" spc="500" dirty="0">
                <a:latin typeface="Georgia"/>
                <a:cs typeface="Georgia"/>
              </a:rPr>
              <a:t> </a:t>
            </a:r>
            <a:r>
              <a:rPr sz="1650" spc="450" baseline="-37878" dirty="0">
                <a:latin typeface="Palatino Linotype"/>
                <a:cs typeface="Palatino Linotype"/>
              </a:rPr>
              <a:t>=</a:t>
            </a:r>
            <a:r>
              <a:rPr sz="1650" spc="315" baseline="-37878" dirty="0">
                <a:latin typeface="Palatino Linotype"/>
                <a:cs typeface="Palatino Linotype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4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.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5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 </a:t>
            </a:r>
            <a:r>
              <a:rPr sz="1650" i="1" spc="165" baseline="-37878" dirty="0">
                <a:latin typeface="Times New Roman"/>
                <a:cs typeface="Times New Roman"/>
              </a:rPr>
              <a:t>−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3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.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5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endParaRPr sz="1100">
              <a:latin typeface="Palatino Linotype"/>
              <a:cs typeface="Palatino Linotype"/>
            </a:endParaRPr>
          </a:p>
          <a:p>
            <a:pPr marL="318770">
              <a:lnSpc>
                <a:spcPct val="100000"/>
              </a:lnSpc>
              <a:spcBef>
                <a:spcPts val="175"/>
              </a:spcBef>
              <a:tabLst>
                <a:tab pos="661035" algn="l"/>
                <a:tab pos="1397000" algn="l"/>
              </a:tabLst>
            </a:pPr>
            <a:r>
              <a:rPr sz="1100" i="1" spc="65" dirty="0">
                <a:latin typeface="Georgia"/>
                <a:cs typeface="Georgia"/>
              </a:rPr>
              <a:t>X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-4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spc="35" dirty="0">
                <a:latin typeface="Palatino Linotype"/>
                <a:cs typeface="Palatino Linotype"/>
              </a:rPr>
              <a:t>0</a:t>
            </a:r>
            <a:r>
              <a:rPr sz="1100" i="1" spc="35" dirty="0">
                <a:latin typeface="Georgia"/>
                <a:cs typeface="Georgia"/>
              </a:rPr>
              <a:t>.</a:t>
            </a:r>
            <a:r>
              <a:rPr sz="1100" spc="35" dirty="0">
                <a:latin typeface="Palatino Linotype"/>
                <a:cs typeface="Palatino Linotype"/>
              </a:rPr>
              <a:t>9</a:t>
            </a:r>
            <a:r>
              <a:rPr sz="1100" i="1" spc="35" dirty="0">
                <a:latin typeface="Times New Roman"/>
                <a:cs typeface="Times New Roman"/>
              </a:rPr>
              <a:t>R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-4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spc="35" dirty="0">
                <a:latin typeface="Palatino Linotype"/>
                <a:cs typeface="Palatino Linotype"/>
              </a:rPr>
              <a:t>0</a:t>
            </a:r>
            <a:r>
              <a:rPr sz="1100" i="1" spc="35" dirty="0">
                <a:latin typeface="Georgia"/>
                <a:cs typeface="Georgia"/>
              </a:rPr>
              <a:t>.</a:t>
            </a:r>
            <a:r>
              <a:rPr sz="1100" spc="35" dirty="0">
                <a:latin typeface="Palatino Linotype"/>
                <a:cs typeface="Palatino Linotype"/>
              </a:rPr>
              <a:t>7</a:t>
            </a:r>
            <a:r>
              <a:rPr sz="1100" i="1" spc="3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100">
              <a:latin typeface="Times New Roman"/>
              <a:cs typeface="Times New Roman"/>
            </a:endParaRPr>
          </a:p>
          <a:p>
            <a:pPr marL="1028700" algn="ctr">
              <a:lnSpc>
                <a:spcPct val="100000"/>
              </a:lnSpc>
            </a:pPr>
            <a:r>
              <a:rPr sz="1100" i="1" spc="-25" dirty="0">
                <a:latin typeface="Georgia"/>
                <a:cs typeface="Georgia"/>
              </a:rPr>
              <a:t>Y</a:t>
            </a:r>
            <a:r>
              <a:rPr sz="1350" spc="-37" baseline="-12345" dirty="0">
                <a:latin typeface="Palatino Linotype"/>
                <a:cs typeface="Palatino Linotype"/>
              </a:rPr>
              <a:t>1</a:t>
            </a:r>
            <a:endParaRPr sz="1350" baseline="-12345">
              <a:latin typeface="Palatino Linotype"/>
              <a:cs typeface="Palatino Linotype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714031" y="1916189"/>
            <a:ext cx="21590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spc="-25" dirty="0">
                <a:latin typeface="Georgia"/>
                <a:cs typeface="Georgia"/>
              </a:rPr>
              <a:t>Y</a:t>
            </a:r>
            <a:r>
              <a:rPr sz="1350" spc="-37" baseline="-12345" dirty="0">
                <a:latin typeface="Palatino Linotype"/>
                <a:cs typeface="Palatino Linotype"/>
              </a:rPr>
              <a:t>2</a:t>
            </a:r>
            <a:endParaRPr sz="1350" baseline="-12345">
              <a:latin typeface="Palatino Linotype"/>
              <a:cs typeface="Palatino Linotype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8430" y="2982633"/>
            <a:ext cx="3855720" cy="471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spc="80" dirty="0">
                <a:latin typeface="Arial"/>
                <a:cs typeface="Arial"/>
              </a:rPr>
              <a:t>If</a:t>
            </a:r>
            <a:r>
              <a:rPr sz="1100" spc="125" dirty="0">
                <a:latin typeface="Arial"/>
                <a:cs typeface="Arial"/>
              </a:rPr>
              <a:t> </a:t>
            </a:r>
            <a:r>
              <a:rPr sz="1100" i="1" dirty="0">
                <a:latin typeface="Georgia"/>
                <a:cs typeface="Georgia"/>
              </a:rPr>
              <a:t>x</a:t>
            </a:r>
            <a:r>
              <a:rPr sz="1100" dirty="0">
                <a:latin typeface="Palatino Linotype"/>
                <a:cs typeface="Palatino Linotype"/>
              </a:rPr>
              <a:t>[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dirty="0">
                <a:latin typeface="Palatino Linotype"/>
                <a:cs typeface="Palatino Linotype"/>
              </a:rPr>
              <a:t>]</a:t>
            </a:r>
            <a:r>
              <a:rPr sz="1100" spc="10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10" dirty="0">
                <a:latin typeface="Palatino Linotype"/>
                <a:cs typeface="Palatino Linotype"/>
              </a:rPr>
              <a:t> </a:t>
            </a:r>
            <a:r>
              <a:rPr sz="1100" i="1" spc="-10" dirty="0">
                <a:latin typeface="Georgia"/>
                <a:cs typeface="Georgia"/>
              </a:rPr>
              <a:t>δ</a:t>
            </a:r>
            <a:r>
              <a:rPr sz="1100" spc="-10" dirty="0">
                <a:latin typeface="Palatino Linotype"/>
                <a:cs typeface="Palatino Linotype"/>
              </a:rPr>
              <a:t>[</a:t>
            </a:r>
            <a:r>
              <a:rPr sz="1100" i="1" spc="-10" dirty="0">
                <a:latin typeface="Georgia"/>
                <a:cs typeface="Georgia"/>
              </a:rPr>
              <a:t>n</a:t>
            </a:r>
            <a:r>
              <a:rPr sz="1100" spc="-10" dirty="0">
                <a:latin typeface="Palatino Linotype"/>
                <a:cs typeface="Palatino Linotype"/>
              </a:rPr>
              <a:t>]</a:t>
            </a:r>
            <a:r>
              <a:rPr sz="1100" spc="155" dirty="0">
                <a:latin typeface="Palatino Linotype"/>
                <a:cs typeface="Palatino Linotype"/>
              </a:rPr>
              <a:t> </a:t>
            </a:r>
            <a:r>
              <a:rPr sz="1100" spc="80" dirty="0">
                <a:latin typeface="Arial"/>
                <a:cs typeface="Arial"/>
              </a:rPr>
              <a:t>then</a:t>
            </a:r>
            <a:r>
              <a:rPr sz="1100" spc="1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Georgia"/>
                <a:cs typeface="Georgia"/>
              </a:rPr>
              <a:t>y</a:t>
            </a:r>
            <a:r>
              <a:rPr sz="1350" spc="-15" baseline="-12345" dirty="0">
                <a:latin typeface="Palatino Linotype"/>
                <a:cs typeface="Palatino Linotype"/>
              </a:rPr>
              <a:t>1</a:t>
            </a:r>
            <a:r>
              <a:rPr sz="1100" spc="-10" dirty="0">
                <a:latin typeface="Palatino Linotype"/>
                <a:cs typeface="Palatino Linotype"/>
              </a:rPr>
              <a:t>[</a:t>
            </a:r>
            <a:r>
              <a:rPr sz="1100" i="1" spc="-10" dirty="0">
                <a:latin typeface="Georgia"/>
                <a:cs typeface="Georgia"/>
              </a:rPr>
              <a:t>n</a:t>
            </a:r>
            <a:r>
              <a:rPr sz="1100" spc="-10" dirty="0">
                <a:latin typeface="Palatino Linotype"/>
                <a:cs typeface="Palatino Linotype"/>
              </a:rPr>
              <a:t>]</a:t>
            </a:r>
            <a:r>
              <a:rPr sz="1100" spc="10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1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9</a:t>
            </a:r>
            <a:r>
              <a:rPr sz="1350" i="1" baseline="24691" dirty="0">
                <a:latin typeface="Georgia"/>
                <a:cs typeface="Georgia"/>
              </a:rPr>
              <a:t>n</a:t>
            </a:r>
            <a:r>
              <a:rPr sz="1350" i="1" spc="382" baseline="24691" dirty="0">
                <a:latin typeface="Georgia"/>
                <a:cs typeface="Georgia"/>
              </a:rPr>
              <a:t> </a:t>
            </a:r>
            <a:r>
              <a:rPr sz="1100" spc="55" dirty="0">
                <a:latin typeface="Arial"/>
                <a:cs typeface="Arial"/>
              </a:rPr>
              <a:t>and</a:t>
            </a:r>
            <a:r>
              <a:rPr sz="1100" spc="130" dirty="0">
                <a:latin typeface="Arial"/>
                <a:cs typeface="Arial"/>
              </a:rPr>
              <a:t> </a:t>
            </a:r>
            <a:r>
              <a:rPr sz="1100" i="1" spc="-10" dirty="0">
                <a:latin typeface="Georgia"/>
                <a:cs typeface="Georgia"/>
              </a:rPr>
              <a:t>y</a:t>
            </a:r>
            <a:r>
              <a:rPr sz="1350" spc="-15" baseline="-12345" dirty="0">
                <a:latin typeface="Palatino Linotype"/>
                <a:cs typeface="Palatino Linotype"/>
              </a:rPr>
              <a:t>2</a:t>
            </a:r>
            <a:r>
              <a:rPr sz="1100" spc="-10" dirty="0">
                <a:latin typeface="Palatino Linotype"/>
                <a:cs typeface="Palatino Linotype"/>
              </a:rPr>
              <a:t>[</a:t>
            </a:r>
            <a:r>
              <a:rPr sz="1100" i="1" spc="-10" dirty="0">
                <a:latin typeface="Georgia"/>
                <a:cs typeface="Georgia"/>
              </a:rPr>
              <a:t>n</a:t>
            </a:r>
            <a:r>
              <a:rPr sz="1100" spc="-10" dirty="0">
                <a:latin typeface="Palatino Linotype"/>
                <a:cs typeface="Palatino Linotype"/>
              </a:rPr>
              <a:t>]</a:t>
            </a:r>
            <a:r>
              <a:rPr sz="1100" spc="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1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7</a:t>
            </a:r>
            <a:r>
              <a:rPr sz="1350" i="1" baseline="24691" dirty="0">
                <a:latin typeface="Georgia"/>
                <a:cs typeface="Georgia"/>
              </a:rPr>
              <a:t>n</a:t>
            </a:r>
            <a:r>
              <a:rPr sz="1350" i="1" spc="382" baseline="24691" dirty="0">
                <a:latin typeface="Georgia"/>
                <a:cs typeface="Georgia"/>
              </a:rPr>
              <a:t> </a:t>
            </a:r>
            <a:r>
              <a:rPr sz="1100" spc="75" dirty="0">
                <a:latin typeface="Arial"/>
                <a:cs typeface="Arial"/>
              </a:rPr>
              <a:t>for</a:t>
            </a:r>
            <a:r>
              <a:rPr sz="1100" spc="125" dirty="0">
                <a:latin typeface="Arial"/>
                <a:cs typeface="Arial"/>
              </a:rPr>
              <a:t> 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i="1" spc="20" dirty="0">
                <a:latin typeface="Georgia"/>
                <a:cs typeface="Georgia"/>
              </a:rPr>
              <a:t> </a:t>
            </a:r>
            <a:r>
              <a:rPr sz="1100" i="1" spc="250" dirty="0">
                <a:latin typeface="Times New Roman"/>
                <a:cs typeface="Times New Roman"/>
              </a:rPr>
              <a:t>≥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Palatino Linotype"/>
                <a:cs typeface="Palatino Linotype"/>
              </a:rPr>
              <a:t>0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875"/>
              </a:spcBef>
            </a:pPr>
            <a:r>
              <a:rPr sz="1100" spc="95" dirty="0">
                <a:latin typeface="Arial"/>
                <a:cs typeface="Arial"/>
              </a:rPr>
              <a:t>Thus,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i="1" spc="-20" dirty="0">
                <a:latin typeface="Georgia"/>
                <a:cs typeface="Georgia"/>
              </a:rPr>
              <a:t>y</a:t>
            </a:r>
            <a:r>
              <a:rPr sz="1100" spc="-20" dirty="0">
                <a:latin typeface="Palatino Linotype"/>
                <a:cs typeface="Palatino Linotype"/>
              </a:rPr>
              <a:t>[</a:t>
            </a:r>
            <a:r>
              <a:rPr sz="1100" i="1" spc="-20" dirty="0">
                <a:latin typeface="Georgia"/>
                <a:cs typeface="Georgia"/>
              </a:rPr>
              <a:t>n</a:t>
            </a:r>
            <a:r>
              <a:rPr sz="1100" spc="-20" dirty="0">
                <a:latin typeface="Palatino Linotype"/>
                <a:cs typeface="Palatino Linotype"/>
              </a:rPr>
              <a:t>]</a:t>
            </a:r>
            <a:r>
              <a:rPr sz="1100" spc="4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4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4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5(0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9)</a:t>
            </a:r>
            <a:r>
              <a:rPr sz="1350" i="1" baseline="24691" dirty="0">
                <a:latin typeface="Georgia"/>
                <a:cs typeface="Georgia"/>
              </a:rPr>
              <a:t>n</a:t>
            </a:r>
            <a:r>
              <a:rPr sz="1350" i="1" spc="142" baseline="24691" dirty="0">
                <a:latin typeface="Georgia"/>
                <a:cs typeface="Georgia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3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5(0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7)</a:t>
            </a:r>
            <a:r>
              <a:rPr sz="1350" i="1" baseline="24691" dirty="0">
                <a:latin typeface="Georgia"/>
                <a:cs typeface="Georgia"/>
              </a:rPr>
              <a:t>n</a:t>
            </a:r>
            <a:r>
              <a:rPr sz="1350" i="1" spc="472" baseline="24691" dirty="0">
                <a:latin typeface="Georgia"/>
                <a:cs typeface="Georgia"/>
              </a:rPr>
              <a:t> </a:t>
            </a:r>
            <a:r>
              <a:rPr sz="1100" spc="75" dirty="0">
                <a:latin typeface="Arial"/>
                <a:cs typeface="Arial"/>
              </a:rPr>
              <a:t>for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i="1" spc="55" dirty="0">
                <a:latin typeface="Georgia"/>
                <a:cs typeface="Georgia"/>
              </a:rPr>
              <a:t> </a:t>
            </a:r>
            <a:r>
              <a:rPr sz="1100" i="1" spc="250" dirty="0">
                <a:latin typeface="Times New Roman"/>
                <a:cs typeface="Times New Roman"/>
              </a:rPr>
              <a:t>≥</a:t>
            </a:r>
            <a:r>
              <a:rPr sz="1100" i="1" spc="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Palatino Linotype"/>
                <a:cs typeface="Palatino Linotype"/>
              </a:rPr>
              <a:t>0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5" dirty="0"/>
              <a:t>Partial</a:t>
            </a:r>
            <a:r>
              <a:rPr spc="215" dirty="0"/>
              <a:t> </a:t>
            </a:r>
            <a:r>
              <a:rPr spc="70" dirty="0"/>
              <a:t>Fractions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7055" y="857821"/>
            <a:ext cx="1923852" cy="43615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7055" y="1736682"/>
            <a:ext cx="1923852" cy="4361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7055" y="2742514"/>
            <a:ext cx="1923852" cy="57807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-469" y="381266"/>
            <a:ext cx="4607560" cy="3105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95"/>
              </a:spcBef>
            </a:pPr>
            <a:r>
              <a:rPr sz="1100" spc="55" dirty="0">
                <a:latin typeface="Arial"/>
                <a:cs typeface="Arial"/>
              </a:rPr>
              <a:t>Graphical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representation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b="1" spc="65" dirty="0">
                <a:solidFill>
                  <a:srgbClr val="0000CC"/>
                </a:solidFill>
                <a:latin typeface="Arial"/>
                <a:cs typeface="Arial"/>
              </a:rPr>
              <a:t>sum</a:t>
            </a:r>
            <a:r>
              <a:rPr sz="1100" b="1" spc="16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75" dirty="0">
                <a:latin typeface="Arial"/>
                <a:cs typeface="Arial"/>
              </a:rPr>
              <a:t>geometric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sequences.</a:t>
            </a:r>
            <a:endParaRPr sz="1100">
              <a:latin typeface="Arial"/>
              <a:cs typeface="Arial"/>
            </a:endParaRPr>
          </a:p>
          <a:p>
            <a:pPr marL="1675764">
              <a:lnSpc>
                <a:spcPct val="100000"/>
              </a:lnSpc>
              <a:spcBef>
                <a:spcPts val="950"/>
              </a:spcBef>
            </a:pPr>
            <a:r>
              <a:rPr sz="1100" i="1" spc="-10" dirty="0">
                <a:latin typeface="Georgia"/>
                <a:cs typeface="Georgia"/>
              </a:rPr>
              <a:t>y</a:t>
            </a:r>
            <a:r>
              <a:rPr sz="1350" spc="-15" baseline="-12345" dirty="0">
                <a:latin typeface="Palatino Linotype"/>
                <a:cs typeface="Palatino Linotype"/>
              </a:rPr>
              <a:t>1</a:t>
            </a:r>
            <a:r>
              <a:rPr sz="1100" spc="-10" dirty="0">
                <a:latin typeface="Palatino Linotype"/>
                <a:cs typeface="Palatino Linotype"/>
              </a:rPr>
              <a:t>[</a:t>
            </a:r>
            <a:r>
              <a:rPr sz="1100" i="1" spc="-10" dirty="0">
                <a:latin typeface="Georgia"/>
                <a:cs typeface="Georgia"/>
              </a:rPr>
              <a:t>n</a:t>
            </a:r>
            <a:r>
              <a:rPr sz="1100" spc="-10" dirty="0">
                <a:latin typeface="Palatino Linotype"/>
                <a:cs typeface="Palatino Linotype"/>
              </a:rPr>
              <a:t>]</a:t>
            </a:r>
            <a:r>
              <a:rPr sz="1100" spc="1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2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9</a:t>
            </a:r>
            <a:r>
              <a:rPr sz="1350" i="1" baseline="24691" dirty="0">
                <a:latin typeface="Georgia"/>
                <a:cs typeface="Georgia"/>
              </a:rPr>
              <a:t>n</a:t>
            </a:r>
            <a:r>
              <a:rPr sz="1350" i="1" spc="405" baseline="24691" dirty="0">
                <a:latin typeface="Georgia"/>
                <a:cs typeface="Georgia"/>
              </a:rPr>
              <a:t> </a:t>
            </a:r>
            <a:r>
              <a:rPr sz="1100" spc="75" dirty="0">
                <a:latin typeface="Arial"/>
                <a:cs typeface="Arial"/>
              </a:rPr>
              <a:t>for</a:t>
            </a:r>
            <a:r>
              <a:rPr sz="1100" spc="135" dirty="0">
                <a:latin typeface="Arial"/>
                <a:cs typeface="Arial"/>
              </a:rPr>
              <a:t> 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i="1" spc="25" dirty="0">
                <a:latin typeface="Georgia"/>
                <a:cs typeface="Georgia"/>
              </a:rPr>
              <a:t> </a:t>
            </a:r>
            <a:r>
              <a:rPr sz="1100" i="1" spc="250" dirty="0">
                <a:latin typeface="Times New Roman"/>
                <a:cs typeface="Times New Roman"/>
              </a:rPr>
              <a:t>≥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Palatino Linotype"/>
                <a:cs typeface="Palatino Linotype"/>
              </a:rPr>
              <a:t>0</a:t>
            </a:r>
            <a:endParaRPr sz="11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100">
              <a:latin typeface="Palatino Linotype"/>
              <a:cs typeface="Palatino Linotype"/>
            </a:endParaRPr>
          </a:p>
          <a:p>
            <a:pPr marR="1123315" algn="r">
              <a:lnSpc>
                <a:spcPts val="1185"/>
              </a:lnSpc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  <a:p>
            <a:pPr marL="257810" algn="ctr">
              <a:lnSpc>
                <a:spcPts val="1185"/>
              </a:lnSpc>
            </a:pPr>
            <a:r>
              <a:rPr sz="1100" i="1" spc="50" dirty="0">
                <a:latin typeface="Times New Roman"/>
                <a:cs typeface="Times New Roman"/>
              </a:rPr>
              <a:t>−</a:t>
            </a:r>
            <a:r>
              <a:rPr sz="1100" spc="50" dirty="0">
                <a:latin typeface="Palatino Linotype"/>
                <a:cs typeface="Palatino Linotype"/>
              </a:rPr>
              <a:t>1</a:t>
            </a:r>
            <a:r>
              <a:rPr sz="1100" spc="1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2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3</a:t>
            </a:r>
            <a:r>
              <a:rPr sz="1100" spc="160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4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5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6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7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spc="-50" dirty="0">
                <a:latin typeface="Palatino Linotype"/>
                <a:cs typeface="Palatino Linotype"/>
              </a:rPr>
              <a:t>8</a:t>
            </a:r>
            <a:endParaRPr sz="1100">
              <a:latin typeface="Palatino Linotype"/>
              <a:cs typeface="Palatino Linotype"/>
            </a:endParaRPr>
          </a:p>
          <a:p>
            <a:pPr marL="1675764">
              <a:lnSpc>
                <a:spcPct val="100000"/>
              </a:lnSpc>
              <a:spcBef>
                <a:spcPts val="894"/>
              </a:spcBef>
            </a:pPr>
            <a:r>
              <a:rPr sz="1100" i="1" spc="-10" dirty="0">
                <a:latin typeface="Georgia"/>
                <a:cs typeface="Georgia"/>
              </a:rPr>
              <a:t>y</a:t>
            </a:r>
            <a:r>
              <a:rPr sz="1350" spc="-15" baseline="-12345" dirty="0">
                <a:latin typeface="Palatino Linotype"/>
                <a:cs typeface="Palatino Linotype"/>
              </a:rPr>
              <a:t>2</a:t>
            </a:r>
            <a:r>
              <a:rPr sz="1100" spc="-10" dirty="0">
                <a:latin typeface="Palatino Linotype"/>
                <a:cs typeface="Palatino Linotype"/>
              </a:rPr>
              <a:t>[</a:t>
            </a:r>
            <a:r>
              <a:rPr sz="1100" i="1" spc="-10" dirty="0">
                <a:latin typeface="Georgia"/>
                <a:cs typeface="Georgia"/>
              </a:rPr>
              <a:t>n</a:t>
            </a:r>
            <a:r>
              <a:rPr sz="1100" spc="-10" dirty="0">
                <a:latin typeface="Palatino Linotype"/>
                <a:cs typeface="Palatino Linotype"/>
              </a:rPr>
              <a:t>]</a:t>
            </a:r>
            <a:r>
              <a:rPr sz="1100" spc="1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2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7</a:t>
            </a:r>
            <a:r>
              <a:rPr sz="1350" i="1" baseline="24691" dirty="0">
                <a:latin typeface="Georgia"/>
                <a:cs typeface="Georgia"/>
              </a:rPr>
              <a:t>n</a:t>
            </a:r>
            <a:r>
              <a:rPr sz="1350" i="1" spc="405" baseline="24691" dirty="0">
                <a:latin typeface="Georgia"/>
                <a:cs typeface="Georgia"/>
              </a:rPr>
              <a:t> </a:t>
            </a:r>
            <a:r>
              <a:rPr sz="1100" spc="75" dirty="0">
                <a:latin typeface="Arial"/>
                <a:cs typeface="Arial"/>
              </a:rPr>
              <a:t>for</a:t>
            </a:r>
            <a:r>
              <a:rPr sz="1100" spc="135" dirty="0">
                <a:latin typeface="Arial"/>
                <a:cs typeface="Arial"/>
              </a:rPr>
              <a:t> 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i="1" spc="25" dirty="0">
                <a:latin typeface="Georgia"/>
                <a:cs typeface="Georgia"/>
              </a:rPr>
              <a:t> </a:t>
            </a:r>
            <a:r>
              <a:rPr sz="1100" i="1" spc="250" dirty="0">
                <a:latin typeface="Times New Roman"/>
                <a:cs typeface="Times New Roman"/>
              </a:rPr>
              <a:t>≥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Palatino Linotype"/>
                <a:cs typeface="Palatino Linotype"/>
              </a:rPr>
              <a:t>0</a:t>
            </a:r>
            <a:endParaRPr sz="11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100">
              <a:latin typeface="Palatino Linotype"/>
              <a:cs typeface="Palatino Linotype"/>
            </a:endParaRPr>
          </a:p>
          <a:p>
            <a:pPr marR="1123315" algn="r">
              <a:lnSpc>
                <a:spcPts val="1185"/>
              </a:lnSpc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  <a:p>
            <a:pPr marL="257810" algn="ctr">
              <a:lnSpc>
                <a:spcPts val="1185"/>
              </a:lnSpc>
            </a:pPr>
            <a:r>
              <a:rPr sz="1100" i="1" spc="50" dirty="0">
                <a:latin typeface="Times New Roman"/>
                <a:cs typeface="Times New Roman"/>
              </a:rPr>
              <a:t>−</a:t>
            </a:r>
            <a:r>
              <a:rPr sz="1100" spc="50" dirty="0">
                <a:latin typeface="Palatino Linotype"/>
                <a:cs typeface="Palatino Linotype"/>
              </a:rPr>
              <a:t>1</a:t>
            </a:r>
            <a:r>
              <a:rPr sz="1100" spc="1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2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3</a:t>
            </a:r>
            <a:r>
              <a:rPr sz="1100" spc="160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4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5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6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7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spc="-50" dirty="0">
                <a:latin typeface="Palatino Linotype"/>
                <a:cs typeface="Palatino Linotype"/>
              </a:rPr>
              <a:t>8</a:t>
            </a:r>
            <a:endParaRPr sz="1100">
              <a:latin typeface="Palatino Linotype"/>
              <a:cs typeface="Palatino Linotype"/>
            </a:endParaRPr>
          </a:p>
          <a:p>
            <a:pPr marL="1675764">
              <a:lnSpc>
                <a:spcPct val="100000"/>
              </a:lnSpc>
              <a:spcBef>
                <a:spcPts val="890"/>
              </a:spcBef>
            </a:pPr>
            <a:r>
              <a:rPr sz="1100" i="1" spc="-20" dirty="0">
                <a:latin typeface="Georgia"/>
                <a:cs typeface="Georgia"/>
              </a:rPr>
              <a:t>y</a:t>
            </a:r>
            <a:r>
              <a:rPr sz="1100" spc="-20" dirty="0">
                <a:latin typeface="Palatino Linotype"/>
                <a:cs typeface="Palatino Linotype"/>
              </a:rPr>
              <a:t>[</a:t>
            </a:r>
            <a:r>
              <a:rPr sz="1100" i="1" spc="-20" dirty="0">
                <a:latin typeface="Georgia"/>
                <a:cs typeface="Georgia"/>
              </a:rPr>
              <a:t>n</a:t>
            </a:r>
            <a:r>
              <a:rPr sz="1100" spc="-20" dirty="0">
                <a:latin typeface="Palatino Linotype"/>
                <a:cs typeface="Palatino Linotype"/>
              </a:rPr>
              <a:t>]</a:t>
            </a:r>
            <a:r>
              <a:rPr sz="1100" spc="3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4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4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5(0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9)</a:t>
            </a:r>
            <a:r>
              <a:rPr sz="1350" i="1" baseline="24691" dirty="0">
                <a:latin typeface="Georgia"/>
                <a:cs typeface="Georgia"/>
              </a:rPr>
              <a:t>n</a:t>
            </a:r>
            <a:r>
              <a:rPr sz="1350" i="1" spc="135" baseline="24691" dirty="0">
                <a:latin typeface="Georgia"/>
                <a:cs typeface="Georgia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Palatino Linotype"/>
                <a:cs typeface="Palatino Linotype"/>
              </a:rPr>
              <a:t>3</a:t>
            </a:r>
            <a:r>
              <a:rPr sz="1100" i="1" spc="-10" dirty="0">
                <a:latin typeface="Georgia"/>
                <a:cs typeface="Georgia"/>
              </a:rPr>
              <a:t>.</a:t>
            </a:r>
            <a:r>
              <a:rPr sz="1100" spc="-10" dirty="0">
                <a:latin typeface="Palatino Linotype"/>
                <a:cs typeface="Palatino Linotype"/>
              </a:rPr>
              <a:t>5(0</a:t>
            </a:r>
            <a:r>
              <a:rPr sz="1100" i="1" spc="-10" dirty="0">
                <a:latin typeface="Georgia"/>
                <a:cs typeface="Georgia"/>
              </a:rPr>
              <a:t>.</a:t>
            </a:r>
            <a:r>
              <a:rPr sz="1100" spc="-10" dirty="0">
                <a:latin typeface="Palatino Linotype"/>
                <a:cs typeface="Palatino Linotype"/>
              </a:rPr>
              <a:t>7)</a:t>
            </a:r>
            <a:r>
              <a:rPr sz="1350" i="1" spc="-15" baseline="24691" dirty="0">
                <a:latin typeface="Georgia"/>
                <a:cs typeface="Georgia"/>
              </a:rPr>
              <a:t>n</a:t>
            </a:r>
            <a:endParaRPr sz="1350" baseline="24691">
              <a:latin typeface="Georgia"/>
              <a:cs typeface="Georgia"/>
            </a:endParaRPr>
          </a:p>
          <a:p>
            <a:pPr marL="2684145">
              <a:lnSpc>
                <a:spcPct val="100000"/>
              </a:lnSpc>
              <a:spcBef>
                <a:spcPts val="105"/>
              </a:spcBef>
            </a:pPr>
            <a:r>
              <a:rPr sz="1100" spc="75" dirty="0">
                <a:latin typeface="Arial"/>
                <a:cs typeface="Arial"/>
              </a:rPr>
              <a:t>for</a:t>
            </a:r>
            <a:r>
              <a:rPr sz="1100" spc="150" dirty="0">
                <a:latin typeface="Arial"/>
                <a:cs typeface="Arial"/>
              </a:rPr>
              <a:t> 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i="1" spc="40" dirty="0">
                <a:latin typeface="Georgia"/>
                <a:cs typeface="Georgia"/>
              </a:rPr>
              <a:t> </a:t>
            </a:r>
            <a:r>
              <a:rPr sz="1100" i="1" spc="250" dirty="0">
                <a:latin typeface="Times New Roman"/>
                <a:cs typeface="Times New Roman"/>
              </a:rPr>
              <a:t>≥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Palatino Linotype"/>
                <a:cs typeface="Palatino Linotype"/>
              </a:rPr>
              <a:t>0</a:t>
            </a:r>
            <a:endParaRPr sz="11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11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>
              <a:latin typeface="Palatino Linotype"/>
              <a:cs typeface="Palatino Linotype"/>
            </a:endParaRPr>
          </a:p>
          <a:p>
            <a:pPr marR="1123315" algn="r">
              <a:lnSpc>
                <a:spcPts val="1185"/>
              </a:lnSpc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  <a:p>
            <a:pPr marL="257810" algn="ctr">
              <a:lnSpc>
                <a:spcPts val="1185"/>
              </a:lnSpc>
            </a:pPr>
            <a:r>
              <a:rPr sz="1100" i="1" spc="50" dirty="0">
                <a:latin typeface="Times New Roman"/>
                <a:cs typeface="Times New Roman"/>
              </a:rPr>
              <a:t>−</a:t>
            </a:r>
            <a:r>
              <a:rPr sz="1100" spc="50" dirty="0">
                <a:latin typeface="Palatino Linotype"/>
                <a:cs typeface="Palatino Linotype"/>
              </a:rPr>
              <a:t>1</a:t>
            </a:r>
            <a:r>
              <a:rPr sz="1100" spc="1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2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3</a:t>
            </a:r>
            <a:r>
              <a:rPr sz="1100" spc="160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4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5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6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7</a:t>
            </a:r>
            <a:r>
              <a:rPr sz="1100" spc="155" dirty="0">
                <a:latin typeface="Palatino Linotype"/>
                <a:cs typeface="Palatino Linotype"/>
              </a:rPr>
              <a:t>  </a:t>
            </a:r>
            <a:r>
              <a:rPr sz="1100" spc="-50" dirty="0">
                <a:latin typeface="Palatino Linotype"/>
                <a:cs typeface="Palatino Linotype"/>
              </a:rPr>
              <a:t>8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5" dirty="0"/>
              <a:t>Partial</a:t>
            </a:r>
            <a:r>
              <a:rPr spc="215" dirty="0"/>
              <a:t> </a:t>
            </a:r>
            <a:r>
              <a:rPr spc="70" dirty="0"/>
              <a:t>Fractions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830" y="355904"/>
            <a:ext cx="367030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65" dirty="0">
                <a:latin typeface="Arial"/>
                <a:cs typeface="Arial"/>
              </a:rPr>
              <a:t>Partial</a:t>
            </a:r>
            <a:r>
              <a:rPr sz="1100" spc="240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fractions</a:t>
            </a:r>
            <a:r>
              <a:rPr sz="1100" spc="2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provides</a:t>
            </a:r>
            <a:r>
              <a:rPr sz="1100" spc="2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40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remarkable</a:t>
            </a:r>
            <a:r>
              <a:rPr sz="1100" spc="2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equivalence.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13738" y="525656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31412" y="833237"/>
            <a:ext cx="320675" cy="297815"/>
          </a:xfrm>
          <a:custGeom>
            <a:avLst/>
            <a:gdLst/>
            <a:ahLst/>
            <a:cxnLst/>
            <a:rect l="l" t="t" r="r" b="b"/>
            <a:pathLst>
              <a:path w="320675" h="297815">
                <a:moveTo>
                  <a:pt x="0" y="297545"/>
                </a:moveTo>
                <a:lnTo>
                  <a:pt x="320394" y="297545"/>
                </a:lnTo>
                <a:lnTo>
                  <a:pt x="320394" y="0"/>
                </a:lnTo>
                <a:lnTo>
                  <a:pt x="0" y="0"/>
                </a:lnTo>
                <a:lnTo>
                  <a:pt x="0" y="297545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31412" y="1384783"/>
            <a:ext cx="320675" cy="297815"/>
          </a:xfrm>
          <a:custGeom>
            <a:avLst/>
            <a:gdLst/>
            <a:ahLst/>
            <a:cxnLst/>
            <a:rect l="l" t="t" r="r" b="b"/>
            <a:pathLst>
              <a:path w="320675" h="297814">
                <a:moveTo>
                  <a:pt x="0" y="297545"/>
                </a:moveTo>
                <a:lnTo>
                  <a:pt x="320394" y="297545"/>
                </a:lnTo>
                <a:lnTo>
                  <a:pt x="320394" y="0"/>
                </a:lnTo>
                <a:lnTo>
                  <a:pt x="0" y="0"/>
                </a:lnTo>
                <a:lnTo>
                  <a:pt x="0" y="297545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793395" y="539754"/>
            <a:ext cx="1470025" cy="1520190"/>
            <a:chOff x="1793395" y="539754"/>
            <a:chExt cx="1470025" cy="1520190"/>
          </a:xfrm>
        </p:grpSpPr>
        <p:sp>
          <p:nvSpPr>
            <p:cNvPr id="8" name="object 8"/>
            <p:cNvSpPr/>
            <p:nvPr/>
          </p:nvSpPr>
          <p:spPr>
            <a:xfrm>
              <a:off x="2431209" y="1013941"/>
              <a:ext cx="406400" cy="1039494"/>
            </a:xfrm>
            <a:custGeom>
              <a:avLst/>
              <a:gdLst/>
              <a:ahLst/>
              <a:cxnLst/>
              <a:rect l="l" t="t" r="r" b="b"/>
              <a:pathLst>
                <a:path w="406400" h="1039494">
                  <a:moveTo>
                    <a:pt x="0" y="243842"/>
                  </a:moveTo>
                  <a:lnTo>
                    <a:pt x="406400" y="487684"/>
                  </a:lnTo>
                  <a:lnTo>
                    <a:pt x="406400" y="0"/>
                  </a:lnTo>
                  <a:lnTo>
                    <a:pt x="0" y="243842"/>
                  </a:lnTo>
                  <a:close/>
                </a:path>
                <a:path w="406400" h="1039494">
                  <a:moveTo>
                    <a:pt x="5" y="795388"/>
                  </a:moveTo>
                  <a:lnTo>
                    <a:pt x="406400" y="1039227"/>
                  </a:lnTo>
                  <a:lnTo>
                    <a:pt x="406400" y="551548"/>
                  </a:lnTo>
                  <a:lnTo>
                    <a:pt x="5" y="795388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3395" y="539754"/>
              <a:ext cx="390140" cy="20596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177209" y="642737"/>
              <a:ext cx="1080135" cy="0"/>
            </a:xfrm>
            <a:custGeom>
              <a:avLst/>
              <a:gdLst/>
              <a:ahLst/>
              <a:cxnLst/>
              <a:rect l="l" t="t" r="r" b="b"/>
              <a:pathLst>
                <a:path w="1080135">
                  <a:moveTo>
                    <a:pt x="0" y="0"/>
                  </a:moveTo>
                  <a:lnTo>
                    <a:pt x="1079593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98362" y="618530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5">
                  <a:moveTo>
                    <a:pt x="0" y="0"/>
                  </a:moveTo>
                  <a:lnTo>
                    <a:pt x="0" y="48415"/>
                  </a:lnTo>
                  <a:lnTo>
                    <a:pt x="58441" y="242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91609" y="618530"/>
              <a:ext cx="165735" cy="189865"/>
            </a:xfrm>
            <a:custGeom>
              <a:avLst/>
              <a:gdLst/>
              <a:ahLst/>
              <a:cxnLst/>
              <a:rect l="l" t="t" r="r" b="b"/>
              <a:pathLst>
                <a:path w="165735" h="189865">
                  <a:moveTo>
                    <a:pt x="106752" y="48415"/>
                  </a:moveTo>
                  <a:lnTo>
                    <a:pt x="165193" y="24207"/>
                  </a:lnTo>
                  <a:lnTo>
                    <a:pt x="106752" y="0"/>
                  </a:lnTo>
                  <a:lnTo>
                    <a:pt x="106752" y="48415"/>
                  </a:lnTo>
                  <a:close/>
                </a:path>
                <a:path w="165735" h="189865">
                  <a:moveTo>
                    <a:pt x="0" y="24207"/>
                  </a:moveTo>
                  <a:lnTo>
                    <a:pt x="0" y="189404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67400" y="749488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4">
                  <a:moveTo>
                    <a:pt x="48419" y="0"/>
                  </a:moveTo>
                  <a:lnTo>
                    <a:pt x="0" y="0"/>
                  </a:lnTo>
                  <a:lnTo>
                    <a:pt x="24209" y="58446"/>
                  </a:lnTo>
                  <a:lnTo>
                    <a:pt x="48419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67400" y="749488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4">
                  <a:moveTo>
                    <a:pt x="0" y="0"/>
                  </a:moveTo>
                  <a:lnTo>
                    <a:pt x="24209" y="58446"/>
                  </a:lnTo>
                  <a:lnTo>
                    <a:pt x="48419" y="0"/>
                  </a:lnTo>
                  <a:lnTo>
                    <a:pt x="0" y="0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6588" y="1130783"/>
              <a:ext cx="265557" cy="23502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122241" y="757381"/>
              <a:ext cx="309245" cy="501015"/>
            </a:xfrm>
            <a:custGeom>
              <a:avLst/>
              <a:gdLst/>
              <a:ahLst/>
              <a:cxnLst/>
              <a:rect l="l" t="t" r="r" b="b"/>
              <a:pathLst>
                <a:path w="309244" h="501015">
                  <a:moveTo>
                    <a:pt x="308968" y="500402"/>
                  </a:moveTo>
                  <a:lnTo>
                    <a:pt x="181968" y="500402"/>
                  </a:lnTo>
                  <a:lnTo>
                    <a:pt x="0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19463" y="757381"/>
              <a:ext cx="45720" cy="63500"/>
            </a:xfrm>
            <a:custGeom>
              <a:avLst/>
              <a:gdLst/>
              <a:ahLst/>
              <a:cxnLst/>
              <a:rect l="l" t="t" r="r" b="b"/>
              <a:pathLst>
                <a:path w="45719" h="63500">
                  <a:moveTo>
                    <a:pt x="2778" y="0"/>
                  </a:moveTo>
                  <a:lnTo>
                    <a:pt x="0" y="63197"/>
                  </a:lnTo>
                  <a:lnTo>
                    <a:pt x="45502" y="46651"/>
                  </a:lnTo>
                  <a:lnTo>
                    <a:pt x="2778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19463" y="757381"/>
              <a:ext cx="45720" cy="63500"/>
            </a:xfrm>
            <a:custGeom>
              <a:avLst/>
              <a:gdLst/>
              <a:ahLst/>
              <a:cxnLst/>
              <a:rect l="l" t="t" r="r" b="b"/>
              <a:pathLst>
                <a:path w="45719" h="63500">
                  <a:moveTo>
                    <a:pt x="45502" y="46651"/>
                  </a:moveTo>
                  <a:lnTo>
                    <a:pt x="2778" y="0"/>
                  </a:lnTo>
                  <a:lnTo>
                    <a:pt x="0" y="63197"/>
                  </a:lnTo>
                  <a:lnTo>
                    <a:pt x="45502" y="46651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56588" y="1676003"/>
              <a:ext cx="241347" cy="16386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080552" y="764700"/>
              <a:ext cx="351155" cy="1045210"/>
            </a:xfrm>
            <a:custGeom>
              <a:avLst/>
              <a:gdLst/>
              <a:ahLst/>
              <a:cxnLst/>
              <a:rect l="l" t="t" r="r" b="b"/>
              <a:pathLst>
                <a:path w="351155" h="1045210">
                  <a:moveTo>
                    <a:pt x="350662" y="1044628"/>
                  </a:moveTo>
                  <a:lnTo>
                    <a:pt x="0" y="1044628"/>
                  </a:lnTo>
                  <a:lnTo>
                    <a:pt x="0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56342" y="764700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24210" y="0"/>
                  </a:moveTo>
                  <a:lnTo>
                    <a:pt x="0" y="58448"/>
                  </a:lnTo>
                  <a:lnTo>
                    <a:pt x="48421" y="58448"/>
                  </a:lnTo>
                  <a:lnTo>
                    <a:pt x="2421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56342" y="764700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48421" y="58448"/>
                  </a:moveTo>
                  <a:lnTo>
                    <a:pt x="24210" y="0"/>
                  </a:lnTo>
                  <a:lnTo>
                    <a:pt x="0" y="58448"/>
                  </a:lnTo>
                  <a:lnTo>
                    <a:pt x="48421" y="58448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603684" y="538415"/>
            <a:ext cx="18230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29105" algn="l"/>
              </a:tabLst>
            </a:pPr>
            <a:r>
              <a:rPr sz="1100" i="1" spc="65" dirty="0">
                <a:latin typeface="Georgia"/>
                <a:cs typeface="Georgia"/>
              </a:rPr>
              <a:t>X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i="1" spc="-50" dirty="0">
                <a:latin typeface="Georgia"/>
                <a:cs typeface="Georgia"/>
              </a:rPr>
              <a:t>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85248" y="2189976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94931" y="2453001"/>
            <a:ext cx="20383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25" dirty="0">
                <a:latin typeface="Palatino Linotype"/>
                <a:cs typeface="Palatino Linotype"/>
              </a:rPr>
              <a:t>0</a:t>
            </a:r>
            <a:r>
              <a:rPr sz="1100" i="1" spc="-25" dirty="0">
                <a:latin typeface="Georgia"/>
                <a:cs typeface="Georgia"/>
              </a:rPr>
              <a:t>.</a:t>
            </a:r>
            <a:r>
              <a:rPr sz="1100" spc="-25" dirty="0">
                <a:latin typeface="Palatino Linotype"/>
                <a:cs typeface="Palatino Linotype"/>
              </a:rPr>
              <a:t>9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02583" y="2456732"/>
            <a:ext cx="1435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64045" y="2199003"/>
            <a:ext cx="20383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25" dirty="0">
                <a:latin typeface="Palatino Linotype"/>
                <a:cs typeface="Palatino Linotype"/>
              </a:rPr>
              <a:t>4</a:t>
            </a:r>
            <a:r>
              <a:rPr sz="1100" i="1" spc="-25" dirty="0">
                <a:latin typeface="Georgia"/>
                <a:cs typeface="Georgia"/>
              </a:rPr>
              <a:t>.</a:t>
            </a:r>
            <a:r>
              <a:rPr sz="1100" spc="-25" dirty="0">
                <a:latin typeface="Palatino Linotype"/>
                <a:cs typeface="Palatino Linotype"/>
              </a:rPr>
              <a:t>5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83617" y="2189976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94458" y="2797855"/>
            <a:ext cx="3117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20" dirty="0">
                <a:latin typeface="Times New Roman"/>
                <a:cs typeface="Times New Roman"/>
              </a:rPr>
              <a:t>−</a:t>
            </a:r>
            <a:r>
              <a:rPr sz="1100" spc="-20" dirty="0">
                <a:latin typeface="Palatino Linotype"/>
                <a:cs typeface="Palatino Linotype"/>
              </a:rPr>
              <a:t>3</a:t>
            </a:r>
            <a:r>
              <a:rPr sz="1100" i="1" spc="-20" dirty="0">
                <a:latin typeface="Georgia"/>
                <a:cs typeface="Georgia"/>
              </a:rPr>
              <a:t>.</a:t>
            </a:r>
            <a:r>
              <a:rPr sz="1100" spc="-20" dirty="0">
                <a:latin typeface="Palatino Linotype"/>
                <a:cs typeface="Palatino Linotype"/>
              </a:rPr>
              <a:t>5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02583" y="3061381"/>
            <a:ext cx="1435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94931" y="3057650"/>
            <a:ext cx="20383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25" dirty="0">
                <a:latin typeface="Palatino Linotype"/>
                <a:cs typeface="Palatino Linotype"/>
              </a:rPr>
              <a:t>0</a:t>
            </a:r>
            <a:r>
              <a:rPr sz="1100" i="1" spc="-25" dirty="0">
                <a:latin typeface="Georgia"/>
                <a:cs typeface="Georgia"/>
              </a:rPr>
              <a:t>.</a:t>
            </a:r>
            <a:r>
              <a:rPr sz="1100" spc="-25" dirty="0">
                <a:latin typeface="Palatino Linotype"/>
                <a:cs typeface="Palatino Linotype"/>
              </a:rPr>
              <a:t>7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85247" y="2794625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314074" y="2412288"/>
            <a:ext cx="320675" cy="297815"/>
          </a:xfrm>
          <a:custGeom>
            <a:avLst/>
            <a:gdLst/>
            <a:ahLst/>
            <a:cxnLst/>
            <a:rect l="l" t="t" r="r" b="b"/>
            <a:pathLst>
              <a:path w="320675" h="297814">
                <a:moveTo>
                  <a:pt x="0" y="297545"/>
                </a:moveTo>
                <a:lnTo>
                  <a:pt x="320394" y="297545"/>
                </a:lnTo>
                <a:lnTo>
                  <a:pt x="320394" y="0"/>
                </a:lnTo>
                <a:lnTo>
                  <a:pt x="0" y="0"/>
                </a:lnTo>
                <a:lnTo>
                  <a:pt x="0" y="297545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314074" y="3016945"/>
            <a:ext cx="320675" cy="297815"/>
          </a:xfrm>
          <a:custGeom>
            <a:avLst/>
            <a:gdLst/>
            <a:ahLst/>
            <a:cxnLst/>
            <a:rect l="l" t="t" r="r" b="b"/>
            <a:pathLst>
              <a:path w="320675" h="297814">
                <a:moveTo>
                  <a:pt x="0" y="297545"/>
                </a:moveTo>
                <a:lnTo>
                  <a:pt x="320394" y="297545"/>
                </a:lnTo>
                <a:lnTo>
                  <a:pt x="320394" y="0"/>
                </a:lnTo>
                <a:lnTo>
                  <a:pt x="0" y="0"/>
                </a:lnTo>
                <a:lnTo>
                  <a:pt x="0" y="297545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1137917" y="2072133"/>
            <a:ext cx="2781300" cy="1329055"/>
            <a:chOff x="1137917" y="2072133"/>
            <a:chExt cx="2781300" cy="1329055"/>
          </a:xfrm>
        </p:grpSpPr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49091" y="2204078"/>
              <a:ext cx="205966" cy="205967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742574" y="2078459"/>
              <a:ext cx="1654175" cy="711200"/>
            </a:xfrm>
            <a:custGeom>
              <a:avLst/>
              <a:gdLst/>
              <a:ahLst/>
              <a:cxnLst/>
              <a:rect l="l" t="t" r="r" b="b"/>
              <a:pathLst>
                <a:path w="1654175" h="711200">
                  <a:moveTo>
                    <a:pt x="0" y="482602"/>
                  </a:moveTo>
                  <a:lnTo>
                    <a:pt x="381000" y="711204"/>
                  </a:lnTo>
                  <a:lnTo>
                    <a:pt x="381000" y="254000"/>
                  </a:lnTo>
                  <a:lnTo>
                    <a:pt x="0" y="482602"/>
                  </a:lnTo>
                  <a:close/>
                </a:path>
                <a:path w="1654175" h="711200">
                  <a:moveTo>
                    <a:pt x="1272894" y="457204"/>
                  </a:moveTo>
                  <a:lnTo>
                    <a:pt x="1653894" y="228602"/>
                  </a:lnTo>
                  <a:lnTo>
                    <a:pt x="1272894" y="0"/>
                  </a:lnTo>
                  <a:lnTo>
                    <a:pt x="1272894" y="457204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47485" y="2204078"/>
              <a:ext cx="205967" cy="20596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742574" y="2683116"/>
              <a:ext cx="1654175" cy="711200"/>
            </a:xfrm>
            <a:custGeom>
              <a:avLst/>
              <a:gdLst/>
              <a:ahLst/>
              <a:cxnLst/>
              <a:rect l="l" t="t" r="r" b="b"/>
              <a:pathLst>
                <a:path w="1654175" h="711200">
                  <a:moveTo>
                    <a:pt x="1272894" y="457204"/>
                  </a:moveTo>
                  <a:lnTo>
                    <a:pt x="1653894" y="228602"/>
                  </a:lnTo>
                  <a:lnTo>
                    <a:pt x="1272894" y="0"/>
                  </a:lnTo>
                  <a:lnTo>
                    <a:pt x="1272894" y="457204"/>
                  </a:lnTo>
                  <a:close/>
                </a:path>
                <a:path w="1654175" h="711200">
                  <a:moveTo>
                    <a:pt x="0" y="482602"/>
                  </a:moveTo>
                  <a:lnTo>
                    <a:pt x="381000" y="711204"/>
                  </a:lnTo>
                  <a:lnTo>
                    <a:pt x="381000" y="254000"/>
                  </a:lnTo>
                  <a:lnTo>
                    <a:pt x="0" y="482602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49091" y="2808735"/>
              <a:ext cx="205966" cy="20596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137917" y="2307061"/>
              <a:ext cx="292735" cy="0"/>
            </a:xfrm>
            <a:custGeom>
              <a:avLst/>
              <a:gdLst/>
              <a:ahLst/>
              <a:cxnLst/>
              <a:rect l="l" t="t" r="r" b="b"/>
              <a:pathLst>
                <a:path w="292734">
                  <a:moveTo>
                    <a:pt x="0" y="0"/>
                  </a:moveTo>
                  <a:lnTo>
                    <a:pt x="292196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371667" y="2282851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20"/>
                  </a:lnTo>
                  <a:lnTo>
                    <a:pt x="58446" y="24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371667" y="2282851"/>
              <a:ext cx="1618615" cy="48895"/>
            </a:xfrm>
            <a:custGeom>
              <a:avLst/>
              <a:gdLst/>
              <a:ahLst/>
              <a:cxnLst/>
              <a:rect l="l" t="t" r="r" b="b"/>
              <a:pathLst>
                <a:path w="1618614" h="48894">
                  <a:moveTo>
                    <a:pt x="0" y="48420"/>
                  </a:moveTo>
                  <a:lnTo>
                    <a:pt x="58446" y="24210"/>
                  </a:lnTo>
                  <a:lnTo>
                    <a:pt x="0" y="0"/>
                  </a:lnTo>
                  <a:lnTo>
                    <a:pt x="0" y="48420"/>
                  </a:lnTo>
                  <a:close/>
                </a:path>
                <a:path w="1618614" h="48894">
                  <a:moveTo>
                    <a:pt x="277064" y="24210"/>
                  </a:moveTo>
                  <a:lnTo>
                    <a:pt x="1618505" y="2421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31719" y="228284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24"/>
                  </a:lnTo>
                  <a:lnTo>
                    <a:pt x="58452" y="242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659772" y="2282849"/>
              <a:ext cx="330835" cy="278765"/>
            </a:xfrm>
            <a:custGeom>
              <a:avLst/>
              <a:gdLst/>
              <a:ahLst/>
              <a:cxnLst/>
              <a:rect l="l" t="t" r="r" b="b"/>
              <a:pathLst>
                <a:path w="330835" h="278764">
                  <a:moveTo>
                    <a:pt x="271947" y="48424"/>
                  </a:moveTo>
                  <a:lnTo>
                    <a:pt x="330399" y="24212"/>
                  </a:lnTo>
                  <a:lnTo>
                    <a:pt x="271947" y="0"/>
                  </a:lnTo>
                  <a:lnTo>
                    <a:pt x="271947" y="48424"/>
                  </a:lnTo>
                  <a:close/>
                </a:path>
                <a:path w="330835" h="278764">
                  <a:moveTo>
                    <a:pt x="165196" y="24212"/>
                  </a:moveTo>
                  <a:lnTo>
                    <a:pt x="165196" y="278212"/>
                  </a:lnTo>
                  <a:lnTo>
                    <a:pt x="0" y="278212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659772" y="2536851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148878" y="2536851"/>
              <a:ext cx="569595" cy="48895"/>
            </a:xfrm>
            <a:custGeom>
              <a:avLst/>
              <a:gdLst/>
              <a:ahLst/>
              <a:cxnLst/>
              <a:rect l="l" t="t" r="r" b="b"/>
              <a:pathLst>
                <a:path w="569594" h="48894">
                  <a:moveTo>
                    <a:pt x="569340" y="0"/>
                  </a:moveTo>
                  <a:lnTo>
                    <a:pt x="510894" y="24209"/>
                  </a:lnTo>
                  <a:lnTo>
                    <a:pt x="569340" y="48419"/>
                  </a:lnTo>
                  <a:lnTo>
                    <a:pt x="569340" y="0"/>
                  </a:lnTo>
                  <a:close/>
                </a:path>
                <a:path w="569594" h="48894">
                  <a:moveTo>
                    <a:pt x="165196" y="24209"/>
                  </a:moveTo>
                  <a:lnTo>
                    <a:pt x="0" y="242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148878" y="2536851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148878" y="2536851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21538" y="2422697"/>
              <a:ext cx="227362" cy="14469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648731" y="2911718"/>
              <a:ext cx="1341755" cy="0"/>
            </a:xfrm>
            <a:custGeom>
              <a:avLst/>
              <a:gdLst/>
              <a:ahLst/>
              <a:cxnLst/>
              <a:rect l="l" t="t" r="r" b="b"/>
              <a:pathLst>
                <a:path w="1341755">
                  <a:moveTo>
                    <a:pt x="0" y="0"/>
                  </a:moveTo>
                  <a:lnTo>
                    <a:pt x="1341440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931719" y="288750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24"/>
                  </a:lnTo>
                  <a:lnTo>
                    <a:pt x="58452" y="242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659772" y="2887506"/>
              <a:ext cx="330835" cy="278765"/>
            </a:xfrm>
            <a:custGeom>
              <a:avLst/>
              <a:gdLst/>
              <a:ahLst/>
              <a:cxnLst/>
              <a:rect l="l" t="t" r="r" b="b"/>
              <a:pathLst>
                <a:path w="330835" h="278764">
                  <a:moveTo>
                    <a:pt x="271947" y="48424"/>
                  </a:moveTo>
                  <a:lnTo>
                    <a:pt x="330399" y="24212"/>
                  </a:lnTo>
                  <a:lnTo>
                    <a:pt x="271947" y="0"/>
                  </a:lnTo>
                  <a:lnTo>
                    <a:pt x="271947" y="48424"/>
                  </a:lnTo>
                  <a:close/>
                </a:path>
                <a:path w="330835" h="278764">
                  <a:moveTo>
                    <a:pt x="165196" y="24212"/>
                  </a:moveTo>
                  <a:lnTo>
                    <a:pt x="165196" y="278212"/>
                  </a:lnTo>
                  <a:lnTo>
                    <a:pt x="0" y="278212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659772" y="314150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148878" y="3141509"/>
              <a:ext cx="569595" cy="48895"/>
            </a:xfrm>
            <a:custGeom>
              <a:avLst/>
              <a:gdLst/>
              <a:ahLst/>
              <a:cxnLst/>
              <a:rect l="l" t="t" r="r" b="b"/>
              <a:pathLst>
                <a:path w="569594" h="48894">
                  <a:moveTo>
                    <a:pt x="569340" y="0"/>
                  </a:moveTo>
                  <a:lnTo>
                    <a:pt x="510894" y="24209"/>
                  </a:lnTo>
                  <a:lnTo>
                    <a:pt x="569340" y="48419"/>
                  </a:lnTo>
                  <a:lnTo>
                    <a:pt x="569340" y="0"/>
                  </a:lnTo>
                  <a:close/>
                </a:path>
                <a:path w="569594" h="48894">
                  <a:moveTo>
                    <a:pt x="165196" y="24209"/>
                  </a:moveTo>
                  <a:lnTo>
                    <a:pt x="0" y="242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148878" y="314150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148878" y="314150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58446" y="0"/>
                  </a:moveTo>
                  <a:lnTo>
                    <a:pt x="0" y="24209"/>
                  </a:lnTo>
                  <a:lnTo>
                    <a:pt x="58446" y="48419"/>
                  </a:lnTo>
                  <a:lnTo>
                    <a:pt x="58446" y="0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21538" y="3027354"/>
              <a:ext cx="227362" cy="14469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3396468" y="2307061"/>
              <a:ext cx="132080" cy="0"/>
            </a:xfrm>
            <a:custGeom>
              <a:avLst/>
              <a:gdLst/>
              <a:ahLst/>
              <a:cxnLst/>
              <a:rect l="l" t="t" r="r" b="b"/>
              <a:pathLst>
                <a:path w="132079">
                  <a:moveTo>
                    <a:pt x="0" y="0"/>
                  </a:moveTo>
                  <a:lnTo>
                    <a:pt x="132037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470059" y="2282851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20"/>
                  </a:lnTo>
                  <a:lnTo>
                    <a:pt x="58447" y="24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396468" y="2282851"/>
              <a:ext cx="254000" cy="629285"/>
            </a:xfrm>
            <a:custGeom>
              <a:avLst/>
              <a:gdLst/>
              <a:ahLst/>
              <a:cxnLst/>
              <a:rect l="l" t="t" r="r" b="b"/>
              <a:pathLst>
                <a:path w="254000" h="629285">
                  <a:moveTo>
                    <a:pt x="73590" y="48420"/>
                  </a:moveTo>
                  <a:lnTo>
                    <a:pt x="132037" y="24210"/>
                  </a:lnTo>
                  <a:lnTo>
                    <a:pt x="73590" y="0"/>
                  </a:lnTo>
                  <a:lnTo>
                    <a:pt x="73590" y="48420"/>
                  </a:lnTo>
                  <a:close/>
                </a:path>
                <a:path w="254000" h="629285">
                  <a:moveTo>
                    <a:pt x="0" y="628867"/>
                  </a:moveTo>
                  <a:lnTo>
                    <a:pt x="254000" y="628867"/>
                  </a:lnTo>
                  <a:lnTo>
                    <a:pt x="254000" y="146175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626259" y="2429027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5" h="59055">
                  <a:moveTo>
                    <a:pt x="24209" y="0"/>
                  </a:moveTo>
                  <a:lnTo>
                    <a:pt x="0" y="58444"/>
                  </a:lnTo>
                  <a:lnTo>
                    <a:pt x="48418" y="58444"/>
                  </a:lnTo>
                  <a:lnTo>
                    <a:pt x="24209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626259" y="2307061"/>
              <a:ext cx="286385" cy="180975"/>
            </a:xfrm>
            <a:custGeom>
              <a:avLst/>
              <a:gdLst/>
              <a:ahLst/>
              <a:cxnLst/>
              <a:rect l="l" t="t" r="r" b="b"/>
              <a:pathLst>
                <a:path w="286385" h="180975">
                  <a:moveTo>
                    <a:pt x="48418" y="180410"/>
                  </a:moveTo>
                  <a:lnTo>
                    <a:pt x="24209" y="121965"/>
                  </a:lnTo>
                  <a:lnTo>
                    <a:pt x="0" y="180410"/>
                  </a:lnTo>
                  <a:lnTo>
                    <a:pt x="48418" y="180410"/>
                  </a:lnTo>
                  <a:close/>
                </a:path>
                <a:path w="286385" h="180975">
                  <a:moveTo>
                    <a:pt x="120866" y="0"/>
                  </a:moveTo>
                  <a:lnTo>
                    <a:pt x="286062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853876" y="2282851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264917" y="2282851"/>
              <a:ext cx="2647950" cy="629285"/>
            </a:xfrm>
            <a:custGeom>
              <a:avLst/>
              <a:gdLst/>
              <a:ahLst/>
              <a:cxnLst/>
              <a:rect l="l" t="t" r="r" b="b"/>
              <a:pathLst>
                <a:path w="2647950" h="629285">
                  <a:moveTo>
                    <a:pt x="2588959" y="48419"/>
                  </a:moveTo>
                  <a:lnTo>
                    <a:pt x="2647405" y="24209"/>
                  </a:lnTo>
                  <a:lnTo>
                    <a:pt x="2588959" y="0"/>
                  </a:lnTo>
                  <a:lnTo>
                    <a:pt x="2588959" y="48419"/>
                  </a:lnTo>
                  <a:close/>
                </a:path>
                <a:path w="2647950" h="629285">
                  <a:moveTo>
                    <a:pt x="0" y="24209"/>
                  </a:moveTo>
                  <a:lnTo>
                    <a:pt x="0" y="628867"/>
                  </a:lnTo>
                  <a:lnTo>
                    <a:pt x="165196" y="628867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371667" y="288750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371667" y="2887509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4">
                  <a:moveTo>
                    <a:pt x="0" y="48419"/>
                  </a:moveTo>
                  <a:lnTo>
                    <a:pt x="58446" y="24209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2393040" y="877684"/>
            <a:ext cx="783590" cy="1382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9445">
              <a:lnSpc>
                <a:spcPct val="100000"/>
              </a:lnSpc>
              <a:spcBef>
                <a:spcPts val="95"/>
              </a:spcBef>
            </a:pP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  <a:spcBef>
                <a:spcPts val="819"/>
              </a:spcBef>
            </a:pPr>
            <a:r>
              <a:rPr sz="1100" spc="-25" dirty="0">
                <a:latin typeface="Palatino Linotype"/>
                <a:cs typeface="Palatino Linotype"/>
              </a:rPr>
              <a:t>1</a:t>
            </a:r>
            <a:r>
              <a:rPr sz="1100" i="1" spc="-25" dirty="0">
                <a:latin typeface="Georgia"/>
                <a:cs typeface="Georgia"/>
              </a:rPr>
              <a:t>.</a:t>
            </a:r>
            <a:r>
              <a:rPr sz="1100" spc="-25" dirty="0">
                <a:latin typeface="Palatino Linotype"/>
                <a:cs typeface="Palatino Linotype"/>
              </a:rPr>
              <a:t>6</a:t>
            </a:r>
            <a:endParaRPr sz="1100">
              <a:latin typeface="Palatino Linotype"/>
              <a:cs typeface="Palatino Linotype"/>
            </a:endParaRPr>
          </a:p>
          <a:p>
            <a:pPr marL="639445">
              <a:lnSpc>
                <a:spcPct val="100000"/>
              </a:lnSpc>
              <a:spcBef>
                <a:spcPts val="880"/>
              </a:spcBef>
            </a:pP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780"/>
              </a:spcBef>
            </a:pPr>
            <a:r>
              <a:rPr sz="1100" i="1" spc="-10" dirty="0">
                <a:latin typeface="Times New Roman"/>
                <a:cs typeface="Times New Roman"/>
              </a:rPr>
              <a:t>−</a:t>
            </a:r>
            <a:r>
              <a:rPr sz="1100" spc="-10" dirty="0">
                <a:latin typeface="Palatino Linotype"/>
                <a:cs typeface="Palatino Linotype"/>
              </a:rPr>
              <a:t>0</a:t>
            </a:r>
            <a:r>
              <a:rPr sz="1100" i="1" spc="-10" dirty="0">
                <a:latin typeface="Georgia"/>
                <a:cs typeface="Georgia"/>
              </a:rPr>
              <a:t>.</a:t>
            </a:r>
            <a:r>
              <a:rPr sz="1100" spc="-10" dirty="0">
                <a:latin typeface="Palatino Linotype"/>
                <a:cs typeface="Palatino Linotype"/>
              </a:rPr>
              <a:t>63</a:t>
            </a:r>
            <a:endParaRPr sz="11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100">
              <a:latin typeface="Palatino Linotype"/>
              <a:cs typeface="Palatino Linotype"/>
            </a:endParaRPr>
          </a:p>
          <a:p>
            <a:pPr marL="74295" algn="ctr">
              <a:lnSpc>
                <a:spcPct val="100000"/>
              </a:lnSpc>
            </a:pPr>
            <a:r>
              <a:rPr sz="1100" i="1" spc="-25" dirty="0">
                <a:latin typeface="Georgia"/>
                <a:cs typeface="Georgia"/>
              </a:rPr>
              <a:t>Y</a:t>
            </a:r>
            <a:r>
              <a:rPr sz="1350" spc="-37" baseline="-12345" dirty="0">
                <a:latin typeface="Palatino Linotype"/>
                <a:cs typeface="Palatino Linotype"/>
              </a:rPr>
              <a:t>1</a:t>
            </a:r>
            <a:endParaRPr sz="1350" baseline="-12345">
              <a:latin typeface="Palatino Linotype"/>
              <a:cs typeface="Palatino Linotype"/>
            </a:endParaRPr>
          </a:p>
        </p:txBody>
      </p:sp>
      <p:sp>
        <p:nvSpPr>
          <p:cNvPr id="73" name="object 7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69" name="object 69"/>
          <p:cNvSpPr txBox="1"/>
          <p:nvPr/>
        </p:nvSpPr>
        <p:spPr>
          <a:xfrm>
            <a:off x="948195" y="2202734"/>
            <a:ext cx="1409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65" dirty="0">
                <a:latin typeface="Georgia"/>
                <a:cs typeface="Georgia"/>
              </a:rPr>
              <a:t>X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75693" y="2202734"/>
            <a:ext cx="10668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714031" y="2672223"/>
            <a:ext cx="21590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spc="-25" dirty="0">
                <a:latin typeface="Georgia"/>
                <a:cs typeface="Georgia"/>
              </a:rPr>
              <a:t>Y</a:t>
            </a:r>
            <a:r>
              <a:rPr sz="1350" spc="-37" baseline="-12345" dirty="0">
                <a:latin typeface="Palatino Linotype"/>
                <a:cs typeface="Palatino Linotype"/>
              </a:rPr>
              <a:t>2</a:t>
            </a:r>
            <a:endParaRPr sz="1350" baseline="-12345">
              <a:latin typeface="Palatino Linotype"/>
              <a:cs typeface="Palatino Linotype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13830" y="3502469"/>
            <a:ext cx="463550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dirty="0">
                <a:latin typeface="Times New Roman"/>
                <a:cs typeface="Times New Roman"/>
              </a:rPr>
              <a:t>→</a:t>
            </a:r>
            <a:r>
              <a:rPr sz="1100" i="1" spc="18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Arial"/>
                <a:cs typeface="Arial"/>
              </a:rPr>
              <a:t>follows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spc="100" dirty="0">
                <a:latin typeface="Arial"/>
                <a:cs typeface="Arial"/>
              </a:rPr>
              <a:t>from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thinking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about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system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polynomial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spc="80" dirty="0">
                <a:latin typeface="Arial"/>
                <a:cs typeface="Arial"/>
              </a:rPr>
              <a:t>(factoring).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925" y="1653291"/>
            <a:ext cx="1089660" cy="0"/>
          </a:xfrm>
          <a:custGeom>
            <a:avLst/>
            <a:gdLst/>
            <a:ahLst/>
            <a:cxnLst/>
            <a:rect l="l" t="t" r="r" b="b"/>
            <a:pathLst>
              <a:path w="1089660">
                <a:moveTo>
                  <a:pt x="0" y="0"/>
                </a:moveTo>
                <a:lnTo>
                  <a:pt x="1089431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36925" y="2778249"/>
            <a:ext cx="849630" cy="0"/>
          </a:xfrm>
          <a:custGeom>
            <a:avLst/>
            <a:gdLst/>
            <a:ahLst/>
            <a:cxnLst/>
            <a:rect l="l" t="t" r="r" b="b"/>
            <a:pathLst>
              <a:path w="849630">
                <a:moveTo>
                  <a:pt x="0" y="0"/>
                </a:moveTo>
                <a:lnTo>
                  <a:pt x="849414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91802" y="2944737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4">
                <a:moveTo>
                  <a:pt x="0" y="0"/>
                </a:moveTo>
                <a:lnTo>
                  <a:pt x="177838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23723" y="2944737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>
                <a:moveTo>
                  <a:pt x="0" y="0"/>
                </a:moveTo>
                <a:lnTo>
                  <a:pt x="247421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02272" y="2778249"/>
            <a:ext cx="879475" cy="0"/>
          </a:xfrm>
          <a:custGeom>
            <a:avLst/>
            <a:gdLst/>
            <a:ahLst/>
            <a:cxnLst/>
            <a:rect l="l" t="t" r="r" b="b"/>
            <a:pathLst>
              <a:path w="879475">
                <a:moveTo>
                  <a:pt x="0" y="0"/>
                </a:moveTo>
                <a:lnTo>
                  <a:pt x="879233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97442" y="2778249"/>
            <a:ext cx="984885" cy="0"/>
          </a:xfrm>
          <a:custGeom>
            <a:avLst/>
            <a:gdLst/>
            <a:ahLst/>
            <a:cxnLst/>
            <a:rect l="l" t="t" r="r" b="b"/>
            <a:pathLst>
              <a:path w="984885">
                <a:moveTo>
                  <a:pt x="0" y="0"/>
                </a:moveTo>
                <a:lnTo>
                  <a:pt x="984504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5" dirty="0"/>
              <a:t>Poles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3830" y="381266"/>
            <a:ext cx="483362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120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key</a:t>
            </a:r>
            <a:r>
              <a:rPr sz="1100" spc="120" dirty="0">
                <a:latin typeface="Arial"/>
                <a:cs typeface="Arial"/>
              </a:rPr>
              <a:t> </a:t>
            </a:r>
            <a:r>
              <a:rPr sz="1100" spc="130" dirty="0">
                <a:latin typeface="Arial"/>
                <a:cs typeface="Arial"/>
              </a:rPr>
              <a:t>to</a:t>
            </a:r>
            <a:r>
              <a:rPr sz="1100" spc="12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simplifying</a:t>
            </a:r>
            <a:r>
              <a:rPr sz="1100" spc="1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120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higher-</a:t>
            </a:r>
            <a:r>
              <a:rPr sz="1100" spc="55" dirty="0">
                <a:latin typeface="Arial"/>
                <a:cs typeface="Arial"/>
              </a:rPr>
              <a:t>order</a:t>
            </a:r>
            <a:r>
              <a:rPr sz="1100" spc="12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system</a:t>
            </a:r>
            <a:r>
              <a:rPr sz="1100" spc="1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120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identifying</a:t>
            </a:r>
            <a:r>
              <a:rPr sz="1100" spc="125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its</a:t>
            </a:r>
            <a:r>
              <a:rPr sz="1100" spc="120" dirty="0">
                <a:latin typeface="Arial"/>
                <a:cs typeface="Arial"/>
              </a:rPr>
              <a:t> </a:t>
            </a:r>
            <a:r>
              <a:rPr sz="1100" b="1" spc="40" dirty="0">
                <a:solidFill>
                  <a:srgbClr val="0000CC"/>
                </a:solidFill>
                <a:latin typeface="Arial"/>
                <a:cs typeface="Arial"/>
              </a:rPr>
              <a:t>poles</a:t>
            </a:r>
            <a:r>
              <a:rPr sz="1100" spc="4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830" y="660321"/>
            <a:ext cx="4833620" cy="3359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Arial"/>
                <a:cs typeface="Arial"/>
              </a:rPr>
              <a:t>Poles</a:t>
            </a:r>
            <a:r>
              <a:rPr sz="1100" spc="3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36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36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roots</a:t>
            </a:r>
            <a:r>
              <a:rPr sz="1100" spc="365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37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365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denominator</a:t>
            </a:r>
            <a:r>
              <a:rPr sz="1100" spc="365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36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36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system</a:t>
            </a:r>
            <a:r>
              <a:rPr sz="1100" spc="37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functional</a:t>
            </a:r>
            <a:endParaRPr sz="1100">
              <a:latin typeface="Arial"/>
              <a:cs typeface="Arial"/>
            </a:endParaRPr>
          </a:p>
          <a:p>
            <a:pPr marL="787400">
              <a:lnSpc>
                <a:spcPct val="100000"/>
              </a:lnSpc>
              <a:spcBef>
                <a:spcPts val="45"/>
              </a:spcBef>
            </a:pPr>
            <a:r>
              <a:rPr sz="900" u="sng" spc="-5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830" y="863244"/>
            <a:ext cx="92329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1694" algn="l"/>
              </a:tabLst>
            </a:pPr>
            <a:r>
              <a:rPr sz="1100" spc="55" dirty="0">
                <a:latin typeface="Arial"/>
                <a:cs typeface="Arial"/>
              </a:rPr>
              <a:t>when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i="1" spc="245" dirty="0">
                <a:latin typeface="Times New Roman"/>
                <a:cs typeface="Times New Roman"/>
              </a:rPr>
              <a:t>R</a:t>
            </a:r>
            <a:r>
              <a:rPr sz="1100" i="1" spc="3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→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8733" y="936625"/>
            <a:ext cx="800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50" dirty="0">
                <a:latin typeface="Georgia"/>
                <a:cs typeface="Georgia"/>
              </a:rPr>
              <a:t>z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830" y="1294625"/>
            <a:ext cx="20967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95" dirty="0">
                <a:latin typeface="Arial"/>
                <a:cs typeface="Arial"/>
              </a:rPr>
              <a:t>Start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105" dirty="0">
                <a:latin typeface="Arial"/>
                <a:cs typeface="Arial"/>
              </a:rPr>
              <a:t>with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system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functional: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1165" y="1442016"/>
            <a:ext cx="4297680" cy="287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1030"/>
              </a:lnSpc>
              <a:spcBef>
                <a:spcPts val="95"/>
              </a:spcBef>
              <a:tabLst>
                <a:tab pos="895350" algn="l"/>
                <a:tab pos="1691005" algn="l"/>
                <a:tab pos="2210435" algn="l"/>
                <a:tab pos="2799715" algn="l"/>
                <a:tab pos="3015615" algn="l"/>
                <a:tab pos="3589654" algn="l"/>
                <a:tab pos="4233545" algn="l"/>
              </a:tabLst>
            </a:pPr>
            <a:r>
              <a:rPr sz="1100" i="1" u="sng" spc="-5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Y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spc="-50" dirty="0">
                <a:latin typeface="Palatino Linotype"/>
                <a:cs typeface="Palatino Linotype"/>
              </a:rPr>
              <a:t>1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endParaRPr sz="1100">
              <a:latin typeface="Palatino Linotype"/>
              <a:cs typeface="Palatino Linotype"/>
            </a:endParaRPr>
          </a:p>
          <a:p>
            <a:pPr marL="223520">
              <a:lnSpc>
                <a:spcPts val="1030"/>
              </a:lnSpc>
              <a:tabLst>
                <a:tab pos="1409700" algn="l"/>
                <a:tab pos="2853055" algn="l"/>
              </a:tabLst>
            </a:pPr>
            <a:r>
              <a:rPr sz="1100" spc="250" dirty="0">
                <a:latin typeface="Palatino Linotype"/>
                <a:cs typeface="Palatino Linotype"/>
              </a:rPr>
              <a:t>=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350" baseline="-27777" dirty="0">
                <a:latin typeface="Palatino Linotype"/>
                <a:cs typeface="Palatino Linotype"/>
              </a:rPr>
              <a:t>2</a:t>
            </a:r>
            <a:r>
              <a:rPr sz="1350" spc="375" baseline="-27777" dirty="0">
                <a:latin typeface="Palatino Linotype"/>
                <a:cs typeface="Palatino Linotype"/>
              </a:rPr>
              <a:t> </a:t>
            </a:r>
            <a:r>
              <a:rPr sz="1100" spc="250" dirty="0">
                <a:latin typeface="Palatino Linotype"/>
                <a:cs typeface="Palatino Linotype"/>
              </a:rPr>
              <a:t>=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spc="250" dirty="0">
                <a:latin typeface="Palatino Linotype"/>
                <a:cs typeface="Palatino Linotype"/>
              </a:rPr>
              <a:t>=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6489" y="1633248"/>
            <a:ext cx="426656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79730" algn="l"/>
                <a:tab pos="1685289" algn="l"/>
                <a:tab pos="3009900" algn="l"/>
              </a:tabLst>
            </a:pPr>
            <a:r>
              <a:rPr sz="1100" i="1" spc="65" dirty="0">
                <a:latin typeface="Georgia"/>
                <a:cs typeface="Georgia"/>
              </a:rPr>
              <a:t>X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-4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spc="75" dirty="0">
                <a:latin typeface="Palatino Linotype"/>
                <a:cs typeface="Palatino Linotype"/>
              </a:rPr>
              <a:t>1</a:t>
            </a:r>
            <a:r>
              <a:rPr sz="1100" i="1" spc="75" dirty="0">
                <a:latin typeface="Georgia"/>
                <a:cs typeface="Georgia"/>
              </a:rPr>
              <a:t>.</a:t>
            </a:r>
            <a:r>
              <a:rPr sz="1100" spc="75" dirty="0">
                <a:latin typeface="Palatino Linotype"/>
                <a:cs typeface="Palatino Linotype"/>
              </a:rPr>
              <a:t>6</a:t>
            </a:r>
            <a:r>
              <a:rPr sz="1100" i="1" spc="75" dirty="0">
                <a:latin typeface="Times New Roman"/>
                <a:cs typeface="Times New Roman"/>
              </a:rPr>
              <a:t>R</a:t>
            </a:r>
            <a:r>
              <a:rPr sz="1100" spc="75" dirty="0">
                <a:latin typeface="Palatino Linotype"/>
                <a:cs typeface="Palatino Linotype"/>
              </a:rPr>
              <a:t>+0</a:t>
            </a:r>
            <a:r>
              <a:rPr sz="1100" i="1" spc="75" dirty="0">
                <a:latin typeface="Georgia"/>
                <a:cs typeface="Georgia"/>
              </a:rPr>
              <a:t>.</a:t>
            </a:r>
            <a:r>
              <a:rPr sz="1100" spc="75" dirty="0">
                <a:latin typeface="Palatino Linotype"/>
                <a:cs typeface="Palatino Linotype"/>
              </a:rPr>
              <a:t>63</a:t>
            </a:r>
            <a:r>
              <a:rPr sz="1100" i="1" spc="75" dirty="0">
                <a:latin typeface="Times New Roman"/>
                <a:cs typeface="Times New Roman"/>
              </a:rPr>
              <a:t>R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65" dirty="0">
                <a:latin typeface="Palatino Linotype"/>
                <a:cs typeface="Palatino Linotype"/>
              </a:rPr>
              <a:t>(1</a:t>
            </a:r>
            <a:r>
              <a:rPr sz="1100" i="1" spc="65" dirty="0">
                <a:latin typeface="Times New Roman"/>
                <a:cs typeface="Times New Roman"/>
              </a:rPr>
              <a:t>−</a:t>
            </a:r>
            <a:r>
              <a:rPr sz="1100" i="1" spc="65" dirty="0">
                <a:latin typeface="Georgia"/>
                <a:cs typeface="Georgia"/>
              </a:rPr>
              <a:t>p</a:t>
            </a:r>
            <a:r>
              <a:rPr sz="1350" spc="97" baseline="-12345" dirty="0">
                <a:latin typeface="Palatino Linotype"/>
                <a:cs typeface="Palatino Linotype"/>
              </a:rPr>
              <a:t>0</a:t>
            </a:r>
            <a:r>
              <a:rPr sz="1100" i="1" spc="65" dirty="0">
                <a:latin typeface="Times New Roman"/>
                <a:cs typeface="Times New Roman"/>
              </a:rPr>
              <a:t>R</a:t>
            </a:r>
            <a:r>
              <a:rPr sz="1100" spc="65" dirty="0">
                <a:latin typeface="Palatino Linotype"/>
                <a:cs typeface="Palatino Linotype"/>
              </a:rPr>
              <a:t>)(1</a:t>
            </a:r>
            <a:r>
              <a:rPr sz="1100" i="1" spc="65" dirty="0">
                <a:latin typeface="Times New Roman"/>
                <a:cs typeface="Times New Roman"/>
              </a:rPr>
              <a:t>−</a:t>
            </a:r>
            <a:r>
              <a:rPr sz="1100" i="1" spc="65" dirty="0">
                <a:latin typeface="Georgia"/>
                <a:cs typeface="Georgia"/>
              </a:rPr>
              <a:t>p</a:t>
            </a:r>
            <a:r>
              <a:rPr sz="1350" spc="97" baseline="-12345" dirty="0">
                <a:latin typeface="Palatino Linotype"/>
                <a:cs typeface="Palatino Linotype"/>
              </a:rPr>
              <a:t>1</a:t>
            </a:r>
            <a:r>
              <a:rPr sz="1100" i="1" spc="65" dirty="0">
                <a:latin typeface="Times New Roman"/>
                <a:cs typeface="Times New Roman"/>
              </a:rPr>
              <a:t>R</a:t>
            </a:r>
            <a:r>
              <a:rPr sz="1100" spc="65" dirty="0">
                <a:latin typeface="Palatino Linotype"/>
                <a:cs typeface="Palatino Linotype"/>
              </a:rPr>
              <a:t>)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spc="70" dirty="0">
                <a:latin typeface="Palatino Linotype"/>
                <a:cs typeface="Palatino Linotype"/>
              </a:rPr>
              <a:t>(</a:t>
            </a:r>
            <a:r>
              <a:rPr sz="1100" u="heavy" spc="7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1100" i="1" u="heavy" spc="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−</a:t>
            </a:r>
            <a:r>
              <a:rPr sz="1100" spc="70" dirty="0">
                <a:latin typeface="Palatino Linotype"/>
                <a:cs typeface="Palatino Linotype"/>
              </a:rPr>
              <a:t>0</a:t>
            </a:r>
            <a:r>
              <a:rPr sz="1100" i="1" spc="70" dirty="0">
                <a:latin typeface="Georgia"/>
                <a:cs typeface="Georgia"/>
              </a:rPr>
              <a:t>.</a:t>
            </a:r>
            <a:r>
              <a:rPr sz="1100" u="heavy" spc="7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7</a:t>
            </a:r>
            <a:r>
              <a:rPr sz="1100" i="1" u="heavy" spc="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1100" spc="70" dirty="0">
                <a:latin typeface="Palatino Linotype"/>
                <a:cs typeface="Palatino Linotype"/>
              </a:rPr>
              <a:t>)</a:t>
            </a:r>
            <a:r>
              <a:rPr sz="1100" spc="-75" dirty="0">
                <a:latin typeface="Palatino Linotype"/>
                <a:cs typeface="Palatino Linotype"/>
              </a:rPr>
              <a:t> </a:t>
            </a:r>
            <a:r>
              <a:rPr sz="1100" spc="60" dirty="0">
                <a:latin typeface="Palatino Linotype"/>
                <a:cs typeface="Palatino Linotype"/>
              </a:rPr>
              <a:t>(</a:t>
            </a:r>
            <a:r>
              <a:rPr sz="1100" u="heavy" spc="6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1100" i="1" u="heavy" spc="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−</a:t>
            </a:r>
            <a:r>
              <a:rPr sz="1100" spc="60" dirty="0">
                <a:latin typeface="Palatino Linotype"/>
                <a:cs typeface="Palatino Linotype"/>
              </a:rPr>
              <a:t>0</a:t>
            </a:r>
            <a:r>
              <a:rPr sz="1100" i="1" spc="60" dirty="0">
                <a:latin typeface="Georgia"/>
                <a:cs typeface="Georgia"/>
              </a:rPr>
              <a:t>.</a:t>
            </a:r>
            <a:r>
              <a:rPr sz="1100" u="heavy" spc="6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9</a:t>
            </a:r>
            <a:r>
              <a:rPr sz="1100" i="1" u="heavy" spc="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1100" spc="60" dirty="0">
                <a:latin typeface="Palatino Linotype"/>
                <a:cs typeface="Palatino Linotype"/>
              </a:rPr>
              <a:t>)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28885" y="1854339"/>
            <a:ext cx="129413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spc="-150" baseline="53030" dirty="0">
                <a:latin typeface="Arial"/>
                <a:cs typeface="Arial"/>
              </a:rPr>
              <a:t>-</a:t>
            </a:r>
            <a:r>
              <a:rPr sz="1650" baseline="53030" dirty="0">
                <a:latin typeface="Arial"/>
                <a:cs typeface="Arial"/>
              </a:rPr>
              <a:t>.</a:t>
            </a:r>
            <a:r>
              <a:rPr sz="1650" spc="89" baseline="53030" dirty="0">
                <a:latin typeface="Arial"/>
                <a:cs typeface="Arial"/>
              </a:rPr>
              <a:t> </a:t>
            </a:r>
            <a:r>
              <a:rPr sz="900" i="1" spc="30" dirty="0">
                <a:latin typeface="Georgia"/>
                <a:cs typeface="Georgia"/>
              </a:rPr>
              <a:t>p</a:t>
            </a:r>
            <a:r>
              <a:rPr sz="1200" spc="97" baseline="-13888" dirty="0">
                <a:latin typeface="Trebuchet MS"/>
                <a:cs typeface="Trebuchet MS"/>
              </a:rPr>
              <a:t>0</a:t>
            </a:r>
            <a:r>
              <a:rPr sz="1650" spc="-839" baseline="53030" dirty="0">
                <a:latin typeface="Arial"/>
                <a:cs typeface="Arial"/>
              </a:rPr>
              <a:t>..</a:t>
            </a:r>
            <a:r>
              <a:rPr sz="900" spc="-125" dirty="0">
                <a:latin typeface="Palatino Linotype"/>
                <a:cs typeface="Palatino Linotype"/>
              </a:rPr>
              <a:t>=</a:t>
            </a:r>
            <a:r>
              <a:rPr sz="1650" spc="-434" baseline="53030" dirty="0">
                <a:latin typeface="Arial"/>
                <a:cs typeface="Arial"/>
              </a:rPr>
              <a:t>,.</a:t>
            </a:r>
            <a:r>
              <a:rPr sz="900" spc="25" dirty="0">
                <a:latin typeface="Palatino Linotype"/>
                <a:cs typeface="Palatino Linotype"/>
              </a:rPr>
              <a:t>0</a:t>
            </a:r>
            <a:r>
              <a:rPr sz="900" i="1" spc="30" dirty="0">
                <a:latin typeface="Georgia"/>
                <a:cs typeface="Georgia"/>
              </a:rPr>
              <a:t>.</a:t>
            </a:r>
            <a:r>
              <a:rPr sz="900" spc="30" dirty="0">
                <a:latin typeface="Palatino Linotype"/>
                <a:cs typeface="Palatino Linotype"/>
              </a:rPr>
              <a:t>7</a:t>
            </a:r>
            <a:r>
              <a:rPr sz="900" spc="160" dirty="0">
                <a:latin typeface="Palatino Linotype"/>
                <a:cs typeface="Palatino Linotype"/>
              </a:rPr>
              <a:t> </a:t>
            </a:r>
            <a:r>
              <a:rPr sz="1650" spc="-89" baseline="53030" dirty="0">
                <a:latin typeface="Arial"/>
                <a:cs typeface="Arial"/>
              </a:rPr>
              <a:t>..</a:t>
            </a:r>
            <a:r>
              <a:rPr sz="1650" spc="-187" baseline="53030" dirty="0">
                <a:latin typeface="Arial"/>
                <a:cs typeface="Arial"/>
              </a:rPr>
              <a:t> </a:t>
            </a:r>
            <a:r>
              <a:rPr sz="1650" spc="-150" baseline="53030" dirty="0">
                <a:latin typeface="Arial"/>
                <a:cs typeface="Arial"/>
              </a:rPr>
              <a:t>-</a:t>
            </a:r>
            <a:r>
              <a:rPr sz="1650" baseline="53030" dirty="0">
                <a:latin typeface="Arial"/>
                <a:cs typeface="Arial"/>
              </a:rPr>
              <a:t>.</a:t>
            </a:r>
            <a:r>
              <a:rPr sz="1650" spc="127" baseline="53030" dirty="0">
                <a:latin typeface="Arial"/>
                <a:cs typeface="Arial"/>
              </a:rPr>
              <a:t> </a:t>
            </a:r>
            <a:r>
              <a:rPr sz="900" i="1" spc="20" dirty="0">
                <a:latin typeface="Georgia"/>
                <a:cs typeface="Georgia"/>
              </a:rPr>
              <a:t>p</a:t>
            </a:r>
            <a:r>
              <a:rPr sz="1200" spc="97" baseline="-13888" dirty="0">
                <a:latin typeface="Trebuchet MS"/>
                <a:cs typeface="Trebuchet MS"/>
              </a:rPr>
              <a:t>1</a:t>
            </a:r>
            <a:r>
              <a:rPr sz="1650" spc="-839" baseline="53030" dirty="0">
                <a:latin typeface="Arial"/>
                <a:cs typeface="Arial"/>
              </a:rPr>
              <a:t>..</a:t>
            </a:r>
            <a:r>
              <a:rPr sz="900" spc="-125" dirty="0">
                <a:latin typeface="Palatino Linotype"/>
                <a:cs typeface="Palatino Linotype"/>
              </a:rPr>
              <a:t>=</a:t>
            </a:r>
            <a:r>
              <a:rPr sz="1650" spc="-434" baseline="53030" dirty="0">
                <a:latin typeface="Arial"/>
                <a:cs typeface="Arial"/>
              </a:rPr>
              <a:t>,.</a:t>
            </a:r>
            <a:r>
              <a:rPr sz="900" spc="25" dirty="0">
                <a:latin typeface="Palatino Linotype"/>
                <a:cs typeface="Palatino Linotype"/>
              </a:rPr>
              <a:t>0</a:t>
            </a:r>
            <a:r>
              <a:rPr sz="900" i="1" spc="30" dirty="0">
                <a:latin typeface="Georgia"/>
                <a:cs typeface="Georgia"/>
              </a:rPr>
              <a:t>.</a:t>
            </a:r>
            <a:r>
              <a:rPr sz="900" spc="30" dirty="0">
                <a:latin typeface="Palatino Linotype"/>
                <a:cs typeface="Palatino Linotype"/>
              </a:rPr>
              <a:t>9</a:t>
            </a:r>
            <a:r>
              <a:rPr sz="900" spc="160" dirty="0">
                <a:latin typeface="Palatino Linotype"/>
                <a:cs typeface="Palatino Linotype"/>
              </a:rPr>
              <a:t> </a:t>
            </a:r>
            <a:r>
              <a:rPr sz="1650" spc="-37" baseline="53030" dirty="0">
                <a:latin typeface="Arial"/>
                <a:cs typeface="Arial"/>
              </a:rPr>
              <a:t>..</a:t>
            </a:r>
            <a:endParaRPr sz="1650" baseline="5303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50279" y="2200207"/>
            <a:ext cx="95885" cy="40513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i="1" spc="-50" dirty="0">
                <a:latin typeface="Georgia"/>
                <a:cs typeface="Georgia"/>
              </a:rPr>
              <a:t>z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3880" y="2317118"/>
            <a:ext cx="110807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80" dirty="0">
                <a:latin typeface="Arial"/>
                <a:cs typeface="Arial"/>
              </a:rPr>
              <a:t>Substitute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i="1" spc="245" dirty="0">
                <a:latin typeface="Times New Roman"/>
                <a:cs typeface="Times New Roman"/>
              </a:rPr>
              <a:t>R</a:t>
            </a:r>
            <a:r>
              <a:rPr sz="1100" i="1" spc="40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→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94329" y="2317118"/>
            <a:ext cx="221869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55" dirty="0">
                <a:latin typeface="Arial"/>
                <a:cs typeface="Arial"/>
              </a:rPr>
              <a:t>and</a:t>
            </a:r>
            <a:r>
              <a:rPr sz="1100" spc="150" dirty="0">
                <a:latin typeface="Arial"/>
                <a:cs typeface="Arial"/>
              </a:rPr>
              <a:t> </a:t>
            </a:r>
            <a:r>
              <a:rPr sz="1100" spc="100" dirty="0">
                <a:latin typeface="Arial"/>
                <a:cs typeface="Arial"/>
              </a:rPr>
              <a:t>ﬁnd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roots</a:t>
            </a:r>
            <a:r>
              <a:rPr sz="1100" spc="15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50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denominator: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32177" y="2541803"/>
            <a:ext cx="12319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0145" algn="l"/>
              </a:tabLst>
            </a:pPr>
            <a:r>
              <a:rPr sz="900" spc="-50" dirty="0">
                <a:latin typeface="Palatino Linotype"/>
                <a:cs typeface="Palatino Linotype"/>
              </a:rPr>
              <a:t>2</a:t>
            </a:r>
            <a:r>
              <a:rPr sz="900" dirty="0">
                <a:latin typeface="Palatino Linotype"/>
                <a:cs typeface="Palatino Linotype"/>
              </a:rPr>
              <a:t>	</a:t>
            </a:r>
            <a:r>
              <a:rPr sz="900" spc="-50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2068" y="2544326"/>
            <a:ext cx="140970" cy="405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85">
              <a:lnSpc>
                <a:spcPct val="113199"/>
              </a:lnSpc>
              <a:spcBef>
                <a:spcPts val="100"/>
              </a:spcBef>
            </a:pPr>
            <a:r>
              <a:rPr sz="1100" i="1" u="sng" spc="-5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Y</a:t>
            </a:r>
            <a:r>
              <a:rPr sz="1100" i="1" spc="-50" dirty="0">
                <a:latin typeface="Georgia"/>
                <a:cs typeface="Georgia"/>
              </a:rPr>
              <a:t> </a:t>
            </a:r>
            <a:r>
              <a:rPr sz="1100" i="1" spc="65" dirty="0">
                <a:latin typeface="Georgia"/>
                <a:cs typeface="Georgia"/>
              </a:rPr>
              <a:t>X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61336" y="2567012"/>
            <a:ext cx="901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z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09148" y="2567012"/>
            <a:ext cx="901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z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2166" y="2661237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=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27444" y="2661237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=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60410" y="2743212"/>
            <a:ext cx="844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89588" y="2758245"/>
            <a:ext cx="39306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dirty="0">
                <a:latin typeface="Georgia"/>
                <a:cs typeface="Georgia"/>
              </a:rPr>
              <a:t>z</a:t>
            </a:r>
            <a:r>
              <a:rPr sz="1100" i="1" spc="360" dirty="0">
                <a:latin typeface="Georgia"/>
                <a:cs typeface="Georgia"/>
              </a:rPr>
              <a:t> </a:t>
            </a:r>
            <a:r>
              <a:rPr sz="1100" i="1" spc="30" dirty="0">
                <a:latin typeface="Times New Roman"/>
                <a:cs typeface="Times New Roman"/>
              </a:rPr>
              <a:t>−</a:t>
            </a:r>
            <a:r>
              <a:rPr sz="1100" spc="30" dirty="0">
                <a:latin typeface="Palatino Linotype"/>
                <a:cs typeface="Palatino Linotype"/>
              </a:rPr>
              <a:t>1</a:t>
            </a:r>
            <a:r>
              <a:rPr sz="1100" i="1" spc="3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57180" y="2758109"/>
            <a:ext cx="3594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Palatino Linotype"/>
                <a:cs typeface="Palatino Linotype"/>
              </a:rPr>
              <a:t>6</a:t>
            </a:r>
            <a:r>
              <a:rPr sz="1100" i="1" dirty="0">
                <a:latin typeface="Georgia"/>
                <a:cs typeface="Georgia"/>
              </a:rPr>
              <a:t>z</a:t>
            </a:r>
            <a:r>
              <a:rPr sz="1100" i="1" spc="-150" dirty="0">
                <a:latin typeface="Georgia"/>
                <a:cs typeface="Georgia"/>
              </a:rPr>
              <a:t> </a:t>
            </a:r>
            <a:r>
              <a:rPr sz="1100" spc="150" dirty="0">
                <a:latin typeface="Palatino Linotype"/>
                <a:cs typeface="Palatino Linotype"/>
              </a:rPr>
              <a:t>+0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697246" y="2661237"/>
            <a:ext cx="29273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145" dirty="0">
                <a:latin typeface="Palatino Linotype"/>
                <a:cs typeface="Palatino Linotype"/>
              </a:rPr>
              <a:t> </a:t>
            </a:r>
            <a:r>
              <a:rPr sz="1650" spc="15" baseline="-37878" dirty="0">
                <a:latin typeface="Palatino Linotype"/>
                <a:cs typeface="Palatino Linotype"/>
              </a:rPr>
              <a:t>(</a:t>
            </a:r>
            <a:endParaRPr sz="1650" baseline="-37878">
              <a:latin typeface="Palatino Linotype"/>
              <a:cs typeface="Palatino Linotyp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90821" y="2758109"/>
            <a:ext cx="140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0375" algn="l"/>
              </a:tabLst>
            </a:pPr>
            <a:r>
              <a:rPr sz="1100" i="1" spc="-25" dirty="0">
                <a:latin typeface="Georgia"/>
                <a:cs typeface="Georgia"/>
              </a:rPr>
              <a:t>.</a:t>
            </a:r>
            <a:r>
              <a:rPr sz="1100" spc="-25" dirty="0">
                <a:latin typeface="Palatino Linotype"/>
                <a:cs typeface="Palatino Linotype"/>
              </a:rPr>
              <a:t>63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i="1" u="heavy" spc="5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z</a:t>
            </a:r>
            <a:r>
              <a:rPr sz="1100" i="1" u="heavy" spc="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−</a:t>
            </a:r>
            <a:r>
              <a:rPr sz="1100" spc="55" dirty="0">
                <a:latin typeface="Palatino Linotype"/>
                <a:cs typeface="Palatino Linotype"/>
              </a:rPr>
              <a:t>0</a:t>
            </a:r>
            <a:r>
              <a:rPr sz="1100" i="1" spc="55" dirty="0">
                <a:latin typeface="Georgia"/>
                <a:cs typeface="Georgia"/>
              </a:rPr>
              <a:t>.</a:t>
            </a:r>
            <a:r>
              <a:rPr sz="1100" spc="55" dirty="0">
                <a:latin typeface="Palatino Linotype"/>
                <a:cs typeface="Palatino Linotype"/>
              </a:rPr>
              <a:t>7)</a:t>
            </a:r>
            <a:r>
              <a:rPr sz="1100" spc="-90" dirty="0">
                <a:latin typeface="Palatino Linotype"/>
                <a:cs typeface="Palatino Linotype"/>
              </a:rPr>
              <a:t> </a:t>
            </a:r>
            <a:r>
              <a:rPr sz="1100" spc="45" dirty="0">
                <a:latin typeface="Palatino Linotype"/>
                <a:cs typeface="Palatino Linotype"/>
              </a:rPr>
              <a:t>(</a:t>
            </a:r>
            <a:r>
              <a:rPr sz="1100" i="1" spc="45" dirty="0">
                <a:latin typeface="Georgia"/>
                <a:cs typeface="Georgia"/>
              </a:rPr>
              <a:t>z</a:t>
            </a:r>
            <a:r>
              <a:rPr sz="1100" i="1" spc="45" dirty="0">
                <a:latin typeface="Times New Roman"/>
                <a:cs typeface="Times New Roman"/>
              </a:rPr>
              <a:t>−</a:t>
            </a:r>
            <a:r>
              <a:rPr sz="1100" spc="45" dirty="0">
                <a:latin typeface="Palatino Linotype"/>
                <a:cs typeface="Palatino Linotype"/>
              </a:rPr>
              <a:t>0</a:t>
            </a:r>
            <a:r>
              <a:rPr sz="1100" i="1" spc="45" dirty="0">
                <a:latin typeface="Georgia"/>
                <a:cs typeface="Georgia"/>
              </a:rPr>
              <a:t>.</a:t>
            </a:r>
            <a:r>
              <a:rPr sz="1100" spc="45" dirty="0">
                <a:latin typeface="Palatino Linotype"/>
                <a:cs typeface="Palatino Linotype"/>
              </a:rPr>
              <a:t>9)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3801" y="2827560"/>
            <a:ext cx="23431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-45" dirty="0">
                <a:latin typeface="Palatino Linotype"/>
                <a:cs typeface="Palatino Linotype"/>
              </a:rPr>
              <a:t> </a:t>
            </a:r>
            <a:r>
              <a:rPr sz="1100" i="1" spc="60" dirty="0">
                <a:latin typeface="Times New Roman"/>
                <a:cs typeface="Times New Roman"/>
              </a:rPr>
              <a:t>−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53747" y="2567012"/>
            <a:ext cx="668655" cy="359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2720">
              <a:lnSpc>
                <a:spcPts val="1315"/>
              </a:lnSpc>
              <a:spcBef>
                <a:spcPts val="95"/>
              </a:spcBef>
            </a:pPr>
            <a:r>
              <a:rPr sz="1100" spc="-50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  <a:p>
            <a:pPr marL="38100">
              <a:lnSpc>
                <a:spcPts val="1315"/>
              </a:lnSpc>
            </a:pPr>
            <a:r>
              <a:rPr sz="1100" spc="-10" dirty="0">
                <a:latin typeface="Palatino Linotype"/>
                <a:cs typeface="Palatino Linotype"/>
              </a:rPr>
              <a:t>1</a:t>
            </a:r>
            <a:r>
              <a:rPr sz="1100" i="1" spc="-10" dirty="0">
                <a:latin typeface="Georgia"/>
                <a:cs typeface="Georgia"/>
              </a:rPr>
              <a:t>.</a:t>
            </a:r>
            <a:r>
              <a:rPr sz="1100" spc="-10" dirty="0">
                <a:latin typeface="Palatino Linotype"/>
                <a:cs typeface="Palatino Linotype"/>
              </a:rPr>
              <a:t>6</a:t>
            </a:r>
            <a:r>
              <a:rPr sz="1100" spc="-95" dirty="0">
                <a:latin typeface="Palatino Linotype"/>
                <a:cs typeface="Palatino Linotype"/>
              </a:rPr>
              <a:t> </a:t>
            </a:r>
            <a:r>
              <a:rPr sz="1650" spc="450" baseline="-37878" dirty="0">
                <a:latin typeface="Palatino Linotype"/>
                <a:cs typeface="Palatino Linotype"/>
              </a:rPr>
              <a:t>+</a:t>
            </a:r>
            <a:r>
              <a:rPr sz="1650" spc="-127" baseline="-37878" dirty="0">
                <a:latin typeface="Palatino Linotype"/>
                <a:cs typeface="Palatino Linotype"/>
              </a:rPr>
              <a:t> </a:t>
            </a:r>
            <a:r>
              <a:rPr sz="1100" spc="-20" dirty="0">
                <a:latin typeface="Palatino Linotype"/>
                <a:cs typeface="Palatino Linotype"/>
              </a:rPr>
              <a:t>0</a:t>
            </a:r>
            <a:r>
              <a:rPr sz="1100" i="1" spc="-20" dirty="0">
                <a:latin typeface="Georgia"/>
                <a:cs typeface="Georgia"/>
              </a:rPr>
              <a:t>.</a:t>
            </a:r>
            <a:r>
              <a:rPr sz="1100" spc="-20" dirty="0">
                <a:latin typeface="Palatino Linotype"/>
                <a:cs typeface="Palatino Linotype"/>
              </a:rPr>
              <a:t>63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32083" y="2923037"/>
            <a:ext cx="901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z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40991" y="2884385"/>
            <a:ext cx="20637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-37" baseline="-15151" dirty="0">
                <a:latin typeface="Georgia"/>
                <a:cs typeface="Georgia"/>
              </a:rPr>
              <a:t>z</a:t>
            </a:r>
            <a:r>
              <a:rPr sz="900" spc="-25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3817" y="3356864"/>
            <a:ext cx="213106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120" dirty="0">
                <a:latin typeface="Arial"/>
                <a:cs typeface="Arial"/>
              </a:rPr>
              <a:t>The</a:t>
            </a:r>
            <a:r>
              <a:rPr sz="1100" spc="19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poles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195" dirty="0">
                <a:latin typeface="Arial"/>
                <a:cs typeface="Arial"/>
              </a:rPr>
              <a:t> </a:t>
            </a:r>
            <a:r>
              <a:rPr sz="1100" spc="110" dirty="0">
                <a:latin typeface="Arial"/>
                <a:cs typeface="Arial"/>
              </a:rPr>
              <a:t>at</a:t>
            </a:r>
            <a:r>
              <a:rPr sz="1100" spc="195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0.7</a:t>
            </a:r>
            <a:r>
              <a:rPr sz="1100" spc="19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and</a:t>
            </a:r>
            <a:r>
              <a:rPr sz="1100" spc="19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0.9.</a:t>
            </a:r>
            <a:endParaRPr sz="11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200398" y="2981266"/>
            <a:ext cx="115570" cy="17145"/>
          </a:xfrm>
          <a:custGeom>
            <a:avLst/>
            <a:gdLst/>
            <a:ahLst/>
            <a:cxnLst/>
            <a:rect l="l" t="t" r="r" b="b"/>
            <a:pathLst>
              <a:path w="115570" h="17144">
                <a:moveTo>
                  <a:pt x="115062" y="0"/>
                </a:moveTo>
                <a:lnTo>
                  <a:pt x="0" y="0"/>
                </a:lnTo>
                <a:lnTo>
                  <a:pt x="0" y="16700"/>
                </a:lnTo>
                <a:lnTo>
                  <a:pt x="115062" y="16700"/>
                </a:lnTo>
                <a:lnTo>
                  <a:pt x="1150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463919" y="2981266"/>
            <a:ext cx="115570" cy="17145"/>
          </a:xfrm>
          <a:custGeom>
            <a:avLst/>
            <a:gdLst/>
            <a:ahLst/>
            <a:cxnLst/>
            <a:rect l="l" t="t" r="r" b="b"/>
            <a:pathLst>
              <a:path w="115570" h="17144">
                <a:moveTo>
                  <a:pt x="115062" y="0"/>
                </a:moveTo>
                <a:lnTo>
                  <a:pt x="0" y="0"/>
                </a:lnTo>
                <a:lnTo>
                  <a:pt x="0" y="16700"/>
                </a:lnTo>
                <a:lnTo>
                  <a:pt x="115062" y="16700"/>
                </a:lnTo>
                <a:lnTo>
                  <a:pt x="1150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704245" y="2981266"/>
            <a:ext cx="115570" cy="17145"/>
          </a:xfrm>
          <a:custGeom>
            <a:avLst/>
            <a:gdLst/>
            <a:ahLst/>
            <a:cxnLst/>
            <a:rect l="l" t="t" r="r" b="b"/>
            <a:pathLst>
              <a:path w="115570" h="17144">
                <a:moveTo>
                  <a:pt x="115062" y="0"/>
                </a:moveTo>
                <a:lnTo>
                  <a:pt x="0" y="0"/>
                </a:lnTo>
                <a:lnTo>
                  <a:pt x="0" y="16700"/>
                </a:lnTo>
                <a:lnTo>
                  <a:pt x="115062" y="16700"/>
                </a:lnTo>
                <a:lnTo>
                  <a:pt x="1150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859341" y="2979238"/>
            <a:ext cx="10610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spc="-150" baseline="53030" dirty="0">
                <a:latin typeface="Arial"/>
                <a:cs typeface="Arial"/>
              </a:rPr>
              <a:t>-</a:t>
            </a:r>
            <a:r>
              <a:rPr sz="1650" baseline="53030" dirty="0">
                <a:latin typeface="Arial"/>
                <a:cs typeface="Arial"/>
              </a:rPr>
              <a:t>.</a:t>
            </a:r>
            <a:r>
              <a:rPr sz="900" i="1" dirty="0">
                <a:latin typeface="Georgia"/>
                <a:cs typeface="Georgia"/>
              </a:rPr>
              <a:t>z</a:t>
            </a:r>
            <a:r>
              <a:rPr sz="1200" spc="75" baseline="-13888" dirty="0">
                <a:latin typeface="Trebuchet MS"/>
                <a:cs typeface="Trebuchet MS"/>
              </a:rPr>
              <a:t>0</a:t>
            </a:r>
            <a:r>
              <a:rPr sz="1650" spc="-907" baseline="53030" dirty="0">
                <a:latin typeface="Arial"/>
                <a:cs typeface="Arial"/>
              </a:rPr>
              <a:t>..</a:t>
            </a:r>
            <a:r>
              <a:rPr sz="900" spc="-145" dirty="0">
                <a:latin typeface="Palatino Linotype"/>
                <a:cs typeface="Palatino Linotype"/>
              </a:rPr>
              <a:t>=</a:t>
            </a:r>
            <a:r>
              <a:rPr sz="1650" spc="-509" baseline="53030" dirty="0">
                <a:latin typeface="Arial"/>
                <a:cs typeface="Arial"/>
              </a:rPr>
              <a:t>,.</a:t>
            </a:r>
            <a:r>
              <a:rPr sz="900" spc="-5" dirty="0">
                <a:latin typeface="Palatino Linotype"/>
                <a:cs typeface="Palatino Linotype"/>
              </a:rPr>
              <a:t>0</a:t>
            </a:r>
            <a:r>
              <a:rPr sz="900" i="1" dirty="0">
                <a:latin typeface="Georgia"/>
                <a:cs typeface="Georgia"/>
              </a:rPr>
              <a:t>.</a:t>
            </a:r>
            <a:r>
              <a:rPr sz="900" dirty="0">
                <a:latin typeface="Palatino Linotype"/>
                <a:cs typeface="Palatino Linotype"/>
              </a:rPr>
              <a:t>7</a:t>
            </a:r>
            <a:r>
              <a:rPr sz="1650" baseline="53030" dirty="0">
                <a:latin typeface="Arial"/>
                <a:cs typeface="Arial"/>
              </a:rPr>
              <a:t>..</a:t>
            </a:r>
            <a:r>
              <a:rPr sz="1650" spc="-89" baseline="53030" dirty="0">
                <a:latin typeface="Arial"/>
                <a:cs typeface="Arial"/>
              </a:rPr>
              <a:t> </a:t>
            </a:r>
            <a:r>
              <a:rPr sz="1650" spc="-150" baseline="53030" dirty="0">
                <a:latin typeface="Arial"/>
                <a:cs typeface="Arial"/>
              </a:rPr>
              <a:t>-</a:t>
            </a:r>
            <a:r>
              <a:rPr sz="1650" spc="112" baseline="53030" dirty="0">
                <a:latin typeface="Arial"/>
                <a:cs typeface="Arial"/>
              </a:rPr>
              <a:t>.</a:t>
            </a:r>
            <a:r>
              <a:rPr sz="900" i="1" spc="75" dirty="0">
                <a:latin typeface="Georgia"/>
                <a:cs typeface="Georgia"/>
              </a:rPr>
              <a:t>z</a:t>
            </a:r>
            <a:r>
              <a:rPr sz="1200" spc="187" baseline="-13888" dirty="0">
                <a:latin typeface="Trebuchet MS"/>
                <a:cs typeface="Trebuchet MS"/>
              </a:rPr>
              <a:t>1</a:t>
            </a:r>
            <a:r>
              <a:rPr sz="1650" spc="-794" baseline="53030" dirty="0">
                <a:latin typeface="Arial"/>
                <a:cs typeface="Arial"/>
              </a:rPr>
              <a:t>..</a:t>
            </a:r>
            <a:r>
              <a:rPr sz="900" spc="-70" dirty="0">
                <a:latin typeface="Palatino Linotype"/>
                <a:cs typeface="Palatino Linotype"/>
              </a:rPr>
              <a:t>=</a:t>
            </a:r>
            <a:r>
              <a:rPr sz="1650" spc="-397" baseline="53030" dirty="0">
                <a:latin typeface="Arial"/>
                <a:cs typeface="Arial"/>
              </a:rPr>
              <a:t>,.</a:t>
            </a:r>
            <a:r>
              <a:rPr sz="900" spc="70" dirty="0">
                <a:latin typeface="Palatino Linotype"/>
                <a:cs typeface="Palatino Linotype"/>
              </a:rPr>
              <a:t>0</a:t>
            </a:r>
            <a:r>
              <a:rPr sz="900" i="1" spc="75" dirty="0">
                <a:latin typeface="Georgia"/>
                <a:cs typeface="Georgia"/>
              </a:rPr>
              <a:t>.</a:t>
            </a:r>
            <a:r>
              <a:rPr sz="900" spc="75" dirty="0">
                <a:latin typeface="Palatino Linotype"/>
                <a:cs typeface="Palatino Linotype"/>
              </a:rPr>
              <a:t>9</a:t>
            </a:r>
            <a:r>
              <a:rPr sz="1650" spc="112" baseline="53030" dirty="0">
                <a:latin typeface="Arial"/>
                <a:cs typeface="Arial"/>
              </a:rPr>
              <a:t>..</a:t>
            </a:r>
            <a:endParaRPr sz="1650" baseline="5303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0" dirty="0"/>
              <a:t>Check</a:t>
            </a:r>
            <a:r>
              <a:rPr spc="215" dirty="0"/>
              <a:t> </a:t>
            </a:r>
            <a:r>
              <a:rPr spc="50" dirty="0"/>
              <a:t>Yourself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061" y="491712"/>
            <a:ext cx="4803140" cy="2278380"/>
            <a:chOff x="129061" y="491712"/>
            <a:chExt cx="4803140" cy="2278380"/>
          </a:xfrm>
        </p:grpSpPr>
        <p:sp>
          <p:nvSpPr>
            <p:cNvPr id="4" name="object 4"/>
            <p:cNvSpPr/>
            <p:nvPr/>
          </p:nvSpPr>
          <p:spPr>
            <a:xfrm>
              <a:off x="129061" y="491712"/>
              <a:ext cx="4803140" cy="2278380"/>
            </a:xfrm>
            <a:custGeom>
              <a:avLst/>
              <a:gdLst/>
              <a:ahLst/>
              <a:cxnLst/>
              <a:rect l="l" t="t" r="r" b="b"/>
              <a:pathLst>
                <a:path w="4803140" h="2278380">
                  <a:moveTo>
                    <a:pt x="4733302" y="0"/>
                  </a:moveTo>
                  <a:lnTo>
                    <a:pt x="69583" y="0"/>
                  </a:lnTo>
                  <a:lnTo>
                    <a:pt x="29355" y="10872"/>
                  </a:lnTo>
                  <a:lnTo>
                    <a:pt x="8697" y="34791"/>
                  </a:lnTo>
                  <a:lnTo>
                    <a:pt x="1087" y="58710"/>
                  </a:lnTo>
                  <a:lnTo>
                    <a:pt x="0" y="69583"/>
                  </a:lnTo>
                  <a:lnTo>
                    <a:pt x="0" y="2208682"/>
                  </a:lnTo>
                  <a:lnTo>
                    <a:pt x="10872" y="2248910"/>
                  </a:lnTo>
                  <a:lnTo>
                    <a:pt x="34791" y="2269567"/>
                  </a:lnTo>
                  <a:lnTo>
                    <a:pt x="58710" y="2277178"/>
                  </a:lnTo>
                  <a:lnTo>
                    <a:pt x="69583" y="2278265"/>
                  </a:lnTo>
                  <a:lnTo>
                    <a:pt x="4733302" y="2278265"/>
                  </a:lnTo>
                  <a:lnTo>
                    <a:pt x="4773530" y="2267393"/>
                  </a:lnTo>
                  <a:lnTo>
                    <a:pt x="4794188" y="2243474"/>
                  </a:lnTo>
                  <a:lnTo>
                    <a:pt x="4801798" y="2219554"/>
                  </a:lnTo>
                  <a:lnTo>
                    <a:pt x="4802886" y="2208682"/>
                  </a:lnTo>
                  <a:lnTo>
                    <a:pt x="4802886" y="69583"/>
                  </a:lnTo>
                  <a:lnTo>
                    <a:pt x="4792013" y="29355"/>
                  </a:lnTo>
                  <a:lnTo>
                    <a:pt x="4768094" y="8697"/>
                  </a:lnTo>
                  <a:lnTo>
                    <a:pt x="4744175" y="1087"/>
                  </a:lnTo>
                  <a:lnTo>
                    <a:pt x="473330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02401" y="970714"/>
              <a:ext cx="69850" cy="0"/>
            </a:xfrm>
            <a:custGeom>
              <a:avLst/>
              <a:gdLst/>
              <a:ahLst/>
              <a:cxnLst/>
              <a:rect l="l" t="t" r="r" b="b"/>
              <a:pathLst>
                <a:path w="69850">
                  <a:moveTo>
                    <a:pt x="0" y="0"/>
                  </a:moveTo>
                  <a:lnTo>
                    <a:pt x="69596" y="0"/>
                  </a:lnTo>
                </a:path>
              </a:pathLst>
            </a:custGeom>
            <a:ln w="5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46944" y="970714"/>
              <a:ext cx="69850" cy="0"/>
            </a:xfrm>
            <a:custGeom>
              <a:avLst/>
              <a:gdLst/>
              <a:ahLst/>
              <a:cxnLst/>
              <a:rect l="l" t="t" r="r" b="b"/>
              <a:pathLst>
                <a:path w="69850">
                  <a:moveTo>
                    <a:pt x="0" y="0"/>
                  </a:moveTo>
                  <a:lnTo>
                    <a:pt x="69596" y="0"/>
                  </a:lnTo>
                </a:path>
              </a:pathLst>
            </a:custGeom>
            <a:ln w="5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42388" y="970714"/>
              <a:ext cx="69850" cy="0"/>
            </a:xfrm>
            <a:custGeom>
              <a:avLst/>
              <a:gdLst/>
              <a:ahLst/>
              <a:cxnLst/>
              <a:rect l="l" t="t" r="r" b="b"/>
              <a:pathLst>
                <a:path w="69850">
                  <a:moveTo>
                    <a:pt x="0" y="0"/>
                  </a:moveTo>
                  <a:lnTo>
                    <a:pt x="69596" y="0"/>
                  </a:lnTo>
                </a:path>
              </a:pathLst>
            </a:custGeom>
            <a:ln w="5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8095" y="1169028"/>
              <a:ext cx="4445000" cy="353060"/>
            </a:xfrm>
            <a:custGeom>
              <a:avLst/>
              <a:gdLst/>
              <a:ahLst/>
              <a:cxnLst/>
              <a:rect l="l" t="t" r="r" b="b"/>
              <a:pathLst>
                <a:path w="4445000" h="353059">
                  <a:moveTo>
                    <a:pt x="4375238" y="0"/>
                  </a:moveTo>
                  <a:lnTo>
                    <a:pt x="69583" y="0"/>
                  </a:lnTo>
                  <a:lnTo>
                    <a:pt x="29355" y="10874"/>
                  </a:lnTo>
                  <a:lnTo>
                    <a:pt x="8697" y="34797"/>
                  </a:lnTo>
                  <a:lnTo>
                    <a:pt x="1087" y="58721"/>
                  </a:lnTo>
                  <a:lnTo>
                    <a:pt x="0" y="69595"/>
                  </a:lnTo>
                  <a:lnTo>
                    <a:pt x="0" y="283425"/>
                  </a:lnTo>
                  <a:lnTo>
                    <a:pt x="10872" y="323653"/>
                  </a:lnTo>
                  <a:lnTo>
                    <a:pt x="34791" y="344311"/>
                  </a:lnTo>
                  <a:lnTo>
                    <a:pt x="58710" y="351921"/>
                  </a:lnTo>
                  <a:lnTo>
                    <a:pt x="69583" y="353009"/>
                  </a:lnTo>
                  <a:lnTo>
                    <a:pt x="4375238" y="353009"/>
                  </a:lnTo>
                  <a:lnTo>
                    <a:pt x="4415466" y="342136"/>
                  </a:lnTo>
                  <a:lnTo>
                    <a:pt x="4436124" y="318217"/>
                  </a:lnTo>
                  <a:lnTo>
                    <a:pt x="4443734" y="294298"/>
                  </a:lnTo>
                  <a:lnTo>
                    <a:pt x="4444822" y="283425"/>
                  </a:lnTo>
                  <a:lnTo>
                    <a:pt x="4444822" y="69595"/>
                  </a:lnTo>
                  <a:lnTo>
                    <a:pt x="4433949" y="29360"/>
                  </a:lnTo>
                  <a:lnTo>
                    <a:pt x="4410030" y="8699"/>
                  </a:lnTo>
                  <a:lnTo>
                    <a:pt x="4386111" y="1087"/>
                  </a:lnTo>
                  <a:lnTo>
                    <a:pt x="4375238" y="0"/>
                  </a:lnTo>
                  <a:close/>
                </a:path>
              </a:pathLst>
            </a:custGeom>
            <a:solidFill>
              <a:srgbClr val="B2FF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80161" y="479433"/>
            <a:ext cx="3591560" cy="963294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40"/>
              </a:spcBef>
            </a:pPr>
            <a:r>
              <a:rPr sz="1100" dirty="0">
                <a:latin typeface="Arial"/>
                <a:cs typeface="Arial"/>
              </a:rPr>
              <a:t>Consider</a:t>
            </a:r>
            <a:r>
              <a:rPr sz="1100" spc="25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54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system</a:t>
            </a:r>
            <a:r>
              <a:rPr sz="1100" spc="260" dirty="0">
                <a:latin typeface="Arial"/>
                <a:cs typeface="Arial"/>
              </a:rPr>
              <a:t> </a:t>
            </a:r>
            <a:r>
              <a:rPr sz="1100" spc="45" dirty="0">
                <a:latin typeface="Arial"/>
                <a:cs typeface="Arial"/>
              </a:rPr>
              <a:t>described</a:t>
            </a:r>
            <a:r>
              <a:rPr sz="1100" spc="254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by</a:t>
            </a:r>
            <a:endParaRPr sz="1100">
              <a:latin typeface="Arial"/>
              <a:cs typeface="Arial"/>
            </a:endParaRPr>
          </a:p>
          <a:p>
            <a:pPr marL="821690">
              <a:lnSpc>
                <a:spcPts val="1030"/>
              </a:lnSpc>
              <a:spcBef>
                <a:spcPts val="440"/>
              </a:spcBef>
              <a:tabLst>
                <a:tab pos="1566545" algn="l"/>
                <a:tab pos="2961640" algn="l"/>
              </a:tabLst>
            </a:pPr>
            <a:r>
              <a:rPr sz="1100" spc="-50" dirty="0">
                <a:latin typeface="Palatino Linotype"/>
                <a:cs typeface="Palatino Linotype"/>
              </a:rPr>
              <a:t>1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spc="-50" dirty="0">
                <a:latin typeface="Palatino Linotype"/>
                <a:cs typeface="Palatino Linotype"/>
              </a:rPr>
              <a:t>1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spc="-50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  <a:p>
            <a:pPr marL="278130">
              <a:lnSpc>
                <a:spcPts val="1030"/>
              </a:lnSpc>
            </a:pPr>
            <a:r>
              <a:rPr sz="1100" i="1" spc="-20" dirty="0">
                <a:latin typeface="Georgia"/>
                <a:cs typeface="Georgia"/>
              </a:rPr>
              <a:t>y</a:t>
            </a:r>
            <a:r>
              <a:rPr sz="1100" spc="-20" dirty="0">
                <a:latin typeface="Palatino Linotype"/>
                <a:cs typeface="Palatino Linotype"/>
              </a:rPr>
              <a:t>[</a:t>
            </a:r>
            <a:r>
              <a:rPr sz="1100" i="1" spc="-20" dirty="0">
                <a:latin typeface="Georgia"/>
                <a:cs typeface="Georgia"/>
              </a:rPr>
              <a:t>n</a:t>
            </a:r>
            <a:r>
              <a:rPr sz="1100" spc="-20" dirty="0">
                <a:latin typeface="Palatino Linotype"/>
                <a:cs typeface="Palatino Linotype"/>
              </a:rPr>
              <a:t>]</a:t>
            </a:r>
            <a:r>
              <a:rPr sz="1100" spc="2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25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160" dirty="0">
                <a:latin typeface="Times New Roman"/>
                <a:cs typeface="Times New Roman"/>
              </a:rPr>
              <a:t> </a:t>
            </a:r>
            <a:r>
              <a:rPr sz="1650" spc="-15" baseline="-37878" dirty="0">
                <a:latin typeface="Palatino Linotype"/>
                <a:cs typeface="Palatino Linotype"/>
              </a:rPr>
              <a:t>4</a:t>
            </a:r>
            <a:r>
              <a:rPr sz="1650" spc="-240" baseline="-37878" dirty="0">
                <a:latin typeface="Palatino Linotype"/>
                <a:cs typeface="Palatino Linotype"/>
              </a:rPr>
              <a:t> </a:t>
            </a:r>
            <a:r>
              <a:rPr sz="1100" i="1" spc="-35" dirty="0">
                <a:latin typeface="Georgia"/>
                <a:cs typeface="Georgia"/>
              </a:rPr>
              <a:t>y</a:t>
            </a:r>
            <a:r>
              <a:rPr sz="1100" spc="-35" dirty="0">
                <a:latin typeface="Palatino Linotype"/>
                <a:cs typeface="Palatino Linotype"/>
              </a:rPr>
              <a:t>[</a:t>
            </a:r>
            <a:r>
              <a:rPr sz="1100" i="1" spc="-35" dirty="0">
                <a:latin typeface="Georgia"/>
                <a:cs typeface="Georgia"/>
              </a:rPr>
              <a:t>n</a:t>
            </a:r>
            <a:r>
              <a:rPr sz="1100" i="1" spc="-25" dirty="0">
                <a:latin typeface="Georgia"/>
                <a:cs typeface="Georgia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Palatino Linotype"/>
                <a:cs typeface="Palatino Linotype"/>
              </a:rPr>
              <a:t>1]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85" dirty="0">
                <a:latin typeface="Palatino Linotype"/>
                <a:cs typeface="Palatino Linotype"/>
              </a:rPr>
              <a:t> </a:t>
            </a:r>
            <a:r>
              <a:rPr sz="1650" spc="-15" baseline="-37878" dirty="0">
                <a:latin typeface="Palatino Linotype"/>
                <a:cs typeface="Palatino Linotype"/>
              </a:rPr>
              <a:t>8</a:t>
            </a:r>
            <a:r>
              <a:rPr sz="1650" spc="-240" baseline="-37878" dirty="0">
                <a:latin typeface="Palatino Linotype"/>
                <a:cs typeface="Palatino Linotype"/>
              </a:rPr>
              <a:t> </a:t>
            </a:r>
            <a:r>
              <a:rPr sz="1100" i="1" spc="-35" dirty="0">
                <a:latin typeface="Georgia"/>
                <a:cs typeface="Georgia"/>
              </a:rPr>
              <a:t>y</a:t>
            </a:r>
            <a:r>
              <a:rPr sz="1100" spc="-35" dirty="0">
                <a:latin typeface="Palatino Linotype"/>
                <a:cs typeface="Palatino Linotype"/>
              </a:rPr>
              <a:t>[</a:t>
            </a:r>
            <a:r>
              <a:rPr sz="1100" i="1" spc="-35" dirty="0">
                <a:latin typeface="Georgia"/>
                <a:cs typeface="Georgia"/>
              </a:rPr>
              <a:t>n</a:t>
            </a:r>
            <a:r>
              <a:rPr sz="1100" i="1" spc="-25" dirty="0">
                <a:latin typeface="Georgia"/>
                <a:cs typeface="Georgia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Palatino Linotype"/>
                <a:cs typeface="Palatino Linotype"/>
              </a:rPr>
              <a:t>2]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x</a:t>
            </a:r>
            <a:r>
              <a:rPr sz="1100" dirty="0">
                <a:latin typeface="Palatino Linotype"/>
                <a:cs typeface="Palatino Linotype"/>
              </a:rPr>
              <a:t>[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i="1" spc="-25" dirty="0">
                <a:latin typeface="Georgia"/>
                <a:cs typeface="Georgia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Palatino Linotype"/>
                <a:cs typeface="Palatino Linotype"/>
              </a:rPr>
              <a:t>1]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85" dirty="0">
                <a:latin typeface="Times New Roman"/>
                <a:cs typeface="Times New Roman"/>
              </a:rPr>
              <a:t> </a:t>
            </a:r>
            <a:r>
              <a:rPr sz="1650" spc="-15" baseline="-37878" dirty="0">
                <a:latin typeface="Palatino Linotype"/>
                <a:cs typeface="Palatino Linotype"/>
              </a:rPr>
              <a:t>2</a:t>
            </a:r>
            <a:r>
              <a:rPr sz="1650" spc="-232" baseline="-37878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x</a:t>
            </a:r>
            <a:r>
              <a:rPr sz="1100" dirty="0">
                <a:latin typeface="Palatino Linotype"/>
                <a:cs typeface="Palatino Linotype"/>
              </a:rPr>
              <a:t>[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i="1" spc="-25" dirty="0">
                <a:latin typeface="Georgia"/>
                <a:cs typeface="Georgia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Palatino Linotype"/>
                <a:cs typeface="Palatino Linotype"/>
              </a:rPr>
              <a:t>2]</a:t>
            </a:r>
            <a:endParaRPr sz="11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100">
              <a:latin typeface="Palatino Linotype"/>
              <a:cs typeface="Palatino Linotype"/>
            </a:endParaRPr>
          </a:p>
          <a:p>
            <a:pPr marL="203835">
              <a:lnSpc>
                <a:spcPct val="100000"/>
              </a:lnSpc>
            </a:pPr>
            <a:r>
              <a:rPr sz="1100" spc="75" dirty="0">
                <a:latin typeface="Arial"/>
                <a:cs typeface="Arial"/>
              </a:rPr>
              <a:t>How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many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following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true?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8095" y="1169028"/>
            <a:ext cx="4445000" cy="353060"/>
          </a:xfrm>
          <a:custGeom>
            <a:avLst/>
            <a:gdLst/>
            <a:ahLst/>
            <a:cxnLst/>
            <a:rect l="l" t="t" r="r" b="b"/>
            <a:pathLst>
              <a:path w="4445000" h="353059">
                <a:moveTo>
                  <a:pt x="69583" y="353009"/>
                </a:moveTo>
                <a:lnTo>
                  <a:pt x="4375238" y="353009"/>
                </a:lnTo>
                <a:lnTo>
                  <a:pt x="4415466" y="342136"/>
                </a:lnTo>
                <a:lnTo>
                  <a:pt x="4436124" y="318217"/>
                </a:lnTo>
                <a:lnTo>
                  <a:pt x="4443734" y="294298"/>
                </a:lnTo>
                <a:lnTo>
                  <a:pt x="4444822" y="283425"/>
                </a:lnTo>
                <a:lnTo>
                  <a:pt x="4444822" y="69595"/>
                </a:lnTo>
                <a:lnTo>
                  <a:pt x="4433949" y="29360"/>
                </a:lnTo>
                <a:lnTo>
                  <a:pt x="4410030" y="8699"/>
                </a:lnTo>
                <a:lnTo>
                  <a:pt x="4386111" y="1087"/>
                </a:lnTo>
                <a:lnTo>
                  <a:pt x="4375238" y="0"/>
                </a:lnTo>
                <a:lnTo>
                  <a:pt x="69583" y="0"/>
                </a:lnTo>
                <a:lnTo>
                  <a:pt x="29355" y="10874"/>
                </a:lnTo>
                <a:lnTo>
                  <a:pt x="8697" y="34797"/>
                </a:lnTo>
                <a:lnTo>
                  <a:pt x="1087" y="58721"/>
                </a:lnTo>
                <a:lnTo>
                  <a:pt x="0" y="69595"/>
                </a:lnTo>
                <a:lnTo>
                  <a:pt x="0" y="283425"/>
                </a:lnTo>
                <a:lnTo>
                  <a:pt x="10872" y="323653"/>
                </a:lnTo>
                <a:lnTo>
                  <a:pt x="34791" y="344311"/>
                </a:lnTo>
                <a:lnTo>
                  <a:pt x="58710" y="351921"/>
                </a:lnTo>
                <a:lnTo>
                  <a:pt x="69583" y="353009"/>
                </a:lnTo>
                <a:close/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200770" y="1924545"/>
            <a:ext cx="8013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29615" algn="l"/>
              </a:tabLst>
            </a:pPr>
            <a:r>
              <a:rPr sz="900" spc="-50" dirty="0">
                <a:latin typeface="Palatino Linotype"/>
                <a:cs typeface="Palatino Linotype"/>
              </a:rPr>
              <a:t>2</a:t>
            </a:r>
            <a:r>
              <a:rPr sz="900" dirty="0">
                <a:latin typeface="Palatino Linotype"/>
                <a:cs typeface="Palatino Linotype"/>
              </a:rPr>
              <a:t>	</a:t>
            </a:r>
            <a:r>
              <a:rPr sz="900" spc="-50" dirty="0">
                <a:latin typeface="Palatino Linotype"/>
                <a:cs typeface="Palatino Linotype"/>
              </a:rPr>
              <a:t>4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66950" y="2127516"/>
            <a:ext cx="844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2033" y="1612373"/>
            <a:ext cx="3589654" cy="104013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21945" indent="-258445">
              <a:lnSpc>
                <a:spcPct val="100000"/>
              </a:lnSpc>
              <a:spcBef>
                <a:spcPts val="375"/>
              </a:spcBef>
              <a:buAutoNum type="arabicPeriod"/>
              <a:tabLst>
                <a:tab pos="321945" algn="l"/>
              </a:tabLst>
            </a:pPr>
            <a:r>
              <a:rPr sz="1100" spc="120" dirty="0">
                <a:latin typeface="Arial"/>
                <a:cs typeface="Arial"/>
              </a:rPr>
              <a:t>The</a:t>
            </a:r>
            <a:r>
              <a:rPr sz="1100" spc="295" dirty="0">
                <a:latin typeface="Arial"/>
                <a:cs typeface="Arial"/>
              </a:rPr>
              <a:t> </a:t>
            </a:r>
            <a:r>
              <a:rPr sz="1100" spc="95" dirty="0">
                <a:latin typeface="Arial"/>
                <a:cs typeface="Arial"/>
              </a:rPr>
              <a:t>unit</a:t>
            </a:r>
            <a:r>
              <a:rPr sz="1100" spc="29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sample</a:t>
            </a:r>
            <a:r>
              <a:rPr sz="1100" spc="29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response</a:t>
            </a:r>
            <a:r>
              <a:rPr sz="1100" spc="3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converges</a:t>
            </a:r>
            <a:r>
              <a:rPr sz="1100" spc="295" dirty="0">
                <a:latin typeface="Arial"/>
                <a:cs typeface="Arial"/>
              </a:rPr>
              <a:t> </a:t>
            </a:r>
            <a:r>
              <a:rPr sz="1100" spc="130" dirty="0">
                <a:latin typeface="Arial"/>
                <a:cs typeface="Arial"/>
              </a:rPr>
              <a:t>to</a:t>
            </a:r>
            <a:r>
              <a:rPr sz="1100" spc="295" dirty="0">
                <a:latin typeface="Arial"/>
                <a:cs typeface="Arial"/>
              </a:rPr>
              <a:t> </a:t>
            </a:r>
            <a:r>
              <a:rPr sz="1100" spc="40" dirty="0">
                <a:latin typeface="Arial"/>
                <a:cs typeface="Arial"/>
              </a:rPr>
              <a:t>zero.</a:t>
            </a:r>
            <a:endParaRPr sz="1100">
              <a:latin typeface="Arial"/>
              <a:cs typeface="Arial"/>
            </a:endParaRPr>
          </a:p>
          <a:p>
            <a:pPr marL="321945" indent="-258445">
              <a:lnSpc>
                <a:spcPct val="100000"/>
              </a:lnSpc>
              <a:spcBef>
                <a:spcPts val="280"/>
              </a:spcBef>
              <a:buAutoNum type="arabicPeriod"/>
              <a:tabLst>
                <a:tab pos="321945" algn="l"/>
              </a:tabLst>
            </a:pPr>
            <a:r>
              <a:rPr sz="1100" spc="90" dirty="0">
                <a:latin typeface="Arial"/>
                <a:cs typeface="Arial"/>
              </a:rPr>
              <a:t>There</a:t>
            </a:r>
            <a:r>
              <a:rPr sz="1100" spc="18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18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poles</a:t>
            </a:r>
            <a:r>
              <a:rPr sz="1100" spc="180" dirty="0">
                <a:latin typeface="Arial"/>
                <a:cs typeface="Arial"/>
              </a:rPr>
              <a:t> </a:t>
            </a:r>
            <a:r>
              <a:rPr sz="1100" spc="110" dirty="0">
                <a:latin typeface="Arial"/>
                <a:cs typeface="Arial"/>
              </a:rPr>
              <a:t>at</a:t>
            </a:r>
            <a:r>
              <a:rPr sz="1100" spc="185" dirty="0">
                <a:latin typeface="Arial"/>
                <a:cs typeface="Arial"/>
              </a:rPr>
              <a:t> </a:t>
            </a:r>
            <a:r>
              <a:rPr sz="1100" i="1" dirty="0">
                <a:latin typeface="Georgia"/>
                <a:cs typeface="Georgia"/>
              </a:rPr>
              <a:t>z</a:t>
            </a:r>
            <a:r>
              <a:rPr sz="1100" i="1" spc="110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180" dirty="0">
                <a:latin typeface="Palatino Linotype"/>
                <a:cs typeface="Palatino Linotype"/>
              </a:rPr>
              <a:t> </a:t>
            </a:r>
            <a:r>
              <a:rPr sz="1350" u="sng" baseline="27777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1350" spc="592" baseline="27777" dirty="0">
                <a:latin typeface="Palatino Linotype"/>
                <a:cs typeface="Palatino Linotype"/>
              </a:rPr>
              <a:t> </a:t>
            </a:r>
            <a:r>
              <a:rPr sz="1100" spc="55" dirty="0">
                <a:latin typeface="Arial"/>
                <a:cs typeface="Arial"/>
              </a:rPr>
              <a:t>and</a:t>
            </a:r>
            <a:r>
              <a:rPr sz="1100" spc="180" dirty="0">
                <a:latin typeface="Arial"/>
                <a:cs typeface="Arial"/>
              </a:rPr>
              <a:t> </a:t>
            </a:r>
            <a:r>
              <a:rPr sz="1100" i="1" dirty="0">
                <a:latin typeface="Georgia"/>
                <a:cs typeface="Georgia"/>
              </a:rPr>
              <a:t>z</a:t>
            </a:r>
            <a:r>
              <a:rPr sz="1100" i="1" spc="114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175" dirty="0">
                <a:latin typeface="Palatino Linotype"/>
                <a:cs typeface="Palatino Linotype"/>
              </a:rPr>
              <a:t> </a:t>
            </a:r>
            <a:r>
              <a:rPr sz="1350" u="sng" baseline="27777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1350" spc="-150" baseline="27777" dirty="0">
                <a:latin typeface="Palatino Linotype"/>
                <a:cs typeface="Palatino Linotype"/>
              </a:rPr>
              <a:t> </a:t>
            </a:r>
            <a:r>
              <a:rPr sz="1100" spc="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21945" indent="-258445">
              <a:lnSpc>
                <a:spcPct val="100000"/>
              </a:lnSpc>
              <a:spcBef>
                <a:spcPts val="280"/>
              </a:spcBef>
              <a:buAutoNum type="arabicPeriod"/>
              <a:tabLst>
                <a:tab pos="321945" algn="l"/>
              </a:tabLst>
            </a:pPr>
            <a:r>
              <a:rPr sz="1100" spc="90" dirty="0">
                <a:latin typeface="Arial"/>
                <a:cs typeface="Arial"/>
              </a:rPr>
              <a:t>There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pole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110" dirty="0">
                <a:latin typeface="Arial"/>
                <a:cs typeface="Arial"/>
              </a:rPr>
              <a:t>at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i="1" dirty="0">
                <a:latin typeface="Georgia"/>
                <a:cs typeface="Georgia"/>
              </a:rPr>
              <a:t>z</a:t>
            </a:r>
            <a:r>
              <a:rPr sz="1100" i="1" spc="100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160" dirty="0">
                <a:latin typeface="Palatino Linotype"/>
                <a:cs typeface="Palatino Linotype"/>
              </a:rPr>
              <a:t> </a:t>
            </a:r>
            <a:r>
              <a:rPr sz="1350" u="sng" baseline="27777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1350" spc="-165" baseline="27777" dirty="0">
                <a:latin typeface="Palatino Linotype"/>
                <a:cs typeface="Palatino Linotype"/>
              </a:rPr>
              <a:t> </a:t>
            </a:r>
            <a:r>
              <a:rPr sz="1100" spc="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21945" indent="-258445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321945" algn="l"/>
              </a:tabLst>
            </a:pPr>
            <a:r>
              <a:rPr sz="1100" spc="90" dirty="0">
                <a:latin typeface="Arial"/>
                <a:cs typeface="Arial"/>
              </a:rPr>
              <a:t>There</a:t>
            </a:r>
            <a:r>
              <a:rPr sz="1100" spc="18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180" dirty="0">
                <a:latin typeface="Arial"/>
                <a:cs typeface="Arial"/>
              </a:rPr>
              <a:t> </a:t>
            </a:r>
            <a:r>
              <a:rPr sz="1100" spc="95" dirty="0">
                <a:latin typeface="Arial"/>
                <a:cs typeface="Arial"/>
              </a:rPr>
              <a:t>two</a:t>
            </a:r>
            <a:r>
              <a:rPr sz="1100" spc="18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poles.</a:t>
            </a:r>
            <a:endParaRPr sz="1100">
              <a:latin typeface="Arial"/>
              <a:cs typeface="Arial"/>
            </a:endParaRPr>
          </a:p>
          <a:p>
            <a:pPr marL="321945" indent="-258445">
              <a:lnSpc>
                <a:spcPct val="100000"/>
              </a:lnSpc>
              <a:spcBef>
                <a:spcPts val="280"/>
              </a:spcBef>
              <a:buAutoNum type="arabicPeriod"/>
              <a:tabLst>
                <a:tab pos="321945" algn="l"/>
              </a:tabLst>
            </a:pPr>
            <a:r>
              <a:rPr sz="1100" spc="50" dirty="0">
                <a:latin typeface="Arial"/>
                <a:cs typeface="Arial"/>
              </a:rPr>
              <a:t>None</a:t>
            </a:r>
            <a:r>
              <a:rPr sz="1100" spc="15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spc="30" dirty="0">
                <a:latin typeface="Arial"/>
                <a:cs typeface="Arial"/>
              </a:rPr>
              <a:t>above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9061" y="491710"/>
            <a:ext cx="4803140" cy="2278380"/>
          </a:xfrm>
          <a:custGeom>
            <a:avLst/>
            <a:gdLst/>
            <a:ahLst/>
            <a:cxnLst/>
            <a:rect l="l" t="t" r="r" b="b"/>
            <a:pathLst>
              <a:path w="4803140" h="2278380">
                <a:moveTo>
                  <a:pt x="69583" y="2278265"/>
                </a:moveTo>
                <a:lnTo>
                  <a:pt x="4733302" y="2278265"/>
                </a:lnTo>
                <a:lnTo>
                  <a:pt x="4773530" y="2267393"/>
                </a:lnTo>
                <a:lnTo>
                  <a:pt x="4794188" y="2243474"/>
                </a:lnTo>
                <a:lnTo>
                  <a:pt x="4801798" y="2219554"/>
                </a:lnTo>
                <a:lnTo>
                  <a:pt x="4802886" y="2208682"/>
                </a:lnTo>
                <a:lnTo>
                  <a:pt x="4802886" y="69583"/>
                </a:lnTo>
                <a:lnTo>
                  <a:pt x="4792013" y="29355"/>
                </a:lnTo>
                <a:lnTo>
                  <a:pt x="4768094" y="8697"/>
                </a:lnTo>
                <a:lnTo>
                  <a:pt x="4744175" y="1087"/>
                </a:lnTo>
                <a:lnTo>
                  <a:pt x="4733302" y="0"/>
                </a:lnTo>
                <a:lnTo>
                  <a:pt x="69583" y="0"/>
                </a:lnTo>
                <a:lnTo>
                  <a:pt x="29355" y="10872"/>
                </a:lnTo>
                <a:lnTo>
                  <a:pt x="8697" y="34791"/>
                </a:lnTo>
                <a:lnTo>
                  <a:pt x="1087" y="58710"/>
                </a:lnTo>
                <a:lnTo>
                  <a:pt x="0" y="69583"/>
                </a:lnTo>
                <a:lnTo>
                  <a:pt x="0" y="2208682"/>
                </a:lnTo>
                <a:lnTo>
                  <a:pt x="10872" y="2248910"/>
                </a:lnTo>
                <a:lnTo>
                  <a:pt x="34791" y="2269567"/>
                </a:lnTo>
                <a:lnTo>
                  <a:pt x="58710" y="2277178"/>
                </a:lnTo>
                <a:lnTo>
                  <a:pt x="69583" y="2278265"/>
                </a:lnTo>
                <a:close/>
              </a:path>
            </a:pathLst>
          </a:custGeom>
          <a:ln w="505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1D24765C-E7AE-95BE-7D14-1CD300AEF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07A6D03-4E35-D3E7-AB06-003F5B187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85" y="271119"/>
            <a:ext cx="4851330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7963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822C9-BD1B-6FEA-7ECA-7E089D066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33156-A497-428F-4BE7-DF2BC20BB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E1C01A-0871-E4A8-4178-190ABCA6A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384"/>
            <a:ext cx="5067300" cy="373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7449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0" dirty="0"/>
              <a:t>Check</a:t>
            </a:r>
            <a:r>
              <a:rPr spc="215" dirty="0"/>
              <a:t> </a:t>
            </a:r>
            <a:r>
              <a:rPr spc="50" dirty="0"/>
              <a:t>Yourself</a:t>
            </a:r>
          </a:p>
        </p:txBody>
      </p:sp>
      <p:sp>
        <p:nvSpPr>
          <p:cNvPr id="3" name="object 3"/>
          <p:cNvSpPr/>
          <p:nvPr/>
        </p:nvSpPr>
        <p:spPr>
          <a:xfrm>
            <a:off x="129061" y="491712"/>
            <a:ext cx="4803140" cy="2278380"/>
          </a:xfrm>
          <a:custGeom>
            <a:avLst/>
            <a:gdLst/>
            <a:ahLst/>
            <a:cxnLst/>
            <a:rect l="l" t="t" r="r" b="b"/>
            <a:pathLst>
              <a:path w="4803140" h="2278380">
                <a:moveTo>
                  <a:pt x="4733302" y="0"/>
                </a:moveTo>
                <a:lnTo>
                  <a:pt x="69583" y="0"/>
                </a:lnTo>
                <a:lnTo>
                  <a:pt x="29355" y="10872"/>
                </a:lnTo>
                <a:lnTo>
                  <a:pt x="8697" y="34791"/>
                </a:lnTo>
                <a:lnTo>
                  <a:pt x="1087" y="58710"/>
                </a:lnTo>
                <a:lnTo>
                  <a:pt x="0" y="69583"/>
                </a:lnTo>
                <a:lnTo>
                  <a:pt x="0" y="2208682"/>
                </a:lnTo>
                <a:lnTo>
                  <a:pt x="10872" y="2248910"/>
                </a:lnTo>
                <a:lnTo>
                  <a:pt x="34791" y="2269567"/>
                </a:lnTo>
                <a:lnTo>
                  <a:pt x="58710" y="2277178"/>
                </a:lnTo>
                <a:lnTo>
                  <a:pt x="69583" y="2278265"/>
                </a:lnTo>
                <a:lnTo>
                  <a:pt x="4733302" y="2278265"/>
                </a:lnTo>
                <a:lnTo>
                  <a:pt x="4773530" y="2267393"/>
                </a:lnTo>
                <a:lnTo>
                  <a:pt x="4794188" y="2243474"/>
                </a:lnTo>
                <a:lnTo>
                  <a:pt x="4801798" y="2219554"/>
                </a:lnTo>
                <a:lnTo>
                  <a:pt x="4802886" y="2208682"/>
                </a:lnTo>
                <a:lnTo>
                  <a:pt x="4802886" y="69583"/>
                </a:lnTo>
                <a:lnTo>
                  <a:pt x="4792013" y="29355"/>
                </a:lnTo>
                <a:lnTo>
                  <a:pt x="4768094" y="8697"/>
                </a:lnTo>
                <a:lnTo>
                  <a:pt x="4744175" y="1087"/>
                </a:lnTo>
                <a:lnTo>
                  <a:pt x="473330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2861" y="535939"/>
            <a:ext cx="24041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Arial"/>
                <a:cs typeface="Arial"/>
              </a:rPr>
              <a:t>Consider</a:t>
            </a:r>
            <a:r>
              <a:rPr sz="1100" spc="25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54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system</a:t>
            </a:r>
            <a:r>
              <a:rPr sz="1100" spc="260" dirty="0">
                <a:latin typeface="Arial"/>
                <a:cs typeface="Arial"/>
              </a:rPr>
              <a:t> </a:t>
            </a:r>
            <a:r>
              <a:rPr sz="1100" spc="45" dirty="0">
                <a:latin typeface="Arial"/>
                <a:cs typeface="Arial"/>
              </a:rPr>
              <a:t>described</a:t>
            </a:r>
            <a:r>
              <a:rPr sz="1100" spc="254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by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5555" y="967856"/>
            <a:ext cx="4450080" cy="556895"/>
            <a:chOff x="305555" y="967856"/>
            <a:chExt cx="4450080" cy="556895"/>
          </a:xfrm>
        </p:grpSpPr>
        <p:sp>
          <p:nvSpPr>
            <p:cNvPr id="6" name="object 6"/>
            <p:cNvSpPr/>
            <p:nvPr/>
          </p:nvSpPr>
          <p:spPr>
            <a:xfrm>
              <a:off x="1102401" y="970714"/>
              <a:ext cx="69850" cy="0"/>
            </a:xfrm>
            <a:custGeom>
              <a:avLst/>
              <a:gdLst/>
              <a:ahLst/>
              <a:cxnLst/>
              <a:rect l="l" t="t" r="r" b="b"/>
              <a:pathLst>
                <a:path w="69850">
                  <a:moveTo>
                    <a:pt x="0" y="0"/>
                  </a:moveTo>
                  <a:lnTo>
                    <a:pt x="69596" y="0"/>
                  </a:lnTo>
                </a:path>
              </a:pathLst>
            </a:custGeom>
            <a:ln w="5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46944" y="970714"/>
              <a:ext cx="69850" cy="0"/>
            </a:xfrm>
            <a:custGeom>
              <a:avLst/>
              <a:gdLst/>
              <a:ahLst/>
              <a:cxnLst/>
              <a:rect l="l" t="t" r="r" b="b"/>
              <a:pathLst>
                <a:path w="69850">
                  <a:moveTo>
                    <a:pt x="0" y="0"/>
                  </a:moveTo>
                  <a:lnTo>
                    <a:pt x="69596" y="0"/>
                  </a:lnTo>
                </a:path>
              </a:pathLst>
            </a:custGeom>
            <a:ln w="5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42388" y="970714"/>
              <a:ext cx="69850" cy="0"/>
            </a:xfrm>
            <a:custGeom>
              <a:avLst/>
              <a:gdLst/>
              <a:ahLst/>
              <a:cxnLst/>
              <a:rect l="l" t="t" r="r" b="b"/>
              <a:pathLst>
                <a:path w="69850">
                  <a:moveTo>
                    <a:pt x="0" y="0"/>
                  </a:moveTo>
                  <a:lnTo>
                    <a:pt x="69596" y="0"/>
                  </a:lnTo>
                </a:path>
              </a:pathLst>
            </a:custGeom>
            <a:ln w="5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8095" y="1169028"/>
              <a:ext cx="4445000" cy="353060"/>
            </a:xfrm>
            <a:custGeom>
              <a:avLst/>
              <a:gdLst/>
              <a:ahLst/>
              <a:cxnLst/>
              <a:rect l="l" t="t" r="r" b="b"/>
              <a:pathLst>
                <a:path w="4445000" h="353059">
                  <a:moveTo>
                    <a:pt x="4375238" y="0"/>
                  </a:moveTo>
                  <a:lnTo>
                    <a:pt x="69583" y="0"/>
                  </a:lnTo>
                  <a:lnTo>
                    <a:pt x="29355" y="10874"/>
                  </a:lnTo>
                  <a:lnTo>
                    <a:pt x="8697" y="34797"/>
                  </a:lnTo>
                  <a:lnTo>
                    <a:pt x="1087" y="58721"/>
                  </a:lnTo>
                  <a:lnTo>
                    <a:pt x="0" y="69595"/>
                  </a:lnTo>
                  <a:lnTo>
                    <a:pt x="0" y="283425"/>
                  </a:lnTo>
                  <a:lnTo>
                    <a:pt x="10872" y="323653"/>
                  </a:lnTo>
                  <a:lnTo>
                    <a:pt x="34791" y="344311"/>
                  </a:lnTo>
                  <a:lnTo>
                    <a:pt x="58710" y="351921"/>
                  </a:lnTo>
                  <a:lnTo>
                    <a:pt x="69583" y="353009"/>
                  </a:lnTo>
                  <a:lnTo>
                    <a:pt x="4375238" y="353009"/>
                  </a:lnTo>
                  <a:lnTo>
                    <a:pt x="4415466" y="342136"/>
                  </a:lnTo>
                  <a:lnTo>
                    <a:pt x="4436124" y="318217"/>
                  </a:lnTo>
                  <a:lnTo>
                    <a:pt x="4443734" y="294298"/>
                  </a:lnTo>
                  <a:lnTo>
                    <a:pt x="4444822" y="283425"/>
                  </a:lnTo>
                  <a:lnTo>
                    <a:pt x="4444822" y="69595"/>
                  </a:lnTo>
                  <a:lnTo>
                    <a:pt x="4433949" y="29360"/>
                  </a:lnTo>
                  <a:lnTo>
                    <a:pt x="4410030" y="8699"/>
                  </a:lnTo>
                  <a:lnTo>
                    <a:pt x="4386111" y="1087"/>
                  </a:lnTo>
                  <a:lnTo>
                    <a:pt x="4375238" y="0"/>
                  </a:lnTo>
                  <a:close/>
                </a:path>
              </a:pathLst>
            </a:custGeom>
            <a:solidFill>
              <a:srgbClr val="B2FF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8095" y="1169028"/>
              <a:ext cx="4445000" cy="353060"/>
            </a:xfrm>
            <a:custGeom>
              <a:avLst/>
              <a:gdLst/>
              <a:ahLst/>
              <a:cxnLst/>
              <a:rect l="l" t="t" r="r" b="b"/>
              <a:pathLst>
                <a:path w="4445000" h="353059">
                  <a:moveTo>
                    <a:pt x="69583" y="353009"/>
                  </a:moveTo>
                  <a:lnTo>
                    <a:pt x="4375238" y="353009"/>
                  </a:lnTo>
                  <a:lnTo>
                    <a:pt x="4415466" y="342136"/>
                  </a:lnTo>
                  <a:lnTo>
                    <a:pt x="4436124" y="318217"/>
                  </a:lnTo>
                  <a:lnTo>
                    <a:pt x="4443734" y="294298"/>
                  </a:lnTo>
                  <a:lnTo>
                    <a:pt x="4444822" y="283425"/>
                  </a:lnTo>
                  <a:lnTo>
                    <a:pt x="4444822" y="69595"/>
                  </a:lnTo>
                  <a:lnTo>
                    <a:pt x="4433949" y="29360"/>
                  </a:lnTo>
                  <a:lnTo>
                    <a:pt x="4410030" y="8699"/>
                  </a:lnTo>
                  <a:lnTo>
                    <a:pt x="4386111" y="1087"/>
                  </a:lnTo>
                  <a:lnTo>
                    <a:pt x="4375238" y="0"/>
                  </a:lnTo>
                  <a:lnTo>
                    <a:pt x="69583" y="0"/>
                  </a:lnTo>
                  <a:lnTo>
                    <a:pt x="29355" y="10874"/>
                  </a:lnTo>
                  <a:lnTo>
                    <a:pt x="8697" y="34797"/>
                  </a:lnTo>
                  <a:lnTo>
                    <a:pt x="1087" y="58721"/>
                  </a:lnTo>
                  <a:lnTo>
                    <a:pt x="0" y="69595"/>
                  </a:lnTo>
                  <a:lnTo>
                    <a:pt x="0" y="283425"/>
                  </a:lnTo>
                  <a:lnTo>
                    <a:pt x="10872" y="323653"/>
                  </a:lnTo>
                  <a:lnTo>
                    <a:pt x="34791" y="344311"/>
                  </a:lnTo>
                  <a:lnTo>
                    <a:pt x="58710" y="351921"/>
                  </a:lnTo>
                  <a:lnTo>
                    <a:pt x="69583" y="353009"/>
                  </a:lnTo>
                  <a:close/>
                </a:path>
              </a:pathLst>
            </a:custGeom>
            <a:ln w="505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200770" y="1924545"/>
            <a:ext cx="8013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29615" algn="l"/>
              </a:tabLst>
            </a:pPr>
            <a:r>
              <a:rPr sz="900" spc="-50" dirty="0">
                <a:latin typeface="Palatino Linotype"/>
                <a:cs typeface="Palatino Linotype"/>
              </a:rPr>
              <a:t>2</a:t>
            </a:r>
            <a:r>
              <a:rPr sz="900" dirty="0">
                <a:latin typeface="Palatino Linotype"/>
                <a:cs typeface="Palatino Linotype"/>
              </a:rPr>
              <a:t>	</a:t>
            </a:r>
            <a:r>
              <a:rPr sz="900" spc="-50" dirty="0">
                <a:latin typeface="Palatino Linotype"/>
                <a:cs typeface="Palatino Linotype"/>
              </a:rPr>
              <a:t>4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66950" y="2127516"/>
            <a:ext cx="844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9333" y="759461"/>
            <a:ext cx="3705860" cy="1893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72490">
              <a:lnSpc>
                <a:spcPts val="1030"/>
              </a:lnSpc>
              <a:spcBef>
                <a:spcPts val="95"/>
              </a:spcBef>
              <a:tabLst>
                <a:tab pos="1617345" algn="l"/>
                <a:tab pos="3012440" algn="l"/>
              </a:tabLst>
            </a:pPr>
            <a:r>
              <a:rPr sz="1100" spc="-50" dirty="0">
                <a:latin typeface="Palatino Linotype"/>
                <a:cs typeface="Palatino Linotype"/>
              </a:rPr>
              <a:t>1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spc="-50" dirty="0">
                <a:latin typeface="Palatino Linotype"/>
                <a:cs typeface="Palatino Linotype"/>
              </a:rPr>
              <a:t>1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spc="-50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  <a:p>
            <a:pPr marL="328930">
              <a:lnSpc>
                <a:spcPts val="1030"/>
              </a:lnSpc>
            </a:pPr>
            <a:r>
              <a:rPr sz="1100" i="1" spc="-20" dirty="0">
                <a:latin typeface="Georgia"/>
                <a:cs typeface="Georgia"/>
              </a:rPr>
              <a:t>y</a:t>
            </a:r>
            <a:r>
              <a:rPr sz="1100" spc="-20" dirty="0">
                <a:latin typeface="Palatino Linotype"/>
                <a:cs typeface="Palatino Linotype"/>
              </a:rPr>
              <a:t>[</a:t>
            </a:r>
            <a:r>
              <a:rPr sz="1100" i="1" spc="-20" dirty="0">
                <a:latin typeface="Georgia"/>
                <a:cs typeface="Georgia"/>
              </a:rPr>
              <a:t>n</a:t>
            </a:r>
            <a:r>
              <a:rPr sz="1100" spc="-20" dirty="0">
                <a:latin typeface="Palatino Linotype"/>
                <a:cs typeface="Palatino Linotype"/>
              </a:rPr>
              <a:t>]</a:t>
            </a:r>
            <a:r>
              <a:rPr sz="1100" spc="2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25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160" dirty="0">
                <a:latin typeface="Times New Roman"/>
                <a:cs typeface="Times New Roman"/>
              </a:rPr>
              <a:t> </a:t>
            </a:r>
            <a:r>
              <a:rPr sz="1650" spc="-15" baseline="-37878" dirty="0">
                <a:latin typeface="Palatino Linotype"/>
                <a:cs typeface="Palatino Linotype"/>
              </a:rPr>
              <a:t>4</a:t>
            </a:r>
            <a:r>
              <a:rPr sz="1650" spc="-240" baseline="-37878" dirty="0">
                <a:latin typeface="Palatino Linotype"/>
                <a:cs typeface="Palatino Linotype"/>
              </a:rPr>
              <a:t> </a:t>
            </a:r>
            <a:r>
              <a:rPr sz="1100" i="1" spc="-35" dirty="0">
                <a:latin typeface="Georgia"/>
                <a:cs typeface="Georgia"/>
              </a:rPr>
              <a:t>y</a:t>
            </a:r>
            <a:r>
              <a:rPr sz="1100" spc="-35" dirty="0">
                <a:latin typeface="Palatino Linotype"/>
                <a:cs typeface="Palatino Linotype"/>
              </a:rPr>
              <a:t>[</a:t>
            </a:r>
            <a:r>
              <a:rPr sz="1100" i="1" spc="-35" dirty="0">
                <a:latin typeface="Georgia"/>
                <a:cs typeface="Georgia"/>
              </a:rPr>
              <a:t>n</a:t>
            </a:r>
            <a:r>
              <a:rPr sz="1100" i="1" spc="-25" dirty="0">
                <a:latin typeface="Georgia"/>
                <a:cs typeface="Georgia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Palatino Linotype"/>
                <a:cs typeface="Palatino Linotype"/>
              </a:rPr>
              <a:t>1]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85" dirty="0">
                <a:latin typeface="Palatino Linotype"/>
                <a:cs typeface="Palatino Linotype"/>
              </a:rPr>
              <a:t> </a:t>
            </a:r>
            <a:r>
              <a:rPr sz="1650" spc="-15" baseline="-37878" dirty="0">
                <a:latin typeface="Palatino Linotype"/>
                <a:cs typeface="Palatino Linotype"/>
              </a:rPr>
              <a:t>8</a:t>
            </a:r>
            <a:r>
              <a:rPr sz="1650" spc="-240" baseline="-37878" dirty="0">
                <a:latin typeface="Palatino Linotype"/>
                <a:cs typeface="Palatino Linotype"/>
              </a:rPr>
              <a:t> </a:t>
            </a:r>
            <a:r>
              <a:rPr sz="1100" i="1" spc="-35" dirty="0">
                <a:latin typeface="Georgia"/>
                <a:cs typeface="Georgia"/>
              </a:rPr>
              <a:t>y</a:t>
            </a:r>
            <a:r>
              <a:rPr sz="1100" spc="-35" dirty="0">
                <a:latin typeface="Palatino Linotype"/>
                <a:cs typeface="Palatino Linotype"/>
              </a:rPr>
              <a:t>[</a:t>
            </a:r>
            <a:r>
              <a:rPr sz="1100" i="1" spc="-35" dirty="0">
                <a:latin typeface="Georgia"/>
                <a:cs typeface="Georgia"/>
              </a:rPr>
              <a:t>n</a:t>
            </a:r>
            <a:r>
              <a:rPr sz="1100" i="1" spc="-25" dirty="0">
                <a:latin typeface="Georgia"/>
                <a:cs typeface="Georgia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Palatino Linotype"/>
                <a:cs typeface="Palatino Linotype"/>
              </a:rPr>
              <a:t>2]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x</a:t>
            </a:r>
            <a:r>
              <a:rPr sz="1100" dirty="0">
                <a:latin typeface="Palatino Linotype"/>
                <a:cs typeface="Palatino Linotype"/>
              </a:rPr>
              <a:t>[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i="1" spc="-25" dirty="0">
                <a:latin typeface="Georgia"/>
                <a:cs typeface="Georgia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Palatino Linotype"/>
                <a:cs typeface="Palatino Linotype"/>
              </a:rPr>
              <a:t>1]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85" dirty="0">
                <a:latin typeface="Times New Roman"/>
                <a:cs typeface="Times New Roman"/>
              </a:rPr>
              <a:t> </a:t>
            </a:r>
            <a:r>
              <a:rPr sz="1650" spc="-15" baseline="-37878" dirty="0">
                <a:latin typeface="Palatino Linotype"/>
                <a:cs typeface="Palatino Linotype"/>
              </a:rPr>
              <a:t>2</a:t>
            </a:r>
            <a:r>
              <a:rPr sz="1650" spc="-232" baseline="-37878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x</a:t>
            </a:r>
            <a:r>
              <a:rPr sz="1100" dirty="0">
                <a:latin typeface="Palatino Linotype"/>
                <a:cs typeface="Palatino Linotype"/>
              </a:rPr>
              <a:t>[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i="1" spc="-25" dirty="0">
                <a:latin typeface="Georgia"/>
                <a:cs typeface="Georgia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Palatino Linotype"/>
                <a:cs typeface="Palatino Linotype"/>
              </a:rPr>
              <a:t>2]</a:t>
            </a:r>
            <a:endParaRPr sz="11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100">
              <a:latin typeface="Palatino Linotype"/>
              <a:cs typeface="Palatino Linotype"/>
            </a:endParaRPr>
          </a:p>
          <a:p>
            <a:pPr marL="254635">
              <a:lnSpc>
                <a:spcPct val="100000"/>
              </a:lnSpc>
              <a:tabLst>
                <a:tab pos="3045460" algn="l"/>
              </a:tabLst>
            </a:pPr>
            <a:r>
              <a:rPr sz="1100" spc="75" dirty="0">
                <a:latin typeface="Arial"/>
                <a:cs typeface="Arial"/>
              </a:rPr>
              <a:t>How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many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following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true?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15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100">
              <a:latin typeface="Arial"/>
              <a:cs typeface="Arial"/>
            </a:endParaRPr>
          </a:p>
          <a:p>
            <a:pPr marL="334645" indent="-258445">
              <a:lnSpc>
                <a:spcPct val="100000"/>
              </a:lnSpc>
              <a:buAutoNum type="arabicPeriod"/>
              <a:tabLst>
                <a:tab pos="334645" algn="l"/>
              </a:tabLst>
            </a:pPr>
            <a:r>
              <a:rPr sz="1100" spc="12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11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95" dirty="0">
                <a:solidFill>
                  <a:srgbClr val="FF0000"/>
                </a:solidFill>
                <a:latin typeface="Arial"/>
                <a:cs typeface="Arial"/>
              </a:rPr>
              <a:t>unit</a:t>
            </a:r>
            <a:r>
              <a:rPr sz="11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0000"/>
                </a:solidFill>
                <a:latin typeface="Arial"/>
                <a:cs typeface="Arial"/>
              </a:rPr>
              <a:t>sample</a:t>
            </a:r>
            <a:r>
              <a:rPr sz="11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0000"/>
                </a:solidFill>
                <a:latin typeface="Arial"/>
                <a:cs typeface="Arial"/>
              </a:rPr>
              <a:t>response</a:t>
            </a:r>
            <a:r>
              <a:rPr sz="1100" spc="3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0000"/>
                </a:solidFill>
                <a:latin typeface="Arial"/>
                <a:cs typeface="Arial"/>
              </a:rPr>
              <a:t>converges</a:t>
            </a:r>
            <a:r>
              <a:rPr sz="11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13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11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40" dirty="0">
                <a:solidFill>
                  <a:srgbClr val="FF0000"/>
                </a:solidFill>
                <a:latin typeface="Arial"/>
                <a:cs typeface="Arial"/>
              </a:rPr>
              <a:t>zero.</a:t>
            </a:r>
            <a:endParaRPr sz="1100">
              <a:latin typeface="Arial"/>
              <a:cs typeface="Arial"/>
            </a:endParaRPr>
          </a:p>
          <a:p>
            <a:pPr marL="334645" indent="-258445">
              <a:lnSpc>
                <a:spcPct val="100000"/>
              </a:lnSpc>
              <a:spcBef>
                <a:spcPts val="280"/>
              </a:spcBef>
              <a:buAutoNum type="arabicPeriod"/>
              <a:tabLst>
                <a:tab pos="334645" algn="l"/>
              </a:tabLst>
            </a:pPr>
            <a:r>
              <a:rPr sz="1100" spc="90" dirty="0">
                <a:latin typeface="Arial"/>
                <a:cs typeface="Arial"/>
              </a:rPr>
              <a:t>There</a:t>
            </a:r>
            <a:r>
              <a:rPr sz="1100" spc="18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18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poles</a:t>
            </a:r>
            <a:r>
              <a:rPr sz="1100" spc="180" dirty="0">
                <a:latin typeface="Arial"/>
                <a:cs typeface="Arial"/>
              </a:rPr>
              <a:t> </a:t>
            </a:r>
            <a:r>
              <a:rPr sz="1100" spc="110" dirty="0">
                <a:latin typeface="Arial"/>
                <a:cs typeface="Arial"/>
              </a:rPr>
              <a:t>at</a:t>
            </a:r>
            <a:r>
              <a:rPr sz="1100" spc="185" dirty="0">
                <a:latin typeface="Arial"/>
                <a:cs typeface="Arial"/>
              </a:rPr>
              <a:t> </a:t>
            </a:r>
            <a:r>
              <a:rPr sz="1100" i="1" dirty="0">
                <a:latin typeface="Georgia"/>
                <a:cs typeface="Georgia"/>
              </a:rPr>
              <a:t>z</a:t>
            </a:r>
            <a:r>
              <a:rPr sz="1100" i="1" spc="110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180" dirty="0">
                <a:latin typeface="Palatino Linotype"/>
                <a:cs typeface="Palatino Linotype"/>
              </a:rPr>
              <a:t> </a:t>
            </a:r>
            <a:r>
              <a:rPr sz="1350" u="sng" baseline="27777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1350" spc="592" baseline="27777" dirty="0">
                <a:latin typeface="Palatino Linotype"/>
                <a:cs typeface="Palatino Linotype"/>
              </a:rPr>
              <a:t> </a:t>
            </a:r>
            <a:r>
              <a:rPr sz="1100" spc="55" dirty="0">
                <a:latin typeface="Arial"/>
                <a:cs typeface="Arial"/>
              </a:rPr>
              <a:t>and</a:t>
            </a:r>
            <a:r>
              <a:rPr sz="1100" spc="180" dirty="0">
                <a:latin typeface="Arial"/>
                <a:cs typeface="Arial"/>
              </a:rPr>
              <a:t> </a:t>
            </a:r>
            <a:r>
              <a:rPr sz="1100" i="1" dirty="0">
                <a:latin typeface="Georgia"/>
                <a:cs typeface="Georgia"/>
              </a:rPr>
              <a:t>z</a:t>
            </a:r>
            <a:r>
              <a:rPr sz="1100" i="1" spc="114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175" dirty="0">
                <a:latin typeface="Palatino Linotype"/>
                <a:cs typeface="Palatino Linotype"/>
              </a:rPr>
              <a:t> </a:t>
            </a:r>
            <a:r>
              <a:rPr sz="1350" u="sng" baseline="27777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1350" spc="-150" baseline="27777" dirty="0">
                <a:latin typeface="Palatino Linotype"/>
                <a:cs typeface="Palatino Linotype"/>
              </a:rPr>
              <a:t> </a:t>
            </a:r>
            <a:r>
              <a:rPr sz="1100" spc="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34645" indent="-258445">
              <a:lnSpc>
                <a:spcPct val="100000"/>
              </a:lnSpc>
              <a:spcBef>
                <a:spcPts val="280"/>
              </a:spcBef>
              <a:buAutoNum type="arabicPeriod"/>
              <a:tabLst>
                <a:tab pos="334645" algn="l"/>
              </a:tabLst>
            </a:pPr>
            <a:r>
              <a:rPr sz="1100" spc="90" dirty="0">
                <a:latin typeface="Arial"/>
                <a:cs typeface="Arial"/>
              </a:rPr>
              <a:t>There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pole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110" dirty="0">
                <a:latin typeface="Arial"/>
                <a:cs typeface="Arial"/>
              </a:rPr>
              <a:t>at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i="1" dirty="0">
                <a:latin typeface="Georgia"/>
                <a:cs typeface="Georgia"/>
              </a:rPr>
              <a:t>z</a:t>
            </a:r>
            <a:r>
              <a:rPr sz="1100" i="1" spc="100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160" dirty="0">
                <a:latin typeface="Palatino Linotype"/>
                <a:cs typeface="Palatino Linotype"/>
              </a:rPr>
              <a:t> </a:t>
            </a:r>
            <a:r>
              <a:rPr sz="1350" u="sng" baseline="27777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1350" spc="-165" baseline="27777" dirty="0">
                <a:latin typeface="Palatino Linotype"/>
                <a:cs typeface="Palatino Linotype"/>
              </a:rPr>
              <a:t> </a:t>
            </a:r>
            <a:r>
              <a:rPr sz="1100" spc="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34645" indent="-258445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334645" algn="l"/>
              </a:tabLst>
            </a:pPr>
            <a:r>
              <a:rPr sz="1100" spc="90" dirty="0">
                <a:solidFill>
                  <a:srgbClr val="FF0000"/>
                </a:solidFill>
                <a:latin typeface="Arial"/>
                <a:cs typeface="Arial"/>
              </a:rPr>
              <a:t>There</a:t>
            </a:r>
            <a:r>
              <a:rPr sz="1100" spc="1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0000"/>
                </a:solidFill>
                <a:latin typeface="Arial"/>
                <a:cs typeface="Arial"/>
              </a:rPr>
              <a:t>are</a:t>
            </a:r>
            <a:r>
              <a:rPr sz="1100" spc="1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95" dirty="0">
                <a:solidFill>
                  <a:srgbClr val="FF0000"/>
                </a:solidFill>
                <a:latin typeface="Arial"/>
                <a:cs typeface="Arial"/>
              </a:rPr>
              <a:t>two</a:t>
            </a:r>
            <a:r>
              <a:rPr sz="1100" spc="1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poles.</a:t>
            </a:r>
            <a:endParaRPr sz="1100">
              <a:latin typeface="Arial"/>
              <a:cs typeface="Arial"/>
            </a:endParaRPr>
          </a:p>
          <a:p>
            <a:pPr marL="334645" indent="-258445">
              <a:lnSpc>
                <a:spcPct val="100000"/>
              </a:lnSpc>
              <a:spcBef>
                <a:spcPts val="280"/>
              </a:spcBef>
              <a:buAutoNum type="arabicPeriod"/>
              <a:tabLst>
                <a:tab pos="334645" algn="l"/>
              </a:tabLst>
            </a:pPr>
            <a:r>
              <a:rPr sz="1100" spc="50" dirty="0">
                <a:latin typeface="Arial"/>
                <a:cs typeface="Arial"/>
              </a:rPr>
              <a:t>None</a:t>
            </a:r>
            <a:r>
              <a:rPr sz="1100" spc="15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spc="30" dirty="0">
                <a:latin typeface="Arial"/>
                <a:cs typeface="Arial"/>
              </a:rPr>
              <a:t>above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9061" y="491710"/>
            <a:ext cx="4803140" cy="2278380"/>
          </a:xfrm>
          <a:custGeom>
            <a:avLst/>
            <a:gdLst/>
            <a:ahLst/>
            <a:cxnLst/>
            <a:rect l="l" t="t" r="r" b="b"/>
            <a:pathLst>
              <a:path w="4803140" h="2278380">
                <a:moveTo>
                  <a:pt x="69583" y="2278265"/>
                </a:moveTo>
                <a:lnTo>
                  <a:pt x="4733302" y="2278265"/>
                </a:lnTo>
                <a:lnTo>
                  <a:pt x="4773530" y="2267393"/>
                </a:lnTo>
                <a:lnTo>
                  <a:pt x="4794188" y="2243474"/>
                </a:lnTo>
                <a:lnTo>
                  <a:pt x="4801798" y="2219554"/>
                </a:lnTo>
                <a:lnTo>
                  <a:pt x="4802886" y="2208682"/>
                </a:lnTo>
                <a:lnTo>
                  <a:pt x="4802886" y="69583"/>
                </a:lnTo>
                <a:lnTo>
                  <a:pt x="4792013" y="29355"/>
                </a:lnTo>
                <a:lnTo>
                  <a:pt x="4768094" y="8697"/>
                </a:lnTo>
                <a:lnTo>
                  <a:pt x="4744175" y="1087"/>
                </a:lnTo>
                <a:lnTo>
                  <a:pt x="4733302" y="0"/>
                </a:lnTo>
                <a:lnTo>
                  <a:pt x="69583" y="0"/>
                </a:lnTo>
                <a:lnTo>
                  <a:pt x="29355" y="10872"/>
                </a:lnTo>
                <a:lnTo>
                  <a:pt x="8697" y="34791"/>
                </a:lnTo>
                <a:lnTo>
                  <a:pt x="1087" y="58710"/>
                </a:lnTo>
                <a:lnTo>
                  <a:pt x="0" y="69583"/>
                </a:lnTo>
                <a:lnTo>
                  <a:pt x="0" y="2208682"/>
                </a:lnTo>
                <a:lnTo>
                  <a:pt x="10872" y="2248910"/>
                </a:lnTo>
                <a:lnTo>
                  <a:pt x="34791" y="2269567"/>
                </a:lnTo>
                <a:lnTo>
                  <a:pt x="58710" y="2277178"/>
                </a:lnTo>
                <a:lnTo>
                  <a:pt x="69583" y="2278265"/>
                </a:lnTo>
                <a:close/>
              </a:path>
            </a:pathLst>
          </a:custGeom>
          <a:ln w="505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830" y="63474"/>
            <a:ext cx="16275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85" dirty="0">
                <a:solidFill>
                  <a:srgbClr val="0000CC"/>
                </a:solidFill>
                <a:latin typeface="Arial"/>
                <a:cs typeface="Arial"/>
              </a:rPr>
              <a:t>Population</a:t>
            </a:r>
            <a:r>
              <a:rPr sz="1200" b="1" spc="254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1200" b="1" spc="105" dirty="0">
                <a:solidFill>
                  <a:srgbClr val="0000CC"/>
                </a:solidFill>
                <a:latin typeface="Arial"/>
                <a:cs typeface="Arial"/>
              </a:rPr>
              <a:t>Growth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6525" y="294590"/>
            <a:ext cx="4808220" cy="0"/>
          </a:xfrm>
          <a:custGeom>
            <a:avLst/>
            <a:gdLst/>
            <a:ahLst/>
            <a:cxnLst/>
            <a:rect l="l" t="t" r="r" b="b"/>
            <a:pathLst>
              <a:path w="4808220">
                <a:moveTo>
                  <a:pt x="0" y="0"/>
                </a:moveTo>
                <a:lnTo>
                  <a:pt x="480796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49358" y="360352"/>
            <a:ext cx="4362450" cy="2778760"/>
            <a:chOff x="349358" y="360352"/>
            <a:chExt cx="4362450" cy="2778760"/>
          </a:xfrm>
        </p:grpSpPr>
        <p:sp>
          <p:nvSpPr>
            <p:cNvPr id="5" name="object 5"/>
            <p:cNvSpPr/>
            <p:nvPr/>
          </p:nvSpPr>
          <p:spPr>
            <a:xfrm>
              <a:off x="352533" y="363527"/>
              <a:ext cx="4356100" cy="2772410"/>
            </a:xfrm>
            <a:custGeom>
              <a:avLst/>
              <a:gdLst/>
              <a:ahLst/>
              <a:cxnLst/>
              <a:rect l="l" t="t" r="r" b="b"/>
              <a:pathLst>
                <a:path w="4356100" h="2772410">
                  <a:moveTo>
                    <a:pt x="0" y="2772003"/>
                  </a:moveTo>
                  <a:lnTo>
                    <a:pt x="4356001" y="2772003"/>
                  </a:lnTo>
                  <a:lnTo>
                    <a:pt x="4356001" y="0"/>
                  </a:lnTo>
                  <a:lnTo>
                    <a:pt x="0" y="0"/>
                  </a:lnTo>
                  <a:lnTo>
                    <a:pt x="0" y="2772003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7076" y="2233942"/>
              <a:ext cx="397520" cy="18306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830" y="63474"/>
            <a:ext cx="16275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85" dirty="0">
                <a:solidFill>
                  <a:srgbClr val="0000CC"/>
                </a:solidFill>
                <a:latin typeface="Arial"/>
                <a:cs typeface="Arial"/>
              </a:rPr>
              <a:t>Population</a:t>
            </a:r>
            <a:r>
              <a:rPr sz="1200" b="1" spc="254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1200" b="1" spc="105" dirty="0">
                <a:solidFill>
                  <a:srgbClr val="0000CC"/>
                </a:solidFill>
                <a:latin typeface="Arial"/>
                <a:cs typeface="Arial"/>
              </a:rPr>
              <a:t>Growth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6525" y="294590"/>
            <a:ext cx="4808220" cy="0"/>
          </a:xfrm>
          <a:custGeom>
            <a:avLst/>
            <a:gdLst/>
            <a:ahLst/>
            <a:cxnLst/>
            <a:rect l="l" t="t" r="r" b="b"/>
            <a:pathLst>
              <a:path w="4808220">
                <a:moveTo>
                  <a:pt x="0" y="0"/>
                </a:moveTo>
                <a:lnTo>
                  <a:pt x="480796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49358" y="360352"/>
            <a:ext cx="4362450" cy="2778760"/>
            <a:chOff x="349358" y="360352"/>
            <a:chExt cx="4362450" cy="2778760"/>
          </a:xfrm>
        </p:grpSpPr>
        <p:sp>
          <p:nvSpPr>
            <p:cNvPr id="5" name="object 5"/>
            <p:cNvSpPr/>
            <p:nvPr/>
          </p:nvSpPr>
          <p:spPr>
            <a:xfrm>
              <a:off x="352533" y="363527"/>
              <a:ext cx="4356100" cy="2772410"/>
            </a:xfrm>
            <a:custGeom>
              <a:avLst/>
              <a:gdLst/>
              <a:ahLst/>
              <a:cxnLst/>
              <a:rect l="l" t="t" r="r" b="b"/>
              <a:pathLst>
                <a:path w="4356100" h="2772410">
                  <a:moveTo>
                    <a:pt x="0" y="2772003"/>
                  </a:moveTo>
                  <a:lnTo>
                    <a:pt x="4356001" y="2772003"/>
                  </a:lnTo>
                  <a:lnTo>
                    <a:pt x="4356001" y="0"/>
                  </a:lnTo>
                  <a:lnTo>
                    <a:pt x="0" y="0"/>
                  </a:lnTo>
                  <a:lnTo>
                    <a:pt x="0" y="2772003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56218" y="2146489"/>
              <a:ext cx="344805" cy="358140"/>
            </a:xfrm>
            <a:custGeom>
              <a:avLst/>
              <a:gdLst/>
              <a:ahLst/>
              <a:cxnLst/>
              <a:rect l="l" t="t" r="r" b="b"/>
              <a:pathLst>
                <a:path w="344805" h="358139">
                  <a:moveTo>
                    <a:pt x="282616" y="0"/>
                  </a:moveTo>
                  <a:lnTo>
                    <a:pt x="257763" y="38048"/>
                  </a:lnTo>
                  <a:lnTo>
                    <a:pt x="251505" y="98233"/>
                  </a:lnTo>
                  <a:lnTo>
                    <a:pt x="238404" y="83277"/>
                  </a:lnTo>
                  <a:lnTo>
                    <a:pt x="220623" y="61410"/>
                  </a:lnTo>
                  <a:lnTo>
                    <a:pt x="199755" y="39673"/>
                  </a:lnTo>
                  <a:lnTo>
                    <a:pt x="177389" y="25109"/>
                  </a:lnTo>
                  <a:lnTo>
                    <a:pt x="160441" y="25355"/>
                  </a:lnTo>
                  <a:lnTo>
                    <a:pt x="155995" y="38912"/>
                  </a:lnTo>
                  <a:lnTo>
                    <a:pt x="159083" y="56543"/>
                  </a:lnTo>
                  <a:lnTo>
                    <a:pt x="183035" y="90754"/>
                  </a:lnTo>
                  <a:lnTo>
                    <a:pt x="234241" y="125915"/>
                  </a:lnTo>
                  <a:lnTo>
                    <a:pt x="233845" y="126608"/>
                  </a:lnTo>
                  <a:lnTo>
                    <a:pt x="168730" y="170903"/>
                  </a:lnTo>
                  <a:lnTo>
                    <a:pt x="124908" y="186444"/>
                  </a:lnTo>
                  <a:lnTo>
                    <a:pt x="78938" y="203594"/>
                  </a:lnTo>
                  <a:lnTo>
                    <a:pt x="33968" y="228060"/>
                  </a:lnTo>
                  <a:lnTo>
                    <a:pt x="19163" y="245105"/>
                  </a:lnTo>
                  <a:lnTo>
                    <a:pt x="11451" y="267717"/>
                  </a:lnTo>
                  <a:lnTo>
                    <a:pt x="9739" y="291956"/>
                  </a:lnTo>
                  <a:lnTo>
                    <a:pt x="12934" y="313884"/>
                  </a:lnTo>
                  <a:lnTo>
                    <a:pt x="7215" y="319248"/>
                  </a:lnTo>
                  <a:lnTo>
                    <a:pt x="2268" y="327143"/>
                  </a:lnTo>
                  <a:lnTo>
                    <a:pt x="0" y="336320"/>
                  </a:lnTo>
                  <a:lnTo>
                    <a:pt x="2317" y="345535"/>
                  </a:lnTo>
                  <a:lnTo>
                    <a:pt x="8237" y="351704"/>
                  </a:lnTo>
                  <a:lnTo>
                    <a:pt x="17231" y="355184"/>
                  </a:lnTo>
                  <a:lnTo>
                    <a:pt x="28988" y="355204"/>
                  </a:lnTo>
                  <a:lnTo>
                    <a:pt x="43195" y="350992"/>
                  </a:lnTo>
                  <a:lnTo>
                    <a:pt x="42650" y="350298"/>
                  </a:lnTo>
                  <a:lnTo>
                    <a:pt x="48909" y="352511"/>
                  </a:lnTo>
                  <a:lnTo>
                    <a:pt x="56187" y="354124"/>
                  </a:lnTo>
                  <a:lnTo>
                    <a:pt x="64646" y="355077"/>
                  </a:lnTo>
                  <a:lnTo>
                    <a:pt x="116647" y="355727"/>
                  </a:lnTo>
                  <a:lnTo>
                    <a:pt x="176217" y="356797"/>
                  </a:lnTo>
                  <a:lnTo>
                    <a:pt x="229414" y="357122"/>
                  </a:lnTo>
                  <a:lnTo>
                    <a:pt x="252497" y="355308"/>
                  </a:lnTo>
                  <a:lnTo>
                    <a:pt x="251029" y="348989"/>
                  </a:lnTo>
                  <a:lnTo>
                    <a:pt x="245992" y="343631"/>
                  </a:lnTo>
                  <a:lnTo>
                    <a:pt x="237003" y="339437"/>
                  </a:lnTo>
                  <a:lnTo>
                    <a:pt x="223674" y="336605"/>
                  </a:lnTo>
                  <a:lnTo>
                    <a:pt x="224320" y="336159"/>
                  </a:lnTo>
                  <a:lnTo>
                    <a:pt x="231112" y="333530"/>
                  </a:lnTo>
                  <a:lnTo>
                    <a:pt x="238365" y="329747"/>
                  </a:lnTo>
                  <a:lnTo>
                    <a:pt x="245255" y="324830"/>
                  </a:lnTo>
                  <a:lnTo>
                    <a:pt x="250959" y="318796"/>
                  </a:lnTo>
                  <a:lnTo>
                    <a:pt x="250959" y="317804"/>
                  </a:lnTo>
                  <a:lnTo>
                    <a:pt x="270357" y="356499"/>
                  </a:lnTo>
                  <a:lnTo>
                    <a:pt x="278344" y="357243"/>
                  </a:lnTo>
                  <a:lnTo>
                    <a:pt x="287199" y="357535"/>
                  </a:lnTo>
                  <a:lnTo>
                    <a:pt x="302454" y="357572"/>
                  </a:lnTo>
                  <a:lnTo>
                    <a:pt x="318081" y="357320"/>
                  </a:lnTo>
                  <a:lnTo>
                    <a:pt x="328052" y="356747"/>
                  </a:lnTo>
                  <a:lnTo>
                    <a:pt x="330182" y="353238"/>
                  </a:lnTo>
                  <a:lnTo>
                    <a:pt x="327414" y="346348"/>
                  </a:lnTo>
                  <a:lnTo>
                    <a:pt x="315167" y="340304"/>
                  </a:lnTo>
                  <a:lnTo>
                    <a:pt x="288861" y="339334"/>
                  </a:lnTo>
                  <a:lnTo>
                    <a:pt x="288826" y="330907"/>
                  </a:lnTo>
                  <a:lnTo>
                    <a:pt x="288284" y="318281"/>
                  </a:lnTo>
                  <a:lnTo>
                    <a:pt x="287249" y="303246"/>
                  </a:lnTo>
                  <a:lnTo>
                    <a:pt x="285736" y="287591"/>
                  </a:lnTo>
                  <a:lnTo>
                    <a:pt x="285884" y="288385"/>
                  </a:lnTo>
                  <a:lnTo>
                    <a:pt x="293993" y="276891"/>
                  </a:lnTo>
                  <a:lnTo>
                    <a:pt x="299297" y="257305"/>
                  </a:lnTo>
                  <a:lnTo>
                    <a:pt x="296370" y="229868"/>
                  </a:lnTo>
                  <a:lnTo>
                    <a:pt x="279783" y="194821"/>
                  </a:lnTo>
                  <a:lnTo>
                    <a:pt x="278790" y="194376"/>
                  </a:lnTo>
                  <a:lnTo>
                    <a:pt x="284942" y="194623"/>
                  </a:lnTo>
                  <a:lnTo>
                    <a:pt x="324902" y="191151"/>
                  </a:lnTo>
                  <a:lnTo>
                    <a:pt x="344758" y="164362"/>
                  </a:lnTo>
                  <a:lnTo>
                    <a:pt x="343572" y="155291"/>
                  </a:lnTo>
                  <a:lnTo>
                    <a:pt x="309554" y="122275"/>
                  </a:lnTo>
                  <a:lnTo>
                    <a:pt x="280229" y="110337"/>
                  </a:lnTo>
                  <a:lnTo>
                    <a:pt x="280676" y="109841"/>
                  </a:lnTo>
                  <a:lnTo>
                    <a:pt x="286033" y="92168"/>
                  </a:lnTo>
                  <a:lnTo>
                    <a:pt x="294144" y="68467"/>
                  </a:lnTo>
                  <a:lnTo>
                    <a:pt x="300544" y="42199"/>
                  </a:lnTo>
                  <a:lnTo>
                    <a:pt x="300767" y="16823"/>
                  </a:lnTo>
                  <a:lnTo>
                    <a:pt x="293322" y="447"/>
                  </a:lnTo>
                  <a:lnTo>
                    <a:pt x="282616" y="0"/>
                  </a:lnTo>
                  <a:close/>
                </a:path>
              </a:pathLst>
            </a:custGeom>
            <a:solidFill>
              <a:srgbClr val="F7AE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56218" y="2146489"/>
              <a:ext cx="344805" cy="358140"/>
            </a:xfrm>
            <a:custGeom>
              <a:avLst/>
              <a:gdLst/>
              <a:ahLst/>
              <a:cxnLst/>
              <a:rect l="l" t="t" r="r" b="b"/>
              <a:pathLst>
                <a:path w="344805" h="358139">
                  <a:moveTo>
                    <a:pt x="251505" y="98233"/>
                  </a:moveTo>
                  <a:lnTo>
                    <a:pt x="238404" y="83277"/>
                  </a:lnTo>
                  <a:lnTo>
                    <a:pt x="220623" y="61410"/>
                  </a:lnTo>
                  <a:lnTo>
                    <a:pt x="199755" y="39673"/>
                  </a:lnTo>
                  <a:lnTo>
                    <a:pt x="177389" y="25109"/>
                  </a:lnTo>
                  <a:lnTo>
                    <a:pt x="160441" y="25355"/>
                  </a:lnTo>
                  <a:lnTo>
                    <a:pt x="155995" y="38912"/>
                  </a:lnTo>
                  <a:lnTo>
                    <a:pt x="183035" y="90754"/>
                  </a:lnTo>
                  <a:lnTo>
                    <a:pt x="234241" y="125915"/>
                  </a:lnTo>
                  <a:lnTo>
                    <a:pt x="233845" y="126608"/>
                  </a:lnTo>
                  <a:lnTo>
                    <a:pt x="168730" y="170903"/>
                  </a:lnTo>
                  <a:lnTo>
                    <a:pt x="124908" y="186444"/>
                  </a:lnTo>
                  <a:lnTo>
                    <a:pt x="78938" y="203594"/>
                  </a:lnTo>
                  <a:lnTo>
                    <a:pt x="33968" y="228060"/>
                  </a:lnTo>
                  <a:lnTo>
                    <a:pt x="19163" y="245105"/>
                  </a:lnTo>
                  <a:lnTo>
                    <a:pt x="11451" y="267717"/>
                  </a:lnTo>
                  <a:lnTo>
                    <a:pt x="9739" y="291956"/>
                  </a:lnTo>
                  <a:lnTo>
                    <a:pt x="12934" y="313884"/>
                  </a:lnTo>
                  <a:lnTo>
                    <a:pt x="7215" y="319248"/>
                  </a:lnTo>
                  <a:lnTo>
                    <a:pt x="2268" y="327143"/>
                  </a:lnTo>
                  <a:lnTo>
                    <a:pt x="0" y="336320"/>
                  </a:lnTo>
                  <a:lnTo>
                    <a:pt x="2317" y="345535"/>
                  </a:lnTo>
                  <a:lnTo>
                    <a:pt x="8237" y="351704"/>
                  </a:lnTo>
                  <a:lnTo>
                    <a:pt x="17231" y="355184"/>
                  </a:lnTo>
                  <a:lnTo>
                    <a:pt x="28988" y="355204"/>
                  </a:lnTo>
                  <a:lnTo>
                    <a:pt x="43195" y="350992"/>
                  </a:lnTo>
                  <a:lnTo>
                    <a:pt x="42650" y="350298"/>
                  </a:lnTo>
                  <a:lnTo>
                    <a:pt x="48909" y="352511"/>
                  </a:lnTo>
                  <a:lnTo>
                    <a:pt x="56187" y="354124"/>
                  </a:lnTo>
                  <a:lnTo>
                    <a:pt x="64646" y="355077"/>
                  </a:lnTo>
                  <a:lnTo>
                    <a:pt x="74449" y="355308"/>
                  </a:lnTo>
                  <a:lnTo>
                    <a:pt x="116647" y="355727"/>
                  </a:lnTo>
                  <a:lnTo>
                    <a:pt x="176217" y="356797"/>
                  </a:lnTo>
                  <a:lnTo>
                    <a:pt x="229414" y="357122"/>
                  </a:lnTo>
                  <a:lnTo>
                    <a:pt x="252497" y="355308"/>
                  </a:lnTo>
                  <a:lnTo>
                    <a:pt x="251029" y="348989"/>
                  </a:lnTo>
                  <a:lnTo>
                    <a:pt x="245992" y="343631"/>
                  </a:lnTo>
                  <a:lnTo>
                    <a:pt x="237003" y="339437"/>
                  </a:lnTo>
                  <a:lnTo>
                    <a:pt x="223674" y="336605"/>
                  </a:lnTo>
                  <a:lnTo>
                    <a:pt x="224320" y="336159"/>
                  </a:lnTo>
                  <a:lnTo>
                    <a:pt x="231112" y="333530"/>
                  </a:lnTo>
                  <a:lnTo>
                    <a:pt x="238365" y="329747"/>
                  </a:lnTo>
                  <a:lnTo>
                    <a:pt x="245255" y="324830"/>
                  </a:lnTo>
                  <a:lnTo>
                    <a:pt x="250959" y="318796"/>
                  </a:lnTo>
                  <a:lnTo>
                    <a:pt x="250959" y="317804"/>
                  </a:lnTo>
                  <a:lnTo>
                    <a:pt x="256746" y="328963"/>
                  </a:lnTo>
                  <a:lnTo>
                    <a:pt x="262096" y="339626"/>
                  </a:lnTo>
                  <a:lnTo>
                    <a:pt x="266405" y="348381"/>
                  </a:lnTo>
                  <a:lnTo>
                    <a:pt x="269067" y="353820"/>
                  </a:lnTo>
                  <a:lnTo>
                    <a:pt x="270357" y="356499"/>
                  </a:lnTo>
                  <a:lnTo>
                    <a:pt x="272689" y="356648"/>
                  </a:lnTo>
                  <a:lnTo>
                    <a:pt x="278344" y="357243"/>
                  </a:lnTo>
                  <a:lnTo>
                    <a:pt x="287199" y="357535"/>
                  </a:lnTo>
                  <a:lnTo>
                    <a:pt x="302454" y="357572"/>
                  </a:lnTo>
                  <a:lnTo>
                    <a:pt x="318081" y="357320"/>
                  </a:lnTo>
                  <a:lnTo>
                    <a:pt x="328052" y="356747"/>
                  </a:lnTo>
                  <a:lnTo>
                    <a:pt x="330182" y="353238"/>
                  </a:lnTo>
                  <a:lnTo>
                    <a:pt x="327414" y="346348"/>
                  </a:lnTo>
                  <a:lnTo>
                    <a:pt x="315167" y="340304"/>
                  </a:lnTo>
                  <a:lnTo>
                    <a:pt x="288861" y="339334"/>
                  </a:lnTo>
                  <a:lnTo>
                    <a:pt x="288826" y="330907"/>
                  </a:lnTo>
                  <a:lnTo>
                    <a:pt x="288284" y="318281"/>
                  </a:lnTo>
                  <a:lnTo>
                    <a:pt x="287249" y="303246"/>
                  </a:lnTo>
                  <a:lnTo>
                    <a:pt x="285736" y="287591"/>
                  </a:lnTo>
                  <a:lnTo>
                    <a:pt x="285884" y="288385"/>
                  </a:lnTo>
                  <a:lnTo>
                    <a:pt x="293993" y="276891"/>
                  </a:lnTo>
                  <a:lnTo>
                    <a:pt x="299297" y="257305"/>
                  </a:lnTo>
                  <a:lnTo>
                    <a:pt x="296370" y="229868"/>
                  </a:lnTo>
                  <a:lnTo>
                    <a:pt x="279783" y="194821"/>
                  </a:lnTo>
                  <a:lnTo>
                    <a:pt x="278790" y="194376"/>
                  </a:lnTo>
                  <a:lnTo>
                    <a:pt x="284942" y="194623"/>
                  </a:lnTo>
                  <a:lnTo>
                    <a:pt x="324902" y="191151"/>
                  </a:lnTo>
                  <a:lnTo>
                    <a:pt x="344758" y="164362"/>
                  </a:lnTo>
                  <a:lnTo>
                    <a:pt x="343572" y="155291"/>
                  </a:lnTo>
                  <a:lnTo>
                    <a:pt x="309554" y="122275"/>
                  </a:lnTo>
                  <a:lnTo>
                    <a:pt x="280229" y="110337"/>
                  </a:lnTo>
                  <a:lnTo>
                    <a:pt x="280676" y="109841"/>
                  </a:lnTo>
                  <a:lnTo>
                    <a:pt x="286033" y="92168"/>
                  </a:lnTo>
                  <a:lnTo>
                    <a:pt x="294144" y="68467"/>
                  </a:lnTo>
                  <a:lnTo>
                    <a:pt x="300544" y="42199"/>
                  </a:lnTo>
                  <a:lnTo>
                    <a:pt x="300767" y="16823"/>
                  </a:lnTo>
                  <a:lnTo>
                    <a:pt x="293322" y="447"/>
                  </a:lnTo>
                  <a:lnTo>
                    <a:pt x="282616" y="0"/>
                  </a:lnTo>
                  <a:lnTo>
                    <a:pt x="271474" y="10036"/>
                  </a:lnTo>
                  <a:lnTo>
                    <a:pt x="262717" y="25109"/>
                  </a:lnTo>
                  <a:lnTo>
                    <a:pt x="257763" y="38048"/>
                  </a:lnTo>
                  <a:lnTo>
                    <a:pt x="254413" y="51792"/>
                  </a:lnTo>
                  <a:lnTo>
                    <a:pt x="252413" y="70475"/>
                  </a:lnTo>
                  <a:lnTo>
                    <a:pt x="251505" y="98233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3029" y="2143314"/>
              <a:ext cx="351121" cy="36392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90646" y="2146489"/>
              <a:ext cx="345440" cy="358140"/>
            </a:xfrm>
            <a:custGeom>
              <a:avLst/>
              <a:gdLst/>
              <a:ahLst/>
              <a:cxnLst/>
              <a:rect l="l" t="t" r="r" b="b"/>
              <a:pathLst>
                <a:path w="345439" h="358139">
                  <a:moveTo>
                    <a:pt x="62148" y="0"/>
                  </a:moveTo>
                  <a:lnTo>
                    <a:pt x="51457" y="447"/>
                  </a:lnTo>
                  <a:lnTo>
                    <a:pt x="44040" y="16823"/>
                  </a:lnTo>
                  <a:lnTo>
                    <a:pt x="44241" y="42199"/>
                  </a:lnTo>
                  <a:lnTo>
                    <a:pt x="50638" y="68467"/>
                  </a:lnTo>
                  <a:lnTo>
                    <a:pt x="58746" y="92168"/>
                  </a:lnTo>
                  <a:lnTo>
                    <a:pt x="64082" y="109841"/>
                  </a:lnTo>
                  <a:lnTo>
                    <a:pt x="64529" y="110337"/>
                  </a:lnTo>
                  <a:lnTo>
                    <a:pt x="51422" y="114532"/>
                  </a:lnTo>
                  <a:lnTo>
                    <a:pt x="35203" y="122275"/>
                  </a:lnTo>
                  <a:lnTo>
                    <a:pt x="18827" y="133226"/>
                  </a:lnTo>
                  <a:lnTo>
                    <a:pt x="5245" y="147048"/>
                  </a:lnTo>
                  <a:lnTo>
                    <a:pt x="1185" y="155291"/>
                  </a:lnTo>
                  <a:lnTo>
                    <a:pt x="0" y="164362"/>
                  </a:lnTo>
                  <a:lnTo>
                    <a:pt x="1437" y="173433"/>
                  </a:lnTo>
                  <a:lnTo>
                    <a:pt x="59816" y="194623"/>
                  </a:lnTo>
                  <a:lnTo>
                    <a:pt x="65968" y="194376"/>
                  </a:lnTo>
                  <a:lnTo>
                    <a:pt x="64975" y="194821"/>
                  </a:lnTo>
                  <a:lnTo>
                    <a:pt x="48388" y="229868"/>
                  </a:lnTo>
                  <a:lnTo>
                    <a:pt x="45466" y="257305"/>
                  </a:lnTo>
                  <a:lnTo>
                    <a:pt x="50786" y="276891"/>
                  </a:lnTo>
                  <a:lnTo>
                    <a:pt x="58923" y="288385"/>
                  </a:lnTo>
                  <a:lnTo>
                    <a:pt x="59022" y="287591"/>
                  </a:lnTo>
                  <a:lnTo>
                    <a:pt x="57515" y="303246"/>
                  </a:lnTo>
                  <a:lnTo>
                    <a:pt x="56492" y="318281"/>
                  </a:lnTo>
                  <a:lnTo>
                    <a:pt x="55952" y="330907"/>
                  </a:lnTo>
                  <a:lnTo>
                    <a:pt x="55897" y="339334"/>
                  </a:lnTo>
                  <a:lnTo>
                    <a:pt x="29612" y="340304"/>
                  </a:lnTo>
                  <a:lnTo>
                    <a:pt x="17368" y="346348"/>
                  </a:lnTo>
                  <a:lnTo>
                    <a:pt x="14604" y="353238"/>
                  </a:lnTo>
                  <a:lnTo>
                    <a:pt x="16755" y="356747"/>
                  </a:lnTo>
                  <a:lnTo>
                    <a:pt x="26706" y="357320"/>
                  </a:lnTo>
                  <a:lnTo>
                    <a:pt x="42335" y="357572"/>
                  </a:lnTo>
                  <a:lnTo>
                    <a:pt x="57601" y="357535"/>
                  </a:lnTo>
                  <a:lnTo>
                    <a:pt x="66463" y="357243"/>
                  </a:lnTo>
                  <a:lnTo>
                    <a:pt x="74401" y="356499"/>
                  </a:lnTo>
                  <a:lnTo>
                    <a:pt x="93799" y="317804"/>
                  </a:lnTo>
                  <a:lnTo>
                    <a:pt x="93799" y="318796"/>
                  </a:lnTo>
                  <a:lnTo>
                    <a:pt x="99510" y="324830"/>
                  </a:lnTo>
                  <a:lnTo>
                    <a:pt x="106412" y="329747"/>
                  </a:lnTo>
                  <a:lnTo>
                    <a:pt x="113667" y="333530"/>
                  </a:lnTo>
                  <a:lnTo>
                    <a:pt x="120438" y="336159"/>
                  </a:lnTo>
                  <a:lnTo>
                    <a:pt x="121083" y="336605"/>
                  </a:lnTo>
                  <a:lnTo>
                    <a:pt x="107756" y="339437"/>
                  </a:lnTo>
                  <a:lnTo>
                    <a:pt x="98772" y="343631"/>
                  </a:lnTo>
                  <a:lnTo>
                    <a:pt x="93750" y="348989"/>
                  </a:lnTo>
                  <a:lnTo>
                    <a:pt x="92310" y="355308"/>
                  </a:lnTo>
                  <a:lnTo>
                    <a:pt x="115392" y="357122"/>
                  </a:lnTo>
                  <a:lnTo>
                    <a:pt x="168584" y="356797"/>
                  </a:lnTo>
                  <a:lnTo>
                    <a:pt x="228139" y="355727"/>
                  </a:lnTo>
                  <a:lnTo>
                    <a:pt x="280112" y="355077"/>
                  </a:lnTo>
                  <a:lnTo>
                    <a:pt x="288571" y="354124"/>
                  </a:lnTo>
                  <a:lnTo>
                    <a:pt x="295849" y="352511"/>
                  </a:lnTo>
                  <a:lnTo>
                    <a:pt x="302108" y="350298"/>
                  </a:lnTo>
                  <a:lnTo>
                    <a:pt x="301562" y="350992"/>
                  </a:lnTo>
                  <a:lnTo>
                    <a:pt x="315771" y="355204"/>
                  </a:lnTo>
                  <a:lnTo>
                    <a:pt x="327533" y="355184"/>
                  </a:lnTo>
                  <a:lnTo>
                    <a:pt x="336542" y="351704"/>
                  </a:lnTo>
                  <a:lnTo>
                    <a:pt x="342490" y="345535"/>
                  </a:lnTo>
                  <a:lnTo>
                    <a:pt x="344821" y="336320"/>
                  </a:lnTo>
                  <a:lnTo>
                    <a:pt x="342534" y="327143"/>
                  </a:lnTo>
                  <a:lnTo>
                    <a:pt x="337558" y="319248"/>
                  </a:lnTo>
                  <a:lnTo>
                    <a:pt x="331823" y="313884"/>
                  </a:lnTo>
                  <a:lnTo>
                    <a:pt x="335018" y="291956"/>
                  </a:lnTo>
                  <a:lnTo>
                    <a:pt x="325594" y="245105"/>
                  </a:lnTo>
                  <a:lnTo>
                    <a:pt x="265848" y="203594"/>
                  </a:lnTo>
                  <a:lnTo>
                    <a:pt x="219893" y="186444"/>
                  </a:lnTo>
                  <a:lnTo>
                    <a:pt x="176077" y="170903"/>
                  </a:lnTo>
                  <a:lnTo>
                    <a:pt x="137554" y="151266"/>
                  </a:lnTo>
                  <a:lnTo>
                    <a:pt x="110517" y="125915"/>
                  </a:lnTo>
                  <a:lnTo>
                    <a:pt x="131792" y="113382"/>
                  </a:lnTo>
                  <a:lnTo>
                    <a:pt x="147259" y="103603"/>
                  </a:lnTo>
                  <a:lnTo>
                    <a:pt x="161730" y="90754"/>
                  </a:lnTo>
                  <a:lnTo>
                    <a:pt x="180019" y="69013"/>
                  </a:lnTo>
                  <a:lnTo>
                    <a:pt x="185675" y="56543"/>
                  </a:lnTo>
                  <a:lnTo>
                    <a:pt x="188763" y="38912"/>
                  </a:lnTo>
                  <a:lnTo>
                    <a:pt x="184317" y="25355"/>
                  </a:lnTo>
                  <a:lnTo>
                    <a:pt x="167369" y="25109"/>
                  </a:lnTo>
                  <a:lnTo>
                    <a:pt x="145002" y="39673"/>
                  </a:lnTo>
                  <a:lnTo>
                    <a:pt x="124134" y="61410"/>
                  </a:lnTo>
                  <a:lnTo>
                    <a:pt x="106354" y="83277"/>
                  </a:lnTo>
                  <a:lnTo>
                    <a:pt x="93253" y="98233"/>
                  </a:lnTo>
                  <a:lnTo>
                    <a:pt x="90381" y="51792"/>
                  </a:lnTo>
                  <a:lnTo>
                    <a:pt x="73285" y="10036"/>
                  </a:lnTo>
                  <a:lnTo>
                    <a:pt x="62148" y="0"/>
                  </a:lnTo>
                  <a:close/>
                </a:path>
              </a:pathLst>
            </a:custGeom>
            <a:solidFill>
              <a:srgbClr val="B0C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90646" y="2146489"/>
              <a:ext cx="345440" cy="358140"/>
            </a:xfrm>
            <a:custGeom>
              <a:avLst/>
              <a:gdLst/>
              <a:ahLst/>
              <a:cxnLst/>
              <a:rect l="l" t="t" r="r" b="b"/>
              <a:pathLst>
                <a:path w="345439" h="358139">
                  <a:moveTo>
                    <a:pt x="93253" y="98233"/>
                  </a:moveTo>
                  <a:lnTo>
                    <a:pt x="106354" y="83277"/>
                  </a:lnTo>
                  <a:lnTo>
                    <a:pt x="124134" y="61410"/>
                  </a:lnTo>
                  <a:lnTo>
                    <a:pt x="145002" y="39673"/>
                  </a:lnTo>
                  <a:lnTo>
                    <a:pt x="167369" y="25109"/>
                  </a:lnTo>
                  <a:lnTo>
                    <a:pt x="184317" y="25355"/>
                  </a:lnTo>
                  <a:lnTo>
                    <a:pt x="188763" y="38912"/>
                  </a:lnTo>
                  <a:lnTo>
                    <a:pt x="161730" y="90754"/>
                  </a:lnTo>
                  <a:lnTo>
                    <a:pt x="110517" y="125915"/>
                  </a:lnTo>
                  <a:lnTo>
                    <a:pt x="110913" y="126608"/>
                  </a:lnTo>
                  <a:lnTo>
                    <a:pt x="176077" y="170903"/>
                  </a:lnTo>
                  <a:lnTo>
                    <a:pt x="219893" y="186444"/>
                  </a:lnTo>
                  <a:lnTo>
                    <a:pt x="265848" y="203594"/>
                  </a:lnTo>
                  <a:lnTo>
                    <a:pt x="310790" y="228060"/>
                  </a:lnTo>
                  <a:lnTo>
                    <a:pt x="325594" y="245105"/>
                  </a:lnTo>
                  <a:lnTo>
                    <a:pt x="333306" y="267717"/>
                  </a:lnTo>
                  <a:lnTo>
                    <a:pt x="335018" y="291956"/>
                  </a:lnTo>
                  <a:lnTo>
                    <a:pt x="331823" y="313884"/>
                  </a:lnTo>
                  <a:lnTo>
                    <a:pt x="337558" y="319248"/>
                  </a:lnTo>
                  <a:lnTo>
                    <a:pt x="342534" y="327143"/>
                  </a:lnTo>
                  <a:lnTo>
                    <a:pt x="344821" y="336320"/>
                  </a:lnTo>
                  <a:lnTo>
                    <a:pt x="342490" y="345535"/>
                  </a:lnTo>
                  <a:lnTo>
                    <a:pt x="336542" y="351704"/>
                  </a:lnTo>
                  <a:lnTo>
                    <a:pt x="327533" y="355184"/>
                  </a:lnTo>
                  <a:lnTo>
                    <a:pt x="315771" y="355204"/>
                  </a:lnTo>
                  <a:lnTo>
                    <a:pt x="301562" y="350992"/>
                  </a:lnTo>
                  <a:lnTo>
                    <a:pt x="302108" y="350298"/>
                  </a:lnTo>
                  <a:lnTo>
                    <a:pt x="295849" y="352511"/>
                  </a:lnTo>
                  <a:lnTo>
                    <a:pt x="288571" y="354124"/>
                  </a:lnTo>
                  <a:lnTo>
                    <a:pt x="280112" y="355077"/>
                  </a:lnTo>
                  <a:lnTo>
                    <a:pt x="270308" y="355308"/>
                  </a:lnTo>
                  <a:lnTo>
                    <a:pt x="228139" y="355727"/>
                  </a:lnTo>
                  <a:lnTo>
                    <a:pt x="168584" y="356797"/>
                  </a:lnTo>
                  <a:lnTo>
                    <a:pt x="115392" y="357122"/>
                  </a:lnTo>
                  <a:lnTo>
                    <a:pt x="92310" y="355308"/>
                  </a:lnTo>
                  <a:lnTo>
                    <a:pt x="93750" y="348989"/>
                  </a:lnTo>
                  <a:lnTo>
                    <a:pt x="98772" y="343631"/>
                  </a:lnTo>
                  <a:lnTo>
                    <a:pt x="107756" y="339437"/>
                  </a:lnTo>
                  <a:lnTo>
                    <a:pt x="121083" y="336605"/>
                  </a:lnTo>
                  <a:lnTo>
                    <a:pt x="120438" y="336159"/>
                  </a:lnTo>
                  <a:lnTo>
                    <a:pt x="113667" y="333530"/>
                  </a:lnTo>
                  <a:lnTo>
                    <a:pt x="106412" y="329747"/>
                  </a:lnTo>
                  <a:lnTo>
                    <a:pt x="99510" y="324830"/>
                  </a:lnTo>
                  <a:lnTo>
                    <a:pt x="93799" y="318796"/>
                  </a:lnTo>
                  <a:lnTo>
                    <a:pt x="93799" y="317804"/>
                  </a:lnTo>
                  <a:lnTo>
                    <a:pt x="88012" y="328963"/>
                  </a:lnTo>
                  <a:lnTo>
                    <a:pt x="82667" y="339626"/>
                  </a:lnTo>
                  <a:lnTo>
                    <a:pt x="78373" y="348381"/>
                  </a:lnTo>
                  <a:lnTo>
                    <a:pt x="75741" y="353820"/>
                  </a:lnTo>
                  <a:lnTo>
                    <a:pt x="74401" y="356499"/>
                  </a:lnTo>
                  <a:lnTo>
                    <a:pt x="72069" y="356648"/>
                  </a:lnTo>
                  <a:lnTo>
                    <a:pt x="66463" y="357243"/>
                  </a:lnTo>
                  <a:lnTo>
                    <a:pt x="57601" y="357535"/>
                  </a:lnTo>
                  <a:lnTo>
                    <a:pt x="42335" y="357572"/>
                  </a:lnTo>
                  <a:lnTo>
                    <a:pt x="26706" y="357320"/>
                  </a:lnTo>
                  <a:lnTo>
                    <a:pt x="16755" y="356747"/>
                  </a:lnTo>
                  <a:lnTo>
                    <a:pt x="14604" y="353238"/>
                  </a:lnTo>
                  <a:lnTo>
                    <a:pt x="17368" y="346348"/>
                  </a:lnTo>
                  <a:lnTo>
                    <a:pt x="29612" y="340304"/>
                  </a:lnTo>
                  <a:lnTo>
                    <a:pt x="55897" y="339334"/>
                  </a:lnTo>
                  <a:lnTo>
                    <a:pt x="55952" y="330907"/>
                  </a:lnTo>
                  <a:lnTo>
                    <a:pt x="56492" y="318281"/>
                  </a:lnTo>
                  <a:lnTo>
                    <a:pt x="57515" y="303246"/>
                  </a:lnTo>
                  <a:lnTo>
                    <a:pt x="59022" y="287591"/>
                  </a:lnTo>
                  <a:lnTo>
                    <a:pt x="58923" y="288385"/>
                  </a:lnTo>
                  <a:lnTo>
                    <a:pt x="50786" y="276891"/>
                  </a:lnTo>
                  <a:lnTo>
                    <a:pt x="45466" y="257305"/>
                  </a:lnTo>
                  <a:lnTo>
                    <a:pt x="48388" y="229868"/>
                  </a:lnTo>
                  <a:lnTo>
                    <a:pt x="64975" y="194821"/>
                  </a:lnTo>
                  <a:lnTo>
                    <a:pt x="65968" y="194376"/>
                  </a:lnTo>
                  <a:lnTo>
                    <a:pt x="59816" y="194623"/>
                  </a:lnTo>
                  <a:lnTo>
                    <a:pt x="19855" y="191151"/>
                  </a:lnTo>
                  <a:lnTo>
                    <a:pt x="0" y="164362"/>
                  </a:lnTo>
                  <a:lnTo>
                    <a:pt x="1185" y="155291"/>
                  </a:lnTo>
                  <a:lnTo>
                    <a:pt x="35203" y="122275"/>
                  </a:lnTo>
                  <a:lnTo>
                    <a:pt x="64529" y="110337"/>
                  </a:lnTo>
                  <a:lnTo>
                    <a:pt x="64082" y="109841"/>
                  </a:lnTo>
                  <a:lnTo>
                    <a:pt x="58746" y="92168"/>
                  </a:lnTo>
                  <a:lnTo>
                    <a:pt x="50638" y="68467"/>
                  </a:lnTo>
                  <a:lnTo>
                    <a:pt x="44241" y="42199"/>
                  </a:lnTo>
                  <a:lnTo>
                    <a:pt x="44040" y="16823"/>
                  </a:lnTo>
                  <a:lnTo>
                    <a:pt x="51457" y="447"/>
                  </a:lnTo>
                  <a:lnTo>
                    <a:pt x="62148" y="0"/>
                  </a:lnTo>
                  <a:lnTo>
                    <a:pt x="73285" y="10036"/>
                  </a:lnTo>
                  <a:lnTo>
                    <a:pt x="82041" y="25109"/>
                  </a:lnTo>
                  <a:lnTo>
                    <a:pt x="87023" y="38048"/>
                  </a:lnTo>
                  <a:lnTo>
                    <a:pt x="90381" y="51792"/>
                  </a:lnTo>
                  <a:lnTo>
                    <a:pt x="92373" y="70475"/>
                  </a:lnTo>
                  <a:lnTo>
                    <a:pt x="93253" y="98233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7471" y="2143314"/>
              <a:ext cx="351163" cy="363922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830" y="63474"/>
            <a:ext cx="16275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85" dirty="0">
                <a:solidFill>
                  <a:srgbClr val="0000CC"/>
                </a:solidFill>
                <a:latin typeface="Arial"/>
                <a:cs typeface="Arial"/>
              </a:rPr>
              <a:t>Population</a:t>
            </a:r>
            <a:r>
              <a:rPr sz="1200" b="1" spc="254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1200" b="1" spc="105" dirty="0">
                <a:solidFill>
                  <a:srgbClr val="0000CC"/>
                </a:solidFill>
                <a:latin typeface="Arial"/>
                <a:cs typeface="Arial"/>
              </a:rPr>
              <a:t>Growth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6525" y="294590"/>
            <a:ext cx="4808220" cy="0"/>
          </a:xfrm>
          <a:custGeom>
            <a:avLst/>
            <a:gdLst/>
            <a:ahLst/>
            <a:cxnLst/>
            <a:rect l="l" t="t" r="r" b="b"/>
            <a:pathLst>
              <a:path w="4808220">
                <a:moveTo>
                  <a:pt x="0" y="0"/>
                </a:moveTo>
                <a:lnTo>
                  <a:pt x="480796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49358" y="360352"/>
            <a:ext cx="4362450" cy="2778760"/>
            <a:chOff x="349358" y="360352"/>
            <a:chExt cx="4362450" cy="2778760"/>
          </a:xfrm>
        </p:grpSpPr>
        <p:sp>
          <p:nvSpPr>
            <p:cNvPr id="5" name="object 5"/>
            <p:cNvSpPr/>
            <p:nvPr/>
          </p:nvSpPr>
          <p:spPr>
            <a:xfrm>
              <a:off x="352533" y="363527"/>
              <a:ext cx="4356100" cy="2772410"/>
            </a:xfrm>
            <a:custGeom>
              <a:avLst/>
              <a:gdLst/>
              <a:ahLst/>
              <a:cxnLst/>
              <a:rect l="l" t="t" r="r" b="b"/>
              <a:pathLst>
                <a:path w="4356100" h="2772410">
                  <a:moveTo>
                    <a:pt x="0" y="2772003"/>
                  </a:moveTo>
                  <a:lnTo>
                    <a:pt x="4356001" y="2772003"/>
                  </a:lnTo>
                  <a:lnTo>
                    <a:pt x="4356001" y="0"/>
                  </a:lnTo>
                  <a:lnTo>
                    <a:pt x="0" y="0"/>
                  </a:lnTo>
                  <a:lnTo>
                    <a:pt x="0" y="2772003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3029" y="1657940"/>
              <a:ext cx="1761566" cy="84929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830" y="63474"/>
            <a:ext cx="16275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85" dirty="0">
                <a:solidFill>
                  <a:srgbClr val="0000CC"/>
                </a:solidFill>
                <a:latin typeface="Arial"/>
                <a:cs typeface="Arial"/>
              </a:rPr>
              <a:t>Population</a:t>
            </a:r>
            <a:r>
              <a:rPr sz="1200" b="1" spc="254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1200" b="1" spc="105" dirty="0">
                <a:solidFill>
                  <a:srgbClr val="0000CC"/>
                </a:solidFill>
                <a:latin typeface="Arial"/>
                <a:cs typeface="Arial"/>
              </a:rPr>
              <a:t>Growth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6525" y="294590"/>
            <a:ext cx="4808220" cy="0"/>
          </a:xfrm>
          <a:custGeom>
            <a:avLst/>
            <a:gdLst/>
            <a:ahLst/>
            <a:cxnLst/>
            <a:rect l="l" t="t" r="r" b="b"/>
            <a:pathLst>
              <a:path w="4808220">
                <a:moveTo>
                  <a:pt x="0" y="0"/>
                </a:moveTo>
                <a:lnTo>
                  <a:pt x="480796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49358" y="360352"/>
            <a:ext cx="4362450" cy="2778760"/>
            <a:chOff x="349358" y="360352"/>
            <a:chExt cx="4362450" cy="2778760"/>
          </a:xfrm>
        </p:grpSpPr>
        <p:sp>
          <p:nvSpPr>
            <p:cNvPr id="5" name="object 5"/>
            <p:cNvSpPr/>
            <p:nvPr/>
          </p:nvSpPr>
          <p:spPr>
            <a:xfrm>
              <a:off x="352533" y="363527"/>
              <a:ext cx="4356100" cy="2772410"/>
            </a:xfrm>
            <a:custGeom>
              <a:avLst/>
              <a:gdLst/>
              <a:ahLst/>
              <a:cxnLst/>
              <a:rect l="l" t="t" r="r" b="b"/>
              <a:pathLst>
                <a:path w="4356100" h="2772410">
                  <a:moveTo>
                    <a:pt x="0" y="2772003"/>
                  </a:moveTo>
                  <a:lnTo>
                    <a:pt x="4356001" y="2772003"/>
                  </a:lnTo>
                  <a:lnTo>
                    <a:pt x="4356001" y="0"/>
                  </a:lnTo>
                  <a:lnTo>
                    <a:pt x="0" y="0"/>
                  </a:lnTo>
                  <a:lnTo>
                    <a:pt x="0" y="2772003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076" y="1657940"/>
              <a:ext cx="1761565" cy="8492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4445" y="1537308"/>
              <a:ext cx="842781" cy="42251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830" y="63474"/>
            <a:ext cx="16275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85" dirty="0">
                <a:solidFill>
                  <a:srgbClr val="0000CC"/>
                </a:solidFill>
                <a:latin typeface="Arial"/>
                <a:cs typeface="Arial"/>
              </a:rPr>
              <a:t>Population</a:t>
            </a:r>
            <a:r>
              <a:rPr sz="1200" b="1" spc="254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1200" b="1" spc="105" dirty="0">
                <a:solidFill>
                  <a:srgbClr val="0000CC"/>
                </a:solidFill>
                <a:latin typeface="Arial"/>
                <a:cs typeface="Arial"/>
              </a:rPr>
              <a:t>Growth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6525" y="294590"/>
            <a:ext cx="4808220" cy="0"/>
          </a:xfrm>
          <a:custGeom>
            <a:avLst/>
            <a:gdLst/>
            <a:ahLst/>
            <a:cxnLst/>
            <a:rect l="l" t="t" r="r" b="b"/>
            <a:pathLst>
              <a:path w="4808220">
                <a:moveTo>
                  <a:pt x="0" y="0"/>
                </a:moveTo>
                <a:lnTo>
                  <a:pt x="480796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49358" y="360352"/>
            <a:ext cx="4362450" cy="2778760"/>
            <a:chOff x="349358" y="360352"/>
            <a:chExt cx="4362450" cy="2778760"/>
          </a:xfrm>
        </p:grpSpPr>
        <p:sp>
          <p:nvSpPr>
            <p:cNvPr id="5" name="object 5"/>
            <p:cNvSpPr/>
            <p:nvPr/>
          </p:nvSpPr>
          <p:spPr>
            <a:xfrm>
              <a:off x="352533" y="363527"/>
              <a:ext cx="4356100" cy="2772410"/>
            </a:xfrm>
            <a:custGeom>
              <a:avLst/>
              <a:gdLst/>
              <a:ahLst/>
              <a:cxnLst/>
              <a:rect l="l" t="t" r="r" b="b"/>
              <a:pathLst>
                <a:path w="4356100" h="2772410">
                  <a:moveTo>
                    <a:pt x="0" y="2772003"/>
                  </a:moveTo>
                  <a:lnTo>
                    <a:pt x="4356001" y="2772003"/>
                  </a:lnTo>
                  <a:lnTo>
                    <a:pt x="4356001" y="0"/>
                  </a:lnTo>
                  <a:lnTo>
                    <a:pt x="0" y="0"/>
                  </a:lnTo>
                  <a:lnTo>
                    <a:pt x="0" y="2772003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3030" y="385304"/>
              <a:ext cx="4295611" cy="269793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0" dirty="0"/>
              <a:t>Check</a:t>
            </a:r>
            <a:r>
              <a:rPr spc="215" dirty="0"/>
              <a:t> </a:t>
            </a:r>
            <a:r>
              <a:rPr spc="50" dirty="0"/>
              <a:t>Yourself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061" y="491705"/>
            <a:ext cx="4803140" cy="1719580"/>
            <a:chOff x="129061" y="491705"/>
            <a:chExt cx="4803140" cy="1719580"/>
          </a:xfrm>
        </p:grpSpPr>
        <p:sp>
          <p:nvSpPr>
            <p:cNvPr id="4" name="object 4"/>
            <p:cNvSpPr/>
            <p:nvPr/>
          </p:nvSpPr>
          <p:spPr>
            <a:xfrm>
              <a:off x="129061" y="491705"/>
              <a:ext cx="4803140" cy="1719580"/>
            </a:xfrm>
            <a:custGeom>
              <a:avLst/>
              <a:gdLst/>
              <a:ahLst/>
              <a:cxnLst/>
              <a:rect l="l" t="t" r="r" b="b"/>
              <a:pathLst>
                <a:path w="4803140" h="1719580">
                  <a:moveTo>
                    <a:pt x="4733302" y="0"/>
                  </a:moveTo>
                  <a:lnTo>
                    <a:pt x="69583" y="0"/>
                  </a:lnTo>
                  <a:lnTo>
                    <a:pt x="29355" y="10872"/>
                  </a:lnTo>
                  <a:lnTo>
                    <a:pt x="8697" y="34791"/>
                  </a:lnTo>
                  <a:lnTo>
                    <a:pt x="1087" y="58710"/>
                  </a:lnTo>
                  <a:lnTo>
                    <a:pt x="0" y="69583"/>
                  </a:lnTo>
                  <a:lnTo>
                    <a:pt x="0" y="1649387"/>
                  </a:lnTo>
                  <a:lnTo>
                    <a:pt x="10872" y="1689614"/>
                  </a:lnTo>
                  <a:lnTo>
                    <a:pt x="34791" y="1710272"/>
                  </a:lnTo>
                  <a:lnTo>
                    <a:pt x="58710" y="1717883"/>
                  </a:lnTo>
                  <a:lnTo>
                    <a:pt x="69583" y="1718970"/>
                  </a:lnTo>
                  <a:lnTo>
                    <a:pt x="4733302" y="1718970"/>
                  </a:lnTo>
                  <a:lnTo>
                    <a:pt x="4773530" y="1708098"/>
                  </a:lnTo>
                  <a:lnTo>
                    <a:pt x="4794188" y="1684178"/>
                  </a:lnTo>
                  <a:lnTo>
                    <a:pt x="4801798" y="1660259"/>
                  </a:lnTo>
                  <a:lnTo>
                    <a:pt x="4802886" y="1649387"/>
                  </a:lnTo>
                  <a:lnTo>
                    <a:pt x="4802886" y="69583"/>
                  </a:lnTo>
                  <a:lnTo>
                    <a:pt x="4792013" y="29355"/>
                  </a:lnTo>
                  <a:lnTo>
                    <a:pt x="4768094" y="8697"/>
                  </a:lnTo>
                  <a:lnTo>
                    <a:pt x="4744175" y="1087"/>
                  </a:lnTo>
                  <a:lnTo>
                    <a:pt x="473330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8095" y="609726"/>
              <a:ext cx="4445000" cy="353060"/>
            </a:xfrm>
            <a:custGeom>
              <a:avLst/>
              <a:gdLst/>
              <a:ahLst/>
              <a:cxnLst/>
              <a:rect l="l" t="t" r="r" b="b"/>
              <a:pathLst>
                <a:path w="4445000" h="353059">
                  <a:moveTo>
                    <a:pt x="4375238" y="0"/>
                  </a:moveTo>
                  <a:lnTo>
                    <a:pt x="69583" y="0"/>
                  </a:lnTo>
                  <a:lnTo>
                    <a:pt x="29355" y="10874"/>
                  </a:lnTo>
                  <a:lnTo>
                    <a:pt x="8697" y="34797"/>
                  </a:lnTo>
                  <a:lnTo>
                    <a:pt x="1087" y="58721"/>
                  </a:lnTo>
                  <a:lnTo>
                    <a:pt x="0" y="69595"/>
                  </a:lnTo>
                  <a:lnTo>
                    <a:pt x="0" y="283425"/>
                  </a:lnTo>
                  <a:lnTo>
                    <a:pt x="10872" y="323653"/>
                  </a:lnTo>
                  <a:lnTo>
                    <a:pt x="34791" y="344311"/>
                  </a:lnTo>
                  <a:lnTo>
                    <a:pt x="58710" y="351921"/>
                  </a:lnTo>
                  <a:lnTo>
                    <a:pt x="69583" y="353009"/>
                  </a:lnTo>
                  <a:lnTo>
                    <a:pt x="4375238" y="353009"/>
                  </a:lnTo>
                  <a:lnTo>
                    <a:pt x="4415466" y="342136"/>
                  </a:lnTo>
                  <a:lnTo>
                    <a:pt x="4436124" y="318217"/>
                  </a:lnTo>
                  <a:lnTo>
                    <a:pt x="4443734" y="294298"/>
                  </a:lnTo>
                  <a:lnTo>
                    <a:pt x="4444822" y="283425"/>
                  </a:lnTo>
                  <a:lnTo>
                    <a:pt x="4444822" y="69595"/>
                  </a:lnTo>
                  <a:lnTo>
                    <a:pt x="4433949" y="29360"/>
                  </a:lnTo>
                  <a:lnTo>
                    <a:pt x="4410030" y="8699"/>
                  </a:lnTo>
                  <a:lnTo>
                    <a:pt x="4386111" y="1087"/>
                  </a:lnTo>
                  <a:lnTo>
                    <a:pt x="4375238" y="0"/>
                  </a:lnTo>
                  <a:close/>
                </a:path>
              </a:pathLst>
            </a:custGeom>
            <a:solidFill>
              <a:srgbClr val="B2FF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8095" y="609726"/>
              <a:ext cx="4445000" cy="353060"/>
            </a:xfrm>
            <a:custGeom>
              <a:avLst/>
              <a:gdLst/>
              <a:ahLst/>
              <a:cxnLst/>
              <a:rect l="l" t="t" r="r" b="b"/>
              <a:pathLst>
                <a:path w="4445000" h="353059">
                  <a:moveTo>
                    <a:pt x="69583" y="353009"/>
                  </a:moveTo>
                  <a:lnTo>
                    <a:pt x="4375238" y="353009"/>
                  </a:lnTo>
                  <a:lnTo>
                    <a:pt x="4415466" y="342136"/>
                  </a:lnTo>
                  <a:lnTo>
                    <a:pt x="4436124" y="318217"/>
                  </a:lnTo>
                  <a:lnTo>
                    <a:pt x="4443734" y="294298"/>
                  </a:lnTo>
                  <a:lnTo>
                    <a:pt x="4444822" y="283425"/>
                  </a:lnTo>
                  <a:lnTo>
                    <a:pt x="4444822" y="69595"/>
                  </a:lnTo>
                  <a:lnTo>
                    <a:pt x="4433949" y="29360"/>
                  </a:lnTo>
                  <a:lnTo>
                    <a:pt x="4410030" y="8699"/>
                  </a:lnTo>
                  <a:lnTo>
                    <a:pt x="4386111" y="1087"/>
                  </a:lnTo>
                  <a:lnTo>
                    <a:pt x="4375238" y="0"/>
                  </a:lnTo>
                  <a:lnTo>
                    <a:pt x="69583" y="0"/>
                  </a:lnTo>
                  <a:lnTo>
                    <a:pt x="29355" y="10874"/>
                  </a:lnTo>
                  <a:lnTo>
                    <a:pt x="8697" y="34797"/>
                  </a:lnTo>
                  <a:lnTo>
                    <a:pt x="1087" y="58721"/>
                  </a:lnTo>
                  <a:lnTo>
                    <a:pt x="0" y="69595"/>
                  </a:lnTo>
                  <a:lnTo>
                    <a:pt x="0" y="283425"/>
                  </a:lnTo>
                  <a:lnTo>
                    <a:pt x="10872" y="323653"/>
                  </a:lnTo>
                  <a:lnTo>
                    <a:pt x="34791" y="344311"/>
                  </a:lnTo>
                  <a:lnTo>
                    <a:pt x="58710" y="351921"/>
                  </a:lnTo>
                  <a:lnTo>
                    <a:pt x="69583" y="353009"/>
                  </a:lnTo>
                  <a:close/>
                </a:path>
              </a:pathLst>
            </a:custGeom>
            <a:ln w="505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92722" y="690867"/>
            <a:ext cx="3558540" cy="1402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1770">
              <a:lnSpc>
                <a:spcPct val="100000"/>
              </a:lnSpc>
              <a:spcBef>
                <a:spcPts val="95"/>
              </a:spcBef>
            </a:pPr>
            <a:r>
              <a:rPr sz="1100" spc="125" dirty="0">
                <a:latin typeface="Arial"/>
                <a:cs typeface="Arial"/>
              </a:rPr>
              <a:t>What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pole(s)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Fibonacci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40" dirty="0">
                <a:latin typeface="Arial"/>
                <a:cs typeface="Arial"/>
              </a:rPr>
              <a:t>system?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70" dirty="0">
                <a:latin typeface="Arial"/>
                <a:cs typeface="Arial"/>
              </a:rPr>
              <a:t>1.</a:t>
            </a:r>
            <a:r>
              <a:rPr sz="1100" spc="185" dirty="0">
                <a:latin typeface="Arial"/>
                <a:cs typeface="Arial"/>
              </a:rPr>
              <a:t>  </a:t>
            </a:r>
            <a:r>
              <a:rPr sz="1100" spc="-50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  <a:p>
            <a:pPr marL="271145" indent="-258445">
              <a:lnSpc>
                <a:spcPct val="100000"/>
              </a:lnSpc>
              <a:spcBef>
                <a:spcPts val="275"/>
              </a:spcBef>
              <a:buFont typeface="Arial"/>
              <a:buAutoNum type="arabicPeriod" startAt="2"/>
              <a:tabLst>
                <a:tab pos="271145" algn="l"/>
              </a:tabLst>
            </a:pP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175" dirty="0">
                <a:latin typeface="Palatino Linotype"/>
                <a:cs typeface="Palatino Linotype"/>
              </a:rPr>
              <a:t> </a:t>
            </a:r>
            <a:r>
              <a:rPr sz="1100" spc="55" dirty="0">
                <a:latin typeface="Arial"/>
                <a:cs typeface="Arial"/>
              </a:rPr>
              <a:t>and</a:t>
            </a:r>
            <a:r>
              <a:rPr sz="1100" spc="145" dirty="0">
                <a:latin typeface="Arial"/>
                <a:cs typeface="Arial"/>
              </a:rPr>
              <a:t> </a:t>
            </a:r>
            <a:r>
              <a:rPr sz="1100" i="1" spc="25" dirty="0">
                <a:latin typeface="Times New Roman"/>
                <a:cs typeface="Times New Roman"/>
              </a:rPr>
              <a:t>−</a:t>
            </a:r>
            <a:r>
              <a:rPr sz="1100" spc="25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  <a:p>
            <a:pPr marL="271145" indent="-258445">
              <a:lnSpc>
                <a:spcPct val="100000"/>
              </a:lnSpc>
              <a:spcBef>
                <a:spcPts val="280"/>
              </a:spcBef>
              <a:buFont typeface="Arial"/>
              <a:buAutoNum type="arabicPeriod" startAt="2"/>
              <a:tabLst>
                <a:tab pos="271145" algn="l"/>
              </a:tabLst>
            </a:pPr>
            <a:r>
              <a:rPr sz="1100" i="1" spc="50" dirty="0">
                <a:latin typeface="Times New Roman"/>
                <a:cs typeface="Times New Roman"/>
              </a:rPr>
              <a:t>−</a:t>
            </a:r>
            <a:r>
              <a:rPr sz="1100" spc="50" dirty="0">
                <a:latin typeface="Palatino Linotype"/>
                <a:cs typeface="Palatino Linotype"/>
              </a:rPr>
              <a:t>1</a:t>
            </a:r>
            <a:r>
              <a:rPr sz="1100" spc="180" dirty="0">
                <a:latin typeface="Palatino Linotype"/>
                <a:cs typeface="Palatino Linotype"/>
              </a:rPr>
              <a:t> </a:t>
            </a:r>
            <a:r>
              <a:rPr sz="1100" spc="55" dirty="0">
                <a:latin typeface="Arial"/>
                <a:cs typeface="Arial"/>
              </a:rPr>
              <a:t>and</a:t>
            </a:r>
            <a:r>
              <a:rPr sz="1100" spc="150" dirty="0">
                <a:latin typeface="Arial"/>
                <a:cs typeface="Arial"/>
              </a:rPr>
              <a:t> </a:t>
            </a:r>
            <a:r>
              <a:rPr sz="1100" i="1" spc="25" dirty="0">
                <a:latin typeface="Times New Roman"/>
                <a:cs typeface="Times New Roman"/>
              </a:rPr>
              <a:t>−</a:t>
            </a:r>
            <a:r>
              <a:rPr sz="1100" spc="25" dirty="0">
                <a:latin typeface="Palatino Linotype"/>
                <a:cs typeface="Palatino Linotype"/>
              </a:rPr>
              <a:t>2</a:t>
            </a:r>
            <a:endParaRPr sz="1100">
              <a:latin typeface="Palatino Linotype"/>
              <a:cs typeface="Palatino Linotype"/>
            </a:endParaRPr>
          </a:p>
          <a:p>
            <a:pPr marL="271145" indent="-258445">
              <a:lnSpc>
                <a:spcPct val="100000"/>
              </a:lnSpc>
              <a:spcBef>
                <a:spcPts val="280"/>
              </a:spcBef>
              <a:buFont typeface="Arial"/>
              <a:buAutoNum type="arabicPeriod" startAt="2"/>
              <a:tabLst>
                <a:tab pos="271145" algn="l"/>
              </a:tabLst>
            </a:pPr>
            <a:r>
              <a:rPr sz="1100" spc="-10" dirty="0">
                <a:latin typeface="Palatino Linotype"/>
                <a:cs typeface="Palatino Linotype"/>
              </a:rPr>
              <a:t>1</a:t>
            </a:r>
            <a:r>
              <a:rPr sz="1100" i="1" spc="-10" dirty="0">
                <a:latin typeface="Georgia"/>
                <a:cs typeface="Georgia"/>
              </a:rPr>
              <a:t>.</a:t>
            </a:r>
            <a:r>
              <a:rPr sz="1100" spc="-10" dirty="0">
                <a:latin typeface="Palatino Linotype"/>
                <a:cs typeface="Palatino Linotype"/>
              </a:rPr>
              <a:t>618</a:t>
            </a:r>
            <a:r>
              <a:rPr sz="1100" spc="-85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7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7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215" dirty="0">
                <a:latin typeface="Georgia"/>
                <a:cs typeface="Georgia"/>
              </a:rPr>
              <a:t> </a:t>
            </a:r>
            <a:r>
              <a:rPr sz="1100" spc="55" dirty="0">
                <a:latin typeface="Arial"/>
                <a:cs typeface="Arial"/>
              </a:rPr>
              <a:t>and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−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618</a:t>
            </a:r>
            <a:r>
              <a:rPr sz="1100" spc="-8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7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75" dirty="0">
                <a:latin typeface="Georgia"/>
                <a:cs typeface="Georgia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  <a:p>
            <a:pPr marL="271145" indent="-258445">
              <a:lnSpc>
                <a:spcPct val="100000"/>
              </a:lnSpc>
              <a:spcBef>
                <a:spcPts val="275"/>
              </a:spcBef>
              <a:buAutoNum type="arabicPeriod" startAt="2"/>
              <a:tabLst>
                <a:tab pos="271145" algn="l"/>
              </a:tabLst>
            </a:pPr>
            <a:r>
              <a:rPr sz="1100" dirty="0">
                <a:latin typeface="Arial"/>
                <a:cs typeface="Arial"/>
              </a:rPr>
              <a:t>none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spc="30" dirty="0">
                <a:latin typeface="Arial"/>
                <a:cs typeface="Arial"/>
              </a:rPr>
              <a:t>above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9061" y="491705"/>
            <a:ext cx="4803140" cy="1719580"/>
          </a:xfrm>
          <a:custGeom>
            <a:avLst/>
            <a:gdLst/>
            <a:ahLst/>
            <a:cxnLst/>
            <a:rect l="l" t="t" r="r" b="b"/>
            <a:pathLst>
              <a:path w="4803140" h="1719580">
                <a:moveTo>
                  <a:pt x="69583" y="1718970"/>
                </a:moveTo>
                <a:lnTo>
                  <a:pt x="4733302" y="1718970"/>
                </a:lnTo>
                <a:lnTo>
                  <a:pt x="4773530" y="1708098"/>
                </a:lnTo>
                <a:lnTo>
                  <a:pt x="4794188" y="1684178"/>
                </a:lnTo>
                <a:lnTo>
                  <a:pt x="4801798" y="1660259"/>
                </a:lnTo>
                <a:lnTo>
                  <a:pt x="4802886" y="1649387"/>
                </a:lnTo>
                <a:lnTo>
                  <a:pt x="4802886" y="69583"/>
                </a:lnTo>
                <a:lnTo>
                  <a:pt x="4792013" y="29355"/>
                </a:lnTo>
                <a:lnTo>
                  <a:pt x="4768094" y="8697"/>
                </a:lnTo>
                <a:lnTo>
                  <a:pt x="4744175" y="1087"/>
                </a:lnTo>
                <a:lnTo>
                  <a:pt x="4733302" y="0"/>
                </a:lnTo>
                <a:lnTo>
                  <a:pt x="69583" y="0"/>
                </a:lnTo>
                <a:lnTo>
                  <a:pt x="29355" y="10872"/>
                </a:lnTo>
                <a:lnTo>
                  <a:pt x="8697" y="34791"/>
                </a:lnTo>
                <a:lnTo>
                  <a:pt x="1087" y="58710"/>
                </a:lnTo>
                <a:lnTo>
                  <a:pt x="0" y="69583"/>
                </a:lnTo>
                <a:lnTo>
                  <a:pt x="0" y="1649387"/>
                </a:lnTo>
                <a:lnTo>
                  <a:pt x="10872" y="1689614"/>
                </a:lnTo>
                <a:lnTo>
                  <a:pt x="34791" y="1710272"/>
                </a:lnTo>
                <a:lnTo>
                  <a:pt x="58710" y="1717883"/>
                </a:lnTo>
                <a:lnTo>
                  <a:pt x="69583" y="1718970"/>
                </a:lnTo>
                <a:close/>
              </a:path>
            </a:pathLst>
          </a:custGeom>
          <a:ln w="505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7331" y="1853794"/>
            <a:ext cx="126364" cy="0"/>
          </a:xfrm>
          <a:custGeom>
            <a:avLst/>
            <a:gdLst/>
            <a:ahLst/>
            <a:cxnLst/>
            <a:rect l="l" t="t" r="r" b="b"/>
            <a:pathLst>
              <a:path w="126365">
                <a:moveTo>
                  <a:pt x="0" y="0"/>
                </a:moveTo>
                <a:lnTo>
                  <a:pt x="126225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49496" y="1853794"/>
            <a:ext cx="710565" cy="0"/>
          </a:xfrm>
          <a:custGeom>
            <a:avLst/>
            <a:gdLst/>
            <a:ahLst/>
            <a:cxnLst/>
            <a:rect l="l" t="t" r="r" b="b"/>
            <a:pathLst>
              <a:path w="710564">
                <a:moveTo>
                  <a:pt x="0" y="0"/>
                </a:moveTo>
                <a:lnTo>
                  <a:pt x="710552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0" dirty="0"/>
              <a:t>Check</a:t>
            </a:r>
            <a:r>
              <a:rPr spc="215" dirty="0"/>
              <a:t> </a:t>
            </a:r>
            <a:r>
              <a:rPr spc="50" dirty="0"/>
              <a:t>Yourself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13551" y="390931"/>
            <a:ext cx="3380104" cy="1296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125" dirty="0">
                <a:latin typeface="Arial"/>
                <a:cs typeface="Arial"/>
              </a:rPr>
              <a:t>What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pole(s)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Fibonacci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40" dirty="0">
                <a:latin typeface="Arial"/>
                <a:cs typeface="Arial"/>
              </a:rPr>
              <a:t>system?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65" dirty="0">
                <a:latin typeface="Arial"/>
                <a:cs typeface="Arial"/>
              </a:rPr>
              <a:t>Diﬀerence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equation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75" dirty="0">
                <a:latin typeface="Arial"/>
                <a:cs typeface="Arial"/>
              </a:rPr>
              <a:t>for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Fibonacci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45" dirty="0">
                <a:latin typeface="Arial"/>
                <a:cs typeface="Arial"/>
              </a:rPr>
              <a:t>system:</a:t>
            </a:r>
            <a:endParaRPr sz="11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585"/>
              </a:spcBef>
            </a:pPr>
            <a:r>
              <a:rPr sz="1100" i="1" spc="-20" dirty="0">
                <a:latin typeface="Georgia"/>
                <a:cs typeface="Georgia"/>
              </a:rPr>
              <a:t>y</a:t>
            </a:r>
            <a:r>
              <a:rPr sz="1100" spc="-20" dirty="0">
                <a:latin typeface="Palatino Linotype"/>
                <a:cs typeface="Palatino Linotype"/>
              </a:rPr>
              <a:t>[</a:t>
            </a:r>
            <a:r>
              <a:rPr sz="1100" i="1" spc="-20" dirty="0">
                <a:latin typeface="Georgia"/>
                <a:cs typeface="Georgia"/>
              </a:rPr>
              <a:t>n</a:t>
            </a:r>
            <a:r>
              <a:rPr sz="1100" spc="-20" dirty="0">
                <a:latin typeface="Palatino Linotype"/>
                <a:cs typeface="Palatino Linotype"/>
              </a:rPr>
              <a:t>]</a:t>
            </a:r>
            <a:r>
              <a:rPr sz="1100" spc="1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20" dirty="0">
                <a:latin typeface="Palatino Linotype"/>
                <a:cs typeface="Palatino Linotype"/>
              </a:rPr>
              <a:t> </a:t>
            </a:r>
            <a:r>
              <a:rPr sz="1100" i="1" spc="-10" dirty="0">
                <a:latin typeface="Georgia"/>
                <a:cs typeface="Georgia"/>
              </a:rPr>
              <a:t>x</a:t>
            </a:r>
            <a:r>
              <a:rPr sz="1100" spc="-10" dirty="0">
                <a:latin typeface="Palatino Linotype"/>
                <a:cs typeface="Palatino Linotype"/>
              </a:rPr>
              <a:t>[</a:t>
            </a:r>
            <a:r>
              <a:rPr sz="1100" i="1" spc="-10" dirty="0">
                <a:latin typeface="Georgia"/>
                <a:cs typeface="Georgia"/>
              </a:rPr>
              <a:t>n</a:t>
            </a:r>
            <a:r>
              <a:rPr sz="1100" spc="-10" dirty="0">
                <a:latin typeface="Palatino Linotype"/>
                <a:cs typeface="Palatino Linotype"/>
              </a:rPr>
              <a:t>]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40" dirty="0">
                <a:latin typeface="Palatino Linotype"/>
                <a:cs typeface="Palatino Linotype"/>
              </a:rPr>
              <a:t> </a:t>
            </a:r>
            <a:r>
              <a:rPr sz="1100" i="1" spc="-35" dirty="0">
                <a:latin typeface="Georgia"/>
                <a:cs typeface="Georgia"/>
              </a:rPr>
              <a:t>y</a:t>
            </a:r>
            <a:r>
              <a:rPr sz="1100" spc="-35" dirty="0">
                <a:latin typeface="Palatino Linotype"/>
                <a:cs typeface="Palatino Linotype"/>
              </a:rPr>
              <a:t>[</a:t>
            </a:r>
            <a:r>
              <a:rPr sz="1100" i="1" spc="-35" dirty="0">
                <a:latin typeface="Georgia"/>
                <a:cs typeface="Georgia"/>
              </a:rPr>
              <a:t>n</a:t>
            </a:r>
            <a:r>
              <a:rPr sz="1100" i="1" spc="-30" dirty="0">
                <a:latin typeface="Georgia"/>
                <a:cs typeface="Georgia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Palatino Linotype"/>
                <a:cs typeface="Palatino Linotype"/>
              </a:rPr>
              <a:t>1]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40" dirty="0">
                <a:latin typeface="Palatino Linotype"/>
                <a:cs typeface="Palatino Linotype"/>
              </a:rPr>
              <a:t> </a:t>
            </a:r>
            <a:r>
              <a:rPr sz="1100" i="1" spc="-35" dirty="0">
                <a:latin typeface="Georgia"/>
                <a:cs typeface="Georgia"/>
              </a:rPr>
              <a:t>y</a:t>
            </a:r>
            <a:r>
              <a:rPr sz="1100" spc="-35" dirty="0">
                <a:latin typeface="Palatino Linotype"/>
                <a:cs typeface="Palatino Linotype"/>
              </a:rPr>
              <a:t>[</a:t>
            </a:r>
            <a:r>
              <a:rPr sz="1100" i="1" spc="-35" dirty="0">
                <a:latin typeface="Georgia"/>
                <a:cs typeface="Georgia"/>
              </a:rPr>
              <a:t>n</a:t>
            </a:r>
            <a:r>
              <a:rPr sz="1100" i="1" spc="-30" dirty="0">
                <a:latin typeface="Georgia"/>
                <a:cs typeface="Georgia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Palatino Linotype"/>
                <a:cs typeface="Palatino Linotype"/>
              </a:rPr>
              <a:t>2]</a:t>
            </a:r>
            <a:endParaRPr sz="11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1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</a:pPr>
            <a:r>
              <a:rPr sz="1100" spc="60" dirty="0">
                <a:latin typeface="Arial"/>
                <a:cs typeface="Arial"/>
              </a:rPr>
              <a:t>System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functional: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1584" y="1642570"/>
            <a:ext cx="7505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8020" algn="l"/>
              </a:tabLst>
            </a:pPr>
            <a:r>
              <a:rPr sz="1100" i="1" spc="-50" dirty="0">
                <a:latin typeface="Georgia"/>
                <a:cs typeface="Georgia"/>
              </a:rPr>
              <a:t>Y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spc="-50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1179" y="1736656"/>
            <a:ext cx="1450975" cy="289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1040"/>
              </a:lnSpc>
              <a:spcBef>
                <a:spcPts val="95"/>
              </a:spcBef>
              <a:tabLst>
                <a:tab pos="545465" algn="l"/>
              </a:tabLst>
            </a:pPr>
            <a:r>
              <a:rPr sz="1100" i="1" dirty="0">
                <a:latin typeface="Georgia"/>
                <a:cs typeface="Georgia"/>
              </a:rPr>
              <a:t>H</a:t>
            </a:r>
            <a:r>
              <a:rPr sz="1100" i="1" spc="130" dirty="0">
                <a:latin typeface="Georgia"/>
                <a:cs typeface="Georgia"/>
              </a:rPr>
              <a:t> </a:t>
            </a:r>
            <a:r>
              <a:rPr sz="1100" spc="250" dirty="0">
                <a:latin typeface="Palatino Linotype"/>
                <a:cs typeface="Palatino Linotype"/>
              </a:rPr>
              <a:t>=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spc="250" dirty="0">
                <a:latin typeface="Palatino Linotype"/>
                <a:cs typeface="Palatino Linotype"/>
              </a:rPr>
              <a:t>=</a:t>
            </a:r>
            <a:endParaRPr sz="1100">
              <a:latin typeface="Palatino Linotype"/>
              <a:cs typeface="Palatino Linotype"/>
            </a:endParaRPr>
          </a:p>
          <a:p>
            <a:pPr marL="365760">
              <a:lnSpc>
                <a:spcPts val="1040"/>
              </a:lnSpc>
              <a:tabLst>
                <a:tab pos="708025" algn="l"/>
              </a:tabLst>
            </a:pPr>
            <a:r>
              <a:rPr sz="1100" i="1" spc="65" dirty="0">
                <a:latin typeface="Georgia"/>
                <a:cs typeface="Georgia"/>
              </a:rPr>
              <a:t>X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i="1" spc="245" dirty="0">
                <a:latin typeface="Times New Roman"/>
                <a:cs typeface="Times New Roman"/>
              </a:rPr>
              <a:t>R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R</a:t>
            </a:r>
            <a:r>
              <a:rPr sz="1350" spc="150" baseline="18518" dirty="0">
                <a:latin typeface="Palatino Linotype"/>
                <a:cs typeface="Palatino Linotype"/>
              </a:rPr>
              <a:t>2</a:t>
            </a:r>
            <a:endParaRPr sz="1350" baseline="18518">
              <a:latin typeface="Palatino Linotype"/>
              <a:cs typeface="Palatino Linotyp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830" y="2182901"/>
            <a:ext cx="288099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85" dirty="0">
                <a:latin typeface="Arial"/>
                <a:cs typeface="Arial"/>
              </a:rPr>
              <a:t>Denominator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second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order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→</a:t>
            </a:r>
            <a:r>
              <a:rPr sz="1100" i="1" spc="220" dirty="0">
                <a:latin typeface="Times New Roman"/>
                <a:cs typeface="Times New Roman"/>
              </a:rPr>
              <a:t> </a:t>
            </a:r>
            <a:r>
              <a:rPr sz="1100" spc="65" dirty="0">
                <a:latin typeface="Arial"/>
                <a:cs typeface="Arial"/>
              </a:rPr>
              <a:t>2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poles.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7331" y="789527"/>
            <a:ext cx="126364" cy="0"/>
          </a:xfrm>
          <a:custGeom>
            <a:avLst/>
            <a:gdLst/>
            <a:ahLst/>
            <a:cxnLst/>
            <a:rect l="l" t="t" r="r" b="b"/>
            <a:pathLst>
              <a:path w="126365">
                <a:moveTo>
                  <a:pt x="0" y="0"/>
                </a:moveTo>
                <a:lnTo>
                  <a:pt x="126225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49496" y="789527"/>
            <a:ext cx="710565" cy="0"/>
          </a:xfrm>
          <a:custGeom>
            <a:avLst/>
            <a:gdLst/>
            <a:ahLst/>
            <a:cxnLst/>
            <a:rect l="l" t="t" r="r" b="b"/>
            <a:pathLst>
              <a:path w="710564">
                <a:moveTo>
                  <a:pt x="0" y="0"/>
                </a:moveTo>
                <a:lnTo>
                  <a:pt x="710552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006912" y="789527"/>
            <a:ext cx="649605" cy="0"/>
          </a:xfrm>
          <a:custGeom>
            <a:avLst/>
            <a:gdLst/>
            <a:ahLst/>
            <a:cxnLst/>
            <a:rect l="l" t="t" r="r" b="b"/>
            <a:pathLst>
              <a:path w="649605">
                <a:moveTo>
                  <a:pt x="0" y="0"/>
                </a:moveTo>
                <a:lnTo>
                  <a:pt x="649338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61790" y="901064"/>
            <a:ext cx="59690" cy="0"/>
          </a:xfrm>
          <a:custGeom>
            <a:avLst/>
            <a:gdLst/>
            <a:ahLst/>
            <a:cxnLst/>
            <a:rect l="l" t="t" r="r" b="b"/>
            <a:pathLst>
              <a:path w="59689">
                <a:moveTo>
                  <a:pt x="0" y="0"/>
                </a:moveTo>
                <a:lnTo>
                  <a:pt x="59347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21614" y="901064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4">
                <a:moveTo>
                  <a:pt x="0" y="0"/>
                </a:moveTo>
                <a:lnTo>
                  <a:pt x="119456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72187" y="789527"/>
            <a:ext cx="616585" cy="0"/>
          </a:xfrm>
          <a:custGeom>
            <a:avLst/>
            <a:gdLst/>
            <a:ahLst/>
            <a:cxnLst/>
            <a:rect l="l" t="t" r="r" b="b"/>
            <a:pathLst>
              <a:path w="616585">
                <a:moveTo>
                  <a:pt x="0" y="0"/>
                </a:moveTo>
                <a:lnTo>
                  <a:pt x="616331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06853" y="1233034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596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1177" y="1409284"/>
            <a:ext cx="425450" cy="0"/>
          </a:xfrm>
          <a:custGeom>
            <a:avLst/>
            <a:gdLst/>
            <a:ahLst/>
            <a:cxnLst/>
            <a:rect l="l" t="t" r="r" b="b"/>
            <a:pathLst>
              <a:path w="425450">
                <a:moveTo>
                  <a:pt x="0" y="0"/>
                </a:moveTo>
                <a:lnTo>
                  <a:pt x="425272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33504" y="1409284"/>
            <a:ext cx="83185" cy="0"/>
          </a:xfrm>
          <a:custGeom>
            <a:avLst/>
            <a:gdLst/>
            <a:ahLst/>
            <a:cxnLst/>
            <a:rect l="l" t="t" r="r" b="b"/>
            <a:pathLst>
              <a:path w="83185">
                <a:moveTo>
                  <a:pt x="0" y="0"/>
                </a:moveTo>
                <a:lnTo>
                  <a:pt x="82931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18937" y="1819375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596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63258" y="1995625"/>
            <a:ext cx="425450" cy="0"/>
          </a:xfrm>
          <a:custGeom>
            <a:avLst/>
            <a:gdLst/>
            <a:ahLst/>
            <a:cxnLst/>
            <a:rect l="l" t="t" r="r" b="b"/>
            <a:pathLst>
              <a:path w="425450">
                <a:moveTo>
                  <a:pt x="0" y="0"/>
                </a:moveTo>
                <a:lnTo>
                  <a:pt x="425272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0" dirty="0"/>
              <a:t>Check</a:t>
            </a:r>
            <a:r>
              <a:rPr spc="215" dirty="0"/>
              <a:t> </a:t>
            </a:r>
            <a:r>
              <a:rPr spc="50" dirty="0"/>
              <a:t>Yourself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113830" y="389000"/>
            <a:ext cx="429323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80" dirty="0">
                <a:latin typeface="Arial"/>
                <a:cs typeface="Arial"/>
              </a:rPr>
              <a:t>Find</a:t>
            </a:r>
            <a:r>
              <a:rPr sz="1100" spc="18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poles</a:t>
            </a:r>
            <a:r>
              <a:rPr sz="1100" spc="18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spc="80" dirty="0">
                <a:latin typeface="Arial"/>
                <a:cs typeface="Arial"/>
              </a:rPr>
              <a:t>substituting</a:t>
            </a:r>
            <a:r>
              <a:rPr sz="1100" spc="185" dirty="0">
                <a:latin typeface="Arial"/>
                <a:cs typeface="Arial"/>
              </a:rPr>
              <a:t> </a:t>
            </a:r>
            <a:r>
              <a:rPr sz="1100" i="1" spc="245" dirty="0">
                <a:latin typeface="Times New Roman"/>
                <a:cs typeface="Times New Roman"/>
              </a:rPr>
              <a:t>R</a:t>
            </a:r>
            <a:r>
              <a:rPr sz="1100" i="1" spc="5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→</a:t>
            </a:r>
            <a:r>
              <a:rPr sz="1100" i="1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i="1" dirty="0">
                <a:latin typeface="Georgia"/>
                <a:cs typeface="Georgia"/>
              </a:rPr>
              <a:t>/z</a:t>
            </a:r>
            <a:r>
              <a:rPr sz="1100" i="1" spc="270" dirty="0">
                <a:latin typeface="Georgia"/>
                <a:cs typeface="Georgia"/>
              </a:rPr>
              <a:t> </a:t>
            </a:r>
            <a:r>
              <a:rPr sz="1100" spc="60" dirty="0">
                <a:latin typeface="Arial"/>
                <a:cs typeface="Arial"/>
              </a:rPr>
              <a:t>in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system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functional.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1865" y="578281"/>
            <a:ext cx="7505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8020" algn="l"/>
              </a:tabLst>
            </a:pPr>
            <a:r>
              <a:rPr sz="1100" i="1" spc="-50" dirty="0">
                <a:latin typeface="Georgia"/>
                <a:cs typeface="Georgia"/>
              </a:rPr>
              <a:t>Y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spc="-50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74385" y="527773"/>
            <a:ext cx="2057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-37" baseline="-20202" dirty="0">
                <a:latin typeface="Georgia"/>
                <a:cs typeface="Georgia"/>
              </a:rPr>
              <a:t>z</a:t>
            </a:r>
            <a:r>
              <a:rPr sz="900" spc="-25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6860" y="672506"/>
            <a:ext cx="641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0065" algn="l"/>
              </a:tabLst>
            </a:pPr>
            <a:r>
              <a:rPr sz="1100" i="1" dirty="0">
                <a:latin typeface="Georgia"/>
                <a:cs typeface="Georgia"/>
              </a:rPr>
              <a:t>H</a:t>
            </a:r>
            <a:r>
              <a:rPr sz="1100" i="1" spc="130" dirty="0">
                <a:latin typeface="Georgia"/>
                <a:cs typeface="Georgia"/>
              </a:rPr>
              <a:t> </a:t>
            </a:r>
            <a:r>
              <a:rPr sz="1100" spc="250" dirty="0">
                <a:latin typeface="Palatino Linotype"/>
                <a:cs typeface="Palatino Linotype"/>
              </a:rPr>
              <a:t>=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spc="250" dirty="0">
                <a:latin typeface="Palatino Linotype"/>
                <a:cs typeface="Palatino Linotype"/>
              </a:rPr>
              <a:t>=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4489" y="769514"/>
            <a:ext cx="101346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330" algn="l"/>
              </a:tabLst>
            </a:pPr>
            <a:r>
              <a:rPr sz="1100" i="1" spc="65" dirty="0">
                <a:latin typeface="Georgia"/>
                <a:cs typeface="Georgia"/>
              </a:rPr>
              <a:t>X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i="1" spc="245" dirty="0">
                <a:latin typeface="Times New Roman"/>
                <a:cs typeface="Times New Roman"/>
              </a:rPr>
              <a:t>R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82508" y="754494"/>
            <a:ext cx="844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01190" y="672439"/>
            <a:ext cx="16510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Times New Roman"/>
                <a:cs typeface="Times New Roman"/>
              </a:rPr>
              <a:t>→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94231" y="783922"/>
            <a:ext cx="49403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745" algn="l"/>
              </a:tabLst>
            </a:pP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-45" dirty="0">
                <a:latin typeface="Palatino Linotype"/>
                <a:cs typeface="Palatino Linotype"/>
              </a:rPr>
              <a:t> </a:t>
            </a:r>
            <a:r>
              <a:rPr sz="1100" i="1" spc="60" dirty="0">
                <a:latin typeface="Times New Roman"/>
                <a:cs typeface="Times New Roman"/>
              </a:rPr>
              <a:t>−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60" dirty="0">
                <a:latin typeface="Times New Roman"/>
                <a:cs typeface="Times New Roman"/>
              </a:rPr>
              <a:t>−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49512" y="567039"/>
            <a:ext cx="374015" cy="34988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185"/>
              </a:spcBef>
            </a:pPr>
            <a:r>
              <a:rPr sz="1100" spc="-50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  <a:tabLst>
                <a:tab pos="302260" algn="l"/>
              </a:tabLst>
            </a:pPr>
            <a:r>
              <a:rPr sz="900" spc="-50" dirty="0">
                <a:latin typeface="Palatino Linotype"/>
                <a:cs typeface="Palatino Linotype"/>
              </a:rPr>
              <a:t>1</a:t>
            </a:r>
            <a:r>
              <a:rPr sz="900" dirty="0">
                <a:latin typeface="Palatino Linotype"/>
                <a:cs typeface="Palatino Linotype"/>
              </a:rPr>
              <a:t>	</a:t>
            </a:r>
            <a:r>
              <a:rPr sz="900" spc="-50" dirty="0">
                <a:latin typeface="Palatino Linotype"/>
                <a:cs typeface="Palatino Linotype"/>
              </a:rPr>
              <a:t>1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71879" y="672506"/>
            <a:ext cx="854710" cy="289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104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=</a:t>
            </a:r>
            <a:endParaRPr sz="1100">
              <a:latin typeface="Palatino Linotype"/>
              <a:cs typeface="Palatino Linotype"/>
            </a:endParaRPr>
          </a:p>
          <a:p>
            <a:pPr marL="200025">
              <a:lnSpc>
                <a:spcPts val="1040"/>
              </a:lnSpc>
            </a:pPr>
            <a:r>
              <a:rPr sz="1100" i="1" dirty="0">
                <a:latin typeface="Georgia"/>
                <a:cs typeface="Georgia"/>
              </a:rPr>
              <a:t>z</a:t>
            </a:r>
            <a:r>
              <a:rPr sz="1350" baseline="18518" dirty="0">
                <a:latin typeface="Palatino Linotype"/>
                <a:cs typeface="Palatino Linotype"/>
              </a:rPr>
              <a:t>2</a:t>
            </a:r>
            <a:r>
              <a:rPr sz="1350" spc="135" baseline="18518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Georgia"/>
                <a:cs typeface="Georgia"/>
              </a:rPr>
              <a:t>z</a:t>
            </a:r>
            <a:r>
              <a:rPr sz="1100" i="1" spc="50" dirty="0">
                <a:latin typeface="Georgia"/>
                <a:cs typeface="Georgia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23693" y="857287"/>
            <a:ext cx="4622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97815" algn="l"/>
              </a:tabLst>
            </a:pPr>
            <a:r>
              <a:rPr sz="900" i="1" spc="-50" dirty="0">
                <a:latin typeface="Georgia"/>
                <a:cs typeface="Georgia"/>
              </a:rPr>
              <a:t>z</a:t>
            </a:r>
            <a:r>
              <a:rPr sz="900" i="1" dirty="0">
                <a:latin typeface="Georgia"/>
                <a:cs typeface="Georgia"/>
              </a:rPr>
              <a:t>	</a:t>
            </a:r>
            <a:r>
              <a:rPr sz="1350" i="1" spc="-37" baseline="-12345" dirty="0">
                <a:latin typeface="Georgia"/>
                <a:cs typeface="Georgia"/>
              </a:rPr>
              <a:t>z</a:t>
            </a:r>
            <a:r>
              <a:rPr sz="1200" spc="-37" baseline="3472" dirty="0">
                <a:latin typeface="Trebuchet MS"/>
                <a:cs typeface="Trebuchet MS"/>
              </a:rPr>
              <a:t>2</a:t>
            </a:r>
            <a:endParaRPr sz="1200" baseline="3472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8417" y="1040866"/>
            <a:ext cx="92392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Arial"/>
                <a:cs typeface="Arial"/>
              </a:rPr>
              <a:t>Poles</a:t>
            </a:r>
            <a:r>
              <a:rPr sz="1100" spc="2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270" dirty="0">
                <a:latin typeface="Arial"/>
                <a:cs typeface="Arial"/>
              </a:rPr>
              <a:t> </a:t>
            </a:r>
            <a:r>
              <a:rPr sz="1100" spc="30" dirty="0">
                <a:latin typeface="Arial"/>
                <a:cs typeface="Arial"/>
              </a:rPr>
              <a:t>a</a:t>
            </a:r>
            <a:r>
              <a:rPr sz="1650" i="1" spc="-465" baseline="-17676" dirty="0">
                <a:latin typeface="Times New Roman"/>
                <a:cs typeface="Times New Roman"/>
              </a:rPr>
              <a:t>√</a:t>
            </a:r>
            <a:r>
              <a:rPr sz="1100" spc="190" dirty="0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1445" y="1197999"/>
            <a:ext cx="93535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baseline="-37878" dirty="0">
                <a:latin typeface="Georgia"/>
                <a:cs typeface="Georgia"/>
              </a:rPr>
              <a:t>z</a:t>
            </a:r>
            <a:r>
              <a:rPr sz="1650" i="1" spc="127" baseline="-37878" dirty="0">
                <a:latin typeface="Georgia"/>
                <a:cs typeface="Georgia"/>
              </a:rPr>
              <a:t> </a:t>
            </a:r>
            <a:r>
              <a:rPr sz="1650" spc="450" baseline="-37878" dirty="0">
                <a:latin typeface="Palatino Linotype"/>
                <a:cs typeface="Palatino Linotype"/>
              </a:rPr>
              <a:t>=</a:t>
            </a:r>
            <a:r>
              <a:rPr sz="1650" spc="217" baseline="-37878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±</a:t>
            </a:r>
            <a:r>
              <a:rPr sz="1650" baseline="-75757" dirty="0">
                <a:latin typeface="Palatino Linotype"/>
                <a:cs typeface="Palatino Linotype"/>
              </a:rPr>
              <a:t>2</a:t>
            </a:r>
            <a:r>
              <a:rPr sz="1650" spc="225" baseline="-75757" dirty="0">
                <a:latin typeface="Palatino Linotype"/>
                <a:cs typeface="Palatino Linotype"/>
              </a:rPr>
              <a:t>  </a:t>
            </a:r>
            <a:r>
              <a:rPr sz="1100" dirty="0">
                <a:latin typeface="Palatino Linotype"/>
                <a:cs typeface="Palatino Linotype"/>
              </a:rPr>
              <a:t>5</a:t>
            </a:r>
            <a:r>
              <a:rPr sz="1100" spc="150" dirty="0">
                <a:latin typeface="Palatino Linotype"/>
                <a:cs typeface="Palatino Linotype"/>
              </a:rPr>
              <a:t> </a:t>
            </a:r>
            <a:r>
              <a:rPr sz="1650" spc="375" baseline="-37878" dirty="0">
                <a:latin typeface="Palatino Linotype"/>
                <a:cs typeface="Palatino Linotype"/>
              </a:rPr>
              <a:t>=</a:t>
            </a:r>
            <a:endParaRPr sz="1650" baseline="-37878">
              <a:latin typeface="Palatino Linotype"/>
              <a:cs typeface="Palatino Linotyp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55088" y="1292224"/>
            <a:ext cx="79311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23875" algn="l"/>
              </a:tabLst>
            </a:pPr>
            <a:r>
              <a:rPr sz="1100" i="1" dirty="0">
                <a:latin typeface="Georgia"/>
                <a:cs typeface="Georgia"/>
              </a:rPr>
              <a:t>φ</a:t>
            </a:r>
            <a:r>
              <a:rPr sz="1100" i="1" spc="125" dirty="0">
                <a:latin typeface="Georgia"/>
                <a:cs typeface="Georgia"/>
              </a:rPr>
              <a:t>  </a:t>
            </a:r>
            <a:r>
              <a:rPr sz="1100" spc="20" dirty="0">
                <a:latin typeface="Arial"/>
                <a:cs typeface="Arial"/>
              </a:rPr>
              <a:t>or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135" dirty="0">
                <a:latin typeface="Times New Roman"/>
                <a:cs typeface="Times New Roman"/>
              </a:rPr>
              <a:t> </a:t>
            </a:r>
            <a:r>
              <a:rPr sz="1650" spc="-75" baseline="37878" dirty="0">
                <a:latin typeface="Palatino Linotype"/>
                <a:cs typeface="Palatino Linotype"/>
              </a:rPr>
              <a:t>1</a:t>
            </a:r>
            <a:endParaRPr sz="1650" baseline="37878">
              <a:latin typeface="Palatino Linotype"/>
              <a:cs typeface="Palatino Linotyp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20852" y="1387701"/>
            <a:ext cx="1085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70" dirty="0">
                <a:latin typeface="Georgia"/>
                <a:cs typeface="Georgia"/>
              </a:rPr>
              <a:t>φ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3817" y="1600228"/>
            <a:ext cx="272097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50" dirty="0">
                <a:latin typeface="Arial"/>
                <a:cs typeface="Arial"/>
              </a:rPr>
              <a:t>where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i="1" dirty="0">
                <a:latin typeface="Georgia"/>
                <a:cs typeface="Georgia"/>
              </a:rPr>
              <a:t>φ</a:t>
            </a:r>
            <a:r>
              <a:rPr sz="1100" i="1" spc="250" dirty="0">
                <a:latin typeface="Georgia"/>
                <a:cs typeface="Georgia"/>
              </a:rPr>
              <a:t> </a:t>
            </a:r>
            <a:r>
              <a:rPr sz="1100" dirty="0">
                <a:latin typeface="Arial"/>
                <a:cs typeface="Arial"/>
              </a:rPr>
              <a:t>represents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“golden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spc="114" dirty="0">
                <a:latin typeface="Arial"/>
                <a:cs typeface="Arial"/>
              </a:rPr>
              <a:t>ratio”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5092" y="1761815"/>
            <a:ext cx="501650" cy="40513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-40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650" i="1" spc="187" baseline="45454" dirty="0">
                <a:latin typeface="Times New Roman"/>
                <a:cs typeface="Times New Roman"/>
              </a:rPr>
              <a:t>√</a:t>
            </a:r>
            <a:r>
              <a:rPr sz="1100" spc="125" dirty="0">
                <a:latin typeface="Palatino Linotype"/>
                <a:cs typeface="Palatino Linotype"/>
              </a:rPr>
              <a:t>5</a:t>
            </a:r>
            <a:endParaRPr sz="1100">
              <a:latin typeface="Palatino Linotype"/>
              <a:cs typeface="Palatino Linotype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1100" spc="-50" dirty="0">
                <a:latin typeface="Palatino Linotype"/>
                <a:cs typeface="Palatino Linotype"/>
              </a:rPr>
              <a:t>2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6845" y="1878726"/>
            <a:ext cx="255904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130" dirty="0">
                <a:latin typeface="Georgia"/>
                <a:cs typeface="Georgia"/>
              </a:rPr>
              <a:t>φ</a:t>
            </a:r>
            <a:r>
              <a:rPr sz="1100" i="1" spc="40" dirty="0">
                <a:latin typeface="Georgia"/>
                <a:cs typeface="Georgia"/>
              </a:rPr>
              <a:t> </a:t>
            </a:r>
            <a:r>
              <a:rPr sz="1100" spc="250" dirty="0">
                <a:latin typeface="Palatino Linotype"/>
                <a:cs typeface="Palatino Linotype"/>
              </a:rPr>
              <a:t>=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29687" y="1878726"/>
            <a:ext cx="489584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250" dirty="0">
                <a:latin typeface="Times New Roman"/>
                <a:cs typeface="Times New Roman"/>
              </a:rPr>
              <a:t>≈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Palatino Linotype"/>
                <a:cs typeface="Palatino Linotype"/>
              </a:rPr>
              <a:t>1</a:t>
            </a:r>
            <a:r>
              <a:rPr sz="1100" i="1" spc="-10" dirty="0">
                <a:latin typeface="Georgia"/>
                <a:cs typeface="Georgia"/>
              </a:rPr>
              <a:t>.</a:t>
            </a:r>
            <a:r>
              <a:rPr sz="1100" spc="-10" dirty="0">
                <a:latin typeface="Palatino Linotype"/>
                <a:cs typeface="Palatino Linotype"/>
              </a:rPr>
              <a:t>618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8556" y="2083180"/>
            <a:ext cx="1673225" cy="508634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sz="1100" spc="120" dirty="0">
                <a:latin typeface="Arial"/>
                <a:cs typeface="Arial"/>
              </a:rPr>
              <a:t>The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spc="95" dirty="0">
                <a:latin typeface="Arial"/>
                <a:cs typeface="Arial"/>
              </a:rPr>
              <a:t>two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poles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at</a:t>
            </a:r>
            <a:endParaRPr sz="11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585"/>
              </a:spcBef>
              <a:tabLst>
                <a:tab pos="1365250" algn="l"/>
              </a:tabLst>
            </a:pPr>
            <a:r>
              <a:rPr sz="1100" i="1" dirty="0">
                <a:latin typeface="Georgia"/>
                <a:cs typeface="Georgia"/>
              </a:rPr>
              <a:t>z</a:t>
            </a:r>
            <a:r>
              <a:rPr sz="1350" baseline="-12345" dirty="0">
                <a:latin typeface="Palatino Linotype"/>
                <a:cs typeface="Palatino Linotype"/>
              </a:rPr>
              <a:t>0</a:t>
            </a:r>
            <a:r>
              <a:rPr sz="1350" spc="195" baseline="-1234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35" dirty="0">
                <a:latin typeface="Palatino Linotype"/>
                <a:cs typeface="Palatino Linotype"/>
              </a:rPr>
              <a:t> </a:t>
            </a:r>
            <a:r>
              <a:rPr sz="1100" i="1" spc="-130" dirty="0">
                <a:latin typeface="Georgia"/>
                <a:cs typeface="Georgia"/>
              </a:rPr>
              <a:t>φ</a:t>
            </a:r>
            <a:r>
              <a:rPr sz="1100" i="1" spc="45" dirty="0">
                <a:latin typeface="Georgia"/>
                <a:cs typeface="Georgia"/>
              </a:rPr>
              <a:t> </a:t>
            </a:r>
            <a:r>
              <a:rPr sz="1100" i="1" spc="250" dirty="0">
                <a:latin typeface="Times New Roman"/>
                <a:cs typeface="Times New Roman"/>
              </a:rPr>
              <a:t>≈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Palatino Linotype"/>
                <a:cs typeface="Palatino Linotype"/>
              </a:rPr>
              <a:t>1</a:t>
            </a:r>
            <a:r>
              <a:rPr sz="1100" i="1" spc="-10" dirty="0">
                <a:latin typeface="Georgia"/>
                <a:cs typeface="Georgia"/>
              </a:rPr>
              <a:t>.</a:t>
            </a:r>
            <a:r>
              <a:rPr sz="1100" spc="-10" dirty="0">
                <a:latin typeface="Palatino Linotype"/>
                <a:cs typeface="Palatino Linotype"/>
              </a:rPr>
              <a:t>618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spc="30" dirty="0">
                <a:latin typeface="Arial"/>
                <a:cs typeface="Arial"/>
              </a:rPr>
              <a:t>and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317025" y="2305171"/>
            <a:ext cx="952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702190" y="2399207"/>
            <a:ext cx="34290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20" dirty="0">
                <a:latin typeface="Palatino Linotype"/>
                <a:cs typeface="Palatino Linotype"/>
              </a:rPr>
              <a:t>0</a:t>
            </a:r>
            <a:r>
              <a:rPr sz="1100" i="1" spc="-20" dirty="0">
                <a:latin typeface="Georgia"/>
                <a:cs typeface="Georgia"/>
              </a:rPr>
              <a:t>.</a:t>
            </a:r>
            <a:r>
              <a:rPr sz="1100" spc="-20" dirty="0">
                <a:latin typeface="Palatino Linotype"/>
                <a:cs typeface="Palatino Linotype"/>
              </a:rPr>
              <a:t>618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846379" y="2399207"/>
            <a:ext cx="90678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dirty="0">
                <a:latin typeface="Georgia"/>
                <a:cs typeface="Georgia"/>
              </a:rPr>
              <a:t>z</a:t>
            </a:r>
            <a:r>
              <a:rPr sz="1350" baseline="-12345" dirty="0">
                <a:latin typeface="Palatino Linotype"/>
                <a:cs typeface="Palatino Linotype"/>
              </a:rPr>
              <a:t>1</a:t>
            </a:r>
            <a:r>
              <a:rPr sz="1350" spc="195" baseline="-1234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30" dirty="0">
                <a:latin typeface="Palatino Linotype"/>
                <a:cs typeface="Palatino Linotype"/>
              </a:rPr>
              <a:t> </a:t>
            </a:r>
            <a:r>
              <a:rPr sz="1100" i="1" spc="50" dirty="0">
                <a:latin typeface="Times New Roman"/>
                <a:cs typeface="Times New Roman"/>
              </a:rPr>
              <a:t>−</a:t>
            </a:r>
            <a:r>
              <a:rPr sz="1650" i="1" spc="75" baseline="-37878" dirty="0">
                <a:latin typeface="Georgia"/>
                <a:cs typeface="Georgia"/>
              </a:rPr>
              <a:t>φ</a:t>
            </a:r>
            <a:r>
              <a:rPr sz="1650" i="1" spc="240" baseline="-37878" dirty="0">
                <a:latin typeface="Georgia"/>
                <a:cs typeface="Georgia"/>
              </a:rPr>
              <a:t> </a:t>
            </a:r>
            <a:r>
              <a:rPr sz="1100" i="1" spc="250" dirty="0">
                <a:latin typeface="Times New Roman"/>
                <a:cs typeface="Times New Roman"/>
              </a:rPr>
              <a:t>≈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i="1" spc="60" dirty="0">
                <a:latin typeface="Times New Roman"/>
                <a:cs typeface="Times New Roman"/>
              </a:rPr>
              <a:t>−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0" dirty="0"/>
              <a:t>Check</a:t>
            </a:r>
            <a:r>
              <a:rPr spc="215" dirty="0"/>
              <a:t> </a:t>
            </a:r>
            <a:r>
              <a:rPr spc="50" dirty="0"/>
              <a:t>Yourself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061" y="491705"/>
            <a:ext cx="4803140" cy="1719580"/>
            <a:chOff x="129061" y="491705"/>
            <a:chExt cx="4803140" cy="1719580"/>
          </a:xfrm>
        </p:grpSpPr>
        <p:sp>
          <p:nvSpPr>
            <p:cNvPr id="4" name="object 4"/>
            <p:cNvSpPr/>
            <p:nvPr/>
          </p:nvSpPr>
          <p:spPr>
            <a:xfrm>
              <a:off x="129061" y="491705"/>
              <a:ext cx="4803140" cy="1719580"/>
            </a:xfrm>
            <a:custGeom>
              <a:avLst/>
              <a:gdLst/>
              <a:ahLst/>
              <a:cxnLst/>
              <a:rect l="l" t="t" r="r" b="b"/>
              <a:pathLst>
                <a:path w="4803140" h="1719580">
                  <a:moveTo>
                    <a:pt x="4733302" y="0"/>
                  </a:moveTo>
                  <a:lnTo>
                    <a:pt x="69583" y="0"/>
                  </a:lnTo>
                  <a:lnTo>
                    <a:pt x="29355" y="10872"/>
                  </a:lnTo>
                  <a:lnTo>
                    <a:pt x="8697" y="34791"/>
                  </a:lnTo>
                  <a:lnTo>
                    <a:pt x="1087" y="58710"/>
                  </a:lnTo>
                  <a:lnTo>
                    <a:pt x="0" y="69583"/>
                  </a:lnTo>
                  <a:lnTo>
                    <a:pt x="0" y="1649387"/>
                  </a:lnTo>
                  <a:lnTo>
                    <a:pt x="10872" y="1689614"/>
                  </a:lnTo>
                  <a:lnTo>
                    <a:pt x="34791" y="1710272"/>
                  </a:lnTo>
                  <a:lnTo>
                    <a:pt x="58710" y="1717883"/>
                  </a:lnTo>
                  <a:lnTo>
                    <a:pt x="69583" y="1718970"/>
                  </a:lnTo>
                  <a:lnTo>
                    <a:pt x="4733302" y="1718970"/>
                  </a:lnTo>
                  <a:lnTo>
                    <a:pt x="4773530" y="1708098"/>
                  </a:lnTo>
                  <a:lnTo>
                    <a:pt x="4794188" y="1684178"/>
                  </a:lnTo>
                  <a:lnTo>
                    <a:pt x="4801798" y="1660259"/>
                  </a:lnTo>
                  <a:lnTo>
                    <a:pt x="4802886" y="1649387"/>
                  </a:lnTo>
                  <a:lnTo>
                    <a:pt x="4802886" y="69583"/>
                  </a:lnTo>
                  <a:lnTo>
                    <a:pt x="4792013" y="29355"/>
                  </a:lnTo>
                  <a:lnTo>
                    <a:pt x="4768094" y="8697"/>
                  </a:lnTo>
                  <a:lnTo>
                    <a:pt x="4744175" y="1087"/>
                  </a:lnTo>
                  <a:lnTo>
                    <a:pt x="473330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8095" y="609726"/>
              <a:ext cx="4445000" cy="353060"/>
            </a:xfrm>
            <a:custGeom>
              <a:avLst/>
              <a:gdLst/>
              <a:ahLst/>
              <a:cxnLst/>
              <a:rect l="l" t="t" r="r" b="b"/>
              <a:pathLst>
                <a:path w="4445000" h="353059">
                  <a:moveTo>
                    <a:pt x="4375238" y="0"/>
                  </a:moveTo>
                  <a:lnTo>
                    <a:pt x="69583" y="0"/>
                  </a:lnTo>
                  <a:lnTo>
                    <a:pt x="29355" y="10874"/>
                  </a:lnTo>
                  <a:lnTo>
                    <a:pt x="8697" y="34797"/>
                  </a:lnTo>
                  <a:lnTo>
                    <a:pt x="1087" y="58721"/>
                  </a:lnTo>
                  <a:lnTo>
                    <a:pt x="0" y="69595"/>
                  </a:lnTo>
                  <a:lnTo>
                    <a:pt x="0" y="283425"/>
                  </a:lnTo>
                  <a:lnTo>
                    <a:pt x="10872" y="323653"/>
                  </a:lnTo>
                  <a:lnTo>
                    <a:pt x="34791" y="344311"/>
                  </a:lnTo>
                  <a:lnTo>
                    <a:pt x="58710" y="351921"/>
                  </a:lnTo>
                  <a:lnTo>
                    <a:pt x="69583" y="353009"/>
                  </a:lnTo>
                  <a:lnTo>
                    <a:pt x="4375238" y="353009"/>
                  </a:lnTo>
                  <a:lnTo>
                    <a:pt x="4415466" y="342136"/>
                  </a:lnTo>
                  <a:lnTo>
                    <a:pt x="4436124" y="318217"/>
                  </a:lnTo>
                  <a:lnTo>
                    <a:pt x="4443734" y="294298"/>
                  </a:lnTo>
                  <a:lnTo>
                    <a:pt x="4444822" y="283425"/>
                  </a:lnTo>
                  <a:lnTo>
                    <a:pt x="4444822" y="69595"/>
                  </a:lnTo>
                  <a:lnTo>
                    <a:pt x="4433949" y="29360"/>
                  </a:lnTo>
                  <a:lnTo>
                    <a:pt x="4410030" y="8699"/>
                  </a:lnTo>
                  <a:lnTo>
                    <a:pt x="4386111" y="1087"/>
                  </a:lnTo>
                  <a:lnTo>
                    <a:pt x="4375238" y="0"/>
                  </a:lnTo>
                  <a:close/>
                </a:path>
              </a:pathLst>
            </a:custGeom>
            <a:solidFill>
              <a:srgbClr val="B2FF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8095" y="609728"/>
              <a:ext cx="4445000" cy="353060"/>
            </a:xfrm>
            <a:custGeom>
              <a:avLst/>
              <a:gdLst/>
              <a:ahLst/>
              <a:cxnLst/>
              <a:rect l="l" t="t" r="r" b="b"/>
              <a:pathLst>
                <a:path w="4445000" h="353059">
                  <a:moveTo>
                    <a:pt x="69583" y="353009"/>
                  </a:moveTo>
                  <a:lnTo>
                    <a:pt x="4375238" y="353009"/>
                  </a:lnTo>
                  <a:lnTo>
                    <a:pt x="4415466" y="342136"/>
                  </a:lnTo>
                  <a:lnTo>
                    <a:pt x="4436124" y="318217"/>
                  </a:lnTo>
                  <a:lnTo>
                    <a:pt x="4443734" y="294298"/>
                  </a:lnTo>
                  <a:lnTo>
                    <a:pt x="4444822" y="283425"/>
                  </a:lnTo>
                  <a:lnTo>
                    <a:pt x="4444822" y="69595"/>
                  </a:lnTo>
                  <a:lnTo>
                    <a:pt x="4433949" y="29360"/>
                  </a:lnTo>
                  <a:lnTo>
                    <a:pt x="4410030" y="8699"/>
                  </a:lnTo>
                  <a:lnTo>
                    <a:pt x="4386111" y="1087"/>
                  </a:lnTo>
                  <a:lnTo>
                    <a:pt x="4375238" y="0"/>
                  </a:lnTo>
                  <a:lnTo>
                    <a:pt x="69583" y="0"/>
                  </a:lnTo>
                  <a:lnTo>
                    <a:pt x="29355" y="10874"/>
                  </a:lnTo>
                  <a:lnTo>
                    <a:pt x="8697" y="34797"/>
                  </a:lnTo>
                  <a:lnTo>
                    <a:pt x="1087" y="58721"/>
                  </a:lnTo>
                  <a:lnTo>
                    <a:pt x="0" y="69595"/>
                  </a:lnTo>
                  <a:lnTo>
                    <a:pt x="0" y="283425"/>
                  </a:lnTo>
                  <a:lnTo>
                    <a:pt x="10872" y="323653"/>
                  </a:lnTo>
                  <a:lnTo>
                    <a:pt x="34791" y="344311"/>
                  </a:lnTo>
                  <a:lnTo>
                    <a:pt x="58710" y="351921"/>
                  </a:lnTo>
                  <a:lnTo>
                    <a:pt x="69583" y="353009"/>
                  </a:lnTo>
                  <a:close/>
                </a:path>
              </a:pathLst>
            </a:custGeom>
            <a:ln w="505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92722" y="690867"/>
            <a:ext cx="3819525" cy="1402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1770">
              <a:lnSpc>
                <a:spcPct val="100000"/>
              </a:lnSpc>
              <a:spcBef>
                <a:spcPts val="95"/>
              </a:spcBef>
              <a:tabLst>
                <a:tab pos="3719195" algn="l"/>
              </a:tabLst>
            </a:pPr>
            <a:r>
              <a:rPr sz="1100" spc="125" dirty="0">
                <a:latin typeface="Arial"/>
                <a:cs typeface="Arial"/>
              </a:rPr>
              <a:t>What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pole(s)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Fibonacci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40" dirty="0">
                <a:latin typeface="Arial"/>
                <a:cs typeface="Arial"/>
              </a:rPr>
              <a:t>system?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15" dirty="0">
                <a:solidFill>
                  <a:srgbClr val="FF0000"/>
                </a:solidFill>
                <a:latin typeface="Arial"/>
                <a:cs typeface="Arial"/>
              </a:rPr>
              <a:t>4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70" dirty="0">
                <a:latin typeface="Arial"/>
                <a:cs typeface="Arial"/>
              </a:rPr>
              <a:t>1.</a:t>
            </a:r>
            <a:r>
              <a:rPr sz="1100" spc="185" dirty="0">
                <a:latin typeface="Arial"/>
                <a:cs typeface="Arial"/>
              </a:rPr>
              <a:t>  </a:t>
            </a:r>
            <a:r>
              <a:rPr sz="1100" spc="-50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  <a:p>
            <a:pPr marL="271145" indent="-258445">
              <a:lnSpc>
                <a:spcPct val="100000"/>
              </a:lnSpc>
              <a:spcBef>
                <a:spcPts val="275"/>
              </a:spcBef>
              <a:buFont typeface="Arial"/>
              <a:buAutoNum type="arabicPeriod" startAt="2"/>
              <a:tabLst>
                <a:tab pos="271145" algn="l"/>
              </a:tabLst>
            </a:pP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175" dirty="0">
                <a:latin typeface="Palatino Linotype"/>
                <a:cs typeface="Palatino Linotype"/>
              </a:rPr>
              <a:t> </a:t>
            </a:r>
            <a:r>
              <a:rPr sz="1100" spc="55" dirty="0">
                <a:latin typeface="Arial"/>
                <a:cs typeface="Arial"/>
              </a:rPr>
              <a:t>and</a:t>
            </a:r>
            <a:r>
              <a:rPr sz="1100" spc="145" dirty="0">
                <a:latin typeface="Arial"/>
                <a:cs typeface="Arial"/>
              </a:rPr>
              <a:t> </a:t>
            </a:r>
            <a:r>
              <a:rPr sz="1100" i="1" spc="25" dirty="0">
                <a:latin typeface="Times New Roman"/>
                <a:cs typeface="Times New Roman"/>
              </a:rPr>
              <a:t>−</a:t>
            </a:r>
            <a:r>
              <a:rPr sz="1100" spc="25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  <a:p>
            <a:pPr marL="271145" indent="-258445">
              <a:lnSpc>
                <a:spcPct val="100000"/>
              </a:lnSpc>
              <a:spcBef>
                <a:spcPts val="280"/>
              </a:spcBef>
              <a:buFont typeface="Arial"/>
              <a:buAutoNum type="arabicPeriod" startAt="2"/>
              <a:tabLst>
                <a:tab pos="271145" algn="l"/>
              </a:tabLst>
            </a:pPr>
            <a:r>
              <a:rPr sz="1100" i="1" spc="50" dirty="0">
                <a:latin typeface="Times New Roman"/>
                <a:cs typeface="Times New Roman"/>
              </a:rPr>
              <a:t>−</a:t>
            </a:r>
            <a:r>
              <a:rPr sz="1100" spc="50" dirty="0">
                <a:latin typeface="Palatino Linotype"/>
                <a:cs typeface="Palatino Linotype"/>
              </a:rPr>
              <a:t>1</a:t>
            </a:r>
            <a:r>
              <a:rPr sz="1100" spc="180" dirty="0">
                <a:latin typeface="Palatino Linotype"/>
                <a:cs typeface="Palatino Linotype"/>
              </a:rPr>
              <a:t> </a:t>
            </a:r>
            <a:r>
              <a:rPr sz="1100" spc="55" dirty="0">
                <a:latin typeface="Arial"/>
                <a:cs typeface="Arial"/>
              </a:rPr>
              <a:t>and</a:t>
            </a:r>
            <a:r>
              <a:rPr sz="1100" spc="150" dirty="0">
                <a:latin typeface="Arial"/>
                <a:cs typeface="Arial"/>
              </a:rPr>
              <a:t> </a:t>
            </a:r>
            <a:r>
              <a:rPr sz="1100" i="1" spc="25" dirty="0">
                <a:latin typeface="Times New Roman"/>
                <a:cs typeface="Times New Roman"/>
              </a:rPr>
              <a:t>−</a:t>
            </a:r>
            <a:r>
              <a:rPr sz="1100" spc="25" dirty="0">
                <a:latin typeface="Palatino Linotype"/>
                <a:cs typeface="Palatino Linotype"/>
              </a:rPr>
              <a:t>2</a:t>
            </a:r>
            <a:endParaRPr sz="1100">
              <a:latin typeface="Palatino Linotype"/>
              <a:cs typeface="Palatino Linotype"/>
            </a:endParaRPr>
          </a:p>
          <a:p>
            <a:pPr marL="271145" indent="-258445">
              <a:lnSpc>
                <a:spcPct val="100000"/>
              </a:lnSpc>
              <a:spcBef>
                <a:spcPts val="280"/>
              </a:spcBef>
              <a:buFont typeface="Arial"/>
              <a:buAutoNum type="arabicPeriod" startAt="2"/>
              <a:tabLst>
                <a:tab pos="271145" algn="l"/>
              </a:tabLst>
            </a:pPr>
            <a:r>
              <a:rPr sz="1100" spc="-10" dirty="0">
                <a:solidFill>
                  <a:srgbClr val="FF0000"/>
                </a:solidFill>
                <a:latin typeface="Palatino Linotype"/>
                <a:cs typeface="Palatino Linotype"/>
              </a:rPr>
              <a:t>1</a:t>
            </a:r>
            <a:r>
              <a:rPr sz="1100" i="1" spc="-10" dirty="0">
                <a:solidFill>
                  <a:srgbClr val="FF0000"/>
                </a:solidFill>
                <a:latin typeface="Georgia"/>
                <a:cs typeface="Georgia"/>
              </a:rPr>
              <a:t>.</a:t>
            </a:r>
            <a:r>
              <a:rPr sz="1100" spc="-10" dirty="0">
                <a:solidFill>
                  <a:srgbClr val="FF0000"/>
                </a:solidFill>
                <a:latin typeface="Palatino Linotype"/>
                <a:cs typeface="Palatino Linotype"/>
              </a:rPr>
              <a:t>618</a:t>
            </a:r>
            <a:r>
              <a:rPr sz="1100" spc="-8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1100" i="1" dirty="0">
                <a:solidFill>
                  <a:srgbClr val="FF0000"/>
                </a:solidFill>
                <a:latin typeface="Georgia"/>
                <a:cs typeface="Georgia"/>
              </a:rPr>
              <a:t>.</a:t>
            </a:r>
            <a:r>
              <a:rPr sz="1100" i="1" spc="-7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Georgia"/>
                <a:cs typeface="Georgia"/>
              </a:rPr>
              <a:t>.</a:t>
            </a:r>
            <a:r>
              <a:rPr sz="1100" i="1" spc="-7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Georgia"/>
                <a:cs typeface="Georgia"/>
              </a:rPr>
              <a:t>.</a:t>
            </a:r>
            <a:r>
              <a:rPr sz="1100" i="1" spc="21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100" spc="55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1100" spc="1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0000"/>
                </a:solidFill>
                <a:latin typeface="Times New Roman"/>
                <a:cs typeface="Times New Roman"/>
              </a:rPr>
              <a:t>−</a:t>
            </a:r>
            <a:r>
              <a:rPr sz="1100" dirty="0">
                <a:solidFill>
                  <a:srgbClr val="FF0000"/>
                </a:solidFill>
                <a:latin typeface="Palatino Linotype"/>
                <a:cs typeface="Palatino Linotype"/>
              </a:rPr>
              <a:t>0</a:t>
            </a:r>
            <a:r>
              <a:rPr sz="1100" i="1" dirty="0">
                <a:solidFill>
                  <a:srgbClr val="FF0000"/>
                </a:solidFill>
                <a:latin typeface="Georgia"/>
                <a:cs typeface="Georgia"/>
              </a:rPr>
              <a:t>.</a:t>
            </a:r>
            <a:r>
              <a:rPr sz="1100" dirty="0">
                <a:solidFill>
                  <a:srgbClr val="FF0000"/>
                </a:solidFill>
                <a:latin typeface="Palatino Linotype"/>
                <a:cs typeface="Palatino Linotype"/>
              </a:rPr>
              <a:t>618</a:t>
            </a:r>
            <a:r>
              <a:rPr sz="1100" spc="-8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1100" i="1" dirty="0">
                <a:solidFill>
                  <a:srgbClr val="FF0000"/>
                </a:solidFill>
                <a:latin typeface="Georgia"/>
                <a:cs typeface="Georgia"/>
              </a:rPr>
              <a:t>.</a:t>
            </a:r>
            <a:r>
              <a:rPr sz="1100" i="1" spc="-7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Georgia"/>
                <a:cs typeface="Georgia"/>
              </a:rPr>
              <a:t>.</a:t>
            </a:r>
            <a:r>
              <a:rPr sz="1100" i="1" spc="-7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100" i="1" spc="-50" dirty="0">
                <a:solidFill>
                  <a:srgbClr val="FF0000"/>
                </a:solidFill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  <a:p>
            <a:pPr marL="271145" indent="-258445">
              <a:lnSpc>
                <a:spcPct val="100000"/>
              </a:lnSpc>
              <a:spcBef>
                <a:spcPts val="275"/>
              </a:spcBef>
              <a:buAutoNum type="arabicPeriod" startAt="2"/>
              <a:tabLst>
                <a:tab pos="271145" algn="l"/>
              </a:tabLst>
            </a:pPr>
            <a:r>
              <a:rPr sz="1100" dirty="0">
                <a:latin typeface="Arial"/>
                <a:cs typeface="Arial"/>
              </a:rPr>
              <a:t>none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spc="30" dirty="0">
                <a:latin typeface="Arial"/>
                <a:cs typeface="Arial"/>
              </a:rPr>
              <a:t>above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9061" y="491705"/>
            <a:ext cx="4803140" cy="1719580"/>
          </a:xfrm>
          <a:custGeom>
            <a:avLst/>
            <a:gdLst/>
            <a:ahLst/>
            <a:cxnLst/>
            <a:rect l="l" t="t" r="r" b="b"/>
            <a:pathLst>
              <a:path w="4803140" h="1719580">
                <a:moveTo>
                  <a:pt x="69583" y="1718970"/>
                </a:moveTo>
                <a:lnTo>
                  <a:pt x="4733302" y="1718970"/>
                </a:lnTo>
                <a:lnTo>
                  <a:pt x="4773530" y="1708098"/>
                </a:lnTo>
                <a:lnTo>
                  <a:pt x="4794188" y="1684178"/>
                </a:lnTo>
                <a:lnTo>
                  <a:pt x="4801798" y="1660259"/>
                </a:lnTo>
                <a:lnTo>
                  <a:pt x="4802886" y="1649387"/>
                </a:lnTo>
                <a:lnTo>
                  <a:pt x="4802886" y="69583"/>
                </a:lnTo>
                <a:lnTo>
                  <a:pt x="4792013" y="29355"/>
                </a:lnTo>
                <a:lnTo>
                  <a:pt x="4768094" y="8697"/>
                </a:lnTo>
                <a:lnTo>
                  <a:pt x="4744175" y="1087"/>
                </a:lnTo>
                <a:lnTo>
                  <a:pt x="4733302" y="0"/>
                </a:lnTo>
                <a:lnTo>
                  <a:pt x="69583" y="0"/>
                </a:lnTo>
                <a:lnTo>
                  <a:pt x="29355" y="10872"/>
                </a:lnTo>
                <a:lnTo>
                  <a:pt x="8697" y="34791"/>
                </a:lnTo>
                <a:lnTo>
                  <a:pt x="1087" y="58710"/>
                </a:lnTo>
                <a:lnTo>
                  <a:pt x="0" y="69583"/>
                </a:lnTo>
                <a:lnTo>
                  <a:pt x="0" y="1649387"/>
                </a:lnTo>
                <a:lnTo>
                  <a:pt x="10872" y="1689614"/>
                </a:lnTo>
                <a:lnTo>
                  <a:pt x="34791" y="1710272"/>
                </a:lnTo>
                <a:lnTo>
                  <a:pt x="58710" y="1717883"/>
                </a:lnTo>
                <a:lnTo>
                  <a:pt x="69583" y="1718970"/>
                </a:lnTo>
                <a:close/>
              </a:path>
            </a:pathLst>
          </a:custGeom>
          <a:ln w="505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5" dirty="0"/>
              <a:t>Example:</a:t>
            </a:r>
            <a:r>
              <a:rPr spc="430" dirty="0"/>
              <a:t> </a:t>
            </a:r>
            <a:r>
              <a:rPr spc="75" dirty="0"/>
              <a:t>Fibonacci’s</a:t>
            </a:r>
            <a:r>
              <a:rPr spc="250" dirty="0"/>
              <a:t> </a:t>
            </a:r>
            <a:r>
              <a:rPr spc="55" dirty="0"/>
              <a:t>Bunnies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830" y="381266"/>
            <a:ext cx="341312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65" dirty="0">
                <a:latin typeface="Arial"/>
                <a:cs typeface="Arial"/>
              </a:rPr>
              <a:t>Each</a:t>
            </a:r>
            <a:r>
              <a:rPr sz="1100" spc="22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pole</a:t>
            </a:r>
            <a:r>
              <a:rPr sz="1100" spc="229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corresponds</a:t>
            </a:r>
            <a:r>
              <a:rPr sz="1100" spc="229" dirty="0">
                <a:latin typeface="Arial"/>
                <a:cs typeface="Arial"/>
              </a:rPr>
              <a:t> </a:t>
            </a:r>
            <a:r>
              <a:rPr sz="1100" spc="130" dirty="0">
                <a:latin typeface="Arial"/>
                <a:cs typeface="Arial"/>
              </a:rPr>
              <a:t>to</a:t>
            </a:r>
            <a:r>
              <a:rPr sz="1100" spc="229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a</a:t>
            </a:r>
            <a:r>
              <a:rPr sz="1100" spc="235" dirty="0">
                <a:latin typeface="Arial"/>
                <a:cs typeface="Arial"/>
              </a:rPr>
              <a:t> </a:t>
            </a:r>
            <a:r>
              <a:rPr sz="1100" spc="75" dirty="0">
                <a:latin typeface="Arial"/>
                <a:cs typeface="Arial"/>
              </a:rPr>
              <a:t>fundamental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mode.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8490" y="680919"/>
            <a:ext cx="952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1597" y="775144"/>
            <a:ext cx="21729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797560" algn="l"/>
                <a:tab pos="1258570" algn="l"/>
              </a:tabLst>
            </a:pPr>
            <a:r>
              <a:rPr sz="1100" i="1" spc="-130" dirty="0">
                <a:latin typeface="Georgia"/>
                <a:cs typeface="Georgia"/>
              </a:rPr>
              <a:t>φ</a:t>
            </a:r>
            <a:r>
              <a:rPr sz="1100" i="1" spc="35" dirty="0">
                <a:latin typeface="Georgia"/>
                <a:cs typeface="Georgia"/>
              </a:rPr>
              <a:t> </a:t>
            </a:r>
            <a:r>
              <a:rPr sz="1100" i="1" spc="250" dirty="0">
                <a:latin typeface="Times New Roman"/>
                <a:cs typeface="Times New Roman"/>
              </a:rPr>
              <a:t>≈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Palatino Linotype"/>
                <a:cs typeface="Palatino Linotype"/>
              </a:rPr>
              <a:t>1</a:t>
            </a:r>
            <a:r>
              <a:rPr sz="1100" i="1" spc="-10" dirty="0">
                <a:latin typeface="Georgia"/>
                <a:cs typeface="Georgia"/>
              </a:rPr>
              <a:t>.</a:t>
            </a:r>
            <a:r>
              <a:rPr sz="1100" spc="-10" dirty="0">
                <a:latin typeface="Palatino Linotype"/>
                <a:cs typeface="Palatino Linotype"/>
              </a:rPr>
              <a:t>618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spc="30" dirty="0">
                <a:latin typeface="Arial"/>
                <a:cs typeface="Arial"/>
              </a:rPr>
              <a:t>and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40" dirty="0">
                <a:latin typeface="Times New Roman"/>
                <a:cs typeface="Times New Roman"/>
              </a:rPr>
              <a:t> </a:t>
            </a:r>
            <a:r>
              <a:rPr sz="1650" i="1" baseline="-37878" dirty="0">
                <a:latin typeface="Georgia"/>
                <a:cs typeface="Georgia"/>
              </a:rPr>
              <a:t>φ</a:t>
            </a:r>
            <a:r>
              <a:rPr sz="1650" i="1" spc="157" baseline="-37878" dirty="0">
                <a:latin typeface="Georgia"/>
                <a:cs typeface="Georgia"/>
              </a:rPr>
              <a:t> </a:t>
            </a:r>
            <a:r>
              <a:rPr sz="1100" i="1" spc="250" dirty="0">
                <a:latin typeface="Times New Roman"/>
                <a:cs typeface="Times New Roman"/>
              </a:rPr>
              <a:t>≈</a:t>
            </a:r>
            <a:r>
              <a:rPr sz="1100" i="1" spc="-10" dirty="0">
                <a:latin typeface="Times New Roman"/>
                <a:cs typeface="Times New Roman"/>
              </a:rPr>
              <a:t> −</a:t>
            </a:r>
            <a:r>
              <a:rPr sz="1100" spc="-10" dirty="0">
                <a:latin typeface="Palatino Linotype"/>
                <a:cs typeface="Palatino Linotype"/>
              </a:rPr>
              <a:t>0</a:t>
            </a:r>
            <a:r>
              <a:rPr sz="1100" i="1" spc="-10" dirty="0">
                <a:latin typeface="Georgia"/>
                <a:cs typeface="Georgia"/>
              </a:rPr>
              <a:t>.</a:t>
            </a:r>
            <a:r>
              <a:rPr sz="1100" spc="-10" dirty="0">
                <a:latin typeface="Palatino Linotype"/>
                <a:cs typeface="Palatino Linotype"/>
              </a:rPr>
              <a:t>618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969" y="2284543"/>
            <a:ext cx="295084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85" dirty="0">
                <a:latin typeface="Arial"/>
                <a:cs typeface="Arial"/>
              </a:rPr>
              <a:t>One</a:t>
            </a:r>
            <a:r>
              <a:rPr sz="1100" spc="250" dirty="0">
                <a:latin typeface="Arial"/>
                <a:cs typeface="Arial"/>
              </a:rPr>
              <a:t> </a:t>
            </a:r>
            <a:r>
              <a:rPr sz="1100" spc="75" dirty="0">
                <a:latin typeface="Arial"/>
                <a:cs typeface="Arial"/>
              </a:rPr>
              <a:t>mode</a:t>
            </a:r>
            <a:r>
              <a:rPr sz="1100" spc="254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diverges,</a:t>
            </a:r>
            <a:r>
              <a:rPr sz="1100" spc="2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254" dirty="0">
                <a:latin typeface="Arial"/>
                <a:cs typeface="Arial"/>
              </a:rPr>
              <a:t> </a:t>
            </a:r>
            <a:r>
              <a:rPr sz="1100" spc="75" dirty="0">
                <a:latin typeface="Arial"/>
                <a:cs typeface="Arial"/>
              </a:rPr>
              <a:t>mode</a:t>
            </a:r>
            <a:r>
              <a:rPr sz="1100" spc="2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oscillates!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54451" y="892161"/>
            <a:ext cx="83185" cy="0"/>
          </a:xfrm>
          <a:custGeom>
            <a:avLst/>
            <a:gdLst/>
            <a:ahLst/>
            <a:cxnLst/>
            <a:rect l="l" t="t" r="r" b="b"/>
            <a:pathLst>
              <a:path w="83185">
                <a:moveTo>
                  <a:pt x="0" y="0"/>
                </a:moveTo>
                <a:lnTo>
                  <a:pt x="82931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66254" y="1396856"/>
            <a:ext cx="887730" cy="459105"/>
          </a:xfrm>
          <a:custGeom>
            <a:avLst/>
            <a:gdLst/>
            <a:ahLst/>
            <a:cxnLst/>
            <a:rect l="l" t="t" r="r" b="b"/>
            <a:pathLst>
              <a:path w="887730" h="459105">
                <a:moveTo>
                  <a:pt x="0" y="459003"/>
                </a:moveTo>
                <a:lnTo>
                  <a:pt x="887404" y="459003"/>
                </a:lnTo>
              </a:path>
              <a:path w="887730" h="459105">
                <a:moveTo>
                  <a:pt x="214200" y="459003"/>
                </a:moveTo>
                <a:lnTo>
                  <a:pt x="214200" y="0"/>
                </a:lnTo>
              </a:path>
            </a:pathLst>
          </a:custGeom>
          <a:ln w="107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39172" y="1750323"/>
            <a:ext cx="1041400" cy="2813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5080" algn="r">
              <a:lnSpc>
                <a:spcPts val="990"/>
              </a:lnSpc>
              <a:spcBef>
                <a:spcPts val="130"/>
              </a:spcBef>
            </a:pPr>
            <a:r>
              <a:rPr sz="900" i="1" spc="-50" dirty="0">
                <a:latin typeface="Georgia"/>
                <a:cs typeface="Georgia"/>
              </a:rPr>
              <a:t>n</a:t>
            </a:r>
            <a:endParaRPr sz="900">
              <a:latin typeface="Georgia"/>
              <a:cs typeface="Georgia"/>
            </a:endParaRPr>
          </a:p>
          <a:p>
            <a:pPr marL="12700">
              <a:lnSpc>
                <a:spcPts val="990"/>
              </a:lnSpc>
            </a:pPr>
            <a:r>
              <a:rPr sz="900" i="1" spc="55" dirty="0">
                <a:latin typeface="Times New Roman"/>
                <a:cs typeface="Times New Roman"/>
              </a:rPr>
              <a:t>−</a:t>
            </a:r>
            <a:r>
              <a:rPr sz="900" spc="55" dirty="0">
                <a:latin typeface="Palatino Linotype"/>
                <a:cs typeface="Palatino Linotype"/>
              </a:rPr>
              <a:t>1</a:t>
            </a:r>
            <a:r>
              <a:rPr sz="900" spc="155" dirty="0">
                <a:latin typeface="Palatino Linotype"/>
                <a:cs typeface="Palatino Linotype"/>
              </a:rPr>
              <a:t> </a:t>
            </a:r>
            <a:r>
              <a:rPr sz="900" dirty="0">
                <a:latin typeface="Palatino Linotype"/>
                <a:cs typeface="Palatino Linotype"/>
              </a:rPr>
              <a:t>0</a:t>
            </a:r>
            <a:r>
              <a:rPr sz="900" spc="150" dirty="0">
                <a:latin typeface="Palatino Linotype"/>
                <a:cs typeface="Palatino Linotype"/>
              </a:rPr>
              <a:t>  </a:t>
            </a:r>
            <a:r>
              <a:rPr sz="900" dirty="0">
                <a:latin typeface="Palatino Linotype"/>
                <a:cs typeface="Palatino Linotype"/>
              </a:rPr>
              <a:t>1</a:t>
            </a:r>
            <a:r>
              <a:rPr sz="900" spc="150" dirty="0">
                <a:latin typeface="Palatino Linotype"/>
                <a:cs typeface="Palatino Linotype"/>
              </a:rPr>
              <a:t>  </a:t>
            </a:r>
            <a:r>
              <a:rPr sz="900" dirty="0">
                <a:latin typeface="Palatino Linotype"/>
                <a:cs typeface="Palatino Linotype"/>
              </a:rPr>
              <a:t>2</a:t>
            </a:r>
            <a:r>
              <a:rPr sz="900" spc="145" dirty="0">
                <a:latin typeface="Palatino Linotype"/>
                <a:cs typeface="Palatino Linotype"/>
              </a:rPr>
              <a:t>  </a:t>
            </a:r>
            <a:r>
              <a:rPr sz="900" dirty="0">
                <a:latin typeface="Palatino Linotype"/>
                <a:cs typeface="Palatino Linotype"/>
              </a:rPr>
              <a:t>3</a:t>
            </a:r>
            <a:r>
              <a:rPr sz="900" spc="150" dirty="0">
                <a:latin typeface="Palatino Linotype"/>
                <a:cs typeface="Palatino Linotype"/>
              </a:rPr>
              <a:t>  </a:t>
            </a:r>
            <a:r>
              <a:rPr sz="900" spc="-50" dirty="0">
                <a:latin typeface="Palatino Linotype"/>
                <a:cs typeface="Palatino Linotype"/>
              </a:rPr>
              <a:t>4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4415" y="1156745"/>
            <a:ext cx="207010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350" i="1" spc="-37" baseline="-21604" dirty="0">
                <a:latin typeface="Georgia"/>
                <a:cs typeface="Georgia"/>
              </a:rPr>
              <a:t>φ</a:t>
            </a:r>
            <a:r>
              <a:rPr sz="750" i="1" spc="-25" dirty="0">
                <a:latin typeface="Georgia"/>
                <a:cs typeface="Georgia"/>
              </a:rPr>
              <a:t>n</a:t>
            </a:r>
            <a:endParaRPr sz="750">
              <a:latin typeface="Georgia"/>
              <a:cs typeface="Georg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95088" y="1221854"/>
            <a:ext cx="829944" cy="666750"/>
            <a:chOff x="1095088" y="1221854"/>
            <a:chExt cx="829944" cy="66675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088" y="1823494"/>
              <a:ext cx="64730" cy="6473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8090" y="1731693"/>
              <a:ext cx="64730" cy="12416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1091" y="1676611"/>
              <a:ext cx="64730" cy="1792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4092" y="1588481"/>
              <a:ext cx="64730" cy="26737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739458" y="1479836"/>
              <a:ext cx="0" cy="376555"/>
            </a:xfrm>
            <a:custGeom>
              <a:avLst/>
              <a:gdLst/>
              <a:ahLst/>
              <a:cxnLst/>
              <a:rect l="l" t="t" r="r" b="b"/>
              <a:pathLst>
                <a:path h="376555">
                  <a:moveTo>
                    <a:pt x="0" y="376022"/>
                  </a:moveTo>
                  <a:lnTo>
                    <a:pt x="0" y="0"/>
                  </a:lnTo>
                </a:path>
              </a:pathLst>
            </a:custGeom>
            <a:ln w="10754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07093" y="1447471"/>
              <a:ext cx="64730" cy="6472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892459" y="1254219"/>
              <a:ext cx="0" cy="601980"/>
            </a:xfrm>
            <a:custGeom>
              <a:avLst/>
              <a:gdLst/>
              <a:ahLst/>
              <a:cxnLst/>
              <a:rect l="l" t="t" r="r" b="b"/>
              <a:pathLst>
                <a:path h="601980">
                  <a:moveTo>
                    <a:pt x="0" y="601640"/>
                  </a:moveTo>
                  <a:lnTo>
                    <a:pt x="0" y="0"/>
                  </a:lnTo>
                </a:path>
              </a:pathLst>
            </a:custGeom>
            <a:ln w="10754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60094" y="1221854"/>
              <a:ext cx="64730" cy="64730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3007564" y="1396856"/>
            <a:ext cx="887730" cy="459105"/>
          </a:xfrm>
          <a:custGeom>
            <a:avLst/>
            <a:gdLst/>
            <a:ahLst/>
            <a:cxnLst/>
            <a:rect l="l" t="t" r="r" b="b"/>
            <a:pathLst>
              <a:path w="887729" h="459105">
                <a:moveTo>
                  <a:pt x="0" y="459003"/>
                </a:moveTo>
                <a:lnTo>
                  <a:pt x="887404" y="459003"/>
                </a:lnTo>
              </a:path>
              <a:path w="887729" h="459105">
                <a:moveTo>
                  <a:pt x="214200" y="459003"/>
                </a:moveTo>
                <a:lnTo>
                  <a:pt x="214200" y="0"/>
                </a:lnTo>
              </a:path>
            </a:pathLst>
          </a:custGeom>
          <a:ln w="107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980482" y="1750323"/>
            <a:ext cx="1041400" cy="2813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5080" algn="r">
              <a:lnSpc>
                <a:spcPts val="990"/>
              </a:lnSpc>
              <a:spcBef>
                <a:spcPts val="130"/>
              </a:spcBef>
            </a:pPr>
            <a:r>
              <a:rPr sz="900" i="1" spc="-50" dirty="0">
                <a:latin typeface="Georgia"/>
                <a:cs typeface="Georgia"/>
              </a:rPr>
              <a:t>n</a:t>
            </a:r>
            <a:endParaRPr sz="900">
              <a:latin typeface="Georgia"/>
              <a:cs typeface="Georgia"/>
            </a:endParaRPr>
          </a:p>
          <a:p>
            <a:pPr marL="12700">
              <a:lnSpc>
                <a:spcPts val="990"/>
              </a:lnSpc>
            </a:pPr>
            <a:r>
              <a:rPr sz="900" i="1" spc="55" dirty="0">
                <a:latin typeface="Times New Roman"/>
                <a:cs typeface="Times New Roman"/>
              </a:rPr>
              <a:t>−</a:t>
            </a:r>
            <a:r>
              <a:rPr sz="900" spc="55" dirty="0">
                <a:latin typeface="Palatino Linotype"/>
                <a:cs typeface="Palatino Linotype"/>
              </a:rPr>
              <a:t>1</a:t>
            </a:r>
            <a:r>
              <a:rPr sz="900" spc="155" dirty="0">
                <a:latin typeface="Palatino Linotype"/>
                <a:cs typeface="Palatino Linotype"/>
              </a:rPr>
              <a:t> </a:t>
            </a:r>
            <a:r>
              <a:rPr sz="900" dirty="0">
                <a:latin typeface="Palatino Linotype"/>
                <a:cs typeface="Palatino Linotype"/>
              </a:rPr>
              <a:t>0</a:t>
            </a:r>
            <a:r>
              <a:rPr sz="900" spc="150" dirty="0">
                <a:latin typeface="Palatino Linotype"/>
                <a:cs typeface="Palatino Linotype"/>
              </a:rPr>
              <a:t>  </a:t>
            </a:r>
            <a:r>
              <a:rPr sz="900" dirty="0">
                <a:latin typeface="Palatino Linotype"/>
                <a:cs typeface="Palatino Linotype"/>
              </a:rPr>
              <a:t>1</a:t>
            </a:r>
            <a:r>
              <a:rPr sz="900" spc="150" dirty="0">
                <a:latin typeface="Palatino Linotype"/>
                <a:cs typeface="Palatino Linotype"/>
              </a:rPr>
              <a:t>  </a:t>
            </a:r>
            <a:r>
              <a:rPr sz="900" dirty="0">
                <a:latin typeface="Palatino Linotype"/>
                <a:cs typeface="Palatino Linotype"/>
              </a:rPr>
              <a:t>2</a:t>
            </a:r>
            <a:r>
              <a:rPr sz="900" spc="145" dirty="0">
                <a:latin typeface="Palatino Linotype"/>
                <a:cs typeface="Palatino Linotype"/>
              </a:rPr>
              <a:t>  </a:t>
            </a:r>
            <a:r>
              <a:rPr sz="900" dirty="0">
                <a:latin typeface="Palatino Linotype"/>
                <a:cs typeface="Palatino Linotype"/>
              </a:rPr>
              <a:t>3</a:t>
            </a:r>
            <a:r>
              <a:rPr sz="900" spc="150" dirty="0">
                <a:latin typeface="Palatino Linotype"/>
                <a:cs typeface="Palatino Linotype"/>
              </a:rPr>
              <a:t>  </a:t>
            </a:r>
            <a:r>
              <a:rPr sz="900" spc="-50" dirty="0">
                <a:latin typeface="Palatino Linotype"/>
                <a:cs typeface="Palatino Linotype"/>
              </a:rPr>
              <a:t>4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92800" y="1030259"/>
            <a:ext cx="85090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u="sng" spc="-5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56814" y="1110290"/>
            <a:ext cx="25209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900" i="1" spc="35" dirty="0">
                <a:latin typeface="Times New Roman"/>
                <a:cs typeface="Times New Roman"/>
              </a:rPr>
              <a:t>−</a:t>
            </a:r>
            <a:r>
              <a:rPr sz="1350" i="1" spc="52" baseline="-40123" dirty="0">
                <a:latin typeface="Georgia"/>
                <a:cs typeface="Georgia"/>
              </a:rPr>
              <a:t>φ</a:t>
            </a:r>
            <a:endParaRPr sz="1350" baseline="-40123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95132" y="943485"/>
            <a:ext cx="38798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87655" algn="l"/>
              </a:tabLst>
            </a:pPr>
            <a:r>
              <a:rPr sz="900" spc="180" dirty="0">
                <a:latin typeface="Calibri"/>
                <a:cs typeface="Calibri"/>
              </a:rPr>
              <a:t>3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900" spc="170" dirty="0">
                <a:latin typeface="Calibri"/>
                <a:cs typeface="Calibri"/>
              </a:rPr>
              <a:t>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57608" y="994319"/>
            <a:ext cx="8572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i="1" spc="-50" dirty="0">
                <a:latin typeface="Georgia"/>
                <a:cs typeface="Georgia"/>
              </a:rPr>
              <a:t>n</a:t>
            </a:r>
            <a:endParaRPr sz="750">
              <a:latin typeface="Georgia"/>
              <a:cs typeface="Georg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036399" y="1731693"/>
            <a:ext cx="829944" cy="212090"/>
            <a:chOff x="3036399" y="1731693"/>
            <a:chExt cx="829944" cy="212090"/>
          </a:xfrm>
        </p:grpSpPr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36399" y="1823494"/>
              <a:ext cx="64730" cy="6473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89400" y="1731693"/>
              <a:ext cx="64730" cy="12416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42401" y="1855859"/>
              <a:ext cx="64730" cy="8744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95402" y="1790446"/>
              <a:ext cx="64730" cy="6541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48403" y="1843324"/>
              <a:ext cx="64730" cy="6473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01405" y="1811596"/>
              <a:ext cx="64730" cy="64730"/>
            </a:xfrm>
            <a:prstGeom prst="rect">
              <a:avLst/>
            </a:prstGeom>
          </p:spPr>
        </p:pic>
      </p:grp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7331" y="1195694"/>
            <a:ext cx="126364" cy="0"/>
          </a:xfrm>
          <a:custGeom>
            <a:avLst/>
            <a:gdLst/>
            <a:ahLst/>
            <a:cxnLst/>
            <a:rect l="l" t="t" r="r" b="b"/>
            <a:pathLst>
              <a:path w="126365">
                <a:moveTo>
                  <a:pt x="0" y="0"/>
                </a:moveTo>
                <a:lnTo>
                  <a:pt x="126225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49496" y="1195694"/>
            <a:ext cx="710565" cy="0"/>
          </a:xfrm>
          <a:custGeom>
            <a:avLst/>
            <a:gdLst/>
            <a:ahLst/>
            <a:cxnLst/>
            <a:rect l="l" t="t" r="r" b="b"/>
            <a:pathLst>
              <a:path w="710564">
                <a:moveTo>
                  <a:pt x="0" y="0"/>
                </a:moveTo>
                <a:lnTo>
                  <a:pt x="710552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5986" y="1195694"/>
            <a:ext cx="440690" cy="0"/>
          </a:xfrm>
          <a:custGeom>
            <a:avLst/>
            <a:gdLst/>
            <a:ahLst/>
            <a:cxnLst/>
            <a:rect l="l" t="t" r="r" b="b"/>
            <a:pathLst>
              <a:path w="440689">
                <a:moveTo>
                  <a:pt x="0" y="0"/>
                </a:moveTo>
                <a:lnTo>
                  <a:pt x="440575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17036" y="1195694"/>
            <a:ext cx="457834" cy="0"/>
          </a:xfrm>
          <a:custGeom>
            <a:avLst/>
            <a:gdLst/>
            <a:ahLst/>
            <a:cxnLst/>
            <a:rect l="l" t="t" r="r" b="b"/>
            <a:pathLst>
              <a:path w="457835">
                <a:moveTo>
                  <a:pt x="0" y="0"/>
                </a:moveTo>
                <a:lnTo>
                  <a:pt x="457682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71916" y="1307232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659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822075" y="1753704"/>
            <a:ext cx="186055" cy="33655"/>
            <a:chOff x="822075" y="1753704"/>
            <a:chExt cx="186055" cy="33655"/>
          </a:xfrm>
        </p:grpSpPr>
        <p:sp>
          <p:nvSpPr>
            <p:cNvPr id="8" name="object 8"/>
            <p:cNvSpPr/>
            <p:nvPr/>
          </p:nvSpPr>
          <p:spPr>
            <a:xfrm>
              <a:off x="822075" y="1756486"/>
              <a:ext cx="186055" cy="0"/>
            </a:xfrm>
            <a:custGeom>
              <a:avLst/>
              <a:gdLst/>
              <a:ahLst/>
              <a:cxnLst/>
              <a:rect l="l" t="t" r="r" b="b"/>
              <a:pathLst>
                <a:path w="186055">
                  <a:moveTo>
                    <a:pt x="0" y="0"/>
                  </a:moveTo>
                  <a:lnTo>
                    <a:pt x="185572" y="0"/>
                  </a:lnTo>
                </a:path>
              </a:pathLst>
            </a:custGeom>
            <a:ln w="5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8058" y="1784320"/>
              <a:ext cx="69850" cy="0"/>
            </a:xfrm>
            <a:custGeom>
              <a:avLst/>
              <a:gdLst/>
              <a:ahLst/>
              <a:cxnLst/>
              <a:rect l="l" t="t" r="r" b="b"/>
              <a:pathLst>
                <a:path w="69850">
                  <a:moveTo>
                    <a:pt x="0" y="0"/>
                  </a:moveTo>
                  <a:lnTo>
                    <a:pt x="69596" y="0"/>
                  </a:lnTo>
                </a:path>
              </a:pathLst>
            </a:custGeom>
            <a:ln w="5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367974" y="1753704"/>
            <a:ext cx="268605" cy="33655"/>
            <a:chOff x="1367974" y="1753704"/>
            <a:chExt cx="268605" cy="33655"/>
          </a:xfrm>
        </p:grpSpPr>
        <p:sp>
          <p:nvSpPr>
            <p:cNvPr id="11" name="object 11"/>
            <p:cNvSpPr/>
            <p:nvPr/>
          </p:nvSpPr>
          <p:spPr>
            <a:xfrm>
              <a:off x="1367974" y="1756486"/>
              <a:ext cx="268605" cy="0"/>
            </a:xfrm>
            <a:custGeom>
              <a:avLst/>
              <a:gdLst/>
              <a:ahLst/>
              <a:cxnLst/>
              <a:rect l="l" t="t" r="r" b="b"/>
              <a:pathLst>
                <a:path w="268605">
                  <a:moveTo>
                    <a:pt x="0" y="0"/>
                  </a:moveTo>
                  <a:lnTo>
                    <a:pt x="268503" y="0"/>
                  </a:lnTo>
                </a:path>
              </a:pathLst>
            </a:custGeom>
            <a:ln w="5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66882" y="1784320"/>
              <a:ext cx="69850" cy="0"/>
            </a:xfrm>
            <a:custGeom>
              <a:avLst/>
              <a:gdLst/>
              <a:ahLst/>
              <a:cxnLst/>
              <a:rect l="l" t="t" r="r" b="b"/>
              <a:pathLst>
                <a:path w="69850">
                  <a:moveTo>
                    <a:pt x="0" y="0"/>
                  </a:moveTo>
                  <a:lnTo>
                    <a:pt x="69596" y="0"/>
                  </a:lnTo>
                </a:path>
              </a:pathLst>
            </a:custGeom>
            <a:ln w="5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5" dirty="0"/>
              <a:t>Example:</a:t>
            </a:r>
            <a:r>
              <a:rPr spc="430" dirty="0"/>
              <a:t> </a:t>
            </a:r>
            <a:r>
              <a:rPr spc="75" dirty="0"/>
              <a:t>Fibonacci’s</a:t>
            </a:r>
            <a:r>
              <a:rPr spc="250" dirty="0"/>
              <a:t> </a:t>
            </a:r>
            <a:r>
              <a:rPr spc="55" dirty="0"/>
              <a:t>Bunnies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113830" y="345358"/>
            <a:ext cx="4833620" cy="43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1100" spc="120" dirty="0">
                <a:latin typeface="Arial"/>
                <a:cs typeface="Arial"/>
              </a:rPr>
              <a:t>The</a:t>
            </a:r>
            <a:r>
              <a:rPr sz="1100" spc="28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unit-</a:t>
            </a:r>
            <a:r>
              <a:rPr sz="1100" spc="75" dirty="0">
                <a:latin typeface="Arial"/>
                <a:cs typeface="Arial"/>
              </a:rPr>
              <a:t>sample</a:t>
            </a:r>
            <a:r>
              <a:rPr sz="1100" spc="28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response</a:t>
            </a:r>
            <a:r>
              <a:rPr sz="1100" spc="29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28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9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Fibonacci</a:t>
            </a:r>
            <a:r>
              <a:rPr sz="1100" spc="28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system</a:t>
            </a:r>
            <a:r>
              <a:rPr sz="1100" spc="28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can</a:t>
            </a:r>
            <a:r>
              <a:rPr sz="1100" spc="29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285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written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weighted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sum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spc="75" dirty="0">
                <a:latin typeface="Arial"/>
                <a:cs typeface="Arial"/>
              </a:rPr>
              <a:t>fundamental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spc="45" dirty="0">
                <a:latin typeface="Arial"/>
                <a:cs typeface="Arial"/>
              </a:rPr>
              <a:t>modes.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05550" y="895540"/>
            <a:ext cx="8661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27380" algn="l"/>
              </a:tabLst>
            </a:pPr>
            <a:r>
              <a:rPr sz="1350" u="sng" spc="165" baseline="308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50" i="1" u="sng" spc="-75" baseline="3086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φ</a:t>
            </a:r>
            <a:r>
              <a:rPr sz="1350" i="1" baseline="3086" dirty="0">
                <a:latin typeface="Georgia"/>
                <a:cs typeface="Georgia"/>
              </a:rPr>
              <a:t>	</a:t>
            </a:r>
            <a:r>
              <a:rPr sz="900" u="sng" spc="5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9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900" u="sng" spc="50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1878" y="984453"/>
            <a:ext cx="7505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8020" algn="l"/>
              </a:tabLst>
            </a:pPr>
            <a:r>
              <a:rPr sz="1100" i="1" spc="-50" dirty="0">
                <a:latin typeface="Georgia"/>
                <a:cs typeface="Georgia"/>
              </a:rPr>
              <a:t>Y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spc="-50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80145" y="940574"/>
            <a:ext cx="2324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i="1" spc="80" dirty="0">
                <a:latin typeface="Meiryo UI"/>
                <a:cs typeface="Meiryo UI"/>
              </a:rPr>
              <a:t>√</a:t>
            </a:r>
            <a:r>
              <a:rPr sz="1350" spc="120" baseline="-46296" dirty="0">
                <a:latin typeface="Palatino Linotype"/>
                <a:cs typeface="Palatino Linotype"/>
              </a:rPr>
              <a:t>5</a:t>
            </a:r>
            <a:endParaRPr sz="1350" baseline="-46296">
              <a:latin typeface="Palatino Linotype"/>
              <a:cs typeface="Palatino Linotyp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94920" y="1027570"/>
            <a:ext cx="302260" cy="29527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82245" marR="30480" indent="-144780">
              <a:lnSpc>
                <a:spcPts val="1050"/>
              </a:lnSpc>
              <a:spcBef>
                <a:spcPts val="155"/>
              </a:spcBef>
            </a:pPr>
            <a:r>
              <a:rPr sz="900" i="1" spc="-25" dirty="0">
                <a:latin typeface="Georgia"/>
                <a:cs typeface="Georgia"/>
              </a:rPr>
              <a:t>φ</a:t>
            </a:r>
            <a:r>
              <a:rPr sz="1350" i="1" spc="-37" baseline="46296" dirty="0">
                <a:latin typeface="Meiryo UI"/>
                <a:cs typeface="Meiryo UI"/>
              </a:rPr>
              <a:t>√</a:t>
            </a:r>
            <a:r>
              <a:rPr sz="900" spc="-25" dirty="0">
                <a:latin typeface="Palatino Linotype"/>
                <a:cs typeface="Palatino Linotype"/>
              </a:rPr>
              <a:t>5</a:t>
            </a:r>
            <a:r>
              <a:rPr sz="900" spc="500" dirty="0">
                <a:latin typeface="Palatino Linotype"/>
                <a:cs typeface="Palatino Linotype"/>
              </a:rPr>
              <a:t> </a:t>
            </a:r>
            <a:r>
              <a:rPr sz="900" spc="-50" dirty="0">
                <a:latin typeface="Palatino Linotype"/>
                <a:cs typeface="Palatino Linotype"/>
              </a:rPr>
              <a:t>1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6877" y="1078610"/>
            <a:ext cx="641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0065" algn="l"/>
              </a:tabLst>
            </a:pPr>
            <a:r>
              <a:rPr sz="1100" i="1" dirty="0">
                <a:latin typeface="Georgia"/>
                <a:cs typeface="Georgia"/>
              </a:rPr>
              <a:t>H</a:t>
            </a:r>
            <a:r>
              <a:rPr sz="1100" i="1" spc="130" dirty="0">
                <a:latin typeface="Georgia"/>
                <a:cs typeface="Georgia"/>
              </a:rPr>
              <a:t> </a:t>
            </a:r>
            <a:r>
              <a:rPr sz="1100" spc="250" dirty="0">
                <a:latin typeface="Palatino Linotype"/>
                <a:cs typeface="Palatino Linotype"/>
              </a:rPr>
              <a:t>=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spc="250" dirty="0">
                <a:latin typeface="Palatino Linotype"/>
                <a:cs typeface="Palatino Linotype"/>
              </a:rPr>
              <a:t>=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01120" y="1078610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=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49807" y="1078610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82508" y="1160665"/>
            <a:ext cx="844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4505" y="1175618"/>
            <a:ext cx="173482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330" algn="l"/>
                <a:tab pos="1280795" algn="l"/>
              </a:tabLst>
            </a:pPr>
            <a:r>
              <a:rPr sz="1100" i="1" spc="65" dirty="0">
                <a:latin typeface="Georgia"/>
                <a:cs typeface="Georgia"/>
              </a:rPr>
              <a:t>X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i="1" spc="245" dirty="0">
                <a:latin typeface="Times New Roman"/>
                <a:cs typeface="Times New Roman"/>
              </a:rPr>
              <a:t>R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i="1" spc="195" dirty="0">
                <a:latin typeface="Times New Roman"/>
                <a:cs typeface="Times New Roman"/>
              </a:rPr>
              <a:t>R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-4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i="1" spc="35" dirty="0">
                <a:latin typeface="Georgia"/>
                <a:cs typeface="Georgia"/>
              </a:rPr>
              <a:t>φ</a:t>
            </a:r>
            <a:r>
              <a:rPr sz="1100" i="1" spc="3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04340" y="1190221"/>
            <a:ext cx="483234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1790" algn="l"/>
              </a:tabLst>
            </a:pP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-45" dirty="0">
                <a:latin typeface="Palatino Linotype"/>
                <a:cs typeface="Palatino Linotype"/>
              </a:rPr>
              <a:t> </a:t>
            </a:r>
            <a:r>
              <a:rPr sz="1100" spc="240" dirty="0">
                <a:latin typeface="Palatino Linotype"/>
                <a:cs typeface="Palatino Linotype"/>
              </a:rPr>
              <a:t>+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59214" y="1268094"/>
            <a:ext cx="952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50" dirty="0">
                <a:latin typeface="Georgia"/>
                <a:cs typeface="Georgia"/>
              </a:rPr>
              <a:t>φ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0704" y="1545247"/>
            <a:ext cx="6896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6425" algn="l"/>
              </a:tabLst>
            </a:pPr>
            <a:r>
              <a:rPr sz="1100" i="1" spc="-50" dirty="0">
                <a:latin typeface="Georgia"/>
                <a:cs typeface="Georgia"/>
              </a:rPr>
              <a:t>φ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spc="-50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93063" y="1607248"/>
            <a:ext cx="10325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7885" algn="l"/>
              </a:tabLst>
            </a:pPr>
            <a:r>
              <a:rPr sz="900" i="1" spc="-50" dirty="0">
                <a:latin typeface="Georgia"/>
                <a:cs typeface="Georgia"/>
              </a:rPr>
              <a:t>n</a:t>
            </a:r>
            <a:r>
              <a:rPr sz="900" i="1" dirty="0">
                <a:latin typeface="Georgia"/>
                <a:cs typeface="Georgia"/>
              </a:rPr>
              <a:t>	</a:t>
            </a:r>
            <a:r>
              <a:rPr sz="900" i="1" spc="-25" dirty="0">
                <a:latin typeface="Meiryo UI"/>
                <a:cs typeface="Meiryo UI"/>
              </a:rPr>
              <a:t>−</a:t>
            </a:r>
            <a:r>
              <a:rPr sz="900" i="1" spc="-25" dirty="0">
                <a:latin typeface="Georgia"/>
                <a:cs typeface="Georgia"/>
              </a:rPr>
              <a:t>n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8796" y="1639471"/>
            <a:ext cx="242633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812925" algn="l"/>
                <a:tab pos="2049145" algn="l"/>
              </a:tabLst>
            </a:pPr>
            <a:r>
              <a:rPr sz="1100" i="1" spc="-10" dirty="0">
                <a:latin typeface="Georgia"/>
                <a:cs typeface="Georgia"/>
              </a:rPr>
              <a:t>h</a:t>
            </a:r>
            <a:r>
              <a:rPr sz="1100" spc="-10" dirty="0">
                <a:latin typeface="Palatino Linotype"/>
                <a:cs typeface="Palatino Linotype"/>
              </a:rPr>
              <a:t>[</a:t>
            </a:r>
            <a:r>
              <a:rPr sz="1100" i="1" spc="-10" dirty="0">
                <a:latin typeface="Georgia"/>
                <a:cs typeface="Georgia"/>
              </a:rPr>
              <a:t>n</a:t>
            </a:r>
            <a:r>
              <a:rPr sz="1100" spc="-10" dirty="0">
                <a:latin typeface="Palatino Linotype"/>
                <a:cs typeface="Palatino Linotype"/>
              </a:rPr>
              <a:t>]</a:t>
            </a:r>
            <a:r>
              <a:rPr sz="1100" spc="-20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114" dirty="0">
                <a:latin typeface="Palatino Linotype"/>
                <a:cs typeface="Palatino Linotype"/>
              </a:rPr>
              <a:t> </a:t>
            </a:r>
            <a:r>
              <a:rPr sz="1650" i="1" spc="225" baseline="2525" dirty="0">
                <a:latin typeface="Times New Roman"/>
                <a:cs typeface="Times New Roman"/>
              </a:rPr>
              <a:t>√</a:t>
            </a:r>
            <a:r>
              <a:rPr sz="1650" spc="225" baseline="-42929" dirty="0">
                <a:latin typeface="Palatino Linotype"/>
                <a:cs typeface="Palatino Linotype"/>
              </a:rPr>
              <a:t>5</a:t>
            </a:r>
            <a:r>
              <a:rPr sz="1650" spc="-240" baseline="-42929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Georgia"/>
                <a:cs typeface="Georgia"/>
              </a:rPr>
              <a:t>φ</a:t>
            </a:r>
            <a:r>
              <a:rPr sz="1100" i="1" spc="125" dirty="0">
                <a:latin typeface="Georgia"/>
                <a:cs typeface="Georgia"/>
              </a:rPr>
              <a:t> 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55" dirty="0">
                <a:latin typeface="Palatino Linotype"/>
                <a:cs typeface="Palatino Linotype"/>
              </a:rPr>
              <a:t> </a:t>
            </a:r>
            <a:r>
              <a:rPr sz="1650" i="1" spc="82" baseline="-42929" dirty="0">
                <a:latin typeface="Georgia"/>
                <a:cs typeface="Georgia"/>
              </a:rPr>
              <a:t>φ</a:t>
            </a:r>
            <a:r>
              <a:rPr sz="1650" i="1" spc="82" baseline="2525" dirty="0">
                <a:latin typeface="Times New Roman"/>
                <a:cs typeface="Times New Roman"/>
              </a:rPr>
              <a:t>√</a:t>
            </a:r>
            <a:r>
              <a:rPr sz="1650" spc="82" baseline="-42929" dirty="0">
                <a:latin typeface="Palatino Linotype"/>
                <a:cs typeface="Palatino Linotype"/>
              </a:rPr>
              <a:t>5</a:t>
            </a:r>
            <a:r>
              <a:rPr sz="1650" spc="-240" baseline="-42929" dirty="0">
                <a:latin typeface="Palatino Linotype"/>
                <a:cs typeface="Palatino Linotype"/>
              </a:rPr>
              <a:t> </a:t>
            </a:r>
            <a:r>
              <a:rPr sz="1100" spc="-20" dirty="0">
                <a:latin typeface="Palatino Linotype"/>
                <a:cs typeface="Palatino Linotype"/>
              </a:rPr>
              <a:t>(</a:t>
            </a:r>
            <a:r>
              <a:rPr sz="1100" i="1" spc="-20" dirty="0">
                <a:latin typeface="Times New Roman"/>
                <a:cs typeface="Times New Roman"/>
              </a:rPr>
              <a:t>−</a:t>
            </a:r>
            <a:r>
              <a:rPr sz="1100" i="1" spc="-20" dirty="0">
                <a:latin typeface="Georgia"/>
                <a:cs typeface="Georgia"/>
              </a:rPr>
              <a:t>φ</a:t>
            </a:r>
            <a:r>
              <a:rPr sz="1100" spc="-20" dirty="0">
                <a:latin typeface="Palatino Linotype"/>
                <a:cs typeface="Palatino Linotype"/>
              </a:rPr>
              <a:t>)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spc="-50" dirty="0">
                <a:latin typeface="Palatino Linotype"/>
                <a:cs typeface="Palatino Linotype"/>
              </a:rPr>
              <a:t>;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i="1" spc="35" dirty="0">
                <a:latin typeface="Georgia"/>
                <a:cs typeface="Georgia"/>
              </a:rPr>
              <a:t> </a:t>
            </a:r>
            <a:r>
              <a:rPr sz="1100" i="1" spc="250" dirty="0">
                <a:latin typeface="Times New Roman"/>
                <a:cs typeface="Times New Roman"/>
              </a:rPr>
              <a:t>≥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Palatino Linotype"/>
                <a:cs typeface="Palatino Linotype"/>
              </a:rPr>
              <a:t>0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3245" y="2031751"/>
            <a:ext cx="4833620" cy="97091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100" spc="135" dirty="0">
                <a:latin typeface="Arial"/>
                <a:cs typeface="Arial"/>
              </a:rPr>
              <a:t>But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already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spc="75" dirty="0">
                <a:latin typeface="Arial"/>
                <a:cs typeface="Arial"/>
              </a:rPr>
              <a:t>know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120" dirty="0">
                <a:latin typeface="Arial"/>
                <a:cs typeface="Arial"/>
              </a:rPr>
              <a:t>that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i="1" dirty="0">
                <a:latin typeface="Georgia"/>
                <a:cs typeface="Georgia"/>
              </a:rPr>
              <a:t>h</a:t>
            </a:r>
            <a:r>
              <a:rPr sz="1100" dirty="0">
                <a:latin typeface="Palatino Linotype"/>
                <a:cs typeface="Palatino Linotype"/>
              </a:rPr>
              <a:t>[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dirty="0">
                <a:latin typeface="Palatino Linotype"/>
                <a:cs typeface="Palatino Linotype"/>
              </a:rPr>
              <a:t>]</a:t>
            </a:r>
            <a:r>
              <a:rPr sz="1100" spc="23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Fibonacci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sequence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i="1" spc="170" dirty="0">
                <a:latin typeface="Georgia"/>
                <a:cs typeface="Georgia"/>
              </a:rPr>
              <a:t>f</a:t>
            </a:r>
            <a:r>
              <a:rPr sz="1100" i="1" spc="-135" dirty="0">
                <a:latin typeface="Georgia"/>
                <a:cs typeface="Georgia"/>
              </a:rPr>
              <a:t> </a:t>
            </a:r>
            <a:r>
              <a:rPr sz="1100" spc="25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266065">
              <a:lnSpc>
                <a:spcPct val="100000"/>
              </a:lnSpc>
              <a:spcBef>
                <a:spcPts val="705"/>
              </a:spcBef>
            </a:pPr>
            <a:r>
              <a:rPr sz="1100" i="1" spc="170" dirty="0">
                <a:latin typeface="Georgia"/>
                <a:cs typeface="Georgia"/>
              </a:rPr>
              <a:t>f</a:t>
            </a:r>
            <a:r>
              <a:rPr sz="1100" i="1" spc="180" dirty="0">
                <a:latin typeface="Georgia"/>
                <a:cs typeface="Georgia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:</a:t>
            </a:r>
            <a:r>
              <a:rPr sz="1100" spc="50" dirty="0">
                <a:latin typeface="Palatino Linotype"/>
                <a:cs typeface="Palatino Linotype"/>
              </a:rPr>
              <a:t> </a:t>
            </a:r>
            <a:r>
              <a:rPr sz="1100" spc="-10" dirty="0">
                <a:latin typeface="Palatino Linotype"/>
                <a:cs typeface="Palatino Linotype"/>
              </a:rPr>
              <a:t>1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70" dirty="0">
                <a:latin typeface="Georgia"/>
                <a:cs typeface="Georgia"/>
              </a:rPr>
              <a:t> </a:t>
            </a:r>
            <a:r>
              <a:rPr sz="1100" spc="-10" dirty="0">
                <a:latin typeface="Palatino Linotype"/>
                <a:cs typeface="Palatino Linotype"/>
              </a:rPr>
              <a:t>1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70" dirty="0">
                <a:latin typeface="Georgia"/>
                <a:cs typeface="Georgia"/>
              </a:rPr>
              <a:t> </a:t>
            </a:r>
            <a:r>
              <a:rPr sz="1100" spc="-10" dirty="0">
                <a:latin typeface="Palatino Linotype"/>
                <a:cs typeface="Palatino Linotype"/>
              </a:rPr>
              <a:t>2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70" dirty="0">
                <a:latin typeface="Georgia"/>
                <a:cs typeface="Georgia"/>
              </a:rPr>
              <a:t> </a:t>
            </a:r>
            <a:r>
              <a:rPr sz="1100" spc="-10" dirty="0">
                <a:latin typeface="Palatino Linotype"/>
                <a:cs typeface="Palatino Linotype"/>
              </a:rPr>
              <a:t>3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70" dirty="0">
                <a:latin typeface="Georgia"/>
                <a:cs typeface="Georgia"/>
              </a:rPr>
              <a:t> </a:t>
            </a:r>
            <a:r>
              <a:rPr sz="1100" spc="-10" dirty="0">
                <a:latin typeface="Palatino Linotype"/>
                <a:cs typeface="Palatino Linotype"/>
              </a:rPr>
              <a:t>5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70" dirty="0">
                <a:latin typeface="Georgia"/>
                <a:cs typeface="Georgia"/>
              </a:rPr>
              <a:t> </a:t>
            </a:r>
            <a:r>
              <a:rPr sz="1100" spc="-10" dirty="0">
                <a:latin typeface="Palatino Linotype"/>
                <a:cs typeface="Palatino Linotype"/>
              </a:rPr>
              <a:t>8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70" dirty="0">
                <a:latin typeface="Georgia"/>
                <a:cs typeface="Georgia"/>
              </a:rPr>
              <a:t> </a:t>
            </a:r>
            <a:r>
              <a:rPr sz="1100" spc="-10" dirty="0">
                <a:latin typeface="Palatino Linotype"/>
                <a:cs typeface="Palatino Linotype"/>
              </a:rPr>
              <a:t>13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70" dirty="0">
                <a:latin typeface="Georgia"/>
                <a:cs typeface="Georgia"/>
              </a:rPr>
              <a:t> </a:t>
            </a:r>
            <a:r>
              <a:rPr sz="1100" spc="-10" dirty="0">
                <a:latin typeface="Palatino Linotype"/>
                <a:cs typeface="Palatino Linotype"/>
              </a:rPr>
              <a:t>21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70" dirty="0">
                <a:latin typeface="Georgia"/>
                <a:cs typeface="Georgia"/>
              </a:rPr>
              <a:t> </a:t>
            </a:r>
            <a:r>
              <a:rPr sz="1100" spc="-10" dirty="0">
                <a:latin typeface="Palatino Linotype"/>
                <a:cs typeface="Palatino Linotype"/>
              </a:rPr>
              <a:t>34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70" dirty="0">
                <a:latin typeface="Georgia"/>
                <a:cs typeface="Georgia"/>
              </a:rPr>
              <a:t> </a:t>
            </a:r>
            <a:r>
              <a:rPr sz="1100" spc="-10" dirty="0">
                <a:latin typeface="Palatino Linotype"/>
                <a:cs typeface="Palatino Linotype"/>
              </a:rPr>
              <a:t>55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70" dirty="0">
                <a:latin typeface="Georgia"/>
                <a:cs typeface="Georgia"/>
              </a:rPr>
              <a:t> </a:t>
            </a:r>
            <a:r>
              <a:rPr sz="1100" spc="-10" dirty="0">
                <a:latin typeface="Palatino Linotype"/>
                <a:cs typeface="Palatino Linotype"/>
              </a:rPr>
              <a:t>89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7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7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70" dirty="0">
                <a:latin typeface="Georgia"/>
                <a:cs typeface="Georgia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spc="75" dirty="0">
                <a:latin typeface="Arial"/>
                <a:cs typeface="Arial"/>
              </a:rPr>
              <a:t>Therefore</a:t>
            </a:r>
            <a:r>
              <a:rPr sz="1100" spc="1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14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can</a:t>
            </a:r>
            <a:r>
              <a:rPr sz="1100" spc="14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calculate</a:t>
            </a:r>
            <a:r>
              <a:rPr sz="1100" spc="140" dirty="0">
                <a:latin typeface="Arial"/>
                <a:cs typeface="Arial"/>
              </a:rPr>
              <a:t> </a:t>
            </a:r>
            <a:r>
              <a:rPr sz="1100" i="1" spc="170" dirty="0">
                <a:latin typeface="Georgia"/>
                <a:cs typeface="Georgia"/>
              </a:rPr>
              <a:t>f</a:t>
            </a:r>
            <a:r>
              <a:rPr sz="1100" i="1" spc="-150" dirty="0">
                <a:latin typeface="Georgia"/>
                <a:cs typeface="Georgia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[</a:t>
            </a:r>
            <a:r>
              <a:rPr sz="1100" i="1" dirty="0">
                <a:latin typeface="Georgia"/>
                <a:cs typeface="Georgia"/>
              </a:rPr>
              <a:t>n</a:t>
            </a:r>
            <a:r>
              <a:rPr sz="1100" dirty="0">
                <a:latin typeface="Palatino Linotype"/>
                <a:cs typeface="Palatino Linotype"/>
              </a:rPr>
              <a:t>]</a:t>
            </a:r>
            <a:r>
              <a:rPr sz="1100" spc="170" dirty="0">
                <a:latin typeface="Palatino Linotype"/>
                <a:cs typeface="Palatino Linotype"/>
              </a:rPr>
              <a:t> </a:t>
            </a:r>
            <a:r>
              <a:rPr sz="1100" spc="105" dirty="0">
                <a:latin typeface="Arial"/>
                <a:cs typeface="Arial"/>
              </a:rPr>
              <a:t>without</a:t>
            </a:r>
            <a:r>
              <a:rPr sz="1100" spc="145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knowing</a:t>
            </a:r>
            <a:r>
              <a:rPr sz="1100" spc="140" dirty="0">
                <a:latin typeface="Arial"/>
                <a:cs typeface="Arial"/>
              </a:rPr>
              <a:t> </a:t>
            </a:r>
            <a:r>
              <a:rPr sz="1100" i="1" spc="170" dirty="0">
                <a:latin typeface="Georgia"/>
                <a:cs typeface="Georgia"/>
              </a:rPr>
              <a:t>f</a:t>
            </a:r>
            <a:r>
              <a:rPr sz="1100" i="1" spc="-150" dirty="0">
                <a:latin typeface="Georgia"/>
                <a:cs typeface="Georgia"/>
              </a:rPr>
              <a:t> </a:t>
            </a:r>
            <a:r>
              <a:rPr sz="1100" spc="-30" dirty="0">
                <a:latin typeface="Palatino Linotype"/>
                <a:cs typeface="Palatino Linotype"/>
              </a:rPr>
              <a:t>[</a:t>
            </a:r>
            <a:r>
              <a:rPr sz="1100" i="1" spc="-30" dirty="0">
                <a:latin typeface="Georgia"/>
                <a:cs typeface="Georgia"/>
              </a:rPr>
              <a:t>n</a:t>
            </a:r>
            <a:r>
              <a:rPr sz="1100" i="1" spc="-35" dirty="0">
                <a:latin typeface="Georgia"/>
                <a:cs typeface="Georgia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1]</a:t>
            </a:r>
            <a:r>
              <a:rPr sz="1100" spc="170" dirty="0">
                <a:latin typeface="Palatino Linotype"/>
                <a:cs typeface="Palatino Linotype"/>
              </a:rPr>
              <a:t> </a:t>
            </a:r>
            <a:r>
              <a:rPr sz="1100" spc="55" dirty="0">
                <a:latin typeface="Arial"/>
                <a:cs typeface="Arial"/>
              </a:rPr>
              <a:t>or</a:t>
            </a:r>
            <a:r>
              <a:rPr sz="1100" spc="145" dirty="0">
                <a:latin typeface="Arial"/>
                <a:cs typeface="Arial"/>
              </a:rPr>
              <a:t> </a:t>
            </a:r>
            <a:r>
              <a:rPr sz="1100" i="1" spc="170" dirty="0">
                <a:latin typeface="Georgia"/>
                <a:cs typeface="Georgia"/>
              </a:rPr>
              <a:t>f</a:t>
            </a:r>
            <a:r>
              <a:rPr sz="1100" i="1" spc="-150" dirty="0">
                <a:latin typeface="Georgia"/>
                <a:cs typeface="Georgia"/>
              </a:rPr>
              <a:t> </a:t>
            </a:r>
            <a:r>
              <a:rPr sz="1100" spc="-30" dirty="0">
                <a:latin typeface="Palatino Linotype"/>
                <a:cs typeface="Palatino Linotype"/>
              </a:rPr>
              <a:t>[</a:t>
            </a:r>
            <a:r>
              <a:rPr sz="1100" i="1" spc="-30" dirty="0">
                <a:latin typeface="Georgia"/>
                <a:cs typeface="Georgia"/>
              </a:rPr>
              <a:t>n</a:t>
            </a:r>
            <a:r>
              <a:rPr sz="1100" i="1" spc="-40" dirty="0">
                <a:latin typeface="Georgia"/>
                <a:cs typeface="Georgia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4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Palatino Linotype"/>
                <a:cs typeface="Palatino Linotype"/>
              </a:rPr>
              <a:t>2]</a:t>
            </a:r>
            <a:r>
              <a:rPr sz="1100" spc="-50" dirty="0">
                <a:latin typeface="Palatino Linotype"/>
                <a:cs typeface="Palatino Linotype"/>
              </a:rPr>
              <a:t> </a:t>
            </a:r>
            <a:r>
              <a:rPr sz="1100" spc="35" dirty="0">
                <a:latin typeface="Arial"/>
                <a:cs typeface="Arial"/>
              </a:rPr>
              <a:t>!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0120" y="1170185"/>
            <a:ext cx="710565" cy="0"/>
          </a:xfrm>
          <a:custGeom>
            <a:avLst/>
            <a:gdLst/>
            <a:ahLst/>
            <a:cxnLst/>
            <a:rect l="l" t="t" r="r" b="b"/>
            <a:pathLst>
              <a:path w="710565">
                <a:moveTo>
                  <a:pt x="0" y="0"/>
                </a:moveTo>
                <a:lnTo>
                  <a:pt x="710552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0120" y="1542889"/>
            <a:ext cx="649605" cy="0"/>
          </a:xfrm>
          <a:custGeom>
            <a:avLst/>
            <a:gdLst/>
            <a:ahLst/>
            <a:cxnLst/>
            <a:rect l="l" t="t" r="r" b="b"/>
            <a:pathLst>
              <a:path w="649605">
                <a:moveTo>
                  <a:pt x="0" y="0"/>
                </a:moveTo>
                <a:lnTo>
                  <a:pt x="649338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25398" y="1542889"/>
            <a:ext cx="616585" cy="0"/>
          </a:xfrm>
          <a:custGeom>
            <a:avLst/>
            <a:gdLst/>
            <a:ahLst/>
            <a:cxnLst/>
            <a:rect l="l" t="t" r="r" b="b"/>
            <a:pathLst>
              <a:path w="616585">
                <a:moveTo>
                  <a:pt x="0" y="0"/>
                </a:moveTo>
                <a:lnTo>
                  <a:pt x="616343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57303" y="1856672"/>
            <a:ext cx="59055" cy="0"/>
          </a:xfrm>
          <a:custGeom>
            <a:avLst/>
            <a:gdLst/>
            <a:ahLst/>
            <a:cxnLst/>
            <a:rect l="l" t="t" r="r" b="b"/>
            <a:pathLst>
              <a:path w="59055">
                <a:moveTo>
                  <a:pt x="0" y="0"/>
                </a:moveTo>
                <a:lnTo>
                  <a:pt x="58521" y="0"/>
                </a:lnTo>
              </a:path>
            </a:pathLst>
          </a:custGeom>
          <a:ln w="48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59773" y="1976492"/>
            <a:ext cx="156210" cy="0"/>
          </a:xfrm>
          <a:custGeom>
            <a:avLst/>
            <a:gdLst/>
            <a:ahLst/>
            <a:cxnLst/>
            <a:rect l="l" t="t" r="r" b="b"/>
            <a:pathLst>
              <a:path w="156209">
                <a:moveTo>
                  <a:pt x="0" y="0"/>
                </a:moveTo>
                <a:lnTo>
                  <a:pt x="156044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0" dirty="0"/>
              <a:t>Complex</a:t>
            </a:r>
            <a:r>
              <a:rPr spc="220" dirty="0"/>
              <a:t> </a:t>
            </a:r>
            <a:r>
              <a:rPr spc="55" dirty="0"/>
              <a:t>Poles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113830" y="381266"/>
            <a:ext cx="3333750" cy="624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125" dirty="0">
                <a:latin typeface="Arial"/>
                <a:cs typeface="Arial"/>
              </a:rPr>
              <a:t>What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if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pole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non-</a:t>
            </a:r>
            <a:r>
              <a:rPr sz="1100" spc="65" dirty="0">
                <a:latin typeface="Arial"/>
                <a:cs typeface="Arial"/>
              </a:rPr>
              <a:t>zero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imaginary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part?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55" dirty="0">
                <a:latin typeface="Arial"/>
                <a:cs typeface="Arial"/>
              </a:rPr>
              <a:t>Example: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508" y="958999"/>
            <a:ext cx="7505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8020" algn="l"/>
              </a:tabLst>
            </a:pPr>
            <a:r>
              <a:rPr sz="1100" i="1" u="sng" spc="-5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Y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spc="-50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5369" y="1053224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=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93139" y="1135151"/>
            <a:ext cx="844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9871" y="1150232"/>
            <a:ext cx="106426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79730" algn="l"/>
              </a:tabLst>
            </a:pPr>
            <a:r>
              <a:rPr sz="1100" i="1" spc="65" dirty="0">
                <a:latin typeface="Georgia"/>
                <a:cs typeface="Georgia"/>
              </a:rPr>
              <a:t>X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0" dirty="0">
                <a:latin typeface="Times New Roman"/>
                <a:cs typeface="Times New Roman"/>
              </a:rPr>
              <a:t> </a:t>
            </a:r>
            <a:r>
              <a:rPr sz="1100" i="1" spc="-155" dirty="0">
                <a:latin typeface="Times New Roman"/>
                <a:cs typeface="Times New Roman"/>
              </a:rPr>
              <a:t>R</a:t>
            </a:r>
            <a:r>
              <a:rPr sz="1650" spc="-232" baseline="-73232" dirty="0">
                <a:latin typeface="Palatino Linotype"/>
                <a:cs typeface="Palatino Linotype"/>
              </a:rPr>
              <a:t>1</a:t>
            </a:r>
            <a:r>
              <a:rPr sz="1650" spc="-67" baseline="-73232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53027" y="1331645"/>
            <a:ext cx="901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z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23859" y="1306436"/>
            <a:ext cx="844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5330" y="1425803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=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50607" y="1425803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=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02260" y="1610681"/>
            <a:ext cx="800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50" dirty="0">
                <a:latin typeface="Georgia"/>
                <a:cs typeface="Georgia"/>
              </a:rPr>
              <a:t>z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7474" y="1537425"/>
            <a:ext cx="49403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745" algn="l"/>
              </a:tabLst>
            </a:pP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-45" dirty="0">
                <a:latin typeface="Palatino Linotype"/>
                <a:cs typeface="Palatino Linotype"/>
              </a:rPr>
              <a:t> </a:t>
            </a:r>
            <a:r>
              <a:rPr sz="1100" i="1" spc="60" dirty="0">
                <a:latin typeface="Times New Roman"/>
                <a:cs typeface="Times New Roman"/>
              </a:rPr>
              <a:t>−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02715" y="1507858"/>
            <a:ext cx="3740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1780" algn="l"/>
              </a:tabLst>
            </a:pPr>
            <a:r>
              <a:rPr sz="900" u="sng" spc="-5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900" dirty="0">
                <a:latin typeface="Palatino Linotype"/>
                <a:cs typeface="Palatino Linotype"/>
              </a:rPr>
              <a:t>	</a:t>
            </a:r>
            <a:r>
              <a:rPr sz="900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9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62076" y="1634138"/>
            <a:ext cx="800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50" dirty="0">
                <a:latin typeface="Georgia"/>
                <a:cs typeface="Georgia"/>
              </a:rPr>
              <a:t>z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21473" y="1614081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83537" y="1507858"/>
            <a:ext cx="844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12696" y="1522755"/>
            <a:ext cx="641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dirty="0">
                <a:latin typeface="Georgia"/>
                <a:cs typeface="Georgia"/>
              </a:rPr>
              <a:t>z</a:t>
            </a:r>
            <a:r>
              <a:rPr sz="1100" i="1" spc="140" dirty="0">
                <a:latin typeface="Georgia"/>
                <a:cs typeface="Georgia"/>
              </a:rPr>
              <a:t> 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Georgia"/>
                <a:cs typeface="Georgia"/>
              </a:rPr>
              <a:t>z</a:t>
            </a:r>
            <a:r>
              <a:rPr sz="1100" i="1" spc="30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0" dirty="0">
                <a:latin typeface="Palatino Linotype"/>
                <a:cs typeface="Palatino Linotype"/>
              </a:rPr>
              <a:t> </a:t>
            </a:r>
            <a:r>
              <a:rPr sz="1100" spc="-50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47021" y="1732560"/>
            <a:ext cx="123189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150" dirty="0">
                <a:latin typeface="Meiryo UI"/>
                <a:cs typeface="Meiryo UI"/>
              </a:rPr>
              <a:t>√</a:t>
            </a:r>
            <a:endParaRPr sz="900">
              <a:latin typeface="Meiryo UI"/>
              <a:cs typeface="Meiryo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88085" y="1829917"/>
            <a:ext cx="4406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8935" algn="l"/>
              </a:tabLst>
            </a:pPr>
            <a:r>
              <a:rPr sz="900" u="sng" spc="-5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900" dirty="0">
                <a:latin typeface="Palatino Linotype"/>
                <a:cs typeface="Palatino Linotype"/>
              </a:rPr>
              <a:t>	</a:t>
            </a:r>
            <a:r>
              <a:rPr sz="1350" spc="-75" baseline="3086" dirty="0">
                <a:latin typeface="Palatino Linotype"/>
                <a:cs typeface="Palatino Linotype"/>
              </a:rPr>
              <a:t>3</a:t>
            </a:r>
            <a:endParaRPr sz="1350" baseline="3086">
              <a:latin typeface="Palatino Linotype"/>
              <a:cs typeface="Palatino Linotyp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33808" y="1834244"/>
            <a:ext cx="3594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10" dirty="0">
                <a:latin typeface="Meiryo UI"/>
                <a:cs typeface="Meiryo UI"/>
              </a:rPr>
              <a:t>±</a:t>
            </a:r>
            <a:r>
              <a:rPr sz="900" i="1" spc="-10" dirty="0">
                <a:latin typeface="Georgia"/>
                <a:cs typeface="Georgia"/>
              </a:rPr>
              <a:t>jπ/</a:t>
            </a:r>
            <a:r>
              <a:rPr sz="900" spc="-10" dirty="0"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88085" y="1932711"/>
            <a:ext cx="3917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0040" algn="l"/>
              </a:tabLst>
            </a:pPr>
            <a:r>
              <a:rPr sz="900" spc="-50" dirty="0">
                <a:latin typeface="Palatino Linotype"/>
                <a:cs typeface="Palatino Linotype"/>
              </a:rPr>
              <a:t>2</a:t>
            </a:r>
            <a:r>
              <a:rPr sz="900" dirty="0">
                <a:latin typeface="Palatino Linotype"/>
                <a:cs typeface="Palatino Linotype"/>
              </a:rPr>
              <a:t>	</a:t>
            </a:r>
            <a:r>
              <a:rPr sz="900" spc="-50" dirty="0">
                <a:latin typeface="Palatino Linotype"/>
                <a:cs typeface="Palatino Linotype"/>
              </a:rPr>
              <a:t>2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3830" y="1859407"/>
            <a:ext cx="17462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90930" algn="l"/>
                <a:tab pos="1416685" algn="l"/>
              </a:tabLst>
            </a:pPr>
            <a:r>
              <a:rPr sz="1100" dirty="0">
                <a:latin typeface="Arial"/>
                <a:cs typeface="Arial"/>
              </a:rPr>
              <a:t>Poles</a:t>
            </a:r>
            <a:r>
              <a:rPr sz="1100" spc="2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245" dirty="0">
                <a:latin typeface="Arial"/>
                <a:cs typeface="Arial"/>
              </a:rPr>
              <a:t> </a:t>
            </a:r>
            <a:r>
              <a:rPr sz="1100" i="1" dirty="0">
                <a:latin typeface="Georgia"/>
                <a:cs typeface="Georgia"/>
              </a:rPr>
              <a:t>z</a:t>
            </a:r>
            <a:r>
              <a:rPr sz="1100" i="1" spc="155" dirty="0">
                <a:latin typeface="Georgia"/>
                <a:cs typeface="Georgia"/>
              </a:rPr>
              <a:t> </a:t>
            </a:r>
            <a:r>
              <a:rPr sz="1100" spc="250" dirty="0">
                <a:latin typeface="Palatino Linotype"/>
                <a:cs typeface="Palatino Linotype"/>
              </a:rPr>
              <a:t>=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i="1" spc="200" dirty="0">
                <a:latin typeface="Times New Roman"/>
                <a:cs typeface="Times New Roman"/>
              </a:rPr>
              <a:t>±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120" dirty="0">
                <a:latin typeface="Georgia"/>
                <a:cs typeface="Georgia"/>
              </a:rPr>
              <a:t>j</a:t>
            </a:r>
            <a:r>
              <a:rPr sz="1100" i="1" spc="100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30" dirty="0">
                <a:latin typeface="Palatino Linotype"/>
                <a:cs typeface="Palatino Linotype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73844" y="1859407"/>
            <a:ext cx="7429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3852" y="2290723"/>
            <a:ext cx="320929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125" dirty="0">
                <a:latin typeface="Arial"/>
                <a:cs typeface="Arial"/>
              </a:rPr>
              <a:t>What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implications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complex</a:t>
            </a:r>
            <a:r>
              <a:rPr sz="1100" spc="18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poles?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87638" y="973242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596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20973" y="945408"/>
            <a:ext cx="690880" cy="0"/>
          </a:xfrm>
          <a:custGeom>
            <a:avLst/>
            <a:gdLst/>
            <a:ahLst/>
            <a:cxnLst/>
            <a:rect l="l" t="t" r="r" b="b"/>
            <a:pathLst>
              <a:path w="690879">
                <a:moveTo>
                  <a:pt x="0" y="0"/>
                </a:moveTo>
                <a:lnTo>
                  <a:pt x="690765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12204" y="945408"/>
            <a:ext cx="762635" cy="0"/>
          </a:xfrm>
          <a:custGeom>
            <a:avLst/>
            <a:gdLst/>
            <a:ahLst/>
            <a:cxnLst/>
            <a:rect l="l" t="t" r="r" b="b"/>
            <a:pathLst>
              <a:path w="762635">
                <a:moveTo>
                  <a:pt x="0" y="0"/>
                </a:moveTo>
                <a:lnTo>
                  <a:pt x="762279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82900" y="590321"/>
            <a:ext cx="13589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180" dirty="0">
                <a:latin typeface="Graphite Std"/>
                <a:cs typeface="Graphite Std"/>
              </a:rPr>
              <a:t>�</a:t>
            </a:r>
            <a:endParaRPr sz="1100">
              <a:latin typeface="Graphite Std"/>
              <a:cs typeface="Graphite St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76921" y="590321"/>
            <a:ext cx="13589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180" dirty="0">
                <a:latin typeface="Graphite Std"/>
                <a:cs typeface="Graphite Std"/>
              </a:rPr>
              <a:t>�</a:t>
            </a:r>
            <a:endParaRPr sz="1100">
              <a:latin typeface="Graphite Std"/>
              <a:cs typeface="Graphite St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0" dirty="0"/>
              <a:t>Complex</a:t>
            </a:r>
            <a:r>
              <a:rPr spc="220" dirty="0"/>
              <a:t> </a:t>
            </a:r>
            <a:r>
              <a:rPr spc="55" dirty="0"/>
              <a:t>Poles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3830" y="381266"/>
            <a:ext cx="401320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65" dirty="0">
                <a:latin typeface="Arial"/>
                <a:cs typeface="Arial"/>
              </a:rPr>
              <a:t>Partial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fractions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work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even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when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poles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complex.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3991" y="693468"/>
            <a:ext cx="2564130" cy="44132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415"/>
              </a:spcBef>
              <a:tabLst>
                <a:tab pos="702945" algn="l"/>
                <a:tab pos="1083310" algn="l"/>
                <a:tab pos="1630045" algn="l"/>
                <a:tab pos="2045970" algn="l"/>
              </a:tabLst>
            </a:pPr>
            <a:r>
              <a:rPr sz="1100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Y</a:t>
            </a:r>
            <a:r>
              <a:rPr sz="1100" i="1" spc="500" dirty="0">
                <a:latin typeface="Georgia"/>
                <a:cs typeface="Georgia"/>
              </a:rPr>
              <a:t> </a:t>
            </a:r>
            <a:r>
              <a:rPr sz="1650" spc="450" baseline="-37878" dirty="0">
                <a:latin typeface="Palatino Linotype"/>
                <a:cs typeface="Palatino Linotype"/>
              </a:rPr>
              <a:t>=</a:t>
            </a:r>
            <a:r>
              <a:rPr sz="1650" spc="315" baseline="-37878" dirty="0">
                <a:latin typeface="Palatino Linotype"/>
                <a:cs typeface="Palatino Linotype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 </a:t>
            </a:r>
            <a:r>
              <a:rPr sz="1650" i="1" spc="165" baseline="-37878" dirty="0">
                <a:latin typeface="Times New Roman"/>
                <a:cs typeface="Times New Roman"/>
              </a:rPr>
              <a:t>×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r>
              <a:rPr sz="1100" spc="210" dirty="0">
                <a:latin typeface="Palatino Linotype"/>
                <a:cs typeface="Palatino Linotype"/>
              </a:rPr>
              <a:t> </a:t>
            </a:r>
            <a:r>
              <a:rPr sz="1650" spc="450" baseline="-37878" dirty="0">
                <a:latin typeface="Palatino Linotype"/>
                <a:cs typeface="Palatino Linotype"/>
              </a:rPr>
              <a:t>=</a:t>
            </a:r>
            <a:r>
              <a:rPr sz="1650" spc="307" baseline="-37878" dirty="0">
                <a:latin typeface="Palatino Linotype"/>
                <a:cs typeface="Palatino Linotype"/>
              </a:rPr>
              <a:t> </a:t>
            </a:r>
            <a:r>
              <a:rPr sz="1100" u="sng" spc="5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1100" u="sng" spc="50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endParaRPr sz="1100">
              <a:latin typeface="Palatino Linotype"/>
              <a:cs typeface="Palatino Linotype"/>
            </a:endParaRPr>
          </a:p>
          <a:p>
            <a:pPr marL="50800">
              <a:lnSpc>
                <a:spcPct val="100000"/>
              </a:lnSpc>
              <a:spcBef>
                <a:spcPts val="315"/>
              </a:spcBef>
              <a:tabLst>
                <a:tab pos="392430" algn="l"/>
                <a:tab pos="1283970" algn="l"/>
                <a:tab pos="2261870" algn="l"/>
              </a:tabLst>
            </a:pPr>
            <a:r>
              <a:rPr sz="1650" i="1" spc="97" baseline="7575" dirty="0">
                <a:latin typeface="Georgia"/>
                <a:cs typeface="Georgia"/>
              </a:rPr>
              <a:t>X</a:t>
            </a:r>
            <a:r>
              <a:rPr sz="1650" i="1" baseline="7575" dirty="0">
                <a:latin typeface="Georgia"/>
                <a:cs typeface="Georgia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i="1" spc="-25" dirty="0">
                <a:latin typeface="Georgia"/>
                <a:cs typeface="Georgia"/>
              </a:rPr>
              <a:t>e</a:t>
            </a:r>
            <a:r>
              <a:rPr sz="1100" i="1" spc="-114" dirty="0">
                <a:latin typeface="Georgia"/>
                <a:cs typeface="Georgia"/>
              </a:rPr>
              <a:t> </a:t>
            </a:r>
            <a:r>
              <a:rPr sz="1350" i="1" spc="120" baseline="21604" dirty="0">
                <a:latin typeface="Georgia"/>
                <a:cs typeface="Georgia"/>
              </a:rPr>
              <a:t>jπ/</a:t>
            </a:r>
            <a:r>
              <a:rPr sz="1350" spc="120" baseline="21604" dirty="0">
                <a:latin typeface="Palatino Linotype"/>
                <a:cs typeface="Palatino Linotype"/>
              </a:rPr>
              <a:t>3</a:t>
            </a:r>
            <a:r>
              <a:rPr sz="1100" i="1" spc="80" dirty="0">
                <a:latin typeface="Times New Roman"/>
                <a:cs typeface="Times New Roman"/>
              </a:rPr>
              <a:t>R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-4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i="1" spc="55" dirty="0">
                <a:latin typeface="Georgia"/>
                <a:cs typeface="Georgia"/>
              </a:rPr>
              <a:t>e</a:t>
            </a:r>
            <a:r>
              <a:rPr sz="1350" i="1" spc="82" baseline="21604" dirty="0">
                <a:latin typeface="Meiryo UI"/>
                <a:cs typeface="Meiryo UI"/>
              </a:rPr>
              <a:t>−</a:t>
            </a:r>
            <a:r>
              <a:rPr sz="1350" i="1" spc="82" baseline="21604" dirty="0">
                <a:latin typeface="Georgia"/>
                <a:cs typeface="Georgia"/>
              </a:rPr>
              <a:t>jπ/</a:t>
            </a:r>
            <a:r>
              <a:rPr sz="1350" spc="82" baseline="21604" dirty="0">
                <a:latin typeface="Palatino Linotype"/>
                <a:cs typeface="Palatino Linotype"/>
              </a:rPr>
              <a:t>3</a:t>
            </a:r>
            <a:r>
              <a:rPr sz="1100" i="1" spc="55" dirty="0">
                <a:latin typeface="Times New Roman"/>
                <a:cs typeface="Times New Roman"/>
              </a:rPr>
              <a:t>R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650" i="1" spc="202" baseline="2525" dirty="0">
                <a:latin typeface="Georgia"/>
                <a:cs typeface="Georgia"/>
              </a:rPr>
              <a:t>j</a:t>
            </a:r>
            <a:r>
              <a:rPr sz="1650" i="1" spc="202" baseline="47979" dirty="0">
                <a:latin typeface="Times New Roman"/>
                <a:cs typeface="Times New Roman"/>
              </a:rPr>
              <a:t>√</a:t>
            </a:r>
            <a:r>
              <a:rPr sz="1650" spc="202" baseline="2525" dirty="0">
                <a:latin typeface="Palatino Linotype"/>
                <a:cs typeface="Palatino Linotype"/>
              </a:rPr>
              <a:t>3</a:t>
            </a:r>
            <a:endParaRPr sz="1650" baseline="2525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70166" y="635898"/>
            <a:ext cx="1755775" cy="45529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0"/>
              </a:spcBef>
              <a:tabLst>
                <a:tab pos="890905" algn="l"/>
              </a:tabLst>
            </a:pPr>
            <a:r>
              <a:rPr sz="1650" i="1" spc="-37" baseline="-20202" dirty="0">
                <a:latin typeface="Georgia"/>
                <a:cs typeface="Georgia"/>
              </a:rPr>
              <a:t>e</a:t>
            </a:r>
            <a:r>
              <a:rPr sz="1650" i="1" spc="-165" baseline="-20202" dirty="0">
                <a:latin typeface="Georgia"/>
                <a:cs typeface="Georgia"/>
              </a:rPr>
              <a:t> </a:t>
            </a:r>
            <a:r>
              <a:rPr sz="900" i="1" spc="35" dirty="0">
                <a:latin typeface="Georgia"/>
                <a:cs typeface="Georgia"/>
              </a:rPr>
              <a:t>jπ/</a:t>
            </a:r>
            <a:r>
              <a:rPr sz="900" spc="35" dirty="0">
                <a:latin typeface="Palatino Linotype"/>
                <a:cs typeface="Palatino Linotype"/>
              </a:rPr>
              <a:t>3</a:t>
            </a:r>
            <a:r>
              <a:rPr sz="900" dirty="0">
                <a:latin typeface="Palatino Linotype"/>
                <a:cs typeface="Palatino Linotype"/>
              </a:rPr>
              <a:t>	</a:t>
            </a:r>
            <a:r>
              <a:rPr sz="1650" i="1" spc="-15" baseline="-20202" dirty="0">
                <a:latin typeface="Georgia"/>
                <a:cs typeface="Georgia"/>
              </a:rPr>
              <a:t>e</a:t>
            </a:r>
            <a:r>
              <a:rPr sz="900" i="1" spc="-10" dirty="0">
                <a:latin typeface="Meiryo UI"/>
                <a:cs typeface="Meiryo UI"/>
              </a:rPr>
              <a:t>−</a:t>
            </a:r>
            <a:r>
              <a:rPr sz="900" i="1" spc="-10" dirty="0">
                <a:latin typeface="Georgia"/>
                <a:cs typeface="Georgia"/>
              </a:rPr>
              <a:t>jπ/</a:t>
            </a:r>
            <a:r>
              <a:rPr sz="900" spc="-10" dirty="0"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650" baseline="-17676" dirty="0">
                <a:latin typeface="Palatino Linotype"/>
                <a:cs typeface="Palatino Linotype"/>
              </a:rPr>
              <a:t>1</a:t>
            </a:r>
            <a:r>
              <a:rPr sz="1650" spc="-52" baseline="-17676" dirty="0">
                <a:latin typeface="Palatino Linotype"/>
                <a:cs typeface="Palatino Linotype"/>
              </a:rPr>
              <a:t> </a:t>
            </a:r>
            <a:r>
              <a:rPr sz="1650" i="1" spc="165" baseline="-17676" dirty="0">
                <a:latin typeface="Times New Roman"/>
                <a:cs typeface="Times New Roman"/>
              </a:rPr>
              <a:t>−</a:t>
            </a:r>
            <a:r>
              <a:rPr sz="1650" i="1" spc="-44" baseline="-17676" dirty="0">
                <a:latin typeface="Times New Roman"/>
                <a:cs typeface="Times New Roman"/>
              </a:rPr>
              <a:t> </a:t>
            </a:r>
            <a:r>
              <a:rPr sz="1650" i="1" spc="-37" baseline="-17676" dirty="0">
                <a:latin typeface="Georgia"/>
                <a:cs typeface="Georgia"/>
              </a:rPr>
              <a:t>e</a:t>
            </a:r>
            <a:r>
              <a:rPr sz="1650" i="1" spc="-172" baseline="-17676" dirty="0">
                <a:latin typeface="Georgia"/>
                <a:cs typeface="Georgia"/>
              </a:rPr>
              <a:t> </a:t>
            </a:r>
            <a:r>
              <a:rPr sz="900" i="1" spc="100" dirty="0">
                <a:latin typeface="Georgia"/>
                <a:cs typeface="Georgia"/>
              </a:rPr>
              <a:t>jπ/</a:t>
            </a:r>
            <a:r>
              <a:rPr sz="900" spc="100" dirty="0">
                <a:latin typeface="Palatino Linotype"/>
                <a:cs typeface="Palatino Linotype"/>
              </a:rPr>
              <a:t>3</a:t>
            </a:r>
            <a:r>
              <a:rPr sz="1650" i="1" spc="150" baseline="-17676" dirty="0">
                <a:latin typeface="Times New Roman"/>
                <a:cs typeface="Times New Roman"/>
              </a:rPr>
              <a:t>R</a:t>
            </a:r>
            <a:r>
              <a:rPr sz="1650" i="1" spc="135" baseline="-17676" dirty="0">
                <a:latin typeface="Times New Roman"/>
                <a:cs typeface="Times New Roman"/>
              </a:rPr>
              <a:t> </a:t>
            </a:r>
            <a:r>
              <a:rPr sz="1650" i="1" spc="165" baseline="27777" dirty="0">
                <a:latin typeface="Times New Roman"/>
                <a:cs typeface="Times New Roman"/>
              </a:rPr>
              <a:t>−</a:t>
            </a:r>
            <a:r>
              <a:rPr sz="1650" i="1" spc="127" baseline="27777" dirty="0">
                <a:latin typeface="Times New Roman"/>
                <a:cs typeface="Times New Roman"/>
              </a:rPr>
              <a:t> </a:t>
            </a:r>
            <a:r>
              <a:rPr sz="1650" baseline="-17676" dirty="0">
                <a:latin typeface="Palatino Linotype"/>
                <a:cs typeface="Palatino Linotype"/>
              </a:rPr>
              <a:t>1</a:t>
            </a:r>
            <a:r>
              <a:rPr sz="1650" spc="-44" baseline="-17676" dirty="0">
                <a:latin typeface="Palatino Linotype"/>
                <a:cs typeface="Palatino Linotype"/>
              </a:rPr>
              <a:t> </a:t>
            </a:r>
            <a:r>
              <a:rPr sz="1650" i="1" spc="165" baseline="-17676" dirty="0">
                <a:latin typeface="Times New Roman"/>
                <a:cs typeface="Times New Roman"/>
              </a:rPr>
              <a:t>−</a:t>
            </a:r>
            <a:r>
              <a:rPr sz="1650" i="1" spc="-44" baseline="-17676" dirty="0">
                <a:latin typeface="Times New Roman"/>
                <a:cs typeface="Times New Roman"/>
              </a:rPr>
              <a:t> </a:t>
            </a:r>
            <a:r>
              <a:rPr sz="1650" i="1" spc="82" baseline="-17676" dirty="0">
                <a:latin typeface="Georgia"/>
                <a:cs typeface="Georgia"/>
              </a:rPr>
              <a:t>e</a:t>
            </a:r>
            <a:r>
              <a:rPr sz="900" i="1" spc="55" dirty="0">
                <a:latin typeface="Meiryo UI"/>
                <a:cs typeface="Meiryo UI"/>
              </a:rPr>
              <a:t>−</a:t>
            </a:r>
            <a:r>
              <a:rPr sz="900" i="1" spc="55" dirty="0">
                <a:latin typeface="Georgia"/>
                <a:cs typeface="Georgia"/>
              </a:rPr>
              <a:t>jπ/</a:t>
            </a:r>
            <a:r>
              <a:rPr sz="900" spc="55" dirty="0">
                <a:latin typeface="Palatino Linotype"/>
                <a:cs typeface="Palatino Linotype"/>
              </a:rPr>
              <a:t>3</a:t>
            </a:r>
            <a:r>
              <a:rPr sz="1650" i="1" spc="82" baseline="-17676" dirty="0">
                <a:latin typeface="Times New Roman"/>
                <a:cs typeface="Times New Roman"/>
              </a:rPr>
              <a:t>R</a:t>
            </a:r>
            <a:endParaRPr sz="1650" baseline="-17676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354" y="1265485"/>
            <a:ext cx="4909820" cy="52832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5"/>
              </a:spcBef>
            </a:pPr>
            <a:r>
              <a:rPr sz="1100" spc="90" dirty="0">
                <a:latin typeface="Arial"/>
                <a:cs typeface="Arial"/>
              </a:rPr>
              <a:t>There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95" dirty="0">
                <a:latin typeface="Arial"/>
                <a:cs typeface="Arial"/>
              </a:rPr>
              <a:t>two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75" dirty="0">
                <a:latin typeface="Arial"/>
                <a:cs typeface="Arial"/>
              </a:rPr>
              <a:t>fundamental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modes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120" dirty="0">
                <a:latin typeface="Arial"/>
                <a:cs typeface="Arial"/>
              </a:rPr>
              <a:t>(both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75" dirty="0">
                <a:latin typeface="Arial"/>
                <a:cs typeface="Arial"/>
              </a:rPr>
              <a:t>geometric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sequences):</a:t>
            </a:r>
            <a:endParaRPr sz="11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660"/>
              </a:spcBef>
            </a:pPr>
            <a:r>
              <a:rPr sz="1100" i="1" spc="-25" dirty="0">
                <a:latin typeface="Georgia"/>
                <a:cs typeface="Georgia"/>
              </a:rPr>
              <a:t>e</a:t>
            </a:r>
            <a:r>
              <a:rPr sz="1100" i="1" spc="-100" dirty="0">
                <a:latin typeface="Georgia"/>
                <a:cs typeface="Georgia"/>
              </a:rPr>
              <a:t> </a:t>
            </a:r>
            <a:r>
              <a:rPr sz="1350" i="1" baseline="27777" dirty="0">
                <a:latin typeface="Georgia"/>
                <a:cs typeface="Georgia"/>
              </a:rPr>
              <a:t>jnπ/</a:t>
            </a:r>
            <a:r>
              <a:rPr sz="1350" baseline="27777" dirty="0">
                <a:latin typeface="Palatino Linotype"/>
                <a:cs typeface="Palatino Linotype"/>
              </a:rPr>
              <a:t>3</a:t>
            </a:r>
            <a:r>
              <a:rPr sz="1350" spc="262" baseline="27777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65" dirty="0">
                <a:latin typeface="Palatino Linotype"/>
                <a:cs typeface="Palatino Linotype"/>
              </a:rPr>
              <a:t> </a:t>
            </a:r>
            <a:r>
              <a:rPr sz="1100" dirty="0">
                <a:solidFill>
                  <a:srgbClr val="0000CC"/>
                </a:solidFill>
                <a:latin typeface="Palatino Linotype"/>
                <a:cs typeface="Palatino Linotype"/>
              </a:rPr>
              <a:t>cos(</a:t>
            </a:r>
            <a:r>
              <a:rPr sz="1100" i="1" dirty="0">
                <a:solidFill>
                  <a:srgbClr val="0000CC"/>
                </a:solidFill>
                <a:latin typeface="Georgia"/>
                <a:cs typeface="Georgia"/>
              </a:rPr>
              <a:t>nπ/</a:t>
            </a:r>
            <a:r>
              <a:rPr sz="1100" dirty="0">
                <a:solidFill>
                  <a:srgbClr val="0000CC"/>
                </a:solidFill>
                <a:latin typeface="Palatino Linotype"/>
                <a:cs typeface="Palatino Linotype"/>
              </a:rPr>
              <a:t>3)</a:t>
            </a:r>
            <a:r>
              <a:rPr sz="1100" spc="-105" dirty="0">
                <a:solidFill>
                  <a:srgbClr val="0000CC"/>
                </a:solidFill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110" dirty="0">
                <a:latin typeface="Palatino Linotype"/>
                <a:cs typeface="Palatino Linotype"/>
              </a:rPr>
              <a:t> </a:t>
            </a:r>
            <a:r>
              <a:rPr sz="1100" i="1" spc="120" dirty="0">
                <a:solidFill>
                  <a:srgbClr val="FF0000"/>
                </a:solidFill>
                <a:latin typeface="Georgia"/>
                <a:cs typeface="Georgia"/>
              </a:rPr>
              <a:t>j</a:t>
            </a:r>
            <a:r>
              <a:rPr sz="1100" i="1" spc="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FF0000"/>
                </a:solidFill>
                <a:latin typeface="Palatino Linotype"/>
                <a:cs typeface="Palatino Linotype"/>
              </a:rPr>
              <a:t>sin(</a:t>
            </a:r>
            <a:r>
              <a:rPr sz="1100" i="1" dirty="0">
                <a:solidFill>
                  <a:srgbClr val="FF0000"/>
                </a:solidFill>
                <a:latin typeface="Georgia"/>
                <a:cs typeface="Georgia"/>
              </a:rPr>
              <a:t>nπ/</a:t>
            </a:r>
            <a:r>
              <a:rPr sz="1100" dirty="0">
                <a:solidFill>
                  <a:srgbClr val="FF0000"/>
                </a:solidFill>
                <a:latin typeface="Palatino Linotype"/>
                <a:cs typeface="Palatino Linotype"/>
              </a:rPr>
              <a:t>3)</a:t>
            </a:r>
            <a:r>
              <a:rPr sz="1100" spc="175" dirty="0">
                <a:solidFill>
                  <a:srgbClr val="FF0000"/>
                </a:solidFill>
                <a:latin typeface="Palatino Linotype"/>
                <a:cs typeface="Palatino Linotype"/>
              </a:rPr>
              <a:t>  </a:t>
            </a:r>
            <a:r>
              <a:rPr sz="1100" spc="55" dirty="0">
                <a:latin typeface="Arial"/>
                <a:cs typeface="Arial"/>
              </a:rPr>
              <a:t>and</a:t>
            </a:r>
            <a:r>
              <a:rPr sz="1100" spc="140" dirty="0">
                <a:latin typeface="Arial"/>
                <a:cs typeface="Arial"/>
              </a:rPr>
              <a:t>  </a:t>
            </a:r>
            <a:r>
              <a:rPr sz="1100" i="1" dirty="0">
                <a:latin typeface="Georgia"/>
                <a:cs typeface="Georgia"/>
              </a:rPr>
              <a:t>e</a:t>
            </a:r>
            <a:r>
              <a:rPr sz="1350" i="1" baseline="27777" dirty="0">
                <a:latin typeface="Meiryo UI"/>
                <a:cs typeface="Meiryo UI"/>
              </a:rPr>
              <a:t>−</a:t>
            </a:r>
            <a:r>
              <a:rPr sz="1350" i="1" baseline="27777" dirty="0">
                <a:latin typeface="Georgia"/>
                <a:cs typeface="Georgia"/>
              </a:rPr>
              <a:t>jnπ/</a:t>
            </a:r>
            <a:r>
              <a:rPr sz="1350" baseline="27777" dirty="0">
                <a:latin typeface="Palatino Linotype"/>
                <a:cs typeface="Palatino Linotype"/>
              </a:rPr>
              <a:t>3</a:t>
            </a:r>
            <a:r>
              <a:rPr sz="1350" spc="262" baseline="27777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65" dirty="0">
                <a:latin typeface="Palatino Linotype"/>
                <a:cs typeface="Palatino Linotype"/>
              </a:rPr>
              <a:t> </a:t>
            </a:r>
            <a:r>
              <a:rPr sz="1100" dirty="0">
                <a:solidFill>
                  <a:srgbClr val="0000CC"/>
                </a:solidFill>
                <a:latin typeface="Palatino Linotype"/>
                <a:cs typeface="Palatino Linotype"/>
              </a:rPr>
              <a:t>cos(</a:t>
            </a:r>
            <a:r>
              <a:rPr sz="1100" i="1" dirty="0">
                <a:solidFill>
                  <a:srgbClr val="0000CC"/>
                </a:solidFill>
                <a:latin typeface="Georgia"/>
                <a:cs typeface="Georgia"/>
              </a:rPr>
              <a:t>nπ/</a:t>
            </a:r>
            <a:r>
              <a:rPr sz="1100" dirty="0">
                <a:solidFill>
                  <a:srgbClr val="0000CC"/>
                </a:solidFill>
                <a:latin typeface="Palatino Linotype"/>
                <a:cs typeface="Palatino Linotype"/>
              </a:rPr>
              <a:t>3)</a:t>
            </a:r>
            <a:r>
              <a:rPr sz="1100" spc="-105" dirty="0">
                <a:solidFill>
                  <a:srgbClr val="0000CC"/>
                </a:solidFill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110" dirty="0"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FF0000"/>
                </a:solidFill>
                <a:latin typeface="Georgia"/>
                <a:cs typeface="Georgia"/>
              </a:rPr>
              <a:t>j</a:t>
            </a:r>
            <a:r>
              <a:rPr sz="1100" i="1" spc="1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Palatino Linotype"/>
                <a:cs typeface="Palatino Linotype"/>
              </a:rPr>
              <a:t>sin(</a:t>
            </a:r>
            <a:r>
              <a:rPr sz="1100" i="1" spc="-10" dirty="0">
                <a:solidFill>
                  <a:srgbClr val="FF0000"/>
                </a:solidFill>
                <a:latin typeface="Georgia"/>
                <a:cs typeface="Georgia"/>
              </a:rPr>
              <a:t>nπ/</a:t>
            </a:r>
            <a:r>
              <a:rPr sz="1100" spc="-10" dirty="0">
                <a:solidFill>
                  <a:srgbClr val="FF0000"/>
                </a:solidFill>
                <a:latin typeface="Palatino Linotype"/>
                <a:cs typeface="Palatino Linotype"/>
              </a:rPr>
              <a:t>3)</a:t>
            </a:r>
            <a:endParaRPr sz="1100">
              <a:latin typeface="Palatino Linotype"/>
              <a:cs typeface="Palatino Linotyp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0028" y="1952398"/>
            <a:ext cx="1651000" cy="1079500"/>
            <a:chOff x="540028" y="1952398"/>
            <a:chExt cx="1651000" cy="1079500"/>
          </a:xfrm>
        </p:grpSpPr>
        <p:sp>
          <p:nvSpPr>
            <p:cNvPr id="13" name="object 13"/>
            <p:cNvSpPr/>
            <p:nvPr/>
          </p:nvSpPr>
          <p:spPr>
            <a:xfrm>
              <a:off x="540028" y="1984124"/>
              <a:ext cx="1651000" cy="1016000"/>
            </a:xfrm>
            <a:custGeom>
              <a:avLst/>
              <a:gdLst/>
              <a:ahLst/>
              <a:cxnLst/>
              <a:rect l="l" t="t" r="r" b="b"/>
              <a:pathLst>
                <a:path w="1651000" h="1016000">
                  <a:moveTo>
                    <a:pt x="0" y="508000"/>
                  </a:moveTo>
                  <a:lnTo>
                    <a:pt x="1651000" y="508000"/>
                  </a:lnTo>
                </a:path>
                <a:path w="1651000" h="1016000">
                  <a:moveTo>
                    <a:pt x="63500" y="1016000"/>
                  </a:moveTo>
                  <a:lnTo>
                    <a:pt x="63500" y="0"/>
                  </a:lnTo>
                </a:path>
                <a:path w="1651000" h="1016000">
                  <a:moveTo>
                    <a:pt x="190500" y="508000"/>
                  </a:moveTo>
                  <a:lnTo>
                    <a:pt x="190500" y="546100"/>
                  </a:lnTo>
                </a:path>
                <a:path w="1651000" h="1016000">
                  <a:moveTo>
                    <a:pt x="317500" y="508000"/>
                  </a:moveTo>
                  <a:lnTo>
                    <a:pt x="317500" y="546100"/>
                  </a:lnTo>
                </a:path>
                <a:path w="1651000" h="1016000">
                  <a:moveTo>
                    <a:pt x="444500" y="508000"/>
                  </a:moveTo>
                  <a:lnTo>
                    <a:pt x="444500" y="546100"/>
                  </a:lnTo>
                </a:path>
                <a:path w="1651000" h="1016000">
                  <a:moveTo>
                    <a:pt x="571500" y="508000"/>
                  </a:moveTo>
                  <a:lnTo>
                    <a:pt x="571500" y="546100"/>
                  </a:lnTo>
                </a:path>
                <a:path w="1651000" h="1016000">
                  <a:moveTo>
                    <a:pt x="698500" y="508000"/>
                  </a:moveTo>
                  <a:lnTo>
                    <a:pt x="698500" y="546100"/>
                  </a:lnTo>
                </a:path>
                <a:path w="1651000" h="1016000">
                  <a:moveTo>
                    <a:pt x="825500" y="508000"/>
                  </a:moveTo>
                  <a:lnTo>
                    <a:pt x="825500" y="546100"/>
                  </a:lnTo>
                </a:path>
                <a:path w="1651000" h="1016000">
                  <a:moveTo>
                    <a:pt x="952500" y="508000"/>
                  </a:moveTo>
                  <a:lnTo>
                    <a:pt x="952500" y="546100"/>
                  </a:lnTo>
                </a:path>
                <a:path w="1651000" h="1016000">
                  <a:moveTo>
                    <a:pt x="1079500" y="508000"/>
                  </a:moveTo>
                  <a:lnTo>
                    <a:pt x="1079500" y="546100"/>
                  </a:lnTo>
                </a:path>
                <a:path w="1651000" h="1016000">
                  <a:moveTo>
                    <a:pt x="1206500" y="508000"/>
                  </a:moveTo>
                  <a:lnTo>
                    <a:pt x="1206500" y="546100"/>
                  </a:lnTo>
                </a:path>
                <a:path w="1651000" h="1016000">
                  <a:moveTo>
                    <a:pt x="1333500" y="508000"/>
                  </a:moveTo>
                  <a:lnTo>
                    <a:pt x="1333500" y="546100"/>
                  </a:lnTo>
                </a:path>
                <a:path w="1651000" h="1016000">
                  <a:moveTo>
                    <a:pt x="1460500" y="508000"/>
                  </a:moveTo>
                  <a:lnTo>
                    <a:pt x="1460500" y="546100"/>
                  </a:lnTo>
                </a:path>
                <a:path w="1651000" h="1016000">
                  <a:moveTo>
                    <a:pt x="1587500" y="508000"/>
                  </a:moveTo>
                  <a:lnTo>
                    <a:pt x="1587500" y="5461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8128" y="1958724"/>
              <a:ext cx="1574800" cy="1066800"/>
            </a:xfrm>
            <a:custGeom>
              <a:avLst/>
              <a:gdLst/>
              <a:ahLst/>
              <a:cxnLst/>
              <a:rect l="l" t="t" r="r" b="b"/>
              <a:pathLst>
                <a:path w="1574800" h="1066800">
                  <a:moveTo>
                    <a:pt x="50800" y="25400"/>
                  </a:moveTo>
                  <a:lnTo>
                    <a:pt x="50800" y="18663"/>
                  </a:lnTo>
                  <a:lnTo>
                    <a:pt x="48123" y="12203"/>
                  </a:lnTo>
                  <a:lnTo>
                    <a:pt x="43360" y="7439"/>
                  </a:lnTo>
                  <a:lnTo>
                    <a:pt x="38596" y="2676"/>
                  </a:lnTo>
                  <a:lnTo>
                    <a:pt x="32136" y="0"/>
                  </a:lnTo>
                  <a:lnTo>
                    <a:pt x="25400" y="0"/>
                  </a:lnTo>
                  <a:lnTo>
                    <a:pt x="18663" y="0"/>
                  </a:lnTo>
                  <a:lnTo>
                    <a:pt x="12203" y="2676"/>
                  </a:lnTo>
                  <a:lnTo>
                    <a:pt x="7439" y="7439"/>
                  </a:lnTo>
                  <a:lnTo>
                    <a:pt x="2676" y="12203"/>
                  </a:lnTo>
                  <a:lnTo>
                    <a:pt x="0" y="18663"/>
                  </a:lnTo>
                  <a:lnTo>
                    <a:pt x="0" y="25400"/>
                  </a:lnTo>
                  <a:lnTo>
                    <a:pt x="0" y="32136"/>
                  </a:lnTo>
                  <a:lnTo>
                    <a:pt x="2676" y="38596"/>
                  </a:lnTo>
                  <a:lnTo>
                    <a:pt x="7439" y="43360"/>
                  </a:lnTo>
                  <a:lnTo>
                    <a:pt x="12203" y="48123"/>
                  </a:lnTo>
                  <a:lnTo>
                    <a:pt x="18663" y="50800"/>
                  </a:lnTo>
                  <a:lnTo>
                    <a:pt x="25400" y="50800"/>
                  </a:lnTo>
                  <a:lnTo>
                    <a:pt x="32136" y="50800"/>
                  </a:lnTo>
                  <a:lnTo>
                    <a:pt x="38596" y="48123"/>
                  </a:lnTo>
                  <a:lnTo>
                    <a:pt x="43360" y="43360"/>
                  </a:lnTo>
                  <a:lnTo>
                    <a:pt x="48123" y="38596"/>
                  </a:lnTo>
                  <a:lnTo>
                    <a:pt x="50800" y="32136"/>
                  </a:lnTo>
                  <a:lnTo>
                    <a:pt x="50800" y="25400"/>
                  </a:lnTo>
                  <a:close/>
                </a:path>
                <a:path w="1574800" h="1066800">
                  <a:moveTo>
                    <a:pt x="177800" y="278872"/>
                  </a:moveTo>
                  <a:lnTo>
                    <a:pt x="177800" y="272136"/>
                  </a:lnTo>
                  <a:lnTo>
                    <a:pt x="175123" y="265675"/>
                  </a:lnTo>
                  <a:lnTo>
                    <a:pt x="170360" y="260912"/>
                  </a:lnTo>
                  <a:lnTo>
                    <a:pt x="165596" y="256149"/>
                  </a:lnTo>
                  <a:lnTo>
                    <a:pt x="159136" y="253472"/>
                  </a:lnTo>
                  <a:lnTo>
                    <a:pt x="152400" y="253472"/>
                  </a:lnTo>
                  <a:lnTo>
                    <a:pt x="145663" y="253472"/>
                  </a:lnTo>
                  <a:lnTo>
                    <a:pt x="139203" y="256149"/>
                  </a:lnTo>
                  <a:lnTo>
                    <a:pt x="134439" y="260912"/>
                  </a:lnTo>
                  <a:lnTo>
                    <a:pt x="129676" y="265675"/>
                  </a:lnTo>
                  <a:lnTo>
                    <a:pt x="127000" y="272136"/>
                  </a:lnTo>
                  <a:lnTo>
                    <a:pt x="127000" y="278872"/>
                  </a:lnTo>
                  <a:lnTo>
                    <a:pt x="127000" y="285609"/>
                  </a:lnTo>
                  <a:lnTo>
                    <a:pt x="129676" y="292069"/>
                  </a:lnTo>
                  <a:lnTo>
                    <a:pt x="134439" y="296833"/>
                  </a:lnTo>
                  <a:lnTo>
                    <a:pt x="139203" y="301596"/>
                  </a:lnTo>
                  <a:lnTo>
                    <a:pt x="145663" y="304272"/>
                  </a:lnTo>
                  <a:lnTo>
                    <a:pt x="152400" y="304272"/>
                  </a:lnTo>
                  <a:lnTo>
                    <a:pt x="159136" y="304272"/>
                  </a:lnTo>
                  <a:lnTo>
                    <a:pt x="165596" y="301596"/>
                  </a:lnTo>
                  <a:lnTo>
                    <a:pt x="170360" y="296833"/>
                  </a:lnTo>
                  <a:lnTo>
                    <a:pt x="175123" y="292069"/>
                  </a:lnTo>
                  <a:lnTo>
                    <a:pt x="177800" y="285609"/>
                  </a:lnTo>
                  <a:lnTo>
                    <a:pt x="177800" y="278872"/>
                  </a:lnTo>
                  <a:close/>
                </a:path>
                <a:path w="1574800" h="1066800">
                  <a:moveTo>
                    <a:pt x="304800" y="786338"/>
                  </a:moveTo>
                  <a:lnTo>
                    <a:pt x="304800" y="779601"/>
                  </a:lnTo>
                  <a:lnTo>
                    <a:pt x="302123" y="773141"/>
                  </a:lnTo>
                  <a:lnTo>
                    <a:pt x="297360" y="768377"/>
                  </a:lnTo>
                  <a:lnTo>
                    <a:pt x="292596" y="763614"/>
                  </a:lnTo>
                  <a:lnTo>
                    <a:pt x="286136" y="760938"/>
                  </a:lnTo>
                  <a:lnTo>
                    <a:pt x="279400" y="760938"/>
                  </a:lnTo>
                  <a:lnTo>
                    <a:pt x="272663" y="760938"/>
                  </a:lnTo>
                  <a:lnTo>
                    <a:pt x="266203" y="763614"/>
                  </a:lnTo>
                  <a:lnTo>
                    <a:pt x="261439" y="768377"/>
                  </a:lnTo>
                  <a:lnTo>
                    <a:pt x="256676" y="773141"/>
                  </a:lnTo>
                  <a:lnTo>
                    <a:pt x="254000" y="779601"/>
                  </a:lnTo>
                  <a:lnTo>
                    <a:pt x="254000" y="786338"/>
                  </a:lnTo>
                  <a:lnTo>
                    <a:pt x="254000" y="793074"/>
                  </a:lnTo>
                  <a:lnTo>
                    <a:pt x="256676" y="799534"/>
                  </a:lnTo>
                  <a:lnTo>
                    <a:pt x="261439" y="804298"/>
                  </a:lnTo>
                  <a:lnTo>
                    <a:pt x="266203" y="809061"/>
                  </a:lnTo>
                  <a:lnTo>
                    <a:pt x="272663" y="811738"/>
                  </a:lnTo>
                  <a:lnTo>
                    <a:pt x="279400" y="811738"/>
                  </a:lnTo>
                  <a:lnTo>
                    <a:pt x="286136" y="811738"/>
                  </a:lnTo>
                  <a:lnTo>
                    <a:pt x="292596" y="809061"/>
                  </a:lnTo>
                  <a:lnTo>
                    <a:pt x="297360" y="804298"/>
                  </a:lnTo>
                  <a:lnTo>
                    <a:pt x="302123" y="799534"/>
                  </a:lnTo>
                  <a:lnTo>
                    <a:pt x="304800" y="793074"/>
                  </a:lnTo>
                  <a:lnTo>
                    <a:pt x="304800" y="786338"/>
                  </a:lnTo>
                  <a:close/>
                </a:path>
                <a:path w="1574800" h="1066800">
                  <a:moveTo>
                    <a:pt x="431800" y="1041400"/>
                  </a:moveTo>
                  <a:lnTo>
                    <a:pt x="431800" y="1034663"/>
                  </a:lnTo>
                  <a:lnTo>
                    <a:pt x="429123" y="1028203"/>
                  </a:lnTo>
                  <a:lnTo>
                    <a:pt x="424360" y="1023439"/>
                  </a:lnTo>
                  <a:lnTo>
                    <a:pt x="419596" y="1018676"/>
                  </a:lnTo>
                  <a:lnTo>
                    <a:pt x="413136" y="1016000"/>
                  </a:lnTo>
                  <a:lnTo>
                    <a:pt x="406400" y="1016000"/>
                  </a:lnTo>
                  <a:lnTo>
                    <a:pt x="399663" y="1016000"/>
                  </a:lnTo>
                  <a:lnTo>
                    <a:pt x="393203" y="1018676"/>
                  </a:lnTo>
                  <a:lnTo>
                    <a:pt x="388439" y="1023439"/>
                  </a:lnTo>
                  <a:lnTo>
                    <a:pt x="383676" y="1028203"/>
                  </a:lnTo>
                  <a:lnTo>
                    <a:pt x="381000" y="1034663"/>
                  </a:lnTo>
                  <a:lnTo>
                    <a:pt x="381000" y="1041400"/>
                  </a:lnTo>
                  <a:lnTo>
                    <a:pt x="381000" y="1048136"/>
                  </a:lnTo>
                  <a:lnTo>
                    <a:pt x="383676" y="1054596"/>
                  </a:lnTo>
                  <a:lnTo>
                    <a:pt x="388439" y="1059360"/>
                  </a:lnTo>
                  <a:lnTo>
                    <a:pt x="393203" y="1064123"/>
                  </a:lnTo>
                  <a:lnTo>
                    <a:pt x="399663" y="1066800"/>
                  </a:lnTo>
                  <a:lnTo>
                    <a:pt x="406400" y="1066800"/>
                  </a:lnTo>
                  <a:lnTo>
                    <a:pt x="413136" y="1066800"/>
                  </a:lnTo>
                  <a:lnTo>
                    <a:pt x="419596" y="1064123"/>
                  </a:lnTo>
                  <a:lnTo>
                    <a:pt x="424360" y="1059360"/>
                  </a:lnTo>
                  <a:lnTo>
                    <a:pt x="429123" y="1054596"/>
                  </a:lnTo>
                  <a:lnTo>
                    <a:pt x="431800" y="1048136"/>
                  </a:lnTo>
                  <a:lnTo>
                    <a:pt x="431800" y="1041400"/>
                  </a:lnTo>
                  <a:close/>
                </a:path>
                <a:path w="1574800" h="1066800">
                  <a:moveTo>
                    <a:pt x="558800" y="789516"/>
                  </a:moveTo>
                  <a:lnTo>
                    <a:pt x="558800" y="782779"/>
                  </a:lnTo>
                  <a:lnTo>
                    <a:pt x="556123" y="776319"/>
                  </a:lnTo>
                  <a:lnTo>
                    <a:pt x="551360" y="771555"/>
                  </a:lnTo>
                  <a:lnTo>
                    <a:pt x="546596" y="766792"/>
                  </a:lnTo>
                  <a:lnTo>
                    <a:pt x="540136" y="764116"/>
                  </a:lnTo>
                  <a:lnTo>
                    <a:pt x="533400" y="764116"/>
                  </a:lnTo>
                  <a:lnTo>
                    <a:pt x="526663" y="764116"/>
                  </a:lnTo>
                  <a:lnTo>
                    <a:pt x="520203" y="766792"/>
                  </a:lnTo>
                  <a:lnTo>
                    <a:pt x="515439" y="771555"/>
                  </a:lnTo>
                  <a:lnTo>
                    <a:pt x="510676" y="776319"/>
                  </a:lnTo>
                  <a:lnTo>
                    <a:pt x="508000" y="782779"/>
                  </a:lnTo>
                  <a:lnTo>
                    <a:pt x="508000" y="789516"/>
                  </a:lnTo>
                  <a:lnTo>
                    <a:pt x="508000" y="796252"/>
                  </a:lnTo>
                  <a:lnTo>
                    <a:pt x="510676" y="802713"/>
                  </a:lnTo>
                  <a:lnTo>
                    <a:pt x="515439" y="807476"/>
                  </a:lnTo>
                  <a:lnTo>
                    <a:pt x="520203" y="812239"/>
                  </a:lnTo>
                  <a:lnTo>
                    <a:pt x="526663" y="814916"/>
                  </a:lnTo>
                  <a:lnTo>
                    <a:pt x="533400" y="814916"/>
                  </a:lnTo>
                  <a:lnTo>
                    <a:pt x="540136" y="814916"/>
                  </a:lnTo>
                  <a:lnTo>
                    <a:pt x="546596" y="812239"/>
                  </a:lnTo>
                  <a:lnTo>
                    <a:pt x="551360" y="807476"/>
                  </a:lnTo>
                  <a:lnTo>
                    <a:pt x="556123" y="802713"/>
                  </a:lnTo>
                  <a:lnTo>
                    <a:pt x="558800" y="796252"/>
                  </a:lnTo>
                  <a:lnTo>
                    <a:pt x="558800" y="789516"/>
                  </a:lnTo>
                  <a:close/>
                </a:path>
                <a:path w="1574800" h="1066800">
                  <a:moveTo>
                    <a:pt x="685800" y="282058"/>
                  </a:moveTo>
                  <a:lnTo>
                    <a:pt x="685800" y="275322"/>
                  </a:lnTo>
                  <a:lnTo>
                    <a:pt x="683123" y="268861"/>
                  </a:lnTo>
                  <a:lnTo>
                    <a:pt x="678360" y="264098"/>
                  </a:lnTo>
                  <a:lnTo>
                    <a:pt x="673596" y="259335"/>
                  </a:lnTo>
                  <a:lnTo>
                    <a:pt x="667136" y="256658"/>
                  </a:lnTo>
                  <a:lnTo>
                    <a:pt x="660400" y="256658"/>
                  </a:lnTo>
                  <a:lnTo>
                    <a:pt x="653663" y="256658"/>
                  </a:lnTo>
                  <a:lnTo>
                    <a:pt x="647203" y="259335"/>
                  </a:lnTo>
                  <a:lnTo>
                    <a:pt x="642439" y="264098"/>
                  </a:lnTo>
                  <a:lnTo>
                    <a:pt x="637676" y="268861"/>
                  </a:lnTo>
                  <a:lnTo>
                    <a:pt x="635000" y="275322"/>
                  </a:lnTo>
                  <a:lnTo>
                    <a:pt x="635000" y="282058"/>
                  </a:lnTo>
                  <a:lnTo>
                    <a:pt x="635000" y="288795"/>
                  </a:lnTo>
                  <a:lnTo>
                    <a:pt x="637676" y="295255"/>
                  </a:lnTo>
                  <a:lnTo>
                    <a:pt x="642439" y="300018"/>
                  </a:lnTo>
                  <a:lnTo>
                    <a:pt x="647203" y="304782"/>
                  </a:lnTo>
                  <a:lnTo>
                    <a:pt x="653663" y="307458"/>
                  </a:lnTo>
                  <a:lnTo>
                    <a:pt x="660400" y="307458"/>
                  </a:lnTo>
                  <a:lnTo>
                    <a:pt x="667136" y="307458"/>
                  </a:lnTo>
                  <a:lnTo>
                    <a:pt x="673596" y="304782"/>
                  </a:lnTo>
                  <a:lnTo>
                    <a:pt x="678360" y="300018"/>
                  </a:lnTo>
                  <a:lnTo>
                    <a:pt x="683123" y="295255"/>
                  </a:lnTo>
                  <a:lnTo>
                    <a:pt x="685800" y="288795"/>
                  </a:lnTo>
                  <a:lnTo>
                    <a:pt x="685800" y="282058"/>
                  </a:lnTo>
                  <a:close/>
                </a:path>
                <a:path w="1574800" h="1066800">
                  <a:moveTo>
                    <a:pt x="812800" y="25415"/>
                  </a:moveTo>
                  <a:lnTo>
                    <a:pt x="812800" y="18678"/>
                  </a:lnTo>
                  <a:lnTo>
                    <a:pt x="810123" y="12218"/>
                  </a:lnTo>
                  <a:lnTo>
                    <a:pt x="805360" y="7455"/>
                  </a:lnTo>
                  <a:lnTo>
                    <a:pt x="800596" y="2692"/>
                  </a:lnTo>
                  <a:lnTo>
                    <a:pt x="794136" y="15"/>
                  </a:lnTo>
                  <a:lnTo>
                    <a:pt x="787400" y="15"/>
                  </a:lnTo>
                  <a:lnTo>
                    <a:pt x="780663" y="15"/>
                  </a:lnTo>
                  <a:lnTo>
                    <a:pt x="774203" y="2692"/>
                  </a:lnTo>
                  <a:lnTo>
                    <a:pt x="769439" y="7455"/>
                  </a:lnTo>
                  <a:lnTo>
                    <a:pt x="764676" y="12218"/>
                  </a:lnTo>
                  <a:lnTo>
                    <a:pt x="762000" y="18678"/>
                  </a:lnTo>
                  <a:lnTo>
                    <a:pt x="762000" y="25415"/>
                  </a:lnTo>
                  <a:lnTo>
                    <a:pt x="762000" y="32152"/>
                  </a:lnTo>
                  <a:lnTo>
                    <a:pt x="764676" y="38612"/>
                  </a:lnTo>
                  <a:lnTo>
                    <a:pt x="769439" y="43375"/>
                  </a:lnTo>
                  <a:lnTo>
                    <a:pt x="774203" y="48138"/>
                  </a:lnTo>
                  <a:lnTo>
                    <a:pt x="780663" y="50815"/>
                  </a:lnTo>
                  <a:lnTo>
                    <a:pt x="787400" y="50815"/>
                  </a:lnTo>
                  <a:lnTo>
                    <a:pt x="794136" y="50815"/>
                  </a:lnTo>
                  <a:lnTo>
                    <a:pt x="800596" y="48138"/>
                  </a:lnTo>
                  <a:lnTo>
                    <a:pt x="805360" y="43375"/>
                  </a:lnTo>
                  <a:lnTo>
                    <a:pt x="810123" y="38612"/>
                  </a:lnTo>
                  <a:lnTo>
                    <a:pt x="812800" y="32152"/>
                  </a:lnTo>
                  <a:lnTo>
                    <a:pt x="812800" y="25415"/>
                  </a:lnTo>
                  <a:close/>
                </a:path>
                <a:path w="1574800" h="1066800">
                  <a:moveTo>
                    <a:pt x="939800" y="275694"/>
                  </a:moveTo>
                  <a:lnTo>
                    <a:pt x="939800" y="268958"/>
                  </a:lnTo>
                  <a:lnTo>
                    <a:pt x="937123" y="262497"/>
                  </a:lnTo>
                  <a:lnTo>
                    <a:pt x="932360" y="257734"/>
                  </a:lnTo>
                  <a:lnTo>
                    <a:pt x="927596" y="252971"/>
                  </a:lnTo>
                  <a:lnTo>
                    <a:pt x="921136" y="250294"/>
                  </a:lnTo>
                  <a:lnTo>
                    <a:pt x="914400" y="250294"/>
                  </a:lnTo>
                  <a:lnTo>
                    <a:pt x="907663" y="250294"/>
                  </a:lnTo>
                  <a:lnTo>
                    <a:pt x="901203" y="252971"/>
                  </a:lnTo>
                  <a:lnTo>
                    <a:pt x="896439" y="257734"/>
                  </a:lnTo>
                  <a:lnTo>
                    <a:pt x="891676" y="262497"/>
                  </a:lnTo>
                  <a:lnTo>
                    <a:pt x="889000" y="268958"/>
                  </a:lnTo>
                  <a:lnTo>
                    <a:pt x="889000" y="275694"/>
                  </a:lnTo>
                  <a:lnTo>
                    <a:pt x="889000" y="282431"/>
                  </a:lnTo>
                  <a:lnTo>
                    <a:pt x="891676" y="288891"/>
                  </a:lnTo>
                  <a:lnTo>
                    <a:pt x="896439" y="293654"/>
                  </a:lnTo>
                  <a:lnTo>
                    <a:pt x="901203" y="298418"/>
                  </a:lnTo>
                  <a:lnTo>
                    <a:pt x="907663" y="301094"/>
                  </a:lnTo>
                  <a:lnTo>
                    <a:pt x="914400" y="301094"/>
                  </a:lnTo>
                  <a:lnTo>
                    <a:pt x="921136" y="301094"/>
                  </a:lnTo>
                  <a:lnTo>
                    <a:pt x="927596" y="298418"/>
                  </a:lnTo>
                  <a:lnTo>
                    <a:pt x="932360" y="293654"/>
                  </a:lnTo>
                  <a:lnTo>
                    <a:pt x="937123" y="288891"/>
                  </a:lnTo>
                  <a:lnTo>
                    <a:pt x="939800" y="282431"/>
                  </a:lnTo>
                  <a:lnTo>
                    <a:pt x="939800" y="275694"/>
                  </a:lnTo>
                  <a:close/>
                </a:path>
                <a:path w="1574800" h="1066800">
                  <a:moveTo>
                    <a:pt x="1066800" y="783144"/>
                  </a:moveTo>
                  <a:lnTo>
                    <a:pt x="1066800" y="776407"/>
                  </a:lnTo>
                  <a:lnTo>
                    <a:pt x="1064123" y="769947"/>
                  </a:lnTo>
                  <a:lnTo>
                    <a:pt x="1059360" y="765184"/>
                  </a:lnTo>
                  <a:lnTo>
                    <a:pt x="1054596" y="760421"/>
                  </a:lnTo>
                  <a:lnTo>
                    <a:pt x="1048136" y="757744"/>
                  </a:lnTo>
                  <a:lnTo>
                    <a:pt x="1041400" y="757744"/>
                  </a:lnTo>
                  <a:lnTo>
                    <a:pt x="1034663" y="757744"/>
                  </a:lnTo>
                  <a:lnTo>
                    <a:pt x="1028203" y="760421"/>
                  </a:lnTo>
                  <a:lnTo>
                    <a:pt x="1023439" y="765184"/>
                  </a:lnTo>
                  <a:lnTo>
                    <a:pt x="1018676" y="769947"/>
                  </a:lnTo>
                  <a:lnTo>
                    <a:pt x="1016000" y="776407"/>
                  </a:lnTo>
                  <a:lnTo>
                    <a:pt x="1016000" y="783144"/>
                  </a:lnTo>
                  <a:lnTo>
                    <a:pt x="1016000" y="789881"/>
                  </a:lnTo>
                  <a:lnTo>
                    <a:pt x="1018676" y="796341"/>
                  </a:lnTo>
                  <a:lnTo>
                    <a:pt x="1023439" y="801104"/>
                  </a:lnTo>
                  <a:lnTo>
                    <a:pt x="1028203" y="805867"/>
                  </a:lnTo>
                  <a:lnTo>
                    <a:pt x="1034663" y="808544"/>
                  </a:lnTo>
                  <a:lnTo>
                    <a:pt x="1041400" y="808544"/>
                  </a:lnTo>
                  <a:lnTo>
                    <a:pt x="1048136" y="808544"/>
                  </a:lnTo>
                  <a:lnTo>
                    <a:pt x="1054596" y="805867"/>
                  </a:lnTo>
                  <a:lnTo>
                    <a:pt x="1059360" y="801104"/>
                  </a:lnTo>
                  <a:lnTo>
                    <a:pt x="1064123" y="796341"/>
                  </a:lnTo>
                  <a:lnTo>
                    <a:pt x="1066800" y="789881"/>
                  </a:lnTo>
                  <a:lnTo>
                    <a:pt x="1066800" y="783144"/>
                  </a:lnTo>
                  <a:close/>
                </a:path>
                <a:path w="1574800" h="1066800">
                  <a:moveTo>
                    <a:pt x="1193800" y="1041369"/>
                  </a:moveTo>
                  <a:lnTo>
                    <a:pt x="1193800" y="1034632"/>
                  </a:lnTo>
                  <a:lnTo>
                    <a:pt x="1191123" y="1028172"/>
                  </a:lnTo>
                  <a:lnTo>
                    <a:pt x="1186360" y="1023408"/>
                  </a:lnTo>
                  <a:lnTo>
                    <a:pt x="1181596" y="1018645"/>
                  </a:lnTo>
                  <a:lnTo>
                    <a:pt x="1175136" y="1015969"/>
                  </a:lnTo>
                  <a:lnTo>
                    <a:pt x="1168400" y="1015969"/>
                  </a:lnTo>
                  <a:lnTo>
                    <a:pt x="1161663" y="1015969"/>
                  </a:lnTo>
                  <a:lnTo>
                    <a:pt x="1155203" y="1018645"/>
                  </a:lnTo>
                  <a:lnTo>
                    <a:pt x="1150439" y="1023408"/>
                  </a:lnTo>
                  <a:lnTo>
                    <a:pt x="1145676" y="1028172"/>
                  </a:lnTo>
                  <a:lnTo>
                    <a:pt x="1143000" y="1034632"/>
                  </a:lnTo>
                  <a:lnTo>
                    <a:pt x="1143000" y="1041369"/>
                  </a:lnTo>
                  <a:lnTo>
                    <a:pt x="1143000" y="1048105"/>
                  </a:lnTo>
                  <a:lnTo>
                    <a:pt x="1145676" y="1054565"/>
                  </a:lnTo>
                  <a:lnTo>
                    <a:pt x="1150439" y="1059329"/>
                  </a:lnTo>
                  <a:lnTo>
                    <a:pt x="1155203" y="1064092"/>
                  </a:lnTo>
                  <a:lnTo>
                    <a:pt x="1161663" y="1066769"/>
                  </a:lnTo>
                  <a:lnTo>
                    <a:pt x="1168400" y="1066769"/>
                  </a:lnTo>
                  <a:lnTo>
                    <a:pt x="1175136" y="1066769"/>
                  </a:lnTo>
                  <a:lnTo>
                    <a:pt x="1181596" y="1064092"/>
                  </a:lnTo>
                  <a:lnTo>
                    <a:pt x="1186360" y="1059329"/>
                  </a:lnTo>
                  <a:lnTo>
                    <a:pt x="1191123" y="1054565"/>
                  </a:lnTo>
                  <a:lnTo>
                    <a:pt x="1193800" y="1048105"/>
                  </a:lnTo>
                  <a:lnTo>
                    <a:pt x="1193800" y="1041369"/>
                  </a:lnTo>
                  <a:close/>
                </a:path>
                <a:path w="1574800" h="1066800">
                  <a:moveTo>
                    <a:pt x="1320800" y="792686"/>
                  </a:moveTo>
                  <a:lnTo>
                    <a:pt x="1320800" y="785949"/>
                  </a:lnTo>
                  <a:lnTo>
                    <a:pt x="1318123" y="779489"/>
                  </a:lnTo>
                  <a:lnTo>
                    <a:pt x="1313360" y="774726"/>
                  </a:lnTo>
                  <a:lnTo>
                    <a:pt x="1308596" y="769963"/>
                  </a:lnTo>
                  <a:lnTo>
                    <a:pt x="1302136" y="767286"/>
                  </a:lnTo>
                  <a:lnTo>
                    <a:pt x="1295400" y="767286"/>
                  </a:lnTo>
                  <a:lnTo>
                    <a:pt x="1288663" y="767286"/>
                  </a:lnTo>
                  <a:lnTo>
                    <a:pt x="1282203" y="769963"/>
                  </a:lnTo>
                  <a:lnTo>
                    <a:pt x="1277439" y="774726"/>
                  </a:lnTo>
                  <a:lnTo>
                    <a:pt x="1272676" y="779489"/>
                  </a:lnTo>
                  <a:lnTo>
                    <a:pt x="1270000" y="785949"/>
                  </a:lnTo>
                  <a:lnTo>
                    <a:pt x="1270000" y="792686"/>
                  </a:lnTo>
                  <a:lnTo>
                    <a:pt x="1270000" y="799423"/>
                  </a:lnTo>
                  <a:lnTo>
                    <a:pt x="1272676" y="805883"/>
                  </a:lnTo>
                  <a:lnTo>
                    <a:pt x="1277439" y="810646"/>
                  </a:lnTo>
                  <a:lnTo>
                    <a:pt x="1282203" y="815409"/>
                  </a:lnTo>
                  <a:lnTo>
                    <a:pt x="1288663" y="818086"/>
                  </a:lnTo>
                  <a:lnTo>
                    <a:pt x="1295400" y="818086"/>
                  </a:lnTo>
                  <a:lnTo>
                    <a:pt x="1302136" y="818086"/>
                  </a:lnTo>
                  <a:lnTo>
                    <a:pt x="1308596" y="815409"/>
                  </a:lnTo>
                  <a:lnTo>
                    <a:pt x="1313360" y="810646"/>
                  </a:lnTo>
                  <a:lnTo>
                    <a:pt x="1318123" y="805883"/>
                  </a:lnTo>
                  <a:lnTo>
                    <a:pt x="1320800" y="799423"/>
                  </a:lnTo>
                  <a:lnTo>
                    <a:pt x="1320800" y="792686"/>
                  </a:lnTo>
                  <a:close/>
                </a:path>
                <a:path w="1574800" h="1066800">
                  <a:moveTo>
                    <a:pt x="1447800" y="285252"/>
                  </a:moveTo>
                  <a:lnTo>
                    <a:pt x="1447800" y="278515"/>
                  </a:lnTo>
                  <a:lnTo>
                    <a:pt x="1445123" y="272055"/>
                  </a:lnTo>
                  <a:lnTo>
                    <a:pt x="1440360" y="267292"/>
                  </a:lnTo>
                  <a:lnTo>
                    <a:pt x="1435596" y="262528"/>
                  </a:lnTo>
                  <a:lnTo>
                    <a:pt x="1429136" y="259852"/>
                  </a:lnTo>
                  <a:lnTo>
                    <a:pt x="1422400" y="259852"/>
                  </a:lnTo>
                  <a:lnTo>
                    <a:pt x="1415663" y="259852"/>
                  </a:lnTo>
                  <a:lnTo>
                    <a:pt x="1409203" y="262528"/>
                  </a:lnTo>
                  <a:lnTo>
                    <a:pt x="1404439" y="267292"/>
                  </a:lnTo>
                  <a:lnTo>
                    <a:pt x="1399676" y="272055"/>
                  </a:lnTo>
                  <a:lnTo>
                    <a:pt x="1397000" y="278515"/>
                  </a:lnTo>
                  <a:lnTo>
                    <a:pt x="1397000" y="285252"/>
                  </a:lnTo>
                  <a:lnTo>
                    <a:pt x="1397000" y="291989"/>
                  </a:lnTo>
                  <a:lnTo>
                    <a:pt x="1399676" y="298449"/>
                  </a:lnTo>
                  <a:lnTo>
                    <a:pt x="1404439" y="303212"/>
                  </a:lnTo>
                  <a:lnTo>
                    <a:pt x="1409203" y="307975"/>
                  </a:lnTo>
                  <a:lnTo>
                    <a:pt x="1415663" y="310652"/>
                  </a:lnTo>
                  <a:lnTo>
                    <a:pt x="1422400" y="310652"/>
                  </a:lnTo>
                  <a:lnTo>
                    <a:pt x="1429136" y="310652"/>
                  </a:lnTo>
                  <a:lnTo>
                    <a:pt x="1435596" y="307975"/>
                  </a:lnTo>
                  <a:lnTo>
                    <a:pt x="1440360" y="303212"/>
                  </a:lnTo>
                  <a:lnTo>
                    <a:pt x="1445123" y="298449"/>
                  </a:lnTo>
                  <a:lnTo>
                    <a:pt x="1447800" y="291989"/>
                  </a:lnTo>
                  <a:lnTo>
                    <a:pt x="1447800" y="285252"/>
                  </a:lnTo>
                  <a:close/>
                </a:path>
                <a:path w="1574800" h="1066800">
                  <a:moveTo>
                    <a:pt x="1574800" y="25454"/>
                  </a:moveTo>
                  <a:lnTo>
                    <a:pt x="1574800" y="18717"/>
                  </a:lnTo>
                  <a:lnTo>
                    <a:pt x="1572123" y="12257"/>
                  </a:lnTo>
                  <a:lnTo>
                    <a:pt x="1567360" y="7494"/>
                  </a:lnTo>
                  <a:lnTo>
                    <a:pt x="1562596" y="2730"/>
                  </a:lnTo>
                  <a:lnTo>
                    <a:pt x="1556136" y="54"/>
                  </a:lnTo>
                  <a:lnTo>
                    <a:pt x="1549400" y="54"/>
                  </a:lnTo>
                  <a:lnTo>
                    <a:pt x="1542663" y="54"/>
                  </a:lnTo>
                  <a:lnTo>
                    <a:pt x="1536203" y="2730"/>
                  </a:lnTo>
                  <a:lnTo>
                    <a:pt x="1531439" y="7494"/>
                  </a:lnTo>
                  <a:lnTo>
                    <a:pt x="1526676" y="12257"/>
                  </a:lnTo>
                  <a:lnTo>
                    <a:pt x="1524000" y="18717"/>
                  </a:lnTo>
                  <a:lnTo>
                    <a:pt x="1524000" y="25454"/>
                  </a:lnTo>
                  <a:lnTo>
                    <a:pt x="1524000" y="32191"/>
                  </a:lnTo>
                  <a:lnTo>
                    <a:pt x="1526676" y="38651"/>
                  </a:lnTo>
                  <a:lnTo>
                    <a:pt x="1531439" y="43414"/>
                  </a:lnTo>
                  <a:lnTo>
                    <a:pt x="1536203" y="48177"/>
                  </a:lnTo>
                  <a:lnTo>
                    <a:pt x="1542663" y="50854"/>
                  </a:lnTo>
                  <a:lnTo>
                    <a:pt x="1549400" y="50854"/>
                  </a:lnTo>
                  <a:lnTo>
                    <a:pt x="1556136" y="50854"/>
                  </a:lnTo>
                  <a:lnTo>
                    <a:pt x="1562596" y="48177"/>
                  </a:lnTo>
                  <a:lnTo>
                    <a:pt x="1567360" y="43414"/>
                  </a:lnTo>
                  <a:lnTo>
                    <a:pt x="1572123" y="38651"/>
                  </a:lnTo>
                  <a:lnTo>
                    <a:pt x="1574800" y="32191"/>
                  </a:lnTo>
                  <a:lnTo>
                    <a:pt x="1574800" y="25454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3528" y="1984124"/>
              <a:ext cx="1524000" cy="1016000"/>
            </a:xfrm>
            <a:custGeom>
              <a:avLst/>
              <a:gdLst/>
              <a:ahLst/>
              <a:cxnLst/>
              <a:rect l="l" t="t" r="r" b="b"/>
              <a:pathLst>
                <a:path w="1524000" h="1016000">
                  <a:moveTo>
                    <a:pt x="0" y="0"/>
                  </a:moveTo>
                  <a:lnTo>
                    <a:pt x="12700" y="2774"/>
                  </a:lnTo>
                  <a:lnTo>
                    <a:pt x="25400" y="11076"/>
                  </a:lnTo>
                  <a:lnTo>
                    <a:pt x="50800" y="43819"/>
                  </a:lnTo>
                  <a:lnTo>
                    <a:pt x="76200" y="96800"/>
                  </a:lnTo>
                  <a:lnTo>
                    <a:pt x="101600" y="167718"/>
                  </a:lnTo>
                  <a:lnTo>
                    <a:pt x="114300" y="208956"/>
                  </a:lnTo>
                  <a:lnTo>
                    <a:pt x="127000" y="253472"/>
                  </a:lnTo>
                  <a:lnTo>
                    <a:pt x="139700" y="300764"/>
                  </a:lnTo>
                  <a:lnTo>
                    <a:pt x="152400" y="350319"/>
                  </a:lnTo>
                  <a:lnTo>
                    <a:pt x="165100" y="401603"/>
                  </a:lnTo>
                  <a:lnTo>
                    <a:pt x="177800" y="454049"/>
                  </a:lnTo>
                  <a:lnTo>
                    <a:pt x="190500" y="507085"/>
                  </a:lnTo>
                  <a:lnTo>
                    <a:pt x="203200" y="560128"/>
                  </a:lnTo>
                  <a:lnTo>
                    <a:pt x="215900" y="612598"/>
                  </a:lnTo>
                  <a:lnTo>
                    <a:pt x="228600" y="663928"/>
                  </a:lnTo>
                  <a:lnTo>
                    <a:pt x="241300" y="713561"/>
                  </a:lnTo>
                  <a:lnTo>
                    <a:pt x="254000" y="760938"/>
                  </a:lnTo>
                  <a:lnTo>
                    <a:pt x="266700" y="805555"/>
                  </a:lnTo>
                  <a:lnTo>
                    <a:pt x="279400" y="846917"/>
                  </a:lnTo>
                  <a:lnTo>
                    <a:pt x="292100" y="884573"/>
                  </a:lnTo>
                  <a:lnTo>
                    <a:pt x="317500" y="947174"/>
                  </a:lnTo>
                  <a:lnTo>
                    <a:pt x="342900" y="990621"/>
                  </a:lnTo>
                  <a:lnTo>
                    <a:pt x="381000" y="1016000"/>
                  </a:lnTo>
                  <a:lnTo>
                    <a:pt x="393700" y="1013410"/>
                  </a:lnTo>
                  <a:lnTo>
                    <a:pt x="431800" y="972925"/>
                  </a:lnTo>
                  <a:lnTo>
                    <a:pt x="457200" y="920269"/>
                  </a:lnTo>
                  <a:lnTo>
                    <a:pt x="482600" y="849645"/>
                  </a:lnTo>
                  <a:lnTo>
                    <a:pt x="495300" y="808524"/>
                  </a:lnTo>
                  <a:lnTo>
                    <a:pt x="508000" y="764116"/>
                  </a:lnTo>
                  <a:lnTo>
                    <a:pt x="520700" y="716909"/>
                  </a:lnTo>
                  <a:lnTo>
                    <a:pt x="533400" y="667424"/>
                  </a:lnTo>
                  <a:lnTo>
                    <a:pt x="546100" y="616194"/>
                  </a:lnTo>
                  <a:lnTo>
                    <a:pt x="558800" y="563779"/>
                  </a:lnTo>
                  <a:lnTo>
                    <a:pt x="571500" y="510751"/>
                  </a:lnTo>
                  <a:lnTo>
                    <a:pt x="584200" y="457700"/>
                  </a:lnTo>
                  <a:lnTo>
                    <a:pt x="596900" y="405200"/>
                  </a:lnTo>
                  <a:lnTo>
                    <a:pt x="609600" y="353815"/>
                  </a:lnTo>
                  <a:lnTo>
                    <a:pt x="622300" y="304120"/>
                  </a:lnTo>
                  <a:lnTo>
                    <a:pt x="635000" y="256658"/>
                  </a:lnTo>
                  <a:lnTo>
                    <a:pt x="647700" y="211940"/>
                  </a:lnTo>
                  <a:lnTo>
                    <a:pt x="660400" y="170454"/>
                  </a:lnTo>
                  <a:lnTo>
                    <a:pt x="673100" y="132658"/>
                  </a:lnTo>
                  <a:lnTo>
                    <a:pt x="698500" y="69755"/>
                  </a:lnTo>
                  <a:lnTo>
                    <a:pt x="723900" y="25951"/>
                  </a:lnTo>
                  <a:lnTo>
                    <a:pt x="762000" y="15"/>
                  </a:lnTo>
                  <a:lnTo>
                    <a:pt x="774700" y="2402"/>
                  </a:lnTo>
                  <a:lnTo>
                    <a:pt x="812800" y="42338"/>
                  </a:lnTo>
                  <a:lnTo>
                    <a:pt x="838200" y="94653"/>
                  </a:lnTo>
                  <a:lnTo>
                    <a:pt x="863600" y="164997"/>
                  </a:lnTo>
                  <a:lnTo>
                    <a:pt x="876300" y="205995"/>
                  </a:lnTo>
                  <a:lnTo>
                    <a:pt x="889000" y="250294"/>
                  </a:lnTo>
                  <a:lnTo>
                    <a:pt x="901700" y="297415"/>
                  </a:lnTo>
                  <a:lnTo>
                    <a:pt x="914400" y="346831"/>
                  </a:lnTo>
                  <a:lnTo>
                    <a:pt x="927100" y="398014"/>
                  </a:lnTo>
                  <a:lnTo>
                    <a:pt x="939800" y="450398"/>
                  </a:lnTo>
                  <a:lnTo>
                    <a:pt x="952500" y="503411"/>
                  </a:lnTo>
                  <a:lnTo>
                    <a:pt x="965200" y="556469"/>
                  </a:lnTo>
                  <a:lnTo>
                    <a:pt x="977900" y="609001"/>
                  </a:lnTo>
                  <a:lnTo>
                    <a:pt x="990600" y="660432"/>
                  </a:lnTo>
                  <a:lnTo>
                    <a:pt x="1003300" y="710196"/>
                  </a:lnTo>
                  <a:lnTo>
                    <a:pt x="1016000" y="757744"/>
                  </a:lnTo>
                  <a:lnTo>
                    <a:pt x="1028700" y="802571"/>
                  </a:lnTo>
                  <a:lnTo>
                    <a:pt x="1041400" y="844173"/>
                  </a:lnTo>
                  <a:lnTo>
                    <a:pt x="1054100" y="882101"/>
                  </a:lnTo>
                  <a:lnTo>
                    <a:pt x="1079500" y="945314"/>
                  </a:lnTo>
                  <a:lnTo>
                    <a:pt x="1104900" y="989466"/>
                  </a:lnTo>
                  <a:lnTo>
                    <a:pt x="1143000" y="1015969"/>
                  </a:lnTo>
                  <a:lnTo>
                    <a:pt x="1155700" y="1013767"/>
                  </a:lnTo>
                  <a:lnTo>
                    <a:pt x="1193800" y="974390"/>
                  </a:lnTo>
                  <a:lnTo>
                    <a:pt x="1219200" y="922408"/>
                  </a:lnTo>
                  <a:lnTo>
                    <a:pt x="1244600" y="852351"/>
                  </a:lnTo>
                  <a:lnTo>
                    <a:pt x="1257300" y="811477"/>
                  </a:lnTo>
                  <a:lnTo>
                    <a:pt x="1270000" y="767286"/>
                  </a:lnTo>
                  <a:lnTo>
                    <a:pt x="1282700" y="720258"/>
                  </a:lnTo>
                  <a:lnTo>
                    <a:pt x="1295400" y="670912"/>
                  </a:lnTo>
                  <a:lnTo>
                    <a:pt x="1308100" y="619783"/>
                  </a:lnTo>
                  <a:lnTo>
                    <a:pt x="1320800" y="567430"/>
                  </a:lnTo>
                  <a:lnTo>
                    <a:pt x="1333500" y="514425"/>
                  </a:lnTo>
                  <a:lnTo>
                    <a:pt x="1346200" y="461359"/>
                  </a:lnTo>
                  <a:lnTo>
                    <a:pt x="1358900" y="408796"/>
                  </a:lnTo>
                  <a:lnTo>
                    <a:pt x="1371600" y="357319"/>
                  </a:lnTo>
                  <a:lnTo>
                    <a:pt x="1384300" y="307492"/>
                  </a:lnTo>
                  <a:lnTo>
                    <a:pt x="1397000" y="259852"/>
                  </a:lnTo>
                  <a:lnTo>
                    <a:pt x="1409700" y="214932"/>
                  </a:lnTo>
                  <a:lnTo>
                    <a:pt x="1422400" y="173206"/>
                  </a:lnTo>
                  <a:lnTo>
                    <a:pt x="1435100" y="135146"/>
                  </a:lnTo>
                  <a:lnTo>
                    <a:pt x="1460500" y="71623"/>
                  </a:lnTo>
                  <a:lnTo>
                    <a:pt x="1485900" y="27122"/>
                  </a:lnTo>
                  <a:lnTo>
                    <a:pt x="1511300" y="3596"/>
                  </a:lnTo>
                  <a:lnTo>
                    <a:pt x="1524000" y="54"/>
                  </a:lnTo>
                </a:path>
              </a:pathLst>
            </a:custGeom>
            <a:ln w="6326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8128" y="2024356"/>
              <a:ext cx="1574800" cy="936625"/>
            </a:xfrm>
            <a:custGeom>
              <a:avLst/>
              <a:gdLst/>
              <a:ahLst/>
              <a:cxnLst/>
              <a:rect l="l" t="t" r="r" b="b"/>
              <a:pathLst>
                <a:path w="1574800" h="936625">
                  <a:moveTo>
                    <a:pt x="0" y="493168"/>
                  </a:moveTo>
                  <a:lnTo>
                    <a:pt x="25400" y="467768"/>
                  </a:lnTo>
                  <a:lnTo>
                    <a:pt x="0" y="442368"/>
                  </a:lnTo>
                  <a:lnTo>
                    <a:pt x="25400" y="467768"/>
                  </a:lnTo>
                  <a:lnTo>
                    <a:pt x="50800" y="493168"/>
                  </a:lnTo>
                  <a:lnTo>
                    <a:pt x="25400" y="467768"/>
                  </a:lnTo>
                  <a:lnTo>
                    <a:pt x="50800" y="442368"/>
                  </a:lnTo>
                </a:path>
                <a:path w="1574800" h="936625">
                  <a:moveTo>
                    <a:pt x="127000" y="53536"/>
                  </a:moveTo>
                  <a:lnTo>
                    <a:pt x="152400" y="28136"/>
                  </a:lnTo>
                  <a:lnTo>
                    <a:pt x="127000" y="2736"/>
                  </a:lnTo>
                  <a:lnTo>
                    <a:pt x="152400" y="28136"/>
                  </a:lnTo>
                  <a:lnTo>
                    <a:pt x="177800" y="53536"/>
                  </a:lnTo>
                  <a:lnTo>
                    <a:pt x="152400" y="28136"/>
                  </a:lnTo>
                  <a:lnTo>
                    <a:pt x="177800" y="2736"/>
                  </a:lnTo>
                </a:path>
                <a:path w="1574800" h="936625">
                  <a:moveTo>
                    <a:pt x="254000" y="52613"/>
                  </a:moveTo>
                  <a:lnTo>
                    <a:pt x="279400" y="27213"/>
                  </a:lnTo>
                  <a:lnTo>
                    <a:pt x="254000" y="1813"/>
                  </a:lnTo>
                  <a:lnTo>
                    <a:pt x="279400" y="27213"/>
                  </a:lnTo>
                  <a:lnTo>
                    <a:pt x="304800" y="52613"/>
                  </a:lnTo>
                  <a:lnTo>
                    <a:pt x="279400" y="27213"/>
                  </a:lnTo>
                  <a:lnTo>
                    <a:pt x="304800" y="1813"/>
                  </a:lnTo>
                </a:path>
                <a:path w="1574800" h="936625">
                  <a:moveTo>
                    <a:pt x="381000" y="491331"/>
                  </a:moveTo>
                  <a:lnTo>
                    <a:pt x="406400" y="465931"/>
                  </a:lnTo>
                  <a:lnTo>
                    <a:pt x="381000" y="440531"/>
                  </a:lnTo>
                  <a:lnTo>
                    <a:pt x="406400" y="465931"/>
                  </a:lnTo>
                  <a:lnTo>
                    <a:pt x="431800" y="491331"/>
                  </a:lnTo>
                  <a:lnTo>
                    <a:pt x="406400" y="465931"/>
                  </a:lnTo>
                  <a:lnTo>
                    <a:pt x="431800" y="440531"/>
                  </a:lnTo>
                </a:path>
                <a:path w="1574800" h="936625">
                  <a:moveTo>
                    <a:pt x="508000" y="931877"/>
                  </a:moveTo>
                  <a:lnTo>
                    <a:pt x="533400" y="906477"/>
                  </a:lnTo>
                  <a:lnTo>
                    <a:pt x="508000" y="881077"/>
                  </a:lnTo>
                  <a:lnTo>
                    <a:pt x="533400" y="906477"/>
                  </a:lnTo>
                  <a:lnTo>
                    <a:pt x="558800" y="931877"/>
                  </a:lnTo>
                  <a:lnTo>
                    <a:pt x="533400" y="906477"/>
                  </a:lnTo>
                  <a:lnTo>
                    <a:pt x="558800" y="881077"/>
                  </a:lnTo>
                </a:path>
                <a:path w="1574800" h="936625">
                  <a:moveTo>
                    <a:pt x="635000" y="934629"/>
                  </a:moveTo>
                  <a:lnTo>
                    <a:pt x="660400" y="909229"/>
                  </a:lnTo>
                  <a:lnTo>
                    <a:pt x="635000" y="883829"/>
                  </a:lnTo>
                  <a:lnTo>
                    <a:pt x="660400" y="909229"/>
                  </a:lnTo>
                  <a:lnTo>
                    <a:pt x="685800" y="934629"/>
                  </a:lnTo>
                  <a:lnTo>
                    <a:pt x="660400" y="909229"/>
                  </a:lnTo>
                  <a:lnTo>
                    <a:pt x="685800" y="883829"/>
                  </a:lnTo>
                </a:path>
                <a:path w="1574800" h="936625">
                  <a:moveTo>
                    <a:pt x="762000" y="496842"/>
                  </a:moveTo>
                  <a:lnTo>
                    <a:pt x="787400" y="471442"/>
                  </a:lnTo>
                  <a:lnTo>
                    <a:pt x="762000" y="446042"/>
                  </a:lnTo>
                  <a:lnTo>
                    <a:pt x="787400" y="471442"/>
                  </a:lnTo>
                  <a:lnTo>
                    <a:pt x="812800" y="496842"/>
                  </a:lnTo>
                  <a:lnTo>
                    <a:pt x="787400" y="471442"/>
                  </a:lnTo>
                  <a:lnTo>
                    <a:pt x="812800" y="446042"/>
                  </a:lnTo>
                </a:path>
                <a:path w="1574800" h="936625">
                  <a:moveTo>
                    <a:pt x="889000" y="55388"/>
                  </a:moveTo>
                  <a:lnTo>
                    <a:pt x="914400" y="29988"/>
                  </a:lnTo>
                  <a:lnTo>
                    <a:pt x="889000" y="4588"/>
                  </a:lnTo>
                  <a:lnTo>
                    <a:pt x="914400" y="29988"/>
                  </a:lnTo>
                  <a:lnTo>
                    <a:pt x="939800" y="55388"/>
                  </a:lnTo>
                  <a:lnTo>
                    <a:pt x="914400" y="29988"/>
                  </a:lnTo>
                  <a:lnTo>
                    <a:pt x="939800" y="4588"/>
                  </a:lnTo>
                </a:path>
                <a:path w="1574800" h="936625">
                  <a:moveTo>
                    <a:pt x="1016000" y="50800"/>
                  </a:moveTo>
                  <a:lnTo>
                    <a:pt x="1041400" y="25400"/>
                  </a:lnTo>
                  <a:lnTo>
                    <a:pt x="1016000" y="0"/>
                  </a:lnTo>
                  <a:lnTo>
                    <a:pt x="1041400" y="25400"/>
                  </a:lnTo>
                  <a:lnTo>
                    <a:pt x="1066800" y="50800"/>
                  </a:lnTo>
                  <a:lnTo>
                    <a:pt x="1041400" y="25400"/>
                  </a:lnTo>
                  <a:lnTo>
                    <a:pt x="1066800" y="0"/>
                  </a:lnTo>
                </a:path>
                <a:path w="1574800" h="936625">
                  <a:moveTo>
                    <a:pt x="1143000" y="487657"/>
                  </a:moveTo>
                  <a:lnTo>
                    <a:pt x="1168400" y="462257"/>
                  </a:lnTo>
                  <a:lnTo>
                    <a:pt x="1143000" y="436857"/>
                  </a:lnTo>
                  <a:lnTo>
                    <a:pt x="1168400" y="462257"/>
                  </a:lnTo>
                  <a:lnTo>
                    <a:pt x="1193800" y="487657"/>
                  </a:lnTo>
                  <a:lnTo>
                    <a:pt x="1168400" y="462257"/>
                  </a:lnTo>
                  <a:lnTo>
                    <a:pt x="1193800" y="436857"/>
                  </a:lnTo>
                </a:path>
                <a:path w="1574800" h="936625">
                  <a:moveTo>
                    <a:pt x="1270000" y="930017"/>
                  </a:moveTo>
                  <a:lnTo>
                    <a:pt x="1295400" y="904617"/>
                  </a:lnTo>
                  <a:lnTo>
                    <a:pt x="1270000" y="879217"/>
                  </a:lnTo>
                  <a:lnTo>
                    <a:pt x="1295400" y="904617"/>
                  </a:lnTo>
                  <a:lnTo>
                    <a:pt x="1320800" y="930017"/>
                  </a:lnTo>
                  <a:lnTo>
                    <a:pt x="1295400" y="904617"/>
                  </a:lnTo>
                  <a:lnTo>
                    <a:pt x="1320800" y="879217"/>
                  </a:lnTo>
                </a:path>
                <a:path w="1574800" h="936625">
                  <a:moveTo>
                    <a:pt x="1397000" y="936435"/>
                  </a:moveTo>
                  <a:lnTo>
                    <a:pt x="1422400" y="911035"/>
                  </a:lnTo>
                  <a:lnTo>
                    <a:pt x="1397000" y="885635"/>
                  </a:lnTo>
                  <a:lnTo>
                    <a:pt x="1422400" y="911035"/>
                  </a:lnTo>
                  <a:lnTo>
                    <a:pt x="1447800" y="936435"/>
                  </a:lnTo>
                  <a:lnTo>
                    <a:pt x="1422400" y="911035"/>
                  </a:lnTo>
                  <a:lnTo>
                    <a:pt x="1447800" y="885635"/>
                  </a:lnTo>
                </a:path>
                <a:path w="1574800" h="936625">
                  <a:moveTo>
                    <a:pt x="1524000" y="500516"/>
                  </a:moveTo>
                  <a:lnTo>
                    <a:pt x="1549400" y="475116"/>
                  </a:lnTo>
                  <a:lnTo>
                    <a:pt x="1524000" y="449716"/>
                  </a:lnTo>
                  <a:lnTo>
                    <a:pt x="1549400" y="475116"/>
                  </a:lnTo>
                  <a:lnTo>
                    <a:pt x="1574800" y="500516"/>
                  </a:lnTo>
                  <a:lnTo>
                    <a:pt x="1549400" y="475116"/>
                  </a:lnTo>
                  <a:lnTo>
                    <a:pt x="1574800" y="449716"/>
                  </a:lnTo>
                </a:path>
              </a:pathLst>
            </a:custGeom>
            <a:ln w="1265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3528" y="1984124"/>
              <a:ext cx="1524000" cy="1016000"/>
            </a:xfrm>
            <a:custGeom>
              <a:avLst/>
              <a:gdLst/>
              <a:ahLst/>
              <a:cxnLst/>
              <a:rect l="l" t="t" r="r" b="b"/>
              <a:pathLst>
                <a:path w="1524000" h="1016000">
                  <a:moveTo>
                    <a:pt x="0" y="508000"/>
                  </a:moveTo>
                  <a:lnTo>
                    <a:pt x="12700" y="454956"/>
                  </a:lnTo>
                  <a:lnTo>
                    <a:pt x="25400" y="402502"/>
                  </a:lnTo>
                  <a:lnTo>
                    <a:pt x="38100" y="351195"/>
                  </a:lnTo>
                  <a:lnTo>
                    <a:pt x="50800" y="301601"/>
                  </a:lnTo>
                  <a:lnTo>
                    <a:pt x="63500" y="254263"/>
                  </a:lnTo>
                  <a:lnTo>
                    <a:pt x="76200" y="209700"/>
                  </a:lnTo>
                  <a:lnTo>
                    <a:pt x="88900" y="168400"/>
                  </a:lnTo>
                  <a:lnTo>
                    <a:pt x="101600" y="130813"/>
                  </a:lnTo>
                  <a:lnTo>
                    <a:pt x="127000" y="68367"/>
                  </a:lnTo>
                  <a:lnTo>
                    <a:pt x="152400" y="25091"/>
                  </a:lnTo>
                  <a:lnTo>
                    <a:pt x="190500" y="0"/>
                  </a:lnTo>
                  <a:lnTo>
                    <a:pt x="203200" y="2681"/>
                  </a:lnTo>
                  <a:lnTo>
                    <a:pt x="241300" y="43446"/>
                  </a:lnTo>
                  <a:lnTo>
                    <a:pt x="266700" y="96265"/>
                  </a:lnTo>
                  <a:lnTo>
                    <a:pt x="292100" y="167036"/>
                  </a:lnTo>
                  <a:lnTo>
                    <a:pt x="304800" y="208219"/>
                  </a:lnTo>
                  <a:lnTo>
                    <a:pt x="317500" y="252674"/>
                  </a:lnTo>
                  <a:lnTo>
                    <a:pt x="330200" y="299927"/>
                  </a:lnTo>
                  <a:lnTo>
                    <a:pt x="342900" y="349451"/>
                  </a:lnTo>
                  <a:lnTo>
                    <a:pt x="355600" y="400704"/>
                  </a:lnTo>
                  <a:lnTo>
                    <a:pt x="368300" y="453135"/>
                  </a:lnTo>
                  <a:lnTo>
                    <a:pt x="381000" y="506162"/>
                  </a:lnTo>
                  <a:lnTo>
                    <a:pt x="393700" y="559214"/>
                  </a:lnTo>
                  <a:lnTo>
                    <a:pt x="406400" y="611699"/>
                  </a:lnTo>
                  <a:lnTo>
                    <a:pt x="419100" y="663060"/>
                  </a:lnTo>
                  <a:lnTo>
                    <a:pt x="431800" y="712716"/>
                  </a:lnTo>
                  <a:lnTo>
                    <a:pt x="444500" y="760139"/>
                  </a:lnTo>
                  <a:lnTo>
                    <a:pt x="457200" y="804811"/>
                  </a:lnTo>
                  <a:lnTo>
                    <a:pt x="469900" y="846227"/>
                  </a:lnTo>
                  <a:lnTo>
                    <a:pt x="482600" y="883953"/>
                  </a:lnTo>
                  <a:lnTo>
                    <a:pt x="508000" y="946709"/>
                  </a:lnTo>
                  <a:lnTo>
                    <a:pt x="533400" y="990334"/>
                  </a:lnTo>
                  <a:lnTo>
                    <a:pt x="571500" y="1015992"/>
                  </a:lnTo>
                  <a:lnTo>
                    <a:pt x="584200" y="1013504"/>
                  </a:lnTo>
                  <a:lnTo>
                    <a:pt x="622300" y="973297"/>
                  </a:lnTo>
                  <a:lnTo>
                    <a:pt x="647700" y="920811"/>
                  </a:lnTo>
                  <a:lnTo>
                    <a:pt x="673100" y="850320"/>
                  </a:lnTo>
                  <a:lnTo>
                    <a:pt x="685800" y="809260"/>
                  </a:lnTo>
                  <a:lnTo>
                    <a:pt x="698500" y="764914"/>
                  </a:lnTo>
                  <a:lnTo>
                    <a:pt x="711200" y="717746"/>
                  </a:lnTo>
                  <a:lnTo>
                    <a:pt x="723900" y="668292"/>
                  </a:lnTo>
                  <a:lnTo>
                    <a:pt x="736600" y="617094"/>
                  </a:lnTo>
                  <a:lnTo>
                    <a:pt x="749300" y="564694"/>
                  </a:lnTo>
                  <a:lnTo>
                    <a:pt x="762000" y="511674"/>
                  </a:lnTo>
                  <a:lnTo>
                    <a:pt x="774700" y="458615"/>
                  </a:lnTo>
                  <a:lnTo>
                    <a:pt x="787400" y="406099"/>
                  </a:lnTo>
                  <a:lnTo>
                    <a:pt x="800100" y="354691"/>
                  </a:lnTo>
                  <a:lnTo>
                    <a:pt x="812800" y="304965"/>
                  </a:lnTo>
                  <a:lnTo>
                    <a:pt x="825500" y="257457"/>
                  </a:lnTo>
                  <a:lnTo>
                    <a:pt x="838200" y="212684"/>
                  </a:lnTo>
                  <a:lnTo>
                    <a:pt x="850900" y="171144"/>
                  </a:lnTo>
                  <a:lnTo>
                    <a:pt x="863600" y="133278"/>
                  </a:lnTo>
                  <a:lnTo>
                    <a:pt x="889000" y="70220"/>
                  </a:lnTo>
                  <a:lnTo>
                    <a:pt x="914400" y="26246"/>
                  </a:lnTo>
                  <a:lnTo>
                    <a:pt x="952500" y="23"/>
                  </a:lnTo>
                  <a:lnTo>
                    <a:pt x="965200" y="2317"/>
                  </a:lnTo>
                  <a:lnTo>
                    <a:pt x="1003300" y="41974"/>
                  </a:lnTo>
                  <a:lnTo>
                    <a:pt x="1028700" y="94126"/>
                  </a:lnTo>
                  <a:lnTo>
                    <a:pt x="1054100" y="164323"/>
                  </a:lnTo>
                  <a:lnTo>
                    <a:pt x="1066800" y="205258"/>
                  </a:lnTo>
                  <a:lnTo>
                    <a:pt x="1079500" y="249504"/>
                  </a:lnTo>
                  <a:lnTo>
                    <a:pt x="1092200" y="296578"/>
                  </a:lnTo>
                  <a:lnTo>
                    <a:pt x="1104900" y="345963"/>
                  </a:lnTo>
                  <a:lnTo>
                    <a:pt x="1117600" y="397115"/>
                  </a:lnTo>
                  <a:lnTo>
                    <a:pt x="1130300" y="449484"/>
                  </a:lnTo>
                  <a:lnTo>
                    <a:pt x="1143000" y="502488"/>
                  </a:lnTo>
                  <a:lnTo>
                    <a:pt x="1155700" y="555555"/>
                  </a:lnTo>
                  <a:lnTo>
                    <a:pt x="1168400" y="608102"/>
                  </a:lnTo>
                  <a:lnTo>
                    <a:pt x="1181100" y="659556"/>
                  </a:lnTo>
                  <a:lnTo>
                    <a:pt x="1193800" y="709352"/>
                  </a:lnTo>
                  <a:lnTo>
                    <a:pt x="1206500" y="756946"/>
                  </a:lnTo>
                  <a:lnTo>
                    <a:pt x="1219200" y="801819"/>
                  </a:lnTo>
                  <a:lnTo>
                    <a:pt x="1231900" y="843483"/>
                  </a:lnTo>
                  <a:lnTo>
                    <a:pt x="1244600" y="881473"/>
                  </a:lnTo>
                  <a:lnTo>
                    <a:pt x="1270000" y="944849"/>
                  </a:lnTo>
                  <a:lnTo>
                    <a:pt x="1295400" y="989172"/>
                  </a:lnTo>
                  <a:lnTo>
                    <a:pt x="1333500" y="1015961"/>
                  </a:lnTo>
                  <a:lnTo>
                    <a:pt x="1346200" y="1013852"/>
                  </a:lnTo>
                  <a:lnTo>
                    <a:pt x="1384300" y="974754"/>
                  </a:lnTo>
                  <a:lnTo>
                    <a:pt x="1409700" y="922935"/>
                  </a:lnTo>
                  <a:lnTo>
                    <a:pt x="1435100" y="853025"/>
                  </a:lnTo>
                  <a:lnTo>
                    <a:pt x="1447800" y="812214"/>
                  </a:lnTo>
                  <a:lnTo>
                    <a:pt x="1460500" y="768077"/>
                  </a:lnTo>
                  <a:lnTo>
                    <a:pt x="1473200" y="721087"/>
                  </a:lnTo>
                  <a:lnTo>
                    <a:pt x="1485900" y="671780"/>
                  </a:lnTo>
                  <a:lnTo>
                    <a:pt x="1498600" y="620675"/>
                  </a:lnTo>
                  <a:lnTo>
                    <a:pt x="1511300" y="568345"/>
                  </a:lnTo>
                  <a:lnTo>
                    <a:pt x="1524000" y="515348"/>
                  </a:lnTo>
                </a:path>
              </a:pathLst>
            </a:custGeom>
            <a:ln w="632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229109" y="2370207"/>
            <a:ext cx="10922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738849" y="1952398"/>
            <a:ext cx="1651000" cy="1079500"/>
            <a:chOff x="2738849" y="1952398"/>
            <a:chExt cx="1651000" cy="1079500"/>
          </a:xfrm>
        </p:grpSpPr>
        <p:sp>
          <p:nvSpPr>
            <p:cNvPr id="20" name="object 20"/>
            <p:cNvSpPr/>
            <p:nvPr/>
          </p:nvSpPr>
          <p:spPr>
            <a:xfrm>
              <a:off x="2738849" y="1984124"/>
              <a:ext cx="1651000" cy="1016000"/>
            </a:xfrm>
            <a:custGeom>
              <a:avLst/>
              <a:gdLst/>
              <a:ahLst/>
              <a:cxnLst/>
              <a:rect l="l" t="t" r="r" b="b"/>
              <a:pathLst>
                <a:path w="1651000" h="1016000">
                  <a:moveTo>
                    <a:pt x="0" y="508000"/>
                  </a:moveTo>
                  <a:lnTo>
                    <a:pt x="1651000" y="508000"/>
                  </a:lnTo>
                </a:path>
                <a:path w="1651000" h="1016000">
                  <a:moveTo>
                    <a:pt x="63500" y="1016000"/>
                  </a:moveTo>
                  <a:lnTo>
                    <a:pt x="63500" y="0"/>
                  </a:lnTo>
                </a:path>
                <a:path w="1651000" h="1016000">
                  <a:moveTo>
                    <a:pt x="190500" y="508000"/>
                  </a:moveTo>
                  <a:lnTo>
                    <a:pt x="190500" y="546100"/>
                  </a:lnTo>
                </a:path>
                <a:path w="1651000" h="1016000">
                  <a:moveTo>
                    <a:pt x="317500" y="508000"/>
                  </a:moveTo>
                  <a:lnTo>
                    <a:pt x="317500" y="546100"/>
                  </a:lnTo>
                </a:path>
                <a:path w="1651000" h="1016000">
                  <a:moveTo>
                    <a:pt x="444500" y="508000"/>
                  </a:moveTo>
                  <a:lnTo>
                    <a:pt x="444500" y="546100"/>
                  </a:lnTo>
                </a:path>
                <a:path w="1651000" h="1016000">
                  <a:moveTo>
                    <a:pt x="571500" y="508000"/>
                  </a:moveTo>
                  <a:lnTo>
                    <a:pt x="571500" y="546100"/>
                  </a:lnTo>
                </a:path>
                <a:path w="1651000" h="1016000">
                  <a:moveTo>
                    <a:pt x="698500" y="508000"/>
                  </a:moveTo>
                  <a:lnTo>
                    <a:pt x="698500" y="546100"/>
                  </a:lnTo>
                </a:path>
                <a:path w="1651000" h="1016000">
                  <a:moveTo>
                    <a:pt x="825500" y="508000"/>
                  </a:moveTo>
                  <a:lnTo>
                    <a:pt x="825500" y="546100"/>
                  </a:lnTo>
                </a:path>
                <a:path w="1651000" h="1016000">
                  <a:moveTo>
                    <a:pt x="952500" y="508000"/>
                  </a:moveTo>
                  <a:lnTo>
                    <a:pt x="952500" y="546100"/>
                  </a:lnTo>
                </a:path>
                <a:path w="1651000" h="1016000">
                  <a:moveTo>
                    <a:pt x="1079500" y="508000"/>
                  </a:moveTo>
                  <a:lnTo>
                    <a:pt x="1079500" y="546100"/>
                  </a:lnTo>
                </a:path>
                <a:path w="1651000" h="1016000">
                  <a:moveTo>
                    <a:pt x="1206500" y="508000"/>
                  </a:moveTo>
                  <a:lnTo>
                    <a:pt x="1206500" y="546100"/>
                  </a:lnTo>
                </a:path>
                <a:path w="1651000" h="1016000">
                  <a:moveTo>
                    <a:pt x="1333500" y="508000"/>
                  </a:moveTo>
                  <a:lnTo>
                    <a:pt x="1333500" y="546100"/>
                  </a:lnTo>
                </a:path>
                <a:path w="1651000" h="1016000">
                  <a:moveTo>
                    <a:pt x="1460500" y="508000"/>
                  </a:moveTo>
                  <a:lnTo>
                    <a:pt x="1460500" y="546100"/>
                  </a:lnTo>
                </a:path>
                <a:path w="1651000" h="1016000">
                  <a:moveTo>
                    <a:pt x="1587500" y="508000"/>
                  </a:moveTo>
                  <a:lnTo>
                    <a:pt x="1587500" y="5461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76949" y="1958724"/>
              <a:ext cx="1574800" cy="1066800"/>
            </a:xfrm>
            <a:custGeom>
              <a:avLst/>
              <a:gdLst/>
              <a:ahLst/>
              <a:cxnLst/>
              <a:rect l="l" t="t" r="r" b="b"/>
              <a:pathLst>
                <a:path w="1574800" h="1066800">
                  <a:moveTo>
                    <a:pt x="50800" y="25400"/>
                  </a:moveTo>
                  <a:lnTo>
                    <a:pt x="50800" y="18663"/>
                  </a:lnTo>
                  <a:lnTo>
                    <a:pt x="48123" y="12203"/>
                  </a:lnTo>
                  <a:lnTo>
                    <a:pt x="43360" y="7439"/>
                  </a:lnTo>
                  <a:lnTo>
                    <a:pt x="38596" y="2676"/>
                  </a:lnTo>
                  <a:lnTo>
                    <a:pt x="32136" y="0"/>
                  </a:lnTo>
                  <a:lnTo>
                    <a:pt x="25400" y="0"/>
                  </a:lnTo>
                  <a:lnTo>
                    <a:pt x="18663" y="0"/>
                  </a:lnTo>
                  <a:lnTo>
                    <a:pt x="12203" y="2676"/>
                  </a:lnTo>
                  <a:lnTo>
                    <a:pt x="7439" y="7439"/>
                  </a:lnTo>
                  <a:lnTo>
                    <a:pt x="2676" y="12203"/>
                  </a:lnTo>
                  <a:lnTo>
                    <a:pt x="0" y="18663"/>
                  </a:lnTo>
                  <a:lnTo>
                    <a:pt x="0" y="25400"/>
                  </a:lnTo>
                  <a:lnTo>
                    <a:pt x="0" y="32136"/>
                  </a:lnTo>
                  <a:lnTo>
                    <a:pt x="2676" y="38596"/>
                  </a:lnTo>
                  <a:lnTo>
                    <a:pt x="7439" y="43360"/>
                  </a:lnTo>
                  <a:lnTo>
                    <a:pt x="12203" y="48123"/>
                  </a:lnTo>
                  <a:lnTo>
                    <a:pt x="18663" y="50800"/>
                  </a:lnTo>
                  <a:lnTo>
                    <a:pt x="25400" y="50800"/>
                  </a:lnTo>
                  <a:lnTo>
                    <a:pt x="32136" y="50800"/>
                  </a:lnTo>
                  <a:lnTo>
                    <a:pt x="38596" y="48123"/>
                  </a:lnTo>
                  <a:lnTo>
                    <a:pt x="43360" y="43360"/>
                  </a:lnTo>
                  <a:lnTo>
                    <a:pt x="48123" y="38596"/>
                  </a:lnTo>
                  <a:lnTo>
                    <a:pt x="50800" y="32136"/>
                  </a:lnTo>
                  <a:lnTo>
                    <a:pt x="50800" y="25400"/>
                  </a:lnTo>
                  <a:close/>
                </a:path>
                <a:path w="1574800" h="1066800">
                  <a:moveTo>
                    <a:pt x="177800" y="278872"/>
                  </a:moveTo>
                  <a:lnTo>
                    <a:pt x="177800" y="272136"/>
                  </a:lnTo>
                  <a:lnTo>
                    <a:pt x="175123" y="265675"/>
                  </a:lnTo>
                  <a:lnTo>
                    <a:pt x="170360" y="260912"/>
                  </a:lnTo>
                  <a:lnTo>
                    <a:pt x="165596" y="256149"/>
                  </a:lnTo>
                  <a:lnTo>
                    <a:pt x="159136" y="253472"/>
                  </a:lnTo>
                  <a:lnTo>
                    <a:pt x="152400" y="253472"/>
                  </a:lnTo>
                  <a:lnTo>
                    <a:pt x="145663" y="253472"/>
                  </a:lnTo>
                  <a:lnTo>
                    <a:pt x="139203" y="256149"/>
                  </a:lnTo>
                  <a:lnTo>
                    <a:pt x="134439" y="260912"/>
                  </a:lnTo>
                  <a:lnTo>
                    <a:pt x="129676" y="265675"/>
                  </a:lnTo>
                  <a:lnTo>
                    <a:pt x="127000" y="272136"/>
                  </a:lnTo>
                  <a:lnTo>
                    <a:pt x="127000" y="278872"/>
                  </a:lnTo>
                  <a:lnTo>
                    <a:pt x="127000" y="285609"/>
                  </a:lnTo>
                  <a:lnTo>
                    <a:pt x="129676" y="292069"/>
                  </a:lnTo>
                  <a:lnTo>
                    <a:pt x="134439" y="296833"/>
                  </a:lnTo>
                  <a:lnTo>
                    <a:pt x="139203" y="301596"/>
                  </a:lnTo>
                  <a:lnTo>
                    <a:pt x="145663" y="304272"/>
                  </a:lnTo>
                  <a:lnTo>
                    <a:pt x="152400" y="304272"/>
                  </a:lnTo>
                  <a:lnTo>
                    <a:pt x="159136" y="304272"/>
                  </a:lnTo>
                  <a:lnTo>
                    <a:pt x="165596" y="301596"/>
                  </a:lnTo>
                  <a:lnTo>
                    <a:pt x="170360" y="296833"/>
                  </a:lnTo>
                  <a:lnTo>
                    <a:pt x="175123" y="292069"/>
                  </a:lnTo>
                  <a:lnTo>
                    <a:pt x="177800" y="285609"/>
                  </a:lnTo>
                  <a:lnTo>
                    <a:pt x="177800" y="278872"/>
                  </a:lnTo>
                  <a:close/>
                </a:path>
                <a:path w="1574800" h="1066800">
                  <a:moveTo>
                    <a:pt x="304800" y="786338"/>
                  </a:moveTo>
                  <a:lnTo>
                    <a:pt x="304800" y="779601"/>
                  </a:lnTo>
                  <a:lnTo>
                    <a:pt x="302123" y="773141"/>
                  </a:lnTo>
                  <a:lnTo>
                    <a:pt x="297360" y="768377"/>
                  </a:lnTo>
                  <a:lnTo>
                    <a:pt x="292596" y="763614"/>
                  </a:lnTo>
                  <a:lnTo>
                    <a:pt x="286136" y="760938"/>
                  </a:lnTo>
                  <a:lnTo>
                    <a:pt x="279400" y="760938"/>
                  </a:lnTo>
                  <a:lnTo>
                    <a:pt x="272663" y="760938"/>
                  </a:lnTo>
                  <a:lnTo>
                    <a:pt x="266203" y="763614"/>
                  </a:lnTo>
                  <a:lnTo>
                    <a:pt x="261439" y="768377"/>
                  </a:lnTo>
                  <a:lnTo>
                    <a:pt x="256676" y="773141"/>
                  </a:lnTo>
                  <a:lnTo>
                    <a:pt x="254000" y="779601"/>
                  </a:lnTo>
                  <a:lnTo>
                    <a:pt x="254000" y="786338"/>
                  </a:lnTo>
                  <a:lnTo>
                    <a:pt x="254000" y="793074"/>
                  </a:lnTo>
                  <a:lnTo>
                    <a:pt x="256676" y="799534"/>
                  </a:lnTo>
                  <a:lnTo>
                    <a:pt x="261439" y="804298"/>
                  </a:lnTo>
                  <a:lnTo>
                    <a:pt x="266203" y="809061"/>
                  </a:lnTo>
                  <a:lnTo>
                    <a:pt x="272663" y="811738"/>
                  </a:lnTo>
                  <a:lnTo>
                    <a:pt x="279400" y="811738"/>
                  </a:lnTo>
                  <a:lnTo>
                    <a:pt x="286136" y="811738"/>
                  </a:lnTo>
                  <a:lnTo>
                    <a:pt x="292596" y="809061"/>
                  </a:lnTo>
                  <a:lnTo>
                    <a:pt x="297360" y="804298"/>
                  </a:lnTo>
                  <a:lnTo>
                    <a:pt x="302123" y="799534"/>
                  </a:lnTo>
                  <a:lnTo>
                    <a:pt x="304800" y="793074"/>
                  </a:lnTo>
                  <a:lnTo>
                    <a:pt x="304800" y="786338"/>
                  </a:lnTo>
                  <a:close/>
                </a:path>
                <a:path w="1574800" h="1066800">
                  <a:moveTo>
                    <a:pt x="431800" y="1041400"/>
                  </a:moveTo>
                  <a:lnTo>
                    <a:pt x="431800" y="1034663"/>
                  </a:lnTo>
                  <a:lnTo>
                    <a:pt x="429123" y="1028203"/>
                  </a:lnTo>
                  <a:lnTo>
                    <a:pt x="424360" y="1023439"/>
                  </a:lnTo>
                  <a:lnTo>
                    <a:pt x="419596" y="1018676"/>
                  </a:lnTo>
                  <a:lnTo>
                    <a:pt x="413136" y="1016000"/>
                  </a:lnTo>
                  <a:lnTo>
                    <a:pt x="406400" y="1016000"/>
                  </a:lnTo>
                  <a:lnTo>
                    <a:pt x="399663" y="1016000"/>
                  </a:lnTo>
                  <a:lnTo>
                    <a:pt x="393203" y="1018676"/>
                  </a:lnTo>
                  <a:lnTo>
                    <a:pt x="388439" y="1023439"/>
                  </a:lnTo>
                  <a:lnTo>
                    <a:pt x="383676" y="1028203"/>
                  </a:lnTo>
                  <a:lnTo>
                    <a:pt x="381000" y="1034663"/>
                  </a:lnTo>
                  <a:lnTo>
                    <a:pt x="381000" y="1041400"/>
                  </a:lnTo>
                  <a:lnTo>
                    <a:pt x="381000" y="1048136"/>
                  </a:lnTo>
                  <a:lnTo>
                    <a:pt x="383676" y="1054596"/>
                  </a:lnTo>
                  <a:lnTo>
                    <a:pt x="388439" y="1059360"/>
                  </a:lnTo>
                  <a:lnTo>
                    <a:pt x="393203" y="1064123"/>
                  </a:lnTo>
                  <a:lnTo>
                    <a:pt x="399663" y="1066800"/>
                  </a:lnTo>
                  <a:lnTo>
                    <a:pt x="406400" y="1066800"/>
                  </a:lnTo>
                  <a:lnTo>
                    <a:pt x="413136" y="1066800"/>
                  </a:lnTo>
                  <a:lnTo>
                    <a:pt x="419596" y="1064123"/>
                  </a:lnTo>
                  <a:lnTo>
                    <a:pt x="424360" y="1059360"/>
                  </a:lnTo>
                  <a:lnTo>
                    <a:pt x="429123" y="1054596"/>
                  </a:lnTo>
                  <a:lnTo>
                    <a:pt x="431800" y="1048136"/>
                  </a:lnTo>
                  <a:lnTo>
                    <a:pt x="431800" y="1041400"/>
                  </a:lnTo>
                  <a:close/>
                </a:path>
                <a:path w="1574800" h="1066800">
                  <a:moveTo>
                    <a:pt x="558800" y="789516"/>
                  </a:moveTo>
                  <a:lnTo>
                    <a:pt x="558800" y="782779"/>
                  </a:lnTo>
                  <a:lnTo>
                    <a:pt x="556123" y="776319"/>
                  </a:lnTo>
                  <a:lnTo>
                    <a:pt x="551360" y="771555"/>
                  </a:lnTo>
                  <a:lnTo>
                    <a:pt x="546596" y="766792"/>
                  </a:lnTo>
                  <a:lnTo>
                    <a:pt x="540136" y="764116"/>
                  </a:lnTo>
                  <a:lnTo>
                    <a:pt x="533400" y="764116"/>
                  </a:lnTo>
                  <a:lnTo>
                    <a:pt x="526663" y="764116"/>
                  </a:lnTo>
                  <a:lnTo>
                    <a:pt x="520203" y="766792"/>
                  </a:lnTo>
                  <a:lnTo>
                    <a:pt x="515439" y="771555"/>
                  </a:lnTo>
                  <a:lnTo>
                    <a:pt x="510676" y="776319"/>
                  </a:lnTo>
                  <a:lnTo>
                    <a:pt x="508000" y="782779"/>
                  </a:lnTo>
                  <a:lnTo>
                    <a:pt x="508000" y="789516"/>
                  </a:lnTo>
                  <a:lnTo>
                    <a:pt x="508000" y="796252"/>
                  </a:lnTo>
                  <a:lnTo>
                    <a:pt x="510676" y="802713"/>
                  </a:lnTo>
                  <a:lnTo>
                    <a:pt x="515439" y="807476"/>
                  </a:lnTo>
                  <a:lnTo>
                    <a:pt x="520203" y="812239"/>
                  </a:lnTo>
                  <a:lnTo>
                    <a:pt x="526663" y="814916"/>
                  </a:lnTo>
                  <a:lnTo>
                    <a:pt x="533400" y="814916"/>
                  </a:lnTo>
                  <a:lnTo>
                    <a:pt x="540136" y="814916"/>
                  </a:lnTo>
                  <a:lnTo>
                    <a:pt x="546596" y="812239"/>
                  </a:lnTo>
                  <a:lnTo>
                    <a:pt x="551360" y="807476"/>
                  </a:lnTo>
                  <a:lnTo>
                    <a:pt x="556123" y="802713"/>
                  </a:lnTo>
                  <a:lnTo>
                    <a:pt x="558800" y="796252"/>
                  </a:lnTo>
                  <a:lnTo>
                    <a:pt x="558800" y="789516"/>
                  </a:lnTo>
                  <a:close/>
                </a:path>
                <a:path w="1574800" h="1066800">
                  <a:moveTo>
                    <a:pt x="685800" y="282058"/>
                  </a:moveTo>
                  <a:lnTo>
                    <a:pt x="685800" y="275322"/>
                  </a:lnTo>
                  <a:lnTo>
                    <a:pt x="683123" y="268861"/>
                  </a:lnTo>
                  <a:lnTo>
                    <a:pt x="678360" y="264098"/>
                  </a:lnTo>
                  <a:lnTo>
                    <a:pt x="673596" y="259335"/>
                  </a:lnTo>
                  <a:lnTo>
                    <a:pt x="667136" y="256658"/>
                  </a:lnTo>
                  <a:lnTo>
                    <a:pt x="660400" y="256658"/>
                  </a:lnTo>
                  <a:lnTo>
                    <a:pt x="653663" y="256658"/>
                  </a:lnTo>
                  <a:lnTo>
                    <a:pt x="647203" y="259335"/>
                  </a:lnTo>
                  <a:lnTo>
                    <a:pt x="642439" y="264098"/>
                  </a:lnTo>
                  <a:lnTo>
                    <a:pt x="637676" y="268861"/>
                  </a:lnTo>
                  <a:lnTo>
                    <a:pt x="635000" y="275322"/>
                  </a:lnTo>
                  <a:lnTo>
                    <a:pt x="635000" y="282058"/>
                  </a:lnTo>
                  <a:lnTo>
                    <a:pt x="635000" y="288795"/>
                  </a:lnTo>
                  <a:lnTo>
                    <a:pt x="637676" y="295255"/>
                  </a:lnTo>
                  <a:lnTo>
                    <a:pt x="642439" y="300018"/>
                  </a:lnTo>
                  <a:lnTo>
                    <a:pt x="647203" y="304782"/>
                  </a:lnTo>
                  <a:lnTo>
                    <a:pt x="653663" y="307458"/>
                  </a:lnTo>
                  <a:lnTo>
                    <a:pt x="660400" y="307458"/>
                  </a:lnTo>
                  <a:lnTo>
                    <a:pt x="667136" y="307458"/>
                  </a:lnTo>
                  <a:lnTo>
                    <a:pt x="673596" y="304782"/>
                  </a:lnTo>
                  <a:lnTo>
                    <a:pt x="678360" y="300018"/>
                  </a:lnTo>
                  <a:lnTo>
                    <a:pt x="683123" y="295255"/>
                  </a:lnTo>
                  <a:lnTo>
                    <a:pt x="685800" y="288795"/>
                  </a:lnTo>
                  <a:lnTo>
                    <a:pt x="685800" y="282058"/>
                  </a:lnTo>
                  <a:close/>
                </a:path>
                <a:path w="1574800" h="1066800">
                  <a:moveTo>
                    <a:pt x="812800" y="25415"/>
                  </a:moveTo>
                  <a:lnTo>
                    <a:pt x="812800" y="18678"/>
                  </a:lnTo>
                  <a:lnTo>
                    <a:pt x="810123" y="12218"/>
                  </a:lnTo>
                  <a:lnTo>
                    <a:pt x="805360" y="7455"/>
                  </a:lnTo>
                  <a:lnTo>
                    <a:pt x="800596" y="2692"/>
                  </a:lnTo>
                  <a:lnTo>
                    <a:pt x="794136" y="15"/>
                  </a:lnTo>
                  <a:lnTo>
                    <a:pt x="787400" y="15"/>
                  </a:lnTo>
                  <a:lnTo>
                    <a:pt x="780663" y="15"/>
                  </a:lnTo>
                  <a:lnTo>
                    <a:pt x="774203" y="2692"/>
                  </a:lnTo>
                  <a:lnTo>
                    <a:pt x="769439" y="7455"/>
                  </a:lnTo>
                  <a:lnTo>
                    <a:pt x="764676" y="12218"/>
                  </a:lnTo>
                  <a:lnTo>
                    <a:pt x="762000" y="18678"/>
                  </a:lnTo>
                  <a:lnTo>
                    <a:pt x="762000" y="25415"/>
                  </a:lnTo>
                  <a:lnTo>
                    <a:pt x="762000" y="32152"/>
                  </a:lnTo>
                  <a:lnTo>
                    <a:pt x="764676" y="38612"/>
                  </a:lnTo>
                  <a:lnTo>
                    <a:pt x="769439" y="43375"/>
                  </a:lnTo>
                  <a:lnTo>
                    <a:pt x="774203" y="48138"/>
                  </a:lnTo>
                  <a:lnTo>
                    <a:pt x="780663" y="50815"/>
                  </a:lnTo>
                  <a:lnTo>
                    <a:pt x="787400" y="50815"/>
                  </a:lnTo>
                  <a:lnTo>
                    <a:pt x="794136" y="50815"/>
                  </a:lnTo>
                  <a:lnTo>
                    <a:pt x="800596" y="48138"/>
                  </a:lnTo>
                  <a:lnTo>
                    <a:pt x="805360" y="43375"/>
                  </a:lnTo>
                  <a:lnTo>
                    <a:pt x="810123" y="38612"/>
                  </a:lnTo>
                  <a:lnTo>
                    <a:pt x="812800" y="32152"/>
                  </a:lnTo>
                  <a:lnTo>
                    <a:pt x="812800" y="25415"/>
                  </a:lnTo>
                  <a:close/>
                </a:path>
                <a:path w="1574800" h="1066800">
                  <a:moveTo>
                    <a:pt x="939800" y="275694"/>
                  </a:moveTo>
                  <a:lnTo>
                    <a:pt x="939800" y="268958"/>
                  </a:lnTo>
                  <a:lnTo>
                    <a:pt x="937123" y="262497"/>
                  </a:lnTo>
                  <a:lnTo>
                    <a:pt x="932360" y="257734"/>
                  </a:lnTo>
                  <a:lnTo>
                    <a:pt x="927596" y="252971"/>
                  </a:lnTo>
                  <a:lnTo>
                    <a:pt x="921136" y="250294"/>
                  </a:lnTo>
                  <a:lnTo>
                    <a:pt x="914400" y="250294"/>
                  </a:lnTo>
                  <a:lnTo>
                    <a:pt x="907663" y="250294"/>
                  </a:lnTo>
                  <a:lnTo>
                    <a:pt x="901203" y="252971"/>
                  </a:lnTo>
                  <a:lnTo>
                    <a:pt x="896439" y="257734"/>
                  </a:lnTo>
                  <a:lnTo>
                    <a:pt x="891676" y="262497"/>
                  </a:lnTo>
                  <a:lnTo>
                    <a:pt x="889000" y="268958"/>
                  </a:lnTo>
                  <a:lnTo>
                    <a:pt x="889000" y="275694"/>
                  </a:lnTo>
                  <a:lnTo>
                    <a:pt x="889000" y="282431"/>
                  </a:lnTo>
                  <a:lnTo>
                    <a:pt x="891676" y="288891"/>
                  </a:lnTo>
                  <a:lnTo>
                    <a:pt x="896439" y="293654"/>
                  </a:lnTo>
                  <a:lnTo>
                    <a:pt x="901203" y="298418"/>
                  </a:lnTo>
                  <a:lnTo>
                    <a:pt x="907663" y="301094"/>
                  </a:lnTo>
                  <a:lnTo>
                    <a:pt x="914400" y="301094"/>
                  </a:lnTo>
                  <a:lnTo>
                    <a:pt x="921136" y="301094"/>
                  </a:lnTo>
                  <a:lnTo>
                    <a:pt x="927596" y="298418"/>
                  </a:lnTo>
                  <a:lnTo>
                    <a:pt x="932360" y="293654"/>
                  </a:lnTo>
                  <a:lnTo>
                    <a:pt x="937123" y="288891"/>
                  </a:lnTo>
                  <a:lnTo>
                    <a:pt x="939800" y="282431"/>
                  </a:lnTo>
                  <a:lnTo>
                    <a:pt x="939800" y="275694"/>
                  </a:lnTo>
                  <a:close/>
                </a:path>
                <a:path w="1574800" h="1066800">
                  <a:moveTo>
                    <a:pt x="1066800" y="783144"/>
                  </a:moveTo>
                  <a:lnTo>
                    <a:pt x="1066800" y="776407"/>
                  </a:lnTo>
                  <a:lnTo>
                    <a:pt x="1064123" y="769947"/>
                  </a:lnTo>
                  <a:lnTo>
                    <a:pt x="1059360" y="765184"/>
                  </a:lnTo>
                  <a:lnTo>
                    <a:pt x="1054596" y="760421"/>
                  </a:lnTo>
                  <a:lnTo>
                    <a:pt x="1048136" y="757744"/>
                  </a:lnTo>
                  <a:lnTo>
                    <a:pt x="1041400" y="757744"/>
                  </a:lnTo>
                  <a:lnTo>
                    <a:pt x="1034663" y="757744"/>
                  </a:lnTo>
                  <a:lnTo>
                    <a:pt x="1028203" y="760421"/>
                  </a:lnTo>
                  <a:lnTo>
                    <a:pt x="1023439" y="765184"/>
                  </a:lnTo>
                  <a:lnTo>
                    <a:pt x="1018676" y="769947"/>
                  </a:lnTo>
                  <a:lnTo>
                    <a:pt x="1016000" y="776407"/>
                  </a:lnTo>
                  <a:lnTo>
                    <a:pt x="1016000" y="783144"/>
                  </a:lnTo>
                  <a:lnTo>
                    <a:pt x="1016000" y="789881"/>
                  </a:lnTo>
                  <a:lnTo>
                    <a:pt x="1018676" y="796341"/>
                  </a:lnTo>
                  <a:lnTo>
                    <a:pt x="1023439" y="801104"/>
                  </a:lnTo>
                  <a:lnTo>
                    <a:pt x="1028203" y="805867"/>
                  </a:lnTo>
                  <a:lnTo>
                    <a:pt x="1034663" y="808544"/>
                  </a:lnTo>
                  <a:lnTo>
                    <a:pt x="1041400" y="808544"/>
                  </a:lnTo>
                  <a:lnTo>
                    <a:pt x="1048136" y="808544"/>
                  </a:lnTo>
                  <a:lnTo>
                    <a:pt x="1054596" y="805867"/>
                  </a:lnTo>
                  <a:lnTo>
                    <a:pt x="1059360" y="801104"/>
                  </a:lnTo>
                  <a:lnTo>
                    <a:pt x="1064123" y="796341"/>
                  </a:lnTo>
                  <a:lnTo>
                    <a:pt x="1066800" y="789881"/>
                  </a:lnTo>
                  <a:lnTo>
                    <a:pt x="1066800" y="783144"/>
                  </a:lnTo>
                  <a:close/>
                </a:path>
                <a:path w="1574800" h="1066800">
                  <a:moveTo>
                    <a:pt x="1193800" y="1041369"/>
                  </a:moveTo>
                  <a:lnTo>
                    <a:pt x="1193800" y="1034632"/>
                  </a:lnTo>
                  <a:lnTo>
                    <a:pt x="1191123" y="1028172"/>
                  </a:lnTo>
                  <a:lnTo>
                    <a:pt x="1186360" y="1023408"/>
                  </a:lnTo>
                  <a:lnTo>
                    <a:pt x="1181596" y="1018645"/>
                  </a:lnTo>
                  <a:lnTo>
                    <a:pt x="1175136" y="1015969"/>
                  </a:lnTo>
                  <a:lnTo>
                    <a:pt x="1168400" y="1015969"/>
                  </a:lnTo>
                  <a:lnTo>
                    <a:pt x="1161663" y="1015969"/>
                  </a:lnTo>
                  <a:lnTo>
                    <a:pt x="1155203" y="1018645"/>
                  </a:lnTo>
                  <a:lnTo>
                    <a:pt x="1150439" y="1023408"/>
                  </a:lnTo>
                  <a:lnTo>
                    <a:pt x="1145676" y="1028172"/>
                  </a:lnTo>
                  <a:lnTo>
                    <a:pt x="1143000" y="1034632"/>
                  </a:lnTo>
                  <a:lnTo>
                    <a:pt x="1143000" y="1041369"/>
                  </a:lnTo>
                  <a:lnTo>
                    <a:pt x="1143000" y="1048105"/>
                  </a:lnTo>
                  <a:lnTo>
                    <a:pt x="1145676" y="1054565"/>
                  </a:lnTo>
                  <a:lnTo>
                    <a:pt x="1150439" y="1059329"/>
                  </a:lnTo>
                  <a:lnTo>
                    <a:pt x="1155203" y="1064092"/>
                  </a:lnTo>
                  <a:lnTo>
                    <a:pt x="1161663" y="1066769"/>
                  </a:lnTo>
                  <a:lnTo>
                    <a:pt x="1168400" y="1066769"/>
                  </a:lnTo>
                  <a:lnTo>
                    <a:pt x="1175136" y="1066769"/>
                  </a:lnTo>
                  <a:lnTo>
                    <a:pt x="1181596" y="1064092"/>
                  </a:lnTo>
                  <a:lnTo>
                    <a:pt x="1186360" y="1059329"/>
                  </a:lnTo>
                  <a:lnTo>
                    <a:pt x="1191123" y="1054565"/>
                  </a:lnTo>
                  <a:lnTo>
                    <a:pt x="1193800" y="1048105"/>
                  </a:lnTo>
                  <a:lnTo>
                    <a:pt x="1193800" y="1041369"/>
                  </a:lnTo>
                  <a:close/>
                </a:path>
                <a:path w="1574800" h="1066800">
                  <a:moveTo>
                    <a:pt x="1320800" y="792686"/>
                  </a:moveTo>
                  <a:lnTo>
                    <a:pt x="1320800" y="785949"/>
                  </a:lnTo>
                  <a:lnTo>
                    <a:pt x="1318123" y="779489"/>
                  </a:lnTo>
                  <a:lnTo>
                    <a:pt x="1313360" y="774726"/>
                  </a:lnTo>
                  <a:lnTo>
                    <a:pt x="1308596" y="769963"/>
                  </a:lnTo>
                  <a:lnTo>
                    <a:pt x="1302136" y="767286"/>
                  </a:lnTo>
                  <a:lnTo>
                    <a:pt x="1295400" y="767286"/>
                  </a:lnTo>
                  <a:lnTo>
                    <a:pt x="1288663" y="767286"/>
                  </a:lnTo>
                  <a:lnTo>
                    <a:pt x="1282203" y="769963"/>
                  </a:lnTo>
                  <a:lnTo>
                    <a:pt x="1277439" y="774726"/>
                  </a:lnTo>
                  <a:lnTo>
                    <a:pt x="1272676" y="779489"/>
                  </a:lnTo>
                  <a:lnTo>
                    <a:pt x="1270000" y="785949"/>
                  </a:lnTo>
                  <a:lnTo>
                    <a:pt x="1270000" y="792686"/>
                  </a:lnTo>
                  <a:lnTo>
                    <a:pt x="1270000" y="799423"/>
                  </a:lnTo>
                  <a:lnTo>
                    <a:pt x="1272676" y="805883"/>
                  </a:lnTo>
                  <a:lnTo>
                    <a:pt x="1277439" y="810646"/>
                  </a:lnTo>
                  <a:lnTo>
                    <a:pt x="1282203" y="815409"/>
                  </a:lnTo>
                  <a:lnTo>
                    <a:pt x="1288663" y="818086"/>
                  </a:lnTo>
                  <a:lnTo>
                    <a:pt x="1295400" y="818086"/>
                  </a:lnTo>
                  <a:lnTo>
                    <a:pt x="1302136" y="818086"/>
                  </a:lnTo>
                  <a:lnTo>
                    <a:pt x="1308596" y="815409"/>
                  </a:lnTo>
                  <a:lnTo>
                    <a:pt x="1313360" y="810646"/>
                  </a:lnTo>
                  <a:lnTo>
                    <a:pt x="1318123" y="805883"/>
                  </a:lnTo>
                  <a:lnTo>
                    <a:pt x="1320800" y="799423"/>
                  </a:lnTo>
                  <a:lnTo>
                    <a:pt x="1320800" y="792686"/>
                  </a:lnTo>
                  <a:close/>
                </a:path>
                <a:path w="1574800" h="1066800">
                  <a:moveTo>
                    <a:pt x="1447800" y="285252"/>
                  </a:moveTo>
                  <a:lnTo>
                    <a:pt x="1447800" y="278515"/>
                  </a:lnTo>
                  <a:lnTo>
                    <a:pt x="1445123" y="272055"/>
                  </a:lnTo>
                  <a:lnTo>
                    <a:pt x="1440360" y="267292"/>
                  </a:lnTo>
                  <a:lnTo>
                    <a:pt x="1435596" y="262528"/>
                  </a:lnTo>
                  <a:lnTo>
                    <a:pt x="1429136" y="259852"/>
                  </a:lnTo>
                  <a:lnTo>
                    <a:pt x="1422400" y="259852"/>
                  </a:lnTo>
                  <a:lnTo>
                    <a:pt x="1415663" y="259852"/>
                  </a:lnTo>
                  <a:lnTo>
                    <a:pt x="1409203" y="262528"/>
                  </a:lnTo>
                  <a:lnTo>
                    <a:pt x="1404439" y="267292"/>
                  </a:lnTo>
                  <a:lnTo>
                    <a:pt x="1399676" y="272055"/>
                  </a:lnTo>
                  <a:lnTo>
                    <a:pt x="1397000" y="278515"/>
                  </a:lnTo>
                  <a:lnTo>
                    <a:pt x="1397000" y="285252"/>
                  </a:lnTo>
                  <a:lnTo>
                    <a:pt x="1397000" y="291989"/>
                  </a:lnTo>
                  <a:lnTo>
                    <a:pt x="1399676" y="298449"/>
                  </a:lnTo>
                  <a:lnTo>
                    <a:pt x="1404439" y="303212"/>
                  </a:lnTo>
                  <a:lnTo>
                    <a:pt x="1409203" y="307975"/>
                  </a:lnTo>
                  <a:lnTo>
                    <a:pt x="1415663" y="310652"/>
                  </a:lnTo>
                  <a:lnTo>
                    <a:pt x="1422400" y="310652"/>
                  </a:lnTo>
                  <a:lnTo>
                    <a:pt x="1429136" y="310652"/>
                  </a:lnTo>
                  <a:lnTo>
                    <a:pt x="1435596" y="307975"/>
                  </a:lnTo>
                  <a:lnTo>
                    <a:pt x="1440360" y="303212"/>
                  </a:lnTo>
                  <a:lnTo>
                    <a:pt x="1445123" y="298449"/>
                  </a:lnTo>
                  <a:lnTo>
                    <a:pt x="1447800" y="291989"/>
                  </a:lnTo>
                  <a:lnTo>
                    <a:pt x="1447800" y="285252"/>
                  </a:lnTo>
                  <a:close/>
                </a:path>
                <a:path w="1574800" h="1066800">
                  <a:moveTo>
                    <a:pt x="1574800" y="25454"/>
                  </a:moveTo>
                  <a:lnTo>
                    <a:pt x="1574800" y="18717"/>
                  </a:lnTo>
                  <a:lnTo>
                    <a:pt x="1572123" y="12257"/>
                  </a:lnTo>
                  <a:lnTo>
                    <a:pt x="1567360" y="7494"/>
                  </a:lnTo>
                  <a:lnTo>
                    <a:pt x="1562596" y="2730"/>
                  </a:lnTo>
                  <a:lnTo>
                    <a:pt x="1556136" y="54"/>
                  </a:lnTo>
                  <a:lnTo>
                    <a:pt x="1549400" y="54"/>
                  </a:lnTo>
                  <a:lnTo>
                    <a:pt x="1542663" y="54"/>
                  </a:lnTo>
                  <a:lnTo>
                    <a:pt x="1536203" y="2730"/>
                  </a:lnTo>
                  <a:lnTo>
                    <a:pt x="1531439" y="7494"/>
                  </a:lnTo>
                  <a:lnTo>
                    <a:pt x="1526676" y="12257"/>
                  </a:lnTo>
                  <a:lnTo>
                    <a:pt x="1524000" y="18717"/>
                  </a:lnTo>
                  <a:lnTo>
                    <a:pt x="1524000" y="25454"/>
                  </a:lnTo>
                  <a:lnTo>
                    <a:pt x="1524000" y="32191"/>
                  </a:lnTo>
                  <a:lnTo>
                    <a:pt x="1526676" y="38651"/>
                  </a:lnTo>
                  <a:lnTo>
                    <a:pt x="1531439" y="43414"/>
                  </a:lnTo>
                  <a:lnTo>
                    <a:pt x="1536203" y="48177"/>
                  </a:lnTo>
                  <a:lnTo>
                    <a:pt x="1542663" y="50854"/>
                  </a:lnTo>
                  <a:lnTo>
                    <a:pt x="1549400" y="50854"/>
                  </a:lnTo>
                  <a:lnTo>
                    <a:pt x="1556136" y="50854"/>
                  </a:lnTo>
                  <a:lnTo>
                    <a:pt x="1562596" y="48177"/>
                  </a:lnTo>
                  <a:lnTo>
                    <a:pt x="1567360" y="43414"/>
                  </a:lnTo>
                  <a:lnTo>
                    <a:pt x="1572123" y="38651"/>
                  </a:lnTo>
                  <a:lnTo>
                    <a:pt x="1574800" y="32191"/>
                  </a:lnTo>
                  <a:lnTo>
                    <a:pt x="1574800" y="25454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02349" y="1984124"/>
              <a:ext cx="1524000" cy="1016000"/>
            </a:xfrm>
            <a:custGeom>
              <a:avLst/>
              <a:gdLst/>
              <a:ahLst/>
              <a:cxnLst/>
              <a:rect l="l" t="t" r="r" b="b"/>
              <a:pathLst>
                <a:path w="1524000" h="1016000">
                  <a:moveTo>
                    <a:pt x="0" y="0"/>
                  </a:moveTo>
                  <a:lnTo>
                    <a:pt x="12700" y="2774"/>
                  </a:lnTo>
                  <a:lnTo>
                    <a:pt x="25400" y="11076"/>
                  </a:lnTo>
                  <a:lnTo>
                    <a:pt x="50800" y="43819"/>
                  </a:lnTo>
                  <a:lnTo>
                    <a:pt x="76200" y="96800"/>
                  </a:lnTo>
                  <a:lnTo>
                    <a:pt x="101600" y="167718"/>
                  </a:lnTo>
                  <a:lnTo>
                    <a:pt x="114300" y="208956"/>
                  </a:lnTo>
                  <a:lnTo>
                    <a:pt x="127000" y="253472"/>
                  </a:lnTo>
                  <a:lnTo>
                    <a:pt x="139700" y="300764"/>
                  </a:lnTo>
                  <a:lnTo>
                    <a:pt x="152400" y="350319"/>
                  </a:lnTo>
                  <a:lnTo>
                    <a:pt x="165100" y="401603"/>
                  </a:lnTo>
                  <a:lnTo>
                    <a:pt x="177800" y="454049"/>
                  </a:lnTo>
                  <a:lnTo>
                    <a:pt x="190500" y="507085"/>
                  </a:lnTo>
                  <a:lnTo>
                    <a:pt x="203200" y="560128"/>
                  </a:lnTo>
                  <a:lnTo>
                    <a:pt x="215900" y="612598"/>
                  </a:lnTo>
                  <a:lnTo>
                    <a:pt x="228600" y="663928"/>
                  </a:lnTo>
                  <a:lnTo>
                    <a:pt x="241300" y="713561"/>
                  </a:lnTo>
                  <a:lnTo>
                    <a:pt x="254000" y="760938"/>
                  </a:lnTo>
                  <a:lnTo>
                    <a:pt x="266700" y="805555"/>
                  </a:lnTo>
                  <a:lnTo>
                    <a:pt x="279400" y="846917"/>
                  </a:lnTo>
                  <a:lnTo>
                    <a:pt x="292100" y="884573"/>
                  </a:lnTo>
                  <a:lnTo>
                    <a:pt x="317500" y="947174"/>
                  </a:lnTo>
                  <a:lnTo>
                    <a:pt x="342900" y="990621"/>
                  </a:lnTo>
                  <a:lnTo>
                    <a:pt x="381000" y="1016000"/>
                  </a:lnTo>
                  <a:lnTo>
                    <a:pt x="393700" y="1013410"/>
                  </a:lnTo>
                  <a:lnTo>
                    <a:pt x="431800" y="972925"/>
                  </a:lnTo>
                  <a:lnTo>
                    <a:pt x="457200" y="920269"/>
                  </a:lnTo>
                  <a:lnTo>
                    <a:pt x="482600" y="849645"/>
                  </a:lnTo>
                  <a:lnTo>
                    <a:pt x="495300" y="808524"/>
                  </a:lnTo>
                  <a:lnTo>
                    <a:pt x="508000" y="764116"/>
                  </a:lnTo>
                  <a:lnTo>
                    <a:pt x="520700" y="716909"/>
                  </a:lnTo>
                  <a:lnTo>
                    <a:pt x="533400" y="667424"/>
                  </a:lnTo>
                  <a:lnTo>
                    <a:pt x="546100" y="616194"/>
                  </a:lnTo>
                  <a:lnTo>
                    <a:pt x="558800" y="563779"/>
                  </a:lnTo>
                  <a:lnTo>
                    <a:pt x="571500" y="510751"/>
                  </a:lnTo>
                  <a:lnTo>
                    <a:pt x="584200" y="457700"/>
                  </a:lnTo>
                  <a:lnTo>
                    <a:pt x="596900" y="405200"/>
                  </a:lnTo>
                  <a:lnTo>
                    <a:pt x="609600" y="353815"/>
                  </a:lnTo>
                  <a:lnTo>
                    <a:pt x="622300" y="304120"/>
                  </a:lnTo>
                  <a:lnTo>
                    <a:pt x="635000" y="256658"/>
                  </a:lnTo>
                  <a:lnTo>
                    <a:pt x="647700" y="211940"/>
                  </a:lnTo>
                  <a:lnTo>
                    <a:pt x="660400" y="170454"/>
                  </a:lnTo>
                  <a:lnTo>
                    <a:pt x="673100" y="132658"/>
                  </a:lnTo>
                  <a:lnTo>
                    <a:pt x="698500" y="69755"/>
                  </a:lnTo>
                  <a:lnTo>
                    <a:pt x="723900" y="25951"/>
                  </a:lnTo>
                  <a:lnTo>
                    <a:pt x="762000" y="15"/>
                  </a:lnTo>
                  <a:lnTo>
                    <a:pt x="774700" y="2402"/>
                  </a:lnTo>
                  <a:lnTo>
                    <a:pt x="812800" y="42338"/>
                  </a:lnTo>
                  <a:lnTo>
                    <a:pt x="838200" y="94653"/>
                  </a:lnTo>
                  <a:lnTo>
                    <a:pt x="863600" y="164997"/>
                  </a:lnTo>
                  <a:lnTo>
                    <a:pt x="876300" y="205995"/>
                  </a:lnTo>
                  <a:lnTo>
                    <a:pt x="889000" y="250294"/>
                  </a:lnTo>
                  <a:lnTo>
                    <a:pt x="901700" y="297415"/>
                  </a:lnTo>
                  <a:lnTo>
                    <a:pt x="914400" y="346831"/>
                  </a:lnTo>
                  <a:lnTo>
                    <a:pt x="927100" y="398014"/>
                  </a:lnTo>
                  <a:lnTo>
                    <a:pt x="939800" y="450398"/>
                  </a:lnTo>
                  <a:lnTo>
                    <a:pt x="952500" y="503411"/>
                  </a:lnTo>
                  <a:lnTo>
                    <a:pt x="965200" y="556469"/>
                  </a:lnTo>
                  <a:lnTo>
                    <a:pt x="977900" y="609001"/>
                  </a:lnTo>
                  <a:lnTo>
                    <a:pt x="990600" y="660432"/>
                  </a:lnTo>
                  <a:lnTo>
                    <a:pt x="1003300" y="710196"/>
                  </a:lnTo>
                  <a:lnTo>
                    <a:pt x="1016000" y="757744"/>
                  </a:lnTo>
                  <a:lnTo>
                    <a:pt x="1028700" y="802571"/>
                  </a:lnTo>
                  <a:lnTo>
                    <a:pt x="1041400" y="844173"/>
                  </a:lnTo>
                  <a:lnTo>
                    <a:pt x="1054100" y="882101"/>
                  </a:lnTo>
                  <a:lnTo>
                    <a:pt x="1079500" y="945314"/>
                  </a:lnTo>
                  <a:lnTo>
                    <a:pt x="1104900" y="989466"/>
                  </a:lnTo>
                  <a:lnTo>
                    <a:pt x="1143000" y="1015969"/>
                  </a:lnTo>
                  <a:lnTo>
                    <a:pt x="1155700" y="1013767"/>
                  </a:lnTo>
                  <a:lnTo>
                    <a:pt x="1193800" y="974390"/>
                  </a:lnTo>
                  <a:lnTo>
                    <a:pt x="1219200" y="922408"/>
                  </a:lnTo>
                  <a:lnTo>
                    <a:pt x="1244600" y="852351"/>
                  </a:lnTo>
                  <a:lnTo>
                    <a:pt x="1257300" y="811477"/>
                  </a:lnTo>
                  <a:lnTo>
                    <a:pt x="1270000" y="767286"/>
                  </a:lnTo>
                  <a:lnTo>
                    <a:pt x="1282700" y="720258"/>
                  </a:lnTo>
                  <a:lnTo>
                    <a:pt x="1295400" y="670912"/>
                  </a:lnTo>
                  <a:lnTo>
                    <a:pt x="1308100" y="619783"/>
                  </a:lnTo>
                  <a:lnTo>
                    <a:pt x="1320800" y="567430"/>
                  </a:lnTo>
                  <a:lnTo>
                    <a:pt x="1333500" y="514425"/>
                  </a:lnTo>
                  <a:lnTo>
                    <a:pt x="1346200" y="461359"/>
                  </a:lnTo>
                  <a:lnTo>
                    <a:pt x="1358900" y="408796"/>
                  </a:lnTo>
                  <a:lnTo>
                    <a:pt x="1371600" y="357319"/>
                  </a:lnTo>
                  <a:lnTo>
                    <a:pt x="1384300" y="307492"/>
                  </a:lnTo>
                  <a:lnTo>
                    <a:pt x="1397000" y="259852"/>
                  </a:lnTo>
                  <a:lnTo>
                    <a:pt x="1409700" y="214932"/>
                  </a:lnTo>
                  <a:lnTo>
                    <a:pt x="1422400" y="173206"/>
                  </a:lnTo>
                  <a:lnTo>
                    <a:pt x="1435100" y="135146"/>
                  </a:lnTo>
                  <a:lnTo>
                    <a:pt x="1460500" y="71623"/>
                  </a:lnTo>
                  <a:lnTo>
                    <a:pt x="1485900" y="27122"/>
                  </a:lnTo>
                  <a:lnTo>
                    <a:pt x="1511300" y="3596"/>
                  </a:lnTo>
                  <a:lnTo>
                    <a:pt x="1524000" y="54"/>
                  </a:lnTo>
                </a:path>
              </a:pathLst>
            </a:custGeom>
            <a:ln w="6326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76949" y="2023457"/>
              <a:ext cx="1574800" cy="936625"/>
            </a:xfrm>
            <a:custGeom>
              <a:avLst/>
              <a:gdLst/>
              <a:ahLst/>
              <a:cxnLst/>
              <a:rect l="l" t="t" r="r" b="b"/>
              <a:pathLst>
                <a:path w="1574800" h="936625">
                  <a:moveTo>
                    <a:pt x="0" y="494067"/>
                  </a:moveTo>
                  <a:lnTo>
                    <a:pt x="25400" y="468667"/>
                  </a:lnTo>
                  <a:lnTo>
                    <a:pt x="0" y="443267"/>
                  </a:lnTo>
                  <a:lnTo>
                    <a:pt x="25400" y="468667"/>
                  </a:lnTo>
                  <a:lnTo>
                    <a:pt x="50800" y="494067"/>
                  </a:lnTo>
                  <a:lnTo>
                    <a:pt x="25400" y="468667"/>
                  </a:lnTo>
                  <a:lnTo>
                    <a:pt x="50800" y="443267"/>
                  </a:lnTo>
                </a:path>
                <a:path w="1574800" h="936625">
                  <a:moveTo>
                    <a:pt x="127000" y="933699"/>
                  </a:moveTo>
                  <a:lnTo>
                    <a:pt x="152400" y="908299"/>
                  </a:lnTo>
                  <a:lnTo>
                    <a:pt x="127000" y="882899"/>
                  </a:lnTo>
                  <a:lnTo>
                    <a:pt x="152400" y="908299"/>
                  </a:lnTo>
                  <a:lnTo>
                    <a:pt x="177800" y="933699"/>
                  </a:lnTo>
                  <a:lnTo>
                    <a:pt x="152400" y="908299"/>
                  </a:lnTo>
                  <a:lnTo>
                    <a:pt x="177800" y="882899"/>
                  </a:lnTo>
                </a:path>
                <a:path w="1574800" h="936625">
                  <a:moveTo>
                    <a:pt x="254000" y="934621"/>
                  </a:moveTo>
                  <a:lnTo>
                    <a:pt x="279400" y="909221"/>
                  </a:lnTo>
                  <a:lnTo>
                    <a:pt x="254000" y="883821"/>
                  </a:lnTo>
                  <a:lnTo>
                    <a:pt x="279400" y="909221"/>
                  </a:lnTo>
                  <a:lnTo>
                    <a:pt x="304800" y="934621"/>
                  </a:lnTo>
                  <a:lnTo>
                    <a:pt x="279400" y="909221"/>
                  </a:lnTo>
                  <a:lnTo>
                    <a:pt x="304800" y="883821"/>
                  </a:lnTo>
                </a:path>
                <a:path w="1574800" h="936625">
                  <a:moveTo>
                    <a:pt x="381000" y="495904"/>
                  </a:moveTo>
                  <a:lnTo>
                    <a:pt x="406400" y="470504"/>
                  </a:lnTo>
                  <a:lnTo>
                    <a:pt x="381000" y="445104"/>
                  </a:lnTo>
                  <a:lnTo>
                    <a:pt x="406400" y="470504"/>
                  </a:lnTo>
                  <a:lnTo>
                    <a:pt x="431800" y="495904"/>
                  </a:lnTo>
                  <a:lnTo>
                    <a:pt x="406400" y="470504"/>
                  </a:lnTo>
                  <a:lnTo>
                    <a:pt x="431800" y="445104"/>
                  </a:lnTo>
                </a:path>
                <a:path w="1574800" h="936625">
                  <a:moveTo>
                    <a:pt x="508000" y="55357"/>
                  </a:moveTo>
                  <a:lnTo>
                    <a:pt x="533400" y="29957"/>
                  </a:lnTo>
                  <a:lnTo>
                    <a:pt x="508000" y="4557"/>
                  </a:lnTo>
                  <a:lnTo>
                    <a:pt x="533400" y="29957"/>
                  </a:lnTo>
                  <a:lnTo>
                    <a:pt x="558800" y="55357"/>
                  </a:lnTo>
                  <a:lnTo>
                    <a:pt x="533400" y="29957"/>
                  </a:lnTo>
                  <a:lnTo>
                    <a:pt x="558800" y="4557"/>
                  </a:lnTo>
                </a:path>
                <a:path w="1574800" h="936625">
                  <a:moveTo>
                    <a:pt x="635000" y="52606"/>
                  </a:moveTo>
                  <a:lnTo>
                    <a:pt x="660400" y="27206"/>
                  </a:lnTo>
                  <a:lnTo>
                    <a:pt x="635000" y="1806"/>
                  </a:lnTo>
                  <a:lnTo>
                    <a:pt x="660400" y="27206"/>
                  </a:lnTo>
                  <a:lnTo>
                    <a:pt x="685800" y="52606"/>
                  </a:lnTo>
                  <a:lnTo>
                    <a:pt x="660400" y="27206"/>
                  </a:lnTo>
                  <a:lnTo>
                    <a:pt x="685800" y="1806"/>
                  </a:lnTo>
                </a:path>
                <a:path w="1574800" h="936625">
                  <a:moveTo>
                    <a:pt x="762000" y="490393"/>
                  </a:moveTo>
                  <a:lnTo>
                    <a:pt x="787400" y="464993"/>
                  </a:lnTo>
                  <a:lnTo>
                    <a:pt x="762000" y="439593"/>
                  </a:lnTo>
                  <a:lnTo>
                    <a:pt x="787400" y="464993"/>
                  </a:lnTo>
                  <a:lnTo>
                    <a:pt x="812800" y="490393"/>
                  </a:lnTo>
                  <a:lnTo>
                    <a:pt x="787400" y="464993"/>
                  </a:lnTo>
                  <a:lnTo>
                    <a:pt x="812800" y="439593"/>
                  </a:lnTo>
                </a:path>
                <a:path w="1574800" h="936625">
                  <a:moveTo>
                    <a:pt x="889000" y="931847"/>
                  </a:moveTo>
                  <a:lnTo>
                    <a:pt x="914400" y="906447"/>
                  </a:lnTo>
                  <a:lnTo>
                    <a:pt x="889000" y="881047"/>
                  </a:lnTo>
                  <a:lnTo>
                    <a:pt x="914400" y="906447"/>
                  </a:lnTo>
                  <a:lnTo>
                    <a:pt x="939800" y="931847"/>
                  </a:lnTo>
                  <a:lnTo>
                    <a:pt x="914400" y="906447"/>
                  </a:lnTo>
                  <a:lnTo>
                    <a:pt x="939800" y="881047"/>
                  </a:lnTo>
                </a:path>
                <a:path w="1574800" h="936625">
                  <a:moveTo>
                    <a:pt x="1016000" y="936435"/>
                  </a:moveTo>
                  <a:lnTo>
                    <a:pt x="1041400" y="911035"/>
                  </a:lnTo>
                  <a:lnTo>
                    <a:pt x="1016000" y="885635"/>
                  </a:lnTo>
                  <a:lnTo>
                    <a:pt x="1041400" y="911035"/>
                  </a:lnTo>
                  <a:lnTo>
                    <a:pt x="1066800" y="936435"/>
                  </a:lnTo>
                  <a:lnTo>
                    <a:pt x="1041400" y="911035"/>
                  </a:lnTo>
                  <a:lnTo>
                    <a:pt x="1066800" y="885635"/>
                  </a:lnTo>
                </a:path>
                <a:path w="1574800" h="936625">
                  <a:moveTo>
                    <a:pt x="1143000" y="499578"/>
                  </a:moveTo>
                  <a:lnTo>
                    <a:pt x="1168400" y="474178"/>
                  </a:lnTo>
                  <a:lnTo>
                    <a:pt x="1143000" y="448778"/>
                  </a:lnTo>
                  <a:lnTo>
                    <a:pt x="1168400" y="474178"/>
                  </a:lnTo>
                  <a:lnTo>
                    <a:pt x="1193800" y="499578"/>
                  </a:lnTo>
                  <a:lnTo>
                    <a:pt x="1168400" y="474178"/>
                  </a:lnTo>
                  <a:lnTo>
                    <a:pt x="1193800" y="448778"/>
                  </a:lnTo>
                </a:path>
                <a:path w="1574800" h="936625">
                  <a:moveTo>
                    <a:pt x="1270000" y="57218"/>
                  </a:moveTo>
                  <a:lnTo>
                    <a:pt x="1295400" y="31818"/>
                  </a:lnTo>
                  <a:lnTo>
                    <a:pt x="1270000" y="6418"/>
                  </a:lnTo>
                  <a:lnTo>
                    <a:pt x="1295400" y="31818"/>
                  </a:lnTo>
                  <a:lnTo>
                    <a:pt x="1320800" y="57218"/>
                  </a:lnTo>
                  <a:lnTo>
                    <a:pt x="1295400" y="31818"/>
                  </a:lnTo>
                  <a:lnTo>
                    <a:pt x="1320800" y="6418"/>
                  </a:lnTo>
                </a:path>
                <a:path w="1574800" h="936625">
                  <a:moveTo>
                    <a:pt x="1397000" y="50799"/>
                  </a:moveTo>
                  <a:lnTo>
                    <a:pt x="1422400" y="25399"/>
                  </a:lnTo>
                  <a:lnTo>
                    <a:pt x="1397000" y="0"/>
                  </a:lnTo>
                  <a:lnTo>
                    <a:pt x="1422400" y="25399"/>
                  </a:lnTo>
                  <a:lnTo>
                    <a:pt x="1447800" y="50799"/>
                  </a:lnTo>
                  <a:lnTo>
                    <a:pt x="1422400" y="25399"/>
                  </a:lnTo>
                  <a:lnTo>
                    <a:pt x="1447800" y="0"/>
                  </a:lnTo>
                </a:path>
                <a:path w="1574800" h="936625">
                  <a:moveTo>
                    <a:pt x="1524000" y="486719"/>
                  </a:moveTo>
                  <a:lnTo>
                    <a:pt x="1549400" y="461319"/>
                  </a:lnTo>
                  <a:lnTo>
                    <a:pt x="1524000" y="435919"/>
                  </a:lnTo>
                  <a:lnTo>
                    <a:pt x="1549400" y="461319"/>
                  </a:lnTo>
                  <a:lnTo>
                    <a:pt x="1574800" y="486719"/>
                  </a:lnTo>
                  <a:lnTo>
                    <a:pt x="1549400" y="461319"/>
                  </a:lnTo>
                  <a:lnTo>
                    <a:pt x="1574800" y="435919"/>
                  </a:lnTo>
                </a:path>
              </a:pathLst>
            </a:custGeom>
            <a:ln w="1265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02349" y="1984132"/>
              <a:ext cx="1524000" cy="1016000"/>
            </a:xfrm>
            <a:custGeom>
              <a:avLst/>
              <a:gdLst/>
              <a:ahLst/>
              <a:cxnLst/>
              <a:rect l="l" t="t" r="r" b="b"/>
              <a:pathLst>
                <a:path w="1524000" h="1016000">
                  <a:moveTo>
                    <a:pt x="0" y="507992"/>
                  </a:moveTo>
                  <a:lnTo>
                    <a:pt x="12700" y="561035"/>
                  </a:lnTo>
                  <a:lnTo>
                    <a:pt x="25400" y="613489"/>
                  </a:lnTo>
                  <a:lnTo>
                    <a:pt x="38100" y="664796"/>
                  </a:lnTo>
                  <a:lnTo>
                    <a:pt x="50800" y="714390"/>
                  </a:lnTo>
                  <a:lnTo>
                    <a:pt x="63500" y="761728"/>
                  </a:lnTo>
                  <a:lnTo>
                    <a:pt x="76200" y="806291"/>
                  </a:lnTo>
                  <a:lnTo>
                    <a:pt x="88900" y="847591"/>
                  </a:lnTo>
                  <a:lnTo>
                    <a:pt x="101600" y="885178"/>
                  </a:lnTo>
                  <a:lnTo>
                    <a:pt x="127000" y="947624"/>
                  </a:lnTo>
                  <a:lnTo>
                    <a:pt x="152400" y="990900"/>
                  </a:lnTo>
                  <a:lnTo>
                    <a:pt x="190500" y="1015992"/>
                  </a:lnTo>
                  <a:lnTo>
                    <a:pt x="203200" y="1013310"/>
                  </a:lnTo>
                  <a:lnTo>
                    <a:pt x="241300" y="972545"/>
                  </a:lnTo>
                  <a:lnTo>
                    <a:pt x="266700" y="919726"/>
                  </a:lnTo>
                  <a:lnTo>
                    <a:pt x="292100" y="848955"/>
                  </a:lnTo>
                  <a:lnTo>
                    <a:pt x="304800" y="807772"/>
                  </a:lnTo>
                  <a:lnTo>
                    <a:pt x="317500" y="763317"/>
                  </a:lnTo>
                  <a:lnTo>
                    <a:pt x="330200" y="716064"/>
                  </a:lnTo>
                  <a:lnTo>
                    <a:pt x="342900" y="666540"/>
                  </a:lnTo>
                  <a:lnTo>
                    <a:pt x="355600" y="615288"/>
                  </a:lnTo>
                  <a:lnTo>
                    <a:pt x="368300" y="562857"/>
                  </a:lnTo>
                  <a:lnTo>
                    <a:pt x="381000" y="509829"/>
                  </a:lnTo>
                  <a:lnTo>
                    <a:pt x="393700" y="456778"/>
                  </a:lnTo>
                  <a:lnTo>
                    <a:pt x="406400" y="404293"/>
                  </a:lnTo>
                  <a:lnTo>
                    <a:pt x="419100" y="352931"/>
                  </a:lnTo>
                  <a:lnTo>
                    <a:pt x="431800" y="303276"/>
                  </a:lnTo>
                  <a:lnTo>
                    <a:pt x="444500" y="255852"/>
                  </a:lnTo>
                  <a:lnTo>
                    <a:pt x="457200" y="211180"/>
                  </a:lnTo>
                  <a:lnTo>
                    <a:pt x="469900" y="169764"/>
                  </a:lnTo>
                  <a:lnTo>
                    <a:pt x="482600" y="132038"/>
                  </a:lnTo>
                  <a:lnTo>
                    <a:pt x="508000" y="69282"/>
                  </a:lnTo>
                  <a:lnTo>
                    <a:pt x="533400" y="25657"/>
                  </a:lnTo>
                  <a:lnTo>
                    <a:pt x="571500" y="0"/>
                  </a:lnTo>
                  <a:lnTo>
                    <a:pt x="584200" y="2488"/>
                  </a:lnTo>
                  <a:lnTo>
                    <a:pt x="622300" y="42695"/>
                  </a:lnTo>
                  <a:lnTo>
                    <a:pt x="647700" y="95180"/>
                  </a:lnTo>
                  <a:lnTo>
                    <a:pt x="673100" y="165672"/>
                  </a:lnTo>
                  <a:lnTo>
                    <a:pt x="685800" y="206731"/>
                  </a:lnTo>
                  <a:lnTo>
                    <a:pt x="698500" y="251077"/>
                  </a:lnTo>
                  <a:lnTo>
                    <a:pt x="711200" y="298245"/>
                  </a:lnTo>
                  <a:lnTo>
                    <a:pt x="723900" y="347699"/>
                  </a:lnTo>
                  <a:lnTo>
                    <a:pt x="736600" y="398898"/>
                  </a:lnTo>
                  <a:lnTo>
                    <a:pt x="749300" y="451298"/>
                  </a:lnTo>
                  <a:lnTo>
                    <a:pt x="762000" y="504318"/>
                  </a:lnTo>
                  <a:lnTo>
                    <a:pt x="774700" y="557376"/>
                  </a:lnTo>
                  <a:lnTo>
                    <a:pt x="787400" y="609892"/>
                  </a:lnTo>
                  <a:lnTo>
                    <a:pt x="800100" y="661300"/>
                  </a:lnTo>
                  <a:lnTo>
                    <a:pt x="812800" y="711026"/>
                  </a:lnTo>
                  <a:lnTo>
                    <a:pt x="825500" y="758535"/>
                  </a:lnTo>
                  <a:lnTo>
                    <a:pt x="838200" y="803307"/>
                  </a:lnTo>
                  <a:lnTo>
                    <a:pt x="850900" y="844847"/>
                  </a:lnTo>
                  <a:lnTo>
                    <a:pt x="863600" y="882713"/>
                  </a:lnTo>
                  <a:lnTo>
                    <a:pt x="889000" y="945771"/>
                  </a:lnTo>
                  <a:lnTo>
                    <a:pt x="914400" y="989745"/>
                  </a:lnTo>
                  <a:lnTo>
                    <a:pt x="952500" y="1015969"/>
                  </a:lnTo>
                  <a:lnTo>
                    <a:pt x="965200" y="1013674"/>
                  </a:lnTo>
                  <a:lnTo>
                    <a:pt x="1003300" y="974018"/>
                  </a:lnTo>
                  <a:lnTo>
                    <a:pt x="1028700" y="921866"/>
                  </a:lnTo>
                  <a:lnTo>
                    <a:pt x="1054100" y="851668"/>
                  </a:lnTo>
                  <a:lnTo>
                    <a:pt x="1066800" y="810733"/>
                  </a:lnTo>
                  <a:lnTo>
                    <a:pt x="1079500" y="766488"/>
                  </a:lnTo>
                  <a:lnTo>
                    <a:pt x="1092200" y="719413"/>
                  </a:lnTo>
                  <a:lnTo>
                    <a:pt x="1104900" y="670028"/>
                  </a:lnTo>
                  <a:lnTo>
                    <a:pt x="1117600" y="618876"/>
                  </a:lnTo>
                  <a:lnTo>
                    <a:pt x="1130300" y="566508"/>
                  </a:lnTo>
                  <a:lnTo>
                    <a:pt x="1143000" y="513503"/>
                  </a:lnTo>
                  <a:lnTo>
                    <a:pt x="1155700" y="460437"/>
                  </a:lnTo>
                  <a:lnTo>
                    <a:pt x="1168400" y="407889"/>
                  </a:lnTo>
                  <a:lnTo>
                    <a:pt x="1181100" y="356435"/>
                  </a:lnTo>
                  <a:lnTo>
                    <a:pt x="1193800" y="306640"/>
                  </a:lnTo>
                  <a:lnTo>
                    <a:pt x="1206500" y="259046"/>
                  </a:lnTo>
                  <a:lnTo>
                    <a:pt x="1219200" y="214172"/>
                  </a:lnTo>
                  <a:lnTo>
                    <a:pt x="1231900" y="172508"/>
                  </a:lnTo>
                  <a:lnTo>
                    <a:pt x="1244600" y="134518"/>
                  </a:lnTo>
                  <a:lnTo>
                    <a:pt x="1270000" y="71142"/>
                  </a:lnTo>
                  <a:lnTo>
                    <a:pt x="1295400" y="26820"/>
                  </a:lnTo>
                  <a:lnTo>
                    <a:pt x="1333500" y="30"/>
                  </a:lnTo>
                  <a:lnTo>
                    <a:pt x="1346200" y="2139"/>
                  </a:lnTo>
                  <a:lnTo>
                    <a:pt x="1384300" y="41237"/>
                  </a:lnTo>
                  <a:lnTo>
                    <a:pt x="1409700" y="93056"/>
                  </a:lnTo>
                  <a:lnTo>
                    <a:pt x="1435100" y="162966"/>
                  </a:lnTo>
                  <a:lnTo>
                    <a:pt x="1447800" y="203778"/>
                  </a:lnTo>
                  <a:lnTo>
                    <a:pt x="1460500" y="247915"/>
                  </a:lnTo>
                  <a:lnTo>
                    <a:pt x="1473200" y="294904"/>
                  </a:lnTo>
                  <a:lnTo>
                    <a:pt x="1485900" y="344211"/>
                  </a:lnTo>
                  <a:lnTo>
                    <a:pt x="1498600" y="395316"/>
                  </a:lnTo>
                  <a:lnTo>
                    <a:pt x="1511300" y="447647"/>
                  </a:lnTo>
                  <a:lnTo>
                    <a:pt x="1524000" y="500643"/>
                  </a:lnTo>
                </a:path>
              </a:pathLst>
            </a:custGeom>
            <a:ln w="632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427930" y="2370207"/>
            <a:ext cx="10922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0" dirty="0"/>
              <a:t>Complex</a:t>
            </a:r>
            <a:r>
              <a:rPr spc="220" dirty="0"/>
              <a:t> </a:t>
            </a:r>
            <a:r>
              <a:rPr spc="55" dirty="0"/>
              <a:t>Poles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430" y="345358"/>
            <a:ext cx="4366895" cy="43180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75"/>
              </a:spcBef>
            </a:pPr>
            <a:r>
              <a:rPr sz="1100" spc="65" dirty="0">
                <a:latin typeface="Arial"/>
                <a:cs typeface="Arial"/>
              </a:rPr>
              <a:t>Complex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modes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easier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130" dirty="0">
                <a:latin typeface="Arial"/>
                <a:cs typeface="Arial"/>
              </a:rPr>
              <a:t>to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visualize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in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complex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40" dirty="0">
                <a:latin typeface="Arial"/>
                <a:cs typeface="Arial"/>
              </a:rPr>
              <a:t>plane.</a:t>
            </a:r>
            <a:endParaRPr sz="1100">
              <a:latin typeface="Arial"/>
              <a:cs typeface="Arial"/>
            </a:endParaRPr>
          </a:p>
          <a:p>
            <a:pPr marL="1423670">
              <a:lnSpc>
                <a:spcPct val="100000"/>
              </a:lnSpc>
              <a:spcBef>
                <a:spcPts val="280"/>
              </a:spcBef>
            </a:pPr>
            <a:r>
              <a:rPr sz="1100" i="1" spc="-25" dirty="0">
                <a:solidFill>
                  <a:srgbClr val="009900"/>
                </a:solidFill>
                <a:latin typeface="Georgia"/>
                <a:cs typeface="Georgia"/>
              </a:rPr>
              <a:t>e</a:t>
            </a:r>
            <a:r>
              <a:rPr sz="1100" i="1" spc="-90" dirty="0">
                <a:solidFill>
                  <a:srgbClr val="009900"/>
                </a:solidFill>
                <a:latin typeface="Georgia"/>
                <a:cs typeface="Georgia"/>
              </a:rPr>
              <a:t> </a:t>
            </a:r>
            <a:r>
              <a:rPr sz="1350" i="1" baseline="24691" dirty="0">
                <a:solidFill>
                  <a:srgbClr val="009900"/>
                </a:solidFill>
                <a:latin typeface="Georgia"/>
                <a:cs typeface="Georgia"/>
              </a:rPr>
              <a:t>jnπ/</a:t>
            </a:r>
            <a:r>
              <a:rPr sz="1350" baseline="24691" dirty="0">
                <a:solidFill>
                  <a:srgbClr val="009900"/>
                </a:solidFill>
                <a:latin typeface="Palatino Linotype"/>
                <a:cs typeface="Palatino Linotype"/>
              </a:rPr>
              <a:t>3</a:t>
            </a:r>
            <a:r>
              <a:rPr sz="1350" spc="284" baseline="24691" dirty="0">
                <a:solidFill>
                  <a:srgbClr val="009900"/>
                </a:solidFill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80" dirty="0">
                <a:latin typeface="Palatino Linotype"/>
                <a:cs typeface="Palatino Linotype"/>
              </a:rPr>
              <a:t> </a:t>
            </a:r>
            <a:r>
              <a:rPr sz="1100" dirty="0">
                <a:solidFill>
                  <a:srgbClr val="0000CC"/>
                </a:solidFill>
                <a:latin typeface="Palatino Linotype"/>
                <a:cs typeface="Palatino Linotype"/>
              </a:rPr>
              <a:t>cos(</a:t>
            </a:r>
            <a:r>
              <a:rPr sz="1100" i="1" dirty="0">
                <a:solidFill>
                  <a:srgbClr val="0000CC"/>
                </a:solidFill>
                <a:latin typeface="Georgia"/>
                <a:cs typeface="Georgia"/>
              </a:rPr>
              <a:t>nπ/</a:t>
            </a:r>
            <a:r>
              <a:rPr sz="1100" dirty="0">
                <a:solidFill>
                  <a:srgbClr val="0000CC"/>
                </a:solidFill>
                <a:latin typeface="Palatino Linotype"/>
                <a:cs typeface="Palatino Linotype"/>
              </a:rPr>
              <a:t>3)</a:t>
            </a:r>
            <a:r>
              <a:rPr sz="1100" spc="5" dirty="0">
                <a:solidFill>
                  <a:srgbClr val="0000CC"/>
                </a:solidFill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10" dirty="0">
                <a:latin typeface="Palatino Linotype"/>
                <a:cs typeface="Palatino Linotype"/>
              </a:rPr>
              <a:t> </a:t>
            </a:r>
            <a:r>
              <a:rPr sz="1100" i="1" spc="120" dirty="0">
                <a:solidFill>
                  <a:srgbClr val="FF0000"/>
                </a:solidFill>
                <a:latin typeface="Georgia"/>
                <a:cs typeface="Georgia"/>
              </a:rPr>
              <a:t>j</a:t>
            </a:r>
            <a:r>
              <a:rPr sz="1100" i="1" spc="2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Palatino Linotype"/>
                <a:cs typeface="Palatino Linotype"/>
              </a:rPr>
              <a:t>sin(</a:t>
            </a:r>
            <a:r>
              <a:rPr sz="1100" i="1" spc="-10" dirty="0">
                <a:solidFill>
                  <a:srgbClr val="FF0000"/>
                </a:solidFill>
                <a:latin typeface="Georgia"/>
                <a:cs typeface="Georgia"/>
              </a:rPr>
              <a:t>nπ/</a:t>
            </a:r>
            <a:r>
              <a:rPr sz="1100" spc="-10" dirty="0">
                <a:solidFill>
                  <a:srgbClr val="FF0000"/>
                </a:solidFill>
                <a:latin typeface="Palatino Linotype"/>
                <a:cs typeface="Palatino Linotype"/>
              </a:rPr>
              <a:t>3)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2846" y="930231"/>
            <a:ext cx="1524000" cy="1143000"/>
          </a:xfrm>
          <a:custGeom>
            <a:avLst/>
            <a:gdLst/>
            <a:ahLst/>
            <a:cxnLst/>
            <a:rect l="l" t="t" r="r" b="b"/>
            <a:pathLst>
              <a:path w="1524000" h="1143000">
                <a:moveTo>
                  <a:pt x="0" y="508000"/>
                </a:moveTo>
                <a:lnTo>
                  <a:pt x="1524000" y="508000"/>
                </a:lnTo>
              </a:path>
              <a:path w="1524000" h="1143000">
                <a:moveTo>
                  <a:pt x="762000" y="1143000"/>
                </a:moveTo>
                <a:lnTo>
                  <a:pt x="762000" y="0"/>
                </a:lnTo>
              </a:path>
              <a:path w="1524000" h="1143000">
                <a:moveTo>
                  <a:pt x="1270000" y="508000"/>
                </a:moveTo>
                <a:lnTo>
                  <a:pt x="1267513" y="457788"/>
                </a:lnTo>
                <a:lnTo>
                  <a:pt x="1260147" y="408429"/>
                </a:lnTo>
                <a:lnTo>
                  <a:pt x="1248038" y="360254"/>
                </a:lnTo>
                <a:lnTo>
                  <a:pt x="1231325" y="313597"/>
                </a:lnTo>
                <a:lnTo>
                  <a:pt x="1210147" y="268789"/>
                </a:lnTo>
                <a:lnTo>
                  <a:pt x="1184642" y="226165"/>
                </a:lnTo>
                <a:lnTo>
                  <a:pt x="1154948" y="186056"/>
                </a:lnTo>
                <a:lnTo>
                  <a:pt x="1121202" y="148797"/>
                </a:lnTo>
                <a:lnTo>
                  <a:pt x="1083943" y="115051"/>
                </a:lnTo>
                <a:lnTo>
                  <a:pt x="1043834" y="85357"/>
                </a:lnTo>
                <a:lnTo>
                  <a:pt x="1001210" y="59852"/>
                </a:lnTo>
                <a:lnTo>
                  <a:pt x="956402" y="38674"/>
                </a:lnTo>
                <a:lnTo>
                  <a:pt x="909745" y="21961"/>
                </a:lnTo>
                <a:lnTo>
                  <a:pt x="861570" y="9852"/>
                </a:lnTo>
                <a:lnTo>
                  <a:pt x="812211" y="2486"/>
                </a:lnTo>
                <a:lnTo>
                  <a:pt x="762000" y="0"/>
                </a:lnTo>
                <a:lnTo>
                  <a:pt x="711788" y="2486"/>
                </a:lnTo>
                <a:lnTo>
                  <a:pt x="662429" y="9852"/>
                </a:lnTo>
                <a:lnTo>
                  <a:pt x="614254" y="21961"/>
                </a:lnTo>
                <a:lnTo>
                  <a:pt x="567597" y="38674"/>
                </a:lnTo>
                <a:lnTo>
                  <a:pt x="522789" y="59852"/>
                </a:lnTo>
                <a:lnTo>
                  <a:pt x="480165" y="85357"/>
                </a:lnTo>
                <a:lnTo>
                  <a:pt x="440056" y="115051"/>
                </a:lnTo>
                <a:lnTo>
                  <a:pt x="402797" y="148797"/>
                </a:lnTo>
                <a:lnTo>
                  <a:pt x="369051" y="186056"/>
                </a:lnTo>
                <a:lnTo>
                  <a:pt x="339357" y="226165"/>
                </a:lnTo>
                <a:lnTo>
                  <a:pt x="313852" y="268789"/>
                </a:lnTo>
                <a:lnTo>
                  <a:pt x="292674" y="313597"/>
                </a:lnTo>
                <a:lnTo>
                  <a:pt x="275961" y="360254"/>
                </a:lnTo>
                <a:lnTo>
                  <a:pt x="263852" y="408429"/>
                </a:lnTo>
                <a:lnTo>
                  <a:pt x="256486" y="457788"/>
                </a:lnTo>
                <a:lnTo>
                  <a:pt x="254000" y="508000"/>
                </a:lnTo>
                <a:lnTo>
                  <a:pt x="256486" y="558211"/>
                </a:lnTo>
                <a:lnTo>
                  <a:pt x="263852" y="607570"/>
                </a:lnTo>
                <a:lnTo>
                  <a:pt x="275961" y="655745"/>
                </a:lnTo>
                <a:lnTo>
                  <a:pt x="292674" y="702402"/>
                </a:lnTo>
                <a:lnTo>
                  <a:pt x="313852" y="747210"/>
                </a:lnTo>
                <a:lnTo>
                  <a:pt x="339357" y="789834"/>
                </a:lnTo>
                <a:lnTo>
                  <a:pt x="369051" y="829943"/>
                </a:lnTo>
                <a:lnTo>
                  <a:pt x="402797" y="867202"/>
                </a:lnTo>
                <a:lnTo>
                  <a:pt x="440056" y="900948"/>
                </a:lnTo>
                <a:lnTo>
                  <a:pt x="480165" y="930642"/>
                </a:lnTo>
                <a:lnTo>
                  <a:pt x="522789" y="956147"/>
                </a:lnTo>
                <a:lnTo>
                  <a:pt x="567597" y="977325"/>
                </a:lnTo>
                <a:lnTo>
                  <a:pt x="614254" y="994038"/>
                </a:lnTo>
                <a:lnTo>
                  <a:pt x="662429" y="1006147"/>
                </a:lnTo>
                <a:lnTo>
                  <a:pt x="711788" y="1013513"/>
                </a:lnTo>
                <a:lnTo>
                  <a:pt x="762000" y="1016000"/>
                </a:lnTo>
                <a:lnTo>
                  <a:pt x="812211" y="1013513"/>
                </a:lnTo>
                <a:lnTo>
                  <a:pt x="861570" y="1006147"/>
                </a:lnTo>
                <a:lnTo>
                  <a:pt x="909745" y="994038"/>
                </a:lnTo>
                <a:lnTo>
                  <a:pt x="956402" y="977325"/>
                </a:lnTo>
                <a:lnTo>
                  <a:pt x="1001210" y="956147"/>
                </a:lnTo>
                <a:lnTo>
                  <a:pt x="1043834" y="930642"/>
                </a:lnTo>
                <a:lnTo>
                  <a:pt x="1083943" y="900948"/>
                </a:lnTo>
                <a:lnTo>
                  <a:pt x="1121202" y="867202"/>
                </a:lnTo>
                <a:lnTo>
                  <a:pt x="1154948" y="829943"/>
                </a:lnTo>
                <a:lnTo>
                  <a:pt x="1184642" y="789834"/>
                </a:lnTo>
                <a:lnTo>
                  <a:pt x="1210147" y="747210"/>
                </a:lnTo>
                <a:lnTo>
                  <a:pt x="1231325" y="702402"/>
                </a:lnTo>
                <a:lnTo>
                  <a:pt x="1248038" y="655745"/>
                </a:lnTo>
                <a:lnTo>
                  <a:pt x="1260147" y="607570"/>
                </a:lnTo>
                <a:lnTo>
                  <a:pt x="1267513" y="558211"/>
                </a:lnTo>
                <a:lnTo>
                  <a:pt x="1270000" y="5080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24937" y="1334289"/>
            <a:ext cx="18986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25" dirty="0">
                <a:solidFill>
                  <a:srgbClr val="0000CC"/>
                </a:solidFill>
                <a:latin typeface="Palatino Linotype"/>
                <a:cs typeface="Palatino Linotype"/>
              </a:rPr>
              <a:t>Re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8511" y="727558"/>
            <a:ext cx="1917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25" dirty="0">
                <a:solidFill>
                  <a:srgbClr val="FF0000"/>
                </a:solidFill>
                <a:latin typeface="Palatino Linotype"/>
                <a:cs typeface="Palatino Linotype"/>
              </a:rPr>
              <a:t>Im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91446" y="972277"/>
            <a:ext cx="1066800" cy="932815"/>
          </a:xfrm>
          <a:custGeom>
            <a:avLst/>
            <a:gdLst/>
            <a:ahLst/>
            <a:cxnLst/>
            <a:rect l="l" t="t" r="r" b="b"/>
            <a:pathLst>
              <a:path w="1066800" h="932814">
                <a:moveTo>
                  <a:pt x="1066800" y="465954"/>
                </a:moveTo>
                <a:lnTo>
                  <a:pt x="1066800" y="459217"/>
                </a:lnTo>
                <a:lnTo>
                  <a:pt x="1064123" y="452757"/>
                </a:lnTo>
                <a:lnTo>
                  <a:pt x="1059360" y="447994"/>
                </a:lnTo>
                <a:lnTo>
                  <a:pt x="1054596" y="443231"/>
                </a:lnTo>
                <a:lnTo>
                  <a:pt x="1048136" y="440554"/>
                </a:lnTo>
                <a:lnTo>
                  <a:pt x="1041400" y="440554"/>
                </a:lnTo>
                <a:lnTo>
                  <a:pt x="1034663" y="440554"/>
                </a:lnTo>
                <a:lnTo>
                  <a:pt x="1028203" y="443231"/>
                </a:lnTo>
                <a:lnTo>
                  <a:pt x="1023439" y="447994"/>
                </a:lnTo>
                <a:lnTo>
                  <a:pt x="1018676" y="452757"/>
                </a:lnTo>
                <a:lnTo>
                  <a:pt x="1016000" y="459217"/>
                </a:lnTo>
                <a:lnTo>
                  <a:pt x="1016000" y="465954"/>
                </a:lnTo>
                <a:lnTo>
                  <a:pt x="1016000" y="472691"/>
                </a:lnTo>
                <a:lnTo>
                  <a:pt x="1018676" y="479151"/>
                </a:lnTo>
                <a:lnTo>
                  <a:pt x="1023439" y="483914"/>
                </a:lnTo>
                <a:lnTo>
                  <a:pt x="1028203" y="488677"/>
                </a:lnTo>
                <a:lnTo>
                  <a:pt x="1034663" y="491354"/>
                </a:lnTo>
                <a:lnTo>
                  <a:pt x="1041400" y="491354"/>
                </a:lnTo>
                <a:lnTo>
                  <a:pt x="1048136" y="491354"/>
                </a:lnTo>
                <a:lnTo>
                  <a:pt x="1054596" y="488677"/>
                </a:lnTo>
                <a:lnTo>
                  <a:pt x="1059360" y="483914"/>
                </a:lnTo>
                <a:lnTo>
                  <a:pt x="1064123" y="479151"/>
                </a:lnTo>
                <a:lnTo>
                  <a:pt x="1066800" y="472691"/>
                </a:lnTo>
                <a:lnTo>
                  <a:pt x="1066800" y="465954"/>
                </a:lnTo>
                <a:close/>
              </a:path>
              <a:path w="1066800" h="932814">
                <a:moveTo>
                  <a:pt x="813327" y="26322"/>
                </a:moveTo>
                <a:lnTo>
                  <a:pt x="813327" y="19585"/>
                </a:lnTo>
                <a:lnTo>
                  <a:pt x="810650" y="13125"/>
                </a:lnTo>
                <a:lnTo>
                  <a:pt x="805887" y="8362"/>
                </a:lnTo>
                <a:lnTo>
                  <a:pt x="801124" y="3599"/>
                </a:lnTo>
                <a:lnTo>
                  <a:pt x="794663" y="922"/>
                </a:lnTo>
                <a:lnTo>
                  <a:pt x="787927" y="922"/>
                </a:lnTo>
                <a:lnTo>
                  <a:pt x="781190" y="922"/>
                </a:lnTo>
                <a:lnTo>
                  <a:pt x="774730" y="3599"/>
                </a:lnTo>
                <a:lnTo>
                  <a:pt x="769966" y="8362"/>
                </a:lnTo>
                <a:lnTo>
                  <a:pt x="765203" y="13125"/>
                </a:lnTo>
                <a:lnTo>
                  <a:pt x="762527" y="19585"/>
                </a:lnTo>
                <a:lnTo>
                  <a:pt x="762527" y="26322"/>
                </a:lnTo>
                <a:lnTo>
                  <a:pt x="762527" y="33059"/>
                </a:lnTo>
                <a:lnTo>
                  <a:pt x="765203" y="39519"/>
                </a:lnTo>
                <a:lnTo>
                  <a:pt x="769966" y="44282"/>
                </a:lnTo>
                <a:lnTo>
                  <a:pt x="774730" y="49045"/>
                </a:lnTo>
                <a:lnTo>
                  <a:pt x="781190" y="51722"/>
                </a:lnTo>
                <a:lnTo>
                  <a:pt x="787927" y="51722"/>
                </a:lnTo>
                <a:lnTo>
                  <a:pt x="794663" y="51722"/>
                </a:lnTo>
                <a:lnTo>
                  <a:pt x="801124" y="49045"/>
                </a:lnTo>
                <a:lnTo>
                  <a:pt x="805887" y="44282"/>
                </a:lnTo>
                <a:lnTo>
                  <a:pt x="810650" y="39519"/>
                </a:lnTo>
                <a:lnTo>
                  <a:pt x="813327" y="33059"/>
                </a:lnTo>
                <a:lnTo>
                  <a:pt x="813327" y="26322"/>
                </a:lnTo>
                <a:close/>
              </a:path>
              <a:path w="1066800" h="932814">
                <a:moveTo>
                  <a:pt x="305861" y="25399"/>
                </a:moveTo>
                <a:lnTo>
                  <a:pt x="305861" y="18663"/>
                </a:lnTo>
                <a:lnTo>
                  <a:pt x="303185" y="12203"/>
                </a:lnTo>
                <a:lnTo>
                  <a:pt x="298422" y="7439"/>
                </a:lnTo>
                <a:lnTo>
                  <a:pt x="293658" y="2676"/>
                </a:lnTo>
                <a:lnTo>
                  <a:pt x="287198" y="0"/>
                </a:lnTo>
                <a:lnTo>
                  <a:pt x="280461" y="0"/>
                </a:lnTo>
                <a:lnTo>
                  <a:pt x="273725" y="0"/>
                </a:lnTo>
                <a:lnTo>
                  <a:pt x="267265" y="2676"/>
                </a:lnTo>
                <a:lnTo>
                  <a:pt x="262501" y="7439"/>
                </a:lnTo>
                <a:lnTo>
                  <a:pt x="257738" y="12203"/>
                </a:lnTo>
                <a:lnTo>
                  <a:pt x="255061" y="18663"/>
                </a:lnTo>
                <a:lnTo>
                  <a:pt x="255061" y="25399"/>
                </a:lnTo>
                <a:lnTo>
                  <a:pt x="255061" y="32136"/>
                </a:lnTo>
                <a:lnTo>
                  <a:pt x="257738" y="38596"/>
                </a:lnTo>
                <a:lnTo>
                  <a:pt x="262501" y="43360"/>
                </a:lnTo>
                <a:lnTo>
                  <a:pt x="267265" y="48123"/>
                </a:lnTo>
                <a:lnTo>
                  <a:pt x="273725" y="50799"/>
                </a:lnTo>
                <a:lnTo>
                  <a:pt x="280461" y="50799"/>
                </a:lnTo>
                <a:lnTo>
                  <a:pt x="287198" y="50799"/>
                </a:lnTo>
                <a:lnTo>
                  <a:pt x="293658" y="48123"/>
                </a:lnTo>
                <a:lnTo>
                  <a:pt x="298422" y="43360"/>
                </a:lnTo>
                <a:lnTo>
                  <a:pt x="303185" y="38596"/>
                </a:lnTo>
                <a:lnTo>
                  <a:pt x="305861" y="32136"/>
                </a:lnTo>
                <a:lnTo>
                  <a:pt x="305861" y="25399"/>
                </a:lnTo>
                <a:close/>
              </a:path>
              <a:path w="1066800" h="932814">
                <a:moveTo>
                  <a:pt x="50800" y="464117"/>
                </a:moveTo>
                <a:lnTo>
                  <a:pt x="50800" y="457380"/>
                </a:lnTo>
                <a:lnTo>
                  <a:pt x="48123" y="450920"/>
                </a:lnTo>
                <a:lnTo>
                  <a:pt x="43360" y="446157"/>
                </a:lnTo>
                <a:lnTo>
                  <a:pt x="38596" y="441393"/>
                </a:lnTo>
                <a:lnTo>
                  <a:pt x="32136" y="438717"/>
                </a:lnTo>
                <a:lnTo>
                  <a:pt x="25400" y="438717"/>
                </a:lnTo>
                <a:lnTo>
                  <a:pt x="18663" y="438717"/>
                </a:lnTo>
                <a:lnTo>
                  <a:pt x="12203" y="441393"/>
                </a:lnTo>
                <a:lnTo>
                  <a:pt x="7439" y="446157"/>
                </a:lnTo>
                <a:lnTo>
                  <a:pt x="2676" y="450920"/>
                </a:lnTo>
                <a:lnTo>
                  <a:pt x="0" y="457380"/>
                </a:lnTo>
                <a:lnTo>
                  <a:pt x="0" y="464117"/>
                </a:lnTo>
                <a:lnTo>
                  <a:pt x="0" y="470854"/>
                </a:lnTo>
                <a:lnTo>
                  <a:pt x="2676" y="477314"/>
                </a:lnTo>
                <a:lnTo>
                  <a:pt x="7439" y="482077"/>
                </a:lnTo>
                <a:lnTo>
                  <a:pt x="12203" y="486840"/>
                </a:lnTo>
                <a:lnTo>
                  <a:pt x="18663" y="489517"/>
                </a:lnTo>
                <a:lnTo>
                  <a:pt x="25400" y="489517"/>
                </a:lnTo>
                <a:lnTo>
                  <a:pt x="32136" y="489517"/>
                </a:lnTo>
                <a:lnTo>
                  <a:pt x="38596" y="486840"/>
                </a:lnTo>
                <a:lnTo>
                  <a:pt x="43360" y="482077"/>
                </a:lnTo>
                <a:lnTo>
                  <a:pt x="48123" y="477314"/>
                </a:lnTo>
                <a:lnTo>
                  <a:pt x="50800" y="470854"/>
                </a:lnTo>
                <a:lnTo>
                  <a:pt x="50800" y="464117"/>
                </a:lnTo>
                <a:close/>
              </a:path>
              <a:path w="1066800" h="932814">
                <a:moveTo>
                  <a:pt x="302683" y="904664"/>
                </a:moveTo>
                <a:lnTo>
                  <a:pt x="302683" y="897927"/>
                </a:lnTo>
                <a:lnTo>
                  <a:pt x="300007" y="891467"/>
                </a:lnTo>
                <a:lnTo>
                  <a:pt x="295244" y="886703"/>
                </a:lnTo>
                <a:lnTo>
                  <a:pt x="290480" y="881940"/>
                </a:lnTo>
                <a:lnTo>
                  <a:pt x="284020" y="879264"/>
                </a:lnTo>
                <a:lnTo>
                  <a:pt x="277283" y="879264"/>
                </a:lnTo>
                <a:lnTo>
                  <a:pt x="270547" y="879264"/>
                </a:lnTo>
                <a:lnTo>
                  <a:pt x="264086" y="881940"/>
                </a:lnTo>
                <a:lnTo>
                  <a:pt x="259323" y="886703"/>
                </a:lnTo>
                <a:lnTo>
                  <a:pt x="254560" y="891467"/>
                </a:lnTo>
                <a:lnTo>
                  <a:pt x="251883" y="897927"/>
                </a:lnTo>
                <a:lnTo>
                  <a:pt x="251883" y="904664"/>
                </a:lnTo>
                <a:lnTo>
                  <a:pt x="251883" y="911400"/>
                </a:lnTo>
                <a:lnTo>
                  <a:pt x="254560" y="917861"/>
                </a:lnTo>
                <a:lnTo>
                  <a:pt x="259323" y="922624"/>
                </a:lnTo>
                <a:lnTo>
                  <a:pt x="264086" y="927387"/>
                </a:lnTo>
                <a:lnTo>
                  <a:pt x="270547" y="930064"/>
                </a:lnTo>
                <a:lnTo>
                  <a:pt x="277283" y="930064"/>
                </a:lnTo>
                <a:lnTo>
                  <a:pt x="284020" y="930064"/>
                </a:lnTo>
                <a:lnTo>
                  <a:pt x="290480" y="927387"/>
                </a:lnTo>
                <a:lnTo>
                  <a:pt x="295244" y="922624"/>
                </a:lnTo>
                <a:lnTo>
                  <a:pt x="300007" y="917861"/>
                </a:lnTo>
                <a:lnTo>
                  <a:pt x="302683" y="911400"/>
                </a:lnTo>
                <a:lnTo>
                  <a:pt x="302683" y="904664"/>
                </a:lnTo>
                <a:close/>
              </a:path>
              <a:path w="1066800" h="932814">
                <a:moveTo>
                  <a:pt x="810141" y="907415"/>
                </a:moveTo>
                <a:lnTo>
                  <a:pt x="810141" y="900679"/>
                </a:lnTo>
                <a:lnTo>
                  <a:pt x="807464" y="894219"/>
                </a:lnTo>
                <a:lnTo>
                  <a:pt x="802701" y="889455"/>
                </a:lnTo>
                <a:lnTo>
                  <a:pt x="797938" y="884692"/>
                </a:lnTo>
                <a:lnTo>
                  <a:pt x="791477" y="882015"/>
                </a:lnTo>
                <a:lnTo>
                  <a:pt x="784741" y="882015"/>
                </a:lnTo>
                <a:lnTo>
                  <a:pt x="778004" y="882015"/>
                </a:lnTo>
                <a:lnTo>
                  <a:pt x="771544" y="884692"/>
                </a:lnTo>
                <a:lnTo>
                  <a:pt x="766781" y="889455"/>
                </a:lnTo>
                <a:lnTo>
                  <a:pt x="762017" y="894219"/>
                </a:lnTo>
                <a:lnTo>
                  <a:pt x="759341" y="900679"/>
                </a:lnTo>
                <a:lnTo>
                  <a:pt x="759341" y="907415"/>
                </a:lnTo>
                <a:lnTo>
                  <a:pt x="759341" y="914152"/>
                </a:lnTo>
                <a:lnTo>
                  <a:pt x="762017" y="920612"/>
                </a:lnTo>
                <a:lnTo>
                  <a:pt x="766781" y="925376"/>
                </a:lnTo>
                <a:lnTo>
                  <a:pt x="771544" y="930139"/>
                </a:lnTo>
                <a:lnTo>
                  <a:pt x="778004" y="932815"/>
                </a:lnTo>
                <a:lnTo>
                  <a:pt x="784741" y="932815"/>
                </a:lnTo>
                <a:lnTo>
                  <a:pt x="791477" y="932815"/>
                </a:lnTo>
                <a:lnTo>
                  <a:pt x="797938" y="930139"/>
                </a:lnTo>
                <a:lnTo>
                  <a:pt x="802701" y="925376"/>
                </a:lnTo>
                <a:lnTo>
                  <a:pt x="807464" y="920612"/>
                </a:lnTo>
                <a:lnTo>
                  <a:pt x="810141" y="914152"/>
                </a:lnTo>
                <a:lnTo>
                  <a:pt x="810141" y="907415"/>
                </a:lnTo>
                <a:close/>
              </a:path>
              <a:path w="1066800" h="932814">
                <a:moveTo>
                  <a:pt x="1066784" y="469628"/>
                </a:moveTo>
                <a:lnTo>
                  <a:pt x="1066784" y="462891"/>
                </a:lnTo>
                <a:lnTo>
                  <a:pt x="1064107" y="456431"/>
                </a:lnTo>
                <a:lnTo>
                  <a:pt x="1059344" y="451668"/>
                </a:lnTo>
                <a:lnTo>
                  <a:pt x="1054581" y="446905"/>
                </a:lnTo>
                <a:lnTo>
                  <a:pt x="1048121" y="444228"/>
                </a:lnTo>
                <a:lnTo>
                  <a:pt x="1041384" y="444228"/>
                </a:lnTo>
                <a:lnTo>
                  <a:pt x="1034647" y="444228"/>
                </a:lnTo>
                <a:lnTo>
                  <a:pt x="1028187" y="446905"/>
                </a:lnTo>
                <a:lnTo>
                  <a:pt x="1023424" y="451668"/>
                </a:lnTo>
                <a:lnTo>
                  <a:pt x="1018661" y="456431"/>
                </a:lnTo>
                <a:lnTo>
                  <a:pt x="1015984" y="462891"/>
                </a:lnTo>
                <a:lnTo>
                  <a:pt x="1015984" y="469628"/>
                </a:lnTo>
                <a:lnTo>
                  <a:pt x="1015984" y="476365"/>
                </a:lnTo>
                <a:lnTo>
                  <a:pt x="1018661" y="482825"/>
                </a:lnTo>
                <a:lnTo>
                  <a:pt x="1023424" y="487588"/>
                </a:lnTo>
                <a:lnTo>
                  <a:pt x="1028187" y="492352"/>
                </a:lnTo>
                <a:lnTo>
                  <a:pt x="1034647" y="495028"/>
                </a:lnTo>
                <a:lnTo>
                  <a:pt x="1041384" y="495028"/>
                </a:lnTo>
                <a:lnTo>
                  <a:pt x="1048121" y="495028"/>
                </a:lnTo>
                <a:lnTo>
                  <a:pt x="1054581" y="492352"/>
                </a:lnTo>
                <a:lnTo>
                  <a:pt x="1059344" y="487588"/>
                </a:lnTo>
                <a:lnTo>
                  <a:pt x="1064107" y="482825"/>
                </a:lnTo>
                <a:lnTo>
                  <a:pt x="1066784" y="476365"/>
                </a:lnTo>
                <a:lnTo>
                  <a:pt x="1066784" y="469628"/>
                </a:lnTo>
                <a:close/>
              </a:path>
            </a:pathLst>
          </a:custGeom>
          <a:ln w="12652">
            <a:solidFill>
              <a:srgbClr val="00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21409" y="1209177"/>
            <a:ext cx="46164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-37" baseline="-20202" dirty="0">
                <a:solidFill>
                  <a:srgbClr val="00CC00"/>
                </a:solidFill>
                <a:latin typeface="Georgia"/>
                <a:cs typeface="Georgia"/>
              </a:rPr>
              <a:t>e</a:t>
            </a:r>
            <a:r>
              <a:rPr sz="1650" i="1" spc="-165" baseline="-20202" dirty="0">
                <a:solidFill>
                  <a:srgbClr val="00CC00"/>
                </a:solidFill>
                <a:latin typeface="Georgia"/>
                <a:cs typeface="Georgia"/>
              </a:rPr>
              <a:t> </a:t>
            </a:r>
            <a:r>
              <a:rPr sz="900" i="1" spc="-10" dirty="0">
                <a:solidFill>
                  <a:srgbClr val="00CC00"/>
                </a:solidFill>
                <a:latin typeface="Georgia"/>
                <a:cs typeface="Georgia"/>
              </a:rPr>
              <a:t>j</a:t>
            </a:r>
            <a:r>
              <a:rPr sz="900" spc="-10" dirty="0">
                <a:solidFill>
                  <a:srgbClr val="00CC00"/>
                </a:solidFill>
                <a:latin typeface="Palatino Linotype"/>
                <a:cs typeface="Palatino Linotype"/>
              </a:rPr>
              <a:t>0</a:t>
            </a:r>
            <a:r>
              <a:rPr sz="900" i="1" spc="-10" dirty="0">
                <a:solidFill>
                  <a:srgbClr val="00CC00"/>
                </a:solidFill>
                <a:latin typeface="Georgia"/>
                <a:cs typeface="Georgia"/>
              </a:rPr>
              <a:t>π/</a:t>
            </a:r>
            <a:r>
              <a:rPr sz="900" spc="-10" dirty="0">
                <a:solidFill>
                  <a:srgbClr val="00CC00"/>
                </a:solidFill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1753" y="769240"/>
            <a:ext cx="144018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003300" algn="l"/>
              </a:tabLst>
            </a:pPr>
            <a:r>
              <a:rPr sz="1650" i="1" spc="-37" baseline="-20202" dirty="0">
                <a:solidFill>
                  <a:srgbClr val="00CC00"/>
                </a:solidFill>
                <a:latin typeface="Georgia"/>
                <a:cs typeface="Georgia"/>
              </a:rPr>
              <a:t>e</a:t>
            </a:r>
            <a:r>
              <a:rPr sz="1650" i="1" spc="-165" baseline="-20202" dirty="0">
                <a:solidFill>
                  <a:srgbClr val="00CC00"/>
                </a:solidFill>
                <a:latin typeface="Georgia"/>
                <a:cs typeface="Georgia"/>
              </a:rPr>
              <a:t> </a:t>
            </a:r>
            <a:r>
              <a:rPr sz="900" i="1" spc="-10" dirty="0">
                <a:solidFill>
                  <a:srgbClr val="00CC00"/>
                </a:solidFill>
                <a:latin typeface="Georgia"/>
                <a:cs typeface="Georgia"/>
              </a:rPr>
              <a:t>j</a:t>
            </a:r>
            <a:r>
              <a:rPr sz="900" spc="-10" dirty="0">
                <a:solidFill>
                  <a:srgbClr val="00CC00"/>
                </a:solidFill>
                <a:latin typeface="Palatino Linotype"/>
                <a:cs typeface="Palatino Linotype"/>
              </a:rPr>
              <a:t>2</a:t>
            </a:r>
            <a:r>
              <a:rPr sz="900" i="1" spc="-10" dirty="0">
                <a:solidFill>
                  <a:srgbClr val="00CC00"/>
                </a:solidFill>
                <a:latin typeface="Georgia"/>
                <a:cs typeface="Georgia"/>
              </a:rPr>
              <a:t>π/</a:t>
            </a:r>
            <a:r>
              <a:rPr sz="900" spc="-10" dirty="0">
                <a:solidFill>
                  <a:srgbClr val="00CC00"/>
                </a:solidFill>
                <a:latin typeface="Palatino Linotype"/>
                <a:cs typeface="Palatino Linotype"/>
              </a:rPr>
              <a:t>3</a:t>
            </a:r>
            <a:r>
              <a:rPr sz="900" dirty="0">
                <a:solidFill>
                  <a:srgbClr val="00CC00"/>
                </a:solidFill>
                <a:latin typeface="Palatino Linotype"/>
                <a:cs typeface="Palatino Linotype"/>
              </a:rPr>
              <a:t>	</a:t>
            </a:r>
            <a:r>
              <a:rPr sz="1650" i="1" spc="-37" baseline="-20202" dirty="0">
                <a:solidFill>
                  <a:srgbClr val="00CC00"/>
                </a:solidFill>
                <a:latin typeface="Georgia"/>
                <a:cs typeface="Georgia"/>
              </a:rPr>
              <a:t>e</a:t>
            </a:r>
            <a:r>
              <a:rPr sz="1650" i="1" spc="-165" baseline="-20202" dirty="0">
                <a:solidFill>
                  <a:srgbClr val="00CC00"/>
                </a:solidFill>
                <a:latin typeface="Georgia"/>
                <a:cs typeface="Georgia"/>
              </a:rPr>
              <a:t> </a:t>
            </a:r>
            <a:r>
              <a:rPr sz="900" i="1" spc="-20" dirty="0">
                <a:solidFill>
                  <a:srgbClr val="00CC00"/>
                </a:solidFill>
                <a:latin typeface="Georgia"/>
                <a:cs typeface="Georgia"/>
              </a:rPr>
              <a:t>j</a:t>
            </a:r>
            <a:r>
              <a:rPr sz="900" spc="-20" dirty="0">
                <a:solidFill>
                  <a:srgbClr val="00CC00"/>
                </a:solidFill>
                <a:latin typeface="Palatino Linotype"/>
                <a:cs typeface="Palatino Linotype"/>
              </a:rPr>
              <a:t>1</a:t>
            </a:r>
            <a:r>
              <a:rPr sz="900" i="1" spc="-20" dirty="0">
                <a:solidFill>
                  <a:srgbClr val="00CC00"/>
                </a:solidFill>
                <a:latin typeface="Georgia"/>
                <a:cs typeface="Georgia"/>
              </a:rPr>
              <a:t>π/</a:t>
            </a:r>
            <a:r>
              <a:rPr sz="900" spc="-20" dirty="0">
                <a:solidFill>
                  <a:srgbClr val="00CC00"/>
                </a:solidFill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0456" y="1209177"/>
            <a:ext cx="46164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-37" baseline="-20202" dirty="0">
                <a:solidFill>
                  <a:srgbClr val="00CC00"/>
                </a:solidFill>
                <a:latin typeface="Georgia"/>
                <a:cs typeface="Georgia"/>
              </a:rPr>
              <a:t>e</a:t>
            </a:r>
            <a:r>
              <a:rPr sz="1650" i="1" spc="-165" baseline="-20202" dirty="0">
                <a:solidFill>
                  <a:srgbClr val="00CC00"/>
                </a:solidFill>
                <a:latin typeface="Georgia"/>
                <a:cs typeface="Georgia"/>
              </a:rPr>
              <a:t> </a:t>
            </a:r>
            <a:r>
              <a:rPr sz="900" i="1" spc="-10" dirty="0">
                <a:solidFill>
                  <a:srgbClr val="00CC00"/>
                </a:solidFill>
                <a:latin typeface="Georgia"/>
                <a:cs typeface="Georgia"/>
              </a:rPr>
              <a:t>j</a:t>
            </a:r>
            <a:r>
              <a:rPr sz="900" spc="-10" dirty="0">
                <a:solidFill>
                  <a:srgbClr val="00CC00"/>
                </a:solidFill>
                <a:latin typeface="Palatino Linotype"/>
                <a:cs typeface="Palatino Linotype"/>
              </a:rPr>
              <a:t>3</a:t>
            </a:r>
            <a:r>
              <a:rPr sz="900" i="1" spc="-10" dirty="0">
                <a:solidFill>
                  <a:srgbClr val="00CC00"/>
                </a:solidFill>
                <a:latin typeface="Georgia"/>
                <a:cs typeface="Georgia"/>
              </a:rPr>
              <a:t>π/</a:t>
            </a:r>
            <a:r>
              <a:rPr sz="900" spc="-10" dirty="0">
                <a:solidFill>
                  <a:srgbClr val="00CC00"/>
                </a:solidFill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4453" y="1838364"/>
            <a:ext cx="46164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-37" baseline="-20202" dirty="0">
                <a:solidFill>
                  <a:srgbClr val="00CC00"/>
                </a:solidFill>
                <a:latin typeface="Georgia"/>
                <a:cs typeface="Georgia"/>
              </a:rPr>
              <a:t>e</a:t>
            </a:r>
            <a:r>
              <a:rPr sz="1650" i="1" spc="-165" baseline="-20202" dirty="0">
                <a:solidFill>
                  <a:srgbClr val="00CC00"/>
                </a:solidFill>
                <a:latin typeface="Georgia"/>
                <a:cs typeface="Georgia"/>
              </a:rPr>
              <a:t> </a:t>
            </a:r>
            <a:r>
              <a:rPr sz="900" i="1" spc="-10" dirty="0">
                <a:solidFill>
                  <a:srgbClr val="00CC00"/>
                </a:solidFill>
                <a:latin typeface="Georgia"/>
                <a:cs typeface="Georgia"/>
              </a:rPr>
              <a:t>j</a:t>
            </a:r>
            <a:r>
              <a:rPr sz="900" spc="-10" dirty="0">
                <a:solidFill>
                  <a:srgbClr val="00CC00"/>
                </a:solidFill>
                <a:latin typeface="Palatino Linotype"/>
                <a:cs typeface="Palatino Linotype"/>
              </a:rPr>
              <a:t>4</a:t>
            </a:r>
            <a:r>
              <a:rPr sz="900" i="1" spc="-10" dirty="0">
                <a:solidFill>
                  <a:srgbClr val="00CC00"/>
                </a:solidFill>
                <a:latin typeface="Georgia"/>
                <a:cs typeface="Georgia"/>
              </a:rPr>
              <a:t>π/</a:t>
            </a:r>
            <a:r>
              <a:rPr sz="900" spc="-10" dirty="0">
                <a:solidFill>
                  <a:srgbClr val="00CC00"/>
                </a:solidFill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67412" y="1838364"/>
            <a:ext cx="46164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-37" baseline="-20202" dirty="0">
                <a:solidFill>
                  <a:srgbClr val="00CC00"/>
                </a:solidFill>
                <a:latin typeface="Georgia"/>
                <a:cs typeface="Georgia"/>
              </a:rPr>
              <a:t>e</a:t>
            </a:r>
            <a:r>
              <a:rPr sz="1650" i="1" spc="-165" baseline="-20202" dirty="0">
                <a:solidFill>
                  <a:srgbClr val="00CC00"/>
                </a:solidFill>
                <a:latin typeface="Georgia"/>
                <a:cs typeface="Georgia"/>
              </a:rPr>
              <a:t> </a:t>
            </a:r>
            <a:r>
              <a:rPr sz="900" i="1" spc="-10" dirty="0">
                <a:solidFill>
                  <a:srgbClr val="00CC00"/>
                </a:solidFill>
                <a:latin typeface="Georgia"/>
                <a:cs typeface="Georgia"/>
              </a:rPr>
              <a:t>j</a:t>
            </a:r>
            <a:r>
              <a:rPr sz="900" spc="-10" dirty="0">
                <a:solidFill>
                  <a:srgbClr val="00CC00"/>
                </a:solidFill>
                <a:latin typeface="Palatino Linotype"/>
                <a:cs typeface="Palatino Linotype"/>
              </a:rPr>
              <a:t>5</a:t>
            </a:r>
            <a:r>
              <a:rPr sz="900" i="1" spc="-10" dirty="0">
                <a:solidFill>
                  <a:srgbClr val="00CC00"/>
                </a:solidFill>
                <a:latin typeface="Georgia"/>
                <a:cs typeface="Georgia"/>
              </a:rPr>
              <a:t>π/</a:t>
            </a:r>
            <a:r>
              <a:rPr sz="900" spc="-10" dirty="0">
                <a:solidFill>
                  <a:srgbClr val="00CC00"/>
                </a:solidFill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62846" y="2473482"/>
            <a:ext cx="1524000" cy="1143000"/>
          </a:xfrm>
          <a:custGeom>
            <a:avLst/>
            <a:gdLst/>
            <a:ahLst/>
            <a:cxnLst/>
            <a:rect l="l" t="t" r="r" b="b"/>
            <a:pathLst>
              <a:path w="1524000" h="1143000">
                <a:moveTo>
                  <a:pt x="0" y="508000"/>
                </a:moveTo>
                <a:lnTo>
                  <a:pt x="1524000" y="508000"/>
                </a:lnTo>
              </a:path>
              <a:path w="1524000" h="1143000">
                <a:moveTo>
                  <a:pt x="762000" y="1143000"/>
                </a:moveTo>
                <a:lnTo>
                  <a:pt x="762000" y="0"/>
                </a:lnTo>
              </a:path>
              <a:path w="1524000" h="1143000">
                <a:moveTo>
                  <a:pt x="1270000" y="508000"/>
                </a:moveTo>
                <a:lnTo>
                  <a:pt x="1267513" y="457788"/>
                </a:lnTo>
                <a:lnTo>
                  <a:pt x="1260147" y="408429"/>
                </a:lnTo>
                <a:lnTo>
                  <a:pt x="1248038" y="360254"/>
                </a:lnTo>
                <a:lnTo>
                  <a:pt x="1231325" y="313597"/>
                </a:lnTo>
                <a:lnTo>
                  <a:pt x="1210147" y="268789"/>
                </a:lnTo>
                <a:lnTo>
                  <a:pt x="1184642" y="226165"/>
                </a:lnTo>
                <a:lnTo>
                  <a:pt x="1154948" y="186056"/>
                </a:lnTo>
                <a:lnTo>
                  <a:pt x="1121202" y="148797"/>
                </a:lnTo>
                <a:lnTo>
                  <a:pt x="1083943" y="115051"/>
                </a:lnTo>
                <a:lnTo>
                  <a:pt x="1043834" y="85357"/>
                </a:lnTo>
                <a:lnTo>
                  <a:pt x="1001210" y="59852"/>
                </a:lnTo>
                <a:lnTo>
                  <a:pt x="956402" y="38674"/>
                </a:lnTo>
                <a:lnTo>
                  <a:pt x="909745" y="21961"/>
                </a:lnTo>
                <a:lnTo>
                  <a:pt x="861570" y="9852"/>
                </a:lnTo>
                <a:lnTo>
                  <a:pt x="812211" y="2486"/>
                </a:lnTo>
                <a:lnTo>
                  <a:pt x="762000" y="0"/>
                </a:lnTo>
                <a:lnTo>
                  <a:pt x="711788" y="2486"/>
                </a:lnTo>
                <a:lnTo>
                  <a:pt x="662429" y="9852"/>
                </a:lnTo>
                <a:lnTo>
                  <a:pt x="614254" y="21961"/>
                </a:lnTo>
                <a:lnTo>
                  <a:pt x="567597" y="38674"/>
                </a:lnTo>
                <a:lnTo>
                  <a:pt x="522789" y="59852"/>
                </a:lnTo>
                <a:lnTo>
                  <a:pt x="480165" y="85357"/>
                </a:lnTo>
                <a:lnTo>
                  <a:pt x="440056" y="115051"/>
                </a:lnTo>
                <a:lnTo>
                  <a:pt x="402797" y="148797"/>
                </a:lnTo>
                <a:lnTo>
                  <a:pt x="369051" y="186056"/>
                </a:lnTo>
                <a:lnTo>
                  <a:pt x="339357" y="226165"/>
                </a:lnTo>
                <a:lnTo>
                  <a:pt x="313852" y="268789"/>
                </a:lnTo>
                <a:lnTo>
                  <a:pt x="292674" y="313597"/>
                </a:lnTo>
                <a:lnTo>
                  <a:pt x="275961" y="360254"/>
                </a:lnTo>
                <a:lnTo>
                  <a:pt x="263852" y="408429"/>
                </a:lnTo>
                <a:lnTo>
                  <a:pt x="256486" y="457788"/>
                </a:lnTo>
                <a:lnTo>
                  <a:pt x="254000" y="508000"/>
                </a:lnTo>
                <a:lnTo>
                  <a:pt x="256486" y="558211"/>
                </a:lnTo>
                <a:lnTo>
                  <a:pt x="263852" y="607570"/>
                </a:lnTo>
                <a:lnTo>
                  <a:pt x="275961" y="655745"/>
                </a:lnTo>
                <a:lnTo>
                  <a:pt x="292674" y="702402"/>
                </a:lnTo>
                <a:lnTo>
                  <a:pt x="313852" y="747210"/>
                </a:lnTo>
                <a:lnTo>
                  <a:pt x="339357" y="789834"/>
                </a:lnTo>
                <a:lnTo>
                  <a:pt x="369051" y="829943"/>
                </a:lnTo>
                <a:lnTo>
                  <a:pt x="402797" y="867202"/>
                </a:lnTo>
                <a:lnTo>
                  <a:pt x="440056" y="900948"/>
                </a:lnTo>
                <a:lnTo>
                  <a:pt x="480165" y="930642"/>
                </a:lnTo>
                <a:lnTo>
                  <a:pt x="522789" y="956147"/>
                </a:lnTo>
                <a:lnTo>
                  <a:pt x="567597" y="977325"/>
                </a:lnTo>
                <a:lnTo>
                  <a:pt x="614254" y="994038"/>
                </a:lnTo>
                <a:lnTo>
                  <a:pt x="662429" y="1006147"/>
                </a:lnTo>
                <a:lnTo>
                  <a:pt x="711788" y="1013513"/>
                </a:lnTo>
                <a:lnTo>
                  <a:pt x="762000" y="1016000"/>
                </a:lnTo>
                <a:lnTo>
                  <a:pt x="812211" y="1013513"/>
                </a:lnTo>
                <a:lnTo>
                  <a:pt x="861570" y="1006147"/>
                </a:lnTo>
                <a:lnTo>
                  <a:pt x="909745" y="994038"/>
                </a:lnTo>
                <a:lnTo>
                  <a:pt x="956402" y="977325"/>
                </a:lnTo>
                <a:lnTo>
                  <a:pt x="1001210" y="956147"/>
                </a:lnTo>
                <a:lnTo>
                  <a:pt x="1043834" y="930642"/>
                </a:lnTo>
                <a:lnTo>
                  <a:pt x="1083943" y="900948"/>
                </a:lnTo>
                <a:lnTo>
                  <a:pt x="1121202" y="867202"/>
                </a:lnTo>
                <a:lnTo>
                  <a:pt x="1154948" y="829943"/>
                </a:lnTo>
                <a:lnTo>
                  <a:pt x="1184642" y="789834"/>
                </a:lnTo>
                <a:lnTo>
                  <a:pt x="1210147" y="747210"/>
                </a:lnTo>
                <a:lnTo>
                  <a:pt x="1231325" y="702402"/>
                </a:lnTo>
                <a:lnTo>
                  <a:pt x="1248038" y="655745"/>
                </a:lnTo>
                <a:lnTo>
                  <a:pt x="1260147" y="607570"/>
                </a:lnTo>
                <a:lnTo>
                  <a:pt x="1267513" y="558211"/>
                </a:lnTo>
                <a:lnTo>
                  <a:pt x="1270000" y="5080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224937" y="2877540"/>
            <a:ext cx="18986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25" dirty="0">
                <a:solidFill>
                  <a:srgbClr val="0000CC"/>
                </a:solidFill>
                <a:latin typeface="Palatino Linotype"/>
                <a:cs typeface="Palatino Linotype"/>
              </a:rPr>
              <a:t>Re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28511" y="2270809"/>
            <a:ext cx="1917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25" dirty="0">
                <a:solidFill>
                  <a:srgbClr val="FF0000"/>
                </a:solidFill>
                <a:latin typeface="Palatino Linotype"/>
                <a:cs typeface="Palatino Linotype"/>
              </a:rPr>
              <a:t>Im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91446" y="2515527"/>
            <a:ext cx="1066800" cy="932815"/>
          </a:xfrm>
          <a:custGeom>
            <a:avLst/>
            <a:gdLst/>
            <a:ahLst/>
            <a:cxnLst/>
            <a:rect l="l" t="t" r="r" b="b"/>
            <a:pathLst>
              <a:path w="1066800" h="932814">
                <a:moveTo>
                  <a:pt x="1066800" y="465954"/>
                </a:moveTo>
                <a:lnTo>
                  <a:pt x="1066800" y="459217"/>
                </a:lnTo>
                <a:lnTo>
                  <a:pt x="1064123" y="452757"/>
                </a:lnTo>
                <a:lnTo>
                  <a:pt x="1059360" y="447994"/>
                </a:lnTo>
                <a:lnTo>
                  <a:pt x="1054596" y="443231"/>
                </a:lnTo>
                <a:lnTo>
                  <a:pt x="1048136" y="440554"/>
                </a:lnTo>
                <a:lnTo>
                  <a:pt x="1041400" y="440554"/>
                </a:lnTo>
                <a:lnTo>
                  <a:pt x="1034663" y="440554"/>
                </a:lnTo>
                <a:lnTo>
                  <a:pt x="1028203" y="443231"/>
                </a:lnTo>
                <a:lnTo>
                  <a:pt x="1023439" y="447994"/>
                </a:lnTo>
                <a:lnTo>
                  <a:pt x="1018676" y="452757"/>
                </a:lnTo>
                <a:lnTo>
                  <a:pt x="1016000" y="459217"/>
                </a:lnTo>
                <a:lnTo>
                  <a:pt x="1016000" y="465954"/>
                </a:lnTo>
                <a:lnTo>
                  <a:pt x="1016000" y="472691"/>
                </a:lnTo>
                <a:lnTo>
                  <a:pt x="1018676" y="479151"/>
                </a:lnTo>
                <a:lnTo>
                  <a:pt x="1023439" y="483914"/>
                </a:lnTo>
                <a:lnTo>
                  <a:pt x="1028203" y="488677"/>
                </a:lnTo>
                <a:lnTo>
                  <a:pt x="1034663" y="491354"/>
                </a:lnTo>
                <a:lnTo>
                  <a:pt x="1041400" y="491354"/>
                </a:lnTo>
                <a:lnTo>
                  <a:pt x="1048136" y="491354"/>
                </a:lnTo>
                <a:lnTo>
                  <a:pt x="1054596" y="488677"/>
                </a:lnTo>
                <a:lnTo>
                  <a:pt x="1059360" y="483914"/>
                </a:lnTo>
                <a:lnTo>
                  <a:pt x="1064123" y="479151"/>
                </a:lnTo>
                <a:lnTo>
                  <a:pt x="1066800" y="472691"/>
                </a:lnTo>
                <a:lnTo>
                  <a:pt x="1066800" y="465954"/>
                </a:lnTo>
                <a:close/>
              </a:path>
              <a:path w="1066800" h="932814">
                <a:moveTo>
                  <a:pt x="813327" y="26322"/>
                </a:moveTo>
                <a:lnTo>
                  <a:pt x="813327" y="19585"/>
                </a:lnTo>
                <a:lnTo>
                  <a:pt x="810650" y="13125"/>
                </a:lnTo>
                <a:lnTo>
                  <a:pt x="805887" y="8362"/>
                </a:lnTo>
                <a:lnTo>
                  <a:pt x="801124" y="3599"/>
                </a:lnTo>
                <a:lnTo>
                  <a:pt x="794663" y="922"/>
                </a:lnTo>
                <a:lnTo>
                  <a:pt x="787927" y="922"/>
                </a:lnTo>
                <a:lnTo>
                  <a:pt x="781190" y="922"/>
                </a:lnTo>
                <a:lnTo>
                  <a:pt x="774730" y="3599"/>
                </a:lnTo>
                <a:lnTo>
                  <a:pt x="769966" y="8362"/>
                </a:lnTo>
                <a:lnTo>
                  <a:pt x="765203" y="13125"/>
                </a:lnTo>
                <a:lnTo>
                  <a:pt x="762527" y="19585"/>
                </a:lnTo>
                <a:lnTo>
                  <a:pt x="762527" y="26322"/>
                </a:lnTo>
                <a:lnTo>
                  <a:pt x="762527" y="33059"/>
                </a:lnTo>
                <a:lnTo>
                  <a:pt x="765203" y="39519"/>
                </a:lnTo>
                <a:lnTo>
                  <a:pt x="769966" y="44282"/>
                </a:lnTo>
                <a:lnTo>
                  <a:pt x="774730" y="49045"/>
                </a:lnTo>
                <a:lnTo>
                  <a:pt x="781190" y="51722"/>
                </a:lnTo>
                <a:lnTo>
                  <a:pt x="787927" y="51722"/>
                </a:lnTo>
                <a:lnTo>
                  <a:pt x="794663" y="51722"/>
                </a:lnTo>
                <a:lnTo>
                  <a:pt x="801124" y="49045"/>
                </a:lnTo>
                <a:lnTo>
                  <a:pt x="805887" y="44282"/>
                </a:lnTo>
                <a:lnTo>
                  <a:pt x="810650" y="39519"/>
                </a:lnTo>
                <a:lnTo>
                  <a:pt x="813327" y="33059"/>
                </a:lnTo>
                <a:lnTo>
                  <a:pt x="813327" y="26322"/>
                </a:lnTo>
                <a:close/>
              </a:path>
              <a:path w="1066800" h="932814">
                <a:moveTo>
                  <a:pt x="305861" y="25400"/>
                </a:moveTo>
                <a:lnTo>
                  <a:pt x="305861" y="18663"/>
                </a:lnTo>
                <a:lnTo>
                  <a:pt x="303185" y="12203"/>
                </a:lnTo>
                <a:lnTo>
                  <a:pt x="298422" y="7439"/>
                </a:lnTo>
                <a:lnTo>
                  <a:pt x="293658" y="2676"/>
                </a:lnTo>
                <a:lnTo>
                  <a:pt x="287198" y="0"/>
                </a:lnTo>
                <a:lnTo>
                  <a:pt x="280461" y="0"/>
                </a:lnTo>
                <a:lnTo>
                  <a:pt x="273725" y="0"/>
                </a:lnTo>
                <a:lnTo>
                  <a:pt x="267265" y="2676"/>
                </a:lnTo>
                <a:lnTo>
                  <a:pt x="262501" y="7439"/>
                </a:lnTo>
                <a:lnTo>
                  <a:pt x="257738" y="12203"/>
                </a:lnTo>
                <a:lnTo>
                  <a:pt x="255061" y="18663"/>
                </a:lnTo>
                <a:lnTo>
                  <a:pt x="255061" y="25400"/>
                </a:lnTo>
                <a:lnTo>
                  <a:pt x="255061" y="32136"/>
                </a:lnTo>
                <a:lnTo>
                  <a:pt x="257738" y="38596"/>
                </a:lnTo>
                <a:lnTo>
                  <a:pt x="262501" y="43360"/>
                </a:lnTo>
                <a:lnTo>
                  <a:pt x="267265" y="48123"/>
                </a:lnTo>
                <a:lnTo>
                  <a:pt x="273725" y="50800"/>
                </a:lnTo>
                <a:lnTo>
                  <a:pt x="280461" y="50800"/>
                </a:lnTo>
                <a:lnTo>
                  <a:pt x="287198" y="50800"/>
                </a:lnTo>
                <a:lnTo>
                  <a:pt x="293658" y="48123"/>
                </a:lnTo>
                <a:lnTo>
                  <a:pt x="298422" y="43360"/>
                </a:lnTo>
                <a:lnTo>
                  <a:pt x="303185" y="38596"/>
                </a:lnTo>
                <a:lnTo>
                  <a:pt x="305861" y="32136"/>
                </a:lnTo>
                <a:lnTo>
                  <a:pt x="305861" y="25400"/>
                </a:lnTo>
                <a:close/>
              </a:path>
              <a:path w="1066800" h="932814">
                <a:moveTo>
                  <a:pt x="50800" y="464117"/>
                </a:moveTo>
                <a:lnTo>
                  <a:pt x="50800" y="457380"/>
                </a:lnTo>
                <a:lnTo>
                  <a:pt x="48123" y="450920"/>
                </a:lnTo>
                <a:lnTo>
                  <a:pt x="43360" y="446157"/>
                </a:lnTo>
                <a:lnTo>
                  <a:pt x="38596" y="441393"/>
                </a:lnTo>
                <a:lnTo>
                  <a:pt x="32136" y="438717"/>
                </a:lnTo>
                <a:lnTo>
                  <a:pt x="25400" y="438717"/>
                </a:lnTo>
                <a:lnTo>
                  <a:pt x="18663" y="438717"/>
                </a:lnTo>
                <a:lnTo>
                  <a:pt x="12203" y="441393"/>
                </a:lnTo>
                <a:lnTo>
                  <a:pt x="7439" y="446157"/>
                </a:lnTo>
                <a:lnTo>
                  <a:pt x="2676" y="450920"/>
                </a:lnTo>
                <a:lnTo>
                  <a:pt x="0" y="457380"/>
                </a:lnTo>
                <a:lnTo>
                  <a:pt x="0" y="464117"/>
                </a:lnTo>
                <a:lnTo>
                  <a:pt x="0" y="470854"/>
                </a:lnTo>
                <a:lnTo>
                  <a:pt x="2676" y="477314"/>
                </a:lnTo>
                <a:lnTo>
                  <a:pt x="7439" y="482077"/>
                </a:lnTo>
                <a:lnTo>
                  <a:pt x="12203" y="486840"/>
                </a:lnTo>
                <a:lnTo>
                  <a:pt x="18663" y="489517"/>
                </a:lnTo>
                <a:lnTo>
                  <a:pt x="25400" y="489517"/>
                </a:lnTo>
                <a:lnTo>
                  <a:pt x="32136" y="489517"/>
                </a:lnTo>
                <a:lnTo>
                  <a:pt x="38596" y="486840"/>
                </a:lnTo>
                <a:lnTo>
                  <a:pt x="43360" y="482077"/>
                </a:lnTo>
                <a:lnTo>
                  <a:pt x="48123" y="477314"/>
                </a:lnTo>
                <a:lnTo>
                  <a:pt x="50800" y="470854"/>
                </a:lnTo>
                <a:lnTo>
                  <a:pt x="50800" y="464117"/>
                </a:lnTo>
                <a:close/>
              </a:path>
              <a:path w="1066800" h="932814">
                <a:moveTo>
                  <a:pt x="302683" y="904664"/>
                </a:moveTo>
                <a:lnTo>
                  <a:pt x="302683" y="897927"/>
                </a:lnTo>
                <a:lnTo>
                  <a:pt x="300007" y="891467"/>
                </a:lnTo>
                <a:lnTo>
                  <a:pt x="295244" y="886703"/>
                </a:lnTo>
                <a:lnTo>
                  <a:pt x="290480" y="881940"/>
                </a:lnTo>
                <a:lnTo>
                  <a:pt x="284020" y="879264"/>
                </a:lnTo>
                <a:lnTo>
                  <a:pt x="277283" y="879264"/>
                </a:lnTo>
                <a:lnTo>
                  <a:pt x="270547" y="879264"/>
                </a:lnTo>
                <a:lnTo>
                  <a:pt x="264086" y="881940"/>
                </a:lnTo>
                <a:lnTo>
                  <a:pt x="259323" y="886703"/>
                </a:lnTo>
                <a:lnTo>
                  <a:pt x="254560" y="891467"/>
                </a:lnTo>
                <a:lnTo>
                  <a:pt x="251883" y="897927"/>
                </a:lnTo>
                <a:lnTo>
                  <a:pt x="251883" y="904664"/>
                </a:lnTo>
                <a:lnTo>
                  <a:pt x="251883" y="911400"/>
                </a:lnTo>
                <a:lnTo>
                  <a:pt x="254560" y="917861"/>
                </a:lnTo>
                <a:lnTo>
                  <a:pt x="259323" y="922624"/>
                </a:lnTo>
                <a:lnTo>
                  <a:pt x="264086" y="927387"/>
                </a:lnTo>
                <a:lnTo>
                  <a:pt x="270547" y="930064"/>
                </a:lnTo>
                <a:lnTo>
                  <a:pt x="277283" y="930064"/>
                </a:lnTo>
                <a:lnTo>
                  <a:pt x="284020" y="930064"/>
                </a:lnTo>
                <a:lnTo>
                  <a:pt x="290480" y="927387"/>
                </a:lnTo>
                <a:lnTo>
                  <a:pt x="295244" y="922624"/>
                </a:lnTo>
                <a:lnTo>
                  <a:pt x="300007" y="917861"/>
                </a:lnTo>
                <a:lnTo>
                  <a:pt x="302683" y="911400"/>
                </a:lnTo>
                <a:lnTo>
                  <a:pt x="302683" y="904664"/>
                </a:lnTo>
                <a:close/>
              </a:path>
              <a:path w="1066800" h="932814">
                <a:moveTo>
                  <a:pt x="810141" y="907415"/>
                </a:moveTo>
                <a:lnTo>
                  <a:pt x="810141" y="900679"/>
                </a:lnTo>
                <a:lnTo>
                  <a:pt x="807464" y="894219"/>
                </a:lnTo>
                <a:lnTo>
                  <a:pt x="802701" y="889455"/>
                </a:lnTo>
                <a:lnTo>
                  <a:pt x="797938" y="884692"/>
                </a:lnTo>
                <a:lnTo>
                  <a:pt x="791477" y="882015"/>
                </a:lnTo>
                <a:lnTo>
                  <a:pt x="784741" y="882015"/>
                </a:lnTo>
                <a:lnTo>
                  <a:pt x="778004" y="882015"/>
                </a:lnTo>
                <a:lnTo>
                  <a:pt x="771544" y="884692"/>
                </a:lnTo>
                <a:lnTo>
                  <a:pt x="766781" y="889455"/>
                </a:lnTo>
                <a:lnTo>
                  <a:pt x="762017" y="894219"/>
                </a:lnTo>
                <a:lnTo>
                  <a:pt x="759341" y="900679"/>
                </a:lnTo>
                <a:lnTo>
                  <a:pt x="759341" y="907415"/>
                </a:lnTo>
                <a:lnTo>
                  <a:pt x="759341" y="914152"/>
                </a:lnTo>
                <a:lnTo>
                  <a:pt x="762017" y="920612"/>
                </a:lnTo>
                <a:lnTo>
                  <a:pt x="766781" y="925376"/>
                </a:lnTo>
                <a:lnTo>
                  <a:pt x="771544" y="930139"/>
                </a:lnTo>
                <a:lnTo>
                  <a:pt x="778004" y="932815"/>
                </a:lnTo>
                <a:lnTo>
                  <a:pt x="784741" y="932815"/>
                </a:lnTo>
                <a:lnTo>
                  <a:pt x="791477" y="932815"/>
                </a:lnTo>
                <a:lnTo>
                  <a:pt x="797938" y="930139"/>
                </a:lnTo>
                <a:lnTo>
                  <a:pt x="802701" y="925376"/>
                </a:lnTo>
                <a:lnTo>
                  <a:pt x="807464" y="920612"/>
                </a:lnTo>
                <a:lnTo>
                  <a:pt x="810141" y="914152"/>
                </a:lnTo>
                <a:lnTo>
                  <a:pt x="810141" y="907415"/>
                </a:lnTo>
                <a:close/>
              </a:path>
              <a:path w="1066800" h="932814">
                <a:moveTo>
                  <a:pt x="1066784" y="469628"/>
                </a:moveTo>
                <a:lnTo>
                  <a:pt x="1066784" y="462891"/>
                </a:lnTo>
                <a:lnTo>
                  <a:pt x="1064107" y="456431"/>
                </a:lnTo>
                <a:lnTo>
                  <a:pt x="1059344" y="451668"/>
                </a:lnTo>
                <a:lnTo>
                  <a:pt x="1054581" y="446905"/>
                </a:lnTo>
                <a:lnTo>
                  <a:pt x="1048121" y="444228"/>
                </a:lnTo>
                <a:lnTo>
                  <a:pt x="1041384" y="444228"/>
                </a:lnTo>
                <a:lnTo>
                  <a:pt x="1034647" y="444228"/>
                </a:lnTo>
                <a:lnTo>
                  <a:pt x="1028187" y="446905"/>
                </a:lnTo>
                <a:lnTo>
                  <a:pt x="1023424" y="451668"/>
                </a:lnTo>
                <a:lnTo>
                  <a:pt x="1018661" y="456431"/>
                </a:lnTo>
                <a:lnTo>
                  <a:pt x="1015984" y="462891"/>
                </a:lnTo>
                <a:lnTo>
                  <a:pt x="1015984" y="469628"/>
                </a:lnTo>
                <a:lnTo>
                  <a:pt x="1015984" y="476365"/>
                </a:lnTo>
                <a:lnTo>
                  <a:pt x="1018661" y="482825"/>
                </a:lnTo>
                <a:lnTo>
                  <a:pt x="1023424" y="487588"/>
                </a:lnTo>
                <a:lnTo>
                  <a:pt x="1028187" y="492352"/>
                </a:lnTo>
                <a:lnTo>
                  <a:pt x="1034647" y="495028"/>
                </a:lnTo>
                <a:lnTo>
                  <a:pt x="1041384" y="495028"/>
                </a:lnTo>
                <a:lnTo>
                  <a:pt x="1048121" y="495028"/>
                </a:lnTo>
                <a:lnTo>
                  <a:pt x="1054581" y="492352"/>
                </a:lnTo>
                <a:lnTo>
                  <a:pt x="1059344" y="487588"/>
                </a:lnTo>
                <a:lnTo>
                  <a:pt x="1064107" y="482825"/>
                </a:lnTo>
                <a:lnTo>
                  <a:pt x="1066784" y="476365"/>
                </a:lnTo>
                <a:lnTo>
                  <a:pt x="1066784" y="469628"/>
                </a:lnTo>
                <a:close/>
              </a:path>
            </a:pathLst>
          </a:custGeom>
          <a:ln w="12652">
            <a:solidFill>
              <a:srgbClr val="00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921409" y="2752427"/>
            <a:ext cx="46164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-37" baseline="-20202" dirty="0">
                <a:solidFill>
                  <a:srgbClr val="00CC00"/>
                </a:solidFill>
                <a:latin typeface="Georgia"/>
                <a:cs typeface="Georgia"/>
              </a:rPr>
              <a:t>e</a:t>
            </a:r>
            <a:r>
              <a:rPr sz="1650" i="1" spc="-165" baseline="-20202" dirty="0">
                <a:solidFill>
                  <a:srgbClr val="00CC00"/>
                </a:solidFill>
                <a:latin typeface="Georgia"/>
                <a:cs typeface="Georgia"/>
              </a:rPr>
              <a:t> </a:t>
            </a:r>
            <a:r>
              <a:rPr sz="900" i="1" spc="-10" dirty="0">
                <a:solidFill>
                  <a:srgbClr val="00CC00"/>
                </a:solidFill>
                <a:latin typeface="Georgia"/>
                <a:cs typeface="Georgia"/>
              </a:rPr>
              <a:t>j</a:t>
            </a:r>
            <a:r>
              <a:rPr sz="900" spc="-10" dirty="0">
                <a:solidFill>
                  <a:srgbClr val="00CC00"/>
                </a:solidFill>
                <a:latin typeface="Palatino Linotype"/>
                <a:cs typeface="Palatino Linotype"/>
              </a:rPr>
              <a:t>0</a:t>
            </a:r>
            <a:r>
              <a:rPr sz="900" i="1" spc="-10" dirty="0">
                <a:solidFill>
                  <a:srgbClr val="00CC00"/>
                </a:solidFill>
                <a:latin typeface="Georgia"/>
                <a:cs typeface="Georgia"/>
              </a:rPr>
              <a:t>π/</a:t>
            </a:r>
            <a:r>
              <a:rPr sz="900" spc="-10" dirty="0">
                <a:solidFill>
                  <a:srgbClr val="00CC00"/>
                </a:solidFill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67412" y="2312490"/>
            <a:ext cx="46164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-37" baseline="-20202" dirty="0">
                <a:solidFill>
                  <a:srgbClr val="00CC00"/>
                </a:solidFill>
                <a:latin typeface="Georgia"/>
                <a:cs typeface="Georgia"/>
              </a:rPr>
              <a:t>e</a:t>
            </a:r>
            <a:r>
              <a:rPr sz="1650" i="1" spc="-165" baseline="-20202" dirty="0">
                <a:solidFill>
                  <a:srgbClr val="00CC00"/>
                </a:solidFill>
                <a:latin typeface="Georgia"/>
                <a:cs typeface="Georgia"/>
              </a:rPr>
              <a:t> </a:t>
            </a:r>
            <a:r>
              <a:rPr sz="900" i="1" spc="-10" dirty="0">
                <a:solidFill>
                  <a:srgbClr val="00CC00"/>
                </a:solidFill>
                <a:latin typeface="Georgia"/>
                <a:cs typeface="Georgia"/>
              </a:rPr>
              <a:t>j</a:t>
            </a:r>
            <a:r>
              <a:rPr sz="900" spc="-10" dirty="0">
                <a:solidFill>
                  <a:srgbClr val="00CC00"/>
                </a:solidFill>
                <a:latin typeface="Palatino Linotype"/>
                <a:cs typeface="Palatino Linotype"/>
              </a:rPr>
              <a:t>5</a:t>
            </a:r>
            <a:r>
              <a:rPr sz="900" i="1" spc="-10" dirty="0">
                <a:solidFill>
                  <a:srgbClr val="00CC00"/>
                </a:solidFill>
                <a:latin typeface="Georgia"/>
                <a:cs typeface="Georgia"/>
              </a:rPr>
              <a:t>π/</a:t>
            </a:r>
            <a:r>
              <a:rPr sz="900" spc="-10" dirty="0">
                <a:solidFill>
                  <a:srgbClr val="00CC00"/>
                </a:solidFill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4453" y="2312490"/>
            <a:ext cx="46164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-37" baseline="-20202" dirty="0">
                <a:solidFill>
                  <a:srgbClr val="00CC00"/>
                </a:solidFill>
                <a:latin typeface="Georgia"/>
                <a:cs typeface="Georgia"/>
              </a:rPr>
              <a:t>e</a:t>
            </a:r>
            <a:r>
              <a:rPr sz="1650" i="1" spc="-165" baseline="-20202" dirty="0">
                <a:solidFill>
                  <a:srgbClr val="00CC00"/>
                </a:solidFill>
                <a:latin typeface="Georgia"/>
                <a:cs typeface="Georgia"/>
              </a:rPr>
              <a:t> </a:t>
            </a:r>
            <a:r>
              <a:rPr sz="900" i="1" spc="-10" dirty="0">
                <a:solidFill>
                  <a:srgbClr val="00CC00"/>
                </a:solidFill>
                <a:latin typeface="Georgia"/>
                <a:cs typeface="Georgia"/>
              </a:rPr>
              <a:t>j</a:t>
            </a:r>
            <a:r>
              <a:rPr sz="900" spc="-10" dirty="0">
                <a:solidFill>
                  <a:srgbClr val="00CC00"/>
                </a:solidFill>
                <a:latin typeface="Palatino Linotype"/>
                <a:cs typeface="Palatino Linotype"/>
              </a:rPr>
              <a:t>4</a:t>
            </a:r>
            <a:r>
              <a:rPr sz="900" i="1" spc="-10" dirty="0">
                <a:solidFill>
                  <a:srgbClr val="00CC00"/>
                </a:solidFill>
                <a:latin typeface="Georgia"/>
                <a:cs typeface="Georgia"/>
              </a:rPr>
              <a:t>π/</a:t>
            </a:r>
            <a:r>
              <a:rPr sz="900" spc="-10" dirty="0">
                <a:solidFill>
                  <a:srgbClr val="00CC00"/>
                </a:solidFill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0456" y="2752427"/>
            <a:ext cx="46164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-37" baseline="-20202" dirty="0">
                <a:solidFill>
                  <a:srgbClr val="00CC00"/>
                </a:solidFill>
                <a:latin typeface="Georgia"/>
                <a:cs typeface="Georgia"/>
              </a:rPr>
              <a:t>e</a:t>
            </a:r>
            <a:r>
              <a:rPr sz="1650" i="1" spc="-165" baseline="-20202" dirty="0">
                <a:solidFill>
                  <a:srgbClr val="00CC00"/>
                </a:solidFill>
                <a:latin typeface="Georgia"/>
                <a:cs typeface="Georgia"/>
              </a:rPr>
              <a:t> </a:t>
            </a:r>
            <a:r>
              <a:rPr sz="900" i="1" spc="-10" dirty="0">
                <a:solidFill>
                  <a:srgbClr val="00CC00"/>
                </a:solidFill>
                <a:latin typeface="Georgia"/>
                <a:cs typeface="Georgia"/>
              </a:rPr>
              <a:t>j</a:t>
            </a:r>
            <a:r>
              <a:rPr sz="900" spc="-10" dirty="0">
                <a:solidFill>
                  <a:srgbClr val="00CC00"/>
                </a:solidFill>
                <a:latin typeface="Palatino Linotype"/>
                <a:cs typeface="Palatino Linotype"/>
              </a:rPr>
              <a:t>3</a:t>
            </a:r>
            <a:r>
              <a:rPr sz="900" i="1" spc="-10" dirty="0">
                <a:solidFill>
                  <a:srgbClr val="00CC00"/>
                </a:solidFill>
                <a:latin typeface="Georgia"/>
                <a:cs typeface="Georgia"/>
              </a:rPr>
              <a:t>π/</a:t>
            </a:r>
            <a:r>
              <a:rPr sz="900" spc="-10" dirty="0">
                <a:solidFill>
                  <a:srgbClr val="00CC00"/>
                </a:solidFill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4453" y="3381614"/>
            <a:ext cx="46164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-37" baseline="-20202" dirty="0">
                <a:solidFill>
                  <a:srgbClr val="00CC00"/>
                </a:solidFill>
                <a:latin typeface="Georgia"/>
                <a:cs typeface="Georgia"/>
              </a:rPr>
              <a:t>e</a:t>
            </a:r>
            <a:r>
              <a:rPr sz="1650" i="1" spc="-165" baseline="-20202" dirty="0">
                <a:solidFill>
                  <a:srgbClr val="00CC00"/>
                </a:solidFill>
                <a:latin typeface="Georgia"/>
                <a:cs typeface="Georgia"/>
              </a:rPr>
              <a:t> </a:t>
            </a:r>
            <a:r>
              <a:rPr sz="900" i="1" spc="-10" dirty="0">
                <a:solidFill>
                  <a:srgbClr val="00CC00"/>
                </a:solidFill>
                <a:latin typeface="Georgia"/>
                <a:cs typeface="Georgia"/>
              </a:rPr>
              <a:t>j</a:t>
            </a:r>
            <a:r>
              <a:rPr sz="900" spc="-10" dirty="0">
                <a:solidFill>
                  <a:srgbClr val="00CC00"/>
                </a:solidFill>
                <a:latin typeface="Palatino Linotype"/>
                <a:cs typeface="Palatino Linotype"/>
              </a:rPr>
              <a:t>2</a:t>
            </a:r>
            <a:r>
              <a:rPr sz="900" i="1" spc="-10" dirty="0">
                <a:solidFill>
                  <a:srgbClr val="00CC00"/>
                </a:solidFill>
                <a:latin typeface="Georgia"/>
                <a:cs typeface="Georgia"/>
              </a:rPr>
              <a:t>π/</a:t>
            </a:r>
            <a:r>
              <a:rPr sz="900" spc="-10" dirty="0">
                <a:solidFill>
                  <a:srgbClr val="00CC00"/>
                </a:solidFill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67412" y="3381614"/>
            <a:ext cx="46164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i="1" spc="-37" baseline="-20202" dirty="0">
                <a:solidFill>
                  <a:srgbClr val="00CC00"/>
                </a:solidFill>
                <a:latin typeface="Georgia"/>
                <a:cs typeface="Georgia"/>
              </a:rPr>
              <a:t>e</a:t>
            </a:r>
            <a:r>
              <a:rPr sz="1650" i="1" spc="-165" baseline="-20202" dirty="0">
                <a:solidFill>
                  <a:srgbClr val="00CC00"/>
                </a:solidFill>
                <a:latin typeface="Georgia"/>
                <a:cs typeface="Georgia"/>
              </a:rPr>
              <a:t> </a:t>
            </a:r>
            <a:r>
              <a:rPr sz="900" i="1" spc="-10" dirty="0">
                <a:solidFill>
                  <a:srgbClr val="00CC00"/>
                </a:solidFill>
                <a:latin typeface="Georgia"/>
                <a:cs typeface="Georgia"/>
              </a:rPr>
              <a:t>j</a:t>
            </a:r>
            <a:r>
              <a:rPr sz="900" spc="-10" dirty="0">
                <a:solidFill>
                  <a:srgbClr val="00CC00"/>
                </a:solidFill>
                <a:latin typeface="Palatino Linotype"/>
                <a:cs typeface="Palatino Linotype"/>
              </a:rPr>
              <a:t>1</a:t>
            </a:r>
            <a:r>
              <a:rPr sz="900" i="1" spc="-10" dirty="0">
                <a:solidFill>
                  <a:srgbClr val="00CC00"/>
                </a:solidFill>
                <a:latin typeface="Georgia"/>
                <a:cs typeface="Georgia"/>
              </a:rPr>
              <a:t>π/</a:t>
            </a:r>
            <a:r>
              <a:rPr sz="900" spc="-10" dirty="0">
                <a:solidFill>
                  <a:srgbClr val="00CC00"/>
                </a:solidFill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777145" y="996953"/>
            <a:ext cx="1651000" cy="1079500"/>
            <a:chOff x="2777145" y="996953"/>
            <a:chExt cx="1651000" cy="1079500"/>
          </a:xfrm>
        </p:grpSpPr>
        <p:sp>
          <p:nvSpPr>
            <p:cNvPr id="24" name="object 24"/>
            <p:cNvSpPr/>
            <p:nvPr/>
          </p:nvSpPr>
          <p:spPr>
            <a:xfrm>
              <a:off x="2777145" y="1028679"/>
              <a:ext cx="1651000" cy="1016000"/>
            </a:xfrm>
            <a:custGeom>
              <a:avLst/>
              <a:gdLst/>
              <a:ahLst/>
              <a:cxnLst/>
              <a:rect l="l" t="t" r="r" b="b"/>
              <a:pathLst>
                <a:path w="1651000" h="1016000">
                  <a:moveTo>
                    <a:pt x="0" y="508000"/>
                  </a:moveTo>
                  <a:lnTo>
                    <a:pt x="1651000" y="508000"/>
                  </a:lnTo>
                </a:path>
                <a:path w="1651000" h="1016000">
                  <a:moveTo>
                    <a:pt x="63500" y="1016000"/>
                  </a:moveTo>
                  <a:lnTo>
                    <a:pt x="63500" y="0"/>
                  </a:lnTo>
                </a:path>
                <a:path w="1651000" h="1016000">
                  <a:moveTo>
                    <a:pt x="190500" y="508000"/>
                  </a:moveTo>
                  <a:lnTo>
                    <a:pt x="190500" y="546100"/>
                  </a:lnTo>
                </a:path>
                <a:path w="1651000" h="1016000">
                  <a:moveTo>
                    <a:pt x="317500" y="508000"/>
                  </a:moveTo>
                  <a:lnTo>
                    <a:pt x="317500" y="546100"/>
                  </a:lnTo>
                </a:path>
                <a:path w="1651000" h="1016000">
                  <a:moveTo>
                    <a:pt x="444500" y="508000"/>
                  </a:moveTo>
                  <a:lnTo>
                    <a:pt x="444500" y="546100"/>
                  </a:lnTo>
                </a:path>
                <a:path w="1651000" h="1016000">
                  <a:moveTo>
                    <a:pt x="571500" y="508000"/>
                  </a:moveTo>
                  <a:lnTo>
                    <a:pt x="571500" y="546100"/>
                  </a:lnTo>
                </a:path>
                <a:path w="1651000" h="1016000">
                  <a:moveTo>
                    <a:pt x="698500" y="508000"/>
                  </a:moveTo>
                  <a:lnTo>
                    <a:pt x="698500" y="546100"/>
                  </a:lnTo>
                </a:path>
                <a:path w="1651000" h="1016000">
                  <a:moveTo>
                    <a:pt x="825500" y="508000"/>
                  </a:moveTo>
                  <a:lnTo>
                    <a:pt x="825500" y="546100"/>
                  </a:lnTo>
                </a:path>
                <a:path w="1651000" h="1016000">
                  <a:moveTo>
                    <a:pt x="952500" y="508000"/>
                  </a:moveTo>
                  <a:lnTo>
                    <a:pt x="952500" y="546100"/>
                  </a:lnTo>
                </a:path>
                <a:path w="1651000" h="1016000">
                  <a:moveTo>
                    <a:pt x="1079500" y="508000"/>
                  </a:moveTo>
                  <a:lnTo>
                    <a:pt x="1079500" y="546100"/>
                  </a:lnTo>
                </a:path>
                <a:path w="1651000" h="1016000">
                  <a:moveTo>
                    <a:pt x="1206500" y="508000"/>
                  </a:moveTo>
                  <a:lnTo>
                    <a:pt x="1206500" y="546100"/>
                  </a:lnTo>
                </a:path>
                <a:path w="1651000" h="1016000">
                  <a:moveTo>
                    <a:pt x="1333500" y="508000"/>
                  </a:moveTo>
                  <a:lnTo>
                    <a:pt x="1333500" y="546100"/>
                  </a:lnTo>
                </a:path>
                <a:path w="1651000" h="1016000">
                  <a:moveTo>
                    <a:pt x="1460500" y="508000"/>
                  </a:moveTo>
                  <a:lnTo>
                    <a:pt x="1460500" y="546100"/>
                  </a:lnTo>
                </a:path>
                <a:path w="1651000" h="1016000">
                  <a:moveTo>
                    <a:pt x="1587500" y="508000"/>
                  </a:moveTo>
                  <a:lnTo>
                    <a:pt x="1587500" y="5461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15245" y="1003279"/>
              <a:ext cx="1574800" cy="1066800"/>
            </a:xfrm>
            <a:custGeom>
              <a:avLst/>
              <a:gdLst/>
              <a:ahLst/>
              <a:cxnLst/>
              <a:rect l="l" t="t" r="r" b="b"/>
              <a:pathLst>
                <a:path w="1574800" h="1066800">
                  <a:moveTo>
                    <a:pt x="50800" y="25400"/>
                  </a:moveTo>
                  <a:lnTo>
                    <a:pt x="50800" y="18663"/>
                  </a:lnTo>
                  <a:lnTo>
                    <a:pt x="48123" y="12203"/>
                  </a:lnTo>
                  <a:lnTo>
                    <a:pt x="43360" y="7439"/>
                  </a:lnTo>
                  <a:lnTo>
                    <a:pt x="38596" y="2676"/>
                  </a:lnTo>
                  <a:lnTo>
                    <a:pt x="32136" y="0"/>
                  </a:lnTo>
                  <a:lnTo>
                    <a:pt x="25400" y="0"/>
                  </a:lnTo>
                  <a:lnTo>
                    <a:pt x="18663" y="0"/>
                  </a:lnTo>
                  <a:lnTo>
                    <a:pt x="12203" y="2676"/>
                  </a:lnTo>
                  <a:lnTo>
                    <a:pt x="7439" y="7439"/>
                  </a:lnTo>
                  <a:lnTo>
                    <a:pt x="2676" y="12203"/>
                  </a:lnTo>
                  <a:lnTo>
                    <a:pt x="0" y="18663"/>
                  </a:lnTo>
                  <a:lnTo>
                    <a:pt x="0" y="25400"/>
                  </a:lnTo>
                  <a:lnTo>
                    <a:pt x="0" y="32136"/>
                  </a:lnTo>
                  <a:lnTo>
                    <a:pt x="2676" y="38596"/>
                  </a:lnTo>
                  <a:lnTo>
                    <a:pt x="7439" y="43360"/>
                  </a:lnTo>
                  <a:lnTo>
                    <a:pt x="12203" y="48123"/>
                  </a:lnTo>
                  <a:lnTo>
                    <a:pt x="18663" y="50800"/>
                  </a:lnTo>
                  <a:lnTo>
                    <a:pt x="25400" y="50800"/>
                  </a:lnTo>
                  <a:lnTo>
                    <a:pt x="32136" y="50800"/>
                  </a:lnTo>
                  <a:lnTo>
                    <a:pt x="38596" y="48123"/>
                  </a:lnTo>
                  <a:lnTo>
                    <a:pt x="43360" y="43360"/>
                  </a:lnTo>
                  <a:lnTo>
                    <a:pt x="48123" y="38596"/>
                  </a:lnTo>
                  <a:lnTo>
                    <a:pt x="50800" y="32136"/>
                  </a:lnTo>
                  <a:lnTo>
                    <a:pt x="50800" y="25400"/>
                  </a:lnTo>
                  <a:close/>
                </a:path>
                <a:path w="1574800" h="1066800">
                  <a:moveTo>
                    <a:pt x="177800" y="278872"/>
                  </a:moveTo>
                  <a:lnTo>
                    <a:pt x="177800" y="272136"/>
                  </a:lnTo>
                  <a:lnTo>
                    <a:pt x="175123" y="265675"/>
                  </a:lnTo>
                  <a:lnTo>
                    <a:pt x="170360" y="260912"/>
                  </a:lnTo>
                  <a:lnTo>
                    <a:pt x="165596" y="256149"/>
                  </a:lnTo>
                  <a:lnTo>
                    <a:pt x="159136" y="253472"/>
                  </a:lnTo>
                  <a:lnTo>
                    <a:pt x="152400" y="253472"/>
                  </a:lnTo>
                  <a:lnTo>
                    <a:pt x="145663" y="253472"/>
                  </a:lnTo>
                  <a:lnTo>
                    <a:pt x="139203" y="256149"/>
                  </a:lnTo>
                  <a:lnTo>
                    <a:pt x="134439" y="260912"/>
                  </a:lnTo>
                  <a:lnTo>
                    <a:pt x="129676" y="265675"/>
                  </a:lnTo>
                  <a:lnTo>
                    <a:pt x="127000" y="272136"/>
                  </a:lnTo>
                  <a:lnTo>
                    <a:pt x="127000" y="278872"/>
                  </a:lnTo>
                  <a:lnTo>
                    <a:pt x="127000" y="285609"/>
                  </a:lnTo>
                  <a:lnTo>
                    <a:pt x="129676" y="292069"/>
                  </a:lnTo>
                  <a:lnTo>
                    <a:pt x="134439" y="296833"/>
                  </a:lnTo>
                  <a:lnTo>
                    <a:pt x="139203" y="301596"/>
                  </a:lnTo>
                  <a:lnTo>
                    <a:pt x="145663" y="304272"/>
                  </a:lnTo>
                  <a:lnTo>
                    <a:pt x="152400" y="304272"/>
                  </a:lnTo>
                  <a:lnTo>
                    <a:pt x="159136" y="304272"/>
                  </a:lnTo>
                  <a:lnTo>
                    <a:pt x="165596" y="301596"/>
                  </a:lnTo>
                  <a:lnTo>
                    <a:pt x="170360" y="296833"/>
                  </a:lnTo>
                  <a:lnTo>
                    <a:pt x="175123" y="292069"/>
                  </a:lnTo>
                  <a:lnTo>
                    <a:pt x="177800" y="285609"/>
                  </a:lnTo>
                  <a:lnTo>
                    <a:pt x="177800" y="278872"/>
                  </a:lnTo>
                  <a:close/>
                </a:path>
                <a:path w="1574800" h="1066800">
                  <a:moveTo>
                    <a:pt x="304800" y="786338"/>
                  </a:moveTo>
                  <a:lnTo>
                    <a:pt x="304800" y="779601"/>
                  </a:lnTo>
                  <a:lnTo>
                    <a:pt x="302123" y="773141"/>
                  </a:lnTo>
                  <a:lnTo>
                    <a:pt x="297360" y="768377"/>
                  </a:lnTo>
                  <a:lnTo>
                    <a:pt x="292596" y="763614"/>
                  </a:lnTo>
                  <a:lnTo>
                    <a:pt x="286136" y="760938"/>
                  </a:lnTo>
                  <a:lnTo>
                    <a:pt x="279400" y="760938"/>
                  </a:lnTo>
                  <a:lnTo>
                    <a:pt x="272663" y="760938"/>
                  </a:lnTo>
                  <a:lnTo>
                    <a:pt x="266203" y="763614"/>
                  </a:lnTo>
                  <a:lnTo>
                    <a:pt x="261439" y="768377"/>
                  </a:lnTo>
                  <a:lnTo>
                    <a:pt x="256676" y="773141"/>
                  </a:lnTo>
                  <a:lnTo>
                    <a:pt x="254000" y="779601"/>
                  </a:lnTo>
                  <a:lnTo>
                    <a:pt x="254000" y="786338"/>
                  </a:lnTo>
                  <a:lnTo>
                    <a:pt x="254000" y="793074"/>
                  </a:lnTo>
                  <a:lnTo>
                    <a:pt x="256676" y="799534"/>
                  </a:lnTo>
                  <a:lnTo>
                    <a:pt x="261439" y="804298"/>
                  </a:lnTo>
                  <a:lnTo>
                    <a:pt x="266203" y="809061"/>
                  </a:lnTo>
                  <a:lnTo>
                    <a:pt x="272663" y="811738"/>
                  </a:lnTo>
                  <a:lnTo>
                    <a:pt x="279400" y="811738"/>
                  </a:lnTo>
                  <a:lnTo>
                    <a:pt x="286136" y="811738"/>
                  </a:lnTo>
                  <a:lnTo>
                    <a:pt x="292596" y="809061"/>
                  </a:lnTo>
                  <a:lnTo>
                    <a:pt x="297360" y="804298"/>
                  </a:lnTo>
                  <a:lnTo>
                    <a:pt x="302123" y="799534"/>
                  </a:lnTo>
                  <a:lnTo>
                    <a:pt x="304800" y="793074"/>
                  </a:lnTo>
                  <a:lnTo>
                    <a:pt x="304800" y="786338"/>
                  </a:lnTo>
                  <a:close/>
                </a:path>
                <a:path w="1574800" h="1066800">
                  <a:moveTo>
                    <a:pt x="431800" y="1041400"/>
                  </a:moveTo>
                  <a:lnTo>
                    <a:pt x="431800" y="1034663"/>
                  </a:lnTo>
                  <a:lnTo>
                    <a:pt x="429123" y="1028203"/>
                  </a:lnTo>
                  <a:lnTo>
                    <a:pt x="424360" y="1023439"/>
                  </a:lnTo>
                  <a:lnTo>
                    <a:pt x="419596" y="1018676"/>
                  </a:lnTo>
                  <a:lnTo>
                    <a:pt x="413136" y="1016000"/>
                  </a:lnTo>
                  <a:lnTo>
                    <a:pt x="406400" y="1016000"/>
                  </a:lnTo>
                  <a:lnTo>
                    <a:pt x="399663" y="1016000"/>
                  </a:lnTo>
                  <a:lnTo>
                    <a:pt x="393203" y="1018676"/>
                  </a:lnTo>
                  <a:lnTo>
                    <a:pt x="388439" y="1023439"/>
                  </a:lnTo>
                  <a:lnTo>
                    <a:pt x="383676" y="1028203"/>
                  </a:lnTo>
                  <a:lnTo>
                    <a:pt x="381000" y="1034663"/>
                  </a:lnTo>
                  <a:lnTo>
                    <a:pt x="381000" y="1041400"/>
                  </a:lnTo>
                  <a:lnTo>
                    <a:pt x="381000" y="1048136"/>
                  </a:lnTo>
                  <a:lnTo>
                    <a:pt x="383676" y="1054596"/>
                  </a:lnTo>
                  <a:lnTo>
                    <a:pt x="388439" y="1059360"/>
                  </a:lnTo>
                  <a:lnTo>
                    <a:pt x="393203" y="1064123"/>
                  </a:lnTo>
                  <a:lnTo>
                    <a:pt x="399663" y="1066800"/>
                  </a:lnTo>
                  <a:lnTo>
                    <a:pt x="406400" y="1066800"/>
                  </a:lnTo>
                  <a:lnTo>
                    <a:pt x="413136" y="1066800"/>
                  </a:lnTo>
                  <a:lnTo>
                    <a:pt x="419596" y="1064123"/>
                  </a:lnTo>
                  <a:lnTo>
                    <a:pt x="424360" y="1059360"/>
                  </a:lnTo>
                  <a:lnTo>
                    <a:pt x="429123" y="1054596"/>
                  </a:lnTo>
                  <a:lnTo>
                    <a:pt x="431800" y="1048136"/>
                  </a:lnTo>
                  <a:lnTo>
                    <a:pt x="431800" y="1041400"/>
                  </a:lnTo>
                  <a:close/>
                </a:path>
                <a:path w="1574800" h="1066800">
                  <a:moveTo>
                    <a:pt x="558800" y="789516"/>
                  </a:moveTo>
                  <a:lnTo>
                    <a:pt x="558800" y="782779"/>
                  </a:lnTo>
                  <a:lnTo>
                    <a:pt x="556123" y="776319"/>
                  </a:lnTo>
                  <a:lnTo>
                    <a:pt x="551360" y="771555"/>
                  </a:lnTo>
                  <a:lnTo>
                    <a:pt x="546596" y="766792"/>
                  </a:lnTo>
                  <a:lnTo>
                    <a:pt x="540136" y="764116"/>
                  </a:lnTo>
                  <a:lnTo>
                    <a:pt x="533400" y="764116"/>
                  </a:lnTo>
                  <a:lnTo>
                    <a:pt x="526663" y="764116"/>
                  </a:lnTo>
                  <a:lnTo>
                    <a:pt x="520203" y="766792"/>
                  </a:lnTo>
                  <a:lnTo>
                    <a:pt x="515439" y="771555"/>
                  </a:lnTo>
                  <a:lnTo>
                    <a:pt x="510676" y="776319"/>
                  </a:lnTo>
                  <a:lnTo>
                    <a:pt x="508000" y="782779"/>
                  </a:lnTo>
                  <a:lnTo>
                    <a:pt x="508000" y="789516"/>
                  </a:lnTo>
                  <a:lnTo>
                    <a:pt x="508000" y="796252"/>
                  </a:lnTo>
                  <a:lnTo>
                    <a:pt x="510676" y="802713"/>
                  </a:lnTo>
                  <a:lnTo>
                    <a:pt x="515439" y="807476"/>
                  </a:lnTo>
                  <a:lnTo>
                    <a:pt x="520203" y="812239"/>
                  </a:lnTo>
                  <a:lnTo>
                    <a:pt x="526663" y="814916"/>
                  </a:lnTo>
                  <a:lnTo>
                    <a:pt x="533400" y="814916"/>
                  </a:lnTo>
                  <a:lnTo>
                    <a:pt x="540136" y="814916"/>
                  </a:lnTo>
                  <a:lnTo>
                    <a:pt x="546596" y="812239"/>
                  </a:lnTo>
                  <a:lnTo>
                    <a:pt x="551360" y="807476"/>
                  </a:lnTo>
                  <a:lnTo>
                    <a:pt x="556123" y="802713"/>
                  </a:lnTo>
                  <a:lnTo>
                    <a:pt x="558800" y="796252"/>
                  </a:lnTo>
                  <a:lnTo>
                    <a:pt x="558800" y="789516"/>
                  </a:lnTo>
                  <a:close/>
                </a:path>
                <a:path w="1574800" h="1066800">
                  <a:moveTo>
                    <a:pt x="685800" y="282058"/>
                  </a:moveTo>
                  <a:lnTo>
                    <a:pt x="685800" y="275322"/>
                  </a:lnTo>
                  <a:lnTo>
                    <a:pt x="683123" y="268861"/>
                  </a:lnTo>
                  <a:lnTo>
                    <a:pt x="678360" y="264098"/>
                  </a:lnTo>
                  <a:lnTo>
                    <a:pt x="673596" y="259335"/>
                  </a:lnTo>
                  <a:lnTo>
                    <a:pt x="667136" y="256658"/>
                  </a:lnTo>
                  <a:lnTo>
                    <a:pt x="660400" y="256658"/>
                  </a:lnTo>
                  <a:lnTo>
                    <a:pt x="653663" y="256658"/>
                  </a:lnTo>
                  <a:lnTo>
                    <a:pt x="647203" y="259335"/>
                  </a:lnTo>
                  <a:lnTo>
                    <a:pt x="642439" y="264098"/>
                  </a:lnTo>
                  <a:lnTo>
                    <a:pt x="637676" y="268861"/>
                  </a:lnTo>
                  <a:lnTo>
                    <a:pt x="635000" y="275322"/>
                  </a:lnTo>
                  <a:lnTo>
                    <a:pt x="635000" y="282058"/>
                  </a:lnTo>
                  <a:lnTo>
                    <a:pt x="635000" y="288795"/>
                  </a:lnTo>
                  <a:lnTo>
                    <a:pt x="637676" y="295255"/>
                  </a:lnTo>
                  <a:lnTo>
                    <a:pt x="642439" y="300018"/>
                  </a:lnTo>
                  <a:lnTo>
                    <a:pt x="647203" y="304782"/>
                  </a:lnTo>
                  <a:lnTo>
                    <a:pt x="653663" y="307458"/>
                  </a:lnTo>
                  <a:lnTo>
                    <a:pt x="660400" y="307458"/>
                  </a:lnTo>
                  <a:lnTo>
                    <a:pt x="667136" y="307458"/>
                  </a:lnTo>
                  <a:lnTo>
                    <a:pt x="673596" y="304782"/>
                  </a:lnTo>
                  <a:lnTo>
                    <a:pt x="678360" y="300018"/>
                  </a:lnTo>
                  <a:lnTo>
                    <a:pt x="683123" y="295255"/>
                  </a:lnTo>
                  <a:lnTo>
                    <a:pt x="685800" y="288795"/>
                  </a:lnTo>
                  <a:lnTo>
                    <a:pt x="685800" y="282058"/>
                  </a:lnTo>
                  <a:close/>
                </a:path>
                <a:path w="1574800" h="1066800">
                  <a:moveTo>
                    <a:pt x="812800" y="25415"/>
                  </a:moveTo>
                  <a:lnTo>
                    <a:pt x="812800" y="18678"/>
                  </a:lnTo>
                  <a:lnTo>
                    <a:pt x="810123" y="12218"/>
                  </a:lnTo>
                  <a:lnTo>
                    <a:pt x="805360" y="7455"/>
                  </a:lnTo>
                  <a:lnTo>
                    <a:pt x="800596" y="2692"/>
                  </a:lnTo>
                  <a:lnTo>
                    <a:pt x="794136" y="15"/>
                  </a:lnTo>
                  <a:lnTo>
                    <a:pt x="787400" y="15"/>
                  </a:lnTo>
                  <a:lnTo>
                    <a:pt x="780663" y="15"/>
                  </a:lnTo>
                  <a:lnTo>
                    <a:pt x="774203" y="2692"/>
                  </a:lnTo>
                  <a:lnTo>
                    <a:pt x="769439" y="7455"/>
                  </a:lnTo>
                  <a:lnTo>
                    <a:pt x="764676" y="12218"/>
                  </a:lnTo>
                  <a:lnTo>
                    <a:pt x="762000" y="18678"/>
                  </a:lnTo>
                  <a:lnTo>
                    <a:pt x="762000" y="25415"/>
                  </a:lnTo>
                  <a:lnTo>
                    <a:pt x="762000" y="32152"/>
                  </a:lnTo>
                  <a:lnTo>
                    <a:pt x="764676" y="38612"/>
                  </a:lnTo>
                  <a:lnTo>
                    <a:pt x="769439" y="43375"/>
                  </a:lnTo>
                  <a:lnTo>
                    <a:pt x="774203" y="48138"/>
                  </a:lnTo>
                  <a:lnTo>
                    <a:pt x="780663" y="50815"/>
                  </a:lnTo>
                  <a:lnTo>
                    <a:pt x="787400" y="50815"/>
                  </a:lnTo>
                  <a:lnTo>
                    <a:pt x="794136" y="50815"/>
                  </a:lnTo>
                  <a:lnTo>
                    <a:pt x="800596" y="48138"/>
                  </a:lnTo>
                  <a:lnTo>
                    <a:pt x="805360" y="43375"/>
                  </a:lnTo>
                  <a:lnTo>
                    <a:pt x="810123" y="38612"/>
                  </a:lnTo>
                  <a:lnTo>
                    <a:pt x="812800" y="32152"/>
                  </a:lnTo>
                  <a:lnTo>
                    <a:pt x="812800" y="25415"/>
                  </a:lnTo>
                  <a:close/>
                </a:path>
                <a:path w="1574800" h="1066800">
                  <a:moveTo>
                    <a:pt x="939800" y="275694"/>
                  </a:moveTo>
                  <a:lnTo>
                    <a:pt x="939800" y="268958"/>
                  </a:lnTo>
                  <a:lnTo>
                    <a:pt x="937123" y="262497"/>
                  </a:lnTo>
                  <a:lnTo>
                    <a:pt x="932360" y="257734"/>
                  </a:lnTo>
                  <a:lnTo>
                    <a:pt x="927596" y="252971"/>
                  </a:lnTo>
                  <a:lnTo>
                    <a:pt x="921136" y="250294"/>
                  </a:lnTo>
                  <a:lnTo>
                    <a:pt x="914400" y="250294"/>
                  </a:lnTo>
                  <a:lnTo>
                    <a:pt x="907663" y="250294"/>
                  </a:lnTo>
                  <a:lnTo>
                    <a:pt x="901203" y="252971"/>
                  </a:lnTo>
                  <a:lnTo>
                    <a:pt x="896439" y="257734"/>
                  </a:lnTo>
                  <a:lnTo>
                    <a:pt x="891676" y="262497"/>
                  </a:lnTo>
                  <a:lnTo>
                    <a:pt x="889000" y="268958"/>
                  </a:lnTo>
                  <a:lnTo>
                    <a:pt x="889000" y="275694"/>
                  </a:lnTo>
                  <a:lnTo>
                    <a:pt x="889000" y="282431"/>
                  </a:lnTo>
                  <a:lnTo>
                    <a:pt x="891676" y="288891"/>
                  </a:lnTo>
                  <a:lnTo>
                    <a:pt x="896439" y="293654"/>
                  </a:lnTo>
                  <a:lnTo>
                    <a:pt x="901203" y="298418"/>
                  </a:lnTo>
                  <a:lnTo>
                    <a:pt x="907663" y="301094"/>
                  </a:lnTo>
                  <a:lnTo>
                    <a:pt x="914400" y="301094"/>
                  </a:lnTo>
                  <a:lnTo>
                    <a:pt x="921136" y="301094"/>
                  </a:lnTo>
                  <a:lnTo>
                    <a:pt x="927596" y="298418"/>
                  </a:lnTo>
                  <a:lnTo>
                    <a:pt x="932360" y="293654"/>
                  </a:lnTo>
                  <a:lnTo>
                    <a:pt x="937123" y="288891"/>
                  </a:lnTo>
                  <a:lnTo>
                    <a:pt x="939800" y="282431"/>
                  </a:lnTo>
                  <a:lnTo>
                    <a:pt x="939800" y="275694"/>
                  </a:lnTo>
                  <a:close/>
                </a:path>
                <a:path w="1574800" h="1066800">
                  <a:moveTo>
                    <a:pt x="1066800" y="783144"/>
                  </a:moveTo>
                  <a:lnTo>
                    <a:pt x="1066800" y="776407"/>
                  </a:lnTo>
                  <a:lnTo>
                    <a:pt x="1064123" y="769947"/>
                  </a:lnTo>
                  <a:lnTo>
                    <a:pt x="1059360" y="765184"/>
                  </a:lnTo>
                  <a:lnTo>
                    <a:pt x="1054596" y="760421"/>
                  </a:lnTo>
                  <a:lnTo>
                    <a:pt x="1048136" y="757744"/>
                  </a:lnTo>
                  <a:lnTo>
                    <a:pt x="1041400" y="757744"/>
                  </a:lnTo>
                  <a:lnTo>
                    <a:pt x="1034663" y="757744"/>
                  </a:lnTo>
                  <a:lnTo>
                    <a:pt x="1028203" y="760421"/>
                  </a:lnTo>
                  <a:lnTo>
                    <a:pt x="1023439" y="765184"/>
                  </a:lnTo>
                  <a:lnTo>
                    <a:pt x="1018676" y="769947"/>
                  </a:lnTo>
                  <a:lnTo>
                    <a:pt x="1016000" y="776407"/>
                  </a:lnTo>
                  <a:lnTo>
                    <a:pt x="1016000" y="783144"/>
                  </a:lnTo>
                  <a:lnTo>
                    <a:pt x="1016000" y="789881"/>
                  </a:lnTo>
                  <a:lnTo>
                    <a:pt x="1018676" y="796341"/>
                  </a:lnTo>
                  <a:lnTo>
                    <a:pt x="1023439" y="801104"/>
                  </a:lnTo>
                  <a:lnTo>
                    <a:pt x="1028203" y="805867"/>
                  </a:lnTo>
                  <a:lnTo>
                    <a:pt x="1034663" y="808544"/>
                  </a:lnTo>
                  <a:lnTo>
                    <a:pt x="1041400" y="808544"/>
                  </a:lnTo>
                  <a:lnTo>
                    <a:pt x="1048136" y="808544"/>
                  </a:lnTo>
                  <a:lnTo>
                    <a:pt x="1054596" y="805867"/>
                  </a:lnTo>
                  <a:lnTo>
                    <a:pt x="1059360" y="801104"/>
                  </a:lnTo>
                  <a:lnTo>
                    <a:pt x="1064123" y="796341"/>
                  </a:lnTo>
                  <a:lnTo>
                    <a:pt x="1066800" y="789881"/>
                  </a:lnTo>
                  <a:lnTo>
                    <a:pt x="1066800" y="783144"/>
                  </a:lnTo>
                  <a:close/>
                </a:path>
                <a:path w="1574800" h="1066800">
                  <a:moveTo>
                    <a:pt x="1193800" y="1041369"/>
                  </a:moveTo>
                  <a:lnTo>
                    <a:pt x="1193800" y="1034632"/>
                  </a:lnTo>
                  <a:lnTo>
                    <a:pt x="1191123" y="1028172"/>
                  </a:lnTo>
                  <a:lnTo>
                    <a:pt x="1186360" y="1023408"/>
                  </a:lnTo>
                  <a:lnTo>
                    <a:pt x="1181596" y="1018645"/>
                  </a:lnTo>
                  <a:lnTo>
                    <a:pt x="1175136" y="1015969"/>
                  </a:lnTo>
                  <a:lnTo>
                    <a:pt x="1168400" y="1015969"/>
                  </a:lnTo>
                  <a:lnTo>
                    <a:pt x="1161663" y="1015969"/>
                  </a:lnTo>
                  <a:lnTo>
                    <a:pt x="1155203" y="1018645"/>
                  </a:lnTo>
                  <a:lnTo>
                    <a:pt x="1150439" y="1023408"/>
                  </a:lnTo>
                  <a:lnTo>
                    <a:pt x="1145676" y="1028172"/>
                  </a:lnTo>
                  <a:lnTo>
                    <a:pt x="1143000" y="1034632"/>
                  </a:lnTo>
                  <a:lnTo>
                    <a:pt x="1143000" y="1041369"/>
                  </a:lnTo>
                  <a:lnTo>
                    <a:pt x="1143000" y="1048105"/>
                  </a:lnTo>
                  <a:lnTo>
                    <a:pt x="1145676" y="1054565"/>
                  </a:lnTo>
                  <a:lnTo>
                    <a:pt x="1150439" y="1059329"/>
                  </a:lnTo>
                  <a:lnTo>
                    <a:pt x="1155203" y="1064092"/>
                  </a:lnTo>
                  <a:lnTo>
                    <a:pt x="1161663" y="1066769"/>
                  </a:lnTo>
                  <a:lnTo>
                    <a:pt x="1168400" y="1066769"/>
                  </a:lnTo>
                  <a:lnTo>
                    <a:pt x="1175136" y="1066769"/>
                  </a:lnTo>
                  <a:lnTo>
                    <a:pt x="1181596" y="1064092"/>
                  </a:lnTo>
                  <a:lnTo>
                    <a:pt x="1186360" y="1059329"/>
                  </a:lnTo>
                  <a:lnTo>
                    <a:pt x="1191123" y="1054565"/>
                  </a:lnTo>
                  <a:lnTo>
                    <a:pt x="1193800" y="1048105"/>
                  </a:lnTo>
                  <a:lnTo>
                    <a:pt x="1193800" y="1041369"/>
                  </a:lnTo>
                  <a:close/>
                </a:path>
                <a:path w="1574800" h="1066800">
                  <a:moveTo>
                    <a:pt x="1320800" y="792686"/>
                  </a:moveTo>
                  <a:lnTo>
                    <a:pt x="1320800" y="785949"/>
                  </a:lnTo>
                  <a:lnTo>
                    <a:pt x="1318123" y="779489"/>
                  </a:lnTo>
                  <a:lnTo>
                    <a:pt x="1313360" y="774726"/>
                  </a:lnTo>
                  <a:lnTo>
                    <a:pt x="1308596" y="769963"/>
                  </a:lnTo>
                  <a:lnTo>
                    <a:pt x="1302136" y="767286"/>
                  </a:lnTo>
                  <a:lnTo>
                    <a:pt x="1295400" y="767286"/>
                  </a:lnTo>
                  <a:lnTo>
                    <a:pt x="1288663" y="767286"/>
                  </a:lnTo>
                  <a:lnTo>
                    <a:pt x="1282203" y="769963"/>
                  </a:lnTo>
                  <a:lnTo>
                    <a:pt x="1277439" y="774726"/>
                  </a:lnTo>
                  <a:lnTo>
                    <a:pt x="1272676" y="779489"/>
                  </a:lnTo>
                  <a:lnTo>
                    <a:pt x="1270000" y="785949"/>
                  </a:lnTo>
                  <a:lnTo>
                    <a:pt x="1270000" y="792686"/>
                  </a:lnTo>
                  <a:lnTo>
                    <a:pt x="1270000" y="799423"/>
                  </a:lnTo>
                  <a:lnTo>
                    <a:pt x="1272676" y="805883"/>
                  </a:lnTo>
                  <a:lnTo>
                    <a:pt x="1277439" y="810646"/>
                  </a:lnTo>
                  <a:lnTo>
                    <a:pt x="1282203" y="815409"/>
                  </a:lnTo>
                  <a:lnTo>
                    <a:pt x="1288663" y="818086"/>
                  </a:lnTo>
                  <a:lnTo>
                    <a:pt x="1295400" y="818086"/>
                  </a:lnTo>
                  <a:lnTo>
                    <a:pt x="1302136" y="818086"/>
                  </a:lnTo>
                  <a:lnTo>
                    <a:pt x="1308596" y="815409"/>
                  </a:lnTo>
                  <a:lnTo>
                    <a:pt x="1313360" y="810646"/>
                  </a:lnTo>
                  <a:lnTo>
                    <a:pt x="1318123" y="805883"/>
                  </a:lnTo>
                  <a:lnTo>
                    <a:pt x="1320800" y="799423"/>
                  </a:lnTo>
                  <a:lnTo>
                    <a:pt x="1320800" y="792686"/>
                  </a:lnTo>
                  <a:close/>
                </a:path>
                <a:path w="1574800" h="1066800">
                  <a:moveTo>
                    <a:pt x="1447800" y="285252"/>
                  </a:moveTo>
                  <a:lnTo>
                    <a:pt x="1447800" y="278515"/>
                  </a:lnTo>
                  <a:lnTo>
                    <a:pt x="1445123" y="272055"/>
                  </a:lnTo>
                  <a:lnTo>
                    <a:pt x="1440360" y="267292"/>
                  </a:lnTo>
                  <a:lnTo>
                    <a:pt x="1435596" y="262528"/>
                  </a:lnTo>
                  <a:lnTo>
                    <a:pt x="1429136" y="259852"/>
                  </a:lnTo>
                  <a:lnTo>
                    <a:pt x="1422400" y="259852"/>
                  </a:lnTo>
                  <a:lnTo>
                    <a:pt x="1415663" y="259852"/>
                  </a:lnTo>
                  <a:lnTo>
                    <a:pt x="1409203" y="262528"/>
                  </a:lnTo>
                  <a:lnTo>
                    <a:pt x="1404439" y="267292"/>
                  </a:lnTo>
                  <a:lnTo>
                    <a:pt x="1399676" y="272055"/>
                  </a:lnTo>
                  <a:lnTo>
                    <a:pt x="1397000" y="278515"/>
                  </a:lnTo>
                  <a:lnTo>
                    <a:pt x="1397000" y="285252"/>
                  </a:lnTo>
                  <a:lnTo>
                    <a:pt x="1397000" y="291989"/>
                  </a:lnTo>
                  <a:lnTo>
                    <a:pt x="1399676" y="298449"/>
                  </a:lnTo>
                  <a:lnTo>
                    <a:pt x="1404439" y="303212"/>
                  </a:lnTo>
                  <a:lnTo>
                    <a:pt x="1409203" y="307975"/>
                  </a:lnTo>
                  <a:lnTo>
                    <a:pt x="1415663" y="310652"/>
                  </a:lnTo>
                  <a:lnTo>
                    <a:pt x="1422400" y="310652"/>
                  </a:lnTo>
                  <a:lnTo>
                    <a:pt x="1429136" y="310652"/>
                  </a:lnTo>
                  <a:lnTo>
                    <a:pt x="1435596" y="307975"/>
                  </a:lnTo>
                  <a:lnTo>
                    <a:pt x="1440360" y="303212"/>
                  </a:lnTo>
                  <a:lnTo>
                    <a:pt x="1445123" y="298449"/>
                  </a:lnTo>
                  <a:lnTo>
                    <a:pt x="1447800" y="291989"/>
                  </a:lnTo>
                  <a:lnTo>
                    <a:pt x="1447800" y="285252"/>
                  </a:lnTo>
                  <a:close/>
                </a:path>
                <a:path w="1574800" h="1066800">
                  <a:moveTo>
                    <a:pt x="1574800" y="25454"/>
                  </a:moveTo>
                  <a:lnTo>
                    <a:pt x="1574800" y="18717"/>
                  </a:lnTo>
                  <a:lnTo>
                    <a:pt x="1572123" y="12257"/>
                  </a:lnTo>
                  <a:lnTo>
                    <a:pt x="1567360" y="7494"/>
                  </a:lnTo>
                  <a:lnTo>
                    <a:pt x="1562596" y="2730"/>
                  </a:lnTo>
                  <a:lnTo>
                    <a:pt x="1556136" y="54"/>
                  </a:lnTo>
                  <a:lnTo>
                    <a:pt x="1549400" y="54"/>
                  </a:lnTo>
                  <a:lnTo>
                    <a:pt x="1542663" y="54"/>
                  </a:lnTo>
                  <a:lnTo>
                    <a:pt x="1536203" y="2730"/>
                  </a:lnTo>
                  <a:lnTo>
                    <a:pt x="1531439" y="7494"/>
                  </a:lnTo>
                  <a:lnTo>
                    <a:pt x="1526676" y="12257"/>
                  </a:lnTo>
                  <a:lnTo>
                    <a:pt x="1524000" y="18717"/>
                  </a:lnTo>
                  <a:lnTo>
                    <a:pt x="1524000" y="25454"/>
                  </a:lnTo>
                  <a:lnTo>
                    <a:pt x="1524000" y="32191"/>
                  </a:lnTo>
                  <a:lnTo>
                    <a:pt x="1526676" y="38651"/>
                  </a:lnTo>
                  <a:lnTo>
                    <a:pt x="1531439" y="43414"/>
                  </a:lnTo>
                  <a:lnTo>
                    <a:pt x="1536203" y="48177"/>
                  </a:lnTo>
                  <a:lnTo>
                    <a:pt x="1542663" y="50854"/>
                  </a:lnTo>
                  <a:lnTo>
                    <a:pt x="1549400" y="50854"/>
                  </a:lnTo>
                  <a:lnTo>
                    <a:pt x="1556136" y="50854"/>
                  </a:lnTo>
                  <a:lnTo>
                    <a:pt x="1562596" y="48177"/>
                  </a:lnTo>
                  <a:lnTo>
                    <a:pt x="1567360" y="43414"/>
                  </a:lnTo>
                  <a:lnTo>
                    <a:pt x="1572123" y="38651"/>
                  </a:lnTo>
                  <a:lnTo>
                    <a:pt x="1574800" y="32191"/>
                  </a:lnTo>
                  <a:lnTo>
                    <a:pt x="1574800" y="25454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40645" y="1028679"/>
              <a:ext cx="1524000" cy="1016000"/>
            </a:xfrm>
            <a:custGeom>
              <a:avLst/>
              <a:gdLst/>
              <a:ahLst/>
              <a:cxnLst/>
              <a:rect l="l" t="t" r="r" b="b"/>
              <a:pathLst>
                <a:path w="1524000" h="1016000">
                  <a:moveTo>
                    <a:pt x="0" y="0"/>
                  </a:moveTo>
                  <a:lnTo>
                    <a:pt x="12700" y="2774"/>
                  </a:lnTo>
                  <a:lnTo>
                    <a:pt x="25400" y="11076"/>
                  </a:lnTo>
                  <a:lnTo>
                    <a:pt x="50800" y="43819"/>
                  </a:lnTo>
                  <a:lnTo>
                    <a:pt x="76200" y="96800"/>
                  </a:lnTo>
                  <a:lnTo>
                    <a:pt x="101600" y="167718"/>
                  </a:lnTo>
                  <a:lnTo>
                    <a:pt x="114300" y="208956"/>
                  </a:lnTo>
                  <a:lnTo>
                    <a:pt x="127000" y="253472"/>
                  </a:lnTo>
                  <a:lnTo>
                    <a:pt x="139700" y="300764"/>
                  </a:lnTo>
                  <a:lnTo>
                    <a:pt x="152400" y="350319"/>
                  </a:lnTo>
                  <a:lnTo>
                    <a:pt x="165100" y="401603"/>
                  </a:lnTo>
                  <a:lnTo>
                    <a:pt x="177800" y="454049"/>
                  </a:lnTo>
                  <a:lnTo>
                    <a:pt x="190500" y="507085"/>
                  </a:lnTo>
                  <a:lnTo>
                    <a:pt x="203200" y="560128"/>
                  </a:lnTo>
                  <a:lnTo>
                    <a:pt x="215900" y="612598"/>
                  </a:lnTo>
                  <a:lnTo>
                    <a:pt x="228600" y="663928"/>
                  </a:lnTo>
                  <a:lnTo>
                    <a:pt x="241300" y="713561"/>
                  </a:lnTo>
                  <a:lnTo>
                    <a:pt x="254000" y="760938"/>
                  </a:lnTo>
                  <a:lnTo>
                    <a:pt x="266700" y="805555"/>
                  </a:lnTo>
                  <a:lnTo>
                    <a:pt x="279400" y="846917"/>
                  </a:lnTo>
                  <a:lnTo>
                    <a:pt x="292100" y="884573"/>
                  </a:lnTo>
                  <a:lnTo>
                    <a:pt x="317500" y="947174"/>
                  </a:lnTo>
                  <a:lnTo>
                    <a:pt x="342900" y="990621"/>
                  </a:lnTo>
                  <a:lnTo>
                    <a:pt x="381000" y="1016000"/>
                  </a:lnTo>
                  <a:lnTo>
                    <a:pt x="393700" y="1013410"/>
                  </a:lnTo>
                  <a:lnTo>
                    <a:pt x="431800" y="972925"/>
                  </a:lnTo>
                  <a:lnTo>
                    <a:pt x="457200" y="920269"/>
                  </a:lnTo>
                  <a:lnTo>
                    <a:pt x="482600" y="849645"/>
                  </a:lnTo>
                  <a:lnTo>
                    <a:pt x="495300" y="808524"/>
                  </a:lnTo>
                  <a:lnTo>
                    <a:pt x="508000" y="764116"/>
                  </a:lnTo>
                  <a:lnTo>
                    <a:pt x="520700" y="716909"/>
                  </a:lnTo>
                  <a:lnTo>
                    <a:pt x="533400" y="667424"/>
                  </a:lnTo>
                  <a:lnTo>
                    <a:pt x="546100" y="616194"/>
                  </a:lnTo>
                  <a:lnTo>
                    <a:pt x="558800" y="563779"/>
                  </a:lnTo>
                  <a:lnTo>
                    <a:pt x="571500" y="510751"/>
                  </a:lnTo>
                  <a:lnTo>
                    <a:pt x="584200" y="457700"/>
                  </a:lnTo>
                  <a:lnTo>
                    <a:pt x="596900" y="405200"/>
                  </a:lnTo>
                  <a:lnTo>
                    <a:pt x="609600" y="353815"/>
                  </a:lnTo>
                  <a:lnTo>
                    <a:pt x="622300" y="304120"/>
                  </a:lnTo>
                  <a:lnTo>
                    <a:pt x="635000" y="256658"/>
                  </a:lnTo>
                  <a:lnTo>
                    <a:pt x="647700" y="211940"/>
                  </a:lnTo>
                  <a:lnTo>
                    <a:pt x="660400" y="170454"/>
                  </a:lnTo>
                  <a:lnTo>
                    <a:pt x="673100" y="132658"/>
                  </a:lnTo>
                  <a:lnTo>
                    <a:pt x="698500" y="69755"/>
                  </a:lnTo>
                  <a:lnTo>
                    <a:pt x="723900" y="25951"/>
                  </a:lnTo>
                  <a:lnTo>
                    <a:pt x="762000" y="15"/>
                  </a:lnTo>
                  <a:lnTo>
                    <a:pt x="774700" y="2402"/>
                  </a:lnTo>
                  <a:lnTo>
                    <a:pt x="812800" y="42338"/>
                  </a:lnTo>
                  <a:lnTo>
                    <a:pt x="838200" y="94653"/>
                  </a:lnTo>
                  <a:lnTo>
                    <a:pt x="863600" y="164997"/>
                  </a:lnTo>
                  <a:lnTo>
                    <a:pt x="876300" y="205995"/>
                  </a:lnTo>
                  <a:lnTo>
                    <a:pt x="889000" y="250294"/>
                  </a:lnTo>
                  <a:lnTo>
                    <a:pt x="901700" y="297415"/>
                  </a:lnTo>
                  <a:lnTo>
                    <a:pt x="914400" y="346831"/>
                  </a:lnTo>
                  <a:lnTo>
                    <a:pt x="927100" y="398014"/>
                  </a:lnTo>
                  <a:lnTo>
                    <a:pt x="939800" y="450398"/>
                  </a:lnTo>
                  <a:lnTo>
                    <a:pt x="952500" y="503411"/>
                  </a:lnTo>
                  <a:lnTo>
                    <a:pt x="965200" y="556469"/>
                  </a:lnTo>
                  <a:lnTo>
                    <a:pt x="977900" y="609001"/>
                  </a:lnTo>
                  <a:lnTo>
                    <a:pt x="990600" y="660432"/>
                  </a:lnTo>
                  <a:lnTo>
                    <a:pt x="1003300" y="710196"/>
                  </a:lnTo>
                  <a:lnTo>
                    <a:pt x="1016000" y="757744"/>
                  </a:lnTo>
                  <a:lnTo>
                    <a:pt x="1028700" y="802571"/>
                  </a:lnTo>
                  <a:lnTo>
                    <a:pt x="1041400" y="844173"/>
                  </a:lnTo>
                  <a:lnTo>
                    <a:pt x="1054100" y="882101"/>
                  </a:lnTo>
                  <a:lnTo>
                    <a:pt x="1079500" y="945314"/>
                  </a:lnTo>
                  <a:lnTo>
                    <a:pt x="1104900" y="989466"/>
                  </a:lnTo>
                  <a:lnTo>
                    <a:pt x="1143000" y="1015969"/>
                  </a:lnTo>
                  <a:lnTo>
                    <a:pt x="1155700" y="1013767"/>
                  </a:lnTo>
                  <a:lnTo>
                    <a:pt x="1193800" y="974390"/>
                  </a:lnTo>
                  <a:lnTo>
                    <a:pt x="1219200" y="922408"/>
                  </a:lnTo>
                  <a:lnTo>
                    <a:pt x="1244600" y="852351"/>
                  </a:lnTo>
                  <a:lnTo>
                    <a:pt x="1257300" y="811477"/>
                  </a:lnTo>
                  <a:lnTo>
                    <a:pt x="1270000" y="767286"/>
                  </a:lnTo>
                  <a:lnTo>
                    <a:pt x="1282700" y="720258"/>
                  </a:lnTo>
                  <a:lnTo>
                    <a:pt x="1295400" y="670912"/>
                  </a:lnTo>
                  <a:lnTo>
                    <a:pt x="1308100" y="619783"/>
                  </a:lnTo>
                  <a:lnTo>
                    <a:pt x="1320800" y="567430"/>
                  </a:lnTo>
                  <a:lnTo>
                    <a:pt x="1333500" y="514425"/>
                  </a:lnTo>
                  <a:lnTo>
                    <a:pt x="1346200" y="461359"/>
                  </a:lnTo>
                  <a:lnTo>
                    <a:pt x="1358900" y="408796"/>
                  </a:lnTo>
                  <a:lnTo>
                    <a:pt x="1371600" y="357319"/>
                  </a:lnTo>
                  <a:lnTo>
                    <a:pt x="1384300" y="307492"/>
                  </a:lnTo>
                  <a:lnTo>
                    <a:pt x="1397000" y="259852"/>
                  </a:lnTo>
                  <a:lnTo>
                    <a:pt x="1409700" y="214932"/>
                  </a:lnTo>
                  <a:lnTo>
                    <a:pt x="1422400" y="173206"/>
                  </a:lnTo>
                  <a:lnTo>
                    <a:pt x="1435100" y="135146"/>
                  </a:lnTo>
                  <a:lnTo>
                    <a:pt x="1460500" y="71623"/>
                  </a:lnTo>
                  <a:lnTo>
                    <a:pt x="1485900" y="27122"/>
                  </a:lnTo>
                  <a:lnTo>
                    <a:pt x="1511300" y="3596"/>
                  </a:lnTo>
                  <a:lnTo>
                    <a:pt x="1524000" y="54"/>
                  </a:lnTo>
                </a:path>
              </a:pathLst>
            </a:custGeom>
            <a:ln w="6326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15245" y="1068911"/>
              <a:ext cx="1574800" cy="936625"/>
            </a:xfrm>
            <a:custGeom>
              <a:avLst/>
              <a:gdLst/>
              <a:ahLst/>
              <a:cxnLst/>
              <a:rect l="l" t="t" r="r" b="b"/>
              <a:pathLst>
                <a:path w="1574800" h="936625">
                  <a:moveTo>
                    <a:pt x="0" y="493168"/>
                  </a:moveTo>
                  <a:lnTo>
                    <a:pt x="25400" y="467768"/>
                  </a:lnTo>
                  <a:lnTo>
                    <a:pt x="0" y="442368"/>
                  </a:lnTo>
                  <a:lnTo>
                    <a:pt x="25400" y="467768"/>
                  </a:lnTo>
                  <a:lnTo>
                    <a:pt x="50800" y="493168"/>
                  </a:lnTo>
                  <a:lnTo>
                    <a:pt x="25400" y="467768"/>
                  </a:lnTo>
                  <a:lnTo>
                    <a:pt x="50800" y="442368"/>
                  </a:lnTo>
                </a:path>
                <a:path w="1574800" h="936625">
                  <a:moveTo>
                    <a:pt x="127000" y="53536"/>
                  </a:moveTo>
                  <a:lnTo>
                    <a:pt x="152400" y="28136"/>
                  </a:lnTo>
                  <a:lnTo>
                    <a:pt x="127000" y="2736"/>
                  </a:lnTo>
                  <a:lnTo>
                    <a:pt x="152400" y="28136"/>
                  </a:lnTo>
                  <a:lnTo>
                    <a:pt x="177800" y="53536"/>
                  </a:lnTo>
                  <a:lnTo>
                    <a:pt x="152400" y="28136"/>
                  </a:lnTo>
                  <a:lnTo>
                    <a:pt x="177800" y="2736"/>
                  </a:lnTo>
                </a:path>
                <a:path w="1574800" h="936625">
                  <a:moveTo>
                    <a:pt x="254000" y="52613"/>
                  </a:moveTo>
                  <a:lnTo>
                    <a:pt x="279400" y="27213"/>
                  </a:lnTo>
                  <a:lnTo>
                    <a:pt x="254000" y="1813"/>
                  </a:lnTo>
                  <a:lnTo>
                    <a:pt x="279400" y="27213"/>
                  </a:lnTo>
                  <a:lnTo>
                    <a:pt x="304800" y="52613"/>
                  </a:lnTo>
                  <a:lnTo>
                    <a:pt x="279400" y="27213"/>
                  </a:lnTo>
                  <a:lnTo>
                    <a:pt x="304800" y="1813"/>
                  </a:lnTo>
                </a:path>
                <a:path w="1574800" h="936625">
                  <a:moveTo>
                    <a:pt x="381000" y="491331"/>
                  </a:moveTo>
                  <a:lnTo>
                    <a:pt x="406400" y="465931"/>
                  </a:lnTo>
                  <a:lnTo>
                    <a:pt x="381000" y="440531"/>
                  </a:lnTo>
                  <a:lnTo>
                    <a:pt x="406400" y="465931"/>
                  </a:lnTo>
                  <a:lnTo>
                    <a:pt x="431800" y="491331"/>
                  </a:lnTo>
                  <a:lnTo>
                    <a:pt x="406400" y="465931"/>
                  </a:lnTo>
                  <a:lnTo>
                    <a:pt x="431800" y="440531"/>
                  </a:lnTo>
                </a:path>
                <a:path w="1574800" h="936625">
                  <a:moveTo>
                    <a:pt x="508000" y="931877"/>
                  </a:moveTo>
                  <a:lnTo>
                    <a:pt x="533400" y="906477"/>
                  </a:lnTo>
                  <a:lnTo>
                    <a:pt x="508000" y="881077"/>
                  </a:lnTo>
                  <a:lnTo>
                    <a:pt x="533400" y="906477"/>
                  </a:lnTo>
                  <a:lnTo>
                    <a:pt x="558800" y="931877"/>
                  </a:lnTo>
                  <a:lnTo>
                    <a:pt x="533400" y="906477"/>
                  </a:lnTo>
                  <a:lnTo>
                    <a:pt x="558800" y="881077"/>
                  </a:lnTo>
                </a:path>
                <a:path w="1574800" h="936625">
                  <a:moveTo>
                    <a:pt x="635000" y="934629"/>
                  </a:moveTo>
                  <a:lnTo>
                    <a:pt x="660400" y="909229"/>
                  </a:lnTo>
                  <a:lnTo>
                    <a:pt x="635000" y="883829"/>
                  </a:lnTo>
                  <a:lnTo>
                    <a:pt x="660400" y="909229"/>
                  </a:lnTo>
                  <a:lnTo>
                    <a:pt x="685800" y="934629"/>
                  </a:lnTo>
                  <a:lnTo>
                    <a:pt x="660400" y="909229"/>
                  </a:lnTo>
                  <a:lnTo>
                    <a:pt x="685800" y="883829"/>
                  </a:lnTo>
                </a:path>
                <a:path w="1574800" h="936625">
                  <a:moveTo>
                    <a:pt x="762000" y="496842"/>
                  </a:moveTo>
                  <a:lnTo>
                    <a:pt x="787400" y="471442"/>
                  </a:lnTo>
                  <a:lnTo>
                    <a:pt x="762000" y="446042"/>
                  </a:lnTo>
                  <a:lnTo>
                    <a:pt x="787400" y="471442"/>
                  </a:lnTo>
                  <a:lnTo>
                    <a:pt x="812800" y="496842"/>
                  </a:lnTo>
                  <a:lnTo>
                    <a:pt x="787400" y="471442"/>
                  </a:lnTo>
                  <a:lnTo>
                    <a:pt x="812800" y="446042"/>
                  </a:lnTo>
                </a:path>
                <a:path w="1574800" h="936625">
                  <a:moveTo>
                    <a:pt x="889000" y="55388"/>
                  </a:moveTo>
                  <a:lnTo>
                    <a:pt x="914400" y="29988"/>
                  </a:lnTo>
                  <a:lnTo>
                    <a:pt x="889000" y="4588"/>
                  </a:lnTo>
                  <a:lnTo>
                    <a:pt x="914400" y="29988"/>
                  </a:lnTo>
                  <a:lnTo>
                    <a:pt x="939800" y="55388"/>
                  </a:lnTo>
                  <a:lnTo>
                    <a:pt x="914400" y="29988"/>
                  </a:lnTo>
                  <a:lnTo>
                    <a:pt x="939800" y="4588"/>
                  </a:lnTo>
                </a:path>
                <a:path w="1574800" h="936625">
                  <a:moveTo>
                    <a:pt x="1016000" y="50800"/>
                  </a:moveTo>
                  <a:lnTo>
                    <a:pt x="1041400" y="25400"/>
                  </a:lnTo>
                  <a:lnTo>
                    <a:pt x="1016000" y="0"/>
                  </a:lnTo>
                  <a:lnTo>
                    <a:pt x="1041400" y="25400"/>
                  </a:lnTo>
                  <a:lnTo>
                    <a:pt x="1066800" y="50800"/>
                  </a:lnTo>
                  <a:lnTo>
                    <a:pt x="1041400" y="25400"/>
                  </a:lnTo>
                  <a:lnTo>
                    <a:pt x="1066800" y="0"/>
                  </a:lnTo>
                </a:path>
                <a:path w="1574800" h="936625">
                  <a:moveTo>
                    <a:pt x="1143000" y="487657"/>
                  </a:moveTo>
                  <a:lnTo>
                    <a:pt x="1168400" y="462257"/>
                  </a:lnTo>
                  <a:lnTo>
                    <a:pt x="1143000" y="436857"/>
                  </a:lnTo>
                  <a:lnTo>
                    <a:pt x="1168400" y="462257"/>
                  </a:lnTo>
                  <a:lnTo>
                    <a:pt x="1193800" y="487657"/>
                  </a:lnTo>
                  <a:lnTo>
                    <a:pt x="1168400" y="462257"/>
                  </a:lnTo>
                  <a:lnTo>
                    <a:pt x="1193800" y="436857"/>
                  </a:lnTo>
                </a:path>
                <a:path w="1574800" h="936625">
                  <a:moveTo>
                    <a:pt x="1270000" y="930017"/>
                  </a:moveTo>
                  <a:lnTo>
                    <a:pt x="1295400" y="904617"/>
                  </a:lnTo>
                  <a:lnTo>
                    <a:pt x="1270000" y="879217"/>
                  </a:lnTo>
                  <a:lnTo>
                    <a:pt x="1295400" y="904617"/>
                  </a:lnTo>
                  <a:lnTo>
                    <a:pt x="1320800" y="930017"/>
                  </a:lnTo>
                  <a:lnTo>
                    <a:pt x="1295400" y="904617"/>
                  </a:lnTo>
                  <a:lnTo>
                    <a:pt x="1320800" y="879217"/>
                  </a:lnTo>
                </a:path>
                <a:path w="1574800" h="936625">
                  <a:moveTo>
                    <a:pt x="1397000" y="936435"/>
                  </a:moveTo>
                  <a:lnTo>
                    <a:pt x="1422400" y="911035"/>
                  </a:lnTo>
                  <a:lnTo>
                    <a:pt x="1397000" y="885635"/>
                  </a:lnTo>
                  <a:lnTo>
                    <a:pt x="1422400" y="911035"/>
                  </a:lnTo>
                  <a:lnTo>
                    <a:pt x="1447800" y="936435"/>
                  </a:lnTo>
                  <a:lnTo>
                    <a:pt x="1422400" y="911035"/>
                  </a:lnTo>
                  <a:lnTo>
                    <a:pt x="1447800" y="885635"/>
                  </a:lnTo>
                </a:path>
                <a:path w="1574800" h="936625">
                  <a:moveTo>
                    <a:pt x="1524000" y="500516"/>
                  </a:moveTo>
                  <a:lnTo>
                    <a:pt x="1549400" y="475116"/>
                  </a:lnTo>
                  <a:lnTo>
                    <a:pt x="1524000" y="449716"/>
                  </a:lnTo>
                  <a:lnTo>
                    <a:pt x="1549400" y="475116"/>
                  </a:lnTo>
                  <a:lnTo>
                    <a:pt x="1574800" y="500516"/>
                  </a:lnTo>
                  <a:lnTo>
                    <a:pt x="1549400" y="475116"/>
                  </a:lnTo>
                  <a:lnTo>
                    <a:pt x="1574800" y="449716"/>
                  </a:lnTo>
                </a:path>
              </a:pathLst>
            </a:custGeom>
            <a:ln w="1265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40645" y="1028679"/>
              <a:ext cx="1524000" cy="1016000"/>
            </a:xfrm>
            <a:custGeom>
              <a:avLst/>
              <a:gdLst/>
              <a:ahLst/>
              <a:cxnLst/>
              <a:rect l="l" t="t" r="r" b="b"/>
              <a:pathLst>
                <a:path w="1524000" h="1016000">
                  <a:moveTo>
                    <a:pt x="0" y="508000"/>
                  </a:moveTo>
                  <a:lnTo>
                    <a:pt x="12700" y="454956"/>
                  </a:lnTo>
                  <a:lnTo>
                    <a:pt x="25400" y="402502"/>
                  </a:lnTo>
                  <a:lnTo>
                    <a:pt x="38100" y="351195"/>
                  </a:lnTo>
                  <a:lnTo>
                    <a:pt x="50800" y="301601"/>
                  </a:lnTo>
                  <a:lnTo>
                    <a:pt x="63500" y="254263"/>
                  </a:lnTo>
                  <a:lnTo>
                    <a:pt x="76200" y="209700"/>
                  </a:lnTo>
                  <a:lnTo>
                    <a:pt x="88900" y="168400"/>
                  </a:lnTo>
                  <a:lnTo>
                    <a:pt x="101600" y="130813"/>
                  </a:lnTo>
                  <a:lnTo>
                    <a:pt x="127000" y="68367"/>
                  </a:lnTo>
                  <a:lnTo>
                    <a:pt x="152400" y="25091"/>
                  </a:lnTo>
                  <a:lnTo>
                    <a:pt x="190500" y="0"/>
                  </a:lnTo>
                  <a:lnTo>
                    <a:pt x="203200" y="2681"/>
                  </a:lnTo>
                  <a:lnTo>
                    <a:pt x="241300" y="43446"/>
                  </a:lnTo>
                  <a:lnTo>
                    <a:pt x="266700" y="96265"/>
                  </a:lnTo>
                  <a:lnTo>
                    <a:pt x="292100" y="167036"/>
                  </a:lnTo>
                  <a:lnTo>
                    <a:pt x="304800" y="208219"/>
                  </a:lnTo>
                  <a:lnTo>
                    <a:pt x="317500" y="252674"/>
                  </a:lnTo>
                  <a:lnTo>
                    <a:pt x="330200" y="299927"/>
                  </a:lnTo>
                  <a:lnTo>
                    <a:pt x="342900" y="349451"/>
                  </a:lnTo>
                  <a:lnTo>
                    <a:pt x="355600" y="400704"/>
                  </a:lnTo>
                  <a:lnTo>
                    <a:pt x="368300" y="453135"/>
                  </a:lnTo>
                  <a:lnTo>
                    <a:pt x="381000" y="506162"/>
                  </a:lnTo>
                  <a:lnTo>
                    <a:pt x="393700" y="559214"/>
                  </a:lnTo>
                  <a:lnTo>
                    <a:pt x="406400" y="611699"/>
                  </a:lnTo>
                  <a:lnTo>
                    <a:pt x="419100" y="663060"/>
                  </a:lnTo>
                  <a:lnTo>
                    <a:pt x="431800" y="712716"/>
                  </a:lnTo>
                  <a:lnTo>
                    <a:pt x="444500" y="760139"/>
                  </a:lnTo>
                  <a:lnTo>
                    <a:pt x="457200" y="804811"/>
                  </a:lnTo>
                  <a:lnTo>
                    <a:pt x="469900" y="846227"/>
                  </a:lnTo>
                  <a:lnTo>
                    <a:pt x="482600" y="883953"/>
                  </a:lnTo>
                  <a:lnTo>
                    <a:pt x="508000" y="946709"/>
                  </a:lnTo>
                  <a:lnTo>
                    <a:pt x="533400" y="990334"/>
                  </a:lnTo>
                  <a:lnTo>
                    <a:pt x="571500" y="1015992"/>
                  </a:lnTo>
                  <a:lnTo>
                    <a:pt x="584200" y="1013504"/>
                  </a:lnTo>
                  <a:lnTo>
                    <a:pt x="622300" y="973297"/>
                  </a:lnTo>
                  <a:lnTo>
                    <a:pt x="647700" y="920811"/>
                  </a:lnTo>
                  <a:lnTo>
                    <a:pt x="673100" y="850320"/>
                  </a:lnTo>
                  <a:lnTo>
                    <a:pt x="685800" y="809260"/>
                  </a:lnTo>
                  <a:lnTo>
                    <a:pt x="698500" y="764914"/>
                  </a:lnTo>
                  <a:lnTo>
                    <a:pt x="711200" y="717746"/>
                  </a:lnTo>
                  <a:lnTo>
                    <a:pt x="723900" y="668292"/>
                  </a:lnTo>
                  <a:lnTo>
                    <a:pt x="736600" y="617094"/>
                  </a:lnTo>
                  <a:lnTo>
                    <a:pt x="749300" y="564694"/>
                  </a:lnTo>
                  <a:lnTo>
                    <a:pt x="762000" y="511674"/>
                  </a:lnTo>
                  <a:lnTo>
                    <a:pt x="774700" y="458615"/>
                  </a:lnTo>
                  <a:lnTo>
                    <a:pt x="787400" y="406099"/>
                  </a:lnTo>
                  <a:lnTo>
                    <a:pt x="800100" y="354691"/>
                  </a:lnTo>
                  <a:lnTo>
                    <a:pt x="812800" y="304965"/>
                  </a:lnTo>
                  <a:lnTo>
                    <a:pt x="825500" y="257457"/>
                  </a:lnTo>
                  <a:lnTo>
                    <a:pt x="838200" y="212684"/>
                  </a:lnTo>
                  <a:lnTo>
                    <a:pt x="850900" y="171144"/>
                  </a:lnTo>
                  <a:lnTo>
                    <a:pt x="863600" y="133278"/>
                  </a:lnTo>
                  <a:lnTo>
                    <a:pt x="889000" y="70220"/>
                  </a:lnTo>
                  <a:lnTo>
                    <a:pt x="914400" y="26246"/>
                  </a:lnTo>
                  <a:lnTo>
                    <a:pt x="952500" y="23"/>
                  </a:lnTo>
                  <a:lnTo>
                    <a:pt x="965200" y="2317"/>
                  </a:lnTo>
                  <a:lnTo>
                    <a:pt x="1003300" y="41974"/>
                  </a:lnTo>
                  <a:lnTo>
                    <a:pt x="1028700" y="94126"/>
                  </a:lnTo>
                  <a:lnTo>
                    <a:pt x="1054100" y="164323"/>
                  </a:lnTo>
                  <a:lnTo>
                    <a:pt x="1066800" y="205258"/>
                  </a:lnTo>
                  <a:lnTo>
                    <a:pt x="1079500" y="249504"/>
                  </a:lnTo>
                  <a:lnTo>
                    <a:pt x="1092200" y="296578"/>
                  </a:lnTo>
                  <a:lnTo>
                    <a:pt x="1104900" y="345963"/>
                  </a:lnTo>
                  <a:lnTo>
                    <a:pt x="1117600" y="397115"/>
                  </a:lnTo>
                  <a:lnTo>
                    <a:pt x="1130300" y="449484"/>
                  </a:lnTo>
                  <a:lnTo>
                    <a:pt x="1143000" y="502488"/>
                  </a:lnTo>
                  <a:lnTo>
                    <a:pt x="1155700" y="555555"/>
                  </a:lnTo>
                  <a:lnTo>
                    <a:pt x="1168400" y="608102"/>
                  </a:lnTo>
                  <a:lnTo>
                    <a:pt x="1181100" y="659556"/>
                  </a:lnTo>
                  <a:lnTo>
                    <a:pt x="1193800" y="709352"/>
                  </a:lnTo>
                  <a:lnTo>
                    <a:pt x="1206500" y="756946"/>
                  </a:lnTo>
                  <a:lnTo>
                    <a:pt x="1219200" y="801819"/>
                  </a:lnTo>
                  <a:lnTo>
                    <a:pt x="1231900" y="843483"/>
                  </a:lnTo>
                  <a:lnTo>
                    <a:pt x="1244600" y="881473"/>
                  </a:lnTo>
                  <a:lnTo>
                    <a:pt x="1270000" y="944849"/>
                  </a:lnTo>
                  <a:lnTo>
                    <a:pt x="1295400" y="989172"/>
                  </a:lnTo>
                  <a:lnTo>
                    <a:pt x="1333500" y="1015961"/>
                  </a:lnTo>
                  <a:lnTo>
                    <a:pt x="1346200" y="1013852"/>
                  </a:lnTo>
                  <a:lnTo>
                    <a:pt x="1384300" y="974754"/>
                  </a:lnTo>
                  <a:lnTo>
                    <a:pt x="1409700" y="922935"/>
                  </a:lnTo>
                  <a:lnTo>
                    <a:pt x="1435100" y="853025"/>
                  </a:lnTo>
                  <a:lnTo>
                    <a:pt x="1447800" y="812214"/>
                  </a:lnTo>
                  <a:lnTo>
                    <a:pt x="1460500" y="768077"/>
                  </a:lnTo>
                  <a:lnTo>
                    <a:pt x="1473200" y="721087"/>
                  </a:lnTo>
                  <a:lnTo>
                    <a:pt x="1485900" y="671780"/>
                  </a:lnTo>
                  <a:lnTo>
                    <a:pt x="1498600" y="620675"/>
                  </a:lnTo>
                  <a:lnTo>
                    <a:pt x="1511300" y="568345"/>
                  </a:lnTo>
                  <a:lnTo>
                    <a:pt x="1524000" y="515348"/>
                  </a:lnTo>
                </a:path>
              </a:pathLst>
            </a:custGeom>
            <a:ln w="632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466226" y="1414762"/>
            <a:ext cx="10922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38300" y="2127491"/>
            <a:ext cx="218440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i="1" dirty="0">
                <a:solidFill>
                  <a:srgbClr val="009900"/>
                </a:solidFill>
                <a:latin typeface="Georgia"/>
                <a:cs typeface="Georgia"/>
              </a:rPr>
              <a:t>e</a:t>
            </a:r>
            <a:r>
              <a:rPr sz="1350" i="1" baseline="24691" dirty="0">
                <a:solidFill>
                  <a:srgbClr val="009900"/>
                </a:solidFill>
                <a:latin typeface="Meiryo UI"/>
                <a:cs typeface="Meiryo UI"/>
              </a:rPr>
              <a:t>−</a:t>
            </a:r>
            <a:r>
              <a:rPr sz="1350" i="1" baseline="24691" dirty="0">
                <a:solidFill>
                  <a:srgbClr val="009900"/>
                </a:solidFill>
                <a:latin typeface="Georgia"/>
                <a:cs typeface="Georgia"/>
              </a:rPr>
              <a:t>jnπ/</a:t>
            </a:r>
            <a:r>
              <a:rPr sz="1350" baseline="24691" dirty="0">
                <a:solidFill>
                  <a:srgbClr val="009900"/>
                </a:solidFill>
                <a:latin typeface="Palatino Linotype"/>
                <a:cs typeface="Palatino Linotype"/>
              </a:rPr>
              <a:t>3</a:t>
            </a:r>
            <a:r>
              <a:rPr sz="1350" spc="270" baseline="24691" dirty="0">
                <a:solidFill>
                  <a:srgbClr val="009900"/>
                </a:solidFill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75" dirty="0">
                <a:latin typeface="Palatino Linotype"/>
                <a:cs typeface="Palatino Linotype"/>
              </a:rPr>
              <a:t> </a:t>
            </a:r>
            <a:r>
              <a:rPr sz="1100" dirty="0">
                <a:solidFill>
                  <a:srgbClr val="0000CC"/>
                </a:solidFill>
                <a:latin typeface="Palatino Linotype"/>
                <a:cs typeface="Palatino Linotype"/>
              </a:rPr>
              <a:t>cos(</a:t>
            </a:r>
            <a:r>
              <a:rPr sz="1100" i="1" dirty="0">
                <a:solidFill>
                  <a:srgbClr val="0000CC"/>
                </a:solidFill>
                <a:latin typeface="Georgia"/>
                <a:cs typeface="Georgia"/>
              </a:rPr>
              <a:t>nπ/</a:t>
            </a:r>
            <a:r>
              <a:rPr sz="1100" dirty="0">
                <a:solidFill>
                  <a:srgbClr val="0000CC"/>
                </a:solidFill>
                <a:latin typeface="Palatino Linotype"/>
                <a:cs typeface="Palatino Linotype"/>
              </a:rPr>
              <a:t>3)</a:t>
            </a:r>
            <a:r>
              <a:rPr sz="1100" spc="5" dirty="0">
                <a:solidFill>
                  <a:srgbClr val="0000CC"/>
                </a:solidFill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spc="120" dirty="0">
                <a:solidFill>
                  <a:srgbClr val="FF0000"/>
                </a:solidFill>
                <a:latin typeface="Georgia"/>
                <a:cs typeface="Georgia"/>
              </a:rPr>
              <a:t>j</a:t>
            </a:r>
            <a:r>
              <a:rPr sz="1100" i="1" spc="2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Palatino Linotype"/>
                <a:cs typeface="Palatino Linotype"/>
              </a:rPr>
              <a:t>sin(</a:t>
            </a:r>
            <a:r>
              <a:rPr sz="1100" i="1" spc="-10" dirty="0">
                <a:solidFill>
                  <a:srgbClr val="FF0000"/>
                </a:solidFill>
                <a:latin typeface="Georgia"/>
                <a:cs typeface="Georgia"/>
              </a:rPr>
              <a:t>nπ/</a:t>
            </a:r>
            <a:r>
              <a:rPr sz="1100" spc="-10" dirty="0">
                <a:solidFill>
                  <a:srgbClr val="FF0000"/>
                </a:solidFill>
                <a:latin typeface="Palatino Linotype"/>
                <a:cs typeface="Palatino Linotype"/>
              </a:rPr>
              <a:t>3)</a:t>
            </a:r>
            <a:endParaRPr sz="1100">
              <a:latin typeface="Palatino Linotype"/>
              <a:cs typeface="Palatino Linotype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777145" y="2540204"/>
            <a:ext cx="1651000" cy="1079500"/>
            <a:chOff x="2777145" y="2540204"/>
            <a:chExt cx="1651000" cy="1079500"/>
          </a:xfrm>
        </p:grpSpPr>
        <p:sp>
          <p:nvSpPr>
            <p:cNvPr id="32" name="object 32"/>
            <p:cNvSpPr/>
            <p:nvPr/>
          </p:nvSpPr>
          <p:spPr>
            <a:xfrm>
              <a:off x="2777145" y="2571930"/>
              <a:ext cx="1651000" cy="1016000"/>
            </a:xfrm>
            <a:custGeom>
              <a:avLst/>
              <a:gdLst/>
              <a:ahLst/>
              <a:cxnLst/>
              <a:rect l="l" t="t" r="r" b="b"/>
              <a:pathLst>
                <a:path w="1651000" h="1016000">
                  <a:moveTo>
                    <a:pt x="0" y="508000"/>
                  </a:moveTo>
                  <a:lnTo>
                    <a:pt x="1651000" y="508000"/>
                  </a:lnTo>
                </a:path>
                <a:path w="1651000" h="1016000">
                  <a:moveTo>
                    <a:pt x="63500" y="1016000"/>
                  </a:moveTo>
                  <a:lnTo>
                    <a:pt x="63500" y="0"/>
                  </a:lnTo>
                </a:path>
                <a:path w="1651000" h="1016000">
                  <a:moveTo>
                    <a:pt x="190500" y="508000"/>
                  </a:moveTo>
                  <a:lnTo>
                    <a:pt x="190500" y="546100"/>
                  </a:lnTo>
                </a:path>
                <a:path w="1651000" h="1016000">
                  <a:moveTo>
                    <a:pt x="317500" y="508000"/>
                  </a:moveTo>
                  <a:lnTo>
                    <a:pt x="317500" y="546100"/>
                  </a:lnTo>
                </a:path>
                <a:path w="1651000" h="1016000">
                  <a:moveTo>
                    <a:pt x="444500" y="508000"/>
                  </a:moveTo>
                  <a:lnTo>
                    <a:pt x="444500" y="546100"/>
                  </a:lnTo>
                </a:path>
                <a:path w="1651000" h="1016000">
                  <a:moveTo>
                    <a:pt x="571500" y="508000"/>
                  </a:moveTo>
                  <a:lnTo>
                    <a:pt x="571500" y="546100"/>
                  </a:lnTo>
                </a:path>
                <a:path w="1651000" h="1016000">
                  <a:moveTo>
                    <a:pt x="698500" y="508000"/>
                  </a:moveTo>
                  <a:lnTo>
                    <a:pt x="698500" y="546100"/>
                  </a:lnTo>
                </a:path>
                <a:path w="1651000" h="1016000">
                  <a:moveTo>
                    <a:pt x="825500" y="508000"/>
                  </a:moveTo>
                  <a:lnTo>
                    <a:pt x="825500" y="546100"/>
                  </a:lnTo>
                </a:path>
                <a:path w="1651000" h="1016000">
                  <a:moveTo>
                    <a:pt x="952500" y="508000"/>
                  </a:moveTo>
                  <a:lnTo>
                    <a:pt x="952500" y="546100"/>
                  </a:lnTo>
                </a:path>
                <a:path w="1651000" h="1016000">
                  <a:moveTo>
                    <a:pt x="1079500" y="508000"/>
                  </a:moveTo>
                  <a:lnTo>
                    <a:pt x="1079500" y="546100"/>
                  </a:lnTo>
                </a:path>
                <a:path w="1651000" h="1016000">
                  <a:moveTo>
                    <a:pt x="1206500" y="508000"/>
                  </a:moveTo>
                  <a:lnTo>
                    <a:pt x="1206500" y="546100"/>
                  </a:lnTo>
                </a:path>
                <a:path w="1651000" h="1016000">
                  <a:moveTo>
                    <a:pt x="1333500" y="508000"/>
                  </a:moveTo>
                  <a:lnTo>
                    <a:pt x="1333500" y="546100"/>
                  </a:lnTo>
                </a:path>
                <a:path w="1651000" h="1016000">
                  <a:moveTo>
                    <a:pt x="1460500" y="508000"/>
                  </a:moveTo>
                  <a:lnTo>
                    <a:pt x="1460500" y="546100"/>
                  </a:lnTo>
                </a:path>
                <a:path w="1651000" h="1016000">
                  <a:moveTo>
                    <a:pt x="1587500" y="508000"/>
                  </a:moveTo>
                  <a:lnTo>
                    <a:pt x="1587500" y="5461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815245" y="2546530"/>
              <a:ext cx="1574800" cy="1066800"/>
            </a:xfrm>
            <a:custGeom>
              <a:avLst/>
              <a:gdLst/>
              <a:ahLst/>
              <a:cxnLst/>
              <a:rect l="l" t="t" r="r" b="b"/>
              <a:pathLst>
                <a:path w="1574800" h="1066800">
                  <a:moveTo>
                    <a:pt x="50800" y="25400"/>
                  </a:moveTo>
                  <a:lnTo>
                    <a:pt x="50800" y="18663"/>
                  </a:lnTo>
                  <a:lnTo>
                    <a:pt x="48123" y="12203"/>
                  </a:lnTo>
                  <a:lnTo>
                    <a:pt x="43360" y="7439"/>
                  </a:lnTo>
                  <a:lnTo>
                    <a:pt x="38596" y="2676"/>
                  </a:lnTo>
                  <a:lnTo>
                    <a:pt x="32136" y="0"/>
                  </a:lnTo>
                  <a:lnTo>
                    <a:pt x="25400" y="0"/>
                  </a:lnTo>
                  <a:lnTo>
                    <a:pt x="18663" y="0"/>
                  </a:lnTo>
                  <a:lnTo>
                    <a:pt x="12203" y="2676"/>
                  </a:lnTo>
                  <a:lnTo>
                    <a:pt x="7439" y="7439"/>
                  </a:lnTo>
                  <a:lnTo>
                    <a:pt x="2676" y="12203"/>
                  </a:lnTo>
                  <a:lnTo>
                    <a:pt x="0" y="18663"/>
                  </a:lnTo>
                  <a:lnTo>
                    <a:pt x="0" y="25400"/>
                  </a:lnTo>
                  <a:lnTo>
                    <a:pt x="0" y="32136"/>
                  </a:lnTo>
                  <a:lnTo>
                    <a:pt x="2676" y="38596"/>
                  </a:lnTo>
                  <a:lnTo>
                    <a:pt x="7439" y="43360"/>
                  </a:lnTo>
                  <a:lnTo>
                    <a:pt x="12203" y="48123"/>
                  </a:lnTo>
                  <a:lnTo>
                    <a:pt x="18663" y="50800"/>
                  </a:lnTo>
                  <a:lnTo>
                    <a:pt x="25400" y="50800"/>
                  </a:lnTo>
                  <a:lnTo>
                    <a:pt x="32136" y="50800"/>
                  </a:lnTo>
                  <a:lnTo>
                    <a:pt x="38596" y="48123"/>
                  </a:lnTo>
                  <a:lnTo>
                    <a:pt x="43360" y="43360"/>
                  </a:lnTo>
                  <a:lnTo>
                    <a:pt x="48123" y="38596"/>
                  </a:lnTo>
                  <a:lnTo>
                    <a:pt x="50800" y="32136"/>
                  </a:lnTo>
                  <a:lnTo>
                    <a:pt x="50800" y="25400"/>
                  </a:lnTo>
                  <a:close/>
                </a:path>
                <a:path w="1574800" h="1066800">
                  <a:moveTo>
                    <a:pt x="177800" y="278872"/>
                  </a:moveTo>
                  <a:lnTo>
                    <a:pt x="177800" y="272136"/>
                  </a:lnTo>
                  <a:lnTo>
                    <a:pt x="175123" y="265675"/>
                  </a:lnTo>
                  <a:lnTo>
                    <a:pt x="170360" y="260912"/>
                  </a:lnTo>
                  <a:lnTo>
                    <a:pt x="165596" y="256149"/>
                  </a:lnTo>
                  <a:lnTo>
                    <a:pt x="159136" y="253472"/>
                  </a:lnTo>
                  <a:lnTo>
                    <a:pt x="152400" y="253472"/>
                  </a:lnTo>
                  <a:lnTo>
                    <a:pt x="145663" y="253472"/>
                  </a:lnTo>
                  <a:lnTo>
                    <a:pt x="139203" y="256149"/>
                  </a:lnTo>
                  <a:lnTo>
                    <a:pt x="134439" y="260912"/>
                  </a:lnTo>
                  <a:lnTo>
                    <a:pt x="129676" y="265675"/>
                  </a:lnTo>
                  <a:lnTo>
                    <a:pt x="127000" y="272136"/>
                  </a:lnTo>
                  <a:lnTo>
                    <a:pt x="127000" y="278872"/>
                  </a:lnTo>
                  <a:lnTo>
                    <a:pt x="127000" y="285609"/>
                  </a:lnTo>
                  <a:lnTo>
                    <a:pt x="129676" y="292069"/>
                  </a:lnTo>
                  <a:lnTo>
                    <a:pt x="134439" y="296833"/>
                  </a:lnTo>
                  <a:lnTo>
                    <a:pt x="139203" y="301596"/>
                  </a:lnTo>
                  <a:lnTo>
                    <a:pt x="145663" y="304272"/>
                  </a:lnTo>
                  <a:lnTo>
                    <a:pt x="152400" y="304272"/>
                  </a:lnTo>
                  <a:lnTo>
                    <a:pt x="159136" y="304272"/>
                  </a:lnTo>
                  <a:lnTo>
                    <a:pt x="165596" y="301596"/>
                  </a:lnTo>
                  <a:lnTo>
                    <a:pt x="170360" y="296833"/>
                  </a:lnTo>
                  <a:lnTo>
                    <a:pt x="175123" y="292069"/>
                  </a:lnTo>
                  <a:lnTo>
                    <a:pt x="177800" y="285609"/>
                  </a:lnTo>
                  <a:lnTo>
                    <a:pt x="177800" y="278872"/>
                  </a:lnTo>
                  <a:close/>
                </a:path>
                <a:path w="1574800" h="1066800">
                  <a:moveTo>
                    <a:pt x="304800" y="786338"/>
                  </a:moveTo>
                  <a:lnTo>
                    <a:pt x="304800" y="779601"/>
                  </a:lnTo>
                  <a:lnTo>
                    <a:pt x="302123" y="773141"/>
                  </a:lnTo>
                  <a:lnTo>
                    <a:pt x="297360" y="768377"/>
                  </a:lnTo>
                  <a:lnTo>
                    <a:pt x="292596" y="763614"/>
                  </a:lnTo>
                  <a:lnTo>
                    <a:pt x="286136" y="760938"/>
                  </a:lnTo>
                  <a:lnTo>
                    <a:pt x="279400" y="760938"/>
                  </a:lnTo>
                  <a:lnTo>
                    <a:pt x="272663" y="760938"/>
                  </a:lnTo>
                  <a:lnTo>
                    <a:pt x="266203" y="763614"/>
                  </a:lnTo>
                  <a:lnTo>
                    <a:pt x="261439" y="768377"/>
                  </a:lnTo>
                  <a:lnTo>
                    <a:pt x="256676" y="773141"/>
                  </a:lnTo>
                  <a:lnTo>
                    <a:pt x="254000" y="779601"/>
                  </a:lnTo>
                  <a:lnTo>
                    <a:pt x="254000" y="786338"/>
                  </a:lnTo>
                  <a:lnTo>
                    <a:pt x="254000" y="793074"/>
                  </a:lnTo>
                  <a:lnTo>
                    <a:pt x="256676" y="799534"/>
                  </a:lnTo>
                  <a:lnTo>
                    <a:pt x="261439" y="804298"/>
                  </a:lnTo>
                  <a:lnTo>
                    <a:pt x="266203" y="809061"/>
                  </a:lnTo>
                  <a:lnTo>
                    <a:pt x="272663" y="811738"/>
                  </a:lnTo>
                  <a:lnTo>
                    <a:pt x="279400" y="811738"/>
                  </a:lnTo>
                  <a:lnTo>
                    <a:pt x="286136" y="811738"/>
                  </a:lnTo>
                  <a:lnTo>
                    <a:pt x="292596" y="809061"/>
                  </a:lnTo>
                  <a:lnTo>
                    <a:pt x="297360" y="804298"/>
                  </a:lnTo>
                  <a:lnTo>
                    <a:pt x="302123" y="799534"/>
                  </a:lnTo>
                  <a:lnTo>
                    <a:pt x="304800" y="793074"/>
                  </a:lnTo>
                  <a:lnTo>
                    <a:pt x="304800" y="786338"/>
                  </a:lnTo>
                  <a:close/>
                </a:path>
                <a:path w="1574800" h="1066800">
                  <a:moveTo>
                    <a:pt x="431800" y="1041400"/>
                  </a:moveTo>
                  <a:lnTo>
                    <a:pt x="431800" y="1034663"/>
                  </a:lnTo>
                  <a:lnTo>
                    <a:pt x="429123" y="1028203"/>
                  </a:lnTo>
                  <a:lnTo>
                    <a:pt x="424360" y="1023439"/>
                  </a:lnTo>
                  <a:lnTo>
                    <a:pt x="419596" y="1018676"/>
                  </a:lnTo>
                  <a:lnTo>
                    <a:pt x="413136" y="1016000"/>
                  </a:lnTo>
                  <a:lnTo>
                    <a:pt x="406400" y="1016000"/>
                  </a:lnTo>
                  <a:lnTo>
                    <a:pt x="399663" y="1016000"/>
                  </a:lnTo>
                  <a:lnTo>
                    <a:pt x="393203" y="1018676"/>
                  </a:lnTo>
                  <a:lnTo>
                    <a:pt x="388439" y="1023439"/>
                  </a:lnTo>
                  <a:lnTo>
                    <a:pt x="383676" y="1028203"/>
                  </a:lnTo>
                  <a:lnTo>
                    <a:pt x="381000" y="1034663"/>
                  </a:lnTo>
                  <a:lnTo>
                    <a:pt x="381000" y="1041400"/>
                  </a:lnTo>
                  <a:lnTo>
                    <a:pt x="381000" y="1048136"/>
                  </a:lnTo>
                  <a:lnTo>
                    <a:pt x="383676" y="1054596"/>
                  </a:lnTo>
                  <a:lnTo>
                    <a:pt x="388439" y="1059360"/>
                  </a:lnTo>
                  <a:lnTo>
                    <a:pt x="393203" y="1064123"/>
                  </a:lnTo>
                  <a:lnTo>
                    <a:pt x="399663" y="1066800"/>
                  </a:lnTo>
                  <a:lnTo>
                    <a:pt x="406400" y="1066800"/>
                  </a:lnTo>
                  <a:lnTo>
                    <a:pt x="413136" y="1066800"/>
                  </a:lnTo>
                  <a:lnTo>
                    <a:pt x="419596" y="1064123"/>
                  </a:lnTo>
                  <a:lnTo>
                    <a:pt x="424360" y="1059360"/>
                  </a:lnTo>
                  <a:lnTo>
                    <a:pt x="429123" y="1054596"/>
                  </a:lnTo>
                  <a:lnTo>
                    <a:pt x="431800" y="1048136"/>
                  </a:lnTo>
                  <a:lnTo>
                    <a:pt x="431800" y="1041400"/>
                  </a:lnTo>
                  <a:close/>
                </a:path>
                <a:path w="1574800" h="1066800">
                  <a:moveTo>
                    <a:pt x="558800" y="789516"/>
                  </a:moveTo>
                  <a:lnTo>
                    <a:pt x="558800" y="782779"/>
                  </a:lnTo>
                  <a:lnTo>
                    <a:pt x="556123" y="776319"/>
                  </a:lnTo>
                  <a:lnTo>
                    <a:pt x="551360" y="771555"/>
                  </a:lnTo>
                  <a:lnTo>
                    <a:pt x="546596" y="766792"/>
                  </a:lnTo>
                  <a:lnTo>
                    <a:pt x="540136" y="764116"/>
                  </a:lnTo>
                  <a:lnTo>
                    <a:pt x="533400" y="764116"/>
                  </a:lnTo>
                  <a:lnTo>
                    <a:pt x="526663" y="764116"/>
                  </a:lnTo>
                  <a:lnTo>
                    <a:pt x="520203" y="766792"/>
                  </a:lnTo>
                  <a:lnTo>
                    <a:pt x="515439" y="771555"/>
                  </a:lnTo>
                  <a:lnTo>
                    <a:pt x="510676" y="776319"/>
                  </a:lnTo>
                  <a:lnTo>
                    <a:pt x="508000" y="782779"/>
                  </a:lnTo>
                  <a:lnTo>
                    <a:pt x="508000" y="789516"/>
                  </a:lnTo>
                  <a:lnTo>
                    <a:pt x="508000" y="796252"/>
                  </a:lnTo>
                  <a:lnTo>
                    <a:pt x="510676" y="802713"/>
                  </a:lnTo>
                  <a:lnTo>
                    <a:pt x="515439" y="807476"/>
                  </a:lnTo>
                  <a:lnTo>
                    <a:pt x="520203" y="812239"/>
                  </a:lnTo>
                  <a:lnTo>
                    <a:pt x="526663" y="814916"/>
                  </a:lnTo>
                  <a:lnTo>
                    <a:pt x="533400" y="814916"/>
                  </a:lnTo>
                  <a:lnTo>
                    <a:pt x="540136" y="814916"/>
                  </a:lnTo>
                  <a:lnTo>
                    <a:pt x="546596" y="812239"/>
                  </a:lnTo>
                  <a:lnTo>
                    <a:pt x="551360" y="807476"/>
                  </a:lnTo>
                  <a:lnTo>
                    <a:pt x="556123" y="802713"/>
                  </a:lnTo>
                  <a:lnTo>
                    <a:pt x="558800" y="796252"/>
                  </a:lnTo>
                  <a:lnTo>
                    <a:pt x="558800" y="789516"/>
                  </a:lnTo>
                  <a:close/>
                </a:path>
                <a:path w="1574800" h="1066800">
                  <a:moveTo>
                    <a:pt x="685800" y="282058"/>
                  </a:moveTo>
                  <a:lnTo>
                    <a:pt x="685800" y="275322"/>
                  </a:lnTo>
                  <a:lnTo>
                    <a:pt x="683123" y="268861"/>
                  </a:lnTo>
                  <a:lnTo>
                    <a:pt x="678360" y="264098"/>
                  </a:lnTo>
                  <a:lnTo>
                    <a:pt x="673596" y="259335"/>
                  </a:lnTo>
                  <a:lnTo>
                    <a:pt x="667136" y="256658"/>
                  </a:lnTo>
                  <a:lnTo>
                    <a:pt x="660400" y="256658"/>
                  </a:lnTo>
                  <a:lnTo>
                    <a:pt x="653663" y="256658"/>
                  </a:lnTo>
                  <a:lnTo>
                    <a:pt x="647203" y="259335"/>
                  </a:lnTo>
                  <a:lnTo>
                    <a:pt x="642439" y="264098"/>
                  </a:lnTo>
                  <a:lnTo>
                    <a:pt x="637676" y="268861"/>
                  </a:lnTo>
                  <a:lnTo>
                    <a:pt x="635000" y="275322"/>
                  </a:lnTo>
                  <a:lnTo>
                    <a:pt x="635000" y="282058"/>
                  </a:lnTo>
                  <a:lnTo>
                    <a:pt x="635000" y="288795"/>
                  </a:lnTo>
                  <a:lnTo>
                    <a:pt x="637676" y="295255"/>
                  </a:lnTo>
                  <a:lnTo>
                    <a:pt x="642439" y="300018"/>
                  </a:lnTo>
                  <a:lnTo>
                    <a:pt x="647203" y="304782"/>
                  </a:lnTo>
                  <a:lnTo>
                    <a:pt x="653663" y="307458"/>
                  </a:lnTo>
                  <a:lnTo>
                    <a:pt x="660400" y="307458"/>
                  </a:lnTo>
                  <a:lnTo>
                    <a:pt x="667136" y="307458"/>
                  </a:lnTo>
                  <a:lnTo>
                    <a:pt x="673596" y="304782"/>
                  </a:lnTo>
                  <a:lnTo>
                    <a:pt x="678360" y="300018"/>
                  </a:lnTo>
                  <a:lnTo>
                    <a:pt x="683123" y="295255"/>
                  </a:lnTo>
                  <a:lnTo>
                    <a:pt x="685800" y="288795"/>
                  </a:lnTo>
                  <a:lnTo>
                    <a:pt x="685800" y="282058"/>
                  </a:lnTo>
                  <a:close/>
                </a:path>
                <a:path w="1574800" h="1066800">
                  <a:moveTo>
                    <a:pt x="812800" y="25415"/>
                  </a:moveTo>
                  <a:lnTo>
                    <a:pt x="812800" y="18678"/>
                  </a:lnTo>
                  <a:lnTo>
                    <a:pt x="810123" y="12218"/>
                  </a:lnTo>
                  <a:lnTo>
                    <a:pt x="805360" y="7455"/>
                  </a:lnTo>
                  <a:lnTo>
                    <a:pt x="800596" y="2692"/>
                  </a:lnTo>
                  <a:lnTo>
                    <a:pt x="794136" y="15"/>
                  </a:lnTo>
                  <a:lnTo>
                    <a:pt x="787400" y="15"/>
                  </a:lnTo>
                  <a:lnTo>
                    <a:pt x="780663" y="15"/>
                  </a:lnTo>
                  <a:lnTo>
                    <a:pt x="774203" y="2692"/>
                  </a:lnTo>
                  <a:lnTo>
                    <a:pt x="769439" y="7455"/>
                  </a:lnTo>
                  <a:lnTo>
                    <a:pt x="764676" y="12218"/>
                  </a:lnTo>
                  <a:lnTo>
                    <a:pt x="762000" y="18678"/>
                  </a:lnTo>
                  <a:lnTo>
                    <a:pt x="762000" y="25415"/>
                  </a:lnTo>
                  <a:lnTo>
                    <a:pt x="762000" y="32152"/>
                  </a:lnTo>
                  <a:lnTo>
                    <a:pt x="764676" y="38612"/>
                  </a:lnTo>
                  <a:lnTo>
                    <a:pt x="769439" y="43375"/>
                  </a:lnTo>
                  <a:lnTo>
                    <a:pt x="774203" y="48138"/>
                  </a:lnTo>
                  <a:lnTo>
                    <a:pt x="780663" y="50815"/>
                  </a:lnTo>
                  <a:lnTo>
                    <a:pt x="787400" y="50815"/>
                  </a:lnTo>
                  <a:lnTo>
                    <a:pt x="794136" y="50815"/>
                  </a:lnTo>
                  <a:lnTo>
                    <a:pt x="800596" y="48138"/>
                  </a:lnTo>
                  <a:lnTo>
                    <a:pt x="805360" y="43375"/>
                  </a:lnTo>
                  <a:lnTo>
                    <a:pt x="810123" y="38612"/>
                  </a:lnTo>
                  <a:lnTo>
                    <a:pt x="812800" y="32152"/>
                  </a:lnTo>
                  <a:lnTo>
                    <a:pt x="812800" y="25415"/>
                  </a:lnTo>
                  <a:close/>
                </a:path>
                <a:path w="1574800" h="1066800">
                  <a:moveTo>
                    <a:pt x="939800" y="275694"/>
                  </a:moveTo>
                  <a:lnTo>
                    <a:pt x="939800" y="268958"/>
                  </a:lnTo>
                  <a:lnTo>
                    <a:pt x="937123" y="262497"/>
                  </a:lnTo>
                  <a:lnTo>
                    <a:pt x="932360" y="257734"/>
                  </a:lnTo>
                  <a:lnTo>
                    <a:pt x="927596" y="252971"/>
                  </a:lnTo>
                  <a:lnTo>
                    <a:pt x="921136" y="250294"/>
                  </a:lnTo>
                  <a:lnTo>
                    <a:pt x="914400" y="250294"/>
                  </a:lnTo>
                  <a:lnTo>
                    <a:pt x="907663" y="250294"/>
                  </a:lnTo>
                  <a:lnTo>
                    <a:pt x="901203" y="252971"/>
                  </a:lnTo>
                  <a:lnTo>
                    <a:pt x="896439" y="257734"/>
                  </a:lnTo>
                  <a:lnTo>
                    <a:pt x="891676" y="262497"/>
                  </a:lnTo>
                  <a:lnTo>
                    <a:pt x="889000" y="268958"/>
                  </a:lnTo>
                  <a:lnTo>
                    <a:pt x="889000" y="275694"/>
                  </a:lnTo>
                  <a:lnTo>
                    <a:pt x="889000" y="282431"/>
                  </a:lnTo>
                  <a:lnTo>
                    <a:pt x="891676" y="288891"/>
                  </a:lnTo>
                  <a:lnTo>
                    <a:pt x="896439" y="293654"/>
                  </a:lnTo>
                  <a:lnTo>
                    <a:pt x="901203" y="298418"/>
                  </a:lnTo>
                  <a:lnTo>
                    <a:pt x="907663" y="301094"/>
                  </a:lnTo>
                  <a:lnTo>
                    <a:pt x="914400" y="301094"/>
                  </a:lnTo>
                  <a:lnTo>
                    <a:pt x="921136" y="301094"/>
                  </a:lnTo>
                  <a:lnTo>
                    <a:pt x="927596" y="298418"/>
                  </a:lnTo>
                  <a:lnTo>
                    <a:pt x="932360" y="293654"/>
                  </a:lnTo>
                  <a:lnTo>
                    <a:pt x="937123" y="288891"/>
                  </a:lnTo>
                  <a:lnTo>
                    <a:pt x="939800" y="282431"/>
                  </a:lnTo>
                  <a:lnTo>
                    <a:pt x="939800" y="275694"/>
                  </a:lnTo>
                  <a:close/>
                </a:path>
                <a:path w="1574800" h="1066800">
                  <a:moveTo>
                    <a:pt x="1066800" y="783144"/>
                  </a:moveTo>
                  <a:lnTo>
                    <a:pt x="1066800" y="776407"/>
                  </a:lnTo>
                  <a:lnTo>
                    <a:pt x="1064123" y="769947"/>
                  </a:lnTo>
                  <a:lnTo>
                    <a:pt x="1059360" y="765184"/>
                  </a:lnTo>
                  <a:lnTo>
                    <a:pt x="1054596" y="760421"/>
                  </a:lnTo>
                  <a:lnTo>
                    <a:pt x="1048136" y="757744"/>
                  </a:lnTo>
                  <a:lnTo>
                    <a:pt x="1041400" y="757744"/>
                  </a:lnTo>
                  <a:lnTo>
                    <a:pt x="1034663" y="757744"/>
                  </a:lnTo>
                  <a:lnTo>
                    <a:pt x="1028203" y="760421"/>
                  </a:lnTo>
                  <a:lnTo>
                    <a:pt x="1023439" y="765184"/>
                  </a:lnTo>
                  <a:lnTo>
                    <a:pt x="1018676" y="769947"/>
                  </a:lnTo>
                  <a:lnTo>
                    <a:pt x="1016000" y="776407"/>
                  </a:lnTo>
                  <a:lnTo>
                    <a:pt x="1016000" y="783144"/>
                  </a:lnTo>
                  <a:lnTo>
                    <a:pt x="1016000" y="789881"/>
                  </a:lnTo>
                  <a:lnTo>
                    <a:pt x="1018676" y="796341"/>
                  </a:lnTo>
                  <a:lnTo>
                    <a:pt x="1023439" y="801104"/>
                  </a:lnTo>
                  <a:lnTo>
                    <a:pt x="1028203" y="805867"/>
                  </a:lnTo>
                  <a:lnTo>
                    <a:pt x="1034663" y="808544"/>
                  </a:lnTo>
                  <a:lnTo>
                    <a:pt x="1041400" y="808544"/>
                  </a:lnTo>
                  <a:lnTo>
                    <a:pt x="1048136" y="808544"/>
                  </a:lnTo>
                  <a:lnTo>
                    <a:pt x="1054596" y="805867"/>
                  </a:lnTo>
                  <a:lnTo>
                    <a:pt x="1059360" y="801104"/>
                  </a:lnTo>
                  <a:lnTo>
                    <a:pt x="1064123" y="796341"/>
                  </a:lnTo>
                  <a:lnTo>
                    <a:pt x="1066800" y="789881"/>
                  </a:lnTo>
                  <a:lnTo>
                    <a:pt x="1066800" y="783144"/>
                  </a:lnTo>
                  <a:close/>
                </a:path>
                <a:path w="1574800" h="1066800">
                  <a:moveTo>
                    <a:pt x="1193800" y="1041369"/>
                  </a:moveTo>
                  <a:lnTo>
                    <a:pt x="1193800" y="1034632"/>
                  </a:lnTo>
                  <a:lnTo>
                    <a:pt x="1191123" y="1028172"/>
                  </a:lnTo>
                  <a:lnTo>
                    <a:pt x="1186360" y="1023408"/>
                  </a:lnTo>
                  <a:lnTo>
                    <a:pt x="1181596" y="1018645"/>
                  </a:lnTo>
                  <a:lnTo>
                    <a:pt x="1175136" y="1015969"/>
                  </a:lnTo>
                  <a:lnTo>
                    <a:pt x="1168400" y="1015969"/>
                  </a:lnTo>
                  <a:lnTo>
                    <a:pt x="1161663" y="1015969"/>
                  </a:lnTo>
                  <a:lnTo>
                    <a:pt x="1155203" y="1018645"/>
                  </a:lnTo>
                  <a:lnTo>
                    <a:pt x="1150439" y="1023408"/>
                  </a:lnTo>
                  <a:lnTo>
                    <a:pt x="1145676" y="1028172"/>
                  </a:lnTo>
                  <a:lnTo>
                    <a:pt x="1143000" y="1034632"/>
                  </a:lnTo>
                  <a:lnTo>
                    <a:pt x="1143000" y="1041369"/>
                  </a:lnTo>
                  <a:lnTo>
                    <a:pt x="1143000" y="1048105"/>
                  </a:lnTo>
                  <a:lnTo>
                    <a:pt x="1145676" y="1054565"/>
                  </a:lnTo>
                  <a:lnTo>
                    <a:pt x="1150439" y="1059329"/>
                  </a:lnTo>
                  <a:lnTo>
                    <a:pt x="1155203" y="1064092"/>
                  </a:lnTo>
                  <a:lnTo>
                    <a:pt x="1161663" y="1066769"/>
                  </a:lnTo>
                  <a:lnTo>
                    <a:pt x="1168400" y="1066769"/>
                  </a:lnTo>
                  <a:lnTo>
                    <a:pt x="1175136" y="1066769"/>
                  </a:lnTo>
                  <a:lnTo>
                    <a:pt x="1181596" y="1064092"/>
                  </a:lnTo>
                  <a:lnTo>
                    <a:pt x="1186360" y="1059329"/>
                  </a:lnTo>
                  <a:lnTo>
                    <a:pt x="1191123" y="1054565"/>
                  </a:lnTo>
                  <a:lnTo>
                    <a:pt x="1193800" y="1048105"/>
                  </a:lnTo>
                  <a:lnTo>
                    <a:pt x="1193800" y="1041369"/>
                  </a:lnTo>
                  <a:close/>
                </a:path>
                <a:path w="1574800" h="1066800">
                  <a:moveTo>
                    <a:pt x="1320800" y="792686"/>
                  </a:moveTo>
                  <a:lnTo>
                    <a:pt x="1320800" y="785949"/>
                  </a:lnTo>
                  <a:lnTo>
                    <a:pt x="1318123" y="779489"/>
                  </a:lnTo>
                  <a:lnTo>
                    <a:pt x="1313360" y="774726"/>
                  </a:lnTo>
                  <a:lnTo>
                    <a:pt x="1308596" y="769963"/>
                  </a:lnTo>
                  <a:lnTo>
                    <a:pt x="1302136" y="767286"/>
                  </a:lnTo>
                  <a:lnTo>
                    <a:pt x="1295400" y="767286"/>
                  </a:lnTo>
                  <a:lnTo>
                    <a:pt x="1288663" y="767286"/>
                  </a:lnTo>
                  <a:lnTo>
                    <a:pt x="1282203" y="769963"/>
                  </a:lnTo>
                  <a:lnTo>
                    <a:pt x="1277439" y="774726"/>
                  </a:lnTo>
                  <a:lnTo>
                    <a:pt x="1272676" y="779489"/>
                  </a:lnTo>
                  <a:lnTo>
                    <a:pt x="1270000" y="785949"/>
                  </a:lnTo>
                  <a:lnTo>
                    <a:pt x="1270000" y="792686"/>
                  </a:lnTo>
                  <a:lnTo>
                    <a:pt x="1270000" y="799423"/>
                  </a:lnTo>
                  <a:lnTo>
                    <a:pt x="1272676" y="805883"/>
                  </a:lnTo>
                  <a:lnTo>
                    <a:pt x="1277439" y="810646"/>
                  </a:lnTo>
                  <a:lnTo>
                    <a:pt x="1282203" y="815409"/>
                  </a:lnTo>
                  <a:lnTo>
                    <a:pt x="1288663" y="818086"/>
                  </a:lnTo>
                  <a:lnTo>
                    <a:pt x="1295400" y="818086"/>
                  </a:lnTo>
                  <a:lnTo>
                    <a:pt x="1302136" y="818086"/>
                  </a:lnTo>
                  <a:lnTo>
                    <a:pt x="1308596" y="815409"/>
                  </a:lnTo>
                  <a:lnTo>
                    <a:pt x="1313360" y="810646"/>
                  </a:lnTo>
                  <a:lnTo>
                    <a:pt x="1318123" y="805883"/>
                  </a:lnTo>
                  <a:lnTo>
                    <a:pt x="1320800" y="799423"/>
                  </a:lnTo>
                  <a:lnTo>
                    <a:pt x="1320800" y="792686"/>
                  </a:lnTo>
                  <a:close/>
                </a:path>
                <a:path w="1574800" h="1066800">
                  <a:moveTo>
                    <a:pt x="1447800" y="285252"/>
                  </a:moveTo>
                  <a:lnTo>
                    <a:pt x="1447800" y="278515"/>
                  </a:lnTo>
                  <a:lnTo>
                    <a:pt x="1445123" y="272055"/>
                  </a:lnTo>
                  <a:lnTo>
                    <a:pt x="1440360" y="267292"/>
                  </a:lnTo>
                  <a:lnTo>
                    <a:pt x="1435596" y="262528"/>
                  </a:lnTo>
                  <a:lnTo>
                    <a:pt x="1429136" y="259852"/>
                  </a:lnTo>
                  <a:lnTo>
                    <a:pt x="1422400" y="259852"/>
                  </a:lnTo>
                  <a:lnTo>
                    <a:pt x="1415663" y="259852"/>
                  </a:lnTo>
                  <a:lnTo>
                    <a:pt x="1409203" y="262528"/>
                  </a:lnTo>
                  <a:lnTo>
                    <a:pt x="1404439" y="267292"/>
                  </a:lnTo>
                  <a:lnTo>
                    <a:pt x="1399676" y="272055"/>
                  </a:lnTo>
                  <a:lnTo>
                    <a:pt x="1397000" y="278515"/>
                  </a:lnTo>
                  <a:lnTo>
                    <a:pt x="1397000" y="285252"/>
                  </a:lnTo>
                  <a:lnTo>
                    <a:pt x="1397000" y="291989"/>
                  </a:lnTo>
                  <a:lnTo>
                    <a:pt x="1399676" y="298449"/>
                  </a:lnTo>
                  <a:lnTo>
                    <a:pt x="1404439" y="303212"/>
                  </a:lnTo>
                  <a:lnTo>
                    <a:pt x="1409203" y="307975"/>
                  </a:lnTo>
                  <a:lnTo>
                    <a:pt x="1415663" y="310652"/>
                  </a:lnTo>
                  <a:lnTo>
                    <a:pt x="1422400" y="310652"/>
                  </a:lnTo>
                  <a:lnTo>
                    <a:pt x="1429136" y="310652"/>
                  </a:lnTo>
                  <a:lnTo>
                    <a:pt x="1435596" y="307975"/>
                  </a:lnTo>
                  <a:lnTo>
                    <a:pt x="1440360" y="303212"/>
                  </a:lnTo>
                  <a:lnTo>
                    <a:pt x="1445123" y="298449"/>
                  </a:lnTo>
                  <a:lnTo>
                    <a:pt x="1447800" y="291989"/>
                  </a:lnTo>
                  <a:lnTo>
                    <a:pt x="1447800" y="285252"/>
                  </a:lnTo>
                  <a:close/>
                </a:path>
                <a:path w="1574800" h="1066800">
                  <a:moveTo>
                    <a:pt x="1574800" y="25454"/>
                  </a:moveTo>
                  <a:lnTo>
                    <a:pt x="1574800" y="18717"/>
                  </a:lnTo>
                  <a:lnTo>
                    <a:pt x="1572123" y="12257"/>
                  </a:lnTo>
                  <a:lnTo>
                    <a:pt x="1567360" y="7494"/>
                  </a:lnTo>
                  <a:lnTo>
                    <a:pt x="1562596" y="2730"/>
                  </a:lnTo>
                  <a:lnTo>
                    <a:pt x="1556136" y="54"/>
                  </a:lnTo>
                  <a:lnTo>
                    <a:pt x="1549400" y="54"/>
                  </a:lnTo>
                  <a:lnTo>
                    <a:pt x="1542663" y="54"/>
                  </a:lnTo>
                  <a:lnTo>
                    <a:pt x="1536203" y="2730"/>
                  </a:lnTo>
                  <a:lnTo>
                    <a:pt x="1531439" y="7494"/>
                  </a:lnTo>
                  <a:lnTo>
                    <a:pt x="1526676" y="12257"/>
                  </a:lnTo>
                  <a:lnTo>
                    <a:pt x="1524000" y="18717"/>
                  </a:lnTo>
                  <a:lnTo>
                    <a:pt x="1524000" y="25454"/>
                  </a:lnTo>
                  <a:lnTo>
                    <a:pt x="1524000" y="32191"/>
                  </a:lnTo>
                  <a:lnTo>
                    <a:pt x="1526676" y="38651"/>
                  </a:lnTo>
                  <a:lnTo>
                    <a:pt x="1531439" y="43414"/>
                  </a:lnTo>
                  <a:lnTo>
                    <a:pt x="1536203" y="48177"/>
                  </a:lnTo>
                  <a:lnTo>
                    <a:pt x="1542663" y="50854"/>
                  </a:lnTo>
                  <a:lnTo>
                    <a:pt x="1549400" y="50854"/>
                  </a:lnTo>
                  <a:lnTo>
                    <a:pt x="1556136" y="50854"/>
                  </a:lnTo>
                  <a:lnTo>
                    <a:pt x="1562596" y="48177"/>
                  </a:lnTo>
                  <a:lnTo>
                    <a:pt x="1567360" y="43414"/>
                  </a:lnTo>
                  <a:lnTo>
                    <a:pt x="1572123" y="38651"/>
                  </a:lnTo>
                  <a:lnTo>
                    <a:pt x="1574800" y="32191"/>
                  </a:lnTo>
                  <a:lnTo>
                    <a:pt x="1574800" y="25454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40645" y="2571930"/>
              <a:ext cx="1524000" cy="1016000"/>
            </a:xfrm>
            <a:custGeom>
              <a:avLst/>
              <a:gdLst/>
              <a:ahLst/>
              <a:cxnLst/>
              <a:rect l="l" t="t" r="r" b="b"/>
              <a:pathLst>
                <a:path w="1524000" h="1016000">
                  <a:moveTo>
                    <a:pt x="0" y="0"/>
                  </a:moveTo>
                  <a:lnTo>
                    <a:pt x="12700" y="2774"/>
                  </a:lnTo>
                  <a:lnTo>
                    <a:pt x="25400" y="11076"/>
                  </a:lnTo>
                  <a:lnTo>
                    <a:pt x="50800" y="43819"/>
                  </a:lnTo>
                  <a:lnTo>
                    <a:pt x="76200" y="96800"/>
                  </a:lnTo>
                  <a:lnTo>
                    <a:pt x="101600" y="167718"/>
                  </a:lnTo>
                  <a:lnTo>
                    <a:pt x="114300" y="208956"/>
                  </a:lnTo>
                  <a:lnTo>
                    <a:pt x="127000" y="253472"/>
                  </a:lnTo>
                  <a:lnTo>
                    <a:pt x="139700" y="300764"/>
                  </a:lnTo>
                  <a:lnTo>
                    <a:pt x="152400" y="350319"/>
                  </a:lnTo>
                  <a:lnTo>
                    <a:pt x="165100" y="401603"/>
                  </a:lnTo>
                  <a:lnTo>
                    <a:pt x="177800" y="454049"/>
                  </a:lnTo>
                  <a:lnTo>
                    <a:pt x="190500" y="507085"/>
                  </a:lnTo>
                  <a:lnTo>
                    <a:pt x="203200" y="560128"/>
                  </a:lnTo>
                  <a:lnTo>
                    <a:pt x="215900" y="612598"/>
                  </a:lnTo>
                  <a:lnTo>
                    <a:pt x="228600" y="663928"/>
                  </a:lnTo>
                  <a:lnTo>
                    <a:pt x="241300" y="713561"/>
                  </a:lnTo>
                  <a:lnTo>
                    <a:pt x="254000" y="760938"/>
                  </a:lnTo>
                  <a:lnTo>
                    <a:pt x="266700" y="805555"/>
                  </a:lnTo>
                  <a:lnTo>
                    <a:pt x="279400" y="846917"/>
                  </a:lnTo>
                  <a:lnTo>
                    <a:pt x="292100" y="884573"/>
                  </a:lnTo>
                  <a:lnTo>
                    <a:pt x="317500" y="947174"/>
                  </a:lnTo>
                  <a:lnTo>
                    <a:pt x="342900" y="990621"/>
                  </a:lnTo>
                  <a:lnTo>
                    <a:pt x="381000" y="1016000"/>
                  </a:lnTo>
                  <a:lnTo>
                    <a:pt x="393700" y="1013410"/>
                  </a:lnTo>
                  <a:lnTo>
                    <a:pt x="431800" y="972925"/>
                  </a:lnTo>
                  <a:lnTo>
                    <a:pt x="457200" y="920269"/>
                  </a:lnTo>
                  <a:lnTo>
                    <a:pt x="482600" y="849645"/>
                  </a:lnTo>
                  <a:lnTo>
                    <a:pt x="495300" y="808524"/>
                  </a:lnTo>
                  <a:lnTo>
                    <a:pt x="508000" y="764116"/>
                  </a:lnTo>
                  <a:lnTo>
                    <a:pt x="520700" y="716909"/>
                  </a:lnTo>
                  <a:lnTo>
                    <a:pt x="533400" y="667424"/>
                  </a:lnTo>
                  <a:lnTo>
                    <a:pt x="546100" y="616194"/>
                  </a:lnTo>
                  <a:lnTo>
                    <a:pt x="558800" y="563779"/>
                  </a:lnTo>
                  <a:lnTo>
                    <a:pt x="571500" y="510751"/>
                  </a:lnTo>
                  <a:lnTo>
                    <a:pt x="584200" y="457700"/>
                  </a:lnTo>
                  <a:lnTo>
                    <a:pt x="596900" y="405200"/>
                  </a:lnTo>
                  <a:lnTo>
                    <a:pt x="609600" y="353815"/>
                  </a:lnTo>
                  <a:lnTo>
                    <a:pt x="622300" y="304120"/>
                  </a:lnTo>
                  <a:lnTo>
                    <a:pt x="635000" y="256658"/>
                  </a:lnTo>
                  <a:lnTo>
                    <a:pt x="647700" y="211940"/>
                  </a:lnTo>
                  <a:lnTo>
                    <a:pt x="660400" y="170454"/>
                  </a:lnTo>
                  <a:lnTo>
                    <a:pt x="673100" y="132658"/>
                  </a:lnTo>
                  <a:lnTo>
                    <a:pt x="698500" y="69755"/>
                  </a:lnTo>
                  <a:lnTo>
                    <a:pt x="723900" y="25951"/>
                  </a:lnTo>
                  <a:lnTo>
                    <a:pt x="762000" y="15"/>
                  </a:lnTo>
                  <a:lnTo>
                    <a:pt x="774700" y="2402"/>
                  </a:lnTo>
                  <a:lnTo>
                    <a:pt x="812800" y="42338"/>
                  </a:lnTo>
                  <a:lnTo>
                    <a:pt x="838200" y="94653"/>
                  </a:lnTo>
                  <a:lnTo>
                    <a:pt x="863600" y="164997"/>
                  </a:lnTo>
                  <a:lnTo>
                    <a:pt x="876300" y="205995"/>
                  </a:lnTo>
                  <a:lnTo>
                    <a:pt x="889000" y="250294"/>
                  </a:lnTo>
                  <a:lnTo>
                    <a:pt x="901700" y="297415"/>
                  </a:lnTo>
                  <a:lnTo>
                    <a:pt x="914400" y="346831"/>
                  </a:lnTo>
                  <a:lnTo>
                    <a:pt x="927100" y="398014"/>
                  </a:lnTo>
                  <a:lnTo>
                    <a:pt x="939800" y="450398"/>
                  </a:lnTo>
                  <a:lnTo>
                    <a:pt x="952500" y="503411"/>
                  </a:lnTo>
                  <a:lnTo>
                    <a:pt x="965200" y="556469"/>
                  </a:lnTo>
                  <a:lnTo>
                    <a:pt x="977900" y="609001"/>
                  </a:lnTo>
                  <a:lnTo>
                    <a:pt x="990600" y="660432"/>
                  </a:lnTo>
                  <a:lnTo>
                    <a:pt x="1003300" y="710196"/>
                  </a:lnTo>
                  <a:lnTo>
                    <a:pt x="1016000" y="757744"/>
                  </a:lnTo>
                  <a:lnTo>
                    <a:pt x="1028700" y="802571"/>
                  </a:lnTo>
                  <a:lnTo>
                    <a:pt x="1041400" y="844173"/>
                  </a:lnTo>
                  <a:lnTo>
                    <a:pt x="1054100" y="882101"/>
                  </a:lnTo>
                  <a:lnTo>
                    <a:pt x="1079500" y="945314"/>
                  </a:lnTo>
                  <a:lnTo>
                    <a:pt x="1104900" y="989466"/>
                  </a:lnTo>
                  <a:lnTo>
                    <a:pt x="1143000" y="1015969"/>
                  </a:lnTo>
                  <a:lnTo>
                    <a:pt x="1155700" y="1013767"/>
                  </a:lnTo>
                  <a:lnTo>
                    <a:pt x="1193800" y="974390"/>
                  </a:lnTo>
                  <a:lnTo>
                    <a:pt x="1219200" y="922408"/>
                  </a:lnTo>
                  <a:lnTo>
                    <a:pt x="1244600" y="852351"/>
                  </a:lnTo>
                  <a:lnTo>
                    <a:pt x="1257300" y="811477"/>
                  </a:lnTo>
                  <a:lnTo>
                    <a:pt x="1270000" y="767286"/>
                  </a:lnTo>
                  <a:lnTo>
                    <a:pt x="1282700" y="720258"/>
                  </a:lnTo>
                  <a:lnTo>
                    <a:pt x="1295400" y="670912"/>
                  </a:lnTo>
                  <a:lnTo>
                    <a:pt x="1308100" y="619783"/>
                  </a:lnTo>
                  <a:lnTo>
                    <a:pt x="1320800" y="567430"/>
                  </a:lnTo>
                  <a:lnTo>
                    <a:pt x="1333500" y="514425"/>
                  </a:lnTo>
                  <a:lnTo>
                    <a:pt x="1346200" y="461359"/>
                  </a:lnTo>
                  <a:lnTo>
                    <a:pt x="1358900" y="408796"/>
                  </a:lnTo>
                  <a:lnTo>
                    <a:pt x="1371600" y="357319"/>
                  </a:lnTo>
                  <a:lnTo>
                    <a:pt x="1384300" y="307492"/>
                  </a:lnTo>
                  <a:lnTo>
                    <a:pt x="1397000" y="259852"/>
                  </a:lnTo>
                  <a:lnTo>
                    <a:pt x="1409700" y="214932"/>
                  </a:lnTo>
                  <a:lnTo>
                    <a:pt x="1422400" y="173206"/>
                  </a:lnTo>
                  <a:lnTo>
                    <a:pt x="1435100" y="135146"/>
                  </a:lnTo>
                  <a:lnTo>
                    <a:pt x="1460500" y="71623"/>
                  </a:lnTo>
                  <a:lnTo>
                    <a:pt x="1485900" y="27122"/>
                  </a:lnTo>
                  <a:lnTo>
                    <a:pt x="1511300" y="3596"/>
                  </a:lnTo>
                  <a:lnTo>
                    <a:pt x="1524000" y="54"/>
                  </a:lnTo>
                </a:path>
              </a:pathLst>
            </a:custGeom>
            <a:ln w="6326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815245" y="2611262"/>
              <a:ext cx="1574800" cy="936625"/>
            </a:xfrm>
            <a:custGeom>
              <a:avLst/>
              <a:gdLst/>
              <a:ahLst/>
              <a:cxnLst/>
              <a:rect l="l" t="t" r="r" b="b"/>
              <a:pathLst>
                <a:path w="1574800" h="936625">
                  <a:moveTo>
                    <a:pt x="0" y="494067"/>
                  </a:moveTo>
                  <a:lnTo>
                    <a:pt x="25400" y="468667"/>
                  </a:lnTo>
                  <a:lnTo>
                    <a:pt x="0" y="443267"/>
                  </a:lnTo>
                  <a:lnTo>
                    <a:pt x="25400" y="468667"/>
                  </a:lnTo>
                  <a:lnTo>
                    <a:pt x="50800" y="494067"/>
                  </a:lnTo>
                  <a:lnTo>
                    <a:pt x="25400" y="468667"/>
                  </a:lnTo>
                  <a:lnTo>
                    <a:pt x="50800" y="443267"/>
                  </a:lnTo>
                </a:path>
                <a:path w="1574800" h="936625">
                  <a:moveTo>
                    <a:pt x="127000" y="933699"/>
                  </a:moveTo>
                  <a:lnTo>
                    <a:pt x="152400" y="908299"/>
                  </a:lnTo>
                  <a:lnTo>
                    <a:pt x="127000" y="882899"/>
                  </a:lnTo>
                  <a:lnTo>
                    <a:pt x="152400" y="908299"/>
                  </a:lnTo>
                  <a:lnTo>
                    <a:pt x="177800" y="933699"/>
                  </a:lnTo>
                  <a:lnTo>
                    <a:pt x="152400" y="908299"/>
                  </a:lnTo>
                  <a:lnTo>
                    <a:pt x="177800" y="882899"/>
                  </a:lnTo>
                </a:path>
                <a:path w="1574800" h="936625">
                  <a:moveTo>
                    <a:pt x="254000" y="934621"/>
                  </a:moveTo>
                  <a:lnTo>
                    <a:pt x="279400" y="909221"/>
                  </a:lnTo>
                  <a:lnTo>
                    <a:pt x="254000" y="883821"/>
                  </a:lnTo>
                  <a:lnTo>
                    <a:pt x="279400" y="909221"/>
                  </a:lnTo>
                  <a:lnTo>
                    <a:pt x="304800" y="934621"/>
                  </a:lnTo>
                  <a:lnTo>
                    <a:pt x="279400" y="909221"/>
                  </a:lnTo>
                  <a:lnTo>
                    <a:pt x="304800" y="883821"/>
                  </a:lnTo>
                </a:path>
                <a:path w="1574800" h="936625">
                  <a:moveTo>
                    <a:pt x="381000" y="495904"/>
                  </a:moveTo>
                  <a:lnTo>
                    <a:pt x="406400" y="470504"/>
                  </a:lnTo>
                  <a:lnTo>
                    <a:pt x="381000" y="445104"/>
                  </a:lnTo>
                  <a:lnTo>
                    <a:pt x="406400" y="470504"/>
                  </a:lnTo>
                  <a:lnTo>
                    <a:pt x="431800" y="495904"/>
                  </a:lnTo>
                  <a:lnTo>
                    <a:pt x="406400" y="470504"/>
                  </a:lnTo>
                  <a:lnTo>
                    <a:pt x="431800" y="445104"/>
                  </a:lnTo>
                </a:path>
                <a:path w="1574800" h="936625">
                  <a:moveTo>
                    <a:pt x="508000" y="55357"/>
                  </a:moveTo>
                  <a:lnTo>
                    <a:pt x="533400" y="29957"/>
                  </a:lnTo>
                  <a:lnTo>
                    <a:pt x="508000" y="4557"/>
                  </a:lnTo>
                  <a:lnTo>
                    <a:pt x="533400" y="29957"/>
                  </a:lnTo>
                  <a:lnTo>
                    <a:pt x="558800" y="55357"/>
                  </a:lnTo>
                  <a:lnTo>
                    <a:pt x="533400" y="29957"/>
                  </a:lnTo>
                  <a:lnTo>
                    <a:pt x="558800" y="4557"/>
                  </a:lnTo>
                </a:path>
                <a:path w="1574800" h="936625">
                  <a:moveTo>
                    <a:pt x="635000" y="52606"/>
                  </a:moveTo>
                  <a:lnTo>
                    <a:pt x="660400" y="27206"/>
                  </a:lnTo>
                  <a:lnTo>
                    <a:pt x="635000" y="1806"/>
                  </a:lnTo>
                  <a:lnTo>
                    <a:pt x="660400" y="27206"/>
                  </a:lnTo>
                  <a:lnTo>
                    <a:pt x="685800" y="52606"/>
                  </a:lnTo>
                  <a:lnTo>
                    <a:pt x="660400" y="27206"/>
                  </a:lnTo>
                  <a:lnTo>
                    <a:pt x="685800" y="1806"/>
                  </a:lnTo>
                </a:path>
                <a:path w="1574800" h="936625">
                  <a:moveTo>
                    <a:pt x="762000" y="490393"/>
                  </a:moveTo>
                  <a:lnTo>
                    <a:pt x="787400" y="464993"/>
                  </a:lnTo>
                  <a:lnTo>
                    <a:pt x="762000" y="439593"/>
                  </a:lnTo>
                  <a:lnTo>
                    <a:pt x="787400" y="464993"/>
                  </a:lnTo>
                  <a:lnTo>
                    <a:pt x="812800" y="490393"/>
                  </a:lnTo>
                  <a:lnTo>
                    <a:pt x="787400" y="464993"/>
                  </a:lnTo>
                  <a:lnTo>
                    <a:pt x="812800" y="439593"/>
                  </a:lnTo>
                </a:path>
                <a:path w="1574800" h="936625">
                  <a:moveTo>
                    <a:pt x="889000" y="931847"/>
                  </a:moveTo>
                  <a:lnTo>
                    <a:pt x="914400" y="906447"/>
                  </a:lnTo>
                  <a:lnTo>
                    <a:pt x="889000" y="881047"/>
                  </a:lnTo>
                  <a:lnTo>
                    <a:pt x="914400" y="906447"/>
                  </a:lnTo>
                  <a:lnTo>
                    <a:pt x="939800" y="931847"/>
                  </a:lnTo>
                  <a:lnTo>
                    <a:pt x="914400" y="906447"/>
                  </a:lnTo>
                  <a:lnTo>
                    <a:pt x="939800" y="881047"/>
                  </a:lnTo>
                </a:path>
                <a:path w="1574800" h="936625">
                  <a:moveTo>
                    <a:pt x="1016000" y="936435"/>
                  </a:moveTo>
                  <a:lnTo>
                    <a:pt x="1041400" y="911035"/>
                  </a:lnTo>
                  <a:lnTo>
                    <a:pt x="1016000" y="885635"/>
                  </a:lnTo>
                  <a:lnTo>
                    <a:pt x="1041400" y="911035"/>
                  </a:lnTo>
                  <a:lnTo>
                    <a:pt x="1066800" y="936435"/>
                  </a:lnTo>
                  <a:lnTo>
                    <a:pt x="1041400" y="911035"/>
                  </a:lnTo>
                  <a:lnTo>
                    <a:pt x="1066800" y="885635"/>
                  </a:lnTo>
                </a:path>
                <a:path w="1574800" h="936625">
                  <a:moveTo>
                    <a:pt x="1143000" y="499578"/>
                  </a:moveTo>
                  <a:lnTo>
                    <a:pt x="1168400" y="474178"/>
                  </a:lnTo>
                  <a:lnTo>
                    <a:pt x="1143000" y="448778"/>
                  </a:lnTo>
                  <a:lnTo>
                    <a:pt x="1168400" y="474178"/>
                  </a:lnTo>
                  <a:lnTo>
                    <a:pt x="1193800" y="499578"/>
                  </a:lnTo>
                  <a:lnTo>
                    <a:pt x="1168400" y="474178"/>
                  </a:lnTo>
                  <a:lnTo>
                    <a:pt x="1193800" y="448778"/>
                  </a:lnTo>
                </a:path>
                <a:path w="1574800" h="936625">
                  <a:moveTo>
                    <a:pt x="1270000" y="57218"/>
                  </a:moveTo>
                  <a:lnTo>
                    <a:pt x="1295400" y="31818"/>
                  </a:lnTo>
                  <a:lnTo>
                    <a:pt x="1270000" y="6418"/>
                  </a:lnTo>
                  <a:lnTo>
                    <a:pt x="1295400" y="31818"/>
                  </a:lnTo>
                  <a:lnTo>
                    <a:pt x="1320800" y="57218"/>
                  </a:lnTo>
                  <a:lnTo>
                    <a:pt x="1295400" y="31818"/>
                  </a:lnTo>
                  <a:lnTo>
                    <a:pt x="1320800" y="6418"/>
                  </a:lnTo>
                </a:path>
                <a:path w="1574800" h="936625">
                  <a:moveTo>
                    <a:pt x="1397000" y="50800"/>
                  </a:moveTo>
                  <a:lnTo>
                    <a:pt x="1422400" y="25400"/>
                  </a:lnTo>
                  <a:lnTo>
                    <a:pt x="1397000" y="0"/>
                  </a:lnTo>
                  <a:lnTo>
                    <a:pt x="1422400" y="25400"/>
                  </a:lnTo>
                  <a:lnTo>
                    <a:pt x="1447800" y="50800"/>
                  </a:lnTo>
                  <a:lnTo>
                    <a:pt x="1422400" y="25400"/>
                  </a:lnTo>
                  <a:lnTo>
                    <a:pt x="1447800" y="0"/>
                  </a:lnTo>
                </a:path>
                <a:path w="1574800" h="936625">
                  <a:moveTo>
                    <a:pt x="1524000" y="486719"/>
                  </a:moveTo>
                  <a:lnTo>
                    <a:pt x="1549400" y="461319"/>
                  </a:lnTo>
                  <a:lnTo>
                    <a:pt x="1524000" y="435919"/>
                  </a:lnTo>
                  <a:lnTo>
                    <a:pt x="1549400" y="461319"/>
                  </a:lnTo>
                  <a:lnTo>
                    <a:pt x="1574800" y="486719"/>
                  </a:lnTo>
                  <a:lnTo>
                    <a:pt x="1549400" y="461319"/>
                  </a:lnTo>
                  <a:lnTo>
                    <a:pt x="1574800" y="435919"/>
                  </a:lnTo>
                </a:path>
              </a:pathLst>
            </a:custGeom>
            <a:ln w="1265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840645" y="2571938"/>
              <a:ext cx="1524000" cy="1016000"/>
            </a:xfrm>
            <a:custGeom>
              <a:avLst/>
              <a:gdLst/>
              <a:ahLst/>
              <a:cxnLst/>
              <a:rect l="l" t="t" r="r" b="b"/>
              <a:pathLst>
                <a:path w="1524000" h="1016000">
                  <a:moveTo>
                    <a:pt x="0" y="507992"/>
                  </a:moveTo>
                  <a:lnTo>
                    <a:pt x="12700" y="561035"/>
                  </a:lnTo>
                  <a:lnTo>
                    <a:pt x="25400" y="613489"/>
                  </a:lnTo>
                  <a:lnTo>
                    <a:pt x="38100" y="664796"/>
                  </a:lnTo>
                  <a:lnTo>
                    <a:pt x="50800" y="714390"/>
                  </a:lnTo>
                  <a:lnTo>
                    <a:pt x="63500" y="761728"/>
                  </a:lnTo>
                  <a:lnTo>
                    <a:pt x="76200" y="806291"/>
                  </a:lnTo>
                  <a:lnTo>
                    <a:pt x="88900" y="847591"/>
                  </a:lnTo>
                  <a:lnTo>
                    <a:pt x="101600" y="885178"/>
                  </a:lnTo>
                  <a:lnTo>
                    <a:pt x="127000" y="947624"/>
                  </a:lnTo>
                  <a:lnTo>
                    <a:pt x="152400" y="990900"/>
                  </a:lnTo>
                  <a:lnTo>
                    <a:pt x="190500" y="1015992"/>
                  </a:lnTo>
                  <a:lnTo>
                    <a:pt x="203200" y="1013310"/>
                  </a:lnTo>
                  <a:lnTo>
                    <a:pt x="241300" y="972545"/>
                  </a:lnTo>
                  <a:lnTo>
                    <a:pt x="266700" y="919726"/>
                  </a:lnTo>
                  <a:lnTo>
                    <a:pt x="292100" y="848955"/>
                  </a:lnTo>
                  <a:lnTo>
                    <a:pt x="304800" y="807772"/>
                  </a:lnTo>
                  <a:lnTo>
                    <a:pt x="317500" y="763317"/>
                  </a:lnTo>
                  <a:lnTo>
                    <a:pt x="330200" y="716064"/>
                  </a:lnTo>
                  <a:lnTo>
                    <a:pt x="342900" y="666540"/>
                  </a:lnTo>
                  <a:lnTo>
                    <a:pt x="355600" y="615288"/>
                  </a:lnTo>
                  <a:lnTo>
                    <a:pt x="368300" y="562857"/>
                  </a:lnTo>
                  <a:lnTo>
                    <a:pt x="381000" y="509829"/>
                  </a:lnTo>
                  <a:lnTo>
                    <a:pt x="393700" y="456778"/>
                  </a:lnTo>
                  <a:lnTo>
                    <a:pt x="406400" y="404293"/>
                  </a:lnTo>
                  <a:lnTo>
                    <a:pt x="419100" y="352931"/>
                  </a:lnTo>
                  <a:lnTo>
                    <a:pt x="431800" y="303276"/>
                  </a:lnTo>
                  <a:lnTo>
                    <a:pt x="444500" y="255852"/>
                  </a:lnTo>
                  <a:lnTo>
                    <a:pt x="457200" y="211180"/>
                  </a:lnTo>
                  <a:lnTo>
                    <a:pt x="469900" y="169764"/>
                  </a:lnTo>
                  <a:lnTo>
                    <a:pt x="482600" y="132038"/>
                  </a:lnTo>
                  <a:lnTo>
                    <a:pt x="508000" y="69282"/>
                  </a:lnTo>
                  <a:lnTo>
                    <a:pt x="533400" y="25657"/>
                  </a:lnTo>
                  <a:lnTo>
                    <a:pt x="571500" y="0"/>
                  </a:lnTo>
                  <a:lnTo>
                    <a:pt x="584200" y="2488"/>
                  </a:lnTo>
                  <a:lnTo>
                    <a:pt x="622300" y="42695"/>
                  </a:lnTo>
                  <a:lnTo>
                    <a:pt x="647700" y="95180"/>
                  </a:lnTo>
                  <a:lnTo>
                    <a:pt x="673100" y="165672"/>
                  </a:lnTo>
                  <a:lnTo>
                    <a:pt x="685800" y="206731"/>
                  </a:lnTo>
                  <a:lnTo>
                    <a:pt x="698500" y="251077"/>
                  </a:lnTo>
                  <a:lnTo>
                    <a:pt x="711200" y="298245"/>
                  </a:lnTo>
                  <a:lnTo>
                    <a:pt x="723900" y="347699"/>
                  </a:lnTo>
                  <a:lnTo>
                    <a:pt x="736600" y="398898"/>
                  </a:lnTo>
                  <a:lnTo>
                    <a:pt x="749300" y="451298"/>
                  </a:lnTo>
                  <a:lnTo>
                    <a:pt x="762000" y="504318"/>
                  </a:lnTo>
                  <a:lnTo>
                    <a:pt x="774700" y="557376"/>
                  </a:lnTo>
                  <a:lnTo>
                    <a:pt x="787400" y="609892"/>
                  </a:lnTo>
                  <a:lnTo>
                    <a:pt x="800100" y="661300"/>
                  </a:lnTo>
                  <a:lnTo>
                    <a:pt x="812800" y="711026"/>
                  </a:lnTo>
                  <a:lnTo>
                    <a:pt x="825500" y="758535"/>
                  </a:lnTo>
                  <a:lnTo>
                    <a:pt x="838200" y="803307"/>
                  </a:lnTo>
                  <a:lnTo>
                    <a:pt x="850900" y="844847"/>
                  </a:lnTo>
                  <a:lnTo>
                    <a:pt x="863600" y="882713"/>
                  </a:lnTo>
                  <a:lnTo>
                    <a:pt x="889000" y="945771"/>
                  </a:lnTo>
                  <a:lnTo>
                    <a:pt x="914400" y="989745"/>
                  </a:lnTo>
                  <a:lnTo>
                    <a:pt x="952500" y="1015969"/>
                  </a:lnTo>
                  <a:lnTo>
                    <a:pt x="965200" y="1013674"/>
                  </a:lnTo>
                  <a:lnTo>
                    <a:pt x="1003300" y="974018"/>
                  </a:lnTo>
                  <a:lnTo>
                    <a:pt x="1028700" y="921866"/>
                  </a:lnTo>
                  <a:lnTo>
                    <a:pt x="1054100" y="851668"/>
                  </a:lnTo>
                  <a:lnTo>
                    <a:pt x="1066800" y="810733"/>
                  </a:lnTo>
                  <a:lnTo>
                    <a:pt x="1079500" y="766488"/>
                  </a:lnTo>
                  <a:lnTo>
                    <a:pt x="1092200" y="719413"/>
                  </a:lnTo>
                  <a:lnTo>
                    <a:pt x="1104900" y="670028"/>
                  </a:lnTo>
                  <a:lnTo>
                    <a:pt x="1117600" y="618876"/>
                  </a:lnTo>
                  <a:lnTo>
                    <a:pt x="1130300" y="566508"/>
                  </a:lnTo>
                  <a:lnTo>
                    <a:pt x="1143000" y="513503"/>
                  </a:lnTo>
                  <a:lnTo>
                    <a:pt x="1155700" y="460437"/>
                  </a:lnTo>
                  <a:lnTo>
                    <a:pt x="1168400" y="407889"/>
                  </a:lnTo>
                  <a:lnTo>
                    <a:pt x="1181100" y="356435"/>
                  </a:lnTo>
                  <a:lnTo>
                    <a:pt x="1193800" y="306640"/>
                  </a:lnTo>
                  <a:lnTo>
                    <a:pt x="1206500" y="259046"/>
                  </a:lnTo>
                  <a:lnTo>
                    <a:pt x="1219200" y="214172"/>
                  </a:lnTo>
                  <a:lnTo>
                    <a:pt x="1231900" y="172508"/>
                  </a:lnTo>
                  <a:lnTo>
                    <a:pt x="1244600" y="134518"/>
                  </a:lnTo>
                  <a:lnTo>
                    <a:pt x="1270000" y="71142"/>
                  </a:lnTo>
                  <a:lnTo>
                    <a:pt x="1295400" y="26820"/>
                  </a:lnTo>
                  <a:lnTo>
                    <a:pt x="1333500" y="30"/>
                  </a:lnTo>
                  <a:lnTo>
                    <a:pt x="1346200" y="2139"/>
                  </a:lnTo>
                  <a:lnTo>
                    <a:pt x="1384300" y="41237"/>
                  </a:lnTo>
                  <a:lnTo>
                    <a:pt x="1409700" y="93056"/>
                  </a:lnTo>
                  <a:lnTo>
                    <a:pt x="1435100" y="162966"/>
                  </a:lnTo>
                  <a:lnTo>
                    <a:pt x="1447800" y="203778"/>
                  </a:lnTo>
                  <a:lnTo>
                    <a:pt x="1460500" y="247915"/>
                  </a:lnTo>
                  <a:lnTo>
                    <a:pt x="1473200" y="294904"/>
                  </a:lnTo>
                  <a:lnTo>
                    <a:pt x="1485900" y="344211"/>
                  </a:lnTo>
                  <a:lnTo>
                    <a:pt x="1498600" y="395316"/>
                  </a:lnTo>
                  <a:lnTo>
                    <a:pt x="1511300" y="447647"/>
                  </a:lnTo>
                  <a:lnTo>
                    <a:pt x="1524000" y="500643"/>
                  </a:lnTo>
                </a:path>
              </a:pathLst>
            </a:custGeom>
            <a:ln w="632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466226" y="2958012"/>
            <a:ext cx="10922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0526" y="1033980"/>
            <a:ext cx="126364" cy="0"/>
          </a:xfrm>
          <a:custGeom>
            <a:avLst/>
            <a:gdLst/>
            <a:ahLst/>
            <a:cxnLst/>
            <a:rect l="l" t="t" r="r" b="b"/>
            <a:pathLst>
              <a:path w="126365">
                <a:moveTo>
                  <a:pt x="0" y="0"/>
                </a:moveTo>
                <a:lnTo>
                  <a:pt x="126225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72692" y="1033980"/>
            <a:ext cx="710565" cy="0"/>
          </a:xfrm>
          <a:custGeom>
            <a:avLst/>
            <a:gdLst/>
            <a:ahLst/>
            <a:cxnLst/>
            <a:rect l="l" t="t" r="r" b="b"/>
            <a:pathLst>
              <a:path w="710564">
                <a:moveTo>
                  <a:pt x="0" y="0"/>
                </a:moveTo>
                <a:lnTo>
                  <a:pt x="710552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53956" y="1815758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596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87289" y="1787923"/>
            <a:ext cx="690880" cy="0"/>
          </a:xfrm>
          <a:custGeom>
            <a:avLst/>
            <a:gdLst/>
            <a:ahLst/>
            <a:cxnLst/>
            <a:rect l="l" t="t" r="r" b="b"/>
            <a:pathLst>
              <a:path w="690880">
                <a:moveTo>
                  <a:pt x="0" y="0"/>
                </a:moveTo>
                <a:lnTo>
                  <a:pt x="690765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78520" y="1787923"/>
            <a:ext cx="762635" cy="0"/>
          </a:xfrm>
          <a:custGeom>
            <a:avLst/>
            <a:gdLst/>
            <a:ahLst/>
            <a:cxnLst/>
            <a:rect l="l" t="t" r="r" b="b"/>
            <a:pathLst>
              <a:path w="762635">
                <a:moveTo>
                  <a:pt x="0" y="0"/>
                </a:moveTo>
                <a:lnTo>
                  <a:pt x="762279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03339" y="2250039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596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0" dirty="0"/>
              <a:t>Complex</a:t>
            </a:r>
            <a:r>
              <a:rPr spc="220" dirty="0"/>
              <a:t> </a:t>
            </a:r>
            <a:r>
              <a:rPr spc="55" dirty="0"/>
              <a:t>Poles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3830" y="306666"/>
            <a:ext cx="3359785" cy="508634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100" spc="120" dirty="0">
                <a:latin typeface="Arial"/>
                <a:cs typeface="Arial"/>
              </a:rPr>
              <a:t>The</a:t>
            </a:r>
            <a:r>
              <a:rPr sz="1100" spc="185" dirty="0">
                <a:latin typeface="Arial"/>
                <a:cs typeface="Arial"/>
              </a:rPr>
              <a:t> </a:t>
            </a:r>
            <a:r>
              <a:rPr sz="1100" spc="110" dirty="0">
                <a:latin typeface="Arial"/>
                <a:cs typeface="Arial"/>
              </a:rPr>
              <a:t>output</a:t>
            </a:r>
            <a:r>
              <a:rPr sz="1100" spc="185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185" dirty="0">
                <a:latin typeface="Arial"/>
                <a:cs typeface="Arial"/>
              </a:rPr>
              <a:t> </a:t>
            </a:r>
            <a:r>
              <a:rPr sz="1100" spc="135" dirty="0">
                <a:latin typeface="Arial"/>
                <a:cs typeface="Arial"/>
              </a:rPr>
              <a:t>“real”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system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real</a:t>
            </a:r>
            <a:r>
              <a:rPr sz="1100" spc="18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values.</a:t>
            </a:r>
            <a:endParaRPr sz="11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585"/>
              </a:spcBef>
            </a:pPr>
            <a:r>
              <a:rPr sz="1100" i="1" spc="-20" dirty="0">
                <a:latin typeface="Georgia"/>
                <a:cs typeface="Georgia"/>
              </a:rPr>
              <a:t>y</a:t>
            </a:r>
            <a:r>
              <a:rPr sz="1100" spc="-20" dirty="0">
                <a:latin typeface="Palatino Linotype"/>
                <a:cs typeface="Palatino Linotype"/>
              </a:rPr>
              <a:t>[</a:t>
            </a:r>
            <a:r>
              <a:rPr sz="1100" i="1" spc="-20" dirty="0">
                <a:latin typeface="Georgia"/>
                <a:cs typeface="Georgia"/>
              </a:rPr>
              <a:t>n</a:t>
            </a:r>
            <a:r>
              <a:rPr sz="1100" spc="-20" dirty="0">
                <a:latin typeface="Palatino Linotype"/>
                <a:cs typeface="Palatino Linotype"/>
              </a:rPr>
              <a:t>]</a:t>
            </a:r>
            <a:r>
              <a:rPr sz="1100" spc="1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20" dirty="0">
                <a:latin typeface="Palatino Linotype"/>
                <a:cs typeface="Palatino Linotype"/>
              </a:rPr>
              <a:t> </a:t>
            </a:r>
            <a:r>
              <a:rPr sz="1100" i="1" spc="-10" dirty="0">
                <a:latin typeface="Georgia"/>
                <a:cs typeface="Georgia"/>
              </a:rPr>
              <a:t>x</a:t>
            </a:r>
            <a:r>
              <a:rPr sz="1100" spc="-10" dirty="0">
                <a:latin typeface="Palatino Linotype"/>
                <a:cs typeface="Palatino Linotype"/>
              </a:rPr>
              <a:t>[</a:t>
            </a:r>
            <a:r>
              <a:rPr sz="1100" i="1" spc="-10" dirty="0">
                <a:latin typeface="Georgia"/>
                <a:cs typeface="Georgia"/>
              </a:rPr>
              <a:t>n</a:t>
            </a:r>
            <a:r>
              <a:rPr sz="1100" spc="-10" dirty="0">
                <a:latin typeface="Palatino Linotype"/>
                <a:cs typeface="Palatino Linotype"/>
              </a:rPr>
              <a:t>]</a:t>
            </a:r>
            <a:r>
              <a:rPr sz="1100" spc="-40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i="1" spc="-35" dirty="0">
                <a:latin typeface="Georgia"/>
                <a:cs typeface="Georgia"/>
              </a:rPr>
              <a:t>y</a:t>
            </a:r>
            <a:r>
              <a:rPr sz="1100" spc="-35" dirty="0">
                <a:latin typeface="Palatino Linotype"/>
                <a:cs typeface="Palatino Linotype"/>
              </a:rPr>
              <a:t>[</a:t>
            </a:r>
            <a:r>
              <a:rPr sz="1100" i="1" spc="-35" dirty="0">
                <a:latin typeface="Georgia"/>
                <a:cs typeface="Georgia"/>
              </a:rPr>
              <a:t>n</a:t>
            </a:r>
            <a:r>
              <a:rPr sz="1100" i="1" spc="-30" dirty="0">
                <a:latin typeface="Georgia"/>
                <a:cs typeface="Georgia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40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Palatino Linotype"/>
                <a:cs typeface="Palatino Linotype"/>
              </a:rPr>
              <a:t>1]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i="1" spc="-35" dirty="0">
                <a:latin typeface="Georgia"/>
                <a:cs typeface="Georgia"/>
              </a:rPr>
              <a:t>y</a:t>
            </a:r>
            <a:r>
              <a:rPr sz="1100" spc="-35" dirty="0">
                <a:latin typeface="Palatino Linotype"/>
                <a:cs typeface="Palatino Linotype"/>
              </a:rPr>
              <a:t>[</a:t>
            </a:r>
            <a:r>
              <a:rPr sz="1100" i="1" spc="-35" dirty="0">
                <a:latin typeface="Georgia"/>
                <a:cs typeface="Georgia"/>
              </a:rPr>
              <a:t>n</a:t>
            </a:r>
            <a:r>
              <a:rPr sz="1100" i="1" spc="-30" dirty="0">
                <a:latin typeface="Georgia"/>
                <a:cs typeface="Georgia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Palatino Linotype"/>
                <a:cs typeface="Palatino Linotype"/>
              </a:rPr>
              <a:t>2]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4827" y="822743"/>
            <a:ext cx="7505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8020" algn="l"/>
              </a:tabLst>
            </a:pPr>
            <a:r>
              <a:rPr sz="1100" i="1" spc="-50" dirty="0">
                <a:latin typeface="Georgia"/>
                <a:cs typeface="Georgia"/>
              </a:rPr>
              <a:t>Y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spc="-50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422" y="916828"/>
            <a:ext cx="1450975" cy="289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1040"/>
              </a:lnSpc>
              <a:spcBef>
                <a:spcPts val="95"/>
              </a:spcBef>
              <a:tabLst>
                <a:tab pos="545465" algn="l"/>
              </a:tabLst>
            </a:pPr>
            <a:r>
              <a:rPr sz="1100" i="1" dirty="0">
                <a:latin typeface="Georgia"/>
                <a:cs typeface="Georgia"/>
              </a:rPr>
              <a:t>H</a:t>
            </a:r>
            <a:r>
              <a:rPr sz="1100" i="1" spc="130" dirty="0">
                <a:latin typeface="Georgia"/>
                <a:cs typeface="Georgia"/>
              </a:rPr>
              <a:t> </a:t>
            </a:r>
            <a:r>
              <a:rPr sz="1100" spc="250" dirty="0">
                <a:latin typeface="Palatino Linotype"/>
                <a:cs typeface="Palatino Linotype"/>
              </a:rPr>
              <a:t>=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spc="250" dirty="0">
                <a:latin typeface="Palatino Linotype"/>
                <a:cs typeface="Palatino Linotype"/>
              </a:rPr>
              <a:t>=</a:t>
            </a:r>
            <a:endParaRPr sz="1100">
              <a:latin typeface="Palatino Linotype"/>
              <a:cs typeface="Palatino Linotype"/>
            </a:endParaRPr>
          </a:p>
          <a:p>
            <a:pPr marL="365760">
              <a:lnSpc>
                <a:spcPts val="1040"/>
              </a:lnSpc>
              <a:tabLst>
                <a:tab pos="707390" algn="l"/>
              </a:tabLst>
            </a:pPr>
            <a:r>
              <a:rPr sz="1100" i="1" spc="65" dirty="0">
                <a:latin typeface="Georgia"/>
                <a:cs typeface="Georgia"/>
              </a:rPr>
              <a:t>X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i="1" spc="245" dirty="0">
                <a:latin typeface="Times New Roman"/>
                <a:cs typeface="Times New Roman"/>
              </a:rPr>
              <a:t>R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+</a:t>
            </a:r>
            <a:r>
              <a:rPr sz="1100" spc="-35" dirty="0">
                <a:latin typeface="Palatino Linotype"/>
                <a:cs typeface="Palatino Linotype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R</a:t>
            </a:r>
            <a:r>
              <a:rPr sz="1350" spc="150" baseline="18518" dirty="0">
                <a:latin typeface="Palatino Linotype"/>
                <a:cs typeface="Palatino Linotype"/>
              </a:rPr>
              <a:t>2</a:t>
            </a:r>
            <a:endParaRPr sz="1350" baseline="18518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2391" y="1160526"/>
            <a:ext cx="189230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10540" algn="l"/>
                <a:tab pos="890905" algn="l"/>
                <a:tab pos="1437640" algn="l"/>
                <a:tab pos="1853564" algn="l"/>
              </a:tabLst>
            </a:pPr>
            <a:r>
              <a:rPr sz="1650" spc="450" baseline="-37878" dirty="0">
                <a:latin typeface="Palatino Linotype"/>
                <a:cs typeface="Palatino Linotype"/>
              </a:rPr>
              <a:t>=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 </a:t>
            </a:r>
            <a:r>
              <a:rPr sz="1650" i="1" spc="165" baseline="-37878" dirty="0">
                <a:latin typeface="Times New Roman"/>
                <a:cs typeface="Times New Roman"/>
              </a:rPr>
              <a:t>×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4584" y="1324787"/>
            <a:ext cx="173037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929005" algn="l"/>
              </a:tabLst>
            </a:pPr>
            <a:r>
              <a:rPr sz="1650" baseline="-17676" dirty="0">
                <a:latin typeface="Palatino Linotype"/>
                <a:cs typeface="Palatino Linotype"/>
              </a:rPr>
              <a:t>1</a:t>
            </a:r>
            <a:r>
              <a:rPr sz="1650" spc="-52" baseline="-17676" dirty="0">
                <a:latin typeface="Palatino Linotype"/>
                <a:cs typeface="Palatino Linotype"/>
              </a:rPr>
              <a:t> </a:t>
            </a:r>
            <a:r>
              <a:rPr sz="1650" i="1" spc="165" baseline="-17676" dirty="0">
                <a:latin typeface="Times New Roman"/>
                <a:cs typeface="Times New Roman"/>
              </a:rPr>
              <a:t>−</a:t>
            </a:r>
            <a:r>
              <a:rPr sz="1650" i="1" spc="-52" baseline="-17676" dirty="0">
                <a:latin typeface="Times New Roman"/>
                <a:cs typeface="Times New Roman"/>
              </a:rPr>
              <a:t> </a:t>
            </a:r>
            <a:r>
              <a:rPr sz="1650" i="1" spc="-37" baseline="-17676" dirty="0">
                <a:latin typeface="Georgia"/>
                <a:cs typeface="Georgia"/>
              </a:rPr>
              <a:t>e</a:t>
            </a:r>
            <a:r>
              <a:rPr sz="1650" i="1" spc="-172" baseline="-17676" dirty="0">
                <a:latin typeface="Georgia"/>
                <a:cs typeface="Georgia"/>
              </a:rPr>
              <a:t> </a:t>
            </a:r>
            <a:r>
              <a:rPr sz="900" i="1" spc="90" dirty="0">
                <a:latin typeface="Georgia"/>
                <a:cs typeface="Georgia"/>
              </a:rPr>
              <a:t>jπ/</a:t>
            </a:r>
            <a:r>
              <a:rPr sz="900" spc="90" dirty="0">
                <a:latin typeface="Palatino Linotype"/>
                <a:cs typeface="Palatino Linotype"/>
              </a:rPr>
              <a:t>3</a:t>
            </a:r>
            <a:r>
              <a:rPr sz="1650" i="1" spc="135" baseline="-17676" dirty="0">
                <a:latin typeface="Times New Roman"/>
                <a:cs typeface="Times New Roman"/>
              </a:rPr>
              <a:t>R</a:t>
            </a:r>
            <a:r>
              <a:rPr sz="1650" i="1" baseline="-17676" dirty="0">
                <a:latin typeface="Times New Roman"/>
                <a:cs typeface="Times New Roman"/>
              </a:rPr>
              <a:t>	</a:t>
            </a:r>
            <a:r>
              <a:rPr sz="1650" baseline="-17676" dirty="0">
                <a:latin typeface="Palatino Linotype"/>
                <a:cs typeface="Palatino Linotype"/>
              </a:rPr>
              <a:t>1</a:t>
            </a:r>
            <a:r>
              <a:rPr sz="1650" spc="-60" baseline="-17676" dirty="0">
                <a:latin typeface="Palatino Linotype"/>
                <a:cs typeface="Palatino Linotype"/>
              </a:rPr>
              <a:t> </a:t>
            </a:r>
            <a:r>
              <a:rPr sz="1650" i="1" spc="165" baseline="-17676" dirty="0">
                <a:latin typeface="Times New Roman"/>
                <a:cs typeface="Times New Roman"/>
              </a:rPr>
              <a:t>−</a:t>
            </a:r>
            <a:r>
              <a:rPr sz="1650" i="1" spc="-52" baseline="-17676" dirty="0">
                <a:latin typeface="Times New Roman"/>
                <a:cs typeface="Times New Roman"/>
              </a:rPr>
              <a:t> </a:t>
            </a:r>
            <a:r>
              <a:rPr sz="1650" i="1" spc="82" baseline="-17676" dirty="0">
                <a:latin typeface="Georgia"/>
                <a:cs typeface="Georgia"/>
              </a:rPr>
              <a:t>e</a:t>
            </a:r>
            <a:r>
              <a:rPr sz="900" i="1" spc="55" dirty="0">
                <a:latin typeface="Meiryo UI"/>
                <a:cs typeface="Meiryo UI"/>
              </a:rPr>
              <a:t>−</a:t>
            </a:r>
            <a:r>
              <a:rPr sz="900" i="1" spc="55" dirty="0">
                <a:latin typeface="Georgia"/>
                <a:cs typeface="Georgia"/>
              </a:rPr>
              <a:t>jπ/</a:t>
            </a:r>
            <a:r>
              <a:rPr sz="900" spc="55" dirty="0">
                <a:latin typeface="Palatino Linotype"/>
                <a:cs typeface="Palatino Linotype"/>
              </a:rPr>
              <a:t>3</a:t>
            </a:r>
            <a:r>
              <a:rPr sz="1650" i="1" spc="82" baseline="-17676" dirty="0">
                <a:latin typeface="Times New Roman"/>
                <a:cs typeface="Times New Roman"/>
              </a:rPr>
              <a:t>R</a:t>
            </a:r>
            <a:endParaRPr sz="1650" baseline="-17676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2483" y="1539506"/>
            <a:ext cx="489584" cy="4343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85"/>
              </a:spcBef>
            </a:pPr>
            <a:r>
              <a:rPr sz="1650" spc="450" baseline="-37878" dirty="0">
                <a:latin typeface="Palatino Linotype"/>
                <a:cs typeface="Palatino Linotype"/>
              </a:rPr>
              <a:t>=</a:t>
            </a:r>
            <a:r>
              <a:rPr sz="1650" spc="217" baseline="-37878" dirty="0">
                <a:latin typeface="Palatino Linotype"/>
                <a:cs typeface="Palatino Linotype"/>
              </a:rPr>
              <a:t> </a:t>
            </a:r>
            <a:r>
              <a:rPr sz="1100" u="sng" spc="4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1100" u="sng" spc="50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endParaRPr sz="1100">
              <a:latin typeface="Palatino Linotype"/>
              <a:cs typeface="Palatino Linotype"/>
            </a:endParaRPr>
          </a:p>
          <a:p>
            <a:pPr marL="200025">
              <a:lnSpc>
                <a:spcPct val="100000"/>
              </a:lnSpc>
              <a:spcBef>
                <a:spcPts val="290"/>
              </a:spcBef>
            </a:pPr>
            <a:r>
              <a:rPr sz="1100" i="1" spc="135" dirty="0">
                <a:latin typeface="Georgia"/>
                <a:cs typeface="Georgia"/>
              </a:rPr>
              <a:t>j</a:t>
            </a:r>
            <a:r>
              <a:rPr sz="1650" i="1" spc="202" baseline="45454" dirty="0">
                <a:latin typeface="Times New Roman"/>
                <a:cs typeface="Times New Roman"/>
              </a:rPr>
              <a:t>√</a:t>
            </a:r>
            <a:r>
              <a:rPr sz="1100" spc="135" dirty="0">
                <a:latin typeface="Palatino Linotype"/>
                <a:cs typeface="Palatino Linotype"/>
              </a:rPr>
              <a:t>3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36402" y="1478417"/>
            <a:ext cx="1755775" cy="45529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0"/>
              </a:spcBef>
              <a:tabLst>
                <a:tab pos="890905" algn="l"/>
              </a:tabLst>
            </a:pPr>
            <a:r>
              <a:rPr sz="1650" i="1" spc="-37" baseline="-20202" dirty="0">
                <a:latin typeface="Georgia"/>
                <a:cs typeface="Georgia"/>
              </a:rPr>
              <a:t>e</a:t>
            </a:r>
            <a:r>
              <a:rPr sz="1650" i="1" spc="-165" baseline="-20202" dirty="0">
                <a:latin typeface="Georgia"/>
                <a:cs typeface="Georgia"/>
              </a:rPr>
              <a:t> </a:t>
            </a:r>
            <a:r>
              <a:rPr sz="900" i="1" spc="35" dirty="0">
                <a:latin typeface="Georgia"/>
                <a:cs typeface="Georgia"/>
              </a:rPr>
              <a:t>jπ/</a:t>
            </a:r>
            <a:r>
              <a:rPr sz="900" spc="35" dirty="0">
                <a:latin typeface="Palatino Linotype"/>
                <a:cs typeface="Palatino Linotype"/>
              </a:rPr>
              <a:t>3</a:t>
            </a:r>
            <a:r>
              <a:rPr sz="900" dirty="0">
                <a:latin typeface="Palatino Linotype"/>
                <a:cs typeface="Palatino Linotype"/>
              </a:rPr>
              <a:t>	</a:t>
            </a:r>
            <a:r>
              <a:rPr sz="1650" i="1" spc="-15" baseline="-20202" dirty="0">
                <a:latin typeface="Georgia"/>
                <a:cs typeface="Georgia"/>
              </a:rPr>
              <a:t>e</a:t>
            </a:r>
            <a:r>
              <a:rPr sz="900" i="1" spc="-10" dirty="0">
                <a:latin typeface="Meiryo UI"/>
                <a:cs typeface="Meiryo UI"/>
              </a:rPr>
              <a:t>−</a:t>
            </a:r>
            <a:r>
              <a:rPr sz="900" i="1" spc="-10" dirty="0">
                <a:latin typeface="Georgia"/>
                <a:cs typeface="Georgia"/>
              </a:rPr>
              <a:t>jπ/</a:t>
            </a:r>
            <a:r>
              <a:rPr sz="900" spc="-10" dirty="0">
                <a:latin typeface="Palatino Linotype"/>
                <a:cs typeface="Palatino Linotype"/>
              </a:rPr>
              <a:t>3</a:t>
            </a:r>
            <a:endParaRPr sz="900">
              <a:latin typeface="Palatino Linotype"/>
              <a:cs typeface="Palatino Linotype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650" baseline="-17676" dirty="0">
                <a:latin typeface="Palatino Linotype"/>
                <a:cs typeface="Palatino Linotype"/>
              </a:rPr>
              <a:t>1</a:t>
            </a:r>
            <a:r>
              <a:rPr sz="1650" spc="-52" baseline="-17676" dirty="0">
                <a:latin typeface="Palatino Linotype"/>
                <a:cs typeface="Palatino Linotype"/>
              </a:rPr>
              <a:t> </a:t>
            </a:r>
            <a:r>
              <a:rPr sz="1650" i="1" spc="165" baseline="-17676" dirty="0">
                <a:latin typeface="Times New Roman"/>
                <a:cs typeface="Times New Roman"/>
              </a:rPr>
              <a:t>−</a:t>
            </a:r>
            <a:r>
              <a:rPr sz="1650" i="1" spc="-44" baseline="-17676" dirty="0">
                <a:latin typeface="Times New Roman"/>
                <a:cs typeface="Times New Roman"/>
              </a:rPr>
              <a:t> </a:t>
            </a:r>
            <a:r>
              <a:rPr sz="1650" i="1" spc="-37" baseline="-17676" dirty="0">
                <a:latin typeface="Georgia"/>
                <a:cs typeface="Georgia"/>
              </a:rPr>
              <a:t>e</a:t>
            </a:r>
            <a:r>
              <a:rPr sz="1650" i="1" spc="-172" baseline="-17676" dirty="0">
                <a:latin typeface="Georgia"/>
                <a:cs typeface="Georgia"/>
              </a:rPr>
              <a:t> </a:t>
            </a:r>
            <a:r>
              <a:rPr sz="900" i="1" spc="100" dirty="0">
                <a:latin typeface="Georgia"/>
                <a:cs typeface="Georgia"/>
              </a:rPr>
              <a:t>jπ/</a:t>
            </a:r>
            <a:r>
              <a:rPr sz="900" spc="100" dirty="0">
                <a:latin typeface="Palatino Linotype"/>
                <a:cs typeface="Palatino Linotype"/>
              </a:rPr>
              <a:t>3</a:t>
            </a:r>
            <a:r>
              <a:rPr sz="1650" i="1" spc="150" baseline="-17676" dirty="0">
                <a:latin typeface="Times New Roman"/>
                <a:cs typeface="Times New Roman"/>
              </a:rPr>
              <a:t>R</a:t>
            </a:r>
            <a:r>
              <a:rPr sz="1650" i="1" spc="135" baseline="-17676" dirty="0">
                <a:latin typeface="Times New Roman"/>
                <a:cs typeface="Times New Roman"/>
              </a:rPr>
              <a:t> </a:t>
            </a:r>
            <a:r>
              <a:rPr sz="1650" i="1" spc="165" baseline="27777" dirty="0">
                <a:latin typeface="Times New Roman"/>
                <a:cs typeface="Times New Roman"/>
              </a:rPr>
              <a:t>−</a:t>
            </a:r>
            <a:r>
              <a:rPr sz="1650" i="1" spc="127" baseline="27777" dirty="0">
                <a:latin typeface="Times New Roman"/>
                <a:cs typeface="Times New Roman"/>
              </a:rPr>
              <a:t> </a:t>
            </a:r>
            <a:r>
              <a:rPr sz="1650" baseline="-17676" dirty="0">
                <a:latin typeface="Palatino Linotype"/>
                <a:cs typeface="Palatino Linotype"/>
              </a:rPr>
              <a:t>1</a:t>
            </a:r>
            <a:r>
              <a:rPr sz="1650" spc="-44" baseline="-17676" dirty="0">
                <a:latin typeface="Palatino Linotype"/>
                <a:cs typeface="Palatino Linotype"/>
              </a:rPr>
              <a:t> </a:t>
            </a:r>
            <a:r>
              <a:rPr sz="1650" i="1" spc="165" baseline="-17676" dirty="0">
                <a:latin typeface="Times New Roman"/>
                <a:cs typeface="Times New Roman"/>
              </a:rPr>
              <a:t>−</a:t>
            </a:r>
            <a:r>
              <a:rPr sz="1650" i="1" spc="-44" baseline="-17676" dirty="0">
                <a:latin typeface="Times New Roman"/>
                <a:cs typeface="Times New Roman"/>
              </a:rPr>
              <a:t> </a:t>
            </a:r>
            <a:r>
              <a:rPr sz="1650" i="1" spc="82" baseline="-17676" dirty="0">
                <a:latin typeface="Georgia"/>
                <a:cs typeface="Georgia"/>
              </a:rPr>
              <a:t>e</a:t>
            </a:r>
            <a:r>
              <a:rPr sz="900" i="1" spc="55" dirty="0">
                <a:latin typeface="Meiryo UI"/>
                <a:cs typeface="Meiryo UI"/>
              </a:rPr>
              <a:t>−</a:t>
            </a:r>
            <a:r>
              <a:rPr sz="900" i="1" spc="55" dirty="0">
                <a:latin typeface="Georgia"/>
                <a:cs typeface="Georgia"/>
              </a:rPr>
              <a:t>jπ/</a:t>
            </a:r>
            <a:r>
              <a:rPr sz="900" spc="55" dirty="0">
                <a:latin typeface="Palatino Linotype"/>
                <a:cs typeface="Palatino Linotype"/>
              </a:rPr>
              <a:t>3</a:t>
            </a:r>
            <a:r>
              <a:rPr sz="1650" i="1" spc="82" baseline="-17676" dirty="0">
                <a:latin typeface="Times New Roman"/>
                <a:cs typeface="Times New Roman"/>
              </a:rPr>
              <a:t>R</a:t>
            </a:r>
            <a:endParaRPr sz="1650" baseline="-17676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98665" y="1950694"/>
            <a:ext cx="1085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Graphite Std"/>
                <a:cs typeface="Graphite Std"/>
              </a:rPr>
              <a:t> </a:t>
            </a:r>
            <a:endParaRPr sz="1100">
              <a:latin typeface="Graphite Std"/>
              <a:cs typeface="Graphite Std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9375" y="2010959"/>
            <a:ext cx="27686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u="sng" spc="43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sz="1100" u="sng" spc="50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6860" y="2105183"/>
            <a:ext cx="905510" cy="302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095"/>
              </a:lnSpc>
              <a:spcBef>
                <a:spcPts val="95"/>
              </a:spcBef>
              <a:tabLst>
                <a:tab pos="827405" algn="l"/>
              </a:tabLst>
            </a:pPr>
            <a:r>
              <a:rPr sz="1100" i="1" spc="-10" dirty="0">
                <a:latin typeface="Georgia"/>
                <a:cs typeface="Georgia"/>
              </a:rPr>
              <a:t>h</a:t>
            </a:r>
            <a:r>
              <a:rPr sz="1100" spc="-10" dirty="0">
                <a:latin typeface="Palatino Linotype"/>
                <a:cs typeface="Palatino Linotype"/>
              </a:rPr>
              <a:t>[</a:t>
            </a:r>
            <a:r>
              <a:rPr sz="1100" i="1" spc="-10" dirty="0">
                <a:latin typeface="Georgia"/>
                <a:cs typeface="Georgia"/>
              </a:rPr>
              <a:t>n</a:t>
            </a:r>
            <a:r>
              <a:rPr sz="1100" spc="-10" dirty="0">
                <a:latin typeface="Palatino Linotype"/>
                <a:cs typeface="Palatino Linotype"/>
              </a:rPr>
              <a:t>]</a:t>
            </a:r>
            <a:r>
              <a:rPr sz="1100" spc="5" dirty="0">
                <a:latin typeface="Palatino Linotype"/>
                <a:cs typeface="Palatino Linotype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170" dirty="0">
                <a:latin typeface="Palatino Linotype"/>
                <a:cs typeface="Palatino Linotype"/>
              </a:rPr>
              <a:t>  </a:t>
            </a:r>
            <a:r>
              <a:rPr sz="1650" i="1" spc="390" baseline="2525" dirty="0">
                <a:latin typeface="Times New Roman"/>
                <a:cs typeface="Times New Roman"/>
              </a:rPr>
              <a:t>√</a:t>
            </a:r>
            <a:r>
              <a:rPr sz="1650" i="1" baseline="2525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Georgia"/>
                <a:cs typeface="Georgia"/>
              </a:rPr>
              <a:t>e</a:t>
            </a:r>
            <a:endParaRPr sz="1100">
              <a:latin typeface="Georgia"/>
              <a:cs typeface="Georgia"/>
            </a:endParaRPr>
          </a:p>
          <a:p>
            <a:pPr marL="454659">
              <a:lnSpc>
                <a:spcPts val="1095"/>
              </a:lnSpc>
            </a:pPr>
            <a:r>
              <a:rPr sz="1100" i="1" spc="120" dirty="0">
                <a:latin typeface="Georgia"/>
                <a:cs typeface="Georgia"/>
              </a:rPr>
              <a:t>j</a:t>
            </a:r>
            <a:r>
              <a:rPr sz="1100" i="1" spc="215" dirty="0">
                <a:latin typeface="Georgia"/>
                <a:cs typeface="Georgia"/>
              </a:rPr>
              <a:t>  </a:t>
            </a:r>
            <a:r>
              <a:rPr sz="1100" spc="-50" dirty="0">
                <a:latin typeface="Palatino Linotype"/>
                <a:cs typeface="Palatino Linotype"/>
              </a:rPr>
              <a:t>3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66037" y="2072970"/>
            <a:ext cx="5207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65" dirty="0">
                <a:latin typeface="Georgia"/>
                <a:cs typeface="Georgia"/>
              </a:rPr>
              <a:t>j</a:t>
            </a:r>
            <a:r>
              <a:rPr sz="900" spc="65" dirty="0">
                <a:latin typeface="Palatino Linotype"/>
                <a:cs typeface="Palatino Linotype"/>
              </a:rPr>
              <a:t>(</a:t>
            </a:r>
            <a:r>
              <a:rPr sz="900" i="1" spc="65" dirty="0">
                <a:latin typeface="Georgia"/>
                <a:cs typeface="Georgia"/>
              </a:rPr>
              <a:t>n</a:t>
            </a:r>
            <a:r>
              <a:rPr sz="900" spc="65" dirty="0">
                <a:latin typeface="Palatino Linotype"/>
                <a:cs typeface="Palatino Linotype"/>
              </a:rPr>
              <a:t>+1)</a:t>
            </a:r>
            <a:r>
              <a:rPr sz="900" i="1" spc="65" dirty="0">
                <a:latin typeface="Georgia"/>
                <a:cs typeface="Georgia"/>
              </a:rPr>
              <a:t>π/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56943" y="2105126"/>
            <a:ext cx="2298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110" dirty="0">
                <a:latin typeface="Times New Roman"/>
                <a:cs typeface="Times New Roman"/>
              </a:rPr>
              <a:t>−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35611" y="2047659"/>
            <a:ext cx="1110615" cy="19304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95"/>
              </a:spcBef>
              <a:tabLst>
                <a:tab pos="337820" algn="l"/>
              </a:tabLst>
            </a:pPr>
            <a:r>
              <a:rPr sz="900" spc="-50" dirty="0">
                <a:latin typeface="Palatino Linotype"/>
                <a:cs typeface="Palatino Linotype"/>
              </a:rPr>
              <a:t>3</a:t>
            </a:r>
            <a:r>
              <a:rPr sz="900" dirty="0">
                <a:latin typeface="Palatino Linotype"/>
                <a:cs typeface="Palatino Linotype"/>
              </a:rPr>
              <a:t>	</a:t>
            </a:r>
            <a:r>
              <a:rPr sz="900" i="1" spc="50" dirty="0">
                <a:latin typeface="Meiryo UI"/>
                <a:cs typeface="Meiryo UI"/>
              </a:rPr>
              <a:t>−</a:t>
            </a:r>
            <a:r>
              <a:rPr sz="900" i="1" spc="50" dirty="0">
                <a:latin typeface="Georgia"/>
                <a:cs typeface="Georgia"/>
              </a:rPr>
              <a:t>j</a:t>
            </a:r>
            <a:r>
              <a:rPr sz="900" spc="50" dirty="0">
                <a:latin typeface="Palatino Linotype"/>
                <a:cs typeface="Palatino Linotype"/>
              </a:rPr>
              <a:t>(</a:t>
            </a:r>
            <a:r>
              <a:rPr sz="900" i="1" spc="50" dirty="0">
                <a:latin typeface="Georgia"/>
                <a:cs typeface="Georgia"/>
              </a:rPr>
              <a:t>n</a:t>
            </a:r>
            <a:r>
              <a:rPr sz="900" spc="50" dirty="0">
                <a:latin typeface="Palatino Linotype"/>
                <a:cs typeface="Palatino Linotype"/>
              </a:rPr>
              <a:t>+1)</a:t>
            </a:r>
            <a:r>
              <a:rPr sz="900" i="1" spc="50" dirty="0">
                <a:latin typeface="Georgia"/>
                <a:cs typeface="Georgia"/>
              </a:rPr>
              <a:t>π/</a:t>
            </a:r>
            <a:r>
              <a:rPr sz="900" spc="50" dirty="0">
                <a:latin typeface="Palatino Linotype"/>
                <a:cs typeface="Palatino Linotype"/>
              </a:rPr>
              <a:t>3</a:t>
            </a:r>
            <a:r>
              <a:rPr sz="1650" spc="75" baseline="37878" dirty="0">
                <a:latin typeface="Graphite Std"/>
                <a:cs typeface="Graphite Std"/>
              </a:rPr>
              <a:t> </a:t>
            </a:r>
            <a:endParaRPr sz="1650" baseline="37878">
              <a:latin typeface="Graphite Std"/>
              <a:cs typeface="Graphite Std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124471" y="2250039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596" y="0"/>
                </a:lnTo>
              </a:path>
            </a:pathLst>
          </a:custGeom>
          <a:ln w="55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808312" y="2105126"/>
            <a:ext cx="63309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145" dirty="0">
                <a:latin typeface="Palatino Linotype"/>
                <a:cs typeface="Palatino Linotype"/>
              </a:rPr>
              <a:t> </a:t>
            </a:r>
            <a:r>
              <a:rPr sz="1650" i="1" spc="225" baseline="2525" dirty="0">
                <a:latin typeface="Times New Roman"/>
                <a:cs typeface="Times New Roman"/>
              </a:rPr>
              <a:t>√</a:t>
            </a:r>
            <a:r>
              <a:rPr sz="1650" spc="225" baseline="-42929" dirty="0">
                <a:latin typeface="Palatino Linotype"/>
                <a:cs typeface="Palatino Linotype"/>
              </a:rPr>
              <a:t>3</a:t>
            </a:r>
            <a:r>
              <a:rPr sz="1650" spc="37" baseline="-42929" dirty="0">
                <a:latin typeface="Palatino Linotype"/>
                <a:cs typeface="Palatino Linotype"/>
              </a:rPr>
              <a:t> </a:t>
            </a:r>
            <a:r>
              <a:rPr sz="1100" spc="-25" dirty="0">
                <a:latin typeface="Palatino Linotype"/>
                <a:cs typeface="Palatino Linotype"/>
              </a:rPr>
              <a:t>sin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95790" y="1988527"/>
            <a:ext cx="970915" cy="404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9925" marR="5080" indent="-657860">
              <a:lnSpc>
                <a:spcPct val="113100"/>
              </a:lnSpc>
              <a:spcBef>
                <a:spcPts val="100"/>
              </a:spcBef>
              <a:tabLst>
                <a:tab pos="446405" algn="l"/>
              </a:tabLst>
            </a:pPr>
            <a:r>
              <a:rPr sz="1100" u="sng" spc="3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2</a:t>
            </a:r>
            <a:r>
              <a:rPr sz="1100" u="sng" spc="30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	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(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n</a:t>
            </a:r>
            <a:r>
              <a:rPr sz="1100" i="1" u="sng" spc="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1100" u="sng" spc="30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+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1)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π</a:t>
            </a:r>
            <a:r>
              <a:rPr sz="1100" i="1" spc="-25" dirty="0">
                <a:latin typeface="Georgia"/>
                <a:cs typeface="Georgia"/>
              </a:rPr>
              <a:t> </a:t>
            </a:r>
            <a:r>
              <a:rPr sz="1100" spc="-50" dirty="0">
                <a:latin typeface="Palatino Linotype"/>
                <a:cs typeface="Palatino Linotype"/>
              </a:rPr>
              <a:t>3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31781" y="2307807"/>
            <a:ext cx="304800" cy="538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7465">
              <a:lnSpc>
                <a:spcPct val="153000"/>
              </a:lnSpc>
              <a:spcBef>
                <a:spcPts val="100"/>
              </a:spcBef>
            </a:pPr>
            <a:r>
              <a:rPr sz="1100" i="1" spc="-40" dirty="0">
                <a:latin typeface="Georgia"/>
                <a:cs typeface="Georgia"/>
              </a:rPr>
              <a:t>h</a:t>
            </a:r>
            <a:r>
              <a:rPr sz="1100" spc="-40" dirty="0">
                <a:latin typeface="Palatino Linotype"/>
                <a:cs typeface="Palatino Linotype"/>
              </a:rPr>
              <a:t>[</a:t>
            </a:r>
            <a:r>
              <a:rPr sz="1100" i="1" spc="-40" dirty="0">
                <a:latin typeface="Georgia"/>
                <a:cs typeface="Georgia"/>
              </a:rPr>
              <a:t>n</a:t>
            </a:r>
            <a:r>
              <a:rPr sz="1100" spc="-40" dirty="0">
                <a:latin typeface="Palatino Linotype"/>
                <a:cs typeface="Palatino Linotype"/>
              </a:rPr>
              <a:t>] </a:t>
            </a:r>
            <a:r>
              <a:rPr sz="1100" spc="-50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23532" y="3155814"/>
            <a:ext cx="20383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25" dirty="0">
                <a:latin typeface="Times New Roman"/>
                <a:cs typeface="Times New Roman"/>
              </a:rPr>
              <a:t>−</a:t>
            </a:r>
            <a:r>
              <a:rPr sz="1100" spc="25" dirty="0">
                <a:latin typeface="Palatino Linotype"/>
                <a:cs typeface="Palatino Linotype"/>
              </a:rPr>
              <a:t>1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28550" y="2893755"/>
            <a:ext cx="10922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9469" y="2634673"/>
            <a:ext cx="1650999" cy="761999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349222" y="1432839"/>
            <a:ext cx="13589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450" dirty="0">
                <a:latin typeface="Arial"/>
                <a:cs typeface="Arial"/>
              </a:rPr>
              <a:t>(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30" name="object 30"/>
          <p:cNvSpPr txBox="1"/>
          <p:nvPr/>
        </p:nvSpPr>
        <p:spPr>
          <a:xfrm>
            <a:off x="3143288" y="1432839"/>
            <a:ext cx="13589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0" dirty="0"/>
              <a:t>Check</a:t>
            </a:r>
            <a:r>
              <a:rPr spc="215" dirty="0"/>
              <a:t> </a:t>
            </a:r>
            <a:r>
              <a:rPr spc="50" dirty="0"/>
              <a:t>Yourself</a:t>
            </a:r>
          </a:p>
        </p:txBody>
      </p:sp>
      <p:sp>
        <p:nvSpPr>
          <p:cNvPr id="3" name="object 3"/>
          <p:cNvSpPr/>
          <p:nvPr/>
        </p:nvSpPr>
        <p:spPr>
          <a:xfrm>
            <a:off x="129061" y="491702"/>
            <a:ext cx="4803140" cy="2639060"/>
          </a:xfrm>
          <a:custGeom>
            <a:avLst/>
            <a:gdLst/>
            <a:ahLst/>
            <a:cxnLst/>
            <a:rect l="l" t="t" r="r" b="b"/>
            <a:pathLst>
              <a:path w="4803140" h="2639060">
                <a:moveTo>
                  <a:pt x="4733302" y="0"/>
                </a:moveTo>
                <a:lnTo>
                  <a:pt x="69583" y="0"/>
                </a:lnTo>
                <a:lnTo>
                  <a:pt x="29355" y="10874"/>
                </a:lnTo>
                <a:lnTo>
                  <a:pt x="8697" y="34798"/>
                </a:lnTo>
                <a:lnTo>
                  <a:pt x="1087" y="58721"/>
                </a:lnTo>
                <a:lnTo>
                  <a:pt x="0" y="69596"/>
                </a:lnTo>
                <a:lnTo>
                  <a:pt x="0" y="2569235"/>
                </a:lnTo>
                <a:lnTo>
                  <a:pt x="10872" y="2609463"/>
                </a:lnTo>
                <a:lnTo>
                  <a:pt x="34791" y="2630120"/>
                </a:lnTo>
                <a:lnTo>
                  <a:pt x="58710" y="2637731"/>
                </a:lnTo>
                <a:lnTo>
                  <a:pt x="69583" y="2638818"/>
                </a:lnTo>
                <a:lnTo>
                  <a:pt x="4733302" y="2638818"/>
                </a:lnTo>
                <a:lnTo>
                  <a:pt x="4773530" y="2627946"/>
                </a:lnTo>
                <a:lnTo>
                  <a:pt x="4794188" y="2604027"/>
                </a:lnTo>
                <a:lnTo>
                  <a:pt x="4801798" y="2580107"/>
                </a:lnTo>
                <a:lnTo>
                  <a:pt x="4802886" y="2569235"/>
                </a:lnTo>
                <a:lnTo>
                  <a:pt x="4802886" y="69596"/>
                </a:lnTo>
                <a:lnTo>
                  <a:pt x="4792013" y="29360"/>
                </a:lnTo>
                <a:lnTo>
                  <a:pt x="4768094" y="8699"/>
                </a:lnTo>
                <a:lnTo>
                  <a:pt x="4744175" y="1087"/>
                </a:lnTo>
                <a:lnTo>
                  <a:pt x="473330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7461" y="535939"/>
            <a:ext cx="419036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spc="60" dirty="0">
                <a:latin typeface="Arial"/>
                <a:cs typeface="Arial"/>
              </a:rPr>
              <a:t>Unit-</a:t>
            </a:r>
            <a:r>
              <a:rPr sz="1100" spc="75" dirty="0">
                <a:latin typeface="Arial"/>
                <a:cs typeface="Arial"/>
              </a:rPr>
              <a:t>sample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response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system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105" dirty="0">
                <a:latin typeface="Arial"/>
                <a:cs typeface="Arial"/>
              </a:rPr>
              <a:t>with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poles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110" dirty="0">
                <a:latin typeface="Arial"/>
                <a:cs typeface="Arial"/>
              </a:rPr>
              <a:t>at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i="1" dirty="0">
                <a:latin typeface="Georgia"/>
                <a:cs typeface="Georgia"/>
              </a:rPr>
              <a:t>z</a:t>
            </a:r>
            <a:r>
              <a:rPr sz="1100" i="1" spc="130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60" dirty="0">
                <a:latin typeface="Palatino Linotype"/>
                <a:cs typeface="Palatino Linotype"/>
              </a:rPr>
              <a:t> </a:t>
            </a:r>
            <a:r>
              <a:rPr sz="1100" i="1" spc="-10" dirty="0">
                <a:latin typeface="Georgia"/>
                <a:cs typeface="Georgia"/>
              </a:rPr>
              <a:t>re</a:t>
            </a:r>
            <a:r>
              <a:rPr sz="1350" i="1" spc="-15" baseline="27777" dirty="0">
                <a:latin typeface="Meiryo UI"/>
                <a:cs typeface="Meiryo UI"/>
              </a:rPr>
              <a:t>±</a:t>
            </a:r>
            <a:r>
              <a:rPr sz="1350" i="1" spc="-15" baseline="27777" dirty="0">
                <a:latin typeface="Georgia"/>
                <a:cs typeface="Georgia"/>
              </a:rPr>
              <a:t>j</a:t>
            </a:r>
            <a:r>
              <a:rPr sz="1350" spc="-15" baseline="27777" dirty="0">
                <a:latin typeface="Palatino Linotype"/>
                <a:cs typeface="Palatino Linotype"/>
              </a:rPr>
              <a:t>Ω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6533" y="489174"/>
            <a:ext cx="4808220" cy="2644140"/>
            <a:chOff x="126533" y="489174"/>
            <a:chExt cx="4808220" cy="2644140"/>
          </a:xfrm>
        </p:grpSpPr>
        <p:sp>
          <p:nvSpPr>
            <p:cNvPr id="6" name="object 6"/>
            <p:cNvSpPr/>
            <p:nvPr/>
          </p:nvSpPr>
          <p:spPr>
            <a:xfrm>
              <a:off x="1131437" y="1230955"/>
              <a:ext cx="2667000" cy="0"/>
            </a:xfrm>
            <a:custGeom>
              <a:avLst/>
              <a:gdLst/>
              <a:ahLst/>
              <a:cxnLst/>
              <a:rect l="l" t="t" r="r" b="b"/>
              <a:pathLst>
                <a:path w="2667000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ln w="63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533" y="489174"/>
              <a:ext cx="4807940" cy="264387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836507" y="1109036"/>
            <a:ext cx="10922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292861" y="1744628"/>
            <a:ext cx="2533650" cy="126873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spc="90" dirty="0">
                <a:latin typeface="Arial"/>
                <a:cs typeface="Arial"/>
              </a:rPr>
              <a:t>Which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following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80" dirty="0">
                <a:latin typeface="Arial"/>
                <a:cs typeface="Arial"/>
              </a:rPr>
              <a:t>is/are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true?</a:t>
            </a:r>
            <a:endParaRPr sz="1100">
              <a:latin typeface="Arial"/>
              <a:cs typeface="Arial"/>
            </a:endParaRPr>
          </a:p>
          <a:p>
            <a:pPr marL="271145" indent="-258445">
              <a:lnSpc>
                <a:spcPct val="100000"/>
              </a:lnSpc>
              <a:spcBef>
                <a:spcPts val="380"/>
              </a:spcBef>
              <a:buFont typeface="Arial"/>
              <a:buAutoNum type="arabicPeriod"/>
              <a:tabLst>
                <a:tab pos="271145" algn="l"/>
              </a:tabLst>
            </a:pPr>
            <a:r>
              <a:rPr sz="1100" i="1" dirty="0">
                <a:latin typeface="Georgia"/>
                <a:cs typeface="Georgia"/>
              </a:rPr>
              <a:t>r</a:t>
            </a:r>
            <a:r>
              <a:rPr sz="1100" i="1" spc="60" dirty="0">
                <a:latin typeface="Georgia"/>
                <a:cs typeface="Georgia"/>
              </a:rPr>
              <a:t> </a:t>
            </a:r>
            <a:r>
              <a:rPr sz="1100" i="1" spc="135" dirty="0">
                <a:latin typeface="Georgia"/>
                <a:cs typeface="Georgia"/>
              </a:rPr>
              <a:t>&lt;</a:t>
            </a:r>
            <a:r>
              <a:rPr sz="1100" i="1" spc="30" dirty="0">
                <a:latin typeface="Georgia"/>
                <a:cs typeface="Georgia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5</a:t>
            </a:r>
            <a:r>
              <a:rPr sz="1100" spc="175" dirty="0">
                <a:latin typeface="Palatino Linotype"/>
                <a:cs typeface="Palatino Linotype"/>
              </a:rPr>
              <a:t> </a:t>
            </a:r>
            <a:r>
              <a:rPr sz="1100" spc="55" dirty="0">
                <a:latin typeface="Arial"/>
                <a:cs typeface="Arial"/>
              </a:rPr>
              <a:t>and</a:t>
            </a:r>
            <a:r>
              <a:rPr sz="1100" spc="145" dirty="0">
                <a:latin typeface="Arial"/>
                <a:cs typeface="Arial"/>
              </a:rPr>
              <a:t> </a:t>
            </a:r>
            <a:r>
              <a:rPr sz="1100" spc="-130" dirty="0">
                <a:latin typeface="Palatino Linotype"/>
                <a:cs typeface="Palatino Linotype"/>
              </a:rPr>
              <a:t>Ω</a:t>
            </a:r>
            <a:r>
              <a:rPr sz="1100" spc="25" dirty="0">
                <a:latin typeface="Palatino Linotype"/>
                <a:cs typeface="Palatino Linotype"/>
              </a:rPr>
              <a:t> </a:t>
            </a:r>
            <a:r>
              <a:rPr sz="1100" i="1" spc="250" dirty="0">
                <a:latin typeface="Times New Roman"/>
                <a:cs typeface="Times New Roman"/>
              </a:rPr>
              <a:t>≈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Palatino Linotype"/>
                <a:cs typeface="Palatino Linotype"/>
              </a:rPr>
              <a:t>0</a:t>
            </a:r>
            <a:r>
              <a:rPr sz="1100" i="1" spc="-25" dirty="0">
                <a:latin typeface="Georgia"/>
                <a:cs typeface="Georgia"/>
              </a:rPr>
              <a:t>.</a:t>
            </a:r>
            <a:r>
              <a:rPr sz="1100" spc="-25" dirty="0">
                <a:latin typeface="Palatino Linotype"/>
                <a:cs typeface="Palatino Linotype"/>
              </a:rPr>
              <a:t>5</a:t>
            </a:r>
            <a:endParaRPr sz="1100">
              <a:latin typeface="Palatino Linotype"/>
              <a:cs typeface="Palatino Linotype"/>
            </a:endParaRPr>
          </a:p>
          <a:p>
            <a:pPr marL="271145" indent="-258445">
              <a:lnSpc>
                <a:spcPct val="100000"/>
              </a:lnSpc>
              <a:spcBef>
                <a:spcPts val="275"/>
              </a:spcBef>
              <a:buFont typeface="Arial"/>
              <a:buAutoNum type="arabicPeriod"/>
              <a:tabLst>
                <a:tab pos="271145" algn="l"/>
              </a:tabLst>
            </a:pP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5</a:t>
            </a:r>
            <a:r>
              <a:rPr sz="1100" spc="15" dirty="0">
                <a:latin typeface="Palatino Linotype"/>
                <a:cs typeface="Palatino Linotype"/>
              </a:rPr>
              <a:t> </a:t>
            </a:r>
            <a:r>
              <a:rPr sz="1100" i="1" spc="135" dirty="0">
                <a:latin typeface="Georgia"/>
                <a:cs typeface="Georgia"/>
              </a:rPr>
              <a:t>&lt;</a:t>
            </a:r>
            <a:r>
              <a:rPr sz="1100" i="1" spc="3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r</a:t>
            </a:r>
            <a:r>
              <a:rPr sz="1100" i="1" spc="60" dirty="0">
                <a:latin typeface="Georgia"/>
                <a:cs typeface="Georgia"/>
              </a:rPr>
              <a:t> </a:t>
            </a:r>
            <a:r>
              <a:rPr sz="1100" i="1" spc="135" dirty="0">
                <a:latin typeface="Georgia"/>
                <a:cs typeface="Georgia"/>
              </a:rPr>
              <a:t>&lt;</a:t>
            </a:r>
            <a:r>
              <a:rPr sz="1100" i="1" spc="35" dirty="0">
                <a:latin typeface="Georgia"/>
                <a:cs typeface="Georgia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175" dirty="0">
                <a:latin typeface="Palatino Linotype"/>
                <a:cs typeface="Palatino Linotype"/>
              </a:rPr>
              <a:t> </a:t>
            </a:r>
            <a:r>
              <a:rPr sz="1100" spc="55" dirty="0">
                <a:latin typeface="Arial"/>
                <a:cs typeface="Arial"/>
              </a:rPr>
              <a:t>and</a:t>
            </a:r>
            <a:r>
              <a:rPr sz="1100" spc="145" dirty="0">
                <a:latin typeface="Arial"/>
                <a:cs typeface="Arial"/>
              </a:rPr>
              <a:t> </a:t>
            </a:r>
            <a:r>
              <a:rPr sz="1100" spc="-130" dirty="0">
                <a:latin typeface="Palatino Linotype"/>
                <a:cs typeface="Palatino Linotype"/>
              </a:rPr>
              <a:t>Ω</a:t>
            </a:r>
            <a:r>
              <a:rPr sz="1100" spc="25" dirty="0">
                <a:latin typeface="Palatino Linotype"/>
                <a:cs typeface="Palatino Linotype"/>
              </a:rPr>
              <a:t> </a:t>
            </a:r>
            <a:r>
              <a:rPr sz="1100" i="1" spc="250" dirty="0">
                <a:latin typeface="Times New Roman"/>
                <a:cs typeface="Times New Roman"/>
              </a:rPr>
              <a:t>≈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Palatino Linotype"/>
                <a:cs typeface="Palatino Linotype"/>
              </a:rPr>
              <a:t>0</a:t>
            </a:r>
            <a:r>
              <a:rPr sz="1100" i="1" spc="-25" dirty="0">
                <a:latin typeface="Georgia"/>
                <a:cs typeface="Georgia"/>
              </a:rPr>
              <a:t>.</a:t>
            </a:r>
            <a:r>
              <a:rPr sz="1100" spc="-25" dirty="0">
                <a:latin typeface="Palatino Linotype"/>
                <a:cs typeface="Palatino Linotype"/>
              </a:rPr>
              <a:t>5</a:t>
            </a:r>
            <a:endParaRPr sz="1100">
              <a:latin typeface="Palatino Linotype"/>
              <a:cs typeface="Palatino Linotype"/>
            </a:endParaRPr>
          </a:p>
          <a:p>
            <a:pPr marL="271145" indent="-258445">
              <a:lnSpc>
                <a:spcPct val="100000"/>
              </a:lnSpc>
              <a:spcBef>
                <a:spcPts val="280"/>
              </a:spcBef>
              <a:buFont typeface="Arial"/>
              <a:buAutoNum type="arabicPeriod"/>
              <a:tabLst>
                <a:tab pos="271145" algn="l"/>
              </a:tabLst>
            </a:pPr>
            <a:r>
              <a:rPr sz="1100" i="1" dirty="0">
                <a:latin typeface="Georgia"/>
                <a:cs typeface="Georgia"/>
              </a:rPr>
              <a:t>r</a:t>
            </a:r>
            <a:r>
              <a:rPr sz="1100" i="1" spc="60" dirty="0">
                <a:latin typeface="Georgia"/>
                <a:cs typeface="Georgia"/>
              </a:rPr>
              <a:t> </a:t>
            </a:r>
            <a:r>
              <a:rPr sz="1100" i="1" spc="135" dirty="0">
                <a:latin typeface="Georgia"/>
                <a:cs typeface="Georgia"/>
              </a:rPr>
              <a:t>&lt;</a:t>
            </a:r>
            <a:r>
              <a:rPr sz="1100" i="1" spc="30" dirty="0">
                <a:latin typeface="Georgia"/>
                <a:cs typeface="Georgia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5</a:t>
            </a:r>
            <a:r>
              <a:rPr sz="1100" spc="175" dirty="0">
                <a:latin typeface="Palatino Linotype"/>
                <a:cs typeface="Palatino Linotype"/>
              </a:rPr>
              <a:t> </a:t>
            </a:r>
            <a:r>
              <a:rPr sz="1100" spc="55" dirty="0">
                <a:latin typeface="Arial"/>
                <a:cs typeface="Arial"/>
              </a:rPr>
              <a:t>and</a:t>
            </a:r>
            <a:r>
              <a:rPr sz="1100" spc="145" dirty="0">
                <a:latin typeface="Arial"/>
                <a:cs typeface="Arial"/>
              </a:rPr>
              <a:t> </a:t>
            </a:r>
            <a:r>
              <a:rPr sz="1100" spc="-130" dirty="0">
                <a:latin typeface="Palatino Linotype"/>
                <a:cs typeface="Palatino Linotype"/>
              </a:rPr>
              <a:t>Ω</a:t>
            </a:r>
            <a:r>
              <a:rPr sz="1100" spc="25" dirty="0">
                <a:latin typeface="Palatino Linotype"/>
                <a:cs typeface="Palatino Linotype"/>
              </a:rPr>
              <a:t> </a:t>
            </a:r>
            <a:r>
              <a:rPr sz="1100" i="1" spc="250" dirty="0">
                <a:latin typeface="Times New Roman"/>
                <a:cs typeface="Times New Roman"/>
              </a:rPr>
              <a:t>≈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Palatino Linotype"/>
                <a:cs typeface="Palatino Linotype"/>
              </a:rPr>
              <a:t>0</a:t>
            </a:r>
            <a:r>
              <a:rPr sz="1100" i="1" spc="-20" dirty="0">
                <a:latin typeface="Georgia"/>
                <a:cs typeface="Georgia"/>
              </a:rPr>
              <a:t>.</a:t>
            </a:r>
            <a:r>
              <a:rPr sz="1100" spc="-20" dirty="0">
                <a:latin typeface="Palatino Linotype"/>
                <a:cs typeface="Palatino Linotype"/>
              </a:rPr>
              <a:t>08</a:t>
            </a:r>
            <a:endParaRPr sz="1100">
              <a:latin typeface="Palatino Linotype"/>
              <a:cs typeface="Palatino Linotype"/>
            </a:endParaRPr>
          </a:p>
          <a:p>
            <a:pPr marL="271145" indent="-258445">
              <a:lnSpc>
                <a:spcPct val="100000"/>
              </a:lnSpc>
              <a:spcBef>
                <a:spcPts val="280"/>
              </a:spcBef>
              <a:buFont typeface="Arial"/>
              <a:buAutoNum type="arabicPeriod"/>
              <a:tabLst>
                <a:tab pos="271145" algn="l"/>
              </a:tabLst>
            </a:pP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5</a:t>
            </a:r>
            <a:r>
              <a:rPr sz="1100" spc="15" dirty="0">
                <a:latin typeface="Palatino Linotype"/>
                <a:cs typeface="Palatino Linotype"/>
              </a:rPr>
              <a:t> </a:t>
            </a:r>
            <a:r>
              <a:rPr sz="1100" i="1" spc="135" dirty="0">
                <a:latin typeface="Georgia"/>
                <a:cs typeface="Georgia"/>
              </a:rPr>
              <a:t>&lt;</a:t>
            </a:r>
            <a:r>
              <a:rPr sz="1100" i="1" spc="3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r</a:t>
            </a:r>
            <a:r>
              <a:rPr sz="1100" i="1" spc="60" dirty="0">
                <a:latin typeface="Georgia"/>
                <a:cs typeface="Georgia"/>
              </a:rPr>
              <a:t> </a:t>
            </a:r>
            <a:r>
              <a:rPr sz="1100" i="1" spc="135" dirty="0">
                <a:latin typeface="Georgia"/>
                <a:cs typeface="Georgia"/>
              </a:rPr>
              <a:t>&lt;</a:t>
            </a:r>
            <a:r>
              <a:rPr sz="1100" i="1" spc="35" dirty="0">
                <a:latin typeface="Georgia"/>
                <a:cs typeface="Georgia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175" dirty="0">
                <a:latin typeface="Palatino Linotype"/>
                <a:cs typeface="Palatino Linotype"/>
              </a:rPr>
              <a:t> </a:t>
            </a:r>
            <a:r>
              <a:rPr sz="1100" spc="55" dirty="0">
                <a:latin typeface="Arial"/>
                <a:cs typeface="Arial"/>
              </a:rPr>
              <a:t>and</a:t>
            </a:r>
            <a:r>
              <a:rPr sz="1100" spc="145" dirty="0">
                <a:latin typeface="Arial"/>
                <a:cs typeface="Arial"/>
              </a:rPr>
              <a:t> </a:t>
            </a:r>
            <a:r>
              <a:rPr sz="1100" spc="-130" dirty="0">
                <a:latin typeface="Palatino Linotype"/>
                <a:cs typeface="Palatino Linotype"/>
              </a:rPr>
              <a:t>Ω</a:t>
            </a:r>
            <a:r>
              <a:rPr sz="1100" spc="25" dirty="0">
                <a:latin typeface="Palatino Linotype"/>
                <a:cs typeface="Palatino Linotype"/>
              </a:rPr>
              <a:t> </a:t>
            </a:r>
            <a:r>
              <a:rPr sz="1100" i="1" spc="250" dirty="0">
                <a:latin typeface="Times New Roman"/>
                <a:cs typeface="Times New Roman"/>
              </a:rPr>
              <a:t>≈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Palatino Linotype"/>
                <a:cs typeface="Palatino Linotype"/>
              </a:rPr>
              <a:t>0</a:t>
            </a:r>
            <a:r>
              <a:rPr sz="1100" i="1" spc="-20" dirty="0">
                <a:latin typeface="Georgia"/>
                <a:cs typeface="Georgia"/>
              </a:rPr>
              <a:t>.</a:t>
            </a:r>
            <a:r>
              <a:rPr sz="1100" spc="-20" dirty="0">
                <a:latin typeface="Palatino Linotype"/>
                <a:cs typeface="Palatino Linotype"/>
              </a:rPr>
              <a:t>08</a:t>
            </a:r>
            <a:endParaRPr sz="1100">
              <a:latin typeface="Palatino Linotype"/>
              <a:cs typeface="Palatino Linotype"/>
            </a:endParaRPr>
          </a:p>
          <a:p>
            <a:pPr marL="271145" indent="-258445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271145" algn="l"/>
              </a:tabLst>
            </a:pPr>
            <a:r>
              <a:rPr sz="1100" dirty="0">
                <a:latin typeface="Arial"/>
                <a:cs typeface="Arial"/>
              </a:rPr>
              <a:t>none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spc="30" dirty="0">
                <a:latin typeface="Arial"/>
                <a:cs typeface="Arial"/>
              </a:rPr>
              <a:t>above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0" dirty="0"/>
              <a:t>Check</a:t>
            </a:r>
            <a:r>
              <a:rPr spc="215" dirty="0"/>
              <a:t> </a:t>
            </a:r>
            <a:r>
              <a:rPr spc="50" dirty="0"/>
              <a:t>Yourself</a:t>
            </a:r>
          </a:p>
        </p:txBody>
      </p:sp>
      <p:sp>
        <p:nvSpPr>
          <p:cNvPr id="3" name="object 3"/>
          <p:cNvSpPr/>
          <p:nvPr/>
        </p:nvSpPr>
        <p:spPr>
          <a:xfrm>
            <a:off x="129061" y="491702"/>
            <a:ext cx="4803140" cy="2639060"/>
          </a:xfrm>
          <a:custGeom>
            <a:avLst/>
            <a:gdLst/>
            <a:ahLst/>
            <a:cxnLst/>
            <a:rect l="l" t="t" r="r" b="b"/>
            <a:pathLst>
              <a:path w="4803140" h="2639060">
                <a:moveTo>
                  <a:pt x="4733302" y="0"/>
                </a:moveTo>
                <a:lnTo>
                  <a:pt x="69583" y="0"/>
                </a:lnTo>
                <a:lnTo>
                  <a:pt x="29355" y="10874"/>
                </a:lnTo>
                <a:lnTo>
                  <a:pt x="8697" y="34798"/>
                </a:lnTo>
                <a:lnTo>
                  <a:pt x="1087" y="58721"/>
                </a:lnTo>
                <a:lnTo>
                  <a:pt x="0" y="69596"/>
                </a:lnTo>
                <a:lnTo>
                  <a:pt x="0" y="2569235"/>
                </a:lnTo>
                <a:lnTo>
                  <a:pt x="10872" y="2609463"/>
                </a:lnTo>
                <a:lnTo>
                  <a:pt x="34791" y="2630120"/>
                </a:lnTo>
                <a:lnTo>
                  <a:pt x="58710" y="2637731"/>
                </a:lnTo>
                <a:lnTo>
                  <a:pt x="69583" y="2638818"/>
                </a:lnTo>
                <a:lnTo>
                  <a:pt x="4733302" y="2638818"/>
                </a:lnTo>
                <a:lnTo>
                  <a:pt x="4773530" y="2627946"/>
                </a:lnTo>
                <a:lnTo>
                  <a:pt x="4794188" y="2604027"/>
                </a:lnTo>
                <a:lnTo>
                  <a:pt x="4801798" y="2580107"/>
                </a:lnTo>
                <a:lnTo>
                  <a:pt x="4802886" y="2569235"/>
                </a:lnTo>
                <a:lnTo>
                  <a:pt x="4802886" y="69596"/>
                </a:lnTo>
                <a:lnTo>
                  <a:pt x="4792013" y="29360"/>
                </a:lnTo>
                <a:lnTo>
                  <a:pt x="4768094" y="8699"/>
                </a:lnTo>
                <a:lnTo>
                  <a:pt x="4744175" y="1087"/>
                </a:lnTo>
                <a:lnTo>
                  <a:pt x="473330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7461" y="535939"/>
            <a:ext cx="419036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00" spc="60" dirty="0">
                <a:latin typeface="Arial"/>
                <a:cs typeface="Arial"/>
              </a:rPr>
              <a:t>Unit-</a:t>
            </a:r>
            <a:r>
              <a:rPr sz="1100" spc="75" dirty="0">
                <a:latin typeface="Arial"/>
                <a:cs typeface="Arial"/>
              </a:rPr>
              <a:t>sample</a:t>
            </a:r>
            <a:r>
              <a:rPr sz="1100" spc="2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response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system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105" dirty="0">
                <a:latin typeface="Arial"/>
                <a:cs typeface="Arial"/>
              </a:rPr>
              <a:t>with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poles</a:t>
            </a:r>
            <a:r>
              <a:rPr sz="1100" spc="204" dirty="0">
                <a:latin typeface="Arial"/>
                <a:cs typeface="Arial"/>
              </a:rPr>
              <a:t> </a:t>
            </a:r>
            <a:r>
              <a:rPr sz="1100" spc="110" dirty="0">
                <a:latin typeface="Arial"/>
                <a:cs typeface="Arial"/>
              </a:rPr>
              <a:t>at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i="1" dirty="0">
                <a:latin typeface="Georgia"/>
                <a:cs typeface="Georgia"/>
              </a:rPr>
              <a:t>z</a:t>
            </a:r>
            <a:r>
              <a:rPr sz="1100" i="1" spc="130" dirty="0">
                <a:latin typeface="Georgia"/>
                <a:cs typeface="Georgia"/>
              </a:rPr>
              <a:t> </a:t>
            </a:r>
            <a:r>
              <a:rPr sz="1100" spc="300" dirty="0">
                <a:latin typeface="Palatino Linotype"/>
                <a:cs typeface="Palatino Linotype"/>
              </a:rPr>
              <a:t>=</a:t>
            </a:r>
            <a:r>
              <a:rPr sz="1100" spc="60" dirty="0">
                <a:latin typeface="Palatino Linotype"/>
                <a:cs typeface="Palatino Linotype"/>
              </a:rPr>
              <a:t> </a:t>
            </a:r>
            <a:r>
              <a:rPr sz="1100" i="1" spc="-10" dirty="0">
                <a:latin typeface="Georgia"/>
                <a:cs typeface="Georgia"/>
              </a:rPr>
              <a:t>re</a:t>
            </a:r>
            <a:r>
              <a:rPr sz="1350" i="1" spc="-15" baseline="27777" dirty="0">
                <a:latin typeface="Meiryo UI"/>
                <a:cs typeface="Meiryo UI"/>
              </a:rPr>
              <a:t>±</a:t>
            </a:r>
            <a:r>
              <a:rPr sz="1350" i="1" spc="-15" baseline="27777" dirty="0">
                <a:latin typeface="Georgia"/>
                <a:cs typeface="Georgia"/>
              </a:rPr>
              <a:t>j</a:t>
            </a:r>
            <a:r>
              <a:rPr sz="1350" spc="-15" baseline="27777" dirty="0">
                <a:latin typeface="Palatino Linotype"/>
                <a:cs typeface="Palatino Linotype"/>
              </a:rPr>
              <a:t>Ω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6533" y="489174"/>
            <a:ext cx="4808220" cy="2644140"/>
            <a:chOff x="126533" y="489174"/>
            <a:chExt cx="4808220" cy="2644140"/>
          </a:xfrm>
        </p:grpSpPr>
        <p:sp>
          <p:nvSpPr>
            <p:cNvPr id="6" name="object 6"/>
            <p:cNvSpPr/>
            <p:nvPr/>
          </p:nvSpPr>
          <p:spPr>
            <a:xfrm>
              <a:off x="1131437" y="1230955"/>
              <a:ext cx="2667000" cy="0"/>
            </a:xfrm>
            <a:custGeom>
              <a:avLst/>
              <a:gdLst/>
              <a:ahLst/>
              <a:cxnLst/>
              <a:rect l="l" t="t" r="r" b="b"/>
              <a:pathLst>
                <a:path w="2667000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ln w="63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533" y="489174"/>
              <a:ext cx="4807940" cy="264387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836507" y="1109036"/>
            <a:ext cx="10922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292861" y="1744628"/>
            <a:ext cx="2794635" cy="126873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  <a:tabLst>
                <a:tab pos="2694305" algn="l"/>
              </a:tabLst>
            </a:pPr>
            <a:r>
              <a:rPr sz="1100" spc="90" dirty="0">
                <a:latin typeface="Arial"/>
                <a:cs typeface="Arial"/>
              </a:rPr>
              <a:t>Which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following</a:t>
            </a:r>
            <a:r>
              <a:rPr sz="1100" spc="165" dirty="0">
                <a:latin typeface="Arial"/>
                <a:cs typeface="Arial"/>
              </a:rPr>
              <a:t> </a:t>
            </a:r>
            <a:r>
              <a:rPr sz="1100" spc="80" dirty="0">
                <a:latin typeface="Arial"/>
                <a:cs typeface="Arial"/>
              </a:rPr>
              <a:t>is/are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true?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15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  <a:p>
            <a:pPr marL="271145" indent="-258445">
              <a:lnSpc>
                <a:spcPct val="100000"/>
              </a:lnSpc>
              <a:spcBef>
                <a:spcPts val="380"/>
              </a:spcBef>
              <a:buFont typeface="Arial"/>
              <a:buAutoNum type="arabicPeriod"/>
              <a:tabLst>
                <a:tab pos="271145" algn="l"/>
              </a:tabLst>
            </a:pPr>
            <a:r>
              <a:rPr sz="1100" i="1" dirty="0">
                <a:latin typeface="Georgia"/>
                <a:cs typeface="Georgia"/>
              </a:rPr>
              <a:t>r</a:t>
            </a:r>
            <a:r>
              <a:rPr sz="1100" i="1" spc="60" dirty="0">
                <a:latin typeface="Georgia"/>
                <a:cs typeface="Georgia"/>
              </a:rPr>
              <a:t> </a:t>
            </a:r>
            <a:r>
              <a:rPr sz="1100" i="1" spc="135" dirty="0">
                <a:latin typeface="Georgia"/>
                <a:cs typeface="Georgia"/>
              </a:rPr>
              <a:t>&lt;</a:t>
            </a:r>
            <a:r>
              <a:rPr sz="1100" i="1" spc="30" dirty="0">
                <a:latin typeface="Georgia"/>
                <a:cs typeface="Georgia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5</a:t>
            </a:r>
            <a:r>
              <a:rPr sz="1100" spc="175" dirty="0">
                <a:latin typeface="Palatino Linotype"/>
                <a:cs typeface="Palatino Linotype"/>
              </a:rPr>
              <a:t> </a:t>
            </a:r>
            <a:r>
              <a:rPr sz="1100" spc="55" dirty="0">
                <a:latin typeface="Arial"/>
                <a:cs typeface="Arial"/>
              </a:rPr>
              <a:t>and</a:t>
            </a:r>
            <a:r>
              <a:rPr sz="1100" spc="145" dirty="0">
                <a:latin typeface="Arial"/>
                <a:cs typeface="Arial"/>
              </a:rPr>
              <a:t> </a:t>
            </a:r>
            <a:r>
              <a:rPr sz="1100" spc="-130" dirty="0">
                <a:latin typeface="Palatino Linotype"/>
                <a:cs typeface="Palatino Linotype"/>
              </a:rPr>
              <a:t>Ω</a:t>
            </a:r>
            <a:r>
              <a:rPr sz="1100" spc="25" dirty="0">
                <a:latin typeface="Palatino Linotype"/>
                <a:cs typeface="Palatino Linotype"/>
              </a:rPr>
              <a:t> </a:t>
            </a:r>
            <a:r>
              <a:rPr sz="1100" i="1" spc="250" dirty="0">
                <a:latin typeface="Times New Roman"/>
                <a:cs typeface="Times New Roman"/>
              </a:rPr>
              <a:t>≈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Palatino Linotype"/>
                <a:cs typeface="Palatino Linotype"/>
              </a:rPr>
              <a:t>0</a:t>
            </a:r>
            <a:r>
              <a:rPr sz="1100" i="1" spc="-25" dirty="0">
                <a:latin typeface="Georgia"/>
                <a:cs typeface="Georgia"/>
              </a:rPr>
              <a:t>.</a:t>
            </a:r>
            <a:r>
              <a:rPr sz="1100" spc="-25" dirty="0">
                <a:latin typeface="Palatino Linotype"/>
                <a:cs typeface="Palatino Linotype"/>
              </a:rPr>
              <a:t>5</a:t>
            </a:r>
            <a:endParaRPr sz="1100">
              <a:latin typeface="Palatino Linotype"/>
              <a:cs typeface="Palatino Linotype"/>
            </a:endParaRPr>
          </a:p>
          <a:p>
            <a:pPr marL="271145" indent="-258445">
              <a:lnSpc>
                <a:spcPct val="100000"/>
              </a:lnSpc>
              <a:spcBef>
                <a:spcPts val="275"/>
              </a:spcBef>
              <a:buFont typeface="Arial"/>
              <a:buAutoNum type="arabicPeriod"/>
              <a:tabLst>
                <a:tab pos="271145" algn="l"/>
              </a:tabLst>
            </a:pPr>
            <a:r>
              <a:rPr sz="1100" dirty="0">
                <a:solidFill>
                  <a:srgbClr val="FF0000"/>
                </a:solidFill>
                <a:latin typeface="Palatino Linotype"/>
                <a:cs typeface="Palatino Linotype"/>
              </a:rPr>
              <a:t>0</a:t>
            </a:r>
            <a:r>
              <a:rPr sz="1100" i="1" dirty="0">
                <a:solidFill>
                  <a:srgbClr val="FF0000"/>
                </a:solidFill>
                <a:latin typeface="Georgia"/>
                <a:cs typeface="Georgia"/>
              </a:rPr>
              <a:t>.</a:t>
            </a:r>
            <a:r>
              <a:rPr sz="1100" dirty="0">
                <a:solidFill>
                  <a:srgbClr val="FF0000"/>
                </a:solidFill>
                <a:latin typeface="Palatino Linotype"/>
                <a:cs typeface="Palatino Linotype"/>
              </a:rPr>
              <a:t>5</a:t>
            </a:r>
            <a:r>
              <a:rPr sz="1100" spc="1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1100" i="1" spc="135" dirty="0">
                <a:solidFill>
                  <a:srgbClr val="FF0000"/>
                </a:solidFill>
                <a:latin typeface="Georgia"/>
                <a:cs typeface="Georgia"/>
              </a:rPr>
              <a:t>&lt;</a:t>
            </a:r>
            <a:r>
              <a:rPr sz="1100" i="1" spc="3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Georgia"/>
                <a:cs typeface="Georgia"/>
              </a:rPr>
              <a:t>r</a:t>
            </a:r>
            <a:r>
              <a:rPr sz="1100" i="1" spc="6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100" i="1" spc="135" dirty="0">
                <a:solidFill>
                  <a:srgbClr val="FF0000"/>
                </a:solidFill>
                <a:latin typeface="Georgia"/>
                <a:cs typeface="Georgia"/>
              </a:rPr>
              <a:t>&lt;</a:t>
            </a:r>
            <a:r>
              <a:rPr sz="1100" i="1" spc="3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FF0000"/>
                </a:solidFill>
                <a:latin typeface="Palatino Linotype"/>
                <a:cs typeface="Palatino Linotype"/>
              </a:rPr>
              <a:t>1</a:t>
            </a:r>
            <a:r>
              <a:rPr sz="1100" spc="17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1100" spc="55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1100" spc="1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-130" dirty="0">
                <a:solidFill>
                  <a:srgbClr val="FF0000"/>
                </a:solidFill>
                <a:latin typeface="Palatino Linotype"/>
                <a:cs typeface="Palatino Linotype"/>
              </a:rPr>
              <a:t>Ω</a:t>
            </a:r>
            <a:r>
              <a:rPr sz="1100" spc="2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1100" i="1" spc="250" dirty="0">
                <a:solidFill>
                  <a:srgbClr val="FF0000"/>
                </a:solidFill>
                <a:latin typeface="Times New Roman"/>
                <a:cs typeface="Times New Roman"/>
              </a:rPr>
              <a:t>≈</a:t>
            </a:r>
            <a:r>
              <a:rPr sz="1100" i="1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Palatino Linotype"/>
                <a:cs typeface="Palatino Linotype"/>
              </a:rPr>
              <a:t>0</a:t>
            </a:r>
            <a:r>
              <a:rPr sz="1100" i="1" spc="-25" dirty="0">
                <a:solidFill>
                  <a:srgbClr val="FF0000"/>
                </a:solidFill>
                <a:latin typeface="Georgia"/>
                <a:cs typeface="Georgia"/>
              </a:rPr>
              <a:t>.</a:t>
            </a:r>
            <a:r>
              <a:rPr sz="1100" spc="-25" dirty="0">
                <a:solidFill>
                  <a:srgbClr val="FF0000"/>
                </a:solidFill>
                <a:latin typeface="Palatino Linotype"/>
                <a:cs typeface="Palatino Linotype"/>
              </a:rPr>
              <a:t>5</a:t>
            </a:r>
            <a:endParaRPr sz="1100">
              <a:latin typeface="Palatino Linotype"/>
              <a:cs typeface="Palatino Linotype"/>
            </a:endParaRPr>
          </a:p>
          <a:p>
            <a:pPr marL="271145" indent="-258445">
              <a:lnSpc>
                <a:spcPct val="100000"/>
              </a:lnSpc>
              <a:spcBef>
                <a:spcPts val="280"/>
              </a:spcBef>
              <a:buFont typeface="Arial"/>
              <a:buAutoNum type="arabicPeriod"/>
              <a:tabLst>
                <a:tab pos="271145" algn="l"/>
              </a:tabLst>
            </a:pPr>
            <a:r>
              <a:rPr sz="1100" i="1" dirty="0">
                <a:latin typeface="Georgia"/>
                <a:cs typeface="Georgia"/>
              </a:rPr>
              <a:t>r</a:t>
            </a:r>
            <a:r>
              <a:rPr sz="1100" i="1" spc="60" dirty="0">
                <a:latin typeface="Georgia"/>
                <a:cs typeface="Georgia"/>
              </a:rPr>
              <a:t> </a:t>
            </a:r>
            <a:r>
              <a:rPr sz="1100" i="1" spc="135" dirty="0">
                <a:latin typeface="Georgia"/>
                <a:cs typeface="Georgia"/>
              </a:rPr>
              <a:t>&lt;</a:t>
            </a:r>
            <a:r>
              <a:rPr sz="1100" i="1" spc="30" dirty="0">
                <a:latin typeface="Georgia"/>
                <a:cs typeface="Georgia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5</a:t>
            </a:r>
            <a:r>
              <a:rPr sz="1100" spc="175" dirty="0">
                <a:latin typeface="Palatino Linotype"/>
                <a:cs typeface="Palatino Linotype"/>
              </a:rPr>
              <a:t> </a:t>
            </a:r>
            <a:r>
              <a:rPr sz="1100" spc="55" dirty="0">
                <a:latin typeface="Arial"/>
                <a:cs typeface="Arial"/>
              </a:rPr>
              <a:t>and</a:t>
            </a:r>
            <a:r>
              <a:rPr sz="1100" spc="145" dirty="0">
                <a:latin typeface="Arial"/>
                <a:cs typeface="Arial"/>
              </a:rPr>
              <a:t> </a:t>
            </a:r>
            <a:r>
              <a:rPr sz="1100" spc="-130" dirty="0">
                <a:latin typeface="Palatino Linotype"/>
                <a:cs typeface="Palatino Linotype"/>
              </a:rPr>
              <a:t>Ω</a:t>
            </a:r>
            <a:r>
              <a:rPr sz="1100" spc="25" dirty="0">
                <a:latin typeface="Palatino Linotype"/>
                <a:cs typeface="Palatino Linotype"/>
              </a:rPr>
              <a:t> </a:t>
            </a:r>
            <a:r>
              <a:rPr sz="1100" i="1" spc="250" dirty="0">
                <a:latin typeface="Times New Roman"/>
                <a:cs typeface="Times New Roman"/>
              </a:rPr>
              <a:t>≈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Palatino Linotype"/>
                <a:cs typeface="Palatino Linotype"/>
              </a:rPr>
              <a:t>0</a:t>
            </a:r>
            <a:r>
              <a:rPr sz="1100" i="1" spc="-20" dirty="0">
                <a:latin typeface="Georgia"/>
                <a:cs typeface="Georgia"/>
              </a:rPr>
              <a:t>.</a:t>
            </a:r>
            <a:r>
              <a:rPr sz="1100" spc="-20" dirty="0">
                <a:latin typeface="Palatino Linotype"/>
                <a:cs typeface="Palatino Linotype"/>
              </a:rPr>
              <a:t>08</a:t>
            </a:r>
            <a:endParaRPr sz="1100">
              <a:latin typeface="Palatino Linotype"/>
              <a:cs typeface="Palatino Linotype"/>
            </a:endParaRPr>
          </a:p>
          <a:p>
            <a:pPr marL="271145" indent="-258445">
              <a:lnSpc>
                <a:spcPct val="100000"/>
              </a:lnSpc>
              <a:spcBef>
                <a:spcPts val="280"/>
              </a:spcBef>
              <a:buFont typeface="Arial"/>
              <a:buAutoNum type="arabicPeriod"/>
              <a:tabLst>
                <a:tab pos="271145" algn="l"/>
              </a:tabLst>
            </a:pPr>
            <a:r>
              <a:rPr sz="1100" dirty="0">
                <a:latin typeface="Palatino Linotype"/>
                <a:cs typeface="Palatino Linotype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Palatino Linotype"/>
                <a:cs typeface="Palatino Linotype"/>
              </a:rPr>
              <a:t>5</a:t>
            </a:r>
            <a:r>
              <a:rPr sz="1100" spc="15" dirty="0">
                <a:latin typeface="Palatino Linotype"/>
                <a:cs typeface="Palatino Linotype"/>
              </a:rPr>
              <a:t> </a:t>
            </a:r>
            <a:r>
              <a:rPr sz="1100" i="1" spc="135" dirty="0">
                <a:latin typeface="Georgia"/>
                <a:cs typeface="Georgia"/>
              </a:rPr>
              <a:t>&lt;</a:t>
            </a:r>
            <a:r>
              <a:rPr sz="1100" i="1" spc="3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r</a:t>
            </a:r>
            <a:r>
              <a:rPr sz="1100" i="1" spc="60" dirty="0">
                <a:latin typeface="Georgia"/>
                <a:cs typeface="Georgia"/>
              </a:rPr>
              <a:t> </a:t>
            </a:r>
            <a:r>
              <a:rPr sz="1100" i="1" spc="135" dirty="0">
                <a:latin typeface="Georgia"/>
                <a:cs typeface="Georgia"/>
              </a:rPr>
              <a:t>&lt;</a:t>
            </a:r>
            <a:r>
              <a:rPr sz="1100" i="1" spc="35" dirty="0">
                <a:latin typeface="Georgia"/>
                <a:cs typeface="Georgia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175" dirty="0">
                <a:latin typeface="Palatino Linotype"/>
                <a:cs typeface="Palatino Linotype"/>
              </a:rPr>
              <a:t> </a:t>
            </a:r>
            <a:r>
              <a:rPr sz="1100" spc="55" dirty="0">
                <a:latin typeface="Arial"/>
                <a:cs typeface="Arial"/>
              </a:rPr>
              <a:t>and</a:t>
            </a:r>
            <a:r>
              <a:rPr sz="1100" spc="145" dirty="0">
                <a:latin typeface="Arial"/>
                <a:cs typeface="Arial"/>
              </a:rPr>
              <a:t> </a:t>
            </a:r>
            <a:r>
              <a:rPr sz="1100" spc="-130" dirty="0">
                <a:latin typeface="Palatino Linotype"/>
                <a:cs typeface="Palatino Linotype"/>
              </a:rPr>
              <a:t>Ω</a:t>
            </a:r>
            <a:r>
              <a:rPr sz="1100" spc="25" dirty="0">
                <a:latin typeface="Palatino Linotype"/>
                <a:cs typeface="Palatino Linotype"/>
              </a:rPr>
              <a:t> </a:t>
            </a:r>
            <a:r>
              <a:rPr sz="1100" i="1" spc="250" dirty="0">
                <a:latin typeface="Times New Roman"/>
                <a:cs typeface="Times New Roman"/>
              </a:rPr>
              <a:t>≈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Palatino Linotype"/>
                <a:cs typeface="Palatino Linotype"/>
              </a:rPr>
              <a:t>0</a:t>
            </a:r>
            <a:r>
              <a:rPr sz="1100" i="1" spc="-20" dirty="0">
                <a:latin typeface="Georgia"/>
                <a:cs typeface="Georgia"/>
              </a:rPr>
              <a:t>.</a:t>
            </a:r>
            <a:r>
              <a:rPr sz="1100" spc="-20" dirty="0">
                <a:latin typeface="Palatino Linotype"/>
                <a:cs typeface="Palatino Linotype"/>
              </a:rPr>
              <a:t>08</a:t>
            </a:r>
            <a:endParaRPr sz="1100">
              <a:latin typeface="Palatino Linotype"/>
              <a:cs typeface="Palatino Linotype"/>
            </a:endParaRPr>
          </a:p>
          <a:p>
            <a:pPr marL="271145" indent="-258445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271145" algn="l"/>
              </a:tabLst>
            </a:pPr>
            <a:r>
              <a:rPr sz="1100" dirty="0">
                <a:latin typeface="Arial"/>
                <a:cs typeface="Arial"/>
              </a:rPr>
              <a:t>none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220" dirty="0">
                <a:latin typeface="Arial"/>
                <a:cs typeface="Arial"/>
              </a:rPr>
              <a:t> </a:t>
            </a:r>
            <a:r>
              <a:rPr sz="1100" spc="30" dirty="0">
                <a:latin typeface="Arial"/>
                <a:cs typeface="Arial"/>
              </a:rPr>
              <a:t>above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0" dirty="0"/>
              <a:t>Check</a:t>
            </a:r>
            <a:r>
              <a:rPr spc="215" dirty="0"/>
              <a:t> </a:t>
            </a:r>
            <a:r>
              <a:rPr spc="50" dirty="0"/>
              <a:t>Yourself</a:t>
            </a:r>
          </a:p>
        </p:txBody>
      </p:sp>
      <p:sp>
        <p:nvSpPr>
          <p:cNvPr id="3" name="object 3"/>
          <p:cNvSpPr/>
          <p:nvPr/>
        </p:nvSpPr>
        <p:spPr>
          <a:xfrm>
            <a:off x="129061" y="491702"/>
            <a:ext cx="4803140" cy="2445385"/>
          </a:xfrm>
          <a:custGeom>
            <a:avLst/>
            <a:gdLst/>
            <a:ahLst/>
            <a:cxnLst/>
            <a:rect l="l" t="t" r="r" b="b"/>
            <a:pathLst>
              <a:path w="4803140" h="2445385">
                <a:moveTo>
                  <a:pt x="4733302" y="0"/>
                </a:moveTo>
                <a:lnTo>
                  <a:pt x="69583" y="0"/>
                </a:lnTo>
                <a:lnTo>
                  <a:pt x="29355" y="10874"/>
                </a:lnTo>
                <a:lnTo>
                  <a:pt x="8697" y="34798"/>
                </a:lnTo>
                <a:lnTo>
                  <a:pt x="1087" y="58721"/>
                </a:lnTo>
                <a:lnTo>
                  <a:pt x="0" y="69596"/>
                </a:lnTo>
                <a:lnTo>
                  <a:pt x="0" y="2375458"/>
                </a:lnTo>
                <a:lnTo>
                  <a:pt x="10872" y="2415686"/>
                </a:lnTo>
                <a:lnTo>
                  <a:pt x="34791" y="2436344"/>
                </a:lnTo>
                <a:lnTo>
                  <a:pt x="58710" y="2443954"/>
                </a:lnTo>
                <a:lnTo>
                  <a:pt x="69583" y="2445042"/>
                </a:lnTo>
                <a:lnTo>
                  <a:pt x="4733302" y="2445042"/>
                </a:lnTo>
                <a:lnTo>
                  <a:pt x="4773530" y="2434169"/>
                </a:lnTo>
                <a:lnTo>
                  <a:pt x="4794188" y="2410250"/>
                </a:lnTo>
                <a:lnTo>
                  <a:pt x="4801798" y="2386331"/>
                </a:lnTo>
                <a:lnTo>
                  <a:pt x="4802886" y="2375458"/>
                </a:lnTo>
                <a:lnTo>
                  <a:pt x="4802886" y="69596"/>
                </a:lnTo>
                <a:lnTo>
                  <a:pt x="4792013" y="29360"/>
                </a:lnTo>
                <a:lnTo>
                  <a:pt x="4768094" y="8699"/>
                </a:lnTo>
                <a:lnTo>
                  <a:pt x="4744175" y="1087"/>
                </a:lnTo>
                <a:lnTo>
                  <a:pt x="473330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27289" y="567380"/>
            <a:ext cx="1435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62711" y="567380"/>
            <a:ext cx="1435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98134" y="567380"/>
            <a:ext cx="1435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22511" y="554621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76489" y="560653"/>
            <a:ext cx="245110" cy="222250"/>
          </a:xfrm>
          <a:custGeom>
            <a:avLst/>
            <a:gdLst/>
            <a:ahLst/>
            <a:cxnLst/>
            <a:rect l="l" t="t" r="r" b="b"/>
            <a:pathLst>
              <a:path w="245110" h="222250">
                <a:moveTo>
                  <a:pt x="0" y="222105"/>
                </a:moveTo>
                <a:lnTo>
                  <a:pt x="244954" y="222105"/>
                </a:lnTo>
                <a:lnTo>
                  <a:pt x="244954" y="0"/>
                </a:lnTo>
                <a:lnTo>
                  <a:pt x="0" y="0"/>
                </a:lnTo>
                <a:lnTo>
                  <a:pt x="0" y="222105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11943" y="560653"/>
            <a:ext cx="245110" cy="222250"/>
          </a:xfrm>
          <a:custGeom>
            <a:avLst/>
            <a:gdLst/>
            <a:ahLst/>
            <a:cxnLst/>
            <a:rect l="l" t="t" r="r" b="b"/>
            <a:pathLst>
              <a:path w="245110" h="222250">
                <a:moveTo>
                  <a:pt x="0" y="222105"/>
                </a:moveTo>
                <a:lnTo>
                  <a:pt x="244954" y="222105"/>
                </a:lnTo>
                <a:lnTo>
                  <a:pt x="244954" y="0"/>
                </a:lnTo>
                <a:lnTo>
                  <a:pt x="0" y="0"/>
                </a:lnTo>
                <a:lnTo>
                  <a:pt x="0" y="222105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47397" y="560653"/>
            <a:ext cx="245110" cy="222250"/>
          </a:xfrm>
          <a:custGeom>
            <a:avLst/>
            <a:gdLst/>
            <a:ahLst/>
            <a:cxnLst/>
            <a:rect l="l" t="t" r="r" b="b"/>
            <a:pathLst>
              <a:path w="245110" h="222250">
                <a:moveTo>
                  <a:pt x="0" y="222105"/>
                </a:moveTo>
                <a:lnTo>
                  <a:pt x="244954" y="222105"/>
                </a:lnTo>
                <a:lnTo>
                  <a:pt x="244954" y="0"/>
                </a:lnTo>
                <a:lnTo>
                  <a:pt x="0" y="0"/>
                </a:lnTo>
                <a:lnTo>
                  <a:pt x="0" y="222105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495824" y="568699"/>
            <a:ext cx="2058670" cy="363855"/>
            <a:chOff x="1495824" y="568699"/>
            <a:chExt cx="2058670" cy="363855"/>
          </a:xfrm>
        </p:grpSpPr>
        <p:sp>
          <p:nvSpPr>
            <p:cNvPr id="12" name="object 12"/>
            <p:cNvSpPr/>
            <p:nvPr/>
          </p:nvSpPr>
          <p:spPr>
            <a:xfrm>
              <a:off x="1692674" y="575049"/>
              <a:ext cx="193675" cy="193675"/>
            </a:xfrm>
            <a:custGeom>
              <a:avLst/>
              <a:gdLst/>
              <a:ahLst/>
              <a:cxnLst/>
              <a:rect l="l" t="t" r="r" b="b"/>
              <a:pathLst>
                <a:path w="193675" h="193675">
                  <a:moveTo>
                    <a:pt x="193314" y="96657"/>
                  </a:moveTo>
                  <a:lnTo>
                    <a:pt x="185718" y="59033"/>
                  </a:lnTo>
                  <a:lnTo>
                    <a:pt x="165004" y="28310"/>
                  </a:lnTo>
                  <a:lnTo>
                    <a:pt x="134280" y="7595"/>
                  </a:lnTo>
                  <a:lnTo>
                    <a:pt x="96657" y="0"/>
                  </a:lnTo>
                  <a:lnTo>
                    <a:pt x="59033" y="7595"/>
                  </a:lnTo>
                  <a:lnTo>
                    <a:pt x="28310" y="28310"/>
                  </a:lnTo>
                  <a:lnTo>
                    <a:pt x="7595" y="59033"/>
                  </a:lnTo>
                  <a:lnTo>
                    <a:pt x="0" y="96657"/>
                  </a:lnTo>
                  <a:lnTo>
                    <a:pt x="7595" y="134280"/>
                  </a:lnTo>
                  <a:lnTo>
                    <a:pt x="28310" y="165004"/>
                  </a:lnTo>
                  <a:lnTo>
                    <a:pt x="59033" y="185718"/>
                  </a:lnTo>
                  <a:lnTo>
                    <a:pt x="96657" y="193314"/>
                  </a:lnTo>
                  <a:lnTo>
                    <a:pt x="134280" y="185718"/>
                  </a:lnTo>
                  <a:lnTo>
                    <a:pt x="165004" y="165004"/>
                  </a:lnTo>
                  <a:lnTo>
                    <a:pt x="185718" y="134280"/>
                  </a:lnTo>
                  <a:lnTo>
                    <a:pt x="193314" y="96657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02174" y="671706"/>
              <a:ext cx="165735" cy="0"/>
            </a:xfrm>
            <a:custGeom>
              <a:avLst/>
              <a:gdLst/>
              <a:ahLst/>
              <a:cxnLst/>
              <a:rect l="l" t="t" r="r" b="b"/>
              <a:pathLst>
                <a:path w="165735">
                  <a:moveTo>
                    <a:pt x="0" y="0"/>
                  </a:moveTo>
                  <a:lnTo>
                    <a:pt x="165196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08925" y="64749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5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08925" y="647496"/>
              <a:ext cx="442595" cy="48895"/>
            </a:xfrm>
            <a:custGeom>
              <a:avLst/>
              <a:gdLst/>
              <a:ahLst/>
              <a:cxnLst/>
              <a:rect l="l" t="t" r="r" b="b"/>
              <a:pathLst>
                <a:path w="442594" h="48895">
                  <a:moveTo>
                    <a:pt x="0" y="48419"/>
                  </a:moveTo>
                  <a:lnTo>
                    <a:pt x="58446" y="24209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  <a:path w="442594" h="48895">
                  <a:moveTo>
                    <a:pt x="277064" y="24209"/>
                  </a:moveTo>
                  <a:lnTo>
                    <a:pt x="442260" y="242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92739" y="64749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5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92739" y="647496"/>
              <a:ext cx="494030" cy="48895"/>
            </a:xfrm>
            <a:custGeom>
              <a:avLst/>
              <a:gdLst/>
              <a:ahLst/>
              <a:cxnLst/>
              <a:rect l="l" t="t" r="r" b="b"/>
              <a:pathLst>
                <a:path w="494030" h="48895">
                  <a:moveTo>
                    <a:pt x="0" y="48419"/>
                  </a:moveTo>
                  <a:lnTo>
                    <a:pt x="58446" y="24209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  <a:path w="494030" h="48895">
                  <a:moveTo>
                    <a:pt x="328703" y="24209"/>
                  </a:moveTo>
                  <a:lnTo>
                    <a:pt x="493900" y="242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28193" y="64749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5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28193" y="647496"/>
              <a:ext cx="494030" cy="48895"/>
            </a:xfrm>
            <a:custGeom>
              <a:avLst/>
              <a:gdLst/>
              <a:ahLst/>
              <a:cxnLst/>
              <a:rect l="l" t="t" r="r" b="b"/>
              <a:pathLst>
                <a:path w="494030" h="48895">
                  <a:moveTo>
                    <a:pt x="0" y="48419"/>
                  </a:moveTo>
                  <a:lnTo>
                    <a:pt x="58446" y="24209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  <a:path w="494030" h="48895">
                  <a:moveTo>
                    <a:pt x="328703" y="24209"/>
                  </a:moveTo>
                  <a:lnTo>
                    <a:pt x="493900" y="242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63647" y="64749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5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863647" y="647496"/>
              <a:ext cx="684530" cy="48895"/>
            </a:xfrm>
            <a:custGeom>
              <a:avLst/>
              <a:gdLst/>
              <a:ahLst/>
              <a:cxnLst/>
              <a:rect l="l" t="t" r="r" b="b"/>
              <a:pathLst>
                <a:path w="684529" h="48895">
                  <a:moveTo>
                    <a:pt x="0" y="48419"/>
                  </a:moveTo>
                  <a:lnTo>
                    <a:pt x="58446" y="24209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  <a:path w="684529" h="48895">
                  <a:moveTo>
                    <a:pt x="328703" y="24209"/>
                  </a:moveTo>
                  <a:lnTo>
                    <a:pt x="684397" y="242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489598" y="64749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5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89332" y="647496"/>
              <a:ext cx="1758950" cy="278765"/>
            </a:xfrm>
            <a:custGeom>
              <a:avLst/>
              <a:gdLst/>
              <a:ahLst/>
              <a:cxnLst/>
              <a:rect l="l" t="t" r="r" b="b"/>
              <a:pathLst>
                <a:path w="1758950" h="278765">
                  <a:moveTo>
                    <a:pt x="1700266" y="48419"/>
                  </a:moveTo>
                  <a:lnTo>
                    <a:pt x="1758712" y="24209"/>
                  </a:lnTo>
                  <a:lnTo>
                    <a:pt x="1700266" y="0"/>
                  </a:lnTo>
                  <a:lnTo>
                    <a:pt x="1700266" y="48419"/>
                  </a:lnTo>
                  <a:close/>
                </a:path>
                <a:path w="1758950" h="278765">
                  <a:moveTo>
                    <a:pt x="1593519" y="24209"/>
                  </a:moveTo>
                  <a:lnTo>
                    <a:pt x="1593519" y="278209"/>
                  </a:lnTo>
                  <a:lnTo>
                    <a:pt x="0" y="278209"/>
                  </a:lnTo>
                  <a:lnTo>
                    <a:pt x="0" y="146172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65122" y="793668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24210" y="0"/>
                  </a:moveTo>
                  <a:lnTo>
                    <a:pt x="0" y="58447"/>
                  </a:lnTo>
                  <a:lnTo>
                    <a:pt x="48420" y="58447"/>
                  </a:lnTo>
                  <a:lnTo>
                    <a:pt x="2421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122" y="793668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48420" y="58447"/>
                  </a:moveTo>
                  <a:lnTo>
                    <a:pt x="24210" y="0"/>
                  </a:lnTo>
                  <a:lnTo>
                    <a:pt x="0" y="58447"/>
                  </a:lnTo>
                  <a:lnTo>
                    <a:pt x="48420" y="58447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312457" y="567380"/>
            <a:ext cx="1409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65" dirty="0">
                <a:latin typeface="Georgia"/>
                <a:cs typeface="Georgia"/>
              </a:rPr>
              <a:t>X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11490" y="567380"/>
            <a:ext cx="10668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Y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05555" y="1054371"/>
            <a:ext cx="4450080" cy="358140"/>
            <a:chOff x="305555" y="1054371"/>
            <a:chExt cx="4450080" cy="358140"/>
          </a:xfrm>
        </p:grpSpPr>
        <p:sp>
          <p:nvSpPr>
            <p:cNvPr id="29" name="object 29"/>
            <p:cNvSpPr/>
            <p:nvPr/>
          </p:nvSpPr>
          <p:spPr>
            <a:xfrm>
              <a:off x="308095" y="1056911"/>
              <a:ext cx="4445000" cy="353060"/>
            </a:xfrm>
            <a:custGeom>
              <a:avLst/>
              <a:gdLst/>
              <a:ahLst/>
              <a:cxnLst/>
              <a:rect l="l" t="t" r="r" b="b"/>
              <a:pathLst>
                <a:path w="4445000" h="353059">
                  <a:moveTo>
                    <a:pt x="4375238" y="0"/>
                  </a:moveTo>
                  <a:lnTo>
                    <a:pt x="69583" y="0"/>
                  </a:lnTo>
                  <a:lnTo>
                    <a:pt x="29355" y="10874"/>
                  </a:lnTo>
                  <a:lnTo>
                    <a:pt x="8697" y="34797"/>
                  </a:lnTo>
                  <a:lnTo>
                    <a:pt x="1087" y="58721"/>
                  </a:lnTo>
                  <a:lnTo>
                    <a:pt x="0" y="69595"/>
                  </a:lnTo>
                  <a:lnTo>
                    <a:pt x="0" y="283425"/>
                  </a:lnTo>
                  <a:lnTo>
                    <a:pt x="10872" y="323653"/>
                  </a:lnTo>
                  <a:lnTo>
                    <a:pt x="34791" y="344311"/>
                  </a:lnTo>
                  <a:lnTo>
                    <a:pt x="58710" y="351921"/>
                  </a:lnTo>
                  <a:lnTo>
                    <a:pt x="69583" y="353009"/>
                  </a:lnTo>
                  <a:lnTo>
                    <a:pt x="4375238" y="353009"/>
                  </a:lnTo>
                  <a:lnTo>
                    <a:pt x="4415466" y="342136"/>
                  </a:lnTo>
                  <a:lnTo>
                    <a:pt x="4436124" y="318217"/>
                  </a:lnTo>
                  <a:lnTo>
                    <a:pt x="4443734" y="294298"/>
                  </a:lnTo>
                  <a:lnTo>
                    <a:pt x="4444822" y="283425"/>
                  </a:lnTo>
                  <a:lnTo>
                    <a:pt x="4444822" y="69595"/>
                  </a:lnTo>
                  <a:lnTo>
                    <a:pt x="4433949" y="29360"/>
                  </a:lnTo>
                  <a:lnTo>
                    <a:pt x="4410030" y="8699"/>
                  </a:lnTo>
                  <a:lnTo>
                    <a:pt x="4386111" y="1087"/>
                  </a:lnTo>
                  <a:lnTo>
                    <a:pt x="4375238" y="0"/>
                  </a:lnTo>
                  <a:close/>
                </a:path>
              </a:pathLst>
            </a:custGeom>
            <a:solidFill>
              <a:srgbClr val="B2FF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8095" y="1056911"/>
              <a:ext cx="4445000" cy="353060"/>
            </a:xfrm>
            <a:custGeom>
              <a:avLst/>
              <a:gdLst/>
              <a:ahLst/>
              <a:cxnLst/>
              <a:rect l="l" t="t" r="r" b="b"/>
              <a:pathLst>
                <a:path w="4445000" h="353059">
                  <a:moveTo>
                    <a:pt x="69583" y="353009"/>
                  </a:moveTo>
                  <a:lnTo>
                    <a:pt x="4375238" y="353009"/>
                  </a:lnTo>
                  <a:lnTo>
                    <a:pt x="4415466" y="342136"/>
                  </a:lnTo>
                  <a:lnTo>
                    <a:pt x="4436124" y="318217"/>
                  </a:lnTo>
                  <a:lnTo>
                    <a:pt x="4443734" y="294298"/>
                  </a:lnTo>
                  <a:lnTo>
                    <a:pt x="4444822" y="283425"/>
                  </a:lnTo>
                  <a:lnTo>
                    <a:pt x="4444822" y="69595"/>
                  </a:lnTo>
                  <a:lnTo>
                    <a:pt x="4433949" y="29360"/>
                  </a:lnTo>
                  <a:lnTo>
                    <a:pt x="4410030" y="8699"/>
                  </a:lnTo>
                  <a:lnTo>
                    <a:pt x="4386111" y="1087"/>
                  </a:lnTo>
                  <a:lnTo>
                    <a:pt x="4375238" y="0"/>
                  </a:lnTo>
                  <a:lnTo>
                    <a:pt x="69583" y="0"/>
                  </a:lnTo>
                  <a:lnTo>
                    <a:pt x="29355" y="10874"/>
                  </a:lnTo>
                  <a:lnTo>
                    <a:pt x="8697" y="34797"/>
                  </a:lnTo>
                  <a:lnTo>
                    <a:pt x="1087" y="58721"/>
                  </a:lnTo>
                  <a:lnTo>
                    <a:pt x="0" y="69595"/>
                  </a:lnTo>
                  <a:lnTo>
                    <a:pt x="0" y="283425"/>
                  </a:lnTo>
                  <a:lnTo>
                    <a:pt x="10872" y="323653"/>
                  </a:lnTo>
                  <a:lnTo>
                    <a:pt x="34791" y="344311"/>
                  </a:lnTo>
                  <a:lnTo>
                    <a:pt x="58710" y="351921"/>
                  </a:lnTo>
                  <a:lnTo>
                    <a:pt x="69583" y="353009"/>
                  </a:lnTo>
                  <a:close/>
                </a:path>
              </a:pathLst>
            </a:custGeom>
            <a:ln w="505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95"/>
              </a:spcBef>
            </a:pPr>
            <a:r>
              <a:rPr spc="75" dirty="0"/>
              <a:t>How</a:t>
            </a:r>
            <a:r>
              <a:rPr spc="165" dirty="0"/>
              <a:t> </a:t>
            </a:r>
            <a:r>
              <a:rPr spc="70" dirty="0"/>
              <a:t>many</a:t>
            </a:r>
            <a:r>
              <a:rPr spc="170" dirty="0"/>
              <a:t> </a:t>
            </a:r>
            <a:r>
              <a:rPr spc="90" dirty="0"/>
              <a:t>of</a:t>
            </a:r>
            <a:r>
              <a:rPr spc="170" dirty="0"/>
              <a:t> </a:t>
            </a:r>
            <a:r>
              <a:rPr spc="85" dirty="0"/>
              <a:t>the</a:t>
            </a:r>
            <a:r>
              <a:rPr spc="170" dirty="0"/>
              <a:t> </a:t>
            </a:r>
            <a:r>
              <a:rPr spc="65" dirty="0"/>
              <a:t>following</a:t>
            </a:r>
            <a:r>
              <a:rPr spc="170" dirty="0"/>
              <a:t> </a:t>
            </a:r>
            <a:r>
              <a:rPr spc="75" dirty="0"/>
              <a:t>statements</a:t>
            </a:r>
            <a:r>
              <a:rPr spc="170" dirty="0"/>
              <a:t> </a:t>
            </a:r>
            <a:r>
              <a:rPr dirty="0"/>
              <a:t>are</a:t>
            </a:r>
            <a:r>
              <a:rPr spc="170" dirty="0"/>
              <a:t> </a:t>
            </a:r>
            <a:r>
              <a:rPr spc="65" dirty="0"/>
              <a:t>true?</a:t>
            </a:r>
          </a:p>
          <a:p>
            <a:pPr marL="186055" indent="-172720">
              <a:lnSpc>
                <a:spcPct val="100000"/>
              </a:lnSpc>
              <a:spcBef>
                <a:spcPts val="1215"/>
              </a:spcBef>
              <a:buAutoNum type="arabicPeriod"/>
              <a:tabLst>
                <a:tab pos="186055" algn="l"/>
              </a:tabLst>
            </a:pPr>
            <a:r>
              <a:rPr spc="95" dirty="0"/>
              <a:t>This</a:t>
            </a:r>
            <a:r>
              <a:rPr spc="175" dirty="0"/>
              <a:t> </a:t>
            </a:r>
            <a:r>
              <a:rPr spc="55" dirty="0"/>
              <a:t>system</a:t>
            </a:r>
            <a:r>
              <a:rPr spc="175" dirty="0"/>
              <a:t> </a:t>
            </a:r>
            <a:r>
              <a:rPr dirty="0"/>
              <a:t>has</a:t>
            </a:r>
            <a:r>
              <a:rPr spc="175" dirty="0"/>
              <a:t> </a:t>
            </a:r>
            <a:r>
              <a:rPr spc="65" dirty="0"/>
              <a:t>3</a:t>
            </a:r>
            <a:r>
              <a:rPr spc="175" dirty="0"/>
              <a:t> </a:t>
            </a:r>
            <a:r>
              <a:rPr spc="75" dirty="0"/>
              <a:t>fundamental</a:t>
            </a:r>
            <a:r>
              <a:rPr spc="170" dirty="0"/>
              <a:t> </a:t>
            </a:r>
            <a:r>
              <a:rPr spc="45" dirty="0"/>
              <a:t>modes.</a:t>
            </a:r>
          </a:p>
          <a:p>
            <a:pPr marL="186055" indent="-17272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186055" algn="l"/>
              </a:tabLst>
            </a:pPr>
            <a:r>
              <a:rPr spc="80" dirty="0"/>
              <a:t>All</a:t>
            </a:r>
            <a:r>
              <a:rPr spc="145" dirty="0"/>
              <a:t> </a:t>
            </a:r>
            <a:r>
              <a:rPr spc="90" dirty="0"/>
              <a:t>of</a:t>
            </a:r>
            <a:r>
              <a:rPr spc="150" dirty="0"/>
              <a:t> </a:t>
            </a:r>
            <a:r>
              <a:rPr spc="85" dirty="0"/>
              <a:t>the</a:t>
            </a:r>
            <a:r>
              <a:rPr spc="145" dirty="0"/>
              <a:t> </a:t>
            </a:r>
            <a:r>
              <a:rPr spc="75" dirty="0"/>
              <a:t>fundamental</a:t>
            </a:r>
            <a:r>
              <a:rPr spc="145" dirty="0"/>
              <a:t> </a:t>
            </a:r>
            <a:r>
              <a:rPr spc="55" dirty="0"/>
              <a:t>modes</a:t>
            </a:r>
            <a:r>
              <a:rPr spc="150" dirty="0"/>
              <a:t> </a:t>
            </a:r>
            <a:r>
              <a:rPr spc="50" dirty="0"/>
              <a:t>can</a:t>
            </a:r>
            <a:r>
              <a:rPr spc="145" dirty="0"/>
              <a:t> </a:t>
            </a:r>
            <a:r>
              <a:rPr dirty="0"/>
              <a:t>be</a:t>
            </a:r>
            <a:r>
              <a:rPr spc="150" dirty="0"/>
              <a:t> </a:t>
            </a:r>
            <a:r>
              <a:rPr spc="100" dirty="0"/>
              <a:t>written</a:t>
            </a:r>
            <a:r>
              <a:rPr spc="150" dirty="0"/>
              <a:t> </a:t>
            </a:r>
            <a:r>
              <a:rPr dirty="0"/>
              <a:t>as</a:t>
            </a:r>
            <a:r>
              <a:rPr spc="145" dirty="0"/>
              <a:t> </a:t>
            </a:r>
            <a:r>
              <a:rPr spc="50" dirty="0"/>
              <a:t>geometrics.</a:t>
            </a:r>
          </a:p>
          <a:p>
            <a:pPr marL="186055" indent="-17272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186055" algn="l"/>
              </a:tabLst>
            </a:pPr>
            <a:r>
              <a:rPr spc="60" dirty="0"/>
              <a:t>Unit-</a:t>
            </a:r>
            <a:r>
              <a:rPr spc="75" dirty="0"/>
              <a:t>sample</a:t>
            </a:r>
            <a:r>
              <a:rPr spc="190" dirty="0"/>
              <a:t> </a:t>
            </a:r>
            <a:r>
              <a:rPr dirty="0"/>
              <a:t>response</a:t>
            </a:r>
            <a:r>
              <a:rPr spc="195" dirty="0"/>
              <a:t> </a:t>
            </a:r>
            <a:r>
              <a:rPr dirty="0"/>
              <a:t>is</a:t>
            </a:r>
            <a:r>
              <a:rPr spc="195" dirty="0"/>
              <a:t> </a:t>
            </a:r>
            <a:r>
              <a:rPr i="1" spc="-20" dirty="0">
                <a:latin typeface="Georgia"/>
                <a:cs typeface="Georgia"/>
              </a:rPr>
              <a:t>y</a:t>
            </a:r>
            <a:r>
              <a:rPr spc="-20" dirty="0">
                <a:latin typeface="Palatino Linotype"/>
                <a:cs typeface="Palatino Linotype"/>
              </a:rPr>
              <a:t>[</a:t>
            </a:r>
            <a:r>
              <a:rPr i="1" spc="-20" dirty="0">
                <a:latin typeface="Georgia"/>
                <a:cs typeface="Georgia"/>
              </a:rPr>
              <a:t>n</a:t>
            </a:r>
            <a:r>
              <a:rPr spc="-20" dirty="0">
                <a:latin typeface="Palatino Linotype"/>
                <a:cs typeface="Palatino Linotype"/>
              </a:rPr>
              <a:t>]</a:t>
            </a:r>
            <a:r>
              <a:rPr spc="55" dirty="0">
                <a:latin typeface="Palatino Linotype"/>
                <a:cs typeface="Palatino Linotype"/>
              </a:rPr>
              <a:t> </a:t>
            </a:r>
            <a:r>
              <a:rPr dirty="0">
                <a:latin typeface="Palatino Linotype"/>
                <a:cs typeface="Palatino Linotype"/>
              </a:rPr>
              <a:t>:</a:t>
            </a:r>
            <a:r>
              <a:rPr spc="60" dirty="0">
                <a:latin typeface="Palatino Linotype"/>
                <a:cs typeface="Palatino Linotype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70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1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70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1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70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1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70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1</a:t>
            </a:r>
            <a:r>
              <a:rPr spc="-80" dirty="0">
                <a:latin typeface="Palatino Linotype"/>
                <a:cs typeface="Palatino Linotype"/>
              </a:rPr>
              <a:t> </a:t>
            </a:r>
            <a:r>
              <a:rPr i="1" dirty="0">
                <a:latin typeface="Georgia"/>
                <a:cs typeface="Georgia"/>
              </a:rPr>
              <a:t>.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i="1" dirty="0">
                <a:latin typeface="Georgia"/>
                <a:cs typeface="Georgia"/>
              </a:rPr>
              <a:t>.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i="1" spc="-50" dirty="0">
                <a:latin typeface="Georgia"/>
                <a:cs typeface="Georgia"/>
              </a:rPr>
              <a:t>.</a:t>
            </a:r>
          </a:p>
          <a:p>
            <a:pPr marL="185420" indent="-17272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185420" algn="l"/>
              </a:tabLst>
            </a:pPr>
            <a:r>
              <a:rPr spc="60" dirty="0"/>
              <a:t>Unit-</a:t>
            </a:r>
            <a:r>
              <a:rPr spc="75" dirty="0"/>
              <a:t>sample</a:t>
            </a:r>
            <a:r>
              <a:rPr spc="190" dirty="0"/>
              <a:t> </a:t>
            </a:r>
            <a:r>
              <a:rPr dirty="0"/>
              <a:t>response</a:t>
            </a:r>
            <a:r>
              <a:rPr spc="195" dirty="0"/>
              <a:t> </a:t>
            </a:r>
            <a:r>
              <a:rPr dirty="0"/>
              <a:t>is</a:t>
            </a:r>
            <a:r>
              <a:rPr spc="195" dirty="0"/>
              <a:t> </a:t>
            </a:r>
            <a:r>
              <a:rPr i="1" spc="-20" dirty="0">
                <a:latin typeface="Georgia"/>
                <a:cs typeface="Georgia"/>
              </a:rPr>
              <a:t>y</a:t>
            </a:r>
            <a:r>
              <a:rPr spc="-20" dirty="0">
                <a:latin typeface="Palatino Linotype"/>
                <a:cs typeface="Palatino Linotype"/>
              </a:rPr>
              <a:t>[</a:t>
            </a:r>
            <a:r>
              <a:rPr i="1" spc="-20" dirty="0">
                <a:latin typeface="Georgia"/>
                <a:cs typeface="Georgia"/>
              </a:rPr>
              <a:t>n</a:t>
            </a:r>
            <a:r>
              <a:rPr spc="-20" dirty="0">
                <a:latin typeface="Palatino Linotype"/>
                <a:cs typeface="Palatino Linotype"/>
              </a:rPr>
              <a:t>]</a:t>
            </a:r>
            <a:r>
              <a:rPr spc="55" dirty="0">
                <a:latin typeface="Palatino Linotype"/>
                <a:cs typeface="Palatino Linotype"/>
              </a:rPr>
              <a:t> </a:t>
            </a:r>
            <a:r>
              <a:rPr dirty="0">
                <a:latin typeface="Palatino Linotype"/>
                <a:cs typeface="Palatino Linotype"/>
              </a:rPr>
              <a:t>:</a:t>
            </a:r>
            <a:r>
              <a:rPr spc="60" dirty="0">
                <a:latin typeface="Palatino Linotype"/>
                <a:cs typeface="Palatino Linotype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1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70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1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70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1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70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1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70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1</a:t>
            </a:r>
            <a:r>
              <a:rPr spc="-80" dirty="0">
                <a:latin typeface="Palatino Linotype"/>
                <a:cs typeface="Palatino Linotype"/>
              </a:rPr>
              <a:t> </a:t>
            </a:r>
            <a:r>
              <a:rPr i="1" dirty="0">
                <a:latin typeface="Georgia"/>
                <a:cs typeface="Georgia"/>
              </a:rPr>
              <a:t>.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i="1" dirty="0">
                <a:latin typeface="Georgia"/>
                <a:cs typeface="Georgia"/>
              </a:rPr>
              <a:t>.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i="1" spc="-50" dirty="0">
                <a:latin typeface="Georgia"/>
                <a:cs typeface="Georgia"/>
              </a:rPr>
              <a:t>.</a:t>
            </a:r>
          </a:p>
          <a:p>
            <a:pPr marL="184785" marR="6350" indent="-172720">
              <a:lnSpc>
                <a:spcPct val="121000"/>
              </a:lnSpc>
              <a:spcBef>
                <a:spcPts val="300"/>
              </a:spcBef>
              <a:buAutoNum type="arabicPeriod"/>
              <a:tabLst>
                <a:tab pos="186055" algn="l"/>
              </a:tabLst>
            </a:pPr>
            <a:r>
              <a:rPr spc="85" dirty="0"/>
              <a:t>One</a:t>
            </a:r>
            <a:r>
              <a:rPr spc="310" dirty="0"/>
              <a:t> </a:t>
            </a:r>
            <a:r>
              <a:rPr spc="90" dirty="0"/>
              <a:t>of</a:t>
            </a:r>
            <a:r>
              <a:rPr spc="315" dirty="0"/>
              <a:t> </a:t>
            </a:r>
            <a:r>
              <a:rPr spc="85" dirty="0"/>
              <a:t>the</a:t>
            </a:r>
            <a:r>
              <a:rPr spc="310" dirty="0"/>
              <a:t> </a:t>
            </a:r>
            <a:r>
              <a:rPr spc="75" dirty="0"/>
              <a:t>fundamental</a:t>
            </a:r>
            <a:r>
              <a:rPr spc="310" dirty="0"/>
              <a:t> </a:t>
            </a:r>
            <a:r>
              <a:rPr spc="55" dirty="0"/>
              <a:t>modes</a:t>
            </a:r>
            <a:r>
              <a:rPr spc="320" dirty="0"/>
              <a:t> </a:t>
            </a:r>
            <a:r>
              <a:rPr spc="90" dirty="0"/>
              <a:t>of</a:t>
            </a:r>
            <a:r>
              <a:rPr spc="315" dirty="0"/>
              <a:t> </a:t>
            </a:r>
            <a:r>
              <a:rPr spc="70" dirty="0"/>
              <a:t>this</a:t>
            </a:r>
            <a:r>
              <a:rPr spc="315" dirty="0"/>
              <a:t> </a:t>
            </a:r>
            <a:r>
              <a:rPr spc="55" dirty="0"/>
              <a:t>system</a:t>
            </a:r>
            <a:r>
              <a:rPr spc="315" dirty="0"/>
              <a:t> </a:t>
            </a:r>
            <a:r>
              <a:rPr dirty="0"/>
              <a:t>is</a:t>
            </a:r>
            <a:r>
              <a:rPr spc="320" dirty="0"/>
              <a:t> </a:t>
            </a:r>
            <a:r>
              <a:rPr spc="85" dirty="0"/>
              <a:t>the</a:t>
            </a:r>
            <a:r>
              <a:rPr spc="315" dirty="0"/>
              <a:t> </a:t>
            </a:r>
            <a:r>
              <a:rPr spc="75" dirty="0"/>
              <a:t>unit 	</a:t>
            </a:r>
            <a:r>
              <a:rPr spc="50" dirty="0"/>
              <a:t>step.</a:t>
            </a:r>
          </a:p>
        </p:txBody>
      </p:sp>
      <p:sp>
        <p:nvSpPr>
          <p:cNvPr id="32" name="object 32"/>
          <p:cNvSpPr/>
          <p:nvPr/>
        </p:nvSpPr>
        <p:spPr>
          <a:xfrm>
            <a:off x="129061" y="491702"/>
            <a:ext cx="4803140" cy="2445385"/>
          </a:xfrm>
          <a:custGeom>
            <a:avLst/>
            <a:gdLst/>
            <a:ahLst/>
            <a:cxnLst/>
            <a:rect l="l" t="t" r="r" b="b"/>
            <a:pathLst>
              <a:path w="4803140" h="2445385">
                <a:moveTo>
                  <a:pt x="69583" y="2445042"/>
                </a:moveTo>
                <a:lnTo>
                  <a:pt x="4733302" y="2445042"/>
                </a:lnTo>
                <a:lnTo>
                  <a:pt x="4773530" y="2434169"/>
                </a:lnTo>
                <a:lnTo>
                  <a:pt x="4794188" y="2410250"/>
                </a:lnTo>
                <a:lnTo>
                  <a:pt x="4801798" y="2386331"/>
                </a:lnTo>
                <a:lnTo>
                  <a:pt x="4802886" y="2375458"/>
                </a:lnTo>
                <a:lnTo>
                  <a:pt x="4802886" y="69596"/>
                </a:lnTo>
                <a:lnTo>
                  <a:pt x="4792013" y="29360"/>
                </a:lnTo>
                <a:lnTo>
                  <a:pt x="4768094" y="8699"/>
                </a:lnTo>
                <a:lnTo>
                  <a:pt x="4744175" y="1087"/>
                </a:lnTo>
                <a:lnTo>
                  <a:pt x="4733302" y="0"/>
                </a:lnTo>
                <a:lnTo>
                  <a:pt x="69583" y="0"/>
                </a:lnTo>
                <a:lnTo>
                  <a:pt x="29355" y="10874"/>
                </a:lnTo>
                <a:lnTo>
                  <a:pt x="8697" y="34798"/>
                </a:lnTo>
                <a:lnTo>
                  <a:pt x="1087" y="58721"/>
                </a:lnTo>
                <a:lnTo>
                  <a:pt x="0" y="69596"/>
                </a:lnTo>
                <a:lnTo>
                  <a:pt x="0" y="2375458"/>
                </a:lnTo>
                <a:lnTo>
                  <a:pt x="10872" y="2415686"/>
                </a:lnTo>
                <a:lnTo>
                  <a:pt x="34791" y="2436344"/>
                </a:lnTo>
                <a:lnTo>
                  <a:pt x="58710" y="2443954"/>
                </a:lnTo>
                <a:lnTo>
                  <a:pt x="69583" y="2445042"/>
                </a:lnTo>
                <a:close/>
              </a:path>
            </a:pathLst>
          </a:custGeom>
          <a:ln w="505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0" dirty="0"/>
              <a:t>Check</a:t>
            </a:r>
            <a:r>
              <a:rPr spc="215" dirty="0"/>
              <a:t> </a:t>
            </a:r>
            <a:r>
              <a:rPr spc="50" dirty="0"/>
              <a:t>Yourself</a:t>
            </a:r>
          </a:p>
        </p:txBody>
      </p:sp>
      <p:sp>
        <p:nvSpPr>
          <p:cNvPr id="3" name="object 3"/>
          <p:cNvSpPr/>
          <p:nvPr/>
        </p:nvSpPr>
        <p:spPr>
          <a:xfrm>
            <a:off x="129061" y="491702"/>
            <a:ext cx="4803140" cy="2445385"/>
          </a:xfrm>
          <a:custGeom>
            <a:avLst/>
            <a:gdLst/>
            <a:ahLst/>
            <a:cxnLst/>
            <a:rect l="l" t="t" r="r" b="b"/>
            <a:pathLst>
              <a:path w="4803140" h="2445385">
                <a:moveTo>
                  <a:pt x="4733302" y="0"/>
                </a:moveTo>
                <a:lnTo>
                  <a:pt x="69583" y="0"/>
                </a:lnTo>
                <a:lnTo>
                  <a:pt x="29355" y="10874"/>
                </a:lnTo>
                <a:lnTo>
                  <a:pt x="8697" y="34798"/>
                </a:lnTo>
                <a:lnTo>
                  <a:pt x="1087" y="58721"/>
                </a:lnTo>
                <a:lnTo>
                  <a:pt x="0" y="69596"/>
                </a:lnTo>
                <a:lnTo>
                  <a:pt x="0" y="2375458"/>
                </a:lnTo>
                <a:lnTo>
                  <a:pt x="10872" y="2415686"/>
                </a:lnTo>
                <a:lnTo>
                  <a:pt x="34791" y="2436344"/>
                </a:lnTo>
                <a:lnTo>
                  <a:pt x="58710" y="2443954"/>
                </a:lnTo>
                <a:lnTo>
                  <a:pt x="69583" y="2445042"/>
                </a:lnTo>
                <a:lnTo>
                  <a:pt x="4733302" y="2445042"/>
                </a:lnTo>
                <a:lnTo>
                  <a:pt x="4773530" y="2434169"/>
                </a:lnTo>
                <a:lnTo>
                  <a:pt x="4794188" y="2410250"/>
                </a:lnTo>
                <a:lnTo>
                  <a:pt x="4801798" y="2386331"/>
                </a:lnTo>
                <a:lnTo>
                  <a:pt x="4802886" y="2375458"/>
                </a:lnTo>
                <a:lnTo>
                  <a:pt x="4802886" y="69596"/>
                </a:lnTo>
                <a:lnTo>
                  <a:pt x="4792013" y="29360"/>
                </a:lnTo>
                <a:lnTo>
                  <a:pt x="4768094" y="8699"/>
                </a:lnTo>
                <a:lnTo>
                  <a:pt x="4744175" y="1087"/>
                </a:lnTo>
                <a:lnTo>
                  <a:pt x="473330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27289" y="567380"/>
            <a:ext cx="1435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62711" y="567380"/>
            <a:ext cx="1435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98134" y="567380"/>
            <a:ext cx="1435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195" dirty="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22511" y="554621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250" dirty="0">
                <a:latin typeface="Palatino Linotype"/>
                <a:cs typeface="Palatino Linotype"/>
              </a:rPr>
              <a:t>+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76489" y="560653"/>
            <a:ext cx="245110" cy="222250"/>
          </a:xfrm>
          <a:custGeom>
            <a:avLst/>
            <a:gdLst/>
            <a:ahLst/>
            <a:cxnLst/>
            <a:rect l="l" t="t" r="r" b="b"/>
            <a:pathLst>
              <a:path w="245110" h="222250">
                <a:moveTo>
                  <a:pt x="0" y="222105"/>
                </a:moveTo>
                <a:lnTo>
                  <a:pt x="244954" y="222105"/>
                </a:lnTo>
                <a:lnTo>
                  <a:pt x="244954" y="0"/>
                </a:lnTo>
                <a:lnTo>
                  <a:pt x="0" y="0"/>
                </a:lnTo>
                <a:lnTo>
                  <a:pt x="0" y="222105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11943" y="560653"/>
            <a:ext cx="245110" cy="222250"/>
          </a:xfrm>
          <a:custGeom>
            <a:avLst/>
            <a:gdLst/>
            <a:ahLst/>
            <a:cxnLst/>
            <a:rect l="l" t="t" r="r" b="b"/>
            <a:pathLst>
              <a:path w="245110" h="222250">
                <a:moveTo>
                  <a:pt x="0" y="222105"/>
                </a:moveTo>
                <a:lnTo>
                  <a:pt x="244954" y="222105"/>
                </a:lnTo>
                <a:lnTo>
                  <a:pt x="244954" y="0"/>
                </a:lnTo>
                <a:lnTo>
                  <a:pt x="0" y="0"/>
                </a:lnTo>
                <a:lnTo>
                  <a:pt x="0" y="222105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47397" y="560653"/>
            <a:ext cx="245110" cy="222250"/>
          </a:xfrm>
          <a:custGeom>
            <a:avLst/>
            <a:gdLst/>
            <a:ahLst/>
            <a:cxnLst/>
            <a:rect l="l" t="t" r="r" b="b"/>
            <a:pathLst>
              <a:path w="245110" h="222250">
                <a:moveTo>
                  <a:pt x="0" y="222105"/>
                </a:moveTo>
                <a:lnTo>
                  <a:pt x="244954" y="222105"/>
                </a:lnTo>
                <a:lnTo>
                  <a:pt x="244954" y="0"/>
                </a:lnTo>
                <a:lnTo>
                  <a:pt x="0" y="0"/>
                </a:lnTo>
                <a:lnTo>
                  <a:pt x="0" y="222105"/>
                </a:lnTo>
                <a:close/>
              </a:path>
            </a:pathLst>
          </a:custGeom>
          <a:ln w="12652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495824" y="568699"/>
            <a:ext cx="2058670" cy="363855"/>
            <a:chOff x="1495824" y="568699"/>
            <a:chExt cx="2058670" cy="363855"/>
          </a:xfrm>
        </p:grpSpPr>
        <p:sp>
          <p:nvSpPr>
            <p:cNvPr id="12" name="object 12"/>
            <p:cNvSpPr/>
            <p:nvPr/>
          </p:nvSpPr>
          <p:spPr>
            <a:xfrm>
              <a:off x="1692674" y="575049"/>
              <a:ext cx="193675" cy="193675"/>
            </a:xfrm>
            <a:custGeom>
              <a:avLst/>
              <a:gdLst/>
              <a:ahLst/>
              <a:cxnLst/>
              <a:rect l="l" t="t" r="r" b="b"/>
              <a:pathLst>
                <a:path w="193675" h="193675">
                  <a:moveTo>
                    <a:pt x="193314" y="96657"/>
                  </a:moveTo>
                  <a:lnTo>
                    <a:pt x="185718" y="59033"/>
                  </a:lnTo>
                  <a:lnTo>
                    <a:pt x="165004" y="28310"/>
                  </a:lnTo>
                  <a:lnTo>
                    <a:pt x="134280" y="7595"/>
                  </a:lnTo>
                  <a:lnTo>
                    <a:pt x="96657" y="0"/>
                  </a:lnTo>
                  <a:lnTo>
                    <a:pt x="59033" y="7595"/>
                  </a:lnTo>
                  <a:lnTo>
                    <a:pt x="28310" y="28310"/>
                  </a:lnTo>
                  <a:lnTo>
                    <a:pt x="7595" y="59033"/>
                  </a:lnTo>
                  <a:lnTo>
                    <a:pt x="0" y="96657"/>
                  </a:lnTo>
                  <a:lnTo>
                    <a:pt x="7595" y="134280"/>
                  </a:lnTo>
                  <a:lnTo>
                    <a:pt x="28310" y="165004"/>
                  </a:lnTo>
                  <a:lnTo>
                    <a:pt x="59033" y="185718"/>
                  </a:lnTo>
                  <a:lnTo>
                    <a:pt x="96657" y="193314"/>
                  </a:lnTo>
                  <a:lnTo>
                    <a:pt x="134280" y="185718"/>
                  </a:lnTo>
                  <a:lnTo>
                    <a:pt x="165004" y="165004"/>
                  </a:lnTo>
                  <a:lnTo>
                    <a:pt x="185718" y="134280"/>
                  </a:lnTo>
                  <a:lnTo>
                    <a:pt x="193314" y="96657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02174" y="671706"/>
              <a:ext cx="165735" cy="0"/>
            </a:xfrm>
            <a:custGeom>
              <a:avLst/>
              <a:gdLst/>
              <a:ahLst/>
              <a:cxnLst/>
              <a:rect l="l" t="t" r="r" b="b"/>
              <a:pathLst>
                <a:path w="165735">
                  <a:moveTo>
                    <a:pt x="0" y="0"/>
                  </a:moveTo>
                  <a:lnTo>
                    <a:pt x="165196" y="0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08925" y="64749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5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08925" y="647496"/>
              <a:ext cx="442595" cy="48895"/>
            </a:xfrm>
            <a:custGeom>
              <a:avLst/>
              <a:gdLst/>
              <a:ahLst/>
              <a:cxnLst/>
              <a:rect l="l" t="t" r="r" b="b"/>
              <a:pathLst>
                <a:path w="442594" h="48895">
                  <a:moveTo>
                    <a:pt x="0" y="48419"/>
                  </a:moveTo>
                  <a:lnTo>
                    <a:pt x="58446" y="24209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  <a:path w="442594" h="48895">
                  <a:moveTo>
                    <a:pt x="277064" y="24209"/>
                  </a:moveTo>
                  <a:lnTo>
                    <a:pt x="442260" y="242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92739" y="64749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5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92739" y="647496"/>
              <a:ext cx="494030" cy="48895"/>
            </a:xfrm>
            <a:custGeom>
              <a:avLst/>
              <a:gdLst/>
              <a:ahLst/>
              <a:cxnLst/>
              <a:rect l="l" t="t" r="r" b="b"/>
              <a:pathLst>
                <a:path w="494030" h="48895">
                  <a:moveTo>
                    <a:pt x="0" y="48419"/>
                  </a:moveTo>
                  <a:lnTo>
                    <a:pt x="58446" y="24209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  <a:path w="494030" h="48895">
                  <a:moveTo>
                    <a:pt x="328703" y="24209"/>
                  </a:moveTo>
                  <a:lnTo>
                    <a:pt x="493900" y="242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28193" y="64749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5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28193" y="647496"/>
              <a:ext cx="494030" cy="48895"/>
            </a:xfrm>
            <a:custGeom>
              <a:avLst/>
              <a:gdLst/>
              <a:ahLst/>
              <a:cxnLst/>
              <a:rect l="l" t="t" r="r" b="b"/>
              <a:pathLst>
                <a:path w="494030" h="48895">
                  <a:moveTo>
                    <a:pt x="0" y="48419"/>
                  </a:moveTo>
                  <a:lnTo>
                    <a:pt x="58446" y="24209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  <a:path w="494030" h="48895">
                  <a:moveTo>
                    <a:pt x="328703" y="24209"/>
                  </a:moveTo>
                  <a:lnTo>
                    <a:pt x="493900" y="242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63647" y="64749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5" h="48895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863647" y="647496"/>
              <a:ext cx="684530" cy="48895"/>
            </a:xfrm>
            <a:custGeom>
              <a:avLst/>
              <a:gdLst/>
              <a:ahLst/>
              <a:cxnLst/>
              <a:rect l="l" t="t" r="r" b="b"/>
              <a:pathLst>
                <a:path w="684529" h="48895">
                  <a:moveTo>
                    <a:pt x="0" y="48419"/>
                  </a:moveTo>
                  <a:lnTo>
                    <a:pt x="58446" y="24209"/>
                  </a:lnTo>
                  <a:lnTo>
                    <a:pt x="0" y="0"/>
                  </a:lnTo>
                  <a:lnTo>
                    <a:pt x="0" y="48419"/>
                  </a:lnTo>
                  <a:close/>
                </a:path>
                <a:path w="684529" h="48895">
                  <a:moveTo>
                    <a:pt x="328703" y="24209"/>
                  </a:moveTo>
                  <a:lnTo>
                    <a:pt x="684397" y="24209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489598" y="647496"/>
              <a:ext cx="59055" cy="48895"/>
            </a:xfrm>
            <a:custGeom>
              <a:avLst/>
              <a:gdLst/>
              <a:ahLst/>
              <a:cxnLst/>
              <a:rect l="l" t="t" r="r" b="b"/>
              <a:pathLst>
                <a:path w="59054" h="48895">
                  <a:moveTo>
                    <a:pt x="0" y="0"/>
                  </a:moveTo>
                  <a:lnTo>
                    <a:pt x="0" y="48419"/>
                  </a:lnTo>
                  <a:lnTo>
                    <a:pt x="58446" y="24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89332" y="647496"/>
              <a:ext cx="1758950" cy="278765"/>
            </a:xfrm>
            <a:custGeom>
              <a:avLst/>
              <a:gdLst/>
              <a:ahLst/>
              <a:cxnLst/>
              <a:rect l="l" t="t" r="r" b="b"/>
              <a:pathLst>
                <a:path w="1758950" h="278765">
                  <a:moveTo>
                    <a:pt x="1700266" y="48419"/>
                  </a:moveTo>
                  <a:lnTo>
                    <a:pt x="1758712" y="24209"/>
                  </a:lnTo>
                  <a:lnTo>
                    <a:pt x="1700266" y="0"/>
                  </a:lnTo>
                  <a:lnTo>
                    <a:pt x="1700266" y="48419"/>
                  </a:lnTo>
                  <a:close/>
                </a:path>
                <a:path w="1758950" h="278765">
                  <a:moveTo>
                    <a:pt x="1593519" y="24209"/>
                  </a:moveTo>
                  <a:lnTo>
                    <a:pt x="1593519" y="278209"/>
                  </a:lnTo>
                  <a:lnTo>
                    <a:pt x="0" y="278209"/>
                  </a:lnTo>
                  <a:lnTo>
                    <a:pt x="0" y="146172"/>
                  </a:lnTo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65122" y="793668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24210" y="0"/>
                  </a:moveTo>
                  <a:lnTo>
                    <a:pt x="0" y="58447"/>
                  </a:lnTo>
                  <a:lnTo>
                    <a:pt x="48420" y="58447"/>
                  </a:lnTo>
                  <a:lnTo>
                    <a:pt x="2421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122" y="793668"/>
              <a:ext cx="48895" cy="59055"/>
            </a:xfrm>
            <a:custGeom>
              <a:avLst/>
              <a:gdLst/>
              <a:ahLst/>
              <a:cxnLst/>
              <a:rect l="l" t="t" r="r" b="b"/>
              <a:pathLst>
                <a:path w="48894" h="59055">
                  <a:moveTo>
                    <a:pt x="48420" y="58447"/>
                  </a:moveTo>
                  <a:lnTo>
                    <a:pt x="24210" y="0"/>
                  </a:lnTo>
                  <a:lnTo>
                    <a:pt x="0" y="58447"/>
                  </a:lnTo>
                  <a:lnTo>
                    <a:pt x="48420" y="58447"/>
                  </a:lnTo>
                  <a:close/>
                </a:path>
              </a:pathLst>
            </a:custGeom>
            <a:ln w="1265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312457" y="567380"/>
            <a:ext cx="14097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65" dirty="0">
                <a:latin typeface="Georgia"/>
                <a:cs typeface="Georgia"/>
              </a:rPr>
              <a:t>X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11490" y="567380"/>
            <a:ext cx="10668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Georgia"/>
                <a:cs typeface="Georgia"/>
              </a:rPr>
              <a:t>Y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05555" y="1054371"/>
            <a:ext cx="4450080" cy="358140"/>
            <a:chOff x="305555" y="1054371"/>
            <a:chExt cx="4450080" cy="358140"/>
          </a:xfrm>
        </p:grpSpPr>
        <p:sp>
          <p:nvSpPr>
            <p:cNvPr id="29" name="object 29"/>
            <p:cNvSpPr/>
            <p:nvPr/>
          </p:nvSpPr>
          <p:spPr>
            <a:xfrm>
              <a:off x="308095" y="1056911"/>
              <a:ext cx="4445000" cy="353060"/>
            </a:xfrm>
            <a:custGeom>
              <a:avLst/>
              <a:gdLst/>
              <a:ahLst/>
              <a:cxnLst/>
              <a:rect l="l" t="t" r="r" b="b"/>
              <a:pathLst>
                <a:path w="4445000" h="353059">
                  <a:moveTo>
                    <a:pt x="4375238" y="0"/>
                  </a:moveTo>
                  <a:lnTo>
                    <a:pt x="69583" y="0"/>
                  </a:lnTo>
                  <a:lnTo>
                    <a:pt x="29355" y="10874"/>
                  </a:lnTo>
                  <a:lnTo>
                    <a:pt x="8697" y="34797"/>
                  </a:lnTo>
                  <a:lnTo>
                    <a:pt x="1087" y="58721"/>
                  </a:lnTo>
                  <a:lnTo>
                    <a:pt x="0" y="69595"/>
                  </a:lnTo>
                  <a:lnTo>
                    <a:pt x="0" y="283425"/>
                  </a:lnTo>
                  <a:lnTo>
                    <a:pt x="10872" y="323653"/>
                  </a:lnTo>
                  <a:lnTo>
                    <a:pt x="34791" y="344311"/>
                  </a:lnTo>
                  <a:lnTo>
                    <a:pt x="58710" y="351921"/>
                  </a:lnTo>
                  <a:lnTo>
                    <a:pt x="69583" y="353009"/>
                  </a:lnTo>
                  <a:lnTo>
                    <a:pt x="4375238" y="353009"/>
                  </a:lnTo>
                  <a:lnTo>
                    <a:pt x="4415466" y="342136"/>
                  </a:lnTo>
                  <a:lnTo>
                    <a:pt x="4436124" y="318217"/>
                  </a:lnTo>
                  <a:lnTo>
                    <a:pt x="4443734" y="294298"/>
                  </a:lnTo>
                  <a:lnTo>
                    <a:pt x="4444822" y="283425"/>
                  </a:lnTo>
                  <a:lnTo>
                    <a:pt x="4444822" y="69595"/>
                  </a:lnTo>
                  <a:lnTo>
                    <a:pt x="4433949" y="29360"/>
                  </a:lnTo>
                  <a:lnTo>
                    <a:pt x="4410030" y="8699"/>
                  </a:lnTo>
                  <a:lnTo>
                    <a:pt x="4386111" y="1087"/>
                  </a:lnTo>
                  <a:lnTo>
                    <a:pt x="4375238" y="0"/>
                  </a:lnTo>
                  <a:close/>
                </a:path>
              </a:pathLst>
            </a:custGeom>
            <a:solidFill>
              <a:srgbClr val="B2FF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8095" y="1056911"/>
              <a:ext cx="4445000" cy="353060"/>
            </a:xfrm>
            <a:custGeom>
              <a:avLst/>
              <a:gdLst/>
              <a:ahLst/>
              <a:cxnLst/>
              <a:rect l="l" t="t" r="r" b="b"/>
              <a:pathLst>
                <a:path w="4445000" h="353059">
                  <a:moveTo>
                    <a:pt x="69583" y="353009"/>
                  </a:moveTo>
                  <a:lnTo>
                    <a:pt x="4375238" y="353009"/>
                  </a:lnTo>
                  <a:lnTo>
                    <a:pt x="4415466" y="342136"/>
                  </a:lnTo>
                  <a:lnTo>
                    <a:pt x="4436124" y="318217"/>
                  </a:lnTo>
                  <a:lnTo>
                    <a:pt x="4443734" y="294298"/>
                  </a:lnTo>
                  <a:lnTo>
                    <a:pt x="4444822" y="283425"/>
                  </a:lnTo>
                  <a:lnTo>
                    <a:pt x="4444822" y="69595"/>
                  </a:lnTo>
                  <a:lnTo>
                    <a:pt x="4433949" y="29360"/>
                  </a:lnTo>
                  <a:lnTo>
                    <a:pt x="4410030" y="8699"/>
                  </a:lnTo>
                  <a:lnTo>
                    <a:pt x="4386111" y="1087"/>
                  </a:lnTo>
                  <a:lnTo>
                    <a:pt x="4375238" y="0"/>
                  </a:lnTo>
                  <a:lnTo>
                    <a:pt x="69583" y="0"/>
                  </a:lnTo>
                  <a:lnTo>
                    <a:pt x="29355" y="10874"/>
                  </a:lnTo>
                  <a:lnTo>
                    <a:pt x="8697" y="34797"/>
                  </a:lnTo>
                  <a:lnTo>
                    <a:pt x="1087" y="58721"/>
                  </a:lnTo>
                  <a:lnTo>
                    <a:pt x="0" y="69595"/>
                  </a:lnTo>
                  <a:lnTo>
                    <a:pt x="0" y="283425"/>
                  </a:lnTo>
                  <a:lnTo>
                    <a:pt x="10872" y="323653"/>
                  </a:lnTo>
                  <a:lnTo>
                    <a:pt x="34791" y="344311"/>
                  </a:lnTo>
                  <a:lnTo>
                    <a:pt x="58710" y="351921"/>
                  </a:lnTo>
                  <a:lnTo>
                    <a:pt x="69583" y="353009"/>
                  </a:lnTo>
                  <a:close/>
                </a:path>
              </a:pathLst>
            </a:custGeom>
            <a:ln w="505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95"/>
              </a:spcBef>
            </a:pPr>
            <a:r>
              <a:rPr spc="75" dirty="0"/>
              <a:t>How</a:t>
            </a:r>
            <a:r>
              <a:rPr spc="165" dirty="0"/>
              <a:t> </a:t>
            </a:r>
            <a:r>
              <a:rPr spc="70" dirty="0"/>
              <a:t>many</a:t>
            </a:r>
            <a:r>
              <a:rPr spc="165" dirty="0"/>
              <a:t> </a:t>
            </a:r>
            <a:r>
              <a:rPr spc="90" dirty="0"/>
              <a:t>of</a:t>
            </a:r>
            <a:r>
              <a:rPr spc="170" dirty="0"/>
              <a:t> </a:t>
            </a:r>
            <a:r>
              <a:rPr spc="85" dirty="0"/>
              <a:t>the</a:t>
            </a:r>
            <a:r>
              <a:rPr spc="165" dirty="0"/>
              <a:t> </a:t>
            </a:r>
            <a:r>
              <a:rPr spc="65" dirty="0"/>
              <a:t>following</a:t>
            </a:r>
            <a:r>
              <a:rPr spc="165" dirty="0"/>
              <a:t> </a:t>
            </a:r>
            <a:r>
              <a:rPr spc="75" dirty="0"/>
              <a:t>statements</a:t>
            </a:r>
            <a:r>
              <a:rPr spc="170" dirty="0"/>
              <a:t> </a:t>
            </a:r>
            <a:r>
              <a:rPr dirty="0"/>
              <a:t>are</a:t>
            </a:r>
            <a:r>
              <a:rPr spc="165" dirty="0"/>
              <a:t> </a:t>
            </a:r>
            <a:r>
              <a:rPr spc="75" dirty="0"/>
              <a:t>true?</a:t>
            </a:r>
            <a:r>
              <a:rPr spc="315" dirty="0"/>
              <a:t> </a:t>
            </a:r>
            <a:r>
              <a:rPr spc="15" dirty="0">
                <a:solidFill>
                  <a:srgbClr val="FF0000"/>
                </a:solidFill>
              </a:rPr>
              <a:t>4</a:t>
            </a:r>
          </a:p>
          <a:p>
            <a:pPr marL="186055" indent="-172720">
              <a:lnSpc>
                <a:spcPct val="100000"/>
              </a:lnSpc>
              <a:spcBef>
                <a:spcPts val="1215"/>
              </a:spcBef>
              <a:buClr>
                <a:srgbClr val="000000"/>
              </a:buClr>
              <a:buAutoNum type="arabicPeriod"/>
              <a:tabLst>
                <a:tab pos="186055" algn="l"/>
              </a:tabLst>
            </a:pPr>
            <a:r>
              <a:rPr spc="95" dirty="0">
                <a:solidFill>
                  <a:srgbClr val="FF0000"/>
                </a:solidFill>
              </a:rPr>
              <a:t>This</a:t>
            </a:r>
            <a:r>
              <a:rPr spc="170" dirty="0">
                <a:solidFill>
                  <a:srgbClr val="FF0000"/>
                </a:solidFill>
              </a:rPr>
              <a:t> </a:t>
            </a:r>
            <a:r>
              <a:rPr spc="50" dirty="0">
                <a:solidFill>
                  <a:srgbClr val="FF0000"/>
                </a:solidFill>
              </a:rPr>
              <a:t>system</a:t>
            </a:r>
            <a:r>
              <a:rPr spc="17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has</a:t>
            </a:r>
            <a:r>
              <a:rPr spc="175" dirty="0">
                <a:solidFill>
                  <a:srgbClr val="FF0000"/>
                </a:solidFill>
              </a:rPr>
              <a:t> </a:t>
            </a:r>
            <a:r>
              <a:rPr spc="65" dirty="0">
                <a:solidFill>
                  <a:srgbClr val="FF0000"/>
                </a:solidFill>
              </a:rPr>
              <a:t>3</a:t>
            </a:r>
            <a:r>
              <a:rPr spc="180" dirty="0">
                <a:solidFill>
                  <a:srgbClr val="FF0000"/>
                </a:solidFill>
              </a:rPr>
              <a:t> </a:t>
            </a:r>
            <a:r>
              <a:rPr spc="75" dirty="0">
                <a:solidFill>
                  <a:srgbClr val="FF0000"/>
                </a:solidFill>
              </a:rPr>
              <a:t>fundamental</a:t>
            </a:r>
            <a:r>
              <a:rPr spc="170" dirty="0">
                <a:solidFill>
                  <a:srgbClr val="FF0000"/>
                </a:solidFill>
              </a:rPr>
              <a:t> </a:t>
            </a:r>
            <a:r>
              <a:rPr spc="45" dirty="0">
                <a:solidFill>
                  <a:srgbClr val="FF0000"/>
                </a:solidFill>
              </a:rPr>
              <a:t>modes.</a:t>
            </a:r>
          </a:p>
          <a:p>
            <a:pPr marL="186055" indent="-172720">
              <a:lnSpc>
                <a:spcPct val="100000"/>
              </a:lnSpc>
              <a:spcBef>
                <a:spcPts val="580"/>
              </a:spcBef>
              <a:buClr>
                <a:srgbClr val="000000"/>
              </a:buClr>
              <a:buAutoNum type="arabicPeriod"/>
              <a:tabLst>
                <a:tab pos="186055" algn="l"/>
              </a:tabLst>
            </a:pPr>
            <a:r>
              <a:rPr spc="80" dirty="0">
                <a:solidFill>
                  <a:srgbClr val="FF0000"/>
                </a:solidFill>
              </a:rPr>
              <a:t>All</a:t>
            </a:r>
            <a:r>
              <a:rPr spc="160" dirty="0">
                <a:solidFill>
                  <a:srgbClr val="FF0000"/>
                </a:solidFill>
              </a:rPr>
              <a:t> </a:t>
            </a:r>
            <a:r>
              <a:rPr spc="90" dirty="0">
                <a:solidFill>
                  <a:srgbClr val="FF0000"/>
                </a:solidFill>
              </a:rPr>
              <a:t>of</a:t>
            </a:r>
            <a:r>
              <a:rPr spc="160" dirty="0">
                <a:solidFill>
                  <a:srgbClr val="FF0000"/>
                </a:solidFill>
              </a:rPr>
              <a:t> </a:t>
            </a:r>
            <a:r>
              <a:rPr spc="85" dirty="0">
                <a:solidFill>
                  <a:srgbClr val="FF0000"/>
                </a:solidFill>
              </a:rPr>
              <a:t>the</a:t>
            </a:r>
            <a:r>
              <a:rPr spc="160" dirty="0">
                <a:solidFill>
                  <a:srgbClr val="FF0000"/>
                </a:solidFill>
              </a:rPr>
              <a:t> </a:t>
            </a:r>
            <a:r>
              <a:rPr spc="75" dirty="0">
                <a:solidFill>
                  <a:srgbClr val="FF0000"/>
                </a:solidFill>
              </a:rPr>
              <a:t>fundamental</a:t>
            </a:r>
            <a:r>
              <a:rPr spc="160" dirty="0">
                <a:solidFill>
                  <a:srgbClr val="FF0000"/>
                </a:solidFill>
              </a:rPr>
              <a:t> </a:t>
            </a:r>
            <a:r>
              <a:rPr spc="55" dirty="0">
                <a:solidFill>
                  <a:srgbClr val="FF0000"/>
                </a:solidFill>
              </a:rPr>
              <a:t>modes</a:t>
            </a:r>
            <a:r>
              <a:rPr spc="16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can</a:t>
            </a:r>
            <a:r>
              <a:rPr spc="16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be</a:t>
            </a:r>
            <a:r>
              <a:rPr spc="165" dirty="0">
                <a:solidFill>
                  <a:srgbClr val="FF0000"/>
                </a:solidFill>
              </a:rPr>
              <a:t> </a:t>
            </a:r>
            <a:r>
              <a:rPr spc="100" dirty="0">
                <a:solidFill>
                  <a:srgbClr val="FF0000"/>
                </a:solidFill>
              </a:rPr>
              <a:t>written</a:t>
            </a:r>
            <a:r>
              <a:rPr spc="16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as</a:t>
            </a:r>
            <a:r>
              <a:rPr spc="160" dirty="0">
                <a:solidFill>
                  <a:srgbClr val="FF0000"/>
                </a:solidFill>
              </a:rPr>
              <a:t> </a:t>
            </a:r>
            <a:r>
              <a:rPr spc="55" dirty="0">
                <a:solidFill>
                  <a:srgbClr val="FF0000"/>
                </a:solidFill>
              </a:rPr>
              <a:t>geometrics.</a:t>
            </a:r>
          </a:p>
          <a:p>
            <a:pPr marL="186055" indent="-17272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AutoNum type="arabicPeriod"/>
              <a:tabLst>
                <a:tab pos="186055" algn="l"/>
              </a:tabLst>
            </a:pPr>
            <a:r>
              <a:rPr spc="60" dirty="0">
                <a:solidFill>
                  <a:srgbClr val="FF0000"/>
                </a:solidFill>
              </a:rPr>
              <a:t>Unit-</a:t>
            </a:r>
            <a:r>
              <a:rPr spc="75" dirty="0">
                <a:solidFill>
                  <a:srgbClr val="FF0000"/>
                </a:solidFill>
              </a:rPr>
              <a:t>sample</a:t>
            </a:r>
            <a:r>
              <a:rPr spc="19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response</a:t>
            </a:r>
            <a:r>
              <a:rPr spc="19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is</a:t>
            </a:r>
            <a:r>
              <a:rPr spc="195" dirty="0">
                <a:solidFill>
                  <a:srgbClr val="FF0000"/>
                </a:solidFill>
              </a:rPr>
              <a:t> </a:t>
            </a:r>
            <a:r>
              <a:rPr i="1" spc="-20" dirty="0">
                <a:solidFill>
                  <a:srgbClr val="FF0000"/>
                </a:solidFill>
                <a:latin typeface="Georgia"/>
                <a:cs typeface="Georgia"/>
              </a:rPr>
              <a:t>y</a:t>
            </a:r>
            <a:r>
              <a:rPr spc="-20" dirty="0">
                <a:solidFill>
                  <a:srgbClr val="FF0000"/>
                </a:solidFill>
                <a:latin typeface="Palatino Linotype"/>
                <a:cs typeface="Palatino Linotype"/>
              </a:rPr>
              <a:t>[</a:t>
            </a:r>
            <a:r>
              <a:rPr i="1" spc="-20" dirty="0">
                <a:solidFill>
                  <a:srgbClr val="FF0000"/>
                </a:solidFill>
                <a:latin typeface="Georgia"/>
                <a:cs typeface="Georgia"/>
              </a:rPr>
              <a:t>n</a:t>
            </a:r>
            <a:r>
              <a:rPr spc="-20" dirty="0">
                <a:solidFill>
                  <a:srgbClr val="FF0000"/>
                </a:solidFill>
                <a:latin typeface="Palatino Linotype"/>
                <a:cs typeface="Palatino Linotype"/>
              </a:rPr>
              <a:t>]</a:t>
            </a:r>
            <a:r>
              <a:rPr spc="6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>
                <a:solidFill>
                  <a:srgbClr val="FF0000"/>
                </a:solidFill>
                <a:latin typeface="Palatino Linotype"/>
                <a:cs typeface="Palatino Linotype"/>
              </a:rPr>
              <a:t>:</a:t>
            </a:r>
            <a:r>
              <a:rPr spc="5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pc="-10" dirty="0">
                <a:solidFill>
                  <a:srgbClr val="FF0000"/>
                </a:solidFill>
                <a:latin typeface="Palatino Linotype"/>
                <a:cs typeface="Palatino Linotype"/>
              </a:rPr>
              <a:t>0</a:t>
            </a:r>
            <a:r>
              <a:rPr i="1" spc="-10" dirty="0">
                <a:solidFill>
                  <a:srgbClr val="FF0000"/>
                </a:solidFill>
                <a:latin typeface="Georgia"/>
                <a:cs typeface="Georgia"/>
              </a:rPr>
              <a:t>,</a:t>
            </a:r>
            <a:r>
              <a:rPr i="1" spc="-7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pc="-10" dirty="0">
                <a:solidFill>
                  <a:srgbClr val="FF0000"/>
                </a:solidFill>
                <a:latin typeface="Palatino Linotype"/>
                <a:cs typeface="Palatino Linotype"/>
              </a:rPr>
              <a:t>0</a:t>
            </a:r>
            <a:r>
              <a:rPr i="1" spc="-10" dirty="0">
                <a:solidFill>
                  <a:srgbClr val="FF0000"/>
                </a:solidFill>
                <a:latin typeface="Georgia"/>
                <a:cs typeface="Georgia"/>
              </a:rPr>
              <a:t>,</a:t>
            </a:r>
            <a:r>
              <a:rPr i="1" spc="-6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pc="-10" dirty="0">
                <a:solidFill>
                  <a:srgbClr val="FF0000"/>
                </a:solidFill>
                <a:latin typeface="Palatino Linotype"/>
                <a:cs typeface="Palatino Linotype"/>
              </a:rPr>
              <a:t>0</a:t>
            </a:r>
            <a:r>
              <a:rPr i="1" spc="-10" dirty="0">
                <a:solidFill>
                  <a:srgbClr val="FF0000"/>
                </a:solidFill>
                <a:latin typeface="Georgia"/>
                <a:cs typeface="Georgia"/>
              </a:rPr>
              <a:t>,</a:t>
            </a:r>
            <a:r>
              <a:rPr i="1" spc="-6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pc="-10" dirty="0">
                <a:solidFill>
                  <a:srgbClr val="FF0000"/>
                </a:solidFill>
                <a:latin typeface="Palatino Linotype"/>
                <a:cs typeface="Palatino Linotype"/>
              </a:rPr>
              <a:t>1</a:t>
            </a:r>
            <a:r>
              <a:rPr i="1" spc="-10" dirty="0">
                <a:solidFill>
                  <a:srgbClr val="FF0000"/>
                </a:solidFill>
                <a:latin typeface="Georgia"/>
                <a:cs typeface="Georgia"/>
              </a:rPr>
              <a:t>,</a:t>
            </a:r>
            <a:r>
              <a:rPr i="1" spc="-7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pc="-10" dirty="0">
                <a:solidFill>
                  <a:srgbClr val="FF0000"/>
                </a:solidFill>
                <a:latin typeface="Palatino Linotype"/>
                <a:cs typeface="Palatino Linotype"/>
              </a:rPr>
              <a:t>0</a:t>
            </a:r>
            <a:r>
              <a:rPr i="1" spc="-10" dirty="0">
                <a:solidFill>
                  <a:srgbClr val="FF0000"/>
                </a:solidFill>
                <a:latin typeface="Georgia"/>
                <a:cs typeface="Georgia"/>
              </a:rPr>
              <a:t>,</a:t>
            </a:r>
            <a:r>
              <a:rPr i="1" spc="-6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pc="-10" dirty="0">
                <a:solidFill>
                  <a:srgbClr val="FF0000"/>
                </a:solidFill>
                <a:latin typeface="Palatino Linotype"/>
                <a:cs typeface="Palatino Linotype"/>
              </a:rPr>
              <a:t>0</a:t>
            </a:r>
            <a:r>
              <a:rPr i="1" spc="-10" dirty="0">
                <a:solidFill>
                  <a:srgbClr val="FF0000"/>
                </a:solidFill>
                <a:latin typeface="Georgia"/>
                <a:cs typeface="Georgia"/>
              </a:rPr>
              <a:t>,</a:t>
            </a:r>
            <a:r>
              <a:rPr i="1" spc="-6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pc="-10" dirty="0">
                <a:solidFill>
                  <a:srgbClr val="FF0000"/>
                </a:solidFill>
                <a:latin typeface="Palatino Linotype"/>
                <a:cs typeface="Palatino Linotype"/>
              </a:rPr>
              <a:t>1</a:t>
            </a:r>
            <a:r>
              <a:rPr i="1" spc="-10" dirty="0">
                <a:solidFill>
                  <a:srgbClr val="FF0000"/>
                </a:solidFill>
                <a:latin typeface="Georgia"/>
                <a:cs typeface="Georgia"/>
              </a:rPr>
              <a:t>,</a:t>
            </a:r>
            <a:r>
              <a:rPr i="1" spc="-7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pc="-10" dirty="0">
                <a:solidFill>
                  <a:srgbClr val="FF0000"/>
                </a:solidFill>
                <a:latin typeface="Palatino Linotype"/>
                <a:cs typeface="Palatino Linotype"/>
              </a:rPr>
              <a:t>0</a:t>
            </a:r>
            <a:r>
              <a:rPr i="1" spc="-10" dirty="0">
                <a:solidFill>
                  <a:srgbClr val="FF0000"/>
                </a:solidFill>
                <a:latin typeface="Georgia"/>
                <a:cs typeface="Georgia"/>
              </a:rPr>
              <a:t>,</a:t>
            </a:r>
            <a:r>
              <a:rPr i="1" spc="-6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pc="-10" dirty="0">
                <a:solidFill>
                  <a:srgbClr val="FF0000"/>
                </a:solidFill>
                <a:latin typeface="Palatino Linotype"/>
                <a:cs typeface="Palatino Linotype"/>
              </a:rPr>
              <a:t>0</a:t>
            </a:r>
            <a:r>
              <a:rPr i="1" spc="-10" dirty="0">
                <a:solidFill>
                  <a:srgbClr val="FF0000"/>
                </a:solidFill>
                <a:latin typeface="Georgia"/>
                <a:cs typeface="Georgia"/>
              </a:rPr>
              <a:t>,</a:t>
            </a:r>
            <a:r>
              <a:rPr i="1" spc="-6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pc="-10" dirty="0">
                <a:solidFill>
                  <a:srgbClr val="FF0000"/>
                </a:solidFill>
                <a:latin typeface="Palatino Linotype"/>
                <a:cs typeface="Palatino Linotype"/>
              </a:rPr>
              <a:t>1</a:t>
            </a:r>
            <a:r>
              <a:rPr i="1" spc="-10" dirty="0">
                <a:solidFill>
                  <a:srgbClr val="FF0000"/>
                </a:solidFill>
                <a:latin typeface="Georgia"/>
                <a:cs typeface="Georgia"/>
              </a:rPr>
              <a:t>,</a:t>
            </a:r>
            <a:r>
              <a:rPr i="1" spc="-7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pc="-10" dirty="0">
                <a:solidFill>
                  <a:srgbClr val="FF0000"/>
                </a:solidFill>
                <a:latin typeface="Palatino Linotype"/>
                <a:cs typeface="Palatino Linotype"/>
              </a:rPr>
              <a:t>0</a:t>
            </a:r>
            <a:r>
              <a:rPr i="1" spc="-10" dirty="0">
                <a:solidFill>
                  <a:srgbClr val="FF0000"/>
                </a:solidFill>
                <a:latin typeface="Georgia"/>
                <a:cs typeface="Georgia"/>
              </a:rPr>
              <a:t>,</a:t>
            </a:r>
            <a:r>
              <a:rPr i="1" spc="-6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pc="-10" dirty="0">
                <a:solidFill>
                  <a:srgbClr val="FF0000"/>
                </a:solidFill>
                <a:latin typeface="Palatino Linotype"/>
                <a:cs typeface="Palatino Linotype"/>
              </a:rPr>
              <a:t>0</a:t>
            </a:r>
            <a:r>
              <a:rPr i="1" spc="-10" dirty="0">
                <a:solidFill>
                  <a:srgbClr val="FF0000"/>
                </a:solidFill>
                <a:latin typeface="Georgia"/>
                <a:cs typeface="Georgia"/>
              </a:rPr>
              <a:t>,</a:t>
            </a:r>
            <a:r>
              <a:rPr i="1" spc="-6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pc="-10" dirty="0">
                <a:solidFill>
                  <a:srgbClr val="FF0000"/>
                </a:solidFill>
                <a:latin typeface="Palatino Linotype"/>
                <a:cs typeface="Palatino Linotype"/>
              </a:rPr>
              <a:t>1</a:t>
            </a:r>
            <a:r>
              <a:rPr spc="-8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i="1" dirty="0">
                <a:solidFill>
                  <a:srgbClr val="FF0000"/>
                </a:solidFill>
                <a:latin typeface="Georgia"/>
                <a:cs typeface="Georgia"/>
              </a:rPr>
              <a:t>.</a:t>
            </a:r>
            <a:r>
              <a:rPr i="1" spc="-6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i="1" dirty="0">
                <a:solidFill>
                  <a:srgbClr val="FF0000"/>
                </a:solidFill>
                <a:latin typeface="Georgia"/>
                <a:cs typeface="Georgia"/>
              </a:rPr>
              <a:t>.</a:t>
            </a:r>
            <a:r>
              <a:rPr i="1" spc="-6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i="1" spc="-50" dirty="0">
                <a:solidFill>
                  <a:srgbClr val="FF0000"/>
                </a:solidFill>
                <a:latin typeface="Georgia"/>
                <a:cs typeface="Georgia"/>
              </a:rPr>
              <a:t>.</a:t>
            </a:r>
          </a:p>
          <a:p>
            <a:pPr marL="185420" indent="-17272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185420" algn="l"/>
              </a:tabLst>
            </a:pPr>
            <a:r>
              <a:rPr spc="60" dirty="0"/>
              <a:t>Unit-</a:t>
            </a:r>
            <a:r>
              <a:rPr spc="75" dirty="0"/>
              <a:t>sample</a:t>
            </a:r>
            <a:r>
              <a:rPr spc="190" dirty="0"/>
              <a:t> </a:t>
            </a:r>
            <a:r>
              <a:rPr dirty="0"/>
              <a:t>response</a:t>
            </a:r>
            <a:r>
              <a:rPr spc="195" dirty="0"/>
              <a:t> </a:t>
            </a:r>
            <a:r>
              <a:rPr dirty="0"/>
              <a:t>is</a:t>
            </a:r>
            <a:r>
              <a:rPr spc="195" dirty="0"/>
              <a:t> </a:t>
            </a:r>
            <a:r>
              <a:rPr i="1" spc="-20" dirty="0">
                <a:latin typeface="Georgia"/>
                <a:cs typeface="Georgia"/>
              </a:rPr>
              <a:t>y</a:t>
            </a:r>
            <a:r>
              <a:rPr spc="-20" dirty="0">
                <a:latin typeface="Palatino Linotype"/>
                <a:cs typeface="Palatino Linotype"/>
              </a:rPr>
              <a:t>[</a:t>
            </a:r>
            <a:r>
              <a:rPr i="1" spc="-20" dirty="0">
                <a:latin typeface="Georgia"/>
                <a:cs typeface="Georgia"/>
              </a:rPr>
              <a:t>n</a:t>
            </a:r>
            <a:r>
              <a:rPr spc="-20" dirty="0">
                <a:latin typeface="Palatino Linotype"/>
                <a:cs typeface="Palatino Linotype"/>
              </a:rPr>
              <a:t>]</a:t>
            </a:r>
            <a:r>
              <a:rPr spc="55" dirty="0">
                <a:latin typeface="Palatino Linotype"/>
                <a:cs typeface="Palatino Linotype"/>
              </a:rPr>
              <a:t> </a:t>
            </a:r>
            <a:r>
              <a:rPr dirty="0">
                <a:latin typeface="Palatino Linotype"/>
                <a:cs typeface="Palatino Linotype"/>
              </a:rPr>
              <a:t>:</a:t>
            </a:r>
            <a:r>
              <a:rPr spc="60" dirty="0">
                <a:latin typeface="Palatino Linotype"/>
                <a:cs typeface="Palatino Linotype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1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70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1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70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1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70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1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70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0</a:t>
            </a:r>
            <a:r>
              <a:rPr i="1" spc="-10" dirty="0">
                <a:latin typeface="Georgia"/>
                <a:cs typeface="Georgia"/>
              </a:rPr>
              <a:t>,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spc="-10" dirty="0">
                <a:latin typeface="Palatino Linotype"/>
                <a:cs typeface="Palatino Linotype"/>
              </a:rPr>
              <a:t>1</a:t>
            </a:r>
            <a:r>
              <a:rPr spc="-80" dirty="0">
                <a:latin typeface="Palatino Linotype"/>
                <a:cs typeface="Palatino Linotype"/>
              </a:rPr>
              <a:t> </a:t>
            </a:r>
            <a:r>
              <a:rPr i="1" dirty="0">
                <a:latin typeface="Georgia"/>
                <a:cs typeface="Georgia"/>
              </a:rPr>
              <a:t>.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i="1" dirty="0">
                <a:latin typeface="Georgia"/>
                <a:cs typeface="Georgia"/>
              </a:rPr>
              <a:t>.</a:t>
            </a:r>
            <a:r>
              <a:rPr i="1" spc="-65" dirty="0">
                <a:latin typeface="Georgia"/>
                <a:cs typeface="Georgia"/>
              </a:rPr>
              <a:t> </a:t>
            </a:r>
            <a:r>
              <a:rPr i="1" spc="-50" dirty="0">
                <a:latin typeface="Georgia"/>
                <a:cs typeface="Georgia"/>
              </a:rPr>
              <a:t>.</a:t>
            </a:r>
          </a:p>
          <a:p>
            <a:pPr marL="184785" marR="5715" indent="-172720">
              <a:lnSpc>
                <a:spcPct val="121000"/>
              </a:lnSpc>
              <a:spcBef>
                <a:spcPts val="300"/>
              </a:spcBef>
              <a:buClr>
                <a:srgbClr val="000000"/>
              </a:buClr>
              <a:buAutoNum type="arabicPeriod"/>
              <a:tabLst>
                <a:tab pos="186055" algn="l"/>
              </a:tabLst>
            </a:pPr>
            <a:r>
              <a:rPr spc="85" dirty="0">
                <a:solidFill>
                  <a:srgbClr val="FF0000"/>
                </a:solidFill>
              </a:rPr>
              <a:t>One</a:t>
            </a:r>
            <a:r>
              <a:rPr spc="310" dirty="0">
                <a:solidFill>
                  <a:srgbClr val="FF0000"/>
                </a:solidFill>
              </a:rPr>
              <a:t> </a:t>
            </a:r>
            <a:r>
              <a:rPr spc="90" dirty="0">
                <a:solidFill>
                  <a:srgbClr val="FF0000"/>
                </a:solidFill>
              </a:rPr>
              <a:t>of</a:t>
            </a:r>
            <a:r>
              <a:rPr spc="315" dirty="0">
                <a:solidFill>
                  <a:srgbClr val="FF0000"/>
                </a:solidFill>
              </a:rPr>
              <a:t> </a:t>
            </a:r>
            <a:r>
              <a:rPr spc="85" dirty="0">
                <a:solidFill>
                  <a:srgbClr val="FF0000"/>
                </a:solidFill>
              </a:rPr>
              <a:t>the</a:t>
            </a:r>
            <a:r>
              <a:rPr spc="315" dirty="0">
                <a:solidFill>
                  <a:srgbClr val="FF0000"/>
                </a:solidFill>
              </a:rPr>
              <a:t> </a:t>
            </a:r>
            <a:r>
              <a:rPr spc="75" dirty="0">
                <a:solidFill>
                  <a:srgbClr val="FF0000"/>
                </a:solidFill>
              </a:rPr>
              <a:t>fundamental</a:t>
            </a:r>
            <a:r>
              <a:rPr spc="305" dirty="0">
                <a:solidFill>
                  <a:srgbClr val="FF0000"/>
                </a:solidFill>
              </a:rPr>
              <a:t> </a:t>
            </a:r>
            <a:r>
              <a:rPr spc="55" dirty="0">
                <a:solidFill>
                  <a:srgbClr val="FF0000"/>
                </a:solidFill>
              </a:rPr>
              <a:t>modes</a:t>
            </a:r>
            <a:r>
              <a:rPr spc="320" dirty="0">
                <a:solidFill>
                  <a:srgbClr val="FF0000"/>
                </a:solidFill>
              </a:rPr>
              <a:t> </a:t>
            </a:r>
            <a:r>
              <a:rPr spc="90" dirty="0">
                <a:solidFill>
                  <a:srgbClr val="FF0000"/>
                </a:solidFill>
              </a:rPr>
              <a:t>of</a:t>
            </a:r>
            <a:r>
              <a:rPr spc="315" dirty="0">
                <a:solidFill>
                  <a:srgbClr val="FF0000"/>
                </a:solidFill>
              </a:rPr>
              <a:t> </a:t>
            </a:r>
            <a:r>
              <a:rPr spc="70" dirty="0">
                <a:solidFill>
                  <a:srgbClr val="FF0000"/>
                </a:solidFill>
              </a:rPr>
              <a:t>this</a:t>
            </a:r>
            <a:r>
              <a:rPr spc="315" dirty="0">
                <a:solidFill>
                  <a:srgbClr val="FF0000"/>
                </a:solidFill>
              </a:rPr>
              <a:t> </a:t>
            </a:r>
            <a:r>
              <a:rPr spc="55" dirty="0">
                <a:solidFill>
                  <a:srgbClr val="FF0000"/>
                </a:solidFill>
              </a:rPr>
              <a:t>system</a:t>
            </a:r>
            <a:r>
              <a:rPr spc="31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is</a:t>
            </a:r>
            <a:r>
              <a:rPr spc="320" dirty="0">
                <a:solidFill>
                  <a:srgbClr val="FF0000"/>
                </a:solidFill>
              </a:rPr>
              <a:t> </a:t>
            </a:r>
            <a:r>
              <a:rPr spc="85" dirty="0">
                <a:solidFill>
                  <a:srgbClr val="FF0000"/>
                </a:solidFill>
              </a:rPr>
              <a:t>the</a:t>
            </a:r>
            <a:r>
              <a:rPr spc="315" dirty="0">
                <a:solidFill>
                  <a:srgbClr val="FF0000"/>
                </a:solidFill>
              </a:rPr>
              <a:t> </a:t>
            </a:r>
            <a:r>
              <a:rPr spc="75" dirty="0">
                <a:solidFill>
                  <a:srgbClr val="FF0000"/>
                </a:solidFill>
              </a:rPr>
              <a:t>unit 	</a:t>
            </a:r>
            <a:r>
              <a:rPr spc="50" dirty="0">
                <a:solidFill>
                  <a:srgbClr val="FF0000"/>
                </a:solidFill>
              </a:rPr>
              <a:t>step.</a:t>
            </a:r>
          </a:p>
        </p:txBody>
      </p:sp>
      <p:sp>
        <p:nvSpPr>
          <p:cNvPr id="32" name="object 32"/>
          <p:cNvSpPr/>
          <p:nvPr/>
        </p:nvSpPr>
        <p:spPr>
          <a:xfrm>
            <a:off x="129061" y="491702"/>
            <a:ext cx="4803140" cy="2445385"/>
          </a:xfrm>
          <a:custGeom>
            <a:avLst/>
            <a:gdLst/>
            <a:ahLst/>
            <a:cxnLst/>
            <a:rect l="l" t="t" r="r" b="b"/>
            <a:pathLst>
              <a:path w="4803140" h="2445385">
                <a:moveTo>
                  <a:pt x="69583" y="2445042"/>
                </a:moveTo>
                <a:lnTo>
                  <a:pt x="4733302" y="2445042"/>
                </a:lnTo>
                <a:lnTo>
                  <a:pt x="4773530" y="2434169"/>
                </a:lnTo>
                <a:lnTo>
                  <a:pt x="4794188" y="2410250"/>
                </a:lnTo>
                <a:lnTo>
                  <a:pt x="4801798" y="2386331"/>
                </a:lnTo>
                <a:lnTo>
                  <a:pt x="4802886" y="2375458"/>
                </a:lnTo>
                <a:lnTo>
                  <a:pt x="4802886" y="69596"/>
                </a:lnTo>
                <a:lnTo>
                  <a:pt x="4792013" y="29360"/>
                </a:lnTo>
                <a:lnTo>
                  <a:pt x="4768094" y="8699"/>
                </a:lnTo>
                <a:lnTo>
                  <a:pt x="4744175" y="1087"/>
                </a:lnTo>
                <a:lnTo>
                  <a:pt x="4733302" y="0"/>
                </a:lnTo>
                <a:lnTo>
                  <a:pt x="69583" y="0"/>
                </a:lnTo>
                <a:lnTo>
                  <a:pt x="29355" y="10874"/>
                </a:lnTo>
                <a:lnTo>
                  <a:pt x="8697" y="34798"/>
                </a:lnTo>
                <a:lnTo>
                  <a:pt x="1087" y="58721"/>
                </a:lnTo>
                <a:lnTo>
                  <a:pt x="0" y="69596"/>
                </a:lnTo>
                <a:lnTo>
                  <a:pt x="0" y="2375458"/>
                </a:lnTo>
                <a:lnTo>
                  <a:pt x="10872" y="2415686"/>
                </a:lnTo>
                <a:lnTo>
                  <a:pt x="34791" y="2436344"/>
                </a:lnTo>
                <a:lnTo>
                  <a:pt x="58710" y="2443954"/>
                </a:lnTo>
                <a:lnTo>
                  <a:pt x="69583" y="2445042"/>
                </a:lnTo>
                <a:close/>
              </a:path>
            </a:pathLst>
          </a:custGeom>
          <a:ln w="505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0" dirty="0"/>
              <a:t>Summary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13830" y="345358"/>
            <a:ext cx="4834255" cy="2131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>
              <a:lnSpc>
                <a:spcPct val="121000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Systems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spc="60" dirty="0">
                <a:latin typeface="Arial"/>
                <a:cs typeface="Arial"/>
              </a:rPr>
              <a:t>composed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adders,</a:t>
            </a:r>
            <a:r>
              <a:rPr sz="1100" spc="2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gains,</a:t>
            </a:r>
            <a:r>
              <a:rPr sz="1100" spc="21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and</a:t>
            </a:r>
            <a:r>
              <a:rPr sz="1100" spc="18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delays</a:t>
            </a:r>
            <a:r>
              <a:rPr sz="1100" spc="19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can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spc="45" dirty="0">
                <a:latin typeface="Arial"/>
                <a:cs typeface="Arial"/>
              </a:rPr>
              <a:t>characterized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spc="80" dirty="0">
                <a:latin typeface="Arial"/>
                <a:cs typeface="Arial"/>
              </a:rPr>
              <a:t>their</a:t>
            </a:r>
            <a:r>
              <a:rPr sz="1100" spc="19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poles.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120" dirty="0">
                <a:latin typeface="Arial"/>
                <a:cs typeface="Arial"/>
              </a:rPr>
              <a:t>The</a:t>
            </a:r>
            <a:r>
              <a:rPr sz="1100" spc="18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poles</a:t>
            </a:r>
            <a:r>
              <a:rPr sz="1100" spc="18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8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18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system</a:t>
            </a:r>
            <a:r>
              <a:rPr sz="1100" spc="185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determine</a:t>
            </a:r>
            <a:r>
              <a:rPr sz="1100" spc="180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its</a:t>
            </a:r>
            <a:r>
              <a:rPr sz="1100" spc="185" dirty="0">
                <a:latin typeface="Arial"/>
                <a:cs typeface="Arial"/>
              </a:rPr>
              <a:t> </a:t>
            </a:r>
            <a:r>
              <a:rPr sz="1100" spc="75" dirty="0">
                <a:latin typeface="Arial"/>
                <a:cs typeface="Arial"/>
              </a:rPr>
              <a:t>fundamental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45" dirty="0">
                <a:latin typeface="Arial"/>
                <a:cs typeface="Arial"/>
              </a:rPr>
              <a:t>modes.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100">
              <a:latin typeface="Arial"/>
              <a:cs typeface="Arial"/>
            </a:endParaRPr>
          </a:p>
          <a:p>
            <a:pPr marL="12700" marR="5715">
              <a:lnSpc>
                <a:spcPct val="121000"/>
              </a:lnSpc>
            </a:pPr>
            <a:r>
              <a:rPr sz="1100" spc="120" dirty="0">
                <a:latin typeface="Arial"/>
                <a:cs typeface="Arial"/>
              </a:rPr>
              <a:t>The</a:t>
            </a:r>
            <a:r>
              <a:rPr sz="1100" spc="55" dirty="0">
                <a:latin typeface="Arial"/>
                <a:cs typeface="Arial"/>
              </a:rPr>
              <a:t> unit-</a:t>
            </a:r>
            <a:r>
              <a:rPr sz="1100" spc="75" dirty="0">
                <a:latin typeface="Arial"/>
                <a:cs typeface="Arial"/>
              </a:rPr>
              <a:t>sample</a:t>
            </a:r>
            <a:r>
              <a:rPr sz="1100" spc="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response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6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system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can</a:t>
            </a:r>
            <a:r>
              <a:rPr sz="1100" spc="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expressed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weighted </a:t>
            </a:r>
            <a:r>
              <a:rPr sz="1100" spc="60" dirty="0">
                <a:latin typeface="Arial"/>
                <a:cs typeface="Arial"/>
              </a:rPr>
              <a:t>sum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spc="75" dirty="0">
                <a:latin typeface="Arial"/>
                <a:cs typeface="Arial"/>
              </a:rPr>
              <a:t>fundamental</a:t>
            </a:r>
            <a:r>
              <a:rPr sz="1100" spc="155" dirty="0">
                <a:latin typeface="Arial"/>
                <a:cs typeface="Arial"/>
              </a:rPr>
              <a:t> </a:t>
            </a:r>
            <a:r>
              <a:rPr sz="1100" spc="45" dirty="0">
                <a:latin typeface="Arial"/>
                <a:cs typeface="Arial"/>
              </a:rPr>
              <a:t>modes.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21000"/>
              </a:lnSpc>
            </a:pPr>
            <a:r>
              <a:rPr sz="1100" spc="65" dirty="0">
                <a:latin typeface="Arial"/>
                <a:cs typeface="Arial"/>
              </a:rPr>
              <a:t>These</a:t>
            </a:r>
            <a:r>
              <a:rPr sz="1100" spc="13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properties</a:t>
            </a:r>
            <a:r>
              <a:rPr sz="1100" spc="135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follow</a:t>
            </a:r>
            <a:r>
              <a:rPr sz="1100" spc="130" dirty="0">
                <a:latin typeface="Arial"/>
                <a:cs typeface="Arial"/>
              </a:rPr>
              <a:t> </a:t>
            </a:r>
            <a:r>
              <a:rPr sz="1100" spc="100" dirty="0">
                <a:latin typeface="Arial"/>
                <a:cs typeface="Arial"/>
              </a:rPr>
              <a:t>from</a:t>
            </a:r>
            <a:r>
              <a:rPr sz="1100" spc="1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135" dirty="0">
                <a:latin typeface="Arial"/>
                <a:cs typeface="Arial"/>
              </a:rPr>
              <a:t> </a:t>
            </a:r>
            <a:r>
              <a:rPr sz="1100" spc="70" dirty="0">
                <a:latin typeface="Arial"/>
                <a:cs typeface="Arial"/>
              </a:rPr>
              <a:t>polynomial</a:t>
            </a:r>
            <a:r>
              <a:rPr sz="1100" spc="125" dirty="0">
                <a:latin typeface="Arial"/>
                <a:cs typeface="Arial"/>
              </a:rPr>
              <a:t> </a:t>
            </a:r>
            <a:r>
              <a:rPr sz="1100" spc="80" dirty="0">
                <a:latin typeface="Arial"/>
                <a:cs typeface="Arial"/>
              </a:rPr>
              <a:t>interpretation</a:t>
            </a:r>
            <a:r>
              <a:rPr sz="1100" spc="135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of</a:t>
            </a:r>
            <a:r>
              <a:rPr sz="1100" spc="130" dirty="0">
                <a:latin typeface="Arial"/>
                <a:cs typeface="Arial"/>
              </a:rPr>
              <a:t> </a:t>
            </a:r>
            <a:r>
              <a:rPr sz="1100" spc="85" dirty="0">
                <a:latin typeface="Arial"/>
                <a:cs typeface="Arial"/>
              </a:rPr>
              <a:t>the</a:t>
            </a:r>
            <a:r>
              <a:rPr sz="1100" spc="1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sys­ </a:t>
            </a:r>
            <a:r>
              <a:rPr sz="1100" spc="105" dirty="0">
                <a:latin typeface="Arial"/>
                <a:cs typeface="Arial"/>
              </a:rPr>
              <a:t>tem</a:t>
            </a:r>
            <a:r>
              <a:rPr sz="1100" spc="160" dirty="0">
                <a:latin typeface="Arial"/>
                <a:cs typeface="Arial"/>
              </a:rPr>
              <a:t> </a:t>
            </a:r>
            <a:r>
              <a:rPr sz="1100" spc="65" dirty="0">
                <a:latin typeface="Arial"/>
                <a:cs typeface="Arial"/>
              </a:rPr>
              <a:t>functional.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3442</Words>
  <Application>Microsoft Office PowerPoint</Application>
  <PresentationFormat>Custom</PresentationFormat>
  <Paragraphs>691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Meiryo UI</vt:lpstr>
      <vt:lpstr>Arial</vt:lpstr>
      <vt:lpstr>Calibri</vt:lpstr>
      <vt:lpstr>Georgia</vt:lpstr>
      <vt:lpstr>Graphite Std</vt:lpstr>
      <vt:lpstr>Palatino Linotype</vt:lpstr>
      <vt:lpstr>Times New Roman</vt:lpstr>
      <vt:lpstr>Trebuchet MS</vt:lpstr>
      <vt:lpstr>Office Theme</vt:lpstr>
      <vt:lpstr>PowerPoint Presentation</vt:lpstr>
      <vt:lpstr>                 Feedback, Poles, and Fundamental Modes </vt:lpstr>
      <vt:lpstr>Last Time: Feedback, Cyclic Signal Paths, and Modes</vt:lpstr>
      <vt:lpstr>Last Time: Feedback, Cyclic Signal Paths, and Modes</vt:lpstr>
      <vt:lpstr>Last Time: Feedback, Cyclic Signal Paths, and Modes</vt:lpstr>
      <vt:lpstr>Last Time: Feedback, Cyclic Signal Paths, and Modes</vt:lpstr>
      <vt:lpstr>Last Time: Feedback, Cyclic Signal Paths, and Modes</vt:lpstr>
      <vt:lpstr>Geometric Growth: Poles</vt:lpstr>
      <vt:lpstr>Check Yourself</vt:lpstr>
      <vt:lpstr>Check Yourself</vt:lpstr>
      <vt:lpstr>Geometric Growth</vt:lpstr>
      <vt:lpstr>Second-Order Systems</vt:lpstr>
      <vt:lpstr>Factoring Second-Order Systems</vt:lpstr>
      <vt:lpstr>Factoring Second-Order Systems</vt:lpstr>
      <vt:lpstr>Factoring Second-Order Systems</vt:lpstr>
      <vt:lpstr>Multiplying Polynomial</vt:lpstr>
      <vt:lpstr>Multiplying Polynomials</vt:lpstr>
      <vt:lpstr>Partial Fractions</vt:lpstr>
      <vt:lpstr>Second-Order Systems: Equivalent Forms</vt:lpstr>
      <vt:lpstr>Partial Fractions</vt:lpstr>
      <vt:lpstr>Partial Fractions</vt:lpstr>
      <vt:lpstr>Poles</vt:lpstr>
      <vt:lpstr>Check Yourself</vt:lpstr>
      <vt:lpstr>PowerPoint Presentation</vt:lpstr>
      <vt:lpstr>PowerPoint Presentation</vt:lpstr>
      <vt:lpstr>Check Yourself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Check Yourself</vt:lpstr>
      <vt:lpstr>Check Yourself</vt:lpstr>
      <vt:lpstr>Check Yourself</vt:lpstr>
      <vt:lpstr>Check Yourself</vt:lpstr>
      <vt:lpstr>Example: Fibonacci’s Bunnies</vt:lpstr>
      <vt:lpstr>Example: Fibonacci’s Bunnies</vt:lpstr>
      <vt:lpstr>Complex Poles</vt:lpstr>
      <vt:lpstr>Complex Poles</vt:lpstr>
      <vt:lpstr>Complex Poles</vt:lpstr>
      <vt:lpstr>Complex Poles</vt:lpstr>
      <vt:lpstr>Check Yourself</vt:lpstr>
      <vt:lpstr>Check Yourself</vt:lpstr>
      <vt:lpstr>Check Yourself</vt:lpstr>
      <vt:lpstr>Check Yourself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3: Feedback, poles, and fundamental modes</dc:title>
  <dc:creator>Freeman, Dennis</dc:creator>
  <cp:lastModifiedBy>Nyatega</cp:lastModifiedBy>
  <cp:revision>2</cp:revision>
  <dcterms:created xsi:type="dcterms:W3CDTF">2024-04-15T22:07:26Z</dcterms:created>
  <dcterms:modified xsi:type="dcterms:W3CDTF">2024-04-17T09:46:26Z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Xt.Jobname">
    <vt:lpwstr>lec03</vt:lpwstr>
  </property>
  <property fmtid="{D5CDD505-2E9C-101B-9397-08002B2CF9AE}" pid="3" name="ConTeXt.Time">
    <vt:lpwstr>2011.09.15 11:21</vt:lpwstr>
  </property>
  <property fmtid="{D5CDD505-2E9C-101B-9397-08002B2CF9AE}" pid="4" name="ConTeXt.Url">
    <vt:lpwstr>www.pragma-ade.com</vt:lpwstr>
  </property>
  <property fmtid="{D5CDD505-2E9C-101B-9397-08002B2CF9AE}" pid="5" name="ConTeXt.Version">
    <vt:lpwstr>2009.11.26 16:28</vt:lpwstr>
  </property>
  <property fmtid="{D5CDD505-2E9C-101B-9397-08002B2CF9AE}" pid="6" name="Created">
    <vt:filetime>2011-09-15T00:00:00Z</vt:filetime>
  </property>
  <property fmtid="{D5CDD505-2E9C-101B-9397-08002B2CF9AE}" pid="7" name="Creator">
    <vt:lpwstr>ConTeXt - 2009.11.26 16:28</vt:lpwstr>
  </property>
  <property fmtid="{D5CDD505-2E9C-101B-9397-08002B2CF9AE}" pid="8" name="ID">
    <vt:lpwstr>lec03.20110915</vt:lpwstr>
  </property>
  <property fmtid="{D5CDD505-2E9C-101B-9397-08002B2CF9AE}" pid="9" name="LastSaved">
    <vt:filetime>2024-04-15T00:00:00Z</vt:filetime>
  </property>
  <property fmtid="{D5CDD505-2E9C-101B-9397-08002B2CF9AE}" pid="10" name="PTEX.Fullbanner">
    <vt:lpwstr>This is pdfTeX, Version 3.1415926-1.40.10-2.2 (TeX Live 2009/Debian) kpathsea version 5.0.0</vt:lpwstr>
  </property>
  <property fmtid="{D5CDD505-2E9C-101B-9397-08002B2CF9AE}" pid="11" name="Producer">
    <vt:lpwstr>pdfTeX-1.40.10</vt:lpwstr>
  </property>
</Properties>
</file>