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ELECTRIC FLUX AND GAUSS LAW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GB" sz="3600" b="1" dirty="0" smtClean="0"/>
              <a:t>COULOMB'S LAW AND FIELD INTENSITY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r>
              <a:rPr lang="en-GB" dirty="0" smtClean="0"/>
              <a:t>Coulomb's law is an experimental law formulated in 1785 by the French colonel, </a:t>
            </a:r>
            <a:r>
              <a:rPr lang="en-GB" dirty="0" smtClean="0"/>
              <a:t>Charles </a:t>
            </a:r>
            <a:r>
              <a:rPr lang="en-GB" dirty="0" err="1" smtClean="0"/>
              <a:t>Augustin</a:t>
            </a:r>
            <a:r>
              <a:rPr lang="en-GB" dirty="0" smtClean="0"/>
              <a:t> </a:t>
            </a:r>
            <a:r>
              <a:rPr lang="en-GB" dirty="0" smtClean="0"/>
              <a:t>de Coulomb. </a:t>
            </a:r>
            <a:endParaRPr lang="en-GB" dirty="0" smtClean="0"/>
          </a:p>
          <a:p>
            <a:r>
              <a:rPr lang="en-GB" dirty="0" smtClean="0"/>
              <a:t>It </a:t>
            </a:r>
            <a:r>
              <a:rPr lang="en-GB" dirty="0" smtClean="0"/>
              <a:t>deals with the force a point charge exerts on another point charge.</a:t>
            </a:r>
          </a:p>
          <a:p>
            <a:r>
              <a:rPr lang="en-GB" dirty="0" smtClean="0"/>
              <a:t>By </a:t>
            </a:r>
            <a:r>
              <a:rPr lang="en-GB" i="1" dirty="0" smtClean="0"/>
              <a:t>a point charge we mean a charge that is located on a body whose dimensions are </a:t>
            </a:r>
            <a:r>
              <a:rPr lang="en-GB" i="1" dirty="0" smtClean="0"/>
              <a:t>much </a:t>
            </a:r>
            <a:r>
              <a:rPr lang="en-GB" dirty="0" smtClean="0"/>
              <a:t>smaller </a:t>
            </a:r>
            <a:r>
              <a:rPr lang="en-GB" dirty="0" smtClean="0"/>
              <a:t>than other relevant dimensions.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 smtClean="0"/>
              <a:t>Coulomb's law states that the force </a:t>
            </a:r>
            <a:r>
              <a:rPr lang="en-GB" b="1" dirty="0" smtClean="0"/>
              <a:t>between </a:t>
            </a:r>
            <a:r>
              <a:rPr lang="en-GB" b="1" dirty="0" smtClean="0"/>
              <a:t>two point charges </a:t>
            </a:r>
            <a:r>
              <a:rPr lang="en-GB" b="1" dirty="0" smtClean="0"/>
              <a:t>Q1 </a:t>
            </a:r>
            <a:r>
              <a:rPr lang="en-GB" b="1" dirty="0" smtClean="0"/>
              <a:t>and </a:t>
            </a:r>
            <a:r>
              <a:rPr lang="en-GB" b="1" i="1" dirty="0" smtClean="0"/>
              <a:t>Q2 </a:t>
            </a:r>
            <a:r>
              <a:rPr lang="en-GB" b="1" i="1" dirty="0" smtClean="0"/>
              <a:t>is d</a:t>
            </a:r>
            <a:r>
              <a:rPr lang="en-GB" dirty="0" smtClean="0"/>
              <a:t>irectly </a:t>
            </a:r>
            <a:r>
              <a:rPr lang="en-GB" dirty="0" smtClean="0"/>
              <a:t>proportional to the product </a:t>
            </a:r>
            <a:r>
              <a:rPr lang="en-GB" i="1" dirty="0" smtClean="0"/>
              <a:t>Q1Q2 </a:t>
            </a:r>
            <a:r>
              <a:rPr lang="en-GB" i="1" dirty="0" smtClean="0"/>
              <a:t>of the </a:t>
            </a:r>
            <a:r>
              <a:rPr lang="en-GB" i="1" dirty="0" smtClean="0"/>
              <a:t>charges and </a:t>
            </a:r>
            <a:r>
              <a:rPr lang="en-GB" dirty="0" smtClean="0"/>
              <a:t>Inversely </a:t>
            </a:r>
            <a:r>
              <a:rPr lang="en-GB" dirty="0" smtClean="0"/>
              <a:t>proportional to the square of the distance </a:t>
            </a:r>
            <a:r>
              <a:rPr lang="en-GB" i="1" dirty="0" smtClean="0"/>
              <a:t>R between them</a:t>
            </a:r>
            <a:r>
              <a:rPr lang="en-GB" i="1" dirty="0" smtClean="0"/>
              <a:t>.</a:t>
            </a:r>
          </a:p>
          <a:p>
            <a:endParaRPr lang="en-GB" i="1" dirty="0" smtClean="0"/>
          </a:p>
          <a:p>
            <a:endParaRPr lang="en-GB" i="1" dirty="0" smtClean="0"/>
          </a:p>
          <a:p>
            <a:r>
              <a:rPr lang="en-GB" dirty="0" smtClean="0"/>
              <a:t>where </a:t>
            </a:r>
            <a:r>
              <a:rPr lang="en-GB" i="1" dirty="0" smtClean="0"/>
              <a:t>k is the proportionality constant. In SI units, charges </a:t>
            </a:r>
            <a:r>
              <a:rPr lang="en-GB" i="1" dirty="0" smtClean="0"/>
              <a:t>Q1 </a:t>
            </a:r>
            <a:r>
              <a:rPr lang="en-GB" i="1" dirty="0" smtClean="0"/>
              <a:t>and Q2 are in coulombs (C),</a:t>
            </a:r>
          </a:p>
          <a:p>
            <a:r>
              <a:rPr lang="en-GB" dirty="0" smtClean="0"/>
              <a:t>the distance </a:t>
            </a:r>
            <a:r>
              <a:rPr lang="en-GB" i="1" dirty="0" smtClean="0"/>
              <a:t>R is in meters (m), and the force F is in </a:t>
            </a:r>
            <a:r>
              <a:rPr lang="en-GB" i="1" dirty="0" err="1" smtClean="0"/>
              <a:t>newtons</a:t>
            </a:r>
            <a:r>
              <a:rPr lang="en-GB" i="1" dirty="0" smtClean="0"/>
              <a:t> (N</a:t>
            </a:r>
            <a:r>
              <a:rPr lang="en-GB" i="1" dirty="0" smtClean="0"/>
              <a:t>). </a:t>
            </a:r>
          </a:p>
          <a:p>
            <a:r>
              <a:rPr lang="en-GB" i="1" dirty="0" smtClean="0"/>
              <a:t>The </a:t>
            </a:r>
            <a:r>
              <a:rPr lang="en-GB" dirty="0" smtClean="0"/>
              <a:t>constant £o </a:t>
            </a:r>
            <a:r>
              <a:rPr lang="en-GB" dirty="0" smtClean="0"/>
              <a:t>is known as the </a:t>
            </a:r>
            <a:r>
              <a:rPr lang="en-GB" i="1" dirty="0" smtClean="0"/>
              <a:t>permittivity of free space (in farads per meter) and has the value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2209800"/>
            <a:ext cx="1981200" cy="1040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457200"/>
            <a:ext cx="3733800" cy="1505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0" y="457200"/>
            <a:ext cx="2066925" cy="1054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410200" y="2590800"/>
            <a:ext cx="350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If point charges </a:t>
            </a:r>
            <a:r>
              <a:rPr lang="en-GB" i="1" dirty="0" smtClean="0"/>
              <a:t>Q1 </a:t>
            </a:r>
            <a:r>
              <a:rPr lang="en-GB" i="1" dirty="0" smtClean="0"/>
              <a:t>and Q2 are located at points having position vectors </a:t>
            </a:r>
            <a:r>
              <a:rPr lang="en-GB" i="1" dirty="0" smtClean="0"/>
              <a:t>r1 </a:t>
            </a:r>
            <a:r>
              <a:rPr lang="en-GB" i="1" dirty="0" smtClean="0"/>
              <a:t>and r2, </a:t>
            </a:r>
            <a:r>
              <a:rPr lang="en-GB" i="1" dirty="0" smtClean="0"/>
              <a:t>then </a:t>
            </a:r>
            <a:r>
              <a:rPr lang="en-GB" dirty="0" smtClean="0"/>
              <a:t>the </a:t>
            </a:r>
            <a:r>
              <a:rPr lang="en-GB" dirty="0" smtClean="0"/>
              <a:t>force F12 on </a:t>
            </a:r>
            <a:r>
              <a:rPr lang="en-GB" i="1" dirty="0" smtClean="0"/>
              <a:t>Q2 due to </a:t>
            </a:r>
            <a:r>
              <a:rPr lang="en-GB" i="1" dirty="0" smtClean="0"/>
              <a:t>Q1 </a:t>
            </a:r>
            <a:r>
              <a:rPr lang="en-GB" i="1" dirty="0" smtClean="0"/>
              <a:t>is given by</a:t>
            </a:r>
            <a:endParaRPr lang="en-GB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2438400"/>
            <a:ext cx="36957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0" y="5029200"/>
            <a:ext cx="2119563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867400" y="4267200"/>
            <a:ext cx="1752600" cy="1736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Electric field intensity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</a:t>
            </a:r>
            <a:r>
              <a:rPr lang="en-GB" b="1" dirty="0" smtClean="0"/>
              <a:t>electric field intensity (or electric field strength) K is the force per unit </a:t>
            </a:r>
            <a:r>
              <a:rPr lang="en-GB" b="1" dirty="0" smtClean="0"/>
              <a:t>charge </a:t>
            </a:r>
            <a:r>
              <a:rPr lang="en-GB" dirty="0" smtClean="0"/>
              <a:t>when </a:t>
            </a:r>
            <a:r>
              <a:rPr lang="en-GB" dirty="0" smtClean="0"/>
              <a:t>placed in the electric field.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3505200"/>
            <a:ext cx="1676400" cy="847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3352800"/>
            <a:ext cx="1066800" cy="95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Point charges 1 </a:t>
            </a:r>
            <a:r>
              <a:rPr lang="en-GB" dirty="0" err="1" smtClean="0"/>
              <a:t>mC</a:t>
            </a:r>
            <a:r>
              <a:rPr lang="en-GB" dirty="0" smtClean="0"/>
              <a:t> and - 2 </a:t>
            </a:r>
            <a:r>
              <a:rPr lang="en-GB" dirty="0" err="1" smtClean="0"/>
              <a:t>mC</a:t>
            </a:r>
            <a:r>
              <a:rPr lang="en-GB" dirty="0" smtClean="0"/>
              <a:t> are located at (3, 2, - 1 ) and (—1, —1,4), respectively.</a:t>
            </a:r>
          </a:p>
          <a:p>
            <a:r>
              <a:rPr lang="en-GB" dirty="0" smtClean="0"/>
              <a:t>Calculate the electric force on a 10-nC charge located at (0, 3, 1) and the electric field </a:t>
            </a:r>
            <a:r>
              <a:rPr lang="en-GB" dirty="0" smtClean="0"/>
              <a:t>intensity at </a:t>
            </a:r>
            <a:r>
              <a:rPr lang="en-GB" dirty="0" smtClean="0"/>
              <a:t>that point.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Solution 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752600"/>
            <a:ext cx="3505200" cy="534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2667000"/>
            <a:ext cx="655728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00" y="3505200"/>
            <a:ext cx="4572000" cy="1343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1000" y="5257800"/>
            <a:ext cx="3657600" cy="509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343400" y="4648200"/>
            <a:ext cx="4698332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ELECTRIC FLUX DENSITY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/>
              <a:t>This is the electric flux per unit Area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In SI units, one line of electric flux emanates from +1 C and terminates on - 1 C. </a:t>
            </a:r>
            <a:endParaRPr lang="en-GB" dirty="0" smtClean="0"/>
          </a:p>
          <a:p>
            <a:r>
              <a:rPr lang="en-GB" dirty="0" smtClean="0"/>
              <a:t>Therefore, the </a:t>
            </a:r>
            <a:r>
              <a:rPr lang="en-GB" dirty="0" smtClean="0"/>
              <a:t>electric flux is measured in </a:t>
            </a:r>
            <a:r>
              <a:rPr lang="en-GB" dirty="0" smtClean="0"/>
              <a:t>coulombs.</a:t>
            </a:r>
          </a:p>
          <a:p>
            <a:r>
              <a:rPr lang="en-GB" dirty="0" smtClean="0"/>
              <a:t>Hence</a:t>
            </a:r>
            <a:r>
              <a:rPr lang="en-GB" dirty="0" smtClean="0"/>
              <a:t>, the vector field D is called the </a:t>
            </a:r>
            <a:r>
              <a:rPr lang="en-GB" i="1" dirty="0" smtClean="0"/>
              <a:t>electric flux </a:t>
            </a:r>
            <a:r>
              <a:rPr lang="en-GB" i="1" dirty="0" smtClean="0"/>
              <a:t>density and is measured in coulombs per square meter. </a:t>
            </a:r>
            <a:endParaRPr lang="en-GB" i="1" dirty="0" smtClean="0"/>
          </a:p>
          <a:p>
            <a:r>
              <a:rPr lang="en-GB" i="1" dirty="0" smtClean="0"/>
              <a:t>For </a:t>
            </a:r>
            <a:r>
              <a:rPr lang="en-GB" i="1" dirty="0" smtClean="0"/>
              <a:t>historical reasons, </a:t>
            </a:r>
            <a:r>
              <a:rPr lang="en-GB" i="1" dirty="0" smtClean="0"/>
              <a:t>the </a:t>
            </a:r>
            <a:r>
              <a:rPr lang="en-GB" dirty="0" smtClean="0"/>
              <a:t>electric </a:t>
            </a:r>
            <a:r>
              <a:rPr lang="en-GB" dirty="0" smtClean="0"/>
              <a:t>flux density is also called </a:t>
            </a:r>
            <a:r>
              <a:rPr lang="en-GB" i="1" dirty="0" smtClean="0"/>
              <a:t>electric displacement.</a:t>
            </a:r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2209800"/>
            <a:ext cx="138792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2209800"/>
            <a:ext cx="1219200" cy="615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GAUSS'S </a:t>
            </a:r>
            <a:r>
              <a:rPr lang="en-GB" b="1" dirty="0" smtClean="0"/>
              <a:t>LAW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Gauss's </a:t>
            </a:r>
            <a:r>
              <a:rPr lang="en-GB" b="1" dirty="0" smtClean="0"/>
              <a:t>law stales </a:t>
            </a:r>
            <a:r>
              <a:rPr lang="en-GB" b="1" dirty="0" smtClean="0"/>
              <a:t>that </a:t>
            </a:r>
            <a:r>
              <a:rPr lang="en-GB" b="1" dirty="0" smtClean="0"/>
              <a:t>the </a:t>
            </a:r>
            <a:r>
              <a:rPr lang="en-GB" b="1" dirty="0" smtClean="0"/>
              <a:t>total </a:t>
            </a:r>
            <a:r>
              <a:rPr lang="en-GB" b="1" dirty="0" smtClean="0"/>
              <a:t>electric </a:t>
            </a:r>
            <a:r>
              <a:rPr lang="en-GB" b="1" dirty="0" smtClean="0"/>
              <a:t>flux </a:t>
            </a:r>
            <a:r>
              <a:rPr lang="en-GB" b="1" i="1" dirty="0" smtClean="0"/>
              <a:t>V through any closed surface is equal </a:t>
            </a:r>
            <a:r>
              <a:rPr lang="en-GB" b="1" i="1" dirty="0" smtClean="0"/>
              <a:t>to </a:t>
            </a:r>
            <a:r>
              <a:rPr lang="en-GB" dirty="0" smtClean="0"/>
              <a:t>the </a:t>
            </a:r>
            <a:r>
              <a:rPr lang="en-GB" dirty="0" smtClean="0"/>
              <a:t>total charge enclosed by that surface.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3352800"/>
            <a:ext cx="1447800" cy="817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4267200"/>
            <a:ext cx="2057400" cy="733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8400" y="5334000"/>
            <a:ext cx="382297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96000" y="3962400"/>
            <a:ext cx="2392471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By applying divergence theorem to the middle term in </a:t>
            </a:r>
            <a:r>
              <a:rPr lang="en-GB" dirty="0" err="1" smtClean="0"/>
              <a:t>eqs</a:t>
            </a: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Hence </a:t>
            </a:r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This states that the </a:t>
            </a:r>
            <a:r>
              <a:rPr lang="en-GB" dirty="0" smtClean="0"/>
              <a:t>volume charge density is the same as the divergence of the electric flux density.</a:t>
            </a:r>
            <a:endParaRPr lang="en-GB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286000"/>
            <a:ext cx="2895600" cy="1017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3505200"/>
            <a:ext cx="2133600" cy="1005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pPr>
              <a:buNone/>
            </a:pPr>
            <a:endParaRPr lang="en-GB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352800"/>
            <a:ext cx="8534407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Solution </a:t>
            </a:r>
            <a:endParaRPr lang="en-GB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828800"/>
            <a:ext cx="3124200" cy="84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2819400"/>
            <a:ext cx="8077200" cy="744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4038600"/>
            <a:ext cx="8001000" cy="24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304800"/>
            <a:ext cx="6324600" cy="1469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828800"/>
            <a:ext cx="7848600" cy="2297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4191000"/>
            <a:ext cx="6553200" cy="2489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/>
          <a:lstStyle/>
          <a:p>
            <a:r>
              <a:rPr lang="en-GB" dirty="0" smtClean="0"/>
              <a:t>END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413</Words>
  <Application>Microsoft Office PowerPoint</Application>
  <PresentationFormat>On-screen Show (4:3)</PresentationFormat>
  <Paragraphs>40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ELECTRIC FLUX AND GAUSS LAW</vt:lpstr>
      <vt:lpstr>COULOMB'S LAW AND FIELD INTENSITY</vt:lpstr>
      <vt:lpstr>Slide 3</vt:lpstr>
      <vt:lpstr>Slide 4</vt:lpstr>
      <vt:lpstr>Electric field intensity </vt:lpstr>
      <vt:lpstr>Example </vt:lpstr>
      <vt:lpstr>Solution </vt:lpstr>
      <vt:lpstr>ELECTRIC FLUX DENSITY</vt:lpstr>
      <vt:lpstr>GAUSS'S LAW</vt:lpstr>
      <vt:lpstr>Slide 10</vt:lpstr>
      <vt:lpstr>Example </vt:lpstr>
      <vt:lpstr>Solution </vt:lpstr>
      <vt:lpstr>Slide 13</vt:lpstr>
      <vt:lpstr>END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FLUX AND GAUSS LAW</dc:title>
  <dc:creator>user</dc:creator>
  <cp:lastModifiedBy>Windows User</cp:lastModifiedBy>
  <cp:revision>6</cp:revision>
  <dcterms:created xsi:type="dcterms:W3CDTF">2006-08-16T00:00:00Z</dcterms:created>
  <dcterms:modified xsi:type="dcterms:W3CDTF">2023-12-12T06:55:35Z</dcterms:modified>
</cp:coreProperties>
</file>