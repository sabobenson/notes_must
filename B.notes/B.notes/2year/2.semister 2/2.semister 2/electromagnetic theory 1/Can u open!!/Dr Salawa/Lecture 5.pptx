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ELECTRIC POTENTIAL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r>
              <a:rPr lang="en-GB" dirty="0" smtClean="0"/>
              <a:t>Suppose we wish to move a point charge </a:t>
            </a:r>
            <a:r>
              <a:rPr lang="en-GB" i="1" dirty="0" smtClean="0"/>
              <a:t>Q from point A to point B in an electric </a:t>
            </a:r>
            <a:r>
              <a:rPr lang="en-GB" i="1" dirty="0" smtClean="0"/>
              <a:t>field </a:t>
            </a:r>
            <a:r>
              <a:rPr lang="en-GB" dirty="0" smtClean="0"/>
              <a:t>E.</a:t>
            </a:r>
          </a:p>
          <a:p>
            <a:r>
              <a:rPr lang="en-GB" i="1" dirty="0" smtClean="0"/>
              <a:t>work done in displacing the charge by </a:t>
            </a:r>
            <a:r>
              <a:rPr lang="en-GB" i="1" dirty="0" err="1" smtClean="0"/>
              <a:t>dL</a:t>
            </a:r>
            <a:r>
              <a:rPr lang="en-GB" i="1" dirty="0" smtClean="0"/>
              <a:t> is</a:t>
            </a:r>
          </a:p>
          <a:p>
            <a:endParaRPr lang="en-GB" i="1" dirty="0" smtClean="0"/>
          </a:p>
          <a:p>
            <a:endParaRPr lang="en-GB" i="1" dirty="0" smtClean="0"/>
          </a:p>
          <a:p>
            <a:r>
              <a:rPr lang="en-GB" dirty="0" smtClean="0"/>
              <a:t>The negative sign indicates that the work is being done by an external agent. </a:t>
            </a:r>
            <a:endParaRPr lang="en-GB" dirty="0" smtClean="0"/>
          </a:p>
          <a:p>
            <a:r>
              <a:rPr lang="en-GB" dirty="0" smtClean="0"/>
              <a:t>Thus </a:t>
            </a:r>
            <a:r>
              <a:rPr lang="en-GB" dirty="0" smtClean="0"/>
              <a:t>the </a:t>
            </a:r>
            <a:r>
              <a:rPr lang="en-GB" dirty="0" smtClean="0"/>
              <a:t>total work </a:t>
            </a:r>
            <a:r>
              <a:rPr lang="en-GB" dirty="0" smtClean="0"/>
              <a:t>done, or the potential energy required, in moving </a:t>
            </a:r>
            <a:r>
              <a:rPr lang="en-GB" i="1" dirty="0" smtClean="0"/>
              <a:t>Q from A to B is</a:t>
            </a: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95600" y="2743200"/>
            <a:ext cx="2773001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0" y="5562599"/>
            <a:ext cx="2286000" cy="1059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 lnSpcReduction="10000"/>
          </a:bodyPr>
          <a:lstStyle/>
          <a:p>
            <a:r>
              <a:rPr lang="en-GB" dirty="0" smtClean="0"/>
              <a:t>This </a:t>
            </a:r>
            <a:r>
              <a:rPr lang="en-GB" dirty="0" smtClean="0"/>
              <a:t>quantity, denoted </a:t>
            </a:r>
            <a:r>
              <a:rPr lang="en-GB" dirty="0" smtClean="0"/>
              <a:t>by </a:t>
            </a:r>
            <a:r>
              <a:rPr lang="en-GB" i="1" dirty="0" err="1" smtClean="0"/>
              <a:t>V</a:t>
            </a:r>
            <a:r>
              <a:rPr lang="en-GB" sz="2000" i="1" dirty="0" err="1" smtClean="0"/>
              <a:t>AB</a:t>
            </a:r>
            <a:r>
              <a:rPr lang="en-GB" i="1" dirty="0" smtClean="0"/>
              <a:t>, is known as the potential difference between points A and B. </a:t>
            </a:r>
            <a:r>
              <a:rPr lang="en-GB" i="1" dirty="0" smtClean="0"/>
              <a:t>Thus</a:t>
            </a:r>
          </a:p>
          <a:p>
            <a:endParaRPr lang="en-GB" i="1" dirty="0" smtClean="0"/>
          </a:p>
          <a:p>
            <a:endParaRPr lang="en-GB" i="1" dirty="0" smtClean="0"/>
          </a:p>
          <a:p>
            <a:r>
              <a:rPr lang="en-GB" dirty="0" smtClean="0"/>
              <a:t>The </a:t>
            </a:r>
            <a:r>
              <a:rPr lang="en-GB" b="1" dirty="0" smtClean="0"/>
              <a:t>Electric </a:t>
            </a:r>
            <a:r>
              <a:rPr lang="en-GB" b="1" dirty="0" smtClean="0"/>
              <a:t>potential </a:t>
            </a:r>
            <a:r>
              <a:rPr lang="en-GB" dirty="0" smtClean="0"/>
              <a:t>at any point is </a:t>
            </a:r>
            <a:r>
              <a:rPr lang="en-GB" dirty="0" smtClean="0"/>
              <a:t>the </a:t>
            </a:r>
            <a:r>
              <a:rPr lang="en-GB" dirty="0" smtClean="0"/>
              <a:t>potential difference between that point and </a:t>
            </a:r>
            <a:r>
              <a:rPr lang="en-GB" dirty="0" smtClean="0"/>
              <a:t>a </a:t>
            </a:r>
            <a:r>
              <a:rPr lang="en-GB" dirty="0" smtClean="0"/>
              <a:t>chosen point </a:t>
            </a:r>
            <a:r>
              <a:rPr lang="en-GB" dirty="0" smtClean="0"/>
              <a:t>in which the potential is </a:t>
            </a:r>
            <a:r>
              <a:rPr lang="en-GB" dirty="0" smtClean="0"/>
              <a:t>zero.</a:t>
            </a:r>
          </a:p>
          <a:p>
            <a:r>
              <a:rPr lang="en-GB" dirty="0" smtClean="0"/>
              <a:t>By </a:t>
            </a:r>
            <a:r>
              <a:rPr lang="en-GB" dirty="0" smtClean="0"/>
              <a:t>assuming zero potential at infinity, </a:t>
            </a:r>
            <a:r>
              <a:rPr lang="en-GB" dirty="0" smtClean="0"/>
              <a:t>the potential </a:t>
            </a:r>
            <a:r>
              <a:rPr lang="en-GB" dirty="0" smtClean="0"/>
              <a:t>at a distance r from </a:t>
            </a:r>
            <a:r>
              <a:rPr lang="en-GB" dirty="0" smtClean="0"/>
              <a:t>the point </a:t>
            </a:r>
            <a:r>
              <a:rPr lang="en-GB" dirty="0" smtClean="0"/>
              <a:t>charge is the work done per unit charge by an external agent in transferring a </a:t>
            </a:r>
            <a:r>
              <a:rPr lang="en-GB" dirty="0" smtClean="0"/>
              <a:t>test charge </a:t>
            </a:r>
            <a:r>
              <a:rPr lang="en-GB" dirty="0" smtClean="0"/>
              <a:t>from infinity to that point.</a:t>
            </a:r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4200" y="1371600"/>
            <a:ext cx="2328862" cy="944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14600" y="5562600"/>
            <a:ext cx="2057400" cy="969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81600" y="5638800"/>
            <a:ext cx="2187222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Two point charges - 4 µ</a:t>
            </a:r>
            <a:r>
              <a:rPr lang="en-GB" dirty="0" smtClean="0"/>
              <a:t>C </a:t>
            </a:r>
            <a:r>
              <a:rPr lang="en-GB" dirty="0" smtClean="0"/>
              <a:t>and 5 µ</a:t>
            </a:r>
            <a:r>
              <a:rPr lang="en-GB" dirty="0" smtClean="0"/>
              <a:t>C </a:t>
            </a:r>
            <a:r>
              <a:rPr lang="en-GB" dirty="0" smtClean="0"/>
              <a:t>are located at ( 2 , - 1 , 3) and (0, 4, - 2 ) , respectively.</a:t>
            </a:r>
          </a:p>
          <a:p>
            <a:r>
              <a:rPr lang="en-GB" dirty="0" smtClean="0"/>
              <a:t>Find the potential at (1, 0, 1) assuming zero potential at infinity.</a:t>
            </a:r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Solution </a:t>
            </a:r>
            <a:endParaRPr lang="en-GB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3124200"/>
            <a:ext cx="5393987" cy="804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95600" y="1600200"/>
            <a:ext cx="3276600" cy="1079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19400" y="4572000"/>
            <a:ext cx="3429000" cy="1485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ELECTRIC FIELD &amp; ELECTRIC POTENTIAL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</a:t>
            </a:r>
            <a:r>
              <a:rPr lang="en-GB" dirty="0" smtClean="0"/>
              <a:t>he </a:t>
            </a:r>
            <a:r>
              <a:rPr lang="en-GB" dirty="0" smtClean="0"/>
              <a:t>electric field intensity is the gradient </a:t>
            </a:r>
            <a:r>
              <a:rPr lang="en-GB" dirty="0" smtClean="0"/>
              <a:t>of electric potential  </a:t>
            </a:r>
            <a:r>
              <a:rPr lang="en-GB" i="1" dirty="0" smtClean="0"/>
              <a:t>V.</a:t>
            </a:r>
          </a:p>
          <a:p>
            <a:endParaRPr lang="en-GB" i="1" dirty="0" smtClean="0"/>
          </a:p>
          <a:p>
            <a:endParaRPr lang="en-GB" i="1" dirty="0" smtClean="0"/>
          </a:p>
          <a:p>
            <a:r>
              <a:rPr lang="en-GB" dirty="0" smtClean="0"/>
              <a:t>The negative sign shows that the </a:t>
            </a:r>
            <a:r>
              <a:rPr lang="en-GB" dirty="0" smtClean="0"/>
              <a:t>direction of </a:t>
            </a:r>
            <a:r>
              <a:rPr lang="en-GB" dirty="0" smtClean="0"/>
              <a:t>E is opposite to the direction in which </a:t>
            </a:r>
            <a:r>
              <a:rPr lang="en-GB" i="1" dirty="0" smtClean="0"/>
              <a:t>V increases; E is directed from higher </a:t>
            </a:r>
            <a:r>
              <a:rPr lang="en-GB" i="1" dirty="0" smtClean="0"/>
              <a:t>to </a:t>
            </a:r>
            <a:r>
              <a:rPr lang="en-GB" dirty="0" smtClean="0"/>
              <a:t>lower </a:t>
            </a:r>
            <a:r>
              <a:rPr lang="en-GB" dirty="0" smtClean="0"/>
              <a:t>levels of </a:t>
            </a:r>
            <a:r>
              <a:rPr lang="en-GB" i="1" dirty="0" smtClean="0"/>
              <a:t>V.</a:t>
            </a:r>
            <a:endParaRPr lang="en-GB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33800" y="3048000"/>
            <a:ext cx="1643062" cy="70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</a:t>
            </a:r>
            <a:endParaRPr lang="en-GB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676400"/>
            <a:ext cx="7645195" cy="165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Solution </a:t>
            </a:r>
            <a:endParaRPr lang="en-GB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828799"/>
            <a:ext cx="5867400" cy="2023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4343400"/>
            <a:ext cx="5590059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828800"/>
            <a:ext cx="7620000" cy="3582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95600"/>
            <a:ext cx="8229600" cy="1143000"/>
          </a:xfrm>
        </p:spPr>
        <p:txBody>
          <a:bodyPr/>
          <a:lstStyle/>
          <a:p>
            <a:r>
              <a:rPr lang="en-GB" dirty="0" smtClean="0"/>
              <a:t>END</a:t>
            </a:r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1137</TotalTime>
  <Words>251</Words>
  <Application>Microsoft Office PowerPoint</Application>
  <PresentationFormat>On-screen Show (4:3)</PresentationFormat>
  <Paragraphs>24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ELECTRIC POTENTIAL</vt:lpstr>
      <vt:lpstr>Slide 2</vt:lpstr>
      <vt:lpstr>Slide 3</vt:lpstr>
      <vt:lpstr>Example </vt:lpstr>
      <vt:lpstr>Solution </vt:lpstr>
      <vt:lpstr>ELECTRIC FIELD &amp; ELECTRIC POTENTIAL</vt:lpstr>
      <vt:lpstr>Example </vt:lpstr>
      <vt:lpstr>Solution </vt:lpstr>
      <vt:lpstr>Slide 9</vt:lpstr>
      <vt:lpstr>END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 POTENTIAL</dc:title>
  <dc:creator>user</dc:creator>
  <cp:lastModifiedBy>Windows User</cp:lastModifiedBy>
  <cp:revision>3</cp:revision>
  <dcterms:created xsi:type="dcterms:W3CDTF">2006-08-16T00:00:00Z</dcterms:created>
  <dcterms:modified xsi:type="dcterms:W3CDTF">2023-12-15T03:04:11Z</dcterms:modified>
</cp:coreProperties>
</file>