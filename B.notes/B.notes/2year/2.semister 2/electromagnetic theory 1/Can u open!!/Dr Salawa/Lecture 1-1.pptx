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0"/>
  </p:notesMasterIdLst>
  <p:sldIdLst>
    <p:sldId id="258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66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6C375-1331-4077-A164-B2698903209D}" type="datetimeFigureOut">
              <a:rPr lang="en-US" smtClean="0"/>
              <a:pPr/>
              <a:t>11/14/2023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240F-B9A3-49F6-ACAB-4558347DB19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11/14/2023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85800"/>
            <a:ext cx="7406640" cy="2386584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 smtClean="0"/>
              <a:t>EE 8205</a:t>
            </a:r>
            <a:br>
              <a:rPr lang="en-GB" b="1" dirty="0" smtClean="0"/>
            </a:b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Basics of Engineering Electromagnetic </a:t>
            </a: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05200"/>
            <a:ext cx="7406640" cy="1752600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Name: Joseph Sospeter Salawa</a:t>
            </a:r>
          </a:p>
          <a:p>
            <a:pPr algn="ctr"/>
            <a:r>
              <a:rPr lang="en-GB" dirty="0" smtClean="0"/>
              <a:t>Contacts: 0754556575</a:t>
            </a:r>
          </a:p>
          <a:p>
            <a:pPr algn="ctr"/>
            <a:r>
              <a:rPr lang="en-GB" dirty="0" smtClean="0"/>
              <a:t>Email: yusufujss@gmail.com</a:t>
            </a:r>
          </a:p>
          <a:p>
            <a:endParaRPr lang="en-GB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Academic Qualification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GB" dirty="0" smtClean="0"/>
              <a:t>Bachelor of Science in Telecommunications Engineering (</a:t>
            </a:r>
            <a:r>
              <a:rPr lang="en-GB" b="1" i="1" dirty="0" err="1" smtClean="0"/>
              <a:t>UDSM</a:t>
            </a:r>
            <a:r>
              <a:rPr lang="en-GB" b="1" i="1" dirty="0" smtClean="0"/>
              <a:t> 2011</a:t>
            </a:r>
            <a:r>
              <a:rPr lang="en-GB" dirty="0" smtClean="0"/>
              <a:t>).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Masters of information Communication Science and Engineering (Electronics and Telecommunications Engineering option) (</a:t>
            </a:r>
            <a:r>
              <a:rPr lang="en-GB" b="1" i="1" dirty="0" err="1" smtClean="0"/>
              <a:t>NMAIST</a:t>
            </a:r>
            <a:r>
              <a:rPr lang="en-GB" b="1" i="1" dirty="0" smtClean="0"/>
              <a:t> 2016</a:t>
            </a:r>
            <a:r>
              <a:rPr lang="en-GB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PhD in Electrical Engineering (Telecommunication option) (</a:t>
            </a:r>
            <a:r>
              <a:rPr lang="en-GB" b="1" i="1" dirty="0" smtClean="0"/>
              <a:t>PAUSTI - </a:t>
            </a:r>
            <a:r>
              <a:rPr lang="en-GB" b="1" i="1" dirty="0" smtClean="0">
                <a:solidFill>
                  <a:srgbClr val="00B050"/>
                </a:solidFill>
              </a:rPr>
              <a:t>On going</a:t>
            </a:r>
            <a:r>
              <a:rPr lang="en-GB" b="1" i="1" dirty="0" smtClean="0"/>
              <a:t>)</a:t>
            </a:r>
            <a:endParaRPr lang="en-GB" b="1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Course 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19200"/>
            <a:ext cx="7498080" cy="54102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GB" b="1" dirty="0" smtClean="0"/>
              <a:t>Electrostatics: </a:t>
            </a:r>
          </a:p>
          <a:p>
            <a:pPr algn="just">
              <a:buNone/>
            </a:pPr>
            <a:r>
              <a:rPr lang="en-GB" b="1" dirty="0" smtClean="0"/>
              <a:t>	</a:t>
            </a:r>
            <a:r>
              <a:rPr lang="en-GB" dirty="0" smtClean="0"/>
              <a:t>Solution Lap lace’s equation for determining potential distribution in two dimensions boundaries, finite differences, graphical and experimental methods of field mapping for boundaries arbitrary shapes, Image methods. </a:t>
            </a:r>
          </a:p>
          <a:p>
            <a:pPr algn="just">
              <a:buNone/>
            </a:pPr>
            <a:r>
              <a:rPr lang="en-GB" dirty="0" smtClean="0"/>
              <a:t>	Gauss’s theorem for electric flux density, calculations for isotropic and composite dielectric media and parallel conductor transmission line. </a:t>
            </a:r>
          </a:p>
          <a:p>
            <a:pPr algn="just"/>
            <a:r>
              <a:rPr lang="en-GB" b="1" dirty="0" smtClean="0"/>
              <a:t>Magnetic aspect: </a:t>
            </a:r>
          </a:p>
          <a:p>
            <a:pPr algn="just">
              <a:buNone/>
            </a:pPr>
            <a:r>
              <a:rPr lang="en-GB" dirty="0" smtClean="0"/>
              <a:t>	Magnetic forces, materials and Inductance, Force on a moving charge, force on a differential current element, force and torque on a closed circuit, the nature of magnetic materials, magnetization and permeability, magnetic materials, inductance and mutual </a:t>
            </a:r>
            <a:r>
              <a:rPr lang="en-GB" dirty="0" err="1" smtClean="0"/>
              <a:t>inductancemagnetic</a:t>
            </a:r>
            <a:r>
              <a:rPr lang="en-GB" dirty="0" smtClean="0"/>
              <a:t> potentials elements law and ampere’s circuital law for calculating H and B in fields produced by simple conductor configuration. </a:t>
            </a:r>
          </a:p>
          <a:p>
            <a:pPr algn="just"/>
            <a:r>
              <a:rPr lang="en-GB" b="1" dirty="0" smtClean="0"/>
              <a:t>Maxwell’s equations </a:t>
            </a:r>
            <a:r>
              <a:rPr lang="en-GB" dirty="0" smtClean="0"/>
              <a:t>including pointing theorem and boundary conditions; uniform place-wave propagation, transmission (lines – term modes, and pulse propagation, introduction to guided waves, introduction to radiation and scattering concepts </a:t>
            </a:r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 OF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This module will be delivered by way of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Lectures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Tutorials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Assignments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Group project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 smtClean="0"/>
          </a:p>
          <a:p>
            <a:r>
              <a:rPr lang="en-GB" dirty="0" smtClean="0"/>
              <a:t>William, </a:t>
            </a:r>
            <a:r>
              <a:rPr lang="en-GB" dirty="0" err="1" smtClean="0"/>
              <a:t>H.H</a:t>
            </a:r>
            <a:r>
              <a:rPr lang="en-GB" dirty="0" smtClean="0"/>
              <a:t> (1981), Engineering electromagnetic, Mc </a:t>
            </a:r>
            <a:r>
              <a:rPr lang="en-GB" dirty="0" err="1" smtClean="0"/>
              <a:t>Graw</a:t>
            </a:r>
            <a:r>
              <a:rPr lang="en-GB" dirty="0" smtClean="0"/>
              <a:t> – Hill, </a:t>
            </a:r>
          </a:p>
          <a:p>
            <a:r>
              <a:rPr lang="en-GB" dirty="0" err="1" smtClean="0"/>
              <a:t>Hayt</a:t>
            </a:r>
            <a:r>
              <a:rPr lang="en-GB" dirty="0" smtClean="0"/>
              <a:t>, Jr. </a:t>
            </a:r>
            <a:r>
              <a:rPr lang="en-GB" dirty="0" err="1" smtClean="0"/>
              <a:t>W.H</a:t>
            </a:r>
            <a:r>
              <a:rPr lang="en-GB" dirty="0" smtClean="0"/>
              <a:t> &amp;</a:t>
            </a:r>
            <a:r>
              <a:rPr lang="en-GB" dirty="0" err="1" smtClean="0"/>
              <a:t>Kemmrly</a:t>
            </a:r>
            <a:r>
              <a:rPr lang="en-GB" dirty="0" smtClean="0"/>
              <a:t>, </a:t>
            </a:r>
            <a:r>
              <a:rPr lang="en-GB" dirty="0" err="1" smtClean="0"/>
              <a:t>J.E</a:t>
            </a:r>
            <a:r>
              <a:rPr lang="en-GB" dirty="0" smtClean="0"/>
              <a:t> (1992), Engineering Circuit Analysis, Mc </a:t>
            </a:r>
            <a:r>
              <a:rPr lang="en-GB" dirty="0" err="1" smtClean="0"/>
              <a:t>Graw</a:t>
            </a:r>
            <a:r>
              <a:rPr lang="en-GB" dirty="0" smtClean="0"/>
              <a:t>- Hill, Inc </a:t>
            </a:r>
          </a:p>
          <a:p>
            <a:r>
              <a:rPr lang="en-GB" dirty="0" err="1" smtClean="0"/>
              <a:t>Bansal</a:t>
            </a:r>
            <a:r>
              <a:rPr lang="en-GB" dirty="0" smtClean="0"/>
              <a:t>, R. (2006). Fundamentals of engineering </a:t>
            </a:r>
            <a:r>
              <a:rPr lang="en-GB" dirty="0" err="1" smtClean="0"/>
              <a:t>electromagnetics</a:t>
            </a:r>
            <a:r>
              <a:rPr lang="en-GB" dirty="0" smtClean="0"/>
              <a:t>. CRC press. </a:t>
            </a:r>
          </a:p>
          <a:p>
            <a:r>
              <a:rPr lang="en-GB" dirty="0" err="1" smtClean="0"/>
              <a:t>Boylestad</a:t>
            </a:r>
            <a:r>
              <a:rPr lang="en-GB" dirty="0" smtClean="0"/>
              <a:t>, R. L. (2013). </a:t>
            </a:r>
            <a:r>
              <a:rPr lang="en-GB" i="1" dirty="0" smtClean="0"/>
              <a:t>Introductory Circuit Analysis: Pearson New International Edition. Pearson. </a:t>
            </a:r>
          </a:p>
          <a:p>
            <a:r>
              <a:rPr lang="en-GB" dirty="0" smtClean="0"/>
              <a:t>Harrington, R. F. (2003). Introduction to electromagnetic engineering. Courier Corporation. 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Table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799" y="1765443"/>
          <a:ext cx="79248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3429000"/>
                <a:gridCol w="2286000"/>
              </a:tblGrid>
              <a:tr h="781121">
                <a:tc>
                  <a:txBody>
                    <a:bodyPr/>
                    <a:lstStyle/>
                    <a:p>
                      <a:r>
                        <a:rPr lang="en-GB" sz="3200" dirty="0" smtClean="0"/>
                        <a:t>DAY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smtClean="0"/>
                        <a:t>TIME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smtClean="0"/>
                        <a:t>VENUE</a:t>
                      </a:r>
                      <a:endParaRPr lang="en-GB" sz="3200" dirty="0"/>
                    </a:p>
                  </a:txBody>
                  <a:tcPr/>
                </a:tc>
              </a:tr>
              <a:tr h="1174679">
                <a:tc>
                  <a:txBody>
                    <a:bodyPr/>
                    <a:lstStyle/>
                    <a:p>
                      <a:r>
                        <a:rPr lang="en-GB" sz="3200" dirty="0" smtClean="0"/>
                        <a:t>TUESDAY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smtClean="0"/>
                        <a:t>9:55 – 12:10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 err="1" smtClean="0"/>
                        <a:t>LBH</a:t>
                      </a:r>
                      <a:r>
                        <a:rPr lang="en-GB" sz="3200" baseline="0" dirty="0" smtClean="0"/>
                        <a:t> 6</a:t>
                      </a:r>
                      <a:endParaRPr lang="en-GB"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 err="1" smtClean="0"/>
              <a:t>Electromagnetics</a:t>
            </a:r>
            <a:r>
              <a:rPr lang="en-GB" dirty="0" smtClean="0"/>
              <a:t> is the study of the effect of charges at rest and charges in motion.</a:t>
            </a:r>
          </a:p>
          <a:p>
            <a:r>
              <a:rPr lang="en-GB" dirty="0" smtClean="0"/>
              <a:t>Some special cases of </a:t>
            </a:r>
            <a:r>
              <a:rPr lang="en-GB" dirty="0" err="1" smtClean="0"/>
              <a:t>electromagnetics</a:t>
            </a:r>
            <a:r>
              <a:rPr lang="en-GB" dirty="0" smtClean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err="1" smtClean="0"/>
              <a:t>Electrostatics:charges</a:t>
            </a:r>
            <a:r>
              <a:rPr lang="en-GB" dirty="0" smtClean="0"/>
              <a:t> at rest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err="1" smtClean="0"/>
              <a:t>Magnetostatics:charges</a:t>
            </a:r>
            <a:r>
              <a:rPr lang="en-GB" dirty="0" smtClean="0"/>
              <a:t> in steady motion (DC)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Electromagnetic : charges in time-varying motion (AC)</a:t>
            </a:r>
          </a:p>
          <a:p>
            <a:r>
              <a:rPr lang="en-GB" dirty="0" smtClean="0"/>
              <a:t>Fundamental vector field quantities in </a:t>
            </a:r>
            <a:r>
              <a:rPr lang="en-GB" dirty="0" err="1" smtClean="0"/>
              <a:t>electromagnetics</a:t>
            </a:r>
            <a:r>
              <a:rPr lang="en-GB" dirty="0" smtClean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Electric field intensity –E units = volts per meter (V/m )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Electric flux density (electric displacement) –D units = coulombs per square meter (C/m2)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Magnetic field intensity –H units = amps per meter (A/m)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Magnetic flux density-B units = </a:t>
            </a:r>
            <a:r>
              <a:rPr lang="en-GB" dirty="0" err="1" smtClean="0"/>
              <a:t>teslas</a:t>
            </a:r>
            <a:r>
              <a:rPr lang="en-GB" dirty="0" smtClean="0"/>
              <a:t>= </a:t>
            </a:r>
            <a:r>
              <a:rPr lang="en-GB" dirty="0" err="1" smtClean="0"/>
              <a:t>webersper</a:t>
            </a:r>
            <a:r>
              <a:rPr lang="en-GB" dirty="0" smtClean="0"/>
              <a:t> square meter (T = </a:t>
            </a:r>
            <a:r>
              <a:rPr lang="en-GB" dirty="0" err="1" smtClean="0"/>
              <a:t>Wb</a:t>
            </a:r>
            <a:r>
              <a:rPr lang="en-GB" dirty="0" smtClean="0"/>
              <a:t>/ m2)</a:t>
            </a:r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62484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In general, the physical quantities we shall be dealing with in </a:t>
            </a:r>
            <a:r>
              <a:rPr lang="en-GB" dirty="0" err="1" smtClean="0"/>
              <a:t>EM</a:t>
            </a:r>
            <a:r>
              <a:rPr lang="en-GB" dirty="0" smtClean="0"/>
              <a:t> are </a:t>
            </a:r>
            <a:r>
              <a:rPr lang="en-GB" b="1" dirty="0" smtClean="0"/>
              <a:t>functions of space and time</a:t>
            </a:r>
            <a:r>
              <a:rPr lang="en-GB" dirty="0" smtClean="0"/>
              <a:t>. </a:t>
            </a:r>
          </a:p>
          <a:p>
            <a:r>
              <a:rPr lang="en-GB" dirty="0" smtClean="0"/>
              <a:t>In order to describe the spatial variations of the quantities, we must be able to define all points uniquely in space in a suitable manner. </a:t>
            </a:r>
          </a:p>
          <a:p>
            <a:r>
              <a:rPr lang="en-GB" dirty="0" smtClean="0"/>
              <a:t>This requires using an appropriate </a:t>
            </a:r>
            <a:r>
              <a:rPr lang="en-GB" b="1" dirty="0" smtClean="0"/>
              <a:t>coordinate system.</a:t>
            </a:r>
          </a:p>
          <a:p>
            <a:r>
              <a:rPr lang="en-GB" dirty="0" smtClean="0"/>
              <a:t>A point or vector can be represented in any curvilinear coordinate system, which may be orthogonal or </a:t>
            </a:r>
            <a:r>
              <a:rPr lang="en-GB" dirty="0" err="1" smtClean="0"/>
              <a:t>nonorthogonal</a:t>
            </a:r>
            <a:r>
              <a:rPr lang="en-GB" dirty="0" smtClean="0"/>
              <a:t>.</a:t>
            </a:r>
          </a:p>
          <a:p>
            <a:r>
              <a:rPr lang="en-GB" dirty="0" smtClean="0"/>
              <a:t>An </a:t>
            </a:r>
            <a:r>
              <a:rPr lang="en-GB" b="1" dirty="0" smtClean="0"/>
              <a:t>orthogonal system is one in which the coordinates arc mutually perpendicular.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Scalar and Vector</a:t>
            </a:r>
            <a:endParaRPr lang="en-GB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813" y="1719263"/>
            <a:ext cx="7672387" cy="468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Vector / Direction Vector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524000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unit vector is </a:t>
            </a:r>
            <a:r>
              <a:rPr lang="en-GB" b="1" dirty="0" smtClean="0"/>
              <a:t>a vector with a magnitude of one unit.</a:t>
            </a:r>
          </a:p>
          <a:p>
            <a:r>
              <a:rPr lang="en-GB" dirty="0" smtClean="0"/>
              <a:t>Any vector can be expressed as </a:t>
            </a:r>
            <a:r>
              <a:rPr lang="en-GB" dirty="0" smtClean="0"/>
              <a:t>a scalar </a:t>
            </a:r>
            <a:r>
              <a:rPr lang="en-GB" dirty="0" smtClean="0"/>
              <a:t>multiple of its unit vector.</a:t>
            </a:r>
            <a:endParaRPr lang="en-GB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276600"/>
            <a:ext cx="671512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Position Vector</a:t>
            </a:r>
            <a:endParaRPr lang="en-GB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2024" y="1766888"/>
            <a:ext cx="7877175" cy="432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Distance Vector</a:t>
            </a:r>
            <a:endParaRPr lang="en-GB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225" y="1447800"/>
            <a:ext cx="85915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Coordinate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There are three types of Coordinate systems</a:t>
            </a:r>
          </a:p>
          <a:p>
            <a:pPr marL="870966" lvl="1" indent="-514350">
              <a:lnSpc>
                <a:spcPct val="250000"/>
              </a:lnSpc>
              <a:buFont typeface="Wingdings" pitchFamily="2" charset="2"/>
              <a:buChar char="Ø"/>
            </a:pPr>
            <a:r>
              <a:rPr lang="en-GB" dirty="0" smtClean="0"/>
              <a:t>Cartesian Coordinate system</a:t>
            </a:r>
          </a:p>
          <a:p>
            <a:pPr marL="870966" lvl="1" indent="-514350">
              <a:lnSpc>
                <a:spcPct val="250000"/>
              </a:lnSpc>
              <a:buFont typeface="Wingdings" pitchFamily="2" charset="2"/>
              <a:buChar char="Ø"/>
            </a:pPr>
            <a:r>
              <a:rPr lang="en-GB" dirty="0" smtClean="0"/>
              <a:t>Cylindrical coordinate system</a:t>
            </a:r>
          </a:p>
          <a:p>
            <a:pPr marL="870966" lvl="1" indent="-514350">
              <a:lnSpc>
                <a:spcPct val="250000"/>
              </a:lnSpc>
              <a:buFont typeface="Wingdings" pitchFamily="2" charset="2"/>
              <a:buChar char="Ø"/>
            </a:pPr>
            <a:r>
              <a:rPr lang="en-GB" dirty="0" smtClean="0"/>
              <a:t>Spherical coordinate system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4873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Cartesian System</a:t>
            </a:r>
            <a:endParaRPr lang="en-GB" dirty="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1" y="1700213"/>
            <a:ext cx="7644558" cy="453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23963"/>
            <a:ext cx="7162800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1" y="1262063"/>
            <a:ext cx="70866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Cylindrical System</a:t>
            </a:r>
            <a:endParaRPr lang="en-GB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524000"/>
            <a:ext cx="767238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715962"/>
          </a:xfrm>
        </p:spPr>
        <p:txBody>
          <a:bodyPr>
            <a:normAutofit/>
          </a:bodyPr>
          <a:lstStyle/>
          <a:p>
            <a:r>
              <a:rPr lang="en-GB" sz="2000" dirty="0" smtClean="0"/>
              <a:t>The circular cylindrical coordinate system is very convenient whenever we are dealing with problems having cylindrical symmetry.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1" y="1981200"/>
            <a:ext cx="7391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7363" y="2009774"/>
            <a:ext cx="7005637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7774" y="2038350"/>
            <a:ext cx="75152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88" y="1804988"/>
            <a:ext cx="7643812" cy="406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Relationship between </a:t>
            </a:r>
            <a:r>
              <a:rPr lang="en-GB" dirty="0" err="1" smtClean="0"/>
              <a:t>cartesian</a:t>
            </a:r>
            <a:r>
              <a:rPr lang="en-GB" dirty="0" smtClean="0"/>
              <a:t> and cylindrical systems</a:t>
            </a:r>
            <a:endParaRPr lang="en-GB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000250"/>
            <a:ext cx="7391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 err="1" smtClean="0"/>
              <a:t>azimuthal</a:t>
            </a:r>
            <a:r>
              <a:rPr lang="en-GB" b="1" i="1" dirty="0" smtClean="0"/>
              <a:t> angle</a:t>
            </a:r>
            <a:r>
              <a:rPr lang="en-GB" i="1" dirty="0" smtClean="0"/>
              <a:t>, is measured from the x-axis in the </a:t>
            </a:r>
            <a:r>
              <a:rPr lang="en-GB" i="1" dirty="0" err="1" smtClean="0"/>
              <a:t>xy</a:t>
            </a:r>
            <a:r>
              <a:rPr lang="en-GB" i="1" dirty="0" smtClean="0"/>
              <a:t>-plane; and z is the same as in the </a:t>
            </a:r>
            <a:r>
              <a:rPr lang="en-GB" dirty="0" smtClean="0"/>
              <a:t>Cartesian system. </a:t>
            </a:r>
          </a:p>
          <a:p>
            <a:r>
              <a:rPr lang="en-GB" dirty="0" smtClean="0"/>
              <a:t>The ranges of the variables are</a:t>
            </a:r>
            <a:endParaRPr lang="en-GB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038600"/>
            <a:ext cx="2895600" cy="2158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vector transformation</a:t>
            </a:r>
            <a:endParaRPr lang="en-GB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19200"/>
            <a:ext cx="6443662" cy="2938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800600"/>
            <a:ext cx="29146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10200" y="4648200"/>
            <a:ext cx="281133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 matrix form,</a:t>
            </a:r>
            <a:endParaRPr lang="en-GB" dirty="0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524000"/>
            <a:ext cx="437535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3352800"/>
            <a:ext cx="4295274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5105400"/>
            <a:ext cx="4572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Given point P(—2, 6, 3) and vector A = </a:t>
            </a:r>
            <a:r>
              <a:rPr lang="en-GB" i="1" dirty="0" err="1" smtClean="0"/>
              <a:t>yax</a:t>
            </a:r>
            <a:r>
              <a:rPr lang="en-GB" i="1" dirty="0" smtClean="0"/>
              <a:t> + (x + z)ay, express P and A in cylindrical </a:t>
            </a:r>
            <a:r>
              <a:rPr lang="en-GB" dirty="0" smtClean="0"/>
              <a:t>coordinates. Evaluate A at </a:t>
            </a:r>
            <a:r>
              <a:rPr lang="en-GB" i="1" dirty="0" smtClean="0"/>
              <a:t>P in the Cartesian and cylindrical </a:t>
            </a:r>
            <a:r>
              <a:rPr lang="en-GB" dirty="0" smtClean="0"/>
              <a:t>systems.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457200"/>
            <a:ext cx="4495800" cy="188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2743200"/>
            <a:ext cx="4191000" cy="881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4114800"/>
            <a:ext cx="390092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1" y="4114800"/>
            <a:ext cx="2743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47800" y="5943600"/>
            <a:ext cx="1828800" cy="53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495800" y="5943600"/>
            <a:ext cx="2743200" cy="483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         END OF PRESENTATION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875</TotalTime>
  <Words>541</Words>
  <Application>Microsoft Office PowerPoint</Application>
  <PresentationFormat>On-screen Show (4:3)</PresentationFormat>
  <Paragraphs>76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Solstice</vt:lpstr>
      <vt:lpstr>EE 8205  Basics of Engineering Electromagnetic </vt:lpstr>
      <vt:lpstr>Academic Qualification</vt:lpstr>
      <vt:lpstr>Course Contents</vt:lpstr>
      <vt:lpstr>MODE OF DELIVERY</vt:lpstr>
      <vt:lpstr>Reference Books</vt:lpstr>
      <vt:lpstr>Time Table</vt:lpstr>
      <vt:lpstr>Introduction</vt:lpstr>
      <vt:lpstr>Slide 8</vt:lpstr>
      <vt:lpstr>Scalar and Vector</vt:lpstr>
      <vt:lpstr>Unit Vector / Direction Vector</vt:lpstr>
      <vt:lpstr>Position Vector</vt:lpstr>
      <vt:lpstr>Distance Vector</vt:lpstr>
      <vt:lpstr>Coordinate Systems</vt:lpstr>
      <vt:lpstr>Cartesian System</vt:lpstr>
      <vt:lpstr>Slide 15</vt:lpstr>
      <vt:lpstr>Slide 16</vt:lpstr>
      <vt:lpstr>Cylindrical System</vt:lpstr>
      <vt:lpstr>The circular cylindrical coordinate system is very convenient whenever we are dealing with problems having cylindrical symmetry.</vt:lpstr>
      <vt:lpstr>Slide 19</vt:lpstr>
      <vt:lpstr>Slide 20</vt:lpstr>
      <vt:lpstr>Slide 21</vt:lpstr>
      <vt:lpstr>Relationship between cartesian and cylindrical systems</vt:lpstr>
      <vt:lpstr>Slide 23</vt:lpstr>
      <vt:lpstr>Unit vector transformation</vt:lpstr>
      <vt:lpstr>In matrix form,</vt:lpstr>
      <vt:lpstr>Example </vt:lpstr>
      <vt:lpstr>Slide 27</vt:lpstr>
      <vt:lpstr>Slide 28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8301 DIGITAL ELECTRONICS</dc:title>
  <dc:creator>user</dc:creator>
  <cp:lastModifiedBy>Windows User</cp:lastModifiedBy>
  <cp:revision>62</cp:revision>
  <dcterms:created xsi:type="dcterms:W3CDTF">2006-08-16T00:00:00Z</dcterms:created>
  <dcterms:modified xsi:type="dcterms:W3CDTF">2023-11-14T06:00:29Z</dcterms:modified>
</cp:coreProperties>
</file>