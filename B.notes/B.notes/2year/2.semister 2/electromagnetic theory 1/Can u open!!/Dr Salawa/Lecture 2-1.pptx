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CAF90-707B-4760-8A07-9F4776EB6BAD}" type="datetimeFigureOut">
              <a:rPr lang="en-US" smtClean="0"/>
              <a:pPr/>
              <a:t>11/21/2023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EFABF-2C80-436F-B22E-740D65A92B85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514600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Spherical System and Transformations</a:t>
            </a:r>
            <a:br>
              <a:rPr lang="en-GB" dirty="0" smtClean="0"/>
            </a:b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762000"/>
            <a:ext cx="6991350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1600200"/>
            <a:ext cx="667702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90600" y="3200400"/>
            <a:ext cx="7019925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6600" y="304800"/>
            <a:ext cx="287655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1828800"/>
            <a:ext cx="48006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05400" y="2362200"/>
            <a:ext cx="3810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 l="1797"/>
          <a:stretch>
            <a:fillRect/>
          </a:stretch>
        </p:blipFill>
        <p:spPr bwMode="auto">
          <a:xfrm>
            <a:off x="0" y="838200"/>
            <a:ext cx="8848725" cy="516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23975"/>
            <a:ext cx="8839200" cy="421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304800"/>
            <a:ext cx="86868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071563"/>
            <a:ext cx="822960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Vector transformation</a:t>
            </a:r>
            <a:endParaRPr lang="en-GB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447800"/>
            <a:ext cx="7726166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4724400"/>
            <a:ext cx="6705600" cy="177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81000"/>
            <a:ext cx="847511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5029200"/>
            <a:ext cx="67437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</a:t>
            </a:r>
            <a:endParaRPr lang="en-GB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42257" y="1447800"/>
            <a:ext cx="8501743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2743200"/>
            <a:ext cx="4276725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38600" y="5486400"/>
            <a:ext cx="4610100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228600"/>
            <a:ext cx="7620000" cy="6407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457200"/>
            <a:ext cx="6934200" cy="5696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609601"/>
            <a:ext cx="66294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2971800"/>
            <a:ext cx="6019800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LINE, SURFACE, AND VOLUME INTEGRALS</a:t>
            </a:r>
            <a:endParaRPr lang="en-GB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981200"/>
            <a:ext cx="6553200" cy="805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533400" y="2967335"/>
            <a:ext cx="8305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By a line we mean the path along a curve in space. We shall use terms such</a:t>
            </a:r>
          </a:p>
          <a:p>
            <a:r>
              <a:rPr lang="en-GB" dirty="0" smtClean="0"/>
              <a:t>as </a:t>
            </a:r>
            <a:r>
              <a:rPr lang="en-GB" i="1" dirty="0" smtClean="0"/>
              <a:t>line, curve, and contour interchangeably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609600" y="4038600"/>
            <a:ext cx="792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Given a vector field A and a curve </a:t>
            </a:r>
            <a:r>
              <a:rPr lang="en-GB" i="1" dirty="0" smtClean="0"/>
              <a:t>L, we define the integral</a:t>
            </a:r>
            <a:endParaRPr lang="en-GB" dirty="0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4953000"/>
            <a:ext cx="2851688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609600"/>
            <a:ext cx="8839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If the path of integration is a closed curve such as </a:t>
            </a:r>
            <a:r>
              <a:rPr lang="en-GB" i="1" dirty="0" err="1" smtClean="0"/>
              <a:t>abca</a:t>
            </a:r>
            <a:r>
              <a:rPr lang="en-GB" i="1" dirty="0" smtClean="0"/>
              <a:t> becomes a closed contour integral</a:t>
            </a:r>
            <a:endParaRPr lang="en-GB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91200" y="1676400"/>
            <a:ext cx="1295400" cy="1022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1295400"/>
            <a:ext cx="2705100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81000" y="3505200"/>
            <a:ext cx="8610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Given a vector field A, continuous in a region containing the smooth surface </a:t>
            </a:r>
            <a:r>
              <a:rPr lang="en-GB" i="1" dirty="0" smtClean="0"/>
              <a:t>S, we</a:t>
            </a:r>
          </a:p>
          <a:p>
            <a:r>
              <a:rPr lang="en-GB" dirty="0" smtClean="0"/>
              <a:t>define the </a:t>
            </a:r>
            <a:r>
              <a:rPr lang="en-GB" i="1" dirty="0" smtClean="0"/>
              <a:t>surface integral or the flux of A through S</a:t>
            </a:r>
            <a:endParaRPr lang="en-GB" dirty="0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400" y="4953000"/>
            <a:ext cx="362712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15000" y="5029200"/>
            <a:ext cx="1756064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914400"/>
            <a:ext cx="8142514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5600" y="1447800"/>
            <a:ext cx="6096000" cy="2710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5334000"/>
            <a:ext cx="2257425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1295400"/>
            <a:ext cx="2647950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962400" y="4648200"/>
            <a:ext cx="4524375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457200" y="3048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EXAMPLE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533400"/>
            <a:ext cx="7010400" cy="5224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DEL OPERATOR</a:t>
            </a:r>
            <a:endParaRPr lang="en-GB" dirty="0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447800"/>
            <a:ext cx="8001000" cy="1579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04800" y="2971800"/>
            <a:ext cx="8610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This vector differential operator, otherwise known as the </a:t>
            </a:r>
            <a:r>
              <a:rPr lang="en-GB" i="1" dirty="0" smtClean="0"/>
              <a:t>gradient operator, is not a vector</a:t>
            </a:r>
          </a:p>
          <a:p>
            <a:r>
              <a:rPr lang="en-GB" dirty="0" smtClean="0"/>
              <a:t>in itself, but when it operates on a scalar function, for example, a vector ensues. The operator is useful in defining</a:t>
            </a:r>
            <a:endParaRPr lang="en-GB" dirty="0"/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8800" y="4267200"/>
            <a:ext cx="5562600" cy="1591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/>
          <a:lstStyle/>
          <a:p>
            <a:r>
              <a:rPr lang="en-GB" dirty="0" smtClean="0"/>
              <a:t>In </a:t>
            </a:r>
            <a:r>
              <a:rPr lang="en-GB" dirty="0" smtClean="0"/>
              <a:t>cylindrical </a:t>
            </a:r>
            <a:r>
              <a:rPr lang="en-GB" dirty="0" smtClean="0"/>
              <a:t>systems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smtClean="0"/>
              <a:t>In </a:t>
            </a:r>
            <a:r>
              <a:rPr lang="en-GB" smtClean="0"/>
              <a:t>sphe</a:t>
            </a:r>
            <a:r>
              <a:rPr lang="en-GB" smtClean="0"/>
              <a:t>rical </a:t>
            </a:r>
            <a:r>
              <a:rPr lang="en-GB" dirty="0" smtClean="0"/>
              <a:t>systems</a:t>
            </a:r>
          </a:p>
          <a:p>
            <a:endParaRPr lang="en-GB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399" y="1219200"/>
            <a:ext cx="3075709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91200" y="1295400"/>
            <a:ext cx="1447800" cy="607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95400" y="2057400"/>
            <a:ext cx="2486212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95800" y="2057400"/>
            <a:ext cx="367613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62000" y="4343400"/>
            <a:ext cx="418454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328213" y="4191000"/>
            <a:ext cx="3815787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40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914400" y="5334001"/>
            <a:ext cx="3810000" cy="1017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GRADIENT OF A SCALAR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GB" dirty="0" smtClean="0"/>
              <a:t>The </a:t>
            </a:r>
            <a:r>
              <a:rPr lang="en-GB" b="1" dirty="0" smtClean="0"/>
              <a:t>gradient of a scalar field </a:t>
            </a:r>
            <a:r>
              <a:rPr lang="en-GB" b="1" i="1" dirty="0" smtClean="0"/>
              <a:t>V is a vector that represents both the magnitude and the </a:t>
            </a:r>
            <a:r>
              <a:rPr lang="en-GB" dirty="0" smtClean="0"/>
              <a:t>direction of the maximum space rate of increase of V.</a:t>
            </a:r>
            <a:endParaRPr lang="en-GB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 l="10610"/>
          <a:stretch>
            <a:fillRect/>
          </a:stretch>
        </p:blipFill>
        <p:spPr bwMode="auto">
          <a:xfrm>
            <a:off x="381000" y="3505200"/>
            <a:ext cx="320992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4114800" y="4343400"/>
            <a:ext cx="457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A mathematical expression for the gradient can be obtained by evaluating the difference in</a:t>
            </a:r>
          </a:p>
          <a:p>
            <a:r>
              <a:rPr lang="en-GB" dirty="0" smtClean="0"/>
              <a:t>the field </a:t>
            </a:r>
            <a:r>
              <a:rPr lang="en-GB" i="1" dirty="0" err="1" smtClean="0"/>
              <a:t>dV</a:t>
            </a:r>
            <a:r>
              <a:rPr lang="en-GB" i="1" dirty="0" smtClean="0"/>
              <a:t> between points P1 and P2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09600"/>
            <a:ext cx="469359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5400" y="2286000"/>
            <a:ext cx="200977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381000" y="2362200"/>
            <a:ext cx="762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Let</a:t>
            </a:r>
            <a:endParaRPr lang="en-GB" dirty="0"/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86400" y="838200"/>
            <a:ext cx="3001347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114800" y="2133600"/>
            <a:ext cx="1447800" cy="746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172200" y="2133600"/>
            <a:ext cx="1925782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533400" y="3124200"/>
            <a:ext cx="8305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Thus G has its magnitude and direction as those of the maximum rate of change of </a:t>
            </a:r>
            <a:r>
              <a:rPr lang="en-GB" i="1" dirty="0" smtClean="0"/>
              <a:t>V</a:t>
            </a:r>
            <a:endParaRPr lang="en-GB" dirty="0"/>
          </a:p>
        </p:txBody>
      </p:sp>
      <p:pic>
        <p:nvPicPr>
          <p:cNvPr id="20487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057400" y="3505200"/>
            <a:ext cx="4953000" cy="3251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Example </a:t>
            </a:r>
            <a:endParaRPr lang="en-GB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143000"/>
            <a:ext cx="4648200" cy="1569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2819399"/>
            <a:ext cx="6172200" cy="117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4267200"/>
            <a:ext cx="4953000" cy="921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1000" y="5410200"/>
            <a:ext cx="6629400" cy="964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END</a:t>
            </a:r>
          </a:p>
          <a:p>
            <a:endParaRPr lang="en-GB" dirty="0" smtClean="0"/>
          </a:p>
          <a:p>
            <a:pPr algn="ctr"/>
            <a:r>
              <a:rPr lang="en-GB" dirty="0" smtClean="0"/>
              <a:t>NEXT??</a:t>
            </a:r>
          </a:p>
          <a:p>
            <a:endParaRPr lang="en-GB" dirty="0" smtClean="0"/>
          </a:p>
          <a:p>
            <a:endParaRPr lang="en-GB" dirty="0" smtClean="0">
              <a:solidFill>
                <a:srgbClr val="FF0000"/>
              </a:solidFill>
            </a:endParaRPr>
          </a:p>
          <a:p>
            <a:endParaRPr lang="en-GB" dirty="0" smtClean="0">
              <a:solidFill>
                <a:srgbClr val="FF0000"/>
              </a:solidFill>
            </a:endParaRPr>
          </a:p>
          <a:p>
            <a:r>
              <a:rPr lang="en-GB" dirty="0" smtClean="0">
                <a:solidFill>
                  <a:srgbClr val="FF0000"/>
                </a:solidFill>
              </a:rPr>
              <a:t>DIVERGENCE AND CURL</a:t>
            </a:r>
            <a:endParaRPr lang="en-GB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228</Words>
  <Application>Microsoft Office PowerPoint</Application>
  <PresentationFormat>On-screen Show (4:3)</PresentationFormat>
  <Paragraphs>34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Spherical System and Transformations </vt:lpstr>
      <vt:lpstr>Slide 2</vt:lpstr>
      <vt:lpstr>Slide 3</vt:lpstr>
      <vt:lpstr>Slide 4</vt:lpstr>
      <vt:lpstr>Slide 5</vt:lpstr>
      <vt:lpstr>Slide 6</vt:lpstr>
      <vt:lpstr>Slide 7</vt:lpstr>
      <vt:lpstr>Vector transformation</vt:lpstr>
      <vt:lpstr>Slide 9</vt:lpstr>
      <vt:lpstr>Example </vt:lpstr>
      <vt:lpstr>Slide 11</vt:lpstr>
      <vt:lpstr>Slide 12</vt:lpstr>
      <vt:lpstr>Slide 13</vt:lpstr>
      <vt:lpstr>LINE, SURFACE, AND VOLUME INTEGRALS</vt:lpstr>
      <vt:lpstr>Slide 15</vt:lpstr>
      <vt:lpstr>Slide 16</vt:lpstr>
      <vt:lpstr>Slide 17</vt:lpstr>
      <vt:lpstr>DEL OPERATOR</vt:lpstr>
      <vt:lpstr>Slide 19</vt:lpstr>
      <vt:lpstr>GRADIENT OF A SCALAR</vt:lpstr>
      <vt:lpstr>Slide 21</vt:lpstr>
      <vt:lpstr>Example </vt:lpstr>
      <vt:lpstr>Slide 23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Spherical System and Conversion </dc:title>
  <dc:creator>user</dc:creator>
  <cp:lastModifiedBy>Windows User</cp:lastModifiedBy>
  <cp:revision>7</cp:revision>
  <dcterms:created xsi:type="dcterms:W3CDTF">2006-08-16T00:00:00Z</dcterms:created>
  <dcterms:modified xsi:type="dcterms:W3CDTF">2023-11-21T08:25:58Z</dcterms:modified>
</cp:coreProperties>
</file>