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82" r:id="rId3"/>
    <p:sldId id="28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BC88C-2FD2-41FC-8BC9-59CBB45E3DBC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A33B9-13B0-4CEE-AB8B-A8BB17C16B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A33B9-13B0-4CEE-AB8B-A8BB17C16B5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A33B9-13B0-4CEE-AB8B-A8BB17C16B5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49000">
              <a:schemeClr val="accent5">
                <a:lumMod val="40000"/>
                <a:lumOff val="60000"/>
              </a:schemeClr>
            </a:gs>
            <a:gs pos="100000">
              <a:srgbClr val="FFEBFA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E8040-A771-441B-B1A6-3D159F4E1426}" type="datetimeFigureOut">
              <a:rPr lang="en-US" smtClean="0"/>
              <a:pPr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A2609-C552-4D16-9945-BE497658DB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838200" y="2639199"/>
            <a:ext cx="7315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LISTENING SKILLS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228600" y="-1279502"/>
            <a:ext cx="83058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en-US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Listening is the ability to accurately receive sound and interpret the message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Listening is key to all effective oral communication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Effective listening is a skill that underpins all positive humans relationship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By all accounts, however, most of us are not very good listeners.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8600" y="198120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en-US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Sometimes we pretend to be listening when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are not.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Sometimes we look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attentive in class while our mind wanders far away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Note: What is the difference between hearing and listening?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build="p"/>
      <p:bldP spid="1536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228600" y="659487"/>
            <a:ext cx="8534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Types of Listening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Marginal Listening </a:t>
            </a:r>
            <a:endParaRPr kumimoji="0" lang="en-US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8600" y="1334871"/>
            <a:ext cx="86868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Refers to a listener’s poor listening habits.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It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is characterised by inattention, day-dreaming, wandering attention and avoiding understanding of complex points.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Evaluative Listening</a:t>
            </a:r>
            <a:endParaRPr kumimoji="0" lang="en-US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This involves passing hasty judgments about the speaker</a:t>
            </a: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instead of understanding the idea from speaker’s point of view/frame of reference.</a:t>
            </a:r>
            <a:endParaRPr lang="en-US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Active</a:t>
            </a:r>
            <a:r>
              <a:rPr kumimoji="0" lang="en-US" sz="2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Listening</a:t>
            </a:r>
            <a:endParaRPr kumimoji="0" lang="en-US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Pays attention to what a speaker says and intervenes very little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regardless whether you agree to the speaker or not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aseline="0" dirty="0" smtClean="0">
                <a:latin typeface="Times New Roman" pitchFamily="18" charset="0"/>
                <a:cs typeface="Times New Roman" pitchFamily="18" charset="0"/>
              </a:rPr>
              <a:t>Separate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facts from emotion in an effort to listen completely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59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build="p"/>
      <p:bldP spid="1536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0" y="0"/>
            <a:ext cx="48365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Barriers to Effective Listening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1192886"/>
            <a:ext cx="8763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Physiological barriers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This is mainly biological factor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You cannot </a:t>
            </a:r>
            <a:r>
              <a: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listen effectively if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you cannot hear what is being said.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hearing impairment/physical disabilities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poor acoustics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" grpId="0" build="allAtOnce"/>
      <p:bldP spid="19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228600" y="672643"/>
            <a:ext cx="8686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Psychological barriers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Wandering mind &amp; day dreaming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Lack</a:t>
            </a:r>
            <a:r>
              <a:rPr kumimoji="0" lang="en-US" sz="280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of interest to the topic/speaker</a:t>
            </a:r>
            <a:endParaRPr kumimoji="0" lang="en-US" sz="2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Differences in opinion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Prejudgments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3505200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800" b="1" i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Linguistic barriers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Use of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unfamiliar/difficult words</a:t>
            </a: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Different accents and pronunciation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Mispronounced words or words with double 	meaning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" grpId="0" build="p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228600" y="-2207"/>
            <a:ext cx="8382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Personality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ard to listen if a speaker is different from what we view as normal.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Unusual clothing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annerisms,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Radical hairstyle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Heavy jewelry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Too much perfume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28600" y="2656584"/>
            <a:ext cx="86868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2800" b="1" i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2800" b="1" i="1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2800" b="1" i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800" b="1" i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Environmental distractions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Noisy surroundings (moving</a:t>
            </a:r>
            <a:r>
              <a:rPr kumimoji="0" lang="en-US" sz="280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cars, loud music)</a:t>
            </a:r>
            <a:endParaRPr kumimoji="0" lang="en-US" sz="2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Irrelevant posters and pictures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Movement of people etc.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endParaRPr kumimoji="0" lang="en-US" sz="2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2800" b="1" i="1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US" sz="28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1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1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15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15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" grpId="0" build="p"/>
      <p:bldP spid="4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1676400" y="152400"/>
            <a:ext cx="54425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Building Powerful Listening Skills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81000" y="-391416"/>
            <a:ext cx="8763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b="1" i="1" dirty="0" smtClean="0">
              <a:latin typeface="Times New Roman" pitchFamily="18" charset="0"/>
              <a:cs typeface="Times New Roman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Concentrate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Stop</a:t>
            </a:r>
            <a:r>
              <a:rPr kumimoji="0" lang="en-US" sz="280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talking</a:t>
            </a:r>
            <a:endParaRPr kumimoji="0" lang="en-US" sz="2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Let others explain their 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Focus attention on what the speaker is saying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Avoid inattention &amp; fake 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You may take down some points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2971800"/>
            <a:ext cx="8610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2800" b="1" i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Control your environment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Close windows or doors,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Turn off noisy appliances such as TVs &amp; radios</a:t>
            </a:r>
            <a:endParaRPr lang="en-US" sz="28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Choose a quite place and time etc.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Remove irrelevant pictures &amp; posters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" grpId="0" build="allAtOnce"/>
      <p:bldP spid="23555" grpId="0" build="p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583286"/>
            <a:ext cx="8763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Establish a receptive mind-set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Expect to learn something by listening.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Strive for a positive and receptive frame of mind.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If the message is complex, think of it as mental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challenge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152400" y="3339643"/>
            <a:ext cx="8763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Keep an open mind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iscipline yourself to listen objectively.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Be fair to the speaker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Hear what is really being said, not what you want to hear.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Avoid prejudgments and dislike to the speaker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2457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8600" y="3823157"/>
            <a:ext cx="86868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Listen between the lines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Focus both on what is spoken and what is unspoken.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Listen for feelings as well as for 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Establish and maintain eye contact with the speaker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52400" y="0"/>
            <a:ext cx="8763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Judge ideas, not appearances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Learn to concentrate on the content of the message, not on </a:t>
            </a: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speaker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3810000"/>
            <a:ext cx="8915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Take selective notes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ecord important facts that must be recalled later.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Select only the most important points so that the note taking process does not interfere with your concentration on the speaker’s total message.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 build="p"/>
      <p:bldP spid="2662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228600" y="470357"/>
            <a:ext cx="8686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Provide feedback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Let the speaker know that you are listening.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Nod your head,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maintain eye contact etc.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Ask relevant questions at appropriate times.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motivates the speaker to a certain level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7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7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423</Words>
  <Application>Microsoft Office PowerPoint</Application>
  <PresentationFormat>On-screen Show (4:3)</PresentationFormat>
  <Paragraphs>102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Noel</dc:creator>
  <cp:lastModifiedBy>STEPHEN NSYENGULA</cp:lastModifiedBy>
  <cp:revision>88</cp:revision>
  <dcterms:created xsi:type="dcterms:W3CDTF">2017-05-11T10:07:01Z</dcterms:created>
  <dcterms:modified xsi:type="dcterms:W3CDTF">2022-11-28T08:21:22Z</dcterms:modified>
</cp:coreProperties>
</file>