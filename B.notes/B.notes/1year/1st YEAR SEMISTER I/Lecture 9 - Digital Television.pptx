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273" r:id="rId6"/>
    <p:sldId id="265" r:id="rId7"/>
    <p:sldId id="274" r:id="rId8"/>
    <p:sldId id="300" r:id="rId9"/>
    <p:sldId id="275" r:id="rId10"/>
    <p:sldId id="266" r:id="rId11"/>
    <p:sldId id="267" r:id="rId12"/>
    <p:sldId id="276" r:id="rId13"/>
    <p:sldId id="279" r:id="rId14"/>
    <p:sldId id="277" r:id="rId15"/>
    <p:sldId id="287" r:id="rId16"/>
    <p:sldId id="288" r:id="rId17"/>
    <p:sldId id="289" r:id="rId18"/>
    <p:sldId id="268" r:id="rId19"/>
    <p:sldId id="269" r:id="rId20"/>
    <p:sldId id="270" r:id="rId21"/>
    <p:sldId id="271" r:id="rId22"/>
    <p:sldId id="284" r:id="rId23"/>
    <p:sldId id="278" r:id="rId24"/>
    <p:sldId id="280" r:id="rId25"/>
    <p:sldId id="290" r:id="rId26"/>
    <p:sldId id="291" r:id="rId27"/>
    <p:sldId id="281" r:id="rId28"/>
    <p:sldId id="293" r:id="rId29"/>
    <p:sldId id="292" r:id="rId30"/>
    <p:sldId id="282" r:id="rId31"/>
    <p:sldId id="294" r:id="rId32"/>
    <p:sldId id="283" r:id="rId33"/>
    <p:sldId id="272" r:id="rId34"/>
    <p:sldId id="296" r:id="rId35"/>
    <p:sldId id="299" r:id="rId36"/>
    <p:sldId id="285" r:id="rId37"/>
    <p:sldId id="29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404040"/>
    <a:srgbClr val="00B0F0"/>
    <a:srgbClr val="0070C0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1888" autoAdjust="0"/>
  </p:normalViewPr>
  <p:slideViewPr>
    <p:cSldViewPr snapToGrid="0" showGuides="1">
      <p:cViewPr varScale="1">
        <p:scale>
          <a:sx n="46" d="100"/>
          <a:sy n="46" d="100"/>
        </p:scale>
        <p:origin x="78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4" d="100"/>
        <a:sy n="114" d="100"/>
      </p:scale>
      <p:origin x="0" y="-1476"/>
    </p:cViewPr>
  </p:sorterViewPr>
  <p:notesViewPr>
    <p:cSldViewPr snapToGrid="0" showGuides="1">
      <p:cViewPr>
        <p:scale>
          <a:sx n="50" d="100"/>
          <a:sy n="50" d="100"/>
        </p:scale>
        <p:origin x="2640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AFA8042-29A1-4486-A765-7552698406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8D8449A-A734-4B2E-9806-61303F24B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49263-8DF9-4907-970E-1CFD040DC73A}" type="datetimeFigureOut">
              <a:rPr lang="en-US" smtClean="0"/>
              <a:t>2/25/2021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6605C2A-990C-4531-8CBF-BC3BEC0AF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D7358FE-F7D5-4C85-B0FD-2394F7F877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AE485-B3C6-4830-BBC8-C6E008BDD6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628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0B412-7BFF-46C7-AB5E-DE35F66C9933}" type="datetimeFigureOut">
              <a:rPr lang="en-US" noProof="0" smtClean="0"/>
              <a:t>2/25/2021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ACE04-E13C-4837-B6DD-B388E7CAA05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044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ACE04-E13C-4837-B6DD-B388E7CAA05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23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Surface Acoustic Wave Filters or SAW Filters are compact, low-cost RF filters that can be used in a wide range of applications up to 3 GHz.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SAW filters operate by converting electrical energy into acoustic or mechanical energy on a piezoelectric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ACE04-E13C-4837-B6DD-B388E7CAA05E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8186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93407-1483-4B80-86DE-DAE1D4D89093}" type="datetimeFigureOut">
              <a:rPr lang="en-US" noProof="0" smtClean="0"/>
              <a:t>2/25/2021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94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430" y="1046163"/>
            <a:ext cx="5445369" cy="1114784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C9302-80D9-4A88-8591-DE2D4BA1F9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08430" y="2506662"/>
            <a:ext cx="5445370" cy="3454523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800"/>
            </a:lvl1pPr>
            <a:lvl2pPr>
              <a:lnSpc>
                <a:spcPct val="100000"/>
              </a:lnSpc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buClr>
                <a:schemeClr val="accent1"/>
              </a:buClr>
              <a:defRPr sz="1400"/>
            </a:lvl3pPr>
            <a:lvl4pPr>
              <a:lnSpc>
                <a:spcPct val="100000"/>
              </a:lnSpc>
              <a:buClr>
                <a:schemeClr val="accent1"/>
              </a:buClr>
              <a:defRPr sz="1200"/>
            </a:lvl4pPr>
            <a:lvl5pPr>
              <a:lnSpc>
                <a:spcPct val="100000"/>
              </a:lnSpc>
              <a:buClr>
                <a:schemeClr val="accent1"/>
              </a:buClr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xmlns="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045" y="0"/>
            <a:ext cx="5210175" cy="5961063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20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750802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84765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1046163"/>
            <a:ext cx="5445369" cy="1114784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1EC9302-80D9-4A88-8591-DE2D4BA1F9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416" y="2506662"/>
            <a:ext cx="5445370" cy="3454523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xmlns="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9755" y="1"/>
            <a:ext cx="3430408" cy="4091942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-24055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4CF1D2ED-7B25-4251-BF07-47FBAA534810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8725921A-0ED5-431E-899C-28A6920B5029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E8B169A-8A2F-4425-A9A1-1B828428B43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1804745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xmlns="" id="{63A2A33D-4D91-454D-A35B-6DA97069EC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2186" y="555157"/>
            <a:ext cx="2649814" cy="429819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xmlns="" id="{7EC67FB7-777C-473E-95B8-585AA8E6640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19754" y="4289110"/>
            <a:ext cx="3430407" cy="167207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0589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8BFC94-FFEC-4290-AC27-760323F21B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39691"/>
            <a:ext cx="10515600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800" b="0" cap="none" baseline="0" dirty="0" smtClean="0"/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13018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xmlns="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xmlns="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806385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12D9B6D-CE43-4FB1-87C0-D3565E7302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80986" y="2426274"/>
            <a:ext cx="3008434" cy="60108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49D73CD-EB11-4ED6-80CF-B68320D57E9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80986" y="3097702"/>
            <a:ext cx="3008434" cy="3091961"/>
          </a:xfrm>
        </p:spPr>
        <p:txBody>
          <a:bodyPr lIns="0" tIns="0" rIns="0" bIns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xmlns="" id="{57889B18-CC7E-47A7-B83B-45D7871D2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3385227" cy="134113"/>
            <a:chOff x="-24055" y="1452565"/>
            <a:chExt cx="2374534" cy="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3639489" y="421045"/>
            <a:ext cx="0" cy="5768619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A09F60F9-61AE-4464-B369-1CF86DB708D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870582" y="2426274"/>
            <a:ext cx="3008434" cy="60108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xmlns="" id="{124CEF01-2C7C-4568-8A45-5F5A058ECFC1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7870582" y="3097702"/>
            <a:ext cx="3008434" cy="3091961"/>
          </a:xfrm>
        </p:spPr>
        <p:txBody>
          <a:bodyPr lIns="0" tIns="0" rIns="0" bIns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xmlns="" id="{BAF86618-E012-4E70-91E3-A72E71C63E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986" y="1676296"/>
            <a:ext cx="587932" cy="58793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Icon Here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xmlns="" id="{4FF378B9-734E-4C43-836C-CB80566DDB1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68008" y="1676296"/>
            <a:ext cx="587932" cy="58793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Icon Here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76F2CCF2-293A-49CA-B2A9-134BB5DEF98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080985" y="480157"/>
            <a:ext cx="6944563" cy="823912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xmlns="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1905163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Vertical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16488" y="0"/>
            <a:ext cx="6875511" cy="6858000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536DA47-61AF-4CF1-8DF3-3721934D13E3}"/>
              </a:ext>
            </a:extLst>
          </p:cNvPr>
          <p:cNvSpPr/>
          <p:nvPr userDrawn="1"/>
        </p:nvSpPr>
        <p:spPr>
          <a:xfrm>
            <a:off x="0" y="0"/>
            <a:ext cx="5316488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56FD760-FBDC-4410-A039-469F7931D3A3}"/>
              </a:ext>
            </a:extLst>
          </p:cNvPr>
          <p:cNvSpPr/>
          <p:nvPr userDrawn="1"/>
        </p:nvSpPr>
        <p:spPr>
          <a:xfrm>
            <a:off x="831850" y="1723292"/>
            <a:ext cx="5307246" cy="374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651" y="1087907"/>
            <a:ext cx="4468698" cy="1444275"/>
          </a:xfrm>
        </p:spPr>
        <p:txBody>
          <a:bodyPr vert="horz" lIns="91440" tIns="792000" rIns="91440" bIns="45720" rtlCol="0" anchor="t">
            <a:noAutofit/>
          </a:bodyPr>
          <a:lstStyle>
            <a:lvl1pPr algn="l">
              <a:defRPr lang="en-IN" sz="3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E8BFC94-FFEC-4290-AC27-760323F21B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8711" y="2552611"/>
            <a:ext cx="4097778" cy="1992819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800" b="0" cap="none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454991" y="1620451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xmlns="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Your company name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C5F2EA84-5150-479B-86D5-F4BAE1263488}"/>
              </a:ext>
            </a:extLst>
          </p:cNvPr>
          <p:cNvGrpSpPr/>
          <p:nvPr userDrawn="1"/>
        </p:nvGrpSpPr>
        <p:grpSpPr>
          <a:xfrm flipH="1">
            <a:off x="1130928" y="4803540"/>
            <a:ext cx="3616779" cy="3522776"/>
            <a:chOff x="2555621" y="3917613"/>
            <a:chExt cx="3616779" cy="352277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C0699C4B-8D8E-47E2-A0C5-D71C25ABAC72}"/>
                </a:ext>
              </a:extLst>
            </p:cNvPr>
            <p:cNvSpPr/>
            <p:nvPr userDrawn="1"/>
          </p:nvSpPr>
          <p:spPr>
            <a:xfrm>
              <a:off x="2874028" y="4142017"/>
              <a:ext cx="3298372" cy="329837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2F607AB9-31A7-4B79-9AFE-0DFDB792E20C}"/>
                </a:ext>
              </a:extLst>
            </p:cNvPr>
            <p:cNvSpPr/>
            <p:nvPr userDrawn="1"/>
          </p:nvSpPr>
          <p:spPr>
            <a:xfrm>
              <a:off x="2555621" y="3917613"/>
              <a:ext cx="1268186" cy="126818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4174930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3CABAC-B403-4354-A27F-4C38B08C1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885" y="2704121"/>
            <a:ext cx="6556248" cy="750278"/>
          </a:xfrm>
        </p:spPr>
        <p:txBody>
          <a:bodyPr/>
          <a:lstStyle>
            <a:lvl1pPr>
              <a:defRPr lang="en-US" sz="4800" b="1" kern="1200" cap="all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93407-1483-4B80-86DE-DAE1D4D89093}" type="datetimeFigureOut">
              <a:rPr lang="en-US" noProof="0" smtClean="0"/>
              <a:t>2/25/2021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3760408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3" name="Graphic 22" descr="Envelope">
            <a:extLst>
              <a:ext uri="{FF2B5EF4-FFF2-40B4-BE49-F238E27FC236}">
                <a16:creationId xmlns:a16="http://schemas.microsoft.com/office/drawing/2014/main" xmlns="" id="{3C32C7E5-809C-4E12-8962-1B868951E6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834803" y="4029040"/>
            <a:ext cx="469232" cy="469232"/>
          </a:xfrm>
          <a:prstGeom prst="rect">
            <a:avLst/>
          </a:prstGeom>
        </p:spPr>
      </p:pic>
      <p:sp>
        <p:nvSpPr>
          <p:cNvPr id="34" name="Subtitle 2">
            <a:extLst>
              <a:ext uri="{FF2B5EF4-FFF2-40B4-BE49-F238E27FC236}">
                <a16:creationId xmlns:a16="http://schemas.microsoft.com/office/drawing/2014/main" xmlns="" id="{31AD270F-1692-4526-B979-6B5945A20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809" y="4126311"/>
            <a:ext cx="3640478" cy="433938"/>
          </a:xfrm>
        </p:spPr>
        <p:txBody>
          <a:bodyPr>
            <a:normAutofit/>
          </a:bodyPr>
          <a:lstStyle>
            <a:lvl1pPr marL="0" indent="0" algn="l">
              <a:buNone/>
              <a:defRPr sz="1800" b="0" cap="none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xmlns="" id="{382940E6-7963-411F-B35A-57121171A98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08614" y="4836222"/>
            <a:ext cx="3638674" cy="4539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b="0" cap="none" baseline="0" dirty="0" smtClean="0"/>
            </a:lvl1pPr>
            <a:lvl2pPr>
              <a:defRPr lang="en-US" sz="2000" dirty="0" smtClean="0"/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en-IN" sz="1600" dirty="0"/>
            </a:lvl5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1F8FC2D7-B114-3444-8684-995FC4D6D459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CEE45073-ED8E-0544-85FA-9AF5A478417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xmlns="" id="{B8BAF06E-A8A8-484C-8F6C-E42EDC46BBCB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586EB62D-13C7-6E43-9D98-B706D2B9ADDF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xmlns="" id="{35CF3453-ED5A-024D-8815-C08EFA13D1A6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pic>
        <p:nvPicPr>
          <p:cNvPr id="3" name="Graphic 2" descr="Link">
            <a:extLst>
              <a:ext uri="{FF2B5EF4-FFF2-40B4-BE49-F238E27FC236}">
                <a16:creationId xmlns:a16="http://schemas.microsoft.com/office/drawing/2014/main" xmlns="" id="{16E3F5A0-978F-8D46-BBFB-19A7F7883D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787152" y="4809677"/>
            <a:ext cx="542081" cy="54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93407-1483-4B80-86DE-DAE1D4D89093}" type="datetimeFigureOut">
              <a:rPr lang="en-US" noProof="0" smtClean="0"/>
              <a:t>2/25/2021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5F8A1A8-E078-4836-ABD1-CD4E75BBF58F}"/>
              </a:ext>
            </a:extLst>
          </p:cNvPr>
          <p:cNvSpPr/>
          <p:nvPr userDrawn="1"/>
        </p:nvSpPr>
        <p:spPr>
          <a:xfrm>
            <a:off x="0" y="0"/>
            <a:ext cx="4424363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177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20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xmlns="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xmlns="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xmlns="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750802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A55704E-D515-4774-90C6-5F887DDAE55E}"/>
              </a:ext>
            </a:extLst>
          </p:cNvPr>
          <p:cNvSpPr/>
          <p:nvPr userDrawn="1"/>
        </p:nvSpPr>
        <p:spPr>
          <a:xfrm>
            <a:off x="469044" y="1"/>
            <a:ext cx="5210176" cy="596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84878778-0299-471F-A4C9-D0C1E82ED8D2}"/>
              </a:ext>
            </a:extLst>
          </p:cNvPr>
          <p:cNvCxnSpPr>
            <a:cxnSpLocks/>
          </p:cNvCxnSpPr>
          <p:nvPr userDrawn="1"/>
        </p:nvCxnSpPr>
        <p:spPr>
          <a:xfrm>
            <a:off x="1001746" y="1290512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E39D1C78-6110-4052-8455-7E7893F7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466" y="1276857"/>
            <a:ext cx="4097778" cy="1255325"/>
          </a:xfrm>
        </p:spPr>
        <p:txBody>
          <a:bodyPr/>
          <a:lstStyle>
            <a:lvl1pPr>
              <a:defRPr lang="en-US" sz="3600" b="1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E3405997-7AE2-4C6E-8A7D-735F58A49D1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5467" y="2620651"/>
            <a:ext cx="4097778" cy="1933681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b="0" cap="none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  <a:buNone/>
            </a:pPr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5337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xmlns="" id="{BE814D66-F00F-0D44-AD03-889FEE787E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FF9B990C-5D9C-4A90-AC73-5889BC9F7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44C85E5F-5B5E-48CC-8469-0263621D91FF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7EE4E300-6C8E-4262-BE1D-587C7B70E7ED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89702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xmlns="" id="{6E22FA8C-3243-4716-A6BD-F37D6058FB4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47381" y="1825625"/>
            <a:ext cx="5481203" cy="435133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xmlns="" id="{8ABE3FD8-339C-4F75-876F-8347ADE67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63416" y="1825625"/>
            <a:ext cx="5481203" cy="435133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E72FB389-5EA4-4084-B7A2-A4D0A43561F6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F7783FE1-0115-4345-89B2-C073569FB8EE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36614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7" name="Text Placeholder 4">
            <a:extLst>
              <a:ext uri="{FF2B5EF4-FFF2-40B4-BE49-F238E27FC236}">
                <a16:creationId xmlns:a16="http://schemas.microsoft.com/office/drawing/2014/main" xmlns="" id="{9F73353B-C50B-4A8A-87CF-657C1EB8940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47380" y="1681163"/>
            <a:ext cx="54812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xmlns="" id="{5EFF7F5E-3221-4390-9B17-D1944365BF12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47379" y="2586215"/>
            <a:ext cx="5481203" cy="36034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xmlns="" id="{9506B516-77C1-431B-A8A5-68FA5D4B6D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3416" y="1681163"/>
            <a:ext cx="54812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xmlns="" id="{860F1452-CAB9-4154-ADCC-9245E71D0D2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3416" y="2586215"/>
            <a:ext cx="5481202" cy="3603448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12892DF4-5A8A-4E92-A425-210ABE570F58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99AE2680-A46C-4B06-9ED9-53E617C1F17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5527855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/>
            <a:r>
              <a:rPr lang="en-US" noProof="0"/>
              <a:t>TITLE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xmlns="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xmlns="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Text Placeholder 3">
            <a:extLst>
              <a:ext uri="{FF2B5EF4-FFF2-40B4-BE49-F238E27FC236}">
                <a16:creationId xmlns:a16="http://schemas.microsoft.com/office/drawing/2014/main" xmlns="" id="{86E0573A-023B-4D1C-8224-56A5D0DDF3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4839679"/>
            <a:ext cx="10507662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b="0" cap="none" baseline="0"/>
            </a:lvl1pPr>
          </a:lstStyle>
          <a:p>
            <a:pPr marL="228600" lvl="0" indent="-228600" algn="ctr">
              <a:lnSpc>
                <a:spcPct val="100000"/>
              </a:lnSpc>
            </a:pPr>
            <a:r>
              <a:rPr lang="en-US" noProof="0"/>
              <a:t>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xmlns="" id="{12087456-C0E8-4AA6-81E8-996CEC037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3713017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dirty="0"/>
            </a:lvl1pPr>
          </a:lstStyle>
          <a:p>
            <a:pPr marL="0" lvl="0" indent="0" algn="ctr">
              <a:buNone/>
            </a:pPr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119214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Title here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3385227" cy="134113"/>
            <a:chOff x="-24055" y="1452565"/>
            <a:chExt cx="2374534" cy="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xmlns="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xmlns="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xmlns="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Text Placeholder 3">
            <a:extLst>
              <a:ext uri="{FF2B5EF4-FFF2-40B4-BE49-F238E27FC236}">
                <a16:creationId xmlns:a16="http://schemas.microsoft.com/office/drawing/2014/main" xmlns="" id="{1B247C0B-04BA-4D5C-A41D-AEA60217241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3416" y="2057400"/>
            <a:ext cx="3206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xmlns="" id="{194C619D-34F6-4A29-857A-D760072187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88084" y="246187"/>
            <a:ext cx="7467304" cy="561486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517590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xmlns="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xmlns="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xmlns="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82D9D565-739D-4898-97BD-79EB8C7F91EC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620FADA3-E777-489C-976D-0B0C4FD31310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651473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8DCE8039-0D05-4A75-878A-907B8D44B9E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xmlns="" id="{C1402252-45E8-45B3-BA5E-DFA33A4547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xmlns="" id="{1300C883-1ACE-4AF3-9875-792A769588D5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E75483D7-E612-43D2-9B0E-C69356C160DA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F279C5F2-4C7F-4470-A44F-E8AD69AC9FA0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87506116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40D79E1-5F46-41CA-85E7-44C2A6C6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365125"/>
            <a:ext cx="11465168" cy="918553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7B0B511-05FD-459E-AC79-A87540961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B98321-594C-4030-A2B0-3492F77EE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384" y="6463207"/>
            <a:ext cx="2743200" cy="258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365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62" r:id="rId5"/>
    <p:sldLayoutId id="2147483660" r:id="rId6"/>
    <p:sldLayoutId id="2147483663" r:id="rId7"/>
    <p:sldLayoutId id="2147483667" r:id="rId8"/>
    <p:sldLayoutId id="2147483668" r:id="rId9"/>
    <p:sldLayoutId id="2147483666" r:id="rId10"/>
    <p:sldLayoutId id="2147483669" r:id="rId11"/>
    <p:sldLayoutId id="2147483670" r:id="rId12"/>
    <p:sldLayoutId id="2147483671" r:id="rId13"/>
    <p:sldLayoutId id="2147483672" r:id="rId14"/>
    <p:sldLayoutId id="2147483664" r:id="rId15"/>
    <p:sldLayoutId id="214748366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0359CD-8DFF-4AF2-B957-630ED2A60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6300" y="2830782"/>
            <a:ext cx="7233557" cy="993073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rgbClr val="7030A0"/>
                </a:solidFill>
              </a:rPr>
              <a:t>LECTURE nine: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4400" dirty="0" smtClean="0"/>
              <a:t>digital television</a:t>
            </a:r>
            <a:endParaRPr lang="en-IN" sz="4400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9" r="12469"/>
          <a:stretch>
            <a:fillRect/>
          </a:stretch>
        </p:blipFill>
        <p:spPr/>
      </p:pic>
      <p:sp>
        <p:nvSpPr>
          <p:cNvPr id="8" name="Rectangle 7"/>
          <p:cNvSpPr/>
          <p:nvPr/>
        </p:nvSpPr>
        <p:spPr>
          <a:xfrm>
            <a:off x="4864989" y="211257"/>
            <a:ext cx="6876177" cy="76944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ET 8105 – Television Systems</a:t>
            </a:r>
            <a:endParaRPr lang="en-US" sz="4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5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440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200" dirty="0">
                <a:latin typeface="Palatino Linotype" panose="02040502050505030304" pitchFamily="18" charset="0"/>
              </a:rPr>
              <a:t>The television system in which analog audio and video signals are converted into digital </a:t>
            </a:r>
            <a:r>
              <a:rPr lang="en-US" sz="3200" dirty="0" smtClean="0">
                <a:latin typeface="Palatino Linotype" panose="02040502050505030304" pitchFamily="18" charset="0"/>
              </a:rPr>
              <a:t>binary </a:t>
            </a:r>
            <a:r>
              <a:rPr lang="en-US" sz="3200" dirty="0">
                <a:latin typeface="Palatino Linotype" panose="02040502050505030304" pitchFamily="18" charset="0"/>
              </a:rPr>
              <a:t>pulses for transmission, and after detection at the receiver are reconverted into </a:t>
            </a:r>
            <a:r>
              <a:rPr lang="en-US" sz="3200" dirty="0" smtClean="0">
                <a:latin typeface="Palatino Linotype" panose="02040502050505030304" pitchFamily="18" charset="0"/>
              </a:rPr>
              <a:t>analog </a:t>
            </a:r>
            <a:r>
              <a:rPr lang="en-US" sz="3200" dirty="0">
                <a:latin typeface="Palatino Linotype" panose="02040502050505030304" pitchFamily="18" charset="0"/>
              </a:rPr>
              <a:t>signals for being reproduced as original sound and picture, is called </a:t>
            </a:r>
            <a:r>
              <a:rPr lang="en-US" sz="3200" b="1" i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digital television</a:t>
            </a:r>
            <a:r>
              <a:rPr lang="en-US" sz="3200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 </a:t>
            </a:r>
            <a:r>
              <a:rPr lang="en-US" sz="3200" dirty="0">
                <a:latin typeface="Palatino Linotype" panose="02040502050505030304" pitchFamily="18" charset="0"/>
              </a:rPr>
              <a:t>or simply </a:t>
            </a:r>
            <a:r>
              <a:rPr lang="en-US" sz="3200" b="1" dirty="0">
                <a:solidFill>
                  <a:srgbClr val="7030A0"/>
                </a:solidFill>
                <a:latin typeface="Palatino Linotype" panose="02040502050505030304" pitchFamily="18" charset="0"/>
              </a:rPr>
              <a:t>DTV</a:t>
            </a:r>
            <a:r>
              <a:rPr lang="en-US" sz="3200" dirty="0" smtClean="0">
                <a:latin typeface="Palatino Linotype" panose="02040502050505030304" pitchFamily="18" charset="0"/>
              </a:rPr>
              <a:t>.</a:t>
            </a:r>
          </a:p>
          <a:p>
            <a:pPr lvl="1" algn="just"/>
            <a:r>
              <a:rPr lang="en-US" sz="2800" dirty="0">
                <a:latin typeface="Palatino Linotype" panose="02040502050505030304" pitchFamily="18" charset="0"/>
              </a:rPr>
              <a:t>Naturally, a question arises as to what is the need of </a:t>
            </a:r>
            <a:r>
              <a:rPr lang="en-US" sz="2800" dirty="0" smtClean="0">
                <a:latin typeface="Palatino Linotype" panose="02040502050505030304" pitchFamily="18" charset="0"/>
              </a:rPr>
              <a:t>this exercise of first digitizing and then negating the process.</a:t>
            </a:r>
          </a:p>
          <a:p>
            <a:pPr lvl="1" algn="just"/>
            <a:r>
              <a:rPr lang="en-US" sz="2800" dirty="0" smtClean="0">
                <a:latin typeface="Palatino Linotype" panose="02040502050505030304" pitchFamily="18" charset="0"/>
              </a:rPr>
              <a:t>The answer lies in some very  important </a:t>
            </a:r>
            <a:r>
              <a:rPr lang="en-US" sz="2800" dirty="0">
                <a:latin typeface="Palatino Linotype" panose="02040502050505030304" pitchFamily="18" charset="0"/>
              </a:rPr>
              <a:t>advantages the process provides to the user at quite a low cost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Introduction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476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Picture Quality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Noise is small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No Ghost image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Flicker removed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High definition pictures can be easily achieved</a:t>
            </a:r>
            <a:endParaRPr lang="en-US" sz="26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Advantages of Digital TV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98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266207" cy="5569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b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Special features available in DTV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Picture in </a:t>
            </a:r>
            <a:r>
              <a:rPr lang="en-US" sz="2600" dirty="0" smtClean="0">
                <a:latin typeface="Palatino Linotype" panose="02040502050505030304" pitchFamily="18" charset="0"/>
              </a:rPr>
              <a:t>picture (PIP) and Picture and picture (P&amp;P) – viewing multiple inputs on a TV screen</a:t>
            </a:r>
            <a:endParaRPr lang="en-US" sz="2600" dirty="0" smtClean="0">
              <a:latin typeface="Palatino Linotype" panose="02040502050505030304" pitchFamily="18" charset="0"/>
            </a:endParaRP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Freezing of frame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TV games can be operated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All the processing functions can be software controlled </a:t>
            </a:r>
          </a:p>
          <a:p>
            <a:pPr lvl="1" algn="just"/>
            <a:r>
              <a:rPr lang="en-US" sz="2600" dirty="0" err="1" smtClean="0">
                <a:latin typeface="Palatino Linotype" panose="02040502050505030304" pitchFamily="18" charset="0"/>
              </a:rPr>
              <a:t>Teletext</a:t>
            </a:r>
            <a:r>
              <a:rPr lang="en-US" sz="2600" dirty="0" smtClean="0">
                <a:latin typeface="Palatino Linotype" panose="02040502050505030304" pitchFamily="18" charset="0"/>
              </a:rPr>
              <a:t> reception can be incorporated in TV receivers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View data can be provided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Interaction between end user and broadcaster for pay TV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Reduced bandwidth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Multiplexing of programmes on the same channel</a:t>
            </a:r>
            <a:endParaRPr lang="en-US" sz="2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6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465" y="540327"/>
            <a:ext cx="9059689" cy="509154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11361" y="5785929"/>
            <a:ext cx="3405896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Palatino Linotype" panose="02040502050505030304" pitchFamily="18" charset="0"/>
              </a:rPr>
              <a:t>Picture in picture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9533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465168" cy="5569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b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Special Effects available in digital television systems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Editing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Zooming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Blasting – Camcorders can zoom any part of the picture for recording and subsequent display</a:t>
            </a:r>
          </a:p>
          <a:p>
            <a:pPr lvl="1" algn="just"/>
            <a:r>
              <a:rPr lang="en-US" sz="2600" dirty="0" err="1" smtClean="0">
                <a:latin typeface="Palatino Linotype" panose="02040502050505030304" pitchFamily="18" charset="0"/>
              </a:rPr>
              <a:t>Pixelation</a:t>
            </a:r>
            <a:endParaRPr lang="en-US" sz="2600" dirty="0" smtClean="0">
              <a:latin typeface="Palatino Linotype" panose="02040502050505030304" pitchFamily="18" charset="0"/>
            </a:endParaRP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Wide </a:t>
            </a:r>
            <a:r>
              <a:rPr lang="en-US" sz="2600" dirty="0" smtClean="0">
                <a:latin typeface="Palatino Linotype" panose="02040502050505030304" pitchFamily="18" charset="0"/>
              </a:rPr>
              <a:t>dimension TV (WDTV)</a:t>
            </a:r>
          </a:p>
          <a:p>
            <a:pPr algn="just"/>
            <a:r>
              <a:rPr lang="en-US" sz="2800" b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High Reliability</a:t>
            </a:r>
          </a:p>
          <a:p>
            <a:pPr lvl="1" algn="just"/>
            <a:r>
              <a:rPr lang="en-US" sz="2600" dirty="0">
                <a:latin typeface="Palatino Linotype" panose="02040502050505030304" pitchFamily="18" charset="0"/>
              </a:rPr>
              <a:t>Due to the use of digital ICs, reliability can be very </a:t>
            </a:r>
            <a:r>
              <a:rPr lang="en-US" sz="2600" dirty="0" smtClean="0">
                <a:latin typeface="Palatino Linotype" panose="02040502050505030304" pitchFamily="18" charset="0"/>
              </a:rPr>
              <a:t>high.</a:t>
            </a:r>
          </a:p>
          <a:p>
            <a:pPr lvl="1" algn="just"/>
            <a:r>
              <a:rPr lang="en-US" sz="2600" dirty="0">
                <a:latin typeface="Palatino Linotype" panose="02040502050505030304" pitchFamily="18" charset="0"/>
              </a:rPr>
              <a:t>The ICs have </a:t>
            </a:r>
            <a:r>
              <a:rPr lang="en-US" sz="2600" dirty="0" smtClean="0">
                <a:latin typeface="Palatino Linotype" panose="02040502050505030304" pitchFamily="18" charset="0"/>
              </a:rPr>
              <a:t>also brought </a:t>
            </a:r>
            <a:r>
              <a:rPr lang="en-US" sz="2600" dirty="0">
                <a:latin typeface="Palatino Linotype" panose="02040502050505030304" pitchFamily="18" charset="0"/>
              </a:rPr>
              <a:t>down the cost </a:t>
            </a:r>
            <a:r>
              <a:rPr lang="en-US" sz="2600" dirty="0" smtClean="0">
                <a:latin typeface="Palatino Linotype" panose="02040502050505030304" pitchFamily="18" charset="0"/>
              </a:rPr>
              <a:t>substantially</a:t>
            </a:r>
          </a:p>
          <a:p>
            <a:pPr algn="just"/>
            <a:r>
              <a:rPr lang="en-US" sz="2800" b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Availability </a:t>
            </a:r>
            <a:r>
              <a:rPr lang="en-US" sz="2800" b="1" dirty="0">
                <a:solidFill>
                  <a:srgbClr val="7030A0"/>
                </a:solidFill>
                <a:latin typeface="Palatino Linotype" panose="02040502050505030304" pitchFamily="18" charset="0"/>
              </a:rPr>
              <a:t>of video telephone and video conferencing</a:t>
            </a:r>
          </a:p>
        </p:txBody>
      </p:sp>
    </p:spTree>
    <p:extLst>
      <p:ext uri="{BB962C8B-B14F-4D97-AF65-F5344CB8AC3E}">
        <p14:creationId xmlns:p14="http://schemas.microsoft.com/office/powerpoint/2010/main" val="3259545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576240"/>
            <a:ext cx="11465168" cy="488696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High bit rate requires compression before transmission and decompression at the receiver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Compression/decompression sometimes causes a small noise, called </a:t>
            </a:r>
            <a:r>
              <a:rPr lang="en-US" sz="2600" b="1" i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mosquito noise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In analog system, the quality degrades gradually, but in digital system the picture </a:t>
            </a:r>
            <a:r>
              <a:rPr lang="en-US" sz="2800" dirty="0" smtClean="0">
                <a:latin typeface="Palatino Linotype" panose="02040502050505030304" pitchFamily="18" charset="0"/>
              </a:rPr>
              <a:t>quality </a:t>
            </a:r>
            <a:r>
              <a:rPr lang="en-US" sz="2800" dirty="0">
                <a:latin typeface="Palatino Linotype" panose="02040502050505030304" pitchFamily="18" charset="0"/>
              </a:rPr>
              <a:t>remains good till a certain C/N ratio, but below that it degrades </a:t>
            </a:r>
            <a:r>
              <a:rPr lang="en-US" sz="2800" dirty="0" smtClean="0">
                <a:latin typeface="Palatino Linotype" panose="02040502050505030304" pitchFamily="18" charset="0"/>
              </a:rPr>
              <a:t>very rapidly.</a:t>
            </a:r>
          </a:p>
          <a:p>
            <a:pPr lvl="1" algn="just"/>
            <a:r>
              <a:rPr lang="en-US" sz="2600" dirty="0">
                <a:latin typeface="Palatino Linotype" panose="02040502050505030304" pitchFamily="18" charset="0"/>
              </a:rPr>
              <a:t>This problem has been tackled by using correcting codes, and </a:t>
            </a:r>
            <a:r>
              <a:rPr lang="en-US" sz="2600">
                <a:latin typeface="Palatino Linotype" panose="02040502050505030304" pitchFamily="18" charset="0"/>
              </a:rPr>
              <a:t>by </a:t>
            </a:r>
            <a:r>
              <a:rPr lang="en-US" sz="2600" smtClean="0">
                <a:latin typeface="Palatino Linotype" panose="02040502050505030304" pitchFamily="18" charset="0"/>
              </a:rPr>
              <a:t>incor-porating </a:t>
            </a:r>
            <a:r>
              <a:rPr lang="en-US" sz="2600" dirty="0">
                <a:latin typeface="Palatino Linotype" panose="02040502050505030304" pitchFamily="18" charset="0"/>
              </a:rPr>
              <a:t>intelligence in the decoder circuit so that it may make an intelligent </a:t>
            </a:r>
            <a:r>
              <a:rPr lang="en-US" sz="2600" dirty="0" smtClean="0">
                <a:latin typeface="Palatino Linotype" panose="02040502050505030304" pitchFamily="18" charset="0"/>
              </a:rPr>
              <a:t>guess </a:t>
            </a:r>
            <a:r>
              <a:rPr lang="en-US" sz="2600" dirty="0">
                <a:latin typeface="Palatino Linotype" panose="02040502050505030304" pitchFamily="18" charset="0"/>
              </a:rPr>
              <a:t>and replace the faulty block of codes by new blocks containing a guessed </a:t>
            </a:r>
            <a:r>
              <a:rPr lang="en-US" sz="2600" dirty="0" smtClean="0">
                <a:latin typeface="Palatino Linotype" panose="02040502050505030304" pitchFamily="18" charset="0"/>
              </a:rPr>
              <a:t>picture.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advantages however outweigh all the mentioned difficulties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Disadvantages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95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825625"/>
            <a:ext cx="11465168" cy="4637582"/>
          </a:xfrm>
        </p:spPr>
        <p:txBody>
          <a:bodyPr>
            <a:normAutofit/>
          </a:bodyPr>
          <a:lstStyle/>
          <a:p>
            <a:pPr algn="just"/>
            <a:r>
              <a:rPr lang="en-US" sz="2800" dirty="0" err="1">
                <a:latin typeface="Palatino Linotype" panose="02040502050505030304" pitchFamily="18" charset="0"/>
              </a:rPr>
              <a:t>Digitisation</a:t>
            </a:r>
            <a:r>
              <a:rPr lang="en-US" sz="2800" dirty="0">
                <a:latin typeface="Palatino Linotype" panose="02040502050505030304" pitchFamily="18" charset="0"/>
              </a:rPr>
              <a:t> of analog baseband signal is achieved through the following steps:</a:t>
            </a:r>
          </a:p>
          <a:p>
            <a:pPr marL="457200" lvl="1" indent="0" algn="just">
              <a:buNone/>
            </a:pPr>
            <a:r>
              <a:rPr lang="en-US" sz="2600" dirty="0">
                <a:latin typeface="Palatino Linotype" panose="02040502050505030304" pitchFamily="18" charset="0"/>
              </a:rPr>
              <a:t>1. Sampling of analog signal</a:t>
            </a:r>
          </a:p>
          <a:p>
            <a:pPr marL="457200" lvl="1" indent="0" algn="just">
              <a:buNone/>
            </a:pPr>
            <a:r>
              <a:rPr lang="en-US" sz="2600" dirty="0" smtClean="0">
                <a:latin typeface="Palatino Linotype" panose="02040502050505030304" pitchFamily="18" charset="0"/>
              </a:rPr>
              <a:t>2. Quantization</a:t>
            </a:r>
          </a:p>
          <a:p>
            <a:pPr algn="just"/>
            <a:r>
              <a:rPr lang="en-US" sz="2800" b="1" dirty="0">
                <a:solidFill>
                  <a:srgbClr val="7030A0"/>
                </a:solidFill>
                <a:latin typeface="Palatino Linotype" panose="02040502050505030304" pitchFamily="18" charset="0"/>
              </a:rPr>
              <a:t>Sampling</a:t>
            </a:r>
            <a:r>
              <a:rPr lang="en-US" sz="2800" dirty="0">
                <a:solidFill>
                  <a:srgbClr val="7030A0"/>
                </a:solidFill>
                <a:latin typeface="Palatino Linotype" panose="02040502050505030304" pitchFamily="18" charset="0"/>
              </a:rPr>
              <a:t> </a:t>
            </a:r>
            <a:r>
              <a:rPr lang="en-US" sz="2800" dirty="0">
                <a:latin typeface="Palatino Linotype" panose="02040502050505030304" pitchFamily="18" charset="0"/>
              </a:rPr>
              <a:t>- Continuous analog signal is sampled at the rate equal to or higher than </a:t>
            </a:r>
            <a:r>
              <a:rPr lang="en-US" sz="2800" dirty="0" smtClean="0">
                <a:latin typeface="Palatino Linotype" panose="02040502050505030304" pitchFamily="18" charset="0"/>
              </a:rPr>
              <a:t>twice </a:t>
            </a:r>
            <a:r>
              <a:rPr lang="en-US" sz="2800" dirty="0">
                <a:latin typeface="Palatino Linotype" panose="02040502050505030304" pitchFamily="18" charset="0"/>
              </a:rPr>
              <a:t>the maximum frequency of the baseband signal.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Twice </a:t>
            </a:r>
            <a:r>
              <a:rPr lang="en-US" sz="2600" dirty="0">
                <a:latin typeface="Palatino Linotype" panose="02040502050505030304" pitchFamily="18" charset="0"/>
              </a:rPr>
              <a:t>the highest frequency </a:t>
            </a:r>
            <a:r>
              <a:rPr lang="en-US" sz="2600" dirty="0" smtClean="0">
                <a:latin typeface="Palatino Linotype" panose="02040502050505030304" pitchFamily="18" charset="0"/>
              </a:rPr>
              <a:t>is </a:t>
            </a:r>
            <a:r>
              <a:rPr lang="en-US" sz="2600" dirty="0">
                <a:latin typeface="Palatino Linotype" panose="02040502050505030304" pitchFamily="18" charset="0"/>
              </a:rPr>
              <a:t>called </a:t>
            </a:r>
            <a:r>
              <a:rPr lang="en-US" sz="2600" dirty="0" err="1">
                <a:latin typeface="Palatino Linotype" panose="02040502050505030304" pitchFamily="18" charset="0"/>
              </a:rPr>
              <a:t>Nyquist</a:t>
            </a:r>
            <a:r>
              <a:rPr lang="en-US" sz="2600" dirty="0">
                <a:latin typeface="Palatino Linotype" panose="02040502050505030304" pitchFamily="18" charset="0"/>
              </a:rPr>
              <a:t> frequency. </a:t>
            </a:r>
            <a:endParaRPr lang="en-US" sz="2600" dirty="0" smtClean="0">
              <a:latin typeface="Palatino Linotype" panose="02040502050505030304" pitchFamily="18" charset="0"/>
            </a:endParaRPr>
          </a:p>
          <a:p>
            <a:pPr lvl="1" algn="just"/>
            <a:r>
              <a:rPr lang="en-US" sz="2600" dirty="0">
                <a:latin typeface="Palatino Linotype" panose="02040502050505030304" pitchFamily="18" charset="0"/>
              </a:rPr>
              <a:t>It was established by </a:t>
            </a:r>
            <a:r>
              <a:rPr lang="en-US" sz="2600" dirty="0" err="1">
                <a:latin typeface="Palatino Linotype" panose="02040502050505030304" pitchFamily="18" charset="0"/>
              </a:rPr>
              <a:t>Nyquist</a:t>
            </a:r>
            <a:r>
              <a:rPr lang="en-US" sz="2600" dirty="0">
                <a:latin typeface="Palatino Linotype" panose="02040502050505030304" pitchFamily="18" charset="0"/>
              </a:rPr>
              <a:t> that if the frequency of </a:t>
            </a:r>
            <a:r>
              <a:rPr lang="en-US" sz="2600" dirty="0" smtClean="0">
                <a:latin typeface="Palatino Linotype" panose="02040502050505030304" pitchFamily="18" charset="0"/>
              </a:rPr>
              <a:t>sampling </a:t>
            </a:r>
            <a:r>
              <a:rPr lang="en-US" sz="2600" dirty="0">
                <a:latin typeface="Palatino Linotype" panose="02040502050505030304" pitchFamily="18" charset="0"/>
              </a:rPr>
              <a:t>is less than twice the highest frequency of the baseband signal, it cannot be </a:t>
            </a:r>
            <a:r>
              <a:rPr lang="en-US" sz="2600" dirty="0" smtClean="0">
                <a:latin typeface="Palatino Linotype" panose="02040502050505030304" pitchFamily="18" charset="0"/>
              </a:rPr>
              <a:t>restructured at </a:t>
            </a:r>
            <a:r>
              <a:rPr lang="en-US" sz="2600" dirty="0">
                <a:latin typeface="Palatino Linotype" panose="02040502050505030304" pitchFamily="18" charset="0"/>
              </a:rPr>
              <a:t>the receiver in the original form. </a:t>
            </a:r>
            <a:endParaRPr lang="en-US" sz="2600" dirty="0" smtClean="0">
              <a:latin typeface="Palatino Linotype" panose="02040502050505030304" pitchFamily="18" charset="0"/>
            </a:endParaRP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Severe </a:t>
            </a:r>
            <a:r>
              <a:rPr lang="en-US" sz="2600" dirty="0">
                <a:latin typeface="Palatino Linotype" panose="02040502050505030304" pitchFamily="18" charset="0"/>
              </a:rPr>
              <a:t>distortion will be </a:t>
            </a:r>
            <a:r>
              <a:rPr lang="en-US" sz="2600" dirty="0" smtClean="0">
                <a:latin typeface="Palatino Linotype" panose="02040502050505030304" pitchFamily="18" charset="0"/>
              </a:rPr>
              <a:t>inducted </a:t>
            </a:r>
            <a:r>
              <a:rPr lang="en-US" sz="2600" dirty="0">
                <a:latin typeface="Palatino Linotype" panose="02040502050505030304" pitchFamily="18" charset="0"/>
              </a:rPr>
              <a:t>in </a:t>
            </a:r>
            <a:r>
              <a:rPr lang="en-US" sz="2600" dirty="0" smtClean="0">
                <a:latin typeface="Palatino Linotype" panose="02040502050505030304" pitchFamily="18" charset="0"/>
              </a:rPr>
              <a:t>the </a:t>
            </a:r>
            <a:r>
              <a:rPr lang="en-US" sz="2600" dirty="0">
                <a:latin typeface="Palatino Linotype" panose="02040502050505030304" pitchFamily="18" charset="0"/>
              </a:rPr>
              <a:t>signal.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Digital Baseband Signa</a:t>
            </a:r>
            <a:r>
              <a:rPr lang="en-US" sz="3600" dirty="0">
                <a:latin typeface="Palatino Linotype" panose="02040502050505030304" pitchFamily="18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66822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465168" cy="5569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b="1" dirty="0" smtClean="0">
                <a:solidFill>
                  <a:srgbClr val="7030A0"/>
                </a:solidFill>
                <a:latin typeface="Palatino Linotype" panose="02040502050505030304" pitchFamily="18" charset="0"/>
              </a:rPr>
              <a:t>Quantization</a:t>
            </a:r>
            <a:r>
              <a:rPr lang="en-US" sz="2800" dirty="0">
                <a:latin typeface="Palatino Linotype" panose="02040502050505030304" pitchFamily="18" charset="0"/>
              </a:rPr>
              <a:t> - Sampling although discrete, still gives an analog signal, because the </a:t>
            </a:r>
            <a:r>
              <a:rPr lang="en-US" sz="2800" dirty="0" smtClean="0">
                <a:latin typeface="Palatino Linotype" panose="02040502050505030304" pitchFamily="18" charset="0"/>
              </a:rPr>
              <a:t>discrete values vary indefinitely with the signal. 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To make it digital, the sampled values  should </a:t>
            </a:r>
            <a:r>
              <a:rPr lang="en-US" sz="2600" dirty="0">
                <a:latin typeface="Palatino Linotype" panose="02040502050505030304" pitchFamily="18" charset="0"/>
              </a:rPr>
              <a:t>be converted into streams of binary numbers, 1s and 0s, called logic </a:t>
            </a:r>
            <a:r>
              <a:rPr lang="en-US" sz="2600" dirty="0" smtClean="0">
                <a:latin typeface="Palatino Linotype" panose="02040502050505030304" pitchFamily="18" charset="0"/>
              </a:rPr>
              <a:t>numbers.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This process of converting sampled values into binary numbers is what is being referred to as quantization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  The process of sampling and quantization is called </a:t>
            </a:r>
            <a:r>
              <a:rPr lang="en-US" sz="2800" b="1" dirty="0" err="1">
                <a:latin typeface="Palatino Linotype" panose="02040502050505030304" pitchFamily="18" charset="0"/>
              </a:rPr>
              <a:t>digitisation</a:t>
            </a:r>
            <a:r>
              <a:rPr lang="en-US" sz="2800" dirty="0">
                <a:latin typeface="Palatino Linotype" panose="02040502050505030304" pitchFamily="18" charset="0"/>
              </a:rPr>
              <a:t> or </a:t>
            </a:r>
            <a:r>
              <a:rPr lang="en-US" sz="2800" b="1" dirty="0">
                <a:latin typeface="Palatino Linotype" panose="02040502050505030304" pitchFamily="18" charset="0"/>
              </a:rPr>
              <a:t>analog to </a:t>
            </a:r>
            <a:r>
              <a:rPr lang="en-US" sz="2800" b="1" dirty="0" smtClean="0">
                <a:latin typeface="Palatino Linotype" panose="02040502050505030304" pitchFamily="18" charset="0"/>
              </a:rPr>
              <a:t>digital </a:t>
            </a:r>
            <a:r>
              <a:rPr lang="en-US" sz="2800" b="1" dirty="0">
                <a:latin typeface="Palatino Linotype" panose="02040502050505030304" pitchFamily="18" charset="0"/>
              </a:rPr>
              <a:t>conversion</a:t>
            </a:r>
            <a:r>
              <a:rPr lang="en-US" sz="2800" dirty="0">
                <a:latin typeface="Palatino Linotype" panose="02040502050505030304" pitchFamily="18" charset="0"/>
              </a:rPr>
              <a:t>, and the device which executes this conversion is called </a:t>
            </a:r>
            <a:r>
              <a:rPr lang="en-US" sz="2800" b="1" dirty="0">
                <a:latin typeface="Palatino Linotype" panose="02040502050505030304" pitchFamily="18" charset="0"/>
              </a:rPr>
              <a:t>analog to </a:t>
            </a:r>
            <a:r>
              <a:rPr lang="en-US" sz="2800" b="1" dirty="0" smtClean="0">
                <a:latin typeface="Palatino Linotype" panose="02040502050505030304" pitchFamily="18" charset="0"/>
              </a:rPr>
              <a:t>digital </a:t>
            </a:r>
            <a:r>
              <a:rPr lang="en-US" sz="2800" b="1" dirty="0">
                <a:latin typeface="Palatino Linotype" panose="02040502050505030304" pitchFamily="18" charset="0"/>
              </a:rPr>
              <a:t>converter</a:t>
            </a:r>
            <a:r>
              <a:rPr lang="en-US" sz="2800" dirty="0">
                <a:latin typeface="Palatino Linotype" panose="02040502050505030304" pitchFamily="18" charset="0"/>
              </a:rPr>
              <a:t>, or simply </a:t>
            </a:r>
            <a:r>
              <a:rPr lang="en-US" sz="2800" b="1" dirty="0">
                <a:latin typeface="Palatino Linotype" panose="02040502050505030304" pitchFamily="18" charset="0"/>
              </a:rPr>
              <a:t>ADC</a:t>
            </a:r>
            <a:r>
              <a:rPr lang="en-US" sz="2800" dirty="0">
                <a:latin typeface="Palatino Linotype" panose="02040502050505030304" pitchFamily="18" charset="0"/>
              </a:rPr>
              <a:t>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Some </a:t>
            </a:r>
            <a:r>
              <a:rPr lang="en-US" sz="2800" dirty="0">
                <a:latin typeface="Palatino Linotype" panose="02040502050505030304" pitchFamily="18" charset="0"/>
              </a:rPr>
              <a:t>control bits are added to indicate ‘</a:t>
            </a:r>
            <a:r>
              <a:rPr lang="en-US" sz="2800" b="1" dirty="0">
                <a:latin typeface="Palatino Linotype" panose="02040502050505030304" pitchFamily="18" charset="0"/>
              </a:rPr>
              <a:t>Start</a:t>
            </a:r>
            <a:r>
              <a:rPr lang="en-US" sz="2800" dirty="0">
                <a:latin typeface="Palatino Linotype" panose="02040502050505030304" pitchFamily="18" charset="0"/>
              </a:rPr>
              <a:t>’ and </a:t>
            </a:r>
            <a:r>
              <a:rPr lang="en-US" sz="2800" dirty="0" smtClean="0">
                <a:latin typeface="Palatino Linotype" panose="02040502050505030304" pitchFamily="18" charset="0"/>
              </a:rPr>
              <a:t>‘</a:t>
            </a:r>
            <a:r>
              <a:rPr lang="en-US" sz="2800" b="1" dirty="0">
                <a:latin typeface="Palatino Linotype" panose="02040502050505030304" pitchFamily="18" charset="0"/>
              </a:rPr>
              <a:t>Stop</a:t>
            </a:r>
            <a:r>
              <a:rPr lang="en-US" sz="2800" dirty="0">
                <a:latin typeface="Palatino Linotype" panose="02040502050505030304" pitchFamily="18" charset="0"/>
              </a:rPr>
              <a:t>’ of a character.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Production </a:t>
            </a:r>
            <a:r>
              <a:rPr lang="en-US" sz="2800" dirty="0">
                <a:latin typeface="Palatino Linotype" panose="02040502050505030304" pitchFamily="18" charset="0"/>
              </a:rPr>
              <a:t>of bits this way is called </a:t>
            </a:r>
            <a:r>
              <a:rPr lang="en-US" sz="2800" b="1" dirty="0">
                <a:latin typeface="Palatino Linotype" panose="02040502050505030304" pitchFamily="18" charset="0"/>
              </a:rPr>
              <a:t>source encoding</a:t>
            </a:r>
            <a:r>
              <a:rPr lang="en-US" sz="2800" dirty="0">
                <a:latin typeface="Palatino Linotype" panose="0204050205050503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0414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3689" b="9727"/>
          <a:stretch/>
        </p:blipFill>
        <p:spPr>
          <a:xfrm>
            <a:off x="948744" y="850006"/>
            <a:ext cx="9753600" cy="560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40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465168" cy="5569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When </a:t>
            </a:r>
            <a:r>
              <a:rPr lang="en-US" sz="2800" dirty="0">
                <a:latin typeface="Palatino Linotype" panose="02040502050505030304" pitchFamily="18" charset="0"/>
              </a:rPr>
              <a:t>the </a:t>
            </a:r>
            <a:r>
              <a:rPr lang="en-US" sz="2800" dirty="0" err="1">
                <a:latin typeface="Palatino Linotype" panose="02040502050505030304" pitchFamily="18" charset="0"/>
              </a:rPr>
              <a:t>digitised</a:t>
            </a:r>
            <a:r>
              <a:rPr lang="en-US" sz="2800" dirty="0">
                <a:latin typeface="Palatino Linotype" panose="02040502050505030304" pitchFamily="18" charset="0"/>
              </a:rPr>
              <a:t> signal is to be transmitted, a few bits are added to each character </a:t>
            </a:r>
            <a:r>
              <a:rPr lang="en-US" sz="2800" dirty="0" smtClean="0">
                <a:latin typeface="Palatino Linotype" panose="02040502050505030304" pitchFamily="18" charset="0"/>
              </a:rPr>
              <a:t>to </a:t>
            </a:r>
            <a:r>
              <a:rPr lang="en-US" sz="2800" dirty="0">
                <a:latin typeface="Palatino Linotype" panose="02040502050505030304" pitchFamily="18" charset="0"/>
              </a:rPr>
              <a:t>detect errors caused in the process of transmission, and to correct the same.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new </a:t>
            </a:r>
            <a:r>
              <a:rPr lang="en-US" sz="2800" dirty="0" smtClean="0">
                <a:latin typeface="Palatino Linotype" panose="02040502050505030304" pitchFamily="18" charset="0"/>
              </a:rPr>
              <a:t>stream </a:t>
            </a:r>
            <a:r>
              <a:rPr lang="en-US" sz="2800" dirty="0">
                <a:latin typeface="Palatino Linotype" panose="02040502050505030304" pitchFamily="18" charset="0"/>
              </a:rPr>
              <a:t>of bits is called </a:t>
            </a:r>
            <a:r>
              <a:rPr lang="en-US" sz="2800" b="1" dirty="0">
                <a:latin typeface="Palatino Linotype" panose="02040502050505030304" pitchFamily="18" charset="0"/>
              </a:rPr>
              <a:t>channel encoding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  <a:endParaRPr lang="en-US" sz="2800" dirty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At the receiver, the </a:t>
            </a:r>
            <a:r>
              <a:rPr lang="en-US" sz="2800" dirty="0" err="1">
                <a:latin typeface="Palatino Linotype" panose="02040502050505030304" pitchFamily="18" charset="0"/>
              </a:rPr>
              <a:t>digitised</a:t>
            </a:r>
            <a:r>
              <a:rPr lang="en-US" sz="2800" dirty="0">
                <a:latin typeface="Palatino Linotype" panose="02040502050505030304" pitchFamily="18" charset="0"/>
              </a:rPr>
              <a:t> signals are processed to get the original analog signals </a:t>
            </a:r>
            <a:r>
              <a:rPr lang="en-US" sz="2800" dirty="0" smtClean="0">
                <a:latin typeface="Palatino Linotype" panose="02040502050505030304" pitchFamily="18" charset="0"/>
              </a:rPr>
              <a:t>in </a:t>
            </a:r>
            <a:r>
              <a:rPr lang="en-US" sz="2800" dirty="0">
                <a:latin typeface="Palatino Linotype" panose="02040502050505030304" pitchFamily="18" charset="0"/>
              </a:rPr>
              <a:t>the output, that is, sound from the loudspeaker and pictures on the screen, which </a:t>
            </a:r>
            <a:r>
              <a:rPr lang="en-US" sz="2800" dirty="0" smtClean="0">
                <a:latin typeface="Palatino Linotype" panose="02040502050505030304" pitchFamily="18" charset="0"/>
              </a:rPr>
              <a:t>are </a:t>
            </a:r>
            <a:r>
              <a:rPr lang="en-US" sz="2800" dirty="0">
                <a:latin typeface="Palatino Linotype" panose="02040502050505030304" pitchFamily="18" charset="0"/>
              </a:rPr>
              <a:t>without noise and spurious effects. </a:t>
            </a:r>
          </a:p>
        </p:txBody>
      </p:sp>
    </p:spTree>
    <p:extLst>
      <p:ext uri="{BB962C8B-B14F-4D97-AF65-F5344CB8AC3E}">
        <p14:creationId xmlns:p14="http://schemas.microsoft.com/office/powerpoint/2010/main" val="3695896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558636"/>
            <a:ext cx="11465168" cy="4925291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 basic elements of a digital video baseband system are shown in </a:t>
            </a:r>
            <a:r>
              <a:rPr lang="en-US" sz="2800" dirty="0" smtClean="0">
                <a:latin typeface="Palatino Linotype" panose="02040502050505030304" pitchFamily="18" charset="0"/>
              </a:rPr>
              <a:t>the figure in the next slide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 analog video signal output of the camera tube and matrix consists of luminance </a:t>
            </a:r>
            <a:r>
              <a:rPr lang="en-US" sz="2800" dirty="0" smtClean="0">
                <a:latin typeface="Palatino Linotype" panose="02040502050505030304" pitchFamily="18" charset="0"/>
              </a:rPr>
              <a:t>signal </a:t>
            </a:r>
            <a:r>
              <a:rPr lang="en-US" sz="2800" dirty="0">
                <a:latin typeface="Palatino Linotype" panose="02040502050505030304" pitchFamily="18" charset="0"/>
              </a:rPr>
              <a:t>Y and colour difference signals, U and V.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Although the composite video signal </a:t>
            </a:r>
            <a:r>
              <a:rPr lang="en-US" sz="2800" dirty="0" smtClean="0">
                <a:latin typeface="Palatino Linotype" panose="02040502050505030304" pitchFamily="18" charset="0"/>
              </a:rPr>
              <a:t>can </a:t>
            </a:r>
            <a:r>
              <a:rPr lang="en-US" sz="2800" dirty="0">
                <a:latin typeface="Palatino Linotype" panose="02040502050505030304" pitchFamily="18" charset="0"/>
              </a:rPr>
              <a:t>be sampled at 10 million samples per second to effectively cover the </a:t>
            </a:r>
            <a:r>
              <a:rPr lang="en-US" sz="2800" dirty="0" smtClean="0">
                <a:latin typeface="Palatino Linotype" panose="02040502050505030304" pitchFamily="18" charset="0"/>
              </a:rPr>
              <a:t>video bandwidth of 5 MHz, but preferred method is to quantize Y, U and V signals separately to give three streams of bits (pulses) at the output of a fast ADC.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quantized bits are recorded into the memory (field store) at 50 Hz field rate 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Digital Video Production and Reproduction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209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54" y="748146"/>
            <a:ext cx="10878153" cy="46759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2832276" y="5779747"/>
            <a:ext cx="6184706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Digital video production and reproduction</a:t>
            </a:r>
          </a:p>
        </p:txBody>
      </p:sp>
    </p:spTree>
    <p:extLst>
      <p:ext uri="{BB962C8B-B14F-4D97-AF65-F5344CB8AC3E}">
        <p14:creationId xmlns:p14="http://schemas.microsoft.com/office/powerpoint/2010/main" val="1038362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465168" cy="5569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For playback, bits are read from memory at 100 Hz and then converted from digital to analog from the DAC unit for display on the screen of a monitor, at double the line and field scan rates to give high resolution.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Digital pulses can be processed with the help of a microprocessor to incorporate many </a:t>
            </a:r>
            <a:r>
              <a:rPr lang="en-US" sz="2800" dirty="0" smtClean="0">
                <a:latin typeface="Palatino Linotype" panose="02040502050505030304" pitchFamily="18" charset="0"/>
              </a:rPr>
              <a:t>special </a:t>
            </a:r>
            <a:r>
              <a:rPr lang="en-US" sz="2800" dirty="0">
                <a:latin typeface="Palatino Linotype" panose="02040502050505030304" pitchFamily="18" charset="0"/>
              </a:rPr>
              <a:t>features and special effects (described </a:t>
            </a:r>
            <a:r>
              <a:rPr lang="en-US" sz="2800" dirty="0" smtClean="0">
                <a:latin typeface="Palatino Linotype" panose="02040502050505030304" pitchFamily="18" charset="0"/>
              </a:rPr>
              <a:t>later), </a:t>
            </a:r>
            <a:r>
              <a:rPr lang="en-US" sz="2800" dirty="0">
                <a:latin typeface="Palatino Linotype" panose="02040502050505030304" pitchFamily="18" charset="0"/>
              </a:rPr>
              <a:t>which were unthinkable </a:t>
            </a:r>
            <a:r>
              <a:rPr lang="en-US" sz="2800" dirty="0" smtClean="0">
                <a:latin typeface="Palatino Linotype" panose="02040502050505030304" pitchFamily="18" charset="0"/>
              </a:rPr>
              <a:t>in </a:t>
            </a:r>
            <a:r>
              <a:rPr lang="en-US" sz="2800" dirty="0">
                <a:latin typeface="Palatino Linotype" panose="02040502050505030304" pitchFamily="18" charset="0"/>
              </a:rPr>
              <a:t>a fully analog video system.</a:t>
            </a:r>
          </a:p>
        </p:txBody>
      </p:sp>
    </p:spTree>
    <p:extLst>
      <p:ext uri="{BB962C8B-B14F-4D97-AF65-F5344CB8AC3E}">
        <p14:creationId xmlns:p14="http://schemas.microsoft.com/office/powerpoint/2010/main" val="1250636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579418"/>
            <a:ext cx="11465168" cy="4883789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When the CVS produced by a camera tube is </a:t>
            </a:r>
            <a:r>
              <a:rPr lang="en-US" sz="2800" dirty="0" err="1">
                <a:latin typeface="Palatino Linotype" panose="02040502050505030304" pitchFamily="18" charset="0"/>
              </a:rPr>
              <a:t>digitised</a:t>
            </a:r>
            <a:r>
              <a:rPr lang="en-US" sz="2800" dirty="0">
                <a:latin typeface="Palatino Linotype" panose="02040502050505030304" pitchFamily="18" charset="0"/>
              </a:rPr>
              <a:t>, it consists of a high bit rate to </a:t>
            </a:r>
            <a:r>
              <a:rPr lang="en-US" sz="2800" dirty="0" smtClean="0">
                <a:latin typeface="Palatino Linotype" panose="02040502050505030304" pitchFamily="18" charset="0"/>
              </a:rPr>
              <a:t>describe </a:t>
            </a:r>
            <a:r>
              <a:rPr lang="en-US" sz="2800" dirty="0">
                <a:latin typeface="Palatino Linotype" panose="02040502050505030304" pitchFamily="18" charset="0"/>
              </a:rPr>
              <a:t>the details of luminance and colours of every pixel.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This </a:t>
            </a:r>
            <a:r>
              <a:rPr lang="en-US" sz="2800" dirty="0">
                <a:latin typeface="Palatino Linotype" panose="02040502050505030304" pitchFamily="18" charset="0"/>
              </a:rPr>
              <a:t>bit rate for normal </a:t>
            </a:r>
            <a:r>
              <a:rPr lang="en-US" sz="2800" dirty="0" smtClean="0">
                <a:latin typeface="Palatino Linotype" panose="02040502050505030304" pitchFamily="18" charset="0"/>
              </a:rPr>
              <a:t>quality pictures is 216 megabits per second.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HDTV produces even faster bit rate of 1200 megabits per second for European HDTV standards of 1250 lines, 50 fields, and 16:9 aspect ratio.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Such high bit rates can be handled in CCTV and studio, but they pose </a:t>
            </a:r>
            <a:r>
              <a:rPr lang="en-US" sz="2800" dirty="0" smtClean="0">
                <a:latin typeface="Palatino Linotype" panose="02040502050505030304" pitchFamily="18" charset="0"/>
              </a:rPr>
              <a:t> problems </a:t>
            </a:r>
            <a:r>
              <a:rPr lang="en-US" sz="2800" dirty="0">
                <a:latin typeface="Palatino Linotype" panose="02040502050505030304" pitchFamily="18" charset="0"/>
              </a:rPr>
              <a:t>with broadcast systems.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It </a:t>
            </a:r>
            <a:r>
              <a:rPr lang="en-US" sz="2800" dirty="0">
                <a:latin typeface="Palatino Linotype" panose="02040502050505030304" pitchFamily="18" charset="0"/>
              </a:rPr>
              <a:t>is necessary to reduce the bit rate and to adopt a </a:t>
            </a:r>
            <a:r>
              <a:rPr lang="en-US" sz="2800" dirty="0" smtClean="0">
                <a:latin typeface="Palatino Linotype" panose="02040502050505030304" pitchFamily="18" charset="0"/>
              </a:rPr>
              <a:t>suitable </a:t>
            </a:r>
            <a:r>
              <a:rPr lang="en-US" sz="2800" dirty="0">
                <a:latin typeface="Palatino Linotype" panose="02040502050505030304" pitchFamily="18" charset="0"/>
              </a:rPr>
              <a:t>modulation system. Solutions are outlined </a:t>
            </a:r>
            <a:r>
              <a:rPr lang="en-US" sz="2800" dirty="0" smtClean="0">
                <a:latin typeface="Palatino Linotype" panose="02040502050505030304" pitchFamily="18" charset="0"/>
              </a:rPr>
              <a:t>hereafter: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Digital Picture Transmission and Reception		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252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825625"/>
            <a:ext cx="11465168" cy="463758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Reduction of bits is done by removing the bits which are redundant in a picture. 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Most of the television pictures contain redundant </a:t>
            </a:r>
            <a:r>
              <a:rPr lang="en-US" sz="2800" dirty="0" smtClean="0">
                <a:latin typeface="Palatino Linotype" panose="02040502050505030304" pitchFamily="18" charset="0"/>
              </a:rPr>
              <a:t>information.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For example, there are </a:t>
            </a:r>
            <a:r>
              <a:rPr lang="en-US" sz="2800" dirty="0" smtClean="0">
                <a:latin typeface="Palatino Linotype" panose="02040502050505030304" pitchFamily="18" charset="0"/>
              </a:rPr>
              <a:t>stationary </a:t>
            </a:r>
            <a:r>
              <a:rPr lang="en-US" sz="2800" dirty="0">
                <a:latin typeface="Palatino Linotype" panose="02040502050505030304" pitchFamily="18" charset="0"/>
              </a:rPr>
              <a:t>parts in a picture. A blue sky in a scene forms a still image and instead of </a:t>
            </a:r>
            <a:r>
              <a:rPr lang="en-US" sz="2800" dirty="0" smtClean="0">
                <a:latin typeface="Palatino Linotype" panose="02040502050505030304" pitchFamily="18" charset="0"/>
              </a:rPr>
              <a:t>sending </a:t>
            </a:r>
            <a:r>
              <a:rPr lang="en-US" sz="2800" dirty="0">
                <a:latin typeface="Palatino Linotype" panose="02040502050505030304" pitchFamily="18" charset="0"/>
              </a:rPr>
              <a:t>it repeatedly, it needs to be sent only once.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It can be repeatedly read out from </a:t>
            </a:r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memory store in the receiver to constitute the original </a:t>
            </a:r>
            <a:r>
              <a:rPr lang="en-US" sz="2800" dirty="0" smtClean="0">
                <a:latin typeface="Palatino Linotype" panose="02040502050505030304" pitchFamily="18" charset="0"/>
              </a:rPr>
              <a:t>scene.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JPEG, JPEG 2000, MPEGs compression methods developed by ISO/IEC and </a:t>
            </a:r>
            <a:r>
              <a:rPr lang="en-US" sz="2800" dirty="0" smtClean="0">
                <a:latin typeface="Palatino Linotype" panose="02040502050505030304" pitchFamily="18" charset="0"/>
              </a:rPr>
              <a:t>H.26x series developed by ITU.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Digital Compression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880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662544"/>
            <a:ext cx="11465168" cy="5050047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Digital data pertaining to control signals, video information and audio information </a:t>
            </a:r>
            <a:r>
              <a:rPr lang="en-US" sz="2800" dirty="0" smtClean="0">
                <a:latin typeface="Palatino Linotype" panose="02040502050505030304" pitchFamily="18" charset="0"/>
              </a:rPr>
              <a:t>are </a:t>
            </a:r>
            <a:r>
              <a:rPr lang="en-US" sz="2800" dirty="0">
                <a:latin typeface="Palatino Linotype" panose="02040502050505030304" pitchFamily="18" charset="0"/>
              </a:rPr>
              <a:t>interleaved, in time.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multiplexed pulses modulate a suitable carrier for </a:t>
            </a:r>
            <a:r>
              <a:rPr lang="en-US" sz="2800" dirty="0" smtClean="0">
                <a:latin typeface="Palatino Linotype" panose="02040502050505030304" pitchFamily="18" charset="0"/>
              </a:rPr>
              <a:t>transmission</a:t>
            </a:r>
            <a:r>
              <a:rPr lang="en-US" sz="2800" dirty="0">
                <a:latin typeface="Palatino Linotype" panose="02040502050505030304" pitchFamily="18" charset="0"/>
              </a:rPr>
              <a:t>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method of modulation used in all the countries except north America is </a:t>
            </a:r>
            <a:r>
              <a:rPr lang="en-US" sz="2800" dirty="0" smtClean="0">
                <a:latin typeface="Palatino Linotype" panose="02040502050505030304" pitchFamily="18" charset="0"/>
              </a:rPr>
              <a:t>orthogonal </a:t>
            </a:r>
            <a:r>
              <a:rPr lang="en-US" sz="2800" dirty="0">
                <a:latin typeface="Palatino Linotype" panose="02040502050505030304" pitchFamily="18" charset="0"/>
              </a:rPr>
              <a:t>frequency division multiplex (OFDM</a:t>
            </a:r>
            <a:r>
              <a:rPr lang="en-US" sz="2800" dirty="0" smtClean="0">
                <a:latin typeface="Palatino Linotype" panose="02040502050505030304" pitchFamily="18" charset="0"/>
              </a:rPr>
              <a:t>).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In this method a large number of </a:t>
            </a:r>
            <a:r>
              <a:rPr lang="en-US" sz="2800" dirty="0" smtClean="0">
                <a:latin typeface="Palatino Linotype" panose="02040502050505030304" pitchFamily="18" charset="0"/>
              </a:rPr>
              <a:t>closely </a:t>
            </a:r>
            <a:r>
              <a:rPr lang="en-US" sz="2800" dirty="0">
                <a:latin typeface="Palatino Linotype" panose="02040502050505030304" pitchFamily="18" charset="0"/>
              </a:rPr>
              <a:t>spaced carriers are modulated individually and separately and then transmitted in a slot in the frequency spectrum.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system is immune to noise and </a:t>
            </a:r>
            <a:r>
              <a:rPr lang="en-US" sz="2800" dirty="0" smtClean="0">
                <a:latin typeface="Palatino Linotype" panose="02040502050505030304" pitchFamily="18" charset="0"/>
              </a:rPr>
              <a:t>interference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USA and CANADA uses eight-level VSB (or 8 VSB) which requires low carrier power, but is prone to interference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Modulation Method for Digital Video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155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576240"/>
            <a:ext cx="11465168" cy="513635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In digital TV, audio signals are also </a:t>
            </a:r>
            <a:r>
              <a:rPr lang="en-US" sz="2800" dirty="0" err="1">
                <a:latin typeface="Palatino Linotype" panose="02040502050505030304" pitchFamily="18" charset="0"/>
              </a:rPr>
              <a:t>digitised</a:t>
            </a:r>
            <a:r>
              <a:rPr lang="en-US" sz="2800" dirty="0">
                <a:latin typeface="Palatino Linotype" panose="02040502050505030304" pitchFamily="18" charset="0"/>
              </a:rPr>
              <a:t> as illustrated in </a:t>
            </a:r>
            <a:r>
              <a:rPr lang="en-US" sz="2800" dirty="0" smtClean="0">
                <a:latin typeface="Palatino Linotype" panose="02040502050505030304" pitchFamily="18" charset="0"/>
              </a:rPr>
              <a:t>the next slide.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Stereo </a:t>
            </a:r>
            <a:r>
              <a:rPr lang="en-US" sz="2800" dirty="0">
                <a:latin typeface="Palatino Linotype" panose="02040502050505030304" pitchFamily="18" charset="0"/>
              </a:rPr>
              <a:t>sound </a:t>
            </a:r>
            <a:r>
              <a:rPr lang="en-US" sz="2800" dirty="0" smtClean="0">
                <a:latin typeface="Palatino Linotype" panose="02040502050505030304" pitchFamily="18" charset="0"/>
              </a:rPr>
              <a:t>(</a:t>
            </a:r>
            <a:r>
              <a:rPr lang="en-US" sz="2800" dirty="0">
                <a:latin typeface="Palatino Linotype" panose="02040502050505030304" pitchFamily="18" charset="0"/>
              </a:rPr>
              <a:t>or surround sound in more sophisticated TV) is used in digital TV systems.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left/right sound outputs of a stereo amplifier are first pre-emphasized and then are passed to ADC units.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upper limit of audio is restricted to 15 kHz and samples are taken at intervals of 31.25 </a:t>
            </a:r>
            <a:r>
              <a:rPr lang="el-GR" sz="2800" dirty="0" smtClean="0">
                <a:latin typeface="Palatino Linotype" panose="02040502050505030304" pitchFamily="18" charset="0"/>
              </a:rPr>
              <a:t>μ</a:t>
            </a:r>
            <a:r>
              <a:rPr lang="en-US" sz="2800" dirty="0" smtClean="0">
                <a:latin typeface="Palatino Linotype" panose="02040502050505030304" pitchFamily="18" charset="0"/>
              </a:rPr>
              <a:t>s (for 32 kHz clock rate, 1/32 </a:t>
            </a:r>
            <a:r>
              <a:rPr lang="en-US" sz="2800" dirty="0">
                <a:latin typeface="Palatino Linotype" panose="02040502050505030304" pitchFamily="18" charset="0"/>
              </a:rPr>
              <a:t>= 31.25 </a:t>
            </a:r>
            <a:r>
              <a:rPr lang="el-GR" sz="2800" dirty="0">
                <a:latin typeface="Palatino Linotype" panose="02040502050505030304" pitchFamily="18" charset="0"/>
              </a:rPr>
              <a:t>μ</a:t>
            </a:r>
            <a:r>
              <a:rPr lang="en-US" sz="2800" dirty="0" smtClean="0">
                <a:latin typeface="Palatino Linotype" panose="02040502050505030304" pitchFamily="18" charset="0"/>
              </a:rPr>
              <a:t>s)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Each channel is </a:t>
            </a:r>
            <a:r>
              <a:rPr lang="en-US" sz="2800" dirty="0" smtClean="0">
                <a:latin typeface="Palatino Linotype" panose="02040502050505030304" pitchFamily="18" charset="0"/>
              </a:rPr>
              <a:t>sampled </a:t>
            </a:r>
            <a:r>
              <a:rPr lang="en-US" sz="2800" dirty="0">
                <a:latin typeface="Palatino Linotype" panose="02040502050505030304" pitchFamily="18" charset="0"/>
              </a:rPr>
              <a:t>to 14 bits which give 16 238 </a:t>
            </a:r>
            <a:r>
              <a:rPr lang="en-US" sz="2800" dirty="0" smtClean="0">
                <a:latin typeface="Palatino Linotype" panose="02040502050505030304" pitchFamily="18" charset="0"/>
              </a:rPr>
              <a:t>levels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Thereafter these bits are compressed </a:t>
            </a:r>
            <a:r>
              <a:rPr lang="en-US" sz="2800" dirty="0" smtClean="0">
                <a:latin typeface="Palatino Linotype" panose="02040502050505030304" pitchFamily="18" charset="0"/>
              </a:rPr>
              <a:t>adequately </a:t>
            </a:r>
            <a:r>
              <a:rPr lang="en-US" sz="2800" dirty="0">
                <a:latin typeface="Palatino Linotype" panose="02040502050505030304" pitchFamily="18" charset="0"/>
              </a:rPr>
              <a:t>to save bandwidth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One parity bit is added to each word to give even </a:t>
            </a:r>
            <a:r>
              <a:rPr lang="en-US" sz="2800" dirty="0" smtClean="0">
                <a:latin typeface="Palatino Linotype" panose="02040502050505030304" pitchFamily="18" charset="0"/>
              </a:rPr>
              <a:t>parity</a:t>
            </a:r>
          </a:p>
          <a:p>
            <a:pPr algn="just"/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Modulation Method for Digital Sound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599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70" y="919759"/>
            <a:ext cx="8306314" cy="5543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9538854" y="2906653"/>
            <a:ext cx="2227384" cy="15696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Palatino Linotype" panose="02040502050505030304" pitchFamily="18" charset="0"/>
              </a:rPr>
              <a:t>Block diagram of audio transmitter of digital TV</a:t>
            </a:r>
          </a:p>
        </p:txBody>
      </p:sp>
    </p:spTree>
    <p:extLst>
      <p:ext uri="{BB962C8B-B14F-4D97-AF65-F5344CB8AC3E}">
        <p14:creationId xmlns:p14="http://schemas.microsoft.com/office/powerpoint/2010/main" val="3580060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465168" cy="5569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 modulation used is called digital quadrature phase shift keying (DQPSK).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In this </a:t>
            </a:r>
            <a:r>
              <a:rPr lang="en-US" sz="2800" dirty="0">
                <a:latin typeface="Palatino Linotype" panose="02040502050505030304" pitchFamily="18" charset="0"/>
              </a:rPr>
              <a:t>system, the phase of the carrier has four possible states (0°, 90°, 180°, 270°).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A serial </a:t>
            </a:r>
            <a:r>
              <a:rPr lang="en-US" sz="2800" dirty="0">
                <a:latin typeface="Palatino Linotype" panose="02040502050505030304" pitchFamily="18" charset="0"/>
              </a:rPr>
              <a:t>to parallel data converter changes the serial data into parallel data of 2-bit pairs </a:t>
            </a:r>
            <a:r>
              <a:rPr lang="en-US" sz="2800" dirty="0" smtClean="0">
                <a:latin typeface="Palatino Linotype" panose="02040502050505030304" pitchFamily="18" charset="0"/>
              </a:rPr>
              <a:t>(</a:t>
            </a:r>
            <a:r>
              <a:rPr lang="en-US" sz="2800" dirty="0">
                <a:latin typeface="Palatino Linotype" panose="02040502050505030304" pitchFamily="18" charset="0"/>
              </a:rPr>
              <a:t>00, 01, 10 and 11).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Each </a:t>
            </a:r>
            <a:r>
              <a:rPr lang="en-US" sz="2800" dirty="0">
                <a:latin typeface="Palatino Linotype" panose="02040502050505030304" pitchFamily="18" charset="0"/>
              </a:rPr>
              <a:t>pair shifts the phase of the carrier to different values.</a:t>
            </a:r>
          </a:p>
        </p:txBody>
      </p:sp>
    </p:spTree>
    <p:extLst>
      <p:ext uri="{BB962C8B-B14F-4D97-AF65-F5344CB8AC3E}">
        <p14:creationId xmlns:p14="http://schemas.microsoft.com/office/powerpoint/2010/main" val="868754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825625"/>
            <a:ext cx="11465168" cy="4637582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It is a </a:t>
            </a:r>
            <a:r>
              <a:rPr lang="en-US" sz="2800" dirty="0" err="1">
                <a:latin typeface="Palatino Linotype" panose="02040502050505030304" pitchFamily="18" charset="0"/>
              </a:rPr>
              <a:t>superhetrodyne</a:t>
            </a:r>
            <a:r>
              <a:rPr lang="en-US" sz="2800" dirty="0">
                <a:latin typeface="Palatino Linotype" panose="02040502050505030304" pitchFamily="18" charset="0"/>
              </a:rPr>
              <a:t> receiver.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bundle of bits pertaining to sound and vision beats </a:t>
            </a:r>
            <a:r>
              <a:rPr lang="en-US" sz="2800" dirty="0" smtClean="0">
                <a:latin typeface="Palatino Linotype" panose="02040502050505030304" pitchFamily="18" charset="0"/>
              </a:rPr>
              <a:t>with </a:t>
            </a:r>
            <a:r>
              <a:rPr lang="en-US" sz="2800" dirty="0">
                <a:latin typeface="Palatino Linotype" panose="02040502050505030304" pitchFamily="18" charset="0"/>
              </a:rPr>
              <a:t>the local oscillator and produces IF signals (video IF and audio IF</a:t>
            </a:r>
            <a:r>
              <a:rPr lang="en-US" sz="2800" dirty="0" smtClean="0">
                <a:latin typeface="Palatino Linotype" panose="02040502050505030304" pitchFamily="18" charset="0"/>
              </a:rPr>
              <a:t>).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A </a:t>
            </a:r>
            <a:r>
              <a:rPr lang="en-US" sz="2800" dirty="0" smtClean="0">
                <a:latin typeface="Palatino Linotype" panose="02040502050505030304" pitchFamily="18" charset="0"/>
              </a:rPr>
              <a:t>diagram for </a:t>
            </a:r>
            <a:r>
              <a:rPr lang="en-US" sz="2800" dirty="0">
                <a:latin typeface="Palatino Linotype" panose="02040502050505030304" pitchFamily="18" charset="0"/>
              </a:rPr>
              <a:t>a typical receiver is given in </a:t>
            </a:r>
            <a:r>
              <a:rPr lang="en-US" sz="2800" dirty="0" smtClean="0">
                <a:latin typeface="Palatino Linotype" panose="02040502050505030304" pitchFamily="18" charset="0"/>
              </a:rPr>
              <a:t>the figure in the next slide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tuner selects the desired channel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A sharp filter, separates the video IF and audio IF.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Video bits are detected and decoded to give the original samples after decompression.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These are converted into analog signal using a DAC</a:t>
            </a:r>
          </a:p>
          <a:p>
            <a:pPr algn="just"/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Receiver for Digital TV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03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22</a:t>
            </a:fld>
            <a:endParaRPr lang="en-US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60" y="935182"/>
            <a:ext cx="10723622" cy="4717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3436284" y="5969183"/>
            <a:ext cx="5614037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 Block diagram of a digital TV receiver</a:t>
            </a:r>
          </a:p>
        </p:txBody>
      </p:sp>
    </p:spTree>
    <p:extLst>
      <p:ext uri="{BB962C8B-B14F-4D97-AF65-F5344CB8AC3E}">
        <p14:creationId xmlns:p14="http://schemas.microsoft.com/office/powerpoint/2010/main" val="2451812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465168" cy="5569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For audio, IF is converted into inter-carrier frequency and the sampled audio pulses are obtained by using a DQPSK demodulator.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demodulated pulses pass through a decoder and a DAC circuit to get the original audio signal.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Digital TV provides another feature known as </a:t>
            </a:r>
            <a:r>
              <a:rPr lang="en-US" sz="2800" dirty="0" smtClean="0">
                <a:latin typeface="Palatino Linotype" panose="02040502050505030304" pitchFamily="18" charset="0"/>
              </a:rPr>
              <a:t>picture-in-picture.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This feature is described in the next slides.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93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A digital TV can incorporate an interesting feature of picture-in-picture (PIP) in a TV </a:t>
            </a:r>
            <a:r>
              <a:rPr lang="en-US" sz="2800" dirty="0" smtClean="0">
                <a:latin typeface="Palatino Linotype" panose="02040502050505030304" pitchFamily="18" charset="0"/>
              </a:rPr>
              <a:t>receiver</a:t>
            </a:r>
            <a:r>
              <a:rPr lang="en-US" sz="2800" dirty="0">
                <a:latin typeface="Palatino Linotype" panose="02040502050505030304" pitchFamily="18" charset="0"/>
              </a:rPr>
              <a:t>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This </a:t>
            </a:r>
            <a:r>
              <a:rPr lang="en-US" sz="2800" dirty="0">
                <a:latin typeface="Palatino Linotype" panose="02040502050505030304" pitchFamily="18" charset="0"/>
              </a:rPr>
              <a:t>feature allows a smaller second picture (1/3 </a:t>
            </a:r>
            <a:r>
              <a:rPr lang="en-US" sz="2800" dirty="0" smtClean="0">
                <a:latin typeface="Palatino Linotype" panose="02040502050505030304" pitchFamily="18" charset="0"/>
              </a:rPr>
              <a:t>x 1/3 </a:t>
            </a:r>
            <a:r>
              <a:rPr lang="en-US" sz="2800" dirty="0">
                <a:latin typeface="Palatino Linotype" panose="02040502050505030304" pitchFamily="18" charset="0"/>
              </a:rPr>
              <a:t>of the actual size) to be </a:t>
            </a:r>
            <a:r>
              <a:rPr lang="en-US" sz="2800" dirty="0" smtClean="0">
                <a:latin typeface="Palatino Linotype" panose="02040502050505030304" pitchFamily="18" charset="0"/>
              </a:rPr>
              <a:t>over-</a:t>
            </a:r>
            <a:r>
              <a:rPr lang="en-US" sz="2800" dirty="0" err="1" smtClean="0">
                <a:latin typeface="Palatino Linotype" panose="02040502050505030304" pitchFamily="18" charset="0"/>
              </a:rPr>
              <a:t>layed</a:t>
            </a:r>
            <a:r>
              <a:rPr lang="en-US" sz="2800" dirty="0" smtClean="0">
                <a:latin typeface="Palatino Linotype" panose="02040502050505030304" pitchFamily="18" charset="0"/>
              </a:rPr>
              <a:t> </a:t>
            </a:r>
            <a:r>
              <a:rPr lang="en-US" sz="2800" dirty="0">
                <a:latin typeface="Palatino Linotype" panose="02040502050505030304" pitchFamily="18" charset="0"/>
              </a:rPr>
              <a:t>on the main picture in any of the four corners of the screen.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Composite video signals from two pictures pass through a colour decoder to give </a:t>
            </a:r>
            <a:r>
              <a:rPr lang="en-US" sz="2800" dirty="0" smtClean="0">
                <a:latin typeface="Palatino Linotype" panose="02040502050505030304" pitchFamily="18" charset="0"/>
              </a:rPr>
              <a:t>respective </a:t>
            </a:r>
            <a:r>
              <a:rPr lang="en-US" sz="2800" dirty="0">
                <a:latin typeface="Palatino Linotype" panose="02040502050505030304" pitchFamily="18" charset="0"/>
              </a:rPr>
              <a:t>Y, U, V signals which are time multiplexed and pass through a digital </a:t>
            </a:r>
            <a:r>
              <a:rPr lang="en-US" sz="2800" dirty="0" smtClean="0">
                <a:latin typeface="Palatino Linotype" panose="02040502050505030304" pitchFamily="18" charset="0"/>
              </a:rPr>
              <a:t>processor.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processor consists of an ADC circuit, a filter and a digital conditioner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Picture-in-Picture Feature in Digital TV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419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25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32" y="727364"/>
            <a:ext cx="9065703" cy="4696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2428572" y="5779747"/>
            <a:ext cx="7465505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Palatino Linotype" panose="02040502050505030304" pitchFamily="18" charset="0"/>
              </a:rPr>
              <a:t>Block diagram of a typical picture-in-picture system</a:t>
            </a:r>
          </a:p>
        </p:txBody>
      </p:sp>
    </p:spTree>
    <p:extLst>
      <p:ext uri="{BB962C8B-B14F-4D97-AF65-F5344CB8AC3E}">
        <p14:creationId xmlns:p14="http://schemas.microsoft.com/office/powerpoint/2010/main" val="190070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706584"/>
            <a:ext cx="11465168" cy="590209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It converts the analog Y, U, V signals into bits which are stored in the dynamic random </a:t>
            </a:r>
            <a:r>
              <a:rPr lang="en-US" sz="2800" dirty="0" smtClean="0">
                <a:latin typeface="Palatino Linotype" panose="02040502050505030304" pitchFamily="18" charset="0"/>
              </a:rPr>
              <a:t>memory </a:t>
            </a:r>
            <a:r>
              <a:rPr lang="en-US" sz="2800" dirty="0">
                <a:latin typeface="Palatino Linotype" panose="02040502050505030304" pitchFamily="18" charset="0"/>
              </a:rPr>
              <a:t>(DRAM) through a PIP controller.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This </a:t>
            </a:r>
            <a:r>
              <a:rPr lang="en-US" sz="2800" dirty="0">
                <a:latin typeface="Palatino Linotype" panose="02040502050505030304" pitchFamily="18" charset="0"/>
              </a:rPr>
              <a:t>stored digital data can be read out for </a:t>
            </a:r>
            <a:r>
              <a:rPr lang="en-US" sz="2800" dirty="0" smtClean="0">
                <a:latin typeface="Palatino Linotype" panose="02040502050505030304" pitchFamily="18" charset="0"/>
              </a:rPr>
              <a:t>display.</a:t>
            </a:r>
            <a:endParaRPr lang="en-US" sz="2800" dirty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 PIP controller </a:t>
            </a:r>
            <a:r>
              <a:rPr lang="en-US" sz="2800" dirty="0" err="1">
                <a:latin typeface="Palatino Linotype" panose="02040502050505030304" pitchFamily="18" charset="0"/>
              </a:rPr>
              <a:t>demultiplexes</a:t>
            </a:r>
            <a:r>
              <a:rPr lang="en-US" sz="2800" dirty="0">
                <a:latin typeface="Palatino Linotype" panose="02040502050505030304" pitchFamily="18" charset="0"/>
              </a:rPr>
              <a:t> the </a:t>
            </a:r>
            <a:r>
              <a:rPr lang="en-US" sz="2800" dirty="0" err="1">
                <a:latin typeface="Palatino Linotype" panose="02040502050505030304" pitchFamily="18" charset="0"/>
              </a:rPr>
              <a:t>digitised</a:t>
            </a:r>
            <a:r>
              <a:rPr lang="en-US" sz="2800" dirty="0">
                <a:latin typeface="Palatino Linotype" panose="02040502050505030304" pitchFamily="18" charset="0"/>
              </a:rPr>
              <a:t> Y, U and V data.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These </a:t>
            </a:r>
            <a:r>
              <a:rPr lang="en-US" sz="2800" dirty="0">
                <a:latin typeface="Palatino Linotype" panose="02040502050505030304" pitchFamily="18" charset="0"/>
              </a:rPr>
              <a:t>data streams </a:t>
            </a:r>
            <a:r>
              <a:rPr lang="en-US" sz="2800" dirty="0" smtClean="0">
                <a:latin typeface="Palatino Linotype" panose="02040502050505030304" pitchFamily="18" charset="0"/>
              </a:rPr>
              <a:t>are </a:t>
            </a:r>
            <a:r>
              <a:rPr lang="en-US" sz="2800" dirty="0">
                <a:latin typeface="Palatino Linotype" panose="02040502050505030304" pitchFamily="18" charset="0"/>
              </a:rPr>
              <a:t>fed to three DACs which give out analog Y, U and V signals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 PIP controller </a:t>
            </a:r>
            <a:r>
              <a:rPr lang="en-US" sz="2800" dirty="0" smtClean="0">
                <a:latin typeface="Palatino Linotype" panose="02040502050505030304" pitchFamily="18" charset="0"/>
              </a:rPr>
              <a:t>also </a:t>
            </a:r>
            <a:r>
              <a:rPr lang="en-US" sz="2800" dirty="0">
                <a:latin typeface="Palatino Linotype" panose="02040502050505030304" pitchFamily="18" charset="0"/>
              </a:rPr>
              <a:t>produces fast blanking pulses which are used to switch between the signals </a:t>
            </a:r>
            <a:r>
              <a:rPr lang="en-US" sz="2800" dirty="0" smtClean="0">
                <a:latin typeface="Palatino Linotype" panose="02040502050505030304" pitchFamily="18" charset="0"/>
              </a:rPr>
              <a:t>of the main picture and the insert picture.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After </a:t>
            </a:r>
            <a:r>
              <a:rPr lang="en-US" sz="2800" dirty="0" err="1" smtClean="0">
                <a:latin typeface="Palatino Linotype" panose="02040502050505030304" pitchFamily="18" charset="0"/>
              </a:rPr>
              <a:t>lowpass</a:t>
            </a:r>
            <a:r>
              <a:rPr lang="en-US" sz="2800" dirty="0" smtClean="0">
                <a:latin typeface="Palatino Linotype" panose="02040502050505030304" pitchFamily="18" charset="0"/>
              </a:rPr>
              <a:t> filtering, the Y, U, V signals pass through a resistive matrix to give R, G, B colour signals to produce a picture on the screen of the TV receiver.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PIP controller is provided with vertical and horizontal sync pulses of both the pictures and also the timing pulses.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9528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942" y="1641764"/>
            <a:ext cx="11828584" cy="4535199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Definition of a picture depends on the ability of the system to resolve very closely spaced tiny objects, so that they appear distinctly clear; and not appear as merged.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For example, hair of the eyebrows or moustache over the lips should not appear as a patch </a:t>
            </a:r>
            <a:r>
              <a:rPr lang="en-US" sz="2800" dirty="0" smtClean="0">
                <a:latin typeface="Palatino Linotype" panose="02040502050505030304" pitchFamily="18" charset="0"/>
              </a:rPr>
              <a:t>of </a:t>
            </a:r>
            <a:r>
              <a:rPr lang="en-US" sz="2800" dirty="0">
                <a:latin typeface="Palatino Linotype" panose="02040502050505030304" pitchFamily="18" charset="0"/>
              </a:rPr>
              <a:t>hair, but should be distinctly visible as they are.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Similarly</a:t>
            </a:r>
            <a:r>
              <a:rPr lang="en-US" sz="2800" dirty="0">
                <a:latin typeface="Palatino Linotype" panose="02040502050505030304" pitchFamily="18" charset="0"/>
              </a:rPr>
              <a:t>, wrinkles on the face and </a:t>
            </a:r>
            <a:r>
              <a:rPr lang="en-US" sz="2800" dirty="0" smtClean="0">
                <a:latin typeface="Palatino Linotype" panose="02040502050505030304" pitchFamily="18" charset="0"/>
              </a:rPr>
              <a:t>veins on the leaves should be clearly visible.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Thus, definition is related to resolution.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Resolution depends on the number of scanning lines per frame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High Definition TV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441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10491"/>
            <a:ext cx="11461439" cy="56527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Resolution also depends on </a:t>
            </a:r>
            <a:r>
              <a:rPr lang="en-US" sz="2800" dirty="0">
                <a:latin typeface="Palatino Linotype" panose="02040502050505030304" pitchFamily="18" charset="0"/>
              </a:rPr>
              <a:t>the typical viewing distance which allows the distance between adjacent pixels to subtend </a:t>
            </a:r>
            <a:r>
              <a:rPr lang="en-US" sz="2800" dirty="0" smtClean="0">
                <a:latin typeface="Palatino Linotype" panose="02040502050505030304" pitchFamily="18" charset="0"/>
              </a:rPr>
              <a:t>an </a:t>
            </a:r>
            <a:r>
              <a:rPr lang="en-US" sz="2800" dirty="0">
                <a:latin typeface="Palatino Linotype" panose="02040502050505030304" pitchFamily="18" charset="0"/>
              </a:rPr>
              <a:t>angle of </a:t>
            </a:r>
            <a:r>
              <a:rPr lang="en-US" sz="2800" dirty="0" smtClean="0">
                <a:latin typeface="Palatino Linotype" panose="02040502050505030304" pitchFamily="18" charset="0"/>
              </a:rPr>
              <a:t>1’ </a:t>
            </a:r>
            <a:r>
              <a:rPr lang="en-US" sz="2800" dirty="0">
                <a:latin typeface="Palatino Linotype" panose="02040502050505030304" pitchFamily="18" charset="0"/>
              </a:rPr>
              <a:t>( 1/60 degree) at the eyes.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system with 625 lines (25 frames per second) and 525 lines (30 frames per second) known as European and American systems, respectively are </a:t>
            </a:r>
            <a:r>
              <a:rPr lang="en-US" sz="2800" dirty="0">
                <a:latin typeface="Palatino Linotype" panose="02040502050505030304" pitchFamily="18" charset="0"/>
              </a:rPr>
              <a:t>known as conventional or </a:t>
            </a:r>
            <a:r>
              <a:rPr lang="en-US" sz="2800" dirty="0" smtClean="0">
                <a:latin typeface="Palatino Linotype" panose="02040502050505030304" pitchFamily="18" charset="0"/>
              </a:rPr>
              <a:t>traditional, </a:t>
            </a:r>
            <a:r>
              <a:rPr lang="en-US" sz="2800" b="1" i="1" dirty="0" smtClean="0">
                <a:latin typeface="Palatino Linotype" panose="02040502050505030304" pitchFamily="18" charset="0"/>
              </a:rPr>
              <a:t>standard definition television systems</a:t>
            </a:r>
            <a:r>
              <a:rPr lang="en-US" sz="2800" dirty="0" smtClean="0">
                <a:latin typeface="Palatino Linotype" panose="02040502050505030304" pitchFamily="18" charset="0"/>
              </a:rPr>
              <a:t>, or simply </a:t>
            </a:r>
            <a:r>
              <a:rPr lang="en-US" sz="2800" b="1" dirty="0">
                <a:latin typeface="Palatino Linotype" panose="02040502050505030304" pitchFamily="18" charset="0"/>
              </a:rPr>
              <a:t>SDTV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pursuit of higher resolution in different countries resulted to the agreed common world standard for High Definition Television (HDTV) 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970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641764"/>
            <a:ext cx="11465168" cy="4821443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  <a:latin typeface="Palatino Linotype" panose="02040502050505030304" pitchFamily="18" charset="0"/>
              </a:rPr>
              <a:t>1080 lines per frame (active lines</a:t>
            </a:r>
            <a:r>
              <a:rPr lang="en-US" sz="2800" b="1" dirty="0" smtClean="0">
                <a:solidFill>
                  <a:schemeClr val="accent1"/>
                </a:solidFill>
                <a:latin typeface="Palatino Linotype" panose="02040502050505030304" pitchFamily="18" charset="0"/>
              </a:rPr>
              <a:t>)</a:t>
            </a:r>
          </a:p>
          <a:p>
            <a:pPr lvl="1" algn="just"/>
            <a:r>
              <a:rPr lang="en-US" sz="2600" dirty="0">
                <a:latin typeface="Palatino Linotype" panose="02040502050505030304" pitchFamily="18" charset="0"/>
              </a:rPr>
              <a:t>Scanning may be chosen to be either interlaced </a:t>
            </a:r>
            <a:r>
              <a:rPr lang="en-US" sz="2600" dirty="0" smtClean="0">
                <a:latin typeface="Palatino Linotype" panose="02040502050505030304" pitchFamily="18" charset="0"/>
              </a:rPr>
              <a:t>(</a:t>
            </a:r>
            <a:r>
              <a:rPr lang="en-US" sz="2600" dirty="0">
                <a:latin typeface="Palatino Linotype" panose="02040502050505030304" pitchFamily="18" charset="0"/>
              </a:rPr>
              <a:t>2:1) or progressive. </a:t>
            </a:r>
            <a:endParaRPr lang="en-US" sz="2600" dirty="0" smtClean="0">
              <a:latin typeface="Palatino Linotype" panose="02040502050505030304" pitchFamily="18" charset="0"/>
            </a:endParaRP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This </a:t>
            </a:r>
            <a:r>
              <a:rPr lang="en-US" sz="2600" dirty="0">
                <a:latin typeface="Palatino Linotype" panose="02040502050505030304" pitchFamily="18" charset="0"/>
              </a:rPr>
              <a:t>option will not affect compatibility. </a:t>
            </a:r>
            <a:endParaRPr lang="en-US" sz="2600" dirty="0" smtClean="0">
              <a:latin typeface="Palatino Linotype" panose="02040502050505030304" pitchFamily="18" charset="0"/>
            </a:endParaRP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As </a:t>
            </a:r>
            <a:r>
              <a:rPr lang="en-US" sz="2600" dirty="0">
                <a:latin typeface="Palatino Linotype" panose="02040502050505030304" pitchFamily="18" charset="0"/>
              </a:rPr>
              <a:t>the number of </a:t>
            </a:r>
            <a:r>
              <a:rPr lang="en-US" sz="2600" dirty="0" smtClean="0">
                <a:latin typeface="Palatino Linotype" panose="02040502050505030304" pitchFamily="18" charset="0"/>
              </a:rPr>
              <a:t>active </a:t>
            </a:r>
            <a:r>
              <a:rPr lang="en-US" sz="2600" dirty="0">
                <a:latin typeface="Palatino Linotype" panose="02040502050505030304" pitchFamily="18" charset="0"/>
              </a:rPr>
              <a:t>lines per frame is 1080, the number of pixels contributing to resolution </a:t>
            </a:r>
            <a:r>
              <a:rPr lang="en-US" sz="2600" dirty="0" smtClean="0">
                <a:latin typeface="Palatino Linotype" panose="02040502050505030304" pitchFamily="18" charset="0"/>
              </a:rPr>
              <a:t> would </a:t>
            </a:r>
            <a:r>
              <a:rPr lang="en-US" sz="2600" dirty="0">
                <a:latin typeface="Palatino Linotype" panose="02040502050505030304" pitchFamily="18" charset="0"/>
              </a:rPr>
              <a:t>be equal to 1080 </a:t>
            </a:r>
            <a:r>
              <a:rPr lang="en-US" sz="2600" dirty="0" smtClean="0">
                <a:latin typeface="Palatino Linotype" panose="02040502050505030304" pitchFamily="18" charset="0"/>
              </a:rPr>
              <a:t>x 1080 x 16/9 </a:t>
            </a:r>
            <a:r>
              <a:rPr lang="en-US" sz="2600" dirty="0">
                <a:latin typeface="Palatino Linotype" panose="02040502050505030304" pitchFamily="18" charset="0"/>
              </a:rPr>
              <a:t>= </a:t>
            </a:r>
            <a:r>
              <a:rPr lang="en-US" sz="2600" dirty="0" smtClean="0">
                <a:latin typeface="Palatino Linotype" panose="02040502050505030304" pitchFamily="18" charset="0"/>
              </a:rPr>
              <a:t>2073600.</a:t>
            </a:r>
          </a:p>
          <a:p>
            <a:pPr algn="just"/>
            <a:r>
              <a:rPr lang="en-US" sz="2800" b="1" dirty="0">
                <a:solidFill>
                  <a:schemeClr val="accent1"/>
                </a:solidFill>
                <a:latin typeface="Palatino Linotype" panose="02040502050505030304" pitchFamily="18" charset="0"/>
              </a:rPr>
              <a:t>25 frames per second </a:t>
            </a:r>
            <a:r>
              <a:rPr lang="en-US" sz="2800" dirty="0">
                <a:latin typeface="Palatino Linotype" panose="02040502050505030304" pitchFamily="18" charset="0"/>
              </a:rPr>
              <a:t>in European camp and </a:t>
            </a:r>
            <a:r>
              <a:rPr lang="en-US" sz="2800" b="1" dirty="0">
                <a:solidFill>
                  <a:schemeClr val="accent1"/>
                </a:solidFill>
                <a:latin typeface="Palatino Linotype" panose="02040502050505030304" pitchFamily="18" charset="0"/>
              </a:rPr>
              <a:t>30 frames per second</a:t>
            </a:r>
            <a:r>
              <a:rPr lang="en-US" sz="2800" dirty="0">
                <a:latin typeface="Palatino Linotype" panose="02040502050505030304" pitchFamily="18" charset="0"/>
              </a:rPr>
              <a:t> in  American </a:t>
            </a:r>
            <a:r>
              <a:rPr lang="en-US" sz="2800" dirty="0" smtClean="0">
                <a:latin typeface="Palatino Linotype" panose="02040502050505030304" pitchFamily="18" charset="0"/>
              </a:rPr>
              <a:t>camp </a:t>
            </a:r>
            <a:r>
              <a:rPr lang="en-US" sz="2800" dirty="0">
                <a:latin typeface="Palatino Linotype" panose="02040502050505030304" pitchFamily="18" charset="0"/>
              </a:rPr>
              <a:t>to match with the frequencies of their Electric Mains Supply systems.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b="1" dirty="0" smtClean="0">
                <a:solidFill>
                  <a:schemeClr val="accent1"/>
                </a:solidFill>
                <a:latin typeface="Palatino Linotype" panose="02040502050505030304" pitchFamily="18" charset="0"/>
              </a:rPr>
              <a:t>Aspect </a:t>
            </a:r>
            <a:r>
              <a:rPr lang="en-US" sz="2800" b="1" dirty="0">
                <a:solidFill>
                  <a:schemeClr val="accent1"/>
                </a:solidFill>
                <a:latin typeface="Palatino Linotype" panose="02040502050505030304" pitchFamily="18" charset="0"/>
              </a:rPr>
              <a:t>ratio of </a:t>
            </a:r>
            <a:r>
              <a:rPr lang="en-US" sz="2800" b="1" dirty="0" smtClean="0">
                <a:solidFill>
                  <a:schemeClr val="accent1"/>
                </a:solidFill>
                <a:latin typeface="Palatino Linotype" panose="02040502050505030304" pitchFamily="18" charset="0"/>
              </a:rPr>
              <a:t>16:9</a:t>
            </a:r>
          </a:p>
          <a:p>
            <a:pPr algn="just"/>
            <a:r>
              <a:rPr lang="en-US" sz="2800" b="1" dirty="0">
                <a:solidFill>
                  <a:schemeClr val="accent1"/>
                </a:solidFill>
                <a:latin typeface="Palatino Linotype" panose="02040502050505030304" pitchFamily="18" charset="0"/>
              </a:rPr>
              <a:t>The system shall be digital only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Agreed Standards for HDTV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132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This term defines specifications that produce a picture which is superior to that of SDTV but inferior to HDTV.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 </a:t>
            </a:r>
            <a:r>
              <a:rPr lang="en-US" sz="2800" dirty="0">
                <a:latin typeface="Palatino Linotype" panose="02040502050505030304" pitchFamily="18" charset="0"/>
              </a:rPr>
              <a:t>term refers to devices capable of 525 or 625 lines per frame in progressive scanning on the screens with </a:t>
            </a:r>
            <a:r>
              <a:rPr lang="en-US" sz="2800" dirty="0" smtClean="0">
                <a:latin typeface="Palatino Linotype" panose="02040502050505030304" pitchFamily="18" charset="0"/>
              </a:rPr>
              <a:t>aspect </a:t>
            </a:r>
            <a:r>
              <a:rPr lang="en-US" sz="2800" dirty="0">
                <a:latin typeface="Palatino Linotype" panose="02040502050505030304" pitchFamily="18" charset="0"/>
              </a:rPr>
              <a:t>ratio of 16:9. 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EDTV broadcasts require less bandwidth than HDTV broadcasts and hence more channels are available in EDTV than in HDTV.</a:t>
            </a: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There is about 30% increase in definition in EDTV as compared to the SDTV system.</a:t>
            </a:r>
            <a:endParaRPr lang="en-US" sz="2800" dirty="0">
              <a:latin typeface="Palatino Linotype" panose="0204050205050503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Enhanced Definition TV (EDTV)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157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6" y="1680150"/>
            <a:ext cx="11465168" cy="4886967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The Consumer Electronics Association (CEA) announced that the official term “Ultra HD” would be used for any display with a 16 x 9 ratio with at least 1 digital input cable carrying a minimum resolution of 3,840 x 2,160 square pixels</a:t>
            </a:r>
            <a:r>
              <a:rPr lang="en-US" sz="2800" dirty="0" smtClean="0">
                <a:latin typeface="Palatino Linotype" panose="02040502050505030304" pitchFamily="18" charset="0"/>
              </a:rPr>
              <a:t>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Currently there are 2 forms of Ultra HD, 4K and 8K, both have an aspect ratio of </a:t>
            </a:r>
            <a:r>
              <a:rPr lang="en-US" sz="2800" dirty="0" smtClean="0">
                <a:latin typeface="Palatino Linotype" panose="02040502050505030304" pitchFamily="18" charset="0"/>
              </a:rPr>
              <a:t>16:9.</a:t>
            </a:r>
          </a:p>
          <a:p>
            <a:pPr lvl="1" algn="just"/>
            <a:r>
              <a:rPr lang="en-US" sz="2600" dirty="0">
                <a:latin typeface="Palatino Linotype" panose="02040502050505030304" pitchFamily="18" charset="0"/>
              </a:rPr>
              <a:t>4K Ultra HD (2160p) has a resolution of 3840 × 2160 (8.3 megapixels), which is roughly equivalent to 4K cinema or 4 times the number of pixels in Full HD format (1080p). 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8K </a:t>
            </a:r>
            <a:r>
              <a:rPr lang="en-US" sz="2600" dirty="0">
                <a:latin typeface="Palatino Linotype" panose="02040502050505030304" pitchFamily="18" charset="0"/>
              </a:rPr>
              <a:t>Ultra HD (4320p) produces an astonishing 7,680 × 4,320 pixel resolution (33.2 megapixels), which is roughly the equivalent of an IMAX film or 16 times the pixel resolution of Full HD (1080p).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Palatino Linotype" panose="02040502050505030304" pitchFamily="18" charset="0"/>
              </a:rPr>
              <a:t>Ultra High Definition TV (UHDTV)</a:t>
            </a:r>
            <a:endParaRPr lang="en-US" sz="3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341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32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9190" t="6273" r="9761" b="26314"/>
          <a:stretch/>
        </p:blipFill>
        <p:spPr>
          <a:xfrm>
            <a:off x="1405098" y="810552"/>
            <a:ext cx="9051886" cy="56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08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465168" cy="5569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Ultra HDTV frame rates - 120, 60, 59.94, 50, 30, 29.97, 25, 24, and 23.976 frames per </a:t>
            </a:r>
            <a:r>
              <a:rPr lang="en-US" sz="2800" dirty="0" smtClean="0">
                <a:latin typeface="Palatino Linotype" panose="02040502050505030304" pitchFamily="18" charset="0"/>
              </a:rPr>
              <a:t>second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In addition to the significant upgrade in video quality, sound quality is also significantly increased with Ultra HDTV.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algn="just"/>
            <a:r>
              <a:rPr lang="en-US" sz="2800" dirty="0" smtClean="0">
                <a:latin typeface="Palatino Linotype" panose="02040502050505030304" pitchFamily="18" charset="0"/>
              </a:rPr>
              <a:t>24 </a:t>
            </a:r>
            <a:r>
              <a:rPr lang="en-US" sz="2800" dirty="0">
                <a:latin typeface="Palatino Linotype" panose="02040502050505030304" pitchFamily="18" charset="0"/>
              </a:rPr>
              <a:t>channels of audio can be used with 24 speakers, producing a difference comparable to the Ultra HD video </a:t>
            </a:r>
            <a:r>
              <a:rPr lang="en-US" sz="2800" dirty="0" smtClean="0">
                <a:latin typeface="Palatino Linotype" panose="02040502050505030304" pitchFamily="18" charset="0"/>
              </a:rPr>
              <a:t>resolution.</a:t>
            </a:r>
          </a:p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Advantages </a:t>
            </a:r>
            <a:endParaRPr lang="en-US" sz="2800" dirty="0" smtClean="0">
              <a:latin typeface="Palatino Linotype" panose="02040502050505030304" pitchFamily="18" charset="0"/>
            </a:endParaRP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Its </a:t>
            </a:r>
            <a:r>
              <a:rPr lang="en-US" sz="2600" dirty="0">
                <a:latin typeface="Palatino Linotype" panose="02040502050505030304" pitchFamily="18" charset="0"/>
              </a:rPr>
              <a:t>pictures have more detail 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Better </a:t>
            </a:r>
            <a:r>
              <a:rPr lang="en-US" sz="2600" dirty="0">
                <a:latin typeface="Palatino Linotype" panose="02040502050505030304" pitchFamily="18" charset="0"/>
              </a:rPr>
              <a:t>image depth 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Better </a:t>
            </a:r>
            <a:r>
              <a:rPr lang="en-US" sz="2600" dirty="0">
                <a:latin typeface="Palatino Linotype" panose="02040502050505030304" pitchFamily="18" charset="0"/>
              </a:rPr>
              <a:t>colour handling 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A </a:t>
            </a:r>
            <a:r>
              <a:rPr lang="en-US" sz="2600" dirty="0">
                <a:latin typeface="Palatino Linotype" panose="02040502050505030304" pitchFamily="18" charset="0"/>
              </a:rPr>
              <a:t>more cinematic, immersive experience </a:t>
            </a:r>
            <a:endParaRPr lang="en-US" sz="2600" dirty="0" smtClean="0">
              <a:latin typeface="Palatino Linotype" panose="02040502050505030304" pitchFamily="18" charset="0"/>
            </a:endParaRP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 </a:t>
            </a:r>
            <a:r>
              <a:rPr lang="en-US" sz="2600" dirty="0">
                <a:latin typeface="Palatino Linotype" panose="02040502050505030304" pitchFamily="18" charset="0"/>
              </a:rPr>
              <a:t>It makes 3D better</a:t>
            </a:r>
          </a:p>
        </p:txBody>
      </p:sp>
    </p:spTree>
    <p:extLst>
      <p:ext uri="{BB962C8B-B14F-4D97-AF65-F5344CB8AC3E}">
        <p14:creationId xmlns:p14="http://schemas.microsoft.com/office/powerpoint/2010/main" val="3273887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63416" y="893618"/>
            <a:ext cx="11465168" cy="556958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>
                <a:latin typeface="Palatino Linotype" panose="02040502050505030304" pitchFamily="18" charset="0"/>
              </a:rPr>
              <a:t>Disadvantages 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Not </a:t>
            </a:r>
            <a:r>
              <a:rPr lang="en-US" sz="2600" dirty="0">
                <a:latin typeface="Palatino Linotype" panose="02040502050505030304" pitchFamily="18" charset="0"/>
              </a:rPr>
              <a:t>much content available 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Wont </a:t>
            </a:r>
            <a:r>
              <a:rPr lang="en-US" sz="2600" dirty="0">
                <a:latin typeface="Palatino Linotype" panose="02040502050505030304" pitchFamily="18" charset="0"/>
              </a:rPr>
              <a:t>see much of a difference if the screen is smaller than 50 </a:t>
            </a:r>
            <a:r>
              <a:rPr lang="en-US" sz="2600" dirty="0" smtClean="0">
                <a:latin typeface="Palatino Linotype" panose="02040502050505030304" pitchFamily="18" charset="0"/>
              </a:rPr>
              <a:t>inches </a:t>
            </a:r>
          </a:p>
          <a:p>
            <a:pPr lvl="1" algn="just"/>
            <a:r>
              <a:rPr lang="en-US" sz="2600" dirty="0" smtClean="0">
                <a:latin typeface="Palatino Linotype" panose="02040502050505030304" pitchFamily="18" charset="0"/>
              </a:rPr>
              <a:t>Expensive </a:t>
            </a:r>
            <a:r>
              <a:rPr lang="en-US" sz="2600" dirty="0">
                <a:latin typeface="Palatino Linotype" panose="02040502050505030304" pitchFamily="18" charset="0"/>
              </a:rPr>
              <a:t>- 65" Class Q800T QLED 8K UHD HDR Smart </a:t>
            </a:r>
            <a:r>
              <a:rPr lang="en-US" sz="2600" dirty="0" smtClean="0">
                <a:latin typeface="Palatino Linotype" panose="02040502050505030304" pitchFamily="18" charset="0"/>
              </a:rPr>
              <a:t>TV is priced at $2,000 minimum.</a:t>
            </a:r>
            <a:endParaRPr lang="en-US" sz="2600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706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030A0"/>
      </a:accent1>
      <a:accent2>
        <a:srgbClr val="404040"/>
      </a:accent2>
      <a:accent3>
        <a:srgbClr val="7F7F7F"/>
      </a:accent3>
      <a:accent4>
        <a:srgbClr val="C7A2E3"/>
      </a:accent4>
      <a:accent5>
        <a:srgbClr val="48A1FA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468121_Coastal presentation_RVA_v5" id="{5B652A6C-03CB-4457-ADFC-1C5BB6605FEF}" vid="{F00112C4-F9F0-4BD0-BC95-5242C8B0F7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46D58D-B27D-4B23-AEA1-AE974AB622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949B46-24C4-420B-AB49-DDC88FEB99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0CE401-796E-4493-905E-4DDA5AF62AB4}">
  <ds:schemaRefs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Coastal presentation</Template>
  <TotalTime>0</TotalTime>
  <Words>2565</Words>
  <Application>Microsoft Office PowerPoint</Application>
  <PresentationFormat>Widescreen</PresentationFormat>
  <Paragraphs>199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Palatino Linotype</vt:lpstr>
      <vt:lpstr>Office Theme</vt:lpstr>
      <vt:lpstr>LECTURE nine: digital television</vt:lpstr>
      <vt:lpstr>Introduction</vt:lpstr>
      <vt:lpstr>Advantages of Digital TV</vt:lpstr>
      <vt:lpstr>PowerPoint Presentation</vt:lpstr>
      <vt:lpstr>PowerPoint Presentation</vt:lpstr>
      <vt:lpstr>PowerPoint Presentation</vt:lpstr>
      <vt:lpstr>Disadvantages</vt:lpstr>
      <vt:lpstr>Digital Baseband Signal</vt:lpstr>
      <vt:lpstr>PowerPoint Presentation</vt:lpstr>
      <vt:lpstr>PowerPoint Presentation</vt:lpstr>
      <vt:lpstr>PowerPoint Presentation</vt:lpstr>
      <vt:lpstr>Digital Video Production and Reproduction</vt:lpstr>
      <vt:lpstr>PowerPoint Presentation</vt:lpstr>
      <vt:lpstr>PowerPoint Presentation</vt:lpstr>
      <vt:lpstr>Digital Picture Transmission and Reception  </vt:lpstr>
      <vt:lpstr>Digital Compression</vt:lpstr>
      <vt:lpstr>Modulation Method for Digital Video</vt:lpstr>
      <vt:lpstr>Modulation Method for Digital Sound</vt:lpstr>
      <vt:lpstr>PowerPoint Presentation</vt:lpstr>
      <vt:lpstr>PowerPoint Presentation</vt:lpstr>
      <vt:lpstr>Receiver for Digital TV</vt:lpstr>
      <vt:lpstr>PowerPoint Presentation</vt:lpstr>
      <vt:lpstr>PowerPoint Presentation</vt:lpstr>
      <vt:lpstr>Picture-in-Picture Feature in Digital TV</vt:lpstr>
      <vt:lpstr>PowerPoint Presentation</vt:lpstr>
      <vt:lpstr>PowerPoint Presentation</vt:lpstr>
      <vt:lpstr>High Definition TV</vt:lpstr>
      <vt:lpstr>PowerPoint Presentation</vt:lpstr>
      <vt:lpstr>Agreed Standards for HDTV</vt:lpstr>
      <vt:lpstr>Enhanced Definition TV (EDTV)</vt:lpstr>
      <vt:lpstr>Ultra High Definition TV (UHDTV)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2020-12-04T11:12:10Z</dcterms:created>
  <dcterms:modified xsi:type="dcterms:W3CDTF">2021-02-25T06:11:56Z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