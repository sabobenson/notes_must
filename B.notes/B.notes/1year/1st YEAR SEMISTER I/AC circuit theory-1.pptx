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6" r:id="rId3"/>
    <p:sldId id="288" r:id="rId4"/>
    <p:sldId id="261" r:id="rId5"/>
    <p:sldId id="293" r:id="rId6"/>
    <p:sldId id="292" r:id="rId7"/>
    <p:sldId id="262" r:id="rId8"/>
    <p:sldId id="263" r:id="rId9"/>
    <p:sldId id="264" r:id="rId10"/>
    <p:sldId id="265" r:id="rId11"/>
    <p:sldId id="305" r:id="rId12"/>
    <p:sldId id="266" r:id="rId13"/>
    <p:sldId id="294" r:id="rId14"/>
    <p:sldId id="267" r:id="rId15"/>
    <p:sldId id="268" r:id="rId16"/>
    <p:sldId id="269" r:id="rId17"/>
    <p:sldId id="270" r:id="rId18"/>
    <p:sldId id="271" r:id="rId19"/>
    <p:sldId id="295" r:id="rId20"/>
    <p:sldId id="272" r:id="rId21"/>
    <p:sldId id="296" r:id="rId22"/>
    <p:sldId id="273" r:id="rId23"/>
    <p:sldId id="274" r:id="rId24"/>
    <p:sldId id="275" r:id="rId25"/>
    <p:sldId id="276" r:id="rId26"/>
    <p:sldId id="277" r:id="rId27"/>
    <p:sldId id="278" r:id="rId28"/>
    <p:sldId id="279" r:id="rId29"/>
    <p:sldId id="298" r:id="rId30"/>
    <p:sldId id="299" r:id="rId31"/>
    <p:sldId id="281" r:id="rId32"/>
    <p:sldId id="300" r:id="rId33"/>
    <p:sldId id="301" r:id="rId34"/>
    <p:sldId id="302" r:id="rId35"/>
    <p:sldId id="307" r:id="rId36"/>
    <p:sldId id="308" r:id="rId37"/>
    <p:sldId id="309" r:id="rId38"/>
    <p:sldId id="310" r:id="rId39"/>
    <p:sldId id="311" r:id="rId40"/>
    <p:sldId id="312" r:id="rId41"/>
    <p:sldId id="313" r:id="rId42"/>
    <p:sldId id="314" r:id="rId43"/>
    <p:sldId id="315" r:id="rId44"/>
    <p:sldId id="303" r:id="rId45"/>
    <p:sldId id="304" r:id="rId46"/>
    <p:sldId id="283" r:id="rId47"/>
    <p:sldId id="284" r:id="rId48"/>
    <p:sldId id="285" r:id="rId49"/>
    <p:sldId id="286" r:id="rId50"/>
    <p:sldId id="316" r:id="rId51"/>
    <p:sldId id="317" r:id="rId52"/>
    <p:sldId id="318" r:id="rId53"/>
    <p:sldId id="319" r:id="rId54"/>
    <p:sldId id="320" r:id="rId55"/>
    <p:sldId id="321" r:id="rId56"/>
    <p:sldId id="287"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60"/>
  </p:normalViewPr>
  <p:slideViewPr>
    <p:cSldViewPr snapToGrid="0">
      <p:cViewPr varScale="1">
        <p:scale>
          <a:sx n="75" d="100"/>
          <a:sy n="75" d="100"/>
        </p:scale>
        <p:origin x="41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FCA1F-FDBC-42E1-9A68-BC66277B13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52DA8D-669D-4ADD-9F0E-423ADF2566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C95CD0-1FD5-496B-BA87-CA2205CF9775}"/>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5" name="Footer Placeholder 4">
            <a:extLst>
              <a:ext uri="{FF2B5EF4-FFF2-40B4-BE49-F238E27FC236}">
                <a16:creationId xmlns:a16="http://schemas.microsoft.com/office/drawing/2014/main" id="{E73A2850-2F81-410C-9385-65792C8C6B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16CA81-FC39-4020-8DD4-B9A58C785873}"/>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2872850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574F3-B5E5-4F4B-95A4-CEFFB8D10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78699D-93E9-4A42-BE9E-69C23EB76A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7431C6-5C9E-4636-9316-A4DFCF058E8D}"/>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5" name="Footer Placeholder 4">
            <a:extLst>
              <a:ext uri="{FF2B5EF4-FFF2-40B4-BE49-F238E27FC236}">
                <a16:creationId xmlns:a16="http://schemas.microsoft.com/office/drawing/2014/main" id="{C2FDB140-CEEF-4686-A778-8BEB70E2B5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47A9B-1B94-45F9-8D62-006D758A7023}"/>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3737226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E0060-6259-4051-82E6-8DFCD59D6F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3BF426-F7A7-4596-9692-DF60C05847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061BCD-8944-43AB-8106-EFA08C0331C6}"/>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5" name="Footer Placeholder 4">
            <a:extLst>
              <a:ext uri="{FF2B5EF4-FFF2-40B4-BE49-F238E27FC236}">
                <a16:creationId xmlns:a16="http://schemas.microsoft.com/office/drawing/2014/main" id="{5FE33B54-576C-423B-8B04-68AB981327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D9FF6-2E6A-4EDE-A758-72B7B8A6C81F}"/>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2282011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79D8A-F10E-411C-B428-70C5BF0ED7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0A95B8-57AA-4304-BB27-AA8EA25541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95F59F-A3A0-4BF6-9A1F-91B3BB258E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3BAD3D-C324-437D-AF83-E893BF1EB1B4}"/>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6" name="Footer Placeholder 5">
            <a:extLst>
              <a:ext uri="{FF2B5EF4-FFF2-40B4-BE49-F238E27FC236}">
                <a16:creationId xmlns:a16="http://schemas.microsoft.com/office/drawing/2014/main" id="{AE1E4C92-DE46-4456-8139-F518E305B4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286357-AA1C-42BF-A6C5-19D818EC13B2}"/>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3202602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357A-0604-4128-8E4A-EDC726624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004D65-A77D-4872-BF19-A26E2A1FAA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910AE0-691B-44D9-B386-482B08B02C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B5FF49-778C-4963-B8B3-71EFAA04A7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949BD4-7F28-47C6-BB64-02A706D656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27BABE-B876-4F3A-B27A-1E1A7D52687D}"/>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8" name="Footer Placeholder 7">
            <a:extLst>
              <a:ext uri="{FF2B5EF4-FFF2-40B4-BE49-F238E27FC236}">
                <a16:creationId xmlns:a16="http://schemas.microsoft.com/office/drawing/2014/main" id="{EB504FE3-0B32-4936-A606-0A32FBAAF4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472F75-7923-49C0-85E5-65C3B3525D4E}"/>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2068650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4DDBE-EFBF-4088-9E60-F70223C196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9CCD95-3271-4496-80FC-73DEFCF85FC5}"/>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4" name="Footer Placeholder 3">
            <a:extLst>
              <a:ext uri="{FF2B5EF4-FFF2-40B4-BE49-F238E27FC236}">
                <a16:creationId xmlns:a16="http://schemas.microsoft.com/office/drawing/2014/main" id="{82FF69D2-4DED-470E-85B3-5F47E33E66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9936BC-8362-40DB-8C32-A69218E47BB8}"/>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3526389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DE940E-8916-4FFF-8BAB-84F75D338CC9}"/>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3" name="Footer Placeholder 2">
            <a:extLst>
              <a:ext uri="{FF2B5EF4-FFF2-40B4-BE49-F238E27FC236}">
                <a16:creationId xmlns:a16="http://schemas.microsoft.com/office/drawing/2014/main" id="{13A1F20F-6925-4593-A940-4EE69B663E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087D5C-4DCC-47F4-9560-72CA1810862D}"/>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3229110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7F23E-D9FF-4B3A-AE32-E1ECC27E6B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21FFFB-7A73-47BE-A428-D8DF95E815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C51174-2BE7-4C4E-9D63-DC7A9022D8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8C3F7-8461-41DE-975E-6BB04A455E75}"/>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6" name="Footer Placeholder 5">
            <a:extLst>
              <a:ext uri="{FF2B5EF4-FFF2-40B4-BE49-F238E27FC236}">
                <a16:creationId xmlns:a16="http://schemas.microsoft.com/office/drawing/2014/main" id="{4FAD32F6-C168-441A-8E59-4EA35F6AA1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8E3622-32E3-4AC4-862A-1E2E56E5FAC8}"/>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1194576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9E6AC-BB41-4B1E-A771-949F66BF4E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9F3A69-11D0-4055-85EA-5B588CDE13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1029AF-7B2F-4803-B747-E64C34D113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02605-961C-4634-B019-F138EF836AAD}"/>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6" name="Footer Placeholder 5">
            <a:extLst>
              <a:ext uri="{FF2B5EF4-FFF2-40B4-BE49-F238E27FC236}">
                <a16:creationId xmlns:a16="http://schemas.microsoft.com/office/drawing/2014/main" id="{862B172B-78EA-42E1-A218-E22354E6CE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0E1F4D-30A8-41C6-8CCD-B87BC658FA6E}"/>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935291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9F41B-DA9D-4494-9F91-DDAA5BC89D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D99650-F0B1-4A4B-9F05-0B44A9AF58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8EB064-B017-4921-85EC-914582F97E88}"/>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5" name="Footer Placeholder 4">
            <a:extLst>
              <a:ext uri="{FF2B5EF4-FFF2-40B4-BE49-F238E27FC236}">
                <a16:creationId xmlns:a16="http://schemas.microsoft.com/office/drawing/2014/main" id="{EFD13E46-974E-4692-9ABA-DE84A729BB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78078-D586-4FA6-84FB-C79F2EB14A4C}"/>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612720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65D6D9-7799-4393-8ACC-851A535E0C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A51CC8-8339-4265-B49E-7106E96F3E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939F47-707B-46CA-B507-5D891F485A01}"/>
              </a:ext>
            </a:extLst>
          </p:cNvPr>
          <p:cNvSpPr>
            <a:spLocks noGrp="1"/>
          </p:cNvSpPr>
          <p:nvPr>
            <p:ph type="dt" sz="half" idx="10"/>
          </p:nvPr>
        </p:nvSpPr>
        <p:spPr/>
        <p:txBody>
          <a:bodyPr/>
          <a:lstStyle/>
          <a:p>
            <a:fld id="{6EA3CDDE-B418-4493-B49C-D491A7C95B40}" type="datetimeFigureOut">
              <a:rPr lang="en-US" smtClean="0"/>
              <a:t>12/1/2021</a:t>
            </a:fld>
            <a:endParaRPr lang="en-US"/>
          </a:p>
        </p:txBody>
      </p:sp>
      <p:sp>
        <p:nvSpPr>
          <p:cNvPr id="5" name="Footer Placeholder 4">
            <a:extLst>
              <a:ext uri="{FF2B5EF4-FFF2-40B4-BE49-F238E27FC236}">
                <a16:creationId xmlns:a16="http://schemas.microsoft.com/office/drawing/2014/main" id="{989B3899-7593-4568-B1AA-589563232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F1CB8-6FB7-4B56-8021-37070B3430F6}"/>
              </a:ext>
            </a:extLst>
          </p:cNvPr>
          <p:cNvSpPr>
            <a:spLocks noGrp="1"/>
          </p:cNvSpPr>
          <p:nvPr>
            <p:ph type="sldNum" sz="quarter" idx="12"/>
          </p:nvPr>
        </p:nvSpPr>
        <p:spPr/>
        <p:txBody>
          <a:bodyPr/>
          <a:lstStyle/>
          <a:p>
            <a:fld id="{2E99115B-78EF-4346-AA10-0CA5D9BCAF42}" type="slidenum">
              <a:rPr lang="en-US" smtClean="0"/>
              <a:t>‹#›</a:t>
            </a:fld>
            <a:endParaRPr lang="en-US"/>
          </a:p>
        </p:txBody>
      </p:sp>
    </p:spTree>
    <p:extLst>
      <p:ext uri="{BB962C8B-B14F-4D97-AF65-F5344CB8AC3E}">
        <p14:creationId xmlns:p14="http://schemas.microsoft.com/office/powerpoint/2010/main" val="1936232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94F406-E7F8-4FFD-97C3-435279C276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3FA3D5-175F-403F-AC99-975380D24B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EA59CA-A09D-411A-A179-E61CB5CCF1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A3CDDE-B418-4493-B49C-D491A7C95B40}" type="datetimeFigureOut">
              <a:rPr lang="en-US" smtClean="0"/>
              <a:t>12/1/2021</a:t>
            </a:fld>
            <a:endParaRPr lang="en-US"/>
          </a:p>
        </p:txBody>
      </p:sp>
      <p:sp>
        <p:nvSpPr>
          <p:cNvPr id="5" name="Footer Placeholder 4">
            <a:extLst>
              <a:ext uri="{FF2B5EF4-FFF2-40B4-BE49-F238E27FC236}">
                <a16:creationId xmlns:a16="http://schemas.microsoft.com/office/drawing/2014/main" id="{F770C2DF-D7AD-453F-AB9A-BAA94AB5EA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50EBCA9-3CEA-4849-A68B-568915B6FE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99115B-78EF-4346-AA10-0CA5D9BCAF42}" type="slidenum">
              <a:rPr lang="en-US" smtClean="0"/>
              <a:t>‹#›</a:t>
            </a:fld>
            <a:endParaRPr lang="en-US"/>
          </a:p>
        </p:txBody>
      </p:sp>
    </p:spTree>
    <p:extLst>
      <p:ext uri="{BB962C8B-B14F-4D97-AF65-F5344CB8AC3E}">
        <p14:creationId xmlns:p14="http://schemas.microsoft.com/office/powerpoint/2010/main" val="855606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FB434-E009-46E7-8810-1B1B9EC67054}"/>
              </a:ext>
            </a:extLst>
          </p:cNvPr>
          <p:cNvSpPr>
            <a:spLocks noGrp="1"/>
          </p:cNvSpPr>
          <p:nvPr>
            <p:ph type="ctrTitle"/>
          </p:nvPr>
        </p:nvSpPr>
        <p:spPr>
          <a:xfrm>
            <a:off x="1524000" y="172278"/>
            <a:ext cx="9144000" cy="940905"/>
          </a:xfrm>
        </p:spPr>
        <p:txBody>
          <a:bodyPr>
            <a:normAutofit/>
          </a:bodyPr>
          <a:lstStyle/>
          <a:p>
            <a:r>
              <a:rPr lang="en-US" b="1" dirty="0"/>
              <a:t>AC CIRCUIT THEORY </a:t>
            </a:r>
          </a:p>
        </p:txBody>
      </p:sp>
      <p:sp>
        <p:nvSpPr>
          <p:cNvPr id="3" name="Subtitle 2">
            <a:extLst>
              <a:ext uri="{FF2B5EF4-FFF2-40B4-BE49-F238E27FC236}">
                <a16:creationId xmlns:a16="http://schemas.microsoft.com/office/drawing/2014/main" id="{D08B262C-BF59-4BE0-88C9-780D53291F65}"/>
              </a:ext>
            </a:extLst>
          </p:cNvPr>
          <p:cNvSpPr>
            <a:spLocks noGrp="1"/>
          </p:cNvSpPr>
          <p:nvPr>
            <p:ph type="subTitle" idx="1"/>
          </p:nvPr>
        </p:nvSpPr>
        <p:spPr>
          <a:xfrm>
            <a:off x="331303" y="993913"/>
            <a:ext cx="11595653" cy="5864087"/>
          </a:xfrm>
        </p:spPr>
        <p:txBody>
          <a:bodyPr>
            <a:normAutofit fontScale="62500" lnSpcReduction="20000"/>
          </a:bodyPr>
          <a:lstStyle/>
          <a:p>
            <a:pPr algn="just">
              <a:lnSpc>
                <a:spcPct val="100000"/>
              </a:lnSpc>
            </a:pPr>
            <a:r>
              <a:rPr lang="en-US" sz="6900" dirty="0"/>
              <a:t>A current which varies after the fashion suggested in figure below is known as an alternating current(AC Current). It ﬂows ﬁrst in one direction and then in the other. The cycle of variation is repeated exactly for each direction. Alternating current can be abbreviated to </a:t>
            </a:r>
            <a:r>
              <a:rPr lang="en-US" sz="6900" dirty="0" err="1"/>
              <a:t>a.c</a:t>
            </a:r>
            <a:r>
              <a:rPr lang="en-US" sz="6900" dirty="0"/>
              <a:t>., hence a system with such an alternating current is known as an </a:t>
            </a:r>
            <a:r>
              <a:rPr lang="en-US" sz="6900" dirty="0" err="1"/>
              <a:t>a.c</a:t>
            </a:r>
            <a:r>
              <a:rPr lang="en-US" sz="6900" dirty="0"/>
              <a:t>. system. The curves relating current to time are known as waveforms.</a:t>
            </a:r>
          </a:p>
          <a:p>
            <a:pPr algn="l"/>
            <a:endParaRPr lang="en-US" sz="8400" dirty="0"/>
          </a:p>
        </p:txBody>
      </p:sp>
    </p:spTree>
    <p:extLst>
      <p:ext uri="{BB962C8B-B14F-4D97-AF65-F5344CB8AC3E}">
        <p14:creationId xmlns:p14="http://schemas.microsoft.com/office/powerpoint/2010/main" val="30831762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67AD1-0A1B-48CC-B287-CE1DDAAD2C3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503F00EA-28EE-440D-A4A1-6B93B2A25111}"/>
              </a:ext>
            </a:extLst>
          </p:cNvPr>
          <p:cNvPicPr>
            <a:picLocks noGrp="1" noChangeAspect="1"/>
          </p:cNvPicPr>
          <p:nvPr>
            <p:ph idx="1"/>
          </p:nvPr>
        </p:nvPicPr>
        <p:blipFill>
          <a:blip r:embed="rId2"/>
          <a:stretch>
            <a:fillRect/>
          </a:stretch>
        </p:blipFill>
        <p:spPr>
          <a:xfrm>
            <a:off x="604157" y="2383971"/>
            <a:ext cx="9078685" cy="3298372"/>
          </a:xfrm>
          <a:prstGeom prst="rect">
            <a:avLst/>
          </a:prstGeom>
        </p:spPr>
      </p:pic>
    </p:spTree>
    <p:extLst>
      <p:ext uri="{BB962C8B-B14F-4D97-AF65-F5344CB8AC3E}">
        <p14:creationId xmlns:p14="http://schemas.microsoft.com/office/powerpoint/2010/main" val="10191704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1BFC0-79D4-4120-9527-362646EE75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CE3AEA-7E0A-45B3-84DC-2B042177A9AC}"/>
              </a:ext>
            </a:extLst>
          </p:cNvPr>
          <p:cNvSpPr>
            <a:spLocks noGrp="1"/>
          </p:cNvSpPr>
          <p:nvPr>
            <p:ph idx="1"/>
          </p:nvPr>
        </p:nvSpPr>
        <p:spPr>
          <a:xfrm>
            <a:off x="838200" y="1825624"/>
            <a:ext cx="10515600" cy="4866723"/>
          </a:xfrm>
        </p:spPr>
        <p:txBody>
          <a:bodyPr>
            <a:normAutofit fontScale="40000" lnSpcReduction="20000"/>
          </a:bodyPr>
          <a:lstStyle/>
          <a:p>
            <a:r>
              <a:rPr lang="en-US" sz="9600" b="1" dirty="0"/>
              <a:t>Sinusoidal wave: </a:t>
            </a:r>
          </a:p>
          <a:p>
            <a:pPr algn="just"/>
            <a:r>
              <a:rPr lang="en-US" sz="9600" b="1" dirty="0"/>
              <a:t> </a:t>
            </a:r>
            <a:r>
              <a:rPr lang="en-US" sz="10000" dirty="0"/>
              <a:t>A sinewave is defined by the trigonometric sine function. When plotted as voltage (V)/Current(I) as a function of phase (θ)/Time. The waveform repeats every </a:t>
            </a:r>
            <a:r>
              <a:rPr lang="en-US" sz="10000" dirty="0" smtClean="0"/>
              <a:t>2∏ </a:t>
            </a:r>
            <a:r>
              <a:rPr lang="en-US" sz="10000" dirty="0"/>
              <a:t>radians (360°). Voltage and current exhibiting cyclic behavior is referred to as alternating; i.e., alternating current (AC). </a:t>
            </a:r>
          </a:p>
          <a:p>
            <a:pPr algn="just"/>
            <a:r>
              <a:rPr lang="en-US" sz="10000" dirty="0"/>
              <a:t>The basic equation for a sinewave is as follows: </a:t>
            </a:r>
          </a:p>
          <a:p>
            <a:pPr algn="just"/>
            <a:r>
              <a:rPr lang="en-US" sz="10000" dirty="0"/>
              <a:t> </a:t>
            </a:r>
          </a:p>
          <a:p>
            <a:endParaRPr lang="en-US" dirty="0"/>
          </a:p>
        </p:txBody>
      </p:sp>
      <p:pic>
        <p:nvPicPr>
          <p:cNvPr id="4" name="Picture 3">
            <a:extLst>
              <a:ext uri="{FF2B5EF4-FFF2-40B4-BE49-F238E27FC236}">
                <a16:creationId xmlns:a16="http://schemas.microsoft.com/office/drawing/2014/main" id="{5CFC97EA-7B4D-4760-8317-84B1851F5251}"/>
              </a:ext>
            </a:extLst>
          </p:cNvPr>
          <p:cNvPicPr>
            <a:picLocks noChangeAspect="1"/>
          </p:cNvPicPr>
          <p:nvPr/>
        </p:nvPicPr>
        <p:blipFill>
          <a:blip r:embed="rId2"/>
          <a:stretch>
            <a:fillRect/>
          </a:stretch>
        </p:blipFill>
        <p:spPr>
          <a:xfrm>
            <a:off x="4380879" y="5793685"/>
            <a:ext cx="4975156" cy="571500"/>
          </a:xfrm>
          <a:prstGeom prst="rect">
            <a:avLst/>
          </a:prstGeom>
        </p:spPr>
      </p:pic>
    </p:spTree>
    <p:extLst>
      <p:ext uri="{BB962C8B-B14F-4D97-AF65-F5344CB8AC3E}">
        <p14:creationId xmlns:p14="http://schemas.microsoft.com/office/powerpoint/2010/main" val="12514499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AC7DE-BC41-4397-B5BF-0AA63D0073EA}"/>
              </a:ext>
            </a:extLst>
          </p:cNvPr>
          <p:cNvSpPr>
            <a:spLocks noGrp="1"/>
          </p:cNvSpPr>
          <p:nvPr>
            <p:ph type="title"/>
          </p:nvPr>
        </p:nvSpPr>
        <p:spPr/>
        <p:txBody>
          <a:bodyPr>
            <a:noAutofit/>
          </a:bodyPr>
          <a:lstStyle/>
          <a:p>
            <a:r>
              <a:rPr lang="en-US" sz="5400" b="1" dirty="0"/>
              <a:t>Generation of an alternating </a:t>
            </a:r>
            <a:r>
              <a:rPr lang="en-US" sz="5400" b="1" dirty="0" err="1"/>
              <a:t>e.m.f.</a:t>
            </a:r>
            <a:r>
              <a:rPr lang="en-US" sz="5400" b="1" dirty="0"/>
              <a:t/>
            </a:r>
            <a:br>
              <a:rPr lang="en-US" sz="5400" b="1" dirty="0"/>
            </a:br>
            <a:endParaRPr lang="en-US" sz="5400" b="1" dirty="0"/>
          </a:p>
        </p:txBody>
      </p:sp>
      <p:sp>
        <p:nvSpPr>
          <p:cNvPr id="3" name="Content Placeholder 2">
            <a:extLst>
              <a:ext uri="{FF2B5EF4-FFF2-40B4-BE49-F238E27FC236}">
                <a16:creationId xmlns:a16="http://schemas.microsoft.com/office/drawing/2014/main" id="{F454B98F-F156-4013-BA64-CA1005FA1CAE}"/>
              </a:ext>
            </a:extLst>
          </p:cNvPr>
          <p:cNvSpPr>
            <a:spLocks noGrp="1"/>
          </p:cNvSpPr>
          <p:nvPr>
            <p:ph idx="1"/>
          </p:nvPr>
        </p:nvSpPr>
        <p:spPr>
          <a:xfrm>
            <a:off x="838200" y="1077686"/>
            <a:ext cx="10515600" cy="5099277"/>
          </a:xfrm>
        </p:spPr>
        <p:txBody>
          <a:bodyPr>
            <a:noAutofit/>
          </a:bodyPr>
          <a:lstStyle/>
          <a:p>
            <a:pPr algn="just"/>
            <a:r>
              <a:rPr lang="en-US" sz="4000" dirty="0"/>
              <a:t>Figure below shows a loop AB carried by a spindle DD rotated at a constant speed in an anticlockwise direction in a uniform magnetic ﬁeld due to poles NS. The ends of the loop are brought out to two slip-rings C1 and C2, attached to but insulated from DD. Bearing on these rings are carbon brushes E1 and E2, which are connected to an external resistor R. </a:t>
            </a:r>
          </a:p>
        </p:txBody>
      </p:sp>
    </p:spTree>
    <p:extLst>
      <p:ext uri="{BB962C8B-B14F-4D97-AF65-F5344CB8AC3E}">
        <p14:creationId xmlns:p14="http://schemas.microsoft.com/office/powerpoint/2010/main" val="37760148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5AFCC-638F-496E-A991-7C86D1B795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90DD7F-A6EE-4907-A795-0BD22965E53C}"/>
              </a:ext>
            </a:extLst>
          </p:cNvPr>
          <p:cNvSpPr>
            <a:spLocks noGrp="1"/>
          </p:cNvSpPr>
          <p:nvPr>
            <p:ph idx="1"/>
          </p:nvPr>
        </p:nvSpPr>
        <p:spPr/>
        <p:txBody>
          <a:bodyPr>
            <a:normAutofit/>
          </a:bodyPr>
          <a:lstStyle/>
          <a:p>
            <a:pPr algn="just"/>
            <a:r>
              <a:rPr lang="en-US" sz="4000" dirty="0"/>
              <a:t>When the plane of the loop is horizontal, as shown in figure below, the two sides A and B are moving parallel to the direction of the magnetic ﬂux; it follows that no ﬂux is being cut and no </a:t>
            </a:r>
            <a:r>
              <a:rPr lang="en-US" sz="4000" dirty="0" err="1"/>
              <a:t>e.m.f.</a:t>
            </a:r>
            <a:r>
              <a:rPr lang="en-US" sz="4000" dirty="0"/>
              <a:t> is being generated in the loop.</a:t>
            </a:r>
          </a:p>
        </p:txBody>
      </p:sp>
    </p:spTree>
    <p:extLst>
      <p:ext uri="{BB962C8B-B14F-4D97-AF65-F5344CB8AC3E}">
        <p14:creationId xmlns:p14="http://schemas.microsoft.com/office/powerpoint/2010/main" val="21078115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6A81E-404E-42E6-A53E-B81E3B3495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7B5654-E364-403C-BDD0-2575FAF5D74B}"/>
              </a:ext>
            </a:extLst>
          </p:cNvPr>
          <p:cNvSpPr>
            <a:spLocks noGrp="1"/>
          </p:cNvSpPr>
          <p:nvPr>
            <p:ph idx="1"/>
          </p:nvPr>
        </p:nvSpPr>
        <p:spPr/>
        <p:txBody>
          <a:bodyPr>
            <a:normAutofit lnSpcReduction="10000"/>
          </a:bodyPr>
          <a:lstStyle/>
          <a:p>
            <a:pPr algn="just"/>
            <a:r>
              <a:rPr lang="en-US" sz="4000" dirty="0"/>
              <a:t>Since the coil sides are moving in opposite directions, the </a:t>
            </a:r>
            <a:r>
              <a:rPr lang="en-US" sz="4000" dirty="0" err="1"/>
              <a:t>e.m.f.s</a:t>
            </a:r>
            <a:r>
              <a:rPr lang="en-US" sz="4000" dirty="0"/>
              <a:t> act in opposite directions, as shown by the dot and cross notation. However, they do act in the same direction around the coil so that the </a:t>
            </a:r>
            <a:r>
              <a:rPr lang="en-US" sz="4000" dirty="0" err="1"/>
              <a:t>e.m.f.</a:t>
            </a:r>
            <a:r>
              <a:rPr lang="en-US" sz="4000" dirty="0"/>
              <a:t> which appears at the brushes is twice that which is induced in a coil side. Once the coil reaches the 90°, the rate of cutting reaches a maximum. </a:t>
            </a:r>
          </a:p>
          <a:p>
            <a:endParaRPr lang="en-US" dirty="0"/>
          </a:p>
        </p:txBody>
      </p:sp>
    </p:spTree>
    <p:extLst>
      <p:ext uri="{BB962C8B-B14F-4D97-AF65-F5344CB8AC3E}">
        <p14:creationId xmlns:p14="http://schemas.microsoft.com/office/powerpoint/2010/main" val="32774596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2988A-7253-402B-AAFB-EC401A85CFB7}"/>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7D7F2E83-CCB9-4C41-B317-1B00751C1C30}"/>
              </a:ext>
            </a:extLst>
          </p:cNvPr>
          <p:cNvPicPr>
            <a:picLocks noGrp="1" noChangeAspect="1"/>
          </p:cNvPicPr>
          <p:nvPr>
            <p:ph idx="1"/>
          </p:nvPr>
        </p:nvPicPr>
        <p:blipFill>
          <a:blip r:embed="rId2"/>
          <a:stretch>
            <a:fillRect/>
          </a:stretch>
        </p:blipFill>
        <p:spPr>
          <a:xfrm>
            <a:off x="1311965" y="1868557"/>
            <a:ext cx="8733183" cy="4240695"/>
          </a:xfrm>
          <a:prstGeom prst="rect">
            <a:avLst/>
          </a:prstGeom>
        </p:spPr>
      </p:pic>
    </p:spTree>
    <p:extLst>
      <p:ext uri="{BB962C8B-B14F-4D97-AF65-F5344CB8AC3E}">
        <p14:creationId xmlns:p14="http://schemas.microsoft.com/office/powerpoint/2010/main" val="8507008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68755-BF72-40D5-A4F1-A96CA5DE6C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BAD987-59A8-4C32-B245-4043789B1EE4}"/>
              </a:ext>
            </a:extLst>
          </p:cNvPr>
          <p:cNvSpPr>
            <a:spLocks noGrp="1"/>
          </p:cNvSpPr>
          <p:nvPr>
            <p:ph idx="1"/>
          </p:nvPr>
        </p:nvSpPr>
        <p:spPr/>
        <p:txBody>
          <a:bodyPr>
            <a:normAutofit/>
          </a:bodyPr>
          <a:lstStyle/>
          <a:p>
            <a:r>
              <a:rPr lang="en-US" sz="4000" dirty="0"/>
              <a:t>Thereafter the </a:t>
            </a:r>
            <a:r>
              <a:rPr lang="en-US" sz="4000" dirty="0" err="1"/>
              <a:t>e.m.f</a:t>
            </a:r>
            <a:r>
              <a:rPr lang="en-US" sz="4000" dirty="0"/>
              <a:t> falls to zero by the time the coil has rotated to the 180°. It follows that the variation of induced </a:t>
            </a:r>
            <a:r>
              <a:rPr lang="en-US" sz="4000" dirty="0" err="1"/>
              <a:t>e.m.f.</a:t>
            </a:r>
            <a:r>
              <a:rPr lang="en-US" sz="4000" dirty="0"/>
              <a:t> during the second half of the cycle of rotation is the same in magnitude as during the ﬁrst half but the polarity of the </a:t>
            </a:r>
            <a:r>
              <a:rPr lang="en-US" sz="4000" dirty="0" err="1"/>
              <a:t>e.m.f.</a:t>
            </a:r>
            <a:r>
              <a:rPr lang="en-US" sz="4000" dirty="0"/>
              <a:t> has reversed. </a:t>
            </a:r>
          </a:p>
        </p:txBody>
      </p:sp>
    </p:spTree>
    <p:extLst>
      <p:ext uri="{BB962C8B-B14F-4D97-AF65-F5344CB8AC3E}">
        <p14:creationId xmlns:p14="http://schemas.microsoft.com/office/powerpoint/2010/main" val="32810881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58426-1AD2-4DCA-B709-67A71B9CE6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25F147-B8D5-40DD-84BF-59B08EFC2287}"/>
              </a:ext>
            </a:extLst>
          </p:cNvPr>
          <p:cNvSpPr>
            <a:spLocks noGrp="1"/>
          </p:cNvSpPr>
          <p:nvPr>
            <p:ph idx="1"/>
          </p:nvPr>
        </p:nvSpPr>
        <p:spPr/>
        <p:txBody>
          <a:bodyPr/>
          <a:lstStyle/>
          <a:p>
            <a:r>
              <a:rPr lang="en-US" sz="4400" dirty="0"/>
              <a:t>We can now </a:t>
            </a:r>
            <a:r>
              <a:rPr lang="en-US" sz="4400" dirty="0" err="1"/>
              <a:t>analyse</a:t>
            </a:r>
            <a:r>
              <a:rPr lang="en-US" sz="4400" dirty="0"/>
              <a:t> the general  in which coil AB is shown after it has rotated through an angle θ from the horizontal position, namely the position of zero </a:t>
            </a:r>
            <a:r>
              <a:rPr lang="en-US" sz="4400" dirty="0" err="1"/>
              <a:t>e.m.f.</a:t>
            </a:r>
            <a:r>
              <a:rPr lang="en-US" sz="4400" dirty="0"/>
              <a:t> Suppose the peripheral velocity of each side of the loop to be u </a:t>
            </a:r>
            <a:r>
              <a:rPr lang="en-US" sz="4400" dirty="0" err="1"/>
              <a:t>metres</a:t>
            </a:r>
            <a:r>
              <a:rPr lang="en-US" sz="4400" dirty="0"/>
              <a:t> per second.</a:t>
            </a:r>
          </a:p>
          <a:p>
            <a:endParaRPr lang="en-US" dirty="0"/>
          </a:p>
        </p:txBody>
      </p:sp>
    </p:spTree>
    <p:extLst>
      <p:ext uri="{BB962C8B-B14F-4D97-AF65-F5344CB8AC3E}">
        <p14:creationId xmlns:p14="http://schemas.microsoft.com/office/powerpoint/2010/main" val="6426486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E3ED3-97AE-44DC-AAD1-0F09FCD2B219}"/>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0A083074-A936-4ADF-B65F-DE156252C54D}"/>
              </a:ext>
            </a:extLst>
          </p:cNvPr>
          <p:cNvPicPr>
            <a:picLocks noGrp="1" noChangeAspect="1"/>
          </p:cNvPicPr>
          <p:nvPr>
            <p:ph idx="1"/>
          </p:nvPr>
        </p:nvPicPr>
        <p:blipFill>
          <a:blip r:embed="rId2"/>
          <a:stretch>
            <a:fillRect/>
          </a:stretch>
        </p:blipFill>
        <p:spPr>
          <a:xfrm>
            <a:off x="2080591" y="2133600"/>
            <a:ext cx="7447722" cy="4505739"/>
          </a:xfrm>
          <a:prstGeom prst="rect">
            <a:avLst/>
          </a:prstGeom>
        </p:spPr>
      </p:pic>
    </p:spTree>
    <p:extLst>
      <p:ext uri="{BB962C8B-B14F-4D97-AF65-F5344CB8AC3E}">
        <p14:creationId xmlns:p14="http://schemas.microsoft.com/office/powerpoint/2010/main" val="29686014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AD2FE-76FE-4BF3-B819-CF2E19ABA8A1}"/>
              </a:ext>
            </a:extLst>
          </p:cNvPr>
          <p:cNvSpPr>
            <a:spLocks noGrp="1"/>
          </p:cNvSpPr>
          <p:nvPr>
            <p:ph type="title"/>
          </p:nvPr>
        </p:nvSpPr>
        <p:spPr>
          <a:xfrm>
            <a:off x="838200" y="365125"/>
            <a:ext cx="10515600" cy="141061"/>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CB97300A-9653-46B5-B857-3F8B8F3CCC35}"/>
              </a:ext>
            </a:extLst>
          </p:cNvPr>
          <p:cNvPicPr>
            <a:picLocks noGrp="1" noChangeAspect="1"/>
          </p:cNvPicPr>
          <p:nvPr>
            <p:ph idx="1"/>
          </p:nvPr>
        </p:nvPicPr>
        <p:blipFill>
          <a:blip r:embed="rId2"/>
          <a:stretch>
            <a:fillRect/>
          </a:stretch>
        </p:blipFill>
        <p:spPr>
          <a:xfrm>
            <a:off x="473529" y="506187"/>
            <a:ext cx="10629899" cy="5986688"/>
          </a:xfrm>
          <a:prstGeom prst="rect">
            <a:avLst/>
          </a:prstGeom>
        </p:spPr>
      </p:pic>
    </p:spTree>
    <p:extLst>
      <p:ext uri="{BB962C8B-B14F-4D97-AF65-F5344CB8AC3E}">
        <p14:creationId xmlns:p14="http://schemas.microsoft.com/office/powerpoint/2010/main" val="36572179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60512-7187-4562-81E9-99D795A4BE8A}"/>
              </a:ext>
            </a:extLst>
          </p:cNvPr>
          <p:cNvSpPr>
            <a:spLocks noGrp="1"/>
          </p:cNvSpPr>
          <p:nvPr>
            <p:ph type="title"/>
          </p:nvPr>
        </p:nvSpPr>
        <p:spPr>
          <a:xfrm>
            <a:off x="838200" y="365125"/>
            <a:ext cx="10515600" cy="21797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6AB826C-D821-42F6-99F8-423A5ADB2D5D}"/>
              </a:ext>
            </a:extLst>
          </p:cNvPr>
          <p:cNvSpPr>
            <a:spLocks noGrp="1"/>
          </p:cNvSpPr>
          <p:nvPr>
            <p:ph idx="1"/>
          </p:nvPr>
        </p:nvSpPr>
        <p:spPr>
          <a:xfrm>
            <a:off x="838200" y="834887"/>
            <a:ext cx="10515600" cy="5342076"/>
          </a:xfrm>
        </p:spPr>
        <p:txBody>
          <a:bodyPr>
            <a:normAutofit/>
          </a:bodyPr>
          <a:lstStyle/>
          <a:p>
            <a:r>
              <a:rPr lang="en-US" sz="4000" dirty="0"/>
              <a:t>AL drawn at right angles to the plane of the loop. We can resolve AL into two components, AM and AN, perpendicular and parallel respectively to the direction of the magnetic ﬂux, as shown below. </a:t>
            </a:r>
          </a:p>
          <a:p>
            <a:endParaRPr lang="en-US" sz="4000" dirty="0"/>
          </a:p>
          <a:p>
            <a:endParaRPr lang="en-US" dirty="0"/>
          </a:p>
          <a:p>
            <a:endParaRPr lang="en-US" dirty="0"/>
          </a:p>
        </p:txBody>
      </p:sp>
      <p:pic>
        <p:nvPicPr>
          <p:cNvPr id="4" name="Content Placeholder 3">
            <a:extLst>
              <a:ext uri="{FF2B5EF4-FFF2-40B4-BE49-F238E27FC236}">
                <a16:creationId xmlns:a16="http://schemas.microsoft.com/office/drawing/2014/main" id="{02A62333-9221-485D-B158-FE0C48ACEC61}"/>
              </a:ext>
            </a:extLst>
          </p:cNvPr>
          <p:cNvPicPr>
            <a:picLocks noChangeAspect="1"/>
          </p:cNvPicPr>
          <p:nvPr/>
        </p:nvPicPr>
        <p:blipFill>
          <a:blip r:embed="rId2"/>
          <a:stretch>
            <a:fillRect/>
          </a:stretch>
        </p:blipFill>
        <p:spPr>
          <a:xfrm>
            <a:off x="3183598" y="3169401"/>
            <a:ext cx="5075582" cy="1152938"/>
          </a:xfrm>
          <a:prstGeom prst="rect">
            <a:avLst/>
          </a:prstGeom>
        </p:spPr>
      </p:pic>
    </p:spTree>
    <p:extLst>
      <p:ext uri="{BB962C8B-B14F-4D97-AF65-F5344CB8AC3E}">
        <p14:creationId xmlns:p14="http://schemas.microsoft.com/office/powerpoint/2010/main" val="10520034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111E6-164D-43E7-9532-62CD39F601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FB24A5-1DC9-4C21-B2DD-54FB2C74689F}"/>
              </a:ext>
            </a:extLst>
          </p:cNvPr>
          <p:cNvSpPr>
            <a:spLocks noGrp="1"/>
          </p:cNvSpPr>
          <p:nvPr>
            <p:ph idx="1"/>
          </p:nvPr>
        </p:nvSpPr>
        <p:spPr/>
        <p:txBody>
          <a:bodyPr/>
          <a:lstStyle/>
          <a:p>
            <a:r>
              <a:rPr lang="en-US" sz="4000" dirty="0"/>
              <a:t>The </a:t>
            </a:r>
            <a:r>
              <a:rPr lang="en-US" sz="4000" dirty="0" err="1"/>
              <a:t>e.m.f.</a:t>
            </a:r>
            <a:r>
              <a:rPr lang="en-US" sz="4000" dirty="0"/>
              <a:t> generated in A is due entirely to the component of the velocity perpendicular to the magnetic ﬁeld. Hence, if B is the ﬂux density in </a:t>
            </a:r>
            <a:r>
              <a:rPr lang="en-US" sz="4000" dirty="0" err="1"/>
              <a:t>teslas</a:t>
            </a:r>
            <a:r>
              <a:rPr lang="en-US" sz="4000" dirty="0"/>
              <a:t> and if l is the length in </a:t>
            </a:r>
            <a:r>
              <a:rPr lang="en-US" sz="4000" dirty="0" err="1"/>
              <a:t>metres</a:t>
            </a:r>
            <a:r>
              <a:rPr lang="en-US" sz="4000" dirty="0"/>
              <a:t> of each of the parallel sides A and B of the loop, it follows from expression  that </a:t>
            </a:r>
            <a:r>
              <a:rPr lang="en-US" sz="4000" dirty="0" err="1"/>
              <a:t>e.m.f.</a:t>
            </a:r>
            <a:r>
              <a:rPr lang="en-US" sz="4000" dirty="0"/>
              <a:t> generated in one side of loop is</a:t>
            </a:r>
          </a:p>
          <a:p>
            <a:endParaRPr lang="en-US" dirty="0"/>
          </a:p>
        </p:txBody>
      </p:sp>
    </p:spTree>
    <p:extLst>
      <p:ext uri="{BB962C8B-B14F-4D97-AF65-F5344CB8AC3E}">
        <p14:creationId xmlns:p14="http://schemas.microsoft.com/office/powerpoint/2010/main" val="8529024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43F86-6720-41F1-88C2-38B3229AA242}"/>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12C08BCF-8938-4EA3-A36C-234488BD86AC}"/>
              </a:ext>
            </a:extLst>
          </p:cNvPr>
          <p:cNvPicPr>
            <a:picLocks noGrp="1" noChangeAspect="1"/>
          </p:cNvPicPr>
          <p:nvPr>
            <p:ph idx="1"/>
          </p:nvPr>
        </p:nvPicPr>
        <p:blipFill>
          <a:blip r:embed="rId2"/>
          <a:stretch>
            <a:fillRect/>
          </a:stretch>
        </p:blipFill>
        <p:spPr>
          <a:xfrm>
            <a:off x="2729948" y="2054087"/>
            <a:ext cx="7050156" cy="3551583"/>
          </a:xfrm>
          <a:prstGeom prst="rect">
            <a:avLst/>
          </a:prstGeom>
        </p:spPr>
      </p:pic>
    </p:spTree>
    <p:extLst>
      <p:ext uri="{BB962C8B-B14F-4D97-AF65-F5344CB8AC3E}">
        <p14:creationId xmlns:p14="http://schemas.microsoft.com/office/powerpoint/2010/main" val="2989266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A6C17-41A8-4524-B3C8-9A68C80A9B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8EC6F9-022F-4336-97D5-F89A930E7775}"/>
              </a:ext>
            </a:extLst>
          </p:cNvPr>
          <p:cNvSpPr>
            <a:spLocks noGrp="1"/>
          </p:cNvSpPr>
          <p:nvPr>
            <p:ph idx="1"/>
          </p:nvPr>
        </p:nvSpPr>
        <p:spPr/>
        <p:txBody>
          <a:bodyPr>
            <a:noAutofit/>
          </a:bodyPr>
          <a:lstStyle/>
          <a:p>
            <a:r>
              <a:rPr lang="en-US" sz="4000" dirty="0"/>
              <a:t>i.e. the generated </a:t>
            </a:r>
            <a:r>
              <a:rPr lang="en-US" sz="4000" dirty="0" err="1"/>
              <a:t>e.m.f.</a:t>
            </a:r>
            <a:r>
              <a:rPr lang="en-US" sz="4000" dirty="0"/>
              <a:t> is proportional to </a:t>
            </a:r>
            <a:r>
              <a:rPr lang="en-US" sz="4000" dirty="0" err="1"/>
              <a:t>sinθ</a:t>
            </a:r>
            <a:r>
              <a:rPr lang="en-US" sz="4000" dirty="0"/>
              <a:t> .</a:t>
            </a:r>
          </a:p>
          <a:p>
            <a:r>
              <a:rPr lang="en-US" sz="4000" dirty="0"/>
              <a:t>    When θ = 90°, the plane of the loop is vertical and both sides of the loop are cutting the magnetic ﬂux at the maximum rate, so that the generated </a:t>
            </a:r>
            <a:r>
              <a:rPr lang="en-US" sz="4000" dirty="0" err="1"/>
              <a:t>e.m.f.</a:t>
            </a:r>
            <a:r>
              <a:rPr lang="en-US" sz="4000" dirty="0"/>
              <a:t> is then at its maximum value </a:t>
            </a:r>
            <a:r>
              <a:rPr lang="en-US" sz="4000" dirty="0" err="1"/>
              <a:t>Em</a:t>
            </a:r>
            <a:r>
              <a:rPr lang="en-US" sz="4000" dirty="0"/>
              <a:t>. From expression , it follows that when θ = 90°, </a:t>
            </a:r>
            <a:r>
              <a:rPr lang="en-US" sz="4000" dirty="0" err="1"/>
              <a:t>Em</a:t>
            </a:r>
            <a:r>
              <a:rPr lang="en-US" sz="4000" dirty="0"/>
              <a:t> = 2Blu volts. If b is the breadth of the loop in </a:t>
            </a:r>
            <a:r>
              <a:rPr lang="en-US" sz="4000" dirty="0" err="1"/>
              <a:t>metres</a:t>
            </a:r>
            <a:r>
              <a:rPr lang="en-US" sz="4000" dirty="0"/>
              <a:t>, and n the speed of rotation in revolutions per second, then u is π bn </a:t>
            </a:r>
            <a:r>
              <a:rPr lang="en-US" sz="4000" dirty="0" err="1"/>
              <a:t>metres</a:t>
            </a:r>
            <a:r>
              <a:rPr lang="en-US" sz="4000" dirty="0"/>
              <a:t> per second . </a:t>
            </a:r>
          </a:p>
        </p:txBody>
      </p:sp>
    </p:spTree>
    <p:extLst>
      <p:ext uri="{BB962C8B-B14F-4D97-AF65-F5344CB8AC3E}">
        <p14:creationId xmlns:p14="http://schemas.microsoft.com/office/powerpoint/2010/main" val="14358045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01F6C-7E00-4CA0-80B3-CB5E7D8DE47E}"/>
              </a:ext>
            </a:extLst>
          </p:cNvPr>
          <p:cNvSpPr>
            <a:spLocks noGrp="1"/>
          </p:cNvSpPr>
          <p:nvPr>
            <p:ph type="title"/>
          </p:nvPr>
        </p:nvSpPr>
        <p:spPr>
          <a:xfrm flipV="1">
            <a:off x="838200" y="212272"/>
            <a:ext cx="10515600" cy="152854"/>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EFB5F535-138E-4CE4-BB36-7FD9C28FF3B9}"/>
              </a:ext>
            </a:extLst>
          </p:cNvPr>
          <p:cNvPicPr>
            <a:picLocks noGrp="1" noChangeAspect="1"/>
          </p:cNvPicPr>
          <p:nvPr>
            <p:ph idx="1"/>
          </p:nvPr>
        </p:nvPicPr>
        <p:blipFill>
          <a:blip r:embed="rId2"/>
          <a:stretch>
            <a:fillRect/>
          </a:stretch>
        </p:blipFill>
        <p:spPr>
          <a:xfrm>
            <a:off x="1020418" y="767444"/>
            <a:ext cx="10333382" cy="5553844"/>
          </a:xfrm>
          <a:prstGeom prst="rect">
            <a:avLst/>
          </a:prstGeom>
        </p:spPr>
      </p:pic>
    </p:spTree>
    <p:extLst>
      <p:ext uri="{BB962C8B-B14F-4D97-AF65-F5344CB8AC3E}">
        <p14:creationId xmlns:p14="http://schemas.microsoft.com/office/powerpoint/2010/main" val="31687582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6B9FE-42E2-43D9-8689-70E76963F6C4}"/>
              </a:ext>
            </a:extLst>
          </p:cNvPr>
          <p:cNvSpPr>
            <a:spLocks noGrp="1"/>
          </p:cNvSpPr>
          <p:nvPr>
            <p:ph type="title"/>
          </p:nvPr>
        </p:nvSpPr>
        <p:spPr>
          <a:xfrm>
            <a:off x="838200" y="365126"/>
            <a:ext cx="10515600" cy="59418"/>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E979D319-3390-441F-9F76-6CA9FFA1C3D7}"/>
              </a:ext>
            </a:extLst>
          </p:cNvPr>
          <p:cNvPicPr>
            <a:picLocks noGrp="1" noChangeAspect="1"/>
          </p:cNvPicPr>
          <p:nvPr>
            <p:ph idx="1"/>
          </p:nvPr>
        </p:nvPicPr>
        <p:blipFill>
          <a:blip r:embed="rId2"/>
          <a:stretch>
            <a:fillRect/>
          </a:stretch>
        </p:blipFill>
        <p:spPr>
          <a:xfrm>
            <a:off x="838200" y="870866"/>
            <a:ext cx="10310901" cy="5823847"/>
          </a:xfrm>
          <a:prstGeom prst="rect">
            <a:avLst/>
          </a:prstGeom>
        </p:spPr>
      </p:pic>
    </p:spTree>
    <p:extLst>
      <p:ext uri="{BB962C8B-B14F-4D97-AF65-F5344CB8AC3E}">
        <p14:creationId xmlns:p14="http://schemas.microsoft.com/office/powerpoint/2010/main" val="37318712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5A75B-D9B6-4CD2-89DA-78B824954176}"/>
              </a:ext>
            </a:extLst>
          </p:cNvPr>
          <p:cNvSpPr>
            <a:spLocks noGrp="1"/>
          </p:cNvSpPr>
          <p:nvPr>
            <p:ph type="title"/>
          </p:nvPr>
        </p:nvSpPr>
        <p:spPr>
          <a:xfrm>
            <a:off x="838200" y="365126"/>
            <a:ext cx="10515600" cy="191466"/>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86BE73B2-CBDB-46E9-8239-A9E32C2A02A9}"/>
              </a:ext>
            </a:extLst>
          </p:cNvPr>
          <p:cNvSpPr>
            <a:spLocks noGrp="1"/>
          </p:cNvSpPr>
          <p:nvPr>
            <p:ph idx="1"/>
          </p:nvPr>
        </p:nvSpPr>
        <p:spPr>
          <a:xfrm>
            <a:off x="838200" y="834887"/>
            <a:ext cx="10515600" cy="5342076"/>
          </a:xfrm>
        </p:spPr>
        <p:txBody>
          <a:bodyPr>
            <a:noAutofit/>
          </a:bodyPr>
          <a:lstStyle/>
          <a:p>
            <a:r>
              <a:rPr lang="en-US" sz="4000" dirty="0"/>
              <a:t>Lower-case letters are used to represent instantaneous values and uppercase letters represent deﬁnite values such as maximum, average or </a:t>
            </a:r>
            <a:r>
              <a:rPr lang="en-US" sz="4000" dirty="0" err="1"/>
              <a:t>r.m.s.</a:t>
            </a:r>
            <a:r>
              <a:rPr lang="en-US" sz="4000" dirty="0"/>
              <a:t> values</a:t>
            </a:r>
            <a:r>
              <a:rPr lang="en-US" sz="4000" dirty="0" smtClean="0"/>
              <a:t>.</a:t>
            </a:r>
          </a:p>
          <a:p>
            <a:r>
              <a:rPr lang="en-US" sz="4000" dirty="0" smtClean="0"/>
              <a:t> </a:t>
            </a:r>
            <a:r>
              <a:rPr lang="en-US" sz="4000" dirty="0"/>
              <a:t>In </a:t>
            </a:r>
            <a:r>
              <a:rPr lang="en-US" sz="4000" dirty="0" err="1"/>
              <a:t>a.c</a:t>
            </a:r>
            <a:r>
              <a:rPr lang="en-US" sz="4000" dirty="0"/>
              <a:t>. circuits, capital I and V without any subscript represent </a:t>
            </a:r>
            <a:r>
              <a:rPr lang="en-US" sz="4000" dirty="0" err="1"/>
              <a:t>r.m.s.</a:t>
            </a:r>
            <a:r>
              <a:rPr lang="en-US" sz="4000" dirty="0"/>
              <a:t> values .  </a:t>
            </a:r>
            <a:r>
              <a:rPr lang="en-US" sz="4000" dirty="0" err="1"/>
              <a:t>Em</a:t>
            </a:r>
            <a:r>
              <a:rPr lang="en-US" sz="4000" dirty="0"/>
              <a:t> represents the maximum value of the </a:t>
            </a:r>
            <a:r>
              <a:rPr lang="en-US" sz="4000" dirty="0" err="1"/>
              <a:t>e.m.f.</a:t>
            </a:r>
            <a:r>
              <a:rPr lang="en-US" sz="4000" dirty="0"/>
              <a:t> and e is the value after the loop has rotated through an angle θ from the position of zero </a:t>
            </a:r>
            <a:r>
              <a:rPr lang="en-US" sz="4000" dirty="0" err="1"/>
              <a:t>e.m.f.</a:t>
            </a:r>
            <a:r>
              <a:rPr lang="en-US" sz="4000" dirty="0"/>
              <a:t> </a:t>
            </a:r>
          </a:p>
        </p:txBody>
      </p:sp>
    </p:spTree>
    <p:extLst>
      <p:ext uri="{BB962C8B-B14F-4D97-AF65-F5344CB8AC3E}">
        <p14:creationId xmlns:p14="http://schemas.microsoft.com/office/powerpoint/2010/main" val="791172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333CD-8D9C-47B6-966A-C66F725040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55B927-1DFB-485F-AEC4-F12E54C28E46}"/>
              </a:ext>
            </a:extLst>
          </p:cNvPr>
          <p:cNvSpPr>
            <a:spLocks noGrp="1"/>
          </p:cNvSpPr>
          <p:nvPr>
            <p:ph idx="1"/>
          </p:nvPr>
        </p:nvSpPr>
        <p:spPr/>
        <p:txBody>
          <a:bodyPr>
            <a:normAutofit/>
          </a:bodyPr>
          <a:lstStyle/>
          <a:p>
            <a:r>
              <a:rPr lang="en-US" sz="4000" dirty="0"/>
              <a:t>When the loop has rotated through 180° or π radians, the </a:t>
            </a:r>
            <a:r>
              <a:rPr lang="en-US" sz="4000" dirty="0" err="1"/>
              <a:t>e.m.f.</a:t>
            </a:r>
            <a:r>
              <a:rPr lang="en-US" sz="4000" dirty="0"/>
              <a:t> is again zero. When θ is varying between 180° and 360° ( π and 2 π radians), side A of the loop is moving towards the right  and is therefore cutting the magnetic ﬂux in the opposite direction to that during the ﬁrst half-revolution.</a:t>
            </a:r>
          </a:p>
        </p:txBody>
      </p:sp>
    </p:spTree>
    <p:extLst>
      <p:ext uri="{BB962C8B-B14F-4D97-AF65-F5344CB8AC3E}">
        <p14:creationId xmlns:p14="http://schemas.microsoft.com/office/powerpoint/2010/main" val="12200499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FD092-BBBF-4D28-BDEA-E9ED6818F8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44EECD-0856-44AB-9271-6B4E29371CDF}"/>
              </a:ext>
            </a:extLst>
          </p:cNvPr>
          <p:cNvSpPr>
            <a:spLocks noGrp="1"/>
          </p:cNvSpPr>
          <p:nvPr>
            <p:ph idx="1"/>
          </p:nvPr>
        </p:nvSpPr>
        <p:spPr/>
        <p:txBody>
          <a:bodyPr/>
          <a:lstStyle/>
          <a:p>
            <a:pPr algn="just"/>
            <a:r>
              <a:rPr lang="en-US" dirty="0"/>
              <a:t> </a:t>
            </a:r>
            <a:r>
              <a:rPr lang="en-US" sz="3600" dirty="0">
                <a:latin typeface="Times New Roman" panose="02020603050405020304" pitchFamily="18" charset="0"/>
                <a:cs typeface="Times New Roman" panose="02020603050405020304" pitchFamily="18" charset="0"/>
              </a:rPr>
              <a:t>Hence, if we regard the </a:t>
            </a:r>
            <a:r>
              <a:rPr lang="en-US" sz="3600" dirty="0" err="1">
                <a:latin typeface="Times New Roman" panose="02020603050405020304" pitchFamily="18" charset="0"/>
                <a:cs typeface="Times New Roman" panose="02020603050405020304" pitchFamily="18" charset="0"/>
              </a:rPr>
              <a:t>e.m.f.</a:t>
            </a:r>
            <a:r>
              <a:rPr lang="en-US" sz="3600" dirty="0">
                <a:latin typeface="Times New Roman" panose="02020603050405020304" pitchFamily="18" charset="0"/>
                <a:cs typeface="Times New Roman" panose="02020603050405020304" pitchFamily="18" charset="0"/>
              </a:rPr>
              <a:t> as positive while θ is varying between 0 and 180°, it is negative while θ is varying between 180° and 360°, i.e. when θ varies between 180° and 270°, the value of the </a:t>
            </a:r>
            <a:r>
              <a:rPr lang="en-US" sz="3600" dirty="0" err="1">
                <a:latin typeface="Times New Roman" panose="02020603050405020304" pitchFamily="18" charset="0"/>
                <a:cs typeface="Times New Roman" panose="02020603050405020304" pitchFamily="18" charset="0"/>
              </a:rPr>
              <a:t>e.m.f.</a:t>
            </a:r>
            <a:r>
              <a:rPr lang="en-US" sz="3600" dirty="0">
                <a:latin typeface="Times New Roman" panose="02020603050405020304" pitchFamily="18" charset="0"/>
                <a:cs typeface="Times New Roman" panose="02020603050405020304" pitchFamily="18" charset="0"/>
              </a:rPr>
              <a:t> increases from zero to –</a:t>
            </a:r>
            <a:r>
              <a:rPr lang="en-US" sz="3600" dirty="0" err="1">
                <a:latin typeface="Times New Roman" panose="02020603050405020304" pitchFamily="18" charset="0"/>
                <a:cs typeface="Times New Roman" panose="02020603050405020304" pitchFamily="18" charset="0"/>
              </a:rPr>
              <a:t>Em</a:t>
            </a:r>
            <a:r>
              <a:rPr lang="en-US" sz="3600" dirty="0">
                <a:latin typeface="Times New Roman" panose="02020603050405020304" pitchFamily="18" charset="0"/>
                <a:cs typeface="Times New Roman" panose="02020603050405020304" pitchFamily="18" charset="0"/>
              </a:rPr>
              <a:t> and then decreases to zero as θ varies between 270° and 360°. Subsequent revolutions of the loop merely produce a repetition of the </a:t>
            </a:r>
            <a:r>
              <a:rPr lang="en-US" sz="3600" dirty="0" err="1">
                <a:latin typeface="Times New Roman" panose="02020603050405020304" pitchFamily="18" charset="0"/>
                <a:cs typeface="Times New Roman" panose="02020603050405020304" pitchFamily="18" charset="0"/>
              </a:rPr>
              <a:t>e.m.f.</a:t>
            </a:r>
            <a:r>
              <a:rPr lang="en-US" sz="3600" dirty="0">
                <a:latin typeface="Times New Roman" panose="02020603050405020304" pitchFamily="18" charset="0"/>
                <a:cs typeface="Times New Roman" panose="02020603050405020304" pitchFamily="18" charset="0"/>
              </a:rPr>
              <a:t> wave</a:t>
            </a:r>
            <a:r>
              <a:rPr lang="en-US" dirty="0"/>
              <a:t>. </a:t>
            </a:r>
          </a:p>
        </p:txBody>
      </p:sp>
    </p:spTree>
    <p:extLst>
      <p:ext uri="{BB962C8B-B14F-4D97-AF65-F5344CB8AC3E}">
        <p14:creationId xmlns:p14="http://schemas.microsoft.com/office/powerpoint/2010/main" val="18185872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57B1D-B8BA-4695-B191-C43DA6EC9B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D04692-E01F-4E58-AD87-E67D8B0AAB93}"/>
              </a:ext>
            </a:extLst>
          </p:cNvPr>
          <p:cNvSpPr>
            <a:spLocks noGrp="1"/>
          </p:cNvSpPr>
          <p:nvPr>
            <p:ph idx="1"/>
          </p:nvPr>
        </p:nvSpPr>
        <p:spPr/>
        <p:txBody>
          <a:bodyPr/>
          <a:lstStyle/>
          <a:p>
            <a:r>
              <a:rPr lang="en-US" sz="4000" dirty="0"/>
              <a:t>It is signiﬁcant that we have concentrated on one cycle of events arising from the single rotation of the coil AB. However, alternating </a:t>
            </a:r>
            <a:r>
              <a:rPr lang="en-US" sz="4000" dirty="0" err="1"/>
              <a:t>e.m.f.s</a:t>
            </a:r>
            <a:r>
              <a:rPr lang="en-US" sz="4000" dirty="0"/>
              <a:t> and alternating voltages continue to repeat the cycle.</a:t>
            </a:r>
          </a:p>
          <a:p>
            <a:endParaRPr lang="en-US" dirty="0"/>
          </a:p>
        </p:txBody>
      </p:sp>
    </p:spTree>
    <p:extLst>
      <p:ext uri="{BB962C8B-B14F-4D97-AF65-F5344CB8AC3E}">
        <p14:creationId xmlns:p14="http://schemas.microsoft.com/office/powerpoint/2010/main" val="2804832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66E7-F673-4645-8B15-9538DA51535D}"/>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DAC7C58F-E6F8-44E1-A2AF-5AE70A9CAE81}"/>
              </a:ext>
            </a:extLst>
          </p:cNvPr>
          <p:cNvPicPr>
            <a:picLocks noGrp="1" noChangeAspect="1"/>
          </p:cNvPicPr>
          <p:nvPr>
            <p:ph idx="1"/>
          </p:nvPr>
        </p:nvPicPr>
        <p:blipFill>
          <a:blip r:embed="rId2"/>
          <a:stretch>
            <a:fillRect/>
          </a:stretch>
        </p:blipFill>
        <p:spPr>
          <a:xfrm>
            <a:off x="1590261" y="2067340"/>
            <a:ext cx="8613913" cy="4425536"/>
          </a:xfrm>
          <a:prstGeom prst="rect">
            <a:avLst/>
          </a:prstGeom>
        </p:spPr>
      </p:pic>
    </p:spTree>
    <p:extLst>
      <p:ext uri="{BB962C8B-B14F-4D97-AF65-F5344CB8AC3E}">
        <p14:creationId xmlns:p14="http://schemas.microsoft.com/office/powerpoint/2010/main" val="4547034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6FD21-1BFC-4751-8B98-025EE580D201}"/>
              </a:ext>
            </a:extLst>
          </p:cNvPr>
          <p:cNvSpPr>
            <a:spLocks noGrp="1"/>
          </p:cNvSpPr>
          <p:nvPr>
            <p:ph type="title"/>
          </p:nvPr>
        </p:nvSpPr>
        <p:spPr/>
        <p:txBody>
          <a:bodyPr>
            <a:normAutofit fontScale="90000"/>
          </a:bodyPr>
          <a:lstStyle/>
          <a:p>
            <a:r>
              <a:rPr lang="en-US" sz="4800" b="1" dirty="0"/>
              <a:t>Waveform terms and deﬁnitions</a:t>
            </a:r>
            <a:r>
              <a:rPr lang="en-US" dirty="0"/>
              <a:t/>
            </a:r>
            <a:br>
              <a:rPr lang="en-US" dirty="0"/>
            </a:br>
            <a:endParaRPr lang="en-US" dirty="0"/>
          </a:p>
        </p:txBody>
      </p:sp>
      <p:sp>
        <p:nvSpPr>
          <p:cNvPr id="3" name="Content Placeholder 2">
            <a:extLst>
              <a:ext uri="{FF2B5EF4-FFF2-40B4-BE49-F238E27FC236}">
                <a16:creationId xmlns:a16="http://schemas.microsoft.com/office/drawing/2014/main" id="{3AB25F01-7480-4538-B1F8-B0CFB32801D6}"/>
              </a:ext>
            </a:extLst>
          </p:cNvPr>
          <p:cNvSpPr>
            <a:spLocks noGrp="1"/>
          </p:cNvSpPr>
          <p:nvPr>
            <p:ph idx="1"/>
          </p:nvPr>
        </p:nvSpPr>
        <p:spPr/>
        <p:txBody>
          <a:bodyPr>
            <a:noAutofit/>
          </a:bodyPr>
          <a:lstStyle/>
          <a:p>
            <a:r>
              <a:rPr lang="en-US" sz="4000" b="1" dirty="0"/>
              <a:t>Waveform. </a:t>
            </a:r>
            <a:r>
              <a:rPr lang="en-US" sz="4000" dirty="0"/>
              <a:t>The variation of a quantity such as voltage or current shown on a graph to a base of time or rotation is a waveform. </a:t>
            </a:r>
          </a:p>
          <a:p>
            <a:r>
              <a:rPr lang="en-US" sz="4000" b="1" dirty="0"/>
              <a:t>Cycle</a:t>
            </a:r>
            <a:r>
              <a:rPr lang="en-US" sz="4000" dirty="0"/>
              <a:t>. Each repetition of a variable quantity, recurring at equal intervals, is termed a cycle. </a:t>
            </a:r>
          </a:p>
          <a:p>
            <a:r>
              <a:rPr lang="en-US" sz="4000" b="1" dirty="0"/>
              <a:t>Period. </a:t>
            </a:r>
            <a:r>
              <a:rPr lang="en-US" sz="4000" dirty="0"/>
              <a:t>The duration of one cycle is termed its period. (Cycles and periods need not commence when a waveform is zero. </a:t>
            </a:r>
          </a:p>
        </p:txBody>
      </p:sp>
    </p:spTree>
    <p:extLst>
      <p:ext uri="{BB962C8B-B14F-4D97-AF65-F5344CB8AC3E}">
        <p14:creationId xmlns:p14="http://schemas.microsoft.com/office/powerpoint/2010/main" val="6800488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1935B-3179-40F7-ADF4-92A49978B741}"/>
              </a:ext>
            </a:extLst>
          </p:cNvPr>
          <p:cNvSpPr>
            <a:spLocks noGrp="1"/>
          </p:cNvSpPr>
          <p:nvPr>
            <p:ph type="title"/>
          </p:nvPr>
        </p:nvSpPr>
        <p:spPr>
          <a:xfrm>
            <a:off x="838200" y="365126"/>
            <a:ext cx="10515600" cy="12473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AE596DFC-1DF9-403A-A1EF-BEFAD799BDBB}"/>
              </a:ext>
            </a:extLst>
          </p:cNvPr>
          <p:cNvSpPr>
            <a:spLocks noGrp="1"/>
          </p:cNvSpPr>
          <p:nvPr>
            <p:ph idx="1"/>
          </p:nvPr>
        </p:nvSpPr>
        <p:spPr>
          <a:xfrm>
            <a:off x="838200" y="365126"/>
            <a:ext cx="10515600" cy="5811837"/>
          </a:xfrm>
        </p:spPr>
        <p:txBody>
          <a:bodyPr>
            <a:normAutofit fontScale="25000" lnSpcReduction="20000"/>
          </a:bodyPr>
          <a:lstStyle/>
          <a:p>
            <a:pPr algn="just"/>
            <a:r>
              <a:rPr lang="en-US" dirty="0"/>
              <a:t> </a:t>
            </a:r>
            <a:r>
              <a:rPr lang="en-US" sz="16000" b="1" dirty="0"/>
              <a:t>Instantaneous value.</a:t>
            </a:r>
            <a:r>
              <a:rPr lang="en-US" sz="16000" dirty="0"/>
              <a:t> The magnitude of a waveform at any instant in time (or position of rotation). Instantaneous values are denoted by lower-case symbols such as e, v and </a:t>
            </a:r>
            <a:r>
              <a:rPr lang="en-US" sz="16000" dirty="0" err="1"/>
              <a:t>i</a:t>
            </a:r>
            <a:r>
              <a:rPr lang="en-US" sz="16000" dirty="0"/>
              <a:t>. </a:t>
            </a:r>
          </a:p>
          <a:p>
            <a:pPr algn="just"/>
            <a:r>
              <a:rPr lang="en-US" sz="16000" b="1" dirty="0"/>
              <a:t>Peak value</a:t>
            </a:r>
            <a:r>
              <a:rPr lang="en-US" sz="16000" dirty="0"/>
              <a:t>. The maximum instantaneous value measured from its zero value is known as its peak value. </a:t>
            </a:r>
          </a:p>
          <a:p>
            <a:pPr algn="just"/>
            <a:r>
              <a:rPr lang="en-US" sz="16000" b="1" dirty="0"/>
              <a:t>Peak-to-peak value. </a:t>
            </a:r>
            <a:r>
              <a:rPr lang="en-US" sz="16000" dirty="0"/>
              <a:t>The maximum variation between the maximum positive instantaneous value and the maximum negative instantaneous value is the peak-to-peak value. For a sinusoidal waveform, this is twice the peak value. The peak-to-peak value is Epp or </a:t>
            </a:r>
            <a:r>
              <a:rPr lang="en-US" sz="16000" dirty="0" err="1"/>
              <a:t>Vpp</a:t>
            </a:r>
            <a:r>
              <a:rPr lang="en-US" sz="16000" dirty="0"/>
              <a:t> or </a:t>
            </a:r>
            <a:r>
              <a:rPr lang="en-US" sz="16000" dirty="0" err="1"/>
              <a:t>Ipp</a:t>
            </a:r>
            <a:r>
              <a:rPr lang="en-US" sz="16000" dirty="0"/>
              <a:t>.</a:t>
            </a:r>
          </a:p>
          <a:p>
            <a:endParaRPr lang="en-US" dirty="0"/>
          </a:p>
        </p:txBody>
      </p:sp>
    </p:spTree>
    <p:extLst>
      <p:ext uri="{BB962C8B-B14F-4D97-AF65-F5344CB8AC3E}">
        <p14:creationId xmlns:p14="http://schemas.microsoft.com/office/powerpoint/2010/main" val="42942774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9BE3D-E80E-4DFD-A427-1400F898D2FE}"/>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897EC625-38E7-44FA-856C-C7EF0168B888}"/>
              </a:ext>
            </a:extLst>
          </p:cNvPr>
          <p:cNvSpPr>
            <a:spLocks noGrp="1"/>
          </p:cNvSpPr>
          <p:nvPr>
            <p:ph idx="1"/>
          </p:nvPr>
        </p:nvSpPr>
        <p:spPr/>
        <p:txBody>
          <a:bodyPr>
            <a:normAutofit fontScale="92500"/>
          </a:bodyPr>
          <a:lstStyle/>
          <a:p>
            <a:pPr algn="just"/>
            <a:r>
              <a:rPr lang="en-US" sz="3900" b="1" dirty="0"/>
              <a:t>Peak amplitude</a:t>
            </a:r>
            <a:r>
              <a:rPr lang="en-US" sz="3900" dirty="0"/>
              <a:t>. The maximum instantaneous value measured from the mean value of a waveform is the peak amplitude. The peak amplitude is </a:t>
            </a:r>
            <a:r>
              <a:rPr lang="en-US" sz="3900" dirty="0" err="1"/>
              <a:t>Em</a:t>
            </a:r>
            <a:r>
              <a:rPr lang="en-US" sz="3900" dirty="0"/>
              <a:t> or </a:t>
            </a:r>
            <a:r>
              <a:rPr lang="en-US" sz="3900" dirty="0" err="1"/>
              <a:t>Vm</a:t>
            </a:r>
            <a:r>
              <a:rPr lang="en-US" sz="3900" dirty="0"/>
              <a:t> or </a:t>
            </a:r>
            <a:r>
              <a:rPr lang="en-US" sz="3900" dirty="0" err="1"/>
              <a:t>Im</a:t>
            </a:r>
            <a:r>
              <a:rPr lang="en-US" sz="3900" dirty="0"/>
              <a:t>. The peak amplitude is generally described as the maximum value, hence the maximum voltage has the symbol </a:t>
            </a:r>
            <a:r>
              <a:rPr lang="en-US" sz="3900" dirty="0" err="1"/>
              <a:t>Vm</a:t>
            </a:r>
            <a:r>
              <a:rPr lang="en-US" sz="3900" dirty="0"/>
              <a:t>. The relationships between peak value, peak-to-peak value and peak amplitude (maximum value) are illustrated in Fig. below</a:t>
            </a:r>
          </a:p>
          <a:p>
            <a:endParaRPr lang="en-US" dirty="0"/>
          </a:p>
        </p:txBody>
      </p:sp>
    </p:spTree>
    <p:extLst>
      <p:ext uri="{BB962C8B-B14F-4D97-AF65-F5344CB8AC3E}">
        <p14:creationId xmlns:p14="http://schemas.microsoft.com/office/powerpoint/2010/main" val="16672895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DEFEB-611D-4136-98BC-9BA7AACDC505}"/>
              </a:ext>
            </a:extLst>
          </p:cNvPr>
          <p:cNvSpPr>
            <a:spLocks noGrp="1"/>
          </p:cNvSpPr>
          <p:nvPr>
            <p:ph type="title"/>
          </p:nvPr>
        </p:nvSpPr>
        <p:spPr>
          <a:xfrm>
            <a:off x="838200" y="365125"/>
            <a:ext cx="10515600" cy="118579"/>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E3E18561-0307-410F-9871-F3C3BA36F6CF}"/>
              </a:ext>
            </a:extLst>
          </p:cNvPr>
          <p:cNvPicPr>
            <a:picLocks noGrp="1" noChangeAspect="1"/>
          </p:cNvPicPr>
          <p:nvPr>
            <p:ph idx="1"/>
          </p:nvPr>
        </p:nvPicPr>
        <p:blipFill>
          <a:blip r:embed="rId2"/>
          <a:stretch>
            <a:fillRect/>
          </a:stretch>
        </p:blipFill>
        <p:spPr>
          <a:xfrm>
            <a:off x="-359229" y="702129"/>
            <a:ext cx="12181115" cy="6155871"/>
          </a:xfrm>
          <a:prstGeom prst="rect">
            <a:avLst/>
          </a:prstGeom>
        </p:spPr>
      </p:pic>
    </p:spTree>
    <p:extLst>
      <p:ext uri="{BB962C8B-B14F-4D97-AF65-F5344CB8AC3E}">
        <p14:creationId xmlns:p14="http://schemas.microsoft.com/office/powerpoint/2010/main" val="13929313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DEF6D-EAFB-4A76-A59F-49F76C1C9F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CF1A0B-AE6B-4270-9747-F2C409060CB9}"/>
              </a:ext>
            </a:extLst>
          </p:cNvPr>
          <p:cNvSpPr>
            <a:spLocks noGrp="1"/>
          </p:cNvSpPr>
          <p:nvPr>
            <p:ph idx="1"/>
          </p:nvPr>
        </p:nvSpPr>
        <p:spPr/>
        <p:txBody>
          <a:bodyPr>
            <a:normAutofit/>
          </a:bodyPr>
          <a:lstStyle/>
          <a:p>
            <a:r>
              <a:rPr lang="en-US" sz="4000" b="1" dirty="0"/>
              <a:t>Frequency.</a:t>
            </a:r>
            <a:r>
              <a:rPr lang="en-US" sz="4000" dirty="0"/>
              <a:t> The number of cycles that occur in 1 second is termed the frequency of that quantity. Frequency is measured in hertz (Hz). It follows that frequency f is related to the period T by the relation;</a:t>
            </a:r>
          </a:p>
          <a:p>
            <a:endParaRPr lang="en-US" dirty="0"/>
          </a:p>
          <a:p>
            <a:endParaRPr lang="en-US" dirty="0"/>
          </a:p>
        </p:txBody>
      </p:sp>
      <p:pic>
        <p:nvPicPr>
          <p:cNvPr id="4" name="Content Placeholder 3">
            <a:extLst>
              <a:ext uri="{FF2B5EF4-FFF2-40B4-BE49-F238E27FC236}">
                <a16:creationId xmlns:a16="http://schemas.microsoft.com/office/drawing/2014/main" id="{EAD94326-6DD7-469C-955F-149345F806A8}"/>
              </a:ext>
            </a:extLst>
          </p:cNvPr>
          <p:cNvPicPr>
            <a:picLocks noChangeAspect="1"/>
          </p:cNvPicPr>
          <p:nvPr/>
        </p:nvPicPr>
        <p:blipFill>
          <a:blip r:embed="rId2"/>
          <a:stretch>
            <a:fillRect/>
          </a:stretch>
        </p:blipFill>
        <p:spPr>
          <a:xfrm>
            <a:off x="5062330" y="4838665"/>
            <a:ext cx="2676939" cy="1338298"/>
          </a:xfrm>
          <a:prstGeom prst="rect">
            <a:avLst/>
          </a:prstGeom>
        </p:spPr>
      </p:pic>
    </p:spTree>
    <p:extLst>
      <p:ext uri="{BB962C8B-B14F-4D97-AF65-F5344CB8AC3E}">
        <p14:creationId xmlns:p14="http://schemas.microsoft.com/office/powerpoint/2010/main" val="35876217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23F91-0FAE-428A-BF56-AC843A5BE662}"/>
              </a:ext>
            </a:extLst>
          </p:cNvPr>
          <p:cNvSpPr>
            <a:spLocks noGrp="1"/>
          </p:cNvSpPr>
          <p:nvPr>
            <p:ph type="title"/>
          </p:nvPr>
        </p:nvSpPr>
        <p:spPr/>
        <p:txBody>
          <a:bodyPr>
            <a:normAutofit fontScale="90000"/>
          </a:bodyPr>
          <a:lstStyle/>
          <a:p>
            <a:r>
              <a:rPr lang="en-US" sz="5300" b="1" dirty="0"/>
              <a:t>Average and </a:t>
            </a:r>
            <a:r>
              <a:rPr lang="en-US" sz="5300" b="1" dirty="0" err="1"/>
              <a:t>r.m.s.</a:t>
            </a:r>
            <a:r>
              <a:rPr lang="en-US" sz="5300" b="1" dirty="0"/>
              <a:t> values of an alternating current</a:t>
            </a:r>
            <a:r>
              <a:rPr lang="en-US" dirty="0"/>
              <a:t/>
            </a:r>
            <a:br>
              <a:rPr lang="en-US" dirty="0"/>
            </a:br>
            <a:endParaRPr lang="en-US" dirty="0"/>
          </a:p>
        </p:txBody>
      </p:sp>
      <p:sp>
        <p:nvSpPr>
          <p:cNvPr id="6" name="Content Placeholder 5">
            <a:extLst>
              <a:ext uri="{FF2B5EF4-FFF2-40B4-BE49-F238E27FC236}">
                <a16:creationId xmlns:a16="http://schemas.microsoft.com/office/drawing/2014/main" id="{D18D5D4A-24A3-4C0E-A502-167F56B296B7}"/>
              </a:ext>
            </a:extLst>
          </p:cNvPr>
          <p:cNvSpPr>
            <a:spLocks noGrp="1"/>
          </p:cNvSpPr>
          <p:nvPr>
            <p:ph idx="1"/>
          </p:nvPr>
        </p:nvSpPr>
        <p:spPr/>
        <p:txBody>
          <a:bodyPr>
            <a:noAutofit/>
          </a:bodyPr>
          <a:lstStyle/>
          <a:p>
            <a:r>
              <a:rPr lang="en-US" sz="4000" b="1" dirty="0"/>
              <a:t>Average Voltage (</a:t>
            </a:r>
            <a:r>
              <a:rPr lang="en-US" sz="4000" b="1" dirty="0" err="1"/>
              <a:t>Vavg</a:t>
            </a:r>
            <a:r>
              <a:rPr lang="en-US" sz="4000" b="1" dirty="0"/>
              <a:t>)/Average Current (</a:t>
            </a:r>
            <a:r>
              <a:rPr lang="en-US" sz="4000" b="1" dirty="0" err="1"/>
              <a:t>Iavg</a:t>
            </a:r>
            <a:r>
              <a:rPr lang="en-US" sz="4000" b="1" dirty="0"/>
              <a:t>)</a:t>
            </a:r>
          </a:p>
          <a:p>
            <a:r>
              <a:rPr lang="en-US" sz="4000" dirty="0"/>
              <a:t> As the name implies, </a:t>
            </a:r>
            <a:r>
              <a:rPr lang="en-US" sz="4000" dirty="0" err="1"/>
              <a:t>Vavg</a:t>
            </a:r>
            <a:r>
              <a:rPr lang="en-US" sz="4000" dirty="0"/>
              <a:t> is calculated by taking the average of the voltage in an appropriately chosen interval. In the case of symmetrical waveforms like the sinewave, a quarter cycle faithfully represents all four quarter cycles of the waveform. Therefore, it is acceptable to choose the first quarter cycle, which goes from 0 radians (0°) through p/2 radians (90°). </a:t>
            </a:r>
          </a:p>
        </p:txBody>
      </p:sp>
    </p:spTree>
    <p:extLst>
      <p:ext uri="{BB962C8B-B14F-4D97-AF65-F5344CB8AC3E}">
        <p14:creationId xmlns:p14="http://schemas.microsoft.com/office/powerpoint/2010/main" val="11469138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3D1A1-6FED-4019-8B42-51220E505370}"/>
              </a:ext>
            </a:extLst>
          </p:cNvPr>
          <p:cNvSpPr>
            <a:spLocks noGrp="1"/>
          </p:cNvSpPr>
          <p:nvPr>
            <p:ph type="title"/>
          </p:nvPr>
        </p:nvSpPr>
        <p:spPr>
          <a:xfrm>
            <a:off x="838200" y="365126"/>
            <a:ext cx="10515600" cy="75746"/>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1BD955BA-7058-4762-9443-7266D2700B0B}"/>
              </a:ext>
            </a:extLst>
          </p:cNvPr>
          <p:cNvPicPr>
            <a:picLocks noGrp="1" noChangeAspect="1"/>
          </p:cNvPicPr>
          <p:nvPr>
            <p:ph idx="1"/>
          </p:nvPr>
        </p:nvPicPr>
        <p:blipFill>
          <a:blip r:embed="rId2"/>
          <a:stretch>
            <a:fillRect/>
          </a:stretch>
        </p:blipFill>
        <p:spPr>
          <a:xfrm>
            <a:off x="261257" y="843189"/>
            <a:ext cx="11930743" cy="6292397"/>
          </a:xfrm>
          <a:prstGeom prst="rect">
            <a:avLst/>
          </a:prstGeom>
        </p:spPr>
      </p:pic>
    </p:spTree>
    <p:extLst>
      <p:ext uri="{BB962C8B-B14F-4D97-AF65-F5344CB8AC3E}">
        <p14:creationId xmlns:p14="http://schemas.microsoft.com/office/powerpoint/2010/main" val="11431677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8D387-9AC5-43D5-9C40-E8AAD7BCC457}"/>
              </a:ext>
            </a:extLst>
          </p:cNvPr>
          <p:cNvSpPr>
            <a:spLocks noGrp="1"/>
          </p:cNvSpPr>
          <p:nvPr>
            <p:ph type="title"/>
          </p:nvPr>
        </p:nvSpPr>
        <p:spPr>
          <a:xfrm>
            <a:off x="838200" y="365126"/>
            <a:ext cx="10515600" cy="108404"/>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7D7E8D30-E9AD-481C-9237-D08B440BE17C}"/>
              </a:ext>
            </a:extLst>
          </p:cNvPr>
          <p:cNvPicPr>
            <a:picLocks noGrp="1" noChangeAspect="1"/>
          </p:cNvPicPr>
          <p:nvPr>
            <p:ph idx="1"/>
          </p:nvPr>
        </p:nvPicPr>
        <p:blipFill>
          <a:blip r:embed="rId2"/>
          <a:stretch>
            <a:fillRect/>
          </a:stretch>
        </p:blipFill>
        <p:spPr>
          <a:xfrm>
            <a:off x="4278085" y="984590"/>
            <a:ext cx="4212771" cy="958510"/>
          </a:xfrm>
          <a:prstGeom prst="rect">
            <a:avLst/>
          </a:prstGeom>
        </p:spPr>
      </p:pic>
      <p:sp>
        <p:nvSpPr>
          <p:cNvPr id="8" name="Rectangle 7">
            <a:extLst>
              <a:ext uri="{FF2B5EF4-FFF2-40B4-BE49-F238E27FC236}">
                <a16:creationId xmlns:a16="http://schemas.microsoft.com/office/drawing/2014/main" id="{781F2B30-9B15-48B9-8990-7D4F5E009892}"/>
              </a:ext>
            </a:extLst>
          </p:cNvPr>
          <p:cNvSpPr/>
          <p:nvPr/>
        </p:nvSpPr>
        <p:spPr>
          <a:xfrm>
            <a:off x="2847016" y="3218934"/>
            <a:ext cx="7390998" cy="584775"/>
          </a:xfrm>
          <a:prstGeom prst="rect">
            <a:avLst/>
          </a:prstGeom>
        </p:spPr>
        <p:txBody>
          <a:bodyPr wrap="none">
            <a:spAutoFit/>
          </a:bodyPr>
          <a:lstStyle/>
          <a:p>
            <a:r>
              <a:rPr lang="en-US" sz="3200" dirty="0"/>
              <a:t>Or, alternatively, average value of current is</a:t>
            </a:r>
          </a:p>
        </p:txBody>
      </p:sp>
      <p:pic>
        <p:nvPicPr>
          <p:cNvPr id="9" name="Picture 8">
            <a:extLst>
              <a:ext uri="{FF2B5EF4-FFF2-40B4-BE49-F238E27FC236}">
                <a16:creationId xmlns:a16="http://schemas.microsoft.com/office/drawing/2014/main" id="{9B064ADC-BEC0-4F5D-8EAD-6DF30F174C8D}"/>
              </a:ext>
            </a:extLst>
          </p:cNvPr>
          <p:cNvPicPr>
            <a:picLocks noChangeAspect="1"/>
          </p:cNvPicPr>
          <p:nvPr/>
        </p:nvPicPr>
        <p:blipFill>
          <a:blip r:embed="rId3"/>
          <a:stretch>
            <a:fillRect/>
          </a:stretch>
        </p:blipFill>
        <p:spPr>
          <a:xfrm>
            <a:off x="1779814" y="4131129"/>
            <a:ext cx="8458200" cy="1742281"/>
          </a:xfrm>
          <a:prstGeom prst="rect">
            <a:avLst/>
          </a:prstGeom>
        </p:spPr>
      </p:pic>
    </p:spTree>
    <p:extLst>
      <p:ext uri="{BB962C8B-B14F-4D97-AF65-F5344CB8AC3E}">
        <p14:creationId xmlns:p14="http://schemas.microsoft.com/office/powerpoint/2010/main" val="23394585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8D9AB-828D-4103-9CE9-1276701E7D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D09A27-D765-4DB4-B4A0-26A36BC1EC25}"/>
              </a:ext>
            </a:extLst>
          </p:cNvPr>
          <p:cNvSpPr>
            <a:spLocks noGrp="1"/>
          </p:cNvSpPr>
          <p:nvPr>
            <p:ph idx="1"/>
          </p:nvPr>
        </p:nvSpPr>
        <p:spPr/>
        <p:txBody>
          <a:bodyPr>
            <a:normAutofit lnSpcReduction="10000"/>
          </a:bodyPr>
          <a:lstStyle/>
          <a:p>
            <a:r>
              <a:rPr lang="en-US" b="1" dirty="0"/>
              <a:t>Root-Mean-Square Voltage </a:t>
            </a:r>
            <a:r>
              <a:rPr lang="en-US" dirty="0"/>
              <a:t>(</a:t>
            </a:r>
            <a:r>
              <a:rPr lang="en-US" dirty="0" err="1"/>
              <a:t>Vrms</a:t>
            </a:r>
            <a:r>
              <a:rPr lang="en-US" dirty="0"/>
              <a:t>) /</a:t>
            </a:r>
            <a:r>
              <a:rPr lang="en-US" b="1" dirty="0"/>
              <a:t> Root-Mean-Square Current(</a:t>
            </a:r>
            <a:r>
              <a:rPr lang="en-US" b="1" dirty="0" err="1"/>
              <a:t>Irms</a:t>
            </a:r>
            <a:r>
              <a:rPr lang="en-US" b="1" dirty="0"/>
              <a:t>)</a:t>
            </a:r>
            <a:endParaRPr lang="en-US" dirty="0"/>
          </a:p>
          <a:p>
            <a:r>
              <a:rPr lang="en-US" dirty="0"/>
              <a:t> As the name implies, </a:t>
            </a:r>
            <a:r>
              <a:rPr lang="en-US" dirty="0" err="1"/>
              <a:t>Vrms</a:t>
            </a:r>
            <a:r>
              <a:rPr lang="en-US" dirty="0"/>
              <a:t> is calculated by taking the square root of the mean average of the square of the voltage in an appropriately chosen interval. In the case of symmetrical waveforms like the sine wave, a quarter cycle faithfully represents all four quarter cycles of the waveform. Therefore, it is acceptable to choose the first quarter cycle, which goes from 0 radians (0°) through p/2 radians (90°).   </a:t>
            </a:r>
            <a:r>
              <a:rPr lang="en-US" dirty="0" err="1"/>
              <a:t>Vrms</a:t>
            </a:r>
            <a:r>
              <a:rPr lang="en-US" dirty="0"/>
              <a:t> is the value indicated by the vast majority of AC voltmeters. It is the value that, when applied across a resistance, produces that same amount of heat that a direct current (DC) voltage of the same magnitude would produce. </a:t>
            </a:r>
          </a:p>
        </p:txBody>
      </p:sp>
    </p:spTree>
    <p:extLst>
      <p:ext uri="{BB962C8B-B14F-4D97-AF65-F5344CB8AC3E}">
        <p14:creationId xmlns:p14="http://schemas.microsoft.com/office/powerpoint/2010/main" val="28566765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E6E0B-F41D-46E9-B8EE-94E43B18AF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21846C3-048C-467E-BAAC-A97673698473}"/>
              </a:ext>
            </a:extLst>
          </p:cNvPr>
          <p:cNvSpPr>
            <a:spLocks noGrp="1"/>
          </p:cNvSpPr>
          <p:nvPr>
            <p:ph idx="1"/>
          </p:nvPr>
        </p:nvSpPr>
        <p:spPr/>
        <p:txBody>
          <a:bodyPr>
            <a:normAutofit lnSpcReduction="10000"/>
          </a:bodyPr>
          <a:lstStyle/>
          <a:p>
            <a:pPr algn="just"/>
            <a:r>
              <a:rPr lang="en-US" sz="3600" dirty="0"/>
              <a:t>In </a:t>
            </a:r>
            <a:r>
              <a:rPr lang="en-US" sz="3600" dirty="0" err="1"/>
              <a:t>a.c</a:t>
            </a:r>
            <a:r>
              <a:rPr lang="en-US" sz="3600" dirty="0"/>
              <a:t>. work, however, the average value is of comparatively little importance. This is due to the fact that it is the power produced by the electric current that usually matters. Thus, if the current represented in Fig. (a) is passed through a resistor having resistance </a:t>
            </a:r>
            <a:r>
              <a:rPr lang="en-US" sz="3600" dirty="0" err="1"/>
              <a:t>Rohms</a:t>
            </a:r>
            <a:r>
              <a:rPr lang="en-US" sz="3600" dirty="0"/>
              <a:t>, the heating effect of i1 is i2 1R, that of i2 is i2 2R, etc. as shown in Fig. (b). The variation of the heating effect during the second half-cycle is exactly the same as that during the ﬁrst half-cycle</a:t>
            </a:r>
            <a:r>
              <a:rPr lang="en-US" dirty="0"/>
              <a:t>.</a:t>
            </a:r>
          </a:p>
          <a:p>
            <a:endParaRPr lang="en-US" dirty="0"/>
          </a:p>
        </p:txBody>
      </p:sp>
    </p:spTree>
    <p:extLst>
      <p:ext uri="{BB962C8B-B14F-4D97-AF65-F5344CB8AC3E}">
        <p14:creationId xmlns:p14="http://schemas.microsoft.com/office/powerpoint/2010/main" val="11267355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D5C50-8D32-4057-9C1C-EF27FB5AA74D}"/>
              </a:ext>
            </a:extLst>
          </p:cNvPr>
          <p:cNvSpPr>
            <a:spLocks noGrp="1"/>
          </p:cNvSpPr>
          <p:nvPr>
            <p:ph type="title"/>
          </p:nvPr>
        </p:nvSpPr>
        <p:spPr>
          <a:xfrm>
            <a:off x="838200" y="365126"/>
            <a:ext cx="10515600" cy="190046"/>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AF7138D6-5420-43B3-9025-7BF510752029}"/>
              </a:ext>
            </a:extLst>
          </p:cNvPr>
          <p:cNvPicPr>
            <a:picLocks noGrp="1" noChangeAspect="1"/>
          </p:cNvPicPr>
          <p:nvPr>
            <p:ph idx="1"/>
          </p:nvPr>
        </p:nvPicPr>
        <p:blipFill>
          <a:blip r:embed="rId2"/>
          <a:stretch>
            <a:fillRect/>
          </a:stretch>
        </p:blipFill>
        <p:spPr>
          <a:xfrm>
            <a:off x="1175657" y="800101"/>
            <a:ext cx="10042072" cy="6057900"/>
          </a:xfrm>
          <a:prstGeom prst="rect">
            <a:avLst/>
          </a:prstGeom>
        </p:spPr>
      </p:pic>
    </p:spTree>
    <p:extLst>
      <p:ext uri="{BB962C8B-B14F-4D97-AF65-F5344CB8AC3E}">
        <p14:creationId xmlns:p14="http://schemas.microsoft.com/office/powerpoint/2010/main" val="20242672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517B3-B509-4874-A3F6-C4248F9C7FE6}"/>
              </a:ext>
            </a:extLst>
          </p:cNvPr>
          <p:cNvSpPr>
            <a:spLocks noGrp="1"/>
          </p:cNvSpPr>
          <p:nvPr>
            <p:ph type="title"/>
          </p:nvPr>
        </p:nvSpPr>
        <p:spPr>
          <a:xfrm>
            <a:off x="838200" y="365125"/>
            <a:ext cx="10515600" cy="255361"/>
          </a:xfrm>
        </p:spPr>
        <p:txBody>
          <a:bodyPr>
            <a:normAutofit fontScale="90000"/>
          </a:bodyPr>
          <a:lstStyle/>
          <a:p>
            <a:endParaRPr lang="en-US" dirty="0"/>
          </a:p>
        </p:txBody>
      </p:sp>
      <p:sp>
        <p:nvSpPr>
          <p:cNvPr id="3" name="Content Placeholder 2"/>
          <p:cNvSpPr>
            <a:spLocks noGrp="1"/>
          </p:cNvSpPr>
          <p:nvPr>
            <p:ph idx="1"/>
          </p:nvPr>
        </p:nvSpPr>
        <p:spPr>
          <a:xfrm>
            <a:off x="838200" y="1003300"/>
            <a:ext cx="10515600" cy="5173663"/>
          </a:xfrm>
        </p:spPr>
        <p:txBody>
          <a:bodyPr/>
          <a:lstStyle/>
          <a:p>
            <a:r>
              <a:rPr lang="en-US" dirty="0"/>
              <a:t>Since the average value of AC over a cycle is zero. For this reason, a more appropriate quantity is to be defined called Root mean square value of AC.</a:t>
            </a:r>
          </a:p>
          <a:p>
            <a:r>
              <a:rPr lang="en-US" dirty="0"/>
              <a:t>The root mean square value of AC is defined in terms of DC that does the same work at the same interval of time as it would be done by AC at the same </a:t>
            </a:r>
            <a:r>
              <a:rPr lang="en-US" dirty="0" smtClean="0"/>
              <a:t>time</a:t>
            </a:r>
          </a:p>
          <a:p>
            <a:r>
              <a:rPr lang="en-US" dirty="0"/>
              <a:t>Thus the </a:t>
            </a:r>
            <a:r>
              <a:rPr lang="en-US" dirty="0" err="1"/>
              <a:t>rms</a:t>
            </a:r>
            <a:r>
              <a:rPr lang="en-US" dirty="0"/>
              <a:t> value of AC is equivalent to that steady current which when passed through a resistor would produce the same heat that would be done by the AC in passing through the same resistor in similar condition</a:t>
            </a:r>
            <a:r>
              <a:rPr lang="en-US" dirty="0" smtClean="0"/>
              <a:t>.</a:t>
            </a:r>
          </a:p>
          <a:p>
            <a:endParaRPr lang="en-US" dirty="0"/>
          </a:p>
        </p:txBody>
      </p:sp>
    </p:spTree>
    <p:extLst>
      <p:ext uri="{BB962C8B-B14F-4D97-AF65-F5344CB8AC3E}">
        <p14:creationId xmlns:p14="http://schemas.microsoft.com/office/powerpoint/2010/main" val="31114599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03200" y="2019300"/>
            <a:ext cx="11569700" cy="4635500"/>
          </a:xfrm>
          <a:prstGeom prst="rect">
            <a:avLst/>
          </a:prstGeom>
        </p:spPr>
      </p:pic>
    </p:spTree>
    <p:extLst>
      <p:ext uri="{BB962C8B-B14F-4D97-AF65-F5344CB8AC3E}">
        <p14:creationId xmlns:p14="http://schemas.microsoft.com/office/powerpoint/2010/main" val="32049258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685800" y="1841500"/>
            <a:ext cx="10668000" cy="5016500"/>
          </a:xfrm>
          <a:prstGeom prst="rect">
            <a:avLst/>
          </a:prstGeom>
        </p:spPr>
      </p:pic>
    </p:spTree>
    <p:extLst>
      <p:ext uri="{BB962C8B-B14F-4D97-AF65-F5344CB8AC3E}">
        <p14:creationId xmlns:p14="http://schemas.microsoft.com/office/powerpoint/2010/main" val="78895665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2039144"/>
            <a:ext cx="485775" cy="266700"/>
          </a:xfrm>
          <a:prstGeom prst="rect">
            <a:avLst/>
          </a:prstGeom>
        </p:spPr>
      </p:pic>
      <p:pic>
        <p:nvPicPr>
          <p:cNvPr id="5" name="Picture 4"/>
          <p:cNvPicPr>
            <a:picLocks noChangeAspect="1"/>
          </p:cNvPicPr>
          <p:nvPr/>
        </p:nvPicPr>
        <p:blipFill>
          <a:blip r:embed="rId3"/>
          <a:stretch>
            <a:fillRect/>
          </a:stretch>
        </p:blipFill>
        <p:spPr>
          <a:xfrm>
            <a:off x="1323974" y="1790700"/>
            <a:ext cx="10245725" cy="5359400"/>
          </a:xfrm>
          <a:prstGeom prst="rect">
            <a:avLst/>
          </a:prstGeom>
        </p:spPr>
      </p:pic>
    </p:spTree>
    <p:extLst>
      <p:ext uri="{BB962C8B-B14F-4D97-AF65-F5344CB8AC3E}">
        <p14:creationId xmlns:p14="http://schemas.microsoft.com/office/powerpoint/2010/main" val="420981776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003300" y="1828800"/>
            <a:ext cx="10350500" cy="4381500"/>
          </a:xfrm>
          <a:prstGeom prst="rect">
            <a:avLst/>
          </a:prstGeom>
        </p:spPr>
      </p:pic>
    </p:spTree>
    <p:extLst>
      <p:ext uri="{BB962C8B-B14F-4D97-AF65-F5344CB8AC3E}">
        <p14:creationId xmlns:p14="http://schemas.microsoft.com/office/powerpoint/2010/main" val="28799442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Average Voltage Analytical Method</a:t>
            </a:r>
            <a:br>
              <a:rPr lang="en-US" dirty="0"/>
            </a:br>
            <a:endParaRPr lang="en-US" dirty="0"/>
          </a:p>
        </p:txBody>
      </p:sp>
      <p:sp>
        <p:nvSpPr>
          <p:cNvPr id="3" name="Content Placeholder 2"/>
          <p:cNvSpPr>
            <a:spLocks noGrp="1"/>
          </p:cNvSpPr>
          <p:nvPr>
            <p:ph idx="1"/>
          </p:nvPr>
        </p:nvSpPr>
        <p:spPr/>
        <p:txBody>
          <a:bodyPr>
            <a:normAutofit/>
          </a:bodyPr>
          <a:lstStyle/>
          <a:p>
            <a:r>
              <a:rPr lang="en-US" sz="3200" dirty="0"/>
              <a:t>As said previously, the average voltage of a periodic waveform whose two halves are exactly similar, either sinusoidal or non-sinusoidal, will be zero over one complete cycle. </a:t>
            </a:r>
            <a:endParaRPr lang="en-US" sz="3200" dirty="0" smtClean="0"/>
          </a:p>
          <a:p>
            <a:r>
              <a:rPr lang="en-US" sz="3200" dirty="0" smtClean="0"/>
              <a:t>Then </a:t>
            </a:r>
            <a:r>
              <a:rPr lang="en-US" sz="3200" dirty="0"/>
              <a:t>the average value is obtained by adding the instantaneous values of voltage over one half cycle only. But in the case of an non-symmetrical or complex wave, the average voltage (or current) must be taken over the whole periodic cycle mathematically.</a:t>
            </a:r>
          </a:p>
        </p:txBody>
      </p:sp>
    </p:spTree>
    <p:extLst>
      <p:ext uri="{BB962C8B-B14F-4D97-AF65-F5344CB8AC3E}">
        <p14:creationId xmlns:p14="http://schemas.microsoft.com/office/powerpoint/2010/main" val="394673471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3200" dirty="0"/>
              <a:t>The average value can be taken mathematically by taking the approximation of the area under the curve at various intervals to the distance or length of the base and this can be done using triangles or rectangles as shown.</a:t>
            </a:r>
          </a:p>
        </p:txBody>
      </p:sp>
    </p:spTree>
    <p:extLst>
      <p:ext uri="{BB962C8B-B14F-4D97-AF65-F5344CB8AC3E}">
        <p14:creationId xmlns:p14="http://schemas.microsoft.com/office/powerpoint/2010/main" val="774769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endParaRPr lang="en-US" dirty="0" smtClean="0"/>
          </a:p>
          <a:p>
            <a:endParaRPr lang="en-US" dirty="0"/>
          </a:p>
          <a:p>
            <a:endParaRPr lang="en-US" dirty="0" smtClean="0"/>
          </a:p>
          <a:p>
            <a:endParaRPr lang="en-US" dirty="0"/>
          </a:p>
          <a:p>
            <a:endParaRPr lang="en-US" dirty="0" smtClean="0"/>
          </a:p>
          <a:p>
            <a:r>
              <a:rPr lang="en-US" dirty="0" smtClean="0"/>
              <a:t>By </a:t>
            </a:r>
            <a:r>
              <a:rPr lang="en-US" dirty="0"/>
              <a:t>approximating the areas of the rectangles under the curve, we can obtain a rough idea of the actual area of each one. By adding together all these areas the average value can be found. If an infinite number of smaller thinner rectangles were used, the more accurate would be the final result as it approaches 2/π.</a:t>
            </a:r>
          </a:p>
        </p:txBody>
      </p:sp>
      <p:pic>
        <p:nvPicPr>
          <p:cNvPr id="4" name="Picture 3"/>
          <p:cNvPicPr>
            <a:picLocks noChangeAspect="1"/>
          </p:cNvPicPr>
          <p:nvPr/>
        </p:nvPicPr>
        <p:blipFill>
          <a:blip r:embed="rId2"/>
          <a:stretch>
            <a:fillRect/>
          </a:stretch>
        </p:blipFill>
        <p:spPr>
          <a:xfrm>
            <a:off x="838200" y="365126"/>
            <a:ext cx="9994900" cy="3609974"/>
          </a:xfrm>
          <a:prstGeom prst="rect">
            <a:avLst/>
          </a:prstGeom>
        </p:spPr>
      </p:pic>
    </p:spTree>
    <p:extLst>
      <p:ext uri="{BB962C8B-B14F-4D97-AF65-F5344CB8AC3E}">
        <p14:creationId xmlns:p14="http://schemas.microsoft.com/office/powerpoint/2010/main" val="32032372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area under the curve can be found by various approximation methods such as the trapezoidal rule, the mid-ordinate rule or Simpson’s rule. Then the mathematical area under the positive half cycle of the periodic wave which is defined as V(t) = </a:t>
            </a:r>
            <a:r>
              <a:rPr lang="en-US" dirty="0" err="1"/>
              <a:t>Vp.cos</a:t>
            </a:r>
            <a:r>
              <a:rPr lang="en-US" dirty="0"/>
              <a:t>(</a:t>
            </a:r>
            <a:r>
              <a:rPr lang="en-US" dirty="0" err="1"/>
              <a:t>ωt</a:t>
            </a:r>
            <a:r>
              <a:rPr lang="en-US" dirty="0"/>
              <a:t>) with a period of T using integration is given as</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2895600" y="4251324"/>
            <a:ext cx="3898900" cy="1120775"/>
          </a:xfrm>
          <a:prstGeom prst="rect">
            <a:avLst/>
          </a:prstGeom>
        </p:spPr>
      </p:pic>
    </p:spTree>
    <p:extLst>
      <p:ext uri="{BB962C8B-B14F-4D97-AF65-F5344CB8AC3E}">
        <p14:creationId xmlns:p14="http://schemas.microsoft.com/office/powerpoint/2010/main" val="411559637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Then the area below the curve is finally given as Area = 2VP. Since we now know the area under the positive (or negative) half cycle, we can easily determine the average value of the positive (or negative) region of a sinusoidal waveform by integrating the sinusoidal quantity over half a cycle and dividing by half the period</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838201" y="3933825"/>
            <a:ext cx="10706100" cy="2924175"/>
          </a:xfrm>
          <a:prstGeom prst="rect">
            <a:avLst/>
          </a:prstGeom>
        </p:spPr>
      </p:pic>
    </p:spTree>
    <p:extLst>
      <p:ext uri="{BB962C8B-B14F-4D97-AF65-F5344CB8AC3E}">
        <p14:creationId xmlns:p14="http://schemas.microsoft.com/office/powerpoint/2010/main" val="304321380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83345-4894-4EEF-AD5C-A2BF6CA43FE5}"/>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828D9783-B5C5-4D42-87C2-124147332C23}"/>
              </a:ext>
            </a:extLst>
          </p:cNvPr>
          <p:cNvPicPr>
            <a:picLocks noGrp="1" noChangeAspect="1"/>
          </p:cNvPicPr>
          <p:nvPr>
            <p:ph idx="1"/>
          </p:nvPr>
        </p:nvPicPr>
        <p:blipFill>
          <a:blip r:embed="rId2"/>
          <a:stretch>
            <a:fillRect/>
          </a:stretch>
        </p:blipFill>
        <p:spPr>
          <a:xfrm>
            <a:off x="1469572" y="3029743"/>
            <a:ext cx="10722428" cy="3828257"/>
          </a:xfrm>
          <a:prstGeom prst="rect">
            <a:avLst/>
          </a:prstGeom>
        </p:spPr>
      </p:pic>
    </p:spTree>
    <p:extLst>
      <p:ext uri="{BB962C8B-B14F-4D97-AF65-F5344CB8AC3E}">
        <p14:creationId xmlns:p14="http://schemas.microsoft.com/office/powerpoint/2010/main" val="217874361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C28D-F29A-41F9-BC54-7DA7FEB4A0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DFF48A-A574-4CFF-945B-FB7F9ADEFEE5}"/>
              </a:ext>
            </a:extLst>
          </p:cNvPr>
          <p:cNvSpPr>
            <a:spLocks noGrp="1"/>
          </p:cNvSpPr>
          <p:nvPr>
            <p:ph idx="1"/>
          </p:nvPr>
        </p:nvSpPr>
        <p:spPr/>
        <p:txBody>
          <a:bodyPr>
            <a:normAutofit fontScale="92500"/>
          </a:bodyPr>
          <a:lstStyle/>
          <a:p>
            <a:r>
              <a:rPr lang="en-US" sz="4000" dirty="0"/>
              <a:t>There are a number of ways in which the amplitude of a sinewave is referenced, usually as peak voltage (</a:t>
            </a:r>
            <a:r>
              <a:rPr lang="en-US" sz="4000" dirty="0" err="1"/>
              <a:t>Vpk</a:t>
            </a:r>
            <a:r>
              <a:rPr lang="en-US" sz="4000" dirty="0"/>
              <a:t> or </a:t>
            </a:r>
            <a:r>
              <a:rPr lang="en-US" sz="4000" dirty="0" err="1"/>
              <a:t>Vp</a:t>
            </a:r>
            <a:r>
              <a:rPr lang="en-US" sz="4000" dirty="0"/>
              <a:t>), peak-to-peak voltage (</a:t>
            </a:r>
            <a:r>
              <a:rPr lang="en-US" sz="4000" dirty="0" err="1"/>
              <a:t>Vpp</a:t>
            </a:r>
            <a:r>
              <a:rPr lang="en-US" sz="4000" dirty="0"/>
              <a:t> or </a:t>
            </a:r>
            <a:r>
              <a:rPr lang="en-US" sz="4000" dirty="0" err="1"/>
              <a:t>Vp</a:t>
            </a:r>
            <a:r>
              <a:rPr lang="en-US" sz="4000" dirty="0"/>
              <a:t>-p or </a:t>
            </a:r>
            <a:r>
              <a:rPr lang="en-US" sz="4000" dirty="0" err="1"/>
              <a:t>Vpkpk</a:t>
            </a:r>
            <a:r>
              <a:rPr lang="en-US" sz="4000" dirty="0"/>
              <a:t> or </a:t>
            </a:r>
            <a:r>
              <a:rPr lang="en-US" sz="4000" dirty="0" err="1"/>
              <a:t>Vpk</a:t>
            </a:r>
            <a:r>
              <a:rPr lang="en-US" sz="4000" dirty="0"/>
              <a:t>-pk), average voltage (</a:t>
            </a:r>
            <a:r>
              <a:rPr lang="en-US" sz="4000" dirty="0" err="1"/>
              <a:t>Vav</a:t>
            </a:r>
            <a:r>
              <a:rPr lang="en-US" sz="4000" dirty="0"/>
              <a:t> or </a:t>
            </a:r>
            <a:r>
              <a:rPr lang="en-US" sz="4000" dirty="0" err="1"/>
              <a:t>Vavg</a:t>
            </a:r>
            <a:r>
              <a:rPr lang="en-US" sz="4000" dirty="0"/>
              <a:t>), and root-mean-square voltage (</a:t>
            </a:r>
            <a:r>
              <a:rPr lang="en-US" sz="4000" dirty="0" err="1"/>
              <a:t>Vrms</a:t>
            </a:r>
            <a:r>
              <a:rPr lang="en-US" sz="4000" dirty="0"/>
              <a:t>). Peak voltage and peak-to-peak voltage are apparent by looking at the above plot. Root-mean-square and average voltage are not so apparent. </a:t>
            </a:r>
          </a:p>
          <a:p>
            <a:endParaRPr lang="en-US" dirty="0"/>
          </a:p>
        </p:txBody>
      </p:sp>
    </p:spTree>
    <p:extLst>
      <p:ext uri="{BB962C8B-B14F-4D97-AF65-F5344CB8AC3E}">
        <p14:creationId xmlns:p14="http://schemas.microsoft.com/office/powerpoint/2010/main" val="41098956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22B58-69F8-4497-A4F5-E57C5C4C20D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882D0B0-1F86-40A0-A24B-42DD68D51F55}"/>
              </a:ext>
            </a:extLst>
          </p:cNvPr>
          <p:cNvSpPr>
            <a:spLocks noGrp="1"/>
          </p:cNvSpPr>
          <p:nvPr>
            <p:ph idx="1"/>
          </p:nvPr>
        </p:nvSpPr>
        <p:spPr/>
        <p:txBody>
          <a:bodyPr/>
          <a:lstStyle/>
          <a:p>
            <a:r>
              <a:rPr lang="en-US" b="1" dirty="0"/>
              <a:t>Form factor: </a:t>
            </a:r>
          </a:p>
          <a:p>
            <a:r>
              <a:rPr lang="en-US" dirty="0"/>
              <a:t>  Two alternating periodic waveforms of the same amplitude and frequency may look different depending upon their wave shape/form and then their average &amp; RMS values will be different. In order to compare such different waveforms of the same frequency and amplitude but of different wave shape a parameter called Form factor is defined as the ratio of it’s RMS and Average values.  For a sinusoidal signal of peak voltage </a:t>
            </a:r>
            <a:r>
              <a:rPr lang="en-US" dirty="0" err="1"/>
              <a:t>Vm</a:t>
            </a:r>
            <a:r>
              <a:rPr lang="en-US" dirty="0"/>
              <a:t> it is given by : </a:t>
            </a:r>
          </a:p>
        </p:txBody>
      </p:sp>
      <p:pic>
        <p:nvPicPr>
          <p:cNvPr id="4" name="Picture 3">
            <a:extLst>
              <a:ext uri="{FF2B5EF4-FFF2-40B4-BE49-F238E27FC236}">
                <a16:creationId xmlns:a16="http://schemas.microsoft.com/office/drawing/2014/main" id="{CD385E5A-5C4D-4277-949F-C5109613C33C}"/>
              </a:ext>
            </a:extLst>
          </p:cNvPr>
          <p:cNvPicPr>
            <a:picLocks noChangeAspect="1"/>
          </p:cNvPicPr>
          <p:nvPr/>
        </p:nvPicPr>
        <p:blipFill>
          <a:blip r:embed="rId2"/>
          <a:stretch>
            <a:fillRect/>
          </a:stretch>
        </p:blipFill>
        <p:spPr>
          <a:xfrm>
            <a:off x="2120348" y="5272087"/>
            <a:ext cx="7633252" cy="904876"/>
          </a:xfrm>
          <a:prstGeom prst="rect">
            <a:avLst/>
          </a:prstGeom>
        </p:spPr>
      </p:pic>
    </p:spTree>
    <p:extLst>
      <p:ext uri="{BB962C8B-B14F-4D97-AF65-F5344CB8AC3E}">
        <p14:creationId xmlns:p14="http://schemas.microsoft.com/office/powerpoint/2010/main" val="21876270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97BE0-CD40-464C-A6B2-42DB66223595}"/>
              </a:ext>
            </a:extLst>
          </p:cNvPr>
          <p:cNvSpPr>
            <a:spLocks noGrp="1"/>
          </p:cNvSpPr>
          <p:nvPr>
            <p:ph type="title"/>
          </p:nvPr>
        </p:nvSpPr>
        <p:spPr/>
        <p:txBody>
          <a:bodyPr/>
          <a:lstStyle/>
          <a:p>
            <a:r>
              <a:rPr lang="en-US" b="1" dirty="0"/>
              <a:t>J notation: </a:t>
            </a:r>
          </a:p>
        </p:txBody>
      </p:sp>
      <p:sp>
        <p:nvSpPr>
          <p:cNvPr id="3" name="Content Placeholder 2">
            <a:extLst>
              <a:ext uri="{FF2B5EF4-FFF2-40B4-BE49-F238E27FC236}">
                <a16:creationId xmlns:a16="http://schemas.microsoft.com/office/drawing/2014/main" id="{317927C3-8D08-42C8-9547-CE8480E3335F}"/>
              </a:ext>
            </a:extLst>
          </p:cNvPr>
          <p:cNvSpPr>
            <a:spLocks noGrp="1"/>
          </p:cNvSpPr>
          <p:nvPr>
            <p:ph idx="1"/>
          </p:nvPr>
        </p:nvSpPr>
        <p:spPr/>
        <p:txBody>
          <a:bodyPr>
            <a:normAutofit fontScale="92500" lnSpcReduction="10000"/>
          </a:bodyPr>
          <a:lstStyle/>
          <a:p>
            <a:r>
              <a:rPr lang="en-US" dirty="0"/>
              <a:t>The mathematics used in Electrical Engineering to add together resistances, currents or DC voltages use what are called “real numbers” either as integers or as fractions. But real numbers are not the only kind of numbers we need to use especially when dealing with frequency dependent sinusoidal sources and vectors. </a:t>
            </a:r>
          </a:p>
          <a:p>
            <a:r>
              <a:rPr lang="en-US" dirty="0"/>
              <a:t>Numbers were introduced to allow complex equations to be solved with numbers that are the square roots of negative numbers, √-1.</a:t>
            </a:r>
          </a:p>
          <a:p>
            <a:r>
              <a:rPr lang="en-US" dirty="0"/>
              <a:t> In electrical engineering this type of number is called an “imaginary number” and to distinguish an imaginary number from a real number the letter “ j ” known commonly in electrical engineering as the j-operator, is used. The letter j is placed in front of a real number to signify its imaginary number operation</a:t>
            </a:r>
          </a:p>
        </p:txBody>
      </p:sp>
    </p:spTree>
    <p:extLst>
      <p:ext uri="{BB962C8B-B14F-4D97-AF65-F5344CB8AC3E}">
        <p14:creationId xmlns:p14="http://schemas.microsoft.com/office/powerpoint/2010/main" val="24568634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1E828-F4D5-42F1-BB0D-38A82BC175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033422-09D6-40ED-B837-ACA03503249D}"/>
              </a:ext>
            </a:extLst>
          </p:cNvPr>
          <p:cNvSpPr>
            <a:spLocks noGrp="1"/>
          </p:cNvSpPr>
          <p:nvPr>
            <p:ph idx="1"/>
          </p:nvPr>
        </p:nvSpPr>
        <p:spPr/>
        <p:txBody>
          <a:bodyPr/>
          <a:lstStyle/>
          <a:p>
            <a:r>
              <a:rPr lang="en-US" dirty="0"/>
              <a:t> The horizontal axis is called the “real axis” while the vertical axis is called the “imaginary axis”. The real and imaginary parts of a complex number are abbreviated as Re(z) and </a:t>
            </a:r>
            <a:r>
              <a:rPr lang="en-US" dirty="0" err="1"/>
              <a:t>Im</a:t>
            </a:r>
            <a:r>
              <a:rPr lang="en-US" dirty="0"/>
              <a:t>(z), respectively. </a:t>
            </a:r>
          </a:p>
        </p:txBody>
      </p:sp>
    </p:spTree>
    <p:extLst>
      <p:ext uri="{BB962C8B-B14F-4D97-AF65-F5344CB8AC3E}">
        <p14:creationId xmlns:p14="http://schemas.microsoft.com/office/powerpoint/2010/main" val="398239364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BBA9F-57D8-4349-9DBF-B35E9054B978}"/>
              </a:ext>
            </a:extLst>
          </p:cNvPr>
          <p:cNvSpPr>
            <a:spLocks noGrp="1"/>
          </p:cNvSpPr>
          <p:nvPr>
            <p:ph type="title"/>
          </p:nvPr>
        </p:nvSpPr>
        <p:spPr>
          <a:xfrm>
            <a:off x="838200" y="365126"/>
            <a:ext cx="10515600" cy="234950"/>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D158EEBD-D3E3-41D5-8335-37B2A515B3EF}"/>
              </a:ext>
            </a:extLst>
          </p:cNvPr>
          <p:cNvPicPr>
            <a:picLocks noGrp="1" noChangeAspect="1"/>
          </p:cNvPicPr>
          <p:nvPr>
            <p:ph idx="1"/>
          </p:nvPr>
        </p:nvPicPr>
        <p:blipFill>
          <a:blip r:embed="rId2"/>
          <a:stretch>
            <a:fillRect/>
          </a:stretch>
        </p:blipFill>
        <p:spPr>
          <a:xfrm>
            <a:off x="500063" y="600076"/>
            <a:ext cx="10853737" cy="6029323"/>
          </a:xfrm>
          <a:prstGeom prst="rect">
            <a:avLst/>
          </a:prstGeom>
        </p:spPr>
      </p:pic>
    </p:spTree>
    <p:extLst>
      <p:ext uri="{BB962C8B-B14F-4D97-AF65-F5344CB8AC3E}">
        <p14:creationId xmlns:p14="http://schemas.microsoft.com/office/powerpoint/2010/main" val="147788993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WORKED EXAMPLES</a:t>
            </a:r>
            <a:br>
              <a:rPr lang="en-US" dirty="0" smtClean="0"/>
            </a:br>
            <a:endParaRPr lang="en-US" dirty="0"/>
          </a:p>
        </p:txBody>
      </p:sp>
      <p:sp>
        <p:nvSpPr>
          <p:cNvPr id="3" name="Content Placeholder 2"/>
          <p:cNvSpPr>
            <a:spLocks noGrp="1"/>
          </p:cNvSpPr>
          <p:nvPr>
            <p:ph idx="1"/>
          </p:nvPr>
        </p:nvSpPr>
        <p:spPr>
          <a:xfrm>
            <a:off x="838200" y="1130300"/>
            <a:ext cx="10515600" cy="5008563"/>
          </a:xfrm>
        </p:spPr>
        <p:txBody>
          <a:bodyPr>
            <a:normAutofit fontScale="92500" lnSpcReduction="10000"/>
          </a:bodyPr>
          <a:lstStyle/>
          <a:p>
            <a:r>
              <a:rPr lang="en-US" dirty="0" smtClean="0"/>
              <a:t>Consider the data below</a:t>
            </a:r>
          </a:p>
          <a:p>
            <a:pPr marL="0" indent="0">
              <a:buNone/>
            </a:pPr>
            <a:endParaRPr lang="en-US" dirty="0" smtClean="0"/>
          </a:p>
          <a:p>
            <a:pPr marL="0" indent="0">
              <a:buNone/>
            </a:pPr>
            <a:endParaRPr lang="en-US" dirty="0"/>
          </a:p>
          <a:p>
            <a:pPr marL="0" indent="0">
              <a:buNone/>
            </a:pPr>
            <a:endParaRPr lang="en-US" dirty="0" smtClean="0"/>
          </a:p>
          <a:p>
            <a:pPr marL="0" indent="0">
              <a:buNone/>
            </a:pPr>
            <a:r>
              <a:rPr lang="en-US" dirty="0" smtClean="0"/>
              <a:t>Find the </a:t>
            </a:r>
            <a:r>
              <a:rPr lang="en-US" dirty="0" err="1" smtClean="0"/>
              <a:t>rms</a:t>
            </a:r>
            <a:r>
              <a:rPr lang="en-US" dirty="0" smtClean="0"/>
              <a:t> voltage .</a:t>
            </a:r>
          </a:p>
          <a:p>
            <a:pPr marL="0" indent="0">
              <a:buNone/>
            </a:pPr>
            <a:r>
              <a:rPr lang="en-US" dirty="0" err="1" smtClean="0"/>
              <a:t>Soln</a:t>
            </a:r>
            <a:r>
              <a:rPr lang="en-US" dirty="0" smtClean="0"/>
              <a:t>:</a:t>
            </a:r>
          </a:p>
          <a:p>
            <a:pPr marL="0" indent="0">
              <a:buNone/>
            </a:pPr>
            <a:endParaRPr lang="en-US" dirty="0"/>
          </a:p>
          <a:p>
            <a:pPr marL="0" indent="0">
              <a:buNone/>
            </a:pPr>
            <a:endParaRPr lang="en-US" dirty="0" smtClean="0"/>
          </a:p>
          <a:p>
            <a:pPr marL="0" indent="0">
              <a:buNone/>
            </a:pPr>
            <a:endParaRPr lang="en-US" dirty="0" smtClean="0"/>
          </a:p>
          <a:p>
            <a:pPr marL="0" indent="0">
              <a:buNone/>
            </a:pPr>
            <a:r>
              <a:rPr lang="en-US" dirty="0" err="1" smtClean="0"/>
              <a:t>soln</a:t>
            </a:r>
            <a:endParaRPr lang="en-US" dirty="0" smtClean="0"/>
          </a:p>
          <a:p>
            <a:pPr marL="0" indent="0">
              <a:buNone/>
            </a:pPr>
            <a:r>
              <a:rPr lang="en-US" dirty="0" smtClean="0"/>
              <a:t>                                                                                                                                                                                                                                                                                     </a:t>
            </a:r>
            <a:endParaRPr lang="en-US" dirty="0"/>
          </a:p>
        </p:txBody>
      </p:sp>
      <p:pic>
        <p:nvPicPr>
          <p:cNvPr id="4" name="Picture 3"/>
          <p:cNvPicPr>
            <a:picLocks noChangeAspect="1"/>
          </p:cNvPicPr>
          <p:nvPr/>
        </p:nvPicPr>
        <p:blipFill>
          <a:blip r:embed="rId2"/>
          <a:stretch>
            <a:fillRect/>
          </a:stretch>
        </p:blipFill>
        <p:spPr>
          <a:xfrm>
            <a:off x="698499" y="1500189"/>
            <a:ext cx="9244701" cy="1319211"/>
          </a:xfrm>
          <a:prstGeom prst="rect">
            <a:avLst/>
          </a:prstGeom>
        </p:spPr>
      </p:pic>
      <p:pic>
        <p:nvPicPr>
          <p:cNvPr id="5" name="Picture 4"/>
          <p:cNvPicPr>
            <a:picLocks noChangeAspect="1"/>
          </p:cNvPicPr>
          <p:nvPr/>
        </p:nvPicPr>
        <p:blipFill>
          <a:blip r:embed="rId3"/>
          <a:stretch>
            <a:fillRect/>
          </a:stretch>
        </p:blipFill>
        <p:spPr>
          <a:xfrm>
            <a:off x="838200" y="3651252"/>
            <a:ext cx="9906000" cy="2857500"/>
          </a:xfrm>
          <a:prstGeom prst="rect">
            <a:avLst/>
          </a:prstGeom>
        </p:spPr>
      </p:pic>
    </p:spTree>
    <p:extLst>
      <p:ext uri="{BB962C8B-B14F-4D97-AF65-F5344CB8AC3E}">
        <p14:creationId xmlns:p14="http://schemas.microsoft.com/office/powerpoint/2010/main" val="10516985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T</a:t>
            </a:r>
            <a:r>
              <a:rPr lang="en-US" dirty="0" smtClean="0"/>
              <a:t>he </a:t>
            </a:r>
            <a:r>
              <a:rPr lang="en-US" dirty="0"/>
              <a:t>mains voltage </a:t>
            </a:r>
            <a:r>
              <a:rPr lang="en-US" dirty="0" smtClean="0"/>
              <a:t>can </a:t>
            </a:r>
            <a:r>
              <a:rPr lang="en-US" dirty="0"/>
              <a:t>vary between 216 and 253 volts. These are </a:t>
            </a:r>
            <a:r>
              <a:rPr lang="en-US" dirty="0" err="1"/>
              <a:t>r.m.s</a:t>
            </a:r>
            <a:r>
              <a:rPr lang="en-US" dirty="0"/>
              <a:t>. </a:t>
            </a:r>
            <a:r>
              <a:rPr lang="en-US" dirty="0" err="1" smtClean="0"/>
              <a:t>values,Calculate</a:t>
            </a:r>
            <a:r>
              <a:rPr lang="en-US" dirty="0" smtClean="0"/>
              <a:t> </a:t>
            </a:r>
            <a:r>
              <a:rPr lang="en-US" dirty="0"/>
              <a:t>the maximum possible voltage from a mains socket the peak </a:t>
            </a:r>
            <a:r>
              <a:rPr lang="en-US" dirty="0" smtClean="0"/>
              <a:t>voltage </a:t>
            </a:r>
            <a:r>
              <a:rPr lang="en-US" dirty="0"/>
              <a:t>for 253 volts </a:t>
            </a:r>
            <a:r>
              <a:rPr lang="en-US" dirty="0" err="1"/>
              <a:t>r.m.s</a:t>
            </a:r>
            <a:r>
              <a:rPr lang="en-US" dirty="0"/>
              <a:t>. </a:t>
            </a:r>
            <a:endParaRPr lang="en-US" dirty="0" smtClean="0"/>
          </a:p>
          <a:p>
            <a:pPr marL="0" indent="0">
              <a:buNone/>
            </a:pPr>
            <a:r>
              <a:rPr lang="en-US" dirty="0" smtClean="0"/>
              <a:t>SOLN:</a:t>
            </a:r>
          </a:p>
          <a:p>
            <a:pPr marL="0" indent="0">
              <a:buNone/>
            </a:pPr>
            <a:endParaRPr lang="en-US" dirty="0"/>
          </a:p>
        </p:txBody>
      </p:sp>
      <p:pic>
        <p:nvPicPr>
          <p:cNvPr id="4" name="Picture 3"/>
          <p:cNvPicPr>
            <a:picLocks noChangeAspect="1"/>
          </p:cNvPicPr>
          <p:nvPr/>
        </p:nvPicPr>
        <p:blipFill>
          <a:blip r:embed="rId2"/>
          <a:stretch>
            <a:fillRect/>
          </a:stretch>
        </p:blipFill>
        <p:spPr>
          <a:xfrm>
            <a:off x="1006474" y="3705224"/>
            <a:ext cx="4302125" cy="1933575"/>
          </a:xfrm>
          <a:prstGeom prst="rect">
            <a:avLst/>
          </a:prstGeom>
        </p:spPr>
      </p:pic>
    </p:spTree>
    <p:extLst>
      <p:ext uri="{BB962C8B-B14F-4D97-AF65-F5344CB8AC3E}">
        <p14:creationId xmlns:p14="http://schemas.microsoft.com/office/powerpoint/2010/main" val="20741615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09600" y="1848890"/>
            <a:ext cx="10515600" cy="2871541"/>
          </a:xfrm>
          <a:prstGeom prst="rect">
            <a:avLst/>
          </a:prstGeom>
        </p:spPr>
      </p:pic>
    </p:spTree>
    <p:extLst>
      <p:ext uri="{BB962C8B-B14F-4D97-AF65-F5344CB8AC3E}">
        <p14:creationId xmlns:p14="http://schemas.microsoft.com/office/powerpoint/2010/main" val="35970431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507952" y="365126"/>
            <a:ext cx="10845848" cy="6315074"/>
          </a:xfrm>
          <a:prstGeom prst="rect">
            <a:avLst/>
          </a:prstGeom>
        </p:spPr>
      </p:pic>
    </p:spTree>
    <p:extLst>
      <p:ext uri="{BB962C8B-B14F-4D97-AF65-F5344CB8AC3E}">
        <p14:creationId xmlns:p14="http://schemas.microsoft.com/office/powerpoint/2010/main" val="1962579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231788"/>
            <a:ext cx="10325100" cy="6461112"/>
          </a:xfrm>
          <a:prstGeom prst="rect">
            <a:avLst/>
          </a:prstGeom>
        </p:spPr>
      </p:pic>
    </p:spTree>
    <p:extLst>
      <p:ext uri="{BB962C8B-B14F-4D97-AF65-F5344CB8AC3E}">
        <p14:creationId xmlns:p14="http://schemas.microsoft.com/office/powerpoint/2010/main" val="35332807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90600" y="234762"/>
            <a:ext cx="9715500" cy="6407338"/>
          </a:xfrm>
          <a:prstGeom prst="rect">
            <a:avLst/>
          </a:prstGeom>
        </p:spPr>
      </p:pic>
    </p:spTree>
    <p:extLst>
      <p:ext uri="{BB962C8B-B14F-4D97-AF65-F5344CB8AC3E}">
        <p14:creationId xmlns:p14="http://schemas.microsoft.com/office/powerpoint/2010/main" val="24781169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CC140-17FE-4D00-AA1D-92DDC1884F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52C6F7-628F-4545-92BF-9D5347D21E0F}"/>
              </a:ext>
            </a:extLst>
          </p:cNvPr>
          <p:cNvSpPr>
            <a:spLocks noGrp="1"/>
          </p:cNvSpPr>
          <p:nvPr>
            <p:ph idx="1"/>
          </p:nvPr>
        </p:nvSpPr>
        <p:spPr/>
        <p:txBody>
          <a:bodyPr/>
          <a:lstStyle/>
          <a:p>
            <a:r>
              <a:rPr lang="en-US" b="1" dirty="0" smtClean="0"/>
              <a:t>                             </a:t>
            </a:r>
            <a:r>
              <a:rPr lang="en-US" sz="6000" b="1" i="1" dirty="0" smtClean="0">
                <a:solidFill>
                  <a:srgbClr val="FF0000"/>
                </a:solidFill>
                <a:latin typeface="Algerian" panose="04020705040A02060702" pitchFamily="82" charset="0"/>
              </a:rPr>
              <a:t>THANK YOU</a:t>
            </a:r>
            <a:endParaRPr lang="en-US" sz="6000" b="1" i="1" dirty="0">
              <a:solidFill>
                <a:srgbClr val="FF0000"/>
              </a:solidFill>
              <a:latin typeface="Algerian" panose="04020705040A02060702" pitchFamily="82" charset="0"/>
            </a:endParaRPr>
          </a:p>
        </p:txBody>
      </p:sp>
    </p:spTree>
    <p:extLst>
      <p:ext uri="{BB962C8B-B14F-4D97-AF65-F5344CB8AC3E}">
        <p14:creationId xmlns:p14="http://schemas.microsoft.com/office/powerpoint/2010/main" val="24779634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2673</TotalTime>
  <Words>2350</Words>
  <Application>Microsoft Office PowerPoint</Application>
  <PresentationFormat>Widescreen</PresentationFormat>
  <Paragraphs>76</Paragraphs>
  <Slides>56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Algerian</vt:lpstr>
      <vt:lpstr>Arial</vt:lpstr>
      <vt:lpstr>Calibri</vt:lpstr>
      <vt:lpstr>Calibri Light</vt:lpstr>
      <vt:lpstr>Times New Roman</vt:lpstr>
      <vt:lpstr>Office Theme</vt:lpstr>
      <vt:lpstr>AC CIRCUIT THEORY </vt:lpstr>
      <vt:lpstr>PowerPoint Presentation</vt:lpstr>
      <vt:lpstr>PowerPoint Presentation</vt:lpstr>
      <vt:lpstr>Generation of an alternating e.m.f.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Waveform terms and deﬁnitions </vt:lpstr>
      <vt:lpstr>PowerPoint Presentation</vt:lpstr>
      <vt:lpstr>PowerPoint Presentation</vt:lpstr>
      <vt:lpstr>PowerPoint Presentation</vt:lpstr>
      <vt:lpstr>PowerPoint Presentation</vt:lpstr>
      <vt:lpstr>Average and r.m.s. values of an alternating current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Average Voltage Analytical Method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 notation: </vt:lpstr>
      <vt:lpstr>PowerPoint Presentation</vt:lpstr>
      <vt:lpstr>PowerPoint Presentation</vt:lpstr>
      <vt:lpstr>WORKED EXAMPLES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MOYO</dc:creator>
  <cp:lastModifiedBy>Windows User</cp:lastModifiedBy>
  <cp:revision>48</cp:revision>
  <dcterms:created xsi:type="dcterms:W3CDTF">2020-06-22T06:24:20Z</dcterms:created>
  <dcterms:modified xsi:type="dcterms:W3CDTF">2021-12-02T07:32:33Z</dcterms:modified>
</cp:coreProperties>
</file>