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56" r:id="rId2"/>
    <p:sldId id="340" r:id="rId3"/>
    <p:sldId id="257" r:id="rId4"/>
    <p:sldId id="328" r:id="rId5"/>
    <p:sldId id="329" r:id="rId6"/>
    <p:sldId id="330" r:id="rId7"/>
    <p:sldId id="524" r:id="rId8"/>
    <p:sldId id="333" r:id="rId9"/>
    <p:sldId id="525" r:id="rId10"/>
    <p:sldId id="539" r:id="rId11"/>
    <p:sldId id="526" r:id="rId12"/>
    <p:sldId id="540" r:id="rId13"/>
    <p:sldId id="527" r:id="rId14"/>
    <p:sldId id="541" r:id="rId15"/>
    <p:sldId id="528" r:id="rId16"/>
    <p:sldId id="529" r:id="rId17"/>
    <p:sldId id="542" r:id="rId18"/>
    <p:sldId id="531" r:id="rId19"/>
    <p:sldId id="532" r:id="rId20"/>
    <p:sldId id="533" r:id="rId21"/>
    <p:sldId id="534" r:id="rId22"/>
    <p:sldId id="535" r:id="rId23"/>
    <p:sldId id="543" r:id="rId24"/>
    <p:sldId id="536" r:id="rId25"/>
    <p:sldId id="544" r:id="rId26"/>
    <p:sldId id="537" r:id="rId27"/>
    <p:sldId id="331" r:id="rId28"/>
    <p:sldId id="332" r:id="rId29"/>
    <p:sldId id="262" r:id="rId30"/>
    <p:sldId id="264" r:id="rId31"/>
    <p:sldId id="334" r:id="rId32"/>
    <p:sldId id="258" r:id="rId33"/>
    <p:sldId id="259" r:id="rId34"/>
    <p:sldId id="260" r:id="rId35"/>
    <p:sldId id="266" r:id="rId36"/>
    <p:sldId id="339" r:id="rId37"/>
    <p:sldId id="267" r:id="rId38"/>
    <p:sldId id="269" r:id="rId39"/>
    <p:sldId id="268" r:id="rId40"/>
    <p:sldId id="270" r:id="rId41"/>
    <p:sldId id="271" r:id="rId42"/>
    <p:sldId id="272" r:id="rId43"/>
    <p:sldId id="273" r:id="rId44"/>
    <p:sldId id="274" r:id="rId45"/>
    <p:sldId id="275" r:id="rId46"/>
    <p:sldId id="338" r:id="rId47"/>
    <p:sldId id="276" r:id="rId48"/>
    <p:sldId id="277" r:id="rId49"/>
    <p:sldId id="278" r:id="rId50"/>
    <p:sldId id="279" r:id="rId51"/>
    <p:sldId id="280" r:id="rId52"/>
    <p:sldId id="281" r:id="rId53"/>
    <p:sldId id="282" r:id="rId54"/>
    <p:sldId id="283" r:id="rId55"/>
    <p:sldId id="335" r:id="rId56"/>
    <p:sldId id="284" r:id="rId57"/>
    <p:sldId id="286" r:id="rId58"/>
    <p:sldId id="287" r:id="rId59"/>
    <p:sldId id="288" r:id="rId60"/>
    <p:sldId id="285" r:id="rId61"/>
    <p:sldId id="289" r:id="rId62"/>
    <p:sldId id="290" r:id="rId63"/>
    <p:sldId id="291" r:id="rId64"/>
    <p:sldId id="292" r:id="rId65"/>
    <p:sldId id="293" r:id="rId66"/>
    <p:sldId id="294" r:id="rId67"/>
    <p:sldId id="336" r:id="rId68"/>
    <p:sldId id="295" r:id="rId69"/>
    <p:sldId id="297" r:id="rId70"/>
    <p:sldId id="296" r:id="rId71"/>
    <p:sldId id="298" r:id="rId72"/>
    <p:sldId id="300" r:id="rId73"/>
    <p:sldId id="301" r:id="rId74"/>
    <p:sldId id="302" r:id="rId75"/>
    <p:sldId id="303" r:id="rId76"/>
    <p:sldId id="304" r:id="rId77"/>
    <p:sldId id="305" r:id="rId78"/>
    <p:sldId id="306" r:id="rId79"/>
    <p:sldId id="307" r:id="rId80"/>
    <p:sldId id="308" r:id="rId81"/>
    <p:sldId id="309" r:id="rId82"/>
    <p:sldId id="310" r:id="rId83"/>
    <p:sldId id="311" r:id="rId84"/>
    <p:sldId id="312" r:id="rId85"/>
    <p:sldId id="313" r:id="rId86"/>
    <p:sldId id="314" r:id="rId87"/>
    <p:sldId id="315" r:id="rId88"/>
    <p:sldId id="299" r:id="rId89"/>
    <p:sldId id="316" r:id="rId90"/>
    <p:sldId id="317" r:id="rId91"/>
    <p:sldId id="318" r:id="rId92"/>
    <p:sldId id="319" r:id="rId93"/>
    <p:sldId id="320" r:id="rId94"/>
    <p:sldId id="337" r:id="rId95"/>
    <p:sldId id="321" r:id="rId96"/>
    <p:sldId id="322" r:id="rId97"/>
    <p:sldId id="323" r:id="rId98"/>
    <p:sldId id="324" r:id="rId99"/>
    <p:sldId id="326" r:id="rId100"/>
    <p:sldId id="325" r:id="rId101"/>
    <p:sldId id="341" r:id="rId10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 /><Relationship Id="rId21" Type="http://schemas.openxmlformats.org/officeDocument/2006/relationships/slide" Target="slides/slide20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84" Type="http://schemas.openxmlformats.org/officeDocument/2006/relationships/slide" Target="slides/slide83.xml" /><Relationship Id="rId89" Type="http://schemas.openxmlformats.org/officeDocument/2006/relationships/slide" Target="slides/slide88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92" Type="http://schemas.openxmlformats.org/officeDocument/2006/relationships/slide" Target="slides/slide9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07" Type="http://schemas.openxmlformats.org/officeDocument/2006/relationships/tableStyles" Target="tableStyles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slide" Target="slides/slide78.xml" /><Relationship Id="rId87" Type="http://schemas.openxmlformats.org/officeDocument/2006/relationships/slide" Target="slides/slide86.xml" /><Relationship Id="rId102" Type="http://schemas.openxmlformats.org/officeDocument/2006/relationships/slide" Target="slides/slide101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slide" Target="slides/slide81.xml" /><Relationship Id="rId90" Type="http://schemas.openxmlformats.org/officeDocument/2006/relationships/slide" Target="slides/slide89.xml" /><Relationship Id="rId95" Type="http://schemas.openxmlformats.org/officeDocument/2006/relationships/slide" Target="slides/slide94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slide" Target="slides/slide76.xml" /><Relationship Id="rId100" Type="http://schemas.openxmlformats.org/officeDocument/2006/relationships/slide" Target="slides/slide99.xml" /><Relationship Id="rId105" Type="http://schemas.openxmlformats.org/officeDocument/2006/relationships/viewProps" Target="viewProps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slide" Target="slides/slide79.xml" /><Relationship Id="rId85" Type="http://schemas.openxmlformats.org/officeDocument/2006/relationships/slide" Target="slides/slide84.xml" /><Relationship Id="rId93" Type="http://schemas.openxmlformats.org/officeDocument/2006/relationships/slide" Target="slides/slide92.xml" /><Relationship Id="rId98" Type="http://schemas.openxmlformats.org/officeDocument/2006/relationships/slide" Target="slides/slide97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103" Type="http://schemas.openxmlformats.org/officeDocument/2006/relationships/notesMaster" Target="notesMasters/notesMaster1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slide" Target="slides/slide82.xml" /><Relationship Id="rId88" Type="http://schemas.openxmlformats.org/officeDocument/2006/relationships/slide" Target="slides/slide87.xml" /><Relationship Id="rId91" Type="http://schemas.openxmlformats.org/officeDocument/2006/relationships/slide" Target="slides/slide90.xml" /><Relationship Id="rId96" Type="http://schemas.openxmlformats.org/officeDocument/2006/relationships/slide" Target="slides/slide95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6" Type="http://schemas.openxmlformats.org/officeDocument/2006/relationships/theme" Target="theme/theme1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slide" Target="slides/slide80.xml" /><Relationship Id="rId86" Type="http://schemas.openxmlformats.org/officeDocument/2006/relationships/slide" Target="slides/slide85.xml" /><Relationship Id="rId94" Type="http://schemas.openxmlformats.org/officeDocument/2006/relationships/slide" Target="slides/slide93.xml" /><Relationship Id="rId99" Type="http://schemas.openxmlformats.org/officeDocument/2006/relationships/slide" Target="slides/slide98.xml" /><Relationship Id="rId101" Type="http://schemas.openxmlformats.org/officeDocument/2006/relationships/slide" Target="slides/slide10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9" Type="http://schemas.openxmlformats.org/officeDocument/2006/relationships/slide" Target="slides/slide38.xml" /><Relationship Id="rId34" Type="http://schemas.openxmlformats.org/officeDocument/2006/relationships/slide" Target="slides/slide33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76" Type="http://schemas.openxmlformats.org/officeDocument/2006/relationships/slide" Target="slides/slide75.xml" /><Relationship Id="rId97" Type="http://schemas.openxmlformats.org/officeDocument/2006/relationships/slide" Target="slides/slide96.xml" /><Relationship Id="rId10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72B03-537F-4AD1-933A-269E58C109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58753-73B6-4CF1-A6E1-90073968FD7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B1371DD-6B38-4B8C-B57E-DF702A05ED9D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C93791-8884-41A0-A01B-383BBD014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AFC6A7B-6E80-4F75-B2E7-3D744B24B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4BF39-5CD6-4C11-8D1F-19F8B3B1EE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BBF88-3FAD-4EFB-86D5-30F24A1E0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anose="020F0502020204030204" pitchFamily="34" charset="0"/>
              </a:defRPr>
            </a:lvl1pPr>
          </a:lstStyle>
          <a:p>
            <a:fld id="{C06CBFED-FE86-43D8-AA3F-99A7D1B068BB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D438D-22EA-4C05-BBD7-50BC24864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D0E22-DECF-4E25-BCBF-50D2A21E7B2C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E0793-AFDF-47C9-AD00-9BC5D69E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3247C-EA00-4810-BF15-1BF10BEF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0E03A-DE8A-4A23-A6AA-6F827706D5F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752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61B32-023A-4E0B-B463-C7B324F8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53E0E-2236-4554-B2C8-25511A09034B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1C9E8-DDBB-40ED-9807-A2C02FDD9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D849D-DA4F-4BC4-B589-C0A244F1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81357-C9D9-40E9-A5D1-B4409049BA2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1386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FFEFD-3A9A-42D9-BDF4-EC2D3F53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CA4E2-02D1-48F2-A5AE-C88E871AA5DC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FCA36-00ED-4689-92F1-D38F38C4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95044-3BCC-4EB2-AF4E-8ECFBB2D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A44BA0-9FC0-4521-8D4C-288670337DB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28351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3B2F1D-58F5-4821-A063-E9942D7D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7B700-7557-47A1-92E7-3F53E0F7A67B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0F23E7-57F6-4DD9-BEBB-133BF950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CFE6FE-A482-40A0-A4C3-6187D85C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A0B114-2824-46CB-B7E9-D4D7AF825A9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368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70F7647-C012-46CB-B020-097441AC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97377-94EE-4A01-98F7-DF11FECA157F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D1B2499-15EA-45C9-84B5-99CEB549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DEDE30D-A39B-42AB-BA51-8146D7EF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3F6370-4882-4E76-8868-80C59DAAA14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962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A2F0252-6523-4BBF-89BE-2D1766DCD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17DC91-A980-4937-A0AA-26C13F5594B6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824955-EF03-4699-8D75-BDE66A36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B46F12-CA1A-4184-817B-23BA8C79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FF1F58-32F2-41D5-9F0A-E138F0075FC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2825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C55BE00-E22B-462D-8C5D-1CFD0668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32F71-5330-4603-AD5F-E81C5B180988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484981-1BED-4D83-AE07-752E998D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268AE3-11C5-4043-8D30-8137148F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B84269-DCD7-4F80-B165-37E4F867BA4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619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2527C0-3F98-443F-B01E-B001D41D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33667-02C6-498A-9FFB-910486C630F5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8F5F47-0356-478B-9C0F-A8DE21B4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32231D-5FC3-4039-9ECD-2F856509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9DA18-9EDC-48F4-BB50-AEB45A54F8D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505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1C2A4C3-E103-4ABE-9A41-C1AF4FBB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85144-8A3D-47B5-B370-335107D6BFB7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7501B5-C2A4-41C1-8813-1A053406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230ED9-E405-4504-8689-BEA406D6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0D773C-EB19-4030-86BE-2BFD7E3A38F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829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F4312-5597-444F-B030-D6941936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D0207-F962-4E17-89ED-5E1F68A70776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5946B-663C-4146-9ADA-7E1CA200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DE504-AC8E-4133-BD71-6DBD7F9E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8426B-9F8C-4907-BE0B-9E0C23B429A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7292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5D2AD-04D0-465E-BE4D-9764544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379CE-EB18-4A3A-B34C-92CB2328935D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2477A-AE91-452B-B8E2-0F10C966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F91B2-97DB-4391-8EBF-B97CC4ED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48128-3F9B-406D-ACD5-1DA3BFF7C5F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0027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92C34CB-2375-496C-8220-752C369604A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8488F30-BEA6-4EE8-83A0-54EF354878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E63DC-A120-41D3-BB84-66D6B8C6C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5BAB00A-7AA6-4674-A6DB-BA02B2D1FB14}" type="datetimeFigureOut">
              <a:rPr lang="en-GB"/>
              <a:pPr>
                <a:defRPr/>
              </a:pPr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1DFAE-4FEE-4702-9E1C-E7B5D8E05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C0905-5AAB-4BB0-84AB-4FD1D1A1E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73C8CAE-3C40-4405-AEC2-E1413CA2B8F6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52B710CA-9B39-40E6-98BE-2A8F4B33D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DEVELOPMENT STUDIES</a:t>
            </a:r>
          </a:p>
        </p:txBody>
      </p:sp>
      <p:sp>
        <p:nvSpPr>
          <p:cNvPr id="2051" name="Subtitle 2">
            <a:extLst>
              <a:ext uri="{FF2B5EF4-FFF2-40B4-BE49-F238E27FC236}">
                <a16:creationId xmlns:a16="http://schemas.microsoft.com/office/drawing/2014/main" id="{BA0EE4AC-B0FC-4066-B858-806D1BD8A3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solidFill>
                  <a:schemeClr val="tx1"/>
                </a:solidFill>
              </a:rPr>
              <a:t>Natural Resources Management and Development</a:t>
            </a:r>
          </a:p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BY Dr LAZARO KAGATA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6C875BF-D68B-4991-93CA-B4BD2B76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Expected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B3E4D-9DED-48A9-9BAE-44F81574C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 Understand and apply key concepts of natural resources management and associated concepts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Understand and apply different natural resources management regimes and their relevance to development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Critically examine development challenges and the role of natural resources management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Understand key concepts of Global Environmental/Climate change and policy responses</a:t>
            </a:r>
          </a:p>
          <a:p>
            <a:pPr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822510B0-CB07-4B12-AAE7-E5D4E16F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7E9E0071-4B28-465D-8FF6-EA27C6A5D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en-GB" altLang="en-US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>
                <a:latin typeface="Aharoni" panose="02010803020104030203" pitchFamily="2" charset="-79"/>
                <a:cs typeface="Aharoni" panose="02010803020104030203" pitchFamily="2" charset="-79"/>
              </a:rPr>
              <a:t>KEY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29515EFA-B3F2-486B-AE13-FB773E0FA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Key concepts and theories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C284A-586B-481B-A215-D63A3F1CC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The meaning of natural resources has kept changing over the years.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The nature of the change has been characterised by divergences in disciplinary conceptualizations of the meaning of resources.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Schools of thought such as ecology, sociology and environmental science define natural resources from disciplinary perspectives.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352D-AD69-4F08-96F4-BBF8BCEB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rgbClr val="FF0000"/>
                </a:solidFill>
              </a:rPr>
              <a:t>Sociology and Economic perspectives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DE25BD8D-C250-4405-80B8-789698B18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For example, sociology and economics view natural resources from a humanistic and purely economic sense, respectively.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 Such definitions consider natural resources as </a:t>
            </a:r>
            <a:r>
              <a:rPr lang="en-GB" altLang="en-US" b="1"/>
              <a:t>material sources of wealth </a:t>
            </a:r>
            <a:r>
              <a:rPr lang="en-GB" altLang="en-US"/>
              <a:t>such as timber, mineral deposits, or water that </a:t>
            </a:r>
            <a:r>
              <a:rPr lang="en-GB" altLang="en-US" b="1"/>
              <a:t>occur in a natural state</a:t>
            </a:r>
            <a:r>
              <a:rPr lang="en-GB" altLang="en-US"/>
              <a:t>.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1142-AC51-46A9-99B1-16BF08F4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rgbClr val="FF0000"/>
                </a:solidFill>
              </a:rPr>
              <a:t>Sociology and Economic perspectives....cont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7ED18-CF30-43E5-919E-E9AB2F540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Such materialistic definitions also embrace an economic perspective.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Economic perspectives of natural resources consider the </a:t>
            </a:r>
            <a:r>
              <a:rPr lang="en-GB" b="1" dirty="0"/>
              <a:t>commercial value of natural </a:t>
            </a:r>
            <a:r>
              <a:rPr lang="en-GB" dirty="0"/>
              <a:t>resources and the industries that they support.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 In this sense, economic theory considers that </a:t>
            </a:r>
            <a:r>
              <a:rPr lang="en-GB" b="1" dirty="0"/>
              <a:t>private ownership of natural resources </a:t>
            </a:r>
            <a:r>
              <a:rPr lang="en-GB" dirty="0"/>
              <a:t>tends to produce efficient consumption because the profit motive imposes realistic pricing.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71DF535-ABC6-4889-A085-BE26A21D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Ecosystems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652FD-C14F-4465-86F5-1B0B74B9F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Ecosystem concepts consider natural resources as complex sources of interrelated elements existing in a state of ecological balance which must be sustained for life;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Thus, ecosystem theory (Chapin </a:t>
            </a:r>
            <a:r>
              <a:rPr lang="en-US" i="1" dirty="0"/>
              <a:t>et al., 2009), considers the </a:t>
            </a:r>
            <a:r>
              <a:rPr lang="en-US" b="1" i="1" dirty="0">
                <a:solidFill>
                  <a:srgbClr val="FF0000"/>
                </a:solidFill>
              </a:rPr>
              <a:t>tangible and intangible </a:t>
            </a:r>
            <a:r>
              <a:rPr lang="en-US" dirty="0"/>
              <a:t>values of </a:t>
            </a:r>
            <a:r>
              <a:rPr lang="en-US" b="1" dirty="0">
                <a:solidFill>
                  <a:srgbClr val="3A3AF0"/>
                </a:solidFill>
              </a:rPr>
              <a:t>natural systems </a:t>
            </a:r>
            <a:r>
              <a:rPr lang="en-US" dirty="0"/>
              <a:t>that produce </a:t>
            </a:r>
            <a:r>
              <a:rPr lang="en-US" b="1" dirty="0">
                <a:solidFill>
                  <a:srgbClr val="3A3AF0"/>
                </a:solidFill>
              </a:rPr>
              <a:t>natural resources </a:t>
            </a:r>
            <a:r>
              <a:rPr lang="en-US" dirty="0"/>
              <a:t>from the point of view of </a:t>
            </a:r>
            <a:r>
              <a:rPr lang="en-US" b="1" dirty="0">
                <a:solidFill>
                  <a:srgbClr val="3A3AF0"/>
                </a:solidFill>
              </a:rPr>
              <a:t>sustenance of life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98A14E39-7B7D-499D-AF76-FD2C0E11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solidFill>
                  <a:srgbClr val="0070C0"/>
                </a:solidFill>
              </a:rPr>
              <a:t>Natural Resources defined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2A0667C-716A-40FC-8A3D-0494C3C0B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700"/>
              <a:t>Therefore, we can define natural resources from materialistic and ecosystem perspectives as follows:</a:t>
            </a:r>
          </a:p>
          <a:p>
            <a:pPr eaLnBrk="1" hangingPunct="1">
              <a:lnSpc>
                <a:spcPct val="80000"/>
              </a:lnSpc>
            </a:pPr>
            <a:endParaRPr lang="en-GB" altLang="en-US" sz="2700"/>
          </a:p>
          <a:p>
            <a:pPr eaLnBrk="1" hangingPunct="1">
              <a:lnSpc>
                <a:spcPct val="80000"/>
              </a:lnSpc>
            </a:pPr>
            <a:r>
              <a:rPr lang="en-GB" altLang="en-US" sz="2700" b="1"/>
              <a:t>Material perspective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i="1"/>
              <a:t>Natural resource is any material from nature that has </a:t>
            </a:r>
            <a:r>
              <a:rPr lang="en-GB" altLang="en-US" sz="2400" b="1" i="1"/>
              <a:t>potential economic and ecological value to life</a:t>
            </a:r>
            <a:r>
              <a:rPr lang="en-GB" altLang="en-US" sz="2400" i="1"/>
              <a:t> such as water, natural tree products, minerals and vital gases. </a:t>
            </a:r>
          </a:p>
          <a:p>
            <a:pPr eaLnBrk="1" hangingPunct="1">
              <a:lnSpc>
                <a:spcPct val="80000"/>
              </a:lnSpc>
            </a:pPr>
            <a:endParaRPr lang="en-GB" altLang="en-US" sz="2700" i="1"/>
          </a:p>
          <a:p>
            <a:pPr eaLnBrk="1" hangingPunct="1">
              <a:lnSpc>
                <a:spcPct val="80000"/>
              </a:lnSpc>
            </a:pPr>
            <a:r>
              <a:rPr lang="en-GB" altLang="en-US" sz="2700" b="1"/>
              <a:t>From ecosystem theory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i="1"/>
              <a:t>a natural resource is a material occurring in nature that has actual or potential value to a natural system that supports living organisms</a:t>
            </a:r>
            <a:endParaRPr lang="en-GB" altLang="en-US" sz="2400"/>
          </a:p>
          <a:p>
            <a:pPr eaLnBrk="1" hangingPunct="1">
              <a:lnSpc>
                <a:spcPct val="80000"/>
              </a:lnSpc>
            </a:pPr>
            <a:endParaRPr lang="en-GB" altLang="en-US" sz="2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E7FDDF32-4575-4A11-AC7A-39DFBA68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Management Implications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E4DD93B-CE89-4FD9-BB99-68BFE50FF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38"/>
          </a:xfrm>
        </p:spPr>
        <p:txBody>
          <a:bodyPr/>
          <a:lstStyle/>
          <a:p>
            <a:pPr algn="just" eaLnBrk="1" hangingPunct="1"/>
            <a:r>
              <a:rPr lang="en-US" altLang="en-US"/>
              <a:t>Management of natural resources embraces the </a:t>
            </a:r>
            <a:r>
              <a:rPr lang="en-US" altLang="en-US" b="1">
                <a:solidFill>
                  <a:srgbClr val="FF0000"/>
                </a:solidFill>
              </a:rPr>
              <a:t>ecosystem theory which considers </a:t>
            </a:r>
            <a:r>
              <a:rPr lang="en-US" altLang="en-US" b="1">
                <a:solidFill>
                  <a:srgbClr val="3A3AF0"/>
                </a:solidFill>
              </a:rPr>
              <a:t>tangible and non-tangible resource </a:t>
            </a:r>
            <a:r>
              <a:rPr lang="en-US" altLang="en-US" b="1">
                <a:solidFill>
                  <a:srgbClr val="FF0000"/>
                </a:solidFill>
              </a:rPr>
              <a:t>values </a:t>
            </a:r>
            <a:r>
              <a:rPr lang="en-US" altLang="en-US"/>
              <a:t>from an </a:t>
            </a:r>
            <a:r>
              <a:rPr lang="en-US" altLang="en-US" b="1">
                <a:solidFill>
                  <a:srgbClr val="00B050"/>
                </a:solidFill>
              </a:rPr>
              <a:t>integrated and holistic perspective</a:t>
            </a:r>
          </a:p>
          <a:p>
            <a:pPr algn="just" eaLnBrk="1" hangingPunct="1"/>
            <a:endParaRPr lang="en-US" altLang="en-US"/>
          </a:p>
          <a:p>
            <a:pPr eaLnBrk="1" hangingPunct="1"/>
            <a:r>
              <a:rPr lang="en-US" altLang="en-US"/>
              <a:t>Thus, management of NR is an art and science and involves </a:t>
            </a:r>
            <a:r>
              <a:rPr lang="en-US" altLang="en-US" b="1">
                <a:solidFill>
                  <a:srgbClr val="00B050"/>
                </a:solidFill>
              </a:rPr>
              <a:t>utilitarian</a:t>
            </a:r>
            <a:r>
              <a:rPr lang="en-US" altLang="en-US"/>
              <a:t> considerations.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9EE3EC3A-0729-43A7-8F18-106FED4C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Management Implications…cont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03CB8A6-30D9-4EAC-B7A0-03AEB89DB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These considerations invoke application of:</a:t>
            </a:r>
          </a:p>
          <a:p>
            <a:pPr eaLnBrk="1" hangingPunct="1"/>
            <a:endParaRPr lang="en-US" altLang="en-US"/>
          </a:p>
          <a:p>
            <a:pPr lvl="1" algn="just" eaLnBrk="1" hangingPunct="1"/>
            <a:r>
              <a:rPr lang="en-US" altLang="en-US"/>
              <a:t> sociological domains of knowledge in the management of natural resources. </a:t>
            </a:r>
          </a:p>
          <a:p>
            <a:pPr lvl="1" algn="just" eaLnBrk="1" hangingPunct="1"/>
            <a:endParaRPr lang="en-US" altLang="en-US"/>
          </a:p>
          <a:p>
            <a:pPr lvl="1" algn="just" eaLnBrk="1" hangingPunct="1"/>
            <a:r>
              <a:rPr lang="en-US" altLang="en-US"/>
              <a:t>Social-cultural perspectives that influence resource use </a:t>
            </a:r>
            <a:r>
              <a:rPr lang="en-US" altLang="en-US" b="1">
                <a:solidFill>
                  <a:srgbClr val="3A3AF0"/>
                </a:solidFill>
              </a:rPr>
              <a:t>anchored in the value systems of society.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1214ECD-76EB-49E5-A671-5A191CC1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ecosystem?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18D9D-017B-40D6-80A2-CEA5DB7A8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38"/>
          </a:xfrm>
        </p:spPr>
        <p:txBody>
          <a:bodyPr rtlCol="0">
            <a:normAutofit fontScale="925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Ecological systems are assemblages of biotic (living) organisms in association with their </a:t>
            </a:r>
            <a:r>
              <a:rPr lang="en-US" dirty="0" err="1"/>
              <a:t>abiotic</a:t>
            </a:r>
            <a:r>
              <a:rPr lang="en-US" dirty="0"/>
              <a:t> or physical and chemical environment.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Thus, an ecosystem consists of: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A3AF0"/>
                </a:solidFill>
              </a:rPr>
              <a:t>Organisms</a:t>
            </a:r>
            <a:r>
              <a:rPr lang="en-US" dirty="0"/>
              <a:t> (plants, microbes, and animals—including people); and 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A3AF0"/>
                </a:solidFill>
              </a:rPr>
              <a:t>Physical components </a:t>
            </a:r>
            <a:r>
              <a:rPr lang="en-US" dirty="0"/>
              <a:t>(atmosphere, soil, water, etc.) with which they interact.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93C52F9-D8D5-4726-8605-B3C6D448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3A3AF0"/>
                </a:solidFill>
              </a:rPr>
              <a:t>What is ecosystem?...cont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CF6AB90A-269B-4A7B-A1A8-11DF37214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All ecosystems are influenced, to a given degree, by social processes (that is are social-ecological systems)</a:t>
            </a:r>
          </a:p>
          <a:p>
            <a:pPr algn="just" eaLnBrk="1" hangingPunct="1"/>
            <a:endParaRPr lang="en-US" altLang="en-US"/>
          </a:p>
          <a:p>
            <a:pPr algn="just" eaLnBrk="1" hangingPunct="1"/>
            <a:endParaRPr lang="en-US" altLang="en-US"/>
          </a:p>
          <a:p>
            <a:pPr algn="just" eaLnBrk="1" hangingPunct="1"/>
            <a:r>
              <a:rPr lang="en-US" altLang="en-US"/>
              <a:t>Thus, humankind is at the centre (</a:t>
            </a:r>
            <a:r>
              <a:rPr lang="en-US" altLang="en-US" b="1">
                <a:solidFill>
                  <a:srgbClr val="3A3AF0"/>
                </a:solidFill>
              </a:rPr>
              <a:t>in reality or potentially</a:t>
            </a:r>
            <a:r>
              <a:rPr lang="en-US" altLang="en-US"/>
              <a:t>) of all ecosystems</a:t>
            </a:r>
          </a:p>
          <a:p>
            <a:pPr algn="just" eaLnBrk="1" hangingPunct="1"/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D3B7317-ABD4-4FE1-8896-433E4C82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Ecosystem structure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1C5227AB-3578-4BAB-A6B8-DA185F71A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1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b="1" i="1"/>
              <a:t>Ecosystem structure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/>
              <a:t>Ecosystem characteristics are best described in relation to their structural and functional attributes i.e. structure and function.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b="1" i="1">
                <a:solidFill>
                  <a:srgbClr val="3A3AF0"/>
                </a:solidFill>
              </a:rPr>
              <a:t>Ecosystem structure </a:t>
            </a:r>
            <a:r>
              <a:rPr lang="en-US" altLang="en-US" i="1"/>
              <a:t>is about the components of ecosystem and their spatial relationships.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b="1" i="1">
                <a:solidFill>
                  <a:srgbClr val="3A3AF0"/>
                </a:solidFill>
              </a:rPr>
              <a:t>Ecosystem function </a:t>
            </a:r>
            <a:r>
              <a:rPr lang="en-US" altLang="en-US" i="1"/>
              <a:t>is the flux of biomass, nutrients and energy throughout the ecosystem.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A68A587-ACB6-4B8E-94D2-3E3A501A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Ecosystem structure….cont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7034387-5E25-4DC4-9D9A-59C3DA81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  <a:p>
            <a:pPr algn="just" eaLnBrk="1" hangingPunct="1"/>
            <a:r>
              <a:rPr lang="en-US" altLang="en-US"/>
              <a:t>The magnitude of energy fluxes and intensity of material resource transformations define the dynamics and integrity of  a given ecosystem and natural resource systems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0ED4CA2-5F52-4456-AE85-0FA9C518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Ecosystem structure….cont</a:t>
            </a: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08FD6C20-AD57-4756-8E98-A0ECE7478A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500188"/>
            <a:ext cx="6429375" cy="4071937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E8D25B-80D1-48CE-AA45-595A51213137}"/>
              </a:ext>
            </a:extLst>
          </p:cNvPr>
          <p:cNvSpPr/>
          <p:nvPr/>
        </p:nvSpPr>
        <p:spPr>
          <a:xfrm>
            <a:off x="500063" y="5572125"/>
            <a:ext cx="8286750" cy="9286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3A3AF0"/>
                </a:solidFill>
              </a:rPr>
              <a:t>The magnitude of energy fluxes and intensity of material resource transformations define the dynamics and integrity of natural resource systems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A2D6EE9-52B4-4473-BC88-8873EC53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Ecosystem goods and services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87D46047-BAEA-40B7-B39E-085821F9B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3000"/>
              <a:t>Ecosystems are the basis for social and economic development. 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3000"/>
          </a:p>
          <a:p>
            <a:pPr algn="just" eaLnBrk="1" hangingPunct="1">
              <a:lnSpc>
                <a:spcPct val="90000"/>
              </a:lnSpc>
            </a:pPr>
            <a:r>
              <a:rPr lang="en-US" altLang="en-US" sz="3000"/>
              <a:t>Human well-being and development depend on: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600" b="1">
                <a:solidFill>
                  <a:srgbClr val="3A3AF0"/>
                </a:solidFill>
              </a:rPr>
              <a:t>Ecosystem goods </a:t>
            </a:r>
            <a:r>
              <a:rPr lang="en-US" altLang="en-US" sz="2600"/>
              <a:t>such as food, timber and medicines; 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3000"/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600" b="1">
                <a:solidFill>
                  <a:srgbClr val="3A3AF0"/>
                </a:solidFill>
              </a:rPr>
              <a:t>Ecosystem services </a:t>
            </a:r>
            <a:r>
              <a:rPr lang="en-US" altLang="en-US" sz="2600"/>
              <a:t>such as water and air purification, carbon storage, pollination, soil formation, and the provision of aesthetic and cultural benefits. 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E2494BE-6266-4964-8C40-1319EE75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Ecosystems Mgt Challenges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8085164E-EFE4-49BF-8982-F74370EAB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The challenge is to </a:t>
            </a:r>
            <a:r>
              <a:rPr lang="en-US" altLang="en-US">
                <a:solidFill>
                  <a:srgbClr val="3A3AF0"/>
                </a:solidFill>
              </a:rPr>
              <a:t>sustain the resilience of ecosystems;</a:t>
            </a:r>
          </a:p>
          <a:p>
            <a:pPr algn="just" eaLnBrk="1" hangingPunct="1"/>
            <a:endParaRPr lang="en-US" altLang="en-US">
              <a:solidFill>
                <a:srgbClr val="3A3AF0"/>
              </a:solidFill>
            </a:endParaRPr>
          </a:p>
          <a:p>
            <a:pPr algn="just" eaLnBrk="1" hangingPunct="1"/>
            <a:r>
              <a:rPr lang="en-US" altLang="en-US"/>
              <a:t>their capacity to </a:t>
            </a:r>
            <a:r>
              <a:rPr lang="en-US" altLang="en-US">
                <a:solidFill>
                  <a:srgbClr val="3A3AF0"/>
                </a:solidFill>
              </a:rPr>
              <a:t>cope with disturbances</a:t>
            </a:r>
            <a:r>
              <a:rPr lang="en-US" altLang="en-US"/>
              <a:t>; and</a:t>
            </a:r>
          </a:p>
          <a:p>
            <a:pPr algn="just" eaLnBrk="1" hangingPunct="1"/>
            <a:endParaRPr lang="en-US" altLang="en-US"/>
          </a:p>
          <a:p>
            <a:pPr algn="just" eaLnBrk="1" hangingPunct="1"/>
            <a:r>
              <a:rPr lang="en-US" altLang="en-US"/>
              <a:t>maintain an adequate </a:t>
            </a:r>
            <a:r>
              <a:rPr lang="en-US" altLang="en-US">
                <a:solidFill>
                  <a:srgbClr val="3A3AF0"/>
                </a:solidFill>
              </a:rPr>
              <a:t>supply of goods and services</a:t>
            </a:r>
          </a:p>
          <a:p>
            <a:pPr algn="just" eaLnBrk="1" hangingPunct="1"/>
            <a:endParaRPr lang="en-US" altLang="en-US">
              <a:solidFill>
                <a:srgbClr val="3A3AF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AD09-6893-45A3-A323-12709A31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rgbClr val="3A3AF0"/>
                </a:solidFill>
              </a:rPr>
              <a:t>R’ship</a:t>
            </a:r>
            <a:r>
              <a:rPr lang="en-US" dirty="0">
                <a:solidFill>
                  <a:srgbClr val="3A3AF0"/>
                </a:solidFill>
              </a:rPr>
              <a:t> </a:t>
            </a:r>
            <a:r>
              <a:rPr lang="en-US" dirty="0" err="1">
                <a:solidFill>
                  <a:srgbClr val="3A3AF0"/>
                </a:solidFill>
              </a:rPr>
              <a:t>btn</a:t>
            </a:r>
            <a:r>
              <a:rPr lang="en-US" dirty="0">
                <a:solidFill>
                  <a:srgbClr val="3A3AF0"/>
                </a:solidFill>
              </a:rPr>
              <a:t> ecosystem services and well-being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351816-066B-46DC-963B-52A681285DA7}"/>
              </a:ext>
            </a:extLst>
          </p:cNvPr>
          <p:cNvSpPr/>
          <p:nvPr/>
        </p:nvSpPr>
        <p:spPr>
          <a:xfrm>
            <a:off x="6643688" y="4714875"/>
            <a:ext cx="1500187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Freedom and choice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39ED60-61D9-466C-8248-EC2941583167}"/>
              </a:ext>
            </a:extLst>
          </p:cNvPr>
          <p:cNvSpPr/>
          <p:nvPr/>
        </p:nvSpPr>
        <p:spPr>
          <a:xfrm>
            <a:off x="3143250" y="1785938"/>
            <a:ext cx="2214563" cy="12144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Regulating services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Climate regulation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Water quality and quantity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Disease control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8ACE38-8BA1-4261-81FD-615D4A4CF63A}"/>
              </a:ext>
            </a:extLst>
          </p:cNvPr>
          <p:cNvSpPr/>
          <p:nvPr/>
        </p:nvSpPr>
        <p:spPr>
          <a:xfrm>
            <a:off x="6572250" y="3357563"/>
            <a:ext cx="1571625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Human well-being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9C8F03-8541-4352-960A-1DE4CA55F72A}"/>
              </a:ext>
            </a:extLst>
          </p:cNvPr>
          <p:cNvSpPr/>
          <p:nvPr/>
        </p:nvSpPr>
        <p:spPr>
          <a:xfrm>
            <a:off x="3286125" y="3286125"/>
            <a:ext cx="2214563" cy="8572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Provisioning services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Food, water, fuelwood, fiber, </a:t>
            </a:r>
            <a:r>
              <a:rPr lang="en-US" sz="1400" dirty="0" err="1">
                <a:solidFill>
                  <a:schemeClr val="tx1"/>
                </a:solidFill>
              </a:rPr>
              <a:t>biochemicals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CF98123-93DE-4E02-863A-66FEE0954FDF}"/>
              </a:ext>
            </a:extLst>
          </p:cNvPr>
          <p:cNvSpPr/>
          <p:nvPr/>
        </p:nvSpPr>
        <p:spPr>
          <a:xfrm>
            <a:off x="3286125" y="4643438"/>
            <a:ext cx="2286000" cy="10001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Cultural  services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Cultural identity, recreation, tourism and spiritual benefits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4F5653-8586-48A6-821F-B141CFA926C2}"/>
              </a:ext>
            </a:extLst>
          </p:cNvPr>
          <p:cNvSpPr/>
          <p:nvPr/>
        </p:nvSpPr>
        <p:spPr>
          <a:xfrm>
            <a:off x="714375" y="3214688"/>
            <a:ext cx="2214563" cy="12144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Supporting services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Ecosystem processes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Diversity maintenance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606193-2F7D-4AA3-912B-3A518517A410}"/>
              </a:ext>
            </a:extLst>
          </p:cNvPr>
          <p:cNvSpPr/>
          <p:nvPr/>
        </p:nvSpPr>
        <p:spPr>
          <a:xfrm>
            <a:off x="6215063" y="1571625"/>
            <a:ext cx="2428875" cy="714375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Well-being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E8979D0-0C84-44E1-92E7-ADED7F2D4B7D}"/>
              </a:ext>
            </a:extLst>
          </p:cNvPr>
          <p:cNvSpPr/>
          <p:nvPr/>
        </p:nvSpPr>
        <p:spPr>
          <a:xfrm>
            <a:off x="428625" y="1643063"/>
            <a:ext cx="2428875" cy="714375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Ecosystem services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37F9D9-1477-447A-9CDA-9E0A5EBBE4E2}"/>
              </a:ext>
            </a:extLst>
          </p:cNvPr>
          <p:cNvCxnSpPr/>
          <p:nvPr/>
        </p:nvCxnSpPr>
        <p:spPr>
          <a:xfrm rot="5400000" flipH="1" flipV="1">
            <a:off x="2786063" y="2857500"/>
            <a:ext cx="357188" cy="3571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3F4213-7968-48C8-9777-A79FC1CA636C}"/>
              </a:ext>
            </a:extLst>
          </p:cNvPr>
          <p:cNvCxnSpPr/>
          <p:nvPr/>
        </p:nvCxnSpPr>
        <p:spPr>
          <a:xfrm>
            <a:off x="5357813" y="2500313"/>
            <a:ext cx="1285875" cy="9286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B9083B-5A08-414C-ADC5-FB41F112C570}"/>
              </a:ext>
            </a:extLst>
          </p:cNvPr>
          <p:cNvCxnSpPr/>
          <p:nvPr/>
        </p:nvCxnSpPr>
        <p:spPr>
          <a:xfrm>
            <a:off x="5500688" y="3714750"/>
            <a:ext cx="1071562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4D54490-5812-42F4-9A08-CCC78F95C1AA}"/>
              </a:ext>
            </a:extLst>
          </p:cNvPr>
          <p:cNvCxnSpPr/>
          <p:nvPr/>
        </p:nvCxnSpPr>
        <p:spPr>
          <a:xfrm flipV="1">
            <a:off x="5572125" y="4214813"/>
            <a:ext cx="1071563" cy="6429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564A14-D660-4410-A0F7-4EC376B21F81}"/>
              </a:ext>
            </a:extLst>
          </p:cNvPr>
          <p:cNvCxnSpPr/>
          <p:nvPr/>
        </p:nvCxnSpPr>
        <p:spPr>
          <a:xfrm rot="5400000">
            <a:off x="4072731" y="4428332"/>
            <a:ext cx="428625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006FDC2-9E2B-4DD5-8FF9-905AA226DB40}"/>
              </a:ext>
            </a:extLst>
          </p:cNvPr>
          <p:cNvCxnSpPr/>
          <p:nvPr/>
        </p:nvCxnSpPr>
        <p:spPr>
          <a:xfrm rot="5400000">
            <a:off x="4144169" y="3142456"/>
            <a:ext cx="2857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08451BC-FB24-4708-BF18-AF40D5F6614A}"/>
              </a:ext>
            </a:extLst>
          </p:cNvPr>
          <p:cNvCxnSpPr/>
          <p:nvPr/>
        </p:nvCxnSpPr>
        <p:spPr>
          <a:xfrm>
            <a:off x="2928938" y="3786188"/>
            <a:ext cx="35560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640DD1C-B880-44EC-8BD2-0192B88F7513}"/>
              </a:ext>
            </a:extLst>
          </p:cNvPr>
          <p:cNvCxnSpPr/>
          <p:nvPr/>
        </p:nvCxnSpPr>
        <p:spPr>
          <a:xfrm>
            <a:off x="2859088" y="4357688"/>
            <a:ext cx="427037" cy="3571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C5BB8DC-BD2A-466E-84D6-503CF65F568F}"/>
              </a:ext>
            </a:extLst>
          </p:cNvPr>
          <p:cNvCxnSpPr/>
          <p:nvPr/>
        </p:nvCxnSpPr>
        <p:spPr>
          <a:xfrm rot="5400000">
            <a:off x="7073106" y="4499769"/>
            <a:ext cx="428625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2797AF-A901-4B7E-9BC9-F12DFF73CD83}"/>
              </a:ext>
            </a:extLst>
          </p:cNvPr>
          <p:cNvCxnSpPr/>
          <p:nvPr/>
        </p:nvCxnSpPr>
        <p:spPr>
          <a:xfrm rot="5400000" flipH="1" flipV="1">
            <a:off x="1213644" y="5144294"/>
            <a:ext cx="14287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A0133C4-40A0-40DD-A2AE-55E131DC6B5B}"/>
              </a:ext>
            </a:extLst>
          </p:cNvPr>
          <p:cNvCxnSpPr/>
          <p:nvPr/>
        </p:nvCxnSpPr>
        <p:spPr>
          <a:xfrm>
            <a:off x="1928813" y="5857875"/>
            <a:ext cx="5429250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90B94B7-319C-406A-9CE7-3879FEFE8FE7}"/>
              </a:ext>
            </a:extLst>
          </p:cNvPr>
          <p:cNvCxnSpPr/>
          <p:nvPr/>
        </p:nvCxnSpPr>
        <p:spPr>
          <a:xfrm rot="5400000">
            <a:off x="7251701" y="5749925"/>
            <a:ext cx="214312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29629B9-5B7C-4A17-B0D7-64898934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93C8D-F904-4E54-8DA6-FAC9C1C1A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i="1" dirty="0"/>
              <a:t>Therefore, ecosystem services are the benefits people obtain from ecosystems. These include: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i="1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dirty="0"/>
              <a:t>provisioning, regulating, and cultural services, which directly affect people; and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dirty="0"/>
              <a:t>supporting services needed to maintain the other services. </a:t>
            </a:r>
            <a:r>
              <a:rPr lang="en-US" b="1" dirty="0">
                <a:solidFill>
                  <a:srgbClr val="FF0000"/>
                </a:solidFill>
              </a:rPr>
              <a:t>Foundation of other categories  of services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Changes in these services affect human well-being through impacts on security and the overall well-being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C6BD396-FD03-4544-9AAB-2CDAFC80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solidFill>
                  <a:srgbClr val="3A3AF0"/>
                </a:solidFill>
              </a:rPr>
              <a:t>Ecosystems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D909-D695-41F9-9457-FB9B0077E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600200"/>
            <a:ext cx="8715375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Hence we talk of ecosystems management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The goal of ecosystem management is to provide a sustainable flow of </a:t>
            </a:r>
            <a:r>
              <a:rPr lang="en-US" b="1" dirty="0">
                <a:solidFill>
                  <a:srgbClr val="3A3AF0"/>
                </a:solidFill>
              </a:rPr>
              <a:t>multiple ecosystem services </a:t>
            </a:r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society today </a:t>
            </a:r>
            <a:r>
              <a:rPr lang="en-US" dirty="0"/>
              <a:t>and in the future------ </a:t>
            </a:r>
            <a:r>
              <a:rPr lang="en-US" b="1" dirty="0">
                <a:solidFill>
                  <a:srgbClr val="FF0000"/>
                </a:solidFill>
              </a:rPr>
              <a:t>Is this not similar to SD?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9792FB0-2B20-411B-BEC7-CF918E24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3A3AF0"/>
                </a:solidFill>
              </a:rPr>
              <a:t>Ecosystems management…cont</a:t>
            </a:r>
            <a:endParaRPr lang="en-US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D6693C2-847D-4EC8-A7AD-3D52B68C2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Ecosystem management recognizes the integrated nature of:</a:t>
            </a:r>
          </a:p>
          <a:p>
            <a:pPr algn="just" eaLnBrk="1" hangingPunct="1"/>
            <a:endParaRPr lang="en-US" altLang="en-US"/>
          </a:p>
          <a:p>
            <a:pPr lvl="1" algn="just" eaLnBrk="1" hangingPunct="1"/>
            <a:r>
              <a:rPr lang="en-US" altLang="en-US"/>
              <a:t>social–ecological systems;</a:t>
            </a:r>
          </a:p>
          <a:p>
            <a:pPr lvl="1" algn="just" eaLnBrk="1" hangingPunct="1"/>
            <a:r>
              <a:rPr lang="en-US" altLang="en-US"/>
              <a:t>their inherent complexity and dynamics; </a:t>
            </a:r>
          </a:p>
          <a:p>
            <a:pPr lvl="1" algn="just" eaLnBrk="1" hangingPunct="1"/>
            <a:r>
              <a:rPr lang="en-US" altLang="en-US"/>
              <a:t>at multiple temporal and spatial scales; and </a:t>
            </a:r>
          </a:p>
          <a:p>
            <a:pPr lvl="1" algn="just" eaLnBrk="1" hangingPunct="1"/>
            <a:r>
              <a:rPr lang="en-US" altLang="en-US"/>
              <a:t>managing to maintain future options in the face of uncertainty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2056F9D9-5DC3-4847-8FE3-19C55FDF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3A3AF0"/>
                </a:solidFill>
              </a:rPr>
              <a:t>Ecosystems management…cont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32E9-0363-408E-B7FB-A1966CC34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972050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However, there are </a:t>
            </a:r>
            <a:r>
              <a:rPr lang="en-US" i="1" dirty="0"/>
              <a:t>four extreme circumstances of tradeoffs or </a:t>
            </a:r>
            <a:r>
              <a:rPr lang="en-US" dirty="0"/>
              <a:t>complementarities between ecosystem management and human well-being: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514350" indent="-514350" algn="just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Ecosystems may be conserved and the poor made better off;</a:t>
            </a:r>
          </a:p>
          <a:p>
            <a:pPr marL="514350" indent="-514350" algn="just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Ecosystems may be conserved at the expense of the poor who rely on the ecosystem services;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631BB46-1832-4DF0-AAF4-50FAC985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3A3AF0"/>
                </a:solidFill>
              </a:rPr>
              <a:t>Ecosystems management…cont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66FB-5C9F-4492-B5B1-EEA10ECEE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514350" indent="-514350" algn="just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514350" indent="-514350"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3. The poor may be made better off, but at the expense of </a:t>
            </a:r>
            <a:r>
              <a:rPr lang="en-US" b="1" dirty="0">
                <a:solidFill>
                  <a:srgbClr val="3A3AF0"/>
                </a:solidFill>
              </a:rPr>
              <a:t>ecosystem services </a:t>
            </a:r>
            <a:r>
              <a:rPr lang="en-US" dirty="0"/>
              <a:t>that are highly valued by the larger society; or</a:t>
            </a:r>
          </a:p>
          <a:p>
            <a:pPr marL="514350" indent="-514350" algn="just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514350" indent="-514350"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4. Ecosystems may continue to degrade at the same time as the </a:t>
            </a:r>
            <a:r>
              <a:rPr lang="en-US" b="1" dirty="0">
                <a:solidFill>
                  <a:srgbClr val="3A3AF0"/>
                </a:solidFill>
              </a:rPr>
              <a:t>rights and well-being </a:t>
            </a:r>
            <a:r>
              <a:rPr lang="en-US" dirty="0"/>
              <a:t>of the poor decline.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F02FDAA-A7FB-400F-97AA-5F832F11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3A3AF0"/>
                </a:solidFill>
              </a:rPr>
              <a:t>Payment of ecosystem services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61A5FA49-97D7-4385-8FD8-CABE3487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600200"/>
            <a:ext cx="8643937" cy="4757738"/>
          </a:xfrm>
        </p:spPr>
        <p:txBody>
          <a:bodyPr/>
          <a:lstStyle/>
          <a:p>
            <a:pPr algn="just" eaLnBrk="1" hangingPunct="1"/>
            <a:r>
              <a:rPr lang="en-US" altLang="en-US"/>
              <a:t>In recent years, there have been efforts to promote mechanisms for Payment for Ecosystem Services (PES) or </a:t>
            </a:r>
          </a:p>
          <a:p>
            <a:pPr algn="just" eaLnBrk="1" hangingPunct="1"/>
            <a:endParaRPr lang="en-US" altLang="en-US"/>
          </a:p>
          <a:p>
            <a:pPr algn="just" eaLnBrk="1" hangingPunct="1"/>
            <a:r>
              <a:rPr lang="en-US" altLang="en-US"/>
              <a:t>Compensation and Rewards for Environmental Services (CRES) for the dual goals of improved ecosystem management and enhanced human well-being.</a:t>
            </a:r>
          </a:p>
          <a:p>
            <a:pPr algn="just" eaLnBrk="1" hangingPunct="1"/>
            <a:endParaRPr lang="en-US" altLang="en-US"/>
          </a:p>
          <a:p>
            <a:pPr algn="just" eaLnBrk="1" hangingPunct="1"/>
            <a:endParaRPr lang="en-US" altLang="en-US" i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90E6-710A-47EC-9344-9A47A17B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A3AF0"/>
                </a:solidFill>
              </a:rPr>
              <a:t>Payment of ecosystem services….cont</a:t>
            </a:r>
            <a:endParaRPr lang="en-US" dirty="0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5CCD6A70-C6F1-4145-94EF-58DBD1609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pPr algn="just" eaLnBrk="1" hangingPunct="1"/>
            <a:endParaRPr lang="en-US" altLang="en-US"/>
          </a:p>
          <a:p>
            <a:pPr algn="just" eaLnBrk="1" hangingPunct="1"/>
            <a:r>
              <a:rPr lang="en-US" altLang="en-US"/>
              <a:t>(PES) is “....a voluntary, conditional transaction where at least one buyer pays at least one seller for maintaining or adopting sustainable land management practices that favour the provision of a well-defined environmental service.</a:t>
            </a:r>
            <a:endParaRPr lang="en-US" altLang="en-US" i="1"/>
          </a:p>
          <a:p>
            <a:pPr algn="just" eaLnBrk="1" hangingPunct="1"/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537A-3F66-4C0E-8D97-483D7068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A3AF0"/>
                </a:solidFill>
              </a:rPr>
              <a:t>Payment of ecosystem services….cont</a:t>
            </a:r>
            <a:endParaRPr lang="en-US" dirty="0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201D7838-1187-4CBF-AC08-D649A632E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600200"/>
            <a:ext cx="8643937" cy="4525963"/>
          </a:xfrm>
        </p:spPr>
        <p:txBody>
          <a:bodyPr/>
          <a:lstStyle/>
          <a:p>
            <a:pPr algn="just" eaLnBrk="1" hangingPunct="1"/>
            <a:endParaRPr lang="en-US" altLang="en-US" i="1"/>
          </a:p>
          <a:p>
            <a:pPr algn="just" eaLnBrk="1" hangingPunct="1"/>
            <a:r>
              <a:rPr lang="en-US" altLang="en-US" i="1"/>
              <a:t>A CRES </a:t>
            </a:r>
            <a:r>
              <a:rPr lang="en-US" altLang="en-US"/>
              <a:t>is mostly viewed as a possible alternative income stream for poor people, that is, a new way to “put money in people’s pockets.” </a:t>
            </a:r>
          </a:p>
          <a:p>
            <a:pPr algn="just" eaLnBrk="1" hangingPunct="1"/>
            <a:endParaRPr lang="en-US" altLang="en-US"/>
          </a:p>
          <a:p>
            <a:pPr algn="just" eaLnBrk="1" hangingPunct="1"/>
            <a:r>
              <a:rPr lang="en-US" altLang="en-US"/>
              <a:t>CRES is also viewed as mechanisms for resolving conflicts over resource access and benefit sharing.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C109FDC8-8F85-4F3C-B48C-6CD3DF42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1FDC3FDC-4E67-4D86-B41C-0D540A479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Natural resources ownerships and rights</a:t>
            </a:r>
          </a:p>
          <a:p>
            <a:pPr lvl="1" eaLnBrk="1" hangingPunct="1"/>
            <a:endParaRPr lang="en-GB" altLang="en-US"/>
          </a:p>
          <a:p>
            <a:pPr lvl="1" eaLnBrk="1" hangingPunct="1"/>
            <a:r>
              <a:rPr lang="en-GB" altLang="en-US"/>
              <a:t>In order to protect natural resources from overuse and destruction, natural resources ownership and rights to property of individuals, communities or even states are important</a:t>
            </a:r>
          </a:p>
          <a:p>
            <a:pPr lvl="1" eaLnBrk="1" hangingPunct="1"/>
            <a:endParaRPr lang="en-GB" altLang="en-US"/>
          </a:p>
          <a:p>
            <a:pPr lvl="1" eaLnBrk="1" hangingPunct="1"/>
            <a:r>
              <a:rPr lang="en-GB" altLang="en-US"/>
              <a:t>Hence we have NR with real property and those that are not!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CC47D50F-3D7C-41FA-91C4-B00588D9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25D4E5B0-146B-4062-96CC-360C4673B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Natural resources associated with real property include forest, timber, mineral deposits such as gold, copper, uranium and fossil based fuels. 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Natural resources that are not fixed on land such as air, are not associated with property rights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3966BEBD-1A99-46C7-A617-B62EE797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GB" altLang="en-US"/>
              <a:t>Natural Resources management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A024981D-CCC8-4F8E-8869-02F51F80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sz="3000"/>
              <a:t>Natural resource management is defined here as a  scientific and technical principle that forms a basis for </a:t>
            </a:r>
            <a:r>
              <a:rPr lang="en-GB" altLang="en-US" sz="3000" b="1" i="1">
                <a:solidFill>
                  <a:srgbClr val="3A3AF0"/>
                </a:solidFill>
              </a:rPr>
              <a:t>sustainable management</a:t>
            </a:r>
            <a:r>
              <a:rPr lang="en-GB" altLang="en-US" sz="3000" b="1" i="1"/>
              <a:t> </a:t>
            </a:r>
            <a:r>
              <a:rPr lang="en-GB" altLang="en-US" sz="3000" i="1"/>
              <a:t>(conservation and use) </a:t>
            </a:r>
            <a:r>
              <a:rPr lang="en-GB" altLang="en-US" sz="3000" i="1">
                <a:solidFill>
                  <a:srgbClr val="3A3AF0"/>
                </a:solidFill>
              </a:rPr>
              <a:t>and </a:t>
            </a:r>
            <a:r>
              <a:rPr lang="en-GB" altLang="en-US" sz="3000" b="1">
                <a:solidFill>
                  <a:srgbClr val="3A3AF0"/>
                </a:solidFill>
              </a:rPr>
              <a:t>governance of natural resources</a:t>
            </a:r>
          </a:p>
          <a:p>
            <a:pPr algn="just" eaLnBrk="1" hangingPunct="1"/>
            <a:endParaRPr lang="en-GB" altLang="en-US" sz="3000">
              <a:solidFill>
                <a:srgbClr val="3A3AF0"/>
              </a:solidFill>
            </a:endParaRPr>
          </a:p>
          <a:p>
            <a:pPr algn="just" eaLnBrk="1" hangingPunct="1"/>
            <a:r>
              <a:rPr lang="en-GB" altLang="en-US" sz="3000"/>
              <a:t>Management of natural resources embraces the ecosystem theory which </a:t>
            </a:r>
            <a:r>
              <a:rPr lang="en-GB" altLang="en-US" sz="3000" b="1"/>
              <a:t>considers tangible and non-tangible resource value</a:t>
            </a:r>
            <a:r>
              <a:rPr lang="en-GB" altLang="en-US" sz="3000"/>
              <a:t>s from an integrated and holistic perspective.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4B16481-8470-411F-870C-B146477E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096E-4710-4E7D-BF19-55D7CC55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contribute significantly to development in different ways: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as an economic activity and source of growth;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as a livelihood, by providing jobs for people;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as a provider of environmental services that can have both good and bad outcomes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contributes to poverty alleviation,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helps reduce diseases and child mortality,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improves maternal health, and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can contribute to gender equality through creation of wealth and eventually women empowerment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89B5736-1BD5-4967-A594-8A06B817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4FCF5644-98A1-4F38-AD28-CBAF0ED37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GB" altLang="en-US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>
                <a:latin typeface="Aharoni" panose="02010803020104030203" pitchFamily="2" charset="-79"/>
                <a:cs typeface="Aharoni" panose="02010803020104030203" pitchFamily="2" charset="-79"/>
              </a:rPr>
              <a:t>Natural Resource Management and Development</a:t>
            </a:r>
            <a:endParaRPr lang="en-GB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67D149BF-F15C-457E-99D1-03E135F4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E852DD5F-11B5-4C24-A024-3ECB4F27F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There is consensus that natural resources are fundamental for improving livelihoods and achieving sustainable development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336C3152-53EF-4BFB-AC4A-C6EB3347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4854555B-BD46-41D3-A599-C76167BE0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However, how best to use natural resources to improve livelihoods, reduce poverty and advance economic growth while maintaining and enhancing the sustainability and resilience of the natural resource base 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..........remains an elusive goal and daunting challenge.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A948D27A-D3FD-4D07-BA62-27B69D12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EB922BFF-169E-45C3-A3CF-571F6228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Understanding and tackling this complex challenge demands creative, integrative and holistic approaches 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How best can we use natural resources for development???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A number of approaches are proposed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endParaRPr lang="en-GB" altLang="en-US"/>
          </a:p>
          <a:p>
            <a:pPr algn="just" eaLnBrk="1" hangingPunct="1"/>
            <a:endParaRPr lang="en-GB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FDA61CC6-B92D-46B3-A2A1-485E08AA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Approaches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3973E67D-EF25-4F41-A822-4ABAE4704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The “Downward Spiral’ approach</a:t>
            </a:r>
          </a:p>
          <a:p>
            <a:pPr eaLnBrk="1" hangingPunct="1"/>
            <a:r>
              <a:rPr lang="en-GB" altLang="en-US"/>
              <a:t>The entitlements approach</a:t>
            </a:r>
          </a:p>
          <a:p>
            <a:pPr eaLnBrk="1" hangingPunct="1"/>
            <a:r>
              <a:rPr lang="en-GB" altLang="en-US"/>
              <a:t>The sustainable development approach</a:t>
            </a:r>
          </a:p>
          <a:p>
            <a:pPr eaLnBrk="1" hangingPunct="1"/>
            <a:r>
              <a:rPr lang="en-GB" altLang="en-US"/>
              <a:t>The sustainable livelihoods approach</a:t>
            </a:r>
          </a:p>
          <a:p>
            <a:pPr eaLnBrk="1" hangingPunct="1"/>
            <a:r>
              <a:rPr lang="en-GB" altLang="en-US"/>
              <a:t>The resilience approach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E82D86AC-E17F-4559-9B92-E54D5630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048548DE-2A71-420D-A5D6-F87E85978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 sz="4000" b="1"/>
              <a:t>The “Downward Spiral’ approach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9389-0033-492C-B96A-5E1855BF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i="1" dirty="0"/>
              <a:t>The Orthodox View or “Downward Spiral” of NRM and Poverty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8CD2B-2D7C-46A4-BD25-C56DD17DB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450"/>
          </a:xfrm>
        </p:spPr>
        <p:txBody>
          <a:bodyPr rtlCol="0">
            <a:normAutofit fontScale="700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Views that poverty is a major cause and effect of global environmental problems.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This dominant view posits that there is a vicious downwards spiral where: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dirty="0"/>
              <a:t>poor people are forced to overuse environmental resources to survive from day to day,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dirty="0"/>
              <a:t> .....and the degradation of natural resources further impoverishes them, making their survival ever more difficult and uncertain. 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dirty="0"/>
              <a:t>The rapid degradation of natural resources pushes the poor further down in the spiral, making them more vulnerable and in abject poverty.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>
            <a:extLst>
              <a:ext uri="{FF2B5EF4-FFF2-40B4-BE49-F238E27FC236}">
                <a16:creationId xmlns:a16="http://schemas.microsoft.com/office/drawing/2014/main" id="{85D3AF9E-585D-4F78-97DF-AC580C1249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8820150" cy="6524625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8E7E99DA-AA40-40B6-8174-DAE0DB396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1AC0934C-91E7-41AB-8E05-80351730B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algn="just" eaLnBrk="1" hangingPunct="1"/>
            <a:r>
              <a:rPr lang="en-GB" altLang="en-US"/>
              <a:t>Conclusion of the downward spiral view: </a:t>
            </a:r>
          </a:p>
          <a:p>
            <a:pPr algn="just" eaLnBrk="1" hangingPunct="1"/>
            <a:endParaRPr lang="en-GB" altLang="en-US"/>
          </a:p>
          <a:p>
            <a:pPr lvl="1" algn="just" eaLnBrk="1" hangingPunct="1"/>
            <a:r>
              <a:rPr lang="en-GB" altLang="en-US"/>
              <a:t>Natural resources are being rapidly degraded </a:t>
            </a:r>
            <a:r>
              <a:rPr lang="en-GB" altLang="en-US" b="1">
                <a:solidFill>
                  <a:srgbClr val="FF0000"/>
                </a:solidFill>
              </a:rPr>
              <a:t>because of poverty</a:t>
            </a:r>
            <a:r>
              <a:rPr lang="en-GB" altLang="en-US"/>
              <a:t>, and that the </a:t>
            </a:r>
            <a:r>
              <a:rPr lang="en-GB" altLang="en-US" b="1">
                <a:solidFill>
                  <a:srgbClr val="002060"/>
                </a:solidFill>
              </a:rPr>
              <a:t>poor are responsible for the degradation of </a:t>
            </a:r>
            <a:r>
              <a:rPr lang="en-GB" altLang="en-US"/>
              <a:t>natural resources. </a:t>
            </a:r>
          </a:p>
          <a:p>
            <a:pPr algn="just" eaLnBrk="1" hangingPunct="1"/>
            <a:endParaRPr lang="en-GB" altLang="en-US"/>
          </a:p>
          <a:p>
            <a:pPr lvl="1" algn="just" eaLnBrk="1" hangingPunct="1"/>
            <a:r>
              <a:rPr lang="en-GB" altLang="en-US"/>
              <a:t>In the absence of any other options, the poor are bound to exploit the natural resources for their livelihood needs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D722-770A-4BB8-83ED-4687EE9F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Empirical evidence against the down spiral 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38C5-9D31-4098-9DE8-1BD423AA3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However, empirical evidence does not support this idea.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Studies from Zimbabwe shows that rich households are more responsible for degradation than the poor (Cavendish, 2000)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Poverty is not the primary cause of deforestation and poor people are not the primary agent of degradation (</a:t>
            </a:r>
            <a:r>
              <a:rPr lang="en-GB" dirty="0" err="1"/>
              <a:t>Chowdhury</a:t>
            </a:r>
            <a:r>
              <a:rPr lang="en-GB" dirty="0"/>
              <a:t> et al., 2010 and Khan, 2008)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B0273134-C254-4BDB-BD23-F5FEEC85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5760-32F7-4D10-8242-DDB601A7D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In their book “</a:t>
            </a:r>
            <a:r>
              <a:rPr lang="en-GB" i="1" dirty="0"/>
              <a:t>More People, Less Erosion” </a:t>
            </a:r>
            <a:r>
              <a:rPr lang="en-GB" i="1" dirty="0" err="1"/>
              <a:t>Tiffen</a:t>
            </a:r>
            <a:r>
              <a:rPr lang="en-GB" i="1" dirty="0"/>
              <a:t> et al., (2000) </a:t>
            </a:r>
            <a:r>
              <a:rPr lang="en-GB" dirty="0"/>
              <a:t>demonstrate an example of environmental recovery in Kenya where population growth and agricultural intensification have been accompanied by improved rather than deteriorating soil and water resources.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Other examples that support this environmental  recovery have been documented in </a:t>
            </a:r>
            <a:r>
              <a:rPr lang="en-GB" dirty="0" err="1"/>
              <a:t>Sahelian</a:t>
            </a:r>
            <a:r>
              <a:rPr lang="en-GB" dirty="0"/>
              <a:t> countries of Senegal, Nigeria, Burkina Faso and Niger (</a:t>
            </a:r>
            <a:r>
              <a:rPr lang="en-GB" dirty="0" err="1"/>
              <a:t>Mortimore</a:t>
            </a:r>
            <a:r>
              <a:rPr lang="en-GB" dirty="0"/>
              <a:t>, 2010).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CC67E3C8-B6A4-46DF-B1E2-2977F4F3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C8DA17D3-3FF0-4355-9C3C-BA6DC551D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Thus, simple generalizations of this multidimensional problem are erroneous and that a more complex set of variables are in play (Comim, 2009; Leach and Mearns, 1995)</a:t>
            </a:r>
          </a:p>
          <a:p>
            <a:pPr algn="just" eaLnBrk="1" hangingPunct="1"/>
            <a:endParaRPr lang="en-GB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B34F940-C1B4-4A81-8862-9CECDA97A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B479ECAF-1DBF-4427-A2AA-A67E308D3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Therefore, the widespread view that poverty leads to environmental degradation is not clearly supported by evidence.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What is more strongly supported by evidence is the fact that </a:t>
            </a:r>
            <a:r>
              <a:rPr lang="en-GB" altLang="en-US" b="1"/>
              <a:t>environmental degradation hurts the poor more.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A586F4FF-A30C-4253-B624-6647903F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703C5AEF-91C3-40F0-9ABD-0F696AC3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/>
              <a:t>More understanding on how poor people </a:t>
            </a:r>
            <a:r>
              <a:rPr lang="en-GB" altLang="en-US">
                <a:solidFill>
                  <a:srgbClr val="3A3AF0"/>
                </a:solidFill>
              </a:rPr>
              <a:t>depend on</a:t>
            </a:r>
            <a:r>
              <a:rPr lang="en-GB" altLang="en-US"/>
              <a:t>, </a:t>
            </a:r>
            <a:r>
              <a:rPr lang="en-GB" altLang="en-US">
                <a:solidFill>
                  <a:srgbClr val="3A3AF0"/>
                </a:solidFill>
              </a:rPr>
              <a:t>interact with</a:t>
            </a:r>
            <a:r>
              <a:rPr lang="en-GB" altLang="en-US"/>
              <a:t> and </a:t>
            </a:r>
            <a:r>
              <a:rPr lang="en-GB" altLang="en-US">
                <a:solidFill>
                  <a:srgbClr val="3A3AF0"/>
                </a:solidFill>
              </a:rPr>
              <a:t>use</a:t>
            </a:r>
            <a:r>
              <a:rPr lang="en-GB" altLang="en-US"/>
              <a:t> their environment in rural and urban areas is needed. </a:t>
            </a:r>
          </a:p>
          <a:p>
            <a:pPr algn="just" eaLnBrk="1" hangingPunct="1">
              <a:lnSpc>
                <a:spcPct val="90000"/>
              </a:lnSpc>
            </a:pPr>
            <a:endParaRPr lang="en-GB" altLang="en-US"/>
          </a:p>
          <a:p>
            <a:pPr algn="just" eaLnBrk="1" hangingPunct="1">
              <a:lnSpc>
                <a:spcPct val="90000"/>
              </a:lnSpc>
            </a:pPr>
            <a:r>
              <a:rPr lang="en-GB" altLang="en-US"/>
              <a:t>These studies point to </a:t>
            </a:r>
            <a:r>
              <a:rPr lang="en-GB" altLang="en-US">
                <a:solidFill>
                  <a:srgbClr val="3A3AF0"/>
                </a:solidFill>
              </a:rPr>
              <a:t>demographic</a:t>
            </a:r>
            <a:r>
              <a:rPr lang="en-GB" altLang="en-US"/>
              <a:t>, </a:t>
            </a:r>
            <a:r>
              <a:rPr lang="en-GB" altLang="en-US">
                <a:solidFill>
                  <a:srgbClr val="3A3AF0"/>
                </a:solidFill>
              </a:rPr>
              <a:t>cultural</a:t>
            </a:r>
            <a:r>
              <a:rPr lang="en-GB" altLang="en-US"/>
              <a:t>, and </a:t>
            </a:r>
            <a:r>
              <a:rPr lang="en-GB" altLang="en-US">
                <a:solidFill>
                  <a:srgbClr val="3A3AF0"/>
                </a:solidFill>
              </a:rPr>
              <a:t>institutional</a:t>
            </a:r>
            <a:r>
              <a:rPr lang="en-GB" altLang="en-US"/>
              <a:t> factors as important variables in the poverty environmental degradation nexus. </a:t>
            </a:r>
          </a:p>
          <a:p>
            <a:pPr algn="just" eaLnBrk="1" hangingPunct="1">
              <a:lnSpc>
                <a:spcPct val="90000"/>
              </a:lnSpc>
            </a:pPr>
            <a:endParaRPr lang="en-GB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6320D86C-339B-4AA5-AE5D-508C2753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5A5BFCA7-5841-4804-A576-8F7ADD447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sz="3000"/>
              <a:t>Most studies agree that the links point to the </a:t>
            </a:r>
            <a:r>
              <a:rPr lang="en-GB" altLang="en-US" sz="3000" b="1">
                <a:solidFill>
                  <a:srgbClr val="3A3AF0"/>
                </a:solidFill>
              </a:rPr>
              <a:t>dynamic complexity</a:t>
            </a:r>
            <a:r>
              <a:rPr lang="en-GB" altLang="en-US" sz="3000"/>
              <a:t>, </a:t>
            </a:r>
            <a:r>
              <a:rPr lang="en-GB" altLang="en-US" sz="3000" b="1">
                <a:solidFill>
                  <a:srgbClr val="3A3AF0"/>
                </a:solidFill>
              </a:rPr>
              <a:t>context-specificity</a:t>
            </a:r>
            <a:r>
              <a:rPr lang="en-GB" altLang="en-US" sz="3000"/>
              <a:t> and </a:t>
            </a:r>
            <a:r>
              <a:rPr lang="en-GB" altLang="en-US" sz="3000" b="1">
                <a:solidFill>
                  <a:srgbClr val="3A3AF0"/>
                </a:solidFill>
              </a:rPr>
              <a:t>resource specificity</a:t>
            </a:r>
            <a:r>
              <a:rPr lang="en-GB" altLang="en-US" sz="3000" b="1"/>
              <a:t> </a:t>
            </a:r>
            <a:r>
              <a:rPr lang="en-GB" altLang="en-US" sz="3000"/>
              <a:t>of the linkages between NRM and poverty.</a:t>
            </a:r>
          </a:p>
          <a:p>
            <a:pPr algn="just" eaLnBrk="1" hangingPunct="1"/>
            <a:endParaRPr lang="en-GB" altLang="en-US" sz="3000"/>
          </a:p>
          <a:p>
            <a:pPr algn="just" eaLnBrk="1" hangingPunct="1"/>
            <a:r>
              <a:rPr lang="en-GB" altLang="en-US" sz="3000"/>
              <a:t>Understanding these links is a rather complex task and requires an </a:t>
            </a:r>
            <a:r>
              <a:rPr lang="en-GB" altLang="en-US" sz="3000" b="1"/>
              <a:t>integrated</a:t>
            </a:r>
            <a:r>
              <a:rPr lang="en-GB" altLang="en-US" sz="3000"/>
              <a:t>, </a:t>
            </a:r>
            <a:r>
              <a:rPr lang="en-GB" altLang="en-US" sz="3000" b="1"/>
              <a:t>interdisciplinary</a:t>
            </a:r>
            <a:r>
              <a:rPr lang="en-GB" altLang="en-US" sz="3000"/>
              <a:t>, </a:t>
            </a:r>
            <a:r>
              <a:rPr lang="en-GB" altLang="en-US" sz="3000" b="1"/>
              <a:t>multi-sectoral</a:t>
            </a:r>
            <a:r>
              <a:rPr lang="en-GB" altLang="en-US" sz="3000"/>
              <a:t> and </a:t>
            </a:r>
            <a:r>
              <a:rPr lang="en-GB" altLang="en-US" sz="3000" b="1"/>
              <a:t>multi-institutiona</a:t>
            </a:r>
            <a:r>
              <a:rPr lang="en-GB" altLang="en-US" sz="3000"/>
              <a:t>l and </a:t>
            </a:r>
            <a:r>
              <a:rPr lang="en-GB" altLang="en-US" sz="3000" b="1"/>
              <a:t>multi-stakeholder </a:t>
            </a:r>
            <a:r>
              <a:rPr lang="en-GB" altLang="en-US" sz="3000"/>
              <a:t>perspective.</a:t>
            </a:r>
          </a:p>
          <a:p>
            <a:pPr algn="just" eaLnBrk="1" hangingPunct="1"/>
            <a:endParaRPr lang="en-GB" altLang="en-US" sz="3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1BDFC1DB-1EAC-4B99-857A-DB6579E3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&amp;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FA0A5609-F2CF-4E87-9D70-6DEEB4388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GB" altLang="en-US" b="1" i="1"/>
          </a:p>
          <a:p>
            <a:pPr algn="ctr" eaLnBrk="1" hangingPunct="1">
              <a:buFont typeface="Arial" panose="020B0604020202020204" pitchFamily="34" charset="0"/>
              <a:buNone/>
            </a:pPr>
            <a:endParaRPr lang="en-GB" altLang="en-US" sz="4000" b="1"/>
          </a:p>
          <a:p>
            <a:pPr algn="ctr" eaLnBrk="1" hangingPunct="1">
              <a:buFont typeface="Arial" panose="020B0604020202020204" pitchFamily="34" charset="0"/>
              <a:buNone/>
            </a:pPr>
            <a:endParaRPr lang="en-GB" altLang="en-US" sz="4000" b="1"/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 sz="4000" b="1"/>
              <a:t>The “Environmental Entitlements” Approach</a:t>
            </a:r>
            <a:endParaRPr lang="en-GB" altLang="en-US" sz="4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1BF1-B180-4480-95C1-9F9F9E08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i="1" dirty="0"/>
              <a:t>The “Environmental Entitlements” Approach</a:t>
            </a:r>
            <a:br>
              <a:rPr lang="en-GB" b="1" i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B1BD-1B1D-4814-8BA3-E421AC3DC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Based on seminal work by </a:t>
            </a:r>
            <a:r>
              <a:rPr lang="en-GB" dirty="0" err="1"/>
              <a:t>Ostrom</a:t>
            </a:r>
            <a:r>
              <a:rPr lang="en-GB" dirty="0"/>
              <a:t> (1990) and her subsequent work (</a:t>
            </a:r>
            <a:r>
              <a:rPr lang="en-GB" dirty="0" err="1"/>
              <a:t>Ostrom</a:t>
            </a:r>
            <a:r>
              <a:rPr lang="en-GB" dirty="0"/>
              <a:t>, 2005, </a:t>
            </a:r>
            <a:r>
              <a:rPr lang="en-GB" dirty="0" err="1"/>
              <a:t>Agrawal</a:t>
            </a:r>
            <a:r>
              <a:rPr lang="en-GB" dirty="0"/>
              <a:t> </a:t>
            </a:r>
            <a:r>
              <a:rPr lang="en-GB" i="1" dirty="0"/>
              <a:t>et al., 2001; Dietz et al., 2003;) that was awarded the 2009 Noble Prize in </a:t>
            </a:r>
            <a:r>
              <a:rPr lang="en-GB" dirty="0"/>
              <a:t>Economic Sciences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 err="1"/>
              <a:t>Elinor</a:t>
            </a:r>
            <a:r>
              <a:rPr lang="en-GB" dirty="0"/>
              <a:t> </a:t>
            </a:r>
            <a:r>
              <a:rPr lang="en-GB" dirty="0" err="1"/>
              <a:t>Ostrom</a:t>
            </a:r>
            <a:r>
              <a:rPr lang="en-GB" dirty="0"/>
              <a:t> challenged this conventional wisdom and orthodox view of NRM-Poverty linkages.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916F3726-E87A-41A0-8C3F-D4F6CE5F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81D786DB-E05B-4071-84B1-3F79EA2AE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en-GB" altLang="en-US"/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Her work and others challenged Hardin’s “Tragedy of the Commons” and demonstrated how humans interact with ecosystems to maintain long-term sustainable resource yields.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endParaRPr lang="en-GB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06D28EF5-72D6-4660-AE11-0539549C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6DF85D76-B6DD-4F60-B503-070EF1E6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They showed how societies have developed </a:t>
            </a:r>
            <a:r>
              <a:rPr lang="en-GB" altLang="en-US" b="1"/>
              <a:t>diverse institutional arrangements </a:t>
            </a:r>
            <a:r>
              <a:rPr lang="en-GB" altLang="en-US"/>
              <a:t>for managing natural resources and avoiding ecosystem collapse.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Emphasizes the </a:t>
            </a:r>
            <a:r>
              <a:rPr lang="en-GB" altLang="en-US" b="1"/>
              <a:t>multifaceted nature of human–ecosystem interaction </a:t>
            </a:r>
            <a:r>
              <a:rPr lang="en-GB" altLang="en-US"/>
              <a:t>as follows.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D87C603C-8257-463B-BDE6-915255E7E5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333375"/>
            <a:ext cx="7777162" cy="6191250"/>
          </a:xfr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0A464308-78AD-47AA-A1FF-77382F2D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E1CA3D46-3362-41E5-994D-D15E5CD7F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The concept of environmental entitlements refers to:</a:t>
            </a:r>
          </a:p>
          <a:p>
            <a:pPr algn="just" eaLnBrk="1" hangingPunct="1"/>
            <a:endParaRPr lang="en-GB" altLang="en-US"/>
          </a:p>
          <a:p>
            <a:pPr lvl="1" algn="just" eaLnBrk="1" hangingPunct="1"/>
            <a:r>
              <a:rPr lang="en-GB" altLang="en-US"/>
              <a:t>the alternative sets of benefits derived from environmental goods and services over which </a:t>
            </a:r>
            <a:r>
              <a:rPr lang="en-GB" altLang="en-US" b="1"/>
              <a:t>people have legitimate effective command over them</a:t>
            </a:r>
          </a:p>
          <a:p>
            <a:pPr algn="just" eaLnBrk="1" hangingPunct="1"/>
            <a:endParaRPr lang="en-GB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92C30C20-65F8-4AB9-BFF8-3E4DF042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1B89D-8E2B-47A2-9D63-EEFA450D3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i="1" dirty="0"/>
              <a:t>Empirical studies </a:t>
            </a:r>
            <a:r>
              <a:rPr lang="en-GB" dirty="0"/>
              <a:t>demonstrate that many poor people are able to </a:t>
            </a:r>
            <a:r>
              <a:rPr lang="en-GB" b="1" dirty="0"/>
              <a:t>adopt protective mechanisms through collective</a:t>
            </a:r>
            <a:r>
              <a:rPr lang="en-GB" dirty="0"/>
              <a:t> action which reduce the impacts of demographic, economic and environmental change  (Forsyth and Leach (1998), </a:t>
            </a:r>
            <a:r>
              <a:rPr lang="en-GB" dirty="0" err="1"/>
              <a:t>Bucknall</a:t>
            </a:r>
            <a:r>
              <a:rPr lang="en-GB" dirty="0"/>
              <a:t> </a:t>
            </a:r>
            <a:r>
              <a:rPr lang="en-GB" i="1" dirty="0"/>
              <a:t>et al., (2000), Cavendish (2000), and </a:t>
            </a:r>
            <a:r>
              <a:rPr lang="en-GB" i="1" dirty="0" err="1"/>
              <a:t>Comin</a:t>
            </a:r>
            <a:r>
              <a:rPr lang="en-GB" i="1" dirty="0"/>
              <a:t> et al., (2009).</a:t>
            </a: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.............although the rural poor may have limited resources, they still have considerable capacity to </a:t>
            </a:r>
            <a:r>
              <a:rPr lang="en-GB" b="1" dirty="0"/>
              <a:t>adapt to environmental degradation </a:t>
            </a:r>
            <a:r>
              <a:rPr lang="en-GB" dirty="0"/>
              <a:t>and to </a:t>
            </a:r>
            <a:r>
              <a:rPr lang="en-GB" b="1" dirty="0"/>
              <a:t>rehabilitate</a:t>
            </a:r>
            <a:r>
              <a:rPr lang="en-GB" dirty="0"/>
              <a:t> degraded resources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A5CF5A66-C19F-47A6-AC26-D08AB9D1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47589-730C-4A11-A889-B1E44F10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The environmental entitlements framework stresses the need for differentiating the social </a:t>
            </a:r>
            <a:r>
              <a:rPr lang="en-GB" b="1" dirty="0"/>
              <a:t>actors in terms of their capa</a:t>
            </a:r>
            <a:r>
              <a:rPr lang="en-GB" dirty="0"/>
              <a:t>bilities, endowments and entitlements.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Actors (i.e. managers and users) of ecosystems have unequal access to resources.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One of important actors are women!!!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97AD86D4-7606-4C7A-9117-CA1C5F0B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1722F-69A8-4253-B357-6741BD6B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For example: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dirty="0"/>
              <a:t>Households living in extreme poverty and depending directly on the use of natural resources tend to be female headed.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dirty="0"/>
              <a:t>Even when households have a male and female head, </a:t>
            </a:r>
            <a:r>
              <a:rPr lang="en-GB" dirty="0" err="1"/>
              <a:t>intrahousehold</a:t>
            </a:r>
            <a:r>
              <a:rPr lang="en-GB" dirty="0"/>
              <a:t> access to, and management of natural resources, often favour men and boys.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Therefore, gender is arguably one of the critical factors that affect the use and management of natural resources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42517AA5-374E-422D-BFA9-61F8E828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B9E58BB5-9556-4521-B7AF-B86B58A3B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 b="1" i="1"/>
              <a:t>The “Sustainable Development” Approach</a:t>
            </a:r>
            <a:endParaRPr lang="en-GB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70FD-669C-41AC-B2C1-626B4F46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i="1" dirty="0"/>
              <a:t>The “Sustainable Development” Approach</a:t>
            </a:r>
            <a:br>
              <a:rPr lang="en-GB" b="1" i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FF119-1D99-46F6-AC22-E88726231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While many and confusing definitions of sustainable development abound, </a:t>
            </a:r>
            <a:r>
              <a:rPr lang="en-GB" dirty="0" err="1"/>
              <a:t>Pezzey</a:t>
            </a:r>
            <a:r>
              <a:rPr lang="en-GB" dirty="0"/>
              <a:t> (1989) states </a:t>
            </a:r>
            <a:r>
              <a:rPr lang="en-GB" b="1" dirty="0"/>
              <a:t>that “a development path is sustainable if total welfare does not decline along the path”.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Critical to this definition is a realization that </a:t>
            </a:r>
            <a:r>
              <a:rPr lang="en-GB" b="1" dirty="0"/>
              <a:t>sufficient welfare functions through consumption, environmental quality, social equity, </a:t>
            </a:r>
            <a:r>
              <a:rPr lang="en-GB" dirty="0"/>
              <a:t>and other factors contributing to the quality of life (Adams, 2006; UN, 1987).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D10D12F0-D467-4AF1-ACEB-C6FFEA62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1B212-98F6-44A6-8B27-9CC76042E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This definition captures the essence of a pattern of resource use that </a:t>
            </a:r>
            <a:r>
              <a:rPr lang="en-GB" b="1" dirty="0"/>
              <a:t>aims to meet human needs </a:t>
            </a:r>
            <a:r>
              <a:rPr lang="en-GB" dirty="0"/>
              <a:t>while preserving the natural resources.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This is necessary so that these needs can be met not only in the present, but also for generations to come – </a:t>
            </a:r>
            <a:r>
              <a:rPr lang="en-GB" b="1" dirty="0">
                <a:solidFill>
                  <a:srgbClr val="FF0000"/>
                </a:solidFill>
              </a:rPr>
              <a:t>intergenerational equity</a:t>
            </a:r>
            <a:r>
              <a:rPr lang="en-GB" dirty="0"/>
              <a:t>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258363B3-FAE2-439B-B67E-0F9E3B3C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628E903A-BD12-42A6-B33E-ADFA23697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Bruntland Commission (Bruntland, 1987) first referred to sustainable development as one that "</a:t>
            </a:r>
            <a:r>
              <a:rPr lang="en-GB" altLang="en-US" i="1"/>
              <a:t>meets the needs of the present without compromising the ability of future generations to meet their own needs. </a:t>
            </a:r>
          </a:p>
          <a:p>
            <a:pPr eaLnBrk="1" hangingPunct="1"/>
            <a:endParaRPr lang="en-GB" altLang="en-US" i="1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614F887E-5903-494B-951E-F4C5389E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98C85-DA1D-40F3-B572-240F7D1B5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Sustainable development is, therefore, </a:t>
            </a:r>
            <a:r>
              <a:rPr lang="en-GB" b="1" dirty="0"/>
              <a:t>a pattern of resource use that aims to meet human needs while preserving the </a:t>
            </a:r>
            <a:r>
              <a:rPr lang="en-GB" b="1" i="1" dirty="0"/>
              <a:t>environment so that these needs can be met not </a:t>
            </a:r>
            <a:r>
              <a:rPr lang="en-GB" b="1" dirty="0"/>
              <a:t>only in the present, but also in the future.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i="1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i="1" dirty="0"/>
              <a:t>Sustainability requires that </a:t>
            </a:r>
            <a:r>
              <a:rPr lang="en-GB" dirty="0"/>
              <a:t>human activity only use nature's resources at a rate at which they can be replenished naturally.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4D3F558B-7512-40A0-AD08-55B6C233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2A621-1BC6-487C-A08D-2FD64EB3A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b="1" dirty="0"/>
              <a:t>This definition is rooted in a systems thinking </a:t>
            </a:r>
            <a:r>
              <a:rPr lang="en-GB" dirty="0"/>
              <a:t>as it stresses the three interdependent and mutually reinforcing pillars of sustainable development: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dirty="0"/>
              <a:t>economic development, social development, and environmental sustainability.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Sustainable development, therefore, aims to bring the three </a:t>
            </a:r>
            <a:r>
              <a:rPr lang="en-GB" b="1" dirty="0">
                <a:solidFill>
                  <a:srgbClr val="FF0000"/>
                </a:solidFill>
              </a:rPr>
              <a:t>together in a balanced way, as three interconnected or nested rings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>
            <a:extLst>
              <a:ext uri="{FF2B5EF4-FFF2-40B4-BE49-F238E27FC236}">
                <a16:creationId xmlns:a16="http://schemas.microsoft.com/office/drawing/2014/main" id="{45C72AF9-4220-4E7A-8139-332F85FA60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0"/>
            <a:ext cx="7848600" cy="6524625"/>
          </a:xfr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83EEBC3C-B3F7-47C9-8D35-2DB3A720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9D8AB089-51B0-42FB-99DB-2BC891E06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i="1"/>
              <a:t>Economic: an economically sustainable system must be able to: </a:t>
            </a:r>
          </a:p>
          <a:p>
            <a:pPr eaLnBrk="1" hangingPunct="1"/>
            <a:endParaRPr lang="en-GB" altLang="en-US" i="1"/>
          </a:p>
          <a:p>
            <a:pPr lvl="1" eaLnBrk="1" hangingPunct="1"/>
            <a:r>
              <a:rPr lang="en-GB" altLang="en-US" i="1"/>
              <a:t>Produce </a:t>
            </a:r>
            <a:r>
              <a:rPr lang="en-GB" altLang="en-US"/>
              <a:t>goods and services on a continuing basis; </a:t>
            </a:r>
          </a:p>
          <a:p>
            <a:pPr lvl="1" eaLnBrk="1" hangingPunct="1"/>
            <a:r>
              <a:rPr lang="en-GB" altLang="en-US"/>
              <a:t> maintain manageable levels of government and external debt; and </a:t>
            </a:r>
          </a:p>
          <a:p>
            <a:pPr lvl="1" eaLnBrk="1" hangingPunct="1"/>
            <a:r>
              <a:rPr lang="en-GB" altLang="en-US"/>
              <a:t>avoid extreme sectoral imbalances that damage agricultural and/or industrial production.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72DF048E-AC5B-4F3D-96B3-147F82EE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6116A04D-C84A-4E1F-90E6-3EB9F004F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i="1"/>
              <a:t>Environmental: an environmentally sustainable system must maintain:</a:t>
            </a:r>
          </a:p>
          <a:p>
            <a:pPr algn="just" eaLnBrk="1" hangingPunct="1"/>
            <a:endParaRPr lang="en-GB" altLang="en-US" i="1"/>
          </a:p>
          <a:p>
            <a:pPr lvl="1" algn="just" eaLnBrk="1" hangingPunct="1"/>
            <a:r>
              <a:rPr lang="en-GB" altLang="en-US" i="1"/>
              <a:t>A </a:t>
            </a:r>
            <a:r>
              <a:rPr lang="en-GB" altLang="en-US"/>
              <a:t>stable resource base and avoid overexploitation of non-renewable resource systems including:</a:t>
            </a:r>
          </a:p>
          <a:p>
            <a:pPr lvl="2" algn="just" eaLnBrk="1" hangingPunct="1"/>
            <a:r>
              <a:rPr lang="en-GB" altLang="en-US"/>
              <a:t> maintenance of biodiversity;</a:t>
            </a:r>
          </a:p>
          <a:p>
            <a:pPr lvl="2" algn="just" eaLnBrk="1" hangingPunct="1"/>
            <a:r>
              <a:rPr lang="en-GB" altLang="en-US"/>
              <a:t> atmospheric stability; and</a:t>
            </a:r>
          </a:p>
          <a:p>
            <a:pPr lvl="2" algn="just" eaLnBrk="1" hangingPunct="1"/>
            <a:r>
              <a:rPr lang="en-GB" altLang="en-US"/>
              <a:t> ecosystems services not always looked upon as economic resources.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A0B80485-D07A-486B-A9C1-C8856564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AAD8D-2C93-4AA7-B91E-1ACBF704F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i="1" dirty="0"/>
              <a:t>Social: a socially sustainable system must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i="1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i="1" dirty="0"/>
              <a:t> achieve fairness in distribution </a:t>
            </a:r>
            <a:r>
              <a:rPr lang="en-GB" dirty="0"/>
              <a:t>and opportunity among all persons with adequate provision of such social services as health, education and gender equity. 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GB" dirty="0"/>
              <a:t>The social dimension focuses on reconciliation of environment and development, and governance related to provision of social services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3C8AD243-A2D0-491E-A858-23E3E9A5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E6A14506-CA6B-42D1-BA06-51965337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nested rings approach insists that:</a:t>
            </a:r>
          </a:p>
          <a:p>
            <a:pPr eaLnBrk="1" hangingPunct="1"/>
            <a:endParaRPr lang="en-GB" altLang="en-US"/>
          </a:p>
          <a:p>
            <a:pPr lvl="1" eaLnBrk="1" hangingPunct="1"/>
            <a:r>
              <a:rPr lang="en-GB" altLang="en-US"/>
              <a:t> the economy is dependent on society and the environment. </a:t>
            </a:r>
          </a:p>
          <a:p>
            <a:pPr lvl="1" eaLnBrk="1" hangingPunct="1"/>
            <a:r>
              <a:rPr lang="en-GB" altLang="en-US"/>
              <a:t>Human and economic activities take place within the environment and</a:t>
            </a:r>
          </a:p>
          <a:p>
            <a:pPr lvl="1" eaLnBrk="1" hangingPunct="1"/>
            <a:r>
              <a:rPr lang="en-GB" altLang="en-US"/>
              <a:t> the society depend on and have an impact on the environment. </a:t>
            </a:r>
          </a:p>
          <a:p>
            <a:pPr lvl="1" eaLnBrk="1" hangingPunct="1"/>
            <a:endParaRPr lang="en-GB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AA7EB553-A447-4EFD-93E0-EC11D0EF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ACDC57F6-D411-4D86-BE88-D2AA08659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 eaLnBrk="1" hangingPunct="1"/>
            <a:r>
              <a:rPr lang="en-GB" altLang="en-US"/>
              <a:t>A key issue for sustainable development is therefore</a:t>
            </a:r>
          </a:p>
          <a:p>
            <a:pPr lvl="1" algn="just" eaLnBrk="1" hangingPunct="1"/>
            <a:endParaRPr lang="en-GB" altLang="en-US"/>
          </a:p>
          <a:p>
            <a:pPr lvl="2" algn="just" eaLnBrk="1" hangingPunct="1"/>
            <a:r>
              <a:rPr lang="en-GB" altLang="en-US"/>
              <a:t> the integration of different dimensions of sustainability; </a:t>
            </a:r>
          </a:p>
          <a:p>
            <a:pPr lvl="2" algn="just" eaLnBrk="1" hangingPunct="1"/>
            <a:r>
              <a:rPr lang="en-GB" altLang="en-US"/>
              <a:t>taking a holistic view;  and </a:t>
            </a:r>
          </a:p>
          <a:p>
            <a:pPr lvl="2" algn="just" eaLnBrk="1" hangingPunct="1"/>
            <a:r>
              <a:rPr lang="en-GB" altLang="en-US"/>
              <a:t>overcoming barriers between disciplines, ideologies and sectors.</a:t>
            </a:r>
          </a:p>
          <a:p>
            <a:pPr algn="just" eaLnBrk="1" hangingPunct="1"/>
            <a:endParaRPr lang="en-GB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2FF77147-CF6A-401C-A7ED-5787A485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D713011B-52B1-4735-BDB4-7753BDD16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GB" altLang="en-US" b="1" i="1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b="1" i="1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b="1" i="1"/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 sz="4000" b="1"/>
              <a:t>The “Sustainable Livelihoods” Approach</a:t>
            </a:r>
            <a:endParaRPr lang="en-GB" altLang="en-US" sz="4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0F77-4A85-40A7-A581-F91FF6F9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i="1" dirty="0"/>
              <a:t>The “Sustainable Livelihoods” Approach</a:t>
            </a:r>
            <a:br>
              <a:rPr lang="en-GB" b="1" i="1" dirty="0"/>
            </a:br>
            <a:endParaRPr lang="en-GB" dirty="0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6FE1450D-D05F-425B-AA64-3DA5BCAF1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This recognition of the complexity in NRM-poverty interactions has led to a focus</a:t>
            </a:r>
          </a:p>
          <a:p>
            <a:pPr eaLnBrk="1" hangingPunct="1"/>
            <a:r>
              <a:rPr lang="en-GB" altLang="en-US"/>
              <a:t>on ‘sustainable rural livelihoods’. 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According to Chambers and Conway (1992): </a:t>
            </a:r>
            <a:r>
              <a:rPr lang="en-GB" altLang="en-US" i="1"/>
              <a:t>“A livelihood comprises the capabilities, assets (including both material and social resources) and activities required for a means of living.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B9380D6C-861E-4A7B-B1E3-49DCE1B7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E12B8A63-C40D-4FFB-9945-5ED91BB9A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 livelihood is sustainable </a:t>
            </a:r>
            <a:r>
              <a:rPr lang="en-GB" altLang="en-US" b="1"/>
              <a:t>when it can cope with and recover from stresses and shocks</a:t>
            </a:r>
            <a:r>
              <a:rPr lang="en-GB" altLang="en-US"/>
              <a:t>, maintain or enhance its capabilities and assets, while not undermining the natural resource base.”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6D018768-BF2D-466A-BBED-730CDED9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4DFC1A1C-73E6-4A14-AD8E-E91DFB370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‘sustainable livelihoods’ (SL) framework is increasingly important in the NRM-development debate. 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:a16="http://schemas.microsoft.com/office/drawing/2014/main" id="{BC7D4B13-27FC-450A-A6D1-26A2ED0B0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8820150" cy="6165850"/>
          </a:xfr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C7727E6-02C2-4980-8751-E76C1DBC8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it-IT" b="1">
                <a:solidFill>
                  <a:schemeClr val="folHlink"/>
                </a:solidFill>
                <a:latin typeface="Comic Sans MS" pitchFamily="66" charset="0"/>
              </a:rPr>
              <a:t>The Sustainable Livelihoods Framework</a:t>
            </a:r>
            <a:endParaRPr lang="en-GB" b="1">
              <a:solidFill>
                <a:schemeClr val="folHlink"/>
              </a:solidFill>
              <a:latin typeface="Comic Sans MS" pitchFamily="66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3D4C9B3-7D36-473D-B901-3340DED18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720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buFontTx/>
              <a:buChar char="•"/>
            </a:pPr>
            <a:endParaRPr lang="it-IT" altLang="en-US" sz="24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endParaRPr lang="it-IT" altLang="en-US" sz="24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</a:rPr>
              <a:t>It’s</a:t>
            </a:r>
            <a:r>
              <a:rPr lang="it-IT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 ONE WAY </a:t>
            </a: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</a:rPr>
              <a:t>of “organising” the</a:t>
            </a:r>
            <a:r>
              <a:rPr lang="it-IT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 complex </a:t>
            </a: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</a:rPr>
              <a:t>issues surrounding</a:t>
            </a:r>
            <a:r>
              <a:rPr lang="it-IT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 POVERTY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 bldLvl="2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A07011-75E3-468A-B143-702B60B01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010400" cy="1143000"/>
          </a:xfrm>
        </p:spPr>
        <p:txBody>
          <a:bodyPr/>
          <a:lstStyle/>
          <a:p>
            <a:pPr eaLnBrk="1" hangingPunct="1"/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</a:rPr>
              <a:t>Livelihoods assets</a:t>
            </a:r>
            <a:endParaRPr lang="en-GB" altLang="en-US" b="1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BAE940-6F2A-4BEE-90F8-8F6DDA75B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257800"/>
            <a:ext cx="19050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25000"/>
              </a:lnSpc>
              <a:spcBef>
                <a:spcPct val="50000"/>
              </a:spcBef>
            </a:pPr>
            <a:endParaRPr lang="en-GB" altLang="en-US" sz="32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>
              <a:lnSpc>
                <a:spcPct val="25000"/>
              </a:lnSpc>
              <a:spcBef>
                <a:spcPct val="50000"/>
              </a:spcBef>
            </a:pP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Financial </a:t>
            </a:r>
          </a:p>
          <a:p>
            <a:pPr>
              <a:lnSpc>
                <a:spcPct val="25000"/>
              </a:lnSpc>
              <a:spcBef>
                <a:spcPct val="50000"/>
              </a:spcBef>
            </a:pP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Capital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052E7FB-E214-4DF7-BDBE-5A0C18E79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048000"/>
            <a:ext cx="19050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25000"/>
              </a:lnSpc>
              <a:spcBef>
                <a:spcPct val="50000"/>
              </a:spcBef>
            </a:pPr>
            <a:endParaRPr lang="en-GB" altLang="en-US" sz="32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>
              <a:lnSpc>
                <a:spcPct val="25000"/>
              </a:lnSpc>
              <a:spcBef>
                <a:spcPct val="50000"/>
              </a:spcBef>
            </a:pPr>
            <a:r>
              <a:rPr lang="it-IT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Natural</a:t>
            </a:r>
            <a:endParaRPr lang="en-GB" altLang="en-US" sz="32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>
              <a:lnSpc>
                <a:spcPct val="25000"/>
              </a:lnSpc>
              <a:spcBef>
                <a:spcPct val="50000"/>
              </a:spcBef>
            </a:pP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Capital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B54BC6-F93C-47CB-914D-AF8E81350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0"/>
            <a:ext cx="16764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25000"/>
              </a:lnSpc>
              <a:spcBef>
                <a:spcPct val="50000"/>
              </a:spcBef>
            </a:pPr>
            <a:endParaRPr lang="en-GB" altLang="en-US" sz="32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algn="r">
              <a:lnSpc>
                <a:spcPct val="25000"/>
              </a:lnSpc>
              <a:spcBef>
                <a:spcPct val="50000"/>
              </a:spcBef>
            </a:pP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Social </a:t>
            </a:r>
          </a:p>
          <a:p>
            <a:pPr algn="r">
              <a:lnSpc>
                <a:spcPct val="25000"/>
              </a:lnSpc>
              <a:spcBef>
                <a:spcPct val="50000"/>
              </a:spcBef>
            </a:pP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Capital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795E07-93A4-4B7C-A0A3-11D5C0C98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257800"/>
            <a:ext cx="20574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25000"/>
              </a:lnSpc>
              <a:spcBef>
                <a:spcPct val="50000"/>
              </a:spcBef>
            </a:pPr>
            <a:endParaRPr lang="en-GB" altLang="en-US" sz="32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algn="r">
              <a:lnSpc>
                <a:spcPct val="25000"/>
              </a:lnSpc>
              <a:spcBef>
                <a:spcPct val="50000"/>
              </a:spcBef>
            </a:pP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Physical </a:t>
            </a:r>
          </a:p>
          <a:p>
            <a:pPr algn="r">
              <a:lnSpc>
                <a:spcPct val="25000"/>
              </a:lnSpc>
              <a:spcBef>
                <a:spcPct val="50000"/>
              </a:spcBef>
            </a:pP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Capital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4D06335-D9BB-4B2A-95CA-02503241A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371600"/>
            <a:ext cx="182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50000"/>
              </a:spcBef>
            </a:pPr>
            <a:r>
              <a:rPr lang="it-IT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Human</a:t>
            </a:r>
            <a:r>
              <a:rPr lang="en-GB" altLang="en-US" sz="3200">
                <a:solidFill>
                  <a:schemeClr val="folHlink"/>
                </a:solidFill>
                <a:latin typeface="Comic Sans MS" panose="030F0702030302020204" pitchFamily="66" charset="0"/>
              </a:rPr>
              <a:t> Capital</a:t>
            </a:r>
          </a:p>
        </p:txBody>
      </p:sp>
      <p:sp>
        <p:nvSpPr>
          <p:cNvPr id="1054" name="Text Box 30">
            <a:extLst>
              <a:ext uri="{FF2B5EF4-FFF2-40B4-BE49-F238E27FC236}">
                <a16:creationId xmlns:a16="http://schemas.microsoft.com/office/drawing/2014/main" id="{E3397AE5-7AF7-4D91-97C0-20F599C5F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810000"/>
            <a:ext cx="1724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en-US" sz="2800" b="1">
                <a:solidFill>
                  <a:schemeClr val="folHlink"/>
                </a:solidFill>
                <a:latin typeface="Comic Sans MS" panose="030F0702030302020204" pitchFamily="66" charset="0"/>
              </a:rPr>
              <a:t>The Poor</a:t>
            </a:r>
            <a:endParaRPr lang="en-GB" altLang="en-US" sz="2800" b="1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00844271-00CB-4061-83AE-07F63C85A13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133600"/>
            <a:ext cx="4419600" cy="3733800"/>
            <a:chOff x="1392" y="1344"/>
            <a:chExt cx="2784" cy="2352"/>
          </a:xfrm>
        </p:grpSpPr>
        <p:sp>
          <p:nvSpPr>
            <p:cNvPr id="75786" name="AutoShape 29">
              <a:extLst>
                <a:ext uri="{FF2B5EF4-FFF2-40B4-BE49-F238E27FC236}">
                  <a16:creationId xmlns:a16="http://schemas.microsoft.com/office/drawing/2014/main" id="{C09B5628-F660-405E-924E-80054ABA6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344"/>
              <a:ext cx="2784" cy="2352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>
                <a:latin typeface="Calibri" panose="020F0502020204030204" pitchFamily="34" charset="0"/>
              </a:endParaRPr>
            </a:p>
          </p:txBody>
        </p:sp>
        <p:grpSp>
          <p:nvGrpSpPr>
            <p:cNvPr id="75787" name="Group 38">
              <a:extLst>
                <a:ext uri="{FF2B5EF4-FFF2-40B4-BE49-F238E27FC236}">
                  <a16:creationId xmlns:a16="http://schemas.microsoft.com/office/drawing/2014/main" id="{3D3B4309-8EA8-4AC8-A9DF-4C6155E38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344"/>
              <a:ext cx="2784" cy="2352"/>
              <a:chOff x="1536" y="2016"/>
              <a:chExt cx="2400" cy="1920"/>
            </a:xfrm>
          </p:grpSpPr>
          <p:sp>
            <p:nvSpPr>
              <p:cNvPr id="75788" name="Line 31">
                <a:extLst>
                  <a:ext uri="{FF2B5EF4-FFF2-40B4-BE49-F238E27FC236}">
                    <a16:creationId xmlns:a16="http://schemas.microsoft.com/office/drawing/2014/main" id="{BCD3B4E7-6509-4182-94D1-EFF94BAB0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758"/>
                <a:ext cx="672" cy="2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5789" name="Line 32">
                <a:extLst>
                  <a:ext uri="{FF2B5EF4-FFF2-40B4-BE49-F238E27FC236}">
                    <a16:creationId xmlns:a16="http://schemas.microsoft.com/office/drawing/2014/main" id="{8DEA6E83-B711-48C8-B2E4-B7DED2608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016"/>
                <a:ext cx="0" cy="82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5790" name="Line 33">
                <a:extLst>
                  <a:ext uri="{FF2B5EF4-FFF2-40B4-BE49-F238E27FC236}">
                    <a16:creationId xmlns:a16="http://schemas.microsoft.com/office/drawing/2014/main" id="{03F8A7E6-E7AE-476D-B113-D820303CA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2" y="2758"/>
                <a:ext cx="624" cy="2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75791" name="Group 36">
                <a:extLst>
                  <a:ext uri="{FF2B5EF4-FFF2-40B4-BE49-F238E27FC236}">
                    <a16:creationId xmlns:a16="http://schemas.microsoft.com/office/drawing/2014/main" id="{9BD1FFD2-D98A-42B5-BFE8-0C7996089F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4" y="3151"/>
                <a:ext cx="1484" cy="785"/>
                <a:chOff x="1872" y="3072"/>
                <a:chExt cx="1632" cy="864"/>
              </a:xfrm>
            </p:grpSpPr>
            <p:sp>
              <p:nvSpPr>
                <p:cNvPr id="75792" name="Line 34">
                  <a:extLst>
                    <a:ext uri="{FF2B5EF4-FFF2-40B4-BE49-F238E27FC236}">
                      <a16:creationId xmlns:a16="http://schemas.microsoft.com/office/drawing/2014/main" id="{28467F25-F727-4C27-A256-0A5D46F098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72" y="3072"/>
                  <a:ext cx="576" cy="8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5793" name="Line 35">
                  <a:extLst>
                    <a:ext uri="{FF2B5EF4-FFF2-40B4-BE49-F238E27FC236}">
                      <a16:creationId xmlns:a16="http://schemas.microsoft.com/office/drawing/2014/main" id="{4EB48BE8-935A-4AB6-AF44-A87B2B3683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928" y="3072"/>
                  <a:ext cx="576" cy="8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autoUpdateAnimBg="0"/>
      <p:bldP spid="1027" grpId="0" autoUpdateAnimBg="0"/>
      <p:bldP spid="1028" grpId="0" autoUpdateAnimBg="0"/>
      <p:bldP spid="1029" grpId="0" autoUpdateAnimBg="0"/>
      <p:bldP spid="1030" grpId="0" autoUpdateAnimBg="0"/>
      <p:bldP spid="1031" grpId="0" autoUpdateAnimBg="0"/>
      <p:bldP spid="1054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0ECDCFA-CBCD-4FA9-A95B-97CB949EE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Human Capital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DCE543D-8A06-4013-B209-A5480ACA6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7338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Health</a:t>
            </a: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Nutrition</a:t>
            </a: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Education</a:t>
            </a: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Knowledge and skills</a:t>
            </a: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Capacity to work</a:t>
            </a: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Capacity to adapt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build="p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647AF2A-9101-47BA-ACA5-B0C996EA3B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Natural Capital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98D9555-E821-4C90-B5D6-2EB87649C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381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Land and produce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Water </a:t>
            </a:r>
            <a:r>
              <a:rPr lang="it-IT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&amp; aquatic resources</a:t>
            </a: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Trees and forest products</a:t>
            </a: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Wildlife</a:t>
            </a:r>
            <a:endParaRPr lang="it-IT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E752BCC-6E6C-4428-827B-0C15D0812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002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Wild foods &amp; fibres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Biodiversity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Env</a:t>
            </a:r>
            <a:r>
              <a:rPr lang="it-IT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ironmental </a:t>
            </a: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services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it-IT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build="p" autoUpdateAnimBg="0"/>
      <p:bldP spid="9221" grpId="0" build="p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6E5323F-9841-41A7-91A1-F817C5E37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Social Capital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FDF2B8F-07E5-44CF-8646-B03A21DFE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 dirty="0">
                <a:solidFill>
                  <a:schemeClr val="folHlink"/>
                </a:solidFill>
                <a:latin typeface="Comic Sans MS" pitchFamily="66" charset="0"/>
              </a:rPr>
              <a:t>Networks and connections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o"/>
              <a:defRPr/>
            </a:pPr>
            <a:r>
              <a:rPr lang="it-IT" sz="2400" dirty="0">
                <a:solidFill>
                  <a:schemeClr val="folHlink"/>
                </a:solidFill>
                <a:latin typeface="Comic Sans MS" pitchFamily="66" charset="0"/>
              </a:rPr>
              <a:t>patronage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o"/>
              <a:defRPr/>
            </a:pPr>
            <a:r>
              <a:rPr lang="it-IT" sz="2400" dirty="0">
                <a:solidFill>
                  <a:schemeClr val="folHlink"/>
                </a:solidFill>
                <a:latin typeface="Comic Sans MS" pitchFamily="66" charset="0"/>
              </a:rPr>
              <a:t>neighbourhoods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o"/>
              <a:defRPr/>
            </a:pPr>
            <a:r>
              <a:rPr lang="it-IT" sz="2400" dirty="0">
                <a:solidFill>
                  <a:schemeClr val="folHlink"/>
                </a:solidFill>
                <a:latin typeface="Comic Sans MS" pitchFamily="66" charset="0"/>
              </a:rPr>
              <a:t>kinship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 dirty="0">
                <a:solidFill>
                  <a:schemeClr val="folHlink"/>
                </a:solidFill>
                <a:latin typeface="Comic Sans MS" pitchFamily="66" charset="0"/>
              </a:rPr>
              <a:t>Relations of trust and mutual support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 dirty="0">
                <a:solidFill>
                  <a:schemeClr val="folHlink"/>
                </a:solidFill>
                <a:latin typeface="Comic Sans MS" pitchFamily="66" charset="0"/>
              </a:rPr>
              <a:t>Formal and informal groups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 dirty="0">
                <a:solidFill>
                  <a:schemeClr val="folHlink"/>
                </a:solidFill>
                <a:latin typeface="Comic Sans MS" pitchFamily="66" charset="0"/>
              </a:rPr>
              <a:t>Common rules and sanctions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 dirty="0">
                <a:solidFill>
                  <a:schemeClr val="folHlink"/>
                </a:solidFill>
                <a:latin typeface="Comic Sans MS" pitchFamily="66" charset="0"/>
              </a:rPr>
              <a:t>Collective representation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 dirty="0">
                <a:solidFill>
                  <a:schemeClr val="folHlink"/>
                </a:solidFill>
                <a:latin typeface="Comic Sans MS" pitchFamily="66" charset="0"/>
              </a:rPr>
              <a:t>Mechanisms for participation in decision-making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 dirty="0">
                <a:solidFill>
                  <a:schemeClr val="folHlink"/>
                </a:solidFill>
                <a:latin typeface="Comic Sans MS" pitchFamily="66" charset="0"/>
              </a:rPr>
              <a:t>Leadership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en-GB" sz="2800" dirty="0">
              <a:solidFill>
                <a:schemeClr val="folHlink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1" grpId="0" build="p" bldLvl="2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9A5057-A778-4AE0-B023-255EFC283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Physical Capital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F7ACF8C-9A32-455E-90C9-04A7EFF28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2672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en-GB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Infrastructure</a:t>
            </a: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transport </a:t>
            </a: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- roads, vehicles, etc.</a:t>
            </a:r>
            <a:endParaRPr lang="en-GB" altLang="en-US" sz="20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secure shelter &amp; buildings</a:t>
            </a: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water supply &amp; sanitation</a:t>
            </a: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energy</a:t>
            </a: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communications</a:t>
            </a: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 sz="2800">
                <a:solidFill>
                  <a:schemeClr val="folHlink"/>
                </a:solidFill>
                <a:latin typeface="Comic Sans MS" panose="030F0702030302020204" pitchFamily="66" charset="0"/>
              </a:rPr>
              <a:t>Tools and techology</a:t>
            </a:r>
            <a:endParaRPr lang="en-GB" altLang="en-US" sz="2800">
              <a:solidFill>
                <a:schemeClr val="folHlink"/>
              </a:solidFill>
              <a:latin typeface="Comic Sans MS" panose="030F0702030302020204" pitchFamily="66" charset="0"/>
            </a:endParaRP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tools and equipment for production</a:t>
            </a: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s</a:t>
            </a:r>
            <a:r>
              <a: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eed</a:t>
            </a: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, fertiliser, pesticides</a:t>
            </a:r>
          </a:p>
          <a:p>
            <a:pPr lvl="1" eaLnBrk="1" hangingPunct="1">
              <a:buClr>
                <a:schemeClr val="folHlink"/>
              </a:buClr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</a:rPr>
              <a:t>traditional technology</a:t>
            </a:r>
            <a:endParaRPr lang="en-GB" altLang="en-US" sz="2000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build="p" bldLvl="2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DCFA782-F3D9-40AB-883F-4C0D20818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Financial Capital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6189E68-2350-48EF-BED4-827029DE6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</a:rPr>
              <a:t>S</a:t>
            </a:r>
            <a:r>
              <a:rPr lang="en-GB" sz="2800">
                <a:solidFill>
                  <a:schemeClr val="folHlink"/>
                </a:solidFill>
                <a:latin typeface="Comic Sans MS" pitchFamily="66" charset="0"/>
              </a:rPr>
              <a:t>avings</a:t>
            </a:r>
            <a:endParaRPr lang="it-IT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en-GB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en-GB" sz="2800">
                <a:solidFill>
                  <a:schemeClr val="folHlink"/>
                </a:solidFill>
                <a:latin typeface="Comic Sans MS" pitchFamily="66" charset="0"/>
              </a:rPr>
              <a:t>Credit/debt</a:t>
            </a:r>
            <a:r>
              <a:rPr lang="it-IT" sz="2800">
                <a:solidFill>
                  <a:schemeClr val="folHlink"/>
                </a:solidFill>
                <a:latin typeface="Comic Sans MS" pitchFamily="66" charset="0"/>
              </a:rPr>
              <a:t> - formal, informal, NGOs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en-GB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en-GB" sz="2800">
                <a:solidFill>
                  <a:schemeClr val="folHlink"/>
                </a:solidFill>
                <a:latin typeface="Comic Sans MS" pitchFamily="66" charset="0"/>
              </a:rPr>
              <a:t>Remittances</a:t>
            </a:r>
            <a:endParaRPr lang="it-IT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en-GB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en-GB" sz="2800">
                <a:solidFill>
                  <a:schemeClr val="folHlink"/>
                </a:solidFill>
                <a:latin typeface="Comic Sans MS" pitchFamily="66" charset="0"/>
              </a:rPr>
              <a:t>Pensions</a:t>
            </a:r>
            <a:endParaRPr lang="it-IT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it-IT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</a:rPr>
              <a:t>Wages</a:t>
            </a:r>
            <a:endParaRPr lang="en-GB" sz="2800">
              <a:solidFill>
                <a:schemeClr val="folHlink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build="p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1830890-270E-429D-89D8-1F38ADCE4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The Asset Mix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8E891DE-0EF8-4EC3-B1CD-2A979BA83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ifferent households 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with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different access to 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livelihood 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“assets”</a:t>
            </a:r>
            <a:endParaRPr lang="it-IT" altLang="en-US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endParaRPr lang="it-IT" altLang="en-US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Livelihoods affected by:</a:t>
            </a:r>
          </a:p>
          <a:p>
            <a:pPr lvl="1" eaLnBrk="1" hangingPunct="1">
              <a:buClr>
                <a:schemeClr val="folHlink"/>
              </a:buClr>
              <a:buFontTx/>
              <a:buChar char="o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d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iversity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of assets</a:t>
            </a:r>
          </a:p>
          <a:p>
            <a:pPr lvl="1" eaLnBrk="1" hangingPunct="1">
              <a:buClr>
                <a:schemeClr val="folHlink"/>
              </a:buClr>
              <a:buFontTx/>
              <a:buChar char="o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amount of assets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buClr>
                <a:schemeClr val="folHlink"/>
              </a:buClr>
              <a:buFontTx/>
              <a:buChar char="o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balance 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between assets</a:t>
            </a:r>
          </a:p>
          <a:p>
            <a:pPr eaLnBrk="1" hangingPunct="1">
              <a:buClr>
                <a:schemeClr val="folHlink"/>
              </a:buClr>
              <a:buFontTx/>
              <a:buChar char="•"/>
            </a:pPr>
            <a:endParaRPr lang="en-GB" altLang="en-US" sz="3600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utoUpdateAnimBg="0"/>
      <p:bldP spid="14339" grpId="0" build="p" bldLvl="2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8E80167-EBDF-441A-9D46-D1C2C65B1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7772400" cy="1143000"/>
          </a:xfrm>
        </p:spPr>
        <p:txBody>
          <a:bodyPr/>
          <a:lstStyle/>
          <a:p>
            <a:pPr algn="l" eaLnBrk="1" hangingPunct="1"/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</a:rPr>
              <a:t>So……..</a:t>
            </a:r>
            <a:endParaRPr lang="en-GB" altLang="en-US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13331" name="Text Box 19">
            <a:extLst>
              <a:ext uri="{FF2B5EF4-FFF2-40B4-BE49-F238E27FC236}">
                <a16:creationId xmlns:a16="http://schemas.microsoft.com/office/drawing/2014/main" id="{3AD0F908-F695-4CC2-A23D-CC994D293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17500"/>
            <a:ext cx="4648200" cy="622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Human capital</a:t>
            </a:r>
          </a:p>
          <a:p>
            <a:pPr eaLnBrk="1" hangingPunct="1"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labour capacity</a:t>
            </a:r>
            <a:endParaRPr lang="it-IT" altLang="en-US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no 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education</a:t>
            </a:r>
            <a:endParaRPr lang="it-IT" altLang="en-US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limited skills</a:t>
            </a:r>
          </a:p>
          <a:p>
            <a:pPr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Natural capital</a:t>
            </a:r>
          </a:p>
          <a:p>
            <a:pPr eaLnBrk="1" hangingPunct="1"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landless</a:t>
            </a: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access to common property resources</a:t>
            </a:r>
          </a:p>
          <a:p>
            <a:pPr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Financial capital</a:t>
            </a:r>
          </a:p>
          <a:p>
            <a:pPr eaLnBrk="1" hangingPunct="1"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low wages</a:t>
            </a: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no access to credit</a:t>
            </a:r>
          </a:p>
          <a:p>
            <a:pPr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Physical capital</a:t>
            </a:r>
          </a:p>
          <a:p>
            <a:pPr eaLnBrk="1" hangingPunct="1"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poor water supply</a:t>
            </a: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poor housing</a:t>
            </a: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poor communications</a:t>
            </a:r>
          </a:p>
          <a:p>
            <a:pPr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Social capital</a:t>
            </a:r>
          </a:p>
          <a:p>
            <a:pPr eaLnBrk="1" hangingPunct="1">
              <a:buFontTx/>
              <a:buChar char="•"/>
            </a:pPr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GB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low social status</a:t>
            </a:r>
            <a:endParaRPr lang="it-IT" altLang="en-US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descrimination against women</a:t>
            </a: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strong links with family &amp; friends</a:t>
            </a:r>
          </a:p>
          <a:p>
            <a:pPr eaLnBrk="1" hangingPunct="1">
              <a:buFontTx/>
              <a:buChar char="•"/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traditions of reciprocal exchange</a:t>
            </a:r>
          </a:p>
          <a:p>
            <a:pPr eaLnBrk="1" hangingPunct="1"/>
            <a:r>
              <a:rPr lang="it-IT" altLang="en-US" sz="20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= </a:t>
            </a:r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an </a:t>
            </a:r>
            <a:r>
              <a:rPr lang="en-GB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extremely reduced “livelihood</a:t>
            </a:r>
            <a:endParaRPr lang="it-IT" altLang="en-US" sz="2000" b="1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</a:t>
            </a:r>
            <a:r>
              <a:rPr lang="en-GB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pentagon”</a:t>
            </a:r>
          </a:p>
        </p:txBody>
      </p:sp>
      <p:sp>
        <p:nvSpPr>
          <p:cNvPr id="13332" name="Text Box 20">
            <a:extLst>
              <a:ext uri="{FF2B5EF4-FFF2-40B4-BE49-F238E27FC236}">
                <a16:creationId xmlns:a16="http://schemas.microsoft.com/office/drawing/2014/main" id="{E1CB426B-4C98-4C7E-9B23-92E232A76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19200"/>
            <a:ext cx="2057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Landless</a:t>
            </a:r>
          </a:p>
          <a:p>
            <a:pPr algn="ctr"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female</a:t>
            </a:r>
          </a:p>
          <a:p>
            <a:pPr algn="ctr" eaLnBrk="1" hangingPunct="1"/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agricultural </a:t>
            </a:r>
          </a:p>
          <a:p>
            <a:pPr algn="ctr" eaLnBrk="1" hangingPunct="1"/>
            <a:r>
              <a:rPr lang="en-GB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labourer</a:t>
            </a:r>
            <a:endParaRPr lang="it-IT" altLang="en-US" sz="2000" b="1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4">
            <a:extLst>
              <a:ext uri="{FF2B5EF4-FFF2-40B4-BE49-F238E27FC236}">
                <a16:creationId xmlns:a16="http://schemas.microsoft.com/office/drawing/2014/main" id="{E744868A-1137-450B-B0D0-9CDB0B60E381}"/>
              </a:ext>
            </a:extLst>
          </p:cNvPr>
          <p:cNvGrpSpPr>
            <a:grpSpLocks/>
          </p:cNvGrpSpPr>
          <p:nvPr/>
        </p:nvGrpSpPr>
        <p:grpSpPr bwMode="auto">
          <a:xfrm>
            <a:off x="0" y="2590800"/>
            <a:ext cx="4572000" cy="2797175"/>
            <a:chOff x="0" y="1632"/>
            <a:chExt cx="2880" cy="1762"/>
          </a:xfrm>
        </p:grpSpPr>
        <p:grpSp>
          <p:nvGrpSpPr>
            <p:cNvPr id="82956" name="Group 32">
              <a:extLst>
                <a:ext uri="{FF2B5EF4-FFF2-40B4-BE49-F238E27FC236}">
                  <a16:creationId xmlns:a16="http://schemas.microsoft.com/office/drawing/2014/main" id="{7F01A44A-1CEB-43F9-B86E-BC8B8D2BD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32"/>
              <a:ext cx="2880" cy="1762"/>
              <a:chOff x="0" y="1632"/>
              <a:chExt cx="2880" cy="1762"/>
            </a:xfrm>
          </p:grpSpPr>
          <p:sp>
            <p:nvSpPr>
              <p:cNvPr id="82963" name="Rectangle 4">
                <a:extLst>
                  <a:ext uri="{FF2B5EF4-FFF2-40B4-BE49-F238E27FC236}">
                    <a16:creationId xmlns:a16="http://schemas.microsoft.com/office/drawing/2014/main" id="{B99E219D-CF55-483E-9480-1B828783D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000"/>
                <a:ext cx="816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Financial </a:t>
                </a:r>
              </a:p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Capital</a:t>
                </a:r>
              </a:p>
            </p:txBody>
          </p:sp>
          <p:sp>
            <p:nvSpPr>
              <p:cNvPr id="82964" name="Rectangle 5">
                <a:extLst>
                  <a:ext uri="{FF2B5EF4-FFF2-40B4-BE49-F238E27FC236}">
                    <a16:creationId xmlns:a16="http://schemas.microsoft.com/office/drawing/2014/main" id="{F99333C3-CE24-48C7-B0DF-741F0CAA4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256"/>
                <a:ext cx="720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Social </a:t>
                </a:r>
              </a:p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Capital</a:t>
                </a:r>
              </a:p>
            </p:txBody>
          </p:sp>
          <p:sp>
            <p:nvSpPr>
              <p:cNvPr id="82965" name="Rectangle 6">
                <a:extLst>
                  <a:ext uri="{FF2B5EF4-FFF2-40B4-BE49-F238E27FC236}">
                    <a16:creationId xmlns:a16="http://schemas.microsoft.com/office/drawing/2014/main" id="{4381858E-1075-4518-9DC5-6BDADE106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000"/>
                <a:ext cx="864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Physical </a:t>
                </a:r>
              </a:p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Capital</a:t>
                </a:r>
              </a:p>
            </p:txBody>
          </p:sp>
          <p:sp>
            <p:nvSpPr>
              <p:cNvPr id="82966" name="Rectangle 7">
                <a:extLst>
                  <a:ext uri="{FF2B5EF4-FFF2-40B4-BE49-F238E27FC236}">
                    <a16:creationId xmlns:a16="http://schemas.microsoft.com/office/drawing/2014/main" id="{A2F1EEAF-169F-4DA0-A0DE-618AA6F2D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632"/>
                <a:ext cx="1152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75000"/>
                  </a:lnSpc>
                  <a:spcBef>
                    <a:spcPct val="50000"/>
                  </a:spcBef>
                </a:pPr>
                <a:r>
                  <a:rPr lang="it-IT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Human</a:t>
                </a: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 Capital</a:t>
                </a:r>
              </a:p>
            </p:txBody>
          </p:sp>
          <p:sp>
            <p:nvSpPr>
              <p:cNvPr id="82967" name="AutoShape 8">
                <a:extLst>
                  <a:ext uri="{FF2B5EF4-FFF2-40B4-BE49-F238E27FC236}">
                    <a16:creationId xmlns:a16="http://schemas.microsoft.com/office/drawing/2014/main" id="{4585DD2B-907B-42D1-9109-D909CAE0D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968"/>
                <a:ext cx="1488" cy="1248"/>
              </a:xfrm>
              <a:prstGeom prst="pentagon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82968" name="Rectangle 17">
                <a:extLst>
                  <a:ext uri="{FF2B5EF4-FFF2-40B4-BE49-F238E27FC236}">
                    <a16:creationId xmlns:a16="http://schemas.microsoft.com/office/drawing/2014/main" id="{752F86B5-E43B-48E8-823A-5F67CCD2C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256"/>
                <a:ext cx="720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it-IT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Natural</a:t>
                </a: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 </a:t>
                </a:r>
              </a:p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Capital</a:t>
                </a:r>
              </a:p>
            </p:txBody>
          </p:sp>
        </p:grpSp>
        <p:grpSp>
          <p:nvGrpSpPr>
            <p:cNvPr id="82957" name="Group 33">
              <a:extLst>
                <a:ext uri="{FF2B5EF4-FFF2-40B4-BE49-F238E27FC236}">
                  <a16:creationId xmlns:a16="http://schemas.microsoft.com/office/drawing/2014/main" id="{07942C37-0DAE-4B5D-B7A4-E8A0118456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968"/>
              <a:ext cx="1488" cy="1248"/>
              <a:chOff x="672" y="1968"/>
              <a:chExt cx="1488" cy="1248"/>
            </a:xfrm>
          </p:grpSpPr>
          <p:sp>
            <p:nvSpPr>
              <p:cNvPr id="82958" name="Line 11">
                <a:extLst>
                  <a:ext uri="{FF2B5EF4-FFF2-40B4-BE49-F238E27FC236}">
                    <a16:creationId xmlns:a16="http://schemas.microsoft.com/office/drawing/2014/main" id="{A9F4D8D9-3006-493A-A965-6E452A7DE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450"/>
                <a:ext cx="720" cy="1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2959" name="Line 12">
                <a:extLst>
                  <a:ext uri="{FF2B5EF4-FFF2-40B4-BE49-F238E27FC236}">
                    <a16:creationId xmlns:a16="http://schemas.microsoft.com/office/drawing/2014/main" id="{3F6E0572-CFBB-47E7-B779-3957638CF9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6" y="1968"/>
                <a:ext cx="0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2960" name="Line 15">
                <a:extLst>
                  <a:ext uri="{FF2B5EF4-FFF2-40B4-BE49-F238E27FC236}">
                    <a16:creationId xmlns:a16="http://schemas.microsoft.com/office/drawing/2014/main" id="{6B643FC6-AFE2-4217-9AA6-5765D0B18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56" y="2640"/>
                <a:ext cx="436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2961" name="Line 21">
                <a:extLst>
                  <a:ext uri="{FF2B5EF4-FFF2-40B4-BE49-F238E27FC236}">
                    <a16:creationId xmlns:a16="http://schemas.microsoft.com/office/drawing/2014/main" id="{7E81ECBF-C717-4305-80D3-E26DC79AA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40" y="2640"/>
                <a:ext cx="436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2962" name="Line 22">
                <a:extLst>
                  <a:ext uri="{FF2B5EF4-FFF2-40B4-BE49-F238E27FC236}">
                    <a16:creationId xmlns:a16="http://schemas.microsoft.com/office/drawing/2014/main" id="{944F1DCF-B3B5-43ED-BED5-10D1C046D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2448"/>
                <a:ext cx="720" cy="1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4030D885-F2D5-4783-8FFE-8BD6F790F88F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657600"/>
            <a:ext cx="762000" cy="838200"/>
            <a:chOff x="1104" y="2304"/>
            <a:chExt cx="480" cy="528"/>
          </a:xfrm>
        </p:grpSpPr>
        <p:sp>
          <p:nvSpPr>
            <p:cNvPr id="82951" name="Line 23">
              <a:extLst>
                <a:ext uri="{FF2B5EF4-FFF2-40B4-BE49-F238E27FC236}">
                  <a16:creationId xmlns:a16="http://schemas.microsoft.com/office/drawing/2014/main" id="{963835C8-7D9F-4EB6-8015-4734D0058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544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52" name="Line 24">
              <a:extLst>
                <a:ext uri="{FF2B5EF4-FFF2-40B4-BE49-F238E27FC236}">
                  <a16:creationId xmlns:a16="http://schemas.microsoft.com/office/drawing/2014/main" id="{9374BE4F-3D29-41B2-9CA0-151146682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2304"/>
              <a:ext cx="28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53" name="Line 25">
              <a:extLst>
                <a:ext uri="{FF2B5EF4-FFF2-40B4-BE49-F238E27FC236}">
                  <a16:creationId xmlns:a16="http://schemas.microsoft.com/office/drawing/2014/main" id="{48D883FA-47A9-41A4-B145-50C980B57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304"/>
              <a:ext cx="192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54" name="Line 26">
              <a:extLst>
                <a:ext uri="{FF2B5EF4-FFF2-40B4-BE49-F238E27FC236}">
                  <a16:creationId xmlns:a16="http://schemas.microsoft.com/office/drawing/2014/main" id="{D739E9A7-8005-4688-AD79-31FCD23CB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784"/>
              <a:ext cx="288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55" name="Line 27">
              <a:extLst>
                <a:ext uri="{FF2B5EF4-FFF2-40B4-BE49-F238E27FC236}">
                  <a16:creationId xmlns:a16="http://schemas.microsoft.com/office/drawing/2014/main" id="{67486B2D-591F-410F-B31F-5DC7C3FCF4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592"/>
              <a:ext cx="48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3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3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3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3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33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3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33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33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31" grpId="0" build="p" autoUpdateAnimBg="0"/>
      <p:bldP spid="13332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3C3041B-122C-4BBC-B5C8-6D941B267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“Vulnerability” Context</a:t>
            </a:r>
            <a:endParaRPr lang="en-GB" altLang="en-US" b="1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9B01B8E-A29C-416E-B5B3-DD2D8F480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5240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r>
              <a:rPr lang="it-IT" altLang="en-US" sz="2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Shocks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Floods, droughts, cyclones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Deaths in the family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Violence or civil unrest</a:t>
            </a: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r>
              <a:rPr lang="it-IT" altLang="en-US" sz="2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Seasonality</a:t>
            </a:r>
            <a:endParaRPr lang="it-IT" altLang="en-US" sz="2800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FontTx/>
              <a:buChar char="•"/>
            </a:pPr>
            <a:r>
              <a:rPr lang="it-IT" altLang="en-US" sz="2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Trends</a:t>
            </a: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and </a:t>
            </a:r>
            <a:r>
              <a:rPr lang="it-IT" altLang="en-US" sz="2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changes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Population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Environmental change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Technology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Markets and trade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</a:pPr>
            <a:r>
              <a:rPr lang="it-IT" altLang="en-US" sz="2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Globalisation</a:t>
            </a:r>
            <a:endParaRPr lang="en-GB" altLang="en-US" sz="2400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3" grpId="0" build="p" bldLvl="2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>
            <a:extLst>
              <a:ext uri="{FF2B5EF4-FFF2-40B4-BE49-F238E27FC236}">
                <a16:creationId xmlns:a16="http://schemas.microsoft.com/office/drawing/2014/main" id="{A0660F1D-0A34-4E65-868A-89599AE439FF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676400"/>
            <a:ext cx="4724400" cy="3800475"/>
            <a:chOff x="1872" y="1104"/>
            <a:chExt cx="2976" cy="2394"/>
          </a:xfrm>
        </p:grpSpPr>
        <p:sp>
          <p:nvSpPr>
            <p:cNvPr id="84999" name="Line 7">
              <a:extLst>
                <a:ext uri="{FF2B5EF4-FFF2-40B4-BE49-F238E27FC236}">
                  <a16:creationId xmlns:a16="http://schemas.microsoft.com/office/drawing/2014/main" id="{A08296C8-A231-42D7-B232-4F362F46D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3" y="2214"/>
              <a:ext cx="1143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00" name="Line 8">
              <a:extLst>
                <a:ext uri="{FF2B5EF4-FFF2-40B4-BE49-F238E27FC236}">
                  <a16:creationId xmlns:a16="http://schemas.microsoft.com/office/drawing/2014/main" id="{E7D40BA9-E56F-48AB-8FBC-60970DC9A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4" y="1519"/>
              <a:ext cx="0" cy="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01" name="Line 9">
              <a:extLst>
                <a:ext uri="{FF2B5EF4-FFF2-40B4-BE49-F238E27FC236}">
                  <a16:creationId xmlns:a16="http://schemas.microsoft.com/office/drawing/2014/main" id="{754A73F2-0748-468A-8610-C1B7AF06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4" y="2487"/>
              <a:ext cx="692" cy="8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02" name="Line 11">
              <a:extLst>
                <a:ext uri="{FF2B5EF4-FFF2-40B4-BE49-F238E27FC236}">
                  <a16:creationId xmlns:a16="http://schemas.microsoft.com/office/drawing/2014/main" id="{063BC25E-5956-4D73-82DA-EA24273BB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12" y="2487"/>
              <a:ext cx="692" cy="8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03" name="Line 12">
              <a:extLst>
                <a:ext uri="{FF2B5EF4-FFF2-40B4-BE49-F238E27FC236}">
                  <a16:creationId xmlns:a16="http://schemas.microsoft.com/office/drawing/2014/main" id="{0B9FDC70-F0E2-4012-BD87-DAE07EDA15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2" y="2211"/>
              <a:ext cx="1143" cy="2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85004" name="Group 16">
              <a:extLst>
                <a:ext uri="{FF2B5EF4-FFF2-40B4-BE49-F238E27FC236}">
                  <a16:creationId xmlns:a16="http://schemas.microsoft.com/office/drawing/2014/main" id="{02870885-8FAE-4926-BE90-AA662B3DBE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104"/>
              <a:ext cx="2976" cy="2394"/>
              <a:chOff x="1872" y="1104"/>
              <a:chExt cx="2976" cy="2394"/>
            </a:xfrm>
          </p:grpSpPr>
          <p:grpSp>
            <p:nvGrpSpPr>
              <p:cNvPr id="85005" name="Group 15">
                <a:extLst>
                  <a:ext uri="{FF2B5EF4-FFF2-40B4-BE49-F238E27FC236}">
                    <a16:creationId xmlns:a16="http://schemas.microsoft.com/office/drawing/2014/main" id="{34CC658D-CC5A-4B1B-B5FC-702E103D79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2" y="1104"/>
                <a:ext cx="2976" cy="2394"/>
                <a:chOff x="1872" y="1104"/>
                <a:chExt cx="2976" cy="2394"/>
              </a:xfrm>
            </p:grpSpPr>
            <p:sp>
              <p:nvSpPr>
                <p:cNvPr id="85007" name="Rectangle 3">
                  <a:extLst>
                    <a:ext uri="{FF2B5EF4-FFF2-40B4-BE49-F238E27FC236}">
                      <a16:creationId xmlns:a16="http://schemas.microsoft.com/office/drawing/2014/main" id="{44476746-63F5-498F-B9D3-C2288E7C12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4" y="3248"/>
                  <a:ext cx="24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25000"/>
                    </a:lnSpc>
                    <a:spcBef>
                      <a:spcPct val="50000"/>
                    </a:spcBef>
                  </a:pP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  <a:p>
                  <a:pPr>
                    <a:lnSpc>
                      <a:spcPct val="25000"/>
                    </a:lnSpc>
                    <a:spcBef>
                      <a:spcPct val="50000"/>
                    </a:spcBef>
                  </a:pPr>
                  <a:r>
                    <a:rPr lang="en-GB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F</a:t>
                  </a:r>
                </a:p>
              </p:txBody>
            </p:sp>
            <p:sp>
              <p:nvSpPr>
                <p:cNvPr id="85008" name="Rectangle 4">
                  <a:extLst>
                    <a:ext uri="{FF2B5EF4-FFF2-40B4-BE49-F238E27FC236}">
                      <a16:creationId xmlns:a16="http://schemas.microsoft.com/office/drawing/2014/main" id="{84B96811-17D7-41DD-9FDC-28FB88B9A8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3248"/>
                  <a:ext cx="29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r">
                    <a:lnSpc>
                      <a:spcPct val="25000"/>
                    </a:lnSpc>
                    <a:spcBef>
                      <a:spcPct val="50000"/>
                    </a:spcBef>
                  </a:pP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  <a:p>
                  <a:pPr algn="r">
                    <a:lnSpc>
                      <a:spcPct val="25000"/>
                    </a:lnSpc>
                    <a:spcBef>
                      <a:spcPct val="50000"/>
                    </a:spcBef>
                  </a:pPr>
                  <a:r>
                    <a:rPr lang="it-IT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P</a:t>
                  </a: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85009" name="Rectangle 5">
                  <a:extLst>
                    <a:ext uri="{FF2B5EF4-FFF2-40B4-BE49-F238E27FC236}">
                      <a16:creationId xmlns:a16="http://schemas.microsoft.com/office/drawing/2014/main" id="{AE3B498E-144C-4B59-9ECC-674F50F95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2" y="1104"/>
                  <a:ext cx="423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75000"/>
                    </a:lnSpc>
                    <a:spcBef>
                      <a:spcPct val="50000"/>
                    </a:spcBef>
                  </a:pPr>
                  <a:r>
                    <a:rPr lang="it-IT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H</a:t>
                  </a: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85010" name="AutoShape 6">
                  <a:extLst>
                    <a:ext uri="{FF2B5EF4-FFF2-40B4-BE49-F238E27FC236}">
                      <a16:creationId xmlns:a16="http://schemas.microsoft.com/office/drawing/2014/main" id="{CEAF0CA9-4E2A-4A3E-9A60-FF51F262B5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3" y="1519"/>
                  <a:ext cx="2362" cy="1798"/>
                </a:xfrm>
                <a:prstGeom prst="pentagon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85011" name="Rectangle 10">
                  <a:extLst>
                    <a:ext uri="{FF2B5EF4-FFF2-40B4-BE49-F238E27FC236}">
                      <a16:creationId xmlns:a16="http://schemas.microsoft.com/office/drawing/2014/main" id="{49BCCEB9-F661-45EA-A685-BB56717096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55" y="1934"/>
                  <a:ext cx="29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25000"/>
                    </a:lnSpc>
                    <a:spcBef>
                      <a:spcPct val="50000"/>
                    </a:spcBef>
                  </a:pP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  <a:p>
                  <a:pPr>
                    <a:lnSpc>
                      <a:spcPct val="25000"/>
                    </a:lnSpc>
                    <a:spcBef>
                      <a:spcPct val="50000"/>
                    </a:spcBef>
                  </a:pPr>
                  <a:r>
                    <a:rPr lang="it-IT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N</a:t>
                  </a: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85012" name="Rectangle 13">
                  <a:extLst>
                    <a:ext uri="{FF2B5EF4-FFF2-40B4-BE49-F238E27FC236}">
                      <a16:creationId xmlns:a16="http://schemas.microsoft.com/office/drawing/2014/main" id="{F5B3A3A7-F3EE-4B09-B3DC-8588411102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003"/>
                  <a:ext cx="32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r">
                    <a:lnSpc>
                      <a:spcPct val="25000"/>
                    </a:lnSpc>
                    <a:spcBef>
                      <a:spcPct val="50000"/>
                    </a:spcBef>
                  </a:pP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  <a:p>
                  <a:pPr algn="r">
                    <a:lnSpc>
                      <a:spcPct val="25000"/>
                    </a:lnSpc>
                    <a:spcBef>
                      <a:spcPct val="50000"/>
                    </a:spcBef>
                  </a:pPr>
                  <a:r>
                    <a:rPr lang="it-IT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S</a:t>
                  </a: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  <p:sp>
            <p:nvSpPr>
              <p:cNvPr id="85006" name="Text Box 14">
                <a:extLst>
                  <a:ext uri="{FF2B5EF4-FFF2-40B4-BE49-F238E27FC236}">
                    <a16:creationId xmlns:a16="http://schemas.microsoft.com/office/drawing/2014/main" id="{D94FF85C-9B21-4973-AEE3-301E9F3DC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0" y="2280"/>
                <a:ext cx="964" cy="2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it-IT" altLang="en-US" sz="2000" b="1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The people</a:t>
                </a:r>
                <a:endParaRPr lang="en-GB" altLang="en-US" sz="2000" b="1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8450" name="AutoShape 18">
            <a:extLst>
              <a:ext uri="{FF2B5EF4-FFF2-40B4-BE49-F238E27FC236}">
                <a16:creationId xmlns:a16="http://schemas.microsoft.com/office/drawing/2014/main" id="{3D875C4E-14EF-4D53-B845-BDE33A5E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676400"/>
            <a:ext cx="2895600" cy="717550"/>
          </a:xfrm>
          <a:prstGeom prst="curvedDownArrow">
            <a:avLst>
              <a:gd name="adj1" fmla="val 53338"/>
              <a:gd name="adj2" fmla="val 134046"/>
              <a:gd name="adj3" fmla="val 33333"/>
            </a:avLst>
          </a:prstGeom>
          <a:solidFill>
            <a:schemeClr val="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18451" name="AutoShape 19">
            <a:extLst>
              <a:ext uri="{FF2B5EF4-FFF2-40B4-BE49-F238E27FC236}">
                <a16:creationId xmlns:a16="http://schemas.microsoft.com/office/drawing/2014/main" id="{1E286F23-4D98-48A0-B89A-6798A24BD53B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286000" y="5561013"/>
            <a:ext cx="2895600" cy="717550"/>
          </a:xfrm>
          <a:prstGeom prst="curvedDownArrow">
            <a:avLst>
              <a:gd name="adj1" fmla="val 53338"/>
              <a:gd name="adj2" fmla="val 134046"/>
              <a:gd name="adj3" fmla="val 33333"/>
            </a:avLst>
          </a:prstGeom>
          <a:solidFill>
            <a:schemeClr val="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D5630C05-47B6-4404-8224-A90E0331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819400"/>
            <a:ext cx="1905000" cy="2133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Vulnerability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Context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Shocks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Seasonality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Trends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Changes</a:t>
            </a:r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84998" name="Rectangle 22">
            <a:extLst>
              <a:ext uri="{FF2B5EF4-FFF2-40B4-BE49-F238E27FC236}">
                <a16:creationId xmlns:a16="http://schemas.microsoft.com/office/drawing/2014/main" id="{BD07FDF7-D39E-4BAF-90FC-058A0EDD4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en-US" sz="4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“Vulnerability” Context</a:t>
            </a:r>
            <a:endParaRPr lang="en-GB" altLang="en-US" sz="4400" b="1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0" grpId="0" animBg="1"/>
      <p:bldP spid="18451" grpId="0" animBg="1"/>
      <p:bldP spid="18453" grpId="0" animBg="1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333AC77-0620-4113-9FC4-6CA0F3BC5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543800" cy="685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it-IT" sz="3200" b="1" dirty="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Transforming structures and processes</a:t>
            </a:r>
            <a:endParaRPr lang="en-GB" sz="3200" b="1" dirty="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27065AA-BA1C-440A-9337-6024DD5FB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3352800" cy="7620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buFontTx/>
              <a:buChar char="•"/>
            </a:pPr>
            <a:r>
              <a:rPr lang="it-IT" altLang="en-US" sz="28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Policies</a:t>
            </a:r>
            <a:endParaRPr lang="en-GB" altLang="en-US" sz="2800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E08D367C-8473-4BAC-A0E0-825A35278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914400"/>
            <a:ext cx="6096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of government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of different LEVELS of government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of NGOs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of interational bodies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85C67CDC-4491-4FC1-9D56-16FB0AC6E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362200"/>
            <a:ext cx="3352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sz="28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Institutions</a:t>
            </a:r>
            <a:endParaRPr lang="en-GB" altLang="en-US" sz="2800">
              <a:latin typeface="Calibri" panose="020F0502020204030204" pitchFamily="34" charset="0"/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E2F98ED9-2F75-4EB2-A2C0-AE38106E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953000"/>
            <a:ext cx="3352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sz="28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Processes</a:t>
            </a:r>
            <a:endParaRPr lang="en-GB" altLang="en-US" sz="2800">
              <a:latin typeface="Calibri" panose="020F0502020204030204" pitchFamily="34" charset="0"/>
            </a:endParaRP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C51E141B-CB2E-4C5E-8448-FC72D7719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362200"/>
            <a:ext cx="6096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political, legislative &amp; representative bodies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executive agencies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judicial bodies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civil society &amp; membership organisations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NGOs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law, money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political parties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commercial enterprises &amp; corporations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6F8C3571-9E01-4DA0-9A80-A297C77CB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953000"/>
            <a:ext cx="5715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the “rules of the game”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decision-making processes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social norms &amp; customs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gender, caste, class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lang="it-IT" altLang="en-US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language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3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3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3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build="p" autoUpdateAnimBg="0"/>
      <p:bldP spid="16388" grpId="0" build="p" bldLvl="2" autoUpdateAnimBg="0"/>
      <p:bldP spid="16389" grpId="0" autoUpdateAnimBg="0"/>
      <p:bldP spid="16390" grpId="0" autoUpdateAnimBg="0"/>
      <p:bldP spid="16391" grpId="0" build="p" bldLvl="2" autoUpdateAnimBg="0"/>
      <p:bldP spid="16393" grpId="0" build="p" bldLvl="2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9" name="Rectangle 21">
            <a:extLst>
              <a:ext uri="{FF2B5EF4-FFF2-40B4-BE49-F238E27FC236}">
                <a16:creationId xmlns:a16="http://schemas.microsoft.com/office/drawing/2014/main" id="{67C517A7-5B80-490B-AF56-DBCDA16B2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429000"/>
            <a:ext cx="1676400" cy="11430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Policies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Institutions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20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Processes</a:t>
            </a:r>
            <a:endParaRPr lang="en-GB" altLang="en-US" sz="2000">
              <a:latin typeface="Calibri" panose="020F0502020204030204" pitchFamily="34" charset="0"/>
            </a:endParaRP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E177FB3B-BA9F-4E65-ADA2-4A52E02A393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133600"/>
            <a:ext cx="5105400" cy="3611563"/>
            <a:chOff x="432" y="1344"/>
            <a:chExt cx="3216" cy="2275"/>
          </a:xfrm>
        </p:grpSpPr>
        <p:grpSp>
          <p:nvGrpSpPr>
            <p:cNvPr id="87051" name="Group 20">
              <a:extLst>
                <a:ext uri="{FF2B5EF4-FFF2-40B4-BE49-F238E27FC236}">
                  <a16:creationId xmlns:a16="http://schemas.microsoft.com/office/drawing/2014/main" id="{3908460C-F24D-4678-8AEF-4AE156CEA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1584"/>
              <a:ext cx="2064" cy="1606"/>
              <a:chOff x="288" y="1680"/>
              <a:chExt cx="2208" cy="1762"/>
            </a:xfrm>
          </p:grpSpPr>
          <p:sp>
            <p:nvSpPr>
              <p:cNvPr id="87056" name="Rectangle 2">
                <a:extLst>
                  <a:ext uri="{FF2B5EF4-FFF2-40B4-BE49-F238E27FC236}">
                    <a16:creationId xmlns:a16="http://schemas.microsoft.com/office/drawing/2014/main" id="{69741FF2-3EEF-4BA9-BC0A-57EEDFE82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168"/>
                <a:ext cx="288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F</a:t>
                </a:r>
              </a:p>
            </p:txBody>
          </p:sp>
          <p:sp>
            <p:nvSpPr>
              <p:cNvPr id="87057" name="Rectangle 3">
                <a:extLst>
                  <a:ext uri="{FF2B5EF4-FFF2-40B4-BE49-F238E27FC236}">
                    <a16:creationId xmlns:a16="http://schemas.microsoft.com/office/drawing/2014/main" id="{856DE038-B6B4-4042-804C-6065FED1D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168"/>
                <a:ext cx="384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it-IT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P</a:t>
                </a: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7058" name="Rectangle 4">
                <a:extLst>
                  <a:ext uri="{FF2B5EF4-FFF2-40B4-BE49-F238E27FC236}">
                    <a16:creationId xmlns:a16="http://schemas.microsoft.com/office/drawing/2014/main" id="{E759EE01-8811-47B9-9559-78C004EE1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680"/>
                <a:ext cx="431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75000"/>
                  </a:lnSpc>
                  <a:spcBef>
                    <a:spcPct val="50000"/>
                  </a:spcBef>
                </a:pPr>
                <a:r>
                  <a:rPr lang="it-IT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H</a:t>
                </a: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7059" name="AutoShape 5">
                <a:extLst>
                  <a:ext uri="{FF2B5EF4-FFF2-40B4-BE49-F238E27FC236}">
                    <a16:creationId xmlns:a16="http://schemas.microsoft.com/office/drawing/2014/main" id="{2BA5F426-39BF-42E0-A36B-037DDDA28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968"/>
                <a:ext cx="1488" cy="1248"/>
              </a:xfrm>
              <a:prstGeom prst="pentagon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87060" name="Line 6">
                <a:extLst>
                  <a:ext uri="{FF2B5EF4-FFF2-40B4-BE49-F238E27FC236}">
                    <a16:creationId xmlns:a16="http://schemas.microsoft.com/office/drawing/2014/main" id="{7F56D946-85B8-42E7-9F82-E945DB58A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450"/>
                <a:ext cx="720" cy="1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061" name="Line 7">
                <a:extLst>
                  <a:ext uri="{FF2B5EF4-FFF2-40B4-BE49-F238E27FC236}">
                    <a16:creationId xmlns:a16="http://schemas.microsoft.com/office/drawing/2014/main" id="{DBC5D4B1-CB49-4FEA-B38D-9059B18BD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6" y="1968"/>
                <a:ext cx="0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062" name="Line 8">
                <a:extLst>
                  <a:ext uri="{FF2B5EF4-FFF2-40B4-BE49-F238E27FC236}">
                    <a16:creationId xmlns:a16="http://schemas.microsoft.com/office/drawing/2014/main" id="{390B45D2-767A-4DAD-82E6-69620DCF7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56" y="2640"/>
                <a:ext cx="436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063" name="Rectangle 9">
                <a:extLst>
                  <a:ext uri="{FF2B5EF4-FFF2-40B4-BE49-F238E27FC236}">
                    <a16:creationId xmlns:a16="http://schemas.microsoft.com/office/drawing/2014/main" id="{5A367CCF-F9DB-4A1E-9B7E-B79E53714D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256"/>
                <a:ext cx="33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it-IT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N</a:t>
                </a: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7064" name="Line 10">
                <a:extLst>
                  <a:ext uri="{FF2B5EF4-FFF2-40B4-BE49-F238E27FC236}">
                    <a16:creationId xmlns:a16="http://schemas.microsoft.com/office/drawing/2014/main" id="{61D9C3D3-9F28-4C46-8246-FB6354A70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40" y="2640"/>
                <a:ext cx="436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065" name="Line 11">
                <a:extLst>
                  <a:ext uri="{FF2B5EF4-FFF2-40B4-BE49-F238E27FC236}">
                    <a16:creationId xmlns:a16="http://schemas.microsoft.com/office/drawing/2014/main" id="{371D699D-361C-40BC-83CA-88F491EE0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2448"/>
                <a:ext cx="720" cy="1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066" name="Rectangle 18">
                <a:extLst>
                  <a:ext uri="{FF2B5EF4-FFF2-40B4-BE49-F238E27FC236}">
                    <a16:creationId xmlns:a16="http://schemas.microsoft.com/office/drawing/2014/main" id="{ED4F0A3A-4B25-4928-B570-8D86CB4FC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304"/>
                <a:ext cx="384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it-IT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S</a:t>
                </a: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7067" name="Text Box 19">
                <a:extLst>
                  <a:ext uri="{FF2B5EF4-FFF2-40B4-BE49-F238E27FC236}">
                    <a16:creationId xmlns:a16="http://schemas.microsoft.com/office/drawing/2014/main" id="{FDF55429-2095-4EDE-899B-FF57AF0ABB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0" y="2611"/>
                <a:ext cx="1165" cy="2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it-IT" altLang="en-US" sz="2000" b="1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The people </a:t>
                </a:r>
                <a:endParaRPr lang="en-GB" altLang="en-US" sz="2000" b="1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87052" name="Rectangle 25">
              <a:extLst>
                <a:ext uri="{FF2B5EF4-FFF2-40B4-BE49-F238E27FC236}">
                  <a16:creationId xmlns:a16="http://schemas.microsoft.com/office/drawing/2014/main" id="{FE8F8F98-7051-494F-8BA9-BC3FE000E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824"/>
              <a:ext cx="1200" cy="1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 sz="2000" b="1">
                  <a:solidFill>
                    <a:schemeClr val="folHlink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Vulnerability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 sz="2000" b="1">
                  <a:solidFill>
                    <a:schemeClr val="folHlink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Context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>
                  <a:solidFill>
                    <a:schemeClr val="folHlink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Shocks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>
                  <a:solidFill>
                    <a:schemeClr val="folHlink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Seasonality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>
                  <a:solidFill>
                    <a:schemeClr val="folHlink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Trends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>
                  <a:solidFill>
                    <a:schemeClr val="folHlink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Changes</a:t>
              </a:r>
              <a:endParaRPr lang="en-GB" altLang="en-US">
                <a:latin typeface="Calibri" panose="020F0502020204030204" pitchFamily="34" charset="0"/>
              </a:endParaRPr>
            </a:p>
          </p:txBody>
        </p:sp>
        <p:grpSp>
          <p:nvGrpSpPr>
            <p:cNvPr id="87053" name="Group 28">
              <a:extLst>
                <a:ext uri="{FF2B5EF4-FFF2-40B4-BE49-F238E27FC236}">
                  <a16:creationId xmlns:a16="http://schemas.microsoft.com/office/drawing/2014/main" id="{47C6CF66-9817-416E-81EE-303E6B83FA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344"/>
              <a:ext cx="1326" cy="2275"/>
              <a:chOff x="888" y="1344"/>
              <a:chExt cx="1326" cy="2275"/>
            </a:xfrm>
          </p:grpSpPr>
          <p:sp>
            <p:nvSpPr>
              <p:cNvPr id="87054" name="AutoShape 26">
                <a:extLst>
                  <a:ext uri="{FF2B5EF4-FFF2-40B4-BE49-F238E27FC236}">
                    <a16:creationId xmlns:a16="http://schemas.microsoft.com/office/drawing/2014/main" id="{161A9075-28DD-4271-979C-DADD74532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" y="1344"/>
                <a:ext cx="1326" cy="355"/>
              </a:xfrm>
              <a:prstGeom prst="curvedDownArrow">
                <a:avLst>
                  <a:gd name="adj1" fmla="val 49371"/>
                  <a:gd name="adj2" fmla="val 124075"/>
                  <a:gd name="adj3" fmla="val 33333"/>
                </a:avLst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87055" name="AutoShape 27">
                <a:extLst>
                  <a:ext uri="{FF2B5EF4-FFF2-40B4-BE49-F238E27FC236}">
                    <a16:creationId xmlns:a16="http://schemas.microsoft.com/office/drawing/2014/main" id="{6A0370A6-7246-4F1B-AC3B-4DA5D5267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888" y="3264"/>
                <a:ext cx="1326" cy="355"/>
              </a:xfrm>
              <a:prstGeom prst="curvedDownArrow">
                <a:avLst>
                  <a:gd name="adj1" fmla="val 49371"/>
                  <a:gd name="adj2" fmla="val 124075"/>
                  <a:gd name="adj3" fmla="val 33333"/>
                </a:avLst>
              </a:prstGeom>
              <a:solidFill>
                <a:schemeClr val="hlink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" name="Group 30">
            <a:extLst>
              <a:ext uri="{FF2B5EF4-FFF2-40B4-BE49-F238E27FC236}">
                <a16:creationId xmlns:a16="http://schemas.microsoft.com/office/drawing/2014/main" id="{26977511-B0B4-4810-B115-7DE236AF153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505200"/>
            <a:ext cx="1330325" cy="1028700"/>
            <a:chOff x="3312" y="2208"/>
            <a:chExt cx="838" cy="648"/>
          </a:xfrm>
        </p:grpSpPr>
        <p:grpSp>
          <p:nvGrpSpPr>
            <p:cNvPr id="87047" name="Group 24">
              <a:extLst>
                <a:ext uri="{FF2B5EF4-FFF2-40B4-BE49-F238E27FC236}">
                  <a16:creationId xmlns:a16="http://schemas.microsoft.com/office/drawing/2014/main" id="{4E1387A0-4EA8-450F-80F4-6A8EABAFE2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1" y="2208"/>
              <a:ext cx="360" cy="648"/>
              <a:chOff x="3648" y="2040"/>
              <a:chExt cx="360" cy="648"/>
            </a:xfrm>
          </p:grpSpPr>
          <p:sp>
            <p:nvSpPr>
              <p:cNvPr id="87049" name="AutoShape 22">
                <a:extLst>
                  <a:ext uri="{FF2B5EF4-FFF2-40B4-BE49-F238E27FC236}">
                    <a16:creationId xmlns:a16="http://schemas.microsoft.com/office/drawing/2014/main" id="{224AFEBF-2C5B-49B0-BAAF-D7EB4598B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040"/>
                <a:ext cx="360" cy="144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chemeClr val="folHlink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87050" name="AutoShape 23">
                <a:extLst>
                  <a:ext uri="{FF2B5EF4-FFF2-40B4-BE49-F238E27FC236}">
                    <a16:creationId xmlns:a16="http://schemas.microsoft.com/office/drawing/2014/main" id="{A1B27F1B-51BA-4ED4-9C11-56E3EAE73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648" y="2544"/>
                <a:ext cx="360" cy="144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chemeClr val="folHlink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7048" name="Text Box 29">
              <a:extLst>
                <a:ext uri="{FF2B5EF4-FFF2-40B4-BE49-F238E27FC236}">
                  <a16:creationId xmlns:a16="http://schemas.microsoft.com/office/drawing/2014/main" id="{8A52D2DB-7744-4404-B1C9-785FB1E4A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400"/>
              <a:ext cx="838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it-IT" altLang="en-US" b="1">
                  <a:solidFill>
                    <a:schemeClr val="hlink"/>
                  </a:solidFill>
                  <a:latin typeface="Comic Sans MS" panose="030F0702030302020204" pitchFamily="66" charset="0"/>
                </a:rPr>
                <a:t>influence</a:t>
              </a:r>
            </a:p>
          </p:txBody>
        </p:sp>
      </p:grpSp>
      <p:sp>
        <p:nvSpPr>
          <p:cNvPr id="17439" name="Freeform 31">
            <a:extLst>
              <a:ext uri="{FF2B5EF4-FFF2-40B4-BE49-F238E27FC236}">
                <a16:creationId xmlns:a16="http://schemas.microsoft.com/office/drawing/2014/main" id="{CCBD32D1-7BC5-44B5-B3B6-C2E7BB7F7B0F}"/>
              </a:ext>
            </a:extLst>
          </p:cNvPr>
          <p:cNvSpPr>
            <a:spLocks/>
          </p:cNvSpPr>
          <p:nvPr/>
        </p:nvSpPr>
        <p:spPr bwMode="auto">
          <a:xfrm>
            <a:off x="1295400" y="1676400"/>
            <a:ext cx="6061075" cy="1574800"/>
          </a:xfrm>
          <a:custGeom>
            <a:avLst/>
            <a:gdLst>
              <a:gd name="T0" fmla="*/ 2147483647 w 4010"/>
              <a:gd name="T1" fmla="*/ 2147483647 h 992"/>
              <a:gd name="T2" fmla="*/ 2147483647 w 4010"/>
              <a:gd name="T3" fmla="*/ 0 h 992"/>
              <a:gd name="T4" fmla="*/ 0 w 4010"/>
              <a:gd name="T5" fmla="*/ 0 h 992"/>
              <a:gd name="T6" fmla="*/ 0 w 4010"/>
              <a:gd name="T7" fmla="*/ 2147483647 h 992"/>
              <a:gd name="T8" fmla="*/ 0 60000 65536"/>
              <a:gd name="T9" fmla="*/ 0 60000 65536"/>
              <a:gd name="T10" fmla="*/ 0 60000 65536"/>
              <a:gd name="T11" fmla="*/ 0 60000 65536"/>
              <a:gd name="T12" fmla="*/ 0 w 4010"/>
              <a:gd name="T13" fmla="*/ 0 h 992"/>
              <a:gd name="T14" fmla="*/ 4010 w 4010"/>
              <a:gd name="T15" fmla="*/ 992 h 9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10" h="992">
                <a:moveTo>
                  <a:pt x="4010" y="992"/>
                </a:moveTo>
                <a:lnTo>
                  <a:pt x="4009" y="0"/>
                </a:lnTo>
                <a:lnTo>
                  <a:pt x="0" y="0"/>
                </a:lnTo>
                <a:lnTo>
                  <a:pt x="0" y="720"/>
                </a:ln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6" name="Rectangle 32">
            <a:extLst>
              <a:ext uri="{FF2B5EF4-FFF2-40B4-BE49-F238E27FC236}">
                <a16:creationId xmlns:a16="http://schemas.microsoft.com/office/drawing/2014/main" id="{80A112FC-22AE-4C5A-93DD-465BFEBFD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en-US" sz="32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Policies, Institutions &amp; Processes</a:t>
            </a:r>
            <a:endParaRPr lang="en-GB" altLang="en-US" sz="3200" b="1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9" grpId="0" animBg="1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3F78C37-DE7A-48EE-8E6F-A5DE42AE4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pPr eaLnBrk="1" hangingPunct="1"/>
            <a:r>
              <a:rPr lang="it-IT" altLang="en-US" sz="36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Livelihood Strategies</a:t>
            </a:r>
            <a:endParaRPr lang="en-GB" altLang="en-US" sz="3600" b="1">
              <a:solidFill>
                <a:schemeClr val="folHlink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71AD68D-90CA-48E6-B782-5DBD468D0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1148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Combining: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the assets they can access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endParaRPr lang="it-IT" sz="28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Taking account of: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the vulnerability context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endParaRPr lang="it-IT" sz="28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Supported or obstructed by: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policies, institutions and processes</a:t>
            </a:r>
            <a:r>
              <a:rPr lang="en-GB" sz="28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.</a:t>
            </a:r>
            <a:endParaRPr lang="it-IT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it-IT" sz="2800">
              <a:solidFill>
                <a:schemeClr val="folHlink"/>
              </a:solidFill>
              <a:latin typeface="Comic Sans MS" pitchFamily="66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r>
              <a:rPr lang="it-IT" sz="2800">
                <a:solidFill>
                  <a:schemeClr val="folHlink"/>
                </a:solidFill>
                <a:latin typeface="Comic Sans MS" pitchFamily="66" charset="0"/>
              </a:rPr>
              <a:t>                             ………..………..</a:t>
            </a:r>
            <a:r>
              <a:rPr lang="it-IT" sz="2800" i="1">
                <a:solidFill>
                  <a:schemeClr val="folHlink"/>
                </a:solidFill>
                <a:latin typeface="Comic Sans MS" pitchFamily="66" charset="0"/>
              </a:rPr>
              <a:t>leading to</a:t>
            </a:r>
            <a:endParaRPr lang="en-GB" sz="2800" i="1">
              <a:solidFill>
                <a:schemeClr val="folHlink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59" grpId="0" build="p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686FFD2-D304-4BCD-BB52-76EA88BDE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85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it-IT" sz="4000" b="1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Livelihood Outcomes</a:t>
            </a:r>
            <a:endParaRPr lang="en-GB" sz="4000" b="1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03A0094-3FE8-4222-8748-05C4E4DE9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9530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r>
              <a:rPr lang="en-GB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Poverty </a:t>
            </a:r>
            <a:r>
              <a:rPr lang="it-IT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 - </a:t>
            </a:r>
            <a:r>
              <a:rPr lang="en-GB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a “poor” livelihood outcome</a:t>
            </a:r>
            <a:r>
              <a:rPr lang="it-IT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: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None/>
              <a:defRPr/>
            </a:pPr>
            <a:endParaRPr lang="it-IT" sz="24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en-GB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based on a fragile or unbalanced set of livelihood assets</a:t>
            </a:r>
            <a:endParaRPr lang="it-IT" sz="24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it-IT" sz="24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unable to sustain to shocks, changes or trends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it-IT" sz="24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not supported, or actively obstructed by policies, institutions and processes that </a:t>
            </a:r>
            <a:r>
              <a:rPr lang="en-GB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do not allow assets to be used as they might</a:t>
            </a:r>
            <a:endParaRPr lang="it-IT" sz="24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endParaRPr lang="it-IT" sz="2400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folHlink"/>
              </a:buClr>
              <a:buFontTx/>
              <a:buChar char="•"/>
              <a:defRPr/>
            </a:pPr>
            <a:r>
              <a:rPr lang="it-IT" sz="2400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livehood options combined in a “bad” or unsustainable strategy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build="p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E48D695-D5C8-4EC2-8CBF-A812E205D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it-IT" sz="4000" b="1">
                <a:solidFill>
                  <a:schemeClr val="folHlink"/>
                </a:solidFill>
                <a:latin typeface="Comic Sans MS" pitchFamily="66" charset="0"/>
                <a:cs typeface="Times New Roman" charset="0"/>
              </a:rPr>
              <a:t>The Sustainable Livelihoods Framework</a:t>
            </a:r>
            <a:endParaRPr lang="en-GB" sz="4000" b="1">
              <a:solidFill>
                <a:schemeClr val="folHlink"/>
              </a:solidFill>
              <a:latin typeface="Comic Sans MS" pitchFamily="66" charset="0"/>
              <a:cs typeface="Times New Roman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132EE4B1-03F1-4169-B012-737CCF6ED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352800"/>
            <a:ext cx="1219200" cy="838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Policies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Institutions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Processes</a:t>
            </a:r>
            <a:endParaRPr lang="en-GB" altLang="en-US" sz="1400">
              <a:latin typeface="Calibri" panose="020F0502020204030204" pitchFamily="34" charset="0"/>
            </a:endParaRP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E91DDC94-5B04-4575-B99E-1461AFC6217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590800"/>
            <a:ext cx="2133600" cy="2082800"/>
            <a:chOff x="1344" y="1584"/>
            <a:chExt cx="1824" cy="1604"/>
          </a:xfrm>
        </p:grpSpPr>
        <p:sp>
          <p:nvSpPr>
            <p:cNvPr id="90134" name="Rectangle 14">
              <a:extLst>
                <a:ext uri="{FF2B5EF4-FFF2-40B4-BE49-F238E27FC236}">
                  <a16:creationId xmlns:a16="http://schemas.microsoft.com/office/drawing/2014/main" id="{7BA1E7AA-664F-4512-BEDB-EFAE50841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" y="2085"/>
              <a:ext cx="277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25000"/>
                </a:lnSpc>
                <a:spcBef>
                  <a:spcPct val="50000"/>
                </a:spcBef>
              </a:pPr>
              <a:endPara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endParaRPr>
            </a:p>
            <a:p>
              <a:pPr>
                <a:lnSpc>
                  <a:spcPct val="25000"/>
                </a:lnSpc>
                <a:spcBef>
                  <a:spcPct val="50000"/>
                </a:spcBef>
              </a:pPr>
              <a:r>
                <a:rPr lang="it-IT" altLang="en-US" sz="2000">
                  <a:solidFill>
                    <a:schemeClr val="folHlink"/>
                  </a:solidFill>
                  <a:latin typeface="Comic Sans MS" panose="030F0702030302020204" pitchFamily="66" charset="0"/>
                </a:rPr>
                <a:t>N</a:t>
              </a:r>
              <a:endParaRPr lang="en-GB" altLang="en-US" sz="2000">
                <a:solidFill>
                  <a:schemeClr val="folHlink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90135" name="Group 30">
              <a:extLst>
                <a:ext uri="{FF2B5EF4-FFF2-40B4-BE49-F238E27FC236}">
                  <a16:creationId xmlns:a16="http://schemas.microsoft.com/office/drawing/2014/main" id="{3260BA37-7B73-448C-9716-F8FBF6ACD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584"/>
              <a:ext cx="1587" cy="1604"/>
              <a:chOff x="1344" y="1584"/>
              <a:chExt cx="1587" cy="1604"/>
            </a:xfrm>
          </p:grpSpPr>
          <p:sp>
            <p:nvSpPr>
              <p:cNvPr id="90136" name="Rectangle 17">
                <a:extLst>
                  <a:ext uri="{FF2B5EF4-FFF2-40B4-BE49-F238E27FC236}">
                    <a16:creationId xmlns:a16="http://schemas.microsoft.com/office/drawing/2014/main" id="{A31D14E6-06BB-4293-BB0D-8E55F70BA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128"/>
                <a:ext cx="318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  <a:p>
                <a:pPr algn="r">
                  <a:lnSpc>
                    <a:spcPct val="25000"/>
                  </a:lnSpc>
                  <a:spcBef>
                    <a:spcPct val="50000"/>
                  </a:spcBef>
                </a:pPr>
                <a:r>
                  <a:rPr lang="it-IT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rPr>
                  <a:t>S</a:t>
                </a:r>
                <a:endParaRPr lang="en-GB" altLang="en-US" sz="2000">
                  <a:solidFill>
                    <a:schemeClr val="folHlink"/>
                  </a:solidFill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90137" name="Group 29">
                <a:extLst>
                  <a:ext uri="{FF2B5EF4-FFF2-40B4-BE49-F238E27FC236}">
                    <a16:creationId xmlns:a16="http://schemas.microsoft.com/office/drawing/2014/main" id="{C926F139-2D34-4F74-9343-A19388789B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2" y="1584"/>
                <a:ext cx="1349" cy="1604"/>
                <a:chOff x="1582" y="1584"/>
                <a:chExt cx="1349" cy="1604"/>
              </a:xfrm>
            </p:grpSpPr>
            <p:sp>
              <p:nvSpPr>
                <p:cNvPr id="90138" name="Rectangle 7">
                  <a:extLst>
                    <a:ext uri="{FF2B5EF4-FFF2-40B4-BE49-F238E27FC236}">
                      <a16:creationId xmlns:a16="http://schemas.microsoft.com/office/drawing/2014/main" id="{C5A0DFBE-2FC1-43DF-ADE8-5319EB966B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92" y="2883"/>
                  <a:ext cx="239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25000"/>
                    </a:lnSpc>
                    <a:spcBef>
                      <a:spcPct val="50000"/>
                    </a:spcBef>
                  </a:pP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  <a:p>
                  <a:pPr>
                    <a:lnSpc>
                      <a:spcPct val="25000"/>
                    </a:lnSpc>
                    <a:spcBef>
                      <a:spcPct val="50000"/>
                    </a:spcBef>
                  </a:pPr>
                  <a:r>
                    <a:rPr lang="en-GB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F</a:t>
                  </a:r>
                </a:p>
              </p:txBody>
            </p:sp>
            <p:sp>
              <p:nvSpPr>
                <p:cNvPr id="90139" name="Rectangle 8">
                  <a:extLst>
                    <a:ext uri="{FF2B5EF4-FFF2-40B4-BE49-F238E27FC236}">
                      <a16:creationId xmlns:a16="http://schemas.microsoft.com/office/drawing/2014/main" id="{CB9D52BF-7B37-4BC1-84C6-DA1BCA0242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2" y="2882"/>
                  <a:ext cx="317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r">
                    <a:lnSpc>
                      <a:spcPct val="25000"/>
                    </a:lnSpc>
                    <a:spcBef>
                      <a:spcPct val="50000"/>
                    </a:spcBef>
                  </a:pP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  <a:p>
                  <a:pPr algn="r">
                    <a:lnSpc>
                      <a:spcPct val="25000"/>
                    </a:lnSpc>
                    <a:spcBef>
                      <a:spcPct val="50000"/>
                    </a:spcBef>
                  </a:pPr>
                  <a:r>
                    <a:rPr lang="it-IT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P</a:t>
                  </a: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0140" name="Rectangle 9">
                  <a:extLst>
                    <a:ext uri="{FF2B5EF4-FFF2-40B4-BE49-F238E27FC236}">
                      <a16:creationId xmlns:a16="http://schemas.microsoft.com/office/drawing/2014/main" id="{E7C96CA5-CF70-44D5-A1F7-7A9C3AF824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7" y="1584"/>
                  <a:ext cx="357" cy="2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75000"/>
                    </a:lnSpc>
                    <a:spcBef>
                      <a:spcPct val="50000"/>
                    </a:spcBef>
                  </a:pPr>
                  <a:r>
                    <a:rPr lang="it-IT" altLang="en-US" sz="2000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H</a:t>
                  </a:r>
                  <a:endParaRPr lang="en-GB" altLang="en-US" sz="2000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90141" name="AutoShape 10">
                  <a:extLst>
                    <a:ext uri="{FF2B5EF4-FFF2-40B4-BE49-F238E27FC236}">
                      <a16:creationId xmlns:a16="http://schemas.microsoft.com/office/drawing/2014/main" id="{F99969E9-68D4-422B-9596-98B3033605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1" y="1835"/>
                  <a:ext cx="1229" cy="1088"/>
                </a:xfrm>
                <a:prstGeom prst="pentagon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90142" name="Line 11">
                  <a:extLst>
                    <a:ext uri="{FF2B5EF4-FFF2-40B4-BE49-F238E27FC236}">
                      <a16:creationId xmlns:a16="http://schemas.microsoft.com/office/drawing/2014/main" id="{564DA22C-E991-4509-96D4-DAFDCE7005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1" y="2255"/>
                  <a:ext cx="595" cy="1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90143" name="Line 12">
                  <a:extLst>
                    <a:ext uri="{FF2B5EF4-FFF2-40B4-BE49-F238E27FC236}">
                      <a16:creationId xmlns:a16="http://schemas.microsoft.com/office/drawing/2014/main" id="{B1C39953-D73F-4595-9A3B-ECB826842B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76" y="1835"/>
                  <a:ext cx="0" cy="58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90144" name="Line 13">
                  <a:extLst>
                    <a:ext uri="{FF2B5EF4-FFF2-40B4-BE49-F238E27FC236}">
                      <a16:creationId xmlns:a16="http://schemas.microsoft.com/office/drawing/2014/main" id="{8687F0E8-8F21-4E11-AED5-9DCED52A0B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96" y="2421"/>
                  <a:ext cx="360" cy="50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90145" name="Line 15">
                  <a:extLst>
                    <a:ext uri="{FF2B5EF4-FFF2-40B4-BE49-F238E27FC236}">
                      <a16:creationId xmlns:a16="http://schemas.microsoft.com/office/drawing/2014/main" id="{E81A10EB-A18C-494D-9058-04DEE66CAE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296" y="2421"/>
                  <a:ext cx="360" cy="50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90146" name="Line 16">
                  <a:extLst>
                    <a:ext uri="{FF2B5EF4-FFF2-40B4-BE49-F238E27FC236}">
                      <a16:creationId xmlns:a16="http://schemas.microsoft.com/office/drawing/2014/main" id="{5E468C76-790D-4419-B17E-B087FEC92D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96" y="2253"/>
                  <a:ext cx="594" cy="1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90147" name="Text Box 18">
                  <a:extLst>
                    <a:ext uri="{FF2B5EF4-FFF2-40B4-BE49-F238E27FC236}">
                      <a16:creationId xmlns:a16="http://schemas.microsoft.com/office/drawing/2014/main" id="{6965B585-58A3-404F-A7B6-CD08122BF1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6" y="2348"/>
                  <a:ext cx="818" cy="23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it-IT" altLang="en-US" sz="1400" b="1">
                      <a:solidFill>
                        <a:schemeClr val="folHlink"/>
                      </a:solidFill>
                      <a:latin typeface="Comic Sans MS" panose="030F0702030302020204" pitchFamily="66" charset="0"/>
                    </a:rPr>
                    <a:t>The Poor</a:t>
                  </a:r>
                  <a:endParaRPr lang="en-GB" altLang="en-US" sz="1400" b="1">
                    <a:solidFill>
                      <a:schemeClr val="folHlink"/>
                    </a:solidFill>
                    <a:latin typeface="Comic Sans MS" panose="030F0702030302020204" pitchFamily="66" charset="0"/>
                  </a:endParaRPr>
                </a:p>
              </p:txBody>
            </p:sp>
          </p:grpSp>
        </p:grpSp>
      </p:grp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A360248C-B301-4DB6-977C-10ED7CEB3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95600"/>
            <a:ext cx="129540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Vulnerability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 b="1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Context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Shocks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Seasonality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Trends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>
                <a:solidFill>
                  <a:schemeClr val="folHlink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Changes</a:t>
            </a:r>
            <a:endParaRPr lang="en-GB" altLang="en-US" sz="1400">
              <a:latin typeface="Calibri" panose="020F0502020204030204" pitchFamily="34" charset="0"/>
            </a:endParaRPr>
          </a:p>
        </p:txBody>
      </p:sp>
      <p:sp>
        <p:nvSpPr>
          <p:cNvPr id="21525" name="AutoShape 21">
            <a:extLst>
              <a:ext uri="{FF2B5EF4-FFF2-40B4-BE49-F238E27FC236}">
                <a16:creationId xmlns:a16="http://schemas.microsoft.com/office/drawing/2014/main" id="{A998660A-CDC9-4DB2-B194-391938CC2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1219200" cy="415925"/>
          </a:xfrm>
          <a:prstGeom prst="curvedDownArrow">
            <a:avLst>
              <a:gd name="adj1" fmla="val 38745"/>
              <a:gd name="adj2" fmla="val 97371"/>
              <a:gd name="adj3" fmla="val 33333"/>
            </a:avLst>
          </a:prstGeom>
          <a:solidFill>
            <a:schemeClr val="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21526" name="AutoShape 22">
            <a:extLst>
              <a:ext uri="{FF2B5EF4-FFF2-40B4-BE49-F238E27FC236}">
                <a16:creationId xmlns:a16="http://schemas.microsoft.com/office/drawing/2014/main" id="{C1D056E2-2D48-4E80-BC32-0BEE2A72536E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1143000" y="4613275"/>
            <a:ext cx="1219200" cy="415925"/>
          </a:xfrm>
          <a:prstGeom prst="curvedDownArrow">
            <a:avLst>
              <a:gd name="adj1" fmla="val 38745"/>
              <a:gd name="adj2" fmla="val 97371"/>
              <a:gd name="adj3" fmla="val 33333"/>
            </a:avLst>
          </a:prstGeom>
          <a:solidFill>
            <a:schemeClr val="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>
              <a:latin typeface="Calibri" panose="020F0502020204030204" pitchFamily="34" charset="0"/>
            </a:endParaRPr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ED423DE5-C6B5-45B5-9811-6FA85B60A14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276600"/>
            <a:ext cx="1330325" cy="1028700"/>
            <a:chOff x="3312" y="2208"/>
            <a:chExt cx="838" cy="648"/>
          </a:xfrm>
        </p:grpSpPr>
        <p:grpSp>
          <p:nvGrpSpPr>
            <p:cNvPr id="90130" name="Group 24">
              <a:extLst>
                <a:ext uri="{FF2B5EF4-FFF2-40B4-BE49-F238E27FC236}">
                  <a16:creationId xmlns:a16="http://schemas.microsoft.com/office/drawing/2014/main" id="{80B9F271-2E5D-4A11-8DA7-502D50ADB6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1" y="2208"/>
              <a:ext cx="360" cy="648"/>
              <a:chOff x="3648" y="2040"/>
              <a:chExt cx="360" cy="648"/>
            </a:xfrm>
          </p:grpSpPr>
          <p:sp>
            <p:nvSpPr>
              <p:cNvPr id="90132" name="AutoShape 25">
                <a:extLst>
                  <a:ext uri="{FF2B5EF4-FFF2-40B4-BE49-F238E27FC236}">
                    <a16:creationId xmlns:a16="http://schemas.microsoft.com/office/drawing/2014/main" id="{D645A5F1-AB73-4C95-A134-BE2EEE2DE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040"/>
                <a:ext cx="360" cy="144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chemeClr val="folHlink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90133" name="AutoShape 26">
                <a:extLst>
                  <a:ext uri="{FF2B5EF4-FFF2-40B4-BE49-F238E27FC236}">
                    <a16:creationId xmlns:a16="http://schemas.microsoft.com/office/drawing/2014/main" id="{AFBAEE06-CF6D-4029-B782-B3305634D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648" y="2544"/>
                <a:ext cx="360" cy="144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chemeClr val="folHlink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0131" name="Text Box 27">
              <a:extLst>
                <a:ext uri="{FF2B5EF4-FFF2-40B4-BE49-F238E27FC236}">
                  <a16:creationId xmlns:a16="http://schemas.microsoft.com/office/drawing/2014/main" id="{0B8E0C83-4491-4711-A365-2F481652B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400"/>
              <a:ext cx="838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it-IT" altLang="en-US" sz="1600" b="1">
                  <a:solidFill>
                    <a:schemeClr val="hlink"/>
                  </a:solidFill>
                  <a:latin typeface="Comic Sans MS" panose="030F0702030302020204" pitchFamily="66" charset="0"/>
                </a:rPr>
                <a:t>influence</a:t>
              </a:r>
            </a:p>
          </p:txBody>
        </p:sp>
      </p:grpSp>
      <p:sp>
        <p:nvSpPr>
          <p:cNvPr id="21532" name="Freeform 28">
            <a:extLst>
              <a:ext uri="{FF2B5EF4-FFF2-40B4-BE49-F238E27FC236}">
                <a16:creationId xmlns:a16="http://schemas.microsoft.com/office/drawing/2014/main" id="{C67DAD1B-520A-4813-8E13-BA04DEBA2419}"/>
              </a:ext>
            </a:extLst>
          </p:cNvPr>
          <p:cNvSpPr>
            <a:spLocks/>
          </p:cNvSpPr>
          <p:nvPr/>
        </p:nvSpPr>
        <p:spPr bwMode="auto">
          <a:xfrm>
            <a:off x="914400" y="2209800"/>
            <a:ext cx="4191000" cy="1117600"/>
          </a:xfrm>
          <a:custGeom>
            <a:avLst/>
            <a:gdLst>
              <a:gd name="T0" fmla="*/ 2147483647 w 2640"/>
              <a:gd name="T1" fmla="*/ 2147483647 h 704"/>
              <a:gd name="T2" fmla="*/ 2147483647 w 2640"/>
              <a:gd name="T3" fmla="*/ 0 h 704"/>
              <a:gd name="T4" fmla="*/ 0 w 2640"/>
              <a:gd name="T5" fmla="*/ 0 h 704"/>
              <a:gd name="T6" fmla="*/ 0 w 2640"/>
              <a:gd name="T7" fmla="*/ 2147483647 h 704"/>
              <a:gd name="T8" fmla="*/ 0 60000 65536"/>
              <a:gd name="T9" fmla="*/ 0 60000 65536"/>
              <a:gd name="T10" fmla="*/ 0 60000 65536"/>
              <a:gd name="T11" fmla="*/ 0 60000 65536"/>
              <a:gd name="T12" fmla="*/ 0 w 2640"/>
              <a:gd name="T13" fmla="*/ 0 h 704"/>
              <a:gd name="T14" fmla="*/ 2640 w 2640"/>
              <a:gd name="T15" fmla="*/ 704 h 7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0" h="704">
                <a:moveTo>
                  <a:pt x="2640" y="704"/>
                </a:moveTo>
                <a:lnTo>
                  <a:pt x="2639" y="0"/>
                </a:lnTo>
                <a:lnTo>
                  <a:pt x="0" y="0"/>
                </a:lnTo>
                <a:lnTo>
                  <a:pt x="0" y="432"/>
                </a:ln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6" name="Rectangle 32">
            <a:extLst>
              <a:ext uri="{FF2B5EF4-FFF2-40B4-BE49-F238E27FC236}">
                <a16:creationId xmlns:a16="http://schemas.microsoft.com/office/drawing/2014/main" id="{6D173353-ADCD-46DC-91E3-0C271C659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429000"/>
            <a:ext cx="1143000" cy="6096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>
                <a:solidFill>
                  <a:schemeClr val="folHlink"/>
                </a:solidFill>
                <a:latin typeface="Comic Sans MS" panose="030F0702030302020204" pitchFamily="66" charset="0"/>
              </a:rPr>
              <a:t>Livelihood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</a:pPr>
            <a:r>
              <a:rPr lang="it-IT" altLang="en-US" sz="1400">
                <a:solidFill>
                  <a:schemeClr val="folHlink"/>
                </a:solidFill>
                <a:latin typeface="Comic Sans MS" panose="030F0702030302020204" pitchFamily="66" charset="0"/>
              </a:rPr>
              <a:t>Strategies</a:t>
            </a:r>
            <a:endParaRPr lang="en-GB" altLang="en-US" sz="1400">
              <a:solidFill>
                <a:schemeClr val="folHlink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7" name="Group 39">
            <a:extLst>
              <a:ext uri="{FF2B5EF4-FFF2-40B4-BE49-F238E27FC236}">
                <a16:creationId xmlns:a16="http://schemas.microsoft.com/office/drawing/2014/main" id="{EE13FBF7-AC87-44B4-8AC7-B635A36EA114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097213"/>
            <a:ext cx="571500" cy="1308100"/>
            <a:chOff x="3648" y="1951"/>
            <a:chExt cx="360" cy="824"/>
          </a:xfrm>
        </p:grpSpPr>
        <p:sp>
          <p:nvSpPr>
            <p:cNvPr id="90128" name="AutoShape 34">
              <a:extLst>
                <a:ext uri="{FF2B5EF4-FFF2-40B4-BE49-F238E27FC236}">
                  <a16:creationId xmlns:a16="http://schemas.microsoft.com/office/drawing/2014/main" id="{793903D9-E3F4-403F-A46F-C4366F00F6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77214">
              <a:off x="3648" y="1951"/>
              <a:ext cx="360" cy="183"/>
            </a:xfrm>
            <a:prstGeom prst="rightArrow">
              <a:avLst>
                <a:gd name="adj1" fmla="val 50000"/>
                <a:gd name="adj2" fmla="val 4918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>
                <a:latin typeface="Calibri" panose="020F0502020204030204" pitchFamily="34" charset="0"/>
              </a:endParaRPr>
            </a:p>
          </p:txBody>
        </p:sp>
        <p:sp>
          <p:nvSpPr>
            <p:cNvPr id="90129" name="AutoShape 35">
              <a:extLst>
                <a:ext uri="{FF2B5EF4-FFF2-40B4-BE49-F238E27FC236}">
                  <a16:creationId xmlns:a16="http://schemas.microsoft.com/office/drawing/2014/main" id="{D35A3844-1086-4A38-B635-1B4B5325AC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77214" flipV="1">
              <a:off x="3648" y="2592"/>
              <a:ext cx="360" cy="183"/>
            </a:xfrm>
            <a:prstGeom prst="rightArrow">
              <a:avLst>
                <a:gd name="adj1" fmla="val 50000"/>
                <a:gd name="adj2" fmla="val 4918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Group 40">
            <a:extLst>
              <a:ext uri="{FF2B5EF4-FFF2-40B4-BE49-F238E27FC236}">
                <a16:creationId xmlns:a16="http://schemas.microsoft.com/office/drawing/2014/main" id="{FEFCEC9C-E5DD-4A45-BEE3-D19B1F894866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3467100"/>
            <a:ext cx="1600200" cy="609600"/>
            <a:chOff x="4560" y="2184"/>
            <a:chExt cx="1008" cy="384"/>
          </a:xfrm>
        </p:grpSpPr>
        <p:sp>
          <p:nvSpPr>
            <p:cNvPr id="90126" name="Rectangle 33">
              <a:extLst>
                <a:ext uri="{FF2B5EF4-FFF2-40B4-BE49-F238E27FC236}">
                  <a16:creationId xmlns:a16="http://schemas.microsoft.com/office/drawing/2014/main" id="{E06B9BDF-AF01-40E7-8C09-1D01EDEEA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184"/>
              <a:ext cx="720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 sz="1400">
                  <a:solidFill>
                    <a:schemeClr val="folHlink"/>
                  </a:solidFill>
                  <a:latin typeface="Comic Sans MS" panose="030F0702030302020204" pitchFamily="66" charset="0"/>
                </a:rPr>
                <a:t>Livelihood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</a:pPr>
              <a:r>
                <a:rPr lang="it-IT" altLang="en-US" sz="1400">
                  <a:solidFill>
                    <a:schemeClr val="folHlink"/>
                  </a:solidFill>
                  <a:latin typeface="Comic Sans MS" panose="030F0702030302020204" pitchFamily="66" charset="0"/>
                </a:rPr>
                <a:t>Outcomes</a:t>
              </a:r>
              <a:endParaRPr lang="en-GB" altLang="en-US" sz="1400">
                <a:solidFill>
                  <a:schemeClr val="folHlink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90127" name="AutoShape 37">
              <a:extLst>
                <a:ext uri="{FF2B5EF4-FFF2-40B4-BE49-F238E27FC236}">
                  <a16:creationId xmlns:a16="http://schemas.microsoft.com/office/drawing/2014/main" id="{538A7C71-A6B9-41AC-BC05-16BC36E27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256"/>
              <a:ext cx="360" cy="184"/>
            </a:xfrm>
            <a:prstGeom prst="rightArrow">
              <a:avLst>
                <a:gd name="adj1" fmla="val 50000"/>
                <a:gd name="adj2" fmla="val 48913"/>
              </a:avLst>
            </a:prstGeom>
            <a:solidFill>
              <a:schemeClr val="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>
                <a:latin typeface="Calibri" panose="020F0502020204030204" pitchFamily="34" charset="0"/>
              </a:endParaRPr>
            </a:p>
          </p:txBody>
        </p:sp>
      </p:grpSp>
      <p:sp>
        <p:nvSpPr>
          <p:cNvPr id="21575" name="Freeform 71">
            <a:extLst>
              <a:ext uri="{FF2B5EF4-FFF2-40B4-BE49-F238E27FC236}">
                <a16:creationId xmlns:a16="http://schemas.microsoft.com/office/drawing/2014/main" id="{9C03516D-7C33-4923-BF12-AF7FE5D78393}"/>
              </a:ext>
            </a:extLst>
          </p:cNvPr>
          <p:cNvSpPr>
            <a:spLocks/>
          </p:cNvSpPr>
          <p:nvPr/>
        </p:nvSpPr>
        <p:spPr bwMode="auto">
          <a:xfrm flipV="1">
            <a:off x="2667000" y="4114800"/>
            <a:ext cx="5562600" cy="762000"/>
          </a:xfrm>
          <a:custGeom>
            <a:avLst/>
            <a:gdLst>
              <a:gd name="T0" fmla="*/ 2147483647 w 2640"/>
              <a:gd name="T1" fmla="*/ 2147483647 h 704"/>
              <a:gd name="T2" fmla="*/ 2147483647 w 2640"/>
              <a:gd name="T3" fmla="*/ 0 h 704"/>
              <a:gd name="T4" fmla="*/ 0 w 2640"/>
              <a:gd name="T5" fmla="*/ 0 h 704"/>
              <a:gd name="T6" fmla="*/ 0 w 2640"/>
              <a:gd name="T7" fmla="*/ 2147483647 h 704"/>
              <a:gd name="T8" fmla="*/ 0 60000 65536"/>
              <a:gd name="T9" fmla="*/ 0 60000 65536"/>
              <a:gd name="T10" fmla="*/ 0 60000 65536"/>
              <a:gd name="T11" fmla="*/ 0 60000 65536"/>
              <a:gd name="T12" fmla="*/ 0 w 2640"/>
              <a:gd name="T13" fmla="*/ 0 h 704"/>
              <a:gd name="T14" fmla="*/ 2640 w 2640"/>
              <a:gd name="T15" fmla="*/ 704 h 7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0" h="704">
                <a:moveTo>
                  <a:pt x="2640" y="704"/>
                </a:moveTo>
                <a:lnTo>
                  <a:pt x="2639" y="0"/>
                </a:lnTo>
                <a:lnTo>
                  <a:pt x="0" y="0"/>
                </a:lnTo>
                <a:lnTo>
                  <a:pt x="0" y="432"/>
                </a:ln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8" grpId="0" animBg="1" autoUpdateAnimBg="0"/>
      <p:bldP spid="21523" grpId="0" animBg="1" autoUpdateAnimBg="0"/>
      <p:bldP spid="21525" grpId="0" animBg="1"/>
      <p:bldP spid="21526" grpId="0" animBg="1"/>
      <p:bldP spid="21536" grpId="0" animBg="1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30948F30-851A-4898-86F0-C1785BAE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1139" name="Content Placeholder 2">
            <a:extLst>
              <a:ext uri="{FF2B5EF4-FFF2-40B4-BE49-F238E27FC236}">
                <a16:creationId xmlns:a16="http://schemas.microsoft.com/office/drawing/2014/main" id="{3B8FC2F5-CD13-4F6D-B56A-860BCEC3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framework shows how</a:t>
            </a:r>
            <a:r>
              <a:rPr lang="en-GB" altLang="en-US" b="1"/>
              <a:t>, in different contexts</a:t>
            </a:r>
            <a:r>
              <a:rPr lang="en-GB" altLang="en-US"/>
              <a:t>, sustainable livelihoods are achieved through access to a range </a:t>
            </a:r>
            <a:r>
              <a:rPr lang="en-GB" altLang="en-US" b="1"/>
              <a:t>of livelihood resources </a:t>
            </a:r>
            <a:r>
              <a:rPr lang="en-GB" altLang="en-US"/>
              <a:t>(natural, economic, human and social capitals) which are combined in the pursuit of different </a:t>
            </a:r>
            <a:r>
              <a:rPr lang="en-GB" altLang="en-US" b="1"/>
              <a:t>livelihood strategies </a:t>
            </a:r>
            <a:r>
              <a:rPr lang="en-GB" altLang="en-US"/>
              <a:t>with known </a:t>
            </a:r>
            <a:r>
              <a:rPr lang="en-GB" altLang="en-US" b="1"/>
              <a:t>livelihoods outcomes</a:t>
            </a:r>
            <a:r>
              <a:rPr lang="en-GB" altLang="en-US"/>
              <a:t>.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40610C9B-0855-4CB6-A0B1-196479D5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1520A0C0-4BDA-41A5-B95B-DE6DCEAA2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People’s access to assets is strongly influenced by their vulnerability context, which takes account of:</a:t>
            </a:r>
          </a:p>
          <a:p>
            <a:pPr lvl="1" eaLnBrk="1" hangingPunct="1"/>
            <a:r>
              <a:rPr lang="en-GB" altLang="en-US"/>
              <a:t> trends (for example, economic, political, technological, etc.), </a:t>
            </a:r>
          </a:p>
          <a:p>
            <a:pPr lvl="1" eaLnBrk="1" hangingPunct="1"/>
            <a:r>
              <a:rPr lang="en-GB" altLang="en-US"/>
              <a:t>shocks (for example, epidemics, natural disasters, civil strife); and </a:t>
            </a:r>
          </a:p>
          <a:p>
            <a:pPr lvl="1" eaLnBrk="1" hangingPunct="1"/>
            <a:r>
              <a:rPr lang="en-GB" altLang="en-US"/>
              <a:t>seasonality (for example, rains, droughts, employment opportunities).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190A3598-C381-4B40-AB75-A88C4097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13F4E8C2-A839-4880-9CC6-0CC4BA457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Access is also influenced by the prevailing </a:t>
            </a:r>
            <a:r>
              <a:rPr lang="en-GB" altLang="en-US" b="1"/>
              <a:t>social, institutional and political environmen</a:t>
            </a:r>
            <a:r>
              <a:rPr lang="en-GB" altLang="en-US"/>
              <a:t>t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.......... which affects the ways in which people combine and use their assets to achieve their goals.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>
            <a:extLst>
              <a:ext uri="{FF2B5EF4-FFF2-40B4-BE49-F238E27FC236}">
                <a16:creationId xmlns:a16="http://schemas.microsoft.com/office/drawing/2014/main" id="{5F40E1BE-4F23-4E95-B4CE-E5D81433A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4211" name="Content Placeholder 2">
            <a:extLst>
              <a:ext uri="{FF2B5EF4-FFF2-40B4-BE49-F238E27FC236}">
                <a16:creationId xmlns:a16="http://schemas.microsoft.com/office/drawing/2014/main" id="{C524B5B6-26F3-42E7-8F80-49FC8BFE7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For natural resources projects, the goal is to enhance wellbeing and livelihoods of a variety of stakeholders with a responsibility to sustain the natural resource base so that future generations can meet their needs.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>
            <a:extLst>
              <a:ext uri="{FF2B5EF4-FFF2-40B4-BE49-F238E27FC236}">
                <a16:creationId xmlns:a16="http://schemas.microsoft.com/office/drawing/2014/main" id="{B5023DB2-C9A4-4DE4-ADDF-DF6DFC62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5235" name="Content Placeholder 2">
            <a:extLst>
              <a:ext uri="{FF2B5EF4-FFF2-40B4-BE49-F238E27FC236}">
                <a16:creationId xmlns:a16="http://schemas.microsoft.com/office/drawing/2014/main" id="{112DD8BA-BF07-4A7C-BF3C-05F692240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the simplest approach is to sustain the inclusive wealth of the natural system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........., i.e., the total capital (natural, physical, human, and social) that constitutes the productive base available to society.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9114B556-C380-419B-AAB0-C85A3501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DAFA8705-3A2A-4588-BB5C-8F3C40E0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Note that  natural and social capitals are the most difficult components of capital to renew,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.......... once they are degraded, these are the most critical components of inclusive wealth to sustain.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>
            <a:extLst>
              <a:ext uri="{FF2B5EF4-FFF2-40B4-BE49-F238E27FC236}">
                <a16:creationId xmlns:a16="http://schemas.microsoft.com/office/drawing/2014/main" id="{F277C21F-ED91-4E16-90B9-EC09845C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7283" name="Content Placeholder 2">
            <a:extLst>
              <a:ext uri="{FF2B5EF4-FFF2-40B4-BE49-F238E27FC236}">
                <a16:creationId xmlns:a16="http://schemas.microsoft.com/office/drawing/2014/main" id="{C53CA359-057A-454C-92AD-E39C64184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GB" altLang="en-US" b="1" i="1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b="1" i="1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 b="1" i="1"/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 sz="4000" b="1"/>
              <a:t>The Resilience Approach</a:t>
            </a:r>
            <a:endParaRPr lang="en-GB" altLang="en-US" sz="40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8572-36F5-4242-BD54-40595846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i="1" dirty="0"/>
              <a:t>The Resilience Approach</a:t>
            </a:r>
            <a:br>
              <a:rPr lang="en-GB" b="1" i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88C70-963E-404F-9BD4-84BE71CE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Remember,  the  SL Framework emphasizes the sustainability dimension, by looking at the resilience of livelihoods and the natural resource base on which, in part, they depend.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Thus, livelihoods are sustainable when they are resilient (strong</a:t>
            </a:r>
            <a:r>
              <a:rPr lang="en-GB"/>
              <a:t>, tough) </a:t>
            </a:r>
            <a:r>
              <a:rPr lang="en-GB" dirty="0"/>
              <a:t>in the face of 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External shocks and stresses;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maintain the long-term productivity of natural resources; and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do not undermine the livelihoods of, or compromise the livelihood options open to others. 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308F3049-740B-408B-A47E-EEC2D4A8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99331" name="Content Placeholder 2">
            <a:extLst>
              <a:ext uri="{FF2B5EF4-FFF2-40B4-BE49-F238E27FC236}">
                <a16:creationId xmlns:a16="http://schemas.microsoft.com/office/drawing/2014/main" id="{79EBFEE0-4D18-4FFB-BA7B-964952E60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Remember further that:</a:t>
            </a:r>
          </a:p>
          <a:p>
            <a:pPr eaLnBrk="1" hangingPunct="1"/>
            <a:endParaRPr lang="en-GB" altLang="en-US"/>
          </a:p>
          <a:p>
            <a:pPr lvl="1" eaLnBrk="1" hangingPunct="1"/>
            <a:r>
              <a:rPr lang="en-GB" altLang="en-US"/>
              <a:t>Natural resource base sustainability refers to the ability of a system to maintain productivity when subject to disturbing forces, stresses and shocks.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C8C07CB7-1F00-47E2-8A18-34DE0E3E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CDBE-7C31-411B-91E2-3763F76E2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A key challenge for development is the inherent complexity of NRM systems and the delicate balance of managing natural resources for present and future generations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GB" dirty="0"/>
              <a:t>,.......in the face of uncertainty and vulnerability at complex temporal and spatial scales.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>
            <a:extLst>
              <a:ext uri="{FF2B5EF4-FFF2-40B4-BE49-F238E27FC236}">
                <a16:creationId xmlns:a16="http://schemas.microsoft.com/office/drawing/2014/main" id="{B1BC4EB9-D23A-4EF0-A1F3-C4C9E626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101379" name="Content Placeholder 2">
            <a:extLst>
              <a:ext uri="{FF2B5EF4-FFF2-40B4-BE49-F238E27FC236}">
                <a16:creationId xmlns:a16="http://schemas.microsoft.com/office/drawing/2014/main" id="{340AC701-AAF2-4CD8-AE16-C2C7C5EBC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Chapin (2009) advocates broadening the concept of sustainable  development to 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.......a resilience-based approach to respond to and shape change in social–ecological systems in order to sustain the supply and opportunities for use of ecosystem services by society. 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157CA241-2181-4CE2-9F00-8C388ED1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0285F-A7DA-4AE4-9D33-8F7FEC366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The resilience approach builds on sustainable development and sustainable livelihoods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........ by emphasizing the </a:t>
            </a:r>
            <a:r>
              <a:rPr lang="en-GB" b="1" dirty="0"/>
              <a:t>strategies employed by communities to manage </a:t>
            </a:r>
            <a:r>
              <a:rPr lang="en-GB" dirty="0"/>
              <a:t>their natural resources and their livelihoods under conditions of uncertainty and in the face of rapid change.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>
            <a:extLst>
              <a:ext uri="{FF2B5EF4-FFF2-40B4-BE49-F238E27FC236}">
                <a16:creationId xmlns:a16="http://schemas.microsoft.com/office/drawing/2014/main" id="{6595C21B-2D08-42D1-8E11-7041B4BB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103427" name="Content Placeholder 2">
            <a:extLst>
              <a:ext uri="{FF2B5EF4-FFF2-40B4-BE49-F238E27FC236}">
                <a16:creationId xmlns:a16="http://schemas.microsoft.com/office/drawing/2014/main" id="{1BDD77FD-1745-4859-B864-3AA4019EE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/>
              <a:t>The approach advances the principles of </a:t>
            </a:r>
            <a:r>
              <a:rPr lang="en-GB" altLang="en-US" b="1"/>
              <a:t>adaptive management and integrative approaches</a:t>
            </a:r>
            <a:r>
              <a:rPr lang="en-GB" altLang="en-US"/>
              <a:t> to NRM change and sustainability.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r>
              <a:rPr lang="en-GB" altLang="en-US"/>
              <a:t>It posits that the challenges of NRM can be confronted with the </a:t>
            </a:r>
            <a:r>
              <a:rPr lang="en-GB" altLang="en-US" b="1"/>
              <a:t>empowerment of local communities</a:t>
            </a:r>
            <a:r>
              <a:rPr lang="en-GB" altLang="en-US"/>
              <a:t> to manage their natural resources </a:t>
            </a:r>
          </a:p>
          <a:p>
            <a:pPr algn="just" eaLnBrk="1" hangingPunct="1"/>
            <a:endParaRPr lang="en-GB" altLang="en-US"/>
          </a:p>
          <a:p>
            <a:pPr algn="just" eaLnBrk="1" hangingPunct="1"/>
            <a:endParaRPr lang="en-GB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A420D909-7CB0-41CF-BBD8-E51738188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104451" name="Content Placeholder 2">
            <a:extLst>
              <a:ext uri="{FF2B5EF4-FFF2-40B4-BE49-F238E27FC236}">
                <a16:creationId xmlns:a16="http://schemas.microsoft.com/office/drawing/2014/main" id="{F4CCB6F8-8363-4C94-BAC4-5350686D9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GB" altLang="en-US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/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GB" altLang="en-US"/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18423</TotalTime>
  <Words>3900</Words>
  <Application>Microsoft Office PowerPoint</Application>
  <PresentationFormat>On-screen Show (4:3)</PresentationFormat>
  <Paragraphs>596</Paragraphs>
  <Slides>101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2" baseType="lpstr">
      <vt:lpstr>Office Theme</vt:lpstr>
      <vt:lpstr>DEVELOPMENT STUDIES</vt:lpstr>
      <vt:lpstr>Expected outputs</vt:lpstr>
      <vt:lpstr>PowerPoint Presentation</vt:lpstr>
      <vt:lpstr>Key concepts and theories</vt:lpstr>
      <vt:lpstr>Sociology and Economic perspectives</vt:lpstr>
      <vt:lpstr>Sociology and Economic perspectives....cont</vt:lpstr>
      <vt:lpstr>Ecosystems perspectives</vt:lpstr>
      <vt:lpstr>Natural Resources defined</vt:lpstr>
      <vt:lpstr>Management Implications</vt:lpstr>
      <vt:lpstr>Management Implications…cont</vt:lpstr>
      <vt:lpstr>What is ecosystem?</vt:lpstr>
      <vt:lpstr>What is ecosystem?...cont</vt:lpstr>
      <vt:lpstr>Ecosystem structure</vt:lpstr>
      <vt:lpstr>Ecosystem structure….cont</vt:lpstr>
      <vt:lpstr>Ecosystem structure….cont</vt:lpstr>
      <vt:lpstr>Ecosystem goods and services</vt:lpstr>
      <vt:lpstr>Ecosystems Mgt Challenges</vt:lpstr>
      <vt:lpstr>R’ship btn ecosystem services and well-being</vt:lpstr>
      <vt:lpstr>PowerPoint Presentation</vt:lpstr>
      <vt:lpstr>Ecosystems management</vt:lpstr>
      <vt:lpstr>Ecosystems management…cont</vt:lpstr>
      <vt:lpstr>Ecosystems management…cont</vt:lpstr>
      <vt:lpstr>Ecosystems management…cont</vt:lpstr>
      <vt:lpstr>Payment of ecosystem services</vt:lpstr>
      <vt:lpstr>Payment of ecosystem services….cont</vt:lpstr>
      <vt:lpstr>Payment of ecosystem services….cont</vt:lpstr>
      <vt:lpstr>PowerPoint Presentation</vt:lpstr>
      <vt:lpstr>PowerPoint Presentation</vt:lpstr>
      <vt:lpstr>Natural Resources management</vt:lpstr>
      <vt:lpstr>Importance</vt:lpstr>
      <vt:lpstr>PowerPoint Presentation</vt:lpstr>
      <vt:lpstr>PowerPoint Presentation</vt:lpstr>
      <vt:lpstr>PowerPoint Presentation</vt:lpstr>
      <vt:lpstr>PowerPoint Presentation</vt:lpstr>
      <vt:lpstr>Approaches</vt:lpstr>
      <vt:lpstr>PowerPoint Presentation</vt:lpstr>
      <vt:lpstr>The Orthodox View or “Downward Spiral” of NRM and Poverty</vt:lpstr>
      <vt:lpstr>PowerPoint Presentation</vt:lpstr>
      <vt:lpstr>PowerPoint Presentation</vt:lpstr>
      <vt:lpstr>Empirical evidence against the down spiral view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&amp;</vt:lpstr>
      <vt:lpstr>The “Environmental Entitlements” Approach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“Sustainable Development” Approach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“Sustainable Livelihoods” Approach </vt:lpstr>
      <vt:lpstr>PowerPoint Presentation</vt:lpstr>
      <vt:lpstr>PowerPoint Presentation</vt:lpstr>
      <vt:lpstr>PowerPoint Presentation</vt:lpstr>
      <vt:lpstr>The Sustainable Livelihoods Framework</vt:lpstr>
      <vt:lpstr>Livelihoods assets</vt:lpstr>
      <vt:lpstr>Human Capital</vt:lpstr>
      <vt:lpstr>Natural Capital</vt:lpstr>
      <vt:lpstr>Social Capital</vt:lpstr>
      <vt:lpstr>Physical Capital</vt:lpstr>
      <vt:lpstr>Financial Capital</vt:lpstr>
      <vt:lpstr>The Asset Mix</vt:lpstr>
      <vt:lpstr>So……..</vt:lpstr>
      <vt:lpstr>“Vulnerability” Context</vt:lpstr>
      <vt:lpstr>PowerPoint Presentation</vt:lpstr>
      <vt:lpstr>Transforming structures and processes</vt:lpstr>
      <vt:lpstr>PowerPoint Presentation</vt:lpstr>
      <vt:lpstr>Livelihood Strategies</vt:lpstr>
      <vt:lpstr>Livelihood Outcomes</vt:lpstr>
      <vt:lpstr>The Sustainable Livelihoods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Resilience Approach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 607</dc:title>
  <dc:creator>Dr. Mbwambo</dc:creator>
  <cp:lastModifiedBy>Unknown User</cp:lastModifiedBy>
  <cp:revision>186</cp:revision>
  <dcterms:created xsi:type="dcterms:W3CDTF">2011-04-14T08:38:47Z</dcterms:created>
  <dcterms:modified xsi:type="dcterms:W3CDTF">2021-12-03T14:37:31Z</dcterms:modified>
</cp:coreProperties>
</file>