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9" r:id="rId39"/>
    <p:sldId id="300" r:id="rId40"/>
    <p:sldId id="293" r:id="rId41"/>
    <p:sldId id="294" r:id="rId42"/>
    <p:sldId id="295" r:id="rId43"/>
    <p:sldId id="296" r:id="rId44"/>
    <p:sldId id="297" r:id="rId45"/>
    <p:sldId id="298"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YO" initials="M" lastIdx="2" clrIdx="0">
    <p:extLst>
      <p:ext uri="{19B8F6BF-5375-455C-9EA6-DF929625EA0E}">
        <p15:presenceInfo xmlns:p15="http://schemas.microsoft.com/office/powerpoint/2012/main" userId="MOY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varScale="1">
        <p:scale>
          <a:sx n="67" d="100"/>
          <a:sy n="67" d="100"/>
        </p:scale>
        <p:origin x="6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6-21T23:20:09.581" idx="2">
    <p:pos x="1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FF665-8C60-47DB-8B91-53D079CDBD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C5E496-BE29-4E71-8331-D15C814E4F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40FD82-A051-444A-B6C4-0FC3B44E6552}"/>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D2B967F1-D309-4C41-89B8-A38AF4C427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82775-CE66-415A-B648-562427081A22}"/>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957257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09FE-6A1C-4E54-A681-5E1BC45587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111B1A-F2F8-409A-B322-FA7D49F936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CF7D5B-E246-4A30-B522-7376E5E9F4F9}"/>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EB9EF57C-DB99-4D43-AEB4-F0E81A43D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9C78D4-64B0-49C4-9EE1-3884F9800412}"/>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182157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8AAC-CBE6-4E30-A2B5-1F364B66E6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8B5AC4-FE4A-45C6-9A3F-96CF4C8D0C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871DDD-BA3C-4BAA-8F0F-ABBD8F98D3DA}"/>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5020AA4E-784C-4304-9039-C11634A237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77DA9-E02D-4EC3-95DC-F424422D07B1}"/>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352055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937D-C9EF-4C84-99F3-949B112EC6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402844-65B8-4AAE-BC5E-CFEC3ABFDC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B34A9-EF23-495B-9BC2-1A5A4D7720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B9BE70-DE5F-4940-991A-43BDB04A8ED9}"/>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6" name="Footer Placeholder 5">
            <a:extLst>
              <a:ext uri="{FF2B5EF4-FFF2-40B4-BE49-F238E27FC236}">
                <a16:creationId xmlns:a16="http://schemas.microsoft.com/office/drawing/2014/main" id="{771DA87F-86BD-4963-BB76-0CE862F38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392E9-D6EE-4897-97E4-E66FB4FCFF49}"/>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1370960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F608-FF71-4645-A5BA-21256648EF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0F2A3D-15AD-416F-A8EF-A5397BF6A3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E09122-8DFE-41B2-8E93-CA9BF5E7BF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96BE83-C9EC-4D16-A729-1D49021978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98F5F4-A1B1-4A24-8358-003004925E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7158D9-67BB-4396-B0F7-447446EEA833}"/>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8" name="Footer Placeholder 7">
            <a:extLst>
              <a:ext uri="{FF2B5EF4-FFF2-40B4-BE49-F238E27FC236}">
                <a16:creationId xmlns:a16="http://schemas.microsoft.com/office/drawing/2014/main" id="{184D6005-49DD-4381-BB96-2D3F327A22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0E0E6-22AB-474A-B780-D8D16C746991}"/>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408004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E027-490E-4DBC-A486-29876E4EDB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48209D-F817-4FAC-8E65-5D8592F2A09B}"/>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4" name="Footer Placeholder 3">
            <a:extLst>
              <a:ext uri="{FF2B5EF4-FFF2-40B4-BE49-F238E27FC236}">
                <a16:creationId xmlns:a16="http://schemas.microsoft.com/office/drawing/2014/main" id="{92841AD9-2678-406E-8C4D-48B8EE90E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641FD9-8D21-4D0D-8406-C77B6B5AD2C7}"/>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2338161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64E00-1314-4642-A16C-4FA3CEC80FA7}"/>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3" name="Footer Placeholder 2">
            <a:extLst>
              <a:ext uri="{FF2B5EF4-FFF2-40B4-BE49-F238E27FC236}">
                <a16:creationId xmlns:a16="http://schemas.microsoft.com/office/drawing/2014/main" id="{583B99ED-E83A-40F4-B645-0C7FB2084D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2D4C4D-8C74-427F-927C-A4D71F76F3FE}"/>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1892970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FEE1-C343-4CA3-BC74-3CBC31E8B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EFCCBE-EFA0-4A57-A27A-B75360FF6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0ECB73-74F8-4E8B-83C8-F4BDE45A4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6B151-5297-49E1-902E-3A1129149E03}"/>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6" name="Footer Placeholder 5">
            <a:extLst>
              <a:ext uri="{FF2B5EF4-FFF2-40B4-BE49-F238E27FC236}">
                <a16:creationId xmlns:a16="http://schemas.microsoft.com/office/drawing/2014/main" id="{4B58240C-B148-4089-93B3-D92A55105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84FCE2-501D-4C6A-96F0-B042FF9BFB7B}"/>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2477596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A89E-FF59-4C16-9F1F-10F4378DE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7B5711-D286-4F84-B985-9577C4DF70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B31ED8-921D-4E5F-BE82-DF6D6C6D7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EC3AB-4234-4E24-BC3C-B62668F93A57}"/>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6" name="Footer Placeholder 5">
            <a:extLst>
              <a:ext uri="{FF2B5EF4-FFF2-40B4-BE49-F238E27FC236}">
                <a16:creationId xmlns:a16="http://schemas.microsoft.com/office/drawing/2014/main" id="{DC5A65FD-3C40-4DC1-8D3A-4D5F3FA2B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CC56D-BBF7-4913-A80E-DE0D3FD46D4E}"/>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1422373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0A839-DF07-49AD-8074-C0398C28F5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7790A8-BC1E-4D17-8CC3-5A4E9E12DB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381F0C-92ED-4421-A7EE-D0CCE6175870}"/>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FCF8E950-CAB7-4802-BC66-8F44C16E7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E738EB-2A86-4230-AC05-1F1D369D1AF6}"/>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385534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CE5277-E916-4DC1-9E79-436FA92D1B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3AEBD3-1FD0-4169-BCE5-8B30A043D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E8EB01-EC01-4B4F-A01D-097C9CC68501}"/>
              </a:ext>
            </a:extLst>
          </p:cNvPr>
          <p:cNvSpPr>
            <a:spLocks noGrp="1"/>
          </p:cNvSpPr>
          <p:nvPr>
            <p:ph type="dt" sz="half" idx="10"/>
          </p:nvPr>
        </p:nvSpPr>
        <p:spPr/>
        <p:txBody>
          <a:body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41674974-1ED8-4862-A661-F361F3CF79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8EDB6C-4359-4635-B0F5-9E31DCBEDD5A}"/>
              </a:ext>
            </a:extLst>
          </p:cNvPr>
          <p:cNvSpPr>
            <a:spLocks noGrp="1"/>
          </p:cNvSpPr>
          <p:nvPr>
            <p:ph type="sldNum" sz="quarter" idx="12"/>
          </p:nvPr>
        </p:nvSpPr>
        <p:spPr/>
        <p:txBody>
          <a:bodyPr/>
          <a:lstStyle/>
          <a:p>
            <a:fld id="{CCE20D25-3237-41BB-B88E-A45473E4C756}" type="slidenum">
              <a:rPr lang="en-US" smtClean="0"/>
              <a:t>‹#›</a:t>
            </a:fld>
            <a:endParaRPr lang="en-US"/>
          </a:p>
        </p:txBody>
      </p:sp>
    </p:spTree>
    <p:extLst>
      <p:ext uri="{BB962C8B-B14F-4D97-AF65-F5344CB8AC3E}">
        <p14:creationId xmlns:p14="http://schemas.microsoft.com/office/powerpoint/2010/main" val="3463496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FF9F4D-8AAF-403D-B546-5BB53B4F46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37B6A9-3D03-4880-9DF8-1F4416C59C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561CB-7095-485D-BB8C-8803AD44DC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1DEEF-6367-449D-8E2F-851B33386952}" type="datetimeFigureOut">
              <a:rPr lang="en-US" smtClean="0"/>
              <a:t>6/22/2020</a:t>
            </a:fld>
            <a:endParaRPr lang="en-US"/>
          </a:p>
        </p:txBody>
      </p:sp>
      <p:sp>
        <p:nvSpPr>
          <p:cNvPr id="5" name="Footer Placeholder 4">
            <a:extLst>
              <a:ext uri="{FF2B5EF4-FFF2-40B4-BE49-F238E27FC236}">
                <a16:creationId xmlns:a16="http://schemas.microsoft.com/office/drawing/2014/main" id="{7396B9DE-00AF-425C-A2F3-E7E6A16C9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346375-B96C-441D-9BC4-F247CD6078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20D25-3237-41BB-B88E-A45473E4C756}" type="slidenum">
              <a:rPr lang="en-US" smtClean="0"/>
              <a:t>‹#›</a:t>
            </a:fld>
            <a:endParaRPr lang="en-US"/>
          </a:p>
        </p:txBody>
      </p:sp>
    </p:spTree>
    <p:extLst>
      <p:ext uri="{BB962C8B-B14F-4D97-AF65-F5344CB8AC3E}">
        <p14:creationId xmlns:p14="http://schemas.microsoft.com/office/powerpoint/2010/main" val="2515516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B7D85-0609-43B8-BBDB-918C8E23412E}"/>
              </a:ext>
            </a:extLst>
          </p:cNvPr>
          <p:cNvSpPr>
            <a:spLocks noGrp="1"/>
          </p:cNvSpPr>
          <p:nvPr>
            <p:ph type="ctrTitle"/>
          </p:nvPr>
        </p:nvSpPr>
        <p:spPr>
          <a:xfrm>
            <a:off x="1524000" y="357189"/>
            <a:ext cx="9144000" cy="1085850"/>
          </a:xfrm>
        </p:spPr>
        <p:txBody>
          <a:bodyPr>
            <a:normAutofit/>
          </a:bodyPr>
          <a:lstStyle/>
          <a:p>
            <a:r>
              <a:rPr lang="en-US" dirty="0"/>
              <a:t> </a:t>
            </a:r>
            <a:r>
              <a:rPr lang="en-US" b="1" dirty="0"/>
              <a:t>Power </a:t>
            </a:r>
          </a:p>
        </p:txBody>
      </p:sp>
      <p:sp>
        <p:nvSpPr>
          <p:cNvPr id="3" name="Subtitle 2">
            <a:extLst>
              <a:ext uri="{FF2B5EF4-FFF2-40B4-BE49-F238E27FC236}">
                <a16:creationId xmlns:a16="http://schemas.microsoft.com/office/drawing/2014/main" id="{CA50319B-4621-4405-A268-456F5E4C8096}"/>
              </a:ext>
            </a:extLst>
          </p:cNvPr>
          <p:cNvSpPr>
            <a:spLocks noGrp="1"/>
          </p:cNvSpPr>
          <p:nvPr>
            <p:ph type="subTitle" idx="1"/>
          </p:nvPr>
        </p:nvSpPr>
        <p:spPr>
          <a:xfrm>
            <a:off x="1524000" y="1443039"/>
            <a:ext cx="9144000" cy="5057773"/>
          </a:xfrm>
        </p:spPr>
        <p:txBody>
          <a:bodyPr>
            <a:normAutofit/>
          </a:bodyPr>
          <a:lstStyle/>
          <a:p>
            <a:pPr algn="l"/>
            <a:r>
              <a:rPr lang="en-US" sz="4000" dirty="0"/>
              <a:t>Power  is the rate at which energy (or work)  is expended. Absorbed power is proportional both to the current and the voltage needed to transfer one coulomb through the device. The unit of power is the . </a:t>
            </a:r>
          </a:p>
          <a:p>
            <a:pPr algn="l"/>
            <a:endParaRPr lang="en-US" sz="4000" dirty="0"/>
          </a:p>
        </p:txBody>
      </p:sp>
      <p:pic>
        <p:nvPicPr>
          <p:cNvPr id="5" name="Picture 4">
            <a:extLst>
              <a:ext uri="{FF2B5EF4-FFF2-40B4-BE49-F238E27FC236}">
                <a16:creationId xmlns:a16="http://schemas.microsoft.com/office/drawing/2014/main" id="{5E46A8A4-04BD-45ED-A024-99D1F88E9132}"/>
              </a:ext>
            </a:extLst>
          </p:cNvPr>
          <p:cNvPicPr>
            <a:picLocks noChangeAspect="1"/>
          </p:cNvPicPr>
          <p:nvPr/>
        </p:nvPicPr>
        <p:blipFill>
          <a:blip r:embed="rId2"/>
          <a:stretch>
            <a:fillRect/>
          </a:stretch>
        </p:blipFill>
        <p:spPr>
          <a:xfrm>
            <a:off x="3328987" y="4789882"/>
            <a:ext cx="5014913" cy="1250158"/>
          </a:xfrm>
          <a:prstGeom prst="rect">
            <a:avLst/>
          </a:prstGeom>
        </p:spPr>
      </p:pic>
    </p:spTree>
    <p:extLst>
      <p:ext uri="{BB962C8B-B14F-4D97-AF65-F5344CB8AC3E}">
        <p14:creationId xmlns:p14="http://schemas.microsoft.com/office/powerpoint/2010/main" val="2149124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C539-0674-4E14-A23A-98C8DCE2595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0759B3D-49A3-4489-A3CD-B792E9367E1E}"/>
              </a:ext>
            </a:extLst>
          </p:cNvPr>
          <p:cNvPicPr>
            <a:picLocks noGrp="1" noChangeAspect="1"/>
          </p:cNvPicPr>
          <p:nvPr>
            <p:ph idx="1"/>
          </p:nvPr>
        </p:nvPicPr>
        <p:blipFill>
          <a:blip r:embed="rId2"/>
          <a:stretch>
            <a:fillRect/>
          </a:stretch>
        </p:blipFill>
        <p:spPr>
          <a:xfrm>
            <a:off x="2800349" y="1924843"/>
            <a:ext cx="5929313" cy="1325562"/>
          </a:xfrm>
          <a:prstGeom prst="rect">
            <a:avLst/>
          </a:prstGeom>
        </p:spPr>
      </p:pic>
    </p:spTree>
    <p:extLst>
      <p:ext uri="{BB962C8B-B14F-4D97-AF65-F5344CB8AC3E}">
        <p14:creationId xmlns:p14="http://schemas.microsoft.com/office/powerpoint/2010/main" val="368420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3B79-3626-4F5C-A97D-647261BDC1CB}"/>
              </a:ext>
            </a:extLst>
          </p:cNvPr>
          <p:cNvSpPr>
            <a:spLocks noGrp="1"/>
          </p:cNvSpPr>
          <p:nvPr>
            <p:ph type="title"/>
          </p:nvPr>
        </p:nvSpPr>
        <p:spPr>
          <a:xfrm>
            <a:off x="838200" y="365125"/>
            <a:ext cx="10515600" cy="835025"/>
          </a:xfrm>
        </p:spPr>
        <p:txBody>
          <a:bodyPr>
            <a:normAutofit fontScale="90000"/>
          </a:bodyPr>
          <a:lstStyle/>
          <a:p>
            <a:r>
              <a:rPr lang="en-US" b="1" dirty="0"/>
              <a:t>Star to Delta and Delta to Star Transformations: </a:t>
            </a:r>
          </a:p>
        </p:txBody>
      </p:sp>
      <p:sp>
        <p:nvSpPr>
          <p:cNvPr id="3" name="Content Placeholder 2">
            <a:extLst>
              <a:ext uri="{FF2B5EF4-FFF2-40B4-BE49-F238E27FC236}">
                <a16:creationId xmlns:a16="http://schemas.microsoft.com/office/drawing/2014/main" id="{84756C14-1782-476B-A05F-922DC5DD92E4}"/>
              </a:ext>
            </a:extLst>
          </p:cNvPr>
          <p:cNvSpPr>
            <a:spLocks noGrp="1"/>
          </p:cNvSpPr>
          <p:nvPr>
            <p:ph idx="1"/>
          </p:nvPr>
        </p:nvSpPr>
        <p:spPr>
          <a:xfrm>
            <a:off x="838200" y="1485900"/>
            <a:ext cx="10515600" cy="5172075"/>
          </a:xfrm>
        </p:spPr>
        <p:txBody>
          <a:bodyPr>
            <a:noAutofit/>
          </a:bodyPr>
          <a:lstStyle/>
          <a:p>
            <a:r>
              <a:rPr lang="en-US" sz="4000" dirty="0"/>
              <a:t>Like in series and parallel connections, electrical components may be connected in Star or Delta configurations as shown in the figure below (with Resistances). Many a times circuits have to be transformed from Star to equivalent Delta and Delta to equivalent Star configurations such that the net terminal Resistances ( Impedances)across the terminals are the same. </a:t>
            </a:r>
          </a:p>
        </p:txBody>
      </p:sp>
    </p:spTree>
    <p:extLst>
      <p:ext uri="{BB962C8B-B14F-4D97-AF65-F5344CB8AC3E}">
        <p14:creationId xmlns:p14="http://schemas.microsoft.com/office/powerpoint/2010/main" val="235185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840B8-E845-4EFB-B8AF-286A932FBB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03B200-0EA1-47F3-A5F2-CCC364083B15}"/>
              </a:ext>
            </a:extLst>
          </p:cNvPr>
          <p:cNvSpPr>
            <a:spLocks noGrp="1"/>
          </p:cNvSpPr>
          <p:nvPr>
            <p:ph idx="1"/>
          </p:nvPr>
        </p:nvSpPr>
        <p:spPr/>
        <p:txBody>
          <a:bodyPr>
            <a:noAutofit/>
          </a:bodyPr>
          <a:lstStyle/>
          <a:p>
            <a:r>
              <a:rPr lang="en-US" sz="4000" dirty="0"/>
              <a:t>Like in series and parallel connections, electrical components may be connected in Star or Delta configurations as shown in the figure below (with Resistances). Many a times circuits have to be transformed from Star to equivalent Delta and Delta to equivalent Star configurations such that the net terminal Resistances ( Impedances)across the terminals are the same.</a:t>
            </a:r>
          </a:p>
        </p:txBody>
      </p:sp>
    </p:spTree>
    <p:extLst>
      <p:ext uri="{BB962C8B-B14F-4D97-AF65-F5344CB8AC3E}">
        <p14:creationId xmlns:p14="http://schemas.microsoft.com/office/powerpoint/2010/main" val="3326908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4C2C8-E271-401C-9A6A-9B8A0DB76B12}"/>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C5514EAC-0079-42DE-B654-91BFAB60B95B}"/>
              </a:ext>
            </a:extLst>
          </p:cNvPr>
          <p:cNvPicPr>
            <a:picLocks noGrp="1" noChangeAspect="1"/>
          </p:cNvPicPr>
          <p:nvPr>
            <p:ph idx="1"/>
          </p:nvPr>
        </p:nvPicPr>
        <p:blipFill>
          <a:blip r:embed="rId2"/>
          <a:stretch>
            <a:fillRect/>
          </a:stretch>
        </p:blipFill>
        <p:spPr>
          <a:xfrm>
            <a:off x="1014413" y="2085975"/>
            <a:ext cx="10515600" cy="4772025"/>
          </a:xfrm>
          <a:prstGeom prst="rect">
            <a:avLst/>
          </a:prstGeom>
        </p:spPr>
      </p:pic>
    </p:spTree>
    <p:extLst>
      <p:ext uri="{BB962C8B-B14F-4D97-AF65-F5344CB8AC3E}">
        <p14:creationId xmlns:p14="http://schemas.microsoft.com/office/powerpoint/2010/main" val="327283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E544-9CE8-4D0F-A822-8C2AF88DFF9F}"/>
              </a:ext>
            </a:extLst>
          </p:cNvPr>
          <p:cNvSpPr>
            <a:spLocks noGrp="1"/>
          </p:cNvSpPr>
          <p:nvPr>
            <p:ph type="title"/>
          </p:nvPr>
        </p:nvSpPr>
        <p:spPr/>
        <p:txBody>
          <a:bodyPr/>
          <a:lstStyle/>
          <a:p>
            <a:r>
              <a:rPr lang="en-US" b="1" dirty="0"/>
              <a:t>Delta to Star Transformation: </a:t>
            </a:r>
          </a:p>
        </p:txBody>
      </p:sp>
      <p:sp>
        <p:nvSpPr>
          <p:cNvPr id="3" name="Content Placeholder 2">
            <a:extLst>
              <a:ext uri="{FF2B5EF4-FFF2-40B4-BE49-F238E27FC236}">
                <a16:creationId xmlns:a16="http://schemas.microsoft.com/office/drawing/2014/main" id="{79A96BF9-5E5C-4407-A1F2-36921B216BDD}"/>
              </a:ext>
            </a:extLst>
          </p:cNvPr>
          <p:cNvSpPr>
            <a:spLocks noGrp="1"/>
          </p:cNvSpPr>
          <p:nvPr>
            <p:ph idx="1"/>
          </p:nvPr>
        </p:nvSpPr>
        <p:spPr>
          <a:xfrm>
            <a:off x="838200" y="1825624"/>
            <a:ext cx="10515600" cy="4803775"/>
          </a:xfrm>
        </p:spPr>
        <p:txBody>
          <a:bodyPr>
            <a:normAutofit/>
          </a:bodyPr>
          <a:lstStyle/>
          <a:p>
            <a:r>
              <a:rPr lang="en-US" sz="4000" dirty="0"/>
              <a:t>The circuit configurations are identical provided the net resistances across the terminal pairs XY, YZ and ZX in both connections are the same. In Star Connection they are: </a:t>
            </a:r>
          </a:p>
          <a:p>
            <a:endParaRPr lang="en-US" sz="4000" dirty="0"/>
          </a:p>
        </p:txBody>
      </p:sp>
      <p:pic>
        <p:nvPicPr>
          <p:cNvPr id="4" name="Picture 3">
            <a:extLst>
              <a:ext uri="{FF2B5EF4-FFF2-40B4-BE49-F238E27FC236}">
                <a16:creationId xmlns:a16="http://schemas.microsoft.com/office/drawing/2014/main" id="{1F329F06-C41C-40D9-8AAA-7F4C789A2BE7}"/>
              </a:ext>
            </a:extLst>
          </p:cNvPr>
          <p:cNvPicPr>
            <a:picLocks noChangeAspect="1"/>
          </p:cNvPicPr>
          <p:nvPr/>
        </p:nvPicPr>
        <p:blipFill>
          <a:blip r:embed="rId2"/>
          <a:stretch>
            <a:fillRect/>
          </a:stretch>
        </p:blipFill>
        <p:spPr>
          <a:xfrm>
            <a:off x="1100138" y="4171950"/>
            <a:ext cx="7943850" cy="2320925"/>
          </a:xfrm>
          <a:prstGeom prst="rect">
            <a:avLst/>
          </a:prstGeom>
        </p:spPr>
      </p:pic>
    </p:spTree>
    <p:extLst>
      <p:ext uri="{BB962C8B-B14F-4D97-AF65-F5344CB8AC3E}">
        <p14:creationId xmlns:p14="http://schemas.microsoft.com/office/powerpoint/2010/main" val="1612397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9E385-F338-46E7-8006-6BCF3EFA8BD9}"/>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C2F24B6-7D5E-44BF-83CD-527408DBDBD1}"/>
              </a:ext>
            </a:extLst>
          </p:cNvPr>
          <p:cNvPicPr>
            <a:picLocks noGrp="1" noChangeAspect="1"/>
          </p:cNvPicPr>
          <p:nvPr>
            <p:ph idx="1"/>
          </p:nvPr>
        </p:nvPicPr>
        <p:blipFill>
          <a:blip r:embed="rId2"/>
          <a:stretch>
            <a:fillRect/>
          </a:stretch>
        </p:blipFill>
        <p:spPr>
          <a:xfrm>
            <a:off x="1343025" y="1871663"/>
            <a:ext cx="9529763" cy="2967831"/>
          </a:xfrm>
          <a:prstGeom prst="rect">
            <a:avLst/>
          </a:prstGeom>
        </p:spPr>
      </p:pic>
    </p:spTree>
    <p:extLst>
      <p:ext uri="{BB962C8B-B14F-4D97-AF65-F5344CB8AC3E}">
        <p14:creationId xmlns:p14="http://schemas.microsoft.com/office/powerpoint/2010/main" val="1547697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AD38-C42E-494F-8EB4-7E297CD277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013921-EF81-46D6-80D2-330C2FA495CD}"/>
              </a:ext>
            </a:extLst>
          </p:cNvPr>
          <p:cNvSpPr>
            <a:spLocks noGrp="1"/>
          </p:cNvSpPr>
          <p:nvPr>
            <p:ph idx="1"/>
          </p:nvPr>
        </p:nvSpPr>
        <p:spPr/>
        <p:txBody>
          <a:bodyPr/>
          <a:lstStyle/>
          <a:p>
            <a:r>
              <a:rPr lang="en-US" dirty="0"/>
              <a:t>By equating the respective equations, we get </a:t>
            </a:r>
          </a:p>
          <a:p>
            <a:endParaRPr lang="en-US" dirty="0"/>
          </a:p>
        </p:txBody>
      </p:sp>
      <p:pic>
        <p:nvPicPr>
          <p:cNvPr id="4" name="Picture 3">
            <a:extLst>
              <a:ext uri="{FF2B5EF4-FFF2-40B4-BE49-F238E27FC236}">
                <a16:creationId xmlns:a16="http://schemas.microsoft.com/office/drawing/2014/main" id="{B924CFB0-BB0A-40C8-B84C-40565653987D}"/>
              </a:ext>
            </a:extLst>
          </p:cNvPr>
          <p:cNvPicPr>
            <a:picLocks noChangeAspect="1"/>
          </p:cNvPicPr>
          <p:nvPr/>
        </p:nvPicPr>
        <p:blipFill>
          <a:blip r:embed="rId2"/>
          <a:stretch>
            <a:fillRect/>
          </a:stretch>
        </p:blipFill>
        <p:spPr>
          <a:xfrm>
            <a:off x="1171575" y="2514601"/>
            <a:ext cx="9829800" cy="3978274"/>
          </a:xfrm>
          <a:prstGeom prst="rect">
            <a:avLst/>
          </a:prstGeom>
        </p:spPr>
      </p:pic>
    </p:spTree>
    <p:extLst>
      <p:ext uri="{BB962C8B-B14F-4D97-AF65-F5344CB8AC3E}">
        <p14:creationId xmlns:p14="http://schemas.microsoft.com/office/powerpoint/2010/main" val="2298148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141D-647F-433D-B657-B1E259EED2D8}"/>
              </a:ext>
            </a:extLst>
          </p:cNvPr>
          <p:cNvSpPr>
            <a:spLocks noGrp="1"/>
          </p:cNvSpPr>
          <p:nvPr>
            <p:ph type="title"/>
          </p:nvPr>
        </p:nvSpPr>
        <p:spPr>
          <a:xfrm>
            <a:off x="838200" y="365126"/>
            <a:ext cx="10515600" cy="306388"/>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2607DBA4-F36C-4279-A8A1-53A7F533A086}"/>
              </a:ext>
            </a:extLst>
          </p:cNvPr>
          <p:cNvPicPr>
            <a:picLocks noGrp="1" noChangeAspect="1"/>
          </p:cNvPicPr>
          <p:nvPr>
            <p:ph idx="1"/>
          </p:nvPr>
        </p:nvPicPr>
        <p:blipFill>
          <a:blip r:embed="rId2"/>
          <a:stretch>
            <a:fillRect/>
          </a:stretch>
        </p:blipFill>
        <p:spPr>
          <a:xfrm>
            <a:off x="838200" y="828676"/>
            <a:ext cx="10206038" cy="6029324"/>
          </a:xfrm>
          <a:prstGeom prst="rect">
            <a:avLst/>
          </a:prstGeom>
        </p:spPr>
      </p:pic>
    </p:spTree>
    <p:extLst>
      <p:ext uri="{BB962C8B-B14F-4D97-AF65-F5344CB8AC3E}">
        <p14:creationId xmlns:p14="http://schemas.microsoft.com/office/powerpoint/2010/main" val="2130744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40B49-F9E2-402D-8D91-BE2F564426AD}"/>
              </a:ext>
            </a:extLst>
          </p:cNvPr>
          <p:cNvSpPr>
            <a:spLocks noGrp="1"/>
          </p:cNvSpPr>
          <p:nvPr>
            <p:ph type="title"/>
          </p:nvPr>
        </p:nvSpPr>
        <p:spPr/>
        <p:txBody>
          <a:bodyPr/>
          <a:lstStyle/>
          <a:p>
            <a:r>
              <a:rPr lang="en-US" b="1" dirty="0"/>
              <a:t>Star to Delta Transformation: </a:t>
            </a:r>
          </a:p>
        </p:txBody>
      </p:sp>
      <p:sp>
        <p:nvSpPr>
          <p:cNvPr id="3" name="Content Placeholder 2">
            <a:extLst>
              <a:ext uri="{FF2B5EF4-FFF2-40B4-BE49-F238E27FC236}">
                <a16:creationId xmlns:a16="http://schemas.microsoft.com/office/drawing/2014/main" id="{3CEED972-55C8-451C-A270-A378D3848AFC}"/>
              </a:ext>
            </a:extLst>
          </p:cNvPr>
          <p:cNvSpPr>
            <a:spLocks noGrp="1"/>
          </p:cNvSpPr>
          <p:nvPr>
            <p:ph idx="1"/>
          </p:nvPr>
        </p:nvSpPr>
        <p:spPr/>
        <p:txBody>
          <a:bodyPr>
            <a:normAutofit lnSpcReduction="10000"/>
          </a:bodyPr>
          <a:lstStyle/>
          <a:p>
            <a:r>
              <a:rPr lang="en-US" sz="4000" dirty="0"/>
              <a:t>Now we have to get the equivalent values of R1, R2 and R3 in Delta connection in terms of the three resistances RX,RY and RZ in Star connection. Let us use the equations we got earlier i.e. RX,RY and RZ in terms of R1,R2 and R3 and get the sum of the three product pairs i.e. RXRY + RYRZ + RZRX as : </a:t>
            </a:r>
          </a:p>
          <a:p>
            <a:r>
              <a:rPr lang="en-US" dirty="0"/>
              <a:t> </a:t>
            </a:r>
          </a:p>
        </p:txBody>
      </p:sp>
    </p:spTree>
    <p:extLst>
      <p:ext uri="{BB962C8B-B14F-4D97-AF65-F5344CB8AC3E}">
        <p14:creationId xmlns:p14="http://schemas.microsoft.com/office/powerpoint/2010/main" val="1597807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FCD19-CF35-4A5B-B955-E2530933755B}"/>
              </a:ext>
            </a:extLst>
          </p:cNvPr>
          <p:cNvSpPr>
            <a:spLocks noGrp="1"/>
          </p:cNvSpPr>
          <p:nvPr>
            <p:ph type="title"/>
          </p:nvPr>
        </p:nvSpPr>
        <p:spPr>
          <a:xfrm>
            <a:off x="838200" y="365126"/>
            <a:ext cx="10515600" cy="349250"/>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F3CF46A1-D644-4F24-9CA8-2CC0DE070473}"/>
              </a:ext>
            </a:extLst>
          </p:cNvPr>
          <p:cNvPicPr>
            <a:picLocks noGrp="1" noChangeAspect="1"/>
          </p:cNvPicPr>
          <p:nvPr>
            <p:ph idx="1"/>
          </p:nvPr>
        </p:nvPicPr>
        <p:blipFill>
          <a:blip r:embed="rId2"/>
          <a:stretch>
            <a:fillRect/>
          </a:stretch>
        </p:blipFill>
        <p:spPr>
          <a:xfrm>
            <a:off x="628650" y="957263"/>
            <a:ext cx="10858499" cy="5729287"/>
          </a:xfrm>
          <a:prstGeom prst="rect">
            <a:avLst/>
          </a:prstGeom>
        </p:spPr>
      </p:pic>
    </p:spTree>
    <p:extLst>
      <p:ext uri="{BB962C8B-B14F-4D97-AF65-F5344CB8AC3E}">
        <p14:creationId xmlns:p14="http://schemas.microsoft.com/office/powerpoint/2010/main" val="4220749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9DA96-9FAD-43D8-8152-AC454158AA0E}"/>
              </a:ext>
            </a:extLst>
          </p:cNvPr>
          <p:cNvSpPr>
            <a:spLocks noGrp="1"/>
          </p:cNvSpPr>
          <p:nvPr>
            <p:ph type="title"/>
          </p:nvPr>
        </p:nvSpPr>
        <p:spPr>
          <a:xfrm>
            <a:off x="838200" y="365125"/>
            <a:ext cx="10515600" cy="26352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B830A4B8-06AA-42B6-920B-F0520BF574B7}"/>
              </a:ext>
            </a:extLst>
          </p:cNvPr>
          <p:cNvPicPr>
            <a:picLocks noGrp="1" noChangeAspect="1"/>
          </p:cNvPicPr>
          <p:nvPr>
            <p:ph idx="1"/>
          </p:nvPr>
        </p:nvPicPr>
        <p:blipFill>
          <a:blip r:embed="rId2"/>
          <a:stretch>
            <a:fillRect/>
          </a:stretch>
        </p:blipFill>
        <p:spPr>
          <a:xfrm>
            <a:off x="838200" y="771525"/>
            <a:ext cx="10515600" cy="6086475"/>
          </a:xfrm>
          <a:prstGeom prst="rect">
            <a:avLst/>
          </a:prstGeom>
        </p:spPr>
      </p:pic>
    </p:spTree>
    <p:extLst>
      <p:ext uri="{BB962C8B-B14F-4D97-AF65-F5344CB8AC3E}">
        <p14:creationId xmlns:p14="http://schemas.microsoft.com/office/powerpoint/2010/main" val="3208532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4C3F-BAF0-4166-9091-6A333759E27C}"/>
              </a:ext>
            </a:extLst>
          </p:cNvPr>
          <p:cNvSpPr>
            <a:spLocks noGrp="1"/>
          </p:cNvSpPr>
          <p:nvPr>
            <p:ph type="title"/>
          </p:nvPr>
        </p:nvSpPr>
        <p:spPr/>
        <p:txBody>
          <a:bodyPr/>
          <a:lstStyle/>
          <a:p>
            <a:r>
              <a:rPr lang="en-US" b="1" dirty="0"/>
              <a:t>CIRCUIT ANALYSIS</a:t>
            </a:r>
          </a:p>
        </p:txBody>
      </p:sp>
      <p:sp>
        <p:nvSpPr>
          <p:cNvPr id="3" name="Content Placeholder 2">
            <a:extLst>
              <a:ext uri="{FF2B5EF4-FFF2-40B4-BE49-F238E27FC236}">
                <a16:creationId xmlns:a16="http://schemas.microsoft.com/office/drawing/2014/main" id="{1843CB3C-F7DC-4284-869B-A92A7CC4419D}"/>
              </a:ext>
            </a:extLst>
          </p:cNvPr>
          <p:cNvSpPr>
            <a:spLocks noGrp="1"/>
          </p:cNvSpPr>
          <p:nvPr>
            <p:ph idx="1"/>
          </p:nvPr>
        </p:nvSpPr>
        <p:spPr/>
        <p:txBody>
          <a:bodyPr/>
          <a:lstStyle/>
          <a:p>
            <a:r>
              <a:rPr lang="en-US" dirty="0"/>
              <a:t> </a:t>
            </a:r>
            <a:r>
              <a:rPr lang="en-US" sz="4000" b="1" dirty="0"/>
              <a:t>Electric Circuit</a:t>
            </a:r>
          </a:p>
          <a:p>
            <a:r>
              <a:rPr lang="en-US" sz="4000" dirty="0"/>
              <a:t>An electric circuit is an interconnection of electrical components.</a:t>
            </a:r>
          </a:p>
        </p:txBody>
      </p:sp>
    </p:spTree>
    <p:extLst>
      <p:ext uri="{BB962C8B-B14F-4D97-AF65-F5344CB8AC3E}">
        <p14:creationId xmlns:p14="http://schemas.microsoft.com/office/powerpoint/2010/main" val="4244204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DD5B-4454-4C39-BAB8-FDD9EE8705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0D5F69-2FD6-4999-8A00-110ACCF28DFD}"/>
              </a:ext>
            </a:extLst>
          </p:cNvPr>
          <p:cNvSpPr>
            <a:spLocks noGrp="1"/>
          </p:cNvSpPr>
          <p:nvPr>
            <p:ph idx="1"/>
          </p:nvPr>
        </p:nvSpPr>
        <p:spPr/>
        <p:txBody>
          <a:bodyPr>
            <a:noAutofit/>
          </a:bodyPr>
          <a:lstStyle/>
          <a:p>
            <a:r>
              <a:rPr lang="en-US" sz="4000" b="1" dirty="0"/>
              <a:t>Elements of an Electric circuit: </a:t>
            </a:r>
          </a:p>
          <a:p>
            <a:pPr marL="0" indent="0">
              <a:buNone/>
            </a:pPr>
            <a:r>
              <a:rPr lang="en-US" sz="4000" dirty="0"/>
              <a:t> An Electric circuit consists of following types of elements. </a:t>
            </a:r>
          </a:p>
          <a:p>
            <a:pPr marL="0" indent="0">
              <a:buNone/>
            </a:pPr>
            <a:r>
              <a:rPr lang="en-US" sz="4000" dirty="0"/>
              <a:t>  1.</a:t>
            </a:r>
            <a:r>
              <a:rPr lang="en-US" sz="4000" b="1" dirty="0"/>
              <a:t>Active elements: </a:t>
            </a:r>
          </a:p>
          <a:p>
            <a:pPr marL="0" indent="0">
              <a:buNone/>
            </a:pPr>
            <a:r>
              <a:rPr lang="en-US" sz="4000" dirty="0"/>
              <a:t> Active elements are the elements of a circuit  which possess energy of their own and can impart it    to other element of the circuit. </a:t>
            </a:r>
          </a:p>
          <a:p>
            <a:pPr marL="0" indent="0">
              <a:buNone/>
            </a:pPr>
            <a:r>
              <a:rPr lang="en-US" sz="4000" dirty="0"/>
              <a:t> </a:t>
            </a:r>
          </a:p>
        </p:txBody>
      </p:sp>
    </p:spTree>
    <p:extLst>
      <p:ext uri="{BB962C8B-B14F-4D97-AF65-F5344CB8AC3E}">
        <p14:creationId xmlns:p14="http://schemas.microsoft.com/office/powerpoint/2010/main" val="3569746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1D806-1BEE-496E-A120-E7B16AED6D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D4E9AF-1C83-4EDC-9E9B-A1E96AD3691B}"/>
              </a:ext>
            </a:extLst>
          </p:cNvPr>
          <p:cNvSpPr>
            <a:spLocks noGrp="1"/>
          </p:cNvSpPr>
          <p:nvPr>
            <p:ph idx="1"/>
          </p:nvPr>
        </p:nvSpPr>
        <p:spPr/>
        <p:txBody>
          <a:bodyPr>
            <a:normAutofit fontScale="92500" lnSpcReduction="10000"/>
          </a:bodyPr>
          <a:lstStyle/>
          <a:p>
            <a:pPr marL="0" indent="0">
              <a:buNone/>
            </a:pPr>
            <a:r>
              <a:rPr lang="en-US" sz="4000" b="1" dirty="0"/>
              <a:t>Active elements are of two types </a:t>
            </a:r>
          </a:p>
          <a:p>
            <a:pPr marL="0" indent="0">
              <a:buNone/>
            </a:pPr>
            <a:r>
              <a:rPr lang="en-US" sz="4000" dirty="0"/>
              <a:t>   a)  Voltage source</a:t>
            </a:r>
          </a:p>
          <a:p>
            <a:pPr marL="0" indent="0">
              <a:buNone/>
            </a:pPr>
            <a:r>
              <a:rPr lang="en-US" sz="4000" dirty="0"/>
              <a:t>    b) Current source </a:t>
            </a:r>
          </a:p>
          <a:p>
            <a:r>
              <a:rPr lang="en-US" sz="4000" dirty="0"/>
              <a:t>A Voltage source has a specified voltage across its terminals, independent of current flowing through it. </a:t>
            </a:r>
          </a:p>
          <a:p>
            <a:r>
              <a:rPr lang="en-US" sz="4000" dirty="0"/>
              <a:t> A current source has a specified current through it independent of the voltage appearing across it. </a:t>
            </a:r>
          </a:p>
        </p:txBody>
      </p:sp>
    </p:spTree>
    <p:extLst>
      <p:ext uri="{BB962C8B-B14F-4D97-AF65-F5344CB8AC3E}">
        <p14:creationId xmlns:p14="http://schemas.microsoft.com/office/powerpoint/2010/main" val="2733620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353C7-0801-4679-AA9A-D1C5299DB8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DB418D-84AB-4FCA-8B63-4097B3CD1625}"/>
              </a:ext>
            </a:extLst>
          </p:cNvPr>
          <p:cNvSpPr>
            <a:spLocks noGrp="1"/>
          </p:cNvSpPr>
          <p:nvPr>
            <p:ph idx="1"/>
          </p:nvPr>
        </p:nvSpPr>
        <p:spPr/>
        <p:txBody>
          <a:bodyPr>
            <a:normAutofit/>
          </a:bodyPr>
          <a:lstStyle/>
          <a:p>
            <a:r>
              <a:rPr lang="en-US" sz="4000" b="1" dirty="0"/>
              <a:t>Passive Elements: </a:t>
            </a:r>
          </a:p>
          <a:p>
            <a:r>
              <a:rPr lang="en-US" sz="4000" dirty="0"/>
              <a:t>The passive elements of an electric circuit do not possess energy of their own. They receive energy from the sources. The passive elements are the resistance, the inductance and the capacitance. </a:t>
            </a:r>
          </a:p>
        </p:txBody>
      </p:sp>
    </p:spTree>
    <p:extLst>
      <p:ext uri="{BB962C8B-B14F-4D97-AF65-F5344CB8AC3E}">
        <p14:creationId xmlns:p14="http://schemas.microsoft.com/office/powerpoint/2010/main" val="1104021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1180-AEC7-4FC2-AC76-3608D86CD2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04D9FA-01B4-4EB0-B676-AD8ED967CCEC}"/>
              </a:ext>
            </a:extLst>
          </p:cNvPr>
          <p:cNvSpPr>
            <a:spLocks noGrp="1"/>
          </p:cNvSpPr>
          <p:nvPr>
            <p:ph idx="1"/>
          </p:nvPr>
        </p:nvSpPr>
        <p:spPr/>
        <p:txBody>
          <a:bodyPr>
            <a:normAutofit fontScale="25000" lnSpcReduction="20000"/>
          </a:bodyPr>
          <a:lstStyle/>
          <a:p>
            <a:pPr marL="0" indent="0">
              <a:buNone/>
            </a:pPr>
            <a:r>
              <a:rPr lang="en-US" dirty="0"/>
              <a:t> </a:t>
            </a:r>
            <a:r>
              <a:rPr lang="en-US" sz="14400" dirty="0"/>
              <a:t>When electrical energy is supplied to a circuit element, it will respond  in one and more of the following ways. </a:t>
            </a:r>
          </a:p>
          <a:p>
            <a:r>
              <a:rPr lang="en-US" sz="14400" dirty="0"/>
              <a:t>If the energy is consumed, then the circuit element is a pure resistor. </a:t>
            </a:r>
          </a:p>
          <a:p>
            <a:r>
              <a:rPr lang="en-US" sz="14400" dirty="0"/>
              <a:t>If the energy is stored in a magnetic field, the element is a pure inductor. </a:t>
            </a:r>
          </a:p>
          <a:p>
            <a:r>
              <a:rPr lang="en-US" sz="14400" dirty="0"/>
              <a:t> And if the energy is stored in an electric field, the element is a pure capacitor. </a:t>
            </a:r>
          </a:p>
        </p:txBody>
      </p:sp>
    </p:spTree>
    <p:extLst>
      <p:ext uri="{BB962C8B-B14F-4D97-AF65-F5344CB8AC3E}">
        <p14:creationId xmlns:p14="http://schemas.microsoft.com/office/powerpoint/2010/main" val="4132964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5247-9366-47D7-9C0F-8B4C006BED20}"/>
              </a:ext>
            </a:extLst>
          </p:cNvPr>
          <p:cNvSpPr>
            <a:spLocks noGrp="1"/>
          </p:cNvSpPr>
          <p:nvPr>
            <p:ph type="title"/>
          </p:nvPr>
        </p:nvSpPr>
        <p:spPr/>
        <p:txBody>
          <a:bodyPr/>
          <a:lstStyle/>
          <a:p>
            <a:r>
              <a:rPr lang="en-US" b="1" dirty="0"/>
              <a:t>Two Important Types of Current</a:t>
            </a:r>
            <a:br>
              <a:rPr lang="en-US" b="1" dirty="0"/>
            </a:br>
            <a:endParaRPr lang="en-US" b="1" dirty="0"/>
          </a:p>
        </p:txBody>
      </p:sp>
      <p:sp>
        <p:nvSpPr>
          <p:cNvPr id="3" name="Content Placeholder 2">
            <a:extLst>
              <a:ext uri="{FF2B5EF4-FFF2-40B4-BE49-F238E27FC236}">
                <a16:creationId xmlns:a16="http://schemas.microsoft.com/office/drawing/2014/main" id="{1956F7E3-E825-4C87-920B-A8E7EECD9AFF}"/>
              </a:ext>
            </a:extLst>
          </p:cNvPr>
          <p:cNvSpPr>
            <a:spLocks noGrp="1"/>
          </p:cNvSpPr>
          <p:nvPr>
            <p:ph idx="1"/>
          </p:nvPr>
        </p:nvSpPr>
        <p:spPr>
          <a:xfrm>
            <a:off x="838200" y="1219200"/>
            <a:ext cx="10515600" cy="5486399"/>
          </a:xfrm>
        </p:spPr>
        <p:txBody>
          <a:bodyPr/>
          <a:lstStyle/>
          <a:p>
            <a:r>
              <a:rPr lang="en-US" dirty="0"/>
              <a:t> </a:t>
            </a:r>
            <a:r>
              <a:rPr lang="en-US" sz="4000" dirty="0"/>
              <a:t>Direct current (DC) is a current that remains constant with time.</a:t>
            </a:r>
          </a:p>
          <a:p>
            <a:pPr marL="0" indent="0">
              <a:buNone/>
            </a:pPr>
            <a:r>
              <a:rPr lang="en-US" sz="4000" dirty="0"/>
              <a:t> • Alternating current (AC) is a current that varies</a:t>
            </a:r>
          </a:p>
          <a:p>
            <a:pPr marL="0" indent="0">
              <a:buNone/>
            </a:pPr>
            <a:r>
              <a:rPr lang="en-US" sz="4000" dirty="0"/>
              <a:t>      sinusoidally with time.</a:t>
            </a:r>
          </a:p>
        </p:txBody>
      </p:sp>
      <p:pic>
        <p:nvPicPr>
          <p:cNvPr id="4" name="Picture 3">
            <a:extLst>
              <a:ext uri="{FF2B5EF4-FFF2-40B4-BE49-F238E27FC236}">
                <a16:creationId xmlns:a16="http://schemas.microsoft.com/office/drawing/2014/main" id="{9BC15A88-9BCC-48B1-A4B4-BE381DA8DAA6}"/>
              </a:ext>
            </a:extLst>
          </p:cNvPr>
          <p:cNvPicPr>
            <a:picLocks noChangeAspect="1"/>
          </p:cNvPicPr>
          <p:nvPr/>
        </p:nvPicPr>
        <p:blipFill>
          <a:blip r:embed="rId2"/>
          <a:stretch>
            <a:fillRect/>
          </a:stretch>
        </p:blipFill>
        <p:spPr>
          <a:xfrm>
            <a:off x="1123950" y="3867150"/>
            <a:ext cx="8972550" cy="2838449"/>
          </a:xfrm>
          <a:prstGeom prst="rect">
            <a:avLst/>
          </a:prstGeom>
        </p:spPr>
      </p:pic>
    </p:spTree>
    <p:extLst>
      <p:ext uri="{BB962C8B-B14F-4D97-AF65-F5344CB8AC3E}">
        <p14:creationId xmlns:p14="http://schemas.microsoft.com/office/powerpoint/2010/main" val="2974253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C26FF-B971-4BEE-B75A-27E6BC0CADB9}"/>
              </a:ext>
            </a:extLst>
          </p:cNvPr>
          <p:cNvSpPr>
            <a:spLocks noGrp="1"/>
          </p:cNvSpPr>
          <p:nvPr>
            <p:ph type="title"/>
          </p:nvPr>
        </p:nvSpPr>
        <p:spPr/>
        <p:txBody>
          <a:bodyPr/>
          <a:lstStyle/>
          <a:p>
            <a:r>
              <a:rPr lang="en-US" b="1" dirty="0"/>
              <a:t>Voltage Polarity</a:t>
            </a:r>
            <a:br>
              <a:rPr lang="en-US" b="1" dirty="0"/>
            </a:br>
            <a:endParaRPr lang="en-US" b="1" dirty="0"/>
          </a:p>
        </p:txBody>
      </p:sp>
      <p:sp>
        <p:nvSpPr>
          <p:cNvPr id="3" name="Content Placeholder 2">
            <a:extLst>
              <a:ext uri="{FF2B5EF4-FFF2-40B4-BE49-F238E27FC236}">
                <a16:creationId xmlns:a16="http://schemas.microsoft.com/office/drawing/2014/main" id="{41CA26F4-0333-4E96-9DA2-47D7F6F95957}"/>
              </a:ext>
            </a:extLst>
          </p:cNvPr>
          <p:cNvSpPr>
            <a:spLocks noGrp="1"/>
          </p:cNvSpPr>
          <p:nvPr>
            <p:ph idx="1"/>
          </p:nvPr>
        </p:nvSpPr>
        <p:spPr>
          <a:xfrm>
            <a:off x="0" y="1123950"/>
            <a:ext cx="12192000" cy="5734050"/>
          </a:xfrm>
        </p:spPr>
        <p:txBody>
          <a:bodyPr/>
          <a:lstStyle/>
          <a:p>
            <a:r>
              <a:rPr lang="en-US" sz="4000" dirty="0"/>
              <a:t>The plus (+) and minus (-) sign are used to define voltage polarity.</a:t>
            </a:r>
          </a:p>
          <a:p>
            <a:pPr marL="0" indent="0">
              <a:buNone/>
            </a:pPr>
            <a:r>
              <a:rPr lang="en-US" sz="4000" dirty="0"/>
              <a:t> • The assumption is that the potential of the terminal</a:t>
            </a:r>
          </a:p>
          <a:p>
            <a:pPr marL="0" indent="0">
              <a:buNone/>
            </a:pPr>
            <a:r>
              <a:rPr lang="en-US" sz="4000" dirty="0"/>
              <a:t>      with (+) polarity is higher than the potential of the</a:t>
            </a:r>
          </a:p>
          <a:p>
            <a:pPr marL="0" indent="0">
              <a:buNone/>
            </a:pPr>
            <a:r>
              <a:rPr lang="en-US" sz="4000" dirty="0"/>
              <a:t>      terminal with (-) polarity by the amount of voltage</a:t>
            </a:r>
          </a:p>
          <a:p>
            <a:pPr marL="0" indent="0">
              <a:buNone/>
            </a:pPr>
            <a:r>
              <a:rPr lang="en-US" sz="4000" dirty="0"/>
              <a:t>       drop.</a:t>
            </a:r>
          </a:p>
          <a:p>
            <a:pPr marL="0" indent="0">
              <a:buNone/>
            </a:pPr>
            <a:endParaRPr lang="en-US" sz="4000" dirty="0"/>
          </a:p>
          <a:p>
            <a:endParaRPr lang="en-US" dirty="0"/>
          </a:p>
        </p:txBody>
      </p:sp>
      <p:pic>
        <p:nvPicPr>
          <p:cNvPr id="4" name="Picture 3">
            <a:extLst>
              <a:ext uri="{FF2B5EF4-FFF2-40B4-BE49-F238E27FC236}">
                <a16:creationId xmlns:a16="http://schemas.microsoft.com/office/drawing/2014/main" id="{A0707D50-AF7B-445D-A210-F88B1D19F32E}"/>
              </a:ext>
            </a:extLst>
          </p:cNvPr>
          <p:cNvPicPr>
            <a:picLocks noChangeAspect="1"/>
          </p:cNvPicPr>
          <p:nvPr/>
        </p:nvPicPr>
        <p:blipFill>
          <a:blip r:embed="rId2"/>
          <a:stretch>
            <a:fillRect/>
          </a:stretch>
        </p:blipFill>
        <p:spPr>
          <a:xfrm>
            <a:off x="2743201" y="4362450"/>
            <a:ext cx="5791200" cy="2495550"/>
          </a:xfrm>
          <a:prstGeom prst="rect">
            <a:avLst/>
          </a:prstGeom>
        </p:spPr>
      </p:pic>
    </p:spTree>
    <p:extLst>
      <p:ext uri="{BB962C8B-B14F-4D97-AF65-F5344CB8AC3E}">
        <p14:creationId xmlns:p14="http://schemas.microsoft.com/office/powerpoint/2010/main" val="319751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6C90-C0B9-434A-85FA-A49BB0F3029B}"/>
              </a:ext>
            </a:extLst>
          </p:cNvPr>
          <p:cNvSpPr>
            <a:spLocks noGrp="1"/>
          </p:cNvSpPr>
          <p:nvPr>
            <p:ph type="title"/>
          </p:nvPr>
        </p:nvSpPr>
        <p:spPr/>
        <p:txBody>
          <a:bodyPr/>
          <a:lstStyle/>
          <a:p>
            <a:r>
              <a:rPr lang="en-US" b="1" dirty="0"/>
              <a:t>Types of Sources: </a:t>
            </a:r>
          </a:p>
        </p:txBody>
      </p:sp>
      <p:sp>
        <p:nvSpPr>
          <p:cNvPr id="3" name="Content Placeholder 2">
            <a:extLst>
              <a:ext uri="{FF2B5EF4-FFF2-40B4-BE49-F238E27FC236}">
                <a16:creationId xmlns:a16="http://schemas.microsoft.com/office/drawing/2014/main" id="{D9EC36A4-E295-438D-A28C-AFE8E48959BE}"/>
              </a:ext>
            </a:extLst>
          </p:cNvPr>
          <p:cNvSpPr>
            <a:spLocks noGrp="1"/>
          </p:cNvSpPr>
          <p:nvPr>
            <p:ph idx="1"/>
          </p:nvPr>
        </p:nvSpPr>
        <p:spPr/>
        <p:txBody>
          <a:bodyPr>
            <a:normAutofit lnSpcReduction="10000"/>
          </a:bodyPr>
          <a:lstStyle/>
          <a:p>
            <a:pPr marL="0" indent="0">
              <a:buNone/>
            </a:pPr>
            <a:r>
              <a:rPr lang="en-US" sz="3600" dirty="0"/>
              <a:t>1. Independent sources</a:t>
            </a:r>
          </a:p>
          <a:p>
            <a:pPr marL="0" indent="0">
              <a:buNone/>
            </a:pPr>
            <a:r>
              <a:rPr lang="en-US" sz="3600" dirty="0"/>
              <a:t>2. Dependent sources</a:t>
            </a:r>
          </a:p>
          <a:p>
            <a:pPr marL="0" indent="0">
              <a:buNone/>
            </a:pPr>
            <a:r>
              <a:rPr lang="en-US" sz="4000" b="1" dirty="0"/>
              <a:t>Dependent Source:</a:t>
            </a:r>
            <a:r>
              <a:rPr lang="en-US" sz="4000" dirty="0"/>
              <a:t> a source whose value depends on a voltage or current elsewhere in the circuit. </a:t>
            </a:r>
          </a:p>
          <a:p>
            <a:pPr marL="0" indent="0">
              <a:buNone/>
            </a:pPr>
            <a:r>
              <a:rPr lang="en-US" sz="4000" b="1" dirty="0"/>
              <a:t> Independent Source: </a:t>
            </a:r>
            <a:r>
              <a:rPr lang="en-US" sz="4000" dirty="0"/>
              <a:t>a source whose value does is independent of any other voltages or currents in the circuit. </a:t>
            </a:r>
          </a:p>
        </p:txBody>
      </p:sp>
    </p:spTree>
    <p:extLst>
      <p:ext uri="{BB962C8B-B14F-4D97-AF65-F5344CB8AC3E}">
        <p14:creationId xmlns:p14="http://schemas.microsoft.com/office/powerpoint/2010/main" val="3991474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82D6-DA30-4C49-8C0E-2973071AD6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93536C-808A-486C-BCEC-367CDCAAB36A}"/>
              </a:ext>
            </a:extLst>
          </p:cNvPr>
          <p:cNvSpPr>
            <a:spLocks noGrp="1"/>
          </p:cNvSpPr>
          <p:nvPr>
            <p:ph idx="1"/>
          </p:nvPr>
        </p:nvSpPr>
        <p:spPr/>
        <p:txBody>
          <a:bodyPr>
            <a:normAutofit fontScale="92500" lnSpcReduction="10000"/>
          </a:bodyPr>
          <a:lstStyle/>
          <a:p>
            <a:r>
              <a:rPr lang="en-US" sz="4000" b="1" dirty="0"/>
              <a:t>Voltage Sources: </a:t>
            </a:r>
            <a:r>
              <a:rPr lang="en-US" sz="4000" dirty="0"/>
              <a:t>In general, there will be a current flowing through a voltage source. That current can be positive, negative, or zero, depending on how the source is connected into the circuit. </a:t>
            </a:r>
          </a:p>
          <a:p>
            <a:pPr marL="0" indent="0">
              <a:buNone/>
            </a:pPr>
            <a:r>
              <a:rPr lang="en-US" sz="4000" b="1" dirty="0"/>
              <a:t>    Independent Voltage Source </a:t>
            </a:r>
          </a:p>
          <a:p>
            <a:r>
              <a:rPr lang="en-US" sz="4000" dirty="0"/>
              <a:t>The  independent voltage source maintains a fixed voltage across its terminals regardless of the current through it.  </a:t>
            </a:r>
          </a:p>
          <a:p>
            <a:pPr marL="0" indent="0">
              <a:buNone/>
            </a:pPr>
            <a:endParaRPr lang="en-US" dirty="0"/>
          </a:p>
        </p:txBody>
      </p:sp>
    </p:spTree>
    <p:extLst>
      <p:ext uri="{BB962C8B-B14F-4D97-AF65-F5344CB8AC3E}">
        <p14:creationId xmlns:p14="http://schemas.microsoft.com/office/powerpoint/2010/main" val="4126285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1A9D-6664-409F-8658-B4D1114EDAC2}"/>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A6B8EBB2-F702-4F5E-8C27-A029FEEDFA80}"/>
              </a:ext>
            </a:extLst>
          </p:cNvPr>
          <p:cNvPicPr>
            <a:picLocks noGrp="1" noChangeAspect="1"/>
          </p:cNvPicPr>
          <p:nvPr>
            <p:ph idx="1"/>
          </p:nvPr>
        </p:nvPicPr>
        <p:blipFill>
          <a:blip r:embed="rId2"/>
          <a:stretch>
            <a:fillRect/>
          </a:stretch>
        </p:blipFill>
        <p:spPr>
          <a:xfrm>
            <a:off x="3810000" y="2020094"/>
            <a:ext cx="4572000" cy="3962400"/>
          </a:xfrm>
          <a:prstGeom prst="rect">
            <a:avLst/>
          </a:prstGeom>
        </p:spPr>
      </p:pic>
    </p:spTree>
    <p:extLst>
      <p:ext uri="{BB962C8B-B14F-4D97-AF65-F5344CB8AC3E}">
        <p14:creationId xmlns:p14="http://schemas.microsoft.com/office/powerpoint/2010/main" val="3042548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5CAED-FF47-4496-B3F1-DC058B2950B2}"/>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E4036B1-7559-41DD-95BA-66950E6FAB9D}"/>
              </a:ext>
            </a:extLst>
          </p:cNvPr>
          <p:cNvSpPr>
            <a:spLocks noGrp="1"/>
          </p:cNvSpPr>
          <p:nvPr>
            <p:ph idx="1"/>
          </p:nvPr>
        </p:nvSpPr>
        <p:spPr>
          <a:xfrm>
            <a:off x="838200" y="1162050"/>
            <a:ext cx="10515600" cy="5014913"/>
          </a:xfrm>
        </p:spPr>
        <p:txBody>
          <a:bodyPr>
            <a:normAutofit/>
          </a:bodyPr>
          <a:lstStyle/>
          <a:p>
            <a:r>
              <a:rPr lang="en-US" dirty="0"/>
              <a:t> </a:t>
            </a:r>
            <a:r>
              <a:rPr lang="en-US" sz="4000" b="1" dirty="0"/>
              <a:t>Dependent Voltage Source </a:t>
            </a:r>
          </a:p>
          <a:p>
            <a:pPr marL="0" indent="0">
              <a:buNone/>
            </a:pPr>
            <a:r>
              <a:rPr lang="en-US" sz="4000" dirty="0"/>
              <a:t>The  dependent (or controlled) voltage source maintains a voltage across its terminals that depends on either a voltage or current elsewhere in the circuit. </a:t>
            </a:r>
          </a:p>
          <a:p>
            <a:pPr marL="0" indent="0">
              <a:buNone/>
            </a:pPr>
            <a:r>
              <a:rPr lang="en-US" sz="4000" dirty="0"/>
              <a:t> </a:t>
            </a:r>
          </a:p>
          <a:p>
            <a:pPr marL="0" indent="0">
              <a:buNone/>
            </a:pPr>
            <a:endParaRPr lang="en-US" dirty="0"/>
          </a:p>
        </p:txBody>
      </p:sp>
      <p:pic>
        <p:nvPicPr>
          <p:cNvPr id="4" name="Picture 3">
            <a:extLst>
              <a:ext uri="{FF2B5EF4-FFF2-40B4-BE49-F238E27FC236}">
                <a16:creationId xmlns:a16="http://schemas.microsoft.com/office/drawing/2014/main" id="{44299166-0E2B-4B92-AB75-B089EBAC8D22}"/>
              </a:ext>
            </a:extLst>
          </p:cNvPr>
          <p:cNvPicPr>
            <a:picLocks noChangeAspect="1"/>
          </p:cNvPicPr>
          <p:nvPr/>
        </p:nvPicPr>
        <p:blipFill>
          <a:blip r:embed="rId2"/>
          <a:stretch>
            <a:fillRect/>
          </a:stretch>
        </p:blipFill>
        <p:spPr>
          <a:xfrm>
            <a:off x="495300" y="4038600"/>
            <a:ext cx="11563350" cy="2952750"/>
          </a:xfrm>
          <a:prstGeom prst="rect">
            <a:avLst/>
          </a:prstGeom>
        </p:spPr>
      </p:pic>
    </p:spTree>
    <p:extLst>
      <p:ext uri="{BB962C8B-B14F-4D97-AF65-F5344CB8AC3E}">
        <p14:creationId xmlns:p14="http://schemas.microsoft.com/office/powerpoint/2010/main" val="2383453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B80CD-B1D4-48E8-9A3C-AA13EAC4EDC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24746DDB-7DC1-4ED6-957B-0927CB2D7715}"/>
              </a:ext>
            </a:extLst>
          </p:cNvPr>
          <p:cNvPicPr>
            <a:picLocks noGrp="1" noChangeAspect="1"/>
          </p:cNvPicPr>
          <p:nvPr>
            <p:ph idx="1"/>
          </p:nvPr>
        </p:nvPicPr>
        <p:blipFill>
          <a:blip r:embed="rId2"/>
          <a:stretch>
            <a:fillRect/>
          </a:stretch>
        </p:blipFill>
        <p:spPr>
          <a:xfrm>
            <a:off x="2871787" y="1915319"/>
            <a:ext cx="6448425" cy="4171950"/>
          </a:xfrm>
          <a:prstGeom prst="rect">
            <a:avLst/>
          </a:prstGeom>
        </p:spPr>
      </p:pic>
    </p:spTree>
    <p:extLst>
      <p:ext uri="{BB962C8B-B14F-4D97-AF65-F5344CB8AC3E}">
        <p14:creationId xmlns:p14="http://schemas.microsoft.com/office/powerpoint/2010/main" val="1612704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F852E-3199-4E21-ACB3-D371E00E5E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D81242-260A-4616-88F1-E32207E4A233}"/>
              </a:ext>
            </a:extLst>
          </p:cNvPr>
          <p:cNvSpPr>
            <a:spLocks noGrp="1"/>
          </p:cNvSpPr>
          <p:nvPr>
            <p:ph idx="1"/>
          </p:nvPr>
        </p:nvSpPr>
        <p:spPr/>
        <p:txBody>
          <a:bodyPr>
            <a:normAutofit fontScale="92500" lnSpcReduction="10000"/>
          </a:bodyPr>
          <a:lstStyle/>
          <a:p>
            <a:r>
              <a:rPr lang="en-US" sz="4000" b="1" dirty="0"/>
              <a:t>Current Sources:</a:t>
            </a:r>
            <a:r>
              <a:rPr lang="en-US" sz="4000" dirty="0"/>
              <a:t> In general, there will be a voltage across a current source. That voltage can be positive, negative, or 0 depending on how it is connected into the circuit. </a:t>
            </a:r>
          </a:p>
          <a:p>
            <a:pPr marL="0" indent="0">
              <a:buNone/>
            </a:pPr>
            <a:r>
              <a:rPr lang="en-US" sz="4000" dirty="0"/>
              <a:t> </a:t>
            </a:r>
            <a:r>
              <a:rPr lang="en-US" sz="4300" dirty="0"/>
              <a:t>Independent Current Source  </a:t>
            </a:r>
          </a:p>
          <a:p>
            <a:pPr marL="0" indent="0">
              <a:buNone/>
            </a:pPr>
            <a:r>
              <a:rPr lang="en-US" sz="4300" dirty="0"/>
              <a:t> The ideal independent current source maintains a fixed current through its terminals regardless of the voltage across it</a:t>
            </a:r>
          </a:p>
        </p:txBody>
      </p:sp>
    </p:spTree>
    <p:extLst>
      <p:ext uri="{BB962C8B-B14F-4D97-AF65-F5344CB8AC3E}">
        <p14:creationId xmlns:p14="http://schemas.microsoft.com/office/powerpoint/2010/main" val="605913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CA6F-4070-4C35-8968-8DAE048EF928}"/>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63CF5401-13F0-49A7-84E8-90B1CA2EDE59}"/>
              </a:ext>
            </a:extLst>
          </p:cNvPr>
          <p:cNvPicPr>
            <a:picLocks noGrp="1" noChangeAspect="1"/>
          </p:cNvPicPr>
          <p:nvPr>
            <p:ph idx="1"/>
          </p:nvPr>
        </p:nvPicPr>
        <p:blipFill>
          <a:blip r:embed="rId2"/>
          <a:stretch>
            <a:fillRect/>
          </a:stretch>
        </p:blipFill>
        <p:spPr>
          <a:xfrm>
            <a:off x="2076450" y="2171700"/>
            <a:ext cx="7258050" cy="4000500"/>
          </a:xfrm>
          <a:prstGeom prst="rect">
            <a:avLst/>
          </a:prstGeom>
        </p:spPr>
      </p:pic>
    </p:spTree>
    <p:extLst>
      <p:ext uri="{BB962C8B-B14F-4D97-AF65-F5344CB8AC3E}">
        <p14:creationId xmlns:p14="http://schemas.microsoft.com/office/powerpoint/2010/main" val="2495575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DF40B-3B8B-4A7C-9C94-5139AC23A7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E69FF1-5786-4D5A-9197-A93DC16FEB9D}"/>
              </a:ext>
            </a:extLst>
          </p:cNvPr>
          <p:cNvSpPr>
            <a:spLocks noGrp="1"/>
          </p:cNvSpPr>
          <p:nvPr>
            <p:ph idx="1"/>
          </p:nvPr>
        </p:nvSpPr>
        <p:spPr/>
        <p:txBody>
          <a:bodyPr>
            <a:normAutofit/>
          </a:bodyPr>
          <a:lstStyle/>
          <a:p>
            <a:r>
              <a:rPr lang="en-US" sz="4000" b="1" dirty="0"/>
              <a:t> Dependent Current Source </a:t>
            </a:r>
          </a:p>
          <a:p>
            <a:r>
              <a:rPr lang="en-US" sz="4000" dirty="0"/>
              <a:t>The ideal dependent (or controlled) current source maintains a current through its terminals that depends on either a voltage or current elsewhere in the circuit. Thus </a:t>
            </a:r>
          </a:p>
        </p:txBody>
      </p:sp>
    </p:spTree>
    <p:extLst>
      <p:ext uri="{BB962C8B-B14F-4D97-AF65-F5344CB8AC3E}">
        <p14:creationId xmlns:p14="http://schemas.microsoft.com/office/powerpoint/2010/main" val="1234126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7F6D-0BE1-40B7-9204-23668AFCE5F6}"/>
              </a:ext>
            </a:extLst>
          </p:cNvPr>
          <p:cNvSpPr>
            <a:spLocks noGrp="1"/>
          </p:cNvSpPr>
          <p:nvPr>
            <p:ph type="title"/>
          </p:nvPr>
        </p:nvSpPr>
        <p:spPr>
          <a:xfrm>
            <a:off x="838200" y="365125"/>
            <a:ext cx="10515600" cy="28257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4F7309A3-5F40-4DC2-9AA2-7F360348E234}"/>
              </a:ext>
            </a:extLst>
          </p:cNvPr>
          <p:cNvPicPr>
            <a:picLocks noGrp="1" noChangeAspect="1"/>
          </p:cNvPicPr>
          <p:nvPr>
            <p:ph idx="1"/>
          </p:nvPr>
        </p:nvPicPr>
        <p:blipFill>
          <a:blip r:embed="rId2"/>
          <a:stretch>
            <a:fillRect/>
          </a:stretch>
        </p:blipFill>
        <p:spPr>
          <a:xfrm>
            <a:off x="1314450" y="800100"/>
            <a:ext cx="6991350" cy="872331"/>
          </a:xfrm>
          <a:prstGeom prst="rect">
            <a:avLst/>
          </a:prstGeom>
        </p:spPr>
      </p:pic>
      <p:pic>
        <p:nvPicPr>
          <p:cNvPr id="5" name="Picture 4">
            <a:extLst>
              <a:ext uri="{FF2B5EF4-FFF2-40B4-BE49-F238E27FC236}">
                <a16:creationId xmlns:a16="http://schemas.microsoft.com/office/drawing/2014/main" id="{0E59397A-A520-4F4B-9EAD-5CE68552E936}"/>
              </a:ext>
            </a:extLst>
          </p:cNvPr>
          <p:cNvPicPr>
            <a:picLocks noChangeAspect="1"/>
          </p:cNvPicPr>
          <p:nvPr/>
        </p:nvPicPr>
        <p:blipFill>
          <a:blip r:embed="rId3"/>
          <a:stretch>
            <a:fillRect/>
          </a:stretch>
        </p:blipFill>
        <p:spPr>
          <a:xfrm>
            <a:off x="152400" y="1672431"/>
            <a:ext cx="11677650" cy="4976019"/>
          </a:xfrm>
          <a:prstGeom prst="rect">
            <a:avLst/>
          </a:prstGeom>
        </p:spPr>
      </p:pic>
    </p:spTree>
    <p:extLst>
      <p:ext uri="{BB962C8B-B14F-4D97-AF65-F5344CB8AC3E}">
        <p14:creationId xmlns:p14="http://schemas.microsoft.com/office/powerpoint/2010/main" val="1648023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D1B4D-BFB1-4246-964E-FE301E35999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C380FA9-1FB7-4CA2-9F0B-D7AF0A39FB73}"/>
              </a:ext>
            </a:extLst>
          </p:cNvPr>
          <p:cNvPicPr>
            <a:picLocks noGrp="1" noChangeAspect="1"/>
          </p:cNvPicPr>
          <p:nvPr>
            <p:ph idx="1"/>
          </p:nvPr>
        </p:nvPicPr>
        <p:blipFill>
          <a:blip r:embed="rId2"/>
          <a:stretch>
            <a:fillRect/>
          </a:stretch>
        </p:blipFill>
        <p:spPr>
          <a:xfrm>
            <a:off x="2895600" y="2476500"/>
            <a:ext cx="6496049" cy="3810000"/>
          </a:xfrm>
          <a:prstGeom prst="rect">
            <a:avLst/>
          </a:prstGeom>
        </p:spPr>
      </p:pic>
    </p:spTree>
    <p:extLst>
      <p:ext uri="{BB962C8B-B14F-4D97-AF65-F5344CB8AC3E}">
        <p14:creationId xmlns:p14="http://schemas.microsoft.com/office/powerpoint/2010/main" val="5816585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27DE-6161-4A1E-A8DE-46E58F8B681B}"/>
              </a:ext>
            </a:extLst>
          </p:cNvPr>
          <p:cNvSpPr>
            <a:spLocks noGrp="1"/>
          </p:cNvSpPr>
          <p:nvPr>
            <p:ph type="title"/>
          </p:nvPr>
        </p:nvSpPr>
        <p:spPr/>
        <p:txBody>
          <a:bodyPr/>
          <a:lstStyle/>
          <a:p>
            <a:r>
              <a:rPr lang="en-US" b="1" dirty="0"/>
              <a:t>R-L-C Parameters: </a:t>
            </a:r>
          </a:p>
        </p:txBody>
      </p:sp>
      <p:sp>
        <p:nvSpPr>
          <p:cNvPr id="3" name="Content Placeholder 2">
            <a:extLst>
              <a:ext uri="{FF2B5EF4-FFF2-40B4-BE49-F238E27FC236}">
                <a16:creationId xmlns:a16="http://schemas.microsoft.com/office/drawing/2014/main" id="{6EE81072-1231-4EAD-9D49-A1F5ECBA8EF3}"/>
              </a:ext>
            </a:extLst>
          </p:cNvPr>
          <p:cNvSpPr>
            <a:spLocks noGrp="1"/>
          </p:cNvSpPr>
          <p:nvPr>
            <p:ph idx="1"/>
          </p:nvPr>
        </p:nvSpPr>
        <p:spPr/>
        <p:txBody>
          <a:bodyPr>
            <a:normAutofit lnSpcReduction="10000"/>
          </a:bodyPr>
          <a:lstStyle/>
          <a:p>
            <a:r>
              <a:rPr lang="en-US" sz="3600" b="1" dirty="0"/>
              <a:t>Resistance</a:t>
            </a:r>
            <a:r>
              <a:rPr lang="en-US" sz="3600" dirty="0"/>
              <a:t> is that property of a circuit element which opposes the flow of electric current and in doing so converts electrical energy into heat energy. </a:t>
            </a:r>
          </a:p>
          <a:p>
            <a:pPr marL="0" indent="0">
              <a:buNone/>
            </a:pPr>
            <a:r>
              <a:rPr lang="en-US" sz="3600" dirty="0"/>
              <a:t>  It is the proportionality factor in ohm’s law relating </a:t>
            </a:r>
          </a:p>
          <a:p>
            <a:pPr marL="0" indent="0">
              <a:buNone/>
            </a:pPr>
            <a:r>
              <a:rPr lang="en-US" sz="3600" dirty="0"/>
              <a:t>   voltage and current. </a:t>
            </a:r>
          </a:p>
          <a:p>
            <a:r>
              <a:rPr lang="en-US" sz="3600" b="1" dirty="0"/>
              <a:t>Ohm’s law states </a:t>
            </a:r>
            <a:r>
              <a:rPr lang="en-US" sz="3600" dirty="0"/>
              <a:t>that the voltage drop across a conductor of given length and area of cross section is directly proportional to the current flowing through it. </a:t>
            </a:r>
          </a:p>
          <a:p>
            <a:pPr marL="0" indent="0">
              <a:buNone/>
            </a:pPr>
            <a:endParaRPr lang="en-US" dirty="0"/>
          </a:p>
        </p:txBody>
      </p:sp>
    </p:spTree>
    <p:extLst>
      <p:ext uri="{BB962C8B-B14F-4D97-AF65-F5344CB8AC3E}">
        <p14:creationId xmlns:p14="http://schemas.microsoft.com/office/powerpoint/2010/main" val="2097237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084C-954B-4DEB-B328-8E62E9EDCE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4186E9-CD14-4065-9115-75E68FD6C8DF}"/>
              </a:ext>
            </a:extLst>
          </p:cNvPr>
          <p:cNvSpPr>
            <a:spLocks noGrp="1"/>
          </p:cNvSpPr>
          <p:nvPr>
            <p:ph idx="1"/>
          </p:nvPr>
        </p:nvSpPr>
        <p:spPr/>
        <p:txBody>
          <a:bodyPr/>
          <a:lstStyle/>
          <a:p>
            <a:r>
              <a:rPr lang="en-US" dirty="0"/>
              <a:t>R œ </a:t>
            </a:r>
            <a:r>
              <a:rPr lang="en-US" dirty="0" err="1"/>
              <a:t>i</a:t>
            </a:r>
            <a:r>
              <a:rPr lang="en-US" dirty="0"/>
              <a:t> </a:t>
            </a:r>
          </a:p>
          <a:p>
            <a:pPr marL="0" indent="0">
              <a:buNone/>
            </a:pPr>
            <a:endParaRPr lang="en-US" dirty="0"/>
          </a:p>
          <a:p>
            <a:r>
              <a:rPr lang="en-US" dirty="0"/>
              <a:t>V=Ri </a:t>
            </a:r>
          </a:p>
          <a:p>
            <a:pPr marL="0" indent="0">
              <a:buNone/>
            </a:pPr>
            <a:r>
              <a:rPr lang="en-US" dirty="0"/>
              <a:t> </a:t>
            </a:r>
          </a:p>
          <a:p>
            <a:pPr marL="0" indent="0">
              <a:buNone/>
            </a:pPr>
            <a:endParaRPr lang="en-US" dirty="0"/>
          </a:p>
        </p:txBody>
      </p:sp>
      <p:pic>
        <p:nvPicPr>
          <p:cNvPr id="4" name="Picture 3">
            <a:extLst>
              <a:ext uri="{FF2B5EF4-FFF2-40B4-BE49-F238E27FC236}">
                <a16:creationId xmlns:a16="http://schemas.microsoft.com/office/drawing/2014/main" id="{B9515163-42B8-428C-BB90-8CC3602C5CC1}"/>
              </a:ext>
            </a:extLst>
          </p:cNvPr>
          <p:cNvPicPr>
            <a:picLocks noChangeAspect="1"/>
          </p:cNvPicPr>
          <p:nvPr/>
        </p:nvPicPr>
        <p:blipFill>
          <a:blip r:embed="rId2"/>
          <a:stretch>
            <a:fillRect/>
          </a:stretch>
        </p:blipFill>
        <p:spPr>
          <a:xfrm>
            <a:off x="647700" y="3429000"/>
            <a:ext cx="5010150" cy="1276350"/>
          </a:xfrm>
          <a:prstGeom prst="rect">
            <a:avLst/>
          </a:prstGeom>
        </p:spPr>
      </p:pic>
    </p:spTree>
    <p:extLst>
      <p:ext uri="{BB962C8B-B14F-4D97-AF65-F5344CB8AC3E}">
        <p14:creationId xmlns:p14="http://schemas.microsoft.com/office/powerpoint/2010/main" val="263814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F14D4-FDC9-4F5D-BD46-BF0FC948A8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4597A1-4EFF-46E1-8C60-5C8422577F44}"/>
              </a:ext>
            </a:extLst>
          </p:cNvPr>
          <p:cNvSpPr>
            <a:spLocks noGrp="1"/>
          </p:cNvSpPr>
          <p:nvPr>
            <p:ph idx="1"/>
          </p:nvPr>
        </p:nvSpPr>
        <p:spPr>
          <a:xfrm>
            <a:off x="838200" y="1825625"/>
            <a:ext cx="10515600" cy="4667250"/>
          </a:xfrm>
        </p:spPr>
        <p:txBody>
          <a:bodyPr>
            <a:noAutofit/>
          </a:bodyPr>
          <a:lstStyle/>
          <a:p>
            <a:r>
              <a:rPr lang="en-US" sz="4000" dirty="0"/>
              <a:t>Where the reciprocal of resistance is called conductance G. The unit of resistance is ohm and the unit of conductance is mho or Siemens. </a:t>
            </a:r>
          </a:p>
          <a:p>
            <a:r>
              <a:rPr lang="en-US" sz="4000" dirty="0"/>
              <a:t>When current flows through any resistive material, heat is generated by the collision of electrons with other atomic particles. The power absorbed by the resistor is converted to heat and is given by the expression </a:t>
            </a:r>
          </a:p>
        </p:txBody>
      </p:sp>
    </p:spTree>
    <p:extLst>
      <p:ext uri="{BB962C8B-B14F-4D97-AF65-F5344CB8AC3E}">
        <p14:creationId xmlns:p14="http://schemas.microsoft.com/office/powerpoint/2010/main" val="1496578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1318-BCF2-44F2-AEDE-82B38B3E5B9C}"/>
              </a:ext>
            </a:extLst>
          </p:cNvPr>
          <p:cNvSpPr>
            <a:spLocks noGrp="1"/>
          </p:cNvSpPr>
          <p:nvPr>
            <p:ph type="title"/>
          </p:nvPr>
        </p:nvSpPr>
        <p:spPr/>
        <p:txBody>
          <a:bodyPr/>
          <a:lstStyle/>
          <a:p>
            <a:r>
              <a:rPr lang="en-US" dirty="0"/>
              <a:t>Energy lost in a resistance in time t is given by </a:t>
            </a:r>
          </a:p>
        </p:txBody>
      </p:sp>
      <p:pic>
        <p:nvPicPr>
          <p:cNvPr id="4" name="Content Placeholder 3">
            <a:extLst>
              <a:ext uri="{FF2B5EF4-FFF2-40B4-BE49-F238E27FC236}">
                <a16:creationId xmlns:a16="http://schemas.microsoft.com/office/drawing/2014/main" id="{DFC1E697-5B3A-4CB4-BF16-1279FDF38033}"/>
              </a:ext>
            </a:extLst>
          </p:cNvPr>
          <p:cNvPicPr>
            <a:picLocks noGrp="1" noChangeAspect="1"/>
          </p:cNvPicPr>
          <p:nvPr>
            <p:ph idx="1"/>
          </p:nvPr>
        </p:nvPicPr>
        <p:blipFill>
          <a:blip r:embed="rId2"/>
          <a:stretch>
            <a:fillRect/>
          </a:stretch>
        </p:blipFill>
        <p:spPr>
          <a:xfrm>
            <a:off x="2114550" y="1690688"/>
            <a:ext cx="7619999" cy="1721644"/>
          </a:xfrm>
          <a:prstGeom prst="rect">
            <a:avLst/>
          </a:prstGeom>
        </p:spPr>
      </p:pic>
    </p:spTree>
    <p:extLst>
      <p:ext uri="{BB962C8B-B14F-4D97-AF65-F5344CB8AC3E}">
        <p14:creationId xmlns:p14="http://schemas.microsoft.com/office/powerpoint/2010/main" val="1012597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2DD13-43F6-4621-A07A-CB0FA62B0F28}"/>
              </a:ext>
            </a:extLst>
          </p:cNvPr>
          <p:cNvSpPr>
            <a:spLocks noGrp="1"/>
          </p:cNvSpPr>
          <p:nvPr>
            <p:ph type="title"/>
          </p:nvPr>
        </p:nvSpPr>
        <p:spPr/>
        <p:txBody>
          <a:bodyPr/>
          <a:lstStyle/>
          <a:p>
            <a:r>
              <a:rPr lang="en-US" b="1" dirty="0"/>
              <a:t>Inductance: </a:t>
            </a:r>
          </a:p>
        </p:txBody>
      </p:sp>
      <p:sp>
        <p:nvSpPr>
          <p:cNvPr id="3" name="Content Placeholder 2">
            <a:extLst>
              <a:ext uri="{FF2B5EF4-FFF2-40B4-BE49-F238E27FC236}">
                <a16:creationId xmlns:a16="http://schemas.microsoft.com/office/drawing/2014/main" id="{14608DE1-DADA-4715-A963-735801BC675C}"/>
              </a:ext>
            </a:extLst>
          </p:cNvPr>
          <p:cNvSpPr>
            <a:spLocks noGrp="1"/>
          </p:cNvSpPr>
          <p:nvPr>
            <p:ph idx="1"/>
          </p:nvPr>
        </p:nvSpPr>
        <p:spPr/>
        <p:txBody>
          <a:bodyPr>
            <a:noAutofit/>
          </a:bodyPr>
          <a:lstStyle/>
          <a:p>
            <a:r>
              <a:rPr lang="en-US" sz="4000" dirty="0"/>
              <a:t>Inductance is the property of a material by virtue of which it opposes any change of magnitude and direction of electric current passing through conductor. A wire of certain length, when twisted into a coil becomes a basic </a:t>
            </a:r>
            <a:r>
              <a:rPr lang="en-US" sz="4000" dirty="0" err="1"/>
              <a:t>nductor</a:t>
            </a:r>
            <a:r>
              <a:rPr lang="en-US" sz="4000" dirty="0"/>
              <a:t>. A change in the magnitude of the current changes the electromagnetic field. </a:t>
            </a:r>
          </a:p>
          <a:p>
            <a:endParaRPr lang="en-US" sz="3600" dirty="0"/>
          </a:p>
        </p:txBody>
      </p:sp>
    </p:spTree>
    <p:extLst>
      <p:ext uri="{BB962C8B-B14F-4D97-AF65-F5344CB8AC3E}">
        <p14:creationId xmlns:p14="http://schemas.microsoft.com/office/powerpoint/2010/main" val="4218833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2E7C-6FA0-486D-BA26-DB0E0E8DE4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DCDB09-738A-4019-B015-694E9F39E1B1}"/>
              </a:ext>
            </a:extLst>
          </p:cNvPr>
          <p:cNvSpPr>
            <a:spLocks noGrp="1"/>
          </p:cNvSpPr>
          <p:nvPr>
            <p:ph idx="1"/>
          </p:nvPr>
        </p:nvSpPr>
        <p:spPr/>
        <p:txBody>
          <a:bodyPr>
            <a:normAutofit/>
          </a:bodyPr>
          <a:lstStyle/>
          <a:p>
            <a:r>
              <a:rPr lang="en-US" sz="4000" dirty="0"/>
              <a:t>Increase in current expands the field &amp; decrease in current reduces it. A change in current produces change in the electromagnetic field. This induces a voltage across the coil according to Faradays laws of Electromagnetic Induction. </a:t>
            </a:r>
          </a:p>
        </p:txBody>
      </p:sp>
    </p:spTree>
    <p:extLst>
      <p:ext uri="{BB962C8B-B14F-4D97-AF65-F5344CB8AC3E}">
        <p14:creationId xmlns:p14="http://schemas.microsoft.com/office/powerpoint/2010/main" val="213955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C7D4-61A6-4ADC-907E-63560D5FFBF6}"/>
              </a:ext>
            </a:extLst>
          </p:cNvPr>
          <p:cNvSpPr>
            <a:spLocks noGrp="1"/>
          </p:cNvSpPr>
          <p:nvPr>
            <p:ph type="title"/>
          </p:nvPr>
        </p:nvSpPr>
        <p:spPr>
          <a:xfrm flipV="1">
            <a:off x="838200" y="0"/>
            <a:ext cx="10515600" cy="36512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6917547C-B61E-4CEC-97BE-28CEDF642E43}"/>
              </a:ext>
            </a:extLst>
          </p:cNvPr>
          <p:cNvPicPr>
            <a:picLocks noGrp="1" noChangeAspect="1"/>
          </p:cNvPicPr>
          <p:nvPr>
            <p:ph idx="1"/>
          </p:nvPr>
        </p:nvPicPr>
        <p:blipFill>
          <a:blip r:embed="rId2"/>
          <a:stretch>
            <a:fillRect/>
          </a:stretch>
        </p:blipFill>
        <p:spPr>
          <a:xfrm>
            <a:off x="190500" y="571500"/>
            <a:ext cx="11487150" cy="6286500"/>
          </a:xfrm>
          <a:prstGeom prst="rect">
            <a:avLst/>
          </a:prstGeom>
        </p:spPr>
      </p:pic>
    </p:spTree>
    <p:extLst>
      <p:ext uri="{BB962C8B-B14F-4D97-AF65-F5344CB8AC3E}">
        <p14:creationId xmlns:p14="http://schemas.microsoft.com/office/powerpoint/2010/main" val="2956542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7AAC5-8440-40C7-86C9-05207AE49EA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ED8A8EC-B430-41ED-941B-CF651BA57161}"/>
              </a:ext>
            </a:extLst>
          </p:cNvPr>
          <p:cNvPicPr>
            <a:picLocks noGrp="1" noChangeAspect="1"/>
          </p:cNvPicPr>
          <p:nvPr>
            <p:ph idx="1"/>
          </p:nvPr>
        </p:nvPicPr>
        <p:blipFill>
          <a:blip r:embed="rId2"/>
          <a:stretch>
            <a:fillRect/>
          </a:stretch>
        </p:blipFill>
        <p:spPr>
          <a:xfrm>
            <a:off x="1409700" y="1690688"/>
            <a:ext cx="9277350" cy="4081461"/>
          </a:xfrm>
          <a:prstGeom prst="rect">
            <a:avLst/>
          </a:prstGeom>
        </p:spPr>
      </p:pic>
    </p:spTree>
    <p:extLst>
      <p:ext uri="{BB962C8B-B14F-4D97-AF65-F5344CB8AC3E}">
        <p14:creationId xmlns:p14="http://schemas.microsoft.com/office/powerpoint/2010/main" val="3653227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116B-EF5D-4D84-9FC1-4553C03D9A8A}"/>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C7D31D69-F4FB-4D98-BA26-5A207FE87564}"/>
              </a:ext>
            </a:extLst>
          </p:cNvPr>
          <p:cNvPicPr>
            <a:picLocks noGrp="1" noChangeAspect="1"/>
          </p:cNvPicPr>
          <p:nvPr>
            <p:ph idx="1"/>
          </p:nvPr>
        </p:nvPicPr>
        <p:blipFill>
          <a:blip r:embed="rId2"/>
          <a:stretch>
            <a:fillRect/>
          </a:stretch>
        </p:blipFill>
        <p:spPr>
          <a:xfrm>
            <a:off x="361950" y="1905001"/>
            <a:ext cx="10991850" cy="3091656"/>
          </a:xfrm>
          <a:prstGeom prst="rect">
            <a:avLst/>
          </a:prstGeom>
        </p:spPr>
      </p:pic>
      <p:pic>
        <p:nvPicPr>
          <p:cNvPr id="5" name="Picture 4">
            <a:extLst>
              <a:ext uri="{FF2B5EF4-FFF2-40B4-BE49-F238E27FC236}">
                <a16:creationId xmlns:a16="http://schemas.microsoft.com/office/drawing/2014/main" id="{B4266195-AAD4-49BA-9951-7B8C5ACA3A11}"/>
              </a:ext>
            </a:extLst>
          </p:cNvPr>
          <p:cNvPicPr>
            <a:picLocks noChangeAspect="1"/>
          </p:cNvPicPr>
          <p:nvPr/>
        </p:nvPicPr>
        <p:blipFill>
          <a:blip r:embed="rId3"/>
          <a:stretch>
            <a:fillRect/>
          </a:stretch>
        </p:blipFill>
        <p:spPr>
          <a:xfrm>
            <a:off x="2190750" y="5486399"/>
            <a:ext cx="6248400" cy="1006475"/>
          </a:xfrm>
          <a:prstGeom prst="rect">
            <a:avLst/>
          </a:prstGeom>
        </p:spPr>
      </p:pic>
    </p:spTree>
    <p:extLst>
      <p:ext uri="{BB962C8B-B14F-4D97-AF65-F5344CB8AC3E}">
        <p14:creationId xmlns:p14="http://schemas.microsoft.com/office/powerpoint/2010/main" val="547055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964C-C7A1-44D8-9E4A-A5D975865095}"/>
              </a:ext>
            </a:extLst>
          </p:cNvPr>
          <p:cNvSpPr>
            <a:spLocks noGrp="1"/>
          </p:cNvSpPr>
          <p:nvPr>
            <p:ph type="title"/>
          </p:nvPr>
        </p:nvSpPr>
        <p:spPr>
          <a:xfrm flipV="1">
            <a:off x="838200" y="319406"/>
            <a:ext cx="10515600" cy="45719"/>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FA22D8FA-BAE1-4B09-9ABB-AB5657539470}"/>
              </a:ext>
            </a:extLst>
          </p:cNvPr>
          <p:cNvPicPr>
            <a:picLocks noGrp="1" noChangeAspect="1"/>
          </p:cNvPicPr>
          <p:nvPr>
            <p:ph idx="1"/>
          </p:nvPr>
        </p:nvPicPr>
        <p:blipFill>
          <a:blip r:embed="rId2"/>
          <a:stretch>
            <a:fillRect/>
          </a:stretch>
        </p:blipFill>
        <p:spPr>
          <a:xfrm>
            <a:off x="838200" y="781050"/>
            <a:ext cx="10515599" cy="4106069"/>
          </a:xfrm>
          <a:prstGeom prst="rect">
            <a:avLst/>
          </a:prstGeom>
        </p:spPr>
      </p:pic>
      <p:pic>
        <p:nvPicPr>
          <p:cNvPr id="5" name="Picture 4">
            <a:extLst>
              <a:ext uri="{FF2B5EF4-FFF2-40B4-BE49-F238E27FC236}">
                <a16:creationId xmlns:a16="http://schemas.microsoft.com/office/drawing/2014/main" id="{DC9D5F1A-358D-4F8D-B3AE-D8F9F0680837}"/>
              </a:ext>
            </a:extLst>
          </p:cNvPr>
          <p:cNvPicPr>
            <a:picLocks noChangeAspect="1"/>
          </p:cNvPicPr>
          <p:nvPr/>
        </p:nvPicPr>
        <p:blipFill>
          <a:blip r:embed="rId3"/>
          <a:stretch>
            <a:fillRect/>
          </a:stretch>
        </p:blipFill>
        <p:spPr>
          <a:xfrm>
            <a:off x="1619250" y="5238751"/>
            <a:ext cx="7810500" cy="1104900"/>
          </a:xfrm>
          <a:prstGeom prst="rect">
            <a:avLst/>
          </a:prstGeom>
        </p:spPr>
      </p:pic>
    </p:spTree>
    <p:extLst>
      <p:ext uri="{BB962C8B-B14F-4D97-AF65-F5344CB8AC3E}">
        <p14:creationId xmlns:p14="http://schemas.microsoft.com/office/powerpoint/2010/main" val="2413515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F9AD74-03FC-4B2F-AB41-8A4B2DEE6BBB}"/>
              </a:ext>
            </a:extLst>
          </p:cNvPr>
          <p:cNvPicPr>
            <a:picLocks noChangeAspect="1"/>
          </p:cNvPicPr>
          <p:nvPr/>
        </p:nvPicPr>
        <p:blipFill>
          <a:blip r:embed="rId2"/>
          <a:stretch>
            <a:fillRect/>
          </a:stretch>
        </p:blipFill>
        <p:spPr>
          <a:xfrm>
            <a:off x="4886325" y="2733675"/>
            <a:ext cx="2419350" cy="1390650"/>
          </a:xfrm>
          <a:prstGeom prst="rect">
            <a:avLst/>
          </a:prstGeom>
        </p:spPr>
      </p:pic>
      <p:sp>
        <p:nvSpPr>
          <p:cNvPr id="2" name="Title 1">
            <a:extLst>
              <a:ext uri="{FF2B5EF4-FFF2-40B4-BE49-F238E27FC236}">
                <a16:creationId xmlns:a16="http://schemas.microsoft.com/office/drawing/2014/main" id="{FAE5E01A-A1DC-4B5B-8D04-4D6BF9D166C7}"/>
              </a:ext>
            </a:extLst>
          </p:cNvPr>
          <p:cNvSpPr>
            <a:spLocks noGrp="1"/>
          </p:cNvSpPr>
          <p:nvPr>
            <p:ph type="title"/>
          </p:nvPr>
        </p:nvSpPr>
        <p:spPr/>
        <p:txBody>
          <a:bodyPr/>
          <a:lstStyle/>
          <a:p>
            <a:r>
              <a:rPr lang="en-US" dirty="0"/>
              <a:t> </a:t>
            </a:r>
            <a:r>
              <a:rPr lang="en-US" b="1" dirty="0"/>
              <a:t>Capacitance</a:t>
            </a:r>
            <a:r>
              <a:rPr lang="en-US" dirty="0"/>
              <a:t>: </a:t>
            </a:r>
          </a:p>
        </p:txBody>
      </p:sp>
      <p:sp>
        <p:nvSpPr>
          <p:cNvPr id="3" name="Content Placeholder 2">
            <a:extLst>
              <a:ext uri="{FF2B5EF4-FFF2-40B4-BE49-F238E27FC236}">
                <a16:creationId xmlns:a16="http://schemas.microsoft.com/office/drawing/2014/main" id="{9A0AD9D0-C6D5-4F3E-9706-9B422ABC6B4B}"/>
              </a:ext>
            </a:extLst>
          </p:cNvPr>
          <p:cNvSpPr>
            <a:spLocks noGrp="1"/>
          </p:cNvSpPr>
          <p:nvPr>
            <p:ph idx="1"/>
          </p:nvPr>
        </p:nvSpPr>
        <p:spPr>
          <a:xfrm>
            <a:off x="838200" y="1825624"/>
            <a:ext cx="10515600" cy="4899025"/>
          </a:xfrm>
        </p:spPr>
        <p:txBody>
          <a:bodyPr>
            <a:noAutofit/>
          </a:bodyPr>
          <a:lstStyle/>
          <a:p>
            <a:pPr marL="0" indent="0">
              <a:buNone/>
            </a:pPr>
            <a:r>
              <a:rPr lang="en-US" sz="3200" dirty="0"/>
              <a:t>   </a:t>
            </a:r>
            <a:r>
              <a:rPr lang="en-US" sz="4000" dirty="0"/>
              <a:t>1) A capacitor consists of two metallic surfaces or conducting surfaces separated by a dielectric medium. </a:t>
            </a:r>
          </a:p>
          <a:p>
            <a:pPr marL="0" indent="0">
              <a:buNone/>
            </a:pPr>
            <a:r>
              <a:rPr lang="en-US" sz="4000" dirty="0"/>
              <a:t> 2) It is a circuit element which is capable of storing electrical energy in its electric field.  </a:t>
            </a:r>
          </a:p>
          <a:p>
            <a:pPr marL="0" indent="0">
              <a:buNone/>
            </a:pPr>
            <a:r>
              <a:rPr lang="en-US" sz="4000" dirty="0"/>
              <a:t> 3) Capacitance is its capacity to store electrical energy.  </a:t>
            </a:r>
          </a:p>
          <a:p>
            <a:pPr marL="0" indent="0">
              <a:buNone/>
            </a:pPr>
            <a:r>
              <a:rPr lang="en-US" sz="4000" dirty="0"/>
              <a:t>  4) Capacitance is the proportionality constant relating the charge on the conducting plates to the potential. </a:t>
            </a:r>
          </a:p>
          <a:p>
            <a:pPr marL="0" indent="0">
              <a:buNone/>
            </a:pPr>
            <a:r>
              <a:rPr lang="en-US" sz="4000" dirty="0"/>
              <a:t>      </a:t>
            </a:r>
          </a:p>
        </p:txBody>
      </p:sp>
    </p:spTree>
    <p:extLst>
      <p:ext uri="{BB962C8B-B14F-4D97-AF65-F5344CB8AC3E}">
        <p14:creationId xmlns:p14="http://schemas.microsoft.com/office/powerpoint/2010/main" val="3221556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BC7E-F709-4F02-B6B6-1EAD194D05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D4BF4D-408A-4811-9182-66ACC0F0BF57}"/>
              </a:ext>
            </a:extLst>
          </p:cNvPr>
          <p:cNvSpPr>
            <a:spLocks noGrp="1"/>
          </p:cNvSpPr>
          <p:nvPr>
            <p:ph idx="1"/>
          </p:nvPr>
        </p:nvSpPr>
        <p:spPr/>
        <p:txBody>
          <a:bodyPr>
            <a:normAutofit lnSpcReduction="10000"/>
          </a:bodyPr>
          <a:lstStyle/>
          <a:p>
            <a:pPr marL="0" indent="0">
              <a:buNone/>
            </a:pPr>
            <a:r>
              <a:rPr lang="en-US" dirty="0"/>
              <a:t>                         </a:t>
            </a:r>
            <a:r>
              <a:rPr lang="en-US" sz="4000" dirty="0"/>
              <a:t>Charge on the capacitor </a:t>
            </a:r>
          </a:p>
          <a:p>
            <a:pPr marL="0" indent="0">
              <a:buNone/>
            </a:pPr>
            <a:r>
              <a:rPr lang="en-US" sz="4000" dirty="0"/>
              <a:t>                             q = CV </a:t>
            </a:r>
          </a:p>
          <a:p>
            <a:pPr marL="0" indent="0">
              <a:buNone/>
            </a:pPr>
            <a:r>
              <a:rPr lang="en-US" sz="4000" dirty="0"/>
              <a:t> </a:t>
            </a:r>
          </a:p>
          <a:p>
            <a:pPr marL="0" indent="0">
              <a:buNone/>
            </a:pPr>
            <a:r>
              <a:rPr lang="en-US" sz="4000" dirty="0"/>
              <a:t>     Where `C` is the capacitance in farads, q is      charge in coulombs and V</a:t>
            </a:r>
          </a:p>
          <a:p>
            <a:pPr marL="0" indent="0">
              <a:buNone/>
            </a:pPr>
            <a:r>
              <a:rPr lang="en-US" sz="4000" dirty="0"/>
              <a:t>        is the potential difference across the capacitor in volts.</a:t>
            </a:r>
          </a:p>
          <a:p>
            <a:endParaRPr lang="en-US" dirty="0"/>
          </a:p>
        </p:txBody>
      </p:sp>
    </p:spTree>
    <p:extLst>
      <p:ext uri="{BB962C8B-B14F-4D97-AF65-F5344CB8AC3E}">
        <p14:creationId xmlns:p14="http://schemas.microsoft.com/office/powerpoint/2010/main" val="125151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0F13E-D5E7-41E1-895B-D13D821807F4}"/>
              </a:ext>
            </a:extLst>
          </p:cNvPr>
          <p:cNvSpPr>
            <a:spLocks noGrp="1"/>
          </p:cNvSpPr>
          <p:nvPr>
            <p:ph type="title"/>
          </p:nvPr>
        </p:nvSpPr>
        <p:spPr>
          <a:xfrm>
            <a:off x="838200" y="365125"/>
            <a:ext cx="10515600" cy="13017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6A0F21F6-F257-47B8-B2C4-26DFF8C0DC82}"/>
              </a:ext>
            </a:extLst>
          </p:cNvPr>
          <p:cNvPicPr>
            <a:picLocks noGrp="1" noChangeAspect="1"/>
          </p:cNvPicPr>
          <p:nvPr>
            <p:ph idx="1"/>
          </p:nvPr>
        </p:nvPicPr>
        <p:blipFill>
          <a:blip r:embed="rId2"/>
          <a:stretch>
            <a:fillRect/>
          </a:stretch>
        </p:blipFill>
        <p:spPr>
          <a:xfrm>
            <a:off x="571500" y="800100"/>
            <a:ext cx="11258550" cy="5692775"/>
          </a:xfrm>
          <a:prstGeom prst="rect">
            <a:avLst/>
          </a:prstGeom>
        </p:spPr>
      </p:pic>
    </p:spTree>
    <p:extLst>
      <p:ext uri="{BB962C8B-B14F-4D97-AF65-F5344CB8AC3E}">
        <p14:creationId xmlns:p14="http://schemas.microsoft.com/office/powerpoint/2010/main" val="839502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8D1B-B62E-40CA-83E6-31B513939DAF}"/>
              </a:ext>
            </a:extLst>
          </p:cNvPr>
          <p:cNvSpPr>
            <a:spLocks noGrp="1"/>
          </p:cNvSpPr>
          <p:nvPr>
            <p:ph type="title"/>
          </p:nvPr>
        </p:nvSpPr>
        <p:spPr>
          <a:xfrm>
            <a:off x="838200" y="365125"/>
            <a:ext cx="10515600" cy="16827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E863E58B-BA4F-427B-A754-140BDE7C2ABB}"/>
              </a:ext>
            </a:extLst>
          </p:cNvPr>
          <p:cNvPicPr>
            <a:picLocks noGrp="1" noChangeAspect="1"/>
          </p:cNvPicPr>
          <p:nvPr>
            <p:ph idx="1"/>
          </p:nvPr>
        </p:nvPicPr>
        <p:blipFill>
          <a:blip r:embed="rId2"/>
          <a:stretch>
            <a:fillRect/>
          </a:stretch>
        </p:blipFill>
        <p:spPr>
          <a:xfrm>
            <a:off x="552451" y="857250"/>
            <a:ext cx="10801350" cy="5467349"/>
          </a:xfrm>
          <a:prstGeom prst="rect">
            <a:avLst/>
          </a:prstGeom>
        </p:spPr>
      </p:pic>
    </p:spTree>
    <p:extLst>
      <p:ext uri="{BB962C8B-B14F-4D97-AF65-F5344CB8AC3E}">
        <p14:creationId xmlns:p14="http://schemas.microsoft.com/office/powerpoint/2010/main" val="2054465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BE67F-BAA5-4517-A193-ECF0C7FB9EC7}"/>
              </a:ext>
            </a:extLst>
          </p:cNvPr>
          <p:cNvSpPr>
            <a:spLocks noGrp="1"/>
          </p:cNvSpPr>
          <p:nvPr>
            <p:ph type="title"/>
          </p:nvPr>
        </p:nvSpPr>
        <p:spPr/>
        <p:txBody>
          <a:bodyPr/>
          <a:lstStyle/>
          <a:p>
            <a:endParaRPr lang="en-US" dirty="0"/>
          </a:p>
        </p:txBody>
      </p:sp>
      <p:pic>
        <p:nvPicPr>
          <p:cNvPr id="4" name="Content Placeholder 3">
            <a:extLst>
              <a:ext uri="{FF2B5EF4-FFF2-40B4-BE49-F238E27FC236}">
                <a16:creationId xmlns:a16="http://schemas.microsoft.com/office/drawing/2014/main" id="{293294E4-97D1-49F9-9E25-D13C58FCFE2F}"/>
              </a:ext>
            </a:extLst>
          </p:cNvPr>
          <p:cNvPicPr>
            <a:picLocks noGrp="1" noChangeAspect="1"/>
          </p:cNvPicPr>
          <p:nvPr>
            <p:ph idx="1"/>
          </p:nvPr>
        </p:nvPicPr>
        <p:blipFill>
          <a:blip r:embed="rId2"/>
          <a:stretch>
            <a:fillRect/>
          </a:stretch>
        </p:blipFill>
        <p:spPr>
          <a:xfrm>
            <a:off x="819150" y="1690688"/>
            <a:ext cx="10782300" cy="3643311"/>
          </a:xfrm>
          <a:prstGeom prst="rect">
            <a:avLst/>
          </a:prstGeom>
        </p:spPr>
      </p:pic>
      <p:pic>
        <p:nvPicPr>
          <p:cNvPr id="5" name="Picture 4">
            <a:extLst>
              <a:ext uri="{FF2B5EF4-FFF2-40B4-BE49-F238E27FC236}">
                <a16:creationId xmlns:a16="http://schemas.microsoft.com/office/drawing/2014/main" id="{C35841CB-4918-4E36-921F-998735A1B764}"/>
              </a:ext>
            </a:extLst>
          </p:cNvPr>
          <p:cNvPicPr>
            <a:picLocks noChangeAspect="1"/>
          </p:cNvPicPr>
          <p:nvPr/>
        </p:nvPicPr>
        <p:blipFill>
          <a:blip r:embed="rId3"/>
          <a:stretch>
            <a:fillRect/>
          </a:stretch>
        </p:blipFill>
        <p:spPr>
          <a:xfrm>
            <a:off x="2095500" y="4972050"/>
            <a:ext cx="7848599" cy="1333500"/>
          </a:xfrm>
          <a:prstGeom prst="rect">
            <a:avLst/>
          </a:prstGeom>
        </p:spPr>
      </p:pic>
    </p:spTree>
    <p:extLst>
      <p:ext uri="{BB962C8B-B14F-4D97-AF65-F5344CB8AC3E}">
        <p14:creationId xmlns:p14="http://schemas.microsoft.com/office/powerpoint/2010/main" val="11805346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06C07-913E-4FCD-B450-CAC1766EE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5D0916-53DA-4CAD-890D-EBC3DE996554}"/>
              </a:ext>
            </a:extLst>
          </p:cNvPr>
          <p:cNvSpPr>
            <a:spLocks noGrp="1"/>
          </p:cNvSpPr>
          <p:nvPr>
            <p:ph idx="1"/>
          </p:nvPr>
        </p:nvSpPr>
        <p:spPr/>
        <p:txBody>
          <a:bodyPr/>
          <a:lstStyle/>
          <a:p>
            <a:r>
              <a:rPr lang="en-US" dirty="0"/>
              <a:t>Parallel Connection of Capacitors: </a:t>
            </a:r>
          </a:p>
          <a:p>
            <a:endParaRPr lang="en-US" dirty="0"/>
          </a:p>
        </p:txBody>
      </p:sp>
      <p:pic>
        <p:nvPicPr>
          <p:cNvPr id="4" name="Picture 3">
            <a:extLst>
              <a:ext uri="{FF2B5EF4-FFF2-40B4-BE49-F238E27FC236}">
                <a16:creationId xmlns:a16="http://schemas.microsoft.com/office/drawing/2014/main" id="{83BC410F-940F-40FB-B08B-76C2DD02906A}"/>
              </a:ext>
            </a:extLst>
          </p:cNvPr>
          <p:cNvPicPr>
            <a:picLocks noChangeAspect="1"/>
          </p:cNvPicPr>
          <p:nvPr/>
        </p:nvPicPr>
        <p:blipFill>
          <a:blip r:embed="rId2"/>
          <a:stretch>
            <a:fillRect/>
          </a:stretch>
        </p:blipFill>
        <p:spPr>
          <a:xfrm>
            <a:off x="1066800" y="2667000"/>
            <a:ext cx="10287000" cy="2400300"/>
          </a:xfrm>
          <a:prstGeom prst="rect">
            <a:avLst/>
          </a:prstGeom>
        </p:spPr>
      </p:pic>
      <p:pic>
        <p:nvPicPr>
          <p:cNvPr id="5" name="Picture 4">
            <a:extLst>
              <a:ext uri="{FF2B5EF4-FFF2-40B4-BE49-F238E27FC236}">
                <a16:creationId xmlns:a16="http://schemas.microsoft.com/office/drawing/2014/main" id="{17DCF635-5BA9-4CD7-AD03-ABB01B7F65CB}"/>
              </a:ext>
            </a:extLst>
          </p:cNvPr>
          <p:cNvPicPr>
            <a:picLocks noChangeAspect="1"/>
          </p:cNvPicPr>
          <p:nvPr/>
        </p:nvPicPr>
        <p:blipFill>
          <a:blip r:embed="rId3"/>
          <a:stretch>
            <a:fillRect/>
          </a:stretch>
        </p:blipFill>
        <p:spPr>
          <a:xfrm>
            <a:off x="1562100" y="5067300"/>
            <a:ext cx="8782050" cy="1941512"/>
          </a:xfrm>
          <a:prstGeom prst="rect">
            <a:avLst/>
          </a:prstGeom>
        </p:spPr>
      </p:pic>
    </p:spTree>
    <p:extLst>
      <p:ext uri="{BB962C8B-B14F-4D97-AF65-F5344CB8AC3E}">
        <p14:creationId xmlns:p14="http://schemas.microsoft.com/office/powerpoint/2010/main" val="4015610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DBF8-EB58-436A-AD33-732993796B44}"/>
              </a:ext>
            </a:extLst>
          </p:cNvPr>
          <p:cNvSpPr>
            <a:spLocks noGrp="1"/>
          </p:cNvSpPr>
          <p:nvPr>
            <p:ph type="title"/>
          </p:nvPr>
        </p:nvSpPr>
        <p:spPr/>
        <p:txBody>
          <a:bodyPr/>
          <a:lstStyle/>
          <a:p>
            <a:r>
              <a:rPr lang="en-US" b="1" dirty="0"/>
              <a:t>Steady state Analysis of Series RLC circuits:</a:t>
            </a:r>
          </a:p>
        </p:txBody>
      </p:sp>
      <p:sp>
        <p:nvSpPr>
          <p:cNvPr id="3" name="Content Placeholder 2">
            <a:extLst>
              <a:ext uri="{FF2B5EF4-FFF2-40B4-BE49-F238E27FC236}">
                <a16:creationId xmlns:a16="http://schemas.microsoft.com/office/drawing/2014/main" id="{56775795-71A5-404D-9123-F6A789C930FE}"/>
              </a:ext>
            </a:extLst>
          </p:cNvPr>
          <p:cNvSpPr>
            <a:spLocks noGrp="1"/>
          </p:cNvSpPr>
          <p:nvPr>
            <p:ph idx="1"/>
          </p:nvPr>
        </p:nvSpPr>
        <p:spPr/>
        <p:txBody>
          <a:bodyPr>
            <a:normAutofit/>
          </a:bodyPr>
          <a:lstStyle/>
          <a:p>
            <a:r>
              <a:rPr lang="en-US" sz="4000" dirty="0"/>
              <a:t>Thus far we have seen that the three basic passive components: resistance (R), inductance (L), and capacitance (C) have very different phase relationships to each other when connected to a sinusoidal AC supply. </a:t>
            </a:r>
          </a:p>
          <a:p>
            <a:pPr marL="0" indent="0">
              <a:buNone/>
            </a:pPr>
            <a:endParaRPr lang="en-US" sz="4000" dirty="0"/>
          </a:p>
        </p:txBody>
      </p:sp>
    </p:spTree>
    <p:extLst>
      <p:ext uri="{BB962C8B-B14F-4D97-AF65-F5344CB8AC3E}">
        <p14:creationId xmlns:p14="http://schemas.microsoft.com/office/powerpoint/2010/main" val="4189687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909E7-F212-4B6F-9D3F-488D8146608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610669D-714C-4FC8-9838-E32E22C97E1C}"/>
              </a:ext>
            </a:extLst>
          </p:cNvPr>
          <p:cNvPicPr>
            <a:picLocks noGrp="1" noChangeAspect="1"/>
          </p:cNvPicPr>
          <p:nvPr>
            <p:ph idx="1"/>
          </p:nvPr>
        </p:nvPicPr>
        <p:blipFill>
          <a:blip r:embed="rId2"/>
          <a:stretch>
            <a:fillRect/>
          </a:stretch>
        </p:blipFill>
        <p:spPr>
          <a:xfrm>
            <a:off x="990600" y="1885950"/>
            <a:ext cx="10115550" cy="4019549"/>
          </a:xfrm>
          <a:prstGeom prst="rect">
            <a:avLst/>
          </a:prstGeom>
        </p:spPr>
      </p:pic>
    </p:spTree>
    <p:extLst>
      <p:ext uri="{BB962C8B-B14F-4D97-AF65-F5344CB8AC3E}">
        <p14:creationId xmlns:p14="http://schemas.microsoft.com/office/powerpoint/2010/main" val="30041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4ED1B-2D1C-4B4E-9790-A707FFA989A7}"/>
              </a:ext>
            </a:extLst>
          </p:cNvPr>
          <p:cNvSpPr>
            <a:spLocks noGrp="1"/>
          </p:cNvSpPr>
          <p:nvPr>
            <p:ph type="title"/>
          </p:nvPr>
        </p:nvSpPr>
        <p:spPr>
          <a:xfrm>
            <a:off x="838200" y="365125"/>
            <a:ext cx="10515600" cy="45719"/>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3D1D525A-CBBA-4E41-A722-7305D66F9CD7}"/>
              </a:ext>
            </a:extLst>
          </p:cNvPr>
          <p:cNvPicPr>
            <a:picLocks noGrp="1" noChangeAspect="1"/>
          </p:cNvPicPr>
          <p:nvPr>
            <p:ph idx="1"/>
          </p:nvPr>
        </p:nvPicPr>
        <p:blipFill>
          <a:blip r:embed="rId2"/>
          <a:stretch>
            <a:fillRect/>
          </a:stretch>
        </p:blipFill>
        <p:spPr>
          <a:xfrm>
            <a:off x="571500" y="456563"/>
            <a:ext cx="10972800" cy="6036312"/>
          </a:xfrm>
          <a:prstGeom prst="rect">
            <a:avLst/>
          </a:prstGeom>
        </p:spPr>
      </p:pic>
    </p:spTree>
    <p:extLst>
      <p:ext uri="{BB962C8B-B14F-4D97-AF65-F5344CB8AC3E}">
        <p14:creationId xmlns:p14="http://schemas.microsoft.com/office/powerpoint/2010/main" val="2491679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E138-3F1A-4D53-8706-053F94C6C5A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A2647B1-BD71-455B-AD32-77C443925A08}"/>
              </a:ext>
            </a:extLst>
          </p:cNvPr>
          <p:cNvPicPr>
            <a:picLocks noGrp="1" noChangeAspect="1"/>
          </p:cNvPicPr>
          <p:nvPr>
            <p:ph idx="1"/>
          </p:nvPr>
        </p:nvPicPr>
        <p:blipFill>
          <a:blip r:embed="rId2"/>
          <a:stretch>
            <a:fillRect/>
          </a:stretch>
        </p:blipFill>
        <p:spPr>
          <a:xfrm>
            <a:off x="-590550" y="685800"/>
            <a:ext cx="11944350" cy="5981699"/>
          </a:xfrm>
          <a:prstGeom prst="rect">
            <a:avLst/>
          </a:prstGeom>
        </p:spPr>
      </p:pic>
    </p:spTree>
    <p:extLst>
      <p:ext uri="{BB962C8B-B14F-4D97-AF65-F5344CB8AC3E}">
        <p14:creationId xmlns:p14="http://schemas.microsoft.com/office/powerpoint/2010/main" val="35245263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DC4D-95A1-4944-841A-12D116D8DFC8}"/>
              </a:ext>
            </a:extLst>
          </p:cNvPr>
          <p:cNvSpPr>
            <a:spLocks noGrp="1"/>
          </p:cNvSpPr>
          <p:nvPr>
            <p:ph type="title"/>
          </p:nvPr>
        </p:nvSpPr>
        <p:spPr>
          <a:xfrm>
            <a:off x="838200" y="365125"/>
            <a:ext cx="10515600" cy="14922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C4EF77E9-5657-42FE-B5F2-A80A1D9FD14A}"/>
              </a:ext>
            </a:extLst>
          </p:cNvPr>
          <p:cNvPicPr>
            <a:picLocks noGrp="1" noChangeAspect="1"/>
          </p:cNvPicPr>
          <p:nvPr>
            <p:ph idx="1"/>
          </p:nvPr>
        </p:nvPicPr>
        <p:blipFill>
          <a:blip r:embed="rId2"/>
          <a:stretch>
            <a:fillRect/>
          </a:stretch>
        </p:blipFill>
        <p:spPr>
          <a:xfrm>
            <a:off x="495300" y="781051"/>
            <a:ext cx="11239500" cy="5711824"/>
          </a:xfrm>
          <a:prstGeom prst="rect">
            <a:avLst/>
          </a:prstGeom>
        </p:spPr>
      </p:pic>
    </p:spTree>
    <p:extLst>
      <p:ext uri="{BB962C8B-B14F-4D97-AF65-F5344CB8AC3E}">
        <p14:creationId xmlns:p14="http://schemas.microsoft.com/office/powerpoint/2010/main" val="13569269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65901-292A-4EC8-BC8D-8E6811AEC7BF}"/>
              </a:ext>
            </a:extLst>
          </p:cNvPr>
          <p:cNvSpPr>
            <a:spLocks noGrp="1"/>
          </p:cNvSpPr>
          <p:nvPr>
            <p:ph type="title"/>
          </p:nvPr>
        </p:nvSpPr>
        <p:spPr>
          <a:xfrm>
            <a:off x="838200" y="365125"/>
            <a:ext cx="10515600" cy="9207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D4C9F371-2BE8-465B-B99B-21F7EC35144C}"/>
              </a:ext>
            </a:extLst>
          </p:cNvPr>
          <p:cNvPicPr>
            <a:picLocks noGrp="1" noChangeAspect="1"/>
          </p:cNvPicPr>
          <p:nvPr>
            <p:ph idx="1"/>
          </p:nvPr>
        </p:nvPicPr>
        <p:blipFill>
          <a:blip r:embed="rId2"/>
          <a:stretch>
            <a:fillRect/>
          </a:stretch>
        </p:blipFill>
        <p:spPr>
          <a:xfrm>
            <a:off x="0" y="777875"/>
            <a:ext cx="12192000" cy="6232525"/>
          </a:xfrm>
          <a:prstGeom prst="rect">
            <a:avLst/>
          </a:prstGeom>
        </p:spPr>
      </p:pic>
    </p:spTree>
    <p:extLst>
      <p:ext uri="{BB962C8B-B14F-4D97-AF65-F5344CB8AC3E}">
        <p14:creationId xmlns:p14="http://schemas.microsoft.com/office/powerpoint/2010/main" val="1322421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570D-88A4-4E8B-BE1C-172B987A1C8E}"/>
              </a:ext>
            </a:extLst>
          </p:cNvPr>
          <p:cNvSpPr>
            <a:spLocks noGrp="1"/>
          </p:cNvSpPr>
          <p:nvPr>
            <p:ph type="title"/>
          </p:nvPr>
        </p:nvSpPr>
        <p:spPr/>
        <p:txBody>
          <a:bodyPr/>
          <a:lstStyle/>
          <a:p>
            <a:r>
              <a:rPr lang="en-US" b="1" dirty="0"/>
              <a:t>Individual Voltage Vectors </a:t>
            </a:r>
          </a:p>
        </p:txBody>
      </p:sp>
      <p:pic>
        <p:nvPicPr>
          <p:cNvPr id="4" name="Content Placeholder 3">
            <a:extLst>
              <a:ext uri="{FF2B5EF4-FFF2-40B4-BE49-F238E27FC236}">
                <a16:creationId xmlns:a16="http://schemas.microsoft.com/office/drawing/2014/main" id="{13C52941-6C3B-4939-AB20-41FDA09ACF60}"/>
              </a:ext>
            </a:extLst>
          </p:cNvPr>
          <p:cNvPicPr>
            <a:picLocks noGrp="1" noChangeAspect="1"/>
          </p:cNvPicPr>
          <p:nvPr>
            <p:ph idx="1"/>
          </p:nvPr>
        </p:nvPicPr>
        <p:blipFill>
          <a:blip r:embed="rId2"/>
          <a:stretch>
            <a:fillRect/>
          </a:stretch>
        </p:blipFill>
        <p:spPr>
          <a:xfrm>
            <a:off x="381000" y="1352551"/>
            <a:ext cx="10972799" cy="5140324"/>
          </a:xfrm>
          <a:prstGeom prst="rect">
            <a:avLst/>
          </a:prstGeom>
        </p:spPr>
      </p:pic>
    </p:spTree>
    <p:extLst>
      <p:ext uri="{BB962C8B-B14F-4D97-AF65-F5344CB8AC3E}">
        <p14:creationId xmlns:p14="http://schemas.microsoft.com/office/powerpoint/2010/main" val="39647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A8AD5-28B9-46EC-85EE-1A8A4F560922}"/>
              </a:ext>
            </a:extLst>
          </p:cNvPr>
          <p:cNvSpPr>
            <a:spLocks noGrp="1"/>
          </p:cNvSpPr>
          <p:nvPr>
            <p:ph type="title"/>
          </p:nvPr>
        </p:nvSpPr>
        <p:spPr/>
        <p:txBody>
          <a:bodyPr/>
          <a:lstStyle/>
          <a:p>
            <a:r>
              <a:rPr lang="en-US" b="1" dirty="0"/>
              <a:t>Instantaneous Voltages for a Series RLC Circuit: </a:t>
            </a:r>
          </a:p>
        </p:txBody>
      </p:sp>
      <p:pic>
        <p:nvPicPr>
          <p:cNvPr id="4" name="Content Placeholder 3">
            <a:extLst>
              <a:ext uri="{FF2B5EF4-FFF2-40B4-BE49-F238E27FC236}">
                <a16:creationId xmlns:a16="http://schemas.microsoft.com/office/drawing/2014/main" id="{5B0B14B1-A835-4916-82B1-13CAA96594DB}"/>
              </a:ext>
            </a:extLst>
          </p:cNvPr>
          <p:cNvPicPr>
            <a:picLocks noGrp="1" noChangeAspect="1"/>
          </p:cNvPicPr>
          <p:nvPr>
            <p:ph idx="1"/>
          </p:nvPr>
        </p:nvPicPr>
        <p:blipFill>
          <a:blip r:embed="rId2"/>
          <a:stretch>
            <a:fillRect/>
          </a:stretch>
        </p:blipFill>
        <p:spPr>
          <a:xfrm>
            <a:off x="666750" y="1485900"/>
            <a:ext cx="11106150" cy="5181600"/>
          </a:xfrm>
          <a:prstGeom prst="rect">
            <a:avLst/>
          </a:prstGeom>
        </p:spPr>
      </p:pic>
    </p:spTree>
    <p:extLst>
      <p:ext uri="{BB962C8B-B14F-4D97-AF65-F5344CB8AC3E}">
        <p14:creationId xmlns:p14="http://schemas.microsoft.com/office/powerpoint/2010/main" val="2879897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EB871-F218-424E-8C4F-D19F51AD43E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62DA37B-4A99-4EA9-A929-00DA788B028B}"/>
              </a:ext>
            </a:extLst>
          </p:cNvPr>
          <p:cNvPicPr>
            <a:picLocks noGrp="1" noChangeAspect="1"/>
          </p:cNvPicPr>
          <p:nvPr>
            <p:ph idx="1"/>
          </p:nvPr>
        </p:nvPicPr>
        <p:blipFill>
          <a:blip r:embed="rId2"/>
          <a:stretch>
            <a:fillRect/>
          </a:stretch>
        </p:blipFill>
        <p:spPr>
          <a:xfrm>
            <a:off x="1028700" y="2076450"/>
            <a:ext cx="9429749" cy="4552950"/>
          </a:xfrm>
          <a:prstGeom prst="rect">
            <a:avLst/>
          </a:prstGeom>
        </p:spPr>
      </p:pic>
    </p:spTree>
    <p:extLst>
      <p:ext uri="{BB962C8B-B14F-4D97-AF65-F5344CB8AC3E}">
        <p14:creationId xmlns:p14="http://schemas.microsoft.com/office/powerpoint/2010/main" val="1895425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2FD6C-6FC9-42BD-B2B8-7AC9AEDF6713}"/>
              </a:ext>
            </a:extLst>
          </p:cNvPr>
          <p:cNvSpPr>
            <a:spLocks noGrp="1"/>
          </p:cNvSpPr>
          <p:nvPr>
            <p:ph type="title"/>
          </p:nvPr>
        </p:nvSpPr>
        <p:spPr/>
        <p:txBody>
          <a:bodyPr/>
          <a:lstStyle/>
          <a:p>
            <a:r>
              <a:rPr lang="en-US" b="1" dirty="0"/>
              <a:t>Phasor Diagram for a Series RLC Circuit: </a:t>
            </a:r>
          </a:p>
        </p:txBody>
      </p:sp>
      <p:pic>
        <p:nvPicPr>
          <p:cNvPr id="4" name="Content Placeholder 3">
            <a:extLst>
              <a:ext uri="{FF2B5EF4-FFF2-40B4-BE49-F238E27FC236}">
                <a16:creationId xmlns:a16="http://schemas.microsoft.com/office/drawing/2014/main" id="{2F6611A4-61D3-4F1E-AD64-DC8AA6714EAF}"/>
              </a:ext>
            </a:extLst>
          </p:cNvPr>
          <p:cNvPicPr>
            <a:picLocks noGrp="1" noChangeAspect="1"/>
          </p:cNvPicPr>
          <p:nvPr>
            <p:ph idx="1"/>
          </p:nvPr>
        </p:nvPicPr>
        <p:blipFill>
          <a:blip r:embed="rId2"/>
          <a:stretch>
            <a:fillRect/>
          </a:stretch>
        </p:blipFill>
        <p:spPr>
          <a:xfrm>
            <a:off x="381000" y="1390650"/>
            <a:ext cx="10972800" cy="5102225"/>
          </a:xfrm>
          <a:prstGeom prst="rect">
            <a:avLst/>
          </a:prstGeom>
        </p:spPr>
      </p:pic>
    </p:spTree>
    <p:extLst>
      <p:ext uri="{BB962C8B-B14F-4D97-AF65-F5344CB8AC3E}">
        <p14:creationId xmlns:p14="http://schemas.microsoft.com/office/powerpoint/2010/main" val="8474460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BB34-F700-45E1-A72C-D28CB6F01D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D0529F-5D16-4BED-8126-CB2809CBCF62}"/>
              </a:ext>
            </a:extLst>
          </p:cNvPr>
          <p:cNvSpPr>
            <a:spLocks noGrp="1"/>
          </p:cNvSpPr>
          <p:nvPr>
            <p:ph idx="1"/>
          </p:nvPr>
        </p:nvSpPr>
        <p:spPr/>
        <p:txBody>
          <a:bodyPr>
            <a:normAutofit fontScale="92500" lnSpcReduction="20000"/>
          </a:bodyPr>
          <a:lstStyle/>
          <a:p>
            <a:r>
              <a:rPr lang="en-US" dirty="0"/>
              <a:t> </a:t>
            </a:r>
            <a:r>
              <a:rPr lang="en-US" sz="4000" dirty="0"/>
              <a:t>We can see from the phasor diagram on the right hand side above that the voltage vectors produce a rectangular triangle, comprising of hypotenuse VS, horizontal axis VR and vertical axis VL – VC  Hopefully you will notice then, that this forms our old </a:t>
            </a:r>
            <a:r>
              <a:rPr lang="en-US" sz="4000" dirty="0" err="1"/>
              <a:t>favourite</a:t>
            </a:r>
            <a:r>
              <a:rPr lang="en-US" sz="4000" dirty="0"/>
              <a:t> the Voltage Triangle and we can therefore use Pythagoras’s theorem on this voltage triangle to mathematically obtain the value of VS as shown.   </a:t>
            </a:r>
          </a:p>
          <a:p>
            <a:r>
              <a:rPr lang="en-US" sz="4000" dirty="0"/>
              <a:t> </a:t>
            </a:r>
          </a:p>
          <a:p>
            <a:r>
              <a:rPr lang="en-US" sz="4000" dirty="0"/>
              <a:t> </a:t>
            </a:r>
          </a:p>
        </p:txBody>
      </p:sp>
    </p:spTree>
    <p:extLst>
      <p:ext uri="{BB962C8B-B14F-4D97-AF65-F5344CB8AC3E}">
        <p14:creationId xmlns:p14="http://schemas.microsoft.com/office/powerpoint/2010/main" val="35582866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4EE19-86B9-4154-AD04-7AC9634E3CC8}"/>
              </a:ext>
            </a:extLst>
          </p:cNvPr>
          <p:cNvSpPr>
            <a:spLocks noGrp="1"/>
          </p:cNvSpPr>
          <p:nvPr>
            <p:ph type="title"/>
          </p:nvPr>
        </p:nvSpPr>
        <p:spPr/>
        <p:txBody>
          <a:bodyPr/>
          <a:lstStyle/>
          <a:p>
            <a:r>
              <a:rPr lang="en-US" dirty="0"/>
              <a:t> </a:t>
            </a:r>
            <a:r>
              <a:rPr lang="en-US" b="1" dirty="0"/>
              <a:t>Voltage Triangle for a Series RLC Circuit: </a:t>
            </a:r>
          </a:p>
        </p:txBody>
      </p:sp>
      <p:pic>
        <p:nvPicPr>
          <p:cNvPr id="4" name="Content Placeholder 3">
            <a:extLst>
              <a:ext uri="{FF2B5EF4-FFF2-40B4-BE49-F238E27FC236}">
                <a16:creationId xmlns:a16="http://schemas.microsoft.com/office/drawing/2014/main" id="{802FE4DF-1A68-41DD-9BB4-631180B4853F}"/>
              </a:ext>
            </a:extLst>
          </p:cNvPr>
          <p:cNvPicPr>
            <a:picLocks noGrp="1" noChangeAspect="1"/>
          </p:cNvPicPr>
          <p:nvPr>
            <p:ph idx="1"/>
          </p:nvPr>
        </p:nvPicPr>
        <p:blipFill>
          <a:blip r:embed="rId2"/>
          <a:stretch>
            <a:fillRect/>
          </a:stretch>
        </p:blipFill>
        <p:spPr>
          <a:xfrm>
            <a:off x="1181100" y="1485900"/>
            <a:ext cx="8496299" cy="4133850"/>
          </a:xfrm>
          <a:prstGeom prst="rect">
            <a:avLst/>
          </a:prstGeom>
        </p:spPr>
      </p:pic>
    </p:spTree>
    <p:extLst>
      <p:ext uri="{BB962C8B-B14F-4D97-AF65-F5344CB8AC3E}">
        <p14:creationId xmlns:p14="http://schemas.microsoft.com/office/powerpoint/2010/main" val="32757962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9ECC4-3B16-485F-BCC4-DA5B1272F32A}"/>
              </a:ext>
            </a:extLst>
          </p:cNvPr>
          <p:cNvSpPr>
            <a:spLocks noGrp="1"/>
          </p:cNvSpPr>
          <p:nvPr>
            <p:ph type="title"/>
          </p:nvPr>
        </p:nvSpPr>
        <p:spPr>
          <a:xfrm flipV="1">
            <a:off x="838200" y="209550"/>
            <a:ext cx="10515600" cy="155575"/>
          </a:xfrm>
        </p:spPr>
        <p:txBody>
          <a:bodyPr>
            <a:normAutofit fontScale="90000"/>
          </a:bodyPr>
          <a:lstStyle/>
          <a:p>
            <a:endParaRPr lang="en-US" dirty="0"/>
          </a:p>
        </p:txBody>
      </p:sp>
      <p:pic>
        <p:nvPicPr>
          <p:cNvPr id="4" name="Content Placeholder 3">
            <a:extLst>
              <a:ext uri="{FF2B5EF4-FFF2-40B4-BE49-F238E27FC236}">
                <a16:creationId xmlns:a16="http://schemas.microsoft.com/office/drawing/2014/main" id="{C79CEA24-F7D2-4F26-93FE-32E677CCF971}"/>
              </a:ext>
            </a:extLst>
          </p:cNvPr>
          <p:cNvPicPr>
            <a:picLocks noGrp="1" noChangeAspect="1"/>
          </p:cNvPicPr>
          <p:nvPr>
            <p:ph idx="1"/>
          </p:nvPr>
        </p:nvPicPr>
        <p:blipFill>
          <a:blip r:embed="rId2"/>
          <a:stretch>
            <a:fillRect/>
          </a:stretch>
        </p:blipFill>
        <p:spPr>
          <a:xfrm>
            <a:off x="323850" y="895350"/>
            <a:ext cx="10210800" cy="5597525"/>
          </a:xfrm>
          <a:prstGeom prst="rect">
            <a:avLst/>
          </a:prstGeom>
        </p:spPr>
      </p:pic>
    </p:spTree>
    <p:extLst>
      <p:ext uri="{BB962C8B-B14F-4D97-AF65-F5344CB8AC3E}">
        <p14:creationId xmlns:p14="http://schemas.microsoft.com/office/powerpoint/2010/main" val="1120030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4F67-16CE-49A1-A682-EEB5026F9FA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6B3BA17-37B7-4039-943E-1C0D61CD62DF}"/>
              </a:ext>
            </a:extLst>
          </p:cNvPr>
          <p:cNvPicPr>
            <a:picLocks noGrp="1" noChangeAspect="1"/>
          </p:cNvPicPr>
          <p:nvPr>
            <p:ph idx="1"/>
          </p:nvPr>
        </p:nvPicPr>
        <p:blipFill>
          <a:blip r:embed="rId2"/>
          <a:stretch>
            <a:fillRect/>
          </a:stretch>
        </p:blipFill>
        <p:spPr>
          <a:xfrm>
            <a:off x="457200" y="2686050"/>
            <a:ext cx="10896600" cy="2705100"/>
          </a:xfrm>
          <a:prstGeom prst="rect">
            <a:avLst/>
          </a:prstGeom>
        </p:spPr>
      </p:pic>
    </p:spTree>
    <p:extLst>
      <p:ext uri="{BB962C8B-B14F-4D97-AF65-F5344CB8AC3E}">
        <p14:creationId xmlns:p14="http://schemas.microsoft.com/office/powerpoint/2010/main" val="2957294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5099-9F2C-461B-AFCB-F5A9A8E278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791507-1DB9-4876-8B77-EF8B498FDFDB}"/>
              </a:ext>
            </a:extLst>
          </p:cNvPr>
          <p:cNvSpPr>
            <a:spLocks noGrp="1"/>
          </p:cNvSpPr>
          <p:nvPr>
            <p:ph idx="1"/>
          </p:nvPr>
        </p:nvSpPr>
        <p:spPr/>
        <p:txBody>
          <a:bodyPr>
            <a:noAutofit/>
          </a:bodyPr>
          <a:lstStyle/>
          <a:p>
            <a:r>
              <a:rPr lang="en-US" sz="4000" dirty="0"/>
              <a:t>The phase angle, θ between the source voltage, VS and the current, </a:t>
            </a:r>
            <a:r>
              <a:rPr lang="en-US" sz="4000" dirty="0" err="1"/>
              <a:t>i</a:t>
            </a:r>
            <a:r>
              <a:rPr lang="en-US" sz="4000" dirty="0"/>
              <a:t> is the same as for the angle between Z and R in the impedance triangle. This phase angle may be positive or negative in value depending on whether the source voltage leads or lags the circuit current and can be calculated mathematically from the ohmic values of the impedance triangle as</a:t>
            </a:r>
          </a:p>
        </p:txBody>
      </p:sp>
    </p:spTree>
    <p:extLst>
      <p:ext uri="{BB962C8B-B14F-4D97-AF65-F5344CB8AC3E}">
        <p14:creationId xmlns:p14="http://schemas.microsoft.com/office/powerpoint/2010/main" val="2753460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D465-5C5B-46C7-AE2F-C56A7F086D5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4B5F228-C8F1-4A20-A1A2-D5A16F8B277B}"/>
              </a:ext>
            </a:extLst>
          </p:cNvPr>
          <p:cNvPicPr>
            <a:picLocks noGrp="1" noChangeAspect="1"/>
          </p:cNvPicPr>
          <p:nvPr>
            <p:ph idx="1"/>
          </p:nvPr>
        </p:nvPicPr>
        <p:blipFill>
          <a:blip r:embed="rId2"/>
          <a:stretch>
            <a:fillRect/>
          </a:stretch>
        </p:blipFill>
        <p:spPr>
          <a:xfrm>
            <a:off x="1028700" y="2571750"/>
            <a:ext cx="9410700" cy="3371850"/>
          </a:xfrm>
          <a:prstGeom prst="rect">
            <a:avLst/>
          </a:prstGeom>
        </p:spPr>
      </p:pic>
    </p:spTree>
    <p:extLst>
      <p:ext uri="{BB962C8B-B14F-4D97-AF65-F5344CB8AC3E}">
        <p14:creationId xmlns:p14="http://schemas.microsoft.com/office/powerpoint/2010/main" val="3071788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TotalTime>
  <Words>1445</Words>
  <Application>Microsoft Office PowerPoint</Application>
  <PresentationFormat>Widescreen</PresentationFormat>
  <Paragraphs>93</Paragraphs>
  <Slides>61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Calibri Light</vt:lpstr>
      <vt:lpstr>Office Theme</vt:lpstr>
      <vt:lpstr> Power </vt:lpstr>
      <vt:lpstr>PowerPoint Presentation</vt:lpstr>
      <vt:lpstr>Star to Delta and Delta to Star Transformations: </vt:lpstr>
      <vt:lpstr>PowerPoint Presentation</vt:lpstr>
      <vt:lpstr>PowerPoint Presentation</vt:lpstr>
      <vt:lpstr>Delta to Star Transformation: </vt:lpstr>
      <vt:lpstr>PowerPoint Presentation</vt:lpstr>
      <vt:lpstr>PowerPoint Presentation</vt:lpstr>
      <vt:lpstr>PowerPoint Presentation</vt:lpstr>
      <vt:lpstr>Star to Delta Transformation: </vt:lpstr>
      <vt:lpstr>PowerPoint Presentation</vt:lpstr>
      <vt:lpstr>PowerPoint Presentation</vt:lpstr>
      <vt:lpstr>CIRCUIT ANALYSIS</vt:lpstr>
      <vt:lpstr>PowerPoint Presentation</vt:lpstr>
      <vt:lpstr>PowerPoint Presentation</vt:lpstr>
      <vt:lpstr>PowerPoint Presentation</vt:lpstr>
      <vt:lpstr>PowerPoint Presentation</vt:lpstr>
      <vt:lpstr>Two Important Types of Current </vt:lpstr>
      <vt:lpstr>Voltage Polarity </vt:lpstr>
      <vt:lpstr>Types of Sources: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R-L-C Parameters: </vt:lpstr>
      <vt:lpstr>PowerPoint Presentation</vt:lpstr>
      <vt:lpstr>PowerPoint Presentation</vt:lpstr>
      <vt:lpstr>Energy lost in a resistance in time t is given by </vt:lpstr>
      <vt:lpstr>Inductance: </vt:lpstr>
      <vt:lpstr>PowerPoint Presentation</vt:lpstr>
      <vt:lpstr>PowerPoint Presentation</vt:lpstr>
      <vt:lpstr>PowerPoint Presentation</vt:lpstr>
      <vt:lpstr>PowerPoint Presentation</vt:lpstr>
      <vt:lpstr>PowerPoint Presentation</vt:lpstr>
      <vt:lpstr> Capacitance: </vt:lpstr>
      <vt:lpstr>PowerPoint Presentation</vt:lpstr>
      <vt:lpstr>PowerPoint Presentation</vt:lpstr>
      <vt:lpstr>PowerPoint Presentation</vt:lpstr>
      <vt:lpstr>PowerPoint Presentation</vt:lpstr>
      <vt:lpstr>PowerPoint Presentation</vt:lpstr>
      <vt:lpstr>Steady state Analysis of Series RLC circuits:</vt:lpstr>
      <vt:lpstr>PowerPoint Presentation</vt:lpstr>
      <vt:lpstr>PowerPoint Presentation</vt:lpstr>
      <vt:lpstr>PowerPoint Presentation</vt:lpstr>
      <vt:lpstr>PowerPoint Presentation</vt:lpstr>
      <vt:lpstr>PowerPoint Presentation</vt:lpstr>
      <vt:lpstr>Individual Voltage Vectors </vt:lpstr>
      <vt:lpstr>Instantaneous Voltages for a Series RLC Circuit: </vt:lpstr>
      <vt:lpstr>PowerPoint Presentation</vt:lpstr>
      <vt:lpstr>Phasor Diagram for a Series RLC Circuit: </vt:lpstr>
      <vt:lpstr>PowerPoint Presentation</vt:lpstr>
      <vt:lpstr> Voltage Triangle for a Series RLC Circuit: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MOYO</dc:creator>
  <cp:lastModifiedBy>MOYO</cp:lastModifiedBy>
  <cp:revision>37</cp:revision>
  <dcterms:created xsi:type="dcterms:W3CDTF">2020-06-21T13:02:32Z</dcterms:created>
  <dcterms:modified xsi:type="dcterms:W3CDTF">2020-06-22T14:25:40Z</dcterms:modified>
</cp:coreProperties>
</file>