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8" r:id="rId10"/>
    <p:sldId id="269" r:id="rId11"/>
    <p:sldId id="267" r:id="rId12"/>
    <p:sldId id="270" r:id="rId13"/>
    <p:sldId id="262" r:id="rId14"/>
    <p:sldId id="263" r:id="rId15"/>
    <p:sldId id="271" r:id="rId16"/>
    <p:sldId id="272" r:id="rId17"/>
    <p:sldId id="281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D9B8-34B4-49C0-895D-219284D9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E10D2-184B-4F3B-A34C-894DE2D23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45121-A3AF-43E8-AE84-82E15976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124EB-F22D-45DA-B9B8-E97065FB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804C5-2023-4905-A289-A2139355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6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77A0-8CB6-4708-8E80-2EF8C9C6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10CCC-50CB-41F4-A22B-75290DADC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EFFBA-BE67-4D85-83FC-8CBBBB49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ED567-620E-4671-91B0-0D8E51E4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9F27E-00DA-449A-9895-4889B107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6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1F129-5546-4ABF-972A-6BEA65559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E2F99-C635-4AB0-AA0D-9CE97BE9E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1CE1A-0CCB-4BE3-BA46-F7D56338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9462-5AC6-4D4D-80D1-07ABA5BD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50197-B499-4597-A360-4FCAC92D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0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D752-E926-41CB-B073-83016286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099D-D63F-4A0A-8176-B68874F3F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773FC-6C00-4ABC-8CD5-B2D3B1585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3BA7B-923A-4528-B94B-EA2C5A58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896DA-D7A9-470B-B88C-7274A339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1F015-12D4-4740-9EF7-FA101D94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42A5-F0E8-4BF1-9E6D-E4AF2987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08E58-2433-4F8D-944B-F87A98DBD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53658-3241-437A-9FFA-DF3B85E33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17B5E-B1FE-4B59-9ED5-E0A31D5EF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D9143E-D3B1-41F4-A196-FC5E9DAD1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6A8F0-D74E-4215-B62E-69CEA703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84FC1-0C4D-48A0-9FDE-20C01F45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C22536-2641-4EFA-B7C6-7BC0C9CE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3501-C39F-40DD-8E6B-1FFA0764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7A33E-E7FB-427E-867B-9D5E516E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E18CB-7658-4E0F-AB8A-DA8AAACC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B2372-6414-4647-9D95-ABEE2B91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10537-D684-49AD-BE14-6785F3FF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58D4F-5883-47DD-B11D-C77508BF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63B12-ECAB-4CF7-82E1-1FBA6CC9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8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B9D9-E64D-4CDF-B940-D6E8D060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152E-DBA7-4DB8-88C2-1947AFF68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5DCF7-75E9-4203-B3A7-A04E30E43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F4869-95A3-4E6F-B06C-16DB1225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9330B-2FC9-488E-82D6-004420B33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BD15D-4C3A-499D-B191-0627FBE2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7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C72C-3FEB-42F2-AE3F-19BDA1B1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F3881-3339-40F4-A1C7-5499F8002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A9E8C-2F69-4A73-BD76-EB671C9EB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E3F95-72BB-41DB-9B61-B265DCF9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BB88F-D15D-4D71-B3DD-5A86E1D8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5229A-3895-49B9-80DF-225C4EF4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38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4DAE-9CE7-486A-9DF7-CDF4E0B5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76EDE-A97E-49EF-B4C8-F183283A9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5E21D-1A76-44F9-8943-7C79BCCB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6CE02-356E-4B5A-ACBC-B51960A7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F0A2-5B57-4273-9E36-2ED7004B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4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85EF7-8944-490E-B7E0-8461E1164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EB7BF-6975-4203-AAC0-1EB7F2838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36AD-BD6F-4A7A-8E62-1C209D5F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4607-6213-4ECD-A51B-7E066141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25DA-7A2F-4B4E-B9F2-CC6E7E48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A9DF8-F2C0-4662-B012-A175E291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37F1F-BB30-402D-826F-AB36BE2E3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524F1-E8AD-4F4D-BC1B-3EAE67885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0CE35-C7E9-4AF0-9C84-DCDC3CB3DAB1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1FEB4-0A15-4A71-BEFF-B010716C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5C42F-D26E-49FC-B50E-6C1473C1E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372BB-BBEC-4586-B648-1187E43EC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9516-CAC0-45B0-9861-B47A748B3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530"/>
            <a:ext cx="10045148" cy="170953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Magnetism and Electromagnetism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C48CD-538E-4D4B-B86D-02C563300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87827"/>
            <a:ext cx="9144000" cy="4505738"/>
          </a:xfrm>
        </p:spPr>
        <p:txBody>
          <a:bodyPr/>
          <a:lstStyle/>
          <a:p>
            <a:r>
              <a:rPr lang="en-US" sz="4000" b="1" dirty="0"/>
              <a:t>The Magnetic Field</a:t>
            </a:r>
          </a:p>
          <a:p>
            <a:pPr algn="l"/>
            <a:r>
              <a:rPr lang="en-US" sz="4000" dirty="0"/>
              <a:t>A permanent magnet has a magnetic field surrounding it. A magnetic field is envisioned to consist of </a:t>
            </a:r>
            <a:r>
              <a:rPr lang="en-US" sz="4000" b="1" dirty="0"/>
              <a:t>flux lines </a:t>
            </a:r>
            <a:r>
              <a:rPr lang="en-US" sz="4000" dirty="0"/>
              <a:t>that radiate from the </a:t>
            </a:r>
            <a:r>
              <a:rPr lang="en-US" sz="4000" b="1" dirty="0"/>
              <a:t>north pole </a:t>
            </a:r>
            <a:r>
              <a:rPr lang="en-US" sz="4000" dirty="0"/>
              <a:t>to the </a:t>
            </a:r>
            <a:r>
              <a:rPr lang="en-US" sz="4000" b="1" dirty="0"/>
              <a:t>south pole </a:t>
            </a:r>
            <a:r>
              <a:rPr lang="en-US" sz="4000" dirty="0"/>
              <a:t>and back to the north pole through the magnetic material.</a:t>
            </a:r>
          </a:p>
        </p:txBody>
      </p:sp>
    </p:spTree>
    <p:extLst>
      <p:ext uri="{BB962C8B-B14F-4D97-AF65-F5344CB8AC3E}">
        <p14:creationId xmlns:p14="http://schemas.microsoft.com/office/powerpoint/2010/main" val="51149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CDD-1B95-443C-B9E1-E4B4689D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68F5A-CAC6-4489-9932-056D6BF7E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13" y="1855305"/>
            <a:ext cx="10190921" cy="4637570"/>
          </a:xfrm>
        </p:spPr>
      </p:pic>
    </p:spTree>
    <p:extLst>
      <p:ext uri="{BB962C8B-B14F-4D97-AF65-F5344CB8AC3E}">
        <p14:creationId xmlns:p14="http://schemas.microsoft.com/office/powerpoint/2010/main" val="388314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013C-E27C-4578-AC26-FF1EBCB9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Attraction and Repulsion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9B9F1-A2CD-4002-B410-BC05D6C5D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278" y="993913"/>
            <a:ext cx="10515600" cy="5645426"/>
          </a:xfrm>
        </p:spPr>
      </p:pic>
    </p:spTree>
    <p:extLst>
      <p:ext uri="{BB962C8B-B14F-4D97-AF65-F5344CB8AC3E}">
        <p14:creationId xmlns:p14="http://schemas.microsoft.com/office/powerpoint/2010/main" val="245696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3F6B-00E2-4358-92BD-1E000139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Altering a Magnetic Field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7D92E-7606-4185-944F-4ECA9521B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922" y="1166191"/>
            <a:ext cx="10124661" cy="5326683"/>
          </a:xfrm>
        </p:spPr>
      </p:pic>
    </p:spTree>
    <p:extLst>
      <p:ext uri="{BB962C8B-B14F-4D97-AF65-F5344CB8AC3E}">
        <p14:creationId xmlns:p14="http://schemas.microsoft.com/office/powerpoint/2010/main" val="223870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3CA4-CD15-4107-8B64-48E4374C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00DD72-BD09-4C6D-9ED4-6BCEE260C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92" y="681038"/>
            <a:ext cx="11754678" cy="6302858"/>
          </a:xfrm>
        </p:spPr>
      </p:pic>
    </p:spTree>
    <p:extLst>
      <p:ext uri="{BB962C8B-B14F-4D97-AF65-F5344CB8AC3E}">
        <p14:creationId xmlns:p14="http://schemas.microsoft.com/office/powerpoint/2010/main" val="380385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AEEC-C7D5-479D-9DEB-788D6112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59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Magneto Motive Force (MMF)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DDF78-62E3-4A14-8AA8-E09C1CB2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861"/>
            <a:ext cx="10744200" cy="580445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The magnetic pressure which sets up or tends to set up   </a:t>
            </a:r>
            <a:r>
              <a:rPr lang="en-US" sz="3600" dirty="0" smtClean="0"/>
              <a:t>magnetic flux </a:t>
            </a:r>
            <a:r>
              <a:rPr lang="en-US" sz="3600" dirty="0"/>
              <a:t>in a magnetic circuit is known as MMF. </a:t>
            </a:r>
          </a:p>
          <a:p>
            <a:pPr marL="742950" indent="-742950" algn="just">
              <a:buAutoNum type="arabicPeriod"/>
            </a:pPr>
            <a:r>
              <a:rPr lang="en-US" sz="3600" dirty="0"/>
              <a:t>Magneto motive force is the measure of the ability of a coil to  produce  flux. </a:t>
            </a:r>
          </a:p>
          <a:p>
            <a:pPr marL="0" indent="0" algn="just">
              <a:buNone/>
            </a:pPr>
            <a:r>
              <a:rPr lang="en-US" sz="3600" dirty="0"/>
              <a:t>2. The magnetic flux is due to the existence of the MMF </a:t>
            </a:r>
          </a:p>
          <a:p>
            <a:pPr marL="0" indent="0" algn="just">
              <a:buNone/>
            </a:pPr>
            <a:r>
              <a:rPr lang="en-US" sz="3600" dirty="0"/>
              <a:t>     caused by a current flowing through a coil having no. of</a:t>
            </a:r>
          </a:p>
          <a:p>
            <a:pPr marL="0" indent="0" algn="just">
              <a:buNone/>
            </a:pPr>
            <a:r>
              <a:rPr lang="en-US" sz="3600" dirty="0"/>
              <a:t>      turns.</a:t>
            </a:r>
          </a:p>
          <a:p>
            <a:pPr marL="0" indent="0" algn="just">
              <a:buNone/>
            </a:pPr>
            <a:r>
              <a:rPr lang="en-US" sz="3600" dirty="0"/>
              <a:t> 3. A coil with ‘N’ turns carrying a current of ‘I’ amperes</a:t>
            </a:r>
          </a:p>
          <a:p>
            <a:pPr marL="0" indent="0" algn="just">
              <a:buNone/>
            </a:pPr>
            <a:r>
              <a:rPr lang="en-US" sz="3600" dirty="0"/>
              <a:t>      represents a  magnetic circuit producing an MMF of NI </a:t>
            </a:r>
          </a:p>
          <a:p>
            <a:pPr marL="0" indent="0" algn="just">
              <a:buNone/>
            </a:pPr>
            <a:r>
              <a:rPr lang="en-US" sz="3600" dirty="0"/>
              <a:t>      MMF=NI </a:t>
            </a:r>
          </a:p>
          <a:p>
            <a:pPr marL="0" indent="0" algn="just">
              <a:buNone/>
            </a:pPr>
            <a:r>
              <a:rPr lang="en-US" sz="3600" dirty="0"/>
              <a:t>  4. Units of MMF = Ampere turns(AT)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5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E19E-1A43-4ABF-A325-41FA74EF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5171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6B02-9C91-42EB-A472-BE7256D2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610"/>
            <a:ext cx="10515600" cy="6029738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Magnetic Flux: </a:t>
            </a:r>
          </a:p>
          <a:p>
            <a:pPr marL="514350" indent="-514350" algn="just">
              <a:buAutoNum type="arabicPeriod"/>
            </a:pPr>
            <a:r>
              <a:rPr lang="en-US" sz="4000" dirty="0"/>
              <a:t>The amount of magnetic lines of force set-up in a magnetic circuit is called magnetic flux. </a:t>
            </a:r>
          </a:p>
          <a:p>
            <a:pPr marL="514350" indent="-514350" algn="just">
              <a:buAutoNum type="arabicPeriod"/>
            </a:pPr>
            <a:r>
              <a:rPr lang="en-US" sz="4000" dirty="0"/>
              <a:t>2. The magnetic flux, that is established in a magnetic circuit is proportional to the MMF and the proportional constant is the reluctance of the magnetic circuit</a:t>
            </a:r>
            <a:r>
              <a:rPr lang="en-US" dirty="0"/>
              <a:t>.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3B3BACA-BDF7-429D-8493-6517067FD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635" y="4810539"/>
            <a:ext cx="8176591" cy="188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6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DD75-AF88-41B0-86DC-85BABFDB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365D68-966C-4E03-A8DC-21EC87F38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The unit of magnetic flux is Weber. </a:t>
            </a:r>
          </a:p>
          <a:p>
            <a:r>
              <a:rPr lang="en-US" sz="4000" b="1" dirty="0"/>
              <a:t>Reluctance: </a:t>
            </a:r>
          </a:p>
          <a:p>
            <a:pPr algn="just"/>
            <a:r>
              <a:rPr lang="en-US" dirty="0"/>
              <a:t>1. The opposition offered to the flow of magnetic flux in a magnetic circuit is called reluctance .</a:t>
            </a:r>
          </a:p>
          <a:p>
            <a:pPr algn="just"/>
            <a:r>
              <a:rPr lang="en-US" dirty="0"/>
              <a:t> 2. Reluctance of a magnetic circuit is defined as the ratio of magneto motive force to the flux established. </a:t>
            </a:r>
          </a:p>
          <a:p>
            <a:pPr algn="just"/>
            <a:r>
              <a:rPr lang="en-US" dirty="0"/>
              <a:t>3. Reluctance  depends  upon  length(l),  area  of  cross-section(a)  and  permeability  of  the material that makes up the magnetic circuit.(S l, S a,  S l/a 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5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3E2F-35BA-416D-8D2F-CB2C64BF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47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A256-59C4-45CB-8486-909DB6B49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878"/>
            <a:ext cx="10515600" cy="539508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unit of reluctance is  AT/ </a:t>
            </a:r>
            <a:r>
              <a:rPr lang="en-US" dirty="0" err="1"/>
              <a:t>Wb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4000" b="1" dirty="0"/>
              <a:t>4. The Magnetic field strength(H) </a:t>
            </a:r>
          </a:p>
          <a:p>
            <a:pPr algn="just"/>
            <a:r>
              <a:rPr lang="en-US" sz="3600" dirty="0"/>
              <a:t>1. If the magnetic circuit is homogeneous, and of uniform cross-sectional area, the magnetic field strength is defined as the magneto motive force per unit length of magnetic circuit. </a:t>
            </a:r>
            <a:endParaRPr lang="en-US" sz="3600" dirty="0" smtClean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C768E17-BC70-45F6-9E2C-FC9C22DF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47703"/>
            <a:ext cx="7023652" cy="13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2BDF-20C7-43B1-B953-CE7CFDC2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F2E41-8EF0-467E-87E6-70A65806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 The unit of magnetic field strength is AT/m</a:t>
            </a:r>
          </a:p>
          <a:p>
            <a:r>
              <a:rPr lang="en-US" dirty="0"/>
              <a:t> </a:t>
            </a:r>
            <a:r>
              <a:rPr lang="en-US" sz="4000" b="1" dirty="0"/>
              <a:t>Magnetic flux density(B) </a:t>
            </a:r>
          </a:p>
          <a:p>
            <a:r>
              <a:rPr lang="en-US" dirty="0"/>
              <a:t>1. The magnetic flux density in any material is defined as the magnetic flux established per unit area of cross-section.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2F38A-843E-4F51-A4CF-FD0FC72C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948" y="2208142"/>
            <a:ext cx="5910469" cy="98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5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1687-990B-4EB2-B61E-7929A814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07EF720-25C7-41B4-8515-53A8BB096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409" y="851002"/>
            <a:ext cx="9077739" cy="1886236"/>
          </a:xfrm>
        </p:spPr>
      </p:pic>
    </p:spTree>
    <p:extLst>
      <p:ext uri="{BB962C8B-B14F-4D97-AF65-F5344CB8AC3E}">
        <p14:creationId xmlns:p14="http://schemas.microsoft.com/office/powerpoint/2010/main" val="37624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598D-A7B3-4188-8AF2-B9E38F79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2C99-FC1F-4858-84B6-5F224031F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Relative permeability </a:t>
            </a:r>
          </a:p>
          <a:p>
            <a:pPr algn="just"/>
            <a:r>
              <a:rPr lang="en-US" dirty="0"/>
              <a:t>1. </a:t>
            </a:r>
            <a:r>
              <a:rPr lang="en-US" sz="4000" dirty="0"/>
              <a:t>It is defined as the ratio of flux density established in magnetic material to the flux density established in air or vacuum for the same magnetic field strength. </a:t>
            </a:r>
          </a:p>
          <a:p>
            <a:pPr algn="just"/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893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0E45-2001-43BE-9519-82D94971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14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4D9E5-45F5-47BC-9321-2FB8854E0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287" y="662609"/>
            <a:ext cx="11410122" cy="6016487"/>
          </a:xfrm>
        </p:spPr>
      </p:pic>
    </p:spTree>
    <p:extLst>
      <p:ext uri="{BB962C8B-B14F-4D97-AF65-F5344CB8AC3E}">
        <p14:creationId xmlns:p14="http://schemas.microsoft.com/office/powerpoint/2010/main" val="255193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9C65-6900-4A9D-BCE1-F5922A98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26"/>
            <a:ext cx="10916478" cy="96740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 TO ELECTROMAGNETIC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6185-2E66-433C-A6C5-B4AF40B82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739"/>
            <a:ext cx="10515600" cy="4719224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600" dirty="0"/>
              <a:t>When a conductor moves in a magnetic field, an EMF is generated; when it carries current in a magnetic field, a force is produced. Both of these effects may be deduced from one of the most fundamental principles of electromagnetism, and they provide the basis for a number of devices in which conductors move freely in a magnetic field. It has already been mentioned that most electrical machines employ a different form of construction. </a:t>
            </a:r>
          </a:p>
        </p:txBody>
      </p:sp>
    </p:spTree>
    <p:extLst>
      <p:ext uri="{BB962C8B-B14F-4D97-AF65-F5344CB8AC3E}">
        <p14:creationId xmlns:p14="http://schemas.microsoft.com/office/powerpoint/2010/main" val="282032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7073-FD3F-4522-9ED2-6AA1F07A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F18EBD-3A3E-4D98-BB32-A5CBC7BD1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5374"/>
            <a:ext cx="12085983" cy="6215269"/>
          </a:xfrm>
        </p:spPr>
      </p:pic>
    </p:spTree>
    <p:extLst>
      <p:ext uri="{BB962C8B-B14F-4D97-AF65-F5344CB8AC3E}">
        <p14:creationId xmlns:p14="http://schemas.microsoft.com/office/powerpoint/2010/main" val="272967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085A-8731-4AC0-8D64-1D0C43D8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122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44069A-4310-4E66-B89D-33F4A38BB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357" y="821636"/>
            <a:ext cx="11410121" cy="6036364"/>
          </a:xfrm>
        </p:spPr>
      </p:pic>
    </p:spTree>
    <p:extLst>
      <p:ext uri="{BB962C8B-B14F-4D97-AF65-F5344CB8AC3E}">
        <p14:creationId xmlns:p14="http://schemas.microsoft.com/office/powerpoint/2010/main" val="347943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C40B-189D-4D1B-A4D4-B0E8D64F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4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F11577-768C-4581-B308-4F10FA3D5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2765" y="424070"/>
            <a:ext cx="12085982" cy="6433930"/>
          </a:xfrm>
        </p:spPr>
      </p:pic>
    </p:spTree>
    <p:extLst>
      <p:ext uri="{BB962C8B-B14F-4D97-AF65-F5344CB8AC3E}">
        <p14:creationId xmlns:p14="http://schemas.microsoft.com/office/powerpoint/2010/main" val="197332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DB92-8591-4DAA-BCF2-97F525A5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47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68B918-0554-485C-8C86-8280A6E6A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83" y="728870"/>
            <a:ext cx="10986052" cy="6129129"/>
          </a:xfrm>
        </p:spPr>
      </p:pic>
    </p:spTree>
    <p:extLst>
      <p:ext uri="{BB962C8B-B14F-4D97-AF65-F5344CB8AC3E}">
        <p14:creationId xmlns:p14="http://schemas.microsoft.com/office/powerpoint/2010/main" val="411012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F5E8-C61F-43F1-89F6-FBA779B7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821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9F4A1-B4D1-4A00-83F3-EBDA3ACE0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35" y="847724"/>
            <a:ext cx="11688417" cy="6010275"/>
          </a:xfrm>
        </p:spPr>
      </p:pic>
    </p:spTree>
    <p:extLst>
      <p:ext uri="{BB962C8B-B14F-4D97-AF65-F5344CB8AC3E}">
        <p14:creationId xmlns:p14="http://schemas.microsoft.com/office/powerpoint/2010/main" val="18902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64D3-8AA9-4BD5-BCF7-CDF155B6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93981-F46B-4150-AF7E-11081EC73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36" y="821635"/>
            <a:ext cx="11251094" cy="5791200"/>
          </a:xfrm>
        </p:spPr>
      </p:pic>
    </p:spTree>
    <p:extLst>
      <p:ext uri="{BB962C8B-B14F-4D97-AF65-F5344CB8AC3E}">
        <p14:creationId xmlns:p14="http://schemas.microsoft.com/office/powerpoint/2010/main" val="15019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3582-C098-4F9C-91B0-2083F44F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Faraday’s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E11-07AD-48A2-9432-CF56C9FC0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Faraday’s Law states that, the voltage induced across a coil of wire equals the number of turns in the coil times the rate of change of the magnetic flux.</a:t>
            </a:r>
          </a:p>
          <a:p>
            <a:endParaRPr lang="en-US" sz="40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3B5DC64-C101-42C3-A02A-1CD4418B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29" y="4001294"/>
            <a:ext cx="4013028" cy="199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3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33D3-BBA4-420B-991C-C23640966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20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EB16A3-98E8-490D-ACAD-00C7FF89E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043" y="1987826"/>
            <a:ext cx="11317357" cy="4870174"/>
          </a:xfrm>
        </p:spPr>
      </p:pic>
    </p:spTree>
    <p:extLst>
      <p:ext uri="{BB962C8B-B14F-4D97-AF65-F5344CB8AC3E}">
        <p14:creationId xmlns:p14="http://schemas.microsoft.com/office/powerpoint/2010/main" val="10549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839A-1BA9-4E73-BB94-D096D5F9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84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C2401E-21A6-4CE1-8177-27F3FB007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312" y="636104"/>
            <a:ext cx="11357113" cy="5950226"/>
          </a:xfrm>
        </p:spPr>
      </p:pic>
    </p:spTree>
    <p:extLst>
      <p:ext uri="{BB962C8B-B14F-4D97-AF65-F5344CB8AC3E}">
        <p14:creationId xmlns:p14="http://schemas.microsoft.com/office/powerpoint/2010/main" val="78979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7D76-F9AB-46F2-A220-005899C6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98C5-4E6A-4D4B-A630-FF9A0947C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sz="3600" dirty="0"/>
              <a:t>The negative sign used in Faraday's law of electromagnetic induction, indicates that the induced emf and the change in magnetic flux have opposite signs. </a:t>
            </a:r>
          </a:p>
          <a:p>
            <a:pPr algn="just"/>
            <a:r>
              <a:rPr lang="en-US" sz="3600" dirty="0"/>
              <a:t>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6ACD379-8FC8-4B35-A950-BC5C42AC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36" y="2160346"/>
            <a:ext cx="3820768" cy="168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5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2BE8-2E72-4531-9918-51CADF5EF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91548"/>
            <a:ext cx="10515600" cy="7357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703D5A-BB73-4E30-937C-6FA887831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530087"/>
            <a:ext cx="11410121" cy="6036365"/>
          </a:xfrm>
        </p:spPr>
      </p:pic>
    </p:spTree>
    <p:extLst>
      <p:ext uri="{BB962C8B-B14F-4D97-AF65-F5344CB8AC3E}">
        <p14:creationId xmlns:p14="http://schemas.microsoft.com/office/powerpoint/2010/main" val="122076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B4F5-3282-4A80-86D5-DB3E9029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64AE-B2C2-4FCF-A588-432FEADB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MUTUAL INDUCTANCE: </a:t>
            </a:r>
          </a:p>
          <a:p>
            <a:r>
              <a:rPr lang="en-US" dirty="0"/>
              <a:t>Mutual Inductance is the ratio between induced Electro Motive Force across a coil to the rate of change of current of another adjacent coil in such a way that two coils are in possibility of flux linkage. Mutual induction is a phenomenon when a coil gets induced in EMF across it due to rate of change current in adjacent coil in such a way that the flux of one coil current gets linkage of another coil. Mutual inductance is denoted as (M), it is called co-efficient of Mutual Induction between two coils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279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B216-1AAF-4BF1-A79A-8A691DEB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4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CAC9C9-F434-4E51-B1B9-BFC5A5B09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78" y="424070"/>
            <a:ext cx="10760765" cy="6222583"/>
          </a:xfrm>
        </p:spPr>
      </p:pic>
    </p:spTree>
    <p:extLst>
      <p:ext uri="{BB962C8B-B14F-4D97-AF65-F5344CB8AC3E}">
        <p14:creationId xmlns:p14="http://schemas.microsoft.com/office/powerpoint/2010/main" val="305115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E1BC-50B4-45EA-9986-98346670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797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E00F9B-EAE6-45B1-85F9-14C10A23D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6017" y="755374"/>
            <a:ext cx="11781182" cy="6102626"/>
          </a:xfrm>
        </p:spPr>
      </p:pic>
    </p:spTree>
    <p:extLst>
      <p:ext uri="{BB962C8B-B14F-4D97-AF65-F5344CB8AC3E}">
        <p14:creationId xmlns:p14="http://schemas.microsoft.com/office/powerpoint/2010/main" val="194123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C49D-3CF0-498F-B67F-8CB15FA1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0545F-A148-4B8F-B561-63A7C3AC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DOT CONVENTION: </a:t>
            </a:r>
          </a:p>
          <a:p>
            <a:r>
              <a:rPr lang="en-US" dirty="0"/>
              <a:t> Dot convention is used to determine the polarity of a magnetic coil in respect of other magnetic coil. </a:t>
            </a:r>
            <a:r>
              <a:rPr lang="en-US" dirty="0" smtClean="0"/>
              <a:t> </a:t>
            </a:r>
            <a:r>
              <a:rPr lang="en-US" dirty="0"/>
              <a:t>Dot convention is normally used to determine the total or equivalent inductance (</a:t>
            </a:r>
            <a:r>
              <a:rPr lang="en-US" dirty="0" err="1"/>
              <a:t>Leq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40171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BF0B-07F4-4938-A3ED-E6E737A1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7A7D4-933D-4E83-A81C-540C2078E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15900" y="1"/>
            <a:ext cx="12407899" cy="6858000"/>
          </a:xfrm>
        </p:spPr>
      </p:pic>
    </p:spTree>
    <p:extLst>
      <p:ext uri="{BB962C8B-B14F-4D97-AF65-F5344CB8AC3E}">
        <p14:creationId xmlns:p14="http://schemas.microsoft.com/office/powerpoint/2010/main" val="173069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780F-67E5-4887-8CC9-C5F78BB0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60024-4610-44A5-B565-AB8E475E8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69843"/>
            <a:ext cx="10253869" cy="6188766"/>
          </a:xfrm>
        </p:spPr>
      </p:pic>
    </p:spTree>
    <p:extLst>
      <p:ext uri="{BB962C8B-B14F-4D97-AF65-F5344CB8AC3E}">
        <p14:creationId xmlns:p14="http://schemas.microsoft.com/office/powerpoint/2010/main" val="369999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9658-AC6D-422C-B0DF-21075094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D3C8-92DB-4C38-8F9E-D3C977F99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AIDING: </a:t>
            </a:r>
          </a:p>
          <a:p>
            <a:r>
              <a:rPr lang="en-US" dirty="0"/>
              <a:t> Suppose two coils are in parallel with same place dot. </a:t>
            </a:r>
            <a:r>
              <a:rPr lang="en-US" dirty="0" smtClean="0"/>
              <a:t> </a:t>
            </a:r>
            <a:r>
              <a:rPr lang="en-US" dirty="0"/>
              <a:t>When 2 dots are at the same place of both inductors(while at entering place or leaving place)as shown in below figure i.e. the total mutual inductance gets aided(added) </a:t>
            </a:r>
          </a:p>
        </p:txBody>
      </p:sp>
    </p:spTree>
    <p:extLst>
      <p:ext uri="{BB962C8B-B14F-4D97-AF65-F5344CB8AC3E}">
        <p14:creationId xmlns:p14="http://schemas.microsoft.com/office/powerpoint/2010/main" val="17923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A426-23AB-48FB-BD7A-850C8C2E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14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E4C2D-0184-406E-A458-A13144D78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12" y="728870"/>
            <a:ext cx="10359887" cy="6016487"/>
          </a:xfrm>
        </p:spPr>
      </p:pic>
    </p:spTree>
    <p:extLst>
      <p:ext uri="{BB962C8B-B14F-4D97-AF65-F5344CB8AC3E}">
        <p14:creationId xmlns:p14="http://schemas.microsoft.com/office/powerpoint/2010/main" val="208619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5BAE-BD95-4CF1-B776-BA55B07D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47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D31F8B-1419-4229-B7D4-F11F1B5F3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07165"/>
            <a:ext cx="10651435" cy="5485709"/>
          </a:xfrm>
        </p:spPr>
      </p:pic>
    </p:spTree>
    <p:extLst>
      <p:ext uri="{BB962C8B-B14F-4D97-AF65-F5344CB8AC3E}">
        <p14:creationId xmlns:p14="http://schemas.microsoft.com/office/powerpoint/2010/main" val="40126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3E9A-44E8-4ABE-8914-9F255A3F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F63BE-6CE4-44DF-82AF-6965C365D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322" y="556590"/>
            <a:ext cx="10916478" cy="6129793"/>
          </a:xfrm>
        </p:spPr>
      </p:pic>
    </p:spTree>
    <p:extLst>
      <p:ext uri="{BB962C8B-B14F-4D97-AF65-F5344CB8AC3E}">
        <p14:creationId xmlns:p14="http://schemas.microsoft.com/office/powerpoint/2010/main" val="108446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1903-545F-4C66-A068-5BA40E83C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59F25-B310-4C2D-BB2B-404C9DF9F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296" y="477078"/>
            <a:ext cx="11675165" cy="6380922"/>
          </a:xfrm>
        </p:spPr>
      </p:pic>
    </p:spTree>
    <p:extLst>
      <p:ext uri="{BB962C8B-B14F-4D97-AF65-F5344CB8AC3E}">
        <p14:creationId xmlns:p14="http://schemas.microsoft.com/office/powerpoint/2010/main" val="212101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07AE-1C3F-4A4B-B7D0-60D70519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95EF74-DB60-4F5A-9973-595F336F4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37322"/>
            <a:ext cx="11118574" cy="6241774"/>
          </a:xfrm>
        </p:spPr>
      </p:pic>
    </p:spTree>
    <p:extLst>
      <p:ext uri="{BB962C8B-B14F-4D97-AF65-F5344CB8AC3E}">
        <p14:creationId xmlns:p14="http://schemas.microsoft.com/office/powerpoint/2010/main" val="298356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7863-FD48-4B89-881E-1B6FFEED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DEFD91-4B0C-43AA-903D-70565ABAC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974" y="1789043"/>
            <a:ext cx="9886122" cy="4703832"/>
          </a:xfrm>
        </p:spPr>
      </p:pic>
    </p:spTree>
    <p:extLst>
      <p:ext uri="{BB962C8B-B14F-4D97-AF65-F5344CB8AC3E}">
        <p14:creationId xmlns:p14="http://schemas.microsoft.com/office/powerpoint/2010/main" val="300514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A50E-9128-42FE-AE09-CA7EF37B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BC552D-911C-4284-A33F-FC0745A32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1078"/>
            <a:ext cx="10293626" cy="4691270"/>
          </a:xfrm>
        </p:spPr>
      </p:pic>
    </p:spTree>
    <p:extLst>
      <p:ext uri="{BB962C8B-B14F-4D97-AF65-F5344CB8AC3E}">
        <p14:creationId xmlns:p14="http://schemas.microsoft.com/office/powerpoint/2010/main" val="911375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720E-E6CC-4E39-88A5-B35A2A4D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9AEF2-3BAF-436D-BEED-D9FB0807D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070" y="456562"/>
            <a:ext cx="11304104" cy="6355717"/>
          </a:xfrm>
        </p:spPr>
      </p:pic>
    </p:spTree>
    <p:extLst>
      <p:ext uri="{BB962C8B-B14F-4D97-AF65-F5344CB8AC3E}">
        <p14:creationId xmlns:p14="http://schemas.microsoft.com/office/powerpoint/2010/main" val="477176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91E6-4203-4DBD-8745-8D4C3456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F9CD9-7E28-4C6B-B631-4E38D932F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69" y="1690688"/>
            <a:ext cx="11383617" cy="5167312"/>
          </a:xfrm>
        </p:spPr>
      </p:pic>
    </p:spTree>
    <p:extLst>
      <p:ext uri="{BB962C8B-B14F-4D97-AF65-F5344CB8AC3E}">
        <p14:creationId xmlns:p14="http://schemas.microsoft.com/office/powerpoint/2010/main" val="18491728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8A14-ABBE-4D0B-A571-484C17AC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D74EB-375C-4BF4-B0C8-53933864C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1834191" cy="6492875"/>
          </a:xfrm>
        </p:spPr>
      </p:pic>
    </p:spTree>
    <p:extLst>
      <p:ext uri="{BB962C8B-B14F-4D97-AF65-F5344CB8AC3E}">
        <p14:creationId xmlns:p14="http://schemas.microsoft.com/office/powerpoint/2010/main" val="401654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3FD5-6D90-46BB-9EC8-B65FDCC2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5171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23EC2-323B-4F30-B893-3FB62577C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565" y="715616"/>
            <a:ext cx="10813774" cy="6142384"/>
          </a:xfrm>
        </p:spPr>
      </p:pic>
    </p:spTree>
    <p:extLst>
      <p:ext uri="{BB962C8B-B14F-4D97-AF65-F5344CB8AC3E}">
        <p14:creationId xmlns:p14="http://schemas.microsoft.com/office/powerpoint/2010/main" val="359559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8323-25A5-44F0-910D-A70358B1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47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3F50FE-72D3-40D2-8B04-38152B180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358" y="755374"/>
            <a:ext cx="10704442" cy="5737500"/>
          </a:xfrm>
        </p:spPr>
      </p:pic>
    </p:spTree>
    <p:extLst>
      <p:ext uri="{BB962C8B-B14F-4D97-AF65-F5344CB8AC3E}">
        <p14:creationId xmlns:p14="http://schemas.microsoft.com/office/powerpoint/2010/main" val="2621141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749</Words>
  <Application>Microsoft Office PowerPoint</Application>
  <PresentationFormat>Widescreen</PresentationFormat>
  <Paragraphs>57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Magnetism and Electromagnetism</vt:lpstr>
      <vt:lpstr>PowerPoint Presentation</vt:lpstr>
      <vt:lpstr>Attraction and Repulsion </vt:lpstr>
      <vt:lpstr>Altering a Magnetic Field </vt:lpstr>
      <vt:lpstr>PowerPoint Presentation</vt:lpstr>
      <vt:lpstr>Magneto Motive Force (MMF)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ELECTROMAGNETIC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Faraday’s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MOYO</dc:creator>
  <cp:lastModifiedBy>Windows User</cp:lastModifiedBy>
  <cp:revision>33</cp:revision>
  <dcterms:created xsi:type="dcterms:W3CDTF">2020-07-09T17:45:31Z</dcterms:created>
  <dcterms:modified xsi:type="dcterms:W3CDTF">2021-01-04T08:03:30Z</dcterms:modified>
</cp:coreProperties>
</file>