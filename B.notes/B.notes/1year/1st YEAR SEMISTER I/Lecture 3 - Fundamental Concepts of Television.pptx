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63"/>
  </p:notesMasterIdLst>
  <p:handoutMasterIdLst>
    <p:handoutMasterId r:id="rId64"/>
  </p:handoutMasterIdLst>
  <p:sldIdLst>
    <p:sldId id="256" r:id="rId5"/>
    <p:sldId id="265" r:id="rId6"/>
    <p:sldId id="282" r:id="rId7"/>
    <p:sldId id="283" r:id="rId8"/>
    <p:sldId id="284" r:id="rId9"/>
    <p:sldId id="266" r:id="rId10"/>
    <p:sldId id="267" r:id="rId11"/>
    <p:sldId id="285" r:id="rId12"/>
    <p:sldId id="268" r:id="rId13"/>
    <p:sldId id="269" r:id="rId14"/>
    <p:sldId id="286" r:id="rId15"/>
    <p:sldId id="270" r:id="rId16"/>
    <p:sldId id="287" r:id="rId17"/>
    <p:sldId id="271" r:id="rId18"/>
    <p:sldId id="288" r:id="rId19"/>
    <p:sldId id="272" r:id="rId20"/>
    <p:sldId id="273" r:id="rId21"/>
    <p:sldId id="274" r:id="rId22"/>
    <p:sldId id="289" r:id="rId23"/>
    <p:sldId id="290" r:id="rId24"/>
    <p:sldId id="275" r:id="rId25"/>
    <p:sldId id="276" r:id="rId26"/>
    <p:sldId id="277" r:id="rId27"/>
    <p:sldId id="278" r:id="rId28"/>
    <p:sldId id="279" r:id="rId29"/>
    <p:sldId id="280" r:id="rId30"/>
    <p:sldId id="281" r:id="rId31"/>
    <p:sldId id="291" r:id="rId32"/>
    <p:sldId id="292" r:id="rId33"/>
    <p:sldId id="293" r:id="rId34"/>
    <p:sldId id="294" r:id="rId35"/>
    <p:sldId id="295" r:id="rId36"/>
    <p:sldId id="296" r:id="rId37"/>
    <p:sldId id="299" r:id="rId38"/>
    <p:sldId id="300" r:id="rId39"/>
    <p:sldId id="297" r:id="rId40"/>
    <p:sldId id="298" r:id="rId41"/>
    <p:sldId id="301" r:id="rId42"/>
    <p:sldId id="302" r:id="rId43"/>
    <p:sldId id="318" r:id="rId44"/>
    <p:sldId id="303" r:id="rId45"/>
    <p:sldId id="304" r:id="rId46"/>
    <p:sldId id="305" r:id="rId47"/>
    <p:sldId id="306" r:id="rId48"/>
    <p:sldId id="319" r:id="rId49"/>
    <p:sldId id="307" r:id="rId50"/>
    <p:sldId id="321" r:id="rId51"/>
    <p:sldId id="308" r:id="rId52"/>
    <p:sldId id="322" r:id="rId53"/>
    <p:sldId id="309" r:id="rId54"/>
    <p:sldId id="310" r:id="rId55"/>
    <p:sldId id="311" r:id="rId56"/>
    <p:sldId id="312" r:id="rId57"/>
    <p:sldId id="323" r:id="rId58"/>
    <p:sldId id="313" r:id="rId59"/>
    <p:sldId id="324" r:id="rId60"/>
    <p:sldId id="325" r:id="rId61"/>
    <p:sldId id="31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40404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8415" autoAdjust="0"/>
  </p:normalViewPr>
  <p:slideViewPr>
    <p:cSldViewPr snapToGrid="0" showGuides="1">
      <p:cViewPr varScale="1">
        <p:scale>
          <a:sx n="68" d="100"/>
          <a:sy n="68" d="100"/>
        </p:scale>
        <p:origin x="616" y="32"/>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FA8042-29A1-4486-A765-7552698406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D8449A-A734-4B2E-9806-61303F24B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249263-8DF9-4907-970E-1CFD040DC73A}" type="datetimeFigureOut">
              <a:rPr lang="en-US" smtClean="0"/>
              <a:t>30-Nov-21</a:t>
            </a:fld>
            <a:endParaRPr lang="en-US" dirty="0"/>
          </a:p>
        </p:txBody>
      </p:sp>
      <p:sp>
        <p:nvSpPr>
          <p:cNvPr id="4" name="Footer Placeholder 3">
            <a:extLst>
              <a:ext uri="{FF2B5EF4-FFF2-40B4-BE49-F238E27FC236}">
                <a16:creationId xmlns:a16="http://schemas.microsoft.com/office/drawing/2014/main" id="{F6605C2A-990C-4531-8CBF-BC3BEC0AF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7358FE-F7D5-4C85-B0FD-2394F7F877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0B412-7BFF-46C7-AB5E-DE35F66C9933}" type="datetimeFigureOut">
              <a:rPr lang="en-US" noProof="0" smtClean="0"/>
              <a:t>30-Nov-21</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30-Nov-21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5908430"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5908430" y="2506662"/>
            <a:ext cx="5445370"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469045" y="0"/>
            <a:ext cx="5210175" cy="5961063"/>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363416"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363416" y="2506662"/>
            <a:ext cx="5445370"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5919755" y="1"/>
            <a:ext cx="3430408" cy="4091942"/>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24055"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36341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1804745"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a16="http://schemas.microsoft.com/office/drawing/2014/main" id="{63A2A33D-4D91-454D-A35B-6DA97069EC3F}"/>
              </a:ext>
            </a:extLst>
          </p:cNvPr>
          <p:cNvSpPr>
            <a:spLocks noGrp="1"/>
          </p:cNvSpPr>
          <p:nvPr>
            <p:ph type="pic" sz="quarter" idx="16"/>
          </p:nvPr>
        </p:nvSpPr>
        <p:spPr>
          <a:xfrm>
            <a:off x="9542186" y="555157"/>
            <a:ext cx="2649814" cy="4298197"/>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
        <p:nvSpPr>
          <p:cNvPr id="21" name="Picture Placeholder 9">
            <a:extLst>
              <a:ext uri="{FF2B5EF4-FFF2-40B4-BE49-F238E27FC236}">
                <a16:creationId xmlns:a16="http://schemas.microsoft.com/office/drawing/2014/main" id="{7EC67FB7-777C-473E-95B8-585AA8E66406}"/>
              </a:ext>
            </a:extLst>
          </p:cNvPr>
          <p:cNvSpPr>
            <a:spLocks noGrp="1"/>
          </p:cNvSpPr>
          <p:nvPr>
            <p:ph type="pic" sz="quarter" idx="17"/>
          </p:nvPr>
        </p:nvSpPr>
        <p:spPr>
          <a:xfrm>
            <a:off x="5919754" y="4289110"/>
            <a:ext cx="3430407" cy="1672075"/>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831850" y="4839691"/>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a16="http://schemas.microsoft.com/office/drawing/2014/main" id="{712D9B6D-CE43-4FB1-87C0-D3565E730242}"/>
              </a:ext>
            </a:extLst>
          </p:cNvPr>
          <p:cNvSpPr>
            <a:spLocks noGrp="1"/>
          </p:cNvSpPr>
          <p:nvPr>
            <p:ph type="body" idx="1" hasCustomPrompt="1"/>
          </p:nvPr>
        </p:nvSpPr>
        <p:spPr>
          <a:xfrm>
            <a:off x="4080986"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249D73CD-EB11-4ED6-80CF-B68320D57E91}"/>
              </a:ext>
            </a:extLst>
          </p:cNvPr>
          <p:cNvSpPr>
            <a:spLocks noGrp="1"/>
          </p:cNvSpPr>
          <p:nvPr>
            <p:ph sz="half" idx="2" hasCustomPrompt="1"/>
          </p:nvPr>
        </p:nvSpPr>
        <p:spPr>
          <a:xfrm>
            <a:off x="4080986"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a16="http://schemas.microsoft.com/office/drawing/2014/main" id="{57889B18-CC7E-47A7-B83B-45D7871D298A}"/>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3639489" y="421045"/>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A09F60F9-61AE-4464-B369-1CF86DB708DA}"/>
              </a:ext>
            </a:extLst>
          </p:cNvPr>
          <p:cNvSpPr>
            <a:spLocks noGrp="1"/>
          </p:cNvSpPr>
          <p:nvPr>
            <p:ph type="body" idx="15" hasCustomPrompt="1"/>
          </p:nvPr>
        </p:nvSpPr>
        <p:spPr>
          <a:xfrm>
            <a:off x="7870582"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Content Placeholder 3">
            <a:extLst>
              <a:ext uri="{FF2B5EF4-FFF2-40B4-BE49-F238E27FC236}">
                <a16:creationId xmlns:a16="http://schemas.microsoft.com/office/drawing/2014/main" id="{124CEF01-2C7C-4568-8A45-5F5A058ECFC1}"/>
              </a:ext>
            </a:extLst>
          </p:cNvPr>
          <p:cNvSpPr>
            <a:spLocks noGrp="1"/>
          </p:cNvSpPr>
          <p:nvPr>
            <p:ph sz="half" idx="16" hasCustomPrompt="1"/>
          </p:nvPr>
        </p:nvSpPr>
        <p:spPr>
          <a:xfrm>
            <a:off x="7870582"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a16="http://schemas.microsoft.com/office/drawing/2014/main" id="{BAF86618-E012-4E70-91E3-A72E71C63E64}"/>
              </a:ext>
            </a:extLst>
          </p:cNvPr>
          <p:cNvSpPr>
            <a:spLocks noGrp="1"/>
          </p:cNvSpPr>
          <p:nvPr>
            <p:ph type="pic" sz="quarter" idx="18" hasCustomPrompt="1"/>
          </p:nvPr>
        </p:nvSpPr>
        <p:spPr>
          <a:xfrm>
            <a:off x="4080986"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a16="http://schemas.microsoft.com/office/drawing/2014/main" id="{4FF378B9-734E-4C43-836C-CB80566DDB15}"/>
              </a:ext>
            </a:extLst>
          </p:cNvPr>
          <p:cNvSpPr>
            <a:spLocks noGrp="1"/>
          </p:cNvSpPr>
          <p:nvPr>
            <p:ph type="pic" sz="quarter" idx="19" hasCustomPrompt="1"/>
          </p:nvPr>
        </p:nvSpPr>
        <p:spPr>
          <a:xfrm>
            <a:off x="7868008"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Text Placeholder 2">
            <a:extLst>
              <a:ext uri="{FF2B5EF4-FFF2-40B4-BE49-F238E27FC236}">
                <a16:creationId xmlns:a16="http://schemas.microsoft.com/office/drawing/2014/main" id="{76F2CCF2-293A-49CA-B2A9-134BB5DEF98E}"/>
              </a:ext>
            </a:extLst>
          </p:cNvPr>
          <p:cNvSpPr>
            <a:spLocks noGrp="1"/>
          </p:cNvSpPr>
          <p:nvPr>
            <p:ph type="body" idx="20" hasCustomPrompt="1"/>
          </p:nvPr>
        </p:nvSpPr>
        <p:spPr>
          <a:xfrm>
            <a:off x="4080985" y="480157"/>
            <a:ext cx="6944563" cy="823912"/>
          </a:xfrm>
        </p:spPr>
        <p:txBody>
          <a:bodyPr lIns="0" tIns="0" rIns="0" bIns="0" anchor="ctr">
            <a:noAutofit/>
          </a:bodyPr>
          <a:lstStyle>
            <a:lvl1pPr marL="0" indent="0">
              <a:buNone/>
              <a:defRPr sz="20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5316488" y="0"/>
            <a:ext cx="6875511" cy="6858000"/>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4" name="Rectangle 3">
            <a:extLst>
              <a:ext uri="{FF2B5EF4-FFF2-40B4-BE49-F238E27FC236}">
                <a16:creationId xmlns:a16="http://schemas.microsoft.com/office/drawing/2014/main" id="{9536DA47-61AF-4CF1-8DF3-3721934D13E3}"/>
              </a:ext>
            </a:extLst>
          </p:cNvPr>
          <p:cNvSpPr/>
          <p:nvPr userDrawn="1"/>
        </p:nvSpPr>
        <p:spPr>
          <a:xfrm>
            <a:off x="0" y="0"/>
            <a:ext cx="5316488"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56FD760-FBDC-4410-A039-469F7931D3A3}"/>
              </a:ext>
            </a:extLst>
          </p:cNvPr>
          <p:cNvSpPr/>
          <p:nvPr userDrawn="1"/>
        </p:nvSpPr>
        <p:spPr>
          <a:xfrm>
            <a:off x="831850" y="1723292"/>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384651" y="1087907"/>
            <a:ext cx="4468698"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368711" y="2552611"/>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454991" y="1620451"/>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3" name="Group 12">
            <a:extLst>
              <a:ext uri="{FF2B5EF4-FFF2-40B4-BE49-F238E27FC236}">
                <a16:creationId xmlns:a16="http://schemas.microsoft.com/office/drawing/2014/main" id="{C5F2EA84-5150-479B-86D5-F4BAE1263488}"/>
              </a:ext>
            </a:extLst>
          </p:cNvPr>
          <p:cNvGrpSpPr/>
          <p:nvPr userDrawn="1"/>
        </p:nvGrpSpPr>
        <p:grpSpPr>
          <a:xfrm flipH="1">
            <a:off x="1130928" y="4803540"/>
            <a:ext cx="3616779" cy="3522776"/>
            <a:chOff x="2555621" y="3917613"/>
            <a:chExt cx="3616779" cy="3522776"/>
          </a:xfrm>
        </p:grpSpPr>
        <p:sp>
          <p:nvSpPr>
            <p:cNvPr id="15" name="Oval 14">
              <a:extLst>
                <a:ext uri="{FF2B5EF4-FFF2-40B4-BE49-F238E27FC236}">
                  <a16:creationId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ABAC-B403-4354-A27F-4C38B08C1D3F}"/>
              </a:ext>
            </a:extLst>
          </p:cNvPr>
          <p:cNvSpPr>
            <a:spLocks noGrp="1"/>
          </p:cNvSpPr>
          <p:nvPr>
            <p:ph type="title" hasCustomPrompt="1"/>
          </p:nvPr>
        </p:nvSpPr>
        <p:spPr>
          <a:xfrm>
            <a:off x="4712885" y="2704121"/>
            <a:ext cx="6556248"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30-Nov-21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3760408"/>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3" name="Graphic 22" descr="Envelope">
            <a:extLst>
              <a:ext uri="{FF2B5EF4-FFF2-40B4-BE49-F238E27FC236}">
                <a16:creationId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4803" y="4029040"/>
            <a:ext cx="469232" cy="469232"/>
          </a:xfrm>
          <a:prstGeom prst="rect">
            <a:avLst/>
          </a:prstGeom>
        </p:spPr>
      </p:pic>
      <p:sp>
        <p:nvSpPr>
          <p:cNvPr id="34" name="Subtitle 2">
            <a:extLst>
              <a:ext uri="{FF2B5EF4-FFF2-40B4-BE49-F238E27FC236}">
                <a16:creationId xmlns:a16="http://schemas.microsoft.com/office/drawing/2014/main" id="{31AD270F-1692-4526-B979-6B5945A20D90}"/>
              </a:ext>
            </a:extLst>
          </p:cNvPr>
          <p:cNvSpPr>
            <a:spLocks noGrp="1"/>
          </p:cNvSpPr>
          <p:nvPr>
            <p:ph type="subTitle" idx="1"/>
          </p:nvPr>
        </p:nvSpPr>
        <p:spPr>
          <a:xfrm>
            <a:off x="5406809" y="4126311"/>
            <a:ext cx="3640478" cy="433938"/>
          </a:xfrm>
        </p:spPr>
        <p:txBody>
          <a:bodyPr>
            <a:normAutofit/>
          </a:bodyPr>
          <a:lstStyle>
            <a:lvl1pPr marL="0" indent="0" algn="l">
              <a:buNone/>
              <a:defRPr sz="1800" b="0" cap="none"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39" name="Content Placeholder 38">
            <a:extLst>
              <a:ext uri="{FF2B5EF4-FFF2-40B4-BE49-F238E27FC236}">
                <a16:creationId xmlns:a16="http://schemas.microsoft.com/office/drawing/2014/main" id="{382940E6-7963-411F-B35A-57121171A988}"/>
              </a:ext>
            </a:extLst>
          </p:cNvPr>
          <p:cNvSpPr>
            <a:spLocks noGrp="1"/>
          </p:cNvSpPr>
          <p:nvPr>
            <p:ph sz="quarter" idx="15" hasCustomPrompt="1"/>
          </p:nvPr>
        </p:nvSpPr>
        <p:spPr>
          <a:xfrm>
            <a:off x="5408614"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600" lvl="0" indent="-228600"/>
            <a:r>
              <a:rPr lang="en-US" noProof="0"/>
              <a:t>Edit Master text styles</a:t>
            </a:r>
          </a:p>
        </p:txBody>
      </p:sp>
      <p:grpSp>
        <p:nvGrpSpPr>
          <p:cNvPr id="20" name="Group 19">
            <a:extLst>
              <a:ext uri="{FF2B5EF4-FFF2-40B4-BE49-F238E27FC236}">
                <a16:creationId xmlns:a16="http://schemas.microsoft.com/office/drawing/2014/main" id="{1F8FC2D7-B114-3444-8684-995FC4D6D459}"/>
              </a:ext>
            </a:extLst>
          </p:cNvPr>
          <p:cNvGrpSpPr/>
          <p:nvPr userDrawn="1"/>
        </p:nvGrpSpPr>
        <p:grpSpPr>
          <a:xfrm>
            <a:off x="4793474" y="2475187"/>
            <a:ext cx="748798" cy="134113"/>
            <a:chOff x="4827813" y="2534636"/>
            <a:chExt cx="996651" cy="178504"/>
          </a:xfrm>
        </p:grpSpPr>
        <p:sp>
          <p:nvSpPr>
            <p:cNvPr id="21" name="Oval 20">
              <a:extLst>
                <a:ext uri="{FF2B5EF4-FFF2-40B4-BE49-F238E27FC236}">
                  <a16:creationId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Oval 25">
              <a:extLst>
                <a:ext uri="{FF2B5EF4-FFF2-40B4-BE49-F238E27FC236}">
                  <a16:creationId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pic>
        <p:nvPicPr>
          <p:cNvPr id="3" name="Graphic 2" descr="Link">
            <a:extLst>
              <a:ext uri="{FF2B5EF4-FFF2-40B4-BE49-F238E27FC236}">
                <a16:creationId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87152" y="4809677"/>
            <a:ext cx="542081"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30-Nov-21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25F8A1A8-E078-4836-ABD1-CD4E75BBF58F}"/>
              </a:ext>
            </a:extLst>
          </p:cNvPr>
          <p:cNvSpPr/>
          <p:nvPr userDrawn="1"/>
        </p:nvSpPr>
        <p:spPr>
          <a:xfrm>
            <a:off x="0" y="0"/>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4878778-0299-471F-A4C9-D0C1E82ED8D2}"/>
              </a:ext>
            </a:extLst>
          </p:cNvPr>
          <p:cNvCxnSpPr>
            <a:cxnSpLocks/>
          </p:cNvCxnSpPr>
          <p:nvPr userDrawn="1"/>
        </p:nvCxnSpPr>
        <p:spPr>
          <a:xfrm>
            <a:off x="1001746" y="1290512"/>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E39D1C78-6110-4052-8455-7E7893F7FCD3}"/>
              </a:ext>
            </a:extLst>
          </p:cNvPr>
          <p:cNvSpPr>
            <a:spLocks noGrp="1"/>
          </p:cNvSpPr>
          <p:nvPr>
            <p:ph type="title"/>
          </p:nvPr>
        </p:nvSpPr>
        <p:spPr>
          <a:xfrm>
            <a:off x="915466" y="1276857"/>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a:t>Click to edit Master title style</a:t>
            </a:r>
          </a:p>
        </p:txBody>
      </p:sp>
      <p:sp>
        <p:nvSpPr>
          <p:cNvPr id="24" name="Text Placeholder 2">
            <a:extLst>
              <a:ext uri="{FF2B5EF4-FFF2-40B4-BE49-F238E27FC236}">
                <a16:creationId xmlns:a16="http://schemas.microsoft.com/office/drawing/2014/main" id="{E3405997-7AE2-4C6E-8A7D-735F58A49D12}"/>
              </a:ext>
            </a:extLst>
          </p:cNvPr>
          <p:cNvSpPr>
            <a:spLocks noGrp="1"/>
          </p:cNvSpPr>
          <p:nvPr>
            <p:ph type="body" idx="1" hasCustomPrompt="1"/>
          </p:nvPr>
        </p:nvSpPr>
        <p:spPr>
          <a:xfrm>
            <a:off x="915467" y="2620651"/>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Text Placeholder 2">
            <a:extLst>
              <a:ext uri="{FF2B5EF4-FFF2-40B4-BE49-F238E27FC236}">
                <a16:creationId xmlns:a16="http://schemas.microsoft.com/office/drawing/2014/main" id="{BE814D66-F00F-0D44-AD03-889FEE787EB6}"/>
              </a:ext>
            </a:extLst>
          </p:cNvPr>
          <p:cNvSpPr>
            <a:spLocks noGrp="1"/>
          </p:cNvSpPr>
          <p:nvPr>
            <p:ph idx="1" hasCustomPrompt="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a16="http://schemas.microsoft.com/office/drawing/2014/main" id="{44C85E5F-5B5E-48CC-8469-0263621D91FF}"/>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a16="http://schemas.microsoft.com/office/drawing/2014/main" id="{7EE4E300-6C8E-4262-BE1D-587C7B70E7ED}"/>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6" name="Content Placeholder 3">
            <a:extLst>
              <a:ext uri="{FF2B5EF4-FFF2-40B4-BE49-F238E27FC236}">
                <a16:creationId xmlns:a16="http://schemas.microsoft.com/office/drawing/2014/main" id="{6E22FA8C-3243-4716-A6BD-F37D6058FB43}"/>
              </a:ext>
            </a:extLst>
          </p:cNvPr>
          <p:cNvSpPr>
            <a:spLocks noGrp="1"/>
          </p:cNvSpPr>
          <p:nvPr>
            <p:ph sz="half" idx="2" hasCustomPrompt="1"/>
          </p:nvPr>
        </p:nvSpPr>
        <p:spPr>
          <a:xfrm>
            <a:off x="6347381"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8ABE3FD8-339C-4F75-876F-8347ADE67E94}"/>
              </a:ext>
            </a:extLst>
          </p:cNvPr>
          <p:cNvSpPr>
            <a:spLocks noGrp="1"/>
          </p:cNvSpPr>
          <p:nvPr>
            <p:ph sz="half" idx="1" hasCustomPrompt="1"/>
          </p:nvPr>
        </p:nvSpPr>
        <p:spPr>
          <a:xfrm>
            <a:off x="363416"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a16="http://schemas.microsoft.com/office/drawing/2014/main" id="{E72FB389-5EA4-4084-B7A2-A4D0A43561F6}"/>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F7783FE1-0115-4345-89B2-C073569FB8EE}"/>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7" name="Text Placeholder 4">
            <a:extLst>
              <a:ext uri="{FF2B5EF4-FFF2-40B4-BE49-F238E27FC236}">
                <a16:creationId xmlns:a16="http://schemas.microsoft.com/office/drawing/2014/main" id="{9F73353B-C50B-4A8A-87CF-657C1EB8940F}"/>
              </a:ext>
            </a:extLst>
          </p:cNvPr>
          <p:cNvSpPr>
            <a:spLocks noGrp="1"/>
          </p:cNvSpPr>
          <p:nvPr>
            <p:ph type="body" sz="quarter" idx="3" hasCustomPrompt="1"/>
          </p:nvPr>
        </p:nvSpPr>
        <p:spPr>
          <a:xfrm>
            <a:off x="6347380" y="1681163"/>
            <a:ext cx="548120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8" name="Content Placeholder 5">
            <a:extLst>
              <a:ext uri="{FF2B5EF4-FFF2-40B4-BE49-F238E27FC236}">
                <a16:creationId xmlns:a16="http://schemas.microsoft.com/office/drawing/2014/main" id="{5EFF7F5E-3221-4390-9B17-D1944365BF12}"/>
              </a:ext>
            </a:extLst>
          </p:cNvPr>
          <p:cNvSpPr>
            <a:spLocks noGrp="1"/>
          </p:cNvSpPr>
          <p:nvPr>
            <p:ph sz="quarter" idx="4" hasCustomPrompt="1"/>
          </p:nvPr>
        </p:nvSpPr>
        <p:spPr>
          <a:xfrm>
            <a:off x="6347379" y="2586215"/>
            <a:ext cx="5481203"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a16="http://schemas.microsoft.com/office/drawing/2014/main" id="{9506B516-77C1-431B-A8A5-68FA5D4B6D7E}"/>
              </a:ext>
            </a:extLst>
          </p:cNvPr>
          <p:cNvSpPr>
            <a:spLocks noGrp="1"/>
          </p:cNvSpPr>
          <p:nvPr>
            <p:ph type="body" idx="1" hasCustomPrompt="1"/>
          </p:nvPr>
        </p:nvSpPr>
        <p:spPr>
          <a:xfrm>
            <a:off x="363416" y="1681163"/>
            <a:ext cx="54812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30" name="Content Placeholder 3">
            <a:extLst>
              <a:ext uri="{FF2B5EF4-FFF2-40B4-BE49-F238E27FC236}">
                <a16:creationId xmlns:a16="http://schemas.microsoft.com/office/drawing/2014/main" id="{860F1452-CAB9-4154-ADCC-9245E71D0D2C}"/>
              </a:ext>
            </a:extLst>
          </p:cNvPr>
          <p:cNvSpPr>
            <a:spLocks noGrp="1"/>
          </p:cNvSpPr>
          <p:nvPr>
            <p:ph sz="half" idx="2" hasCustomPrompt="1"/>
          </p:nvPr>
        </p:nvSpPr>
        <p:spPr>
          <a:xfrm>
            <a:off x="363416"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a16="http://schemas.microsoft.com/office/drawing/2014/main" id="{12892DF4-5A8A-4E92-A425-210ABE570F58}"/>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Oval 31">
            <a:extLst>
              <a:ext uri="{FF2B5EF4-FFF2-40B4-BE49-F238E27FC236}">
                <a16:creationId xmlns:a16="http://schemas.microsoft.com/office/drawing/2014/main" id="{99AE2680-A46C-4B06-9ED9-53E617C1F17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Text Placeholder 3">
            <a:extLst>
              <a:ext uri="{FF2B5EF4-FFF2-40B4-BE49-F238E27FC236}">
                <a16:creationId xmlns:a16="http://schemas.microsoft.com/office/drawing/2014/main" id="{86E0573A-023B-4D1C-8224-56A5D0DDF379}"/>
              </a:ext>
            </a:extLst>
          </p:cNvPr>
          <p:cNvSpPr>
            <a:spLocks noGrp="1"/>
          </p:cNvSpPr>
          <p:nvPr>
            <p:ph type="body" sz="half" idx="2" hasCustomPrompt="1"/>
          </p:nvPr>
        </p:nvSpPr>
        <p:spPr>
          <a:xfrm>
            <a:off x="839788" y="4839679"/>
            <a:ext cx="10507662" cy="1305379"/>
          </a:xfrm>
        </p:spPr>
        <p:txBody>
          <a:bodyPr vert="horz" lIns="91440" tIns="45720" rIns="91440" bIns="45720" rtlCol="0">
            <a:noAutofit/>
          </a:bodyPr>
          <a:lstStyle>
            <a:lvl1pPr marL="0" indent="0" algn="ctr">
              <a:buNone/>
              <a:defRPr lang="en-US" b="0" cap="none" baseline="0"/>
            </a:lvl1pPr>
          </a:lstStyle>
          <a:p>
            <a:pPr marL="228600" lvl="0" indent="-228600" algn="ctr">
              <a:lnSpc>
                <a:spcPct val="100000"/>
              </a:lnSpc>
            </a:pPr>
            <a:r>
              <a:rPr lang="en-US" noProof="0"/>
              <a:t>Edit Master text styles</a:t>
            </a:r>
          </a:p>
        </p:txBody>
      </p:sp>
      <p:sp>
        <p:nvSpPr>
          <p:cNvPr id="15" name="Picture Placeholder 2">
            <a:extLst>
              <a:ext uri="{FF2B5EF4-FFF2-40B4-BE49-F238E27FC236}">
                <a16:creationId xmlns:a16="http://schemas.microsoft.com/office/drawing/2014/main" id="{12087456-C0E8-4AA6-81E8-996CEC037E57}"/>
              </a:ext>
            </a:extLst>
          </p:cNvPr>
          <p:cNvSpPr>
            <a:spLocks noGrp="1"/>
          </p:cNvSpPr>
          <p:nvPr>
            <p:ph type="pic" idx="1"/>
          </p:nvPr>
        </p:nvSpPr>
        <p:spPr>
          <a:xfrm>
            <a:off x="0" y="1"/>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30" name="Text Placeholder 3">
            <a:extLst>
              <a:ext uri="{FF2B5EF4-FFF2-40B4-BE49-F238E27FC236}">
                <a16:creationId xmlns:a16="http://schemas.microsoft.com/office/drawing/2014/main" id="{1B247C0B-04BA-4D5C-A41D-AEA60217241B}"/>
              </a:ext>
            </a:extLst>
          </p:cNvPr>
          <p:cNvSpPr>
            <a:spLocks noGrp="1"/>
          </p:cNvSpPr>
          <p:nvPr>
            <p:ph type="body" sz="half" idx="2" hasCustomPrompt="1"/>
          </p:nvPr>
        </p:nvSpPr>
        <p:spPr>
          <a:xfrm>
            <a:off x="363416" y="2057400"/>
            <a:ext cx="3206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31" name="Content Placeholder 2">
            <a:extLst>
              <a:ext uri="{FF2B5EF4-FFF2-40B4-BE49-F238E27FC236}">
                <a16:creationId xmlns:a16="http://schemas.microsoft.com/office/drawing/2014/main" id="{194C619D-34F6-4A29-857A-D76007218728}"/>
              </a:ext>
            </a:extLst>
          </p:cNvPr>
          <p:cNvSpPr>
            <a:spLocks noGrp="1"/>
          </p:cNvSpPr>
          <p:nvPr>
            <p:ph idx="1" hasCustomPrompt="1"/>
          </p:nvPr>
        </p:nvSpPr>
        <p:spPr>
          <a:xfrm>
            <a:off x="3888084" y="246187"/>
            <a:ext cx="7467304"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Oval 12">
            <a:extLst>
              <a:ext uri="{FF2B5EF4-FFF2-40B4-BE49-F238E27FC236}">
                <a16:creationId xmlns:a16="http://schemas.microsoft.com/office/drawing/2014/main" id="{82D9D565-739D-4898-97BD-79EB8C7F91EC}"/>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620FADA3-E777-489C-976D-0B0C4FD31310}"/>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a16="http://schemas.microsoft.com/office/drawing/2014/main" id="{8DCE8039-0D05-4A75-878A-907B8D44B9E7}"/>
              </a:ext>
            </a:extLst>
          </p:cNvPr>
          <p:cNvGrpSpPr/>
          <p:nvPr userDrawn="1"/>
        </p:nvGrpSpPr>
        <p:grpSpPr>
          <a:xfrm>
            <a:off x="363416" y="421045"/>
            <a:ext cx="748798" cy="134113"/>
            <a:chOff x="4827813" y="2534636"/>
            <a:chExt cx="996651" cy="178504"/>
          </a:xfrm>
        </p:grpSpPr>
        <p:sp>
          <p:nvSpPr>
            <p:cNvPr id="5" name="Oval 4">
              <a:extLst>
                <a:ext uri="{FF2B5EF4-FFF2-40B4-BE49-F238E27FC236}">
                  <a16:creationId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Oval 7">
              <a:extLst>
                <a:ext uri="{FF2B5EF4-FFF2-40B4-BE49-F238E27FC236}">
                  <a16:creationId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D79E1-5F46-41CA-85E7-44C2A6C62820}"/>
              </a:ext>
            </a:extLst>
          </p:cNvPr>
          <p:cNvSpPr>
            <a:spLocks noGrp="1"/>
          </p:cNvSpPr>
          <p:nvPr>
            <p:ph type="title"/>
          </p:nvPr>
        </p:nvSpPr>
        <p:spPr>
          <a:xfrm>
            <a:off x="363416" y="365125"/>
            <a:ext cx="11465168" cy="918553"/>
          </a:xfrm>
          <a:prstGeom prst="rect">
            <a:avLst/>
          </a:prstGeom>
        </p:spPr>
        <p:txBody>
          <a:bodyPr vert="horz" lIns="0" tIns="0" rIns="0" bIns="0" rtlCol="0" anchor="b">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7B0B511-05FD-459E-AC79-A87540961FC1}"/>
              </a:ext>
            </a:extLst>
          </p:cNvPr>
          <p:cNvSpPr>
            <a:spLocks noGrp="1"/>
          </p:cNvSpPr>
          <p:nvPr>
            <p:ph type="body" idx="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FC32B635-1E22-483C-94B9-F587908DE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6DB98321-594C-4030-A2B0-3492F77EE03E}"/>
              </a:ext>
            </a:extLst>
          </p:cNvPr>
          <p:cNvSpPr>
            <a:spLocks noGrp="1"/>
          </p:cNvSpPr>
          <p:nvPr>
            <p:ph type="sldNum" sz="quarter" idx="4"/>
          </p:nvPr>
        </p:nvSpPr>
        <p:spPr>
          <a:xfrm>
            <a:off x="9085384"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59CD-8DFF-4AF2-B957-630ED2A60E8D}"/>
              </a:ext>
            </a:extLst>
          </p:cNvPr>
          <p:cNvSpPr>
            <a:spLocks noGrp="1"/>
          </p:cNvSpPr>
          <p:nvPr>
            <p:ph type="ctrTitle"/>
          </p:nvPr>
        </p:nvSpPr>
        <p:spPr>
          <a:xfrm>
            <a:off x="4686300" y="3080165"/>
            <a:ext cx="7233557" cy="832077"/>
          </a:xfrm>
        </p:spPr>
        <p:txBody>
          <a:bodyPr>
            <a:normAutofit fontScale="90000"/>
          </a:bodyPr>
          <a:lstStyle/>
          <a:p>
            <a:r>
              <a:rPr lang="en-US" sz="2200" dirty="0">
                <a:solidFill>
                  <a:srgbClr val="7030A0"/>
                </a:solidFill>
              </a:rPr>
              <a:t>LECTURE THREE:</a:t>
            </a:r>
            <a:br>
              <a:rPr lang="en-US" dirty="0"/>
            </a:br>
            <a:r>
              <a:rPr lang="en-US" sz="3600" dirty="0"/>
              <a:t>FUNDAMNENTAL CONCEPTS OF TELEVISION</a:t>
            </a:r>
            <a:endParaRPr lang="en-IN" dirty="0"/>
          </a:p>
        </p:txBody>
      </p:sp>
      <p:pic>
        <p:nvPicPr>
          <p:cNvPr id="7" name="Picture Placeholder 6"/>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469" r="12469"/>
          <a:stretch>
            <a:fillRect/>
          </a:stretch>
        </p:blipFill>
        <p:spPr/>
      </p:pic>
      <p:sp>
        <p:nvSpPr>
          <p:cNvPr id="8" name="Rectangle 7"/>
          <p:cNvSpPr/>
          <p:nvPr/>
        </p:nvSpPr>
        <p:spPr>
          <a:xfrm>
            <a:off x="4864989" y="211257"/>
            <a:ext cx="6876177" cy="7694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4400" b="1" cap="none" spc="0" dirty="0">
                <a:ln w="10160">
                  <a:solidFill>
                    <a:schemeClr val="accent5"/>
                  </a:solidFill>
                  <a:prstDash val="solid"/>
                </a:ln>
                <a:solidFill>
                  <a:schemeClr val="accent5"/>
                </a:solidFill>
                <a:effectLst>
                  <a:outerShdw blurRad="38100" dist="22860" dir="5400000" algn="tl" rotWithShape="0">
                    <a:srgbClr val="000000">
                      <a:alpha val="30000"/>
                    </a:srgbClr>
                  </a:outerShdw>
                </a:effectLst>
              </a:rPr>
              <a:t>ET 8105 – Television Systems</a:t>
            </a:r>
          </a:p>
        </p:txBody>
      </p:sp>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Scanning is the process of extracting signals pertaining to the individual elements of a picture (pixels) in quick succession one after the other.</a:t>
            </a:r>
          </a:p>
          <a:p>
            <a:pPr algn="just"/>
            <a:r>
              <a:rPr lang="en-US" sz="2800" dirty="0">
                <a:latin typeface="Palatino Linotype" panose="02040502050505030304" pitchFamily="18" charset="0"/>
              </a:rPr>
              <a:t>When an image of a scene falls on the surface of a photosensitive target of a semi-conductor, an image in the form of electrical charge is formed due to generation of electrons; more electrons for the brighter pixels and less electrons for the less bright pixels. </a:t>
            </a:r>
          </a:p>
          <a:p>
            <a:pPr algn="just"/>
            <a:r>
              <a:rPr lang="en-US" sz="2800" dirty="0">
                <a:latin typeface="Palatino Linotype" panose="02040502050505030304" pitchFamily="18" charset="0"/>
              </a:rPr>
              <a:t>These electrons are removed by a positive potential, resulting in a charge image on the surface of the target.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Scanning</a:t>
            </a:r>
          </a:p>
        </p:txBody>
      </p:sp>
    </p:spTree>
    <p:extLst>
      <p:ext uri="{BB962C8B-B14F-4D97-AF65-F5344CB8AC3E}">
        <p14:creationId xmlns:p14="http://schemas.microsoft.com/office/powerpoint/2010/main" val="418998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a:t>
            </a:fld>
            <a:endParaRPr lang="en-US" noProof="0" dirty="0"/>
          </a:p>
        </p:txBody>
      </p:sp>
      <p:sp>
        <p:nvSpPr>
          <p:cNvPr id="3" name="Content Placeholder 2"/>
          <p:cNvSpPr txBox="1">
            <a:spLocks/>
          </p:cNvSpPr>
          <p:nvPr/>
        </p:nvSpPr>
        <p:spPr>
          <a:xfrm>
            <a:off x="363416" y="685800"/>
            <a:ext cx="11465168" cy="549116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This charge image is the replica of the optical image of the scene because the charge on every point on the surface of the target is proportional to the intensity of light in the corresponding pixel. </a:t>
            </a:r>
          </a:p>
          <a:p>
            <a:pPr algn="just"/>
            <a:r>
              <a:rPr lang="en-US" sz="2800" dirty="0">
                <a:latin typeface="Palatino Linotype" panose="02040502050505030304" pitchFamily="18" charset="0"/>
              </a:rPr>
              <a:t>Each point of charge on the surface of the target may be called a pixel of charge on the analogy of pixels of a picture. </a:t>
            </a:r>
          </a:p>
          <a:p>
            <a:pPr algn="just"/>
            <a:r>
              <a:rPr lang="en-US" sz="2800" dirty="0">
                <a:latin typeface="Palatino Linotype" panose="02040502050505030304" pitchFamily="18" charset="0"/>
              </a:rPr>
              <a:t>It is this charge image which should be converted into electrical signal. </a:t>
            </a:r>
          </a:p>
          <a:p>
            <a:pPr algn="just"/>
            <a:r>
              <a:rPr lang="en-US" sz="2800" dirty="0">
                <a:latin typeface="Palatino Linotype" panose="02040502050505030304" pitchFamily="18" charset="0"/>
              </a:rPr>
              <a:t>For this, individual pixels of the charge image are explored in quick succession with the help of an electronic beam. </a:t>
            </a:r>
          </a:p>
          <a:p>
            <a:pPr algn="just"/>
            <a:r>
              <a:rPr lang="en-US" sz="2800" dirty="0">
                <a:latin typeface="Palatino Linotype" panose="02040502050505030304" pitchFamily="18" charset="0"/>
              </a:rPr>
              <a:t>Scanning of the charge image converts the charges on the surface of the target into electrical signal varying in time frame, called </a:t>
            </a:r>
            <a:r>
              <a:rPr lang="en-US" sz="2800" b="1" dirty="0">
                <a:solidFill>
                  <a:schemeClr val="accent1"/>
                </a:solidFill>
                <a:latin typeface="Palatino Linotype" panose="02040502050505030304" pitchFamily="18" charset="0"/>
              </a:rPr>
              <a:t>video signal.</a:t>
            </a:r>
          </a:p>
        </p:txBody>
      </p:sp>
    </p:spTree>
    <p:extLst>
      <p:ext uri="{BB962C8B-B14F-4D97-AF65-F5344CB8AC3E}">
        <p14:creationId xmlns:p14="http://schemas.microsoft.com/office/powerpoint/2010/main" val="3168309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a:t>
            </a:fld>
            <a:endParaRPr lang="en-US" noProof="0" dirty="0"/>
          </a:p>
        </p:txBody>
      </p:sp>
      <p:sp>
        <p:nvSpPr>
          <p:cNvPr id="3" name="Content Placeholder 2"/>
          <p:cNvSpPr txBox="1">
            <a:spLocks/>
          </p:cNvSpPr>
          <p:nvPr/>
        </p:nvSpPr>
        <p:spPr>
          <a:xfrm>
            <a:off x="363416" y="685800"/>
            <a:ext cx="11465168" cy="561109"/>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A simplified illustration of formation of charge image</a:t>
            </a:r>
            <a:endParaRPr lang="en-US" sz="2800" b="1" dirty="0">
              <a:solidFill>
                <a:schemeClr val="accent1"/>
              </a:solidFill>
              <a:latin typeface="Palatino Linotype" panose="02040502050505030304" pitchFamily="18" charset="0"/>
            </a:endParaRPr>
          </a:p>
        </p:txBody>
      </p:sp>
      <p:pic>
        <p:nvPicPr>
          <p:cNvPr id="4" name="Picture 3"/>
          <p:cNvPicPr>
            <a:picLocks noChangeAspect="1"/>
          </p:cNvPicPr>
          <p:nvPr/>
        </p:nvPicPr>
        <p:blipFill>
          <a:blip r:embed="rId2"/>
          <a:stretch>
            <a:fillRect/>
          </a:stretch>
        </p:blipFill>
        <p:spPr>
          <a:xfrm>
            <a:off x="238724" y="1246909"/>
            <a:ext cx="8722889" cy="4842164"/>
          </a:xfrm>
          <a:prstGeom prst="rect">
            <a:avLst/>
          </a:prstGeom>
        </p:spPr>
      </p:pic>
      <p:sp>
        <p:nvSpPr>
          <p:cNvPr id="5" name="Rectangle 4"/>
          <p:cNvSpPr/>
          <p:nvPr/>
        </p:nvSpPr>
        <p:spPr>
          <a:xfrm>
            <a:off x="9393380" y="1429591"/>
            <a:ext cx="2611582" cy="4401205"/>
          </a:xfrm>
          <a:prstGeom prst="rect">
            <a:avLst/>
          </a:prstGeom>
          <a:solidFill>
            <a:schemeClr val="accent1">
              <a:lumMod val="60000"/>
              <a:lumOff val="40000"/>
            </a:schemeClr>
          </a:solidFill>
        </p:spPr>
        <p:txBody>
          <a:bodyPr wrap="square">
            <a:spAutoFit/>
          </a:bodyPr>
          <a:lstStyle/>
          <a:p>
            <a:pPr marL="342900" indent="-342900" algn="just">
              <a:buAutoNum type="alphaLcParenR"/>
            </a:pPr>
            <a:r>
              <a:rPr lang="en-US" sz="2000" b="1" dirty="0">
                <a:latin typeface="Palatino Linotype" panose="02040502050505030304" pitchFamily="18" charset="0"/>
              </a:rPr>
              <a:t>Original picture</a:t>
            </a:r>
          </a:p>
          <a:p>
            <a:pPr marL="342900" indent="-342900" algn="just">
              <a:buAutoNum type="alphaLcParenR"/>
            </a:pPr>
            <a:r>
              <a:rPr lang="en-US" sz="2000" b="1" dirty="0">
                <a:latin typeface="Palatino Linotype" panose="02040502050505030304" pitchFamily="18" charset="0"/>
              </a:rPr>
              <a:t>Charge image of the picture</a:t>
            </a:r>
          </a:p>
          <a:p>
            <a:pPr marL="342900" indent="-342900" algn="just">
              <a:buAutoNum type="alphaLcParenR"/>
            </a:pPr>
            <a:r>
              <a:rPr lang="en-US" sz="2000" b="1" dirty="0">
                <a:latin typeface="Palatino Linotype" panose="02040502050505030304" pitchFamily="18" charset="0"/>
              </a:rPr>
              <a:t>Brightness levels in the picture along horizontal line AB on the picture</a:t>
            </a:r>
          </a:p>
          <a:p>
            <a:pPr marL="342900" indent="-342900" algn="just">
              <a:buAutoNum type="alphaLcParenR"/>
            </a:pPr>
            <a:r>
              <a:rPr lang="en-US" sz="2000" b="1" dirty="0">
                <a:latin typeface="Palatino Linotype" panose="02040502050505030304" pitchFamily="18" charset="0"/>
              </a:rPr>
              <a:t>Positive charge along the corresponding scanning line A’B’ on the charge image</a:t>
            </a:r>
          </a:p>
        </p:txBody>
      </p:sp>
    </p:spTree>
    <p:extLst>
      <p:ext uri="{BB962C8B-B14F-4D97-AF65-F5344CB8AC3E}">
        <p14:creationId xmlns:p14="http://schemas.microsoft.com/office/powerpoint/2010/main" val="293868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a:t>
            </a:fld>
            <a:endParaRPr lang="en-US" noProof="0" dirty="0"/>
          </a:p>
        </p:txBody>
      </p:sp>
      <p:sp>
        <p:nvSpPr>
          <p:cNvPr id="3" name="Content Placeholder 2"/>
          <p:cNvSpPr txBox="1">
            <a:spLocks/>
          </p:cNvSpPr>
          <p:nvPr/>
        </p:nvSpPr>
        <p:spPr>
          <a:xfrm>
            <a:off x="363416" y="685800"/>
            <a:ext cx="11465168" cy="5491163"/>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Similar scanning is done at the receiver. </a:t>
            </a:r>
          </a:p>
          <a:p>
            <a:pPr algn="just"/>
            <a:r>
              <a:rPr lang="en-US" sz="2800" dirty="0">
                <a:latin typeface="Palatino Linotype" panose="02040502050505030304" pitchFamily="18" charset="0"/>
              </a:rPr>
              <a:t>There, the video signal is used to change the strength of the scanning electronic beam which glows the phosphor elements on the surface of a fluorescent screen.</a:t>
            </a:r>
          </a:p>
        </p:txBody>
      </p:sp>
    </p:spTree>
    <p:extLst>
      <p:ext uri="{BB962C8B-B14F-4D97-AF65-F5344CB8AC3E}">
        <p14:creationId xmlns:p14="http://schemas.microsoft.com/office/powerpoint/2010/main" val="2818336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To transmit all the variations of light present in the space of a picture at a single instant of time, thousands of channels would be needed. </a:t>
            </a:r>
          </a:p>
          <a:p>
            <a:pPr algn="just"/>
            <a:r>
              <a:rPr lang="en-US" sz="2800" dirty="0">
                <a:latin typeface="Palatino Linotype" panose="02040502050505030304" pitchFamily="18" charset="0"/>
              </a:rPr>
              <a:t>It is not feasible to use so many channels to transmit a single </a:t>
            </a:r>
            <a:r>
              <a:rPr lang="en-US" sz="2800" dirty="0" err="1">
                <a:latin typeface="Palatino Linotype" panose="02040502050505030304" pitchFamily="18" charset="0"/>
              </a:rPr>
              <a:t>programme</a:t>
            </a:r>
            <a:endParaRPr lang="en-US" sz="2800" dirty="0">
              <a:latin typeface="Palatino Linotype" panose="02040502050505030304" pitchFamily="18" charset="0"/>
            </a:endParaRPr>
          </a:p>
          <a:p>
            <a:pPr algn="just"/>
            <a:r>
              <a:rPr lang="en-US" sz="2800" dirty="0">
                <a:latin typeface="Palatino Linotype" panose="02040502050505030304" pitchFamily="18" charset="0"/>
              </a:rPr>
              <a:t>Thus, the first requirement for transmitting the variations of light in a picture is to convert them into signals varying with time so that there is only a single variation at any one instant. </a:t>
            </a:r>
          </a:p>
          <a:p>
            <a:pPr algn="just"/>
            <a:r>
              <a:rPr lang="en-US" sz="2800" dirty="0">
                <a:latin typeface="Palatino Linotype" panose="02040502050505030304" pitchFamily="18" charset="0"/>
              </a:rPr>
              <a:t>Hence the need of scanning.</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Need of Scanning</a:t>
            </a:r>
          </a:p>
        </p:txBody>
      </p:sp>
    </p:spTree>
    <p:extLst>
      <p:ext uri="{BB962C8B-B14F-4D97-AF65-F5344CB8AC3E}">
        <p14:creationId xmlns:p14="http://schemas.microsoft.com/office/powerpoint/2010/main" val="1840203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Horizontal and vertical scanning of the charge image in a camera tube and of the phosphors on the fluorescent screen of a picture tube is accomplished by deflecting a well focused spot of the electron beam horizontally from left to right and vertically from top to bottom.</a:t>
            </a:r>
          </a:p>
          <a:p>
            <a:pPr algn="just"/>
            <a:r>
              <a:rPr lang="en-US" sz="2800" dirty="0">
                <a:latin typeface="Palatino Linotype" panose="02040502050505030304" pitchFamily="18" charset="0"/>
              </a:rPr>
              <a:t>Horizontal scanning is fast, it takes 64 </a:t>
            </a:r>
            <a:r>
              <a:rPr lang="el-GR" sz="2800" dirty="0">
                <a:latin typeface="Palatino Linotype" panose="02040502050505030304" pitchFamily="18" charset="0"/>
              </a:rPr>
              <a:t>μ</a:t>
            </a:r>
            <a:r>
              <a:rPr lang="en-US" sz="2800" dirty="0">
                <a:latin typeface="Palatino Linotype" panose="02040502050505030304" pitchFamily="18" charset="0"/>
              </a:rPr>
              <a:t>s for one scanning line.</a:t>
            </a:r>
          </a:p>
          <a:p>
            <a:pPr algn="just"/>
            <a:r>
              <a:rPr lang="en-US" sz="2800" dirty="0">
                <a:latin typeface="Palatino Linotype" panose="02040502050505030304" pitchFamily="18" charset="0"/>
              </a:rPr>
              <a:t>Vertical deflection is slow and takes 20,000 </a:t>
            </a:r>
            <a:r>
              <a:rPr lang="el-GR" sz="2800" dirty="0">
                <a:latin typeface="Palatino Linotype" panose="02040502050505030304" pitchFamily="18" charset="0"/>
              </a:rPr>
              <a:t>μ</a:t>
            </a:r>
            <a:r>
              <a:rPr lang="en-US" sz="2800" dirty="0">
                <a:latin typeface="Palatino Linotype" panose="02040502050505030304" pitchFamily="18" charset="0"/>
              </a:rPr>
              <a:t>s  (or 20 </a:t>
            </a:r>
            <a:r>
              <a:rPr lang="en-US" sz="2800" dirty="0" err="1">
                <a:latin typeface="Palatino Linotype" panose="02040502050505030304" pitchFamily="18" charset="0"/>
              </a:rPr>
              <a:t>ms</a:t>
            </a:r>
            <a:r>
              <a:rPr lang="en-US" sz="2800" dirty="0">
                <a:latin typeface="Palatino Linotype" panose="02040502050505030304" pitchFamily="18" charset="0"/>
              </a:rPr>
              <a:t>) in deflecting the beam from top to bottom.</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Sawtooth</a:t>
            </a:r>
            <a:r>
              <a:rPr lang="en-US" sz="3600" dirty="0">
                <a:latin typeface="Palatino Linotype" panose="02040502050505030304" pitchFamily="18" charset="0"/>
              </a:rPr>
              <a:t> Currents for Scanning</a:t>
            </a:r>
          </a:p>
        </p:txBody>
      </p:sp>
    </p:spTree>
    <p:extLst>
      <p:ext uri="{BB962C8B-B14F-4D97-AF65-F5344CB8AC3E}">
        <p14:creationId xmlns:p14="http://schemas.microsoft.com/office/powerpoint/2010/main" val="4000552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a:t>
            </a:fld>
            <a:endParaRPr lang="en-US" noProof="0" dirty="0"/>
          </a:p>
        </p:txBody>
      </p:sp>
      <p:pic>
        <p:nvPicPr>
          <p:cNvPr id="3" name="Picture 2"/>
          <p:cNvPicPr>
            <a:picLocks noChangeAspect="1"/>
          </p:cNvPicPr>
          <p:nvPr/>
        </p:nvPicPr>
        <p:blipFill>
          <a:blip r:embed="rId2"/>
          <a:stretch>
            <a:fillRect/>
          </a:stretch>
        </p:blipFill>
        <p:spPr>
          <a:xfrm>
            <a:off x="187036" y="1101436"/>
            <a:ext cx="3860870" cy="2850407"/>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a:blip r:embed="rId3"/>
          <a:stretch>
            <a:fillRect/>
          </a:stretch>
        </p:blipFill>
        <p:spPr>
          <a:xfrm>
            <a:off x="4444114" y="1101436"/>
            <a:ext cx="7384470" cy="2556163"/>
          </a:xfrm>
          <a:prstGeom prst="rect">
            <a:avLst/>
          </a:prstGeom>
          <a:ln>
            <a:noFill/>
          </a:ln>
          <a:effectLst>
            <a:outerShdw blurRad="190500" algn="tl" rotWithShape="0">
              <a:srgbClr val="000000">
                <a:alpha val="70000"/>
              </a:srgbClr>
            </a:outerShdw>
          </a:effectLst>
        </p:spPr>
      </p:pic>
      <p:sp>
        <p:nvSpPr>
          <p:cNvPr id="6" name="Rectangle 5"/>
          <p:cNvSpPr/>
          <p:nvPr/>
        </p:nvSpPr>
        <p:spPr>
          <a:xfrm>
            <a:off x="187036" y="4103559"/>
            <a:ext cx="3860870" cy="830997"/>
          </a:xfrm>
          <a:prstGeom prst="rect">
            <a:avLst/>
          </a:prstGeom>
          <a:solidFill>
            <a:schemeClr val="accent4">
              <a:lumMod val="75000"/>
            </a:schemeClr>
          </a:solidFill>
        </p:spPr>
        <p:txBody>
          <a:bodyPr wrap="square">
            <a:spAutoFit/>
          </a:bodyPr>
          <a:lstStyle/>
          <a:p>
            <a:pPr algn="ctr"/>
            <a:r>
              <a:rPr lang="en-US" sz="2400" b="1" dirty="0" err="1">
                <a:latin typeface="Palatino Linotype" panose="02040502050505030304" pitchFamily="18" charset="0"/>
              </a:rPr>
              <a:t>Sawtooth</a:t>
            </a:r>
            <a:r>
              <a:rPr lang="en-US" sz="2400" b="1" dirty="0">
                <a:latin typeface="Palatino Linotype" panose="02040502050505030304" pitchFamily="18" charset="0"/>
              </a:rPr>
              <a:t> current for horizontal deflection</a:t>
            </a:r>
            <a:endParaRPr lang="en-US" sz="2400" b="1" dirty="0"/>
          </a:p>
        </p:txBody>
      </p:sp>
      <p:sp>
        <p:nvSpPr>
          <p:cNvPr id="7" name="Rectangle 6"/>
          <p:cNvSpPr/>
          <p:nvPr/>
        </p:nvSpPr>
        <p:spPr>
          <a:xfrm>
            <a:off x="6205914" y="3951843"/>
            <a:ext cx="3860870" cy="830997"/>
          </a:xfrm>
          <a:prstGeom prst="rect">
            <a:avLst/>
          </a:prstGeom>
          <a:solidFill>
            <a:schemeClr val="accent4">
              <a:lumMod val="75000"/>
            </a:schemeClr>
          </a:solidFill>
        </p:spPr>
        <p:txBody>
          <a:bodyPr wrap="square">
            <a:spAutoFit/>
          </a:bodyPr>
          <a:lstStyle/>
          <a:p>
            <a:pPr algn="ctr"/>
            <a:r>
              <a:rPr lang="en-US" sz="2400" b="1" dirty="0" err="1">
                <a:latin typeface="Palatino Linotype" panose="02040502050505030304" pitchFamily="18" charset="0"/>
              </a:rPr>
              <a:t>Sawtooth</a:t>
            </a:r>
            <a:r>
              <a:rPr lang="en-US" sz="2400" b="1" dirty="0">
                <a:latin typeface="Palatino Linotype" panose="02040502050505030304" pitchFamily="18" charset="0"/>
              </a:rPr>
              <a:t> current for vertical deflection</a:t>
            </a:r>
            <a:endParaRPr lang="en-US" sz="2400" b="1" dirty="0"/>
          </a:p>
        </p:txBody>
      </p:sp>
      <p:sp>
        <p:nvSpPr>
          <p:cNvPr id="8" name="Rectangle 7"/>
          <p:cNvSpPr/>
          <p:nvPr/>
        </p:nvSpPr>
        <p:spPr>
          <a:xfrm>
            <a:off x="187036" y="5202904"/>
            <a:ext cx="11409220" cy="1384995"/>
          </a:xfrm>
          <a:prstGeom prst="rect">
            <a:avLst/>
          </a:prstGeom>
        </p:spPr>
        <p:txBody>
          <a:bodyPr wrap="square">
            <a:spAutoFit/>
          </a:bodyPr>
          <a:lstStyle/>
          <a:p>
            <a:pPr algn="just"/>
            <a:r>
              <a:rPr lang="en-US" sz="2800" dirty="0">
                <a:latin typeface="Palatino Linotype" panose="02040502050505030304" pitchFamily="18" charset="0"/>
              </a:rPr>
              <a:t>For horizontal and vertical deflections, </a:t>
            </a:r>
            <a:r>
              <a:rPr lang="en-US" sz="2800" dirty="0" err="1">
                <a:latin typeface="Palatino Linotype" panose="02040502050505030304" pitchFamily="18" charset="0"/>
              </a:rPr>
              <a:t>sawtooth</a:t>
            </a:r>
            <a:r>
              <a:rPr lang="en-US" sz="2800" dirty="0">
                <a:latin typeface="Palatino Linotype" panose="02040502050505030304" pitchFamily="18" charset="0"/>
              </a:rPr>
              <a:t> currents are made to flow in the deflection coils in the respective camera tube at the transmitter, and in the picture tube at the receiver.</a:t>
            </a:r>
            <a:endParaRPr lang="en-US" sz="2800" dirty="0"/>
          </a:p>
        </p:txBody>
      </p:sp>
    </p:spTree>
    <p:extLst>
      <p:ext uri="{BB962C8B-B14F-4D97-AF65-F5344CB8AC3E}">
        <p14:creationId xmlns:p14="http://schemas.microsoft.com/office/powerpoint/2010/main" val="710560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a:t>
            </a:fld>
            <a:endParaRPr lang="en-US" noProof="0" dirty="0"/>
          </a:p>
        </p:txBody>
      </p:sp>
      <p:sp>
        <p:nvSpPr>
          <p:cNvPr id="3" name="Content Placeholder 2"/>
          <p:cNvSpPr>
            <a:spLocks noGrp="1"/>
          </p:cNvSpPr>
          <p:nvPr>
            <p:ph idx="1"/>
          </p:nvPr>
        </p:nvSpPr>
        <p:spPr>
          <a:xfrm>
            <a:off x="363415" y="1825625"/>
            <a:ext cx="5226893" cy="4351338"/>
          </a:xfrm>
        </p:spPr>
        <p:txBody>
          <a:bodyPr>
            <a:normAutofit/>
          </a:bodyPr>
          <a:lstStyle/>
          <a:p>
            <a:pPr algn="just"/>
            <a:r>
              <a:rPr lang="en-US" sz="2800" dirty="0">
                <a:latin typeface="Palatino Linotype" panose="02040502050505030304" pitchFamily="18" charset="0"/>
              </a:rPr>
              <a:t>When one cycle of vertical </a:t>
            </a:r>
            <a:r>
              <a:rPr lang="en-US" sz="2800" dirty="0" err="1">
                <a:latin typeface="Palatino Linotype" panose="02040502050505030304" pitchFamily="18" charset="0"/>
              </a:rPr>
              <a:t>sawtooth</a:t>
            </a:r>
            <a:r>
              <a:rPr lang="en-US" sz="2800" dirty="0">
                <a:latin typeface="Palatino Linotype" panose="02040502050505030304" pitchFamily="18" charset="0"/>
              </a:rPr>
              <a:t> current completes scanning of one frame and the next cycle starts scanning of a new frame, it is called progressive scanning.</a:t>
            </a:r>
          </a:p>
          <a:p>
            <a:pPr algn="just"/>
            <a:r>
              <a:rPr lang="en-US" sz="2800" dirty="0">
                <a:latin typeface="Palatino Linotype" panose="02040502050505030304" pitchFamily="18" charset="0"/>
              </a:rPr>
              <a:t>Progressive scanning is like reading a book, with each line sloping downward.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Progressive Scanning</a:t>
            </a:r>
          </a:p>
        </p:txBody>
      </p:sp>
      <p:pic>
        <p:nvPicPr>
          <p:cNvPr id="5" name="Picture 4"/>
          <p:cNvPicPr>
            <a:picLocks noChangeAspect="1"/>
          </p:cNvPicPr>
          <p:nvPr/>
        </p:nvPicPr>
        <p:blipFill>
          <a:blip r:embed="rId2"/>
          <a:stretch>
            <a:fillRect/>
          </a:stretch>
        </p:blipFill>
        <p:spPr>
          <a:xfrm>
            <a:off x="5918212" y="1603607"/>
            <a:ext cx="6031332" cy="4365536"/>
          </a:xfrm>
          <a:prstGeom prst="rect">
            <a:avLst/>
          </a:prstGeom>
          <a:ln>
            <a:noFill/>
          </a:ln>
          <a:effectLst>
            <a:outerShdw blurRad="190500" algn="tl" rotWithShape="0">
              <a:srgbClr val="000000">
                <a:alpha val="70000"/>
              </a:srgbClr>
            </a:outerShdw>
          </a:effectLst>
        </p:spPr>
      </p:pic>
      <p:sp>
        <p:nvSpPr>
          <p:cNvPr id="6" name="Rectangle 5"/>
          <p:cNvSpPr/>
          <p:nvPr/>
        </p:nvSpPr>
        <p:spPr>
          <a:xfrm>
            <a:off x="7640563" y="6073076"/>
            <a:ext cx="2833724" cy="461665"/>
          </a:xfrm>
          <a:prstGeom prst="rect">
            <a:avLst/>
          </a:prstGeom>
          <a:solidFill>
            <a:schemeClr val="accent4">
              <a:lumMod val="75000"/>
            </a:schemeClr>
          </a:solidFill>
        </p:spPr>
        <p:txBody>
          <a:bodyPr wrap="none">
            <a:spAutoFit/>
          </a:bodyPr>
          <a:lstStyle/>
          <a:p>
            <a:r>
              <a:rPr lang="en-US" sz="2400" b="1"/>
              <a:t>Progressive scanning</a:t>
            </a:r>
          </a:p>
        </p:txBody>
      </p:sp>
    </p:spTree>
    <p:extLst>
      <p:ext uri="{BB962C8B-B14F-4D97-AF65-F5344CB8AC3E}">
        <p14:creationId xmlns:p14="http://schemas.microsoft.com/office/powerpoint/2010/main" val="2930526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10</a:t>
            </a:fld>
            <a:endParaRPr lang="en-US" noProof="0" dirty="0"/>
          </a:p>
        </p:txBody>
      </p:sp>
      <p:sp>
        <p:nvSpPr>
          <p:cNvPr id="3" name="Content Placeholder 2"/>
          <p:cNvSpPr>
            <a:spLocks noGrp="1"/>
          </p:cNvSpPr>
          <p:nvPr>
            <p:ph idx="1"/>
          </p:nvPr>
        </p:nvSpPr>
        <p:spPr>
          <a:xfrm>
            <a:off x="363416" y="1662545"/>
            <a:ext cx="11465168" cy="4514418"/>
          </a:xfrm>
        </p:spPr>
        <p:txBody>
          <a:bodyPr>
            <a:normAutofit/>
          </a:bodyPr>
          <a:lstStyle/>
          <a:p>
            <a:pPr algn="just"/>
            <a:r>
              <a:rPr lang="en-US" sz="2800" dirty="0">
                <a:latin typeface="Palatino Linotype" panose="02040502050505030304" pitchFamily="18" charset="0"/>
              </a:rPr>
              <a:t>In progressive scanning, 25 frames per second are scanned in European system.</a:t>
            </a:r>
          </a:p>
          <a:p>
            <a:pPr algn="just"/>
            <a:r>
              <a:rPr lang="en-US" sz="2800" dirty="0">
                <a:latin typeface="Palatino Linotype" panose="02040502050505030304" pitchFamily="18" charset="0"/>
              </a:rPr>
              <a:t>When the scanning beam flips from bottom to the top of the picture frame, it takes about 1280 </a:t>
            </a:r>
            <a:r>
              <a:rPr lang="el-GR" sz="2800" dirty="0">
                <a:latin typeface="Palatino Linotype" panose="02040502050505030304" pitchFamily="18" charset="0"/>
              </a:rPr>
              <a:t>μ</a:t>
            </a:r>
            <a:r>
              <a:rPr lang="en-US" sz="2800" dirty="0">
                <a:latin typeface="Palatino Linotype" panose="02040502050505030304" pitchFamily="18" charset="0"/>
              </a:rPr>
              <a:t>s.</a:t>
            </a:r>
          </a:p>
          <a:p>
            <a:pPr algn="just"/>
            <a:r>
              <a:rPr lang="en-US" sz="2800" dirty="0">
                <a:latin typeface="Palatino Linotype" panose="02040502050505030304" pitchFamily="18" charset="0"/>
              </a:rPr>
              <a:t>This retrace of 1280 </a:t>
            </a:r>
            <a:r>
              <a:rPr lang="el-GR" sz="2800" dirty="0">
                <a:latin typeface="Palatino Linotype" panose="02040502050505030304" pitchFamily="18" charset="0"/>
              </a:rPr>
              <a:t>μ</a:t>
            </a:r>
            <a:r>
              <a:rPr lang="en-US" sz="2800" dirty="0">
                <a:latin typeface="Palatino Linotype" panose="02040502050505030304" pitchFamily="18" charset="0"/>
              </a:rPr>
              <a:t>s duration is blanked on the screen of the picture tube and so the screen appears black during this time.</a:t>
            </a:r>
          </a:p>
          <a:p>
            <a:pPr algn="just"/>
            <a:r>
              <a:rPr lang="en-US" sz="2800" dirty="0">
                <a:latin typeface="Palatino Linotype" panose="02040502050505030304" pitchFamily="18" charset="0"/>
              </a:rPr>
              <a:t>When a </a:t>
            </a:r>
            <a:r>
              <a:rPr lang="en-US" sz="2800" dirty="0" err="1">
                <a:latin typeface="Palatino Linotype" panose="02040502050505030304" pitchFamily="18" charset="0"/>
              </a:rPr>
              <a:t>programme</a:t>
            </a:r>
            <a:r>
              <a:rPr lang="en-US" sz="2800" dirty="0">
                <a:latin typeface="Palatino Linotype" panose="02040502050505030304" pitchFamily="18" charset="0"/>
              </a:rPr>
              <a:t> is being displayed, dark interruptions of blanking between bright pictures occur at 25 per second.</a:t>
            </a:r>
          </a:p>
          <a:p>
            <a:pPr algn="just"/>
            <a:r>
              <a:rPr lang="en-US" sz="2800" dirty="0">
                <a:latin typeface="Palatino Linotype" panose="02040502050505030304" pitchFamily="18" charset="0"/>
              </a:rPr>
              <a:t>As persistence of vision is more for dark light, these interruptions become visible as</a:t>
            </a:r>
            <a:r>
              <a:rPr lang="en-US" sz="2800" i="1" dirty="0">
                <a:latin typeface="Palatino Linotype" panose="02040502050505030304" pitchFamily="18" charset="0"/>
              </a:rPr>
              <a:t> flicker </a:t>
            </a:r>
            <a:r>
              <a:rPr lang="en-US" sz="2800" dirty="0">
                <a:latin typeface="Palatino Linotype" panose="02040502050505030304" pitchFamily="18" charset="0"/>
              </a:rPr>
              <a:t>on the screen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Disadvantages of Progressive Scanning</a:t>
            </a:r>
          </a:p>
        </p:txBody>
      </p:sp>
    </p:spTree>
    <p:extLst>
      <p:ext uri="{BB962C8B-B14F-4D97-AF65-F5344CB8AC3E}">
        <p14:creationId xmlns:p14="http://schemas.microsoft.com/office/powerpoint/2010/main" val="3931974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11</a:t>
            </a:fld>
            <a:endParaRPr lang="en-US" noProof="0" dirty="0"/>
          </a:p>
        </p:txBody>
      </p:sp>
      <p:sp>
        <p:nvSpPr>
          <p:cNvPr id="3" name="Content Placeholder 2"/>
          <p:cNvSpPr txBox="1">
            <a:spLocks/>
          </p:cNvSpPr>
          <p:nvPr/>
        </p:nvSpPr>
        <p:spPr>
          <a:xfrm>
            <a:off x="363416" y="789709"/>
            <a:ext cx="11465168" cy="538725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If the speed of scanning is doubled (50 frames per second) flicker would be removed, but bandwidth will increase. </a:t>
            </a:r>
          </a:p>
          <a:p>
            <a:pPr algn="just"/>
            <a:r>
              <a:rPr lang="en-US" sz="2800" dirty="0">
                <a:latin typeface="Palatino Linotype" panose="02040502050505030304" pitchFamily="18" charset="0"/>
              </a:rPr>
              <a:t>Increase in bandwidth is not desirable and hence progressive scanning is not used in broadcast systems.</a:t>
            </a:r>
          </a:p>
          <a:p>
            <a:pPr algn="just"/>
            <a:r>
              <a:rPr lang="en-US" sz="2800" dirty="0">
                <a:latin typeface="Palatino Linotype" panose="02040502050505030304" pitchFamily="18" charset="0"/>
              </a:rPr>
              <a:t>The problem of reducing flicker without increasing the bandwidth has been solved by scanning each frame twice.</a:t>
            </a:r>
          </a:p>
          <a:p>
            <a:pPr algn="just"/>
            <a:r>
              <a:rPr lang="en-US" sz="2800" dirty="0">
                <a:latin typeface="Palatino Linotype" panose="02040502050505030304" pitchFamily="18" charset="0"/>
              </a:rPr>
              <a:t>The scanning process which allows each frame to be scanned twice is called </a:t>
            </a:r>
            <a:r>
              <a:rPr lang="en-US" sz="2800" i="1" dirty="0">
                <a:latin typeface="Palatino Linotype" panose="02040502050505030304" pitchFamily="18" charset="0"/>
              </a:rPr>
              <a:t>interlaced scanning.</a:t>
            </a:r>
          </a:p>
        </p:txBody>
      </p:sp>
    </p:spTree>
    <p:extLst>
      <p:ext uri="{BB962C8B-B14F-4D97-AF65-F5344CB8AC3E}">
        <p14:creationId xmlns:p14="http://schemas.microsoft.com/office/powerpoint/2010/main" val="103324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12</a:t>
            </a:fld>
            <a:endParaRPr lang="en-US" noProof="0" dirty="0"/>
          </a:p>
        </p:txBody>
      </p:sp>
      <p:sp>
        <p:nvSpPr>
          <p:cNvPr id="3" name="Content Placeholder 2"/>
          <p:cNvSpPr>
            <a:spLocks noGrp="1"/>
          </p:cNvSpPr>
          <p:nvPr>
            <p:ph idx="1"/>
          </p:nvPr>
        </p:nvSpPr>
        <p:spPr>
          <a:xfrm>
            <a:off x="363416" y="1638590"/>
            <a:ext cx="4541093" cy="5074002"/>
          </a:xfrm>
        </p:spPr>
        <p:txBody>
          <a:bodyPr>
            <a:normAutofit/>
          </a:bodyPr>
          <a:lstStyle/>
          <a:p>
            <a:pPr algn="just"/>
            <a:r>
              <a:rPr lang="en-US" sz="2800" dirty="0">
                <a:latin typeface="Palatino Linotype" panose="02040502050505030304" pitchFamily="18" charset="0"/>
              </a:rPr>
              <a:t>In interlaced scanning, there are two sequences of scanning for each frame. </a:t>
            </a:r>
          </a:p>
          <a:p>
            <a:pPr algn="just"/>
            <a:r>
              <a:rPr lang="en-US" sz="2800" dirty="0">
                <a:latin typeface="Palatino Linotype" panose="02040502050505030304" pitchFamily="18" charset="0"/>
              </a:rPr>
              <a:t>Scanning lines of one sequence occur in between the lines of the other sequence.</a:t>
            </a:r>
          </a:p>
          <a:p>
            <a:pPr algn="just"/>
            <a:r>
              <a:rPr lang="en-US" sz="2800" dirty="0">
                <a:latin typeface="Palatino Linotype" panose="02040502050505030304" pitchFamily="18" charset="0"/>
              </a:rPr>
              <a:t>1280 </a:t>
            </a:r>
            <a:r>
              <a:rPr lang="el-GR" sz="2800" dirty="0">
                <a:latin typeface="Palatino Linotype" panose="02040502050505030304" pitchFamily="18" charset="0"/>
              </a:rPr>
              <a:t>μ</a:t>
            </a:r>
            <a:r>
              <a:rPr lang="en-US" sz="2800" dirty="0">
                <a:latin typeface="Palatino Linotype" panose="02040502050505030304" pitchFamily="18" charset="0"/>
              </a:rPr>
              <a:t>s (equal to 20 scanning lines) are lost (blanked) in taking the retrace from B to C</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Interlaced Scanning</a:t>
            </a:r>
          </a:p>
        </p:txBody>
      </p:sp>
      <p:pic>
        <p:nvPicPr>
          <p:cNvPr id="5" name="Picture 4"/>
          <p:cNvPicPr>
            <a:picLocks noChangeAspect="1"/>
          </p:cNvPicPr>
          <p:nvPr/>
        </p:nvPicPr>
        <p:blipFill>
          <a:blip r:embed="rId2"/>
          <a:stretch>
            <a:fillRect/>
          </a:stretch>
        </p:blipFill>
        <p:spPr>
          <a:xfrm>
            <a:off x="5133181" y="1638589"/>
            <a:ext cx="6695403" cy="4351338"/>
          </a:xfrm>
          <a:prstGeom prst="rect">
            <a:avLst/>
          </a:prstGeom>
          <a:ln>
            <a:noFill/>
          </a:ln>
          <a:effectLst>
            <a:outerShdw blurRad="190500" algn="tl" rotWithShape="0">
              <a:srgbClr val="000000">
                <a:alpha val="70000"/>
              </a:srgbClr>
            </a:outerShdw>
          </a:effectLst>
        </p:spPr>
      </p:pic>
      <p:sp>
        <p:nvSpPr>
          <p:cNvPr id="6" name="Rectangle 5"/>
          <p:cNvSpPr/>
          <p:nvPr/>
        </p:nvSpPr>
        <p:spPr>
          <a:xfrm>
            <a:off x="7331831" y="6083465"/>
            <a:ext cx="2660857" cy="461665"/>
          </a:xfrm>
          <a:prstGeom prst="rect">
            <a:avLst/>
          </a:prstGeom>
          <a:solidFill>
            <a:schemeClr val="accent4">
              <a:lumMod val="75000"/>
            </a:schemeClr>
          </a:solidFill>
        </p:spPr>
        <p:txBody>
          <a:bodyPr wrap="none">
            <a:spAutoFit/>
          </a:bodyPr>
          <a:lstStyle/>
          <a:p>
            <a:r>
              <a:rPr lang="en-US" sz="2400" b="1" dirty="0"/>
              <a:t>Interlaced scanning</a:t>
            </a:r>
          </a:p>
        </p:txBody>
      </p:sp>
    </p:spTree>
    <p:extLst>
      <p:ext uri="{BB962C8B-B14F-4D97-AF65-F5344CB8AC3E}">
        <p14:creationId xmlns:p14="http://schemas.microsoft.com/office/powerpoint/2010/main" val="2528776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13</a:t>
            </a:fld>
            <a:endParaRPr lang="en-US" noProof="0" dirty="0"/>
          </a:p>
        </p:txBody>
      </p:sp>
      <p:sp>
        <p:nvSpPr>
          <p:cNvPr id="3" name="Content Placeholder 2"/>
          <p:cNvSpPr txBox="1">
            <a:spLocks/>
          </p:cNvSpPr>
          <p:nvPr/>
        </p:nvSpPr>
        <p:spPr>
          <a:xfrm>
            <a:off x="363416" y="789709"/>
            <a:ext cx="11465168" cy="5387254"/>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lines of the second sequence fall in between the lines of the first sequence.</a:t>
            </a:r>
          </a:p>
          <a:p>
            <a:pPr algn="just"/>
            <a:r>
              <a:rPr lang="en-US" sz="2800" dirty="0">
                <a:latin typeface="Palatino Linotype" panose="02040502050505030304" pitchFamily="18" charset="0"/>
              </a:rPr>
              <a:t>Through interlaced scanning, the number of interruptions becomes 50 per second in European system while complete frames are scanned at 25 frames per second.</a:t>
            </a:r>
          </a:p>
          <a:p>
            <a:pPr algn="just"/>
            <a:r>
              <a:rPr lang="en-US" sz="2800" dirty="0">
                <a:latin typeface="Palatino Linotype" panose="02040502050505030304" pitchFamily="18" charset="0"/>
              </a:rPr>
              <a:t>Thus this technique does not increase the scanning speed but removes flicker by doubling the number of interruptions.</a:t>
            </a:r>
          </a:p>
          <a:p>
            <a:pPr algn="just"/>
            <a:r>
              <a:rPr lang="en-US" sz="2800" dirty="0">
                <a:latin typeface="Palatino Linotype" panose="02040502050505030304" pitchFamily="18" charset="0"/>
              </a:rPr>
              <a:t>Consequently, bandwidth is conserved while flicker is removed.</a:t>
            </a:r>
          </a:p>
          <a:p>
            <a:pPr algn="just"/>
            <a:r>
              <a:rPr lang="en-US" sz="2800" dirty="0">
                <a:latin typeface="Palatino Linotype" panose="02040502050505030304" pitchFamily="18" charset="0"/>
              </a:rPr>
              <a:t>Interlacing error will occur if the lines of even field are not exactly in the middle of the lines of odd field.</a:t>
            </a:r>
          </a:p>
        </p:txBody>
      </p:sp>
    </p:spTree>
    <p:extLst>
      <p:ext uri="{BB962C8B-B14F-4D97-AF65-F5344CB8AC3E}">
        <p14:creationId xmlns:p14="http://schemas.microsoft.com/office/powerpoint/2010/main" val="3269750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14</a:t>
            </a:fld>
            <a:endParaRPr lang="en-US" noProof="0" dirty="0"/>
          </a:p>
        </p:txBody>
      </p:sp>
      <p:sp>
        <p:nvSpPr>
          <p:cNvPr id="3" name="Content Placeholder 2"/>
          <p:cNvSpPr>
            <a:spLocks noGrp="1"/>
          </p:cNvSpPr>
          <p:nvPr>
            <p:ph idx="1"/>
          </p:nvPr>
        </p:nvSpPr>
        <p:spPr>
          <a:xfrm>
            <a:off x="363416" y="1579418"/>
            <a:ext cx="11465168" cy="4883789"/>
          </a:xfrm>
        </p:spPr>
        <p:txBody>
          <a:bodyPr>
            <a:normAutofit/>
          </a:bodyPr>
          <a:lstStyle/>
          <a:p>
            <a:pPr algn="just"/>
            <a:r>
              <a:rPr lang="en-US" sz="2800" dirty="0">
                <a:latin typeface="Palatino Linotype" panose="02040502050505030304" pitchFamily="18" charset="0"/>
              </a:rPr>
              <a:t>Each sequence of scanning in the interlaced scanning method is called a  field.</a:t>
            </a:r>
          </a:p>
          <a:p>
            <a:pPr algn="just"/>
            <a:r>
              <a:rPr lang="en-US" sz="2800" dirty="0">
                <a:latin typeface="Palatino Linotype" panose="02040502050505030304" pitchFamily="18" charset="0"/>
              </a:rPr>
              <a:t>Odd numbered sequences are called </a:t>
            </a:r>
            <a:r>
              <a:rPr lang="en-US" sz="2800" i="1" dirty="0">
                <a:latin typeface="Palatino Linotype" panose="02040502050505030304" pitchFamily="18" charset="0"/>
              </a:rPr>
              <a:t>odd fields</a:t>
            </a:r>
            <a:r>
              <a:rPr lang="en-US" sz="2800" dirty="0">
                <a:latin typeface="Palatino Linotype" panose="02040502050505030304" pitchFamily="18" charset="0"/>
              </a:rPr>
              <a:t>, and even numbered sequences are called </a:t>
            </a:r>
            <a:r>
              <a:rPr lang="en-US" sz="2800" i="1" dirty="0">
                <a:latin typeface="Palatino Linotype" panose="02040502050505030304" pitchFamily="18" charset="0"/>
              </a:rPr>
              <a:t>even fields</a:t>
            </a:r>
            <a:r>
              <a:rPr lang="en-US" sz="2800" dirty="0">
                <a:latin typeface="Palatino Linotype" panose="02040502050505030304" pitchFamily="18" charset="0"/>
              </a:rPr>
              <a:t>.</a:t>
            </a:r>
          </a:p>
          <a:p>
            <a:pPr algn="just"/>
            <a:r>
              <a:rPr lang="en-US" sz="2800" dirty="0">
                <a:latin typeface="Palatino Linotype" panose="02040502050505030304" pitchFamily="18" charset="0"/>
              </a:rPr>
              <a:t>Two adjacent pixels on a vertical line in a picture are scanned , not by adjacent lines, but by lines separated in time interval of 20 </a:t>
            </a:r>
            <a:r>
              <a:rPr lang="en-US" sz="2800" dirty="0" err="1">
                <a:latin typeface="Palatino Linotype" panose="02040502050505030304" pitchFamily="18" charset="0"/>
              </a:rPr>
              <a:t>ms</a:t>
            </a:r>
            <a:r>
              <a:rPr lang="en-US" sz="2800" dirty="0">
                <a:latin typeface="Palatino Linotype" panose="02040502050505030304" pitchFamily="18" charset="0"/>
              </a:rPr>
              <a:t> in interlaced scanning.</a:t>
            </a:r>
          </a:p>
          <a:p>
            <a:pPr algn="just"/>
            <a:r>
              <a:rPr lang="en-US" sz="2800" dirty="0">
                <a:latin typeface="Palatino Linotype" panose="02040502050505030304" pitchFamily="18" charset="0"/>
              </a:rPr>
              <a:t>However, due to the persistence of vision, the picture formed will not be distorted.</a:t>
            </a:r>
          </a:p>
          <a:p>
            <a:pPr algn="just"/>
            <a:r>
              <a:rPr lang="en-US" sz="2800" dirty="0">
                <a:latin typeface="Palatino Linotype" panose="02040502050505030304" pitchFamily="18" charset="0"/>
              </a:rPr>
              <a:t>Picture due to odd field will persist when picture due to even field is being constructed on the screen.</a:t>
            </a:r>
          </a:p>
          <a:p>
            <a:pPr algn="just"/>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Fields</a:t>
            </a:r>
          </a:p>
        </p:txBody>
      </p:sp>
    </p:spTree>
    <p:extLst>
      <p:ext uri="{BB962C8B-B14F-4D97-AF65-F5344CB8AC3E}">
        <p14:creationId xmlns:p14="http://schemas.microsoft.com/office/powerpoint/2010/main" val="2089238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15</a:t>
            </a:fld>
            <a:endParaRPr lang="en-US" noProof="0" dirty="0"/>
          </a:p>
        </p:txBody>
      </p:sp>
      <p:pic>
        <p:nvPicPr>
          <p:cNvPr id="3" name="Picture 2"/>
          <p:cNvPicPr>
            <a:picLocks noChangeAspect="1"/>
          </p:cNvPicPr>
          <p:nvPr/>
        </p:nvPicPr>
        <p:blipFill>
          <a:blip r:embed="rId2"/>
          <a:stretch>
            <a:fillRect/>
          </a:stretch>
        </p:blipFill>
        <p:spPr>
          <a:xfrm>
            <a:off x="1392768" y="481454"/>
            <a:ext cx="9332945" cy="5281726"/>
          </a:xfrm>
          <a:prstGeom prst="rect">
            <a:avLst/>
          </a:prstGeom>
        </p:spPr>
      </p:pic>
      <p:sp>
        <p:nvSpPr>
          <p:cNvPr id="4" name="Rectangle 3"/>
          <p:cNvSpPr/>
          <p:nvPr/>
        </p:nvSpPr>
        <p:spPr>
          <a:xfrm>
            <a:off x="2539687" y="5882361"/>
            <a:ext cx="7039106" cy="461665"/>
          </a:xfrm>
          <a:prstGeom prst="rect">
            <a:avLst/>
          </a:prstGeom>
          <a:solidFill>
            <a:schemeClr val="accent4">
              <a:lumMod val="75000"/>
            </a:schemeClr>
          </a:solidFill>
        </p:spPr>
        <p:txBody>
          <a:bodyPr wrap="none">
            <a:spAutoFit/>
          </a:bodyPr>
          <a:lstStyle/>
          <a:p>
            <a:r>
              <a:rPr lang="en-US" sz="2400" b="1" dirty="0">
                <a:latin typeface="Palatino Linotype" panose="02040502050505030304" pitchFamily="18" charset="0"/>
              </a:rPr>
              <a:t>Glow of picture elements on odd and even fields</a:t>
            </a:r>
            <a:endParaRPr lang="en-US" sz="2400" b="1" dirty="0"/>
          </a:p>
        </p:txBody>
      </p:sp>
    </p:spTree>
    <p:extLst>
      <p:ext uri="{BB962C8B-B14F-4D97-AF65-F5344CB8AC3E}">
        <p14:creationId xmlns:p14="http://schemas.microsoft.com/office/powerpoint/2010/main" val="79049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16</a:t>
            </a:fld>
            <a:endParaRPr lang="en-US" noProof="0" dirty="0"/>
          </a:p>
        </p:txBody>
      </p:sp>
      <p:sp>
        <p:nvSpPr>
          <p:cNvPr id="3" name="Content Placeholder 2"/>
          <p:cNvSpPr>
            <a:spLocks noGrp="1"/>
          </p:cNvSpPr>
          <p:nvPr>
            <p:ph idx="1"/>
          </p:nvPr>
        </p:nvSpPr>
        <p:spPr>
          <a:xfrm>
            <a:off x="363416" y="1662545"/>
            <a:ext cx="11465168" cy="4514418"/>
          </a:xfrm>
        </p:spPr>
        <p:txBody>
          <a:bodyPr>
            <a:normAutofit/>
          </a:bodyPr>
          <a:lstStyle/>
          <a:p>
            <a:pPr algn="just"/>
            <a:r>
              <a:rPr lang="en-US" sz="2800" dirty="0">
                <a:latin typeface="Palatino Linotype" panose="02040502050505030304" pitchFamily="18" charset="0"/>
              </a:rPr>
              <a:t>For the scanning rate of 25 frames per second, there are two fields per frame making the number of fields per second to be 50.</a:t>
            </a:r>
          </a:p>
          <a:p>
            <a:pPr algn="just"/>
            <a:r>
              <a:rPr lang="en-US" sz="2800" dirty="0">
                <a:latin typeface="Palatino Linotype" panose="02040502050505030304" pitchFamily="18" charset="0"/>
              </a:rPr>
              <a:t>This number has been chosen to be equal to the electric mains frequency so that the beat frequency between electric mains and fields is zero.</a:t>
            </a:r>
          </a:p>
          <a:p>
            <a:pPr algn="just"/>
            <a:r>
              <a:rPr lang="en-US" sz="2800" dirty="0">
                <a:latin typeface="Palatino Linotype" panose="02040502050505030304" pitchFamily="18" charset="0"/>
              </a:rPr>
              <a:t>Variations in the mains would have resulted in a slow moving bar from top to bottom across the picture in the receiver.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Frame, Field and Line Frequencies</a:t>
            </a:r>
          </a:p>
        </p:txBody>
      </p:sp>
    </p:spTree>
    <p:extLst>
      <p:ext uri="{BB962C8B-B14F-4D97-AF65-F5344CB8AC3E}">
        <p14:creationId xmlns:p14="http://schemas.microsoft.com/office/powerpoint/2010/main" val="696930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17</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All the scanning lines are not visible on the screen due to blanking during the retrace period. </a:t>
            </a:r>
          </a:p>
          <a:p>
            <a:pPr algn="just"/>
            <a:r>
              <a:rPr lang="en-US" sz="2800" dirty="0">
                <a:latin typeface="Palatino Linotype" panose="02040502050505030304" pitchFamily="18" charset="0"/>
              </a:rPr>
              <a:t>The actual lines which reproduce pixels are called active lines. </a:t>
            </a:r>
          </a:p>
          <a:p>
            <a:pPr algn="just"/>
            <a:r>
              <a:rPr lang="en-US" sz="2800" dirty="0">
                <a:latin typeface="Palatino Linotype" panose="02040502050505030304" pitchFamily="18" charset="0"/>
              </a:rPr>
              <a:t>The number of active lines (N</a:t>
            </a:r>
            <a:r>
              <a:rPr lang="en-US" sz="2800" baseline="-25000" dirty="0">
                <a:latin typeface="Palatino Linotype" panose="02040502050505030304" pitchFamily="18" charset="0"/>
              </a:rPr>
              <a:t>A</a:t>
            </a:r>
            <a:r>
              <a:rPr lang="en-US" sz="2800" dirty="0">
                <a:latin typeface="Palatino Linotype" panose="02040502050505030304" pitchFamily="18" charset="0"/>
              </a:rPr>
              <a:t> ) is equal to the total scanning lines per frame (N</a:t>
            </a:r>
            <a:r>
              <a:rPr lang="en-US" sz="2800" baseline="-25000" dirty="0">
                <a:latin typeface="Palatino Linotype" panose="02040502050505030304" pitchFamily="18" charset="0"/>
              </a:rPr>
              <a:t>T</a:t>
            </a:r>
            <a:r>
              <a:rPr lang="en-US" sz="2800" dirty="0">
                <a:latin typeface="Palatino Linotype" panose="02040502050505030304" pitchFamily="18" charset="0"/>
              </a:rPr>
              <a:t> ) minus the lines lost in vertical blanking ( N</a:t>
            </a:r>
            <a:r>
              <a:rPr lang="en-US" sz="2800" baseline="-25000" dirty="0">
                <a:latin typeface="Palatino Linotype" panose="02040502050505030304" pitchFamily="18" charset="0"/>
              </a:rPr>
              <a:t>L</a:t>
            </a:r>
            <a:r>
              <a:rPr lang="en-US" sz="2800" dirty="0">
                <a:latin typeface="Palatino Linotype" panose="02040502050505030304" pitchFamily="18" charset="0"/>
              </a:rPr>
              <a:t> ), as expressed by</a:t>
            </a:r>
          </a:p>
          <a:p>
            <a:pPr marL="0" indent="0" algn="ctr">
              <a:buNone/>
            </a:pPr>
            <a:r>
              <a:rPr lang="en-US" sz="3200" b="1" dirty="0">
                <a:latin typeface="Palatino Linotype" panose="02040502050505030304" pitchFamily="18" charset="0"/>
              </a:rPr>
              <a:t>N</a:t>
            </a:r>
            <a:r>
              <a:rPr lang="en-US" sz="3200" b="1" baseline="-25000" dirty="0">
                <a:latin typeface="Palatino Linotype" panose="02040502050505030304" pitchFamily="18" charset="0"/>
              </a:rPr>
              <a:t>A </a:t>
            </a:r>
            <a:r>
              <a:rPr lang="en-US" sz="3200" b="1" dirty="0">
                <a:latin typeface="Palatino Linotype" panose="02040502050505030304" pitchFamily="18" charset="0"/>
              </a:rPr>
              <a:t>= N</a:t>
            </a:r>
            <a:r>
              <a:rPr lang="en-US" sz="3200" b="1" baseline="-25000" dirty="0">
                <a:latin typeface="Palatino Linotype" panose="02040502050505030304" pitchFamily="18" charset="0"/>
              </a:rPr>
              <a:t>T</a:t>
            </a:r>
            <a:r>
              <a:rPr lang="en-US" sz="3200" b="1" dirty="0">
                <a:latin typeface="Palatino Linotype" panose="02040502050505030304" pitchFamily="18" charset="0"/>
              </a:rPr>
              <a:t> - N</a:t>
            </a:r>
            <a:r>
              <a:rPr lang="en-US" sz="3200" b="1" baseline="-25000" dirty="0">
                <a:latin typeface="Palatino Linotype" panose="02040502050505030304" pitchFamily="18" charset="0"/>
              </a:rPr>
              <a:t>L</a:t>
            </a:r>
            <a:endParaRPr lang="en-US" sz="3200" b="1"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Active Lines</a:t>
            </a:r>
          </a:p>
        </p:txBody>
      </p:sp>
    </p:spTree>
    <p:extLst>
      <p:ext uri="{BB962C8B-B14F-4D97-AF65-F5344CB8AC3E}">
        <p14:creationId xmlns:p14="http://schemas.microsoft.com/office/powerpoint/2010/main" val="1479297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18</a:t>
            </a:fld>
            <a:endParaRPr lang="en-US" noProof="0" dirty="0"/>
          </a:p>
        </p:txBody>
      </p:sp>
      <p:sp>
        <p:nvSpPr>
          <p:cNvPr id="3" name="Content Placeholder 2"/>
          <p:cNvSpPr>
            <a:spLocks noGrp="1"/>
          </p:cNvSpPr>
          <p:nvPr>
            <p:ph idx="1"/>
          </p:nvPr>
        </p:nvSpPr>
        <p:spPr>
          <a:xfrm>
            <a:off x="363416" y="1825625"/>
            <a:ext cx="6972566" cy="4351338"/>
          </a:xfrm>
        </p:spPr>
        <p:txBody>
          <a:bodyPr>
            <a:normAutofit lnSpcReduction="10000"/>
          </a:bodyPr>
          <a:lstStyle/>
          <a:p>
            <a:pPr algn="just"/>
            <a:r>
              <a:rPr lang="en-US" sz="2800" dirty="0">
                <a:latin typeface="Palatino Linotype" panose="02040502050505030304" pitchFamily="18" charset="0"/>
              </a:rPr>
              <a:t>Pixels are not arranged in an orderly manner in a picture. </a:t>
            </a:r>
          </a:p>
          <a:p>
            <a:pPr algn="just"/>
            <a:r>
              <a:rPr lang="en-US" sz="2800" dirty="0">
                <a:latin typeface="Palatino Linotype" panose="02040502050505030304" pitchFamily="18" charset="0"/>
              </a:rPr>
              <a:t>These are distributed rather randomly. </a:t>
            </a:r>
          </a:p>
          <a:p>
            <a:pPr algn="just"/>
            <a:r>
              <a:rPr lang="en-US" sz="2800" dirty="0">
                <a:latin typeface="Palatino Linotype" panose="02040502050505030304" pitchFamily="18" charset="0"/>
              </a:rPr>
              <a:t>Hence a spot of the scanning beam may cover partly two pixels.</a:t>
            </a:r>
          </a:p>
          <a:p>
            <a:pPr algn="just"/>
            <a:r>
              <a:rPr lang="en-US" sz="2800" dirty="0">
                <a:latin typeface="Palatino Linotype" panose="02040502050505030304" pitchFamily="18" charset="0"/>
              </a:rPr>
              <a:t>Beam Spot I partially covers black and partially white. </a:t>
            </a:r>
          </a:p>
          <a:p>
            <a:pPr algn="just"/>
            <a:r>
              <a:rPr lang="en-US" sz="2800" dirty="0">
                <a:latin typeface="Palatino Linotype" panose="02040502050505030304" pitchFamily="18" charset="0"/>
              </a:rPr>
              <a:t>So the resultant luminance of this spot would be grey (white + black = grey). Similarly Spot II would give grey.</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Kell</a:t>
            </a:r>
            <a:r>
              <a:rPr lang="en-US" sz="3600" dirty="0">
                <a:latin typeface="Palatino Linotype" panose="02040502050505030304" pitchFamily="18" charset="0"/>
              </a:rPr>
              <a:t> Factor</a:t>
            </a:r>
          </a:p>
        </p:txBody>
      </p:sp>
      <p:pic>
        <p:nvPicPr>
          <p:cNvPr id="5" name="Picture 4"/>
          <p:cNvPicPr>
            <a:picLocks noChangeAspect="1"/>
          </p:cNvPicPr>
          <p:nvPr/>
        </p:nvPicPr>
        <p:blipFill>
          <a:blip r:embed="rId2"/>
          <a:stretch>
            <a:fillRect/>
          </a:stretch>
        </p:blipFill>
        <p:spPr>
          <a:xfrm>
            <a:off x="7503014" y="2524225"/>
            <a:ext cx="4512606" cy="2703835"/>
          </a:xfrm>
          <a:prstGeom prst="rect">
            <a:avLst/>
          </a:prstGeom>
        </p:spPr>
      </p:pic>
      <p:sp>
        <p:nvSpPr>
          <p:cNvPr id="6" name="Rectangle 5"/>
          <p:cNvSpPr/>
          <p:nvPr/>
        </p:nvSpPr>
        <p:spPr>
          <a:xfrm>
            <a:off x="8995800" y="5228060"/>
            <a:ext cx="1671291" cy="523220"/>
          </a:xfrm>
          <a:prstGeom prst="rect">
            <a:avLst/>
          </a:prstGeom>
          <a:solidFill>
            <a:schemeClr val="accent4"/>
          </a:solidFill>
        </p:spPr>
        <p:txBody>
          <a:bodyPr wrap="none">
            <a:spAutoFit/>
          </a:bodyPr>
          <a:lstStyle/>
          <a:p>
            <a:r>
              <a:rPr lang="en-US" sz="2800" b="1" dirty="0" err="1"/>
              <a:t>Kell</a:t>
            </a:r>
            <a:r>
              <a:rPr lang="en-US" sz="2800" b="1" dirty="0"/>
              <a:t> effect</a:t>
            </a:r>
          </a:p>
        </p:txBody>
      </p:sp>
    </p:spTree>
    <p:extLst>
      <p:ext uri="{BB962C8B-B14F-4D97-AF65-F5344CB8AC3E}">
        <p14:creationId xmlns:p14="http://schemas.microsoft.com/office/powerpoint/2010/main" val="531305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19</a:t>
            </a:fld>
            <a:endParaRPr lang="en-US" noProof="0" dirty="0"/>
          </a:p>
        </p:txBody>
      </p:sp>
      <p:sp>
        <p:nvSpPr>
          <p:cNvPr id="3" name="Content Placeholder 2"/>
          <p:cNvSpPr txBox="1">
            <a:spLocks/>
          </p:cNvSpPr>
          <p:nvPr/>
        </p:nvSpPr>
        <p:spPr>
          <a:xfrm>
            <a:off x="363416" y="955964"/>
            <a:ext cx="11465168" cy="5220999"/>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Thus instead of giving two signal outputs (black and white), the two spots give only one signal output (grey). </a:t>
            </a:r>
          </a:p>
          <a:p>
            <a:pPr algn="just"/>
            <a:r>
              <a:rPr lang="en-US" sz="2800" dirty="0">
                <a:latin typeface="Palatino Linotype" panose="02040502050505030304" pitchFamily="18" charset="0"/>
              </a:rPr>
              <a:t>The distinction between two pixels will not be reproduced. </a:t>
            </a:r>
          </a:p>
          <a:p>
            <a:pPr algn="just"/>
            <a:r>
              <a:rPr lang="en-US" sz="2800" dirty="0">
                <a:latin typeface="Palatino Linotype" panose="02040502050505030304" pitchFamily="18" charset="0"/>
              </a:rPr>
              <a:t>It is called </a:t>
            </a:r>
            <a:r>
              <a:rPr lang="en-US" sz="2800" b="1" i="1" dirty="0" err="1">
                <a:solidFill>
                  <a:schemeClr val="accent1"/>
                </a:solidFill>
                <a:latin typeface="Palatino Linotype" panose="02040502050505030304" pitchFamily="18" charset="0"/>
              </a:rPr>
              <a:t>Kell</a:t>
            </a:r>
            <a:r>
              <a:rPr lang="en-US" sz="2800" b="1" i="1" dirty="0">
                <a:solidFill>
                  <a:schemeClr val="accent1"/>
                </a:solidFill>
                <a:latin typeface="Palatino Linotype" panose="02040502050505030304" pitchFamily="18" charset="0"/>
              </a:rPr>
              <a:t> effect</a:t>
            </a:r>
            <a:r>
              <a:rPr lang="en-US" sz="2800" dirty="0">
                <a:latin typeface="Palatino Linotype" panose="02040502050505030304" pitchFamily="18" charset="0"/>
              </a:rPr>
              <a:t>.</a:t>
            </a:r>
          </a:p>
          <a:p>
            <a:pPr algn="just"/>
            <a:r>
              <a:rPr lang="en-US" sz="2800" dirty="0">
                <a:latin typeface="Palatino Linotype" panose="02040502050505030304" pitchFamily="18" charset="0"/>
              </a:rPr>
              <a:t>Had the Spot I been confined to black area only and Spot II to white area only, two distinct pixels would have been reproduced. </a:t>
            </a:r>
          </a:p>
          <a:p>
            <a:pPr algn="just"/>
            <a:r>
              <a:rPr lang="en-US" sz="2800" dirty="0">
                <a:latin typeface="Palatino Linotype" panose="02040502050505030304" pitchFamily="18" charset="0"/>
              </a:rPr>
              <a:t>But misalignment results in only one intensity making the two pixels indistinct.</a:t>
            </a:r>
          </a:p>
          <a:p>
            <a:pPr algn="just"/>
            <a:r>
              <a:rPr lang="en-US" sz="2800" dirty="0">
                <a:latin typeface="Palatino Linotype" panose="02040502050505030304" pitchFamily="18" charset="0"/>
              </a:rPr>
              <a:t>Thus the </a:t>
            </a:r>
            <a:r>
              <a:rPr lang="en-US" sz="2800" dirty="0" err="1">
                <a:latin typeface="Palatino Linotype" panose="02040502050505030304" pitchFamily="18" charset="0"/>
              </a:rPr>
              <a:t>Kell</a:t>
            </a:r>
            <a:r>
              <a:rPr lang="en-US" sz="2800" dirty="0">
                <a:latin typeface="Palatino Linotype" panose="02040502050505030304" pitchFamily="18" charset="0"/>
              </a:rPr>
              <a:t> effect produces degradation in the resolution of individual pixels.</a:t>
            </a:r>
          </a:p>
        </p:txBody>
      </p:sp>
    </p:spTree>
    <p:extLst>
      <p:ext uri="{BB962C8B-B14F-4D97-AF65-F5344CB8AC3E}">
        <p14:creationId xmlns:p14="http://schemas.microsoft.com/office/powerpoint/2010/main" val="1956823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20</a:t>
            </a:fld>
            <a:endParaRPr lang="en-US" noProof="0" dirty="0"/>
          </a:p>
        </p:txBody>
      </p:sp>
      <p:sp>
        <p:nvSpPr>
          <p:cNvPr id="3" name="Content Placeholder 2"/>
          <p:cNvSpPr txBox="1">
            <a:spLocks/>
          </p:cNvSpPr>
          <p:nvPr/>
        </p:nvSpPr>
        <p:spPr>
          <a:xfrm>
            <a:off x="363416" y="955964"/>
            <a:ext cx="11465168" cy="5220999"/>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Experimentally, it has been found that about 25 to 35% pixels are lost due to </a:t>
            </a:r>
            <a:r>
              <a:rPr lang="en-US" sz="2800" dirty="0" err="1">
                <a:latin typeface="Palatino Linotype" panose="02040502050505030304" pitchFamily="18" charset="0"/>
              </a:rPr>
              <a:t>Kell</a:t>
            </a:r>
            <a:r>
              <a:rPr lang="en-US" sz="2800" dirty="0">
                <a:latin typeface="Palatino Linotype" panose="02040502050505030304" pitchFamily="18" charset="0"/>
              </a:rPr>
              <a:t> effect.</a:t>
            </a:r>
          </a:p>
          <a:p>
            <a:pPr algn="just"/>
            <a:r>
              <a:rPr lang="en-US" sz="2800" dirty="0">
                <a:latin typeface="Palatino Linotype" panose="02040502050505030304" pitchFamily="18" charset="0"/>
              </a:rPr>
              <a:t>This means that only 65 to 75% of the active lines are responsible for distinguishing the individual pixels.</a:t>
            </a:r>
          </a:p>
          <a:p>
            <a:pPr algn="just"/>
            <a:r>
              <a:rPr lang="en-US" sz="2800" dirty="0">
                <a:latin typeface="Palatino Linotype" panose="02040502050505030304" pitchFamily="18" charset="0"/>
              </a:rPr>
              <a:t>Thus, effective lines are worked out by multiplying the active lines by a factor of 0.65 to 0.75 (mean value = 0.7)</a:t>
            </a:r>
          </a:p>
          <a:p>
            <a:pPr algn="just"/>
            <a:r>
              <a:rPr lang="en-US" sz="2800" dirty="0">
                <a:latin typeface="Palatino Linotype" panose="02040502050505030304" pitchFamily="18" charset="0"/>
              </a:rPr>
              <a:t>This factor is called </a:t>
            </a:r>
            <a:r>
              <a:rPr lang="en-US" sz="2800" dirty="0" err="1">
                <a:latin typeface="Palatino Linotype" panose="02040502050505030304" pitchFamily="18" charset="0"/>
              </a:rPr>
              <a:t>Kell</a:t>
            </a:r>
            <a:r>
              <a:rPr lang="en-US" sz="2800" dirty="0">
                <a:latin typeface="Palatino Linotype" panose="02040502050505030304" pitchFamily="18" charset="0"/>
              </a:rPr>
              <a:t> factor and is used in estimating the actual resolution achieved in TV pictures.</a:t>
            </a:r>
          </a:p>
          <a:p>
            <a:pPr algn="just"/>
            <a:r>
              <a:rPr lang="en-US" sz="2800" dirty="0">
                <a:latin typeface="Palatino Linotype" panose="02040502050505030304" pitchFamily="18" charset="0"/>
              </a:rPr>
              <a:t>Smaller the size of the beam’s spot, less will be the </a:t>
            </a:r>
            <a:r>
              <a:rPr lang="en-US" sz="2800" dirty="0" err="1">
                <a:latin typeface="Palatino Linotype" panose="02040502050505030304" pitchFamily="18" charset="0"/>
              </a:rPr>
              <a:t>Kell</a:t>
            </a:r>
            <a:r>
              <a:rPr lang="en-US" sz="2800" dirty="0">
                <a:latin typeface="Palatino Linotype" panose="02040502050505030304" pitchFamily="18" charset="0"/>
              </a:rPr>
              <a:t> effect and higher the </a:t>
            </a:r>
            <a:r>
              <a:rPr lang="en-US" sz="2800" dirty="0" err="1">
                <a:latin typeface="Palatino Linotype" panose="02040502050505030304" pitchFamily="18" charset="0"/>
              </a:rPr>
              <a:t>Kell</a:t>
            </a:r>
            <a:r>
              <a:rPr lang="en-US" sz="2800" dirty="0">
                <a:latin typeface="Palatino Linotype" panose="02040502050505030304" pitchFamily="18" charset="0"/>
              </a:rPr>
              <a:t> factor.</a:t>
            </a:r>
          </a:p>
        </p:txBody>
      </p:sp>
    </p:spTree>
    <p:extLst>
      <p:ext uri="{BB962C8B-B14F-4D97-AF65-F5344CB8AC3E}">
        <p14:creationId xmlns:p14="http://schemas.microsoft.com/office/powerpoint/2010/main" val="177348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21</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Resolution means ability to distinguish between closely spaced pixels. </a:t>
            </a:r>
          </a:p>
          <a:p>
            <a:pPr algn="just"/>
            <a:r>
              <a:rPr lang="en-US" sz="2800" dirty="0">
                <a:latin typeface="Palatino Linotype" panose="02040502050505030304" pitchFamily="18" charset="0"/>
              </a:rPr>
              <a:t>Greater the number of pixels, smaller would be their size and hence higher would be the resolution. </a:t>
            </a:r>
          </a:p>
          <a:p>
            <a:pPr algn="just"/>
            <a:r>
              <a:rPr lang="en-US" sz="2800" dirty="0">
                <a:latin typeface="Palatino Linotype" panose="02040502050505030304" pitchFamily="18" charset="0"/>
              </a:rPr>
              <a:t>High resolution will thus enable us to distinctly see closely spaced small objects e.g. wrinkles on a face, hair of the eyebrows, veins on leaves, etc.</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Resolution</a:t>
            </a:r>
          </a:p>
        </p:txBody>
      </p:sp>
    </p:spTree>
    <p:extLst>
      <p:ext uri="{BB962C8B-B14F-4D97-AF65-F5344CB8AC3E}">
        <p14:creationId xmlns:p14="http://schemas.microsoft.com/office/powerpoint/2010/main" val="4263952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22</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number of pixels on a vertical line on the screen will be equal to the number of horizontal lines.</a:t>
            </a:r>
          </a:p>
          <a:p>
            <a:pPr algn="just"/>
            <a:r>
              <a:rPr lang="en-US" sz="2800" dirty="0">
                <a:latin typeface="Palatino Linotype" panose="02040502050505030304" pitchFamily="18" charset="0"/>
              </a:rPr>
              <a:t>In a 625 lines system, 625 pixels will glow on a vertical line. </a:t>
            </a:r>
          </a:p>
          <a:p>
            <a:pPr algn="just"/>
            <a:r>
              <a:rPr lang="en-US" sz="2800" dirty="0">
                <a:latin typeface="Palatino Linotype" panose="02040502050505030304" pitchFamily="18" charset="0"/>
              </a:rPr>
              <a:t>For effective resolution, this number will be reduced by the lines lost  in vertical blanking and multiplied by the </a:t>
            </a:r>
            <a:r>
              <a:rPr lang="en-US" sz="2800" dirty="0" err="1">
                <a:latin typeface="Palatino Linotype" panose="02040502050505030304" pitchFamily="18" charset="0"/>
              </a:rPr>
              <a:t>Kell</a:t>
            </a:r>
            <a:r>
              <a:rPr lang="en-US" sz="2800" dirty="0">
                <a:latin typeface="Palatino Linotype" panose="02040502050505030304" pitchFamily="18" charset="0"/>
              </a:rPr>
              <a:t> factor (K ). </a:t>
            </a:r>
          </a:p>
          <a:p>
            <a:pPr algn="just"/>
            <a:r>
              <a:rPr lang="en-US" sz="2800" dirty="0">
                <a:latin typeface="Palatino Linotype" panose="02040502050505030304" pitchFamily="18" charset="0"/>
              </a:rPr>
              <a:t>This will then give vertical resolution, (RV ) as expressed as</a:t>
            </a:r>
          </a:p>
          <a:p>
            <a:pPr marL="0" indent="0" algn="ctr">
              <a:buNone/>
            </a:pPr>
            <a:r>
              <a:rPr lang="en-US" sz="2800" b="1" dirty="0">
                <a:solidFill>
                  <a:schemeClr val="accent1"/>
                </a:solidFill>
                <a:latin typeface="Palatino Linotype" panose="02040502050505030304" pitchFamily="18" charset="0"/>
              </a:rPr>
              <a:t>R</a:t>
            </a:r>
            <a:r>
              <a:rPr lang="en-US" sz="2800" b="1" baseline="-25000" dirty="0">
                <a:solidFill>
                  <a:schemeClr val="accent1"/>
                </a:solidFill>
                <a:latin typeface="Palatino Linotype" panose="02040502050505030304" pitchFamily="18" charset="0"/>
              </a:rPr>
              <a:t>V</a:t>
            </a:r>
            <a:r>
              <a:rPr lang="en-US" sz="2800" b="1" dirty="0">
                <a:solidFill>
                  <a:schemeClr val="accent1"/>
                </a:solidFill>
                <a:latin typeface="Palatino Linotype" panose="02040502050505030304" pitchFamily="18" charset="0"/>
              </a:rPr>
              <a:t> = (N</a:t>
            </a:r>
            <a:r>
              <a:rPr lang="en-US" sz="2800" b="1" baseline="-25000" dirty="0">
                <a:solidFill>
                  <a:schemeClr val="accent1"/>
                </a:solidFill>
                <a:latin typeface="Palatino Linotype" panose="02040502050505030304" pitchFamily="18" charset="0"/>
              </a:rPr>
              <a:t>T</a:t>
            </a:r>
            <a:r>
              <a:rPr lang="en-US" sz="2800" b="1" dirty="0">
                <a:solidFill>
                  <a:schemeClr val="accent1"/>
                </a:solidFill>
                <a:latin typeface="Palatino Linotype" panose="02040502050505030304" pitchFamily="18" charset="0"/>
              </a:rPr>
              <a:t> – N</a:t>
            </a:r>
            <a:r>
              <a:rPr lang="en-US" sz="2800" b="1" baseline="-25000" dirty="0">
                <a:solidFill>
                  <a:schemeClr val="accent1"/>
                </a:solidFill>
                <a:latin typeface="Palatino Linotype" panose="02040502050505030304" pitchFamily="18" charset="0"/>
              </a:rPr>
              <a:t>L</a:t>
            </a:r>
            <a:r>
              <a:rPr lang="en-US" sz="2800" b="1" dirty="0">
                <a:solidFill>
                  <a:schemeClr val="accent1"/>
                </a:solidFill>
                <a:latin typeface="Palatino Linotype" panose="02040502050505030304" pitchFamily="18" charset="0"/>
              </a:rPr>
              <a:t>) K = N</a:t>
            </a:r>
            <a:r>
              <a:rPr lang="en-US" sz="2800" b="1" baseline="-25000" dirty="0">
                <a:solidFill>
                  <a:schemeClr val="accent1"/>
                </a:solidFill>
                <a:latin typeface="Palatino Linotype" panose="02040502050505030304" pitchFamily="18" charset="0"/>
              </a:rPr>
              <a:t>A</a:t>
            </a:r>
            <a:r>
              <a:rPr lang="en-US" sz="2800" b="1" dirty="0">
                <a:solidFill>
                  <a:schemeClr val="accent1"/>
                </a:solidFill>
                <a:latin typeface="Palatino Linotype" panose="02040502050505030304" pitchFamily="18" charset="0"/>
              </a:rPr>
              <a:t> K </a:t>
            </a:r>
          </a:p>
          <a:p>
            <a:pPr algn="just"/>
            <a:r>
              <a:rPr lang="en-US" sz="2800" dirty="0">
                <a:latin typeface="Palatino Linotype" panose="02040502050505030304" pitchFamily="18" charset="0"/>
              </a:rPr>
              <a:t> Vertical resolution will make vertically located close features of a picture visible distinctly clear.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Vertical Resolution</a:t>
            </a:r>
          </a:p>
        </p:txBody>
      </p:sp>
    </p:spTree>
    <p:extLst>
      <p:ext uri="{BB962C8B-B14F-4D97-AF65-F5344CB8AC3E}">
        <p14:creationId xmlns:p14="http://schemas.microsoft.com/office/powerpoint/2010/main" val="9374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23</a:t>
            </a:fld>
            <a:endParaRPr lang="en-US" noProof="0" dirty="0"/>
          </a:p>
        </p:txBody>
      </p:sp>
      <p:sp>
        <p:nvSpPr>
          <p:cNvPr id="3" name="Content Placeholder 2"/>
          <p:cNvSpPr>
            <a:spLocks noGrp="1"/>
          </p:cNvSpPr>
          <p:nvPr>
            <p:ph idx="1"/>
          </p:nvPr>
        </p:nvSpPr>
        <p:spPr>
          <a:xfrm>
            <a:off x="363416" y="1620982"/>
            <a:ext cx="11465168" cy="4842225"/>
          </a:xfrm>
        </p:spPr>
        <p:txBody>
          <a:bodyPr>
            <a:normAutofit/>
          </a:bodyPr>
          <a:lstStyle/>
          <a:p>
            <a:pPr algn="just"/>
            <a:r>
              <a:rPr lang="en-US" sz="2800" dirty="0">
                <a:latin typeface="Palatino Linotype" panose="02040502050505030304" pitchFamily="18" charset="0"/>
              </a:rPr>
              <a:t>If the aspect ratio is A, the number of pixels on a horizontal line would be equal to R</a:t>
            </a:r>
            <a:r>
              <a:rPr lang="en-US" sz="2800" baseline="-25000" dirty="0">
                <a:latin typeface="Palatino Linotype" panose="02040502050505030304" pitchFamily="18" charset="0"/>
              </a:rPr>
              <a:t>V</a:t>
            </a:r>
            <a:r>
              <a:rPr lang="en-US" sz="2800" dirty="0">
                <a:latin typeface="Palatino Linotype" panose="02040502050505030304" pitchFamily="18" charset="0"/>
              </a:rPr>
              <a:t> multiplied by A. </a:t>
            </a:r>
          </a:p>
          <a:p>
            <a:pPr algn="just"/>
            <a:r>
              <a:rPr lang="en-US" sz="2800" dirty="0">
                <a:latin typeface="Palatino Linotype" panose="02040502050505030304" pitchFamily="18" charset="0"/>
              </a:rPr>
              <a:t>This is called horizontal resolution (RH ) and is given by</a:t>
            </a:r>
          </a:p>
          <a:p>
            <a:pPr marL="0" indent="0" algn="ctr">
              <a:buNone/>
            </a:pPr>
            <a:r>
              <a:rPr lang="en-US" sz="2800" b="1" dirty="0">
                <a:solidFill>
                  <a:schemeClr val="accent1"/>
                </a:solidFill>
                <a:latin typeface="Palatino Linotype" panose="02040502050505030304" pitchFamily="18" charset="0"/>
              </a:rPr>
              <a:t>R</a:t>
            </a:r>
            <a:r>
              <a:rPr lang="en-US" sz="2800" b="1" baseline="-25000" dirty="0">
                <a:solidFill>
                  <a:schemeClr val="accent1"/>
                </a:solidFill>
                <a:latin typeface="Palatino Linotype" panose="02040502050505030304" pitchFamily="18" charset="0"/>
              </a:rPr>
              <a:t>H</a:t>
            </a:r>
            <a:r>
              <a:rPr lang="en-US" sz="2800" b="1" dirty="0">
                <a:solidFill>
                  <a:schemeClr val="accent1"/>
                </a:solidFill>
                <a:latin typeface="Palatino Linotype" panose="02040502050505030304" pitchFamily="18" charset="0"/>
              </a:rPr>
              <a:t> = R</a:t>
            </a:r>
            <a:r>
              <a:rPr lang="en-US" sz="2800" b="1" baseline="-25000" dirty="0">
                <a:solidFill>
                  <a:schemeClr val="accent1"/>
                </a:solidFill>
                <a:latin typeface="Palatino Linotype" panose="02040502050505030304" pitchFamily="18" charset="0"/>
              </a:rPr>
              <a:t>V</a:t>
            </a:r>
            <a:r>
              <a:rPr lang="en-US" sz="2800" b="1" dirty="0">
                <a:solidFill>
                  <a:schemeClr val="accent1"/>
                </a:solidFill>
                <a:latin typeface="Palatino Linotype" panose="02040502050505030304" pitchFamily="18" charset="0"/>
              </a:rPr>
              <a:t> x A</a:t>
            </a:r>
          </a:p>
          <a:p>
            <a:pPr algn="just"/>
            <a:r>
              <a:rPr lang="en-US" sz="2800" dirty="0">
                <a:latin typeface="Palatino Linotype" panose="02040502050505030304" pitchFamily="18" charset="0"/>
              </a:rPr>
              <a:t>Horizontal resolution will make horizontally located close features of a picture visible distinctly clear.</a:t>
            </a:r>
          </a:p>
          <a:p>
            <a:pPr algn="just"/>
            <a:r>
              <a:rPr lang="en-US" sz="2800" dirty="0">
                <a:latin typeface="Palatino Linotype" panose="02040502050505030304" pitchFamily="18" charset="0"/>
              </a:rPr>
              <a:t>For non-digital systems, A is 4/3. (for wide dimension digital TV systems, A is 16/9).</a:t>
            </a:r>
          </a:p>
          <a:p>
            <a:pPr algn="just"/>
            <a:r>
              <a:rPr lang="en-US" sz="2800" dirty="0">
                <a:latin typeface="Palatino Linotype" panose="02040502050505030304" pitchFamily="18" charset="0"/>
              </a:rPr>
              <a:t>Generally, resolution of a TV system is expressed in terms of vertical resolution.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Horizontal Resolution</a:t>
            </a:r>
          </a:p>
        </p:txBody>
      </p:sp>
    </p:spTree>
    <p:extLst>
      <p:ext uri="{BB962C8B-B14F-4D97-AF65-F5344CB8AC3E}">
        <p14:creationId xmlns:p14="http://schemas.microsoft.com/office/powerpoint/2010/main" val="3163888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24</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01</a:t>
            </a:r>
          </a:p>
        </p:txBody>
      </p:sp>
      <p:pic>
        <p:nvPicPr>
          <p:cNvPr id="5" name="Picture 4"/>
          <p:cNvPicPr>
            <a:picLocks noChangeAspect="1"/>
          </p:cNvPicPr>
          <p:nvPr/>
        </p:nvPicPr>
        <p:blipFill>
          <a:blip r:embed="rId2"/>
          <a:stretch>
            <a:fillRect/>
          </a:stretch>
        </p:blipFill>
        <p:spPr>
          <a:xfrm>
            <a:off x="276333" y="1964992"/>
            <a:ext cx="11552251" cy="3272026"/>
          </a:xfrm>
          <a:prstGeom prst="rect">
            <a:avLst/>
          </a:prstGeom>
        </p:spPr>
      </p:pic>
    </p:spTree>
    <p:extLst>
      <p:ext uri="{BB962C8B-B14F-4D97-AF65-F5344CB8AC3E}">
        <p14:creationId xmlns:p14="http://schemas.microsoft.com/office/powerpoint/2010/main" val="4275554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25</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02</a:t>
            </a:r>
          </a:p>
        </p:txBody>
      </p:sp>
      <p:pic>
        <p:nvPicPr>
          <p:cNvPr id="5" name="Picture 4"/>
          <p:cNvPicPr>
            <a:picLocks noChangeAspect="1"/>
          </p:cNvPicPr>
          <p:nvPr/>
        </p:nvPicPr>
        <p:blipFill>
          <a:blip r:embed="rId2"/>
          <a:stretch>
            <a:fillRect/>
          </a:stretch>
        </p:blipFill>
        <p:spPr>
          <a:xfrm>
            <a:off x="363415" y="1683715"/>
            <a:ext cx="11751979" cy="2763593"/>
          </a:xfrm>
          <a:prstGeom prst="rect">
            <a:avLst/>
          </a:prstGeom>
        </p:spPr>
      </p:pic>
    </p:spTree>
    <p:extLst>
      <p:ext uri="{BB962C8B-B14F-4D97-AF65-F5344CB8AC3E}">
        <p14:creationId xmlns:p14="http://schemas.microsoft.com/office/powerpoint/2010/main" val="4294413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26</a:t>
            </a:fld>
            <a:endParaRPr lang="en-US" noProof="0" dirty="0"/>
          </a:p>
        </p:txBody>
      </p:sp>
      <p:sp>
        <p:nvSpPr>
          <p:cNvPr id="3" name="Content Placeholder 2"/>
          <p:cNvSpPr>
            <a:spLocks noGrp="1"/>
          </p:cNvSpPr>
          <p:nvPr>
            <p:ph idx="1"/>
          </p:nvPr>
        </p:nvSpPr>
        <p:spPr>
          <a:xfrm>
            <a:off x="363415" y="1825625"/>
            <a:ext cx="6369893" cy="4351338"/>
          </a:xfrm>
        </p:spPr>
        <p:txBody>
          <a:bodyPr>
            <a:normAutofit/>
          </a:bodyPr>
          <a:lstStyle/>
          <a:p>
            <a:pPr algn="just"/>
            <a:r>
              <a:rPr lang="en-US" sz="2800" dirty="0">
                <a:latin typeface="Palatino Linotype" panose="02040502050505030304" pitchFamily="18" charset="0"/>
              </a:rPr>
              <a:t>Bandwidth is the highest video frequency related to the time taken in scanning two adjacent pixels.</a:t>
            </a:r>
          </a:p>
          <a:p>
            <a:pPr algn="just"/>
            <a:r>
              <a:rPr lang="en-US" sz="2800" dirty="0">
                <a:latin typeface="Palatino Linotype" panose="02040502050505030304" pitchFamily="18" charset="0"/>
              </a:rPr>
              <a:t>Consider a figure showing 4 successive pixels and the corresponding 2 cycles of brightness.</a:t>
            </a:r>
          </a:p>
          <a:p>
            <a:pPr algn="just"/>
            <a:r>
              <a:rPr lang="en-US" sz="2800" dirty="0">
                <a:latin typeface="Palatino Linotype" panose="02040502050505030304" pitchFamily="18" charset="0"/>
              </a:rPr>
              <a:t>Time period T is the time taken in scanning one cycle of two adjacent pixels.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Bandwidth</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041696" y="2263684"/>
            <a:ext cx="4849234" cy="2723952"/>
          </a:xfrm>
          <a:prstGeom prst="rect">
            <a:avLst/>
          </a:prstGeom>
        </p:spPr>
      </p:pic>
    </p:spTree>
    <p:extLst>
      <p:ext uri="{BB962C8B-B14F-4D97-AF65-F5344CB8AC3E}">
        <p14:creationId xmlns:p14="http://schemas.microsoft.com/office/powerpoint/2010/main" val="3753643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27</a:t>
            </a:fld>
            <a:endParaRPr lang="en-US" noProof="0"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363416" y="831273"/>
                <a:ext cx="11465168" cy="5345690"/>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If </a:t>
                </a:r>
                <a:r>
                  <a:rPr lang="en-US" sz="2800" i="1" dirty="0">
                    <a:latin typeface="Palatino Linotype" panose="02040502050505030304" pitchFamily="18" charset="0"/>
                  </a:rPr>
                  <a:t>t</a:t>
                </a:r>
                <a:r>
                  <a:rPr lang="en-US" sz="2800" dirty="0">
                    <a:latin typeface="Palatino Linotype" panose="02040502050505030304" pitchFamily="18" charset="0"/>
                  </a:rPr>
                  <a:t> is the time in seconds for scanning one line (excluding retrace time), then </a:t>
                </a:r>
                <a:r>
                  <a:rPr lang="en-US" sz="2800" i="1" dirty="0">
                    <a:latin typeface="Palatino Linotype" panose="02040502050505030304" pitchFamily="18" charset="0"/>
                  </a:rPr>
                  <a:t>R</a:t>
                </a:r>
                <a:r>
                  <a:rPr lang="en-US" sz="2800" i="1" baseline="-25000" dirty="0">
                    <a:latin typeface="Palatino Linotype" panose="02040502050505030304" pitchFamily="18" charset="0"/>
                  </a:rPr>
                  <a:t>H</a:t>
                </a:r>
                <a:r>
                  <a:rPr lang="en-US" sz="2800" dirty="0">
                    <a:latin typeface="Palatino Linotype" panose="02040502050505030304" pitchFamily="18" charset="0"/>
                  </a:rPr>
                  <a:t> pixels are scanned in </a:t>
                </a:r>
                <a:r>
                  <a:rPr lang="en-US" sz="2800" i="1" dirty="0">
                    <a:latin typeface="Palatino Linotype" panose="02040502050505030304" pitchFamily="18" charset="0"/>
                  </a:rPr>
                  <a:t>t</a:t>
                </a:r>
                <a:r>
                  <a:rPr lang="en-US" sz="2800" dirty="0">
                    <a:latin typeface="Palatino Linotype" panose="02040502050505030304" pitchFamily="18" charset="0"/>
                  </a:rPr>
                  <a:t> second. </a:t>
                </a:r>
              </a:p>
              <a:p>
                <a:pPr algn="just"/>
                <a:r>
                  <a:rPr lang="en-US" sz="2800" dirty="0">
                    <a:latin typeface="Palatino Linotype" panose="02040502050505030304" pitchFamily="18" charset="0"/>
                  </a:rPr>
                  <a:t>Therefore 2 pixels shall be scanned in 2t/R</a:t>
                </a:r>
                <a:r>
                  <a:rPr lang="en-US" sz="2800" baseline="-25000" dirty="0">
                    <a:latin typeface="Palatino Linotype" panose="02040502050505030304" pitchFamily="18" charset="0"/>
                  </a:rPr>
                  <a:t>H</a:t>
                </a:r>
                <a:r>
                  <a:rPr lang="en-US" sz="2800" dirty="0">
                    <a:latin typeface="Palatino Linotype" panose="02040502050505030304" pitchFamily="18" charset="0"/>
                  </a:rPr>
                  <a:t> second. </a:t>
                </a:r>
              </a:p>
              <a:p>
                <a:pPr algn="just"/>
                <a:r>
                  <a:rPr lang="en-US" sz="2800" dirty="0">
                    <a:latin typeface="Palatino Linotype" panose="02040502050505030304" pitchFamily="18" charset="0"/>
                  </a:rPr>
                  <a:t>Thus time period T is given by</a:t>
                </a:r>
              </a:p>
              <a:p>
                <a:pPr marL="0" indent="0" algn="just">
                  <a:buNone/>
                </a:pPr>
                <a14:m>
                  <m:oMathPara xmlns:m="http://schemas.openxmlformats.org/officeDocument/2006/math">
                    <m:oMathParaPr>
                      <m:jc m:val="centerGroup"/>
                    </m:oMathParaPr>
                    <m:oMath xmlns:m="http://schemas.openxmlformats.org/officeDocument/2006/math">
                      <m:r>
                        <a:rPr lang="en-US" sz="2800" b="1" i="1" smtClean="0">
                          <a:solidFill>
                            <a:schemeClr val="accent1"/>
                          </a:solidFill>
                          <a:latin typeface="Cambria Math" panose="02040503050406030204" pitchFamily="18" charset="0"/>
                        </a:rPr>
                        <m:t>𝑻</m:t>
                      </m:r>
                      <m:r>
                        <a:rPr lang="en-US" sz="2800" b="1" i="1" smtClean="0">
                          <a:solidFill>
                            <a:schemeClr val="accent1"/>
                          </a:solidFill>
                          <a:latin typeface="Cambria Math" panose="02040503050406030204" pitchFamily="18" charset="0"/>
                        </a:rPr>
                        <m:t>= </m:t>
                      </m:r>
                      <m:f>
                        <m:fPr>
                          <m:ctrlPr>
                            <a:rPr lang="en-US" sz="2800" b="1" i="1" smtClean="0">
                              <a:solidFill>
                                <a:schemeClr val="accent1"/>
                              </a:solidFill>
                              <a:latin typeface="Cambria Math" panose="02040503050406030204" pitchFamily="18" charset="0"/>
                            </a:rPr>
                          </m:ctrlPr>
                        </m:fPr>
                        <m:num>
                          <m:r>
                            <a:rPr lang="en-US" sz="2800" b="1" i="1" smtClean="0">
                              <a:solidFill>
                                <a:schemeClr val="accent1"/>
                              </a:solidFill>
                              <a:latin typeface="Cambria Math" panose="02040503050406030204" pitchFamily="18" charset="0"/>
                            </a:rPr>
                            <m:t>𝟐</m:t>
                          </m:r>
                          <m:r>
                            <a:rPr lang="en-US" sz="2800" b="1" i="1" smtClean="0">
                              <a:solidFill>
                                <a:schemeClr val="accent1"/>
                              </a:solidFill>
                              <a:latin typeface="Cambria Math" panose="02040503050406030204" pitchFamily="18" charset="0"/>
                              <a:ea typeface="Cambria Math" panose="02040503050406030204" pitchFamily="18" charset="0"/>
                            </a:rPr>
                            <m:t>×</m:t>
                          </m:r>
                          <m:r>
                            <a:rPr lang="en-US" sz="2800" b="1" i="1" smtClean="0">
                              <a:solidFill>
                                <a:schemeClr val="accent1"/>
                              </a:solidFill>
                              <a:latin typeface="Cambria Math" panose="02040503050406030204" pitchFamily="18" charset="0"/>
                              <a:ea typeface="Cambria Math" panose="02040503050406030204" pitchFamily="18" charset="0"/>
                            </a:rPr>
                            <m:t>𝒕</m:t>
                          </m:r>
                        </m:num>
                        <m:den>
                          <m:sSub>
                            <m:sSubPr>
                              <m:ctrlPr>
                                <a:rPr lang="en-US" sz="2800" b="1" i="1" smtClean="0">
                                  <a:solidFill>
                                    <a:schemeClr val="accent1"/>
                                  </a:solidFill>
                                  <a:latin typeface="Cambria Math" panose="02040503050406030204" pitchFamily="18" charset="0"/>
                                </a:rPr>
                              </m:ctrlPr>
                            </m:sSubPr>
                            <m:e>
                              <m:r>
                                <a:rPr lang="en-US" sz="2800" b="1" i="1" smtClean="0">
                                  <a:solidFill>
                                    <a:schemeClr val="accent1"/>
                                  </a:solidFill>
                                  <a:latin typeface="Cambria Math" panose="02040503050406030204" pitchFamily="18" charset="0"/>
                                </a:rPr>
                                <m:t>𝑹</m:t>
                              </m:r>
                            </m:e>
                            <m:sub>
                              <m:r>
                                <a:rPr lang="en-US" sz="2800" b="1" i="1" smtClean="0">
                                  <a:solidFill>
                                    <a:schemeClr val="accent1"/>
                                  </a:solidFill>
                                  <a:latin typeface="Cambria Math" panose="02040503050406030204" pitchFamily="18" charset="0"/>
                                </a:rPr>
                                <m:t>𝑯</m:t>
                              </m:r>
                            </m:sub>
                          </m:sSub>
                        </m:den>
                      </m:f>
                    </m:oMath>
                  </m:oMathPara>
                </a14:m>
                <a:endParaRPr lang="en-US" sz="2800" b="1" dirty="0">
                  <a:latin typeface="Palatino Linotype" panose="02040502050505030304" pitchFamily="18" charset="0"/>
                </a:endParaRPr>
              </a:p>
              <a:p>
                <a:pPr algn="just"/>
                <a:r>
                  <a:rPr lang="en-US" sz="2800" dirty="0">
                    <a:latin typeface="Palatino Linotype" panose="02040502050505030304" pitchFamily="18" charset="0"/>
                  </a:rPr>
                  <a:t>Video bandwidth will be given by</a:t>
                </a:r>
              </a:p>
              <a:p>
                <a:pPr marL="0" indent="0" algn="just">
                  <a:buNone/>
                </a:pPr>
                <a14:m>
                  <m:oMathPara xmlns:m="http://schemas.openxmlformats.org/officeDocument/2006/math">
                    <m:oMathParaPr>
                      <m:jc m:val="centerGroup"/>
                    </m:oMathParaPr>
                    <m:oMath xmlns:m="http://schemas.openxmlformats.org/officeDocument/2006/math">
                      <m:r>
                        <a:rPr lang="en-US" sz="2800" b="1" i="1" smtClean="0">
                          <a:solidFill>
                            <a:schemeClr val="accent1"/>
                          </a:solidFill>
                          <a:latin typeface="Cambria Math" panose="02040503050406030204" pitchFamily="18" charset="0"/>
                        </a:rPr>
                        <m:t>𝑩𝒂𝒏𝒅𝒘𝒊𝒅𝒕𝒉</m:t>
                      </m:r>
                      <m:r>
                        <a:rPr lang="en-US" sz="2800" b="1" i="1" smtClean="0">
                          <a:solidFill>
                            <a:schemeClr val="accent1"/>
                          </a:solidFill>
                          <a:latin typeface="Cambria Math" panose="02040503050406030204" pitchFamily="18" charset="0"/>
                        </a:rPr>
                        <m:t>= </m:t>
                      </m:r>
                      <m:f>
                        <m:fPr>
                          <m:ctrlPr>
                            <a:rPr lang="en-US" sz="2800" b="1" i="1" smtClean="0">
                              <a:solidFill>
                                <a:schemeClr val="accent1"/>
                              </a:solidFill>
                              <a:latin typeface="Cambria Math" panose="02040503050406030204" pitchFamily="18" charset="0"/>
                            </a:rPr>
                          </m:ctrlPr>
                        </m:fPr>
                        <m:num>
                          <m:r>
                            <a:rPr lang="en-US" sz="2800" b="1" i="1" smtClean="0">
                              <a:solidFill>
                                <a:schemeClr val="accent1"/>
                              </a:solidFill>
                              <a:latin typeface="Cambria Math" panose="02040503050406030204" pitchFamily="18" charset="0"/>
                            </a:rPr>
                            <m:t>𝟏</m:t>
                          </m:r>
                        </m:num>
                        <m:den>
                          <m:r>
                            <a:rPr lang="en-US" sz="2800" b="1" i="1" smtClean="0">
                              <a:solidFill>
                                <a:schemeClr val="accent1"/>
                              </a:solidFill>
                              <a:latin typeface="Cambria Math" panose="02040503050406030204" pitchFamily="18" charset="0"/>
                            </a:rPr>
                            <m:t>𝑻</m:t>
                          </m:r>
                        </m:den>
                      </m:f>
                      <m:r>
                        <a:rPr lang="en-US" sz="2800" b="1" i="1" smtClean="0">
                          <a:solidFill>
                            <a:schemeClr val="accent1"/>
                          </a:solidFill>
                          <a:latin typeface="Cambria Math" panose="02040503050406030204" pitchFamily="18" charset="0"/>
                        </a:rPr>
                        <m:t>= </m:t>
                      </m:r>
                      <m:f>
                        <m:fPr>
                          <m:ctrlPr>
                            <a:rPr lang="en-US" sz="2800" b="1" i="1" smtClean="0">
                              <a:solidFill>
                                <a:schemeClr val="accent1"/>
                              </a:solidFill>
                              <a:latin typeface="Cambria Math" panose="02040503050406030204" pitchFamily="18" charset="0"/>
                            </a:rPr>
                          </m:ctrlPr>
                        </m:fPr>
                        <m:num>
                          <m:sSub>
                            <m:sSubPr>
                              <m:ctrlPr>
                                <a:rPr lang="en-US" sz="2800" b="1" i="1" smtClean="0">
                                  <a:solidFill>
                                    <a:schemeClr val="accent1"/>
                                  </a:solidFill>
                                  <a:latin typeface="Cambria Math" panose="02040503050406030204" pitchFamily="18" charset="0"/>
                                </a:rPr>
                              </m:ctrlPr>
                            </m:sSubPr>
                            <m:e>
                              <m:r>
                                <a:rPr lang="en-US" sz="2800" b="1" i="1" smtClean="0">
                                  <a:solidFill>
                                    <a:schemeClr val="accent1"/>
                                  </a:solidFill>
                                  <a:latin typeface="Cambria Math" panose="02040503050406030204" pitchFamily="18" charset="0"/>
                                </a:rPr>
                                <m:t>𝑹</m:t>
                              </m:r>
                            </m:e>
                            <m:sub>
                              <m:r>
                                <a:rPr lang="en-US" sz="2800" b="1" i="1" smtClean="0">
                                  <a:solidFill>
                                    <a:schemeClr val="accent1"/>
                                  </a:solidFill>
                                  <a:latin typeface="Cambria Math" panose="02040503050406030204" pitchFamily="18" charset="0"/>
                                </a:rPr>
                                <m:t>𝑯</m:t>
                              </m:r>
                            </m:sub>
                          </m:sSub>
                        </m:num>
                        <m:den>
                          <m:r>
                            <a:rPr lang="en-US" sz="2800" b="1" i="1" smtClean="0">
                              <a:solidFill>
                                <a:schemeClr val="accent1"/>
                              </a:solidFill>
                              <a:latin typeface="Cambria Math" panose="02040503050406030204" pitchFamily="18" charset="0"/>
                            </a:rPr>
                            <m:t>𝟐</m:t>
                          </m:r>
                          <m:r>
                            <a:rPr lang="en-US" sz="2800" b="1" i="1" smtClean="0">
                              <a:solidFill>
                                <a:schemeClr val="accent1"/>
                              </a:solidFill>
                              <a:latin typeface="Cambria Math" panose="02040503050406030204" pitchFamily="18" charset="0"/>
                            </a:rPr>
                            <m:t>𝒕</m:t>
                          </m:r>
                        </m:den>
                      </m:f>
                    </m:oMath>
                  </m:oMathPara>
                </a14:m>
                <a:endParaRPr lang="en-US" sz="2800" b="1" dirty="0">
                  <a:latin typeface="Palatino Linotype" panose="02040502050505030304" pitchFamily="18" charset="0"/>
                </a:endParaRPr>
              </a:p>
              <a:p>
                <a:pPr algn="just"/>
                <a:r>
                  <a:rPr lang="en-US" sz="2800" dirty="0">
                    <a:latin typeface="Palatino Linotype" panose="02040502050505030304" pitchFamily="18" charset="0"/>
                  </a:rPr>
                  <a:t>The next example shows that the video bandwidth for 625 lines per frame system will be about 5 MHz</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363416" y="831273"/>
                <a:ext cx="11465168" cy="5345690"/>
              </a:xfrm>
              <a:prstGeom prst="rect">
                <a:avLst/>
              </a:prstGeom>
              <a:blipFill rotWithShape="0">
                <a:blip r:embed="rId2"/>
                <a:stretch>
                  <a:fillRect l="-957" t="-2052" r="-1117"/>
                </a:stretch>
              </a:blipFill>
            </p:spPr>
            <p:txBody>
              <a:bodyPr/>
              <a:lstStyle/>
              <a:p>
                <a:r>
                  <a:rPr lang="en-US">
                    <a:noFill/>
                  </a:rPr>
                  <a:t> </a:t>
                </a:r>
              </a:p>
            </p:txBody>
          </p:sp>
        </mc:Fallback>
      </mc:AlternateContent>
    </p:spTree>
    <p:extLst>
      <p:ext uri="{BB962C8B-B14F-4D97-AF65-F5344CB8AC3E}">
        <p14:creationId xmlns:p14="http://schemas.microsoft.com/office/powerpoint/2010/main" val="2461450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28</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03</a:t>
            </a:r>
          </a:p>
        </p:txBody>
      </p:sp>
      <p:pic>
        <p:nvPicPr>
          <p:cNvPr id="6" name="Picture 5"/>
          <p:cNvPicPr>
            <a:picLocks noChangeAspect="1"/>
          </p:cNvPicPr>
          <p:nvPr/>
        </p:nvPicPr>
        <p:blipFill>
          <a:blip r:embed="rId2"/>
          <a:stretch>
            <a:fillRect/>
          </a:stretch>
        </p:blipFill>
        <p:spPr>
          <a:xfrm>
            <a:off x="363416" y="1658315"/>
            <a:ext cx="11284993" cy="2622739"/>
          </a:xfrm>
          <a:prstGeom prst="rect">
            <a:avLst/>
          </a:prstGeom>
        </p:spPr>
      </p:pic>
    </p:spTree>
    <p:extLst>
      <p:ext uri="{BB962C8B-B14F-4D97-AF65-F5344CB8AC3E}">
        <p14:creationId xmlns:p14="http://schemas.microsoft.com/office/powerpoint/2010/main" val="713949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29</a:t>
            </a:fld>
            <a:endParaRPr lang="en-US" noProof="0" dirty="0"/>
          </a:p>
        </p:txBody>
      </p:sp>
      <p:sp>
        <p:nvSpPr>
          <p:cNvPr id="3" name="Content Placeholder 2"/>
          <p:cNvSpPr>
            <a:spLocks noGrp="1"/>
          </p:cNvSpPr>
          <p:nvPr>
            <p:ph idx="1"/>
          </p:nvPr>
        </p:nvSpPr>
        <p:spPr>
          <a:xfrm>
            <a:off x="363416" y="1620982"/>
            <a:ext cx="6182857" cy="5091610"/>
          </a:xfrm>
        </p:spPr>
        <p:txBody>
          <a:bodyPr>
            <a:normAutofit/>
          </a:bodyPr>
          <a:lstStyle/>
          <a:p>
            <a:pPr algn="just"/>
            <a:r>
              <a:rPr lang="en-US" sz="2800" dirty="0">
                <a:latin typeface="Palatino Linotype" panose="02040502050505030304" pitchFamily="18" charset="0"/>
              </a:rPr>
              <a:t>Smaller the size of pixels that can be reproduced, better would be the resolution. </a:t>
            </a:r>
          </a:p>
          <a:p>
            <a:pPr algn="just"/>
            <a:r>
              <a:rPr lang="en-US" sz="2800" dirty="0">
                <a:latin typeface="Palatino Linotype" panose="02040502050505030304" pitchFamily="18" charset="0"/>
              </a:rPr>
              <a:t>At the same time, smaller the size of pixels, less would be the time taken in scanning two adjacent pixels and hence higher the bandwidth.</a:t>
            </a:r>
          </a:p>
          <a:p>
            <a:pPr algn="just"/>
            <a:r>
              <a:rPr lang="en-US" sz="2800" dirty="0">
                <a:latin typeface="Palatino Linotype" panose="02040502050505030304" pitchFamily="18" charset="0"/>
              </a:rPr>
              <a:t>Thus the resolution and bandwidth depend on each other. Higher bandwidth gives better resolution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Relationship Between Resolution and Bandwidth</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582057" y="2468027"/>
            <a:ext cx="5316253" cy="3059937"/>
          </a:xfrm>
          <a:prstGeom prst="rect">
            <a:avLst/>
          </a:prstGeom>
        </p:spPr>
      </p:pic>
    </p:spTree>
    <p:extLst>
      <p:ext uri="{BB962C8B-B14F-4D97-AF65-F5344CB8AC3E}">
        <p14:creationId xmlns:p14="http://schemas.microsoft.com/office/powerpoint/2010/main" val="702914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30</a:t>
            </a:fld>
            <a:endParaRPr lang="en-US" noProof="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63416" y="1620982"/>
                <a:ext cx="11465168" cy="5091610"/>
              </a:xfrm>
            </p:spPr>
            <p:txBody>
              <a:bodyPr>
                <a:normAutofit lnSpcReduction="10000"/>
              </a:bodyPr>
              <a:lstStyle/>
              <a:p>
                <a:pPr algn="just"/>
                <a:r>
                  <a:rPr lang="en-US" sz="2800" dirty="0">
                    <a:latin typeface="Palatino Linotype" panose="02040502050505030304" pitchFamily="18" charset="0"/>
                  </a:rPr>
                  <a:t>From the equation</a:t>
                </a:r>
              </a:p>
              <a:p>
                <a:pPr marL="0" indent="0" algn="just">
                  <a:buNone/>
                </a:pPr>
                <a14:m>
                  <m:oMathPara xmlns:m="http://schemas.openxmlformats.org/officeDocument/2006/math">
                    <m:oMathParaPr>
                      <m:jc m:val="centerGroup"/>
                    </m:oMathParaPr>
                    <m:oMath xmlns:m="http://schemas.openxmlformats.org/officeDocument/2006/math">
                      <m:r>
                        <a:rPr lang="en-US" sz="2800" b="1" i="1">
                          <a:solidFill>
                            <a:schemeClr val="accent1"/>
                          </a:solidFill>
                          <a:latin typeface="Cambria Math" panose="02040503050406030204" pitchFamily="18" charset="0"/>
                        </a:rPr>
                        <m:t>𝑩𝒂𝒏𝒅𝒘𝒊𝒅𝒕𝒉</m:t>
                      </m:r>
                      <m:r>
                        <a:rPr lang="en-US" sz="2800" b="1" i="1">
                          <a:solidFill>
                            <a:schemeClr val="accent1"/>
                          </a:solidFill>
                          <a:latin typeface="Cambria Math" panose="02040503050406030204" pitchFamily="18" charset="0"/>
                        </a:rPr>
                        <m:t>=</m:t>
                      </m:r>
                      <m:f>
                        <m:fPr>
                          <m:ctrlPr>
                            <a:rPr lang="en-US" sz="2800" b="1" i="1">
                              <a:solidFill>
                                <a:schemeClr val="accent1"/>
                              </a:solidFill>
                              <a:latin typeface="Cambria Math" panose="02040503050406030204" pitchFamily="18" charset="0"/>
                            </a:rPr>
                          </m:ctrlPr>
                        </m:fPr>
                        <m:num>
                          <m:sSub>
                            <m:sSubPr>
                              <m:ctrlPr>
                                <a:rPr lang="en-US" sz="2800" b="1" i="1">
                                  <a:solidFill>
                                    <a:schemeClr val="accent1"/>
                                  </a:solidFill>
                                  <a:latin typeface="Cambria Math" panose="02040503050406030204" pitchFamily="18" charset="0"/>
                                </a:rPr>
                              </m:ctrlPr>
                            </m:sSubPr>
                            <m:e>
                              <m:r>
                                <a:rPr lang="en-US" sz="2800" b="1" i="1">
                                  <a:solidFill>
                                    <a:schemeClr val="accent1"/>
                                  </a:solidFill>
                                  <a:latin typeface="Cambria Math" panose="02040503050406030204" pitchFamily="18" charset="0"/>
                                </a:rPr>
                                <m:t>𝑹</m:t>
                              </m:r>
                            </m:e>
                            <m:sub>
                              <m:r>
                                <a:rPr lang="en-US" sz="2800" b="1" i="1">
                                  <a:solidFill>
                                    <a:schemeClr val="accent1"/>
                                  </a:solidFill>
                                  <a:latin typeface="Cambria Math" panose="02040503050406030204" pitchFamily="18" charset="0"/>
                                </a:rPr>
                                <m:t>𝑯</m:t>
                              </m:r>
                            </m:sub>
                          </m:sSub>
                        </m:num>
                        <m:den>
                          <m:r>
                            <a:rPr lang="en-US" sz="2800" b="1" i="1">
                              <a:solidFill>
                                <a:schemeClr val="accent1"/>
                              </a:solidFill>
                              <a:latin typeface="Cambria Math" panose="02040503050406030204" pitchFamily="18" charset="0"/>
                            </a:rPr>
                            <m:t>𝟐</m:t>
                          </m:r>
                          <m:r>
                            <a:rPr lang="en-US" sz="2800" b="1" i="1">
                              <a:solidFill>
                                <a:schemeClr val="accent1"/>
                              </a:solidFill>
                              <a:latin typeface="Cambria Math" panose="02040503050406030204" pitchFamily="18" charset="0"/>
                            </a:rPr>
                            <m:t>𝒕</m:t>
                          </m:r>
                        </m:den>
                      </m:f>
                      <m:r>
                        <a:rPr lang="en-US" sz="2800" b="1" i="1" smtClean="0">
                          <a:solidFill>
                            <a:schemeClr val="accent1"/>
                          </a:solidFill>
                          <a:latin typeface="Cambria Math" panose="02040503050406030204" pitchFamily="18" charset="0"/>
                        </a:rPr>
                        <m:t>= </m:t>
                      </m:r>
                      <m:f>
                        <m:fPr>
                          <m:ctrlPr>
                            <a:rPr lang="en-US" sz="2800" b="1" i="1" smtClean="0">
                              <a:solidFill>
                                <a:schemeClr val="accent1"/>
                              </a:solidFill>
                              <a:latin typeface="Cambria Math" panose="02040503050406030204" pitchFamily="18" charset="0"/>
                            </a:rPr>
                          </m:ctrlPr>
                        </m:fPr>
                        <m:num>
                          <m:d>
                            <m:dPr>
                              <m:ctrlPr>
                                <a:rPr lang="en-US" sz="2800" b="1" i="1" smtClean="0">
                                  <a:solidFill>
                                    <a:schemeClr val="accent1"/>
                                  </a:solidFill>
                                  <a:latin typeface="Cambria Math" panose="02040503050406030204" pitchFamily="18" charset="0"/>
                                </a:rPr>
                              </m:ctrlPr>
                            </m:dPr>
                            <m:e>
                              <m:sSub>
                                <m:sSubPr>
                                  <m:ctrlPr>
                                    <a:rPr lang="en-US" sz="2800" b="1" i="1" smtClean="0">
                                      <a:solidFill>
                                        <a:schemeClr val="accent1"/>
                                      </a:solidFill>
                                      <a:latin typeface="Cambria Math" panose="02040503050406030204" pitchFamily="18" charset="0"/>
                                    </a:rPr>
                                  </m:ctrlPr>
                                </m:sSubPr>
                                <m:e>
                                  <m:r>
                                    <a:rPr lang="en-US" sz="2800" b="1" i="1" smtClean="0">
                                      <a:solidFill>
                                        <a:schemeClr val="accent1"/>
                                      </a:solidFill>
                                      <a:latin typeface="Cambria Math" panose="02040503050406030204" pitchFamily="18" charset="0"/>
                                    </a:rPr>
                                    <m:t>𝑵</m:t>
                                  </m:r>
                                </m:e>
                                <m:sub>
                                  <m:r>
                                    <a:rPr lang="en-US" sz="2800" b="1" i="1" smtClean="0">
                                      <a:solidFill>
                                        <a:schemeClr val="accent1"/>
                                      </a:solidFill>
                                      <a:latin typeface="Cambria Math" panose="02040503050406030204" pitchFamily="18" charset="0"/>
                                    </a:rPr>
                                    <m:t>𝑻</m:t>
                                  </m:r>
                                </m:sub>
                              </m:sSub>
                              <m:r>
                                <a:rPr lang="en-US" sz="2800" b="1" i="1" smtClean="0">
                                  <a:solidFill>
                                    <a:schemeClr val="accent1"/>
                                  </a:solidFill>
                                  <a:latin typeface="Cambria Math" panose="02040503050406030204" pitchFamily="18" charset="0"/>
                                </a:rPr>
                                <m:t>−</m:t>
                              </m:r>
                              <m:sSub>
                                <m:sSubPr>
                                  <m:ctrlPr>
                                    <a:rPr lang="en-US" sz="2800" b="1" i="1" smtClean="0">
                                      <a:solidFill>
                                        <a:schemeClr val="accent1"/>
                                      </a:solidFill>
                                      <a:latin typeface="Cambria Math" panose="02040503050406030204" pitchFamily="18" charset="0"/>
                                    </a:rPr>
                                  </m:ctrlPr>
                                </m:sSubPr>
                                <m:e>
                                  <m:r>
                                    <a:rPr lang="en-US" sz="2800" b="1" i="1" smtClean="0">
                                      <a:solidFill>
                                        <a:schemeClr val="accent1"/>
                                      </a:solidFill>
                                      <a:latin typeface="Cambria Math" panose="02040503050406030204" pitchFamily="18" charset="0"/>
                                    </a:rPr>
                                    <m:t>𝑵</m:t>
                                  </m:r>
                                </m:e>
                                <m:sub>
                                  <m:r>
                                    <a:rPr lang="en-US" sz="2800" b="1" i="1" smtClean="0">
                                      <a:solidFill>
                                        <a:schemeClr val="accent1"/>
                                      </a:solidFill>
                                      <a:latin typeface="Cambria Math" panose="02040503050406030204" pitchFamily="18" charset="0"/>
                                    </a:rPr>
                                    <m:t>𝑳</m:t>
                                  </m:r>
                                </m:sub>
                              </m:sSub>
                            </m:e>
                          </m:d>
                          <m:r>
                            <a:rPr lang="en-US" sz="2800" b="1" i="1" smtClean="0">
                              <a:solidFill>
                                <a:schemeClr val="accent1"/>
                              </a:solidFill>
                              <a:latin typeface="Cambria Math" panose="02040503050406030204" pitchFamily="18" charset="0"/>
                              <a:ea typeface="Cambria Math" panose="02040503050406030204" pitchFamily="18" charset="0"/>
                            </a:rPr>
                            <m:t>×</m:t>
                          </m:r>
                          <m:r>
                            <a:rPr lang="en-US" sz="2800" b="1" i="1" smtClean="0">
                              <a:solidFill>
                                <a:schemeClr val="accent1"/>
                              </a:solidFill>
                              <a:latin typeface="Cambria Math" panose="02040503050406030204" pitchFamily="18" charset="0"/>
                              <a:ea typeface="Cambria Math" panose="02040503050406030204" pitchFamily="18" charset="0"/>
                            </a:rPr>
                            <m:t>𝑲</m:t>
                          </m:r>
                          <m:r>
                            <a:rPr lang="en-US" sz="2800" b="1" i="1" smtClean="0">
                              <a:solidFill>
                                <a:schemeClr val="accent1"/>
                              </a:solidFill>
                              <a:latin typeface="Cambria Math" panose="02040503050406030204" pitchFamily="18" charset="0"/>
                              <a:ea typeface="Cambria Math" panose="02040503050406030204" pitchFamily="18" charset="0"/>
                            </a:rPr>
                            <m:t>×</m:t>
                          </m:r>
                          <m:r>
                            <a:rPr lang="en-US" sz="2800" b="1" i="1" smtClean="0">
                              <a:solidFill>
                                <a:schemeClr val="accent1"/>
                              </a:solidFill>
                              <a:latin typeface="Cambria Math" panose="02040503050406030204" pitchFamily="18" charset="0"/>
                              <a:ea typeface="Cambria Math" panose="02040503050406030204" pitchFamily="18" charset="0"/>
                            </a:rPr>
                            <m:t>𝑨</m:t>
                          </m:r>
                        </m:num>
                        <m:den>
                          <m:r>
                            <a:rPr lang="en-US" sz="2800" b="1" i="1" smtClean="0">
                              <a:solidFill>
                                <a:schemeClr val="accent1"/>
                              </a:solidFill>
                              <a:latin typeface="Cambria Math" panose="02040503050406030204" pitchFamily="18" charset="0"/>
                            </a:rPr>
                            <m:t>𝟐</m:t>
                          </m:r>
                          <m:r>
                            <a:rPr lang="en-US" sz="2800" b="1" i="1" smtClean="0">
                              <a:solidFill>
                                <a:schemeClr val="accent1"/>
                              </a:solidFill>
                              <a:latin typeface="Cambria Math" panose="02040503050406030204" pitchFamily="18" charset="0"/>
                            </a:rPr>
                            <m:t>𝒕</m:t>
                          </m:r>
                        </m:den>
                      </m:f>
                    </m:oMath>
                  </m:oMathPara>
                </a14:m>
                <a:endParaRPr lang="en-US" sz="2800" dirty="0">
                  <a:latin typeface="Palatino Linotype" panose="02040502050505030304" pitchFamily="18" charset="0"/>
                </a:endParaRPr>
              </a:p>
              <a:p>
                <a:pPr algn="just"/>
                <a:r>
                  <a:rPr lang="en-US" sz="2800" dirty="0">
                    <a:latin typeface="Palatino Linotype" panose="02040502050505030304" pitchFamily="18" charset="0"/>
                  </a:rPr>
                  <a:t>The expanded equation shows the factors on which bandwidth and resolution depend. These factors are</a:t>
                </a:r>
              </a:p>
              <a:p>
                <a:pPr marL="971550" lvl="1" indent="-514350" algn="just">
                  <a:buFont typeface="+mj-lt"/>
                  <a:buAutoNum type="arabicParenR"/>
                </a:pPr>
                <a:r>
                  <a:rPr lang="en-US" sz="2600" dirty="0">
                    <a:latin typeface="Palatino Linotype" panose="02040502050505030304" pitchFamily="18" charset="0"/>
                  </a:rPr>
                  <a:t>Number of active scanning lines per fame (</a:t>
                </a:r>
                <a:r>
                  <a:rPr lang="en-US" sz="2600" dirty="0" err="1">
                    <a:latin typeface="Palatino Linotype" panose="02040502050505030304" pitchFamily="18" charset="0"/>
                  </a:rPr>
                  <a:t>i.e</a:t>
                </a:r>
                <a:r>
                  <a:rPr lang="en-US" sz="2600" dirty="0">
                    <a:latin typeface="Palatino Linotype" panose="02040502050505030304" pitchFamily="18" charset="0"/>
                  </a:rPr>
                  <a:t> N</a:t>
                </a:r>
                <a:r>
                  <a:rPr lang="en-US" sz="2600" baseline="-25000" dirty="0">
                    <a:latin typeface="Palatino Linotype" panose="02040502050505030304" pitchFamily="18" charset="0"/>
                  </a:rPr>
                  <a:t>T</a:t>
                </a:r>
                <a:r>
                  <a:rPr lang="en-US" sz="2600" dirty="0">
                    <a:latin typeface="Palatino Linotype" panose="02040502050505030304" pitchFamily="18" charset="0"/>
                  </a:rPr>
                  <a:t> – N</a:t>
                </a:r>
                <a:r>
                  <a:rPr lang="en-US" sz="2600" baseline="-25000" dirty="0">
                    <a:latin typeface="Palatino Linotype" panose="02040502050505030304" pitchFamily="18" charset="0"/>
                  </a:rPr>
                  <a:t>L</a:t>
                </a:r>
                <a:r>
                  <a:rPr lang="en-US" sz="2600" dirty="0">
                    <a:latin typeface="Palatino Linotype" panose="02040502050505030304" pitchFamily="18" charset="0"/>
                  </a:rPr>
                  <a:t>)</a:t>
                </a:r>
              </a:p>
              <a:p>
                <a:pPr marL="971550" lvl="1" indent="-514350" algn="just">
                  <a:buFont typeface="+mj-lt"/>
                  <a:buAutoNum type="arabicParenR"/>
                </a:pPr>
                <a:r>
                  <a:rPr lang="en-US" sz="2600" dirty="0">
                    <a:latin typeface="Palatino Linotype" panose="02040502050505030304" pitchFamily="18" charset="0"/>
                  </a:rPr>
                  <a:t>The scanning speed, which determines the time (t) taken in horizontal trace.</a:t>
                </a:r>
              </a:p>
              <a:p>
                <a:pPr marL="971550" lvl="1" indent="-514350" algn="just">
                  <a:buFont typeface="+mj-lt"/>
                  <a:buAutoNum type="arabicParenR"/>
                </a:pPr>
                <a:r>
                  <a:rPr lang="en-US" sz="2600" dirty="0">
                    <a:latin typeface="Palatino Linotype" panose="02040502050505030304" pitchFamily="18" charset="0"/>
                  </a:rPr>
                  <a:t>The size of the electron beam, which in turn determines the maximum number of scanning lines per frame and the </a:t>
                </a:r>
                <a:r>
                  <a:rPr lang="en-US" sz="2600" dirty="0" err="1">
                    <a:latin typeface="Palatino Linotype" panose="02040502050505030304" pitchFamily="18" charset="0"/>
                  </a:rPr>
                  <a:t>Kell</a:t>
                </a:r>
                <a:r>
                  <a:rPr lang="en-US" sz="2600" dirty="0">
                    <a:latin typeface="Palatino Linotype" panose="02040502050505030304" pitchFamily="18" charset="0"/>
                  </a:rPr>
                  <a:t> factor, K.</a:t>
                </a:r>
              </a:p>
              <a:p>
                <a:pPr marL="971550" lvl="1" indent="-514350" algn="just">
                  <a:buFont typeface="+mj-lt"/>
                  <a:buAutoNum type="arabicParenR"/>
                </a:pPr>
                <a:r>
                  <a:rPr lang="en-US" sz="2600" dirty="0">
                    <a:latin typeface="Palatino Linotype" panose="02040502050505030304" pitchFamily="18" charset="0"/>
                  </a:rPr>
                  <a:t>The aspect ratio (A). The higher the A, the higher will be the bandwidth.</a:t>
                </a:r>
              </a:p>
              <a:p>
                <a:pPr algn="just"/>
                <a:r>
                  <a:rPr lang="en-US" sz="2800" dirty="0">
                    <a:latin typeface="Palatino Linotype" panose="02040502050505030304" pitchFamily="18" charset="0"/>
                  </a:rPr>
                  <a:t>The resolution will also depend on the viewing distance.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63416" y="1620982"/>
                <a:ext cx="11465168" cy="5091610"/>
              </a:xfrm>
              <a:blipFill rotWithShape="0">
                <a:blip r:embed="rId2"/>
                <a:stretch>
                  <a:fillRect l="-957" t="-2874" r="-1117" b="-359"/>
                </a:stretch>
              </a:blipFill>
            </p:spPr>
            <p:txBody>
              <a:bodyPr/>
              <a:lstStyle/>
              <a:p>
                <a:r>
                  <a:rPr lang="en-US">
                    <a:noFill/>
                  </a:rPr>
                  <a:t> </a:t>
                </a:r>
              </a:p>
            </p:txBody>
          </p:sp>
        </mc:Fallback>
      </mc:AlternateContent>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Factors on Which Bandwidth and Resolution Depend</a:t>
            </a:r>
          </a:p>
        </p:txBody>
      </p:sp>
    </p:spTree>
    <p:extLst>
      <p:ext uri="{BB962C8B-B14F-4D97-AF65-F5344CB8AC3E}">
        <p14:creationId xmlns:p14="http://schemas.microsoft.com/office/powerpoint/2010/main" val="3253803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31</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This pertains to the frequency through which information varies.</a:t>
            </a:r>
          </a:p>
          <a:p>
            <a:pPr algn="just"/>
            <a:r>
              <a:rPr lang="en-US" sz="2800" dirty="0">
                <a:latin typeface="Palatino Linotype" panose="02040502050505030304" pitchFamily="18" charset="0"/>
              </a:rPr>
              <a:t>Example, audio signal’s frequency range is 16Hz to 20,000 Hz.</a:t>
            </a:r>
          </a:p>
          <a:p>
            <a:pPr lvl="1" algn="just"/>
            <a:r>
              <a:rPr lang="en-US" sz="2600" dirty="0">
                <a:latin typeface="Palatino Linotype" panose="02040502050505030304" pitchFamily="18" charset="0"/>
              </a:rPr>
              <a:t>Thus, an ideal audio circuit should have flat response up to 20 kHz.</a:t>
            </a:r>
          </a:p>
          <a:p>
            <a:pPr algn="just"/>
            <a:r>
              <a:rPr lang="en-US" sz="2800" dirty="0">
                <a:latin typeface="Palatino Linotype" panose="02040502050505030304" pitchFamily="18" charset="0"/>
              </a:rPr>
              <a:t>For telephone conversation, bandwidth is 4 kHz, for normal radio broadcast, 5 kHz, and for high fidelity, 15 kHz.</a:t>
            </a:r>
          </a:p>
          <a:p>
            <a:pPr algn="just"/>
            <a:r>
              <a:rPr lang="en-US" sz="2800" dirty="0">
                <a:latin typeface="Palatino Linotype" panose="02040502050505030304" pitchFamily="18" charset="0"/>
              </a:rPr>
              <a:t>Video variation can go up to 5 </a:t>
            </a:r>
            <a:r>
              <a:rPr lang="en-US" sz="2800" dirty="0" err="1">
                <a:latin typeface="Palatino Linotype" panose="02040502050505030304" pitchFamily="18" charset="0"/>
              </a:rPr>
              <a:t>MHz.</a:t>
            </a:r>
            <a:endParaRPr lang="en-US" sz="2800" dirty="0">
              <a:latin typeface="Palatino Linotype" panose="02040502050505030304" pitchFamily="18" charset="0"/>
            </a:endParaRPr>
          </a:p>
          <a:p>
            <a:pPr algn="just"/>
            <a:r>
              <a:rPr lang="en-US" sz="2800" dirty="0">
                <a:latin typeface="Palatino Linotype" panose="02040502050505030304" pitchFamily="18" charset="0"/>
              </a:rPr>
              <a:t>Colours have much lower bandwidth due to the limitation of eyes to see colour. The usual bandwidth for colour is less than 1.5 </a:t>
            </a:r>
            <a:r>
              <a:rPr lang="en-US" sz="2800" dirty="0" err="1">
                <a:latin typeface="Palatino Linotype" panose="02040502050505030304" pitchFamily="18" charset="0"/>
              </a:rPr>
              <a:t>MHz.</a:t>
            </a:r>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Bandwidth of the Baseband Signal</a:t>
            </a:r>
          </a:p>
        </p:txBody>
      </p:sp>
    </p:spTree>
    <p:extLst>
      <p:ext uri="{BB962C8B-B14F-4D97-AF65-F5344CB8AC3E}">
        <p14:creationId xmlns:p14="http://schemas.microsoft.com/office/powerpoint/2010/main" val="1448997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32</a:t>
            </a:fld>
            <a:endParaRPr lang="en-US" noProof="0" dirty="0"/>
          </a:p>
        </p:txBody>
      </p:sp>
      <p:sp>
        <p:nvSpPr>
          <p:cNvPr id="3" name="Content Placeholder 2"/>
          <p:cNvSpPr>
            <a:spLocks noGrp="1"/>
          </p:cNvSpPr>
          <p:nvPr>
            <p:ph idx="1"/>
          </p:nvPr>
        </p:nvSpPr>
        <p:spPr>
          <a:xfrm>
            <a:off x="363416" y="1763279"/>
            <a:ext cx="11465168" cy="4492048"/>
          </a:xfrm>
        </p:spPr>
        <p:txBody>
          <a:bodyPr>
            <a:normAutofit lnSpcReduction="10000"/>
          </a:bodyPr>
          <a:lstStyle/>
          <a:p>
            <a:pPr algn="just"/>
            <a:r>
              <a:rPr lang="en-US" sz="2800" dirty="0">
                <a:latin typeface="Palatino Linotype" panose="02040502050505030304" pitchFamily="18" charset="0"/>
              </a:rPr>
              <a:t>This is the bandwidth which is occupied by the baseband signal in a radio frequency spectrum. </a:t>
            </a:r>
          </a:p>
          <a:p>
            <a:pPr algn="just"/>
            <a:r>
              <a:rPr lang="en-US" sz="2800" dirty="0">
                <a:latin typeface="Palatino Linotype" panose="02040502050505030304" pitchFamily="18" charset="0"/>
              </a:rPr>
              <a:t>A baseband signal is transmitted by modulating a radio frequency carrier. </a:t>
            </a:r>
          </a:p>
          <a:p>
            <a:pPr algn="just"/>
            <a:r>
              <a:rPr lang="en-US" sz="2800" dirty="0">
                <a:latin typeface="Palatino Linotype" panose="02040502050505030304" pitchFamily="18" charset="0"/>
              </a:rPr>
              <a:t>In the modulated wave, the baseband information is contained in </a:t>
            </a:r>
          </a:p>
          <a:p>
            <a:pPr algn="just"/>
            <a:r>
              <a:rPr lang="en-US" sz="2800" dirty="0">
                <a:latin typeface="Palatino Linotype" panose="02040502050505030304" pitchFamily="18" charset="0"/>
              </a:rPr>
              <a:t>sidebands. </a:t>
            </a:r>
          </a:p>
          <a:p>
            <a:pPr algn="just"/>
            <a:r>
              <a:rPr lang="en-US" sz="2800" dirty="0">
                <a:latin typeface="Palatino Linotype" panose="02040502050505030304" pitchFamily="18" charset="0"/>
              </a:rPr>
              <a:t>Sidebands are equally spaced in frequency from the carrier. In amplitude modulation, there is one pair of sidebands, but in frequency modulation there may be many pairs.</a:t>
            </a:r>
          </a:p>
          <a:p>
            <a:pPr algn="just"/>
            <a:r>
              <a:rPr lang="en-US" sz="2800" dirty="0">
                <a:latin typeface="Palatino Linotype" panose="02040502050505030304" pitchFamily="18" charset="0"/>
              </a:rPr>
              <a:t>Amplitude modulation is used for video signal, whereas Frequency modulation for audio signal.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Signal Bandwidth</a:t>
            </a:r>
          </a:p>
        </p:txBody>
      </p:sp>
    </p:spTree>
    <p:extLst>
      <p:ext uri="{BB962C8B-B14F-4D97-AF65-F5344CB8AC3E}">
        <p14:creationId xmlns:p14="http://schemas.microsoft.com/office/powerpoint/2010/main" val="2662674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33</a:t>
            </a:fld>
            <a:endParaRPr lang="en-US" noProof="0" dirty="0"/>
          </a:p>
        </p:txBody>
      </p:sp>
      <p:sp>
        <p:nvSpPr>
          <p:cNvPr id="3" name="Content Placeholder 2"/>
          <p:cNvSpPr>
            <a:spLocks noGrp="1"/>
          </p:cNvSpPr>
          <p:nvPr>
            <p:ph idx="1"/>
          </p:nvPr>
        </p:nvSpPr>
        <p:spPr/>
        <p:txBody>
          <a:bodyPr>
            <a:normAutofit fontScale="92500"/>
          </a:bodyPr>
          <a:lstStyle/>
          <a:p>
            <a:pPr algn="just"/>
            <a:r>
              <a:rPr lang="en-US" sz="2800" dirty="0">
                <a:latin typeface="Palatino Linotype" panose="02040502050505030304" pitchFamily="18" charset="0"/>
              </a:rPr>
              <a:t>Scanning is done at the transmitter as well as at the receiver. Scanning in both transmitter and receiver should be identical. </a:t>
            </a:r>
          </a:p>
          <a:p>
            <a:pPr algn="just"/>
            <a:r>
              <a:rPr lang="en-US" sz="2800" dirty="0">
                <a:latin typeface="Palatino Linotype" panose="02040502050505030304" pitchFamily="18" charset="0"/>
              </a:rPr>
              <a:t>It should start at the same instant and at the same point of the screen at the receiver at which it starts in the transmitter. </a:t>
            </a:r>
          </a:p>
          <a:p>
            <a:pPr algn="just"/>
            <a:r>
              <a:rPr lang="en-US" sz="2800" dirty="0">
                <a:latin typeface="Palatino Linotype" panose="02040502050505030304" pitchFamily="18" charset="0"/>
              </a:rPr>
              <a:t>This is called </a:t>
            </a:r>
            <a:r>
              <a:rPr lang="en-US" sz="2800" dirty="0" err="1">
                <a:latin typeface="Palatino Linotype" panose="02040502050505030304" pitchFamily="18" charset="0"/>
              </a:rPr>
              <a:t>synchronisation</a:t>
            </a:r>
            <a:r>
              <a:rPr lang="en-US" sz="2800" dirty="0">
                <a:latin typeface="Palatino Linotype" panose="02040502050505030304" pitchFamily="18" charset="0"/>
              </a:rPr>
              <a:t> between the transmitter and the receiver. </a:t>
            </a:r>
          </a:p>
          <a:p>
            <a:pPr algn="just"/>
            <a:r>
              <a:rPr lang="en-US" sz="2800" dirty="0">
                <a:latin typeface="Palatino Linotype" panose="02040502050505030304" pitchFamily="18" charset="0"/>
              </a:rPr>
              <a:t>If the scanning is not synchronized, the picture would be totally displaced, and the object which are on the top of the original picture may appear on the bottom in the reproduced picture due to lack of vertical synchronization.</a:t>
            </a:r>
          </a:p>
          <a:p>
            <a:pPr algn="just"/>
            <a:r>
              <a:rPr lang="en-US" sz="2800" dirty="0">
                <a:latin typeface="Palatino Linotype" panose="02040502050505030304" pitchFamily="18" charset="0"/>
              </a:rPr>
              <a:t>Lack of horizontal </a:t>
            </a:r>
            <a:r>
              <a:rPr lang="en-US" sz="2800" dirty="0" err="1">
                <a:latin typeface="Palatino Linotype" panose="02040502050505030304" pitchFamily="18" charset="0"/>
              </a:rPr>
              <a:t>synchronisation</a:t>
            </a:r>
            <a:r>
              <a:rPr lang="en-US" sz="2800" dirty="0">
                <a:latin typeface="Palatino Linotype" panose="02040502050505030304" pitchFamily="18" charset="0"/>
              </a:rPr>
              <a:t> will split the picture diagonally.</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Synchronisation</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3229189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34</a:t>
            </a:fld>
            <a:endParaRPr lang="en-US" noProof="0" dirty="0"/>
          </a:p>
        </p:txBody>
      </p:sp>
      <p:pic>
        <p:nvPicPr>
          <p:cNvPr id="3" name="Picture 2"/>
          <p:cNvPicPr>
            <a:picLocks noChangeAspect="1"/>
          </p:cNvPicPr>
          <p:nvPr/>
        </p:nvPicPr>
        <p:blipFill>
          <a:blip r:embed="rId2"/>
          <a:stretch>
            <a:fillRect/>
          </a:stretch>
        </p:blipFill>
        <p:spPr>
          <a:xfrm>
            <a:off x="924300" y="530326"/>
            <a:ext cx="10904284" cy="4539340"/>
          </a:xfrm>
          <a:prstGeom prst="rect">
            <a:avLst/>
          </a:prstGeom>
        </p:spPr>
      </p:pic>
      <p:sp>
        <p:nvSpPr>
          <p:cNvPr id="4" name="Rectangle 3"/>
          <p:cNvSpPr/>
          <p:nvPr/>
        </p:nvSpPr>
        <p:spPr>
          <a:xfrm>
            <a:off x="1350818" y="5262879"/>
            <a:ext cx="10477766" cy="830997"/>
          </a:xfrm>
          <a:prstGeom prst="rect">
            <a:avLst/>
          </a:prstGeom>
          <a:solidFill>
            <a:schemeClr val="accent4"/>
          </a:solidFill>
        </p:spPr>
        <p:txBody>
          <a:bodyPr wrap="square">
            <a:spAutoFit/>
          </a:bodyPr>
          <a:lstStyle/>
          <a:p>
            <a:r>
              <a:rPr lang="en-US" sz="2400" b="1" dirty="0"/>
              <a:t>Effect of lack of </a:t>
            </a:r>
            <a:r>
              <a:rPr lang="en-US" sz="2400" b="1" dirty="0" err="1"/>
              <a:t>synchronisation</a:t>
            </a:r>
            <a:r>
              <a:rPr lang="en-US" sz="2400" b="1" dirty="0"/>
              <a:t>: (a) Original picture as transmitted and  (b) Displaced picture in the receiver due to lack of vertical </a:t>
            </a:r>
            <a:r>
              <a:rPr lang="en-US" sz="2400" b="1" dirty="0" err="1"/>
              <a:t>synchronisation</a:t>
            </a:r>
            <a:endParaRPr lang="en-US" sz="2400" b="1" dirty="0"/>
          </a:p>
        </p:txBody>
      </p:sp>
    </p:spTree>
    <p:extLst>
      <p:ext uri="{BB962C8B-B14F-4D97-AF65-F5344CB8AC3E}">
        <p14:creationId xmlns:p14="http://schemas.microsoft.com/office/powerpoint/2010/main" val="1545973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35</a:t>
            </a:fld>
            <a:endParaRPr lang="en-US" noProof="0" dirty="0"/>
          </a:p>
        </p:txBody>
      </p:sp>
      <p:sp>
        <p:nvSpPr>
          <p:cNvPr id="3" name="Content Placeholder 2"/>
          <p:cNvSpPr txBox="1">
            <a:spLocks/>
          </p:cNvSpPr>
          <p:nvPr/>
        </p:nvSpPr>
        <p:spPr>
          <a:xfrm>
            <a:off x="363416" y="706582"/>
            <a:ext cx="11465168" cy="5756625"/>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To ensure </a:t>
            </a:r>
            <a:r>
              <a:rPr lang="en-US" sz="2800" dirty="0" err="1">
                <a:latin typeface="Palatino Linotype" panose="02040502050505030304" pitchFamily="18" charset="0"/>
              </a:rPr>
              <a:t>synchronisation</a:t>
            </a:r>
            <a:r>
              <a:rPr lang="en-US" sz="2800" dirty="0">
                <a:latin typeface="Palatino Linotype" panose="02040502050505030304" pitchFamily="18" charset="0"/>
              </a:rPr>
              <a:t> between transmitter and receiver, </a:t>
            </a:r>
            <a:r>
              <a:rPr lang="en-US" sz="2800" dirty="0" err="1">
                <a:latin typeface="Palatino Linotype" panose="02040502050505030304" pitchFamily="18" charset="0"/>
              </a:rPr>
              <a:t>synchronisation</a:t>
            </a:r>
            <a:r>
              <a:rPr lang="en-US" sz="2800" dirty="0">
                <a:latin typeface="Palatino Linotype" panose="02040502050505030304" pitchFamily="18" charset="0"/>
              </a:rPr>
              <a:t> pulses (called sync pulses) are used to start </a:t>
            </a:r>
            <a:r>
              <a:rPr lang="en-US" sz="2800" dirty="0" err="1">
                <a:latin typeface="Palatino Linotype" panose="02040502050505030304" pitchFamily="18" charset="0"/>
              </a:rPr>
              <a:t>sawtooth</a:t>
            </a:r>
            <a:r>
              <a:rPr lang="en-US" sz="2800" dirty="0">
                <a:latin typeface="Palatino Linotype" panose="02040502050505030304" pitchFamily="18" charset="0"/>
              </a:rPr>
              <a:t> signal. </a:t>
            </a:r>
          </a:p>
          <a:p>
            <a:pPr algn="just"/>
            <a:r>
              <a:rPr lang="en-US" sz="2800" dirty="0">
                <a:latin typeface="Palatino Linotype" panose="02040502050505030304" pitchFamily="18" charset="0"/>
              </a:rPr>
              <a:t>Separate sync pulses are required for horizontal scanning and vertical scanning.</a:t>
            </a:r>
          </a:p>
          <a:p>
            <a:pPr algn="just"/>
            <a:r>
              <a:rPr lang="en-US" sz="2800" dirty="0">
                <a:latin typeface="Palatino Linotype" panose="02040502050505030304" pitchFamily="18" charset="0"/>
              </a:rPr>
              <a:t>The sync pulse triggers the concerned </a:t>
            </a:r>
            <a:r>
              <a:rPr lang="en-US" sz="2800" dirty="0" err="1">
                <a:latin typeface="Palatino Linotype" panose="02040502050505030304" pitchFamily="18" charset="0"/>
              </a:rPr>
              <a:t>sawtooth</a:t>
            </a:r>
            <a:r>
              <a:rPr lang="en-US" sz="2800" dirty="0">
                <a:latin typeface="Palatino Linotype" panose="02040502050505030304" pitchFamily="18" charset="0"/>
              </a:rPr>
              <a:t> signal generator for every </a:t>
            </a:r>
            <a:r>
              <a:rPr lang="en-US" sz="2800" dirty="0" err="1">
                <a:latin typeface="Palatino Linotype" panose="02040502050505030304" pitchFamily="18" charset="0"/>
              </a:rPr>
              <a:t>sawtooth</a:t>
            </a:r>
            <a:r>
              <a:rPr lang="en-US" sz="2800" dirty="0">
                <a:latin typeface="Palatino Linotype" panose="02040502050505030304" pitchFamily="18" charset="0"/>
              </a:rPr>
              <a:t> cycle in the transmitter. </a:t>
            </a:r>
          </a:p>
          <a:p>
            <a:pPr algn="just"/>
            <a:r>
              <a:rPr lang="en-US" sz="2800" dirty="0">
                <a:latin typeface="Palatino Linotype" panose="02040502050505030304" pitchFamily="18" charset="0"/>
              </a:rPr>
              <a:t>Thus </a:t>
            </a:r>
            <a:r>
              <a:rPr lang="en-US" sz="2800" dirty="0" err="1">
                <a:latin typeface="Palatino Linotype" panose="02040502050505030304" pitchFamily="18" charset="0"/>
              </a:rPr>
              <a:t>frequencey</a:t>
            </a:r>
            <a:r>
              <a:rPr lang="en-US" sz="2800" dirty="0">
                <a:latin typeface="Palatino Linotype" panose="02040502050505030304" pitchFamily="18" charset="0"/>
              </a:rPr>
              <a:t> of the sync pulse is the same as that of the scanning lines. </a:t>
            </a:r>
          </a:p>
          <a:p>
            <a:pPr algn="just"/>
            <a:r>
              <a:rPr lang="en-US" sz="2800" dirty="0">
                <a:latin typeface="Palatino Linotype" panose="02040502050505030304" pitchFamily="18" charset="0"/>
              </a:rPr>
              <a:t>For horizontal scanning the sync pulse (called H-sync) appears every 64 </a:t>
            </a:r>
            <a:r>
              <a:rPr lang="el-GR" sz="2800" dirty="0">
                <a:latin typeface="Palatino Linotype" panose="02040502050505030304" pitchFamily="18" charset="0"/>
              </a:rPr>
              <a:t>μ</a:t>
            </a:r>
            <a:r>
              <a:rPr lang="en-US" sz="2800" dirty="0">
                <a:latin typeface="Palatino Linotype" panose="02040502050505030304" pitchFamily="18" charset="0"/>
              </a:rPr>
              <a:t>s, i.e. its frequency of occurrence is 15 625 pulses per second. </a:t>
            </a:r>
          </a:p>
          <a:p>
            <a:pPr algn="just"/>
            <a:r>
              <a:rPr lang="en-US" sz="2800" dirty="0">
                <a:latin typeface="Palatino Linotype" panose="02040502050505030304" pitchFamily="18" charset="0"/>
              </a:rPr>
              <a:t>For vertical scanning, sync pulse (called V-sync) appears every 20 </a:t>
            </a:r>
            <a:r>
              <a:rPr lang="en-US" sz="2800" dirty="0" err="1">
                <a:latin typeface="Palatino Linotype" panose="02040502050505030304" pitchFamily="18" charset="0"/>
              </a:rPr>
              <a:t>ms.</a:t>
            </a:r>
            <a:r>
              <a:rPr lang="en-US" sz="2800" dirty="0">
                <a:latin typeface="Palatino Linotype" panose="02040502050505030304" pitchFamily="18" charset="0"/>
              </a:rPr>
              <a:t> Thus its frequency is 50 Hz.</a:t>
            </a:r>
          </a:p>
        </p:txBody>
      </p:sp>
    </p:spTree>
    <p:extLst>
      <p:ext uri="{BB962C8B-B14F-4D97-AF65-F5344CB8AC3E}">
        <p14:creationId xmlns:p14="http://schemas.microsoft.com/office/powerpoint/2010/main" val="18523354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36</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Blanking pulses are used to blank (or cut-off the cathode ray tube) during retrace period of horizontal scanning as well as vertical scanning process in the transmitter and also in the receiver. </a:t>
            </a:r>
          </a:p>
          <a:p>
            <a:pPr algn="just"/>
            <a:r>
              <a:rPr lang="en-US" sz="2800" dirty="0">
                <a:latin typeface="Palatino Linotype" panose="02040502050505030304" pitchFamily="18" charset="0"/>
              </a:rPr>
              <a:t>In the absence of blanking, retrace will become visible on the screen and will cause distortion in the picture. </a:t>
            </a:r>
          </a:p>
          <a:p>
            <a:pPr algn="just"/>
            <a:r>
              <a:rPr lang="en-US" sz="2800" dirty="0">
                <a:latin typeface="Palatino Linotype" panose="02040502050505030304" pitchFamily="18" charset="0"/>
              </a:rPr>
              <a:t>In actual practice, the sync pulse is placed over the respective blanking pulse by time division multiplexing, using </a:t>
            </a:r>
            <a:r>
              <a:rPr lang="en-US" sz="2800" dirty="0" err="1">
                <a:latin typeface="Palatino Linotype" panose="02040502050505030304" pitchFamily="18" charset="0"/>
              </a:rPr>
              <a:t>monostable</a:t>
            </a:r>
            <a:r>
              <a:rPr lang="en-US" sz="2800" dirty="0">
                <a:latin typeface="Palatino Linotype" panose="02040502050505030304" pitchFamily="18" charset="0"/>
              </a:rPr>
              <a:t> </a:t>
            </a:r>
            <a:r>
              <a:rPr lang="en-US" sz="2800" dirty="0" err="1">
                <a:latin typeface="Palatino Linotype" panose="02040502050505030304" pitchFamily="18" charset="0"/>
              </a:rPr>
              <a:t>multivibrators</a:t>
            </a:r>
            <a:r>
              <a:rPr lang="en-US" sz="2800" dirty="0">
                <a:latin typeface="Palatino Linotype" panose="02040502050505030304" pitchFamily="18" charset="0"/>
              </a:rPr>
              <a:t>.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Blanking</a:t>
            </a:r>
          </a:p>
        </p:txBody>
      </p:sp>
    </p:spTree>
    <p:extLst>
      <p:ext uri="{BB962C8B-B14F-4D97-AF65-F5344CB8AC3E}">
        <p14:creationId xmlns:p14="http://schemas.microsoft.com/office/powerpoint/2010/main" val="31448347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37</a:t>
            </a:fld>
            <a:endParaRPr lang="en-US" noProof="0" dirty="0"/>
          </a:p>
        </p:txBody>
      </p:sp>
      <p:sp>
        <p:nvSpPr>
          <p:cNvPr id="3" name="Content Placeholder 2"/>
          <p:cNvSpPr>
            <a:spLocks noGrp="1"/>
          </p:cNvSpPr>
          <p:nvPr>
            <p:ph idx="1"/>
          </p:nvPr>
        </p:nvSpPr>
        <p:spPr>
          <a:xfrm>
            <a:off x="363416" y="1680151"/>
            <a:ext cx="11465168" cy="1873540"/>
          </a:xfrm>
        </p:spPr>
        <p:txBody>
          <a:bodyPr>
            <a:normAutofit lnSpcReduction="10000"/>
          </a:bodyPr>
          <a:lstStyle/>
          <a:p>
            <a:pPr algn="just"/>
            <a:r>
              <a:rPr lang="en-US" sz="2800" dirty="0">
                <a:latin typeface="Palatino Linotype" panose="02040502050505030304" pitchFamily="18" charset="0"/>
              </a:rPr>
              <a:t>Picture information (video signal) is not transmitted alone. </a:t>
            </a:r>
          </a:p>
          <a:p>
            <a:pPr algn="just"/>
            <a:r>
              <a:rPr lang="en-US" sz="2800" dirty="0">
                <a:latin typeface="Palatino Linotype" panose="02040502050505030304" pitchFamily="18" charset="0"/>
              </a:rPr>
              <a:t>Along with it are transmitted blanking pulses and sync pulses. </a:t>
            </a:r>
          </a:p>
          <a:p>
            <a:pPr algn="just"/>
            <a:r>
              <a:rPr lang="en-US" sz="2800" dirty="0">
                <a:latin typeface="Palatino Linotype" panose="02040502050505030304" pitchFamily="18" charset="0"/>
              </a:rPr>
              <a:t>The signal containing all these components is called CVS (composite video signal).</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Compoite</a:t>
            </a:r>
            <a:r>
              <a:rPr lang="en-US" sz="3600" dirty="0">
                <a:latin typeface="Palatino Linotype" panose="02040502050505030304" pitchFamily="18" charset="0"/>
              </a:rPr>
              <a:t> Video Signal</a:t>
            </a:r>
          </a:p>
        </p:txBody>
      </p:sp>
      <p:pic>
        <p:nvPicPr>
          <p:cNvPr id="5" name="Picture 4"/>
          <p:cNvPicPr>
            <a:picLocks noChangeAspect="1"/>
          </p:cNvPicPr>
          <p:nvPr/>
        </p:nvPicPr>
        <p:blipFill>
          <a:blip r:embed="rId2"/>
          <a:stretch>
            <a:fillRect/>
          </a:stretch>
        </p:blipFill>
        <p:spPr>
          <a:xfrm>
            <a:off x="602300" y="3636817"/>
            <a:ext cx="8281520" cy="2826389"/>
          </a:xfrm>
          <a:prstGeom prst="rect">
            <a:avLst/>
          </a:prstGeom>
        </p:spPr>
      </p:pic>
      <p:sp>
        <p:nvSpPr>
          <p:cNvPr id="6" name="Rectangle 5"/>
          <p:cNvSpPr/>
          <p:nvPr/>
        </p:nvSpPr>
        <p:spPr>
          <a:xfrm>
            <a:off x="8932984" y="3950164"/>
            <a:ext cx="3048000" cy="2308324"/>
          </a:xfrm>
          <a:prstGeom prst="rect">
            <a:avLst/>
          </a:prstGeom>
          <a:solidFill>
            <a:schemeClr val="accent4"/>
          </a:solidFill>
        </p:spPr>
        <p:txBody>
          <a:bodyPr wrap="square">
            <a:spAutoFit/>
          </a:bodyPr>
          <a:lstStyle/>
          <a:p>
            <a:r>
              <a:rPr lang="en-US" sz="2400" b="1" dirty="0"/>
              <a:t>Composite video signal </a:t>
            </a:r>
          </a:p>
          <a:p>
            <a:endParaRPr lang="en-US" sz="2400" b="1" dirty="0"/>
          </a:p>
          <a:p>
            <a:pPr marL="342900" indent="-342900">
              <a:buAutoNum type="alphaLcParenBoth"/>
            </a:pPr>
            <a:r>
              <a:rPr lang="en-US" sz="2400" b="1" dirty="0"/>
              <a:t> of + </a:t>
            </a:r>
            <a:r>
              <a:rPr lang="en-US" sz="2400" b="1" dirty="0" err="1"/>
              <a:t>ve</a:t>
            </a:r>
            <a:r>
              <a:rPr lang="en-US" sz="2400" b="1" dirty="0"/>
              <a:t> polarity and</a:t>
            </a:r>
          </a:p>
          <a:p>
            <a:r>
              <a:rPr lang="en-US" sz="2400" b="1" dirty="0"/>
              <a:t> </a:t>
            </a:r>
          </a:p>
          <a:p>
            <a:r>
              <a:rPr lang="en-US" sz="2400" b="1" dirty="0"/>
              <a:t>(b) of – </a:t>
            </a:r>
            <a:r>
              <a:rPr lang="en-US" sz="2400" b="1" dirty="0" err="1"/>
              <a:t>ve</a:t>
            </a:r>
            <a:r>
              <a:rPr lang="en-US" sz="2400" b="1" dirty="0"/>
              <a:t> polarity</a:t>
            </a:r>
          </a:p>
        </p:txBody>
      </p:sp>
    </p:spTree>
    <p:extLst>
      <p:ext uri="{BB962C8B-B14F-4D97-AF65-F5344CB8AC3E}">
        <p14:creationId xmlns:p14="http://schemas.microsoft.com/office/powerpoint/2010/main" val="2653920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38</a:t>
            </a:fld>
            <a:endParaRPr lang="en-US" noProof="0" dirty="0"/>
          </a:p>
        </p:txBody>
      </p:sp>
      <p:sp>
        <p:nvSpPr>
          <p:cNvPr id="3" name="Content Placeholder 2"/>
          <p:cNvSpPr>
            <a:spLocks noGrp="1"/>
          </p:cNvSpPr>
          <p:nvPr>
            <p:ph idx="1"/>
          </p:nvPr>
        </p:nvSpPr>
        <p:spPr>
          <a:xfrm>
            <a:off x="363416" y="1579418"/>
            <a:ext cx="11465168" cy="4883789"/>
          </a:xfrm>
        </p:spPr>
        <p:txBody>
          <a:bodyPr>
            <a:normAutofit/>
          </a:bodyPr>
          <a:lstStyle/>
          <a:p>
            <a:pPr algn="just"/>
            <a:r>
              <a:rPr lang="en-US" sz="2800" dirty="0">
                <a:latin typeface="Palatino Linotype" panose="02040502050505030304" pitchFamily="18" charset="0"/>
              </a:rPr>
              <a:t>The composite video signal can be represented in two forms, namely positive polarity and negative polarity.</a:t>
            </a:r>
          </a:p>
          <a:p>
            <a:pPr algn="just"/>
            <a:r>
              <a:rPr lang="en-US" sz="2800" dirty="0">
                <a:latin typeface="Palatino Linotype" panose="02040502050505030304" pitchFamily="18" charset="0"/>
              </a:rPr>
              <a:t>For positive polarity, brighter the scene, higher is the amplitude of the video signal. </a:t>
            </a:r>
          </a:p>
          <a:p>
            <a:pPr lvl="1" algn="just"/>
            <a:r>
              <a:rPr lang="en-US" sz="2600" dirty="0">
                <a:latin typeface="Palatino Linotype" panose="02040502050505030304" pitchFamily="18" charset="0"/>
              </a:rPr>
              <a:t>Blanking level is zero level. </a:t>
            </a:r>
          </a:p>
          <a:p>
            <a:pPr lvl="1" algn="just"/>
            <a:r>
              <a:rPr lang="en-US" sz="2600" dirty="0">
                <a:latin typeface="Palatino Linotype" panose="02040502050505030304" pitchFamily="18" charset="0"/>
              </a:rPr>
              <a:t>Below zero is the sync pulse. </a:t>
            </a:r>
          </a:p>
          <a:p>
            <a:pPr lvl="1" algn="just"/>
            <a:r>
              <a:rPr lang="en-US" sz="2600" dirty="0">
                <a:latin typeface="Palatino Linotype" panose="02040502050505030304" pitchFamily="18" charset="0"/>
              </a:rPr>
              <a:t>Hence sync top is at the most </a:t>
            </a:r>
            <a:r>
              <a:rPr lang="en-US" sz="2800" dirty="0">
                <a:latin typeface="Palatino Linotype" panose="02040502050505030304" pitchFamily="18" charset="0"/>
              </a:rPr>
              <a:t>negative point. </a:t>
            </a:r>
          </a:p>
          <a:p>
            <a:pPr algn="just"/>
            <a:r>
              <a:rPr lang="en-US" sz="3000" dirty="0">
                <a:latin typeface="Palatino Linotype" panose="02040502050505030304" pitchFamily="18" charset="0"/>
              </a:rPr>
              <a:t>For negative polarity, brighter the scene, smaller is the amplitude. </a:t>
            </a:r>
          </a:p>
          <a:p>
            <a:pPr lvl="1" algn="just"/>
            <a:r>
              <a:rPr lang="en-US" sz="2600" dirty="0">
                <a:latin typeface="Palatino Linotype" panose="02040502050505030304" pitchFamily="18" charset="0"/>
              </a:rPr>
              <a:t>Here, sync pulse is positive, above the blanking level</a:t>
            </a:r>
          </a:p>
          <a:p>
            <a:pPr lvl="1" algn="just"/>
            <a:r>
              <a:rPr lang="en-US" sz="2600" dirty="0">
                <a:latin typeface="Palatino Linotype" panose="02040502050505030304" pitchFamily="18" charset="0"/>
              </a:rPr>
              <a:t>Black is just below the blanking level, white is near the bottom.</a:t>
            </a:r>
          </a:p>
          <a:p>
            <a:pPr lvl="1" algn="just"/>
            <a:r>
              <a:rPr lang="en-US" sz="2600" dirty="0">
                <a:latin typeface="Palatino Linotype" panose="02040502050505030304" pitchFamily="18" charset="0"/>
              </a:rPr>
              <a:t>Brighter the scene, lower is its level below the blanking level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t>
            </a:r>
            <a:r>
              <a:rPr lang="en-US" sz="3600" dirty="0" err="1">
                <a:latin typeface="Palatino Linotype" panose="02040502050505030304" pitchFamily="18" charset="0"/>
              </a:rPr>
              <a:t>Ve</a:t>
            </a:r>
            <a:r>
              <a:rPr lang="en-US" sz="3600" dirty="0">
                <a:latin typeface="Palatino Linotype" panose="02040502050505030304" pitchFamily="18" charset="0"/>
              </a:rPr>
              <a:t> and –</a:t>
            </a:r>
            <a:r>
              <a:rPr lang="en-US" sz="3600" dirty="0" err="1">
                <a:latin typeface="Palatino Linotype" panose="02040502050505030304" pitchFamily="18" charset="0"/>
              </a:rPr>
              <a:t>Ve</a:t>
            </a:r>
            <a:r>
              <a:rPr lang="en-US" sz="3600" dirty="0">
                <a:latin typeface="Palatino Linotype" panose="02040502050505030304" pitchFamily="18" charset="0"/>
              </a:rPr>
              <a:t> Polarities of CVS</a:t>
            </a:r>
          </a:p>
        </p:txBody>
      </p:sp>
    </p:spTree>
    <p:extLst>
      <p:ext uri="{BB962C8B-B14F-4D97-AF65-F5344CB8AC3E}">
        <p14:creationId xmlns:p14="http://schemas.microsoft.com/office/powerpoint/2010/main" val="3527448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39</a:t>
            </a:fld>
            <a:endParaRPr lang="en-US" noProof="0" dirty="0"/>
          </a:p>
        </p:txBody>
      </p:sp>
      <p:sp>
        <p:nvSpPr>
          <p:cNvPr id="3" name="Content Placeholder 2"/>
          <p:cNvSpPr>
            <a:spLocks noGrp="1"/>
          </p:cNvSpPr>
          <p:nvPr>
            <p:ph idx="1"/>
          </p:nvPr>
        </p:nvSpPr>
        <p:spPr/>
        <p:txBody>
          <a:bodyPr>
            <a:normAutofit lnSpcReduction="10000"/>
          </a:bodyPr>
          <a:lstStyle/>
          <a:p>
            <a:pPr algn="just"/>
            <a:r>
              <a:rPr lang="en-US" sz="2800" dirty="0">
                <a:latin typeface="Palatino Linotype" panose="02040502050505030304" pitchFamily="18" charset="0"/>
              </a:rPr>
              <a:t>In most of the TV systems, negative polarity is used to modulate the video carrier. </a:t>
            </a:r>
          </a:p>
          <a:p>
            <a:pPr algn="just"/>
            <a:r>
              <a:rPr lang="en-US" sz="2800" dirty="0">
                <a:latin typeface="Palatino Linotype" panose="02040502050505030304" pitchFamily="18" charset="0"/>
              </a:rPr>
              <a:t>When the baseband of negative polarity is used to modulate the RF carrier, the modulation is called negative modulation</a:t>
            </a:r>
          </a:p>
          <a:p>
            <a:pPr algn="just"/>
            <a:r>
              <a:rPr lang="en-US" sz="2800" dirty="0">
                <a:latin typeface="Palatino Linotype" panose="02040502050505030304" pitchFamily="18" charset="0"/>
              </a:rPr>
              <a:t>Advantages of negative modulation include</a:t>
            </a:r>
          </a:p>
          <a:p>
            <a:pPr marL="971550" lvl="1" indent="-514350" algn="just">
              <a:buFont typeface="+mj-lt"/>
              <a:buAutoNum type="arabicParenR"/>
            </a:pPr>
            <a:r>
              <a:rPr lang="en-US" sz="2600" dirty="0">
                <a:latin typeface="Palatino Linotype" panose="02040502050505030304" pitchFamily="18" charset="0"/>
              </a:rPr>
              <a:t>The noise pulses in the transmitted signal shall increase the amplitude of the carrier which will move towards the black. Thus noise falling in the dark grey or black region will not cause irritation. </a:t>
            </a:r>
          </a:p>
          <a:p>
            <a:pPr marL="457200" lvl="1" indent="0" algn="just">
              <a:buNone/>
            </a:pPr>
            <a:r>
              <a:rPr lang="en-US" sz="2600" dirty="0">
                <a:latin typeface="Palatino Linotype" panose="02040502050505030304" pitchFamily="18" charset="0"/>
              </a:rPr>
              <a:t>- The entertainment value of the picture will not be adversely affected. </a:t>
            </a:r>
          </a:p>
          <a:p>
            <a:pPr marL="457200" lvl="1" indent="0" algn="just">
              <a:buNone/>
            </a:pPr>
            <a:r>
              <a:rPr lang="en-US" sz="2600" dirty="0">
                <a:latin typeface="Palatino Linotype" panose="02040502050505030304" pitchFamily="18" charset="0"/>
              </a:rPr>
              <a:t>- In positive modulation, white blobs will be caused in the picture due to random noise signals.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Advantages of Negative Modulation</a:t>
            </a:r>
          </a:p>
        </p:txBody>
      </p:sp>
    </p:spTree>
    <p:extLst>
      <p:ext uri="{BB962C8B-B14F-4D97-AF65-F5344CB8AC3E}">
        <p14:creationId xmlns:p14="http://schemas.microsoft.com/office/powerpoint/2010/main" val="1866817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40</a:t>
            </a:fld>
            <a:endParaRPr lang="en-US" noProof="0" dirty="0"/>
          </a:p>
        </p:txBody>
      </p:sp>
      <p:sp>
        <p:nvSpPr>
          <p:cNvPr id="3" name="Content Placeholder 2"/>
          <p:cNvSpPr txBox="1">
            <a:spLocks/>
          </p:cNvSpPr>
          <p:nvPr/>
        </p:nvSpPr>
        <p:spPr>
          <a:xfrm>
            <a:off x="363416" y="872836"/>
            <a:ext cx="11465168" cy="5304127"/>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71550" lvl="1" indent="-514350" algn="just">
              <a:buFont typeface="+mj-lt"/>
              <a:buAutoNum type="arabicParenR"/>
            </a:pPr>
            <a:r>
              <a:rPr lang="en-US" sz="2600" dirty="0">
                <a:latin typeface="Palatino Linotype" panose="02040502050505030304" pitchFamily="18" charset="0"/>
              </a:rPr>
              <a:t>Carrier amplitude will remain low for most of the time as the signal content is more in white than in black. This will cause saving in transmission power.</a:t>
            </a:r>
          </a:p>
          <a:p>
            <a:pPr marL="971550" lvl="1" indent="-514350" algn="just">
              <a:buFont typeface="+mj-lt"/>
              <a:buAutoNum type="arabicParenR"/>
            </a:pPr>
            <a:r>
              <a:rPr lang="en-US" sz="2600" dirty="0">
                <a:latin typeface="Palatino Linotype" panose="02040502050505030304" pitchFamily="18" charset="0"/>
              </a:rPr>
              <a:t>In negative modulation the voltage of the blanking pulse is of fixed level which depends on the carrier strength. This level forms the reference level for deriving automatic gain control (AGC) voltage dependent on the carrier strength.</a:t>
            </a:r>
          </a:p>
        </p:txBody>
      </p:sp>
    </p:spTree>
    <p:extLst>
      <p:ext uri="{BB962C8B-B14F-4D97-AF65-F5344CB8AC3E}">
        <p14:creationId xmlns:p14="http://schemas.microsoft.com/office/powerpoint/2010/main" val="22591428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41</a:t>
            </a:fld>
            <a:endParaRPr lang="en-US" noProof="0" dirty="0"/>
          </a:p>
        </p:txBody>
      </p:sp>
      <p:sp>
        <p:nvSpPr>
          <p:cNvPr id="3" name="Content Placeholder 2"/>
          <p:cNvSpPr>
            <a:spLocks noGrp="1"/>
          </p:cNvSpPr>
          <p:nvPr>
            <p:ph idx="1"/>
          </p:nvPr>
        </p:nvSpPr>
        <p:spPr/>
        <p:txBody>
          <a:bodyPr>
            <a:normAutofit/>
          </a:bodyPr>
          <a:lstStyle/>
          <a:p>
            <a:pPr marL="971550" lvl="1" indent="-514350" algn="just">
              <a:buFont typeface="+mj-lt"/>
              <a:buAutoNum type="arabicParenR"/>
            </a:pPr>
            <a:r>
              <a:rPr lang="en-US" sz="2600" dirty="0">
                <a:latin typeface="Palatino Linotype" panose="02040502050505030304" pitchFamily="18" charset="0"/>
              </a:rPr>
              <a:t>Impulse pulse may disturb the H-sync and hence H-</a:t>
            </a:r>
            <a:r>
              <a:rPr lang="en-US" sz="2600" dirty="0" err="1">
                <a:latin typeface="Palatino Linotype" panose="02040502050505030304" pitchFamily="18" charset="0"/>
              </a:rPr>
              <a:t>sychronisation</a:t>
            </a:r>
            <a:r>
              <a:rPr lang="en-US" sz="2600" dirty="0">
                <a:latin typeface="Palatino Linotype" panose="02040502050505030304" pitchFamily="18" charset="0"/>
              </a:rPr>
              <a:t> may be disturbed for a short duration. This effect is reduced by using automatic frequency control in H-sweep circuits in the receiver.</a:t>
            </a:r>
          </a:p>
          <a:p>
            <a:pPr marL="971550" lvl="1" indent="-514350" algn="just">
              <a:buFont typeface="+mj-lt"/>
              <a:buAutoNum type="arabicParenR"/>
            </a:pPr>
            <a:r>
              <a:rPr lang="en-US" sz="2600" dirty="0">
                <a:latin typeface="Palatino Linotype" panose="02040502050505030304" pitchFamily="18" charset="0"/>
              </a:rPr>
              <a:t>Picture tube needs positive polarity between control grid and cathode. So negative polarity of video signal is to be reversed before feeding to the control grid. </a:t>
            </a:r>
          </a:p>
          <a:p>
            <a:pPr marL="457200" lvl="1" indent="0" algn="just">
              <a:buNone/>
            </a:pPr>
            <a:r>
              <a:rPr lang="en-US" sz="2600" dirty="0">
                <a:latin typeface="Palatino Linotype" panose="02040502050505030304" pitchFamily="18" charset="0"/>
              </a:rPr>
              <a:t>- In case of any lapse in this, the picture would appear as a negative picture on the screen, i.e. white portions appearing black and the black portions, white.</a:t>
            </a:r>
          </a:p>
          <a:p>
            <a:pPr algn="just"/>
            <a:r>
              <a:rPr lang="en-US" sz="2800" dirty="0">
                <a:latin typeface="Palatino Linotype" panose="02040502050505030304" pitchFamily="18" charset="0"/>
              </a:rPr>
              <a:t>The advantages outweigh the disadvantages and hence negative modulation is used in almost all TV systems.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Disadvantages of Negative Modulation</a:t>
            </a:r>
          </a:p>
        </p:txBody>
      </p:sp>
    </p:spTree>
    <p:extLst>
      <p:ext uri="{BB962C8B-B14F-4D97-AF65-F5344CB8AC3E}">
        <p14:creationId xmlns:p14="http://schemas.microsoft.com/office/powerpoint/2010/main" val="766124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42</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Voltage Levels in CVS</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40140" y="1774928"/>
            <a:ext cx="10732260" cy="4459618"/>
          </a:xfrm>
          <a:prstGeom prst="rect">
            <a:avLst/>
          </a:prstGeom>
        </p:spPr>
      </p:pic>
    </p:spTree>
    <p:extLst>
      <p:ext uri="{BB962C8B-B14F-4D97-AF65-F5344CB8AC3E}">
        <p14:creationId xmlns:p14="http://schemas.microsoft.com/office/powerpoint/2010/main" val="8646401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43</a:t>
            </a:fld>
            <a:endParaRPr lang="en-US" noProof="0" dirty="0"/>
          </a:p>
        </p:txBody>
      </p:sp>
      <p:sp>
        <p:nvSpPr>
          <p:cNvPr id="5" name="Content Placeholder 2"/>
          <p:cNvSpPr txBox="1">
            <a:spLocks/>
          </p:cNvSpPr>
          <p:nvPr/>
        </p:nvSpPr>
        <p:spPr>
          <a:xfrm>
            <a:off x="363416" y="706582"/>
            <a:ext cx="11465168" cy="547038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Percentage of Carrier </a:t>
            </a:r>
            <a:r>
              <a:rPr lang="en-US" sz="2800" dirty="0">
                <a:latin typeface="Palatino Linotype" panose="02040502050505030304" pitchFamily="18" charset="0"/>
              </a:rPr>
              <a:t>- For modulated signal, the levels of various pulses are represented in terms of percentage of carrier level</a:t>
            </a:r>
          </a:p>
          <a:p>
            <a:pPr algn="just"/>
            <a:r>
              <a:rPr lang="en-US" sz="2800" dirty="0">
                <a:latin typeface="Palatino Linotype" panose="02040502050505030304" pitchFamily="18" charset="0"/>
              </a:rPr>
              <a:t>For positive polarity</a:t>
            </a:r>
          </a:p>
          <a:p>
            <a:pPr lvl="1" algn="just"/>
            <a:r>
              <a:rPr lang="en-US" sz="2600" dirty="0">
                <a:latin typeface="Palatino Linotype" panose="02040502050505030304" pitchFamily="18" charset="0"/>
              </a:rPr>
              <a:t>Sync top is at 0%</a:t>
            </a:r>
          </a:p>
          <a:p>
            <a:pPr lvl="1" algn="just"/>
            <a:r>
              <a:rPr lang="en-US" sz="2600" dirty="0">
                <a:latin typeface="Palatino Linotype" panose="02040502050505030304" pitchFamily="18" charset="0"/>
              </a:rPr>
              <a:t>Blanking level at 25%</a:t>
            </a:r>
          </a:p>
          <a:p>
            <a:pPr lvl="1" algn="just"/>
            <a:r>
              <a:rPr lang="en-US" sz="2600" dirty="0">
                <a:latin typeface="Palatino Linotype" panose="02040502050505030304" pitchFamily="18" charset="0"/>
              </a:rPr>
              <a:t>White level at 90% and</a:t>
            </a:r>
          </a:p>
          <a:p>
            <a:pPr lvl="1" algn="just"/>
            <a:r>
              <a:rPr lang="en-US" sz="2600" dirty="0">
                <a:latin typeface="Palatino Linotype" panose="02040502050505030304" pitchFamily="18" charset="0"/>
              </a:rPr>
              <a:t>Whiter than white level goes up to 100%</a:t>
            </a:r>
          </a:p>
          <a:p>
            <a:pPr algn="just"/>
            <a:r>
              <a:rPr lang="en-US" sz="2800" dirty="0">
                <a:latin typeface="Palatino Linotype" panose="02040502050505030304" pitchFamily="18" charset="0"/>
              </a:rPr>
              <a:t>For negative polarity</a:t>
            </a:r>
          </a:p>
          <a:p>
            <a:pPr lvl="1" algn="just"/>
            <a:r>
              <a:rPr lang="en-US" sz="2600" dirty="0">
                <a:latin typeface="Palatino Linotype" panose="02040502050505030304" pitchFamily="18" charset="0"/>
              </a:rPr>
              <a:t>Sync top is 100%</a:t>
            </a:r>
          </a:p>
          <a:p>
            <a:pPr lvl="1" algn="just"/>
            <a:r>
              <a:rPr lang="en-US" sz="2600" dirty="0">
                <a:latin typeface="Palatino Linotype" panose="02040502050505030304" pitchFamily="18" charset="0"/>
              </a:rPr>
              <a:t>Blanking level 75%</a:t>
            </a:r>
          </a:p>
          <a:p>
            <a:pPr lvl="1" algn="just"/>
            <a:r>
              <a:rPr lang="en-US" sz="2600" dirty="0">
                <a:latin typeface="Palatino Linotype" panose="02040502050505030304" pitchFamily="18" charset="0"/>
              </a:rPr>
              <a:t>White level 10% and</a:t>
            </a:r>
          </a:p>
          <a:p>
            <a:pPr lvl="1" algn="just"/>
            <a:r>
              <a:rPr lang="en-US" sz="2600" dirty="0">
                <a:latin typeface="Palatino Linotype" panose="02040502050505030304" pitchFamily="18" charset="0"/>
              </a:rPr>
              <a:t>Below it is whiter than white</a:t>
            </a:r>
          </a:p>
        </p:txBody>
      </p:sp>
    </p:spTree>
    <p:extLst>
      <p:ext uri="{BB962C8B-B14F-4D97-AF65-F5344CB8AC3E}">
        <p14:creationId xmlns:p14="http://schemas.microsoft.com/office/powerpoint/2010/main" val="14785604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44</a:t>
            </a:fld>
            <a:endParaRPr lang="en-US" noProof="0" dirty="0"/>
          </a:p>
        </p:txBody>
      </p:sp>
      <p:sp>
        <p:nvSpPr>
          <p:cNvPr id="3" name="Content Placeholder 2"/>
          <p:cNvSpPr>
            <a:spLocks noGrp="1"/>
          </p:cNvSpPr>
          <p:nvPr>
            <p:ph idx="1"/>
          </p:nvPr>
        </p:nvSpPr>
        <p:spPr/>
        <p:txBody>
          <a:bodyPr>
            <a:normAutofit/>
          </a:bodyPr>
          <a:lstStyle/>
          <a:p>
            <a:pPr algn="just"/>
            <a:r>
              <a:rPr lang="en-US" sz="2800" b="1" dirty="0">
                <a:solidFill>
                  <a:schemeClr val="accent1"/>
                </a:solidFill>
                <a:latin typeface="Palatino Linotype" panose="02040502050505030304" pitchFamily="18" charset="0"/>
              </a:rPr>
              <a:t>Pedestal Level </a:t>
            </a:r>
            <a:r>
              <a:rPr lang="en-US" sz="2800" dirty="0">
                <a:latin typeface="Palatino Linotype" panose="02040502050505030304" pitchFamily="18" charset="0"/>
              </a:rPr>
              <a:t>– It is also called blanking level.</a:t>
            </a:r>
          </a:p>
          <a:p>
            <a:pPr lvl="1" algn="just"/>
            <a:r>
              <a:rPr lang="en-US" sz="2600" dirty="0">
                <a:latin typeface="Palatino Linotype" panose="02040502050505030304" pitchFamily="18" charset="0"/>
              </a:rPr>
              <a:t>It is represented by 75%of the carrier signal in negative modulation.</a:t>
            </a:r>
          </a:p>
          <a:p>
            <a:pPr lvl="1" algn="just"/>
            <a:r>
              <a:rPr lang="en-US" sz="2600" dirty="0">
                <a:latin typeface="Palatino Linotype" panose="02040502050505030304" pitchFamily="18" charset="0"/>
              </a:rPr>
              <a:t>It is a fixed level and is treated as reference.</a:t>
            </a:r>
          </a:p>
          <a:p>
            <a:pPr algn="just"/>
            <a:r>
              <a:rPr lang="en-US" sz="2800" b="1" dirty="0">
                <a:solidFill>
                  <a:schemeClr val="accent1"/>
                </a:solidFill>
                <a:latin typeface="Palatino Linotype" panose="02040502050505030304" pitchFamily="18" charset="0"/>
              </a:rPr>
              <a:t>Pedestal Height </a:t>
            </a:r>
            <a:r>
              <a:rPr lang="en-US" sz="2800" dirty="0">
                <a:latin typeface="Palatino Linotype" panose="02040502050505030304" pitchFamily="18" charset="0"/>
              </a:rPr>
              <a:t>– Height of the pedestal level from the level of average intensity of the picture frame.</a:t>
            </a:r>
          </a:p>
          <a:p>
            <a:pPr algn="just"/>
            <a:r>
              <a:rPr lang="en-US" sz="2800" b="1" dirty="0">
                <a:solidFill>
                  <a:schemeClr val="accent1"/>
                </a:solidFill>
                <a:latin typeface="Palatino Linotype" panose="02040502050505030304" pitchFamily="18" charset="0"/>
              </a:rPr>
              <a:t>Black Set-up </a:t>
            </a:r>
            <a:r>
              <a:rPr lang="en-US" sz="2800" dirty="0">
                <a:latin typeface="Palatino Linotype" panose="02040502050505030304" pitchFamily="18" charset="0"/>
              </a:rPr>
              <a:t>– Represents the difference between the pedestal level and the black level. In modulated signal it is 3 – 5% of the carrier</a:t>
            </a:r>
          </a:p>
          <a:p>
            <a:pPr algn="just"/>
            <a:r>
              <a:rPr lang="en-US" sz="2800" b="1" dirty="0">
                <a:solidFill>
                  <a:schemeClr val="accent1"/>
                </a:solidFill>
                <a:latin typeface="Palatino Linotype" panose="02040502050505030304" pitchFamily="18" charset="0"/>
              </a:rPr>
              <a:t>Blacker than Black </a:t>
            </a:r>
            <a:r>
              <a:rPr lang="en-US" sz="2800" dirty="0">
                <a:latin typeface="Palatino Linotype" panose="02040502050505030304" pitchFamily="18" charset="0"/>
              </a:rPr>
              <a:t>– Signal beyond the black level (including black set-up and the sync pulse). It extends from 72% to 100% of the carrier.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The Various Levels in CVS</a:t>
            </a:r>
          </a:p>
        </p:txBody>
      </p:sp>
    </p:spTree>
    <p:extLst>
      <p:ext uri="{BB962C8B-B14F-4D97-AF65-F5344CB8AC3E}">
        <p14:creationId xmlns:p14="http://schemas.microsoft.com/office/powerpoint/2010/main" val="4029329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45</a:t>
            </a:fld>
            <a:endParaRPr lang="en-US" noProof="0" dirty="0"/>
          </a:p>
        </p:txBody>
      </p:sp>
      <p:sp>
        <p:nvSpPr>
          <p:cNvPr id="5" name="Content Placeholder 2"/>
          <p:cNvSpPr txBox="1">
            <a:spLocks/>
          </p:cNvSpPr>
          <p:nvPr/>
        </p:nvSpPr>
        <p:spPr>
          <a:xfrm>
            <a:off x="363416" y="706582"/>
            <a:ext cx="11465168" cy="547038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Whiter than White </a:t>
            </a:r>
            <a:r>
              <a:rPr lang="en-US" sz="2800" dirty="0">
                <a:latin typeface="Palatino Linotype" panose="02040502050505030304" pitchFamily="18" charset="0"/>
              </a:rPr>
              <a:t>– Signal below 10% up to zero of the carrier.</a:t>
            </a:r>
          </a:p>
          <a:p>
            <a:pPr algn="just"/>
            <a:r>
              <a:rPr lang="en-US" sz="2800" dirty="0">
                <a:latin typeface="Palatino Linotype" panose="02040502050505030304" pitchFamily="18" charset="0"/>
              </a:rPr>
              <a:t>Besides the video signal, the components of the composite signal consist of the horizontal (or H–) blanking pulse and vertical (or V–) blanking pulse.</a:t>
            </a:r>
          </a:p>
          <a:p>
            <a:pPr algn="just"/>
            <a:r>
              <a:rPr lang="en-US" sz="2800" dirty="0">
                <a:latin typeface="Palatino Linotype" panose="02040502050505030304" pitchFamily="18" charset="0"/>
              </a:rPr>
              <a:t>Sync pulses are needed at the end of horizontal and vertical traces to trigger the respective scanning oscillators. </a:t>
            </a:r>
          </a:p>
          <a:p>
            <a:pPr algn="just"/>
            <a:r>
              <a:rPr lang="en-US" sz="2800" dirty="0">
                <a:latin typeface="Palatino Linotype" panose="02040502050505030304" pitchFamily="18" charset="0"/>
              </a:rPr>
              <a:t>During the trace (or forward scan), the video signal changes between white and black levels through grey levels, depending on the variation of brightness in the picture. </a:t>
            </a:r>
          </a:p>
          <a:p>
            <a:pPr algn="just"/>
            <a:r>
              <a:rPr lang="en-US" sz="2800" dirty="0">
                <a:latin typeface="Palatino Linotype" panose="02040502050505030304" pitchFamily="18" charset="0"/>
              </a:rPr>
              <a:t>With –</a:t>
            </a:r>
            <a:r>
              <a:rPr lang="en-US" sz="2800" dirty="0" err="1">
                <a:latin typeface="Palatino Linotype" panose="02040502050505030304" pitchFamily="18" charset="0"/>
              </a:rPr>
              <a:t>ve</a:t>
            </a:r>
            <a:r>
              <a:rPr lang="en-US" sz="2800" dirty="0">
                <a:latin typeface="Palatino Linotype" panose="02040502050505030304" pitchFamily="18" charset="0"/>
              </a:rPr>
              <a:t> polarity of video signal, the portion above black is called blacker than black and is occupied by the sync pulse, and the black set-up.</a:t>
            </a:r>
          </a:p>
        </p:txBody>
      </p:sp>
    </p:spTree>
    <p:extLst>
      <p:ext uri="{BB962C8B-B14F-4D97-AF65-F5344CB8AC3E}">
        <p14:creationId xmlns:p14="http://schemas.microsoft.com/office/powerpoint/2010/main" val="36022860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46</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Composite video signal cannot be transmitted as such to long distances for the following reasons:</a:t>
            </a:r>
          </a:p>
          <a:p>
            <a:pPr marL="971550" lvl="1" indent="-514350" algn="just">
              <a:buFont typeface="+mj-lt"/>
              <a:buAutoNum type="arabicParenR"/>
            </a:pPr>
            <a:r>
              <a:rPr lang="en-US" sz="2600" dirty="0">
                <a:latin typeface="Palatino Linotype" panose="02040502050505030304" pitchFamily="18" charset="0"/>
              </a:rPr>
              <a:t>Video signal’s frequency starts from as low frequency as a few Hz. A signal of such low frequency will need a transmitting antenna hundreds of kilometers long, which is not feasible.</a:t>
            </a:r>
          </a:p>
          <a:p>
            <a:pPr marL="971550" lvl="1" indent="-514350" algn="just">
              <a:buFont typeface="+mj-lt"/>
              <a:buAutoNum type="arabicParenR"/>
            </a:pPr>
            <a:r>
              <a:rPr lang="en-US" sz="2600" dirty="0">
                <a:latin typeface="Palatino Linotype" panose="02040502050505030304" pitchFamily="18" charset="0"/>
              </a:rPr>
              <a:t>Different video programs being in the same frequency range will clash with each other.</a:t>
            </a:r>
          </a:p>
          <a:p>
            <a:pPr algn="just"/>
            <a:r>
              <a:rPr lang="en-US" sz="2800" dirty="0">
                <a:latin typeface="Palatino Linotype" panose="02040502050505030304" pitchFamily="18" charset="0"/>
              </a:rPr>
              <a:t>These difficulties are solved if we use a radio frequency carrier to carry the video signals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Modulation Requirements for TV</a:t>
            </a:r>
          </a:p>
        </p:txBody>
      </p:sp>
    </p:spTree>
    <p:extLst>
      <p:ext uri="{BB962C8B-B14F-4D97-AF65-F5344CB8AC3E}">
        <p14:creationId xmlns:p14="http://schemas.microsoft.com/office/powerpoint/2010/main" val="4178970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47</a:t>
            </a:fld>
            <a:endParaRPr lang="en-US" noProof="0" dirty="0"/>
          </a:p>
        </p:txBody>
      </p:sp>
      <p:sp>
        <p:nvSpPr>
          <p:cNvPr id="5" name="Content Placeholder 2"/>
          <p:cNvSpPr txBox="1">
            <a:spLocks/>
          </p:cNvSpPr>
          <p:nvPr/>
        </p:nvSpPr>
        <p:spPr>
          <a:xfrm>
            <a:off x="363416" y="665018"/>
            <a:ext cx="11465168" cy="5798189"/>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radio frequency carrier is in very high frequency range or ultra </a:t>
            </a:r>
          </a:p>
          <a:p>
            <a:pPr algn="just"/>
            <a:r>
              <a:rPr lang="en-US" sz="2800" dirty="0">
                <a:latin typeface="Palatino Linotype" panose="02040502050505030304" pitchFamily="18" charset="0"/>
              </a:rPr>
              <a:t>high frequency range for TV for which antenna length is of the order of a </a:t>
            </a:r>
            <a:r>
              <a:rPr lang="en-US" sz="2800" dirty="0" err="1">
                <a:latin typeface="Palatino Linotype" panose="02040502050505030304" pitchFamily="18" charset="0"/>
              </a:rPr>
              <a:t>metre</a:t>
            </a:r>
            <a:r>
              <a:rPr lang="en-US" sz="2800" dirty="0">
                <a:latin typeface="Palatino Linotype" panose="02040502050505030304" pitchFamily="18" charset="0"/>
              </a:rPr>
              <a:t> for VHF and much less for UHF. </a:t>
            </a:r>
          </a:p>
          <a:p>
            <a:pPr algn="just"/>
            <a:r>
              <a:rPr lang="en-US" sz="2800" dirty="0">
                <a:latin typeface="Palatino Linotype" panose="02040502050505030304" pitchFamily="18" charset="0"/>
              </a:rPr>
              <a:t>Also a radio frequency carrier can accommodate several </a:t>
            </a:r>
            <a:r>
              <a:rPr lang="en-US" sz="2800" dirty="0" err="1">
                <a:latin typeface="Palatino Linotype" panose="02040502050505030304" pitchFamily="18" charset="0"/>
              </a:rPr>
              <a:t>programmes</a:t>
            </a:r>
            <a:r>
              <a:rPr lang="en-US" sz="2800" dirty="0">
                <a:latin typeface="Palatino Linotype" panose="02040502050505030304" pitchFamily="18" charset="0"/>
              </a:rPr>
              <a:t>, each separated in frequency to avoid any clash.</a:t>
            </a:r>
          </a:p>
          <a:p>
            <a:pPr lvl="1" algn="just"/>
            <a:r>
              <a:rPr lang="en-US" sz="2600" dirty="0">
                <a:latin typeface="Palatino Linotype" panose="02040502050505030304" pitchFamily="18" charset="0"/>
              </a:rPr>
              <a:t>For example, a radio frequency carrier in VHF band accommodates 12 channels for TV </a:t>
            </a:r>
            <a:r>
              <a:rPr lang="en-US" sz="2600" dirty="0" err="1">
                <a:latin typeface="Palatino Linotype" panose="02040502050505030304" pitchFamily="18" charset="0"/>
              </a:rPr>
              <a:t>programmes</a:t>
            </a:r>
            <a:r>
              <a:rPr lang="en-US" sz="2600" dirty="0">
                <a:latin typeface="Palatino Linotype" panose="02040502050505030304" pitchFamily="18" charset="0"/>
              </a:rPr>
              <a:t> and also makes spare channels available for FM broadcast.</a:t>
            </a:r>
          </a:p>
          <a:p>
            <a:pPr algn="just"/>
            <a:r>
              <a:rPr lang="en-US" sz="2800" dirty="0">
                <a:latin typeface="Palatino Linotype" panose="02040502050505030304" pitchFamily="18" charset="0"/>
              </a:rPr>
              <a:t>The process of placing a baseband signal (be it video or audio) on a radio frequency carrier is called </a:t>
            </a:r>
            <a:r>
              <a:rPr lang="en-US" sz="2800" b="1" dirty="0">
                <a:latin typeface="Palatino Linotype" panose="02040502050505030304" pitchFamily="18" charset="0"/>
              </a:rPr>
              <a:t>modulation</a:t>
            </a:r>
            <a:r>
              <a:rPr lang="en-US" sz="2800" dirty="0">
                <a:latin typeface="Palatino Linotype" panose="02040502050505030304" pitchFamily="18" charset="0"/>
              </a:rPr>
              <a:t>.</a:t>
            </a:r>
          </a:p>
          <a:p>
            <a:pPr lvl="1" algn="just"/>
            <a:r>
              <a:rPr lang="en-US" sz="2600" dirty="0">
                <a:latin typeface="Palatino Linotype" panose="02040502050505030304" pitchFamily="18" charset="0"/>
              </a:rPr>
              <a:t> The placing is done by modifying some parameter (amplitude or frequency or phase) in accordance with the amplitude of the baseband signal. </a:t>
            </a:r>
          </a:p>
          <a:p>
            <a:pPr lvl="1" algn="just"/>
            <a:r>
              <a:rPr lang="en-US" sz="2600" dirty="0">
                <a:latin typeface="Palatino Linotype" panose="02040502050505030304" pitchFamily="18" charset="0"/>
              </a:rPr>
              <a:t>This gives rise to two types of modulations: </a:t>
            </a:r>
            <a:r>
              <a:rPr lang="en-US" sz="2600" b="1" dirty="0">
                <a:latin typeface="Palatino Linotype" panose="02040502050505030304" pitchFamily="18" charset="0"/>
              </a:rPr>
              <a:t>amplitude modulation </a:t>
            </a:r>
            <a:r>
              <a:rPr lang="en-US" sz="2600" dirty="0">
                <a:latin typeface="Palatino Linotype" panose="02040502050505030304" pitchFamily="18" charset="0"/>
              </a:rPr>
              <a:t>and </a:t>
            </a:r>
            <a:r>
              <a:rPr lang="en-US" sz="2600" b="1" dirty="0">
                <a:latin typeface="Palatino Linotype" panose="02040502050505030304" pitchFamily="18" charset="0"/>
              </a:rPr>
              <a:t>angle modulation</a:t>
            </a:r>
          </a:p>
        </p:txBody>
      </p:sp>
    </p:spTree>
    <p:extLst>
      <p:ext uri="{BB962C8B-B14F-4D97-AF65-F5344CB8AC3E}">
        <p14:creationId xmlns:p14="http://schemas.microsoft.com/office/powerpoint/2010/main" val="17013125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48</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In </a:t>
            </a:r>
            <a:r>
              <a:rPr lang="en-US" sz="2800" b="1" dirty="0">
                <a:solidFill>
                  <a:schemeClr val="accent1"/>
                </a:solidFill>
                <a:latin typeface="Palatino Linotype" panose="02040502050505030304" pitchFamily="18" charset="0"/>
              </a:rPr>
              <a:t>amplitude modulation</a:t>
            </a:r>
            <a:r>
              <a:rPr lang="en-US" sz="2800" dirty="0">
                <a:latin typeface="Palatino Linotype" panose="02040502050505030304" pitchFamily="18" charset="0"/>
              </a:rPr>
              <a:t>, amplitude of the radio frequency carrier is changed in accordance with the amplitude of the baseband signal.</a:t>
            </a:r>
          </a:p>
          <a:p>
            <a:pPr lvl="1" algn="just"/>
            <a:r>
              <a:rPr lang="en-US" sz="2600" dirty="0">
                <a:latin typeface="Palatino Linotype" panose="02040502050505030304" pitchFamily="18" charset="0"/>
              </a:rPr>
              <a:t>Video signals use this type of modulation.</a:t>
            </a:r>
          </a:p>
          <a:p>
            <a:pPr algn="just"/>
            <a:r>
              <a:rPr lang="en-US" sz="2800" dirty="0">
                <a:latin typeface="Palatino Linotype" panose="02040502050505030304" pitchFamily="18" charset="0"/>
              </a:rPr>
              <a:t>In </a:t>
            </a:r>
            <a:r>
              <a:rPr lang="en-US" sz="2800" b="1" dirty="0">
                <a:solidFill>
                  <a:schemeClr val="accent1"/>
                </a:solidFill>
                <a:latin typeface="Palatino Linotype" panose="02040502050505030304" pitchFamily="18" charset="0"/>
              </a:rPr>
              <a:t>angle modulation</a:t>
            </a:r>
            <a:r>
              <a:rPr lang="en-US" sz="2800" dirty="0">
                <a:latin typeface="Palatino Linotype" panose="02040502050505030304" pitchFamily="18" charset="0"/>
              </a:rPr>
              <a:t>, either frequency or phase of the radio frequency carrier is changed in accordance with the amplitude of the baseband signal, resulting in frequency or phase modulation.</a:t>
            </a:r>
          </a:p>
          <a:p>
            <a:pPr lvl="1" algn="just"/>
            <a:r>
              <a:rPr lang="en-US" sz="2600" dirty="0">
                <a:latin typeface="Palatino Linotype" panose="02040502050505030304" pitchFamily="18" charset="0"/>
              </a:rPr>
              <a:t>In TV, audio signals use frequency modulation.</a:t>
            </a:r>
          </a:p>
          <a:p>
            <a:pPr algn="just"/>
            <a:r>
              <a:rPr lang="en-US" sz="2800" dirty="0">
                <a:latin typeface="Palatino Linotype" panose="02040502050505030304" pitchFamily="18" charset="0"/>
              </a:rPr>
              <a:t>At the receiver, baseband signals (video and audio) are recovered by a process called demodulation or detection.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Amplitude and Frequency Modulation</a:t>
            </a:r>
          </a:p>
        </p:txBody>
      </p:sp>
    </p:spTree>
    <p:extLst>
      <p:ext uri="{BB962C8B-B14F-4D97-AF65-F5344CB8AC3E}">
        <p14:creationId xmlns:p14="http://schemas.microsoft.com/office/powerpoint/2010/main" val="16134492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49</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289745" y="201543"/>
            <a:ext cx="8167239" cy="5663872"/>
          </a:xfrm>
          <a:prstGeom prst="rect">
            <a:avLst/>
          </a:prstGeom>
        </p:spPr>
      </p:pic>
      <p:sp>
        <p:nvSpPr>
          <p:cNvPr id="4" name="Rectangle 3"/>
          <p:cNvSpPr/>
          <p:nvPr/>
        </p:nvSpPr>
        <p:spPr>
          <a:xfrm>
            <a:off x="2385031" y="6064679"/>
            <a:ext cx="8317213" cy="523220"/>
          </a:xfrm>
          <a:prstGeom prst="rect">
            <a:avLst/>
          </a:prstGeom>
        </p:spPr>
        <p:txBody>
          <a:bodyPr wrap="none">
            <a:spAutoFit/>
          </a:bodyPr>
          <a:lstStyle/>
          <a:p>
            <a:r>
              <a:rPr lang="en-US" sz="2800" b="1" dirty="0"/>
              <a:t> (a) Amplitude modulation    (b) Frequency modulation</a:t>
            </a:r>
          </a:p>
        </p:txBody>
      </p:sp>
    </p:spTree>
    <p:extLst>
      <p:ext uri="{BB962C8B-B14F-4D97-AF65-F5344CB8AC3E}">
        <p14:creationId xmlns:p14="http://schemas.microsoft.com/office/powerpoint/2010/main" val="3611907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50</a:t>
            </a:fld>
            <a:endParaRPr lang="en-US" noProof="0" dirty="0"/>
          </a:p>
        </p:txBody>
      </p:sp>
      <p:sp>
        <p:nvSpPr>
          <p:cNvPr id="3" name="Content Placeholder 2"/>
          <p:cNvSpPr>
            <a:spLocks noGrp="1"/>
          </p:cNvSpPr>
          <p:nvPr>
            <p:ph idx="1"/>
          </p:nvPr>
        </p:nvSpPr>
        <p:spPr>
          <a:xfrm>
            <a:off x="217942" y="1558636"/>
            <a:ext cx="11465168" cy="5133173"/>
          </a:xfrm>
        </p:spPr>
        <p:txBody>
          <a:bodyPr>
            <a:normAutofit/>
          </a:bodyPr>
          <a:lstStyle/>
          <a:p>
            <a:pPr algn="just"/>
            <a:r>
              <a:rPr lang="en-US" sz="2800" dirty="0">
                <a:latin typeface="Palatino Linotype" panose="02040502050505030304" pitchFamily="18" charset="0"/>
              </a:rPr>
              <a:t>Amplitude Modulation is suitable for video signals for the following reasons:</a:t>
            </a:r>
          </a:p>
          <a:p>
            <a:pPr marL="971550" lvl="1" indent="-514350" algn="just">
              <a:buFont typeface="+mj-lt"/>
              <a:buAutoNum type="arabicParenR"/>
            </a:pPr>
            <a:r>
              <a:rPr lang="en-US" sz="2600" dirty="0">
                <a:latin typeface="Palatino Linotype" panose="02040502050505030304" pitchFamily="18" charset="0"/>
              </a:rPr>
              <a:t> In AM, detection of baseband signal from the modulated wave is very easy using a single diode rectifier and a simple low pass filter circuit. The circuit is of low price.</a:t>
            </a:r>
          </a:p>
          <a:p>
            <a:pPr marL="971550" lvl="1" indent="-514350" algn="just">
              <a:buFont typeface="+mj-lt"/>
              <a:buAutoNum type="arabicParenR"/>
            </a:pPr>
            <a:r>
              <a:rPr lang="en-US" sz="2600" dirty="0">
                <a:latin typeface="Palatino Linotype" panose="02040502050505030304" pitchFamily="18" charset="0"/>
              </a:rPr>
              <a:t>AM detector does not detect random changes in phase but detects the changes in amplitude. Hence output of the detector is free of phase noise.</a:t>
            </a:r>
          </a:p>
          <a:p>
            <a:pPr marL="971550" lvl="1" indent="-514350" algn="just">
              <a:buFont typeface="+mj-lt"/>
              <a:buAutoNum type="arabicParenR"/>
            </a:pPr>
            <a:r>
              <a:rPr lang="en-US" sz="2600" dirty="0">
                <a:latin typeface="Palatino Linotype" panose="02040502050505030304" pitchFamily="18" charset="0"/>
              </a:rPr>
              <a:t>Baseband signal is </a:t>
            </a:r>
            <a:r>
              <a:rPr lang="en-US" sz="2600" dirty="0" err="1">
                <a:latin typeface="Palatino Linotype" panose="02040502050505030304" pitchFamily="18" charset="0"/>
              </a:rPr>
              <a:t>accomodated</a:t>
            </a:r>
            <a:r>
              <a:rPr lang="en-US" sz="2600" dirty="0">
                <a:latin typeface="Palatino Linotype" panose="02040502050505030304" pitchFamily="18" charset="0"/>
              </a:rPr>
              <a:t> in two sidebands only and therefore bandwidth requirement is low. Maximum bandwidth for video signal could be ± 5 MHz, which is further reduced by using vestigial sideband type AM.</a:t>
            </a:r>
          </a:p>
          <a:p>
            <a:pPr algn="just"/>
            <a:r>
              <a:rPr lang="en-US" sz="2800" dirty="0">
                <a:latin typeface="Palatino Linotype" panose="02040502050505030304" pitchFamily="18" charset="0"/>
              </a:rPr>
              <a:t>The type of AM used in TV is called Vestigial Sideband AM (AM VSB)</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Suitability of AM for Video Signals</a:t>
            </a:r>
          </a:p>
        </p:txBody>
      </p:sp>
    </p:spTree>
    <p:extLst>
      <p:ext uri="{BB962C8B-B14F-4D97-AF65-F5344CB8AC3E}">
        <p14:creationId xmlns:p14="http://schemas.microsoft.com/office/powerpoint/2010/main" val="25947602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51</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Frequency modulation is used for transmission of audio signals due to the following advantages:</a:t>
            </a:r>
          </a:p>
          <a:p>
            <a:pPr marL="971550" lvl="1" indent="-514350" algn="just">
              <a:buFont typeface="+mj-lt"/>
              <a:buAutoNum type="arabicParenR"/>
            </a:pPr>
            <a:r>
              <a:rPr lang="en-US" sz="2600" dirty="0">
                <a:latin typeface="Palatino Linotype" panose="02040502050505030304" pitchFamily="18" charset="0"/>
              </a:rPr>
              <a:t>Signal to noise ratio is high in FM systems</a:t>
            </a:r>
          </a:p>
          <a:p>
            <a:pPr marL="971550" lvl="1" indent="-514350" algn="just">
              <a:buFont typeface="+mj-lt"/>
              <a:buAutoNum type="arabicParenR"/>
            </a:pPr>
            <a:r>
              <a:rPr lang="en-US" sz="2600" dirty="0">
                <a:latin typeface="Palatino Linotype" panose="02040502050505030304" pitchFamily="18" charset="0"/>
              </a:rPr>
              <a:t>Random changes in phase can be detected, but ears are not sensitive to phase changes and therefore this type of noise present in the audio output of the receiving system is harmless.</a:t>
            </a:r>
          </a:p>
          <a:p>
            <a:pPr marL="971550" lvl="1" indent="-514350" algn="just">
              <a:buFont typeface="+mj-lt"/>
              <a:buAutoNum type="arabicParenR"/>
            </a:pPr>
            <a:r>
              <a:rPr lang="en-US" sz="2600" dirty="0">
                <a:latin typeface="Palatino Linotype" panose="02040502050505030304" pitchFamily="18" charset="0"/>
              </a:rPr>
              <a:t>FM is power efficient, since it’s the sidebands that carry the information</a:t>
            </a:r>
          </a:p>
          <a:p>
            <a:pPr marL="971550" lvl="1" indent="-514350" algn="just">
              <a:buFont typeface="+mj-lt"/>
              <a:buAutoNum type="arabicParenR"/>
            </a:pPr>
            <a:r>
              <a:rPr lang="en-US" sz="2600" dirty="0">
                <a:latin typeface="Palatino Linotype" panose="02040502050505030304" pitchFamily="18" charset="0"/>
              </a:rPr>
              <a:t>Due to capture effect in FM system, weak interfering stations are fully suppressed.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Suitability of FM for Audio Signals</a:t>
            </a:r>
          </a:p>
        </p:txBody>
      </p:sp>
    </p:spTree>
    <p:extLst>
      <p:ext uri="{BB962C8B-B14F-4D97-AF65-F5344CB8AC3E}">
        <p14:creationId xmlns:p14="http://schemas.microsoft.com/office/powerpoint/2010/main" val="832112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52</a:t>
            </a:fld>
            <a:endParaRPr lang="en-US" noProof="0" dirty="0"/>
          </a:p>
        </p:txBody>
      </p:sp>
      <p:sp>
        <p:nvSpPr>
          <p:cNvPr id="3" name="Content Placeholder 2"/>
          <p:cNvSpPr>
            <a:spLocks noGrp="1"/>
          </p:cNvSpPr>
          <p:nvPr>
            <p:ph idx="1"/>
          </p:nvPr>
        </p:nvSpPr>
        <p:spPr>
          <a:xfrm>
            <a:off x="363416" y="1600200"/>
            <a:ext cx="11465168" cy="4576763"/>
          </a:xfrm>
        </p:spPr>
        <p:txBody>
          <a:bodyPr>
            <a:normAutofit/>
          </a:bodyPr>
          <a:lstStyle/>
          <a:p>
            <a:pPr algn="just"/>
            <a:r>
              <a:rPr lang="en-US" sz="2800" dirty="0">
                <a:latin typeface="Palatino Linotype" panose="02040502050505030304" pitchFamily="18" charset="0"/>
              </a:rPr>
              <a:t>Colour signals first modulate a subcarrier, using amplitude modulation suppressed carrier (AMSC).</a:t>
            </a:r>
          </a:p>
          <a:p>
            <a:pPr algn="just"/>
            <a:r>
              <a:rPr lang="en-US" sz="2800" dirty="0">
                <a:latin typeface="Palatino Linotype" panose="02040502050505030304" pitchFamily="18" charset="0"/>
              </a:rPr>
              <a:t>The value of the subcarrier is 4.43 MHz in India.</a:t>
            </a:r>
          </a:p>
          <a:p>
            <a:pPr algn="just"/>
            <a:r>
              <a:rPr lang="en-US" sz="2800" dirty="0">
                <a:latin typeface="Palatino Linotype" panose="02040502050505030304" pitchFamily="18" charset="0"/>
              </a:rPr>
              <a:t>Colour signals occupy smaller bandwidth of about 1.3 MHz</a:t>
            </a:r>
          </a:p>
          <a:p>
            <a:pPr algn="just"/>
            <a:r>
              <a:rPr lang="en-US" sz="2800" dirty="0">
                <a:latin typeface="Palatino Linotype" panose="02040502050505030304" pitchFamily="18" charset="0"/>
              </a:rPr>
              <a:t>To save bandwidth further, upper side band is </a:t>
            </a:r>
            <a:r>
              <a:rPr lang="en-US" sz="2800" dirty="0" err="1">
                <a:latin typeface="Palatino Linotype" panose="02040502050505030304" pitchFamily="18" charset="0"/>
              </a:rPr>
              <a:t>vestiged</a:t>
            </a:r>
            <a:r>
              <a:rPr lang="en-US" sz="2800" dirty="0">
                <a:latin typeface="Palatino Linotype" panose="02040502050505030304" pitchFamily="18" charset="0"/>
              </a:rPr>
              <a:t>.</a:t>
            </a:r>
          </a:p>
          <a:p>
            <a:pPr algn="just"/>
            <a:r>
              <a:rPr lang="en-US" sz="2800" dirty="0">
                <a:latin typeface="Palatino Linotype" panose="02040502050505030304" pitchFamily="18" charset="0"/>
              </a:rPr>
              <a:t>The reasons for using AMSC are</a:t>
            </a:r>
          </a:p>
          <a:p>
            <a:pPr marL="971550" lvl="1" indent="-514350" algn="just">
              <a:buFont typeface="+mj-lt"/>
              <a:buAutoNum type="arabicParenR"/>
            </a:pPr>
            <a:r>
              <a:rPr lang="en-US" sz="2600" dirty="0">
                <a:latin typeface="Palatino Linotype" panose="02040502050505030304" pitchFamily="18" charset="0"/>
              </a:rPr>
              <a:t>It will not be detected by the normal video demodulator of a monochrome receiver.</a:t>
            </a:r>
          </a:p>
          <a:p>
            <a:pPr marL="971550" lvl="1" indent="-514350" algn="just">
              <a:buFont typeface="+mj-lt"/>
              <a:buAutoNum type="arabicParenR"/>
            </a:pPr>
            <a:r>
              <a:rPr lang="en-US" sz="2600" dirty="0">
                <a:latin typeface="Palatino Linotype" panose="02040502050505030304" pitchFamily="18" charset="0"/>
              </a:rPr>
              <a:t>By not using carrier, a saving in power up to 67% is being made at the transmitter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Modulation of Colour Signals</a:t>
            </a:r>
          </a:p>
        </p:txBody>
      </p:sp>
    </p:spTree>
    <p:extLst>
      <p:ext uri="{BB962C8B-B14F-4D97-AF65-F5344CB8AC3E}">
        <p14:creationId xmlns:p14="http://schemas.microsoft.com/office/powerpoint/2010/main" val="31168503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53</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TV Channels used in India – VHF Bands</a:t>
            </a:r>
          </a:p>
        </p:txBody>
      </p:sp>
      <p:pic>
        <p:nvPicPr>
          <p:cNvPr id="5" name="Picture 4"/>
          <p:cNvPicPr>
            <a:picLocks noChangeAspect="1"/>
          </p:cNvPicPr>
          <p:nvPr/>
        </p:nvPicPr>
        <p:blipFill>
          <a:blip r:embed="rId2"/>
          <a:stretch>
            <a:fillRect/>
          </a:stretch>
        </p:blipFill>
        <p:spPr>
          <a:xfrm>
            <a:off x="163624" y="2179740"/>
            <a:ext cx="11370287" cy="3567557"/>
          </a:xfrm>
          <a:prstGeom prst="rect">
            <a:avLst/>
          </a:prstGeom>
        </p:spPr>
      </p:pic>
    </p:spTree>
    <p:extLst>
      <p:ext uri="{BB962C8B-B14F-4D97-AF65-F5344CB8AC3E}">
        <p14:creationId xmlns:p14="http://schemas.microsoft.com/office/powerpoint/2010/main" val="1428031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54</a:t>
            </a:fld>
            <a:endParaRPr lang="en-US" noProof="0" dirty="0"/>
          </a:p>
        </p:txBody>
      </p:sp>
      <p:pic>
        <p:nvPicPr>
          <p:cNvPr id="3" name="Picture 2"/>
          <p:cNvPicPr>
            <a:picLocks noChangeAspect="1"/>
          </p:cNvPicPr>
          <p:nvPr/>
        </p:nvPicPr>
        <p:blipFill>
          <a:blip r:embed="rId2"/>
          <a:stretch>
            <a:fillRect/>
          </a:stretch>
        </p:blipFill>
        <p:spPr>
          <a:xfrm>
            <a:off x="534957" y="820119"/>
            <a:ext cx="11204336" cy="5268954"/>
          </a:xfrm>
          <a:prstGeom prst="rect">
            <a:avLst/>
          </a:prstGeom>
        </p:spPr>
      </p:pic>
    </p:spTree>
    <p:extLst>
      <p:ext uri="{BB962C8B-B14F-4D97-AF65-F5344CB8AC3E}">
        <p14:creationId xmlns:p14="http://schemas.microsoft.com/office/powerpoint/2010/main" val="37601062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55</a:t>
            </a:fld>
            <a:endParaRPr lang="en-US" noProof="0" dirty="0"/>
          </a:p>
        </p:txBody>
      </p:sp>
      <p:sp>
        <p:nvSpPr>
          <p:cNvPr id="3" name="Content Placeholder 2"/>
          <p:cNvSpPr>
            <a:spLocks noGrp="1"/>
          </p:cNvSpPr>
          <p:nvPr>
            <p:ph idx="1"/>
          </p:nvPr>
        </p:nvSpPr>
        <p:spPr>
          <a:xfrm>
            <a:off x="363416" y="1579418"/>
            <a:ext cx="11465168" cy="4597545"/>
          </a:xfrm>
        </p:spPr>
        <p:txBody>
          <a:bodyPr>
            <a:normAutofit lnSpcReduction="10000"/>
          </a:bodyPr>
          <a:lstStyle/>
          <a:p>
            <a:pPr algn="just"/>
            <a:r>
              <a:rPr lang="en-US" sz="2800" dirty="0">
                <a:latin typeface="Palatino Linotype" panose="02040502050505030304" pitchFamily="18" charset="0"/>
              </a:rPr>
              <a:t>Radio frequency spectrum gives the frequency-wise amplitudes of various components of the baseband signal in the allotted channel width, relative to the radio frequency carrier.</a:t>
            </a:r>
          </a:p>
          <a:p>
            <a:pPr algn="just"/>
            <a:r>
              <a:rPr lang="en-US" sz="2800" dirty="0">
                <a:latin typeface="Palatino Linotype" panose="02040502050505030304" pitchFamily="18" charset="0"/>
              </a:rPr>
              <a:t>The figure in the next slide shows a typical RF spectrum for the 4</a:t>
            </a:r>
            <a:r>
              <a:rPr lang="en-US" sz="2800" baseline="30000" dirty="0">
                <a:latin typeface="Palatino Linotype" panose="02040502050505030304" pitchFamily="18" charset="0"/>
              </a:rPr>
              <a:t>th</a:t>
            </a:r>
            <a:r>
              <a:rPr lang="en-US" sz="2800" dirty="0">
                <a:latin typeface="Palatino Linotype" panose="02040502050505030304" pitchFamily="18" charset="0"/>
              </a:rPr>
              <a:t> channel (61 – 68 MHz) of TV transmission</a:t>
            </a:r>
          </a:p>
          <a:p>
            <a:pPr lvl="1" algn="just"/>
            <a:r>
              <a:rPr lang="en-US" sz="2600" dirty="0">
                <a:latin typeface="Palatino Linotype" panose="02040502050505030304" pitchFamily="18" charset="0"/>
              </a:rPr>
              <a:t>RF carrier frequency is at 62.25 MHz</a:t>
            </a:r>
          </a:p>
          <a:p>
            <a:pPr lvl="1" algn="just"/>
            <a:r>
              <a:rPr lang="en-US" sz="2600" dirty="0">
                <a:latin typeface="Palatino Linotype" panose="02040502050505030304" pitchFamily="18" charset="0"/>
              </a:rPr>
              <a:t>Lower sideband is attenuated below 61.50 MHz</a:t>
            </a:r>
          </a:p>
          <a:p>
            <a:pPr lvl="1" algn="just"/>
            <a:r>
              <a:rPr lang="en-US" sz="2600" dirty="0">
                <a:latin typeface="Palatino Linotype" panose="02040502050505030304" pitchFamily="18" charset="0"/>
              </a:rPr>
              <a:t>The Upper sideband has full width of 5 MHz and attenuated beyond 67.25 MHz</a:t>
            </a:r>
          </a:p>
          <a:p>
            <a:pPr lvl="1" algn="just"/>
            <a:r>
              <a:rPr lang="en-US" sz="2600" dirty="0">
                <a:latin typeface="Palatino Linotype" panose="02040502050505030304" pitchFamily="18" charset="0"/>
              </a:rPr>
              <a:t>Total bandwidth is 5.75 MHz</a:t>
            </a:r>
          </a:p>
          <a:p>
            <a:pPr lvl="1" algn="just"/>
            <a:r>
              <a:rPr lang="en-US" sz="2600" dirty="0">
                <a:latin typeface="Palatino Linotype" panose="02040502050505030304" pitchFamily="18" charset="0"/>
              </a:rPr>
              <a:t>Colour subcarrier of 4.43 MHz is placed at 66.68 MHz in the spectrum of the modulated signal. I</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RF Spectrum</a:t>
            </a:r>
          </a:p>
        </p:txBody>
      </p:sp>
    </p:spTree>
    <p:extLst>
      <p:ext uri="{BB962C8B-B14F-4D97-AF65-F5344CB8AC3E}">
        <p14:creationId xmlns:p14="http://schemas.microsoft.com/office/powerpoint/2010/main" val="19623675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56</a:t>
            </a:fld>
            <a:endParaRPr lang="en-US" noProof="0" dirty="0"/>
          </a:p>
        </p:txBody>
      </p:sp>
      <p:sp>
        <p:nvSpPr>
          <p:cNvPr id="3" name="Content Placeholder 2"/>
          <p:cNvSpPr>
            <a:spLocks noGrp="1"/>
          </p:cNvSpPr>
          <p:nvPr>
            <p:ph idx="1"/>
          </p:nvPr>
        </p:nvSpPr>
        <p:spPr>
          <a:xfrm>
            <a:off x="363416" y="1579418"/>
            <a:ext cx="11465168" cy="4597545"/>
          </a:xfrm>
        </p:spPr>
        <p:txBody>
          <a:bodyPr>
            <a:normAutofit/>
          </a:bodyPr>
          <a:lstStyle/>
          <a:p>
            <a:pPr lvl="1" algn="just"/>
            <a:r>
              <a:rPr lang="en-US" sz="2600" dirty="0">
                <a:latin typeface="Palatino Linotype" panose="02040502050505030304" pitchFamily="18" charset="0"/>
              </a:rPr>
              <a:t>Colour subcarrier of 4.43 MHz is placed at 66.68 MHz in the spectrum of the modulated signal. Its lower sideband is 1.3 MHz below, and upper sideband is 0.57 above the colour subcarrier</a:t>
            </a:r>
          </a:p>
          <a:p>
            <a:pPr lvl="1" algn="just"/>
            <a:r>
              <a:rPr lang="en-US" sz="2600" dirty="0">
                <a:latin typeface="Palatino Linotype" panose="02040502050505030304" pitchFamily="18" charset="0"/>
              </a:rPr>
              <a:t>Audio modulated signal is also accommodated within the same channel width, the audio carrier being at 67.75 MHz with sideband within ±50 kHz</a:t>
            </a:r>
          </a:p>
          <a:p>
            <a:pPr lvl="1" algn="just"/>
            <a:r>
              <a:rPr lang="en-US" sz="2600" dirty="0">
                <a:latin typeface="Palatino Linotype" panose="02040502050505030304" pitchFamily="18" charset="0"/>
              </a:rPr>
              <a:t>The remaining portion of the spectrum up to 68 MHz acts as a guard band for the next channel.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RF Spectrum</a:t>
            </a:r>
          </a:p>
        </p:txBody>
      </p:sp>
    </p:spTree>
    <p:extLst>
      <p:ext uri="{BB962C8B-B14F-4D97-AF65-F5344CB8AC3E}">
        <p14:creationId xmlns:p14="http://schemas.microsoft.com/office/powerpoint/2010/main" val="7275228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57</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98901" y="783175"/>
            <a:ext cx="10738700" cy="5160426"/>
          </a:xfrm>
          <a:prstGeom prst="rect">
            <a:avLst/>
          </a:prstGeom>
        </p:spPr>
      </p:pic>
    </p:spTree>
    <p:extLst>
      <p:ext uri="{BB962C8B-B14F-4D97-AF65-F5344CB8AC3E}">
        <p14:creationId xmlns:p14="http://schemas.microsoft.com/office/powerpoint/2010/main" val="12102808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58</a:t>
            </a:fld>
            <a:endParaRPr lang="en-US" noProof="0" dirty="0"/>
          </a:p>
        </p:txBody>
      </p:sp>
      <p:sp>
        <p:nvSpPr>
          <p:cNvPr id="3" name="Content Placeholder 2"/>
          <p:cNvSpPr>
            <a:spLocks noGrp="1"/>
          </p:cNvSpPr>
          <p:nvPr>
            <p:ph idx="1"/>
          </p:nvPr>
        </p:nvSpPr>
        <p:spPr/>
        <p:txBody>
          <a:bodyPr>
            <a:normAutofit/>
          </a:bodyPr>
          <a:lstStyle/>
          <a:p>
            <a:pPr algn="just"/>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endParaRPr lang="en-US" sz="3600" dirty="0">
              <a:latin typeface="Palatino Linotype" panose="02040502050505030304" pitchFamily="18" charset="0"/>
            </a:endParaRPr>
          </a:p>
        </p:txBody>
      </p:sp>
    </p:spTree>
    <p:extLst>
      <p:ext uri="{BB962C8B-B14F-4D97-AF65-F5344CB8AC3E}">
        <p14:creationId xmlns:p14="http://schemas.microsoft.com/office/powerpoint/2010/main" val="269593156"/>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D46D58D-B27D-4B23-AEA1-AE974AB62218}">
  <ds:schemaRefs>
    <ds:schemaRef ds:uri="http://schemas.microsoft.com/sharepoint/v3/contenttype/forms"/>
  </ds:schemaRefs>
</ds:datastoreItem>
</file>

<file path=customXml/itemProps2.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0CE401-796E-4493-905E-4DDA5AF62AB4}">
  <ds:schemaRefs>
    <ds:schemaRef ds:uri="http://schemas.microsoft.com/office/2006/metadata/properties"/>
    <ds:schemaRef ds:uri="http://purl.org/dc/terms/"/>
    <ds:schemaRef ds:uri="http://www.w3.org/XML/1998/namespace"/>
    <ds:schemaRef ds:uri="http://purl.org/dc/dcmitype/"/>
    <ds:schemaRef ds:uri="http://schemas.openxmlformats.org/package/2006/metadata/core-properties"/>
    <ds:schemaRef ds:uri="16c05727-aa75-4e4a-9b5f-8a80a1165891"/>
    <ds:schemaRef ds:uri="http://purl.org/dc/elements/1.1/"/>
    <ds:schemaRef ds:uri="http://schemas.microsoft.com/office/2006/documentManagement/typ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4235</Words>
  <Application>Microsoft Office PowerPoint</Application>
  <PresentationFormat>Widescreen</PresentationFormat>
  <Paragraphs>331</Paragraphs>
  <Slides>58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Cambria Math</vt:lpstr>
      <vt:lpstr>Palatino Linotype</vt:lpstr>
      <vt:lpstr>Office Theme</vt:lpstr>
      <vt:lpstr>LECTURE THREE: FUNDAMNENTAL CONCEPTS OF TELEVISION</vt:lpstr>
      <vt:lpstr>Scanning</vt:lpstr>
      <vt:lpstr>PowerPoint Presentation</vt:lpstr>
      <vt:lpstr>PowerPoint Presentation</vt:lpstr>
      <vt:lpstr>PowerPoint Presentation</vt:lpstr>
      <vt:lpstr>Need of Scanning</vt:lpstr>
      <vt:lpstr>Sawtooth Currents for Scanning</vt:lpstr>
      <vt:lpstr>PowerPoint Presentation</vt:lpstr>
      <vt:lpstr>Progressive Scanning</vt:lpstr>
      <vt:lpstr>Disadvantages of Progressive Scanning</vt:lpstr>
      <vt:lpstr>PowerPoint Presentation</vt:lpstr>
      <vt:lpstr>Interlaced Scanning</vt:lpstr>
      <vt:lpstr>PowerPoint Presentation</vt:lpstr>
      <vt:lpstr>Fields</vt:lpstr>
      <vt:lpstr>PowerPoint Presentation</vt:lpstr>
      <vt:lpstr>Frame, Field and Line Frequencies</vt:lpstr>
      <vt:lpstr>Active Lines</vt:lpstr>
      <vt:lpstr>Kell Factor</vt:lpstr>
      <vt:lpstr>PowerPoint Presentation</vt:lpstr>
      <vt:lpstr>PowerPoint Presentation</vt:lpstr>
      <vt:lpstr>Resolution</vt:lpstr>
      <vt:lpstr>Vertical Resolution</vt:lpstr>
      <vt:lpstr>Horizontal Resolution</vt:lpstr>
      <vt:lpstr>Example 01</vt:lpstr>
      <vt:lpstr>Example 02</vt:lpstr>
      <vt:lpstr>Bandwidth</vt:lpstr>
      <vt:lpstr>PowerPoint Presentation</vt:lpstr>
      <vt:lpstr>Example 03</vt:lpstr>
      <vt:lpstr>Relationship Between Resolution and Bandwidth</vt:lpstr>
      <vt:lpstr>Factors on Which Bandwidth and Resolution Depend</vt:lpstr>
      <vt:lpstr>Bandwidth of the Baseband Signal</vt:lpstr>
      <vt:lpstr>Signal Bandwidth</vt:lpstr>
      <vt:lpstr>Synchronisation</vt:lpstr>
      <vt:lpstr>PowerPoint Presentation</vt:lpstr>
      <vt:lpstr>PowerPoint Presentation</vt:lpstr>
      <vt:lpstr>Blanking</vt:lpstr>
      <vt:lpstr>Compoite Video Signal</vt:lpstr>
      <vt:lpstr>+Ve and –Ve Polarities of CVS</vt:lpstr>
      <vt:lpstr>Advantages of Negative Modulation</vt:lpstr>
      <vt:lpstr>PowerPoint Presentation</vt:lpstr>
      <vt:lpstr>Disadvantages of Negative Modulation</vt:lpstr>
      <vt:lpstr>Voltage Levels in CVS</vt:lpstr>
      <vt:lpstr>PowerPoint Presentation</vt:lpstr>
      <vt:lpstr>The Various Levels in CVS</vt:lpstr>
      <vt:lpstr>PowerPoint Presentation</vt:lpstr>
      <vt:lpstr>Modulation Requirements for TV</vt:lpstr>
      <vt:lpstr>PowerPoint Presentation</vt:lpstr>
      <vt:lpstr>Amplitude and Frequency Modulation</vt:lpstr>
      <vt:lpstr>PowerPoint Presentation</vt:lpstr>
      <vt:lpstr>Suitability of AM for Video Signals</vt:lpstr>
      <vt:lpstr>Suitability of FM for Audio Signals</vt:lpstr>
      <vt:lpstr>Modulation of Colour Signals</vt:lpstr>
      <vt:lpstr>TV Channels used in India – VHF Bands</vt:lpstr>
      <vt:lpstr>PowerPoint Presentation</vt:lpstr>
      <vt:lpstr>RF Spectrum</vt:lpstr>
      <vt:lpstr>RF Spectrum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2020-12-04T11:12:10Z</dcterms:created>
  <dcterms:modified xsi:type="dcterms:W3CDTF">2021-11-30T06:16:39Z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