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265" r:id="rId6"/>
    <p:sldId id="278" r:id="rId7"/>
    <p:sldId id="277" r:id="rId8"/>
    <p:sldId id="279" r:id="rId9"/>
    <p:sldId id="266" r:id="rId10"/>
    <p:sldId id="280" r:id="rId11"/>
    <p:sldId id="267" r:id="rId12"/>
    <p:sldId id="281" r:id="rId13"/>
    <p:sldId id="268" r:id="rId14"/>
    <p:sldId id="282" r:id="rId15"/>
    <p:sldId id="269" r:id="rId16"/>
    <p:sldId id="283" r:id="rId17"/>
    <p:sldId id="270" r:id="rId18"/>
    <p:sldId id="284" r:id="rId19"/>
    <p:sldId id="285" r:id="rId20"/>
    <p:sldId id="286" r:id="rId21"/>
    <p:sldId id="271" r:id="rId22"/>
    <p:sldId id="287" r:id="rId23"/>
    <p:sldId id="272" r:id="rId24"/>
    <p:sldId id="288" r:id="rId25"/>
    <p:sldId id="273" r:id="rId26"/>
    <p:sldId id="291" r:id="rId27"/>
    <p:sldId id="274" r:id="rId28"/>
    <p:sldId id="292" r:id="rId29"/>
    <p:sldId id="293" r:id="rId30"/>
    <p:sldId id="29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404040"/>
    <a:srgbClr val="00B0F0"/>
    <a:srgbClr val="0070C0"/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88415" autoAdjust="0"/>
  </p:normalViewPr>
  <p:slideViewPr>
    <p:cSldViewPr snapToGrid="0" showGuides="1">
      <p:cViewPr varScale="1">
        <p:scale>
          <a:sx n="74" d="100"/>
          <a:sy n="74" d="100"/>
        </p:scale>
        <p:origin x="57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4" d="100"/>
        <a:sy n="114" d="100"/>
      </p:scale>
      <p:origin x="0" y="-1476"/>
    </p:cViewPr>
  </p:sorterViewPr>
  <p:notesViewPr>
    <p:cSldViewPr snapToGrid="0" showGuides="1">
      <p:cViewPr>
        <p:scale>
          <a:sx n="50" d="100"/>
          <a:sy n="50" d="100"/>
        </p:scale>
        <p:origin x="2640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8AFA8042-29A1-4486-A765-7552698406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8D8449A-A734-4B2E-9806-61303F24B6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249263-8DF9-4907-970E-1CFD040DC73A}" type="datetimeFigureOut">
              <a:rPr lang="en-US" smtClean="0"/>
              <a:t>2/22/2021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6605C2A-990C-4531-8CBF-BC3BEC0AF3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D7358FE-F7D5-4C85-B0FD-2394F7F877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AE485-B3C6-4830-BBC8-C6E008BDD6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628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70B412-7BFF-46C7-AB5E-DE35F66C9933}" type="datetimeFigureOut">
              <a:rPr lang="en-US" noProof="0" smtClean="0"/>
              <a:t>2/22/2021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5ACE04-E13C-4837-B6DD-B388E7CAA05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50441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5ACE04-E13C-4837-B6DD-B388E7CAA0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3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8582E5-8FA2-4056-805F-EF36F70668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6300" y="2726872"/>
            <a:ext cx="7233557" cy="832077"/>
          </a:xfrm>
        </p:spPr>
        <p:txBody>
          <a:bodyPr anchor="b">
            <a:normAutofit/>
          </a:bodyPr>
          <a:lstStyle>
            <a:lvl1pPr algn="l"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C085D6F-874B-44F8-B241-51EF13CA9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6300" y="3569380"/>
            <a:ext cx="7233557" cy="365125"/>
          </a:xfrm>
        </p:spPr>
        <p:txBody>
          <a:bodyPr lIns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DE5D2F-535D-4D7C-9BE1-84BFEC7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93407-1483-4B80-86DE-DAE1D4D89093}" type="datetimeFigureOut">
              <a:rPr lang="en-US" noProof="0" smtClean="0"/>
              <a:t>2/22/2021</a:t>
            </a:fld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64363625-95D4-4DF0-A1AA-D060728EC426}"/>
              </a:ext>
            </a:extLst>
          </p:cNvPr>
          <p:cNvCxnSpPr>
            <a:cxnSpLocks/>
          </p:cNvCxnSpPr>
          <p:nvPr userDrawn="1"/>
        </p:nvCxnSpPr>
        <p:spPr>
          <a:xfrm>
            <a:off x="4827813" y="4082142"/>
            <a:ext cx="148862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ECBCF8A4-C2B4-4945-8D79-C9D46B7FBECB}"/>
              </a:ext>
            </a:extLst>
          </p:cNvPr>
          <p:cNvGrpSpPr/>
          <p:nvPr userDrawn="1"/>
        </p:nvGrpSpPr>
        <p:grpSpPr>
          <a:xfrm>
            <a:off x="4793474" y="2475187"/>
            <a:ext cx="748798" cy="134113"/>
            <a:chOff x="4827813" y="2534636"/>
            <a:chExt cx="996651" cy="178504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xmlns="" id="{479C2256-8A0F-4625-86F0-FB439F3EAD4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xmlns="" id="{253CF488-6D31-4B63-A3C6-C4D838C23FCE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xmlns="" id="{E32985B6-7260-445A-A580-6993E0DEBFD9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xmlns="" id="{3BC682E1-4E5D-4006-81EA-550DD98166E4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F0C7F772-E2DA-4B13-AC2E-28A0EE6D8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424363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47953C80-71A5-4AA2-AEAD-21948D1AA6DC}"/>
              </a:ext>
            </a:extLst>
          </p:cNvPr>
          <p:cNvSpPr/>
          <p:nvPr userDrawn="1"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9C4582D1-F710-4E2F-9868-CB89116D5932}"/>
              </a:ext>
            </a:extLst>
          </p:cNvPr>
          <p:cNvSpPr/>
          <p:nvPr userDrawn="1"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945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C16441-0F1F-453B-BACF-543CEDE2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8430" y="1046163"/>
            <a:ext cx="5445369" cy="1114784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EC9302-80D9-4A88-8591-DE2D4BA1F9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08430" y="2506662"/>
            <a:ext cx="5445370" cy="3454523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800"/>
            </a:lvl1pPr>
            <a:lvl2pPr>
              <a:lnSpc>
                <a:spcPct val="100000"/>
              </a:lnSpc>
              <a:buClr>
                <a:schemeClr val="accent1"/>
              </a:buClr>
              <a:defRPr sz="1600"/>
            </a:lvl2pPr>
            <a:lvl3pPr>
              <a:lnSpc>
                <a:spcPct val="100000"/>
              </a:lnSpc>
              <a:buClr>
                <a:schemeClr val="accent1"/>
              </a:buClr>
              <a:defRPr sz="1400"/>
            </a:lvl3pPr>
            <a:lvl4pPr>
              <a:lnSpc>
                <a:spcPct val="100000"/>
              </a:lnSpc>
              <a:buClr>
                <a:schemeClr val="accent1"/>
              </a:buClr>
              <a:defRPr sz="1200"/>
            </a:lvl4pPr>
            <a:lvl5pPr>
              <a:lnSpc>
                <a:spcPct val="100000"/>
              </a:lnSpc>
              <a:buClr>
                <a:schemeClr val="accent1"/>
              </a:buClr>
              <a:defRPr sz="12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2C89B828-B338-413C-B008-0A8566F4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xmlns="" id="{6AEAE6ED-58FA-4039-939A-E4032520CB3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>
            <a:noAutofit/>
          </a:bodyPr>
          <a:lstStyle>
            <a:lvl1pPr marL="0" indent="0">
              <a:buNone/>
              <a:defRPr sz="1400" b="1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Your company name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4502AABE-45EB-48A5-AD25-47BD8B79DF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045" y="0"/>
            <a:ext cx="5210175" cy="5961063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8888A4FD-81F4-4588-9E6D-70E57577D8BF}"/>
              </a:ext>
            </a:extLst>
          </p:cNvPr>
          <p:cNvCxnSpPr>
            <a:cxnSpLocks/>
          </p:cNvCxnSpPr>
          <p:nvPr userDrawn="1"/>
        </p:nvCxnSpPr>
        <p:spPr>
          <a:xfrm>
            <a:off x="5679220" y="2286312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4CF1D2ED-7B25-4251-BF07-47FBAA534810}"/>
              </a:ext>
            </a:extLst>
          </p:cNvPr>
          <p:cNvGrpSpPr/>
          <p:nvPr userDrawn="1"/>
        </p:nvGrpSpPr>
        <p:grpSpPr>
          <a:xfrm>
            <a:off x="11079786" y="421045"/>
            <a:ext cx="748798" cy="134113"/>
            <a:chOff x="4827813" y="2534636"/>
            <a:chExt cx="996651" cy="17850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xmlns="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xmlns="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xmlns="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8725921A-0ED5-431E-899C-28A6920B5029}"/>
              </a:ext>
            </a:extLst>
          </p:cNvPr>
          <p:cNvSpPr/>
          <p:nvPr userDrawn="1"/>
        </p:nvSpPr>
        <p:spPr>
          <a:xfrm>
            <a:off x="10039330" y="896815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EE8B169A-8A2F-4425-A9A1-1B828428B434}"/>
              </a:ext>
            </a:extLst>
          </p:cNvPr>
          <p:cNvSpPr/>
          <p:nvPr userDrawn="1"/>
        </p:nvSpPr>
        <p:spPr>
          <a:xfrm>
            <a:off x="9720923" y="672411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43B45974-F6C7-40D3-9399-E05FA19C565E}"/>
              </a:ext>
            </a:extLst>
          </p:cNvPr>
          <p:cNvCxnSpPr>
            <a:cxnSpLocks/>
          </p:cNvCxnSpPr>
          <p:nvPr userDrawn="1"/>
        </p:nvCxnSpPr>
        <p:spPr>
          <a:xfrm>
            <a:off x="7508020" y="2286312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84765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Three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C16441-0F1F-453B-BACF-543CEDE2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1046163"/>
            <a:ext cx="5445369" cy="1114784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EC9302-80D9-4A88-8591-DE2D4BA1F9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416" y="2506662"/>
            <a:ext cx="5445370" cy="3454523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2C89B828-B338-413C-B008-0A8566F4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xmlns="" id="{6AEAE6ED-58FA-4039-939A-E4032520CB3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>
            <a:noAutofit/>
          </a:bodyPr>
          <a:lstStyle>
            <a:lvl1pPr marL="0" indent="0">
              <a:buNone/>
              <a:defRPr sz="14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Your company name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4502AABE-45EB-48A5-AD25-47BD8B79DF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19755" y="1"/>
            <a:ext cx="3430408" cy="4091942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8888A4FD-81F4-4588-9E6D-70E57577D8BF}"/>
              </a:ext>
            </a:extLst>
          </p:cNvPr>
          <p:cNvCxnSpPr>
            <a:cxnSpLocks/>
          </p:cNvCxnSpPr>
          <p:nvPr userDrawn="1"/>
        </p:nvCxnSpPr>
        <p:spPr>
          <a:xfrm>
            <a:off x="-24055" y="2286312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4CF1D2ED-7B25-4251-BF07-47FBAA534810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xmlns="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xmlns="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xmlns="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8725921A-0ED5-431E-899C-28A6920B5029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EE8B169A-8A2F-4425-A9A1-1B828428B434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43B45974-F6C7-40D3-9399-E05FA19C565E}"/>
              </a:ext>
            </a:extLst>
          </p:cNvPr>
          <p:cNvCxnSpPr>
            <a:cxnSpLocks/>
          </p:cNvCxnSpPr>
          <p:nvPr userDrawn="1"/>
        </p:nvCxnSpPr>
        <p:spPr>
          <a:xfrm>
            <a:off x="1804745" y="2286312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xmlns="" id="{63A2A33D-4D91-454D-A35B-6DA97069EC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42186" y="555157"/>
            <a:ext cx="2649814" cy="429819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xmlns="" id="{7EC67FB7-777C-473E-95B8-585AA8E6640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919754" y="4289110"/>
            <a:ext cx="3430407" cy="1672075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0589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794663"/>
            <a:ext cx="10515600" cy="823232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IN" sz="3600" b="1" cap="all" baseline="0"/>
            </a:lvl1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E8BFC94-FFEC-4290-AC27-760323F21BA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839691"/>
            <a:ext cx="10515600" cy="1305379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800" b="0" cap="none" baseline="0" dirty="0" smtClean="0"/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4139FA-A83B-432B-9C7C-26634F46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A7389277-B3D3-4AEE-8BE0-0559A73969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13018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D93E40EC-FFAE-4BC0-932E-60CC9A1785C0}"/>
              </a:ext>
            </a:extLst>
          </p:cNvPr>
          <p:cNvCxnSpPr>
            <a:cxnSpLocks/>
          </p:cNvCxnSpPr>
          <p:nvPr userDrawn="1"/>
        </p:nvCxnSpPr>
        <p:spPr>
          <a:xfrm>
            <a:off x="5351690" y="3748188"/>
            <a:ext cx="1488621" cy="0"/>
          </a:xfrm>
          <a:prstGeom prst="line">
            <a:avLst/>
          </a:prstGeom>
          <a:ln w="139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xmlns="" id="{B34A1799-63F2-4B23-A188-7BAB23FB821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>
            <a:noAutofit/>
          </a:bodyPr>
          <a:lstStyle>
            <a:lvl1pPr marL="0" indent="0">
              <a:buNone/>
              <a:defRPr sz="1400" b="1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Your company name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65844635-8274-49B1-BBEC-354A0872E526}"/>
              </a:ext>
            </a:extLst>
          </p:cNvPr>
          <p:cNvGrpSpPr/>
          <p:nvPr userDrawn="1"/>
        </p:nvGrpSpPr>
        <p:grpSpPr>
          <a:xfrm>
            <a:off x="5721601" y="4594679"/>
            <a:ext cx="748798" cy="134113"/>
            <a:chOff x="4827813" y="2534636"/>
            <a:chExt cx="996651" cy="178504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9754643C-5B30-4FC2-BFAC-4FD007AC9EC7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23FDDB55-6BA5-4489-9E37-4A76254A5CD7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DA023CF8-2471-40A5-B2EF-E9BF4DF2C0E1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xmlns="" id="{F9B0428F-5D1A-4CD3-BDA2-9CA7F5141455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27806385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2237E7-A574-47D2-9624-D12F475605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416" y="246186"/>
            <a:ext cx="3206261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Title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12D9B6D-CE43-4FB1-87C0-D3565E73024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80986" y="2426274"/>
            <a:ext cx="3008434" cy="601087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49D73CD-EB11-4ED6-80CF-B68320D57E9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80986" y="3097702"/>
            <a:ext cx="3008434" cy="3091961"/>
          </a:xfrm>
        </p:spPr>
        <p:txBody>
          <a:bodyPr lIns="0" tIns="0" rIns="0" bIns="0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xmlns="" id="{57889B18-CC7E-47A7-B83B-45D7871D298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>
            <a:noAutofit/>
          </a:bodyPr>
          <a:lstStyle>
            <a:lvl1pPr marL="0" indent="0">
              <a:buNone/>
              <a:defRPr sz="1400" b="1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Your company name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A6A27954-3A0E-430B-AD48-05A3F3278D70}"/>
              </a:ext>
            </a:extLst>
          </p:cNvPr>
          <p:cNvGrpSpPr/>
          <p:nvPr userDrawn="1"/>
        </p:nvGrpSpPr>
        <p:grpSpPr>
          <a:xfrm>
            <a:off x="-24056" y="1452564"/>
            <a:ext cx="3385227" cy="134113"/>
            <a:chOff x="-24055" y="1452565"/>
            <a:chExt cx="2374534" cy="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D9C089FD-3BC7-434F-810A-04F78AFC84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4055" y="1452565"/>
              <a:ext cx="1717831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EF7AC837-D78F-424C-9FDC-C3A445A5E0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04745" y="1452565"/>
              <a:ext cx="545734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3639489" y="421045"/>
            <a:ext cx="0" cy="5768619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A09F60F9-61AE-4464-B369-1CF86DB708D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870582" y="2426274"/>
            <a:ext cx="3008434" cy="601087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xmlns="" id="{124CEF01-2C7C-4568-8A45-5F5A058ECFC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870582" y="3097702"/>
            <a:ext cx="3008434" cy="3091961"/>
          </a:xfrm>
        </p:spPr>
        <p:txBody>
          <a:bodyPr lIns="0" tIns="0" rIns="0" bIns="0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xmlns="" id="{BAF86618-E012-4E70-91E3-A72E71C63E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80986" y="1676296"/>
            <a:ext cx="587932" cy="58793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Icon Here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xmlns="" id="{4FF378B9-734E-4C43-836C-CB80566DDB1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68008" y="1676296"/>
            <a:ext cx="587932" cy="58793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Icon Here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3F366940-FB5E-4B76-8829-80C14F137B3A}"/>
              </a:ext>
            </a:extLst>
          </p:cNvPr>
          <p:cNvSpPr/>
          <p:nvPr userDrawn="1"/>
        </p:nvSpPr>
        <p:spPr>
          <a:xfrm>
            <a:off x="10251393" y="555158"/>
            <a:ext cx="3298372" cy="3298372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75486FFB-46EF-4E74-BFFF-7ED054DB0D9C}"/>
              </a:ext>
            </a:extLst>
          </p:cNvPr>
          <p:cNvSpPr/>
          <p:nvPr userDrawn="1"/>
        </p:nvSpPr>
        <p:spPr>
          <a:xfrm>
            <a:off x="9932986" y="330754"/>
            <a:ext cx="1268186" cy="1268186"/>
          </a:xfrm>
          <a:prstGeom prst="ellipse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76F2CCF2-293A-49CA-B2A9-134BB5DEF98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080985" y="480157"/>
            <a:ext cx="6944563" cy="823912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6D35CCD2-B73F-944C-B572-7FBFC7DE22E4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xmlns="" id="{9D8F78D8-558F-3540-A5F4-B1AD8942B341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xmlns="" id="{3F8F621A-F298-2B48-B7E0-8D9BEE8AA763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xmlns="" id="{C17A3A3B-82AE-0A46-AE32-9B111F975BDB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xmlns="" id="{DF206CE3-6B94-C340-8BA3-A2A4E407E499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21905163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Vertical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A7389277-B3D3-4AEE-8BE0-0559A73969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16488" y="0"/>
            <a:ext cx="6875511" cy="6858000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536DA47-61AF-4CF1-8DF3-3721934D13E3}"/>
              </a:ext>
            </a:extLst>
          </p:cNvPr>
          <p:cNvSpPr/>
          <p:nvPr userDrawn="1"/>
        </p:nvSpPr>
        <p:spPr>
          <a:xfrm>
            <a:off x="0" y="0"/>
            <a:ext cx="5316488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56FD760-FBDC-4410-A039-469F7931D3A3}"/>
              </a:ext>
            </a:extLst>
          </p:cNvPr>
          <p:cNvSpPr/>
          <p:nvPr userDrawn="1"/>
        </p:nvSpPr>
        <p:spPr>
          <a:xfrm>
            <a:off x="831850" y="1723292"/>
            <a:ext cx="5307246" cy="3745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651" y="1087907"/>
            <a:ext cx="4468698" cy="1444275"/>
          </a:xfrm>
        </p:spPr>
        <p:txBody>
          <a:bodyPr vert="horz" lIns="91440" tIns="792000" rIns="91440" bIns="45720" rtlCol="0" anchor="t">
            <a:noAutofit/>
          </a:bodyPr>
          <a:lstStyle>
            <a:lvl1pPr algn="l">
              <a:defRPr lang="en-IN" sz="3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E8BFC94-FFEC-4290-AC27-760323F21BA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8711" y="2552611"/>
            <a:ext cx="4097778" cy="1992819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800" b="0" cap="none" baseline="0" dirty="0" smtClean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4139FA-A83B-432B-9C7C-26634F46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D93E40EC-FFAE-4BC0-932E-60CC9A1785C0}"/>
              </a:ext>
            </a:extLst>
          </p:cNvPr>
          <p:cNvCxnSpPr>
            <a:cxnSpLocks/>
          </p:cNvCxnSpPr>
          <p:nvPr userDrawn="1"/>
        </p:nvCxnSpPr>
        <p:spPr>
          <a:xfrm>
            <a:off x="454991" y="1620451"/>
            <a:ext cx="1488621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xmlns="" id="{B34A1799-63F2-4B23-A188-7BAB23FB821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>
            <a:noAutofit/>
          </a:bodyPr>
          <a:lstStyle>
            <a:lvl1pPr marL="0" indent="0">
              <a:buNone/>
              <a:defRPr sz="1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Your company name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C5F2EA84-5150-479B-86D5-F4BAE1263488}"/>
              </a:ext>
            </a:extLst>
          </p:cNvPr>
          <p:cNvGrpSpPr/>
          <p:nvPr userDrawn="1"/>
        </p:nvGrpSpPr>
        <p:grpSpPr>
          <a:xfrm flipH="1">
            <a:off x="1130928" y="4803540"/>
            <a:ext cx="3616779" cy="3522776"/>
            <a:chOff x="2555621" y="3917613"/>
            <a:chExt cx="3616779" cy="352277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xmlns="" id="{C0699C4B-8D8E-47E2-A0C5-D71C25ABAC72}"/>
                </a:ext>
              </a:extLst>
            </p:cNvPr>
            <p:cNvSpPr/>
            <p:nvPr userDrawn="1"/>
          </p:nvSpPr>
          <p:spPr>
            <a:xfrm>
              <a:off x="2874028" y="4142017"/>
              <a:ext cx="3298372" cy="3298372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xmlns="" id="{2F607AB9-31A7-4B79-9AFE-0DFDB792E20C}"/>
                </a:ext>
              </a:extLst>
            </p:cNvPr>
            <p:cNvSpPr/>
            <p:nvPr userDrawn="1"/>
          </p:nvSpPr>
          <p:spPr>
            <a:xfrm>
              <a:off x="2555621" y="3917613"/>
              <a:ext cx="1268186" cy="1268186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94174930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3CABAC-B403-4354-A27F-4C38B08C1D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2885" y="2704121"/>
            <a:ext cx="6556248" cy="750278"/>
          </a:xfrm>
        </p:spPr>
        <p:txBody>
          <a:bodyPr/>
          <a:lstStyle>
            <a:lvl1pPr>
              <a:defRPr lang="en-US" sz="4800" b="1" kern="1200" cap="all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DE5D2F-535D-4D7C-9BE1-84BFEC7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93407-1483-4B80-86DE-DAE1D4D89093}" type="datetimeFigureOut">
              <a:rPr lang="en-US" noProof="0" smtClean="0"/>
              <a:t>2/22/2021</a:t>
            </a:fld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64363625-95D4-4DF0-A1AA-D060728EC426}"/>
              </a:ext>
            </a:extLst>
          </p:cNvPr>
          <p:cNvCxnSpPr>
            <a:cxnSpLocks/>
          </p:cNvCxnSpPr>
          <p:nvPr userDrawn="1"/>
        </p:nvCxnSpPr>
        <p:spPr>
          <a:xfrm>
            <a:off x="4827813" y="3760408"/>
            <a:ext cx="148862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F0C7F772-E2DA-4B13-AC2E-28A0EE6D8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424363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47953C80-71A5-4AA2-AEAD-21948D1AA6DC}"/>
              </a:ext>
            </a:extLst>
          </p:cNvPr>
          <p:cNvSpPr/>
          <p:nvPr userDrawn="1"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9C4582D1-F710-4E2F-9868-CB89116D5932}"/>
              </a:ext>
            </a:extLst>
          </p:cNvPr>
          <p:cNvSpPr/>
          <p:nvPr userDrawn="1"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3" name="Graphic 22" descr="Envelope">
            <a:extLst>
              <a:ext uri="{FF2B5EF4-FFF2-40B4-BE49-F238E27FC236}">
                <a16:creationId xmlns:a16="http://schemas.microsoft.com/office/drawing/2014/main" xmlns="" id="{3C32C7E5-809C-4E12-8962-1B868951E6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834803" y="4029040"/>
            <a:ext cx="469232" cy="469232"/>
          </a:xfrm>
          <a:prstGeom prst="rect">
            <a:avLst/>
          </a:prstGeom>
        </p:spPr>
      </p:pic>
      <p:sp>
        <p:nvSpPr>
          <p:cNvPr id="34" name="Subtitle 2">
            <a:extLst>
              <a:ext uri="{FF2B5EF4-FFF2-40B4-BE49-F238E27FC236}">
                <a16:creationId xmlns:a16="http://schemas.microsoft.com/office/drawing/2014/main" xmlns="" id="{31AD270F-1692-4526-B979-6B5945A20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6809" y="4126311"/>
            <a:ext cx="3640478" cy="433938"/>
          </a:xfrm>
        </p:spPr>
        <p:txBody>
          <a:bodyPr>
            <a:normAutofit/>
          </a:bodyPr>
          <a:lstStyle>
            <a:lvl1pPr marL="0" indent="0" algn="l">
              <a:buNone/>
              <a:defRPr sz="1800" b="0" cap="none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xmlns="" id="{382940E6-7963-411F-B35A-57121171A98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408614" y="4836222"/>
            <a:ext cx="3638674" cy="4539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b="0" cap="none" baseline="0" dirty="0" smtClean="0"/>
            </a:lvl1pPr>
            <a:lvl2pPr>
              <a:defRPr lang="en-US" sz="2000" dirty="0" smtClean="0"/>
            </a:lvl2pPr>
            <a:lvl3pPr>
              <a:defRPr lang="en-US" sz="1800" dirty="0" smtClean="0"/>
            </a:lvl3pPr>
            <a:lvl4pPr>
              <a:defRPr lang="en-US" sz="1600" dirty="0" smtClean="0"/>
            </a:lvl4pPr>
            <a:lvl5pPr>
              <a:defRPr lang="en-IN" sz="1600" dirty="0"/>
            </a:lvl5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1F8FC2D7-B114-3444-8684-995FC4D6D459}"/>
              </a:ext>
            </a:extLst>
          </p:cNvPr>
          <p:cNvGrpSpPr/>
          <p:nvPr userDrawn="1"/>
        </p:nvGrpSpPr>
        <p:grpSpPr>
          <a:xfrm>
            <a:off x="4793474" y="2475187"/>
            <a:ext cx="748798" cy="134113"/>
            <a:chOff x="4827813" y="2534636"/>
            <a:chExt cx="996651" cy="17850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CEE45073-ED8E-0544-85FA-9AF5A478417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xmlns="" id="{B8BAF06E-A8A8-484C-8F6C-E42EDC46BBCB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xmlns="" id="{586EB62D-13C7-6E43-9D98-B706D2B9ADDF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xmlns="" id="{35CF3453-ED5A-024D-8815-C08EFA13D1A6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pic>
        <p:nvPicPr>
          <p:cNvPr id="3" name="Graphic 2" descr="Link">
            <a:extLst>
              <a:ext uri="{FF2B5EF4-FFF2-40B4-BE49-F238E27FC236}">
                <a16:creationId xmlns:a16="http://schemas.microsoft.com/office/drawing/2014/main" xmlns="" id="{16E3F5A0-978F-8D46-BBFB-19A7F7883D9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787152" y="4809677"/>
            <a:ext cx="542081" cy="54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35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8582E5-8FA2-4056-805F-EF36F70668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6300" y="2726872"/>
            <a:ext cx="7233557" cy="832077"/>
          </a:xfrm>
        </p:spPr>
        <p:txBody>
          <a:bodyPr anchor="b">
            <a:normAutofit/>
          </a:bodyPr>
          <a:lstStyle>
            <a:lvl1pPr algn="l"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C085D6F-874B-44F8-B241-51EF13CA9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6300" y="3569380"/>
            <a:ext cx="7233557" cy="365125"/>
          </a:xfrm>
        </p:spPr>
        <p:txBody>
          <a:bodyPr lIns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DE5D2F-535D-4D7C-9BE1-84BFEC7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93407-1483-4B80-86DE-DAE1D4D89093}" type="datetimeFigureOut">
              <a:rPr lang="en-US" noProof="0" smtClean="0"/>
              <a:t>2/22/2021</a:t>
            </a:fld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64363625-95D4-4DF0-A1AA-D060728EC426}"/>
              </a:ext>
            </a:extLst>
          </p:cNvPr>
          <p:cNvCxnSpPr>
            <a:cxnSpLocks/>
          </p:cNvCxnSpPr>
          <p:nvPr userDrawn="1"/>
        </p:nvCxnSpPr>
        <p:spPr>
          <a:xfrm>
            <a:off x="4827813" y="4082142"/>
            <a:ext cx="148862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ECBCF8A4-C2B4-4945-8D79-C9D46B7FBECB}"/>
              </a:ext>
            </a:extLst>
          </p:cNvPr>
          <p:cNvGrpSpPr/>
          <p:nvPr userDrawn="1"/>
        </p:nvGrpSpPr>
        <p:grpSpPr>
          <a:xfrm>
            <a:off x="4793474" y="2475187"/>
            <a:ext cx="748798" cy="134113"/>
            <a:chOff x="4827813" y="2534636"/>
            <a:chExt cx="996651" cy="178504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xmlns="" id="{479C2256-8A0F-4625-86F0-FB439F3EAD4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xmlns="" id="{253CF488-6D31-4B63-A3C6-C4D838C23FCE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xmlns="" id="{E32985B6-7260-445A-A580-6993E0DEBFD9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xmlns="" id="{3BC682E1-4E5D-4006-81EA-550DD98166E4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47953C80-71A5-4AA2-AEAD-21948D1AA6DC}"/>
              </a:ext>
            </a:extLst>
          </p:cNvPr>
          <p:cNvSpPr/>
          <p:nvPr userDrawn="1"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9C4582D1-F710-4E2F-9868-CB89116D5932}"/>
              </a:ext>
            </a:extLst>
          </p:cNvPr>
          <p:cNvSpPr/>
          <p:nvPr userDrawn="1"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25F8A1A8-E078-4836-ABD1-CD4E75BBF58F}"/>
              </a:ext>
            </a:extLst>
          </p:cNvPr>
          <p:cNvSpPr/>
          <p:nvPr userDrawn="1"/>
        </p:nvSpPr>
        <p:spPr>
          <a:xfrm>
            <a:off x="0" y="0"/>
            <a:ext cx="4424363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177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2C89B828-B338-413C-B008-0A8566F4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8888A4FD-81F4-4588-9E6D-70E57577D8BF}"/>
              </a:ext>
            </a:extLst>
          </p:cNvPr>
          <p:cNvCxnSpPr>
            <a:cxnSpLocks/>
          </p:cNvCxnSpPr>
          <p:nvPr userDrawn="1"/>
        </p:nvCxnSpPr>
        <p:spPr>
          <a:xfrm>
            <a:off x="5679220" y="2286312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4CF1D2ED-7B25-4251-BF07-47FBAA534810}"/>
              </a:ext>
            </a:extLst>
          </p:cNvPr>
          <p:cNvGrpSpPr/>
          <p:nvPr userDrawn="1"/>
        </p:nvGrpSpPr>
        <p:grpSpPr>
          <a:xfrm>
            <a:off x="11079786" y="421045"/>
            <a:ext cx="748798" cy="134113"/>
            <a:chOff x="4827813" y="2534636"/>
            <a:chExt cx="996651" cy="17850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xmlns="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xmlns="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xmlns="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8725921A-0ED5-431E-899C-28A6920B5029}"/>
              </a:ext>
            </a:extLst>
          </p:cNvPr>
          <p:cNvSpPr/>
          <p:nvPr userDrawn="1"/>
        </p:nvSpPr>
        <p:spPr>
          <a:xfrm>
            <a:off x="10039330" y="896815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EE8B169A-8A2F-4425-A9A1-1B828428B434}"/>
              </a:ext>
            </a:extLst>
          </p:cNvPr>
          <p:cNvSpPr/>
          <p:nvPr userDrawn="1"/>
        </p:nvSpPr>
        <p:spPr>
          <a:xfrm>
            <a:off x="9720923" y="672411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43B45974-F6C7-40D3-9399-E05FA19C565E}"/>
              </a:ext>
            </a:extLst>
          </p:cNvPr>
          <p:cNvCxnSpPr>
            <a:cxnSpLocks/>
          </p:cNvCxnSpPr>
          <p:nvPr userDrawn="1"/>
        </p:nvCxnSpPr>
        <p:spPr>
          <a:xfrm>
            <a:off x="7508020" y="2286312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9A55704E-D515-4774-90C6-5F887DDAE55E}"/>
              </a:ext>
            </a:extLst>
          </p:cNvPr>
          <p:cNvSpPr/>
          <p:nvPr userDrawn="1"/>
        </p:nvSpPr>
        <p:spPr>
          <a:xfrm>
            <a:off x="469044" y="1"/>
            <a:ext cx="5210176" cy="596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84878778-0299-471F-A4C9-D0C1E82ED8D2}"/>
              </a:ext>
            </a:extLst>
          </p:cNvPr>
          <p:cNvCxnSpPr>
            <a:cxnSpLocks/>
          </p:cNvCxnSpPr>
          <p:nvPr userDrawn="1"/>
        </p:nvCxnSpPr>
        <p:spPr>
          <a:xfrm>
            <a:off x="1001746" y="1290512"/>
            <a:ext cx="1488621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E39D1C78-6110-4052-8455-7E7893F7F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466" y="1276857"/>
            <a:ext cx="4097778" cy="1255325"/>
          </a:xfrm>
        </p:spPr>
        <p:txBody>
          <a:bodyPr/>
          <a:lstStyle>
            <a:lvl1pPr>
              <a:defRPr lang="en-US" sz="3600" b="1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E3405997-7AE2-4C6E-8A7D-735F58A49D1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5467" y="2620651"/>
            <a:ext cx="4097778" cy="1933681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b="0" cap="none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  <a:buNone/>
            </a:pPr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153372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xmlns="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xmlns="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xmlns="" id="{BE814D66-F00F-0D44-AD03-889FEE787EB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416" y="1825625"/>
            <a:ext cx="11465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FF9B990C-5D9C-4A90-AC73-5889BC9F75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44C85E5F-5B5E-48CC-8469-0263621D91FF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7EE4E300-6C8E-4262-BE1D-587C7B70E7ED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2897028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2237E7-A574-47D2-9624-D12F4756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246186"/>
            <a:ext cx="11465168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xmlns="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xmlns="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xmlns="" id="{6E22FA8C-3243-4716-A6BD-F37D6058FB4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47381" y="1825625"/>
            <a:ext cx="5481203" cy="435133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xmlns="" id="{8ABE3FD8-339C-4F75-876F-8347ADE67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63416" y="1825625"/>
            <a:ext cx="5481203" cy="435133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E72FB389-5EA4-4084-B7A2-A4D0A43561F6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F7783FE1-0115-4345-89B2-C073569FB8EE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366146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2237E7-A574-47D2-9624-D12F4756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246186"/>
            <a:ext cx="11465168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xmlns="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xmlns="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7" name="Text Placeholder 4">
            <a:extLst>
              <a:ext uri="{FF2B5EF4-FFF2-40B4-BE49-F238E27FC236}">
                <a16:creationId xmlns:a16="http://schemas.microsoft.com/office/drawing/2014/main" xmlns="" id="{9F73353B-C50B-4A8A-87CF-657C1EB8940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47380" y="1681163"/>
            <a:ext cx="548120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xmlns="" id="{5EFF7F5E-3221-4390-9B17-D1944365BF12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47379" y="2586215"/>
            <a:ext cx="5481203" cy="360344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9506B516-77C1-431B-A8A5-68FA5D4B6D7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3416" y="1681163"/>
            <a:ext cx="54812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xmlns="" id="{860F1452-CAB9-4154-ADCC-9245E71D0D2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3416" y="2586215"/>
            <a:ext cx="5481202" cy="360344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xmlns="" id="{12892DF4-5A8A-4E92-A425-210ABE570F58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xmlns="" id="{99AE2680-A46C-4B06-9ED9-53E617C1F174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5527855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794663"/>
            <a:ext cx="10515600" cy="823232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IN" sz="3600" b="1" cap="all" baseline="0"/>
            </a:lvl1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4139FA-A83B-432B-9C7C-26634F46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D93E40EC-FFAE-4BC0-932E-60CC9A1785C0}"/>
              </a:ext>
            </a:extLst>
          </p:cNvPr>
          <p:cNvCxnSpPr>
            <a:cxnSpLocks/>
          </p:cNvCxnSpPr>
          <p:nvPr userDrawn="1"/>
        </p:nvCxnSpPr>
        <p:spPr>
          <a:xfrm>
            <a:off x="5351690" y="3748188"/>
            <a:ext cx="1488621" cy="0"/>
          </a:xfrm>
          <a:prstGeom prst="line">
            <a:avLst/>
          </a:prstGeom>
          <a:ln w="139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65844635-8274-49B1-BBEC-354A0872E526}"/>
              </a:ext>
            </a:extLst>
          </p:cNvPr>
          <p:cNvGrpSpPr/>
          <p:nvPr userDrawn="1"/>
        </p:nvGrpSpPr>
        <p:grpSpPr>
          <a:xfrm>
            <a:off x="5721601" y="4594679"/>
            <a:ext cx="748798" cy="134113"/>
            <a:chOff x="4827813" y="2534636"/>
            <a:chExt cx="996651" cy="178504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9754643C-5B30-4FC2-BFAC-4FD007AC9EC7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23FDDB55-6BA5-4489-9E37-4A76254A5CD7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DA023CF8-2471-40A5-B2EF-E9BF4DF2C0E1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xmlns="" id="{F9B0428F-5D1A-4CD3-BDA2-9CA7F5141455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3" name="Text Placeholder 3">
            <a:extLst>
              <a:ext uri="{FF2B5EF4-FFF2-40B4-BE49-F238E27FC236}">
                <a16:creationId xmlns:a16="http://schemas.microsoft.com/office/drawing/2014/main" xmlns="" id="{86E0573A-023B-4D1C-8224-56A5D0DDF37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4839679"/>
            <a:ext cx="10507662" cy="1305379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b="0" cap="none" baseline="0"/>
            </a:lvl1pPr>
          </a:lstStyle>
          <a:p>
            <a:pPr marL="228600" lvl="0" indent="-228600" algn="ctr">
              <a:lnSpc>
                <a:spcPct val="100000"/>
              </a:lnSpc>
            </a:pPr>
            <a:r>
              <a:rPr lang="en-US" noProof="0"/>
              <a:t>Edit Master text styles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xmlns="" id="{12087456-C0E8-4AA6-81E8-996CEC037E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3713017"/>
          </a:xfr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000" dirty="0"/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119214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2237E7-A574-47D2-9624-D12F475605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416" y="246186"/>
            <a:ext cx="3206261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Title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A6A27954-3A0E-430B-AD48-05A3F3278D70}"/>
              </a:ext>
            </a:extLst>
          </p:cNvPr>
          <p:cNvGrpSpPr/>
          <p:nvPr userDrawn="1"/>
        </p:nvGrpSpPr>
        <p:grpSpPr>
          <a:xfrm>
            <a:off x="-24056" y="1452564"/>
            <a:ext cx="3385227" cy="134113"/>
            <a:chOff x="-24055" y="1452565"/>
            <a:chExt cx="2374534" cy="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D9C089FD-3BC7-434F-810A-04F78AFC84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4055" y="1452565"/>
              <a:ext cx="1717831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EF7AC837-D78F-424C-9FDC-C3A445A5E0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04745" y="1452565"/>
              <a:ext cx="545734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3F366940-FB5E-4B76-8829-80C14F137B3A}"/>
              </a:ext>
            </a:extLst>
          </p:cNvPr>
          <p:cNvSpPr/>
          <p:nvPr userDrawn="1"/>
        </p:nvSpPr>
        <p:spPr>
          <a:xfrm>
            <a:off x="10251393" y="555158"/>
            <a:ext cx="3298372" cy="3298372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75486FFB-46EF-4E74-BFFF-7ED054DB0D9C}"/>
              </a:ext>
            </a:extLst>
          </p:cNvPr>
          <p:cNvSpPr/>
          <p:nvPr userDrawn="1"/>
        </p:nvSpPr>
        <p:spPr>
          <a:xfrm>
            <a:off x="9932986" y="330754"/>
            <a:ext cx="1268186" cy="1268186"/>
          </a:xfrm>
          <a:prstGeom prst="ellipse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6D35CCD2-B73F-944C-B572-7FBFC7DE22E4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xmlns="" id="{9D8F78D8-558F-3540-A5F4-B1AD8942B341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xmlns="" id="{3F8F621A-F298-2B48-B7E0-8D9BEE8AA763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xmlns="" id="{C17A3A3B-82AE-0A46-AE32-9B111F975BDB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xmlns="" id="{DF206CE3-6B94-C340-8BA3-A2A4E407E499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Text Placeholder 3">
            <a:extLst>
              <a:ext uri="{FF2B5EF4-FFF2-40B4-BE49-F238E27FC236}">
                <a16:creationId xmlns:a16="http://schemas.microsoft.com/office/drawing/2014/main" xmlns="" id="{1B247C0B-04BA-4D5C-A41D-AEA60217241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3416" y="2057400"/>
            <a:ext cx="320626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xmlns="" id="{194C619D-34F6-4A29-857A-D7600721872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88084" y="246187"/>
            <a:ext cx="7467304" cy="561486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517590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2237E7-A574-47D2-9624-D12F4756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246186"/>
            <a:ext cx="11465168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xmlns="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xmlns="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82D9D565-739D-4898-97BD-79EB8C7F91EC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620FADA3-E777-489C-976D-0B0C4FD31310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651473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8DCE8039-0D05-4A75-878A-907B8D44B9E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xmlns="" id="{C1402252-45E8-45B3-BA5E-DFA33A45474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xmlns="" id="{1300C883-1ACE-4AF3-9875-792A769588D5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xmlns="" id="{E75483D7-E612-43D2-9B0E-C69356C160DA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xmlns="" id="{F279C5F2-4C7F-4470-A44F-E8AD69AC9FA0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87506116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40D79E1-5F46-41CA-85E7-44C2A6C62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365125"/>
            <a:ext cx="11465168" cy="918553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7B0B511-05FD-459E-AC79-A87540961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416" y="1825625"/>
            <a:ext cx="11465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B98321-594C-4030-A2B0-3492F77EE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5384" y="6463207"/>
            <a:ext cx="2743200" cy="258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365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62" r:id="rId5"/>
    <p:sldLayoutId id="2147483660" r:id="rId6"/>
    <p:sldLayoutId id="2147483663" r:id="rId7"/>
    <p:sldLayoutId id="2147483667" r:id="rId8"/>
    <p:sldLayoutId id="2147483668" r:id="rId9"/>
    <p:sldLayoutId id="2147483666" r:id="rId10"/>
    <p:sldLayoutId id="2147483669" r:id="rId11"/>
    <p:sldLayoutId id="2147483670" r:id="rId12"/>
    <p:sldLayoutId id="2147483671" r:id="rId13"/>
    <p:sldLayoutId id="2147483672" r:id="rId14"/>
    <p:sldLayoutId id="2147483664" r:id="rId15"/>
    <p:sldLayoutId id="214748366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0359CD-8DFF-4AF2-B957-630ED2A60E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6298" y="3038720"/>
            <a:ext cx="7233557" cy="927973"/>
          </a:xfrm>
        </p:spPr>
        <p:txBody>
          <a:bodyPr>
            <a:noAutofit/>
          </a:bodyPr>
          <a:lstStyle/>
          <a:p>
            <a:r>
              <a:rPr lang="en-US" sz="1600" dirty="0" smtClean="0">
                <a:solidFill>
                  <a:srgbClr val="7030A0"/>
                </a:solidFill>
              </a:rPr>
              <a:t>LECTURE EIGHT: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SATELLITE COMMUNICATION FOR TELEVISION</a:t>
            </a:r>
            <a:endParaRPr lang="en-IN" sz="3600" dirty="0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69" r="12469"/>
          <a:stretch>
            <a:fillRect/>
          </a:stretch>
        </p:blipFill>
        <p:spPr/>
      </p:pic>
      <p:sp>
        <p:nvSpPr>
          <p:cNvPr id="8" name="Rectangle 7"/>
          <p:cNvSpPr/>
          <p:nvPr/>
        </p:nvSpPr>
        <p:spPr>
          <a:xfrm>
            <a:off x="4864989" y="211257"/>
            <a:ext cx="6876177" cy="76944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ET 8105 – Television Systems</a:t>
            </a:r>
            <a:endParaRPr lang="en-US" sz="4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chemeClr val="accent5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4406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TV broadcast requires transmitting antennas at the transmitter and receiving antennas at the receiver.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In TV broadcast, the receiving antenna is different from the transmitting antenna because of the different requirements in respect to power handling and directivity.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A TV transmitter uses a turnstile antenna, consisting of two half-wave dipoles at right angles to each other.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It gives a nearly circular pattern in the horizontal plane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Another type of antenna which is also used at the transmitter, consists of four panels of dipole arrays. The panels are mounted on the four sides.</a:t>
            </a:r>
            <a:endParaRPr lang="en-US" sz="2600" dirty="0">
              <a:latin typeface="Palatino Linotype" panose="0204050205050503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Introduction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987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4" name="Rectangle 3"/>
          <p:cNvSpPr/>
          <p:nvPr/>
        </p:nvSpPr>
        <p:spPr>
          <a:xfrm>
            <a:off x="1905971" y="5361770"/>
            <a:ext cx="25861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3E3E3E"/>
                </a:solidFill>
                <a:latin typeface="Palatino Linotype" panose="02040502050505030304" pitchFamily="18" charset="0"/>
              </a:rPr>
              <a:t>A Turnstile Antenna</a:t>
            </a:r>
            <a:endParaRPr lang="en-US" sz="2000" b="1" dirty="0">
              <a:latin typeface="Palatino Linotype" panose="0204050205050503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61" y="793462"/>
            <a:ext cx="5972378" cy="45266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347" y="337025"/>
            <a:ext cx="4204073" cy="54395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Rectangle 7"/>
          <p:cNvSpPr/>
          <p:nvPr/>
        </p:nvSpPr>
        <p:spPr>
          <a:xfrm>
            <a:off x="6750449" y="5919839"/>
            <a:ext cx="46698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Palatino Linotype" panose="02040502050505030304" pitchFamily="18" charset="0"/>
              </a:rPr>
              <a:t> two-bay axial mode turnstile antenna </a:t>
            </a:r>
          </a:p>
        </p:txBody>
      </p:sp>
    </p:spTree>
    <p:extLst>
      <p:ext uri="{BB962C8B-B14F-4D97-AF65-F5344CB8AC3E}">
        <p14:creationId xmlns:p14="http://schemas.microsoft.com/office/powerpoint/2010/main" val="3289403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810491"/>
            <a:ext cx="11465168" cy="565271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For receiving, the most widely used antenna is Yagi-</a:t>
            </a:r>
            <a:r>
              <a:rPr lang="en-US" sz="2800" dirty="0" err="1" smtClean="0">
                <a:latin typeface="Palatino Linotype" panose="02040502050505030304" pitchFamily="18" charset="0"/>
              </a:rPr>
              <a:t>Uda</a:t>
            </a:r>
            <a:r>
              <a:rPr lang="en-US" sz="2800" dirty="0" smtClean="0">
                <a:latin typeface="Palatino Linotype" panose="02040502050505030304" pitchFamily="18" charset="0"/>
              </a:rPr>
              <a:t> antenna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It consists of one active dipole or  folded dipole, one reflector, about 10% longer than the active element and at least one director bout 10% shorter than the active element.</a:t>
            </a:r>
          </a:p>
          <a:p>
            <a:pPr lvl="1" algn="just"/>
            <a:r>
              <a:rPr lang="en-US" sz="2400" dirty="0" smtClean="0">
                <a:latin typeface="Palatino Linotype" panose="02040502050505030304" pitchFamily="18" charset="0"/>
              </a:rPr>
              <a:t>More directors may be added in fringe areas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A log periodic antenna is used when wide bandwidth is needed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Radio waves from the transmitting antenna use space wave or line of sight propagation because ionosphere is transparent to them and ground attenuates them very fast.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Thus the communication range of TV signals is limited to the radio horizon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This range can be extended by using high towers, or towers mounted on hill tops, or microwave radio relay links, or using satellites.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720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824" y="503525"/>
            <a:ext cx="8054997" cy="51283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ctangle 3"/>
          <p:cNvSpPr/>
          <p:nvPr/>
        </p:nvSpPr>
        <p:spPr>
          <a:xfrm>
            <a:off x="4818442" y="5816707"/>
            <a:ext cx="26817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333333"/>
                </a:solidFill>
                <a:latin typeface="Palatino Linotype" panose="02040502050505030304" pitchFamily="18" charset="0"/>
              </a:rPr>
              <a:t>Yagi-</a:t>
            </a:r>
            <a:r>
              <a:rPr lang="en-US" sz="2400" b="1" dirty="0" err="1">
                <a:solidFill>
                  <a:srgbClr val="333333"/>
                </a:solidFill>
                <a:latin typeface="Palatino Linotype" panose="02040502050505030304" pitchFamily="18" charset="0"/>
              </a:rPr>
              <a:t>Uda</a:t>
            </a:r>
            <a:r>
              <a:rPr lang="en-US" sz="2400" b="1" dirty="0">
                <a:solidFill>
                  <a:srgbClr val="333333"/>
                </a:solidFill>
                <a:latin typeface="Palatino Linotype" panose="02040502050505030304" pitchFamily="18" charset="0"/>
              </a:rPr>
              <a:t> antenna</a:t>
            </a:r>
            <a:endParaRPr lang="en-US" sz="2400" b="1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035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80" y="1662544"/>
            <a:ext cx="11191277" cy="4800663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Terrestrial broadcast of television programmes required VHF and UHF bands.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However</a:t>
            </a:r>
            <a:r>
              <a:rPr lang="en-US" sz="2800" dirty="0">
                <a:latin typeface="Palatino Linotype" panose="02040502050505030304" pitchFamily="18" charset="0"/>
              </a:rPr>
              <a:t>, these bands could not use the ionosphere, and their propagation was based on </a:t>
            </a:r>
            <a:r>
              <a:rPr lang="en-US" sz="2800" dirty="0" smtClean="0">
                <a:latin typeface="Palatino Linotype" panose="02040502050505030304" pitchFamily="18" charset="0"/>
              </a:rPr>
              <a:t>line of </a:t>
            </a:r>
            <a:r>
              <a:rPr lang="en-US" sz="2800" dirty="0">
                <a:latin typeface="Palatino Linotype" panose="02040502050505030304" pitchFamily="18" charset="0"/>
              </a:rPr>
              <a:t>sight, which limited the range to about 100 km with high towers for antennas.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For long </a:t>
            </a:r>
            <a:r>
              <a:rPr lang="en-US" sz="2800" dirty="0">
                <a:latin typeface="Palatino Linotype" panose="02040502050505030304" pitchFamily="18" charset="0"/>
              </a:rPr>
              <a:t>distance communication</a:t>
            </a:r>
            <a:r>
              <a:rPr lang="en-US" sz="2800" dirty="0" smtClean="0">
                <a:latin typeface="Palatino Linotype" panose="02040502050505030304" pitchFamily="18" charset="0"/>
              </a:rPr>
              <a:t>, there </a:t>
            </a:r>
            <a:r>
              <a:rPr lang="en-US" sz="2800" dirty="0">
                <a:latin typeface="Palatino Linotype" panose="02040502050505030304" pitchFamily="18" charset="0"/>
              </a:rPr>
              <a:t>should be a system which could be launched out </a:t>
            </a:r>
            <a:r>
              <a:rPr lang="en-US" sz="2800" dirty="0" smtClean="0">
                <a:latin typeface="Palatino Linotype" panose="02040502050505030304" pitchFamily="18" charset="0"/>
              </a:rPr>
              <a:t>in </a:t>
            </a:r>
            <a:r>
              <a:rPr lang="en-US" sz="2800" dirty="0">
                <a:latin typeface="Palatino Linotype" panose="02040502050505030304" pitchFamily="18" charset="0"/>
              </a:rPr>
              <a:t>space to stay at high altitudes of several thousand </a:t>
            </a:r>
            <a:r>
              <a:rPr lang="en-US" sz="2800" dirty="0" err="1">
                <a:latin typeface="Palatino Linotype" panose="02040502050505030304" pitchFamily="18" charset="0"/>
              </a:rPr>
              <a:t>kilometres</a:t>
            </a:r>
            <a:r>
              <a:rPr lang="en-US" sz="2800" dirty="0" smtClean="0">
                <a:latin typeface="Palatino Linotype" panose="02040502050505030304" pitchFamily="18" charset="0"/>
              </a:rPr>
              <a:t>.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A body cannot remain </a:t>
            </a:r>
            <a:r>
              <a:rPr lang="en-US" sz="2800" dirty="0" smtClean="0">
                <a:latin typeface="Palatino Linotype" panose="02040502050505030304" pitchFamily="18" charset="0"/>
              </a:rPr>
              <a:t>stationary </a:t>
            </a:r>
            <a:r>
              <a:rPr lang="en-US" sz="2800" dirty="0">
                <a:latin typeface="Palatino Linotype" panose="02040502050505030304" pitchFamily="18" charset="0"/>
              </a:rPr>
              <a:t>above the earth as it would fall down due to the gravitational pull. </a:t>
            </a:r>
            <a:endParaRPr lang="en-US" sz="2800" dirty="0" smtClean="0">
              <a:latin typeface="Palatino Linotype" panose="0204050205050503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Need of Satellite for Communication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342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02673" y="914401"/>
            <a:ext cx="10868892" cy="459278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Hence it could only be a revolving body which could balance the gravitational pull (centripetal force) by an equal and opposite centrifugal force.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A </a:t>
            </a:r>
            <a:r>
              <a:rPr lang="en-US" sz="2800" dirty="0">
                <a:latin typeface="Palatino Linotype" panose="02040502050505030304" pitchFamily="18" charset="0"/>
              </a:rPr>
              <a:t>body revolving around the earth is </a:t>
            </a:r>
            <a:r>
              <a:rPr lang="en-US" sz="2800" dirty="0" smtClean="0">
                <a:latin typeface="Palatino Linotype" panose="02040502050505030304" pitchFamily="18" charset="0"/>
              </a:rPr>
              <a:t>called </a:t>
            </a:r>
            <a:r>
              <a:rPr lang="en-US" sz="2800" dirty="0">
                <a:latin typeface="Palatino Linotype" panose="02040502050505030304" pitchFamily="18" charset="0"/>
              </a:rPr>
              <a:t>a satellite and thus arose its need for communication.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For </a:t>
            </a:r>
            <a:r>
              <a:rPr lang="en-US" sz="2800" dirty="0">
                <a:latin typeface="Palatino Linotype" panose="02040502050505030304" pitchFamily="18" charset="0"/>
              </a:rPr>
              <a:t>television, a </a:t>
            </a:r>
            <a:r>
              <a:rPr lang="en-US" sz="2800" dirty="0" smtClean="0">
                <a:latin typeface="Palatino Linotype" panose="02040502050505030304" pitchFamily="18" charset="0"/>
              </a:rPr>
              <a:t>satellite should </a:t>
            </a:r>
            <a:r>
              <a:rPr lang="en-US" sz="2800" dirty="0">
                <a:latin typeface="Palatino Linotype" panose="02040502050505030304" pitchFamily="18" charset="0"/>
              </a:rPr>
              <a:t>be geostationary, which means the satellite should appear stationary from an </a:t>
            </a:r>
            <a:r>
              <a:rPr lang="en-US" sz="2800" dirty="0" smtClean="0">
                <a:latin typeface="Palatino Linotype" panose="02040502050505030304" pitchFamily="18" charset="0"/>
              </a:rPr>
              <a:t>earth </a:t>
            </a:r>
            <a:r>
              <a:rPr lang="en-US" sz="2800" dirty="0">
                <a:latin typeface="Palatino Linotype" panose="02040502050505030304" pitchFamily="18" charset="0"/>
              </a:rPr>
              <a:t>station, so that the antenna of the earth station may not need any steering.</a:t>
            </a:r>
          </a:p>
        </p:txBody>
      </p:sp>
    </p:spTree>
    <p:extLst>
      <p:ext uri="{BB962C8B-B14F-4D97-AF65-F5344CB8AC3E}">
        <p14:creationId xmlns:p14="http://schemas.microsoft.com/office/powerpoint/2010/main" val="3789174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6" y="1825625"/>
            <a:ext cx="11465168" cy="4637582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The orbit in which a satellite appears stationary to an earth station is called </a:t>
            </a:r>
            <a:r>
              <a:rPr lang="en-US" sz="2800" dirty="0" smtClean="0">
                <a:latin typeface="Palatino Linotype" panose="02040502050505030304" pitchFamily="18" charset="0"/>
              </a:rPr>
              <a:t>geostationary orbit</a:t>
            </a:r>
            <a:r>
              <a:rPr lang="en-US" sz="2800" dirty="0">
                <a:latin typeface="Palatino Linotype" panose="02040502050505030304" pitchFamily="18" charset="0"/>
              </a:rPr>
              <a:t>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</a:t>
            </a:r>
            <a:r>
              <a:rPr lang="en-US" sz="2800" dirty="0">
                <a:latin typeface="Palatino Linotype" panose="02040502050505030304" pitchFamily="18" charset="0"/>
              </a:rPr>
              <a:t>essential requirements for an orbit to be geostationary are as mentioned </a:t>
            </a:r>
            <a:r>
              <a:rPr lang="en-US" sz="2800" dirty="0" smtClean="0">
                <a:latin typeface="Palatino Linotype" panose="02040502050505030304" pitchFamily="18" charset="0"/>
              </a:rPr>
              <a:t> below: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600" dirty="0" smtClean="0">
                <a:latin typeface="Palatino Linotype" panose="02040502050505030304" pitchFamily="18" charset="0"/>
              </a:rPr>
              <a:t>Angular velocity equal to that of the earth (i.e. it should be geosynchronous)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600" dirty="0">
                <a:latin typeface="Palatino Linotype" panose="02040502050505030304" pitchFamily="18" charset="0"/>
              </a:rPr>
              <a:t>The orbit should have zero degree inclination with the equatorial plane. Any </a:t>
            </a:r>
            <a:r>
              <a:rPr lang="en-US" sz="2600" dirty="0" smtClean="0">
                <a:latin typeface="Palatino Linotype" panose="02040502050505030304" pitchFamily="18" charset="0"/>
              </a:rPr>
              <a:t>other </a:t>
            </a:r>
            <a:r>
              <a:rPr lang="en-US" sz="2600" dirty="0">
                <a:latin typeface="Palatino Linotype" panose="02040502050505030304" pitchFamily="18" charset="0"/>
              </a:rPr>
              <a:t>inclination will not make the satellite stationary for some latitudes, even </a:t>
            </a:r>
            <a:r>
              <a:rPr lang="en-US" sz="2600" dirty="0" smtClean="0">
                <a:latin typeface="Palatino Linotype" panose="02040502050505030304" pitchFamily="18" charset="0"/>
              </a:rPr>
              <a:t>though </a:t>
            </a:r>
            <a:r>
              <a:rPr lang="en-US" sz="2600" dirty="0">
                <a:latin typeface="Palatino Linotype" panose="02040502050505030304" pitchFamily="18" charset="0"/>
              </a:rPr>
              <a:t>it might be geosynchronous</a:t>
            </a:r>
            <a:r>
              <a:rPr lang="en-US" sz="2600" dirty="0" smtClean="0">
                <a:latin typeface="Palatino Linotype" panose="02040502050505030304" pitchFamily="18" charset="0"/>
              </a:rPr>
              <a:t>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600" dirty="0">
                <a:latin typeface="Palatino Linotype" panose="02040502050505030304" pitchFamily="18" charset="0"/>
              </a:rPr>
              <a:t>For zero degree inclination, the orbit must be in the earth’s equatorial plane.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Geostationary Orbit and Other Orbits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675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955964"/>
            <a:ext cx="11465168" cy="55072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 algn="just">
              <a:buFont typeface="+mj-lt"/>
              <a:buAutoNum type="arabicPeriod" startAt="4"/>
            </a:pPr>
            <a:r>
              <a:rPr lang="en-US" sz="2600" dirty="0">
                <a:latin typeface="Palatino Linotype" panose="02040502050505030304" pitchFamily="18" charset="0"/>
              </a:rPr>
              <a:t>The satellite should travel eastward</a:t>
            </a:r>
            <a:r>
              <a:rPr lang="en-US" sz="2600" dirty="0" smtClean="0">
                <a:latin typeface="Palatino Linotype" panose="02040502050505030304" pitchFamily="18" charset="0"/>
              </a:rPr>
              <a:t>.</a:t>
            </a:r>
          </a:p>
          <a:p>
            <a:pPr marL="971550" lvl="1" indent="-514350" algn="just">
              <a:buFont typeface="+mj-lt"/>
              <a:buAutoNum type="arabicPeriod" startAt="4"/>
            </a:pPr>
            <a:r>
              <a:rPr lang="en-US" sz="2600" dirty="0">
                <a:latin typeface="Palatino Linotype" panose="02040502050505030304" pitchFamily="18" charset="0"/>
              </a:rPr>
              <a:t>As the earth’s angular velocity is constant, the orbit has to be circular</a:t>
            </a:r>
            <a:r>
              <a:rPr lang="en-US" sz="2600" dirty="0" smtClean="0">
                <a:latin typeface="Palatino Linotype" panose="02040502050505030304" pitchFamily="18" charset="0"/>
              </a:rPr>
              <a:t>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above criteria can be fulfilled by one orbit only.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Hence there is only one geostationary orbit, this is occupied by a large number of satellites.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It is the most widely used orbit at present, and is called Clark Orbit.</a:t>
            </a:r>
          </a:p>
        </p:txBody>
      </p:sp>
    </p:spTree>
    <p:extLst>
      <p:ext uri="{BB962C8B-B14F-4D97-AF65-F5344CB8AC3E}">
        <p14:creationId xmlns:p14="http://schemas.microsoft.com/office/powerpoint/2010/main" val="1133855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6" y="1825624"/>
            <a:ext cx="11465168" cy="4886967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Satellite communication has several advantages as compared to </a:t>
            </a:r>
            <a:r>
              <a:rPr lang="en-US" sz="2800" dirty="0" smtClean="0">
                <a:latin typeface="Palatino Linotype" panose="02040502050505030304" pitchFamily="18" charset="0"/>
              </a:rPr>
              <a:t>terrestrial </a:t>
            </a:r>
            <a:r>
              <a:rPr lang="en-US" sz="2800" dirty="0">
                <a:latin typeface="Palatino Linotype" panose="02040502050505030304" pitchFamily="18" charset="0"/>
              </a:rPr>
              <a:t>systems. 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These advantages are listed below</a:t>
            </a:r>
            <a:r>
              <a:rPr lang="en-US" sz="2800" dirty="0" smtClean="0">
                <a:latin typeface="Palatino Linotype" panose="02040502050505030304" pitchFamily="18" charset="0"/>
              </a:rPr>
              <a:t>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600" dirty="0" smtClean="0">
                <a:latin typeface="Palatino Linotype" panose="02040502050505030304" pitchFamily="18" charset="0"/>
              </a:rPr>
              <a:t>No tracking is required, the satellite remains stationary with respect to the earth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600" dirty="0" smtClean="0">
                <a:latin typeface="Palatino Linotype" panose="02040502050505030304" pitchFamily="18" charset="0"/>
              </a:rPr>
              <a:t>No Doppler effect as the relative velocity between the satellite and the earth is zero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600" dirty="0">
                <a:latin typeface="Palatino Linotype" panose="02040502050505030304" pitchFamily="18" charset="0"/>
              </a:rPr>
              <a:t>A satellite located at a high altitude from the earth’s surface (about 36 000 km), </a:t>
            </a:r>
            <a:r>
              <a:rPr lang="en-US" sz="2600" dirty="0" smtClean="0">
                <a:latin typeface="Palatino Linotype" panose="02040502050505030304" pitchFamily="18" charset="0"/>
              </a:rPr>
              <a:t>can </a:t>
            </a:r>
            <a:r>
              <a:rPr lang="en-US" sz="2600" dirty="0">
                <a:latin typeface="Palatino Linotype" panose="02040502050505030304" pitchFamily="18" charset="0"/>
              </a:rPr>
              <a:t>provide wide area coverage on earth</a:t>
            </a:r>
            <a:endParaRPr lang="en-US" sz="2600" dirty="0" smtClean="0">
              <a:latin typeface="Palatino Linotype" panose="02040502050505030304" pitchFamily="18" charset="0"/>
            </a:endParaRPr>
          </a:p>
          <a:p>
            <a:pPr lvl="2" algn="just"/>
            <a:r>
              <a:rPr lang="en-US" sz="2400" dirty="0" smtClean="0">
                <a:latin typeface="Palatino Linotype" panose="02040502050505030304" pitchFamily="18" charset="0"/>
              </a:rPr>
              <a:t>A single satellite can cover the whole of a big country or even a continent.</a:t>
            </a:r>
          </a:p>
          <a:p>
            <a:pPr lvl="2" algn="just"/>
            <a:r>
              <a:rPr lang="en-US" sz="2400" dirty="0" smtClean="0">
                <a:latin typeface="Palatino Linotype" panose="02040502050505030304" pitchFamily="18" charset="0"/>
              </a:rPr>
              <a:t>Three satellites with provision of interconnection can provide global communication</a:t>
            </a:r>
            <a:endParaRPr lang="en-US" sz="2400" dirty="0">
              <a:latin typeface="Palatino Linotype" panose="0204050205050503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Advantages of Geostationary Satellite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471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893618"/>
            <a:ext cx="11465168" cy="581897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 algn="just">
              <a:buFont typeface="+mj-lt"/>
              <a:buAutoNum type="arabicPeriod" startAt="4"/>
            </a:pPr>
            <a:r>
              <a:rPr lang="en-US" sz="2800" dirty="0">
                <a:latin typeface="Palatino Linotype" panose="02040502050505030304" pitchFamily="18" charset="0"/>
              </a:rPr>
              <a:t>The satellite communication is distance insensitive. In land line relay systems, </a:t>
            </a:r>
            <a:r>
              <a:rPr lang="en-US" sz="2800" dirty="0" smtClean="0">
                <a:latin typeface="Palatino Linotype" panose="02040502050505030304" pitchFamily="18" charset="0"/>
              </a:rPr>
              <a:t>cost </a:t>
            </a:r>
            <a:r>
              <a:rPr lang="en-US" sz="2800" dirty="0">
                <a:latin typeface="Palatino Linotype" panose="02040502050505030304" pitchFamily="18" charset="0"/>
              </a:rPr>
              <a:t>increases with distance as microwave towers have to be installed </a:t>
            </a:r>
            <a:r>
              <a:rPr lang="en-US" sz="2800" dirty="0" smtClean="0">
                <a:latin typeface="Palatino Linotype" panose="02040502050505030304" pitchFamily="18" charset="0"/>
              </a:rPr>
              <a:t>every 50 </a:t>
            </a:r>
            <a:r>
              <a:rPr lang="en-US" sz="2800" dirty="0">
                <a:latin typeface="Palatino Linotype" panose="02040502050505030304" pitchFamily="18" charset="0"/>
              </a:rPr>
              <a:t>km or so</a:t>
            </a:r>
            <a:r>
              <a:rPr lang="en-US" sz="2800" dirty="0" smtClean="0">
                <a:latin typeface="Palatino Linotype" panose="02040502050505030304" pitchFamily="18" charset="0"/>
              </a:rPr>
              <a:t>.</a:t>
            </a:r>
          </a:p>
          <a:p>
            <a:pPr marL="971550" lvl="1" indent="-514350" algn="just">
              <a:buFont typeface="+mj-lt"/>
              <a:buAutoNum type="arabicPeriod" startAt="4"/>
            </a:pPr>
            <a:r>
              <a:rPr lang="en-US" sz="2800" dirty="0">
                <a:latin typeface="Palatino Linotype" panose="02040502050505030304" pitchFamily="18" charset="0"/>
              </a:rPr>
              <a:t>Terrestrial relays are not economical when communication is to be provided to </a:t>
            </a:r>
            <a:r>
              <a:rPr lang="en-US" sz="2800" dirty="0" smtClean="0">
                <a:latin typeface="Palatino Linotype" panose="02040502050505030304" pitchFamily="18" charset="0"/>
              </a:rPr>
              <a:t>thinly populated areas and difficult terrain. There is no such problem with the satellite</a:t>
            </a:r>
          </a:p>
          <a:p>
            <a:pPr marL="971550" lvl="1" indent="-514350" algn="just">
              <a:buFont typeface="+mj-lt"/>
              <a:buAutoNum type="arabicPeriod" startAt="4"/>
            </a:pPr>
            <a:r>
              <a:rPr lang="en-US" sz="2800" dirty="0" smtClean="0">
                <a:latin typeface="Palatino Linotype" panose="02040502050505030304" pitchFamily="18" charset="0"/>
              </a:rPr>
              <a:t>In case of natural or man made calamities, communication can be established by installing an earth station at the concerned place.</a:t>
            </a:r>
          </a:p>
          <a:p>
            <a:pPr lvl="2" algn="just"/>
            <a:r>
              <a:rPr lang="en-US" sz="2600" dirty="0">
                <a:latin typeface="Palatino Linotype" panose="02040502050505030304" pitchFamily="18" charset="0"/>
              </a:rPr>
              <a:t>Thus emergency communication </a:t>
            </a:r>
            <a:r>
              <a:rPr lang="en-US" sz="2600" dirty="0" smtClean="0">
                <a:latin typeface="Palatino Linotype" panose="02040502050505030304" pitchFamily="18" charset="0"/>
              </a:rPr>
              <a:t>can </a:t>
            </a:r>
            <a:r>
              <a:rPr lang="en-US" sz="2600" dirty="0">
                <a:latin typeface="Palatino Linotype" panose="02040502050505030304" pitchFamily="18" charset="0"/>
              </a:rPr>
              <a:t>be made available within a few hours or at the most a day or two</a:t>
            </a:r>
            <a:r>
              <a:rPr lang="en-US" sz="2600" dirty="0" smtClean="0">
                <a:latin typeface="Palatino Linotype" panose="02040502050505030304" pitchFamily="18" charset="0"/>
              </a:rPr>
              <a:t>.</a:t>
            </a:r>
          </a:p>
          <a:p>
            <a:pPr marL="971550" lvl="1" indent="-514350" algn="just">
              <a:buFont typeface="+mj-lt"/>
              <a:buAutoNum type="arabicPeriod" startAt="7"/>
            </a:pPr>
            <a:r>
              <a:rPr lang="en-US" sz="2800" dirty="0">
                <a:latin typeface="Palatino Linotype" panose="02040502050505030304" pitchFamily="18" charset="0"/>
              </a:rPr>
              <a:t>Satellite communication is not prone to sabotage as there are no cables running </a:t>
            </a:r>
            <a:r>
              <a:rPr lang="en-US" sz="2800" dirty="0" smtClean="0">
                <a:latin typeface="Palatino Linotype" panose="02040502050505030304" pitchFamily="18" charset="0"/>
              </a:rPr>
              <a:t>through </a:t>
            </a:r>
            <a:r>
              <a:rPr lang="en-US" sz="2800" dirty="0">
                <a:latin typeface="Palatino Linotype" panose="02040502050505030304" pitchFamily="18" charset="0"/>
              </a:rPr>
              <a:t>long distances</a:t>
            </a:r>
          </a:p>
        </p:txBody>
      </p:sp>
    </p:spTree>
    <p:extLst>
      <p:ext uri="{BB962C8B-B14F-4D97-AF65-F5344CB8AC3E}">
        <p14:creationId xmlns:p14="http://schemas.microsoft.com/office/powerpoint/2010/main" val="1578355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800" dirty="0" smtClean="0">
                <a:latin typeface="Palatino Linotype" panose="02040502050505030304" pitchFamily="18" charset="0"/>
              </a:rPr>
              <a:t>Distance of the satellite being 36,000 km from the earth’s surface, the microwave power received at the earth station is very low (in </a:t>
            </a:r>
            <a:r>
              <a:rPr lang="en-US" sz="2800" dirty="0" err="1" smtClean="0">
                <a:latin typeface="Palatino Linotype" panose="02040502050505030304" pitchFamily="18" charset="0"/>
              </a:rPr>
              <a:t>picowatts</a:t>
            </a:r>
            <a:r>
              <a:rPr lang="en-US" sz="2800" dirty="0" smtClean="0">
                <a:latin typeface="Palatino Linotype" panose="02040502050505030304" pitchFamily="18" charset="0"/>
              </a:rPr>
              <a:t>)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To get suitable carrier to noise ratio for good performance of the system, special design techniques have to be adopted which make the system costly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smtClean="0">
                <a:latin typeface="Palatino Linotype" panose="02040502050505030304" pitchFamily="18" charset="0"/>
              </a:rPr>
              <a:t>Launching of a satellite is a very costly affair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>
                <a:latin typeface="Palatino Linotype" panose="02040502050505030304" pitchFamily="18" charset="0"/>
              </a:rPr>
              <a:t>Solar eclipse for the satellite (when the earth comes in between the sun and the </a:t>
            </a:r>
            <a:r>
              <a:rPr lang="en-US" sz="2800" dirty="0" smtClean="0">
                <a:latin typeface="Palatino Linotype" panose="02040502050505030304" pitchFamily="18" charset="0"/>
              </a:rPr>
              <a:t>satellite</a:t>
            </a:r>
            <a:r>
              <a:rPr lang="en-US" sz="2800" dirty="0">
                <a:latin typeface="Palatino Linotype" panose="02040502050505030304" pitchFamily="18" charset="0"/>
              </a:rPr>
              <a:t>), causes battery drain which, in turn, can cause break in transmission.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63416" y="304674"/>
            <a:ext cx="11465168" cy="91855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Palatino Linotype" panose="02040502050505030304" pitchFamily="18" charset="0"/>
              </a:rPr>
              <a:t>Disadvantages of Geostationary Satellite</a:t>
            </a:r>
          </a:p>
        </p:txBody>
      </p:sp>
    </p:spTree>
    <p:extLst>
      <p:ext uri="{BB962C8B-B14F-4D97-AF65-F5344CB8AC3E}">
        <p14:creationId xmlns:p14="http://schemas.microsoft.com/office/powerpoint/2010/main" val="2090496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914400"/>
            <a:ext cx="11465168" cy="52625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just">
              <a:buFont typeface="+mj-lt"/>
              <a:buAutoNum type="arabicPeriod" startAt="4"/>
            </a:pPr>
            <a:r>
              <a:rPr lang="en-US" sz="2800" dirty="0" smtClean="0">
                <a:latin typeface="Palatino Linotype" panose="02040502050505030304" pitchFamily="18" charset="0"/>
              </a:rPr>
              <a:t>Turning </a:t>
            </a:r>
            <a:r>
              <a:rPr lang="en-US" sz="2800" dirty="0">
                <a:latin typeface="Palatino Linotype" panose="02040502050505030304" pitchFamily="18" charset="0"/>
              </a:rPr>
              <a:t>on and off of the battery may cause transient noise</a:t>
            </a:r>
            <a:r>
              <a:rPr lang="en-US" sz="2800" dirty="0" smtClean="0">
                <a:latin typeface="Palatino Linotype" panose="02040502050505030304" pitchFamily="18" charset="0"/>
              </a:rPr>
              <a:t>.</a:t>
            </a:r>
          </a:p>
          <a:p>
            <a:pPr marL="514350" indent="-514350" algn="just">
              <a:buFont typeface="+mj-lt"/>
              <a:buAutoNum type="arabicPeriod" startAt="4"/>
            </a:pPr>
            <a:r>
              <a:rPr lang="en-US" sz="2800" dirty="0">
                <a:latin typeface="Palatino Linotype" panose="02040502050505030304" pitchFamily="18" charset="0"/>
              </a:rPr>
              <a:t>When the sun passes through the beam angle of receiving antenna, the noise </a:t>
            </a:r>
            <a:r>
              <a:rPr lang="en-US" sz="2800" dirty="0" smtClean="0">
                <a:latin typeface="Palatino Linotype" panose="02040502050505030304" pitchFamily="18" charset="0"/>
              </a:rPr>
              <a:t>increases</a:t>
            </a:r>
          </a:p>
          <a:p>
            <a:pPr marL="0" indent="0" algn="just">
              <a:buNone/>
            </a:pPr>
            <a:r>
              <a:rPr lang="en-US" sz="2800" dirty="0">
                <a:latin typeface="Palatino Linotype" panose="02040502050505030304" pitchFamily="18" charset="0"/>
              </a:rPr>
              <a:t>However, the single advantage of the satellite looking stationary to the earth station </a:t>
            </a:r>
            <a:r>
              <a:rPr lang="en-US" sz="2800" dirty="0" smtClean="0">
                <a:latin typeface="Palatino Linotype" panose="02040502050505030304" pitchFamily="18" charset="0"/>
              </a:rPr>
              <a:t>outweighs </a:t>
            </a:r>
            <a:r>
              <a:rPr lang="en-US" sz="2800" dirty="0">
                <a:latin typeface="Palatino Linotype" panose="02040502050505030304" pitchFamily="18" charset="0"/>
              </a:rPr>
              <a:t>all other disadvantages which are capable of being </a:t>
            </a:r>
            <a:r>
              <a:rPr lang="en-US" sz="2800" dirty="0" smtClean="0">
                <a:latin typeface="Palatino Linotype" panose="02040502050505030304" pitchFamily="18" charset="0"/>
              </a:rPr>
              <a:t>managed </a:t>
            </a:r>
            <a:r>
              <a:rPr lang="en-US" sz="2800" dirty="0">
                <a:latin typeface="Palatino Linotype" panose="02040502050505030304" pitchFamily="18" charset="0"/>
              </a:rPr>
              <a:t>by proper </a:t>
            </a:r>
            <a:r>
              <a:rPr lang="en-US" sz="2800" dirty="0" smtClean="0">
                <a:latin typeface="Palatino Linotype" panose="02040502050505030304" pitchFamily="18" charset="0"/>
              </a:rPr>
              <a:t>design</a:t>
            </a:r>
            <a:r>
              <a:rPr lang="en-US" sz="2800" dirty="0">
                <a:latin typeface="Palatino Linotype" panose="02040502050505030304" pitchFamily="18" charset="0"/>
              </a:rPr>
              <a:t>, monitoring and control</a:t>
            </a:r>
            <a:r>
              <a:rPr lang="en-US" sz="2800" dirty="0" smtClean="0">
                <a:latin typeface="Palatino Linotype" panose="0204050205050503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2800" dirty="0">
              <a:latin typeface="Palatino Linotype" panose="02040502050505030304" pitchFamily="18" charset="0"/>
            </a:endParaRPr>
          </a:p>
          <a:p>
            <a:pPr marL="0" indent="0" algn="just">
              <a:buNone/>
            </a:pPr>
            <a:r>
              <a:rPr lang="en-US" sz="2800" dirty="0" smtClean="0">
                <a:latin typeface="Palatino Linotype" panose="02040502050505030304" pitchFamily="18" charset="0"/>
              </a:rPr>
              <a:t>Due to this, the geostationary satellites </a:t>
            </a:r>
            <a:r>
              <a:rPr lang="en-US" sz="2800" dirty="0">
                <a:latin typeface="Palatino Linotype" panose="02040502050505030304" pitchFamily="18" charset="0"/>
              </a:rPr>
              <a:t>are being used all over the world for TV and other communication needs</a:t>
            </a:r>
          </a:p>
        </p:txBody>
      </p:sp>
    </p:spTree>
    <p:extLst>
      <p:ext uri="{BB962C8B-B14F-4D97-AF65-F5344CB8AC3E}">
        <p14:creationId xmlns:p14="http://schemas.microsoft.com/office/powerpoint/2010/main" val="3539533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6" y="1825625"/>
            <a:ext cx="4624220" cy="4351338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A satellite is primarily a relaying system which receives TV programmes, telephone </a:t>
            </a:r>
            <a:r>
              <a:rPr lang="en-US" sz="2800" dirty="0" smtClean="0">
                <a:latin typeface="Palatino Linotype" panose="02040502050505030304" pitchFamily="18" charset="0"/>
              </a:rPr>
              <a:t>voice </a:t>
            </a:r>
            <a:r>
              <a:rPr lang="en-US" sz="2800" dirty="0">
                <a:latin typeface="Palatino Linotype" panose="02040502050505030304" pitchFamily="18" charset="0"/>
              </a:rPr>
              <a:t>and data at microwave frequency from earth stations and relays them at another </a:t>
            </a:r>
            <a:r>
              <a:rPr lang="en-US" sz="2800" dirty="0" smtClean="0">
                <a:latin typeface="Palatino Linotype" panose="02040502050505030304" pitchFamily="18" charset="0"/>
              </a:rPr>
              <a:t>microwave </a:t>
            </a:r>
            <a:r>
              <a:rPr lang="en-US" sz="2800" dirty="0">
                <a:latin typeface="Palatino Linotype" panose="02040502050505030304" pitchFamily="18" charset="0"/>
              </a:rPr>
              <a:t>frequency to the receiving stations on the earth as illustrated in </a:t>
            </a:r>
            <a:r>
              <a:rPr lang="en-US" sz="2800" dirty="0" smtClean="0">
                <a:latin typeface="Palatino Linotype" panose="02040502050505030304" pitchFamily="18" charset="0"/>
              </a:rPr>
              <a:t>this figure.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Elements of Satellite Communication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565" y="1825625"/>
            <a:ext cx="6092019" cy="418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8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914400"/>
            <a:ext cx="11465168" cy="52625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The main role of a communication satellite is to provide reliable communication </a:t>
            </a:r>
            <a:r>
              <a:rPr lang="en-US" sz="2800" dirty="0" smtClean="0">
                <a:latin typeface="Palatino Linotype" panose="02040502050505030304" pitchFamily="18" charset="0"/>
              </a:rPr>
              <a:t>over </a:t>
            </a:r>
            <a:r>
              <a:rPr lang="en-US" sz="2800" dirty="0">
                <a:latin typeface="Palatino Linotype" panose="02040502050505030304" pitchFamily="18" charset="0"/>
              </a:rPr>
              <a:t>large areas.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All </a:t>
            </a:r>
            <a:r>
              <a:rPr lang="en-US" sz="2800" dirty="0">
                <a:latin typeface="Palatino Linotype" panose="02040502050505030304" pitchFamily="18" charset="0"/>
              </a:rPr>
              <a:t>other subsystems exist to support the communication.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communication </a:t>
            </a:r>
            <a:r>
              <a:rPr lang="en-US" sz="2800" dirty="0">
                <a:latin typeface="Palatino Linotype" panose="02040502050505030304" pitchFamily="18" charset="0"/>
              </a:rPr>
              <a:t>system is so designed that maximum signal to noise ratio should become </a:t>
            </a:r>
            <a:r>
              <a:rPr lang="en-US" sz="2800" dirty="0" smtClean="0">
                <a:latin typeface="Palatino Linotype" panose="02040502050505030304" pitchFamily="18" charset="0"/>
              </a:rPr>
              <a:t>available </a:t>
            </a:r>
            <a:r>
              <a:rPr lang="en-US" sz="2800" dirty="0">
                <a:latin typeface="Palatino Linotype" panose="02040502050505030304" pitchFamily="18" charset="0"/>
              </a:rPr>
              <a:t>at the receiver of the earth station in the downlink with minimum weight on </a:t>
            </a:r>
            <a:r>
              <a:rPr lang="en-US" sz="2800" dirty="0" smtClean="0">
                <a:latin typeface="Palatino Linotype" panose="02040502050505030304" pitchFamily="18" charset="0"/>
              </a:rPr>
              <a:t>the </a:t>
            </a:r>
            <a:r>
              <a:rPr lang="en-US" sz="2800" dirty="0">
                <a:latin typeface="Palatino Linotype" panose="02040502050505030304" pitchFamily="18" charset="0"/>
              </a:rPr>
              <a:t>satellite and that the system should work for </a:t>
            </a:r>
            <a:r>
              <a:rPr lang="en-US" sz="2800" dirty="0" smtClean="0">
                <a:latin typeface="Palatino Linotype" panose="02040502050505030304" pitchFamily="18" charset="0"/>
              </a:rPr>
              <a:t>12-15 </a:t>
            </a:r>
            <a:r>
              <a:rPr lang="en-US" sz="2800" dirty="0">
                <a:latin typeface="Palatino Linotype" panose="02040502050505030304" pitchFamily="18" charset="0"/>
              </a:rPr>
              <a:t>years with optimum output </a:t>
            </a:r>
            <a:r>
              <a:rPr lang="en-US" sz="2800" dirty="0" smtClean="0">
                <a:latin typeface="Palatino Linotype" panose="02040502050505030304" pitchFamily="18" charset="0"/>
              </a:rPr>
              <a:t>without </a:t>
            </a:r>
            <a:r>
              <a:rPr lang="en-US" sz="2800" dirty="0">
                <a:latin typeface="Palatino Linotype" panose="02040502050505030304" pitchFamily="18" charset="0"/>
              </a:rPr>
              <a:t>degradation</a:t>
            </a:r>
            <a:r>
              <a:rPr lang="en-US" sz="2800" dirty="0" smtClean="0">
                <a:latin typeface="Palatino Linotype" panose="02040502050505030304" pitchFamily="18" charset="0"/>
              </a:rPr>
              <a:t>.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</a:t>
            </a:r>
            <a:r>
              <a:rPr lang="en-US" sz="2800" dirty="0">
                <a:latin typeface="Palatino Linotype" panose="02040502050505030304" pitchFamily="18" charset="0"/>
              </a:rPr>
              <a:t>various subsystems involved in satellite communication </a:t>
            </a:r>
            <a:r>
              <a:rPr lang="en-US" sz="2800" dirty="0" smtClean="0">
                <a:latin typeface="Palatino Linotype" panose="02040502050505030304" pitchFamily="18" charset="0"/>
              </a:rPr>
              <a:t>are described </a:t>
            </a:r>
            <a:r>
              <a:rPr lang="en-US" sz="2800" dirty="0" smtClean="0">
                <a:latin typeface="Palatino Linotype" panose="02040502050505030304" pitchFamily="18" charset="0"/>
              </a:rPr>
              <a:t>hereafter.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578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706582"/>
            <a:ext cx="11465168" cy="547038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b="1" dirty="0">
                <a:solidFill>
                  <a:srgbClr val="7030A0"/>
                </a:solidFill>
                <a:latin typeface="Palatino Linotype" panose="02040502050505030304" pitchFamily="18" charset="0"/>
              </a:rPr>
              <a:t>Transponder</a:t>
            </a:r>
            <a:r>
              <a:rPr lang="en-US" sz="2800" dirty="0">
                <a:latin typeface="Palatino Linotype" panose="02040502050505030304" pitchFamily="18" charset="0"/>
              </a:rPr>
              <a:t> - the main electronic system </a:t>
            </a:r>
            <a:r>
              <a:rPr lang="en-US" sz="2800" dirty="0" smtClean="0">
                <a:latin typeface="Palatino Linotype" panose="02040502050505030304" pitchFamily="18" charset="0"/>
              </a:rPr>
              <a:t>which </a:t>
            </a:r>
            <a:r>
              <a:rPr lang="en-US" sz="2800" dirty="0">
                <a:latin typeface="Palatino Linotype" panose="02040502050505030304" pitchFamily="18" charset="0"/>
              </a:rPr>
              <a:t>receives microwave power at the uplink frequency, converts it to the lower </a:t>
            </a:r>
            <a:r>
              <a:rPr lang="en-US" sz="2800" dirty="0" smtClean="0">
                <a:latin typeface="Palatino Linotype" panose="02040502050505030304" pitchFamily="18" charset="0"/>
              </a:rPr>
              <a:t>downlink frequency, amplifies it and sends to the earth through downlink antennas.</a:t>
            </a:r>
          </a:p>
          <a:p>
            <a:pPr algn="just"/>
            <a:r>
              <a:rPr lang="en-US" sz="2800" b="1" dirty="0" smtClean="0">
                <a:solidFill>
                  <a:srgbClr val="7030A0"/>
                </a:solidFill>
                <a:latin typeface="Palatino Linotype" panose="02040502050505030304" pitchFamily="18" charset="0"/>
              </a:rPr>
              <a:t>Space Craft  Antennas </a:t>
            </a:r>
            <a:r>
              <a:rPr lang="en-US" sz="2800" dirty="0">
                <a:latin typeface="Palatino Linotype" panose="02040502050505030304" pitchFamily="18" charset="0"/>
              </a:rPr>
              <a:t>- There are two antennas on the space craft, one for receiving signals from the earth’s </a:t>
            </a:r>
            <a:r>
              <a:rPr lang="en-US" sz="2800" dirty="0" smtClean="0">
                <a:latin typeface="Palatino Linotype" panose="02040502050505030304" pitchFamily="18" charset="0"/>
              </a:rPr>
              <a:t>transmitter </a:t>
            </a:r>
            <a:r>
              <a:rPr lang="en-US" sz="2800" dirty="0">
                <a:latin typeface="Palatino Linotype" panose="02040502050505030304" pitchFamily="18" charset="0"/>
              </a:rPr>
              <a:t>and the other for sending signals from the transponder to the earth’s </a:t>
            </a:r>
            <a:r>
              <a:rPr lang="en-US" sz="2800" dirty="0" smtClean="0">
                <a:latin typeface="Palatino Linotype" panose="02040502050505030304" pitchFamily="18" charset="0"/>
              </a:rPr>
              <a:t>receiver.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Both </a:t>
            </a:r>
            <a:r>
              <a:rPr lang="en-US" sz="2600" dirty="0">
                <a:latin typeface="Palatino Linotype" panose="02040502050505030304" pitchFamily="18" charset="0"/>
              </a:rPr>
              <a:t>antennas have to </a:t>
            </a:r>
            <a:r>
              <a:rPr lang="en-US" sz="2600" dirty="0" smtClean="0">
                <a:latin typeface="Palatino Linotype" panose="02040502050505030304" pitchFamily="18" charset="0"/>
              </a:rPr>
              <a:t>be </a:t>
            </a:r>
            <a:r>
              <a:rPr lang="en-US" sz="2600" dirty="0">
                <a:latin typeface="Palatino Linotype" panose="02040502050505030304" pitchFamily="18" charset="0"/>
              </a:rPr>
              <a:t>highly directive to concentrate energy in the desired direction</a:t>
            </a:r>
            <a:r>
              <a:rPr lang="en-US" sz="2600" dirty="0" smtClean="0">
                <a:latin typeface="Palatino Linotype" panose="02040502050505030304" pitchFamily="18" charset="0"/>
              </a:rPr>
              <a:t>.</a:t>
            </a:r>
          </a:p>
          <a:p>
            <a:pPr lvl="1" algn="just"/>
            <a:r>
              <a:rPr lang="en-US" sz="2600" dirty="0">
                <a:latin typeface="Palatino Linotype" panose="02040502050505030304" pitchFamily="18" charset="0"/>
              </a:rPr>
              <a:t>Another requirement </a:t>
            </a:r>
            <a:r>
              <a:rPr lang="en-US" sz="2600" dirty="0" smtClean="0">
                <a:latin typeface="Palatino Linotype" panose="02040502050505030304" pitchFamily="18" charset="0"/>
              </a:rPr>
              <a:t>of </a:t>
            </a:r>
            <a:r>
              <a:rPr lang="en-US" sz="2600" dirty="0">
                <a:latin typeface="Palatino Linotype" panose="02040502050505030304" pitchFamily="18" charset="0"/>
              </a:rPr>
              <a:t>antennas of the space craft is that their weight and dimensions should be as small as </a:t>
            </a:r>
            <a:r>
              <a:rPr lang="en-US" sz="2600" dirty="0" smtClean="0">
                <a:latin typeface="Palatino Linotype" panose="02040502050505030304" pitchFamily="18" charset="0"/>
              </a:rPr>
              <a:t>possible</a:t>
            </a:r>
          </a:p>
        </p:txBody>
      </p:sp>
    </p:spTree>
    <p:extLst>
      <p:ext uri="{BB962C8B-B14F-4D97-AF65-F5344CB8AC3E}">
        <p14:creationId xmlns:p14="http://schemas.microsoft.com/office/powerpoint/2010/main" val="1444202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706582"/>
            <a:ext cx="11465168" cy="547038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b="1" dirty="0" smtClean="0">
                <a:solidFill>
                  <a:srgbClr val="7030A0"/>
                </a:solidFill>
                <a:latin typeface="Palatino Linotype" panose="02040502050505030304" pitchFamily="18" charset="0"/>
              </a:rPr>
              <a:t>Power Supply System for Satellite </a:t>
            </a:r>
            <a:r>
              <a:rPr lang="en-US" sz="2800" dirty="0" smtClean="0">
                <a:latin typeface="Palatino Linotype" panose="02040502050505030304" pitchFamily="18" charset="0"/>
              </a:rPr>
              <a:t>– Solar energy is used as the main source of power.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Photocells convert solar energy into electrical energy which is used to charge storage battery</a:t>
            </a:r>
          </a:p>
          <a:p>
            <a:pPr lvl="1" algn="just"/>
            <a:r>
              <a:rPr lang="en-US" sz="2600" dirty="0">
                <a:latin typeface="Palatino Linotype" panose="02040502050505030304" pitchFamily="18" charset="0"/>
              </a:rPr>
              <a:t>Batteries charged initially at the earth give power to the subsystems during launch. </a:t>
            </a:r>
          </a:p>
          <a:p>
            <a:pPr lvl="1" algn="just"/>
            <a:r>
              <a:rPr lang="en-US" sz="2600" dirty="0">
                <a:latin typeface="Palatino Linotype" panose="02040502050505030304" pitchFamily="18" charset="0"/>
              </a:rPr>
              <a:t>Once in the normal orbit, the solar cells charge the batteries and therefore even during </a:t>
            </a:r>
            <a:r>
              <a:rPr lang="en-US" sz="2600" dirty="0" smtClean="0">
                <a:latin typeface="Palatino Linotype" panose="02040502050505030304" pitchFamily="18" charset="0"/>
              </a:rPr>
              <a:t>eclipse</a:t>
            </a:r>
            <a:r>
              <a:rPr lang="en-US" sz="2600" dirty="0">
                <a:latin typeface="Palatino Linotype" panose="02040502050505030304" pitchFamily="18" charset="0"/>
              </a:rPr>
              <a:t>, when the sun is not visible to the satellite, electric power remains available to </a:t>
            </a:r>
            <a:r>
              <a:rPr lang="en-US" sz="2600" dirty="0" smtClean="0">
                <a:latin typeface="Palatino Linotype" panose="02040502050505030304" pitchFamily="18" charset="0"/>
              </a:rPr>
              <a:t>it</a:t>
            </a:r>
            <a:endParaRPr lang="en-US" sz="2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31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Palatino Linotype" panose="02040502050505030304" pitchFamily="18" charset="0"/>
              </a:rPr>
              <a:t>The design of satellite links starts with selecting frequencies suitable for uplink and </a:t>
            </a:r>
            <a:r>
              <a:rPr lang="en-US" sz="2800" dirty="0" smtClean="0">
                <a:latin typeface="Palatino Linotype" panose="02040502050505030304" pitchFamily="18" charset="0"/>
              </a:rPr>
              <a:t>downlink</a:t>
            </a:r>
            <a:r>
              <a:rPr lang="en-US" sz="2800" dirty="0">
                <a:latin typeface="Palatino Linotype" panose="02040502050505030304" pitchFamily="18" charset="0"/>
              </a:rPr>
              <a:t>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r>
              <a:rPr lang="en-US" sz="2800" dirty="0" smtClean="0">
                <a:latin typeface="Palatino Linotype" panose="02040502050505030304" pitchFamily="18" charset="0"/>
              </a:rPr>
              <a:t>The </a:t>
            </a:r>
            <a:r>
              <a:rPr lang="en-US" sz="2800" dirty="0">
                <a:latin typeface="Palatino Linotype" panose="02040502050505030304" pitchFamily="18" charset="0"/>
              </a:rPr>
              <a:t>present day communication satellites use microwave bands because of </a:t>
            </a:r>
            <a:r>
              <a:rPr lang="en-US" sz="2800" dirty="0" smtClean="0">
                <a:latin typeface="Palatino Linotype" panose="02040502050505030304" pitchFamily="18" charset="0"/>
              </a:rPr>
              <a:t>the </a:t>
            </a:r>
            <a:r>
              <a:rPr lang="en-US" sz="2800" dirty="0">
                <a:latin typeface="Palatino Linotype" panose="02040502050505030304" pitchFamily="18" charset="0"/>
              </a:rPr>
              <a:t>following advantages</a:t>
            </a:r>
            <a:r>
              <a:rPr lang="en-US" sz="2800" dirty="0" smtClean="0">
                <a:latin typeface="Palatino Linotype" panose="02040502050505030304" pitchFamily="18" charset="0"/>
              </a:rPr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>
                <a:latin typeface="Palatino Linotype" panose="02040502050505030304" pitchFamily="18" charset="0"/>
              </a:rPr>
              <a:t>Microwave antennas can have very high directivity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>
                <a:latin typeface="Palatino Linotype" panose="02040502050505030304" pitchFamily="18" charset="0"/>
              </a:rPr>
              <a:t>External noises from atmosphere, etc. are insignificant above 2 GHz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>
                <a:latin typeface="Palatino Linotype" panose="02040502050505030304" pitchFamily="18" charset="0"/>
              </a:rPr>
              <a:t>Microwaves provide wide bandwidth to accommodate large number of sidebands of FM and can have large number of channels</a:t>
            </a:r>
          </a:p>
          <a:p>
            <a:r>
              <a:rPr lang="en-US" sz="2800" dirty="0" smtClean="0">
                <a:latin typeface="Palatino Linotype" panose="02040502050505030304" pitchFamily="18" charset="0"/>
              </a:rPr>
              <a:t>The next table show the frequency ranges of the designated bands in the microwave spectrum.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Frequency Bands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144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19</a:t>
            </a:fld>
            <a:endParaRPr lang="en-US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19" y="1995445"/>
            <a:ext cx="10457471" cy="42189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766599" y="1223442"/>
            <a:ext cx="5118709" cy="523220"/>
          </a:xfrm>
          <a:prstGeom prst="rect">
            <a:avLst/>
          </a:prstGeom>
          <a:solidFill>
            <a:schemeClr val="accent4"/>
          </a:solidFill>
        </p:spPr>
        <p:txBody>
          <a:bodyPr wrap="none">
            <a:spAutoFit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Bands of microwave spectrum</a:t>
            </a:r>
          </a:p>
        </p:txBody>
      </p:sp>
    </p:spTree>
    <p:extLst>
      <p:ext uri="{BB962C8B-B14F-4D97-AF65-F5344CB8AC3E}">
        <p14:creationId xmlns:p14="http://schemas.microsoft.com/office/powerpoint/2010/main" val="2006659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Although there are innumerable applications of satellite communication, we are </a:t>
            </a:r>
            <a:r>
              <a:rPr lang="en-US" sz="2800" dirty="0" smtClean="0">
                <a:latin typeface="Palatino Linotype" panose="02040502050505030304" pitchFamily="18" charset="0"/>
              </a:rPr>
              <a:t>here </a:t>
            </a:r>
            <a:r>
              <a:rPr lang="en-US" sz="2800" dirty="0">
                <a:latin typeface="Palatino Linotype" panose="02040502050505030304" pitchFamily="18" charset="0"/>
              </a:rPr>
              <a:t>concerned with its applications for relaying television programmes.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Television through </a:t>
            </a:r>
            <a:r>
              <a:rPr lang="en-US" sz="2800" dirty="0">
                <a:latin typeface="Palatino Linotype" panose="02040502050505030304" pitchFamily="18" charset="0"/>
              </a:rPr>
              <a:t>satellites consists of the following three systems</a:t>
            </a:r>
            <a:r>
              <a:rPr lang="en-US" sz="2800" dirty="0" smtClean="0">
                <a:latin typeface="Palatino Linotype" panose="02040502050505030304" pitchFamily="18" charset="0"/>
              </a:rPr>
              <a:t>: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800" dirty="0">
                <a:latin typeface="Palatino Linotype" panose="02040502050505030304" pitchFamily="18" charset="0"/>
              </a:rPr>
              <a:t>Broadcasting of TV programmes to long distances, using satellites to relay </a:t>
            </a:r>
            <a:r>
              <a:rPr lang="en-US" sz="2800" dirty="0" smtClean="0">
                <a:latin typeface="Palatino Linotype" panose="02040502050505030304" pitchFamily="18" charset="0"/>
              </a:rPr>
              <a:t>programmes </a:t>
            </a:r>
            <a:r>
              <a:rPr lang="en-US" sz="2800" dirty="0">
                <a:latin typeface="Palatino Linotype" panose="02040502050505030304" pitchFamily="18" charset="0"/>
              </a:rPr>
              <a:t>to the terrestrial transmitters for further transmission within line of </a:t>
            </a:r>
            <a:r>
              <a:rPr lang="en-US" sz="2800" dirty="0" smtClean="0">
                <a:latin typeface="Palatino Linotype" panose="02040502050505030304" pitchFamily="18" charset="0"/>
              </a:rPr>
              <a:t>sight </a:t>
            </a:r>
            <a:r>
              <a:rPr lang="en-US" sz="2800" dirty="0">
                <a:latin typeface="Palatino Linotype" panose="02040502050505030304" pitchFamily="18" charset="0"/>
              </a:rPr>
              <a:t>communication range. This type of service is called long distance satellite </a:t>
            </a:r>
            <a:r>
              <a:rPr lang="en-US" sz="2800" dirty="0" smtClean="0">
                <a:latin typeface="Palatino Linotype" panose="02040502050505030304" pitchFamily="18" charset="0"/>
              </a:rPr>
              <a:t>broadcast </a:t>
            </a:r>
            <a:r>
              <a:rPr lang="en-US" sz="2800" dirty="0">
                <a:latin typeface="Palatino Linotype" panose="02040502050505030304" pitchFamily="18" charset="0"/>
              </a:rPr>
              <a:t>service for terrestrial networks.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Satellite Relay Systems for Television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871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955964"/>
            <a:ext cx="11465168" cy="522099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 algn="just">
              <a:buFont typeface="+mj-lt"/>
              <a:buAutoNum type="arabicPeriod" startAt="2"/>
            </a:pPr>
            <a:r>
              <a:rPr lang="en-US" sz="2800" dirty="0">
                <a:latin typeface="Palatino Linotype" panose="02040502050505030304" pitchFamily="18" charset="0"/>
              </a:rPr>
              <a:t>Satellites for relaying TV programmes to cable operators who receive the </a:t>
            </a:r>
            <a:r>
              <a:rPr lang="en-US" sz="2800" dirty="0" smtClean="0">
                <a:latin typeface="Palatino Linotype" panose="02040502050505030304" pitchFamily="18" charset="0"/>
              </a:rPr>
              <a:t>programmes </a:t>
            </a:r>
            <a:r>
              <a:rPr lang="en-US" sz="2800" dirty="0">
                <a:latin typeface="Palatino Linotype" panose="02040502050505030304" pitchFamily="18" charset="0"/>
              </a:rPr>
              <a:t>at their head ends and after amplifying and processing, they send these </a:t>
            </a:r>
            <a:r>
              <a:rPr lang="en-US" sz="2800" dirty="0" smtClean="0">
                <a:latin typeface="Palatino Linotype" panose="02040502050505030304" pitchFamily="18" charset="0"/>
              </a:rPr>
              <a:t> to the subscribers’ homes through cables (CATV system). This system is called TVRO, i.e. TV Receive Only.</a:t>
            </a:r>
          </a:p>
          <a:p>
            <a:pPr marL="971550" lvl="1" indent="-514350" algn="just">
              <a:buFont typeface="+mj-lt"/>
              <a:buAutoNum type="arabicPeriod" startAt="2"/>
            </a:pPr>
            <a:r>
              <a:rPr lang="en-US" sz="2800" dirty="0">
                <a:latin typeface="Palatino Linotype" panose="02040502050505030304" pitchFamily="18" charset="0"/>
              </a:rPr>
              <a:t>Satellites for relaying TV programmes direct to individual homes. This system is </a:t>
            </a:r>
            <a:r>
              <a:rPr lang="en-US" sz="2800" dirty="0" smtClean="0">
                <a:latin typeface="Palatino Linotype" panose="02040502050505030304" pitchFamily="18" charset="0"/>
              </a:rPr>
              <a:t>called Direct-To-Home (DTH) system.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306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This service uses C-band frequencies with antenna dish at the earth’s transmitting station and also at the earth’s receiving station.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Even low power at the transponder can give good signal strength at the earth’s receiving station.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The receiving station </a:t>
            </a:r>
            <a:r>
              <a:rPr lang="en-US" sz="2800" dirty="0" smtClean="0">
                <a:latin typeface="Palatino Linotype" panose="02040502050505030304" pitchFamily="18" charset="0"/>
              </a:rPr>
              <a:t>demodulates </a:t>
            </a:r>
            <a:r>
              <a:rPr lang="en-US" sz="2800" dirty="0">
                <a:latin typeface="Palatino Linotype" panose="02040502050505030304" pitchFamily="18" charset="0"/>
              </a:rPr>
              <a:t>the input signal and sends it to the terrestrial transmitter for further </a:t>
            </a:r>
            <a:r>
              <a:rPr lang="en-US" sz="2800" dirty="0" smtClean="0">
                <a:latin typeface="Palatino Linotype" panose="02040502050505030304" pitchFamily="18" charset="0"/>
              </a:rPr>
              <a:t>transmission</a:t>
            </a:r>
            <a:r>
              <a:rPr lang="en-US" sz="2800" dirty="0">
                <a:latin typeface="Palatino Linotype" panose="02040502050505030304" pitchFamily="18" charset="0"/>
              </a:rPr>
              <a:t>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Its </a:t>
            </a:r>
            <a:r>
              <a:rPr lang="en-US" sz="2800" dirty="0">
                <a:latin typeface="Palatino Linotype" panose="02040502050505030304" pitchFamily="18" charset="0"/>
              </a:rPr>
              <a:t>block diagram is shown in </a:t>
            </a:r>
            <a:r>
              <a:rPr lang="en-US" sz="2800" dirty="0" smtClean="0">
                <a:latin typeface="Palatino Linotype" panose="02040502050505030304" pitchFamily="18" charset="0"/>
              </a:rPr>
              <a:t>the next figure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63415" y="365125"/>
            <a:ext cx="11627693" cy="918553"/>
          </a:xfrm>
        </p:spPr>
        <p:txBody>
          <a:bodyPr>
            <a:normAutofit/>
          </a:bodyPr>
          <a:lstStyle/>
          <a:p>
            <a:r>
              <a:rPr lang="en-US" sz="3000" dirty="0" smtClean="0">
                <a:latin typeface="Palatino Linotype" panose="02040502050505030304" pitchFamily="18" charset="0"/>
              </a:rPr>
              <a:t>Long Distance Satellite Broadcast Service for Terrestrial Networks</a:t>
            </a:r>
            <a:endParaRPr lang="en-US" sz="30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782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23</a:t>
            </a:fld>
            <a:endParaRPr lang="en-US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806" y="262091"/>
            <a:ext cx="8443176" cy="554245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966301" y="6037792"/>
            <a:ext cx="7704353" cy="461665"/>
          </a:xfrm>
          <a:prstGeom prst="rect">
            <a:avLst/>
          </a:prstGeom>
          <a:solidFill>
            <a:schemeClr val="accent4"/>
          </a:solidFill>
        </p:spPr>
        <p:txBody>
          <a:bodyPr wrap="none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Block diagram showing TV broadcast satellite system</a:t>
            </a:r>
          </a:p>
        </p:txBody>
      </p:sp>
    </p:spTree>
    <p:extLst>
      <p:ext uri="{BB962C8B-B14F-4D97-AF65-F5344CB8AC3E}">
        <p14:creationId xmlns:p14="http://schemas.microsoft.com/office/powerpoint/2010/main" val="2804418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6" y="1683327"/>
            <a:ext cx="11465168" cy="477988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DTH is defined as the reception of satellite programmes with a personal dish in an individual home.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Here the transponder has to </a:t>
            </a:r>
            <a:r>
              <a:rPr lang="en-US" sz="2800" dirty="0" smtClean="0">
                <a:latin typeface="Palatino Linotype" panose="02040502050505030304" pitchFamily="18" charset="0"/>
              </a:rPr>
              <a:t>produce </a:t>
            </a:r>
            <a:r>
              <a:rPr lang="en-US" sz="2800" dirty="0">
                <a:latin typeface="Palatino Linotype" panose="02040502050505030304" pitchFamily="18" charset="0"/>
              </a:rPr>
              <a:t>high power of about 100 W.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Hence </a:t>
            </a:r>
            <a:r>
              <a:rPr lang="en-US" sz="2800" dirty="0">
                <a:latin typeface="Palatino Linotype" panose="02040502050505030304" pitchFamily="18" charset="0"/>
              </a:rPr>
              <a:t>the transponder uses double conversion </a:t>
            </a:r>
            <a:r>
              <a:rPr lang="en-US" sz="2800" dirty="0" smtClean="0">
                <a:latin typeface="Palatino Linotype" panose="02040502050505030304" pitchFamily="18" charset="0"/>
              </a:rPr>
              <a:t>of the signal.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input signal is first down-converted to an intermediate frequency of 70 </a:t>
            </a:r>
            <a:r>
              <a:rPr lang="en-US" sz="2800" dirty="0" err="1" smtClean="0">
                <a:latin typeface="Palatino Linotype" panose="02040502050505030304" pitchFamily="18" charset="0"/>
              </a:rPr>
              <a:t>MHz.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Much higher gain of the signal can be achieved at 70 MHz than at microwave frequency.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amplified output of the IF amplifier is now up-converted to the downlink frequency of about 11 GHz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Direct-to-Home TV (DTH) Satellite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825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25</a:t>
            </a:fld>
            <a:endParaRPr lang="en-US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28" y="997149"/>
            <a:ext cx="10033720" cy="423986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360769" y="5619280"/>
            <a:ext cx="3257238" cy="461665"/>
          </a:xfrm>
          <a:prstGeom prst="rect">
            <a:avLst/>
          </a:prstGeom>
          <a:solidFill>
            <a:schemeClr val="accent4"/>
          </a:solidFill>
        </p:spPr>
        <p:txBody>
          <a:bodyPr wrap="none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Transponder for DTH</a:t>
            </a:r>
          </a:p>
        </p:txBody>
      </p:sp>
    </p:spTree>
    <p:extLst>
      <p:ext uri="{BB962C8B-B14F-4D97-AF65-F5344CB8AC3E}">
        <p14:creationId xmlns:p14="http://schemas.microsoft.com/office/powerpoint/2010/main" val="4039817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727364"/>
            <a:ext cx="11465168" cy="573584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DTH receiver is like any other receiver, except that the frequency being in Ku band or K band, the size of the dish antenna is quite small.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For Ku band, it is </a:t>
            </a:r>
            <a:r>
              <a:rPr lang="en-US" sz="2800" dirty="0" smtClean="0">
                <a:latin typeface="Palatino Linotype" panose="02040502050505030304" pitchFamily="18" charset="0"/>
              </a:rPr>
              <a:t>about 60 </a:t>
            </a:r>
            <a:r>
              <a:rPr lang="en-US" sz="2800" dirty="0">
                <a:latin typeface="Palatino Linotype" panose="02040502050505030304" pitchFamily="18" charset="0"/>
              </a:rPr>
              <a:t>cm and for K band it is much smaller.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Another </a:t>
            </a:r>
            <a:r>
              <a:rPr lang="en-US" sz="2800" dirty="0">
                <a:latin typeface="Palatino Linotype" panose="02040502050505030304" pitchFamily="18" charset="0"/>
              </a:rPr>
              <a:t>distinguishing feature is that the </a:t>
            </a:r>
            <a:r>
              <a:rPr lang="en-US" sz="2800" dirty="0" smtClean="0">
                <a:latin typeface="Palatino Linotype" panose="02040502050505030304" pitchFamily="18" charset="0"/>
              </a:rPr>
              <a:t>stages </a:t>
            </a:r>
            <a:r>
              <a:rPr lang="en-US" sz="2800" dirty="0">
                <a:latin typeface="Palatino Linotype" panose="02040502050505030304" pitchFamily="18" charset="0"/>
              </a:rPr>
              <a:t>handling microwave frequencies are located outside the home at the antenna </a:t>
            </a:r>
            <a:r>
              <a:rPr lang="en-US" sz="2800" dirty="0" smtClean="0">
                <a:latin typeface="Palatino Linotype" panose="02040502050505030304" pitchFamily="18" charset="0"/>
              </a:rPr>
              <a:t>itself </a:t>
            </a:r>
            <a:r>
              <a:rPr lang="en-US" sz="2800" dirty="0">
                <a:latin typeface="Palatino Linotype" panose="02040502050505030304" pitchFamily="18" charset="0"/>
              </a:rPr>
              <a:t>and are called outdoor units.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outdoor unit consists of a receiving antenna, low noise amplifier and converter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LNA cannot be kept indoor because long cable between the horn and the first LNA will cause substantial degradation of the overall noise figure of the set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In case of pay TV, a set-top-box (STB) is needed to descramble the desired channels by the authorized consumers.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480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27</a:t>
            </a:fld>
            <a:endParaRPr lang="en-US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413" y="569969"/>
            <a:ext cx="8229410" cy="524893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90657" y="5818908"/>
            <a:ext cx="4580100" cy="461665"/>
          </a:xfrm>
          <a:prstGeom prst="rect">
            <a:avLst/>
          </a:prstGeom>
          <a:solidFill>
            <a:schemeClr val="accent4"/>
          </a:solidFill>
        </p:spPr>
        <p:txBody>
          <a:bodyPr wrap="none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Block diagram of DTH receiver</a:t>
            </a:r>
          </a:p>
        </p:txBody>
      </p:sp>
    </p:spTree>
    <p:extLst>
      <p:ext uri="{BB962C8B-B14F-4D97-AF65-F5344CB8AC3E}">
        <p14:creationId xmlns:p14="http://schemas.microsoft.com/office/powerpoint/2010/main" val="2176760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030A0"/>
      </a:accent1>
      <a:accent2>
        <a:srgbClr val="404040"/>
      </a:accent2>
      <a:accent3>
        <a:srgbClr val="7F7F7F"/>
      </a:accent3>
      <a:accent4>
        <a:srgbClr val="C7A2E3"/>
      </a:accent4>
      <a:accent5>
        <a:srgbClr val="48A1FA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6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468121_Coastal presentation_RVA_v5" id="{5B652A6C-03CB-4457-ADFC-1C5BB6605FEF}" vid="{F00112C4-F9F0-4BD0-BC95-5242C8B0F7A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D46D58D-B27D-4B23-AEA1-AE974AB622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949B46-24C4-420B-AB49-DDC88FEB99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30CE401-796E-4493-905E-4DDA5AF62AB4}">
  <ds:schemaRefs>
    <ds:schemaRef ds:uri="http://purl.org/dc/terms/"/>
    <ds:schemaRef ds:uri="http://schemas.openxmlformats.org/package/2006/metadata/core-properties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71af3243-3dd4-4a8d-8c0d-dd76da1f02a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Coastal presentation</Template>
  <TotalTime>0</TotalTime>
  <Words>1874</Words>
  <Application>Microsoft Office PowerPoint</Application>
  <PresentationFormat>Widescreen</PresentationFormat>
  <Paragraphs>136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Palatino Linotype</vt:lpstr>
      <vt:lpstr>Office Theme</vt:lpstr>
      <vt:lpstr>LECTURE EIGHT: SATELLITE COMMUNICATION FOR TELEVISION</vt:lpstr>
      <vt:lpstr>Introduction</vt:lpstr>
      <vt:lpstr>PowerPoint Presentation</vt:lpstr>
      <vt:lpstr>PowerPoint Presentation</vt:lpstr>
      <vt:lpstr>PowerPoint Presentation</vt:lpstr>
      <vt:lpstr>Need of Satellite for Communication</vt:lpstr>
      <vt:lpstr>PowerPoint Presentation</vt:lpstr>
      <vt:lpstr>Geostationary Orbit and Other Orbits</vt:lpstr>
      <vt:lpstr>PowerPoint Presentation</vt:lpstr>
      <vt:lpstr>Advantages of Geostationary Satellite</vt:lpstr>
      <vt:lpstr>PowerPoint Presentation</vt:lpstr>
      <vt:lpstr>Disadvantages of Geostationary Satellite</vt:lpstr>
      <vt:lpstr>PowerPoint Presentation</vt:lpstr>
      <vt:lpstr>Elements of Satellite Communication</vt:lpstr>
      <vt:lpstr>PowerPoint Presentation</vt:lpstr>
      <vt:lpstr>PowerPoint Presentation</vt:lpstr>
      <vt:lpstr>PowerPoint Presentation</vt:lpstr>
      <vt:lpstr>Frequency Bands</vt:lpstr>
      <vt:lpstr>PowerPoint Presentation</vt:lpstr>
      <vt:lpstr>Satellite Relay Systems for Television</vt:lpstr>
      <vt:lpstr>PowerPoint Presentation</vt:lpstr>
      <vt:lpstr>Long Distance Satellite Broadcast Service for Terrestrial Networks</vt:lpstr>
      <vt:lpstr>PowerPoint Presentation</vt:lpstr>
      <vt:lpstr>Direct-to-Home TV (DTH) Satellite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2020-12-04T11:12:10Z</dcterms:created>
  <dcterms:modified xsi:type="dcterms:W3CDTF">2021-02-22T06:59:04Z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