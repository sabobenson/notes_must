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59"/>
  </p:notesMasterIdLst>
  <p:handoutMasterIdLst>
    <p:handoutMasterId r:id="rId60"/>
  </p:handoutMasterIdLst>
  <p:sldIdLst>
    <p:sldId id="256" r:id="rId5"/>
    <p:sldId id="265" r:id="rId6"/>
    <p:sldId id="266" r:id="rId7"/>
    <p:sldId id="283" r:id="rId8"/>
    <p:sldId id="267" r:id="rId9"/>
    <p:sldId id="284" r:id="rId10"/>
    <p:sldId id="268" r:id="rId11"/>
    <p:sldId id="285" r:id="rId12"/>
    <p:sldId id="286" r:id="rId13"/>
    <p:sldId id="269" r:id="rId14"/>
    <p:sldId id="270" r:id="rId15"/>
    <p:sldId id="288" r:id="rId16"/>
    <p:sldId id="287" r:id="rId17"/>
    <p:sldId id="289" r:id="rId18"/>
    <p:sldId id="271" r:id="rId19"/>
    <p:sldId id="291" r:id="rId20"/>
    <p:sldId id="290" r:id="rId21"/>
    <p:sldId id="272" r:id="rId22"/>
    <p:sldId id="292" r:id="rId23"/>
    <p:sldId id="273" r:id="rId24"/>
    <p:sldId id="293" r:id="rId25"/>
    <p:sldId id="294" r:id="rId26"/>
    <p:sldId id="274" r:id="rId27"/>
    <p:sldId id="295" r:id="rId28"/>
    <p:sldId id="296" r:id="rId29"/>
    <p:sldId id="275" r:id="rId30"/>
    <p:sldId id="297" r:id="rId31"/>
    <p:sldId id="298" r:id="rId32"/>
    <p:sldId id="299" r:id="rId33"/>
    <p:sldId id="276" r:id="rId34"/>
    <p:sldId id="300" r:id="rId35"/>
    <p:sldId id="311" r:id="rId36"/>
    <p:sldId id="312" r:id="rId37"/>
    <p:sldId id="301" r:id="rId38"/>
    <p:sldId id="313" r:id="rId39"/>
    <p:sldId id="314" r:id="rId40"/>
    <p:sldId id="315" r:id="rId41"/>
    <p:sldId id="316" r:id="rId42"/>
    <p:sldId id="317" r:id="rId43"/>
    <p:sldId id="318" r:id="rId44"/>
    <p:sldId id="319" r:id="rId45"/>
    <p:sldId id="302" r:id="rId46"/>
    <p:sldId id="303" r:id="rId47"/>
    <p:sldId id="320" r:id="rId48"/>
    <p:sldId id="304" r:id="rId49"/>
    <p:sldId id="321" r:id="rId50"/>
    <p:sldId id="305" r:id="rId51"/>
    <p:sldId id="322" r:id="rId52"/>
    <p:sldId id="306" r:id="rId53"/>
    <p:sldId id="323" r:id="rId54"/>
    <p:sldId id="324" r:id="rId55"/>
    <p:sldId id="325" r:id="rId56"/>
    <p:sldId id="326" r:id="rId57"/>
    <p:sldId id="307"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30A0"/>
    <a:srgbClr val="404040"/>
    <a:srgbClr val="00B0F0"/>
    <a:srgbClr val="0070C0"/>
    <a:srgbClr val="37C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8415" autoAdjust="0"/>
  </p:normalViewPr>
  <p:slideViewPr>
    <p:cSldViewPr snapToGrid="0" showGuides="1">
      <p:cViewPr varScale="1">
        <p:scale>
          <a:sx n="68" d="100"/>
          <a:sy n="68" d="100"/>
        </p:scale>
        <p:origin x="616" y="32"/>
      </p:cViewPr>
      <p:guideLst>
        <p:guide orient="horz" pos="2160"/>
        <p:guide pos="3840"/>
      </p:guideLst>
    </p:cSldViewPr>
  </p:slideViewPr>
  <p:notesTextViewPr>
    <p:cViewPr>
      <p:scale>
        <a:sx n="1" d="1"/>
        <a:sy n="1" d="1"/>
      </p:scale>
      <p:origin x="0" y="0"/>
    </p:cViewPr>
  </p:notesTextViewPr>
  <p:sorterViewPr>
    <p:cViewPr>
      <p:scale>
        <a:sx n="114" d="100"/>
        <a:sy n="114" d="100"/>
      </p:scale>
      <p:origin x="0" y="-1476"/>
    </p:cViewPr>
  </p:sorterViewPr>
  <p:notesViewPr>
    <p:cSldViewPr snapToGrid="0" showGuides="1">
      <p:cViewPr>
        <p:scale>
          <a:sx n="50" d="100"/>
          <a:sy n="50" d="100"/>
        </p:scale>
        <p:origin x="2640" y="33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FA8042-29A1-4486-A765-7552698406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8D8449A-A734-4B2E-9806-61303F24B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249263-8DF9-4907-970E-1CFD040DC73A}" type="datetimeFigureOut">
              <a:rPr lang="en-US" smtClean="0"/>
              <a:t>30-Dec-21</a:t>
            </a:fld>
            <a:endParaRPr lang="en-US" dirty="0"/>
          </a:p>
        </p:txBody>
      </p:sp>
      <p:sp>
        <p:nvSpPr>
          <p:cNvPr id="4" name="Footer Placeholder 3">
            <a:extLst>
              <a:ext uri="{FF2B5EF4-FFF2-40B4-BE49-F238E27FC236}">
                <a16:creationId xmlns:a16="http://schemas.microsoft.com/office/drawing/2014/main" id="{F6605C2A-990C-4531-8CBF-BC3BEC0AF3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0D7358FE-F7D5-4C85-B0FD-2394F7F8774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BAE485-B3C6-4830-BBC8-C6E008BDD690}" type="slidenum">
              <a:rPr lang="en-US" smtClean="0"/>
              <a:t>‹#›</a:t>
            </a:fld>
            <a:endParaRPr lang="en-US" dirty="0"/>
          </a:p>
        </p:txBody>
      </p:sp>
    </p:spTree>
    <p:extLst>
      <p:ext uri="{BB962C8B-B14F-4D97-AF65-F5344CB8AC3E}">
        <p14:creationId xmlns:p14="http://schemas.microsoft.com/office/powerpoint/2010/main" val="4121628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70B412-7BFF-46C7-AB5E-DE35F66C9933}" type="datetimeFigureOut">
              <a:rPr lang="en-US" noProof="0" smtClean="0"/>
              <a:t>30-Dec-21</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5ACE04-E13C-4837-B6DD-B388E7CAA05E}" type="slidenum">
              <a:rPr lang="en-US" noProof="0" smtClean="0"/>
              <a:t>‹#›</a:t>
            </a:fld>
            <a:endParaRPr lang="en-US" noProof="0" dirty="0"/>
          </a:p>
        </p:txBody>
      </p:sp>
    </p:spTree>
    <p:extLst>
      <p:ext uri="{BB962C8B-B14F-4D97-AF65-F5344CB8AC3E}">
        <p14:creationId xmlns:p14="http://schemas.microsoft.com/office/powerpoint/2010/main" val="1850441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5ACE04-E13C-4837-B6DD-B388E7CAA05E}" type="slidenum">
              <a:rPr lang="en-US" smtClean="0"/>
              <a:t>1</a:t>
            </a:fld>
            <a:endParaRPr lang="en-US"/>
          </a:p>
        </p:txBody>
      </p:sp>
    </p:spTree>
    <p:extLst>
      <p:ext uri="{BB962C8B-B14F-4D97-AF65-F5344CB8AC3E}">
        <p14:creationId xmlns:p14="http://schemas.microsoft.com/office/powerpoint/2010/main" val="369923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2E5-8FA2-4056-805F-EF36F7066893}"/>
              </a:ext>
            </a:extLst>
          </p:cNvPr>
          <p:cNvSpPr>
            <a:spLocks noGrp="1"/>
          </p:cNvSpPr>
          <p:nvPr>
            <p:ph type="ctrTitle" hasCustomPrompt="1"/>
          </p:nvPr>
        </p:nvSpPr>
        <p:spPr>
          <a:xfrm>
            <a:off x="4686300" y="2726872"/>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a16="http://schemas.microsoft.com/office/drawing/2014/main" id="{1C085D6F-874B-44F8-B241-51EF13CA9C8B}"/>
              </a:ext>
            </a:extLst>
          </p:cNvPr>
          <p:cNvSpPr>
            <a:spLocks noGrp="1"/>
          </p:cNvSpPr>
          <p:nvPr>
            <p:ph type="subTitle" idx="1"/>
          </p:nvPr>
        </p:nvSpPr>
        <p:spPr>
          <a:xfrm>
            <a:off x="4686300" y="3569380"/>
            <a:ext cx="7233557" cy="365125"/>
          </a:xfrm>
        </p:spPr>
        <p:txBody>
          <a:bodyPr lIns="0">
            <a:norm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30-Dec-21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4082142"/>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CBCF8A4-C2B4-4945-8D79-C9D46B7FBECB}"/>
              </a:ext>
            </a:extLst>
          </p:cNvPr>
          <p:cNvGrpSpPr/>
          <p:nvPr userDrawn="1"/>
        </p:nvGrpSpPr>
        <p:grpSpPr>
          <a:xfrm>
            <a:off x="4793474" y="2475187"/>
            <a:ext cx="748798" cy="134113"/>
            <a:chOff x="4827813" y="2534636"/>
            <a:chExt cx="996651" cy="178504"/>
          </a:xfrm>
        </p:grpSpPr>
        <p:sp>
          <p:nvSpPr>
            <p:cNvPr id="9" name="Oval 8">
              <a:extLst>
                <a:ext uri="{FF2B5EF4-FFF2-40B4-BE49-F238E27FC236}">
                  <a16:creationId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Oval 11">
              <a:extLst>
                <a:ext uri="{FF2B5EF4-FFF2-40B4-BE49-F238E27FC236}">
                  <a16:creationId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4" name="Picture Placeholder 13">
            <a:extLst>
              <a:ext uri="{FF2B5EF4-FFF2-40B4-BE49-F238E27FC236}">
                <a16:creationId xmlns:a16="http://schemas.microsoft.com/office/drawing/2014/main" id="{F0C7F772-E2DA-4B13-AC2E-28A0EE6D8465}"/>
              </a:ext>
            </a:extLst>
          </p:cNvPr>
          <p:cNvSpPr>
            <a:spLocks noGrp="1"/>
          </p:cNvSpPr>
          <p:nvPr>
            <p:ph type="pic" sz="quarter" idx="13"/>
          </p:nvPr>
        </p:nvSpPr>
        <p:spPr>
          <a:xfrm>
            <a:off x="0" y="1"/>
            <a:ext cx="4424363" cy="6858000"/>
          </a:xfrm>
          <a:solidFill>
            <a:schemeClr val="bg2"/>
          </a:solidFill>
        </p:spPr>
        <p:txBody>
          <a:bodyPr anchor="ctr"/>
          <a:lstStyle>
            <a:lvl1pPr marL="0" indent="0" algn="ctr">
              <a:buNone/>
              <a:defRPr/>
            </a:lvl1pPr>
          </a:lstStyle>
          <a:p>
            <a:r>
              <a:rPr lang="en-US" noProof="0"/>
              <a:t>Click icon to add picture</a:t>
            </a:r>
            <a:endParaRPr lang="en-US" noProof="0" dirty="0"/>
          </a:p>
        </p:txBody>
      </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9945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Content, and Large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6441-0F1F-453B-BACF-543CEDE2AE72}"/>
              </a:ext>
            </a:extLst>
          </p:cNvPr>
          <p:cNvSpPr>
            <a:spLocks noGrp="1"/>
          </p:cNvSpPr>
          <p:nvPr>
            <p:ph type="title"/>
          </p:nvPr>
        </p:nvSpPr>
        <p:spPr>
          <a:xfrm>
            <a:off x="5908430" y="1046163"/>
            <a:ext cx="5445369" cy="1114784"/>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61EC9302-80D9-4A88-8591-DE2D4BA1F91A}"/>
              </a:ext>
            </a:extLst>
          </p:cNvPr>
          <p:cNvSpPr>
            <a:spLocks noGrp="1"/>
          </p:cNvSpPr>
          <p:nvPr>
            <p:ph idx="1" hasCustomPrompt="1"/>
          </p:nvPr>
        </p:nvSpPr>
        <p:spPr>
          <a:xfrm>
            <a:off x="5908430" y="2506662"/>
            <a:ext cx="5445370" cy="3454523"/>
          </a:xfrm>
        </p:spPr>
        <p:txBody>
          <a:bodyPr lIns="0" tIns="0" rIns="0" bIns="0">
            <a:noAutofit/>
          </a:bodyPr>
          <a:lstStyle>
            <a:lvl1pPr>
              <a:lnSpc>
                <a:spcPct val="100000"/>
              </a:lnSpc>
              <a:buClr>
                <a:schemeClr val="accent1"/>
              </a:buClr>
              <a:defRPr sz="1800"/>
            </a:lvl1pPr>
            <a:lvl2pPr>
              <a:lnSpc>
                <a:spcPct val="100000"/>
              </a:lnSpc>
              <a:buClr>
                <a:schemeClr val="accent1"/>
              </a:buClr>
              <a:defRPr sz="1600"/>
            </a:lvl2pPr>
            <a:lvl3pPr>
              <a:lnSpc>
                <a:spcPct val="100000"/>
              </a:lnSpc>
              <a:buClr>
                <a:schemeClr val="accent1"/>
              </a:buClr>
              <a:defRPr sz="1400"/>
            </a:lvl3pPr>
            <a:lvl4pPr>
              <a:lnSpc>
                <a:spcPct val="100000"/>
              </a:lnSpc>
              <a:buClr>
                <a:schemeClr val="accent1"/>
              </a:buClr>
              <a:defRPr sz="1200"/>
            </a:lvl4pPr>
            <a:lvl5pPr>
              <a:lnSpc>
                <a:spcPct val="100000"/>
              </a:lnSpc>
              <a:buClr>
                <a:schemeClr val="accent1"/>
              </a:buClr>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a16="http://schemas.microsoft.com/office/drawing/2014/main" id="{6AEAE6ED-58FA-4039-939A-E4032520CB3C}"/>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sp>
        <p:nvSpPr>
          <p:cNvPr id="10" name="Picture Placeholder 9">
            <a:extLst>
              <a:ext uri="{FF2B5EF4-FFF2-40B4-BE49-F238E27FC236}">
                <a16:creationId xmlns:a16="http://schemas.microsoft.com/office/drawing/2014/main" id="{4502AABE-45EB-48A5-AD25-47BD8B79DF61}"/>
              </a:ext>
            </a:extLst>
          </p:cNvPr>
          <p:cNvSpPr>
            <a:spLocks noGrp="1"/>
          </p:cNvSpPr>
          <p:nvPr>
            <p:ph type="pic" sz="quarter" idx="15"/>
          </p:nvPr>
        </p:nvSpPr>
        <p:spPr>
          <a:xfrm>
            <a:off x="469045" y="0"/>
            <a:ext cx="5210175" cy="5961063"/>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5679220"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1107978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10039330" y="8968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9720923" y="672411"/>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7508020"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184765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and Thre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6441-0F1F-453B-BACF-543CEDE2AE72}"/>
              </a:ext>
            </a:extLst>
          </p:cNvPr>
          <p:cNvSpPr>
            <a:spLocks noGrp="1"/>
          </p:cNvSpPr>
          <p:nvPr>
            <p:ph type="title"/>
          </p:nvPr>
        </p:nvSpPr>
        <p:spPr>
          <a:xfrm>
            <a:off x="363416" y="1046163"/>
            <a:ext cx="5445369" cy="1114784"/>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61EC9302-80D9-4A88-8591-DE2D4BA1F91A}"/>
              </a:ext>
            </a:extLst>
          </p:cNvPr>
          <p:cNvSpPr>
            <a:spLocks noGrp="1"/>
          </p:cNvSpPr>
          <p:nvPr>
            <p:ph idx="1" hasCustomPrompt="1"/>
          </p:nvPr>
        </p:nvSpPr>
        <p:spPr>
          <a:xfrm>
            <a:off x="363416" y="2506662"/>
            <a:ext cx="5445370" cy="3454523"/>
          </a:xfrm>
        </p:spPr>
        <p:txBody>
          <a:bodyPr lIns="0" tIns="0" rIns="0" bIns="0">
            <a:noAutofit/>
          </a:bodyPr>
          <a:lstStyle>
            <a:lvl1pPr>
              <a:lnSpc>
                <a:spcPct val="100000"/>
              </a:lnSpc>
              <a:defRPr sz="1800"/>
            </a:lvl1pPr>
            <a:lvl2pPr>
              <a:lnSpc>
                <a:spcPct val="100000"/>
              </a:lnSpc>
              <a:defRPr sz="1600"/>
            </a:lvl2pPr>
            <a:lvl3pPr>
              <a:lnSpc>
                <a:spcPct val="100000"/>
              </a:lnSpc>
              <a:defRPr sz="1400"/>
            </a:lvl3pPr>
            <a:lvl4pPr>
              <a:lnSpc>
                <a:spcPct val="100000"/>
              </a:lnSpc>
              <a:defRPr sz="1200"/>
            </a:lvl4pPr>
            <a:lvl5pPr>
              <a:lnSpc>
                <a:spcPct val="100000"/>
              </a:lnSpc>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a16="http://schemas.microsoft.com/office/drawing/2014/main" id="{6AEAE6ED-58FA-4039-939A-E4032520CB3C}"/>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sp>
        <p:nvSpPr>
          <p:cNvPr id="10" name="Picture Placeholder 9">
            <a:extLst>
              <a:ext uri="{FF2B5EF4-FFF2-40B4-BE49-F238E27FC236}">
                <a16:creationId xmlns:a16="http://schemas.microsoft.com/office/drawing/2014/main" id="{4502AABE-45EB-48A5-AD25-47BD8B79DF61}"/>
              </a:ext>
            </a:extLst>
          </p:cNvPr>
          <p:cNvSpPr>
            <a:spLocks noGrp="1"/>
          </p:cNvSpPr>
          <p:nvPr>
            <p:ph type="pic" sz="quarter" idx="15"/>
          </p:nvPr>
        </p:nvSpPr>
        <p:spPr>
          <a:xfrm>
            <a:off x="5919755" y="1"/>
            <a:ext cx="3430408" cy="4091942"/>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24055"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36341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1804745"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Picture Placeholder 9">
            <a:extLst>
              <a:ext uri="{FF2B5EF4-FFF2-40B4-BE49-F238E27FC236}">
                <a16:creationId xmlns:a16="http://schemas.microsoft.com/office/drawing/2014/main" id="{63A2A33D-4D91-454D-A35B-6DA97069EC3F}"/>
              </a:ext>
            </a:extLst>
          </p:cNvPr>
          <p:cNvSpPr>
            <a:spLocks noGrp="1"/>
          </p:cNvSpPr>
          <p:nvPr>
            <p:ph type="pic" sz="quarter" idx="16"/>
          </p:nvPr>
        </p:nvSpPr>
        <p:spPr>
          <a:xfrm>
            <a:off x="9542186" y="555157"/>
            <a:ext cx="2649814" cy="4298197"/>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sp>
        <p:nvSpPr>
          <p:cNvPr id="21" name="Picture Placeholder 9">
            <a:extLst>
              <a:ext uri="{FF2B5EF4-FFF2-40B4-BE49-F238E27FC236}">
                <a16:creationId xmlns:a16="http://schemas.microsoft.com/office/drawing/2014/main" id="{7EC67FB7-777C-473E-95B8-585AA8E66406}"/>
              </a:ext>
            </a:extLst>
          </p:cNvPr>
          <p:cNvSpPr>
            <a:spLocks noGrp="1"/>
          </p:cNvSpPr>
          <p:nvPr>
            <p:ph type="pic" sz="quarter" idx="17"/>
          </p:nvPr>
        </p:nvSpPr>
        <p:spPr>
          <a:xfrm>
            <a:off x="5919754" y="4289110"/>
            <a:ext cx="3430407" cy="1672075"/>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spTree>
    <p:extLst>
      <p:ext uri="{BB962C8B-B14F-4D97-AF65-F5344CB8AC3E}">
        <p14:creationId xmlns:p14="http://schemas.microsoft.com/office/powerpoint/2010/main" val="23405895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alf Image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831850"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3" name="Text Placeholder 2">
            <a:extLst>
              <a:ext uri="{FF2B5EF4-FFF2-40B4-BE49-F238E27FC236}">
                <a16:creationId xmlns:a16="http://schemas.microsoft.com/office/drawing/2014/main" id="{6E8BFC94-FFEC-4290-AC27-760323F21BA3}"/>
              </a:ext>
            </a:extLst>
          </p:cNvPr>
          <p:cNvSpPr>
            <a:spLocks noGrp="1"/>
          </p:cNvSpPr>
          <p:nvPr>
            <p:ph type="body" idx="1" hasCustomPrompt="1"/>
          </p:nvPr>
        </p:nvSpPr>
        <p:spPr>
          <a:xfrm>
            <a:off x="831850" y="4839691"/>
            <a:ext cx="10515600" cy="1305379"/>
          </a:xfrm>
        </p:spPr>
        <p:txBody>
          <a:bodyPr vert="horz" lIns="91440" tIns="45720" rIns="91440" bIns="45720" rtlCol="0">
            <a:noAutofit/>
          </a:bodyPr>
          <a:lstStyle>
            <a:lvl1pPr marL="0" indent="0" algn="ctr">
              <a:lnSpc>
                <a:spcPct val="100000"/>
              </a:lnSpc>
              <a:buNone/>
              <a:defRPr lang="en-US" sz="1800" b="0" cap="none" baseline="0" dirty="0" smtClean="0"/>
            </a:lvl1pPr>
          </a:lstStyle>
          <a:p>
            <a:pPr marL="228600" lvl="0" indent="-228600"/>
            <a:r>
              <a:rPr lang="en-US" noProof="0"/>
              <a:t>Edit Master text styles</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4" name="Picture Placeholder 13">
            <a:extLst>
              <a:ext uri="{FF2B5EF4-FFF2-40B4-BE49-F238E27FC236}">
                <a16:creationId xmlns:a16="http://schemas.microsoft.com/office/drawing/2014/main" id="{A7389277-B3D3-4AEE-8BE0-0559A7396981}"/>
              </a:ext>
            </a:extLst>
          </p:cNvPr>
          <p:cNvSpPr>
            <a:spLocks noGrp="1"/>
          </p:cNvSpPr>
          <p:nvPr>
            <p:ph type="pic" sz="quarter" idx="13"/>
          </p:nvPr>
        </p:nvSpPr>
        <p:spPr>
          <a:xfrm>
            <a:off x="0" y="0"/>
            <a:ext cx="12192000" cy="3713018"/>
          </a:xfrm>
          <a:solidFill>
            <a:schemeClr val="bg1">
              <a:lumMod val="85000"/>
            </a:schemeClr>
          </a:solidFill>
        </p:spPr>
        <p:txBody>
          <a:bodyPr anchor="ctr">
            <a:normAutofit/>
          </a:bodyPr>
          <a:lstStyle>
            <a:lvl1pPr marL="0" indent="0" algn="ctr">
              <a:buNone/>
              <a:defRPr sz="2000"/>
            </a:lvl1pPr>
          </a:lstStyle>
          <a:p>
            <a:r>
              <a:rPr lang="en-US" noProof="0"/>
              <a:t>Click icon to add picture</a:t>
            </a:r>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5351690" y="3748188"/>
            <a:ext cx="1488621"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a16="http://schemas.microsoft.com/office/drawing/2014/main" id="{B34A1799-63F2-4B23-A188-7BAB23FB821F}"/>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18" name="Group 17">
            <a:extLst>
              <a:ext uri="{FF2B5EF4-FFF2-40B4-BE49-F238E27FC236}">
                <a16:creationId xmlns:a16="http://schemas.microsoft.com/office/drawing/2014/main" id="{65844635-8274-49B1-BBEC-354A0872E526}"/>
              </a:ext>
            </a:extLst>
          </p:cNvPr>
          <p:cNvGrpSpPr/>
          <p:nvPr userDrawn="1"/>
        </p:nvGrpSpPr>
        <p:grpSpPr>
          <a:xfrm>
            <a:off x="5721601" y="4594679"/>
            <a:ext cx="748798" cy="134113"/>
            <a:chOff x="4827813" y="2534636"/>
            <a:chExt cx="996651" cy="178504"/>
          </a:xfrm>
        </p:grpSpPr>
        <p:sp>
          <p:nvSpPr>
            <p:cNvPr id="19" name="Oval 18">
              <a:extLst>
                <a:ext uri="{FF2B5EF4-FFF2-40B4-BE49-F238E27FC236}">
                  <a16:creationId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2" name="Oval 21">
              <a:extLst>
                <a:ext uri="{FF2B5EF4-FFF2-40B4-BE49-F238E27FC236}">
                  <a16:creationId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427806385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hasCustomPrompt="1"/>
          </p:nvPr>
        </p:nvSpPr>
        <p:spPr>
          <a:xfrm>
            <a:off x="363416" y="246186"/>
            <a:ext cx="3206261" cy="1037492"/>
          </a:xfrm>
        </p:spPr>
        <p:txBody>
          <a:bodyPr lIns="0" tIns="0" rIns="0" bIns="0" anchor="b">
            <a:noAutofit/>
          </a:bodyPr>
          <a:lstStyle>
            <a:lvl1pPr>
              <a:defRPr sz="3200" b="1" cap="all" baseline="0"/>
            </a:lvl1pPr>
          </a:lstStyle>
          <a:p>
            <a:r>
              <a:rPr lang="en-US" noProof="0"/>
              <a:t>Title here</a:t>
            </a:r>
          </a:p>
        </p:txBody>
      </p:sp>
      <p:sp>
        <p:nvSpPr>
          <p:cNvPr id="3" name="Text Placeholder 2">
            <a:extLst>
              <a:ext uri="{FF2B5EF4-FFF2-40B4-BE49-F238E27FC236}">
                <a16:creationId xmlns:a16="http://schemas.microsoft.com/office/drawing/2014/main" id="{712D9B6D-CE43-4FB1-87C0-D3565E730242}"/>
              </a:ext>
            </a:extLst>
          </p:cNvPr>
          <p:cNvSpPr>
            <a:spLocks noGrp="1"/>
          </p:cNvSpPr>
          <p:nvPr>
            <p:ph type="body" idx="1" hasCustomPrompt="1"/>
          </p:nvPr>
        </p:nvSpPr>
        <p:spPr>
          <a:xfrm>
            <a:off x="4080986" y="2426274"/>
            <a:ext cx="3008434" cy="601087"/>
          </a:xfrm>
        </p:spPr>
        <p:txBody>
          <a:bodyPr lIns="0" tIns="0" rIns="0" bIns="0" anchor="b">
            <a:no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a:extLst>
              <a:ext uri="{FF2B5EF4-FFF2-40B4-BE49-F238E27FC236}">
                <a16:creationId xmlns:a16="http://schemas.microsoft.com/office/drawing/2014/main" id="{249D73CD-EB11-4ED6-80CF-B68320D57E91}"/>
              </a:ext>
            </a:extLst>
          </p:cNvPr>
          <p:cNvSpPr>
            <a:spLocks noGrp="1"/>
          </p:cNvSpPr>
          <p:nvPr>
            <p:ph sz="half" idx="2" hasCustomPrompt="1"/>
          </p:nvPr>
        </p:nvSpPr>
        <p:spPr>
          <a:xfrm>
            <a:off x="4080986" y="3097702"/>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1" name="Content Placeholder 16">
            <a:extLst>
              <a:ext uri="{FF2B5EF4-FFF2-40B4-BE49-F238E27FC236}">
                <a16:creationId xmlns:a16="http://schemas.microsoft.com/office/drawing/2014/main" id="{57889B18-CC7E-47A7-B83B-45D7871D298A}"/>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6" name="Group 5">
            <a:extLst>
              <a:ext uri="{FF2B5EF4-FFF2-40B4-BE49-F238E27FC236}">
                <a16:creationId xmlns:a16="http://schemas.microsoft.com/office/drawing/2014/main" id="{A6A27954-3A0E-430B-AD48-05A3F3278D70}"/>
              </a:ext>
            </a:extLst>
          </p:cNvPr>
          <p:cNvGrpSpPr/>
          <p:nvPr userDrawn="1"/>
        </p:nvGrpSpPr>
        <p:grpSpPr>
          <a:xfrm>
            <a:off x="-24056" y="1452564"/>
            <a:ext cx="3385227" cy="134113"/>
            <a:chOff x="-24055" y="1452565"/>
            <a:chExt cx="2374534" cy="0"/>
          </a:xfrm>
        </p:grpSpPr>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3639489" y="421045"/>
            <a:ext cx="0" cy="5768619"/>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a16="http://schemas.microsoft.com/office/drawing/2014/main" id="{A09F60F9-61AE-4464-B369-1CF86DB708DA}"/>
              </a:ext>
            </a:extLst>
          </p:cNvPr>
          <p:cNvSpPr>
            <a:spLocks noGrp="1"/>
          </p:cNvSpPr>
          <p:nvPr>
            <p:ph type="body" idx="15" hasCustomPrompt="1"/>
          </p:nvPr>
        </p:nvSpPr>
        <p:spPr>
          <a:xfrm>
            <a:off x="7870582" y="2426274"/>
            <a:ext cx="3008434" cy="601087"/>
          </a:xfrm>
        </p:spPr>
        <p:txBody>
          <a:bodyPr lIns="0" tIns="0" rIns="0" bIns="0" anchor="b">
            <a:no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0" name="Content Placeholder 3">
            <a:extLst>
              <a:ext uri="{FF2B5EF4-FFF2-40B4-BE49-F238E27FC236}">
                <a16:creationId xmlns:a16="http://schemas.microsoft.com/office/drawing/2014/main" id="{124CEF01-2C7C-4568-8A45-5F5A058ECFC1}"/>
              </a:ext>
            </a:extLst>
          </p:cNvPr>
          <p:cNvSpPr>
            <a:spLocks noGrp="1"/>
          </p:cNvSpPr>
          <p:nvPr>
            <p:ph sz="half" idx="16" hasCustomPrompt="1"/>
          </p:nvPr>
        </p:nvSpPr>
        <p:spPr>
          <a:xfrm>
            <a:off x="7870582" y="3097702"/>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Picture Placeholder 8">
            <a:extLst>
              <a:ext uri="{FF2B5EF4-FFF2-40B4-BE49-F238E27FC236}">
                <a16:creationId xmlns:a16="http://schemas.microsoft.com/office/drawing/2014/main" id="{BAF86618-E012-4E70-91E3-A72E71C63E64}"/>
              </a:ext>
            </a:extLst>
          </p:cNvPr>
          <p:cNvSpPr>
            <a:spLocks noGrp="1"/>
          </p:cNvSpPr>
          <p:nvPr>
            <p:ph type="pic" sz="quarter" idx="18" hasCustomPrompt="1"/>
          </p:nvPr>
        </p:nvSpPr>
        <p:spPr>
          <a:xfrm>
            <a:off x="4080986" y="1676296"/>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4" name="Picture Placeholder 8">
            <a:extLst>
              <a:ext uri="{FF2B5EF4-FFF2-40B4-BE49-F238E27FC236}">
                <a16:creationId xmlns:a16="http://schemas.microsoft.com/office/drawing/2014/main" id="{4FF378B9-734E-4C43-836C-CB80566DDB15}"/>
              </a:ext>
            </a:extLst>
          </p:cNvPr>
          <p:cNvSpPr>
            <a:spLocks noGrp="1"/>
          </p:cNvSpPr>
          <p:nvPr>
            <p:ph type="pic" sz="quarter" idx="19" hasCustomPrompt="1"/>
          </p:nvPr>
        </p:nvSpPr>
        <p:spPr>
          <a:xfrm>
            <a:off x="7868008" y="1676296"/>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5" name="Oval 24">
            <a:extLst>
              <a:ext uri="{FF2B5EF4-FFF2-40B4-BE49-F238E27FC236}">
                <a16:creationId xmlns:a16="http://schemas.microsoft.com/office/drawing/2014/main" id="{3F366940-FB5E-4B76-8829-80C14F137B3A}"/>
              </a:ext>
            </a:extLst>
          </p:cNvPr>
          <p:cNvSpPr/>
          <p:nvPr userDrawn="1"/>
        </p:nvSpPr>
        <p:spPr>
          <a:xfrm>
            <a:off x="10251393"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75486FFB-46EF-4E74-BFFF-7ED054DB0D9C}"/>
              </a:ext>
            </a:extLst>
          </p:cNvPr>
          <p:cNvSpPr/>
          <p:nvPr userDrawn="1"/>
        </p:nvSpPr>
        <p:spPr>
          <a:xfrm>
            <a:off x="9932986" y="330754"/>
            <a:ext cx="1268186"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Text Placeholder 2">
            <a:extLst>
              <a:ext uri="{FF2B5EF4-FFF2-40B4-BE49-F238E27FC236}">
                <a16:creationId xmlns:a16="http://schemas.microsoft.com/office/drawing/2014/main" id="{76F2CCF2-293A-49CA-B2A9-134BB5DEF98E}"/>
              </a:ext>
            </a:extLst>
          </p:cNvPr>
          <p:cNvSpPr>
            <a:spLocks noGrp="1"/>
          </p:cNvSpPr>
          <p:nvPr>
            <p:ph type="body" idx="20" hasCustomPrompt="1"/>
          </p:nvPr>
        </p:nvSpPr>
        <p:spPr>
          <a:xfrm>
            <a:off x="4080985" y="480157"/>
            <a:ext cx="6944563" cy="823912"/>
          </a:xfrm>
        </p:spPr>
        <p:txBody>
          <a:bodyPr lIns="0" tIns="0" rIns="0" bIns="0" anchor="ctr">
            <a:noAutofit/>
          </a:bodyPr>
          <a:lstStyle>
            <a:lvl1pPr marL="0" indent="0">
              <a:buNone/>
              <a:defRPr sz="2000" b="1">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grpSp>
        <p:nvGrpSpPr>
          <p:cNvPr id="27" name="Group 26">
            <a:extLst>
              <a:ext uri="{FF2B5EF4-FFF2-40B4-BE49-F238E27FC236}">
                <a16:creationId xmlns:a16="http://schemas.microsoft.com/office/drawing/2014/main" id="{6D35CCD2-B73F-944C-B572-7FBFC7DE22E4}"/>
              </a:ext>
            </a:extLst>
          </p:cNvPr>
          <p:cNvGrpSpPr/>
          <p:nvPr userDrawn="1"/>
        </p:nvGrpSpPr>
        <p:grpSpPr>
          <a:xfrm>
            <a:off x="363416" y="421045"/>
            <a:ext cx="748798" cy="134113"/>
            <a:chOff x="4827813" y="2534636"/>
            <a:chExt cx="996651" cy="178504"/>
          </a:xfrm>
        </p:grpSpPr>
        <p:sp>
          <p:nvSpPr>
            <p:cNvPr id="28" name="Oval 27">
              <a:extLst>
                <a:ext uri="{FF2B5EF4-FFF2-40B4-BE49-F238E27FC236}">
                  <a16:creationId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Oval 34">
              <a:extLst>
                <a:ext uri="{FF2B5EF4-FFF2-40B4-BE49-F238E27FC236}">
                  <a16:creationId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Oval 35">
              <a:extLst>
                <a:ext uri="{FF2B5EF4-FFF2-40B4-BE49-F238E27FC236}">
                  <a16:creationId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Oval 36">
              <a:extLst>
                <a:ext uri="{FF2B5EF4-FFF2-40B4-BE49-F238E27FC236}">
                  <a16:creationId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321905163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Image Vertical Purpl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A7389277-B3D3-4AEE-8BE0-0559A7396981}"/>
              </a:ext>
            </a:extLst>
          </p:cNvPr>
          <p:cNvSpPr>
            <a:spLocks noGrp="1"/>
          </p:cNvSpPr>
          <p:nvPr>
            <p:ph type="pic" sz="quarter" idx="13"/>
          </p:nvPr>
        </p:nvSpPr>
        <p:spPr>
          <a:xfrm>
            <a:off x="5316488" y="0"/>
            <a:ext cx="6875511" cy="6858000"/>
          </a:xfrm>
          <a:solidFill>
            <a:schemeClr val="bg1">
              <a:lumMod val="85000"/>
            </a:schemeClr>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4" name="Rectangle 3">
            <a:extLst>
              <a:ext uri="{FF2B5EF4-FFF2-40B4-BE49-F238E27FC236}">
                <a16:creationId xmlns:a16="http://schemas.microsoft.com/office/drawing/2014/main" id="{9536DA47-61AF-4CF1-8DF3-3721934D13E3}"/>
              </a:ext>
            </a:extLst>
          </p:cNvPr>
          <p:cNvSpPr/>
          <p:nvPr userDrawn="1"/>
        </p:nvSpPr>
        <p:spPr>
          <a:xfrm>
            <a:off x="0" y="0"/>
            <a:ext cx="5316488"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056FD760-FBDC-4410-A039-469F7931D3A3}"/>
              </a:ext>
            </a:extLst>
          </p:cNvPr>
          <p:cNvSpPr/>
          <p:nvPr userDrawn="1"/>
        </p:nvSpPr>
        <p:spPr>
          <a:xfrm>
            <a:off x="831850" y="1723292"/>
            <a:ext cx="5307246" cy="3745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384651" y="1087907"/>
            <a:ext cx="4468698" cy="1444275"/>
          </a:xfrm>
        </p:spPr>
        <p:txBody>
          <a:bodyPr vert="horz" lIns="91440" tIns="792000" rIns="91440" bIns="45720" rtlCol="0" anchor="t">
            <a:noAutofit/>
          </a:bodyPr>
          <a:lstStyle>
            <a:lvl1pPr algn="l">
              <a:defRPr lang="en-IN" sz="3600" b="1" cap="all" baseline="0">
                <a:solidFill>
                  <a:schemeClr val="bg1"/>
                </a:solidFill>
              </a:defRPr>
            </a:lvl1pPr>
          </a:lstStyle>
          <a:p>
            <a:pPr lvl="0"/>
            <a:r>
              <a:rPr lang="en-US" noProof="0"/>
              <a:t>TITLE HERE</a:t>
            </a:r>
          </a:p>
        </p:txBody>
      </p:sp>
      <p:sp>
        <p:nvSpPr>
          <p:cNvPr id="3" name="Text Placeholder 2">
            <a:extLst>
              <a:ext uri="{FF2B5EF4-FFF2-40B4-BE49-F238E27FC236}">
                <a16:creationId xmlns:a16="http://schemas.microsoft.com/office/drawing/2014/main" id="{6E8BFC94-FFEC-4290-AC27-760323F21BA3}"/>
              </a:ext>
            </a:extLst>
          </p:cNvPr>
          <p:cNvSpPr>
            <a:spLocks noGrp="1"/>
          </p:cNvSpPr>
          <p:nvPr>
            <p:ph type="body" idx="1" hasCustomPrompt="1"/>
          </p:nvPr>
        </p:nvSpPr>
        <p:spPr>
          <a:xfrm>
            <a:off x="368711" y="2552611"/>
            <a:ext cx="4097778" cy="1992819"/>
          </a:xfrm>
        </p:spPr>
        <p:txBody>
          <a:bodyPr vert="horz" lIns="91440" tIns="45720" rIns="91440" bIns="45720" rtlCol="0">
            <a:noAutofit/>
          </a:bodyPr>
          <a:lstStyle>
            <a:lvl1pPr marL="0" indent="0" algn="l">
              <a:lnSpc>
                <a:spcPct val="100000"/>
              </a:lnSpc>
              <a:buNone/>
              <a:defRPr lang="en-US" sz="1800" b="0" cap="none" baseline="0" dirty="0" smtClean="0">
                <a:solidFill>
                  <a:schemeClr val="bg1"/>
                </a:solidFill>
              </a:defRPr>
            </a:lvl1pPr>
          </a:lstStyle>
          <a:p>
            <a:pPr marL="228600" lvl="0" indent="-228600"/>
            <a:r>
              <a:rPr lang="en-US" noProof="0"/>
              <a:t>Edit Master text styles</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454991" y="1620451"/>
            <a:ext cx="148862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a16="http://schemas.microsoft.com/office/drawing/2014/main" id="{B34A1799-63F2-4B23-A188-7BAB23FB821F}"/>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13" name="Group 12">
            <a:extLst>
              <a:ext uri="{FF2B5EF4-FFF2-40B4-BE49-F238E27FC236}">
                <a16:creationId xmlns:a16="http://schemas.microsoft.com/office/drawing/2014/main" id="{C5F2EA84-5150-479B-86D5-F4BAE1263488}"/>
              </a:ext>
            </a:extLst>
          </p:cNvPr>
          <p:cNvGrpSpPr/>
          <p:nvPr userDrawn="1"/>
        </p:nvGrpSpPr>
        <p:grpSpPr>
          <a:xfrm flipH="1">
            <a:off x="1130928" y="4803540"/>
            <a:ext cx="3616779" cy="3522776"/>
            <a:chOff x="2555621" y="3917613"/>
            <a:chExt cx="3616779" cy="3522776"/>
          </a:xfrm>
        </p:grpSpPr>
        <p:sp>
          <p:nvSpPr>
            <p:cNvPr id="15" name="Oval 14">
              <a:extLst>
                <a:ext uri="{FF2B5EF4-FFF2-40B4-BE49-F238E27FC236}">
                  <a16:creationId xmlns:a16="http://schemas.microsoft.com/office/drawing/2014/main" id="{C0699C4B-8D8E-47E2-A0C5-D71C25ABAC72}"/>
                </a:ext>
              </a:extLst>
            </p:cNvPr>
            <p:cNvSpPr/>
            <p:nvPr userDrawn="1"/>
          </p:nvSpPr>
          <p:spPr>
            <a:xfrm>
              <a:off x="2874028" y="4142017"/>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2F607AB9-31A7-4B79-9AFE-0DFDB792E20C}"/>
                </a:ext>
              </a:extLst>
            </p:cNvPr>
            <p:cNvSpPr/>
            <p:nvPr userDrawn="1"/>
          </p:nvSpPr>
          <p:spPr>
            <a:xfrm>
              <a:off x="2555621" y="3917613"/>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94174930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CABAC-B403-4354-A27F-4C38B08C1D3F}"/>
              </a:ext>
            </a:extLst>
          </p:cNvPr>
          <p:cNvSpPr>
            <a:spLocks noGrp="1"/>
          </p:cNvSpPr>
          <p:nvPr>
            <p:ph type="title" hasCustomPrompt="1"/>
          </p:nvPr>
        </p:nvSpPr>
        <p:spPr>
          <a:xfrm>
            <a:off x="4712885" y="2704121"/>
            <a:ext cx="6556248" cy="750278"/>
          </a:xfrm>
        </p:spPr>
        <p:txBody>
          <a:bodyPr/>
          <a:lstStyle>
            <a:lvl1pPr>
              <a:defRPr lang="en-US" sz="4800" b="1" kern="1200" cap="all" baseline="0" smtClean="0">
                <a:solidFill>
                  <a:schemeClr val="tx1"/>
                </a:solidFill>
                <a:latin typeface="+mn-lt"/>
                <a:ea typeface="+mn-ea"/>
                <a:cs typeface="+mn-cs"/>
              </a:defRPr>
            </a:lvl1pPr>
          </a:lstStyle>
          <a:p>
            <a:r>
              <a:rPr lang="en-US" noProof="0"/>
              <a:t>Thank You</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30-Dec-21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3760408"/>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F0C7F772-E2DA-4B13-AC2E-28A0EE6D8465}"/>
              </a:ext>
            </a:extLst>
          </p:cNvPr>
          <p:cNvSpPr>
            <a:spLocks noGrp="1"/>
          </p:cNvSpPr>
          <p:nvPr>
            <p:ph type="pic" sz="quarter" idx="13"/>
          </p:nvPr>
        </p:nvSpPr>
        <p:spPr>
          <a:xfrm>
            <a:off x="0" y="1"/>
            <a:ext cx="4424363" cy="6858000"/>
          </a:xfrm>
          <a:solidFill>
            <a:schemeClr val="bg2"/>
          </a:solidFill>
        </p:spPr>
        <p:txBody>
          <a:bodyPr anchor="ctr"/>
          <a:lstStyle>
            <a:lvl1pPr marL="0" indent="0" algn="ctr">
              <a:buNone/>
              <a:defRPr/>
            </a:lvl1pPr>
          </a:lstStyle>
          <a:p>
            <a:r>
              <a:rPr lang="en-US" noProof="0"/>
              <a:t>Click icon to add picture</a:t>
            </a:r>
            <a:endParaRPr lang="en-US" noProof="0" dirty="0"/>
          </a:p>
        </p:txBody>
      </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3" name="Graphic 22" descr="Envelope">
            <a:extLst>
              <a:ext uri="{FF2B5EF4-FFF2-40B4-BE49-F238E27FC236}">
                <a16:creationId xmlns:a16="http://schemas.microsoft.com/office/drawing/2014/main" id="{3C32C7E5-809C-4E12-8962-1B868951E67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834803" y="4029040"/>
            <a:ext cx="469232" cy="469232"/>
          </a:xfrm>
          <a:prstGeom prst="rect">
            <a:avLst/>
          </a:prstGeom>
        </p:spPr>
      </p:pic>
      <p:sp>
        <p:nvSpPr>
          <p:cNvPr id="34" name="Subtitle 2">
            <a:extLst>
              <a:ext uri="{FF2B5EF4-FFF2-40B4-BE49-F238E27FC236}">
                <a16:creationId xmlns:a16="http://schemas.microsoft.com/office/drawing/2014/main" id="{31AD270F-1692-4526-B979-6B5945A20D90}"/>
              </a:ext>
            </a:extLst>
          </p:cNvPr>
          <p:cNvSpPr>
            <a:spLocks noGrp="1"/>
          </p:cNvSpPr>
          <p:nvPr>
            <p:ph type="subTitle" idx="1"/>
          </p:nvPr>
        </p:nvSpPr>
        <p:spPr>
          <a:xfrm>
            <a:off x="5406809" y="4126311"/>
            <a:ext cx="3640478" cy="433938"/>
          </a:xfrm>
        </p:spPr>
        <p:txBody>
          <a:bodyPr>
            <a:normAutofit/>
          </a:bodyPr>
          <a:lstStyle>
            <a:lvl1pPr marL="0" indent="0" algn="l">
              <a:buNone/>
              <a:defRPr sz="1800" b="0" cap="none"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39" name="Content Placeholder 38">
            <a:extLst>
              <a:ext uri="{FF2B5EF4-FFF2-40B4-BE49-F238E27FC236}">
                <a16:creationId xmlns:a16="http://schemas.microsoft.com/office/drawing/2014/main" id="{382940E6-7963-411F-B35A-57121171A988}"/>
              </a:ext>
            </a:extLst>
          </p:cNvPr>
          <p:cNvSpPr>
            <a:spLocks noGrp="1"/>
          </p:cNvSpPr>
          <p:nvPr>
            <p:ph sz="quarter" idx="15" hasCustomPrompt="1"/>
          </p:nvPr>
        </p:nvSpPr>
        <p:spPr>
          <a:xfrm>
            <a:off x="5408614" y="4836222"/>
            <a:ext cx="3638674" cy="453938"/>
          </a:xfrm>
        </p:spPr>
        <p:txBody>
          <a:bodyPr vert="horz" lIns="91440" tIns="45720" rIns="91440" bIns="45720" rtlCol="0">
            <a:normAutofit/>
          </a:bodyPr>
          <a:lstStyle>
            <a:lvl1pPr marL="0" indent="0">
              <a:buNone/>
              <a:defRPr lang="en-US" sz="1800" b="0" cap="none" baseline="0" dirty="0" smtClean="0"/>
            </a:lvl1pPr>
            <a:lvl2pPr>
              <a:defRPr lang="en-US" sz="2000" dirty="0" smtClean="0"/>
            </a:lvl2pPr>
            <a:lvl3pPr>
              <a:defRPr lang="en-US" sz="1800" dirty="0" smtClean="0"/>
            </a:lvl3pPr>
            <a:lvl4pPr>
              <a:defRPr lang="en-US" sz="1600" dirty="0" smtClean="0"/>
            </a:lvl4pPr>
            <a:lvl5pPr>
              <a:defRPr lang="en-IN" sz="1600" dirty="0"/>
            </a:lvl5pPr>
          </a:lstStyle>
          <a:p>
            <a:pPr marL="228600" lvl="0" indent="-228600"/>
            <a:r>
              <a:rPr lang="en-US" noProof="0"/>
              <a:t>Edit Master text styles</a:t>
            </a:r>
          </a:p>
        </p:txBody>
      </p:sp>
      <p:grpSp>
        <p:nvGrpSpPr>
          <p:cNvPr id="20" name="Group 19">
            <a:extLst>
              <a:ext uri="{FF2B5EF4-FFF2-40B4-BE49-F238E27FC236}">
                <a16:creationId xmlns:a16="http://schemas.microsoft.com/office/drawing/2014/main" id="{1F8FC2D7-B114-3444-8684-995FC4D6D459}"/>
              </a:ext>
            </a:extLst>
          </p:cNvPr>
          <p:cNvGrpSpPr/>
          <p:nvPr userDrawn="1"/>
        </p:nvGrpSpPr>
        <p:grpSpPr>
          <a:xfrm>
            <a:off x="4793474" y="2475187"/>
            <a:ext cx="748798" cy="134113"/>
            <a:chOff x="4827813" y="2534636"/>
            <a:chExt cx="996651" cy="178504"/>
          </a:xfrm>
        </p:grpSpPr>
        <p:sp>
          <p:nvSpPr>
            <p:cNvPr id="21" name="Oval 20">
              <a:extLst>
                <a:ext uri="{FF2B5EF4-FFF2-40B4-BE49-F238E27FC236}">
                  <a16:creationId xmlns:a16="http://schemas.microsoft.com/office/drawing/2014/main" id="{CEE45073-ED8E-0544-85FA-9AF5A478417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Oval 21">
              <a:extLst>
                <a:ext uri="{FF2B5EF4-FFF2-40B4-BE49-F238E27FC236}">
                  <a16:creationId xmlns:a16="http://schemas.microsoft.com/office/drawing/2014/main" id="{B8BAF06E-A8A8-484C-8F6C-E42EDC46BBCB}"/>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Oval 23">
              <a:extLst>
                <a:ext uri="{FF2B5EF4-FFF2-40B4-BE49-F238E27FC236}">
                  <a16:creationId xmlns:a16="http://schemas.microsoft.com/office/drawing/2014/main" id="{586EB62D-13C7-6E43-9D98-B706D2B9ADDF}"/>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6" name="Oval 25">
              <a:extLst>
                <a:ext uri="{FF2B5EF4-FFF2-40B4-BE49-F238E27FC236}">
                  <a16:creationId xmlns:a16="http://schemas.microsoft.com/office/drawing/2014/main" id="{35CF3453-ED5A-024D-8815-C08EFA13D1A6}"/>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pic>
        <p:nvPicPr>
          <p:cNvPr id="3" name="Graphic 2" descr="Link">
            <a:extLst>
              <a:ext uri="{FF2B5EF4-FFF2-40B4-BE49-F238E27FC236}">
                <a16:creationId xmlns:a16="http://schemas.microsoft.com/office/drawing/2014/main" id="{16E3F5A0-978F-8D46-BBFB-19A7F7883D93}"/>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787152" y="4809677"/>
            <a:ext cx="542081" cy="542081"/>
          </a:xfrm>
          <a:prstGeom prst="rect">
            <a:avLst/>
          </a:prstGeom>
        </p:spPr>
      </p:pic>
    </p:spTree>
    <p:extLst>
      <p:ext uri="{BB962C8B-B14F-4D97-AF65-F5344CB8AC3E}">
        <p14:creationId xmlns:p14="http://schemas.microsoft.com/office/powerpoint/2010/main" val="348435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2E5-8FA2-4056-805F-EF36F7066893}"/>
              </a:ext>
            </a:extLst>
          </p:cNvPr>
          <p:cNvSpPr>
            <a:spLocks noGrp="1"/>
          </p:cNvSpPr>
          <p:nvPr>
            <p:ph type="ctrTitle" hasCustomPrompt="1"/>
          </p:nvPr>
        </p:nvSpPr>
        <p:spPr>
          <a:xfrm>
            <a:off x="4686300" y="2726872"/>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a16="http://schemas.microsoft.com/office/drawing/2014/main" id="{1C085D6F-874B-44F8-B241-51EF13CA9C8B}"/>
              </a:ext>
            </a:extLst>
          </p:cNvPr>
          <p:cNvSpPr>
            <a:spLocks noGrp="1"/>
          </p:cNvSpPr>
          <p:nvPr>
            <p:ph type="subTitle" idx="1"/>
          </p:nvPr>
        </p:nvSpPr>
        <p:spPr>
          <a:xfrm>
            <a:off x="4686300" y="3569380"/>
            <a:ext cx="7233557" cy="365125"/>
          </a:xfrm>
        </p:spPr>
        <p:txBody>
          <a:bodyPr lIns="0">
            <a:norm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30-Dec-21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4082142"/>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CBCF8A4-C2B4-4945-8D79-C9D46B7FBECB}"/>
              </a:ext>
            </a:extLst>
          </p:cNvPr>
          <p:cNvGrpSpPr/>
          <p:nvPr userDrawn="1"/>
        </p:nvGrpSpPr>
        <p:grpSpPr>
          <a:xfrm>
            <a:off x="4793474" y="2475187"/>
            <a:ext cx="748798" cy="134113"/>
            <a:chOff x="4827813" y="2534636"/>
            <a:chExt cx="996651" cy="178504"/>
          </a:xfrm>
        </p:grpSpPr>
        <p:sp>
          <p:nvSpPr>
            <p:cNvPr id="9" name="Oval 8">
              <a:extLst>
                <a:ext uri="{FF2B5EF4-FFF2-40B4-BE49-F238E27FC236}">
                  <a16:creationId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Oval 11">
              <a:extLst>
                <a:ext uri="{FF2B5EF4-FFF2-40B4-BE49-F238E27FC236}">
                  <a16:creationId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25F8A1A8-E078-4836-ABD1-CD4E75BBF58F}"/>
              </a:ext>
            </a:extLst>
          </p:cNvPr>
          <p:cNvSpPr/>
          <p:nvPr userDrawn="1"/>
        </p:nvSpPr>
        <p:spPr>
          <a:xfrm>
            <a:off x="0" y="0"/>
            <a:ext cx="4424363"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961775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5679220"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1107978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10039330" y="8968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9720923" y="672411"/>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7508020"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A55704E-D515-4774-90C6-5F887DDAE55E}"/>
              </a:ext>
            </a:extLst>
          </p:cNvPr>
          <p:cNvSpPr/>
          <p:nvPr userDrawn="1"/>
        </p:nvSpPr>
        <p:spPr>
          <a:xfrm>
            <a:off x="469044" y="1"/>
            <a:ext cx="5210176" cy="59610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Connector 22">
            <a:extLst>
              <a:ext uri="{FF2B5EF4-FFF2-40B4-BE49-F238E27FC236}">
                <a16:creationId xmlns:a16="http://schemas.microsoft.com/office/drawing/2014/main" id="{84878778-0299-471F-A4C9-D0C1E82ED8D2}"/>
              </a:ext>
            </a:extLst>
          </p:cNvPr>
          <p:cNvCxnSpPr>
            <a:cxnSpLocks/>
          </p:cNvCxnSpPr>
          <p:nvPr userDrawn="1"/>
        </p:nvCxnSpPr>
        <p:spPr>
          <a:xfrm>
            <a:off x="1001746" y="1290512"/>
            <a:ext cx="148862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E39D1C78-6110-4052-8455-7E7893F7FCD3}"/>
              </a:ext>
            </a:extLst>
          </p:cNvPr>
          <p:cNvSpPr>
            <a:spLocks noGrp="1"/>
          </p:cNvSpPr>
          <p:nvPr>
            <p:ph type="title"/>
          </p:nvPr>
        </p:nvSpPr>
        <p:spPr>
          <a:xfrm>
            <a:off x="915466" y="1276857"/>
            <a:ext cx="4097778" cy="1255325"/>
          </a:xfrm>
        </p:spPr>
        <p:txBody>
          <a:bodyPr/>
          <a:lstStyle>
            <a:lvl1pPr>
              <a:defRPr lang="en-US" sz="3600" b="1" kern="1200" cap="all" baseline="0" smtClean="0">
                <a:solidFill>
                  <a:schemeClr val="bg1"/>
                </a:solidFill>
                <a:latin typeface="+mj-lt"/>
                <a:ea typeface="+mj-ea"/>
                <a:cs typeface="+mj-cs"/>
              </a:defRPr>
            </a:lvl1pPr>
          </a:lstStyle>
          <a:p>
            <a:r>
              <a:rPr lang="en-US" noProof="0"/>
              <a:t>Click to edit Master title style</a:t>
            </a:r>
          </a:p>
        </p:txBody>
      </p:sp>
      <p:sp>
        <p:nvSpPr>
          <p:cNvPr id="24" name="Text Placeholder 2">
            <a:extLst>
              <a:ext uri="{FF2B5EF4-FFF2-40B4-BE49-F238E27FC236}">
                <a16:creationId xmlns:a16="http://schemas.microsoft.com/office/drawing/2014/main" id="{E3405997-7AE2-4C6E-8A7D-735F58A49D12}"/>
              </a:ext>
            </a:extLst>
          </p:cNvPr>
          <p:cNvSpPr>
            <a:spLocks noGrp="1"/>
          </p:cNvSpPr>
          <p:nvPr>
            <p:ph type="body" idx="1" hasCustomPrompt="1"/>
          </p:nvPr>
        </p:nvSpPr>
        <p:spPr>
          <a:xfrm>
            <a:off x="915467" y="2620651"/>
            <a:ext cx="4097778" cy="1933681"/>
          </a:xfrm>
        </p:spPr>
        <p:txBody>
          <a:bodyPr vert="horz" lIns="91440" tIns="45720" rIns="91440" bIns="45720" rtlCol="0">
            <a:noAutofit/>
          </a:bodyPr>
          <a:lstStyle>
            <a:lvl1pPr>
              <a:defRPr lang="en-US" b="0" cap="none" baseline="0">
                <a:solidFill>
                  <a:schemeClr val="bg1"/>
                </a:solidFill>
              </a:defRPr>
            </a:lvl1pPr>
          </a:lstStyle>
          <a:p>
            <a:pPr lvl="0">
              <a:lnSpc>
                <a:spcPct val="100000"/>
              </a:lnSpc>
              <a:buNone/>
            </a:pPr>
            <a:r>
              <a:rPr lang="en-US" noProof="0"/>
              <a:t>Edit Master text styles</a:t>
            </a:r>
          </a:p>
        </p:txBody>
      </p:sp>
    </p:spTree>
    <p:extLst>
      <p:ext uri="{BB962C8B-B14F-4D97-AF65-F5344CB8AC3E}">
        <p14:creationId xmlns:p14="http://schemas.microsoft.com/office/powerpoint/2010/main" val="293153372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5" name="Text Placeholder 2">
            <a:extLst>
              <a:ext uri="{FF2B5EF4-FFF2-40B4-BE49-F238E27FC236}">
                <a16:creationId xmlns:a16="http://schemas.microsoft.com/office/drawing/2014/main" id="{BE814D66-F00F-0D44-AD03-889FEE787EB6}"/>
              </a:ext>
            </a:extLst>
          </p:cNvPr>
          <p:cNvSpPr>
            <a:spLocks noGrp="1"/>
          </p:cNvSpPr>
          <p:nvPr>
            <p:ph idx="1" hasCustomPrompt="1"/>
          </p:nvPr>
        </p:nvSpPr>
        <p:spPr>
          <a:xfrm>
            <a:off x="363416"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2">
            <a:extLst>
              <a:ext uri="{FF2B5EF4-FFF2-40B4-BE49-F238E27FC236}">
                <a16:creationId xmlns:a16="http://schemas.microsoft.com/office/drawing/2014/main" id="{FF9B990C-5D9C-4A90-AC73-5889BC9F755C}"/>
              </a:ext>
            </a:extLst>
          </p:cNvPr>
          <p:cNvSpPr>
            <a:spLocks noGrp="1"/>
          </p:cNvSpPr>
          <p:nvPr>
            <p:ph type="title" hasCustomPrompt="1"/>
          </p:nvPr>
        </p:nvSpPr>
        <p:spPr/>
        <p:txBody>
          <a:bodyPr/>
          <a:lstStyle/>
          <a:p>
            <a:r>
              <a:rPr lang="en-US" noProof="0"/>
              <a:t>CLICK TO EDIT MASTER TITLE STYLE</a:t>
            </a:r>
          </a:p>
        </p:txBody>
      </p:sp>
      <p:sp>
        <p:nvSpPr>
          <p:cNvPr id="16" name="Oval 15">
            <a:extLst>
              <a:ext uri="{FF2B5EF4-FFF2-40B4-BE49-F238E27FC236}">
                <a16:creationId xmlns:a16="http://schemas.microsoft.com/office/drawing/2014/main" id="{44C85E5F-5B5E-48CC-8469-0263621D91FF}"/>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Oval 16">
            <a:extLst>
              <a:ext uri="{FF2B5EF4-FFF2-40B4-BE49-F238E27FC236}">
                <a16:creationId xmlns:a16="http://schemas.microsoft.com/office/drawing/2014/main" id="{7EE4E300-6C8E-4262-BE1D-587C7B70E7ED}"/>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2897028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6" name="Content Placeholder 3">
            <a:extLst>
              <a:ext uri="{FF2B5EF4-FFF2-40B4-BE49-F238E27FC236}">
                <a16:creationId xmlns:a16="http://schemas.microsoft.com/office/drawing/2014/main" id="{6E22FA8C-3243-4716-A6BD-F37D6058FB43}"/>
              </a:ext>
            </a:extLst>
          </p:cNvPr>
          <p:cNvSpPr>
            <a:spLocks noGrp="1"/>
          </p:cNvSpPr>
          <p:nvPr>
            <p:ph sz="half" idx="2" hasCustomPrompt="1"/>
          </p:nvPr>
        </p:nvSpPr>
        <p:spPr>
          <a:xfrm>
            <a:off x="6347381" y="1825625"/>
            <a:ext cx="5481203"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Placeholder 2">
            <a:extLst>
              <a:ext uri="{FF2B5EF4-FFF2-40B4-BE49-F238E27FC236}">
                <a16:creationId xmlns:a16="http://schemas.microsoft.com/office/drawing/2014/main" id="{8ABE3FD8-339C-4F75-876F-8347ADE67E94}"/>
              </a:ext>
            </a:extLst>
          </p:cNvPr>
          <p:cNvSpPr>
            <a:spLocks noGrp="1"/>
          </p:cNvSpPr>
          <p:nvPr>
            <p:ph sz="half" idx="1" hasCustomPrompt="1"/>
          </p:nvPr>
        </p:nvSpPr>
        <p:spPr>
          <a:xfrm>
            <a:off x="363416" y="1825625"/>
            <a:ext cx="5481203"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Oval 24">
            <a:extLst>
              <a:ext uri="{FF2B5EF4-FFF2-40B4-BE49-F238E27FC236}">
                <a16:creationId xmlns:a16="http://schemas.microsoft.com/office/drawing/2014/main" id="{E72FB389-5EA4-4084-B7A2-A4D0A43561F6}"/>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F7783FE1-0115-4345-89B2-C073569FB8EE}"/>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7366146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27" name="Text Placeholder 4">
            <a:extLst>
              <a:ext uri="{FF2B5EF4-FFF2-40B4-BE49-F238E27FC236}">
                <a16:creationId xmlns:a16="http://schemas.microsoft.com/office/drawing/2014/main" id="{9F73353B-C50B-4A8A-87CF-657C1EB8940F}"/>
              </a:ext>
            </a:extLst>
          </p:cNvPr>
          <p:cNvSpPr>
            <a:spLocks noGrp="1"/>
          </p:cNvSpPr>
          <p:nvPr>
            <p:ph type="body" sz="quarter" idx="3" hasCustomPrompt="1"/>
          </p:nvPr>
        </p:nvSpPr>
        <p:spPr>
          <a:xfrm>
            <a:off x="6347380" y="1681163"/>
            <a:ext cx="548120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8" name="Content Placeholder 5">
            <a:extLst>
              <a:ext uri="{FF2B5EF4-FFF2-40B4-BE49-F238E27FC236}">
                <a16:creationId xmlns:a16="http://schemas.microsoft.com/office/drawing/2014/main" id="{5EFF7F5E-3221-4390-9B17-D1944365BF12}"/>
              </a:ext>
            </a:extLst>
          </p:cNvPr>
          <p:cNvSpPr>
            <a:spLocks noGrp="1"/>
          </p:cNvSpPr>
          <p:nvPr>
            <p:ph sz="quarter" idx="4" hasCustomPrompt="1"/>
          </p:nvPr>
        </p:nvSpPr>
        <p:spPr>
          <a:xfrm>
            <a:off x="6347379" y="2586215"/>
            <a:ext cx="5481203"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Text Placeholder 2">
            <a:extLst>
              <a:ext uri="{FF2B5EF4-FFF2-40B4-BE49-F238E27FC236}">
                <a16:creationId xmlns:a16="http://schemas.microsoft.com/office/drawing/2014/main" id="{9506B516-77C1-431B-A8A5-68FA5D4B6D7E}"/>
              </a:ext>
            </a:extLst>
          </p:cNvPr>
          <p:cNvSpPr>
            <a:spLocks noGrp="1"/>
          </p:cNvSpPr>
          <p:nvPr>
            <p:ph type="body" idx="1" hasCustomPrompt="1"/>
          </p:nvPr>
        </p:nvSpPr>
        <p:spPr>
          <a:xfrm>
            <a:off x="363416" y="1681163"/>
            <a:ext cx="54812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30" name="Content Placeholder 3">
            <a:extLst>
              <a:ext uri="{FF2B5EF4-FFF2-40B4-BE49-F238E27FC236}">
                <a16:creationId xmlns:a16="http://schemas.microsoft.com/office/drawing/2014/main" id="{860F1452-CAB9-4154-ADCC-9245E71D0D2C}"/>
              </a:ext>
            </a:extLst>
          </p:cNvPr>
          <p:cNvSpPr>
            <a:spLocks noGrp="1"/>
          </p:cNvSpPr>
          <p:nvPr>
            <p:ph sz="half" idx="2" hasCustomPrompt="1"/>
          </p:nvPr>
        </p:nvSpPr>
        <p:spPr>
          <a:xfrm>
            <a:off x="363416" y="2586215"/>
            <a:ext cx="5481202"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 name="Oval 30">
            <a:extLst>
              <a:ext uri="{FF2B5EF4-FFF2-40B4-BE49-F238E27FC236}">
                <a16:creationId xmlns:a16="http://schemas.microsoft.com/office/drawing/2014/main" id="{12892DF4-5A8A-4E92-A425-210ABE570F58}"/>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Oval 31">
            <a:extLst>
              <a:ext uri="{FF2B5EF4-FFF2-40B4-BE49-F238E27FC236}">
                <a16:creationId xmlns:a16="http://schemas.microsoft.com/office/drawing/2014/main" id="{99AE2680-A46C-4B06-9ED9-53E617C1F174}"/>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5527855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831850"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5351690" y="3748188"/>
            <a:ext cx="1488621"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65844635-8274-49B1-BBEC-354A0872E526}"/>
              </a:ext>
            </a:extLst>
          </p:cNvPr>
          <p:cNvGrpSpPr/>
          <p:nvPr userDrawn="1"/>
        </p:nvGrpSpPr>
        <p:grpSpPr>
          <a:xfrm>
            <a:off x="5721601" y="4594679"/>
            <a:ext cx="748798" cy="134113"/>
            <a:chOff x="4827813" y="2534636"/>
            <a:chExt cx="996651" cy="178504"/>
          </a:xfrm>
        </p:grpSpPr>
        <p:sp>
          <p:nvSpPr>
            <p:cNvPr id="19" name="Oval 18">
              <a:extLst>
                <a:ext uri="{FF2B5EF4-FFF2-40B4-BE49-F238E27FC236}">
                  <a16:creationId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2" name="Oval 21">
              <a:extLst>
                <a:ext uri="{FF2B5EF4-FFF2-40B4-BE49-F238E27FC236}">
                  <a16:creationId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3" name="Text Placeholder 3">
            <a:extLst>
              <a:ext uri="{FF2B5EF4-FFF2-40B4-BE49-F238E27FC236}">
                <a16:creationId xmlns:a16="http://schemas.microsoft.com/office/drawing/2014/main" id="{86E0573A-023B-4D1C-8224-56A5D0DDF379}"/>
              </a:ext>
            </a:extLst>
          </p:cNvPr>
          <p:cNvSpPr>
            <a:spLocks noGrp="1"/>
          </p:cNvSpPr>
          <p:nvPr>
            <p:ph type="body" sz="half" idx="2" hasCustomPrompt="1"/>
          </p:nvPr>
        </p:nvSpPr>
        <p:spPr>
          <a:xfrm>
            <a:off x="839788" y="4839679"/>
            <a:ext cx="10507662" cy="1305379"/>
          </a:xfrm>
        </p:spPr>
        <p:txBody>
          <a:bodyPr vert="horz" lIns="91440" tIns="45720" rIns="91440" bIns="45720" rtlCol="0">
            <a:noAutofit/>
          </a:bodyPr>
          <a:lstStyle>
            <a:lvl1pPr marL="0" indent="0" algn="ctr">
              <a:buNone/>
              <a:defRPr lang="en-US" b="0" cap="none" baseline="0"/>
            </a:lvl1pPr>
          </a:lstStyle>
          <a:p>
            <a:pPr marL="228600" lvl="0" indent="-228600" algn="ctr">
              <a:lnSpc>
                <a:spcPct val="100000"/>
              </a:lnSpc>
            </a:pPr>
            <a:r>
              <a:rPr lang="en-US" noProof="0"/>
              <a:t>Edit Master text styles</a:t>
            </a:r>
          </a:p>
        </p:txBody>
      </p:sp>
      <p:sp>
        <p:nvSpPr>
          <p:cNvPr id="15" name="Picture Placeholder 2">
            <a:extLst>
              <a:ext uri="{FF2B5EF4-FFF2-40B4-BE49-F238E27FC236}">
                <a16:creationId xmlns:a16="http://schemas.microsoft.com/office/drawing/2014/main" id="{12087456-C0E8-4AA6-81E8-996CEC037E57}"/>
              </a:ext>
            </a:extLst>
          </p:cNvPr>
          <p:cNvSpPr>
            <a:spLocks noGrp="1"/>
          </p:cNvSpPr>
          <p:nvPr>
            <p:ph type="pic" idx="1"/>
          </p:nvPr>
        </p:nvSpPr>
        <p:spPr>
          <a:xfrm>
            <a:off x="0" y="1"/>
            <a:ext cx="12192000" cy="3713017"/>
          </a:xfrm>
          <a:solidFill>
            <a:schemeClr val="bg1">
              <a:lumMod val="85000"/>
            </a:schemeClr>
          </a:solidFill>
        </p:spPr>
        <p:txBody>
          <a:bodyPr vert="horz" lIns="91440" tIns="45720" rIns="91440" bIns="45720" rtlCol="0" anchor="ctr">
            <a:normAutofit/>
          </a:bodyPr>
          <a:lstStyle>
            <a:lvl1pPr>
              <a:defRPr lang="en-US" sz="2000" dirty="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182119214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hasCustomPrompt="1"/>
          </p:nvPr>
        </p:nvSpPr>
        <p:spPr>
          <a:xfrm>
            <a:off x="363416" y="246186"/>
            <a:ext cx="3206261" cy="1037492"/>
          </a:xfrm>
        </p:spPr>
        <p:txBody>
          <a:bodyPr lIns="0" tIns="0" rIns="0" bIns="0" anchor="b">
            <a:noAutofit/>
          </a:bodyPr>
          <a:lstStyle>
            <a:lvl1pPr>
              <a:defRPr sz="3200" b="1" cap="all" baseline="0"/>
            </a:lvl1pPr>
          </a:lstStyle>
          <a:p>
            <a:r>
              <a:rPr lang="en-US" noProof="0"/>
              <a:t>Title here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6" name="Group 5">
            <a:extLst>
              <a:ext uri="{FF2B5EF4-FFF2-40B4-BE49-F238E27FC236}">
                <a16:creationId xmlns:a16="http://schemas.microsoft.com/office/drawing/2014/main" id="{A6A27954-3A0E-430B-AD48-05A3F3278D70}"/>
              </a:ext>
            </a:extLst>
          </p:cNvPr>
          <p:cNvGrpSpPr/>
          <p:nvPr userDrawn="1"/>
        </p:nvGrpSpPr>
        <p:grpSpPr>
          <a:xfrm>
            <a:off x="-24056" y="1452564"/>
            <a:ext cx="3385227" cy="134113"/>
            <a:chOff x="-24055" y="1452565"/>
            <a:chExt cx="2374534" cy="0"/>
          </a:xfrm>
        </p:grpSpPr>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5" name="Oval 24">
            <a:extLst>
              <a:ext uri="{FF2B5EF4-FFF2-40B4-BE49-F238E27FC236}">
                <a16:creationId xmlns:a16="http://schemas.microsoft.com/office/drawing/2014/main" id="{3F366940-FB5E-4B76-8829-80C14F137B3A}"/>
              </a:ext>
            </a:extLst>
          </p:cNvPr>
          <p:cNvSpPr/>
          <p:nvPr userDrawn="1"/>
        </p:nvSpPr>
        <p:spPr>
          <a:xfrm>
            <a:off x="10251393"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75486FFB-46EF-4E74-BFFF-7ED054DB0D9C}"/>
              </a:ext>
            </a:extLst>
          </p:cNvPr>
          <p:cNvSpPr/>
          <p:nvPr userDrawn="1"/>
        </p:nvSpPr>
        <p:spPr>
          <a:xfrm>
            <a:off x="9932986" y="330754"/>
            <a:ext cx="1268186"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7" name="Group 26">
            <a:extLst>
              <a:ext uri="{FF2B5EF4-FFF2-40B4-BE49-F238E27FC236}">
                <a16:creationId xmlns:a16="http://schemas.microsoft.com/office/drawing/2014/main" id="{6D35CCD2-B73F-944C-B572-7FBFC7DE22E4}"/>
              </a:ext>
            </a:extLst>
          </p:cNvPr>
          <p:cNvGrpSpPr/>
          <p:nvPr userDrawn="1"/>
        </p:nvGrpSpPr>
        <p:grpSpPr>
          <a:xfrm>
            <a:off x="363416" y="421045"/>
            <a:ext cx="748798" cy="134113"/>
            <a:chOff x="4827813" y="2534636"/>
            <a:chExt cx="996651" cy="178504"/>
          </a:xfrm>
        </p:grpSpPr>
        <p:sp>
          <p:nvSpPr>
            <p:cNvPr id="28" name="Oval 27">
              <a:extLst>
                <a:ext uri="{FF2B5EF4-FFF2-40B4-BE49-F238E27FC236}">
                  <a16:creationId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Oval 34">
              <a:extLst>
                <a:ext uri="{FF2B5EF4-FFF2-40B4-BE49-F238E27FC236}">
                  <a16:creationId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Oval 35">
              <a:extLst>
                <a:ext uri="{FF2B5EF4-FFF2-40B4-BE49-F238E27FC236}">
                  <a16:creationId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Oval 36">
              <a:extLst>
                <a:ext uri="{FF2B5EF4-FFF2-40B4-BE49-F238E27FC236}">
                  <a16:creationId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30" name="Text Placeholder 3">
            <a:extLst>
              <a:ext uri="{FF2B5EF4-FFF2-40B4-BE49-F238E27FC236}">
                <a16:creationId xmlns:a16="http://schemas.microsoft.com/office/drawing/2014/main" id="{1B247C0B-04BA-4D5C-A41D-AEA60217241B}"/>
              </a:ext>
            </a:extLst>
          </p:cNvPr>
          <p:cNvSpPr>
            <a:spLocks noGrp="1"/>
          </p:cNvSpPr>
          <p:nvPr>
            <p:ph type="body" sz="half" idx="2" hasCustomPrompt="1"/>
          </p:nvPr>
        </p:nvSpPr>
        <p:spPr>
          <a:xfrm>
            <a:off x="363416" y="2057400"/>
            <a:ext cx="320626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31" name="Content Placeholder 2">
            <a:extLst>
              <a:ext uri="{FF2B5EF4-FFF2-40B4-BE49-F238E27FC236}">
                <a16:creationId xmlns:a16="http://schemas.microsoft.com/office/drawing/2014/main" id="{194C619D-34F6-4A29-857A-D76007218728}"/>
              </a:ext>
            </a:extLst>
          </p:cNvPr>
          <p:cNvSpPr>
            <a:spLocks noGrp="1"/>
          </p:cNvSpPr>
          <p:nvPr>
            <p:ph idx="1" hasCustomPrompt="1"/>
          </p:nvPr>
        </p:nvSpPr>
        <p:spPr>
          <a:xfrm>
            <a:off x="3888084" y="246187"/>
            <a:ext cx="7467304" cy="561486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9517590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3" name="Oval 12">
            <a:extLst>
              <a:ext uri="{FF2B5EF4-FFF2-40B4-BE49-F238E27FC236}">
                <a16:creationId xmlns:a16="http://schemas.microsoft.com/office/drawing/2014/main" id="{82D9D565-739D-4898-97BD-79EB8C7F91EC}"/>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620FADA3-E777-489C-976D-0B0C4FD31310}"/>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3651473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4" name="Group 3">
            <a:extLst>
              <a:ext uri="{FF2B5EF4-FFF2-40B4-BE49-F238E27FC236}">
                <a16:creationId xmlns:a16="http://schemas.microsoft.com/office/drawing/2014/main" id="{8DCE8039-0D05-4A75-878A-907B8D44B9E7}"/>
              </a:ext>
            </a:extLst>
          </p:cNvPr>
          <p:cNvGrpSpPr/>
          <p:nvPr userDrawn="1"/>
        </p:nvGrpSpPr>
        <p:grpSpPr>
          <a:xfrm>
            <a:off x="363416" y="421045"/>
            <a:ext cx="748798" cy="134113"/>
            <a:chOff x="4827813" y="2534636"/>
            <a:chExt cx="996651" cy="178504"/>
          </a:xfrm>
        </p:grpSpPr>
        <p:sp>
          <p:nvSpPr>
            <p:cNvPr id="5" name="Oval 4">
              <a:extLst>
                <a:ext uri="{FF2B5EF4-FFF2-40B4-BE49-F238E27FC236}">
                  <a16:creationId xmlns:a16="http://schemas.microsoft.com/office/drawing/2014/main" id="{C1402252-45E8-45B3-BA5E-DFA33A4547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Oval 5">
              <a:extLst>
                <a:ext uri="{FF2B5EF4-FFF2-40B4-BE49-F238E27FC236}">
                  <a16:creationId xmlns:a16="http://schemas.microsoft.com/office/drawing/2014/main" id="{1300C883-1ACE-4AF3-9875-792A769588D5}"/>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E75483D7-E612-43D2-9B0E-C69356C160DA}"/>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8" name="Oval 7">
              <a:extLst>
                <a:ext uri="{FF2B5EF4-FFF2-40B4-BE49-F238E27FC236}">
                  <a16:creationId xmlns:a16="http://schemas.microsoft.com/office/drawing/2014/main" id="{F279C5F2-4C7F-4470-A44F-E8AD69AC9FA0}"/>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387506116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0D79E1-5F46-41CA-85E7-44C2A6C62820}"/>
              </a:ext>
            </a:extLst>
          </p:cNvPr>
          <p:cNvSpPr>
            <a:spLocks noGrp="1"/>
          </p:cNvSpPr>
          <p:nvPr>
            <p:ph type="title"/>
          </p:nvPr>
        </p:nvSpPr>
        <p:spPr>
          <a:xfrm>
            <a:off x="363416" y="365125"/>
            <a:ext cx="11465168" cy="918553"/>
          </a:xfrm>
          <a:prstGeom prst="rect">
            <a:avLst/>
          </a:prstGeom>
        </p:spPr>
        <p:txBody>
          <a:bodyPr vert="horz" lIns="0" tIns="0" rIns="0" bIns="0" rtlCol="0" anchor="b">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D7B0B511-05FD-459E-AC79-A87540961FC1}"/>
              </a:ext>
            </a:extLst>
          </p:cNvPr>
          <p:cNvSpPr>
            <a:spLocks noGrp="1"/>
          </p:cNvSpPr>
          <p:nvPr>
            <p:ph type="body" idx="1"/>
          </p:nvPr>
        </p:nvSpPr>
        <p:spPr>
          <a:xfrm>
            <a:off x="363416"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FC32B635-1E22-483C-94B9-F587908DE6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6DB98321-594C-4030-A2B0-3492F77EE03E}"/>
              </a:ext>
            </a:extLst>
          </p:cNvPr>
          <p:cNvSpPr>
            <a:spLocks noGrp="1"/>
          </p:cNvSpPr>
          <p:nvPr>
            <p:ph type="sldNum" sz="quarter" idx="4"/>
          </p:nvPr>
        </p:nvSpPr>
        <p:spPr>
          <a:xfrm>
            <a:off x="9085384" y="6463207"/>
            <a:ext cx="2743200" cy="258268"/>
          </a:xfrm>
          <a:prstGeom prst="rect">
            <a:avLst/>
          </a:prstGeom>
        </p:spPr>
        <p:txBody>
          <a:bodyPr vert="horz" lIns="91440" tIns="45720" rIns="91440" bIns="45720" rtlCol="0" anchor="ctr"/>
          <a:lstStyle>
            <a:lvl1pPr algn="r">
              <a:defRPr sz="900">
                <a:solidFill>
                  <a:schemeClr val="accent3"/>
                </a:solidFill>
              </a:defRPr>
            </a:lvl1pPr>
          </a:lstStyle>
          <a:p>
            <a:fld id="{48BB047D-A6CD-43AB-96F0-683C726B586B}" type="slidenum">
              <a:rPr lang="en-US" noProof="0" smtClean="0"/>
              <a:pPr/>
              <a:t>‹#›</a:t>
            </a:fld>
            <a:endParaRPr lang="en-US" noProof="0" dirty="0"/>
          </a:p>
        </p:txBody>
      </p:sp>
    </p:spTree>
    <p:extLst>
      <p:ext uri="{BB962C8B-B14F-4D97-AF65-F5344CB8AC3E}">
        <p14:creationId xmlns:p14="http://schemas.microsoft.com/office/powerpoint/2010/main" val="2053652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51" r:id="rId4"/>
    <p:sldLayoutId id="2147483662" r:id="rId5"/>
    <p:sldLayoutId id="2147483660" r:id="rId6"/>
    <p:sldLayoutId id="2147483663" r:id="rId7"/>
    <p:sldLayoutId id="2147483667" r:id="rId8"/>
    <p:sldLayoutId id="2147483668" r:id="rId9"/>
    <p:sldLayoutId id="2147483666" r:id="rId10"/>
    <p:sldLayoutId id="2147483669" r:id="rId11"/>
    <p:sldLayoutId id="2147483670" r:id="rId12"/>
    <p:sldLayoutId id="2147483671" r:id="rId13"/>
    <p:sldLayoutId id="2147483672" r:id="rId14"/>
    <p:sldLayoutId id="2147483664" r:id="rId15"/>
    <p:sldLayoutId id="2147483665" r:id="rId16"/>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6.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25.png"/><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359CD-8DFF-4AF2-B957-630ED2A60E8D}"/>
              </a:ext>
            </a:extLst>
          </p:cNvPr>
          <p:cNvSpPr>
            <a:spLocks noGrp="1"/>
          </p:cNvSpPr>
          <p:nvPr>
            <p:ph type="ctrTitle"/>
          </p:nvPr>
        </p:nvSpPr>
        <p:spPr>
          <a:xfrm>
            <a:off x="4686300" y="2789217"/>
            <a:ext cx="7233557" cy="1180109"/>
          </a:xfrm>
        </p:spPr>
        <p:txBody>
          <a:bodyPr>
            <a:noAutofit/>
          </a:bodyPr>
          <a:lstStyle/>
          <a:p>
            <a:r>
              <a:rPr lang="en-US" sz="1800" dirty="0">
                <a:solidFill>
                  <a:srgbClr val="7030A0"/>
                </a:solidFill>
              </a:rPr>
              <a:t>LECTURE SEVEN:</a:t>
            </a:r>
            <a:br>
              <a:rPr lang="en-US" sz="3600" dirty="0"/>
            </a:br>
            <a:r>
              <a:rPr lang="en-US" sz="3600" dirty="0"/>
              <a:t>COMPATIBILITY AND COLOUR TELEVISION FUNDAMENTALS</a:t>
            </a:r>
            <a:endParaRPr lang="en-IN" sz="3600" dirty="0"/>
          </a:p>
        </p:txBody>
      </p:sp>
      <p:pic>
        <p:nvPicPr>
          <p:cNvPr id="7" name="Picture Placeholder 6"/>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2469" r="12469"/>
          <a:stretch>
            <a:fillRect/>
          </a:stretch>
        </p:blipFill>
        <p:spPr/>
      </p:pic>
      <p:sp>
        <p:nvSpPr>
          <p:cNvPr id="8" name="Rectangle 7"/>
          <p:cNvSpPr/>
          <p:nvPr/>
        </p:nvSpPr>
        <p:spPr>
          <a:xfrm>
            <a:off x="4864989" y="211257"/>
            <a:ext cx="6876177" cy="769441"/>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lIns="91440" tIns="45720" rIns="91440" bIns="45720">
            <a:spAutoFit/>
          </a:bodyPr>
          <a:lstStyle/>
          <a:p>
            <a:pPr algn="ctr"/>
            <a:r>
              <a:rPr lang="en-US" sz="4400" b="1" cap="none" spc="0" dirty="0">
                <a:ln w="10160">
                  <a:solidFill>
                    <a:schemeClr val="accent5"/>
                  </a:solidFill>
                  <a:prstDash val="solid"/>
                </a:ln>
                <a:solidFill>
                  <a:schemeClr val="accent5"/>
                </a:solidFill>
                <a:effectLst>
                  <a:outerShdw blurRad="38100" dist="22860" dir="5400000" algn="tl" rotWithShape="0">
                    <a:srgbClr val="000000">
                      <a:alpha val="30000"/>
                    </a:srgbClr>
                  </a:outerShdw>
                </a:effectLst>
              </a:rPr>
              <a:t>ET 8105 – Television Systems</a:t>
            </a:r>
          </a:p>
        </p:txBody>
      </p:sp>
    </p:spTree>
    <p:extLst>
      <p:ext uri="{BB962C8B-B14F-4D97-AF65-F5344CB8AC3E}">
        <p14:creationId xmlns:p14="http://schemas.microsoft.com/office/powerpoint/2010/main" val="2064406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Success in the deployment of monochrome TV triggered other researches in the transmission of colour pictures.</a:t>
            </a:r>
          </a:p>
          <a:p>
            <a:pPr algn="just"/>
            <a:r>
              <a:rPr lang="en-US" sz="2800" dirty="0">
                <a:latin typeface="Palatino Linotype" panose="02040502050505030304" pitchFamily="18" charset="0"/>
              </a:rPr>
              <a:t>The scientists efforts were successful and it became known that the transmission and reception of colours could be a straight and simple system.</a:t>
            </a:r>
          </a:p>
          <a:p>
            <a:pPr algn="just"/>
            <a:r>
              <a:rPr lang="en-US" sz="2800" dirty="0">
                <a:latin typeface="Palatino Linotype" panose="02040502050505030304" pitchFamily="18" charset="0"/>
              </a:rPr>
              <a:t>But it could not happen so because of the necessity to make the colour system </a:t>
            </a:r>
            <a:r>
              <a:rPr lang="en-US" sz="2800" b="1" dirty="0">
                <a:solidFill>
                  <a:schemeClr val="accent1"/>
                </a:solidFill>
                <a:latin typeface="Palatino Linotype" panose="02040502050505030304" pitchFamily="18" charset="0"/>
              </a:rPr>
              <a:t>compatible</a:t>
            </a:r>
            <a:r>
              <a:rPr lang="en-US" sz="2800" dirty="0">
                <a:latin typeface="Palatino Linotype" panose="02040502050505030304" pitchFamily="18" charset="0"/>
              </a:rPr>
              <a:t> with the existing monochrome system.</a:t>
            </a:r>
          </a:p>
          <a:p>
            <a:pPr algn="just"/>
            <a:r>
              <a:rPr lang="en-US" sz="2800" dirty="0">
                <a:latin typeface="Palatino Linotype" panose="02040502050505030304" pitchFamily="18" charset="0"/>
              </a:rPr>
              <a:t>It was due to this compatibility requirement that regular colour TV were deployed later than expected.</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Introduction</a:t>
            </a:r>
          </a:p>
        </p:txBody>
      </p:sp>
    </p:spTree>
    <p:extLst>
      <p:ext uri="{BB962C8B-B14F-4D97-AF65-F5344CB8AC3E}">
        <p14:creationId xmlns:p14="http://schemas.microsoft.com/office/powerpoint/2010/main" val="4189987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Compatibility of colour TV system with the then existing monochrome TV system meant that, colour transmission should be received as black and white picture in a monochrome receiver without any change in the receiver design.</a:t>
            </a:r>
          </a:p>
          <a:p>
            <a:pPr algn="just"/>
            <a:r>
              <a:rPr lang="en-US" sz="2800" dirty="0">
                <a:latin typeface="Palatino Linotype" panose="02040502050505030304" pitchFamily="18" charset="0"/>
              </a:rPr>
              <a:t>Also, it meant that monochrome transmission be received as black and white picture in a colour receiver.</a:t>
            </a:r>
          </a:p>
          <a:p>
            <a:pPr algn="just"/>
            <a:r>
              <a:rPr lang="en-US" sz="2800" dirty="0">
                <a:latin typeface="Palatino Linotype" panose="02040502050505030304" pitchFamily="18" charset="0"/>
              </a:rPr>
              <a:t>The figure in the next slide illustrate the concept of compatibility.</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Compatibility</a:t>
            </a:r>
          </a:p>
        </p:txBody>
      </p:sp>
    </p:spTree>
    <p:extLst>
      <p:ext uri="{BB962C8B-B14F-4D97-AF65-F5344CB8AC3E}">
        <p14:creationId xmlns:p14="http://schemas.microsoft.com/office/powerpoint/2010/main" val="2008497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145708" y="1085278"/>
            <a:ext cx="9820857" cy="4234867"/>
          </a:xfrm>
          <a:prstGeom prst="rect">
            <a:avLst/>
          </a:prstGeom>
        </p:spPr>
      </p:pic>
      <p:sp>
        <p:nvSpPr>
          <p:cNvPr id="4" name="Rectangle 3"/>
          <p:cNvSpPr/>
          <p:nvPr/>
        </p:nvSpPr>
        <p:spPr>
          <a:xfrm>
            <a:off x="2357495" y="5660843"/>
            <a:ext cx="7397281" cy="461665"/>
          </a:xfrm>
          <a:prstGeom prst="rect">
            <a:avLst/>
          </a:prstGeom>
        </p:spPr>
        <p:txBody>
          <a:bodyPr wrap="none">
            <a:spAutoFit/>
          </a:bodyPr>
          <a:lstStyle/>
          <a:p>
            <a:r>
              <a:rPr lang="en-US" sz="2400" b="1" dirty="0"/>
              <a:t>Compatibility between colour and monochrome systems</a:t>
            </a:r>
          </a:p>
        </p:txBody>
      </p:sp>
    </p:spTree>
    <p:extLst>
      <p:ext uri="{BB962C8B-B14F-4D97-AF65-F5344CB8AC3E}">
        <p14:creationId xmlns:p14="http://schemas.microsoft.com/office/powerpoint/2010/main" val="4110188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a:t>
            </a:fld>
            <a:endParaRPr lang="en-US" noProof="0" dirty="0"/>
          </a:p>
        </p:txBody>
      </p:sp>
      <p:sp>
        <p:nvSpPr>
          <p:cNvPr id="3" name="Content Placeholder 2"/>
          <p:cNvSpPr>
            <a:spLocks noGrp="1"/>
          </p:cNvSpPr>
          <p:nvPr>
            <p:ph idx="1"/>
          </p:nvPr>
        </p:nvSpPr>
        <p:spPr>
          <a:xfrm>
            <a:off x="363416" y="1683326"/>
            <a:ext cx="11465168" cy="5029265"/>
          </a:xfrm>
        </p:spPr>
        <p:txBody>
          <a:bodyPr>
            <a:normAutofit lnSpcReduction="10000"/>
          </a:bodyPr>
          <a:lstStyle/>
          <a:p>
            <a:pPr marL="514350" indent="-514350" algn="just">
              <a:buFont typeface="+mj-lt"/>
              <a:buAutoNum type="arabicPeriod"/>
            </a:pPr>
            <a:r>
              <a:rPr lang="en-US" sz="2800" dirty="0">
                <a:latin typeface="Palatino Linotype" panose="02040502050505030304" pitchFamily="18" charset="0"/>
              </a:rPr>
              <a:t>Reception of colour transmission in a monochrome receiver a black and white picture should not require any change in the circuits of the monochrome receiver.</a:t>
            </a:r>
          </a:p>
          <a:p>
            <a:pPr marL="514350" indent="-514350" algn="just">
              <a:buFont typeface="+mj-lt"/>
              <a:buAutoNum type="arabicPeriod"/>
            </a:pPr>
            <a:r>
              <a:rPr lang="en-US" sz="2800" dirty="0">
                <a:latin typeface="Palatino Linotype" panose="02040502050505030304" pitchFamily="18" charset="0"/>
              </a:rPr>
              <a:t>Baseband of colour signals (about 1.5 MHz) should be accommodated in the baseband of the monochrome system without increasing the overall bandwidth.</a:t>
            </a:r>
          </a:p>
          <a:p>
            <a:pPr marL="514350" indent="-514350" algn="just">
              <a:buFont typeface="+mj-lt"/>
              <a:buAutoNum type="arabicPeriod"/>
            </a:pPr>
            <a:r>
              <a:rPr lang="en-US" sz="2800" dirty="0">
                <a:latin typeface="Palatino Linotype" panose="02040502050505030304" pitchFamily="18" charset="0"/>
              </a:rPr>
              <a:t>The main video carrier frequency for colour transmission should remain the same as for monochrome transmission.</a:t>
            </a:r>
          </a:p>
          <a:p>
            <a:pPr marL="514350" indent="-514350" algn="just">
              <a:buFont typeface="+mj-lt"/>
              <a:buAutoNum type="arabicPeriod"/>
            </a:pPr>
            <a:r>
              <a:rPr lang="en-US" sz="2800" dirty="0">
                <a:latin typeface="Palatino Linotype" panose="02040502050505030304" pitchFamily="18" charset="0"/>
              </a:rPr>
              <a:t> The location and spacing of the video and audio carrier frequencies in the radio frequency spectrum and overall channel width should remain the same in colour transmission as in monochrome transmission.</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Conditions to be Fulfilled for Compatibility</a:t>
            </a:r>
          </a:p>
        </p:txBody>
      </p:sp>
    </p:spTree>
    <p:extLst>
      <p:ext uri="{BB962C8B-B14F-4D97-AF65-F5344CB8AC3E}">
        <p14:creationId xmlns:p14="http://schemas.microsoft.com/office/powerpoint/2010/main" val="1633570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a:t>
            </a:fld>
            <a:endParaRPr lang="en-US" noProof="0" dirty="0"/>
          </a:p>
        </p:txBody>
      </p:sp>
      <p:sp>
        <p:nvSpPr>
          <p:cNvPr id="3" name="Content Placeholder 2"/>
          <p:cNvSpPr txBox="1">
            <a:spLocks/>
          </p:cNvSpPr>
          <p:nvPr/>
        </p:nvSpPr>
        <p:spPr>
          <a:xfrm>
            <a:off x="363416" y="831274"/>
            <a:ext cx="11465168" cy="5881318"/>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gn="just">
              <a:buFont typeface="+mj-lt"/>
              <a:buAutoNum type="arabicPeriod" startAt="5"/>
            </a:pPr>
            <a:r>
              <a:rPr lang="en-US" sz="2800" dirty="0">
                <a:latin typeface="Palatino Linotype" panose="02040502050505030304" pitchFamily="18" charset="0"/>
              </a:rPr>
              <a:t>The colour signal should be transmitted in such a form that it can be ignored by a monochrome receiver, but it should be available in appropriate proportions of three primary colours at the input of the colour picture tube in colour receivers.</a:t>
            </a:r>
          </a:p>
          <a:p>
            <a:pPr marL="514350" indent="-514350" algn="just">
              <a:buFont typeface="+mj-lt"/>
              <a:buAutoNum type="arabicPeriod" startAt="5"/>
            </a:pPr>
            <a:r>
              <a:rPr lang="en-US" sz="2800" dirty="0">
                <a:latin typeface="Palatino Linotype" panose="02040502050505030304" pitchFamily="18" charset="0"/>
              </a:rPr>
              <a:t>Scanning and sync requirements of colour system should be the same as for monochrome system.</a:t>
            </a:r>
          </a:p>
          <a:p>
            <a:pPr marL="514350" indent="-514350" algn="just">
              <a:buFont typeface="+mj-lt"/>
              <a:buAutoNum type="arabicPeriod" startAt="5"/>
            </a:pPr>
            <a:r>
              <a:rPr lang="en-US" sz="2800" dirty="0">
                <a:latin typeface="Palatino Linotype" panose="02040502050505030304" pitchFamily="18" charset="0"/>
              </a:rPr>
              <a:t>Final modulation of the video carrier and audio carrier should be the same in colour system as in monochrome system so that the RF amplifier, mixer, IF amplifiers and the video detector stage are in both the systems.</a:t>
            </a:r>
          </a:p>
          <a:p>
            <a:pPr marL="514350" indent="-514350" algn="just">
              <a:buFont typeface="+mj-lt"/>
              <a:buAutoNum type="arabicPeriod" startAt="5"/>
            </a:pPr>
            <a:r>
              <a:rPr lang="en-US" sz="2800" dirty="0">
                <a:latin typeface="Palatino Linotype" panose="02040502050505030304" pitchFamily="18" charset="0"/>
              </a:rPr>
              <a:t>Black and white picture should not be affected by colour subcarrier produced locally in a colour receiver.</a:t>
            </a:r>
          </a:p>
        </p:txBody>
      </p:sp>
    </p:spTree>
    <p:extLst>
      <p:ext uri="{BB962C8B-B14F-4D97-AF65-F5344CB8AC3E}">
        <p14:creationId xmlns:p14="http://schemas.microsoft.com/office/powerpoint/2010/main" val="3262751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a:t>
            </a:fld>
            <a:endParaRPr lang="en-US" noProof="0" dirty="0"/>
          </a:p>
        </p:txBody>
      </p:sp>
      <p:sp>
        <p:nvSpPr>
          <p:cNvPr id="3" name="Content Placeholder 2"/>
          <p:cNvSpPr>
            <a:spLocks noGrp="1"/>
          </p:cNvSpPr>
          <p:nvPr>
            <p:ph idx="1"/>
          </p:nvPr>
        </p:nvSpPr>
        <p:spPr>
          <a:xfrm>
            <a:off x="363416" y="1825625"/>
            <a:ext cx="11465168" cy="4637582"/>
          </a:xfrm>
        </p:spPr>
        <p:txBody>
          <a:bodyPr>
            <a:normAutofit lnSpcReduction="10000"/>
          </a:bodyPr>
          <a:lstStyle/>
          <a:p>
            <a:pPr marL="0" indent="0" algn="just">
              <a:buNone/>
            </a:pPr>
            <a:r>
              <a:rPr lang="en-US" sz="2800" dirty="0">
                <a:latin typeface="Palatino Linotype" panose="02040502050505030304" pitchFamily="18" charset="0"/>
              </a:rPr>
              <a:t>The techniques used in compatible colour TV are mentioned hereafter.</a:t>
            </a:r>
          </a:p>
          <a:p>
            <a:pPr marL="514350" indent="-514350" algn="just">
              <a:buFont typeface="+mj-lt"/>
              <a:buAutoNum type="arabicParenR"/>
            </a:pPr>
            <a:r>
              <a:rPr lang="en-US" sz="2800" dirty="0">
                <a:latin typeface="Palatino Linotype" panose="02040502050505030304" pitchFamily="18" charset="0"/>
              </a:rPr>
              <a:t>The original colour in the picture is converted into three primary colours with the help of dichroic mirrors or prisms and filters.</a:t>
            </a:r>
          </a:p>
          <a:p>
            <a:pPr lvl="1" algn="just"/>
            <a:r>
              <a:rPr lang="en-US" sz="2600" dirty="0">
                <a:latin typeface="Palatino Linotype" panose="02040502050505030304" pitchFamily="18" charset="0"/>
              </a:rPr>
              <a:t>The brightness contained in these colours is converted into three video signals by camera tubes.</a:t>
            </a:r>
          </a:p>
          <a:p>
            <a:pPr marL="514350" indent="-514350" algn="just">
              <a:buFont typeface="+mj-lt"/>
              <a:buAutoNum type="arabicParenR"/>
            </a:pPr>
            <a:r>
              <a:rPr lang="en-US" sz="2800" dirty="0">
                <a:latin typeface="Palatino Linotype" panose="02040502050505030304" pitchFamily="18" charset="0"/>
              </a:rPr>
              <a:t>Luminance (or brightness) signal called Y signal is derived from the three colour signals by using a resistive matrix. </a:t>
            </a:r>
          </a:p>
          <a:p>
            <a:pPr lvl="1" algn="just"/>
            <a:r>
              <a:rPr lang="en-US" sz="2600" dirty="0">
                <a:latin typeface="Palatino Linotype" panose="02040502050505030304" pitchFamily="18" charset="0"/>
              </a:rPr>
              <a:t>The output of this matrix is of the same voltage which a monochrome camera would have produced</a:t>
            </a:r>
          </a:p>
          <a:p>
            <a:pPr marL="514350" indent="-514350" algn="just">
              <a:buFont typeface="+mj-lt"/>
              <a:buAutoNum type="arabicParenR"/>
            </a:pPr>
            <a:r>
              <a:rPr lang="en-US" sz="2800" dirty="0">
                <a:latin typeface="Palatino Linotype" panose="02040502050505030304" pitchFamily="18" charset="0"/>
              </a:rPr>
              <a:t>Instead of using basic colour signals R, G and B for transmission, colour difference signals are used, that is R-Y, G-Y and B-Y.</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Achievement of Compatibility</a:t>
            </a:r>
          </a:p>
        </p:txBody>
      </p:sp>
    </p:spTree>
    <p:extLst>
      <p:ext uri="{BB962C8B-B14F-4D97-AF65-F5344CB8AC3E}">
        <p14:creationId xmlns:p14="http://schemas.microsoft.com/office/powerpoint/2010/main" val="1482250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a:t>
            </a:fld>
            <a:endParaRPr lang="en-US" noProof="0" dirty="0"/>
          </a:p>
        </p:txBody>
      </p:sp>
      <p:sp>
        <p:nvSpPr>
          <p:cNvPr id="3" name="Content Placeholder 2"/>
          <p:cNvSpPr txBox="1">
            <a:spLocks/>
          </p:cNvSpPr>
          <p:nvPr/>
        </p:nvSpPr>
        <p:spPr>
          <a:xfrm>
            <a:off x="363416" y="872836"/>
            <a:ext cx="11465168" cy="5590371"/>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gn="just">
              <a:buFont typeface="+mj-lt"/>
              <a:buAutoNum type="arabicParenR" startAt="4"/>
            </a:pPr>
            <a:r>
              <a:rPr lang="en-US" sz="2800" dirty="0">
                <a:latin typeface="Palatino Linotype" panose="02040502050505030304" pitchFamily="18" charset="0"/>
              </a:rPr>
              <a:t>Y signal along with the </a:t>
            </a:r>
            <a:r>
              <a:rPr lang="en-US" sz="2800" dirty="0" err="1">
                <a:latin typeface="Palatino Linotype" panose="02040502050505030304" pitchFamily="18" charset="0"/>
              </a:rPr>
              <a:t>synchronising</a:t>
            </a:r>
            <a:r>
              <a:rPr lang="en-US" sz="2800" dirty="0">
                <a:latin typeface="Palatino Linotype" panose="02040502050505030304" pitchFamily="18" charset="0"/>
              </a:rPr>
              <a:t> pulses and the subcarrier modulated by R–Y and B–Y signals are added and the resultant colour composite video signal (Y+C) is used to modulate the main video carrier, using AMVSB method of modulation.</a:t>
            </a:r>
          </a:p>
          <a:p>
            <a:pPr marL="514350" indent="-514350" algn="just">
              <a:buFont typeface="+mj-lt"/>
              <a:buAutoNum type="arabicParenR" startAt="4"/>
            </a:pPr>
            <a:r>
              <a:rPr lang="en-US" sz="2800" dirty="0">
                <a:latin typeface="Palatino Linotype" panose="02040502050505030304" pitchFamily="18" charset="0"/>
              </a:rPr>
              <a:t>FM signal (modulated by audio) is obtained in the same way as in monochrome system</a:t>
            </a:r>
          </a:p>
          <a:p>
            <a:pPr marL="514350" indent="-514350" algn="just">
              <a:buFont typeface="+mj-lt"/>
              <a:buAutoNum type="arabicParenR" startAt="4"/>
            </a:pPr>
            <a:r>
              <a:rPr lang="en-US" sz="2800" dirty="0">
                <a:latin typeface="Palatino Linotype" panose="02040502050505030304" pitchFamily="18" charset="0"/>
              </a:rPr>
              <a:t>A common antenna is used for transmission as in the monochrome system.</a:t>
            </a:r>
          </a:p>
          <a:p>
            <a:pPr marL="514350" indent="-514350" algn="just">
              <a:buFont typeface="+mj-lt"/>
              <a:buAutoNum type="arabicParenR" startAt="4"/>
            </a:pPr>
            <a:r>
              <a:rPr lang="en-US" sz="2800" dirty="0">
                <a:latin typeface="Palatino Linotype" panose="02040502050505030304" pitchFamily="18" charset="0"/>
              </a:rPr>
              <a:t>At the receiver, RF amplifier, mixer, IF stages and video detector are common in both monochrome and colour receivers</a:t>
            </a:r>
          </a:p>
          <a:p>
            <a:pPr lvl="1" algn="just"/>
            <a:r>
              <a:rPr lang="en-US" sz="2600" dirty="0">
                <a:latin typeface="Palatino Linotype" panose="02040502050505030304" pitchFamily="18" charset="0"/>
              </a:rPr>
              <a:t>There is no change in video amplifiers of a monochrome receiver, only the colour receiver needed a new block called </a:t>
            </a:r>
            <a:r>
              <a:rPr lang="en-US" sz="2600" b="1" i="1" dirty="0">
                <a:latin typeface="Palatino Linotype" panose="02040502050505030304" pitchFamily="18" charset="0"/>
              </a:rPr>
              <a:t>colour decoder.</a:t>
            </a:r>
          </a:p>
        </p:txBody>
      </p:sp>
    </p:spTree>
    <p:extLst>
      <p:ext uri="{BB962C8B-B14F-4D97-AF65-F5344CB8AC3E}">
        <p14:creationId xmlns:p14="http://schemas.microsoft.com/office/powerpoint/2010/main" val="3533226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9</a:t>
            </a:fld>
            <a:endParaRPr lang="en-US" noProof="0" dirty="0"/>
          </a:p>
        </p:txBody>
      </p:sp>
      <p:sp>
        <p:nvSpPr>
          <p:cNvPr id="3" name="Content Placeholder 2"/>
          <p:cNvSpPr txBox="1">
            <a:spLocks/>
          </p:cNvSpPr>
          <p:nvPr/>
        </p:nvSpPr>
        <p:spPr>
          <a:xfrm>
            <a:off x="363416" y="872836"/>
            <a:ext cx="11465168" cy="5590371"/>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gn="just">
              <a:buFont typeface="+mj-lt"/>
              <a:buAutoNum type="arabicParenR" startAt="8"/>
            </a:pPr>
            <a:r>
              <a:rPr lang="en-US" sz="2800" dirty="0">
                <a:latin typeface="Palatino Linotype" panose="02040502050505030304" pitchFamily="18" charset="0"/>
              </a:rPr>
              <a:t>After the video detector, Y signal is separated from C signal. It is amplified by a wideband video amplifier in monochrome as well as in the colour receiver.</a:t>
            </a:r>
          </a:p>
          <a:p>
            <a:pPr marL="514350" indent="-514350" algn="just">
              <a:buFont typeface="+mj-lt"/>
              <a:buAutoNum type="arabicParenR" startAt="8"/>
            </a:pPr>
            <a:r>
              <a:rPr lang="en-US" sz="2800" dirty="0">
                <a:latin typeface="Palatino Linotype" panose="02040502050505030304" pitchFamily="18" charset="0"/>
              </a:rPr>
              <a:t>In a monochrome receiver, the chroma signal, being AMSC type, cannot be detected in the absence of the colour subcarrier, hence only Y signal is detected, amplified and fed to the monochrome picture tube.</a:t>
            </a:r>
          </a:p>
          <a:p>
            <a:pPr marL="514350" indent="-514350" algn="just">
              <a:buFont typeface="+mj-lt"/>
              <a:buAutoNum type="arabicParenR" startAt="8"/>
            </a:pPr>
            <a:r>
              <a:rPr lang="en-US" sz="2800" dirty="0">
                <a:latin typeface="Palatino Linotype" panose="02040502050505030304" pitchFamily="18" charset="0"/>
              </a:rPr>
              <a:t>In the colour receiver, the colour detector block detects the colour signals. The colour difference signals are added with the Y signal to produce the original R, G and B voltages.</a:t>
            </a:r>
          </a:p>
          <a:p>
            <a:pPr marL="514350" indent="-514350" algn="just">
              <a:buFont typeface="+mj-lt"/>
              <a:buAutoNum type="arabicParenR" startAt="8"/>
            </a:pPr>
            <a:r>
              <a:rPr lang="en-US" sz="2800" dirty="0">
                <a:latin typeface="Palatino Linotype" panose="02040502050505030304" pitchFamily="18" charset="0"/>
              </a:rPr>
              <a:t>For receiving monochrome transmission, the colour receiver will not get the colour difference signals and so the stages of the colour receiver which give R, G and B voltages will give only Y voltage.</a:t>
            </a:r>
            <a:endParaRPr lang="en-US" sz="2600" dirty="0">
              <a:latin typeface="Palatino Linotype" panose="02040502050505030304" pitchFamily="18" charset="0"/>
            </a:endParaRPr>
          </a:p>
        </p:txBody>
      </p:sp>
    </p:spTree>
    <p:extLst>
      <p:ext uri="{BB962C8B-B14F-4D97-AF65-F5344CB8AC3E}">
        <p14:creationId xmlns:p14="http://schemas.microsoft.com/office/powerpoint/2010/main" val="168856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10</a:t>
            </a:fld>
            <a:endParaRPr lang="en-US" noProof="0" dirty="0"/>
          </a:p>
        </p:txBody>
      </p:sp>
      <p:sp>
        <p:nvSpPr>
          <p:cNvPr id="3" name="Content Placeholder 2"/>
          <p:cNvSpPr>
            <a:spLocks noGrp="1"/>
          </p:cNvSpPr>
          <p:nvPr>
            <p:ph idx="1"/>
          </p:nvPr>
        </p:nvSpPr>
        <p:spPr>
          <a:xfrm>
            <a:off x="363416" y="1558636"/>
            <a:ext cx="11465168" cy="4618327"/>
          </a:xfrm>
        </p:spPr>
        <p:txBody>
          <a:bodyPr>
            <a:normAutofit/>
          </a:bodyPr>
          <a:lstStyle/>
          <a:p>
            <a:pPr algn="just"/>
            <a:r>
              <a:rPr lang="en-US" sz="2800" dirty="0">
                <a:latin typeface="Palatino Linotype" panose="02040502050505030304" pitchFamily="18" charset="0"/>
              </a:rPr>
              <a:t>A colour at any pixel in the colour picture can be considered consisting of three primary colours, red, green and blue.</a:t>
            </a:r>
          </a:p>
          <a:p>
            <a:pPr algn="just"/>
            <a:r>
              <a:rPr lang="en-US" sz="2800" dirty="0">
                <a:latin typeface="Palatino Linotype" panose="02040502050505030304" pitchFamily="18" charset="0"/>
              </a:rPr>
              <a:t>The function of a colour camera is to convert brightness of each primary colour in a picture into electrical voltage pixel by pixel.</a:t>
            </a:r>
          </a:p>
          <a:p>
            <a:pPr algn="just"/>
            <a:r>
              <a:rPr lang="en-US" sz="2800" dirty="0">
                <a:latin typeface="Palatino Linotype" panose="02040502050505030304" pitchFamily="18" charset="0"/>
              </a:rPr>
              <a:t>The camera tubes are so adjusted that the voltage pertains to the actual brightness present in the colour and not on the brightness as perceived by the eye.</a:t>
            </a:r>
          </a:p>
          <a:p>
            <a:pPr algn="just"/>
            <a:r>
              <a:rPr lang="en-US" sz="2800" dirty="0">
                <a:latin typeface="Palatino Linotype" panose="02040502050505030304" pitchFamily="18" charset="0"/>
              </a:rPr>
              <a:t>Thus the signals so obtained are the chrominance signals.</a:t>
            </a:r>
          </a:p>
          <a:p>
            <a:pPr algn="just"/>
            <a:r>
              <a:rPr lang="en-US" sz="2800" dirty="0">
                <a:latin typeface="Palatino Linotype" panose="02040502050505030304" pitchFamily="18" charset="0"/>
              </a:rPr>
              <a:t>This is made possible by two types of colour camera tubes: </a:t>
            </a:r>
            <a:r>
              <a:rPr lang="en-US" sz="2800" b="1" dirty="0">
                <a:latin typeface="Palatino Linotype" panose="02040502050505030304" pitchFamily="18" charset="0"/>
              </a:rPr>
              <a:t>(1) </a:t>
            </a:r>
            <a:r>
              <a:rPr lang="en-US" sz="2800" dirty="0">
                <a:latin typeface="Palatino Linotype" panose="02040502050505030304" pitchFamily="18" charset="0"/>
              </a:rPr>
              <a:t>Three-tube camera </a:t>
            </a:r>
            <a:r>
              <a:rPr lang="en-US" sz="2800" b="1" dirty="0">
                <a:latin typeface="Palatino Linotype" panose="02040502050505030304" pitchFamily="18" charset="0"/>
              </a:rPr>
              <a:t>(2) </a:t>
            </a:r>
            <a:r>
              <a:rPr lang="en-US" sz="2800" dirty="0">
                <a:latin typeface="Palatino Linotype" panose="02040502050505030304" pitchFamily="18" charset="0"/>
              </a:rPr>
              <a:t>Single-tube camera.</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Colour Camera Tubes</a:t>
            </a:r>
          </a:p>
        </p:txBody>
      </p:sp>
    </p:spTree>
    <p:extLst>
      <p:ext uri="{BB962C8B-B14F-4D97-AF65-F5344CB8AC3E}">
        <p14:creationId xmlns:p14="http://schemas.microsoft.com/office/powerpoint/2010/main" val="861723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11</a:t>
            </a:fld>
            <a:endParaRPr lang="en-US" noProof="0" dirty="0"/>
          </a:p>
        </p:txBody>
      </p:sp>
      <p:sp>
        <p:nvSpPr>
          <p:cNvPr id="3" name="Content Placeholder 2"/>
          <p:cNvSpPr>
            <a:spLocks noGrp="1"/>
          </p:cNvSpPr>
          <p:nvPr>
            <p:ph idx="1"/>
          </p:nvPr>
        </p:nvSpPr>
        <p:spPr>
          <a:xfrm>
            <a:off x="363416" y="1825625"/>
            <a:ext cx="11465168" cy="4492048"/>
          </a:xfrm>
        </p:spPr>
        <p:txBody>
          <a:bodyPr>
            <a:normAutofit lnSpcReduction="10000"/>
          </a:bodyPr>
          <a:lstStyle/>
          <a:p>
            <a:pPr algn="just"/>
            <a:r>
              <a:rPr lang="en-US" sz="2800" dirty="0">
                <a:latin typeface="Palatino Linotype" panose="02040502050505030304" pitchFamily="18" charset="0"/>
              </a:rPr>
              <a:t>It consists of three identical camera tubes, as shown in the next figure.</a:t>
            </a:r>
          </a:p>
          <a:p>
            <a:pPr algn="just"/>
            <a:r>
              <a:rPr lang="en-US" sz="2800" dirty="0">
                <a:latin typeface="Palatino Linotype" panose="02040502050505030304" pitchFamily="18" charset="0"/>
              </a:rPr>
              <a:t>Each tube being the same as used in monochrome TV transmitter</a:t>
            </a:r>
          </a:p>
          <a:p>
            <a:pPr algn="just"/>
            <a:r>
              <a:rPr lang="en-US" sz="2800" dirty="0">
                <a:latin typeface="Palatino Linotype" panose="02040502050505030304" pitchFamily="18" charset="0"/>
              </a:rPr>
              <a:t>There tubes may be </a:t>
            </a:r>
            <a:r>
              <a:rPr lang="en-US" sz="2800" dirty="0" err="1">
                <a:latin typeface="Palatino Linotype" panose="02040502050505030304" pitchFamily="18" charset="0"/>
              </a:rPr>
              <a:t>vidicon</a:t>
            </a:r>
            <a:r>
              <a:rPr lang="en-US" sz="2800" dirty="0">
                <a:latin typeface="Palatino Linotype" panose="02040502050505030304" pitchFamily="18" charset="0"/>
              </a:rPr>
              <a:t> or </a:t>
            </a:r>
            <a:r>
              <a:rPr lang="en-US" sz="2800" dirty="0" err="1">
                <a:latin typeface="Palatino Linotype" panose="02040502050505030304" pitchFamily="18" charset="0"/>
              </a:rPr>
              <a:t>plumbicon</a:t>
            </a:r>
            <a:r>
              <a:rPr lang="en-US" sz="2800" dirty="0">
                <a:latin typeface="Palatino Linotype" panose="02040502050505030304" pitchFamily="18" charset="0"/>
              </a:rPr>
              <a:t> or any other modified version.</a:t>
            </a:r>
          </a:p>
          <a:p>
            <a:pPr algn="just"/>
            <a:r>
              <a:rPr lang="en-US" sz="2800" dirty="0">
                <a:latin typeface="Palatino Linotype" panose="02040502050505030304" pitchFamily="18" charset="0"/>
              </a:rPr>
              <a:t>The only difference is that, in a monochrome camera tube, video voltage is proportional to the sensitivity of the eye for the colours of the pixels, while in the colour camera the video voltage represents the absolute (actual) intensity present in the pixels of the picture.</a:t>
            </a:r>
          </a:p>
          <a:p>
            <a:pPr algn="just"/>
            <a:r>
              <a:rPr lang="en-US" sz="2800" dirty="0">
                <a:latin typeface="Palatino Linotype" panose="02040502050505030304" pitchFamily="18" charset="0"/>
              </a:rPr>
              <a:t>For reproducing the colours, the light incident on the camera tube is first broken into three primary colours with the help of dichroic mirrors of prisms and colour filters.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Three-Tube Camera</a:t>
            </a:r>
          </a:p>
        </p:txBody>
      </p:sp>
    </p:spTree>
    <p:extLst>
      <p:ext uri="{BB962C8B-B14F-4D97-AF65-F5344CB8AC3E}">
        <p14:creationId xmlns:p14="http://schemas.microsoft.com/office/powerpoint/2010/main" val="3179255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12</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609833" y="285948"/>
            <a:ext cx="9022373" cy="5158888"/>
          </a:xfrm>
          <a:prstGeom prst="rect">
            <a:avLst/>
          </a:prstGeom>
        </p:spPr>
      </p:pic>
      <p:sp>
        <p:nvSpPr>
          <p:cNvPr id="4" name="Rectangle 3"/>
          <p:cNvSpPr/>
          <p:nvPr/>
        </p:nvSpPr>
        <p:spPr>
          <a:xfrm>
            <a:off x="2886736" y="5723189"/>
            <a:ext cx="7253909" cy="461665"/>
          </a:xfrm>
          <a:prstGeom prst="rect">
            <a:avLst/>
          </a:prstGeom>
          <a:solidFill>
            <a:schemeClr val="accent4"/>
          </a:solidFill>
        </p:spPr>
        <p:txBody>
          <a:bodyPr wrap="none">
            <a:spAutoFit/>
          </a:bodyPr>
          <a:lstStyle/>
          <a:p>
            <a:r>
              <a:rPr lang="en-US" sz="2400" b="1" dirty="0">
                <a:latin typeface="Palatino Linotype" panose="02040502050505030304" pitchFamily="18" charset="0"/>
              </a:rPr>
              <a:t> Production of colour signals by three-tube camera</a:t>
            </a:r>
          </a:p>
        </p:txBody>
      </p:sp>
    </p:spTree>
    <p:extLst>
      <p:ext uri="{BB962C8B-B14F-4D97-AF65-F5344CB8AC3E}">
        <p14:creationId xmlns:p14="http://schemas.microsoft.com/office/powerpoint/2010/main" val="3839920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13</a:t>
            </a:fld>
            <a:endParaRPr lang="en-US" noProof="0" dirty="0"/>
          </a:p>
        </p:txBody>
      </p:sp>
      <p:pic>
        <p:nvPicPr>
          <p:cNvPr id="3" name="Picture 2"/>
          <p:cNvPicPr>
            <a:picLocks noChangeAspect="1"/>
          </p:cNvPicPr>
          <p:nvPr/>
        </p:nvPicPr>
        <p:blipFill>
          <a:blip r:embed="rId2"/>
          <a:stretch>
            <a:fillRect/>
          </a:stretch>
        </p:blipFill>
        <p:spPr>
          <a:xfrm>
            <a:off x="1003589" y="1121784"/>
            <a:ext cx="10059268" cy="5029634"/>
          </a:xfrm>
          <a:prstGeom prst="rect">
            <a:avLst/>
          </a:prstGeom>
        </p:spPr>
      </p:pic>
    </p:spTree>
    <p:extLst>
      <p:ext uri="{BB962C8B-B14F-4D97-AF65-F5344CB8AC3E}">
        <p14:creationId xmlns:p14="http://schemas.microsoft.com/office/powerpoint/2010/main" val="1926641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14</a:t>
            </a:fld>
            <a:endParaRPr lang="en-US" noProof="0" dirty="0"/>
          </a:p>
        </p:txBody>
      </p:sp>
      <p:sp>
        <p:nvSpPr>
          <p:cNvPr id="3" name="Content Placeholder 2"/>
          <p:cNvSpPr txBox="1">
            <a:spLocks/>
          </p:cNvSpPr>
          <p:nvPr/>
        </p:nvSpPr>
        <p:spPr>
          <a:xfrm>
            <a:off x="363416" y="893618"/>
            <a:ext cx="11465168" cy="5424055"/>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dichroic mirror is a precision optical device capable of reflecting one colour while transparent to others.</a:t>
            </a:r>
          </a:p>
          <a:p>
            <a:pPr lvl="1" algn="just"/>
            <a:r>
              <a:rPr lang="en-US" sz="2600" dirty="0">
                <a:latin typeface="Palatino Linotype" panose="02040502050505030304" pitchFamily="18" charset="0"/>
              </a:rPr>
              <a:t>Prisms can also serve the same purpose due to different refractions for different colours</a:t>
            </a:r>
          </a:p>
          <a:p>
            <a:pPr algn="just"/>
            <a:r>
              <a:rPr lang="en-US" sz="2800" dirty="0">
                <a:latin typeface="Palatino Linotype" panose="02040502050505030304" pitchFamily="18" charset="0"/>
              </a:rPr>
              <a:t>The three colour beams strike the three camera tubes through the colour filters.</a:t>
            </a:r>
          </a:p>
          <a:p>
            <a:pPr algn="just"/>
            <a:r>
              <a:rPr lang="en-US" sz="2800" dirty="0">
                <a:latin typeface="Palatino Linotype" panose="02040502050505030304" pitchFamily="18" charset="0"/>
              </a:rPr>
              <a:t>The colour filter allows light of that colour only for which it has been designed.</a:t>
            </a:r>
          </a:p>
          <a:p>
            <a:pPr algn="just"/>
            <a:r>
              <a:rPr lang="en-US" sz="2800" dirty="0">
                <a:latin typeface="Palatino Linotype" panose="02040502050505030304" pitchFamily="18" charset="0"/>
              </a:rPr>
              <a:t>The camera tube which receives red light from the red filter will give video signal pertaining to the brightness present in the red colour.</a:t>
            </a:r>
          </a:p>
          <a:p>
            <a:pPr algn="just"/>
            <a:r>
              <a:rPr lang="en-US" sz="2800" dirty="0">
                <a:latin typeface="Palatino Linotype" panose="02040502050505030304" pitchFamily="18" charset="0"/>
              </a:rPr>
              <a:t>The terms </a:t>
            </a:r>
            <a:r>
              <a:rPr lang="en-US" sz="2800" i="1" dirty="0">
                <a:latin typeface="Palatino Linotype" panose="02040502050505030304" pitchFamily="18" charset="0"/>
              </a:rPr>
              <a:t>V</a:t>
            </a:r>
            <a:r>
              <a:rPr lang="en-US" sz="2800" i="1" baseline="-25000" dirty="0">
                <a:latin typeface="Palatino Linotype" panose="02040502050505030304" pitchFamily="18" charset="0"/>
              </a:rPr>
              <a:t>R</a:t>
            </a:r>
            <a:r>
              <a:rPr lang="en-US" sz="2800" dirty="0">
                <a:latin typeface="Palatino Linotype" panose="02040502050505030304" pitchFamily="18" charset="0"/>
              </a:rPr>
              <a:t>, </a:t>
            </a:r>
            <a:r>
              <a:rPr lang="en-US" sz="2800" i="1" dirty="0">
                <a:latin typeface="Palatino Linotype" panose="02040502050505030304" pitchFamily="18" charset="0"/>
              </a:rPr>
              <a:t>V</a:t>
            </a:r>
            <a:r>
              <a:rPr lang="en-US" sz="2800" i="1" baseline="-25000" dirty="0">
                <a:latin typeface="Palatino Linotype" panose="02040502050505030304" pitchFamily="18" charset="0"/>
              </a:rPr>
              <a:t>G</a:t>
            </a:r>
            <a:r>
              <a:rPr lang="en-US" sz="2800" dirty="0">
                <a:latin typeface="Palatino Linotype" panose="02040502050505030304" pitchFamily="18" charset="0"/>
              </a:rPr>
              <a:t> and </a:t>
            </a:r>
            <a:r>
              <a:rPr lang="en-US" sz="2800" i="1" dirty="0">
                <a:latin typeface="Palatino Linotype" panose="02040502050505030304" pitchFamily="18" charset="0"/>
              </a:rPr>
              <a:t>V</a:t>
            </a:r>
            <a:r>
              <a:rPr lang="en-US" sz="2800" i="1" baseline="-25000" dirty="0">
                <a:latin typeface="Palatino Linotype" panose="02040502050505030304" pitchFamily="18" charset="0"/>
              </a:rPr>
              <a:t>B</a:t>
            </a:r>
            <a:r>
              <a:rPr lang="en-US" sz="2800" dirty="0">
                <a:latin typeface="Palatino Linotype" panose="02040502050505030304" pitchFamily="18" charset="0"/>
              </a:rPr>
              <a:t> represent signal voltages pertaining to red, green and blue colours, respectively.</a:t>
            </a:r>
          </a:p>
        </p:txBody>
      </p:sp>
    </p:spTree>
    <p:extLst>
      <p:ext uri="{BB962C8B-B14F-4D97-AF65-F5344CB8AC3E}">
        <p14:creationId xmlns:p14="http://schemas.microsoft.com/office/powerpoint/2010/main" val="2285138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15</a:t>
            </a:fld>
            <a:endParaRPr lang="en-US" noProof="0" dirty="0"/>
          </a:p>
        </p:txBody>
      </p:sp>
      <p:sp>
        <p:nvSpPr>
          <p:cNvPr id="3" name="Content Placeholder 2"/>
          <p:cNvSpPr>
            <a:spLocks noGrp="1"/>
          </p:cNvSpPr>
          <p:nvPr>
            <p:ph idx="1"/>
          </p:nvPr>
        </p:nvSpPr>
        <p:spPr>
          <a:xfrm>
            <a:off x="363416" y="1662544"/>
            <a:ext cx="11465168" cy="5050047"/>
          </a:xfrm>
        </p:spPr>
        <p:txBody>
          <a:bodyPr>
            <a:normAutofit/>
          </a:bodyPr>
          <a:lstStyle/>
          <a:p>
            <a:pPr algn="just"/>
            <a:r>
              <a:rPr lang="en-US" sz="2800" dirty="0">
                <a:latin typeface="Palatino Linotype" panose="02040502050505030304" pitchFamily="18" charset="0"/>
              </a:rPr>
              <a:t>The single-tube colour camera uses only one 17 mm </a:t>
            </a:r>
            <a:r>
              <a:rPr lang="en-US" sz="2800" dirty="0" err="1">
                <a:latin typeface="Palatino Linotype" panose="02040502050505030304" pitchFamily="18" charset="0"/>
              </a:rPr>
              <a:t>vidicon</a:t>
            </a:r>
            <a:r>
              <a:rPr lang="en-US" sz="2800" dirty="0">
                <a:latin typeface="Palatino Linotype" panose="02040502050505030304" pitchFamily="18" charset="0"/>
              </a:rPr>
              <a:t> tube.  </a:t>
            </a:r>
          </a:p>
          <a:p>
            <a:pPr algn="just"/>
            <a:r>
              <a:rPr lang="en-US" sz="2800" dirty="0" err="1">
                <a:latin typeface="Palatino Linotype" panose="02040502050505030304" pitchFamily="18" charset="0"/>
              </a:rPr>
              <a:t>Plumbicon</a:t>
            </a:r>
            <a:r>
              <a:rPr lang="en-US" sz="2800" dirty="0">
                <a:latin typeface="Palatino Linotype" panose="02040502050505030304" pitchFamily="18" charset="0"/>
              </a:rPr>
              <a:t> camera tube has also been successfully modified to function as a single-tube colour camera.</a:t>
            </a:r>
          </a:p>
          <a:p>
            <a:pPr algn="just"/>
            <a:r>
              <a:rPr lang="en-US" sz="2800" dirty="0">
                <a:latin typeface="Palatino Linotype" panose="02040502050505030304" pitchFamily="18" charset="0"/>
              </a:rPr>
              <a:t>In this type of camera tube, the face plate contains very close spaced stripes of red, green and blue colours which act as colour filters.</a:t>
            </a:r>
          </a:p>
          <a:p>
            <a:pPr algn="just"/>
            <a:r>
              <a:rPr lang="en-US" sz="2800" dirty="0">
                <a:latin typeface="Palatino Linotype" panose="02040502050505030304" pitchFamily="18" charset="0"/>
              </a:rPr>
              <a:t>The target also has corresponding stripes as shown in the next picture.</a:t>
            </a:r>
          </a:p>
          <a:p>
            <a:pPr algn="just"/>
            <a:r>
              <a:rPr lang="en-US" sz="2800" dirty="0">
                <a:latin typeface="Palatino Linotype" panose="02040502050505030304" pitchFamily="18" charset="0"/>
              </a:rPr>
              <a:t>The target converts colour signals into the respective charge signal pattern. </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Single-Tube Camera</a:t>
            </a:r>
          </a:p>
        </p:txBody>
      </p:sp>
    </p:spTree>
    <p:extLst>
      <p:ext uri="{BB962C8B-B14F-4D97-AF65-F5344CB8AC3E}">
        <p14:creationId xmlns:p14="http://schemas.microsoft.com/office/powerpoint/2010/main" val="944246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16</a:t>
            </a:fld>
            <a:endParaRPr lang="en-US" noProof="0" dirty="0"/>
          </a:p>
        </p:txBody>
      </p:sp>
      <p:sp>
        <p:nvSpPr>
          <p:cNvPr id="3" name="Content Placeholder 2"/>
          <p:cNvSpPr txBox="1">
            <a:spLocks/>
          </p:cNvSpPr>
          <p:nvPr/>
        </p:nvSpPr>
        <p:spPr>
          <a:xfrm>
            <a:off x="363416" y="997528"/>
            <a:ext cx="11465168" cy="571506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scanning beam produces video signals across the respective load resistors. </a:t>
            </a:r>
          </a:p>
          <a:p>
            <a:pPr algn="just"/>
            <a:r>
              <a:rPr lang="en-US" sz="2800" dirty="0">
                <a:latin typeface="Palatino Linotype" panose="02040502050505030304" pitchFamily="18" charset="0"/>
              </a:rPr>
              <a:t>Hence we get video signals corresponding to red, green and blue colour. Thus we get the same signals as we get in a three-tube camera.</a:t>
            </a:r>
          </a:p>
          <a:p>
            <a:pPr algn="just"/>
            <a:r>
              <a:rPr lang="en-US" sz="2800" dirty="0">
                <a:latin typeface="Palatino Linotype" panose="02040502050505030304" pitchFamily="18" charset="0"/>
              </a:rPr>
              <a:t>As the single-tube camera uses only one tube instead of three tubes, it is quite portable and is very suitable for electronic news gathering</a:t>
            </a:r>
          </a:p>
          <a:p>
            <a:pPr algn="just"/>
            <a:r>
              <a:rPr lang="en-US" sz="2800" dirty="0">
                <a:latin typeface="Palatino Linotype" panose="02040502050505030304" pitchFamily="18" charset="0"/>
              </a:rPr>
              <a:t>It is also suitable of use as domestic </a:t>
            </a:r>
            <a:r>
              <a:rPr lang="en-US" sz="2800">
                <a:latin typeface="Palatino Linotype" panose="02040502050505030304" pitchFamily="18" charset="0"/>
              </a:rPr>
              <a:t>colour camera.</a:t>
            </a:r>
            <a:endParaRPr lang="en-US" sz="2800" dirty="0">
              <a:latin typeface="Palatino Linotype" panose="02040502050505030304" pitchFamily="18" charset="0"/>
            </a:endParaRPr>
          </a:p>
        </p:txBody>
      </p:sp>
    </p:spTree>
    <p:extLst>
      <p:ext uri="{BB962C8B-B14F-4D97-AF65-F5344CB8AC3E}">
        <p14:creationId xmlns:p14="http://schemas.microsoft.com/office/powerpoint/2010/main" val="4036246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17</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89097" y="657712"/>
            <a:ext cx="11231180" cy="4662434"/>
          </a:xfrm>
          <a:prstGeom prst="rect">
            <a:avLst/>
          </a:prstGeom>
          <a:ln>
            <a:noFill/>
          </a:ln>
          <a:effectLst>
            <a:outerShdw blurRad="292100" dist="139700" dir="2700000" algn="tl" rotWithShape="0">
              <a:srgbClr val="333333">
                <a:alpha val="65000"/>
              </a:srgbClr>
            </a:outerShdw>
          </a:effectLst>
        </p:spPr>
      </p:pic>
      <p:sp>
        <p:nvSpPr>
          <p:cNvPr id="4" name="Rectangle 3"/>
          <p:cNvSpPr/>
          <p:nvPr/>
        </p:nvSpPr>
        <p:spPr>
          <a:xfrm>
            <a:off x="4074511" y="5660844"/>
            <a:ext cx="3860352" cy="461665"/>
          </a:xfrm>
          <a:prstGeom prst="rect">
            <a:avLst/>
          </a:prstGeom>
          <a:solidFill>
            <a:schemeClr val="accent4"/>
          </a:solidFill>
        </p:spPr>
        <p:txBody>
          <a:bodyPr wrap="none">
            <a:spAutoFit/>
          </a:bodyPr>
          <a:lstStyle/>
          <a:p>
            <a:r>
              <a:rPr lang="en-US" sz="2400" b="1" dirty="0">
                <a:latin typeface="Palatino Linotype" panose="02040502050505030304" pitchFamily="18" charset="0"/>
              </a:rPr>
              <a:t>Single-tube colour camera</a:t>
            </a:r>
          </a:p>
        </p:txBody>
      </p:sp>
    </p:spTree>
    <p:extLst>
      <p:ext uri="{BB962C8B-B14F-4D97-AF65-F5344CB8AC3E}">
        <p14:creationId xmlns:p14="http://schemas.microsoft.com/office/powerpoint/2010/main" val="523460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18</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Video signals in a colour camera tube represent voltages directly proportional to the intensity of light or brightness of the primary colours of which the actual colour of a pixel is made of.</a:t>
            </a:r>
          </a:p>
          <a:p>
            <a:pPr algn="just"/>
            <a:r>
              <a:rPr lang="en-US" sz="2800" dirty="0">
                <a:latin typeface="Palatino Linotype" panose="02040502050505030304" pitchFamily="18" charset="0"/>
              </a:rPr>
              <a:t>Voltage outputs of the colour camera tube should not depend on the sensitivity of the eye for the respective primary colours.</a:t>
            </a:r>
          </a:p>
          <a:p>
            <a:pPr algn="just"/>
            <a:r>
              <a:rPr lang="en-US" sz="2800" dirty="0">
                <a:latin typeface="Palatino Linotype" panose="02040502050505030304" pitchFamily="18" charset="0"/>
              </a:rPr>
              <a:t>This is made possible by adjusting the gain controls of individual colour cameras so that for equal intensity of  red, green and blue, the outputs are equal in all the three camera tubes.</a:t>
            </a:r>
          </a:p>
          <a:p>
            <a:pPr algn="just"/>
            <a:r>
              <a:rPr lang="en-US" sz="2800" dirty="0">
                <a:latin typeface="Palatino Linotype" panose="02040502050505030304" pitchFamily="18" charset="0"/>
              </a:rPr>
              <a:t>For example, 1 volt for each instead of 0.3 volt for red, 0.59 volt for green and 0.11 volt for blue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Adjustment of White Balance in Colour Camera</a:t>
            </a:r>
          </a:p>
        </p:txBody>
      </p:sp>
    </p:spTree>
    <p:extLst>
      <p:ext uri="{BB962C8B-B14F-4D97-AF65-F5344CB8AC3E}">
        <p14:creationId xmlns:p14="http://schemas.microsoft.com/office/powerpoint/2010/main" val="2131187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19</a:t>
            </a:fld>
            <a:endParaRPr lang="en-US" noProof="0" dirty="0"/>
          </a:p>
        </p:txBody>
      </p:sp>
      <p:sp>
        <p:nvSpPr>
          <p:cNvPr id="3" name="Content Placeholder 2"/>
          <p:cNvSpPr txBox="1">
            <a:spLocks/>
          </p:cNvSpPr>
          <p:nvPr/>
        </p:nvSpPr>
        <p:spPr>
          <a:xfrm>
            <a:off x="363416" y="723014"/>
            <a:ext cx="11465168" cy="5740193"/>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It should remain the same whether the scene is being shot outdoors in bright sun light or indoors in artificial light.</a:t>
            </a:r>
          </a:p>
          <a:p>
            <a:pPr algn="just"/>
            <a:r>
              <a:rPr lang="en-US" sz="2800" dirty="0">
                <a:latin typeface="Palatino Linotype" panose="02040502050505030304" pitchFamily="18" charset="0"/>
              </a:rPr>
              <a:t>The adjustments made in colour camera tubes to ensure fulfillment of the above conditions is called </a:t>
            </a:r>
            <a:r>
              <a:rPr lang="en-US" sz="2800" b="1" dirty="0">
                <a:solidFill>
                  <a:schemeClr val="accent1"/>
                </a:solidFill>
                <a:latin typeface="Palatino Linotype" panose="02040502050505030304" pitchFamily="18" charset="0"/>
              </a:rPr>
              <a:t>white balance adjustment</a:t>
            </a:r>
            <a:r>
              <a:rPr lang="en-US" sz="2800" dirty="0">
                <a:latin typeface="Palatino Linotype" panose="02040502050505030304" pitchFamily="18" charset="0"/>
              </a:rPr>
              <a:t>.</a:t>
            </a:r>
          </a:p>
          <a:p>
            <a:pPr algn="just"/>
            <a:r>
              <a:rPr lang="en-US" sz="2800" dirty="0">
                <a:latin typeface="Palatino Linotype" panose="02040502050505030304" pitchFamily="18" charset="0"/>
              </a:rPr>
              <a:t>Luminance signal Y will be obtained by a resistive matrix and would be 1 V for white.</a:t>
            </a:r>
          </a:p>
          <a:p>
            <a:pPr algn="just"/>
            <a:r>
              <a:rPr lang="en-US" sz="2800" dirty="0">
                <a:latin typeface="Palatino Linotype" panose="02040502050505030304" pitchFamily="18" charset="0"/>
              </a:rPr>
              <a:t>As R, B and G are 1 V each, and Y is also 1V, each colour difference signal would be zero for white.</a:t>
            </a:r>
          </a:p>
          <a:p>
            <a:pPr algn="just"/>
            <a:r>
              <a:rPr lang="en-US" sz="2800" dirty="0">
                <a:latin typeface="Palatino Linotype" panose="02040502050505030304" pitchFamily="18" charset="0"/>
              </a:rPr>
              <a:t>Modern TV cameras make white balance adjustments automatically in the actual light to be used for shooting.</a:t>
            </a:r>
          </a:p>
          <a:p>
            <a:pPr algn="just"/>
            <a:r>
              <a:rPr lang="en-US" sz="2800" dirty="0">
                <a:latin typeface="Palatino Linotype" panose="02040502050505030304" pitchFamily="18" charset="0"/>
              </a:rPr>
              <a:t>There is an autowhite button for this purpose. The camera is pointed at a white card and then the autowhite button is pressed.</a:t>
            </a:r>
          </a:p>
        </p:txBody>
      </p:sp>
    </p:spTree>
    <p:extLst>
      <p:ext uri="{BB962C8B-B14F-4D97-AF65-F5344CB8AC3E}">
        <p14:creationId xmlns:p14="http://schemas.microsoft.com/office/powerpoint/2010/main" val="1112965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20</a:t>
            </a:fld>
            <a:endParaRPr lang="en-US" noProof="0" dirty="0"/>
          </a:p>
        </p:txBody>
      </p:sp>
      <p:sp>
        <p:nvSpPr>
          <p:cNvPr id="3" name="Content Placeholder 2"/>
          <p:cNvSpPr>
            <a:spLocks noGrp="1"/>
          </p:cNvSpPr>
          <p:nvPr>
            <p:ph idx="1"/>
          </p:nvPr>
        </p:nvSpPr>
        <p:spPr>
          <a:xfrm>
            <a:off x="363416" y="1552352"/>
            <a:ext cx="11465168" cy="5160239"/>
          </a:xfrm>
        </p:spPr>
        <p:txBody>
          <a:bodyPr>
            <a:normAutofit lnSpcReduction="10000"/>
          </a:bodyPr>
          <a:lstStyle/>
          <a:p>
            <a:pPr algn="just"/>
            <a:r>
              <a:rPr lang="en-US" sz="2800" dirty="0">
                <a:latin typeface="Palatino Linotype" panose="02040502050505030304" pitchFamily="18" charset="0"/>
              </a:rPr>
              <a:t>When light at a point in a picture is converted into a video signal by a monochrome camera tube, the tube senses only the brightness contained at that point irrespective of colour and that too in accordance with the sensitivity of the eye.</a:t>
            </a:r>
          </a:p>
          <a:p>
            <a:pPr algn="just"/>
            <a:r>
              <a:rPr lang="en-US" sz="2800" dirty="0">
                <a:latin typeface="Palatino Linotype" panose="02040502050505030304" pitchFamily="18" charset="0"/>
              </a:rPr>
              <a:t>This voltage is called luminance signal. </a:t>
            </a:r>
          </a:p>
          <a:p>
            <a:pPr algn="just"/>
            <a:r>
              <a:rPr lang="en-US" sz="2800" dirty="0">
                <a:latin typeface="Palatino Linotype" panose="02040502050505030304" pitchFamily="18" charset="0"/>
              </a:rPr>
              <a:t>Suppose the monochrome camera is so adjusted that we get 1 V for a white scene (i.e. red, blue and green colours are in equal quantity, say one lumen each), it is the luminance signal.</a:t>
            </a:r>
          </a:p>
          <a:p>
            <a:pPr algn="just"/>
            <a:r>
              <a:rPr lang="en-US" sz="2800" dirty="0">
                <a:latin typeface="Palatino Linotype" panose="02040502050505030304" pitchFamily="18" charset="0"/>
              </a:rPr>
              <a:t>If the same white scene is sensed by the colour cameras (one getting red, the other green and the third, blue light), we get 1V in each camera.</a:t>
            </a:r>
          </a:p>
          <a:p>
            <a:pPr algn="just"/>
            <a:r>
              <a:rPr lang="en-US" sz="2800" dirty="0">
                <a:latin typeface="Palatino Linotype" panose="02040502050505030304" pitchFamily="18" charset="0"/>
              </a:rPr>
              <a:t>Then these will be the chrominance signals, and not the luminance signal.</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Luminance Signal</a:t>
            </a:r>
          </a:p>
        </p:txBody>
      </p:sp>
    </p:spTree>
    <p:extLst>
      <p:ext uri="{BB962C8B-B14F-4D97-AF65-F5344CB8AC3E}">
        <p14:creationId xmlns:p14="http://schemas.microsoft.com/office/powerpoint/2010/main" val="4157691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21</a:t>
            </a:fld>
            <a:endParaRPr lang="en-US" noProof="0" dirty="0"/>
          </a:p>
        </p:txBody>
      </p:sp>
      <mc:AlternateContent xmlns:mc="http://schemas.openxmlformats.org/markup-compatibility/2006" xmlns:a14="http://schemas.microsoft.com/office/drawing/2010/main">
        <mc:Choice Requires="a14">
          <p:sp>
            <p:nvSpPr>
              <p:cNvPr id="3" name="Content Placeholder 2"/>
              <p:cNvSpPr txBox="1">
                <a:spLocks/>
              </p:cNvSpPr>
              <p:nvPr/>
            </p:nvSpPr>
            <p:spPr>
              <a:xfrm>
                <a:off x="363416" y="637954"/>
                <a:ext cx="11465168" cy="6074638"/>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However, the three outputs can be converted into the luminance signal of 1 volt by designing a resistive matrix such that</a:t>
                </a:r>
              </a:p>
              <a:p>
                <a:pPr marL="0" indent="0" algn="just">
                  <a:buNone/>
                </a:pPr>
                <a:r>
                  <a:rPr lang="en-US" sz="2800" dirty="0">
                    <a:latin typeface="Palatino Linotype" panose="02040502050505030304" pitchFamily="18" charset="0"/>
                  </a:rPr>
                  <a:t>		1V red input to the matrix gives 0.3 V output</a:t>
                </a:r>
              </a:p>
              <a:p>
                <a:pPr marL="0" indent="0" algn="just">
                  <a:buNone/>
                </a:pPr>
                <a:r>
                  <a:rPr lang="en-US" sz="2800" dirty="0">
                    <a:latin typeface="Palatino Linotype" panose="02040502050505030304" pitchFamily="18" charset="0"/>
                  </a:rPr>
                  <a:t>		1V green input gives 0.59 V output</a:t>
                </a:r>
              </a:p>
              <a:p>
                <a:pPr marL="0" indent="0" algn="just">
                  <a:buNone/>
                </a:pPr>
                <a:r>
                  <a:rPr lang="en-US" sz="2800" dirty="0">
                    <a:latin typeface="Palatino Linotype" panose="02040502050505030304" pitchFamily="18" charset="0"/>
                  </a:rPr>
                  <a:t>		1V blue input gives 0.11 V output</a:t>
                </a:r>
              </a:p>
              <a:p>
                <a:pPr algn="just"/>
                <a:r>
                  <a:rPr lang="en-US" sz="2800" dirty="0">
                    <a:latin typeface="Palatino Linotype" panose="02040502050505030304" pitchFamily="18" charset="0"/>
                  </a:rPr>
                  <a:t>These fractions have been chosen as per sensitivity of the eye for the respective colours and the resultant voltage is therefore the luminance signal.</a:t>
                </a:r>
              </a:p>
              <a:p>
                <a:pPr algn="just"/>
                <a:r>
                  <a:rPr lang="en-US" sz="2800" dirty="0">
                    <a:latin typeface="Palatino Linotype" panose="02040502050505030304" pitchFamily="18" charset="0"/>
                  </a:rPr>
                  <a:t>This comes from the equation </a:t>
                </a:r>
                <a14:m>
                  <m:oMath xmlns:m="http://schemas.openxmlformats.org/officeDocument/2006/math">
                    <m:r>
                      <a:rPr lang="en-US" sz="2800" b="0" i="1" smtClean="0">
                        <a:latin typeface="Cambria Math" panose="02040503050406030204" pitchFamily="18" charset="0"/>
                      </a:rPr>
                      <m:t>𝑌</m:t>
                    </m:r>
                    <m:r>
                      <a:rPr lang="en-US" sz="2800" b="0" i="1" smtClean="0">
                        <a:latin typeface="Cambria Math" panose="02040503050406030204" pitchFamily="18" charset="0"/>
                      </a:rPr>
                      <m:t>=0.3</m:t>
                    </m:r>
                    <m:r>
                      <a:rPr lang="en-US" sz="2800" b="0" i="1" smtClean="0">
                        <a:latin typeface="Cambria Math" panose="02040503050406030204" pitchFamily="18" charset="0"/>
                      </a:rPr>
                      <m:t>𝑅</m:t>
                    </m:r>
                    <m:r>
                      <a:rPr lang="en-US" sz="2800" b="0" i="1" smtClean="0">
                        <a:latin typeface="Cambria Math" panose="02040503050406030204" pitchFamily="18" charset="0"/>
                      </a:rPr>
                      <m:t>+0.59</m:t>
                    </m:r>
                    <m:r>
                      <a:rPr lang="en-US" sz="2800" b="0" i="1" smtClean="0">
                        <a:latin typeface="Cambria Math" panose="02040503050406030204" pitchFamily="18" charset="0"/>
                      </a:rPr>
                      <m:t>𝐺</m:t>
                    </m:r>
                    <m:r>
                      <a:rPr lang="en-US" sz="2800" b="0" i="1" smtClean="0">
                        <a:latin typeface="Cambria Math" panose="02040503050406030204" pitchFamily="18" charset="0"/>
                      </a:rPr>
                      <m:t>+0.11</m:t>
                    </m:r>
                    <m:r>
                      <a:rPr lang="en-US" sz="2800" b="0" i="1" smtClean="0">
                        <a:latin typeface="Cambria Math" panose="02040503050406030204" pitchFamily="18" charset="0"/>
                      </a:rPr>
                      <m:t>𝐵</m:t>
                    </m:r>
                  </m:oMath>
                </a14:m>
                <a:endParaRPr lang="en-US" sz="2800" dirty="0">
                  <a:latin typeface="Palatino Linotype" panose="02040502050505030304" pitchFamily="18" charset="0"/>
                </a:endParaRPr>
              </a:p>
              <a:p>
                <a:pPr algn="just"/>
                <a:r>
                  <a:rPr lang="en-US" sz="2800" i="1" dirty="0">
                    <a:latin typeface="Palatino Linotype" panose="02040502050505030304" pitchFamily="18" charset="0"/>
                  </a:rPr>
                  <a:t>R, G </a:t>
                </a:r>
                <a:r>
                  <a:rPr lang="en-US" sz="2800" dirty="0">
                    <a:latin typeface="Palatino Linotype" panose="02040502050505030304" pitchFamily="18" charset="0"/>
                  </a:rPr>
                  <a:t>and </a:t>
                </a:r>
                <a:r>
                  <a:rPr lang="en-US" sz="2800" i="1" dirty="0">
                    <a:latin typeface="Palatino Linotype" panose="02040502050505030304" pitchFamily="18" charset="0"/>
                  </a:rPr>
                  <a:t>B</a:t>
                </a:r>
                <a:r>
                  <a:rPr lang="en-US" sz="2800" dirty="0">
                    <a:latin typeface="Palatino Linotype" panose="02040502050505030304" pitchFamily="18" charset="0"/>
                  </a:rPr>
                  <a:t> indicate voltages which are also represented as </a:t>
                </a:r>
                <a:r>
                  <a:rPr lang="en-US" sz="2800" i="1" dirty="0">
                    <a:latin typeface="Palatino Linotype" panose="02040502050505030304" pitchFamily="18" charset="0"/>
                  </a:rPr>
                  <a:t>V</a:t>
                </a:r>
                <a:r>
                  <a:rPr lang="en-US" sz="2800" i="1" baseline="-25000" dirty="0">
                    <a:latin typeface="Palatino Linotype" panose="02040502050505030304" pitchFamily="18" charset="0"/>
                  </a:rPr>
                  <a:t>R</a:t>
                </a:r>
                <a:r>
                  <a:rPr lang="en-US" sz="2800" i="1" dirty="0">
                    <a:latin typeface="Palatino Linotype" panose="02040502050505030304" pitchFamily="18" charset="0"/>
                  </a:rPr>
                  <a:t>, V</a:t>
                </a:r>
                <a:r>
                  <a:rPr lang="en-US" sz="2800" i="1" baseline="-25000" dirty="0">
                    <a:latin typeface="Palatino Linotype" panose="02040502050505030304" pitchFamily="18" charset="0"/>
                  </a:rPr>
                  <a:t>G</a:t>
                </a:r>
                <a:r>
                  <a:rPr lang="en-US" sz="2800" baseline="-25000" dirty="0">
                    <a:latin typeface="Palatino Linotype" panose="02040502050505030304" pitchFamily="18" charset="0"/>
                  </a:rPr>
                  <a:t> </a:t>
                </a:r>
                <a:r>
                  <a:rPr lang="en-US" sz="2800" dirty="0">
                    <a:latin typeface="Palatino Linotype" panose="02040502050505030304" pitchFamily="18" charset="0"/>
                  </a:rPr>
                  <a:t>and </a:t>
                </a:r>
                <a:r>
                  <a:rPr lang="en-US" sz="2800" i="1" dirty="0">
                    <a:latin typeface="Palatino Linotype" panose="02040502050505030304" pitchFamily="18" charset="0"/>
                  </a:rPr>
                  <a:t>V</a:t>
                </a:r>
                <a:r>
                  <a:rPr lang="en-US" sz="2800" i="1" baseline="-25000" dirty="0">
                    <a:latin typeface="Palatino Linotype" panose="02040502050505030304" pitchFamily="18" charset="0"/>
                  </a:rPr>
                  <a:t>B</a:t>
                </a:r>
                <a:r>
                  <a:rPr lang="en-US" sz="2800" i="1" dirty="0">
                    <a:latin typeface="Palatino Linotype" panose="02040502050505030304" pitchFamily="18" charset="0"/>
                  </a:rPr>
                  <a:t>, </a:t>
                </a:r>
                <a:r>
                  <a:rPr lang="en-US" sz="2800" dirty="0">
                    <a:latin typeface="Palatino Linotype" panose="02040502050505030304" pitchFamily="18" charset="0"/>
                  </a:rPr>
                  <a:t>respectively. </a:t>
                </a:r>
              </a:p>
              <a:p>
                <a:pPr algn="just"/>
                <a:r>
                  <a:rPr lang="en-US" sz="2800" dirty="0">
                    <a:latin typeface="Palatino Linotype" panose="02040502050505030304" pitchFamily="18" charset="0"/>
                  </a:rPr>
                  <a:t>A resistive matrix has been shown in the next figure</a:t>
                </a:r>
              </a:p>
            </p:txBody>
          </p:sp>
        </mc:Choice>
        <mc:Fallback xmlns="">
          <p:sp>
            <p:nvSpPr>
              <p:cNvPr id="3" name="Content Placeholder 2"/>
              <p:cNvSpPr txBox="1">
                <a:spLocks noRot="1" noChangeAspect="1" noMove="1" noResize="1" noEditPoints="1" noAdjustHandles="1" noChangeArrowheads="1" noChangeShapeType="1" noTextEdit="1"/>
              </p:cNvSpPr>
              <p:nvPr/>
            </p:nvSpPr>
            <p:spPr>
              <a:xfrm>
                <a:off x="363416" y="637954"/>
                <a:ext cx="11465168" cy="6074638"/>
              </a:xfrm>
              <a:prstGeom prst="rect">
                <a:avLst/>
              </a:prstGeom>
              <a:blipFill rotWithShape="0">
                <a:blip r:embed="rId2"/>
                <a:stretch>
                  <a:fillRect l="-957" t="-1908" r="-1117"/>
                </a:stretch>
              </a:blipFill>
            </p:spPr>
            <p:txBody>
              <a:bodyPr/>
              <a:lstStyle/>
              <a:p>
                <a:r>
                  <a:rPr lang="en-US">
                    <a:noFill/>
                  </a:rPr>
                  <a:t> </a:t>
                </a:r>
              </a:p>
            </p:txBody>
          </p:sp>
        </mc:Fallback>
      </mc:AlternateContent>
    </p:spTree>
    <p:extLst>
      <p:ext uri="{BB962C8B-B14F-4D97-AF65-F5344CB8AC3E}">
        <p14:creationId xmlns:p14="http://schemas.microsoft.com/office/powerpoint/2010/main" val="3067933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22</a:t>
            </a:fld>
            <a:endParaRPr lang="en-US" noProof="0" dirty="0"/>
          </a:p>
        </p:txBody>
      </p:sp>
      <p:pic>
        <p:nvPicPr>
          <p:cNvPr id="3" name="Picture 2"/>
          <p:cNvPicPr>
            <a:picLocks noChangeAspect="1"/>
          </p:cNvPicPr>
          <p:nvPr/>
        </p:nvPicPr>
        <p:blipFill>
          <a:blip r:embed="rId2"/>
          <a:stretch>
            <a:fillRect/>
          </a:stretch>
        </p:blipFill>
        <p:spPr>
          <a:xfrm>
            <a:off x="334638" y="1782587"/>
            <a:ext cx="6494353" cy="27227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Rectangle 3"/>
          <p:cNvSpPr/>
          <p:nvPr/>
        </p:nvSpPr>
        <p:spPr>
          <a:xfrm>
            <a:off x="187380" y="4729993"/>
            <a:ext cx="6875600" cy="461665"/>
          </a:xfrm>
          <a:prstGeom prst="rect">
            <a:avLst/>
          </a:prstGeom>
          <a:solidFill>
            <a:schemeClr val="accent4">
              <a:lumMod val="60000"/>
              <a:lumOff val="40000"/>
            </a:schemeClr>
          </a:solidFill>
        </p:spPr>
        <p:txBody>
          <a:bodyPr wrap="none">
            <a:spAutoFit/>
          </a:bodyPr>
          <a:lstStyle/>
          <a:p>
            <a:r>
              <a:rPr lang="en-US" sz="2400" b="1" dirty="0">
                <a:latin typeface="Palatino Linotype" panose="02040502050505030304" pitchFamily="18" charset="0"/>
              </a:rPr>
              <a:t>Resistive matrix for obtaining luminance signal</a:t>
            </a:r>
          </a:p>
        </p:txBody>
      </p:sp>
      <p:grpSp>
        <p:nvGrpSpPr>
          <p:cNvPr id="7" name="Group 6"/>
          <p:cNvGrpSpPr/>
          <p:nvPr/>
        </p:nvGrpSpPr>
        <p:grpSpPr>
          <a:xfrm>
            <a:off x="7523822" y="235273"/>
            <a:ext cx="4113997" cy="6144806"/>
            <a:chOff x="7482258" y="318401"/>
            <a:chExt cx="4113997" cy="6144806"/>
          </a:xfrm>
        </p:grpSpPr>
        <p:pic>
          <p:nvPicPr>
            <p:cNvPr id="5" name="Picture 4"/>
            <p:cNvPicPr>
              <a:picLocks noChangeAspect="1"/>
            </p:cNvPicPr>
            <p:nvPr/>
          </p:nvPicPr>
          <p:blipFill>
            <a:blip r:embed="rId3"/>
            <a:stretch>
              <a:fillRect/>
            </a:stretch>
          </p:blipFill>
          <p:spPr>
            <a:xfrm>
              <a:off x="7484154" y="318401"/>
              <a:ext cx="4112101" cy="3998402"/>
            </a:xfrm>
            <a:prstGeom prst="rect">
              <a:avLst/>
            </a:prstGeom>
          </p:spPr>
        </p:pic>
        <p:pic>
          <p:nvPicPr>
            <p:cNvPr id="6" name="Picture 5"/>
            <p:cNvPicPr>
              <a:picLocks noChangeAspect="1"/>
            </p:cNvPicPr>
            <p:nvPr/>
          </p:nvPicPr>
          <p:blipFill>
            <a:blip r:embed="rId4"/>
            <a:stretch>
              <a:fillRect/>
            </a:stretch>
          </p:blipFill>
          <p:spPr>
            <a:xfrm>
              <a:off x="7482258" y="4316803"/>
              <a:ext cx="4105260" cy="2146404"/>
            </a:xfrm>
            <a:prstGeom prst="rect">
              <a:avLst/>
            </a:prstGeom>
          </p:spPr>
        </p:pic>
      </p:grpSp>
    </p:spTree>
    <p:extLst>
      <p:ext uri="{BB962C8B-B14F-4D97-AF65-F5344CB8AC3E}">
        <p14:creationId xmlns:p14="http://schemas.microsoft.com/office/powerpoint/2010/main" val="1554965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23</a:t>
            </a:fld>
            <a:endParaRPr lang="en-US" noProof="0" dirty="0"/>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Example 01</a:t>
            </a:r>
          </a:p>
        </p:txBody>
      </p:sp>
      <p:pic>
        <p:nvPicPr>
          <p:cNvPr id="5" name="Picture 4"/>
          <p:cNvPicPr>
            <a:picLocks noChangeAspect="1"/>
          </p:cNvPicPr>
          <p:nvPr/>
        </p:nvPicPr>
        <p:blipFill>
          <a:blip r:embed="rId2"/>
          <a:stretch>
            <a:fillRect/>
          </a:stretch>
        </p:blipFill>
        <p:spPr>
          <a:xfrm>
            <a:off x="363416" y="1976498"/>
            <a:ext cx="11683473" cy="2948793"/>
          </a:xfrm>
          <a:prstGeom prst="rect">
            <a:avLst/>
          </a:prstGeom>
          <a:ln w="38100" cap="sq">
            <a:no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86508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24</a:t>
            </a:fld>
            <a:endParaRPr lang="en-US" noProof="0" dirty="0"/>
          </a:p>
        </p:txBody>
      </p:sp>
      <mc:AlternateContent xmlns:mc="http://schemas.openxmlformats.org/markup-compatibility/2006" xmlns:a14="http://schemas.microsoft.com/office/drawing/2010/main">
        <mc:Choice Requires="a14">
          <p:sp>
            <p:nvSpPr>
              <p:cNvPr id="3" name="Content Placeholder 2"/>
              <p:cNvSpPr txBox="1">
                <a:spLocks/>
              </p:cNvSpPr>
              <p:nvPr/>
            </p:nvSpPr>
            <p:spPr>
              <a:xfrm>
                <a:off x="363416" y="637954"/>
                <a:ext cx="11465168" cy="6074638"/>
              </a:xfrm>
              <a:prstGeom prst="rect">
                <a:avLst/>
              </a:prstGeom>
            </p:spPr>
            <p:txBody>
              <a:bodyPr>
                <a:normAutofit lnSpcReduction="10000"/>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above example shows that a white scene consisting of red, green and blue in equal amount will require a resistive matrix, consisting of </a:t>
                </a:r>
                <a:r>
                  <a:rPr lang="en-US" sz="2800" i="1" dirty="0">
                    <a:latin typeface="Palatino Linotype" panose="02040502050505030304" pitchFamily="18" charset="0"/>
                  </a:rPr>
                  <a:t>R</a:t>
                </a:r>
                <a:r>
                  <a:rPr lang="en-US" sz="2800" i="1" baseline="-25000" dirty="0">
                    <a:latin typeface="Palatino Linotype" panose="02040502050505030304" pitchFamily="18" charset="0"/>
                  </a:rPr>
                  <a:t>1</a:t>
                </a:r>
                <a:r>
                  <a:rPr lang="en-US" sz="2800" i="1" dirty="0">
                    <a:latin typeface="Palatino Linotype" panose="02040502050505030304" pitchFamily="18" charset="0"/>
                  </a:rPr>
                  <a:t> </a:t>
                </a:r>
                <a:r>
                  <a:rPr lang="en-US" sz="2800" dirty="0">
                    <a:latin typeface="Palatino Linotype" panose="02040502050505030304" pitchFamily="18" charset="0"/>
                  </a:rPr>
                  <a:t>= 70 k</a:t>
                </a:r>
                <a:r>
                  <a:rPr lang="el-GR" sz="2800" dirty="0">
                    <a:latin typeface="Palatino Linotype" panose="02040502050505030304" pitchFamily="18" charset="0"/>
                  </a:rPr>
                  <a:t>Ω</a:t>
                </a:r>
                <a:r>
                  <a:rPr lang="en-US" sz="2800" dirty="0">
                    <a:latin typeface="Palatino Linotype" panose="02040502050505030304" pitchFamily="18" charset="0"/>
                  </a:rPr>
                  <a:t>, </a:t>
                </a:r>
                <a:r>
                  <a:rPr lang="en-US" sz="2800" i="1" dirty="0">
                    <a:latin typeface="Palatino Linotype" panose="02040502050505030304" pitchFamily="18" charset="0"/>
                  </a:rPr>
                  <a:t>R</a:t>
                </a:r>
                <a:r>
                  <a:rPr lang="en-US" sz="2800" i="1" baseline="-25000" dirty="0">
                    <a:latin typeface="Palatino Linotype" panose="02040502050505030304" pitchFamily="18" charset="0"/>
                  </a:rPr>
                  <a:t>2</a:t>
                </a:r>
                <a:r>
                  <a:rPr lang="en-US" sz="2800" dirty="0">
                    <a:latin typeface="Palatino Linotype" panose="02040502050505030304" pitchFamily="18" charset="0"/>
                  </a:rPr>
                  <a:t> = 21 k</a:t>
                </a:r>
                <a:r>
                  <a:rPr lang="el-GR" sz="2800" dirty="0">
                    <a:latin typeface="Palatino Linotype" panose="02040502050505030304" pitchFamily="18" charset="0"/>
                  </a:rPr>
                  <a:t>Ω</a:t>
                </a:r>
                <a:r>
                  <a:rPr lang="en-US" sz="2800" dirty="0">
                    <a:latin typeface="Palatino Linotype" panose="02040502050505030304" pitchFamily="18" charset="0"/>
                  </a:rPr>
                  <a:t> and </a:t>
                </a:r>
                <a:r>
                  <a:rPr lang="en-US" sz="2800" i="1" dirty="0">
                    <a:latin typeface="Palatino Linotype" panose="02040502050505030304" pitchFamily="18" charset="0"/>
                  </a:rPr>
                  <a:t>R</a:t>
                </a:r>
                <a:r>
                  <a:rPr lang="en-US" sz="2800" i="1" baseline="-25000" dirty="0">
                    <a:latin typeface="Palatino Linotype" panose="02040502050505030304" pitchFamily="18" charset="0"/>
                  </a:rPr>
                  <a:t>3</a:t>
                </a:r>
                <a:r>
                  <a:rPr lang="en-US" sz="2800" dirty="0">
                    <a:latin typeface="Palatino Linotype" panose="02040502050505030304" pitchFamily="18" charset="0"/>
                  </a:rPr>
                  <a:t> = 243 k</a:t>
                </a:r>
                <a:r>
                  <a:rPr lang="el-GR" sz="2800" dirty="0">
                    <a:latin typeface="Palatino Linotype" panose="02040502050505030304" pitchFamily="18" charset="0"/>
                  </a:rPr>
                  <a:t>Ω</a:t>
                </a:r>
                <a:r>
                  <a:rPr lang="en-US" sz="2800" dirty="0">
                    <a:latin typeface="Palatino Linotype" panose="02040502050505030304" pitchFamily="18" charset="0"/>
                  </a:rPr>
                  <a:t> when the load resistor is 30 k</a:t>
                </a:r>
                <a:r>
                  <a:rPr lang="el-GR" sz="2800" dirty="0">
                    <a:latin typeface="Palatino Linotype" panose="02040502050505030304" pitchFamily="18" charset="0"/>
                  </a:rPr>
                  <a:t>Ω</a:t>
                </a:r>
                <a:endParaRPr lang="en-US" sz="2800" dirty="0">
                  <a:latin typeface="Palatino Linotype" panose="02040502050505030304" pitchFamily="18" charset="0"/>
                </a:endParaRPr>
              </a:p>
              <a:p>
                <a:pPr algn="just"/>
                <a:r>
                  <a:rPr lang="en-US" sz="2800" dirty="0">
                    <a:latin typeface="Palatino Linotype" panose="02040502050505030304" pitchFamily="18" charset="0"/>
                  </a:rPr>
                  <a:t>With these resistors, 1 volt of each primary colour signal will give 1 volt of luminance signal (0.3 + 0.59 + 0.11 = 1 V) and therefore it will be equal to the signal produced by a monochrome camera.</a:t>
                </a:r>
              </a:p>
              <a:p>
                <a:pPr algn="just"/>
                <a:r>
                  <a:rPr lang="en-US" sz="2800" dirty="0">
                    <a:latin typeface="Palatino Linotype" panose="02040502050505030304" pitchFamily="18" charset="0"/>
                  </a:rPr>
                  <a:t>Similarly, if we sense a yellow colour in the colour camera, we shall get red = 1V, green = 1 V, blue = 0 V.</a:t>
                </a:r>
              </a:p>
              <a:p>
                <a:pPr algn="just"/>
                <a:r>
                  <a:rPr lang="en-US" sz="2800" dirty="0">
                    <a:latin typeface="Palatino Linotype" panose="02040502050505030304" pitchFamily="18" charset="0"/>
                  </a:rPr>
                  <a:t>The luminance signal which we shall get from the resistive matrix will be Y = 0.3 + 0.59 + 0 = 0.89 volt.</a:t>
                </a:r>
              </a:p>
              <a:p>
                <a:pPr algn="just"/>
                <a:r>
                  <a:rPr lang="en-US" sz="2800" dirty="0">
                    <a:latin typeface="Palatino Linotype" panose="02040502050505030304" pitchFamily="18" charset="0"/>
                  </a:rPr>
                  <a:t>Thus the luminance signal obtained in the colour camera is the same as would be obtained in a monochrome camera.</a:t>
                </a:r>
              </a:p>
              <a:p>
                <a:pPr algn="just"/>
                <a:r>
                  <a:rPr lang="en-US" sz="2800" dirty="0">
                    <a:latin typeface="Palatino Linotype" panose="02040502050505030304" pitchFamily="18" charset="0"/>
                  </a:rPr>
                  <a:t>Luminance values obtained for all the primary and secondary colours, calculated by the equation </a:t>
                </a:r>
                <a14:m>
                  <m:oMath xmlns:m="http://schemas.openxmlformats.org/officeDocument/2006/math">
                    <m:r>
                      <a:rPr lang="en-US" sz="2800" i="1">
                        <a:latin typeface="Cambria Math" panose="02040503050406030204" pitchFamily="18" charset="0"/>
                      </a:rPr>
                      <m:t>𝑌</m:t>
                    </m:r>
                    <m:r>
                      <a:rPr lang="en-US" sz="2800" i="1">
                        <a:latin typeface="Cambria Math" panose="02040503050406030204" pitchFamily="18" charset="0"/>
                      </a:rPr>
                      <m:t>=0.3</m:t>
                    </m:r>
                    <m:r>
                      <a:rPr lang="en-US" sz="2800" i="1">
                        <a:latin typeface="Cambria Math" panose="02040503050406030204" pitchFamily="18" charset="0"/>
                      </a:rPr>
                      <m:t>𝑅</m:t>
                    </m:r>
                    <m:r>
                      <a:rPr lang="en-US" sz="2800" i="1">
                        <a:latin typeface="Cambria Math" panose="02040503050406030204" pitchFamily="18" charset="0"/>
                      </a:rPr>
                      <m:t>+0.59</m:t>
                    </m:r>
                    <m:r>
                      <a:rPr lang="en-US" sz="2800" i="1">
                        <a:latin typeface="Cambria Math" panose="02040503050406030204" pitchFamily="18" charset="0"/>
                      </a:rPr>
                      <m:t>𝐺</m:t>
                    </m:r>
                    <m:r>
                      <a:rPr lang="en-US" sz="2800" i="1">
                        <a:latin typeface="Cambria Math" panose="02040503050406030204" pitchFamily="18" charset="0"/>
                      </a:rPr>
                      <m:t>+0.11</m:t>
                    </m:r>
                    <m:r>
                      <a:rPr lang="en-US" sz="2800" i="1">
                        <a:latin typeface="Cambria Math" panose="02040503050406030204" pitchFamily="18" charset="0"/>
                      </a:rPr>
                      <m:t>𝐵</m:t>
                    </m:r>
                  </m:oMath>
                </a14:m>
                <a:r>
                  <a:rPr lang="en-US" sz="2800" dirty="0">
                    <a:latin typeface="Palatino Linotype" panose="02040502050505030304" pitchFamily="18" charset="0"/>
                  </a:rPr>
                  <a:t> are illustrated in the next figure</a:t>
                </a:r>
              </a:p>
              <a:p>
                <a:pPr algn="just"/>
                <a:endParaRPr lang="en-US" sz="2800" dirty="0">
                  <a:latin typeface="Palatino Linotype" panose="02040502050505030304" pitchFamily="18" charset="0"/>
                </a:endParaRPr>
              </a:p>
            </p:txBody>
          </p:sp>
        </mc:Choice>
        <mc:Fallback xmlns="">
          <p:sp>
            <p:nvSpPr>
              <p:cNvPr id="3" name="Content Placeholder 2"/>
              <p:cNvSpPr txBox="1">
                <a:spLocks noRot="1" noChangeAspect="1" noMove="1" noResize="1" noEditPoints="1" noAdjustHandles="1" noChangeArrowheads="1" noChangeShapeType="1" noTextEdit="1"/>
              </p:cNvSpPr>
              <p:nvPr/>
            </p:nvSpPr>
            <p:spPr>
              <a:xfrm>
                <a:off x="363416" y="637954"/>
                <a:ext cx="11465168" cy="6074638"/>
              </a:xfrm>
              <a:prstGeom prst="rect">
                <a:avLst/>
              </a:prstGeom>
              <a:blipFill rotWithShape="0">
                <a:blip r:embed="rId2"/>
                <a:stretch>
                  <a:fillRect l="-957" t="-2410" r="-1117"/>
                </a:stretch>
              </a:blipFill>
            </p:spPr>
            <p:txBody>
              <a:bodyPr/>
              <a:lstStyle/>
              <a:p>
                <a:r>
                  <a:rPr lang="en-US">
                    <a:noFill/>
                  </a:rPr>
                  <a:t> </a:t>
                </a:r>
              </a:p>
            </p:txBody>
          </p:sp>
        </mc:Fallback>
      </mc:AlternateContent>
    </p:spTree>
    <p:extLst>
      <p:ext uri="{BB962C8B-B14F-4D97-AF65-F5344CB8AC3E}">
        <p14:creationId xmlns:p14="http://schemas.microsoft.com/office/powerpoint/2010/main" val="897295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25</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490367" y="680419"/>
            <a:ext cx="7365442" cy="4868326"/>
          </a:xfrm>
          <a:prstGeom prst="rect">
            <a:avLst/>
          </a:prstGeom>
        </p:spPr>
      </p:pic>
      <p:sp>
        <p:nvSpPr>
          <p:cNvPr id="4" name="Rectangle 3"/>
          <p:cNvSpPr/>
          <p:nvPr/>
        </p:nvSpPr>
        <p:spPr>
          <a:xfrm>
            <a:off x="2781436" y="5775143"/>
            <a:ext cx="7074373" cy="461665"/>
          </a:xfrm>
          <a:prstGeom prst="rect">
            <a:avLst/>
          </a:prstGeom>
          <a:solidFill>
            <a:schemeClr val="accent4">
              <a:lumMod val="60000"/>
              <a:lumOff val="40000"/>
            </a:schemeClr>
          </a:solidFill>
        </p:spPr>
        <p:txBody>
          <a:bodyPr wrap="none">
            <a:spAutoFit/>
          </a:bodyPr>
          <a:lstStyle/>
          <a:p>
            <a:r>
              <a:rPr lang="en-US" sz="2400" b="1" dirty="0">
                <a:latin typeface="Palatino Linotype" panose="02040502050505030304" pitchFamily="18" charset="0"/>
              </a:rPr>
              <a:t> Staircase diagram showing luminance of colours</a:t>
            </a:r>
          </a:p>
        </p:txBody>
      </p:sp>
    </p:spTree>
    <p:extLst>
      <p:ext uri="{BB962C8B-B14F-4D97-AF65-F5344CB8AC3E}">
        <p14:creationId xmlns:p14="http://schemas.microsoft.com/office/powerpoint/2010/main" val="39898916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26</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When light from a pixel falls on a colour camera, the composite colour of the pixel is broken into three primary colours which produce video signal voltages, R, G, and B volts proportionate to the intensity present in the red, green, and blue light, respectively. </a:t>
            </a:r>
          </a:p>
          <a:p>
            <a:pPr algn="just"/>
            <a:r>
              <a:rPr lang="en-US" sz="2800" dirty="0">
                <a:latin typeface="Palatino Linotype" panose="02040502050505030304" pitchFamily="18" charset="0"/>
              </a:rPr>
              <a:t>These three voltages taken individually represent primary colours present in the composite hue of the pixel (because each camera receives only a particular primary colour)</a:t>
            </a:r>
          </a:p>
          <a:p>
            <a:pPr algn="just"/>
            <a:r>
              <a:rPr lang="en-US" sz="2800" dirty="0">
                <a:latin typeface="Palatino Linotype" panose="02040502050505030304" pitchFamily="18" charset="0"/>
              </a:rPr>
              <a:t>They also represent saturation of the colours.</a:t>
            </a:r>
          </a:p>
          <a:p>
            <a:pPr algn="just"/>
            <a:r>
              <a:rPr lang="en-US" sz="2800" dirty="0">
                <a:latin typeface="Palatino Linotype" panose="02040502050505030304" pitchFamily="18" charset="0"/>
              </a:rPr>
              <a:t>These three signals are called </a:t>
            </a:r>
            <a:r>
              <a:rPr lang="en-US" sz="2800" b="1" dirty="0">
                <a:solidFill>
                  <a:schemeClr val="accent1"/>
                </a:solidFill>
                <a:latin typeface="Palatino Linotype" panose="02040502050505030304" pitchFamily="18" charset="0"/>
              </a:rPr>
              <a:t>chrominance signals </a:t>
            </a:r>
            <a:r>
              <a:rPr lang="en-US" sz="2800" dirty="0">
                <a:latin typeface="Palatino Linotype" panose="02040502050505030304" pitchFamily="18" charset="0"/>
              </a:rPr>
              <a:t>as they are related to the colour or hue of the concerned pixel</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Chrominance Signal</a:t>
            </a:r>
          </a:p>
        </p:txBody>
      </p:sp>
    </p:spTree>
    <p:extLst>
      <p:ext uri="{BB962C8B-B14F-4D97-AF65-F5344CB8AC3E}">
        <p14:creationId xmlns:p14="http://schemas.microsoft.com/office/powerpoint/2010/main" val="12084612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27</a:t>
            </a:fld>
            <a:endParaRPr lang="en-US" noProof="0" dirty="0"/>
          </a:p>
        </p:txBody>
      </p:sp>
      <p:sp>
        <p:nvSpPr>
          <p:cNvPr id="3" name="Content Placeholder 2"/>
          <p:cNvSpPr txBox="1">
            <a:spLocks/>
          </p:cNvSpPr>
          <p:nvPr/>
        </p:nvSpPr>
        <p:spPr>
          <a:xfrm>
            <a:off x="363416" y="789709"/>
            <a:ext cx="11465168" cy="538725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However, for the sake of compatibility with the black and white TV system, the colour signals are not transmitted as such, but they are transmitted by converting then into colour difference signals.</a:t>
            </a:r>
          </a:p>
          <a:p>
            <a:pPr algn="just"/>
            <a:r>
              <a:rPr lang="en-US" sz="2800" dirty="0">
                <a:latin typeface="Palatino Linotype" panose="02040502050505030304" pitchFamily="18" charset="0"/>
              </a:rPr>
              <a:t>There would be three colour difference signals: </a:t>
            </a:r>
            <a:r>
              <a:rPr lang="en-US" sz="2800" b="1" i="1" dirty="0">
                <a:latin typeface="Palatino Linotype" panose="02040502050505030304" pitchFamily="18" charset="0"/>
              </a:rPr>
              <a:t>B–Y, R–Y and G–Y </a:t>
            </a:r>
          </a:p>
          <a:p>
            <a:pPr algn="just"/>
            <a:r>
              <a:rPr lang="en-US" sz="2800" dirty="0">
                <a:latin typeface="Palatino Linotype" panose="02040502050505030304" pitchFamily="18" charset="0"/>
              </a:rPr>
              <a:t>These can be obtained by inverting the Y signal and adding the inverted Y (i.e. –Y ) to the primary colour signals.</a:t>
            </a:r>
          </a:p>
          <a:p>
            <a:pPr algn="just"/>
            <a:r>
              <a:rPr lang="en-US" sz="2800" dirty="0">
                <a:latin typeface="Palatino Linotype" panose="02040502050505030304" pitchFamily="18" charset="0"/>
              </a:rPr>
              <a:t>Out of the three colour difference signals, only two (</a:t>
            </a:r>
            <a:r>
              <a:rPr lang="en-US" sz="2800" i="1" dirty="0">
                <a:latin typeface="Palatino Linotype" panose="02040502050505030304" pitchFamily="18" charset="0"/>
              </a:rPr>
              <a:t>B-Y </a:t>
            </a:r>
            <a:r>
              <a:rPr lang="en-US" sz="2800" dirty="0">
                <a:latin typeface="Palatino Linotype" panose="02040502050505030304" pitchFamily="18" charset="0"/>
              </a:rPr>
              <a:t>and </a:t>
            </a:r>
            <a:r>
              <a:rPr lang="en-US" sz="2800" i="1" dirty="0">
                <a:latin typeface="Palatino Linotype" panose="02040502050505030304" pitchFamily="18" charset="0"/>
              </a:rPr>
              <a:t>R-Y</a:t>
            </a:r>
            <a:r>
              <a:rPr lang="en-US" sz="2800" dirty="0">
                <a:latin typeface="Palatino Linotype" panose="02040502050505030304" pitchFamily="18" charset="0"/>
              </a:rPr>
              <a:t>) are needed to be transmitted and the third signal, </a:t>
            </a:r>
            <a:r>
              <a:rPr lang="en-US" sz="2800" i="1" dirty="0">
                <a:latin typeface="Palatino Linotype" panose="02040502050505030304" pitchFamily="18" charset="0"/>
              </a:rPr>
              <a:t>G-Y</a:t>
            </a:r>
            <a:r>
              <a:rPr lang="en-US" sz="2800" dirty="0">
                <a:latin typeface="Palatino Linotype" panose="02040502050505030304" pitchFamily="18" charset="0"/>
              </a:rPr>
              <a:t> is obtained locally in the receiver.</a:t>
            </a:r>
          </a:p>
          <a:p>
            <a:pPr algn="just"/>
            <a:r>
              <a:rPr lang="en-US" sz="2800" dirty="0">
                <a:latin typeface="Palatino Linotype" panose="02040502050505030304" pitchFamily="18" charset="0"/>
              </a:rPr>
              <a:t>The production of colour difference signals is shown in the next figure.</a:t>
            </a:r>
          </a:p>
        </p:txBody>
      </p:sp>
    </p:spTree>
    <p:extLst>
      <p:ext uri="{BB962C8B-B14F-4D97-AF65-F5344CB8AC3E}">
        <p14:creationId xmlns:p14="http://schemas.microsoft.com/office/powerpoint/2010/main" val="10184518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28</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050651" y="1039097"/>
            <a:ext cx="10529443" cy="4738248"/>
          </a:xfrm>
          <a:prstGeom prst="rect">
            <a:avLst/>
          </a:prstGeom>
        </p:spPr>
      </p:pic>
      <p:sp>
        <p:nvSpPr>
          <p:cNvPr id="4" name="Rectangle 3"/>
          <p:cNvSpPr/>
          <p:nvPr/>
        </p:nvSpPr>
        <p:spPr>
          <a:xfrm>
            <a:off x="3047579" y="5969183"/>
            <a:ext cx="5655715" cy="461665"/>
          </a:xfrm>
          <a:prstGeom prst="rect">
            <a:avLst/>
          </a:prstGeom>
          <a:solidFill>
            <a:schemeClr val="accent4">
              <a:lumMod val="60000"/>
              <a:lumOff val="40000"/>
            </a:schemeClr>
          </a:solidFill>
        </p:spPr>
        <p:txBody>
          <a:bodyPr wrap="none">
            <a:spAutoFit/>
          </a:bodyPr>
          <a:lstStyle/>
          <a:p>
            <a:r>
              <a:rPr lang="en-US" sz="2400" b="1" dirty="0">
                <a:latin typeface="Palatino Linotype" panose="02040502050505030304" pitchFamily="18" charset="0"/>
              </a:rPr>
              <a:t>Production of colour difference signals</a:t>
            </a:r>
          </a:p>
        </p:txBody>
      </p:sp>
    </p:spTree>
    <p:extLst>
      <p:ext uri="{BB962C8B-B14F-4D97-AF65-F5344CB8AC3E}">
        <p14:creationId xmlns:p14="http://schemas.microsoft.com/office/powerpoint/2010/main" val="480026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29</a:t>
            </a:fld>
            <a:endParaRPr lang="en-US" noProof="0" dirty="0"/>
          </a:p>
        </p:txBody>
      </p:sp>
      <p:sp>
        <p:nvSpPr>
          <p:cNvPr id="3" name="Content Placeholder 2"/>
          <p:cNvSpPr txBox="1">
            <a:spLocks/>
          </p:cNvSpPr>
          <p:nvPr/>
        </p:nvSpPr>
        <p:spPr>
          <a:xfrm>
            <a:off x="363416" y="789709"/>
            <a:ext cx="11465168" cy="538725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In TV, the two colour difference signals produced as above and duly weighted, modulate a subcarrier and the modulated subcarrier contains all the information about hue and saturation.</a:t>
            </a:r>
          </a:p>
          <a:p>
            <a:pPr algn="just"/>
            <a:r>
              <a:rPr lang="en-US" sz="2800" dirty="0">
                <a:latin typeface="Palatino Linotype" panose="02040502050505030304" pitchFamily="18" charset="0"/>
              </a:rPr>
              <a:t>It is designated as chroma (C) signal.</a:t>
            </a:r>
          </a:p>
          <a:p>
            <a:pPr algn="just"/>
            <a:r>
              <a:rPr lang="en-US" sz="2800" dirty="0">
                <a:latin typeface="Palatino Linotype" panose="02040502050505030304" pitchFamily="18" charset="0"/>
              </a:rPr>
              <a:t>The C signal is used as a baseband signal to modulate the main video carrier.</a:t>
            </a:r>
          </a:p>
        </p:txBody>
      </p:sp>
    </p:spTree>
    <p:extLst>
      <p:ext uri="{BB962C8B-B14F-4D97-AF65-F5344CB8AC3E}">
        <p14:creationId xmlns:p14="http://schemas.microsoft.com/office/powerpoint/2010/main" val="2694088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30</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Out of the three colour difference signals, if only two of them are transmitted, the third one can be obtained locally in the receiver from the two transmitted.</a:t>
            </a:r>
          </a:p>
          <a:p>
            <a:pPr algn="just"/>
            <a:r>
              <a:rPr lang="en-US" sz="2800" dirty="0">
                <a:latin typeface="Palatino Linotype" panose="02040502050505030304" pitchFamily="18" charset="0"/>
              </a:rPr>
              <a:t>A single carrier can be easily modulated by two signals by using quadrature phase modulation technique where by carrier is at 0˚ phase for getting modulated by</a:t>
            </a:r>
            <a:r>
              <a:rPr lang="en-US" sz="2800" i="1" dirty="0">
                <a:latin typeface="Palatino Linotype" panose="02040502050505030304" pitchFamily="18" charset="0"/>
              </a:rPr>
              <a:t> B-Y</a:t>
            </a:r>
            <a:r>
              <a:rPr lang="en-US" sz="2800" dirty="0">
                <a:latin typeface="Palatino Linotype" panose="02040502050505030304" pitchFamily="18" charset="0"/>
              </a:rPr>
              <a:t> signal and at 90˚ phase for </a:t>
            </a:r>
            <a:r>
              <a:rPr lang="en-US" sz="2800" i="1" dirty="0">
                <a:latin typeface="Palatino Linotype" panose="02040502050505030304" pitchFamily="18" charset="0"/>
              </a:rPr>
              <a:t>R-Y</a:t>
            </a:r>
            <a:r>
              <a:rPr lang="en-US" sz="2800" dirty="0">
                <a:latin typeface="Palatino Linotype" panose="02040502050505030304" pitchFamily="18" charset="0"/>
              </a:rPr>
              <a:t> signal.</a:t>
            </a:r>
          </a:p>
          <a:p>
            <a:pPr algn="just"/>
            <a:r>
              <a:rPr lang="en-US" sz="2800" dirty="0">
                <a:latin typeface="Palatino Linotype" panose="02040502050505030304" pitchFamily="18" charset="0"/>
              </a:rPr>
              <a:t>The circuit would have become complex if a single carrier was required to be modulated by all the three signals</a:t>
            </a:r>
          </a:p>
          <a:p>
            <a:pPr algn="just"/>
            <a:r>
              <a:rPr lang="en-US" sz="2800" i="1" dirty="0">
                <a:latin typeface="Palatino Linotype" panose="02040502050505030304" pitchFamily="18" charset="0"/>
              </a:rPr>
              <a:t>G -Y </a:t>
            </a:r>
            <a:r>
              <a:rPr lang="en-US" sz="2800" dirty="0">
                <a:latin typeface="Palatino Linotype" panose="02040502050505030304" pitchFamily="18" charset="0"/>
              </a:rPr>
              <a:t>is not used in the modulation process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Colour Difference Signal Actually Transmitted</a:t>
            </a:r>
          </a:p>
        </p:txBody>
      </p:sp>
    </p:spTree>
    <p:extLst>
      <p:ext uri="{BB962C8B-B14F-4D97-AF65-F5344CB8AC3E}">
        <p14:creationId xmlns:p14="http://schemas.microsoft.com/office/powerpoint/2010/main" val="17894208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31</a:t>
            </a:fld>
            <a:endParaRPr lang="en-US" noProof="0" dirty="0"/>
          </a:p>
        </p:txBody>
      </p:sp>
      <p:sp>
        <p:nvSpPr>
          <p:cNvPr id="3" name="Content Placeholder 2"/>
          <p:cNvSpPr>
            <a:spLocks noGrp="1"/>
          </p:cNvSpPr>
          <p:nvPr>
            <p:ph idx="1"/>
          </p:nvPr>
        </p:nvSpPr>
        <p:spPr/>
        <p:txBody>
          <a:bodyPr>
            <a:normAutofit/>
          </a:bodyPr>
          <a:lstStyle/>
          <a:p>
            <a:pPr algn="just"/>
            <a:r>
              <a:rPr lang="en-US" sz="2800" i="1" dirty="0">
                <a:latin typeface="Palatino Linotype" panose="02040502050505030304" pitchFamily="18" charset="0"/>
              </a:rPr>
              <a:t>G-Y</a:t>
            </a:r>
            <a:r>
              <a:rPr lang="en-US" sz="2800" dirty="0">
                <a:latin typeface="Palatino Linotype" panose="02040502050505030304" pitchFamily="18" charset="0"/>
              </a:rPr>
              <a:t> colour signal is not transmitted, as it can be produced locally in the receiver easily by passing the available signals </a:t>
            </a:r>
            <a:r>
              <a:rPr lang="en-US" sz="2800" i="1" dirty="0">
                <a:latin typeface="Palatino Linotype" panose="02040502050505030304" pitchFamily="18" charset="0"/>
              </a:rPr>
              <a:t>B-Y</a:t>
            </a:r>
            <a:r>
              <a:rPr lang="en-US" sz="2800" dirty="0">
                <a:latin typeface="Palatino Linotype" panose="02040502050505030304" pitchFamily="18" charset="0"/>
              </a:rPr>
              <a:t> and </a:t>
            </a:r>
            <a:r>
              <a:rPr lang="en-US" sz="2800" i="1" dirty="0">
                <a:latin typeface="Palatino Linotype" panose="02040502050505030304" pitchFamily="18" charset="0"/>
              </a:rPr>
              <a:t>R-Y</a:t>
            </a:r>
            <a:r>
              <a:rPr lang="en-US" sz="2800" dirty="0">
                <a:latin typeface="Palatino Linotype" panose="02040502050505030304" pitchFamily="18" charset="0"/>
              </a:rPr>
              <a:t> through a resistive matrix.</a:t>
            </a:r>
          </a:p>
          <a:p>
            <a:pPr algn="just"/>
            <a:r>
              <a:rPr lang="en-US" sz="2800" dirty="0">
                <a:latin typeface="Palatino Linotype" panose="02040502050505030304" pitchFamily="18" charset="0"/>
              </a:rPr>
              <a:t>The other colour difference signals (i.e. </a:t>
            </a:r>
            <a:r>
              <a:rPr lang="en-US" sz="2800" i="1" dirty="0">
                <a:latin typeface="Palatino Linotype" panose="02040502050505030304" pitchFamily="18" charset="0"/>
              </a:rPr>
              <a:t>B-Y</a:t>
            </a:r>
            <a:r>
              <a:rPr lang="en-US" sz="2800" dirty="0">
                <a:latin typeface="Palatino Linotype" panose="02040502050505030304" pitchFamily="18" charset="0"/>
              </a:rPr>
              <a:t> or </a:t>
            </a:r>
            <a:r>
              <a:rPr lang="en-US" sz="2800" i="1" dirty="0">
                <a:latin typeface="Palatino Linotype" panose="02040502050505030304" pitchFamily="18" charset="0"/>
              </a:rPr>
              <a:t>R-Y</a:t>
            </a:r>
            <a:r>
              <a:rPr lang="en-US" sz="2800" dirty="0">
                <a:latin typeface="Palatino Linotype" panose="02040502050505030304" pitchFamily="18" charset="0"/>
              </a:rPr>
              <a:t>) cannot be produced by a resistive matrix.</a:t>
            </a:r>
          </a:p>
          <a:p>
            <a:pPr algn="just"/>
            <a:r>
              <a:rPr lang="en-US" sz="2800" dirty="0">
                <a:latin typeface="Palatino Linotype" panose="02040502050505030304" pitchFamily="18" charset="0"/>
              </a:rPr>
              <a:t>To understand this, let us determine the relationship between the colour difference signals.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The Colour Diﬀerence Signal which is not Transmitted</a:t>
            </a:r>
          </a:p>
        </p:txBody>
      </p:sp>
    </p:spTree>
    <p:extLst>
      <p:ext uri="{BB962C8B-B14F-4D97-AF65-F5344CB8AC3E}">
        <p14:creationId xmlns:p14="http://schemas.microsoft.com/office/powerpoint/2010/main" val="27908390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32</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761259" y="715056"/>
            <a:ext cx="10791583" cy="5436362"/>
          </a:xfrm>
          <a:prstGeom prst="rect">
            <a:avLst/>
          </a:prstGeom>
        </p:spPr>
      </p:pic>
    </p:spTree>
    <p:extLst>
      <p:ext uri="{BB962C8B-B14F-4D97-AF65-F5344CB8AC3E}">
        <p14:creationId xmlns:p14="http://schemas.microsoft.com/office/powerpoint/2010/main" val="33098335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33</a:t>
            </a:fld>
            <a:endParaRPr lang="en-US" noProof="0" dirty="0"/>
          </a:p>
        </p:txBody>
      </p:sp>
      <p:sp>
        <p:nvSpPr>
          <p:cNvPr id="4" name="Content Placeholder 2"/>
          <p:cNvSpPr txBox="1">
            <a:spLocks/>
          </p:cNvSpPr>
          <p:nvPr/>
        </p:nvSpPr>
        <p:spPr>
          <a:xfrm>
            <a:off x="363416" y="685800"/>
            <a:ext cx="11465168" cy="5491163"/>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A resistive matrix cannot amplify the inputs but can reduce them.</a:t>
            </a:r>
          </a:p>
          <a:p>
            <a:pPr algn="just"/>
            <a:r>
              <a:rPr lang="en-US" sz="2800" dirty="0">
                <a:latin typeface="Palatino Linotype" panose="02040502050505030304" pitchFamily="18" charset="0"/>
              </a:rPr>
              <a:t>For getting </a:t>
            </a:r>
            <a:r>
              <a:rPr lang="en-US" sz="2800" i="1" dirty="0">
                <a:latin typeface="Palatino Linotype" panose="02040502050505030304" pitchFamily="18" charset="0"/>
              </a:rPr>
              <a:t>G-Y</a:t>
            </a:r>
            <a:r>
              <a:rPr lang="en-US" sz="2800" dirty="0">
                <a:latin typeface="Palatino Linotype" panose="02040502050505030304" pitchFamily="18" charset="0"/>
              </a:rPr>
              <a:t>, the coefficients of inputs are 0.11/0.59 and 0.3/0.59, which are only a fraction and so can be achieved by a resistive matrix.</a:t>
            </a:r>
          </a:p>
          <a:p>
            <a:pPr algn="just"/>
            <a:r>
              <a:rPr lang="en-US" sz="2800" i="1" dirty="0">
                <a:latin typeface="Palatino Linotype" panose="02040502050505030304" pitchFamily="18" charset="0"/>
              </a:rPr>
              <a:t>R-Y</a:t>
            </a:r>
            <a:r>
              <a:rPr lang="en-US" sz="2800" dirty="0">
                <a:latin typeface="Palatino Linotype" panose="02040502050505030304" pitchFamily="18" charset="0"/>
              </a:rPr>
              <a:t> and </a:t>
            </a:r>
            <a:r>
              <a:rPr lang="en-US" sz="2800" i="1" dirty="0">
                <a:latin typeface="Palatino Linotype" panose="02040502050505030304" pitchFamily="18" charset="0"/>
              </a:rPr>
              <a:t>B-Y</a:t>
            </a:r>
            <a:r>
              <a:rPr lang="en-US" sz="2800" dirty="0">
                <a:latin typeface="Palatino Linotype" panose="02040502050505030304" pitchFamily="18" charset="0"/>
              </a:rPr>
              <a:t> cannot be obtained from a resistive matrix because of the coefficient 0.59/0.3 for </a:t>
            </a:r>
            <a:r>
              <a:rPr lang="en-US" sz="2800" i="1" dirty="0">
                <a:latin typeface="Palatino Linotype" panose="02040502050505030304" pitchFamily="18" charset="0"/>
              </a:rPr>
              <a:t>R-Y</a:t>
            </a:r>
            <a:r>
              <a:rPr lang="en-US" sz="2800" dirty="0">
                <a:latin typeface="Palatino Linotype" panose="02040502050505030304" pitchFamily="18" charset="0"/>
              </a:rPr>
              <a:t> and the coefficients 0.3/0.11 and 0.59/0.11 for</a:t>
            </a:r>
            <a:r>
              <a:rPr lang="en-US" sz="2800" i="1" dirty="0">
                <a:latin typeface="Palatino Linotype" panose="02040502050505030304" pitchFamily="18" charset="0"/>
              </a:rPr>
              <a:t> B-Y </a:t>
            </a:r>
            <a:r>
              <a:rPr lang="en-US" sz="2800" dirty="0">
                <a:latin typeface="Palatino Linotype" panose="02040502050505030304" pitchFamily="18" charset="0"/>
              </a:rPr>
              <a:t>are grater than 1.</a:t>
            </a:r>
          </a:p>
          <a:p>
            <a:pPr algn="just"/>
            <a:r>
              <a:rPr lang="en-US" sz="2800" dirty="0">
                <a:latin typeface="Palatino Linotype" panose="02040502050505030304" pitchFamily="18" charset="0"/>
              </a:rPr>
              <a:t>This is the reason why only </a:t>
            </a:r>
            <a:r>
              <a:rPr lang="en-US" sz="2800" i="1" dirty="0">
                <a:latin typeface="Palatino Linotype" panose="02040502050505030304" pitchFamily="18" charset="0"/>
              </a:rPr>
              <a:t>G-Y</a:t>
            </a:r>
            <a:r>
              <a:rPr lang="en-US" sz="2800" dirty="0">
                <a:latin typeface="Palatino Linotype" panose="02040502050505030304" pitchFamily="18" charset="0"/>
              </a:rPr>
              <a:t> can be obtained locally from the known values of </a:t>
            </a:r>
            <a:r>
              <a:rPr lang="en-US" sz="2800" i="1" dirty="0">
                <a:latin typeface="Palatino Linotype" panose="02040502050505030304" pitchFamily="18" charset="0"/>
              </a:rPr>
              <a:t>R-Y</a:t>
            </a:r>
            <a:r>
              <a:rPr lang="en-US" sz="2800" dirty="0">
                <a:latin typeface="Palatino Linotype" panose="02040502050505030304" pitchFamily="18" charset="0"/>
              </a:rPr>
              <a:t> and </a:t>
            </a:r>
            <a:r>
              <a:rPr lang="en-US" sz="2800" i="1" dirty="0">
                <a:latin typeface="Palatino Linotype" panose="02040502050505030304" pitchFamily="18" charset="0"/>
              </a:rPr>
              <a:t>B-Y</a:t>
            </a:r>
            <a:r>
              <a:rPr lang="en-US" sz="2800" dirty="0">
                <a:latin typeface="Palatino Linotype" panose="02040502050505030304" pitchFamily="18" charset="0"/>
              </a:rPr>
              <a:t> with the help of a simple resistive matrix, and hence it is not transmitted.</a:t>
            </a:r>
          </a:p>
        </p:txBody>
      </p:sp>
    </p:spTree>
    <p:extLst>
      <p:ext uri="{BB962C8B-B14F-4D97-AF65-F5344CB8AC3E}">
        <p14:creationId xmlns:p14="http://schemas.microsoft.com/office/powerpoint/2010/main" val="10329147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34</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Chroma signal is added to the Y signal for finally modulating the main video carrier.</a:t>
            </a:r>
          </a:p>
          <a:p>
            <a:pPr algn="just"/>
            <a:r>
              <a:rPr lang="en-US" sz="2800" dirty="0">
                <a:latin typeface="Palatino Linotype" panose="02040502050505030304" pitchFamily="18" charset="0"/>
              </a:rPr>
              <a:t>This addition of chroma signal to the Y signal causes the resultant signal to exceed the peak level of the carrier for undiluted colours.</a:t>
            </a:r>
          </a:p>
          <a:p>
            <a:pPr algn="just"/>
            <a:r>
              <a:rPr lang="en-US" sz="2800" dirty="0">
                <a:latin typeface="Palatino Linotype" panose="02040502050505030304" pitchFamily="18" charset="0"/>
              </a:rPr>
              <a:t>It means the modulation becomes more than 100%, resulting in severe distortion of colours.</a:t>
            </a:r>
          </a:p>
          <a:p>
            <a:pPr algn="just"/>
            <a:r>
              <a:rPr lang="en-US" sz="2800" dirty="0">
                <a:latin typeface="Palatino Linotype" panose="02040502050505030304" pitchFamily="18" charset="0"/>
              </a:rPr>
              <a:t>Lets see the following examples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Weighting Factors for Colour Difference Signals</a:t>
            </a:r>
          </a:p>
        </p:txBody>
      </p:sp>
    </p:spTree>
    <p:extLst>
      <p:ext uri="{BB962C8B-B14F-4D97-AF65-F5344CB8AC3E}">
        <p14:creationId xmlns:p14="http://schemas.microsoft.com/office/powerpoint/2010/main" val="4433269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35</a:t>
            </a:fld>
            <a:endParaRPr lang="en-US" noProof="0" dirty="0"/>
          </a:p>
        </p:txBody>
      </p:sp>
      <p:pic>
        <p:nvPicPr>
          <p:cNvPr id="3" name="Picture 2"/>
          <p:cNvPicPr>
            <a:picLocks noChangeAspect="1"/>
          </p:cNvPicPr>
          <p:nvPr/>
        </p:nvPicPr>
        <p:blipFill>
          <a:blip r:embed="rId2"/>
          <a:stretch>
            <a:fillRect/>
          </a:stretch>
        </p:blipFill>
        <p:spPr>
          <a:xfrm>
            <a:off x="884783" y="768989"/>
            <a:ext cx="10681707" cy="5694218"/>
          </a:xfrm>
          <a:prstGeom prst="rect">
            <a:avLst/>
          </a:prstGeom>
        </p:spPr>
      </p:pic>
    </p:spTree>
    <p:extLst>
      <p:ext uri="{BB962C8B-B14F-4D97-AF65-F5344CB8AC3E}">
        <p14:creationId xmlns:p14="http://schemas.microsoft.com/office/powerpoint/2010/main" val="32822573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8BB047D-A6CD-43AB-96F0-683C726B586B}" type="slidenum">
              <a:rPr lang="en-US" noProof="0" smtClean="0"/>
              <a:pPr/>
              <a:t>36</a:t>
            </a:fld>
            <a:endParaRPr lang="en-US" noProof="0" dirty="0"/>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26819" y="962512"/>
            <a:ext cx="11201765" cy="4939523"/>
          </a:xfrm>
          <a:prstGeom prst="rect">
            <a:avLst/>
          </a:prstGeom>
        </p:spPr>
      </p:pic>
    </p:spTree>
    <p:extLst>
      <p:ext uri="{BB962C8B-B14F-4D97-AF65-F5344CB8AC3E}">
        <p14:creationId xmlns:p14="http://schemas.microsoft.com/office/powerpoint/2010/main" val="30604935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37</a:t>
            </a:fld>
            <a:endParaRPr lang="en-US" noProof="0" dirty="0"/>
          </a:p>
        </p:txBody>
      </p:sp>
      <p:pic>
        <p:nvPicPr>
          <p:cNvPr id="3" name="Picture 2"/>
          <p:cNvPicPr>
            <a:picLocks noChangeAspect="1"/>
          </p:cNvPicPr>
          <p:nvPr/>
        </p:nvPicPr>
        <p:blipFill>
          <a:blip r:embed="rId2"/>
          <a:stretch>
            <a:fillRect/>
          </a:stretch>
        </p:blipFill>
        <p:spPr>
          <a:xfrm>
            <a:off x="1166877" y="530328"/>
            <a:ext cx="10599940" cy="4706690"/>
          </a:xfrm>
          <a:prstGeom prst="rect">
            <a:avLst/>
          </a:prstGeom>
        </p:spPr>
      </p:pic>
    </p:spTree>
    <p:extLst>
      <p:ext uri="{BB962C8B-B14F-4D97-AF65-F5344CB8AC3E}">
        <p14:creationId xmlns:p14="http://schemas.microsoft.com/office/powerpoint/2010/main" val="38416754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38</a:t>
            </a:fld>
            <a:endParaRPr lang="en-US" noProof="0" dirty="0"/>
          </a:p>
        </p:txBody>
      </p:sp>
      <p:sp>
        <p:nvSpPr>
          <p:cNvPr id="4" name="Content Placeholder 2"/>
          <p:cNvSpPr txBox="1">
            <a:spLocks/>
          </p:cNvSpPr>
          <p:nvPr/>
        </p:nvSpPr>
        <p:spPr>
          <a:xfrm>
            <a:off x="363416" y="685800"/>
            <a:ext cx="11465168" cy="5491163"/>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For examples 8.2 and 8.3, the peak exceeds 1 V (peak of the carrier) and hence modulation is more than 100%</a:t>
            </a:r>
          </a:p>
          <a:p>
            <a:pPr algn="just"/>
            <a:r>
              <a:rPr lang="en-US" sz="2800" dirty="0">
                <a:latin typeface="Palatino Linotype" panose="02040502050505030304" pitchFamily="18" charset="0"/>
              </a:rPr>
              <a:t>For example 8.4, there is no over-modulation as the signal is white.</a:t>
            </a:r>
          </a:p>
          <a:p>
            <a:pPr algn="just"/>
            <a:r>
              <a:rPr lang="en-US" sz="2800" dirty="0">
                <a:latin typeface="Palatino Linotype" panose="02040502050505030304" pitchFamily="18" charset="0"/>
              </a:rPr>
              <a:t>Thus, it can be shown that the modulation in case of all saturated colours is more than 100%</a:t>
            </a:r>
          </a:p>
          <a:p>
            <a:pPr algn="just"/>
            <a:r>
              <a:rPr lang="en-US" sz="2800" dirty="0">
                <a:latin typeface="Palatino Linotype" panose="02040502050505030304" pitchFamily="18" charset="0"/>
              </a:rPr>
              <a:t>Thus, to check over-modulation, it is necessary to reduce the amplitude of B-Y and R-Y colour difference signals (which forms the chroma signal) before modulating the colour subcarrier.</a:t>
            </a:r>
          </a:p>
          <a:p>
            <a:pPr algn="just"/>
            <a:r>
              <a:rPr lang="en-US" sz="2800" dirty="0">
                <a:latin typeface="Palatino Linotype" panose="02040502050505030304" pitchFamily="18" charset="0"/>
              </a:rPr>
              <a:t>The example of reducing factors or the weighting factors for PAL colour system are as follows   </a:t>
            </a:r>
          </a:p>
          <a:p>
            <a:pPr marL="0" indent="0" algn="ctr">
              <a:buNone/>
            </a:pPr>
            <a:r>
              <a:rPr lang="en-US" sz="2800" dirty="0">
                <a:latin typeface="Palatino Linotype" panose="02040502050505030304" pitchFamily="18" charset="0"/>
              </a:rPr>
              <a:t>Weighting factor for B-Y = 0.493</a:t>
            </a:r>
          </a:p>
          <a:p>
            <a:pPr marL="0" indent="0" algn="ctr">
              <a:buNone/>
            </a:pPr>
            <a:r>
              <a:rPr lang="en-US" sz="2800" dirty="0">
                <a:latin typeface="Palatino Linotype" panose="02040502050505030304" pitchFamily="18" charset="0"/>
              </a:rPr>
              <a:t>Weighting factor for R-Y = 0.877</a:t>
            </a:r>
          </a:p>
        </p:txBody>
      </p:sp>
    </p:spTree>
    <p:extLst>
      <p:ext uri="{BB962C8B-B14F-4D97-AF65-F5344CB8AC3E}">
        <p14:creationId xmlns:p14="http://schemas.microsoft.com/office/powerpoint/2010/main" val="39556679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39</a:t>
            </a:fld>
            <a:endParaRPr lang="en-US" noProof="0" dirty="0"/>
          </a:p>
        </p:txBody>
      </p:sp>
      <p:sp>
        <p:nvSpPr>
          <p:cNvPr id="4" name="Content Placeholder 2"/>
          <p:cNvSpPr txBox="1">
            <a:spLocks/>
          </p:cNvSpPr>
          <p:nvPr/>
        </p:nvSpPr>
        <p:spPr>
          <a:xfrm>
            <a:off x="363416" y="602672"/>
            <a:ext cx="11465168" cy="5491163"/>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weighted B-Y signal is called U signal and the weighted R-Y signal is called V signal.</a:t>
            </a:r>
          </a:p>
          <a:p>
            <a:pPr algn="just"/>
            <a:r>
              <a:rPr lang="en-US" sz="2800" dirty="0">
                <a:latin typeface="Palatino Linotype" panose="02040502050505030304" pitchFamily="18" charset="0"/>
              </a:rPr>
              <a:t>Thus</a:t>
            </a:r>
          </a:p>
          <a:p>
            <a:pPr marL="0" indent="0" algn="ctr">
              <a:buNone/>
            </a:pPr>
            <a:r>
              <a:rPr lang="en-US" sz="2800" dirty="0">
                <a:latin typeface="Palatino Linotype" panose="02040502050505030304" pitchFamily="18" charset="0"/>
              </a:rPr>
              <a:t>U = 0.493 (B-Y)</a:t>
            </a:r>
          </a:p>
          <a:p>
            <a:pPr marL="0" indent="0" algn="ctr">
              <a:buNone/>
            </a:pPr>
            <a:r>
              <a:rPr lang="en-US" sz="2800" dirty="0">
                <a:latin typeface="Palatino Linotype" panose="02040502050505030304" pitchFamily="18" charset="0"/>
              </a:rPr>
              <a:t>V = 0.877 (R-Y)</a:t>
            </a:r>
          </a:p>
          <a:p>
            <a:pPr algn="just"/>
            <a:r>
              <a:rPr lang="en-US" sz="2800" dirty="0">
                <a:latin typeface="Palatino Linotype" panose="02040502050505030304" pitchFamily="18" charset="0"/>
              </a:rPr>
              <a:t>Similarly there are weighting factors for colour signals in NTSC system and in SECAM system.</a:t>
            </a:r>
          </a:p>
          <a:p>
            <a:pPr algn="just"/>
            <a:r>
              <a:rPr lang="en-US" sz="2800" dirty="0">
                <a:latin typeface="Palatino Linotype" panose="02040502050505030304" pitchFamily="18" charset="0"/>
              </a:rPr>
              <a:t>The above weighting factors will also give some over-modulation for saturated colours, but this is acceptable, because for most of the time, colours are unsaturated and further reduction will cause loss in power.</a:t>
            </a:r>
          </a:p>
          <a:p>
            <a:pPr algn="just"/>
            <a:r>
              <a:rPr lang="en-US" sz="2800" dirty="0">
                <a:latin typeface="Palatino Linotype" panose="02040502050505030304" pitchFamily="18" charset="0"/>
              </a:rPr>
              <a:t>Consider the next example</a:t>
            </a:r>
          </a:p>
        </p:txBody>
      </p:sp>
    </p:spTree>
    <p:extLst>
      <p:ext uri="{BB962C8B-B14F-4D97-AF65-F5344CB8AC3E}">
        <p14:creationId xmlns:p14="http://schemas.microsoft.com/office/powerpoint/2010/main" val="25328431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40</a:t>
            </a:fld>
            <a:endParaRPr lang="en-US" noProof="0" dirty="0"/>
          </a:p>
        </p:txBody>
      </p:sp>
      <p:grpSp>
        <p:nvGrpSpPr>
          <p:cNvPr id="5" name="Group 4"/>
          <p:cNvGrpSpPr/>
          <p:nvPr/>
        </p:nvGrpSpPr>
        <p:grpSpPr>
          <a:xfrm>
            <a:off x="1512087" y="519166"/>
            <a:ext cx="9980258" cy="5195833"/>
            <a:chOff x="3590269" y="539949"/>
            <a:chExt cx="4512700" cy="2390286"/>
          </a:xfrm>
        </p:grpSpPr>
        <p:pic>
          <p:nvPicPr>
            <p:cNvPr id="3" name="Picture 2"/>
            <p:cNvPicPr>
              <a:picLocks noChangeAspect="1"/>
            </p:cNvPicPr>
            <p:nvPr/>
          </p:nvPicPr>
          <p:blipFill>
            <a:blip r:embed="rId2"/>
            <a:stretch>
              <a:fillRect/>
            </a:stretch>
          </p:blipFill>
          <p:spPr>
            <a:xfrm>
              <a:off x="3590269" y="539949"/>
              <a:ext cx="4512700" cy="1871119"/>
            </a:xfrm>
            <a:prstGeom prst="rect">
              <a:avLst/>
            </a:prstGeom>
          </p:spPr>
        </p:pic>
        <p:pic>
          <p:nvPicPr>
            <p:cNvPr id="4" name="Picture 3"/>
            <p:cNvPicPr>
              <a:picLocks noChangeAspect="1"/>
            </p:cNvPicPr>
            <p:nvPr/>
          </p:nvPicPr>
          <p:blipFill>
            <a:blip r:embed="rId3"/>
            <a:stretch>
              <a:fillRect/>
            </a:stretch>
          </p:blipFill>
          <p:spPr>
            <a:xfrm>
              <a:off x="3666466" y="2473038"/>
              <a:ext cx="3903104" cy="457197"/>
            </a:xfrm>
            <a:prstGeom prst="rect">
              <a:avLst/>
            </a:prstGeom>
          </p:spPr>
        </p:pic>
      </p:grpSp>
    </p:spTree>
    <p:extLst>
      <p:ext uri="{BB962C8B-B14F-4D97-AF65-F5344CB8AC3E}">
        <p14:creationId xmlns:p14="http://schemas.microsoft.com/office/powerpoint/2010/main" val="39043212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41</a:t>
            </a:fld>
            <a:endParaRPr lang="en-US" noProof="0" dirty="0"/>
          </a:p>
        </p:txBody>
      </p:sp>
      <p:sp>
        <p:nvSpPr>
          <p:cNvPr id="4" name="Content Placeholder 2"/>
          <p:cNvSpPr txBox="1">
            <a:spLocks/>
          </p:cNvSpPr>
          <p:nvPr/>
        </p:nvSpPr>
        <p:spPr>
          <a:xfrm>
            <a:off x="270165" y="602672"/>
            <a:ext cx="11662329" cy="5491163"/>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above example shows that the peak value is reduced from 1.79 to 1.34</a:t>
            </a:r>
          </a:p>
          <a:p>
            <a:pPr algn="just"/>
            <a:r>
              <a:rPr lang="en-US" sz="2800" dirty="0">
                <a:latin typeface="Palatino Linotype" panose="02040502050505030304" pitchFamily="18" charset="0"/>
              </a:rPr>
              <a:t>This is for saturated colours.</a:t>
            </a:r>
          </a:p>
          <a:p>
            <a:pPr algn="just"/>
            <a:r>
              <a:rPr lang="en-US" sz="2800" dirty="0">
                <a:latin typeface="Palatino Linotype" panose="02040502050505030304" pitchFamily="18" charset="0"/>
              </a:rPr>
              <a:t>For unsaturated colours it will be further reduced and most of the time it may be less than 1, giving undistorted colours.</a:t>
            </a:r>
          </a:p>
          <a:p>
            <a:pPr algn="just"/>
            <a:endParaRPr lang="en-US" sz="2800" dirty="0">
              <a:latin typeface="Palatino Linotype" panose="02040502050505030304" pitchFamily="18" charset="0"/>
            </a:endParaRPr>
          </a:p>
        </p:txBody>
      </p:sp>
    </p:spTree>
    <p:extLst>
      <p:ext uri="{BB962C8B-B14F-4D97-AF65-F5344CB8AC3E}">
        <p14:creationId xmlns:p14="http://schemas.microsoft.com/office/powerpoint/2010/main" val="37663221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42</a:t>
            </a:fld>
            <a:endParaRPr lang="en-US" noProof="0" dirty="0"/>
          </a:p>
        </p:txBody>
      </p:sp>
      <p:sp>
        <p:nvSpPr>
          <p:cNvPr id="3" name="Content Placeholder 2"/>
          <p:cNvSpPr>
            <a:spLocks noGrp="1"/>
          </p:cNvSpPr>
          <p:nvPr>
            <p:ph idx="1"/>
          </p:nvPr>
        </p:nvSpPr>
        <p:spPr>
          <a:xfrm>
            <a:off x="363416" y="1537855"/>
            <a:ext cx="11465168" cy="4925352"/>
          </a:xfrm>
        </p:spPr>
        <p:txBody>
          <a:bodyPr>
            <a:normAutofit/>
          </a:bodyPr>
          <a:lstStyle/>
          <a:p>
            <a:pPr algn="just"/>
            <a:r>
              <a:rPr lang="en-US" sz="2800" dirty="0">
                <a:latin typeface="Palatino Linotype" panose="02040502050505030304" pitchFamily="18" charset="0"/>
              </a:rPr>
              <a:t>A signal obtained by colour camera tubes and dully processed for transmission as new baseband signal (AMSC sidebands of a carrier) is called chrominance signal or chroma signal and is represented by letter C.</a:t>
            </a:r>
          </a:p>
          <a:p>
            <a:pPr algn="just"/>
            <a:r>
              <a:rPr lang="en-US" sz="2800" dirty="0">
                <a:latin typeface="Palatino Linotype" panose="02040502050505030304" pitchFamily="18" charset="0"/>
              </a:rPr>
              <a:t>The signal obtained by a monochrome camera tube or the signal obtained from the output of a resistive matrix used with colour camera tubes is called luminance signal.</a:t>
            </a:r>
          </a:p>
          <a:p>
            <a:pPr algn="just"/>
            <a:r>
              <a:rPr lang="en-US" sz="2800" dirty="0">
                <a:latin typeface="Palatino Linotype" panose="02040502050505030304" pitchFamily="18" charset="0"/>
              </a:rPr>
              <a:t>In colour systems the luminance signal is represented by the letter Y.</a:t>
            </a:r>
          </a:p>
          <a:p>
            <a:pPr algn="just"/>
            <a:r>
              <a:rPr lang="en-US" sz="2800" dirty="0">
                <a:latin typeface="Palatino Linotype" panose="02040502050505030304" pitchFamily="18" charset="0"/>
              </a:rPr>
              <a:t>In monochrome transmitter and receiver, only Y signal is used but in colour transmitter and receiver, both Y and C are used for achieving compatibility between colour and monochrome systems.</a:t>
            </a:r>
          </a:p>
        </p:txBody>
      </p:sp>
      <p:sp>
        <p:nvSpPr>
          <p:cNvPr id="4" name="Title 3"/>
          <p:cNvSpPr>
            <a:spLocks noGrp="1"/>
          </p:cNvSpPr>
          <p:nvPr>
            <p:ph type="title"/>
          </p:nvPr>
        </p:nvSpPr>
        <p:spPr/>
        <p:txBody>
          <a:bodyPr>
            <a:normAutofit fontScale="90000"/>
          </a:bodyPr>
          <a:lstStyle/>
          <a:p>
            <a:r>
              <a:rPr lang="en-US" sz="3600" dirty="0">
                <a:latin typeface="Palatino Linotype" panose="02040502050505030304" pitchFamily="18" charset="0"/>
              </a:rPr>
              <a:t>Distinction Between Luminance and Chrominance Signals</a:t>
            </a:r>
          </a:p>
        </p:txBody>
      </p:sp>
    </p:spTree>
    <p:extLst>
      <p:ext uri="{BB962C8B-B14F-4D97-AF65-F5344CB8AC3E}">
        <p14:creationId xmlns:p14="http://schemas.microsoft.com/office/powerpoint/2010/main" val="19662923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43</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The weighted colour difference signals are made to modulate a subcarrier.</a:t>
            </a:r>
          </a:p>
          <a:p>
            <a:pPr algn="just"/>
            <a:r>
              <a:rPr lang="en-US" sz="2800" dirty="0">
                <a:latin typeface="Palatino Linotype" panose="02040502050505030304" pitchFamily="18" charset="0"/>
              </a:rPr>
              <a:t>The modulated subcarrier is called chroma signal.</a:t>
            </a:r>
          </a:p>
          <a:p>
            <a:pPr algn="just"/>
            <a:r>
              <a:rPr lang="en-US" sz="2800" dirty="0">
                <a:latin typeface="Palatino Linotype" panose="02040502050505030304" pitchFamily="18" charset="0"/>
              </a:rPr>
              <a:t>The circuit which produces chroma signal is called </a:t>
            </a:r>
            <a:r>
              <a:rPr lang="en-US" sz="2800" b="1" dirty="0">
                <a:solidFill>
                  <a:schemeClr val="accent1"/>
                </a:solidFill>
                <a:latin typeface="Palatino Linotype" panose="02040502050505030304" pitchFamily="18" charset="0"/>
              </a:rPr>
              <a:t>colour encoder.</a:t>
            </a:r>
          </a:p>
          <a:p>
            <a:pPr algn="just"/>
            <a:r>
              <a:rPr lang="en-US" sz="2800" dirty="0">
                <a:latin typeface="Palatino Linotype" panose="02040502050505030304" pitchFamily="18" charset="0"/>
              </a:rPr>
              <a:t>Three types of colour encoders have been developed</a:t>
            </a:r>
          </a:p>
          <a:p>
            <a:pPr algn="just"/>
            <a:r>
              <a:rPr lang="en-US" sz="2800" b="1" dirty="0">
                <a:solidFill>
                  <a:schemeClr val="accent1"/>
                </a:solidFill>
                <a:latin typeface="Palatino Linotype" panose="02040502050505030304" pitchFamily="18" charset="0"/>
              </a:rPr>
              <a:t>NTSC System </a:t>
            </a:r>
            <a:r>
              <a:rPr lang="en-US" sz="2800" dirty="0">
                <a:latin typeface="Palatino Linotype" panose="02040502050505030304" pitchFamily="18" charset="0"/>
              </a:rPr>
              <a:t>– In this the duly weighted colour difference signals, called I and Q signals appear simultaneously and maintain the mutual phase difference of +90˚ on each scanning line.</a:t>
            </a:r>
          </a:p>
          <a:p>
            <a:pPr lvl="1" algn="just"/>
            <a:r>
              <a:rPr lang="en-US" sz="2600" dirty="0">
                <a:latin typeface="Palatino Linotype" panose="02040502050505030304" pitchFamily="18" charset="0"/>
              </a:rPr>
              <a:t>Modulation technique is AMSC</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Colour Encoders</a:t>
            </a:r>
          </a:p>
        </p:txBody>
      </p:sp>
    </p:spTree>
    <p:extLst>
      <p:ext uri="{BB962C8B-B14F-4D97-AF65-F5344CB8AC3E}">
        <p14:creationId xmlns:p14="http://schemas.microsoft.com/office/powerpoint/2010/main" val="30404235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44</a:t>
            </a:fld>
            <a:endParaRPr lang="en-US" noProof="0" dirty="0"/>
          </a:p>
        </p:txBody>
      </p:sp>
      <p:sp>
        <p:nvSpPr>
          <p:cNvPr id="3" name="Content Placeholder 2"/>
          <p:cNvSpPr txBox="1">
            <a:spLocks/>
          </p:cNvSpPr>
          <p:nvPr/>
        </p:nvSpPr>
        <p:spPr>
          <a:xfrm>
            <a:off x="363416" y="1080655"/>
            <a:ext cx="11465168" cy="5096308"/>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chemeClr val="accent1"/>
                </a:solidFill>
                <a:latin typeface="Palatino Linotype" panose="02040502050505030304" pitchFamily="18" charset="0"/>
              </a:rPr>
              <a:t>PAL System </a:t>
            </a:r>
            <a:r>
              <a:rPr lang="en-US" sz="2800" dirty="0">
                <a:latin typeface="Palatino Linotype" panose="02040502050505030304" pitchFamily="18" charset="0"/>
              </a:rPr>
              <a:t>– In this the duly weighted colour difference signals, called U and V signals appear simultaneously and maintain 90˚ phase difference between each other, but one scanning line V is +90˚ away from U and on the next line it is -90˚ away from U</a:t>
            </a:r>
          </a:p>
          <a:p>
            <a:pPr lvl="1" algn="just"/>
            <a:r>
              <a:rPr lang="en-US" sz="2400" dirty="0">
                <a:latin typeface="Palatino Linotype" panose="02040502050505030304" pitchFamily="18" charset="0"/>
              </a:rPr>
              <a:t>Modulation technique is AMSC</a:t>
            </a:r>
          </a:p>
          <a:p>
            <a:pPr algn="just"/>
            <a:r>
              <a:rPr lang="en-US" sz="2800" b="1" dirty="0">
                <a:solidFill>
                  <a:schemeClr val="accent1"/>
                </a:solidFill>
                <a:latin typeface="Palatino Linotype" panose="02040502050505030304" pitchFamily="18" charset="0"/>
              </a:rPr>
              <a:t>SECAM System </a:t>
            </a:r>
            <a:r>
              <a:rPr lang="en-US" sz="2800" dirty="0">
                <a:latin typeface="Palatino Linotype" panose="02040502050505030304" pitchFamily="18" charset="0"/>
              </a:rPr>
              <a:t>– In this, duly weighted colour difference signals, called D</a:t>
            </a:r>
            <a:r>
              <a:rPr lang="en-US" sz="2800" baseline="-25000" dirty="0">
                <a:latin typeface="Palatino Linotype" panose="02040502050505030304" pitchFamily="18" charset="0"/>
              </a:rPr>
              <a:t>B</a:t>
            </a:r>
            <a:r>
              <a:rPr lang="en-US" sz="2800" dirty="0">
                <a:latin typeface="Palatino Linotype" panose="02040502050505030304" pitchFamily="18" charset="0"/>
              </a:rPr>
              <a:t> and </a:t>
            </a:r>
            <a:r>
              <a:rPr lang="en-US" sz="2800" i="1" dirty="0">
                <a:latin typeface="Palatino Linotype" panose="02040502050505030304" pitchFamily="18" charset="0"/>
              </a:rPr>
              <a:t>D</a:t>
            </a:r>
            <a:r>
              <a:rPr lang="en-US" sz="2800" i="1" baseline="-25000" dirty="0">
                <a:latin typeface="Palatino Linotype" panose="02040502050505030304" pitchFamily="18" charset="0"/>
              </a:rPr>
              <a:t>R</a:t>
            </a:r>
            <a:r>
              <a:rPr lang="en-US" sz="2800" dirty="0">
                <a:latin typeface="Palatino Linotype" panose="02040502050505030304" pitchFamily="18" charset="0"/>
              </a:rPr>
              <a:t>, do not appear simultaneously on any line. If </a:t>
            </a:r>
            <a:r>
              <a:rPr lang="en-US" sz="2800" i="1" dirty="0">
                <a:latin typeface="Palatino Linotype" panose="02040502050505030304" pitchFamily="18" charset="0"/>
              </a:rPr>
              <a:t>D</a:t>
            </a:r>
            <a:r>
              <a:rPr lang="en-US" sz="2800" i="1" baseline="-25000" dirty="0">
                <a:latin typeface="Palatino Linotype" panose="02040502050505030304" pitchFamily="18" charset="0"/>
              </a:rPr>
              <a:t>B</a:t>
            </a:r>
            <a:r>
              <a:rPr lang="en-US" sz="2800" dirty="0">
                <a:latin typeface="Palatino Linotype" panose="02040502050505030304" pitchFamily="18" charset="0"/>
              </a:rPr>
              <a:t> appears on one line, then </a:t>
            </a:r>
            <a:r>
              <a:rPr lang="en-US" sz="2800" i="1" dirty="0">
                <a:latin typeface="Palatino Linotype" panose="02040502050505030304" pitchFamily="18" charset="0"/>
              </a:rPr>
              <a:t>D</a:t>
            </a:r>
            <a:r>
              <a:rPr lang="en-US" sz="2800" i="1" baseline="-25000" dirty="0">
                <a:latin typeface="Palatino Linotype" panose="02040502050505030304" pitchFamily="18" charset="0"/>
              </a:rPr>
              <a:t>R</a:t>
            </a:r>
            <a:r>
              <a:rPr lang="en-US" sz="2800" dirty="0">
                <a:latin typeface="Palatino Linotype" panose="02040502050505030304" pitchFamily="18" charset="0"/>
              </a:rPr>
              <a:t> appears on the next line.</a:t>
            </a:r>
          </a:p>
          <a:p>
            <a:pPr lvl="1" algn="just"/>
            <a:r>
              <a:rPr lang="en-US" sz="2600" dirty="0">
                <a:latin typeface="Palatino Linotype" panose="02040502050505030304" pitchFamily="18" charset="0"/>
              </a:rPr>
              <a:t>Hence, the question of phase difference does not arise in this case</a:t>
            </a:r>
          </a:p>
          <a:p>
            <a:pPr lvl="1" algn="just"/>
            <a:r>
              <a:rPr lang="en-US" sz="2600" dirty="0">
                <a:latin typeface="Palatino Linotype" panose="02040502050505030304" pitchFamily="18" charset="0"/>
              </a:rPr>
              <a:t>The modulation technique used is FM</a:t>
            </a:r>
          </a:p>
          <a:p>
            <a:pPr algn="just"/>
            <a:r>
              <a:rPr lang="en-US" sz="2800" dirty="0">
                <a:latin typeface="Palatino Linotype" panose="02040502050505030304" pitchFamily="18" charset="0"/>
              </a:rPr>
              <a:t>These three encoding systems will be described </a:t>
            </a:r>
            <a:r>
              <a:rPr lang="en-US" sz="2800" dirty="0" err="1">
                <a:latin typeface="Palatino Linotype" panose="02040502050505030304" pitchFamily="18" charset="0"/>
              </a:rPr>
              <a:t>firther</a:t>
            </a:r>
            <a:r>
              <a:rPr lang="en-US" sz="2800" dirty="0">
                <a:latin typeface="Palatino Linotype" panose="02040502050505030304" pitchFamily="18" charset="0"/>
              </a:rPr>
              <a:t> in the next lecture</a:t>
            </a:r>
          </a:p>
        </p:txBody>
      </p:sp>
    </p:spTree>
    <p:extLst>
      <p:ext uri="{BB962C8B-B14F-4D97-AF65-F5344CB8AC3E}">
        <p14:creationId xmlns:p14="http://schemas.microsoft.com/office/powerpoint/2010/main" val="36617349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45</a:t>
            </a:fld>
            <a:endParaRPr lang="en-US" noProof="0" dirty="0"/>
          </a:p>
        </p:txBody>
      </p:sp>
      <p:sp>
        <p:nvSpPr>
          <p:cNvPr id="3" name="Content Placeholder 2"/>
          <p:cNvSpPr>
            <a:spLocks noGrp="1"/>
          </p:cNvSpPr>
          <p:nvPr>
            <p:ph idx="1"/>
          </p:nvPr>
        </p:nvSpPr>
        <p:spPr>
          <a:xfrm>
            <a:off x="363416" y="1825625"/>
            <a:ext cx="11465168" cy="4637582"/>
          </a:xfrm>
        </p:spPr>
        <p:txBody>
          <a:bodyPr>
            <a:normAutofit lnSpcReduction="10000"/>
          </a:bodyPr>
          <a:lstStyle/>
          <a:p>
            <a:pPr algn="just"/>
            <a:r>
              <a:rPr lang="en-US" sz="2800" dirty="0">
                <a:latin typeface="Palatino Linotype" panose="02040502050505030304" pitchFamily="18" charset="0"/>
              </a:rPr>
              <a:t>The two weighted colour difference signals I and Q in NTSC system and U and V in PAL system require separate AMSC modulators.</a:t>
            </a:r>
          </a:p>
          <a:p>
            <a:pPr algn="just"/>
            <a:r>
              <a:rPr lang="en-US" sz="2800" dirty="0">
                <a:latin typeface="Palatino Linotype" panose="02040502050505030304" pitchFamily="18" charset="0"/>
              </a:rPr>
              <a:t>The same subcarrier is used for both modulators, but one uses subcarrier in phase (0˚ phase difference), while the other modulator uses the subcarrier in quadrature phase (90˚ phase difference)</a:t>
            </a:r>
          </a:p>
          <a:p>
            <a:pPr algn="just"/>
            <a:r>
              <a:rPr lang="en-US" sz="2800" dirty="0">
                <a:latin typeface="Palatino Linotype" panose="02040502050505030304" pitchFamily="18" charset="0"/>
              </a:rPr>
              <a:t>The AMSC modulators are called colour encoders.</a:t>
            </a:r>
          </a:p>
          <a:p>
            <a:pPr algn="just"/>
            <a:r>
              <a:rPr lang="en-US" sz="2800" dirty="0">
                <a:latin typeface="Palatino Linotype" panose="02040502050505030304" pitchFamily="18" charset="0"/>
              </a:rPr>
              <a:t>The outputs of two modulators are added </a:t>
            </a:r>
            <a:r>
              <a:rPr lang="en-US" sz="2800" dirty="0" err="1">
                <a:latin typeface="Palatino Linotype" panose="02040502050505030304" pitchFamily="18" charset="0"/>
              </a:rPr>
              <a:t>vectorially</a:t>
            </a:r>
            <a:r>
              <a:rPr lang="en-US" sz="2800" dirty="0">
                <a:latin typeface="Palatino Linotype" panose="02040502050505030304" pitchFamily="18" charset="0"/>
              </a:rPr>
              <a:t> to get the resultant chrominance (or chroma signal, denoted by C)</a:t>
            </a:r>
          </a:p>
          <a:p>
            <a:pPr algn="just"/>
            <a:r>
              <a:rPr lang="en-US" sz="2800" dirty="0">
                <a:latin typeface="Palatino Linotype" panose="02040502050505030304" pitchFamily="18" charset="0"/>
              </a:rPr>
              <a:t>Chroma signal is represented by amplitude and phase angle. </a:t>
            </a:r>
          </a:p>
          <a:p>
            <a:pPr algn="just"/>
            <a:r>
              <a:rPr lang="en-US" sz="2800" dirty="0">
                <a:latin typeface="Palatino Linotype" panose="02040502050505030304" pitchFamily="18" charset="0"/>
              </a:rPr>
              <a:t>Amplitude denotes saturation and phase angle denotes hue of the resultant colour</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Production of Chroma Signal</a:t>
            </a:r>
          </a:p>
        </p:txBody>
      </p:sp>
    </p:spTree>
    <p:extLst>
      <p:ext uri="{BB962C8B-B14F-4D97-AF65-F5344CB8AC3E}">
        <p14:creationId xmlns:p14="http://schemas.microsoft.com/office/powerpoint/2010/main" val="12233842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46</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991315" y="598445"/>
            <a:ext cx="6094069" cy="5028186"/>
          </a:xfrm>
          <a:prstGeom prst="rect">
            <a:avLst/>
          </a:prstGeom>
        </p:spPr>
      </p:pic>
      <p:sp>
        <p:nvSpPr>
          <p:cNvPr id="4" name="Rectangle 3"/>
          <p:cNvSpPr/>
          <p:nvPr/>
        </p:nvSpPr>
        <p:spPr>
          <a:xfrm>
            <a:off x="3248963" y="5844864"/>
            <a:ext cx="5578771" cy="400110"/>
          </a:xfrm>
          <a:prstGeom prst="rect">
            <a:avLst/>
          </a:prstGeom>
          <a:solidFill>
            <a:schemeClr val="accent4"/>
          </a:solidFill>
        </p:spPr>
        <p:txBody>
          <a:bodyPr wrap="none">
            <a:spAutoFit/>
          </a:bodyPr>
          <a:lstStyle/>
          <a:p>
            <a:r>
              <a:rPr lang="en-US" sz="2000" b="1" dirty="0">
                <a:latin typeface="Palatino Linotype" panose="02040502050505030304" pitchFamily="18" charset="0"/>
              </a:rPr>
              <a:t> Representation of the resultant chroma signal</a:t>
            </a:r>
          </a:p>
        </p:txBody>
      </p:sp>
    </p:spTree>
    <p:extLst>
      <p:ext uri="{BB962C8B-B14F-4D97-AF65-F5344CB8AC3E}">
        <p14:creationId xmlns:p14="http://schemas.microsoft.com/office/powerpoint/2010/main" val="24111631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47</a:t>
            </a:fld>
            <a:endParaRPr lang="en-US" noProof="0" dirty="0"/>
          </a:p>
        </p:txBody>
      </p:sp>
      <p:sp>
        <p:nvSpPr>
          <p:cNvPr id="3" name="Content Placeholder 2"/>
          <p:cNvSpPr>
            <a:spLocks noGrp="1"/>
          </p:cNvSpPr>
          <p:nvPr>
            <p:ph idx="1"/>
          </p:nvPr>
        </p:nvSpPr>
        <p:spPr>
          <a:xfrm>
            <a:off x="363416" y="1680150"/>
            <a:ext cx="11465168" cy="4949313"/>
          </a:xfrm>
        </p:spPr>
        <p:txBody>
          <a:bodyPr>
            <a:normAutofit/>
          </a:bodyPr>
          <a:lstStyle/>
          <a:p>
            <a:pPr algn="just"/>
            <a:r>
              <a:rPr lang="en-US" sz="2800" dirty="0">
                <a:latin typeface="Palatino Linotype" panose="02040502050505030304" pitchFamily="18" charset="0"/>
              </a:rPr>
              <a:t>The chrominance signal is finally added to the luminance signal along with blanking and sync pulses and colour burst signal</a:t>
            </a:r>
          </a:p>
          <a:p>
            <a:pPr algn="just"/>
            <a:r>
              <a:rPr lang="en-US" sz="2800" dirty="0">
                <a:latin typeface="Palatino Linotype" panose="02040502050505030304" pitchFamily="18" charset="0"/>
              </a:rPr>
              <a:t>The resultant is called colour composite video signal (CCVS)</a:t>
            </a:r>
          </a:p>
          <a:p>
            <a:pPr algn="just"/>
            <a:r>
              <a:rPr lang="en-US" sz="2800" dirty="0">
                <a:latin typeface="Palatino Linotype" panose="02040502050505030304" pitchFamily="18" charset="0"/>
              </a:rPr>
              <a:t>This composite signal modulates the main video carrier using AMVSB technique as in the case of monochrome transmitter.</a:t>
            </a:r>
          </a:p>
          <a:p>
            <a:pPr algn="just"/>
            <a:r>
              <a:rPr lang="en-US" sz="2800" dirty="0">
                <a:latin typeface="Palatino Linotype" panose="02040502050505030304" pitchFamily="18" charset="0"/>
              </a:rPr>
              <a:t>As the chroma signal is of AMSC modulation, it is necessary to generate the subcarrier signal locally in the receiver to detect baseband signals from the AMSC signals.</a:t>
            </a:r>
          </a:p>
          <a:p>
            <a:pPr algn="just"/>
            <a:r>
              <a:rPr lang="en-US" sz="2800" dirty="0">
                <a:latin typeface="Palatino Linotype" panose="02040502050505030304" pitchFamily="18" charset="0"/>
              </a:rPr>
              <a:t>The presence of luminance signal in the transmitted wave makes it possible for the monochrome receiver to receive the brightness signal and to produce black and white picture.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Colour Composite Video Signal</a:t>
            </a:r>
          </a:p>
        </p:txBody>
      </p:sp>
    </p:spTree>
    <p:extLst>
      <p:ext uri="{BB962C8B-B14F-4D97-AF65-F5344CB8AC3E}">
        <p14:creationId xmlns:p14="http://schemas.microsoft.com/office/powerpoint/2010/main" val="37642674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48</a:t>
            </a:fld>
            <a:endParaRPr lang="en-US" noProof="0" dirty="0"/>
          </a:p>
        </p:txBody>
      </p:sp>
      <p:sp>
        <p:nvSpPr>
          <p:cNvPr id="3" name="Content Placeholder 2"/>
          <p:cNvSpPr txBox="1">
            <a:spLocks/>
          </p:cNvSpPr>
          <p:nvPr/>
        </p:nvSpPr>
        <p:spPr>
          <a:xfrm>
            <a:off x="363416" y="727364"/>
            <a:ext cx="11465168" cy="5673497"/>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U and V signals are recovered from the chroma signal in the colour receiver (but cannot be detected in a monochrome receiver).</a:t>
            </a:r>
          </a:p>
          <a:p>
            <a:pPr algn="just"/>
            <a:r>
              <a:rPr lang="en-US" sz="2800" dirty="0">
                <a:latin typeface="Palatino Linotype" panose="02040502050505030304" pitchFamily="18" charset="0"/>
              </a:rPr>
              <a:t>These signals are de-weighted to get B-Y and R-Y signals</a:t>
            </a:r>
          </a:p>
          <a:p>
            <a:pPr algn="just"/>
            <a:r>
              <a:rPr lang="en-US" sz="2800" dirty="0">
                <a:latin typeface="Palatino Linotype" panose="02040502050505030304" pitchFamily="18" charset="0"/>
              </a:rPr>
              <a:t>G-Y signal is obtained by a resistive matrix.</a:t>
            </a:r>
          </a:p>
          <a:p>
            <a:pPr algn="just"/>
            <a:r>
              <a:rPr lang="en-US" sz="2800" dirty="0">
                <a:latin typeface="Palatino Linotype" panose="02040502050505030304" pitchFamily="18" charset="0"/>
              </a:rPr>
              <a:t>Finally, Y is added to the colour difference signals in the colour receiver to get the respective R, G and B voltages.</a:t>
            </a:r>
          </a:p>
          <a:p>
            <a:pPr algn="just"/>
            <a:r>
              <a:rPr lang="en-US" sz="2800" dirty="0">
                <a:latin typeface="Palatino Linotype" panose="02040502050505030304" pitchFamily="18" charset="0"/>
              </a:rPr>
              <a:t>Thus, the original voltages produced by the colour camera tube are obtained in the colour receiver.</a:t>
            </a:r>
          </a:p>
          <a:p>
            <a:pPr algn="just"/>
            <a:r>
              <a:rPr lang="en-US" sz="2800" dirty="0">
                <a:latin typeface="Palatino Linotype" panose="02040502050505030304" pitchFamily="18" charset="0"/>
              </a:rPr>
              <a:t>These voltages activate phosphor elements of the colour picture tube in such a manner that R glows only red phosphor, G only green phosphor and B only blue phosphor elements, reproducing the original colour picture on the screen</a:t>
            </a:r>
          </a:p>
        </p:txBody>
      </p:sp>
    </p:spTree>
    <p:extLst>
      <p:ext uri="{BB962C8B-B14F-4D97-AF65-F5344CB8AC3E}">
        <p14:creationId xmlns:p14="http://schemas.microsoft.com/office/powerpoint/2010/main" val="3401266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49</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In the scanning process, there is an interval of 20 </a:t>
            </a:r>
            <a:r>
              <a:rPr lang="en-US" sz="2800" dirty="0" err="1">
                <a:latin typeface="Palatino Linotype" panose="02040502050505030304" pitchFamily="18" charset="0"/>
              </a:rPr>
              <a:t>ms</a:t>
            </a:r>
            <a:r>
              <a:rPr lang="en-US" sz="2800" dirty="0">
                <a:latin typeface="Palatino Linotype" panose="02040502050505030304" pitchFamily="18" charset="0"/>
              </a:rPr>
              <a:t> between the odd and even fields on interlaced scanning.</a:t>
            </a:r>
          </a:p>
          <a:p>
            <a:pPr algn="just"/>
            <a:r>
              <a:rPr lang="en-US" sz="2800" dirty="0">
                <a:latin typeface="Palatino Linotype" panose="02040502050505030304" pitchFamily="18" charset="0"/>
              </a:rPr>
              <a:t>For low resolution areas, where the pixels do not change for long, repetition of the scanning lines and fields will cause concentration of high energy in the form of bundles or clusters of energy.</a:t>
            </a:r>
          </a:p>
          <a:p>
            <a:pPr algn="just"/>
            <a:r>
              <a:rPr lang="en-US" sz="2800" dirty="0">
                <a:latin typeface="Palatino Linotype" panose="02040502050505030304" pitchFamily="18" charset="0"/>
              </a:rPr>
              <a:t>For high resolution areas also where the pixels change energy quickly, repetitive scanning will form clusters of energy, but energy content would be low, almost negligible.</a:t>
            </a:r>
          </a:p>
          <a:p>
            <a:pPr algn="just"/>
            <a:r>
              <a:rPr lang="en-US" sz="2800" dirty="0">
                <a:latin typeface="Palatino Linotype" panose="02040502050505030304" pitchFamily="18" charset="0"/>
              </a:rPr>
              <a:t>High resolution pertains to 5 MHz which is equal to 320 times scanning frequency (</a:t>
            </a:r>
            <a:r>
              <a:rPr lang="en-US" sz="2800" i="1" dirty="0" err="1">
                <a:latin typeface="Palatino Linotype" panose="02040502050505030304" pitchFamily="18" charset="0"/>
              </a:rPr>
              <a:t>f</a:t>
            </a:r>
            <a:r>
              <a:rPr lang="en-US" sz="2800" i="1" baseline="-25000" dirty="0" err="1">
                <a:latin typeface="Palatino Linotype" panose="02040502050505030304" pitchFamily="18" charset="0"/>
              </a:rPr>
              <a:t>H</a:t>
            </a:r>
            <a:r>
              <a:rPr lang="en-US" sz="2800" dirty="0">
                <a:latin typeface="Palatino Linotype" panose="02040502050505030304" pitchFamily="18" charset="0"/>
              </a:rPr>
              <a:t> = 15,625 Hz)</a:t>
            </a:r>
          </a:p>
        </p:txBody>
      </p:sp>
      <p:sp>
        <p:nvSpPr>
          <p:cNvPr id="4" name="Title 3"/>
          <p:cNvSpPr>
            <a:spLocks noGrp="1"/>
          </p:cNvSpPr>
          <p:nvPr>
            <p:ph type="title"/>
          </p:nvPr>
        </p:nvSpPr>
        <p:spPr/>
        <p:txBody>
          <a:bodyPr>
            <a:normAutofit/>
          </a:bodyPr>
          <a:lstStyle/>
          <a:p>
            <a:r>
              <a:rPr lang="en-US" sz="3000" dirty="0">
                <a:latin typeface="Palatino Linotype" panose="02040502050505030304" pitchFamily="18" charset="0"/>
              </a:rPr>
              <a:t>Interleaving of Chroma Signals in Between Monochrome Signals</a:t>
            </a:r>
          </a:p>
        </p:txBody>
      </p:sp>
    </p:spTree>
    <p:extLst>
      <p:ext uri="{BB962C8B-B14F-4D97-AF65-F5344CB8AC3E}">
        <p14:creationId xmlns:p14="http://schemas.microsoft.com/office/powerpoint/2010/main" val="40408492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50</a:t>
            </a:fld>
            <a:endParaRPr lang="en-US" noProof="0" dirty="0"/>
          </a:p>
        </p:txBody>
      </p:sp>
      <p:sp>
        <p:nvSpPr>
          <p:cNvPr id="3" name="Content Placeholder 2"/>
          <p:cNvSpPr txBox="1">
            <a:spLocks/>
          </p:cNvSpPr>
          <p:nvPr/>
        </p:nvSpPr>
        <p:spPr>
          <a:xfrm>
            <a:off x="363416" y="748145"/>
            <a:ext cx="11465168" cy="2599306"/>
          </a:xfrm>
          <a:prstGeom prst="rect">
            <a:avLst/>
          </a:prstGeom>
        </p:spPr>
        <p:txBody>
          <a:bodyPr>
            <a:normAutofit fontScale="92500"/>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While energy is concentrated at the spots pertaining to the harmonics of </a:t>
            </a:r>
            <a:r>
              <a:rPr lang="en-US" sz="2800" i="1" dirty="0" err="1">
                <a:latin typeface="Palatino Linotype" panose="02040502050505030304" pitchFamily="18" charset="0"/>
              </a:rPr>
              <a:t>f</a:t>
            </a:r>
            <a:r>
              <a:rPr lang="en-US" sz="2800" i="1" baseline="-25000" dirty="0" err="1">
                <a:latin typeface="Palatino Linotype" panose="02040502050505030304" pitchFamily="18" charset="0"/>
              </a:rPr>
              <a:t>H</a:t>
            </a:r>
            <a:r>
              <a:rPr lang="en-US" sz="2800" dirty="0">
                <a:latin typeface="Palatino Linotype" panose="02040502050505030304" pitchFamily="18" charset="0"/>
              </a:rPr>
              <a:t>, the energy content goes on decreasing as the harmonic number increases, being quite high at </a:t>
            </a:r>
            <a:r>
              <a:rPr lang="en-US" sz="2800" i="1" dirty="0" err="1">
                <a:latin typeface="Palatino Linotype" panose="02040502050505030304" pitchFamily="18" charset="0"/>
              </a:rPr>
              <a:t>f</a:t>
            </a:r>
            <a:r>
              <a:rPr lang="en-US" sz="2800" i="1" baseline="-25000" dirty="0" err="1">
                <a:latin typeface="Palatino Linotype" panose="02040502050505030304" pitchFamily="18" charset="0"/>
              </a:rPr>
              <a:t>H</a:t>
            </a:r>
            <a:r>
              <a:rPr lang="en-US" sz="2800" dirty="0">
                <a:latin typeface="Palatino Linotype" panose="02040502050505030304" pitchFamily="18" charset="0"/>
              </a:rPr>
              <a:t>, 2</a:t>
            </a:r>
            <a:r>
              <a:rPr lang="en-US" sz="2800" i="1" dirty="0">
                <a:latin typeface="Palatino Linotype" panose="02040502050505030304" pitchFamily="18" charset="0"/>
              </a:rPr>
              <a:t>f</a:t>
            </a:r>
            <a:r>
              <a:rPr lang="en-US" sz="2800" i="1" baseline="-25000" dirty="0">
                <a:latin typeface="Palatino Linotype" panose="02040502050505030304" pitchFamily="18" charset="0"/>
              </a:rPr>
              <a:t>H</a:t>
            </a:r>
            <a:r>
              <a:rPr lang="en-US" sz="2800" dirty="0">
                <a:latin typeface="Palatino Linotype" panose="02040502050505030304" pitchFamily="18" charset="0"/>
              </a:rPr>
              <a:t> and negligibly small at 319</a:t>
            </a:r>
            <a:r>
              <a:rPr lang="en-US" sz="2800" i="1" dirty="0">
                <a:latin typeface="Palatino Linotype" panose="02040502050505030304" pitchFamily="18" charset="0"/>
              </a:rPr>
              <a:t>f</a:t>
            </a:r>
            <a:r>
              <a:rPr lang="en-US" sz="2800" i="1" baseline="-25000" dirty="0">
                <a:latin typeface="Palatino Linotype" panose="02040502050505030304" pitchFamily="18" charset="0"/>
              </a:rPr>
              <a:t>H</a:t>
            </a:r>
            <a:r>
              <a:rPr lang="en-US" sz="2800" dirty="0">
                <a:latin typeface="Palatino Linotype" panose="02040502050505030304" pitchFamily="18" charset="0"/>
              </a:rPr>
              <a:t> and 320</a:t>
            </a:r>
            <a:r>
              <a:rPr lang="en-US" sz="2800" i="1" dirty="0">
                <a:latin typeface="Palatino Linotype" panose="02040502050505030304" pitchFamily="18" charset="0"/>
              </a:rPr>
              <a:t>f</a:t>
            </a:r>
            <a:r>
              <a:rPr lang="en-US" sz="2800" i="1" baseline="-25000" dirty="0">
                <a:latin typeface="Palatino Linotype" panose="02040502050505030304" pitchFamily="18" charset="0"/>
              </a:rPr>
              <a:t>H</a:t>
            </a:r>
            <a:r>
              <a:rPr lang="en-US" sz="2800" dirty="0">
                <a:latin typeface="Palatino Linotype" panose="02040502050505030304" pitchFamily="18" charset="0"/>
              </a:rPr>
              <a:t> </a:t>
            </a:r>
          </a:p>
          <a:p>
            <a:pPr algn="just"/>
            <a:r>
              <a:rPr lang="en-US" sz="2800" dirty="0">
                <a:latin typeface="Palatino Linotype" panose="02040502050505030304" pitchFamily="18" charset="0"/>
              </a:rPr>
              <a:t>Between any two consecutive harmonics, there are vacant spaces or slots where there is no monochrome energy. The next figure illustrates  the scenario</a:t>
            </a:r>
          </a:p>
          <a:p>
            <a:pPr marL="0" indent="0" algn="just">
              <a:buNone/>
            </a:pPr>
            <a:endParaRPr lang="en-US" sz="2800" dirty="0">
              <a:latin typeface="Palatino Linotype" panose="02040502050505030304" pitchFamily="18" charset="0"/>
            </a:endParaRP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29671" y="3194503"/>
            <a:ext cx="9459154" cy="32687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angle 4"/>
          <p:cNvSpPr/>
          <p:nvPr/>
        </p:nvSpPr>
        <p:spPr>
          <a:xfrm>
            <a:off x="10198656" y="3925977"/>
            <a:ext cx="1827088" cy="1938992"/>
          </a:xfrm>
          <a:prstGeom prst="rect">
            <a:avLst/>
          </a:prstGeom>
          <a:solidFill>
            <a:schemeClr val="accent4"/>
          </a:solidFill>
        </p:spPr>
        <p:txBody>
          <a:bodyPr wrap="square">
            <a:spAutoFit/>
          </a:bodyPr>
          <a:lstStyle/>
          <a:p>
            <a:pPr algn="ctr"/>
            <a:r>
              <a:rPr lang="en-US" sz="2000" b="1" dirty="0">
                <a:latin typeface="Palatino Linotype" panose="02040502050505030304" pitchFamily="18" charset="0"/>
              </a:rPr>
              <a:t>Clustering of monochrome energy due to repeated scanning of pixels</a:t>
            </a:r>
          </a:p>
        </p:txBody>
      </p:sp>
    </p:spTree>
    <p:extLst>
      <p:ext uri="{BB962C8B-B14F-4D97-AF65-F5344CB8AC3E}">
        <p14:creationId xmlns:p14="http://schemas.microsoft.com/office/powerpoint/2010/main" val="22932025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51</a:t>
            </a:fld>
            <a:endParaRPr lang="en-US" noProof="0" dirty="0"/>
          </a:p>
        </p:txBody>
      </p:sp>
      <p:sp>
        <p:nvSpPr>
          <p:cNvPr id="3" name="Content Placeholder 2"/>
          <p:cNvSpPr txBox="1">
            <a:spLocks/>
          </p:cNvSpPr>
          <p:nvPr/>
        </p:nvSpPr>
        <p:spPr>
          <a:xfrm>
            <a:off x="363416" y="748144"/>
            <a:ext cx="11465168" cy="5715063"/>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vacant spaces are occupied by the colour subcarrier (modulated by colour difference signals)</a:t>
            </a:r>
          </a:p>
          <a:p>
            <a:pPr algn="just"/>
            <a:r>
              <a:rPr lang="en-US" sz="2800" dirty="0">
                <a:latin typeface="Palatino Linotype" panose="02040502050505030304" pitchFamily="18" charset="0"/>
              </a:rPr>
              <a:t>This process is called </a:t>
            </a:r>
            <a:r>
              <a:rPr lang="en-US" sz="2800" b="1" dirty="0">
                <a:solidFill>
                  <a:schemeClr val="accent1"/>
                </a:solidFill>
                <a:latin typeface="Palatino Linotype" panose="02040502050505030304" pitchFamily="18" charset="0"/>
              </a:rPr>
              <a:t>interleaving</a:t>
            </a:r>
            <a:r>
              <a:rPr lang="en-US" sz="2800" dirty="0">
                <a:latin typeface="Palatino Linotype" panose="02040502050505030304" pitchFamily="18" charset="0"/>
              </a:rPr>
              <a:t>.</a:t>
            </a:r>
          </a:p>
          <a:p>
            <a:pPr algn="just"/>
            <a:r>
              <a:rPr lang="en-US" sz="2800" dirty="0">
                <a:latin typeface="Palatino Linotype" panose="02040502050505030304" pitchFamily="18" charset="0"/>
              </a:rPr>
              <a:t>The frequency of the colour subcarrier is so chosen that it is near the upper end (5 MHz in CCIR B and 4.2 MHz in CCIR M system) of video bandwidth.</a:t>
            </a:r>
          </a:p>
          <a:p>
            <a:pPr algn="just"/>
            <a:r>
              <a:rPr lang="en-US" sz="2800" dirty="0">
                <a:latin typeface="Palatino Linotype" panose="02040502050505030304" pitchFamily="18" charset="0"/>
              </a:rPr>
              <a:t>The energy of the chroma signal is also concentrated in bundles, but the highest energy bundle is at the colour subcarrier frequency.</a:t>
            </a:r>
          </a:p>
          <a:p>
            <a:pPr algn="just"/>
            <a:r>
              <a:rPr lang="en-US" sz="2800" dirty="0">
                <a:latin typeface="Palatino Linotype" panose="02040502050505030304" pitchFamily="18" charset="0"/>
              </a:rPr>
              <a:t>As one moves towards the lower integers of scanning frequencies, the energy decreases and becomes negligibly small ad </a:t>
            </a:r>
            <a:r>
              <a:rPr lang="en-US" sz="2800" i="1" dirty="0" err="1">
                <a:latin typeface="Palatino Linotype" panose="02040502050505030304" pitchFamily="18" charset="0"/>
              </a:rPr>
              <a:t>f</a:t>
            </a:r>
            <a:r>
              <a:rPr lang="en-US" sz="2800" i="1" baseline="-25000" dirty="0" err="1">
                <a:latin typeface="Palatino Linotype" panose="02040502050505030304" pitchFamily="18" charset="0"/>
              </a:rPr>
              <a:t>H</a:t>
            </a:r>
            <a:r>
              <a:rPr lang="en-US" sz="2800" dirty="0">
                <a:latin typeface="Palatino Linotype" panose="02040502050505030304" pitchFamily="18" charset="0"/>
              </a:rPr>
              <a:t> is approached.</a:t>
            </a:r>
          </a:p>
          <a:p>
            <a:pPr algn="just"/>
            <a:r>
              <a:rPr lang="en-US" sz="2800" dirty="0">
                <a:latin typeface="Palatino Linotype" panose="02040502050505030304" pitchFamily="18" charset="0"/>
              </a:rPr>
              <a:t>The next figure illustrates this</a:t>
            </a:r>
          </a:p>
        </p:txBody>
      </p:sp>
    </p:spTree>
    <p:extLst>
      <p:ext uri="{BB962C8B-B14F-4D97-AF65-F5344CB8AC3E}">
        <p14:creationId xmlns:p14="http://schemas.microsoft.com/office/powerpoint/2010/main" val="22008601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52</a:t>
            </a:fld>
            <a:endParaRPr lang="en-US" noProof="0" dirty="0"/>
          </a:p>
        </p:txBody>
      </p:sp>
      <p:pic>
        <p:nvPicPr>
          <p:cNvPr id="4" name="Picture 3"/>
          <p:cNvPicPr>
            <a:picLocks noChangeAspect="1"/>
          </p:cNvPicPr>
          <p:nvPr/>
        </p:nvPicPr>
        <p:blipFill>
          <a:blip r:embed="rId2"/>
          <a:stretch>
            <a:fillRect/>
          </a:stretch>
        </p:blipFill>
        <p:spPr>
          <a:xfrm>
            <a:off x="904806" y="1464824"/>
            <a:ext cx="10382388" cy="3554276"/>
          </a:xfrm>
          <a:prstGeom prst="rect">
            <a:avLst/>
          </a:prstGeom>
        </p:spPr>
      </p:pic>
      <p:sp>
        <p:nvSpPr>
          <p:cNvPr id="5" name="Rectangle 4"/>
          <p:cNvSpPr/>
          <p:nvPr/>
        </p:nvSpPr>
        <p:spPr>
          <a:xfrm>
            <a:off x="2693141" y="5569250"/>
            <a:ext cx="6715300" cy="461665"/>
          </a:xfrm>
          <a:prstGeom prst="rect">
            <a:avLst/>
          </a:prstGeom>
          <a:solidFill>
            <a:schemeClr val="accent4"/>
          </a:solidFill>
        </p:spPr>
        <p:txBody>
          <a:bodyPr wrap="none">
            <a:spAutoFit/>
          </a:bodyPr>
          <a:lstStyle/>
          <a:p>
            <a:r>
              <a:rPr lang="en-US" sz="2400" b="1" dirty="0">
                <a:latin typeface="Palatino Linotype" panose="02040502050505030304" pitchFamily="18" charset="0"/>
              </a:rPr>
              <a:t> Interleaving of luminance and chroma signals</a:t>
            </a:r>
          </a:p>
        </p:txBody>
      </p:sp>
    </p:spTree>
    <p:extLst>
      <p:ext uri="{BB962C8B-B14F-4D97-AF65-F5344CB8AC3E}">
        <p14:creationId xmlns:p14="http://schemas.microsoft.com/office/powerpoint/2010/main" val="27539157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53</a:t>
            </a:fld>
            <a:endParaRPr lang="en-US" noProof="0" dirty="0"/>
          </a:p>
        </p:txBody>
      </p:sp>
      <p:sp>
        <p:nvSpPr>
          <p:cNvPr id="3" name="Content Placeholder 2"/>
          <p:cNvSpPr txBox="1">
            <a:spLocks/>
          </p:cNvSpPr>
          <p:nvPr/>
        </p:nvSpPr>
        <p:spPr>
          <a:xfrm>
            <a:off x="363416" y="748145"/>
            <a:ext cx="11465168" cy="2015838"/>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High subcarrier frequency makes the interleaving process free of cross interference.</a:t>
            </a:r>
          </a:p>
          <a:p>
            <a:pPr algn="just"/>
            <a:r>
              <a:rPr lang="en-US" sz="2800" dirty="0">
                <a:latin typeface="Palatino Linotype" panose="02040502050505030304" pitchFamily="18" charset="0"/>
              </a:rPr>
              <a:t>Where the energy of Y signal is high, the energy of C signal is low and vice versa, as shown in the figure below.</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045751" y="2535383"/>
            <a:ext cx="8411233" cy="3307974"/>
          </a:xfrm>
          <a:prstGeom prst="rect">
            <a:avLst/>
          </a:prstGeom>
        </p:spPr>
      </p:pic>
      <p:sp>
        <p:nvSpPr>
          <p:cNvPr id="5" name="Rectangle 4"/>
          <p:cNvSpPr/>
          <p:nvPr/>
        </p:nvSpPr>
        <p:spPr>
          <a:xfrm>
            <a:off x="3180605" y="6072526"/>
            <a:ext cx="6127447" cy="400110"/>
          </a:xfrm>
          <a:prstGeom prst="rect">
            <a:avLst/>
          </a:prstGeom>
          <a:solidFill>
            <a:schemeClr val="accent4"/>
          </a:solidFill>
        </p:spPr>
        <p:txBody>
          <a:bodyPr wrap="none">
            <a:spAutoFit/>
          </a:bodyPr>
          <a:lstStyle/>
          <a:p>
            <a:r>
              <a:rPr lang="en-US" sz="2000" b="1" dirty="0">
                <a:latin typeface="Palatino Linotype" panose="02040502050505030304" pitchFamily="18" charset="0"/>
              </a:rPr>
              <a:t>Variation in the intensity of the interleaved signals</a:t>
            </a:r>
          </a:p>
        </p:txBody>
      </p:sp>
    </p:spTree>
    <p:extLst>
      <p:ext uri="{BB962C8B-B14F-4D97-AF65-F5344CB8AC3E}">
        <p14:creationId xmlns:p14="http://schemas.microsoft.com/office/powerpoint/2010/main" val="33982172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54</a:t>
            </a:fld>
            <a:endParaRPr lang="en-US" noProof="0" dirty="0"/>
          </a:p>
        </p:txBody>
      </p:sp>
      <p:sp>
        <p:nvSpPr>
          <p:cNvPr id="3" name="Content Placeholder 2"/>
          <p:cNvSpPr>
            <a:spLocks noGrp="1"/>
          </p:cNvSpPr>
          <p:nvPr>
            <p:ph idx="1"/>
          </p:nvPr>
        </p:nvSpPr>
        <p:spPr>
          <a:xfrm>
            <a:off x="363416" y="1620982"/>
            <a:ext cx="11465168" cy="4555981"/>
          </a:xfrm>
        </p:spPr>
        <p:txBody>
          <a:bodyPr>
            <a:normAutofit/>
          </a:bodyPr>
          <a:lstStyle/>
          <a:p>
            <a:pPr algn="just"/>
            <a:r>
              <a:rPr lang="en-US" sz="2800" dirty="0">
                <a:latin typeface="Palatino Linotype" panose="02040502050505030304" pitchFamily="18" charset="0"/>
              </a:rPr>
              <a:t>Bandwidth of the luminance signal is 5 MHz in CCIR B system.</a:t>
            </a:r>
          </a:p>
          <a:p>
            <a:pPr algn="just"/>
            <a:r>
              <a:rPr lang="en-US" sz="2800" dirty="0">
                <a:latin typeface="Palatino Linotype" panose="02040502050505030304" pitchFamily="18" charset="0"/>
              </a:rPr>
              <a:t>The subcarrier should be near the 5 MHz end because of the following reasons:</a:t>
            </a:r>
          </a:p>
          <a:p>
            <a:pPr marL="971550" lvl="1" indent="-514350" algn="just">
              <a:buFont typeface="+mj-lt"/>
              <a:buAutoNum type="arabicPeriod"/>
            </a:pPr>
            <a:r>
              <a:rPr lang="en-US" sz="2600" dirty="0">
                <a:latin typeface="Palatino Linotype" panose="02040502050505030304" pitchFamily="18" charset="0"/>
              </a:rPr>
              <a:t>Interleaving of chroma signal is easy at high frequency end where luminance signal is minimum.</a:t>
            </a:r>
          </a:p>
          <a:p>
            <a:pPr marL="971550" lvl="1" indent="-514350" algn="just">
              <a:buFont typeface="+mj-lt"/>
              <a:buAutoNum type="arabicPeriod"/>
            </a:pPr>
            <a:r>
              <a:rPr lang="en-US" sz="2600" dirty="0">
                <a:latin typeface="Palatino Linotype" panose="02040502050505030304" pitchFamily="18" charset="0"/>
              </a:rPr>
              <a:t>Reduction of dot pattern when colour transmission is received in a monochrome receiver</a:t>
            </a:r>
          </a:p>
          <a:p>
            <a:pPr marL="971550" lvl="1" indent="-514350" algn="just">
              <a:buFont typeface="+mj-lt"/>
              <a:buAutoNum type="arabicPeriod"/>
            </a:pPr>
            <a:r>
              <a:rPr lang="en-US" sz="2600" dirty="0">
                <a:latin typeface="Palatino Linotype" panose="02040502050505030304" pitchFamily="18" charset="0"/>
              </a:rPr>
              <a:t>Reduction of dot pattern in colour receiver when chroma signal enters Y channel due to insufficiency of the notch filter used to separate the two</a:t>
            </a:r>
          </a:p>
        </p:txBody>
      </p:sp>
      <p:sp>
        <p:nvSpPr>
          <p:cNvPr id="4" name="Title 3"/>
          <p:cNvSpPr>
            <a:spLocks noGrp="1"/>
          </p:cNvSpPr>
          <p:nvPr>
            <p:ph type="title"/>
          </p:nvPr>
        </p:nvSpPr>
        <p:spPr/>
        <p:txBody>
          <a:bodyPr>
            <a:normAutofit fontScale="90000"/>
          </a:bodyPr>
          <a:lstStyle/>
          <a:p>
            <a:r>
              <a:rPr lang="en-US" sz="3600" dirty="0">
                <a:latin typeface="Palatino Linotype" panose="02040502050505030304" pitchFamily="18" charset="0"/>
              </a:rPr>
              <a:t>Factors on Which Choice of Subcarrier Frequency Depends</a:t>
            </a:r>
          </a:p>
        </p:txBody>
      </p:sp>
    </p:spTree>
    <p:extLst>
      <p:ext uri="{BB962C8B-B14F-4D97-AF65-F5344CB8AC3E}">
        <p14:creationId xmlns:p14="http://schemas.microsoft.com/office/powerpoint/2010/main" val="3262211551"/>
      </p:ext>
    </p:extLst>
  </p:cSld>
  <p:clrMapOvr>
    <a:masterClrMapping/>
  </p:clrMapOvr>
</p:sld>
</file>

<file path=ppt/theme/theme1.xml><?xml version="1.0" encoding="utf-8"?>
<a:theme xmlns:a="http://schemas.openxmlformats.org/drawingml/2006/main" name="Office Theme">
  <a:themeElements>
    <a:clrScheme name="Custom 12">
      <a:dk1>
        <a:sysClr val="windowText" lastClr="000000"/>
      </a:dk1>
      <a:lt1>
        <a:sysClr val="window" lastClr="FFFFFF"/>
      </a:lt1>
      <a:dk2>
        <a:srgbClr val="44546A"/>
      </a:dk2>
      <a:lt2>
        <a:srgbClr val="E7E6E6"/>
      </a:lt2>
      <a:accent1>
        <a:srgbClr val="7030A0"/>
      </a:accent1>
      <a:accent2>
        <a:srgbClr val="404040"/>
      </a:accent2>
      <a:accent3>
        <a:srgbClr val="7F7F7F"/>
      </a:accent3>
      <a:accent4>
        <a:srgbClr val="C7A2E3"/>
      </a:accent4>
      <a:accent5>
        <a:srgbClr val="48A1FA"/>
      </a:accent5>
      <a:accent6>
        <a:srgbClr val="70AD47"/>
      </a:accent6>
      <a:hlink>
        <a:srgbClr val="0563C1"/>
      </a:hlink>
      <a:folHlink>
        <a:srgbClr val="954F72"/>
      </a:folHlink>
    </a:clrScheme>
    <a:fontScheme name="Custom 6">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468121_Coastal presentation_RVA_v5" id="{5B652A6C-03CB-4457-ADFC-1C5BB6605FEF}" vid="{F00112C4-F9F0-4BD0-BC95-5242C8B0F7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F2949B46-24C4-420B-AB49-DDC88FEB99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D46D58D-B27D-4B23-AEA1-AE974AB62218}">
  <ds:schemaRefs>
    <ds:schemaRef ds:uri="http://schemas.microsoft.com/sharepoint/v3/contenttype/forms"/>
  </ds:schemaRefs>
</ds:datastoreItem>
</file>

<file path=customXml/itemProps3.xml><?xml version="1.0" encoding="utf-8"?>
<ds:datastoreItem xmlns:ds="http://schemas.openxmlformats.org/officeDocument/2006/customXml" ds:itemID="{330CE401-796E-4493-905E-4DDA5AF62AB4}">
  <ds:schemaRefs>
    <ds:schemaRef ds:uri="http://schemas.microsoft.com/office/infopath/2007/PartnerControls"/>
    <ds:schemaRef ds:uri="http://purl.org/dc/elements/1.1/"/>
    <ds:schemaRef ds:uri="http://schemas.openxmlformats.org/package/2006/metadata/core-properties"/>
    <ds:schemaRef ds:uri="http://schemas.microsoft.com/office/2006/metadata/properties"/>
    <ds:schemaRef ds:uri="16c05727-aa75-4e4a-9b5f-8a80a1165891"/>
    <ds:schemaRef ds:uri="http://www.w3.org/XML/1998/namespace"/>
    <ds:schemaRef ds:uri="http://schemas.microsoft.com/office/2006/documentManagement/types"/>
    <ds:schemaRef ds:uri="71af3243-3dd4-4a8d-8c0d-dd76da1f02a5"/>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Coastal presentation</Template>
  <TotalTime>0</TotalTime>
  <Words>4125</Words>
  <Application>Microsoft Office PowerPoint</Application>
  <PresentationFormat>Widescreen</PresentationFormat>
  <Paragraphs>266</Paragraphs>
  <Slides>54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Cambria Math</vt:lpstr>
      <vt:lpstr>Palatino Linotype</vt:lpstr>
      <vt:lpstr>Office Theme</vt:lpstr>
      <vt:lpstr>LECTURE SEVEN: COMPATIBILITY AND COLOUR TELEVISION FUNDAMENTALS</vt:lpstr>
      <vt:lpstr>Introduction</vt:lpstr>
      <vt:lpstr>Compatibility</vt:lpstr>
      <vt:lpstr>PowerPoint Presentation</vt:lpstr>
      <vt:lpstr>Conditions to be Fulfilled for Compatibility</vt:lpstr>
      <vt:lpstr>PowerPoint Presentation</vt:lpstr>
      <vt:lpstr>Achievement of Compatibility</vt:lpstr>
      <vt:lpstr>PowerPoint Presentation</vt:lpstr>
      <vt:lpstr>PowerPoint Presentation</vt:lpstr>
      <vt:lpstr>Colour Camera Tubes</vt:lpstr>
      <vt:lpstr>Three-Tube Camera</vt:lpstr>
      <vt:lpstr>PowerPoint Presentation</vt:lpstr>
      <vt:lpstr>PowerPoint Presentation</vt:lpstr>
      <vt:lpstr>PowerPoint Presentation</vt:lpstr>
      <vt:lpstr>Single-Tube Camera</vt:lpstr>
      <vt:lpstr>PowerPoint Presentation</vt:lpstr>
      <vt:lpstr>PowerPoint Presentation</vt:lpstr>
      <vt:lpstr>Adjustment of White Balance in Colour Camera</vt:lpstr>
      <vt:lpstr>PowerPoint Presentation</vt:lpstr>
      <vt:lpstr>Luminance Signal</vt:lpstr>
      <vt:lpstr>PowerPoint Presentation</vt:lpstr>
      <vt:lpstr>PowerPoint Presentation</vt:lpstr>
      <vt:lpstr>Example 01</vt:lpstr>
      <vt:lpstr>PowerPoint Presentation</vt:lpstr>
      <vt:lpstr>PowerPoint Presentation</vt:lpstr>
      <vt:lpstr>Chrominance Signal</vt:lpstr>
      <vt:lpstr>PowerPoint Presentation</vt:lpstr>
      <vt:lpstr>PowerPoint Presentation</vt:lpstr>
      <vt:lpstr>PowerPoint Presentation</vt:lpstr>
      <vt:lpstr>Colour Difference Signal Actually Transmitted</vt:lpstr>
      <vt:lpstr>The Colour Diﬀerence Signal which is not Transmitted</vt:lpstr>
      <vt:lpstr>PowerPoint Presentation</vt:lpstr>
      <vt:lpstr>PowerPoint Presentation</vt:lpstr>
      <vt:lpstr>Weighting Factors for Colour Difference Signals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Distinction Between Luminance and Chrominance Signals</vt:lpstr>
      <vt:lpstr>Colour Encoders</vt:lpstr>
      <vt:lpstr>PowerPoint Presentation</vt:lpstr>
      <vt:lpstr>Production of Chroma Signal</vt:lpstr>
      <vt:lpstr>PowerPoint Presentation</vt:lpstr>
      <vt:lpstr>Colour Composite Video Signal</vt:lpstr>
      <vt:lpstr>PowerPoint Presentation</vt:lpstr>
      <vt:lpstr>Interleaving of Chroma Signals in Between Monochrome Signals</vt:lpstr>
      <vt:lpstr>PowerPoint Presentation</vt:lpstr>
      <vt:lpstr>PowerPoint Presentation</vt:lpstr>
      <vt:lpstr>PowerPoint Presentation</vt:lpstr>
      <vt:lpstr>PowerPoint Presentation</vt:lpstr>
      <vt:lpstr>Factors on Which Choice of Subcarrier Frequency Depends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2020-12-04T11:12:10Z</dcterms:created>
  <dcterms:modified xsi:type="dcterms:W3CDTF">2021-12-30T05:58:22Z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