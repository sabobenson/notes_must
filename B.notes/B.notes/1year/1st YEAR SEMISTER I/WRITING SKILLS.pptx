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85" r:id="rId6"/>
    <p:sldId id="286" r:id="rId7"/>
    <p:sldId id="287" r:id="rId8"/>
    <p:sldId id="288" r:id="rId9"/>
    <p:sldId id="289" r:id="rId10"/>
    <p:sldId id="290" r:id="rId11"/>
    <p:sldId id="291" r:id="rId12"/>
    <p:sldId id="292" r:id="rId13"/>
    <p:sldId id="293" r:id="rId14"/>
    <p:sldId id="29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8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7E9AAC2-6559-476A-A18E-5171071E5F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510F8CB-8634-4F62-83A2-C6248B8307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38B3920-D082-429D-A507-F0D12A92A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555F-6C48-44DC-8F0A-72D16AF736A5}" type="datetimeFigureOut">
              <a:rPr lang="en-US" smtClean="0"/>
              <a:t>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AE13AB85-9DC4-4CC9-94B7-0FBC467C9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DAEBA4E-D778-40E4-8C47-DDDA699B7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0000-6501-4C20-8473-2D503C926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8741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00B3B27-34D5-4749-BD60-2015159BE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5C47683-8E8B-43E1-8B32-BF26B4F954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C2D61C2E-E1DF-42A0-89DD-165F58CFC1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555F-6C48-44DC-8F0A-72D16AF736A5}" type="datetimeFigureOut">
              <a:rPr lang="en-US" smtClean="0"/>
              <a:t>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A98732F-0659-4240-81F5-FC5B6FA65C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DFA3C543-DEBE-498B-89A9-B8F41BC0C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0000-6501-4C20-8473-2D503C926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615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EFDA34D-DFB5-4799-950A-2874594EFB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E8C69DD-1C73-4138-9910-863A45F5E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6D814E3-A418-4657-9701-D769ABFB2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555F-6C48-44DC-8F0A-72D16AF736A5}" type="datetimeFigureOut">
              <a:rPr lang="en-US" smtClean="0"/>
              <a:t>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C25AECF-AC70-4029-94FE-42F9956A2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F7896B1E-7DFA-4373-8CB9-14629C1654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0000-6501-4C20-8473-2D503C926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2763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C6410E3-98FA-4CA0-82FD-2D95B8C90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5B9D5CE-B74B-4AB8-9BF7-B807B62520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FE7B3F26-14AE-498A-8981-804F1693EB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2822D92A-0287-424E-AAD0-C82DA3275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555F-6C48-44DC-8F0A-72D16AF736A5}" type="datetimeFigureOut">
              <a:rPr lang="en-US" smtClean="0"/>
              <a:t>1/1/2023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AA29E614-8886-47F3-88BB-12830B08A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FB117B99-AC41-444A-B9AE-9B6B392A4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0000-6501-4C20-8473-2D503C926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7936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0CDB005-BEE5-4243-B0EE-63F05FE57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08466DFB-99D7-48F6-8A5A-8AE89BE211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="" xmlns:a16="http://schemas.microsoft.com/office/drawing/2014/main" id="{4952E9EB-AA64-42CE-A643-E7D8213BF1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44B837D9-96EF-4884-B391-D4FA75AAEC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971D1034-5C9E-4555-BD07-65AE5E6C3E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="" xmlns:a16="http://schemas.microsoft.com/office/drawing/2014/main" id="{437EBF82-7DA2-43F9-926D-A28AAADE8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555F-6C48-44DC-8F0A-72D16AF736A5}" type="datetimeFigureOut">
              <a:rPr lang="en-US" smtClean="0"/>
              <a:t>1/1/2023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="" xmlns:a16="http://schemas.microsoft.com/office/drawing/2014/main" id="{64FE657C-A0B1-44F4-B811-A283658C15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0A2989DE-9F89-406F-B2EF-1BF5FC178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0000-6501-4C20-8473-2D503C926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60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8421A30-9C64-493D-8D75-E3CDE4645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AFC9E40-9EA0-4EE0-80D7-23FC137FD0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555F-6C48-44DC-8F0A-72D16AF736A5}" type="datetimeFigureOut">
              <a:rPr lang="en-US" smtClean="0"/>
              <a:t>1/1/2023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A74ACB4-7315-4392-AF20-6D393C6314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A35D36D-7A07-4FA3-9239-8FCA24227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0000-6501-4C20-8473-2D503C926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564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="" xmlns:a16="http://schemas.microsoft.com/office/drawing/2014/main" id="{27258820-DEBF-46DE-81BE-B46EBE5EFE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555F-6C48-44DC-8F0A-72D16AF736A5}" type="datetimeFigureOut">
              <a:rPr lang="en-US" smtClean="0"/>
              <a:t>1/1/2023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A5856933-15A4-4D39-8E6C-90517B1AF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D84E1FA4-21C1-46B0-90F6-6FF53B5423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0000-6501-4C20-8473-2D503C926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23518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8BFFEA0-9C51-49D0-8BD4-4B57CDFBE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7B4EC0F-9974-4DE9-8899-CDAD26B148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FB31A9AE-539D-447D-AFD3-AA76AD1536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8BD8867B-AB83-4680-8790-9C3D8C0E2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555F-6C48-44DC-8F0A-72D16AF736A5}" type="datetimeFigureOut">
              <a:rPr lang="en-US" smtClean="0"/>
              <a:t>1/1/2023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451A5C52-B62F-4440-8E4C-836B87FD4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AB84AE26-CDA8-43D3-9A07-52C2B2D1D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0000-6501-4C20-8473-2D503C926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27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AE07553A-43B0-4455-8057-1EA067BB8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="" xmlns:a16="http://schemas.microsoft.com/office/drawing/2014/main" id="{76B35304-3B3D-4505-B9F5-13F62DE5E4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DFBF9395-0D5D-4458-B184-0498CE2DBC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="" xmlns:a16="http://schemas.microsoft.com/office/drawing/2014/main" id="{7CFBA181-53E9-410F-BBA5-12C44E468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555F-6C48-44DC-8F0A-72D16AF736A5}" type="datetimeFigureOut">
              <a:rPr lang="en-US" smtClean="0"/>
              <a:t>1/1/2023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="" xmlns:a16="http://schemas.microsoft.com/office/drawing/2014/main" id="{5190CBCA-210E-432E-B506-4486F11482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="" xmlns:a16="http://schemas.microsoft.com/office/drawing/2014/main" id="{97939EFA-6649-4431-90B3-B0F4D318B6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0000-6501-4C20-8473-2D503C926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74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C00CF7A-8152-41F4-90C0-32D6D4A9FC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48649061-49EE-4E2A-8ECE-75F3FFEF2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F6A1D4BE-19E6-4D21-A129-DB4567DE1C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555F-6C48-44DC-8F0A-72D16AF736A5}" type="datetimeFigureOut">
              <a:rPr lang="en-US" smtClean="0"/>
              <a:t>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DCA57C60-F827-4444-861D-93A2959B47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4A03BC8-BF52-4EC4-A14E-ABFB7FE5A4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0000-6501-4C20-8473-2D503C926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2207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="" xmlns:a16="http://schemas.microsoft.com/office/drawing/2014/main" id="{529F1A74-8800-4B80-B716-864642B8CF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="" xmlns:a16="http://schemas.microsoft.com/office/drawing/2014/main" id="{BCBA91E1-9F89-40C5-89F8-8C76C27EF8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2810739-D47F-4305-854B-98586005D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D3555F-6C48-44DC-8F0A-72D16AF736A5}" type="datetimeFigureOut">
              <a:rPr lang="en-US" smtClean="0"/>
              <a:t>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2BC6ECF-425F-48E0-BFC0-599FD9B830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62DD7753-C4B9-4CDB-A776-EE9CB863F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D60000-6501-4C20-8473-2D503C926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845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63E04DE4-948B-44AC-B20B-6D86FDBF1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C00F7455-67C0-41EA-966E-4E6DFD7E1B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9A51D22-725D-4B94-B6D3-1031FDF53E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D3555F-6C48-44DC-8F0A-72D16AF736A5}" type="datetimeFigureOut">
              <a:rPr lang="en-US" smtClean="0"/>
              <a:t>1/1/2023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5D011C9-8A55-48AE-8E7B-7A62969C9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CAA82365-D0A8-40D7-BEC5-DF759376A1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D60000-6501-4C20-8473-2D503C926F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031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1E0AA15-AE85-4B8D-A12B-FCFA590AAA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57809"/>
            <a:ext cx="9144000" cy="543339"/>
          </a:xfrm>
        </p:spPr>
        <p:txBody>
          <a:bodyPr>
            <a:normAutofit/>
          </a:bodyPr>
          <a:lstStyle/>
          <a:p>
            <a:r>
              <a:rPr lang="en-US" sz="3200" dirty="0" smtClean="0"/>
              <a:t>WRITING </a:t>
            </a:r>
            <a:r>
              <a:rPr lang="en-US" sz="3200" dirty="0"/>
              <a:t>SKILLS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4645C17B-375A-4A13-A426-332577E3B7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5948" y="1046921"/>
            <a:ext cx="9886122" cy="4956313"/>
          </a:xfrm>
        </p:spPr>
        <p:txBody>
          <a:bodyPr>
            <a:normAutofit/>
          </a:bodyPr>
          <a:lstStyle/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3200" dirty="0">
                <a:latin typeface="+mj-lt"/>
              </a:rPr>
              <a:t>INTRODUCTION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+mj-lt"/>
              </a:rPr>
              <a:t>The need for sharing information among human beings does not end with communication through spoken language and non-verbally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+mj-lt"/>
              </a:rPr>
              <a:t> Sometimes factors like geographical distance and lack of time for face to face conversation, make oral communication unreliable means of communication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+mj-lt"/>
              </a:rPr>
              <a:t> Thus, written communication becomes </a:t>
            </a:r>
            <a:r>
              <a:rPr lang="en-US" sz="3200" dirty="0" smtClean="0">
                <a:latin typeface="+mj-lt"/>
              </a:rPr>
              <a:t>the alternative </a:t>
            </a:r>
            <a:r>
              <a:rPr lang="en-US" sz="3200" dirty="0">
                <a:latin typeface="+mj-lt"/>
              </a:rPr>
              <a:t>means of communication</a:t>
            </a:r>
          </a:p>
        </p:txBody>
      </p:sp>
    </p:spTree>
    <p:extLst>
      <p:ext uri="{BB962C8B-B14F-4D97-AF65-F5344CB8AC3E}">
        <p14:creationId xmlns:p14="http://schemas.microsoft.com/office/powerpoint/2010/main" val="34827297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0546372-BC54-46D3-A59F-A904178557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….Cont.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C365EF9-7FC1-49A9-9102-BE9A514D01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14400"/>
            <a:ext cx="10515600" cy="5262563"/>
          </a:xfrm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sz="3200" dirty="0">
                <a:latin typeface="+mj-lt"/>
              </a:rPr>
              <a:t>Think about the following situations: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</a:rPr>
              <a:t>What could managers in big institutions do to communicate serious issues with their subordinates on daily routine?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</a:rPr>
              <a:t>How tough could it be for instructors </a:t>
            </a:r>
            <a:r>
              <a:rPr lang="en-US" sz="3200" dirty="0" smtClean="0">
                <a:latin typeface="+mj-lt"/>
              </a:rPr>
              <a:t>assessing </a:t>
            </a:r>
            <a:r>
              <a:rPr lang="en-US" sz="3200" dirty="0">
                <a:latin typeface="+mj-lt"/>
              </a:rPr>
              <a:t>their students through oral examinations </a:t>
            </a:r>
            <a:r>
              <a:rPr lang="en-US" sz="3200" dirty="0" smtClean="0">
                <a:latin typeface="+mj-lt"/>
              </a:rPr>
              <a:t>especially </a:t>
            </a:r>
            <a:r>
              <a:rPr lang="en-US" sz="3200" dirty="0">
                <a:latin typeface="+mj-lt"/>
              </a:rPr>
              <a:t>for big classes?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</a:rPr>
              <a:t>With writing, it has been easy for different people to communicate in different places with large number of people.</a:t>
            </a:r>
          </a:p>
          <a:p>
            <a:pPr algn="just"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</a:rPr>
              <a:t>This is possible through written pieces of information including letters, memos, emails, newspapers, books, cards etc.</a:t>
            </a:r>
          </a:p>
          <a:p>
            <a:pPr>
              <a:buFont typeface="Wingdings" panose="05000000000000000000" pitchFamily="2" charset="2"/>
              <a:buChar char="§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48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F1E6805-9D63-4C12-8693-0F952400A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762"/>
          </a:xfrm>
        </p:spPr>
        <p:txBody>
          <a:bodyPr>
            <a:noAutofit/>
          </a:bodyPr>
          <a:lstStyle/>
          <a:p>
            <a:r>
              <a:rPr lang="en-US" sz="3600" dirty="0"/>
              <a:t>What is writing?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8515CA3-B87C-4301-BAA2-B9735D638C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7409"/>
            <a:ext cx="10515600" cy="5209554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sz="3200" dirty="0">
                <a:latin typeface="+mj-lt"/>
              </a:rPr>
              <a:t>Writing is the act of drawing letters of alphabet of a given language, symbols, and marks on a plain surface especially a piece of paper in order to communicate a message.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+mj-lt"/>
              </a:rPr>
              <a:t>The letters you draw represent sounds of a given language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+mj-lt"/>
              </a:rPr>
              <a:t> Simply, writing is a representation of spoken words (spoken language) on a piece of paper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+mj-lt"/>
              </a:rPr>
              <a:t> With technological advancement, writing is also made possible electronically through computers, iPad, cellular phones etc.</a:t>
            </a:r>
          </a:p>
        </p:txBody>
      </p:sp>
    </p:spTree>
    <p:extLst>
      <p:ext uri="{BB962C8B-B14F-4D97-AF65-F5344CB8AC3E}">
        <p14:creationId xmlns:p14="http://schemas.microsoft.com/office/powerpoint/2010/main" val="31502134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69A880A-6815-40B4-8692-B579CA2F9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69762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….Cont.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C549140-28D6-4007-8CBD-D9D4EBD581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0661"/>
            <a:ext cx="10515600" cy="5196302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q"/>
            </a:pPr>
            <a:r>
              <a:rPr lang="en-US" dirty="0"/>
              <a:t> </a:t>
            </a:r>
            <a:r>
              <a:rPr lang="en-US" sz="3200" dirty="0">
                <a:latin typeface="+mj-lt"/>
              </a:rPr>
              <a:t>However writing is not just a mere drawing of the letters of alphabet to communicate message; it is beyond that.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+mj-lt"/>
              </a:rPr>
              <a:t> Effective writing for successful communication uses systematic writing conventions guiding how we should write what we want to communicate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+mj-lt"/>
              </a:rPr>
              <a:t> One has to learn some writing rules in order to convey proper message in written form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3200" dirty="0">
                <a:latin typeface="+mj-lt"/>
              </a:rPr>
              <a:t> </a:t>
            </a:r>
            <a:r>
              <a:rPr lang="en-US" sz="3200" dirty="0" smtClean="0">
                <a:latin typeface="+mj-lt"/>
              </a:rPr>
              <a:t>College </a:t>
            </a:r>
            <a:r>
              <a:rPr lang="en-US" sz="3200" dirty="0">
                <a:latin typeface="+mj-lt"/>
              </a:rPr>
              <a:t>and University students should be aware of the fact that in academic </a:t>
            </a:r>
            <a:r>
              <a:rPr lang="en-US" sz="3200" dirty="0" smtClean="0">
                <a:latin typeface="+mj-lt"/>
              </a:rPr>
              <a:t>setting, </a:t>
            </a:r>
            <a:r>
              <a:rPr lang="en-US" sz="3200" i="1" dirty="0">
                <a:latin typeface="+mj-lt"/>
              </a:rPr>
              <a:t>how</a:t>
            </a:r>
            <a:r>
              <a:rPr lang="en-US" sz="3200" dirty="0">
                <a:latin typeface="+mj-lt"/>
              </a:rPr>
              <a:t> they write is as important as </a:t>
            </a:r>
            <a:r>
              <a:rPr lang="en-US" sz="3200" i="1" dirty="0">
                <a:latin typeface="+mj-lt"/>
              </a:rPr>
              <a:t>what</a:t>
            </a:r>
            <a:r>
              <a:rPr lang="en-US" sz="3200" dirty="0">
                <a:latin typeface="+mj-lt"/>
              </a:rPr>
              <a:t> they write</a:t>
            </a:r>
          </a:p>
        </p:txBody>
      </p:sp>
    </p:spTree>
    <p:extLst>
      <p:ext uri="{BB962C8B-B14F-4D97-AF65-F5344CB8AC3E}">
        <p14:creationId xmlns:p14="http://schemas.microsoft.com/office/powerpoint/2010/main" val="3797086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BC8A995-C18A-4F12-9FD8-D1A89F729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43258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REPORT WRITING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D7E0423-F301-4BC8-9A92-0A51EC99C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914400"/>
            <a:ext cx="10916479" cy="5459896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 </a:t>
            </a:r>
            <a:r>
              <a:rPr lang="en-US" sz="3500" dirty="0">
                <a:latin typeface="+mj-lt"/>
              </a:rPr>
              <a:t>To report is to tell about certain event that has already taken place</a:t>
            </a:r>
          </a:p>
          <a:p>
            <a:pPr algn="just"/>
            <a:r>
              <a:rPr lang="en-US" sz="3500" dirty="0">
                <a:latin typeface="+mj-lt"/>
              </a:rPr>
              <a:t> A report therefore, is a piece of information that informs about certain past event</a:t>
            </a:r>
          </a:p>
          <a:p>
            <a:pPr algn="just"/>
            <a:r>
              <a:rPr lang="en-US" sz="3500" dirty="0">
                <a:latin typeface="+mj-lt"/>
              </a:rPr>
              <a:t> The primary purpose of writing a report is to inform about certain past event. A report is therefore all about a past experience</a:t>
            </a:r>
          </a:p>
          <a:p>
            <a:pPr marL="0" indent="0" algn="just">
              <a:buNone/>
            </a:pPr>
            <a:endParaRPr lang="en-US" sz="3500" dirty="0">
              <a:latin typeface="+mj-lt"/>
            </a:endParaRPr>
          </a:p>
          <a:p>
            <a:pPr marL="0" indent="0" algn="just">
              <a:buNone/>
            </a:pPr>
            <a:r>
              <a:rPr lang="en-US" sz="3500" dirty="0">
                <a:solidFill>
                  <a:srgbClr val="FF0000"/>
                </a:solidFill>
                <a:latin typeface="+mj-lt"/>
              </a:rPr>
              <a:t>Types of Reports</a:t>
            </a:r>
          </a:p>
          <a:p>
            <a:pPr marL="0" indent="0" algn="just">
              <a:buNone/>
            </a:pPr>
            <a:r>
              <a:rPr lang="en-US" sz="3500" dirty="0">
                <a:latin typeface="+mj-lt"/>
              </a:rPr>
              <a:t>Criteria used to classify reports</a:t>
            </a:r>
          </a:p>
          <a:p>
            <a:pPr marL="571500" indent="-571500" algn="just">
              <a:buAutoNum type="romanLcParenBoth"/>
            </a:pPr>
            <a:r>
              <a:rPr lang="en-US" sz="3500" dirty="0">
                <a:latin typeface="+mj-lt"/>
              </a:rPr>
              <a:t>Theme (subject matter or topic)</a:t>
            </a:r>
          </a:p>
          <a:p>
            <a:pPr algn="just"/>
            <a:r>
              <a:rPr lang="en-US" sz="3500" dirty="0">
                <a:latin typeface="+mj-lt"/>
              </a:rPr>
              <a:t> These are called thematic reports</a:t>
            </a:r>
          </a:p>
        </p:txBody>
      </p:sp>
    </p:spTree>
    <p:extLst>
      <p:ext uri="{BB962C8B-B14F-4D97-AF65-F5344CB8AC3E}">
        <p14:creationId xmlns:p14="http://schemas.microsoft.com/office/powerpoint/2010/main" val="2764216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FE41102-BC71-4ECA-89BE-0BD2AC699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3014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….Cont.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1FE2917-B87F-428B-87DD-F69F79BF0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6104" y="848140"/>
            <a:ext cx="11131826" cy="5644734"/>
          </a:xfrm>
        </p:spPr>
        <p:txBody>
          <a:bodyPr>
            <a:normAutofit lnSpcReduction="10000"/>
          </a:bodyPr>
          <a:lstStyle/>
          <a:p>
            <a:pPr algn="just"/>
            <a:r>
              <a:rPr lang="en-US" dirty="0"/>
              <a:t> </a:t>
            </a:r>
            <a:r>
              <a:rPr lang="en-US" sz="3200" dirty="0">
                <a:latin typeface="+mj-lt"/>
              </a:rPr>
              <a:t>They include academic repots, agricultural reports, economic reports, political reports, religious reports, sports and games reports etc.</a:t>
            </a:r>
          </a:p>
          <a:p>
            <a:pPr marL="0" indent="0" algn="just">
              <a:buNone/>
            </a:pPr>
            <a:r>
              <a:rPr lang="en-US" sz="3200" dirty="0">
                <a:latin typeface="+mj-lt"/>
              </a:rPr>
              <a:t>(ii) Time Interval</a:t>
            </a:r>
          </a:p>
          <a:p>
            <a:pPr algn="just"/>
            <a:r>
              <a:rPr lang="en-US" sz="3200" dirty="0">
                <a:latin typeface="+mj-lt"/>
              </a:rPr>
              <a:t> They are called periodical reports</a:t>
            </a:r>
          </a:p>
          <a:p>
            <a:pPr algn="just"/>
            <a:r>
              <a:rPr lang="en-US" sz="3200" dirty="0">
                <a:latin typeface="+mj-lt"/>
              </a:rPr>
              <a:t> They are based on duration between the production of one report and the other</a:t>
            </a:r>
          </a:p>
          <a:p>
            <a:pPr algn="just"/>
            <a:r>
              <a:rPr lang="en-US" sz="3200" dirty="0">
                <a:latin typeface="+mj-lt"/>
              </a:rPr>
              <a:t> They include daily reports, weekly reports, monthly reports and annual reports etc.</a:t>
            </a:r>
          </a:p>
          <a:p>
            <a:pPr marL="0" indent="0" algn="just">
              <a:buNone/>
            </a:pPr>
            <a:r>
              <a:rPr lang="en-US" sz="3200" dirty="0">
                <a:latin typeface="+mj-lt"/>
              </a:rPr>
              <a:t>(iii) Circumstance/occasion</a:t>
            </a:r>
          </a:p>
          <a:p>
            <a:pPr algn="just"/>
            <a:r>
              <a:rPr lang="en-US" sz="3200" dirty="0">
                <a:latin typeface="+mj-lt"/>
              </a:rPr>
              <a:t> There are circumstantial and occasional events which need occasional or circumstantial reports</a:t>
            </a:r>
          </a:p>
        </p:txBody>
      </p:sp>
    </p:spTree>
    <p:extLst>
      <p:ext uri="{BB962C8B-B14F-4D97-AF65-F5344CB8AC3E}">
        <p14:creationId xmlns:p14="http://schemas.microsoft.com/office/powerpoint/2010/main" val="24085368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FC33EE9-7354-4DD5-94A2-BC97BDDB5D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675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….Cont.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36D3122-C17F-49E9-87FB-147CE3128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781878"/>
            <a:ext cx="10969487" cy="5710997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 </a:t>
            </a:r>
            <a:r>
              <a:rPr lang="en-US" sz="3200" dirty="0"/>
              <a:t>They originate from events not planned but of interest thus need special attention</a:t>
            </a:r>
          </a:p>
          <a:p>
            <a:pPr algn="just"/>
            <a:r>
              <a:rPr lang="en-US" sz="3200" dirty="0"/>
              <a:t> These are usually guided by specific objectives called point of reference</a:t>
            </a:r>
          </a:p>
          <a:p>
            <a:pPr algn="just"/>
            <a:r>
              <a:rPr lang="en-US" sz="3200" dirty="0"/>
              <a:t> Sometimes these reports are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directly </a:t>
            </a:r>
            <a:r>
              <a:rPr lang="en-US" sz="3200" dirty="0"/>
              <a:t>associated with the chairperson of the committee and named after his/her name</a:t>
            </a:r>
          </a:p>
          <a:p>
            <a:pPr algn="just">
              <a:buFontTx/>
              <a:buChar char="-"/>
            </a:pPr>
            <a:r>
              <a:rPr lang="en-US" sz="3200" dirty="0" err="1"/>
              <a:t>Makweta’s</a:t>
            </a:r>
            <a:r>
              <a:rPr lang="en-US" sz="3200" dirty="0"/>
              <a:t> report, </a:t>
            </a:r>
            <a:r>
              <a:rPr lang="en-US" sz="3200" dirty="0" err="1"/>
              <a:t>Warioba’s</a:t>
            </a:r>
            <a:r>
              <a:rPr lang="en-US" sz="3200" dirty="0"/>
              <a:t> report, </a:t>
            </a:r>
            <a:r>
              <a:rPr lang="en-US" sz="3200" dirty="0" err="1"/>
              <a:t>Mwakyembe’s</a:t>
            </a:r>
            <a:r>
              <a:rPr lang="en-US" sz="3200" dirty="0"/>
              <a:t> report etc.</a:t>
            </a:r>
          </a:p>
          <a:p>
            <a:pPr marL="0" indent="0" algn="just">
              <a:buNone/>
            </a:pPr>
            <a:r>
              <a:rPr lang="en-US" sz="3200" dirty="0"/>
              <a:t>(iv) Authorship and ownership</a:t>
            </a:r>
          </a:p>
          <a:p>
            <a:pPr algn="just"/>
            <a:r>
              <a:rPr lang="en-US" sz="3200" dirty="0"/>
              <a:t> Here you look at who writes and consumes the report</a:t>
            </a:r>
          </a:p>
          <a:p>
            <a:pPr algn="just"/>
            <a:r>
              <a:rPr lang="en-US" sz="3200" dirty="0"/>
              <a:t> They include public reports, private reports, regional reports, organisational reports etc.</a:t>
            </a:r>
          </a:p>
        </p:txBody>
      </p:sp>
    </p:spTree>
    <p:extLst>
      <p:ext uri="{BB962C8B-B14F-4D97-AF65-F5344CB8AC3E}">
        <p14:creationId xmlns:p14="http://schemas.microsoft.com/office/powerpoint/2010/main" val="1956360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75BAF3A-8528-41BF-81EC-CB6DB6E58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675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….Cont.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78C1F57-C123-4101-97F6-01FC71DDC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81878"/>
            <a:ext cx="10515600" cy="5395085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(v) </a:t>
            </a:r>
            <a:r>
              <a:rPr lang="en-US" sz="3200" dirty="0"/>
              <a:t>Degree of Formality</a:t>
            </a:r>
          </a:p>
          <a:p>
            <a:pPr algn="just"/>
            <a:r>
              <a:rPr lang="en-US" sz="3200" dirty="0"/>
              <a:t> Looks at the status and level of acceptance of a report for serious consumption in the society</a:t>
            </a:r>
          </a:p>
          <a:p>
            <a:pPr algn="just">
              <a:buFontTx/>
              <a:buChar char="-"/>
            </a:pPr>
            <a:r>
              <a:rPr lang="en-US" sz="3200" dirty="0"/>
              <a:t>Here we get formal - serious reports</a:t>
            </a:r>
          </a:p>
          <a:p>
            <a:pPr marL="0" indent="0" algn="just">
              <a:buNone/>
            </a:pPr>
            <a:r>
              <a:rPr lang="en-US" sz="3200" dirty="0"/>
              <a:t>                          informal – less serious reports</a:t>
            </a:r>
          </a:p>
        </p:txBody>
      </p:sp>
    </p:spTree>
    <p:extLst>
      <p:ext uri="{BB962C8B-B14F-4D97-AF65-F5344CB8AC3E}">
        <p14:creationId xmlns:p14="http://schemas.microsoft.com/office/powerpoint/2010/main" val="2690210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CF5985E-14AE-4FA0-B30D-0253F56FC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96266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COMPONENTS OF A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BF8A93B-B3E6-4911-8A00-F4ECA3A26C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61392"/>
            <a:ext cx="10823713" cy="5631482"/>
          </a:xfrm>
        </p:spPr>
        <p:txBody>
          <a:bodyPr>
            <a:normAutofit/>
          </a:bodyPr>
          <a:lstStyle/>
          <a:p>
            <a:pPr algn="just"/>
            <a:r>
              <a:rPr lang="en-US" dirty="0"/>
              <a:t> </a:t>
            </a:r>
            <a:r>
              <a:rPr lang="en-US" sz="3200" dirty="0"/>
              <a:t>The components do vary depending on the nature and purpose of the report</a:t>
            </a:r>
          </a:p>
          <a:p>
            <a:pPr algn="just"/>
            <a:r>
              <a:rPr lang="en-US" sz="3200" dirty="0"/>
              <a:t> In some contexts, you will be given specific format to follow</a:t>
            </a:r>
          </a:p>
          <a:p>
            <a:pPr algn="just"/>
            <a:r>
              <a:rPr lang="en-US" sz="3200" dirty="0"/>
              <a:t> Generally, the formal report comprises of the following parts;</a:t>
            </a:r>
          </a:p>
          <a:p>
            <a:pPr marL="571500" indent="-571500" algn="just">
              <a:buAutoNum type="romanLcParenBoth"/>
            </a:pPr>
            <a:r>
              <a:rPr lang="en-US" sz="3200" dirty="0"/>
              <a:t>Title Page</a:t>
            </a:r>
          </a:p>
          <a:p>
            <a:pPr algn="just"/>
            <a:r>
              <a:rPr lang="en-US" sz="3200" dirty="0"/>
              <a:t> It should include:</a:t>
            </a:r>
          </a:p>
          <a:p>
            <a:pPr algn="just">
              <a:buFontTx/>
              <a:buChar char="-"/>
            </a:pPr>
            <a:r>
              <a:rPr lang="en-US" sz="3200" dirty="0"/>
              <a:t>Name of the report</a:t>
            </a:r>
          </a:p>
          <a:p>
            <a:pPr algn="just">
              <a:buFontTx/>
              <a:buChar char="-"/>
            </a:pPr>
            <a:r>
              <a:rPr lang="en-US" sz="3200" dirty="0"/>
              <a:t> Names of the writer or author</a:t>
            </a:r>
          </a:p>
          <a:p>
            <a:pPr algn="just">
              <a:buFontTx/>
              <a:buChar char="-"/>
            </a:pPr>
            <a:r>
              <a:rPr lang="en-US" sz="3200" dirty="0"/>
              <a:t> Logo of the organisation if the author is under an organisation</a:t>
            </a:r>
          </a:p>
          <a:p>
            <a:pPr algn="just">
              <a:buFontTx/>
              <a:buChar char="-"/>
            </a:pPr>
            <a:r>
              <a:rPr lang="en-US" sz="3200" dirty="0"/>
              <a:t> Date of submission</a:t>
            </a:r>
          </a:p>
        </p:txBody>
      </p:sp>
    </p:spTree>
    <p:extLst>
      <p:ext uri="{BB962C8B-B14F-4D97-AF65-F5344CB8AC3E}">
        <p14:creationId xmlns:p14="http://schemas.microsoft.com/office/powerpoint/2010/main" val="7296666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38FE8EB-2A56-4B75-A35D-19859421D1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9518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….Cont.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2D3DF14-D3AE-49D4-B462-A15B5647AC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74644"/>
            <a:ext cx="10770704" cy="5499652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(ii) </a:t>
            </a:r>
            <a:r>
              <a:rPr lang="en-US" sz="3200" dirty="0">
                <a:latin typeface="+mj-lt"/>
              </a:rPr>
              <a:t>Acknowledgements</a:t>
            </a:r>
          </a:p>
          <a:p>
            <a:pPr algn="just"/>
            <a:r>
              <a:rPr lang="en-US" sz="3200" dirty="0">
                <a:latin typeface="+mj-lt"/>
              </a:rPr>
              <a:t> List individuals and organisation helped you financially or morally in completion of the report and other related works</a:t>
            </a:r>
          </a:p>
          <a:p>
            <a:pPr marL="0" indent="0" algn="just">
              <a:buNone/>
            </a:pPr>
            <a:r>
              <a:rPr lang="en-US" sz="3200" dirty="0">
                <a:latin typeface="+mj-lt"/>
              </a:rPr>
              <a:t>(iii) Table of Contents</a:t>
            </a:r>
          </a:p>
          <a:p>
            <a:pPr algn="just"/>
            <a:r>
              <a:rPr lang="en-US" sz="3200" dirty="0">
                <a:latin typeface="+mj-lt"/>
              </a:rPr>
              <a:t> Is a clear, well-formatted list of all sections and sub-sections of the report and their page numbers</a:t>
            </a:r>
          </a:p>
          <a:p>
            <a:pPr marL="0" indent="0" algn="just">
              <a:buNone/>
            </a:pPr>
            <a:r>
              <a:rPr lang="en-US" sz="3200" dirty="0">
                <a:latin typeface="+mj-lt"/>
              </a:rPr>
              <a:t>(iv) Abstract</a:t>
            </a:r>
          </a:p>
          <a:p>
            <a:pPr algn="just"/>
            <a:r>
              <a:rPr lang="en-US" sz="3200" dirty="0">
                <a:latin typeface="+mj-lt"/>
              </a:rPr>
              <a:t> Is an executive summary of the entire report</a:t>
            </a:r>
          </a:p>
          <a:p>
            <a:pPr algn="just"/>
            <a:r>
              <a:rPr lang="en-US" sz="3200" dirty="0">
                <a:latin typeface="+mj-lt"/>
              </a:rPr>
              <a:t> Includes brief presentation of the major findings, conclusion and recommendations</a:t>
            </a:r>
          </a:p>
          <a:p>
            <a:pPr algn="just"/>
            <a:r>
              <a:rPr lang="en-US" sz="3200" dirty="0">
                <a:latin typeface="+mj-lt"/>
              </a:rPr>
              <a:t> Abstract gives a general overview of a report</a:t>
            </a:r>
          </a:p>
        </p:txBody>
      </p:sp>
    </p:spTree>
    <p:extLst>
      <p:ext uri="{BB962C8B-B14F-4D97-AF65-F5344CB8AC3E}">
        <p14:creationId xmlns:p14="http://schemas.microsoft.com/office/powerpoint/2010/main" val="3524281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FF76A9C-325D-4ABE-A3CE-F567DF569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9518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….Cont.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AA6342C-BCBB-40F4-8F34-E123BF9C67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874644"/>
            <a:ext cx="10797209" cy="5420139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(v) </a:t>
            </a:r>
            <a:r>
              <a:rPr lang="en-US" sz="3200" dirty="0"/>
              <a:t>Introduction</a:t>
            </a:r>
          </a:p>
          <a:p>
            <a:pPr algn="just"/>
            <a:r>
              <a:rPr lang="en-US" sz="3200" dirty="0"/>
              <a:t> Talk of the purpose of the report</a:t>
            </a:r>
          </a:p>
          <a:p>
            <a:pPr algn="just"/>
            <a:r>
              <a:rPr lang="en-US" sz="3200" dirty="0"/>
              <a:t> Briefly explain the problem and show the reader why the report was needed</a:t>
            </a:r>
          </a:p>
          <a:p>
            <a:pPr algn="just"/>
            <a:r>
              <a:rPr lang="en-US" sz="3200" dirty="0"/>
              <a:t> Include the background information</a:t>
            </a:r>
          </a:p>
          <a:p>
            <a:pPr algn="just"/>
            <a:r>
              <a:rPr lang="en-US" sz="3200" dirty="0"/>
              <a:t> Indicates methods of investigation</a:t>
            </a:r>
          </a:p>
          <a:p>
            <a:pPr algn="just"/>
            <a:r>
              <a:rPr lang="en-US" sz="3200" dirty="0"/>
              <a:t> Scope of investigation; areas of coverage</a:t>
            </a:r>
          </a:p>
          <a:p>
            <a:pPr algn="just"/>
            <a:r>
              <a:rPr lang="en-US" sz="3200" dirty="0"/>
              <a:t> Normally this is done in one page</a:t>
            </a:r>
          </a:p>
        </p:txBody>
      </p:sp>
    </p:spTree>
    <p:extLst>
      <p:ext uri="{BB962C8B-B14F-4D97-AF65-F5344CB8AC3E}">
        <p14:creationId xmlns:p14="http://schemas.microsoft.com/office/powerpoint/2010/main" val="3777217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23123C1-0B16-47CB-BA8E-2A9D989D5C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16753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….Cont.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5DEFA18-6CDF-46E0-9CC5-1568E2ECDC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1" y="781878"/>
            <a:ext cx="11025808" cy="556591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dirty="0"/>
              <a:t>(vi) </a:t>
            </a:r>
            <a:r>
              <a:rPr lang="en-US" sz="3200" dirty="0">
                <a:latin typeface="+mj-lt"/>
              </a:rPr>
              <a:t>Findings</a:t>
            </a:r>
          </a:p>
          <a:p>
            <a:pPr algn="just"/>
            <a:r>
              <a:rPr lang="en-US" sz="3200" dirty="0">
                <a:latin typeface="+mj-lt"/>
              </a:rPr>
              <a:t> Analyse and present the facts obtained</a:t>
            </a:r>
          </a:p>
          <a:p>
            <a:pPr algn="just"/>
            <a:r>
              <a:rPr lang="en-US" sz="3200" dirty="0">
                <a:latin typeface="+mj-lt"/>
              </a:rPr>
              <a:t> The presentation must be supported with evidences from the field</a:t>
            </a:r>
          </a:p>
          <a:p>
            <a:pPr marL="0" indent="0" algn="just">
              <a:buNone/>
            </a:pPr>
            <a:r>
              <a:rPr lang="en-US" sz="3200" dirty="0">
                <a:latin typeface="+mj-lt"/>
              </a:rPr>
              <a:t>(vii) Conclusion</a:t>
            </a:r>
          </a:p>
          <a:p>
            <a:pPr algn="just"/>
            <a:r>
              <a:rPr lang="en-US" sz="3200" dirty="0">
                <a:latin typeface="+mj-lt"/>
              </a:rPr>
              <a:t> Present deductions based on findings</a:t>
            </a:r>
          </a:p>
          <a:p>
            <a:pPr algn="just"/>
            <a:r>
              <a:rPr lang="en-US" sz="3200" dirty="0">
                <a:latin typeface="+mj-lt"/>
              </a:rPr>
              <a:t> Show the implications of the findings</a:t>
            </a:r>
          </a:p>
          <a:p>
            <a:pPr algn="just"/>
            <a:r>
              <a:rPr lang="en-US" sz="3200" dirty="0">
                <a:latin typeface="+mj-lt"/>
              </a:rPr>
              <a:t> Show the significance and relevance of the report</a:t>
            </a:r>
          </a:p>
          <a:p>
            <a:pPr marL="0" indent="0" algn="just">
              <a:buNone/>
            </a:pPr>
            <a:r>
              <a:rPr lang="en-US" sz="3200" dirty="0">
                <a:latin typeface="+mj-lt"/>
              </a:rPr>
              <a:t>(viii) Recommendations</a:t>
            </a:r>
          </a:p>
          <a:p>
            <a:pPr algn="just"/>
            <a:r>
              <a:rPr lang="en-US" sz="3200" dirty="0">
                <a:latin typeface="+mj-lt"/>
              </a:rPr>
              <a:t> Suggestions and advices based on the conclusion</a:t>
            </a:r>
          </a:p>
          <a:p>
            <a:pPr algn="just"/>
            <a:r>
              <a:rPr lang="en-US" sz="3200" dirty="0">
                <a:latin typeface="+mj-lt"/>
              </a:rPr>
              <a:t> Is a very important section since it gives possible solutions and decisions</a:t>
            </a:r>
          </a:p>
        </p:txBody>
      </p:sp>
    </p:spTree>
    <p:extLst>
      <p:ext uri="{BB962C8B-B14F-4D97-AF65-F5344CB8AC3E}">
        <p14:creationId xmlns:p14="http://schemas.microsoft.com/office/powerpoint/2010/main" val="397349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8C507EC-A681-4C21-9379-36B34EE78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0005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….Cont.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0A9D547-C68C-486C-9134-B8E842509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148"/>
            <a:ext cx="10515600" cy="5275815"/>
          </a:xfrm>
        </p:spPr>
        <p:txBody>
          <a:bodyPr/>
          <a:lstStyle/>
          <a:p>
            <a:pPr marL="0" indent="0" algn="just">
              <a:buNone/>
            </a:pPr>
            <a:r>
              <a:rPr lang="en-US" dirty="0"/>
              <a:t>(ix) </a:t>
            </a:r>
            <a:r>
              <a:rPr lang="en-US" sz="3200" dirty="0"/>
              <a:t>Bibliography/References</a:t>
            </a:r>
          </a:p>
          <a:p>
            <a:pPr algn="just"/>
            <a:r>
              <a:rPr lang="en-US" sz="3200" dirty="0"/>
              <a:t> A list giving the full details of all the sources to which you passed through</a:t>
            </a:r>
          </a:p>
          <a:p>
            <a:pPr marL="0" indent="0" algn="just">
              <a:buNone/>
            </a:pPr>
            <a:r>
              <a:rPr lang="en-US" sz="3200" dirty="0"/>
              <a:t>(x) Appendices</a:t>
            </a:r>
          </a:p>
          <a:p>
            <a:pPr algn="just"/>
            <a:r>
              <a:rPr lang="en-US" sz="3200" dirty="0"/>
              <a:t> Supplementary materials which support the findings</a:t>
            </a:r>
          </a:p>
          <a:p>
            <a:pPr algn="just"/>
            <a:r>
              <a:rPr lang="en-US" sz="3200" dirty="0"/>
              <a:t> Any other supporting data</a:t>
            </a:r>
          </a:p>
          <a:p>
            <a:pPr algn="just"/>
            <a:r>
              <a:rPr lang="en-US" sz="3200" dirty="0"/>
              <a:t> Tools for data collection may also be included here</a:t>
            </a:r>
          </a:p>
        </p:txBody>
      </p:sp>
    </p:spTree>
    <p:extLst>
      <p:ext uri="{BB962C8B-B14F-4D97-AF65-F5344CB8AC3E}">
        <p14:creationId xmlns:p14="http://schemas.microsoft.com/office/powerpoint/2010/main" val="3606012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4D3EB4A-F806-46F4-B4E8-AA5BA76A46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83014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F0000"/>
                </a:solidFill>
              </a:rPr>
              <a:t>Qualities of a Good Report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CD2EA20-D172-426C-A602-5AD6B7DA83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8140"/>
            <a:ext cx="10515600" cy="5328823"/>
          </a:xfrm>
        </p:spPr>
        <p:txBody>
          <a:bodyPr/>
          <a:lstStyle/>
          <a:p>
            <a:pPr algn="just"/>
            <a:r>
              <a:rPr lang="en-US" dirty="0"/>
              <a:t> </a:t>
            </a:r>
            <a:r>
              <a:rPr lang="en-US" sz="3200" dirty="0"/>
              <a:t>It should contain only facts from the field, not assumptions</a:t>
            </a:r>
          </a:p>
          <a:p>
            <a:pPr algn="just"/>
            <a:r>
              <a:rPr lang="en-US" sz="3200" dirty="0"/>
              <a:t> It should be objective; based on facts and not influenced by personal beliefs or feelings</a:t>
            </a:r>
          </a:p>
          <a:p>
            <a:pPr algn="just"/>
            <a:r>
              <a:rPr lang="en-US" sz="3200" dirty="0"/>
              <a:t> Should be neat and precise</a:t>
            </a:r>
          </a:p>
          <a:p>
            <a:pPr algn="just"/>
            <a:r>
              <a:rPr lang="en-US" sz="3200" dirty="0"/>
              <a:t> Should have logical arrangement to be easily understood</a:t>
            </a:r>
          </a:p>
          <a:p>
            <a:pPr algn="just"/>
            <a:r>
              <a:rPr lang="en-US" sz="3200" dirty="0"/>
              <a:t> Should employ clear choice of words</a:t>
            </a:r>
            <a:r>
              <a:rPr lang="en-US" sz="3200"/>
              <a:t>: </a:t>
            </a:r>
            <a:r>
              <a:rPr lang="en-US" sz="3200" smtClean="0"/>
              <a:t>ambiguous</a:t>
            </a:r>
            <a:endParaRPr lang="en-US" sz="3200" dirty="0"/>
          </a:p>
          <a:p>
            <a:pPr algn="just"/>
            <a:r>
              <a:rPr lang="en-US" sz="3200" dirty="0"/>
              <a:t> Should use past tense</a:t>
            </a:r>
          </a:p>
        </p:txBody>
      </p:sp>
    </p:spTree>
    <p:extLst>
      <p:ext uri="{BB962C8B-B14F-4D97-AF65-F5344CB8AC3E}">
        <p14:creationId xmlns:p14="http://schemas.microsoft.com/office/powerpoint/2010/main" val="167790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1314</TotalTime>
  <Words>1020</Words>
  <Application>Microsoft Office PowerPoint</Application>
  <PresentationFormat>Custom</PresentationFormat>
  <Paragraphs>103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WRITING SKILLS</vt:lpstr>
      <vt:lpstr>….Cont.</vt:lpstr>
      <vt:lpstr>What is writing?</vt:lpstr>
      <vt:lpstr>….Cont.</vt:lpstr>
      <vt:lpstr>REPORT WRITING</vt:lpstr>
      <vt:lpstr>….Cont.</vt:lpstr>
      <vt:lpstr>….Cont.</vt:lpstr>
      <vt:lpstr>….Cont.</vt:lpstr>
      <vt:lpstr>COMPONENTS OF A REPORT</vt:lpstr>
      <vt:lpstr>….Cont.</vt:lpstr>
      <vt:lpstr>….Cont.</vt:lpstr>
      <vt:lpstr>….Cont.</vt:lpstr>
      <vt:lpstr>….Cont.</vt:lpstr>
      <vt:lpstr>Qualities of a Good Report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6. WRITING SKILLS</dc:title>
  <dc:creator>Stephen</dc:creator>
  <cp:lastModifiedBy>STEPHEN NSYENGULA</cp:lastModifiedBy>
  <cp:revision>323</cp:revision>
  <dcterms:created xsi:type="dcterms:W3CDTF">2021-01-19T11:22:06Z</dcterms:created>
  <dcterms:modified xsi:type="dcterms:W3CDTF">2023-01-01T07:56:43Z</dcterms:modified>
</cp:coreProperties>
</file>