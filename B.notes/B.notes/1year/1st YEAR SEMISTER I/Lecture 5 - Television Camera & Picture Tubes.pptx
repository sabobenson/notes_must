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95"/>
  </p:notesMasterIdLst>
  <p:handoutMasterIdLst>
    <p:handoutMasterId r:id="rId96"/>
  </p:handoutMasterIdLst>
  <p:sldIdLst>
    <p:sldId id="256" r:id="rId5"/>
    <p:sldId id="272" r:id="rId6"/>
    <p:sldId id="265" r:id="rId7"/>
    <p:sldId id="273" r:id="rId8"/>
    <p:sldId id="274" r:id="rId9"/>
    <p:sldId id="266" r:id="rId10"/>
    <p:sldId id="275" r:id="rId11"/>
    <p:sldId id="276" r:id="rId12"/>
    <p:sldId id="277" r:id="rId13"/>
    <p:sldId id="278" r:id="rId14"/>
    <p:sldId id="279" r:id="rId15"/>
    <p:sldId id="268" r:id="rId16"/>
    <p:sldId id="280" r:id="rId17"/>
    <p:sldId id="281" r:id="rId18"/>
    <p:sldId id="289" r:id="rId19"/>
    <p:sldId id="288" r:id="rId20"/>
    <p:sldId id="269" r:id="rId21"/>
    <p:sldId id="270" r:id="rId22"/>
    <p:sldId id="282" r:id="rId23"/>
    <p:sldId id="283" r:id="rId24"/>
    <p:sldId id="290" r:id="rId25"/>
    <p:sldId id="284" r:id="rId26"/>
    <p:sldId id="285" r:id="rId27"/>
    <p:sldId id="296" r:id="rId28"/>
    <p:sldId id="297" r:id="rId29"/>
    <p:sldId id="286" r:id="rId30"/>
    <p:sldId id="287" r:id="rId31"/>
    <p:sldId id="298" r:id="rId32"/>
    <p:sldId id="299" r:id="rId33"/>
    <p:sldId id="300" r:id="rId34"/>
    <p:sldId id="291" r:id="rId35"/>
    <p:sldId id="292" r:id="rId36"/>
    <p:sldId id="293" r:id="rId37"/>
    <p:sldId id="294" r:id="rId38"/>
    <p:sldId id="307" r:id="rId39"/>
    <p:sldId id="308" r:id="rId40"/>
    <p:sldId id="309" r:id="rId41"/>
    <p:sldId id="295" r:id="rId42"/>
    <p:sldId id="301" r:id="rId43"/>
    <p:sldId id="310" r:id="rId44"/>
    <p:sldId id="311" r:id="rId45"/>
    <p:sldId id="302" r:id="rId46"/>
    <p:sldId id="303" r:id="rId47"/>
    <p:sldId id="312" r:id="rId48"/>
    <p:sldId id="313" r:id="rId49"/>
    <p:sldId id="304" r:id="rId50"/>
    <p:sldId id="327" r:id="rId51"/>
    <p:sldId id="314" r:id="rId52"/>
    <p:sldId id="315" r:id="rId53"/>
    <p:sldId id="328" r:id="rId54"/>
    <p:sldId id="329" r:id="rId55"/>
    <p:sldId id="330" r:id="rId56"/>
    <p:sldId id="331" r:id="rId57"/>
    <p:sldId id="332" r:id="rId58"/>
    <p:sldId id="316" r:id="rId59"/>
    <p:sldId id="317" r:id="rId60"/>
    <p:sldId id="333" r:id="rId61"/>
    <p:sldId id="334" r:id="rId62"/>
    <p:sldId id="318" r:id="rId63"/>
    <p:sldId id="335" r:id="rId64"/>
    <p:sldId id="345" r:id="rId65"/>
    <p:sldId id="346" r:id="rId66"/>
    <p:sldId id="344" r:id="rId67"/>
    <p:sldId id="347" r:id="rId68"/>
    <p:sldId id="348" r:id="rId69"/>
    <p:sldId id="336" r:id="rId70"/>
    <p:sldId id="337" r:id="rId71"/>
    <p:sldId id="338" r:id="rId72"/>
    <p:sldId id="349" r:id="rId73"/>
    <p:sldId id="350" r:id="rId74"/>
    <p:sldId id="351" r:id="rId75"/>
    <p:sldId id="352" r:id="rId76"/>
    <p:sldId id="353" r:id="rId77"/>
    <p:sldId id="365" r:id="rId78"/>
    <p:sldId id="354" r:id="rId79"/>
    <p:sldId id="355" r:id="rId80"/>
    <p:sldId id="339" r:id="rId81"/>
    <p:sldId id="340" r:id="rId82"/>
    <p:sldId id="341" r:id="rId83"/>
    <p:sldId id="356" r:id="rId84"/>
    <p:sldId id="342" r:id="rId85"/>
    <p:sldId id="343" r:id="rId86"/>
    <p:sldId id="360" r:id="rId87"/>
    <p:sldId id="366" r:id="rId88"/>
    <p:sldId id="357" r:id="rId89"/>
    <p:sldId id="361" r:id="rId90"/>
    <p:sldId id="362" r:id="rId91"/>
    <p:sldId id="363" r:id="rId92"/>
    <p:sldId id="364" r:id="rId93"/>
    <p:sldId id="359"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30A0"/>
    <a:srgbClr val="404040"/>
    <a:srgbClr val="00B0F0"/>
    <a:srgbClr val="0070C0"/>
    <a:srgbClr val="37C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8415" autoAdjust="0"/>
  </p:normalViewPr>
  <p:slideViewPr>
    <p:cSldViewPr snapToGrid="0" showGuides="1">
      <p:cViewPr varScale="1">
        <p:scale>
          <a:sx n="68" d="100"/>
          <a:sy n="68" d="100"/>
        </p:scale>
        <p:origin x="616" y="48"/>
      </p:cViewPr>
      <p:guideLst>
        <p:guide orient="horz" pos="2160"/>
        <p:guide pos="3840"/>
      </p:guideLst>
    </p:cSldViewPr>
  </p:slideViewPr>
  <p:notesTextViewPr>
    <p:cViewPr>
      <p:scale>
        <a:sx n="1" d="1"/>
        <a:sy n="1" d="1"/>
      </p:scale>
      <p:origin x="0" y="0"/>
    </p:cViewPr>
  </p:notesTextViewPr>
  <p:sorterViewPr>
    <p:cViewPr>
      <p:scale>
        <a:sx n="114" d="100"/>
        <a:sy n="114" d="100"/>
      </p:scale>
      <p:origin x="0" y="-1476"/>
    </p:cViewPr>
  </p:sorterViewPr>
  <p:notesViewPr>
    <p:cSldViewPr snapToGrid="0" showGuides="1">
      <p:cViewPr>
        <p:scale>
          <a:sx n="50" d="100"/>
          <a:sy n="50" d="100"/>
        </p:scale>
        <p:origin x="2640" y="33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notesMaster" Target="notesMasters/notesMaster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FA8042-29A1-4486-A765-7552698406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8D8449A-A734-4B2E-9806-61303F24B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249263-8DF9-4907-970E-1CFD040DC73A}" type="datetimeFigureOut">
              <a:rPr lang="en-US" smtClean="0"/>
              <a:t>21-Dec-21</a:t>
            </a:fld>
            <a:endParaRPr lang="en-US" dirty="0"/>
          </a:p>
        </p:txBody>
      </p:sp>
      <p:sp>
        <p:nvSpPr>
          <p:cNvPr id="4" name="Footer Placeholder 3">
            <a:extLst>
              <a:ext uri="{FF2B5EF4-FFF2-40B4-BE49-F238E27FC236}">
                <a16:creationId xmlns:a16="http://schemas.microsoft.com/office/drawing/2014/main" id="{F6605C2A-990C-4531-8CBF-BC3BEC0AF3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D7358FE-F7D5-4C85-B0FD-2394F7F8774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BAE485-B3C6-4830-BBC8-C6E008BDD690}" type="slidenum">
              <a:rPr lang="en-US" smtClean="0"/>
              <a:t>‹#›</a:t>
            </a:fld>
            <a:endParaRPr lang="en-US" dirty="0"/>
          </a:p>
        </p:txBody>
      </p:sp>
    </p:spTree>
    <p:extLst>
      <p:ext uri="{BB962C8B-B14F-4D97-AF65-F5344CB8AC3E}">
        <p14:creationId xmlns:p14="http://schemas.microsoft.com/office/powerpoint/2010/main" val="4121628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0B412-7BFF-46C7-AB5E-DE35F66C9933}" type="datetimeFigureOut">
              <a:rPr lang="en-US" noProof="0" smtClean="0"/>
              <a:t>21-Dec-21</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5ACE04-E13C-4837-B6DD-B388E7CAA05E}" type="slidenum">
              <a:rPr lang="en-US" noProof="0" smtClean="0"/>
              <a:t>‹#›</a:t>
            </a:fld>
            <a:endParaRPr lang="en-US" noProof="0" dirty="0"/>
          </a:p>
        </p:txBody>
      </p:sp>
    </p:spTree>
    <p:extLst>
      <p:ext uri="{BB962C8B-B14F-4D97-AF65-F5344CB8AC3E}">
        <p14:creationId xmlns:p14="http://schemas.microsoft.com/office/powerpoint/2010/main" val="1850441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5ACE04-E13C-4837-B6DD-B388E7CAA05E}" type="slidenum">
              <a:rPr lang="en-US" smtClean="0"/>
              <a:t>1</a:t>
            </a:fld>
            <a:endParaRPr lang="en-US"/>
          </a:p>
        </p:txBody>
      </p:sp>
    </p:spTree>
    <p:extLst>
      <p:ext uri="{BB962C8B-B14F-4D97-AF65-F5344CB8AC3E}">
        <p14:creationId xmlns:p14="http://schemas.microsoft.com/office/powerpoint/2010/main" val="369923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2E5-8FA2-4056-805F-EF36F7066893}"/>
              </a:ext>
            </a:extLst>
          </p:cNvPr>
          <p:cNvSpPr>
            <a:spLocks noGrp="1"/>
          </p:cNvSpPr>
          <p:nvPr>
            <p:ph type="ctrTitle" hasCustomPrompt="1"/>
          </p:nvPr>
        </p:nvSpPr>
        <p:spPr>
          <a:xfrm>
            <a:off x="4686300" y="2726872"/>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a16="http://schemas.microsoft.com/office/drawing/2014/main" id="{1C085D6F-874B-44F8-B241-51EF13CA9C8B}"/>
              </a:ext>
            </a:extLst>
          </p:cNvPr>
          <p:cNvSpPr>
            <a:spLocks noGrp="1"/>
          </p:cNvSpPr>
          <p:nvPr>
            <p:ph type="subTitle" idx="1"/>
          </p:nvPr>
        </p:nvSpPr>
        <p:spPr>
          <a:xfrm>
            <a:off x="4686300" y="3569380"/>
            <a:ext cx="7233557" cy="365125"/>
          </a:xfrm>
        </p:spPr>
        <p:txBody>
          <a:bodyPr lIns="0">
            <a:norm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21-Dec-21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4082142"/>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CBCF8A4-C2B4-4945-8D79-C9D46B7FBECB}"/>
              </a:ext>
            </a:extLst>
          </p:cNvPr>
          <p:cNvGrpSpPr/>
          <p:nvPr userDrawn="1"/>
        </p:nvGrpSpPr>
        <p:grpSpPr>
          <a:xfrm>
            <a:off x="4793474" y="2475187"/>
            <a:ext cx="748798" cy="134113"/>
            <a:chOff x="4827813" y="2534636"/>
            <a:chExt cx="996651" cy="178504"/>
          </a:xfrm>
        </p:grpSpPr>
        <p:sp>
          <p:nvSpPr>
            <p:cNvPr id="9" name="Oval 8">
              <a:extLst>
                <a:ext uri="{FF2B5EF4-FFF2-40B4-BE49-F238E27FC236}">
                  <a16:creationId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Oval 11">
              <a:extLst>
                <a:ext uri="{FF2B5EF4-FFF2-40B4-BE49-F238E27FC236}">
                  <a16:creationId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4" name="Picture Placeholder 13">
            <a:extLst>
              <a:ext uri="{FF2B5EF4-FFF2-40B4-BE49-F238E27FC236}">
                <a16:creationId xmlns:a16="http://schemas.microsoft.com/office/drawing/2014/main" id="{F0C7F772-E2DA-4B13-AC2E-28A0EE6D8465}"/>
              </a:ext>
            </a:extLst>
          </p:cNvPr>
          <p:cNvSpPr>
            <a:spLocks noGrp="1"/>
          </p:cNvSpPr>
          <p:nvPr>
            <p:ph type="pic" sz="quarter" idx="13"/>
          </p:nvPr>
        </p:nvSpPr>
        <p:spPr>
          <a:xfrm>
            <a:off x="0" y="1"/>
            <a:ext cx="4424363" cy="6858000"/>
          </a:xfrm>
          <a:solidFill>
            <a:schemeClr val="bg2"/>
          </a:solidFill>
        </p:spPr>
        <p:txBody>
          <a:bodyPr anchor="ctr"/>
          <a:lstStyle>
            <a:lvl1pPr marL="0" indent="0" algn="ctr">
              <a:buNone/>
              <a:defRPr/>
            </a:lvl1pPr>
          </a:lstStyle>
          <a:p>
            <a:r>
              <a:rPr lang="en-US" noProof="0"/>
              <a:t>Click icon to add picture</a:t>
            </a:r>
            <a:endParaRPr lang="en-US" noProof="0" dirty="0"/>
          </a:p>
        </p:txBody>
      </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9945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Content, and Large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6441-0F1F-453B-BACF-543CEDE2AE72}"/>
              </a:ext>
            </a:extLst>
          </p:cNvPr>
          <p:cNvSpPr>
            <a:spLocks noGrp="1"/>
          </p:cNvSpPr>
          <p:nvPr>
            <p:ph type="title"/>
          </p:nvPr>
        </p:nvSpPr>
        <p:spPr>
          <a:xfrm>
            <a:off x="5908430" y="1046163"/>
            <a:ext cx="5445369" cy="1114784"/>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61EC9302-80D9-4A88-8591-DE2D4BA1F91A}"/>
              </a:ext>
            </a:extLst>
          </p:cNvPr>
          <p:cNvSpPr>
            <a:spLocks noGrp="1"/>
          </p:cNvSpPr>
          <p:nvPr>
            <p:ph idx="1" hasCustomPrompt="1"/>
          </p:nvPr>
        </p:nvSpPr>
        <p:spPr>
          <a:xfrm>
            <a:off x="5908430" y="2506662"/>
            <a:ext cx="5445370" cy="3454523"/>
          </a:xfrm>
        </p:spPr>
        <p:txBody>
          <a:bodyPr lIns="0" tIns="0" rIns="0" bIns="0">
            <a:noAutofit/>
          </a:bodyPr>
          <a:lstStyle>
            <a:lvl1pPr>
              <a:lnSpc>
                <a:spcPct val="100000"/>
              </a:lnSpc>
              <a:buClr>
                <a:schemeClr val="accent1"/>
              </a:buClr>
              <a:defRPr sz="1800"/>
            </a:lvl1pPr>
            <a:lvl2pPr>
              <a:lnSpc>
                <a:spcPct val="100000"/>
              </a:lnSpc>
              <a:buClr>
                <a:schemeClr val="accent1"/>
              </a:buClr>
              <a:defRPr sz="1600"/>
            </a:lvl2pPr>
            <a:lvl3pPr>
              <a:lnSpc>
                <a:spcPct val="100000"/>
              </a:lnSpc>
              <a:buClr>
                <a:schemeClr val="accent1"/>
              </a:buClr>
              <a:defRPr sz="1400"/>
            </a:lvl3pPr>
            <a:lvl4pPr>
              <a:lnSpc>
                <a:spcPct val="100000"/>
              </a:lnSpc>
              <a:buClr>
                <a:schemeClr val="accent1"/>
              </a:buClr>
              <a:defRPr sz="1200"/>
            </a:lvl4pPr>
            <a:lvl5pPr>
              <a:lnSpc>
                <a:spcPct val="100000"/>
              </a:lnSpc>
              <a:buClr>
                <a:schemeClr val="accent1"/>
              </a:buClr>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a16="http://schemas.microsoft.com/office/drawing/2014/main" id="{6AEAE6ED-58FA-4039-939A-E4032520CB3C}"/>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sp>
        <p:nvSpPr>
          <p:cNvPr id="10" name="Picture Placeholder 9">
            <a:extLst>
              <a:ext uri="{FF2B5EF4-FFF2-40B4-BE49-F238E27FC236}">
                <a16:creationId xmlns:a16="http://schemas.microsoft.com/office/drawing/2014/main" id="{4502AABE-45EB-48A5-AD25-47BD8B79DF61}"/>
              </a:ext>
            </a:extLst>
          </p:cNvPr>
          <p:cNvSpPr>
            <a:spLocks noGrp="1"/>
          </p:cNvSpPr>
          <p:nvPr>
            <p:ph type="pic" sz="quarter" idx="15"/>
          </p:nvPr>
        </p:nvSpPr>
        <p:spPr>
          <a:xfrm>
            <a:off x="469045" y="0"/>
            <a:ext cx="5210175" cy="5961063"/>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5679220"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1107978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10039330" y="8968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9720923" y="672411"/>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7508020"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84765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Thre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6441-0F1F-453B-BACF-543CEDE2AE72}"/>
              </a:ext>
            </a:extLst>
          </p:cNvPr>
          <p:cNvSpPr>
            <a:spLocks noGrp="1"/>
          </p:cNvSpPr>
          <p:nvPr>
            <p:ph type="title"/>
          </p:nvPr>
        </p:nvSpPr>
        <p:spPr>
          <a:xfrm>
            <a:off x="363416" y="1046163"/>
            <a:ext cx="5445369" cy="1114784"/>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61EC9302-80D9-4A88-8591-DE2D4BA1F91A}"/>
              </a:ext>
            </a:extLst>
          </p:cNvPr>
          <p:cNvSpPr>
            <a:spLocks noGrp="1"/>
          </p:cNvSpPr>
          <p:nvPr>
            <p:ph idx="1" hasCustomPrompt="1"/>
          </p:nvPr>
        </p:nvSpPr>
        <p:spPr>
          <a:xfrm>
            <a:off x="363416" y="2506662"/>
            <a:ext cx="5445370" cy="3454523"/>
          </a:xfrm>
        </p:spPr>
        <p:txBody>
          <a:bodyPr lIns="0" tIns="0" rIns="0" bIns="0">
            <a:noAutofit/>
          </a:bodyPr>
          <a:lstStyle>
            <a:lvl1pPr>
              <a:lnSpc>
                <a:spcPct val="100000"/>
              </a:lnSpc>
              <a:defRPr sz="1800"/>
            </a:lvl1pPr>
            <a:lvl2pPr>
              <a:lnSpc>
                <a:spcPct val="100000"/>
              </a:lnSpc>
              <a:defRPr sz="1600"/>
            </a:lvl2pPr>
            <a:lvl3pPr>
              <a:lnSpc>
                <a:spcPct val="100000"/>
              </a:lnSpc>
              <a:defRPr sz="1400"/>
            </a:lvl3pPr>
            <a:lvl4pPr>
              <a:lnSpc>
                <a:spcPct val="100000"/>
              </a:lnSpc>
              <a:defRPr sz="1200"/>
            </a:lvl4pPr>
            <a:lvl5pPr>
              <a:lnSpc>
                <a:spcPct val="100000"/>
              </a:lnSpc>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a16="http://schemas.microsoft.com/office/drawing/2014/main" id="{6AEAE6ED-58FA-4039-939A-E4032520CB3C}"/>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sp>
        <p:nvSpPr>
          <p:cNvPr id="10" name="Picture Placeholder 9">
            <a:extLst>
              <a:ext uri="{FF2B5EF4-FFF2-40B4-BE49-F238E27FC236}">
                <a16:creationId xmlns:a16="http://schemas.microsoft.com/office/drawing/2014/main" id="{4502AABE-45EB-48A5-AD25-47BD8B79DF61}"/>
              </a:ext>
            </a:extLst>
          </p:cNvPr>
          <p:cNvSpPr>
            <a:spLocks noGrp="1"/>
          </p:cNvSpPr>
          <p:nvPr>
            <p:ph type="pic" sz="quarter" idx="15"/>
          </p:nvPr>
        </p:nvSpPr>
        <p:spPr>
          <a:xfrm>
            <a:off x="5919755" y="1"/>
            <a:ext cx="3430408" cy="4091942"/>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24055"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36341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1804745"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Picture Placeholder 9">
            <a:extLst>
              <a:ext uri="{FF2B5EF4-FFF2-40B4-BE49-F238E27FC236}">
                <a16:creationId xmlns:a16="http://schemas.microsoft.com/office/drawing/2014/main" id="{63A2A33D-4D91-454D-A35B-6DA97069EC3F}"/>
              </a:ext>
            </a:extLst>
          </p:cNvPr>
          <p:cNvSpPr>
            <a:spLocks noGrp="1"/>
          </p:cNvSpPr>
          <p:nvPr>
            <p:ph type="pic" sz="quarter" idx="16"/>
          </p:nvPr>
        </p:nvSpPr>
        <p:spPr>
          <a:xfrm>
            <a:off x="9542186" y="555157"/>
            <a:ext cx="2649814" cy="4298197"/>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
        <p:nvSpPr>
          <p:cNvPr id="21" name="Picture Placeholder 9">
            <a:extLst>
              <a:ext uri="{FF2B5EF4-FFF2-40B4-BE49-F238E27FC236}">
                <a16:creationId xmlns:a16="http://schemas.microsoft.com/office/drawing/2014/main" id="{7EC67FB7-777C-473E-95B8-585AA8E66406}"/>
              </a:ext>
            </a:extLst>
          </p:cNvPr>
          <p:cNvSpPr>
            <a:spLocks noGrp="1"/>
          </p:cNvSpPr>
          <p:nvPr>
            <p:ph type="pic" sz="quarter" idx="17"/>
          </p:nvPr>
        </p:nvSpPr>
        <p:spPr>
          <a:xfrm>
            <a:off x="5919754" y="4289110"/>
            <a:ext cx="3430407" cy="1672075"/>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Tree>
    <p:extLst>
      <p:ext uri="{BB962C8B-B14F-4D97-AF65-F5344CB8AC3E}">
        <p14:creationId xmlns:p14="http://schemas.microsoft.com/office/powerpoint/2010/main" val="23405895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alf Image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831850"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3" name="Text Placeholder 2">
            <a:extLst>
              <a:ext uri="{FF2B5EF4-FFF2-40B4-BE49-F238E27FC236}">
                <a16:creationId xmlns:a16="http://schemas.microsoft.com/office/drawing/2014/main" id="{6E8BFC94-FFEC-4290-AC27-760323F21BA3}"/>
              </a:ext>
            </a:extLst>
          </p:cNvPr>
          <p:cNvSpPr>
            <a:spLocks noGrp="1"/>
          </p:cNvSpPr>
          <p:nvPr>
            <p:ph type="body" idx="1" hasCustomPrompt="1"/>
          </p:nvPr>
        </p:nvSpPr>
        <p:spPr>
          <a:xfrm>
            <a:off x="831850" y="4839691"/>
            <a:ext cx="10515600" cy="1305379"/>
          </a:xfrm>
        </p:spPr>
        <p:txBody>
          <a:bodyPr vert="horz" lIns="91440" tIns="45720" rIns="91440" bIns="45720" rtlCol="0">
            <a:noAutofit/>
          </a:bodyPr>
          <a:lstStyle>
            <a:lvl1pPr marL="0" indent="0" algn="ctr">
              <a:lnSpc>
                <a:spcPct val="100000"/>
              </a:lnSpc>
              <a:buNone/>
              <a:defRPr lang="en-US" sz="1800" b="0" cap="none" baseline="0" dirty="0" smtClean="0"/>
            </a:lvl1pPr>
          </a:lstStyle>
          <a:p>
            <a:pPr marL="228600" lvl="0" indent="-228600"/>
            <a:r>
              <a:rPr lang="en-US" noProof="0"/>
              <a:t>Edit Master text styles</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4" name="Picture Placeholder 13">
            <a:extLst>
              <a:ext uri="{FF2B5EF4-FFF2-40B4-BE49-F238E27FC236}">
                <a16:creationId xmlns:a16="http://schemas.microsoft.com/office/drawing/2014/main" id="{A7389277-B3D3-4AEE-8BE0-0559A7396981}"/>
              </a:ext>
            </a:extLst>
          </p:cNvPr>
          <p:cNvSpPr>
            <a:spLocks noGrp="1"/>
          </p:cNvSpPr>
          <p:nvPr>
            <p:ph type="pic" sz="quarter" idx="13"/>
          </p:nvPr>
        </p:nvSpPr>
        <p:spPr>
          <a:xfrm>
            <a:off x="0" y="0"/>
            <a:ext cx="12192000" cy="3713018"/>
          </a:xfrm>
          <a:solidFill>
            <a:schemeClr val="bg1">
              <a:lumMod val="85000"/>
            </a:schemeClr>
          </a:solidFill>
        </p:spPr>
        <p:txBody>
          <a:bodyPr anchor="ctr">
            <a:normAutofit/>
          </a:bodyPr>
          <a:lstStyle>
            <a:lvl1pPr marL="0" indent="0" algn="ctr">
              <a:buNone/>
              <a:defRPr sz="2000"/>
            </a:lvl1pPr>
          </a:lstStyle>
          <a:p>
            <a:r>
              <a:rPr lang="en-US" noProof="0"/>
              <a:t>Click icon to add picture</a:t>
            </a:r>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5351690" y="3748188"/>
            <a:ext cx="1488621"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B34A1799-63F2-4B23-A188-7BAB23FB821F}"/>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18" name="Group 17">
            <a:extLst>
              <a:ext uri="{FF2B5EF4-FFF2-40B4-BE49-F238E27FC236}">
                <a16:creationId xmlns:a16="http://schemas.microsoft.com/office/drawing/2014/main" id="{65844635-8274-49B1-BBEC-354A0872E526}"/>
              </a:ext>
            </a:extLst>
          </p:cNvPr>
          <p:cNvGrpSpPr/>
          <p:nvPr userDrawn="1"/>
        </p:nvGrpSpPr>
        <p:grpSpPr>
          <a:xfrm>
            <a:off x="5721601" y="4594679"/>
            <a:ext cx="748798" cy="134113"/>
            <a:chOff x="4827813" y="2534636"/>
            <a:chExt cx="996651" cy="178504"/>
          </a:xfrm>
        </p:grpSpPr>
        <p:sp>
          <p:nvSpPr>
            <p:cNvPr id="19" name="Oval 18">
              <a:extLst>
                <a:ext uri="{FF2B5EF4-FFF2-40B4-BE49-F238E27FC236}">
                  <a16:creationId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Oval 21">
              <a:extLst>
                <a:ext uri="{FF2B5EF4-FFF2-40B4-BE49-F238E27FC236}">
                  <a16:creationId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427806385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hasCustomPrompt="1"/>
          </p:nvPr>
        </p:nvSpPr>
        <p:spPr>
          <a:xfrm>
            <a:off x="363416" y="246186"/>
            <a:ext cx="3206261" cy="1037492"/>
          </a:xfrm>
        </p:spPr>
        <p:txBody>
          <a:bodyPr lIns="0" tIns="0" rIns="0" bIns="0" anchor="b">
            <a:noAutofit/>
          </a:bodyPr>
          <a:lstStyle>
            <a:lvl1pPr>
              <a:defRPr sz="3200" b="1" cap="all" baseline="0"/>
            </a:lvl1pPr>
          </a:lstStyle>
          <a:p>
            <a:r>
              <a:rPr lang="en-US" noProof="0"/>
              <a:t>Title here</a:t>
            </a:r>
          </a:p>
        </p:txBody>
      </p:sp>
      <p:sp>
        <p:nvSpPr>
          <p:cNvPr id="3" name="Text Placeholder 2">
            <a:extLst>
              <a:ext uri="{FF2B5EF4-FFF2-40B4-BE49-F238E27FC236}">
                <a16:creationId xmlns:a16="http://schemas.microsoft.com/office/drawing/2014/main" id="{712D9B6D-CE43-4FB1-87C0-D3565E730242}"/>
              </a:ext>
            </a:extLst>
          </p:cNvPr>
          <p:cNvSpPr>
            <a:spLocks noGrp="1"/>
          </p:cNvSpPr>
          <p:nvPr>
            <p:ph type="body" idx="1" hasCustomPrompt="1"/>
          </p:nvPr>
        </p:nvSpPr>
        <p:spPr>
          <a:xfrm>
            <a:off x="4080986" y="2426274"/>
            <a:ext cx="3008434" cy="601087"/>
          </a:xfrm>
        </p:spPr>
        <p:txBody>
          <a:bodyPr lIns="0" tIns="0" rIns="0" bIns="0" anchor="b">
            <a:no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a:extLst>
              <a:ext uri="{FF2B5EF4-FFF2-40B4-BE49-F238E27FC236}">
                <a16:creationId xmlns:a16="http://schemas.microsoft.com/office/drawing/2014/main" id="{249D73CD-EB11-4ED6-80CF-B68320D57E91}"/>
              </a:ext>
            </a:extLst>
          </p:cNvPr>
          <p:cNvSpPr>
            <a:spLocks noGrp="1"/>
          </p:cNvSpPr>
          <p:nvPr>
            <p:ph sz="half" idx="2" hasCustomPrompt="1"/>
          </p:nvPr>
        </p:nvSpPr>
        <p:spPr>
          <a:xfrm>
            <a:off x="4080986" y="3097702"/>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1" name="Content Placeholder 16">
            <a:extLst>
              <a:ext uri="{FF2B5EF4-FFF2-40B4-BE49-F238E27FC236}">
                <a16:creationId xmlns:a16="http://schemas.microsoft.com/office/drawing/2014/main" id="{57889B18-CC7E-47A7-B83B-45D7871D298A}"/>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6" name="Group 5">
            <a:extLst>
              <a:ext uri="{FF2B5EF4-FFF2-40B4-BE49-F238E27FC236}">
                <a16:creationId xmlns:a16="http://schemas.microsoft.com/office/drawing/2014/main" id="{A6A27954-3A0E-430B-AD48-05A3F3278D70}"/>
              </a:ext>
            </a:extLst>
          </p:cNvPr>
          <p:cNvGrpSpPr/>
          <p:nvPr userDrawn="1"/>
        </p:nvGrpSpPr>
        <p:grpSpPr>
          <a:xfrm>
            <a:off x="-24056" y="1452564"/>
            <a:ext cx="3385227" cy="134113"/>
            <a:chOff x="-24055" y="1452565"/>
            <a:chExt cx="2374534" cy="0"/>
          </a:xfrm>
        </p:grpSpPr>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3639489" y="421045"/>
            <a:ext cx="0" cy="5768619"/>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A09F60F9-61AE-4464-B369-1CF86DB708DA}"/>
              </a:ext>
            </a:extLst>
          </p:cNvPr>
          <p:cNvSpPr>
            <a:spLocks noGrp="1"/>
          </p:cNvSpPr>
          <p:nvPr>
            <p:ph type="body" idx="15" hasCustomPrompt="1"/>
          </p:nvPr>
        </p:nvSpPr>
        <p:spPr>
          <a:xfrm>
            <a:off x="7870582" y="2426274"/>
            <a:ext cx="3008434" cy="601087"/>
          </a:xfrm>
        </p:spPr>
        <p:txBody>
          <a:bodyPr lIns="0" tIns="0" rIns="0" bIns="0" anchor="b">
            <a:no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0" name="Content Placeholder 3">
            <a:extLst>
              <a:ext uri="{FF2B5EF4-FFF2-40B4-BE49-F238E27FC236}">
                <a16:creationId xmlns:a16="http://schemas.microsoft.com/office/drawing/2014/main" id="{124CEF01-2C7C-4568-8A45-5F5A058ECFC1}"/>
              </a:ext>
            </a:extLst>
          </p:cNvPr>
          <p:cNvSpPr>
            <a:spLocks noGrp="1"/>
          </p:cNvSpPr>
          <p:nvPr>
            <p:ph sz="half" idx="16" hasCustomPrompt="1"/>
          </p:nvPr>
        </p:nvSpPr>
        <p:spPr>
          <a:xfrm>
            <a:off x="7870582" y="3097702"/>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Picture Placeholder 8">
            <a:extLst>
              <a:ext uri="{FF2B5EF4-FFF2-40B4-BE49-F238E27FC236}">
                <a16:creationId xmlns:a16="http://schemas.microsoft.com/office/drawing/2014/main" id="{BAF86618-E012-4E70-91E3-A72E71C63E64}"/>
              </a:ext>
            </a:extLst>
          </p:cNvPr>
          <p:cNvSpPr>
            <a:spLocks noGrp="1"/>
          </p:cNvSpPr>
          <p:nvPr>
            <p:ph type="pic" sz="quarter" idx="18" hasCustomPrompt="1"/>
          </p:nvPr>
        </p:nvSpPr>
        <p:spPr>
          <a:xfrm>
            <a:off x="4080986" y="1676296"/>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4" name="Picture Placeholder 8">
            <a:extLst>
              <a:ext uri="{FF2B5EF4-FFF2-40B4-BE49-F238E27FC236}">
                <a16:creationId xmlns:a16="http://schemas.microsoft.com/office/drawing/2014/main" id="{4FF378B9-734E-4C43-836C-CB80566DDB15}"/>
              </a:ext>
            </a:extLst>
          </p:cNvPr>
          <p:cNvSpPr>
            <a:spLocks noGrp="1"/>
          </p:cNvSpPr>
          <p:nvPr>
            <p:ph type="pic" sz="quarter" idx="19" hasCustomPrompt="1"/>
          </p:nvPr>
        </p:nvSpPr>
        <p:spPr>
          <a:xfrm>
            <a:off x="7868008" y="1676296"/>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5" name="Oval 24">
            <a:extLst>
              <a:ext uri="{FF2B5EF4-FFF2-40B4-BE49-F238E27FC236}">
                <a16:creationId xmlns:a16="http://schemas.microsoft.com/office/drawing/2014/main" id="{3F366940-FB5E-4B76-8829-80C14F137B3A}"/>
              </a:ext>
            </a:extLst>
          </p:cNvPr>
          <p:cNvSpPr/>
          <p:nvPr userDrawn="1"/>
        </p:nvSpPr>
        <p:spPr>
          <a:xfrm>
            <a:off x="10251393"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75486FFB-46EF-4E74-BFFF-7ED054DB0D9C}"/>
              </a:ext>
            </a:extLst>
          </p:cNvPr>
          <p:cNvSpPr/>
          <p:nvPr userDrawn="1"/>
        </p:nvSpPr>
        <p:spPr>
          <a:xfrm>
            <a:off x="9932986" y="330754"/>
            <a:ext cx="1268186"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Text Placeholder 2">
            <a:extLst>
              <a:ext uri="{FF2B5EF4-FFF2-40B4-BE49-F238E27FC236}">
                <a16:creationId xmlns:a16="http://schemas.microsoft.com/office/drawing/2014/main" id="{76F2CCF2-293A-49CA-B2A9-134BB5DEF98E}"/>
              </a:ext>
            </a:extLst>
          </p:cNvPr>
          <p:cNvSpPr>
            <a:spLocks noGrp="1"/>
          </p:cNvSpPr>
          <p:nvPr>
            <p:ph type="body" idx="20" hasCustomPrompt="1"/>
          </p:nvPr>
        </p:nvSpPr>
        <p:spPr>
          <a:xfrm>
            <a:off x="4080985" y="480157"/>
            <a:ext cx="6944563" cy="823912"/>
          </a:xfrm>
        </p:spPr>
        <p:txBody>
          <a:bodyPr lIns="0" tIns="0" rIns="0" bIns="0" anchor="ctr">
            <a:noAutofit/>
          </a:bodyPr>
          <a:lstStyle>
            <a:lvl1pPr marL="0" indent="0">
              <a:buNone/>
              <a:defRPr sz="2000" b="1">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grpSp>
        <p:nvGrpSpPr>
          <p:cNvPr id="27" name="Group 26">
            <a:extLst>
              <a:ext uri="{FF2B5EF4-FFF2-40B4-BE49-F238E27FC236}">
                <a16:creationId xmlns:a16="http://schemas.microsoft.com/office/drawing/2014/main" id="{6D35CCD2-B73F-944C-B572-7FBFC7DE22E4}"/>
              </a:ext>
            </a:extLst>
          </p:cNvPr>
          <p:cNvGrpSpPr/>
          <p:nvPr userDrawn="1"/>
        </p:nvGrpSpPr>
        <p:grpSpPr>
          <a:xfrm>
            <a:off x="363416" y="421045"/>
            <a:ext cx="748798" cy="134113"/>
            <a:chOff x="4827813" y="2534636"/>
            <a:chExt cx="996651" cy="178504"/>
          </a:xfrm>
        </p:grpSpPr>
        <p:sp>
          <p:nvSpPr>
            <p:cNvPr id="28" name="Oval 27">
              <a:extLst>
                <a:ext uri="{FF2B5EF4-FFF2-40B4-BE49-F238E27FC236}">
                  <a16:creationId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Oval 34">
              <a:extLst>
                <a:ext uri="{FF2B5EF4-FFF2-40B4-BE49-F238E27FC236}">
                  <a16:creationId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Oval 36">
              <a:extLst>
                <a:ext uri="{FF2B5EF4-FFF2-40B4-BE49-F238E27FC236}">
                  <a16:creationId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321905163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Image Vertical Purpl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A7389277-B3D3-4AEE-8BE0-0559A7396981}"/>
              </a:ext>
            </a:extLst>
          </p:cNvPr>
          <p:cNvSpPr>
            <a:spLocks noGrp="1"/>
          </p:cNvSpPr>
          <p:nvPr>
            <p:ph type="pic" sz="quarter" idx="13"/>
          </p:nvPr>
        </p:nvSpPr>
        <p:spPr>
          <a:xfrm>
            <a:off x="5316488" y="0"/>
            <a:ext cx="6875511" cy="6858000"/>
          </a:xfrm>
          <a:solidFill>
            <a:schemeClr val="bg1">
              <a:lumMod val="85000"/>
            </a:schemeClr>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4" name="Rectangle 3">
            <a:extLst>
              <a:ext uri="{FF2B5EF4-FFF2-40B4-BE49-F238E27FC236}">
                <a16:creationId xmlns:a16="http://schemas.microsoft.com/office/drawing/2014/main" id="{9536DA47-61AF-4CF1-8DF3-3721934D13E3}"/>
              </a:ext>
            </a:extLst>
          </p:cNvPr>
          <p:cNvSpPr/>
          <p:nvPr userDrawn="1"/>
        </p:nvSpPr>
        <p:spPr>
          <a:xfrm>
            <a:off x="0" y="0"/>
            <a:ext cx="5316488"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056FD760-FBDC-4410-A039-469F7931D3A3}"/>
              </a:ext>
            </a:extLst>
          </p:cNvPr>
          <p:cNvSpPr/>
          <p:nvPr userDrawn="1"/>
        </p:nvSpPr>
        <p:spPr>
          <a:xfrm>
            <a:off x="831850" y="1723292"/>
            <a:ext cx="5307246" cy="3745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384651" y="1087907"/>
            <a:ext cx="4468698" cy="1444275"/>
          </a:xfrm>
        </p:spPr>
        <p:txBody>
          <a:bodyPr vert="horz" lIns="91440" tIns="792000" rIns="91440" bIns="45720" rtlCol="0" anchor="t">
            <a:noAutofit/>
          </a:bodyPr>
          <a:lstStyle>
            <a:lvl1pPr algn="l">
              <a:defRPr lang="en-IN" sz="3600" b="1" cap="all" baseline="0">
                <a:solidFill>
                  <a:schemeClr val="bg1"/>
                </a:solidFill>
              </a:defRPr>
            </a:lvl1pPr>
          </a:lstStyle>
          <a:p>
            <a:pPr lvl="0"/>
            <a:r>
              <a:rPr lang="en-US" noProof="0"/>
              <a:t>TITLE HERE</a:t>
            </a:r>
          </a:p>
        </p:txBody>
      </p:sp>
      <p:sp>
        <p:nvSpPr>
          <p:cNvPr id="3" name="Text Placeholder 2">
            <a:extLst>
              <a:ext uri="{FF2B5EF4-FFF2-40B4-BE49-F238E27FC236}">
                <a16:creationId xmlns:a16="http://schemas.microsoft.com/office/drawing/2014/main" id="{6E8BFC94-FFEC-4290-AC27-760323F21BA3}"/>
              </a:ext>
            </a:extLst>
          </p:cNvPr>
          <p:cNvSpPr>
            <a:spLocks noGrp="1"/>
          </p:cNvSpPr>
          <p:nvPr>
            <p:ph type="body" idx="1" hasCustomPrompt="1"/>
          </p:nvPr>
        </p:nvSpPr>
        <p:spPr>
          <a:xfrm>
            <a:off x="368711" y="2552611"/>
            <a:ext cx="4097778" cy="1992819"/>
          </a:xfrm>
        </p:spPr>
        <p:txBody>
          <a:bodyPr vert="horz" lIns="91440" tIns="45720" rIns="91440" bIns="45720" rtlCol="0">
            <a:noAutofit/>
          </a:bodyPr>
          <a:lstStyle>
            <a:lvl1pPr marL="0" indent="0" algn="l">
              <a:lnSpc>
                <a:spcPct val="100000"/>
              </a:lnSpc>
              <a:buNone/>
              <a:defRPr lang="en-US" sz="1800" b="0" cap="none" baseline="0" dirty="0" smtClean="0">
                <a:solidFill>
                  <a:schemeClr val="bg1"/>
                </a:solidFill>
              </a:defRPr>
            </a:lvl1pPr>
          </a:lstStyle>
          <a:p>
            <a:pPr marL="228600" lvl="0" indent="-228600"/>
            <a:r>
              <a:rPr lang="en-US" noProof="0"/>
              <a:t>Edit Master text styles</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454991" y="1620451"/>
            <a:ext cx="14886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B34A1799-63F2-4B23-A188-7BAB23FB821F}"/>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13" name="Group 12">
            <a:extLst>
              <a:ext uri="{FF2B5EF4-FFF2-40B4-BE49-F238E27FC236}">
                <a16:creationId xmlns:a16="http://schemas.microsoft.com/office/drawing/2014/main" id="{C5F2EA84-5150-479B-86D5-F4BAE1263488}"/>
              </a:ext>
            </a:extLst>
          </p:cNvPr>
          <p:cNvGrpSpPr/>
          <p:nvPr userDrawn="1"/>
        </p:nvGrpSpPr>
        <p:grpSpPr>
          <a:xfrm flipH="1">
            <a:off x="1130928" y="4803540"/>
            <a:ext cx="3616779" cy="3522776"/>
            <a:chOff x="2555621" y="3917613"/>
            <a:chExt cx="3616779" cy="3522776"/>
          </a:xfrm>
        </p:grpSpPr>
        <p:sp>
          <p:nvSpPr>
            <p:cNvPr id="15" name="Oval 14">
              <a:extLst>
                <a:ext uri="{FF2B5EF4-FFF2-40B4-BE49-F238E27FC236}">
                  <a16:creationId xmlns:a16="http://schemas.microsoft.com/office/drawing/2014/main" id="{C0699C4B-8D8E-47E2-A0C5-D71C25ABAC72}"/>
                </a:ext>
              </a:extLst>
            </p:cNvPr>
            <p:cNvSpPr/>
            <p:nvPr userDrawn="1"/>
          </p:nvSpPr>
          <p:spPr>
            <a:xfrm>
              <a:off x="2874028" y="4142017"/>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2F607AB9-31A7-4B79-9AFE-0DFDB792E20C}"/>
                </a:ext>
              </a:extLst>
            </p:cNvPr>
            <p:cNvSpPr/>
            <p:nvPr userDrawn="1"/>
          </p:nvSpPr>
          <p:spPr>
            <a:xfrm>
              <a:off x="2555621" y="3917613"/>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94174930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CABAC-B403-4354-A27F-4C38B08C1D3F}"/>
              </a:ext>
            </a:extLst>
          </p:cNvPr>
          <p:cNvSpPr>
            <a:spLocks noGrp="1"/>
          </p:cNvSpPr>
          <p:nvPr>
            <p:ph type="title" hasCustomPrompt="1"/>
          </p:nvPr>
        </p:nvSpPr>
        <p:spPr>
          <a:xfrm>
            <a:off x="4712885" y="2704121"/>
            <a:ext cx="6556248" cy="750278"/>
          </a:xfrm>
        </p:spPr>
        <p:txBody>
          <a:bodyPr/>
          <a:lstStyle>
            <a:lvl1pPr>
              <a:defRPr lang="en-US" sz="4800" b="1" kern="1200" cap="all" baseline="0" smtClean="0">
                <a:solidFill>
                  <a:schemeClr val="tx1"/>
                </a:solidFill>
                <a:latin typeface="+mn-lt"/>
                <a:ea typeface="+mn-ea"/>
                <a:cs typeface="+mn-cs"/>
              </a:defRPr>
            </a:lvl1pPr>
          </a:lstStyle>
          <a:p>
            <a:r>
              <a:rPr lang="en-US" noProof="0"/>
              <a:t>Thank You</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21-Dec-21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3760408"/>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F0C7F772-E2DA-4B13-AC2E-28A0EE6D8465}"/>
              </a:ext>
            </a:extLst>
          </p:cNvPr>
          <p:cNvSpPr>
            <a:spLocks noGrp="1"/>
          </p:cNvSpPr>
          <p:nvPr>
            <p:ph type="pic" sz="quarter" idx="13"/>
          </p:nvPr>
        </p:nvSpPr>
        <p:spPr>
          <a:xfrm>
            <a:off x="0" y="1"/>
            <a:ext cx="4424363" cy="6858000"/>
          </a:xfrm>
          <a:solidFill>
            <a:schemeClr val="bg2"/>
          </a:solidFill>
        </p:spPr>
        <p:txBody>
          <a:bodyPr anchor="ctr"/>
          <a:lstStyle>
            <a:lvl1pPr marL="0" indent="0" algn="ctr">
              <a:buNone/>
              <a:defRPr/>
            </a:lvl1pPr>
          </a:lstStyle>
          <a:p>
            <a:r>
              <a:rPr lang="en-US" noProof="0"/>
              <a:t>Click icon to add picture</a:t>
            </a:r>
            <a:endParaRPr lang="en-US" noProof="0" dirty="0"/>
          </a:p>
        </p:txBody>
      </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3" name="Graphic 22" descr="Envelope">
            <a:extLst>
              <a:ext uri="{FF2B5EF4-FFF2-40B4-BE49-F238E27FC236}">
                <a16:creationId xmlns:a16="http://schemas.microsoft.com/office/drawing/2014/main" id="{3C32C7E5-809C-4E12-8962-1B868951E67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834803" y="4029040"/>
            <a:ext cx="469232" cy="469232"/>
          </a:xfrm>
          <a:prstGeom prst="rect">
            <a:avLst/>
          </a:prstGeom>
        </p:spPr>
      </p:pic>
      <p:sp>
        <p:nvSpPr>
          <p:cNvPr id="34" name="Subtitle 2">
            <a:extLst>
              <a:ext uri="{FF2B5EF4-FFF2-40B4-BE49-F238E27FC236}">
                <a16:creationId xmlns:a16="http://schemas.microsoft.com/office/drawing/2014/main" id="{31AD270F-1692-4526-B979-6B5945A20D90}"/>
              </a:ext>
            </a:extLst>
          </p:cNvPr>
          <p:cNvSpPr>
            <a:spLocks noGrp="1"/>
          </p:cNvSpPr>
          <p:nvPr>
            <p:ph type="subTitle" idx="1"/>
          </p:nvPr>
        </p:nvSpPr>
        <p:spPr>
          <a:xfrm>
            <a:off x="5406809" y="4126311"/>
            <a:ext cx="3640478" cy="433938"/>
          </a:xfrm>
        </p:spPr>
        <p:txBody>
          <a:bodyPr>
            <a:normAutofit/>
          </a:bodyPr>
          <a:lstStyle>
            <a:lvl1pPr marL="0" indent="0" algn="l">
              <a:buNone/>
              <a:defRPr sz="1800" b="0" cap="none"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39" name="Content Placeholder 38">
            <a:extLst>
              <a:ext uri="{FF2B5EF4-FFF2-40B4-BE49-F238E27FC236}">
                <a16:creationId xmlns:a16="http://schemas.microsoft.com/office/drawing/2014/main" id="{382940E6-7963-411F-B35A-57121171A988}"/>
              </a:ext>
            </a:extLst>
          </p:cNvPr>
          <p:cNvSpPr>
            <a:spLocks noGrp="1"/>
          </p:cNvSpPr>
          <p:nvPr>
            <p:ph sz="quarter" idx="15" hasCustomPrompt="1"/>
          </p:nvPr>
        </p:nvSpPr>
        <p:spPr>
          <a:xfrm>
            <a:off x="5408614" y="4836222"/>
            <a:ext cx="3638674" cy="453938"/>
          </a:xfrm>
        </p:spPr>
        <p:txBody>
          <a:bodyPr vert="horz" lIns="91440" tIns="45720" rIns="91440" bIns="45720" rtlCol="0">
            <a:normAutofit/>
          </a:bodyPr>
          <a:lstStyle>
            <a:lvl1pPr marL="0" indent="0">
              <a:buNone/>
              <a:defRPr lang="en-US" sz="1800" b="0" cap="none" baseline="0" dirty="0" smtClean="0"/>
            </a:lvl1pPr>
            <a:lvl2pPr>
              <a:defRPr lang="en-US" sz="2000" dirty="0" smtClean="0"/>
            </a:lvl2pPr>
            <a:lvl3pPr>
              <a:defRPr lang="en-US" sz="1800" dirty="0" smtClean="0"/>
            </a:lvl3pPr>
            <a:lvl4pPr>
              <a:defRPr lang="en-US" sz="1600" dirty="0" smtClean="0"/>
            </a:lvl4pPr>
            <a:lvl5pPr>
              <a:defRPr lang="en-IN" sz="1600" dirty="0"/>
            </a:lvl5pPr>
          </a:lstStyle>
          <a:p>
            <a:pPr marL="228600" lvl="0" indent="-228600"/>
            <a:r>
              <a:rPr lang="en-US" noProof="0"/>
              <a:t>Edit Master text styles</a:t>
            </a:r>
          </a:p>
        </p:txBody>
      </p:sp>
      <p:grpSp>
        <p:nvGrpSpPr>
          <p:cNvPr id="20" name="Group 19">
            <a:extLst>
              <a:ext uri="{FF2B5EF4-FFF2-40B4-BE49-F238E27FC236}">
                <a16:creationId xmlns:a16="http://schemas.microsoft.com/office/drawing/2014/main" id="{1F8FC2D7-B114-3444-8684-995FC4D6D459}"/>
              </a:ext>
            </a:extLst>
          </p:cNvPr>
          <p:cNvGrpSpPr/>
          <p:nvPr userDrawn="1"/>
        </p:nvGrpSpPr>
        <p:grpSpPr>
          <a:xfrm>
            <a:off x="4793474" y="2475187"/>
            <a:ext cx="748798" cy="134113"/>
            <a:chOff x="4827813" y="2534636"/>
            <a:chExt cx="996651" cy="178504"/>
          </a:xfrm>
        </p:grpSpPr>
        <p:sp>
          <p:nvSpPr>
            <p:cNvPr id="21" name="Oval 20">
              <a:extLst>
                <a:ext uri="{FF2B5EF4-FFF2-40B4-BE49-F238E27FC236}">
                  <a16:creationId xmlns:a16="http://schemas.microsoft.com/office/drawing/2014/main" id="{CEE45073-ED8E-0544-85FA-9AF5A478417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a16="http://schemas.microsoft.com/office/drawing/2014/main" id="{B8BAF06E-A8A8-484C-8F6C-E42EDC46BBCB}"/>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Oval 23">
              <a:extLst>
                <a:ext uri="{FF2B5EF4-FFF2-40B4-BE49-F238E27FC236}">
                  <a16:creationId xmlns:a16="http://schemas.microsoft.com/office/drawing/2014/main" id="{586EB62D-13C7-6E43-9D98-B706D2B9ADDF}"/>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6" name="Oval 25">
              <a:extLst>
                <a:ext uri="{FF2B5EF4-FFF2-40B4-BE49-F238E27FC236}">
                  <a16:creationId xmlns:a16="http://schemas.microsoft.com/office/drawing/2014/main" id="{35CF3453-ED5A-024D-8815-C08EFA13D1A6}"/>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pic>
        <p:nvPicPr>
          <p:cNvPr id="3" name="Graphic 2" descr="Link">
            <a:extLst>
              <a:ext uri="{FF2B5EF4-FFF2-40B4-BE49-F238E27FC236}">
                <a16:creationId xmlns:a16="http://schemas.microsoft.com/office/drawing/2014/main" id="{16E3F5A0-978F-8D46-BBFB-19A7F7883D93}"/>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87152" y="4809677"/>
            <a:ext cx="542081" cy="542081"/>
          </a:xfrm>
          <a:prstGeom prst="rect">
            <a:avLst/>
          </a:prstGeom>
        </p:spPr>
      </p:pic>
    </p:spTree>
    <p:extLst>
      <p:ext uri="{BB962C8B-B14F-4D97-AF65-F5344CB8AC3E}">
        <p14:creationId xmlns:p14="http://schemas.microsoft.com/office/powerpoint/2010/main" val="34843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2E5-8FA2-4056-805F-EF36F7066893}"/>
              </a:ext>
            </a:extLst>
          </p:cNvPr>
          <p:cNvSpPr>
            <a:spLocks noGrp="1"/>
          </p:cNvSpPr>
          <p:nvPr>
            <p:ph type="ctrTitle" hasCustomPrompt="1"/>
          </p:nvPr>
        </p:nvSpPr>
        <p:spPr>
          <a:xfrm>
            <a:off x="4686300" y="2726872"/>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a16="http://schemas.microsoft.com/office/drawing/2014/main" id="{1C085D6F-874B-44F8-B241-51EF13CA9C8B}"/>
              </a:ext>
            </a:extLst>
          </p:cNvPr>
          <p:cNvSpPr>
            <a:spLocks noGrp="1"/>
          </p:cNvSpPr>
          <p:nvPr>
            <p:ph type="subTitle" idx="1"/>
          </p:nvPr>
        </p:nvSpPr>
        <p:spPr>
          <a:xfrm>
            <a:off x="4686300" y="3569380"/>
            <a:ext cx="7233557" cy="365125"/>
          </a:xfrm>
        </p:spPr>
        <p:txBody>
          <a:bodyPr lIns="0">
            <a:norm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21-Dec-21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4082142"/>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CBCF8A4-C2B4-4945-8D79-C9D46B7FBECB}"/>
              </a:ext>
            </a:extLst>
          </p:cNvPr>
          <p:cNvGrpSpPr/>
          <p:nvPr userDrawn="1"/>
        </p:nvGrpSpPr>
        <p:grpSpPr>
          <a:xfrm>
            <a:off x="4793474" y="2475187"/>
            <a:ext cx="748798" cy="134113"/>
            <a:chOff x="4827813" y="2534636"/>
            <a:chExt cx="996651" cy="178504"/>
          </a:xfrm>
        </p:grpSpPr>
        <p:sp>
          <p:nvSpPr>
            <p:cNvPr id="9" name="Oval 8">
              <a:extLst>
                <a:ext uri="{FF2B5EF4-FFF2-40B4-BE49-F238E27FC236}">
                  <a16:creationId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Oval 11">
              <a:extLst>
                <a:ext uri="{FF2B5EF4-FFF2-40B4-BE49-F238E27FC236}">
                  <a16:creationId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25F8A1A8-E078-4836-ABD1-CD4E75BBF58F}"/>
              </a:ext>
            </a:extLst>
          </p:cNvPr>
          <p:cNvSpPr/>
          <p:nvPr userDrawn="1"/>
        </p:nvSpPr>
        <p:spPr>
          <a:xfrm>
            <a:off x="0" y="0"/>
            <a:ext cx="4424363"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61775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5679220"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1107978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10039330" y="8968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9720923" y="672411"/>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7508020"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A55704E-D515-4774-90C6-5F887DDAE55E}"/>
              </a:ext>
            </a:extLst>
          </p:cNvPr>
          <p:cNvSpPr/>
          <p:nvPr userDrawn="1"/>
        </p:nvSpPr>
        <p:spPr>
          <a:xfrm>
            <a:off x="469044" y="1"/>
            <a:ext cx="5210176" cy="59610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Connector 22">
            <a:extLst>
              <a:ext uri="{FF2B5EF4-FFF2-40B4-BE49-F238E27FC236}">
                <a16:creationId xmlns:a16="http://schemas.microsoft.com/office/drawing/2014/main" id="{84878778-0299-471F-A4C9-D0C1E82ED8D2}"/>
              </a:ext>
            </a:extLst>
          </p:cNvPr>
          <p:cNvCxnSpPr>
            <a:cxnSpLocks/>
          </p:cNvCxnSpPr>
          <p:nvPr userDrawn="1"/>
        </p:nvCxnSpPr>
        <p:spPr>
          <a:xfrm>
            <a:off x="1001746" y="1290512"/>
            <a:ext cx="14886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E39D1C78-6110-4052-8455-7E7893F7FCD3}"/>
              </a:ext>
            </a:extLst>
          </p:cNvPr>
          <p:cNvSpPr>
            <a:spLocks noGrp="1"/>
          </p:cNvSpPr>
          <p:nvPr>
            <p:ph type="title"/>
          </p:nvPr>
        </p:nvSpPr>
        <p:spPr>
          <a:xfrm>
            <a:off x="915466" y="1276857"/>
            <a:ext cx="4097778" cy="1255325"/>
          </a:xfrm>
        </p:spPr>
        <p:txBody>
          <a:bodyPr/>
          <a:lstStyle>
            <a:lvl1pPr>
              <a:defRPr lang="en-US" sz="3600" b="1" kern="1200" cap="all" baseline="0" smtClean="0">
                <a:solidFill>
                  <a:schemeClr val="bg1"/>
                </a:solidFill>
                <a:latin typeface="+mj-lt"/>
                <a:ea typeface="+mj-ea"/>
                <a:cs typeface="+mj-cs"/>
              </a:defRPr>
            </a:lvl1pPr>
          </a:lstStyle>
          <a:p>
            <a:r>
              <a:rPr lang="en-US" noProof="0"/>
              <a:t>Click to edit Master title style</a:t>
            </a:r>
          </a:p>
        </p:txBody>
      </p:sp>
      <p:sp>
        <p:nvSpPr>
          <p:cNvPr id="24" name="Text Placeholder 2">
            <a:extLst>
              <a:ext uri="{FF2B5EF4-FFF2-40B4-BE49-F238E27FC236}">
                <a16:creationId xmlns:a16="http://schemas.microsoft.com/office/drawing/2014/main" id="{E3405997-7AE2-4C6E-8A7D-735F58A49D12}"/>
              </a:ext>
            </a:extLst>
          </p:cNvPr>
          <p:cNvSpPr>
            <a:spLocks noGrp="1"/>
          </p:cNvSpPr>
          <p:nvPr>
            <p:ph type="body" idx="1" hasCustomPrompt="1"/>
          </p:nvPr>
        </p:nvSpPr>
        <p:spPr>
          <a:xfrm>
            <a:off x="915467" y="2620651"/>
            <a:ext cx="4097778" cy="1933681"/>
          </a:xfrm>
        </p:spPr>
        <p:txBody>
          <a:bodyPr vert="horz" lIns="91440" tIns="45720" rIns="91440" bIns="45720" rtlCol="0">
            <a:noAutofit/>
          </a:bodyPr>
          <a:lstStyle>
            <a:lvl1pPr>
              <a:defRPr lang="en-US" b="0" cap="none" baseline="0">
                <a:solidFill>
                  <a:schemeClr val="bg1"/>
                </a:solidFill>
              </a:defRPr>
            </a:lvl1pPr>
          </a:lstStyle>
          <a:p>
            <a:pPr lvl="0">
              <a:lnSpc>
                <a:spcPct val="100000"/>
              </a:lnSpc>
              <a:buNone/>
            </a:pPr>
            <a:r>
              <a:rPr lang="en-US" noProof="0"/>
              <a:t>Edit Master text styles</a:t>
            </a:r>
          </a:p>
        </p:txBody>
      </p:sp>
    </p:spTree>
    <p:extLst>
      <p:ext uri="{BB962C8B-B14F-4D97-AF65-F5344CB8AC3E}">
        <p14:creationId xmlns:p14="http://schemas.microsoft.com/office/powerpoint/2010/main" val="293153372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5" name="Text Placeholder 2">
            <a:extLst>
              <a:ext uri="{FF2B5EF4-FFF2-40B4-BE49-F238E27FC236}">
                <a16:creationId xmlns:a16="http://schemas.microsoft.com/office/drawing/2014/main" id="{BE814D66-F00F-0D44-AD03-889FEE787EB6}"/>
              </a:ext>
            </a:extLst>
          </p:cNvPr>
          <p:cNvSpPr>
            <a:spLocks noGrp="1"/>
          </p:cNvSpPr>
          <p:nvPr>
            <p:ph idx="1" hasCustomPrompt="1"/>
          </p:nvPr>
        </p:nvSpPr>
        <p:spPr>
          <a:xfrm>
            <a:off x="363416"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2">
            <a:extLst>
              <a:ext uri="{FF2B5EF4-FFF2-40B4-BE49-F238E27FC236}">
                <a16:creationId xmlns:a16="http://schemas.microsoft.com/office/drawing/2014/main" id="{FF9B990C-5D9C-4A90-AC73-5889BC9F755C}"/>
              </a:ext>
            </a:extLst>
          </p:cNvPr>
          <p:cNvSpPr>
            <a:spLocks noGrp="1"/>
          </p:cNvSpPr>
          <p:nvPr>
            <p:ph type="title" hasCustomPrompt="1"/>
          </p:nvPr>
        </p:nvSpPr>
        <p:spPr/>
        <p:txBody>
          <a:bodyPr/>
          <a:lstStyle/>
          <a:p>
            <a:r>
              <a:rPr lang="en-US" noProof="0"/>
              <a:t>CLICK TO EDIT MASTER TITLE STYLE</a:t>
            </a:r>
          </a:p>
        </p:txBody>
      </p:sp>
      <p:sp>
        <p:nvSpPr>
          <p:cNvPr id="16" name="Oval 15">
            <a:extLst>
              <a:ext uri="{FF2B5EF4-FFF2-40B4-BE49-F238E27FC236}">
                <a16:creationId xmlns:a16="http://schemas.microsoft.com/office/drawing/2014/main" id="{44C85E5F-5B5E-48CC-8469-0263621D91FF}"/>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Oval 16">
            <a:extLst>
              <a:ext uri="{FF2B5EF4-FFF2-40B4-BE49-F238E27FC236}">
                <a16:creationId xmlns:a16="http://schemas.microsoft.com/office/drawing/2014/main" id="{7EE4E300-6C8E-4262-BE1D-587C7B70E7ED}"/>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2897028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6" name="Content Placeholder 3">
            <a:extLst>
              <a:ext uri="{FF2B5EF4-FFF2-40B4-BE49-F238E27FC236}">
                <a16:creationId xmlns:a16="http://schemas.microsoft.com/office/drawing/2014/main" id="{6E22FA8C-3243-4716-A6BD-F37D6058FB43}"/>
              </a:ext>
            </a:extLst>
          </p:cNvPr>
          <p:cNvSpPr>
            <a:spLocks noGrp="1"/>
          </p:cNvSpPr>
          <p:nvPr>
            <p:ph sz="half" idx="2" hasCustomPrompt="1"/>
          </p:nvPr>
        </p:nvSpPr>
        <p:spPr>
          <a:xfrm>
            <a:off x="6347381" y="1825625"/>
            <a:ext cx="5481203"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Placeholder 2">
            <a:extLst>
              <a:ext uri="{FF2B5EF4-FFF2-40B4-BE49-F238E27FC236}">
                <a16:creationId xmlns:a16="http://schemas.microsoft.com/office/drawing/2014/main" id="{8ABE3FD8-339C-4F75-876F-8347ADE67E94}"/>
              </a:ext>
            </a:extLst>
          </p:cNvPr>
          <p:cNvSpPr>
            <a:spLocks noGrp="1"/>
          </p:cNvSpPr>
          <p:nvPr>
            <p:ph sz="half" idx="1" hasCustomPrompt="1"/>
          </p:nvPr>
        </p:nvSpPr>
        <p:spPr>
          <a:xfrm>
            <a:off x="363416" y="1825625"/>
            <a:ext cx="5481203"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Oval 24">
            <a:extLst>
              <a:ext uri="{FF2B5EF4-FFF2-40B4-BE49-F238E27FC236}">
                <a16:creationId xmlns:a16="http://schemas.microsoft.com/office/drawing/2014/main" id="{E72FB389-5EA4-4084-B7A2-A4D0A43561F6}"/>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F7783FE1-0115-4345-89B2-C073569FB8EE}"/>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7366146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27" name="Text Placeholder 4">
            <a:extLst>
              <a:ext uri="{FF2B5EF4-FFF2-40B4-BE49-F238E27FC236}">
                <a16:creationId xmlns:a16="http://schemas.microsoft.com/office/drawing/2014/main" id="{9F73353B-C50B-4A8A-87CF-657C1EB8940F}"/>
              </a:ext>
            </a:extLst>
          </p:cNvPr>
          <p:cNvSpPr>
            <a:spLocks noGrp="1"/>
          </p:cNvSpPr>
          <p:nvPr>
            <p:ph type="body" sz="quarter" idx="3" hasCustomPrompt="1"/>
          </p:nvPr>
        </p:nvSpPr>
        <p:spPr>
          <a:xfrm>
            <a:off x="6347380" y="1681163"/>
            <a:ext cx="548120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8" name="Content Placeholder 5">
            <a:extLst>
              <a:ext uri="{FF2B5EF4-FFF2-40B4-BE49-F238E27FC236}">
                <a16:creationId xmlns:a16="http://schemas.microsoft.com/office/drawing/2014/main" id="{5EFF7F5E-3221-4390-9B17-D1944365BF12}"/>
              </a:ext>
            </a:extLst>
          </p:cNvPr>
          <p:cNvSpPr>
            <a:spLocks noGrp="1"/>
          </p:cNvSpPr>
          <p:nvPr>
            <p:ph sz="quarter" idx="4" hasCustomPrompt="1"/>
          </p:nvPr>
        </p:nvSpPr>
        <p:spPr>
          <a:xfrm>
            <a:off x="6347379" y="2586215"/>
            <a:ext cx="5481203"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Text Placeholder 2">
            <a:extLst>
              <a:ext uri="{FF2B5EF4-FFF2-40B4-BE49-F238E27FC236}">
                <a16:creationId xmlns:a16="http://schemas.microsoft.com/office/drawing/2014/main" id="{9506B516-77C1-431B-A8A5-68FA5D4B6D7E}"/>
              </a:ext>
            </a:extLst>
          </p:cNvPr>
          <p:cNvSpPr>
            <a:spLocks noGrp="1"/>
          </p:cNvSpPr>
          <p:nvPr>
            <p:ph type="body" idx="1" hasCustomPrompt="1"/>
          </p:nvPr>
        </p:nvSpPr>
        <p:spPr>
          <a:xfrm>
            <a:off x="363416" y="1681163"/>
            <a:ext cx="54812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30" name="Content Placeholder 3">
            <a:extLst>
              <a:ext uri="{FF2B5EF4-FFF2-40B4-BE49-F238E27FC236}">
                <a16:creationId xmlns:a16="http://schemas.microsoft.com/office/drawing/2014/main" id="{860F1452-CAB9-4154-ADCC-9245E71D0D2C}"/>
              </a:ext>
            </a:extLst>
          </p:cNvPr>
          <p:cNvSpPr>
            <a:spLocks noGrp="1"/>
          </p:cNvSpPr>
          <p:nvPr>
            <p:ph sz="half" idx="2" hasCustomPrompt="1"/>
          </p:nvPr>
        </p:nvSpPr>
        <p:spPr>
          <a:xfrm>
            <a:off x="363416" y="2586215"/>
            <a:ext cx="5481202"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 name="Oval 30">
            <a:extLst>
              <a:ext uri="{FF2B5EF4-FFF2-40B4-BE49-F238E27FC236}">
                <a16:creationId xmlns:a16="http://schemas.microsoft.com/office/drawing/2014/main" id="{12892DF4-5A8A-4E92-A425-210ABE570F58}"/>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Oval 31">
            <a:extLst>
              <a:ext uri="{FF2B5EF4-FFF2-40B4-BE49-F238E27FC236}">
                <a16:creationId xmlns:a16="http://schemas.microsoft.com/office/drawing/2014/main" id="{99AE2680-A46C-4B06-9ED9-53E617C1F174}"/>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5527855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831850"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5351690" y="3748188"/>
            <a:ext cx="1488621"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65844635-8274-49B1-BBEC-354A0872E526}"/>
              </a:ext>
            </a:extLst>
          </p:cNvPr>
          <p:cNvGrpSpPr/>
          <p:nvPr userDrawn="1"/>
        </p:nvGrpSpPr>
        <p:grpSpPr>
          <a:xfrm>
            <a:off x="5721601" y="4594679"/>
            <a:ext cx="748798" cy="134113"/>
            <a:chOff x="4827813" y="2534636"/>
            <a:chExt cx="996651" cy="178504"/>
          </a:xfrm>
        </p:grpSpPr>
        <p:sp>
          <p:nvSpPr>
            <p:cNvPr id="19" name="Oval 18">
              <a:extLst>
                <a:ext uri="{FF2B5EF4-FFF2-40B4-BE49-F238E27FC236}">
                  <a16:creationId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Oval 21">
              <a:extLst>
                <a:ext uri="{FF2B5EF4-FFF2-40B4-BE49-F238E27FC236}">
                  <a16:creationId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3" name="Text Placeholder 3">
            <a:extLst>
              <a:ext uri="{FF2B5EF4-FFF2-40B4-BE49-F238E27FC236}">
                <a16:creationId xmlns:a16="http://schemas.microsoft.com/office/drawing/2014/main" id="{86E0573A-023B-4D1C-8224-56A5D0DDF379}"/>
              </a:ext>
            </a:extLst>
          </p:cNvPr>
          <p:cNvSpPr>
            <a:spLocks noGrp="1"/>
          </p:cNvSpPr>
          <p:nvPr>
            <p:ph type="body" sz="half" idx="2" hasCustomPrompt="1"/>
          </p:nvPr>
        </p:nvSpPr>
        <p:spPr>
          <a:xfrm>
            <a:off x="839788" y="4839679"/>
            <a:ext cx="10507662" cy="1305379"/>
          </a:xfrm>
        </p:spPr>
        <p:txBody>
          <a:bodyPr vert="horz" lIns="91440" tIns="45720" rIns="91440" bIns="45720" rtlCol="0">
            <a:noAutofit/>
          </a:bodyPr>
          <a:lstStyle>
            <a:lvl1pPr marL="0" indent="0" algn="ctr">
              <a:buNone/>
              <a:defRPr lang="en-US" b="0" cap="none" baseline="0"/>
            </a:lvl1pPr>
          </a:lstStyle>
          <a:p>
            <a:pPr marL="228600" lvl="0" indent="-228600" algn="ctr">
              <a:lnSpc>
                <a:spcPct val="100000"/>
              </a:lnSpc>
            </a:pPr>
            <a:r>
              <a:rPr lang="en-US" noProof="0"/>
              <a:t>Edit Master text styles</a:t>
            </a:r>
          </a:p>
        </p:txBody>
      </p:sp>
      <p:sp>
        <p:nvSpPr>
          <p:cNvPr id="15" name="Picture Placeholder 2">
            <a:extLst>
              <a:ext uri="{FF2B5EF4-FFF2-40B4-BE49-F238E27FC236}">
                <a16:creationId xmlns:a16="http://schemas.microsoft.com/office/drawing/2014/main" id="{12087456-C0E8-4AA6-81E8-996CEC037E57}"/>
              </a:ext>
            </a:extLst>
          </p:cNvPr>
          <p:cNvSpPr>
            <a:spLocks noGrp="1"/>
          </p:cNvSpPr>
          <p:nvPr>
            <p:ph type="pic" idx="1"/>
          </p:nvPr>
        </p:nvSpPr>
        <p:spPr>
          <a:xfrm>
            <a:off x="0" y="1"/>
            <a:ext cx="12192000" cy="3713017"/>
          </a:xfrm>
          <a:solidFill>
            <a:schemeClr val="bg1">
              <a:lumMod val="85000"/>
            </a:schemeClr>
          </a:solidFill>
        </p:spPr>
        <p:txBody>
          <a:bodyPr vert="horz" lIns="91440" tIns="45720" rIns="91440" bIns="45720" rtlCol="0" anchor="ctr">
            <a:normAutofit/>
          </a:bodyPr>
          <a:lstStyle>
            <a:lvl1pPr>
              <a:defRPr lang="en-US" sz="2000" dirty="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182119214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hasCustomPrompt="1"/>
          </p:nvPr>
        </p:nvSpPr>
        <p:spPr>
          <a:xfrm>
            <a:off x="363416" y="246186"/>
            <a:ext cx="3206261" cy="1037492"/>
          </a:xfrm>
        </p:spPr>
        <p:txBody>
          <a:bodyPr lIns="0" tIns="0" rIns="0" bIns="0" anchor="b">
            <a:noAutofit/>
          </a:bodyPr>
          <a:lstStyle>
            <a:lvl1pPr>
              <a:defRPr sz="3200" b="1" cap="all" baseline="0"/>
            </a:lvl1pPr>
          </a:lstStyle>
          <a:p>
            <a:r>
              <a:rPr lang="en-US" noProof="0"/>
              <a:t>Title here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6" name="Group 5">
            <a:extLst>
              <a:ext uri="{FF2B5EF4-FFF2-40B4-BE49-F238E27FC236}">
                <a16:creationId xmlns:a16="http://schemas.microsoft.com/office/drawing/2014/main" id="{A6A27954-3A0E-430B-AD48-05A3F3278D70}"/>
              </a:ext>
            </a:extLst>
          </p:cNvPr>
          <p:cNvGrpSpPr/>
          <p:nvPr userDrawn="1"/>
        </p:nvGrpSpPr>
        <p:grpSpPr>
          <a:xfrm>
            <a:off x="-24056" y="1452564"/>
            <a:ext cx="3385227" cy="134113"/>
            <a:chOff x="-24055" y="1452565"/>
            <a:chExt cx="2374534" cy="0"/>
          </a:xfrm>
        </p:grpSpPr>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5" name="Oval 24">
            <a:extLst>
              <a:ext uri="{FF2B5EF4-FFF2-40B4-BE49-F238E27FC236}">
                <a16:creationId xmlns:a16="http://schemas.microsoft.com/office/drawing/2014/main" id="{3F366940-FB5E-4B76-8829-80C14F137B3A}"/>
              </a:ext>
            </a:extLst>
          </p:cNvPr>
          <p:cNvSpPr/>
          <p:nvPr userDrawn="1"/>
        </p:nvSpPr>
        <p:spPr>
          <a:xfrm>
            <a:off x="10251393"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75486FFB-46EF-4E74-BFFF-7ED054DB0D9C}"/>
              </a:ext>
            </a:extLst>
          </p:cNvPr>
          <p:cNvSpPr/>
          <p:nvPr userDrawn="1"/>
        </p:nvSpPr>
        <p:spPr>
          <a:xfrm>
            <a:off x="9932986" y="330754"/>
            <a:ext cx="1268186"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7" name="Group 26">
            <a:extLst>
              <a:ext uri="{FF2B5EF4-FFF2-40B4-BE49-F238E27FC236}">
                <a16:creationId xmlns:a16="http://schemas.microsoft.com/office/drawing/2014/main" id="{6D35CCD2-B73F-944C-B572-7FBFC7DE22E4}"/>
              </a:ext>
            </a:extLst>
          </p:cNvPr>
          <p:cNvGrpSpPr/>
          <p:nvPr userDrawn="1"/>
        </p:nvGrpSpPr>
        <p:grpSpPr>
          <a:xfrm>
            <a:off x="363416" y="421045"/>
            <a:ext cx="748798" cy="134113"/>
            <a:chOff x="4827813" y="2534636"/>
            <a:chExt cx="996651" cy="178504"/>
          </a:xfrm>
        </p:grpSpPr>
        <p:sp>
          <p:nvSpPr>
            <p:cNvPr id="28" name="Oval 27">
              <a:extLst>
                <a:ext uri="{FF2B5EF4-FFF2-40B4-BE49-F238E27FC236}">
                  <a16:creationId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Oval 34">
              <a:extLst>
                <a:ext uri="{FF2B5EF4-FFF2-40B4-BE49-F238E27FC236}">
                  <a16:creationId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Oval 36">
              <a:extLst>
                <a:ext uri="{FF2B5EF4-FFF2-40B4-BE49-F238E27FC236}">
                  <a16:creationId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30" name="Text Placeholder 3">
            <a:extLst>
              <a:ext uri="{FF2B5EF4-FFF2-40B4-BE49-F238E27FC236}">
                <a16:creationId xmlns:a16="http://schemas.microsoft.com/office/drawing/2014/main" id="{1B247C0B-04BA-4D5C-A41D-AEA60217241B}"/>
              </a:ext>
            </a:extLst>
          </p:cNvPr>
          <p:cNvSpPr>
            <a:spLocks noGrp="1"/>
          </p:cNvSpPr>
          <p:nvPr>
            <p:ph type="body" sz="half" idx="2" hasCustomPrompt="1"/>
          </p:nvPr>
        </p:nvSpPr>
        <p:spPr>
          <a:xfrm>
            <a:off x="363416" y="2057400"/>
            <a:ext cx="3206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31" name="Content Placeholder 2">
            <a:extLst>
              <a:ext uri="{FF2B5EF4-FFF2-40B4-BE49-F238E27FC236}">
                <a16:creationId xmlns:a16="http://schemas.microsoft.com/office/drawing/2014/main" id="{194C619D-34F6-4A29-857A-D76007218728}"/>
              </a:ext>
            </a:extLst>
          </p:cNvPr>
          <p:cNvSpPr>
            <a:spLocks noGrp="1"/>
          </p:cNvSpPr>
          <p:nvPr>
            <p:ph idx="1" hasCustomPrompt="1"/>
          </p:nvPr>
        </p:nvSpPr>
        <p:spPr>
          <a:xfrm>
            <a:off x="3888084" y="246187"/>
            <a:ext cx="7467304" cy="561486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9517590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3" name="Oval 12">
            <a:extLst>
              <a:ext uri="{FF2B5EF4-FFF2-40B4-BE49-F238E27FC236}">
                <a16:creationId xmlns:a16="http://schemas.microsoft.com/office/drawing/2014/main" id="{82D9D565-739D-4898-97BD-79EB8C7F91EC}"/>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620FADA3-E777-489C-976D-0B0C4FD31310}"/>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3651473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4" name="Group 3">
            <a:extLst>
              <a:ext uri="{FF2B5EF4-FFF2-40B4-BE49-F238E27FC236}">
                <a16:creationId xmlns:a16="http://schemas.microsoft.com/office/drawing/2014/main" id="{8DCE8039-0D05-4A75-878A-907B8D44B9E7}"/>
              </a:ext>
            </a:extLst>
          </p:cNvPr>
          <p:cNvGrpSpPr/>
          <p:nvPr userDrawn="1"/>
        </p:nvGrpSpPr>
        <p:grpSpPr>
          <a:xfrm>
            <a:off x="363416" y="421045"/>
            <a:ext cx="748798" cy="134113"/>
            <a:chOff x="4827813" y="2534636"/>
            <a:chExt cx="996651" cy="178504"/>
          </a:xfrm>
        </p:grpSpPr>
        <p:sp>
          <p:nvSpPr>
            <p:cNvPr id="5" name="Oval 4">
              <a:extLst>
                <a:ext uri="{FF2B5EF4-FFF2-40B4-BE49-F238E27FC236}">
                  <a16:creationId xmlns:a16="http://schemas.microsoft.com/office/drawing/2014/main" id="{C1402252-45E8-45B3-BA5E-DFA33A4547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Oval 5">
              <a:extLst>
                <a:ext uri="{FF2B5EF4-FFF2-40B4-BE49-F238E27FC236}">
                  <a16:creationId xmlns:a16="http://schemas.microsoft.com/office/drawing/2014/main" id="{1300C883-1ACE-4AF3-9875-792A769588D5}"/>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E75483D7-E612-43D2-9B0E-C69356C160DA}"/>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8" name="Oval 7">
              <a:extLst>
                <a:ext uri="{FF2B5EF4-FFF2-40B4-BE49-F238E27FC236}">
                  <a16:creationId xmlns:a16="http://schemas.microsoft.com/office/drawing/2014/main" id="{F279C5F2-4C7F-4470-A44F-E8AD69AC9FA0}"/>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387506116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0D79E1-5F46-41CA-85E7-44C2A6C62820}"/>
              </a:ext>
            </a:extLst>
          </p:cNvPr>
          <p:cNvSpPr>
            <a:spLocks noGrp="1"/>
          </p:cNvSpPr>
          <p:nvPr>
            <p:ph type="title"/>
          </p:nvPr>
        </p:nvSpPr>
        <p:spPr>
          <a:xfrm>
            <a:off x="363416" y="365125"/>
            <a:ext cx="11465168" cy="918553"/>
          </a:xfrm>
          <a:prstGeom prst="rect">
            <a:avLst/>
          </a:prstGeom>
        </p:spPr>
        <p:txBody>
          <a:bodyPr vert="horz" lIns="0" tIns="0" rIns="0" bIns="0" rtlCol="0" anchor="b">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D7B0B511-05FD-459E-AC79-A87540961FC1}"/>
              </a:ext>
            </a:extLst>
          </p:cNvPr>
          <p:cNvSpPr>
            <a:spLocks noGrp="1"/>
          </p:cNvSpPr>
          <p:nvPr>
            <p:ph type="body" idx="1"/>
          </p:nvPr>
        </p:nvSpPr>
        <p:spPr>
          <a:xfrm>
            <a:off x="363416"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FC32B635-1E22-483C-94B9-F587908DE6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6DB98321-594C-4030-A2B0-3492F77EE03E}"/>
              </a:ext>
            </a:extLst>
          </p:cNvPr>
          <p:cNvSpPr>
            <a:spLocks noGrp="1"/>
          </p:cNvSpPr>
          <p:nvPr>
            <p:ph type="sldNum" sz="quarter" idx="4"/>
          </p:nvPr>
        </p:nvSpPr>
        <p:spPr>
          <a:xfrm>
            <a:off x="9085384" y="6463207"/>
            <a:ext cx="2743200" cy="258268"/>
          </a:xfrm>
          <a:prstGeom prst="rect">
            <a:avLst/>
          </a:prstGeom>
        </p:spPr>
        <p:txBody>
          <a:bodyPr vert="horz" lIns="91440" tIns="45720" rIns="91440" bIns="45720" rtlCol="0" anchor="ctr"/>
          <a:lstStyle>
            <a:lvl1pPr algn="r">
              <a:defRPr sz="900">
                <a:solidFill>
                  <a:schemeClr val="accent3"/>
                </a:solidFill>
              </a:defRPr>
            </a:lvl1pPr>
          </a:lstStyle>
          <a:p>
            <a:fld id="{48BB047D-A6CD-43AB-96F0-683C726B586B}" type="slidenum">
              <a:rPr lang="en-US" noProof="0" smtClean="0"/>
              <a:pPr/>
              <a:t>‹#›</a:t>
            </a:fld>
            <a:endParaRPr lang="en-US" noProof="0" dirty="0"/>
          </a:p>
        </p:txBody>
      </p:sp>
    </p:spTree>
    <p:extLst>
      <p:ext uri="{BB962C8B-B14F-4D97-AF65-F5344CB8AC3E}">
        <p14:creationId xmlns:p14="http://schemas.microsoft.com/office/powerpoint/2010/main" val="2053652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51" r:id="rId4"/>
    <p:sldLayoutId id="2147483662" r:id="rId5"/>
    <p:sldLayoutId id="2147483660" r:id="rId6"/>
    <p:sldLayoutId id="2147483663" r:id="rId7"/>
    <p:sldLayoutId id="2147483667" r:id="rId8"/>
    <p:sldLayoutId id="2147483668" r:id="rId9"/>
    <p:sldLayoutId id="2147483666" r:id="rId10"/>
    <p:sldLayoutId id="2147483669" r:id="rId11"/>
    <p:sldLayoutId id="2147483670" r:id="rId12"/>
    <p:sldLayoutId id="2147483671" r:id="rId13"/>
    <p:sldLayoutId id="2147483672" r:id="rId14"/>
    <p:sldLayoutId id="2147483664" r:id="rId15"/>
    <p:sldLayoutId id="2147483665" r:id="rId16"/>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20.png"/><Relationship Id="rId1" Type="http://schemas.openxmlformats.org/officeDocument/2006/relationships/slideLayout" Target="../slideLayouts/slideLayout16.xml"/><Relationship Id="rId5" Type="http://schemas.microsoft.com/office/2007/relationships/hdphoto" Target="../media/hdphoto11.wdp"/><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20.png"/><Relationship Id="rId1" Type="http://schemas.openxmlformats.org/officeDocument/2006/relationships/slideLayout" Target="../slideLayouts/slideLayout16.xml"/><Relationship Id="rId5" Type="http://schemas.microsoft.com/office/2007/relationships/hdphoto" Target="../media/hdphoto12.wdp"/><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9.xml.rels><?xml version="1.0" encoding="UTF-8" standalone="yes"?>
<Relationships xmlns="http://schemas.openxmlformats.org/package/2006/relationships"><Relationship Id="rId3" Type="http://schemas.microsoft.com/office/2007/relationships/hdphoto" Target="../media/hdphoto20.wdp"/><Relationship Id="rId2" Type="http://schemas.openxmlformats.org/officeDocument/2006/relationships/image" Target="../media/image34.png"/><Relationship Id="rId1" Type="http://schemas.openxmlformats.org/officeDocument/2006/relationships/slideLayout" Target="../slideLayouts/slideLayout1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359CD-8DFF-4AF2-B957-630ED2A60E8D}"/>
              </a:ext>
            </a:extLst>
          </p:cNvPr>
          <p:cNvSpPr>
            <a:spLocks noGrp="1"/>
          </p:cNvSpPr>
          <p:nvPr>
            <p:ph type="ctrTitle"/>
          </p:nvPr>
        </p:nvSpPr>
        <p:spPr>
          <a:xfrm>
            <a:off x="4686300" y="2726872"/>
            <a:ext cx="7233557" cy="1263237"/>
          </a:xfrm>
        </p:spPr>
        <p:txBody>
          <a:bodyPr>
            <a:normAutofit fontScale="90000"/>
          </a:bodyPr>
          <a:lstStyle/>
          <a:p>
            <a:r>
              <a:rPr lang="en-US" sz="2200" dirty="0">
                <a:solidFill>
                  <a:srgbClr val="7030A0"/>
                </a:solidFill>
              </a:rPr>
              <a:t>LECTURE FIVE:</a:t>
            </a:r>
            <a:br>
              <a:rPr lang="en-US" dirty="0"/>
            </a:br>
            <a:r>
              <a:rPr lang="en-US" sz="4000" dirty="0"/>
              <a:t>television CAMERA AND </a:t>
            </a:r>
            <a:br>
              <a:rPr lang="en-US" sz="4000" dirty="0"/>
            </a:br>
            <a:r>
              <a:rPr lang="en-US" sz="4000" dirty="0"/>
              <a:t>PICTURE TUBES</a:t>
            </a:r>
            <a:endParaRPr lang="en-IN" sz="4000" dirty="0"/>
          </a:p>
        </p:txBody>
      </p:sp>
      <p:sp>
        <p:nvSpPr>
          <p:cNvPr id="8" name="Rectangle 7"/>
          <p:cNvSpPr/>
          <p:nvPr/>
        </p:nvSpPr>
        <p:spPr>
          <a:xfrm>
            <a:off x="4864989" y="211257"/>
            <a:ext cx="6876177" cy="769441"/>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lIns="91440" tIns="45720" rIns="91440" bIns="45720">
            <a:spAutoFit/>
          </a:bodyPr>
          <a:lstStyle/>
          <a:p>
            <a:pPr algn="ctr"/>
            <a:r>
              <a:rPr lang="en-US" sz="4400" b="1" cap="none" spc="0" dirty="0">
                <a:ln w="10160">
                  <a:solidFill>
                    <a:schemeClr val="accent5"/>
                  </a:solidFill>
                  <a:prstDash val="solid"/>
                </a:ln>
                <a:solidFill>
                  <a:schemeClr val="accent5"/>
                </a:solidFill>
                <a:effectLst>
                  <a:outerShdw blurRad="38100" dist="22860" dir="5400000" algn="tl" rotWithShape="0">
                    <a:srgbClr val="000000">
                      <a:alpha val="30000"/>
                    </a:srgbClr>
                  </a:outerShdw>
                </a:effectLst>
              </a:rPr>
              <a:t>ET 8105 – Television Systems</a:t>
            </a:r>
          </a:p>
        </p:txBody>
      </p:sp>
      <p:pic>
        <p:nvPicPr>
          <p:cNvPr id="6" name="Picture 5"/>
          <p:cNvPicPr>
            <a:picLocks noChangeAspect="1"/>
          </p:cNvPicPr>
          <p:nvPr/>
        </p:nvPicPr>
        <p:blipFill>
          <a:blip r:embed="rId3"/>
          <a:stretch>
            <a:fillRect/>
          </a:stretch>
        </p:blipFill>
        <p:spPr>
          <a:xfrm rot="5400000">
            <a:off x="-1421520" y="1629338"/>
            <a:ext cx="6853933" cy="3595255"/>
          </a:xfrm>
          <a:prstGeom prst="rect">
            <a:avLst/>
          </a:prstGeom>
          <a:ln>
            <a:noFill/>
          </a:ln>
          <a:effectLst>
            <a:softEdge rad="112500"/>
          </a:effectLst>
        </p:spPr>
      </p:pic>
    </p:spTree>
    <p:extLst>
      <p:ext uri="{BB962C8B-B14F-4D97-AF65-F5344CB8AC3E}">
        <p14:creationId xmlns:p14="http://schemas.microsoft.com/office/powerpoint/2010/main" val="2064406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0305" y="4646716"/>
            <a:ext cx="10515600" cy="823232"/>
          </a:xfrm>
        </p:spPr>
        <p:txBody>
          <a:bodyPr/>
          <a:lstStyle/>
          <a:p>
            <a:r>
              <a:rPr lang="en-US" dirty="0"/>
              <a:t>TELEVISION CAMERA TUBES</a:t>
            </a:r>
          </a:p>
        </p:txBody>
      </p:sp>
      <p:sp>
        <p:nvSpPr>
          <p:cNvPr id="4" name="Slide Number Placeholder 3"/>
          <p:cNvSpPr>
            <a:spLocks noGrp="1"/>
          </p:cNvSpPr>
          <p:nvPr>
            <p:ph type="sldNum" sz="quarter" idx="12"/>
          </p:nvPr>
        </p:nvSpPr>
        <p:spPr/>
        <p:txBody>
          <a:bodyPr/>
          <a:lstStyle/>
          <a:p>
            <a:fld id="{48BB047D-A6CD-43AB-96F0-683C726B586B}" type="slidenum">
              <a:rPr lang="en-US" noProof="0" smtClean="0"/>
              <a:pPr/>
              <a:t>2</a:t>
            </a:fld>
            <a:endParaRPr lang="en-US" noProof="0" dirty="0"/>
          </a:p>
        </p:txBody>
      </p:sp>
      <p:pic>
        <p:nvPicPr>
          <p:cNvPr id="1026" name="Picture 2" descr="New Television Camera Tu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068" y="41564"/>
            <a:ext cx="11108170" cy="438252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7" name="Rectangle 6"/>
          <p:cNvSpPr/>
          <p:nvPr/>
        </p:nvSpPr>
        <p:spPr>
          <a:xfrm>
            <a:off x="5340927" y="5469948"/>
            <a:ext cx="1662545" cy="4571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3091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a:t>
            </a:fld>
            <a:endParaRPr lang="en-US" noProof="0" dirty="0"/>
          </a:p>
        </p:txBody>
      </p:sp>
      <p:sp>
        <p:nvSpPr>
          <p:cNvPr id="3" name="Content Placeholder 2"/>
          <p:cNvSpPr>
            <a:spLocks noGrp="1"/>
          </p:cNvSpPr>
          <p:nvPr>
            <p:ph idx="1"/>
          </p:nvPr>
        </p:nvSpPr>
        <p:spPr>
          <a:xfrm>
            <a:off x="363416" y="1579418"/>
            <a:ext cx="11465168" cy="5133174"/>
          </a:xfrm>
        </p:spPr>
        <p:txBody>
          <a:bodyPr>
            <a:normAutofit/>
          </a:bodyPr>
          <a:lstStyle/>
          <a:p>
            <a:pPr algn="just"/>
            <a:r>
              <a:rPr lang="en-US" sz="2800" dirty="0">
                <a:latin typeface="Palatino Linotype" panose="02040502050505030304" pitchFamily="18" charset="0"/>
              </a:rPr>
              <a:t>A </a:t>
            </a:r>
            <a:r>
              <a:rPr lang="en-US" sz="2800" b="1" i="1" dirty="0">
                <a:solidFill>
                  <a:schemeClr val="accent1"/>
                </a:solidFill>
                <a:latin typeface="Palatino Linotype" panose="02040502050505030304" pitchFamily="18" charset="0"/>
              </a:rPr>
              <a:t>camera tube </a:t>
            </a:r>
            <a:r>
              <a:rPr lang="en-US" sz="2800" dirty="0">
                <a:latin typeface="Palatino Linotype" panose="02040502050505030304" pitchFamily="18" charset="0"/>
              </a:rPr>
              <a:t>is a transducer which converts variations of light intensity into variations of electric current or voltage (video signal). </a:t>
            </a:r>
          </a:p>
          <a:p>
            <a:pPr algn="just"/>
            <a:r>
              <a:rPr lang="en-US" sz="2800" dirty="0">
                <a:latin typeface="Palatino Linotype" panose="02040502050505030304" pitchFamily="18" charset="0"/>
              </a:rPr>
              <a:t>It is the eye of a television system.</a:t>
            </a:r>
          </a:p>
          <a:p>
            <a:pPr algn="just"/>
            <a:r>
              <a:rPr lang="en-US" sz="2800" dirty="0">
                <a:latin typeface="Palatino Linotype" panose="02040502050505030304" pitchFamily="18" charset="0"/>
              </a:rPr>
              <a:t>The essential requirements of a camera tube are as follows:</a:t>
            </a:r>
          </a:p>
          <a:p>
            <a:pPr marL="971550" lvl="1" indent="-514350" algn="just">
              <a:buFont typeface="+mj-lt"/>
              <a:buAutoNum type="arabicPeriod"/>
            </a:pPr>
            <a:r>
              <a:rPr lang="en-US" sz="2600" dirty="0">
                <a:latin typeface="Palatino Linotype" panose="02040502050505030304" pitchFamily="18" charset="0"/>
              </a:rPr>
              <a:t>Photosensitive target plate capable of converting an optical image into an electric charge image</a:t>
            </a:r>
          </a:p>
          <a:p>
            <a:pPr marL="971550" lvl="1" indent="-514350" algn="just">
              <a:buFont typeface="+mj-lt"/>
              <a:buAutoNum type="arabicPeriod"/>
            </a:pPr>
            <a:r>
              <a:rPr lang="en-US" sz="2600" dirty="0">
                <a:latin typeface="Palatino Linotype" panose="02040502050505030304" pitchFamily="18" charset="0"/>
              </a:rPr>
              <a:t>Storage of the charge at the points in the target till the time it is not </a:t>
            </a:r>
            <a:r>
              <a:rPr lang="en-US" sz="2600" dirty="0" err="1">
                <a:latin typeface="Palatino Linotype" panose="02040502050505030304" pitchFamily="18" charset="0"/>
              </a:rPr>
              <a:t>neutralised</a:t>
            </a:r>
            <a:r>
              <a:rPr lang="en-US" sz="2600" dirty="0">
                <a:latin typeface="Palatino Linotype" panose="02040502050505030304" pitchFamily="18" charset="0"/>
              </a:rPr>
              <a:t>. The charge should not get dissipated during this time. Hence the target plate should not be a conductor.</a:t>
            </a:r>
          </a:p>
          <a:p>
            <a:pPr marL="971550" lvl="1" indent="-514350" algn="just">
              <a:buFont typeface="+mj-lt"/>
              <a:buAutoNum type="arabicPeriod"/>
            </a:pPr>
            <a:r>
              <a:rPr lang="en-US" sz="2600" dirty="0" err="1">
                <a:latin typeface="Palatino Linotype" panose="02040502050505030304" pitchFamily="18" charset="0"/>
              </a:rPr>
              <a:t>Neutralisation</a:t>
            </a:r>
            <a:r>
              <a:rPr lang="en-US" sz="2600" dirty="0">
                <a:latin typeface="Palatino Linotype" panose="02040502050505030304" pitchFamily="18" charset="0"/>
              </a:rPr>
              <a:t> of the charge at every point of the target plate in quick succession by the scanning beam, causing current to flow through a load resistor</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Introduction</a:t>
            </a:r>
          </a:p>
        </p:txBody>
      </p:sp>
    </p:spTree>
    <p:extLst>
      <p:ext uri="{BB962C8B-B14F-4D97-AF65-F5344CB8AC3E}">
        <p14:creationId xmlns:p14="http://schemas.microsoft.com/office/powerpoint/2010/main" val="4189987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a:t>
            </a:fld>
            <a:endParaRPr lang="en-US" noProof="0" dirty="0"/>
          </a:p>
        </p:txBody>
      </p:sp>
      <p:sp>
        <p:nvSpPr>
          <p:cNvPr id="3" name="Content Placeholder 2"/>
          <p:cNvSpPr txBox="1">
            <a:spLocks/>
          </p:cNvSpPr>
          <p:nvPr/>
        </p:nvSpPr>
        <p:spPr>
          <a:xfrm>
            <a:off x="3422073" y="228601"/>
            <a:ext cx="8406511" cy="6483992"/>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Camera tubes can achieve the above requirements by using any of the following two methods: Photoemission and Photoconduction. </a:t>
            </a:r>
          </a:p>
          <a:p>
            <a:pPr algn="just"/>
            <a:r>
              <a:rPr lang="en-US" sz="2800" dirty="0">
                <a:latin typeface="Palatino Linotype" panose="02040502050505030304" pitchFamily="18" charset="0"/>
              </a:rPr>
              <a:t>These are described below.</a:t>
            </a:r>
          </a:p>
          <a:p>
            <a:pPr algn="just"/>
            <a:r>
              <a:rPr lang="en-US" sz="2800" b="1" dirty="0">
                <a:solidFill>
                  <a:schemeClr val="accent1"/>
                </a:solidFill>
                <a:latin typeface="Palatino Linotype" panose="02040502050505030304" pitchFamily="18" charset="0"/>
              </a:rPr>
              <a:t>Photoemission </a:t>
            </a:r>
          </a:p>
          <a:p>
            <a:pPr lvl="1" algn="just"/>
            <a:r>
              <a:rPr lang="en-US" sz="2600" dirty="0">
                <a:latin typeface="Palatino Linotype" panose="02040502050505030304" pitchFamily="18" charset="0"/>
              </a:rPr>
              <a:t>Light incident on a cathode makes electrons come out of it. </a:t>
            </a:r>
          </a:p>
          <a:p>
            <a:pPr lvl="1" algn="just"/>
            <a:r>
              <a:rPr lang="en-US" sz="2600" dirty="0">
                <a:latin typeface="Palatino Linotype" panose="02040502050505030304" pitchFamily="18" charset="0"/>
              </a:rPr>
              <a:t>The energy of the electrons emitted from any point on the cathode is proportional to the intensity of the light falling on that point.</a:t>
            </a:r>
          </a:p>
          <a:p>
            <a:pPr lvl="1" algn="just"/>
            <a:r>
              <a:rPr lang="en-US" sz="2600" dirty="0">
                <a:latin typeface="Palatino Linotype" panose="02040502050505030304" pitchFamily="18" charset="0"/>
              </a:rPr>
              <a:t>In this method, electrons move out of the cathode in the form of straight  beams and fall on a silicon target. </a:t>
            </a:r>
          </a:p>
          <a:p>
            <a:pPr lvl="1" algn="just"/>
            <a:r>
              <a:rPr lang="en-US" sz="2600" dirty="0">
                <a:latin typeface="Palatino Linotype" panose="02040502050505030304" pitchFamily="18" charset="0"/>
              </a:rPr>
              <a:t>They form a charge image on the target plate made of glass by causing secondary emission.</a:t>
            </a:r>
          </a:p>
        </p:txBody>
      </p:sp>
      <p:pic>
        <p:nvPicPr>
          <p:cNvPr id="4" name="Picture 3"/>
          <p:cNvPicPr>
            <a:picLocks noChangeAspect="1"/>
          </p:cNvPicPr>
          <p:nvPr/>
        </p:nvPicPr>
        <p:blipFill>
          <a:blip r:embed="rId2"/>
          <a:stretch>
            <a:fillRect/>
          </a:stretch>
        </p:blipFill>
        <p:spPr>
          <a:xfrm>
            <a:off x="187038" y="1174179"/>
            <a:ext cx="3107442" cy="3626423"/>
          </a:xfrm>
          <a:prstGeom prst="rect">
            <a:avLst/>
          </a:prstGeom>
          <a:ln>
            <a:noFill/>
          </a:ln>
          <a:effectLst>
            <a:outerShdw blurRad="292100" dist="139700" dir="2700000" algn="tl" rotWithShape="0">
              <a:srgbClr val="333333">
                <a:alpha val="65000"/>
              </a:srgbClr>
            </a:outerShdw>
          </a:effectLst>
        </p:spPr>
      </p:pic>
      <p:sp>
        <p:nvSpPr>
          <p:cNvPr id="5" name="Rectangle 4"/>
          <p:cNvSpPr/>
          <p:nvPr/>
        </p:nvSpPr>
        <p:spPr>
          <a:xfrm>
            <a:off x="463291" y="5010788"/>
            <a:ext cx="2347117" cy="461665"/>
          </a:xfrm>
          <a:prstGeom prst="rect">
            <a:avLst/>
          </a:prstGeom>
          <a:solidFill>
            <a:schemeClr val="accent4"/>
          </a:solidFill>
        </p:spPr>
        <p:txBody>
          <a:bodyPr wrap="none">
            <a:spAutoFit/>
          </a:bodyPr>
          <a:lstStyle/>
          <a:p>
            <a:pPr algn="just"/>
            <a:r>
              <a:rPr lang="en-US" sz="2400" b="1" dirty="0">
                <a:latin typeface="Palatino Linotype" panose="02040502050505030304" pitchFamily="18" charset="0"/>
              </a:rPr>
              <a:t>Photoemission </a:t>
            </a:r>
          </a:p>
        </p:txBody>
      </p:sp>
    </p:spTree>
    <p:extLst>
      <p:ext uri="{BB962C8B-B14F-4D97-AF65-F5344CB8AC3E}">
        <p14:creationId xmlns:p14="http://schemas.microsoft.com/office/powerpoint/2010/main" val="3133338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a:t>
            </a:fld>
            <a:endParaRPr lang="en-US" noProof="0" dirty="0"/>
          </a:p>
        </p:txBody>
      </p:sp>
      <p:sp>
        <p:nvSpPr>
          <p:cNvPr id="3" name="Content Placeholder 2"/>
          <p:cNvSpPr txBox="1">
            <a:spLocks/>
          </p:cNvSpPr>
          <p:nvPr/>
        </p:nvSpPr>
        <p:spPr>
          <a:xfrm>
            <a:off x="3719945" y="658866"/>
            <a:ext cx="7963166" cy="4987636"/>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Photoconduction</a:t>
            </a:r>
          </a:p>
          <a:p>
            <a:pPr lvl="1" algn="just"/>
            <a:r>
              <a:rPr lang="en-US" sz="2600" dirty="0">
                <a:latin typeface="Palatino Linotype" panose="02040502050505030304" pitchFamily="18" charset="0"/>
              </a:rPr>
              <a:t>The incident light creates free electrons inside a semiconductor material.</a:t>
            </a:r>
          </a:p>
          <a:p>
            <a:pPr lvl="1" algn="just"/>
            <a:r>
              <a:rPr lang="en-US" sz="2600" dirty="0">
                <a:latin typeface="Palatino Linotype" panose="02040502050505030304" pitchFamily="18" charset="0"/>
              </a:rPr>
              <a:t>Number of free electrons created at any point is proportional to the intensity of light at that point.</a:t>
            </a:r>
          </a:p>
          <a:p>
            <a:pPr algn="just"/>
            <a:r>
              <a:rPr lang="en-US" sz="2800" dirty="0">
                <a:latin typeface="Palatino Linotype" panose="02040502050505030304" pitchFamily="18" charset="0"/>
              </a:rPr>
              <a:t>Image orthicon camera is based on the principle of photoemission.</a:t>
            </a:r>
          </a:p>
          <a:p>
            <a:pPr algn="just"/>
            <a:r>
              <a:rPr lang="en-US" sz="2800" dirty="0" err="1">
                <a:latin typeface="Palatino Linotype" panose="02040502050505030304" pitchFamily="18" charset="0"/>
              </a:rPr>
              <a:t>Vidicon</a:t>
            </a:r>
            <a:r>
              <a:rPr lang="en-US" sz="2800" dirty="0">
                <a:latin typeface="Palatino Linotype" panose="02040502050505030304" pitchFamily="18" charset="0"/>
              </a:rPr>
              <a:t> camera tube and its modified versions, </a:t>
            </a:r>
            <a:r>
              <a:rPr lang="en-US" sz="2800" dirty="0" err="1">
                <a:latin typeface="Palatino Linotype" panose="02040502050505030304" pitchFamily="18" charset="0"/>
              </a:rPr>
              <a:t>plumbicon</a:t>
            </a:r>
            <a:r>
              <a:rPr lang="en-US" sz="2800" dirty="0">
                <a:latin typeface="Palatino Linotype" panose="02040502050505030304" pitchFamily="18" charset="0"/>
              </a:rPr>
              <a:t>, </a:t>
            </a:r>
            <a:r>
              <a:rPr lang="en-US" sz="2800" dirty="0" err="1">
                <a:latin typeface="Palatino Linotype" panose="02040502050505030304" pitchFamily="18" charset="0"/>
              </a:rPr>
              <a:t>saticon</a:t>
            </a:r>
            <a:r>
              <a:rPr lang="en-US" sz="2800" dirty="0">
                <a:latin typeface="Palatino Linotype" panose="02040502050505030304" pitchFamily="18" charset="0"/>
              </a:rPr>
              <a:t>, etc. are based on the principle of photoconduction.</a:t>
            </a:r>
          </a:p>
          <a:p>
            <a:pPr lvl="1" algn="just"/>
            <a:endParaRPr lang="en-US" sz="2600" dirty="0">
              <a:latin typeface="Palatino Linotype" panose="02040502050505030304" pitchFamily="18" charset="0"/>
            </a:endParaRPr>
          </a:p>
        </p:txBody>
      </p:sp>
      <p:sp>
        <p:nvSpPr>
          <p:cNvPr id="5" name="Rectangle 4"/>
          <p:cNvSpPr/>
          <p:nvPr/>
        </p:nvSpPr>
        <p:spPr>
          <a:xfrm>
            <a:off x="310205" y="5010788"/>
            <a:ext cx="2653290" cy="461665"/>
          </a:xfrm>
          <a:prstGeom prst="rect">
            <a:avLst/>
          </a:prstGeom>
          <a:solidFill>
            <a:schemeClr val="accent4"/>
          </a:solidFill>
        </p:spPr>
        <p:txBody>
          <a:bodyPr wrap="none">
            <a:spAutoFit/>
          </a:bodyPr>
          <a:lstStyle/>
          <a:p>
            <a:pPr algn="just"/>
            <a:r>
              <a:rPr lang="en-US" sz="2400" b="1" dirty="0">
                <a:latin typeface="Palatino Linotype" panose="02040502050505030304" pitchFamily="18" charset="0"/>
              </a:rPr>
              <a:t>Photoconduction </a:t>
            </a:r>
          </a:p>
        </p:txBody>
      </p:sp>
      <p:pic>
        <p:nvPicPr>
          <p:cNvPr id="6" name="Picture 5"/>
          <p:cNvPicPr>
            <a:picLocks noChangeAspect="1"/>
          </p:cNvPicPr>
          <p:nvPr/>
        </p:nvPicPr>
        <p:blipFill>
          <a:blip r:embed="rId2"/>
          <a:stretch>
            <a:fillRect/>
          </a:stretch>
        </p:blipFill>
        <p:spPr>
          <a:xfrm>
            <a:off x="205599" y="658866"/>
            <a:ext cx="2862499" cy="420429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31907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a:t>
            </a:fld>
            <a:endParaRPr lang="en-US" noProof="0" dirty="0"/>
          </a:p>
        </p:txBody>
      </p:sp>
      <p:sp>
        <p:nvSpPr>
          <p:cNvPr id="3" name="Content Placeholder 2"/>
          <p:cNvSpPr>
            <a:spLocks noGrp="1"/>
          </p:cNvSpPr>
          <p:nvPr>
            <p:ph idx="1"/>
          </p:nvPr>
        </p:nvSpPr>
        <p:spPr>
          <a:xfrm>
            <a:off x="363415" y="1825625"/>
            <a:ext cx="11627693" cy="4351338"/>
          </a:xfrm>
        </p:spPr>
        <p:txBody>
          <a:bodyPr>
            <a:normAutofit/>
          </a:bodyPr>
          <a:lstStyle/>
          <a:p>
            <a:pPr algn="just"/>
            <a:r>
              <a:rPr lang="en-US" sz="2800" b="1" dirty="0">
                <a:solidFill>
                  <a:schemeClr val="accent1"/>
                </a:solidFill>
                <a:latin typeface="Palatino Linotype" panose="02040502050505030304" pitchFamily="18" charset="0"/>
              </a:rPr>
              <a:t>Sensitivity</a:t>
            </a:r>
            <a:r>
              <a:rPr lang="en-US" sz="2800" dirty="0">
                <a:latin typeface="Palatino Linotype" panose="02040502050505030304" pitchFamily="18" charset="0"/>
              </a:rPr>
              <a:t> - it is represented in micro-amperes per lumen. </a:t>
            </a:r>
          </a:p>
          <a:p>
            <a:pPr lvl="1" algn="just"/>
            <a:r>
              <a:rPr lang="en-US" sz="2600" dirty="0">
                <a:latin typeface="Palatino Linotype" panose="02040502050505030304" pitchFamily="18" charset="0"/>
              </a:rPr>
              <a:t>It is about 1000 A for image orthicon, 125 </a:t>
            </a:r>
            <a:r>
              <a:rPr lang="el-GR" sz="2600" dirty="0">
                <a:latin typeface="Palatino Linotype" panose="02040502050505030304" pitchFamily="18" charset="0"/>
              </a:rPr>
              <a:t>μ</a:t>
            </a:r>
            <a:r>
              <a:rPr lang="en-US" sz="2600" dirty="0">
                <a:latin typeface="Palatino Linotype" panose="02040502050505030304" pitchFamily="18" charset="0"/>
              </a:rPr>
              <a:t>A for </a:t>
            </a:r>
            <a:r>
              <a:rPr lang="en-US" sz="2600" dirty="0" err="1">
                <a:latin typeface="Palatino Linotype" panose="02040502050505030304" pitchFamily="18" charset="0"/>
              </a:rPr>
              <a:t>vidicon</a:t>
            </a:r>
            <a:r>
              <a:rPr lang="en-US" sz="2600" dirty="0">
                <a:latin typeface="Palatino Linotype" panose="02040502050505030304" pitchFamily="18" charset="0"/>
              </a:rPr>
              <a:t> and 400 </a:t>
            </a:r>
            <a:r>
              <a:rPr lang="el-GR" sz="2600" dirty="0">
                <a:latin typeface="Palatino Linotype" panose="02040502050505030304" pitchFamily="18" charset="0"/>
              </a:rPr>
              <a:t>μ</a:t>
            </a:r>
            <a:r>
              <a:rPr lang="en-US" sz="2600" dirty="0">
                <a:latin typeface="Palatino Linotype" panose="02040502050505030304" pitchFamily="18" charset="0"/>
              </a:rPr>
              <a:t>A for </a:t>
            </a:r>
            <a:r>
              <a:rPr lang="en-US" sz="2600" dirty="0" err="1">
                <a:latin typeface="Palatino Linotype" panose="02040502050505030304" pitchFamily="18" charset="0"/>
              </a:rPr>
              <a:t>plumbicon</a:t>
            </a:r>
            <a:r>
              <a:rPr lang="en-US" sz="2600" dirty="0">
                <a:latin typeface="Palatino Linotype" panose="02040502050505030304" pitchFamily="18" charset="0"/>
              </a:rPr>
              <a:t>. </a:t>
            </a:r>
          </a:p>
          <a:p>
            <a:pPr lvl="1" algn="just"/>
            <a:r>
              <a:rPr lang="en-US" sz="2600" dirty="0">
                <a:latin typeface="Palatino Linotype" panose="02040502050505030304" pitchFamily="18" charset="0"/>
              </a:rPr>
              <a:t>It is measured with a standard source of light, a tungsten lamp at 2870 K.</a:t>
            </a:r>
          </a:p>
          <a:p>
            <a:pPr algn="just"/>
            <a:r>
              <a:rPr lang="en-US" sz="2800" b="1" dirty="0">
                <a:solidFill>
                  <a:schemeClr val="accent1"/>
                </a:solidFill>
                <a:latin typeface="Palatino Linotype" panose="02040502050505030304" pitchFamily="18" charset="0"/>
              </a:rPr>
              <a:t>Self-noise and Signal to Noise Ratio </a:t>
            </a:r>
            <a:r>
              <a:rPr lang="en-US" sz="2800" dirty="0">
                <a:latin typeface="Palatino Linotype" panose="02040502050505030304" pitchFamily="18" charset="0"/>
              </a:rPr>
              <a:t>- An electronic device produces noise due to randomness in the number and velocity of electrons. </a:t>
            </a:r>
          </a:p>
          <a:p>
            <a:pPr lvl="1" algn="just"/>
            <a:r>
              <a:rPr lang="en-US" sz="2600" dirty="0">
                <a:latin typeface="Palatino Linotype" panose="02040502050505030304" pitchFamily="18" charset="0"/>
              </a:rPr>
              <a:t>This randomness, called </a:t>
            </a:r>
            <a:r>
              <a:rPr lang="en-US" sz="2600" b="1" i="1" dirty="0">
                <a:latin typeface="Palatino Linotype" panose="02040502050505030304" pitchFamily="18" charset="0"/>
              </a:rPr>
              <a:t>self-noise</a:t>
            </a:r>
            <a:r>
              <a:rPr lang="en-US" sz="2600" dirty="0">
                <a:latin typeface="Palatino Linotype" panose="02040502050505030304" pitchFamily="18" charset="0"/>
              </a:rPr>
              <a:t>, is superimposed over the steady current due to device function and it should be as low as possible. </a:t>
            </a:r>
          </a:p>
          <a:p>
            <a:pPr lvl="1" algn="just"/>
            <a:r>
              <a:rPr lang="en-US" sz="2600" dirty="0">
                <a:latin typeface="Palatino Linotype" panose="02040502050505030304" pitchFamily="18" charset="0"/>
              </a:rPr>
              <a:t>It is measured in terms of </a:t>
            </a:r>
            <a:r>
              <a:rPr lang="en-US" sz="2600" b="1" i="1" dirty="0">
                <a:latin typeface="Palatino Linotype" panose="02040502050505030304" pitchFamily="18" charset="0"/>
              </a:rPr>
              <a:t>signal to noise ratio </a:t>
            </a:r>
            <a:r>
              <a:rPr lang="en-US" sz="2600" dirty="0">
                <a:latin typeface="Palatino Linotype" panose="02040502050505030304" pitchFamily="18" charset="0"/>
              </a:rPr>
              <a:t>which is of the </a:t>
            </a:r>
            <a:r>
              <a:rPr lang="en-US" sz="2600" dirty="0" err="1">
                <a:latin typeface="Palatino Linotype" panose="02040502050505030304" pitchFamily="18" charset="0"/>
              </a:rPr>
              <a:t>orderof</a:t>
            </a:r>
            <a:r>
              <a:rPr lang="en-US" sz="2600" dirty="0">
                <a:latin typeface="Palatino Linotype" panose="02040502050505030304" pitchFamily="18" charset="0"/>
              </a:rPr>
              <a:t> </a:t>
            </a:r>
            <a:r>
              <a:rPr lang="en-US" sz="2600" b="1" dirty="0">
                <a:latin typeface="Palatino Linotype" panose="02040502050505030304" pitchFamily="18" charset="0"/>
              </a:rPr>
              <a:t>40 dB </a:t>
            </a:r>
            <a:r>
              <a:rPr lang="en-US" sz="2600" dirty="0">
                <a:latin typeface="Palatino Linotype" panose="02040502050505030304" pitchFamily="18" charset="0"/>
              </a:rPr>
              <a:t>for image orthicon and </a:t>
            </a:r>
            <a:r>
              <a:rPr lang="en-US" sz="2600" b="1" dirty="0">
                <a:latin typeface="Palatino Linotype" panose="02040502050505030304" pitchFamily="18" charset="0"/>
              </a:rPr>
              <a:t>5-10 dB </a:t>
            </a:r>
            <a:r>
              <a:rPr lang="en-US" sz="2600" dirty="0">
                <a:latin typeface="Palatino Linotype" panose="02040502050505030304" pitchFamily="18" charset="0"/>
              </a:rPr>
              <a:t>higher for photoemission </a:t>
            </a:r>
            <a:r>
              <a:rPr lang="en-US" sz="2600" dirty="0" err="1">
                <a:latin typeface="Palatino Linotype" panose="02040502050505030304" pitchFamily="18" charset="0"/>
              </a:rPr>
              <a:t>typetubes</a:t>
            </a:r>
            <a:r>
              <a:rPr lang="en-US" sz="2600" dirty="0">
                <a:latin typeface="Palatino Linotype" panose="02040502050505030304" pitchFamily="18" charset="0"/>
              </a:rPr>
              <a:t>.</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General Characteristics of a Camera Tube</a:t>
            </a:r>
          </a:p>
        </p:txBody>
      </p:sp>
    </p:spTree>
    <p:extLst>
      <p:ext uri="{BB962C8B-B14F-4D97-AF65-F5344CB8AC3E}">
        <p14:creationId xmlns:p14="http://schemas.microsoft.com/office/powerpoint/2010/main" val="1001521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a:t>
            </a:fld>
            <a:endParaRPr lang="en-US" noProof="0" dirty="0"/>
          </a:p>
        </p:txBody>
      </p:sp>
      <p:sp>
        <p:nvSpPr>
          <p:cNvPr id="3" name="Content Placeholder 2"/>
          <p:cNvSpPr txBox="1">
            <a:spLocks/>
          </p:cNvSpPr>
          <p:nvPr/>
        </p:nvSpPr>
        <p:spPr>
          <a:xfrm>
            <a:off x="363416" y="768927"/>
            <a:ext cx="11465168" cy="5694280"/>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Resolution</a:t>
            </a:r>
            <a:r>
              <a:rPr lang="en-US" sz="2800" dirty="0">
                <a:latin typeface="Palatino Linotype" panose="02040502050505030304" pitchFamily="18" charset="0"/>
              </a:rPr>
              <a:t> – It depends upon the size of the spot formed by the scanning beam on the target plate. </a:t>
            </a:r>
          </a:p>
          <a:p>
            <a:pPr lvl="1" algn="just"/>
            <a:r>
              <a:rPr lang="en-US" sz="2600" dirty="0">
                <a:latin typeface="Palatino Linotype" panose="02040502050505030304" pitchFamily="18" charset="0"/>
              </a:rPr>
              <a:t>The diameter of the spot is called </a:t>
            </a:r>
            <a:r>
              <a:rPr lang="en-US" sz="2600" b="1" i="1" dirty="0">
                <a:latin typeface="Palatino Linotype" panose="02040502050505030304" pitchFamily="18" charset="0"/>
              </a:rPr>
              <a:t>aperture</a:t>
            </a:r>
            <a:r>
              <a:rPr lang="en-US" sz="2600" dirty="0">
                <a:latin typeface="Palatino Linotype" panose="02040502050505030304" pitchFamily="18" charset="0"/>
              </a:rPr>
              <a:t> </a:t>
            </a:r>
            <a:r>
              <a:rPr lang="en-US" sz="2800" dirty="0">
                <a:latin typeface="Palatino Linotype" panose="02040502050505030304" pitchFamily="18" charset="0"/>
              </a:rPr>
              <a:t>which puts a limit to the resolution.</a:t>
            </a:r>
          </a:p>
          <a:p>
            <a:pPr lvl="1" algn="just"/>
            <a:r>
              <a:rPr lang="en-US" sz="2400" dirty="0">
                <a:latin typeface="Palatino Linotype" panose="02040502050505030304" pitchFamily="18" charset="0"/>
              </a:rPr>
              <a:t>Resolution is usually expressed in terms of percentage of pixels visible distinctly for 400 active scanning lines.</a:t>
            </a:r>
          </a:p>
          <a:p>
            <a:pPr algn="just"/>
            <a:r>
              <a:rPr lang="en-US" sz="2800" b="1" dirty="0">
                <a:solidFill>
                  <a:schemeClr val="accent1"/>
                </a:solidFill>
                <a:latin typeface="Palatino Linotype" panose="02040502050505030304" pitchFamily="18" charset="0"/>
              </a:rPr>
              <a:t>Spectral Response </a:t>
            </a:r>
            <a:r>
              <a:rPr lang="en-US" sz="2800" dirty="0">
                <a:latin typeface="Palatino Linotype" panose="02040502050505030304" pitchFamily="18" charset="0"/>
              </a:rPr>
              <a:t>-  It denotes the output of a camera tube for the range of wavelengths of light. </a:t>
            </a:r>
          </a:p>
          <a:p>
            <a:pPr lvl="1" algn="just"/>
            <a:r>
              <a:rPr lang="en-US" sz="2600" dirty="0">
                <a:latin typeface="Palatino Linotype" panose="02040502050505030304" pitchFamily="18" charset="0"/>
              </a:rPr>
              <a:t>Ideally, the spectral response of a camera tube must be the same as the response of the eye. </a:t>
            </a:r>
          </a:p>
          <a:p>
            <a:pPr lvl="1" algn="just"/>
            <a:r>
              <a:rPr lang="en-US" sz="2600" dirty="0">
                <a:latin typeface="Palatino Linotype" panose="02040502050505030304" pitchFamily="18" charset="0"/>
              </a:rPr>
              <a:t>Although no camera tube can give an ideal result, a good camera tube gives the spectral response quite close to that of the eye in the visible spectrum. </a:t>
            </a:r>
          </a:p>
        </p:txBody>
      </p:sp>
    </p:spTree>
    <p:extLst>
      <p:ext uri="{BB962C8B-B14F-4D97-AF65-F5344CB8AC3E}">
        <p14:creationId xmlns:p14="http://schemas.microsoft.com/office/powerpoint/2010/main" val="2545472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a:t>
            </a:fld>
            <a:endParaRPr lang="en-US" noProof="0" dirty="0"/>
          </a:p>
        </p:txBody>
      </p:sp>
      <p:pic>
        <p:nvPicPr>
          <p:cNvPr id="3" name="Picture 2"/>
          <p:cNvPicPr>
            <a:picLocks noChangeAspect="1"/>
          </p:cNvPicPr>
          <p:nvPr/>
        </p:nvPicPr>
        <p:blipFill>
          <a:blip r:embed="rId2"/>
          <a:stretch>
            <a:fillRect/>
          </a:stretch>
        </p:blipFill>
        <p:spPr>
          <a:xfrm>
            <a:off x="485689" y="801263"/>
            <a:ext cx="6493611" cy="4976082"/>
          </a:xfrm>
          <a:prstGeom prst="rect">
            <a:avLst/>
          </a:prstGeom>
        </p:spPr>
      </p:pic>
      <p:sp>
        <p:nvSpPr>
          <p:cNvPr id="4" name="Rectangle 3"/>
          <p:cNvSpPr/>
          <p:nvPr/>
        </p:nvSpPr>
        <p:spPr>
          <a:xfrm>
            <a:off x="922834" y="5902037"/>
            <a:ext cx="6056466" cy="461665"/>
          </a:xfrm>
          <a:prstGeom prst="rect">
            <a:avLst/>
          </a:prstGeom>
          <a:solidFill>
            <a:schemeClr val="accent4"/>
          </a:solidFill>
        </p:spPr>
        <p:txBody>
          <a:bodyPr wrap="none">
            <a:spAutoFit/>
          </a:bodyPr>
          <a:lstStyle/>
          <a:p>
            <a:r>
              <a:rPr lang="en-US" sz="2400" b="1" dirty="0">
                <a:latin typeface="Palatino Linotype" panose="02040502050505030304" pitchFamily="18" charset="0"/>
              </a:rPr>
              <a:t>Spectral response of various camera tubes</a:t>
            </a:r>
          </a:p>
        </p:txBody>
      </p:sp>
      <p:sp>
        <p:nvSpPr>
          <p:cNvPr id="5" name="Rectangle 4"/>
          <p:cNvSpPr/>
          <p:nvPr/>
        </p:nvSpPr>
        <p:spPr>
          <a:xfrm>
            <a:off x="8288746" y="1950476"/>
            <a:ext cx="3078907" cy="2677656"/>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ctr"/>
            <a:r>
              <a:rPr lang="en-US" sz="2400" b="1" dirty="0">
                <a:latin typeface="Palatino Linotype" panose="02040502050505030304" pitchFamily="18" charset="0"/>
              </a:rPr>
              <a:t>KEY</a:t>
            </a:r>
          </a:p>
          <a:p>
            <a:r>
              <a:rPr lang="en-US" sz="2400" b="1" dirty="0">
                <a:latin typeface="Palatino Linotype" panose="02040502050505030304" pitchFamily="18" charset="0"/>
              </a:rPr>
              <a:t>IO</a:t>
            </a:r>
            <a:r>
              <a:rPr lang="en-US" sz="2400" dirty="0">
                <a:latin typeface="Palatino Linotype" panose="02040502050505030304" pitchFamily="18" charset="0"/>
              </a:rPr>
              <a:t> - image orthicon, </a:t>
            </a:r>
          </a:p>
          <a:p>
            <a:r>
              <a:rPr lang="en-US" sz="2400" b="1" dirty="0">
                <a:latin typeface="Palatino Linotype" panose="02040502050505030304" pitchFamily="18" charset="0"/>
              </a:rPr>
              <a:t>V</a:t>
            </a:r>
            <a:r>
              <a:rPr lang="en-US" sz="2400" dirty="0">
                <a:latin typeface="Palatino Linotype" panose="02040502050505030304" pitchFamily="18" charset="0"/>
              </a:rPr>
              <a:t> - </a:t>
            </a:r>
            <a:r>
              <a:rPr lang="en-US" sz="2400" dirty="0" err="1">
                <a:latin typeface="Palatino Linotype" panose="02040502050505030304" pitchFamily="18" charset="0"/>
              </a:rPr>
              <a:t>vidicon</a:t>
            </a:r>
            <a:r>
              <a:rPr lang="en-US" sz="2400" dirty="0">
                <a:latin typeface="Palatino Linotype" panose="02040502050505030304" pitchFamily="18" charset="0"/>
              </a:rPr>
              <a:t>, </a:t>
            </a:r>
          </a:p>
          <a:p>
            <a:r>
              <a:rPr lang="en-US" sz="2400" b="1" dirty="0">
                <a:latin typeface="Palatino Linotype" panose="02040502050505030304" pitchFamily="18" charset="0"/>
              </a:rPr>
              <a:t>P</a:t>
            </a:r>
            <a:r>
              <a:rPr lang="en-US" sz="2400" dirty="0">
                <a:latin typeface="Palatino Linotype" panose="02040502050505030304" pitchFamily="18" charset="0"/>
              </a:rPr>
              <a:t> - </a:t>
            </a:r>
            <a:r>
              <a:rPr lang="en-US" sz="2400" dirty="0" err="1">
                <a:latin typeface="Palatino Linotype" panose="02040502050505030304" pitchFamily="18" charset="0"/>
              </a:rPr>
              <a:t>plumbicon</a:t>
            </a:r>
            <a:r>
              <a:rPr lang="en-US" sz="2400" dirty="0">
                <a:latin typeface="Palatino Linotype" panose="02040502050505030304" pitchFamily="18" charset="0"/>
              </a:rPr>
              <a:t>, </a:t>
            </a:r>
          </a:p>
          <a:p>
            <a:r>
              <a:rPr lang="en-US" sz="2400" b="1" dirty="0">
                <a:latin typeface="Palatino Linotype" panose="02040502050505030304" pitchFamily="18" charset="0"/>
              </a:rPr>
              <a:t>S</a:t>
            </a:r>
            <a:r>
              <a:rPr lang="en-US" sz="2400" dirty="0">
                <a:latin typeface="Palatino Linotype" panose="02040502050505030304" pitchFamily="18" charset="0"/>
              </a:rPr>
              <a:t> - </a:t>
            </a:r>
            <a:r>
              <a:rPr lang="en-US" sz="2400" dirty="0" err="1">
                <a:latin typeface="Palatino Linotype" panose="02040502050505030304" pitchFamily="18" charset="0"/>
              </a:rPr>
              <a:t>saticon</a:t>
            </a:r>
            <a:r>
              <a:rPr lang="en-US" sz="2400" dirty="0">
                <a:latin typeface="Palatino Linotype" panose="02040502050505030304" pitchFamily="18" charset="0"/>
              </a:rPr>
              <a:t>, </a:t>
            </a:r>
          </a:p>
          <a:p>
            <a:r>
              <a:rPr lang="en-US" sz="2400" b="1" dirty="0">
                <a:latin typeface="Palatino Linotype" panose="02040502050505030304" pitchFamily="18" charset="0"/>
              </a:rPr>
              <a:t>C</a:t>
            </a:r>
            <a:r>
              <a:rPr lang="en-US" sz="2400" dirty="0">
                <a:latin typeface="Palatino Linotype" panose="02040502050505030304" pitchFamily="18" charset="0"/>
              </a:rPr>
              <a:t> - </a:t>
            </a:r>
            <a:r>
              <a:rPr lang="en-US" sz="2400" dirty="0" err="1">
                <a:latin typeface="Palatino Linotype" panose="02040502050505030304" pitchFamily="18" charset="0"/>
              </a:rPr>
              <a:t>chalnicon</a:t>
            </a:r>
            <a:r>
              <a:rPr lang="en-US" sz="2400" dirty="0">
                <a:latin typeface="Palatino Linotype" panose="02040502050505030304" pitchFamily="18" charset="0"/>
              </a:rPr>
              <a:t> and </a:t>
            </a:r>
          </a:p>
          <a:p>
            <a:r>
              <a:rPr lang="en-US" sz="2400" b="1" dirty="0">
                <a:latin typeface="Palatino Linotype" panose="02040502050505030304" pitchFamily="18" charset="0"/>
              </a:rPr>
              <a:t>N</a:t>
            </a:r>
            <a:r>
              <a:rPr lang="en-US" sz="2400" dirty="0">
                <a:latin typeface="Palatino Linotype" panose="02040502050505030304" pitchFamily="18" charset="0"/>
              </a:rPr>
              <a:t> - </a:t>
            </a:r>
            <a:r>
              <a:rPr lang="en-US" sz="2400" dirty="0" err="1">
                <a:latin typeface="Palatino Linotype" panose="02040502050505030304" pitchFamily="18" charset="0"/>
              </a:rPr>
              <a:t>newvicon</a:t>
            </a:r>
            <a:r>
              <a:rPr lang="en-US" sz="2400" dirty="0">
                <a:latin typeface="Palatino Linotype" panose="02040502050505030304" pitchFamily="18" charset="0"/>
              </a:rPr>
              <a:t>.</a:t>
            </a:r>
          </a:p>
        </p:txBody>
      </p:sp>
    </p:spTree>
    <p:extLst>
      <p:ext uri="{BB962C8B-B14F-4D97-AF65-F5344CB8AC3E}">
        <p14:creationId xmlns:p14="http://schemas.microsoft.com/office/powerpoint/2010/main" val="3310496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9</a:t>
            </a:fld>
            <a:endParaRPr lang="en-US" noProof="0" dirty="0"/>
          </a:p>
        </p:txBody>
      </p:sp>
      <p:sp>
        <p:nvSpPr>
          <p:cNvPr id="3" name="Content Placeholder 2"/>
          <p:cNvSpPr txBox="1">
            <a:spLocks/>
          </p:cNvSpPr>
          <p:nvPr/>
        </p:nvSpPr>
        <p:spPr>
          <a:xfrm>
            <a:off x="363416" y="768927"/>
            <a:ext cx="11465168" cy="5694280"/>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Contrast</a:t>
            </a:r>
            <a:r>
              <a:rPr lang="en-US" sz="2800" dirty="0">
                <a:latin typeface="Palatino Linotype" panose="02040502050505030304" pitchFamily="18" charset="0"/>
              </a:rPr>
              <a:t> – The ratio of the output signal for white and the output signal for black is called contrast for a camera tube.</a:t>
            </a:r>
          </a:p>
          <a:p>
            <a:pPr algn="just"/>
            <a:r>
              <a:rPr lang="en-US" sz="2800" b="1" dirty="0">
                <a:solidFill>
                  <a:schemeClr val="accent1"/>
                </a:solidFill>
                <a:latin typeface="Palatino Linotype" panose="02040502050505030304" pitchFamily="18" charset="0"/>
              </a:rPr>
              <a:t>Image lag </a:t>
            </a:r>
            <a:r>
              <a:rPr lang="en-US" sz="2800" dirty="0">
                <a:latin typeface="Palatino Linotype" panose="02040502050505030304" pitchFamily="18" charset="0"/>
              </a:rPr>
              <a:t>- When the light intensity is too high, all the electrons released by the beam are not able to leave the target, and a fraction of these free electrons is left behind, resulting in slow fading of the image. </a:t>
            </a:r>
          </a:p>
          <a:p>
            <a:pPr lvl="1" algn="just"/>
            <a:r>
              <a:rPr lang="en-US" sz="2600" dirty="0">
                <a:latin typeface="Palatino Linotype" panose="02040502050505030304" pitchFamily="18" charset="0"/>
              </a:rPr>
              <a:t>It is measured by measuring residual signal current after 60 </a:t>
            </a:r>
            <a:r>
              <a:rPr lang="en-US" sz="2600" dirty="0" err="1">
                <a:latin typeface="Palatino Linotype" panose="02040502050505030304" pitchFamily="18" charset="0"/>
              </a:rPr>
              <a:t>ms.</a:t>
            </a:r>
            <a:endParaRPr lang="en-US" sz="2600" dirty="0">
              <a:latin typeface="Palatino Linotype" panose="02040502050505030304" pitchFamily="18" charset="0"/>
            </a:endParaRPr>
          </a:p>
          <a:p>
            <a:pPr lvl="1" algn="just"/>
            <a:r>
              <a:rPr lang="en-US" sz="2600" dirty="0">
                <a:latin typeface="Palatino Linotype" panose="02040502050505030304" pitchFamily="18" charset="0"/>
              </a:rPr>
              <a:t>When a person in the scene comes in front of a table, the table may be seen through the body of the person as if the person’s body were transparent.</a:t>
            </a:r>
          </a:p>
          <a:p>
            <a:pPr lvl="1" algn="just"/>
            <a:r>
              <a:rPr lang="en-US" sz="2600" dirty="0">
                <a:latin typeface="Palatino Linotype" panose="02040502050505030304" pitchFamily="18" charset="0"/>
              </a:rPr>
              <a:t>In less severe cases, a bright moving object may show a tail or a smear.</a:t>
            </a:r>
          </a:p>
          <a:p>
            <a:pPr lvl="1" algn="just"/>
            <a:r>
              <a:rPr lang="en-US" sz="2600" dirty="0">
                <a:latin typeface="Palatino Linotype" panose="02040502050505030304" pitchFamily="18" charset="0"/>
              </a:rPr>
              <a:t>Image lag is quite high in </a:t>
            </a:r>
            <a:r>
              <a:rPr lang="en-US" sz="2600" dirty="0" err="1">
                <a:latin typeface="Palatino Linotype" panose="02040502050505030304" pitchFamily="18" charset="0"/>
              </a:rPr>
              <a:t>vidicon</a:t>
            </a:r>
            <a:r>
              <a:rPr lang="en-US" sz="2600" dirty="0">
                <a:latin typeface="Palatino Linotype" panose="02040502050505030304" pitchFamily="18" charset="0"/>
              </a:rPr>
              <a:t> and negligibly small in other tubes.</a:t>
            </a:r>
          </a:p>
        </p:txBody>
      </p:sp>
    </p:spTree>
    <p:extLst>
      <p:ext uri="{BB962C8B-B14F-4D97-AF65-F5344CB8AC3E}">
        <p14:creationId xmlns:p14="http://schemas.microsoft.com/office/powerpoint/2010/main" val="3522253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10</a:t>
            </a:fld>
            <a:endParaRPr lang="en-US" noProof="0" dirty="0"/>
          </a:p>
        </p:txBody>
      </p:sp>
      <p:sp>
        <p:nvSpPr>
          <p:cNvPr id="3" name="Content Placeholder 2"/>
          <p:cNvSpPr txBox="1">
            <a:spLocks/>
          </p:cNvSpPr>
          <p:nvPr/>
        </p:nvSpPr>
        <p:spPr>
          <a:xfrm>
            <a:off x="363416" y="623454"/>
            <a:ext cx="11465168" cy="6234545"/>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Gamma Correction</a:t>
            </a:r>
            <a:r>
              <a:rPr lang="en-US" sz="2800" dirty="0">
                <a:latin typeface="Palatino Linotype" panose="02040502050505030304" pitchFamily="18" charset="0"/>
              </a:rPr>
              <a:t> – Gamma represents relationship between the light input and the signal output at the camera tube. </a:t>
            </a:r>
          </a:p>
          <a:p>
            <a:pPr lvl="1" algn="just"/>
            <a:r>
              <a:rPr lang="en-US" sz="2600" dirty="0">
                <a:latin typeface="Palatino Linotype" panose="02040502050505030304" pitchFamily="18" charset="0"/>
              </a:rPr>
              <a:t>When this relationship is linear, gamma is said to be unity. </a:t>
            </a:r>
          </a:p>
          <a:p>
            <a:pPr lvl="1" algn="just"/>
            <a:r>
              <a:rPr lang="en-US" sz="2600" dirty="0">
                <a:latin typeface="Palatino Linotype" panose="02040502050505030304" pitchFamily="18" charset="0"/>
              </a:rPr>
              <a:t>Non-linear relationship results in gamma being less.  </a:t>
            </a:r>
          </a:p>
          <a:p>
            <a:pPr lvl="1" algn="just"/>
            <a:r>
              <a:rPr lang="en-US" sz="2600" dirty="0">
                <a:latin typeface="Palatino Linotype" panose="02040502050505030304" pitchFamily="18" charset="0"/>
              </a:rPr>
              <a:t>The importance of gamma arises from the fact that the relationship between signal input and brightness output in the picture tube at the receiver is not linear.</a:t>
            </a:r>
          </a:p>
          <a:p>
            <a:pPr lvl="1" algn="just"/>
            <a:r>
              <a:rPr lang="en-US" sz="2600" dirty="0">
                <a:latin typeface="Palatino Linotype" panose="02040502050505030304" pitchFamily="18" charset="0"/>
              </a:rPr>
              <a:t>This non linear relationship has less effect in monochrome systems, but a very serious effect in colour systems.</a:t>
            </a:r>
          </a:p>
          <a:p>
            <a:pPr lvl="1" algn="just"/>
            <a:r>
              <a:rPr lang="en-US" sz="2600" dirty="0">
                <a:latin typeface="Palatino Linotype" panose="02040502050505030304" pitchFamily="18" charset="0"/>
              </a:rPr>
              <a:t>To solve this problem, gamma correction is done so as to modify the characteristic of the camera tube.</a:t>
            </a:r>
          </a:p>
          <a:p>
            <a:pPr algn="just"/>
            <a:r>
              <a:rPr lang="en-US" sz="2800" b="1" dirty="0">
                <a:solidFill>
                  <a:schemeClr val="accent1"/>
                </a:solidFill>
                <a:latin typeface="Palatino Linotype" panose="02040502050505030304" pitchFamily="18" charset="0"/>
              </a:rPr>
              <a:t>Halo Effect </a:t>
            </a:r>
            <a:r>
              <a:rPr lang="en-US" sz="2800" dirty="0">
                <a:latin typeface="Palatino Linotype" panose="02040502050505030304" pitchFamily="18" charset="0"/>
              </a:rPr>
              <a:t>- When a ring of brightness or darkness surrounding a picture element is formed, it is called </a:t>
            </a:r>
            <a:r>
              <a:rPr lang="en-US" sz="2800" b="1" i="1" dirty="0">
                <a:latin typeface="Palatino Linotype" panose="02040502050505030304" pitchFamily="18" charset="0"/>
              </a:rPr>
              <a:t>halo</a:t>
            </a:r>
            <a:r>
              <a:rPr lang="en-US" sz="2800" dirty="0">
                <a:latin typeface="Palatino Linotype" panose="02040502050505030304" pitchFamily="18" charset="0"/>
              </a:rPr>
              <a:t>.</a:t>
            </a:r>
          </a:p>
          <a:p>
            <a:pPr lvl="1" algn="just"/>
            <a:r>
              <a:rPr lang="en-US" sz="2600" dirty="0">
                <a:latin typeface="Palatino Linotype" panose="02040502050505030304" pitchFamily="18" charset="0"/>
              </a:rPr>
              <a:t>Image orthicon and </a:t>
            </a:r>
            <a:r>
              <a:rPr lang="en-US" sz="2600" dirty="0" err="1">
                <a:latin typeface="Palatino Linotype" panose="02040502050505030304" pitchFamily="18" charset="0"/>
              </a:rPr>
              <a:t>plumbicon</a:t>
            </a:r>
            <a:r>
              <a:rPr lang="en-US" sz="2600" dirty="0">
                <a:latin typeface="Palatino Linotype" panose="02040502050505030304" pitchFamily="18" charset="0"/>
              </a:rPr>
              <a:t> suffer from halo effect, whereas </a:t>
            </a:r>
            <a:r>
              <a:rPr lang="en-US" sz="2600" dirty="0" err="1">
                <a:latin typeface="Palatino Linotype" panose="02040502050505030304" pitchFamily="18" charset="0"/>
              </a:rPr>
              <a:t>vidicon</a:t>
            </a:r>
            <a:r>
              <a:rPr lang="en-US" sz="2600" dirty="0">
                <a:latin typeface="Palatino Linotype" panose="02040502050505030304" pitchFamily="18" charset="0"/>
              </a:rPr>
              <a:t> does not form haloes</a:t>
            </a:r>
          </a:p>
        </p:txBody>
      </p:sp>
    </p:spTree>
    <p:extLst>
      <p:ext uri="{BB962C8B-B14F-4D97-AF65-F5344CB8AC3E}">
        <p14:creationId xmlns:p14="http://schemas.microsoft.com/office/powerpoint/2010/main" val="2818130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11</a:t>
            </a:fld>
            <a:endParaRPr lang="en-US" noProof="0" dirty="0"/>
          </a:p>
        </p:txBody>
      </p:sp>
      <p:sp>
        <p:nvSpPr>
          <p:cNvPr id="3" name="Content Placeholder 2"/>
          <p:cNvSpPr txBox="1">
            <a:spLocks/>
          </p:cNvSpPr>
          <p:nvPr/>
        </p:nvSpPr>
        <p:spPr>
          <a:xfrm>
            <a:off x="363416" y="768927"/>
            <a:ext cx="11465168" cy="5694280"/>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Ghost Effect</a:t>
            </a:r>
            <a:r>
              <a:rPr lang="en-US" sz="2800" dirty="0">
                <a:latin typeface="Palatino Linotype" panose="02040502050505030304" pitchFamily="18" charset="0"/>
              </a:rPr>
              <a:t> – It is an image of the same polarity displaced from the high light. </a:t>
            </a:r>
          </a:p>
          <a:p>
            <a:pPr lvl="1" algn="just"/>
            <a:r>
              <a:rPr lang="en-US" sz="2600" dirty="0">
                <a:latin typeface="Palatino Linotype" panose="02040502050505030304" pitchFamily="18" charset="0"/>
              </a:rPr>
              <a:t>Ghost image becomes most obvious when a sharp contrast exists between dark background and very bright light. </a:t>
            </a:r>
          </a:p>
          <a:p>
            <a:pPr lvl="1" algn="just"/>
            <a:r>
              <a:rPr lang="en-US" sz="2600" dirty="0">
                <a:latin typeface="Palatino Linotype" panose="02040502050505030304" pitchFamily="18" charset="0"/>
              </a:rPr>
              <a:t>It occurs in image orthicon tube.</a:t>
            </a:r>
          </a:p>
          <a:p>
            <a:pPr algn="just"/>
            <a:r>
              <a:rPr lang="en-US" sz="2800" b="1" dirty="0">
                <a:solidFill>
                  <a:schemeClr val="accent1"/>
                </a:solidFill>
                <a:latin typeface="Palatino Linotype" panose="02040502050505030304" pitchFamily="18" charset="0"/>
              </a:rPr>
              <a:t>Dark Current </a:t>
            </a:r>
            <a:r>
              <a:rPr lang="en-US" sz="2800" dirty="0">
                <a:latin typeface="Palatino Linotype" panose="02040502050505030304" pitchFamily="18" charset="0"/>
              </a:rPr>
              <a:t>- Even when no light falls on the target plate, there is some current in the output. </a:t>
            </a:r>
          </a:p>
          <a:p>
            <a:pPr lvl="1" algn="just"/>
            <a:r>
              <a:rPr lang="en-US" sz="2600" dirty="0">
                <a:latin typeface="Palatino Linotype" panose="02040502050505030304" pitchFamily="18" charset="0"/>
              </a:rPr>
              <a:t>It is called dark current, and is due to the availability of some free electrons at room temperature. </a:t>
            </a:r>
          </a:p>
          <a:p>
            <a:pPr lvl="1" algn="just"/>
            <a:r>
              <a:rPr lang="en-US" sz="2600" dirty="0">
                <a:latin typeface="Palatino Linotype" panose="02040502050505030304" pitchFamily="18" charset="0"/>
              </a:rPr>
              <a:t>Its value is in </a:t>
            </a:r>
            <a:r>
              <a:rPr lang="en-US" sz="2600" dirty="0" err="1">
                <a:latin typeface="Palatino Linotype" panose="02040502050505030304" pitchFamily="18" charset="0"/>
              </a:rPr>
              <a:t>nanoamperes</a:t>
            </a:r>
            <a:r>
              <a:rPr lang="en-US" sz="2600" dirty="0">
                <a:latin typeface="Palatino Linotype" panose="02040502050505030304" pitchFamily="18" charset="0"/>
              </a:rPr>
              <a:t>.</a:t>
            </a:r>
          </a:p>
        </p:txBody>
      </p:sp>
    </p:spTree>
    <p:extLst>
      <p:ext uri="{BB962C8B-B14F-4D97-AF65-F5344CB8AC3E}">
        <p14:creationId xmlns:p14="http://schemas.microsoft.com/office/powerpoint/2010/main" val="2670101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12</a:t>
            </a:fld>
            <a:endParaRPr lang="en-US" noProof="0" dirty="0"/>
          </a:p>
        </p:txBody>
      </p:sp>
      <p:sp>
        <p:nvSpPr>
          <p:cNvPr id="3" name="Content Placeholder 2"/>
          <p:cNvSpPr>
            <a:spLocks noGrp="1"/>
          </p:cNvSpPr>
          <p:nvPr>
            <p:ph idx="1"/>
          </p:nvPr>
        </p:nvSpPr>
        <p:spPr/>
        <p:txBody>
          <a:bodyPr>
            <a:normAutofit/>
          </a:bodyPr>
          <a:lstStyle/>
          <a:p>
            <a:pPr algn="just"/>
            <a:r>
              <a:rPr lang="en-US" sz="2800" dirty="0" err="1">
                <a:latin typeface="Palatino Linotype" panose="02040502050505030304" pitchFamily="18" charset="0"/>
              </a:rPr>
              <a:t>Vidicon</a:t>
            </a:r>
            <a:r>
              <a:rPr lang="en-US" sz="2800" dirty="0">
                <a:latin typeface="Palatino Linotype" panose="02040502050505030304" pitchFamily="18" charset="0"/>
              </a:rPr>
              <a:t> camera tube uses the principle of photoconduction. </a:t>
            </a:r>
          </a:p>
          <a:p>
            <a:pPr algn="just"/>
            <a:r>
              <a:rPr lang="en-US" sz="2800" dirty="0">
                <a:latin typeface="Palatino Linotype" panose="02040502050505030304" pitchFamily="18" charset="0"/>
              </a:rPr>
              <a:t>The </a:t>
            </a:r>
            <a:r>
              <a:rPr lang="en-US" sz="2800" dirty="0" err="1">
                <a:latin typeface="Palatino Linotype" panose="02040502050505030304" pitchFamily="18" charset="0"/>
              </a:rPr>
              <a:t>photosensitivetarget</a:t>
            </a:r>
            <a:r>
              <a:rPr lang="en-US" sz="2800" dirty="0">
                <a:latin typeface="Palatino Linotype" panose="02040502050505030304" pitchFamily="18" charset="0"/>
              </a:rPr>
              <a:t> is antimony </a:t>
            </a:r>
            <a:r>
              <a:rPr lang="en-US" sz="2800" dirty="0" err="1">
                <a:latin typeface="Palatino Linotype" panose="02040502050505030304" pitchFamily="18" charset="0"/>
              </a:rPr>
              <a:t>trisulphide</a:t>
            </a:r>
            <a:r>
              <a:rPr lang="en-US" sz="2800" dirty="0">
                <a:latin typeface="Palatino Linotype" panose="02040502050505030304" pitchFamily="18" charset="0"/>
              </a:rPr>
              <a:t> (a semiconductor). </a:t>
            </a:r>
          </a:p>
          <a:p>
            <a:pPr algn="just"/>
            <a:r>
              <a:rPr lang="en-US" sz="2800" dirty="0">
                <a:latin typeface="Palatino Linotype" panose="02040502050505030304" pitchFamily="18" charset="0"/>
              </a:rPr>
              <a:t>When light falls on it, the number of free electrons created at any point is directly proportional to the intensity of light falling on that point. </a:t>
            </a:r>
          </a:p>
          <a:p>
            <a:pPr algn="just"/>
            <a:r>
              <a:rPr lang="en-US" sz="2800" dirty="0">
                <a:latin typeface="Palatino Linotype" panose="02040502050505030304" pitchFamily="18" charset="0"/>
              </a:rPr>
              <a:t>Brighter the light, greater is the number of free electrons.</a:t>
            </a:r>
          </a:p>
          <a:p>
            <a:pPr algn="just"/>
            <a:r>
              <a:rPr lang="en-US" sz="2800" dirty="0">
                <a:latin typeface="Palatino Linotype" panose="02040502050505030304" pitchFamily="18" charset="0"/>
              </a:rPr>
              <a:t> These electrons are removed from the material by a positive voltage and hence it becomes positively charged.</a:t>
            </a:r>
          </a:p>
        </p:txBody>
      </p:sp>
      <p:sp>
        <p:nvSpPr>
          <p:cNvPr id="4" name="Title 3"/>
          <p:cNvSpPr>
            <a:spLocks noGrp="1"/>
          </p:cNvSpPr>
          <p:nvPr>
            <p:ph type="title"/>
          </p:nvPr>
        </p:nvSpPr>
        <p:spPr/>
        <p:txBody>
          <a:bodyPr>
            <a:normAutofit/>
          </a:bodyPr>
          <a:lstStyle/>
          <a:p>
            <a:r>
              <a:rPr lang="en-US" sz="3600" dirty="0" err="1">
                <a:latin typeface="Palatino Linotype" panose="02040502050505030304" pitchFamily="18" charset="0"/>
              </a:rPr>
              <a:t>Vidicon</a:t>
            </a:r>
            <a:r>
              <a:rPr lang="en-US" sz="3600" dirty="0">
                <a:latin typeface="Palatino Linotype" panose="02040502050505030304" pitchFamily="18" charset="0"/>
              </a:rPr>
              <a:t> Camera Tube</a:t>
            </a:r>
          </a:p>
        </p:txBody>
      </p:sp>
    </p:spTree>
    <p:extLst>
      <p:ext uri="{BB962C8B-B14F-4D97-AF65-F5344CB8AC3E}">
        <p14:creationId xmlns:p14="http://schemas.microsoft.com/office/powerpoint/2010/main" val="2747641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13</a:t>
            </a:fld>
            <a:endParaRPr lang="en-US" noProof="0" dirty="0"/>
          </a:p>
        </p:txBody>
      </p:sp>
      <p:sp>
        <p:nvSpPr>
          <p:cNvPr id="3" name="Content Placeholder 2"/>
          <p:cNvSpPr txBox="1">
            <a:spLocks/>
          </p:cNvSpPr>
          <p:nvPr/>
        </p:nvSpPr>
        <p:spPr>
          <a:xfrm>
            <a:off x="363416" y="810491"/>
            <a:ext cx="11465168" cy="5366472"/>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value of charge at any point on the target is proportional to the intensity of light at the corresponding point in the original scene. </a:t>
            </a:r>
          </a:p>
          <a:p>
            <a:pPr algn="just"/>
            <a:r>
              <a:rPr lang="en-US" sz="2800" dirty="0">
                <a:latin typeface="Palatino Linotype" panose="02040502050505030304" pitchFamily="18" charset="0"/>
              </a:rPr>
              <a:t>Thus a charge image of the picture is formed on the surface of the target.</a:t>
            </a:r>
          </a:p>
          <a:p>
            <a:pPr algn="just"/>
            <a:r>
              <a:rPr lang="en-US" sz="2800" dirty="0">
                <a:latin typeface="Palatino Linotype" panose="02040502050505030304" pitchFamily="18" charset="0"/>
              </a:rPr>
              <a:t>An electron beam produced by an electron gun of a cathode ray tube scans the charge image horizontally as well as vertically and </a:t>
            </a:r>
            <a:r>
              <a:rPr lang="en-US" sz="2800" dirty="0" err="1">
                <a:latin typeface="Palatino Linotype" panose="02040502050505030304" pitchFamily="18" charset="0"/>
              </a:rPr>
              <a:t>neutralises</a:t>
            </a:r>
            <a:r>
              <a:rPr lang="en-US" sz="2800" dirty="0">
                <a:latin typeface="Palatino Linotype" panose="02040502050505030304" pitchFamily="18" charset="0"/>
              </a:rPr>
              <a:t> the charge fully. </a:t>
            </a:r>
          </a:p>
          <a:p>
            <a:pPr algn="just"/>
            <a:r>
              <a:rPr lang="en-US" sz="2800" dirty="0">
                <a:latin typeface="Palatino Linotype" panose="02040502050505030304" pitchFamily="18" charset="0"/>
              </a:rPr>
              <a:t>The discharge current flows in a load resistor (not shown in the figure) through the conducting ring and video signal voltage is produced corresponding to the variation of light intensity in the </a:t>
            </a:r>
            <a:r>
              <a:rPr lang="en-US" sz="2800" dirty="0" err="1">
                <a:latin typeface="Palatino Linotype" panose="02040502050505030304" pitchFamily="18" charset="0"/>
              </a:rPr>
              <a:t>orignal</a:t>
            </a:r>
            <a:r>
              <a:rPr lang="en-US" sz="2800" dirty="0">
                <a:latin typeface="Palatino Linotype" panose="02040502050505030304" pitchFamily="18" charset="0"/>
              </a:rPr>
              <a:t> picture.</a:t>
            </a:r>
          </a:p>
        </p:txBody>
      </p:sp>
    </p:spTree>
    <p:extLst>
      <p:ext uri="{BB962C8B-B14F-4D97-AF65-F5344CB8AC3E}">
        <p14:creationId xmlns:p14="http://schemas.microsoft.com/office/powerpoint/2010/main" val="2750034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14</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981763" y="787407"/>
            <a:ext cx="10235771" cy="4927593"/>
          </a:xfrm>
          <a:prstGeom prst="rect">
            <a:avLst/>
          </a:prstGeom>
          <a:ln>
            <a:noFill/>
          </a:ln>
          <a:effectLst>
            <a:outerShdw blurRad="190500" algn="tl" rotWithShape="0">
              <a:srgbClr val="000000">
                <a:alpha val="70000"/>
              </a:srgbClr>
            </a:outerShdw>
          </a:effectLst>
        </p:spPr>
      </p:pic>
      <p:sp>
        <p:nvSpPr>
          <p:cNvPr id="4" name="Rectangle 3"/>
          <p:cNvSpPr/>
          <p:nvPr/>
        </p:nvSpPr>
        <p:spPr>
          <a:xfrm>
            <a:off x="3787413" y="5873264"/>
            <a:ext cx="4913333" cy="461665"/>
          </a:xfrm>
          <a:prstGeom prst="rect">
            <a:avLst/>
          </a:prstGeom>
          <a:solidFill>
            <a:schemeClr val="accent4"/>
          </a:solidFill>
        </p:spPr>
        <p:txBody>
          <a:bodyPr wrap="none">
            <a:spAutoFit/>
          </a:bodyPr>
          <a:lstStyle/>
          <a:p>
            <a:r>
              <a:rPr lang="en-US" sz="2400" b="1" dirty="0"/>
              <a:t>Construction of </a:t>
            </a:r>
            <a:r>
              <a:rPr lang="en-US" sz="2400" b="1" dirty="0" err="1"/>
              <a:t>Vidicon</a:t>
            </a:r>
            <a:r>
              <a:rPr lang="en-US" sz="2400" b="1" dirty="0"/>
              <a:t> Camera Tube</a:t>
            </a:r>
          </a:p>
        </p:txBody>
      </p:sp>
    </p:spTree>
    <p:extLst>
      <p:ext uri="{BB962C8B-B14F-4D97-AF65-F5344CB8AC3E}">
        <p14:creationId xmlns:p14="http://schemas.microsoft.com/office/powerpoint/2010/main" val="826570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15</a:t>
            </a:fld>
            <a:endParaRPr lang="en-US" noProof="0" dirty="0"/>
          </a:p>
        </p:txBody>
      </p:sp>
      <p:sp>
        <p:nvSpPr>
          <p:cNvPr id="3" name="Content Placeholder 2"/>
          <p:cNvSpPr txBox="1">
            <a:spLocks/>
          </p:cNvSpPr>
          <p:nvPr/>
        </p:nvSpPr>
        <p:spPr>
          <a:xfrm>
            <a:off x="363416" y="810491"/>
            <a:ext cx="11465168" cy="5366472"/>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err="1">
                <a:latin typeface="Palatino Linotype" panose="02040502050505030304" pitchFamily="18" charset="0"/>
              </a:rPr>
              <a:t>Neutralising</a:t>
            </a:r>
            <a:r>
              <a:rPr lang="en-US" sz="2800" dirty="0">
                <a:latin typeface="Palatino Linotype" panose="02040502050505030304" pitchFamily="18" charset="0"/>
              </a:rPr>
              <a:t> the deficiency of electrons results in an electric current through the load (about 50 kilo ohm)</a:t>
            </a:r>
          </a:p>
          <a:p>
            <a:pPr algn="just"/>
            <a:r>
              <a:rPr lang="en-US" sz="2800" dirty="0">
                <a:latin typeface="Palatino Linotype" panose="02040502050505030304" pitchFamily="18" charset="0"/>
              </a:rPr>
              <a:t>The electric circuit will be complete through the electron beam and cathode as shown in the next figure. </a:t>
            </a:r>
          </a:p>
          <a:p>
            <a:pPr algn="just"/>
            <a:r>
              <a:rPr lang="en-US" sz="2800" dirty="0">
                <a:latin typeface="Palatino Linotype" panose="02040502050505030304" pitchFamily="18" charset="0"/>
              </a:rPr>
              <a:t>Current at any spot of scanning will be proportional to the electrons deposited by the beam, which, in turn, will be proportional to the intensity of brightness. </a:t>
            </a:r>
          </a:p>
          <a:p>
            <a:pPr algn="just"/>
            <a:r>
              <a:rPr lang="en-US" sz="2800" dirty="0">
                <a:latin typeface="Palatino Linotype" panose="02040502050505030304" pitchFamily="18" charset="0"/>
              </a:rPr>
              <a:t>Thus output across the load resistor would be the video signal. </a:t>
            </a:r>
          </a:p>
          <a:p>
            <a:pPr algn="just"/>
            <a:r>
              <a:rPr lang="en-US" sz="2800" dirty="0">
                <a:latin typeface="Palatino Linotype" panose="02040502050505030304" pitchFamily="18" charset="0"/>
              </a:rPr>
              <a:t>Direction of current shown in the figure is the conventional </a:t>
            </a:r>
            <a:r>
              <a:rPr lang="en-US" sz="2800" dirty="0" err="1">
                <a:latin typeface="Palatino Linotype" panose="02040502050505030304" pitchFamily="18" charset="0"/>
              </a:rPr>
              <a:t>directionfrom</a:t>
            </a:r>
            <a:r>
              <a:rPr lang="en-US" sz="2800" dirty="0">
                <a:latin typeface="Palatino Linotype" panose="02040502050505030304" pitchFamily="18" charset="0"/>
              </a:rPr>
              <a:t> + </a:t>
            </a:r>
            <a:r>
              <a:rPr lang="en-US" sz="2800" dirty="0" err="1">
                <a:latin typeface="Palatino Linotype" panose="02040502050505030304" pitchFamily="18" charset="0"/>
              </a:rPr>
              <a:t>ve</a:t>
            </a:r>
            <a:r>
              <a:rPr lang="en-US" sz="2800" dirty="0">
                <a:latin typeface="Palatino Linotype" panose="02040502050505030304" pitchFamily="18" charset="0"/>
              </a:rPr>
              <a:t> to – </a:t>
            </a:r>
            <a:r>
              <a:rPr lang="en-US" sz="2800" dirty="0" err="1">
                <a:latin typeface="Palatino Linotype" panose="02040502050505030304" pitchFamily="18" charset="0"/>
              </a:rPr>
              <a:t>ve</a:t>
            </a:r>
            <a:r>
              <a:rPr lang="en-US" sz="2800" dirty="0">
                <a:latin typeface="Palatino Linotype" panose="02040502050505030304" pitchFamily="18" charset="0"/>
              </a:rPr>
              <a:t>. </a:t>
            </a:r>
          </a:p>
          <a:p>
            <a:pPr algn="just"/>
            <a:r>
              <a:rPr lang="en-US" sz="2800" dirty="0">
                <a:latin typeface="Palatino Linotype" panose="02040502050505030304" pitchFamily="18" charset="0"/>
              </a:rPr>
              <a:t>Electrons will move from cathode to the target.</a:t>
            </a:r>
          </a:p>
        </p:txBody>
      </p:sp>
    </p:spTree>
    <p:extLst>
      <p:ext uri="{BB962C8B-B14F-4D97-AF65-F5344CB8AC3E}">
        <p14:creationId xmlns:p14="http://schemas.microsoft.com/office/powerpoint/2010/main" val="2601096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16</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013374" y="477605"/>
            <a:ext cx="6400790" cy="4889493"/>
          </a:xfrm>
          <a:prstGeom prst="rect">
            <a:avLst/>
          </a:prstGeom>
          <a:ln>
            <a:noFill/>
          </a:ln>
          <a:effectLst>
            <a:outerShdw blurRad="292100" dist="139700" dir="2700000" algn="tl" rotWithShape="0">
              <a:srgbClr val="333333">
                <a:alpha val="65000"/>
              </a:srgbClr>
            </a:outerShdw>
          </a:effectLst>
        </p:spPr>
      </p:pic>
      <p:sp>
        <p:nvSpPr>
          <p:cNvPr id="4" name="Rectangle 3"/>
          <p:cNvSpPr/>
          <p:nvPr/>
        </p:nvSpPr>
        <p:spPr>
          <a:xfrm>
            <a:off x="4071996" y="5939987"/>
            <a:ext cx="4283545" cy="523220"/>
          </a:xfrm>
          <a:prstGeom prst="rect">
            <a:avLst/>
          </a:prstGeom>
          <a:solidFill>
            <a:schemeClr val="accent4"/>
          </a:solidFill>
        </p:spPr>
        <p:txBody>
          <a:bodyPr wrap="none">
            <a:spAutoFit/>
          </a:bodyPr>
          <a:lstStyle/>
          <a:p>
            <a:r>
              <a:rPr lang="en-US" sz="2800" b="1" dirty="0">
                <a:latin typeface="Palatino Linotype" panose="02040502050505030304" pitchFamily="18" charset="0"/>
              </a:rPr>
              <a:t>Electric circuit in </a:t>
            </a:r>
            <a:r>
              <a:rPr lang="en-US" sz="2800" b="1" dirty="0" err="1">
                <a:latin typeface="Palatino Linotype" panose="02040502050505030304" pitchFamily="18" charset="0"/>
              </a:rPr>
              <a:t>vidicon</a:t>
            </a:r>
            <a:endParaRPr lang="en-US" sz="2800" b="1" dirty="0">
              <a:latin typeface="Palatino Linotype" panose="02040502050505030304" pitchFamily="18" charset="0"/>
            </a:endParaRPr>
          </a:p>
        </p:txBody>
      </p:sp>
    </p:spTree>
    <p:extLst>
      <p:ext uri="{BB962C8B-B14F-4D97-AF65-F5344CB8AC3E}">
        <p14:creationId xmlns:p14="http://schemas.microsoft.com/office/powerpoint/2010/main" val="2075066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17</a:t>
            </a:fld>
            <a:endParaRPr lang="en-US" noProof="0" dirty="0"/>
          </a:p>
        </p:txBody>
      </p:sp>
      <p:sp>
        <p:nvSpPr>
          <p:cNvPr id="3" name="Content Placeholder 2"/>
          <p:cNvSpPr>
            <a:spLocks noGrp="1"/>
          </p:cNvSpPr>
          <p:nvPr>
            <p:ph idx="1"/>
          </p:nvPr>
        </p:nvSpPr>
        <p:spPr/>
        <p:txBody>
          <a:bodyPr>
            <a:normAutofit/>
          </a:bodyPr>
          <a:lstStyle/>
          <a:p>
            <a:pPr marL="514350" indent="-514350">
              <a:buFont typeface="+mj-lt"/>
              <a:buAutoNum type="arabicParenR"/>
            </a:pPr>
            <a:r>
              <a:rPr lang="en-US" sz="2800" dirty="0">
                <a:latin typeface="Palatino Linotype" panose="02040502050505030304" pitchFamily="18" charset="0"/>
              </a:rPr>
              <a:t>Light and hence portable.</a:t>
            </a:r>
          </a:p>
          <a:p>
            <a:pPr marL="514350" indent="-514350">
              <a:buFont typeface="+mj-lt"/>
              <a:buAutoNum type="arabicParenR"/>
            </a:pPr>
            <a:r>
              <a:rPr lang="en-US" sz="2800" dirty="0">
                <a:latin typeface="Palatino Linotype" panose="02040502050505030304" pitchFamily="18" charset="0"/>
              </a:rPr>
              <a:t>Signal to noise ratio better than image orthicon.</a:t>
            </a:r>
          </a:p>
          <a:p>
            <a:pPr marL="514350" indent="-514350">
              <a:buFont typeface="+mj-lt"/>
              <a:buAutoNum type="arabicParenR"/>
            </a:pPr>
            <a:r>
              <a:rPr lang="en-US" sz="2800" dirty="0">
                <a:latin typeface="Palatino Linotype" panose="02040502050505030304" pitchFamily="18" charset="0"/>
              </a:rPr>
              <a:t>No ghost image, no halo.</a:t>
            </a:r>
          </a:p>
          <a:p>
            <a:pPr marL="514350" indent="-514350">
              <a:buFont typeface="+mj-lt"/>
              <a:buAutoNum type="arabicParenR"/>
            </a:pPr>
            <a:r>
              <a:rPr lang="en-US" sz="2800" dirty="0">
                <a:latin typeface="Palatino Linotype" panose="02040502050505030304" pitchFamily="18" charset="0"/>
              </a:rPr>
              <a:t>Resolution is better than image orthicon.</a:t>
            </a:r>
          </a:p>
          <a:p>
            <a:pPr marL="514350" indent="-514350">
              <a:buFont typeface="+mj-lt"/>
              <a:buAutoNum type="arabicParenR"/>
            </a:pPr>
            <a:r>
              <a:rPr lang="en-US" sz="2800" dirty="0">
                <a:latin typeface="Palatino Linotype" panose="02040502050505030304" pitchFamily="18" charset="0"/>
              </a:rPr>
              <a:t>Spectral response is close to that of the eyes.</a:t>
            </a:r>
          </a:p>
          <a:p>
            <a:pPr marL="514350" indent="-514350">
              <a:buFont typeface="+mj-lt"/>
              <a:buAutoNum type="arabicParenR"/>
            </a:pPr>
            <a:r>
              <a:rPr lang="en-US" sz="2800" dirty="0">
                <a:latin typeface="Palatino Linotype" panose="02040502050505030304" pitchFamily="18" charset="0"/>
              </a:rPr>
              <a:t> Sensitivity can be adjusted by changing the target voltage as per illumination of the scene.</a:t>
            </a:r>
          </a:p>
          <a:p>
            <a:pPr marL="514350" indent="-514350">
              <a:buFont typeface="+mj-lt"/>
              <a:buAutoNum type="arabicParenR"/>
            </a:pPr>
            <a:r>
              <a:rPr lang="en-US" sz="2800" dirty="0">
                <a:latin typeface="Palatino Linotype" panose="02040502050505030304" pitchFamily="18" charset="0"/>
              </a:rPr>
              <a:t>No gamma correction is needed.</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Advantages of </a:t>
            </a:r>
            <a:r>
              <a:rPr lang="en-US" sz="3600" dirty="0" err="1">
                <a:latin typeface="Palatino Linotype" panose="02040502050505030304" pitchFamily="18" charset="0"/>
              </a:rPr>
              <a:t>Vidicon</a:t>
            </a:r>
            <a:endParaRPr lang="en-US" sz="3600" dirty="0">
              <a:latin typeface="Palatino Linotype" panose="02040502050505030304" pitchFamily="18" charset="0"/>
            </a:endParaRPr>
          </a:p>
        </p:txBody>
      </p:sp>
    </p:spTree>
    <p:extLst>
      <p:ext uri="{BB962C8B-B14F-4D97-AF65-F5344CB8AC3E}">
        <p14:creationId xmlns:p14="http://schemas.microsoft.com/office/powerpoint/2010/main" val="3686006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18</a:t>
            </a:fld>
            <a:endParaRPr lang="en-US" noProof="0" dirty="0"/>
          </a:p>
        </p:txBody>
      </p:sp>
      <p:sp>
        <p:nvSpPr>
          <p:cNvPr id="3" name="Content Placeholder 2"/>
          <p:cNvSpPr>
            <a:spLocks noGrp="1"/>
          </p:cNvSpPr>
          <p:nvPr>
            <p:ph idx="1"/>
          </p:nvPr>
        </p:nvSpPr>
        <p:spPr/>
        <p:txBody>
          <a:bodyPr>
            <a:normAutofit/>
          </a:bodyPr>
          <a:lstStyle/>
          <a:p>
            <a:pPr marL="514350" indent="-514350" algn="just">
              <a:buFont typeface="+mj-lt"/>
              <a:buAutoNum type="arabicParenR"/>
            </a:pPr>
            <a:r>
              <a:rPr lang="en-US" sz="2800" dirty="0">
                <a:latin typeface="Palatino Linotype" panose="02040502050505030304" pitchFamily="18" charset="0"/>
              </a:rPr>
              <a:t>Sensitivity, although quite good, is less than that of the image orthicon.</a:t>
            </a:r>
          </a:p>
          <a:p>
            <a:pPr marL="514350" indent="-514350" algn="just">
              <a:buFont typeface="+mj-lt"/>
              <a:buAutoNum type="arabicParenR"/>
            </a:pPr>
            <a:r>
              <a:rPr lang="en-US" sz="2800" dirty="0">
                <a:latin typeface="Palatino Linotype" panose="02040502050505030304" pitchFamily="18" charset="0"/>
              </a:rPr>
              <a:t>Image lag is severe. In extreme cases, even burn-in of the image may occur.</a:t>
            </a:r>
          </a:p>
          <a:p>
            <a:pPr marL="514350" indent="-514350" algn="just">
              <a:buFont typeface="+mj-lt"/>
              <a:buAutoNum type="arabicParenR"/>
            </a:pPr>
            <a:r>
              <a:rPr lang="en-US" sz="2800" dirty="0">
                <a:latin typeface="Palatino Linotype" panose="02040502050505030304" pitchFamily="18" charset="0"/>
              </a:rPr>
              <a:t>Dark current (20 </a:t>
            </a:r>
            <a:r>
              <a:rPr lang="en-US" sz="2800" dirty="0" err="1">
                <a:latin typeface="Palatino Linotype" panose="02040502050505030304" pitchFamily="18" charset="0"/>
              </a:rPr>
              <a:t>nA</a:t>
            </a:r>
            <a:r>
              <a:rPr lang="en-US" sz="2800" dirty="0">
                <a:latin typeface="Palatino Linotype" panose="02040502050505030304" pitchFamily="18" charset="0"/>
              </a:rPr>
              <a:t>) is high as compared to other camera tubes</a:t>
            </a:r>
          </a:p>
          <a:p>
            <a:pPr marL="514350" indent="-514350" algn="just">
              <a:buFont typeface="+mj-lt"/>
              <a:buAutoNum type="arabicParenR"/>
            </a:pPr>
            <a:endParaRPr lang="en-US" sz="2800" dirty="0">
              <a:latin typeface="Palatino Linotype" panose="02040502050505030304" pitchFamily="18" charset="0"/>
            </a:endParaRPr>
          </a:p>
          <a:p>
            <a:pPr marL="0" indent="0" algn="just">
              <a:buNone/>
            </a:pPr>
            <a:r>
              <a:rPr lang="en-US" sz="2800" dirty="0" err="1">
                <a:latin typeface="Palatino Linotype" panose="02040502050505030304" pitchFamily="18" charset="0"/>
              </a:rPr>
              <a:t>Vidicon</a:t>
            </a:r>
            <a:r>
              <a:rPr lang="en-US" sz="2800" dirty="0">
                <a:latin typeface="Palatino Linotype" panose="02040502050505030304" pitchFamily="18" charset="0"/>
              </a:rPr>
              <a:t> camera tube is widely used for outdoor recording, domestic recording and industrial recording.</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Disadvantages of </a:t>
            </a:r>
            <a:r>
              <a:rPr lang="en-US" sz="3600" dirty="0" err="1">
                <a:latin typeface="Palatino Linotype" panose="02040502050505030304" pitchFamily="18" charset="0"/>
              </a:rPr>
              <a:t>Vidicon</a:t>
            </a:r>
            <a:endParaRPr lang="en-US" sz="3600" dirty="0">
              <a:latin typeface="Palatino Linotype" panose="02040502050505030304" pitchFamily="18" charset="0"/>
            </a:endParaRPr>
          </a:p>
        </p:txBody>
      </p:sp>
    </p:spTree>
    <p:extLst>
      <p:ext uri="{BB962C8B-B14F-4D97-AF65-F5344CB8AC3E}">
        <p14:creationId xmlns:p14="http://schemas.microsoft.com/office/powerpoint/2010/main" val="3309638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19</a:t>
            </a:fld>
            <a:endParaRPr lang="en-US" noProof="0" dirty="0"/>
          </a:p>
        </p:txBody>
      </p:sp>
      <p:sp>
        <p:nvSpPr>
          <p:cNvPr id="3" name="Content Placeholder 2"/>
          <p:cNvSpPr>
            <a:spLocks noGrp="1"/>
          </p:cNvSpPr>
          <p:nvPr>
            <p:ph idx="1"/>
          </p:nvPr>
        </p:nvSpPr>
        <p:spPr>
          <a:xfrm>
            <a:off x="363416" y="1641764"/>
            <a:ext cx="11465168" cy="4613563"/>
          </a:xfrm>
        </p:spPr>
        <p:txBody>
          <a:bodyPr>
            <a:normAutofit lnSpcReduction="10000"/>
          </a:bodyPr>
          <a:lstStyle/>
          <a:p>
            <a:pPr algn="just"/>
            <a:r>
              <a:rPr lang="en-US" sz="2800" dirty="0" err="1">
                <a:latin typeface="Palatino Linotype" panose="02040502050505030304" pitchFamily="18" charset="0"/>
              </a:rPr>
              <a:t>Plumbicon</a:t>
            </a:r>
            <a:r>
              <a:rPr lang="en-US" sz="2800" dirty="0">
                <a:latin typeface="Palatino Linotype" panose="02040502050505030304" pitchFamily="18" charset="0"/>
              </a:rPr>
              <a:t> camera tube was developed by Philips in 1963 to eliminate image lag effect of </a:t>
            </a:r>
            <a:r>
              <a:rPr lang="en-US" sz="2800" dirty="0" err="1">
                <a:latin typeface="Palatino Linotype" panose="02040502050505030304" pitchFamily="18" charset="0"/>
              </a:rPr>
              <a:t>vidicon</a:t>
            </a:r>
            <a:r>
              <a:rPr lang="en-US" sz="2800" dirty="0">
                <a:latin typeface="Palatino Linotype" panose="02040502050505030304" pitchFamily="18" charset="0"/>
              </a:rPr>
              <a:t>.</a:t>
            </a:r>
          </a:p>
          <a:p>
            <a:pPr algn="just"/>
            <a:r>
              <a:rPr lang="en-US" sz="2800" dirty="0">
                <a:latin typeface="Palatino Linotype" panose="02040502050505030304" pitchFamily="18" charset="0"/>
              </a:rPr>
              <a:t>It has a photoconductive target plate of lead </a:t>
            </a:r>
            <a:r>
              <a:rPr lang="en-US" sz="2800" dirty="0" err="1">
                <a:latin typeface="Palatino Linotype" panose="02040502050505030304" pitchFamily="18" charset="0"/>
              </a:rPr>
              <a:t>monooxide</a:t>
            </a:r>
            <a:r>
              <a:rPr lang="en-US" sz="2800" dirty="0">
                <a:latin typeface="Palatino Linotype" panose="02040502050505030304" pitchFamily="18" charset="0"/>
              </a:rPr>
              <a:t> (</a:t>
            </a:r>
            <a:r>
              <a:rPr lang="en-US" sz="2800" dirty="0" err="1">
                <a:latin typeface="Palatino Linotype" panose="02040502050505030304" pitchFamily="18" charset="0"/>
              </a:rPr>
              <a:t>PbO</a:t>
            </a:r>
            <a:r>
              <a:rPr lang="en-US" sz="2800" dirty="0">
                <a:latin typeface="Palatino Linotype" panose="02040502050505030304" pitchFamily="18" charset="0"/>
              </a:rPr>
              <a:t>) sandwiched between a n-type and a p-type layer. </a:t>
            </a:r>
          </a:p>
          <a:p>
            <a:pPr algn="just"/>
            <a:r>
              <a:rPr lang="en-US" sz="2800" dirty="0">
                <a:latin typeface="Palatino Linotype" panose="02040502050505030304" pitchFamily="18" charset="0"/>
              </a:rPr>
              <a:t>The tube has been named </a:t>
            </a:r>
            <a:r>
              <a:rPr lang="en-US" sz="2800" dirty="0" err="1">
                <a:latin typeface="Palatino Linotype" panose="02040502050505030304" pitchFamily="18" charset="0"/>
              </a:rPr>
              <a:t>plumbicon</a:t>
            </a:r>
            <a:r>
              <a:rPr lang="en-US" sz="2800" dirty="0">
                <a:latin typeface="Palatino Linotype" panose="02040502050505030304" pitchFamily="18" charset="0"/>
              </a:rPr>
              <a:t> because lead (</a:t>
            </a:r>
            <a:r>
              <a:rPr lang="en-US" sz="2800" dirty="0" err="1">
                <a:latin typeface="Palatino Linotype" panose="02040502050505030304" pitchFamily="18" charset="0"/>
              </a:rPr>
              <a:t>plumbum</a:t>
            </a:r>
            <a:r>
              <a:rPr lang="en-US" sz="2800" dirty="0">
                <a:latin typeface="Palatino Linotype" panose="02040502050505030304" pitchFamily="18" charset="0"/>
              </a:rPr>
              <a:t> or </a:t>
            </a:r>
            <a:r>
              <a:rPr lang="en-US" sz="2800" dirty="0" err="1">
                <a:latin typeface="Palatino Linotype" panose="02040502050505030304" pitchFamily="18" charset="0"/>
              </a:rPr>
              <a:t>Pb</a:t>
            </a:r>
            <a:r>
              <a:rPr lang="en-US" sz="2800" dirty="0">
                <a:latin typeface="Palatino Linotype" panose="02040502050505030304" pitchFamily="18" charset="0"/>
              </a:rPr>
              <a:t>) has been used in the target material.</a:t>
            </a:r>
          </a:p>
          <a:p>
            <a:pPr algn="just"/>
            <a:r>
              <a:rPr lang="en-US" sz="2800" dirty="0">
                <a:latin typeface="Palatino Linotype" panose="02040502050505030304" pitchFamily="18" charset="0"/>
              </a:rPr>
              <a:t> It has a sensitivity of 400 </a:t>
            </a:r>
            <a:r>
              <a:rPr lang="el-GR" sz="2800" dirty="0">
                <a:latin typeface="Palatino Linotype" panose="02040502050505030304" pitchFamily="18" charset="0"/>
              </a:rPr>
              <a:t>μ</a:t>
            </a:r>
            <a:r>
              <a:rPr lang="en-US" sz="2800" dirty="0">
                <a:latin typeface="Palatino Linotype" panose="02040502050505030304" pitchFamily="18" charset="0"/>
              </a:rPr>
              <a:t>A per lumen which is more than that of </a:t>
            </a:r>
            <a:r>
              <a:rPr lang="en-US" sz="2800" dirty="0" err="1">
                <a:latin typeface="Palatino Linotype" panose="02040502050505030304" pitchFamily="18" charset="0"/>
              </a:rPr>
              <a:t>vidicon</a:t>
            </a:r>
            <a:r>
              <a:rPr lang="en-US" sz="2800" dirty="0">
                <a:latin typeface="Palatino Linotype" panose="02040502050505030304" pitchFamily="18" charset="0"/>
              </a:rPr>
              <a:t> (125 </a:t>
            </a:r>
            <a:r>
              <a:rPr lang="el-GR" sz="2800" dirty="0">
                <a:latin typeface="Palatino Linotype" panose="02040502050505030304" pitchFamily="18" charset="0"/>
              </a:rPr>
              <a:t>μ </a:t>
            </a:r>
            <a:r>
              <a:rPr lang="en-US" sz="2800" dirty="0">
                <a:latin typeface="Palatino Linotype" panose="02040502050505030304" pitchFamily="18" charset="0"/>
              </a:rPr>
              <a:t>A per lumen).</a:t>
            </a:r>
          </a:p>
          <a:p>
            <a:pPr algn="just"/>
            <a:r>
              <a:rPr lang="en-US" sz="2800" dirty="0">
                <a:latin typeface="Palatino Linotype" panose="02040502050505030304" pitchFamily="18" charset="0"/>
              </a:rPr>
              <a:t>Its signal to noise ratio is also higher than that of </a:t>
            </a:r>
            <a:r>
              <a:rPr lang="en-US" sz="2800" dirty="0" err="1">
                <a:latin typeface="Palatino Linotype" panose="02040502050505030304" pitchFamily="18" charset="0"/>
              </a:rPr>
              <a:t>vidicon</a:t>
            </a:r>
            <a:r>
              <a:rPr lang="en-US" sz="2800" dirty="0">
                <a:latin typeface="Palatino Linotype" panose="02040502050505030304" pitchFamily="18" charset="0"/>
              </a:rPr>
              <a:t>.</a:t>
            </a:r>
          </a:p>
          <a:p>
            <a:pPr algn="just"/>
            <a:r>
              <a:rPr lang="en-US" sz="2800" dirty="0">
                <a:latin typeface="Palatino Linotype" panose="02040502050505030304" pitchFamily="18" charset="0"/>
              </a:rPr>
              <a:t>It faces halo effect and its size is bigger than </a:t>
            </a:r>
            <a:r>
              <a:rPr lang="en-US" sz="2800" dirty="0" err="1">
                <a:latin typeface="Palatino Linotype" panose="02040502050505030304" pitchFamily="18" charset="0"/>
              </a:rPr>
              <a:t>vidicon</a:t>
            </a:r>
            <a:r>
              <a:rPr lang="en-US" sz="2800" dirty="0">
                <a:latin typeface="Palatino Linotype" panose="02040502050505030304" pitchFamily="18" charset="0"/>
              </a:rPr>
              <a:t>.</a:t>
            </a:r>
          </a:p>
          <a:p>
            <a:pPr algn="just"/>
            <a:r>
              <a:rPr lang="en-US" sz="2800" dirty="0">
                <a:latin typeface="Palatino Linotype" panose="02040502050505030304" pitchFamily="18" charset="0"/>
              </a:rPr>
              <a:t>Used in studio and outdoor, especially suited to colour TV.</a:t>
            </a:r>
          </a:p>
        </p:txBody>
      </p:sp>
      <p:sp>
        <p:nvSpPr>
          <p:cNvPr id="4" name="Title 3"/>
          <p:cNvSpPr>
            <a:spLocks noGrp="1"/>
          </p:cNvSpPr>
          <p:nvPr>
            <p:ph type="title"/>
          </p:nvPr>
        </p:nvSpPr>
        <p:spPr/>
        <p:txBody>
          <a:bodyPr>
            <a:normAutofit/>
          </a:bodyPr>
          <a:lstStyle/>
          <a:p>
            <a:r>
              <a:rPr lang="en-US" sz="3600" dirty="0" err="1">
                <a:latin typeface="Palatino Linotype" panose="02040502050505030304" pitchFamily="18" charset="0"/>
              </a:rPr>
              <a:t>Plumbicon</a:t>
            </a:r>
            <a:r>
              <a:rPr lang="en-US" sz="3600" dirty="0">
                <a:latin typeface="Palatino Linotype" panose="02040502050505030304" pitchFamily="18" charset="0"/>
              </a:rPr>
              <a:t> Camera Tube</a:t>
            </a:r>
          </a:p>
        </p:txBody>
      </p:sp>
    </p:spTree>
    <p:extLst>
      <p:ext uri="{BB962C8B-B14F-4D97-AF65-F5344CB8AC3E}">
        <p14:creationId xmlns:p14="http://schemas.microsoft.com/office/powerpoint/2010/main" val="626757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20</a:t>
            </a:fld>
            <a:endParaRPr lang="en-US" noProof="0" dirty="0"/>
          </a:p>
        </p:txBody>
      </p:sp>
      <p:sp>
        <p:nvSpPr>
          <p:cNvPr id="3" name="Content Placeholder 2"/>
          <p:cNvSpPr>
            <a:spLocks noGrp="1"/>
          </p:cNvSpPr>
          <p:nvPr>
            <p:ph idx="1"/>
          </p:nvPr>
        </p:nvSpPr>
        <p:spPr>
          <a:xfrm>
            <a:off x="363416" y="1641764"/>
            <a:ext cx="11465168" cy="4821443"/>
          </a:xfrm>
        </p:spPr>
        <p:txBody>
          <a:bodyPr>
            <a:normAutofit/>
          </a:bodyPr>
          <a:lstStyle/>
          <a:p>
            <a:pPr algn="just"/>
            <a:r>
              <a:rPr lang="en-US" sz="2800" dirty="0">
                <a:latin typeface="Palatino Linotype" panose="02040502050505030304" pitchFamily="18" charset="0"/>
              </a:rPr>
              <a:t>There are several other types of camera tubes, but we cannot study each one in detail. The goal was to understand the basic principle of operation of TV cameras.</a:t>
            </a:r>
          </a:p>
          <a:p>
            <a:pPr algn="just"/>
            <a:r>
              <a:rPr lang="en-US" sz="2800" dirty="0">
                <a:latin typeface="Palatino Linotype" panose="02040502050505030304" pitchFamily="18" charset="0"/>
              </a:rPr>
              <a:t>The other types of TV camera include</a:t>
            </a:r>
          </a:p>
          <a:p>
            <a:pPr marL="971550" lvl="1" indent="-514350" algn="just">
              <a:buFont typeface="+mj-lt"/>
              <a:buAutoNum type="arabicParenR"/>
            </a:pPr>
            <a:r>
              <a:rPr lang="en-US" sz="2600" dirty="0">
                <a:latin typeface="Palatino Linotype" panose="02040502050505030304" pitchFamily="18" charset="0"/>
              </a:rPr>
              <a:t>Image orthicon camera tube</a:t>
            </a:r>
          </a:p>
          <a:p>
            <a:pPr marL="971550" lvl="1" indent="-514350" algn="just">
              <a:buFont typeface="+mj-lt"/>
              <a:buAutoNum type="arabicParenR"/>
            </a:pPr>
            <a:r>
              <a:rPr lang="en-US" sz="2600" dirty="0" err="1">
                <a:latin typeface="Palatino Linotype" panose="02040502050505030304" pitchFamily="18" charset="0"/>
              </a:rPr>
              <a:t>Saticon</a:t>
            </a:r>
            <a:r>
              <a:rPr lang="en-US" sz="2600" dirty="0">
                <a:latin typeface="Palatino Linotype" panose="02040502050505030304" pitchFamily="18" charset="0"/>
              </a:rPr>
              <a:t> – Suitable for broadcast</a:t>
            </a:r>
          </a:p>
          <a:p>
            <a:pPr marL="971550" lvl="1" indent="-514350" algn="just">
              <a:buFont typeface="+mj-lt"/>
              <a:buAutoNum type="arabicParenR"/>
            </a:pPr>
            <a:r>
              <a:rPr lang="en-US" sz="2600" dirty="0" err="1">
                <a:latin typeface="Palatino Linotype" panose="02040502050505030304" pitchFamily="18" charset="0"/>
              </a:rPr>
              <a:t>Newvicon</a:t>
            </a:r>
            <a:endParaRPr lang="en-US" sz="2600" dirty="0">
              <a:latin typeface="Palatino Linotype" panose="02040502050505030304" pitchFamily="18" charset="0"/>
            </a:endParaRPr>
          </a:p>
          <a:p>
            <a:pPr marL="971550" lvl="1" indent="-514350" algn="just">
              <a:buFont typeface="+mj-lt"/>
              <a:buAutoNum type="arabicParenR"/>
            </a:pPr>
            <a:r>
              <a:rPr lang="en-US" sz="2600" dirty="0" err="1">
                <a:latin typeface="Palatino Linotype" panose="02040502050505030304" pitchFamily="18" charset="0"/>
              </a:rPr>
              <a:t>Chalnicon</a:t>
            </a:r>
            <a:endParaRPr lang="en-US" sz="2600" dirty="0">
              <a:latin typeface="Palatino Linotype" panose="02040502050505030304" pitchFamily="18" charset="0"/>
            </a:endParaRPr>
          </a:p>
          <a:p>
            <a:pPr marL="971550" lvl="1" indent="-514350" algn="just">
              <a:buFont typeface="+mj-lt"/>
              <a:buAutoNum type="arabicParenR"/>
            </a:pPr>
            <a:r>
              <a:rPr lang="en-US" sz="2600" dirty="0">
                <a:latin typeface="Palatino Linotype" panose="02040502050505030304" pitchFamily="18" charset="0"/>
              </a:rPr>
              <a:t>Silicon-</a:t>
            </a:r>
            <a:r>
              <a:rPr lang="en-US" sz="2600" dirty="0" err="1">
                <a:latin typeface="Palatino Linotype" panose="02040502050505030304" pitchFamily="18" charset="0"/>
              </a:rPr>
              <a:t>Vidicon</a:t>
            </a:r>
            <a:r>
              <a:rPr lang="en-US" sz="2600" dirty="0">
                <a:latin typeface="Palatino Linotype" panose="02040502050505030304" pitchFamily="18" charset="0"/>
              </a:rPr>
              <a:t> Camera Tube (or Silicon Diode Array)</a:t>
            </a:r>
          </a:p>
          <a:p>
            <a:pPr marL="971550" lvl="1" indent="-514350" algn="just">
              <a:buFont typeface="+mj-lt"/>
              <a:buAutoNum type="arabicParenR"/>
            </a:pPr>
            <a:r>
              <a:rPr lang="en-US" sz="2600" dirty="0">
                <a:latin typeface="Palatino Linotype" panose="02040502050505030304" pitchFamily="18" charset="0"/>
              </a:rPr>
              <a:t>Solid State Camera Based on Charge Coupled Device.</a:t>
            </a:r>
          </a:p>
          <a:p>
            <a:pPr marL="971550" lvl="1" indent="-514350" algn="just">
              <a:buFont typeface="+mj-lt"/>
              <a:buAutoNum type="arabicParenR"/>
            </a:pPr>
            <a:r>
              <a:rPr lang="en-US" sz="2600" dirty="0">
                <a:latin typeface="Palatino Linotype" panose="02040502050505030304" pitchFamily="18" charset="0"/>
              </a:rPr>
              <a:t>Night Vision Camera Tubes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Other Types of Camera Tubes</a:t>
            </a:r>
          </a:p>
        </p:txBody>
      </p:sp>
    </p:spTree>
    <p:extLst>
      <p:ext uri="{BB962C8B-B14F-4D97-AF65-F5344CB8AC3E}">
        <p14:creationId xmlns:p14="http://schemas.microsoft.com/office/powerpoint/2010/main" val="2810184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0305" y="4646716"/>
            <a:ext cx="10515600" cy="823232"/>
          </a:xfrm>
        </p:spPr>
        <p:txBody>
          <a:bodyPr/>
          <a:lstStyle/>
          <a:p>
            <a:r>
              <a:rPr lang="en-US" dirty="0"/>
              <a:t>TELEVISION PICTURE TUBES</a:t>
            </a:r>
          </a:p>
        </p:txBody>
      </p:sp>
      <p:sp>
        <p:nvSpPr>
          <p:cNvPr id="4" name="Slide Number Placeholder 3"/>
          <p:cNvSpPr>
            <a:spLocks noGrp="1"/>
          </p:cNvSpPr>
          <p:nvPr>
            <p:ph type="sldNum" sz="quarter" idx="12"/>
          </p:nvPr>
        </p:nvSpPr>
        <p:spPr/>
        <p:txBody>
          <a:bodyPr/>
          <a:lstStyle/>
          <a:p>
            <a:fld id="{48BB047D-A6CD-43AB-96F0-683C726B586B}" type="slidenum">
              <a:rPr lang="en-US" noProof="0" smtClean="0"/>
              <a:pPr/>
              <a:t>21</a:t>
            </a:fld>
            <a:endParaRPr lang="en-US" noProof="0" dirty="0"/>
          </a:p>
        </p:txBody>
      </p:sp>
      <p:sp>
        <p:nvSpPr>
          <p:cNvPr id="7" name="Rectangle 6"/>
          <p:cNvSpPr/>
          <p:nvPr/>
        </p:nvSpPr>
        <p:spPr>
          <a:xfrm>
            <a:off x="5340927" y="5469948"/>
            <a:ext cx="1662545" cy="4571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rotWithShape="1">
          <a:blip r:embed="rId2"/>
          <a:srcRect t="2637" b="6499"/>
          <a:stretch/>
        </p:blipFill>
        <p:spPr>
          <a:xfrm>
            <a:off x="953774" y="120547"/>
            <a:ext cx="10722131" cy="3429000"/>
          </a:xfrm>
          <a:prstGeom prst="rect">
            <a:avLst/>
          </a:prstGeom>
          <a:ln>
            <a:noFill/>
          </a:ln>
          <a:effectLst>
            <a:softEdge rad="112500"/>
          </a:effectLst>
        </p:spPr>
      </p:pic>
    </p:spTree>
    <p:extLst>
      <p:ext uri="{BB962C8B-B14F-4D97-AF65-F5344CB8AC3E}">
        <p14:creationId xmlns:p14="http://schemas.microsoft.com/office/powerpoint/2010/main" val="3476936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22</a:t>
            </a:fld>
            <a:endParaRPr lang="en-US" noProof="0" dirty="0"/>
          </a:p>
        </p:txBody>
      </p:sp>
      <p:sp>
        <p:nvSpPr>
          <p:cNvPr id="3" name="Content Placeholder 2"/>
          <p:cNvSpPr>
            <a:spLocks noGrp="1"/>
          </p:cNvSpPr>
          <p:nvPr>
            <p:ph idx="1"/>
          </p:nvPr>
        </p:nvSpPr>
        <p:spPr/>
        <p:txBody>
          <a:bodyPr>
            <a:normAutofit/>
          </a:bodyPr>
          <a:lstStyle/>
          <a:p>
            <a:r>
              <a:rPr lang="en-US" sz="2800" dirty="0">
                <a:latin typeface="Palatino Linotype" panose="02040502050505030304" pitchFamily="18" charset="0"/>
              </a:rPr>
              <a:t>Picture tube is a transducer to convert electrical video signals varying with time into variations of light in space (through width and height of the screen) to reproduce the original picture.</a:t>
            </a:r>
          </a:p>
          <a:p>
            <a:r>
              <a:rPr lang="en-US" sz="2800" dirty="0">
                <a:latin typeface="Palatino Linotype" panose="02040502050505030304" pitchFamily="18" charset="0"/>
              </a:rPr>
              <a:t>It uses the phenomenon of fluorescence and scanning</a:t>
            </a:r>
          </a:p>
          <a:p>
            <a:r>
              <a:rPr lang="en-US" sz="2800" dirty="0">
                <a:latin typeface="Palatino Linotype" panose="02040502050505030304" pitchFamily="18" charset="0"/>
              </a:rPr>
              <a:t>Broadly speaking, there are two types of picture tubes</a:t>
            </a:r>
          </a:p>
          <a:p>
            <a:pPr marL="971550" lvl="1" indent="-514350">
              <a:buFont typeface="+mj-lt"/>
              <a:buAutoNum type="arabicParenR"/>
            </a:pPr>
            <a:r>
              <a:rPr lang="en-US" sz="2600" b="1" i="1" dirty="0">
                <a:latin typeface="Palatino Linotype" panose="02040502050505030304" pitchFamily="18" charset="0"/>
              </a:rPr>
              <a:t>Monochrome</a:t>
            </a:r>
            <a:r>
              <a:rPr lang="en-US" sz="2600" dirty="0">
                <a:latin typeface="Palatino Linotype" panose="02040502050505030304" pitchFamily="18" charset="0"/>
              </a:rPr>
              <a:t> picture tube to produce black and white picture.</a:t>
            </a:r>
          </a:p>
          <a:p>
            <a:pPr marL="971550" lvl="1" indent="-514350">
              <a:buFont typeface="+mj-lt"/>
              <a:buAutoNum type="arabicParenR"/>
            </a:pPr>
            <a:r>
              <a:rPr lang="en-US" sz="2600" b="1" i="1" dirty="0">
                <a:latin typeface="Palatino Linotype" panose="02040502050505030304" pitchFamily="18" charset="0"/>
              </a:rPr>
              <a:t>Colour</a:t>
            </a:r>
            <a:r>
              <a:rPr lang="en-US" sz="2600" dirty="0">
                <a:latin typeface="Palatino Linotype" panose="02040502050505030304" pitchFamily="18" charset="0"/>
              </a:rPr>
              <a:t> picture tube to reproduce original colours in the picture.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Introduction</a:t>
            </a:r>
          </a:p>
        </p:txBody>
      </p:sp>
    </p:spTree>
    <p:extLst>
      <p:ext uri="{BB962C8B-B14F-4D97-AF65-F5344CB8AC3E}">
        <p14:creationId xmlns:p14="http://schemas.microsoft.com/office/powerpoint/2010/main" val="382060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23</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A monochrome picture tube consists of an evacuated glass envelope, housing an electron gun to produce a sharply focused electron beam and a fluorescent screen to produce light when the electron beam strikes the phosphor elements on the screen. </a:t>
            </a:r>
          </a:p>
          <a:p>
            <a:pPr algn="just"/>
            <a:r>
              <a:rPr lang="en-US" sz="2800" dirty="0">
                <a:latin typeface="Palatino Linotype" panose="02040502050505030304" pitchFamily="18" charset="0"/>
              </a:rPr>
              <a:t>Also, there are devices to deflect the electron beam horizontally and vertically to enable it to scan the screen through width and height to reproduce the original picture. </a:t>
            </a:r>
          </a:p>
          <a:p>
            <a:pPr algn="just"/>
            <a:r>
              <a:rPr lang="en-US" sz="2800" dirty="0">
                <a:latin typeface="Palatino Linotype" panose="02040502050505030304" pitchFamily="18" charset="0"/>
              </a:rPr>
              <a:t>Construction of the monochrome picture tube is shown in the next slide</a:t>
            </a:r>
          </a:p>
          <a:p>
            <a:pPr algn="just"/>
            <a:r>
              <a:rPr lang="en-US" sz="2800" dirty="0">
                <a:latin typeface="Palatino Linotype" panose="02040502050505030304" pitchFamily="18" charset="0"/>
              </a:rPr>
              <a:t>Functions of various elements are also discussed.</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Monochrome Picture Tube</a:t>
            </a:r>
          </a:p>
        </p:txBody>
      </p:sp>
    </p:spTree>
    <p:extLst>
      <p:ext uri="{BB962C8B-B14F-4D97-AF65-F5344CB8AC3E}">
        <p14:creationId xmlns:p14="http://schemas.microsoft.com/office/powerpoint/2010/main" val="34401278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24</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468816" y="340216"/>
            <a:ext cx="7697222" cy="5448779"/>
          </a:xfrm>
          <a:prstGeom prst="rect">
            <a:avLst/>
          </a:prstGeom>
        </p:spPr>
      </p:pic>
      <p:sp>
        <p:nvSpPr>
          <p:cNvPr id="4" name="Rectangle 3"/>
          <p:cNvSpPr/>
          <p:nvPr/>
        </p:nvSpPr>
        <p:spPr>
          <a:xfrm>
            <a:off x="3534571" y="5941435"/>
            <a:ext cx="4456669" cy="523220"/>
          </a:xfrm>
          <a:prstGeom prst="rect">
            <a:avLst/>
          </a:prstGeom>
          <a:solidFill>
            <a:schemeClr val="accent4"/>
          </a:solidFill>
        </p:spPr>
        <p:txBody>
          <a:bodyPr wrap="none">
            <a:spAutoFit/>
          </a:bodyPr>
          <a:lstStyle/>
          <a:p>
            <a:r>
              <a:rPr lang="en-US" sz="2800" b="1" dirty="0">
                <a:latin typeface="Palatino Linotype" panose="02040502050505030304" pitchFamily="18" charset="0"/>
              </a:rPr>
              <a:t>Monochrome picture tube</a:t>
            </a:r>
          </a:p>
        </p:txBody>
      </p:sp>
    </p:spTree>
    <p:extLst>
      <p:ext uri="{BB962C8B-B14F-4D97-AF65-F5344CB8AC3E}">
        <p14:creationId xmlns:p14="http://schemas.microsoft.com/office/powerpoint/2010/main" val="1508524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25</a:t>
            </a:fld>
            <a:endParaRPr lang="en-US" noProof="0" dirty="0"/>
          </a:p>
        </p:txBody>
      </p:sp>
      <p:sp>
        <p:nvSpPr>
          <p:cNvPr id="3" name="Content Placeholder 2"/>
          <p:cNvSpPr txBox="1">
            <a:spLocks/>
          </p:cNvSpPr>
          <p:nvPr/>
        </p:nvSpPr>
        <p:spPr>
          <a:xfrm>
            <a:off x="363416" y="665018"/>
            <a:ext cx="11465168" cy="604757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latin typeface="Palatino Linotype" panose="02040502050505030304" pitchFamily="18" charset="0"/>
              </a:rPr>
              <a:t>Cathode</a:t>
            </a:r>
            <a:r>
              <a:rPr lang="en-US" sz="2800" dirty="0">
                <a:latin typeface="Palatino Linotype" panose="02040502050505030304" pitchFamily="18" charset="0"/>
              </a:rPr>
              <a:t> – heated and generates  an electron beam</a:t>
            </a:r>
          </a:p>
          <a:p>
            <a:pPr algn="just"/>
            <a:r>
              <a:rPr lang="en-US" sz="2800" b="1" dirty="0">
                <a:latin typeface="Palatino Linotype" panose="02040502050505030304" pitchFamily="18" charset="0"/>
              </a:rPr>
              <a:t>Control Grid (G-1) </a:t>
            </a:r>
            <a:r>
              <a:rPr lang="en-US" sz="2800" dirty="0">
                <a:latin typeface="Palatino Linotype" panose="02040502050505030304" pitchFamily="18" charset="0"/>
              </a:rPr>
              <a:t>– Controls the brightness on the screen.</a:t>
            </a:r>
          </a:p>
          <a:p>
            <a:pPr algn="just"/>
            <a:r>
              <a:rPr lang="en-US" sz="2800" b="1" dirty="0">
                <a:latin typeface="Palatino Linotype" panose="02040502050505030304" pitchFamily="18" charset="0"/>
              </a:rPr>
              <a:t>Screen Grid (G-2) </a:t>
            </a:r>
            <a:r>
              <a:rPr lang="en-US" sz="2800" dirty="0">
                <a:latin typeface="Palatino Linotype" panose="02040502050505030304" pitchFamily="18" charset="0"/>
              </a:rPr>
              <a:t>– Also called accelerating anode</a:t>
            </a:r>
          </a:p>
          <a:p>
            <a:pPr algn="just"/>
            <a:r>
              <a:rPr lang="en-US" sz="2800" b="1" dirty="0">
                <a:latin typeface="Palatino Linotype" panose="02040502050505030304" pitchFamily="18" charset="0"/>
              </a:rPr>
              <a:t>Focus Grid (G-3) </a:t>
            </a:r>
            <a:r>
              <a:rPr lang="en-US" sz="2800" dirty="0">
                <a:latin typeface="Palatino Linotype" panose="02040502050505030304" pitchFamily="18" charset="0"/>
              </a:rPr>
              <a:t>– Prevent spreading of the electrons so as to produce a sharp spot on the screen.</a:t>
            </a:r>
          </a:p>
          <a:p>
            <a:pPr algn="just"/>
            <a:r>
              <a:rPr lang="en-US" sz="2800" b="1" dirty="0">
                <a:latin typeface="Palatino Linotype" panose="02040502050505030304" pitchFamily="18" charset="0"/>
              </a:rPr>
              <a:t>Final Anode or </a:t>
            </a:r>
            <a:r>
              <a:rPr lang="en-US" sz="2800" b="1" dirty="0" err="1">
                <a:latin typeface="Palatino Linotype" panose="02040502050505030304" pitchFamily="18" charset="0"/>
              </a:rPr>
              <a:t>Ultor</a:t>
            </a:r>
            <a:r>
              <a:rPr lang="en-US" sz="2800" b="1" dirty="0">
                <a:latin typeface="Palatino Linotype" panose="02040502050505030304" pitchFamily="18" charset="0"/>
              </a:rPr>
              <a:t> (G-4) </a:t>
            </a:r>
            <a:r>
              <a:rPr lang="en-US" sz="2800" dirty="0">
                <a:latin typeface="Palatino Linotype" panose="02040502050505030304" pitchFamily="18" charset="0"/>
              </a:rPr>
              <a:t>– Gives the electrons the required velocity to cause fluorescence in the phosphor material.</a:t>
            </a:r>
          </a:p>
          <a:p>
            <a:pPr algn="just"/>
            <a:r>
              <a:rPr lang="en-US" sz="2800" dirty="0">
                <a:latin typeface="Palatino Linotype" panose="02040502050505030304" pitchFamily="18" charset="0"/>
              </a:rPr>
              <a:t>Fluor</a:t>
            </a:r>
            <a:r>
              <a:rPr lang="en-US" sz="2800" b="1" dirty="0">
                <a:latin typeface="Palatino Linotype" panose="02040502050505030304" pitchFamily="18" charset="0"/>
              </a:rPr>
              <a:t>escent Screen </a:t>
            </a:r>
            <a:r>
              <a:rPr lang="en-US" sz="2800" dirty="0">
                <a:latin typeface="Palatino Linotype" panose="02040502050505030304" pitchFamily="18" charset="0"/>
              </a:rPr>
              <a:t>– A rectangular plate made of an optically flat glass of high quality coated with phosphor material on the inside. The phosphor particles glow when high velocity electrons strike them.</a:t>
            </a:r>
          </a:p>
          <a:p>
            <a:pPr algn="just"/>
            <a:r>
              <a:rPr lang="en-US" sz="2800" b="1" dirty="0">
                <a:latin typeface="Palatino Linotype" panose="02040502050505030304" pitchFamily="18" charset="0"/>
              </a:rPr>
              <a:t>Deflecting Coils </a:t>
            </a:r>
            <a:r>
              <a:rPr lang="en-US" sz="2800" dirty="0">
                <a:latin typeface="Palatino Linotype" panose="02040502050505030304" pitchFamily="18" charset="0"/>
              </a:rPr>
              <a:t>– Deflect the electron beam horizontally and vertically. The mounting block containing the deflection coils is called </a:t>
            </a:r>
            <a:r>
              <a:rPr lang="en-US" sz="2800" i="1" dirty="0">
                <a:latin typeface="Palatino Linotype" panose="02040502050505030304" pitchFamily="18" charset="0"/>
              </a:rPr>
              <a:t>deflection yoke </a:t>
            </a:r>
            <a:r>
              <a:rPr lang="en-US" sz="2800" dirty="0">
                <a:latin typeface="Palatino Linotype" panose="02040502050505030304" pitchFamily="18" charset="0"/>
              </a:rPr>
              <a:t>or simply </a:t>
            </a:r>
            <a:r>
              <a:rPr lang="en-US" sz="2800" i="1" dirty="0">
                <a:latin typeface="Palatino Linotype" panose="02040502050505030304" pitchFamily="18" charset="0"/>
              </a:rPr>
              <a:t>yoke</a:t>
            </a:r>
            <a:r>
              <a:rPr lang="en-US" sz="2800" dirty="0">
                <a:latin typeface="Palatino Linotype" panose="02040502050505030304" pitchFamily="18" charset="0"/>
              </a:rPr>
              <a:t>.</a:t>
            </a:r>
          </a:p>
        </p:txBody>
      </p:sp>
    </p:spTree>
    <p:extLst>
      <p:ext uri="{BB962C8B-B14F-4D97-AF65-F5344CB8AC3E}">
        <p14:creationId xmlns:p14="http://schemas.microsoft.com/office/powerpoint/2010/main" val="1551676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26</a:t>
            </a:fld>
            <a:endParaRPr lang="en-US" noProof="0" dirty="0"/>
          </a:p>
        </p:txBody>
      </p:sp>
      <p:sp>
        <p:nvSpPr>
          <p:cNvPr id="3" name="Content Placeholder 2"/>
          <p:cNvSpPr>
            <a:spLocks noGrp="1"/>
          </p:cNvSpPr>
          <p:nvPr>
            <p:ph idx="1"/>
          </p:nvPr>
        </p:nvSpPr>
        <p:spPr>
          <a:xfrm>
            <a:off x="363416" y="1662545"/>
            <a:ext cx="11465168" cy="4514418"/>
          </a:xfrm>
        </p:spPr>
        <p:txBody>
          <a:bodyPr>
            <a:normAutofit lnSpcReduction="10000"/>
          </a:bodyPr>
          <a:lstStyle/>
          <a:p>
            <a:pPr algn="just"/>
            <a:r>
              <a:rPr lang="en-US" sz="2800" dirty="0">
                <a:latin typeface="Palatino Linotype" panose="02040502050505030304" pitchFamily="18" charset="0"/>
              </a:rPr>
              <a:t>In colour picture tubes, voltages pertaining to three primary colours give rise to three electron beams. </a:t>
            </a:r>
          </a:p>
          <a:p>
            <a:pPr algn="just"/>
            <a:r>
              <a:rPr lang="en-US" sz="2800" dirty="0">
                <a:latin typeface="Palatino Linotype" panose="02040502050505030304" pitchFamily="18" charset="0"/>
              </a:rPr>
              <a:t>These three beams activate three phosphor elements (one each), closely placed in a group, either in the form of dots or in the form of stripes. </a:t>
            </a:r>
          </a:p>
          <a:p>
            <a:pPr algn="just"/>
            <a:r>
              <a:rPr lang="en-US" sz="2800" dirty="0">
                <a:latin typeface="Palatino Linotype" panose="02040502050505030304" pitchFamily="18" charset="0"/>
              </a:rPr>
              <a:t>Thus there are lights of three primary colours coming out of these three phosphor elements about a point. </a:t>
            </a:r>
          </a:p>
          <a:p>
            <a:pPr algn="just"/>
            <a:r>
              <a:rPr lang="en-US" sz="2800" dirty="0">
                <a:latin typeface="Palatino Linotype" panose="02040502050505030304" pitchFamily="18" charset="0"/>
              </a:rPr>
              <a:t>The eye integrates the three colours and perceives the single resultant colour.</a:t>
            </a:r>
          </a:p>
          <a:p>
            <a:pPr algn="just"/>
            <a:r>
              <a:rPr lang="en-US" sz="2800" dirty="0">
                <a:latin typeface="Palatino Linotype" panose="02040502050505030304" pitchFamily="18" charset="0"/>
              </a:rPr>
              <a:t>Based on this principle, we have </a:t>
            </a:r>
            <a:r>
              <a:rPr lang="en-US" sz="2800" i="1" dirty="0">
                <a:latin typeface="Palatino Linotype" panose="02040502050505030304" pitchFamily="18" charset="0"/>
              </a:rPr>
              <a:t>Delta gun picture tube </a:t>
            </a:r>
            <a:r>
              <a:rPr lang="en-US" sz="2800" dirty="0">
                <a:latin typeface="Palatino Linotype" panose="02040502050505030304" pitchFamily="18" charset="0"/>
              </a:rPr>
              <a:t>and </a:t>
            </a:r>
            <a:r>
              <a:rPr lang="en-US" sz="2800" i="1" dirty="0">
                <a:latin typeface="Palatino Linotype" panose="02040502050505030304" pitchFamily="18" charset="0"/>
              </a:rPr>
              <a:t>Precision-in-line picture tube. </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Colour Picture Tubes</a:t>
            </a:r>
          </a:p>
        </p:txBody>
      </p:sp>
    </p:spTree>
    <p:extLst>
      <p:ext uri="{BB962C8B-B14F-4D97-AF65-F5344CB8AC3E}">
        <p14:creationId xmlns:p14="http://schemas.microsoft.com/office/powerpoint/2010/main" val="2277444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27</a:t>
            </a:fld>
            <a:endParaRPr lang="en-US" noProof="0" dirty="0"/>
          </a:p>
        </p:txBody>
      </p:sp>
      <p:sp>
        <p:nvSpPr>
          <p:cNvPr id="3" name="Content Placeholder 2"/>
          <p:cNvSpPr>
            <a:spLocks noGrp="1"/>
          </p:cNvSpPr>
          <p:nvPr>
            <p:ph idx="1"/>
          </p:nvPr>
        </p:nvSpPr>
        <p:spPr>
          <a:xfrm>
            <a:off x="363416" y="1641764"/>
            <a:ext cx="11465168" cy="4535199"/>
          </a:xfrm>
        </p:spPr>
        <p:txBody>
          <a:bodyPr>
            <a:normAutofit/>
          </a:bodyPr>
          <a:lstStyle/>
          <a:p>
            <a:pPr algn="just"/>
            <a:r>
              <a:rPr lang="en-US" sz="2800" dirty="0">
                <a:latin typeface="Palatino Linotype" panose="02040502050505030304" pitchFamily="18" charset="0"/>
              </a:rPr>
              <a:t>Consists of three guns, equally spaced at 120˚ with respect to each other.</a:t>
            </a:r>
          </a:p>
          <a:p>
            <a:pPr algn="just"/>
            <a:r>
              <a:rPr lang="en-US" sz="2800" dirty="0">
                <a:latin typeface="Palatino Linotype" panose="02040502050505030304" pitchFamily="18" charset="0"/>
              </a:rPr>
              <a:t>They are mounted on the corners of an equilateral triangle, forming the capital Greek letter delta (</a:t>
            </a:r>
            <a:r>
              <a:rPr lang="el-GR" sz="2800" dirty="0">
                <a:latin typeface="Palatino Linotype" panose="02040502050505030304" pitchFamily="18" charset="0"/>
              </a:rPr>
              <a:t>Δ</a:t>
            </a:r>
            <a:r>
              <a:rPr lang="en-US" sz="2800" dirty="0">
                <a:latin typeface="Palatino Linotype" panose="02040502050505030304" pitchFamily="18" charset="0"/>
              </a:rPr>
              <a:t>).</a:t>
            </a:r>
          </a:p>
          <a:p>
            <a:pPr algn="just"/>
            <a:r>
              <a:rPr lang="en-US" sz="2800" dirty="0">
                <a:latin typeface="Palatino Linotype" panose="02040502050505030304" pitchFamily="18" charset="0"/>
              </a:rPr>
              <a:t>The guns are tilted inwards to the tube axis.</a:t>
            </a:r>
          </a:p>
          <a:p>
            <a:pPr algn="just"/>
            <a:r>
              <a:rPr lang="en-US" sz="2800" dirty="0">
                <a:latin typeface="Palatino Linotype" panose="02040502050505030304" pitchFamily="18" charset="0"/>
              </a:rPr>
              <a:t>Arrangement of the guns are shown in the next slides.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Delta Gun Picture Tube</a:t>
            </a:r>
          </a:p>
        </p:txBody>
      </p:sp>
    </p:spTree>
    <p:extLst>
      <p:ext uri="{BB962C8B-B14F-4D97-AF65-F5344CB8AC3E}">
        <p14:creationId xmlns:p14="http://schemas.microsoft.com/office/powerpoint/2010/main" val="21089032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28</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129764" y="589593"/>
            <a:ext cx="8489746" cy="4269992"/>
          </a:xfrm>
          <a:prstGeom prst="rect">
            <a:avLst/>
          </a:prstGeom>
        </p:spPr>
      </p:pic>
      <p:sp>
        <p:nvSpPr>
          <p:cNvPr id="4" name="Rectangle 3"/>
          <p:cNvSpPr/>
          <p:nvPr/>
        </p:nvSpPr>
        <p:spPr>
          <a:xfrm>
            <a:off x="1865229" y="5199730"/>
            <a:ext cx="9018816" cy="461665"/>
          </a:xfrm>
          <a:prstGeom prst="rect">
            <a:avLst/>
          </a:prstGeom>
          <a:solidFill>
            <a:schemeClr val="accent4"/>
          </a:solidFill>
        </p:spPr>
        <p:txBody>
          <a:bodyPr wrap="none">
            <a:spAutoFit/>
          </a:bodyPr>
          <a:lstStyle/>
          <a:p>
            <a:r>
              <a:rPr lang="en-US" sz="2400" b="1" dirty="0">
                <a:latin typeface="Palatino Linotype" panose="02040502050505030304" pitchFamily="18" charset="0"/>
              </a:rPr>
              <a:t>Guns located on the corners of a delta in delta gun picture tube</a:t>
            </a:r>
          </a:p>
        </p:txBody>
      </p:sp>
    </p:spTree>
    <p:extLst>
      <p:ext uri="{BB962C8B-B14F-4D97-AF65-F5344CB8AC3E}">
        <p14:creationId xmlns:p14="http://schemas.microsoft.com/office/powerpoint/2010/main" val="42808043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29</a:t>
            </a:fld>
            <a:endParaRPr lang="en-US" noProof="0" dirty="0"/>
          </a:p>
        </p:txBody>
      </p:sp>
      <p:sp>
        <p:nvSpPr>
          <p:cNvPr id="3" name="Content Placeholder 2"/>
          <p:cNvSpPr txBox="1">
            <a:spLocks/>
          </p:cNvSpPr>
          <p:nvPr/>
        </p:nvSpPr>
        <p:spPr>
          <a:xfrm>
            <a:off x="363416" y="685800"/>
            <a:ext cx="11465168" cy="5777407"/>
          </a:xfrm>
          <a:prstGeom prst="rect">
            <a:avLst/>
          </a:prstGeom>
        </p:spPr>
        <p:txBody>
          <a:bodyPr>
            <a:normAutofit lnSpcReduction="10000"/>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On the screen, there are about one million dots of phosphor in groups of three, corresponding to red, green and blue light. </a:t>
            </a:r>
          </a:p>
          <a:p>
            <a:pPr algn="just"/>
            <a:r>
              <a:rPr lang="en-US" sz="2800" dirty="0">
                <a:latin typeface="Palatino Linotype" panose="02040502050505030304" pitchFamily="18" charset="0"/>
              </a:rPr>
              <a:t>These are deposited on the back of the face plate. </a:t>
            </a:r>
          </a:p>
          <a:p>
            <a:pPr algn="just"/>
            <a:r>
              <a:rPr lang="en-US" sz="2800" dirty="0">
                <a:latin typeface="Palatino Linotype" panose="02040502050505030304" pitchFamily="18" charset="0"/>
              </a:rPr>
              <a:t>Each group is called a triad (shown by three dark dots in the next slide). </a:t>
            </a:r>
          </a:p>
          <a:p>
            <a:pPr algn="just"/>
            <a:r>
              <a:rPr lang="en-US" sz="2800" dirty="0">
                <a:latin typeface="Palatino Linotype" panose="02040502050505030304" pitchFamily="18" charset="0"/>
              </a:rPr>
              <a:t>Thus there are one-third million triads. </a:t>
            </a:r>
          </a:p>
          <a:p>
            <a:pPr algn="just"/>
            <a:r>
              <a:rPr lang="en-US" sz="2800" dirty="0">
                <a:latin typeface="Palatino Linotype" panose="02040502050505030304" pitchFamily="18" charset="0"/>
              </a:rPr>
              <a:t>Each dot is of 0.42 mm diameter with a spacing of 0.72 mm between the respective dots of the adjacent triads.</a:t>
            </a:r>
          </a:p>
          <a:p>
            <a:pPr algn="just"/>
            <a:r>
              <a:rPr lang="en-US" sz="2800" dirty="0">
                <a:latin typeface="Palatino Linotype" panose="02040502050505030304" pitchFamily="18" charset="0"/>
              </a:rPr>
              <a:t>Phosphors used consist of zinc </a:t>
            </a:r>
            <a:r>
              <a:rPr lang="en-US" sz="2800" dirty="0" err="1">
                <a:latin typeface="Palatino Linotype" panose="02040502050505030304" pitchFamily="18" charset="0"/>
              </a:rPr>
              <a:t>sulphide</a:t>
            </a:r>
            <a:r>
              <a:rPr lang="en-US" sz="2800" dirty="0">
                <a:latin typeface="Palatino Linotype" panose="02040502050505030304" pitchFamily="18" charset="0"/>
              </a:rPr>
              <a:t> for red, zinc silicate for green and </a:t>
            </a:r>
            <a:r>
              <a:rPr lang="en-US" sz="2800" dirty="0" err="1">
                <a:latin typeface="Palatino Linotype" panose="02040502050505030304" pitchFamily="18" charset="0"/>
              </a:rPr>
              <a:t>yattrium</a:t>
            </a:r>
            <a:r>
              <a:rPr lang="en-US" sz="2800" dirty="0">
                <a:latin typeface="Palatino Linotype" panose="02040502050505030304" pitchFamily="18" charset="0"/>
              </a:rPr>
              <a:t> for blue.</a:t>
            </a:r>
          </a:p>
          <a:p>
            <a:pPr algn="just"/>
            <a:r>
              <a:rPr lang="en-US" sz="2800" dirty="0">
                <a:latin typeface="Palatino Linotype" panose="02040502050505030304" pitchFamily="18" charset="0"/>
              </a:rPr>
              <a:t>The space between the phosphor dots is also filled with black pigment which improves contrast and acts as a guard band for correcting errors of beam landing.</a:t>
            </a:r>
          </a:p>
        </p:txBody>
      </p:sp>
    </p:spTree>
    <p:extLst>
      <p:ext uri="{BB962C8B-B14F-4D97-AF65-F5344CB8AC3E}">
        <p14:creationId xmlns:p14="http://schemas.microsoft.com/office/powerpoint/2010/main" val="1177149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30</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012230" y="418130"/>
            <a:ext cx="6684421" cy="5181600"/>
          </a:xfrm>
          <a:prstGeom prst="rect">
            <a:avLst/>
          </a:prstGeom>
          <a:ln>
            <a:noFill/>
          </a:ln>
          <a:effectLst>
            <a:outerShdw blurRad="190500" algn="tl" rotWithShape="0">
              <a:srgbClr val="000000">
                <a:alpha val="70000"/>
              </a:srgbClr>
            </a:outerShdw>
          </a:effectLst>
        </p:spPr>
      </p:pic>
      <p:sp>
        <p:nvSpPr>
          <p:cNvPr id="4" name="Rectangle 3"/>
          <p:cNvSpPr/>
          <p:nvPr/>
        </p:nvSpPr>
        <p:spPr>
          <a:xfrm>
            <a:off x="3012230" y="5713149"/>
            <a:ext cx="6771405" cy="523220"/>
          </a:xfrm>
          <a:prstGeom prst="rect">
            <a:avLst/>
          </a:prstGeom>
          <a:solidFill>
            <a:schemeClr val="accent4"/>
          </a:solidFill>
        </p:spPr>
        <p:txBody>
          <a:bodyPr wrap="none">
            <a:spAutoFit/>
          </a:bodyPr>
          <a:lstStyle/>
          <a:p>
            <a:r>
              <a:rPr lang="en-US" sz="2800" b="1" dirty="0">
                <a:latin typeface="Palatino Linotype" panose="02040502050505030304" pitchFamily="18" charset="0"/>
              </a:rPr>
              <a:t>Shadow mask for delta gun picture tube</a:t>
            </a:r>
            <a:endParaRPr lang="en-US" sz="2800" b="1" dirty="0"/>
          </a:p>
        </p:txBody>
      </p:sp>
    </p:spTree>
    <p:extLst>
      <p:ext uri="{BB962C8B-B14F-4D97-AF65-F5344CB8AC3E}">
        <p14:creationId xmlns:p14="http://schemas.microsoft.com/office/powerpoint/2010/main" val="16838791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31</a:t>
            </a:fld>
            <a:endParaRPr lang="en-US" noProof="0" dirty="0"/>
          </a:p>
        </p:txBody>
      </p:sp>
      <p:sp>
        <p:nvSpPr>
          <p:cNvPr id="3" name="Content Placeholder 2"/>
          <p:cNvSpPr>
            <a:spLocks noGrp="1"/>
          </p:cNvSpPr>
          <p:nvPr>
            <p:ph idx="1"/>
          </p:nvPr>
        </p:nvSpPr>
        <p:spPr/>
        <p:txBody>
          <a:bodyPr>
            <a:normAutofit lnSpcReduction="10000"/>
          </a:bodyPr>
          <a:lstStyle/>
          <a:p>
            <a:pPr algn="just"/>
            <a:r>
              <a:rPr lang="en-US" sz="2800" dirty="0">
                <a:latin typeface="Palatino Linotype" panose="02040502050505030304" pitchFamily="18" charset="0"/>
              </a:rPr>
              <a:t>Electron beams from the three guns strike three phosphor dots of a triad. </a:t>
            </a:r>
          </a:p>
          <a:p>
            <a:pPr algn="just"/>
            <a:r>
              <a:rPr lang="en-US" sz="2800" dirty="0">
                <a:latin typeface="Palatino Linotype" panose="02040502050505030304" pitchFamily="18" charset="0"/>
              </a:rPr>
              <a:t>The dots of red, green and blue phosphors in a triad glow simultaneously, the intensity of glow being proportional to the intensity of video signal of the respective colour. </a:t>
            </a:r>
          </a:p>
          <a:p>
            <a:pPr algn="just"/>
            <a:r>
              <a:rPr lang="en-US" sz="2800" dirty="0">
                <a:latin typeface="Palatino Linotype" panose="02040502050505030304" pitchFamily="18" charset="0"/>
              </a:rPr>
              <a:t>The eye adds the three colours emitted by the phosphor dots at a time and perceives the resultant colour of the concerned pixel as in the original picture. </a:t>
            </a:r>
          </a:p>
          <a:p>
            <a:pPr algn="just"/>
            <a:r>
              <a:rPr lang="en-US" sz="2800" dirty="0">
                <a:latin typeface="Palatino Linotype" panose="02040502050505030304" pitchFamily="18" charset="0"/>
              </a:rPr>
              <a:t>Triads glow one after the other in quick succession due to deflection of the beams and hence the whole picture reproduced in its original colours. </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Principle of Working</a:t>
            </a:r>
          </a:p>
        </p:txBody>
      </p:sp>
    </p:spTree>
    <p:extLst>
      <p:ext uri="{BB962C8B-B14F-4D97-AF65-F5344CB8AC3E}">
        <p14:creationId xmlns:p14="http://schemas.microsoft.com/office/powerpoint/2010/main" val="32061697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32</a:t>
            </a:fld>
            <a:endParaRPr lang="en-US" noProof="0" dirty="0"/>
          </a:p>
        </p:txBody>
      </p:sp>
      <p:sp>
        <p:nvSpPr>
          <p:cNvPr id="3" name="Content Placeholder 2"/>
          <p:cNvSpPr>
            <a:spLocks noGrp="1"/>
          </p:cNvSpPr>
          <p:nvPr>
            <p:ph idx="1"/>
          </p:nvPr>
        </p:nvSpPr>
        <p:spPr>
          <a:xfrm>
            <a:off x="363416" y="1600200"/>
            <a:ext cx="11465168" cy="4863007"/>
          </a:xfrm>
        </p:spPr>
        <p:txBody>
          <a:bodyPr>
            <a:normAutofit/>
          </a:bodyPr>
          <a:lstStyle/>
          <a:p>
            <a:pPr algn="just"/>
            <a:r>
              <a:rPr lang="en-US" sz="2800" dirty="0">
                <a:latin typeface="Palatino Linotype" panose="02040502050505030304" pitchFamily="18" charset="0"/>
              </a:rPr>
              <a:t>To ensure that the beams land on the correct phosphors, a shadow mask is used. </a:t>
            </a:r>
          </a:p>
          <a:p>
            <a:pPr algn="just"/>
            <a:r>
              <a:rPr lang="en-US" sz="2800" dirty="0">
                <a:latin typeface="Palatino Linotype" panose="02040502050505030304" pitchFamily="18" charset="0"/>
              </a:rPr>
              <a:t>It is a thin perforated metal sheet located about 9 mm behind the screen.</a:t>
            </a:r>
          </a:p>
          <a:p>
            <a:pPr algn="just"/>
            <a:r>
              <a:rPr lang="en-US" sz="2800" dirty="0">
                <a:latin typeface="Palatino Linotype" panose="02040502050505030304" pitchFamily="18" charset="0"/>
              </a:rPr>
              <a:t>It is supported by a heavy internal frame for rigidity.</a:t>
            </a:r>
          </a:p>
          <a:p>
            <a:pPr algn="just"/>
            <a:r>
              <a:rPr lang="en-US" sz="2800" dirty="0">
                <a:latin typeface="Palatino Linotype" panose="02040502050505030304" pitchFamily="18" charset="0"/>
              </a:rPr>
              <a:t>It has one conical hole for each triad.</a:t>
            </a:r>
          </a:p>
          <a:p>
            <a:pPr algn="just"/>
            <a:r>
              <a:rPr lang="en-US" sz="2800" dirty="0">
                <a:latin typeface="Palatino Linotype" panose="02040502050505030304" pitchFamily="18" charset="0"/>
              </a:rPr>
              <a:t>The hole is conical to prevent emission of secondary electrons from the mask.</a:t>
            </a:r>
          </a:p>
          <a:p>
            <a:pPr algn="just"/>
            <a:r>
              <a:rPr lang="en-US" sz="2800" dirty="0">
                <a:latin typeface="Palatino Linotype" panose="02040502050505030304" pitchFamily="18" charset="0"/>
              </a:rPr>
              <a:t>Three beams converge on a hole of the mask, and from there they diverge to strike the respective dots of a triad.</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Shadow Mask</a:t>
            </a:r>
          </a:p>
        </p:txBody>
      </p:sp>
    </p:spTree>
    <p:extLst>
      <p:ext uri="{BB962C8B-B14F-4D97-AF65-F5344CB8AC3E}">
        <p14:creationId xmlns:p14="http://schemas.microsoft.com/office/powerpoint/2010/main" val="15391618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33</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Convergence of the three beams on the respective dots difficult. It required four static convergent magnets and one dynamic convergence assembly, resulting in 12 present controls.</a:t>
            </a:r>
          </a:p>
          <a:p>
            <a:pPr algn="just"/>
            <a:r>
              <a:rPr lang="en-US" sz="2800" dirty="0">
                <a:latin typeface="Palatino Linotype" panose="02040502050505030304" pitchFamily="18" charset="0"/>
              </a:rPr>
              <a:t>As the beams are not in the same line, focus is not sharp all over the screen</a:t>
            </a:r>
          </a:p>
          <a:p>
            <a:pPr algn="just"/>
            <a:r>
              <a:rPr lang="en-US" sz="2800" dirty="0">
                <a:latin typeface="Palatino Linotype" panose="02040502050505030304" pitchFamily="18" charset="0"/>
              </a:rPr>
              <a:t>Electronic transparency of the shadow mask structure is very low, only 20%. Thus 80% of the beams are stopped from striking the phosphor dots, resulting in poor efficiency.</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Drawback of Delta Gun Picture Tube</a:t>
            </a:r>
          </a:p>
        </p:txBody>
      </p:sp>
    </p:spTree>
    <p:extLst>
      <p:ext uri="{BB962C8B-B14F-4D97-AF65-F5344CB8AC3E}">
        <p14:creationId xmlns:p14="http://schemas.microsoft.com/office/powerpoint/2010/main" val="18869030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34</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Has three guns which are aligned precisely in a horizontal line in the same plane. </a:t>
            </a:r>
          </a:p>
          <a:p>
            <a:pPr algn="just"/>
            <a:r>
              <a:rPr lang="en-US" sz="2800" dirty="0">
                <a:latin typeface="Palatino Linotype" panose="02040502050505030304" pitchFamily="18" charset="0"/>
              </a:rPr>
              <a:t>The green gun is in the </a:t>
            </a:r>
            <a:r>
              <a:rPr lang="en-US" sz="2800" dirty="0" err="1">
                <a:latin typeface="Palatino Linotype" panose="02040502050505030304" pitchFamily="18" charset="0"/>
              </a:rPr>
              <a:t>centre</a:t>
            </a:r>
            <a:r>
              <a:rPr lang="en-US" sz="2800" dirty="0">
                <a:latin typeface="Palatino Linotype" panose="02040502050505030304" pitchFamily="18" charset="0"/>
              </a:rPr>
              <a:t>, and the blue and the red guns are on the right and the left, slightly tilted inwards.</a:t>
            </a:r>
          </a:p>
          <a:p>
            <a:pPr algn="just"/>
            <a:r>
              <a:rPr lang="en-US" sz="2800" dirty="0">
                <a:latin typeface="Palatino Linotype" panose="02040502050505030304" pitchFamily="18" charset="0"/>
              </a:rPr>
              <a:t>Each gun in the picture tube has its own cathode, control grid, screen grid and focus grid.</a:t>
            </a:r>
          </a:p>
          <a:p>
            <a:pPr algn="just"/>
            <a:r>
              <a:rPr lang="en-US" sz="2800" dirty="0">
                <a:latin typeface="Palatino Linotype" panose="02040502050505030304" pitchFamily="18" charset="0"/>
              </a:rPr>
              <a:t>Colour phosphors are deposited on the screen in the form of fine vertical stripes in groups of three stripes of red, green and blue phosphors.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Precision-in-Line Picture Tube (PIL)</a:t>
            </a:r>
          </a:p>
        </p:txBody>
      </p:sp>
    </p:spTree>
    <p:extLst>
      <p:ext uri="{BB962C8B-B14F-4D97-AF65-F5344CB8AC3E}">
        <p14:creationId xmlns:p14="http://schemas.microsoft.com/office/powerpoint/2010/main" val="16035375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35</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700107" y="835512"/>
            <a:ext cx="6547802" cy="4318336"/>
          </a:xfrm>
          <a:prstGeom prst="rect">
            <a:avLst/>
          </a:prstGeom>
        </p:spPr>
      </p:pic>
      <p:sp>
        <p:nvSpPr>
          <p:cNvPr id="4" name="Rectangle 3"/>
          <p:cNvSpPr/>
          <p:nvPr/>
        </p:nvSpPr>
        <p:spPr>
          <a:xfrm>
            <a:off x="2202873" y="5623861"/>
            <a:ext cx="7502236" cy="461665"/>
          </a:xfrm>
          <a:prstGeom prst="rect">
            <a:avLst/>
          </a:prstGeom>
          <a:solidFill>
            <a:schemeClr val="accent4"/>
          </a:solidFill>
        </p:spPr>
        <p:txBody>
          <a:bodyPr wrap="square">
            <a:spAutoFit/>
          </a:bodyPr>
          <a:lstStyle/>
          <a:p>
            <a:r>
              <a:rPr lang="en-US" sz="2400" b="1" dirty="0">
                <a:latin typeface="Palatino Linotype" panose="02040502050505030304" pitchFamily="18" charset="0"/>
              </a:rPr>
              <a:t>Guns in in-line-configuration in PIL picture tube</a:t>
            </a:r>
            <a:endParaRPr lang="en-US" sz="2400" b="1" dirty="0"/>
          </a:p>
        </p:txBody>
      </p:sp>
    </p:spTree>
    <p:extLst>
      <p:ext uri="{BB962C8B-B14F-4D97-AF65-F5344CB8AC3E}">
        <p14:creationId xmlns:p14="http://schemas.microsoft.com/office/powerpoint/2010/main" val="2749530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36</a:t>
            </a:fld>
            <a:endParaRPr lang="en-US" noProof="0" dirty="0"/>
          </a:p>
        </p:txBody>
      </p:sp>
      <p:sp>
        <p:nvSpPr>
          <p:cNvPr id="3" name="Content Placeholder 2"/>
          <p:cNvSpPr txBox="1">
            <a:spLocks/>
          </p:cNvSpPr>
          <p:nvPr/>
        </p:nvSpPr>
        <p:spPr>
          <a:xfrm>
            <a:off x="363416" y="893618"/>
            <a:ext cx="11465168" cy="5283345"/>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shadow mask placed 9 mm behind the screen has vertical slots corresponding to colour phosphor stripes.</a:t>
            </a:r>
          </a:p>
          <a:p>
            <a:pPr algn="just"/>
            <a:r>
              <a:rPr lang="en-US" sz="2800" dirty="0">
                <a:latin typeface="Palatino Linotype" panose="02040502050505030304" pitchFamily="18" charset="0"/>
              </a:rPr>
              <a:t>One vertical slot is for one group of three stripes.</a:t>
            </a:r>
          </a:p>
          <a:p>
            <a:pPr algn="just"/>
            <a:r>
              <a:rPr lang="en-US" sz="2800" dirty="0">
                <a:latin typeface="Palatino Linotype" panose="02040502050505030304" pitchFamily="18" charset="0"/>
              </a:rPr>
              <a:t>The slots in the mask are so located that each beam strikes its own phosphor stripe only, as shown in the next slide.</a:t>
            </a:r>
          </a:p>
          <a:p>
            <a:pPr algn="just"/>
            <a:r>
              <a:rPr lang="en-US" sz="2800" dirty="0">
                <a:latin typeface="Palatino Linotype" panose="02040502050505030304" pitchFamily="18" charset="0"/>
              </a:rPr>
              <a:t>The three phosphor stripes in a group produce three colours, red, green and blue simultaneously when beams from the three guns strike the stripes. </a:t>
            </a:r>
          </a:p>
          <a:p>
            <a:pPr algn="just"/>
            <a:r>
              <a:rPr lang="en-US" sz="2800" dirty="0">
                <a:latin typeface="Palatino Linotype" panose="02040502050505030304" pitchFamily="18" charset="0"/>
              </a:rPr>
              <a:t>The eye adds the three colours and perceives the original colour of the pixel.</a:t>
            </a:r>
          </a:p>
        </p:txBody>
      </p:sp>
    </p:spTree>
    <p:extLst>
      <p:ext uri="{BB962C8B-B14F-4D97-AF65-F5344CB8AC3E}">
        <p14:creationId xmlns:p14="http://schemas.microsoft.com/office/powerpoint/2010/main" val="14382422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37</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114799" y="557406"/>
            <a:ext cx="4281055" cy="4688774"/>
          </a:xfrm>
          <a:prstGeom prst="rect">
            <a:avLst/>
          </a:prstGeom>
          <a:ln>
            <a:noFill/>
          </a:ln>
          <a:effectLst>
            <a:outerShdw blurRad="292100" dist="139700" dir="2700000" algn="tl" rotWithShape="0">
              <a:srgbClr val="333333">
                <a:alpha val="65000"/>
              </a:srgbClr>
            </a:outerShdw>
          </a:effectLst>
        </p:spPr>
      </p:pic>
      <p:sp>
        <p:nvSpPr>
          <p:cNvPr id="4" name="Rectangle 3"/>
          <p:cNvSpPr/>
          <p:nvPr/>
        </p:nvSpPr>
        <p:spPr>
          <a:xfrm>
            <a:off x="4114799" y="5603079"/>
            <a:ext cx="4384964" cy="461665"/>
          </a:xfrm>
          <a:prstGeom prst="rect">
            <a:avLst/>
          </a:prstGeom>
          <a:solidFill>
            <a:schemeClr val="accent4"/>
          </a:solidFill>
        </p:spPr>
        <p:txBody>
          <a:bodyPr wrap="square">
            <a:spAutoFit/>
          </a:bodyPr>
          <a:lstStyle/>
          <a:p>
            <a:pPr algn="ctr"/>
            <a:r>
              <a:rPr lang="en-US" sz="2400" b="1" dirty="0">
                <a:latin typeface="Palatino Linotype" panose="02040502050505030304" pitchFamily="18" charset="0"/>
              </a:rPr>
              <a:t>PIL picture tube’s mask</a:t>
            </a:r>
            <a:endParaRPr lang="en-US" sz="2400" b="1" dirty="0"/>
          </a:p>
        </p:txBody>
      </p:sp>
    </p:spTree>
    <p:extLst>
      <p:ext uri="{BB962C8B-B14F-4D97-AF65-F5344CB8AC3E}">
        <p14:creationId xmlns:p14="http://schemas.microsoft.com/office/powerpoint/2010/main" val="20096824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38</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The PIL tube has the following advantages over delta gun picture tube and is therefore widely used in TV receivers.</a:t>
            </a:r>
          </a:p>
          <a:p>
            <a:pPr marL="971550" lvl="1" indent="-514350" algn="just">
              <a:buFont typeface="+mj-lt"/>
              <a:buAutoNum type="arabicParenR"/>
            </a:pPr>
            <a:r>
              <a:rPr lang="en-US" sz="2600" dirty="0">
                <a:latin typeface="Palatino Linotype" panose="02040502050505030304" pitchFamily="18" charset="0"/>
              </a:rPr>
              <a:t>Due to vertical slots, electron transparency is about 50%, which is much more than 20% for the delta gun picture tube. Hence efficiency is better.</a:t>
            </a:r>
          </a:p>
          <a:p>
            <a:pPr marL="971550" lvl="1" indent="-514350" algn="just">
              <a:buFont typeface="+mj-lt"/>
              <a:buAutoNum type="arabicParenR"/>
            </a:pPr>
            <a:r>
              <a:rPr lang="en-US" sz="2600" dirty="0">
                <a:latin typeface="Palatino Linotype" panose="02040502050505030304" pitchFamily="18" charset="0"/>
              </a:rPr>
              <a:t>Vertical convergence is not needed and hence convergence adjustments are less than required in the delta gun picture tube. Even horizontal convergence is needed only at the stage of manufacturing. Thus no convergence is required during servicing</a:t>
            </a:r>
          </a:p>
          <a:p>
            <a:pPr marL="971550" lvl="1" indent="-514350" algn="just">
              <a:buFont typeface="+mj-lt"/>
              <a:buAutoNum type="arabicParenR"/>
            </a:pPr>
            <a:r>
              <a:rPr lang="en-US" sz="2600" dirty="0">
                <a:latin typeface="Palatino Linotype" panose="02040502050505030304" pitchFamily="18" charset="0"/>
              </a:rPr>
              <a:t>Focus is sharp all through the screen as the guns are in the same plane.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Advantages of PIL Picture Tube</a:t>
            </a:r>
          </a:p>
        </p:txBody>
      </p:sp>
    </p:spTree>
    <p:extLst>
      <p:ext uri="{BB962C8B-B14F-4D97-AF65-F5344CB8AC3E}">
        <p14:creationId xmlns:p14="http://schemas.microsoft.com/office/powerpoint/2010/main" val="11073845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39</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The </a:t>
            </a:r>
            <a:r>
              <a:rPr lang="en-US" sz="2800" dirty="0" err="1">
                <a:latin typeface="Palatino Linotype" panose="02040502050505030304" pitchFamily="18" charset="0"/>
              </a:rPr>
              <a:t>trinitron</a:t>
            </a:r>
            <a:r>
              <a:rPr lang="en-US" sz="2800" dirty="0">
                <a:latin typeface="Palatino Linotype" panose="02040502050505030304" pitchFamily="18" charset="0"/>
              </a:rPr>
              <a:t> picture tube employed three cathodes, but only one control grid, one screen grid and one focus grid for all the three beams, as shown in the next figure. </a:t>
            </a:r>
          </a:p>
          <a:p>
            <a:pPr algn="just"/>
            <a:r>
              <a:rPr lang="en-US" sz="2800" dirty="0">
                <a:latin typeface="Palatino Linotype" panose="02040502050505030304" pitchFamily="18" charset="0"/>
              </a:rPr>
              <a:t>All the three cathodes are in line. </a:t>
            </a:r>
          </a:p>
          <a:p>
            <a:pPr algn="just"/>
            <a:r>
              <a:rPr lang="en-US" sz="2800" dirty="0">
                <a:latin typeface="Palatino Linotype" panose="02040502050505030304" pitchFamily="18" charset="0"/>
              </a:rPr>
              <a:t>The control grid is a single cup type electrode with three holes for three beams. </a:t>
            </a:r>
          </a:p>
          <a:p>
            <a:pPr algn="just"/>
            <a:r>
              <a:rPr lang="en-US" sz="2800" dirty="0">
                <a:latin typeface="Palatino Linotype" panose="02040502050505030304" pitchFamily="18" charset="0"/>
              </a:rPr>
              <a:t>The screen and the focus grid are common for three beams.</a:t>
            </a:r>
          </a:p>
          <a:p>
            <a:pPr algn="just"/>
            <a:r>
              <a:rPr lang="en-US" sz="2800" dirty="0">
                <a:latin typeface="Palatino Linotype" panose="02040502050505030304" pitchFamily="18" charset="0"/>
              </a:rPr>
              <a:t>The shadow mask has long slots, one slot per vertical line, increasing transparency to about 80%</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Trinitron Picture Tube</a:t>
            </a:r>
          </a:p>
        </p:txBody>
      </p:sp>
    </p:spTree>
    <p:extLst>
      <p:ext uri="{BB962C8B-B14F-4D97-AF65-F5344CB8AC3E}">
        <p14:creationId xmlns:p14="http://schemas.microsoft.com/office/powerpoint/2010/main" val="994543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40</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244437" y="718493"/>
            <a:ext cx="7190509" cy="4355943"/>
          </a:xfrm>
          <a:prstGeom prst="rect">
            <a:avLst/>
          </a:prstGeom>
          <a:ln>
            <a:noFill/>
          </a:ln>
          <a:effectLst>
            <a:outerShdw blurRad="292100" dist="139700" dir="2700000" algn="tl" rotWithShape="0">
              <a:srgbClr val="333333">
                <a:alpha val="65000"/>
              </a:srgbClr>
            </a:outerShdw>
          </a:effectLst>
        </p:spPr>
      </p:pic>
      <p:sp>
        <p:nvSpPr>
          <p:cNvPr id="4" name="Rectangle 3"/>
          <p:cNvSpPr/>
          <p:nvPr/>
        </p:nvSpPr>
        <p:spPr>
          <a:xfrm>
            <a:off x="2784765" y="5399489"/>
            <a:ext cx="5839690" cy="461665"/>
          </a:xfrm>
          <a:prstGeom prst="rect">
            <a:avLst/>
          </a:prstGeom>
          <a:solidFill>
            <a:schemeClr val="accent4"/>
          </a:solidFill>
        </p:spPr>
        <p:txBody>
          <a:bodyPr wrap="square">
            <a:spAutoFit/>
          </a:bodyPr>
          <a:lstStyle/>
          <a:p>
            <a:pPr algn="ctr"/>
            <a:r>
              <a:rPr lang="en-US" sz="2400" b="1" dirty="0">
                <a:latin typeface="Palatino Linotype" panose="02040502050505030304" pitchFamily="18" charset="0"/>
              </a:rPr>
              <a:t>Electrodes in Trinitron Picture tube</a:t>
            </a:r>
            <a:endParaRPr lang="en-US" sz="2400" b="1" dirty="0"/>
          </a:p>
        </p:txBody>
      </p:sp>
    </p:spTree>
    <p:extLst>
      <p:ext uri="{BB962C8B-B14F-4D97-AF65-F5344CB8AC3E}">
        <p14:creationId xmlns:p14="http://schemas.microsoft.com/office/powerpoint/2010/main" val="7140339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41</a:t>
            </a:fld>
            <a:endParaRPr lang="en-US" noProof="0" dirty="0"/>
          </a:p>
        </p:txBody>
      </p:sp>
      <p:sp>
        <p:nvSpPr>
          <p:cNvPr id="3" name="Content Placeholder 2"/>
          <p:cNvSpPr txBox="1">
            <a:spLocks/>
          </p:cNvSpPr>
          <p:nvPr/>
        </p:nvSpPr>
        <p:spPr>
          <a:xfrm>
            <a:off x="363416" y="831273"/>
            <a:ext cx="11465168" cy="5465618"/>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Fluorescent screen is of the same type as in PIL picture tube, consisting of phosphor stripes in groups of three, one for each primary colour (red, green and blue)</a:t>
            </a:r>
          </a:p>
          <a:p>
            <a:pPr algn="just"/>
            <a:r>
              <a:rPr lang="en-US" sz="2800" dirty="0">
                <a:latin typeface="Palatino Linotype" panose="02040502050505030304" pitchFamily="18" charset="0"/>
              </a:rPr>
              <a:t>For focusing, </a:t>
            </a:r>
            <a:r>
              <a:rPr lang="en-US" sz="2800" dirty="0" err="1">
                <a:latin typeface="Palatino Linotype" panose="02040502050505030304" pitchFamily="18" charset="0"/>
              </a:rPr>
              <a:t>trinitron</a:t>
            </a:r>
            <a:r>
              <a:rPr lang="en-US" sz="2800" dirty="0">
                <a:latin typeface="Palatino Linotype" panose="02040502050505030304" pitchFamily="18" charset="0"/>
              </a:rPr>
              <a:t> uses low voltage </a:t>
            </a:r>
            <a:r>
              <a:rPr lang="en-US" sz="2800" dirty="0" err="1">
                <a:latin typeface="Palatino Linotype" panose="02040502050505030304" pitchFamily="18" charset="0"/>
              </a:rPr>
              <a:t>focussing</a:t>
            </a:r>
            <a:r>
              <a:rPr lang="en-US" sz="2800" dirty="0">
                <a:latin typeface="Palatino Linotype" panose="02040502050505030304" pitchFamily="18" charset="0"/>
              </a:rPr>
              <a:t> system, requiring 400 V (variable) at the focus grid and using two small </a:t>
            </a:r>
            <a:r>
              <a:rPr lang="en-US" sz="2800" dirty="0" err="1">
                <a:latin typeface="Palatino Linotype" panose="02040502050505030304" pitchFamily="18" charset="0"/>
              </a:rPr>
              <a:t>ultor</a:t>
            </a:r>
            <a:r>
              <a:rPr lang="en-US" sz="2800" dirty="0">
                <a:latin typeface="Palatino Linotype" panose="02040502050505030304" pitchFamily="18" charset="0"/>
              </a:rPr>
              <a:t> cylinders one to the left and one to the right of the focus grid.</a:t>
            </a:r>
          </a:p>
        </p:txBody>
      </p:sp>
    </p:spTree>
    <p:extLst>
      <p:ext uri="{BB962C8B-B14F-4D97-AF65-F5344CB8AC3E}">
        <p14:creationId xmlns:p14="http://schemas.microsoft.com/office/powerpoint/2010/main" val="38784578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42</a:t>
            </a:fld>
            <a:endParaRPr lang="en-US" noProof="0" dirty="0"/>
          </a:p>
        </p:txBody>
      </p:sp>
      <p:sp>
        <p:nvSpPr>
          <p:cNvPr id="3" name="Content Placeholder 2"/>
          <p:cNvSpPr>
            <a:spLocks noGrp="1"/>
          </p:cNvSpPr>
          <p:nvPr>
            <p:ph idx="1"/>
          </p:nvPr>
        </p:nvSpPr>
        <p:spPr/>
        <p:txBody>
          <a:bodyPr>
            <a:normAutofit/>
          </a:bodyPr>
          <a:lstStyle/>
          <a:p>
            <a:pPr marL="514350" indent="-514350" algn="just">
              <a:buFont typeface="+mj-lt"/>
              <a:buAutoNum type="arabicParenR"/>
            </a:pPr>
            <a:r>
              <a:rPr lang="en-US" sz="2800" dirty="0">
                <a:latin typeface="Palatino Linotype" panose="02040502050505030304" pitchFamily="18" charset="0"/>
              </a:rPr>
              <a:t>Improved vertical resolution</a:t>
            </a:r>
          </a:p>
          <a:p>
            <a:pPr marL="514350" indent="-514350" algn="just">
              <a:buFont typeface="+mj-lt"/>
              <a:buAutoNum type="arabicParenR"/>
            </a:pPr>
            <a:r>
              <a:rPr lang="en-US" sz="2800" dirty="0">
                <a:latin typeface="Palatino Linotype" panose="02040502050505030304" pitchFamily="18" charset="0"/>
              </a:rPr>
              <a:t>Greater transparency for the electron beam, being about 80% against 20% for the delta gun and 50% for the PIL picture tube. Consequently efficiency is high</a:t>
            </a:r>
          </a:p>
          <a:p>
            <a:pPr marL="514350" indent="-514350" algn="just">
              <a:buFont typeface="+mj-lt"/>
              <a:buAutoNum type="arabicParenR"/>
            </a:pPr>
            <a:r>
              <a:rPr lang="en-US" sz="2800" dirty="0">
                <a:latin typeface="Palatino Linotype" panose="02040502050505030304" pitchFamily="18" charset="0"/>
              </a:rPr>
              <a:t>Controls are only 6 against 12 in delta gun and PIL picture tubes</a:t>
            </a:r>
          </a:p>
          <a:p>
            <a:pPr marL="514350" indent="-514350" algn="just">
              <a:buFont typeface="+mj-lt"/>
              <a:buAutoNum type="arabicParenR"/>
            </a:pPr>
            <a:r>
              <a:rPr lang="en-US" sz="2800" dirty="0">
                <a:latin typeface="Palatino Linotype" panose="02040502050505030304" pitchFamily="18" charset="0"/>
              </a:rPr>
              <a:t>Sharper focus and brighter picture</a:t>
            </a:r>
          </a:p>
          <a:p>
            <a:pPr marL="514350" indent="-514350" algn="just">
              <a:buFont typeface="+mj-lt"/>
              <a:buAutoNum type="arabicParenR"/>
            </a:pPr>
            <a:r>
              <a:rPr lang="en-US" sz="2800" dirty="0">
                <a:latin typeface="Palatino Linotype" panose="02040502050505030304" pitchFamily="18" charset="0"/>
              </a:rPr>
              <a:t>No problem of convergence adjustment during servicing</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Advantages of Trinitron Picture Tube</a:t>
            </a:r>
          </a:p>
        </p:txBody>
      </p:sp>
    </p:spTree>
    <p:extLst>
      <p:ext uri="{BB962C8B-B14F-4D97-AF65-F5344CB8AC3E}">
        <p14:creationId xmlns:p14="http://schemas.microsoft.com/office/powerpoint/2010/main" val="38681798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43</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Comparison of Colour Picture Tubes</a:t>
            </a: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639856" y="1722312"/>
            <a:ext cx="9271159" cy="4593208"/>
          </a:xfrm>
          <a:prstGeom prst="rect">
            <a:avLst/>
          </a:prstGeom>
        </p:spPr>
      </p:pic>
    </p:spTree>
    <p:extLst>
      <p:ext uri="{BB962C8B-B14F-4D97-AF65-F5344CB8AC3E}">
        <p14:creationId xmlns:p14="http://schemas.microsoft.com/office/powerpoint/2010/main" val="26567998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44</a:t>
            </a:fld>
            <a:endParaRPr lang="en-US" noProof="0" dirty="0"/>
          </a:p>
        </p:txBody>
      </p:sp>
      <p:grpSp>
        <p:nvGrpSpPr>
          <p:cNvPr id="5" name="Group 4"/>
          <p:cNvGrpSpPr/>
          <p:nvPr/>
        </p:nvGrpSpPr>
        <p:grpSpPr>
          <a:xfrm>
            <a:off x="2057399" y="415636"/>
            <a:ext cx="9185564" cy="5673437"/>
            <a:chOff x="3870823" y="1052561"/>
            <a:chExt cx="4672796" cy="2805920"/>
          </a:xfrm>
        </p:grpSpPr>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022453" y="1052561"/>
              <a:ext cx="4521166" cy="347131"/>
            </a:xfrm>
            <a:prstGeom prst="rect">
              <a:avLst/>
            </a:prstGeom>
          </p:spPr>
        </p:pic>
        <p:pic>
          <p:nvPicPr>
            <p:cNvPr id="4" name="Picture 3"/>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3870823" y="1420099"/>
              <a:ext cx="4631232" cy="2438382"/>
            </a:xfrm>
            <a:prstGeom prst="rect">
              <a:avLst/>
            </a:prstGeom>
          </p:spPr>
        </p:pic>
      </p:grpSp>
    </p:spTree>
    <p:extLst>
      <p:ext uri="{BB962C8B-B14F-4D97-AF65-F5344CB8AC3E}">
        <p14:creationId xmlns:p14="http://schemas.microsoft.com/office/powerpoint/2010/main" val="25136128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45</a:t>
            </a:fld>
            <a:endParaRPr lang="en-US" noProof="0" dirty="0"/>
          </a:p>
        </p:txBody>
      </p:sp>
      <p:grpSp>
        <p:nvGrpSpPr>
          <p:cNvPr id="5" name="Group 4"/>
          <p:cNvGrpSpPr/>
          <p:nvPr/>
        </p:nvGrpSpPr>
        <p:grpSpPr>
          <a:xfrm>
            <a:off x="1226127" y="1052561"/>
            <a:ext cx="9559635" cy="3166148"/>
            <a:chOff x="3869609" y="1052561"/>
            <a:chExt cx="4674010" cy="1129907"/>
          </a:xfrm>
        </p:grpSpPr>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022453" y="1052561"/>
              <a:ext cx="4521166" cy="347131"/>
            </a:xfrm>
            <a:prstGeom prst="rect">
              <a:avLst/>
            </a:prstGeom>
          </p:spPr>
        </p:pic>
        <p:pic>
          <p:nvPicPr>
            <p:cNvPr id="4" name="Picture 3"/>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3869609" y="1420474"/>
              <a:ext cx="4631232" cy="761994"/>
            </a:xfrm>
            <a:prstGeom prst="rect">
              <a:avLst/>
            </a:prstGeom>
          </p:spPr>
        </p:pic>
      </p:grpSp>
    </p:spTree>
    <p:extLst>
      <p:ext uri="{BB962C8B-B14F-4D97-AF65-F5344CB8AC3E}">
        <p14:creationId xmlns:p14="http://schemas.microsoft.com/office/powerpoint/2010/main" val="40115251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46</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The three beams in a colour picture tube must land on the respective phosphor dots or stripes correctly. </a:t>
            </a:r>
          </a:p>
          <a:p>
            <a:pPr algn="just"/>
            <a:r>
              <a:rPr lang="en-US" sz="2800" dirty="0">
                <a:latin typeface="Palatino Linotype" panose="02040502050505030304" pitchFamily="18" charset="0"/>
              </a:rPr>
              <a:t>Any </a:t>
            </a:r>
            <a:r>
              <a:rPr lang="en-US" sz="2800" dirty="0" err="1">
                <a:latin typeface="Palatino Linotype" panose="02040502050505030304" pitchFamily="18" charset="0"/>
              </a:rPr>
              <a:t>mis</a:t>
            </a:r>
            <a:r>
              <a:rPr lang="en-US" sz="2800" dirty="0">
                <a:latin typeface="Palatino Linotype" panose="02040502050505030304" pitchFamily="18" charset="0"/>
              </a:rPr>
              <a:t>-registration will result in production of wrong colour. </a:t>
            </a:r>
          </a:p>
          <a:p>
            <a:pPr algn="just"/>
            <a:r>
              <a:rPr lang="en-US" sz="2800" dirty="0">
                <a:latin typeface="Palatino Linotype" panose="02040502050505030304" pitchFamily="18" charset="0"/>
              </a:rPr>
              <a:t>To ensure correct registration, adjustments of colour purity(for the raster) and of convergence of the beams (for individual pixels) is to be made accurately.</a:t>
            </a:r>
          </a:p>
          <a:p>
            <a:pPr algn="just"/>
            <a:r>
              <a:rPr lang="en-US" sz="2800" dirty="0">
                <a:latin typeface="Palatino Linotype" panose="02040502050505030304" pitchFamily="18" charset="0"/>
              </a:rPr>
              <a:t>Besides the deflection yoke, a colour picture tube has a convergence yoke, and blue lateral shift and colour purity rings as shown in the next sketch.</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Adjustments in Colour Picture Tube</a:t>
            </a:r>
          </a:p>
        </p:txBody>
      </p:sp>
    </p:spTree>
    <p:extLst>
      <p:ext uri="{BB962C8B-B14F-4D97-AF65-F5344CB8AC3E}">
        <p14:creationId xmlns:p14="http://schemas.microsoft.com/office/powerpoint/2010/main" val="27508668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47</a:t>
            </a:fld>
            <a:endParaRPr lang="en-US" noProof="0" dirty="0"/>
          </a:p>
        </p:txBody>
      </p:sp>
      <p:pic>
        <p:nvPicPr>
          <p:cNvPr id="3" name="Picture 2"/>
          <p:cNvPicPr>
            <a:picLocks noChangeAspect="1"/>
          </p:cNvPicPr>
          <p:nvPr/>
        </p:nvPicPr>
        <p:blipFill>
          <a:blip r:embed="rId2"/>
          <a:stretch>
            <a:fillRect/>
          </a:stretch>
        </p:blipFill>
        <p:spPr>
          <a:xfrm>
            <a:off x="1537485" y="344060"/>
            <a:ext cx="9376949" cy="5017646"/>
          </a:xfrm>
          <a:prstGeom prst="rect">
            <a:avLst/>
          </a:prstGeom>
          <a:ln>
            <a:noFill/>
          </a:ln>
          <a:effectLst>
            <a:outerShdw blurRad="190500" algn="tl" rotWithShape="0">
              <a:srgbClr val="000000">
                <a:alpha val="70000"/>
              </a:srgbClr>
            </a:outerShdw>
          </a:effectLst>
        </p:spPr>
      </p:pic>
      <p:sp>
        <p:nvSpPr>
          <p:cNvPr id="4" name="Rectangle 3"/>
          <p:cNvSpPr/>
          <p:nvPr/>
        </p:nvSpPr>
        <p:spPr>
          <a:xfrm>
            <a:off x="1946133" y="5727790"/>
            <a:ext cx="8549135" cy="523220"/>
          </a:xfrm>
          <a:prstGeom prst="rect">
            <a:avLst/>
          </a:prstGeom>
          <a:solidFill>
            <a:schemeClr val="accent4">
              <a:lumMod val="60000"/>
              <a:lumOff val="40000"/>
            </a:schemeClr>
          </a:solidFill>
        </p:spPr>
        <p:txBody>
          <a:bodyPr wrap="none">
            <a:spAutoFit/>
          </a:bodyPr>
          <a:lstStyle/>
          <a:p>
            <a:pPr algn="just"/>
            <a:r>
              <a:rPr lang="en-US" sz="2800" b="1" dirty="0">
                <a:latin typeface="Palatino Linotype" panose="02040502050505030304" pitchFamily="18" charset="0"/>
              </a:rPr>
              <a:t>Layout of different external yokes and components</a:t>
            </a:r>
          </a:p>
        </p:txBody>
      </p:sp>
    </p:spTree>
    <p:extLst>
      <p:ext uri="{BB962C8B-B14F-4D97-AF65-F5344CB8AC3E}">
        <p14:creationId xmlns:p14="http://schemas.microsoft.com/office/powerpoint/2010/main" val="31790129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48</a:t>
            </a:fld>
            <a:endParaRPr lang="en-US" noProof="0" dirty="0"/>
          </a:p>
        </p:txBody>
      </p:sp>
      <p:sp>
        <p:nvSpPr>
          <p:cNvPr id="3" name="Content Placeholder 2"/>
          <p:cNvSpPr>
            <a:spLocks noGrp="1"/>
          </p:cNvSpPr>
          <p:nvPr>
            <p:ph idx="1"/>
          </p:nvPr>
        </p:nvSpPr>
        <p:spPr>
          <a:xfrm>
            <a:off x="363416" y="1579418"/>
            <a:ext cx="11465168" cy="5133173"/>
          </a:xfrm>
        </p:spPr>
        <p:txBody>
          <a:bodyPr>
            <a:normAutofit/>
          </a:bodyPr>
          <a:lstStyle/>
          <a:p>
            <a:pPr algn="just"/>
            <a:r>
              <a:rPr lang="en-US" sz="2800" dirty="0">
                <a:latin typeface="Palatino Linotype" panose="02040502050505030304" pitchFamily="18" charset="0"/>
              </a:rPr>
              <a:t>The shadow mask and the phosphor dots or stripes are so aligned that electrons from the red gun strike the red phosphors only, electrons from the green gun strike the green phosphors only and those from the blue gun, blue phosphors only. </a:t>
            </a:r>
          </a:p>
          <a:p>
            <a:pPr algn="just"/>
            <a:r>
              <a:rPr lang="en-US" sz="2800" dirty="0">
                <a:latin typeface="Palatino Linotype" panose="02040502050505030304" pitchFamily="18" charset="0"/>
              </a:rPr>
              <a:t>The raster visible on the screen should be white when all the three guns are on and the beam currents are balanced for neutral white. </a:t>
            </a:r>
          </a:p>
          <a:p>
            <a:pPr algn="just"/>
            <a:r>
              <a:rPr lang="en-US" sz="2800" dirty="0">
                <a:latin typeface="Palatino Linotype" panose="02040502050505030304" pitchFamily="18" charset="0"/>
              </a:rPr>
              <a:t>If not, there is an error in the landing of the beams on the phosphor elements and the tube needs adjustment. </a:t>
            </a:r>
          </a:p>
          <a:p>
            <a:pPr algn="just"/>
            <a:r>
              <a:rPr lang="en-US" sz="2800" dirty="0">
                <a:latin typeface="Palatino Linotype" panose="02040502050505030304" pitchFamily="18" charset="0"/>
              </a:rPr>
              <a:t>This is called colour purity adjustment.</a:t>
            </a:r>
          </a:p>
          <a:p>
            <a:pPr algn="just"/>
            <a:r>
              <a:rPr lang="en-US" sz="2800" dirty="0">
                <a:latin typeface="Palatino Linotype" panose="02040502050505030304" pitchFamily="18" charset="0"/>
              </a:rPr>
              <a:t>The colour purity ring magnet is mounted behind the yoke towards the tube socket.</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Colour Purity Adjustment</a:t>
            </a:r>
          </a:p>
        </p:txBody>
      </p:sp>
    </p:spTree>
    <p:extLst>
      <p:ext uri="{BB962C8B-B14F-4D97-AF65-F5344CB8AC3E}">
        <p14:creationId xmlns:p14="http://schemas.microsoft.com/office/powerpoint/2010/main" val="17486978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49</a:t>
            </a:fld>
            <a:endParaRPr lang="en-US" noProof="0" dirty="0"/>
          </a:p>
        </p:txBody>
      </p:sp>
      <p:sp>
        <p:nvSpPr>
          <p:cNvPr id="3" name="Content Placeholder 2"/>
          <p:cNvSpPr>
            <a:spLocks noGrp="1"/>
          </p:cNvSpPr>
          <p:nvPr>
            <p:ph idx="1"/>
          </p:nvPr>
        </p:nvSpPr>
        <p:spPr/>
        <p:txBody>
          <a:bodyPr>
            <a:normAutofit lnSpcReduction="10000"/>
          </a:bodyPr>
          <a:lstStyle/>
          <a:p>
            <a:pPr algn="just"/>
            <a:r>
              <a:rPr lang="en-US" sz="2800" dirty="0">
                <a:latin typeface="Palatino Linotype" panose="02040502050505030304" pitchFamily="18" charset="0"/>
              </a:rPr>
              <a:t>When colour purity has been adjusted, it may happen that red signals do activate red phosphors all right, but they do not activate red phosphors of the concerned triad.</a:t>
            </a:r>
          </a:p>
          <a:p>
            <a:pPr algn="just"/>
            <a:r>
              <a:rPr lang="en-US" sz="2800" dirty="0">
                <a:latin typeface="Palatino Linotype" panose="02040502050505030304" pitchFamily="18" charset="0"/>
              </a:rPr>
              <a:t>Thus raster would be all right, but the individual pixel may not show its correct colour. </a:t>
            </a:r>
          </a:p>
          <a:p>
            <a:pPr algn="just"/>
            <a:r>
              <a:rPr lang="en-US" sz="2800" dirty="0">
                <a:latin typeface="Palatino Linotype" panose="02040502050505030304" pitchFamily="18" charset="0"/>
              </a:rPr>
              <a:t>Hence it is necessary that each beam is adjusted individually so that the three beams fall on the three dots of the same triad. </a:t>
            </a:r>
          </a:p>
          <a:p>
            <a:pPr algn="just"/>
            <a:r>
              <a:rPr lang="en-US" sz="2800" dirty="0">
                <a:latin typeface="Palatino Linotype" panose="02040502050505030304" pitchFamily="18" charset="0"/>
              </a:rPr>
              <a:t>Adjustments are made for white. </a:t>
            </a:r>
          </a:p>
          <a:p>
            <a:pPr algn="just"/>
            <a:r>
              <a:rPr lang="en-US" sz="2800" dirty="0">
                <a:latin typeface="Palatino Linotype" panose="02040502050505030304" pitchFamily="18" charset="0"/>
              </a:rPr>
              <a:t>Incorrect convergence of a single primary colour results in colour fringes in the picture. </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Adjustment of Convergence</a:t>
            </a:r>
          </a:p>
        </p:txBody>
      </p:sp>
    </p:spTree>
    <p:extLst>
      <p:ext uri="{BB962C8B-B14F-4D97-AF65-F5344CB8AC3E}">
        <p14:creationId xmlns:p14="http://schemas.microsoft.com/office/powerpoint/2010/main" val="20187134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50</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7395138" y="1263851"/>
            <a:ext cx="4433446" cy="4094781"/>
          </a:xfrm>
          <a:prstGeom prst="rect">
            <a:avLst/>
          </a:prstGeom>
          <a:ln>
            <a:noFill/>
          </a:ln>
          <a:effectLst>
            <a:outerShdw blurRad="190500" algn="tl" rotWithShape="0">
              <a:srgbClr val="000000">
                <a:alpha val="70000"/>
              </a:srgbClr>
            </a:outerShdw>
          </a:effectLst>
        </p:spPr>
      </p:pic>
      <p:sp>
        <p:nvSpPr>
          <p:cNvPr id="4" name="Content Placeholder 2"/>
          <p:cNvSpPr txBox="1">
            <a:spLocks/>
          </p:cNvSpPr>
          <p:nvPr/>
        </p:nvSpPr>
        <p:spPr>
          <a:xfrm>
            <a:off x="363416" y="789709"/>
            <a:ext cx="6473802" cy="552796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Consider this figure, For correct convergence blue, green and red beams should fall on B</a:t>
            </a:r>
            <a:r>
              <a:rPr lang="en-US" sz="2800" baseline="-25000" dirty="0">
                <a:latin typeface="Palatino Linotype" panose="02040502050505030304" pitchFamily="18" charset="0"/>
              </a:rPr>
              <a:t>1</a:t>
            </a:r>
            <a:r>
              <a:rPr lang="en-US" sz="2800" dirty="0">
                <a:latin typeface="Palatino Linotype" panose="02040502050505030304" pitchFamily="18" charset="0"/>
              </a:rPr>
              <a:t>, G</a:t>
            </a:r>
            <a:r>
              <a:rPr lang="en-US" sz="2800" baseline="-25000" dirty="0">
                <a:latin typeface="Palatino Linotype" panose="02040502050505030304" pitchFamily="18" charset="0"/>
              </a:rPr>
              <a:t>1</a:t>
            </a:r>
            <a:r>
              <a:rPr lang="en-US" sz="2800" dirty="0">
                <a:latin typeface="Palatino Linotype" panose="02040502050505030304" pitchFamily="18" charset="0"/>
              </a:rPr>
              <a:t> and R</a:t>
            </a:r>
            <a:r>
              <a:rPr lang="en-US" sz="2800" baseline="-25000" dirty="0">
                <a:latin typeface="Palatino Linotype" panose="02040502050505030304" pitchFamily="18" charset="0"/>
              </a:rPr>
              <a:t>1</a:t>
            </a:r>
            <a:r>
              <a:rPr lang="en-US" sz="2800" dirty="0">
                <a:latin typeface="Palatino Linotype" panose="02040502050505030304" pitchFamily="18" charset="0"/>
              </a:rPr>
              <a:t> phosphors of a pixel, but instead of that if they fall on B</a:t>
            </a:r>
            <a:r>
              <a:rPr lang="en-US" sz="2800" baseline="-25000" dirty="0">
                <a:latin typeface="Palatino Linotype" panose="02040502050505030304" pitchFamily="18" charset="0"/>
              </a:rPr>
              <a:t>1</a:t>
            </a:r>
            <a:r>
              <a:rPr lang="en-US" sz="2800" dirty="0">
                <a:latin typeface="Palatino Linotype" panose="02040502050505030304" pitchFamily="18" charset="0"/>
              </a:rPr>
              <a:t>, G</a:t>
            </a:r>
            <a:r>
              <a:rPr lang="en-US" sz="2800" baseline="-25000" dirty="0">
                <a:latin typeface="Palatino Linotype" panose="02040502050505030304" pitchFamily="18" charset="0"/>
              </a:rPr>
              <a:t>1</a:t>
            </a:r>
            <a:r>
              <a:rPr lang="en-US" sz="2800" dirty="0">
                <a:latin typeface="Palatino Linotype" panose="02040502050505030304" pitchFamily="18" charset="0"/>
              </a:rPr>
              <a:t> andR</a:t>
            </a:r>
            <a:r>
              <a:rPr lang="en-US" sz="2800" baseline="-25000" dirty="0">
                <a:latin typeface="Palatino Linotype" panose="02040502050505030304" pitchFamily="18" charset="0"/>
              </a:rPr>
              <a:t>2</a:t>
            </a:r>
            <a:r>
              <a:rPr lang="en-US" sz="2800" dirty="0">
                <a:latin typeface="Palatino Linotype" panose="02040502050505030304" pitchFamily="18" charset="0"/>
              </a:rPr>
              <a:t> resulting into </a:t>
            </a:r>
            <a:r>
              <a:rPr lang="en-US" sz="2800" dirty="0" err="1">
                <a:latin typeface="Palatino Linotype" panose="02040502050505030304" pitchFamily="18" charset="0"/>
              </a:rPr>
              <a:t>mis</a:t>
            </a:r>
            <a:r>
              <a:rPr lang="en-US" sz="2800" dirty="0">
                <a:latin typeface="Palatino Linotype" panose="02040502050505030304" pitchFamily="18" charset="0"/>
              </a:rPr>
              <a:t>-convergence.</a:t>
            </a:r>
            <a:endParaRPr lang="en-US" sz="2800" baseline="-25000" dirty="0">
              <a:latin typeface="Palatino Linotype" panose="02040502050505030304" pitchFamily="18" charset="0"/>
            </a:endParaRPr>
          </a:p>
          <a:p>
            <a:pPr algn="just"/>
            <a:r>
              <a:rPr lang="en-US" sz="2800" dirty="0">
                <a:latin typeface="Palatino Linotype" panose="02040502050505030304" pitchFamily="18" charset="0"/>
              </a:rPr>
              <a:t>In this case  the right edge of a white dot will show a red fringe and the left edge of the dot will be missing in red and hence will show cyan.</a:t>
            </a:r>
          </a:p>
          <a:p>
            <a:pPr algn="just"/>
            <a:r>
              <a:rPr lang="en-US" sz="2800" dirty="0">
                <a:latin typeface="Palatino Linotype" panose="02040502050505030304" pitchFamily="18" charset="0"/>
              </a:rPr>
              <a:t>There are two types of convergence adjustments: (1) Static convergence and (2) Dynamic convergence.</a:t>
            </a:r>
          </a:p>
        </p:txBody>
      </p:sp>
      <p:sp>
        <p:nvSpPr>
          <p:cNvPr id="5" name="Rectangle 4"/>
          <p:cNvSpPr/>
          <p:nvPr/>
        </p:nvSpPr>
        <p:spPr>
          <a:xfrm>
            <a:off x="7498999" y="5532382"/>
            <a:ext cx="4261103" cy="461665"/>
          </a:xfrm>
          <a:prstGeom prst="rect">
            <a:avLst/>
          </a:prstGeom>
          <a:solidFill>
            <a:schemeClr val="accent4">
              <a:lumMod val="60000"/>
              <a:lumOff val="40000"/>
            </a:schemeClr>
          </a:solidFill>
        </p:spPr>
        <p:txBody>
          <a:bodyPr wrap="none">
            <a:spAutoFit/>
          </a:bodyPr>
          <a:lstStyle/>
          <a:p>
            <a:r>
              <a:rPr lang="en-US" sz="2400" b="1" dirty="0" err="1">
                <a:latin typeface="Palatino Linotype" panose="02040502050505030304" pitchFamily="18" charset="0"/>
              </a:rPr>
              <a:t>Misconvergence</a:t>
            </a:r>
            <a:r>
              <a:rPr lang="en-US" sz="2400" b="1" dirty="0">
                <a:latin typeface="Palatino Linotype" panose="02040502050505030304" pitchFamily="18" charset="0"/>
              </a:rPr>
              <a:t> at the </a:t>
            </a:r>
            <a:r>
              <a:rPr lang="en-US" sz="2400" b="1" dirty="0" err="1">
                <a:latin typeface="Palatino Linotype" panose="02040502050505030304" pitchFamily="18" charset="0"/>
              </a:rPr>
              <a:t>centre</a:t>
            </a:r>
            <a:endParaRPr lang="en-US" sz="2400" b="1" dirty="0"/>
          </a:p>
        </p:txBody>
      </p:sp>
    </p:spTree>
    <p:extLst>
      <p:ext uri="{BB962C8B-B14F-4D97-AF65-F5344CB8AC3E}">
        <p14:creationId xmlns:p14="http://schemas.microsoft.com/office/powerpoint/2010/main" val="23152152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51</a:t>
            </a:fld>
            <a:endParaRPr lang="en-US" noProof="0" dirty="0"/>
          </a:p>
        </p:txBody>
      </p:sp>
      <p:sp>
        <p:nvSpPr>
          <p:cNvPr id="3" name="Content Placeholder 2"/>
          <p:cNvSpPr txBox="1">
            <a:spLocks/>
          </p:cNvSpPr>
          <p:nvPr/>
        </p:nvSpPr>
        <p:spPr>
          <a:xfrm>
            <a:off x="363416" y="789709"/>
            <a:ext cx="11465168" cy="552796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800" b="1" dirty="0">
                <a:latin typeface="Palatino Linotype" panose="02040502050505030304" pitchFamily="18" charset="0"/>
              </a:rPr>
              <a:t>Static convergence</a:t>
            </a:r>
          </a:p>
          <a:p>
            <a:pPr algn="just"/>
            <a:r>
              <a:rPr lang="en-US" sz="2800" dirty="0">
                <a:latin typeface="Palatino Linotype" panose="02040502050505030304" pitchFamily="18" charset="0"/>
              </a:rPr>
              <a:t>There are internal magnetic pole pieces built into the guns. </a:t>
            </a:r>
          </a:p>
          <a:p>
            <a:pPr algn="just"/>
            <a:r>
              <a:rPr lang="en-US" sz="2800" dirty="0">
                <a:latin typeface="Palatino Linotype" panose="02040502050505030304" pitchFamily="18" charset="0"/>
              </a:rPr>
              <a:t>An external magnetic assembly, called convergence yoke couples flux into the internal pieces through the glass neck.</a:t>
            </a:r>
          </a:p>
          <a:p>
            <a:pPr algn="just"/>
            <a:r>
              <a:rPr lang="en-US" sz="2800" dirty="0">
                <a:latin typeface="Palatino Linotype" panose="02040502050505030304" pitchFamily="18" charset="0"/>
              </a:rPr>
              <a:t>The convergence yoke is mounted just behind the deflection yoke towards the socket side.</a:t>
            </a:r>
          </a:p>
          <a:p>
            <a:pPr algn="just"/>
            <a:r>
              <a:rPr lang="en-US" sz="2800" dirty="0">
                <a:latin typeface="Palatino Linotype" panose="02040502050505030304" pitchFamily="18" charset="0"/>
              </a:rPr>
              <a:t>The convergence yoke has three permanent magnets, one each for green red and blue. </a:t>
            </a:r>
          </a:p>
          <a:p>
            <a:pPr algn="just"/>
            <a:r>
              <a:rPr lang="en-US" sz="2800" dirty="0">
                <a:latin typeface="Palatino Linotype" panose="02040502050505030304" pitchFamily="18" charset="0"/>
              </a:rPr>
              <a:t>The blue one is either at the top or bottom of the delta type arrangement.</a:t>
            </a:r>
          </a:p>
          <a:p>
            <a:pPr algn="just"/>
            <a:r>
              <a:rPr lang="en-US" sz="2800" dirty="0">
                <a:latin typeface="Palatino Linotype" panose="02040502050505030304" pitchFamily="18" charset="0"/>
              </a:rPr>
              <a:t> Its cross-sectional view is shown in the next slide.</a:t>
            </a:r>
          </a:p>
        </p:txBody>
      </p:sp>
    </p:spTree>
    <p:extLst>
      <p:ext uri="{BB962C8B-B14F-4D97-AF65-F5344CB8AC3E}">
        <p14:creationId xmlns:p14="http://schemas.microsoft.com/office/powerpoint/2010/main" val="24099253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52</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572119" y="352915"/>
            <a:ext cx="8493585" cy="5133485"/>
          </a:xfrm>
          <a:prstGeom prst="rect">
            <a:avLst/>
          </a:prstGeom>
        </p:spPr>
      </p:pic>
      <p:sp>
        <p:nvSpPr>
          <p:cNvPr id="4" name="Rectangle 3"/>
          <p:cNvSpPr/>
          <p:nvPr/>
        </p:nvSpPr>
        <p:spPr>
          <a:xfrm>
            <a:off x="2453440" y="5743971"/>
            <a:ext cx="6631944" cy="461665"/>
          </a:xfrm>
          <a:prstGeom prst="rect">
            <a:avLst/>
          </a:prstGeom>
          <a:solidFill>
            <a:schemeClr val="accent4">
              <a:lumMod val="60000"/>
              <a:lumOff val="40000"/>
            </a:schemeClr>
          </a:solidFill>
        </p:spPr>
        <p:txBody>
          <a:bodyPr wrap="none">
            <a:spAutoFit/>
          </a:bodyPr>
          <a:lstStyle/>
          <a:p>
            <a:r>
              <a:rPr lang="en-US" sz="2400" b="1" dirty="0">
                <a:latin typeface="Palatino Linotype" panose="02040502050505030304" pitchFamily="18" charset="0"/>
              </a:rPr>
              <a:t>Cross-sectional view of the convergence yoke </a:t>
            </a:r>
            <a:endParaRPr lang="en-US" sz="2400" b="1" dirty="0"/>
          </a:p>
        </p:txBody>
      </p:sp>
    </p:spTree>
    <p:extLst>
      <p:ext uri="{BB962C8B-B14F-4D97-AF65-F5344CB8AC3E}">
        <p14:creationId xmlns:p14="http://schemas.microsoft.com/office/powerpoint/2010/main" val="34320247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53</a:t>
            </a:fld>
            <a:endParaRPr lang="en-US" noProof="0" dirty="0"/>
          </a:p>
        </p:txBody>
      </p:sp>
      <p:sp>
        <p:nvSpPr>
          <p:cNvPr id="3" name="Content Placeholder 2"/>
          <p:cNvSpPr txBox="1">
            <a:spLocks/>
          </p:cNvSpPr>
          <p:nvPr/>
        </p:nvSpPr>
        <p:spPr>
          <a:xfrm>
            <a:off x="363416" y="789709"/>
            <a:ext cx="5808784" cy="552796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800" b="1" dirty="0">
                <a:latin typeface="Palatino Linotype" panose="02040502050505030304" pitchFamily="18" charset="0"/>
              </a:rPr>
              <a:t>Dynamic convergence</a:t>
            </a:r>
          </a:p>
          <a:p>
            <a:pPr algn="just"/>
            <a:r>
              <a:rPr lang="en-US" sz="2800" dirty="0">
                <a:latin typeface="Palatino Linotype" panose="02040502050505030304" pitchFamily="18" charset="0"/>
              </a:rPr>
              <a:t>After correct convergence at the </a:t>
            </a:r>
            <a:r>
              <a:rPr lang="en-US" sz="2800" dirty="0" err="1">
                <a:latin typeface="Palatino Linotype" panose="02040502050505030304" pitchFamily="18" charset="0"/>
              </a:rPr>
              <a:t>centre</a:t>
            </a:r>
            <a:r>
              <a:rPr lang="en-US" sz="2800" dirty="0">
                <a:latin typeface="Palatino Linotype" panose="02040502050505030304" pitchFamily="18" charset="0"/>
              </a:rPr>
              <a:t>, it is correctly maintained on the spherical surface formed by the radial distance between the screen and the guns. </a:t>
            </a:r>
          </a:p>
          <a:p>
            <a:pPr algn="just"/>
            <a:r>
              <a:rPr lang="en-US" sz="2800" dirty="0">
                <a:latin typeface="Palatino Linotype" panose="02040502050505030304" pitchFamily="18" charset="0"/>
              </a:rPr>
              <a:t>However this sphere is more curved than the screen and hence beams converge a little short of the screen.</a:t>
            </a:r>
          </a:p>
          <a:p>
            <a:pPr algn="just"/>
            <a:r>
              <a:rPr lang="en-US" sz="2800" dirty="0">
                <a:latin typeface="Palatino Linotype" panose="02040502050505030304" pitchFamily="18" charset="0"/>
              </a:rPr>
              <a:t>Then they diverge and hit the screen </a:t>
            </a:r>
            <a:r>
              <a:rPr lang="en-US" sz="2800" dirty="0" err="1">
                <a:latin typeface="Palatino Linotype" panose="02040502050505030304" pitchFamily="18" charset="0"/>
              </a:rPr>
              <a:t>mis</a:t>
            </a:r>
            <a:r>
              <a:rPr lang="en-US" sz="2800" dirty="0">
                <a:latin typeface="Palatino Linotype" panose="02040502050505030304" pitchFamily="18" charset="0"/>
              </a:rPr>
              <a:t>-converged</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424345" y="2519611"/>
            <a:ext cx="5322078" cy="2842099"/>
          </a:xfrm>
          <a:prstGeom prst="rect">
            <a:avLst/>
          </a:prstGeom>
        </p:spPr>
      </p:pic>
    </p:spTree>
    <p:extLst>
      <p:ext uri="{BB962C8B-B14F-4D97-AF65-F5344CB8AC3E}">
        <p14:creationId xmlns:p14="http://schemas.microsoft.com/office/powerpoint/2010/main" val="19213296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54</a:t>
            </a:fld>
            <a:endParaRPr lang="en-US" noProof="0" dirty="0"/>
          </a:p>
        </p:txBody>
      </p:sp>
      <p:sp>
        <p:nvSpPr>
          <p:cNvPr id="3" name="Content Placeholder 2"/>
          <p:cNvSpPr txBox="1">
            <a:spLocks/>
          </p:cNvSpPr>
          <p:nvPr/>
        </p:nvSpPr>
        <p:spPr>
          <a:xfrm>
            <a:off x="363416" y="789709"/>
            <a:ext cx="11465168" cy="552796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For correct convergence at the edges, the beams should converge at a larger distance so that convergence even at the edges is correct.</a:t>
            </a:r>
          </a:p>
          <a:p>
            <a:pPr algn="just"/>
            <a:r>
              <a:rPr lang="en-US" sz="2800" dirty="0">
                <a:latin typeface="Palatino Linotype" panose="02040502050505030304" pitchFamily="18" charset="0"/>
              </a:rPr>
              <a:t>This is done with the help of an ac current of parabolic shape modified by a </a:t>
            </a:r>
            <a:r>
              <a:rPr lang="en-US" sz="2800" dirty="0" err="1">
                <a:latin typeface="Palatino Linotype" panose="02040502050505030304" pitchFamily="18" charset="0"/>
              </a:rPr>
              <a:t>sawtooth</a:t>
            </a:r>
            <a:r>
              <a:rPr lang="en-US" sz="2800" dirty="0">
                <a:latin typeface="Palatino Linotype" panose="02040502050505030304" pitchFamily="18" charset="0"/>
              </a:rPr>
              <a:t> form.</a:t>
            </a:r>
          </a:p>
          <a:p>
            <a:pPr algn="just"/>
            <a:r>
              <a:rPr lang="en-US" sz="2800" dirty="0">
                <a:latin typeface="Palatino Linotype" panose="02040502050505030304" pitchFamily="18" charset="0"/>
              </a:rPr>
              <a:t>Parabolic form of current is clamped to zero at middle so that it does not disturb the static adjustment at the </a:t>
            </a:r>
            <a:r>
              <a:rPr lang="en-US" sz="2800" dirty="0" err="1">
                <a:latin typeface="Palatino Linotype" panose="02040502050505030304" pitchFamily="18" charset="0"/>
              </a:rPr>
              <a:t>centre</a:t>
            </a:r>
            <a:r>
              <a:rPr lang="en-US" sz="2800" dirty="0">
                <a:latin typeface="Palatino Linotype" panose="02040502050505030304" pitchFamily="18" charset="0"/>
              </a:rPr>
              <a:t>.</a:t>
            </a:r>
          </a:p>
          <a:p>
            <a:pPr algn="just"/>
            <a:r>
              <a:rPr lang="en-US" sz="2800" dirty="0">
                <a:latin typeface="Palatino Linotype" panose="02040502050505030304" pitchFamily="18" charset="0"/>
              </a:rPr>
              <a:t>The waveform at sides is symmetrical and hence stretches the convergence to the sides.</a:t>
            </a:r>
          </a:p>
          <a:p>
            <a:pPr algn="just"/>
            <a:r>
              <a:rPr lang="en-US" sz="2800" dirty="0">
                <a:latin typeface="Palatino Linotype" panose="02040502050505030304" pitchFamily="18" charset="0"/>
              </a:rPr>
              <a:t>To get the desired waveform, two coils are used on each pole piece, one for vertical deflection and the other for horizontal deflection</a:t>
            </a:r>
          </a:p>
        </p:txBody>
      </p:sp>
    </p:spTree>
    <p:extLst>
      <p:ext uri="{BB962C8B-B14F-4D97-AF65-F5344CB8AC3E}">
        <p14:creationId xmlns:p14="http://schemas.microsoft.com/office/powerpoint/2010/main" val="37720946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55</a:t>
            </a:fld>
            <a:endParaRPr lang="en-US" noProof="0" dirty="0"/>
          </a:p>
        </p:txBody>
      </p:sp>
      <p:sp>
        <p:nvSpPr>
          <p:cNvPr id="3" name="Content Placeholder 2"/>
          <p:cNvSpPr>
            <a:spLocks noGrp="1"/>
          </p:cNvSpPr>
          <p:nvPr>
            <p:ph idx="1"/>
          </p:nvPr>
        </p:nvSpPr>
        <p:spPr>
          <a:xfrm>
            <a:off x="363416" y="1825625"/>
            <a:ext cx="11465168" cy="4637582"/>
          </a:xfrm>
        </p:spPr>
        <p:txBody>
          <a:bodyPr>
            <a:normAutofit/>
          </a:bodyPr>
          <a:lstStyle/>
          <a:p>
            <a:pPr algn="just"/>
            <a:r>
              <a:rPr lang="en-US" sz="2800" dirty="0">
                <a:latin typeface="Palatino Linotype" panose="02040502050505030304" pitchFamily="18" charset="0"/>
              </a:rPr>
              <a:t>If equal quantities of red, green and blue lights are incident on the eye, we see white light or grey shades of white depending on the ambient light. </a:t>
            </a:r>
          </a:p>
          <a:p>
            <a:pPr algn="just"/>
            <a:r>
              <a:rPr lang="en-US" sz="2800" dirty="0">
                <a:latin typeface="Palatino Linotype" panose="02040502050505030304" pitchFamily="18" charset="0"/>
              </a:rPr>
              <a:t>However, due to different efficiencies of colour phosphors, and lack of similarity in the three guns of a colour picture tube, equal signals at the input may not give white light for all settings of brightness control. </a:t>
            </a:r>
          </a:p>
          <a:p>
            <a:pPr algn="just"/>
            <a:r>
              <a:rPr lang="en-US" sz="2800" dirty="0">
                <a:latin typeface="Palatino Linotype" panose="02040502050505030304" pitchFamily="18" charset="0"/>
              </a:rPr>
              <a:t>The ability of the picture tube to maintain output at white, when the input varies from very bright parts to dark parts of a picture, or when the brightness control is varied from high to low is called </a:t>
            </a:r>
            <a:r>
              <a:rPr lang="en-US" sz="2800" b="1" i="1" dirty="0">
                <a:latin typeface="Palatino Linotype" panose="02040502050505030304" pitchFamily="18" charset="0"/>
              </a:rPr>
              <a:t>grey scale tracking</a:t>
            </a:r>
            <a:r>
              <a:rPr lang="en-US" sz="2800" dirty="0">
                <a:latin typeface="Palatino Linotype" panose="02040502050505030304" pitchFamily="18" charset="0"/>
              </a:rPr>
              <a:t>.</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Grey Scale Tracking</a:t>
            </a:r>
          </a:p>
        </p:txBody>
      </p:sp>
    </p:spTree>
    <p:extLst>
      <p:ext uri="{BB962C8B-B14F-4D97-AF65-F5344CB8AC3E}">
        <p14:creationId xmlns:p14="http://schemas.microsoft.com/office/powerpoint/2010/main" val="35212602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56</a:t>
            </a:fld>
            <a:endParaRPr lang="en-US" noProof="0" dirty="0"/>
          </a:p>
        </p:txBody>
      </p:sp>
      <p:sp>
        <p:nvSpPr>
          <p:cNvPr id="3" name="Content Placeholder 2"/>
          <p:cNvSpPr>
            <a:spLocks noGrp="1"/>
          </p:cNvSpPr>
          <p:nvPr>
            <p:ph idx="1"/>
          </p:nvPr>
        </p:nvSpPr>
        <p:spPr>
          <a:xfrm>
            <a:off x="363416" y="1641764"/>
            <a:ext cx="11465168" cy="4535199"/>
          </a:xfrm>
        </p:spPr>
        <p:txBody>
          <a:bodyPr>
            <a:normAutofit/>
          </a:bodyPr>
          <a:lstStyle/>
          <a:p>
            <a:pPr algn="just"/>
            <a:r>
              <a:rPr lang="en-US" sz="2800" dirty="0">
                <a:latin typeface="Palatino Linotype" panose="02040502050505030304" pitchFamily="18" charset="0"/>
              </a:rPr>
              <a:t>Had the screen been circular, magnetic deflection would have been uniform , as all points on the screen would have been equidistant from </a:t>
            </a:r>
            <a:r>
              <a:rPr lang="en-US" sz="2800" dirty="0" err="1">
                <a:latin typeface="Palatino Linotype" panose="02040502050505030304" pitchFamily="18" charset="0"/>
              </a:rPr>
              <a:t>centre</a:t>
            </a:r>
            <a:r>
              <a:rPr lang="en-US" sz="2800" dirty="0">
                <a:latin typeface="Palatino Linotype" panose="02040502050505030304" pitchFamily="18" charset="0"/>
              </a:rPr>
              <a:t> of deflection.</a:t>
            </a:r>
          </a:p>
          <a:p>
            <a:pPr algn="just"/>
            <a:r>
              <a:rPr lang="en-US" sz="2800" dirty="0">
                <a:latin typeface="Palatino Linotype" panose="02040502050505030304" pitchFamily="18" charset="0"/>
              </a:rPr>
              <a:t>However, the screen is not circular but is rectangular and hence distance of the corners is more as compared to the central portion making the raster to be stretched at the corners.</a:t>
            </a:r>
          </a:p>
          <a:p>
            <a:pPr algn="just"/>
            <a:r>
              <a:rPr lang="en-US" sz="2800" dirty="0">
                <a:latin typeface="Palatino Linotype" panose="02040502050505030304" pitchFamily="18" charset="0"/>
              </a:rPr>
              <a:t>It takes the shape shown in the next slide.</a:t>
            </a:r>
          </a:p>
          <a:p>
            <a:pPr algn="just"/>
            <a:r>
              <a:rPr lang="en-US" sz="2800" dirty="0">
                <a:latin typeface="Palatino Linotype" panose="02040502050505030304" pitchFamily="18" charset="0"/>
              </a:rPr>
              <a:t>This is called </a:t>
            </a:r>
            <a:r>
              <a:rPr lang="en-US" sz="2800" i="1" dirty="0">
                <a:latin typeface="Palatino Linotype" panose="02040502050505030304" pitchFamily="18" charset="0"/>
              </a:rPr>
              <a:t>pincushion effect </a:t>
            </a:r>
            <a:r>
              <a:rPr lang="en-US" sz="2800" dirty="0">
                <a:latin typeface="Palatino Linotype" panose="02040502050505030304" pitchFamily="18" charset="0"/>
              </a:rPr>
              <a:t>as the raster resembles the shape of a pincushion.</a:t>
            </a:r>
          </a:p>
          <a:p>
            <a:pPr algn="just"/>
            <a:r>
              <a:rPr lang="en-US" sz="2800" dirty="0">
                <a:latin typeface="Palatino Linotype" panose="02040502050505030304" pitchFamily="18" charset="0"/>
              </a:rPr>
              <a:t>This will cause distortion in the picture.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Pincushion Effect</a:t>
            </a:r>
          </a:p>
        </p:txBody>
      </p:sp>
    </p:spTree>
    <p:extLst>
      <p:ext uri="{BB962C8B-B14F-4D97-AF65-F5344CB8AC3E}">
        <p14:creationId xmlns:p14="http://schemas.microsoft.com/office/powerpoint/2010/main" val="40598285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57</a:t>
            </a:fld>
            <a:endParaRPr lang="en-US" noProof="0" dirty="0"/>
          </a:p>
        </p:txBody>
      </p:sp>
      <p:pic>
        <p:nvPicPr>
          <p:cNvPr id="3" name="Picture 2"/>
          <p:cNvPicPr>
            <a:picLocks noChangeAspect="1"/>
          </p:cNvPicPr>
          <p:nvPr/>
        </p:nvPicPr>
        <p:blipFill>
          <a:blip r:embed="rId2"/>
          <a:stretch>
            <a:fillRect/>
          </a:stretch>
        </p:blipFill>
        <p:spPr>
          <a:xfrm>
            <a:off x="2327563" y="790318"/>
            <a:ext cx="7252855" cy="4647824"/>
          </a:xfrm>
          <a:prstGeom prst="rect">
            <a:avLst/>
          </a:prstGeom>
        </p:spPr>
      </p:pic>
      <p:sp>
        <p:nvSpPr>
          <p:cNvPr id="4" name="Rectangle 3"/>
          <p:cNvSpPr/>
          <p:nvPr/>
        </p:nvSpPr>
        <p:spPr>
          <a:xfrm>
            <a:off x="4636161" y="5719842"/>
            <a:ext cx="2635658" cy="461665"/>
          </a:xfrm>
          <a:prstGeom prst="rect">
            <a:avLst/>
          </a:prstGeom>
          <a:solidFill>
            <a:schemeClr val="accent4">
              <a:lumMod val="60000"/>
              <a:lumOff val="40000"/>
            </a:schemeClr>
          </a:solidFill>
        </p:spPr>
        <p:txBody>
          <a:bodyPr wrap="none">
            <a:spAutoFit/>
          </a:bodyPr>
          <a:lstStyle/>
          <a:p>
            <a:r>
              <a:rPr lang="en-US" sz="2400" b="1" dirty="0">
                <a:latin typeface="Palatino Linotype" panose="02040502050505030304" pitchFamily="18" charset="0"/>
              </a:rPr>
              <a:t>pincushion effect</a:t>
            </a:r>
            <a:endParaRPr lang="en-US" sz="2400" b="1" dirty="0"/>
          </a:p>
        </p:txBody>
      </p:sp>
    </p:spTree>
    <p:extLst>
      <p:ext uri="{BB962C8B-B14F-4D97-AF65-F5344CB8AC3E}">
        <p14:creationId xmlns:p14="http://schemas.microsoft.com/office/powerpoint/2010/main" val="16122879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58</a:t>
            </a:fld>
            <a:endParaRPr lang="en-US" noProof="0" dirty="0"/>
          </a:p>
        </p:txBody>
      </p:sp>
      <p:sp>
        <p:nvSpPr>
          <p:cNvPr id="3" name="Content Placeholder 2"/>
          <p:cNvSpPr txBox="1">
            <a:spLocks/>
          </p:cNvSpPr>
          <p:nvPr/>
        </p:nvSpPr>
        <p:spPr>
          <a:xfrm>
            <a:off x="363416" y="789709"/>
            <a:ext cx="11465168" cy="552796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In monochrome picture tubes, the pincushion effect is rectified by using small permanent magnets on the deflection yoke.</a:t>
            </a:r>
          </a:p>
          <a:p>
            <a:pPr algn="just"/>
            <a:r>
              <a:rPr lang="en-US" sz="2800" dirty="0">
                <a:latin typeface="Palatino Linotype" panose="02040502050505030304" pitchFamily="18" charset="0"/>
              </a:rPr>
              <a:t>These pull the curved sides of the raster by providing extra field in the desired direction.</a:t>
            </a:r>
          </a:p>
          <a:p>
            <a:pPr algn="just"/>
            <a:r>
              <a:rPr lang="en-US" sz="2800" dirty="0">
                <a:latin typeface="Palatino Linotype" panose="02040502050505030304" pitchFamily="18" charset="0"/>
              </a:rPr>
              <a:t>These magnets can be adjusted to correct the deflection so that the raster becomes perfectly rectangular.</a:t>
            </a:r>
          </a:p>
          <a:p>
            <a:pPr algn="just"/>
            <a:r>
              <a:rPr lang="en-US" sz="2800" dirty="0">
                <a:latin typeface="Palatino Linotype" panose="02040502050505030304" pitchFamily="18" charset="0"/>
              </a:rPr>
              <a:t>Pincushion magnets cannot be used with colour picture tubes because any adjustment of magnets will upset colour purity adjustment. </a:t>
            </a:r>
          </a:p>
          <a:p>
            <a:pPr algn="just"/>
            <a:r>
              <a:rPr lang="en-US" sz="2800" dirty="0">
                <a:latin typeface="Palatino Linotype" panose="02040502050505030304" pitchFamily="18" charset="0"/>
              </a:rPr>
              <a:t>Hence in colour picture tubes, instead of using permanent magnets, current through the deflection coils is so changed as to straighten the raster at horizontal (left and right) and vertical (top and bottom) sides.</a:t>
            </a:r>
          </a:p>
        </p:txBody>
      </p:sp>
    </p:spTree>
    <p:extLst>
      <p:ext uri="{BB962C8B-B14F-4D97-AF65-F5344CB8AC3E}">
        <p14:creationId xmlns:p14="http://schemas.microsoft.com/office/powerpoint/2010/main" val="20871622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59</a:t>
            </a:fld>
            <a:endParaRPr lang="en-US" noProof="0" dirty="0"/>
          </a:p>
        </p:txBody>
      </p:sp>
      <p:sp>
        <p:nvSpPr>
          <p:cNvPr id="3" name="Content Placeholder 2"/>
          <p:cNvSpPr>
            <a:spLocks noGrp="1"/>
          </p:cNvSpPr>
          <p:nvPr>
            <p:ph idx="1"/>
          </p:nvPr>
        </p:nvSpPr>
        <p:spPr>
          <a:xfrm>
            <a:off x="363416" y="1825625"/>
            <a:ext cx="7596020" cy="4351338"/>
          </a:xfrm>
        </p:spPr>
        <p:txBody>
          <a:bodyPr>
            <a:normAutofit/>
          </a:bodyPr>
          <a:lstStyle/>
          <a:p>
            <a:pPr algn="just"/>
            <a:r>
              <a:rPr lang="en-US" sz="2800" dirty="0">
                <a:latin typeface="Palatino Linotype" panose="02040502050505030304" pitchFamily="18" charset="0"/>
              </a:rPr>
              <a:t>This is opposite to the pincushion effect where the scanning lines bow outwards.</a:t>
            </a:r>
          </a:p>
          <a:p>
            <a:pPr algn="just"/>
            <a:r>
              <a:rPr lang="en-US" sz="2800" dirty="0">
                <a:latin typeface="Palatino Linotype" panose="02040502050505030304" pitchFamily="18" charset="0"/>
              </a:rPr>
              <a:t>This is again due to distorted magnetic field making vertical deflection current to be bowl shaped and the horizontal deflection current to be more at the </a:t>
            </a:r>
            <a:r>
              <a:rPr lang="en-US" sz="2800" dirty="0" err="1">
                <a:latin typeface="Palatino Linotype" panose="02040502050505030304" pitchFamily="18" charset="0"/>
              </a:rPr>
              <a:t>centre</a:t>
            </a:r>
            <a:r>
              <a:rPr lang="en-US" sz="2800" dirty="0">
                <a:latin typeface="Palatino Linotype" panose="02040502050505030304" pitchFamily="18" charset="0"/>
              </a:rPr>
              <a:t> and less at the corners.</a:t>
            </a:r>
          </a:p>
          <a:p>
            <a:pPr algn="just"/>
            <a:r>
              <a:rPr lang="en-US" sz="2800" dirty="0">
                <a:latin typeface="Palatino Linotype" panose="02040502050505030304" pitchFamily="18" charset="0"/>
              </a:rPr>
              <a:t>It can be corrected by superimposing an opposing type of magnetizing current in the respective deflection coils.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Barrel Effect</a:t>
            </a: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8187540" y="2149044"/>
            <a:ext cx="3698772" cy="3114756"/>
          </a:xfrm>
          <a:prstGeom prst="rect">
            <a:avLst/>
          </a:prstGeom>
        </p:spPr>
      </p:pic>
      <p:sp>
        <p:nvSpPr>
          <p:cNvPr id="6" name="Rectangle 5"/>
          <p:cNvSpPr/>
          <p:nvPr/>
        </p:nvSpPr>
        <p:spPr>
          <a:xfrm>
            <a:off x="9085384" y="5509714"/>
            <a:ext cx="1903085" cy="461665"/>
          </a:xfrm>
          <a:prstGeom prst="rect">
            <a:avLst/>
          </a:prstGeom>
          <a:solidFill>
            <a:schemeClr val="accent4">
              <a:lumMod val="60000"/>
              <a:lumOff val="40000"/>
            </a:schemeClr>
          </a:solidFill>
        </p:spPr>
        <p:txBody>
          <a:bodyPr wrap="none">
            <a:spAutoFit/>
          </a:bodyPr>
          <a:lstStyle/>
          <a:p>
            <a:r>
              <a:rPr lang="en-US" sz="2400" b="1" dirty="0">
                <a:latin typeface="Palatino Linotype" panose="02040502050505030304" pitchFamily="18" charset="0"/>
              </a:rPr>
              <a:t>Barrel effect</a:t>
            </a:r>
          </a:p>
        </p:txBody>
      </p:sp>
    </p:spTree>
    <p:extLst>
      <p:ext uri="{BB962C8B-B14F-4D97-AF65-F5344CB8AC3E}">
        <p14:creationId xmlns:p14="http://schemas.microsoft.com/office/powerpoint/2010/main" val="15035376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60</a:t>
            </a:fld>
            <a:endParaRPr lang="en-US" noProof="0" dirty="0"/>
          </a:p>
        </p:txBody>
      </p:sp>
      <p:sp>
        <p:nvSpPr>
          <p:cNvPr id="3" name="Content Placeholder 2"/>
          <p:cNvSpPr>
            <a:spLocks noGrp="1"/>
          </p:cNvSpPr>
          <p:nvPr>
            <p:ph idx="1"/>
          </p:nvPr>
        </p:nvSpPr>
        <p:spPr>
          <a:xfrm>
            <a:off x="363416" y="1825625"/>
            <a:ext cx="11465168" cy="4351338"/>
          </a:xfrm>
        </p:spPr>
        <p:txBody>
          <a:bodyPr>
            <a:normAutofit/>
          </a:bodyPr>
          <a:lstStyle/>
          <a:p>
            <a:pPr algn="just"/>
            <a:r>
              <a:rPr lang="en-US" sz="2800" dirty="0">
                <a:latin typeface="Palatino Linotype" panose="02040502050505030304" pitchFamily="18" charset="0"/>
              </a:rPr>
              <a:t>The conventional picture tubes are thermionic tubes, using heated cathodes to emit electrons in vacuum and control the same by means of electrostatic fields through various grids</a:t>
            </a:r>
          </a:p>
          <a:p>
            <a:pPr algn="just"/>
            <a:r>
              <a:rPr lang="en-US" sz="2800" dirty="0">
                <a:latin typeface="Palatino Linotype" panose="02040502050505030304" pitchFamily="18" charset="0"/>
              </a:rPr>
              <a:t>These tubes have all the disadvantages of thermionic devices like bulky size, provision of a heater, provision of vacuum, high voltages, etc.</a:t>
            </a:r>
          </a:p>
          <a:p>
            <a:pPr algn="just"/>
            <a:r>
              <a:rPr lang="en-US" sz="2800" dirty="0">
                <a:latin typeface="Palatino Linotype" panose="02040502050505030304" pitchFamily="18" charset="0"/>
              </a:rPr>
              <a:t>Scientists dreamed for a long time to discover suitable solid state transducers and develop a real flat panel.</a:t>
            </a:r>
          </a:p>
          <a:p>
            <a:pPr algn="just"/>
            <a:r>
              <a:rPr lang="en-US" sz="2800" dirty="0">
                <a:latin typeface="Palatino Linotype" panose="02040502050505030304" pitchFamily="18" charset="0"/>
              </a:rPr>
              <a:t>Studies of the devices like plasma display panels and liquid crystal display (LCD) has been pursued towards the end.</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Solid State Picture Transducers</a:t>
            </a:r>
          </a:p>
        </p:txBody>
      </p:sp>
    </p:spTree>
    <p:extLst>
      <p:ext uri="{BB962C8B-B14F-4D97-AF65-F5344CB8AC3E}">
        <p14:creationId xmlns:p14="http://schemas.microsoft.com/office/powerpoint/2010/main" val="21723473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61</a:t>
            </a:fld>
            <a:endParaRPr lang="en-US" noProof="0" dirty="0"/>
          </a:p>
        </p:txBody>
      </p:sp>
      <p:sp>
        <p:nvSpPr>
          <p:cNvPr id="3" name="Content Placeholder 2"/>
          <p:cNvSpPr>
            <a:spLocks noGrp="1"/>
          </p:cNvSpPr>
          <p:nvPr>
            <p:ph idx="1"/>
          </p:nvPr>
        </p:nvSpPr>
        <p:spPr>
          <a:xfrm>
            <a:off x="363416" y="1825625"/>
            <a:ext cx="11465168" cy="4351338"/>
          </a:xfrm>
        </p:spPr>
        <p:txBody>
          <a:bodyPr>
            <a:normAutofit/>
          </a:bodyPr>
          <a:lstStyle/>
          <a:p>
            <a:pPr algn="just"/>
            <a:r>
              <a:rPr lang="en-US" sz="2800" dirty="0">
                <a:latin typeface="Palatino Linotype" panose="02040502050505030304" pitchFamily="18" charset="0"/>
              </a:rPr>
              <a:t>The panel consists of tiny plasma cells which hold a mixture of low pressure inert gases like xenon, neon and helium (also known as noble gases) and a small amount of mercury. </a:t>
            </a:r>
          </a:p>
          <a:p>
            <a:pPr algn="just"/>
            <a:r>
              <a:rPr lang="en-US" sz="2800" dirty="0">
                <a:latin typeface="Palatino Linotype" panose="02040502050505030304" pitchFamily="18" charset="0"/>
              </a:rPr>
              <a:t>These tiny cells are also called chambers. </a:t>
            </a:r>
          </a:p>
          <a:p>
            <a:pPr algn="just"/>
            <a:r>
              <a:rPr lang="en-US" sz="2800" dirty="0">
                <a:latin typeface="Palatino Linotype" panose="02040502050505030304" pitchFamily="18" charset="0"/>
              </a:rPr>
              <a:t>There are hundreds of thousands of such cells in the space between two panels of glass.</a:t>
            </a:r>
          </a:p>
          <a:p>
            <a:pPr algn="just"/>
            <a:r>
              <a:rPr lang="en-US" sz="2800" dirty="0">
                <a:latin typeface="Palatino Linotype" panose="02040502050505030304" pitchFamily="18" charset="0"/>
              </a:rPr>
              <a:t>The structure of a typical plasma display panel is shown in the next slide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Plasma Display Panels</a:t>
            </a:r>
          </a:p>
        </p:txBody>
      </p:sp>
    </p:spTree>
    <p:extLst>
      <p:ext uri="{BB962C8B-B14F-4D97-AF65-F5344CB8AC3E}">
        <p14:creationId xmlns:p14="http://schemas.microsoft.com/office/powerpoint/2010/main" val="18729800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62</a:t>
            </a:fld>
            <a:endParaRPr lang="en-US" noProof="0" dirty="0"/>
          </a:p>
        </p:txBody>
      </p:sp>
      <p:sp>
        <p:nvSpPr>
          <p:cNvPr id="4" name="Rectangle 3"/>
          <p:cNvSpPr/>
          <p:nvPr/>
        </p:nvSpPr>
        <p:spPr>
          <a:xfrm>
            <a:off x="3098335" y="5939987"/>
            <a:ext cx="5404043" cy="523220"/>
          </a:xfrm>
          <a:prstGeom prst="rect">
            <a:avLst/>
          </a:prstGeom>
          <a:solidFill>
            <a:schemeClr val="accent4">
              <a:lumMod val="60000"/>
              <a:lumOff val="40000"/>
            </a:schemeClr>
          </a:solidFill>
        </p:spPr>
        <p:txBody>
          <a:bodyPr wrap="none">
            <a:spAutoFit/>
          </a:bodyPr>
          <a:lstStyle/>
          <a:p>
            <a:r>
              <a:rPr lang="en-US" sz="2800" b="1" dirty="0">
                <a:latin typeface="Palatino Linotype" panose="02040502050505030304" pitchFamily="18" charset="0"/>
              </a:rPr>
              <a:t>Sketch of plasma display panel </a:t>
            </a:r>
            <a:endParaRPr lang="en-US" sz="2800" b="1" dirty="0"/>
          </a:p>
        </p:txBody>
      </p:sp>
      <p:grpSp>
        <p:nvGrpSpPr>
          <p:cNvPr id="6" name="Group 5"/>
          <p:cNvGrpSpPr/>
          <p:nvPr/>
        </p:nvGrpSpPr>
        <p:grpSpPr>
          <a:xfrm>
            <a:off x="2857210" y="250320"/>
            <a:ext cx="7221971" cy="5416478"/>
            <a:chOff x="2857210" y="250320"/>
            <a:chExt cx="7221971" cy="5416478"/>
          </a:xfrm>
        </p:grpSpPr>
        <p:pic>
          <p:nvPicPr>
            <p:cNvPr id="1026" name="Picture 2" descr="Plasma display - Wikipedia"/>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857210" y="250320"/>
              <a:ext cx="7221971" cy="541647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098335" y="4925291"/>
              <a:ext cx="2554320" cy="5611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793933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63</a:t>
            </a:fld>
            <a:endParaRPr lang="en-US" noProof="0" dirty="0"/>
          </a:p>
        </p:txBody>
      </p:sp>
      <p:sp>
        <p:nvSpPr>
          <p:cNvPr id="5" name="Content Placeholder 2"/>
          <p:cNvSpPr txBox="1">
            <a:spLocks/>
          </p:cNvSpPr>
          <p:nvPr/>
        </p:nvSpPr>
        <p:spPr>
          <a:xfrm>
            <a:off x="363416" y="935181"/>
            <a:ext cx="11465168" cy="5528025"/>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 Tiny plasma cells are contained in the space between two glass plates. </a:t>
            </a:r>
          </a:p>
          <a:p>
            <a:pPr algn="just"/>
            <a:r>
              <a:rPr lang="en-US" sz="2800" dirty="0">
                <a:latin typeface="Palatino Linotype" panose="02040502050505030304" pitchFamily="18" charset="0"/>
              </a:rPr>
              <a:t>The cells are coated with phosphor elements on the back side. </a:t>
            </a:r>
          </a:p>
          <a:p>
            <a:pPr algn="just"/>
            <a:r>
              <a:rPr lang="en-US" sz="2800" dirty="0">
                <a:latin typeface="Palatino Linotype" panose="02040502050505030304" pitchFamily="18" charset="0"/>
              </a:rPr>
              <a:t>Also, there are long electrodes on the back side and on the front side of the cells sandwiched between the glass plates. </a:t>
            </a:r>
          </a:p>
          <a:p>
            <a:pPr algn="just"/>
            <a:r>
              <a:rPr lang="en-US" sz="2800" dirty="0">
                <a:latin typeface="Palatino Linotype" panose="02040502050505030304" pitchFamily="18" charset="0"/>
              </a:rPr>
              <a:t>Electrodes behind the cells are called address electrodes, and those in the front are called display electrodes. </a:t>
            </a:r>
          </a:p>
          <a:p>
            <a:pPr algn="just"/>
            <a:r>
              <a:rPr lang="en-US" sz="2800" dirty="0">
                <a:latin typeface="Palatino Linotype" panose="02040502050505030304" pitchFamily="18" charset="0"/>
              </a:rPr>
              <a:t>They are transparent, surrounded by insulating dielectric material, and covered by a protective layer of magnesium oxide.</a:t>
            </a:r>
          </a:p>
          <a:p>
            <a:pPr algn="just"/>
            <a:r>
              <a:rPr lang="en-US" sz="2800" dirty="0">
                <a:latin typeface="Palatino Linotype" panose="02040502050505030304" pitchFamily="18" charset="0"/>
              </a:rPr>
              <a:t>When varying electric signal is applied to the electrode, a varying potential difference appears across the cells.</a:t>
            </a:r>
          </a:p>
          <a:p>
            <a:pPr algn="just"/>
            <a:r>
              <a:rPr lang="en-US" sz="2800" dirty="0">
                <a:latin typeface="Palatino Linotype" panose="02040502050505030304" pitchFamily="18" charset="0"/>
              </a:rPr>
              <a:t>This ionizes the gases, converting them into plasma</a:t>
            </a:r>
          </a:p>
        </p:txBody>
      </p:sp>
    </p:spTree>
    <p:extLst>
      <p:ext uri="{BB962C8B-B14F-4D97-AF65-F5344CB8AC3E}">
        <p14:creationId xmlns:p14="http://schemas.microsoft.com/office/powerpoint/2010/main" val="6478088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64</a:t>
            </a:fld>
            <a:endParaRPr lang="en-US" noProof="0" dirty="0"/>
          </a:p>
        </p:txBody>
      </p:sp>
      <p:sp>
        <p:nvSpPr>
          <p:cNvPr id="5" name="Content Placeholder 2"/>
          <p:cNvSpPr txBox="1">
            <a:spLocks/>
          </p:cNvSpPr>
          <p:nvPr/>
        </p:nvSpPr>
        <p:spPr>
          <a:xfrm>
            <a:off x="363416" y="831273"/>
            <a:ext cx="11465168" cy="5631934"/>
          </a:xfrm>
          <a:prstGeom prst="rect">
            <a:avLst/>
          </a:prstGeom>
        </p:spPr>
        <p:txBody>
          <a:bodyPr>
            <a:normAutofit lnSpcReduction="10000"/>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While moving through the plasma, the negatively charged electrons strike the molecule of mercury </a:t>
            </a:r>
            <a:r>
              <a:rPr lang="en-US" sz="2800" dirty="0" err="1">
                <a:latin typeface="Palatino Linotype" panose="02040502050505030304" pitchFamily="18" charset="0"/>
              </a:rPr>
              <a:t>vapour</a:t>
            </a:r>
            <a:r>
              <a:rPr lang="en-US" sz="2800" dirty="0">
                <a:latin typeface="Palatino Linotype" panose="02040502050505030304" pitchFamily="18" charset="0"/>
              </a:rPr>
              <a:t>.</a:t>
            </a:r>
          </a:p>
          <a:p>
            <a:pPr algn="just"/>
            <a:r>
              <a:rPr lang="en-US" sz="2800" dirty="0">
                <a:latin typeface="Palatino Linotype" panose="02040502050505030304" pitchFamily="18" charset="0"/>
              </a:rPr>
              <a:t>These molecules get excited to a higher energy level momentarily, and when they return to their normal state, the excess energy is released in the form of ultraviolet (UV) rays.</a:t>
            </a:r>
          </a:p>
          <a:p>
            <a:pPr algn="just"/>
            <a:r>
              <a:rPr lang="en-US" sz="2800" dirty="0">
                <a:latin typeface="Palatino Linotype" panose="02040502050505030304" pitchFamily="18" charset="0"/>
              </a:rPr>
              <a:t>Thus, plasma cells act like tiny fluorescent lamps</a:t>
            </a:r>
          </a:p>
          <a:p>
            <a:pPr algn="just"/>
            <a:r>
              <a:rPr lang="en-US" sz="2800" dirty="0">
                <a:latin typeface="Palatino Linotype" panose="02040502050505030304" pitchFamily="18" charset="0"/>
              </a:rPr>
              <a:t>The ultraviolet rays strike the phosphor elements, available on the back side of each cell, and make them glow.</a:t>
            </a:r>
          </a:p>
          <a:p>
            <a:pPr algn="just"/>
            <a:r>
              <a:rPr lang="en-US" sz="2800" dirty="0">
                <a:latin typeface="Palatino Linotype" panose="02040502050505030304" pitchFamily="18" charset="0"/>
              </a:rPr>
              <a:t>Each pixel in plasma display is made up of three cells, pertaining to three primary colours. </a:t>
            </a:r>
          </a:p>
          <a:p>
            <a:pPr algn="just"/>
            <a:r>
              <a:rPr lang="en-US" sz="2800" dirty="0">
                <a:latin typeface="Palatino Linotype" panose="02040502050505030304" pitchFamily="18" charset="0"/>
              </a:rPr>
              <a:t>For every cell there is a phosphor element, and when a pixel is activated, these cells produce UV light which strikes the phosphor dots</a:t>
            </a:r>
          </a:p>
        </p:txBody>
      </p:sp>
    </p:spTree>
    <p:extLst>
      <p:ext uri="{BB962C8B-B14F-4D97-AF65-F5344CB8AC3E}">
        <p14:creationId xmlns:p14="http://schemas.microsoft.com/office/powerpoint/2010/main" val="10457494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65</a:t>
            </a:fld>
            <a:endParaRPr lang="en-US" noProof="0" dirty="0"/>
          </a:p>
        </p:txBody>
      </p:sp>
      <p:sp>
        <p:nvSpPr>
          <p:cNvPr id="5"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For every cell there is a phosphor element, and when a pixel is activated, these cells produce UV light which strikes the phosphor dots and makes them emit red, green and blue light.</a:t>
            </a:r>
          </a:p>
          <a:p>
            <a:pPr algn="just"/>
            <a:r>
              <a:rPr lang="en-US" sz="2800" dirty="0">
                <a:latin typeface="Palatino Linotype" panose="02040502050505030304" pitchFamily="18" charset="0"/>
              </a:rPr>
              <a:t>Thus the video signal is converted into original colour picture.</a:t>
            </a:r>
          </a:p>
          <a:p>
            <a:pPr algn="just"/>
            <a:r>
              <a:rPr lang="en-US" sz="2800" dirty="0">
                <a:latin typeface="Palatino Linotype" panose="02040502050505030304" pitchFamily="18" charset="0"/>
              </a:rPr>
              <a:t>Size – Plasma displays have sizes larger than 80cm. Sizes up to 4 </a:t>
            </a:r>
            <a:r>
              <a:rPr lang="en-US" sz="2800" dirty="0" err="1">
                <a:latin typeface="Palatino Linotype" panose="02040502050505030304" pitchFamily="18" charset="0"/>
              </a:rPr>
              <a:t>metres</a:t>
            </a:r>
            <a:r>
              <a:rPr lang="en-US" sz="2800" dirty="0">
                <a:latin typeface="Palatino Linotype" panose="02040502050505030304" pitchFamily="18" charset="0"/>
              </a:rPr>
              <a:t> have been achieved, and possible larger size than this have been developed.</a:t>
            </a:r>
          </a:p>
          <a:p>
            <a:pPr algn="just"/>
            <a:endParaRPr lang="en-US" sz="2800" dirty="0">
              <a:latin typeface="Palatino Linotype" panose="02040502050505030304" pitchFamily="18" charset="0"/>
            </a:endParaRPr>
          </a:p>
          <a:p>
            <a:pPr algn="just"/>
            <a:endParaRPr lang="en-US" sz="2800" dirty="0">
              <a:latin typeface="Palatino Linotype" panose="02040502050505030304" pitchFamily="18" charset="0"/>
            </a:endParaRPr>
          </a:p>
        </p:txBody>
      </p:sp>
    </p:spTree>
    <p:extLst>
      <p:ext uri="{BB962C8B-B14F-4D97-AF65-F5344CB8AC3E}">
        <p14:creationId xmlns:p14="http://schemas.microsoft.com/office/powerpoint/2010/main" val="3443442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66</a:t>
            </a:fld>
            <a:endParaRPr lang="en-US" noProof="0" dirty="0"/>
          </a:p>
        </p:txBody>
      </p:sp>
      <p:sp>
        <p:nvSpPr>
          <p:cNvPr id="3" name="Content Placeholder 2"/>
          <p:cNvSpPr>
            <a:spLocks noGrp="1"/>
          </p:cNvSpPr>
          <p:nvPr>
            <p:ph idx="1"/>
          </p:nvPr>
        </p:nvSpPr>
        <p:spPr>
          <a:xfrm>
            <a:off x="363416" y="1825625"/>
            <a:ext cx="11465168" cy="4351338"/>
          </a:xfrm>
        </p:spPr>
        <p:txBody>
          <a:bodyPr>
            <a:normAutofit/>
          </a:bodyPr>
          <a:lstStyle/>
          <a:p>
            <a:pPr marL="514350" indent="-514350" algn="just">
              <a:buFont typeface="+mj-lt"/>
              <a:buAutoNum type="arabicParenR"/>
            </a:pPr>
            <a:r>
              <a:rPr lang="en-US" sz="2800" dirty="0">
                <a:latin typeface="Palatino Linotype" panose="02040502050505030304" pitchFamily="18" charset="0"/>
              </a:rPr>
              <a:t>They are quite slim with thickness about 5 cm.</a:t>
            </a:r>
          </a:p>
          <a:p>
            <a:pPr marL="514350" indent="-514350" algn="just">
              <a:buFont typeface="+mj-lt"/>
              <a:buAutoNum type="arabicParenR"/>
            </a:pPr>
            <a:r>
              <a:rPr lang="en-US" sz="2800" dirty="0">
                <a:latin typeface="Palatino Linotype" panose="02040502050505030304" pitchFamily="18" charset="0"/>
              </a:rPr>
              <a:t>They can be easily hung on a wall</a:t>
            </a:r>
          </a:p>
          <a:p>
            <a:pPr marL="514350" indent="-514350" algn="just">
              <a:buFont typeface="+mj-lt"/>
              <a:buAutoNum type="arabicParenR"/>
            </a:pPr>
            <a:r>
              <a:rPr lang="en-US" sz="2800" dirty="0">
                <a:latin typeface="Palatino Linotype" panose="02040502050505030304" pitchFamily="18" charset="0"/>
              </a:rPr>
              <a:t>They have large size thus giving life-size effect as in cinematography</a:t>
            </a:r>
          </a:p>
          <a:p>
            <a:pPr marL="514350" indent="-514350" algn="just">
              <a:buFont typeface="+mj-lt"/>
              <a:buAutoNum type="arabicParenR"/>
            </a:pPr>
            <a:r>
              <a:rPr lang="en-US" sz="2800" dirty="0">
                <a:latin typeface="Palatino Linotype" panose="02040502050505030304" pitchFamily="18" charset="0"/>
              </a:rPr>
              <a:t>Superior contrast</a:t>
            </a:r>
          </a:p>
          <a:p>
            <a:pPr marL="514350" indent="-514350" algn="just">
              <a:buFont typeface="+mj-lt"/>
              <a:buAutoNum type="arabicParenR"/>
            </a:pPr>
            <a:r>
              <a:rPr lang="en-US" sz="2800" dirty="0">
                <a:latin typeface="Palatino Linotype" panose="02040502050505030304" pitchFamily="18" charset="0"/>
              </a:rPr>
              <a:t>Brighter picture</a:t>
            </a:r>
          </a:p>
          <a:p>
            <a:pPr marL="514350" indent="-514350" algn="just">
              <a:buFont typeface="+mj-lt"/>
              <a:buAutoNum type="arabicParenR"/>
            </a:pPr>
            <a:r>
              <a:rPr lang="en-US" sz="2800" dirty="0">
                <a:latin typeface="Palatino Linotype" panose="02040502050505030304" pitchFamily="18" charset="0"/>
              </a:rPr>
              <a:t>Very fast response, hence no motion blur in fast moving objects, like cricket ball</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Advantages of Plasma Display Panels</a:t>
            </a:r>
          </a:p>
        </p:txBody>
      </p:sp>
    </p:spTree>
    <p:extLst>
      <p:ext uri="{BB962C8B-B14F-4D97-AF65-F5344CB8AC3E}">
        <p14:creationId xmlns:p14="http://schemas.microsoft.com/office/powerpoint/2010/main" val="14369673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67</a:t>
            </a:fld>
            <a:endParaRPr lang="en-US" noProof="0" dirty="0"/>
          </a:p>
        </p:txBody>
      </p:sp>
      <p:sp>
        <p:nvSpPr>
          <p:cNvPr id="3" name="Content Placeholder 2"/>
          <p:cNvSpPr>
            <a:spLocks noGrp="1"/>
          </p:cNvSpPr>
          <p:nvPr>
            <p:ph idx="1"/>
          </p:nvPr>
        </p:nvSpPr>
        <p:spPr>
          <a:xfrm>
            <a:off x="363416" y="1825625"/>
            <a:ext cx="11465168" cy="4351338"/>
          </a:xfrm>
        </p:spPr>
        <p:txBody>
          <a:bodyPr>
            <a:normAutofit/>
          </a:bodyPr>
          <a:lstStyle/>
          <a:p>
            <a:pPr marL="514350" indent="-514350" algn="just">
              <a:buFont typeface="+mj-lt"/>
              <a:buAutoNum type="arabicParenR"/>
            </a:pPr>
            <a:r>
              <a:rPr lang="en-US" sz="2800" dirty="0">
                <a:latin typeface="Palatino Linotype" panose="02040502050505030304" pitchFamily="18" charset="0"/>
              </a:rPr>
              <a:t>Not available in small sizes, hence cannot be used in laptop computers, calculators, etc.</a:t>
            </a:r>
          </a:p>
          <a:p>
            <a:pPr marL="514350" indent="-514350" algn="just">
              <a:buFont typeface="+mj-lt"/>
              <a:buAutoNum type="arabicParenR"/>
            </a:pPr>
            <a:r>
              <a:rPr lang="en-US" sz="2800" dirty="0">
                <a:latin typeface="Palatino Linotype" panose="02040502050505030304" pitchFamily="18" charset="0"/>
              </a:rPr>
              <a:t>Although slimmer than traditional LCD type, it is heavier due to the use of glass plates. LCD uses plastic</a:t>
            </a:r>
          </a:p>
          <a:p>
            <a:pPr marL="514350" indent="-514350" algn="just">
              <a:buFont typeface="+mj-lt"/>
              <a:buAutoNum type="arabicParenR"/>
            </a:pPr>
            <a:r>
              <a:rPr lang="en-US" sz="2800" dirty="0">
                <a:latin typeface="Palatino Linotype" panose="02040502050505030304" pitchFamily="18" charset="0"/>
              </a:rPr>
              <a:t>Consumes more power than LCD</a:t>
            </a:r>
          </a:p>
          <a:p>
            <a:pPr marL="514350" indent="-514350" algn="just">
              <a:buFont typeface="+mj-lt"/>
              <a:buAutoNum type="arabicParenR"/>
            </a:pPr>
            <a:r>
              <a:rPr lang="en-US" sz="2800" dirty="0">
                <a:latin typeface="Palatino Linotype" panose="02040502050505030304" pitchFamily="18" charset="0"/>
              </a:rPr>
              <a:t>Cannot work well on high altitudes due to pressure problems</a:t>
            </a:r>
          </a:p>
          <a:p>
            <a:pPr marL="514350" indent="-514350" algn="just">
              <a:buFont typeface="+mj-lt"/>
              <a:buAutoNum type="arabicParenR"/>
            </a:pPr>
            <a:r>
              <a:rPr lang="en-US" sz="2800" dirty="0">
                <a:latin typeface="Palatino Linotype" panose="02040502050505030304" pitchFamily="18" charset="0"/>
              </a:rPr>
              <a:t>Prone to radio frequency interference</a:t>
            </a:r>
          </a:p>
          <a:p>
            <a:pPr marL="514350" indent="-514350" algn="just">
              <a:buFont typeface="+mj-lt"/>
              <a:buAutoNum type="arabicParenR"/>
            </a:pPr>
            <a:r>
              <a:rPr lang="en-US" sz="2800" dirty="0">
                <a:latin typeface="Palatino Linotype" panose="02040502050505030304" pitchFamily="18" charset="0"/>
              </a:rPr>
              <a:t>Plasma contributes to global warming as nitrogen </a:t>
            </a:r>
            <a:r>
              <a:rPr lang="en-US" sz="2800" dirty="0" err="1">
                <a:latin typeface="Palatino Linotype" panose="02040502050505030304" pitchFamily="18" charset="0"/>
              </a:rPr>
              <a:t>trifluoride</a:t>
            </a:r>
            <a:r>
              <a:rPr lang="en-US" sz="2800" dirty="0">
                <a:latin typeface="Palatino Linotype" panose="02040502050505030304" pitchFamily="18" charset="0"/>
              </a:rPr>
              <a:t> (a very potent green house gas) is used during production.</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Disadvantages of Plasma Display Panels</a:t>
            </a:r>
          </a:p>
        </p:txBody>
      </p:sp>
    </p:spTree>
    <p:extLst>
      <p:ext uri="{BB962C8B-B14F-4D97-AF65-F5344CB8AC3E}">
        <p14:creationId xmlns:p14="http://schemas.microsoft.com/office/powerpoint/2010/main" val="6938372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68</a:t>
            </a:fld>
            <a:endParaRPr lang="en-US" noProof="0" dirty="0"/>
          </a:p>
        </p:txBody>
      </p:sp>
      <p:sp>
        <p:nvSpPr>
          <p:cNvPr id="3" name="Content Placeholder 2"/>
          <p:cNvSpPr>
            <a:spLocks noGrp="1"/>
          </p:cNvSpPr>
          <p:nvPr>
            <p:ph idx="1"/>
          </p:nvPr>
        </p:nvSpPr>
        <p:spPr>
          <a:xfrm>
            <a:off x="363416" y="1704109"/>
            <a:ext cx="11465168" cy="4759098"/>
          </a:xfrm>
        </p:spPr>
        <p:txBody>
          <a:bodyPr>
            <a:normAutofit/>
          </a:bodyPr>
          <a:lstStyle/>
          <a:p>
            <a:pPr algn="just"/>
            <a:r>
              <a:rPr lang="en-US" sz="2800" dirty="0">
                <a:latin typeface="Palatino Linotype" panose="02040502050505030304" pitchFamily="18" charset="0"/>
              </a:rPr>
              <a:t>Liquid crystals are organic compounds whose physical properties are the same as those of a crystal, but whose </a:t>
            </a:r>
            <a:r>
              <a:rPr lang="en-US" sz="2800" dirty="0" err="1">
                <a:latin typeface="Palatino Linotype" panose="02040502050505030304" pitchFamily="18" charset="0"/>
              </a:rPr>
              <a:t>behaviour</a:t>
            </a:r>
            <a:r>
              <a:rPr lang="en-US" sz="2800" dirty="0">
                <a:latin typeface="Palatino Linotype" panose="02040502050505030304" pitchFamily="18" charset="0"/>
              </a:rPr>
              <a:t> resembles that of a liquid. </a:t>
            </a:r>
          </a:p>
          <a:p>
            <a:pPr algn="just"/>
            <a:r>
              <a:rPr lang="en-US" sz="2800" dirty="0">
                <a:latin typeface="Palatino Linotype" panose="02040502050505030304" pitchFamily="18" charset="0"/>
              </a:rPr>
              <a:t>Hence they are known as liquid crystals. </a:t>
            </a:r>
          </a:p>
          <a:p>
            <a:pPr algn="just"/>
            <a:r>
              <a:rPr lang="en-US" sz="2800" dirty="0">
                <a:latin typeface="Palatino Linotype" panose="02040502050505030304" pitchFamily="18" charset="0"/>
              </a:rPr>
              <a:t>A molecule of a liquid crystal has an elongated rod like shape and its structure is somewhat rigid. </a:t>
            </a:r>
          </a:p>
          <a:p>
            <a:pPr algn="just"/>
            <a:r>
              <a:rPr lang="en-US" sz="2800" dirty="0">
                <a:latin typeface="Palatino Linotype" panose="02040502050505030304" pitchFamily="18" charset="0"/>
              </a:rPr>
              <a:t>Electric conductivity, refractive index and </a:t>
            </a:r>
            <a:r>
              <a:rPr lang="en-US" sz="2800" dirty="0" err="1">
                <a:latin typeface="Palatino Linotype" panose="02040502050505030304" pitchFamily="18" charset="0"/>
              </a:rPr>
              <a:t>polarisation</a:t>
            </a:r>
            <a:r>
              <a:rPr lang="en-US" sz="2800" dirty="0">
                <a:latin typeface="Palatino Linotype" panose="02040502050505030304" pitchFamily="18" charset="0"/>
              </a:rPr>
              <a:t> of light coming out of it depends on the orientation of its crystals. </a:t>
            </a:r>
          </a:p>
          <a:p>
            <a:pPr algn="just"/>
            <a:r>
              <a:rPr lang="en-US" sz="2800" dirty="0">
                <a:latin typeface="Palatino Linotype" panose="02040502050505030304" pitchFamily="18" charset="0"/>
              </a:rPr>
              <a:t>This property of liquid crystal is used to make the light, passing through it, change its </a:t>
            </a:r>
            <a:r>
              <a:rPr lang="en-US" sz="2800" dirty="0" err="1">
                <a:latin typeface="Palatino Linotype" panose="02040502050505030304" pitchFamily="18" charset="0"/>
              </a:rPr>
              <a:t>polarisation</a:t>
            </a:r>
            <a:r>
              <a:rPr lang="en-US" sz="2800" dirty="0">
                <a:latin typeface="Palatino Linotype" panose="02040502050505030304" pitchFamily="18" charset="0"/>
              </a:rPr>
              <a:t>. </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Liquid Crystal Displays</a:t>
            </a:r>
          </a:p>
        </p:txBody>
      </p:sp>
    </p:spTree>
    <p:extLst>
      <p:ext uri="{BB962C8B-B14F-4D97-AF65-F5344CB8AC3E}">
        <p14:creationId xmlns:p14="http://schemas.microsoft.com/office/powerpoint/2010/main" val="37818760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69</a:t>
            </a:fld>
            <a:endParaRPr lang="en-US" noProof="0" dirty="0"/>
          </a:p>
        </p:txBody>
      </p:sp>
      <p:sp>
        <p:nvSpPr>
          <p:cNvPr id="5"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2800" dirty="0">
              <a:latin typeface="Palatino Linotype" panose="02040502050505030304" pitchFamily="18" charset="0"/>
            </a:endParaRPr>
          </a:p>
        </p:txBody>
      </p:sp>
      <p:sp>
        <p:nvSpPr>
          <p:cNvPr id="4"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liquid crystals adjust themselves parallel or perpendicular to the electric field.</a:t>
            </a:r>
          </a:p>
          <a:p>
            <a:pPr algn="just"/>
            <a:r>
              <a:rPr lang="en-US" sz="2800" dirty="0">
                <a:latin typeface="Palatino Linotype" panose="02040502050505030304" pitchFamily="18" charset="0"/>
              </a:rPr>
              <a:t>The electric field applied to an LCD cell twists the molecules, the twist being proportional to the signal voltage.</a:t>
            </a:r>
          </a:p>
          <a:p>
            <a:pPr algn="just"/>
            <a:r>
              <a:rPr lang="en-US" sz="2800" dirty="0">
                <a:latin typeface="Palatino Linotype" panose="02040502050505030304" pitchFamily="18" charset="0"/>
              </a:rPr>
              <a:t>The electric field is applied at right angles to the axes of liquid crystals.</a:t>
            </a:r>
          </a:p>
          <a:p>
            <a:pPr algn="just"/>
            <a:r>
              <a:rPr lang="en-US" sz="2800" dirty="0">
                <a:latin typeface="Palatino Linotype" panose="02040502050505030304" pitchFamily="18" charset="0"/>
              </a:rPr>
              <a:t>The LCD elements has a thin liquid crystal sandwiched between two transparent plates.</a:t>
            </a:r>
          </a:p>
          <a:p>
            <a:pPr algn="just"/>
            <a:r>
              <a:rPr lang="en-US" sz="2800" dirty="0">
                <a:latin typeface="Palatino Linotype" panose="02040502050505030304" pitchFamily="18" charset="0"/>
              </a:rPr>
              <a:t>When the voltage applied to the plates varies, the polarization of light passing through the liquid crystals changes.</a:t>
            </a:r>
          </a:p>
          <a:p>
            <a:pPr algn="just"/>
            <a:r>
              <a:rPr lang="en-US" sz="2800" dirty="0">
                <a:latin typeface="Palatino Linotype" panose="02040502050505030304" pitchFamily="18" charset="0"/>
              </a:rPr>
              <a:t>It can change between 0 and 90 degree.</a:t>
            </a:r>
          </a:p>
          <a:p>
            <a:pPr algn="just"/>
            <a:r>
              <a:rPr lang="en-US" sz="2800" dirty="0">
                <a:latin typeface="Palatino Linotype" panose="02040502050505030304" pitchFamily="18" charset="0"/>
              </a:rPr>
              <a:t>The action of an LCD is shown in the next figure.</a:t>
            </a:r>
          </a:p>
          <a:p>
            <a:pPr algn="just"/>
            <a:endParaRPr lang="en-US" sz="2800" dirty="0">
              <a:latin typeface="Palatino Linotype" panose="02040502050505030304" pitchFamily="18" charset="0"/>
            </a:endParaRPr>
          </a:p>
        </p:txBody>
      </p:sp>
    </p:spTree>
    <p:extLst>
      <p:ext uri="{BB962C8B-B14F-4D97-AF65-F5344CB8AC3E}">
        <p14:creationId xmlns:p14="http://schemas.microsoft.com/office/powerpoint/2010/main" val="15253811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70</a:t>
            </a:fld>
            <a:endParaRPr lang="en-US" noProof="0" dirty="0"/>
          </a:p>
        </p:txBody>
      </p:sp>
      <p:sp>
        <p:nvSpPr>
          <p:cNvPr id="5"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2800" dirty="0">
              <a:latin typeface="Palatino Linotype" panose="02040502050505030304" pitchFamily="18" charset="0"/>
            </a:endParaRPr>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29567" y="831273"/>
            <a:ext cx="8074106" cy="5506540"/>
          </a:xfrm>
          <a:prstGeom prst="rect">
            <a:avLst/>
          </a:prstGeom>
          <a:ln>
            <a:noFill/>
          </a:ln>
          <a:effectLst>
            <a:outerShdw blurRad="292100" dist="139700" dir="2700000" algn="tl" rotWithShape="0">
              <a:srgbClr val="333333">
                <a:alpha val="65000"/>
              </a:srgbClr>
            </a:outerShdw>
          </a:effectLst>
        </p:spPr>
      </p:pic>
      <p:sp>
        <p:nvSpPr>
          <p:cNvPr id="4" name="Rectangle 3"/>
          <p:cNvSpPr/>
          <p:nvPr/>
        </p:nvSpPr>
        <p:spPr>
          <a:xfrm>
            <a:off x="9085384" y="1644133"/>
            <a:ext cx="2743200" cy="2031325"/>
          </a:xfrm>
          <a:prstGeom prst="rect">
            <a:avLst/>
          </a:prstGeom>
        </p:spPr>
        <p:txBody>
          <a:bodyPr wrap="square">
            <a:spAutoFit/>
          </a:bodyPr>
          <a:lstStyle/>
          <a:p>
            <a:r>
              <a:rPr lang="en-US" dirty="0">
                <a:latin typeface="Palatino Linotype" panose="02040502050505030304" pitchFamily="18" charset="0"/>
              </a:rPr>
              <a:t>(a) Orientation of liquid crystal molecules to allow light in the output</a:t>
            </a:r>
          </a:p>
          <a:p>
            <a:endParaRPr lang="en-US" dirty="0">
              <a:latin typeface="Palatino Linotype" panose="02040502050505030304" pitchFamily="18" charset="0"/>
            </a:endParaRPr>
          </a:p>
          <a:p>
            <a:r>
              <a:rPr lang="en-US" dirty="0">
                <a:latin typeface="Palatino Linotype" panose="02040502050505030304" pitchFamily="18" charset="0"/>
              </a:rPr>
              <a:t>(b) Orientation of liquid crystal molecules to block light</a:t>
            </a:r>
            <a:endParaRPr lang="en-US" dirty="0"/>
          </a:p>
        </p:txBody>
      </p:sp>
    </p:spTree>
    <p:extLst>
      <p:ext uri="{BB962C8B-B14F-4D97-AF65-F5344CB8AC3E}">
        <p14:creationId xmlns:p14="http://schemas.microsoft.com/office/powerpoint/2010/main" val="7409517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71</a:t>
            </a:fld>
            <a:endParaRPr lang="en-US" noProof="0" dirty="0"/>
          </a:p>
        </p:txBody>
      </p:sp>
      <p:sp>
        <p:nvSpPr>
          <p:cNvPr id="5"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2800" dirty="0">
              <a:latin typeface="Palatino Linotype" panose="02040502050505030304" pitchFamily="18" charset="0"/>
            </a:endParaRPr>
          </a:p>
        </p:txBody>
      </p:sp>
      <p:sp>
        <p:nvSpPr>
          <p:cNvPr id="4"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polarization of the incident light is random.</a:t>
            </a:r>
          </a:p>
          <a:p>
            <a:pPr algn="just"/>
            <a:r>
              <a:rPr lang="en-US" sz="2800" dirty="0">
                <a:latin typeface="Palatino Linotype" panose="02040502050505030304" pitchFamily="18" charset="0"/>
              </a:rPr>
              <a:t>The vertical polarizer selects only vertically polarized light.</a:t>
            </a:r>
          </a:p>
          <a:p>
            <a:pPr algn="just"/>
            <a:r>
              <a:rPr lang="en-US" sz="2800" dirty="0">
                <a:latin typeface="Palatino Linotype" panose="02040502050505030304" pitchFamily="18" charset="0"/>
              </a:rPr>
              <a:t>In figure (a), the LCD crystal causes a shift of 90˚ in the polarization and hence it becomes horizontally polarized light.</a:t>
            </a:r>
          </a:p>
          <a:p>
            <a:pPr algn="just"/>
            <a:r>
              <a:rPr lang="en-US" sz="2800" dirty="0">
                <a:latin typeface="Palatino Linotype" panose="02040502050505030304" pitchFamily="18" charset="0"/>
              </a:rPr>
              <a:t>The next polarizer is the horizontal polarizer which allows this light to pass and so light comes out of the LCD element.</a:t>
            </a:r>
          </a:p>
          <a:p>
            <a:pPr algn="just"/>
            <a:r>
              <a:rPr lang="en-US" sz="2800" dirty="0">
                <a:latin typeface="Palatino Linotype" panose="02040502050505030304" pitchFamily="18" charset="0"/>
              </a:rPr>
              <a:t>In figure (b), the LCD causes no shift in polarization.</a:t>
            </a:r>
          </a:p>
          <a:p>
            <a:pPr algn="just"/>
            <a:r>
              <a:rPr lang="en-US" sz="2800" dirty="0">
                <a:latin typeface="Palatino Linotype" panose="02040502050505030304" pitchFamily="18" charset="0"/>
              </a:rPr>
              <a:t>So the light coming out of the liquid elements remains vertically polarized, which is stopped by the horizontal polarizer.</a:t>
            </a:r>
          </a:p>
          <a:p>
            <a:pPr algn="just"/>
            <a:r>
              <a:rPr lang="en-US" sz="2800" dirty="0">
                <a:latin typeface="Palatino Linotype" panose="02040502050505030304" pitchFamily="18" charset="0"/>
              </a:rPr>
              <a:t>Thus no light will come out of the LCD element.</a:t>
            </a:r>
          </a:p>
          <a:p>
            <a:pPr algn="just"/>
            <a:r>
              <a:rPr lang="en-US" sz="2800" dirty="0">
                <a:latin typeface="Palatino Linotype" panose="02040502050505030304" pitchFamily="18" charset="0"/>
              </a:rPr>
              <a:t>Consequently, the transparency of the LCD pixel element will depend on the degree of shift in polarization.</a:t>
            </a:r>
          </a:p>
        </p:txBody>
      </p:sp>
    </p:spTree>
    <p:extLst>
      <p:ext uri="{BB962C8B-B14F-4D97-AF65-F5344CB8AC3E}">
        <p14:creationId xmlns:p14="http://schemas.microsoft.com/office/powerpoint/2010/main" val="18902606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72</a:t>
            </a:fld>
            <a:endParaRPr lang="en-US" noProof="0" dirty="0"/>
          </a:p>
        </p:txBody>
      </p:sp>
      <p:sp>
        <p:nvSpPr>
          <p:cNvPr id="5"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2800" dirty="0">
              <a:latin typeface="Palatino Linotype" panose="02040502050505030304" pitchFamily="18" charset="0"/>
            </a:endParaRPr>
          </a:p>
        </p:txBody>
      </p:sp>
      <p:sp>
        <p:nvSpPr>
          <p:cNvPr id="4"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It will have different intensity within two limits of full light to zero light.</a:t>
            </a:r>
          </a:p>
          <a:p>
            <a:pPr algn="just"/>
            <a:r>
              <a:rPr lang="en-US" sz="2800" dirty="0">
                <a:latin typeface="Palatino Linotype" panose="02040502050505030304" pitchFamily="18" charset="0"/>
              </a:rPr>
              <a:t>Relationship between signal voltage and transparency of the cell is linear.</a:t>
            </a:r>
          </a:p>
          <a:p>
            <a:pPr algn="just"/>
            <a:r>
              <a:rPr lang="en-US" sz="2800" dirty="0">
                <a:latin typeface="Palatino Linotype" panose="02040502050505030304" pitchFamily="18" charset="0"/>
              </a:rPr>
              <a:t>In a practical system, 100,000 – 400,000 pixel of LCDs are arranged in a rectangular matrix.</a:t>
            </a:r>
          </a:p>
          <a:p>
            <a:pPr algn="just"/>
            <a:r>
              <a:rPr lang="en-US" sz="2800" dirty="0">
                <a:latin typeface="Palatino Linotype" panose="02040502050505030304" pitchFamily="18" charset="0"/>
              </a:rPr>
              <a:t>Each pixel is controlled individually by its built-in thin film transistor (TFT).</a:t>
            </a:r>
          </a:p>
          <a:p>
            <a:pPr algn="just"/>
            <a:r>
              <a:rPr lang="en-US" sz="2800" dirty="0">
                <a:latin typeface="Palatino Linotype" panose="02040502050505030304" pitchFamily="18" charset="0"/>
              </a:rPr>
              <a:t>It can be opened or closed or driven to any point between the two extremes to produce the original pattern of light intensity on the screen.</a:t>
            </a:r>
          </a:p>
          <a:p>
            <a:pPr algn="just"/>
            <a:r>
              <a:rPr lang="en-US" sz="2800" dirty="0">
                <a:latin typeface="Palatino Linotype" panose="02040502050505030304" pitchFamily="18" charset="0"/>
              </a:rPr>
              <a:t>It gives a monochrome picture.</a:t>
            </a:r>
          </a:p>
        </p:txBody>
      </p:sp>
    </p:spTree>
    <p:extLst>
      <p:ext uri="{BB962C8B-B14F-4D97-AF65-F5344CB8AC3E}">
        <p14:creationId xmlns:p14="http://schemas.microsoft.com/office/powerpoint/2010/main" val="8082292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73</a:t>
            </a:fld>
            <a:endParaRPr lang="en-US" noProof="0" dirty="0"/>
          </a:p>
        </p:txBody>
      </p:sp>
      <p:sp>
        <p:nvSpPr>
          <p:cNvPr id="5"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2800" dirty="0">
              <a:latin typeface="Palatino Linotype" panose="02040502050505030304" pitchFamily="18" charset="0"/>
            </a:endParaRPr>
          </a:p>
        </p:txBody>
      </p:sp>
      <p:sp>
        <p:nvSpPr>
          <p:cNvPr id="4"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To produce colour display, each LCD cell is given a colour filter.</a:t>
            </a:r>
          </a:p>
          <a:p>
            <a:pPr algn="just"/>
            <a:r>
              <a:rPr lang="en-US" sz="2800" dirty="0">
                <a:latin typeface="Palatino Linotype" panose="02040502050505030304" pitchFamily="18" charset="0"/>
              </a:rPr>
              <a:t>There would be three cells per pixel which will have green, red and blue filters.</a:t>
            </a:r>
          </a:p>
          <a:p>
            <a:pPr algn="just"/>
            <a:r>
              <a:rPr lang="en-US" sz="2800" dirty="0">
                <a:latin typeface="Palatino Linotype" panose="02040502050505030304" pitchFamily="18" charset="0"/>
              </a:rPr>
              <a:t>Thus the light coming out will have three primary colours for each pixel, which will be added by the eyes to get the original colour.</a:t>
            </a:r>
          </a:p>
          <a:p>
            <a:pPr algn="just"/>
            <a:r>
              <a:rPr lang="en-US" sz="2800" dirty="0">
                <a:latin typeface="Palatino Linotype" panose="02040502050505030304" pitchFamily="18" charset="0"/>
              </a:rPr>
              <a:t>Pocket TV receivers, electronic toys and laptop computer monitors are widely using LCD display panels because of their obvious advantages of low power, small weight, compactness and high reliability.</a:t>
            </a:r>
          </a:p>
          <a:p>
            <a:pPr algn="just"/>
            <a:r>
              <a:rPr lang="en-US" sz="2800" dirty="0">
                <a:latin typeface="Palatino Linotype" panose="02040502050505030304" pitchFamily="18" charset="0"/>
              </a:rPr>
              <a:t>In LCD there are no phosphor elements; the crystal itself produces variations of light and colour, proportional to those present in the original picture.</a:t>
            </a:r>
          </a:p>
        </p:txBody>
      </p:sp>
    </p:spTree>
    <p:extLst>
      <p:ext uri="{BB962C8B-B14F-4D97-AF65-F5344CB8AC3E}">
        <p14:creationId xmlns:p14="http://schemas.microsoft.com/office/powerpoint/2010/main" val="26672285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74</a:t>
            </a:fld>
            <a:endParaRPr lang="en-US" noProof="0" dirty="0"/>
          </a:p>
        </p:txBody>
      </p:sp>
      <p:pic>
        <p:nvPicPr>
          <p:cNvPr id="3" name="Picture 2"/>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t="7800"/>
          <a:stretch/>
        </p:blipFill>
        <p:spPr>
          <a:xfrm>
            <a:off x="2410497" y="207818"/>
            <a:ext cx="8209012" cy="5659022"/>
          </a:xfrm>
          <a:prstGeom prst="rect">
            <a:avLst/>
          </a:prstGeom>
          <a:ln>
            <a:noFill/>
          </a:ln>
          <a:effectLst>
            <a:outerShdw blurRad="292100" dist="139700" dir="2700000" algn="tl" rotWithShape="0">
              <a:srgbClr val="333333">
                <a:alpha val="65000"/>
              </a:srgbClr>
            </a:outerShdw>
          </a:effectLst>
        </p:spPr>
      </p:pic>
      <p:sp>
        <p:nvSpPr>
          <p:cNvPr id="4" name="Rectangle 3"/>
          <p:cNvSpPr/>
          <p:nvPr/>
        </p:nvSpPr>
        <p:spPr>
          <a:xfrm>
            <a:off x="3876299" y="6126234"/>
            <a:ext cx="5277407" cy="461665"/>
          </a:xfrm>
          <a:prstGeom prst="rect">
            <a:avLst/>
          </a:prstGeom>
          <a:solidFill>
            <a:schemeClr val="accent1">
              <a:lumMod val="40000"/>
              <a:lumOff val="60000"/>
            </a:schemeClr>
          </a:solidFill>
        </p:spPr>
        <p:txBody>
          <a:bodyPr wrap="none">
            <a:spAutoFit/>
          </a:bodyPr>
          <a:lstStyle/>
          <a:p>
            <a:r>
              <a:rPr lang="en-US" sz="2400" b="1" dirty="0">
                <a:solidFill>
                  <a:srgbClr val="2A2A2A"/>
                </a:solidFill>
                <a:latin typeface="Palatino Linotype" panose="02040502050505030304" pitchFamily="18" charset="0"/>
              </a:rPr>
              <a:t>Cross section of a typical LCD panel</a:t>
            </a:r>
            <a:endParaRPr lang="en-US" sz="2400" b="1" dirty="0">
              <a:latin typeface="Palatino Linotype" panose="02040502050505030304" pitchFamily="18" charset="0"/>
            </a:endParaRPr>
          </a:p>
        </p:txBody>
      </p:sp>
    </p:spTree>
    <p:extLst>
      <p:ext uri="{BB962C8B-B14F-4D97-AF65-F5344CB8AC3E}">
        <p14:creationId xmlns:p14="http://schemas.microsoft.com/office/powerpoint/2010/main" val="24932127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75</a:t>
            </a:fld>
            <a:endParaRPr lang="en-US" noProof="0" dirty="0"/>
          </a:p>
        </p:txBody>
      </p:sp>
      <p:sp>
        <p:nvSpPr>
          <p:cNvPr id="5"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2800" dirty="0">
              <a:latin typeface="Palatino Linotype" panose="02040502050505030304" pitchFamily="18" charset="0"/>
            </a:endParaRPr>
          </a:p>
        </p:txBody>
      </p:sp>
      <p:sp>
        <p:nvSpPr>
          <p:cNvPr id="4"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Due to the requirement of a source of light, called back light, LCDs are now categorized into two types:</a:t>
            </a:r>
          </a:p>
          <a:p>
            <a:pPr marL="971550" lvl="1" indent="-514350" algn="just">
              <a:buFont typeface="+mj-lt"/>
              <a:buAutoNum type="arabicPeriod"/>
            </a:pPr>
            <a:r>
              <a:rPr lang="en-US" sz="2600" dirty="0">
                <a:latin typeface="Palatino Linotype" panose="02040502050505030304" pitchFamily="18" charset="0"/>
              </a:rPr>
              <a:t>Traditional LCD</a:t>
            </a:r>
          </a:p>
          <a:p>
            <a:pPr marL="971550" lvl="1" indent="-514350" algn="just">
              <a:buFont typeface="+mj-lt"/>
              <a:buAutoNum type="arabicPeriod"/>
            </a:pPr>
            <a:r>
              <a:rPr lang="en-US" sz="2600" dirty="0">
                <a:latin typeface="Palatino Linotype" panose="02040502050505030304" pitchFamily="18" charset="0"/>
              </a:rPr>
              <a:t>LED LCD</a:t>
            </a:r>
          </a:p>
          <a:p>
            <a:pPr algn="just"/>
            <a:r>
              <a:rPr lang="en-US" sz="2800" dirty="0">
                <a:latin typeface="Palatino Linotype" panose="02040502050505030304" pitchFamily="18" charset="0"/>
              </a:rPr>
              <a:t>In traditional LCD, the back light is provided by a cold cathode fluorescent lamp (CCFL)</a:t>
            </a:r>
          </a:p>
          <a:p>
            <a:pPr algn="just"/>
            <a:r>
              <a:rPr lang="en-US" sz="2800" dirty="0">
                <a:latin typeface="Palatino Linotype" panose="02040502050505030304" pitchFamily="18" charset="0"/>
              </a:rPr>
              <a:t>The modern LCD panels use light emitting diodes (LEDs) for the back light.</a:t>
            </a:r>
          </a:p>
          <a:p>
            <a:pPr algn="just"/>
            <a:r>
              <a:rPr lang="en-US" sz="2800" dirty="0">
                <a:latin typeface="Palatino Linotype" panose="02040502050505030304" pitchFamily="18" charset="0"/>
              </a:rPr>
              <a:t>Manufactures prefer to call such a panel an LED TV.</a:t>
            </a:r>
          </a:p>
          <a:p>
            <a:pPr algn="just"/>
            <a:r>
              <a:rPr lang="en-US" sz="2800" dirty="0">
                <a:latin typeface="Palatino Linotype" panose="02040502050505030304" pitchFamily="18" charset="0"/>
              </a:rPr>
              <a:t>Basically, an LCD is the one which is used as a transducer; and LEDs are used to provide a source of back light only, in place of CCFL.</a:t>
            </a:r>
          </a:p>
        </p:txBody>
      </p:sp>
    </p:spTree>
    <p:extLst>
      <p:ext uri="{BB962C8B-B14F-4D97-AF65-F5344CB8AC3E}">
        <p14:creationId xmlns:p14="http://schemas.microsoft.com/office/powerpoint/2010/main" val="33288012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76</a:t>
            </a:fld>
            <a:endParaRPr lang="en-US" noProof="0" dirty="0"/>
          </a:p>
        </p:txBody>
      </p:sp>
      <p:sp>
        <p:nvSpPr>
          <p:cNvPr id="5"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2800" dirty="0">
              <a:latin typeface="Palatino Linotype" panose="02040502050505030304" pitchFamily="18" charset="0"/>
            </a:endParaRPr>
          </a:p>
        </p:txBody>
      </p:sp>
      <p:sp>
        <p:nvSpPr>
          <p:cNvPr id="4"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back light can be produced by using LEDs in blocks directly behind the screen called back lit screen.</a:t>
            </a:r>
          </a:p>
          <a:p>
            <a:pPr algn="just"/>
            <a:r>
              <a:rPr lang="en-US" sz="2800" dirty="0">
                <a:latin typeface="Palatino Linotype" panose="02040502050505030304" pitchFamily="18" charset="0"/>
              </a:rPr>
              <a:t>Alternatively, they can be placed around the edge of the screen called edge lit screen.</a:t>
            </a:r>
          </a:p>
          <a:p>
            <a:pPr algn="just"/>
            <a:r>
              <a:rPr lang="en-US" sz="2800" dirty="0">
                <a:latin typeface="Palatino Linotype" panose="02040502050505030304" pitchFamily="18" charset="0"/>
              </a:rPr>
              <a:t>In the edge lit screen, the light spreads out across the back from the sides</a:t>
            </a:r>
          </a:p>
        </p:txBody>
      </p:sp>
    </p:spTree>
    <p:extLst>
      <p:ext uri="{BB962C8B-B14F-4D97-AF65-F5344CB8AC3E}">
        <p14:creationId xmlns:p14="http://schemas.microsoft.com/office/powerpoint/2010/main" val="22417277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77</a:t>
            </a:fld>
            <a:endParaRPr lang="en-US" noProof="0" dirty="0"/>
          </a:p>
        </p:txBody>
      </p:sp>
      <p:sp>
        <p:nvSpPr>
          <p:cNvPr id="3" name="Content Placeholder 2"/>
          <p:cNvSpPr>
            <a:spLocks noGrp="1"/>
          </p:cNvSpPr>
          <p:nvPr>
            <p:ph idx="1"/>
          </p:nvPr>
        </p:nvSpPr>
        <p:spPr>
          <a:xfrm>
            <a:off x="363416" y="1825625"/>
            <a:ext cx="11465168" cy="4351338"/>
          </a:xfrm>
        </p:spPr>
        <p:txBody>
          <a:bodyPr>
            <a:normAutofit/>
          </a:bodyPr>
          <a:lstStyle/>
          <a:p>
            <a:pPr algn="just"/>
            <a:r>
              <a:rPr lang="en-US" sz="2800" dirty="0">
                <a:latin typeface="Palatino Linotype" panose="02040502050505030304" pitchFamily="18" charset="0"/>
              </a:rPr>
              <a:t>Power consumption is very low, even compared to plasma panels.</a:t>
            </a:r>
          </a:p>
          <a:p>
            <a:pPr algn="just"/>
            <a:r>
              <a:rPr lang="en-US" sz="2800" dirty="0">
                <a:latin typeface="Palatino Linotype" panose="02040502050505030304" pitchFamily="18" charset="0"/>
              </a:rPr>
              <a:t>LCD panels do not use glass plates, but use plastic plates, so they are very much lighter than plasma panels.</a:t>
            </a:r>
          </a:p>
          <a:p>
            <a:pPr algn="just"/>
            <a:r>
              <a:rPr lang="en-US" sz="2800" dirty="0">
                <a:latin typeface="Palatino Linotype" panose="02040502050505030304" pitchFamily="18" charset="0"/>
              </a:rPr>
              <a:t>LCDs using LEDs as source of back light are thinner than plasma panels. The edge lit LCD panels are as thin as 1 cm</a:t>
            </a:r>
          </a:p>
          <a:p>
            <a:pPr algn="just"/>
            <a:r>
              <a:rPr lang="en-US" sz="2800" dirty="0">
                <a:latin typeface="Palatino Linotype" panose="02040502050505030304" pitchFamily="18" charset="0"/>
              </a:rPr>
              <a:t>Unlike plasma panels, there is no problem at high altitudes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Advantages of LCD Panel</a:t>
            </a:r>
          </a:p>
        </p:txBody>
      </p:sp>
    </p:spTree>
    <p:extLst>
      <p:ext uri="{BB962C8B-B14F-4D97-AF65-F5344CB8AC3E}">
        <p14:creationId xmlns:p14="http://schemas.microsoft.com/office/powerpoint/2010/main" val="4291524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78</a:t>
            </a:fld>
            <a:endParaRPr lang="en-US" noProof="0" dirty="0"/>
          </a:p>
        </p:txBody>
      </p:sp>
      <p:sp>
        <p:nvSpPr>
          <p:cNvPr id="3" name="Content Placeholder 2"/>
          <p:cNvSpPr>
            <a:spLocks noGrp="1"/>
          </p:cNvSpPr>
          <p:nvPr>
            <p:ph idx="1"/>
          </p:nvPr>
        </p:nvSpPr>
        <p:spPr>
          <a:xfrm>
            <a:off x="363416" y="1825625"/>
            <a:ext cx="11465168" cy="4351338"/>
          </a:xfrm>
        </p:spPr>
        <p:txBody>
          <a:bodyPr>
            <a:normAutofit/>
          </a:bodyPr>
          <a:lstStyle/>
          <a:p>
            <a:pPr algn="just"/>
            <a:r>
              <a:rPr lang="en-US" sz="2800" dirty="0">
                <a:latin typeface="Palatino Linotype" panose="02040502050505030304" pitchFamily="18" charset="0"/>
              </a:rPr>
              <a:t>There is great competition between LCD and plasma screens.</a:t>
            </a:r>
          </a:p>
          <a:p>
            <a:pPr algn="just"/>
            <a:r>
              <a:rPr lang="en-US" sz="2800" dirty="0">
                <a:latin typeface="Palatino Linotype" panose="02040502050505030304" pitchFamily="18" charset="0"/>
              </a:rPr>
              <a:t>But because of lower power consumption and lack of greenhouse gases, LCD screens have an edge over plasma screens.</a:t>
            </a:r>
          </a:p>
          <a:p>
            <a:pPr algn="just"/>
            <a:r>
              <a:rPr lang="en-US" sz="2800" dirty="0">
                <a:latin typeface="Palatino Linotype" panose="02040502050505030304" pitchFamily="18" charset="0"/>
              </a:rPr>
              <a:t>Moreover, LCD screens using LEDs have become even much slimmer.</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LCD </a:t>
            </a:r>
            <a:r>
              <a:rPr lang="en-US" sz="3600" dirty="0" err="1">
                <a:latin typeface="Palatino Linotype" panose="02040502050505030304" pitchFamily="18" charset="0"/>
              </a:rPr>
              <a:t>vs</a:t>
            </a:r>
            <a:r>
              <a:rPr lang="en-US" sz="3600" dirty="0">
                <a:latin typeface="Palatino Linotype" panose="02040502050505030304" pitchFamily="18" charset="0"/>
              </a:rPr>
              <a:t> Plasma</a:t>
            </a:r>
          </a:p>
        </p:txBody>
      </p:sp>
    </p:spTree>
    <p:extLst>
      <p:ext uri="{BB962C8B-B14F-4D97-AF65-F5344CB8AC3E}">
        <p14:creationId xmlns:p14="http://schemas.microsoft.com/office/powerpoint/2010/main" val="41089086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79</a:t>
            </a:fld>
            <a:endParaRPr lang="en-US" noProof="0" dirty="0"/>
          </a:p>
        </p:txBody>
      </p:sp>
      <p:sp>
        <p:nvSpPr>
          <p:cNvPr id="3" name="Content Placeholder 2"/>
          <p:cNvSpPr>
            <a:spLocks noGrp="1"/>
          </p:cNvSpPr>
          <p:nvPr>
            <p:ph idx="1"/>
          </p:nvPr>
        </p:nvSpPr>
        <p:spPr>
          <a:xfrm>
            <a:off x="363416" y="1558636"/>
            <a:ext cx="11465168" cy="4904571"/>
          </a:xfrm>
        </p:spPr>
        <p:txBody>
          <a:bodyPr>
            <a:normAutofit lnSpcReduction="10000"/>
          </a:bodyPr>
          <a:lstStyle/>
          <a:p>
            <a:pPr algn="just"/>
            <a:r>
              <a:rPr lang="en-US" sz="2800" dirty="0">
                <a:latin typeface="Palatino Linotype" panose="02040502050505030304" pitchFamily="18" charset="0"/>
              </a:rPr>
              <a:t>Traditional TV sets, using cathode ray tubes for display, were good enough for standard definition TV systems.</a:t>
            </a:r>
          </a:p>
          <a:p>
            <a:pPr algn="just"/>
            <a:r>
              <a:rPr lang="en-US" sz="2800" dirty="0">
                <a:latin typeface="Palatino Linotype" panose="02040502050505030304" pitchFamily="18" charset="0"/>
              </a:rPr>
              <a:t>However, their size was limited to less than 100 cm (diagonal)</a:t>
            </a:r>
          </a:p>
          <a:p>
            <a:pPr algn="just"/>
            <a:r>
              <a:rPr lang="en-US" sz="2800" dirty="0">
                <a:latin typeface="Palatino Linotype" panose="02040502050505030304" pitchFamily="18" charset="0"/>
              </a:rPr>
              <a:t>Although the CRT provided great pictures, they could not satisfy those who wanted to enjoy life-size pictures (as in cinema halls).</a:t>
            </a:r>
          </a:p>
          <a:p>
            <a:pPr algn="just"/>
            <a:r>
              <a:rPr lang="en-US" sz="2800" dirty="0">
                <a:latin typeface="Palatino Linotype" panose="02040502050505030304" pitchFamily="18" charset="0"/>
              </a:rPr>
              <a:t>Plasma panels and LCDs were developed, which were capable of producing life-size pictures.</a:t>
            </a:r>
          </a:p>
          <a:p>
            <a:pPr algn="just"/>
            <a:r>
              <a:rPr lang="en-US" sz="2800" dirty="0">
                <a:latin typeface="Palatino Linotype" panose="02040502050505030304" pitchFamily="18" charset="0"/>
              </a:rPr>
              <a:t>Both these devices are luxury items, and are too costly at present.</a:t>
            </a:r>
          </a:p>
          <a:p>
            <a:pPr algn="just"/>
            <a:r>
              <a:rPr lang="en-US" sz="2800" dirty="0">
                <a:latin typeface="Palatino Linotype" panose="02040502050505030304" pitchFamily="18" charset="0"/>
              </a:rPr>
              <a:t>Search for such devices that would give larger pictures at affordable costs continued, and the search efforts succeeded, resulting in </a:t>
            </a:r>
            <a:r>
              <a:rPr lang="en-US" sz="2800" i="1" dirty="0">
                <a:latin typeface="Palatino Linotype" panose="02040502050505030304" pitchFamily="18" charset="0"/>
              </a:rPr>
              <a:t>projection television</a:t>
            </a:r>
            <a:r>
              <a:rPr lang="en-US" sz="2800" dirty="0">
                <a:latin typeface="Palatino Linotype" panose="02040502050505030304" pitchFamily="18" charset="0"/>
              </a:rPr>
              <a:t>.</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Projection Television</a:t>
            </a:r>
          </a:p>
        </p:txBody>
      </p:sp>
    </p:spTree>
    <p:extLst>
      <p:ext uri="{BB962C8B-B14F-4D97-AF65-F5344CB8AC3E}">
        <p14:creationId xmlns:p14="http://schemas.microsoft.com/office/powerpoint/2010/main" val="4084919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80</a:t>
            </a:fld>
            <a:endParaRPr lang="en-US" noProof="0" dirty="0"/>
          </a:p>
        </p:txBody>
      </p:sp>
      <p:sp>
        <p:nvSpPr>
          <p:cNvPr id="5"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2800" dirty="0">
              <a:latin typeface="Palatino Linotype" panose="02040502050505030304" pitchFamily="18" charset="0"/>
            </a:endParaRPr>
          </a:p>
        </p:txBody>
      </p:sp>
      <p:sp>
        <p:nvSpPr>
          <p:cNvPr id="4"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projection TV is the methodology used to display TV pictures on a cinema like screen with the help of a projector.</a:t>
            </a:r>
          </a:p>
          <a:p>
            <a:pPr algn="just"/>
            <a:r>
              <a:rPr lang="en-US" sz="2800" dirty="0">
                <a:latin typeface="Palatino Linotype" panose="02040502050505030304" pitchFamily="18" charset="0"/>
              </a:rPr>
              <a:t>The projection TV uses a projector to create small images out of the input video signal and magnify the same with the help of a bright beam of light and a magnifying lens system. </a:t>
            </a:r>
          </a:p>
          <a:p>
            <a:pPr algn="just"/>
            <a:r>
              <a:rPr lang="en-US" sz="2800" dirty="0">
                <a:latin typeface="Palatino Linotype" panose="02040502050505030304" pitchFamily="18" charset="0"/>
              </a:rPr>
              <a:t>There are two types of projections:</a:t>
            </a:r>
          </a:p>
          <a:p>
            <a:pPr marL="971550" lvl="1" indent="-514350" algn="just">
              <a:buFont typeface="+mj-lt"/>
              <a:buAutoNum type="arabicParenR"/>
            </a:pPr>
            <a:r>
              <a:rPr lang="en-US" sz="2600" dirty="0">
                <a:latin typeface="Palatino Linotype" panose="02040502050505030304" pitchFamily="18" charset="0"/>
              </a:rPr>
              <a:t>Front projection</a:t>
            </a:r>
          </a:p>
          <a:p>
            <a:pPr marL="971550" lvl="1" indent="-514350" algn="just">
              <a:buFont typeface="+mj-lt"/>
              <a:buAutoNum type="arabicParenR"/>
            </a:pPr>
            <a:r>
              <a:rPr lang="en-US" sz="2600" dirty="0">
                <a:latin typeface="Palatino Linotype" panose="02040502050505030304" pitchFamily="18" charset="0"/>
              </a:rPr>
              <a:t>Rear projection</a:t>
            </a:r>
          </a:p>
          <a:p>
            <a:pPr algn="just"/>
            <a:endParaRPr lang="en-US" sz="2800" dirty="0">
              <a:latin typeface="Palatino Linotype" panose="02040502050505030304" pitchFamily="18" charset="0"/>
            </a:endParaRPr>
          </a:p>
        </p:txBody>
      </p:sp>
    </p:spTree>
    <p:extLst>
      <p:ext uri="{BB962C8B-B14F-4D97-AF65-F5344CB8AC3E}">
        <p14:creationId xmlns:p14="http://schemas.microsoft.com/office/powerpoint/2010/main" val="22891290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81</a:t>
            </a:fld>
            <a:endParaRPr lang="en-US" noProof="0" dirty="0"/>
          </a:p>
        </p:txBody>
      </p:sp>
      <p:sp>
        <p:nvSpPr>
          <p:cNvPr id="3" name="Content Placeholder 2"/>
          <p:cNvSpPr>
            <a:spLocks noGrp="1"/>
          </p:cNvSpPr>
          <p:nvPr>
            <p:ph idx="1"/>
          </p:nvPr>
        </p:nvSpPr>
        <p:spPr>
          <a:xfrm>
            <a:off x="363416" y="1825625"/>
            <a:ext cx="11465168" cy="4351338"/>
          </a:xfrm>
        </p:spPr>
        <p:txBody>
          <a:bodyPr>
            <a:normAutofit/>
          </a:bodyPr>
          <a:lstStyle/>
          <a:p>
            <a:pPr algn="just"/>
            <a:r>
              <a:rPr lang="en-US" sz="2800" dirty="0">
                <a:latin typeface="Palatino Linotype" panose="02040502050505030304" pitchFamily="18" charset="0"/>
              </a:rPr>
              <a:t>In the front projection, the method used is the same as that employed in showing motion pictures in cinema theaters. </a:t>
            </a:r>
          </a:p>
          <a:p>
            <a:pPr algn="just"/>
            <a:r>
              <a:rPr lang="en-US" sz="2800" dirty="0">
                <a:latin typeface="Palatino Linotype" panose="02040502050505030304" pitchFamily="18" charset="0"/>
              </a:rPr>
              <a:t>The projector is placed separate from the screen at some elevated place, for example, a table. </a:t>
            </a:r>
          </a:p>
          <a:p>
            <a:pPr algn="just"/>
            <a:r>
              <a:rPr lang="en-US" sz="2800" dirty="0">
                <a:latin typeface="Palatino Linotype" panose="02040502050505030304" pitchFamily="18" charset="0"/>
              </a:rPr>
              <a:t>In cinema halls, it is placed in a separate room , called projector room.</a:t>
            </a:r>
          </a:p>
          <a:p>
            <a:pPr algn="just"/>
            <a:r>
              <a:rPr lang="en-US" sz="2800" dirty="0">
                <a:latin typeface="Palatino Linotype" panose="02040502050505030304" pitchFamily="18" charset="0"/>
              </a:rPr>
              <a:t>The magnified version of the small image is formed on the front side of the screen. </a:t>
            </a:r>
          </a:p>
          <a:p>
            <a:pPr algn="just"/>
            <a:r>
              <a:rPr lang="en-US" sz="2800" dirty="0">
                <a:latin typeface="Palatino Linotype" panose="02040502050505030304" pitchFamily="18" charset="0"/>
              </a:rPr>
              <a:t>In this method, even a well painted (white) wall can work as a screen.</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Front Projection</a:t>
            </a:r>
          </a:p>
        </p:txBody>
      </p:sp>
    </p:spTree>
    <p:extLst>
      <p:ext uri="{BB962C8B-B14F-4D97-AF65-F5344CB8AC3E}">
        <p14:creationId xmlns:p14="http://schemas.microsoft.com/office/powerpoint/2010/main" val="21210058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82</a:t>
            </a:fld>
            <a:endParaRPr lang="en-US" noProof="0" dirty="0"/>
          </a:p>
        </p:txBody>
      </p:sp>
      <p:sp>
        <p:nvSpPr>
          <p:cNvPr id="3" name="Content Placeholder 2"/>
          <p:cNvSpPr>
            <a:spLocks noGrp="1"/>
          </p:cNvSpPr>
          <p:nvPr>
            <p:ph idx="1"/>
          </p:nvPr>
        </p:nvSpPr>
        <p:spPr>
          <a:xfrm>
            <a:off x="363416" y="1825625"/>
            <a:ext cx="11465168" cy="4351338"/>
          </a:xfrm>
        </p:spPr>
        <p:txBody>
          <a:bodyPr>
            <a:normAutofit/>
          </a:bodyPr>
          <a:lstStyle/>
          <a:p>
            <a:pPr algn="just"/>
            <a:r>
              <a:rPr lang="en-US" sz="2800" dirty="0">
                <a:latin typeface="Palatino Linotype" panose="02040502050505030304" pitchFamily="18" charset="0"/>
              </a:rPr>
              <a:t>Rear projection is similar to the presentation on the screen of the picture tube in normal TV systems, in which the phosphor elements that glow are on the back side of the face plate. </a:t>
            </a:r>
          </a:p>
          <a:p>
            <a:pPr algn="just"/>
            <a:r>
              <a:rPr lang="en-US" sz="2800" dirty="0">
                <a:latin typeface="Palatino Linotype" panose="02040502050505030304" pitchFamily="18" charset="0"/>
              </a:rPr>
              <a:t>The viewer sees the back side through the transparency of the glass. </a:t>
            </a:r>
          </a:p>
          <a:p>
            <a:pPr algn="just"/>
            <a:r>
              <a:rPr lang="en-US" sz="2800" dirty="0">
                <a:latin typeface="Palatino Linotype" panose="02040502050505030304" pitchFamily="18" charset="0"/>
              </a:rPr>
              <a:t>So, it is the rear display. In rear projection TV, the projector is generally kept inside the TV itself (although not mandatory) and the small image formed by the video signal is magnified and projected on a screen kept outside but near the TV set.</a:t>
            </a:r>
          </a:p>
          <a:p>
            <a:pPr algn="just"/>
            <a:r>
              <a:rPr lang="en-US" sz="2800" dirty="0">
                <a:latin typeface="Palatino Linotype" panose="02040502050505030304" pitchFamily="18" charset="0"/>
              </a:rPr>
              <a:t>Thus, the magnified image will be formed on the rear side of the screen with respect to the viewer, as in the case of normal TV.</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Rear Projection</a:t>
            </a:r>
          </a:p>
        </p:txBody>
      </p:sp>
    </p:spTree>
    <p:extLst>
      <p:ext uri="{BB962C8B-B14F-4D97-AF65-F5344CB8AC3E}">
        <p14:creationId xmlns:p14="http://schemas.microsoft.com/office/powerpoint/2010/main" val="19687467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83</a:t>
            </a:fld>
            <a:endParaRPr lang="en-US" noProof="0" dirty="0"/>
          </a:p>
        </p:txBody>
      </p:sp>
      <p:sp>
        <p:nvSpPr>
          <p:cNvPr id="5"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2800" dirty="0">
              <a:latin typeface="Palatino Linotype" panose="02040502050505030304" pitchFamily="18" charset="0"/>
            </a:endParaRPr>
          </a:p>
        </p:txBody>
      </p:sp>
      <p:sp>
        <p:nvSpPr>
          <p:cNvPr id="4"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Rear projection, although it occupies more floor space (because viewers cannot sit between the projector and the screen), became more acceptable on account of it being cheaper than the front projection type and because of the fact that the normal TV screen could also be viewed in this method.</a:t>
            </a:r>
          </a:p>
          <a:p>
            <a:pPr algn="just"/>
            <a:r>
              <a:rPr lang="en-US" sz="2800" dirty="0">
                <a:latin typeface="Palatino Linotype" panose="02040502050505030304" pitchFamily="18" charset="0"/>
              </a:rPr>
              <a:t>Moreover, the front type projection requires a dark room and so is not convenient for homely atmosphere.</a:t>
            </a:r>
          </a:p>
          <a:p>
            <a:pPr algn="just"/>
            <a:endParaRPr lang="en-US" sz="2800" dirty="0">
              <a:latin typeface="Palatino Linotype" panose="02040502050505030304" pitchFamily="18" charset="0"/>
            </a:endParaRPr>
          </a:p>
        </p:txBody>
      </p:sp>
    </p:spTree>
    <p:extLst>
      <p:ext uri="{BB962C8B-B14F-4D97-AF65-F5344CB8AC3E}">
        <p14:creationId xmlns:p14="http://schemas.microsoft.com/office/powerpoint/2010/main" val="93854639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84</a:t>
            </a:fld>
            <a:endParaRPr lang="en-US" noProof="0" dirty="0"/>
          </a:p>
        </p:txBody>
      </p:sp>
      <p:sp>
        <p:nvSpPr>
          <p:cNvPr id="4" name="Rectangle 3"/>
          <p:cNvSpPr/>
          <p:nvPr/>
        </p:nvSpPr>
        <p:spPr>
          <a:xfrm>
            <a:off x="8745209" y="2839858"/>
            <a:ext cx="2451312" cy="1938992"/>
          </a:xfrm>
          <a:prstGeom prst="rect">
            <a:avLst/>
          </a:prstGeom>
          <a:solidFill>
            <a:schemeClr val="accent1">
              <a:lumMod val="40000"/>
              <a:lumOff val="60000"/>
            </a:schemeClr>
          </a:solidFill>
        </p:spPr>
        <p:txBody>
          <a:bodyPr wrap="none">
            <a:spAutoFit/>
          </a:bodyPr>
          <a:lstStyle/>
          <a:p>
            <a:pPr algn="ctr"/>
            <a:r>
              <a:rPr lang="en-US" sz="2400" b="1" dirty="0">
                <a:latin typeface="Palatino Linotype" panose="02040502050505030304" pitchFamily="18" charset="0"/>
              </a:rPr>
              <a:t>Rear Projection</a:t>
            </a:r>
          </a:p>
          <a:p>
            <a:pPr algn="ctr"/>
            <a:endParaRPr lang="en-US" sz="2400" b="1" dirty="0">
              <a:latin typeface="Palatino Linotype" panose="02040502050505030304" pitchFamily="18" charset="0"/>
            </a:endParaRPr>
          </a:p>
          <a:p>
            <a:pPr algn="ctr"/>
            <a:r>
              <a:rPr lang="en-US" sz="2400" b="1" dirty="0" err="1">
                <a:latin typeface="Palatino Linotype" panose="02040502050505030304" pitchFamily="18" charset="0"/>
              </a:rPr>
              <a:t>vs</a:t>
            </a:r>
            <a:endParaRPr lang="en-US" sz="2400" b="1" dirty="0">
              <a:latin typeface="Palatino Linotype" panose="02040502050505030304" pitchFamily="18" charset="0"/>
            </a:endParaRPr>
          </a:p>
          <a:p>
            <a:pPr algn="ctr"/>
            <a:endParaRPr lang="en-US" sz="2400" b="1" dirty="0">
              <a:latin typeface="Palatino Linotype" panose="02040502050505030304" pitchFamily="18" charset="0"/>
            </a:endParaRPr>
          </a:p>
          <a:p>
            <a:pPr algn="ctr"/>
            <a:r>
              <a:rPr lang="en-US" sz="2400" b="1" dirty="0">
                <a:latin typeface="Palatino Linotype" panose="02040502050505030304" pitchFamily="18" charset="0"/>
              </a:rPr>
              <a:t>Front Projection</a:t>
            </a:r>
            <a:endParaRPr lang="en-US" sz="2400" b="1" dirty="0"/>
          </a:p>
        </p:txBody>
      </p:sp>
      <p:pic>
        <p:nvPicPr>
          <p:cNvPr id="5" name="Picture 4"/>
          <p:cNvPicPr>
            <a:picLocks noChangeAspect="1"/>
          </p:cNvPicPr>
          <p:nvPr/>
        </p:nvPicPr>
        <p:blipFill>
          <a:blip r:embed="rId2"/>
          <a:stretch>
            <a:fillRect/>
          </a:stretch>
        </p:blipFill>
        <p:spPr>
          <a:xfrm>
            <a:off x="1713160" y="416840"/>
            <a:ext cx="6283903" cy="6046367"/>
          </a:xfrm>
          <a:prstGeom prst="rect">
            <a:avLst/>
          </a:prstGeom>
        </p:spPr>
      </p:pic>
    </p:spTree>
    <p:extLst>
      <p:ext uri="{BB962C8B-B14F-4D97-AF65-F5344CB8AC3E}">
        <p14:creationId xmlns:p14="http://schemas.microsoft.com/office/powerpoint/2010/main" val="40711232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85</a:t>
            </a:fld>
            <a:endParaRPr lang="en-US" noProof="0" dirty="0"/>
          </a:p>
        </p:txBody>
      </p:sp>
      <p:sp>
        <p:nvSpPr>
          <p:cNvPr id="3" name="Content Placeholder 2"/>
          <p:cNvSpPr>
            <a:spLocks noGrp="1"/>
          </p:cNvSpPr>
          <p:nvPr>
            <p:ph idx="1"/>
          </p:nvPr>
        </p:nvSpPr>
        <p:spPr>
          <a:xfrm>
            <a:off x="363416" y="1825625"/>
            <a:ext cx="11465168" cy="4351338"/>
          </a:xfrm>
        </p:spPr>
        <p:txBody>
          <a:bodyPr>
            <a:normAutofit/>
          </a:bodyPr>
          <a:lstStyle/>
          <a:p>
            <a:pPr algn="just"/>
            <a:r>
              <a:rPr lang="en-US" sz="2800" dirty="0">
                <a:latin typeface="Palatino Linotype" panose="02040502050505030304" pitchFamily="18" charset="0"/>
              </a:rPr>
              <a:t>Both arrangements (front and rear) use small images with fine details, created by video signals; magnify them by using beams of bright light and a magnifying lens and project on the screen’s front or back by either transmission or reflection.</a:t>
            </a:r>
          </a:p>
          <a:p>
            <a:pPr algn="just"/>
            <a:r>
              <a:rPr lang="en-US" sz="2800" b="1" dirty="0">
                <a:latin typeface="Palatino Linotype" panose="02040502050505030304" pitchFamily="18" charset="0"/>
              </a:rPr>
              <a:t>Transmission Technique </a:t>
            </a:r>
            <a:r>
              <a:rPr lang="en-US" sz="2800" dirty="0">
                <a:latin typeface="Palatino Linotype" panose="02040502050505030304" pitchFamily="18" charset="0"/>
              </a:rPr>
              <a:t>– </a:t>
            </a:r>
            <a:r>
              <a:rPr lang="en-US" sz="2800" dirty="0" err="1">
                <a:latin typeface="Palatino Linotype" panose="02040502050505030304" pitchFamily="18" charset="0"/>
              </a:rPr>
              <a:t>Transmittive</a:t>
            </a:r>
            <a:r>
              <a:rPr lang="en-US" sz="2800" dirty="0">
                <a:latin typeface="Palatino Linotype" panose="02040502050505030304" pitchFamily="18" charset="0"/>
              </a:rPr>
              <a:t>-type projectors use small CRTs or small LCDs.</a:t>
            </a:r>
          </a:p>
          <a:p>
            <a:pPr algn="just"/>
            <a:r>
              <a:rPr lang="en-US" sz="2800" dirty="0">
                <a:latin typeface="Palatino Linotype" panose="02040502050505030304" pitchFamily="18" charset="0"/>
              </a:rPr>
              <a:t>The transmission path is shown in the next figure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Techniques Used in Projection TV</a:t>
            </a:r>
          </a:p>
        </p:txBody>
      </p:sp>
    </p:spTree>
    <p:extLst>
      <p:ext uri="{BB962C8B-B14F-4D97-AF65-F5344CB8AC3E}">
        <p14:creationId xmlns:p14="http://schemas.microsoft.com/office/powerpoint/2010/main" val="31989292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86</a:t>
            </a:fld>
            <a:endParaRPr lang="en-US" noProof="0" dirty="0"/>
          </a:p>
        </p:txBody>
      </p:sp>
      <p:pic>
        <p:nvPicPr>
          <p:cNvPr id="3" name="Picture 2"/>
          <p:cNvPicPr>
            <a:picLocks noChangeAspect="1"/>
          </p:cNvPicPr>
          <p:nvPr/>
        </p:nvPicPr>
        <p:blipFill>
          <a:blip r:embed="rId2"/>
          <a:stretch>
            <a:fillRect/>
          </a:stretch>
        </p:blipFill>
        <p:spPr>
          <a:xfrm>
            <a:off x="2740901" y="839358"/>
            <a:ext cx="8169554" cy="4011835"/>
          </a:xfrm>
          <a:prstGeom prst="rect">
            <a:avLst/>
          </a:prstGeom>
        </p:spPr>
      </p:pic>
      <p:sp>
        <p:nvSpPr>
          <p:cNvPr id="4" name="Rectangle 3"/>
          <p:cNvSpPr/>
          <p:nvPr/>
        </p:nvSpPr>
        <p:spPr>
          <a:xfrm>
            <a:off x="2740901" y="5195534"/>
            <a:ext cx="7176965" cy="461665"/>
          </a:xfrm>
          <a:prstGeom prst="rect">
            <a:avLst/>
          </a:prstGeom>
          <a:solidFill>
            <a:schemeClr val="accent1">
              <a:lumMod val="40000"/>
              <a:lumOff val="60000"/>
            </a:schemeClr>
          </a:solidFill>
        </p:spPr>
        <p:txBody>
          <a:bodyPr wrap="none">
            <a:spAutoFit/>
          </a:bodyPr>
          <a:lstStyle/>
          <a:p>
            <a:pPr algn="just"/>
            <a:r>
              <a:rPr lang="en-US" sz="2400" b="1" dirty="0">
                <a:latin typeface="Palatino Linotype" panose="02040502050505030304" pitchFamily="18" charset="0"/>
              </a:rPr>
              <a:t>Display of Projection TV by transmission method</a:t>
            </a:r>
          </a:p>
        </p:txBody>
      </p:sp>
    </p:spTree>
    <p:extLst>
      <p:ext uri="{BB962C8B-B14F-4D97-AF65-F5344CB8AC3E}">
        <p14:creationId xmlns:p14="http://schemas.microsoft.com/office/powerpoint/2010/main" val="216713281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87</a:t>
            </a:fld>
            <a:endParaRPr lang="en-US" noProof="0" dirty="0"/>
          </a:p>
        </p:txBody>
      </p:sp>
      <p:sp>
        <p:nvSpPr>
          <p:cNvPr id="5"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2800" dirty="0">
              <a:latin typeface="Palatino Linotype" panose="02040502050505030304" pitchFamily="18" charset="0"/>
            </a:endParaRPr>
          </a:p>
        </p:txBody>
      </p:sp>
      <p:sp>
        <p:nvSpPr>
          <p:cNvPr id="4" name="Content Placeholder 2"/>
          <p:cNvSpPr txBox="1">
            <a:spLocks/>
          </p:cNvSpPr>
          <p:nvPr/>
        </p:nvSpPr>
        <p:spPr>
          <a:xfrm>
            <a:off x="363416" y="831273"/>
            <a:ext cx="11465168" cy="5631934"/>
          </a:xfrm>
          <a:prstGeom prst="rect">
            <a:avLst/>
          </a:prstGeom>
        </p:spPr>
        <p:txBody>
          <a:bodyPr>
            <a:normAutofit lnSpcReduction="10000"/>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small sized CRTs are used to create small pictures by making phosphor elements glow when the electron beam strikes the phosphors.</a:t>
            </a:r>
          </a:p>
          <a:p>
            <a:pPr algn="just"/>
            <a:r>
              <a:rPr lang="en-US" sz="2800" dirty="0">
                <a:latin typeface="Palatino Linotype" panose="02040502050505030304" pitchFamily="18" charset="0"/>
              </a:rPr>
              <a:t>Beam from a source of light is focused on the small image by a magnifying lens.</a:t>
            </a:r>
          </a:p>
          <a:p>
            <a:pPr algn="just"/>
            <a:r>
              <a:rPr lang="en-US" sz="2800" dirty="0">
                <a:latin typeface="Palatino Linotype" panose="02040502050505030304" pitchFamily="18" charset="0"/>
              </a:rPr>
              <a:t>The rays coming out of the image diverge and reach the screen creating a magnified image.</a:t>
            </a:r>
          </a:p>
          <a:p>
            <a:pPr algn="just"/>
            <a:r>
              <a:rPr lang="en-US" sz="2800" dirty="0">
                <a:latin typeface="Palatino Linotype" panose="02040502050505030304" pitchFamily="18" charset="0"/>
              </a:rPr>
              <a:t>Small low cost LCDs can also be used in place of CRTs.</a:t>
            </a:r>
          </a:p>
          <a:p>
            <a:pPr algn="just"/>
            <a:r>
              <a:rPr lang="en-US" sz="2800" dirty="0">
                <a:latin typeface="Palatino Linotype" panose="02040502050505030304" pitchFamily="18" charset="0"/>
              </a:rPr>
              <a:t>The video signal makes the liquid crystals act as valves, opening or closing as per polarization produced by the video signal.</a:t>
            </a:r>
          </a:p>
          <a:p>
            <a:pPr algn="just"/>
            <a:r>
              <a:rPr lang="en-US" sz="2800" dirty="0">
                <a:latin typeface="Palatino Linotype" panose="02040502050505030304" pitchFamily="18" charset="0"/>
              </a:rPr>
              <a:t>Each beam of green, red and blue colours passes through the respective LCD and a lens collects the resultant light and projects the image on the screen.</a:t>
            </a:r>
          </a:p>
          <a:p>
            <a:pPr algn="just"/>
            <a:endParaRPr lang="en-US" sz="2800" dirty="0">
              <a:latin typeface="Palatino Linotype" panose="02040502050505030304" pitchFamily="18" charset="0"/>
            </a:endParaRPr>
          </a:p>
        </p:txBody>
      </p:sp>
    </p:spTree>
    <p:extLst>
      <p:ext uri="{BB962C8B-B14F-4D97-AF65-F5344CB8AC3E}">
        <p14:creationId xmlns:p14="http://schemas.microsoft.com/office/powerpoint/2010/main" val="386453480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88</a:t>
            </a:fld>
            <a:endParaRPr lang="en-US" noProof="0" dirty="0"/>
          </a:p>
        </p:txBody>
      </p:sp>
      <p:sp>
        <p:nvSpPr>
          <p:cNvPr id="5"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2800" dirty="0">
              <a:latin typeface="Palatino Linotype" panose="02040502050505030304" pitchFamily="18" charset="0"/>
            </a:endParaRPr>
          </a:p>
        </p:txBody>
      </p:sp>
      <p:sp>
        <p:nvSpPr>
          <p:cNvPr id="4" name="Content Placeholder 2"/>
          <p:cNvSpPr txBox="1">
            <a:spLocks/>
          </p:cNvSpPr>
          <p:nvPr/>
        </p:nvSpPr>
        <p:spPr>
          <a:xfrm>
            <a:off x="363416" y="831273"/>
            <a:ext cx="11465168" cy="563193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latin typeface="Palatino Linotype" panose="02040502050505030304" pitchFamily="18" charset="0"/>
              </a:rPr>
              <a:t>The Reflective Technique </a:t>
            </a:r>
            <a:r>
              <a:rPr lang="en-US" sz="2800" dirty="0">
                <a:latin typeface="Palatino Linotype" panose="02040502050505030304" pitchFamily="18" charset="0"/>
              </a:rPr>
              <a:t>– It uses </a:t>
            </a:r>
            <a:r>
              <a:rPr lang="en-US" sz="2800" i="1" dirty="0">
                <a:latin typeface="Palatino Linotype" panose="02040502050505030304" pitchFamily="18" charset="0"/>
              </a:rPr>
              <a:t>digital light processing </a:t>
            </a:r>
            <a:r>
              <a:rPr lang="en-US" sz="2800" dirty="0">
                <a:latin typeface="Palatino Linotype" panose="02040502050505030304" pitchFamily="18" charset="0"/>
              </a:rPr>
              <a:t>(DLP) device which contains millions of micro mirrors on a small chip.</a:t>
            </a:r>
          </a:p>
          <a:p>
            <a:pPr algn="just"/>
            <a:r>
              <a:rPr lang="en-US" sz="2800" dirty="0">
                <a:latin typeface="Palatino Linotype" panose="02040502050505030304" pitchFamily="18" charset="0"/>
              </a:rPr>
              <a:t>There is a mirror for each pixel.</a:t>
            </a:r>
          </a:p>
          <a:p>
            <a:pPr algn="just"/>
            <a:r>
              <a:rPr lang="en-US" sz="2800" dirty="0">
                <a:latin typeface="Palatino Linotype" panose="02040502050505030304" pitchFamily="18" charset="0"/>
              </a:rPr>
              <a:t>The chip is known as </a:t>
            </a:r>
            <a:r>
              <a:rPr lang="en-US" sz="2800" i="1" dirty="0">
                <a:latin typeface="Palatino Linotype" panose="02040502050505030304" pitchFamily="18" charset="0"/>
              </a:rPr>
              <a:t>digital mirror device </a:t>
            </a:r>
            <a:r>
              <a:rPr lang="en-US" sz="2800" dirty="0">
                <a:latin typeface="Palatino Linotype" panose="02040502050505030304" pitchFamily="18" charset="0"/>
              </a:rPr>
              <a:t>(DMD).</a:t>
            </a:r>
          </a:p>
          <a:p>
            <a:pPr algn="just"/>
            <a:r>
              <a:rPr lang="en-US" sz="2800" dirty="0">
                <a:latin typeface="Palatino Linotype" panose="02040502050505030304" pitchFamily="18" charset="0"/>
              </a:rPr>
              <a:t>When the mirrors point towards the lens, the reflected light reaches the lens, and when they are away from the lens, there is no light coming to the lens.</a:t>
            </a:r>
          </a:p>
          <a:p>
            <a:pPr algn="just"/>
            <a:r>
              <a:rPr lang="en-US" sz="2800" dirty="0">
                <a:latin typeface="Palatino Linotype" panose="02040502050505030304" pitchFamily="18" charset="0"/>
              </a:rPr>
              <a:t>The mirrors are moved as per the video signal pulses.</a:t>
            </a:r>
          </a:p>
          <a:p>
            <a:pPr algn="just"/>
            <a:r>
              <a:rPr lang="en-US" sz="2800" dirty="0">
                <a:latin typeface="Palatino Linotype" panose="02040502050505030304" pitchFamily="18" charset="0"/>
              </a:rPr>
              <a:t>The next figure illustrates reflective projection technique.</a:t>
            </a:r>
          </a:p>
        </p:txBody>
      </p:sp>
    </p:spTree>
    <p:extLst>
      <p:ext uri="{BB962C8B-B14F-4D97-AF65-F5344CB8AC3E}">
        <p14:creationId xmlns:p14="http://schemas.microsoft.com/office/powerpoint/2010/main" val="30888686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89</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047402" y="675527"/>
            <a:ext cx="5724997" cy="5787680"/>
          </a:xfrm>
          <a:prstGeom prst="rect">
            <a:avLst/>
          </a:prstGeom>
        </p:spPr>
      </p:pic>
      <p:sp>
        <p:nvSpPr>
          <p:cNvPr id="4" name="Rectangle 3"/>
          <p:cNvSpPr/>
          <p:nvPr/>
        </p:nvSpPr>
        <p:spPr>
          <a:xfrm>
            <a:off x="7772399" y="3327460"/>
            <a:ext cx="3706800" cy="830997"/>
          </a:xfrm>
          <a:prstGeom prst="rect">
            <a:avLst/>
          </a:prstGeom>
          <a:solidFill>
            <a:schemeClr val="accent1">
              <a:lumMod val="40000"/>
              <a:lumOff val="60000"/>
            </a:schemeClr>
          </a:solidFill>
        </p:spPr>
        <p:txBody>
          <a:bodyPr wrap="square">
            <a:spAutoFit/>
          </a:bodyPr>
          <a:lstStyle/>
          <a:p>
            <a:pPr algn="ctr"/>
            <a:r>
              <a:rPr lang="en-US" sz="2400" b="1" dirty="0">
                <a:latin typeface="Palatino Linotype" panose="02040502050505030304" pitchFamily="18" charset="0"/>
              </a:rPr>
              <a:t>Display of projection TV by reflective method</a:t>
            </a:r>
            <a:endParaRPr lang="en-US" sz="2400" b="1" dirty="0"/>
          </a:p>
        </p:txBody>
      </p:sp>
    </p:spTree>
    <p:extLst>
      <p:ext uri="{BB962C8B-B14F-4D97-AF65-F5344CB8AC3E}">
        <p14:creationId xmlns:p14="http://schemas.microsoft.com/office/powerpoint/2010/main" val="2582503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90</a:t>
            </a:fld>
            <a:endParaRPr lang="en-US" noProof="0" dirty="0"/>
          </a:p>
        </p:txBody>
      </p:sp>
      <p:sp>
        <p:nvSpPr>
          <p:cNvPr id="3" name="Content Placeholder 2"/>
          <p:cNvSpPr>
            <a:spLocks noGrp="1"/>
          </p:cNvSpPr>
          <p:nvPr>
            <p:ph idx="1"/>
          </p:nvPr>
        </p:nvSpPr>
        <p:spPr>
          <a:xfrm>
            <a:off x="363416" y="1825625"/>
            <a:ext cx="11465168" cy="4351338"/>
          </a:xfrm>
        </p:spPr>
        <p:txBody>
          <a:bodyPr>
            <a:normAutofit/>
          </a:bodyPr>
          <a:lstStyle/>
          <a:p>
            <a:pPr algn="just"/>
            <a:endParaRPr lang="en-US" sz="2800" dirty="0">
              <a:latin typeface="Palatino Linotype" panose="02040502050505030304" pitchFamily="18" charset="0"/>
            </a:endParaRPr>
          </a:p>
        </p:txBody>
      </p:sp>
      <p:sp>
        <p:nvSpPr>
          <p:cNvPr id="4" name="Title 3"/>
          <p:cNvSpPr>
            <a:spLocks noGrp="1"/>
          </p:cNvSpPr>
          <p:nvPr>
            <p:ph type="title"/>
          </p:nvPr>
        </p:nvSpPr>
        <p:spPr/>
        <p:txBody>
          <a:bodyPr>
            <a:normAutofit/>
          </a:bodyPr>
          <a:lstStyle/>
          <a:p>
            <a:endParaRPr lang="en-US" sz="3600" dirty="0">
              <a:latin typeface="Palatino Linotype" panose="02040502050505030304" pitchFamily="18" charset="0"/>
            </a:endParaRPr>
          </a:p>
        </p:txBody>
      </p:sp>
    </p:spTree>
    <p:extLst>
      <p:ext uri="{BB962C8B-B14F-4D97-AF65-F5344CB8AC3E}">
        <p14:creationId xmlns:p14="http://schemas.microsoft.com/office/powerpoint/2010/main" val="2036626097"/>
      </p:ext>
    </p:extLst>
  </p:cSld>
  <p:clrMapOvr>
    <a:masterClrMapping/>
  </p:clrMapOvr>
</p:sld>
</file>

<file path=ppt/theme/theme1.xml><?xml version="1.0" encoding="utf-8"?>
<a:theme xmlns:a="http://schemas.openxmlformats.org/drawingml/2006/main" name="Office Theme">
  <a:themeElements>
    <a:clrScheme name="Custom 12">
      <a:dk1>
        <a:sysClr val="windowText" lastClr="000000"/>
      </a:dk1>
      <a:lt1>
        <a:sysClr val="window" lastClr="FFFFFF"/>
      </a:lt1>
      <a:dk2>
        <a:srgbClr val="44546A"/>
      </a:dk2>
      <a:lt2>
        <a:srgbClr val="E7E6E6"/>
      </a:lt2>
      <a:accent1>
        <a:srgbClr val="7030A0"/>
      </a:accent1>
      <a:accent2>
        <a:srgbClr val="404040"/>
      </a:accent2>
      <a:accent3>
        <a:srgbClr val="7F7F7F"/>
      </a:accent3>
      <a:accent4>
        <a:srgbClr val="C7A2E3"/>
      </a:accent4>
      <a:accent5>
        <a:srgbClr val="48A1FA"/>
      </a:accent5>
      <a:accent6>
        <a:srgbClr val="70AD47"/>
      </a:accent6>
      <a:hlink>
        <a:srgbClr val="0563C1"/>
      </a:hlink>
      <a:folHlink>
        <a:srgbClr val="954F72"/>
      </a:folHlink>
    </a:clrScheme>
    <a:fontScheme name="Custom 6">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468121_Coastal presentation_RVA_v5" id="{5B652A6C-03CB-4457-ADFC-1C5BB6605FEF}" vid="{F00112C4-F9F0-4BD0-BC95-5242C8B0F7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0CE401-796E-4493-905E-4DDA5AF62AB4}">
  <ds:schemaRefs>
    <ds:schemaRef ds:uri="http://purl.org/dc/terms/"/>
    <ds:schemaRef ds:uri="http://schemas.openxmlformats.org/package/2006/metadata/core-properties"/>
    <ds:schemaRef ds:uri="16c05727-aa75-4e4a-9b5f-8a80a1165891"/>
    <ds:schemaRef ds:uri="http://schemas.microsoft.com/office/2006/documentManagement/types"/>
    <ds:schemaRef ds:uri="http://schemas.microsoft.com/office/infopath/2007/PartnerControls"/>
    <ds:schemaRef ds:uri="http://purl.org/dc/elements/1.1/"/>
    <ds:schemaRef ds:uri="http://schemas.microsoft.com/office/2006/metadata/properties"/>
    <ds:schemaRef ds:uri="71af3243-3dd4-4a8d-8c0d-dd76da1f02a5"/>
    <ds:schemaRef ds:uri="http://www.w3.org/XML/1998/namespace"/>
    <ds:schemaRef ds:uri="http://purl.org/dc/dcmitype/"/>
  </ds:schemaRefs>
</ds:datastoreItem>
</file>

<file path=customXml/itemProps2.xml><?xml version="1.0" encoding="utf-8"?>
<ds:datastoreItem xmlns:ds="http://schemas.openxmlformats.org/officeDocument/2006/customXml" ds:itemID="{0D46D58D-B27D-4B23-AEA1-AE974AB62218}">
  <ds:schemaRefs>
    <ds:schemaRef ds:uri="http://schemas.microsoft.com/sharepoint/v3/contenttype/forms"/>
  </ds:schemaRefs>
</ds:datastoreItem>
</file>

<file path=customXml/itemProps3.xml><?xml version="1.0" encoding="utf-8"?>
<ds:datastoreItem xmlns:ds="http://schemas.openxmlformats.org/officeDocument/2006/customXml" ds:itemID="{F2949B46-24C4-420B-AB49-DDC88FEB99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Coastal presentation</Template>
  <TotalTime>0</TotalTime>
  <Words>6510</Words>
  <Application>Microsoft Office PowerPoint</Application>
  <PresentationFormat>Widescreen</PresentationFormat>
  <Paragraphs>498</Paragraphs>
  <Slides>90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90</vt:i4>
      </vt:variant>
    </vt:vector>
  </HeadingPairs>
  <TitlesOfParts>
    <vt:vector size="94" baseType="lpstr">
      <vt:lpstr>Arial</vt:lpstr>
      <vt:lpstr>Calibri</vt:lpstr>
      <vt:lpstr>Palatino Linotype</vt:lpstr>
      <vt:lpstr>Office Theme</vt:lpstr>
      <vt:lpstr>LECTURE FIVE: television CAMERA AND  PICTURE TUBES</vt:lpstr>
      <vt:lpstr>TELEVISION CAMERA TUBES</vt:lpstr>
      <vt:lpstr>Introduction</vt:lpstr>
      <vt:lpstr>PowerPoint Presentation</vt:lpstr>
      <vt:lpstr>PowerPoint Presentation</vt:lpstr>
      <vt:lpstr>General Characteristics of a Camera Tube</vt:lpstr>
      <vt:lpstr>PowerPoint Presentation</vt:lpstr>
      <vt:lpstr>PowerPoint Presentation</vt:lpstr>
      <vt:lpstr>PowerPoint Presentation</vt:lpstr>
      <vt:lpstr>PowerPoint Presentation</vt:lpstr>
      <vt:lpstr>PowerPoint Presentation</vt:lpstr>
      <vt:lpstr>Vidicon Camera Tube</vt:lpstr>
      <vt:lpstr>PowerPoint Presentation</vt:lpstr>
      <vt:lpstr>PowerPoint Presentation</vt:lpstr>
      <vt:lpstr>PowerPoint Presentation</vt:lpstr>
      <vt:lpstr>PowerPoint Presentation</vt:lpstr>
      <vt:lpstr>Advantages of Vidicon</vt:lpstr>
      <vt:lpstr>Disadvantages of Vidicon</vt:lpstr>
      <vt:lpstr>Plumbicon Camera Tube</vt:lpstr>
      <vt:lpstr>Other Types of Camera Tubes</vt:lpstr>
      <vt:lpstr>TELEVISION PICTURE TUBES</vt:lpstr>
      <vt:lpstr>Introduction</vt:lpstr>
      <vt:lpstr>Monochrome Picture Tube</vt:lpstr>
      <vt:lpstr>PowerPoint Presentation</vt:lpstr>
      <vt:lpstr>PowerPoint Presentation</vt:lpstr>
      <vt:lpstr>Colour Picture Tubes</vt:lpstr>
      <vt:lpstr>Delta Gun Picture Tube</vt:lpstr>
      <vt:lpstr>PowerPoint Presentation</vt:lpstr>
      <vt:lpstr>PowerPoint Presentation</vt:lpstr>
      <vt:lpstr>PowerPoint Presentation</vt:lpstr>
      <vt:lpstr>Principle of Working</vt:lpstr>
      <vt:lpstr>Shadow Mask</vt:lpstr>
      <vt:lpstr>Drawback of Delta Gun Picture Tube</vt:lpstr>
      <vt:lpstr>Precision-in-Line Picture Tube (PIL)</vt:lpstr>
      <vt:lpstr>PowerPoint Presentation</vt:lpstr>
      <vt:lpstr>PowerPoint Presentation</vt:lpstr>
      <vt:lpstr>PowerPoint Presentation</vt:lpstr>
      <vt:lpstr>Advantages of PIL Picture Tube</vt:lpstr>
      <vt:lpstr>Trinitron Picture Tube</vt:lpstr>
      <vt:lpstr>PowerPoint Presentation</vt:lpstr>
      <vt:lpstr>PowerPoint Presentation</vt:lpstr>
      <vt:lpstr>Advantages of Trinitron Picture Tube</vt:lpstr>
      <vt:lpstr>Comparison of Colour Picture Tubes</vt:lpstr>
      <vt:lpstr>PowerPoint Presentation</vt:lpstr>
      <vt:lpstr>PowerPoint Presentation</vt:lpstr>
      <vt:lpstr>Adjustments in Colour Picture Tube</vt:lpstr>
      <vt:lpstr>PowerPoint Presentation</vt:lpstr>
      <vt:lpstr>Colour Purity Adjustment</vt:lpstr>
      <vt:lpstr>Adjustment of Convergence</vt:lpstr>
      <vt:lpstr>PowerPoint Presentation</vt:lpstr>
      <vt:lpstr>PowerPoint Presentation</vt:lpstr>
      <vt:lpstr>PowerPoint Presentation</vt:lpstr>
      <vt:lpstr>PowerPoint Presentation</vt:lpstr>
      <vt:lpstr>PowerPoint Presentation</vt:lpstr>
      <vt:lpstr>Grey Scale Tracking</vt:lpstr>
      <vt:lpstr>Pincushion Effect</vt:lpstr>
      <vt:lpstr>PowerPoint Presentation</vt:lpstr>
      <vt:lpstr>PowerPoint Presentation</vt:lpstr>
      <vt:lpstr>Barrel Effect</vt:lpstr>
      <vt:lpstr>Solid State Picture Transducers</vt:lpstr>
      <vt:lpstr>Plasma Display Panels</vt:lpstr>
      <vt:lpstr>PowerPoint Presentation</vt:lpstr>
      <vt:lpstr>PowerPoint Presentation</vt:lpstr>
      <vt:lpstr>PowerPoint Presentation</vt:lpstr>
      <vt:lpstr>PowerPoint Presentation</vt:lpstr>
      <vt:lpstr>Advantages of Plasma Display Panels</vt:lpstr>
      <vt:lpstr>Disadvantages of Plasma Display Panels</vt:lpstr>
      <vt:lpstr>Liquid Crystal Displays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 of LCD Panel</vt:lpstr>
      <vt:lpstr>LCD vs Plasma</vt:lpstr>
      <vt:lpstr>Projection Television</vt:lpstr>
      <vt:lpstr>PowerPoint Presentation</vt:lpstr>
      <vt:lpstr>Front Projection</vt:lpstr>
      <vt:lpstr>Rear Projection</vt:lpstr>
      <vt:lpstr>PowerPoint Presentation</vt:lpstr>
      <vt:lpstr>PowerPoint Presentation</vt:lpstr>
      <vt:lpstr>Techniques Used in Projection TV</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2020-12-04T11:12:10Z</dcterms:created>
  <dcterms:modified xsi:type="dcterms:W3CDTF">2021-12-21T06:18:07Z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