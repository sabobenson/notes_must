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67"/>
  </p:notesMasterIdLst>
  <p:handoutMasterIdLst>
    <p:handoutMasterId r:id="rId68"/>
  </p:handoutMasterIdLst>
  <p:sldIdLst>
    <p:sldId id="256"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5549" autoAdjust="0"/>
  </p:normalViewPr>
  <p:slideViewPr>
    <p:cSldViewPr snapToGrid="0" showGuides="1">
      <p:cViewPr varScale="1">
        <p:scale>
          <a:sx n="58" d="100"/>
          <a:sy n="58" d="100"/>
        </p:scale>
        <p:origin x="988" y="28"/>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C9249263-8DF9-4907-970E-1CFD040DC73A}" type="datetimeFigureOut">
              <a:rPr lang="en-US" smtClean="0"/>
              <a:t>10-Nov-21</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noProof="0"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3C70B412-7BFF-46C7-AB5E-DE35F66C9933}" type="datetimeFigureOut">
              <a:rPr lang="en-US" noProof="0" smtClean="0"/>
              <a:t>10-Nov-21</a:t>
            </a:fld>
            <a:endParaRPr lang="en-US" noProof="0"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noProof="0" dirty="0"/>
          </a:p>
        </p:txBody>
      </p:sp>
      <p:sp>
        <p:nvSpPr>
          <p:cNvPr id="5" name="Notes Placeholder 4"/>
          <p:cNvSpPr>
            <a:spLocks noGrp="1"/>
          </p:cNvSpPr>
          <p:nvPr>
            <p:ph type="body" sz="quarter" idx="3"/>
          </p:nvPr>
        </p:nvSpPr>
        <p:spPr>
          <a:xfrm>
            <a:off x="929640" y="3373754"/>
            <a:ext cx="7437120" cy="2760346"/>
          </a:xfrm>
          <a:prstGeom prst="rect">
            <a:avLst/>
          </a:prstGeom>
        </p:spPr>
        <p:txBody>
          <a:bodyPr vert="horz" lIns="93177" tIns="46589" rIns="93177" bIns="46589"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above example shows that a monochrome pixel would be resolved if its width is 0.08 cm, while a colour pixel can be resolved only if its width is 5 times bigger.</a:t>
            </a:r>
          </a:p>
        </p:txBody>
      </p:sp>
      <p:sp>
        <p:nvSpPr>
          <p:cNvPr id="4" name="Slide Number Placeholder 3"/>
          <p:cNvSpPr>
            <a:spLocks noGrp="1"/>
          </p:cNvSpPr>
          <p:nvPr>
            <p:ph type="sldNum" sz="quarter" idx="10"/>
          </p:nvPr>
        </p:nvSpPr>
        <p:spPr/>
        <p:txBody>
          <a:bodyPr/>
          <a:lstStyle/>
          <a:p>
            <a:fld id="{385ACE04-E13C-4837-B6DD-B388E7CAA05E}" type="slidenum">
              <a:rPr lang="en-US" noProof="0" smtClean="0"/>
              <a:t>35</a:t>
            </a:fld>
            <a:endParaRPr lang="en-US" noProof="0" dirty="0"/>
          </a:p>
        </p:txBody>
      </p:sp>
    </p:spTree>
    <p:extLst>
      <p:ext uri="{BB962C8B-B14F-4D97-AF65-F5344CB8AC3E}">
        <p14:creationId xmlns:p14="http://schemas.microsoft.com/office/powerpoint/2010/main" val="23424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10-Nov-21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10-Nov-21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10-Nov-21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a:t>Click to edit Master title style</a:t>
            </a:r>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686300" y="2722418"/>
            <a:ext cx="7233557" cy="1330037"/>
          </a:xfrm>
        </p:spPr>
        <p:txBody>
          <a:bodyPr>
            <a:noAutofit/>
          </a:bodyPr>
          <a:lstStyle/>
          <a:p>
            <a:r>
              <a:rPr lang="en-US" sz="2000" dirty="0">
                <a:solidFill>
                  <a:srgbClr val="7030A0"/>
                </a:solidFill>
              </a:rPr>
              <a:t>LECTURE two (A):</a:t>
            </a:r>
            <a:br>
              <a:rPr lang="en-US" sz="4000" dirty="0"/>
            </a:br>
            <a:r>
              <a:rPr lang="en-US" sz="3600" dirty="0"/>
              <a:t>Characteristics of light and sound</a:t>
            </a:r>
            <a:endParaRPr lang="en-IN" sz="3600" dirty="0"/>
          </a:p>
        </p:txBody>
      </p:sp>
      <p:pic>
        <p:nvPicPr>
          <p:cNvPr id="7" name="Picture Placeholder 6"/>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469" r="12469"/>
          <a:stretch>
            <a:fillRect/>
          </a:stretch>
        </p:blipFill>
        <p:spPr/>
      </p:pic>
      <p:sp>
        <p:nvSpPr>
          <p:cNvPr id="8" name="Rectangle 7"/>
          <p:cNvSpPr/>
          <p:nvPr/>
        </p:nvSpPr>
        <p:spPr>
          <a:xfrm>
            <a:off x="4903899" y="269622"/>
            <a:ext cx="6876177"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cap="none" spc="0" dirty="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p>
        </p:txBody>
      </p:sp>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a:t>
            </a:fld>
            <a:endParaRPr lang="en-US" noProof="0" dirty="0"/>
          </a:p>
        </p:txBody>
      </p:sp>
      <p:sp>
        <p:nvSpPr>
          <p:cNvPr id="3" name="Content Placeholder 2"/>
          <p:cNvSpPr>
            <a:spLocks noGrp="1"/>
          </p:cNvSpPr>
          <p:nvPr>
            <p:ph idx="1"/>
          </p:nvPr>
        </p:nvSpPr>
        <p:spPr>
          <a:xfrm>
            <a:off x="363416" y="1825625"/>
            <a:ext cx="11465168" cy="4637582"/>
          </a:xfrm>
        </p:spPr>
        <p:txBody>
          <a:bodyPr>
            <a:noAutofit/>
          </a:bodyPr>
          <a:lstStyle/>
          <a:p>
            <a:pPr algn="just"/>
            <a:r>
              <a:rPr lang="en-US" sz="3200" dirty="0">
                <a:latin typeface="Palatino Linotype" panose="02040502050505030304" pitchFamily="18" charset="0"/>
              </a:rPr>
              <a:t>The word ‘television’ has its origin in two Greek words </a:t>
            </a:r>
            <a:r>
              <a:rPr lang="en-US" sz="3200" i="1" dirty="0">
                <a:latin typeface="Palatino Linotype" panose="02040502050505030304" pitchFamily="18" charset="0"/>
              </a:rPr>
              <a:t>‘</a:t>
            </a:r>
            <a:r>
              <a:rPr lang="en-US" sz="3200" i="1" dirty="0" err="1">
                <a:latin typeface="Palatino Linotype" panose="02040502050505030304" pitchFamily="18" charset="0"/>
              </a:rPr>
              <a:t>tele</a:t>
            </a:r>
            <a:r>
              <a:rPr lang="en-US" sz="3200" i="1" dirty="0">
                <a:latin typeface="Palatino Linotype" panose="02040502050505030304" pitchFamily="18" charset="0"/>
              </a:rPr>
              <a:t>’ </a:t>
            </a:r>
            <a:r>
              <a:rPr lang="en-US" sz="3200" dirty="0">
                <a:latin typeface="Palatino Linotype" panose="02040502050505030304" pitchFamily="18" charset="0"/>
              </a:rPr>
              <a:t>and </a:t>
            </a:r>
            <a:r>
              <a:rPr lang="en-US" sz="3200" i="1" dirty="0">
                <a:latin typeface="Palatino Linotype" panose="02040502050505030304" pitchFamily="18" charset="0"/>
              </a:rPr>
              <a:t>‘vision’. </a:t>
            </a:r>
            <a:r>
              <a:rPr lang="en-US" sz="3200" dirty="0">
                <a:latin typeface="Palatino Linotype" panose="02040502050505030304" pitchFamily="18" charset="0"/>
              </a:rPr>
              <a:t>Tele means ‘at distance’ and vision means ‘seeing’</a:t>
            </a:r>
          </a:p>
          <a:p>
            <a:pPr algn="just"/>
            <a:r>
              <a:rPr lang="en-US" sz="3200" dirty="0">
                <a:latin typeface="Palatino Linotype" panose="02040502050505030304" pitchFamily="18" charset="0"/>
              </a:rPr>
              <a:t>The fundamental aim of a television system is to extend the sense of sight beyond its natural limits, along with the sound associated with the scene being televised.</a:t>
            </a:r>
          </a:p>
          <a:p>
            <a:pPr algn="just"/>
            <a:r>
              <a:rPr lang="en-US" sz="3200" dirty="0">
                <a:latin typeface="Palatino Linotype" panose="02040502050505030304" pitchFamily="18" charset="0"/>
              </a:rPr>
              <a:t>Before the study of the elements of a TV transmitting and receiving system is taken up, it is necessary to study the characteristics of light and sound which have to be transmitted for receiving TV </a:t>
            </a:r>
            <a:r>
              <a:rPr lang="en-US" sz="3200" dirty="0" err="1">
                <a:latin typeface="Palatino Linotype" panose="02040502050505030304" pitchFamily="18" charset="0"/>
              </a:rPr>
              <a:t>programmes</a:t>
            </a:r>
            <a:r>
              <a:rPr lang="en-US" sz="3200" dirty="0">
                <a:latin typeface="Palatino Linotype" panose="02040502050505030304" pitchFamily="18" charset="0"/>
              </a:rPr>
              <a:t> at a distance.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INTRODUCTION</a:t>
            </a:r>
          </a:p>
        </p:txBody>
      </p:sp>
    </p:spTree>
    <p:extLst>
      <p:ext uri="{BB962C8B-B14F-4D97-AF65-F5344CB8AC3E}">
        <p14:creationId xmlns:p14="http://schemas.microsoft.com/office/powerpoint/2010/main" val="418998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Light is </a:t>
            </a:r>
            <a:r>
              <a:rPr lang="en-US" sz="2800" dirty="0" err="1">
                <a:latin typeface="Palatino Linotype" panose="02040502050505030304" pitchFamily="18" charset="0"/>
              </a:rPr>
              <a:t>emmited</a:t>
            </a:r>
            <a:r>
              <a:rPr lang="en-US" sz="2800" dirty="0">
                <a:latin typeface="Palatino Linotype" panose="02040502050505030304" pitchFamily="18" charset="0"/>
              </a:rPr>
              <a:t> from different sources with different illuminating power. E.g. Lamp, phosphor element on a fluorescent screen, candle, etc.</a:t>
            </a:r>
          </a:p>
          <a:p>
            <a:pPr algn="just"/>
            <a:r>
              <a:rPr lang="en-US" sz="2800" b="1" dirty="0">
                <a:solidFill>
                  <a:srgbClr val="7030A0"/>
                </a:solidFill>
                <a:latin typeface="Palatino Linotype" panose="02040502050505030304" pitchFamily="18" charset="0"/>
              </a:rPr>
              <a:t>Candela</a:t>
            </a:r>
            <a:r>
              <a:rPr lang="en-US" sz="2800" dirty="0">
                <a:latin typeface="Palatino Linotype" panose="02040502050505030304" pitchFamily="18" charset="0"/>
              </a:rPr>
              <a:t> – the unit of light based on blackbody radiation. Blackbody radiations at a definite temperature are constant in intensity and therefore can be used as an accurate standard.</a:t>
            </a:r>
          </a:p>
          <a:p>
            <a:pPr algn="just"/>
            <a:r>
              <a:rPr lang="en-US" sz="2800" dirty="0">
                <a:latin typeface="Palatino Linotype" panose="02040502050505030304" pitchFamily="18" charset="0"/>
              </a:rPr>
              <a:t>The unit based on blackbody radiation is called </a:t>
            </a:r>
            <a:r>
              <a:rPr lang="en-US" sz="2800" i="1" dirty="0">
                <a:latin typeface="Palatino Linotype" panose="02040502050505030304" pitchFamily="18" charset="0"/>
              </a:rPr>
              <a:t>candela</a:t>
            </a:r>
            <a:r>
              <a:rPr lang="en-US" sz="2800" dirty="0">
                <a:latin typeface="Palatino Linotype" panose="02040502050505030304" pitchFamily="18" charset="0"/>
              </a:rPr>
              <a:t> (cd).</a:t>
            </a:r>
          </a:p>
          <a:p>
            <a:pPr algn="just"/>
            <a:r>
              <a:rPr lang="en-US" sz="2800" dirty="0">
                <a:latin typeface="Palatino Linotype" panose="02040502050505030304" pitchFamily="18" charset="0"/>
              </a:rPr>
              <a:t>The above standard of candela is known as the primary standard. As the primary standard cannot be used readily, secondary standards have been developed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Units of Light</a:t>
            </a:r>
          </a:p>
        </p:txBody>
      </p:sp>
    </p:spTree>
    <p:extLst>
      <p:ext uri="{BB962C8B-B14F-4D97-AF65-F5344CB8AC3E}">
        <p14:creationId xmlns:p14="http://schemas.microsoft.com/office/powerpoint/2010/main" val="2492141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amount of visible light which flows from a source in one second is known as luminous flux. </a:t>
            </a:r>
          </a:p>
          <a:p>
            <a:pPr algn="just"/>
            <a:r>
              <a:rPr lang="en-US" sz="2800" dirty="0">
                <a:latin typeface="Palatino Linotype" panose="02040502050505030304" pitchFamily="18" charset="0"/>
              </a:rPr>
              <a:t>Unit of luminous flux is</a:t>
            </a:r>
            <a:r>
              <a:rPr lang="en-US" sz="2800" b="1" dirty="0">
                <a:solidFill>
                  <a:srgbClr val="7030A0"/>
                </a:solidFill>
                <a:latin typeface="Palatino Linotype" panose="02040502050505030304" pitchFamily="18" charset="0"/>
              </a:rPr>
              <a:t> Lumen</a:t>
            </a:r>
            <a:r>
              <a:rPr lang="en-US" sz="2800" dirty="0">
                <a:latin typeface="Palatino Linotype" panose="02040502050505030304" pitchFamily="18" charset="0"/>
              </a:rPr>
              <a:t>.</a:t>
            </a:r>
          </a:p>
          <a:p>
            <a:pPr algn="just"/>
            <a:r>
              <a:rPr lang="en-US" sz="2800" dirty="0">
                <a:latin typeface="Palatino Linotype" panose="02040502050505030304" pitchFamily="18" charset="0"/>
              </a:rPr>
              <a:t>One lumen is the luminous flux per unit solid angle due to a point source of light of one candela power.</a:t>
            </a:r>
          </a:p>
          <a:p>
            <a:pPr algn="just"/>
            <a:r>
              <a:rPr lang="en-US" sz="2800" dirty="0">
                <a:latin typeface="Palatino Linotype" panose="02040502050505030304" pitchFamily="18" charset="0"/>
              </a:rPr>
              <a:t>Lumen is also defined as the flow of light energy per second through one square meter of a surface of 1 </a:t>
            </a:r>
            <a:r>
              <a:rPr lang="en-US" sz="2800" dirty="0" err="1">
                <a:latin typeface="Palatino Linotype" panose="02040502050505030304" pitchFamily="18" charset="0"/>
              </a:rPr>
              <a:t>metre</a:t>
            </a:r>
            <a:r>
              <a:rPr lang="en-US" sz="2800" dirty="0">
                <a:latin typeface="Palatino Linotype" panose="02040502050505030304" pitchFamily="18" charset="0"/>
              </a:rPr>
              <a:t> radius when a source of 1 candela is placed at the </a:t>
            </a:r>
            <a:r>
              <a:rPr lang="en-US" sz="2800" dirty="0" err="1">
                <a:latin typeface="Palatino Linotype" panose="02040502050505030304" pitchFamily="18" charset="0"/>
              </a:rPr>
              <a:t>centre</a:t>
            </a:r>
            <a:r>
              <a:rPr lang="en-US" sz="2800" dirty="0">
                <a:latin typeface="Palatino Linotype" panose="02040502050505030304" pitchFamily="18" charset="0"/>
              </a:rPr>
              <a: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Units of Light</a:t>
            </a:r>
          </a:p>
        </p:txBody>
      </p:sp>
    </p:spTree>
    <p:extLst>
      <p:ext uri="{BB962C8B-B14F-4D97-AF65-F5344CB8AC3E}">
        <p14:creationId xmlns:p14="http://schemas.microsoft.com/office/powerpoint/2010/main" val="556345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sp>
        <p:nvSpPr>
          <p:cNvPr id="3" name="Content Placeholder 2"/>
          <p:cNvSpPr>
            <a:spLocks noGrp="1"/>
          </p:cNvSpPr>
          <p:nvPr>
            <p:ph idx="1"/>
          </p:nvPr>
        </p:nvSpPr>
        <p:spPr>
          <a:ln>
            <a:solidFill>
              <a:schemeClr val="accent1"/>
            </a:solidFill>
          </a:ln>
        </p:spPr>
        <p:txBody>
          <a:bodyPr>
            <a:normAutofit/>
          </a:bodyPr>
          <a:lstStyle/>
          <a:p>
            <a:pPr algn="just"/>
            <a:r>
              <a:rPr lang="en-US" sz="2800" dirty="0">
                <a:latin typeface="Palatino Linotype" panose="02040502050505030304" pitchFamily="18" charset="0"/>
              </a:rPr>
              <a:t>Intensity of illumination  is represented in units, known as lux (written as lx in short) or </a:t>
            </a:r>
            <a:r>
              <a:rPr lang="en-US" sz="2800" dirty="0" err="1">
                <a:latin typeface="Palatino Linotype" panose="02040502050505030304" pitchFamily="18" charset="0"/>
              </a:rPr>
              <a:t>metre</a:t>
            </a:r>
            <a:r>
              <a:rPr lang="en-US" sz="2800" dirty="0">
                <a:latin typeface="Palatino Linotype" panose="02040502050505030304" pitchFamily="18" charset="0"/>
              </a:rPr>
              <a:t>-candela.</a:t>
            </a:r>
          </a:p>
          <a:p>
            <a:pPr algn="just"/>
            <a:r>
              <a:rPr lang="en-US" sz="2800" b="1" dirty="0">
                <a:solidFill>
                  <a:schemeClr val="accent1"/>
                </a:solidFill>
                <a:latin typeface="Palatino Linotype" panose="02040502050505030304" pitchFamily="18" charset="0"/>
              </a:rPr>
              <a:t>One lux </a:t>
            </a:r>
            <a:r>
              <a:rPr lang="en-US" sz="2800" dirty="0">
                <a:latin typeface="Palatino Linotype" panose="02040502050505030304" pitchFamily="18" charset="0"/>
              </a:rPr>
              <a:t>is the amount of light falling on a square </a:t>
            </a:r>
            <a:r>
              <a:rPr lang="en-US" sz="2800" dirty="0" err="1">
                <a:latin typeface="Palatino Linotype" panose="02040502050505030304" pitchFamily="18" charset="0"/>
              </a:rPr>
              <a:t>metre</a:t>
            </a:r>
            <a:r>
              <a:rPr lang="en-US" sz="2800" dirty="0">
                <a:latin typeface="Palatino Linotype" panose="02040502050505030304" pitchFamily="18" charset="0"/>
              </a:rPr>
              <a:t> spherical surface of radius 1 </a:t>
            </a:r>
            <a:r>
              <a:rPr lang="en-US" sz="2800" dirty="0" err="1">
                <a:latin typeface="Palatino Linotype" panose="02040502050505030304" pitchFamily="18" charset="0"/>
              </a:rPr>
              <a:t>metre</a:t>
            </a:r>
            <a:r>
              <a:rPr lang="en-US" sz="2800" dirty="0">
                <a:latin typeface="Palatino Linotype" panose="02040502050505030304" pitchFamily="18" charset="0"/>
              </a:rPr>
              <a:t> when a source of 1 candela is kept at the </a:t>
            </a:r>
            <a:r>
              <a:rPr lang="en-US" sz="2800" dirty="0" err="1">
                <a:latin typeface="Palatino Linotype" panose="02040502050505030304" pitchFamily="18" charset="0"/>
              </a:rPr>
              <a:t>centre</a:t>
            </a:r>
            <a:r>
              <a:rPr lang="en-US" sz="2800" dirty="0">
                <a:latin typeface="Palatino Linotype" panose="02040502050505030304" pitchFamily="18" charset="0"/>
              </a:rPr>
              <a:t> of curvature of the sphere.</a:t>
            </a:r>
          </a:p>
          <a:p>
            <a:pPr marL="0" indent="0" algn="just">
              <a:buNone/>
            </a:pPr>
            <a:r>
              <a:rPr lang="en-US" sz="2800" dirty="0">
                <a:latin typeface="Palatino Linotype" panose="02040502050505030304" pitchFamily="18" charset="0"/>
              </a:rPr>
              <a:t>			1 lux = 1 lumen per square </a:t>
            </a:r>
            <a:r>
              <a:rPr lang="en-US" sz="2800" dirty="0" err="1">
                <a:latin typeface="Palatino Linotype" panose="02040502050505030304" pitchFamily="18" charset="0"/>
              </a:rPr>
              <a:t>metre</a:t>
            </a:r>
            <a:endParaRPr lang="en-US" sz="2800" dirty="0">
              <a:latin typeface="Palatino Linotype" panose="02040502050505030304" pitchFamily="18" charset="0"/>
            </a:endParaRPr>
          </a:p>
          <a:p>
            <a:pPr algn="just"/>
            <a:r>
              <a:rPr lang="en-US" sz="2800" dirty="0">
                <a:latin typeface="Palatino Linotype" panose="02040502050505030304" pitchFamily="18" charset="0"/>
              </a:rPr>
              <a:t>Lux is a small unit. A bigger unit is </a:t>
            </a:r>
            <a:r>
              <a:rPr lang="en-US" sz="2800" b="1" dirty="0" err="1">
                <a:solidFill>
                  <a:schemeClr val="accent1"/>
                </a:solidFill>
                <a:latin typeface="Palatino Linotype" panose="02040502050505030304" pitchFamily="18" charset="0"/>
              </a:rPr>
              <a:t>phot</a:t>
            </a:r>
            <a:r>
              <a:rPr lang="en-US" sz="2800" dirty="0">
                <a:latin typeface="Palatino Linotype" panose="02040502050505030304" pitchFamily="18" charset="0"/>
              </a:rPr>
              <a:t> which measures 1 lumen per square cm. Thus 1 </a:t>
            </a:r>
            <a:r>
              <a:rPr lang="en-US" sz="2800" dirty="0" err="1">
                <a:latin typeface="Palatino Linotype" panose="02040502050505030304" pitchFamily="18" charset="0"/>
              </a:rPr>
              <a:t>phot</a:t>
            </a:r>
            <a:r>
              <a:rPr lang="en-US" sz="2800" dirty="0">
                <a:latin typeface="Palatino Linotype" panose="02040502050505030304" pitchFamily="18" charset="0"/>
              </a:rPr>
              <a:t> = 10000 lux.</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Units of Light</a:t>
            </a:r>
          </a:p>
        </p:txBody>
      </p:sp>
    </p:spTree>
    <p:extLst>
      <p:ext uri="{BB962C8B-B14F-4D97-AF65-F5344CB8AC3E}">
        <p14:creationId xmlns:p14="http://schemas.microsoft.com/office/powerpoint/2010/main" val="1416244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Brightness of a surface depends on the reflecting power of the surface. </a:t>
            </a:r>
          </a:p>
          <a:p>
            <a:pPr algn="just"/>
            <a:r>
              <a:rPr lang="en-US" sz="2800" dirty="0">
                <a:latin typeface="Palatino Linotype" panose="02040502050505030304" pitchFamily="18" charset="0"/>
              </a:rPr>
              <a:t>If two objects are illuminated with equal intensity, their brightness may be different. </a:t>
            </a:r>
          </a:p>
          <a:p>
            <a:pPr algn="just"/>
            <a:r>
              <a:rPr lang="en-US" sz="2800" dirty="0">
                <a:latin typeface="Palatino Linotype" panose="02040502050505030304" pitchFamily="18" charset="0"/>
              </a:rPr>
              <a:t>For example, if two opposite walls of a room are painted differently, one is painted white and the other red, the intensity of light falling on the two walls is the same, but the white wall will appear brighter than the red wall.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Brightness </a:t>
            </a:r>
            <a:r>
              <a:rPr lang="en-US" sz="3600" dirty="0" err="1">
                <a:latin typeface="Palatino Linotype" panose="02040502050505030304" pitchFamily="18" charset="0"/>
              </a:rPr>
              <a:t>vs</a:t>
            </a:r>
            <a:r>
              <a:rPr lang="en-US" sz="3600" dirty="0">
                <a:latin typeface="Palatino Linotype" panose="02040502050505030304" pitchFamily="18" charset="0"/>
              </a:rPr>
              <a:t> Intensity of Illumination</a:t>
            </a:r>
          </a:p>
        </p:txBody>
      </p:sp>
    </p:spTree>
    <p:extLst>
      <p:ext uri="{BB962C8B-B14F-4D97-AF65-F5344CB8AC3E}">
        <p14:creationId xmlns:p14="http://schemas.microsoft.com/office/powerpoint/2010/main" val="3304129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Sound consists of pressure waves and hence its intensity is represented in units of pressure, that is, newton per </a:t>
            </a:r>
            <a:r>
              <a:rPr lang="en-US" sz="2800" dirty="0" err="1">
                <a:latin typeface="Palatino Linotype" panose="02040502050505030304" pitchFamily="18" charset="0"/>
              </a:rPr>
              <a:t>metre</a:t>
            </a:r>
            <a:r>
              <a:rPr lang="en-US" sz="2800" dirty="0">
                <a:latin typeface="Palatino Linotype" panose="02040502050505030304" pitchFamily="18" charset="0"/>
              </a:rPr>
              <a:t> square (N/m</a:t>
            </a:r>
            <a:r>
              <a:rPr lang="en-US" sz="2800" baseline="30000" dirty="0">
                <a:latin typeface="Palatino Linotype" panose="02040502050505030304" pitchFamily="18" charset="0"/>
              </a:rPr>
              <a:t>2</a:t>
            </a:r>
            <a:r>
              <a:rPr lang="en-US" sz="2800" dirty="0">
                <a:latin typeface="Palatino Linotype" panose="02040502050505030304" pitchFamily="18" charset="0"/>
              </a:rPr>
              <a:t>), or </a:t>
            </a:r>
            <a:r>
              <a:rPr lang="en-US" sz="2800" dirty="0" err="1">
                <a:latin typeface="Palatino Linotype" panose="02040502050505030304" pitchFamily="18" charset="0"/>
              </a:rPr>
              <a:t>pascal</a:t>
            </a:r>
            <a:r>
              <a:rPr lang="en-US" sz="2800" dirty="0">
                <a:latin typeface="Palatino Linotype" panose="02040502050505030304" pitchFamily="18" charset="0"/>
              </a:rPr>
              <a:t> (Pa). </a:t>
            </a:r>
          </a:p>
          <a:p>
            <a:pPr algn="just"/>
            <a:r>
              <a:rPr lang="en-US" sz="2800" dirty="0">
                <a:latin typeface="Palatino Linotype" panose="02040502050505030304" pitchFamily="18" charset="0"/>
              </a:rPr>
              <a:t>It is also represented in watt per </a:t>
            </a:r>
            <a:r>
              <a:rPr lang="en-US" sz="2800" dirty="0" err="1">
                <a:latin typeface="Palatino Linotype" panose="02040502050505030304" pitchFamily="18" charset="0"/>
              </a:rPr>
              <a:t>metre</a:t>
            </a:r>
            <a:r>
              <a:rPr lang="en-US" sz="2800" dirty="0">
                <a:latin typeface="Palatino Linotype" panose="02040502050505030304" pitchFamily="18" charset="0"/>
              </a:rPr>
              <a:t> square (W/m</a:t>
            </a:r>
            <a:r>
              <a:rPr lang="en-US" sz="2800" baseline="30000" dirty="0">
                <a:latin typeface="Palatino Linotype" panose="02040502050505030304" pitchFamily="18" charset="0"/>
              </a:rPr>
              <a:t>2</a:t>
            </a:r>
            <a:r>
              <a:rPr lang="en-US" sz="2800" dirty="0">
                <a:latin typeface="Palatino Linotype" panose="02040502050505030304" pitchFamily="18" charset="0"/>
              </a:rPr>
              <a:t>). </a:t>
            </a:r>
          </a:p>
          <a:p>
            <a:pPr algn="just"/>
            <a:r>
              <a:rPr lang="en-US" sz="2800" dirty="0">
                <a:latin typeface="Palatino Linotype" panose="02040502050505030304" pitchFamily="18" charset="0"/>
              </a:rPr>
              <a:t>Generally, it is indicated in decibels (dBs) over threshold of hearing, which is equal to 10</a:t>
            </a:r>
            <a:r>
              <a:rPr lang="en-US" sz="2800" baseline="30000" dirty="0">
                <a:latin typeface="Palatino Linotype" panose="02040502050505030304" pitchFamily="18" charset="0"/>
              </a:rPr>
              <a:t>–12</a:t>
            </a:r>
            <a:r>
              <a:rPr lang="en-US" sz="2800" dirty="0">
                <a:latin typeface="Palatino Linotype" panose="02040502050505030304" pitchFamily="18" charset="0"/>
              </a:rPr>
              <a:t> W/m</a:t>
            </a:r>
            <a:r>
              <a:rPr lang="en-US" sz="2800" baseline="30000" dirty="0">
                <a:latin typeface="Palatino Linotype" panose="02040502050505030304" pitchFamily="18" charset="0"/>
              </a:rPr>
              <a:t>2</a:t>
            </a:r>
            <a:r>
              <a:rPr lang="en-US" sz="2800" dirty="0">
                <a:latin typeface="Palatino Linotype" panose="02040502050505030304" pitchFamily="18" charset="0"/>
              </a:rPr>
              <a:t> or 1 </a:t>
            </a:r>
            <a:r>
              <a:rPr lang="en-US" sz="2800" dirty="0" err="1">
                <a:latin typeface="Palatino Linotype" panose="02040502050505030304" pitchFamily="18" charset="0"/>
              </a:rPr>
              <a:t>pW</a:t>
            </a:r>
            <a:r>
              <a:rPr lang="en-US" sz="2800" dirty="0">
                <a:latin typeface="Palatino Linotype" panose="02040502050505030304" pitchFamily="18" charset="0"/>
              </a:rPr>
              <a:t>/m</a:t>
            </a:r>
            <a:r>
              <a:rPr lang="en-US" sz="2800" baseline="30000" dirty="0">
                <a:latin typeface="Palatino Linotype" panose="02040502050505030304" pitchFamily="18" charset="0"/>
              </a:rPr>
              <a:t>2</a:t>
            </a:r>
            <a:r>
              <a:rPr lang="en-US" sz="2800" dirty="0">
                <a:latin typeface="Palatino Linotype" panose="02040502050505030304" pitchFamily="18" charset="0"/>
              </a:rPr>
              <a: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Units of Sound</a:t>
            </a:r>
          </a:p>
        </p:txBody>
      </p:sp>
    </p:spTree>
    <p:extLst>
      <p:ext uri="{BB962C8B-B14F-4D97-AF65-F5344CB8AC3E}">
        <p14:creationId xmlns:p14="http://schemas.microsoft.com/office/powerpoint/2010/main" val="3676563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sp>
        <p:nvSpPr>
          <p:cNvPr id="3" name="Content Placeholder 2"/>
          <p:cNvSpPr>
            <a:spLocks noGrp="1"/>
          </p:cNvSpPr>
          <p:nvPr>
            <p:ph idx="1"/>
          </p:nvPr>
        </p:nvSpPr>
        <p:spPr>
          <a:xfrm>
            <a:off x="363416" y="1825624"/>
            <a:ext cx="11465168" cy="4201103"/>
          </a:xfrm>
        </p:spPr>
        <p:txBody>
          <a:bodyPr>
            <a:normAutofit/>
          </a:bodyPr>
          <a:lstStyle/>
          <a:p>
            <a:pPr algn="just"/>
            <a:r>
              <a:rPr lang="en-US" sz="2800" dirty="0">
                <a:latin typeface="Palatino Linotype" panose="02040502050505030304" pitchFamily="18" charset="0"/>
              </a:rPr>
              <a:t>The intensity of illumination can vary from darkness (light of faint stars in the universe, which is taken as reference = 0 dB) to light of bright sun on snow (110 dB)</a:t>
            </a:r>
          </a:p>
          <a:p>
            <a:pPr algn="just"/>
            <a:r>
              <a:rPr lang="en-US" sz="2800" dirty="0">
                <a:latin typeface="Palatino Linotype" panose="02040502050505030304" pitchFamily="18" charset="0"/>
              </a:rPr>
              <a:t>A scene consists of variations of intensity of light and colour in space in three dimensions and its image in two dimensions. </a:t>
            </a:r>
          </a:p>
          <a:p>
            <a:pPr algn="just"/>
            <a:r>
              <a:rPr lang="en-US" sz="2800" dirty="0">
                <a:latin typeface="Palatino Linotype" panose="02040502050505030304" pitchFamily="18" charset="0"/>
              </a:rPr>
              <a:t>The variations may be sharp (abrupt) or may show slow gradation of shade from white (brightest light) to black (zero light). </a:t>
            </a:r>
          </a:p>
          <a:p>
            <a:pPr algn="just"/>
            <a:r>
              <a:rPr lang="en-US" sz="2800" dirty="0">
                <a:latin typeface="Palatino Linotype" panose="02040502050505030304" pitchFamily="18" charset="0"/>
              </a:rPr>
              <a:t>The rate of variation of the intensity represents frequency of variation. In TV it may vary from 0 to about 5 </a:t>
            </a:r>
            <a:r>
              <a:rPr lang="en-US" sz="2800" dirty="0" err="1">
                <a:latin typeface="Palatino Linotype" panose="02040502050505030304" pitchFamily="18" charset="0"/>
              </a:rPr>
              <a:t>MHz.</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Intensity of Light in a Picture</a:t>
            </a:r>
          </a:p>
        </p:txBody>
      </p:sp>
    </p:spTree>
    <p:extLst>
      <p:ext uri="{BB962C8B-B14F-4D97-AF65-F5344CB8AC3E}">
        <p14:creationId xmlns:p14="http://schemas.microsoft.com/office/powerpoint/2010/main" val="306787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An eye senses the variations of light occurring in its field of view and forms an image of the scene on the retina.</a:t>
            </a:r>
          </a:p>
          <a:p>
            <a:pPr algn="just"/>
            <a:r>
              <a:rPr lang="en-US" sz="2800" dirty="0">
                <a:latin typeface="Palatino Linotype" panose="02040502050505030304" pitchFamily="18" charset="0"/>
              </a:rPr>
              <a:t>A camera similarly picks up a portion of the scene falling in its field of view and forms its image on a photographic film (as in cinema) or on a semiconductor plate (as in TV camera tube).</a:t>
            </a:r>
          </a:p>
          <a:p>
            <a:pPr algn="just"/>
            <a:r>
              <a:rPr lang="en-US" sz="2800" dirty="0">
                <a:latin typeface="Palatino Linotype" panose="02040502050505030304" pitchFamily="18" charset="0"/>
              </a:rPr>
              <a:t>The image is thus a two-dimensional picture on a plane surface. </a:t>
            </a:r>
          </a:p>
          <a:p>
            <a:pPr algn="just"/>
            <a:r>
              <a:rPr lang="en-US" sz="2800" dirty="0">
                <a:latin typeface="Palatino Linotype" panose="02040502050505030304" pitchFamily="18" charset="0"/>
              </a:rPr>
              <a:t>The effect of the third dimension (depth) in the image is produced by the fact that light from the distant objects is of reduced intensity, the reduction being proportional to the distance.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Image</a:t>
            </a:r>
          </a:p>
        </p:txBody>
      </p:sp>
    </p:spTree>
    <p:extLst>
      <p:ext uri="{BB962C8B-B14F-4D97-AF65-F5344CB8AC3E}">
        <p14:creationId xmlns:p14="http://schemas.microsoft.com/office/powerpoint/2010/main" val="2230443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When a scene is filmed, the field of view of the lens being limited, the camera catches a small portion of the scene when its shutter is opened.</a:t>
            </a:r>
          </a:p>
          <a:p>
            <a:pPr algn="just"/>
            <a:r>
              <a:rPr lang="en-US" sz="2800" dirty="0">
                <a:latin typeface="Palatino Linotype" panose="02040502050505030304" pitchFamily="18" charset="0"/>
              </a:rPr>
              <a:t>The image recorded on the film in an exposure is called </a:t>
            </a:r>
            <a:r>
              <a:rPr lang="en-US" sz="2800" b="1" dirty="0">
                <a:solidFill>
                  <a:schemeClr val="accent1"/>
                </a:solidFill>
                <a:latin typeface="Palatino Linotype" panose="02040502050505030304" pitchFamily="18" charset="0"/>
              </a:rPr>
              <a:t>picture frame</a:t>
            </a:r>
            <a:r>
              <a:rPr lang="en-US" sz="2800" dirty="0">
                <a:latin typeface="Palatino Linotype" panose="02040502050505030304" pitchFamily="18" charset="0"/>
              </a:rPr>
              <a:t>.</a:t>
            </a:r>
          </a:p>
          <a:p>
            <a:pPr algn="just"/>
            <a:r>
              <a:rPr lang="en-US" sz="2800" dirty="0">
                <a:latin typeface="Palatino Linotype" panose="02040502050505030304" pitchFamily="18" charset="0"/>
              </a:rPr>
              <a:t>Each exposure gives a still picture. </a:t>
            </a:r>
          </a:p>
          <a:p>
            <a:pPr algn="just"/>
            <a:r>
              <a:rPr lang="en-US" sz="2800" dirty="0">
                <a:latin typeface="Palatino Linotype" panose="02040502050505030304" pitchFamily="18" charset="0"/>
              </a:rPr>
              <a:t>If a scene does not change (e.g. a hill or a building), all exposures will give the same image.</a:t>
            </a:r>
          </a:p>
          <a:p>
            <a:pPr algn="just"/>
            <a:r>
              <a:rPr lang="en-US" sz="2800" dirty="0">
                <a:latin typeface="Palatino Linotype" panose="02040502050505030304" pitchFamily="18" charset="0"/>
              </a:rPr>
              <a:t>However, when an event is filmed, the scene changes from instant to instant.</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Picture Frame</a:t>
            </a:r>
          </a:p>
        </p:txBody>
      </p:sp>
    </p:spTree>
    <p:extLst>
      <p:ext uri="{BB962C8B-B14F-4D97-AF65-F5344CB8AC3E}">
        <p14:creationId xmlns:p14="http://schemas.microsoft.com/office/powerpoint/2010/main" val="142216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sp>
        <p:nvSpPr>
          <p:cNvPr id="3" name="Content Placeholder 2"/>
          <p:cNvSpPr>
            <a:spLocks noGrp="1"/>
          </p:cNvSpPr>
          <p:nvPr>
            <p:ph idx="1"/>
          </p:nvPr>
        </p:nvSpPr>
        <p:spPr>
          <a:xfrm>
            <a:off x="363416" y="1700932"/>
            <a:ext cx="11465168" cy="4886967"/>
          </a:xfrm>
        </p:spPr>
        <p:txBody>
          <a:bodyPr>
            <a:normAutofit/>
          </a:bodyPr>
          <a:lstStyle/>
          <a:p>
            <a:pPr algn="just"/>
            <a:r>
              <a:rPr lang="en-US" sz="2800" dirty="0">
                <a:latin typeface="Palatino Linotype" panose="02040502050505030304" pitchFamily="18" charset="0"/>
              </a:rPr>
              <a:t>Recording of a changing scene requires several exposures in quick succession. </a:t>
            </a:r>
          </a:p>
          <a:p>
            <a:pPr algn="just"/>
            <a:r>
              <a:rPr lang="en-US" sz="2800" dirty="0">
                <a:latin typeface="Palatino Linotype" panose="02040502050505030304" pitchFamily="18" charset="0"/>
              </a:rPr>
              <a:t>In cinema, there are 24 exposures (photographs) per second recorded on 24 films, moving and coming in the focus of the camera lens one after the other.</a:t>
            </a:r>
          </a:p>
          <a:p>
            <a:pPr algn="just"/>
            <a:r>
              <a:rPr lang="en-US" sz="2800" dirty="0">
                <a:latin typeface="Palatino Linotype" panose="02040502050505030304" pitchFamily="18" charset="0"/>
              </a:rPr>
              <a:t>In television. The TV camera lens continuously focuses the scene on a target plate. There are no shutters opening or closing.</a:t>
            </a:r>
          </a:p>
          <a:p>
            <a:pPr algn="just"/>
            <a:r>
              <a:rPr lang="en-US" sz="2800" dirty="0">
                <a:latin typeface="Palatino Linotype" panose="02040502050505030304" pitchFamily="18" charset="0"/>
              </a:rPr>
              <a:t> The image is converted into an electrical charge-image, and electrical signal is extracted from each point of the charge image in quick succession by a continuous extraction process with interruption (akin to closing the shutter) every 40 millisecond.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Picture Frame</a:t>
            </a:r>
          </a:p>
        </p:txBody>
      </p:sp>
    </p:spTree>
    <p:extLst>
      <p:ext uri="{BB962C8B-B14F-4D97-AF65-F5344CB8AC3E}">
        <p14:creationId xmlns:p14="http://schemas.microsoft.com/office/powerpoint/2010/main" val="2216554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In TV, the process of extraction of signal from point to point is called scanning and interruption is called </a:t>
            </a:r>
            <a:r>
              <a:rPr lang="en-US" sz="2800" b="1" dirty="0">
                <a:solidFill>
                  <a:schemeClr val="accent1"/>
                </a:solidFill>
                <a:latin typeface="Palatino Linotype" panose="02040502050505030304" pitchFamily="18" charset="0"/>
              </a:rPr>
              <a:t>blanking</a:t>
            </a:r>
            <a:r>
              <a:rPr lang="en-US" sz="2800" dirty="0">
                <a:latin typeface="Palatino Linotype" panose="02040502050505030304" pitchFamily="18" charset="0"/>
              </a:rPr>
              <a:t>.</a:t>
            </a:r>
          </a:p>
          <a:p>
            <a:pPr algn="just"/>
            <a:r>
              <a:rPr lang="en-US" sz="2800" dirty="0">
                <a:latin typeface="Palatino Linotype" panose="02040502050505030304" pitchFamily="18" charset="0"/>
              </a:rPr>
              <a:t>25 frames are scanned in one second in European system (adopted by India) and 30 in American system.</a:t>
            </a:r>
          </a:p>
          <a:p>
            <a:pPr algn="just"/>
            <a:r>
              <a:rPr lang="en-US" sz="2800" dirty="0">
                <a:latin typeface="Palatino Linotype" panose="02040502050505030304" pitchFamily="18" charset="0"/>
              </a:rPr>
              <a:t>This difference in the two systems is due to electric mains frequency being 50 in Europe and 60 in America) </a:t>
            </a:r>
          </a:p>
          <a:p>
            <a:pPr algn="just"/>
            <a:r>
              <a:rPr lang="en-US" sz="2800" dirty="0">
                <a:latin typeface="Palatino Linotype" panose="02040502050505030304" pitchFamily="18" charset="0"/>
              </a:rPr>
              <a:t>Each sequence of scanning in TV (like each exposure in cinema) is called a </a:t>
            </a:r>
            <a:r>
              <a:rPr lang="en-US" sz="2800" b="1" dirty="0">
                <a:solidFill>
                  <a:schemeClr val="accent1"/>
                </a:solidFill>
                <a:latin typeface="Palatino Linotype" panose="02040502050505030304" pitchFamily="18" charset="0"/>
              </a:rPr>
              <a:t>frame.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Picture Frame</a:t>
            </a:r>
          </a:p>
        </p:txBody>
      </p:sp>
    </p:spTree>
    <p:extLst>
      <p:ext uri="{BB962C8B-B14F-4D97-AF65-F5344CB8AC3E}">
        <p14:creationId xmlns:p14="http://schemas.microsoft.com/office/powerpoint/2010/main" val="71111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sp>
        <p:nvSpPr>
          <p:cNvPr id="3" name="Content Placeholder 2"/>
          <p:cNvSpPr>
            <a:spLocks noGrp="1"/>
          </p:cNvSpPr>
          <p:nvPr>
            <p:ph idx="1"/>
          </p:nvPr>
        </p:nvSpPr>
        <p:spPr>
          <a:xfrm>
            <a:off x="363416" y="1825624"/>
            <a:ext cx="11465168" cy="4886967"/>
          </a:xfrm>
        </p:spPr>
        <p:txBody>
          <a:bodyPr>
            <a:normAutofit lnSpcReduction="10000"/>
          </a:bodyPr>
          <a:lstStyle/>
          <a:p>
            <a:pPr algn="just"/>
            <a:r>
              <a:rPr lang="en-US" sz="2800" dirty="0">
                <a:latin typeface="Palatino Linotype" panose="02040502050505030304" pitchFamily="18" charset="0"/>
              </a:rPr>
              <a:t>Width to height ratio of a picture frame is called </a:t>
            </a:r>
            <a:r>
              <a:rPr lang="en-US" sz="2800" b="1" dirty="0">
                <a:solidFill>
                  <a:schemeClr val="accent1"/>
                </a:solidFill>
                <a:latin typeface="Palatino Linotype" panose="02040502050505030304" pitchFamily="18" charset="0"/>
              </a:rPr>
              <a:t>aspect ratio. </a:t>
            </a:r>
          </a:p>
          <a:p>
            <a:pPr algn="just"/>
            <a:r>
              <a:rPr lang="en-US" sz="2800" dirty="0">
                <a:latin typeface="Palatino Linotype" panose="02040502050505030304" pitchFamily="18" charset="0"/>
              </a:rPr>
              <a:t>Width is kept longer than height because of the following facts:</a:t>
            </a:r>
          </a:p>
          <a:p>
            <a:pPr marL="971550" lvl="1" indent="-514350" algn="just">
              <a:buFont typeface="+mj-lt"/>
              <a:buAutoNum type="arabicParenR"/>
            </a:pPr>
            <a:r>
              <a:rPr lang="en-US" sz="2600" dirty="0">
                <a:latin typeface="Palatino Linotype" panose="02040502050505030304" pitchFamily="18" charset="0"/>
              </a:rPr>
              <a:t>Horizontal dimension of a scene is generally more than its vertical dimension.</a:t>
            </a:r>
          </a:p>
          <a:p>
            <a:pPr marL="971550" lvl="1" indent="-514350" algn="just">
              <a:buFont typeface="+mj-lt"/>
              <a:buAutoNum type="arabicParenR"/>
            </a:pPr>
            <a:r>
              <a:rPr lang="en-US" sz="2600" dirty="0">
                <a:latin typeface="Palatino Linotype" panose="02040502050505030304" pitchFamily="18" charset="0"/>
              </a:rPr>
              <a:t>Eyes can move with more ease and comfort in the horizontal plane than in the vertical.</a:t>
            </a:r>
          </a:p>
          <a:p>
            <a:pPr marL="971550" lvl="1" indent="-514350" algn="just">
              <a:buFont typeface="+mj-lt"/>
              <a:buAutoNum type="arabicParenR"/>
            </a:pPr>
            <a:r>
              <a:rPr lang="en-US" sz="2600" dirty="0">
                <a:latin typeface="Palatino Linotype" panose="02040502050505030304" pitchFamily="18" charset="0"/>
              </a:rPr>
              <a:t>The fovea, the surface of maximum sensitivity and resolution at the </a:t>
            </a:r>
            <a:r>
              <a:rPr lang="en-US" sz="2600" dirty="0" err="1">
                <a:latin typeface="Palatino Linotype" panose="02040502050505030304" pitchFamily="18" charset="0"/>
              </a:rPr>
              <a:t>centre</a:t>
            </a:r>
            <a:r>
              <a:rPr lang="en-US" sz="2600" dirty="0">
                <a:latin typeface="Palatino Linotype" panose="02040502050505030304" pitchFamily="18" charset="0"/>
              </a:rPr>
              <a:t> of the retina in the eye has greater width than height. Thus, the longer width of the image ensures more efficient use of the fovea.</a:t>
            </a:r>
          </a:p>
          <a:p>
            <a:pPr algn="just"/>
            <a:r>
              <a:rPr lang="en-US" sz="2800" dirty="0">
                <a:latin typeface="Palatino Linotype" panose="02040502050505030304" pitchFamily="18" charset="0"/>
              </a:rPr>
              <a:t>As a result of intensive subjective tests by cinema professionals, </a:t>
            </a:r>
            <a:r>
              <a:rPr lang="en-US" sz="2800" b="1" dirty="0">
                <a:solidFill>
                  <a:schemeClr val="accent1"/>
                </a:solidFill>
                <a:latin typeface="Palatino Linotype" panose="02040502050505030304" pitchFamily="18" charset="0"/>
              </a:rPr>
              <a:t>aspect ratio of 4:3 </a:t>
            </a:r>
            <a:r>
              <a:rPr lang="en-US" sz="2800" dirty="0">
                <a:latin typeface="Palatino Linotype" panose="02040502050505030304" pitchFamily="18" charset="0"/>
              </a:rPr>
              <a:t>was found to be most pleasing aesthetically, and less fatiguing to the eyes.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Aspect Ratio</a:t>
            </a:r>
          </a:p>
        </p:txBody>
      </p:sp>
    </p:spTree>
    <p:extLst>
      <p:ext uri="{BB962C8B-B14F-4D97-AF65-F5344CB8AC3E}">
        <p14:creationId xmlns:p14="http://schemas.microsoft.com/office/powerpoint/2010/main" val="1874871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sp>
        <p:nvSpPr>
          <p:cNvPr id="3" name="Content Placeholder 2"/>
          <p:cNvSpPr>
            <a:spLocks noGrp="1"/>
          </p:cNvSpPr>
          <p:nvPr>
            <p:ph idx="1"/>
          </p:nvPr>
        </p:nvSpPr>
        <p:spPr>
          <a:xfrm>
            <a:off x="363416" y="1662544"/>
            <a:ext cx="11465168" cy="5050047"/>
          </a:xfrm>
        </p:spPr>
        <p:txBody>
          <a:bodyPr>
            <a:normAutofit lnSpcReduction="10000"/>
          </a:bodyPr>
          <a:lstStyle/>
          <a:p>
            <a:pPr algn="just"/>
            <a:r>
              <a:rPr lang="en-US" sz="2800" dirty="0">
                <a:latin typeface="Palatino Linotype" panose="02040502050505030304" pitchFamily="18" charset="0"/>
              </a:rPr>
              <a:t>Thus for conventional TV screens, the aspect ratio is 4:3 in all TV systems. </a:t>
            </a:r>
          </a:p>
          <a:p>
            <a:pPr algn="just"/>
            <a:r>
              <a:rPr lang="en-US" sz="2800" dirty="0">
                <a:latin typeface="Palatino Linotype" panose="02040502050505030304" pitchFamily="18" charset="0"/>
              </a:rPr>
              <a:t>Proportional size of the objects will not change with change in size of the screen so long as the aspect ratio remains the same.</a:t>
            </a:r>
          </a:p>
          <a:p>
            <a:pPr algn="just"/>
            <a:r>
              <a:rPr lang="en-US" sz="2800" dirty="0">
                <a:latin typeface="Palatino Linotype" panose="02040502050505030304" pitchFamily="18" charset="0"/>
              </a:rPr>
              <a:t>For wider screens of high definition TV, aspect ratio of 16:9 has been standardized.</a:t>
            </a:r>
          </a:p>
          <a:p>
            <a:pPr algn="just"/>
            <a:r>
              <a:rPr lang="en-US" sz="2800" dirty="0">
                <a:latin typeface="Palatino Linotype" panose="02040502050505030304" pitchFamily="18" charset="0"/>
              </a:rPr>
              <a:t>Recording at 16:9 aspect ratio can be shown on 4:3 ratio screen by using full width and smaller height.</a:t>
            </a:r>
          </a:p>
          <a:p>
            <a:pPr algn="just"/>
            <a:r>
              <a:rPr lang="en-US" sz="2800" dirty="0">
                <a:latin typeface="Palatino Linotype" panose="02040502050505030304" pitchFamily="18" charset="0"/>
              </a:rPr>
              <a:t>Dimensions of a TV receiver are specified by the diagonal length of the screen</a:t>
            </a:r>
          </a:p>
          <a:p>
            <a:pPr algn="just"/>
            <a:r>
              <a:rPr lang="en-US" sz="2800" dirty="0">
                <a:latin typeface="Palatino Linotype" panose="02040502050505030304" pitchFamily="18" charset="0"/>
              </a:rPr>
              <a:t>By Pythagoras theorem, when width is 4</a:t>
            </a:r>
            <a:r>
              <a:rPr lang="en-US" sz="2800" i="1" dirty="0">
                <a:latin typeface="Palatino Linotype" panose="02040502050505030304" pitchFamily="18" charset="0"/>
              </a:rPr>
              <a:t>x</a:t>
            </a:r>
            <a:r>
              <a:rPr lang="en-US" sz="2800" dirty="0">
                <a:latin typeface="Palatino Linotype" panose="02040502050505030304" pitchFamily="18" charset="0"/>
              </a:rPr>
              <a:t> and height 3</a:t>
            </a:r>
            <a:r>
              <a:rPr lang="en-US" sz="2800" i="1" dirty="0">
                <a:latin typeface="Palatino Linotype" panose="02040502050505030304" pitchFamily="18" charset="0"/>
              </a:rPr>
              <a:t>x</a:t>
            </a:r>
            <a:r>
              <a:rPr lang="en-US" sz="2800" dirty="0">
                <a:latin typeface="Palatino Linotype" panose="02040502050505030304" pitchFamily="18" charset="0"/>
              </a:rPr>
              <a:t>, diagonal would be 5</a:t>
            </a:r>
            <a:r>
              <a:rPr lang="en-US" sz="2800" i="1" dirty="0">
                <a:latin typeface="Palatino Linotype" panose="02040502050505030304" pitchFamily="18" charset="0"/>
              </a:rPr>
              <a:t>x</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Aspect Ratio</a:t>
            </a:r>
          </a:p>
        </p:txBody>
      </p:sp>
    </p:spTree>
    <p:extLst>
      <p:ext uri="{BB962C8B-B14F-4D97-AF65-F5344CB8AC3E}">
        <p14:creationId xmlns:p14="http://schemas.microsoft.com/office/powerpoint/2010/main" val="437133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01</a:t>
            </a:r>
          </a:p>
        </p:txBody>
      </p:sp>
      <p:pic>
        <p:nvPicPr>
          <p:cNvPr id="5" name="Picture 4"/>
          <p:cNvPicPr>
            <a:picLocks noChangeAspect="1"/>
          </p:cNvPicPr>
          <p:nvPr/>
        </p:nvPicPr>
        <p:blipFill>
          <a:blip r:embed="rId2"/>
          <a:stretch>
            <a:fillRect/>
          </a:stretch>
        </p:blipFill>
        <p:spPr>
          <a:xfrm>
            <a:off x="414602" y="1780154"/>
            <a:ext cx="11397531" cy="2085264"/>
          </a:xfrm>
          <a:prstGeom prst="rect">
            <a:avLst/>
          </a:prstGeom>
        </p:spPr>
      </p:pic>
    </p:spTree>
    <p:extLst>
      <p:ext uri="{BB962C8B-B14F-4D97-AF65-F5344CB8AC3E}">
        <p14:creationId xmlns:p14="http://schemas.microsoft.com/office/powerpoint/2010/main" val="3689058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16</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For analysis and processing, an image can be considered to be consisting of tiny areas (dots), called picture elements (PELS) or more popularly, </a:t>
            </a:r>
            <a:r>
              <a:rPr lang="en-US" sz="2800" b="1" dirty="0">
                <a:solidFill>
                  <a:schemeClr val="accent1"/>
                </a:solidFill>
                <a:latin typeface="Palatino Linotype" panose="02040502050505030304" pitchFamily="18" charset="0"/>
              </a:rPr>
              <a:t>pixels</a:t>
            </a:r>
            <a:r>
              <a:rPr lang="en-US" sz="2800" dirty="0">
                <a:latin typeface="Palatino Linotype" panose="02040502050505030304" pitchFamily="18" charset="0"/>
              </a:rPr>
              <a:t>.</a:t>
            </a:r>
          </a:p>
          <a:p>
            <a:pPr algn="just"/>
            <a:r>
              <a:rPr lang="en-US" sz="2800" dirty="0">
                <a:latin typeface="Palatino Linotype" panose="02040502050505030304" pitchFamily="18" charset="0"/>
              </a:rPr>
              <a:t>A photograph comprises fine grains of silver which show varying shades of light. </a:t>
            </a:r>
          </a:p>
          <a:p>
            <a:pPr algn="just"/>
            <a:r>
              <a:rPr lang="en-US" sz="2800" dirty="0">
                <a:latin typeface="Palatino Linotype" panose="02040502050505030304" pitchFamily="18" charset="0"/>
              </a:rPr>
              <a:t>A printed picture (as in a newspaper) is composed of very small black and white dots.</a:t>
            </a:r>
          </a:p>
          <a:p>
            <a:pPr algn="just"/>
            <a:r>
              <a:rPr lang="en-US" sz="2800" dirty="0">
                <a:latin typeface="Palatino Linotype" panose="02040502050505030304" pitchFamily="18" charset="0"/>
              </a:rPr>
              <a:t>Similarly a TV picture as seen on the screen of a picture tube in a TV receiver consists of hundreds of thousands of pixels. </a:t>
            </a:r>
          </a:p>
          <a:p>
            <a:pPr algn="just"/>
            <a:r>
              <a:rPr lang="en-US" sz="2800" dirty="0">
                <a:latin typeface="Palatino Linotype" panose="02040502050505030304" pitchFamily="18" charset="0"/>
              </a:rPr>
              <a:t>These pixels are too small to be seen ordinarily.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Picture Elements</a:t>
            </a:r>
          </a:p>
        </p:txBody>
      </p:sp>
    </p:spTree>
    <p:extLst>
      <p:ext uri="{BB962C8B-B14F-4D97-AF65-F5344CB8AC3E}">
        <p14:creationId xmlns:p14="http://schemas.microsoft.com/office/powerpoint/2010/main" val="2150320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17</a:t>
            </a:fld>
            <a:endParaRPr lang="en-US" noProof="0" dirty="0"/>
          </a:p>
        </p:txBody>
      </p:sp>
      <p:sp>
        <p:nvSpPr>
          <p:cNvPr id="3" name="Content Placeholder 2"/>
          <p:cNvSpPr>
            <a:spLocks noGrp="1"/>
          </p:cNvSpPr>
          <p:nvPr>
            <p:ph idx="1"/>
          </p:nvPr>
        </p:nvSpPr>
        <p:spPr>
          <a:xfrm>
            <a:off x="187037" y="1825625"/>
            <a:ext cx="6151418" cy="4637582"/>
          </a:xfrm>
        </p:spPr>
        <p:txBody>
          <a:bodyPr>
            <a:normAutofit fontScale="92500" lnSpcReduction="10000"/>
          </a:bodyPr>
          <a:lstStyle/>
          <a:p>
            <a:pPr algn="just"/>
            <a:r>
              <a:rPr lang="en-US" sz="2800" dirty="0">
                <a:latin typeface="Palatino Linotype" panose="02040502050505030304" pitchFamily="18" charset="0"/>
              </a:rPr>
              <a:t>The pixels, although randomly distributed, can be supposed to lie on closely spaced horizontal lines on a picture frame to simplify for understanding.</a:t>
            </a:r>
          </a:p>
          <a:p>
            <a:pPr algn="just"/>
            <a:r>
              <a:rPr lang="en-US" sz="2800" dirty="0">
                <a:latin typeface="Palatino Linotype" panose="02040502050505030304" pitchFamily="18" charset="0"/>
              </a:rPr>
              <a:t>In the picture shown, there are 18 horizontal lines, and therefore there are 18 pixels on a vertical line.</a:t>
            </a:r>
          </a:p>
          <a:p>
            <a:pPr algn="just"/>
            <a:r>
              <a:rPr lang="en-US" sz="2800" dirty="0">
                <a:latin typeface="Palatino Linotype" panose="02040502050505030304" pitchFamily="18" charset="0"/>
              </a:rPr>
              <a:t>As the aspect ratio is 4:3, there would be 18 x 4/3 = 24 pixels on a horizontal line.</a:t>
            </a:r>
          </a:p>
          <a:p>
            <a:pPr algn="just"/>
            <a:r>
              <a:rPr lang="en-US" sz="2800" dirty="0">
                <a:latin typeface="Palatino Linotype" panose="02040502050505030304" pitchFamily="18" charset="0"/>
              </a:rPr>
              <a:t>The total number of pixels on the screen will be 18 x 24 = 432.</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Picture Elements</a:t>
            </a:r>
          </a:p>
        </p:txBody>
      </p:sp>
      <p:pic>
        <p:nvPicPr>
          <p:cNvPr id="5" name="Picture 4"/>
          <p:cNvPicPr>
            <a:picLocks noChangeAspect="1"/>
          </p:cNvPicPr>
          <p:nvPr/>
        </p:nvPicPr>
        <p:blipFill rotWithShape="1">
          <a:blip r:embed="rId2"/>
          <a:srcRect l="3687"/>
          <a:stretch/>
        </p:blipFill>
        <p:spPr>
          <a:xfrm>
            <a:off x="6552342" y="2626482"/>
            <a:ext cx="5556530" cy="3497758"/>
          </a:xfrm>
          <a:prstGeom prst="rect">
            <a:avLst/>
          </a:prstGeom>
          <a:ln>
            <a:solidFill>
              <a:schemeClr val="accent1"/>
            </a:solidFill>
          </a:ln>
          <a:effectLst>
            <a:outerShdw blurRad="190500" algn="tl" rotWithShape="0">
              <a:srgbClr val="000000">
                <a:alpha val="70000"/>
              </a:srgbClr>
            </a:outerShdw>
          </a:effectLst>
        </p:spPr>
      </p:pic>
    </p:spTree>
    <p:extLst>
      <p:ext uri="{BB962C8B-B14F-4D97-AF65-F5344CB8AC3E}">
        <p14:creationId xmlns:p14="http://schemas.microsoft.com/office/powerpoint/2010/main" val="2465040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18</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In practice, there are 625 scanning lines in European system of television and 525 lines in American system. </a:t>
            </a:r>
          </a:p>
          <a:p>
            <a:pPr algn="just"/>
            <a:r>
              <a:rPr lang="en-US" sz="2800" dirty="0">
                <a:latin typeface="Palatino Linotype" panose="02040502050505030304" pitchFamily="18" charset="0"/>
              </a:rPr>
              <a:t>Hence maximum number of pixels in European system would be 625 × 625 × 4/3 = 520,833, and in American System, 525 x 525 x 4/3 = 367,500.</a:t>
            </a:r>
          </a:p>
          <a:p>
            <a:pPr algn="just"/>
            <a:r>
              <a:rPr lang="en-US" sz="2800" dirty="0">
                <a:latin typeface="Palatino Linotype" panose="02040502050505030304" pitchFamily="18" charset="0"/>
              </a:rPr>
              <a:t>In actual practice, pixels that contribute to the reproduction of a picture are much less than the above values (about 223,000 in European system and about 152,000 in American System) due to loss of some lines in blanking.</a:t>
            </a:r>
          </a:p>
          <a:p>
            <a:pPr algn="just"/>
            <a:r>
              <a:rPr lang="en-US" sz="2800" dirty="0">
                <a:latin typeface="Palatino Linotype" panose="02040502050505030304" pitchFamily="18" charset="0"/>
              </a:rPr>
              <a:t>The concept of blanking will be explained in later lectures.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Picture Elements</a:t>
            </a:r>
          </a:p>
        </p:txBody>
      </p:sp>
    </p:spTree>
    <p:extLst>
      <p:ext uri="{BB962C8B-B14F-4D97-AF65-F5344CB8AC3E}">
        <p14:creationId xmlns:p14="http://schemas.microsoft.com/office/powerpoint/2010/main" val="2825839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19</a:t>
            </a:fld>
            <a:endParaRPr lang="en-US" noProof="0" dirty="0"/>
          </a:p>
        </p:txBody>
      </p:sp>
      <p:sp>
        <p:nvSpPr>
          <p:cNvPr id="3" name="Content Placeholder 2"/>
          <p:cNvSpPr>
            <a:spLocks noGrp="1"/>
          </p:cNvSpPr>
          <p:nvPr>
            <p:ph idx="1"/>
          </p:nvPr>
        </p:nvSpPr>
        <p:spPr>
          <a:xfrm>
            <a:off x="363416" y="1683327"/>
            <a:ext cx="11465168" cy="4493636"/>
          </a:xfrm>
          <a:ln>
            <a:solidFill>
              <a:schemeClr val="accent1"/>
            </a:solidFill>
          </a:ln>
        </p:spPr>
        <p:txBody>
          <a:bodyPr>
            <a:normAutofit lnSpcReduction="10000"/>
          </a:bodyPr>
          <a:lstStyle/>
          <a:p>
            <a:pPr algn="just"/>
            <a:r>
              <a:rPr lang="en-US" sz="2800" dirty="0">
                <a:latin typeface="Palatino Linotype" panose="02040502050505030304" pitchFamily="18" charset="0"/>
              </a:rPr>
              <a:t>Closely spaced small objects or small distinct features in a picture form details. </a:t>
            </a:r>
          </a:p>
          <a:p>
            <a:pPr algn="just"/>
            <a:r>
              <a:rPr lang="en-US" sz="2800" dirty="0">
                <a:latin typeface="Palatino Linotype" panose="02040502050505030304" pitchFamily="18" charset="0"/>
              </a:rPr>
              <a:t>Smaller the objects or features visible distinctly, higher is the resolution of the details or finer are the details being seen.</a:t>
            </a:r>
          </a:p>
          <a:p>
            <a:pPr algn="just"/>
            <a:r>
              <a:rPr lang="en-US" sz="2800" dirty="0">
                <a:latin typeface="Palatino Linotype" panose="02040502050505030304" pitchFamily="18" charset="0"/>
              </a:rPr>
              <a:t>The ability to see the fine details in a picture is called </a:t>
            </a:r>
            <a:r>
              <a:rPr lang="en-US" sz="2800" b="1" dirty="0">
                <a:solidFill>
                  <a:schemeClr val="accent1"/>
                </a:solidFill>
                <a:latin typeface="Palatino Linotype" panose="02040502050505030304" pitchFamily="18" charset="0"/>
              </a:rPr>
              <a:t>resolution</a:t>
            </a:r>
            <a:r>
              <a:rPr lang="en-US" sz="2800" dirty="0">
                <a:latin typeface="Palatino Linotype" panose="02040502050505030304" pitchFamily="18" charset="0"/>
              </a:rPr>
              <a:t>.</a:t>
            </a:r>
          </a:p>
          <a:p>
            <a:pPr algn="just"/>
            <a:r>
              <a:rPr lang="en-US" sz="2800" dirty="0">
                <a:latin typeface="Palatino Linotype" panose="02040502050505030304" pitchFamily="18" charset="0"/>
              </a:rPr>
              <a:t>A pixel in a picture represents a very small area (almost point size) which possesses the characteristic brightness and colour at that point. </a:t>
            </a:r>
          </a:p>
          <a:p>
            <a:pPr algn="just"/>
            <a:r>
              <a:rPr lang="en-US" sz="2800" dirty="0">
                <a:latin typeface="Palatino Linotype" panose="02040502050505030304" pitchFamily="18" charset="0"/>
              </a:rPr>
              <a:t>High resolution or high frequency of variation produces pictures of sharp outlines. </a:t>
            </a:r>
          </a:p>
          <a:p>
            <a:pPr algn="just"/>
            <a:r>
              <a:rPr lang="en-US" sz="2800" dirty="0">
                <a:latin typeface="Palatino Linotype" panose="02040502050505030304" pitchFamily="18" charset="0"/>
              </a:rPr>
              <a:t>When the edges of a reproduced picture are defined sharply, the picture is said to be well defined or sharp.</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Details and Resolution</a:t>
            </a:r>
          </a:p>
        </p:txBody>
      </p:sp>
    </p:spTree>
    <p:extLst>
      <p:ext uri="{BB962C8B-B14F-4D97-AF65-F5344CB8AC3E}">
        <p14:creationId xmlns:p14="http://schemas.microsoft.com/office/powerpoint/2010/main" val="399869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20</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Human eye has resolution of 1 minute (or 1/60 degree).</a:t>
            </a:r>
          </a:p>
          <a:p>
            <a:pPr algn="just"/>
            <a:r>
              <a:rPr lang="en-US" sz="2800" dirty="0">
                <a:latin typeface="Palatino Linotype" panose="02040502050505030304" pitchFamily="18" charset="0"/>
              </a:rPr>
              <a:t>This means that, if two closely spaced objects form a minimum angle of 1 minute at the eye, they would be distinctly visible.</a:t>
            </a:r>
          </a:p>
          <a:p>
            <a:pPr algn="just"/>
            <a:r>
              <a:rPr lang="en-US" sz="2800" dirty="0">
                <a:latin typeface="Palatino Linotype" panose="02040502050505030304" pitchFamily="18" charset="0"/>
              </a:rPr>
              <a:t>For smaller angles, the two objects would appear as merged with each other. </a:t>
            </a:r>
          </a:p>
          <a:p>
            <a:pPr algn="just"/>
            <a:r>
              <a:rPr lang="en-US" sz="2800" dirty="0">
                <a:latin typeface="Palatino Linotype" panose="02040502050505030304" pitchFamily="18" charset="0"/>
              </a:rPr>
              <a:t>The angle subtended at the eye will depend on two factors.</a:t>
            </a:r>
          </a:p>
          <a:p>
            <a:pPr marL="971550" lvl="1" indent="-514350" algn="just">
              <a:buFont typeface="+mj-lt"/>
              <a:buAutoNum type="arabicParenR"/>
            </a:pPr>
            <a:r>
              <a:rPr lang="en-US" sz="2600" dirty="0">
                <a:latin typeface="Palatino Linotype" panose="02040502050505030304" pitchFamily="18" charset="0"/>
              </a:rPr>
              <a:t>The space, S, between the objects.</a:t>
            </a:r>
          </a:p>
          <a:p>
            <a:pPr marL="971550" lvl="1" indent="-514350" algn="just">
              <a:buFont typeface="+mj-lt"/>
              <a:buAutoNum type="arabicParenR"/>
            </a:pPr>
            <a:r>
              <a:rPr lang="en-US" sz="2600" dirty="0">
                <a:latin typeface="Palatino Linotype" panose="02040502050505030304" pitchFamily="18" charset="0"/>
              </a:rPr>
              <a:t>The distance, D, from which the objects are being seen.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Visual Acuteness and Viewing Distance</a:t>
            </a:r>
          </a:p>
        </p:txBody>
      </p:sp>
    </p:spTree>
    <p:extLst>
      <p:ext uri="{BB962C8B-B14F-4D97-AF65-F5344CB8AC3E}">
        <p14:creationId xmlns:p14="http://schemas.microsoft.com/office/powerpoint/2010/main" val="1386748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21</a:t>
            </a:fld>
            <a:endParaRPr lang="en-US" noProof="0" dirty="0"/>
          </a:p>
        </p:txBody>
      </p:sp>
      <p:sp>
        <p:nvSpPr>
          <p:cNvPr id="3" name="Content Placeholder 2"/>
          <p:cNvSpPr>
            <a:spLocks noGrp="1"/>
          </p:cNvSpPr>
          <p:nvPr>
            <p:ph idx="1"/>
          </p:nvPr>
        </p:nvSpPr>
        <p:spPr>
          <a:xfrm>
            <a:off x="363416" y="1721716"/>
            <a:ext cx="11465168" cy="751320"/>
          </a:xfrm>
        </p:spPr>
        <p:txBody>
          <a:bodyPr>
            <a:normAutofit/>
          </a:bodyPr>
          <a:lstStyle/>
          <a:p>
            <a:pPr algn="just"/>
            <a:r>
              <a:rPr lang="en-US" sz="2800" dirty="0">
                <a:latin typeface="Palatino Linotype" panose="02040502050505030304" pitchFamily="18" charset="0"/>
              </a:rPr>
              <a:t>For clear resolution, S/D is given by the equation derived as follows.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Visual Acuteness and Viewing Distance</a:t>
            </a:r>
          </a:p>
        </p:txBody>
      </p:sp>
      <p:grpSp>
        <p:nvGrpSpPr>
          <p:cNvPr id="7" name="Group 6"/>
          <p:cNvGrpSpPr/>
          <p:nvPr/>
        </p:nvGrpSpPr>
        <p:grpSpPr>
          <a:xfrm>
            <a:off x="242075" y="2538957"/>
            <a:ext cx="11738910" cy="3259169"/>
            <a:chOff x="242075" y="3141632"/>
            <a:chExt cx="11738910" cy="3259169"/>
          </a:xfrm>
        </p:grpSpPr>
        <p:pic>
          <p:nvPicPr>
            <p:cNvPr id="5" name="Picture 4"/>
            <p:cNvPicPr>
              <a:picLocks noChangeAspect="1"/>
            </p:cNvPicPr>
            <p:nvPr/>
          </p:nvPicPr>
          <p:blipFill>
            <a:blip r:embed="rId2"/>
            <a:stretch>
              <a:fillRect/>
            </a:stretch>
          </p:blipFill>
          <p:spPr>
            <a:xfrm>
              <a:off x="242075" y="3588013"/>
              <a:ext cx="3935099" cy="1754502"/>
            </a:xfrm>
            <a:prstGeom prst="rect">
              <a:avLst/>
            </a:prstGeom>
          </p:spPr>
        </p:pic>
        <p:pic>
          <p:nvPicPr>
            <p:cNvPr id="6" name="Picture 5"/>
            <p:cNvPicPr>
              <a:picLocks noChangeAspect="1"/>
            </p:cNvPicPr>
            <p:nvPr/>
          </p:nvPicPr>
          <p:blipFill>
            <a:blip r:embed="rId3"/>
            <a:stretch>
              <a:fillRect/>
            </a:stretch>
          </p:blipFill>
          <p:spPr>
            <a:xfrm>
              <a:off x="4328240" y="3141632"/>
              <a:ext cx="7652745" cy="3259169"/>
            </a:xfrm>
            <a:prstGeom prst="rect">
              <a:avLst/>
            </a:prstGeom>
          </p:spPr>
        </p:pic>
      </p:grpSp>
      <p:sp>
        <p:nvSpPr>
          <p:cNvPr id="8" name="Content Placeholder 2"/>
          <p:cNvSpPr txBox="1">
            <a:spLocks/>
          </p:cNvSpPr>
          <p:nvPr/>
        </p:nvSpPr>
        <p:spPr>
          <a:xfrm>
            <a:off x="363416" y="5864047"/>
            <a:ext cx="11465168" cy="74457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This equation will give the minimum resolvable gap S between objects and hence will give the required number of pixels</a:t>
            </a:r>
          </a:p>
        </p:txBody>
      </p:sp>
    </p:spTree>
    <p:extLst>
      <p:ext uri="{BB962C8B-B14F-4D97-AF65-F5344CB8AC3E}">
        <p14:creationId xmlns:p14="http://schemas.microsoft.com/office/powerpoint/2010/main" val="3817256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22</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02</a:t>
            </a:r>
          </a:p>
        </p:txBody>
      </p:sp>
      <p:pic>
        <p:nvPicPr>
          <p:cNvPr id="5" name="Picture 4"/>
          <p:cNvPicPr>
            <a:picLocks noChangeAspect="1"/>
          </p:cNvPicPr>
          <p:nvPr/>
        </p:nvPicPr>
        <p:blipFill>
          <a:blip r:embed="rId2"/>
          <a:stretch>
            <a:fillRect/>
          </a:stretch>
        </p:blipFill>
        <p:spPr>
          <a:xfrm>
            <a:off x="363416" y="1968299"/>
            <a:ext cx="11556540" cy="1876338"/>
          </a:xfrm>
          <a:prstGeom prst="rect">
            <a:avLst/>
          </a:prstGeom>
        </p:spPr>
      </p:pic>
    </p:spTree>
    <p:extLst>
      <p:ext uri="{BB962C8B-B14F-4D97-AF65-F5344CB8AC3E}">
        <p14:creationId xmlns:p14="http://schemas.microsoft.com/office/powerpoint/2010/main" val="2128034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23</a:t>
            </a:fld>
            <a:endParaRPr lang="en-US" noProof="0" dirty="0"/>
          </a:p>
        </p:txBody>
      </p:sp>
      <p:sp>
        <p:nvSpPr>
          <p:cNvPr id="3" name="Content Placeholder 2"/>
          <p:cNvSpPr>
            <a:spLocks noGrp="1"/>
          </p:cNvSpPr>
          <p:nvPr>
            <p:ph idx="1"/>
          </p:nvPr>
        </p:nvSpPr>
        <p:spPr>
          <a:xfrm>
            <a:off x="155596" y="1638587"/>
            <a:ext cx="11828584" cy="501939"/>
          </a:xfrm>
        </p:spPr>
        <p:txBody>
          <a:bodyPr>
            <a:normAutofit/>
          </a:bodyPr>
          <a:lstStyle/>
          <a:p>
            <a:pPr algn="just"/>
            <a:r>
              <a:rPr lang="en-US" sz="2800" dirty="0">
                <a:latin typeface="Palatino Linotype" panose="02040502050505030304" pitchFamily="18" charset="0"/>
              </a:rPr>
              <a:t>Calculate the number of pixels in 50 cm size TV screen for Example 02.</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03</a:t>
            </a:r>
          </a:p>
        </p:txBody>
      </p:sp>
      <p:grpSp>
        <p:nvGrpSpPr>
          <p:cNvPr id="7" name="Group 6"/>
          <p:cNvGrpSpPr/>
          <p:nvPr/>
        </p:nvGrpSpPr>
        <p:grpSpPr>
          <a:xfrm>
            <a:off x="599772" y="2409235"/>
            <a:ext cx="8705865" cy="4199381"/>
            <a:chOff x="599772" y="2409235"/>
            <a:chExt cx="8705865" cy="4199381"/>
          </a:xfrm>
        </p:grpSpPr>
        <p:pic>
          <p:nvPicPr>
            <p:cNvPr id="5" name="Picture 4"/>
            <p:cNvPicPr>
              <a:picLocks noChangeAspect="1"/>
            </p:cNvPicPr>
            <p:nvPr/>
          </p:nvPicPr>
          <p:blipFill>
            <a:blip r:embed="rId2"/>
            <a:stretch>
              <a:fillRect/>
            </a:stretch>
          </p:blipFill>
          <p:spPr>
            <a:xfrm>
              <a:off x="599772" y="2409235"/>
              <a:ext cx="8705865" cy="546647"/>
            </a:xfrm>
            <a:prstGeom prst="rect">
              <a:avLst/>
            </a:prstGeom>
          </p:spPr>
        </p:pic>
        <p:pic>
          <p:nvPicPr>
            <p:cNvPr id="6" name="Picture 5"/>
            <p:cNvPicPr>
              <a:picLocks noChangeAspect="1"/>
            </p:cNvPicPr>
            <p:nvPr/>
          </p:nvPicPr>
          <p:blipFill>
            <a:blip r:embed="rId3"/>
            <a:stretch>
              <a:fillRect/>
            </a:stretch>
          </p:blipFill>
          <p:spPr>
            <a:xfrm>
              <a:off x="1030655" y="3101602"/>
              <a:ext cx="7685122" cy="3507014"/>
            </a:xfrm>
            <a:prstGeom prst="rect">
              <a:avLst/>
            </a:prstGeom>
          </p:spPr>
        </p:pic>
      </p:grpSp>
    </p:spTree>
    <p:extLst>
      <p:ext uri="{BB962C8B-B14F-4D97-AF65-F5344CB8AC3E}">
        <p14:creationId xmlns:p14="http://schemas.microsoft.com/office/powerpoint/2010/main" val="1846397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24</a:t>
            </a:fld>
            <a:endParaRPr lang="en-US" noProof="0" dirty="0"/>
          </a:p>
        </p:txBody>
      </p:sp>
      <p:sp>
        <p:nvSpPr>
          <p:cNvPr id="3" name="Content Placeholder 2"/>
          <p:cNvSpPr>
            <a:spLocks noGrp="1"/>
          </p:cNvSpPr>
          <p:nvPr>
            <p:ph idx="1"/>
          </p:nvPr>
        </p:nvSpPr>
        <p:spPr>
          <a:xfrm>
            <a:off x="363416" y="1825624"/>
            <a:ext cx="11465168" cy="4886967"/>
          </a:xfrm>
        </p:spPr>
        <p:txBody>
          <a:bodyPr>
            <a:normAutofit/>
          </a:bodyPr>
          <a:lstStyle/>
          <a:p>
            <a:pPr algn="just"/>
            <a:r>
              <a:rPr lang="en-US" sz="2800" dirty="0">
                <a:latin typeface="Palatino Linotype" panose="02040502050505030304" pitchFamily="18" charset="0"/>
              </a:rPr>
              <a:t>Although l’ angle criteria gives maximum resolution, it is not necessary to see a picture with maximum resolution.</a:t>
            </a:r>
          </a:p>
          <a:p>
            <a:pPr algn="just"/>
            <a:r>
              <a:rPr lang="en-US" sz="2800" dirty="0">
                <a:latin typeface="Palatino Linotype" panose="02040502050505030304" pitchFamily="18" charset="0"/>
              </a:rPr>
              <a:t>Viewing distance should be such that the diagonal of the screen should subtend an angle of 10 - 15˚ at the eyes for comfortable viewing.</a:t>
            </a:r>
          </a:p>
          <a:p>
            <a:pPr algn="just"/>
            <a:r>
              <a:rPr lang="en-US" sz="2800" dirty="0">
                <a:latin typeface="Palatino Linotype" panose="02040502050505030304" pitchFamily="18" charset="0"/>
              </a:rPr>
              <a:t>This gives the viewing range of 2 – 3 m for a 50 cm size TV receiver.</a:t>
            </a:r>
          </a:p>
          <a:p>
            <a:pPr algn="just"/>
            <a:r>
              <a:rPr lang="en-US" sz="2800" dirty="0">
                <a:latin typeface="Palatino Linotype" panose="02040502050505030304" pitchFamily="18" charset="0"/>
              </a:rPr>
              <a:t>As the number of pixels are the same in TV receivers of different sizes, the space S between adjacent pixels will be less in smaller size screens and hence the viewing distance will be smaller.</a:t>
            </a:r>
          </a:p>
          <a:p>
            <a:pPr algn="just"/>
            <a:r>
              <a:rPr lang="en-US" sz="2800" dirty="0">
                <a:latin typeface="Palatino Linotype" panose="02040502050505030304" pitchFamily="18" charset="0"/>
              </a:rPr>
              <a:t>With the aspect ratio of 4:3, the viewing distance of 6 to 8 times the height of the screen is considered satisfactory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Visual Acuteness and Viewing Distance</a:t>
            </a:r>
          </a:p>
        </p:txBody>
      </p:sp>
    </p:spTree>
    <p:extLst>
      <p:ext uri="{BB962C8B-B14F-4D97-AF65-F5344CB8AC3E}">
        <p14:creationId xmlns:p14="http://schemas.microsoft.com/office/powerpoint/2010/main" val="808225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25</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Viewing distance will also depend upon the brightness of a picture.</a:t>
            </a:r>
          </a:p>
          <a:p>
            <a:pPr algn="just"/>
            <a:r>
              <a:rPr lang="en-US" sz="2800" dirty="0">
                <a:latin typeface="Palatino Linotype" panose="02040502050505030304" pitchFamily="18" charset="0"/>
              </a:rPr>
              <a:t>In American TVs, pictures are brighter than Indian TVs.</a:t>
            </a:r>
          </a:p>
          <a:p>
            <a:pPr algn="just"/>
            <a:r>
              <a:rPr lang="en-US" sz="2800" dirty="0">
                <a:latin typeface="Palatino Linotype" panose="02040502050505030304" pitchFamily="18" charset="0"/>
              </a:rPr>
              <a:t>Hence viewing distance for the American TVs can be more and therefore spaces between pixels can be greater.</a:t>
            </a:r>
          </a:p>
          <a:p>
            <a:pPr algn="just"/>
            <a:r>
              <a:rPr lang="en-US" sz="2800" dirty="0">
                <a:latin typeface="Palatino Linotype" panose="02040502050505030304" pitchFamily="18" charset="0"/>
              </a:rPr>
              <a:t>This, in turn, means that the number of pixels is smaller and hence the number of scanning lines per frame is also smaller. </a:t>
            </a:r>
          </a:p>
          <a:p>
            <a:pPr algn="just"/>
            <a:r>
              <a:rPr lang="en-US" sz="2800" dirty="0">
                <a:latin typeface="Palatino Linotype" panose="02040502050505030304" pitchFamily="18" charset="0"/>
              </a:rPr>
              <a:t>This is the reason why the American TV system has 525 lines per frame while the Indian system has 625 lines per frame.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Visual Acuteness and Viewing Distance</a:t>
            </a:r>
          </a:p>
        </p:txBody>
      </p:sp>
    </p:spTree>
    <p:extLst>
      <p:ext uri="{BB962C8B-B14F-4D97-AF65-F5344CB8AC3E}">
        <p14:creationId xmlns:p14="http://schemas.microsoft.com/office/powerpoint/2010/main" val="3357120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26</a:t>
            </a:fld>
            <a:endParaRPr lang="en-US" noProof="0" dirty="0"/>
          </a:p>
        </p:txBody>
      </p:sp>
      <p:sp>
        <p:nvSpPr>
          <p:cNvPr id="3" name="Content Placeholder 2"/>
          <p:cNvSpPr>
            <a:spLocks noGrp="1"/>
          </p:cNvSpPr>
          <p:nvPr>
            <p:ph idx="1"/>
          </p:nvPr>
        </p:nvSpPr>
        <p:spPr>
          <a:xfrm>
            <a:off x="363416" y="1662546"/>
            <a:ext cx="11465168" cy="5050046"/>
          </a:xfrm>
        </p:spPr>
        <p:txBody>
          <a:bodyPr>
            <a:normAutofit lnSpcReduction="10000"/>
          </a:bodyPr>
          <a:lstStyle/>
          <a:p>
            <a:pPr algn="just"/>
            <a:r>
              <a:rPr lang="en-US" sz="2800" dirty="0">
                <a:latin typeface="Palatino Linotype" panose="02040502050505030304" pitchFamily="18" charset="0"/>
              </a:rPr>
              <a:t>When the eye sees light, it continues to see it for about 60 </a:t>
            </a:r>
            <a:r>
              <a:rPr lang="en-US" sz="2800" dirty="0" err="1">
                <a:latin typeface="Palatino Linotype" panose="02040502050505030304" pitchFamily="18" charset="0"/>
              </a:rPr>
              <a:t>ms</a:t>
            </a:r>
            <a:r>
              <a:rPr lang="en-US" sz="2800" dirty="0">
                <a:latin typeface="Palatino Linotype" panose="02040502050505030304" pitchFamily="18" charset="0"/>
              </a:rPr>
              <a:t> after the light source is removed. </a:t>
            </a:r>
          </a:p>
          <a:p>
            <a:pPr algn="just"/>
            <a:r>
              <a:rPr lang="en-US" sz="2800" dirty="0">
                <a:latin typeface="Palatino Linotype" panose="02040502050505030304" pitchFamily="18" charset="0"/>
              </a:rPr>
              <a:t>This property of the eye is called persistence of vision. </a:t>
            </a:r>
          </a:p>
          <a:p>
            <a:pPr algn="just"/>
            <a:r>
              <a:rPr lang="en-US" sz="2800" dirty="0">
                <a:latin typeface="Palatino Linotype" panose="02040502050505030304" pitchFamily="18" charset="0"/>
              </a:rPr>
              <a:t>It has been possible to see movie pictures because of this property of the eyes. </a:t>
            </a:r>
          </a:p>
          <a:p>
            <a:pPr algn="just"/>
            <a:r>
              <a:rPr lang="en-US" sz="2800" dirty="0">
                <a:latin typeface="Palatino Linotype" panose="02040502050505030304" pitchFamily="18" charset="0"/>
              </a:rPr>
              <a:t>Due to persistence of vision, we see the continuous motion in movie pictures, and similarly in television.</a:t>
            </a:r>
          </a:p>
          <a:p>
            <a:pPr algn="just"/>
            <a:r>
              <a:rPr lang="en-US" sz="2800" dirty="0">
                <a:latin typeface="Palatino Linotype" panose="02040502050505030304" pitchFamily="18" charset="0"/>
              </a:rPr>
              <a:t>The picture frames displayed on a TV screen change one after the other faster than persistence of vision. </a:t>
            </a:r>
          </a:p>
          <a:p>
            <a:pPr algn="just"/>
            <a:r>
              <a:rPr lang="en-US" sz="2800" dirty="0">
                <a:latin typeface="Palatino Linotype" panose="02040502050505030304" pitchFamily="18" charset="0"/>
              </a:rPr>
              <a:t>Display of each complete frame takes only 40 </a:t>
            </a:r>
            <a:r>
              <a:rPr lang="en-US" sz="2800" dirty="0" err="1">
                <a:latin typeface="Palatino Linotype" panose="02040502050505030304" pitchFamily="18" charset="0"/>
              </a:rPr>
              <a:t>ms</a:t>
            </a:r>
            <a:r>
              <a:rPr lang="en-US" sz="2800" dirty="0">
                <a:latin typeface="Palatino Linotype" panose="02040502050505030304" pitchFamily="18" charset="0"/>
              </a:rPr>
              <a:t> in Indian system of 25 frames per second and about 33 </a:t>
            </a:r>
            <a:r>
              <a:rPr lang="en-US" sz="2800" dirty="0" err="1">
                <a:latin typeface="Palatino Linotype" panose="02040502050505030304" pitchFamily="18" charset="0"/>
              </a:rPr>
              <a:t>ms</a:t>
            </a:r>
            <a:r>
              <a:rPr lang="en-US" sz="2800" dirty="0">
                <a:latin typeface="Palatino Linotype" panose="02040502050505030304" pitchFamily="18" charset="0"/>
              </a:rPr>
              <a:t> in American system of 30 frames per second, while persistence of vision is 60 </a:t>
            </a:r>
            <a:r>
              <a:rPr lang="en-US" sz="2800" dirty="0" err="1">
                <a:latin typeface="Palatino Linotype" panose="02040502050505030304" pitchFamily="18" charset="0"/>
              </a:rPr>
              <a:t>ms.</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Persistence of Vision</a:t>
            </a:r>
          </a:p>
        </p:txBody>
      </p:sp>
    </p:spTree>
    <p:extLst>
      <p:ext uri="{BB962C8B-B14F-4D97-AF65-F5344CB8AC3E}">
        <p14:creationId xmlns:p14="http://schemas.microsoft.com/office/powerpoint/2010/main" val="3690896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27</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Time of persistence of vision is more for darkness than for bright light. </a:t>
            </a:r>
          </a:p>
          <a:p>
            <a:pPr algn="just"/>
            <a:r>
              <a:rPr lang="en-US" sz="2800" dirty="0">
                <a:latin typeface="Palatino Linotype" panose="02040502050505030304" pitchFamily="18" charset="0"/>
              </a:rPr>
              <a:t>This results in a phenomenon called </a:t>
            </a:r>
            <a:r>
              <a:rPr lang="en-US" sz="2800" b="1" dirty="0">
                <a:solidFill>
                  <a:schemeClr val="accent1"/>
                </a:solidFill>
                <a:latin typeface="Palatino Linotype" panose="02040502050505030304" pitchFamily="18" charset="0"/>
              </a:rPr>
              <a:t>flicker.</a:t>
            </a:r>
          </a:p>
          <a:p>
            <a:pPr algn="just"/>
            <a:r>
              <a:rPr lang="en-US" sz="2800" dirty="0">
                <a:latin typeface="Palatino Linotype" panose="02040502050505030304" pitchFamily="18" charset="0"/>
              </a:rPr>
              <a:t>It means that, dark intervals between bright pictures become visible for a very short time and appear as flicker.</a:t>
            </a:r>
          </a:p>
          <a:p>
            <a:pPr algn="just"/>
            <a:r>
              <a:rPr lang="en-US" sz="2800" dirty="0">
                <a:latin typeface="Palatino Linotype" panose="02040502050505030304" pitchFamily="18" charset="0"/>
              </a:rPr>
              <a:t>In Television, the problem of flicker is eliminated by a technique called </a:t>
            </a:r>
            <a:r>
              <a:rPr lang="en-US" sz="2800" b="1" dirty="0">
                <a:solidFill>
                  <a:schemeClr val="accent1"/>
                </a:solidFill>
                <a:latin typeface="Palatino Linotype" panose="02040502050505030304" pitchFamily="18" charset="0"/>
              </a:rPr>
              <a:t>interlaced scanning</a:t>
            </a:r>
            <a:r>
              <a:rPr lang="en-US" sz="2800" dirty="0">
                <a:latin typeface="Palatino Linotype" panose="02040502050505030304" pitchFamily="18" charset="0"/>
              </a:rPr>
              <a:t>, the concept that will be explained in later lectures.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Flicker</a:t>
            </a:r>
          </a:p>
        </p:txBody>
      </p:sp>
    </p:spTree>
    <p:extLst>
      <p:ext uri="{BB962C8B-B14F-4D97-AF65-F5344CB8AC3E}">
        <p14:creationId xmlns:p14="http://schemas.microsoft.com/office/powerpoint/2010/main" val="1382138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28</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Brightness in TV pictures is the average intensity of light. </a:t>
            </a:r>
          </a:p>
          <a:p>
            <a:pPr algn="just"/>
            <a:r>
              <a:rPr lang="en-US" sz="2800" dirty="0">
                <a:latin typeface="Palatino Linotype" panose="02040502050505030304" pitchFamily="18" charset="0"/>
              </a:rPr>
              <a:t>It determines the background level of illumination in the reproduced picture. </a:t>
            </a:r>
          </a:p>
          <a:p>
            <a:pPr algn="just"/>
            <a:r>
              <a:rPr lang="en-US" sz="2800" dirty="0">
                <a:latin typeface="Palatino Linotype" panose="02040502050505030304" pitchFamily="18" charset="0"/>
              </a:rPr>
              <a:t>The eye adapts itself to the average prevailing brightness and sees all variations with respect to this adapted value.</a:t>
            </a:r>
          </a:p>
          <a:p>
            <a:pPr algn="just"/>
            <a:r>
              <a:rPr lang="en-US" sz="2800" dirty="0">
                <a:latin typeface="Palatino Linotype" panose="02040502050505030304" pitchFamily="18" charset="0"/>
              </a:rPr>
              <a:t>In TV receivers, brightness (average illumination on the screen) can be increased or decreased by changing the dc bias between the control grid and cathode of the picture tube.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Brightness</a:t>
            </a:r>
          </a:p>
        </p:txBody>
      </p:sp>
    </p:spTree>
    <p:extLst>
      <p:ext uri="{BB962C8B-B14F-4D97-AF65-F5344CB8AC3E}">
        <p14:creationId xmlns:p14="http://schemas.microsoft.com/office/powerpoint/2010/main" val="1300234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29</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While a TV picture may have an overall average level of brightness, the illumination of any individual pixels on the screen may vary from one pixel to the other. </a:t>
            </a:r>
          </a:p>
          <a:p>
            <a:pPr algn="just"/>
            <a:r>
              <a:rPr lang="en-US" sz="2800" dirty="0">
                <a:latin typeface="Palatino Linotype" panose="02040502050505030304" pitchFamily="18" charset="0"/>
              </a:rPr>
              <a:t>Variation from pixel to pixel is called </a:t>
            </a:r>
            <a:r>
              <a:rPr lang="en-US" sz="2800" b="1" dirty="0">
                <a:solidFill>
                  <a:schemeClr val="accent1"/>
                </a:solidFill>
                <a:latin typeface="Palatino Linotype" panose="02040502050505030304" pitchFamily="18" charset="0"/>
              </a:rPr>
              <a:t>tonal gradation. </a:t>
            </a:r>
          </a:p>
          <a:p>
            <a:pPr algn="just"/>
            <a:r>
              <a:rPr lang="en-US" sz="2800" dirty="0">
                <a:latin typeface="Palatino Linotype" panose="02040502050505030304" pitchFamily="18" charset="0"/>
              </a:rPr>
              <a:t>If the whole picture is of one intensity (say white screen), there is no variation and hence rate of variation is zero. </a:t>
            </a:r>
          </a:p>
          <a:p>
            <a:pPr algn="just"/>
            <a:r>
              <a:rPr lang="en-US" sz="2800" dirty="0">
                <a:latin typeface="Palatino Linotype" panose="02040502050505030304" pitchFamily="18" charset="0"/>
              </a:rPr>
              <a:t>If the intensity changes from one pixel to the next (adjacent) pixel, the rate of variation of intensity is maximum.</a:t>
            </a:r>
          </a:p>
          <a:p>
            <a:pPr algn="just"/>
            <a:r>
              <a:rPr lang="en-US" sz="2800" dirty="0">
                <a:latin typeface="Palatino Linotype" panose="02040502050505030304" pitchFamily="18" charset="0"/>
              </a:rPr>
              <a:t>This maximum rate of change of variation is the bandwidth of variation of light, and is about 5 </a:t>
            </a:r>
            <a:r>
              <a:rPr lang="en-US" sz="2800" dirty="0" err="1">
                <a:latin typeface="Palatino Linotype" panose="02040502050505030304" pitchFamily="18" charset="0"/>
              </a:rPr>
              <a:t>MHz.</a:t>
            </a:r>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Tonal Gradation </a:t>
            </a:r>
          </a:p>
        </p:txBody>
      </p:sp>
    </p:spTree>
    <p:extLst>
      <p:ext uri="{BB962C8B-B14F-4D97-AF65-F5344CB8AC3E}">
        <p14:creationId xmlns:p14="http://schemas.microsoft.com/office/powerpoint/2010/main" val="2226993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30</a:t>
            </a:fld>
            <a:endParaRPr lang="en-US" noProof="0" dirty="0"/>
          </a:p>
        </p:txBody>
      </p:sp>
      <p:sp>
        <p:nvSpPr>
          <p:cNvPr id="3" name="Content Placeholder 2"/>
          <p:cNvSpPr>
            <a:spLocks noGrp="1"/>
          </p:cNvSpPr>
          <p:nvPr>
            <p:ph idx="1"/>
          </p:nvPr>
        </p:nvSpPr>
        <p:spPr/>
        <p:txBody>
          <a:bodyPr>
            <a:normAutofit lnSpcReduction="10000"/>
          </a:bodyPr>
          <a:lstStyle/>
          <a:p>
            <a:pPr algn="just"/>
            <a:r>
              <a:rPr lang="en-US" sz="2800" dirty="0">
                <a:latin typeface="Palatino Linotype" panose="02040502050505030304" pitchFamily="18" charset="0"/>
              </a:rPr>
              <a:t>A TV picture has an overall average level of brightness. </a:t>
            </a:r>
          </a:p>
          <a:p>
            <a:pPr algn="just"/>
            <a:r>
              <a:rPr lang="en-US" sz="2800" dirty="0">
                <a:latin typeface="Palatino Linotype" panose="02040502050505030304" pitchFamily="18" charset="0"/>
              </a:rPr>
              <a:t>Illumination value of an individual pixel on the screen will vary above and below this average value. </a:t>
            </a:r>
          </a:p>
          <a:p>
            <a:pPr algn="just"/>
            <a:r>
              <a:rPr lang="en-US" sz="2800" dirty="0">
                <a:latin typeface="Palatino Linotype" panose="02040502050505030304" pitchFamily="18" charset="0"/>
              </a:rPr>
              <a:t>Thus illumination of a pixel will appear differently with different brightness of the background. </a:t>
            </a:r>
          </a:p>
          <a:p>
            <a:pPr algn="just"/>
            <a:r>
              <a:rPr lang="en-US" sz="2800" dirty="0">
                <a:latin typeface="Palatino Linotype" panose="02040502050505030304" pitchFamily="18" charset="0"/>
              </a:rPr>
              <a:t>For example, a white pixel will appear very white in contrast with black background (or low brightness), but will appear dull white in white background. </a:t>
            </a:r>
          </a:p>
          <a:p>
            <a:pPr algn="just"/>
            <a:r>
              <a:rPr lang="en-US" sz="2800" dirty="0">
                <a:latin typeface="Palatino Linotype" panose="02040502050505030304" pitchFamily="18" charset="0"/>
              </a:rPr>
              <a:t>The illumination value of a pixel </a:t>
            </a:r>
            <a:r>
              <a:rPr lang="en-US" sz="2800" dirty="0" err="1">
                <a:latin typeface="Palatino Linotype" panose="02040502050505030304" pitchFamily="18" charset="0"/>
              </a:rPr>
              <a:t>vis</a:t>
            </a:r>
            <a:r>
              <a:rPr lang="en-US" sz="2800" dirty="0">
                <a:latin typeface="Palatino Linotype" panose="02040502050505030304" pitchFamily="18" charset="0"/>
              </a:rPr>
              <a:t>-a-</a:t>
            </a:r>
            <a:r>
              <a:rPr lang="en-US" sz="2800" dirty="0" err="1">
                <a:latin typeface="Palatino Linotype" panose="02040502050505030304" pitchFamily="18" charset="0"/>
              </a:rPr>
              <a:t>vis</a:t>
            </a:r>
            <a:r>
              <a:rPr lang="en-US" sz="2800" dirty="0">
                <a:latin typeface="Palatino Linotype" panose="02040502050505030304" pitchFamily="18" charset="0"/>
              </a:rPr>
              <a:t> background illumination is called contrast.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Contrast</a:t>
            </a:r>
          </a:p>
        </p:txBody>
      </p:sp>
    </p:spTree>
    <p:extLst>
      <p:ext uri="{BB962C8B-B14F-4D97-AF65-F5344CB8AC3E}">
        <p14:creationId xmlns:p14="http://schemas.microsoft.com/office/powerpoint/2010/main" val="1485050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31</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Contrast is therefore defined as the luminance values between white and black.</a:t>
            </a:r>
          </a:p>
          <a:p>
            <a:pPr algn="just"/>
            <a:r>
              <a:rPr lang="en-US" sz="2800" dirty="0">
                <a:latin typeface="Palatino Linotype" panose="02040502050505030304" pitchFamily="18" charset="0"/>
              </a:rPr>
              <a:t>This difference will depend on the strength of the video signal responsible for glowing an individual pixel.</a:t>
            </a:r>
          </a:p>
          <a:p>
            <a:pPr algn="just"/>
            <a:r>
              <a:rPr lang="en-US" sz="2800" dirty="0">
                <a:latin typeface="Palatino Linotype" panose="02040502050505030304" pitchFamily="18" charset="0"/>
              </a:rPr>
              <a:t>The contrast control is located in the video signal amplifier.</a:t>
            </a:r>
          </a:p>
          <a:p>
            <a:pPr algn="just"/>
            <a:r>
              <a:rPr lang="en-US" sz="2800" dirty="0">
                <a:latin typeface="Palatino Linotype" panose="02040502050505030304" pitchFamily="18" charset="0"/>
              </a:rPr>
              <a:t>As contrast is the variation in brightness of individual pixels over the general average brightness of the whole screen, the two phenomena (contrast and brightness) are inter-related.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Contrast</a:t>
            </a:r>
          </a:p>
        </p:txBody>
      </p:sp>
    </p:spTree>
    <p:extLst>
      <p:ext uri="{BB962C8B-B14F-4D97-AF65-F5344CB8AC3E}">
        <p14:creationId xmlns:p14="http://schemas.microsoft.com/office/powerpoint/2010/main" val="236887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When general brightness level is increased, grey will appear black and so general contrast level will also increase. </a:t>
            </a:r>
          </a:p>
          <a:p>
            <a:pPr algn="just"/>
            <a:r>
              <a:rPr lang="en-US" sz="2800" dirty="0">
                <a:latin typeface="Palatino Linotype" panose="02040502050505030304" pitchFamily="18" charset="0"/>
              </a:rPr>
              <a:t>To get the most soothing effect, brightness level is kept low, and then the contrast is adjusted to a pleasing value. </a:t>
            </a:r>
          </a:p>
          <a:p>
            <a:pPr algn="just"/>
            <a:r>
              <a:rPr lang="en-US" sz="2800" dirty="0">
                <a:latin typeface="Palatino Linotype" panose="02040502050505030304" pitchFamily="18" charset="0"/>
              </a:rPr>
              <a:t>After adjusting the contrast, the brightness level may again be adjusted so that overall brightness and contrast give the best soothing effect to the viewer.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Brightness </a:t>
            </a:r>
            <a:r>
              <a:rPr lang="en-US" sz="3600" dirty="0" err="1">
                <a:latin typeface="Palatino Linotype" panose="02040502050505030304" pitchFamily="18" charset="0"/>
              </a:rPr>
              <a:t>vs</a:t>
            </a:r>
            <a:r>
              <a:rPr lang="en-US" sz="3600" dirty="0">
                <a:latin typeface="Palatino Linotype" panose="02040502050505030304" pitchFamily="18" charset="0"/>
              </a:rPr>
              <a:t> Contrast</a:t>
            </a:r>
          </a:p>
        </p:txBody>
      </p:sp>
    </p:spTree>
    <p:extLst>
      <p:ext uri="{BB962C8B-B14F-4D97-AF65-F5344CB8AC3E}">
        <p14:creationId xmlns:p14="http://schemas.microsoft.com/office/powerpoint/2010/main" val="17846844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33</a:t>
            </a:fld>
            <a:endParaRPr lang="en-US" noProof="0" dirty="0"/>
          </a:p>
        </p:txBody>
      </p:sp>
      <p:sp>
        <p:nvSpPr>
          <p:cNvPr id="3" name="Content Placeholder 2"/>
          <p:cNvSpPr>
            <a:spLocks noGrp="1"/>
          </p:cNvSpPr>
          <p:nvPr>
            <p:ph idx="1"/>
          </p:nvPr>
        </p:nvSpPr>
        <p:spPr>
          <a:xfrm>
            <a:off x="363416" y="1825625"/>
            <a:ext cx="11465168" cy="4637582"/>
          </a:xfrm>
        </p:spPr>
        <p:txBody>
          <a:bodyPr>
            <a:normAutofit lnSpcReduction="10000"/>
          </a:bodyPr>
          <a:lstStyle/>
          <a:p>
            <a:pPr algn="just"/>
            <a:r>
              <a:rPr lang="en-US" sz="2800" dirty="0">
                <a:latin typeface="Palatino Linotype" panose="02040502050505030304" pitchFamily="18" charset="0"/>
              </a:rPr>
              <a:t>Light is a visible form of electromagnetic energy. </a:t>
            </a:r>
          </a:p>
          <a:p>
            <a:pPr algn="just"/>
            <a:r>
              <a:rPr lang="en-US" sz="2800" dirty="0">
                <a:latin typeface="Palatino Linotype" panose="02040502050505030304" pitchFamily="18" charset="0"/>
              </a:rPr>
              <a:t>It has two visible characteristics: </a:t>
            </a:r>
            <a:r>
              <a:rPr lang="en-US" sz="2800" b="1" dirty="0">
                <a:solidFill>
                  <a:schemeClr val="accent1"/>
                </a:solidFill>
                <a:latin typeface="Palatino Linotype" panose="02040502050505030304" pitchFamily="18" charset="0"/>
              </a:rPr>
              <a:t>intensity</a:t>
            </a:r>
            <a:r>
              <a:rPr lang="en-US" sz="2800" dirty="0">
                <a:latin typeface="Palatino Linotype" panose="02040502050505030304" pitchFamily="18" charset="0"/>
              </a:rPr>
              <a:t> and </a:t>
            </a:r>
            <a:r>
              <a:rPr lang="en-US" sz="2800" b="1" dirty="0">
                <a:solidFill>
                  <a:schemeClr val="accent1"/>
                </a:solidFill>
                <a:latin typeface="Palatino Linotype" panose="02040502050505030304" pitchFamily="18" charset="0"/>
              </a:rPr>
              <a:t>colour</a:t>
            </a:r>
          </a:p>
          <a:p>
            <a:pPr algn="just"/>
            <a:r>
              <a:rPr lang="en-US" sz="2800" dirty="0">
                <a:latin typeface="Palatino Linotype" panose="02040502050505030304" pitchFamily="18" charset="0"/>
              </a:rPr>
              <a:t>Intensity as seen by the eye is represented by luminance and colour by the wavelength.</a:t>
            </a:r>
          </a:p>
          <a:p>
            <a:pPr algn="just"/>
            <a:r>
              <a:rPr lang="en-US" sz="2800" dirty="0">
                <a:latin typeface="Palatino Linotype" panose="02040502050505030304" pitchFamily="18" charset="0"/>
              </a:rPr>
              <a:t>Light of a specific wavelength shows specific colour.</a:t>
            </a:r>
          </a:p>
          <a:p>
            <a:pPr algn="just"/>
            <a:r>
              <a:rPr lang="en-US" sz="2800" dirty="0">
                <a:latin typeface="Palatino Linotype" panose="02040502050505030304" pitchFamily="18" charset="0"/>
              </a:rPr>
              <a:t>Range in wavelength of the visible colour varies from about 400 nm (violet) to about 700 nm (red)</a:t>
            </a:r>
          </a:p>
          <a:p>
            <a:pPr algn="just"/>
            <a:r>
              <a:rPr lang="en-US" sz="2800" dirty="0">
                <a:latin typeface="Palatino Linotype" panose="02040502050505030304" pitchFamily="18" charset="0"/>
              </a:rPr>
              <a:t>There can be unlimited wavelengths and hence unlimited colours within this range, but the eye cannot distinguish them so closely. </a:t>
            </a:r>
          </a:p>
          <a:p>
            <a:pPr algn="just"/>
            <a:r>
              <a:rPr lang="en-US" sz="2800" dirty="0">
                <a:latin typeface="Palatino Linotype" panose="02040502050505030304" pitchFamily="18" charset="0"/>
              </a:rPr>
              <a:t>In practice, the eye is able to see colours in broad bands of wavelengths.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Characteristics of Colour</a:t>
            </a:r>
          </a:p>
        </p:txBody>
      </p:sp>
    </p:spTree>
    <p:extLst>
      <p:ext uri="{BB962C8B-B14F-4D97-AF65-F5344CB8AC3E}">
        <p14:creationId xmlns:p14="http://schemas.microsoft.com/office/powerpoint/2010/main" val="3790875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34</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Eyes cannot see colours of very small objects. </a:t>
            </a:r>
          </a:p>
          <a:p>
            <a:pPr algn="just"/>
            <a:r>
              <a:rPr lang="en-US" sz="2800" dirty="0">
                <a:latin typeface="Palatino Linotype" panose="02040502050505030304" pitchFamily="18" charset="0"/>
              </a:rPr>
              <a:t>Such objects are seen by the eye as </a:t>
            </a:r>
            <a:r>
              <a:rPr lang="en-US" sz="2800" dirty="0" err="1">
                <a:latin typeface="Palatino Linotype" panose="02040502050505030304" pitchFamily="18" charset="0"/>
              </a:rPr>
              <a:t>colourless</a:t>
            </a:r>
            <a:r>
              <a:rPr lang="en-US" sz="2800" dirty="0">
                <a:latin typeface="Palatino Linotype" panose="02040502050505030304" pitchFamily="18" charset="0"/>
              </a:rPr>
              <a:t> or black and white. </a:t>
            </a:r>
          </a:p>
          <a:p>
            <a:pPr algn="just"/>
            <a:r>
              <a:rPr lang="en-US" sz="2800" dirty="0">
                <a:latin typeface="Palatino Linotype" panose="02040502050505030304" pitchFamily="18" charset="0"/>
              </a:rPr>
              <a:t>Relatively bigger objects show the colour. </a:t>
            </a:r>
          </a:p>
          <a:p>
            <a:pPr algn="just"/>
            <a:r>
              <a:rPr lang="en-US" sz="2800" dirty="0">
                <a:latin typeface="Palatino Linotype" panose="02040502050505030304" pitchFamily="18" charset="0"/>
              </a:rPr>
              <a:t>Hence resolution and bandwidth of colour are much lower than for the monochrome light. </a:t>
            </a:r>
          </a:p>
          <a:p>
            <a:pPr algn="just"/>
            <a:r>
              <a:rPr lang="en-US" sz="2800" dirty="0">
                <a:latin typeface="Palatino Linotype" panose="02040502050505030304" pitchFamily="18" charset="0"/>
              </a:rPr>
              <a:t>While bandwidth of monochrome light is about 5 MHz, the bandwidth of colour is less than 1.5 MHz</a:t>
            </a:r>
          </a:p>
          <a:p>
            <a:pPr algn="just"/>
            <a:r>
              <a:rPr lang="en-US" sz="2800" dirty="0">
                <a:latin typeface="Palatino Linotype" panose="02040502050505030304" pitchFamily="18" charset="0"/>
              </a:rPr>
              <a:t>This property of the eye is used in interleaving of colour signals in between the monochrome brightness signals.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Resolution and Bandwidth of Colours</a:t>
            </a:r>
          </a:p>
        </p:txBody>
      </p:sp>
    </p:spTree>
    <p:extLst>
      <p:ext uri="{BB962C8B-B14F-4D97-AF65-F5344CB8AC3E}">
        <p14:creationId xmlns:p14="http://schemas.microsoft.com/office/powerpoint/2010/main" val="2863847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35</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04</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78771" y="1629533"/>
            <a:ext cx="10169338" cy="4813112"/>
          </a:xfrm>
          <a:prstGeom prst="rect">
            <a:avLst/>
          </a:prstGeom>
        </p:spPr>
      </p:pic>
    </p:spTree>
    <p:extLst>
      <p:ext uri="{BB962C8B-B14F-4D97-AF65-F5344CB8AC3E}">
        <p14:creationId xmlns:p14="http://schemas.microsoft.com/office/powerpoint/2010/main" val="3061650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36</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A tungsten filament when heated emits light whose colour depends on the temperature of the filament.</a:t>
            </a:r>
          </a:p>
          <a:p>
            <a:pPr algn="just"/>
            <a:r>
              <a:rPr lang="en-US" sz="2800" dirty="0">
                <a:latin typeface="Palatino Linotype" panose="02040502050505030304" pitchFamily="18" charset="0"/>
              </a:rPr>
              <a:t>At lower temperatures, the light is red and as the temperature increases, other wavelengths are produced and finally it emits nearly white light.</a:t>
            </a:r>
          </a:p>
          <a:p>
            <a:pPr algn="just"/>
            <a:r>
              <a:rPr lang="en-US" sz="2800" dirty="0">
                <a:latin typeface="Palatino Linotype" panose="02040502050505030304" pitchFamily="18" charset="0"/>
              </a:rPr>
              <a:t>This shows that there is a relationship between colour and temperature.</a:t>
            </a:r>
          </a:p>
          <a:p>
            <a:pPr algn="just"/>
            <a:r>
              <a:rPr lang="en-US" sz="2800" b="1" dirty="0">
                <a:solidFill>
                  <a:schemeClr val="accent1"/>
                </a:solidFill>
                <a:latin typeface="Palatino Linotype" panose="02040502050505030304" pitchFamily="18" charset="0"/>
              </a:rPr>
              <a:t>Colour temperature </a:t>
            </a:r>
            <a:r>
              <a:rPr lang="en-US" sz="2800" dirty="0">
                <a:latin typeface="Palatino Linotype" panose="02040502050505030304" pitchFamily="18" charset="0"/>
              </a:rPr>
              <a:t>is the term used to indicate the colour which will be radiated by the black body heated to a specified temperature.</a:t>
            </a:r>
          </a:p>
          <a:p>
            <a:pPr algn="just"/>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Temperature</a:t>
            </a:r>
          </a:p>
        </p:txBody>
      </p:sp>
    </p:spTree>
    <p:extLst>
      <p:ext uri="{BB962C8B-B14F-4D97-AF65-F5344CB8AC3E}">
        <p14:creationId xmlns:p14="http://schemas.microsoft.com/office/powerpoint/2010/main" val="1666591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37</a:t>
            </a:fld>
            <a:endParaRPr lang="en-US" noProof="0" dirty="0"/>
          </a:p>
        </p:txBody>
      </p:sp>
      <p:sp>
        <p:nvSpPr>
          <p:cNvPr id="3" name="Content Placeholder 2"/>
          <p:cNvSpPr>
            <a:spLocks noGrp="1"/>
          </p:cNvSpPr>
          <p:nvPr>
            <p:ph idx="1"/>
          </p:nvPr>
        </p:nvSpPr>
        <p:spPr>
          <a:xfrm>
            <a:off x="363416" y="1825625"/>
            <a:ext cx="5725657" cy="4351338"/>
          </a:xfrm>
        </p:spPr>
        <p:txBody>
          <a:bodyPr>
            <a:normAutofit lnSpcReduction="10000"/>
          </a:bodyPr>
          <a:lstStyle/>
          <a:p>
            <a:pPr algn="just"/>
            <a:r>
              <a:rPr lang="en-US" sz="2800" dirty="0">
                <a:latin typeface="Palatino Linotype" panose="02040502050505030304" pitchFamily="18" charset="0"/>
              </a:rPr>
              <a:t>The term ‘colour temperature’ is used to denote the colour of the source of light in the sense that the source emits the colour which would be radiated by the black body radiator at that temperature. </a:t>
            </a:r>
          </a:p>
          <a:p>
            <a:pPr algn="just"/>
            <a:r>
              <a:rPr lang="en-US" sz="2800" dirty="0">
                <a:latin typeface="Palatino Linotype" panose="02040502050505030304" pitchFamily="18" charset="0"/>
              </a:rPr>
              <a:t>Typical colours emitted by different types of sources are represented by colour temperatures as follows: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Temperature</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253383" y="2729921"/>
            <a:ext cx="5664002" cy="228704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35959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38</a:t>
            </a:fld>
            <a:endParaRPr lang="en-US" noProof="0" dirty="0"/>
          </a:p>
        </p:txBody>
      </p:sp>
      <p:sp>
        <p:nvSpPr>
          <p:cNvPr id="3" name="Content Placeholder 2"/>
          <p:cNvSpPr>
            <a:spLocks noGrp="1"/>
          </p:cNvSpPr>
          <p:nvPr>
            <p:ph idx="1"/>
          </p:nvPr>
        </p:nvSpPr>
        <p:spPr>
          <a:xfrm>
            <a:off x="363416" y="1579418"/>
            <a:ext cx="11465168" cy="5133173"/>
          </a:xfrm>
        </p:spPr>
        <p:txBody>
          <a:bodyPr>
            <a:normAutofit lnSpcReduction="10000"/>
          </a:bodyPr>
          <a:lstStyle/>
          <a:p>
            <a:pPr algn="just"/>
            <a:r>
              <a:rPr lang="en-US" sz="2800" dirty="0">
                <a:latin typeface="Palatino Linotype" panose="02040502050505030304" pitchFamily="18" charset="0"/>
              </a:rPr>
              <a:t>There are three primary colours: </a:t>
            </a:r>
            <a:r>
              <a:rPr lang="en-US" sz="2800" b="1" dirty="0">
                <a:solidFill>
                  <a:schemeClr val="accent1"/>
                </a:solidFill>
                <a:latin typeface="Palatino Linotype" panose="02040502050505030304" pitchFamily="18" charset="0"/>
              </a:rPr>
              <a:t>red</a:t>
            </a:r>
            <a:r>
              <a:rPr lang="en-US" sz="2800" dirty="0">
                <a:latin typeface="Palatino Linotype" panose="02040502050505030304" pitchFamily="18" charset="0"/>
              </a:rPr>
              <a:t>, </a:t>
            </a:r>
            <a:r>
              <a:rPr lang="en-US" sz="2800" b="1" dirty="0">
                <a:solidFill>
                  <a:schemeClr val="accent1"/>
                </a:solidFill>
                <a:latin typeface="Palatino Linotype" panose="02040502050505030304" pitchFamily="18" charset="0"/>
              </a:rPr>
              <a:t>green</a:t>
            </a:r>
            <a:r>
              <a:rPr lang="en-US" sz="2800" dirty="0">
                <a:latin typeface="Palatino Linotype" panose="02040502050505030304" pitchFamily="18" charset="0"/>
              </a:rPr>
              <a:t> and </a:t>
            </a:r>
            <a:r>
              <a:rPr lang="en-US" sz="2800" b="1" dirty="0">
                <a:solidFill>
                  <a:schemeClr val="accent1"/>
                </a:solidFill>
                <a:latin typeface="Palatino Linotype" panose="02040502050505030304" pitchFamily="18" charset="0"/>
              </a:rPr>
              <a:t>blue</a:t>
            </a:r>
            <a:r>
              <a:rPr lang="en-US" sz="2800" dirty="0">
                <a:latin typeface="Palatino Linotype" panose="02040502050505030304" pitchFamily="18" charset="0"/>
              </a:rPr>
              <a:t>. </a:t>
            </a:r>
          </a:p>
          <a:p>
            <a:pPr algn="just"/>
            <a:r>
              <a:rPr lang="en-US" sz="2800" dirty="0">
                <a:latin typeface="Palatino Linotype" panose="02040502050505030304" pitchFamily="18" charset="0"/>
              </a:rPr>
              <a:t>They are called primary because all other colours can be obtained by mixing these three colours in appropriate proportions. </a:t>
            </a:r>
          </a:p>
          <a:p>
            <a:pPr algn="just"/>
            <a:r>
              <a:rPr lang="en-US" sz="2800" dirty="0">
                <a:latin typeface="Palatino Linotype" panose="02040502050505030304" pitchFamily="18" charset="0"/>
              </a:rPr>
              <a:t>An eye also perceives the colours by such a mixing process.</a:t>
            </a:r>
          </a:p>
          <a:p>
            <a:pPr algn="just"/>
            <a:r>
              <a:rPr lang="en-US" sz="2800" dirty="0">
                <a:latin typeface="Palatino Linotype" panose="02040502050505030304" pitchFamily="18" charset="0"/>
              </a:rPr>
              <a:t>There are groups, each of three cones, behind the retina of the eye. One cone of each group responds to red light, the other one to green and the third one to blue.</a:t>
            </a:r>
          </a:p>
          <a:p>
            <a:pPr algn="just"/>
            <a:r>
              <a:rPr lang="en-US" sz="2800" dirty="0">
                <a:latin typeface="Palatino Linotype" panose="02040502050505030304" pitchFamily="18" charset="0"/>
              </a:rPr>
              <a:t>The brain integrates these responses by additive mixing and perceives the resultant colour which was incident on the eye. </a:t>
            </a:r>
          </a:p>
          <a:p>
            <a:pPr algn="just"/>
            <a:r>
              <a:rPr lang="en-US" sz="2800" dirty="0">
                <a:latin typeface="Palatino Linotype" panose="02040502050505030304" pitchFamily="18" charset="0"/>
              </a:rPr>
              <a:t>Also there are rods attached to the retina, which respond to the brightness present in the incident light. </a:t>
            </a:r>
          </a:p>
          <a:p>
            <a:pPr algn="just"/>
            <a:r>
              <a:rPr lang="en-US" sz="2800" dirty="0">
                <a:latin typeface="Palatino Linotype" panose="02040502050505030304" pitchFamily="18" charset="0"/>
              </a:rPr>
              <a:t>Thus the brain interprets </a:t>
            </a:r>
            <a:r>
              <a:rPr lang="en-US" sz="2800" b="1" dirty="0">
                <a:solidFill>
                  <a:schemeClr val="accent1"/>
                </a:solidFill>
                <a:latin typeface="Palatino Linotype" panose="02040502050505030304" pitchFamily="18" charset="0"/>
              </a:rPr>
              <a:t>colour</a:t>
            </a:r>
            <a:r>
              <a:rPr lang="en-US" sz="2800" dirty="0">
                <a:latin typeface="Palatino Linotype" panose="02040502050505030304" pitchFamily="18" charset="0"/>
              </a:rPr>
              <a:t> and its </a:t>
            </a:r>
            <a:r>
              <a:rPr lang="en-US" sz="2800" b="1" dirty="0">
                <a:solidFill>
                  <a:schemeClr val="accent1"/>
                </a:solidFill>
                <a:latin typeface="Palatino Linotype" panose="02040502050505030304" pitchFamily="18" charset="0"/>
              </a:rPr>
              <a:t>brightness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Primary Colours</a:t>
            </a:r>
          </a:p>
        </p:txBody>
      </p:sp>
    </p:spTree>
    <p:extLst>
      <p:ext uri="{BB962C8B-B14F-4D97-AF65-F5344CB8AC3E}">
        <p14:creationId xmlns:p14="http://schemas.microsoft.com/office/powerpoint/2010/main" val="2903270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39</a:t>
            </a:fld>
            <a:endParaRPr lang="en-US" noProof="0" dirty="0"/>
          </a:p>
        </p:txBody>
      </p:sp>
      <p:sp>
        <p:nvSpPr>
          <p:cNvPr id="3" name="Content Placeholder 2"/>
          <p:cNvSpPr>
            <a:spLocks noGrp="1"/>
          </p:cNvSpPr>
          <p:nvPr>
            <p:ph idx="1"/>
          </p:nvPr>
        </p:nvSpPr>
        <p:spPr>
          <a:xfrm>
            <a:off x="187037" y="1600200"/>
            <a:ext cx="11804072" cy="5112392"/>
          </a:xfrm>
        </p:spPr>
        <p:txBody>
          <a:bodyPr>
            <a:normAutofit lnSpcReduction="10000"/>
          </a:bodyPr>
          <a:lstStyle/>
          <a:p>
            <a:pPr algn="just"/>
            <a:r>
              <a:rPr lang="en-US" sz="2800" dirty="0">
                <a:latin typeface="Palatino Linotype" panose="02040502050505030304" pitchFamily="18" charset="0"/>
              </a:rPr>
              <a:t>When any two primary colours of equal intensity are mixed, the resultant colour is called </a:t>
            </a:r>
            <a:r>
              <a:rPr lang="en-US" sz="2800" b="1" dirty="0">
                <a:solidFill>
                  <a:schemeClr val="accent1"/>
                </a:solidFill>
                <a:latin typeface="Palatino Linotype" panose="02040502050505030304" pitchFamily="18" charset="0"/>
              </a:rPr>
              <a:t>complementary colour</a:t>
            </a:r>
            <a:r>
              <a:rPr lang="en-US" sz="2800" dirty="0">
                <a:latin typeface="Palatino Linotype" panose="02040502050505030304" pitchFamily="18" charset="0"/>
              </a:rPr>
              <a:t>.</a:t>
            </a:r>
          </a:p>
          <a:p>
            <a:pPr algn="just"/>
            <a:r>
              <a:rPr lang="en-US" sz="2800" dirty="0">
                <a:latin typeface="Palatino Linotype" panose="02040502050505030304" pitchFamily="18" charset="0"/>
              </a:rPr>
              <a:t>They are also known as</a:t>
            </a:r>
            <a:r>
              <a:rPr lang="en-US" sz="2800" b="1" dirty="0">
                <a:solidFill>
                  <a:schemeClr val="accent1"/>
                </a:solidFill>
                <a:latin typeface="Palatino Linotype" panose="02040502050505030304" pitchFamily="18" charset="0"/>
              </a:rPr>
              <a:t> secondary </a:t>
            </a:r>
            <a:r>
              <a:rPr lang="en-US" sz="2800" dirty="0">
                <a:latin typeface="Palatino Linotype" panose="02040502050505030304" pitchFamily="18" charset="0"/>
              </a:rPr>
              <a:t>colours.</a:t>
            </a:r>
          </a:p>
          <a:p>
            <a:pPr algn="just"/>
            <a:r>
              <a:rPr lang="en-US" sz="2800" dirty="0">
                <a:latin typeface="Palatino Linotype" panose="02040502050505030304" pitchFamily="18" charset="0"/>
              </a:rPr>
              <a:t>There are three complementary colours: </a:t>
            </a:r>
            <a:r>
              <a:rPr lang="en-US" sz="2800" b="1" dirty="0">
                <a:solidFill>
                  <a:schemeClr val="accent1"/>
                </a:solidFill>
                <a:latin typeface="Palatino Linotype" panose="02040502050505030304" pitchFamily="18" charset="0"/>
              </a:rPr>
              <a:t>yellow</a:t>
            </a:r>
            <a:r>
              <a:rPr lang="en-US" sz="2800" dirty="0">
                <a:latin typeface="Palatino Linotype" panose="02040502050505030304" pitchFamily="18" charset="0"/>
              </a:rPr>
              <a:t>, </a:t>
            </a:r>
            <a:r>
              <a:rPr lang="en-US" sz="2800" b="1" dirty="0">
                <a:solidFill>
                  <a:schemeClr val="accent1"/>
                </a:solidFill>
                <a:latin typeface="Palatino Linotype" panose="02040502050505030304" pitchFamily="18" charset="0"/>
              </a:rPr>
              <a:t>cyan</a:t>
            </a:r>
            <a:r>
              <a:rPr lang="en-US" sz="2800" dirty="0">
                <a:latin typeface="Palatino Linotype" panose="02040502050505030304" pitchFamily="18" charset="0"/>
              </a:rPr>
              <a:t> and </a:t>
            </a:r>
            <a:r>
              <a:rPr lang="en-US" sz="2800" b="1" dirty="0">
                <a:solidFill>
                  <a:schemeClr val="accent1"/>
                </a:solidFill>
                <a:latin typeface="Palatino Linotype" panose="02040502050505030304" pitchFamily="18" charset="0"/>
              </a:rPr>
              <a:t>magenta</a:t>
            </a:r>
            <a:r>
              <a:rPr lang="en-US" sz="2800" dirty="0">
                <a:latin typeface="Palatino Linotype" panose="02040502050505030304" pitchFamily="18" charset="0"/>
              </a:rPr>
              <a:t>. </a:t>
            </a:r>
          </a:p>
          <a:p>
            <a:pPr algn="just"/>
            <a:r>
              <a:rPr lang="en-US" sz="2800" dirty="0">
                <a:latin typeface="Palatino Linotype" panose="02040502050505030304" pitchFamily="18" charset="0"/>
              </a:rPr>
              <a:t>These are obtained as follows:</a:t>
            </a:r>
          </a:p>
          <a:p>
            <a:pPr marL="457200" lvl="1" indent="0" algn="ctr">
              <a:buNone/>
            </a:pPr>
            <a:r>
              <a:rPr lang="en-US" sz="2600" b="1" dirty="0">
                <a:latin typeface="Palatino Linotype" panose="02040502050505030304" pitchFamily="18" charset="0"/>
              </a:rPr>
              <a:t>Red + Green = Yellow</a:t>
            </a:r>
          </a:p>
          <a:p>
            <a:pPr marL="457200" lvl="1" indent="0" algn="ctr">
              <a:buNone/>
            </a:pPr>
            <a:r>
              <a:rPr lang="en-US" sz="2600" b="1" dirty="0">
                <a:latin typeface="Palatino Linotype" panose="02040502050505030304" pitchFamily="18" charset="0"/>
              </a:rPr>
              <a:t>Green + Blue = Cyan</a:t>
            </a:r>
          </a:p>
          <a:p>
            <a:pPr marL="457200" lvl="1" indent="0" algn="ctr">
              <a:buNone/>
            </a:pPr>
            <a:r>
              <a:rPr lang="en-US" sz="2600" b="1" dirty="0">
                <a:latin typeface="Palatino Linotype" panose="02040502050505030304" pitchFamily="18" charset="0"/>
              </a:rPr>
              <a:t>Blue + Red = Magenta</a:t>
            </a:r>
          </a:p>
          <a:p>
            <a:pPr algn="just"/>
            <a:r>
              <a:rPr lang="en-US" sz="2800" dirty="0">
                <a:latin typeface="Palatino Linotype" panose="02040502050505030304" pitchFamily="18" charset="0"/>
              </a:rPr>
              <a:t>They are known as complementary colours because when combined with the remaining primary colours, they give white.</a:t>
            </a:r>
          </a:p>
          <a:p>
            <a:pPr algn="just"/>
            <a:r>
              <a:rPr lang="en-US" sz="2800" dirty="0">
                <a:latin typeface="Palatino Linotype" panose="02040502050505030304" pitchFamily="18" charset="0"/>
              </a:rPr>
              <a:t>Yellow is complementary to blue because yellow plus blue will give white. Cyan is complementary to red, and magenta to green.</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Complementary Colours</a:t>
            </a:r>
          </a:p>
        </p:txBody>
      </p:sp>
    </p:spTree>
    <p:extLst>
      <p:ext uri="{BB962C8B-B14F-4D97-AF65-F5344CB8AC3E}">
        <p14:creationId xmlns:p14="http://schemas.microsoft.com/office/powerpoint/2010/main" val="511276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40</a:t>
            </a:fld>
            <a:endParaRPr lang="en-US" noProof="0" dirty="0"/>
          </a:p>
        </p:txBody>
      </p:sp>
      <p:sp>
        <p:nvSpPr>
          <p:cNvPr id="3" name="Content Placeholder 2"/>
          <p:cNvSpPr>
            <a:spLocks noGrp="1"/>
          </p:cNvSpPr>
          <p:nvPr>
            <p:ph idx="1"/>
          </p:nvPr>
        </p:nvSpPr>
        <p:spPr>
          <a:xfrm>
            <a:off x="363416" y="1825625"/>
            <a:ext cx="7138820" cy="4351338"/>
          </a:xfrm>
        </p:spPr>
        <p:txBody>
          <a:bodyPr>
            <a:normAutofit/>
          </a:bodyPr>
          <a:lstStyle/>
          <a:p>
            <a:pPr algn="just"/>
            <a:r>
              <a:rPr lang="en-US" sz="2800" dirty="0">
                <a:latin typeface="Palatino Linotype" panose="02040502050505030304" pitchFamily="18" charset="0"/>
              </a:rPr>
              <a:t>When light of different colours from independent sources reaches the eye, there is additive mixing of the colours, resulting in a different colour. </a:t>
            </a:r>
          </a:p>
          <a:p>
            <a:pPr algn="just"/>
            <a:r>
              <a:rPr lang="en-US" sz="2800" dirty="0">
                <a:latin typeface="Palatino Linotype" panose="02040502050505030304" pitchFamily="18" charset="0"/>
              </a:rPr>
              <a:t>Secondary colours result when two primary colours of equal magnitude are additively mixed.</a:t>
            </a:r>
          </a:p>
          <a:p>
            <a:pPr algn="just"/>
            <a:r>
              <a:rPr lang="en-US" sz="2800" dirty="0">
                <a:latin typeface="Palatino Linotype" panose="02040502050505030304" pitchFamily="18" charset="0"/>
              </a:rPr>
              <a:t>Colours emitted by the glowing phosphor elements of the picture tube of a TV receiver give the additive colour.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Additive Mixing of Colours</a:t>
            </a:r>
          </a:p>
        </p:txBody>
      </p:sp>
      <p:pic>
        <p:nvPicPr>
          <p:cNvPr id="5" name="Picture 4"/>
          <p:cNvPicPr>
            <a:picLocks noChangeAspect="1"/>
          </p:cNvPicPr>
          <p:nvPr/>
        </p:nvPicPr>
        <p:blipFill>
          <a:blip r:embed="rId2"/>
          <a:stretch>
            <a:fillRect/>
          </a:stretch>
        </p:blipFill>
        <p:spPr>
          <a:xfrm>
            <a:off x="7941897" y="2221275"/>
            <a:ext cx="4046013" cy="36193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147075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41</a:t>
            </a:fld>
            <a:endParaRPr lang="en-US" noProof="0" dirty="0"/>
          </a:p>
        </p:txBody>
      </p:sp>
      <p:sp>
        <p:nvSpPr>
          <p:cNvPr id="3" name="Content Placeholder 2"/>
          <p:cNvSpPr>
            <a:spLocks noGrp="1"/>
          </p:cNvSpPr>
          <p:nvPr>
            <p:ph idx="1"/>
          </p:nvPr>
        </p:nvSpPr>
        <p:spPr>
          <a:xfrm>
            <a:off x="363416" y="1825625"/>
            <a:ext cx="7284293" cy="4351338"/>
          </a:xfrm>
        </p:spPr>
        <p:txBody>
          <a:bodyPr>
            <a:normAutofit/>
          </a:bodyPr>
          <a:lstStyle/>
          <a:p>
            <a:pPr algn="just"/>
            <a:r>
              <a:rPr lang="en-US" sz="2800" dirty="0">
                <a:latin typeface="Palatino Linotype" panose="02040502050505030304" pitchFamily="18" charset="0"/>
              </a:rPr>
              <a:t>Subtractive mixing pertains to the subtraction of the colour by an object from the incident light. </a:t>
            </a:r>
          </a:p>
          <a:p>
            <a:pPr algn="just"/>
            <a:r>
              <a:rPr lang="en-US" sz="2800" dirty="0">
                <a:latin typeface="Palatino Linotype" panose="02040502050505030304" pitchFamily="18" charset="0"/>
              </a:rPr>
              <a:t>The net colour received after subtraction will be the colour of the object.</a:t>
            </a:r>
          </a:p>
          <a:p>
            <a:pPr algn="just"/>
            <a:r>
              <a:rPr lang="en-US" sz="2800" dirty="0">
                <a:latin typeface="Palatino Linotype" panose="02040502050505030304" pitchFamily="18" charset="0"/>
              </a:rPr>
              <a:t>When white light is incident on a blue object, it will absorb green and red lights, and therefore only blue light (white – green – red) will reach the eye.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Subtractive Mixing of Colours</a:t>
            </a:r>
          </a:p>
        </p:txBody>
      </p:sp>
      <p:pic>
        <p:nvPicPr>
          <p:cNvPr id="5" name="Picture 4"/>
          <p:cNvPicPr>
            <a:picLocks noChangeAspect="1"/>
          </p:cNvPicPr>
          <p:nvPr/>
        </p:nvPicPr>
        <p:blipFill>
          <a:blip r:embed="rId2"/>
          <a:stretch>
            <a:fillRect/>
          </a:stretch>
        </p:blipFill>
        <p:spPr>
          <a:xfrm>
            <a:off x="8021781" y="2057400"/>
            <a:ext cx="3983181" cy="346551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600736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42</a:t>
            </a:fld>
            <a:endParaRPr lang="en-US" noProof="0" dirty="0"/>
          </a:p>
        </p:txBody>
      </p:sp>
      <p:sp>
        <p:nvSpPr>
          <p:cNvPr id="3" name="Content Placeholder 2"/>
          <p:cNvSpPr>
            <a:spLocks noGrp="1"/>
          </p:cNvSpPr>
          <p:nvPr>
            <p:ph idx="1"/>
          </p:nvPr>
        </p:nvSpPr>
        <p:spPr>
          <a:xfrm>
            <a:off x="363416" y="1825626"/>
            <a:ext cx="11465168" cy="979920"/>
          </a:xfrm>
        </p:spPr>
        <p:txBody>
          <a:bodyPr>
            <a:normAutofit/>
          </a:bodyPr>
          <a:lstStyle/>
          <a:p>
            <a:pPr algn="just"/>
            <a:r>
              <a:rPr lang="en-US" sz="2800" dirty="0">
                <a:latin typeface="Palatino Linotype" panose="02040502050505030304" pitchFamily="18" charset="0"/>
              </a:rPr>
              <a:t>Secondary colours of additive mixing are called primary colours of subtractive mixing. Result of subtractive mixing is shown below:</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Subtractive Mixing of Colours</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45289" y="2805546"/>
            <a:ext cx="9497085" cy="3657661"/>
          </a:xfrm>
          <a:prstGeom prst="rect">
            <a:avLst/>
          </a:prstGeom>
        </p:spPr>
      </p:pic>
    </p:spTree>
    <p:extLst>
      <p:ext uri="{BB962C8B-B14F-4D97-AF65-F5344CB8AC3E}">
        <p14:creationId xmlns:p14="http://schemas.microsoft.com/office/powerpoint/2010/main" val="39063225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43</a:t>
            </a:fld>
            <a:endParaRPr lang="en-US" noProof="0" dirty="0"/>
          </a:p>
        </p:txBody>
      </p:sp>
      <p:sp>
        <p:nvSpPr>
          <p:cNvPr id="3" name="Content Placeholder 2"/>
          <p:cNvSpPr>
            <a:spLocks noGrp="1"/>
          </p:cNvSpPr>
          <p:nvPr>
            <p:ph idx="1"/>
          </p:nvPr>
        </p:nvSpPr>
        <p:spPr>
          <a:xfrm>
            <a:off x="363416" y="1620982"/>
            <a:ext cx="11465168" cy="4842225"/>
          </a:xfrm>
        </p:spPr>
        <p:txBody>
          <a:bodyPr>
            <a:normAutofit/>
          </a:bodyPr>
          <a:lstStyle/>
          <a:p>
            <a:pPr algn="just"/>
            <a:r>
              <a:rPr lang="en-US" sz="2800" dirty="0">
                <a:latin typeface="Palatino Linotype" panose="02040502050505030304" pitchFamily="18" charset="0"/>
              </a:rPr>
              <a:t>There is a clear distinction between additive mixing and subtractive mixing. </a:t>
            </a:r>
          </a:p>
          <a:p>
            <a:pPr algn="just"/>
            <a:r>
              <a:rPr lang="en-US" sz="2800" dirty="0">
                <a:latin typeface="Palatino Linotype" panose="02040502050505030304" pitchFamily="18" charset="0"/>
              </a:rPr>
              <a:t>The former pertains to the light emitted by the sources, the glowing objects, while the latter pertains to the absorption of light by the objects. </a:t>
            </a:r>
          </a:p>
          <a:p>
            <a:pPr algn="just"/>
            <a:r>
              <a:rPr lang="en-US" sz="2800" dirty="0">
                <a:latin typeface="Palatino Linotype" panose="02040502050505030304" pitchFamily="18" charset="0"/>
              </a:rPr>
              <a:t>The eye adds the colours that reach it. </a:t>
            </a:r>
          </a:p>
          <a:p>
            <a:pPr algn="just"/>
            <a:r>
              <a:rPr lang="en-US" sz="2800" dirty="0">
                <a:latin typeface="Palatino Linotype" panose="02040502050505030304" pitchFamily="18" charset="0"/>
              </a:rPr>
              <a:t>Thus at the eye, it is always additive mixing, whether the colours reach the eye direct from the active sources, or they reach by reflection of the light not absorbed by the passive objects.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Additive </a:t>
            </a:r>
            <a:r>
              <a:rPr lang="en-US" sz="3600" dirty="0" err="1">
                <a:latin typeface="Palatino Linotype" panose="02040502050505030304" pitchFamily="18" charset="0"/>
              </a:rPr>
              <a:t>vs</a:t>
            </a:r>
            <a:r>
              <a:rPr lang="en-US" sz="3600" dirty="0">
                <a:latin typeface="Palatino Linotype" panose="02040502050505030304" pitchFamily="18" charset="0"/>
              </a:rPr>
              <a:t> Subtractive Mixing</a:t>
            </a:r>
          </a:p>
        </p:txBody>
      </p:sp>
    </p:spTree>
    <p:extLst>
      <p:ext uri="{BB962C8B-B14F-4D97-AF65-F5344CB8AC3E}">
        <p14:creationId xmlns:p14="http://schemas.microsoft.com/office/powerpoint/2010/main" val="2518895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44</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Image of the objects in a scene formed on the plate of a camera tube consists of colours reflected by the objects after absorbing (or subtracting) some colours.</a:t>
            </a:r>
          </a:p>
          <a:p>
            <a:pPr algn="just"/>
            <a:r>
              <a:rPr lang="en-US" sz="2800" dirty="0">
                <a:latin typeface="Palatino Linotype" panose="02040502050505030304" pitchFamily="18" charset="0"/>
              </a:rPr>
              <a:t>Hence it is a result of subtractive mixing. </a:t>
            </a:r>
          </a:p>
          <a:p>
            <a:pPr algn="just"/>
            <a:r>
              <a:rPr lang="en-US" sz="2800" dirty="0">
                <a:latin typeface="Palatino Linotype" panose="02040502050505030304" pitchFamily="18" charset="0"/>
              </a:rPr>
              <a:t>The picture formed on the screen of a picture tube is due to the glow of phosphor elements and hence the resultant colour is a phenomenon of additive mixing.</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Additive </a:t>
            </a:r>
            <a:r>
              <a:rPr lang="en-US" sz="3600" dirty="0" err="1">
                <a:latin typeface="Palatino Linotype" panose="02040502050505030304" pitchFamily="18" charset="0"/>
              </a:rPr>
              <a:t>vs</a:t>
            </a:r>
            <a:r>
              <a:rPr lang="en-US" sz="3600" dirty="0">
                <a:latin typeface="Palatino Linotype" panose="02040502050505030304" pitchFamily="18" charset="0"/>
              </a:rPr>
              <a:t> Subtractive Mixing</a:t>
            </a:r>
          </a:p>
        </p:txBody>
      </p:sp>
    </p:spTree>
    <p:extLst>
      <p:ext uri="{BB962C8B-B14F-4D97-AF65-F5344CB8AC3E}">
        <p14:creationId xmlns:p14="http://schemas.microsoft.com/office/powerpoint/2010/main" val="2812359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45</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Coloured light has three components: hue, saturation and luminance.</a:t>
            </a:r>
          </a:p>
          <a:p>
            <a:pPr algn="just"/>
            <a:r>
              <a:rPr lang="en-US" sz="2800" b="1" dirty="0">
                <a:solidFill>
                  <a:schemeClr val="accent1"/>
                </a:solidFill>
                <a:latin typeface="Palatino Linotype" panose="02040502050505030304" pitchFamily="18" charset="0"/>
              </a:rPr>
              <a:t>Hue</a:t>
            </a:r>
            <a:r>
              <a:rPr lang="en-US" sz="2800" dirty="0">
                <a:latin typeface="Palatino Linotype" panose="02040502050505030304" pitchFamily="18" charset="0"/>
              </a:rPr>
              <a:t> - It represents wavelength of the light reaching the eye. </a:t>
            </a:r>
          </a:p>
          <a:p>
            <a:pPr lvl="1" algn="just"/>
            <a:r>
              <a:rPr lang="en-US" sz="2800" dirty="0">
                <a:latin typeface="Palatino Linotype" panose="02040502050505030304" pitchFamily="18" charset="0"/>
              </a:rPr>
              <a:t>As the eye cannot distinguish between the closely spaced wavelengths, hue is the </a:t>
            </a:r>
            <a:r>
              <a:rPr lang="en-US" sz="2800" b="1" dirty="0">
                <a:latin typeface="Palatino Linotype" panose="02040502050505030304" pitchFamily="18" charset="0"/>
              </a:rPr>
              <a:t>dominant spectral colour of the received light. </a:t>
            </a:r>
          </a:p>
          <a:p>
            <a:pPr lvl="1" algn="just"/>
            <a:r>
              <a:rPr lang="en-US" sz="2800" dirty="0">
                <a:latin typeface="Palatino Linotype" panose="02040502050505030304" pitchFamily="18" charset="0"/>
              </a:rPr>
              <a:t>It is also termed as </a:t>
            </a:r>
            <a:r>
              <a:rPr lang="en-US" sz="2800" b="1" dirty="0">
                <a:latin typeface="Palatino Linotype" panose="02040502050505030304" pitchFamily="18" charset="0"/>
              </a:rPr>
              <a:t>tint</a:t>
            </a:r>
          </a:p>
          <a:p>
            <a:pPr lvl="1" algn="just"/>
            <a:r>
              <a:rPr lang="en-US" sz="2800" dirty="0">
                <a:latin typeface="Palatino Linotype" panose="02040502050505030304" pitchFamily="18" charset="0"/>
              </a:rPr>
              <a:t>Hue is independent of brightness. </a:t>
            </a:r>
          </a:p>
          <a:p>
            <a:pPr lvl="1" algn="just"/>
            <a:r>
              <a:rPr lang="en-US" sz="2800" dirty="0">
                <a:latin typeface="Palatino Linotype" panose="02040502050505030304" pitchFamily="18" charset="0"/>
              </a:rPr>
              <a:t>When we say that rose is red, it may be very bright or may be quite dull in brightness, but its hue will remain red only.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Hue, Saturation and Luminance</a:t>
            </a:r>
          </a:p>
        </p:txBody>
      </p:sp>
    </p:spTree>
    <p:extLst>
      <p:ext uri="{BB962C8B-B14F-4D97-AF65-F5344CB8AC3E}">
        <p14:creationId xmlns:p14="http://schemas.microsoft.com/office/powerpoint/2010/main" val="25164953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46</a:t>
            </a:fld>
            <a:endParaRPr lang="en-US" noProof="0" dirty="0"/>
          </a:p>
        </p:txBody>
      </p:sp>
      <p:sp>
        <p:nvSpPr>
          <p:cNvPr id="3" name="Content Placeholder 2"/>
          <p:cNvSpPr>
            <a:spLocks noGrp="1"/>
          </p:cNvSpPr>
          <p:nvPr>
            <p:ph idx="1"/>
          </p:nvPr>
        </p:nvSpPr>
        <p:spPr>
          <a:xfrm>
            <a:off x="363416" y="1825625"/>
            <a:ext cx="11465168" cy="4637582"/>
          </a:xfrm>
        </p:spPr>
        <p:txBody>
          <a:bodyPr>
            <a:normAutofit lnSpcReduction="10000"/>
          </a:bodyPr>
          <a:lstStyle/>
          <a:p>
            <a:pPr algn="just"/>
            <a:r>
              <a:rPr lang="en-US" sz="2800" b="1" dirty="0">
                <a:solidFill>
                  <a:schemeClr val="accent1"/>
                </a:solidFill>
                <a:latin typeface="Palatino Linotype" panose="02040502050505030304" pitchFamily="18" charset="0"/>
              </a:rPr>
              <a:t>Saturation</a:t>
            </a:r>
            <a:r>
              <a:rPr lang="en-US" sz="2800" dirty="0">
                <a:latin typeface="Palatino Linotype" panose="02040502050505030304" pitchFamily="18" charset="0"/>
              </a:rPr>
              <a:t> - It represents how much white is present in a colour.</a:t>
            </a:r>
          </a:p>
          <a:p>
            <a:pPr lvl="1" algn="just"/>
            <a:r>
              <a:rPr lang="en-US" sz="2800" dirty="0">
                <a:latin typeface="Palatino Linotype" panose="02040502050505030304" pitchFamily="18" charset="0"/>
              </a:rPr>
              <a:t>White light dilutes a colour. </a:t>
            </a:r>
          </a:p>
          <a:p>
            <a:pPr lvl="1" algn="just"/>
            <a:r>
              <a:rPr lang="en-US" sz="2800" dirty="0">
                <a:latin typeface="Palatino Linotype" panose="02040502050505030304" pitchFamily="18" charset="0"/>
              </a:rPr>
              <a:t>Absence of white in a colour makes it fully saturated or vivid colour. </a:t>
            </a:r>
          </a:p>
          <a:p>
            <a:pPr lvl="1" algn="just"/>
            <a:r>
              <a:rPr lang="en-US" sz="2800" dirty="0">
                <a:latin typeface="Palatino Linotype" panose="02040502050505030304" pitchFamily="18" charset="0"/>
              </a:rPr>
              <a:t>If a colour is not fully saturated, it means white (or the three primary colours in equal proportions) is present to some extent in the colour.</a:t>
            </a:r>
          </a:p>
          <a:p>
            <a:pPr lvl="1" algn="just"/>
            <a:r>
              <a:rPr lang="en-US" sz="2800" dirty="0">
                <a:latin typeface="Palatino Linotype" panose="02040502050505030304" pitchFamily="18" charset="0"/>
              </a:rPr>
              <a:t>For example if light consisting of 1 lumen of blue, 0.1 lumen of red and 0.1 lumen of green reaches the eye, then the eye will see it as 0.9 lumen of blue and 0.1 lumen of white and its saturation would be 90%</a:t>
            </a:r>
          </a:p>
          <a:p>
            <a:pPr lvl="1" algn="just"/>
            <a:r>
              <a:rPr lang="en-US" sz="2800" dirty="0">
                <a:latin typeface="Palatino Linotype" panose="02040502050505030304" pitchFamily="18" charset="0"/>
              </a:rPr>
              <a:t>Saturation also does not depend on brightness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Hue, Saturation and Luminance</a:t>
            </a:r>
          </a:p>
        </p:txBody>
      </p:sp>
    </p:spTree>
    <p:extLst>
      <p:ext uri="{BB962C8B-B14F-4D97-AF65-F5344CB8AC3E}">
        <p14:creationId xmlns:p14="http://schemas.microsoft.com/office/powerpoint/2010/main" val="1753154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47</a:t>
            </a:fld>
            <a:endParaRPr lang="en-US" noProof="0" dirty="0"/>
          </a:p>
        </p:txBody>
      </p:sp>
      <p:sp>
        <p:nvSpPr>
          <p:cNvPr id="3" name="Content Placeholder 2"/>
          <p:cNvSpPr>
            <a:spLocks noGrp="1"/>
          </p:cNvSpPr>
          <p:nvPr>
            <p:ph idx="1"/>
          </p:nvPr>
        </p:nvSpPr>
        <p:spPr/>
        <p:txBody>
          <a:bodyPr>
            <a:normAutofit/>
          </a:bodyPr>
          <a:lstStyle/>
          <a:p>
            <a:pPr algn="just"/>
            <a:r>
              <a:rPr lang="en-US" sz="2800" b="1" dirty="0">
                <a:solidFill>
                  <a:schemeClr val="accent1"/>
                </a:solidFill>
                <a:latin typeface="Palatino Linotype" panose="02040502050505030304" pitchFamily="18" charset="0"/>
              </a:rPr>
              <a:t>Luminance</a:t>
            </a:r>
            <a:r>
              <a:rPr lang="en-US" sz="2800" dirty="0">
                <a:latin typeface="Palatino Linotype" panose="02040502050505030304" pitchFamily="18" charset="0"/>
              </a:rPr>
              <a:t> - It is the measure of visual sensation of the quantity or brightness of light emitted from a pixel.</a:t>
            </a:r>
          </a:p>
          <a:p>
            <a:pPr lvl="1" algn="just"/>
            <a:r>
              <a:rPr lang="en-US" sz="2600" dirty="0">
                <a:latin typeface="Palatino Linotype" panose="02040502050505030304" pitchFamily="18" charset="0"/>
              </a:rPr>
              <a:t> It is different from the average brightness which determines the background level of illumination. </a:t>
            </a:r>
          </a:p>
          <a:p>
            <a:pPr lvl="1" algn="just"/>
            <a:r>
              <a:rPr lang="en-US" sz="2600" dirty="0">
                <a:latin typeface="Palatino Linotype" panose="02040502050505030304" pitchFamily="18" charset="0"/>
              </a:rPr>
              <a:t>Thus while brightness takes into account the illumination of the surroundings, luminance is not concerned with the surroundings. </a:t>
            </a:r>
          </a:p>
          <a:p>
            <a:pPr lvl="1" algn="just"/>
            <a:r>
              <a:rPr lang="en-US" sz="2600" dirty="0">
                <a:latin typeface="Palatino Linotype" panose="02040502050505030304" pitchFamily="18" charset="0"/>
              </a:rPr>
              <a:t>It is concerned with the pixel from which light is being emitted.</a:t>
            </a:r>
          </a:p>
          <a:p>
            <a:pPr lvl="1" algn="just"/>
            <a:r>
              <a:rPr lang="en-US" sz="2600" dirty="0">
                <a:latin typeface="Palatino Linotype" panose="02040502050505030304" pitchFamily="18" charset="0"/>
              </a:rPr>
              <a:t>The output of a monochrome TV camera is proportional to the luminance for each pixel.</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Hue, Saturation and Luminance</a:t>
            </a:r>
          </a:p>
        </p:txBody>
      </p:sp>
    </p:spTree>
    <p:extLst>
      <p:ext uri="{BB962C8B-B14F-4D97-AF65-F5344CB8AC3E}">
        <p14:creationId xmlns:p14="http://schemas.microsoft.com/office/powerpoint/2010/main" val="15752231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48</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eye is not equally sensitive to all colours.</a:t>
            </a:r>
          </a:p>
          <a:p>
            <a:pPr algn="just"/>
            <a:r>
              <a:rPr lang="en-US" sz="2800" dirty="0">
                <a:latin typeface="Palatino Linotype" panose="02040502050505030304" pitchFamily="18" charset="0"/>
              </a:rPr>
              <a:t>Its sensitivity if 59% for green, 30% for red and 11% for blue.</a:t>
            </a:r>
          </a:p>
          <a:p>
            <a:pPr algn="just"/>
            <a:r>
              <a:rPr lang="en-US" sz="2800" dirty="0">
                <a:latin typeface="Palatino Linotype" panose="02040502050505030304" pitchFamily="18" charset="0"/>
              </a:rPr>
              <a:t>Hence the output of the colour camera is to be reduced by the above factors to get the luminance (represented by Y). </a:t>
            </a:r>
          </a:p>
          <a:p>
            <a:pPr algn="just"/>
            <a:r>
              <a:rPr lang="en-US" sz="2800" dirty="0">
                <a:latin typeface="Palatino Linotype" panose="02040502050505030304" pitchFamily="18" charset="0"/>
              </a:rPr>
              <a:t>The luminance is given by </a:t>
            </a:r>
            <a:r>
              <a:rPr lang="en-US" sz="2800" dirty="0" err="1">
                <a:latin typeface="Palatino Linotype" panose="02040502050505030304" pitchFamily="18" charset="0"/>
              </a:rPr>
              <a:t>Grassman’s</a:t>
            </a:r>
            <a:r>
              <a:rPr lang="en-US" sz="2800" dirty="0">
                <a:latin typeface="Palatino Linotype" panose="02040502050505030304" pitchFamily="18" charset="0"/>
              </a:rPr>
              <a:t> law which is stated as follows:</a:t>
            </a:r>
          </a:p>
          <a:p>
            <a:pPr marL="0" indent="0" algn="ctr">
              <a:buNone/>
            </a:pPr>
            <a:endParaRPr lang="en-US" sz="2800" b="1" i="1" dirty="0">
              <a:latin typeface="Palatino Linotype" panose="02040502050505030304" pitchFamily="18" charset="0"/>
            </a:endParaRPr>
          </a:p>
          <a:p>
            <a:pPr marL="0" indent="0" algn="ctr">
              <a:buNone/>
            </a:pPr>
            <a:r>
              <a:rPr lang="en-US" sz="3200" b="1" i="1" dirty="0">
                <a:latin typeface="Palatino Linotype" panose="02040502050505030304" pitchFamily="18" charset="0"/>
              </a:rPr>
              <a:t>When a colour is produced by adding three primary colours, its luminance is the sum of the </a:t>
            </a:r>
            <a:r>
              <a:rPr lang="en-US" sz="3200" b="1" i="1" dirty="0" err="1">
                <a:latin typeface="Palatino Linotype" panose="02040502050505030304" pitchFamily="18" charset="0"/>
              </a:rPr>
              <a:t>luminances</a:t>
            </a:r>
            <a:r>
              <a:rPr lang="en-US" sz="3200" b="1" i="1" dirty="0">
                <a:latin typeface="Palatino Linotype" panose="02040502050505030304" pitchFamily="18" charset="0"/>
              </a:rPr>
              <a:t> of individual primary colours</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Grassman’s</a:t>
            </a:r>
            <a:r>
              <a:rPr lang="en-US" sz="3600" dirty="0">
                <a:latin typeface="Palatino Linotype" panose="02040502050505030304" pitchFamily="18" charset="0"/>
              </a:rPr>
              <a:t> Law</a:t>
            </a:r>
          </a:p>
        </p:txBody>
      </p:sp>
    </p:spTree>
    <p:extLst>
      <p:ext uri="{BB962C8B-B14F-4D97-AF65-F5344CB8AC3E}">
        <p14:creationId xmlns:p14="http://schemas.microsoft.com/office/powerpoint/2010/main" val="33119316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49</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a:t>
            </a:r>
            <a:r>
              <a:rPr lang="en-US" sz="2800" dirty="0" err="1">
                <a:latin typeface="Palatino Linotype" panose="02040502050505030304" pitchFamily="18" charset="0"/>
              </a:rPr>
              <a:t>Grassman’s</a:t>
            </a:r>
            <a:r>
              <a:rPr lang="en-US" sz="2800" dirty="0">
                <a:latin typeface="Palatino Linotype" panose="02040502050505030304" pitchFamily="18" charset="0"/>
              </a:rPr>
              <a:t> law is represented by the following equation:</a:t>
            </a:r>
          </a:p>
          <a:p>
            <a:pPr marL="0" indent="0" algn="ctr">
              <a:buNone/>
            </a:pPr>
            <a:r>
              <a:rPr lang="en-US" sz="2800" b="1" dirty="0">
                <a:latin typeface="Palatino Linotype" panose="02040502050505030304" pitchFamily="18" charset="0"/>
              </a:rPr>
              <a:t>Y = 0.59(G) + 0.30 (R) + 0.11(B)</a:t>
            </a:r>
          </a:p>
          <a:p>
            <a:pPr algn="just"/>
            <a:r>
              <a:rPr lang="en-US" sz="2800" dirty="0">
                <a:latin typeface="Palatino Linotype" panose="02040502050505030304" pitchFamily="18" charset="0"/>
              </a:rPr>
              <a:t>where G, R and B are the intensities of green, red and blue lights. </a:t>
            </a:r>
          </a:p>
          <a:p>
            <a:pPr algn="just"/>
            <a:r>
              <a:rPr lang="en-US" sz="2800" dirty="0">
                <a:latin typeface="Palatino Linotype" panose="02040502050505030304" pitchFamily="18" charset="0"/>
              </a:rPr>
              <a:t>Here Y does not mean yellow, but it only represents Y-coordinate of an equation and gives luminance value of a pixel.</a:t>
            </a:r>
          </a:p>
          <a:p>
            <a:pPr algn="just"/>
            <a:r>
              <a:rPr lang="en-US" sz="2800" dirty="0">
                <a:latin typeface="Palatino Linotype" panose="02040502050505030304" pitchFamily="18" charset="0"/>
              </a:rPr>
              <a:t>According to the above equation, if G, R and B are 1 lumen each for the colour camera, then the resultant white (luminance signal) will be 1 lumen, consisting of 0.59 lumen of green, 0.3 lumen of red and 0.11 lumen of blue (0.59 + 0.30 + 0.11 = 1)</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Grassman’s</a:t>
            </a:r>
            <a:r>
              <a:rPr lang="en-US" sz="3600" dirty="0">
                <a:latin typeface="Palatino Linotype" panose="02040502050505030304" pitchFamily="18" charset="0"/>
              </a:rPr>
              <a:t> Law</a:t>
            </a:r>
          </a:p>
        </p:txBody>
      </p:sp>
    </p:spTree>
    <p:extLst>
      <p:ext uri="{BB962C8B-B14F-4D97-AF65-F5344CB8AC3E}">
        <p14:creationId xmlns:p14="http://schemas.microsoft.com/office/powerpoint/2010/main" val="2078762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50</a:t>
            </a:fld>
            <a:endParaRPr lang="en-US" noProof="0" dirty="0"/>
          </a:p>
        </p:txBody>
      </p:sp>
      <p:sp>
        <p:nvSpPr>
          <p:cNvPr id="3" name="Content Placeholder 2"/>
          <p:cNvSpPr>
            <a:spLocks noGrp="1"/>
          </p:cNvSpPr>
          <p:nvPr>
            <p:ph idx="1"/>
          </p:nvPr>
        </p:nvSpPr>
        <p:spPr>
          <a:xfrm>
            <a:off x="363416" y="1825625"/>
            <a:ext cx="5975039" cy="4637582"/>
          </a:xfrm>
        </p:spPr>
        <p:txBody>
          <a:bodyPr>
            <a:normAutofit/>
          </a:bodyPr>
          <a:lstStyle/>
          <a:p>
            <a:pPr algn="just"/>
            <a:r>
              <a:rPr lang="en-US" sz="2800" dirty="0">
                <a:latin typeface="Palatino Linotype" panose="02040502050505030304" pitchFamily="18" charset="0"/>
              </a:rPr>
              <a:t>Visibility function or </a:t>
            </a:r>
            <a:r>
              <a:rPr lang="en-US" sz="2800" dirty="0" err="1">
                <a:latin typeface="Palatino Linotype" panose="02040502050505030304" pitchFamily="18" charset="0"/>
              </a:rPr>
              <a:t>photopic</a:t>
            </a:r>
            <a:r>
              <a:rPr lang="en-US" sz="2800" dirty="0">
                <a:latin typeface="Palatino Linotype" panose="02040502050505030304" pitchFamily="18" charset="0"/>
              </a:rPr>
              <a:t> response of the eye refers to the non-uniform response of the eye to lights of different wavelengths.</a:t>
            </a:r>
          </a:p>
          <a:p>
            <a:pPr algn="just"/>
            <a:r>
              <a:rPr lang="en-US" sz="2800" dirty="0">
                <a:latin typeface="Palatino Linotype" panose="02040502050505030304" pitchFamily="18" charset="0"/>
              </a:rPr>
              <a:t>Example</a:t>
            </a:r>
          </a:p>
          <a:p>
            <a:pPr lvl="1" algn="just"/>
            <a:r>
              <a:rPr lang="en-US" sz="2600" dirty="0">
                <a:latin typeface="Palatino Linotype" panose="02040502050505030304" pitchFamily="18" charset="0"/>
              </a:rPr>
              <a:t>Infrared, ultraviolet light, X-rays and other higher frequency radiations are not visible to the eye.</a:t>
            </a:r>
          </a:p>
          <a:p>
            <a:pPr lvl="1" algn="just"/>
            <a:r>
              <a:rPr lang="en-US" sz="2600" dirty="0">
                <a:latin typeface="Palatino Linotype" panose="02040502050505030304" pitchFamily="18" charset="0"/>
              </a:rPr>
              <a:t>Yellowish-green colour is most visible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Visibility Curve for the Eye</a:t>
            </a:r>
          </a:p>
        </p:txBody>
      </p:sp>
      <p:pic>
        <p:nvPicPr>
          <p:cNvPr id="5" name="Picture 4"/>
          <p:cNvPicPr>
            <a:picLocks noChangeAspect="1"/>
          </p:cNvPicPr>
          <p:nvPr/>
        </p:nvPicPr>
        <p:blipFill>
          <a:blip r:embed="rId2"/>
          <a:stretch>
            <a:fillRect/>
          </a:stretch>
        </p:blipFill>
        <p:spPr>
          <a:xfrm>
            <a:off x="6522221" y="2307243"/>
            <a:ext cx="5410305" cy="32207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5032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51</a:t>
            </a:fld>
            <a:endParaRPr lang="en-US" noProof="0" dirty="0"/>
          </a:p>
        </p:txBody>
      </p:sp>
      <p:sp>
        <p:nvSpPr>
          <p:cNvPr id="3" name="Content Placeholder 2"/>
          <p:cNvSpPr>
            <a:spLocks noGrp="1"/>
          </p:cNvSpPr>
          <p:nvPr>
            <p:ph idx="1"/>
          </p:nvPr>
        </p:nvSpPr>
        <p:spPr>
          <a:xfrm>
            <a:off x="363415" y="1638586"/>
            <a:ext cx="11465169" cy="3126695"/>
          </a:xfrm>
        </p:spPr>
        <p:txBody>
          <a:bodyPr>
            <a:normAutofit lnSpcReduction="10000"/>
          </a:bodyPr>
          <a:lstStyle/>
          <a:p>
            <a:pPr algn="just"/>
            <a:r>
              <a:rPr lang="en-US" sz="2800" dirty="0">
                <a:latin typeface="Palatino Linotype" panose="02040502050505030304" pitchFamily="18" charset="0"/>
              </a:rPr>
              <a:t>The three primary colours can produce any other colour by mixing in appropriate proportions. </a:t>
            </a:r>
          </a:p>
          <a:p>
            <a:pPr algn="just"/>
            <a:r>
              <a:rPr lang="en-US" sz="2800" dirty="0">
                <a:latin typeface="Palatino Linotype" panose="02040502050505030304" pitchFamily="18" charset="0"/>
              </a:rPr>
              <a:t>As a result of subjective experiments, the component values of the three colours have been </a:t>
            </a:r>
            <a:r>
              <a:rPr lang="en-US" sz="2800" dirty="0" err="1">
                <a:latin typeface="Palatino Linotype" panose="02040502050505030304" pitchFamily="18" charset="0"/>
              </a:rPr>
              <a:t>standardised</a:t>
            </a:r>
            <a:r>
              <a:rPr lang="en-US" sz="2800" dirty="0">
                <a:latin typeface="Palatino Linotype" panose="02040502050505030304" pitchFamily="18" charset="0"/>
              </a:rPr>
              <a:t> for television. </a:t>
            </a:r>
          </a:p>
          <a:p>
            <a:pPr algn="just"/>
            <a:r>
              <a:rPr lang="en-US" sz="2800" dirty="0">
                <a:latin typeface="Palatino Linotype" panose="02040502050505030304" pitchFamily="18" charset="0"/>
              </a:rPr>
              <a:t>These component values are called </a:t>
            </a:r>
            <a:r>
              <a:rPr lang="en-US" sz="2800" dirty="0" err="1">
                <a:latin typeface="Palatino Linotype" panose="02040502050505030304" pitchFamily="18" charset="0"/>
              </a:rPr>
              <a:t>tristimulus</a:t>
            </a:r>
            <a:r>
              <a:rPr lang="en-US" sz="2800" dirty="0">
                <a:latin typeface="Palatino Linotype" panose="02040502050505030304" pitchFamily="18" charset="0"/>
              </a:rPr>
              <a:t> values. </a:t>
            </a:r>
          </a:p>
          <a:p>
            <a:pPr algn="just"/>
            <a:r>
              <a:rPr lang="en-US" sz="2800" dirty="0">
                <a:latin typeface="Palatino Linotype" panose="02040502050505030304" pitchFamily="18" charset="0"/>
              </a:rPr>
              <a:t>The neutral white which is used as reference white for TV is a mixture  of:</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Tristimulus</a:t>
            </a:r>
            <a:r>
              <a:rPr lang="en-US" sz="3600" dirty="0">
                <a:latin typeface="Palatino Linotype" panose="02040502050505030304" pitchFamily="18" charset="0"/>
              </a:rPr>
              <a:t> Values</a:t>
            </a:r>
          </a:p>
        </p:txBody>
      </p:sp>
      <p:pic>
        <p:nvPicPr>
          <p:cNvPr id="5" name="Picture 4"/>
          <p:cNvPicPr>
            <a:picLocks noChangeAspect="1"/>
          </p:cNvPicPr>
          <p:nvPr/>
        </p:nvPicPr>
        <p:blipFill>
          <a:blip r:embed="rId2"/>
          <a:stretch>
            <a:fillRect/>
          </a:stretch>
        </p:blipFill>
        <p:spPr>
          <a:xfrm>
            <a:off x="3237287" y="4661373"/>
            <a:ext cx="6022150" cy="1905744"/>
          </a:xfrm>
          <a:prstGeom prst="rect">
            <a:avLst/>
          </a:prstGeom>
        </p:spPr>
      </p:pic>
    </p:spTree>
    <p:extLst>
      <p:ext uri="{BB962C8B-B14F-4D97-AF65-F5344CB8AC3E}">
        <p14:creationId xmlns:p14="http://schemas.microsoft.com/office/powerpoint/2010/main" val="24239873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52</a:t>
            </a:fld>
            <a:endParaRPr lang="en-US" noProof="0" dirty="0"/>
          </a:p>
        </p:txBody>
      </p:sp>
      <p:sp>
        <p:nvSpPr>
          <p:cNvPr id="3" name="Content Placeholder 2"/>
          <p:cNvSpPr>
            <a:spLocks noGrp="1"/>
          </p:cNvSpPr>
          <p:nvPr>
            <p:ph idx="1"/>
          </p:nvPr>
        </p:nvSpPr>
        <p:spPr>
          <a:xfrm>
            <a:off x="363416" y="1825625"/>
            <a:ext cx="11465168" cy="4637582"/>
          </a:xfrm>
        </p:spPr>
        <p:txBody>
          <a:bodyPr>
            <a:normAutofit lnSpcReduction="10000"/>
          </a:bodyPr>
          <a:lstStyle/>
          <a:p>
            <a:pPr algn="just"/>
            <a:r>
              <a:rPr lang="en-US" sz="2800" dirty="0">
                <a:latin typeface="Palatino Linotype" panose="02040502050505030304" pitchFamily="18" charset="0"/>
              </a:rPr>
              <a:t>If brightness of each colour is reduced by a common factor, the resultant will represent shades of white, e.g. light grey, grey and dark grey. </a:t>
            </a:r>
          </a:p>
          <a:p>
            <a:pPr algn="just"/>
            <a:r>
              <a:rPr lang="en-US" sz="2800" dirty="0">
                <a:latin typeface="Palatino Linotype" panose="02040502050505030304" pitchFamily="18" charset="0"/>
              </a:rPr>
              <a:t>When brightness of all the primary colours is zero, the resultant is black.</a:t>
            </a:r>
          </a:p>
          <a:p>
            <a:pPr algn="just"/>
            <a:r>
              <a:rPr lang="en-US" sz="2800" dirty="0">
                <a:latin typeface="Palatino Linotype" panose="02040502050505030304" pitchFamily="18" charset="0"/>
              </a:rPr>
              <a:t>If 1 lumen of each primary colour gives white, then 0.8 lumen of each may give light grey, 0.5 lumen of each, grey and 0.3 lumen of each, dark grey.</a:t>
            </a:r>
          </a:p>
          <a:p>
            <a:pPr algn="just"/>
            <a:r>
              <a:rPr lang="en-US" sz="2800" dirty="0">
                <a:latin typeface="Palatino Linotype" panose="02040502050505030304" pitchFamily="18" charset="0"/>
              </a:rPr>
              <a:t>If the magnitudes of the primary colours are not equal, some colour (other than shades of grey) will be produced by additive mixing and its saturation will depend upon the quantity of white present in the colour.</a:t>
            </a:r>
          </a:p>
        </p:txBody>
      </p:sp>
      <p:sp>
        <p:nvSpPr>
          <p:cNvPr id="4" name="Title 3"/>
          <p:cNvSpPr>
            <a:spLocks noGrp="1"/>
          </p:cNvSpPr>
          <p:nvPr>
            <p:ph type="title"/>
          </p:nvPr>
        </p:nvSpPr>
        <p:spPr/>
        <p:txBody>
          <a:bodyPr>
            <a:normAutofit/>
          </a:bodyPr>
          <a:lstStyle/>
          <a:p>
            <a:r>
              <a:rPr lang="en-US" sz="3600" dirty="0" err="1">
                <a:latin typeface="Palatino Linotype" panose="02040502050505030304" pitchFamily="18" charset="0"/>
              </a:rPr>
              <a:t>Tristimulus</a:t>
            </a:r>
            <a:r>
              <a:rPr lang="en-US" sz="3600" dirty="0">
                <a:latin typeface="Palatino Linotype" panose="02040502050505030304" pitchFamily="18" charset="0"/>
              </a:rPr>
              <a:t> Values</a:t>
            </a:r>
          </a:p>
        </p:txBody>
      </p:sp>
    </p:spTree>
    <p:extLst>
      <p:ext uri="{BB962C8B-B14F-4D97-AF65-F5344CB8AC3E}">
        <p14:creationId xmlns:p14="http://schemas.microsoft.com/office/powerpoint/2010/main" val="38097060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53</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05</a:t>
            </a:r>
          </a:p>
        </p:txBody>
      </p:sp>
      <p:pic>
        <p:nvPicPr>
          <p:cNvPr id="5" name="Picture 4"/>
          <p:cNvPicPr>
            <a:picLocks noChangeAspect="1"/>
          </p:cNvPicPr>
          <p:nvPr/>
        </p:nvPicPr>
        <p:blipFill>
          <a:blip r:embed="rId2"/>
          <a:stretch>
            <a:fillRect/>
          </a:stretch>
        </p:blipFill>
        <p:spPr>
          <a:xfrm>
            <a:off x="376641" y="1691030"/>
            <a:ext cx="11275577" cy="4522735"/>
          </a:xfrm>
          <a:prstGeom prst="rect">
            <a:avLst/>
          </a:prstGeom>
        </p:spPr>
      </p:pic>
    </p:spTree>
    <p:extLst>
      <p:ext uri="{BB962C8B-B14F-4D97-AF65-F5344CB8AC3E}">
        <p14:creationId xmlns:p14="http://schemas.microsoft.com/office/powerpoint/2010/main" val="11476205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54</a:t>
            </a:fld>
            <a:endParaRPr lang="en-US" noProof="0" dirty="0"/>
          </a:p>
        </p:txBody>
      </p:sp>
      <p:sp>
        <p:nvSpPr>
          <p:cNvPr id="3" name="Content Placeholder 2"/>
          <p:cNvSpPr>
            <a:spLocks noGrp="1"/>
          </p:cNvSpPr>
          <p:nvPr>
            <p:ph idx="1"/>
          </p:nvPr>
        </p:nvSpPr>
        <p:spPr/>
        <p:txBody>
          <a:bodyPr>
            <a:normAutofit/>
          </a:bodyPr>
          <a:lstStyle/>
          <a:p>
            <a:pPr algn="just"/>
            <a:r>
              <a:rPr lang="en-US" sz="2800" b="1" dirty="0">
                <a:solidFill>
                  <a:schemeClr val="accent1"/>
                </a:solidFill>
                <a:latin typeface="Palatino Linotype" panose="02040502050505030304" pitchFamily="18" charset="0"/>
              </a:rPr>
              <a:t>Spare sometime and read about</a:t>
            </a:r>
          </a:p>
          <a:p>
            <a:pPr lvl="1" algn="just"/>
            <a:r>
              <a:rPr lang="en-US" sz="2600" dirty="0">
                <a:latin typeface="Palatino Linotype" panose="02040502050505030304" pitchFamily="18" charset="0"/>
              </a:rPr>
              <a:t>Colour Triangle</a:t>
            </a:r>
          </a:p>
          <a:p>
            <a:pPr lvl="1" algn="just"/>
            <a:r>
              <a:rPr lang="en-US" sz="2600" dirty="0">
                <a:latin typeface="Palatino Linotype" panose="02040502050505030304" pitchFamily="18" charset="0"/>
              </a:rPr>
              <a:t>Chromaticity Diagram</a:t>
            </a:r>
          </a:p>
          <a:p>
            <a:pPr lvl="1" algn="just"/>
            <a:r>
              <a:rPr lang="en-US" sz="2600" dirty="0">
                <a:latin typeface="Palatino Linotype" panose="02040502050505030304" pitchFamily="18" charset="0"/>
              </a:rPr>
              <a:t>Spectral and Non-spectral Colours and</a:t>
            </a:r>
          </a:p>
          <a:p>
            <a:pPr lvl="1" algn="just"/>
            <a:r>
              <a:rPr lang="en-US" sz="2600" dirty="0">
                <a:latin typeface="Palatino Linotype" panose="02040502050505030304" pitchFamily="18" charset="0"/>
              </a:rPr>
              <a:t>Colour Circle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Reading Assignment</a:t>
            </a:r>
          </a:p>
        </p:txBody>
      </p:sp>
    </p:spTree>
    <p:extLst>
      <p:ext uri="{BB962C8B-B14F-4D97-AF65-F5344CB8AC3E}">
        <p14:creationId xmlns:p14="http://schemas.microsoft.com/office/powerpoint/2010/main" val="31654569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55</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Sound is invariably associated with television </a:t>
            </a:r>
            <a:r>
              <a:rPr lang="en-US" sz="2800" dirty="0" err="1">
                <a:latin typeface="Palatino Linotype" panose="02040502050505030304" pitchFamily="18" charset="0"/>
              </a:rPr>
              <a:t>programmes</a:t>
            </a:r>
            <a:r>
              <a:rPr lang="en-US" sz="2800" dirty="0">
                <a:latin typeface="Palatino Linotype" panose="02040502050505030304" pitchFamily="18" charset="0"/>
              </a:rPr>
              <a:t>. </a:t>
            </a:r>
          </a:p>
          <a:p>
            <a:pPr algn="just"/>
            <a:r>
              <a:rPr lang="en-US" sz="2800" dirty="0">
                <a:latin typeface="Palatino Linotype" panose="02040502050505030304" pitchFamily="18" charset="0"/>
              </a:rPr>
              <a:t>Hence quality of sound is as important as quality of picture for enjoying a TV </a:t>
            </a:r>
            <a:r>
              <a:rPr lang="en-US" sz="2800" dirty="0" err="1">
                <a:latin typeface="Palatino Linotype" panose="02040502050505030304" pitchFamily="18" charset="0"/>
              </a:rPr>
              <a:t>programme</a:t>
            </a:r>
            <a:r>
              <a:rPr lang="en-US" sz="2800" dirty="0">
                <a:latin typeface="Palatino Linotype" panose="02040502050505030304" pitchFamily="18" charset="0"/>
              </a:rPr>
              <a:t>.</a:t>
            </a:r>
          </a:p>
          <a:p>
            <a:pPr algn="just"/>
            <a:r>
              <a:rPr lang="en-US" sz="2800" dirty="0">
                <a:latin typeface="Palatino Linotype" panose="02040502050505030304" pitchFamily="18" charset="0"/>
              </a:rPr>
              <a:t>Good sound should be free of noise and distortion and should have comfortable volume.</a:t>
            </a:r>
          </a:p>
          <a:p>
            <a:pPr algn="just"/>
            <a:r>
              <a:rPr lang="en-US" sz="2800" dirty="0">
                <a:latin typeface="Palatino Linotype" panose="02040502050505030304" pitchFamily="18" charset="0"/>
              </a:rPr>
              <a:t>Characteristics of sound depend on the source producing sound waves and on the ear responding to these waves.</a:t>
            </a:r>
          </a:p>
          <a:p>
            <a:pPr algn="just"/>
            <a:r>
              <a:rPr lang="en-US" sz="2800" dirty="0">
                <a:latin typeface="Palatino Linotype" panose="02040502050505030304" pitchFamily="18" charset="0"/>
              </a:rPr>
              <a:t>The main characteristics are </a:t>
            </a:r>
            <a:r>
              <a:rPr lang="en-US" sz="2800" b="1" dirty="0">
                <a:solidFill>
                  <a:schemeClr val="accent1"/>
                </a:solidFill>
                <a:latin typeface="Palatino Linotype" panose="02040502050505030304" pitchFamily="18" charset="0"/>
              </a:rPr>
              <a:t>Intensity</a:t>
            </a:r>
            <a:r>
              <a:rPr lang="en-US" sz="2800" dirty="0">
                <a:latin typeface="Palatino Linotype" panose="02040502050505030304" pitchFamily="18" charset="0"/>
              </a:rPr>
              <a:t> and </a:t>
            </a:r>
            <a:r>
              <a:rPr lang="en-US" sz="2800" b="1" dirty="0">
                <a:solidFill>
                  <a:schemeClr val="accent1"/>
                </a:solidFill>
                <a:latin typeface="Palatino Linotype" panose="02040502050505030304" pitchFamily="18" charset="0"/>
              </a:rPr>
              <a:t>Frequency.</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Characteristics of Sound</a:t>
            </a:r>
          </a:p>
        </p:txBody>
      </p:sp>
    </p:spTree>
    <p:extLst>
      <p:ext uri="{BB962C8B-B14F-4D97-AF65-F5344CB8AC3E}">
        <p14:creationId xmlns:p14="http://schemas.microsoft.com/office/powerpoint/2010/main" val="37896585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56</a:t>
            </a:fld>
            <a:endParaRPr lang="en-US" noProof="0" dirty="0"/>
          </a:p>
        </p:txBody>
      </p:sp>
      <p:sp>
        <p:nvSpPr>
          <p:cNvPr id="3" name="Content Placeholder 2"/>
          <p:cNvSpPr>
            <a:spLocks noGrp="1"/>
          </p:cNvSpPr>
          <p:nvPr>
            <p:ph idx="1"/>
          </p:nvPr>
        </p:nvSpPr>
        <p:spPr>
          <a:xfrm>
            <a:off x="363415" y="1600200"/>
            <a:ext cx="11648475" cy="5112391"/>
          </a:xfrm>
        </p:spPr>
        <p:txBody>
          <a:bodyPr>
            <a:normAutofit/>
          </a:bodyPr>
          <a:lstStyle/>
          <a:p>
            <a:pPr algn="just"/>
            <a:r>
              <a:rPr lang="en-US" sz="2800" dirty="0">
                <a:latin typeface="Palatino Linotype" panose="02040502050505030304" pitchFamily="18" charset="0"/>
              </a:rPr>
              <a:t>Sound waves vary in intensity, changing from the just audible sound, lower than even the rustle of leaves to very loud sound as heard in thunder or loud Rock ‘n’ Roll bands. </a:t>
            </a:r>
          </a:p>
          <a:p>
            <a:pPr algn="just"/>
            <a:r>
              <a:rPr lang="en-US" sz="2800" dirty="0">
                <a:latin typeface="Palatino Linotype" panose="02040502050505030304" pitchFamily="18" charset="0"/>
              </a:rPr>
              <a:t>Just audible sound has the intensity of one </a:t>
            </a:r>
            <a:r>
              <a:rPr lang="en-US" sz="2800" dirty="0" err="1">
                <a:latin typeface="Palatino Linotype" panose="02040502050505030304" pitchFamily="18" charset="0"/>
              </a:rPr>
              <a:t>picowatt</a:t>
            </a:r>
            <a:r>
              <a:rPr lang="en-US" sz="2800" dirty="0">
                <a:latin typeface="Palatino Linotype" panose="02040502050505030304" pitchFamily="18" charset="0"/>
              </a:rPr>
              <a:t> per sq. </a:t>
            </a:r>
            <a:r>
              <a:rPr lang="en-US" sz="2800" dirty="0" err="1">
                <a:latin typeface="Palatino Linotype" panose="02040502050505030304" pitchFamily="18" charset="0"/>
              </a:rPr>
              <a:t>metre</a:t>
            </a:r>
            <a:r>
              <a:rPr lang="en-US" sz="2800" dirty="0">
                <a:latin typeface="Palatino Linotype" panose="02040502050505030304" pitchFamily="18" charset="0"/>
              </a:rPr>
              <a:t> (10</a:t>
            </a:r>
            <a:r>
              <a:rPr lang="en-US" sz="2800" baseline="30000" dirty="0">
                <a:latin typeface="Palatino Linotype" panose="02040502050505030304" pitchFamily="18" charset="0"/>
              </a:rPr>
              <a:t>-12</a:t>
            </a:r>
            <a:r>
              <a:rPr lang="en-US" sz="2800" dirty="0">
                <a:latin typeface="Palatino Linotype" panose="02040502050505030304" pitchFamily="18" charset="0"/>
              </a:rPr>
              <a:t> W/m</a:t>
            </a:r>
            <a:r>
              <a:rPr lang="en-US" sz="2800" baseline="30000" dirty="0">
                <a:latin typeface="Palatino Linotype" panose="02040502050505030304" pitchFamily="18" charset="0"/>
              </a:rPr>
              <a:t>2</a:t>
            </a:r>
            <a:r>
              <a:rPr lang="en-US" sz="2800" dirty="0">
                <a:latin typeface="Palatino Linotype" panose="02040502050505030304" pitchFamily="18" charset="0"/>
              </a:rPr>
              <a:t>) and is taken as reference 0 </a:t>
            </a:r>
            <a:r>
              <a:rPr lang="en-US" sz="2800" dirty="0" err="1">
                <a:latin typeface="Palatino Linotype" panose="02040502050505030304" pitchFamily="18" charset="0"/>
              </a:rPr>
              <a:t>dB.</a:t>
            </a:r>
            <a:endParaRPr lang="en-US" sz="2800" dirty="0">
              <a:latin typeface="Palatino Linotype" panose="02040502050505030304" pitchFamily="18" charset="0"/>
            </a:endParaRPr>
          </a:p>
          <a:p>
            <a:pPr algn="just"/>
            <a:r>
              <a:rPr lang="en-US" sz="2800" dirty="0">
                <a:latin typeface="Palatino Linotype" panose="02040502050505030304" pitchFamily="18" charset="0"/>
              </a:rPr>
              <a:t>It is called threshold of hearing</a:t>
            </a:r>
          </a:p>
          <a:p>
            <a:pPr algn="just"/>
            <a:r>
              <a:rPr lang="en-US" sz="2800" dirty="0">
                <a:latin typeface="Palatino Linotype" panose="02040502050505030304" pitchFamily="18" charset="0"/>
              </a:rPr>
              <a:t>With this reference, sound of rustle of leaves is 10 dB, whisper 20 dB, conversation 50 dB, normal speech 74 dB, thunder 100 dB and a loud Rock ‘n’ Roll band in a small hall 120 </a:t>
            </a:r>
            <a:r>
              <a:rPr lang="en-US" sz="2800" dirty="0" err="1">
                <a:latin typeface="Palatino Linotype" panose="02040502050505030304" pitchFamily="18" charset="0"/>
              </a:rPr>
              <a:t>dB.</a:t>
            </a:r>
            <a:r>
              <a:rPr lang="en-US" sz="2800" dirty="0">
                <a:latin typeface="Palatino Linotype" panose="02040502050505030304" pitchFamily="18" charset="0"/>
              </a:rPr>
              <a:t> Intensity of 130 dB causes pain.</a:t>
            </a:r>
          </a:p>
          <a:p>
            <a:pPr algn="just"/>
            <a:r>
              <a:rPr lang="en-US" sz="2800" dirty="0">
                <a:latin typeface="Palatino Linotype" panose="02040502050505030304" pitchFamily="18" charset="0"/>
              </a:rPr>
              <a:t>These intensities are for the ear</a:t>
            </a:r>
          </a:p>
          <a:p>
            <a:pPr algn="just"/>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Intensity of Sound</a:t>
            </a:r>
          </a:p>
        </p:txBody>
      </p:sp>
    </p:spTree>
    <p:extLst>
      <p:ext uri="{BB962C8B-B14F-4D97-AF65-F5344CB8AC3E}">
        <p14:creationId xmlns:p14="http://schemas.microsoft.com/office/powerpoint/2010/main" val="1944867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57</a:t>
            </a:fld>
            <a:endParaRPr lang="en-US" noProof="0" dirty="0"/>
          </a:p>
        </p:txBody>
      </p:sp>
      <p:sp>
        <p:nvSpPr>
          <p:cNvPr id="3" name="Content Placeholder 2"/>
          <p:cNvSpPr>
            <a:spLocks noGrp="1"/>
          </p:cNvSpPr>
          <p:nvPr>
            <p:ph idx="1"/>
          </p:nvPr>
        </p:nvSpPr>
        <p:spPr>
          <a:xfrm>
            <a:off x="363416" y="1600200"/>
            <a:ext cx="11465168" cy="4576763"/>
          </a:xfrm>
        </p:spPr>
        <p:txBody>
          <a:bodyPr>
            <a:normAutofit/>
          </a:bodyPr>
          <a:lstStyle/>
          <a:p>
            <a:pPr algn="just"/>
            <a:r>
              <a:rPr lang="en-US" sz="2800" dirty="0">
                <a:latin typeface="Palatino Linotype" panose="02040502050505030304" pitchFamily="18" charset="0"/>
              </a:rPr>
              <a:t>Another important characteristic of sound is its frequency. </a:t>
            </a:r>
          </a:p>
          <a:p>
            <a:pPr algn="just"/>
            <a:r>
              <a:rPr lang="en-US" sz="2800" dirty="0">
                <a:latin typeface="Palatino Linotype" panose="02040502050505030304" pitchFamily="18" charset="0"/>
              </a:rPr>
              <a:t>It varies from the lowest frequency of 16 Hz to the highest frequency of 20,000 Hz.</a:t>
            </a:r>
          </a:p>
          <a:p>
            <a:pPr algn="just"/>
            <a:r>
              <a:rPr lang="en-US" sz="2800" dirty="0">
                <a:latin typeface="Palatino Linotype" panose="02040502050505030304" pitchFamily="18" charset="0"/>
              </a:rPr>
              <a:t>It can take any value within this range.</a:t>
            </a:r>
          </a:p>
          <a:p>
            <a:pPr algn="just"/>
            <a:r>
              <a:rPr lang="en-US" sz="2800" dirty="0">
                <a:latin typeface="Palatino Linotype" panose="02040502050505030304" pitchFamily="18" charset="0"/>
              </a:rPr>
              <a:t>Outside this range our ears will not hear the sound.</a:t>
            </a:r>
          </a:p>
          <a:p>
            <a:pPr algn="just"/>
            <a:r>
              <a:rPr lang="en-US" sz="2800" dirty="0">
                <a:latin typeface="Palatino Linotype" panose="02040502050505030304" pitchFamily="18" charset="0"/>
              </a:rPr>
              <a:t>It is ultrasonic beyond 20,000 Hz and infrasonic below 16 Hz.</a:t>
            </a:r>
          </a:p>
          <a:p>
            <a:pPr algn="just"/>
            <a:r>
              <a:rPr lang="en-US" sz="2800" dirty="0">
                <a:latin typeface="Palatino Linotype" panose="02040502050505030304" pitchFamily="18" charset="0"/>
              </a:rPr>
              <a:t>Sound emanating from person(s) or musical instruments consists of a fundamental frequency range and its harmonics which give characteristic </a:t>
            </a:r>
            <a:r>
              <a:rPr lang="en-US" sz="2800" dirty="0" err="1">
                <a:latin typeface="Palatino Linotype" panose="02040502050505030304" pitchFamily="18" charset="0"/>
              </a:rPr>
              <a:t>recognisable</a:t>
            </a:r>
            <a:r>
              <a:rPr lang="en-US" sz="2800" dirty="0">
                <a:latin typeface="Palatino Linotype" panose="02040502050505030304" pitchFamily="18" charset="0"/>
              </a:rPr>
              <a:t> sound for individuals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Frequency Range of Sound</a:t>
            </a:r>
          </a:p>
        </p:txBody>
      </p:sp>
    </p:spTree>
    <p:extLst>
      <p:ext uri="{BB962C8B-B14F-4D97-AF65-F5344CB8AC3E}">
        <p14:creationId xmlns:p14="http://schemas.microsoft.com/office/powerpoint/2010/main" val="33377232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58</a:t>
            </a:fld>
            <a:endParaRPr lang="en-US" noProof="0" dirty="0"/>
          </a:p>
        </p:txBody>
      </p:sp>
      <p:sp>
        <p:nvSpPr>
          <p:cNvPr id="3" name="Content Placeholder 2"/>
          <p:cNvSpPr>
            <a:spLocks noGrp="1"/>
          </p:cNvSpPr>
          <p:nvPr>
            <p:ph idx="1"/>
          </p:nvPr>
        </p:nvSpPr>
        <p:spPr>
          <a:xfrm>
            <a:off x="363416" y="1825625"/>
            <a:ext cx="11465168" cy="3120448"/>
          </a:xfrm>
        </p:spPr>
        <p:txBody>
          <a:bodyPr>
            <a:normAutofit fontScale="92500" lnSpcReduction="10000"/>
          </a:bodyPr>
          <a:lstStyle/>
          <a:p>
            <a:pPr algn="just"/>
            <a:r>
              <a:rPr lang="en-US" sz="2800" dirty="0">
                <a:latin typeface="Palatino Linotype" panose="02040502050505030304" pitchFamily="18" charset="0"/>
              </a:rPr>
              <a:t>Fundamental frequency range of a man’s voice may be 110 – 2000 Hz, but it extends to 8000 Hz due to harmonics.</a:t>
            </a:r>
          </a:p>
          <a:p>
            <a:pPr algn="just"/>
            <a:r>
              <a:rPr lang="en-US" sz="2800" dirty="0">
                <a:latin typeface="Palatino Linotype" panose="02040502050505030304" pitchFamily="18" charset="0"/>
              </a:rPr>
              <a:t>For good quality sound, fundamental frequencies as well as harmonics of the original sound must be reproduced faithfully.</a:t>
            </a:r>
          </a:p>
          <a:p>
            <a:pPr algn="just"/>
            <a:r>
              <a:rPr lang="en-US" sz="2800" dirty="0">
                <a:latin typeface="Palatino Linotype" panose="02040502050505030304" pitchFamily="18" charset="0"/>
              </a:rPr>
              <a:t>Complete range of voice frequencies (16 Hz – 20 kHz) is called </a:t>
            </a:r>
            <a:r>
              <a:rPr lang="en-US" sz="2800" b="1" dirty="0">
                <a:solidFill>
                  <a:schemeClr val="accent1"/>
                </a:solidFill>
                <a:latin typeface="Palatino Linotype" panose="02040502050505030304" pitchFamily="18" charset="0"/>
              </a:rPr>
              <a:t>baseband</a:t>
            </a:r>
            <a:r>
              <a:rPr lang="en-US" sz="2800" dirty="0">
                <a:latin typeface="Palatino Linotype" panose="02040502050505030304" pitchFamily="18" charset="0"/>
              </a:rPr>
              <a:t> of sound.</a:t>
            </a:r>
          </a:p>
          <a:p>
            <a:pPr algn="just"/>
            <a:r>
              <a:rPr lang="en-US" sz="2800" dirty="0">
                <a:latin typeface="Palatino Linotype" panose="02040502050505030304" pitchFamily="18" charset="0"/>
              </a:rPr>
              <a:t>Different portions of this baseband are used for different purposes as mentioned below:</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Frequency Range of Sound</a:t>
            </a:r>
          </a:p>
        </p:txBody>
      </p:sp>
      <p:pic>
        <p:nvPicPr>
          <p:cNvPr id="5" name="Picture 4"/>
          <p:cNvPicPr>
            <a:picLocks noChangeAspect="1"/>
          </p:cNvPicPr>
          <p:nvPr/>
        </p:nvPicPr>
        <p:blipFill>
          <a:blip r:embed="rId2"/>
          <a:stretch>
            <a:fillRect/>
          </a:stretch>
        </p:blipFill>
        <p:spPr>
          <a:xfrm>
            <a:off x="3641760" y="4704668"/>
            <a:ext cx="6478985" cy="19999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02344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59</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Bass pertains to low frequency notes and treble to high frequency notes. </a:t>
            </a:r>
          </a:p>
          <a:p>
            <a:pPr algn="just"/>
            <a:r>
              <a:rPr lang="en-US" sz="2800" dirty="0">
                <a:latin typeface="Palatino Linotype" panose="02040502050505030304" pitchFamily="18" charset="0"/>
              </a:rPr>
              <a:t>Generally the receiver is designed to amplify all the frequencies equally well (from 16 Hz- 20000 Hz).</a:t>
            </a:r>
          </a:p>
          <a:p>
            <a:pPr algn="just"/>
            <a:r>
              <a:rPr lang="en-US" sz="2800" dirty="0">
                <a:latin typeface="Palatino Linotype" panose="02040502050505030304" pitchFamily="18" charset="0"/>
              </a:rPr>
              <a:t>However, some people like depth in sound which is given by boosting the low frequencies (bass boost); some people like sharp sound and want treble more than bas (treble boost).</a:t>
            </a:r>
          </a:p>
          <a:p>
            <a:pPr algn="just"/>
            <a:r>
              <a:rPr lang="en-US" sz="2800" dirty="0">
                <a:latin typeface="Palatino Linotype" panose="02040502050505030304" pitchFamily="18" charset="0"/>
              </a:rPr>
              <a:t>Sound systems use RC filter circuits to incorporate bass and treble controls, so that sound to individual’s taste may be produced.</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Bass and Treble</a:t>
            </a:r>
          </a:p>
        </p:txBody>
      </p:sp>
    </p:spTree>
    <p:extLst>
      <p:ext uri="{BB962C8B-B14F-4D97-AF65-F5344CB8AC3E}">
        <p14:creationId xmlns:p14="http://schemas.microsoft.com/office/powerpoint/2010/main" val="13388194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60</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dirty="0">
                <a:latin typeface="Palatino Linotype" panose="02040502050505030304" pitchFamily="18" charset="0"/>
              </a:rPr>
              <a:t>Transducer is a device which converts physical phenomenon into electrical signals and vice versa. </a:t>
            </a:r>
          </a:p>
          <a:p>
            <a:pPr algn="just"/>
            <a:r>
              <a:rPr lang="en-US" sz="2800" dirty="0">
                <a:latin typeface="Palatino Linotype" panose="02040502050505030304" pitchFamily="18" charset="0"/>
              </a:rPr>
              <a:t>Transducer for light is a camera tube, using a semiconductor target, which has photosensitive property. </a:t>
            </a:r>
          </a:p>
          <a:p>
            <a:pPr algn="just"/>
            <a:r>
              <a:rPr lang="en-US" sz="2800" dirty="0">
                <a:latin typeface="Palatino Linotype" panose="02040502050505030304" pitchFamily="18" charset="0"/>
              </a:rPr>
              <a:t>When light falls on the semiconductor target, electrons are generated in the target. </a:t>
            </a:r>
          </a:p>
          <a:p>
            <a:pPr algn="just"/>
            <a:r>
              <a:rPr lang="en-US" sz="2800" dirty="0">
                <a:latin typeface="Palatino Linotype" panose="02040502050505030304" pitchFamily="18" charset="0"/>
              </a:rPr>
              <a:t>The number of electrons produced is proportional to the intensity of light. </a:t>
            </a:r>
          </a:p>
          <a:p>
            <a:pPr algn="just"/>
            <a:r>
              <a:rPr lang="en-US" sz="2800" dirty="0">
                <a:latin typeface="Palatino Linotype" panose="02040502050505030304" pitchFamily="18" charset="0"/>
              </a:rPr>
              <a:t>These electrons are used to develop voltage (called video signal) across a load resistor.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Transducer for Light and Sound</a:t>
            </a:r>
          </a:p>
        </p:txBody>
      </p:sp>
    </p:spTree>
    <p:extLst>
      <p:ext uri="{BB962C8B-B14F-4D97-AF65-F5344CB8AC3E}">
        <p14:creationId xmlns:p14="http://schemas.microsoft.com/office/powerpoint/2010/main" val="19693741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61</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Transducer for sound is a microphone. </a:t>
            </a:r>
          </a:p>
          <a:p>
            <a:pPr algn="just"/>
            <a:r>
              <a:rPr lang="en-US" sz="2800" dirty="0">
                <a:latin typeface="Palatino Linotype" panose="02040502050505030304" pitchFamily="18" charset="0"/>
              </a:rPr>
              <a:t>When sound strikes a diaphragm, it moves to and fro in a magnetic field.</a:t>
            </a:r>
          </a:p>
          <a:p>
            <a:pPr algn="just"/>
            <a:r>
              <a:rPr lang="en-US" sz="2800" dirty="0">
                <a:latin typeface="Palatino Linotype" panose="02040502050505030304" pitchFamily="18" charset="0"/>
              </a:rPr>
              <a:t>A coil is attached to the diaphragm and the </a:t>
            </a:r>
            <a:r>
              <a:rPr lang="en-US" sz="2800" dirty="0" err="1">
                <a:latin typeface="Palatino Linotype" panose="02040502050505030304" pitchFamily="18" charset="0"/>
              </a:rPr>
              <a:t>emf</a:t>
            </a:r>
            <a:r>
              <a:rPr lang="en-US" sz="2800" dirty="0">
                <a:latin typeface="Palatino Linotype" panose="02040502050505030304" pitchFamily="18" charset="0"/>
              </a:rPr>
              <a:t> is induced in the coil as per rules of electromagnetic induction.</a:t>
            </a:r>
          </a:p>
          <a:p>
            <a:pPr algn="just"/>
            <a:r>
              <a:rPr lang="en-US" sz="2800" dirty="0">
                <a:latin typeface="Palatino Linotype" panose="02040502050505030304" pitchFamily="18" charset="0"/>
              </a:rPr>
              <a:t>This voltage is called </a:t>
            </a:r>
            <a:r>
              <a:rPr lang="en-US" sz="2800" b="1" dirty="0">
                <a:solidFill>
                  <a:schemeClr val="accent1"/>
                </a:solidFill>
                <a:latin typeface="Palatino Linotype" panose="02040502050505030304" pitchFamily="18" charset="0"/>
              </a:rPr>
              <a:t>audio signal</a:t>
            </a:r>
            <a:r>
              <a:rPr lang="en-US" sz="2800" dirty="0">
                <a:latin typeface="Palatino Linotype" panose="02040502050505030304" pitchFamily="18" charset="0"/>
              </a:rPr>
              <a:t>.</a:t>
            </a:r>
          </a:p>
          <a:p>
            <a:pPr algn="just"/>
            <a:r>
              <a:rPr lang="en-US" sz="2800" dirty="0">
                <a:latin typeface="Palatino Linotype" panose="02040502050505030304" pitchFamily="18" charset="0"/>
              </a:rPr>
              <a:t>Video signal is converted back to light by a cathode ray tube, called picture tube. </a:t>
            </a:r>
          </a:p>
          <a:p>
            <a:pPr algn="just"/>
            <a:r>
              <a:rPr lang="en-US" sz="2800" dirty="0">
                <a:latin typeface="Palatino Linotype" panose="02040502050505030304" pitchFamily="18" charset="0"/>
              </a:rPr>
              <a:t>Audio signal is converted back to sound by a loudspeaker.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Transducer for Light and Sound</a:t>
            </a:r>
          </a:p>
        </p:txBody>
      </p:sp>
    </p:spTree>
    <p:extLst>
      <p:ext uri="{BB962C8B-B14F-4D97-AF65-F5344CB8AC3E}">
        <p14:creationId xmlns:p14="http://schemas.microsoft.com/office/powerpoint/2010/main" val="14166659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62</a:t>
            </a:fld>
            <a:endParaRPr lang="en-US" noProof="0" dirty="0"/>
          </a:p>
        </p:txBody>
      </p:sp>
      <p:sp>
        <p:nvSpPr>
          <p:cNvPr id="5" name="Title 3"/>
          <p:cNvSpPr txBox="1">
            <a:spLocks/>
          </p:cNvSpPr>
          <p:nvPr/>
        </p:nvSpPr>
        <p:spPr>
          <a:xfrm>
            <a:off x="3844636" y="2962851"/>
            <a:ext cx="4405746" cy="918553"/>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sz="3600" dirty="0">
                <a:latin typeface="Palatino Linotype" panose="02040502050505030304" pitchFamily="18" charset="0"/>
              </a:rPr>
              <a:t>End of </a:t>
            </a:r>
            <a:r>
              <a:rPr lang="en-US" sz="3600">
                <a:latin typeface="Palatino Linotype" panose="02040502050505030304" pitchFamily="18" charset="0"/>
              </a:rPr>
              <a:t>Lecture 2A</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1661202062"/>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0CE401-796E-4493-905E-4DDA5AF62AB4}">
  <ds:schemaRefs>
    <ds:schemaRef ds:uri="http://www.w3.org/XML/1998/namespace"/>
    <ds:schemaRef ds:uri="http://purl.org/dc/terms/"/>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0D46D58D-B27D-4B23-AEA1-AE974AB6221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5141</Words>
  <Application>Microsoft Office PowerPoint</Application>
  <PresentationFormat>Widescreen</PresentationFormat>
  <Paragraphs>379</Paragraphs>
  <Slides>62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Palatino Linotype</vt:lpstr>
      <vt:lpstr>Office Theme</vt:lpstr>
      <vt:lpstr>LECTURE two (A): Characteristics of light and sound</vt:lpstr>
      <vt:lpstr>INTRODUCTION</vt:lpstr>
      <vt:lpstr>Units of Light</vt:lpstr>
      <vt:lpstr>Units of Light</vt:lpstr>
      <vt:lpstr>Units of Light</vt:lpstr>
      <vt:lpstr>Brightness vs Intensity of Illumination</vt:lpstr>
      <vt:lpstr>Units of Sound</vt:lpstr>
      <vt:lpstr>Intensity of Light in a Picture</vt:lpstr>
      <vt:lpstr>Image</vt:lpstr>
      <vt:lpstr>Picture Frame</vt:lpstr>
      <vt:lpstr>Picture Frame</vt:lpstr>
      <vt:lpstr>Picture Frame</vt:lpstr>
      <vt:lpstr>Aspect Ratio</vt:lpstr>
      <vt:lpstr>Aspect Ratio</vt:lpstr>
      <vt:lpstr>Example 01</vt:lpstr>
      <vt:lpstr>Picture Elements</vt:lpstr>
      <vt:lpstr>Picture Elements</vt:lpstr>
      <vt:lpstr>Picture Elements</vt:lpstr>
      <vt:lpstr>Details and Resolution</vt:lpstr>
      <vt:lpstr>Visual Acuteness and Viewing Distance</vt:lpstr>
      <vt:lpstr>Visual Acuteness and Viewing Distance</vt:lpstr>
      <vt:lpstr>Example 02</vt:lpstr>
      <vt:lpstr>Example 03</vt:lpstr>
      <vt:lpstr>Visual Acuteness and Viewing Distance</vt:lpstr>
      <vt:lpstr>Visual Acuteness and Viewing Distance</vt:lpstr>
      <vt:lpstr>Persistence of Vision</vt:lpstr>
      <vt:lpstr>Flicker</vt:lpstr>
      <vt:lpstr>Brightness</vt:lpstr>
      <vt:lpstr>Tonal Gradation </vt:lpstr>
      <vt:lpstr>Contrast</vt:lpstr>
      <vt:lpstr>Contrast</vt:lpstr>
      <vt:lpstr>Brightness vs Contrast</vt:lpstr>
      <vt:lpstr>Characteristics of Colour</vt:lpstr>
      <vt:lpstr>Resolution and Bandwidth of Colours</vt:lpstr>
      <vt:lpstr>Example 04</vt:lpstr>
      <vt:lpstr>Colour Temperature</vt:lpstr>
      <vt:lpstr>Colour Temperature</vt:lpstr>
      <vt:lpstr>Primary Colours</vt:lpstr>
      <vt:lpstr>Complementary Colours</vt:lpstr>
      <vt:lpstr>Additive Mixing of Colours</vt:lpstr>
      <vt:lpstr>Subtractive Mixing of Colours</vt:lpstr>
      <vt:lpstr>Subtractive Mixing of Colours</vt:lpstr>
      <vt:lpstr>Additive vs Subtractive Mixing</vt:lpstr>
      <vt:lpstr>Additive vs Subtractive Mixing</vt:lpstr>
      <vt:lpstr>Hue, Saturation and Luminance</vt:lpstr>
      <vt:lpstr>Hue, Saturation and Luminance</vt:lpstr>
      <vt:lpstr>Hue, Saturation and Luminance</vt:lpstr>
      <vt:lpstr>Grassman’s Law</vt:lpstr>
      <vt:lpstr>Grassman’s Law</vt:lpstr>
      <vt:lpstr>Visibility Curve for the Eye</vt:lpstr>
      <vt:lpstr>Tristimulus Values</vt:lpstr>
      <vt:lpstr>Tristimulus Values</vt:lpstr>
      <vt:lpstr>Example 05</vt:lpstr>
      <vt:lpstr>Reading Assignment</vt:lpstr>
      <vt:lpstr>Characteristics of Sound</vt:lpstr>
      <vt:lpstr>Intensity of Sound</vt:lpstr>
      <vt:lpstr>Frequency Range of Sound</vt:lpstr>
      <vt:lpstr>Frequency Range of Sound</vt:lpstr>
      <vt:lpstr>Bass and Treble</vt:lpstr>
      <vt:lpstr>Transducer for Light and Sound</vt:lpstr>
      <vt:lpstr>Transducer for Light and Sound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2021-11-10T13:51:02Z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