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9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94" r:id="rId12"/>
    <p:sldId id="295" r:id="rId13"/>
    <p:sldId id="278" r:id="rId14"/>
    <p:sldId id="296" r:id="rId15"/>
    <p:sldId id="280" r:id="rId16"/>
    <p:sldId id="281" r:id="rId17"/>
    <p:sldId id="298" r:id="rId18"/>
    <p:sldId id="283" r:id="rId19"/>
    <p:sldId id="284" r:id="rId20"/>
    <p:sldId id="297" r:id="rId21"/>
    <p:sldId id="286" r:id="rId22"/>
    <p:sldId id="287" r:id="rId23"/>
    <p:sldId id="288" r:id="rId24"/>
    <p:sldId id="289" r:id="rId25"/>
    <p:sldId id="29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 autoAdjust="0"/>
  </p:normalViewPr>
  <p:slideViewPr>
    <p:cSldViewPr snapToGrid="0">
      <p:cViewPr varScale="1">
        <p:scale>
          <a:sx n="74" d="100"/>
          <a:sy n="74" d="100"/>
        </p:scale>
        <p:origin x="-582" y="-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662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D6E54E-A526-4E0F-87D8-9F73A6F5CC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63CBC6-97C3-49B6-9728-7040F2351C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00F5777-CA96-4696-8D04-88F6C002D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54902-B231-4589-B9DE-C412F8E6F33B}" type="datetimeFigureOut">
              <a:rPr lang="en-US" smtClean="0"/>
              <a:t>12/2/2022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F21E34B-3C04-49AC-8663-9EA8E2234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318557C-5EDF-4A3B-85AC-FE71D6201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9B3E-2CAB-4DCD-A86C-CAB144153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985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2A26B0-CBC8-4A38-88FD-C3AC99B7D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DAEC01C-D2F4-4E22-B48D-FCB71A781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2D5B544-618E-4875-9BBC-33F93D16F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54902-B231-4589-B9DE-C412F8E6F33B}" type="datetimeFigureOut">
              <a:rPr lang="en-US" smtClean="0"/>
              <a:t>12/2/2022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7336E3C-47A0-477F-9C7C-4ED94EAE5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4118F70-79F6-40EF-B572-5D7DC9E4B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9B3E-2CAB-4DCD-A86C-CAB144153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69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8C1E33-7A66-4364-BD5F-34109BEC3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142A8CD-B19E-43BE-896B-DE0CFF7A4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ECC2CBD-E814-409E-ABD5-0962F6675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54902-B231-4589-B9DE-C412F8E6F33B}" type="datetimeFigureOut">
              <a:rPr lang="en-US" smtClean="0"/>
              <a:t>12/2/2022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6B48D8E-3B54-499A-8C9E-4FD6B844B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D7E09F2-2C5E-4511-9EA5-EE142E6D5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9B3E-2CAB-4DCD-A86C-CAB144153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633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133580-2B99-4F88-822F-BC05FF745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E2DDF71-9B03-4D5B-ACA1-327E7A3F9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5952DEE-92A2-4F52-934F-BC6D3A263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4DF8F11-2CD0-469B-956D-5B490C7A4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54902-B231-4589-B9DE-C412F8E6F33B}" type="datetimeFigureOut">
              <a:rPr lang="en-US" smtClean="0"/>
              <a:t>12/2/2022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C2FCBA0-FC8A-42AA-A7CD-0D29B3B7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D7441C0-46A0-407B-8ECC-CECD19EF8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9B3E-2CAB-4DCD-A86C-CAB144153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07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446F50-B8D8-402D-98D2-C14AF6A60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83FE03B-2062-4EE2-8E26-7DD570C13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55891A3-2557-49FB-BB52-62B75991D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5BF4844-9ADA-47EA-B422-C3458D952E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93CB1F8F-8063-4682-A264-354A5C3192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FC035E5C-5359-4E3A-B8AE-952F2D81F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54902-B231-4589-B9DE-C412F8E6F33B}" type="datetimeFigureOut">
              <a:rPr lang="en-US" smtClean="0"/>
              <a:t>12/2/2022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35EED240-CCA3-4623-A5CF-C95FC979E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0BEE8E4C-35CF-4951-B7CB-3AEB8675B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9B3E-2CAB-4DCD-A86C-CAB144153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211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834FDF-20C5-444A-B7A8-DC1BA3DFB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88498B9-1B02-4CA7-B2A0-753FA77E4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54902-B231-4589-B9DE-C412F8E6F33B}" type="datetimeFigureOut">
              <a:rPr lang="en-US" smtClean="0"/>
              <a:t>12/2/2022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FB79BA1-8650-4A93-929A-F372578E7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B511889-365A-48D5-AD59-6756DAA75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9B3E-2CAB-4DCD-A86C-CAB144153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041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D4F841C-E38D-473C-98D2-5C380178E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54902-B231-4589-B9DE-C412F8E6F33B}" type="datetimeFigureOut">
              <a:rPr lang="en-US" smtClean="0"/>
              <a:t>12/2/2022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7B7C2EDF-13DF-48EA-A6A3-6B6BF20E2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7235CEC-2B26-4D6D-95CC-265115231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9B3E-2CAB-4DCD-A86C-CAB144153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97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B1C499A-562F-423A-8716-88F08791B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15E8107-9876-4653-983E-8683A1F83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75E9817-FD6B-4760-A074-ABCBC9CF8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F6DB22E-D45A-48B8-B5F7-BBAF712E3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54902-B231-4589-B9DE-C412F8E6F33B}" type="datetimeFigureOut">
              <a:rPr lang="en-US" smtClean="0"/>
              <a:t>12/2/2022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76B5872-8334-4BF7-A818-E6910D7C1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2FE098F-471F-45A7-9B14-D79A5234C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9B3E-2CAB-4DCD-A86C-CAB144153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365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728A5D-5FE7-4FAE-B764-AF8220CB9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D0EF6674-FD7D-47DC-BDC9-38EE168F4B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A4548F9-0D8F-4F6C-B770-9FE845CBF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7C3B152-57A5-4E5D-8D25-B2E44A723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54902-B231-4589-B9DE-C412F8E6F33B}" type="datetimeFigureOut">
              <a:rPr lang="en-US" smtClean="0"/>
              <a:t>12/2/2022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76267A8-19DF-4C26-8E6F-55B041983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4CC5C1E-00E7-4F53-B40A-44D5F1FB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9B3E-2CAB-4DCD-A86C-CAB144153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208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5C89502-5F8A-4D8C-A49B-57616031F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EB0AD15-EB59-4484-8FA4-0BF82F20E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11A67F6-6276-4AAA-8E62-52FD65E60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54902-B231-4589-B9DE-C412F8E6F33B}" type="datetimeFigureOut">
              <a:rPr lang="en-US" smtClean="0"/>
              <a:t>12/2/2022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81E4FBF-B9D9-40F2-997F-BE4EC7442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534D871-0C4C-44D4-9193-4E599B92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9B3E-2CAB-4DCD-A86C-CAB144153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33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F6A81DB2-991A-4BDD-89FB-9A0E2952C1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794A65B-6738-4524-9763-0CCB12E84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5B0791E-FA22-4686-B66B-2F631D71F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54902-B231-4589-B9DE-C412F8E6F33B}" type="datetimeFigureOut">
              <a:rPr lang="en-US" smtClean="0"/>
              <a:t>12/2/2022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4E6DD1A-A72F-4276-8103-740871DD7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AED4341-FB9E-4644-A982-EADD86CD6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9B3E-2CAB-4DCD-A86C-CAB144153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666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B2EA132E-ACA9-4459-9EBF-78C49B0CD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6D084A4-86EA-4F08-855E-9CBE8DB79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68B1FCC-2788-4BBA-B1E5-B0ACBDD3A6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54902-B231-4589-B9DE-C412F8E6F33B}" type="datetimeFigureOut">
              <a:rPr lang="en-US" smtClean="0"/>
              <a:t>12/2/2022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21CFFC5-BC79-45B1-AE39-856AAC2E86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83C4100-A277-414A-BE19-9FFC9E7E0B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819B3E-2CAB-4DCD-A86C-CAB144153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793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29C561E-5436-4BFD-9E20-6852486BD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320130" cy="61553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/>
              <a:t>BASIC ENGLISH STRUCTURES</a:t>
            </a:r>
            <a:endParaRPr lang="en-US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273CDDE-4294-4FDC-8427-7A5885AF5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670" y="980662"/>
            <a:ext cx="10124660" cy="5196301"/>
          </a:xfrm>
        </p:spPr>
        <p:txBody>
          <a:bodyPr/>
          <a:lstStyle/>
          <a:p>
            <a:pPr marL="0" indent="0">
              <a:buNone/>
            </a:pPr>
            <a:r>
              <a:rPr lang="en-US" i="1" dirty="0" err="1"/>
              <a:t>i</a:t>
            </a:r>
            <a:r>
              <a:rPr lang="en-US" i="1" dirty="0"/>
              <a:t>. The Active and Passive Voice</a:t>
            </a:r>
          </a:p>
          <a:p>
            <a:pPr algn="just"/>
            <a:r>
              <a:rPr lang="en-US" dirty="0" smtClean="0"/>
              <a:t>Basing on voice, a sentence </a:t>
            </a:r>
            <a:r>
              <a:rPr lang="en-US" dirty="0"/>
              <a:t>can </a:t>
            </a:r>
            <a:r>
              <a:rPr lang="en-US" dirty="0" smtClean="0"/>
              <a:t>be either </a:t>
            </a:r>
            <a:r>
              <a:rPr lang="en-US" dirty="0"/>
              <a:t>active or passive</a:t>
            </a:r>
          </a:p>
          <a:p>
            <a:pPr algn="just"/>
            <a:r>
              <a:rPr lang="en-US" dirty="0" smtClean="0"/>
              <a:t>Active </a:t>
            </a:r>
            <a:r>
              <a:rPr lang="en-US" dirty="0"/>
              <a:t>voice refers to the sentences where the “doer” of the action is the subject and the “receiver” is the object</a:t>
            </a:r>
          </a:p>
          <a:p>
            <a:pPr algn="just"/>
            <a:r>
              <a:rPr lang="en-US" dirty="0"/>
              <a:t>In passive voice, the receiver (object) becomes the doer (subject) and the doer (subject) becomes the receiver (object) formed by “by phrase” which is optional </a:t>
            </a:r>
            <a:r>
              <a:rPr lang="en-US" dirty="0" smtClean="0"/>
              <a:t>material</a:t>
            </a:r>
          </a:p>
          <a:p>
            <a:pPr lvl="0" algn="just"/>
            <a:r>
              <a:rPr lang="en-US" dirty="0">
                <a:solidFill>
                  <a:prstClr val="black"/>
                </a:solidFill>
              </a:rPr>
              <a:t>The passive is formed by using the verb </a:t>
            </a:r>
            <a:r>
              <a:rPr lang="en-US" i="1" dirty="0">
                <a:solidFill>
                  <a:prstClr val="black"/>
                </a:solidFill>
              </a:rPr>
              <a:t>to be </a:t>
            </a:r>
            <a:r>
              <a:rPr lang="en-US" dirty="0">
                <a:solidFill>
                  <a:prstClr val="black"/>
                </a:solidFill>
              </a:rPr>
              <a:t>followed by the main verb in past participle</a:t>
            </a:r>
          </a:p>
          <a:p>
            <a:pPr lvl="0" algn="just"/>
            <a:r>
              <a:rPr lang="en-US" i="1" dirty="0">
                <a:solidFill>
                  <a:prstClr val="black"/>
                </a:solidFill>
              </a:rPr>
              <a:t>Verb to be</a:t>
            </a:r>
            <a:r>
              <a:rPr lang="en-US" dirty="0">
                <a:solidFill>
                  <a:prstClr val="black"/>
                </a:solidFill>
              </a:rPr>
              <a:t>: be, being, been, is, was, are, were, am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756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4B1C30-5A52-4A5E-B1DF-093A66642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280374" cy="483014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….cont.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3BE9615-73EA-44B6-AA85-48D5506C1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8140"/>
            <a:ext cx="10280374" cy="5328823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Examples:</a:t>
            </a:r>
          </a:p>
          <a:p>
            <a:r>
              <a:rPr lang="en-US" i="1" dirty="0"/>
              <a:t>Active: </a:t>
            </a:r>
            <a:r>
              <a:rPr lang="en-US" dirty="0"/>
              <a:t>The bandits destroyed the houses</a:t>
            </a:r>
          </a:p>
          <a:p>
            <a:r>
              <a:rPr lang="en-US" dirty="0"/>
              <a:t>Passive: The houses were destroyed (by the bandits)</a:t>
            </a:r>
          </a:p>
          <a:p>
            <a:r>
              <a:rPr lang="en-US" i="1" dirty="0"/>
              <a:t>Active: </a:t>
            </a:r>
            <a:r>
              <a:rPr lang="en-US" dirty="0"/>
              <a:t>The engineers will build a modern bungalow next year</a:t>
            </a:r>
          </a:p>
          <a:p>
            <a:r>
              <a:rPr lang="en-US" dirty="0"/>
              <a:t>Passive: The modern bungalow will be built next year (by engineers)</a:t>
            </a:r>
          </a:p>
          <a:p>
            <a:r>
              <a:rPr lang="en-US" i="1" dirty="0"/>
              <a:t>Active: </a:t>
            </a:r>
            <a:r>
              <a:rPr lang="en-US" dirty="0" smtClean="0"/>
              <a:t>Students must </a:t>
            </a:r>
            <a:r>
              <a:rPr lang="en-US" dirty="0"/>
              <a:t>obey University by-laws</a:t>
            </a:r>
          </a:p>
          <a:p>
            <a:r>
              <a:rPr lang="en-US" dirty="0"/>
              <a:t>Passive: The University by-laws must be obeyed (by </a:t>
            </a:r>
            <a:r>
              <a:rPr lang="en-US" dirty="0" smtClean="0"/>
              <a:t>students)</a:t>
            </a:r>
            <a:endParaRPr lang="en-US" dirty="0"/>
          </a:p>
          <a:p>
            <a:r>
              <a:rPr lang="en-US" i="1" dirty="0"/>
              <a:t>Active: </a:t>
            </a:r>
            <a:r>
              <a:rPr lang="en-US" dirty="0"/>
              <a:t>Computer scientists are testing new applications</a:t>
            </a:r>
          </a:p>
          <a:p>
            <a:r>
              <a:rPr lang="en-US" dirty="0"/>
              <a:t>Passive: New applications are being tested (by computer scientists)</a:t>
            </a:r>
          </a:p>
        </p:txBody>
      </p:sp>
    </p:spTree>
    <p:extLst>
      <p:ext uri="{BB962C8B-B14F-4D97-AF65-F5344CB8AC3E}">
        <p14:creationId xmlns:p14="http://schemas.microsoft.com/office/powerpoint/2010/main" val="1646071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EE45BD-8F29-4B18-BCF5-C8DF5B2CC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280374" cy="416753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….cont.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95543E8-5E81-4E3E-87F4-C42723F24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7896"/>
            <a:ext cx="10515600" cy="5289067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Uses of the Passive.</a:t>
            </a:r>
          </a:p>
          <a:p>
            <a:pPr marL="514350" indent="-514350" algn="just">
              <a:buAutoNum type="alphaLcParenBoth"/>
            </a:pPr>
            <a:r>
              <a:rPr lang="en-US" dirty="0"/>
              <a:t>When the doer of the action is unknown or we don’t want to mention the doer</a:t>
            </a:r>
          </a:p>
          <a:p>
            <a:pPr marL="0" indent="0" algn="just">
              <a:buNone/>
            </a:pPr>
            <a:r>
              <a:rPr lang="en-US" dirty="0" smtClean="0"/>
              <a:t>Active: The rebels killed his father</a:t>
            </a:r>
          </a:p>
          <a:p>
            <a:pPr marL="0" indent="0" algn="just">
              <a:buNone/>
            </a:pPr>
            <a:r>
              <a:rPr lang="en-US" dirty="0" smtClean="0"/>
              <a:t>Passive: His </a:t>
            </a:r>
            <a:r>
              <a:rPr lang="en-US" dirty="0"/>
              <a:t>father was </a:t>
            </a:r>
            <a:r>
              <a:rPr lang="en-US" dirty="0" smtClean="0"/>
              <a:t>killed</a:t>
            </a:r>
          </a:p>
          <a:p>
            <a:pPr marL="0" indent="0" algn="just">
              <a:buNone/>
            </a:pPr>
            <a:r>
              <a:rPr lang="en-US" dirty="0" smtClean="0"/>
              <a:t>Active: </a:t>
            </a:r>
            <a:r>
              <a:rPr lang="en-US" dirty="0" err="1" smtClean="0"/>
              <a:t>Mkuki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Nyota</a:t>
            </a:r>
            <a:r>
              <a:rPr lang="en-US" dirty="0" smtClean="0"/>
              <a:t> printed that book.</a:t>
            </a:r>
          </a:p>
          <a:p>
            <a:pPr marL="0" indent="0" algn="just">
              <a:buNone/>
            </a:pPr>
            <a:r>
              <a:rPr lang="en-US" dirty="0" smtClean="0"/>
              <a:t>Passive: That book was printed</a:t>
            </a:r>
          </a:p>
          <a:p>
            <a:pPr marL="0" indent="0" algn="just">
              <a:buNone/>
            </a:pPr>
            <a:r>
              <a:rPr lang="en-US" dirty="0" smtClean="0"/>
              <a:t>(</a:t>
            </a:r>
            <a:r>
              <a:rPr lang="en-US" dirty="0"/>
              <a:t>b) Used in scientific reports/experiments where is unnecessary to mention the doer</a:t>
            </a:r>
          </a:p>
          <a:p>
            <a:r>
              <a:rPr lang="en-US" dirty="0" err="1"/>
              <a:t>Sulphuric</a:t>
            </a:r>
            <a:r>
              <a:rPr lang="en-US" dirty="0"/>
              <a:t> acid was added then the mixture was heated for 5 minutes…..</a:t>
            </a:r>
          </a:p>
          <a:p>
            <a:r>
              <a:rPr lang="en-US" dirty="0"/>
              <a:t>The prototype car was designed at MUST</a:t>
            </a:r>
          </a:p>
          <a:p>
            <a:pPr marL="0" indent="0" algn="just">
              <a:buNone/>
            </a:pPr>
            <a:r>
              <a:rPr lang="en-US" dirty="0"/>
              <a:t>(c) When we wish to draw attention to the subject rather than the agent</a:t>
            </a:r>
          </a:p>
          <a:p>
            <a:pPr algn="just"/>
            <a:r>
              <a:rPr lang="en-US" u="sng" dirty="0"/>
              <a:t>President Kennedy </a:t>
            </a:r>
            <a:r>
              <a:rPr lang="en-US" dirty="0"/>
              <a:t>was killed </a:t>
            </a:r>
            <a:r>
              <a:rPr lang="en-US"/>
              <a:t>by </a:t>
            </a:r>
            <a:r>
              <a:rPr lang="en-US" smtClean="0"/>
              <a:t>the bandit </a:t>
            </a:r>
            <a:endParaRPr lang="en-US" dirty="0"/>
          </a:p>
          <a:p>
            <a:pPr algn="just"/>
            <a:r>
              <a:rPr lang="en-US" u="sng" dirty="0"/>
              <a:t>His sister </a:t>
            </a:r>
            <a:r>
              <a:rPr lang="en-US" dirty="0"/>
              <a:t>was knocked down by a coach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521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B743A9-5DE9-4FD9-BE4E-AD0A2EE63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6023"/>
          </a:xfrm>
        </p:spPr>
        <p:txBody>
          <a:bodyPr>
            <a:normAutofit/>
          </a:bodyPr>
          <a:lstStyle/>
          <a:p>
            <a:r>
              <a:rPr lang="en-US" sz="2800" b="1" dirty="0"/>
              <a:t>ii. Direct and Indirect (reported) Speeches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88D4538-EC2F-4244-8AFE-9D3168520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1148"/>
            <a:ext cx="10515600" cy="5275815"/>
          </a:xfrm>
        </p:spPr>
        <p:txBody>
          <a:bodyPr/>
          <a:lstStyle/>
          <a:p>
            <a:r>
              <a:rPr lang="en-US" dirty="0"/>
              <a:t>Direct speech refers to actual words of the original speaker </a:t>
            </a:r>
            <a:r>
              <a:rPr lang="en-US" i="1" dirty="0"/>
              <a:t>WHILE</a:t>
            </a:r>
          </a:p>
          <a:p>
            <a:r>
              <a:rPr lang="en-US" dirty="0"/>
              <a:t>Indirect speech refers to utterances that are </a:t>
            </a:r>
            <a:r>
              <a:rPr lang="en-US" u="sng" dirty="0"/>
              <a:t>not quotations</a:t>
            </a:r>
            <a:r>
              <a:rPr lang="en-US" dirty="0"/>
              <a:t>, but, reflect what somebody else said sometimes in the past</a:t>
            </a:r>
          </a:p>
          <a:p>
            <a:r>
              <a:rPr lang="en-US" dirty="0"/>
              <a:t>Indirect speech is when you report somebody else’s statement in your own words without any change in the meaning of the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i="1" dirty="0"/>
              <a:t>When changing from direct to reported speeches there are some rules to pay attention to:</a:t>
            </a:r>
          </a:p>
          <a:p>
            <a:pPr marL="0" indent="0">
              <a:buNone/>
            </a:pPr>
            <a:r>
              <a:rPr lang="en-US" dirty="0"/>
              <a:t>(a) Tense changes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Simple </a:t>
            </a:r>
            <a:r>
              <a:rPr lang="en-US" i="1" dirty="0"/>
              <a:t>present</a:t>
            </a:r>
            <a:r>
              <a:rPr lang="en-US" dirty="0"/>
              <a:t> becomes simple </a:t>
            </a:r>
            <a:r>
              <a:rPr lang="en-US" i="1" dirty="0"/>
              <a:t>past</a:t>
            </a:r>
          </a:p>
          <a:p>
            <a:r>
              <a:rPr lang="en-US" dirty="0"/>
              <a:t>“I </a:t>
            </a:r>
            <a:r>
              <a:rPr lang="en-US" u="sng" dirty="0"/>
              <a:t>study</a:t>
            </a:r>
            <a:r>
              <a:rPr lang="en-US" dirty="0"/>
              <a:t> structural mechanics every Monday,” he said.</a:t>
            </a:r>
          </a:p>
          <a:p>
            <a:r>
              <a:rPr lang="en-US" dirty="0"/>
              <a:t>He said (that) he </a:t>
            </a:r>
            <a:r>
              <a:rPr lang="en-US" u="sng" dirty="0"/>
              <a:t>studied</a:t>
            </a:r>
            <a:r>
              <a:rPr lang="en-US" dirty="0"/>
              <a:t> structural mechanics every </a:t>
            </a:r>
            <a:r>
              <a:rPr lang="en-US" dirty="0">
                <a:solidFill>
                  <a:prstClr val="black"/>
                </a:solidFill>
              </a:rPr>
              <a:t>Monday.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8061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2FFB29-D243-4DB8-B01F-5634CF83F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651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….cont.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925E2FE-F167-43DE-AC0A-721AEAB8B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0661"/>
            <a:ext cx="10515600" cy="519630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i="1" dirty="0"/>
              <a:t>Present continuous </a:t>
            </a:r>
            <a:r>
              <a:rPr lang="en-US" dirty="0"/>
              <a:t>becomes </a:t>
            </a:r>
            <a:r>
              <a:rPr lang="en-US" i="1" dirty="0"/>
              <a:t>past continuous</a:t>
            </a:r>
          </a:p>
          <a:p>
            <a:r>
              <a:rPr lang="en-US" i="1" dirty="0"/>
              <a:t>“I </a:t>
            </a:r>
            <a:r>
              <a:rPr lang="en-US" i="1" u="sng" dirty="0"/>
              <a:t>am studying </a:t>
            </a:r>
            <a:r>
              <a:rPr lang="en-US" dirty="0">
                <a:solidFill>
                  <a:prstClr val="black"/>
                </a:solidFill>
              </a:rPr>
              <a:t>structural mechanics</a:t>
            </a:r>
            <a:r>
              <a:rPr lang="en-US" dirty="0"/>
              <a:t> </a:t>
            </a:r>
            <a:r>
              <a:rPr lang="en-US" i="1" u="sng" dirty="0"/>
              <a:t>at the moment</a:t>
            </a:r>
            <a:r>
              <a:rPr lang="en-US" i="1" dirty="0"/>
              <a:t>,” he said.</a:t>
            </a:r>
          </a:p>
          <a:p>
            <a:r>
              <a:rPr lang="en-US" i="1" dirty="0"/>
              <a:t>He said, </a:t>
            </a:r>
            <a:r>
              <a:rPr lang="en-US" dirty="0"/>
              <a:t>he</a:t>
            </a:r>
            <a:r>
              <a:rPr lang="en-US" i="1" dirty="0"/>
              <a:t> </a:t>
            </a:r>
            <a:r>
              <a:rPr lang="en-US" i="1" u="sng" dirty="0"/>
              <a:t>was studying </a:t>
            </a:r>
            <a:r>
              <a:rPr lang="en-US" dirty="0">
                <a:solidFill>
                  <a:prstClr val="black"/>
                </a:solidFill>
              </a:rPr>
              <a:t>structural mechanics</a:t>
            </a:r>
            <a:r>
              <a:rPr lang="en-US" i="1" dirty="0"/>
              <a:t> </a:t>
            </a:r>
            <a:r>
              <a:rPr lang="en-US" i="1" u="sng" dirty="0"/>
              <a:t>at that moment</a:t>
            </a:r>
            <a:r>
              <a:rPr lang="en-US" i="1" dirty="0"/>
              <a:t>.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Present perfect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becomes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past perfect</a:t>
            </a:r>
          </a:p>
          <a:p>
            <a:pPr lvl="0">
              <a:defRPr/>
            </a:pP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“I </a:t>
            </a:r>
            <a:r>
              <a:rPr lang="en-US" i="1" u="sng" dirty="0">
                <a:solidFill>
                  <a:prstClr val="black"/>
                </a:solidFill>
                <a:latin typeface="Calibri" panose="020F0502020204030204"/>
              </a:rPr>
              <a:t>have studied </a:t>
            </a:r>
            <a:r>
              <a:rPr lang="en-US" dirty="0">
                <a:solidFill>
                  <a:prstClr val="black"/>
                </a:solidFill>
              </a:rPr>
              <a:t>structural mechanics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for three years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,” he said.</a:t>
            </a:r>
          </a:p>
          <a:p>
            <a:pPr lvl="0"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said, he </a:t>
            </a:r>
            <a:r>
              <a:rPr kumimoji="0" lang="en-US" sz="28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had studied </a:t>
            </a:r>
            <a:r>
              <a:rPr lang="en-US" dirty="0">
                <a:solidFill>
                  <a:prstClr val="black"/>
                </a:solidFill>
              </a:rPr>
              <a:t>structural mechanics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three years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Present perfect continuous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becomes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past perfect continuous</a:t>
            </a:r>
          </a:p>
          <a:p>
            <a:pPr lvl="0"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“I </a:t>
            </a:r>
            <a:r>
              <a:rPr kumimoji="0" lang="en-US" sz="28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have been studying</a:t>
            </a:r>
            <a:r>
              <a:rPr lang="en-US" dirty="0">
                <a:solidFill>
                  <a:prstClr val="black"/>
                </a:solidFill>
              </a:rPr>
              <a:t> structural mechanics </a:t>
            </a:r>
            <a:r>
              <a:rPr kumimoji="0" lang="en-US" sz="28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three years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,” he said.</a:t>
            </a:r>
          </a:p>
          <a:p>
            <a:pPr lvl="0"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said, he </a:t>
            </a:r>
            <a:r>
              <a:rPr kumimoji="0" lang="en-US" sz="28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had been studying </a:t>
            </a:r>
            <a:r>
              <a:rPr lang="en-US" dirty="0">
                <a:solidFill>
                  <a:prstClr val="black"/>
                </a:solidFill>
              </a:rPr>
              <a:t>structural mechanics</a:t>
            </a:r>
            <a:r>
              <a:rPr kumimoji="0" lang="en-US" sz="28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for three years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020278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E55B4D-8F42-446A-AF0A-0C781344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277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….cont.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F01C28D-D048-4F5D-B0B9-B99457CCA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165"/>
            <a:ext cx="10515600" cy="5169798"/>
          </a:xfrm>
        </p:spPr>
        <p:txBody>
          <a:bodyPr>
            <a:normAutofit lnSpcReduction="10000"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Simple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past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usually remains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simple past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“I </a:t>
            </a:r>
            <a:r>
              <a:rPr kumimoji="0" lang="en-US" sz="28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studied</a:t>
            </a:r>
            <a:r>
              <a:rPr kumimoji="0" lang="en-US" sz="2800" b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structural mechanics</a:t>
            </a:r>
            <a:r>
              <a:rPr kumimoji="0" lang="en-US" sz="28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last year,” he said.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He said, he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studied</a:t>
            </a: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structural mechanics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previous year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Future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becomes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conditional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“I </a:t>
            </a:r>
            <a:r>
              <a:rPr kumimoji="0" lang="en-US" sz="28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will study</a:t>
            </a: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structural mechanics next year,” he said.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said, he </a:t>
            </a: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would </a:t>
            </a:r>
            <a:r>
              <a:rPr kumimoji="0" lang="en-US" sz="28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study</a:t>
            </a: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structural mechanics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year before.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>
              <a:buFont typeface="Wingdings" panose="05000000000000000000" pitchFamily="2" charset="2"/>
              <a:buChar char="ü"/>
              <a:defRPr/>
            </a:pP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Future perfect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becomes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conditional perfect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 I </a:t>
            </a: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will have studied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structural mechanics for three years next month,” he said.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He said, he </a:t>
            </a:r>
            <a:r>
              <a:rPr lang="en-US" u="sng" dirty="0">
                <a:solidFill>
                  <a:prstClr val="black"/>
                </a:solidFill>
                <a:latin typeface="Calibri" panose="020F0502020204030204"/>
              </a:rPr>
              <a:t>would have studied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structural mechanics for three years </a:t>
            </a:r>
            <a:r>
              <a:rPr lang="en-US" dirty="0" smtClean="0">
                <a:solidFill>
                  <a:prstClr val="black"/>
                </a:solidFill>
                <a:latin typeface="Calibri" panose="020F0502020204030204"/>
              </a:rPr>
              <a:t>the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month before.</a:t>
            </a:r>
            <a:r>
              <a:rPr lang="en-US" dirty="0" smtClean="0">
                <a:solidFill>
                  <a:prstClr val="black"/>
                </a:solidFill>
                <a:latin typeface="Calibri" panose="020F0502020204030204"/>
              </a:rPr>
              <a:t>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800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219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0C2060-824D-4AD4-AF84-A38D6ABC6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2771"/>
          </a:xfrm>
        </p:spPr>
        <p:txBody>
          <a:bodyPr>
            <a:normAutofit/>
          </a:bodyPr>
          <a:lstStyle/>
          <a:p>
            <a:r>
              <a:rPr lang="en-US" sz="2800" dirty="0"/>
              <a:t>(b) Pronoun and possessive adjective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58CE03A-47CA-4082-8D92-48071A6B2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7896"/>
            <a:ext cx="10515600" cy="5289067"/>
          </a:xfrm>
        </p:spPr>
        <p:txBody>
          <a:bodyPr/>
          <a:lstStyle/>
          <a:p>
            <a:r>
              <a:rPr lang="en-US" dirty="0"/>
              <a:t>“</a:t>
            </a:r>
            <a:r>
              <a:rPr lang="en-US" i="1" u="sng" dirty="0"/>
              <a:t>I</a:t>
            </a:r>
            <a:r>
              <a:rPr lang="en-US" dirty="0"/>
              <a:t> have left </a:t>
            </a:r>
            <a:r>
              <a:rPr lang="en-US" i="1" u="sng" dirty="0"/>
              <a:t>my</a:t>
            </a:r>
            <a:r>
              <a:rPr lang="en-US" dirty="0"/>
              <a:t> book in </a:t>
            </a:r>
            <a:r>
              <a:rPr lang="en-US" i="1" u="sng" dirty="0"/>
              <a:t>your</a:t>
            </a:r>
            <a:r>
              <a:rPr lang="en-US" dirty="0"/>
              <a:t> car,” Mary told her boyfriend.</a:t>
            </a:r>
          </a:p>
          <a:p>
            <a:r>
              <a:rPr lang="en-US" dirty="0"/>
              <a:t>Mary told her boyfriend (that) </a:t>
            </a:r>
            <a:r>
              <a:rPr lang="en-US" i="1" u="sng" dirty="0"/>
              <a:t>she</a:t>
            </a:r>
            <a:r>
              <a:rPr lang="en-US" u="sng" dirty="0"/>
              <a:t> </a:t>
            </a:r>
            <a:r>
              <a:rPr lang="en-US" dirty="0"/>
              <a:t>had left </a:t>
            </a:r>
            <a:r>
              <a:rPr lang="en-US" i="1" u="sng" dirty="0"/>
              <a:t>her</a:t>
            </a:r>
            <a:r>
              <a:rPr lang="en-US" dirty="0"/>
              <a:t> book in</a:t>
            </a:r>
            <a:r>
              <a:rPr lang="en-US" u="sng" dirty="0"/>
              <a:t> </a:t>
            </a:r>
            <a:r>
              <a:rPr lang="en-US" i="1" u="sng" dirty="0"/>
              <a:t>his</a:t>
            </a:r>
            <a:r>
              <a:rPr lang="en-US" dirty="0"/>
              <a:t> car.</a:t>
            </a:r>
          </a:p>
          <a:p>
            <a:pPr marL="0" indent="0">
              <a:buNone/>
            </a:pPr>
            <a:r>
              <a:rPr lang="en-US" dirty="0"/>
              <a:t>(c) Demonstrative adjective changes</a:t>
            </a:r>
          </a:p>
          <a:p>
            <a:r>
              <a:rPr lang="en-US" dirty="0"/>
              <a:t>“I borrowed</a:t>
            </a:r>
            <a:r>
              <a:rPr lang="en-US" i="1" u="sng" dirty="0"/>
              <a:t> this </a:t>
            </a:r>
            <a:r>
              <a:rPr lang="en-US" dirty="0"/>
              <a:t>pen from my cousin,” Eliakim said.</a:t>
            </a:r>
          </a:p>
          <a:p>
            <a:r>
              <a:rPr lang="en-US" dirty="0"/>
              <a:t>Eliakim said that he borrowed </a:t>
            </a:r>
            <a:r>
              <a:rPr lang="en-US" i="1" u="sng" dirty="0"/>
              <a:t>that</a:t>
            </a:r>
            <a:r>
              <a:rPr lang="en-US" dirty="0"/>
              <a:t> pen from his cousin.</a:t>
            </a:r>
          </a:p>
          <a:p>
            <a:pPr marL="0" indent="0" algn="ctr">
              <a:buNone/>
            </a:pPr>
            <a:r>
              <a:rPr lang="en-US" u="sng" dirty="0"/>
              <a:t>Direct   </a:t>
            </a:r>
            <a:r>
              <a:rPr lang="en-US" dirty="0"/>
              <a:t>                      </a:t>
            </a:r>
            <a:r>
              <a:rPr lang="en-US" u="sng" dirty="0"/>
              <a:t>Indirect</a:t>
            </a:r>
          </a:p>
          <a:p>
            <a:pPr marL="0" indent="0" algn="ctr">
              <a:buNone/>
            </a:pPr>
            <a:r>
              <a:rPr lang="en-US" dirty="0"/>
              <a:t>This                       That or the</a:t>
            </a:r>
          </a:p>
          <a:p>
            <a:pPr marL="0" indent="0" algn="ctr">
              <a:buNone/>
            </a:pPr>
            <a:r>
              <a:rPr lang="en-US" dirty="0"/>
              <a:t>  These                    Those or the</a:t>
            </a:r>
          </a:p>
        </p:txBody>
      </p:sp>
    </p:spTree>
    <p:extLst>
      <p:ext uri="{BB962C8B-B14F-4D97-AF65-F5344CB8AC3E}">
        <p14:creationId xmlns:p14="http://schemas.microsoft.com/office/powerpoint/2010/main" val="1461270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441B95B-D38F-43F5-8C0C-5B53F7866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9518"/>
          </a:xfrm>
        </p:spPr>
        <p:txBody>
          <a:bodyPr>
            <a:noAutofit/>
          </a:bodyPr>
          <a:lstStyle/>
          <a:p>
            <a:r>
              <a:rPr lang="en-US" sz="3200" dirty="0"/>
              <a:t>iv. Adverb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EFFD773-8B66-48F7-A047-2209A437A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4643"/>
            <a:ext cx="10515600" cy="5486400"/>
          </a:xfrm>
        </p:spPr>
        <p:txBody>
          <a:bodyPr/>
          <a:lstStyle/>
          <a:p>
            <a:r>
              <a:rPr lang="en-US" dirty="0"/>
              <a:t>“I will bring the photo </a:t>
            </a:r>
            <a:r>
              <a:rPr lang="en-US" i="1" u="sng" dirty="0"/>
              <a:t>tomorrow</a:t>
            </a:r>
            <a:r>
              <a:rPr lang="en-US" dirty="0"/>
              <a:t>,” he said.</a:t>
            </a:r>
          </a:p>
          <a:p>
            <a:r>
              <a:rPr lang="en-US" dirty="0"/>
              <a:t>He said, he would bring the photo </a:t>
            </a:r>
            <a:r>
              <a:rPr lang="en-US" i="1" u="sng" dirty="0"/>
              <a:t>the next day</a:t>
            </a:r>
            <a:r>
              <a:rPr lang="en-US" dirty="0"/>
              <a:t>.</a:t>
            </a:r>
          </a:p>
          <a:p>
            <a:pPr marL="0" indent="0" algn="ctr">
              <a:buNone/>
            </a:pPr>
            <a:r>
              <a:rPr lang="en-US" dirty="0"/>
              <a:t>   </a:t>
            </a:r>
            <a:r>
              <a:rPr lang="en-US" u="sng" dirty="0"/>
              <a:t>Direct </a:t>
            </a:r>
            <a:r>
              <a:rPr lang="en-US" dirty="0"/>
              <a:t>                                                                               </a:t>
            </a:r>
            <a:r>
              <a:rPr lang="en-US" u="sng" dirty="0"/>
              <a:t> Indirect</a:t>
            </a:r>
            <a:r>
              <a:rPr lang="en-US" dirty="0"/>
              <a:t>	</a:t>
            </a:r>
          </a:p>
          <a:p>
            <a:pPr marL="0" indent="0" algn="ctr">
              <a:buNone/>
            </a:pPr>
            <a:r>
              <a:rPr lang="en-US" dirty="0"/>
              <a:t>Today                                                                               That day</a:t>
            </a:r>
          </a:p>
          <a:p>
            <a:pPr marL="0" indent="0" algn="ctr">
              <a:buNone/>
            </a:pPr>
            <a:r>
              <a:rPr lang="en-US" dirty="0"/>
              <a:t>Yesterday                                           The day before/the previous day</a:t>
            </a:r>
          </a:p>
          <a:p>
            <a:pPr marL="0" indent="0" algn="ctr">
              <a:buNone/>
            </a:pPr>
            <a:r>
              <a:rPr lang="en-US" dirty="0"/>
              <a:t>Tomorrow                                             The next day/the following day</a:t>
            </a:r>
          </a:p>
          <a:p>
            <a:pPr marL="0" indent="0" algn="ctr">
              <a:buNone/>
            </a:pPr>
            <a:r>
              <a:rPr lang="en-US" dirty="0"/>
              <a:t>Last night                                     The night before/the previous night</a:t>
            </a:r>
          </a:p>
          <a:p>
            <a:pPr marL="0" indent="0" algn="ctr">
              <a:buNone/>
            </a:pPr>
            <a:r>
              <a:rPr lang="en-US" dirty="0"/>
              <a:t>Here                                                                                     There</a:t>
            </a:r>
          </a:p>
          <a:p>
            <a:pPr marL="0" indent="0" algn="ctr">
              <a:buNone/>
            </a:pPr>
            <a:r>
              <a:rPr lang="en-US" dirty="0"/>
              <a:t>Ago                                                                                   Before</a:t>
            </a:r>
          </a:p>
          <a:p>
            <a:pPr marL="0" indent="0" algn="ctr">
              <a:buNone/>
            </a:pPr>
            <a:r>
              <a:rPr lang="en-US" dirty="0"/>
              <a:t>Now                                                                                     Then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763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C5B611-16C0-469B-8001-4F1AD562D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9032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v.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967E58-852F-471F-8F99-5B213DF73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4158"/>
            <a:ext cx="10515600" cy="522280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“Take the books to the office,” the boss ordered the secretary.</a:t>
            </a:r>
          </a:p>
          <a:p>
            <a:r>
              <a:rPr lang="en-US" dirty="0"/>
              <a:t>The boss ordered the secretary to take the books to the office.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vi. Questions</a:t>
            </a:r>
          </a:p>
          <a:p>
            <a:r>
              <a:rPr lang="en-US" dirty="0"/>
              <a:t>“ Why have you locked the door?” the teacher asked me.</a:t>
            </a:r>
          </a:p>
          <a:p>
            <a:r>
              <a:rPr lang="en-US" dirty="0"/>
              <a:t>The teacher asked me why I had locked the door.</a:t>
            </a:r>
          </a:p>
          <a:p>
            <a:r>
              <a:rPr lang="en-US" dirty="0"/>
              <a:t>“Have you been to London before?” my father asked him.</a:t>
            </a:r>
          </a:p>
          <a:p>
            <a:r>
              <a:rPr lang="en-US" dirty="0"/>
              <a:t>My father asked him</a:t>
            </a:r>
            <a:r>
              <a:rPr lang="en-US" u="sng" dirty="0"/>
              <a:t> if</a:t>
            </a:r>
            <a:r>
              <a:rPr lang="en-US" dirty="0"/>
              <a:t> he had been to London before.</a:t>
            </a:r>
          </a:p>
          <a:p>
            <a:r>
              <a:rPr lang="en-US" dirty="0"/>
              <a:t>“Have you ever watched terminator iii </a:t>
            </a:r>
            <a:r>
              <a:rPr lang="en-US" dirty="0" err="1"/>
              <a:t>movie?”Joakina</a:t>
            </a:r>
            <a:r>
              <a:rPr lang="en-US" dirty="0"/>
              <a:t> asked Ali politely.</a:t>
            </a:r>
          </a:p>
          <a:p>
            <a:r>
              <a:rPr lang="en-US" dirty="0"/>
              <a:t>Joakina asked Ali politely </a:t>
            </a:r>
            <a:r>
              <a:rPr lang="en-US" u="sng" dirty="0"/>
              <a:t>if </a:t>
            </a:r>
            <a:r>
              <a:rPr lang="en-US" dirty="0"/>
              <a:t>he had ever watched terminator iii movie.</a:t>
            </a:r>
          </a:p>
        </p:txBody>
      </p:sp>
    </p:spTree>
    <p:extLst>
      <p:ext uri="{BB962C8B-B14F-4D97-AF65-F5344CB8AC3E}">
        <p14:creationId xmlns:p14="http://schemas.microsoft.com/office/powerpoint/2010/main" val="3257333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C732C4-921B-4E49-BF19-E4ADAABE0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6023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….cont.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05CA657-5407-49F7-87FE-3224D123E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1148"/>
            <a:ext cx="10515600" cy="5275815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US" i="1" dirty="0"/>
              <a:t>General rules</a:t>
            </a:r>
          </a:p>
          <a:p>
            <a:pPr marL="0" indent="0">
              <a:buNone/>
            </a:pPr>
            <a:r>
              <a:rPr lang="en-US" dirty="0"/>
              <a:t>a) A question changes to a statement</a:t>
            </a:r>
          </a:p>
          <a:p>
            <a:pPr marL="0" indent="0">
              <a:buNone/>
            </a:pPr>
            <a:r>
              <a:rPr lang="en-US" dirty="0"/>
              <a:t>b) The question mark is dropped</a:t>
            </a:r>
          </a:p>
          <a:p>
            <a:pPr marL="0" indent="0">
              <a:buNone/>
            </a:pPr>
            <a:r>
              <a:rPr lang="en-US" dirty="0"/>
              <a:t>c) Questions not beginning with interrogative words like </a:t>
            </a:r>
            <a:r>
              <a:rPr lang="en-US" i="1" dirty="0"/>
              <a:t>why, who, when and what, </a:t>
            </a:r>
            <a:r>
              <a:rPr lang="en-US" dirty="0"/>
              <a:t>require the addition of </a:t>
            </a:r>
            <a:r>
              <a:rPr lang="en-US" i="1" dirty="0"/>
              <a:t>if</a:t>
            </a:r>
            <a:r>
              <a:rPr lang="en-US" dirty="0"/>
              <a:t> or </a:t>
            </a:r>
            <a:r>
              <a:rPr lang="en-US" i="1" dirty="0"/>
              <a:t>whether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8563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C732C4-921B-4E49-BF19-E4ADAABE0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602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vii. Reporting Universal 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05CA657-5407-49F7-87FE-3224D123E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1148"/>
            <a:ext cx="10515600" cy="527581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When reporting permanent states, facts, habits or universal truth, there will be no </a:t>
            </a:r>
            <a:r>
              <a:rPr lang="en-US" dirty="0" smtClean="0"/>
              <a:t>change </a:t>
            </a:r>
            <a:r>
              <a:rPr lang="en-US" dirty="0"/>
              <a:t>of </a:t>
            </a:r>
            <a:r>
              <a:rPr lang="en-US" dirty="0" smtClean="0"/>
              <a:t>tenses.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Here the logic is what was said is still true when it is reported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Thus, in this case we keep the tense of the original speech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Examples</a:t>
            </a:r>
          </a:p>
          <a:p>
            <a:pPr marL="571500" indent="-571500">
              <a:buAutoNum type="romanLcParenR"/>
            </a:pPr>
            <a:r>
              <a:rPr lang="en-US" dirty="0"/>
              <a:t>“The world rotates around the sun”, that geographer said.</a:t>
            </a:r>
          </a:p>
          <a:p>
            <a:pPr marL="0" indent="0">
              <a:buNone/>
            </a:pPr>
            <a:r>
              <a:rPr lang="en-US" dirty="0"/>
              <a:t>          That geographer said that the world rotates around the sun.</a:t>
            </a:r>
          </a:p>
          <a:p>
            <a:pPr marL="0" indent="0">
              <a:buNone/>
            </a:pPr>
            <a:r>
              <a:rPr lang="en-US" dirty="0"/>
              <a:t>ii) “ The earth has spherical shape”, the teacher said.</a:t>
            </a:r>
          </a:p>
          <a:p>
            <a:pPr marL="0" indent="0">
              <a:buNone/>
            </a:pPr>
            <a:r>
              <a:rPr lang="en-US" dirty="0"/>
              <a:t>        The teacher said that the earth has spherical shape.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83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C732C4-921B-4E49-BF19-E4ADAABE0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6023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…Cont.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05CA657-5407-49F7-87FE-3224D123E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1148"/>
            <a:ext cx="10515600" cy="52758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iii) “Water freezes at zero </a:t>
            </a:r>
            <a:r>
              <a:rPr lang="en-US" dirty="0" smtClean="0"/>
              <a:t>degree </a:t>
            </a:r>
            <a:r>
              <a:rPr lang="en-US" dirty="0"/>
              <a:t>of centigrade”, the scientist said.</a:t>
            </a:r>
          </a:p>
          <a:p>
            <a:pPr marL="0" indent="0">
              <a:buNone/>
            </a:pPr>
            <a:r>
              <a:rPr lang="en-US" dirty="0"/>
              <a:t>          The scientist said said that water freezes at zero </a:t>
            </a:r>
            <a:r>
              <a:rPr lang="en-US" dirty="0" smtClean="0"/>
              <a:t>degree of </a:t>
            </a:r>
            <a:r>
              <a:rPr lang="en-US" dirty="0"/>
              <a:t>	centigrade.</a:t>
            </a:r>
          </a:p>
          <a:p>
            <a:pPr marL="0" indent="0">
              <a:buNone/>
            </a:pPr>
            <a:r>
              <a:rPr lang="en-US" dirty="0"/>
              <a:t>iv) “ Magnet attracts iron”, the student told the class.</a:t>
            </a:r>
          </a:p>
          <a:p>
            <a:pPr marL="0" indent="0">
              <a:buNone/>
            </a:pPr>
            <a:r>
              <a:rPr lang="en-US" dirty="0"/>
              <a:t>        The student told the class that magnet attracts iron.</a:t>
            </a:r>
          </a:p>
          <a:p>
            <a:pPr marL="0" indent="0">
              <a:buNone/>
            </a:pPr>
            <a:r>
              <a:rPr lang="en-US" dirty="0"/>
              <a:t>v) “The sun rises from east and set to west”, the professor reported.</a:t>
            </a:r>
          </a:p>
          <a:p>
            <a:pPr marL="0" indent="0">
              <a:buNone/>
            </a:pPr>
            <a:r>
              <a:rPr lang="en-US" dirty="0"/>
              <a:t>       The professor reported that the sun rises from east and set to west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797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5A30A4-49E8-4E1B-B1D0-89BB2B86B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r>
              <a:rPr lang="en-US" sz="2800" b="1" dirty="0"/>
              <a:t>iii. Conditional Sentences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4B53C63-DF17-4746-BB69-F216D9D6C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625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These are sentences that express a condition to be fulfilled first before something else happens</a:t>
            </a:r>
          </a:p>
          <a:p>
            <a:r>
              <a:rPr lang="en-US" dirty="0" err="1"/>
              <a:t>eg.</a:t>
            </a:r>
            <a:r>
              <a:rPr lang="en-US" dirty="0"/>
              <a:t> If the rain stops, we will be able to finish the work.</a:t>
            </a:r>
          </a:p>
          <a:p>
            <a:pPr marL="0" indent="0">
              <a:buNone/>
            </a:pPr>
            <a:r>
              <a:rPr lang="en-US" dirty="0"/>
              <a:t>          I will tell her the truth if we meet in canteen.</a:t>
            </a:r>
          </a:p>
          <a:p>
            <a:r>
              <a:rPr lang="en-US" dirty="0"/>
              <a:t>Basically, there are three types of conditional sentences:</a:t>
            </a:r>
          </a:p>
          <a:p>
            <a:r>
              <a:rPr lang="en-US" dirty="0"/>
              <a:t>The three types require different tense sequences and have different meanings.</a:t>
            </a:r>
          </a:p>
          <a:p>
            <a:pPr marL="514350" indent="-514350">
              <a:buAutoNum type="alphaLcParenBoth"/>
            </a:pPr>
            <a:r>
              <a:rPr lang="en-US" dirty="0"/>
              <a:t>Conditional type 1</a:t>
            </a:r>
          </a:p>
          <a:p>
            <a:r>
              <a:rPr lang="en-US" dirty="0"/>
              <a:t>This is called likely or open condition because there is a great possibility that something will happen if the condition is fulfilled</a:t>
            </a:r>
          </a:p>
          <a:p>
            <a:r>
              <a:rPr lang="en-US" dirty="0"/>
              <a:t>It uses simple present tense in the dependent clause and future time in the main clause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305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277" y="1326524"/>
            <a:ext cx="11808833" cy="4185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5271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5104F67-1AC8-40A1-A580-BD3E8D41B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97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/>
              <a:t>….Cont.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B21B7E-4171-4109-8291-603D10F89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4888"/>
            <a:ext cx="10515600" cy="5342075"/>
          </a:xfrm>
        </p:spPr>
        <p:txBody>
          <a:bodyPr/>
          <a:lstStyle/>
          <a:p>
            <a:r>
              <a:rPr lang="en-US" dirty="0"/>
              <a:t>If Tom goes to MUST, he will study engineering.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This implies that it is possible that Tom will join MUST and study engineering</a:t>
            </a:r>
          </a:p>
          <a:p>
            <a:r>
              <a:rPr lang="en-US" i="1" dirty="0"/>
              <a:t>More examples</a:t>
            </a:r>
          </a:p>
          <a:p>
            <a:r>
              <a:rPr lang="en-US" dirty="0"/>
              <a:t>If you step on a snake it will bite you</a:t>
            </a:r>
          </a:p>
          <a:p>
            <a:r>
              <a:rPr lang="en-US" dirty="0"/>
              <a:t>People will starve if it does not rain for two years</a:t>
            </a:r>
          </a:p>
          <a:p>
            <a:r>
              <a:rPr lang="en-US" dirty="0"/>
              <a:t>Yunis will go home if she finishes the work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Sometimes “Unless” is used to mean “If not”</a:t>
            </a:r>
          </a:p>
          <a:p>
            <a:r>
              <a:rPr lang="en-US" dirty="0"/>
              <a:t>Unless you work hard, you will not pass this module</a:t>
            </a:r>
          </a:p>
          <a:p>
            <a:r>
              <a:rPr lang="en-US" dirty="0"/>
              <a:t>You will not go to heaven unless you repent the sins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998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CAD295-31D3-4337-858D-7A66A0FFD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3257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(b) Conditional Type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B35BC16-60DF-434E-AD18-7C6CF202C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7652"/>
            <a:ext cx="10515600" cy="5249311"/>
          </a:xfr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called unlikely/closed condition because it is unlikely that the condition will be fulfilled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 uses simple past tense in the dependent clause and conditional tense in the main clause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492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118" y="1249251"/>
            <a:ext cx="11758991" cy="4287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3596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AE7D7B-F490-49B8-A9E2-63D3B44F6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527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….Cont.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A03AC90-E9B6-4B4E-9D54-6B2F0B83A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7652"/>
            <a:ext cx="10515600" cy="5249311"/>
          </a:xfrm>
        </p:spPr>
        <p:txBody>
          <a:bodyPr/>
          <a:lstStyle/>
          <a:p>
            <a:r>
              <a:rPr lang="en-US" dirty="0"/>
              <a:t>If Tom went to MUST, he would study engineering.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This implies that Tom is unlikely to go to MUST to study engineering</a:t>
            </a:r>
          </a:p>
          <a:p>
            <a:pPr lvl="0"/>
            <a:r>
              <a:rPr lang="en-US" i="1" dirty="0">
                <a:solidFill>
                  <a:prstClr val="black"/>
                </a:solidFill>
              </a:rPr>
              <a:t>More examples</a:t>
            </a:r>
            <a:endParaRPr lang="en-US" dirty="0"/>
          </a:p>
          <a:p>
            <a:r>
              <a:rPr lang="en-US" dirty="0"/>
              <a:t>If a thief broke into my house, I would call the police</a:t>
            </a:r>
          </a:p>
          <a:p>
            <a:r>
              <a:rPr lang="en-US" dirty="0"/>
              <a:t>If it rained much in Dodoma, they would plant rice</a:t>
            </a:r>
          </a:p>
          <a:p>
            <a:r>
              <a:rPr lang="en-US" dirty="0"/>
              <a:t>You could be selected if you passed your examinations</a:t>
            </a:r>
          </a:p>
          <a:p>
            <a:r>
              <a:rPr lang="en-US" dirty="0"/>
              <a:t>If I had enough money I would buy a new model of V8</a:t>
            </a:r>
          </a:p>
        </p:txBody>
      </p:sp>
    </p:spTree>
    <p:extLst>
      <p:ext uri="{BB962C8B-B14F-4D97-AF65-F5344CB8AC3E}">
        <p14:creationId xmlns:p14="http://schemas.microsoft.com/office/powerpoint/2010/main" val="2623918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0D2E90-4F08-4FDF-969C-955DD95D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6266"/>
          </a:xfrm>
        </p:spPr>
        <p:txBody>
          <a:bodyPr>
            <a:normAutofit fontScale="90000"/>
          </a:bodyPr>
          <a:lstStyle/>
          <a:p>
            <a:r>
              <a:rPr lang="en-US" dirty="0"/>
              <a:t>(c) </a:t>
            </a:r>
            <a:r>
              <a:rPr lang="en-US" sz="2800" dirty="0"/>
              <a:t>Conditional Type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E4BB38-C138-4002-8969-36E2F11A6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0174"/>
            <a:ext cx="10515600" cy="5116789"/>
          </a:xfrm>
        </p:spPr>
        <p:txBody>
          <a:bodyPr/>
          <a:lstStyle/>
          <a:p>
            <a:r>
              <a:rPr lang="en-US" dirty="0"/>
              <a:t>This is purely hypothetical conditional because everything is in the past which implies that nothing can be changed at the moment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formed by dependent clause in past perfect and main clause in past conditional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702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18" y="1828800"/>
            <a:ext cx="11650069" cy="3913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05295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4B9C7B-A004-437D-BF5B-3FBD3ED86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2284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….Cont.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1996067-1173-4756-B18B-299BF2894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7410"/>
            <a:ext cx="10515600" cy="5209553"/>
          </a:xfrm>
        </p:spPr>
        <p:txBody>
          <a:bodyPr/>
          <a:lstStyle/>
          <a:p>
            <a:r>
              <a:rPr lang="en-US" dirty="0"/>
              <a:t>If Tom had gone to MUST, he would have studied engineering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The sentence implies that Tom did not go to MUST therefore did not study engineering</a:t>
            </a:r>
          </a:p>
          <a:p>
            <a:r>
              <a:rPr lang="en-US" i="1" dirty="0"/>
              <a:t>More examples</a:t>
            </a:r>
          </a:p>
          <a:p>
            <a:r>
              <a:rPr lang="en-US" dirty="0"/>
              <a:t>If I had been </a:t>
            </a:r>
            <a:r>
              <a:rPr lang="en-US"/>
              <a:t>in Argentine, </a:t>
            </a:r>
            <a:r>
              <a:rPr lang="en-US" dirty="0"/>
              <a:t>I would have witnessed Diego’s burial ceremony</a:t>
            </a:r>
          </a:p>
          <a:p>
            <a:r>
              <a:rPr lang="en-US" dirty="0"/>
              <a:t>If we had hired a car, we could have saved some money</a:t>
            </a:r>
          </a:p>
          <a:p>
            <a:r>
              <a:rPr lang="en-US" dirty="0"/>
              <a:t>If his brother had been driving, the accident would not have happened</a:t>
            </a:r>
          </a:p>
          <a:p>
            <a:r>
              <a:rPr lang="en-US" dirty="0"/>
              <a:t>The architect would have designed a more expensive house if the owner had agreed to pay.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682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D99BC9-760B-40C0-B47A-0AF048072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9762"/>
          </a:xfrm>
        </p:spPr>
        <p:txBody>
          <a:bodyPr>
            <a:normAutofit fontScale="90000"/>
          </a:bodyPr>
          <a:lstStyle/>
          <a:p>
            <a:r>
              <a:rPr lang="en-US" sz="2800" dirty="0" smtClean="0"/>
              <a:t>iv. </a:t>
            </a:r>
            <a:r>
              <a:rPr lang="en-US" sz="2800" dirty="0"/>
              <a:t>Question Tags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6199CE3-FD8B-4573-AA07-CB38F33E3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6678"/>
            <a:ext cx="10515600" cy="5090285"/>
          </a:xfrm>
        </p:spPr>
        <p:txBody>
          <a:bodyPr/>
          <a:lstStyle/>
          <a:p>
            <a:r>
              <a:rPr lang="en-US" dirty="0"/>
              <a:t>In conversation, we sometimes ask a question not because we need information but confirmation of what we already know</a:t>
            </a:r>
          </a:p>
          <a:p>
            <a:r>
              <a:rPr lang="en-US" dirty="0"/>
              <a:t>We want the person addressed to agree with us and keep the conversation going</a:t>
            </a:r>
          </a:p>
          <a:p>
            <a:r>
              <a:rPr lang="en-US" dirty="0"/>
              <a:t>To achieve this, we add a tag question to a statement.</a:t>
            </a:r>
          </a:p>
          <a:p>
            <a:r>
              <a:rPr lang="en-US" dirty="0"/>
              <a:t>A question tag is therefore, a short question that follows a statement </a:t>
            </a:r>
          </a:p>
          <a:p>
            <a:r>
              <a:rPr lang="en-US" dirty="0"/>
              <a:t>It is made up of an auxiliary plus personal pronoun</a:t>
            </a:r>
          </a:p>
          <a:p>
            <a:pPr marL="0" indent="0">
              <a:buNone/>
            </a:pPr>
            <a:r>
              <a:rPr lang="en-US" dirty="0" err="1"/>
              <a:t>eg.</a:t>
            </a:r>
            <a:r>
              <a:rPr lang="en-US" dirty="0"/>
              <a:t> You don’t like history,</a:t>
            </a:r>
            <a:r>
              <a:rPr lang="en-US" i="1" dirty="0"/>
              <a:t> do you?</a:t>
            </a:r>
          </a:p>
          <a:p>
            <a:pPr marL="0" indent="0">
              <a:buNone/>
            </a:pPr>
            <a:r>
              <a:rPr lang="en-US" i="1" dirty="0"/>
              <a:t>       </a:t>
            </a:r>
            <a:r>
              <a:rPr lang="en-US" smtClean="0"/>
              <a:t>That saloon belongs </a:t>
            </a:r>
            <a:r>
              <a:rPr lang="en-US" dirty="0" smtClean="0"/>
              <a:t>to mama </a:t>
            </a:r>
            <a:r>
              <a:rPr lang="en-US" dirty="0" err="1" smtClean="0"/>
              <a:t>Kimbo</a:t>
            </a:r>
            <a:r>
              <a:rPr lang="en-US" dirty="0" smtClean="0"/>
              <a:t>, doesn’t it?</a:t>
            </a:r>
            <a:endParaRPr lang="en-US" i="1" dirty="0" smtClean="0"/>
          </a:p>
          <a:p>
            <a:pPr marL="0" indent="0">
              <a:buNone/>
            </a:pPr>
            <a:r>
              <a:rPr lang="en-US" i="1" dirty="0"/>
              <a:t> </a:t>
            </a:r>
            <a:r>
              <a:rPr lang="en-US" i="1" dirty="0" smtClean="0"/>
              <a:t>      </a:t>
            </a:r>
            <a:r>
              <a:rPr lang="en-US" dirty="0" err="1" smtClean="0"/>
              <a:t>Tabuley</a:t>
            </a:r>
            <a:r>
              <a:rPr lang="en-US" dirty="0" smtClean="0"/>
              <a:t> </a:t>
            </a:r>
            <a:r>
              <a:rPr lang="en-US" dirty="0" err="1" smtClean="0"/>
              <a:t>Roucherou</a:t>
            </a:r>
            <a:r>
              <a:rPr lang="en-US" dirty="0" smtClean="0"/>
              <a:t> had 104 children,……..?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110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C2DBB13-1869-4E7D-BCE3-17B677119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6023"/>
          </a:xfrm>
        </p:spPr>
        <p:txBody>
          <a:bodyPr>
            <a:normAutofit/>
          </a:bodyPr>
          <a:lstStyle/>
          <a:p>
            <a:r>
              <a:rPr lang="en-US" sz="2800" i="1" dirty="0"/>
              <a:t>Some Guiding Rules: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DFA395C-9EEC-413A-B7D7-5C6FC8B42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3913"/>
            <a:ext cx="10515600" cy="5183050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lphaLcParenBoth"/>
            </a:pPr>
            <a:r>
              <a:rPr lang="en-US" dirty="0"/>
              <a:t>There should be a comma before a question tag and a question mark after the tag</a:t>
            </a:r>
          </a:p>
          <a:p>
            <a:pPr marL="514350" indent="-514350">
              <a:buAutoNum type="alphaLcParenBoth"/>
            </a:pPr>
            <a:r>
              <a:rPr lang="en-US" dirty="0"/>
              <a:t>If the statement is affirmative (positive) the tag question should be negative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You are the prospective engineer, </a:t>
            </a:r>
            <a:r>
              <a:rPr lang="en-US" i="1" dirty="0"/>
              <a:t>aren’t you?</a:t>
            </a:r>
          </a:p>
          <a:p>
            <a:pPr marL="0" indent="0">
              <a:buNone/>
            </a:pPr>
            <a:r>
              <a:rPr lang="en-US" dirty="0"/>
              <a:t>(c) If the statement is negative, the question tag should be positive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You will not read that book, </a:t>
            </a:r>
            <a:r>
              <a:rPr lang="en-US" i="1" dirty="0"/>
              <a:t>will you?</a:t>
            </a:r>
          </a:p>
          <a:p>
            <a:pPr marL="0" indent="0">
              <a:buNone/>
            </a:pPr>
            <a:r>
              <a:rPr lang="en-US" dirty="0"/>
              <a:t>(d) If you are asking a question tag in which you want “YES” answer, a question tag should be negative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She likes mathematics, </a:t>
            </a:r>
            <a:r>
              <a:rPr lang="en-US" i="1" dirty="0"/>
              <a:t>doesn’t she?</a:t>
            </a:r>
          </a:p>
          <a:p>
            <a:pPr marL="0" indent="0">
              <a:buNone/>
            </a:pPr>
            <a:r>
              <a:rPr lang="en-US" dirty="0"/>
              <a:t>Answer: </a:t>
            </a:r>
            <a:r>
              <a:rPr lang="en-US" i="1" dirty="0"/>
              <a:t>YES, she does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435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752F1E-3652-4195-9344-16FC25ADD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8788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….Cont.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80D8E6A-2AFE-4D96-81A7-A680A67B8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3914"/>
            <a:ext cx="10515600" cy="518304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(e) If you expect the answer “NO” the question tag becomes positive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You are not my enemy, </a:t>
            </a:r>
            <a:r>
              <a:rPr lang="en-US" i="1" dirty="0"/>
              <a:t>are you?</a:t>
            </a:r>
          </a:p>
          <a:p>
            <a:pPr marL="0" indent="0">
              <a:buNone/>
            </a:pPr>
            <a:r>
              <a:rPr lang="en-US" i="1" dirty="0"/>
              <a:t>   </a:t>
            </a:r>
            <a:r>
              <a:rPr lang="en-US" dirty="0"/>
              <a:t>Answer: </a:t>
            </a:r>
            <a:r>
              <a:rPr lang="en-US" i="1" dirty="0"/>
              <a:t>NO, I am not</a:t>
            </a:r>
          </a:p>
          <a:p>
            <a:pPr marL="0" indent="0">
              <a:buNone/>
            </a:pPr>
            <a:r>
              <a:rPr lang="en-US" dirty="0"/>
              <a:t>(f) The tense of the tag should correspond to the tense of the statement.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They did not greet their teacher, </a:t>
            </a:r>
            <a:r>
              <a:rPr lang="en-US" i="1" dirty="0"/>
              <a:t>did they?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We are lost, </a:t>
            </a:r>
            <a:r>
              <a:rPr lang="en-US" i="1" dirty="0"/>
              <a:t>aren’t we?</a:t>
            </a:r>
          </a:p>
          <a:p>
            <a:pPr marL="0" indent="0">
              <a:buNone/>
            </a:pPr>
            <a:r>
              <a:rPr lang="en-US" dirty="0"/>
              <a:t>(g) </a:t>
            </a:r>
            <a:r>
              <a:rPr lang="en-US" i="1" dirty="0"/>
              <a:t>Need, dare </a:t>
            </a:r>
            <a:r>
              <a:rPr lang="en-US" dirty="0"/>
              <a:t>and </a:t>
            </a:r>
            <a:r>
              <a:rPr lang="en-US" i="1" dirty="0"/>
              <a:t>am</a:t>
            </a:r>
            <a:r>
              <a:rPr lang="en-US" dirty="0"/>
              <a:t> when used positively in a statement are not repeated in the tag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We </a:t>
            </a:r>
            <a:r>
              <a:rPr lang="en-US" u="sng" dirty="0"/>
              <a:t>need</a:t>
            </a:r>
            <a:r>
              <a:rPr lang="en-US" dirty="0"/>
              <a:t> a rest, </a:t>
            </a:r>
            <a:r>
              <a:rPr lang="en-US" i="1" dirty="0"/>
              <a:t>don’t we?</a:t>
            </a:r>
          </a:p>
        </p:txBody>
      </p:sp>
    </p:spTree>
    <p:extLst>
      <p:ext uri="{BB962C8B-B14F-4D97-AF65-F5344CB8AC3E}">
        <p14:creationId xmlns:p14="http://schemas.microsoft.com/office/powerpoint/2010/main" val="1329594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C96355-8E20-4EB2-AB76-F77478838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2284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….Cont.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C528F30-BC1A-48E0-A078-5421193B2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2696"/>
            <a:ext cx="10515600" cy="4984267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 am your enemy, </a:t>
            </a:r>
            <a:r>
              <a:rPr lang="en-US" i="1" dirty="0"/>
              <a:t>aren’t I?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He dared to stroke the lion, </a:t>
            </a:r>
            <a:r>
              <a:rPr lang="en-US" i="1" dirty="0"/>
              <a:t>didn’t he?</a:t>
            </a:r>
          </a:p>
          <a:p>
            <a:pPr marL="0" indent="0">
              <a:buNone/>
            </a:pPr>
            <a:r>
              <a:rPr lang="en-US" dirty="0"/>
              <a:t>(h) A command can be made into less of a command and more of a request by the addition of a positive tag in the future tense: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Pass me the sugar, </a:t>
            </a:r>
            <a:r>
              <a:rPr lang="en-US" i="1" dirty="0"/>
              <a:t>will you?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Open the window, </a:t>
            </a:r>
            <a:r>
              <a:rPr lang="en-US" i="1" dirty="0"/>
              <a:t>will you?</a:t>
            </a:r>
          </a:p>
          <a:p>
            <a:pPr marL="0" indent="0">
              <a:buNone/>
            </a:pPr>
            <a:r>
              <a:rPr lang="en-US" dirty="0"/>
              <a:t>(I) Since question tags are used almost solely in conversation, the shortened form of the negative (don’t, won’t, doesn’t etc.) is used and pronounced as one word.</a:t>
            </a:r>
          </a:p>
        </p:txBody>
      </p:sp>
    </p:spTree>
    <p:extLst>
      <p:ext uri="{BB962C8B-B14F-4D97-AF65-F5344CB8AC3E}">
        <p14:creationId xmlns:p14="http://schemas.microsoft.com/office/powerpoint/2010/main" val="1233806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2013</TotalTime>
  <Words>1883</Words>
  <Application>Microsoft Office PowerPoint</Application>
  <PresentationFormat>Custom</PresentationFormat>
  <Paragraphs>193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BASIC ENGLISH STRUCTURES</vt:lpstr>
      <vt:lpstr>….cont.</vt:lpstr>
      <vt:lpstr>….cont.</vt:lpstr>
      <vt:lpstr>ii. Direct and Indirect (reported) Speeches</vt:lpstr>
      <vt:lpstr>….cont.</vt:lpstr>
      <vt:lpstr>….cont.</vt:lpstr>
      <vt:lpstr>(b) Pronoun and possessive adjective changes</vt:lpstr>
      <vt:lpstr>iv. Adverb changes</vt:lpstr>
      <vt:lpstr>v. Commands</vt:lpstr>
      <vt:lpstr>….cont.</vt:lpstr>
      <vt:lpstr>vii. Reporting Universal Facts</vt:lpstr>
      <vt:lpstr>…Cont.</vt:lpstr>
      <vt:lpstr>iii. Conditional Sentences</vt:lpstr>
      <vt:lpstr>PowerPoint Presentation</vt:lpstr>
      <vt:lpstr>….Cont.</vt:lpstr>
      <vt:lpstr>(b) Conditional Type 2</vt:lpstr>
      <vt:lpstr>PowerPoint Presentation</vt:lpstr>
      <vt:lpstr>….Cont.</vt:lpstr>
      <vt:lpstr>(c) Conditional Type 3</vt:lpstr>
      <vt:lpstr>PowerPoint Presentation</vt:lpstr>
      <vt:lpstr>….Cont.</vt:lpstr>
      <vt:lpstr>iv. Question Tags</vt:lpstr>
      <vt:lpstr>Some Guiding Rules:</vt:lpstr>
      <vt:lpstr>….Cont.</vt:lpstr>
      <vt:lpstr>….Cont.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MBEYA UNIVERSITY OF SCIENCE AND TECHNOLOGY COLLEGE OF HUMANITIES AND BUSINESS STUDIES</dc:title>
  <dc:creator>Stephen</dc:creator>
  <cp:lastModifiedBy>STEPHEN NSYENGULA</cp:lastModifiedBy>
  <cp:revision>368</cp:revision>
  <dcterms:created xsi:type="dcterms:W3CDTF">2020-11-27T05:27:57Z</dcterms:created>
  <dcterms:modified xsi:type="dcterms:W3CDTF">2022-12-02T09:08:58Z</dcterms:modified>
</cp:coreProperties>
</file>