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handoutMasterIdLst>
    <p:handoutMasterId r:id="rId21"/>
  </p:handoutMasterIdLst>
  <p:sldIdLst>
    <p:sldId id="256" r:id="rId5"/>
    <p:sldId id="265" r:id="rId6"/>
    <p:sldId id="266" r:id="rId7"/>
    <p:sldId id="288" r:id="rId8"/>
    <p:sldId id="267" r:id="rId9"/>
    <p:sldId id="289" r:id="rId10"/>
    <p:sldId id="290" r:id="rId11"/>
    <p:sldId id="268" r:id="rId12"/>
    <p:sldId id="269" r:id="rId13"/>
    <p:sldId id="291" r:id="rId14"/>
    <p:sldId id="292" r:id="rId15"/>
    <p:sldId id="293" r:id="rId16"/>
    <p:sldId id="294"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415" autoAdjust="0"/>
  </p:normalViewPr>
  <p:slideViewPr>
    <p:cSldViewPr snapToGrid="0" showGuides="1">
      <p:cViewPr varScale="1">
        <p:scale>
          <a:sx n="46" d="100"/>
          <a:sy n="46" d="100"/>
        </p:scale>
        <p:origin x="66" y="570"/>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12/30/2020</a:t>
            </a:fld>
            <a:endParaRPr lang="en-US" dirty="0"/>
          </a:p>
        </p:txBody>
      </p:sp>
      <p:sp>
        <p:nvSpPr>
          <p:cNvPr id="4" name="Footer Placeholder 3">
            <a:extLst>
              <a:ext uri="{FF2B5EF4-FFF2-40B4-BE49-F238E27FC236}">
                <a16:creationId xmlns=""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12/30/2020</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a:extLst>
              <a:ext uri="{FF2B5EF4-FFF2-40B4-BE49-F238E27FC236}">
                <a16:creationId xmlns=""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12/30/2020</a:t>
            </a:fld>
            <a:endParaRPr lang="en-US" noProof="0" dirty="0"/>
          </a:p>
        </p:txBody>
      </p:sp>
      <p:cxnSp>
        <p:nvCxnSpPr>
          <p:cNvPr id="7" name="Straight Connector 6">
            <a:extLst>
              <a:ext uri="{FF2B5EF4-FFF2-40B4-BE49-F238E27FC236}">
                <a16:creationId xmlns=""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smtClean="0"/>
              <a:t>Click icon to add picture</a:t>
            </a:r>
            <a:endParaRPr lang="en-US" noProof="0" dirty="0"/>
          </a:p>
        </p:txBody>
      </p:sp>
      <p:sp>
        <p:nvSpPr>
          <p:cNvPr id="15" name="Oval 14">
            <a:extLst>
              <a:ext uri="{FF2B5EF4-FFF2-40B4-BE49-F238E27FC236}">
                <a16:creationId xmlns=""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cxnSp>
        <p:nvCxnSpPr>
          <p:cNvPr id="11" name="Straight Connector 10">
            <a:extLst>
              <a:ext uri="{FF2B5EF4-FFF2-40B4-BE49-F238E27FC236}">
                <a16:creationId xmlns=""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cxnSp>
        <p:nvCxnSpPr>
          <p:cNvPr id="11" name="Straight Connector 10">
            <a:extLst>
              <a:ext uri="{FF2B5EF4-FFF2-40B4-BE49-F238E27FC236}">
                <a16:creationId xmlns=""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sp>
        <p:nvSpPr>
          <p:cNvPr id="21" name="Picture Placeholder 9">
            <a:extLst>
              <a:ext uri="{FF2B5EF4-FFF2-40B4-BE49-F238E27FC236}">
                <a16:creationId xmlns=""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smtClean="0"/>
              <a:t>Click icon to add picture</a:t>
            </a:r>
            <a:endParaRPr lang="en-US" noProof="0" dirty="0"/>
          </a:p>
        </p:txBody>
      </p:sp>
      <p:cxnSp>
        <p:nvCxnSpPr>
          <p:cNvPr id="7" name="Straight Connector 6">
            <a:extLst>
              <a:ext uri="{FF2B5EF4-FFF2-40B4-BE49-F238E27FC236}">
                <a16:creationId xmlns=""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4" name="Rectangle 3">
            <a:extLst>
              <a:ext uri="{FF2B5EF4-FFF2-40B4-BE49-F238E27FC236}">
                <a16:creationId xmlns=""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12/30/2020</a:t>
            </a:fld>
            <a:endParaRPr lang="en-US" noProof="0" dirty="0"/>
          </a:p>
        </p:txBody>
      </p:sp>
      <p:cxnSp>
        <p:nvCxnSpPr>
          <p:cNvPr id="7" name="Straight Connector 6">
            <a:extLst>
              <a:ext uri="{FF2B5EF4-FFF2-40B4-BE49-F238E27FC236}">
                <a16:creationId xmlns=""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smtClean="0"/>
              <a:t>Click icon to add picture</a:t>
            </a:r>
            <a:endParaRPr lang="en-US" noProof="0" dirty="0"/>
          </a:p>
        </p:txBody>
      </p:sp>
      <p:sp>
        <p:nvSpPr>
          <p:cNvPr id="15" name="Oval 14">
            <a:extLst>
              <a:ext uri="{FF2B5EF4-FFF2-40B4-BE49-F238E27FC236}">
                <a16:creationId xmlns=""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39" name="Content Placeholder 38">
            <a:extLst>
              <a:ext uri="{FF2B5EF4-FFF2-40B4-BE49-F238E27FC236}">
                <a16:creationId xmlns=""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a:extLst>
              <a:ext uri="{FF2B5EF4-FFF2-40B4-BE49-F238E27FC236}">
                <a16:creationId xmlns=""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12/30/2020</a:t>
            </a:fld>
            <a:endParaRPr lang="en-US" noProof="0" dirty="0"/>
          </a:p>
        </p:txBody>
      </p:sp>
      <p:cxnSp>
        <p:nvCxnSpPr>
          <p:cNvPr id="7" name="Straight Connector 6">
            <a:extLst>
              <a:ext uri="{FF2B5EF4-FFF2-40B4-BE49-F238E27FC236}">
                <a16:creationId xmlns=""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smtClean="0"/>
              <a:t>Click to edit Master title style</a:t>
            </a:r>
            <a:endParaRPr lang="en-US" noProof="0"/>
          </a:p>
        </p:txBody>
      </p:sp>
      <p:sp>
        <p:nvSpPr>
          <p:cNvPr id="24" name="Text Placeholder 2">
            <a:extLst>
              <a:ext uri="{FF2B5EF4-FFF2-40B4-BE49-F238E27FC236}">
                <a16:creationId xmlns=""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smtClean="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359CD-8DFF-4AF2-B957-630ED2A60E8D}"/>
              </a:ext>
            </a:extLst>
          </p:cNvPr>
          <p:cNvSpPr>
            <a:spLocks noGrp="1"/>
          </p:cNvSpPr>
          <p:nvPr>
            <p:ph type="ctrTitle"/>
          </p:nvPr>
        </p:nvSpPr>
        <p:spPr>
          <a:xfrm>
            <a:off x="4686300" y="2855662"/>
            <a:ext cx="7233557" cy="832077"/>
          </a:xfrm>
        </p:spPr>
        <p:txBody>
          <a:bodyPr>
            <a:normAutofit fontScale="90000"/>
          </a:bodyPr>
          <a:lstStyle/>
          <a:p>
            <a:r>
              <a:rPr lang="en-US" sz="2200" dirty="0" smtClean="0">
                <a:solidFill>
                  <a:srgbClr val="7030A0"/>
                </a:solidFill>
              </a:rPr>
              <a:t>LECTURE </a:t>
            </a:r>
            <a:r>
              <a:rPr lang="en-US" sz="2200" dirty="0" smtClean="0">
                <a:solidFill>
                  <a:srgbClr val="7030A0"/>
                </a:solidFill>
              </a:rPr>
              <a:t>FOUR</a:t>
            </a:r>
            <a:r>
              <a:rPr lang="en-US" sz="2200" dirty="0" smtClean="0">
                <a:solidFill>
                  <a:srgbClr val="7030A0"/>
                </a:solidFill>
              </a:rPr>
              <a:t>:</a:t>
            </a:r>
            <a:r>
              <a:rPr lang="en-US" dirty="0" smtClean="0"/>
              <a:t/>
            </a:r>
            <a:br>
              <a:rPr lang="en-US" dirty="0" smtClean="0"/>
            </a:br>
            <a:r>
              <a:rPr lang="en-US" dirty="0" smtClean="0"/>
              <a:t>TV STANDARDS</a:t>
            </a:r>
            <a:endParaRPr lang="en-IN" dirty="0"/>
          </a:p>
        </p:txBody>
      </p:sp>
      <p:pic>
        <p:nvPicPr>
          <p:cNvPr id="7"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p:pic>
      <p:sp>
        <p:nvSpPr>
          <p:cNvPr id="8" name="Rectangle 7"/>
          <p:cNvSpPr/>
          <p:nvPr/>
        </p:nvSpPr>
        <p:spPr>
          <a:xfrm>
            <a:off x="4864989" y="211257"/>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smtClean="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endPar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p:txBody>
          <a:bodyPr>
            <a:normAutofit/>
          </a:bodyPr>
          <a:lstStyle/>
          <a:p>
            <a:r>
              <a:rPr lang="en-US" sz="2800" dirty="0" smtClean="0">
                <a:latin typeface="Palatino Linotype" panose="02040502050505030304" pitchFamily="18" charset="0"/>
              </a:rPr>
              <a:t>Television standards consist of a set of specifications for transmission of TV </a:t>
            </a:r>
            <a:r>
              <a:rPr lang="en-US" sz="2800" dirty="0" err="1" smtClean="0">
                <a:latin typeface="Palatino Linotype" panose="02040502050505030304" pitchFamily="18" charset="0"/>
              </a:rPr>
              <a:t>programmes</a:t>
            </a:r>
            <a:endParaRPr lang="en-US" sz="2800" dirty="0" smtClean="0">
              <a:latin typeface="Palatino Linotype" panose="02040502050505030304" pitchFamily="18" charset="0"/>
            </a:endParaRPr>
          </a:p>
          <a:p>
            <a:r>
              <a:rPr lang="en-US" sz="2800" dirty="0" smtClean="0">
                <a:latin typeface="Palatino Linotype" panose="02040502050505030304" pitchFamily="18" charset="0"/>
              </a:rPr>
              <a:t>These specifications pertain to the scanning process, colour encoding system, composite video signal, modulation methods, bandwidth, inter carrier frequency, channel width and radio frequency spectrum </a:t>
            </a:r>
            <a:r>
              <a:rPr lang="en-US" sz="2800" dirty="0" err="1" smtClean="0">
                <a:latin typeface="Palatino Linotype" panose="02040502050505030304" pitchFamily="18" charset="0"/>
              </a:rPr>
              <a:t>utilisation</a:t>
            </a:r>
            <a:r>
              <a:rPr lang="en-US" sz="2800" dirty="0" smtClean="0">
                <a:latin typeface="Palatino Linotype" panose="02040502050505030304" pitchFamily="18" charset="0"/>
              </a:rPr>
              <a:t>.</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smtClean="0">
                <a:latin typeface="Palatino Linotype" panose="02040502050505030304" pitchFamily="18" charset="0"/>
              </a:rPr>
              <a:t>Introduction</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3" name="Content Placeholder 2"/>
          <p:cNvSpPr>
            <a:spLocks noGrp="1"/>
          </p:cNvSpPr>
          <p:nvPr>
            <p:ph idx="1"/>
          </p:nvPr>
        </p:nvSpPr>
        <p:spPr>
          <a:xfrm>
            <a:off x="363416" y="1995054"/>
            <a:ext cx="11465168" cy="4260273"/>
          </a:xfrm>
        </p:spPr>
        <p:txBody>
          <a:bodyPr>
            <a:normAutofit/>
          </a:bodyPr>
          <a:lstStyle/>
          <a:p>
            <a:pPr algn="just"/>
            <a:r>
              <a:rPr lang="en-US" sz="2800" dirty="0" smtClean="0">
                <a:latin typeface="Palatino Linotype" panose="02040502050505030304" pitchFamily="18" charset="0"/>
              </a:rPr>
              <a:t>A TV receiver cannot receive TV </a:t>
            </a:r>
            <a:r>
              <a:rPr lang="en-US" sz="2800" dirty="0" err="1" smtClean="0">
                <a:latin typeface="Palatino Linotype" panose="02040502050505030304" pitchFamily="18" charset="0"/>
              </a:rPr>
              <a:t>programmes</a:t>
            </a:r>
            <a:r>
              <a:rPr lang="en-US" sz="2800" dirty="0" smtClean="0">
                <a:latin typeface="Palatino Linotype" panose="02040502050505030304" pitchFamily="18" charset="0"/>
              </a:rPr>
              <a:t> unless it conforms to the specifications adopted for transmission.</a:t>
            </a:r>
          </a:p>
          <a:p>
            <a:pPr lvl="1" algn="just"/>
            <a:r>
              <a:rPr lang="en-US" sz="2600" dirty="0" smtClean="0">
                <a:latin typeface="Palatino Linotype" panose="02040502050505030304" pitchFamily="18" charset="0"/>
              </a:rPr>
              <a:t>For example, a TV receiver needs scanning identical and </a:t>
            </a:r>
            <a:r>
              <a:rPr lang="en-US" sz="2600" dirty="0" err="1" smtClean="0">
                <a:latin typeface="Palatino Linotype" panose="02040502050505030304" pitchFamily="18" charset="0"/>
              </a:rPr>
              <a:t>synchronised</a:t>
            </a:r>
            <a:r>
              <a:rPr lang="en-US" sz="2600" dirty="0" smtClean="0">
                <a:latin typeface="Palatino Linotype" panose="02040502050505030304" pitchFamily="18" charset="0"/>
              </a:rPr>
              <a:t> to the scanning process that was used in the transmitter.</a:t>
            </a:r>
          </a:p>
          <a:p>
            <a:pPr lvl="1" algn="just"/>
            <a:r>
              <a:rPr lang="en-US" sz="2600" dirty="0" smtClean="0">
                <a:latin typeface="Palatino Linotype" panose="02040502050505030304" pitchFamily="18" charset="0"/>
              </a:rPr>
              <a:t>Similarly for detection of colour signals, the same subcarrier is required to be generated in the receiver as was employed in the transmitter.</a:t>
            </a:r>
          </a:p>
          <a:p>
            <a:pPr algn="just"/>
            <a:r>
              <a:rPr lang="en-US" sz="2800" dirty="0" smtClean="0">
                <a:latin typeface="Palatino Linotype" panose="02040502050505030304" pitchFamily="18" charset="0"/>
              </a:rPr>
              <a:t>Different countries adopted different standards.</a:t>
            </a:r>
          </a:p>
          <a:p>
            <a:pPr algn="just"/>
            <a:r>
              <a:rPr lang="en-US" sz="2800" dirty="0" smtClean="0">
                <a:latin typeface="Palatino Linotype" panose="02040502050505030304" pitchFamily="18" charset="0"/>
              </a:rPr>
              <a:t>Hence, the receivers in a country ar</a:t>
            </a:r>
            <a:r>
              <a:rPr lang="en-US" sz="2800" dirty="0" smtClean="0">
                <a:latin typeface="Palatino Linotype" panose="02040502050505030304" pitchFamily="18" charset="0"/>
              </a:rPr>
              <a:t>e designed to receive TV transmissions of the specifications followed by that country.</a:t>
            </a:r>
          </a:p>
        </p:txBody>
      </p:sp>
      <p:sp>
        <p:nvSpPr>
          <p:cNvPr id="5" name="Title 4"/>
          <p:cNvSpPr>
            <a:spLocks noGrp="1"/>
          </p:cNvSpPr>
          <p:nvPr>
            <p:ph type="title"/>
          </p:nvPr>
        </p:nvSpPr>
        <p:spPr/>
        <p:txBody>
          <a:bodyPr/>
          <a:lstStyle/>
          <a:p>
            <a:r>
              <a:rPr lang="en-US" dirty="0" smtClean="0">
                <a:latin typeface="Palatino Linotype" panose="02040502050505030304" pitchFamily="18" charset="0"/>
              </a:rPr>
              <a:t>Need for a TV Standard</a:t>
            </a:r>
            <a:endParaRPr lang="en-US" dirty="0">
              <a:latin typeface="Palatino Linotype" panose="02040502050505030304" pitchFamily="18" charset="0"/>
            </a:endParaRPr>
          </a:p>
        </p:txBody>
      </p:sp>
    </p:spTree>
    <p:extLst>
      <p:ext uri="{BB962C8B-B14F-4D97-AF65-F5344CB8AC3E}">
        <p14:creationId xmlns:p14="http://schemas.microsoft.com/office/powerpoint/2010/main" val="4037480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txBox="1">
            <a:spLocks/>
          </p:cNvSpPr>
          <p:nvPr/>
        </p:nvSpPr>
        <p:spPr>
          <a:xfrm>
            <a:off x="363416" y="1039091"/>
            <a:ext cx="11465168" cy="513787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latin typeface="Palatino Linotype" panose="02040502050505030304" pitchFamily="18" charset="0"/>
              </a:rPr>
              <a:t>Even a minor difference in the transmitter specifications of a country may not allow receivers of some other country to receive TV </a:t>
            </a:r>
            <a:r>
              <a:rPr lang="en-US" sz="2800" dirty="0" err="1" smtClean="0">
                <a:latin typeface="Palatino Linotype" panose="02040502050505030304" pitchFamily="18" charset="0"/>
              </a:rPr>
              <a:t>programmes</a:t>
            </a:r>
            <a:r>
              <a:rPr lang="en-US" sz="2800" dirty="0" smtClean="0">
                <a:latin typeface="Palatino Linotype" panose="02040502050505030304" pitchFamily="18" charset="0"/>
              </a:rPr>
              <a:t> of that country.</a:t>
            </a:r>
          </a:p>
          <a:p>
            <a:r>
              <a:rPr lang="en-US" sz="2800" dirty="0" smtClean="0">
                <a:latin typeface="Palatino Linotype" panose="02040502050505030304" pitchFamily="18" charset="0"/>
              </a:rPr>
              <a:t>Because of the, the TV signals have to be specified exactly and hence the need of TV standards.</a:t>
            </a:r>
            <a:endParaRPr lang="en-US" sz="2800" dirty="0">
              <a:latin typeface="Palatino Linotype" panose="02040502050505030304" pitchFamily="18" charset="0"/>
            </a:endParaRPr>
          </a:p>
        </p:txBody>
      </p:sp>
    </p:spTree>
    <p:extLst>
      <p:ext uri="{BB962C8B-B14F-4D97-AF65-F5344CB8AC3E}">
        <p14:creationId xmlns:p14="http://schemas.microsoft.com/office/powerpoint/2010/main" val="1599643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r>
              <a:rPr lang="en-US" sz="2800" dirty="0" smtClean="0">
                <a:latin typeface="Palatino Linotype" panose="02040502050505030304" pitchFamily="18" charset="0"/>
              </a:rPr>
              <a:t>The different standards of TV transmission are not compatible with each other.</a:t>
            </a:r>
          </a:p>
          <a:p>
            <a:r>
              <a:rPr lang="en-US" sz="2800" dirty="0" smtClean="0">
                <a:latin typeface="Palatino Linotype" panose="02040502050505030304" pitchFamily="18" charset="0"/>
              </a:rPr>
              <a:t>No American set can work in Europe and vice versa.</a:t>
            </a:r>
          </a:p>
          <a:p>
            <a:r>
              <a:rPr lang="en-US" sz="2800" dirty="0" smtClean="0">
                <a:latin typeface="Palatino Linotype" panose="02040502050505030304" pitchFamily="18" charset="0"/>
              </a:rPr>
              <a:t>Non-compatibility of various standards is the biggest hurdle in international exchange of </a:t>
            </a:r>
            <a:r>
              <a:rPr lang="en-US" sz="2800" dirty="0" err="1" smtClean="0">
                <a:latin typeface="Palatino Linotype" panose="02040502050505030304" pitchFamily="18" charset="0"/>
              </a:rPr>
              <a:t>programmes</a:t>
            </a:r>
            <a:r>
              <a:rPr lang="en-US" sz="2800" dirty="0" smtClean="0">
                <a:latin typeface="Palatino Linotype" panose="02040502050505030304" pitchFamily="18" charset="0"/>
              </a:rPr>
              <a:t>.</a:t>
            </a:r>
          </a:p>
          <a:p>
            <a:r>
              <a:rPr lang="en-US" sz="2800" dirty="0" smtClean="0">
                <a:latin typeface="Palatino Linotype" panose="02040502050505030304" pitchFamily="18" charset="0"/>
              </a:rPr>
              <a:t>A single world standard of TV would have been desirable.</a:t>
            </a:r>
          </a:p>
          <a:p>
            <a:r>
              <a:rPr lang="en-US" sz="2800" dirty="0" smtClean="0">
                <a:latin typeface="Palatino Linotype" panose="02040502050505030304" pitchFamily="18" charset="0"/>
              </a:rPr>
              <a:t>The need for a single world standard for TV is being felt all the more due to the development of satellite communication.</a:t>
            </a:r>
          </a:p>
          <a:p>
            <a:r>
              <a:rPr lang="en-US" sz="2800" dirty="0" smtClean="0">
                <a:latin typeface="Palatino Linotype" panose="02040502050505030304" pitchFamily="18" charset="0"/>
              </a:rPr>
              <a:t>Hence there must be some compelling reasons for TV standards being different in different countries</a:t>
            </a:r>
            <a:endParaRPr lang="en-US" sz="2800" dirty="0">
              <a:latin typeface="Palatino Linotype" panose="02040502050505030304" pitchFamily="18" charset="0"/>
            </a:endParaRPr>
          </a:p>
        </p:txBody>
      </p:sp>
      <p:sp>
        <p:nvSpPr>
          <p:cNvPr id="4" name="Title 3"/>
          <p:cNvSpPr>
            <a:spLocks noGrp="1"/>
          </p:cNvSpPr>
          <p:nvPr>
            <p:ph type="title"/>
          </p:nvPr>
        </p:nvSpPr>
        <p:spPr>
          <a:xfrm>
            <a:off x="217943" y="727364"/>
            <a:ext cx="11828584" cy="556314"/>
          </a:xfrm>
        </p:spPr>
        <p:txBody>
          <a:bodyPr>
            <a:normAutofit/>
          </a:bodyPr>
          <a:lstStyle/>
          <a:p>
            <a:r>
              <a:rPr lang="en-US" sz="2400" dirty="0" smtClean="0">
                <a:latin typeface="Palatino Linotype" panose="02040502050505030304" pitchFamily="18" charset="0"/>
              </a:rPr>
              <a:t>REASONS OF TV STANDARDS BEING DIFFERENT IN DIFFERENT COUNTRIES</a:t>
            </a:r>
            <a:endParaRPr lang="en-US" sz="2400" dirty="0">
              <a:latin typeface="Palatino Linotype" panose="02040502050505030304" pitchFamily="18" charset="0"/>
            </a:endParaRPr>
          </a:p>
        </p:txBody>
      </p:sp>
    </p:spTree>
    <p:extLst>
      <p:ext uri="{BB962C8B-B14F-4D97-AF65-F5344CB8AC3E}">
        <p14:creationId xmlns:p14="http://schemas.microsoft.com/office/powerpoint/2010/main" val="3309988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txBox="1">
            <a:spLocks/>
          </p:cNvSpPr>
          <p:nvPr/>
        </p:nvSpPr>
        <p:spPr>
          <a:xfrm>
            <a:off x="363416" y="893618"/>
            <a:ext cx="11465168" cy="5569589"/>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latin typeface="Palatino Linotype" panose="02040502050505030304" pitchFamily="18" charset="0"/>
              </a:rPr>
              <a:t>These reasons are as highlighted below:</a:t>
            </a:r>
          </a:p>
          <a:p>
            <a:pPr marL="971550" lvl="1" indent="-514350" algn="just">
              <a:buFont typeface="+mj-lt"/>
              <a:buAutoNum type="arabicParenR"/>
            </a:pPr>
            <a:r>
              <a:rPr lang="en-US" sz="2600" dirty="0" smtClean="0">
                <a:latin typeface="Palatino Linotype" panose="02040502050505030304" pitchFamily="18" charset="0"/>
              </a:rPr>
              <a:t>Fields frequency in the scanning process is related to the electric mains frequency. Thus differences in mains frequency leads to differences in scanning frequency. E.g. American countries – 60 Hz, Asia, Europe, Australia and Africa – 50 Hz.</a:t>
            </a:r>
          </a:p>
          <a:p>
            <a:pPr marL="971550" lvl="1" indent="-514350" algn="just">
              <a:buFont typeface="+mj-lt"/>
              <a:buAutoNum type="arabicParenR"/>
            </a:pPr>
            <a:r>
              <a:rPr lang="en-US" sz="2600" dirty="0" smtClean="0">
                <a:latin typeface="Palatino Linotype" panose="02040502050505030304" pitchFamily="18" charset="0"/>
              </a:rPr>
              <a:t>Fields frequency is also related to brightness. Higher field frequency means greater brightness, larger viewing distance and smaller can be the number of scanning lines per frame. 60 Hz = 525 lines per frame, 50 Hz = 625 lines per frame.</a:t>
            </a:r>
          </a:p>
          <a:p>
            <a:pPr marL="971550" lvl="1" indent="-514350" algn="just">
              <a:buFont typeface="+mj-lt"/>
              <a:buAutoNum type="arabicParenR"/>
            </a:pPr>
            <a:r>
              <a:rPr lang="en-US" sz="2600" dirty="0" smtClean="0">
                <a:latin typeface="Palatino Linotype" panose="02040502050505030304" pitchFamily="18" charset="0"/>
              </a:rPr>
              <a:t>USA, Germany and France developed different colour encoding and decoding systems, known as NTSC, PAL and SECAM respectively. On account of merits and demerits of these systems and considering the existing monochrome system, countries all over the world chose one of these three systems.</a:t>
            </a:r>
            <a:endParaRPr lang="en-US" sz="2600" dirty="0">
              <a:latin typeface="Palatino Linotype" panose="02040502050505030304" pitchFamily="18" charset="0"/>
            </a:endParaRPr>
          </a:p>
        </p:txBody>
      </p:sp>
    </p:spTree>
    <p:extLst>
      <p:ext uri="{BB962C8B-B14F-4D97-AF65-F5344CB8AC3E}">
        <p14:creationId xmlns:p14="http://schemas.microsoft.com/office/powerpoint/2010/main" val="2182095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txBox="1">
            <a:spLocks/>
          </p:cNvSpPr>
          <p:nvPr/>
        </p:nvSpPr>
        <p:spPr>
          <a:xfrm>
            <a:off x="363416" y="893618"/>
            <a:ext cx="11465168" cy="5569589"/>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71550" lvl="1" indent="-514350" algn="just">
              <a:buFont typeface="+mj-lt"/>
              <a:buAutoNum type="arabicParenR" startAt="4"/>
            </a:pPr>
            <a:r>
              <a:rPr lang="en-US" sz="2600" dirty="0" smtClean="0">
                <a:latin typeface="Palatino Linotype" panose="02040502050505030304" pitchFamily="18" charset="0"/>
              </a:rPr>
              <a:t>Some countries preferred minor changes in channel width, bandwidth, inter-carrier frequency, etc. for various reasons such as, improving picture quality, and for political reasons. TV system of UK is an example of this. </a:t>
            </a:r>
            <a:endParaRPr lang="en-US" sz="2600" dirty="0">
              <a:latin typeface="Palatino Linotype" panose="02040502050505030304" pitchFamily="18" charset="0"/>
            </a:endParaRPr>
          </a:p>
        </p:txBody>
      </p:sp>
    </p:spTree>
    <p:extLst>
      <p:ext uri="{BB962C8B-B14F-4D97-AF65-F5344CB8AC3E}">
        <p14:creationId xmlns:p14="http://schemas.microsoft.com/office/powerpoint/2010/main" val="4152838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sp>
        <p:nvSpPr>
          <p:cNvPr id="3" name="Content Placeholder 2"/>
          <p:cNvSpPr>
            <a:spLocks noGrp="1"/>
          </p:cNvSpPr>
          <p:nvPr>
            <p:ph idx="1"/>
          </p:nvPr>
        </p:nvSpPr>
        <p:spPr>
          <a:xfrm>
            <a:off x="363416" y="1697773"/>
            <a:ext cx="11465168" cy="4765434"/>
          </a:xfrm>
        </p:spPr>
        <p:txBody>
          <a:bodyPr>
            <a:normAutofit lnSpcReduction="10000"/>
          </a:bodyPr>
          <a:lstStyle/>
          <a:p>
            <a:pPr algn="just"/>
            <a:r>
              <a:rPr lang="en-US" sz="2800" dirty="0" smtClean="0">
                <a:latin typeface="Palatino Linotype" panose="02040502050505030304" pitchFamily="18" charset="0"/>
              </a:rPr>
              <a:t>In view of several existing standards, the Committee Consultative for International Radio (CCIR) could not decide on a single world standard, but listed some existing standards leaving the choice to the countries to choose any of them.</a:t>
            </a:r>
          </a:p>
          <a:p>
            <a:pPr algn="just"/>
            <a:r>
              <a:rPr lang="en-US" sz="2800" dirty="0" smtClean="0">
                <a:latin typeface="Palatino Linotype" panose="02040502050505030304" pitchFamily="18" charset="0"/>
              </a:rPr>
              <a:t>TV systems standardized by CCIR are designated as A, B, C, D, E, F, G, H, I, K, L, M and N.</a:t>
            </a:r>
          </a:p>
          <a:p>
            <a:pPr algn="just"/>
            <a:r>
              <a:rPr lang="en-US" sz="2800" dirty="0" smtClean="0">
                <a:latin typeface="Palatino Linotype" panose="02040502050505030304" pitchFamily="18" charset="0"/>
              </a:rPr>
              <a:t>Out of the above designated systems, A, C, E and F have not been recommended for future use.</a:t>
            </a:r>
          </a:p>
          <a:p>
            <a:pPr algn="just"/>
            <a:r>
              <a:rPr lang="en-US" sz="2800" dirty="0" smtClean="0">
                <a:latin typeface="Palatino Linotype" panose="02040502050505030304" pitchFamily="18" charset="0"/>
              </a:rPr>
              <a:t>G, H, I, K and L systems are used in UHF bands IV and V. </a:t>
            </a:r>
          </a:p>
          <a:p>
            <a:pPr algn="just"/>
            <a:r>
              <a:rPr lang="en-US" sz="2800" dirty="0" smtClean="0">
                <a:latin typeface="Palatino Linotype" panose="02040502050505030304" pitchFamily="18" charset="0"/>
              </a:rPr>
              <a:t>M and N systems are used in VHF and UHF both.</a:t>
            </a:r>
          </a:p>
          <a:p>
            <a:pPr algn="just"/>
            <a:r>
              <a:rPr lang="en-US" sz="2800" dirty="0" smtClean="0">
                <a:latin typeface="Palatino Linotype" panose="02040502050505030304" pitchFamily="18" charset="0"/>
              </a:rPr>
              <a:t>B and D systems are used in VHF bands I and III.</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smtClean="0">
                <a:latin typeface="Palatino Linotype" panose="02040502050505030304" pitchFamily="18" charset="0"/>
              </a:rPr>
              <a:t>Different TV Standards</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2112077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29283" y="145474"/>
            <a:ext cx="9577787" cy="6463207"/>
          </a:xfrm>
          <a:prstGeom prst="rect">
            <a:avLst/>
          </a:prstGeom>
        </p:spPr>
      </p:pic>
    </p:spTree>
    <p:extLst>
      <p:ext uri="{BB962C8B-B14F-4D97-AF65-F5344CB8AC3E}">
        <p14:creationId xmlns:p14="http://schemas.microsoft.com/office/powerpoint/2010/main" val="365290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51500" y="19609"/>
            <a:ext cx="7278120" cy="6443598"/>
          </a:xfrm>
          <a:prstGeom prst="rect">
            <a:avLst/>
          </a:prstGeom>
        </p:spPr>
      </p:pic>
    </p:spTree>
    <p:extLst>
      <p:ext uri="{BB962C8B-B14F-4D97-AF65-F5344CB8AC3E}">
        <p14:creationId xmlns:p14="http://schemas.microsoft.com/office/powerpoint/2010/main" val="1033069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048181" y="286339"/>
            <a:ext cx="8589706" cy="6176868"/>
          </a:xfrm>
          <a:prstGeom prst="rect">
            <a:avLst/>
          </a:prstGeom>
        </p:spPr>
      </p:pic>
    </p:spTree>
    <p:extLst>
      <p:ext uri="{BB962C8B-B14F-4D97-AF65-F5344CB8AC3E}">
        <p14:creationId xmlns:p14="http://schemas.microsoft.com/office/powerpoint/2010/main" val="2546088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262704" y="508778"/>
            <a:ext cx="10068734" cy="5704985"/>
          </a:xfrm>
          <a:prstGeom prst="rect">
            <a:avLst/>
          </a:prstGeom>
        </p:spPr>
      </p:pic>
    </p:spTree>
    <p:extLst>
      <p:ext uri="{BB962C8B-B14F-4D97-AF65-F5344CB8AC3E}">
        <p14:creationId xmlns:p14="http://schemas.microsoft.com/office/powerpoint/2010/main" val="152634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18588" y="414490"/>
            <a:ext cx="10644589" cy="5778491"/>
          </a:xfrm>
          <a:prstGeom prst="rect">
            <a:avLst/>
          </a:prstGeom>
        </p:spPr>
      </p:pic>
    </p:spTree>
    <p:extLst>
      <p:ext uri="{BB962C8B-B14F-4D97-AF65-F5344CB8AC3E}">
        <p14:creationId xmlns:p14="http://schemas.microsoft.com/office/powerpoint/2010/main" val="237088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760579" y="311643"/>
            <a:ext cx="8696405" cy="6276256"/>
          </a:xfrm>
          <a:prstGeom prst="rect">
            <a:avLst/>
          </a:prstGeom>
        </p:spPr>
      </p:pic>
    </p:spTree>
    <p:extLst>
      <p:ext uri="{BB962C8B-B14F-4D97-AF65-F5344CB8AC3E}">
        <p14:creationId xmlns:p14="http://schemas.microsoft.com/office/powerpoint/2010/main" val="179800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sp>
        <p:nvSpPr>
          <p:cNvPr id="3" name="Content Placeholder 2"/>
          <p:cNvSpPr>
            <a:spLocks noGrp="1"/>
          </p:cNvSpPr>
          <p:nvPr>
            <p:ph idx="1"/>
          </p:nvPr>
        </p:nvSpPr>
        <p:spPr/>
        <p:txBody>
          <a:bodyPr>
            <a:normAutofit/>
          </a:bodyPr>
          <a:lstStyle/>
          <a:p>
            <a:r>
              <a:rPr lang="en-US" sz="2800" dirty="0" smtClean="0">
                <a:latin typeface="Palatino Linotype" panose="02040502050505030304" pitchFamily="18" charset="0"/>
              </a:rPr>
              <a:t>The scenario in TV transmission is changing drastically.</a:t>
            </a:r>
          </a:p>
          <a:p>
            <a:r>
              <a:rPr lang="en-US" sz="2800" dirty="0" smtClean="0">
                <a:latin typeface="Palatino Linotype" panose="02040502050505030304" pitchFamily="18" charset="0"/>
              </a:rPr>
              <a:t>VHF band is being abandoned and being replaced by UHF band</a:t>
            </a:r>
          </a:p>
          <a:p>
            <a:r>
              <a:rPr lang="en-US" sz="2800" dirty="0" smtClean="0">
                <a:latin typeface="Palatino Linotype" panose="02040502050505030304" pitchFamily="18" charset="0"/>
              </a:rPr>
              <a:t>Analog system have been phased out and digital ones with high definition are taking over.</a:t>
            </a:r>
          </a:p>
          <a:p>
            <a:r>
              <a:rPr lang="en-US" sz="2800" dirty="0" smtClean="0">
                <a:latin typeface="Palatino Linotype" panose="02040502050505030304" pitchFamily="18" charset="0"/>
              </a:rPr>
              <a:t>Wider screens, using LCDs or plasma are being preferred to small screens.</a:t>
            </a:r>
          </a:p>
          <a:p>
            <a:r>
              <a:rPr lang="en-US" sz="2800" dirty="0" smtClean="0">
                <a:latin typeface="Palatino Linotype" panose="02040502050505030304" pitchFamily="18" charset="0"/>
              </a:rPr>
              <a:t>TO standardize modern systems, NTSC has been replaced by ATSC (The Advanced Television Systems Committee) by Federal Communications Commission of USA.</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smtClean="0">
                <a:latin typeface="Palatino Linotype" panose="02040502050505030304" pitchFamily="18" charset="0"/>
              </a:rPr>
              <a:t>Modern Trends</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2622451752"/>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3.xml><?xml version="1.0" encoding="utf-8"?>
<ds:datastoreItem xmlns:ds="http://schemas.openxmlformats.org/officeDocument/2006/customXml" ds:itemID="{330CE401-796E-4493-905E-4DDA5AF62AB4}">
  <ds:schemaRef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720</Words>
  <Application>Microsoft Office PowerPoint</Application>
  <PresentationFormat>Widescreen</PresentationFormat>
  <Paragraphs>53</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Palatino Linotype</vt:lpstr>
      <vt:lpstr>Office Theme</vt:lpstr>
      <vt:lpstr>LECTURE FOUR: TV STANDARDS</vt:lpstr>
      <vt:lpstr>Introduction</vt:lpstr>
      <vt:lpstr>Need for a TV Standard</vt:lpstr>
      <vt:lpstr>PowerPoint Presentation</vt:lpstr>
      <vt:lpstr>REASONS OF TV STANDARDS BEING DIFFERENT IN DIFFERENT COUNTRIES</vt:lpstr>
      <vt:lpstr>PowerPoint Presentation</vt:lpstr>
      <vt:lpstr>PowerPoint Presentation</vt:lpstr>
      <vt:lpstr>Different TV Standards</vt:lpstr>
      <vt:lpstr>PowerPoint Presentation</vt:lpstr>
      <vt:lpstr>PowerPoint Presentation</vt:lpstr>
      <vt:lpstr>PowerPoint Presentation</vt:lpstr>
      <vt:lpstr>PowerPoint Presentation</vt:lpstr>
      <vt:lpstr>PowerPoint Presentation</vt:lpstr>
      <vt:lpstr>PowerPoint Presentation</vt:lpstr>
      <vt:lpstr>Modern Trends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2020-12-30T13:01:51Z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