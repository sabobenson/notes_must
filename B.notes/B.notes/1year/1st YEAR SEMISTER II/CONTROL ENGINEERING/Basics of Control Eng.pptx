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84"/>
  </p:notesMasterIdLst>
  <p:handoutMasterIdLst>
    <p:handoutMasterId r:id="rId85"/>
  </p:handoutMasterIdLst>
  <p:sldIdLst>
    <p:sldId id="256" r:id="rId2"/>
    <p:sldId id="350" r:id="rId3"/>
    <p:sldId id="351" r:id="rId4"/>
    <p:sldId id="257" r:id="rId5"/>
    <p:sldId id="258" r:id="rId6"/>
    <p:sldId id="259" r:id="rId7"/>
    <p:sldId id="260" r:id="rId8"/>
    <p:sldId id="269" r:id="rId9"/>
    <p:sldId id="279" r:id="rId10"/>
    <p:sldId id="280" r:id="rId11"/>
    <p:sldId id="281" r:id="rId12"/>
    <p:sldId id="282" r:id="rId13"/>
    <p:sldId id="283" r:id="rId14"/>
    <p:sldId id="285" r:id="rId15"/>
    <p:sldId id="261" r:id="rId16"/>
    <p:sldId id="272" r:id="rId17"/>
    <p:sldId id="275" r:id="rId18"/>
    <p:sldId id="270" r:id="rId19"/>
    <p:sldId id="271" r:id="rId20"/>
    <p:sldId id="277" r:id="rId21"/>
    <p:sldId id="267" r:id="rId22"/>
    <p:sldId id="273" r:id="rId23"/>
    <p:sldId id="274" r:id="rId24"/>
    <p:sldId id="287" r:id="rId25"/>
    <p:sldId id="288" r:id="rId26"/>
    <p:sldId id="289" r:id="rId27"/>
    <p:sldId id="286" r:id="rId28"/>
    <p:sldId id="276" r:id="rId29"/>
    <p:sldId id="296" r:id="rId30"/>
    <p:sldId id="290" r:id="rId31"/>
    <p:sldId id="295" r:id="rId32"/>
    <p:sldId id="311" r:id="rId33"/>
    <p:sldId id="297" r:id="rId34"/>
    <p:sldId id="298" r:id="rId35"/>
    <p:sldId id="300" r:id="rId36"/>
    <p:sldId id="291" r:id="rId37"/>
    <p:sldId id="292" r:id="rId38"/>
    <p:sldId id="293" r:id="rId39"/>
    <p:sldId id="312" r:id="rId40"/>
    <p:sldId id="294" r:id="rId41"/>
    <p:sldId id="301" r:id="rId42"/>
    <p:sldId id="302" r:id="rId43"/>
    <p:sldId id="313" r:id="rId44"/>
    <p:sldId id="303" r:id="rId45"/>
    <p:sldId id="310" r:id="rId46"/>
    <p:sldId id="314" r:id="rId47"/>
    <p:sldId id="315" r:id="rId48"/>
    <p:sldId id="316" r:id="rId49"/>
    <p:sldId id="317" r:id="rId50"/>
    <p:sldId id="325" r:id="rId51"/>
    <p:sldId id="326" r:id="rId52"/>
    <p:sldId id="327" r:id="rId53"/>
    <p:sldId id="328" r:id="rId54"/>
    <p:sldId id="329" r:id="rId55"/>
    <p:sldId id="330" r:id="rId56"/>
    <p:sldId id="331" r:id="rId57"/>
    <p:sldId id="304" r:id="rId58"/>
    <p:sldId id="318" r:id="rId59"/>
    <p:sldId id="319" r:id="rId60"/>
    <p:sldId id="321" r:id="rId61"/>
    <p:sldId id="322" r:id="rId62"/>
    <p:sldId id="323" r:id="rId63"/>
    <p:sldId id="324" r:id="rId64"/>
    <p:sldId id="305" r:id="rId65"/>
    <p:sldId id="306" r:id="rId66"/>
    <p:sldId id="307" r:id="rId67"/>
    <p:sldId id="309" r:id="rId68"/>
    <p:sldId id="308" r:id="rId69"/>
    <p:sldId id="332" r:id="rId70"/>
    <p:sldId id="333" r:id="rId71"/>
    <p:sldId id="334" r:id="rId72"/>
    <p:sldId id="337" r:id="rId73"/>
    <p:sldId id="335" r:id="rId74"/>
    <p:sldId id="343" r:id="rId75"/>
    <p:sldId id="348" r:id="rId76"/>
    <p:sldId id="338" r:id="rId77"/>
    <p:sldId id="349" r:id="rId78"/>
    <p:sldId id="339" r:id="rId79"/>
    <p:sldId id="345" r:id="rId80"/>
    <p:sldId id="340" r:id="rId81"/>
    <p:sldId id="341" r:id="rId82"/>
    <p:sldId id="342" r:id="rId8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774" y="90"/>
      </p:cViewPr>
      <p:guideLst>
        <p:guide orient="horz" pos="2160"/>
        <p:guide pos="2880"/>
      </p:guideLst>
    </p:cSldViewPr>
  </p:slideViewPr>
  <p:notesTextViewPr>
    <p:cViewPr>
      <p:scale>
        <a:sx n="1" d="1"/>
        <a:sy n="1" d="1"/>
      </p:scale>
      <p:origin x="0" y="0"/>
    </p:cViewPr>
  </p:notesTextViewPr>
  <p:sorterViewPr>
    <p:cViewPr>
      <p:scale>
        <a:sx n="100" d="100"/>
        <a:sy n="100" d="100"/>
      </p:scale>
      <p:origin x="0" y="1876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slide" Target="slides/slide67.xml" /><Relationship Id="rId76" Type="http://schemas.openxmlformats.org/officeDocument/2006/relationships/slide" Target="slides/slide75.xml" /><Relationship Id="rId84" Type="http://schemas.openxmlformats.org/officeDocument/2006/relationships/notesMaster" Target="notesMasters/notesMaster1.xml" /><Relationship Id="rId89" Type="http://schemas.openxmlformats.org/officeDocument/2006/relationships/tableStyles" Target="tableStyles.xml" /><Relationship Id="rId7" Type="http://schemas.openxmlformats.org/officeDocument/2006/relationships/slide" Target="slides/slide6.xml" /><Relationship Id="rId71" Type="http://schemas.openxmlformats.org/officeDocument/2006/relationships/slide" Target="slides/slide70.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74" Type="http://schemas.openxmlformats.org/officeDocument/2006/relationships/slide" Target="slides/slide73.xml" /><Relationship Id="rId79" Type="http://schemas.openxmlformats.org/officeDocument/2006/relationships/slide" Target="slides/slide78.xml" /><Relationship Id="rId87" Type="http://schemas.openxmlformats.org/officeDocument/2006/relationships/viewProps" Target="viewProps.xml" /><Relationship Id="rId5" Type="http://schemas.openxmlformats.org/officeDocument/2006/relationships/slide" Target="slides/slide4.xml" /><Relationship Id="rId61" Type="http://schemas.openxmlformats.org/officeDocument/2006/relationships/slide" Target="slides/slide60.xml" /><Relationship Id="rId82" Type="http://schemas.openxmlformats.org/officeDocument/2006/relationships/slide" Target="slides/slide81.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handoutMaster" Target="handoutMasters/handoutMaster1.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slide" Target="slides/slide82.xml" /><Relationship Id="rId88"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presProps" Target="presProps.xml" /></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wmf"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342658E0-B902-4CB7-8B03-41DB1BF2D30C}" type="datetimeFigureOut">
              <a:rPr lang="en-US" smtClean="0"/>
              <a:t>6/1/2023</a:t>
            </a:fld>
            <a:endParaRPr lang="en-US"/>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99062B2C-8C6A-4AA8-9C63-3A98ADA71B0D}" type="slidenum">
              <a:rPr lang="en-US" smtClean="0"/>
              <a:t>‹#›</a:t>
            </a:fld>
            <a:endParaRPr lang="en-US"/>
          </a:p>
        </p:txBody>
      </p:sp>
    </p:spTree>
    <p:extLst>
      <p:ext uri="{BB962C8B-B14F-4D97-AF65-F5344CB8AC3E}">
        <p14:creationId xmlns:p14="http://schemas.microsoft.com/office/powerpoint/2010/main" val="8200071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4D5ED8C1-5C44-477A-B42E-7A331FBD8AE4}" type="datetimeFigureOut">
              <a:rPr lang="en-US" smtClean="0"/>
              <a:t>6/1/2023</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C17B732D-A11A-471E-A139-B7258C4FE06A}" type="slidenum">
              <a:rPr lang="en-US" smtClean="0"/>
              <a:t>‹#›</a:t>
            </a:fld>
            <a:endParaRPr lang="en-US"/>
          </a:p>
        </p:txBody>
      </p:sp>
    </p:spTree>
    <p:extLst>
      <p:ext uri="{BB962C8B-B14F-4D97-AF65-F5344CB8AC3E}">
        <p14:creationId xmlns:p14="http://schemas.microsoft.com/office/powerpoint/2010/main" val="209999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7CFDEEC6-A91A-466A-86CE-B701F17EAA73}" type="datetime1">
              <a:rPr lang="en-US" smtClean="0"/>
              <a:t>6/1/2023</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r>
              <a:rPr lang="en-US"/>
              <a:t>Prepared by Vicent V. M., MSc,  PhD Cand.</a:t>
            </a: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573EDECB-2FAA-459C-97B3-E12F4C12D356}" type="slidenum">
              <a:rPr lang="en-US" smtClean="0"/>
              <a:t>‹#›</a:t>
            </a:fld>
            <a:endParaRPr lang="en-US"/>
          </a:p>
        </p:txBody>
      </p:sp>
    </p:spTree>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1F2FE7A-2937-47EC-893A-EAA79DA35410}" type="datetime1">
              <a:rPr lang="en-US" smtClean="0"/>
              <a:t>6/1/2023</a:t>
            </a:fld>
            <a:endParaRPr lang="en-US"/>
          </a:p>
        </p:txBody>
      </p:sp>
      <p:sp>
        <p:nvSpPr>
          <p:cNvPr id="5" name="Footer Placeholder 4"/>
          <p:cNvSpPr>
            <a:spLocks noGrp="1"/>
          </p:cNvSpPr>
          <p:nvPr>
            <p:ph type="ftr" sz="quarter" idx="11"/>
          </p:nvPr>
        </p:nvSpPr>
        <p:spPr/>
        <p:txBody>
          <a:bodyPr/>
          <a:lstStyle/>
          <a:p>
            <a:r>
              <a:rPr lang="en-US"/>
              <a:t>Prepared by Vicent V. M., MSc,  PhD Cand.</a:t>
            </a:r>
          </a:p>
        </p:txBody>
      </p:sp>
      <p:sp>
        <p:nvSpPr>
          <p:cNvPr id="6" name="Slide Number Placeholder 5"/>
          <p:cNvSpPr>
            <a:spLocks noGrp="1"/>
          </p:cNvSpPr>
          <p:nvPr>
            <p:ph type="sldNum" sz="quarter" idx="12"/>
          </p:nvPr>
        </p:nvSpPr>
        <p:spPr/>
        <p:txBody>
          <a:bodyPr/>
          <a:lstStyle/>
          <a:p>
            <a:fld id="{573EDECB-2FAA-459C-97B3-E12F4C12D356}" type="slidenum">
              <a:rPr lang="en-US" smtClean="0"/>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265A539-0F52-4B72-BF59-4C36A33AFA4B}" type="datetime1">
              <a:rPr lang="en-US" smtClean="0"/>
              <a:t>6/1/2023</a:t>
            </a:fld>
            <a:endParaRPr lang="en-US"/>
          </a:p>
        </p:txBody>
      </p:sp>
      <p:sp>
        <p:nvSpPr>
          <p:cNvPr id="5" name="Footer Placeholder 4"/>
          <p:cNvSpPr>
            <a:spLocks noGrp="1"/>
          </p:cNvSpPr>
          <p:nvPr>
            <p:ph type="ftr" sz="quarter" idx="11"/>
          </p:nvPr>
        </p:nvSpPr>
        <p:spPr/>
        <p:txBody>
          <a:bodyPr/>
          <a:lstStyle/>
          <a:p>
            <a:r>
              <a:rPr lang="en-US"/>
              <a:t>Prepared by Vicent V. M., MSc,  PhD Cand.</a:t>
            </a:r>
          </a:p>
        </p:txBody>
      </p:sp>
      <p:sp>
        <p:nvSpPr>
          <p:cNvPr id="6" name="Slide Number Placeholder 5"/>
          <p:cNvSpPr>
            <a:spLocks noGrp="1"/>
          </p:cNvSpPr>
          <p:nvPr>
            <p:ph type="sldNum" sz="quarter" idx="12"/>
          </p:nvPr>
        </p:nvSpPr>
        <p:spPr/>
        <p:txBody>
          <a:bodyPr/>
          <a:lstStyle/>
          <a:p>
            <a:fld id="{573EDECB-2FAA-459C-97B3-E12F4C12D356}"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F43BFE5-560C-4DEE-B802-543441EFB0FD}" type="datetime1">
              <a:rPr lang="en-US" smtClean="0"/>
              <a:t>6/1/2023</a:t>
            </a:fld>
            <a:endParaRPr lang="en-US"/>
          </a:p>
        </p:txBody>
      </p:sp>
      <p:sp>
        <p:nvSpPr>
          <p:cNvPr id="6" name="Footer Placeholder 5"/>
          <p:cNvSpPr>
            <a:spLocks noGrp="1"/>
          </p:cNvSpPr>
          <p:nvPr>
            <p:ph type="ftr" sz="quarter" idx="11"/>
          </p:nvPr>
        </p:nvSpPr>
        <p:spPr/>
        <p:txBody>
          <a:bodyPr/>
          <a:lstStyle/>
          <a:p>
            <a:r>
              <a:rPr lang="en-US"/>
              <a:t>Prepared by Vicent V. M., MSc,  PhD Cand.</a:t>
            </a:r>
          </a:p>
        </p:txBody>
      </p:sp>
      <p:sp>
        <p:nvSpPr>
          <p:cNvPr id="7" name="Slide Number Placeholder 6"/>
          <p:cNvSpPr>
            <a:spLocks noGrp="1"/>
          </p:cNvSpPr>
          <p:nvPr>
            <p:ph type="sldNum" sz="quarter" idx="12"/>
          </p:nvPr>
        </p:nvSpPr>
        <p:spPr/>
        <p:txBody>
          <a:bodyPr/>
          <a:lstStyle/>
          <a:p>
            <a:fld id="{573EDECB-2FAA-459C-97B3-E12F4C12D356}" type="slidenum">
              <a:rPr lang="en-US" smtClean="0"/>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A514CB2-6AF8-44F3-80DC-16F444599A4D}" type="datetime1">
              <a:rPr lang="en-US" smtClean="0"/>
              <a:t>6/1/2023</a:t>
            </a:fld>
            <a:endParaRPr lang="en-US"/>
          </a:p>
        </p:txBody>
      </p:sp>
      <p:sp>
        <p:nvSpPr>
          <p:cNvPr id="8" name="Footer Placeholder 7"/>
          <p:cNvSpPr>
            <a:spLocks noGrp="1"/>
          </p:cNvSpPr>
          <p:nvPr>
            <p:ph type="ftr" sz="quarter" idx="11"/>
          </p:nvPr>
        </p:nvSpPr>
        <p:spPr/>
        <p:txBody>
          <a:bodyPr/>
          <a:lstStyle/>
          <a:p>
            <a:r>
              <a:rPr lang="en-US"/>
              <a:t>Prepared by Vicent V. M., MSc,  PhD Cand.</a:t>
            </a:r>
          </a:p>
        </p:txBody>
      </p:sp>
      <p:sp>
        <p:nvSpPr>
          <p:cNvPr id="9" name="Slide Number Placeholder 8"/>
          <p:cNvSpPr>
            <a:spLocks noGrp="1"/>
          </p:cNvSpPr>
          <p:nvPr>
            <p:ph type="sldNum" sz="quarter" idx="12"/>
          </p:nvPr>
        </p:nvSpPr>
        <p:spPr/>
        <p:txBody>
          <a:bodyPr/>
          <a:lstStyle/>
          <a:p>
            <a:fld id="{573EDECB-2FAA-459C-97B3-E12F4C12D356}"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495E3ED-1299-46AE-B7B1-F942538DDCF8}" type="datetime1">
              <a:rPr lang="en-US" smtClean="0"/>
              <a:t>6/1/2023</a:t>
            </a:fld>
            <a:endParaRPr lang="en-US"/>
          </a:p>
        </p:txBody>
      </p:sp>
      <p:sp>
        <p:nvSpPr>
          <p:cNvPr id="4" name="Footer Placeholder 3"/>
          <p:cNvSpPr>
            <a:spLocks noGrp="1"/>
          </p:cNvSpPr>
          <p:nvPr>
            <p:ph type="ftr" sz="quarter" idx="11"/>
          </p:nvPr>
        </p:nvSpPr>
        <p:spPr/>
        <p:txBody>
          <a:bodyPr/>
          <a:lstStyle/>
          <a:p>
            <a:r>
              <a:rPr lang="en-US"/>
              <a:t>Prepared by Vicent V. M., MSc,  PhD Cand.</a:t>
            </a:r>
          </a:p>
        </p:txBody>
      </p:sp>
      <p:sp>
        <p:nvSpPr>
          <p:cNvPr id="5" name="Slide Number Placeholder 4"/>
          <p:cNvSpPr>
            <a:spLocks noGrp="1"/>
          </p:cNvSpPr>
          <p:nvPr>
            <p:ph type="sldNum" sz="quarter" idx="12"/>
          </p:nvPr>
        </p:nvSpPr>
        <p:spPr/>
        <p:txBody>
          <a:bodyPr/>
          <a:lstStyle/>
          <a:p>
            <a:fld id="{573EDECB-2FAA-459C-97B3-E12F4C12D356}" type="slidenum">
              <a:rPr lang="en-US" smtClean="0"/>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A97AA7-8B98-4392-AFC9-DE4E8D22AA02}" type="datetime1">
              <a:rPr lang="en-US" smtClean="0"/>
              <a:t>6/1/2023</a:t>
            </a:fld>
            <a:endParaRPr lang="en-US"/>
          </a:p>
        </p:txBody>
      </p:sp>
      <p:sp>
        <p:nvSpPr>
          <p:cNvPr id="3" name="Footer Placeholder 2"/>
          <p:cNvSpPr>
            <a:spLocks noGrp="1"/>
          </p:cNvSpPr>
          <p:nvPr>
            <p:ph type="ftr" sz="quarter" idx="11"/>
          </p:nvPr>
        </p:nvSpPr>
        <p:spPr/>
        <p:txBody>
          <a:bodyPr/>
          <a:lstStyle/>
          <a:p>
            <a:r>
              <a:rPr lang="en-US"/>
              <a:t>Prepared by Vicent V. M., MSc,  PhD Cand.</a:t>
            </a:r>
          </a:p>
        </p:txBody>
      </p:sp>
      <p:sp>
        <p:nvSpPr>
          <p:cNvPr id="4" name="Slide Number Placeholder 3"/>
          <p:cNvSpPr>
            <a:spLocks noGrp="1"/>
          </p:cNvSpPr>
          <p:nvPr>
            <p:ph type="sldNum" sz="quarter" idx="12"/>
          </p:nvPr>
        </p:nvSpPr>
        <p:spPr/>
        <p:txBody>
          <a:bodyPr/>
          <a:lstStyle/>
          <a:p>
            <a:fld id="{573EDECB-2FAA-459C-97B3-E12F4C12D356}" type="slidenum">
              <a:rPr lang="en-US" smtClean="0"/>
              <a:t>‹#›</a:t>
            </a:fld>
            <a:endParaRPr lang="en-US"/>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FD7FB9DC-E64F-417F-BAF0-87BEC80C3415}" type="datetime1">
              <a:rPr lang="en-US" smtClean="0"/>
              <a:t>6/1/2023</a:t>
            </a:fld>
            <a:endParaRPr lang="en-US"/>
          </a:p>
        </p:txBody>
      </p:sp>
      <p:sp>
        <p:nvSpPr>
          <p:cNvPr id="6" name="Footer Placeholder 5"/>
          <p:cNvSpPr>
            <a:spLocks noGrp="1"/>
          </p:cNvSpPr>
          <p:nvPr>
            <p:ph type="ftr" sz="quarter" idx="11"/>
          </p:nvPr>
        </p:nvSpPr>
        <p:spPr/>
        <p:txBody>
          <a:bodyPr/>
          <a:lstStyle/>
          <a:p>
            <a:r>
              <a:rPr lang="en-US"/>
              <a:t>Prepared by Vicent V. M., MSc,  PhD Cand.</a:t>
            </a:r>
          </a:p>
        </p:txBody>
      </p:sp>
      <p:sp>
        <p:nvSpPr>
          <p:cNvPr id="7" name="Slide Number Placeholder 6"/>
          <p:cNvSpPr>
            <a:spLocks noGrp="1"/>
          </p:cNvSpPr>
          <p:nvPr>
            <p:ph type="sldNum" sz="quarter" idx="12"/>
          </p:nvPr>
        </p:nvSpPr>
        <p:spPr/>
        <p:txBody>
          <a:bodyPr/>
          <a:lstStyle/>
          <a:p>
            <a:fld id="{573EDECB-2FAA-459C-97B3-E12F4C12D356}"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E03FFBC1-4319-4FEB-9A2E-7B5E819B24D9}" type="datetime1">
              <a:rPr lang="en-US" smtClean="0"/>
              <a:t>6/1/2023</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r>
              <a:rPr lang="en-US"/>
              <a:t>Prepared by Vicent V. M., MSc,  PhD Cand.</a:t>
            </a: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573EDECB-2FAA-459C-97B3-E12F4C12D356}"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5323EBF-1CA3-4867-A092-4E9979EC7820}" type="datetime1">
              <a:rPr lang="en-US" smtClean="0"/>
              <a:t>6/1/2023</a:t>
            </a:fld>
            <a:endParaRPr lang="en-US"/>
          </a:p>
        </p:txBody>
      </p:sp>
      <p:sp>
        <p:nvSpPr>
          <p:cNvPr id="5" name="Footer Placeholder 4"/>
          <p:cNvSpPr>
            <a:spLocks noGrp="1"/>
          </p:cNvSpPr>
          <p:nvPr>
            <p:ph type="ftr" sz="quarter" idx="11"/>
          </p:nvPr>
        </p:nvSpPr>
        <p:spPr/>
        <p:txBody>
          <a:bodyPr/>
          <a:lstStyle/>
          <a:p>
            <a:r>
              <a:rPr lang="en-US"/>
              <a:t>Prepared by Vicent V. M., MSc,  PhD Cand.</a:t>
            </a:r>
          </a:p>
        </p:txBody>
      </p:sp>
      <p:sp>
        <p:nvSpPr>
          <p:cNvPr id="6" name="Slide Number Placeholder 5"/>
          <p:cNvSpPr>
            <a:spLocks noGrp="1"/>
          </p:cNvSpPr>
          <p:nvPr>
            <p:ph type="sldNum" sz="quarter" idx="12"/>
          </p:nvPr>
        </p:nvSpPr>
        <p:spPr/>
        <p:txBody>
          <a:bodyPr/>
          <a:lstStyle/>
          <a:p>
            <a:fld id="{573EDECB-2FAA-459C-97B3-E12F4C12D356}" type="slidenum">
              <a:rPr lang="en-US" smtClean="0"/>
              <a:t>‹#›</a:t>
            </a:fld>
            <a:endParaRPr lang="en-US"/>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64E90D-BA5D-499E-B3F9-7770FDCDBCD7}" type="datetime1">
              <a:rPr lang="en-US" smtClean="0"/>
              <a:t>6/1/2023</a:t>
            </a:fld>
            <a:endParaRPr lang="en-US"/>
          </a:p>
        </p:txBody>
      </p:sp>
      <p:sp>
        <p:nvSpPr>
          <p:cNvPr id="5" name="Footer Placeholder 4"/>
          <p:cNvSpPr>
            <a:spLocks noGrp="1"/>
          </p:cNvSpPr>
          <p:nvPr>
            <p:ph type="ftr" sz="quarter" idx="11"/>
          </p:nvPr>
        </p:nvSpPr>
        <p:spPr/>
        <p:txBody>
          <a:bodyPr/>
          <a:lstStyle/>
          <a:p>
            <a:r>
              <a:rPr lang="en-US"/>
              <a:t>Prepared by Vicent V. M., MSc,  PhD Cand.</a:t>
            </a:r>
          </a:p>
        </p:txBody>
      </p:sp>
      <p:sp>
        <p:nvSpPr>
          <p:cNvPr id="6" name="Slide Number Placeholder 5"/>
          <p:cNvSpPr>
            <a:spLocks noGrp="1"/>
          </p:cNvSpPr>
          <p:nvPr>
            <p:ph type="sldNum" sz="quarter" idx="12"/>
          </p:nvPr>
        </p:nvSpPr>
        <p:spPr/>
        <p:txBody>
          <a:bodyPr/>
          <a:lstStyle/>
          <a:p>
            <a:fld id="{573EDECB-2FAA-459C-97B3-E12F4C12D356}" type="slidenum">
              <a:rPr lang="en-US" smtClean="0"/>
              <a:t>‹#›</a:t>
            </a:fld>
            <a:endParaRPr lang="en-US"/>
          </a:p>
        </p:txBody>
      </p:sp>
    </p:spTree>
  </p:cSld>
  <p:clrMapOvr>
    <a:masterClrMapping/>
  </p:clrMapOvr>
  <p:transition spd="slow">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A0F5A816-74C1-4EB2-BD82-4CD8AF4A410E}" type="datetime1">
              <a:rPr lang="en-US" smtClean="0"/>
              <a:t>6/1/2023</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r>
              <a:rPr lang="en-US"/>
              <a:t>Prepared by Vicent V. M., MSc,  PhD Cand.</a:t>
            </a: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573EDECB-2FAA-459C-97B3-E12F4C12D35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pull/>
  </p:transition>
  <p:hf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2" Type="http://schemas.openxmlformats.org/officeDocument/2006/relationships/image" Target="../media/image7.gif"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image" Target="../media/image11.jpeg" /><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2" Type="http://schemas.openxmlformats.org/officeDocument/2006/relationships/image" Target="../media/image14.emf" /><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slideLayout" Target="../slideLayouts/slideLayout2.xml" /><Relationship Id="rId1" Type="http://schemas.openxmlformats.org/officeDocument/2006/relationships/vmlDrawing" Target="../drawings/vmlDrawing1.vml" /><Relationship Id="rId5" Type="http://schemas.openxmlformats.org/officeDocument/2006/relationships/image" Target="../media/image16.wmf" /><Relationship Id="rId4" Type="http://schemas.openxmlformats.org/officeDocument/2006/relationships/oleObject" Target="../embeddings/oleObject1.bin" /></Relationships>
</file>

<file path=ppt/slides/_rels/slide60.xml.rels><?xml version="1.0" encoding="UTF-8" standalone="yes"?>
<Relationships xmlns="http://schemas.openxmlformats.org/package/2006/relationships"><Relationship Id="rId2" Type="http://schemas.openxmlformats.org/officeDocument/2006/relationships/image" Target="../media/image18.gif" /><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image" Target="../media/image19.gif" /><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2" Type="http://schemas.openxmlformats.org/officeDocument/2006/relationships/image" Target="../media/image21.png" /><Relationship Id="rId1" Type="http://schemas.openxmlformats.org/officeDocument/2006/relationships/slideLayout" Target="../slideLayouts/slideLayout2.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2.xml" /></Relationships>
</file>

<file path=ppt/slides/_rels/slide74.xml.rels><?xml version="1.0" encoding="UTF-8" standalone="yes"?>
<Relationships xmlns="http://schemas.openxmlformats.org/package/2006/relationships"><Relationship Id="rId2" Type="http://schemas.openxmlformats.org/officeDocument/2006/relationships/image" Target="../media/image23.png" /><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2" Type="http://schemas.openxmlformats.org/officeDocument/2006/relationships/image" Target="../media/image24.png" /><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81000" y="990600"/>
            <a:ext cx="8153400" cy="21336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3600" b="1" dirty="0">
                <a:latin typeface="Book Antiqua" pitchFamily="18" charset="0"/>
                <a:ea typeface="Tahoma" pitchFamily="34" charset="0"/>
                <a:cs typeface="Tahoma" pitchFamily="34" charset="0"/>
              </a:rPr>
              <a:t>Basics of Control Engineering</a:t>
            </a:r>
            <a:br>
              <a:rPr lang="en-US" sz="3600" b="1" dirty="0">
                <a:latin typeface="Book Antiqua" pitchFamily="18" charset="0"/>
                <a:ea typeface="Tahoma" pitchFamily="34" charset="0"/>
                <a:cs typeface="Tahoma" pitchFamily="34" charset="0"/>
              </a:rPr>
            </a:br>
            <a:r>
              <a:rPr lang="en-US" sz="3600" b="1" dirty="0">
                <a:latin typeface="Book Antiqua" pitchFamily="18" charset="0"/>
                <a:ea typeface="Tahoma" pitchFamily="34" charset="0"/>
                <a:cs typeface="Tahoma" pitchFamily="34" charset="0"/>
              </a:rPr>
              <a:t>                      CODE: EE </a:t>
            </a:r>
            <a:r>
              <a:rPr lang="en-GB" sz="3600" b="1" dirty="0">
                <a:latin typeface="Book Antiqua" pitchFamily="18" charset="0"/>
                <a:ea typeface="Tahoma" pitchFamily="34" charset="0"/>
                <a:cs typeface="Tahoma" pitchFamily="34" charset="0"/>
              </a:rPr>
              <a:t>8111</a:t>
            </a:r>
            <a:r>
              <a:rPr lang="en-US" sz="3600" b="1" dirty="0">
                <a:latin typeface="Book Antiqua" pitchFamily="18" charset="0"/>
                <a:ea typeface="Tahoma" pitchFamily="34" charset="0"/>
                <a:cs typeface="Tahoma" pitchFamily="34" charset="0"/>
              </a:rPr>
              <a:t> </a:t>
            </a:r>
            <a:br>
              <a:rPr lang="en-US" sz="3600" b="1" dirty="0">
                <a:latin typeface="Book Antiqua" pitchFamily="18" charset="0"/>
                <a:ea typeface="Tahoma" pitchFamily="34" charset="0"/>
                <a:cs typeface="Tahoma" pitchFamily="34" charset="0"/>
              </a:rPr>
            </a:br>
            <a:r>
              <a:rPr lang="en-US" sz="3600" b="1" dirty="0">
                <a:latin typeface="Book Antiqua" pitchFamily="18" charset="0"/>
                <a:ea typeface="Tahoma" pitchFamily="34" charset="0"/>
                <a:cs typeface="Tahoma" pitchFamily="34" charset="0"/>
              </a:rPr>
              <a:t>                                  </a:t>
            </a:r>
            <a:endParaRPr lang="en-US" sz="3600" dirty="0">
              <a:latin typeface="Book Antiqua" pitchFamily="18" charset="0"/>
            </a:endParaRPr>
          </a:p>
        </p:txBody>
      </p:sp>
    </p:spTree>
    <p:extLst>
      <p:ext uri="{BB962C8B-B14F-4D97-AF65-F5344CB8AC3E}">
        <p14:creationId xmlns:p14="http://schemas.microsoft.com/office/powerpoint/2010/main" val="4849706"/>
      </p:ext>
    </p:extLst>
  </p:cSld>
  <p:clrMapOvr>
    <a:masterClrMapping/>
  </p:clrMapOvr>
  <p:transition spd="slow">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lnSpc>
                <a:spcPct val="150000"/>
              </a:lnSpc>
            </a:pPr>
            <a:r>
              <a:rPr lang="en-US" sz="2800" dirty="0"/>
              <a:t>Identify different types of control systems.</a:t>
            </a:r>
          </a:p>
          <a:p>
            <a:pPr lvl="0">
              <a:lnSpc>
                <a:spcPct val="150000"/>
              </a:lnSpc>
            </a:pPr>
            <a:r>
              <a:rPr lang="en-US" sz="2800" dirty="0"/>
              <a:t>Apply control elements in control systems.</a:t>
            </a:r>
          </a:p>
          <a:p>
            <a:pPr lvl="0">
              <a:lnSpc>
                <a:spcPct val="150000"/>
              </a:lnSpc>
            </a:pPr>
            <a:r>
              <a:rPr lang="en-US" sz="2800" dirty="0"/>
              <a:t>Describe the functions of control elements.</a:t>
            </a:r>
          </a:p>
          <a:p>
            <a:pPr>
              <a:lnSpc>
                <a:spcPct val="150000"/>
              </a:lnSpc>
            </a:pPr>
            <a:r>
              <a:rPr lang="en-US" sz="2800" dirty="0"/>
              <a:t>Describe the functions of controllers</a:t>
            </a:r>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2</a:t>
            </a:fld>
            <a:endParaRPr lang="en-US"/>
          </a:p>
        </p:txBody>
      </p:sp>
      <p:sp>
        <p:nvSpPr>
          <p:cNvPr id="5" name="Title 4"/>
          <p:cNvSpPr>
            <a:spLocks noGrp="1"/>
          </p:cNvSpPr>
          <p:nvPr>
            <p:ph type="title"/>
          </p:nvPr>
        </p:nvSpPr>
        <p:spPr/>
        <p:txBody>
          <a:bodyPr>
            <a:normAutofit/>
          </a:bodyPr>
          <a:lstStyle/>
          <a:p>
            <a:pPr lvl="2"/>
            <a:r>
              <a:rPr lang="en-US" sz="2800" b="1" dirty="0"/>
              <a:t>Course expected learning outcomes</a:t>
            </a:r>
          </a:p>
        </p:txBody>
      </p:sp>
    </p:spTree>
    <p:extLst>
      <p:ext uri="{BB962C8B-B14F-4D97-AF65-F5344CB8AC3E}">
        <p14:creationId xmlns:p14="http://schemas.microsoft.com/office/powerpoint/2010/main" val="2294639664"/>
      </p:ext>
    </p:extLst>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55000" lnSpcReduction="20000"/>
          </a:bodyPr>
          <a:lstStyle/>
          <a:p>
            <a:pPr marL="109728" indent="0">
              <a:buNone/>
            </a:pPr>
            <a:r>
              <a:rPr lang="en-US" b="1" dirty="0"/>
              <a:t>Types of Control Systems</a:t>
            </a:r>
            <a:r>
              <a:rPr lang="en-US" dirty="0"/>
              <a:t>;	</a:t>
            </a:r>
          </a:p>
          <a:p>
            <a:pPr marL="365760" lvl="1" indent="0">
              <a:buNone/>
            </a:pPr>
            <a:r>
              <a:rPr lang="en-US" dirty="0"/>
              <a:t> Basic concepts of automation and control systems, classification of control systems; manual, semi and fully automated control systems</a:t>
            </a:r>
          </a:p>
          <a:p>
            <a:pPr marL="109728" indent="0">
              <a:buNone/>
            </a:pPr>
            <a:r>
              <a:rPr lang="en-US" b="1" dirty="0"/>
              <a:t>Elements of Automatic Control System:</a:t>
            </a:r>
            <a:endParaRPr lang="en-US" dirty="0"/>
          </a:p>
          <a:p>
            <a:pPr marL="109728" indent="0">
              <a:buNone/>
            </a:pPr>
            <a:r>
              <a:rPr lang="en-US" dirty="0"/>
              <a:t>    Basic characteristics of control system and its connection</a:t>
            </a:r>
          </a:p>
          <a:p>
            <a:pPr marL="109728" indent="0">
              <a:buNone/>
            </a:pPr>
            <a:r>
              <a:rPr lang="en-US" b="1" dirty="0"/>
              <a:t>Transducers:</a:t>
            </a:r>
            <a:endParaRPr lang="en-US" dirty="0"/>
          </a:p>
          <a:p>
            <a:pPr marL="109728" indent="0">
              <a:buNone/>
            </a:pPr>
            <a:r>
              <a:rPr lang="en-US" dirty="0"/>
              <a:t> Types of transducers; use of transducers with measuring instruments to measure different   quantities; strain gauge theory; use of a strain gauge transducer as an error detector; derivation of the equation relating resistance and linear angular displacement in a potentiometer; transducer characteristics.</a:t>
            </a:r>
          </a:p>
          <a:p>
            <a:pPr marL="109728" indent="0">
              <a:buNone/>
            </a:pPr>
            <a:r>
              <a:rPr lang="en-US" b="1" dirty="0"/>
              <a:t>Sensors:</a:t>
            </a:r>
            <a:endParaRPr lang="en-US" dirty="0"/>
          </a:p>
          <a:p>
            <a:pPr marL="109728" indent="0">
              <a:buNone/>
            </a:pPr>
            <a:r>
              <a:rPr lang="en-US" dirty="0"/>
              <a:t>Types of sensors; application of different types of sensors</a:t>
            </a:r>
          </a:p>
          <a:p>
            <a:pPr marL="109728" indent="0">
              <a:buNone/>
            </a:pPr>
            <a:r>
              <a:rPr lang="en-US" dirty="0" err="1"/>
              <a:t>Actuators:Definition</a:t>
            </a:r>
            <a:r>
              <a:rPr lang="en-US" dirty="0"/>
              <a:t> of actuator, classification of actuators, applications of actuators.</a:t>
            </a:r>
          </a:p>
          <a:p>
            <a:pPr marL="109728" indent="0">
              <a:buNone/>
            </a:pPr>
            <a:r>
              <a:rPr lang="en-US" b="1" dirty="0" err="1"/>
              <a:t>Synchros</a:t>
            </a:r>
            <a:r>
              <a:rPr lang="en-US" b="1" dirty="0"/>
              <a:t>:</a:t>
            </a:r>
            <a:endParaRPr lang="en-US" dirty="0"/>
          </a:p>
          <a:p>
            <a:pPr marL="109728" indent="0">
              <a:buNone/>
            </a:pPr>
            <a:r>
              <a:rPr lang="en-US" dirty="0"/>
              <a:t>Define the synchro, constructions and mode of option of synchro transmitter and receiver, the control transformer, the sine-cosine rotary transformer, synchro data transmission circuit, the use of </a:t>
            </a:r>
            <a:r>
              <a:rPr lang="en-US" dirty="0" err="1"/>
              <a:t>synchros</a:t>
            </a:r>
            <a:r>
              <a:rPr lang="en-US" dirty="0"/>
              <a:t> in error detectors and position control systems, formation of an AC error signal a transmitter and a synchro control transformer.</a:t>
            </a:r>
          </a:p>
          <a:p>
            <a:pPr marL="109728" indent="0">
              <a:buNone/>
            </a:pPr>
            <a:r>
              <a:rPr lang="en-US" b="1" dirty="0"/>
              <a:t>Controllers: </a:t>
            </a:r>
            <a:endParaRPr lang="en-US" dirty="0"/>
          </a:p>
          <a:p>
            <a:pPr marL="109728" indent="0">
              <a:buNone/>
            </a:pPr>
            <a:r>
              <a:rPr lang="en-US" dirty="0"/>
              <a:t>Define and mention types of controllers</a:t>
            </a:r>
          </a:p>
          <a:p>
            <a:pPr marL="109728" indent="0">
              <a:buNone/>
            </a:pPr>
            <a:endParaRPr lang="en-US" dirty="0"/>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3</a:t>
            </a:fld>
            <a:endParaRPr lang="en-US"/>
          </a:p>
        </p:txBody>
      </p:sp>
      <p:sp>
        <p:nvSpPr>
          <p:cNvPr id="5" name="Title 4"/>
          <p:cNvSpPr>
            <a:spLocks noGrp="1"/>
          </p:cNvSpPr>
          <p:nvPr>
            <p:ph type="title"/>
          </p:nvPr>
        </p:nvSpPr>
        <p:spPr/>
        <p:txBody>
          <a:bodyPr/>
          <a:lstStyle/>
          <a:p>
            <a:r>
              <a:rPr lang="en-US" dirty="0"/>
              <a:t>contents</a:t>
            </a:r>
          </a:p>
        </p:txBody>
      </p:sp>
    </p:spTree>
    <p:extLst>
      <p:ext uri="{BB962C8B-B14F-4D97-AF65-F5344CB8AC3E}">
        <p14:creationId xmlns:p14="http://schemas.microsoft.com/office/powerpoint/2010/main" val="3936096924"/>
      </p:ext>
    </p:extLst>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sz="2400" b="1" dirty="0">
                <a:latin typeface="Book Antiqua" pitchFamily="18" charset="0"/>
              </a:rPr>
              <a:t>Control Engineering System</a:t>
            </a:r>
          </a:p>
          <a:p>
            <a:pPr>
              <a:buClrTx/>
              <a:buFont typeface="Wingdings" pitchFamily="2" charset="2"/>
              <a:buChar char="Ø"/>
            </a:pPr>
            <a:r>
              <a:rPr lang="en-US" sz="2400" dirty="0">
                <a:latin typeface="Book Antiqua" pitchFamily="18" charset="0"/>
              </a:rPr>
              <a:t>Basic concept of automation and control system</a:t>
            </a:r>
          </a:p>
          <a:p>
            <a:pPr>
              <a:buClrTx/>
              <a:buFont typeface="Wingdings" pitchFamily="2" charset="2"/>
              <a:buChar char="Ø"/>
            </a:pPr>
            <a:r>
              <a:rPr lang="en-US" sz="2400" dirty="0">
                <a:latin typeface="Book Antiqua" pitchFamily="18" charset="0"/>
              </a:rPr>
              <a:t>Classification of control system;</a:t>
            </a:r>
          </a:p>
          <a:p>
            <a:pPr lvl="5">
              <a:buClrTx/>
              <a:buFont typeface="Wingdings" pitchFamily="2" charset="2"/>
              <a:buChar char="ü"/>
            </a:pPr>
            <a:r>
              <a:rPr lang="en-US" sz="2400" dirty="0">
                <a:latin typeface="Book Antiqua" pitchFamily="18" charset="0"/>
              </a:rPr>
              <a:t>  Manual</a:t>
            </a:r>
          </a:p>
          <a:p>
            <a:pPr lvl="5">
              <a:buClrTx/>
              <a:buFont typeface="Wingdings" pitchFamily="2" charset="2"/>
              <a:buChar char="ü"/>
            </a:pPr>
            <a:r>
              <a:rPr lang="en-US" sz="2400" dirty="0">
                <a:latin typeface="Book Antiqua" pitchFamily="18" charset="0"/>
              </a:rPr>
              <a:t>Semi automated control system</a:t>
            </a:r>
          </a:p>
          <a:p>
            <a:pPr lvl="5">
              <a:buClrTx/>
              <a:buFont typeface="Wingdings" pitchFamily="2" charset="2"/>
              <a:buChar char="ü"/>
            </a:pPr>
            <a:r>
              <a:rPr lang="en-US" sz="2400" dirty="0">
                <a:latin typeface="Book Antiqua" pitchFamily="18" charset="0"/>
              </a:rPr>
              <a:t>Full automated control system</a:t>
            </a:r>
          </a:p>
          <a:p>
            <a:pPr>
              <a:buClrTx/>
              <a:buFont typeface="Wingdings" pitchFamily="2" charset="2"/>
              <a:buChar char="Ø"/>
            </a:pPr>
            <a:r>
              <a:rPr lang="en-US" sz="2400" dirty="0">
                <a:latin typeface="Book Antiqua" pitchFamily="18" charset="0"/>
              </a:rPr>
              <a:t>Elements of automatic control system</a:t>
            </a:r>
          </a:p>
          <a:p>
            <a:pPr lvl="5">
              <a:buClrTx/>
              <a:buFont typeface="Wingdings" pitchFamily="2" charset="2"/>
              <a:buChar char="ü"/>
            </a:pPr>
            <a:r>
              <a:rPr lang="en-US" sz="2400" dirty="0">
                <a:latin typeface="Book Antiqua" pitchFamily="18" charset="0"/>
              </a:rPr>
              <a:t>Basic characteristics of control system and its connections </a:t>
            </a:r>
          </a:p>
          <a:p>
            <a:endParaRPr lang="en-US" dirty="0"/>
          </a:p>
        </p:txBody>
      </p:sp>
      <p:sp>
        <p:nvSpPr>
          <p:cNvPr id="3" name="Title 2"/>
          <p:cNvSpPr>
            <a:spLocks noGrp="1"/>
          </p:cNvSpPr>
          <p:nvPr>
            <p:ph type="title"/>
          </p:nvPr>
        </p:nvSpPr>
        <p:spPr/>
        <p:txBody>
          <a:bodyPr>
            <a:normAutofit/>
          </a:bodyPr>
          <a:lstStyle/>
          <a:p>
            <a:r>
              <a:rPr lang="en-US" sz="3200" dirty="0">
                <a:solidFill>
                  <a:schemeClr val="tx1"/>
                </a:solidFill>
                <a:effectLst/>
                <a:latin typeface="Book Antiqua" pitchFamily="18" charset="0"/>
              </a:rPr>
              <a:t>Learning Context</a:t>
            </a:r>
          </a:p>
        </p:txBody>
      </p:sp>
      <p:sp>
        <p:nvSpPr>
          <p:cNvPr id="5" name="Slide Number Placeholder 4"/>
          <p:cNvSpPr>
            <a:spLocks noGrp="1"/>
          </p:cNvSpPr>
          <p:nvPr>
            <p:ph type="sldNum" sz="quarter" idx="12"/>
          </p:nvPr>
        </p:nvSpPr>
        <p:spPr/>
        <p:txBody>
          <a:bodyPr/>
          <a:lstStyle/>
          <a:p>
            <a:fld id="{573EDECB-2FAA-459C-97B3-E12F4C12D356}" type="slidenum">
              <a:rPr lang="en-US" smtClean="0"/>
              <a:t>4</a:t>
            </a:fld>
            <a:endParaRPr lang="en-US"/>
          </a:p>
        </p:txBody>
      </p:sp>
    </p:spTree>
    <p:extLst>
      <p:ext uri="{BB962C8B-B14F-4D97-AF65-F5344CB8AC3E}">
        <p14:creationId xmlns:p14="http://schemas.microsoft.com/office/powerpoint/2010/main" val="2446234264"/>
      </p:ext>
    </p:extLst>
  </p:cSld>
  <p:clrMapOvr>
    <a:masterClrMapping/>
  </p:clrMapOvr>
  <p:transition spd="slow">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sz="2400" b="1" dirty="0">
                <a:latin typeface="Book Antiqua" pitchFamily="18" charset="0"/>
              </a:rPr>
              <a:t>Meaning, types , characteristics, application of:</a:t>
            </a:r>
          </a:p>
          <a:p>
            <a:pPr lvl="8">
              <a:buClrTx/>
              <a:buFont typeface="Wingdings" pitchFamily="2" charset="2"/>
              <a:buChar char="Ø"/>
            </a:pPr>
            <a:r>
              <a:rPr lang="en-US" sz="2400" dirty="0">
                <a:latin typeface="Book Antiqua" pitchFamily="18" charset="0"/>
              </a:rPr>
              <a:t>Transducers</a:t>
            </a:r>
          </a:p>
          <a:p>
            <a:pPr lvl="8">
              <a:buClrTx/>
              <a:buFont typeface="Wingdings" pitchFamily="2" charset="2"/>
              <a:buChar char="Ø"/>
            </a:pPr>
            <a:r>
              <a:rPr lang="en-US" sz="2400" dirty="0">
                <a:latin typeface="Book Antiqua" pitchFamily="18" charset="0"/>
              </a:rPr>
              <a:t>Sensors</a:t>
            </a:r>
          </a:p>
          <a:p>
            <a:pPr lvl="8">
              <a:buClrTx/>
              <a:buFont typeface="Wingdings" pitchFamily="2" charset="2"/>
              <a:buChar char="Ø"/>
            </a:pPr>
            <a:r>
              <a:rPr lang="en-US" sz="2400" dirty="0">
                <a:latin typeface="Book Antiqua" pitchFamily="18" charset="0"/>
              </a:rPr>
              <a:t>Actuators</a:t>
            </a:r>
          </a:p>
          <a:p>
            <a:pPr lvl="8">
              <a:buClrTx/>
              <a:buFont typeface="Wingdings" pitchFamily="2" charset="2"/>
              <a:buChar char="Ø"/>
            </a:pPr>
            <a:r>
              <a:rPr lang="en-US" sz="2400" dirty="0">
                <a:latin typeface="Book Antiqua" pitchFamily="18" charset="0"/>
              </a:rPr>
              <a:t>Synchros</a:t>
            </a:r>
          </a:p>
          <a:p>
            <a:pPr lvl="8">
              <a:buClrTx/>
              <a:buFont typeface="Wingdings" pitchFamily="2" charset="2"/>
              <a:buChar char="Ø"/>
            </a:pPr>
            <a:r>
              <a:rPr lang="en-US" sz="2400" dirty="0">
                <a:latin typeface="Book Antiqua" pitchFamily="18" charset="0"/>
              </a:rPr>
              <a:t>Controllers</a:t>
            </a:r>
          </a:p>
          <a:p>
            <a:pPr>
              <a:buFont typeface="Wingdings" pitchFamily="2" charset="2"/>
              <a:buChar char="Ø"/>
            </a:pPr>
            <a:endParaRPr lang="en-US" dirty="0"/>
          </a:p>
        </p:txBody>
      </p:sp>
      <p:sp>
        <p:nvSpPr>
          <p:cNvPr id="3" name="Footer Placeholder 2"/>
          <p:cNvSpPr>
            <a:spLocks noGrp="1"/>
          </p:cNvSpPr>
          <p:nvPr>
            <p:ph type="ftr" sz="quarter" idx="11"/>
          </p:nvPr>
        </p:nvSpPr>
        <p:spPr>
          <a:xfrm>
            <a:off x="4380072" y="6407944"/>
            <a:ext cx="3392328" cy="365125"/>
          </a:xfrm>
        </p:spPr>
        <p:txBody>
          <a:bodyPr/>
          <a:lstStyle/>
          <a:p>
            <a:r>
              <a:rPr lang="en-US"/>
              <a:t>Prepared by Vicent V. M., MSc,  PhD Cand.</a:t>
            </a:r>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5</a:t>
            </a:fld>
            <a:endParaRPr lang="en-US"/>
          </a:p>
        </p:txBody>
      </p:sp>
      <p:sp>
        <p:nvSpPr>
          <p:cNvPr id="5" name="Title 4"/>
          <p:cNvSpPr>
            <a:spLocks noGrp="1"/>
          </p:cNvSpPr>
          <p:nvPr>
            <p:ph type="title"/>
          </p:nvPr>
        </p:nvSpPr>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3296187356"/>
      </p:ext>
    </p:extLst>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864291"/>
          </a:xfrm>
        </p:spPr>
        <p:txBody>
          <a:bodyPr>
            <a:normAutofit lnSpcReduction="10000"/>
          </a:bodyPr>
          <a:lstStyle/>
          <a:p>
            <a:pPr>
              <a:buClrTx/>
            </a:pPr>
            <a:r>
              <a:rPr lang="en-US" sz="2400" dirty="0">
                <a:latin typeface="Book Antiqua" pitchFamily="18" charset="0"/>
              </a:rPr>
              <a:t>Every activity in our daily life is influenced by some sort of control system. </a:t>
            </a:r>
          </a:p>
          <a:p>
            <a:pPr>
              <a:buClrTx/>
            </a:pPr>
            <a:r>
              <a:rPr lang="en-US" sz="2400" dirty="0">
                <a:latin typeface="Book Antiqua" pitchFamily="18" charset="0"/>
              </a:rPr>
              <a:t>Control system is now an integral parts of modern industrialization, industrial process and home appliances.</a:t>
            </a:r>
          </a:p>
          <a:p>
            <a:pPr>
              <a:buClrTx/>
            </a:pPr>
            <a:r>
              <a:rPr lang="en-US" sz="2400" dirty="0">
                <a:latin typeface="Book Antiqua" pitchFamily="18" charset="0"/>
              </a:rPr>
              <a:t>Control systems and its components play a vital role in our daily life</a:t>
            </a:r>
          </a:p>
          <a:p>
            <a:pPr>
              <a:buClrTx/>
            </a:pPr>
            <a:r>
              <a:rPr lang="en-US" sz="2400" dirty="0">
                <a:latin typeface="Book Antiqua" pitchFamily="18" charset="0"/>
              </a:rPr>
              <a:t>A control system consists of interconnected components designed to achieve a certain desired output.</a:t>
            </a:r>
          </a:p>
          <a:p>
            <a:pPr>
              <a:buClrTx/>
            </a:pPr>
            <a:r>
              <a:rPr lang="en-US" sz="2400" dirty="0">
                <a:latin typeface="Book Antiqua" pitchFamily="18" charset="0"/>
              </a:rPr>
              <a:t>Modern control engineering practice includes the use of control design strategies for improving manufacturing processes, the efficiency of energy use, advanced automobile control, </a:t>
            </a:r>
            <a:r>
              <a:rPr lang="en-US" sz="2400" dirty="0" err="1">
                <a:latin typeface="Book Antiqua" pitchFamily="18" charset="0"/>
              </a:rPr>
              <a:t>etc</a:t>
            </a:r>
            <a:endParaRPr lang="en-US" sz="2400" dirty="0">
              <a:latin typeface="Book Antiqua" pitchFamily="18" charset="0"/>
            </a:endParaRP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6</a:t>
            </a:fld>
            <a:endParaRPr lang="en-US"/>
          </a:p>
        </p:txBody>
      </p:sp>
      <p:sp>
        <p:nvSpPr>
          <p:cNvPr id="5" name="Title 4"/>
          <p:cNvSpPr>
            <a:spLocks noGrp="1"/>
          </p:cNvSpPr>
          <p:nvPr>
            <p:ph type="title"/>
          </p:nvPr>
        </p:nvSpPr>
        <p:spPr>
          <a:xfrm>
            <a:off x="457200" y="274638"/>
            <a:ext cx="8229600" cy="792162"/>
          </a:xfrm>
        </p:spPr>
        <p:txBody>
          <a:bodyPr>
            <a:normAutofit/>
          </a:bodyPr>
          <a:lstStyle/>
          <a:p>
            <a:r>
              <a:rPr lang="en-US" sz="3200" dirty="0">
                <a:solidFill>
                  <a:schemeClr val="tx1"/>
                </a:solidFill>
                <a:effectLst/>
                <a:latin typeface="Book Antiqua" pitchFamily="18" charset="0"/>
              </a:rPr>
              <a:t>Introduction </a:t>
            </a:r>
          </a:p>
        </p:txBody>
      </p:sp>
    </p:spTree>
    <p:extLst>
      <p:ext uri="{BB962C8B-B14F-4D97-AF65-F5344CB8AC3E}">
        <p14:creationId xmlns:p14="http://schemas.microsoft.com/office/powerpoint/2010/main" val="260326436"/>
      </p:ext>
    </p:extLst>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458200" cy="5715000"/>
          </a:xfrm>
        </p:spPr>
        <p:txBody>
          <a:bodyPr>
            <a:normAutofit fontScale="92500" lnSpcReduction="20000"/>
          </a:bodyPr>
          <a:lstStyle/>
          <a:p>
            <a:pPr marL="109728" indent="0" algn="just">
              <a:buClrTx/>
              <a:buNone/>
            </a:pPr>
            <a:r>
              <a:rPr lang="en-US" sz="3000" b="1" dirty="0">
                <a:latin typeface="Book Antiqua" pitchFamily="18" charset="0"/>
              </a:rPr>
              <a:t>Terminologies</a:t>
            </a:r>
          </a:p>
          <a:p>
            <a:pPr algn="just">
              <a:buClrTx/>
            </a:pPr>
            <a:r>
              <a:rPr lang="en-US" sz="2400" b="1" dirty="0">
                <a:latin typeface="Book Antiqua" pitchFamily="18" charset="0"/>
              </a:rPr>
              <a:t>Control system: </a:t>
            </a:r>
            <a:r>
              <a:rPr lang="en-US" sz="2400" dirty="0">
                <a:latin typeface="Book Antiqua" pitchFamily="18" charset="0"/>
              </a:rPr>
              <a:t>is an interconnection of components forming a system configuration that will provide a desired system response. </a:t>
            </a:r>
            <a:r>
              <a:rPr lang="en-US" sz="2400" b="1" dirty="0">
                <a:latin typeface="Book Antiqua" pitchFamily="18" charset="0"/>
              </a:rPr>
              <a:t>OR</a:t>
            </a:r>
            <a:r>
              <a:rPr lang="en-US" sz="2400" dirty="0">
                <a:latin typeface="Book Antiqua" pitchFamily="18" charset="0"/>
              </a:rPr>
              <a:t> </a:t>
            </a:r>
          </a:p>
          <a:p>
            <a:pPr marL="365760" lvl="1" indent="0" algn="just">
              <a:buClrTx/>
              <a:buNone/>
            </a:pPr>
            <a:r>
              <a:rPr lang="en-US" sz="2400" dirty="0">
                <a:solidFill>
                  <a:srgbClr val="000000"/>
                </a:solidFill>
                <a:latin typeface="Book Antiqua" pitchFamily="18" charset="0"/>
              </a:rPr>
              <a:t>A control system is an arrangement of physical components connected or related in such a manner as to command, regulate, direct or govern itself or another system.</a:t>
            </a:r>
            <a:r>
              <a:rPr lang="en-US" sz="2400" i="1" dirty="0">
                <a:solidFill>
                  <a:srgbClr val="000000"/>
                </a:solidFill>
                <a:latin typeface="Cambria"/>
              </a:rPr>
              <a:t> </a:t>
            </a:r>
          </a:p>
          <a:p>
            <a:pPr marL="109728" indent="0" algn="just">
              <a:buClrTx/>
              <a:buNone/>
            </a:pPr>
            <a:endParaRPr lang="en-US" sz="2400" dirty="0">
              <a:latin typeface="Book Antiqua" pitchFamily="18" charset="0"/>
            </a:endParaRPr>
          </a:p>
          <a:p>
            <a:pPr algn="just">
              <a:buClrTx/>
            </a:pPr>
            <a:r>
              <a:rPr lang="en-US" sz="2400" b="1" dirty="0">
                <a:latin typeface="Book Antiqua" pitchFamily="18" charset="0"/>
              </a:rPr>
              <a:t>System: </a:t>
            </a:r>
            <a:r>
              <a:rPr lang="en-US" sz="2400" dirty="0">
                <a:latin typeface="Book Antiqua" pitchFamily="18" charset="0"/>
              </a:rPr>
              <a:t>is an interconnection of elements and devices for a desired purpose or, Is a combination of components that act together and perform a certain objective</a:t>
            </a:r>
          </a:p>
          <a:p>
            <a:pPr algn="just">
              <a:buClrTx/>
            </a:pPr>
            <a:r>
              <a:rPr lang="en-US" sz="2400" b="1" dirty="0">
                <a:latin typeface="Book Antiqua" pitchFamily="18" charset="0"/>
              </a:rPr>
              <a:t>Process: </a:t>
            </a:r>
            <a:r>
              <a:rPr lang="en-US" sz="2400" dirty="0">
                <a:latin typeface="Book Antiqua" pitchFamily="18" charset="0"/>
              </a:rPr>
              <a:t>the device, plant, or a system under control. The input and output relationship represents the cause and effect relationship of the process</a:t>
            </a:r>
          </a:p>
          <a:p>
            <a:pPr algn="just">
              <a:buClrTx/>
            </a:pPr>
            <a:r>
              <a:rPr lang="en-US" sz="2400" b="1" dirty="0">
                <a:latin typeface="Book Antiqua" pitchFamily="18" charset="0"/>
              </a:rPr>
              <a:t>Disturbance: </a:t>
            </a:r>
            <a:r>
              <a:rPr lang="en-US" sz="2400" dirty="0">
                <a:latin typeface="Book Antiqua" pitchFamily="18" charset="0"/>
              </a:rPr>
              <a:t>is a signal that tends to adversely/harmfully affect the value of the output of a system. If a disturbance is generated within the system, it called internal while an external disturbance is generated outside the system and will be the part of the input.</a:t>
            </a:r>
            <a:endParaRPr lang="en-US" sz="2400" b="1" dirty="0">
              <a:latin typeface="Book Antiqua" pitchFamily="18" charset="0"/>
            </a:endParaRPr>
          </a:p>
          <a:p>
            <a:pPr algn="just">
              <a:buClrTx/>
            </a:pPr>
            <a:endParaRPr lang="en-US" sz="2400" dirty="0">
              <a:latin typeface="Book Antiqua" pitchFamily="18" charset="0"/>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7</a:t>
            </a:fld>
            <a:endParaRPr lang="en-US"/>
          </a:p>
        </p:txBody>
      </p:sp>
      <p:sp>
        <p:nvSpPr>
          <p:cNvPr id="5" name="Title 4"/>
          <p:cNvSpPr>
            <a:spLocks noGrp="1"/>
          </p:cNvSpPr>
          <p:nvPr>
            <p:ph type="title"/>
          </p:nvPr>
        </p:nvSpPr>
        <p:spPr>
          <a:xfrm>
            <a:off x="533400" y="152400"/>
            <a:ext cx="8229600" cy="7159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1009143222"/>
      </p:ext>
    </p:extLst>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066800"/>
            <a:ext cx="8229600" cy="5334000"/>
          </a:xfrm>
        </p:spPr>
        <p:txBody>
          <a:bodyPr>
            <a:normAutofit fontScale="92500" lnSpcReduction="20000"/>
          </a:bodyPr>
          <a:lstStyle/>
          <a:p>
            <a:pPr algn="just">
              <a:buClrTx/>
            </a:pPr>
            <a:r>
              <a:rPr lang="en-US" sz="2600" b="1" dirty="0">
                <a:latin typeface="Book Antiqua" pitchFamily="18" charset="0"/>
              </a:rPr>
              <a:t>Feedback control: </a:t>
            </a:r>
            <a:r>
              <a:rPr lang="en-US" sz="2600" dirty="0">
                <a:latin typeface="Book Antiqua" pitchFamily="18" charset="0"/>
              </a:rPr>
              <a:t>refers to an operation that in the presence of disturbances, tends to reduce the difference between the output of the system and some reference input and does so on the basis of the difference</a:t>
            </a:r>
          </a:p>
          <a:p>
            <a:pPr algn="just">
              <a:buClrTx/>
            </a:pPr>
            <a:r>
              <a:rPr lang="en-US" sz="2600" b="1" dirty="0">
                <a:latin typeface="Book Antiqua" pitchFamily="18" charset="0"/>
              </a:rPr>
              <a:t>Feedback control system: </a:t>
            </a:r>
            <a:r>
              <a:rPr lang="en-US" sz="2600" dirty="0">
                <a:latin typeface="Book Antiqua" pitchFamily="18" charset="0"/>
              </a:rPr>
              <a:t>is a system that maintains a prescribed relationship between the output and the reference input by comparing them and using the difference as a measure to control  </a:t>
            </a:r>
          </a:p>
          <a:p>
            <a:pPr marL="109728" indent="0" algn="just">
              <a:buClrTx/>
              <a:buNone/>
            </a:pPr>
            <a:endParaRPr lang="en-US" sz="2400" dirty="0">
              <a:latin typeface="Book Antiqua" pitchFamily="18" charset="0"/>
            </a:endParaRPr>
          </a:p>
          <a:p>
            <a:pPr marL="365760" lvl="1" indent="0" algn="just">
              <a:buClrTx/>
              <a:buNone/>
            </a:pPr>
            <a:r>
              <a:rPr lang="en-US" sz="2600" dirty="0">
                <a:latin typeface="Book Antiqua" pitchFamily="18" charset="0"/>
              </a:rPr>
              <a:t>A good example of a feedback control system is a room temperature control system.</a:t>
            </a:r>
          </a:p>
          <a:p>
            <a:pPr marL="365760" lvl="1" indent="0" algn="just">
              <a:buClrTx/>
              <a:buNone/>
            </a:pPr>
            <a:r>
              <a:rPr lang="en-US" sz="2600" dirty="0" err="1">
                <a:latin typeface="Book Antiqua" pitchFamily="18" charset="0"/>
              </a:rPr>
              <a:t>e.g</a:t>
            </a:r>
            <a:r>
              <a:rPr lang="en-US" sz="2600" dirty="0">
                <a:latin typeface="Book Antiqua" pitchFamily="18" charset="0"/>
              </a:rPr>
              <a:t>, by measuring the actual room temp. and comparing it with the reference temp. (desired one), the thermometer turns the heating or cooling equipment ON or OFF in such a way to ensure that the room temp. remains at a comfortable level regardless of outside conditions. </a:t>
            </a:r>
          </a:p>
        </p:txBody>
      </p:sp>
      <p:sp>
        <p:nvSpPr>
          <p:cNvPr id="4" name="Slide Number Placeholder 3"/>
          <p:cNvSpPr>
            <a:spLocks noGrp="1"/>
          </p:cNvSpPr>
          <p:nvPr>
            <p:ph type="sldNum" sz="quarter" idx="12"/>
          </p:nvPr>
        </p:nvSpPr>
        <p:spPr/>
        <p:txBody>
          <a:bodyPr/>
          <a:lstStyle/>
          <a:p>
            <a:fld id="{573EDECB-2FAA-459C-97B3-E12F4C12D356}" type="slidenum">
              <a:rPr lang="en-US" smtClean="0"/>
              <a:t>8</a:t>
            </a:fld>
            <a:endParaRPr lang="en-US"/>
          </a:p>
        </p:txBody>
      </p:sp>
      <p:sp>
        <p:nvSpPr>
          <p:cNvPr id="5" name="Title 4"/>
          <p:cNvSpPr>
            <a:spLocks noGrp="1"/>
          </p:cNvSpPr>
          <p:nvPr>
            <p:ph type="title"/>
          </p:nvPr>
        </p:nvSpPr>
        <p:spPr>
          <a:xfrm>
            <a:off x="457200" y="274638"/>
            <a:ext cx="8229600" cy="7921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1076905025"/>
      </p:ext>
    </p:extLst>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4690872"/>
          </a:xfrm>
        </p:spPr>
        <p:txBody>
          <a:bodyPr>
            <a:normAutofit fontScale="92500" lnSpcReduction="10000"/>
          </a:bodyPr>
          <a:lstStyle/>
          <a:p>
            <a:pPr marL="109728" indent="0" algn="just">
              <a:buNone/>
            </a:pPr>
            <a:r>
              <a:rPr lang="en-US" sz="2600" dirty="0">
                <a:latin typeface="Book Antiqua" pitchFamily="18" charset="0"/>
              </a:rPr>
              <a:t>All our tools and machines need appropriate control to work, otherwise it will be difficult to finish their designated tasks accurately. Therefore, we need control systems to guide, instruct and regulate our tools and machines. Common control systems include:</a:t>
            </a:r>
            <a:endParaRPr lang="en-US" sz="2600" dirty="0">
              <a:solidFill>
                <a:prstClr val="black"/>
              </a:solidFill>
              <a:latin typeface="Book Antiqua" pitchFamily="18" charset="0"/>
            </a:endParaRPr>
          </a:p>
          <a:p>
            <a:pPr marL="886968" lvl="3" indent="0">
              <a:buClr>
                <a:srgbClr val="DA1F28"/>
              </a:buClr>
              <a:buNone/>
            </a:pPr>
            <a:r>
              <a:rPr lang="en-US" sz="2600" dirty="0">
                <a:solidFill>
                  <a:prstClr val="black"/>
                </a:solidFill>
                <a:latin typeface="Book Antiqua" pitchFamily="18" charset="0"/>
              </a:rPr>
              <a:t>Mechanical system</a:t>
            </a:r>
          </a:p>
          <a:p>
            <a:pPr marL="886968" lvl="3" indent="0">
              <a:buClr>
                <a:srgbClr val="DA1F28"/>
              </a:buClr>
              <a:buNone/>
            </a:pPr>
            <a:r>
              <a:rPr lang="en-US" sz="2600" dirty="0">
                <a:solidFill>
                  <a:prstClr val="black"/>
                </a:solidFill>
                <a:latin typeface="Book Antiqua" pitchFamily="18" charset="0"/>
              </a:rPr>
              <a:t>Electronic system</a:t>
            </a:r>
          </a:p>
          <a:p>
            <a:pPr marL="886968" lvl="3" indent="0">
              <a:buClr>
                <a:srgbClr val="DA1F28"/>
              </a:buClr>
              <a:buNone/>
            </a:pPr>
            <a:r>
              <a:rPr lang="en-US" sz="2600" dirty="0">
                <a:solidFill>
                  <a:prstClr val="black"/>
                </a:solidFill>
                <a:latin typeface="Book Antiqua" pitchFamily="18" charset="0"/>
              </a:rPr>
              <a:t>Computer control system</a:t>
            </a:r>
          </a:p>
          <a:p>
            <a:pPr marL="886968" lvl="3" indent="0">
              <a:buClr>
                <a:srgbClr val="DA1F28"/>
              </a:buClr>
              <a:buNone/>
            </a:pPr>
            <a:r>
              <a:rPr lang="en-US" sz="2600" dirty="0">
                <a:solidFill>
                  <a:prstClr val="black"/>
                </a:solidFill>
                <a:latin typeface="Book Antiqua" pitchFamily="18" charset="0"/>
              </a:rPr>
              <a:t>Pneumatic (hydraulic) system </a:t>
            </a:r>
          </a:p>
          <a:p>
            <a:pPr marL="886968" lvl="3" indent="0">
              <a:buClr>
                <a:srgbClr val="DA1F28"/>
              </a:buClr>
              <a:buNone/>
            </a:pPr>
            <a:r>
              <a:rPr lang="en-US" sz="2600" dirty="0">
                <a:solidFill>
                  <a:srgbClr val="FF0000"/>
                </a:solidFill>
                <a:latin typeface="Book Antiqua" pitchFamily="18" charset="0"/>
              </a:rPr>
              <a:t>Electrical system</a:t>
            </a:r>
          </a:p>
          <a:p>
            <a:pPr marL="109728" lvl="0" indent="0" algn="just">
              <a:buClr>
                <a:srgbClr val="2DA2BF"/>
              </a:buClr>
              <a:buNone/>
            </a:pPr>
            <a:r>
              <a:rPr lang="en-US" sz="2600" dirty="0">
                <a:solidFill>
                  <a:prstClr val="black"/>
                </a:solidFill>
                <a:latin typeface="Book Antiqua" pitchFamily="18" charset="0"/>
              </a:rPr>
              <a:t>A system usually contains three main parts: input, process and output.</a:t>
            </a:r>
          </a:p>
          <a:p>
            <a:pPr marL="886968" lvl="3" indent="0">
              <a:buClr>
                <a:srgbClr val="DA1F28"/>
              </a:buClr>
              <a:buNone/>
            </a:pPr>
            <a:endParaRPr lang="en-US" sz="2400" dirty="0">
              <a:solidFill>
                <a:prstClr val="black"/>
              </a:solidFill>
              <a:latin typeface="Book Antiqua" pitchFamily="18" charset="0"/>
            </a:endParaRP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9</a:t>
            </a:fld>
            <a:endParaRPr lang="en-US"/>
          </a:p>
        </p:txBody>
      </p:sp>
      <p:sp>
        <p:nvSpPr>
          <p:cNvPr id="5" name="Title 4"/>
          <p:cNvSpPr>
            <a:spLocks noGrp="1"/>
          </p:cNvSpPr>
          <p:nvPr>
            <p:ph type="title"/>
          </p:nvPr>
        </p:nvSpPr>
        <p:spPr>
          <a:xfrm>
            <a:off x="457200" y="274638"/>
            <a:ext cx="8229600" cy="944562"/>
          </a:xfrm>
        </p:spPr>
        <p:txBody>
          <a:bodyPr/>
          <a:lstStyle/>
          <a:p>
            <a:pPr algn="ctr"/>
            <a:r>
              <a:rPr lang="en-US" sz="3200" dirty="0">
                <a:solidFill>
                  <a:prstClr val="black"/>
                </a:solidFill>
                <a:effectLst/>
                <a:latin typeface="Book Antiqua" pitchFamily="18" charset="0"/>
              </a:rPr>
              <a:t>Different types of systems</a:t>
            </a:r>
            <a:endParaRPr lang="en-US" dirty="0"/>
          </a:p>
        </p:txBody>
      </p:sp>
    </p:spTree>
    <p:extLst>
      <p:ext uri="{BB962C8B-B14F-4D97-AF65-F5344CB8AC3E}">
        <p14:creationId xmlns:p14="http://schemas.microsoft.com/office/powerpoint/2010/main" val="568287096"/>
      </p:ext>
    </p:extLst>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Clr>
                <a:srgbClr val="DA1F28"/>
              </a:buClr>
              <a:buNone/>
            </a:pPr>
            <a:r>
              <a:rPr lang="en-US" sz="2400" b="1" dirty="0">
                <a:solidFill>
                  <a:prstClr val="black"/>
                </a:solidFill>
                <a:latin typeface="Book Antiqua" pitchFamily="18" charset="0"/>
              </a:rPr>
              <a:t>Mechanical system</a:t>
            </a:r>
          </a:p>
          <a:p>
            <a:pPr marL="109728" indent="0" algn="just">
              <a:buNone/>
            </a:pPr>
            <a:r>
              <a:rPr lang="en-US" sz="2400" dirty="0">
                <a:latin typeface="Book Antiqua" pitchFamily="18" charset="0"/>
              </a:rPr>
              <a:t>A mechanical system is a device made up of various mechanical parts. Its input is provided by an effort. Once the effort and is applied, it can set off a motion to move a load. The force applied to the load is the output of the mechanical system. Examples of mechanical systems include levers, gears and shafts. </a:t>
            </a:r>
          </a:p>
        </p:txBody>
      </p:sp>
      <p:sp>
        <p:nvSpPr>
          <p:cNvPr id="4" name="Slide Number Placeholder 3"/>
          <p:cNvSpPr>
            <a:spLocks noGrp="1"/>
          </p:cNvSpPr>
          <p:nvPr>
            <p:ph type="sldNum" sz="quarter" idx="12"/>
          </p:nvPr>
        </p:nvSpPr>
        <p:spPr/>
        <p:txBody>
          <a:bodyPr/>
          <a:lstStyle/>
          <a:p>
            <a:fld id="{573EDECB-2FAA-459C-97B3-E12F4C12D356}" type="slidenum">
              <a:rPr lang="en-US" smtClean="0"/>
              <a:t>10</a:t>
            </a:fld>
            <a:endParaRPr lang="en-US"/>
          </a:p>
        </p:txBody>
      </p:sp>
      <p:sp>
        <p:nvSpPr>
          <p:cNvPr id="5" name="Title 4"/>
          <p:cNvSpPr>
            <a:spLocks noGrp="1"/>
          </p:cNvSpPr>
          <p:nvPr>
            <p:ph type="title"/>
          </p:nvPr>
        </p:nvSpPr>
        <p:spPr>
          <a:xfrm>
            <a:off x="457200" y="274638"/>
            <a:ext cx="8229600" cy="9445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4202695300"/>
      </p:ext>
    </p:extLst>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715000"/>
          </a:xfrm>
        </p:spPr>
        <p:txBody>
          <a:bodyPr>
            <a:noAutofit/>
          </a:bodyPr>
          <a:lstStyle/>
          <a:p>
            <a:pPr marL="109728" indent="0">
              <a:buNone/>
            </a:pPr>
            <a:r>
              <a:rPr lang="en-US" sz="2200" b="1" dirty="0">
                <a:latin typeface="Book Antiqua" pitchFamily="18" charset="0"/>
              </a:rPr>
              <a:t>Electronic system</a:t>
            </a:r>
          </a:p>
          <a:p>
            <a:pPr marL="109728" indent="0" algn="just">
              <a:buNone/>
            </a:pPr>
            <a:r>
              <a:rPr lang="en-US" sz="2400" dirty="0">
                <a:latin typeface="Book Antiqua" pitchFamily="18" charset="0"/>
              </a:rPr>
              <a:t>An electronic system is a system that employs electronic signals to control devices, such as radios, calculators, video game machines, mobile phones, portable computers, </a:t>
            </a:r>
            <a:r>
              <a:rPr lang="en-US" sz="2400" dirty="0" err="1">
                <a:latin typeface="Book Antiqua" pitchFamily="18" charset="0"/>
              </a:rPr>
              <a:t>etc</a:t>
            </a:r>
            <a:r>
              <a:rPr lang="en-US" sz="2400" dirty="0">
                <a:latin typeface="Book Antiqua" pitchFamily="18" charset="0"/>
              </a:rPr>
              <a:t> . The input of an electronic system is provided by electronic signals. After they are processed, they can generate output signals, which control the operation of various devices, such as amplifiers </a:t>
            </a:r>
          </a:p>
          <a:p>
            <a:pPr marL="109728" indent="0" algn="just">
              <a:buNone/>
            </a:pPr>
            <a:r>
              <a:rPr lang="en-US" sz="2400" dirty="0">
                <a:latin typeface="Book Antiqua" pitchFamily="18" charset="0"/>
              </a:rPr>
              <a:t>Electronic systems can carry out many different tasks, such as generating sound, transmitting information, displaying video, measuring, memorizing, calculating, etc. Common examples of electronic devices include semi-conducting diode, transistors, capacitors that they are usually welded onto electronic circuit boards </a:t>
            </a:r>
          </a:p>
        </p:txBody>
      </p:sp>
      <p:sp>
        <p:nvSpPr>
          <p:cNvPr id="4" name="Slide Number Placeholder 3"/>
          <p:cNvSpPr>
            <a:spLocks noGrp="1"/>
          </p:cNvSpPr>
          <p:nvPr>
            <p:ph type="sldNum" sz="quarter" idx="12"/>
          </p:nvPr>
        </p:nvSpPr>
        <p:spPr/>
        <p:txBody>
          <a:bodyPr/>
          <a:lstStyle/>
          <a:p>
            <a:fld id="{573EDECB-2FAA-459C-97B3-E12F4C12D356}" type="slidenum">
              <a:rPr lang="en-US" smtClean="0"/>
              <a:t>11</a:t>
            </a:fld>
            <a:endParaRPr lang="en-US"/>
          </a:p>
        </p:txBody>
      </p:sp>
      <p:sp>
        <p:nvSpPr>
          <p:cNvPr id="5" name="Title 4"/>
          <p:cNvSpPr>
            <a:spLocks noGrp="1"/>
          </p:cNvSpPr>
          <p:nvPr>
            <p:ph type="title"/>
          </p:nvPr>
        </p:nvSpPr>
        <p:spPr>
          <a:xfrm>
            <a:off x="457200" y="152400"/>
            <a:ext cx="8229600" cy="639762"/>
          </a:xfrm>
        </p:spPr>
        <p:txBody>
          <a:bodyPr>
            <a:normAutofit/>
          </a:bodyPr>
          <a:lstStyle/>
          <a:p>
            <a:r>
              <a:rPr lang="en-US" sz="3200" dirty="0">
                <a:solidFill>
                  <a:schemeClr val="tx1"/>
                </a:solidFill>
                <a:latin typeface="Book Antiqua" pitchFamily="18" charset="0"/>
              </a:rPr>
              <a:t>Cont.. </a:t>
            </a:r>
          </a:p>
        </p:txBody>
      </p:sp>
    </p:spTree>
    <p:extLst>
      <p:ext uri="{BB962C8B-B14F-4D97-AF65-F5344CB8AC3E}">
        <p14:creationId xmlns:p14="http://schemas.microsoft.com/office/powerpoint/2010/main" val="1668983695"/>
      </p:ext>
    </p:extLst>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728" indent="0" algn="just">
              <a:buNone/>
            </a:pPr>
            <a:r>
              <a:rPr lang="en-US" sz="2400" b="1" dirty="0">
                <a:latin typeface="Book Antiqua" pitchFamily="18" charset="0"/>
              </a:rPr>
              <a:t>Computer control system</a:t>
            </a:r>
          </a:p>
          <a:p>
            <a:pPr marL="109728" indent="0" algn="just">
              <a:buNone/>
            </a:pPr>
            <a:r>
              <a:rPr lang="en-US" sz="2400" dirty="0">
                <a:latin typeface="Book Antiqua" pitchFamily="18" charset="0"/>
              </a:rPr>
              <a:t>A computer control system uses a computer to control its output devices according to different input signals. Its function is similar to that of an electronic system. Yet a computer control system can use high speed calculation to process large volume of input signals within a very short time, and then generates appropriate outputs with the help of preset programs. Examples of computer control systems include computer numerical control press brakes, computer controlled home appliances, computer controlled underground railway systems, </a:t>
            </a:r>
            <a:r>
              <a:rPr lang="en-US" sz="2400" dirty="0" err="1">
                <a:latin typeface="Book Antiqua" pitchFamily="18" charset="0"/>
              </a:rPr>
              <a:t>etc</a:t>
            </a:r>
            <a:r>
              <a:rPr lang="en-US" sz="2400" dirty="0">
                <a:latin typeface="Book Antiqua" pitchFamily="18" charset="0"/>
              </a:rPr>
              <a:t> </a:t>
            </a:r>
          </a:p>
        </p:txBody>
      </p:sp>
      <p:sp>
        <p:nvSpPr>
          <p:cNvPr id="4" name="Slide Number Placeholder 3"/>
          <p:cNvSpPr>
            <a:spLocks noGrp="1"/>
          </p:cNvSpPr>
          <p:nvPr>
            <p:ph type="sldNum" sz="quarter" idx="12"/>
          </p:nvPr>
        </p:nvSpPr>
        <p:spPr/>
        <p:txBody>
          <a:bodyPr/>
          <a:lstStyle/>
          <a:p>
            <a:fld id="{573EDECB-2FAA-459C-97B3-E12F4C12D356}" type="slidenum">
              <a:rPr lang="en-US" smtClean="0"/>
              <a:t>12</a:t>
            </a:fld>
            <a:endParaRPr lang="en-US"/>
          </a:p>
        </p:txBody>
      </p:sp>
      <p:sp>
        <p:nvSpPr>
          <p:cNvPr id="5" name="Title 4"/>
          <p:cNvSpPr>
            <a:spLocks noGrp="1"/>
          </p:cNvSpPr>
          <p:nvPr>
            <p:ph type="title"/>
          </p:nvPr>
        </p:nvSpPr>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3684664294"/>
      </p:ext>
    </p:extLst>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533400"/>
            <a:ext cx="8229600" cy="5943600"/>
          </a:xfrm>
        </p:spPr>
        <p:txBody>
          <a:bodyPr>
            <a:noAutofit/>
          </a:bodyPr>
          <a:lstStyle/>
          <a:p>
            <a:pPr marL="109728" indent="0">
              <a:buNone/>
            </a:pPr>
            <a:r>
              <a:rPr lang="en-US" sz="2400" b="1" dirty="0">
                <a:latin typeface="Book Antiqua" pitchFamily="18" charset="0"/>
              </a:rPr>
              <a:t>Pneumatic system  </a:t>
            </a:r>
          </a:p>
          <a:p>
            <a:pPr marL="109728" indent="0" algn="just">
              <a:buNone/>
            </a:pPr>
            <a:r>
              <a:rPr lang="en-US" sz="2400" dirty="0">
                <a:latin typeface="Book Antiqua" pitchFamily="18" charset="0"/>
              </a:rPr>
              <a:t>A pneumatic system is a system that uses compressed air to transport and control energy. Air is first pressurized to give energy in the cylinder. Then signals are input into the system through the use of switches. Next, air is transferred through sealed pipes to the pneumatic parts for processing.</a:t>
            </a:r>
          </a:p>
          <a:p>
            <a:pPr marL="109728" indent="0" algn="just">
              <a:buNone/>
            </a:pPr>
            <a:r>
              <a:rPr lang="en-US" sz="2400" dirty="0">
                <a:latin typeface="Book Antiqua" pitchFamily="18" charset="0"/>
              </a:rPr>
              <a:t>Finally, the force produced by the pneumatic parts is utilized to finish the designated task. The use of pneumatic systems is very extensive, for example, in controlling the movement of train doors, the operation of automatic production lines and mechanical clamps, </a:t>
            </a:r>
            <a:r>
              <a:rPr lang="en-US" sz="2400" dirty="0" err="1">
                <a:latin typeface="Book Antiqua" pitchFamily="18" charset="0"/>
              </a:rPr>
              <a:t>etc</a:t>
            </a:r>
            <a:r>
              <a:rPr lang="en-US" sz="2400" dirty="0">
                <a:latin typeface="Book Antiqua" pitchFamily="18" charset="0"/>
              </a:rPr>
              <a:t> </a:t>
            </a:r>
          </a:p>
          <a:p>
            <a:pPr marL="109728" indent="0" algn="just">
              <a:buNone/>
            </a:pPr>
            <a:endParaRPr lang="en-US" sz="2400" dirty="0">
              <a:latin typeface="Book Antiqua" pitchFamily="18" charset="0"/>
            </a:endParaRPr>
          </a:p>
          <a:p>
            <a:pPr marL="109728" indent="0" algn="just">
              <a:buNone/>
            </a:pPr>
            <a:r>
              <a:rPr lang="en-US" sz="2400" b="1" dirty="0">
                <a:latin typeface="Book Antiqua" pitchFamily="18" charset="0"/>
              </a:rPr>
              <a:t>Hydraulic system (uses compressed liquid)</a:t>
            </a:r>
          </a:p>
        </p:txBody>
      </p:sp>
      <p:sp>
        <p:nvSpPr>
          <p:cNvPr id="4" name="Slide Number Placeholder 3"/>
          <p:cNvSpPr>
            <a:spLocks noGrp="1"/>
          </p:cNvSpPr>
          <p:nvPr>
            <p:ph type="sldNum" sz="quarter" idx="12"/>
          </p:nvPr>
        </p:nvSpPr>
        <p:spPr/>
        <p:txBody>
          <a:bodyPr/>
          <a:lstStyle/>
          <a:p>
            <a:fld id="{573EDECB-2FAA-459C-97B3-E12F4C12D356}" type="slidenum">
              <a:rPr lang="en-US" smtClean="0"/>
              <a:t>13</a:t>
            </a:fld>
            <a:endParaRPr lang="en-US"/>
          </a:p>
        </p:txBody>
      </p:sp>
      <p:sp>
        <p:nvSpPr>
          <p:cNvPr id="5" name="Title 4"/>
          <p:cNvSpPr>
            <a:spLocks noGrp="1"/>
          </p:cNvSpPr>
          <p:nvPr>
            <p:ph type="title"/>
          </p:nvPr>
        </p:nvSpPr>
        <p:spPr>
          <a:xfrm>
            <a:off x="457200" y="152400"/>
            <a:ext cx="8229600" cy="411162"/>
          </a:xfrm>
        </p:spPr>
        <p:txBody>
          <a:bodyPr>
            <a:normAutofit fontScale="90000"/>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2824607158"/>
      </p:ext>
    </p:extLst>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ClrTx/>
            </a:pPr>
            <a:endParaRPr lang="en-US" sz="2400" dirty="0">
              <a:latin typeface="Book Antiqua" pitchFamily="18" charset="0"/>
            </a:endParaRPr>
          </a:p>
          <a:p>
            <a:pPr>
              <a:buClrTx/>
            </a:pPr>
            <a:endParaRPr lang="en-US" sz="2400" dirty="0">
              <a:latin typeface="Book Antiqua" pitchFamily="18" charset="0"/>
            </a:endParaRPr>
          </a:p>
          <a:p>
            <a:pPr>
              <a:buClrTx/>
            </a:pPr>
            <a:endParaRPr lang="en-US" sz="2400" dirty="0">
              <a:latin typeface="Book Antiqua" pitchFamily="18" charset="0"/>
            </a:endParaRPr>
          </a:p>
          <a:p>
            <a:pPr algn="ctr">
              <a:buClrTx/>
            </a:pPr>
            <a:r>
              <a:rPr lang="en-US" sz="2400" dirty="0">
                <a:latin typeface="Book Antiqua" pitchFamily="18" charset="0"/>
              </a:rPr>
              <a:t>Open loop and closed loop control systems</a:t>
            </a:r>
          </a:p>
          <a:p>
            <a:pPr algn="ctr">
              <a:buClrTx/>
            </a:pPr>
            <a:r>
              <a:rPr lang="en-US" sz="2400" dirty="0">
                <a:latin typeface="Book Antiqua" pitchFamily="18" charset="0"/>
              </a:rPr>
              <a:t>Manual and automatic control systems</a:t>
            </a:r>
          </a:p>
          <a:p>
            <a:pPr algn="ctr">
              <a:buClrTx/>
            </a:pPr>
            <a:r>
              <a:rPr lang="en-US" sz="2400" dirty="0">
                <a:latin typeface="Book Antiqua" pitchFamily="18" charset="0"/>
              </a:rPr>
              <a:t>Special applications of the control systems</a:t>
            </a:r>
          </a:p>
        </p:txBody>
      </p:sp>
      <p:sp>
        <p:nvSpPr>
          <p:cNvPr id="4" name="Slide Number Placeholder 3"/>
          <p:cNvSpPr>
            <a:spLocks noGrp="1"/>
          </p:cNvSpPr>
          <p:nvPr>
            <p:ph type="sldNum" sz="quarter" idx="12"/>
          </p:nvPr>
        </p:nvSpPr>
        <p:spPr/>
        <p:txBody>
          <a:bodyPr/>
          <a:lstStyle/>
          <a:p>
            <a:fld id="{573EDECB-2FAA-459C-97B3-E12F4C12D356}" type="slidenum">
              <a:rPr lang="en-US" smtClean="0"/>
              <a:t>14</a:t>
            </a:fld>
            <a:endParaRPr lang="en-US"/>
          </a:p>
        </p:txBody>
      </p:sp>
      <p:sp>
        <p:nvSpPr>
          <p:cNvPr id="5" name="Title 4"/>
          <p:cNvSpPr>
            <a:spLocks noGrp="1"/>
          </p:cNvSpPr>
          <p:nvPr>
            <p:ph type="title"/>
          </p:nvPr>
        </p:nvSpPr>
        <p:spPr/>
        <p:txBody>
          <a:bodyPr>
            <a:normAutofit fontScale="90000"/>
          </a:bodyPr>
          <a:lstStyle/>
          <a:p>
            <a:r>
              <a:rPr lang="en-US" sz="4400" dirty="0">
                <a:solidFill>
                  <a:schemeClr val="tx1"/>
                </a:solidFill>
                <a:effectLst/>
                <a:latin typeface="Book Antiqua" pitchFamily="18" charset="0"/>
              </a:rPr>
              <a:t>Different types of control systems</a:t>
            </a:r>
            <a:endParaRPr lang="en-US" dirty="0">
              <a:solidFill>
                <a:schemeClr val="tx1"/>
              </a:solidFill>
              <a:effectLst/>
              <a:latin typeface="Book Antiqua" pitchFamily="18" charset="0"/>
            </a:endParaRPr>
          </a:p>
        </p:txBody>
      </p:sp>
    </p:spTree>
    <p:extLst>
      <p:ext uri="{BB962C8B-B14F-4D97-AF65-F5344CB8AC3E}">
        <p14:creationId xmlns:p14="http://schemas.microsoft.com/office/powerpoint/2010/main" val="1896722149"/>
      </p:ext>
    </p:extLst>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14400"/>
            <a:ext cx="8534400" cy="5410200"/>
          </a:xfrm>
        </p:spPr>
        <p:txBody>
          <a:bodyPr>
            <a:normAutofit lnSpcReduction="10000"/>
          </a:bodyPr>
          <a:lstStyle/>
          <a:p>
            <a:pPr marL="0" lvl="0" indent="0" algn="ctr" fontAlgn="base">
              <a:spcBef>
                <a:spcPct val="20000"/>
              </a:spcBef>
              <a:spcAft>
                <a:spcPct val="0"/>
              </a:spcAft>
              <a:buClr>
                <a:srgbClr val="FF0066"/>
              </a:buClr>
              <a:buSzTx/>
              <a:buNone/>
            </a:pPr>
            <a:r>
              <a:rPr lang="en-US" sz="2800" b="1" kern="0" dirty="0">
                <a:solidFill>
                  <a:srgbClr val="000000"/>
                </a:solidFill>
                <a:latin typeface="Book Antiqua" pitchFamily="18" charset="0"/>
              </a:rPr>
              <a:t>Two main types of control system</a:t>
            </a:r>
          </a:p>
          <a:p>
            <a:pPr marL="457200" lvl="0" indent="-457200" algn="just" fontAlgn="base">
              <a:spcBef>
                <a:spcPct val="20000"/>
              </a:spcBef>
              <a:spcAft>
                <a:spcPct val="0"/>
              </a:spcAft>
              <a:buClrTx/>
              <a:buSzTx/>
              <a:buFont typeface="Wingdings" pitchFamily="2" charset="2"/>
              <a:buChar char="Ø"/>
            </a:pPr>
            <a:r>
              <a:rPr lang="en-US" sz="2400" b="1" kern="0" dirty="0">
                <a:solidFill>
                  <a:srgbClr val="000000"/>
                </a:solidFill>
                <a:latin typeface="Book Antiqua" pitchFamily="18" charset="0"/>
              </a:rPr>
              <a:t>Closed-loop (feedback) control system </a:t>
            </a:r>
            <a:r>
              <a:rPr lang="en-US" sz="2400" kern="0" dirty="0">
                <a:solidFill>
                  <a:srgbClr val="000000"/>
                </a:solidFill>
                <a:latin typeface="Book Antiqua" pitchFamily="18" charset="0"/>
              </a:rPr>
              <a:t>– a system in which the output variable is compared with an input parameter, and any difference between the two is used to drive the output into agreement with the input</a:t>
            </a:r>
          </a:p>
          <a:p>
            <a:pPr marL="0" lvl="0" indent="0" algn="just" fontAlgn="base">
              <a:spcBef>
                <a:spcPct val="20000"/>
              </a:spcBef>
              <a:spcAft>
                <a:spcPct val="0"/>
              </a:spcAft>
              <a:buClrTx/>
              <a:buSzTx/>
              <a:buNone/>
            </a:pPr>
            <a:endParaRPr lang="en-US" sz="2400" kern="0" dirty="0">
              <a:solidFill>
                <a:srgbClr val="000000"/>
              </a:solidFill>
              <a:latin typeface="Book Antiqua" pitchFamily="18" charset="0"/>
            </a:endParaRPr>
          </a:p>
          <a:p>
            <a:pPr marL="493776" lvl="2" indent="0" algn="just" fontAlgn="base">
              <a:spcBef>
                <a:spcPct val="20000"/>
              </a:spcBef>
              <a:spcAft>
                <a:spcPct val="0"/>
              </a:spcAft>
              <a:buClrTx/>
              <a:buNone/>
            </a:pPr>
            <a:r>
              <a:rPr lang="en-US" sz="2400" kern="0" dirty="0">
                <a:solidFill>
                  <a:srgbClr val="000000"/>
                </a:solidFill>
                <a:latin typeface="Book Antiqua" pitchFamily="18" charset="0"/>
              </a:rPr>
              <a:t>Feedback control systems are often referred to a closed-loop control system. They utilize feedback to compare the actual output to the desired response. </a:t>
            </a:r>
          </a:p>
          <a:p>
            <a:pPr marL="493776" lvl="2" indent="0" algn="just" fontAlgn="base">
              <a:spcBef>
                <a:spcPct val="20000"/>
              </a:spcBef>
              <a:spcAft>
                <a:spcPct val="0"/>
              </a:spcAft>
              <a:buClrTx/>
              <a:buNone/>
            </a:pPr>
            <a:r>
              <a:rPr lang="en-US" sz="2400" kern="0" dirty="0">
                <a:solidFill>
                  <a:srgbClr val="000000"/>
                </a:solidFill>
                <a:latin typeface="Book Antiqua" pitchFamily="18" charset="0"/>
              </a:rPr>
              <a:t>In a closed-loop control system, the actuating error signal which is the difference the input signal and the feedback signal (which may be the output signal itself, or the function of the output signal and its derivatives and/or integral), is fed to the controller so as to reduce the error and bring the output of the system to a desired value</a:t>
            </a:r>
          </a:p>
          <a:p>
            <a:pPr marL="0" lvl="0" indent="0" algn="just" fontAlgn="base">
              <a:spcBef>
                <a:spcPct val="20000"/>
              </a:spcBef>
              <a:spcAft>
                <a:spcPct val="0"/>
              </a:spcAft>
              <a:buClrTx/>
              <a:buSzTx/>
              <a:buNone/>
            </a:pPr>
            <a:endParaRPr lang="en-US" sz="2000" kern="0" dirty="0">
              <a:solidFill>
                <a:srgbClr val="000000"/>
              </a:solidFill>
              <a:latin typeface="Book Antiqua" pitchFamily="18" charset="0"/>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15</a:t>
            </a:fld>
            <a:endParaRPr lang="en-US"/>
          </a:p>
        </p:txBody>
      </p:sp>
      <p:sp>
        <p:nvSpPr>
          <p:cNvPr id="5" name="Title 4"/>
          <p:cNvSpPr>
            <a:spLocks noGrp="1"/>
          </p:cNvSpPr>
          <p:nvPr>
            <p:ph type="title"/>
          </p:nvPr>
        </p:nvSpPr>
        <p:spPr>
          <a:xfrm>
            <a:off x="457200" y="152400"/>
            <a:ext cx="8229600" cy="639762"/>
          </a:xfrm>
        </p:spPr>
        <p:txBody>
          <a:bodyPr>
            <a:normAutofit/>
          </a:bodyPr>
          <a:lstStyle/>
          <a:p>
            <a:r>
              <a:rPr lang="en-US" sz="2800" dirty="0">
                <a:solidFill>
                  <a:prstClr val="black"/>
                </a:solidFill>
                <a:effectLst/>
                <a:latin typeface="Book Antiqua" pitchFamily="18" charset="0"/>
              </a:rPr>
              <a:t>A. Open loop and closed loop control systems</a:t>
            </a:r>
            <a:endParaRPr lang="en-US" sz="3200" dirty="0">
              <a:solidFill>
                <a:schemeClr val="tx1"/>
              </a:solidFill>
              <a:effectLst/>
              <a:latin typeface="Book Antiqua" pitchFamily="18" charset="0"/>
            </a:endParaRPr>
          </a:p>
        </p:txBody>
      </p:sp>
    </p:spTree>
    <p:extLst>
      <p:ext uri="{BB962C8B-B14F-4D97-AF65-F5344CB8AC3E}">
        <p14:creationId xmlns:p14="http://schemas.microsoft.com/office/powerpoint/2010/main" val="669146200"/>
      </p:ext>
    </p:extLst>
  </p:cSld>
  <p:clrMapOvr>
    <a:masterClrMapping/>
  </p:clrMapOvr>
  <p:transition spd="slow">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lvl="0" indent="0" algn="just" fontAlgn="base">
              <a:spcBef>
                <a:spcPct val="20000"/>
              </a:spcBef>
              <a:spcAft>
                <a:spcPct val="0"/>
              </a:spcAft>
              <a:buClrTx/>
              <a:buSzTx/>
              <a:buNone/>
            </a:pPr>
            <a:r>
              <a:rPr lang="en-US" sz="2400" kern="0" dirty="0">
                <a:solidFill>
                  <a:srgbClr val="000000"/>
                </a:solidFill>
                <a:latin typeface="Book Antiqua" pitchFamily="18" charset="0"/>
              </a:rPr>
              <a:t>Note: the term closed-loop control always implies the use of feedback control action in order to reduce the system error</a:t>
            </a:r>
          </a:p>
          <a:p>
            <a:pPr marL="0" lvl="0" indent="0" algn="just" fontAlgn="base">
              <a:spcBef>
                <a:spcPct val="20000"/>
              </a:spcBef>
              <a:spcAft>
                <a:spcPct val="0"/>
              </a:spcAft>
              <a:buClrTx/>
              <a:buSzTx/>
              <a:buNone/>
            </a:pPr>
            <a:r>
              <a:rPr lang="en-US" sz="2400" kern="0" dirty="0">
                <a:solidFill>
                  <a:srgbClr val="000000"/>
                </a:solidFill>
                <a:latin typeface="Book Antiqua" pitchFamily="18" charset="0"/>
              </a:rPr>
              <a:t>Examples are: refrigerator, iron, …..</a:t>
            </a:r>
          </a:p>
          <a:p>
            <a:pPr marL="0" lvl="0" indent="0" algn="just" fontAlgn="base">
              <a:spcBef>
                <a:spcPct val="20000"/>
              </a:spcBef>
              <a:spcAft>
                <a:spcPct val="0"/>
              </a:spcAft>
              <a:buClrTx/>
              <a:buSzTx/>
              <a:buNone/>
            </a:pPr>
            <a:endParaRPr lang="en-US" sz="2000" kern="0" dirty="0">
              <a:solidFill>
                <a:srgbClr val="000000"/>
              </a:solidFill>
              <a:latin typeface="Book Antiqua" pitchFamily="18" charset="0"/>
            </a:endParaRPr>
          </a:p>
          <a:p>
            <a:pPr marL="0" lvl="0" indent="0" algn="just" fontAlgn="base">
              <a:spcBef>
                <a:spcPct val="20000"/>
              </a:spcBef>
              <a:spcAft>
                <a:spcPct val="0"/>
              </a:spcAft>
              <a:buClrTx/>
              <a:buSzTx/>
              <a:buNone/>
            </a:pPr>
            <a:endParaRPr lang="en-US" sz="2000" kern="0" dirty="0">
              <a:solidFill>
                <a:srgbClr val="000000"/>
              </a:solidFill>
              <a:latin typeface="Book Antiqua" pitchFamily="18" charset="0"/>
            </a:endParaRP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16</a:t>
            </a:fld>
            <a:endParaRPr lang="en-US"/>
          </a:p>
        </p:txBody>
      </p:sp>
      <p:sp>
        <p:nvSpPr>
          <p:cNvPr id="5" name="Title 4"/>
          <p:cNvSpPr>
            <a:spLocks noGrp="1"/>
          </p:cNvSpPr>
          <p:nvPr>
            <p:ph type="title"/>
          </p:nvPr>
        </p:nvSpPr>
        <p:spPr/>
        <p:txBody>
          <a:bodyPr>
            <a:normAutofit/>
          </a:bodyPr>
          <a:lstStyle/>
          <a:p>
            <a:r>
              <a:rPr lang="en-US" sz="3200" dirty="0">
                <a:solidFill>
                  <a:schemeClr val="tx1"/>
                </a:solidFill>
                <a:effectLst/>
                <a:latin typeface="Book Antiqua" pitchFamily="18" charset="0"/>
              </a:rPr>
              <a:t>Cont..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124200"/>
            <a:ext cx="74676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397844"/>
      </p:ext>
    </p:extLst>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lvl="0" indent="0" algn="ctr" fontAlgn="base">
              <a:spcBef>
                <a:spcPct val="0"/>
              </a:spcBef>
              <a:spcAft>
                <a:spcPct val="0"/>
              </a:spcAft>
              <a:buClrTx/>
              <a:buSzTx/>
              <a:buNone/>
            </a:pPr>
            <a:r>
              <a:rPr lang="en-US" sz="2400" dirty="0">
                <a:solidFill>
                  <a:srgbClr val="000000"/>
                </a:solidFill>
                <a:latin typeface="Book Antiqua" pitchFamily="18" charset="0"/>
              </a:rPr>
              <a:t>Multi Input Multi Output (MIMO) System</a:t>
            </a:r>
          </a:p>
        </p:txBody>
      </p:sp>
      <p:sp>
        <p:nvSpPr>
          <p:cNvPr id="4" name="Slide Number Placeholder 3"/>
          <p:cNvSpPr>
            <a:spLocks noGrp="1"/>
          </p:cNvSpPr>
          <p:nvPr>
            <p:ph type="sldNum" sz="quarter" idx="12"/>
          </p:nvPr>
        </p:nvSpPr>
        <p:spPr/>
        <p:txBody>
          <a:bodyPr/>
          <a:lstStyle/>
          <a:p>
            <a:fld id="{573EDECB-2FAA-459C-97B3-E12F4C12D356}" type="slidenum">
              <a:rPr lang="en-US" smtClean="0"/>
              <a:t>17</a:t>
            </a:fld>
            <a:endParaRPr lang="en-US"/>
          </a:p>
        </p:txBody>
      </p:sp>
      <p:sp>
        <p:nvSpPr>
          <p:cNvPr id="5" name="Title 4"/>
          <p:cNvSpPr>
            <a:spLocks noGrp="1"/>
          </p:cNvSpPr>
          <p:nvPr>
            <p:ph type="title"/>
          </p:nvPr>
        </p:nvSpPr>
        <p:spPr/>
        <p:txBody>
          <a:bodyPr>
            <a:normAutofit/>
          </a:bodyPr>
          <a:lstStyle/>
          <a:p>
            <a:r>
              <a:rPr lang="en-US" sz="3200" dirty="0">
                <a:solidFill>
                  <a:schemeClr val="tx1"/>
                </a:solidFill>
                <a:effectLst/>
                <a:latin typeface="Book Antiqua" pitchFamily="18" charset="0"/>
              </a:rPr>
              <a:t>Cont.. </a:t>
            </a:r>
          </a:p>
        </p:txBody>
      </p:sp>
      <p:grpSp>
        <p:nvGrpSpPr>
          <p:cNvPr id="6" name="Group 66"/>
          <p:cNvGrpSpPr>
            <a:grpSpLocks/>
          </p:cNvGrpSpPr>
          <p:nvPr/>
        </p:nvGrpSpPr>
        <p:grpSpPr bwMode="auto">
          <a:xfrm>
            <a:off x="457200" y="2295021"/>
            <a:ext cx="8305799" cy="2506662"/>
            <a:chOff x="-8792" y="2750403"/>
            <a:chExt cx="8625253" cy="2507397"/>
          </a:xfrm>
        </p:grpSpPr>
        <p:grpSp>
          <p:nvGrpSpPr>
            <p:cNvPr id="7" name="Group 54"/>
            <p:cNvGrpSpPr>
              <a:grpSpLocks/>
            </p:cNvGrpSpPr>
            <p:nvPr/>
          </p:nvGrpSpPr>
          <p:grpSpPr bwMode="auto">
            <a:xfrm>
              <a:off x="-8792" y="2750403"/>
              <a:ext cx="8625253" cy="2507397"/>
              <a:chOff x="-8792" y="2750403"/>
              <a:chExt cx="8625253" cy="2507397"/>
            </a:xfrm>
          </p:grpSpPr>
          <p:grpSp>
            <p:nvGrpSpPr>
              <p:cNvPr id="10" name="Group 38"/>
              <p:cNvGrpSpPr>
                <a:grpSpLocks/>
              </p:cNvGrpSpPr>
              <p:nvPr/>
            </p:nvGrpSpPr>
            <p:grpSpPr bwMode="auto">
              <a:xfrm>
                <a:off x="-8792" y="2750403"/>
                <a:ext cx="8625253" cy="2507397"/>
                <a:chOff x="-8792" y="2750403"/>
                <a:chExt cx="8625253" cy="2507397"/>
              </a:xfrm>
            </p:grpSpPr>
            <p:grpSp>
              <p:nvGrpSpPr>
                <p:cNvPr id="13" name="Group 18"/>
                <p:cNvGrpSpPr>
                  <a:grpSpLocks/>
                </p:cNvGrpSpPr>
                <p:nvPr/>
              </p:nvGrpSpPr>
              <p:grpSpPr bwMode="auto">
                <a:xfrm>
                  <a:off x="-8792" y="2750403"/>
                  <a:ext cx="8625253" cy="2507397"/>
                  <a:chOff x="524608" y="4198203"/>
                  <a:chExt cx="8625253" cy="2507397"/>
                </a:xfrm>
              </p:grpSpPr>
              <p:sp>
                <p:nvSpPr>
                  <p:cNvPr id="25" name="TextBox 4"/>
                  <p:cNvSpPr txBox="1">
                    <a:spLocks noChangeArrowheads="1"/>
                  </p:cNvSpPr>
                  <p:nvPr/>
                </p:nvSpPr>
                <p:spPr bwMode="auto">
                  <a:xfrm>
                    <a:off x="524608" y="4198203"/>
                    <a:ext cx="130419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Franklin Gothic Book" pitchFamily="34" charset="0"/>
                      </a:rPr>
                      <a:t>Desired Output Response</a:t>
                    </a:r>
                  </a:p>
                </p:txBody>
              </p:sp>
              <p:sp>
                <p:nvSpPr>
                  <p:cNvPr id="26" name="Rectangle 25"/>
                  <p:cNvSpPr/>
                  <p:nvPr/>
                </p:nvSpPr>
                <p:spPr>
                  <a:xfrm>
                    <a:off x="4191000" y="5943377"/>
                    <a:ext cx="1676400" cy="762223"/>
                  </a:xfrm>
                  <a:prstGeom prst="rect">
                    <a:avLst/>
                  </a:prstGeom>
                  <a:gradFill rotWithShape="1">
                    <a:gsLst>
                      <a:gs pos="0">
                        <a:srgbClr val="2D2DB9">
                          <a:tint val="50000"/>
                          <a:satMod val="300000"/>
                        </a:srgbClr>
                      </a:gs>
                      <a:gs pos="35000">
                        <a:srgbClr val="2D2DB9">
                          <a:tint val="37000"/>
                          <a:satMod val="300000"/>
                        </a:srgbClr>
                      </a:gs>
                      <a:gs pos="100000">
                        <a:srgbClr val="2D2DB9">
                          <a:tint val="15000"/>
                          <a:satMod val="350000"/>
                        </a:srgbClr>
                      </a:gs>
                    </a:gsLst>
                    <a:lin ang="16200000" scaled="1"/>
                  </a:gradFill>
                  <a:ln w="9525" cap="flat" cmpd="sng" algn="ctr">
                    <a:solidFill>
                      <a:srgbClr val="2D2DB9">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imes New Roman"/>
                      <a:ea typeface="+mn-ea"/>
                      <a:cs typeface="+mn-cs"/>
                    </a:endParaRPr>
                  </a:p>
                </p:txBody>
              </p:sp>
              <p:sp>
                <p:nvSpPr>
                  <p:cNvPr id="27" name="TextBox 6"/>
                  <p:cNvSpPr txBox="1">
                    <a:spLocks noChangeArrowheads="1"/>
                  </p:cNvSpPr>
                  <p:nvPr/>
                </p:nvSpPr>
                <p:spPr bwMode="auto">
                  <a:xfrm>
                    <a:off x="4191000" y="6112640"/>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Franklin Gothic Book" pitchFamily="34" charset="0"/>
                      </a:rPr>
                      <a:t>Measurement</a:t>
                    </a:r>
                  </a:p>
                </p:txBody>
              </p:sp>
              <p:grpSp>
                <p:nvGrpSpPr>
                  <p:cNvPr id="28" name="Group 21"/>
                  <p:cNvGrpSpPr>
                    <a:grpSpLocks/>
                  </p:cNvGrpSpPr>
                  <p:nvPr/>
                </p:nvGrpSpPr>
                <p:grpSpPr bwMode="auto">
                  <a:xfrm>
                    <a:off x="1752600" y="4267200"/>
                    <a:ext cx="7397261" cy="762000"/>
                    <a:chOff x="1600200" y="4724400"/>
                    <a:chExt cx="7397261" cy="762000"/>
                  </a:xfrm>
                </p:grpSpPr>
                <p:sp>
                  <p:nvSpPr>
                    <p:cNvPr id="32" name="TextBox 5"/>
                    <p:cNvSpPr txBox="1">
                      <a:spLocks noChangeArrowheads="1"/>
                    </p:cNvSpPr>
                    <p:nvPr/>
                  </p:nvSpPr>
                  <p:spPr bwMode="auto">
                    <a:xfrm>
                      <a:off x="7848600" y="4825425"/>
                      <a:ext cx="11488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Franklin Gothic Book" pitchFamily="34" charset="0"/>
                        </a:rPr>
                        <a:t>Output Variables</a:t>
                      </a:r>
                    </a:p>
                  </p:txBody>
                </p:sp>
                <p:cxnSp>
                  <p:nvCxnSpPr>
                    <p:cNvPr id="33" name="Straight Arrow Connector 32"/>
                    <p:cNvCxnSpPr>
                      <a:stCxn id="36" idx="3"/>
                    </p:cNvCxnSpPr>
                    <p:nvPr/>
                  </p:nvCxnSpPr>
                  <p:spPr>
                    <a:xfrm>
                      <a:off x="6400800" y="5104796"/>
                      <a:ext cx="1447800" cy="1588"/>
                    </a:xfrm>
                    <a:prstGeom prst="straightConnector1">
                      <a:avLst/>
                    </a:prstGeom>
                    <a:noFill/>
                    <a:ln w="28575" cap="flat" cmpd="sng" algn="ctr">
                      <a:solidFill>
                        <a:srgbClr val="000000"/>
                      </a:solidFill>
                      <a:prstDash val="solid"/>
                      <a:headEnd type="none" w="med" len="med"/>
                      <a:tailEnd type="triangle" w="lg" len="lg"/>
                    </a:ln>
                    <a:effectLst/>
                  </p:spPr>
                </p:cxnSp>
                <p:cxnSp>
                  <p:nvCxnSpPr>
                    <p:cNvPr id="34" name="Straight Arrow Connector 33"/>
                    <p:cNvCxnSpPr/>
                    <p:nvPr/>
                  </p:nvCxnSpPr>
                  <p:spPr>
                    <a:xfrm>
                      <a:off x="1600200" y="4876129"/>
                      <a:ext cx="762000" cy="1588"/>
                    </a:xfrm>
                    <a:prstGeom prst="straightConnector1">
                      <a:avLst/>
                    </a:prstGeom>
                    <a:noFill/>
                    <a:ln w="28575" cap="flat" cmpd="sng" algn="ctr">
                      <a:solidFill>
                        <a:srgbClr val="000000"/>
                      </a:solidFill>
                      <a:prstDash val="solid"/>
                      <a:headEnd type="none" w="med" len="med"/>
                      <a:tailEnd type="triangle" w="lg" len="lg"/>
                    </a:ln>
                    <a:effectLst/>
                  </p:spPr>
                </p:cxnSp>
                <p:grpSp>
                  <p:nvGrpSpPr>
                    <p:cNvPr id="35" name="Group 20"/>
                    <p:cNvGrpSpPr>
                      <a:grpSpLocks/>
                    </p:cNvGrpSpPr>
                    <p:nvPr/>
                  </p:nvGrpSpPr>
                  <p:grpSpPr bwMode="auto">
                    <a:xfrm>
                      <a:off x="2362200" y="4724400"/>
                      <a:ext cx="4038600" cy="762000"/>
                      <a:chOff x="3200400" y="4572000"/>
                      <a:chExt cx="4038600" cy="762000"/>
                    </a:xfrm>
                  </p:grpSpPr>
                  <p:sp>
                    <p:nvSpPr>
                      <p:cNvPr id="36" name="Rectangle 35"/>
                      <p:cNvSpPr/>
                      <p:nvPr/>
                    </p:nvSpPr>
                    <p:spPr>
                      <a:xfrm>
                        <a:off x="5867400" y="4571285"/>
                        <a:ext cx="1371600" cy="762223"/>
                      </a:xfrm>
                      <a:prstGeom prst="rect">
                        <a:avLst/>
                      </a:prstGeom>
                      <a:gradFill rotWithShape="1">
                        <a:gsLst>
                          <a:gs pos="0">
                            <a:srgbClr val="2D2DB9">
                              <a:tint val="50000"/>
                              <a:satMod val="300000"/>
                            </a:srgbClr>
                          </a:gs>
                          <a:gs pos="35000">
                            <a:srgbClr val="2D2DB9">
                              <a:tint val="37000"/>
                              <a:satMod val="300000"/>
                            </a:srgbClr>
                          </a:gs>
                          <a:gs pos="100000">
                            <a:srgbClr val="2D2DB9">
                              <a:tint val="15000"/>
                              <a:satMod val="350000"/>
                            </a:srgbClr>
                          </a:gs>
                        </a:gsLst>
                        <a:lin ang="16200000" scaled="1"/>
                      </a:gradFill>
                      <a:ln w="9525" cap="flat" cmpd="sng" algn="ctr">
                        <a:solidFill>
                          <a:srgbClr val="2D2DB9">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imes New Roman"/>
                          <a:ea typeface="+mn-ea"/>
                          <a:cs typeface="+mn-cs"/>
                        </a:endParaRPr>
                      </a:p>
                    </p:txBody>
                  </p:sp>
                  <p:sp>
                    <p:nvSpPr>
                      <p:cNvPr id="37" name="Rectangle 36"/>
                      <p:cNvSpPr/>
                      <p:nvPr/>
                    </p:nvSpPr>
                    <p:spPr>
                      <a:xfrm>
                        <a:off x="3200400" y="4571285"/>
                        <a:ext cx="1371600" cy="762223"/>
                      </a:xfrm>
                      <a:prstGeom prst="rect">
                        <a:avLst/>
                      </a:prstGeom>
                      <a:gradFill rotWithShape="1">
                        <a:gsLst>
                          <a:gs pos="0">
                            <a:srgbClr val="2D2DB9">
                              <a:tint val="50000"/>
                              <a:satMod val="300000"/>
                            </a:srgbClr>
                          </a:gs>
                          <a:gs pos="35000">
                            <a:srgbClr val="2D2DB9">
                              <a:tint val="37000"/>
                              <a:satMod val="300000"/>
                            </a:srgbClr>
                          </a:gs>
                          <a:gs pos="100000">
                            <a:srgbClr val="2D2DB9">
                              <a:tint val="15000"/>
                              <a:satMod val="350000"/>
                            </a:srgbClr>
                          </a:gs>
                        </a:gsLst>
                        <a:lin ang="16200000" scaled="1"/>
                      </a:gradFill>
                      <a:ln w="9525" cap="flat" cmpd="sng" algn="ctr">
                        <a:solidFill>
                          <a:srgbClr val="2D2DB9">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imes New Roman"/>
                          <a:ea typeface="+mn-ea"/>
                          <a:cs typeface="+mn-cs"/>
                        </a:endParaRPr>
                      </a:p>
                    </p:txBody>
                  </p:sp>
                  <p:sp>
                    <p:nvSpPr>
                      <p:cNvPr id="38" name="TextBox 18"/>
                      <p:cNvSpPr txBox="1">
                        <a:spLocks noChangeArrowheads="1"/>
                      </p:cNvSpPr>
                      <p:nvPr/>
                    </p:nvSpPr>
                    <p:spPr bwMode="auto">
                      <a:xfrm>
                        <a:off x="3276600" y="4724400"/>
                        <a:ext cx="1219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Franklin Gothic Book" pitchFamily="34" charset="0"/>
                          </a:rPr>
                          <a:t>Controller</a:t>
                        </a:r>
                      </a:p>
                    </p:txBody>
                  </p:sp>
                  <p:sp>
                    <p:nvSpPr>
                      <p:cNvPr id="39" name="TextBox 13"/>
                      <p:cNvSpPr txBox="1">
                        <a:spLocks noChangeArrowheads="1"/>
                      </p:cNvSpPr>
                      <p:nvPr/>
                    </p:nvSpPr>
                    <p:spPr bwMode="auto">
                      <a:xfrm>
                        <a:off x="5943600" y="4724400"/>
                        <a:ext cx="1219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Franklin Gothic Book" pitchFamily="34" charset="0"/>
                          </a:rPr>
                          <a:t>Process</a:t>
                        </a:r>
                      </a:p>
                    </p:txBody>
                  </p:sp>
                  <p:cxnSp>
                    <p:nvCxnSpPr>
                      <p:cNvPr id="40" name="Straight Arrow Connector 39"/>
                      <p:cNvCxnSpPr/>
                      <p:nvPr/>
                    </p:nvCxnSpPr>
                    <p:spPr>
                      <a:xfrm>
                        <a:off x="4572000" y="4952396"/>
                        <a:ext cx="1295400" cy="1588"/>
                      </a:xfrm>
                      <a:prstGeom prst="straightConnector1">
                        <a:avLst/>
                      </a:prstGeom>
                      <a:noFill/>
                      <a:ln w="28575" cap="flat" cmpd="sng" algn="ctr">
                        <a:solidFill>
                          <a:srgbClr val="000000"/>
                        </a:solidFill>
                        <a:prstDash val="solid"/>
                        <a:headEnd type="none" w="med" len="med"/>
                        <a:tailEnd type="triangle" w="lg" len="lg"/>
                      </a:ln>
                      <a:effectLst/>
                    </p:spPr>
                  </p:cxnSp>
                </p:grpSp>
              </p:grpSp>
              <p:cxnSp>
                <p:nvCxnSpPr>
                  <p:cNvPr id="29" name="Straight Arrow Connector 28"/>
                  <p:cNvCxnSpPr/>
                  <p:nvPr/>
                </p:nvCxnSpPr>
                <p:spPr>
                  <a:xfrm>
                    <a:off x="5867400" y="6095821"/>
                    <a:ext cx="1066800" cy="1588"/>
                  </a:xfrm>
                  <a:prstGeom prst="straightConnector1">
                    <a:avLst/>
                  </a:prstGeom>
                  <a:noFill/>
                  <a:ln w="28575" cap="flat" cmpd="sng" algn="ctr">
                    <a:solidFill>
                      <a:srgbClr val="000000"/>
                    </a:solidFill>
                    <a:prstDash val="solid"/>
                    <a:headEnd type="triangle" w="lg" len="lg"/>
                    <a:tailEnd type="none" w="lg" len="lg"/>
                  </a:ln>
                  <a:effectLst/>
                </p:spPr>
              </p:cxnSp>
              <p:cxnSp>
                <p:nvCxnSpPr>
                  <p:cNvPr id="30" name="Straight Connector 29"/>
                  <p:cNvCxnSpPr/>
                  <p:nvPr/>
                </p:nvCxnSpPr>
                <p:spPr>
                  <a:xfrm rot="5400000">
                    <a:off x="6706149" y="5713916"/>
                    <a:ext cx="1675303" cy="3175"/>
                  </a:xfrm>
                  <a:prstGeom prst="line">
                    <a:avLst/>
                  </a:prstGeom>
                  <a:noFill/>
                  <a:ln w="28575" cap="flat" cmpd="sng" algn="ctr">
                    <a:solidFill>
                      <a:srgbClr val="000000"/>
                    </a:solidFill>
                    <a:prstDash val="solid"/>
                  </a:ln>
                  <a:effectLst/>
                </p:spPr>
              </p:cxnSp>
              <p:cxnSp>
                <p:nvCxnSpPr>
                  <p:cNvPr id="31" name="Straight Connector 30"/>
                  <p:cNvCxnSpPr/>
                  <p:nvPr/>
                </p:nvCxnSpPr>
                <p:spPr>
                  <a:xfrm rot="5400000">
                    <a:off x="2552510" y="5676598"/>
                    <a:ext cx="1295780" cy="0"/>
                  </a:xfrm>
                  <a:prstGeom prst="line">
                    <a:avLst/>
                  </a:prstGeom>
                  <a:noFill/>
                  <a:ln w="28575" cap="flat" cmpd="sng" algn="ctr">
                    <a:solidFill>
                      <a:srgbClr val="000000"/>
                    </a:solidFill>
                    <a:prstDash val="solid"/>
                    <a:headEnd type="triangle" w="lg" len="lg"/>
                  </a:ln>
                  <a:effectLst/>
                </p:spPr>
              </p:cxnSp>
            </p:grpSp>
            <p:cxnSp>
              <p:nvCxnSpPr>
                <p:cNvPr id="14" name="Straight Arrow Connector 13"/>
                <p:cNvCxnSpPr/>
                <p:nvPr/>
              </p:nvCxnSpPr>
              <p:spPr>
                <a:xfrm>
                  <a:off x="5334000" y="4876688"/>
                  <a:ext cx="1371600" cy="1588"/>
                </a:xfrm>
                <a:prstGeom prst="straightConnector1">
                  <a:avLst/>
                </a:prstGeom>
                <a:noFill/>
                <a:ln w="28575" cap="flat" cmpd="sng" algn="ctr">
                  <a:solidFill>
                    <a:srgbClr val="000000"/>
                  </a:solidFill>
                  <a:prstDash val="solid"/>
                  <a:headEnd type="triangle" w="lg" len="lg"/>
                  <a:tailEnd type="none" w="lg" len="lg"/>
                </a:ln>
                <a:effectLst/>
              </p:spPr>
            </p:cxnSp>
            <p:cxnSp>
              <p:nvCxnSpPr>
                <p:cNvPr id="15" name="Straight Arrow Connector 14"/>
                <p:cNvCxnSpPr/>
                <p:nvPr/>
              </p:nvCxnSpPr>
              <p:spPr>
                <a:xfrm>
                  <a:off x="5334000" y="5105355"/>
                  <a:ext cx="1676400" cy="1588"/>
                </a:xfrm>
                <a:prstGeom prst="straightConnector1">
                  <a:avLst/>
                </a:prstGeom>
                <a:noFill/>
                <a:ln w="28575" cap="flat" cmpd="sng" algn="ctr">
                  <a:solidFill>
                    <a:srgbClr val="000000"/>
                  </a:solidFill>
                  <a:prstDash val="solid"/>
                  <a:headEnd type="triangle" w="lg" len="lg"/>
                  <a:tailEnd type="none" w="lg" len="lg"/>
                </a:ln>
                <a:effectLst/>
              </p:spPr>
            </p:cxnSp>
            <p:cxnSp>
              <p:nvCxnSpPr>
                <p:cNvPr id="16" name="Straight Arrow Connector 15"/>
                <p:cNvCxnSpPr/>
                <p:nvPr/>
              </p:nvCxnSpPr>
              <p:spPr>
                <a:xfrm>
                  <a:off x="2667000" y="4876688"/>
                  <a:ext cx="990600" cy="1588"/>
                </a:xfrm>
                <a:prstGeom prst="straightConnector1">
                  <a:avLst/>
                </a:prstGeom>
                <a:noFill/>
                <a:ln w="28575" cap="flat" cmpd="sng" algn="ctr">
                  <a:solidFill>
                    <a:srgbClr val="000000"/>
                  </a:solidFill>
                  <a:prstDash val="solid"/>
                  <a:headEnd type="none" w="lg" len="lg"/>
                  <a:tailEnd type="none" w="lg" len="lg"/>
                </a:ln>
                <a:effectLst/>
              </p:spPr>
            </p:cxnSp>
            <p:cxnSp>
              <p:nvCxnSpPr>
                <p:cNvPr id="17" name="Straight Arrow Connector 16"/>
                <p:cNvCxnSpPr/>
                <p:nvPr/>
              </p:nvCxnSpPr>
              <p:spPr>
                <a:xfrm>
                  <a:off x="2362200" y="5105355"/>
                  <a:ext cx="1295400" cy="1588"/>
                </a:xfrm>
                <a:prstGeom prst="straightConnector1">
                  <a:avLst/>
                </a:prstGeom>
                <a:noFill/>
                <a:ln w="28575" cap="flat" cmpd="sng" algn="ctr">
                  <a:solidFill>
                    <a:srgbClr val="000000"/>
                  </a:solidFill>
                  <a:prstDash val="solid"/>
                  <a:headEnd type="none" w="lg" len="lg"/>
                  <a:tailEnd type="none" w="lg" len="lg"/>
                </a:ln>
                <a:effectLst/>
              </p:spPr>
            </p:cxnSp>
            <p:cxnSp>
              <p:nvCxnSpPr>
                <p:cNvPr id="18" name="Straight Arrow Connector 17"/>
                <p:cNvCxnSpPr/>
                <p:nvPr/>
              </p:nvCxnSpPr>
              <p:spPr>
                <a:xfrm>
                  <a:off x="2971800" y="4648021"/>
                  <a:ext cx="685800" cy="1588"/>
                </a:xfrm>
                <a:prstGeom prst="straightConnector1">
                  <a:avLst/>
                </a:prstGeom>
                <a:noFill/>
                <a:ln w="28575" cap="flat" cmpd="sng" algn="ctr">
                  <a:solidFill>
                    <a:srgbClr val="000000"/>
                  </a:solidFill>
                  <a:prstDash val="solid"/>
                  <a:headEnd type="none" w="lg" len="lg"/>
                  <a:tailEnd type="none" w="lg" len="lg"/>
                </a:ln>
                <a:effectLst/>
              </p:spPr>
            </p:cxnSp>
            <p:cxnSp>
              <p:nvCxnSpPr>
                <p:cNvPr id="19" name="Straight Connector 18"/>
                <p:cNvCxnSpPr/>
                <p:nvPr/>
              </p:nvCxnSpPr>
              <p:spPr>
                <a:xfrm rot="5400000">
                  <a:off x="5867948" y="4037449"/>
                  <a:ext cx="1676892" cy="1588"/>
                </a:xfrm>
                <a:prstGeom prst="line">
                  <a:avLst/>
                </a:prstGeom>
                <a:noFill/>
                <a:ln w="28575" cap="flat" cmpd="sng" algn="ctr">
                  <a:solidFill>
                    <a:srgbClr val="000000"/>
                  </a:solidFill>
                  <a:prstDash val="solid"/>
                </a:ln>
                <a:effectLst/>
              </p:spPr>
            </p:cxnSp>
            <p:cxnSp>
              <p:nvCxnSpPr>
                <p:cNvPr id="20" name="Straight Connector 19"/>
                <p:cNvCxnSpPr/>
                <p:nvPr/>
              </p:nvCxnSpPr>
              <p:spPr>
                <a:xfrm rot="5400000">
                  <a:off x="5563148" y="3808781"/>
                  <a:ext cx="1676892" cy="1588"/>
                </a:xfrm>
                <a:prstGeom prst="line">
                  <a:avLst/>
                </a:prstGeom>
                <a:noFill/>
                <a:ln w="28575" cap="flat" cmpd="sng" algn="ctr">
                  <a:solidFill>
                    <a:srgbClr val="000000"/>
                  </a:solidFill>
                  <a:prstDash val="solid"/>
                </a:ln>
                <a:effectLst/>
              </p:spPr>
            </p:cxnSp>
            <p:cxnSp>
              <p:nvCxnSpPr>
                <p:cNvPr id="21" name="Straight Arrow Connector 20"/>
                <p:cNvCxnSpPr/>
                <p:nvPr/>
              </p:nvCxnSpPr>
              <p:spPr>
                <a:xfrm>
                  <a:off x="3352800" y="2971130"/>
                  <a:ext cx="1295400" cy="1588"/>
                </a:xfrm>
                <a:prstGeom prst="straightConnector1">
                  <a:avLst/>
                </a:prstGeom>
                <a:noFill/>
                <a:ln w="28575" cap="flat" cmpd="sng" algn="ctr">
                  <a:solidFill>
                    <a:srgbClr val="000000"/>
                  </a:solidFill>
                  <a:prstDash val="solid"/>
                  <a:headEnd type="none" w="med" len="med"/>
                  <a:tailEnd type="triangle" w="lg" len="lg"/>
                </a:ln>
                <a:effectLst/>
              </p:spPr>
            </p:cxnSp>
            <p:cxnSp>
              <p:nvCxnSpPr>
                <p:cNvPr id="22" name="Straight Arrow Connector 21"/>
                <p:cNvCxnSpPr/>
                <p:nvPr/>
              </p:nvCxnSpPr>
              <p:spPr>
                <a:xfrm>
                  <a:off x="3352800" y="3428464"/>
                  <a:ext cx="1295400" cy="1588"/>
                </a:xfrm>
                <a:prstGeom prst="straightConnector1">
                  <a:avLst/>
                </a:prstGeom>
                <a:noFill/>
                <a:ln w="28575" cap="flat" cmpd="sng" algn="ctr">
                  <a:solidFill>
                    <a:srgbClr val="000000"/>
                  </a:solidFill>
                  <a:prstDash val="solid"/>
                  <a:headEnd type="none" w="med" len="med"/>
                  <a:tailEnd type="triangle" w="lg" len="lg"/>
                </a:ln>
                <a:effectLst/>
              </p:spPr>
            </p:cxnSp>
            <p:cxnSp>
              <p:nvCxnSpPr>
                <p:cNvPr id="23" name="Straight Arrow Connector 22"/>
                <p:cNvCxnSpPr/>
                <p:nvPr/>
              </p:nvCxnSpPr>
              <p:spPr>
                <a:xfrm>
                  <a:off x="6019800" y="3428464"/>
                  <a:ext cx="1447800" cy="1588"/>
                </a:xfrm>
                <a:prstGeom prst="straightConnector1">
                  <a:avLst/>
                </a:prstGeom>
                <a:noFill/>
                <a:ln w="28575" cap="flat" cmpd="sng" algn="ctr">
                  <a:solidFill>
                    <a:srgbClr val="000000"/>
                  </a:solidFill>
                  <a:prstDash val="solid"/>
                  <a:headEnd type="none" w="med" len="med"/>
                  <a:tailEnd type="triangle" w="lg" len="lg"/>
                </a:ln>
                <a:effectLst/>
              </p:spPr>
            </p:cxnSp>
            <p:cxnSp>
              <p:nvCxnSpPr>
                <p:cNvPr id="24" name="Straight Arrow Connector 23"/>
                <p:cNvCxnSpPr/>
                <p:nvPr/>
              </p:nvCxnSpPr>
              <p:spPr>
                <a:xfrm>
                  <a:off x="6019800" y="2971130"/>
                  <a:ext cx="1447800" cy="1588"/>
                </a:xfrm>
                <a:prstGeom prst="straightConnector1">
                  <a:avLst/>
                </a:prstGeom>
                <a:noFill/>
                <a:ln w="28575" cap="flat" cmpd="sng" algn="ctr">
                  <a:solidFill>
                    <a:srgbClr val="000000"/>
                  </a:solidFill>
                  <a:prstDash val="solid"/>
                  <a:headEnd type="none" w="med" len="med"/>
                  <a:tailEnd type="triangle" w="lg" len="lg"/>
                </a:ln>
                <a:effectLst/>
              </p:spPr>
            </p:cxnSp>
          </p:grpSp>
          <p:cxnSp>
            <p:nvCxnSpPr>
              <p:cNvPr id="11" name="Straight Arrow Connector 10"/>
              <p:cNvCxnSpPr/>
              <p:nvPr/>
            </p:nvCxnSpPr>
            <p:spPr>
              <a:xfrm>
                <a:off x="1219200" y="3199797"/>
                <a:ext cx="762000" cy="1588"/>
              </a:xfrm>
              <a:prstGeom prst="straightConnector1">
                <a:avLst/>
              </a:prstGeom>
              <a:noFill/>
              <a:ln w="28575" cap="flat" cmpd="sng" algn="ctr">
                <a:solidFill>
                  <a:srgbClr val="000000"/>
                </a:solidFill>
                <a:prstDash val="solid"/>
                <a:headEnd type="none" w="med" len="med"/>
                <a:tailEnd type="triangle" w="lg" len="lg"/>
              </a:ln>
              <a:effectLst/>
            </p:spPr>
          </p:cxnSp>
          <p:cxnSp>
            <p:nvCxnSpPr>
              <p:cNvPr id="12" name="Straight Arrow Connector 11"/>
              <p:cNvCxnSpPr/>
              <p:nvPr/>
            </p:nvCxnSpPr>
            <p:spPr>
              <a:xfrm>
                <a:off x="1219200" y="3428464"/>
                <a:ext cx="762000" cy="1588"/>
              </a:xfrm>
              <a:prstGeom prst="straightConnector1">
                <a:avLst/>
              </a:prstGeom>
              <a:noFill/>
              <a:ln w="28575" cap="flat" cmpd="sng" algn="ctr">
                <a:solidFill>
                  <a:srgbClr val="000000"/>
                </a:solidFill>
                <a:prstDash val="solid"/>
                <a:headEnd type="none" w="med" len="med"/>
                <a:tailEnd type="triangle" w="lg" len="lg"/>
              </a:ln>
              <a:effectLst/>
            </p:spPr>
          </p:cxnSp>
        </p:grpSp>
        <p:cxnSp>
          <p:nvCxnSpPr>
            <p:cNvPr id="8" name="Straight Connector 7"/>
            <p:cNvCxnSpPr/>
            <p:nvPr/>
          </p:nvCxnSpPr>
          <p:spPr>
            <a:xfrm rot="5400000">
              <a:off x="2440626" y="4112083"/>
              <a:ext cx="1067113" cy="4763"/>
            </a:xfrm>
            <a:prstGeom prst="line">
              <a:avLst/>
            </a:prstGeom>
            <a:noFill/>
            <a:ln w="28575" cap="flat" cmpd="sng" algn="ctr">
              <a:solidFill>
                <a:srgbClr val="000000"/>
              </a:solidFill>
              <a:prstDash val="solid"/>
              <a:headEnd type="triangle" w="lg" len="lg"/>
            </a:ln>
            <a:effectLst/>
          </p:spPr>
        </p:cxnSp>
        <p:cxnSp>
          <p:nvCxnSpPr>
            <p:cNvPr id="9" name="Straight Connector 8"/>
            <p:cNvCxnSpPr/>
            <p:nvPr/>
          </p:nvCxnSpPr>
          <p:spPr>
            <a:xfrm rot="5400000">
              <a:off x="1602359" y="4340750"/>
              <a:ext cx="1524447" cy="4763"/>
            </a:xfrm>
            <a:prstGeom prst="line">
              <a:avLst/>
            </a:prstGeom>
            <a:noFill/>
            <a:ln w="28575" cap="flat" cmpd="sng" algn="ctr">
              <a:solidFill>
                <a:srgbClr val="000000"/>
              </a:solidFill>
              <a:prstDash val="solid"/>
              <a:headEnd type="triangle" w="lg" len="lg"/>
            </a:ln>
            <a:effectLst/>
          </p:spPr>
        </p:cxnSp>
      </p:grpSp>
    </p:spTree>
    <p:extLst>
      <p:ext uri="{BB962C8B-B14F-4D97-AF65-F5344CB8AC3E}">
        <p14:creationId xmlns:p14="http://schemas.microsoft.com/office/powerpoint/2010/main" val="628047226"/>
      </p:ext>
    </p:extLst>
  </p:cSld>
  <p:clrMapOvr>
    <a:masterClrMapping/>
  </p:clrMapOvr>
  <p:transition spd="slow">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762000"/>
            <a:ext cx="8229600" cy="5334000"/>
          </a:xfrm>
        </p:spPr>
        <p:txBody>
          <a:bodyPr>
            <a:noAutofit/>
          </a:bodyPr>
          <a:lstStyle/>
          <a:p>
            <a:pPr marL="457200" lvl="0" indent="-457200" algn="just" fontAlgn="base">
              <a:spcBef>
                <a:spcPct val="20000"/>
              </a:spcBef>
              <a:spcAft>
                <a:spcPct val="0"/>
              </a:spcAft>
              <a:buClrTx/>
              <a:buSzTx/>
              <a:buFont typeface="Wingdings" pitchFamily="2" charset="2"/>
              <a:buChar char="Ø"/>
            </a:pPr>
            <a:r>
              <a:rPr lang="en-US" sz="2200" b="1" kern="0" dirty="0">
                <a:solidFill>
                  <a:srgbClr val="000000"/>
                </a:solidFill>
                <a:latin typeface="Book Antiqua" pitchFamily="18" charset="0"/>
              </a:rPr>
              <a:t>Open-loop control system </a:t>
            </a:r>
            <a:r>
              <a:rPr lang="en-US" sz="2200" kern="0" dirty="0">
                <a:solidFill>
                  <a:srgbClr val="000000"/>
                </a:solidFill>
                <a:latin typeface="Book Antiqua" pitchFamily="18" charset="0"/>
              </a:rPr>
              <a:t>– operates without the feedback loop. Are the systems in which the output has no effect on the control action. They utilize a controller or control actuator to obtain the desired response. In an open-loop control system the output is neither measured nor feedback for comparison with the input. Thus, to each reference input, there corresponds to a fixed operating conditions, as a result, the accuracy of the system depends on calibration. In the presence of disturbances, the system will not perform the desired task of rectifying</a:t>
            </a:r>
          </a:p>
          <a:p>
            <a:pPr marL="0" lvl="0" indent="0" algn="just" fontAlgn="base">
              <a:spcBef>
                <a:spcPct val="20000"/>
              </a:spcBef>
              <a:spcAft>
                <a:spcPct val="0"/>
              </a:spcAft>
              <a:buClrTx/>
              <a:buSzTx/>
              <a:buNone/>
            </a:pPr>
            <a:endParaRPr lang="en-US" sz="2200" kern="0" dirty="0">
              <a:solidFill>
                <a:srgbClr val="000000"/>
              </a:solidFill>
              <a:latin typeface="Book Antiqua" pitchFamily="18" charset="0"/>
            </a:endParaRPr>
          </a:p>
          <a:p>
            <a:pPr marL="493776" lvl="2" indent="0" algn="just" fontAlgn="base">
              <a:spcBef>
                <a:spcPct val="20000"/>
              </a:spcBef>
              <a:spcAft>
                <a:spcPct val="0"/>
              </a:spcAft>
              <a:buClrTx/>
              <a:buNone/>
            </a:pPr>
            <a:r>
              <a:rPr lang="en-US" sz="2400" kern="0" dirty="0">
                <a:solidFill>
                  <a:srgbClr val="000000"/>
                </a:solidFill>
                <a:latin typeface="Book Antiqua" pitchFamily="18" charset="0"/>
              </a:rPr>
              <a:t>Examples are:</a:t>
            </a:r>
          </a:p>
          <a:p>
            <a:pPr marL="457200" lvl="0" indent="-457200" algn="just" fontAlgn="base">
              <a:spcBef>
                <a:spcPct val="20000"/>
              </a:spcBef>
              <a:spcAft>
                <a:spcPct val="0"/>
              </a:spcAft>
              <a:buClrTx/>
              <a:buSzTx/>
              <a:buFont typeface="Wingdings" pitchFamily="2" charset="2"/>
              <a:buChar char="Ø"/>
            </a:pPr>
            <a:r>
              <a:rPr lang="en-US" sz="2200" kern="0" dirty="0">
                <a:solidFill>
                  <a:srgbClr val="000000"/>
                </a:solidFill>
                <a:latin typeface="Book Antiqua" pitchFamily="18" charset="0"/>
              </a:rPr>
              <a:t>Washing machine, soaking, … the machine doesn’t measure the output signal </a:t>
            </a:r>
            <a:r>
              <a:rPr lang="en-US" sz="2200" kern="0" dirty="0" err="1">
                <a:solidFill>
                  <a:srgbClr val="000000"/>
                </a:solidFill>
                <a:latin typeface="Book Antiqua" pitchFamily="18" charset="0"/>
              </a:rPr>
              <a:t>ie</a:t>
            </a:r>
            <a:r>
              <a:rPr lang="en-US" sz="2200" kern="0" dirty="0">
                <a:solidFill>
                  <a:srgbClr val="000000"/>
                </a:solidFill>
                <a:latin typeface="Book Antiqua" pitchFamily="18" charset="0"/>
              </a:rPr>
              <a:t>, the cleanness of the clothes. </a:t>
            </a:r>
          </a:p>
          <a:p>
            <a:pPr marL="914400" lvl="1" indent="-457200" algn="just" fontAlgn="base">
              <a:spcBef>
                <a:spcPct val="20000"/>
              </a:spcBef>
              <a:spcAft>
                <a:spcPct val="0"/>
              </a:spcAft>
              <a:buClrTx/>
              <a:buFont typeface="Wingdings" pitchFamily="2" charset="2"/>
              <a:buChar char="ü"/>
            </a:pPr>
            <a:endParaRPr lang="en-US" sz="1800" kern="0" dirty="0">
              <a:solidFill>
                <a:srgbClr val="000000"/>
              </a:solidFill>
              <a:latin typeface="Book Antiqua" pitchFamily="18" charset="0"/>
            </a:endParaRPr>
          </a:p>
          <a:p>
            <a:endParaRPr lang="en-US" sz="1800" dirty="0"/>
          </a:p>
        </p:txBody>
      </p:sp>
      <p:sp>
        <p:nvSpPr>
          <p:cNvPr id="4" name="Slide Number Placeholder 3"/>
          <p:cNvSpPr>
            <a:spLocks noGrp="1"/>
          </p:cNvSpPr>
          <p:nvPr>
            <p:ph type="sldNum" sz="quarter" idx="12"/>
          </p:nvPr>
        </p:nvSpPr>
        <p:spPr/>
        <p:txBody>
          <a:bodyPr/>
          <a:lstStyle/>
          <a:p>
            <a:fld id="{573EDECB-2FAA-459C-97B3-E12F4C12D356}" type="slidenum">
              <a:rPr lang="en-US" smtClean="0"/>
              <a:t>18</a:t>
            </a:fld>
            <a:endParaRPr lang="en-US"/>
          </a:p>
        </p:txBody>
      </p:sp>
      <p:sp>
        <p:nvSpPr>
          <p:cNvPr id="5" name="Title 4"/>
          <p:cNvSpPr>
            <a:spLocks noGrp="1"/>
          </p:cNvSpPr>
          <p:nvPr>
            <p:ph type="title"/>
          </p:nvPr>
        </p:nvSpPr>
        <p:spPr>
          <a:xfrm>
            <a:off x="457200" y="76200"/>
            <a:ext cx="8229600" cy="6397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266769195"/>
      </p:ext>
    </p:extLst>
  </p:cSld>
  <p:clrMapOvr>
    <a:masterClrMapping/>
  </p:clrMapOvr>
  <p:transition spd="slow">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lvl="1" indent="0" algn="just" fontAlgn="base">
              <a:spcBef>
                <a:spcPct val="20000"/>
              </a:spcBef>
              <a:spcAft>
                <a:spcPct val="0"/>
              </a:spcAft>
              <a:buClrTx/>
              <a:buNone/>
            </a:pPr>
            <a:r>
              <a:rPr lang="en-US" sz="2400" kern="0" dirty="0">
                <a:solidFill>
                  <a:srgbClr val="000000"/>
                </a:solidFill>
                <a:latin typeface="Book Antiqua" pitchFamily="18" charset="0"/>
              </a:rPr>
              <a:t>Note: any control system that operates on time basis is open-loop. For instance, traffic  control by means of signal operates on a time basis is another example of an open-loop control</a:t>
            </a: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19</a:t>
            </a:fld>
            <a:endParaRPr lang="en-US"/>
          </a:p>
        </p:txBody>
      </p:sp>
      <p:sp>
        <p:nvSpPr>
          <p:cNvPr id="5" name="Title 4"/>
          <p:cNvSpPr>
            <a:spLocks noGrp="1"/>
          </p:cNvSpPr>
          <p:nvPr>
            <p:ph type="title"/>
          </p:nvPr>
        </p:nvSpPr>
        <p:spPr/>
        <p:txBody>
          <a:bodyPr>
            <a:normAutofit/>
          </a:bodyPr>
          <a:lstStyle/>
          <a:p>
            <a:r>
              <a:rPr lang="en-US" sz="3200" dirty="0">
                <a:solidFill>
                  <a:schemeClr val="tx1"/>
                </a:solidFill>
                <a:effectLst/>
                <a:latin typeface="Book Antiqua" pitchFamily="18" charset="0"/>
              </a:rPr>
              <a:t>Cont..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200400"/>
            <a:ext cx="7924800" cy="1493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0418184"/>
      </p:ext>
    </p:extLst>
  </p:cSld>
  <p:clrMapOvr>
    <a:masterClrMapping/>
  </p:clrMapOvr>
  <p:transition spd="slow">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816171"/>
            <a:ext cx="8229600" cy="5279829"/>
          </a:xfrm>
        </p:spPr>
        <p:txBody>
          <a:bodyPr>
            <a:normAutofit/>
          </a:bodyPr>
          <a:lstStyle/>
          <a:p>
            <a:pPr marL="109728" indent="0">
              <a:buNone/>
            </a:pPr>
            <a:r>
              <a:rPr lang="en-US" sz="2200" b="1" dirty="0">
                <a:solidFill>
                  <a:srgbClr val="000000"/>
                </a:solidFill>
                <a:latin typeface="Book Antiqua" pitchFamily="18" charset="0"/>
                <a:ea typeface="+mj-ea"/>
                <a:cs typeface="+mj-cs"/>
              </a:rPr>
              <a:t>General Control System</a:t>
            </a:r>
            <a:endParaRPr lang="en-US" sz="2200" dirty="0">
              <a:latin typeface="Book Antiqua" pitchFamily="18" charset="0"/>
            </a:endParaRPr>
          </a:p>
          <a:p>
            <a:pPr algn="just">
              <a:buClrTx/>
            </a:pPr>
            <a:r>
              <a:rPr lang="en-US" sz="2200" dirty="0">
                <a:latin typeface="Book Antiqua" pitchFamily="18" charset="0"/>
              </a:rPr>
              <a:t>Forward Path: The forward path in the feedback loop is the path after the summer, that travels through the plant and towards the system output.</a:t>
            </a:r>
          </a:p>
          <a:p>
            <a:pPr algn="just">
              <a:buClrTx/>
            </a:pPr>
            <a:r>
              <a:rPr lang="en-US" sz="2200" dirty="0">
                <a:latin typeface="Book Antiqua" pitchFamily="18" charset="0"/>
              </a:rPr>
              <a:t>The reverse path is the path after the pick-off node, that loops back to the beginning of the system. This is also known as the "feedback path".</a:t>
            </a:r>
          </a:p>
          <a:p>
            <a:endParaRPr lang="en-US" sz="2200" dirty="0">
              <a:latin typeface="Book Antiqua" pitchFamily="18" charset="0"/>
            </a:endParaRPr>
          </a:p>
          <a:p>
            <a:endParaRPr lang="en-US" sz="2200" dirty="0">
              <a:latin typeface="Book Antiqua" pitchFamily="18" charset="0"/>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20</a:t>
            </a:fld>
            <a:endParaRPr lang="en-US"/>
          </a:p>
        </p:txBody>
      </p:sp>
      <p:sp>
        <p:nvSpPr>
          <p:cNvPr id="5" name="Title 4"/>
          <p:cNvSpPr>
            <a:spLocks noGrp="1"/>
          </p:cNvSpPr>
          <p:nvPr>
            <p:ph type="title"/>
          </p:nvPr>
        </p:nvSpPr>
        <p:spPr>
          <a:xfrm>
            <a:off x="457200" y="152400"/>
            <a:ext cx="8229600" cy="563562"/>
          </a:xfrm>
        </p:spPr>
        <p:txBody>
          <a:bodyPr>
            <a:normAutofit fontScale="90000"/>
          </a:bodyPr>
          <a:lstStyle/>
          <a:p>
            <a:r>
              <a:rPr lang="en-US" sz="3200" dirty="0">
                <a:solidFill>
                  <a:schemeClr val="tx1"/>
                </a:solidFill>
                <a:effectLst/>
                <a:latin typeface="Book Antiqua" pitchFamily="18" charset="0"/>
              </a:rPr>
              <a:t>Cont.. </a:t>
            </a:r>
          </a:p>
        </p:txBody>
      </p:sp>
      <p:grpSp>
        <p:nvGrpSpPr>
          <p:cNvPr id="6" name="Group 90"/>
          <p:cNvGrpSpPr>
            <a:grpSpLocks/>
          </p:cNvGrpSpPr>
          <p:nvPr/>
        </p:nvGrpSpPr>
        <p:grpSpPr bwMode="auto">
          <a:xfrm>
            <a:off x="342900" y="3373322"/>
            <a:ext cx="8610600" cy="2801222"/>
            <a:chOff x="647700" y="1718846"/>
            <a:chExt cx="8610600" cy="3539644"/>
          </a:xfrm>
        </p:grpSpPr>
        <p:grpSp>
          <p:nvGrpSpPr>
            <p:cNvPr id="7" name="Group 84"/>
            <p:cNvGrpSpPr>
              <a:grpSpLocks/>
            </p:cNvGrpSpPr>
            <p:nvPr/>
          </p:nvGrpSpPr>
          <p:grpSpPr bwMode="auto">
            <a:xfrm>
              <a:off x="647700" y="1718846"/>
              <a:ext cx="8610600" cy="3539644"/>
              <a:chOff x="571500" y="1718846"/>
              <a:chExt cx="8610600" cy="3539644"/>
            </a:xfrm>
          </p:grpSpPr>
          <p:grpSp>
            <p:nvGrpSpPr>
              <p:cNvPr id="12" name="Group 48"/>
              <p:cNvGrpSpPr>
                <a:grpSpLocks/>
              </p:cNvGrpSpPr>
              <p:nvPr/>
            </p:nvGrpSpPr>
            <p:grpSpPr bwMode="auto">
              <a:xfrm>
                <a:off x="571500" y="3025169"/>
                <a:ext cx="8610600" cy="1915576"/>
                <a:chOff x="647700" y="2263169"/>
                <a:chExt cx="8610600" cy="1915576"/>
              </a:xfrm>
            </p:grpSpPr>
            <p:sp>
              <p:nvSpPr>
                <p:cNvPr id="22" name="TextBox 21"/>
                <p:cNvSpPr txBox="1"/>
                <p:nvPr/>
              </p:nvSpPr>
              <p:spPr>
                <a:xfrm>
                  <a:off x="4648200" y="3808940"/>
                  <a:ext cx="1066800" cy="369805"/>
                </a:xfrm>
                <a:prstGeom prst="rect">
                  <a:avLst/>
                </a:prstGeom>
                <a:gradFill rotWithShape="1">
                  <a:gsLst>
                    <a:gs pos="0">
                      <a:srgbClr val="2D2DB9">
                        <a:tint val="50000"/>
                        <a:satMod val="300000"/>
                      </a:srgbClr>
                    </a:gs>
                    <a:gs pos="35000">
                      <a:srgbClr val="2D2DB9">
                        <a:tint val="37000"/>
                        <a:satMod val="300000"/>
                      </a:srgbClr>
                    </a:gs>
                    <a:gs pos="100000">
                      <a:srgbClr val="2D2DB9">
                        <a:tint val="15000"/>
                        <a:satMod val="350000"/>
                      </a:srgbClr>
                    </a:gs>
                  </a:gsLst>
                  <a:lin ang="16200000" scaled="1"/>
                </a:gradFill>
                <a:ln w="9525" cap="flat" cmpd="sng" algn="ctr">
                  <a:solidFill>
                    <a:srgbClr val="2D2DB9">
                      <a:shade val="95000"/>
                      <a:satMod val="105000"/>
                    </a:srgbClr>
                  </a:solidFill>
                  <a:prstDash val="solid"/>
                </a:ln>
                <a:effectLst>
                  <a:outerShdw blurRad="40000" dist="20000" dir="5400000" rotWithShape="0">
                    <a:srgbClr val="000000">
                      <a:alpha val="38000"/>
                    </a:srgbClr>
                  </a:outerShdw>
                </a:effec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imes New Roman"/>
                      <a:ea typeface="+mn-ea"/>
                      <a:cs typeface="+mn-cs"/>
                    </a:rPr>
                    <a:t>Sensor</a:t>
                  </a:r>
                </a:p>
              </p:txBody>
            </p:sp>
            <p:grpSp>
              <p:nvGrpSpPr>
                <p:cNvPr id="23" name="Group 30"/>
                <p:cNvGrpSpPr>
                  <a:grpSpLocks/>
                </p:cNvGrpSpPr>
                <p:nvPr/>
              </p:nvGrpSpPr>
              <p:grpSpPr bwMode="auto">
                <a:xfrm>
                  <a:off x="1219200" y="2586335"/>
                  <a:ext cx="7543800" cy="435352"/>
                  <a:chOff x="685800" y="2586335"/>
                  <a:chExt cx="7543800" cy="435352"/>
                </a:xfrm>
              </p:grpSpPr>
              <p:grpSp>
                <p:nvGrpSpPr>
                  <p:cNvPr id="30" name="Group 25"/>
                  <p:cNvGrpSpPr>
                    <a:grpSpLocks/>
                  </p:cNvGrpSpPr>
                  <p:nvPr/>
                </p:nvGrpSpPr>
                <p:grpSpPr bwMode="auto">
                  <a:xfrm>
                    <a:off x="1676400" y="2586335"/>
                    <a:ext cx="5867400" cy="435352"/>
                    <a:chOff x="1295400" y="2586335"/>
                    <a:chExt cx="5867400" cy="435352"/>
                  </a:xfrm>
                </p:grpSpPr>
                <p:grpSp>
                  <p:nvGrpSpPr>
                    <p:cNvPr id="33" name="Group 14"/>
                    <p:cNvGrpSpPr>
                      <a:grpSpLocks/>
                    </p:cNvGrpSpPr>
                    <p:nvPr/>
                  </p:nvGrpSpPr>
                  <p:grpSpPr bwMode="auto">
                    <a:xfrm>
                      <a:off x="3657600" y="2590800"/>
                      <a:ext cx="1066800" cy="381000"/>
                      <a:chOff x="3429000" y="2743200"/>
                      <a:chExt cx="1066800" cy="381000"/>
                    </a:xfrm>
                  </p:grpSpPr>
                  <p:sp>
                    <p:nvSpPr>
                      <p:cNvPr id="50" name="Rectangle 49"/>
                      <p:cNvSpPr/>
                      <p:nvPr/>
                    </p:nvSpPr>
                    <p:spPr>
                      <a:xfrm>
                        <a:off x="3429000" y="2742415"/>
                        <a:ext cx="1066800" cy="379327"/>
                      </a:xfrm>
                      <a:prstGeom prst="rect">
                        <a:avLst/>
                      </a:prstGeom>
                      <a:gradFill rotWithShape="1">
                        <a:gsLst>
                          <a:gs pos="0">
                            <a:srgbClr val="2D2DB9">
                              <a:tint val="50000"/>
                              <a:satMod val="300000"/>
                            </a:srgbClr>
                          </a:gs>
                          <a:gs pos="35000">
                            <a:srgbClr val="2D2DB9">
                              <a:tint val="37000"/>
                              <a:satMod val="300000"/>
                            </a:srgbClr>
                          </a:gs>
                          <a:gs pos="100000">
                            <a:srgbClr val="2D2DB9">
                              <a:tint val="15000"/>
                              <a:satMod val="350000"/>
                            </a:srgbClr>
                          </a:gs>
                        </a:gsLst>
                        <a:lin ang="16200000" scaled="1"/>
                      </a:gradFill>
                      <a:ln w="9525" cap="flat" cmpd="sng" algn="ctr">
                        <a:solidFill>
                          <a:srgbClr val="2D2DB9">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imes New Roman"/>
                          <a:ea typeface="+mn-ea"/>
                          <a:cs typeface="+mn-cs"/>
                        </a:endParaRPr>
                      </a:p>
                    </p:txBody>
                  </p:sp>
                  <p:sp>
                    <p:nvSpPr>
                      <p:cNvPr id="51" name="TextBox 50"/>
                      <p:cNvSpPr txBox="1"/>
                      <p:nvPr/>
                    </p:nvSpPr>
                    <p:spPr>
                      <a:xfrm>
                        <a:off x="3429000" y="2742415"/>
                        <a:ext cx="1066800" cy="368217"/>
                      </a:xfrm>
                      <a:prstGeom prst="rect">
                        <a:avLst/>
                      </a:prstGeom>
                      <a:gradFill rotWithShape="1">
                        <a:gsLst>
                          <a:gs pos="0">
                            <a:srgbClr val="2D2DB9">
                              <a:tint val="50000"/>
                              <a:satMod val="300000"/>
                            </a:srgbClr>
                          </a:gs>
                          <a:gs pos="35000">
                            <a:srgbClr val="2D2DB9">
                              <a:tint val="37000"/>
                              <a:satMod val="300000"/>
                            </a:srgbClr>
                          </a:gs>
                          <a:gs pos="100000">
                            <a:srgbClr val="2D2DB9">
                              <a:tint val="15000"/>
                              <a:satMod val="350000"/>
                            </a:srgbClr>
                          </a:gs>
                        </a:gsLst>
                        <a:lin ang="16200000" scaled="1"/>
                      </a:gradFill>
                      <a:ln w="9525" cap="flat" cmpd="sng" algn="ctr">
                        <a:solidFill>
                          <a:srgbClr val="2D2DB9">
                            <a:shade val="95000"/>
                            <a:satMod val="105000"/>
                          </a:srgbClr>
                        </a:solidFill>
                        <a:prstDash val="solid"/>
                      </a:ln>
                      <a:effectLst>
                        <a:outerShdw blurRad="40000" dist="20000" dir="5400000" rotWithShape="0">
                          <a:srgbClr val="000000">
                            <a:alpha val="38000"/>
                          </a:srgbClr>
                        </a:outerShdw>
                      </a:effec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imes New Roman"/>
                            <a:ea typeface="+mn-ea"/>
                            <a:cs typeface="+mn-cs"/>
                          </a:rPr>
                          <a:t>Actuator</a:t>
                        </a:r>
                      </a:p>
                    </p:txBody>
                  </p:sp>
                </p:grpSp>
                <p:grpSp>
                  <p:nvGrpSpPr>
                    <p:cNvPr id="34" name="Group 16"/>
                    <p:cNvGrpSpPr>
                      <a:grpSpLocks/>
                    </p:cNvGrpSpPr>
                    <p:nvPr/>
                  </p:nvGrpSpPr>
                  <p:grpSpPr bwMode="auto">
                    <a:xfrm>
                      <a:off x="6096000" y="2590800"/>
                      <a:ext cx="1066800" cy="381000"/>
                      <a:chOff x="6400800" y="2590800"/>
                      <a:chExt cx="1066800" cy="381000"/>
                    </a:xfrm>
                  </p:grpSpPr>
                  <p:sp>
                    <p:nvSpPr>
                      <p:cNvPr id="48" name="Rectangle 47"/>
                      <p:cNvSpPr/>
                      <p:nvPr/>
                    </p:nvSpPr>
                    <p:spPr>
                      <a:xfrm>
                        <a:off x="6400800" y="2590015"/>
                        <a:ext cx="1066800" cy="379327"/>
                      </a:xfrm>
                      <a:prstGeom prst="rect">
                        <a:avLst/>
                      </a:prstGeom>
                      <a:gradFill rotWithShape="1">
                        <a:gsLst>
                          <a:gs pos="0">
                            <a:srgbClr val="2D2DB9">
                              <a:tint val="50000"/>
                              <a:satMod val="300000"/>
                            </a:srgbClr>
                          </a:gs>
                          <a:gs pos="35000">
                            <a:srgbClr val="2D2DB9">
                              <a:tint val="37000"/>
                              <a:satMod val="300000"/>
                            </a:srgbClr>
                          </a:gs>
                          <a:gs pos="100000">
                            <a:srgbClr val="2D2DB9">
                              <a:tint val="15000"/>
                              <a:satMod val="350000"/>
                            </a:srgbClr>
                          </a:gs>
                        </a:gsLst>
                        <a:lin ang="16200000" scaled="1"/>
                      </a:gradFill>
                      <a:ln w="9525" cap="flat" cmpd="sng" algn="ctr">
                        <a:solidFill>
                          <a:srgbClr val="2D2DB9">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imes New Roman"/>
                          <a:ea typeface="+mn-ea"/>
                          <a:cs typeface="+mn-cs"/>
                        </a:endParaRPr>
                      </a:p>
                    </p:txBody>
                  </p:sp>
                  <p:sp>
                    <p:nvSpPr>
                      <p:cNvPr id="49" name="TextBox 48"/>
                      <p:cNvSpPr txBox="1"/>
                      <p:nvPr/>
                    </p:nvSpPr>
                    <p:spPr>
                      <a:xfrm>
                        <a:off x="6400800" y="2590015"/>
                        <a:ext cx="1066800" cy="368217"/>
                      </a:xfrm>
                      <a:prstGeom prst="rect">
                        <a:avLst/>
                      </a:prstGeom>
                      <a:gradFill rotWithShape="1">
                        <a:gsLst>
                          <a:gs pos="0">
                            <a:srgbClr val="2D2DB9">
                              <a:tint val="50000"/>
                              <a:satMod val="300000"/>
                            </a:srgbClr>
                          </a:gs>
                          <a:gs pos="35000">
                            <a:srgbClr val="2D2DB9">
                              <a:tint val="37000"/>
                              <a:satMod val="300000"/>
                            </a:srgbClr>
                          </a:gs>
                          <a:gs pos="100000">
                            <a:srgbClr val="2D2DB9">
                              <a:tint val="15000"/>
                              <a:satMod val="350000"/>
                            </a:srgbClr>
                          </a:gs>
                        </a:gsLst>
                        <a:lin ang="16200000" scaled="1"/>
                      </a:gradFill>
                      <a:ln w="9525" cap="flat" cmpd="sng" algn="ctr">
                        <a:solidFill>
                          <a:srgbClr val="2D2DB9">
                            <a:shade val="95000"/>
                            <a:satMod val="105000"/>
                          </a:srgbClr>
                        </a:solidFill>
                        <a:prstDash val="solid"/>
                      </a:ln>
                      <a:effectLst>
                        <a:outerShdw blurRad="40000" dist="20000" dir="5400000" rotWithShape="0">
                          <a:srgbClr val="000000">
                            <a:alpha val="38000"/>
                          </a:srgbClr>
                        </a:outerShdw>
                      </a:effec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imes New Roman"/>
                            <a:ea typeface="+mn-ea"/>
                            <a:cs typeface="+mn-cs"/>
                          </a:rPr>
                          <a:t>Process</a:t>
                        </a:r>
                      </a:p>
                    </p:txBody>
                  </p:sp>
                </p:grpSp>
                <p:grpSp>
                  <p:nvGrpSpPr>
                    <p:cNvPr id="35" name="Group 18"/>
                    <p:cNvGrpSpPr>
                      <a:grpSpLocks/>
                    </p:cNvGrpSpPr>
                    <p:nvPr/>
                  </p:nvGrpSpPr>
                  <p:grpSpPr bwMode="auto">
                    <a:xfrm>
                      <a:off x="2057400" y="2590800"/>
                      <a:ext cx="1219200" cy="381000"/>
                      <a:chOff x="3657600" y="3505200"/>
                      <a:chExt cx="1219200" cy="381000"/>
                    </a:xfrm>
                  </p:grpSpPr>
                  <p:sp>
                    <p:nvSpPr>
                      <p:cNvPr id="46" name="Rectangle 45"/>
                      <p:cNvSpPr/>
                      <p:nvPr/>
                    </p:nvSpPr>
                    <p:spPr>
                      <a:xfrm>
                        <a:off x="3657600" y="3504415"/>
                        <a:ext cx="1219200" cy="379327"/>
                      </a:xfrm>
                      <a:prstGeom prst="rect">
                        <a:avLst/>
                      </a:prstGeom>
                      <a:gradFill rotWithShape="1">
                        <a:gsLst>
                          <a:gs pos="0">
                            <a:srgbClr val="2D2DB9">
                              <a:tint val="50000"/>
                              <a:satMod val="300000"/>
                            </a:srgbClr>
                          </a:gs>
                          <a:gs pos="35000">
                            <a:srgbClr val="2D2DB9">
                              <a:tint val="37000"/>
                              <a:satMod val="300000"/>
                            </a:srgbClr>
                          </a:gs>
                          <a:gs pos="100000">
                            <a:srgbClr val="2D2DB9">
                              <a:tint val="15000"/>
                              <a:satMod val="350000"/>
                            </a:srgbClr>
                          </a:gs>
                        </a:gsLst>
                        <a:lin ang="16200000" scaled="1"/>
                      </a:gradFill>
                      <a:ln w="9525" cap="flat" cmpd="sng" algn="ctr">
                        <a:solidFill>
                          <a:srgbClr val="2D2DB9">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imes New Roman"/>
                          <a:ea typeface="+mn-ea"/>
                          <a:cs typeface="+mn-cs"/>
                        </a:endParaRPr>
                      </a:p>
                    </p:txBody>
                  </p:sp>
                  <p:sp>
                    <p:nvSpPr>
                      <p:cNvPr id="47" name="TextBox 46"/>
                      <p:cNvSpPr txBox="1"/>
                      <p:nvPr/>
                    </p:nvSpPr>
                    <p:spPr>
                      <a:xfrm>
                        <a:off x="3657600" y="3504415"/>
                        <a:ext cx="1219200" cy="368217"/>
                      </a:xfrm>
                      <a:prstGeom prst="rect">
                        <a:avLst/>
                      </a:prstGeom>
                      <a:gradFill rotWithShape="1">
                        <a:gsLst>
                          <a:gs pos="0">
                            <a:srgbClr val="2D2DB9">
                              <a:tint val="50000"/>
                              <a:satMod val="300000"/>
                            </a:srgbClr>
                          </a:gs>
                          <a:gs pos="35000">
                            <a:srgbClr val="2D2DB9">
                              <a:tint val="37000"/>
                              <a:satMod val="300000"/>
                            </a:srgbClr>
                          </a:gs>
                          <a:gs pos="100000">
                            <a:srgbClr val="2D2DB9">
                              <a:tint val="15000"/>
                              <a:satMod val="350000"/>
                            </a:srgbClr>
                          </a:gs>
                        </a:gsLst>
                        <a:lin ang="16200000" scaled="1"/>
                      </a:gradFill>
                      <a:ln w="9525" cap="flat" cmpd="sng" algn="ctr">
                        <a:solidFill>
                          <a:srgbClr val="2D2DB9">
                            <a:shade val="95000"/>
                            <a:satMod val="105000"/>
                          </a:srgbClr>
                        </a:solidFill>
                        <a:prstDash val="solid"/>
                      </a:ln>
                      <a:effectLst>
                        <a:outerShdw blurRad="40000" dist="20000" dir="5400000" rotWithShape="0">
                          <a:srgbClr val="000000">
                            <a:alpha val="38000"/>
                          </a:srgbClr>
                        </a:outerShdw>
                      </a:effectLst>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imes New Roman"/>
                            <a:ea typeface="+mn-ea"/>
                            <a:cs typeface="+mn-cs"/>
                          </a:rPr>
                          <a:t>Controller</a:t>
                        </a:r>
                      </a:p>
                    </p:txBody>
                  </p:sp>
                </p:grpSp>
                <p:grpSp>
                  <p:nvGrpSpPr>
                    <p:cNvPr id="36" name="Group 9"/>
                    <p:cNvGrpSpPr>
                      <a:grpSpLocks/>
                    </p:cNvGrpSpPr>
                    <p:nvPr/>
                  </p:nvGrpSpPr>
                  <p:grpSpPr bwMode="auto">
                    <a:xfrm>
                      <a:off x="5410200" y="2586335"/>
                      <a:ext cx="381000" cy="430887"/>
                      <a:chOff x="5410200" y="2586335"/>
                      <a:chExt cx="381000" cy="430887"/>
                    </a:xfrm>
                  </p:grpSpPr>
                  <p:sp>
                    <p:nvSpPr>
                      <p:cNvPr id="44" name="Oval 43"/>
                      <p:cNvSpPr/>
                      <p:nvPr/>
                    </p:nvSpPr>
                    <p:spPr>
                      <a:xfrm>
                        <a:off x="5410200" y="2588429"/>
                        <a:ext cx="381000" cy="382501"/>
                      </a:xfrm>
                      <a:prstGeom prst="ellipse">
                        <a:avLst/>
                      </a:prstGeom>
                      <a:solidFill>
                        <a:srgbClr val="00CC99"/>
                      </a:solidFill>
                      <a:ln w="25400" cap="flat" cmpd="sng" algn="ctr">
                        <a:solidFill>
                          <a:srgbClr val="00CC9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imes New Roman"/>
                          <a:ea typeface="+mn-ea"/>
                          <a:cs typeface="+mn-cs"/>
                        </a:endParaRPr>
                      </a:p>
                    </p:txBody>
                  </p:sp>
                  <p:sp>
                    <p:nvSpPr>
                      <p:cNvPr id="45" name="TextBox 7"/>
                      <p:cNvSpPr txBox="1">
                        <a:spLocks noChangeArrowheads="1"/>
                      </p:cNvSpPr>
                      <p:nvPr/>
                    </p:nvSpPr>
                    <p:spPr bwMode="auto">
                      <a:xfrm>
                        <a:off x="5410200" y="2586335"/>
                        <a:ext cx="3048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000000"/>
                            </a:solidFill>
                            <a:effectLst/>
                            <a:uLnTx/>
                            <a:uFillTx/>
                            <a:latin typeface="Franklin Gothic Book" pitchFamily="34" charset="0"/>
                          </a:rPr>
                          <a:t>+</a:t>
                        </a:r>
                      </a:p>
                    </p:txBody>
                  </p:sp>
                </p:grpSp>
                <p:grpSp>
                  <p:nvGrpSpPr>
                    <p:cNvPr id="37" name="Group 10"/>
                    <p:cNvGrpSpPr>
                      <a:grpSpLocks/>
                    </p:cNvGrpSpPr>
                    <p:nvPr/>
                  </p:nvGrpSpPr>
                  <p:grpSpPr bwMode="auto">
                    <a:xfrm>
                      <a:off x="1295400" y="2590800"/>
                      <a:ext cx="381000" cy="430887"/>
                      <a:chOff x="4876800" y="2586335"/>
                      <a:chExt cx="381000" cy="430887"/>
                    </a:xfrm>
                  </p:grpSpPr>
                  <p:sp>
                    <p:nvSpPr>
                      <p:cNvPr id="42" name="Oval 41"/>
                      <p:cNvSpPr/>
                      <p:nvPr/>
                    </p:nvSpPr>
                    <p:spPr>
                      <a:xfrm>
                        <a:off x="4876800" y="2585550"/>
                        <a:ext cx="381000" cy="382502"/>
                      </a:xfrm>
                      <a:prstGeom prst="ellipse">
                        <a:avLst/>
                      </a:prstGeom>
                      <a:solidFill>
                        <a:srgbClr val="00CC99"/>
                      </a:solidFill>
                      <a:ln w="25400" cap="flat" cmpd="sng" algn="ctr">
                        <a:solidFill>
                          <a:srgbClr val="00CC9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imes New Roman"/>
                          <a:ea typeface="+mn-ea"/>
                          <a:cs typeface="+mn-cs"/>
                        </a:endParaRPr>
                      </a:p>
                    </p:txBody>
                  </p:sp>
                  <p:sp>
                    <p:nvSpPr>
                      <p:cNvPr id="43" name="TextBox 12"/>
                      <p:cNvSpPr txBox="1">
                        <a:spLocks noChangeArrowheads="1"/>
                      </p:cNvSpPr>
                      <p:nvPr/>
                    </p:nvSpPr>
                    <p:spPr bwMode="auto">
                      <a:xfrm>
                        <a:off x="4876800" y="2586335"/>
                        <a:ext cx="3048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a:ln>
                              <a:noFill/>
                            </a:ln>
                            <a:solidFill>
                              <a:srgbClr val="000000"/>
                            </a:solidFill>
                            <a:effectLst/>
                            <a:uLnTx/>
                            <a:uFillTx/>
                            <a:latin typeface="Franklin Gothic Book" pitchFamily="34" charset="0"/>
                          </a:rPr>
                          <a:t>+</a:t>
                        </a:r>
                      </a:p>
                    </p:txBody>
                  </p:sp>
                </p:grpSp>
                <p:cxnSp>
                  <p:nvCxnSpPr>
                    <p:cNvPr id="38" name="Straight Arrow Connector 37"/>
                    <p:cNvCxnSpPr/>
                    <p:nvPr/>
                  </p:nvCxnSpPr>
                  <p:spPr>
                    <a:xfrm>
                      <a:off x="3276600" y="2818564"/>
                      <a:ext cx="381000" cy="1588"/>
                    </a:xfrm>
                    <a:prstGeom prst="straightConnector1">
                      <a:avLst/>
                    </a:prstGeom>
                    <a:noFill/>
                    <a:ln w="28575" cap="flat" cmpd="sng" algn="ctr">
                      <a:solidFill>
                        <a:srgbClr val="000000"/>
                      </a:solidFill>
                      <a:prstDash val="solid"/>
                      <a:tailEnd type="triangle" w="lg" len="lg"/>
                    </a:ln>
                    <a:effectLst/>
                  </p:spPr>
                </p:cxnSp>
                <p:cxnSp>
                  <p:nvCxnSpPr>
                    <p:cNvPr id="39" name="Straight Arrow Connector 38"/>
                    <p:cNvCxnSpPr/>
                    <p:nvPr/>
                  </p:nvCxnSpPr>
                  <p:spPr>
                    <a:xfrm>
                      <a:off x="5791200" y="2818564"/>
                      <a:ext cx="304800" cy="1588"/>
                    </a:xfrm>
                    <a:prstGeom prst="straightConnector1">
                      <a:avLst/>
                    </a:prstGeom>
                    <a:noFill/>
                    <a:ln w="28575" cap="flat" cmpd="sng" algn="ctr">
                      <a:solidFill>
                        <a:srgbClr val="000000"/>
                      </a:solidFill>
                      <a:prstDash val="solid"/>
                      <a:tailEnd type="triangle" w="lg" len="lg"/>
                    </a:ln>
                    <a:effectLst/>
                  </p:spPr>
                </p:cxnSp>
                <p:cxnSp>
                  <p:nvCxnSpPr>
                    <p:cNvPr id="40" name="Straight Arrow Connector 39"/>
                    <p:cNvCxnSpPr/>
                    <p:nvPr/>
                  </p:nvCxnSpPr>
                  <p:spPr>
                    <a:xfrm>
                      <a:off x="4724400" y="2818564"/>
                      <a:ext cx="685800" cy="1588"/>
                    </a:xfrm>
                    <a:prstGeom prst="straightConnector1">
                      <a:avLst/>
                    </a:prstGeom>
                    <a:noFill/>
                    <a:ln w="28575" cap="flat" cmpd="sng" algn="ctr">
                      <a:solidFill>
                        <a:srgbClr val="000000"/>
                      </a:solidFill>
                      <a:prstDash val="solid"/>
                      <a:tailEnd type="triangle" w="lg" len="lg"/>
                    </a:ln>
                    <a:effectLst/>
                  </p:spPr>
                </p:cxnSp>
                <p:cxnSp>
                  <p:nvCxnSpPr>
                    <p:cNvPr id="41" name="Straight Arrow Connector 40"/>
                    <p:cNvCxnSpPr/>
                    <p:nvPr/>
                  </p:nvCxnSpPr>
                  <p:spPr>
                    <a:xfrm>
                      <a:off x="1676400" y="2818564"/>
                      <a:ext cx="381000" cy="1588"/>
                    </a:xfrm>
                    <a:prstGeom prst="straightConnector1">
                      <a:avLst/>
                    </a:prstGeom>
                    <a:noFill/>
                    <a:ln w="28575" cap="flat" cmpd="sng" algn="ctr">
                      <a:solidFill>
                        <a:srgbClr val="000000"/>
                      </a:solidFill>
                      <a:prstDash val="solid"/>
                      <a:tailEnd type="triangle" w="lg" len="lg"/>
                    </a:ln>
                    <a:effectLst/>
                  </p:spPr>
                </p:cxnSp>
              </p:grpSp>
              <p:cxnSp>
                <p:nvCxnSpPr>
                  <p:cNvPr id="31" name="Straight Arrow Connector 30"/>
                  <p:cNvCxnSpPr/>
                  <p:nvPr/>
                </p:nvCxnSpPr>
                <p:spPr>
                  <a:xfrm>
                    <a:off x="685800" y="2818564"/>
                    <a:ext cx="990600" cy="1588"/>
                  </a:xfrm>
                  <a:prstGeom prst="straightConnector1">
                    <a:avLst/>
                  </a:prstGeom>
                  <a:noFill/>
                  <a:ln w="28575" cap="flat" cmpd="sng" algn="ctr">
                    <a:solidFill>
                      <a:srgbClr val="000000"/>
                    </a:solidFill>
                    <a:prstDash val="solid"/>
                    <a:tailEnd type="triangle" w="lg" len="lg"/>
                  </a:ln>
                  <a:effectLst/>
                </p:spPr>
              </p:cxnSp>
              <p:cxnSp>
                <p:nvCxnSpPr>
                  <p:cNvPr id="32" name="Straight Arrow Connector 31"/>
                  <p:cNvCxnSpPr/>
                  <p:nvPr/>
                </p:nvCxnSpPr>
                <p:spPr>
                  <a:xfrm>
                    <a:off x="7543800" y="2818564"/>
                    <a:ext cx="685800" cy="1588"/>
                  </a:xfrm>
                  <a:prstGeom prst="straightConnector1">
                    <a:avLst/>
                  </a:prstGeom>
                  <a:noFill/>
                  <a:ln w="28575" cap="flat" cmpd="sng" algn="ctr">
                    <a:solidFill>
                      <a:srgbClr val="000000"/>
                    </a:solidFill>
                    <a:prstDash val="solid"/>
                    <a:tailEnd type="triangle" w="lg" len="lg"/>
                  </a:ln>
                  <a:effectLst/>
                </p:spPr>
              </p:cxnSp>
            </p:grpSp>
            <p:sp>
              <p:nvSpPr>
                <p:cNvPr id="24" name="TextBox 31"/>
                <p:cNvSpPr txBox="1">
                  <a:spLocks noChangeArrowheads="1"/>
                </p:cNvSpPr>
                <p:nvPr/>
              </p:nvSpPr>
              <p:spPr bwMode="auto">
                <a:xfrm>
                  <a:off x="647700" y="2263169"/>
                  <a:ext cx="1143000" cy="1077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Franklin Gothic Book" pitchFamily="34" charset="0"/>
                    </a:rPr>
                    <a:t>Set-point or Reference input</a:t>
                  </a:r>
                </a:p>
              </p:txBody>
            </p:sp>
            <p:cxnSp>
              <p:nvCxnSpPr>
                <p:cNvPr id="25" name="Straight Arrow Connector 24"/>
                <p:cNvCxnSpPr/>
                <p:nvPr/>
              </p:nvCxnSpPr>
              <p:spPr>
                <a:xfrm rot="5400000" flipH="1" flipV="1">
                  <a:off x="1944006" y="3465324"/>
                  <a:ext cx="990377" cy="1588"/>
                </a:xfrm>
                <a:prstGeom prst="straightConnector1">
                  <a:avLst/>
                </a:prstGeom>
                <a:noFill/>
                <a:ln w="28575" cap="flat" cmpd="sng" algn="ctr">
                  <a:solidFill>
                    <a:srgbClr val="000000"/>
                  </a:solidFill>
                  <a:prstDash val="solid"/>
                  <a:tailEnd type="triangle" w="lg" len="lg"/>
                </a:ln>
                <a:effectLst/>
              </p:spPr>
            </p:cxnSp>
            <p:cxnSp>
              <p:nvCxnSpPr>
                <p:cNvPr id="26" name="Straight Connector 25"/>
                <p:cNvCxnSpPr/>
                <p:nvPr/>
              </p:nvCxnSpPr>
              <p:spPr>
                <a:xfrm>
                  <a:off x="2438400" y="3961306"/>
                  <a:ext cx="2209800" cy="1588"/>
                </a:xfrm>
                <a:prstGeom prst="line">
                  <a:avLst/>
                </a:prstGeom>
                <a:noFill/>
                <a:ln w="28575" cap="flat" cmpd="sng" algn="ctr">
                  <a:solidFill>
                    <a:srgbClr val="000000"/>
                  </a:solidFill>
                  <a:prstDash val="solid"/>
                </a:ln>
                <a:effectLst/>
              </p:spPr>
            </p:cxnSp>
            <p:cxnSp>
              <p:nvCxnSpPr>
                <p:cNvPr id="27" name="Straight Connector 26"/>
                <p:cNvCxnSpPr/>
                <p:nvPr/>
              </p:nvCxnSpPr>
              <p:spPr>
                <a:xfrm>
                  <a:off x="5715000" y="3961306"/>
                  <a:ext cx="2514600" cy="1588"/>
                </a:xfrm>
                <a:prstGeom prst="line">
                  <a:avLst/>
                </a:prstGeom>
                <a:noFill/>
                <a:ln w="28575" cap="flat" cmpd="sng" algn="ctr">
                  <a:solidFill>
                    <a:srgbClr val="000000"/>
                  </a:solidFill>
                  <a:prstDash val="solid"/>
                  <a:headEnd type="triangle" w="lg" len="lg"/>
                </a:ln>
                <a:effectLst/>
              </p:spPr>
            </p:cxnSp>
            <p:cxnSp>
              <p:nvCxnSpPr>
                <p:cNvPr id="28" name="Straight Arrow Connector 27"/>
                <p:cNvCxnSpPr/>
                <p:nvPr/>
              </p:nvCxnSpPr>
              <p:spPr>
                <a:xfrm rot="5400000" flipH="1" flipV="1">
                  <a:off x="7659023" y="3389141"/>
                  <a:ext cx="1142742" cy="1588"/>
                </a:xfrm>
                <a:prstGeom prst="straightConnector1">
                  <a:avLst/>
                </a:prstGeom>
                <a:noFill/>
                <a:ln w="28575" cap="flat" cmpd="sng" algn="ctr">
                  <a:solidFill>
                    <a:srgbClr val="000000"/>
                  </a:solidFill>
                  <a:prstDash val="solid"/>
                  <a:tailEnd type="none" w="lg" len="lg"/>
                </a:ln>
                <a:effectLst/>
              </p:spPr>
            </p:cxnSp>
            <p:sp>
              <p:nvSpPr>
                <p:cNvPr id="29" name="TextBox 47"/>
                <p:cNvSpPr txBox="1">
                  <a:spLocks noChangeArrowheads="1"/>
                </p:cNvSpPr>
                <p:nvPr/>
              </p:nvSpPr>
              <p:spPr bwMode="auto">
                <a:xfrm>
                  <a:off x="8420100" y="2901004"/>
                  <a:ext cx="838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Franklin Gothic Book" pitchFamily="34" charset="0"/>
                    </a:rPr>
                    <a:t>Actual Output</a:t>
                  </a:r>
                </a:p>
              </p:txBody>
            </p:sp>
          </p:grpSp>
          <p:sp>
            <p:nvSpPr>
              <p:cNvPr id="13" name="TextBox 58"/>
              <p:cNvSpPr txBox="1">
                <a:spLocks noChangeArrowheads="1"/>
              </p:cNvSpPr>
              <p:nvPr/>
            </p:nvSpPr>
            <p:spPr bwMode="auto">
              <a:xfrm>
                <a:off x="2362200" y="2511623"/>
                <a:ext cx="685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Franklin Gothic Book" pitchFamily="34" charset="0"/>
                  </a:rPr>
                  <a:t>Error</a:t>
                </a:r>
              </a:p>
            </p:txBody>
          </p:sp>
          <p:sp>
            <p:nvSpPr>
              <p:cNvPr id="14" name="TextBox 59"/>
              <p:cNvSpPr txBox="1">
                <a:spLocks noChangeArrowheads="1"/>
              </p:cNvSpPr>
              <p:nvPr/>
            </p:nvSpPr>
            <p:spPr bwMode="auto">
              <a:xfrm>
                <a:off x="3733800" y="2296180"/>
                <a:ext cx="990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Franklin Gothic Book" pitchFamily="34" charset="0"/>
                  </a:rPr>
                  <a:t>Controlled Signal</a:t>
                </a:r>
              </a:p>
            </p:txBody>
          </p:sp>
          <p:sp>
            <p:nvSpPr>
              <p:cNvPr id="15" name="TextBox 68"/>
              <p:cNvSpPr txBox="1">
                <a:spLocks noChangeArrowheads="1"/>
              </p:cNvSpPr>
              <p:nvPr/>
            </p:nvSpPr>
            <p:spPr bwMode="auto">
              <a:xfrm>
                <a:off x="5715000" y="1718846"/>
                <a:ext cx="1371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Franklin Gothic Book" pitchFamily="34" charset="0"/>
                  </a:rPr>
                  <a:t>Disturbance</a:t>
                </a:r>
              </a:p>
            </p:txBody>
          </p:sp>
          <p:sp>
            <p:nvSpPr>
              <p:cNvPr id="16" name="TextBox 69"/>
              <p:cNvSpPr txBox="1">
                <a:spLocks noChangeArrowheads="1"/>
              </p:cNvSpPr>
              <p:nvPr/>
            </p:nvSpPr>
            <p:spPr bwMode="auto">
              <a:xfrm>
                <a:off x="4953000" y="2296180"/>
                <a:ext cx="1143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Franklin Gothic Book" pitchFamily="34" charset="0"/>
                  </a:rPr>
                  <a:t>Manipulated Variable</a:t>
                </a:r>
              </a:p>
            </p:txBody>
          </p:sp>
          <p:cxnSp>
            <p:nvCxnSpPr>
              <p:cNvPr id="17" name="Straight Arrow Connector 16"/>
              <p:cNvCxnSpPr/>
              <p:nvPr/>
            </p:nvCxnSpPr>
            <p:spPr>
              <a:xfrm rot="5400000">
                <a:off x="2284499" y="3199649"/>
                <a:ext cx="763416" cy="1587"/>
              </a:xfrm>
              <a:prstGeom prst="straightConnector1">
                <a:avLst/>
              </a:prstGeom>
              <a:noFill/>
              <a:ln w="9525" cap="flat" cmpd="sng" algn="ctr">
                <a:solidFill>
                  <a:srgbClr val="000000"/>
                </a:solidFill>
                <a:prstDash val="solid"/>
                <a:tailEnd type="arrow"/>
              </a:ln>
              <a:effectLst/>
            </p:spPr>
          </p:cxnSp>
          <p:cxnSp>
            <p:nvCxnSpPr>
              <p:cNvPr id="18" name="Straight Arrow Connector 17"/>
              <p:cNvCxnSpPr/>
              <p:nvPr/>
            </p:nvCxnSpPr>
            <p:spPr>
              <a:xfrm rot="5400000">
                <a:off x="3884699" y="3199649"/>
                <a:ext cx="763416" cy="1587"/>
              </a:xfrm>
              <a:prstGeom prst="straightConnector1">
                <a:avLst/>
              </a:prstGeom>
              <a:noFill/>
              <a:ln w="9525" cap="flat" cmpd="sng" algn="ctr">
                <a:solidFill>
                  <a:srgbClr val="000000"/>
                </a:solidFill>
                <a:prstDash val="solid"/>
                <a:tailEnd type="arrow"/>
              </a:ln>
              <a:effectLst/>
            </p:spPr>
          </p:cxnSp>
          <p:cxnSp>
            <p:nvCxnSpPr>
              <p:cNvPr id="19" name="Straight Arrow Connector 18"/>
              <p:cNvCxnSpPr/>
              <p:nvPr/>
            </p:nvCxnSpPr>
            <p:spPr>
              <a:xfrm rot="5400000">
                <a:off x="5408699" y="3199649"/>
                <a:ext cx="763416" cy="1587"/>
              </a:xfrm>
              <a:prstGeom prst="straightConnector1">
                <a:avLst/>
              </a:prstGeom>
              <a:noFill/>
              <a:ln w="9525" cap="flat" cmpd="sng" algn="ctr">
                <a:solidFill>
                  <a:srgbClr val="000000"/>
                </a:solidFill>
                <a:prstDash val="solid"/>
                <a:tailEnd type="arrow"/>
              </a:ln>
              <a:effectLst/>
            </p:spPr>
          </p:cxnSp>
          <p:cxnSp>
            <p:nvCxnSpPr>
              <p:cNvPr id="20" name="Straight Arrow Connector 19"/>
              <p:cNvCxnSpPr>
                <a:stCxn id="45" idx="0"/>
              </p:cNvCxnSpPr>
              <p:nvPr/>
            </p:nvCxnSpPr>
            <p:spPr>
              <a:xfrm rot="5400000" flipH="1" flipV="1">
                <a:off x="5755627" y="2702080"/>
                <a:ext cx="1291934" cy="1588"/>
              </a:xfrm>
              <a:prstGeom prst="straightConnector1">
                <a:avLst/>
              </a:prstGeom>
              <a:noFill/>
              <a:ln w="28575" cap="flat" cmpd="sng" algn="ctr">
                <a:solidFill>
                  <a:srgbClr val="000000"/>
                </a:solidFill>
                <a:prstDash val="solid"/>
                <a:headEnd type="triangle" w="lg" len="lg"/>
                <a:tailEnd type="none" w="lg" len="lg"/>
              </a:ln>
              <a:effectLst/>
            </p:spPr>
          </p:cxnSp>
          <p:sp>
            <p:nvSpPr>
              <p:cNvPr id="21" name="TextBox 83"/>
              <p:cNvSpPr txBox="1">
                <a:spLocks noChangeArrowheads="1"/>
              </p:cNvSpPr>
              <p:nvPr/>
            </p:nvSpPr>
            <p:spPr bwMode="auto">
              <a:xfrm>
                <a:off x="2854036" y="4919936"/>
                <a:ext cx="1905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Franklin Gothic Book" pitchFamily="34" charset="0"/>
                  </a:rPr>
                  <a:t>Feedback Signal</a:t>
                </a:r>
              </a:p>
            </p:txBody>
          </p:sp>
        </p:grpSp>
        <p:sp>
          <p:nvSpPr>
            <p:cNvPr id="8" name="TextBox 86"/>
            <p:cNvSpPr txBox="1">
              <a:spLocks noChangeArrowheads="1"/>
            </p:cNvSpPr>
            <p:nvPr/>
          </p:nvSpPr>
          <p:spPr bwMode="auto">
            <a:xfrm>
              <a:off x="1981200" y="3242846"/>
              <a:ext cx="304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Franklin Gothic Book" pitchFamily="34" charset="0"/>
                </a:rPr>
                <a:t>+</a:t>
              </a:r>
            </a:p>
          </p:txBody>
        </p:sp>
        <p:sp>
          <p:nvSpPr>
            <p:cNvPr id="9" name="TextBox 87"/>
            <p:cNvSpPr txBox="1">
              <a:spLocks noChangeArrowheads="1"/>
            </p:cNvSpPr>
            <p:nvPr/>
          </p:nvSpPr>
          <p:spPr bwMode="auto">
            <a:xfrm>
              <a:off x="2133600" y="3657600"/>
              <a:ext cx="304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Franklin Gothic Book" pitchFamily="34" charset="0"/>
                </a:rPr>
                <a:t>-</a:t>
              </a:r>
            </a:p>
          </p:txBody>
        </p:sp>
        <p:sp>
          <p:nvSpPr>
            <p:cNvPr id="10" name="TextBox 88"/>
            <p:cNvSpPr txBox="1">
              <a:spLocks noChangeArrowheads="1"/>
            </p:cNvSpPr>
            <p:nvPr/>
          </p:nvSpPr>
          <p:spPr bwMode="auto">
            <a:xfrm>
              <a:off x="6096000" y="3242846"/>
              <a:ext cx="304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Franklin Gothic Book" pitchFamily="34" charset="0"/>
                </a:rPr>
                <a:t>+</a:t>
              </a:r>
            </a:p>
          </p:txBody>
        </p:sp>
        <p:sp>
          <p:nvSpPr>
            <p:cNvPr id="11" name="TextBox 89"/>
            <p:cNvSpPr txBox="1">
              <a:spLocks noChangeArrowheads="1"/>
            </p:cNvSpPr>
            <p:nvPr/>
          </p:nvSpPr>
          <p:spPr bwMode="auto">
            <a:xfrm>
              <a:off x="6172200" y="3090446"/>
              <a:ext cx="304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itchFamily="18" charset="0"/>
                </a:defRPr>
              </a:lvl1pPr>
              <a:lvl2pPr marL="742950" indent="-285750" eaLnBrk="0" hangingPunct="0">
                <a:defRPr sz="2000">
                  <a:solidFill>
                    <a:schemeClr val="tx1"/>
                  </a:solidFill>
                  <a:latin typeface="Times New Roman" pitchFamily="18" charset="0"/>
                </a:defRPr>
              </a:lvl2pPr>
              <a:lvl3pPr marL="1143000" indent="-228600" eaLnBrk="0" hangingPunct="0">
                <a:defRPr sz="2000">
                  <a:solidFill>
                    <a:schemeClr val="tx1"/>
                  </a:solidFill>
                  <a:latin typeface="Times New Roman" pitchFamily="18" charset="0"/>
                </a:defRPr>
              </a:lvl3pPr>
              <a:lvl4pPr marL="1600200" indent="-228600" eaLnBrk="0" hangingPunct="0">
                <a:defRPr sz="2000">
                  <a:solidFill>
                    <a:schemeClr val="tx1"/>
                  </a:solidFill>
                  <a:latin typeface="Times New Roman" pitchFamily="18" charset="0"/>
                </a:defRPr>
              </a:lvl4pPr>
              <a:lvl5pPr marL="2057400" indent="-228600" eaLnBrk="0" hangingPunct="0">
                <a:defRPr sz="2000">
                  <a:solidFill>
                    <a:schemeClr val="tx1"/>
                  </a:solidFill>
                  <a:latin typeface="Times New Roman" pitchFamily="18" charset="0"/>
                </a:defRPr>
              </a:lvl5pPr>
              <a:lvl6pPr marL="2514600" indent="-228600" eaLnBrk="0" fontAlgn="base" hangingPunct="0">
                <a:spcBef>
                  <a:spcPct val="0"/>
                </a:spcBef>
                <a:spcAft>
                  <a:spcPct val="0"/>
                </a:spcAft>
                <a:defRPr sz="2000">
                  <a:solidFill>
                    <a:schemeClr val="tx1"/>
                  </a:solidFill>
                  <a:latin typeface="Times New Roman" pitchFamily="18" charset="0"/>
                </a:defRPr>
              </a:lvl6pPr>
              <a:lvl7pPr marL="2971800" indent="-228600" eaLnBrk="0" fontAlgn="base" hangingPunct="0">
                <a:spcBef>
                  <a:spcPct val="0"/>
                </a:spcBef>
                <a:spcAft>
                  <a:spcPct val="0"/>
                </a:spcAft>
                <a:defRPr sz="2000">
                  <a:solidFill>
                    <a:schemeClr val="tx1"/>
                  </a:solidFill>
                  <a:latin typeface="Times New Roman" pitchFamily="18" charset="0"/>
                </a:defRPr>
              </a:lvl7pPr>
              <a:lvl8pPr marL="3429000" indent="-228600" eaLnBrk="0" fontAlgn="base" hangingPunct="0">
                <a:spcBef>
                  <a:spcPct val="0"/>
                </a:spcBef>
                <a:spcAft>
                  <a:spcPct val="0"/>
                </a:spcAft>
                <a:defRPr sz="2000">
                  <a:solidFill>
                    <a:schemeClr val="tx1"/>
                  </a:solidFill>
                  <a:latin typeface="Times New Roman" pitchFamily="18" charset="0"/>
                </a:defRPr>
              </a:lvl8pPr>
              <a:lvl9pPr marL="3886200" indent="-228600" eaLnBrk="0" fontAlgn="base" hangingPunct="0">
                <a:spcBef>
                  <a:spcPct val="0"/>
                </a:spcBef>
                <a:spcAft>
                  <a:spcPct val="0"/>
                </a:spcAft>
                <a:defRPr sz="2000">
                  <a:solidFill>
                    <a:schemeClr val="tx1"/>
                  </a:solidFill>
                  <a:latin typeface="Times New Roman" pitchFamily="18"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Franklin Gothic Book" pitchFamily="34" charset="0"/>
                </a:rPr>
                <a:t>+</a:t>
              </a:r>
            </a:p>
          </p:txBody>
        </p:sp>
      </p:grpSp>
    </p:spTree>
    <p:extLst>
      <p:ext uri="{BB962C8B-B14F-4D97-AF65-F5344CB8AC3E}">
        <p14:creationId xmlns:p14="http://schemas.microsoft.com/office/powerpoint/2010/main" val="2557886369"/>
      </p:ext>
    </p:extLst>
  </p:cSld>
  <p:clrMapOvr>
    <a:masterClrMapping/>
  </p:clrMapOvr>
  <p:transition spd="slow">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73EDECB-2FAA-459C-97B3-E12F4C12D356}" type="slidenum">
              <a:rPr lang="en-US" smtClean="0"/>
              <a:t>21</a:t>
            </a:fld>
            <a:endParaRPr lang="en-US"/>
          </a:p>
        </p:txBody>
      </p:sp>
      <p:sp>
        <p:nvSpPr>
          <p:cNvPr id="5" name="Title 4"/>
          <p:cNvSpPr>
            <a:spLocks noGrp="1"/>
          </p:cNvSpPr>
          <p:nvPr>
            <p:ph type="title"/>
          </p:nvPr>
        </p:nvSpPr>
        <p:spPr>
          <a:xfrm>
            <a:off x="457200" y="274638"/>
            <a:ext cx="8229600" cy="715962"/>
          </a:xfrm>
        </p:spPr>
        <p:txBody>
          <a:bodyPr>
            <a:normAutofit/>
          </a:bodyPr>
          <a:lstStyle/>
          <a:p>
            <a:r>
              <a:rPr lang="en-US" sz="3200" dirty="0">
                <a:solidFill>
                  <a:schemeClr val="tx1"/>
                </a:solidFill>
                <a:effectLst/>
                <a:latin typeface="Book Antiqua" pitchFamily="18" charset="0"/>
              </a:rPr>
              <a:t>Cont.. </a:t>
            </a:r>
          </a:p>
        </p:txBody>
      </p:sp>
      <p:sp>
        <p:nvSpPr>
          <p:cNvPr id="8" name="Content Placeholder 7"/>
          <p:cNvSpPr>
            <a:spLocks noGrp="1"/>
          </p:cNvSpPr>
          <p:nvPr>
            <p:ph idx="1"/>
          </p:nvPr>
        </p:nvSpPr>
        <p:spPr>
          <a:xfrm>
            <a:off x="381000" y="1143000"/>
            <a:ext cx="8229600" cy="4525963"/>
          </a:xfrm>
        </p:spPr>
        <p:txBody>
          <a:bodyPr>
            <a:normAutofit/>
          </a:bodyPr>
          <a:lstStyle/>
          <a:p>
            <a:pPr marL="109728" indent="0" algn="ctr">
              <a:buNone/>
            </a:pPr>
            <a:r>
              <a:rPr lang="en-US" sz="2400" b="1" dirty="0">
                <a:latin typeface="Book Antiqua" pitchFamily="18" charset="0"/>
              </a:rPr>
              <a:t>Closed-loop </a:t>
            </a:r>
            <a:r>
              <a:rPr lang="en-US" sz="2400" b="1" dirty="0" err="1">
                <a:latin typeface="Book Antiqua" pitchFamily="18" charset="0"/>
              </a:rPr>
              <a:t>Vs</a:t>
            </a:r>
            <a:r>
              <a:rPr lang="en-US" sz="2400" b="1" dirty="0">
                <a:latin typeface="Book Antiqua" pitchFamily="18" charset="0"/>
              </a:rPr>
              <a:t> open-loop control systems</a:t>
            </a:r>
          </a:p>
          <a:p>
            <a:pPr marL="109728" indent="0">
              <a:buClrTx/>
              <a:buNone/>
            </a:pPr>
            <a:r>
              <a:rPr lang="en-US" sz="2400" b="1" dirty="0">
                <a:latin typeface="Book Antiqua" pitchFamily="18" charset="0"/>
              </a:rPr>
              <a:t>An advantage </a:t>
            </a:r>
            <a:r>
              <a:rPr lang="en-US" sz="2400" dirty="0">
                <a:latin typeface="Book Antiqua" pitchFamily="18" charset="0"/>
              </a:rPr>
              <a:t>of the closed-loop control system is the fact that the use of feedback makes the system response relatively insensitive to the external disturbances and internal variation is system parameter</a:t>
            </a:r>
          </a:p>
          <a:p>
            <a:pPr marL="109728" indent="0">
              <a:buNone/>
            </a:pPr>
            <a:r>
              <a:rPr lang="en-US" sz="2400" dirty="0">
                <a:latin typeface="Book Antiqua" pitchFamily="18" charset="0"/>
              </a:rPr>
              <a:t>Generally, closed-loop control system have advantages only when unpredictable disturbances and/or unpredictable variations in the system components are present</a:t>
            </a:r>
          </a:p>
          <a:p>
            <a:pPr marL="109728" indent="0">
              <a:buNone/>
            </a:pPr>
            <a:endParaRPr lang="en-US" sz="2400" dirty="0">
              <a:latin typeface="Book Antiqua" pitchFamily="18" charset="0"/>
            </a:endParaRPr>
          </a:p>
          <a:p>
            <a:pPr marL="109728" indent="0">
              <a:buNone/>
            </a:pPr>
            <a:r>
              <a:rPr lang="en-US" sz="2400" b="1" dirty="0">
                <a:latin typeface="Book Antiqua" pitchFamily="18" charset="0"/>
              </a:rPr>
              <a:t>Disadvantage</a:t>
            </a:r>
            <a:r>
              <a:rPr lang="en-US" sz="2400" dirty="0">
                <a:latin typeface="Book Antiqua" pitchFamily="18" charset="0"/>
              </a:rPr>
              <a:t>: complicated in design, expensive,</a:t>
            </a:r>
          </a:p>
        </p:txBody>
      </p:sp>
    </p:spTree>
    <p:extLst>
      <p:ext uri="{BB962C8B-B14F-4D97-AF65-F5344CB8AC3E}">
        <p14:creationId xmlns:p14="http://schemas.microsoft.com/office/powerpoint/2010/main" val="2277747473"/>
      </p:ext>
    </p:extLst>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715000"/>
          </a:xfrm>
        </p:spPr>
        <p:txBody>
          <a:bodyPr>
            <a:normAutofit fontScale="92500" lnSpcReduction="20000"/>
          </a:bodyPr>
          <a:lstStyle/>
          <a:p>
            <a:pPr marL="109728" indent="0">
              <a:buNone/>
            </a:pPr>
            <a:r>
              <a:rPr lang="en-US" sz="2400" b="1" dirty="0">
                <a:latin typeface="Book Antiqua" pitchFamily="18" charset="0"/>
              </a:rPr>
              <a:t>The major advantages of an open-loop are:</a:t>
            </a:r>
          </a:p>
          <a:p>
            <a:pPr marL="1175004" lvl="2" indent="-571500">
              <a:buClrTx/>
              <a:buFont typeface="+mj-lt"/>
              <a:buAutoNum type="romanLcPeriod"/>
            </a:pPr>
            <a:r>
              <a:rPr lang="en-US" sz="2400" dirty="0">
                <a:latin typeface="Book Antiqua" pitchFamily="18" charset="0"/>
              </a:rPr>
              <a:t>Simple in construction and easy in maintenance</a:t>
            </a:r>
          </a:p>
          <a:p>
            <a:pPr marL="1175004" lvl="2" indent="-571500">
              <a:buClrTx/>
              <a:buFont typeface="+mj-lt"/>
              <a:buAutoNum type="romanLcPeriod"/>
            </a:pPr>
            <a:r>
              <a:rPr lang="en-US" sz="2400" dirty="0">
                <a:latin typeface="Book Antiqua" pitchFamily="18" charset="0"/>
              </a:rPr>
              <a:t>Less expensive</a:t>
            </a:r>
          </a:p>
          <a:p>
            <a:pPr marL="1175004" lvl="2" indent="-571500">
              <a:buClrTx/>
              <a:buFont typeface="+mj-lt"/>
              <a:buAutoNum type="romanLcPeriod"/>
            </a:pPr>
            <a:r>
              <a:rPr lang="en-US" sz="2400" dirty="0">
                <a:latin typeface="Book Antiqua" pitchFamily="18" charset="0"/>
              </a:rPr>
              <a:t>Actions performed by the control system are simple</a:t>
            </a:r>
          </a:p>
          <a:p>
            <a:pPr marL="1175004" lvl="2" indent="-571500">
              <a:buClrTx/>
              <a:buFont typeface="+mj-lt"/>
              <a:buAutoNum type="romanLcPeriod"/>
            </a:pPr>
            <a:r>
              <a:rPr lang="en-US" sz="2400" dirty="0">
                <a:latin typeface="Book Antiqua" pitchFamily="18" charset="0"/>
              </a:rPr>
              <a:t>Actuating function is very reliable</a:t>
            </a:r>
          </a:p>
          <a:p>
            <a:pPr marL="1175004" lvl="2" indent="-571500">
              <a:buClrTx/>
              <a:buFont typeface="+mj-lt"/>
              <a:buAutoNum type="romanLcPeriod"/>
            </a:pPr>
            <a:r>
              <a:rPr lang="en-US" sz="2400" dirty="0">
                <a:latin typeface="Book Antiqua" pitchFamily="18" charset="0"/>
              </a:rPr>
              <a:t>There is no stability problem</a:t>
            </a:r>
          </a:p>
          <a:p>
            <a:pPr marL="1175004" lvl="2" indent="-571500">
              <a:buClrTx/>
              <a:buFont typeface="+mj-lt"/>
              <a:buAutoNum type="romanLcPeriod"/>
            </a:pPr>
            <a:r>
              <a:rPr lang="en-US" sz="2400" dirty="0">
                <a:latin typeface="Book Antiqua" pitchFamily="18" charset="0"/>
              </a:rPr>
              <a:t>Convenient when the output is hard to measure or measuring the output is precisely not feasible economically, </a:t>
            </a:r>
            <a:r>
              <a:rPr lang="en-US" sz="2400" dirty="0" err="1">
                <a:latin typeface="Book Antiqua" pitchFamily="18" charset="0"/>
              </a:rPr>
              <a:t>eg</a:t>
            </a:r>
            <a:r>
              <a:rPr lang="en-US" sz="2400" dirty="0">
                <a:latin typeface="Book Antiqua" pitchFamily="18" charset="0"/>
              </a:rPr>
              <a:t> in washer system  </a:t>
            </a:r>
          </a:p>
          <a:p>
            <a:pPr marL="109728" indent="0">
              <a:buClrTx/>
              <a:buNone/>
            </a:pPr>
            <a:r>
              <a:rPr lang="en-US" sz="2400" dirty="0">
                <a:latin typeface="Book Antiqua" pitchFamily="18" charset="0"/>
              </a:rPr>
              <a:t>If these conditions do not apply, then a closed-loop control system should be used</a:t>
            </a:r>
          </a:p>
          <a:p>
            <a:pPr marL="603504" lvl="2" indent="0">
              <a:buClrTx/>
              <a:buNone/>
            </a:pPr>
            <a:endParaRPr lang="en-US" sz="2400" dirty="0">
              <a:latin typeface="Book Antiqua" pitchFamily="18" charset="0"/>
            </a:endParaRPr>
          </a:p>
          <a:p>
            <a:pPr marL="109728" lvl="0" indent="0">
              <a:buClr>
                <a:srgbClr val="2DA2BF"/>
              </a:buClr>
              <a:buNone/>
            </a:pPr>
            <a:r>
              <a:rPr lang="en-US" sz="2400" dirty="0">
                <a:latin typeface="Book Antiqua" pitchFamily="18" charset="0"/>
              </a:rPr>
              <a:t> </a:t>
            </a:r>
            <a:r>
              <a:rPr lang="en-US" sz="2400" b="1" dirty="0">
                <a:latin typeface="Book Antiqua" pitchFamily="18" charset="0"/>
              </a:rPr>
              <a:t>T</a:t>
            </a:r>
            <a:r>
              <a:rPr lang="en-US" sz="2400" b="1" dirty="0">
                <a:solidFill>
                  <a:prstClr val="black"/>
                </a:solidFill>
                <a:latin typeface="Book Antiqua" pitchFamily="18" charset="0"/>
              </a:rPr>
              <a:t>he major disadvantages are:</a:t>
            </a:r>
          </a:p>
          <a:p>
            <a:pPr marL="1175004" lvl="2" indent="-571500">
              <a:buClrTx/>
              <a:buFont typeface="+mj-lt"/>
              <a:buAutoNum type="romanLcPeriod"/>
            </a:pPr>
            <a:r>
              <a:rPr lang="en-US" sz="2400" dirty="0">
                <a:solidFill>
                  <a:prstClr val="black"/>
                </a:solidFill>
                <a:latin typeface="Book Antiqua" pitchFamily="18" charset="0"/>
              </a:rPr>
              <a:t>Disturbances and changes in calibration cause errors, and the output may be different from the desired one</a:t>
            </a:r>
          </a:p>
          <a:p>
            <a:pPr marL="1175004" lvl="2" indent="-571500">
              <a:buClrTx/>
              <a:buFont typeface="+mj-lt"/>
              <a:buAutoNum type="romanLcPeriod"/>
            </a:pPr>
            <a:r>
              <a:rPr lang="en-US" sz="2400" dirty="0">
                <a:solidFill>
                  <a:prstClr val="black"/>
                </a:solidFill>
                <a:latin typeface="Book Antiqua" pitchFamily="18" charset="0"/>
              </a:rPr>
              <a:t>To maintain the required quality in the output, the recalibration is necessary from time to time</a:t>
            </a:r>
          </a:p>
          <a:p>
            <a:pPr marL="1175004" lvl="2" indent="-571500">
              <a:buClrTx/>
              <a:buFont typeface="+mj-lt"/>
              <a:buAutoNum type="romanLcPeriod"/>
            </a:pPr>
            <a:r>
              <a:rPr lang="en-US" sz="2200" kern="0" dirty="0">
                <a:solidFill>
                  <a:srgbClr val="000000"/>
                </a:solidFill>
                <a:latin typeface="Book Antiqua" pitchFamily="18" charset="0"/>
              </a:rPr>
              <a:t>Risk that the actuator will not have the intended effect</a:t>
            </a:r>
          </a:p>
          <a:p>
            <a:pPr marL="1175004" lvl="2" indent="-571500">
              <a:buClrTx/>
              <a:buFont typeface="+mj-lt"/>
              <a:buAutoNum type="romanLcPeriod"/>
            </a:pPr>
            <a:endParaRPr lang="en-US" sz="2400" dirty="0">
              <a:solidFill>
                <a:prstClr val="black"/>
              </a:solidFill>
              <a:latin typeface="Book Antiqua" pitchFamily="18" charset="0"/>
            </a:endParaRPr>
          </a:p>
          <a:p>
            <a:pPr marL="109728" indent="0">
              <a:buNone/>
            </a:pPr>
            <a:endParaRPr lang="en-US" sz="2400" dirty="0">
              <a:latin typeface="Book Antiqua" pitchFamily="18" charset="0"/>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22</a:t>
            </a:fld>
            <a:endParaRPr lang="en-US"/>
          </a:p>
        </p:txBody>
      </p:sp>
      <p:sp>
        <p:nvSpPr>
          <p:cNvPr id="5" name="Title 4"/>
          <p:cNvSpPr>
            <a:spLocks noGrp="1"/>
          </p:cNvSpPr>
          <p:nvPr>
            <p:ph type="title"/>
          </p:nvPr>
        </p:nvSpPr>
        <p:spPr>
          <a:xfrm>
            <a:off x="457200" y="0"/>
            <a:ext cx="8229600" cy="7159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3466487253"/>
      </p:ext>
    </p:extLst>
  </p:cSld>
  <p:clrMapOvr>
    <a:masterClrMapping/>
  </p:clrMapOvr>
  <p:transition spd="slow">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5257800"/>
          </a:xfrm>
        </p:spPr>
        <p:txBody>
          <a:bodyPr>
            <a:noAutofit/>
          </a:bodyPr>
          <a:lstStyle/>
          <a:p>
            <a:pPr marL="393192" lvl="1" indent="0">
              <a:buClrTx/>
              <a:buNone/>
            </a:pPr>
            <a:r>
              <a:rPr lang="en-US" sz="2400" dirty="0">
                <a:solidFill>
                  <a:prstClr val="black"/>
                </a:solidFill>
                <a:latin typeface="Book Antiqua" pitchFamily="18" charset="0"/>
              </a:rPr>
              <a:t>Manual</a:t>
            </a:r>
          </a:p>
          <a:p>
            <a:pPr marL="393192" lvl="1" indent="0">
              <a:buClrTx/>
              <a:buNone/>
            </a:pPr>
            <a:r>
              <a:rPr lang="en-US" sz="2400" dirty="0">
                <a:solidFill>
                  <a:prstClr val="black"/>
                </a:solidFill>
                <a:latin typeface="Book Antiqua" pitchFamily="18" charset="0"/>
              </a:rPr>
              <a:t>Semi automated control system</a:t>
            </a:r>
          </a:p>
          <a:p>
            <a:pPr marL="393192" lvl="1" indent="0">
              <a:buClrTx/>
              <a:buNone/>
            </a:pPr>
            <a:r>
              <a:rPr lang="en-US" sz="2400" dirty="0">
                <a:solidFill>
                  <a:prstClr val="black"/>
                </a:solidFill>
                <a:latin typeface="Book Antiqua" pitchFamily="18" charset="0"/>
              </a:rPr>
              <a:t>Full automated control system</a:t>
            </a:r>
            <a:endParaRPr lang="en-US" sz="2400" kern="0" dirty="0">
              <a:latin typeface="Book Antiqua" pitchFamily="18" charset="0"/>
            </a:endParaRPr>
          </a:p>
          <a:p>
            <a:pPr marL="342900" lvl="0" indent="-342900" algn="just" fontAlgn="base">
              <a:spcBef>
                <a:spcPct val="20000"/>
              </a:spcBef>
              <a:spcAft>
                <a:spcPct val="0"/>
              </a:spcAft>
              <a:buClrTx/>
              <a:buSzTx/>
              <a:buFont typeface="Wingdings" pitchFamily="2" charset="2"/>
              <a:buChar char="Ø"/>
            </a:pPr>
            <a:r>
              <a:rPr lang="en-US" sz="2400" kern="0" dirty="0">
                <a:latin typeface="Book Antiqua" pitchFamily="18" charset="0"/>
              </a:rPr>
              <a:t>Control is a process of causing a system variable such as temperature to conform to some desired value or trajectory, called reference value or trajectory.</a:t>
            </a:r>
          </a:p>
          <a:p>
            <a:pPr marL="342900" lvl="0" indent="-342900" algn="just" fontAlgn="base">
              <a:spcBef>
                <a:spcPct val="20000"/>
              </a:spcBef>
              <a:spcAft>
                <a:spcPct val="0"/>
              </a:spcAft>
              <a:buClrTx/>
              <a:buSzTx/>
              <a:buFont typeface="Wingdings" pitchFamily="2" charset="2"/>
              <a:buChar char="Ø"/>
            </a:pPr>
            <a:r>
              <a:rPr lang="en-US" sz="2400" kern="0" dirty="0">
                <a:latin typeface="Book Antiqua" pitchFamily="18" charset="0"/>
              </a:rPr>
              <a:t>For example, driving a car implies controlling the vehicle to follow the desired path to arrive safely at a planned destination.</a:t>
            </a:r>
          </a:p>
          <a:p>
            <a:pPr marL="915988" lvl="1" indent="-514350" algn="just" fontAlgn="base">
              <a:spcBef>
                <a:spcPct val="20000"/>
              </a:spcBef>
              <a:spcAft>
                <a:spcPct val="0"/>
              </a:spcAft>
              <a:buClrTx/>
              <a:buFont typeface="Franklin Gothic Medium" pitchFamily="34" charset="0"/>
              <a:buAutoNum type="romanLcPeriod"/>
            </a:pPr>
            <a:r>
              <a:rPr lang="en-US" sz="2400" kern="0" dirty="0">
                <a:latin typeface="Book Antiqua" pitchFamily="18" charset="0"/>
              </a:rPr>
              <a:t>If you are driving the car yourself, you are performing </a:t>
            </a:r>
            <a:r>
              <a:rPr lang="en-US" sz="2400" b="1" kern="0" dirty="0">
                <a:latin typeface="Book Antiqua" pitchFamily="18" charset="0"/>
              </a:rPr>
              <a:t>manual </a:t>
            </a:r>
            <a:r>
              <a:rPr lang="en-US" sz="2400" kern="0" dirty="0">
                <a:latin typeface="Book Antiqua" pitchFamily="18" charset="0"/>
              </a:rPr>
              <a:t>control of the car.</a:t>
            </a:r>
          </a:p>
          <a:p>
            <a:pPr marL="915988" lvl="1" indent="-514350" algn="just" fontAlgn="base">
              <a:spcBef>
                <a:spcPct val="20000"/>
              </a:spcBef>
              <a:spcAft>
                <a:spcPct val="0"/>
              </a:spcAft>
              <a:buClrTx/>
              <a:buFont typeface="Franklin Gothic Medium" pitchFamily="34" charset="0"/>
              <a:buAutoNum type="romanLcPeriod"/>
            </a:pPr>
            <a:r>
              <a:rPr lang="en-US" sz="2400" kern="0" dirty="0">
                <a:latin typeface="Book Antiqua" pitchFamily="18" charset="0"/>
              </a:rPr>
              <a:t>If you use design a machine, or use a computer to do it, then you have built an </a:t>
            </a:r>
            <a:r>
              <a:rPr lang="en-US" sz="2400" b="1" kern="0" dirty="0">
                <a:latin typeface="Book Antiqua" pitchFamily="18" charset="0"/>
              </a:rPr>
              <a:t>automatic</a:t>
            </a:r>
            <a:r>
              <a:rPr lang="en-US" sz="2400" kern="0" dirty="0">
                <a:latin typeface="Book Antiqua" pitchFamily="18" charset="0"/>
              </a:rPr>
              <a:t> control system.</a:t>
            </a:r>
          </a:p>
          <a:p>
            <a:pPr algn="just"/>
            <a:endParaRPr lang="en-US" sz="2400" dirty="0"/>
          </a:p>
        </p:txBody>
      </p:sp>
      <p:sp>
        <p:nvSpPr>
          <p:cNvPr id="4" name="Slide Number Placeholder 3"/>
          <p:cNvSpPr>
            <a:spLocks noGrp="1"/>
          </p:cNvSpPr>
          <p:nvPr>
            <p:ph type="sldNum" sz="quarter" idx="12"/>
          </p:nvPr>
        </p:nvSpPr>
        <p:spPr/>
        <p:txBody>
          <a:bodyPr/>
          <a:lstStyle/>
          <a:p>
            <a:fld id="{573EDECB-2FAA-459C-97B3-E12F4C12D356}" type="slidenum">
              <a:rPr lang="en-US" smtClean="0"/>
              <a:t>23</a:t>
            </a:fld>
            <a:endParaRPr lang="en-US"/>
          </a:p>
        </p:txBody>
      </p:sp>
      <p:sp>
        <p:nvSpPr>
          <p:cNvPr id="5" name="Title 4"/>
          <p:cNvSpPr>
            <a:spLocks noGrp="1"/>
          </p:cNvSpPr>
          <p:nvPr>
            <p:ph type="title"/>
          </p:nvPr>
        </p:nvSpPr>
        <p:spPr>
          <a:xfrm>
            <a:off x="457200" y="274638"/>
            <a:ext cx="8229600" cy="792162"/>
          </a:xfrm>
        </p:spPr>
        <p:txBody>
          <a:bodyPr>
            <a:normAutofit/>
          </a:bodyPr>
          <a:lstStyle/>
          <a:p>
            <a:pPr marL="365760" lvl="0" indent="-256032" algn="just">
              <a:spcBef>
                <a:spcPts val="400"/>
              </a:spcBef>
            </a:pPr>
            <a:r>
              <a:rPr lang="en-US" sz="3200" dirty="0">
                <a:solidFill>
                  <a:schemeClr val="tx1"/>
                </a:solidFill>
                <a:effectLst/>
                <a:latin typeface="Book Antiqua" pitchFamily="18" charset="0"/>
              </a:rPr>
              <a:t>B. Manual and automatic control systems</a:t>
            </a:r>
          </a:p>
        </p:txBody>
      </p:sp>
    </p:spTree>
    <p:extLst>
      <p:ext uri="{BB962C8B-B14F-4D97-AF65-F5344CB8AC3E}">
        <p14:creationId xmlns:p14="http://schemas.microsoft.com/office/powerpoint/2010/main" val="1857661799"/>
      </p:ext>
    </p:extLst>
  </p:cSld>
  <p:clrMapOvr>
    <a:masterClrMapping/>
  </p:clrMapOvr>
  <p:transition spd="slow">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5029200"/>
          </a:xfrm>
        </p:spPr>
        <p:txBody>
          <a:bodyPr/>
          <a:lstStyle/>
          <a:p>
            <a:pPr lvl="0">
              <a:buClrTx/>
            </a:pPr>
            <a:r>
              <a:rPr lang="en-US" sz="2400" b="1" dirty="0">
                <a:solidFill>
                  <a:prstClr val="black"/>
                </a:solidFill>
                <a:latin typeface="Book Antiqua" pitchFamily="18" charset="0"/>
              </a:rPr>
              <a:t>Automation: </a:t>
            </a:r>
            <a:r>
              <a:rPr lang="en-US" sz="2400" dirty="0">
                <a:solidFill>
                  <a:prstClr val="black"/>
                </a:solidFill>
                <a:latin typeface="Book Antiqua" pitchFamily="18" charset="0"/>
              </a:rPr>
              <a:t>is the technology by which a process or procedure is accomplished without human assistance.</a:t>
            </a:r>
          </a:p>
          <a:p>
            <a:pPr marL="0" lvl="0" indent="0" algn="ctr" fontAlgn="base">
              <a:spcBef>
                <a:spcPct val="20000"/>
              </a:spcBef>
              <a:spcAft>
                <a:spcPct val="0"/>
              </a:spcAft>
              <a:buClr>
                <a:srgbClr val="FF0066"/>
              </a:buClr>
              <a:buSzTx/>
              <a:buNone/>
            </a:pPr>
            <a:r>
              <a:rPr lang="en-US" sz="2400" b="1" kern="0" dirty="0">
                <a:solidFill>
                  <a:srgbClr val="000000"/>
                </a:solidFill>
                <a:latin typeface="Book Antiqua" pitchFamily="18" charset="0"/>
              </a:rPr>
              <a:t>Basic elements of an automated system</a:t>
            </a:r>
            <a:endParaRPr lang="en-US" sz="2400" b="1" dirty="0">
              <a:solidFill>
                <a:prstClr val="black"/>
              </a:solidFill>
              <a:latin typeface="Book Antiqua" pitchFamily="18" charset="0"/>
            </a:endParaRPr>
          </a:p>
          <a:p>
            <a:pPr marL="1915668" lvl="5" indent="-571500">
              <a:buClrTx/>
              <a:buFont typeface="+mj-lt"/>
              <a:buAutoNum type="romanLcPeriod"/>
            </a:pPr>
            <a:r>
              <a:rPr lang="en-US" sz="2400" dirty="0">
                <a:solidFill>
                  <a:prstClr val="black"/>
                </a:solidFill>
                <a:latin typeface="Book Antiqua" pitchFamily="18" charset="0"/>
              </a:rPr>
              <a:t>Power - to accomplish the process and operate the automated system</a:t>
            </a:r>
          </a:p>
          <a:p>
            <a:pPr marL="1915668" lvl="5" indent="-571500">
              <a:buClrTx/>
              <a:buFont typeface="+mj-lt"/>
              <a:buAutoNum type="romanLcPeriod"/>
            </a:pPr>
            <a:r>
              <a:rPr lang="en-US" sz="2400" dirty="0">
                <a:solidFill>
                  <a:prstClr val="black"/>
                </a:solidFill>
                <a:latin typeface="Book Antiqua" pitchFamily="18" charset="0"/>
              </a:rPr>
              <a:t>Program of instructions – to direct the process</a:t>
            </a: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24</a:t>
            </a:fld>
            <a:endParaRPr lang="en-US"/>
          </a:p>
        </p:txBody>
      </p:sp>
      <p:sp>
        <p:nvSpPr>
          <p:cNvPr id="5" name="Title 4"/>
          <p:cNvSpPr>
            <a:spLocks noGrp="1"/>
          </p:cNvSpPr>
          <p:nvPr>
            <p:ph type="title"/>
          </p:nvPr>
        </p:nvSpPr>
        <p:spPr>
          <a:xfrm>
            <a:off x="457200" y="274638"/>
            <a:ext cx="8229600" cy="715962"/>
          </a:xfrm>
        </p:spPr>
        <p:txBody>
          <a:bodyPr>
            <a:normAutofit/>
          </a:bodyPr>
          <a:lstStyle/>
          <a:p>
            <a:r>
              <a:rPr lang="en-US" sz="3200" dirty="0">
                <a:solidFill>
                  <a:schemeClr val="tx1"/>
                </a:solidFill>
                <a:effectLst/>
                <a:latin typeface="Book Antiqua" pitchFamily="18" charset="0"/>
              </a:rPr>
              <a:t>Cont.. </a:t>
            </a:r>
          </a:p>
        </p:txBody>
      </p:sp>
      <p:pic>
        <p:nvPicPr>
          <p:cNvPr id="6" name="Picture 2052" descr="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038600"/>
            <a:ext cx="8153400"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0256168"/>
      </p:ext>
    </p:extLst>
  </p:cSld>
  <p:clrMapOvr>
    <a:masterClrMapping/>
  </p:clrMapOvr>
  <p:transition spd="slow">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5334000"/>
          </a:xfrm>
        </p:spPr>
        <p:txBody>
          <a:bodyPr>
            <a:normAutofit fontScale="92500" lnSpcReduction="10000"/>
          </a:bodyPr>
          <a:lstStyle/>
          <a:p>
            <a:pPr marL="109728" lvl="0" indent="0">
              <a:buClr>
                <a:srgbClr val="2DA2BF"/>
              </a:buClr>
              <a:buNone/>
            </a:pPr>
            <a:r>
              <a:rPr lang="en-US" sz="2800" b="1" kern="0" dirty="0">
                <a:solidFill>
                  <a:prstClr val="black"/>
                </a:solidFill>
                <a:latin typeface="Book Antiqua" pitchFamily="18" charset="0"/>
              </a:rPr>
              <a:t>Power Source</a:t>
            </a:r>
          </a:p>
          <a:p>
            <a:pPr marL="950976" lvl="2" indent="-457200" fontAlgn="base">
              <a:spcBef>
                <a:spcPct val="20000"/>
              </a:spcBef>
              <a:spcAft>
                <a:spcPct val="0"/>
              </a:spcAft>
              <a:buClrTx/>
              <a:buFont typeface="Wingdings" pitchFamily="2" charset="2"/>
              <a:buChar char="Ø"/>
            </a:pPr>
            <a:r>
              <a:rPr lang="en-US" sz="2400" kern="0" dirty="0">
                <a:solidFill>
                  <a:prstClr val="black"/>
                </a:solidFill>
                <a:latin typeface="Book Antiqua" pitchFamily="18" charset="0"/>
              </a:rPr>
              <a:t>Widely available at moderate cost</a:t>
            </a:r>
          </a:p>
          <a:p>
            <a:pPr marL="950976" lvl="2" indent="-457200" fontAlgn="base">
              <a:spcBef>
                <a:spcPct val="20000"/>
              </a:spcBef>
              <a:spcAft>
                <a:spcPct val="0"/>
              </a:spcAft>
              <a:buClrTx/>
              <a:buFont typeface="Wingdings" pitchFamily="2" charset="2"/>
              <a:buChar char="Ø"/>
            </a:pPr>
            <a:r>
              <a:rPr lang="en-US" sz="2400" kern="0" dirty="0">
                <a:solidFill>
                  <a:prstClr val="black"/>
                </a:solidFill>
                <a:latin typeface="Book Antiqua" pitchFamily="18" charset="0"/>
              </a:rPr>
              <a:t>Can be readily converted to alternative forms, e.g., mechanical, thermal, light, etc.</a:t>
            </a:r>
          </a:p>
          <a:p>
            <a:pPr marL="950976" lvl="2" indent="-457200" fontAlgn="base">
              <a:spcBef>
                <a:spcPct val="20000"/>
              </a:spcBef>
              <a:spcAft>
                <a:spcPct val="0"/>
              </a:spcAft>
              <a:buClrTx/>
              <a:buFont typeface="Wingdings" pitchFamily="2" charset="2"/>
              <a:buChar char="Ø"/>
            </a:pPr>
            <a:r>
              <a:rPr lang="en-US" sz="2400" kern="0" dirty="0">
                <a:solidFill>
                  <a:prstClr val="black"/>
                </a:solidFill>
                <a:latin typeface="Book Antiqua" pitchFamily="18" charset="0"/>
              </a:rPr>
              <a:t>Low level power can be used for signal transmission, data processing, and communication</a:t>
            </a:r>
          </a:p>
          <a:p>
            <a:pPr marL="514350" lvl="0" indent="-514350" fontAlgn="base">
              <a:spcBef>
                <a:spcPct val="20000"/>
              </a:spcBef>
              <a:spcAft>
                <a:spcPct val="0"/>
              </a:spcAft>
              <a:buClrTx/>
              <a:buSzTx/>
              <a:buFont typeface="+mj-lt"/>
              <a:buAutoNum type="alphaUcPeriod"/>
            </a:pPr>
            <a:r>
              <a:rPr lang="en-US" sz="2400" b="1" kern="0" dirty="0">
                <a:solidFill>
                  <a:prstClr val="black"/>
                </a:solidFill>
                <a:latin typeface="Book Antiqua" pitchFamily="18" charset="0"/>
              </a:rPr>
              <a:t>Power for the process</a:t>
            </a:r>
          </a:p>
          <a:p>
            <a:pPr marL="914400" lvl="1" indent="-457200" fontAlgn="base">
              <a:spcBef>
                <a:spcPct val="20000"/>
              </a:spcBef>
              <a:spcAft>
                <a:spcPct val="0"/>
              </a:spcAft>
              <a:buClrTx/>
              <a:buFont typeface="Wingdings" pitchFamily="2" charset="2"/>
              <a:buChar char="Ø"/>
            </a:pPr>
            <a:r>
              <a:rPr lang="en-US" sz="2400" kern="0" dirty="0">
                <a:solidFill>
                  <a:prstClr val="black"/>
                </a:solidFill>
                <a:latin typeface="Book Antiqua" pitchFamily="18" charset="0"/>
              </a:rPr>
              <a:t>To drive the process itself</a:t>
            </a:r>
          </a:p>
          <a:p>
            <a:pPr marL="914400" lvl="1" indent="-457200" fontAlgn="base">
              <a:spcBef>
                <a:spcPct val="20000"/>
              </a:spcBef>
              <a:spcAft>
                <a:spcPct val="0"/>
              </a:spcAft>
              <a:buClrTx/>
              <a:buFont typeface="Wingdings" pitchFamily="2" charset="2"/>
              <a:buChar char="Ø"/>
            </a:pPr>
            <a:r>
              <a:rPr lang="en-US" sz="2400" kern="0" dirty="0">
                <a:solidFill>
                  <a:prstClr val="black"/>
                </a:solidFill>
                <a:latin typeface="Book Antiqua" pitchFamily="18" charset="0"/>
              </a:rPr>
              <a:t>To load and unload the work unit</a:t>
            </a:r>
          </a:p>
          <a:p>
            <a:pPr marL="914400" lvl="1" indent="-457200" fontAlgn="base">
              <a:spcBef>
                <a:spcPct val="20000"/>
              </a:spcBef>
              <a:spcAft>
                <a:spcPct val="0"/>
              </a:spcAft>
              <a:buClrTx/>
              <a:buFont typeface="Wingdings" pitchFamily="2" charset="2"/>
              <a:buChar char="Ø"/>
            </a:pPr>
            <a:r>
              <a:rPr lang="en-US" sz="2400" kern="0" dirty="0">
                <a:solidFill>
                  <a:prstClr val="black"/>
                </a:solidFill>
                <a:latin typeface="Book Antiqua" pitchFamily="18" charset="0"/>
              </a:rPr>
              <a:t>Transport between operations</a:t>
            </a:r>
          </a:p>
          <a:p>
            <a:pPr marL="514350" lvl="0" indent="-514350" fontAlgn="base">
              <a:spcBef>
                <a:spcPct val="20000"/>
              </a:spcBef>
              <a:spcAft>
                <a:spcPct val="0"/>
              </a:spcAft>
              <a:buClrTx/>
              <a:buSzTx/>
              <a:buFont typeface="+mj-lt"/>
              <a:buAutoNum type="alphaUcPeriod"/>
            </a:pPr>
            <a:r>
              <a:rPr lang="en-US" sz="2400" b="1" kern="0" dirty="0">
                <a:solidFill>
                  <a:prstClr val="black"/>
                </a:solidFill>
                <a:latin typeface="Book Antiqua" pitchFamily="18" charset="0"/>
              </a:rPr>
              <a:t>Power for automation</a:t>
            </a:r>
          </a:p>
          <a:p>
            <a:pPr marL="914400" lvl="1" indent="-457200" fontAlgn="base">
              <a:spcBef>
                <a:spcPct val="20000"/>
              </a:spcBef>
              <a:spcAft>
                <a:spcPct val="0"/>
              </a:spcAft>
              <a:buClrTx/>
              <a:buFont typeface="Wingdings" pitchFamily="2" charset="2"/>
              <a:buChar char="Ø"/>
            </a:pPr>
            <a:r>
              <a:rPr lang="en-US" sz="2400" kern="0" dirty="0">
                <a:solidFill>
                  <a:prstClr val="black"/>
                </a:solidFill>
                <a:latin typeface="Book Antiqua" pitchFamily="18" charset="0"/>
              </a:rPr>
              <a:t>Controller unit</a:t>
            </a:r>
          </a:p>
          <a:p>
            <a:pPr marL="914400" lvl="1" indent="-457200" fontAlgn="base">
              <a:spcBef>
                <a:spcPct val="20000"/>
              </a:spcBef>
              <a:spcAft>
                <a:spcPct val="0"/>
              </a:spcAft>
              <a:buClrTx/>
              <a:buFont typeface="Wingdings" pitchFamily="2" charset="2"/>
              <a:buChar char="Ø"/>
            </a:pPr>
            <a:r>
              <a:rPr lang="en-US" sz="2400" kern="0" dirty="0">
                <a:solidFill>
                  <a:prstClr val="black"/>
                </a:solidFill>
                <a:latin typeface="Book Antiqua" pitchFamily="18" charset="0"/>
              </a:rPr>
              <a:t>Power to actuate the control signals</a:t>
            </a:r>
          </a:p>
          <a:p>
            <a:pPr marL="914400" lvl="1" indent="-457200" fontAlgn="base">
              <a:spcBef>
                <a:spcPct val="20000"/>
              </a:spcBef>
              <a:spcAft>
                <a:spcPct val="0"/>
              </a:spcAft>
              <a:buClrTx/>
              <a:buFont typeface="Wingdings" pitchFamily="2" charset="2"/>
              <a:buChar char="Ø"/>
            </a:pPr>
            <a:r>
              <a:rPr lang="en-US" sz="2400" kern="0" dirty="0">
                <a:solidFill>
                  <a:prstClr val="black"/>
                </a:solidFill>
                <a:latin typeface="Book Antiqua" pitchFamily="18" charset="0"/>
              </a:rPr>
              <a:t>Data acquisition and information processing</a:t>
            </a: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25</a:t>
            </a:fld>
            <a:endParaRPr lang="en-US"/>
          </a:p>
        </p:txBody>
      </p:sp>
      <p:sp>
        <p:nvSpPr>
          <p:cNvPr id="5" name="Title 4"/>
          <p:cNvSpPr>
            <a:spLocks noGrp="1"/>
          </p:cNvSpPr>
          <p:nvPr>
            <p:ph type="title"/>
          </p:nvPr>
        </p:nvSpPr>
        <p:spPr>
          <a:xfrm>
            <a:off x="457200" y="274638"/>
            <a:ext cx="8229600" cy="7159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3182650793"/>
      </p:ext>
    </p:extLst>
  </p:cSld>
  <p:clrMapOvr>
    <a:masterClrMapping/>
  </p:clrMapOvr>
  <p:transition spd="slow">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lvl="0" indent="0">
              <a:buClr>
                <a:srgbClr val="2DA2BF"/>
              </a:buClr>
              <a:buNone/>
            </a:pPr>
            <a:r>
              <a:rPr lang="en-US" sz="2800" b="1" kern="0" dirty="0">
                <a:solidFill>
                  <a:prstClr val="black"/>
                </a:solidFill>
                <a:latin typeface="Book Antiqua" pitchFamily="18" charset="0"/>
              </a:rPr>
              <a:t>Program of Instructions</a:t>
            </a:r>
          </a:p>
          <a:p>
            <a:pPr marL="342900" lvl="0" indent="-342900" fontAlgn="base">
              <a:spcBef>
                <a:spcPct val="20000"/>
              </a:spcBef>
              <a:spcAft>
                <a:spcPct val="0"/>
              </a:spcAft>
              <a:buClr>
                <a:srgbClr val="FF0066"/>
              </a:buClr>
              <a:buSzTx/>
              <a:buNone/>
            </a:pPr>
            <a:r>
              <a:rPr lang="en-US" sz="2400" kern="0" dirty="0">
                <a:solidFill>
                  <a:prstClr val="black"/>
                </a:solidFill>
                <a:latin typeface="Book Antiqua" pitchFamily="18" charset="0"/>
              </a:rPr>
              <a:t>Set of commands that specify the sequence of steps in the work cycle and the details of each step</a:t>
            </a:r>
          </a:p>
          <a:p>
            <a:pPr marL="342900" lvl="0" indent="-342900" fontAlgn="base">
              <a:spcBef>
                <a:spcPct val="20000"/>
              </a:spcBef>
              <a:spcAft>
                <a:spcPct val="0"/>
              </a:spcAft>
              <a:buClrTx/>
              <a:buSzTx/>
              <a:buFont typeface="Wingdings" pitchFamily="2" charset="2"/>
              <a:buChar char="Ø"/>
            </a:pPr>
            <a:r>
              <a:rPr lang="en-US" sz="2400" kern="0" dirty="0">
                <a:solidFill>
                  <a:prstClr val="black"/>
                </a:solidFill>
                <a:latin typeface="Book Antiqua" pitchFamily="18" charset="0"/>
              </a:rPr>
              <a:t>During each step, there are one or more activities involving changes in one or more process parameters</a:t>
            </a:r>
          </a:p>
          <a:p>
            <a:pPr marL="457200" lvl="1" indent="0" fontAlgn="base">
              <a:spcBef>
                <a:spcPct val="20000"/>
              </a:spcBef>
              <a:spcAft>
                <a:spcPct val="0"/>
              </a:spcAft>
              <a:buClr>
                <a:srgbClr val="006699"/>
              </a:buClr>
              <a:buNone/>
            </a:pPr>
            <a:r>
              <a:rPr lang="en-US" sz="2400" kern="0" dirty="0">
                <a:solidFill>
                  <a:prstClr val="black"/>
                </a:solidFill>
                <a:latin typeface="Book Antiqua" pitchFamily="18" charset="0"/>
              </a:rPr>
              <a:t>Examples:</a:t>
            </a:r>
          </a:p>
          <a:p>
            <a:pPr marL="1257300" lvl="2" indent="-342900" fontAlgn="base">
              <a:spcBef>
                <a:spcPct val="20000"/>
              </a:spcBef>
              <a:spcAft>
                <a:spcPct val="0"/>
              </a:spcAft>
              <a:buClrTx/>
              <a:buSzTx/>
              <a:buFont typeface="Wingdings" pitchFamily="2" charset="2"/>
              <a:buChar char="Ø"/>
            </a:pPr>
            <a:r>
              <a:rPr lang="en-US" sz="2400" kern="0" dirty="0">
                <a:solidFill>
                  <a:prstClr val="black"/>
                </a:solidFill>
                <a:latin typeface="Book Antiqua" pitchFamily="18" charset="0"/>
              </a:rPr>
              <a:t>Temperature setting of a furnace</a:t>
            </a:r>
          </a:p>
          <a:p>
            <a:pPr marL="1257300" lvl="2" indent="-342900" fontAlgn="base">
              <a:spcBef>
                <a:spcPct val="20000"/>
              </a:spcBef>
              <a:spcAft>
                <a:spcPct val="0"/>
              </a:spcAft>
              <a:buClrTx/>
              <a:buSzTx/>
              <a:buFont typeface="Wingdings" pitchFamily="2" charset="2"/>
              <a:buChar char="Ø"/>
            </a:pPr>
            <a:r>
              <a:rPr lang="en-US" sz="2400" kern="0" dirty="0">
                <a:solidFill>
                  <a:prstClr val="black"/>
                </a:solidFill>
                <a:latin typeface="Book Antiqua" pitchFamily="18" charset="0"/>
              </a:rPr>
              <a:t>Motor on or off</a:t>
            </a: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26</a:t>
            </a:fld>
            <a:endParaRPr lang="en-US"/>
          </a:p>
        </p:txBody>
      </p:sp>
      <p:sp>
        <p:nvSpPr>
          <p:cNvPr id="5" name="Title 4"/>
          <p:cNvSpPr>
            <a:spLocks noGrp="1"/>
          </p:cNvSpPr>
          <p:nvPr>
            <p:ph type="title"/>
          </p:nvPr>
        </p:nvSpPr>
        <p:spPr>
          <a:xfrm>
            <a:off x="457200" y="274638"/>
            <a:ext cx="8229600" cy="6397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2961711860"/>
      </p:ext>
    </p:extLst>
  </p:cSld>
  <p:clrMapOvr>
    <a:masterClrMapping/>
  </p:clrMapOvr>
  <p:transition spd="slow">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728" indent="0" algn="just">
              <a:buNone/>
            </a:pPr>
            <a:r>
              <a:rPr lang="en-US" sz="2400" dirty="0">
                <a:latin typeface="Book Antiqua" pitchFamily="18" charset="0"/>
              </a:rPr>
              <a:t>There are many household and industrial application examples of the control systems, such as washing machine, air conditioner, security alarm system and automatic ticket selling machine, etc.</a:t>
            </a:r>
          </a:p>
        </p:txBody>
      </p:sp>
      <p:sp>
        <p:nvSpPr>
          <p:cNvPr id="4" name="Slide Number Placeholder 3"/>
          <p:cNvSpPr>
            <a:spLocks noGrp="1"/>
          </p:cNvSpPr>
          <p:nvPr>
            <p:ph type="sldNum" sz="quarter" idx="12"/>
          </p:nvPr>
        </p:nvSpPr>
        <p:spPr/>
        <p:txBody>
          <a:bodyPr/>
          <a:lstStyle/>
          <a:p>
            <a:fld id="{573EDECB-2FAA-459C-97B3-E12F4C12D356}" type="slidenum">
              <a:rPr lang="en-US" smtClean="0"/>
              <a:t>27</a:t>
            </a:fld>
            <a:endParaRPr lang="en-US"/>
          </a:p>
        </p:txBody>
      </p:sp>
      <p:sp>
        <p:nvSpPr>
          <p:cNvPr id="5" name="Title 4"/>
          <p:cNvSpPr>
            <a:spLocks noGrp="1"/>
          </p:cNvSpPr>
          <p:nvPr>
            <p:ph type="title"/>
          </p:nvPr>
        </p:nvSpPr>
        <p:spPr/>
        <p:txBody>
          <a:bodyPr/>
          <a:lstStyle/>
          <a:p>
            <a:pPr algn="ctr"/>
            <a:r>
              <a:rPr lang="en-US" sz="3200" dirty="0">
                <a:solidFill>
                  <a:prstClr val="black"/>
                </a:solidFill>
                <a:effectLst/>
                <a:latin typeface="Book Antiqua" pitchFamily="18" charset="0"/>
              </a:rPr>
              <a:t>C. Special applications of the control systems</a:t>
            </a:r>
            <a:endParaRPr lang="en-US" dirty="0">
              <a:effectLst/>
            </a:endParaRPr>
          </a:p>
        </p:txBody>
      </p:sp>
    </p:spTree>
    <p:extLst>
      <p:ext uri="{BB962C8B-B14F-4D97-AF65-F5344CB8AC3E}">
        <p14:creationId xmlns:p14="http://schemas.microsoft.com/office/powerpoint/2010/main" val="2857989309"/>
      </p:ext>
    </p:extLst>
  </p:cSld>
  <p:clrMapOvr>
    <a:masterClrMapping/>
  </p:clrMapOvr>
  <p:transition spd="slow">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624078" indent="-514350" algn="just">
              <a:buClrTx/>
              <a:buFont typeface="+mj-lt"/>
              <a:buAutoNum type="alphaLcParenR"/>
            </a:pPr>
            <a:r>
              <a:rPr lang="en-US" sz="2400" dirty="0">
                <a:latin typeface="Book Antiqua" pitchFamily="18" charset="0"/>
              </a:rPr>
              <a:t>Outline different types of manually, semi-automatic and full automatic operated systems you may know. Explain how does one of them (from each category, works)</a:t>
            </a:r>
          </a:p>
          <a:p>
            <a:pPr marL="624078" indent="-514350" algn="just">
              <a:buClrTx/>
              <a:buFont typeface="+mj-lt"/>
              <a:buAutoNum type="alphaLcParenR"/>
            </a:pPr>
            <a:r>
              <a:rPr lang="en-US" sz="2400" dirty="0">
                <a:latin typeface="Book Antiqua" pitchFamily="18" charset="0"/>
              </a:rPr>
              <a:t>Give the advantages and disadvantages of each category</a:t>
            </a:r>
          </a:p>
          <a:p>
            <a:pPr marL="624078" indent="-514350" algn="just">
              <a:buClrTx/>
              <a:buFont typeface="+mj-lt"/>
              <a:buAutoNum type="alphaLcParenR"/>
            </a:pPr>
            <a:r>
              <a:rPr lang="en-US" sz="2400" dirty="0">
                <a:latin typeface="Book Antiqua" pitchFamily="18" charset="0"/>
              </a:rPr>
              <a:t>Differentiate electronic system from mechanical and computer systems. State how control mechanisms do take place in either system</a:t>
            </a:r>
          </a:p>
        </p:txBody>
      </p:sp>
      <p:sp>
        <p:nvSpPr>
          <p:cNvPr id="4" name="Slide Number Placeholder 3"/>
          <p:cNvSpPr>
            <a:spLocks noGrp="1"/>
          </p:cNvSpPr>
          <p:nvPr>
            <p:ph type="sldNum" sz="quarter" idx="12"/>
          </p:nvPr>
        </p:nvSpPr>
        <p:spPr/>
        <p:txBody>
          <a:bodyPr/>
          <a:lstStyle/>
          <a:p>
            <a:fld id="{573EDECB-2FAA-459C-97B3-E12F4C12D356}" type="slidenum">
              <a:rPr lang="en-US" smtClean="0"/>
              <a:t>28</a:t>
            </a:fld>
            <a:endParaRPr lang="en-US"/>
          </a:p>
        </p:txBody>
      </p:sp>
      <p:sp>
        <p:nvSpPr>
          <p:cNvPr id="5" name="Title 4"/>
          <p:cNvSpPr>
            <a:spLocks noGrp="1"/>
          </p:cNvSpPr>
          <p:nvPr>
            <p:ph type="title"/>
          </p:nvPr>
        </p:nvSpPr>
        <p:spPr/>
        <p:txBody>
          <a:bodyPr>
            <a:normAutofit/>
          </a:bodyPr>
          <a:lstStyle/>
          <a:p>
            <a:r>
              <a:rPr lang="en-US" sz="3200" dirty="0">
                <a:solidFill>
                  <a:schemeClr val="tx1"/>
                </a:solidFill>
                <a:effectLst/>
                <a:latin typeface="Book Antiqua" pitchFamily="18" charset="0"/>
              </a:rPr>
              <a:t>Question </a:t>
            </a:r>
          </a:p>
        </p:txBody>
      </p:sp>
    </p:spTree>
    <p:extLst>
      <p:ext uri="{BB962C8B-B14F-4D97-AF65-F5344CB8AC3E}">
        <p14:creationId xmlns:p14="http://schemas.microsoft.com/office/powerpoint/2010/main" val="1539049786"/>
      </p:ext>
    </p:extLst>
  </p:cSld>
  <p:clrMapOvr>
    <a:masterClrMapping/>
  </p:clrMapOvr>
  <p:transition spd="slow">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chor="ctr">
            <a:normAutofit/>
          </a:bodyPr>
          <a:lstStyle/>
          <a:p>
            <a:pPr marL="109728" indent="0" algn="ctr">
              <a:buNone/>
            </a:pPr>
            <a:r>
              <a:rPr lang="en-US" sz="6000" b="1" i="1" dirty="0">
                <a:solidFill>
                  <a:srgbClr val="00B050"/>
                </a:solidFill>
                <a:latin typeface="Book Antiqua" pitchFamily="18" charset="0"/>
              </a:rPr>
              <a:t>The end</a:t>
            </a:r>
          </a:p>
        </p:txBody>
      </p:sp>
      <p:sp>
        <p:nvSpPr>
          <p:cNvPr id="4" name="Slide Number Placeholder 3"/>
          <p:cNvSpPr>
            <a:spLocks noGrp="1"/>
          </p:cNvSpPr>
          <p:nvPr>
            <p:ph type="sldNum" sz="quarter" idx="12"/>
          </p:nvPr>
        </p:nvSpPr>
        <p:spPr/>
        <p:txBody>
          <a:bodyPr/>
          <a:lstStyle/>
          <a:p>
            <a:fld id="{573EDECB-2FAA-459C-97B3-E12F4C12D356}" type="slidenum">
              <a:rPr lang="en-US" smtClean="0"/>
              <a:t>29</a:t>
            </a:fld>
            <a:endParaRPr lang="en-US"/>
          </a:p>
        </p:txBody>
      </p:sp>
    </p:spTree>
    <p:extLst>
      <p:ext uri="{BB962C8B-B14F-4D97-AF65-F5344CB8AC3E}">
        <p14:creationId xmlns:p14="http://schemas.microsoft.com/office/powerpoint/2010/main" val="2878519093"/>
      </p:ext>
    </p:extLst>
  </p:cSld>
  <p:clrMapOvr>
    <a:masterClrMapping/>
  </p:clrMapOvr>
  <p:transition spd="slow">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4525963"/>
          </a:xfrm>
        </p:spPr>
        <p:txBody>
          <a:bodyPr>
            <a:normAutofit/>
          </a:bodyPr>
          <a:lstStyle/>
          <a:p>
            <a:pPr marL="109728" indent="0" algn="just">
              <a:buNone/>
            </a:pPr>
            <a:r>
              <a:rPr lang="en-US" sz="2400" dirty="0">
                <a:latin typeface="Book Antiqua" pitchFamily="18" charset="0"/>
                <a:cs typeface="Arial" pitchFamily="34" charset="0"/>
              </a:rPr>
              <a:t>Transducer is any device that converts energy in one form to another </a:t>
            </a:r>
            <a:r>
              <a:rPr lang="en-US" sz="2400" dirty="0">
                <a:latin typeface="Book Antiqua" pitchFamily="18" charset="0"/>
                <a:cs typeface="Times New Roman" pitchFamily="18" charset="0"/>
              </a:rPr>
              <a:t>energy</a:t>
            </a:r>
            <a:r>
              <a:rPr lang="en-US" sz="2400" dirty="0">
                <a:latin typeface="Book Antiqua" pitchFamily="18" charset="0"/>
                <a:cs typeface="Arial" pitchFamily="34" charset="0"/>
              </a:rPr>
              <a:t>. The majority either convert electrical energy to mechanical displacement or convert some      non-electrical physical quantity, such as temperature, sound or light to an electrical signal</a:t>
            </a:r>
          </a:p>
          <a:p>
            <a:pPr marL="109728" indent="0" algn="just">
              <a:buNone/>
            </a:pPr>
            <a:endParaRPr lang="en-US" sz="2400" dirty="0">
              <a:latin typeface="Book Antiqua" pitchFamily="18" charset="0"/>
              <a:cs typeface="Arial" pitchFamily="34" charset="0"/>
            </a:endParaRPr>
          </a:p>
          <a:p>
            <a:pPr marL="0" lvl="0" indent="0" algn="just" fontAlgn="base">
              <a:spcBef>
                <a:spcPts val="575"/>
              </a:spcBef>
              <a:spcAft>
                <a:spcPct val="0"/>
              </a:spcAft>
              <a:buClr>
                <a:srgbClr val="D34817"/>
              </a:buClr>
              <a:buSzPct val="85000"/>
              <a:buNone/>
            </a:pPr>
            <a:r>
              <a:rPr lang="en-US" sz="2400" dirty="0">
                <a:latin typeface="Book Antiqua" pitchFamily="18" charset="0"/>
              </a:rPr>
              <a:t>These are widely used in measurement work because not all quantities that need to be measured can be displayed as easily as others. A better measurement of a quantity can usually be made if it may be converted to another form, which is more conveniently or accurately displayed. </a:t>
            </a:r>
          </a:p>
          <a:p>
            <a:pPr marL="109728" indent="0" algn="just">
              <a:buNone/>
            </a:pPr>
            <a:endParaRPr lang="en-US" sz="2400" dirty="0">
              <a:latin typeface="Book Antiqua" pitchFamily="18" charset="0"/>
              <a:cs typeface="Arial" pitchFamily="34" charset="0"/>
            </a:endParaRPr>
          </a:p>
          <a:p>
            <a:pPr algn="just"/>
            <a:endParaRPr lang="en-US" sz="2400" dirty="0">
              <a:latin typeface="Book Antiqua" pitchFamily="18" charset="0"/>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30</a:t>
            </a:fld>
            <a:endParaRPr lang="en-US"/>
          </a:p>
        </p:txBody>
      </p:sp>
      <p:sp>
        <p:nvSpPr>
          <p:cNvPr id="5" name="Title 4"/>
          <p:cNvSpPr>
            <a:spLocks noGrp="1"/>
          </p:cNvSpPr>
          <p:nvPr>
            <p:ph type="title"/>
          </p:nvPr>
        </p:nvSpPr>
        <p:spPr>
          <a:xfrm>
            <a:off x="457200" y="274638"/>
            <a:ext cx="8229600" cy="868362"/>
          </a:xfrm>
        </p:spPr>
        <p:txBody>
          <a:bodyPr>
            <a:normAutofit/>
          </a:bodyPr>
          <a:lstStyle/>
          <a:p>
            <a:pPr algn="ctr"/>
            <a:r>
              <a:rPr lang="en-US" sz="4800" dirty="0">
                <a:solidFill>
                  <a:schemeClr val="tx1"/>
                </a:solidFill>
                <a:effectLst/>
                <a:latin typeface="Book Antiqua" pitchFamily="18" charset="0"/>
              </a:rPr>
              <a:t>Transducers</a:t>
            </a:r>
          </a:p>
        </p:txBody>
      </p:sp>
    </p:spTree>
    <p:extLst>
      <p:ext uri="{BB962C8B-B14F-4D97-AF65-F5344CB8AC3E}">
        <p14:creationId xmlns:p14="http://schemas.microsoft.com/office/powerpoint/2010/main" val="637856776"/>
      </p:ext>
    </p:extLst>
  </p:cSld>
  <p:clrMapOvr>
    <a:masterClrMapping/>
  </p:clrMapOvr>
  <p:transition spd="slow">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109728" indent="0" algn="just">
              <a:buClrTx/>
              <a:buNone/>
            </a:pPr>
            <a:r>
              <a:rPr lang="en-US" sz="2400" dirty="0">
                <a:solidFill>
                  <a:prstClr val="black"/>
                </a:solidFill>
                <a:latin typeface="Book Antiqua" pitchFamily="18" charset="0"/>
              </a:rPr>
              <a:t>For example,</a:t>
            </a:r>
          </a:p>
          <a:p>
            <a:pPr algn="just">
              <a:buClrTx/>
              <a:buFont typeface="Wingdings" pitchFamily="2" charset="2"/>
              <a:buChar char="Ø"/>
            </a:pPr>
            <a:r>
              <a:rPr lang="en-US" sz="2400" dirty="0">
                <a:solidFill>
                  <a:prstClr val="black"/>
                </a:solidFill>
                <a:latin typeface="Book Antiqua" pitchFamily="18" charset="0"/>
              </a:rPr>
              <a:t>The common </a:t>
            </a:r>
            <a:r>
              <a:rPr lang="en-US" sz="2400" b="1" dirty="0">
                <a:solidFill>
                  <a:prstClr val="black"/>
                </a:solidFill>
                <a:latin typeface="Book Antiqua" pitchFamily="18" charset="0"/>
              </a:rPr>
              <a:t>mercury thermometer </a:t>
            </a:r>
            <a:r>
              <a:rPr lang="en-US" sz="2400" dirty="0">
                <a:solidFill>
                  <a:prstClr val="black"/>
                </a:solidFill>
                <a:latin typeface="Book Antiqua" pitchFamily="18" charset="0"/>
              </a:rPr>
              <a:t>converts variations in temperature into variations in the length of a column of mercury. Since the variation in the length of the mercury column is rather simple to measure, the mercury thermometer becomes a convenient device for measuring temperature</a:t>
            </a:r>
          </a:p>
          <a:p>
            <a:pPr algn="just">
              <a:buClrTx/>
              <a:buFont typeface="Wingdings" pitchFamily="2" charset="2"/>
              <a:buChar char="Ø"/>
            </a:pPr>
            <a:endParaRPr lang="en-US" sz="2400" dirty="0">
              <a:solidFill>
                <a:prstClr val="black"/>
              </a:solidFill>
              <a:latin typeface="Book Antiqua" pitchFamily="18" charset="0"/>
            </a:endParaRPr>
          </a:p>
          <a:p>
            <a:pPr algn="just">
              <a:buClrTx/>
              <a:buFont typeface="Wingdings" pitchFamily="2" charset="2"/>
              <a:buChar char="Ø"/>
            </a:pPr>
            <a:r>
              <a:rPr lang="en-US" sz="2400" dirty="0">
                <a:solidFill>
                  <a:prstClr val="black"/>
                </a:solidFill>
                <a:latin typeface="Book Antiqua" pitchFamily="18" charset="0"/>
              </a:rPr>
              <a:t>On the other hand, the actual temperature variation is not as easy to display directly. Another example is </a:t>
            </a:r>
            <a:r>
              <a:rPr lang="en-US" sz="2400" b="1" dirty="0">
                <a:solidFill>
                  <a:prstClr val="black"/>
                </a:solidFill>
                <a:latin typeface="Book Antiqua" pitchFamily="18" charset="0"/>
              </a:rPr>
              <a:t>manometer, </a:t>
            </a:r>
            <a:r>
              <a:rPr lang="en-US" sz="2400" dirty="0">
                <a:solidFill>
                  <a:prstClr val="black"/>
                </a:solidFill>
                <a:latin typeface="Book Antiqua" pitchFamily="18" charset="0"/>
              </a:rPr>
              <a:t>which detects pressure and indicates it directly on a scale calibrated in actual units of pressure</a:t>
            </a:r>
            <a:endParaRPr lang="en-US" sz="2400" dirty="0">
              <a:latin typeface="Book Antiqua" pitchFamily="18" charset="0"/>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31</a:t>
            </a:fld>
            <a:endParaRPr lang="en-US"/>
          </a:p>
        </p:txBody>
      </p:sp>
      <p:sp>
        <p:nvSpPr>
          <p:cNvPr id="5" name="Title 4"/>
          <p:cNvSpPr>
            <a:spLocks noGrp="1"/>
          </p:cNvSpPr>
          <p:nvPr>
            <p:ph type="title"/>
          </p:nvPr>
        </p:nvSpPr>
        <p:spPr>
          <a:xfrm>
            <a:off x="457200" y="274638"/>
            <a:ext cx="8229600" cy="7921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640624577"/>
      </p:ext>
    </p:extLst>
  </p:cSld>
  <p:clrMapOvr>
    <a:masterClrMapping/>
  </p:clrMapOvr>
  <p:transition spd="slow">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066800"/>
            <a:ext cx="8229600" cy="5029200"/>
          </a:xfrm>
        </p:spPr>
        <p:txBody>
          <a:bodyPr>
            <a:noAutofit/>
          </a:bodyPr>
          <a:lstStyle/>
          <a:p>
            <a:pPr algn="just">
              <a:buClrTx/>
              <a:buFont typeface="Wingdings" pitchFamily="2" charset="2"/>
              <a:buChar char="Ø"/>
            </a:pPr>
            <a:r>
              <a:rPr lang="en-US" sz="2400" dirty="0">
                <a:latin typeface="Book Antiqua" pitchFamily="18" charset="0"/>
              </a:rPr>
              <a:t>A </a:t>
            </a:r>
            <a:r>
              <a:rPr lang="en-US" sz="2400" b="1" dirty="0">
                <a:latin typeface="Book Antiqua" pitchFamily="18" charset="0"/>
              </a:rPr>
              <a:t>microphone</a:t>
            </a:r>
            <a:r>
              <a:rPr lang="en-US" sz="2400" dirty="0">
                <a:latin typeface="Book Antiqua" pitchFamily="18" charset="0"/>
              </a:rPr>
              <a:t> converts sound into electrical impulses and a loudspeaker converts electrical impulses into sound (i.e., sound energy to electrical energy and vice versa).</a:t>
            </a:r>
          </a:p>
          <a:p>
            <a:pPr algn="just">
              <a:buClrTx/>
              <a:buFont typeface="Wingdings" pitchFamily="2" charset="2"/>
              <a:buChar char="Ø"/>
            </a:pPr>
            <a:r>
              <a:rPr lang="en-US" sz="2400" dirty="0">
                <a:latin typeface="Book Antiqua" pitchFamily="18" charset="0"/>
              </a:rPr>
              <a:t>A </a:t>
            </a:r>
            <a:r>
              <a:rPr lang="en-US" sz="2400" b="1" dirty="0">
                <a:latin typeface="Book Antiqua" pitchFamily="18" charset="0"/>
              </a:rPr>
              <a:t>solar cell </a:t>
            </a:r>
            <a:r>
              <a:rPr lang="en-US" sz="2400" dirty="0">
                <a:latin typeface="Book Antiqua" pitchFamily="18" charset="0"/>
              </a:rPr>
              <a:t>converts light into electricity and a thermocouple converts thermal energy into electrical energy.</a:t>
            </a:r>
          </a:p>
          <a:p>
            <a:pPr algn="just">
              <a:buClrTx/>
              <a:buFont typeface="Wingdings" pitchFamily="2" charset="2"/>
              <a:buChar char="Ø"/>
            </a:pPr>
            <a:r>
              <a:rPr lang="en-US" sz="2400" dirty="0">
                <a:latin typeface="Book Antiqua" pitchFamily="18" charset="0"/>
              </a:rPr>
              <a:t>An </a:t>
            </a:r>
            <a:r>
              <a:rPr lang="en-US" sz="2400" b="1" dirty="0">
                <a:latin typeface="Book Antiqua" pitchFamily="18" charset="0"/>
              </a:rPr>
              <a:t>incandescent</a:t>
            </a:r>
            <a:r>
              <a:rPr lang="en-US" sz="2400" dirty="0">
                <a:latin typeface="Book Antiqua" pitchFamily="18" charset="0"/>
              </a:rPr>
              <a:t> </a:t>
            </a:r>
            <a:r>
              <a:rPr lang="en-US" sz="2400" b="1" dirty="0">
                <a:latin typeface="Book Antiqua" pitchFamily="18" charset="0"/>
              </a:rPr>
              <a:t>light bulb </a:t>
            </a:r>
            <a:r>
              <a:rPr lang="en-US" sz="2400" dirty="0">
                <a:latin typeface="Book Antiqua" pitchFamily="18" charset="0"/>
              </a:rPr>
              <a:t>produces light by passing a current through a filament. Thus, a light bulb is a transducer for converting electrical energy into optical energy.</a:t>
            </a:r>
          </a:p>
          <a:p>
            <a:pPr algn="just">
              <a:buClrTx/>
              <a:buFont typeface="Wingdings" pitchFamily="2" charset="2"/>
              <a:buChar char="Ø"/>
            </a:pPr>
            <a:r>
              <a:rPr lang="en-US" sz="2400" dirty="0">
                <a:latin typeface="Book Antiqua" pitchFamily="18" charset="0"/>
              </a:rPr>
              <a:t>An </a:t>
            </a:r>
            <a:r>
              <a:rPr lang="en-US" sz="2400" b="1" dirty="0">
                <a:latin typeface="Book Antiqua" pitchFamily="18" charset="0"/>
              </a:rPr>
              <a:t>electric motor </a:t>
            </a:r>
            <a:r>
              <a:rPr lang="en-US" sz="2400" dirty="0">
                <a:latin typeface="Book Antiqua" pitchFamily="18" charset="0"/>
              </a:rPr>
              <a:t>is a transducer for conversion of electricity into mechanical energy or motion.</a:t>
            </a:r>
          </a:p>
        </p:txBody>
      </p:sp>
      <p:sp>
        <p:nvSpPr>
          <p:cNvPr id="4" name="Slide Number Placeholder 3"/>
          <p:cNvSpPr>
            <a:spLocks noGrp="1"/>
          </p:cNvSpPr>
          <p:nvPr>
            <p:ph type="sldNum" sz="quarter" idx="12"/>
          </p:nvPr>
        </p:nvSpPr>
        <p:spPr/>
        <p:txBody>
          <a:bodyPr/>
          <a:lstStyle/>
          <a:p>
            <a:fld id="{573EDECB-2FAA-459C-97B3-E12F4C12D356}" type="slidenum">
              <a:rPr lang="en-US" smtClean="0"/>
              <a:t>32</a:t>
            </a:fld>
            <a:endParaRPr lang="en-US"/>
          </a:p>
        </p:txBody>
      </p:sp>
      <p:sp>
        <p:nvSpPr>
          <p:cNvPr id="5" name="Title 4"/>
          <p:cNvSpPr>
            <a:spLocks noGrp="1"/>
          </p:cNvSpPr>
          <p:nvPr>
            <p:ph type="title"/>
          </p:nvPr>
        </p:nvSpPr>
        <p:spPr>
          <a:xfrm>
            <a:off x="457200" y="274638"/>
            <a:ext cx="8229600" cy="563562"/>
          </a:xfrm>
        </p:spPr>
        <p:txBody>
          <a:bodyPr>
            <a:normAutofit fontScale="90000"/>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3058381541"/>
      </p:ext>
    </p:extLst>
  </p:cSld>
  <p:clrMapOvr>
    <a:masterClrMapping/>
  </p:clrMapOvr>
  <p:transition spd="slow">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14400"/>
            <a:ext cx="8229600" cy="5410200"/>
          </a:xfrm>
        </p:spPr>
        <p:txBody>
          <a:bodyPr>
            <a:normAutofit fontScale="92500" lnSpcReduction="10000"/>
          </a:bodyPr>
          <a:lstStyle/>
          <a:p>
            <a:pPr marL="109728" indent="0" algn="just">
              <a:buNone/>
            </a:pPr>
            <a:r>
              <a:rPr lang="en-US" sz="2600" b="1" dirty="0">
                <a:solidFill>
                  <a:prstClr val="black"/>
                </a:solidFill>
                <a:latin typeface="Book Antiqua" pitchFamily="18" charset="0"/>
              </a:rPr>
              <a:t>Therefore ,</a:t>
            </a:r>
          </a:p>
          <a:p>
            <a:pPr marL="109728" indent="0" algn="just">
              <a:buNone/>
            </a:pPr>
            <a:r>
              <a:rPr lang="en-US" sz="2600" dirty="0">
                <a:solidFill>
                  <a:srgbClr val="00B050"/>
                </a:solidFill>
                <a:latin typeface="Book Antiqua" pitchFamily="18" charset="0"/>
              </a:rPr>
              <a:t>The transducer may be mechanical, electrical, magnetic, optical, chemical, acoustic, thermal nuclear, or a combination of any two or more of these.</a:t>
            </a:r>
          </a:p>
          <a:p>
            <a:pPr marL="109728" indent="0" algn="just">
              <a:buNone/>
            </a:pPr>
            <a:endParaRPr lang="en-US" sz="2600" dirty="0">
              <a:solidFill>
                <a:prstClr val="black"/>
              </a:solidFill>
              <a:latin typeface="Book Antiqua" pitchFamily="18" charset="0"/>
            </a:endParaRPr>
          </a:p>
          <a:p>
            <a:pPr marL="109728" indent="0" algn="just">
              <a:buNone/>
            </a:pPr>
            <a:r>
              <a:rPr lang="en-US" sz="3000" b="1" dirty="0">
                <a:latin typeface="Book Antiqua" pitchFamily="18" charset="0"/>
                <a:ea typeface="+mj-ea"/>
                <a:cs typeface="+mj-cs"/>
              </a:rPr>
              <a:t>Mechanical transducers</a:t>
            </a:r>
          </a:p>
          <a:p>
            <a:pPr marL="0" lvl="0" indent="0" algn="just" fontAlgn="base">
              <a:spcBef>
                <a:spcPts val="575"/>
              </a:spcBef>
              <a:spcAft>
                <a:spcPct val="0"/>
              </a:spcAft>
              <a:buClr>
                <a:srgbClr val="D34817"/>
              </a:buClr>
              <a:buSzPct val="85000"/>
              <a:buNone/>
            </a:pPr>
            <a:r>
              <a:rPr lang="en-US" sz="2600" dirty="0">
                <a:solidFill>
                  <a:prstClr val="black"/>
                </a:solidFill>
                <a:latin typeface="Book Antiqua" pitchFamily="18" charset="0"/>
              </a:rPr>
              <a:t>are simple and rugged in construction, cheaper in cost, accurate and operate without external power supplies but are not advantageous for many of the modern scientific experiments and process control instrumentation owing to their poor frequency response, requirement of large forces to overcome mechanical friction, in compatibility when remote control or indication is required, and a lot of other limitations. All these drawbacks have been overcome with the introduction of electrical transducers.</a:t>
            </a:r>
          </a:p>
          <a:p>
            <a:pPr marL="109728" indent="0">
              <a:buNone/>
            </a:pPr>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33</a:t>
            </a:fld>
            <a:endParaRPr lang="en-US"/>
          </a:p>
        </p:txBody>
      </p:sp>
      <p:sp>
        <p:nvSpPr>
          <p:cNvPr id="5" name="Title 4"/>
          <p:cNvSpPr>
            <a:spLocks noGrp="1"/>
          </p:cNvSpPr>
          <p:nvPr>
            <p:ph type="title"/>
          </p:nvPr>
        </p:nvSpPr>
        <p:spPr>
          <a:xfrm>
            <a:off x="457200" y="274638"/>
            <a:ext cx="8229600" cy="6397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2119937165"/>
      </p:ext>
    </p:extLst>
  </p:cSld>
  <p:clrMapOvr>
    <a:masterClrMapping/>
  </p:clrMapOvr>
  <p:transition spd="slow">
    <p:pul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5105400"/>
          </a:xfrm>
        </p:spPr>
        <p:txBody>
          <a:bodyPr>
            <a:noAutofit/>
          </a:bodyPr>
          <a:lstStyle/>
          <a:p>
            <a:pPr marL="109728" indent="0">
              <a:buNone/>
            </a:pPr>
            <a:r>
              <a:rPr lang="en-US" sz="2800" b="1" dirty="0">
                <a:latin typeface="Book Antiqua" pitchFamily="18" charset="0"/>
                <a:ea typeface="+mj-ea"/>
                <a:cs typeface="+mj-cs"/>
              </a:rPr>
              <a:t>Electrical transducers</a:t>
            </a:r>
          </a:p>
          <a:p>
            <a:pPr marL="457200" lvl="0" indent="-457200" algn="just" fontAlgn="base">
              <a:spcBef>
                <a:spcPts val="575"/>
              </a:spcBef>
              <a:spcAft>
                <a:spcPct val="0"/>
              </a:spcAft>
              <a:buClrTx/>
              <a:buSzPct val="85000"/>
              <a:buFont typeface="Wingdings" pitchFamily="2" charset="2"/>
              <a:buChar char="Ø"/>
            </a:pPr>
            <a:r>
              <a:rPr lang="en-US" sz="2400" dirty="0">
                <a:solidFill>
                  <a:prstClr val="black"/>
                </a:solidFill>
                <a:latin typeface="Book Antiqua" pitchFamily="18" charset="0"/>
              </a:rPr>
              <a:t>Mostly quantities to be measured are non-electrical such as temperature, pressure, displacement, humidity, fluid flow, speed etc., but these quantities cannot be measured directly. Hence such quantities are required to be sensed and changed into some other form for easy measurement. </a:t>
            </a:r>
          </a:p>
          <a:p>
            <a:pPr marL="457200" lvl="0" indent="-457200" algn="just" fontAlgn="base">
              <a:spcBef>
                <a:spcPts val="575"/>
              </a:spcBef>
              <a:spcAft>
                <a:spcPct val="0"/>
              </a:spcAft>
              <a:buClrTx/>
              <a:buSzPct val="85000"/>
              <a:buFont typeface="Wingdings" pitchFamily="2" charset="2"/>
              <a:buChar char="Ø"/>
            </a:pPr>
            <a:r>
              <a:rPr lang="en-US" sz="2400" dirty="0">
                <a:solidFill>
                  <a:prstClr val="black"/>
                </a:solidFill>
                <a:latin typeface="Book Antiqua" pitchFamily="18" charset="0"/>
              </a:rPr>
              <a:t>Electrical quantities such as current, voltage, resistance. inductance and capacitance etc. can be conveniently measured, transferred and stored, and therefore, for measurement of non-electrical quantities these are to be converted into electrical quantities first and then measured</a:t>
            </a:r>
            <a:endParaRPr lang="en-US" sz="2400" dirty="0">
              <a:latin typeface="Book Antiqua" pitchFamily="18" charset="0"/>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34</a:t>
            </a:fld>
            <a:endParaRPr lang="en-US"/>
          </a:p>
        </p:txBody>
      </p:sp>
      <p:sp>
        <p:nvSpPr>
          <p:cNvPr id="5" name="Title 4"/>
          <p:cNvSpPr>
            <a:spLocks noGrp="1"/>
          </p:cNvSpPr>
          <p:nvPr>
            <p:ph type="title"/>
          </p:nvPr>
        </p:nvSpPr>
        <p:spPr>
          <a:xfrm>
            <a:off x="457200" y="274638"/>
            <a:ext cx="8229600" cy="6397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1902259450"/>
      </p:ext>
    </p:extLst>
  </p:cSld>
  <p:clrMapOvr>
    <a:masterClrMapping/>
  </p:clrMapOvr>
  <p:transition spd="slow">
    <p:pull/>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990600"/>
            <a:ext cx="8229600" cy="4876800"/>
          </a:xfrm>
        </p:spPr>
        <p:txBody>
          <a:bodyPr>
            <a:normAutofit fontScale="92500" lnSpcReduction="10000"/>
          </a:bodyPr>
          <a:lstStyle/>
          <a:p>
            <a:pPr marL="457200" lvl="0" indent="-457200" algn="just" fontAlgn="base">
              <a:spcBef>
                <a:spcPts val="575"/>
              </a:spcBef>
              <a:spcAft>
                <a:spcPct val="0"/>
              </a:spcAft>
              <a:buClrTx/>
              <a:buSzPct val="85000"/>
              <a:buFont typeface="Wingdings" pitchFamily="2" charset="2"/>
              <a:buChar char="Ø"/>
            </a:pPr>
            <a:r>
              <a:rPr lang="en-US" sz="2600" dirty="0">
                <a:solidFill>
                  <a:prstClr val="black"/>
                </a:solidFill>
                <a:latin typeface="Book Antiqua" pitchFamily="18" charset="0"/>
              </a:rPr>
              <a:t>The function of converting non-electrical quantity into electrical one is accomplished by a device called the electrical transducer. Basically an electrical transducer is a sensing device by which a physical, mechanical or optical quantity to be measured is transformed directly, with a suitable mechanism, into an electrical signal</a:t>
            </a:r>
            <a:r>
              <a:rPr lang="en-US" sz="2600" b="1" dirty="0">
                <a:solidFill>
                  <a:prstClr val="black"/>
                </a:solidFill>
                <a:latin typeface="Book Antiqua" pitchFamily="18" charset="0"/>
              </a:rPr>
              <a:t> </a:t>
            </a:r>
            <a:r>
              <a:rPr lang="en-US" sz="2600" dirty="0">
                <a:solidFill>
                  <a:prstClr val="black"/>
                </a:solidFill>
                <a:latin typeface="Book Antiqua" pitchFamily="18" charset="0"/>
              </a:rPr>
              <a:t>(current, voltage or frequency). The production of these signals is based upon electrical effects which may be resistive, inductive, capacitive </a:t>
            </a:r>
            <a:r>
              <a:rPr lang="en-US" sz="2600" dirty="0" err="1">
                <a:solidFill>
                  <a:prstClr val="black"/>
                </a:solidFill>
                <a:latin typeface="Book Antiqua" pitchFamily="18" charset="0"/>
              </a:rPr>
              <a:t>etc</a:t>
            </a:r>
            <a:r>
              <a:rPr lang="en-US" sz="2600" dirty="0">
                <a:solidFill>
                  <a:prstClr val="black"/>
                </a:solidFill>
                <a:latin typeface="Book Antiqua" pitchFamily="18" charset="0"/>
              </a:rPr>
              <a:t> in nature.</a:t>
            </a:r>
          </a:p>
          <a:p>
            <a:pPr marL="457200" lvl="0" indent="-457200" algn="just" fontAlgn="base">
              <a:spcBef>
                <a:spcPts val="575"/>
              </a:spcBef>
              <a:spcAft>
                <a:spcPct val="0"/>
              </a:spcAft>
              <a:buClrTx/>
              <a:buSzPct val="85000"/>
              <a:buFont typeface="Wingdings" pitchFamily="2" charset="2"/>
              <a:buChar char="Ø"/>
            </a:pPr>
            <a:r>
              <a:rPr lang="en-US" sz="2600" dirty="0">
                <a:solidFill>
                  <a:prstClr val="black"/>
                </a:solidFill>
                <a:latin typeface="Book Antiqua" pitchFamily="18" charset="0"/>
              </a:rPr>
              <a:t>The input versus output energy relationship takes a definite reproducible function. The output to input and the output to time behavior is predictable to a known degree of accuracy, sensitivity and response, within the specified environmental conditions.</a:t>
            </a:r>
          </a:p>
          <a:p>
            <a:pPr marL="457200" lvl="0" indent="-457200" algn="just" fontAlgn="base">
              <a:spcBef>
                <a:spcPts val="575"/>
              </a:spcBef>
              <a:spcAft>
                <a:spcPct val="0"/>
              </a:spcAft>
              <a:buClr>
                <a:srgbClr val="D34817"/>
              </a:buClr>
              <a:buSzPct val="85000"/>
              <a:buFont typeface="Wingdings" pitchFamily="2" charset="2"/>
              <a:buChar char="Ø"/>
            </a:pPr>
            <a:endParaRPr lang="en-US" sz="2600" dirty="0">
              <a:solidFill>
                <a:prstClr val="black"/>
              </a:solidFill>
              <a:latin typeface="Perpetua"/>
            </a:endParaRP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35</a:t>
            </a:fld>
            <a:endParaRPr lang="en-US"/>
          </a:p>
        </p:txBody>
      </p:sp>
      <p:sp>
        <p:nvSpPr>
          <p:cNvPr id="5" name="Title 4"/>
          <p:cNvSpPr>
            <a:spLocks noGrp="1"/>
          </p:cNvSpPr>
          <p:nvPr>
            <p:ph type="title"/>
          </p:nvPr>
        </p:nvSpPr>
        <p:spPr>
          <a:xfrm>
            <a:off x="457200" y="274638"/>
            <a:ext cx="8229600" cy="6397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1258560544"/>
      </p:ext>
    </p:extLst>
  </p:cSld>
  <p:clrMapOvr>
    <a:masterClrMapping/>
  </p:clrMapOvr>
  <p:transition spd="slow">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96646" y="914400"/>
            <a:ext cx="8242554" cy="5410200"/>
          </a:xfrm>
        </p:spPr>
        <p:txBody>
          <a:bodyPr>
            <a:noAutofit/>
          </a:bodyPr>
          <a:lstStyle/>
          <a:p>
            <a:pPr marL="342900" lvl="0" indent="-342900" algn="just" fontAlgn="base">
              <a:spcBef>
                <a:spcPct val="0"/>
              </a:spcBef>
              <a:spcAft>
                <a:spcPct val="0"/>
              </a:spcAft>
              <a:buClrTx/>
              <a:buSzTx/>
              <a:buFont typeface="Wingdings" pitchFamily="2" charset="2"/>
              <a:buChar char="Ø"/>
            </a:pPr>
            <a:r>
              <a:rPr lang="en-US" sz="2200" dirty="0">
                <a:latin typeface="Book Antiqua" pitchFamily="18" charset="0"/>
                <a:cs typeface="Arial" pitchFamily="34" charset="0"/>
              </a:rPr>
              <a:t>To sense the presence, magnitude, change in, and frequency of some </a:t>
            </a:r>
            <a:r>
              <a:rPr lang="en-US" sz="2200" b="1" i="1" dirty="0" err="1">
                <a:latin typeface="Book Antiqua" pitchFamily="18" charset="0"/>
                <a:cs typeface="Arial" pitchFamily="34" charset="0"/>
              </a:rPr>
              <a:t>measurand</a:t>
            </a:r>
            <a:r>
              <a:rPr lang="en-US" sz="2200" dirty="0" err="1">
                <a:latin typeface="Book Antiqua" pitchFamily="18" charset="0"/>
                <a:cs typeface="Arial" pitchFamily="34" charset="0"/>
              </a:rPr>
              <a:t>s</a:t>
            </a:r>
            <a:endParaRPr lang="en-US" sz="2200" dirty="0">
              <a:latin typeface="Book Antiqua" pitchFamily="18" charset="0"/>
              <a:cs typeface="Arial" pitchFamily="34" charset="0"/>
            </a:endParaRPr>
          </a:p>
          <a:p>
            <a:pPr marL="342900" lvl="0" indent="-342900" algn="just" fontAlgn="base">
              <a:spcBef>
                <a:spcPct val="0"/>
              </a:spcBef>
              <a:spcAft>
                <a:spcPct val="0"/>
              </a:spcAft>
              <a:buClrTx/>
              <a:buSzTx/>
              <a:buFont typeface="Wingdings" pitchFamily="2" charset="2"/>
              <a:buChar char="Ø"/>
            </a:pPr>
            <a:r>
              <a:rPr lang="en-US" sz="2200" dirty="0">
                <a:latin typeface="Book Antiqua" pitchFamily="18" charset="0"/>
                <a:cs typeface="Arial" pitchFamily="34" charset="0"/>
              </a:rPr>
              <a:t>To provide an electrical output that, when appropriately processed and applied to readout device, gives accurate quantitative data about the </a:t>
            </a:r>
            <a:r>
              <a:rPr lang="en-US" sz="2200" b="1" i="1" dirty="0" err="1">
                <a:latin typeface="Book Antiqua" pitchFamily="18" charset="0"/>
                <a:cs typeface="Arial" pitchFamily="34" charset="0"/>
              </a:rPr>
              <a:t>measurand</a:t>
            </a:r>
            <a:r>
              <a:rPr lang="en-US" sz="2200" i="1" dirty="0">
                <a:latin typeface="Book Antiqua" pitchFamily="18" charset="0"/>
                <a:cs typeface="Arial" pitchFamily="34" charset="0"/>
              </a:rPr>
              <a:t> </a:t>
            </a:r>
          </a:p>
          <a:p>
            <a:pPr marL="0" lvl="0" indent="0" algn="just" fontAlgn="base">
              <a:spcBef>
                <a:spcPct val="50000"/>
              </a:spcBef>
              <a:spcAft>
                <a:spcPct val="0"/>
              </a:spcAft>
              <a:buClrTx/>
              <a:buSzTx/>
              <a:buNone/>
            </a:pPr>
            <a:endParaRPr lang="en-US" sz="2200" b="1" i="1" dirty="0">
              <a:latin typeface="Book Antiqua" pitchFamily="18" charset="0"/>
              <a:cs typeface="Times New Roman" pitchFamily="18" charset="0"/>
            </a:endParaRPr>
          </a:p>
          <a:p>
            <a:pPr marL="0" lvl="0" indent="0" algn="just" fontAlgn="base">
              <a:spcBef>
                <a:spcPct val="50000"/>
              </a:spcBef>
              <a:spcAft>
                <a:spcPct val="0"/>
              </a:spcAft>
              <a:buClrTx/>
              <a:buSzTx/>
              <a:buNone/>
            </a:pPr>
            <a:endParaRPr lang="en-US" sz="2200" b="1" i="1" dirty="0">
              <a:latin typeface="Book Antiqua" pitchFamily="18" charset="0"/>
              <a:cs typeface="Times New Roman" pitchFamily="18" charset="0"/>
            </a:endParaRPr>
          </a:p>
          <a:p>
            <a:pPr marL="0" lvl="0" indent="0" algn="just" fontAlgn="base">
              <a:spcBef>
                <a:spcPct val="50000"/>
              </a:spcBef>
              <a:spcAft>
                <a:spcPct val="0"/>
              </a:spcAft>
              <a:buClrTx/>
              <a:buSzTx/>
              <a:buNone/>
            </a:pPr>
            <a:endParaRPr lang="en-US" sz="2200" b="1" i="1" dirty="0">
              <a:latin typeface="Book Antiqua" pitchFamily="18" charset="0"/>
              <a:cs typeface="Times New Roman" pitchFamily="18" charset="0"/>
            </a:endParaRPr>
          </a:p>
          <a:p>
            <a:pPr marL="0" lvl="0" indent="0" algn="just" fontAlgn="base">
              <a:spcBef>
                <a:spcPct val="50000"/>
              </a:spcBef>
              <a:spcAft>
                <a:spcPct val="0"/>
              </a:spcAft>
              <a:buClrTx/>
              <a:buSzTx/>
              <a:buNone/>
            </a:pPr>
            <a:endParaRPr lang="en-US" sz="2200" b="1" i="1" dirty="0">
              <a:latin typeface="Book Antiqua" pitchFamily="18" charset="0"/>
              <a:cs typeface="Times New Roman" pitchFamily="18" charset="0"/>
            </a:endParaRPr>
          </a:p>
          <a:p>
            <a:pPr marL="0" lvl="0" indent="0" algn="just" fontAlgn="base">
              <a:spcBef>
                <a:spcPct val="50000"/>
              </a:spcBef>
              <a:spcAft>
                <a:spcPct val="0"/>
              </a:spcAft>
              <a:buClrTx/>
              <a:buSzTx/>
              <a:buNone/>
            </a:pPr>
            <a:endParaRPr lang="en-US" sz="2200" b="1" i="1" dirty="0">
              <a:latin typeface="Book Antiqua" pitchFamily="18" charset="0"/>
              <a:cs typeface="Times New Roman" pitchFamily="18" charset="0"/>
            </a:endParaRPr>
          </a:p>
          <a:p>
            <a:pPr marL="0" lvl="0" indent="0" algn="just" fontAlgn="base">
              <a:spcBef>
                <a:spcPct val="50000"/>
              </a:spcBef>
              <a:spcAft>
                <a:spcPct val="0"/>
              </a:spcAft>
              <a:buClrTx/>
              <a:buSzTx/>
              <a:buNone/>
            </a:pPr>
            <a:r>
              <a:rPr lang="en-US" sz="2200" b="1" i="1" dirty="0" err="1">
                <a:latin typeface="Book Antiqua" pitchFamily="18" charset="0"/>
                <a:cs typeface="Times New Roman" pitchFamily="18" charset="0"/>
              </a:rPr>
              <a:t>Measurand</a:t>
            </a:r>
            <a:r>
              <a:rPr lang="en-US" sz="2200" dirty="0">
                <a:latin typeface="Book Antiqua" pitchFamily="18" charset="0"/>
                <a:cs typeface="Times New Roman" pitchFamily="18" charset="0"/>
              </a:rPr>
              <a:t> – refers to the quantity, property or condition which the transducer translates to an electrical signal. </a:t>
            </a:r>
          </a:p>
          <a:p>
            <a:pPr marL="0" lvl="0" indent="0" algn="just" fontAlgn="base">
              <a:spcBef>
                <a:spcPct val="0"/>
              </a:spcBef>
              <a:spcAft>
                <a:spcPct val="0"/>
              </a:spcAft>
              <a:buClrTx/>
              <a:buSzTx/>
              <a:buNone/>
            </a:pPr>
            <a:endParaRPr lang="en-US" sz="2200" i="1" dirty="0">
              <a:latin typeface="Book Antiqua" pitchFamily="18" charset="0"/>
              <a:cs typeface="Arial" pitchFamily="34" charset="0"/>
            </a:endParaRPr>
          </a:p>
          <a:p>
            <a:pPr algn="just"/>
            <a:endParaRPr lang="en-US" sz="2200" dirty="0">
              <a:latin typeface="Book Antiqua" pitchFamily="18" charset="0"/>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36</a:t>
            </a:fld>
            <a:endParaRPr lang="en-US"/>
          </a:p>
        </p:txBody>
      </p:sp>
      <p:sp>
        <p:nvSpPr>
          <p:cNvPr id="5" name="Title 4"/>
          <p:cNvSpPr>
            <a:spLocks noGrp="1"/>
          </p:cNvSpPr>
          <p:nvPr>
            <p:ph type="title"/>
          </p:nvPr>
        </p:nvSpPr>
        <p:spPr>
          <a:xfrm>
            <a:off x="457200" y="152400"/>
            <a:ext cx="8229600" cy="563562"/>
          </a:xfrm>
        </p:spPr>
        <p:txBody>
          <a:bodyPr>
            <a:noAutofit/>
          </a:bodyPr>
          <a:lstStyle/>
          <a:p>
            <a:pPr algn="ctr"/>
            <a:r>
              <a:rPr lang="en-US" sz="3200" kern="0" dirty="0">
                <a:solidFill>
                  <a:srgbClr val="000000"/>
                </a:solidFill>
                <a:effectLst/>
                <a:latin typeface="Book Antiqua" pitchFamily="18" charset="0"/>
                <a:cs typeface="Arial"/>
              </a:rPr>
              <a:t>Functions of transducer</a:t>
            </a:r>
            <a:endParaRPr lang="en-US" sz="3200" dirty="0">
              <a:latin typeface="Book Antiqua" pitchFamily="18" charset="0"/>
            </a:endParaRPr>
          </a:p>
        </p:txBody>
      </p:sp>
      <p:grpSp>
        <p:nvGrpSpPr>
          <p:cNvPr id="6" name="Group 5"/>
          <p:cNvGrpSpPr>
            <a:grpSpLocks/>
          </p:cNvGrpSpPr>
          <p:nvPr/>
        </p:nvGrpSpPr>
        <p:grpSpPr bwMode="auto">
          <a:xfrm>
            <a:off x="1549146" y="3188277"/>
            <a:ext cx="6553200" cy="1600200"/>
            <a:chOff x="912" y="2352"/>
            <a:chExt cx="4128" cy="1008"/>
          </a:xfrm>
        </p:grpSpPr>
        <p:grpSp>
          <p:nvGrpSpPr>
            <p:cNvPr id="7" name="Group 6"/>
            <p:cNvGrpSpPr>
              <a:grpSpLocks/>
            </p:cNvGrpSpPr>
            <p:nvPr/>
          </p:nvGrpSpPr>
          <p:grpSpPr bwMode="auto">
            <a:xfrm>
              <a:off x="1230" y="2352"/>
              <a:ext cx="2647" cy="1008"/>
              <a:chOff x="3960" y="8820"/>
              <a:chExt cx="4500" cy="1440"/>
            </a:xfrm>
          </p:grpSpPr>
          <p:sp>
            <p:nvSpPr>
              <p:cNvPr id="11" name="Text Box 7"/>
              <p:cNvSpPr txBox="1">
                <a:spLocks noChangeArrowheads="1"/>
              </p:cNvSpPr>
              <p:nvPr/>
            </p:nvSpPr>
            <p:spPr bwMode="auto">
              <a:xfrm>
                <a:off x="5220" y="8820"/>
                <a:ext cx="1980" cy="900"/>
              </a:xfrm>
              <a:prstGeom prst="rect">
                <a:avLst/>
              </a:prstGeom>
              <a:solidFill>
                <a:srgbClr val="00FFFF"/>
              </a:solidFill>
              <a:ln w="9525">
                <a:solidFill>
                  <a:srgbClr val="000000"/>
                </a:solidFill>
                <a:miter lim="800000"/>
                <a:headEnd/>
                <a:tailEnd/>
              </a:ln>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rgbClr val="000000"/>
                  </a:solidFill>
                  <a:effectLst/>
                  <a:uLnTx/>
                  <a:uFillTx/>
                  <a:latin typeface="Times New Roman" pitchFamily="18" charset="0"/>
                  <a:cs typeface="Arial" pitchFamily="34" charset="0"/>
                </a:endParaRPr>
              </a:p>
              <a:p>
                <a:pPr marL="0" marR="0" lvl="0" indent="0" algn="ctr" defTabSz="914400" eaLnBrk="0" fontAlgn="auto" latinLnBrk="0" hangingPunct="0">
                  <a:lnSpc>
                    <a:spcPct val="100000"/>
                  </a:lnSpc>
                  <a:spcBef>
                    <a:spcPts val="0"/>
                  </a:spcBef>
                  <a:spcAft>
                    <a:spcPts val="0"/>
                  </a:spcAft>
                  <a:buClrTx/>
                  <a:buSzTx/>
                  <a:buFontTx/>
                  <a:buNone/>
                  <a:tabLst/>
                  <a:defRPr/>
                </a:pPr>
                <a:r>
                  <a:rPr kumimoji="0" lang="en-GB" sz="2000" b="0" i="0" u="none" strike="noStrike" kern="0" cap="none" spc="0" normalizeH="0" baseline="0" noProof="0" dirty="0">
                    <a:ln>
                      <a:noFill/>
                    </a:ln>
                    <a:effectLst/>
                    <a:uLnTx/>
                    <a:uFillTx/>
                    <a:latin typeface="Times New Roman" pitchFamily="18" charset="0"/>
                    <a:cs typeface="Arial" pitchFamily="34" charset="0"/>
                  </a:rPr>
                  <a:t>Transducer</a:t>
                </a:r>
              </a:p>
              <a:p>
                <a:pPr marL="0" marR="0" lvl="0" indent="0" defTabSz="914400" eaLnBrk="0" fontAlgn="auto" latinLnBrk="0" hangingPunct="0">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Times New Roman" pitchFamily="18" charset="0"/>
                  <a:cs typeface="Arial" pitchFamily="34" charset="0"/>
                </a:endParaRPr>
              </a:p>
            </p:txBody>
          </p:sp>
          <p:sp>
            <p:nvSpPr>
              <p:cNvPr id="12" name="Line 8"/>
              <p:cNvSpPr>
                <a:spLocks noChangeShapeType="1"/>
              </p:cNvSpPr>
              <p:nvPr/>
            </p:nvSpPr>
            <p:spPr bwMode="auto">
              <a:xfrm>
                <a:off x="3960" y="9285"/>
                <a:ext cx="12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 name="Line 9"/>
              <p:cNvSpPr>
                <a:spLocks noChangeShapeType="1"/>
              </p:cNvSpPr>
              <p:nvPr/>
            </p:nvSpPr>
            <p:spPr bwMode="auto">
              <a:xfrm>
                <a:off x="7200" y="9285"/>
                <a:ext cx="12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4" name="Line 10"/>
              <p:cNvSpPr>
                <a:spLocks noChangeShapeType="1"/>
              </p:cNvSpPr>
              <p:nvPr/>
            </p:nvSpPr>
            <p:spPr bwMode="auto">
              <a:xfrm flipV="1">
                <a:off x="6120" y="9720"/>
                <a:ext cx="0" cy="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5" name="Line 11"/>
              <p:cNvSpPr>
                <a:spLocks noChangeShapeType="1"/>
              </p:cNvSpPr>
              <p:nvPr/>
            </p:nvSpPr>
            <p:spPr bwMode="auto">
              <a:xfrm>
                <a:off x="4680" y="10260"/>
                <a:ext cx="14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sp>
          <p:nvSpPr>
            <p:cNvPr id="8" name="Text Box 12"/>
            <p:cNvSpPr txBox="1">
              <a:spLocks noChangeArrowheads="1"/>
            </p:cNvSpPr>
            <p:nvPr/>
          </p:nvSpPr>
          <p:spPr bwMode="auto">
            <a:xfrm>
              <a:off x="3875" y="2448"/>
              <a:ext cx="1165"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r>
                <a:rPr kumimoji="0" lang="en-GB" sz="2000" b="0" i="0" u="none" strike="noStrike" kern="0" cap="none" spc="0" normalizeH="0" baseline="0" noProof="0" dirty="0">
                  <a:ln>
                    <a:noFill/>
                  </a:ln>
                  <a:solidFill>
                    <a:srgbClr val="000000"/>
                  </a:solidFill>
                  <a:effectLst/>
                  <a:uLnTx/>
                  <a:uFillTx/>
                  <a:latin typeface="Times New Roman" pitchFamily="18" charset="0"/>
                  <a:cs typeface="Arial" pitchFamily="34" charset="0"/>
                </a:rPr>
                <a:t>Electrical </a:t>
              </a:r>
              <a:r>
                <a:rPr kumimoji="0" lang="en-GB" sz="2000" b="0" i="0" u="none" strike="noStrike" kern="0" cap="none" spc="0" normalizeH="0" baseline="0" noProof="0" dirty="0">
                  <a:ln>
                    <a:noFill/>
                  </a:ln>
                  <a:solidFill>
                    <a:srgbClr val="000000"/>
                  </a:solidFill>
                  <a:effectLst/>
                  <a:uLnTx/>
                  <a:uFillTx/>
                  <a:latin typeface="Book Antiqua" pitchFamily="18" charset="0"/>
                </a:rPr>
                <a:t>output</a:t>
              </a:r>
              <a:endParaRPr kumimoji="0" lang="en-US" sz="2000" b="0" i="0" u="none" strike="noStrike" kern="0" cap="none" spc="0" normalizeH="0" baseline="0" noProof="0" dirty="0">
                <a:ln>
                  <a:noFill/>
                </a:ln>
                <a:solidFill>
                  <a:srgbClr val="000000"/>
                </a:solidFill>
                <a:effectLst/>
                <a:uLnTx/>
                <a:uFillTx/>
                <a:latin typeface="Book Antiqua" pitchFamily="18" charset="0"/>
              </a:endParaRPr>
            </a:p>
          </p:txBody>
        </p:sp>
        <p:sp>
          <p:nvSpPr>
            <p:cNvPr id="9" name="Text Box 13"/>
            <p:cNvSpPr txBox="1">
              <a:spLocks noChangeArrowheads="1"/>
            </p:cNvSpPr>
            <p:nvPr/>
          </p:nvSpPr>
          <p:spPr bwMode="auto">
            <a:xfrm>
              <a:off x="912" y="2352"/>
              <a:ext cx="9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r>
                <a:rPr kumimoji="0" lang="en-GB" sz="2000" b="0" i="0" u="none" strike="noStrike" kern="0" cap="none" spc="0" normalizeH="0" baseline="0" noProof="0" dirty="0" err="1">
                  <a:ln>
                    <a:noFill/>
                  </a:ln>
                  <a:solidFill>
                    <a:srgbClr val="000000"/>
                  </a:solidFill>
                  <a:effectLst/>
                  <a:uLnTx/>
                  <a:uFillTx/>
                  <a:latin typeface="Book Antiqua" pitchFamily="18" charset="0"/>
                </a:rPr>
                <a:t>Measurand</a:t>
              </a:r>
              <a:endParaRPr kumimoji="0" lang="en-US" sz="2000" b="0" i="0" u="none" strike="noStrike" kern="0" cap="none" spc="0" normalizeH="0" baseline="0" noProof="0" dirty="0">
                <a:ln>
                  <a:noFill/>
                </a:ln>
                <a:solidFill>
                  <a:srgbClr val="000000"/>
                </a:solidFill>
                <a:effectLst/>
                <a:uLnTx/>
                <a:uFillTx/>
                <a:latin typeface="Book Antiqua" pitchFamily="18" charset="0"/>
              </a:endParaRPr>
            </a:p>
          </p:txBody>
        </p:sp>
        <p:sp>
          <p:nvSpPr>
            <p:cNvPr id="10" name="Text Box 14"/>
            <p:cNvSpPr txBox="1">
              <a:spLocks noChangeArrowheads="1"/>
            </p:cNvSpPr>
            <p:nvPr/>
          </p:nvSpPr>
          <p:spPr bwMode="auto">
            <a:xfrm>
              <a:off x="1547" y="3108"/>
              <a:ext cx="9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r>
                <a:rPr kumimoji="0" lang="en-GB" sz="2000" b="0" i="0" u="none" strike="noStrike" kern="0" cap="none" spc="0" normalizeH="0" baseline="0" noProof="0" dirty="0">
                  <a:ln>
                    <a:noFill/>
                  </a:ln>
                  <a:solidFill>
                    <a:srgbClr val="000000"/>
                  </a:solidFill>
                  <a:effectLst/>
                  <a:uLnTx/>
                  <a:uFillTx/>
                  <a:latin typeface="Book Antiqua" pitchFamily="18" charset="0"/>
                </a:rPr>
                <a:t>Excitation</a:t>
              </a:r>
              <a:endParaRPr kumimoji="0" lang="en-US" sz="2000" b="0" i="0" u="none" strike="noStrike" kern="0" cap="none" spc="0" normalizeH="0" baseline="0" noProof="0" dirty="0">
                <a:ln>
                  <a:noFill/>
                </a:ln>
                <a:solidFill>
                  <a:srgbClr val="000000"/>
                </a:solidFill>
                <a:effectLst/>
                <a:uLnTx/>
                <a:uFillTx/>
                <a:latin typeface="Book Antiqua" pitchFamily="18" charset="0"/>
              </a:endParaRPr>
            </a:p>
          </p:txBody>
        </p:sp>
      </p:grpSp>
    </p:spTree>
    <p:extLst>
      <p:ext uri="{BB962C8B-B14F-4D97-AF65-F5344CB8AC3E}">
        <p14:creationId xmlns:p14="http://schemas.microsoft.com/office/powerpoint/2010/main" val="4133906230"/>
      </p:ext>
    </p:extLst>
  </p:cSld>
  <p:clrMapOvr>
    <a:masterClrMapping/>
  </p:clrMapOvr>
  <p:transition spd="slow">
    <p:pull/>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5257800"/>
          </a:xfrm>
        </p:spPr>
        <p:txBody>
          <a:bodyPr>
            <a:normAutofit fontScale="92500" lnSpcReduction="20000"/>
          </a:bodyPr>
          <a:lstStyle/>
          <a:p>
            <a:pPr marL="0" lvl="0" indent="0" algn="just" fontAlgn="base">
              <a:spcBef>
                <a:spcPts val="575"/>
              </a:spcBef>
              <a:spcAft>
                <a:spcPct val="0"/>
              </a:spcAft>
              <a:buClr>
                <a:srgbClr val="D34817"/>
              </a:buClr>
              <a:buSzPct val="85000"/>
              <a:buNone/>
            </a:pPr>
            <a:r>
              <a:rPr lang="en-US" sz="2600" dirty="0">
                <a:solidFill>
                  <a:prstClr val="black"/>
                </a:solidFill>
                <a:latin typeface="Book Antiqua" pitchFamily="18" charset="0"/>
              </a:rPr>
              <a:t>The main function of a transducer is to respond only for the measurement under specified limits for which it is designed. It is, therefore, necessary to know the relationship between the input and output quantities and it should be fixed. Transducers should meet the following basic requirements.</a:t>
            </a:r>
          </a:p>
          <a:p>
            <a:pPr marL="571500" lvl="0" indent="-571500" algn="just">
              <a:spcBef>
                <a:spcPts val="580"/>
              </a:spcBef>
              <a:buClrTx/>
              <a:buSzPct val="85000"/>
              <a:buFont typeface="+mj-lt"/>
              <a:buAutoNum type="romanLcPeriod"/>
              <a:defRPr/>
            </a:pPr>
            <a:r>
              <a:rPr lang="en-US" sz="2600" b="1" dirty="0">
                <a:latin typeface="Book Antiqua" pitchFamily="18" charset="0"/>
              </a:rPr>
              <a:t>Ruggedness. </a:t>
            </a:r>
            <a:r>
              <a:rPr lang="en-US" sz="2600" dirty="0">
                <a:solidFill>
                  <a:prstClr val="black"/>
                </a:solidFill>
                <a:latin typeface="Book Antiqua" pitchFamily="18" charset="0"/>
              </a:rPr>
              <a:t>It should be capable of withstanding overload and some safety arrangement should be provided for overload protection.</a:t>
            </a:r>
          </a:p>
          <a:p>
            <a:pPr marL="571500" lvl="0" indent="-571500" algn="just">
              <a:spcBef>
                <a:spcPts val="580"/>
              </a:spcBef>
              <a:buClrTx/>
              <a:buSzPct val="85000"/>
              <a:buFont typeface="+mj-lt"/>
              <a:buAutoNum type="romanLcPeriod"/>
              <a:defRPr/>
            </a:pPr>
            <a:r>
              <a:rPr lang="en-US" sz="2600" b="1" dirty="0">
                <a:latin typeface="Book Antiqua" pitchFamily="18" charset="0"/>
              </a:rPr>
              <a:t>Linearity. </a:t>
            </a:r>
            <a:r>
              <a:rPr lang="en-US" sz="2600" dirty="0">
                <a:solidFill>
                  <a:prstClr val="black"/>
                </a:solidFill>
                <a:latin typeface="Book Antiqua" pitchFamily="18" charset="0"/>
              </a:rPr>
              <a:t>Its input-output characteristics should be linear and it should produce these characteristics in symmetrical way.</a:t>
            </a:r>
          </a:p>
          <a:p>
            <a:pPr marL="571500" lvl="0" indent="-571500" algn="just">
              <a:spcBef>
                <a:spcPts val="580"/>
              </a:spcBef>
              <a:buClrTx/>
              <a:buSzPct val="85000"/>
              <a:buFont typeface="+mj-lt"/>
              <a:buAutoNum type="romanLcPeriod"/>
              <a:defRPr/>
            </a:pPr>
            <a:r>
              <a:rPr lang="en-US" sz="2600" b="1" dirty="0">
                <a:latin typeface="Book Antiqua" pitchFamily="18" charset="0"/>
              </a:rPr>
              <a:t>Repeatability</a:t>
            </a:r>
            <a:r>
              <a:rPr lang="en-US" sz="2600" dirty="0">
                <a:latin typeface="Book Antiqua" pitchFamily="18" charset="0"/>
              </a:rPr>
              <a:t>. </a:t>
            </a:r>
            <a:r>
              <a:rPr lang="en-US" sz="2600" dirty="0">
                <a:solidFill>
                  <a:prstClr val="black"/>
                </a:solidFill>
                <a:latin typeface="Book Antiqua" pitchFamily="18" charset="0"/>
              </a:rPr>
              <a:t>It should reproduce same output signal when the same input signal is applied again and again under fixed environmental conditions e.g. temperature, pressure, humidity etc.</a:t>
            </a:r>
          </a:p>
          <a:p>
            <a:pPr marL="273050" lvl="0" indent="-273050" algn="just" fontAlgn="base">
              <a:spcBef>
                <a:spcPts val="575"/>
              </a:spcBef>
              <a:spcAft>
                <a:spcPct val="0"/>
              </a:spcAft>
              <a:buClr>
                <a:srgbClr val="D34817"/>
              </a:buClr>
              <a:buSzPct val="85000"/>
              <a:buFont typeface="Wingdings 2" pitchFamily="18" charset="2"/>
              <a:buChar char=""/>
            </a:pPr>
            <a:endParaRPr lang="en-US" sz="2600" dirty="0">
              <a:solidFill>
                <a:prstClr val="black"/>
              </a:solidFill>
              <a:latin typeface="Book Antiqua" pitchFamily="18" charset="0"/>
            </a:endParaRPr>
          </a:p>
          <a:p>
            <a:endParaRPr lang="en-US" dirty="0">
              <a:latin typeface="Book Antiqua" pitchFamily="18" charset="0"/>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37</a:t>
            </a:fld>
            <a:endParaRPr lang="en-US"/>
          </a:p>
        </p:txBody>
      </p:sp>
      <p:sp>
        <p:nvSpPr>
          <p:cNvPr id="5" name="Title 4"/>
          <p:cNvSpPr>
            <a:spLocks noGrp="1"/>
          </p:cNvSpPr>
          <p:nvPr>
            <p:ph type="title"/>
          </p:nvPr>
        </p:nvSpPr>
        <p:spPr>
          <a:xfrm>
            <a:off x="457200" y="274638"/>
            <a:ext cx="8229600" cy="792162"/>
          </a:xfrm>
        </p:spPr>
        <p:txBody>
          <a:bodyPr/>
          <a:lstStyle/>
          <a:p>
            <a:pPr algn="ctr"/>
            <a:r>
              <a:rPr lang="en-US" sz="3200" dirty="0">
                <a:solidFill>
                  <a:schemeClr val="tx1"/>
                </a:solidFill>
                <a:effectLst/>
                <a:latin typeface="Book Antiqua" pitchFamily="18" charset="0"/>
              </a:rPr>
              <a:t>Basic requirements of a transducer</a:t>
            </a:r>
            <a:endParaRPr lang="en-US" dirty="0">
              <a:solidFill>
                <a:schemeClr val="tx1"/>
              </a:solidFill>
              <a:latin typeface="Book Antiqua" pitchFamily="18" charset="0"/>
            </a:endParaRPr>
          </a:p>
        </p:txBody>
      </p:sp>
    </p:spTree>
    <p:extLst>
      <p:ext uri="{BB962C8B-B14F-4D97-AF65-F5344CB8AC3E}">
        <p14:creationId xmlns:p14="http://schemas.microsoft.com/office/powerpoint/2010/main" val="536203479"/>
      </p:ext>
    </p:extLst>
  </p:cSld>
  <p:clrMapOvr>
    <a:masterClrMapping/>
  </p:clrMapOvr>
  <p:transition spd="slow">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609600"/>
            <a:ext cx="8229600" cy="5715000"/>
          </a:xfrm>
        </p:spPr>
        <p:txBody>
          <a:bodyPr>
            <a:normAutofit fontScale="92500" lnSpcReduction="20000"/>
          </a:bodyPr>
          <a:lstStyle/>
          <a:p>
            <a:pPr marL="571500" lvl="0" indent="-571500" algn="just" fontAlgn="base">
              <a:spcBef>
                <a:spcPts val="575"/>
              </a:spcBef>
              <a:spcAft>
                <a:spcPct val="0"/>
              </a:spcAft>
              <a:buClrTx/>
              <a:buSzPct val="85000"/>
              <a:buFont typeface="+mj-lt"/>
              <a:buAutoNum type="romanLcPeriod" startAt="4"/>
            </a:pPr>
            <a:r>
              <a:rPr lang="en-US" sz="2600" b="1" dirty="0">
                <a:latin typeface="Book Antiqua" pitchFamily="18" charset="0"/>
              </a:rPr>
              <a:t>High Output Signal Quality</a:t>
            </a:r>
            <a:r>
              <a:rPr lang="en-US" sz="2600" dirty="0">
                <a:latin typeface="Book Antiqua" pitchFamily="18" charset="0"/>
              </a:rPr>
              <a:t>. </a:t>
            </a:r>
            <a:r>
              <a:rPr lang="en-US" sz="2600" dirty="0">
                <a:solidFill>
                  <a:prstClr val="black"/>
                </a:solidFill>
                <a:latin typeface="Book Antiqua" pitchFamily="18" charset="0"/>
              </a:rPr>
              <a:t>The quality of output signal should be good i.e. the ratio of the signal to the noise should be high and the amplitude of the output signal should be enough.</a:t>
            </a:r>
          </a:p>
          <a:p>
            <a:pPr marL="571500" lvl="0" indent="-571500" algn="just" fontAlgn="base">
              <a:spcBef>
                <a:spcPts val="575"/>
              </a:spcBef>
              <a:spcAft>
                <a:spcPct val="0"/>
              </a:spcAft>
              <a:buClrTx/>
              <a:buSzPct val="85000"/>
              <a:buFont typeface="+mj-lt"/>
              <a:buAutoNum type="romanLcPeriod" startAt="4"/>
            </a:pPr>
            <a:r>
              <a:rPr lang="en-US" sz="2600" b="1" dirty="0">
                <a:latin typeface="Book Antiqua" pitchFamily="18" charset="0"/>
              </a:rPr>
              <a:t>High Reliability and Stability</a:t>
            </a:r>
            <a:r>
              <a:rPr lang="en-US" sz="2600" b="1" dirty="0">
                <a:solidFill>
                  <a:prstClr val="black"/>
                </a:solidFill>
                <a:latin typeface="Book Antiqua" pitchFamily="18" charset="0"/>
              </a:rPr>
              <a:t>. </a:t>
            </a:r>
            <a:r>
              <a:rPr lang="en-US" sz="2600" dirty="0">
                <a:solidFill>
                  <a:prstClr val="black"/>
                </a:solidFill>
                <a:latin typeface="Book Antiqua" pitchFamily="18" charset="0"/>
              </a:rPr>
              <a:t>It should give minimum error in measurement for temperature variations, vibrations and other various changes in surroundings.</a:t>
            </a:r>
          </a:p>
          <a:p>
            <a:pPr marL="571500" lvl="0" indent="-571500" algn="just" fontAlgn="base">
              <a:spcBef>
                <a:spcPts val="575"/>
              </a:spcBef>
              <a:spcAft>
                <a:spcPct val="0"/>
              </a:spcAft>
              <a:buClrTx/>
              <a:buSzPct val="85000"/>
              <a:buFont typeface="+mj-lt"/>
              <a:buAutoNum type="romanLcPeriod" startAt="4"/>
            </a:pPr>
            <a:r>
              <a:rPr lang="en-US" sz="2600" b="1" dirty="0">
                <a:latin typeface="Book Antiqua" pitchFamily="18" charset="0"/>
              </a:rPr>
              <a:t>No Hysteretic. </a:t>
            </a:r>
            <a:r>
              <a:rPr lang="en-US" sz="2600" dirty="0">
                <a:solidFill>
                  <a:prstClr val="black"/>
                </a:solidFill>
                <a:latin typeface="Book Antiqua" pitchFamily="18" charset="0"/>
              </a:rPr>
              <a:t>It should not give any hysteretic during measurement while input signal is varied from its low value to high value and vice-versa.</a:t>
            </a:r>
          </a:p>
          <a:p>
            <a:pPr marL="571500" lvl="0" indent="-571500" algn="just" fontAlgn="base">
              <a:spcBef>
                <a:spcPts val="575"/>
              </a:spcBef>
              <a:spcAft>
                <a:spcPct val="0"/>
              </a:spcAft>
              <a:buClrTx/>
              <a:buSzPct val="85000"/>
              <a:buFont typeface="+mj-lt"/>
              <a:buAutoNum type="romanLcPeriod" startAt="4"/>
            </a:pPr>
            <a:r>
              <a:rPr lang="en-US" sz="2600" b="1" dirty="0">
                <a:latin typeface="Book Antiqua" pitchFamily="18" charset="0"/>
              </a:rPr>
              <a:t>Residual Deformation. </a:t>
            </a:r>
            <a:r>
              <a:rPr lang="en-US" sz="2600" dirty="0">
                <a:solidFill>
                  <a:prstClr val="black"/>
                </a:solidFill>
                <a:latin typeface="Book Antiqua" pitchFamily="18" charset="0"/>
              </a:rPr>
              <a:t>There should be no deformation on removal of local after long period of application.</a:t>
            </a:r>
          </a:p>
          <a:p>
            <a:pPr marL="571500" lvl="0" indent="-571500" algn="just" fontAlgn="base">
              <a:spcBef>
                <a:spcPts val="575"/>
              </a:spcBef>
              <a:spcAft>
                <a:spcPct val="0"/>
              </a:spcAft>
              <a:buClrTx/>
              <a:buSzPct val="85000"/>
              <a:buFont typeface="+mj-lt"/>
              <a:buAutoNum type="romanLcPeriod" startAt="4"/>
            </a:pPr>
            <a:r>
              <a:rPr lang="en-US" sz="2600" b="1" dirty="0">
                <a:solidFill>
                  <a:prstClr val="black"/>
                </a:solidFill>
                <a:latin typeface="Book Antiqua" pitchFamily="18" charset="0"/>
                <a:cs typeface="Times New Roman" pitchFamily="18" charset="0"/>
              </a:rPr>
              <a:t>Transient and frequency response : </a:t>
            </a:r>
            <a:r>
              <a:rPr lang="en-US" sz="2600" dirty="0">
                <a:solidFill>
                  <a:prstClr val="black"/>
                </a:solidFill>
                <a:latin typeface="Book Antiqua" pitchFamily="18" charset="0"/>
                <a:cs typeface="Times New Roman" pitchFamily="18" charset="0"/>
              </a:rPr>
              <a:t>The transducer should meet the desired time domain specification like peak overshoot, rise time, setting time and small dynamic error.</a:t>
            </a:r>
          </a:p>
          <a:p>
            <a:pPr marL="571500" lvl="0" indent="-571500" algn="just" fontAlgn="base">
              <a:spcBef>
                <a:spcPts val="575"/>
              </a:spcBef>
              <a:spcAft>
                <a:spcPct val="0"/>
              </a:spcAft>
              <a:buClrTx/>
              <a:buSzPct val="85000"/>
              <a:buFont typeface="+mj-lt"/>
              <a:buAutoNum type="romanLcPeriod" startAt="4"/>
            </a:pPr>
            <a:endParaRPr lang="en-US" sz="2600" dirty="0">
              <a:solidFill>
                <a:prstClr val="black"/>
              </a:solidFill>
              <a:latin typeface="Book Antiqua" pitchFamily="18" charset="0"/>
            </a:endParaRPr>
          </a:p>
          <a:p>
            <a:pPr marL="571500" lvl="0" indent="-571500" algn="just" fontAlgn="base">
              <a:spcBef>
                <a:spcPts val="575"/>
              </a:spcBef>
              <a:spcAft>
                <a:spcPct val="0"/>
              </a:spcAft>
              <a:buClrTx/>
              <a:buSzPct val="85000"/>
              <a:buFont typeface="+mj-lt"/>
              <a:buAutoNum type="romanLcPeriod" startAt="4"/>
            </a:pPr>
            <a:endParaRPr lang="en-US" sz="2400" dirty="0">
              <a:solidFill>
                <a:prstClr val="black"/>
              </a:solidFill>
              <a:latin typeface="Book Antiqua" pitchFamily="18" charset="0"/>
            </a:endParaRP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38</a:t>
            </a:fld>
            <a:endParaRPr lang="en-US"/>
          </a:p>
        </p:txBody>
      </p:sp>
      <p:sp>
        <p:nvSpPr>
          <p:cNvPr id="5" name="Title 4"/>
          <p:cNvSpPr>
            <a:spLocks noGrp="1"/>
          </p:cNvSpPr>
          <p:nvPr>
            <p:ph type="title"/>
          </p:nvPr>
        </p:nvSpPr>
        <p:spPr>
          <a:xfrm>
            <a:off x="457200" y="27709"/>
            <a:ext cx="8229600" cy="563562"/>
          </a:xfrm>
        </p:spPr>
        <p:txBody>
          <a:bodyPr>
            <a:normAutofit fontScale="90000"/>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1366554822"/>
      </p:ext>
    </p:extLst>
  </p:cSld>
  <p:clrMapOvr>
    <a:masterClrMapping/>
  </p:clrMapOvr>
  <p:transition spd="slow">
    <p:pull/>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09600" lvl="0" indent="-609600" algn="just">
              <a:spcBef>
                <a:spcPct val="20000"/>
              </a:spcBef>
              <a:buClrTx/>
              <a:buSzTx/>
              <a:buFont typeface="+mj-lt"/>
              <a:buAutoNum type="romanLcPeriod" startAt="9"/>
              <a:defRPr/>
            </a:pPr>
            <a:r>
              <a:rPr lang="en-US" sz="2400" b="1" dirty="0">
                <a:solidFill>
                  <a:prstClr val="black"/>
                </a:solidFill>
                <a:latin typeface="Book Antiqua" pitchFamily="18" charset="0"/>
                <a:cs typeface="Times New Roman" pitchFamily="18" charset="0"/>
              </a:rPr>
              <a:t>Environmental Compatibility: </a:t>
            </a:r>
            <a:r>
              <a:rPr lang="en-US" sz="2400" dirty="0">
                <a:solidFill>
                  <a:prstClr val="black"/>
                </a:solidFill>
                <a:latin typeface="Book Antiqua" pitchFamily="18" charset="0"/>
                <a:cs typeface="Times New Roman" pitchFamily="18" charset="0"/>
              </a:rPr>
              <a:t>It should be assured that the transducer selected to work under specified environmental conditions maintains its input- output relationship and does not break down.</a:t>
            </a:r>
          </a:p>
          <a:p>
            <a:pPr marL="609600" lvl="0" indent="-609600" algn="just">
              <a:spcBef>
                <a:spcPct val="20000"/>
              </a:spcBef>
              <a:buClrTx/>
              <a:buSzTx/>
              <a:buFont typeface="+mj-lt"/>
              <a:buAutoNum type="romanLcPeriod" startAt="9"/>
              <a:defRPr/>
            </a:pPr>
            <a:r>
              <a:rPr lang="en-US" sz="2400" b="1" dirty="0">
                <a:solidFill>
                  <a:prstClr val="black"/>
                </a:solidFill>
                <a:latin typeface="Book Antiqua" pitchFamily="18" charset="0"/>
                <a:cs typeface="Times New Roman" pitchFamily="18" charset="0"/>
              </a:rPr>
              <a:t>Sensitivity: </a:t>
            </a:r>
            <a:r>
              <a:rPr lang="en-US" sz="2400" dirty="0">
                <a:solidFill>
                  <a:prstClr val="black"/>
                </a:solidFill>
                <a:latin typeface="Book Antiqua" pitchFamily="18" charset="0"/>
                <a:cs typeface="Times New Roman" pitchFamily="18" charset="0"/>
              </a:rPr>
              <a:t>The transducer must be sensitive enough to produce detectable output.</a:t>
            </a:r>
          </a:p>
          <a:p>
            <a:pPr marL="609600" lvl="0" indent="-609600" algn="just">
              <a:spcBef>
                <a:spcPct val="20000"/>
              </a:spcBef>
              <a:buClrTx/>
              <a:buSzTx/>
              <a:buFont typeface="+mj-lt"/>
              <a:buAutoNum type="romanLcPeriod" startAt="9"/>
              <a:defRPr/>
            </a:pPr>
            <a:r>
              <a:rPr lang="en-US" sz="2400" b="1" dirty="0">
                <a:solidFill>
                  <a:prstClr val="black"/>
                </a:solidFill>
                <a:latin typeface="Book Antiqua" pitchFamily="18" charset="0"/>
                <a:cs typeface="Times New Roman" pitchFamily="18" charset="0"/>
              </a:rPr>
              <a:t>Insensitivity to unwanted signals: </a:t>
            </a:r>
            <a:r>
              <a:rPr lang="en-US" sz="2400" dirty="0">
                <a:solidFill>
                  <a:prstClr val="black"/>
                </a:solidFill>
                <a:latin typeface="Book Antiqua" pitchFamily="18" charset="0"/>
                <a:cs typeface="Times New Roman" pitchFamily="18" charset="0"/>
              </a:rPr>
              <a:t>The transducer should be minimally sensitive to unwanted signals and highly sensitive to desired signals</a:t>
            </a:r>
            <a:r>
              <a:rPr lang="en-US" sz="2400" dirty="0">
                <a:solidFill>
                  <a:prstClr val="black"/>
                </a:solidFill>
                <a:latin typeface="Book Antiqua" pitchFamily="18" charset="0"/>
              </a:rPr>
              <a:t>.</a:t>
            </a:r>
          </a:p>
          <a:p>
            <a:pPr marL="609600" lvl="0" indent="-609600" algn="just">
              <a:spcBef>
                <a:spcPct val="20000"/>
              </a:spcBef>
              <a:buClrTx/>
              <a:buSzTx/>
              <a:buFont typeface="+mj-lt"/>
              <a:buAutoNum type="romanLcPeriod" startAt="9"/>
              <a:defRPr/>
            </a:pPr>
            <a:endParaRPr lang="en-US" sz="2400" dirty="0">
              <a:solidFill>
                <a:prstClr val="black"/>
              </a:solidFill>
              <a:latin typeface="Book Antiqua" pitchFamily="18" charset="0"/>
              <a:cs typeface="Times New Roman" pitchFamily="18" charset="0"/>
            </a:endParaRPr>
          </a:p>
          <a:p>
            <a:pPr marL="609600" lvl="0" indent="-609600" algn="just">
              <a:spcBef>
                <a:spcPct val="20000"/>
              </a:spcBef>
              <a:buClrTx/>
              <a:buSzTx/>
              <a:buFont typeface="+mj-lt"/>
              <a:buAutoNum type="romanLcPeriod" startAt="9"/>
              <a:defRPr/>
            </a:pPr>
            <a:endParaRPr lang="en-US" sz="2400" dirty="0">
              <a:solidFill>
                <a:prstClr val="black"/>
              </a:solidFill>
              <a:latin typeface="Book Antiqua" pitchFamily="18" charset="0"/>
              <a:cs typeface="Times New Roman" pitchFamily="18" charset="0"/>
            </a:endParaRP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39</a:t>
            </a:fld>
            <a:endParaRPr lang="en-US"/>
          </a:p>
        </p:txBody>
      </p:sp>
      <p:sp>
        <p:nvSpPr>
          <p:cNvPr id="5" name="Title 4"/>
          <p:cNvSpPr>
            <a:spLocks noGrp="1"/>
          </p:cNvSpPr>
          <p:nvPr>
            <p:ph type="title"/>
          </p:nvPr>
        </p:nvSpPr>
        <p:spPr>
          <a:xfrm>
            <a:off x="457200" y="274638"/>
            <a:ext cx="8229600" cy="7159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3347724067"/>
      </p:ext>
    </p:extLst>
  </p:cSld>
  <p:clrMapOvr>
    <a:masterClrMapping/>
  </p:clrMapOvr>
  <p:transition spd="slow">
    <p:pull/>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5257800"/>
          </a:xfrm>
        </p:spPr>
        <p:txBody>
          <a:bodyPr>
            <a:normAutofit lnSpcReduction="10000"/>
          </a:bodyPr>
          <a:lstStyle/>
          <a:p>
            <a:pPr marL="0" lvl="0" indent="0" algn="just" fontAlgn="base">
              <a:spcBef>
                <a:spcPts val="575"/>
              </a:spcBef>
              <a:spcAft>
                <a:spcPct val="0"/>
              </a:spcAft>
              <a:buClr>
                <a:srgbClr val="D34817"/>
              </a:buClr>
              <a:buSzPct val="85000"/>
              <a:buNone/>
            </a:pPr>
            <a:r>
              <a:rPr lang="en-US" sz="2400" dirty="0">
                <a:solidFill>
                  <a:prstClr val="black"/>
                </a:solidFill>
                <a:latin typeface="Book Antiqua" pitchFamily="18" charset="0"/>
              </a:rPr>
              <a:t>The transducers may be classified in various ways such as on the:  </a:t>
            </a:r>
          </a:p>
          <a:p>
            <a:pPr marL="1920240" lvl="6" indent="-457200" algn="just" fontAlgn="base">
              <a:spcBef>
                <a:spcPts val="575"/>
              </a:spcBef>
              <a:spcAft>
                <a:spcPct val="0"/>
              </a:spcAft>
              <a:buClrTx/>
              <a:buSzPct val="85000"/>
              <a:buFont typeface="Wingdings" pitchFamily="2" charset="2"/>
              <a:buChar char="Ø"/>
            </a:pPr>
            <a:r>
              <a:rPr lang="en-US" sz="2400" dirty="0">
                <a:solidFill>
                  <a:prstClr val="black"/>
                </a:solidFill>
                <a:latin typeface="Book Antiqua" pitchFamily="18" charset="0"/>
              </a:rPr>
              <a:t>basis of the electrical principles involved</a:t>
            </a:r>
          </a:p>
          <a:p>
            <a:pPr marL="1920240" lvl="6" indent="-457200" algn="just" fontAlgn="base">
              <a:spcBef>
                <a:spcPts val="575"/>
              </a:spcBef>
              <a:spcAft>
                <a:spcPct val="0"/>
              </a:spcAft>
              <a:buClrTx/>
              <a:buSzPct val="85000"/>
              <a:buFont typeface="Wingdings" pitchFamily="2" charset="2"/>
              <a:buChar char="Ø"/>
            </a:pPr>
            <a:r>
              <a:rPr lang="en-US" sz="2400" dirty="0">
                <a:solidFill>
                  <a:prstClr val="black"/>
                </a:solidFill>
                <a:latin typeface="Book Antiqua" pitchFamily="18" charset="0"/>
              </a:rPr>
              <a:t>methods of application, </a:t>
            </a:r>
          </a:p>
          <a:p>
            <a:pPr marL="1920240" lvl="6" indent="-457200" algn="just" fontAlgn="base">
              <a:spcBef>
                <a:spcPts val="575"/>
              </a:spcBef>
              <a:spcAft>
                <a:spcPct val="0"/>
              </a:spcAft>
              <a:buClrTx/>
              <a:buSzPct val="85000"/>
              <a:buFont typeface="Wingdings" pitchFamily="2" charset="2"/>
              <a:buChar char="Ø"/>
            </a:pPr>
            <a:r>
              <a:rPr lang="en-US" sz="2400" dirty="0">
                <a:solidFill>
                  <a:prstClr val="black"/>
                </a:solidFill>
                <a:latin typeface="Book Antiqua" pitchFamily="18" charset="0"/>
              </a:rPr>
              <a:t>methods of energy conversion used, </a:t>
            </a:r>
          </a:p>
          <a:p>
            <a:pPr marL="1920240" lvl="6" indent="-457200" algn="just" fontAlgn="base">
              <a:spcBef>
                <a:spcPts val="575"/>
              </a:spcBef>
              <a:spcAft>
                <a:spcPct val="0"/>
              </a:spcAft>
              <a:buClrTx/>
              <a:buSzPct val="85000"/>
              <a:buFont typeface="Wingdings" pitchFamily="2" charset="2"/>
              <a:buChar char="Ø"/>
            </a:pPr>
            <a:r>
              <a:rPr lang="en-US" sz="2400" dirty="0">
                <a:solidFill>
                  <a:prstClr val="black"/>
                </a:solidFill>
                <a:latin typeface="Book Antiqua" pitchFamily="18" charset="0"/>
              </a:rPr>
              <a:t>nature of output signal etc.</a:t>
            </a:r>
          </a:p>
          <a:p>
            <a:pPr marL="0" indent="0" algn="just" fontAlgn="base">
              <a:spcBef>
                <a:spcPts val="575"/>
              </a:spcBef>
              <a:spcAft>
                <a:spcPct val="0"/>
              </a:spcAft>
              <a:buClrTx/>
              <a:buSzPct val="85000"/>
              <a:buNone/>
            </a:pPr>
            <a:r>
              <a:rPr lang="en-US" sz="2400" dirty="0">
                <a:solidFill>
                  <a:prstClr val="black"/>
                </a:solidFill>
                <a:latin typeface="Book Antiqua" pitchFamily="18" charset="0"/>
              </a:rPr>
              <a:t>Based on the above mentioned areas of classification, we obtain the following types of transducers</a:t>
            </a:r>
          </a:p>
          <a:p>
            <a:pPr marL="1920240" lvl="6" indent="-457200" algn="just" fontAlgn="base">
              <a:spcBef>
                <a:spcPts val="575"/>
              </a:spcBef>
              <a:spcAft>
                <a:spcPct val="0"/>
              </a:spcAft>
              <a:buClrTx/>
              <a:buSzPct val="85000"/>
              <a:buFont typeface="Wingdings" pitchFamily="2" charset="2"/>
              <a:buChar char="Ø"/>
            </a:pPr>
            <a:r>
              <a:rPr lang="en-US" sz="2400" dirty="0">
                <a:latin typeface="Book Antiqua" pitchFamily="18" charset="0"/>
              </a:rPr>
              <a:t>Primary and Secondary Transducers</a:t>
            </a:r>
          </a:p>
          <a:p>
            <a:pPr marL="1920240" lvl="6" indent="-457200" algn="just" fontAlgn="base">
              <a:spcBef>
                <a:spcPts val="575"/>
              </a:spcBef>
              <a:spcAft>
                <a:spcPct val="0"/>
              </a:spcAft>
              <a:buClrTx/>
              <a:buSzPct val="85000"/>
              <a:buFont typeface="Wingdings" pitchFamily="2" charset="2"/>
              <a:buChar char="Ø"/>
            </a:pPr>
            <a:r>
              <a:rPr lang="en-US" sz="2400" dirty="0">
                <a:latin typeface="Book Antiqua" pitchFamily="18" charset="0"/>
                <a:ea typeface="+mj-ea"/>
                <a:cs typeface="+mj-cs"/>
              </a:rPr>
              <a:t>Active and Passive Transducers. </a:t>
            </a:r>
          </a:p>
          <a:p>
            <a:pPr marL="1920240" lvl="6" indent="-457200" algn="just" fontAlgn="base">
              <a:spcBef>
                <a:spcPts val="575"/>
              </a:spcBef>
              <a:spcAft>
                <a:spcPct val="0"/>
              </a:spcAft>
              <a:buClrTx/>
              <a:buSzPct val="85000"/>
              <a:buFont typeface="Wingdings" pitchFamily="2" charset="2"/>
              <a:buChar char="Ø"/>
            </a:pPr>
            <a:r>
              <a:rPr lang="en-US" sz="2400" dirty="0">
                <a:latin typeface="Book Antiqua" pitchFamily="18" charset="0"/>
                <a:ea typeface="+mj-ea"/>
                <a:cs typeface="Times New Roman" pitchFamily="18" charset="0"/>
              </a:rPr>
              <a:t>Analog and Digital Transducers</a:t>
            </a:r>
          </a:p>
          <a:p>
            <a:pPr marL="1920240" lvl="6" indent="-457200" algn="just" fontAlgn="base">
              <a:spcBef>
                <a:spcPts val="575"/>
              </a:spcBef>
              <a:spcAft>
                <a:spcPct val="0"/>
              </a:spcAft>
              <a:buClrTx/>
              <a:buSzPct val="85000"/>
              <a:buFont typeface="Wingdings" pitchFamily="2" charset="2"/>
              <a:buChar char="Ø"/>
            </a:pPr>
            <a:r>
              <a:rPr lang="en-US" sz="2400" dirty="0">
                <a:solidFill>
                  <a:prstClr val="black"/>
                </a:solidFill>
                <a:latin typeface="Book Antiqua" pitchFamily="18" charset="0"/>
                <a:cs typeface="Times New Roman" pitchFamily="18" charset="0"/>
              </a:rPr>
              <a:t>On the basis of transduction principle used.</a:t>
            </a:r>
            <a:endParaRPr lang="en-US" sz="2400" dirty="0">
              <a:latin typeface="Book Antiqua" pitchFamily="18" charset="0"/>
              <a:ea typeface="+mj-ea"/>
              <a:cs typeface="Times New Roman" pitchFamily="18" charset="0"/>
            </a:endParaRPr>
          </a:p>
          <a:p>
            <a:pPr marL="1920240" lvl="6" indent="-457200" algn="just" fontAlgn="base">
              <a:spcBef>
                <a:spcPts val="575"/>
              </a:spcBef>
              <a:spcAft>
                <a:spcPct val="0"/>
              </a:spcAft>
              <a:buClrTx/>
              <a:buSzPct val="85000"/>
              <a:buFont typeface="Wingdings" pitchFamily="2" charset="2"/>
              <a:buChar char="Ø"/>
            </a:pPr>
            <a:r>
              <a:rPr lang="en-US" sz="2400" dirty="0">
                <a:latin typeface="Book Antiqua" pitchFamily="18" charset="0"/>
                <a:ea typeface="+mj-ea"/>
                <a:cs typeface="Times New Roman" pitchFamily="18" charset="0"/>
              </a:rPr>
              <a:t>Transducers and Inverse Transducers. </a:t>
            </a:r>
          </a:p>
          <a:p>
            <a:pPr marL="0" indent="0" algn="just" fontAlgn="base">
              <a:spcBef>
                <a:spcPts val="575"/>
              </a:spcBef>
              <a:spcAft>
                <a:spcPct val="0"/>
              </a:spcAft>
              <a:buClrTx/>
              <a:buSzPct val="85000"/>
              <a:buNone/>
            </a:pPr>
            <a:endParaRPr lang="en-US" sz="2600" dirty="0">
              <a:solidFill>
                <a:prstClr val="black"/>
              </a:solidFill>
              <a:latin typeface="Book Antiqua" pitchFamily="18" charset="0"/>
            </a:endParaRPr>
          </a:p>
          <a:p>
            <a:pPr marL="0" indent="0" algn="just" fontAlgn="base">
              <a:spcBef>
                <a:spcPts val="575"/>
              </a:spcBef>
              <a:spcAft>
                <a:spcPct val="0"/>
              </a:spcAft>
              <a:buClrTx/>
              <a:buSzPct val="85000"/>
              <a:buNone/>
            </a:pPr>
            <a:endParaRPr lang="en-US" sz="3500" dirty="0">
              <a:solidFill>
                <a:prstClr val="black"/>
              </a:solidFill>
              <a:latin typeface="Book Antiqua" pitchFamily="18" charset="0"/>
            </a:endParaRPr>
          </a:p>
          <a:p>
            <a:endParaRPr lang="en-US" sz="2400" dirty="0">
              <a:latin typeface="Book Antiqua" pitchFamily="18" charset="0"/>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40</a:t>
            </a:fld>
            <a:endParaRPr lang="en-US"/>
          </a:p>
        </p:txBody>
      </p:sp>
      <p:sp>
        <p:nvSpPr>
          <p:cNvPr id="5" name="Title 4"/>
          <p:cNvSpPr>
            <a:spLocks noGrp="1"/>
          </p:cNvSpPr>
          <p:nvPr>
            <p:ph type="title"/>
          </p:nvPr>
        </p:nvSpPr>
        <p:spPr>
          <a:xfrm>
            <a:off x="457200" y="274638"/>
            <a:ext cx="8229600" cy="792162"/>
          </a:xfrm>
        </p:spPr>
        <p:txBody>
          <a:bodyPr>
            <a:normAutofit/>
          </a:bodyPr>
          <a:lstStyle/>
          <a:p>
            <a:pPr algn="ctr"/>
            <a:r>
              <a:rPr lang="en-US" sz="3200" dirty="0">
                <a:solidFill>
                  <a:schemeClr val="tx1"/>
                </a:solidFill>
                <a:effectLst/>
                <a:latin typeface="Book Antiqua" pitchFamily="18" charset="0"/>
              </a:rPr>
              <a:t>Classification Of Transducers</a:t>
            </a:r>
            <a:endParaRPr lang="en-US" sz="3200" dirty="0">
              <a:solidFill>
                <a:schemeClr val="tx1"/>
              </a:solidFill>
              <a:latin typeface="Book Antiqua" pitchFamily="18" charset="0"/>
            </a:endParaRPr>
          </a:p>
        </p:txBody>
      </p:sp>
    </p:spTree>
    <p:extLst>
      <p:ext uri="{BB962C8B-B14F-4D97-AF65-F5344CB8AC3E}">
        <p14:creationId xmlns:p14="http://schemas.microsoft.com/office/powerpoint/2010/main" val="3578994382"/>
      </p:ext>
    </p:extLst>
  </p:cSld>
  <p:clrMapOvr>
    <a:masterClrMapping/>
  </p:clrMapOvr>
  <p:transition spd="slow">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609600"/>
            <a:ext cx="8229600" cy="5867400"/>
          </a:xfrm>
        </p:spPr>
        <p:txBody>
          <a:bodyPr>
            <a:normAutofit fontScale="92500" lnSpcReduction="20000"/>
          </a:bodyPr>
          <a:lstStyle/>
          <a:p>
            <a:pPr marL="0" lvl="0" indent="0" algn="just" fontAlgn="base">
              <a:spcBef>
                <a:spcPts val="575"/>
              </a:spcBef>
              <a:spcAft>
                <a:spcPct val="0"/>
              </a:spcAft>
              <a:buClr>
                <a:srgbClr val="D34817"/>
              </a:buClr>
              <a:buSzPct val="85000"/>
              <a:buNone/>
            </a:pPr>
            <a:r>
              <a:rPr lang="en-US" sz="3400" b="1" dirty="0">
                <a:solidFill>
                  <a:prstClr val="black"/>
                </a:solidFill>
                <a:latin typeface="Book Antiqua" pitchFamily="18" charset="0"/>
              </a:rPr>
              <a:t>1. </a:t>
            </a:r>
            <a:r>
              <a:rPr lang="en-US" sz="3500" b="1" dirty="0">
                <a:solidFill>
                  <a:prstClr val="black"/>
                </a:solidFill>
                <a:latin typeface="Book Antiqua" pitchFamily="18" charset="0"/>
              </a:rPr>
              <a:t>Primary and Secondary Transducers</a:t>
            </a:r>
            <a:endParaRPr lang="en-US" sz="3500" dirty="0">
              <a:solidFill>
                <a:prstClr val="black"/>
              </a:solidFill>
              <a:latin typeface="Perpetua" pitchFamily="18" charset="0"/>
            </a:endParaRPr>
          </a:p>
          <a:p>
            <a:pPr marL="0" lvl="0" indent="0" algn="just" fontAlgn="base">
              <a:spcBef>
                <a:spcPts val="575"/>
              </a:spcBef>
              <a:spcAft>
                <a:spcPct val="0"/>
              </a:spcAft>
              <a:buClr>
                <a:srgbClr val="D34817"/>
              </a:buClr>
              <a:buSzPct val="85000"/>
              <a:buNone/>
            </a:pPr>
            <a:r>
              <a:rPr lang="en-US" sz="2800" dirty="0">
                <a:solidFill>
                  <a:prstClr val="black"/>
                </a:solidFill>
                <a:latin typeface="Perpetua" pitchFamily="18" charset="0"/>
              </a:rPr>
              <a:t>Transducers, on the basis of methods of applications, may be classified into primary and secondary transducers. </a:t>
            </a:r>
          </a:p>
          <a:p>
            <a:pPr marL="457200" lvl="0" indent="-457200" algn="just" fontAlgn="base">
              <a:spcBef>
                <a:spcPts val="575"/>
              </a:spcBef>
              <a:spcAft>
                <a:spcPct val="0"/>
              </a:spcAft>
              <a:buClrTx/>
              <a:buSzPct val="85000"/>
              <a:buFont typeface="Wingdings" pitchFamily="2" charset="2"/>
              <a:buChar char="Ø"/>
            </a:pPr>
            <a:r>
              <a:rPr lang="en-US" sz="2800" dirty="0">
                <a:latin typeface="Perpetua" pitchFamily="18" charset="0"/>
              </a:rPr>
              <a:t>When the input signal is directly sensed by the transducer and physical phenomenon is converted into the electrical form directly then such a transducer is called the </a:t>
            </a:r>
            <a:r>
              <a:rPr lang="en-US" sz="2800" b="1" dirty="0">
                <a:latin typeface="Perpetua" pitchFamily="18" charset="0"/>
              </a:rPr>
              <a:t>primary transducer.</a:t>
            </a:r>
          </a:p>
          <a:p>
            <a:pPr marL="0" lvl="0" indent="0" algn="just" fontAlgn="base">
              <a:spcBef>
                <a:spcPts val="575"/>
              </a:spcBef>
              <a:spcAft>
                <a:spcPct val="0"/>
              </a:spcAft>
              <a:buClrTx/>
              <a:buSzPct val="85000"/>
              <a:buNone/>
            </a:pPr>
            <a:r>
              <a:rPr lang="en-US" sz="2800" dirty="0">
                <a:solidFill>
                  <a:prstClr val="black"/>
                </a:solidFill>
                <a:latin typeface="Perpetua" pitchFamily="18" charset="0"/>
              </a:rPr>
              <a:t>For example a thermistor used for the measurement of temperature fall in this category. The thermistor senses the temperature directly and causes the change in resistance with the change in temperature. </a:t>
            </a:r>
          </a:p>
          <a:p>
            <a:pPr marL="457200" lvl="0" indent="-457200" algn="just" fontAlgn="base">
              <a:spcBef>
                <a:spcPts val="575"/>
              </a:spcBef>
              <a:spcAft>
                <a:spcPct val="0"/>
              </a:spcAft>
              <a:buClrTx/>
              <a:buSzPct val="85000"/>
              <a:buFont typeface="Wingdings" pitchFamily="2" charset="2"/>
              <a:buChar char="Ø"/>
            </a:pPr>
            <a:r>
              <a:rPr lang="en-US" sz="2800" dirty="0">
                <a:solidFill>
                  <a:prstClr val="black"/>
                </a:solidFill>
                <a:latin typeface="Perpetua" pitchFamily="18" charset="0"/>
              </a:rPr>
              <a:t>When the input signal is sensed first by some detector or sensor and then its output being of some form other than input signals is given as input to a transducer for conversion into electrical form, then such a transducer falls in the category of </a:t>
            </a:r>
            <a:r>
              <a:rPr lang="en-US" sz="2800" b="1" dirty="0">
                <a:solidFill>
                  <a:prstClr val="black"/>
                </a:solidFill>
                <a:latin typeface="Perpetua" pitchFamily="18" charset="0"/>
              </a:rPr>
              <a:t>secondary transducers</a:t>
            </a:r>
            <a:r>
              <a:rPr lang="en-US" sz="2800" dirty="0">
                <a:solidFill>
                  <a:prstClr val="black"/>
                </a:solidFill>
                <a:latin typeface="Perpetua" pitchFamily="18" charset="0"/>
              </a:rPr>
              <a:t>. </a:t>
            </a: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41</a:t>
            </a:fld>
            <a:endParaRPr lang="en-US"/>
          </a:p>
        </p:txBody>
      </p:sp>
      <p:sp>
        <p:nvSpPr>
          <p:cNvPr id="5" name="Title 4"/>
          <p:cNvSpPr>
            <a:spLocks noGrp="1"/>
          </p:cNvSpPr>
          <p:nvPr>
            <p:ph type="title"/>
          </p:nvPr>
        </p:nvSpPr>
        <p:spPr>
          <a:xfrm>
            <a:off x="304800" y="152400"/>
            <a:ext cx="8382000" cy="563562"/>
          </a:xfrm>
        </p:spPr>
        <p:txBody>
          <a:bodyPr>
            <a:normAutofit fontScale="90000"/>
          </a:bodyPr>
          <a:lstStyle/>
          <a:p>
            <a:pPr marL="1920240" lvl="1" indent="-457200" algn="l" rtl="0" fontAlgn="base">
              <a:spcBef>
                <a:spcPts val="575"/>
              </a:spcBef>
              <a:spcAft>
                <a:spcPct val="0"/>
              </a:spcAft>
            </a:pPr>
            <a:r>
              <a:rPr lang="en-US" sz="3200" b="1" dirty="0">
                <a:solidFill>
                  <a:schemeClr val="tx1"/>
                </a:solidFill>
              </a:rPr>
              <a:t>Cont.. </a:t>
            </a:r>
          </a:p>
        </p:txBody>
      </p:sp>
    </p:spTree>
    <p:extLst>
      <p:ext uri="{BB962C8B-B14F-4D97-AF65-F5344CB8AC3E}">
        <p14:creationId xmlns:p14="http://schemas.microsoft.com/office/powerpoint/2010/main" val="4152061472"/>
      </p:ext>
    </p:extLst>
  </p:cSld>
  <p:clrMapOvr>
    <a:masterClrMapping/>
  </p:clrMapOvr>
  <p:transition spd="slow">
    <p:pull/>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762000"/>
            <a:ext cx="8229600" cy="5715000"/>
          </a:xfrm>
        </p:spPr>
        <p:txBody>
          <a:bodyPr>
            <a:normAutofit fontScale="92500" lnSpcReduction="20000"/>
          </a:bodyPr>
          <a:lstStyle/>
          <a:p>
            <a:pPr marL="0" lvl="0" indent="0" algn="just" fontAlgn="base">
              <a:spcBef>
                <a:spcPts val="575"/>
              </a:spcBef>
              <a:spcAft>
                <a:spcPct val="0"/>
              </a:spcAft>
              <a:buClrTx/>
              <a:buSzPct val="85000"/>
              <a:buNone/>
            </a:pPr>
            <a:r>
              <a:rPr lang="en-US" sz="2600" dirty="0">
                <a:solidFill>
                  <a:prstClr val="black"/>
                </a:solidFill>
                <a:latin typeface="Book Antiqua" pitchFamily="18" charset="0"/>
              </a:rPr>
              <a:t>For example 2, in case of pressure measurement, bourdon tube is a primary sensor which converts pressure first into displacement, and then the displacement is converted into an output voltage by an Linear Variable Differential Transducer (LVDT). In this case LVDT is secondary transducer.</a:t>
            </a:r>
          </a:p>
          <a:p>
            <a:pPr algn="just"/>
            <a:endParaRPr lang="en-US" sz="2600" dirty="0">
              <a:latin typeface="Book Antiqua" pitchFamily="18" charset="0"/>
            </a:endParaRPr>
          </a:p>
          <a:p>
            <a:pPr marL="109728" indent="0" algn="just">
              <a:buNone/>
            </a:pPr>
            <a:r>
              <a:rPr lang="en-US" sz="2600" b="1" dirty="0">
                <a:latin typeface="Book Antiqua" pitchFamily="18" charset="0"/>
              </a:rPr>
              <a:t>Another example</a:t>
            </a:r>
          </a:p>
          <a:p>
            <a:pPr marL="342900" lvl="0" indent="-342900" algn="just" fontAlgn="base">
              <a:spcBef>
                <a:spcPct val="50000"/>
              </a:spcBef>
              <a:spcAft>
                <a:spcPct val="0"/>
              </a:spcAft>
              <a:buClrTx/>
              <a:buSzTx/>
              <a:buFont typeface="Wingdings" pitchFamily="2" charset="2"/>
              <a:buChar char="Ø"/>
            </a:pPr>
            <a:r>
              <a:rPr lang="en-US" sz="2600" dirty="0">
                <a:solidFill>
                  <a:prstClr val="black"/>
                </a:solidFill>
                <a:latin typeface="Book Antiqua" pitchFamily="18" charset="0"/>
                <a:cs typeface="Times New Roman" pitchFamily="18" charset="0"/>
              </a:rPr>
              <a:t>Some transducers contain the mechanical as well as electrical device. The mechanical device converts the physical quantity to be measured into a mechanical signal. Such mechanical device are called as the primary transducers, because they deal with the physical quantity to be measured.</a:t>
            </a:r>
          </a:p>
          <a:p>
            <a:pPr marL="342900" lvl="0" indent="-342900" algn="just" fontAlgn="base">
              <a:spcBef>
                <a:spcPct val="50000"/>
              </a:spcBef>
              <a:spcAft>
                <a:spcPct val="0"/>
              </a:spcAft>
              <a:buClrTx/>
              <a:buSzTx/>
              <a:buFont typeface="Wingdings" pitchFamily="2" charset="2"/>
              <a:buChar char="Ø"/>
            </a:pPr>
            <a:r>
              <a:rPr lang="en-US" sz="2600" dirty="0">
                <a:solidFill>
                  <a:prstClr val="black"/>
                </a:solidFill>
                <a:latin typeface="Book Antiqua" pitchFamily="18" charset="0"/>
                <a:cs typeface="Times New Roman" pitchFamily="18" charset="0"/>
              </a:rPr>
              <a:t>The electrical device then convert this mechanical signal into a corresponding electrical signal. Such electrical device are known as secondary transducers</a:t>
            </a:r>
            <a:r>
              <a:rPr lang="en-US" sz="2400" dirty="0">
                <a:solidFill>
                  <a:prstClr val="black"/>
                </a:solidFill>
                <a:latin typeface="Times New Roman" pitchFamily="18" charset="0"/>
                <a:cs typeface="Times New Roman" pitchFamily="18" charset="0"/>
              </a:rPr>
              <a:t>.</a:t>
            </a:r>
            <a:endParaRPr lang="en-US" sz="2400" dirty="0">
              <a:solidFill>
                <a:prstClr val="black"/>
              </a:solidFill>
              <a:latin typeface="Calibri" pitchFamily="34" charset="0"/>
              <a:cs typeface="Arial" charset="0"/>
            </a:endParaRPr>
          </a:p>
          <a:p>
            <a:pPr marL="109728" indent="0">
              <a:buNone/>
            </a:pPr>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42</a:t>
            </a:fld>
            <a:endParaRPr lang="en-US"/>
          </a:p>
        </p:txBody>
      </p:sp>
      <p:sp>
        <p:nvSpPr>
          <p:cNvPr id="5" name="Title 4"/>
          <p:cNvSpPr>
            <a:spLocks noGrp="1"/>
          </p:cNvSpPr>
          <p:nvPr>
            <p:ph type="title"/>
          </p:nvPr>
        </p:nvSpPr>
        <p:spPr>
          <a:xfrm>
            <a:off x="457200" y="152400"/>
            <a:ext cx="8229600" cy="563562"/>
          </a:xfrm>
        </p:spPr>
        <p:txBody>
          <a:bodyPr>
            <a:normAutofit fontScale="90000"/>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1583995507"/>
      </p:ext>
    </p:extLst>
  </p:cSld>
  <p:clrMapOvr>
    <a:masterClrMapping/>
  </p:clrMapOvr>
  <p:transition spd="slow">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762000"/>
            <a:ext cx="8229600" cy="5715000"/>
          </a:xfrm>
        </p:spPr>
        <p:txBody>
          <a:bodyPr/>
          <a:lstStyle/>
          <a:p>
            <a:pPr marL="342900" lvl="0" indent="-342900" algn="just" fontAlgn="base">
              <a:spcBef>
                <a:spcPct val="0"/>
              </a:spcBef>
              <a:spcAft>
                <a:spcPct val="0"/>
              </a:spcAft>
              <a:buClrTx/>
              <a:buSzTx/>
              <a:buFont typeface="Wingdings" pitchFamily="2" charset="2"/>
              <a:buChar char="Ø"/>
            </a:pPr>
            <a:r>
              <a:rPr lang="en-US" sz="2400" dirty="0">
                <a:solidFill>
                  <a:prstClr val="black"/>
                </a:solidFill>
                <a:latin typeface="Book Antiqua" pitchFamily="18" charset="0"/>
                <a:cs typeface="Times New Roman" pitchFamily="18" charset="0"/>
              </a:rPr>
              <a:t>Refer the figure below in which the diaphragm  act as primary transducer. It convert pressure (the quantity to be measured) into displacement(the mechanical signal).</a:t>
            </a:r>
          </a:p>
          <a:p>
            <a:pPr marL="342900" lvl="0" indent="-342900" algn="just" fontAlgn="base">
              <a:spcBef>
                <a:spcPct val="0"/>
              </a:spcBef>
              <a:spcAft>
                <a:spcPct val="0"/>
              </a:spcAft>
              <a:buClrTx/>
              <a:buSzTx/>
              <a:buFont typeface="Wingdings" pitchFamily="2" charset="2"/>
              <a:buChar char="Ø"/>
            </a:pPr>
            <a:r>
              <a:rPr lang="en-US" sz="2400" dirty="0">
                <a:solidFill>
                  <a:prstClr val="black"/>
                </a:solidFill>
                <a:latin typeface="Book Antiqua" pitchFamily="18" charset="0"/>
                <a:cs typeface="Times New Roman" pitchFamily="18" charset="0"/>
              </a:rPr>
              <a:t>The displacement is then converted into change in resistance using strain gauge. Hence strain gauge acts as the secondary transducer.</a:t>
            </a:r>
          </a:p>
          <a:p>
            <a:pPr marL="342900" lvl="0" indent="-342900" fontAlgn="base">
              <a:spcBef>
                <a:spcPct val="0"/>
              </a:spcBef>
              <a:spcAft>
                <a:spcPct val="0"/>
              </a:spcAft>
              <a:buClrTx/>
              <a:buSzTx/>
              <a:buFont typeface="Wingdings" pitchFamily="2" charset="2"/>
              <a:buChar char="Ø"/>
            </a:pPr>
            <a:endParaRPr lang="en-US" sz="2400" dirty="0">
              <a:solidFill>
                <a:prstClr val="black"/>
              </a:solidFill>
              <a:latin typeface="Book Antiqua" pitchFamily="18" charset="0"/>
              <a:cs typeface="Times New Roman" pitchFamily="18" charset="0"/>
            </a:endParaRP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43</a:t>
            </a:fld>
            <a:endParaRPr lang="en-US"/>
          </a:p>
        </p:txBody>
      </p:sp>
      <p:sp>
        <p:nvSpPr>
          <p:cNvPr id="5" name="Title 4"/>
          <p:cNvSpPr>
            <a:spLocks noGrp="1"/>
          </p:cNvSpPr>
          <p:nvPr>
            <p:ph type="title"/>
          </p:nvPr>
        </p:nvSpPr>
        <p:spPr>
          <a:xfrm>
            <a:off x="457200" y="152400"/>
            <a:ext cx="8229600" cy="533400"/>
          </a:xfrm>
        </p:spPr>
        <p:txBody>
          <a:bodyPr>
            <a:normAutofit fontScale="90000"/>
          </a:bodyPr>
          <a:lstStyle/>
          <a:p>
            <a:r>
              <a:rPr lang="en-US" sz="3200" dirty="0">
                <a:solidFill>
                  <a:schemeClr val="tx1"/>
                </a:solidFill>
                <a:effectLst/>
                <a:latin typeface="Book Antiqua" pitchFamily="18" charset="0"/>
              </a:rPr>
              <a:t>Cont.. </a:t>
            </a: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8745" y="3200400"/>
            <a:ext cx="58674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3655842"/>
      </p:ext>
    </p:extLst>
  </p:cSld>
  <p:clrMapOvr>
    <a:masterClrMapping/>
  </p:clrMapOvr>
  <p:transition spd="slow">
    <p:pull/>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410200"/>
          </a:xfrm>
        </p:spPr>
        <p:txBody>
          <a:bodyPr>
            <a:normAutofit/>
          </a:bodyPr>
          <a:lstStyle/>
          <a:p>
            <a:pPr marL="0" lvl="0" indent="0" algn="just" fontAlgn="base">
              <a:spcBef>
                <a:spcPts val="575"/>
              </a:spcBef>
              <a:spcAft>
                <a:spcPct val="0"/>
              </a:spcAft>
              <a:buClrTx/>
              <a:buSzPct val="85000"/>
              <a:buNone/>
            </a:pPr>
            <a:r>
              <a:rPr lang="en-US" sz="3200" b="1" dirty="0">
                <a:solidFill>
                  <a:prstClr val="black"/>
                </a:solidFill>
                <a:latin typeface="Book Antiqua" pitchFamily="18" charset="0"/>
                <a:ea typeface="+mj-ea"/>
                <a:cs typeface="+mj-cs"/>
              </a:rPr>
              <a:t>2. Active and Passive Transducers </a:t>
            </a:r>
          </a:p>
          <a:p>
            <a:pPr marL="0" lvl="0" indent="0" algn="just" fontAlgn="base">
              <a:spcBef>
                <a:spcPts val="575"/>
              </a:spcBef>
              <a:spcAft>
                <a:spcPct val="0"/>
              </a:spcAft>
              <a:buClrTx/>
              <a:buSzPct val="85000"/>
              <a:buNone/>
            </a:pPr>
            <a:endParaRPr lang="en-US" sz="3200" b="1" dirty="0">
              <a:solidFill>
                <a:prstClr val="black"/>
              </a:solidFill>
              <a:latin typeface="Book Antiqua" pitchFamily="18" charset="0"/>
              <a:ea typeface="+mj-ea"/>
              <a:cs typeface="+mj-cs"/>
            </a:endParaRPr>
          </a:p>
          <a:p>
            <a:pPr marL="0" lvl="0" indent="0" algn="just" fontAlgn="base">
              <a:spcBef>
                <a:spcPts val="575"/>
              </a:spcBef>
              <a:spcAft>
                <a:spcPct val="0"/>
              </a:spcAft>
              <a:buClrTx/>
              <a:buSzPct val="85000"/>
              <a:buNone/>
            </a:pPr>
            <a:r>
              <a:rPr lang="en-US" sz="2400" b="1" dirty="0">
                <a:solidFill>
                  <a:prstClr val="black"/>
                </a:solidFill>
                <a:latin typeface="Book Antiqua" pitchFamily="18" charset="0"/>
                <a:ea typeface="+mj-ea"/>
                <a:cs typeface="+mj-cs"/>
              </a:rPr>
              <a:t>Active transducers</a:t>
            </a:r>
            <a:endParaRPr lang="en-US" sz="2400" dirty="0">
              <a:solidFill>
                <a:prstClr val="black"/>
              </a:solidFill>
              <a:latin typeface="Perpetua"/>
            </a:endParaRPr>
          </a:p>
          <a:p>
            <a:pPr marL="0" lvl="0" indent="0" algn="just" fontAlgn="base">
              <a:spcBef>
                <a:spcPts val="575"/>
              </a:spcBef>
              <a:spcAft>
                <a:spcPct val="0"/>
              </a:spcAft>
              <a:buClrTx/>
              <a:buSzPct val="85000"/>
              <a:buNone/>
            </a:pPr>
            <a:r>
              <a:rPr lang="en-US" sz="2400" dirty="0">
                <a:solidFill>
                  <a:prstClr val="black"/>
                </a:solidFill>
                <a:latin typeface="Book Antiqua" pitchFamily="18" charset="0"/>
              </a:rPr>
              <a:t>Transducers, on the basis of methods of energy conversion used, may be classified into active and passive transducers. Self-generating type transducers i.e. the transducers, which develop their output the form of electrical voltage or current without any auxiliary source</a:t>
            </a:r>
            <a:r>
              <a:rPr lang="en-US" sz="2400" i="1" dirty="0">
                <a:solidFill>
                  <a:prstClr val="black"/>
                </a:solidFill>
                <a:latin typeface="Book Antiqua" pitchFamily="18" charset="0"/>
              </a:rPr>
              <a:t>, </a:t>
            </a:r>
            <a:r>
              <a:rPr lang="en-US" sz="2400" dirty="0">
                <a:solidFill>
                  <a:prstClr val="black"/>
                </a:solidFill>
                <a:latin typeface="Book Antiqua" pitchFamily="18" charset="0"/>
              </a:rPr>
              <a:t>are called the </a:t>
            </a:r>
            <a:r>
              <a:rPr lang="en-US" sz="2400" b="1" dirty="0">
                <a:solidFill>
                  <a:prstClr val="black"/>
                </a:solidFill>
                <a:latin typeface="Book Antiqua" pitchFamily="18" charset="0"/>
              </a:rPr>
              <a:t>active transducers</a:t>
            </a:r>
            <a:r>
              <a:rPr lang="en-US" sz="2400" b="1" i="1" dirty="0">
                <a:solidFill>
                  <a:prstClr val="black"/>
                </a:solidFill>
                <a:latin typeface="Book Antiqua" pitchFamily="18" charset="0"/>
              </a:rPr>
              <a:t>. </a:t>
            </a:r>
            <a:r>
              <a:rPr lang="en-US" sz="2400" dirty="0">
                <a:solidFill>
                  <a:prstClr val="black"/>
                </a:solidFill>
                <a:latin typeface="Book Antiqua" pitchFamily="18" charset="0"/>
              </a:rPr>
              <a:t>Such transducers draw energy from the system under measurement. Normal such transducers give very small output and, therefore, use of amplifier becomes essential. </a:t>
            </a:r>
          </a:p>
          <a:p>
            <a:pPr marL="273050" lvl="0" indent="-273050" algn="just" fontAlgn="base">
              <a:spcBef>
                <a:spcPts val="575"/>
              </a:spcBef>
              <a:spcAft>
                <a:spcPct val="0"/>
              </a:spcAft>
              <a:buClr>
                <a:srgbClr val="D34817"/>
              </a:buClr>
              <a:buSzPct val="85000"/>
              <a:buFont typeface="Wingdings 2" pitchFamily="18" charset="2"/>
              <a:buChar char=""/>
            </a:pPr>
            <a:endParaRPr lang="en-US" sz="2600" dirty="0">
              <a:solidFill>
                <a:prstClr val="black"/>
              </a:solidFill>
              <a:latin typeface="Perpetua"/>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44</a:t>
            </a:fld>
            <a:endParaRPr lang="en-US"/>
          </a:p>
        </p:txBody>
      </p:sp>
      <p:sp>
        <p:nvSpPr>
          <p:cNvPr id="5" name="Title 4"/>
          <p:cNvSpPr>
            <a:spLocks noGrp="1"/>
          </p:cNvSpPr>
          <p:nvPr>
            <p:ph type="title"/>
          </p:nvPr>
        </p:nvSpPr>
        <p:spPr>
          <a:xfrm>
            <a:off x="533400" y="152400"/>
            <a:ext cx="8229600" cy="7159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2294541474"/>
      </p:ext>
    </p:extLst>
  </p:cSld>
  <p:clrMapOvr>
    <a:masterClrMapping/>
  </p:clrMapOvr>
  <p:transition spd="slow">
    <p:pull/>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73EDECB-2FAA-459C-97B3-E12F4C12D356}" type="slidenum">
              <a:rPr lang="en-US" smtClean="0"/>
              <a:t>45</a:t>
            </a:fld>
            <a:endParaRPr lang="en-US"/>
          </a:p>
        </p:txBody>
      </p:sp>
      <p:sp>
        <p:nvSpPr>
          <p:cNvPr id="5" name="Title 4"/>
          <p:cNvSpPr>
            <a:spLocks noGrp="1"/>
          </p:cNvSpPr>
          <p:nvPr>
            <p:ph type="title"/>
          </p:nvPr>
        </p:nvSpPr>
        <p:spPr>
          <a:xfrm>
            <a:off x="457200" y="274638"/>
            <a:ext cx="8229600" cy="715962"/>
          </a:xfrm>
        </p:spPr>
        <p:txBody>
          <a:bodyPr>
            <a:normAutofit/>
          </a:bodyPr>
          <a:lstStyle/>
          <a:p>
            <a:r>
              <a:rPr lang="en-US" sz="3200" dirty="0">
                <a:solidFill>
                  <a:schemeClr val="tx1"/>
                </a:solidFill>
                <a:effectLst/>
                <a:latin typeface="Book Antiqua" pitchFamily="18" charset="0"/>
              </a:rPr>
              <a:t>Cont.. </a:t>
            </a:r>
          </a:p>
        </p:txBody>
      </p:sp>
      <p:pic>
        <p:nvPicPr>
          <p:cNvPr id="6"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1219200"/>
            <a:ext cx="7010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7688848"/>
      </p:ext>
    </p:extLst>
  </p:cSld>
  <p:clrMapOvr>
    <a:masterClrMapping/>
  </p:clrMapOvr>
  <p:transition spd="slow">
    <p:pull/>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sz="2400" dirty="0">
                <a:solidFill>
                  <a:prstClr val="black"/>
                </a:solidFill>
                <a:latin typeface="Book Antiqua" pitchFamily="18" charset="0"/>
                <a:ea typeface="+mj-ea"/>
                <a:cs typeface="+mj-cs"/>
              </a:rPr>
              <a:t>Example </a:t>
            </a:r>
          </a:p>
          <a:p>
            <a:pPr marL="109728" indent="0">
              <a:buNone/>
            </a:pPr>
            <a:endParaRPr lang="en-US" sz="2400" dirty="0">
              <a:solidFill>
                <a:prstClr val="black"/>
              </a:solidFill>
              <a:latin typeface="Book Antiqua" pitchFamily="18" charset="0"/>
              <a:ea typeface="+mj-ea"/>
              <a:cs typeface="+mj-cs"/>
            </a:endParaRPr>
          </a:p>
          <a:p>
            <a:pPr marL="109728" indent="0">
              <a:buNone/>
            </a:pPr>
            <a:r>
              <a:rPr lang="en-US" sz="2400" dirty="0">
                <a:solidFill>
                  <a:prstClr val="black"/>
                </a:solidFill>
                <a:latin typeface="Book Antiqua" pitchFamily="18" charset="0"/>
                <a:ea typeface="+mj-ea"/>
                <a:cs typeface="+mj-cs"/>
              </a:rPr>
              <a:t>Piezoelectric  Transducer</a:t>
            </a: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46</a:t>
            </a:fld>
            <a:endParaRPr lang="en-US"/>
          </a:p>
        </p:txBody>
      </p:sp>
      <p:sp>
        <p:nvSpPr>
          <p:cNvPr id="5" name="Title 4"/>
          <p:cNvSpPr>
            <a:spLocks noGrp="1"/>
          </p:cNvSpPr>
          <p:nvPr>
            <p:ph type="title"/>
          </p:nvPr>
        </p:nvSpPr>
        <p:spPr>
          <a:xfrm>
            <a:off x="457200" y="274638"/>
            <a:ext cx="8229600" cy="563562"/>
          </a:xfrm>
        </p:spPr>
        <p:txBody>
          <a:bodyPr>
            <a:normAutofit/>
          </a:bodyPr>
          <a:lstStyle/>
          <a:p>
            <a:r>
              <a:rPr lang="en-US" sz="2400" dirty="0">
                <a:solidFill>
                  <a:schemeClr val="tx1"/>
                </a:solidFill>
                <a:effectLst/>
                <a:latin typeface="Book Antiqua" pitchFamily="18" charset="0"/>
              </a:rPr>
              <a:t>Cont.. </a:t>
            </a:r>
          </a:p>
        </p:txBody>
      </p:sp>
      <p:pic>
        <p:nvPicPr>
          <p:cNvPr id="6" name="Picture 2" descr="C:\Users\GPC\Pictures\SchemaPiez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2643188"/>
            <a:ext cx="3171825"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8836368"/>
      </p:ext>
    </p:extLst>
  </p:cSld>
  <p:clrMapOvr>
    <a:masterClrMapping/>
  </p:clrMapOvr>
  <p:transition spd="slow">
    <p:pull/>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sz="2800" b="1" dirty="0">
                <a:latin typeface="Book Antiqua" pitchFamily="18" charset="0"/>
              </a:rPr>
              <a:t>Passive transducer </a:t>
            </a:r>
          </a:p>
          <a:p>
            <a:pPr marL="0" lvl="0" indent="0" algn="just" fontAlgn="base">
              <a:spcBef>
                <a:spcPts val="575"/>
              </a:spcBef>
              <a:spcAft>
                <a:spcPct val="0"/>
              </a:spcAft>
              <a:buClrTx/>
              <a:buSzPct val="85000"/>
              <a:buNone/>
            </a:pPr>
            <a:r>
              <a:rPr lang="en-US" sz="2400" dirty="0">
                <a:solidFill>
                  <a:prstClr val="black"/>
                </a:solidFill>
                <a:latin typeface="Book Antiqua" pitchFamily="18" charset="0"/>
              </a:rPr>
              <a:t>Transducers, in which electrical parameters i.e. resistance, inductance or capacitance changes with the change in input signal, are called the </a:t>
            </a:r>
            <a:r>
              <a:rPr lang="en-US" sz="2400" b="1" dirty="0">
                <a:solidFill>
                  <a:prstClr val="black"/>
                </a:solidFill>
                <a:latin typeface="Book Antiqua" pitchFamily="18" charset="0"/>
              </a:rPr>
              <a:t>passive transducers. </a:t>
            </a:r>
            <a:r>
              <a:rPr lang="en-US" sz="2400" dirty="0">
                <a:solidFill>
                  <a:prstClr val="black"/>
                </a:solidFill>
                <a:latin typeface="Book Antiqua" pitchFamily="18" charset="0"/>
              </a:rPr>
              <a:t>These transducers require external power source for energy conversion. In such transducer electrical parameters </a:t>
            </a:r>
            <a:r>
              <a:rPr lang="en-US" sz="2400" i="1" dirty="0">
                <a:solidFill>
                  <a:prstClr val="black"/>
                </a:solidFill>
                <a:latin typeface="Book Antiqua" pitchFamily="18" charset="0"/>
              </a:rPr>
              <a:t>i.e. </a:t>
            </a:r>
            <a:r>
              <a:rPr lang="en-US" sz="2400" dirty="0">
                <a:solidFill>
                  <a:prstClr val="black"/>
                </a:solidFill>
                <a:latin typeface="Book Antiqua" pitchFamily="18" charset="0"/>
              </a:rPr>
              <a:t>resistance, inductance or capacitance causes a change in voltages, current or frequency of the external power source. These transducers may draw source energy from the system under measurement. Resistive, inductive and capacitive transducer falls in this category.</a:t>
            </a: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47</a:t>
            </a:fld>
            <a:endParaRPr lang="en-US"/>
          </a:p>
        </p:txBody>
      </p:sp>
      <p:sp>
        <p:nvSpPr>
          <p:cNvPr id="5" name="Title 4"/>
          <p:cNvSpPr>
            <a:spLocks noGrp="1"/>
          </p:cNvSpPr>
          <p:nvPr>
            <p:ph type="title"/>
          </p:nvPr>
        </p:nvSpPr>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434977728"/>
      </p:ext>
    </p:extLst>
  </p:cSld>
  <p:clrMapOvr>
    <a:masterClrMapping/>
  </p:clrMapOvr>
  <p:transition spd="slow">
    <p:pull/>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514350" lvl="0" indent="-514350" algn="just">
              <a:spcBef>
                <a:spcPct val="50000"/>
              </a:spcBef>
              <a:buClrTx/>
              <a:buSzTx/>
              <a:buFont typeface="Wingdings" pitchFamily="2" charset="2"/>
              <a:buChar char="Ø"/>
              <a:defRPr/>
            </a:pPr>
            <a:r>
              <a:rPr lang="en-US" sz="2400" dirty="0">
                <a:solidFill>
                  <a:prstClr val="black"/>
                </a:solidFill>
                <a:latin typeface="Book Antiqua" pitchFamily="18" charset="0"/>
                <a:cs typeface="Times New Roman" pitchFamily="18" charset="0"/>
              </a:rPr>
              <a:t>A  DC power supply or an audio frequency generator is used as an external power source.</a:t>
            </a:r>
          </a:p>
          <a:p>
            <a:pPr marL="514350" lvl="0" indent="-514350" algn="just">
              <a:spcBef>
                <a:spcPct val="50000"/>
              </a:spcBef>
              <a:buClrTx/>
              <a:buSzTx/>
              <a:buFont typeface="Wingdings" pitchFamily="2" charset="2"/>
              <a:buChar char="Ø"/>
              <a:defRPr/>
            </a:pPr>
            <a:r>
              <a:rPr lang="en-US" sz="2400" dirty="0">
                <a:solidFill>
                  <a:prstClr val="black"/>
                </a:solidFill>
                <a:latin typeface="Book Antiqua" pitchFamily="18" charset="0"/>
                <a:cs typeface="Times New Roman" pitchFamily="18" charset="0"/>
              </a:rPr>
              <a:t>These transducers produce the output signal in the form of variation in resistance, capacitance, inductance or some other electrical parameter in response to the quantity to be measured.</a:t>
            </a: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48</a:t>
            </a:fld>
            <a:endParaRPr lang="en-US"/>
          </a:p>
        </p:txBody>
      </p:sp>
      <p:sp>
        <p:nvSpPr>
          <p:cNvPr id="5" name="Title 4"/>
          <p:cNvSpPr>
            <a:spLocks noGrp="1"/>
          </p:cNvSpPr>
          <p:nvPr>
            <p:ph type="title"/>
          </p:nvPr>
        </p:nvSpPr>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148902053"/>
      </p:ext>
    </p:extLst>
  </p:cSld>
  <p:clrMapOvr>
    <a:masterClrMapping/>
  </p:clrMapOvr>
  <p:transition spd="slow">
    <p:pull/>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73EDECB-2FAA-459C-97B3-E12F4C12D356}" type="slidenum">
              <a:rPr lang="en-US" smtClean="0"/>
              <a:t>49</a:t>
            </a:fld>
            <a:endParaRPr lang="en-US"/>
          </a:p>
        </p:txBody>
      </p:sp>
      <p:sp>
        <p:nvSpPr>
          <p:cNvPr id="5" name="Title 4"/>
          <p:cNvSpPr>
            <a:spLocks noGrp="1"/>
          </p:cNvSpPr>
          <p:nvPr>
            <p:ph type="title"/>
          </p:nvPr>
        </p:nvSpPr>
        <p:spPr>
          <a:xfrm>
            <a:off x="457200" y="228600"/>
            <a:ext cx="8229600" cy="563562"/>
          </a:xfrm>
        </p:spPr>
        <p:txBody>
          <a:bodyPr>
            <a:normAutofit fontScale="90000"/>
          </a:bodyPr>
          <a:lstStyle/>
          <a:p>
            <a:r>
              <a:rPr lang="en-US" sz="3200" dirty="0">
                <a:solidFill>
                  <a:schemeClr val="tx1"/>
                </a:solidFill>
                <a:effectLst/>
                <a:latin typeface="Book Antiqua" pitchFamily="18" charset="0"/>
              </a:rPr>
              <a:t>Cont.. </a:t>
            </a:r>
          </a:p>
        </p:txBody>
      </p:sp>
      <p:pic>
        <p:nvPicPr>
          <p:cNvPr id="6" name="Picture 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838200"/>
            <a:ext cx="7162799"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3126517"/>
      </p:ext>
    </p:extLst>
  </p:cSld>
  <p:clrMapOvr>
    <a:masterClrMapping/>
  </p:clrMapOvr>
  <p:transition spd="slow">
    <p:pull/>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990600"/>
            <a:ext cx="8229600" cy="5334000"/>
          </a:xfrm>
        </p:spPr>
        <p:txBody>
          <a:bodyPr>
            <a:normAutofit fontScale="92500" lnSpcReduction="20000"/>
          </a:bodyPr>
          <a:lstStyle/>
          <a:p>
            <a:pPr marL="0" lvl="0" indent="0" algn="just">
              <a:spcBef>
                <a:spcPct val="20000"/>
              </a:spcBef>
              <a:buClrTx/>
              <a:buSzTx/>
              <a:buNone/>
              <a:defRPr/>
            </a:pPr>
            <a:r>
              <a:rPr lang="en-US" sz="2600" b="1" dirty="0">
                <a:solidFill>
                  <a:srgbClr val="000000"/>
                </a:solidFill>
                <a:latin typeface="Book Antiqua" pitchFamily="18" charset="0"/>
                <a:cs typeface="Times New Roman" pitchFamily="18" charset="0"/>
              </a:rPr>
              <a:t>Resistive transducers </a:t>
            </a:r>
            <a:r>
              <a:rPr lang="en-US" sz="2600" dirty="0">
                <a:solidFill>
                  <a:srgbClr val="000000"/>
                </a:solidFill>
                <a:latin typeface="Book Antiqua" pitchFamily="18" charset="0"/>
                <a:cs typeface="Times New Roman" pitchFamily="18" charset="0"/>
              </a:rPr>
              <a:t>:</a:t>
            </a:r>
          </a:p>
          <a:p>
            <a:pPr marL="742950" lvl="1" indent="-285750" algn="just">
              <a:spcBef>
                <a:spcPct val="20000"/>
              </a:spcBef>
              <a:buClrTx/>
              <a:buFont typeface="Arial" pitchFamily="34" charset="0"/>
              <a:buChar char="–"/>
              <a:defRPr/>
            </a:pPr>
            <a:r>
              <a:rPr lang="en-US" sz="2600" dirty="0">
                <a:solidFill>
                  <a:prstClr val="black"/>
                </a:solidFill>
                <a:latin typeface="Book Antiqua" pitchFamily="18" charset="0"/>
                <a:cs typeface="Times New Roman" pitchFamily="18" charset="0"/>
              </a:rPr>
              <a:t>Resistive transducers are those transducers in which the resistance change due to the change in some physical phenomenon.</a:t>
            </a:r>
          </a:p>
          <a:p>
            <a:pPr marL="742950" lvl="1" indent="-285750" algn="just">
              <a:spcBef>
                <a:spcPct val="20000"/>
              </a:spcBef>
              <a:buClrTx/>
              <a:buFont typeface="Arial" pitchFamily="34" charset="0"/>
              <a:buChar char="–"/>
              <a:defRPr/>
            </a:pPr>
            <a:r>
              <a:rPr lang="en-US" sz="2600" dirty="0">
                <a:solidFill>
                  <a:prstClr val="black"/>
                </a:solidFill>
                <a:latin typeface="Book Antiqua" pitchFamily="18" charset="0"/>
                <a:cs typeface="Times New Roman" pitchFamily="18" charset="0"/>
              </a:rPr>
              <a:t>The resistance of a metal conductor is expressed by a simple equation. </a:t>
            </a:r>
          </a:p>
          <a:p>
            <a:pPr marL="742950" lvl="1" indent="-285750" algn="just">
              <a:spcBef>
                <a:spcPct val="20000"/>
              </a:spcBef>
              <a:buClrTx/>
              <a:buFont typeface="Arial" pitchFamily="34" charset="0"/>
              <a:buChar char="–"/>
              <a:defRPr/>
            </a:pPr>
            <a:r>
              <a:rPr lang="en-US" sz="2600" dirty="0">
                <a:solidFill>
                  <a:prstClr val="black"/>
                </a:solidFill>
                <a:latin typeface="Book Antiqua" pitchFamily="18" charset="0"/>
                <a:cs typeface="Times New Roman" pitchFamily="18" charset="0"/>
              </a:rPr>
              <a:t>R = </a:t>
            </a:r>
            <a:r>
              <a:rPr lang="el-GR" sz="2600" dirty="0">
                <a:solidFill>
                  <a:prstClr val="black"/>
                </a:solidFill>
                <a:latin typeface="Book Antiqua" pitchFamily="18" charset="0"/>
                <a:cs typeface="Times New Roman" pitchFamily="18" charset="0"/>
              </a:rPr>
              <a:t>ρ</a:t>
            </a:r>
            <a:r>
              <a:rPr lang="en-US" sz="2600" dirty="0">
                <a:solidFill>
                  <a:prstClr val="black"/>
                </a:solidFill>
                <a:latin typeface="Book Antiqua" pitchFamily="18" charset="0"/>
                <a:cs typeface="Times New Roman" pitchFamily="18" charset="0"/>
              </a:rPr>
              <a:t>L/A</a:t>
            </a:r>
          </a:p>
          <a:p>
            <a:pPr marL="742950" lvl="1" indent="-285750" algn="just">
              <a:spcBef>
                <a:spcPct val="20000"/>
              </a:spcBef>
              <a:buClrTx/>
              <a:buFont typeface="Arial" pitchFamily="34" charset="0"/>
              <a:buChar char="–"/>
              <a:defRPr/>
            </a:pPr>
            <a:r>
              <a:rPr lang="en-US" sz="2600" dirty="0">
                <a:solidFill>
                  <a:prstClr val="black"/>
                </a:solidFill>
                <a:latin typeface="Book Antiqua" pitchFamily="18" charset="0"/>
                <a:cs typeface="Times New Roman" pitchFamily="18" charset="0"/>
              </a:rPr>
              <a:t>Where R = resistance of conductor in </a:t>
            </a:r>
            <a:r>
              <a:rPr lang="el-GR" sz="2600" dirty="0">
                <a:solidFill>
                  <a:prstClr val="black"/>
                </a:solidFill>
                <a:latin typeface="Book Antiqua" pitchFamily="18" charset="0"/>
                <a:cs typeface="Times New Roman" pitchFamily="18" charset="0"/>
              </a:rPr>
              <a:t>Ω</a:t>
            </a:r>
            <a:endParaRPr lang="en-US" sz="2600" dirty="0">
              <a:solidFill>
                <a:prstClr val="black"/>
              </a:solidFill>
              <a:latin typeface="Book Antiqua" pitchFamily="18" charset="0"/>
              <a:cs typeface="Times New Roman" pitchFamily="18" charset="0"/>
            </a:endParaRPr>
          </a:p>
          <a:p>
            <a:pPr marL="742950" lvl="1" indent="-285750" algn="just">
              <a:spcBef>
                <a:spcPct val="20000"/>
              </a:spcBef>
              <a:buClrTx/>
              <a:buNone/>
              <a:defRPr/>
            </a:pPr>
            <a:r>
              <a:rPr lang="en-US" sz="2600" dirty="0">
                <a:solidFill>
                  <a:prstClr val="black"/>
                </a:solidFill>
                <a:latin typeface="Book Antiqua" pitchFamily="18" charset="0"/>
                <a:cs typeface="Times New Roman" pitchFamily="18" charset="0"/>
              </a:rPr>
              <a:t>                L = length of conductor in m</a:t>
            </a:r>
          </a:p>
          <a:p>
            <a:pPr marL="742950" lvl="1" indent="-285750" algn="just">
              <a:spcBef>
                <a:spcPct val="20000"/>
              </a:spcBef>
              <a:buClrTx/>
              <a:buNone/>
              <a:defRPr/>
            </a:pPr>
            <a:r>
              <a:rPr lang="en-US" sz="2600" dirty="0">
                <a:solidFill>
                  <a:prstClr val="black"/>
                </a:solidFill>
                <a:latin typeface="Book Antiqua" pitchFamily="18" charset="0"/>
                <a:cs typeface="Times New Roman" pitchFamily="18" charset="0"/>
              </a:rPr>
              <a:t>                A = cross sectional area of conductor in </a:t>
            </a:r>
            <a:r>
              <a:rPr lang="en-US" sz="2600" dirty="0">
                <a:solidFill>
                  <a:prstClr val="black"/>
                </a:solidFill>
                <a:latin typeface="Book Antiqua" pitchFamily="18" charset="0"/>
              </a:rPr>
              <a:t>m</a:t>
            </a:r>
            <a:r>
              <a:rPr lang="en-US" sz="2600" baseline="30000" dirty="0">
                <a:solidFill>
                  <a:prstClr val="black"/>
                </a:solidFill>
                <a:latin typeface="Book Antiqua" pitchFamily="18" charset="0"/>
              </a:rPr>
              <a:t>2</a:t>
            </a:r>
            <a:endParaRPr lang="en-US" sz="2600" dirty="0">
              <a:solidFill>
                <a:prstClr val="black"/>
              </a:solidFill>
              <a:latin typeface="Book Antiqua" pitchFamily="18" charset="0"/>
              <a:cs typeface="Times New Roman" pitchFamily="18" charset="0"/>
            </a:endParaRPr>
          </a:p>
          <a:p>
            <a:pPr marL="742950" lvl="1" indent="-285750" algn="just">
              <a:spcBef>
                <a:spcPct val="20000"/>
              </a:spcBef>
              <a:buClrTx/>
              <a:buNone/>
              <a:defRPr/>
            </a:pPr>
            <a:r>
              <a:rPr lang="en-US" sz="2600" dirty="0">
                <a:solidFill>
                  <a:prstClr val="black"/>
                </a:solidFill>
                <a:latin typeface="Book Antiqua" pitchFamily="18" charset="0"/>
                <a:cs typeface="Times New Roman" pitchFamily="18" charset="0"/>
              </a:rPr>
              <a:t>                  </a:t>
            </a:r>
            <a:r>
              <a:rPr lang="el-GR" sz="2600" dirty="0">
                <a:solidFill>
                  <a:prstClr val="black"/>
                </a:solidFill>
                <a:latin typeface="Book Antiqua" pitchFamily="18" charset="0"/>
                <a:cs typeface="Times New Roman" pitchFamily="18" charset="0"/>
              </a:rPr>
              <a:t>ρ</a:t>
            </a:r>
            <a:r>
              <a:rPr lang="en-US" sz="2600" dirty="0">
                <a:solidFill>
                  <a:prstClr val="black"/>
                </a:solidFill>
                <a:latin typeface="Book Antiqua" pitchFamily="18" charset="0"/>
                <a:cs typeface="Times New Roman" pitchFamily="18" charset="0"/>
              </a:rPr>
              <a:t> = resistivity of conductor material in </a:t>
            </a:r>
            <a:r>
              <a:rPr lang="el-GR" sz="2600" dirty="0">
                <a:solidFill>
                  <a:prstClr val="black"/>
                </a:solidFill>
                <a:latin typeface="Book Antiqua" pitchFamily="18" charset="0"/>
                <a:cs typeface="Times New Roman" pitchFamily="18" charset="0"/>
              </a:rPr>
              <a:t>Ω</a:t>
            </a:r>
            <a:r>
              <a:rPr lang="en-US" sz="2600" dirty="0">
                <a:solidFill>
                  <a:prstClr val="black"/>
                </a:solidFill>
                <a:latin typeface="Book Antiqua" pitchFamily="18" charset="0"/>
                <a:cs typeface="Times New Roman" pitchFamily="18" charset="0"/>
              </a:rPr>
              <a:t>-m.</a:t>
            </a:r>
          </a:p>
          <a:p>
            <a:pPr marL="342900" lvl="0" indent="-342900" algn="just">
              <a:lnSpc>
                <a:spcPct val="80000"/>
              </a:lnSpc>
              <a:spcBef>
                <a:spcPct val="20000"/>
              </a:spcBef>
              <a:buClrTx/>
              <a:buSzTx/>
              <a:buNone/>
              <a:defRPr/>
            </a:pPr>
            <a:r>
              <a:rPr lang="en-US" sz="2600" b="1" dirty="0">
                <a:solidFill>
                  <a:prstClr val="black"/>
                </a:solidFill>
                <a:latin typeface="Book Antiqua" pitchFamily="18" charset="0"/>
                <a:cs typeface="Times New Roman" pitchFamily="18" charset="0"/>
              </a:rPr>
              <a:t>There are 4 type of resistive transducers.</a:t>
            </a:r>
          </a:p>
          <a:p>
            <a:pPr marL="1234440" lvl="5" indent="0" algn="just">
              <a:lnSpc>
                <a:spcPct val="80000"/>
              </a:lnSpc>
              <a:spcBef>
                <a:spcPct val="20000"/>
              </a:spcBef>
              <a:buClrTx/>
              <a:buNone/>
              <a:defRPr/>
            </a:pPr>
            <a:r>
              <a:rPr lang="en-US" sz="2600" dirty="0">
                <a:solidFill>
                  <a:prstClr val="black"/>
                </a:solidFill>
                <a:latin typeface="Book Antiqua" pitchFamily="18" charset="0"/>
                <a:cs typeface="Times New Roman" pitchFamily="18" charset="0"/>
              </a:rPr>
              <a:t>Potentiometers (POT)</a:t>
            </a:r>
          </a:p>
          <a:p>
            <a:pPr marL="1234440" lvl="5" indent="0" algn="just">
              <a:lnSpc>
                <a:spcPct val="80000"/>
              </a:lnSpc>
              <a:spcBef>
                <a:spcPct val="20000"/>
              </a:spcBef>
              <a:buClrTx/>
              <a:buNone/>
              <a:defRPr/>
            </a:pPr>
            <a:r>
              <a:rPr lang="en-US" sz="2600" dirty="0">
                <a:solidFill>
                  <a:prstClr val="black"/>
                </a:solidFill>
                <a:latin typeface="Book Antiqua" pitchFamily="18" charset="0"/>
                <a:cs typeface="Times New Roman" pitchFamily="18" charset="0"/>
              </a:rPr>
              <a:t>Strain gauge </a:t>
            </a:r>
          </a:p>
          <a:p>
            <a:pPr marL="1234440" lvl="5" indent="0" algn="just">
              <a:lnSpc>
                <a:spcPct val="80000"/>
              </a:lnSpc>
              <a:spcBef>
                <a:spcPct val="20000"/>
              </a:spcBef>
              <a:buClrTx/>
              <a:buNone/>
              <a:defRPr/>
            </a:pPr>
            <a:r>
              <a:rPr lang="en-US" sz="2600" dirty="0">
                <a:solidFill>
                  <a:prstClr val="black"/>
                </a:solidFill>
                <a:latin typeface="Book Antiqua" pitchFamily="18" charset="0"/>
                <a:cs typeface="Times New Roman" pitchFamily="18" charset="0"/>
              </a:rPr>
              <a:t>Thermistors </a:t>
            </a:r>
          </a:p>
          <a:p>
            <a:pPr marL="1234440" lvl="5" indent="0" algn="just">
              <a:lnSpc>
                <a:spcPct val="80000"/>
              </a:lnSpc>
              <a:spcBef>
                <a:spcPct val="20000"/>
              </a:spcBef>
              <a:buClrTx/>
              <a:buNone/>
              <a:defRPr/>
            </a:pPr>
            <a:r>
              <a:rPr lang="en-US" sz="2600" dirty="0">
                <a:solidFill>
                  <a:prstClr val="black"/>
                </a:solidFill>
                <a:latin typeface="Book Antiqua" pitchFamily="18" charset="0"/>
                <a:cs typeface="Times New Roman" pitchFamily="18" charset="0"/>
              </a:rPr>
              <a:t>Resistance thermometer </a:t>
            </a:r>
          </a:p>
          <a:p>
            <a:pPr marL="742950" lvl="1" indent="-285750">
              <a:spcBef>
                <a:spcPct val="20000"/>
              </a:spcBef>
              <a:buClrTx/>
              <a:buNone/>
              <a:defRPr/>
            </a:pPr>
            <a:endParaRPr lang="en-US" sz="2400" dirty="0">
              <a:solidFill>
                <a:prstClr val="black"/>
              </a:solidFill>
              <a:latin typeface="Times New Roman" pitchFamily="18" charset="0"/>
              <a:cs typeface="Times New Roman" pitchFamily="18" charset="0"/>
            </a:endParaRPr>
          </a:p>
          <a:p>
            <a:pPr marL="742950" lvl="1" indent="-285750">
              <a:spcBef>
                <a:spcPct val="20000"/>
              </a:spcBef>
              <a:buClrTx/>
              <a:buNone/>
              <a:defRPr/>
            </a:pPr>
            <a:endParaRPr lang="en-US" sz="2400" dirty="0">
              <a:solidFill>
                <a:prstClr val="black"/>
              </a:solidFill>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50</a:t>
            </a:fld>
            <a:endParaRPr lang="en-US"/>
          </a:p>
        </p:txBody>
      </p:sp>
      <p:sp>
        <p:nvSpPr>
          <p:cNvPr id="5" name="Title 4"/>
          <p:cNvSpPr>
            <a:spLocks noGrp="1"/>
          </p:cNvSpPr>
          <p:nvPr>
            <p:ph type="title"/>
          </p:nvPr>
        </p:nvSpPr>
        <p:spPr>
          <a:xfrm>
            <a:off x="457200" y="274638"/>
            <a:ext cx="8229600" cy="6397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3239415333"/>
      </p:ext>
    </p:extLst>
  </p:cSld>
  <p:clrMapOvr>
    <a:masterClrMapping/>
  </p:clrMapOvr>
  <p:transition spd="slow">
    <p:pull/>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410200"/>
          </a:xfrm>
        </p:spPr>
        <p:txBody>
          <a:bodyPr/>
          <a:lstStyle/>
          <a:p>
            <a:pPr marL="109728" indent="0">
              <a:buNone/>
            </a:pPr>
            <a:r>
              <a:rPr lang="en-US" sz="2800" b="1" dirty="0">
                <a:solidFill>
                  <a:prstClr val="black"/>
                </a:solidFill>
                <a:latin typeface="Book Antiqua" pitchFamily="18" charset="0"/>
                <a:ea typeface="+mj-ea"/>
                <a:cs typeface="Times New Roman" pitchFamily="18" charset="0"/>
              </a:rPr>
              <a:t>Potentiometer</a:t>
            </a:r>
          </a:p>
          <a:p>
            <a:pPr marL="342900" lvl="0" indent="-342900" algn="just">
              <a:spcBef>
                <a:spcPct val="20000"/>
              </a:spcBef>
              <a:buClrTx/>
              <a:buSzTx/>
              <a:buFont typeface="Wingdings" pitchFamily="2" charset="2"/>
              <a:buChar char="Ø"/>
              <a:defRPr/>
            </a:pPr>
            <a:r>
              <a:rPr lang="en-US" sz="2200" dirty="0">
                <a:solidFill>
                  <a:srgbClr val="000000"/>
                </a:solidFill>
                <a:latin typeface="Book Antiqua" pitchFamily="18" charset="0"/>
                <a:cs typeface="Times New Roman" pitchFamily="18" charset="0"/>
              </a:rPr>
              <a:t>The potentiometer are used for voltage division. They consist of a resistive element provided with a sliding contact. The sliding contact is called as wiper.</a:t>
            </a:r>
          </a:p>
          <a:p>
            <a:pPr marL="342900" lvl="0" indent="-342900" algn="just">
              <a:spcBef>
                <a:spcPct val="20000"/>
              </a:spcBef>
              <a:buClrTx/>
              <a:buSzTx/>
              <a:buFont typeface="Wingdings" pitchFamily="2" charset="2"/>
              <a:buChar char="Ø"/>
              <a:defRPr/>
            </a:pPr>
            <a:r>
              <a:rPr lang="en-US" sz="2200" dirty="0">
                <a:solidFill>
                  <a:srgbClr val="000000"/>
                </a:solidFill>
                <a:latin typeface="Book Antiqua" pitchFamily="18" charset="0"/>
                <a:cs typeface="Times New Roman" pitchFamily="18" charset="0"/>
              </a:rPr>
              <a:t>The contact motion may be linear or rotational or combination of the two. The combinational potentiometer have their resistive element in helix form and are called </a:t>
            </a:r>
            <a:r>
              <a:rPr lang="en-US" sz="2200" dirty="0" err="1">
                <a:solidFill>
                  <a:srgbClr val="000000"/>
                </a:solidFill>
                <a:latin typeface="Book Antiqua" pitchFamily="18" charset="0"/>
                <a:cs typeface="Times New Roman" pitchFamily="18" charset="0"/>
              </a:rPr>
              <a:t>helipots</a:t>
            </a:r>
            <a:r>
              <a:rPr lang="en-US" sz="2200" dirty="0">
                <a:solidFill>
                  <a:srgbClr val="000000"/>
                </a:solidFill>
                <a:latin typeface="Book Antiqua" pitchFamily="18" charset="0"/>
                <a:cs typeface="Times New Roman" pitchFamily="18" charset="0"/>
              </a:rPr>
              <a:t>.</a:t>
            </a:r>
          </a:p>
          <a:p>
            <a:pPr marL="342900" lvl="0" indent="-342900" algn="just">
              <a:spcBef>
                <a:spcPct val="20000"/>
              </a:spcBef>
              <a:buClrTx/>
              <a:buSzTx/>
              <a:buFont typeface="Wingdings" pitchFamily="2" charset="2"/>
              <a:buChar char="Ø"/>
              <a:defRPr/>
            </a:pPr>
            <a:r>
              <a:rPr lang="en-US" sz="2200" dirty="0">
                <a:solidFill>
                  <a:srgbClr val="000000"/>
                </a:solidFill>
                <a:latin typeface="Book Antiqua" pitchFamily="18" charset="0"/>
                <a:cs typeface="Times New Roman" pitchFamily="18" charset="0"/>
              </a:rPr>
              <a:t>Fig shows a linear pot and a rotary pot.</a:t>
            </a:r>
          </a:p>
          <a:p>
            <a:pPr marL="109728" indent="0">
              <a:buNone/>
            </a:pPr>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51</a:t>
            </a:fld>
            <a:endParaRPr lang="en-US"/>
          </a:p>
        </p:txBody>
      </p:sp>
      <p:sp>
        <p:nvSpPr>
          <p:cNvPr id="5" name="Title 4"/>
          <p:cNvSpPr>
            <a:spLocks noGrp="1"/>
          </p:cNvSpPr>
          <p:nvPr>
            <p:ph type="title"/>
          </p:nvPr>
        </p:nvSpPr>
        <p:spPr>
          <a:xfrm>
            <a:off x="457200" y="152400"/>
            <a:ext cx="8229600" cy="639762"/>
          </a:xfrm>
        </p:spPr>
        <p:txBody>
          <a:bodyPr>
            <a:normAutofit/>
          </a:bodyPr>
          <a:lstStyle/>
          <a:p>
            <a:r>
              <a:rPr lang="en-US" sz="3200" dirty="0">
                <a:solidFill>
                  <a:schemeClr val="tx1"/>
                </a:solidFill>
                <a:effectLst/>
                <a:latin typeface="Book Antiqua" pitchFamily="18" charset="0"/>
              </a:rPr>
              <a:t>Cont.. </a:t>
            </a:r>
          </a:p>
        </p:txBody>
      </p:sp>
      <p:pic>
        <p:nvPicPr>
          <p:cNvPr id="6" name="Picture 4" descr="C:\Users\GPC\Pictures\051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962400"/>
            <a:ext cx="33528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pot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24400" y="3962400"/>
            <a:ext cx="3657600" cy="2178050"/>
          </a:xfrm>
          <a:prstGeom prst="rect">
            <a:avLst/>
          </a:prstGeom>
          <a:solidFill>
            <a:srgbClr val="FFFFFF"/>
          </a:solidFill>
          <a:ln w="9525">
            <a:solidFill>
              <a:srgbClr val="FFFFFF"/>
            </a:solidFill>
            <a:miter lim="800000"/>
            <a:headEnd/>
            <a:tailEnd/>
          </a:ln>
        </p:spPr>
      </p:pic>
    </p:spTree>
    <p:extLst>
      <p:ext uri="{BB962C8B-B14F-4D97-AF65-F5344CB8AC3E}">
        <p14:creationId xmlns:p14="http://schemas.microsoft.com/office/powerpoint/2010/main" val="530423646"/>
      </p:ext>
    </p:extLst>
  </p:cSld>
  <p:clrMapOvr>
    <a:masterClrMapping/>
  </p:clrMapOvr>
  <p:transition spd="slow">
    <p:pull/>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914400"/>
            <a:ext cx="8229600" cy="4525963"/>
          </a:xfrm>
        </p:spPr>
        <p:txBody>
          <a:bodyPr>
            <a:normAutofit/>
          </a:bodyPr>
          <a:lstStyle/>
          <a:p>
            <a:pPr marL="109728" indent="0">
              <a:buNone/>
            </a:pPr>
            <a:r>
              <a:rPr lang="en-US" sz="2800" b="1" dirty="0">
                <a:solidFill>
                  <a:prstClr val="black"/>
                </a:solidFill>
                <a:latin typeface="Times New Roman" pitchFamily="18" charset="0"/>
                <a:ea typeface="+mj-ea"/>
                <a:cs typeface="Times New Roman" pitchFamily="18" charset="0"/>
              </a:rPr>
              <a:t>Strain gauge</a:t>
            </a:r>
          </a:p>
          <a:p>
            <a:pPr marL="342900" lvl="0" indent="-342900" algn="just" fontAlgn="base">
              <a:spcBef>
                <a:spcPct val="20000"/>
              </a:spcBef>
              <a:spcAft>
                <a:spcPct val="0"/>
              </a:spcAft>
              <a:buClrTx/>
              <a:buSzTx/>
              <a:buFont typeface="Wingdings" pitchFamily="2" charset="2"/>
              <a:buChar char="Ø"/>
            </a:pPr>
            <a:r>
              <a:rPr lang="en-US" sz="2400" dirty="0">
                <a:solidFill>
                  <a:srgbClr val="000000"/>
                </a:solidFill>
                <a:latin typeface="Book Antiqua" pitchFamily="18" charset="0"/>
                <a:cs typeface="Times New Roman" pitchFamily="18" charset="0"/>
              </a:rPr>
              <a:t>The strain gauge is a passive, resistive transducer which converts the mechanical elongation and compression into a resistance change.</a:t>
            </a:r>
          </a:p>
          <a:p>
            <a:pPr marL="342900" lvl="0" indent="-342900" algn="just" fontAlgn="base">
              <a:spcBef>
                <a:spcPct val="20000"/>
              </a:spcBef>
              <a:spcAft>
                <a:spcPct val="0"/>
              </a:spcAft>
              <a:buClrTx/>
              <a:buSzTx/>
              <a:buFont typeface="Wingdings" pitchFamily="2" charset="2"/>
              <a:buChar char="Ø"/>
            </a:pPr>
            <a:r>
              <a:rPr lang="en-US" sz="2400" dirty="0">
                <a:solidFill>
                  <a:srgbClr val="000000"/>
                </a:solidFill>
                <a:latin typeface="Book Antiqua" pitchFamily="18" charset="0"/>
                <a:cs typeface="Times New Roman" pitchFamily="18" charset="0"/>
              </a:rPr>
              <a:t>This change in resistance takes place due to variation in length and cross sectional area of the gauge wire, when an external force acts on it.</a:t>
            </a:r>
          </a:p>
          <a:p>
            <a:pPr marL="109728" indent="0">
              <a:buNone/>
            </a:pPr>
            <a:endParaRPr lang="en-US" sz="2800" b="1" dirty="0"/>
          </a:p>
        </p:txBody>
      </p:sp>
      <p:sp>
        <p:nvSpPr>
          <p:cNvPr id="4" name="Slide Number Placeholder 3"/>
          <p:cNvSpPr>
            <a:spLocks noGrp="1"/>
          </p:cNvSpPr>
          <p:nvPr>
            <p:ph type="sldNum" sz="quarter" idx="12"/>
          </p:nvPr>
        </p:nvSpPr>
        <p:spPr/>
        <p:txBody>
          <a:bodyPr/>
          <a:lstStyle/>
          <a:p>
            <a:fld id="{573EDECB-2FAA-459C-97B3-E12F4C12D356}" type="slidenum">
              <a:rPr lang="en-US" smtClean="0"/>
              <a:t>52</a:t>
            </a:fld>
            <a:endParaRPr lang="en-US"/>
          </a:p>
        </p:txBody>
      </p:sp>
      <p:sp>
        <p:nvSpPr>
          <p:cNvPr id="5" name="Title 4"/>
          <p:cNvSpPr>
            <a:spLocks noGrp="1"/>
          </p:cNvSpPr>
          <p:nvPr>
            <p:ph type="title"/>
          </p:nvPr>
        </p:nvSpPr>
        <p:spPr>
          <a:xfrm>
            <a:off x="457200" y="274638"/>
            <a:ext cx="8229600" cy="639762"/>
          </a:xfrm>
        </p:spPr>
        <p:txBody>
          <a:bodyPr>
            <a:normAutofit/>
          </a:bodyPr>
          <a:lstStyle/>
          <a:p>
            <a:r>
              <a:rPr lang="en-US" sz="3200" dirty="0">
                <a:solidFill>
                  <a:schemeClr val="tx1"/>
                </a:solidFill>
                <a:effectLst/>
                <a:latin typeface="Book Antiqua" pitchFamily="18" charset="0"/>
              </a:rPr>
              <a:t>Cont.. </a:t>
            </a: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4267200"/>
            <a:ext cx="35052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C:\Users\GPC\Pictures\83a1fe6976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8255" y="3791816"/>
            <a:ext cx="3124200" cy="258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5827038"/>
      </p:ext>
    </p:extLst>
  </p:cSld>
  <p:clrMapOvr>
    <a:masterClrMapping/>
  </p:clrMapOvr>
  <p:transition spd="slow">
    <p:pull/>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486400"/>
          </a:xfrm>
        </p:spPr>
        <p:txBody>
          <a:bodyPr/>
          <a:lstStyle/>
          <a:p>
            <a:pPr marL="109728" indent="0">
              <a:buNone/>
            </a:pPr>
            <a:r>
              <a:rPr lang="en-US" sz="2800" b="1" dirty="0">
                <a:solidFill>
                  <a:prstClr val="black"/>
                </a:solidFill>
                <a:latin typeface="Book Antiqua" pitchFamily="18" charset="0"/>
                <a:ea typeface="+mj-ea"/>
                <a:cs typeface="Times New Roman" pitchFamily="18" charset="0"/>
              </a:rPr>
              <a:t>Resistance thermometer</a:t>
            </a:r>
          </a:p>
          <a:p>
            <a:pPr marL="457200" lvl="0" indent="-457200" algn="just" fontAlgn="base">
              <a:lnSpc>
                <a:spcPct val="80000"/>
              </a:lnSpc>
              <a:spcBef>
                <a:spcPct val="20000"/>
              </a:spcBef>
              <a:spcAft>
                <a:spcPct val="0"/>
              </a:spcAft>
              <a:buClrTx/>
              <a:buSzTx/>
              <a:buFont typeface="Wingdings" pitchFamily="2" charset="2"/>
              <a:buChar char="Ø"/>
            </a:pPr>
            <a:r>
              <a:rPr lang="en-US" sz="2200" dirty="0">
                <a:solidFill>
                  <a:prstClr val="black"/>
                </a:solidFill>
                <a:latin typeface="Book Antiqua" pitchFamily="18" charset="0"/>
                <a:cs typeface="Times New Roman" pitchFamily="18" charset="0"/>
              </a:rPr>
              <a:t>Resistance of  metal increase with increases in temperature. Therefore metals are said to have a positive temperature coefficient of resistivity.</a:t>
            </a:r>
          </a:p>
          <a:p>
            <a:pPr marL="457200" lvl="0" indent="-457200" algn="just" fontAlgn="base">
              <a:lnSpc>
                <a:spcPct val="80000"/>
              </a:lnSpc>
              <a:spcBef>
                <a:spcPct val="20000"/>
              </a:spcBef>
              <a:spcAft>
                <a:spcPct val="0"/>
              </a:spcAft>
              <a:buClrTx/>
              <a:buSzTx/>
              <a:buFont typeface="Wingdings" pitchFamily="2" charset="2"/>
              <a:buChar char="Ø"/>
            </a:pPr>
            <a:r>
              <a:rPr lang="en-US" sz="2200" dirty="0">
                <a:solidFill>
                  <a:prstClr val="black"/>
                </a:solidFill>
                <a:latin typeface="Book Antiqua" pitchFamily="18" charset="0"/>
                <a:cs typeface="Times New Roman" pitchFamily="18" charset="0"/>
              </a:rPr>
              <a:t>Fig shows the simplest type of open wire construction of platinum résistance thermometer. The platinum wire is wound in the form of spirals on an insulating material such as mica or ceramic.</a:t>
            </a:r>
          </a:p>
          <a:p>
            <a:pPr marL="457200" lvl="0" indent="-457200" algn="just" fontAlgn="base">
              <a:lnSpc>
                <a:spcPct val="80000"/>
              </a:lnSpc>
              <a:spcBef>
                <a:spcPct val="20000"/>
              </a:spcBef>
              <a:spcAft>
                <a:spcPct val="0"/>
              </a:spcAft>
              <a:buClrTx/>
              <a:buSzTx/>
              <a:buFont typeface="Wingdings" pitchFamily="2" charset="2"/>
              <a:buChar char="Ø"/>
            </a:pPr>
            <a:r>
              <a:rPr lang="en-US" sz="2200" dirty="0">
                <a:solidFill>
                  <a:prstClr val="black"/>
                </a:solidFill>
                <a:latin typeface="Book Antiqua" pitchFamily="18" charset="0"/>
                <a:cs typeface="Times New Roman" pitchFamily="18" charset="0"/>
              </a:rPr>
              <a:t>This assembly is then placed at the tip of probe </a:t>
            </a:r>
          </a:p>
          <a:p>
            <a:pPr marL="457200" lvl="0" indent="-457200" algn="just" fontAlgn="base">
              <a:lnSpc>
                <a:spcPct val="80000"/>
              </a:lnSpc>
              <a:spcBef>
                <a:spcPct val="20000"/>
              </a:spcBef>
              <a:spcAft>
                <a:spcPct val="0"/>
              </a:spcAft>
              <a:buClrTx/>
              <a:buSzTx/>
              <a:buFont typeface="Wingdings" pitchFamily="2" charset="2"/>
              <a:buChar char="Ø"/>
            </a:pPr>
            <a:r>
              <a:rPr lang="en-US" sz="2200" dirty="0">
                <a:solidFill>
                  <a:prstClr val="black"/>
                </a:solidFill>
                <a:latin typeface="Book Antiqua" pitchFamily="18" charset="0"/>
                <a:cs typeface="Times New Roman" pitchFamily="18" charset="0"/>
              </a:rPr>
              <a:t>This wire is in direct contact with the gas or liquid whose temperature is to be measured.</a:t>
            </a:r>
          </a:p>
          <a:p>
            <a:pPr marL="0" lvl="0" indent="0" algn="just" fontAlgn="base">
              <a:lnSpc>
                <a:spcPct val="80000"/>
              </a:lnSpc>
              <a:spcBef>
                <a:spcPct val="20000"/>
              </a:spcBef>
              <a:spcAft>
                <a:spcPct val="0"/>
              </a:spcAft>
              <a:buClrTx/>
              <a:buSzTx/>
              <a:buNone/>
            </a:pPr>
            <a:endParaRPr lang="en-US" sz="2400" dirty="0">
              <a:solidFill>
                <a:prstClr val="black"/>
              </a:solidFill>
              <a:latin typeface="Book Antiqua" pitchFamily="18" charset="0"/>
              <a:cs typeface="Times New Roman" pitchFamily="18" charset="0"/>
            </a:endParaRPr>
          </a:p>
          <a:p>
            <a:pPr marL="109728" indent="0">
              <a:buNone/>
            </a:pPr>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53</a:t>
            </a:fld>
            <a:endParaRPr lang="en-US"/>
          </a:p>
        </p:txBody>
      </p:sp>
      <p:sp>
        <p:nvSpPr>
          <p:cNvPr id="5" name="Title 4"/>
          <p:cNvSpPr>
            <a:spLocks noGrp="1"/>
          </p:cNvSpPr>
          <p:nvPr>
            <p:ph type="title"/>
          </p:nvPr>
        </p:nvSpPr>
        <p:spPr>
          <a:xfrm>
            <a:off x="457200" y="152400"/>
            <a:ext cx="8229600" cy="609600"/>
          </a:xfrm>
        </p:spPr>
        <p:txBody>
          <a:bodyPr>
            <a:normAutofit/>
          </a:bodyPr>
          <a:lstStyle/>
          <a:p>
            <a:r>
              <a:rPr lang="en-US" sz="3200" dirty="0">
                <a:solidFill>
                  <a:schemeClr val="tx1"/>
                </a:solidFill>
                <a:effectLst/>
                <a:latin typeface="Book Antiqua" pitchFamily="18" charset="0"/>
              </a:rPr>
              <a:t>Cont.. </a:t>
            </a:r>
          </a:p>
        </p:txBody>
      </p:sp>
      <p:pic>
        <p:nvPicPr>
          <p:cNvPr id="6" name="Picture 2" descr="C:\Users\GPC\Pictures\Rtdconstruction.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4191000"/>
            <a:ext cx="56388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1481152"/>
      </p:ext>
    </p:extLst>
  </p:cSld>
  <p:clrMapOvr>
    <a:masterClrMapping/>
  </p:clrMapOvr>
  <p:transition spd="slow">
    <p:pull/>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lvl="0" indent="-457200" algn="just" fontAlgn="base">
              <a:lnSpc>
                <a:spcPct val="80000"/>
              </a:lnSpc>
              <a:spcBef>
                <a:spcPct val="20000"/>
              </a:spcBef>
              <a:spcAft>
                <a:spcPct val="0"/>
              </a:spcAft>
              <a:buClrTx/>
              <a:buSzTx/>
              <a:buFont typeface="Wingdings" pitchFamily="2" charset="2"/>
              <a:buChar char="Ø"/>
            </a:pPr>
            <a:r>
              <a:rPr lang="en-US" sz="2400" dirty="0">
                <a:solidFill>
                  <a:prstClr val="black"/>
                </a:solidFill>
                <a:latin typeface="Book Antiqua" pitchFamily="18" charset="0"/>
                <a:cs typeface="Times New Roman" pitchFamily="18" charset="0"/>
              </a:rPr>
              <a:t>The resistance of the platinum wire changes with the change in temperature of the gas or liquid</a:t>
            </a:r>
          </a:p>
          <a:p>
            <a:pPr marL="457200" lvl="0" indent="-457200" algn="just" fontAlgn="base">
              <a:lnSpc>
                <a:spcPct val="80000"/>
              </a:lnSpc>
              <a:spcBef>
                <a:spcPct val="20000"/>
              </a:spcBef>
              <a:spcAft>
                <a:spcPct val="0"/>
              </a:spcAft>
              <a:buClrTx/>
              <a:buSzTx/>
              <a:buFont typeface="Wingdings" pitchFamily="2" charset="2"/>
              <a:buChar char="Ø"/>
            </a:pPr>
            <a:r>
              <a:rPr lang="en-US" sz="2400" dirty="0">
                <a:solidFill>
                  <a:prstClr val="black"/>
                </a:solidFill>
                <a:latin typeface="Book Antiqua" pitchFamily="18" charset="0"/>
                <a:cs typeface="Times New Roman" pitchFamily="18" charset="0"/>
              </a:rPr>
              <a:t>This type of sensor have a positive temperature coefficient of resistivity as they are made from metals they are also known as resistance temperature detector</a:t>
            </a:r>
          </a:p>
          <a:p>
            <a:pPr marL="457200" lvl="0" indent="-457200" algn="just" fontAlgn="base">
              <a:lnSpc>
                <a:spcPct val="80000"/>
              </a:lnSpc>
              <a:spcBef>
                <a:spcPct val="20000"/>
              </a:spcBef>
              <a:spcAft>
                <a:spcPct val="0"/>
              </a:spcAft>
              <a:buClrTx/>
              <a:buSzTx/>
              <a:buFont typeface="Wingdings" pitchFamily="2" charset="2"/>
              <a:buChar char="Ø"/>
            </a:pPr>
            <a:r>
              <a:rPr lang="en-US" sz="2400" dirty="0">
                <a:solidFill>
                  <a:prstClr val="black"/>
                </a:solidFill>
                <a:latin typeface="Book Antiqua" pitchFamily="18" charset="0"/>
                <a:cs typeface="Times New Roman" pitchFamily="18" charset="0"/>
              </a:rPr>
              <a:t>Resistance thermometer are generally of probe type for immersion in medium whose temperature is to be measured or controlled.</a:t>
            </a: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54</a:t>
            </a:fld>
            <a:endParaRPr lang="en-US"/>
          </a:p>
        </p:txBody>
      </p:sp>
      <p:sp>
        <p:nvSpPr>
          <p:cNvPr id="5" name="Title 4"/>
          <p:cNvSpPr>
            <a:spLocks noGrp="1"/>
          </p:cNvSpPr>
          <p:nvPr>
            <p:ph type="title"/>
          </p:nvPr>
        </p:nvSpPr>
        <p:spPr>
          <a:xfrm>
            <a:off x="457200" y="274638"/>
            <a:ext cx="8229600" cy="7159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2243857314"/>
      </p:ext>
    </p:extLst>
  </p:cSld>
  <p:clrMapOvr>
    <a:masterClrMapping/>
  </p:clrMapOvr>
  <p:transition spd="slow">
    <p:pull/>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109728" indent="0">
              <a:buNone/>
            </a:pPr>
            <a:r>
              <a:rPr lang="en-US" sz="3000" b="1" dirty="0">
                <a:solidFill>
                  <a:prstClr val="black"/>
                </a:solidFill>
                <a:latin typeface="Book Antiqua" pitchFamily="18" charset="0"/>
                <a:ea typeface="+mj-ea"/>
                <a:cs typeface="Times New Roman" pitchFamily="18" charset="0"/>
              </a:rPr>
              <a:t>Thermistor</a:t>
            </a:r>
          </a:p>
          <a:p>
            <a:pPr marL="457200" lvl="0" indent="-457200" algn="just" fontAlgn="base">
              <a:spcBef>
                <a:spcPct val="0"/>
              </a:spcBef>
              <a:spcAft>
                <a:spcPct val="0"/>
              </a:spcAft>
              <a:buClrTx/>
              <a:buSzTx/>
              <a:buFont typeface="Wingdings" pitchFamily="2" charset="2"/>
              <a:buChar char="Ø"/>
            </a:pPr>
            <a:r>
              <a:rPr lang="en-US" sz="2600" dirty="0">
                <a:solidFill>
                  <a:prstClr val="black"/>
                </a:solidFill>
                <a:latin typeface="Book Antiqua" pitchFamily="18" charset="0"/>
                <a:cs typeface="Times New Roman" pitchFamily="18" charset="0"/>
              </a:rPr>
              <a:t>Thermistor is a contraction of a term “thermal resistor”.</a:t>
            </a:r>
          </a:p>
          <a:p>
            <a:pPr marL="457200" lvl="0" indent="-457200" algn="just" fontAlgn="base">
              <a:spcBef>
                <a:spcPct val="0"/>
              </a:spcBef>
              <a:spcAft>
                <a:spcPct val="0"/>
              </a:spcAft>
              <a:buClrTx/>
              <a:buSzTx/>
              <a:buFont typeface="Wingdings" pitchFamily="2" charset="2"/>
              <a:buChar char="Ø"/>
            </a:pPr>
            <a:r>
              <a:rPr lang="en-US" sz="2600" dirty="0">
                <a:solidFill>
                  <a:prstClr val="black"/>
                </a:solidFill>
                <a:latin typeface="Book Antiqua" pitchFamily="18" charset="0"/>
                <a:cs typeface="Times New Roman" pitchFamily="18" charset="0"/>
              </a:rPr>
              <a:t>Thermistor are temperature dependent resistors. They are made of semiconductor material which have negative temperature coefficient of resistivity i.e. their resistance decreases with increase of temperature.</a:t>
            </a:r>
          </a:p>
          <a:p>
            <a:pPr marL="457200" lvl="0" indent="-457200" algn="just" fontAlgn="base">
              <a:spcBef>
                <a:spcPct val="0"/>
              </a:spcBef>
              <a:spcAft>
                <a:spcPct val="0"/>
              </a:spcAft>
              <a:buClrTx/>
              <a:buSzTx/>
              <a:buFont typeface="Wingdings" pitchFamily="2" charset="2"/>
              <a:buChar char="Ø"/>
            </a:pPr>
            <a:r>
              <a:rPr lang="en-US" sz="2600" dirty="0">
                <a:solidFill>
                  <a:prstClr val="black"/>
                </a:solidFill>
                <a:latin typeface="Book Antiqua" pitchFamily="18" charset="0"/>
                <a:cs typeface="Times New Roman" pitchFamily="18" charset="0"/>
              </a:rPr>
              <a:t>Thermistor are widely used in application which involve measurement in the range of 0-60º Thermistor are composed of sintered mixture of metallic oxides such as </a:t>
            </a:r>
            <a:r>
              <a:rPr lang="en-US" sz="2600" dirty="0" err="1">
                <a:solidFill>
                  <a:prstClr val="black"/>
                </a:solidFill>
                <a:latin typeface="Book Antiqua" pitchFamily="18" charset="0"/>
                <a:cs typeface="Times New Roman" pitchFamily="18" charset="0"/>
              </a:rPr>
              <a:t>magnese</a:t>
            </a:r>
            <a:r>
              <a:rPr lang="en-US" sz="2600" dirty="0">
                <a:solidFill>
                  <a:prstClr val="black"/>
                </a:solidFill>
                <a:latin typeface="Book Antiqua" pitchFamily="18" charset="0"/>
                <a:cs typeface="Times New Roman" pitchFamily="18" charset="0"/>
              </a:rPr>
              <a:t>, </a:t>
            </a:r>
            <a:r>
              <a:rPr lang="en-US" sz="2600" dirty="0" err="1">
                <a:solidFill>
                  <a:prstClr val="black"/>
                </a:solidFill>
                <a:latin typeface="Book Antiqua" pitchFamily="18" charset="0"/>
                <a:cs typeface="Times New Roman" pitchFamily="18" charset="0"/>
              </a:rPr>
              <a:t>nickle</a:t>
            </a:r>
            <a:r>
              <a:rPr lang="en-US" sz="2600" dirty="0">
                <a:solidFill>
                  <a:prstClr val="black"/>
                </a:solidFill>
                <a:latin typeface="Book Antiqua" pitchFamily="18" charset="0"/>
                <a:cs typeface="Times New Roman" pitchFamily="18" charset="0"/>
              </a:rPr>
              <a:t>, cobalt, copper, iron and uranium</a:t>
            </a:r>
          </a:p>
          <a:p>
            <a:pPr marL="109728" indent="0">
              <a:buNone/>
            </a:pPr>
            <a:endParaRPr lang="en-US" dirty="0">
              <a:latin typeface="Book Antiqua" pitchFamily="18" charset="0"/>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55</a:t>
            </a:fld>
            <a:endParaRPr lang="en-US"/>
          </a:p>
        </p:txBody>
      </p:sp>
      <p:sp>
        <p:nvSpPr>
          <p:cNvPr id="5" name="Title 4"/>
          <p:cNvSpPr>
            <a:spLocks noGrp="1"/>
          </p:cNvSpPr>
          <p:nvPr>
            <p:ph type="title"/>
          </p:nvPr>
        </p:nvSpPr>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1087265150"/>
      </p:ext>
    </p:extLst>
  </p:cSld>
  <p:clrMapOvr>
    <a:masterClrMapping/>
  </p:clrMapOvr>
  <p:transition spd="slow">
    <p:pull/>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73EDECB-2FAA-459C-97B3-E12F4C12D356}" type="slidenum">
              <a:rPr lang="en-US" smtClean="0"/>
              <a:t>56</a:t>
            </a:fld>
            <a:endParaRPr lang="en-US"/>
          </a:p>
        </p:txBody>
      </p:sp>
      <p:sp>
        <p:nvSpPr>
          <p:cNvPr id="5" name="Title 4"/>
          <p:cNvSpPr>
            <a:spLocks noGrp="1"/>
          </p:cNvSpPr>
          <p:nvPr>
            <p:ph type="title"/>
          </p:nvPr>
        </p:nvSpPr>
        <p:spPr>
          <a:xfrm>
            <a:off x="429491" y="228600"/>
            <a:ext cx="8229600" cy="533400"/>
          </a:xfrm>
        </p:spPr>
        <p:txBody>
          <a:bodyPr>
            <a:normAutofit fontScale="90000"/>
          </a:bodyPr>
          <a:lstStyle/>
          <a:p>
            <a:r>
              <a:rPr lang="en-US" sz="3200" dirty="0">
                <a:solidFill>
                  <a:schemeClr val="tx1"/>
                </a:solidFill>
                <a:effectLst/>
                <a:latin typeface="Book Antiqua" pitchFamily="18" charset="0"/>
              </a:rPr>
              <a:t>Cont.. </a:t>
            </a:r>
          </a:p>
        </p:txBody>
      </p:sp>
      <p:sp>
        <p:nvSpPr>
          <p:cNvPr id="7" name="Content Placeholder 6"/>
          <p:cNvSpPr>
            <a:spLocks noGrp="1"/>
          </p:cNvSpPr>
          <p:nvPr>
            <p:ph idx="1"/>
          </p:nvPr>
        </p:nvSpPr>
        <p:spPr>
          <a:xfrm>
            <a:off x="429491" y="914400"/>
            <a:ext cx="8229600" cy="5427663"/>
          </a:xfrm>
        </p:spPr>
        <p:txBody>
          <a:bodyPr>
            <a:normAutofit/>
          </a:bodyPr>
          <a:lstStyle/>
          <a:p>
            <a:pPr marL="342900" lvl="0" indent="-342900" algn="just" fontAlgn="base">
              <a:spcBef>
                <a:spcPct val="0"/>
              </a:spcBef>
              <a:spcAft>
                <a:spcPct val="0"/>
              </a:spcAft>
              <a:buClrTx/>
              <a:buSzTx/>
              <a:buFont typeface="Wingdings" pitchFamily="2" charset="2"/>
              <a:buChar char="Ø"/>
            </a:pPr>
            <a:r>
              <a:rPr lang="en-US" sz="2200" dirty="0">
                <a:solidFill>
                  <a:prstClr val="black"/>
                </a:solidFill>
                <a:latin typeface="Book Antiqua" pitchFamily="18" charset="0"/>
                <a:cs typeface="Times New Roman" pitchFamily="18" charset="0"/>
              </a:rPr>
              <a:t>The thermistor may be in the form of beads, rods and discs.</a:t>
            </a:r>
          </a:p>
          <a:p>
            <a:pPr marL="342900" lvl="0" indent="-342900" algn="just" fontAlgn="base">
              <a:spcBef>
                <a:spcPct val="0"/>
              </a:spcBef>
              <a:spcAft>
                <a:spcPct val="0"/>
              </a:spcAft>
              <a:buClrTx/>
              <a:buSzTx/>
              <a:buFont typeface="Wingdings" pitchFamily="2" charset="2"/>
              <a:buChar char="Ø"/>
            </a:pPr>
            <a:r>
              <a:rPr lang="en-US" sz="2200" dirty="0">
                <a:solidFill>
                  <a:prstClr val="black"/>
                </a:solidFill>
                <a:latin typeface="Book Antiqua" pitchFamily="18" charset="0"/>
                <a:cs typeface="Times New Roman" pitchFamily="18" charset="0"/>
              </a:rPr>
              <a:t>The thermistor provide a large change in resistance for small change in temperature. In some cases the resistance of thermistor at room temperature may decreases as much as 6% for each 1ºC rise in temperature</a:t>
            </a:r>
            <a:endParaRPr lang="en-US" sz="2200" dirty="0">
              <a:latin typeface="Book Antiqua" pitchFamily="18" charset="0"/>
            </a:endParaRPr>
          </a:p>
          <a:p>
            <a:pPr algn="just"/>
            <a:endParaRPr lang="en-US" sz="2200" dirty="0">
              <a:latin typeface="Book Antiqua"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018" y="3048000"/>
            <a:ext cx="8166966"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3219588"/>
      </p:ext>
    </p:extLst>
  </p:cSld>
  <p:clrMapOvr>
    <a:masterClrMapping/>
  </p:clrMapOvr>
  <p:transition spd="slow">
    <p:pull/>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5334000"/>
          </a:xfrm>
        </p:spPr>
        <p:txBody>
          <a:bodyPr>
            <a:normAutofit fontScale="92500"/>
          </a:bodyPr>
          <a:lstStyle/>
          <a:p>
            <a:pPr marL="0" lvl="0" indent="0" algn="just" fontAlgn="base">
              <a:spcBef>
                <a:spcPts val="575"/>
              </a:spcBef>
              <a:spcAft>
                <a:spcPct val="0"/>
              </a:spcAft>
              <a:buClrTx/>
              <a:buSzPct val="85000"/>
              <a:buNone/>
            </a:pPr>
            <a:r>
              <a:rPr lang="en-US" sz="3500" b="1" dirty="0">
                <a:solidFill>
                  <a:prstClr val="black"/>
                </a:solidFill>
                <a:latin typeface="Times New Roman" pitchFamily="18" charset="0"/>
                <a:ea typeface="+mj-ea"/>
                <a:cs typeface="Times New Roman" pitchFamily="18" charset="0"/>
              </a:rPr>
              <a:t>3. Analog and Digital Transducers</a:t>
            </a:r>
            <a:endParaRPr lang="en-US" sz="3500" dirty="0">
              <a:solidFill>
                <a:prstClr val="black"/>
              </a:solidFill>
              <a:latin typeface="Perpetua"/>
            </a:endParaRPr>
          </a:p>
          <a:p>
            <a:pPr marL="457200" lvl="0" indent="-457200" algn="just" fontAlgn="base">
              <a:spcBef>
                <a:spcPts val="575"/>
              </a:spcBef>
              <a:spcAft>
                <a:spcPct val="0"/>
              </a:spcAft>
              <a:buClrTx/>
              <a:buSzPct val="85000"/>
              <a:buFont typeface="Wingdings" pitchFamily="2" charset="2"/>
              <a:buChar char="Ø"/>
            </a:pPr>
            <a:r>
              <a:rPr lang="en-US" sz="2600" dirty="0">
                <a:solidFill>
                  <a:prstClr val="black"/>
                </a:solidFill>
                <a:latin typeface="Perpetua"/>
              </a:rPr>
              <a:t>Transducers, on the basis of nature of output signal, may be classified into analog and digital transducers. Analog transducer converts input signal into output signal, which is a continuous function of time such as thermistor, strain gauge, LVDT, thermo-couple etc. Digital transducer converts input signal into the output signal of the form of pulse e.g. it gives discrete output. </a:t>
            </a:r>
          </a:p>
          <a:p>
            <a:pPr marL="457200" lvl="0" indent="-457200" algn="just" fontAlgn="base">
              <a:spcBef>
                <a:spcPts val="575"/>
              </a:spcBef>
              <a:spcAft>
                <a:spcPct val="0"/>
              </a:spcAft>
              <a:buClrTx/>
              <a:buSzPct val="85000"/>
              <a:buFont typeface="Wingdings" pitchFamily="2" charset="2"/>
              <a:buChar char="Ø"/>
            </a:pPr>
            <a:r>
              <a:rPr lang="en-US" sz="2600" dirty="0">
                <a:solidFill>
                  <a:prstClr val="black"/>
                </a:solidFill>
                <a:latin typeface="Perpetua"/>
              </a:rPr>
              <a:t>These transducers are becoming more and more popular now-a-days because of advantages associated with digital measuring instruments and also due to the effect that digital signals can be transmitted over a long distance without causing much distortion due to amplitude variation and phase shift. Sometimes an analog transducer combined with an ADC (analog-digital convector) is called a digital </a:t>
            </a:r>
            <a:r>
              <a:rPr lang="en-US" sz="2600" i="1" dirty="0">
                <a:solidFill>
                  <a:prstClr val="black"/>
                </a:solidFill>
                <a:latin typeface="Perpetua"/>
              </a:rPr>
              <a:t>transducer</a:t>
            </a:r>
            <a:endParaRPr lang="en-US" sz="2600" dirty="0">
              <a:solidFill>
                <a:prstClr val="black"/>
              </a:solidFill>
              <a:latin typeface="Perpetua"/>
            </a:endParaRP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57</a:t>
            </a:fld>
            <a:endParaRPr lang="en-US"/>
          </a:p>
        </p:txBody>
      </p:sp>
      <p:sp>
        <p:nvSpPr>
          <p:cNvPr id="5" name="Title 4"/>
          <p:cNvSpPr>
            <a:spLocks noGrp="1"/>
          </p:cNvSpPr>
          <p:nvPr>
            <p:ph type="title"/>
          </p:nvPr>
        </p:nvSpPr>
        <p:spPr>
          <a:xfrm>
            <a:off x="457200" y="274638"/>
            <a:ext cx="8229600" cy="7921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294835642"/>
      </p:ext>
    </p:extLst>
  </p:cSld>
  <p:clrMapOvr>
    <a:masterClrMapping/>
  </p:clrMapOvr>
  <p:transition spd="slow">
    <p:pull/>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382000" cy="5486400"/>
          </a:xfrm>
        </p:spPr>
        <p:txBody>
          <a:bodyPr/>
          <a:lstStyle/>
          <a:p>
            <a:pPr marL="109728" indent="0">
              <a:buNone/>
            </a:pPr>
            <a:r>
              <a:rPr lang="en-US" sz="3200" b="1" dirty="0">
                <a:latin typeface="Book Antiqua" pitchFamily="18" charset="0"/>
              </a:rPr>
              <a:t>4. On the basis of transduction principle </a:t>
            </a:r>
          </a:p>
          <a:p>
            <a:pPr marL="109728" indent="0">
              <a:buNone/>
            </a:pPr>
            <a:r>
              <a:rPr lang="en-US" sz="2400" dirty="0">
                <a:latin typeface="Book Antiqua" pitchFamily="18" charset="0"/>
              </a:rPr>
              <a:t>A process by which a  transducer converts one type of energy to another</a:t>
            </a:r>
            <a:endParaRPr lang="en-US" sz="2400" b="1" dirty="0">
              <a:latin typeface="Book Antiqua" pitchFamily="18" charset="0"/>
            </a:endParaRPr>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58</a:t>
            </a:fld>
            <a:endParaRPr lang="en-US"/>
          </a:p>
        </p:txBody>
      </p:sp>
      <p:sp>
        <p:nvSpPr>
          <p:cNvPr id="5" name="Title 4"/>
          <p:cNvSpPr>
            <a:spLocks noGrp="1"/>
          </p:cNvSpPr>
          <p:nvPr>
            <p:ph type="title"/>
          </p:nvPr>
        </p:nvSpPr>
        <p:spPr>
          <a:xfrm>
            <a:off x="457200" y="274638"/>
            <a:ext cx="8229600" cy="487362"/>
          </a:xfrm>
        </p:spPr>
        <p:txBody>
          <a:bodyPr>
            <a:normAutofit fontScale="90000"/>
          </a:bodyPr>
          <a:lstStyle/>
          <a:p>
            <a:r>
              <a:rPr lang="en-US" sz="3200" dirty="0">
                <a:solidFill>
                  <a:schemeClr val="tx1"/>
                </a:solidFill>
                <a:effectLst/>
                <a:latin typeface="Book Antiqua" pitchFamily="18" charset="0"/>
              </a:rPr>
              <a:t>Cont..</a:t>
            </a:r>
          </a:p>
        </p:txBody>
      </p:sp>
      <p:pic>
        <p:nvPicPr>
          <p:cNvPr id="6"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362200"/>
            <a:ext cx="8229600" cy="37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0651075"/>
      </p:ext>
    </p:extLst>
  </p:cSld>
  <p:clrMapOvr>
    <a:masterClrMapping/>
  </p:clrMapOvr>
  <p:transition spd="slow">
    <p:pull/>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562600"/>
          </a:xfrm>
        </p:spPr>
        <p:txBody>
          <a:bodyPr>
            <a:normAutofit fontScale="92500" lnSpcReduction="10000"/>
          </a:bodyPr>
          <a:lstStyle/>
          <a:p>
            <a:pPr marL="0" lvl="0" indent="0" algn="just" fontAlgn="base">
              <a:spcBef>
                <a:spcPct val="0"/>
              </a:spcBef>
              <a:spcAft>
                <a:spcPct val="0"/>
              </a:spcAft>
              <a:buClrTx/>
              <a:buSzTx/>
              <a:buNone/>
            </a:pPr>
            <a:r>
              <a:rPr lang="en-US" sz="3000" b="1" dirty="0">
                <a:solidFill>
                  <a:prstClr val="black"/>
                </a:solidFill>
                <a:latin typeface="Book Antiqua" pitchFamily="18" charset="0"/>
                <a:cs typeface="Times New Roman" pitchFamily="18" charset="0"/>
              </a:rPr>
              <a:t>Capacitive transducer:</a:t>
            </a:r>
          </a:p>
          <a:p>
            <a:pPr marL="342900" lvl="0" indent="-342900" algn="just" fontAlgn="base">
              <a:spcBef>
                <a:spcPct val="0"/>
              </a:spcBef>
              <a:spcAft>
                <a:spcPct val="0"/>
              </a:spcAft>
              <a:buClrTx/>
              <a:buSzTx/>
              <a:buFont typeface="Wingdings" pitchFamily="2" charset="2"/>
              <a:buChar char="Ø"/>
            </a:pPr>
            <a:r>
              <a:rPr lang="en-US" sz="2200" dirty="0">
                <a:solidFill>
                  <a:prstClr val="black"/>
                </a:solidFill>
                <a:latin typeface="Book Antiqua" pitchFamily="18" charset="0"/>
                <a:cs typeface="Times New Roman" pitchFamily="18" charset="0"/>
              </a:rPr>
              <a:t>In capacitive transduction transducers the </a:t>
            </a:r>
            <a:r>
              <a:rPr lang="en-US" sz="2200" dirty="0" err="1">
                <a:solidFill>
                  <a:prstClr val="black"/>
                </a:solidFill>
                <a:latin typeface="Book Antiqua" pitchFamily="18" charset="0"/>
                <a:cs typeface="Times New Roman" pitchFamily="18" charset="0"/>
              </a:rPr>
              <a:t>measurand</a:t>
            </a:r>
            <a:r>
              <a:rPr lang="en-US" sz="2200" dirty="0">
                <a:solidFill>
                  <a:prstClr val="black"/>
                </a:solidFill>
                <a:latin typeface="Book Antiqua" pitchFamily="18" charset="0"/>
                <a:cs typeface="Times New Roman" pitchFamily="18" charset="0"/>
              </a:rPr>
              <a:t> is converted to a change in the capacitance.</a:t>
            </a:r>
          </a:p>
          <a:p>
            <a:pPr marL="342900" lvl="0" indent="-342900" algn="just" fontAlgn="base">
              <a:spcBef>
                <a:spcPct val="0"/>
              </a:spcBef>
              <a:spcAft>
                <a:spcPct val="0"/>
              </a:spcAft>
              <a:buClrTx/>
              <a:buSzTx/>
              <a:buFont typeface="Wingdings" pitchFamily="2" charset="2"/>
              <a:buChar char="Ø"/>
            </a:pPr>
            <a:r>
              <a:rPr lang="en-US" sz="2200" dirty="0">
                <a:solidFill>
                  <a:prstClr val="black"/>
                </a:solidFill>
                <a:latin typeface="Book Antiqua" pitchFamily="18" charset="0"/>
                <a:cs typeface="Times New Roman" pitchFamily="18" charset="0"/>
              </a:rPr>
              <a:t>A typical capacitor is comprised of two parallel plates of conducting material separated by an electrical insulating material called a dielectric. The plates and the dielectric may be either flattened or rolled.</a:t>
            </a:r>
          </a:p>
          <a:p>
            <a:pPr marL="342900" lvl="0" indent="-342900" algn="just" fontAlgn="base">
              <a:spcBef>
                <a:spcPct val="0"/>
              </a:spcBef>
              <a:spcAft>
                <a:spcPct val="0"/>
              </a:spcAft>
              <a:buClrTx/>
              <a:buSzTx/>
              <a:buFont typeface="Wingdings" pitchFamily="2" charset="2"/>
              <a:buChar char="Ø"/>
            </a:pPr>
            <a:r>
              <a:rPr lang="en-US" sz="2200" dirty="0">
                <a:solidFill>
                  <a:prstClr val="black"/>
                </a:solidFill>
                <a:latin typeface="Book Antiqua" pitchFamily="18" charset="0"/>
                <a:cs typeface="Times New Roman" pitchFamily="18" charset="0"/>
              </a:rPr>
              <a:t>The purpose of the dielectric is to help the two parallel plates maintain their stored electrical charges.</a:t>
            </a:r>
          </a:p>
          <a:p>
            <a:pPr marL="342900" lvl="0" indent="-342900" algn="just" fontAlgn="base">
              <a:spcBef>
                <a:spcPct val="0"/>
              </a:spcBef>
              <a:spcAft>
                <a:spcPct val="0"/>
              </a:spcAft>
              <a:buClrTx/>
              <a:buSzTx/>
              <a:buFont typeface="Wingdings" pitchFamily="2" charset="2"/>
              <a:buChar char="Ø"/>
            </a:pPr>
            <a:r>
              <a:rPr lang="en-US" sz="2200" dirty="0">
                <a:solidFill>
                  <a:prstClr val="black"/>
                </a:solidFill>
                <a:latin typeface="Book Antiqua" pitchFamily="18" charset="0"/>
                <a:cs typeface="Times New Roman" pitchFamily="18" charset="0"/>
              </a:rPr>
              <a:t>The relationship between the capacitance and the size of capacitor plate, amount of plate separation, and the dielectric is given by;</a:t>
            </a:r>
          </a:p>
          <a:p>
            <a:pPr marL="1920240" lvl="8" indent="0" algn="just" fontAlgn="base">
              <a:spcBef>
                <a:spcPct val="0"/>
              </a:spcBef>
              <a:spcAft>
                <a:spcPct val="0"/>
              </a:spcAft>
              <a:buClrTx/>
              <a:buNone/>
            </a:pPr>
            <a:r>
              <a:rPr lang="en-US" sz="2400" dirty="0">
                <a:solidFill>
                  <a:prstClr val="black"/>
                </a:solidFill>
                <a:latin typeface="Book Antiqua" pitchFamily="18" charset="0"/>
                <a:cs typeface="Times New Roman" pitchFamily="18" charset="0"/>
              </a:rPr>
              <a:t>  </a:t>
            </a:r>
          </a:p>
          <a:p>
            <a:pPr marL="493776" lvl="2" indent="0" algn="just" fontAlgn="base">
              <a:spcBef>
                <a:spcPct val="0"/>
              </a:spcBef>
              <a:spcAft>
                <a:spcPct val="0"/>
              </a:spcAft>
              <a:buClrTx/>
              <a:buNone/>
            </a:pPr>
            <a:endParaRPr lang="en-US" sz="2200" dirty="0">
              <a:solidFill>
                <a:prstClr val="black"/>
              </a:solidFill>
              <a:latin typeface="Book Antiqua" pitchFamily="18" charset="0"/>
              <a:cs typeface="Times New Roman" pitchFamily="18" charset="0"/>
            </a:endParaRPr>
          </a:p>
          <a:p>
            <a:pPr marL="493776" lvl="2" indent="0" algn="just" fontAlgn="base">
              <a:spcBef>
                <a:spcPct val="0"/>
              </a:spcBef>
              <a:spcAft>
                <a:spcPct val="0"/>
              </a:spcAft>
              <a:buClrTx/>
              <a:buNone/>
            </a:pPr>
            <a:endParaRPr lang="en-US" sz="2200" dirty="0">
              <a:solidFill>
                <a:prstClr val="black"/>
              </a:solidFill>
              <a:latin typeface="Book Antiqua" pitchFamily="18" charset="0"/>
              <a:cs typeface="Times New Roman" pitchFamily="18" charset="0"/>
            </a:endParaRPr>
          </a:p>
          <a:p>
            <a:pPr marL="493776" lvl="2" indent="0" algn="just" fontAlgn="base">
              <a:spcBef>
                <a:spcPct val="0"/>
              </a:spcBef>
              <a:spcAft>
                <a:spcPct val="0"/>
              </a:spcAft>
              <a:buClrTx/>
              <a:buNone/>
            </a:pPr>
            <a:r>
              <a:rPr lang="en-US" sz="2200" dirty="0">
                <a:solidFill>
                  <a:prstClr val="black"/>
                </a:solidFill>
                <a:latin typeface="Book Antiqua" pitchFamily="18" charset="0"/>
                <a:cs typeface="Times New Roman" pitchFamily="18" charset="0"/>
              </a:rPr>
              <a:t>d is the separation distance of plates (m)</a:t>
            </a:r>
          </a:p>
          <a:p>
            <a:pPr marL="493776" lvl="2" indent="0" algn="just" fontAlgn="base">
              <a:spcBef>
                <a:spcPct val="0"/>
              </a:spcBef>
              <a:spcAft>
                <a:spcPct val="0"/>
              </a:spcAft>
              <a:buClrTx/>
              <a:buNone/>
            </a:pPr>
            <a:r>
              <a:rPr lang="en-US" sz="2200" i="1" dirty="0">
                <a:solidFill>
                  <a:prstClr val="black"/>
                </a:solidFill>
                <a:latin typeface="Book Antiqua" pitchFamily="18" charset="0"/>
                <a:cs typeface="Times New Roman" pitchFamily="18" charset="0"/>
              </a:rPr>
              <a:t>C is the capacitance (F, Farad)</a:t>
            </a:r>
          </a:p>
          <a:p>
            <a:pPr marL="493776" lvl="2" indent="0" algn="just" fontAlgn="base">
              <a:spcBef>
                <a:spcPct val="0"/>
              </a:spcBef>
              <a:spcAft>
                <a:spcPct val="0"/>
              </a:spcAft>
              <a:buClrTx/>
              <a:buNone/>
            </a:pPr>
            <a:r>
              <a:rPr lang="el-GR" sz="2200" dirty="0">
                <a:solidFill>
                  <a:prstClr val="black"/>
                </a:solidFill>
                <a:latin typeface="Book Antiqua" pitchFamily="18" charset="0"/>
                <a:cs typeface="Times New Roman" pitchFamily="18" charset="0"/>
              </a:rPr>
              <a:t>ε</a:t>
            </a:r>
            <a:r>
              <a:rPr lang="en-US" sz="2200" dirty="0">
                <a:solidFill>
                  <a:prstClr val="black"/>
                </a:solidFill>
                <a:latin typeface="Book Antiqua" pitchFamily="18" charset="0"/>
                <a:cs typeface="Times New Roman" pitchFamily="18" charset="0"/>
              </a:rPr>
              <a:t>0 : absolute permittivity of vacuum</a:t>
            </a:r>
          </a:p>
          <a:p>
            <a:pPr marL="493776" lvl="2" indent="0" algn="just" fontAlgn="base">
              <a:spcBef>
                <a:spcPct val="0"/>
              </a:spcBef>
              <a:spcAft>
                <a:spcPct val="0"/>
              </a:spcAft>
              <a:buClrTx/>
              <a:buNone/>
            </a:pPr>
            <a:r>
              <a:rPr lang="el-GR" sz="2200" dirty="0">
                <a:solidFill>
                  <a:prstClr val="black"/>
                </a:solidFill>
                <a:latin typeface="Book Antiqua" pitchFamily="18" charset="0"/>
                <a:cs typeface="Times New Roman" pitchFamily="18" charset="0"/>
              </a:rPr>
              <a:t>ε</a:t>
            </a:r>
            <a:r>
              <a:rPr lang="en-US" sz="2200" dirty="0">
                <a:solidFill>
                  <a:prstClr val="black"/>
                </a:solidFill>
                <a:latin typeface="Book Antiqua" pitchFamily="18" charset="0"/>
                <a:cs typeface="Times New Roman" pitchFamily="18" charset="0"/>
              </a:rPr>
              <a:t>r : relative permittivity</a:t>
            </a:r>
          </a:p>
          <a:p>
            <a:pPr marL="493776" lvl="2" indent="0" algn="just" fontAlgn="base">
              <a:spcBef>
                <a:spcPct val="0"/>
              </a:spcBef>
              <a:spcAft>
                <a:spcPct val="0"/>
              </a:spcAft>
              <a:buClrTx/>
              <a:buNone/>
            </a:pPr>
            <a:r>
              <a:rPr lang="en-US" sz="2200" i="1" dirty="0">
                <a:solidFill>
                  <a:prstClr val="black"/>
                </a:solidFill>
                <a:latin typeface="Book Antiqua" pitchFamily="18" charset="0"/>
                <a:cs typeface="Times New Roman" pitchFamily="18" charset="0"/>
              </a:rPr>
              <a:t>A </a:t>
            </a:r>
            <a:r>
              <a:rPr lang="en-US" sz="2200" dirty="0">
                <a:solidFill>
                  <a:prstClr val="black"/>
                </a:solidFill>
                <a:latin typeface="Book Antiqua" pitchFamily="18" charset="0"/>
                <a:cs typeface="Times New Roman" pitchFamily="18" charset="0"/>
              </a:rPr>
              <a:t>is the effective (overlapping) area of capacitor plates (m2)</a:t>
            </a: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59</a:t>
            </a:fld>
            <a:endParaRPr lang="en-US"/>
          </a:p>
        </p:txBody>
      </p:sp>
      <p:sp>
        <p:nvSpPr>
          <p:cNvPr id="5" name="Title 4"/>
          <p:cNvSpPr>
            <a:spLocks noGrp="1"/>
          </p:cNvSpPr>
          <p:nvPr>
            <p:ph type="title"/>
          </p:nvPr>
        </p:nvSpPr>
        <p:spPr>
          <a:xfrm>
            <a:off x="457200" y="152400"/>
            <a:ext cx="8229600" cy="563562"/>
          </a:xfrm>
        </p:spPr>
        <p:txBody>
          <a:bodyPr>
            <a:normAutofit fontScale="90000"/>
          </a:bodyPr>
          <a:lstStyle/>
          <a:p>
            <a:r>
              <a:rPr lang="en-US" sz="3200" dirty="0">
                <a:solidFill>
                  <a:schemeClr val="tx1"/>
                </a:solidFill>
                <a:effectLst/>
                <a:latin typeface="Book Antiqua" pitchFamily="18" charset="0"/>
              </a:rPr>
              <a:t>Cont..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4191000"/>
            <a:ext cx="1616075"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Object 5"/>
          <p:cNvGraphicFramePr>
            <a:graphicFrameLocks noChangeAspect="1"/>
          </p:cNvGraphicFramePr>
          <p:nvPr>
            <p:extLst>
              <p:ext uri="{D42A27DB-BD31-4B8C-83A1-F6EECF244321}">
                <p14:modId xmlns:p14="http://schemas.microsoft.com/office/powerpoint/2010/main" val="3527136587"/>
              </p:ext>
            </p:extLst>
          </p:nvPr>
        </p:nvGraphicFramePr>
        <p:xfrm>
          <a:off x="2362200" y="3948545"/>
          <a:ext cx="1828800" cy="838200"/>
        </p:xfrm>
        <a:graphic>
          <a:graphicData uri="http://schemas.openxmlformats.org/presentationml/2006/ole">
            <mc:AlternateContent xmlns:mc="http://schemas.openxmlformats.org/markup-compatibility/2006">
              <mc:Choice xmlns:v="urn:schemas-microsoft-com:vml" Requires="v">
                <p:oleObj spid="_x0000_s1025" name="Equation" r:id="rId4" imgW="672808" imgH="393529" progId="Equation.DSMT4">
                  <p:embed/>
                </p:oleObj>
              </mc:Choice>
              <mc:Fallback>
                <p:oleObj name="Equation" r:id="rId4" imgW="672808" imgH="393529" progId="Equation.DSMT4">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3948545"/>
                        <a:ext cx="1828800" cy="8382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12769223"/>
      </p:ext>
    </p:extLst>
  </p:cSld>
  <p:clrMapOvr>
    <a:masterClrMapping/>
  </p:clrMapOvr>
  <p:transition spd="slow">
    <p:pull/>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066800"/>
            <a:ext cx="8229600" cy="5181600"/>
          </a:xfrm>
        </p:spPr>
        <p:txBody>
          <a:bodyPr/>
          <a:lstStyle/>
          <a:p>
            <a:pPr marL="0" lvl="0" indent="0" algn="just" fontAlgn="base">
              <a:spcBef>
                <a:spcPct val="0"/>
              </a:spcBef>
              <a:spcAft>
                <a:spcPct val="0"/>
              </a:spcAft>
              <a:buClrTx/>
              <a:buSzTx/>
              <a:buNone/>
            </a:pPr>
            <a:r>
              <a:rPr lang="en-US" sz="2400" b="1" dirty="0">
                <a:solidFill>
                  <a:prstClr val="black"/>
                </a:solidFill>
                <a:latin typeface="Book Antiqua" pitchFamily="18" charset="0"/>
                <a:cs typeface="Times New Roman" pitchFamily="18" charset="0"/>
              </a:rPr>
              <a:t>Electromagnetic transduction:</a:t>
            </a:r>
          </a:p>
          <a:p>
            <a:pPr marL="342900" lvl="0" indent="-342900" algn="just" fontAlgn="base">
              <a:spcBef>
                <a:spcPct val="0"/>
              </a:spcBef>
              <a:spcAft>
                <a:spcPct val="0"/>
              </a:spcAft>
              <a:buClrTx/>
              <a:buSzTx/>
              <a:buFont typeface="Wingdings" pitchFamily="2" charset="2"/>
              <a:buChar char="Ø"/>
            </a:pPr>
            <a:r>
              <a:rPr lang="en-US" sz="2400" dirty="0">
                <a:solidFill>
                  <a:prstClr val="black"/>
                </a:solidFill>
                <a:latin typeface="Book Antiqua" pitchFamily="18" charset="0"/>
                <a:cs typeface="Times New Roman" pitchFamily="18" charset="0"/>
              </a:rPr>
              <a:t>In electromagnetic transduction, the </a:t>
            </a:r>
            <a:r>
              <a:rPr lang="en-US" sz="2400" dirty="0" err="1">
                <a:solidFill>
                  <a:prstClr val="black"/>
                </a:solidFill>
                <a:latin typeface="Book Antiqua" pitchFamily="18" charset="0"/>
                <a:cs typeface="Times New Roman" pitchFamily="18" charset="0"/>
              </a:rPr>
              <a:t>measurand</a:t>
            </a:r>
            <a:r>
              <a:rPr lang="en-US" sz="2400" dirty="0">
                <a:solidFill>
                  <a:prstClr val="black"/>
                </a:solidFill>
                <a:latin typeface="Book Antiqua" pitchFamily="18" charset="0"/>
                <a:cs typeface="Times New Roman" pitchFamily="18" charset="0"/>
              </a:rPr>
              <a:t> is converted to voltage induced in conductor by change in the magnetic flux, in absence of excitation.</a:t>
            </a:r>
          </a:p>
          <a:p>
            <a:pPr marL="342900" lvl="0" indent="-342900" algn="just" fontAlgn="base">
              <a:spcBef>
                <a:spcPct val="0"/>
              </a:spcBef>
              <a:spcAft>
                <a:spcPct val="0"/>
              </a:spcAft>
              <a:buClrTx/>
              <a:buSzTx/>
              <a:buFont typeface="Wingdings" pitchFamily="2" charset="2"/>
              <a:buChar char="Ø"/>
            </a:pPr>
            <a:r>
              <a:rPr lang="en-US" sz="2400" dirty="0">
                <a:solidFill>
                  <a:prstClr val="black"/>
                </a:solidFill>
                <a:latin typeface="Book Antiqua" pitchFamily="18" charset="0"/>
                <a:cs typeface="Times New Roman" pitchFamily="18" charset="0"/>
              </a:rPr>
              <a:t>The electromagnetic transducer are self generating active transducers</a:t>
            </a:r>
          </a:p>
          <a:p>
            <a:pPr marL="342900" lvl="0" indent="-342900" algn="just" fontAlgn="base">
              <a:spcBef>
                <a:spcPct val="0"/>
              </a:spcBef>
              <a:spcAft>
                <a:spcPct val="0"/>
              </a:spcAft>
              <a:buClrTx/>
              <a:buSzTx/>
              <a:buFont typeface="Wingdings" pitchFamily="2" charset="2"/>
              <a:buChar char="Ø"/>
            </a:pPr>
            <a:r>
              <a:rPr lang="en-US" sz="2400" dirty="0">
                <a:solidFill>
                  <a:prstClr val="black"/>
                </a:solidFill>
                <a:latin typeface="Book Antiqua" pitchFamily="18" charset="0"/>
                <a:cs typeface="Times New Roman" pitchFamily="18" charset="0"/>
              </a:rPr>
              <a:t>The motion between a piece of magnet and an electromagnet is responsible for the change in flux</a:t>
            </a: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60</a:t>
            </a:fld>
            <a:endParaRPr lang="en-US"/>
          </a:p>
        </p:txBody>
      </p:sp>
      <p:sp>
        <p:nvSpPr>
          <p:cNvPr id="5" name="Title 4"/>
          <p:cNvSpPr>
            <a:spLocks noGrp="1"/>
          </p:cNvSpPr>
          <p:nvPr>
            <p:ph type="title"/>
          </p:nvPr>
        </p:nvSpPr>
        <p:spPr>
          <a:xfrm>
            <a:off x="457200" y="274638"/>
            <a:ext cx="8229600" cy="563562"/>
          </a:xfrm>
        </p:spPr>
        <p:txBody>
          <a:bodyPr>
            <a:normAutofit fontScale="90000"/>
          </a:bodyPr>
          <a:lstStyle/>
          <a:p>
            <a:r>
              <a:rPr lang="en-US" sz="3200" dirty="0">
                <a:solidFill>
                  <a:schemeClr val="tx1"/>
                </a:solidFill>
                <a:effectLst/>
                <a:latin typeface="Book Antiqua" pitchFamily="18" charset="0"/>
              </a:rPr>
              <a:t>Cont.. </a:t>
            </a:r>
          </a:p>
        </p:txBody>
      </p:sp>
      <p:pic>
        <p:nvPicPr>
          <p:cNvPr id="6" name="Picture 2" descr="http://www.radioelectronicschool.net/files/downloads/faradyanim.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812473" y="4343400"/>
            <a:ext cx="351212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2202103"/>
      </p:ext>
    </p:extLst>
  </p:cSld>
  <p:clrMapOvr>
    <a:masterClrMapping/>
  </p:clrMapOvr>
  <p:transition spd="slow">
    <p:pull/>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lvl="0" indent="0" algn="just" fontAlgn="base">
              <a:spcBef>
                <a:spcPct val="0"/>
              </a:spcBef>
              <a:spcAft>
                <a:spcPct val="0"/>
              </a:spcAft>
              <a:buClrTx/>
              <a:buSzTx/>
              <a:buNone/>
            </a:pPr>
            <a:r>
              <a:rPr lang="en-US" sz="2400" b="1" dirty="0">
                <a:solidFill>
                  <a:prstClr val="black"/>
                </a:solidFill>
                <a:latin typeface="Book Antiqua" pitchFamily="18" charset="0"/>
                <a:cs typeface="Times New Roman" pitchFamily="18" charset="0"/>
              </a:rPr>
              <a:t>Inductive transducer:</a:t>
            </a:r>
          </a:p>
          <a:p>
            <a:pPr marL="0" lvl="0" indent="0" algn="just" fontAlgn="base">
              <a:spcBef>
                <a:spcPct val="0"/>
              </a:spcBef>
              <a:spcAft>
                <a:spcPct val="0"/>
              </a:spcAft>
              <a:buClrTx/>
              <a:buSzTx/>
              <a:buNone/>
            </a:pPr>
            <a:r>
              <a:rPr lang="en-US" sz="2400" dirty="0">
                <a:solidFill>
                  <a:prstClr val="black"/>
                </a:solidFill>
                <a:latin typeface="Book Antiqua" pitchFamily="18" charset="0"/>
                <a:cs typeface="Times New Roman" pitchFamily="18" charset="0"/>
              </a:rPr>
              <a:t>In inductive transduction, the </a:t>
            </a:r>
            <a:r>
              <a:rPr lang="en-US" sz="2400" dirty="0" err="1">
                <a:solidFill>
                  <a:prstClr val="black"/>
                </a:solidFill>
                <a:latin typeface="Book Antiqua" pitchFamily="18" charset="0"/>
                <a:cs typeface="Times New Roman" pitchFamily="18" charset="0"/>
              </a:rPr>
              <a:t>measurand</a:t>
            </a:r>
            <a:r>
              <a:rPr lang="en-US" sz="2400" dirty="0">
                <a:solidFill>
                  <a:prstClr val="black"/>
                </a:solidFill>
                <a:latin typeface="Book Antiqua" pitchFamily="18" charset="0"/>
                <a:cs typeface="Times New Roman" pitchFamily="18" charset="0"/>
              </a:rPr>
              <a:t> is converted into a change in the self inductance of a single coil. It is achieved by displacing the core of the coil that is attached to a mechanical sensing element</a:t>
            </a:r>
          </a:p>
          <a:p>
            <a:pPr marL="0" lvl="0" indent="0" algn="just" fontAlgn="base">
              <a:spcBef>
                <a:spcPct val="0"/>
              </a:spcBef>
              <a:spcAft>
                <a:spcPct val="0"/>
              </a:spcAft>
              <a:buClrTx/>
              <a:buSzTx/>
              <a:buNone/>
            </a:pPr>
            <a:endParaRPr lang="en-US" sz="2400" dirty="0">
              <a:solidFill>
                <a:prstClr val="black"/>
              </a:solidFill>
              <a:latin typeface="Book Antiqua" pitchFamily="18" charset="0"/>
              <a:cs typeface="Times New Roman" pitchFamily="18" charset="0"/>
            </a:endParaRPr>
          </a:p>
          <a:p>
            <a:pPr marL="0" lvl="0" indent="0" algn="just" fontAlgn="base">
              <a:spcBef>
                <a:spcPct val="0"/>
              </a:spcBef>
              <a:spcAft>
                <a:spcPct val="0"/>
              </a:spcAft>
              <a:buClrTx/>
              <a:buSzTx/>
              <a:buNone/>
            </a:pPr>
            <a:r>
              <a:rPr lang="en-US" sz="2400" b="1" dirty="0" err="1">
                <a:latin typeface="Book Antiqua" pitchFamily="18" charset="0"/>
                <a:cs typeface="Times New Roman" pitchFamily="18" charset="0"/>
              </a:rPr>
              <a:t>Piezo</a:t>
            </a:r>
            <a:r>
              <a:rPr lang="en-US" sz="2400" b="1" dirty="0">
                <a:latin typeface="Book Antiqua" pitchFamily="18" charset="0"/>
                <a:cs typeface="Times New Roman" pitchFamily="18" charset="0"/>
              </a:rPr>
              <a:t> electric induction :</a:t>
            </a:r>
          </a:p>
          <a:p>
            <a:pPr marL="0" lvl="0" indent="0" algn="just" fontAlgn="base">
              <a:spcBef>
                <a:spcPct val="0"/>
              </a:spcBef>
              <a:spcAft>
                <a:spcPct val="0"/>
              </a:spcAft>
              <a:buClrTx/>
              <a:buSzTx/>
              <a:buNone/>
            </a:pPr>
            <a:r>
              <a:rPr lang="en-US" sz="2400" dirty="0">
                <a:solidFill>
                  <a:prstClr val="black"/>
                </a:solidFill>
                <a:latin typeface="Book Antiqua" pitchFamily="18" charset="0"/>
                <a:cs typeface="Times New Roman" pitchFamily="18" charset="0"/>
              </a:rPr>
              <a:t>In piezoelectric induction the </a:t>
            </a:r>
            <a:r>
              <a:rPr lang="en-US" sz="2400" dirty="0" err="1">
                <a:solidFill>
                  <a:prstClr val="black"/>
                </a:solidFill>
                <a:latin typeface="Book Antiqua" pitchFamily="18" charset="0"/>
                <a:cs typeface="Times New Roman" pitchFamily="18" charset="0"/>
              </a:rPr>
              <a:t>measurand</a:t>
            </a:r>
            <a:r>
              <a:rPr lang="en-US" sz="2400" dirty="0">
                <a:solidFill>
                  <a:prstClr val="black"/>
                </a:solidFill>
                <a:latin typeface="Book Antiqua" pitchFamily="18" charset="0"/>
                <a:cs typeface="Times New Roman" pitchFamily="18" charset="0"/>
              </a:rPr>
              <a:t> is converted into a change in electrostatic charge (q) or voltage (V) generated by crystals when mechanically it is stressed as shown in fig.</a:t>
            </a: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61</a:t>
            </a:fld>
            <a:endParaRPr lang="en-US"/>
          </a:p>
        </p:txBody>
      </p:sp>
      <p:sp>
        <p:nvSpPr>
          <p:cNvPr id="5" name="Title 4"/>
          <p:cNvSpPr>
            <a:spLocks noGrp="1"/>
          </p:cNvSpPr>
          <p:nvPr>
            <p:ph type="title"/>
          </p:nvPr>
        </p:nvSpPr>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3096917263"/>
      </p:ext>
    </p:extLst>
  </p:cSld>
  <p:clrMapOvr>
    <a:masterClrMapping/>
  </p:clrMapOvr>
  <p:transition spd="slow">
    <p:pull/>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143000"/>
            <a:ext cx="8229600" cy="4525963"/>
          </a:xfrm>
        </p:spPr>
        <p:txBody>
          <a:bodyPr/>
          <a:lstStyle/>
          <a:p>
            <a:pPr marL="0" lvl="0" indent="0" algn="just" fontAlgn="base">
              <a:spcBef>
                <a:spcPct val="0"/>
              </a:spcBef>
              <a:spcAft>
                <a:spcPct val="0"/>
              </a:spcAft>
              <a:buClrTx/>
              <a:buSzTx/>
              <a:buNone/>
            </a:pPr>
            <a:r>
              <a:rPr lang="en-US" sz="2400" b="1" dirty="0">
                <a:solidFill>
                  <a:prstClr val="black"/>
                </a:solidFill>
                <a:latin typeface="Book Antiqua" pitchFamily="18" charset="0"/>
                <a:cs typeface="Times New Roman" pitchFamily="18" charset="0"/>
              </a:rPr>
              <a:t>Photovoltaic transduction :</a:t>
            </a:r>
          </a:p>
          <a:p>
            <a:pPr marL="0" lvl="0" indent="0" algn="just" fontAlgn="base">
              <a:spcBef>
                <a:spcPct val="0"/>
              </a:spcBef>
              <a:spcAft>
                <a:spcPct val="0"/>
              </a:spcAft>
              <a:buClrTx/>
              <a:buSzTx/>
              <a:buNone/>
            </a:pPr>
            <a:r>
              <a:rPr lang="en-US" sz="2400" dirty="0">
                <a:solidFill>
                  <a:prstClr val="black"/>
                </a:solidFill>
                <a:latin typeface="Book Antiqua" pitchFamily="18" charset="0"/>
                <a:cs typeface="Times New Roman" pitchFamily="18" charset="0"/>
              </a:rPr>
              <a:t>In photovoltaic transduction the </a:t>
            </a:r>
            <a:r>
              <a:rPr lang="en-US" sz="2400" dirty="0" err="1">
                <a:solidFill>
                  <a:prstClr val="black"/>
                </a:solidFill>
                <a:latin typeface="Book Antiqua" pitchFamily="18" charset="0"/>
                <a:cs typeface="Times New Roman" pitchFamily="18" charset="0"/>
              </a:rPr>
              <a:t>measurand</a:t>
            </a:r>
            <a:r>
              <a:rPr lang="en-US" sz="2400" dirty="0">
                <a:solidFill>
                  <a:prstClr val="black"/>
                </a:solidFill>
                <a:latin typeface="Book Antiqua" pitchFamily="18" charset="0"/>
                <a:cs typeface="Times New Roman" pitchFamily="18" charset="0"/>
              </a:rPr>
              <a:t> is converted to voltage generated when the junction between dissimilar material is illuminated as shown in fig.</a:t>
            </a:r>
          </a:p>
          <a:p>
            <a:pPr marL="0" lvl="0" indent="0" fontAlgn="base">
              <a:spcBef>
                <a:spcPct val="0"/>
              </a:spcBef>
              <a:spcAft>
                <a:spcPct val="0"/>
              </a:spcAft>
              <a:buClrTx/>
              <a:buSzTx/>
              <a:buNone/>
            </a:pPr>
            <a:endParaRPr lang="en-US" sz="2400" dirty="0">
              <a:solidFill>
                <a:prstClr val="black"/>
              </a:solidFill>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62</a:t>
            </a:fld>
            <a:endParaRPr lang="en-US"/>
          </a:p>
        </p:txBody>
      </p:sp>
      <p:sp>
        <p:nvSpPr>
          <p:cNvPr id="5" name="Title 4"/>
          <p:cNvSpPr>
            <a:spLocks noGrp="1"/>
          </p:cNvSpPr>
          <p:nvPr>
            <p:ph type="title"/>
          </p:nvPr>
        </p:nvSpPr>
        <p:spPr>
          <a:xfrm>
            <a:off x="457200" y="274638"/>
            <a:ext cx="8229600" cy="563562"/>
          </a:xfrm>
        </p:spPr>
        <p:txBody>
          <a:bodyPr>
            <a:normAutofit fontScale="90000"/>
          </a:bodyPr>
          <a:lstStyle/>
          <a:p>
            <a:r>
              <a:rPr lang="en-US" sz="3200" dirty="0">
                <a:solidFill>
                  <a:schemeClr val="tx1"/>
                </a:solidFill>
                <a:effectLst/>
                <a:latin typeface="Book Antiqua" pitchFamily="18" charset="0"/>
              </a:rPr>
              <a:t>Cont.. </a:t>
            </a:r>
          </a:p>
        </p:txBody>
      </p:sp>
      <p:pic>
        <p:nvPicPr>
          <p:cNvPr id="6" name="Picture 2" descr="http://www.bluffton.edu/courses/TLC/MontelA/Montel/Alternative_Energy_Website/jenaefinal.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162300"/>
            <a:ext cx="3962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solarce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3810000"/>
            <a:ext cx="3352800"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38733497"/>
      </p:ext>
    </p:extLst>
  </p:cSld>
  <p:clrMapOvr>
    <a:masterClrMapping/>
  </p:clrMapOvr>
  <p:transition spd="slow">
    <p:pull/>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lvl="0" indent="0" algn="just" fontAlgn="base">
              <a:spcBef>
                <a:spcPct val="0"/>
              </a:spcBef>
              <a:spcAft>
                <a:spcPct val="0"/>
              </a:spcAft>
              <a:buClrTx/>
              <a:buSzTx/>
              <a:buNone/>
            </a:pPr>
            <a:r>
              <a:rPr lang="en-US" sz="2400" b="1" dirty="0">
                <a:latin typeface="Book Antiqua" pitchFamily="18" charset="0"/>
                <a:cs typeface="Times New Roman" pitchFamily="18" charset="0"/>
              </a:rPr>
              <a:t>Photo conductive transduction :</a:t>
            </a:r>
          </a:p>
          <a:p>
            <a:pPr marL="0" lvl="0" indent="0" algn="just" fontAlgn="base">
              <a:spcBef>
                <a:spcPct val="0"/>
              </a:spcBef>
              <a:spcAft>
                <a:spcPct val="0"/>
              </a:spcAft>
              <a:buClrTx/>
              <a:buSzTx/>
              <a:buNone/>
            </a:pPr>
            <a:endParaRPr lang="en-US" sz="2400" b="1" dirty="0">
              <a:solidFill>
                <a:prstClr val="black"/>
              </a:solidFill>
              <a:latin typeface="Book Antiqua" pitchFamily="18" charset="0"/>
              <a:cs typeface="Times New Roman" pitchFamily="18" charset="0"/>
            </a:endParaRPr>
          </a:p>
          <a:p>
            <a:pPr marL="0" lvl="0" indent="0" algn="just" fontAlgn="base">
              <a:spcBef>
                <a:spcPct val="0"/>
              </a:spcBef>
              <a:spcAft>
                <a:spcPct val="0"/>
              </a:spcAft>
              <a:buClrTx/>
              <a:buSzTx/>
              <a:buNone/>
            </a:pPr>
            <a:r>
              <a:rPr lang="en-US" sz="2400" dirty="0">
                <a:solidFill>
                  <a:prstClr val="black"/>
                </a:solidFill>
                <a:latin typeface="Book Antiqua" pitchFamily="18" charset="0"/>
                <a:cs typeface="Times New Roman" pitchFamily="18" charset="0"/>
              </a:rPr>
              <a:t>In photoconductive transduction the </a:t>
            </a:r>
            <a:r>
              <a:rPr lang="en-US" sz="2400" dirty="0" err="1">
                <a:solidFill>
                  <a:prstClr val="black"/>
                </a:solidFill>
                <a:latin typeface="Book Antiqua" pitchFamily="18" charset="0"/>
                <a:cs typeface="Times New Roman" pitchFamily="18" charset="0"/>
              </a:rPr>
              <a:t>measurand</a:t>
            </a:r>
            <a:r>
              <a:rPr lang="en-US" sz="2400" dirty="0">
                <a:solidFill>
                  <a:prstClr val="black"/>
                </a:solidFill>
                <a:latin typeface="Book Antiqua" pitchFamily="18" charset="0"/>
                <a:cs typeface="Times New Roman" pitchFamily="18" charset="0"/>
              </a:rPr>
              <a:t> is converted to change in resistance of semiconductor material by the change in light incident on the material</a:t>
            </a:r>
            <a:endParaRPr lang="en-US" dirty="0">
              <a:latin typeface="Book Antiqua" pitchFamily="18" charset="0"/>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63</a:t>
            </a:fld>
            <a:endParaRPr lang="en-US"/>
          </a:p>
        </p:txBody>
      </p:sp>
      <p:sp>
        <p:nvSpPr>
          <p:cNvPr id="5" name="Title 4"/>
          <p:cNvSpPr>
            <a:spLocks noGrp="1"/>
          </p:cNvSpPr>
          <p:nvPr>
            <p:ph type="title"/>
          </p:nvPr>
        </p:nvSpPr>
        <p:spPr>
          <a:xfrm>
            <a:off x="457200" y="274638"/>
            <a:ext cx="8229600" cy="6397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1018541126"/>
      </p:ext>
    </p:extLst>
  </p:cSld>
  <p:clrMapOvr>
    <a:masterClrMapping/>
  </p:clrMapOvr>
  <p:transition spd="slow">
    <p:pull/>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562600"/>
          </a:xfrm>
        </p:spPr>
        <p:txBody>
          <a:bodyPr>
            <a:normAutofit fontScale="85000" lnSpcReduction="20000"/>
          </a:bodyPr>
          <a:lstStyle/>
          <a:p>
            <a:pPr marL="0" lvl="0" indent="0" algn="just" fontAlgn="base">
              <a:spcBef>
                <a:spcPts val="575"/>
              </a:spcBef>
              <a:spcAft>
                <a:spcPct val="0"/>
              </a:spcAft>
              <a:buClrTx/>
              <a:buSzPct val="85000"/>
              <a:buNone/>
            </a:pPr>
            <a:r>
              <a:rPr lang="en-US" sz="3200" b="1" dirty="0">
                <a:solidFill>
                  <a:prstClr val="black"/>
                </a:solidFill>
                <a:latin typeface="Book Antiqua" pitchFamily="18" charset="0"/>
                <a:ea typeface="+mj-ea"/>
                <a:cs typeface="Times New Roman" pitchFamily="18" charset="0"/>
              </a:rPr>
              <a:t>5. Transducers and Inverse Transducers</a:t>
            </a:r>
            <a:endParaRPr lang="en-US" sz="2800" dirty="0">
              <a:solidFill>
                <a:prstClr val="black"/>
              </a:solidFill>
              <a:latin typeface="Perpetua"/>
            </a:endParaRPr>
          </a:p>
          <a:p>
            <a:pPr marL="457200" lvl="0" indent="-457200" algn="just" fontAlgn="base">
              <a:spcBef>
                <a:spcPts val="575"/>
              </a:spcBef>
              <a:spcAft>
                <a:spcPct val="0"/>
              </a:spcAft>
              <a:buClrTx/>
              <a:buSzPct val="85000"/>
              <a:buFont typeface="Wingdings" pitchFamily="2" charset="2"/>
              <a:buChar char="Ø"/>
            </a:pPr>
            <a:r>
              <a:rPr lang="en-US" sz="2800" dirty="0">
                <a:solidFill>
                  <a:prstClr val="black"/>
                </a:solidFill>
                <a:latin typeface="Perpetua"/>
              </a:rPr>
              <a:t>Transducer, as already defined, is a device that converts a non-electrical quantity into an electrical quantity. Normally a transducer and associated circuit has a non-electrical input and an electrical output, for example a thermo-couple, photoconductive cell, pressure gauge, strain gauge etc. An inverse transducer is a device that converts an electrical quantity into a non-electrical quantity. It is a precision actuator having an electrical input and a low-power non-electrical output. </a:t>
            </a:r>
          </a:p>
          <a:p>
            <a:pPr marL="457200" lvl="0" indent="-457200" algn="just" fontAlgn="base">
              <a:spcBef>
                <a:spcPts val="575"/>
              </a:spcBef>
              <a:spcAft>
                <a:spcPct val="0"/>
              </a:spcAft>
              <a:buClrTx/>
              <a:buSzPct val="85000"/>
              <a:buFont typeface="Wingdings" pitchFamily="2" charset="2"/>
              <a:buChar char="Ø"/>
            </a:pPr>
            <a:r>
              <a:rPr lang="en-US" sz="2800" dirty="0">
                <a:solidFill>
                  <a:prstClr val="black"/>
                </a:solidFill>
                <a:latin typeface="Perpetua"/>
              </a:rPr>
              <a:t>For examples a piezoelectric crystal and transnational and angular moving-coil elements can be employed as inverse transducers. Many data-indicating and recording devices are basically inverse transducers. An ammeter or voltmeter converts electric current into mechanical movement and the characteristics of such an instrument placed at the output of a measuring system are important. A most useful application of inverse transducers is in feedback measuring systems.</a:t>
            </a:r>
          </a:p>
          <a:p>
            <a:pPr marL="273050" lvl="0" indent="-273050" algn="just" fontAlgn="base">
              <a:spcBef>
                <a:spcPts val="575"/>
              </a:spcBef>
              <a:spcAft>
                <a:spcPct val="0"/>
              </a:spcAft>
              <a:buClr>
                <a:srgbClr val="D34817"/>
              </a:buClr>
              <a:buSzPct val="85000"/>
              <a:buFont typeface="Wingdings 2" pitchFamily="18" charset="2"/>
              <a:buChar char=""/>
            </a:pPr>
            <a:endParaRPr lang="en-US" sz="2600" dirty="0">
              <a:solidFill>
                <a:prstClr val="black"/>
              </a:solidFill>
              <a:latin typeface="Perpetua"/>
            </a:endParaRP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64</a:t>
            </a:fld>
            <a:endParaRPr lang="en-US"/>
          </a:p>
        </p:txBody>
      </p:sp>
      <p:sp>
        <p:nvSpPr>
          <p:cNvPr id="5" name="Title 4"/>
          <p:cNvSpPr>
            <a:spLocks noGrp="1"/>
          </p:cNvSpPr>
          <p:nvPr>
            <p:ph type="title"/>
          </p:nvPr>
        </p:nvSpPr>
        <p:spPr>
          <a:xfrm>
            <a:off x="457200" y="152400"/>
            <a:ext cx="8229600" cy="715962"/>
          </a:xfrm>
        </p:spPr>
        <p:txBody>
          <a:bodyPr>
            <a:normAutofit/>
          </a:bodyPr>
          <a:lstStyle/>
          <a:p>
            <a:r>
              <a:rPr lang="en-US" sz="3200" dirty="0">
                <a:solidFill>
                  <a:schemeClr val="tx1"/>
                </a:solidFill>
                <a:latin typeface="Book Antiqua" pitchFamily="18" charset="0"/>
              </a:rPr>
              <a:t>Cont.. </a:t>
            </a:r>
          </a:p>
        </p:txBody>
      </p:sp>
    </p:spTree>
    <p:extLst>
      <p:ext uri="{BB962C8B-B14F-4D97-AF65-F5344CB8AC3E}">
        <p14:creationId xmlns:p14="http://schemas.microsoft.com/office/powerpoint/2010/main" val="3267165234"/>
      </p:ext>
    </p:extLst>
  </p:cSld>
  <p:clrMapOvr>
    <a:masterClrMapping/>
  </p:clrMapOvr>
  <p:transition spd="slow">
    <p:pull/>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5105400"/>
          </a:xfrm>
        </p:spPr>
        <p:txBody>
          <a:bodyPr>
            <a:normAutofit lnSpcReduction="10000"/>
          </a:bodyPr>
          <a:lstStyle/>
          <a:p>
            <a:pPr marL="457200" lvl="0" indent="-457200" algn="just" fontAlgn="base">
              <a:spcBef>
                <a:spcPts val="575"/>
              </a:spcBef>
              <a:spcAft>
                <a:spcPct val="0"/>
              </a:spcAft>
              <a:buClrTx/>
              <a:buSzPct val="85000"/>
              <a:buFont typeface="Wingdings" pitchFamily="2" charset="2"/>
              <a:buChar char="Ø"/>
            </a:pPr>
            <a:r>
              <a:rPr lang="en-US" sz="2600" dirty="0">
                <a:solidFill>
                  <a:prstClr val="black"/>
                </a:solidFill>
                <a:latin typeface="Perpetua"/>
              </a:rPr>
              <a:t>In a measurement system the transducer (or a combination of transducers) is the input element with the critical function of transforming some physical quantity to a proportional electrical signal. So selection of an appropriate transducer is most important for having accurate results.</a:t>
            </a:r>
          </a:p>
          <a:p>
            <a:pPr marL="457200" lvl="0" indent="-457200" algn="just" fontAlgn="base">
              <a:spcBef>
                <a:spcPts val="575"/>
              </a:spcBef>
              <a:spcAft>
                <a:spcPct val="0"/>
              </a:spcAft>
              <a:buClrTx/>
              <a:buSzPct val="85000"/>
              <a:buFont typeface="Wingdings" pitchFamily="2" charset="2"/>
              <a:buChar char="Ø"/>
            </a:pPr>
            <a:r>
              <a:rPr lang="en-US" sz="2600" dirty="0">
                <a:solidFill>
                  <a:prstClr val="black"/>
                </a:solidFill>
                <a:latin typeface="Perpetua"/>
              </a:rPr>
              <a:t>The first step in the selection procedure is to clearly define the nature of quantity under measurement (</a:t>
            </a:r>
            <a:r>
              <a:rPr lang="en-US" sz="2600" dirty="0" err="1">
                <a:solidFill>
                  <a:prstClr val="black"/>
                </a:solidFill>
                <a:latin typeface="Perpetua"/>
              </a:rPr>
              <a:t>measurand</a:t>
            </a:r>
            <a:r>
              <a:rPr lang="en-US" sz="2600" dirty="0">
                <a:solidFill>
                  <a:prstClr val="black"/>
                </a:solidFill>
                <a:latin typeface="Perpetua"/>
              </a:rPr>
              <a:t>) and know the range of magnitudes and frequencies that the </a:t>
            </a:r>
            <a:r>
              <a:rPr lang="en-US" sz="2600" dirty="0" err="1">
                <a:solidFill>
                  <a:prstClr val="black"/>
                </a:solidFill>
                <a:latin typeface="Perpetua"/>
              </a:rPr>
              <a:t>measurand</a:t>
            </a:r>
            <a:r>
              <a:rPr lang="en-US" sz="2600" dirty="0">
                <a:solidFill>
                  <a:prstClr val="black"/>
                </a:solidFill>
                <a:latin typeface="Perpetua"/>
              </a:rPr>
              <a:t> is expected to exhibit. Next step will be to examine the available transducer principles for measurement of desired quantity. The type of transducer selected must be compatible with the type and range of the quantity to be measured and the output device.</a:t>
            </a:r>
          </a:p>
          <a:p>
            <a:pPr marL="273050" lvl="0" indent="-273050" algn="just" fontAlgn="base">
              <a:spcBef>
                <a:spcPts val="575"/>
              </a:spcBef>
              <a:spcAft>
                <a:spcPct val="0"/>
              </a:spcAft>
              <a:buClr>
                <a:srgbClr val="D34817"/>
              </a:buClr>
              <a:buSzPct val="85000"/>
              <a:buFont typeface="Wingdings 2" pitchFamily="18" charset="2"/>
              <a:buChar char=""/>
            </a:pPr>
            <a:endParaRPr lang="en-US" sz="2600" dirty="0">
              <a:solidFill>
                <a:prstClr val="black"/>
              </a:solidFill>
              <a:latin typeface="Perpetua"/>
            </a:endParaRP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65</a:t>
            </a:fld>
            <a:endParaRPr lang="en-US"/>
          </a:p>
        </p:txBody>
      </p:sp>
      <p:sp>
        <p:nvSpPr>
          <p:cNvPr id="5" name="Title 4"/>
          <p:cNvSpPr>
            <a:spLocks noGrp="1"/>
          </p:cNvSpPr>
          <p:nvPr>
            <p:ph type="title"/>
          </p:nvPr>
        </p:nvSpPr>
        <p:spPr>
          <a:xfrm>
            <a:off x="457200" y="274638"/>
            <a:ext cx="8229600" cy="944562"/>
          </a:xfrm>
        </p:spPr>
        <p:txBody>
          <a:bodyPr>
            <a:normAutofit/>
          </a:bodyPr>
          <a:lstStyle/>
          <a:p>
            <a:pPr algn="ctr"/>
            <a:r>
              <a:rPr lang="en-US" sz="3200" dirty="0">
                <a:solidFill>
                  <a:schemeClr val="tx1"/>
                </a:solidFill>
                <a:effectLst/>
                <a:latin typeface="Book Antiqua" pitchFamily="18" charset="0"/>
              </a:rPr>
              <a:t>Selection Of Transducers</a:t>
            </a:r>
            <a:endParaRPr lang="en-US" sz="3200" dirty="0">
              <a:solidFill>
                <a:schemeClr val="tx1"/>
              </a:solidFill>
              <a:latin typeface="Book Antiqua" pitchFamily="18" charset="0"/>
            </a:endParaRPr>
          </a:p>
        </p:txBody>
      </p:sp>
    </p:spTree>
    <p:extLst>
      <p:ext uri="{BB962C8B-B14F-4D97-AF65-F5344CB8AC3E}">
        <p14:creationId xmlns:p14="http://schemas.microsoft.com/office/powerpoint/2010/main" val="1172519807"/>
      </p:ext>
    </p:extLst>
  </p:cSld>
  <p:clrMapOvr>
    <a:masterClrMapping/>
  </p:clrMapOvr>
  <p:transition spd="slow">
    <p:pull/>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066800"/>
            <a:ext cx="8229600" cy="5410200"/>
          </a:xfrm>
        </p:spPr>
        <p:txBody>
          <a:bodyPr>
            <a:noAutofit/>
          </a:bodyPr>
          <a:lstStyle/>
          <a:p>
            <a:pPr marL="571500" lvl="0" indent="-571500" algn="just" fontAlgn="base">
              <a:spcBef>
                <a:spcPts val="575"/>
              </a:spcBef>
              <a:spcAft>
                <a:spcPct val="0"/>
              </a:spcAft>
              <a:buClrTx/>
              <a:buSzPct val="85000"/>
              <a:buFont typeface="Wingdings" pitchFamily="2" charset="2"/>
              <a:buChar char="Ø"/>
            </a:pPr>
            <a:r>
              <a:rPr lang="en-US" sz="2400" dirty="0">
                <a:solidFill>
                  <a:prstClr val="black"/>
                </a:solidFill>
                <a:latin typeface="Perpetua"/>
              </a:rPr>
              <a:t>In case one or more transducer principles are capable of generating a satisfactory signal, decision is to be taken whether to employ a commercially available transducer or build a suitable transducer. If the transducers are available in the market at a suitable price, the choice will probably be to purchase one of them, otherwise own transducer will have to be designed, built and calibrated.</a:t>
            </a:r>
          </a:p>
          <a:p>
            <a:pPr marL="0" lvl="0" indent="0" algn="just" fontAlgn="base">
              <a:spcBef>
                <a:spcPts val="575"/>
              </a:spcBef>
              <a:spcAft>
                <a:spcPct val="0"/>
              </a:spcAft>
              <a:buClrTx/>
              <a:buSzPct val="85000"/>
              <a:buNone/>
            </a:pPr>
            <a:endParaRPr lang="en-US" sz="2400" dirty="0">
              <a:solidFill>
                <a:prstClr val="black"/>
              </a:solidFill>
              <a:latin typeface="Perpetua"/>
            </a:endParaRPr>
          </a:p>
          <a:p>
            <a:pPr marL="0" lvl="0" indent="0" algn="just">
              <a:spcBef>
                <a:spcPts val="580"/>
              </a:spcBef>
              <a:buClr>
                <a:srgbClr val="D34817"/>
              </a:buClr>
              <a:buSzPct val="85000"/>
              <a:buNone/>
              <a:defRPr/>
            </a:pPr>
            <a:r>
              <a:rPr lang="en-US" sz="2400" dirty="0">
                <a:solidFill>
                  <a:prstClr val="black"/>
                </a:solidFill>
                <a:latin typeface="Perpetua"/>
              </a:rPr>
              <a:t>The points to be considered in determining a transducer suitable for a specific measurement are as follows:</a:t>
            </a:r>
          </a:p>
          <a:p>
            <a:pPr marL="514350" lvl="0" indent="-514350" algn="just">
              <a:spcBef>
                <a:spcPts val="580"/>
              </a:spcBef>
              <a:buClrTx/>
              <a:buSzPct val="85000"/>
              <a:buFont typeface="+mj-lt"/>
              <a:buAutoNum type="romanLcPeriod"/>
              <a:defRPr/>
            </a:pPr>
            <a:r>
              <a:rPr lang="en-US" sz="2400" b="1" i="1" dirty="0">
                <a:latin typeface="Perpetua"/>
              </a:rPr>
              <a:t>Operating Range</a:t>
            </a:r>
            <a:r>
              <a:rPr lang="en-US" sz="2400" dirty="0">
                <a:latin typeface="Perpetua"/>
              </a:rPr>
              <a:t>. </a:t>
            </a:r>
            <a:r>
              <a:rPr lang="en-US" sz="2400" dirty="0">
                <a:solidFill>
                  <a:prstClr val="black"/>
                </a:solidFill>
                <a:latin typeface="Perpetua"/>
              </a:rPr>
              <a:t>The range of the transducer should be large enough to encompass all the expected magnitudes of the </a:t>
            </a:r>
            <a:r>
              <a:rPr lang="en-US" sz="2400" dirty="0" err="1">
                <a:solidFill>
                  <a:prstClr val="black"/>
                </a:solidFill>
                <a:latin typeface="Perpetua"/>
              </a:rPr>
              <a:t>measurand</a:t>
            </a:r>
            <a:r>
              <a:rPr lang="en-US" sz="2400" dirty="0">
                <a:solidFill>
                  <a:prstClr val="black"/>
                </a:solidFill>
                <a:latin typeface="Perpetua"/>
              </a:rPr>
              <a:t>.</a:t>
            </a:r>
          </a:p>
          <a:p>
            <a:pPr marL="514350" lvl="0" indent="-514350" algn="just">
              <a:spcBef>
                <a:spcPts val="580"/>
              </a:spcBef>
              <a:buClrTx/>
              <a:buSzPct val="85000"/>
              <a:buFont typeface="+mj-lt"/>
              <a:buAutoNum type="romanLcPeriod"/>
              <a:defRPr/>
            </a:pPr>
            <a:r>
              <a:rPr lang="en-US" sz="2400" b="1" i="1" dirty="0">
                <a:latin typeface="Perpetua"/>
              </a:rPr>
              <a:t>Sensitivity</a:t>
            </a:r>
            <a:r>
              <a:rPr lang="en-US" sz="2400" dirty="0">
                <a:latin typeface="Perpetua"/>
              </a:rPr>
              <a:t>. </a:t>
            </a:r>
            <a:r>
              <a:rPr lang="en-US" sz="2400" dirty="0">
                <a:solidFill>
                  <a:prstClr val="black"/>
                </a:solidFill>
                <a:latin typeface="Perpetua"/>
              </a:rPr>
              <a:t>The transducer should give a sufficient output signal per unit of measured input in order to yield meaningful data.</a:t>
            </a:r>
          </a:p>
          <a:p>
            <a:pPr marL="274320" lvl="0" indent="-274320" algn="just">
              <a:spcBef>
                <a:spcPts val="580"/>
              </a:spcBef>
              <a:buClr>
                <a:srgbClr val="D34817"/>
              </a:buClr>
              <a:buSzPct val="85000"/>
              <a:buFont typeface="Wingdings 2"/>
              <a:buChar char=""/>
              <a:defRPr/>
            </a:pPr>
            <a:endParaRPr lang="en-US" sz="2400" dirty="0">
              <a:solidFill>
                <a:prstClr val="black"/>
              </a:solidFill>
              <a:latin typeface="Perpetua"/>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66</a:t>
            </a:fld>
            <a:endParaRPr lang="en-US"/>
          </a:p>
        </p:txBody>
      </p:sp>
      <p:sp>
        <p:nvSpPr>
          <p:cNvPr id="5" name="Title 4"/>
          <p:cNvSpPr>
            <a:spLocks noGrp="1"/>
          </p:cNvSpPr>
          <p:nvPr>
            <p:ph type="title"/>
          </p:nvPr>
        </p:nvSpPr>
        <p:spPr>
          <a:xfrm>
            <a:off x="457200" y="228600"/>
            <a:ext cx="8229600" cy="6397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1602400741"/>
      </p:ext>
    </p:extLst>
  </p:cSld>
  <p:clrMapOvr>
    <a:masterClrMapping/>
  </p:clrMapOvr>
  <p:transition spd="slow">
    <p:pull/>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143000"/>
            <a:ext cx="8229600" cy="5181600"/>
          </a:xfrm>
        </p:spPr>
        <p:txBody>
          <a:bodyPr>
            <a:normAutofit lnSpcReduction="10000"/>
          </a:bodyPr>
          <a:lstStyle/>
          <a:p>
            <a:pPr marL="514350" lvl="0" indent="-514350" algn="just">
              <a:spcBef>
                <a:spcPts val="580"/>
              </a:spcBef>
              <a:buClrTx/>
              <a:buSzPct val="85000"/>
              <a:buFont typeface="+mj-lt"/>
              <a:buAutoNum type="romanLcPeriod" startAt="3"/>
              <a:defRPr/>
            </a:pPr>
            <a:r>
              <a:rPr lang="en-US" sz="2400" b="1" i="1" dirty="0">
                <a:latin typeface="Perpetua"/>
              </a:rPr>
              <a:t>Electrical Output Characteristics</a:t>
            </a:r>
            <a:r>
              <a:rPr lang="en-US" sz="2400" dirty="0">
                <a:latin typeface="Perpetua"/>
              </a:rPr>
              <a:t>. </a:t>
            </a:r>
            <a:r>
              <a:rPr lang="en-US" sz="2400" dirty="0">
                <a:solidFill>
                  <a:prstClr val="black"/>
                </a:solidFill>
                <a:latin typeface="Perpetua"/>
              </a:rPr>
              <a:t>The electrical characteristics-the output im­pedance, the frequency response, and the response time of the transducer output signal should be compatible with the recording device and the rest of the measuring system equipment</a:t>
            </a:r>
          </a:p>
          <a:p>
            <a:pPr marL="571500" lvl="0" indent="-571500" algn="just" fontAlgn="base">
              <a:spcBef>
                <a:spcPts val="575"/>
              </a:spcBef>
              <a:spcAft>
                <a:spcPct val="0"/>
              </a:spcAft>
              <a:buClrTx/>
              <a:buSzPct val="85000"/>
              <a:buFont typeface="+mj-lt"/>
              <a:buAutoNum type="romanLcPeriod" startAt="3"/>
            </a:pPr>
            <a:r>
              <a:rPr lang="en-US" sz="2400" b="1" i="1" dirty="0">
                <a:latin typeface="Perpetua"/>
              </a:rPr>
              <a:t>Physical Environment</a:t>
            </a:r>
            <a:r>
              <a:rPr lang="en-US" sz="2400" dirty="0">
                <a:latin typeface="Perpetua"/>
              </a:rPr>
              <a:t>. </a:t>
            </a:r>
            <a:r>
              <a:rPr lang="en-US" sz="2400" dirty="0">
                <a:solidFill>
                  <a:prstClr val="black"/>
                </a:solidFill>
                <a:latin typeface="Perpetua"/>
              </a:rPr>
              <a:t>The transducer selected should be able to withstand the environmental conditions to which it is likely to be subjected while carrying out measurements and tests. </a:t>
            </a:r>
          </a:p>
          <a:p>
            <a:pPr marL="571500" lvl="0" indent="-571500" algn="just" fontAlgn="base">
              <a:spcBef>
                <a:spcPts val="575"/>
              </a:spcBef>
              <a:spcAft>
                <a:spcPct val="0"/>
              </a:spcAft>
              <a:buClrTx/>
              <a:buSzPct val="85000"/>
              <a:buFont typeface="+mj-lt"/>
              <a:buAutoNum type="romanLcPeriod" startAt="3"/>
            </a:pPr>
            <a:r>
              <a:rPr lang="en-US" sz="2400" dirty="0">
                <a:solidFill>
                  <a:prstClr val="black"/>
                </a:solidFill>
                <a:latin typeface="Perpetua"/>
              </a:rPr>
              <a:t>Such parameters are temperature, acceleration, shock and vibration, moisture, and corrosive chemicals might damage some transducers but not others.</a:t>
            </a:r>
          </a:p>
          <a:p>
            <a:pPr marL="571500" lvl="0" indent="-571500" algn="just" fontAlgn="base">
              <a:spcBef>
                <a:spcPts val="575"/>
              </a:spcBef>
              <a:spcAft>
                <a:spcPct val="0"/>
              </a:spcAft>
              <a:buClrTx/>
              <a:buSzPct val="85000"/>
              <a:buFont typeface="+mj-lt"/>
              <a:buAutoNum type="romanLcPeriod" startAt="3"/>
            </a:pPr>
            <a:r>
              <a:rPr lang="en-US" sz="2400" dirty="0">
                <a:solidFill>
                  <a:prstClr val="black"/>
                </a:solidFill>
                <a:latin typeface="Perpetua"/>
              </a:rPr>
              <a:t>The </a:t>
            </a:r>
            <a:r>
              <a:rPr lang="en-US" sz="2400" b="1" i="1" dirty="0">
                <a:solidFill>
                  <a:prstClr val="black"/>
                </a:solidFill>
                <a:latin typeface="Perpetua"/>
              </a:rPr>
              <a:t>errors</a:t>
            </a:r>
            <a:r>
              <a:rPr lang="en-US" sz="2400" dirty="0">
                <a:solidFill>
                  <a:prstClr val="black"/>
                </a:solidFill>
                <a:latin typeface="Perpetua"/>
              </a:rPr>
              <a:t> inherent in the operation of the transducer itself, or those errors caused by environmental conditions of the measurement, should be small enough or controllable enough that they allow meaningful data to be taken.</a:t>
            </a:r>
          </a:p>
          <a:p>
            <a:pPr marL="571500" lvl="0" indent="-571500" algn="just" fontAlgn="base">
              <a:spcBef>
                <a:spcPts val="575"/>
              </a:spcBef>
              <a:spcAft>
                <a:spcPct val="0"/>
              </a:spcAft>
              <a:buClrTx/>
              <a:buSzPct val="85000"/>
              <a:buFont typeface="+mj-lt"/>
              <a:buAutoNum type="romanLcPeriod" startAt="3"/>
            </a:pPr>
            <a:endParaRPr lang="en-US" sz="2400" dirty="0">
              <a:solidFill>
                <a:prstClr val="black"/>
              </a:solidFill>
              <a:latin typeface="Perpetua"/>
            </a:endParaRPr>
          </a:p>
        </p:txBody>
      </p:sp>
      <p:sp>
        <p:nvSpPr>
          <p:cNvPr id="4" name="Slide Number Placeholder 3"/>
          <p:cNvSpPr>
            <a:spLocks noGrp="1"/>
          </p:cNvSpPr>
          <p:nvPr>
            <p:ph type="sldNum" sz="quarter" idx="12"/>
          </p:nvPr>
        </p:nvSpPr>
        <p:spPr/>
        <p:txBody>
          <a:bodyPr/>
          <a:lstStyle/>
          <a:p>
            <a:fld id="{573EDECB-2FAA-459C-97B3-E12F4C12D356}" type="slidenum">
              <a:rPr lang="en-US" smtClean="0"/>
              <a:t>67</a:t>
            </a:fld>
            <a:endParaRPr lang="en-US"/>
          </a:p>
        </p:txBody>
      </p:sp>
      <p:sp>
        <p:nvSpPr>
          <p:cNvPr id="5" name="Title 4"/>
          <p:cNvSpPr>
            <a:spLocks noGrp="1"/>
          </p:cNvSpPr>
          <p:nvPr>
            <p:ph type="title"/>
          </p:nvPr>
        </p:nvSpPr>
        <p:spPr>
          <a:xfrm>
            <a:off x="457200" y="274638"/>
            <a:ext cx="8229600" cy="6397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1364222964"/>
      </p:ext>
    </p:extLst>
  </p:cSld>
  <p:clrMapOvr>
    <a:masterClrMapping/>
  </p:clrMapOvr>
  <p:transition spd="slow">
    <p:pull/>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685800"/>
            <a:ext cx="8229600" cy="5867400"/>
          </a:xfrm>
        </p:spPr>
        <p:txBody>
          <a:bodyPr>
            <a:noAutofit/>
          </a:bodyPr>
          <a:lstStyle/>
          <a:p>
            <a:pPr marL="0" lvl="0" indent="0" algn="just" fontAlgn="base">
              <a:spcBef>
                <a:spcPts val="575"/>
              </a:spcBef>
              <a:spcAft>
                <a:spcPct val="0"/>
              </a:spcAft>
              <a:buClr>
                <a:srgbClr val="D34817"/>
              </a:buClr>
              <a:buSzPct val="85000"/>
              <a:buNone/>
            </a:pPr>
            <a:r>
              <a:rPr lang="en-US" sz="2400" b="1" dirty="0">
                <a:latin typeface="Perpetua"/>
              </a:rPr>
              <a:t>Errors</a:t>
            </a:r>
            <a:r>
              <a:rPr lang="en-US" sz="2400" dirty="0">
                <a:latin typeface="Perpetua"/>
              </a:rPr>
              <a:t>. </a:t>
            </a:r>
          </a:p>
          <a:p>
            <a:pPr marL="571500" lvl="0" indent="-571500" algn="just" fontAlgn="base">
              <a:spcBef>
                <a:spcPts val="575"/>
              </a:spcBef>
              <a:spcAft>
                <a:spcPct val="0"/>
              </a:spcAft>
              <a:buClrTx/>
              <a:buSzPct val="85000"/>
              <a:buFont typeface="Wingdings" pitchFamily="2" charset="2"/>
              <a:buChar char="Ø"/>
            </a:pPr>
            <a:r>
              <a:rPr lang="en-US" sz="2400" dirty="0">
                <a:solidFill>
                  <a:prstClr val="black"/>
                </a:solidFill>
                <a:latin typeface="Perpetua"/>
              </a:rPr>
              <a:t>However the total measurement error in a transducer-activated system may be reduced to fall within the required accuracy range by adopting the following techniques.</a:t>
            </a:r>
          </a:p>
          <a:p>
            <a:pPr marL="514350" lvl="0" indent="-514350" algn="just">
              <a:spcBef>
                <a:spcPts val="580"/>
              </a:spcBef>
              <a:buClrTx/>
              <a:buSzPct val="85000"/>
              <a:buFont typeface="Wingdings" pitchFamily="2" charset="2"/>
              <a:buChar char="Ø"/>
              <a:defRPr/>
            </a:pPr>
            <a:r>
              <a:rPr lang="en-US" sz="2400" dirty="0">
                <a:solidFill>
                  <a:prstClr val="black"/>
                </a:solidFill>
                <a:latin typeface="Perpetua"/>
              </a:rPr>
              <a:t>Calibrating the transducer output against some known standards while in use under actual test conditions. This calibration should be performed regularly as the measurement proceeds.</a:t>
            </a:r>
          </a:p>
          <a:p>
            <a:pPr marL="514350" lvl="0" indent="-514350" algn="just">
              <a:spcBef>
                <a:spcPts val="580"/>
              </a:spcBef>
              <a:buClrTx/>
              <a:buSzPct val="85000"/>
              <a:buFont typeface="Wingdings" pitchFamily="2" charset="2"/>
              <a:buChar char="Ø"/>
              <a:defRPr/>
            </a:pPr>
            <a:r>
              <a:rPr lang="en-US" sz="2400" dirty="0">
                <a:solidFill>
                  <a:prstClr val="black"/>
                </a:solidFill>
                <a:latin typeface="Perpetua"/>
              </a:rPr>
              <a:t>Continuous monitoring of variations in the environmental conditions of the transducer and correcting the data accordingly.</a:t>
            </a:r>
          </a:p>
          <a:p>
            <a:pPr marL="514350" lvl="0" indent="-514350" algn="just">
              <a:spcBef>
                <a:spcPts val="580"/>
              </a:spcBef>
              <a:buClrTx/>
              <a:buSzPct val="85000"/>
              <a:buFont typeface="Wingdings" pitchFamily="2" charset="2"/>
              <a:buChar char="Ø"/>
              <a:defRPr/>
            </a:pPr>
            <a:r>
              <a:rPr lang="en-US" sz="2400" dirty="0">
                <a:solidFill>
                  <a:prstClr val="black"/>
                </a:solidFill>
                <a:latin typeface="Perpetua"/>
              </a:rPr>
              <a:t>Controlling the measurement environment artificially in order to reduce possible transducer errors. Artificial environmental control includes the enclosing of the transducer in a temperature-controlled housing and isolating the device from external shocks and vibrations.</a:t>
            </a:r>
          </a:p>
          <a:p>
            <a:pPr marL="273050" lvl="0" indent="-273050" algn="just" fontAlgn="base">
              <a:spcBef>
                <a:spcPts val="575"/>
              </a:spcBef>
              <a:spcAft>
                <a:spcPct val="0"/>
              </a:spcAft>
              <a:buClr>
                <a:srgbClr val="D34817"/>
              </a:buClr>
              <a:buSzPct val="85000"/>
              <a:buFont typeface="Wingdings 2" pitchFamily="18" charset="2"/>
              <a:buChar char=""/>
            </a:pPr>
            <a:endParaRPr lang="en-US" sz="2200" dirty="0">
              <a:solidFill>
                <a:prstClr val="black"/>
              </a:solidFill>
              <a:latin typeface="Perpetua"/>
            </a:endParaRPr>
          </a:p>
          <a:p>
            <a:endParaRPr lang="en-US" sz="2200" dirty="0"/>
          </a:p>
        </p:txBody>
      </p:sp>
      <p:sp>
        <p:nvSpPr>
          <p:cNvPr id="4" name="Slide Number Placeholder 3"/>
          <p:cNvSpPr>
            <a:spLocks noGrp="1"/>
          </p:cNvSpPr>
          <p:nvPr>
            <p:ph type="sldNum" sz="quarter" idx="12"/>
          </p:nvPr>
        </p:nvSpPr>
        <p:spPr/>
        <p:txBody>
          <a:bodyPr/>
          <a:lstStyle/>
          <a:p>
            <a:fld id="{573EDECB-2FAA-459C-97B3-E12F4C12D356}" type="slidenum">
              <a:rPr lang="en-US" smtClean="0"/>
              <a:t>68</a:t>
            </a:fld>
            <a:endParaRPr lang="en-US"/>
          </a:p>
        </p:txBody>
      </p:sp>
      <p:sp>
        <p:nvSpPr>
          <p:cNvPr id="5" name="Title 4"/>
          <p:cNvSpPr>
            <a:spLocks noGrp="1"/>
          </p:cNvSpPr>
          <p:nvPr>
            <p:ph type="title"/>
          </p:nvPr>
        </p:nvSpPr>
        <p:spPr>
          <a:xfrm>
            <a:off x="457200" y="152400"/>
            <a:ext cx="8229600" cy="533400"/>
          </a:xfrm>
        </p:spPr>
        <p:txBody>
          <a:bodyPr>
            <a:normAutofit fontScale="90000"/>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1785755071"/>
      </p:ext>
    </p:extLst>
  </p:cSld>
  <p:clrMapOvr>
    <a:masterClrMapping/>
  </p:clrMapOvr>
  <p:transition spd="slow">
    <p:pull/>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624078" indent="-514350" algn="just">
              <a:buClrTx/>
              <a:buFont typeface="+mj-lt"/>
              <a:buAutoNum type="alphaLcParenR"/>
            </a:pPr>
            <a:r>
              <a:rPr lang="en-US" sz="2400" dirty="0">
                <a:latin typeface="Book Antiqua" pitchFamily="18" charset="0"/>
              </a:rPr>
              <a:t>What does operating range, sensitivity, linearity, repeatability mean in as far as transducers are concerned?</a:t>
            </a:r>
          </a:p>
          <a:p>
            <a:pPr marL="624078" indent="-514350" algn="just">
              <a:buClrTx/>
              <a:buFont typeface="+mj-lt"/>
              <a:buAutoNum type="alphaLcParenR"/>
            </a:pPr>
            <a:r>
              <a:rPr lang="en-US" sz="2400" dirty="0">
                <a:latin typeface="Book Antiqua" pitchFamily="18" charset="0"/>
              </a:rPr>
              <a:t>Briefly explain the five (5) basic requirements of a transducer for its effective/proper operation</a:t>
            </a:r>
          </a:p>
          <a:p>
            <a:pPr marL="624078" indent="-514350" algn="just">
              <a:buClrTx/>
              <a:buFont typeface="+mj-lt"/>
              <a:buAutoNum type="alphaLcParenR"/>
            </a:pPr>
            <a:r>
              <a:rPr lang="en-US" sz="2400" dirty="0">
                <a:latin typeface="Book Antiqua" pitchFamily="18" charset="0"/>
              </a:rPr>
              <a:t>What distinguishes a transducer from a sensor?</a:t>
            </a:r>
          </a:p>
        </p:txBody>
      </p:sp>
      <p:sp>
        <p:nvSpPr>
          <p:cNvPr id="4" name="Slide Number Placeholder 3"/>
          <p:cNvSpPr>
            <a:spLocks noGrp="1"/>
          </p:cNvSpPr>
          <p:nvPr>
            <p:ph type="sldNum" sz="quarter" idx="12"/>
          </p:nvPr>
        </p:nvSpPr>
        <p:spPr/>
        <p:txBody>
          <a:bodyPr/>
          <a:lstStyle/>
          <a:p>
            <a:fld id="{573EDECB-2FAA-459C-97B3-E12F4C12D356}" type="slidenum">
              <a:rPr lang="en-US" smtClean="0"/>
              <a:t>69</a:t>
            </a:fld>
            <a:endParaRPr lang="en-US"/>
          </a:p>
        </p:txBody>
      </p:sp>
      <p:sp>
        <p:nvSpPr>
          <p:cNvPr id="5" name="Title 4"/>
          <p:cNvSpPr>
            <a:spLocks noGrp="1"/>
          </p:cNvSpPr>
          <p:nvPr>
            <p:ph type="title"/>
          </p:nvPr>
        </p:nvSpPr>
        <p:spPr/>
        <p:txBody>
          <a:bodyPr>
            <a:normAutofit/>
          </a:bodyPr>
          <a:lstStyle/>
          <a:p>
            <a:r>
              <a:rPr lang="en-US" sz="3200" dirty="0">
                <a:solidFill>
                  <a:schemeClr val="tx1"/>
                </a:solidFill>
                <a:effectLst/>
                <a:latin typeface="Book Antiqua" pitchFamily="18" charset="0"/>
              </a:rPr>
              <a:t>Possible questions</a:t>
            </a:r>
          </a:p>
        </p:txBody>
      </p:sp>
    </p:spTree>
    <p:extLst>
      <p:ext uri="{BB962C8B-B14F-4D97-AF65-F5344CB8AC3E}">
        <p14:creationId xmlns:p14="http://schemas.microsoft.com/office/powerpoint/2010/main" val="2987089464"/>
      </p:ext>
    </p:extLst>
  </p:cSld>
  <p:clrMapOvr>
    <a:masterClrMapping/>
  </p:clrMapOvr>
  <p:transition spd="slow">
    <p:pull/>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chor="ctr">
            <a:normAutofit/>
          </a:bodyPr>
          <a:lstStyle/>
          <a:p>
            <a:pPr marL="109728" indent="0" algn="ctr">
              <a:buNone/>
            </a:pPr>
            <a:r>
              <a:rPr lang="en-US" sz="6000" i="1" dirty="0">
                <a:solidFill>
                  <a:srgbClr val="00B050"/>
                </a:solidFill>
                <a:latin typeface="Book Antiqua" pitchFamily="18" charset="0"/>
              </a:rPr>
              <a:t>The end </a:t>
            </a:r>
          </a:p>
        </p:txBody>
      </p:sp>
      <p:sp>
        <p:nvSpPr>
          <p:cNvPr id="3" name="Footer Placeholder 2"/>
          <p:cNvSpPr>
            <a:spLocks noGrp="1"/>
          </p:cNvSpPr>
          <p:nvPr>
            <p:ph type="ftr" sz="quarter" idx="11"/>
          </p:nvPr>
        </p:nvSpPr>
        <p:spPr>
          <a:xfrm>
            <a:off x="4380072" y="6407944"/>
            <a:ext cx="3392328" cy="365125"/>
          </a:xfrm>
        </p:spPr>
        <p:txBody>
          <a:bodyPr/>
          <a:lstStyle/>
          <a:p>
            <a:r>
              <a:rPr lang="en-US" dirty="0"/>
              <a:t>Prepared by </a:t>
            </a:r>
            <a:r>
              <a:rPr lang="en-US" dirty="0" err="1"/>
              <a:t>Vicent</a:t>
            </a:r>
            <a:r>
              <a:rPr lang="en-US" dirty="0"/>
              <a:t> V. M., MSc,  PhD </a:t>
            </a:r>
            <a:r>
              <a:rPr lang="en-US" dirty="0" err="1"/>
              <a:t>Cand</a:t>
            </a:r>
            <a:r>
              <a:rPr lang="en-US" dirty="0"/>
              <a:t>.</a:t>
            </a:r>
          </a:p>
        </p:txBody>
      </p:sp>
      <p:sp>
        <p:nvSpPr>
          <p:cNvPr id="4" name="Slide Number Placeholder 3"/>
          <p:cNvSpPr>
            <a:spLocks noGrp="1"/>
          </p:cNvSpPr>
          <p:nvPr>
            <p:ph type="sldNum" sz="quarter" idx="12"/>
          </p:nvPr>
        </p:nvSpPr>
        <p:spPr/>
        <p:txBody>
          <a:bodyPr/>
          <a:lstStyle/>
          <a:p>
            <a:fld id="{573EDECB-2FAA-459C-97B3-E12F4C12D356}" type="slidenum">
              <a:rPr lang="en-US" smtClean="0"/>
              <a:t>70</a:t>
            </a:fld>
            <a:endParaRPr lang="en-US"/>
          </a:p>
        </p:txBody>
      </p:sp>
    </p:spTree>
    <p:extLst>
      <p:ext uri="{BB962C8B-B14F-4D97-AF65-F5344CB8AC3E}">
        <p14:creationId xmlns:p14="http://schemas.microsoft.com/office/powerpoint/2010/main" val="2953740192"/>
      </p:ext>
    </p:extLst>
  </p:cSld>
  <p:clrMapOvr>
    <a:masterClrMapping/>
  </p:clrMapOvr>
  <p:transition spd="slow">
    <p:pull/>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843272"/>
          </a:xfrm>
        </p:spPr>
        <p:txBody>
          <a:bodyPr>
            <a:normAutofit/>
          </a:bodyPr>
          <a:lstStyle/>
          <a:p>
            <a:pPr algn="just">
              <a:buClrTx/>
              <a:buFont typeface="Wingdings" pitchFamily="2" charset="2"/>
              <a:buChar char="Ø"/>
            </a:pPr>
            <a:r>
              <a:rPr lang="en-US" sz="2400" dirty="0">
                <a:latin typeface="Book Antiqua" pitchFamily="18" charset="0"/>
              </a:rPr>
              <a:t>Is a device that detects/measures a signal or stimulus. It acquires information from the </a:t>
            </a:r>
            <a:r>
              <a:rPr lang="en-US" sz="2400" b="1" dirty="0">
                <a:latin typeface="Book Antiqua" pitchFamily="18" charset="0"/>
              </a:rPr>
              <a:t>real world</a:t>
            </a:r>
          </a:p>
          <a:p>
            <a:pPr algn="just">
              <a:buClrTx/>
              <a:buFont typeface="Wingdings" pitchFamily="2" charset="2"/>
              <a:buChar char="Ø"/>
            </a:pPr>
            <a:endParaRPr lang="en-US" sz="2400" b="1" dirty="0">
              <a:latin typeface="Book Antiqua" pitchFamily="18" charset="0"/>
            </a:endParaRPr>
          </a:p>
          <a:p>
            <a:pPr algn="just">
              <a:buClrTx/>
              <a:buFont typeface="Wingdings" pitchFamily="2" charset="2"/>
              <a:buChar char="Ø"/>
            </a:pPr>
            <a:endParaRPr lang="en-US" sz="2400" b="1" dirty="0">
              <a:latin typeface="Book Antiqua" pitchFamily="18" charset="0"/>
            </a:endParaRPr>
          </a:p>
          <a:p>
            <a:pPr algn="just">
              <a:buClrTx/>
              <a:buFont typeface="Wingdings" pitchFamily="2" charset="2"/>
              <a:buChar char="Ø"/>
            </a:pPr>
            <a:endParaRPr lang="en-US" sz="2400" b="1" dirty="0">
              <a:latin typeface="Book Antiqua" pitchFamily="18" charset="0"/>
            </a:endParaRPr>
          </a:p>
          <a:p>
            <a:pPr algn="just">
              <a:buClrTx/>
              <a:buFont typeface="Wingdings" pitchFamily="2" charset="2"/>
              <a:buChar char="Ø"/>
            </a:pPr>
            <a:endParaRPr lang="en-US" sz="2400" b="1" dirty="0">
              <a:latin typeface="Book Antiqua" pitchFamily="18" charset="0"/>
            </a:endParaRPr>
          </a:p>
          <a:p>
            <a:pPr marL="342900" lvl="0" indent="-342900" algn="just" fontAlgn="base">
              <a:spcBef>
                <a:spcPct val="20000"/>
              </a:spcBef>
              <a:spcAft>
                <a:spcPct val="0"/>
              </a:spcAft>
              <a:buClrTx/>
              <a:buSzPct val="75000"/>
              <a:buFont typeface="Wingdings" pitchFamily="2" charset="2"/>
              <a:buChar char="Ø"/>
            </a:pPr>
            <a:r>
              <a:rPr lang="en-US" sz="2400" kern="0" dirty="0">
                <a:solidFill>
                  <a:srgbClr val="000000"/>
                </a:solidFill>
                <a:latin typeface="Book Antiqua" pitchFamily="18" charset="0"/>
              </a:rPr>
              <a:t>A sensor acquires a physical parameter and converts it into a signal suitable for processing (e.g. optical, electrical, mechanical)</a:t>
            </a:r>
          </a:p>
          <a:p>
            <a:pPr marL="457200" lvl="0" indent="-457200" algn="just" fontAlgn="base">
              <a:spcBef>
                <a:spcPct val="20000"/>
              </a:spcBef>
              <a:spcAft>
                <a:spcPct val="0"/>
              </a:spcAft>
              <a:buClrTx/>
              <a:buSzTx/>
              <a:buFont typeface="Wingdings" pitchFamily="2" charset="2"/>
              <a:buChar char="Ø"/>
            </a:pPr>
            <a:r>
              <a:rPr lang="en-US" sz="2400" kern="0" dirty="0">
                <a:solidFill>
                  <a:srgbClr val="000000"/>
                </a:solidFill>
                <a:latin typeface="Book Antiqua" pitchFamily="18" charset="0"/>
              </a:rPr>
              <a:t>A sensor is a transducer that converts a physical stimulus from one form into a more useful form to measure the stimulus</a:t>
            </a:r>
          </a:p>
          <a:p>
            <a:pPr marL="342900" lvl="0" indent="-342900" fontAlgn="base">
              <a:spcBef>
                <a:spcPct val="20000"/>
              </a:spcBef>
              <a:spcAft>
                <a:spcPct val="0"/>
              </a:spcAft>
              <a:buClr>
                <a:srgbClr val="00007D"/>
              </a:buClr>
              <a:buSzPct val="75000"/>
              <a:buFont typeface="Wingdings" pitchFamily="2" charset="2"/>
              <a:buChar char="n"/>
            </a:pPr>
            <a:endParaRPr lang="en-US" sz="2000" kern="0" dirty="0">
              <a:solidFill>
                <a:srgbClr val="000000"/>
              </a:solidFill>
              <a:latin typeface="Arial"/>
            </a:endParaRPr>
          </a:p>
          <a:p>
            <a:pPr algn="just"/>
            <a:endParaRPr lang="en-US" sz="2400" b="1" dirty="0">
              <a:latin typeface="Book Antiqua" pitchFamily="18" charset="0"/>
            </a:endParaRPr>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71</a:t>
            </a:fld>
            <a:endParaRPr lang="en-US"/>
          </a:p>
        </p:txBody>
      </p:sp>
      <p:sp>
        <p:nvSpPr>
          <p:cNvPr id="5" name="Title 4"/>
          <p:cNvSpPr>
            <a:spLocks noGrp="1"/>
          </p:cNvSpPr>
          <p:nvPr>
            <p:ph type="title"/>
          </p:nvPr>
        </p:nvSpPr>
        <p:spPr/>
        <p:txBody>
          <a:bodyPr>
            <a:normAutofit/>
          </a:bodyPr>
          <a:lstStyle/>
          <a:p>
            <a:pPr algn="ctr"/>
            <a:r>
              <a:rPr lang="en-US" sz="4800" dirty="0">
                <a:solidFill>
                  <a:schemeClr val="tx1"/>
                </a:solidFill>
                <a:effectLst/>
                <a:latin typeface="Book Antiqua" pitchFamily="18" charset="0"/>
              </a:rPr>
              <a:t>Sensors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2327" y="2514600"/>
            <a:ext cx="6400800" cy="1438275"/>
          </a:xfrm>
          <a:prstGeom prst="rect">
            <a:avLst/>
          </a:prstGeom>
          <a:solidFill>
            <a:schemeClr val="bg2">
              <a:lumMod val="90000"/>
            </a:schemeClr>
          </a:solidFill>
          <a:ln>
            <a:noFill/>
          </a:ln>
          <a:effectLst/>
        </p:spPr>
      </p:pic>
    </p:spTree>
    <p:extLst>
      <p:ext uri="{BB962C8B-B14F-4D97-AF65-F5344CB8AC3E}">
        <p14:creationId xmlns:p14="http://schemas.microsoft.com/office/powerpoint/2010/main" val="1094543989"/>
      </p:ext>
    </p:extLst>
  </p:cSld>
  <p:clrMapOvr>
    <a:masterClrMapping/>
  </p:clrMapOvr>
  <p:transition spd="slow">
    <p:pull/>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lvl="0" indent="-457200" algn="just" fontAlgn="base">
              <a:spcBef>
                <a:spcPct val="20000"/>
              </a:spcBef>
              <a:spcAft>
                <a:spcPct val="0"/>
              </a:spcAft>
              <a:buClrTx/>
              <a:buSzPct val="75000"/>
              <a:buFont typeface="Wingdings" pitchFamily="2" charset="2"/>
              <a:buChar char="Ø"/>
            </a:pPr>
            <a:r>
              <a:rPr lang="en-US" sz="2400" kern="0" dirty="0">
                <a:solidFill>
                  <a:srgbClr val="000000"/>
                </a:solidFill>
                <a:latin typeface="Book Antiqua" pitchFamily="18" charset="0"/>
              </a:rPr>
              <a:t>Sensors are omnipresent (universal).  They embedded in our bodies, automobiles, airplanes, cellular telephones, radios, chemical plants, industrial plants and countless other applications.</a:t>
            </a:r>
          </a:p>
          <a:p>
            <a:endParaRPr lang="en-US" dirty="0"/>
          </a:p>
          <a:p>
            <a:endParaRPr lang="en-US" dirty="0"/>
          </a:p>
          <a:p>
            <a:pPr marL="109728" indent="0" algn="ctr">
              <a:buNone/>
            </a:pPr>
            <a:r>
              <a:rPr lang="en-US" sz="3200" b="1" dirty="0">
                <a:latin typeface="Book Antiqua" pitchFamily="18" charset="0"/>
              </a:rPr>
              <a:t>No sensors no life</a:t>
            </a:r>
          </a:p>
        </p:txBody>
      </p:sp>
      <p:sp>
        <p:nvSpPr>
          <p:cNvPr id="4" name="Slide Number Placeholder 3"/>
          <p:cNvSpPr>
            <a:spLocks noGrp="1"/>
          </p:cNvSpPr>
          <p:nvPr>
            <p:ph type="sldNum" sz="quarter" idx="12"/>
          </p:nvPr>
        </p:nvSpPr>
        <p:spPr/>
        <p:txBody>
          <a:bodyPr/>
          <a:lstStyle/>
          <a:p>
            <a:fld id="{573EDECB-2FAA-459C-97B3-E12F4C12D356}" type="slidenum">
              <a:rPr lang="en-US" smtClean="0"/>
              <a:t>72</a:t>
            </a:fld>
            <a:endParaRPr lang="en-US"/>
          </a:p>
        </p:txBody>
      </p:sp>
      <p:sp>
        <p:nvSpPr>
          <p:cNvPr id="5" name="Title 4"/>
          <p:cNvSpPr>
            <a:spLocks noGrp="1"/>
          </p:cNvSpPr>
          <p:nvPr>
            <p:ph type="title"/>
          </p:nvPr>
        </p:nvSpPr>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3247814578"/>
      </p:ext>
    </p:extLst>
  </p:cSld>
  <p:clrMapOvr>
    <a:masterClrMapping/>
  </p:clrMapOvr>
  <p:transition spd="slow">
    <p:pull/>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01782" y="914400"/>
            <a:ext cx="8229600" cy="4525963"/>
          </a:xfrm>
        </p:spPr>
        <p:txBody>
          <a:bodyPr/>
          <a:lstStyle/>
          <a:p>
            <a:pPr marL="109728" indent="0">
              <a:buNone/>
            </a:pPr>
            <a:r>
              <a:rPr lang="en-US" sz="2400" kern="0" dirty="0">
                <a:solidFill>
                  <a:srgbClr val="000000"/>
                </a:solidFill>
                <a:latin typeface="Book Antiqua" pitchFamily="18" charset="0"/>
                <a:ea typeface="+mj-ea"/>
                <a:cs typeface="+mj-cs"/>
              </a:rPr>
              <a:t>Detectable Phenomenon</a:t>
            </a:r>
          </a:p>
        </p:txBody>
      </p:sp>
      <p:sp>
        <p:nvSpPr>
          <p:cNvPr id="4" name="Slide Number Placeholder 3"/>
          <p:cNvSpPr>
            <a:spLocks noGrp="1"/>
          </p:cNvSpPr>
          <p:nvPr>
            <p:ph type="sldNum" sz="quarter" idx="12"/>
          </p:nvPr>
        </p:nvSpPr>
        <p:spPr/>
        <p:txBody>
          <a:bodyPr/>
          <a:lstStyle/>
          <a:p>
            <a:fld id="{573EDECB-2FAA-459C-97B3-E12F4C12D356}" type="slidenum">
              <a:rPr lang="en-US" smtClean="0"/>
              <a:t>73</a:t>
            </a:fld>
            <a:endParaRPr lang="en-US"/>
          </a:p>
        </p:txBody>
      </p:sp>
      <p:sp>
        <p:nvSpPr>
          <p:cNvPr id="5" name="Title 4"/>
          <p:cNvSpPr>
            <a:spLocks noGrp="1"/>
          </p:cNvSpPr>
          <p:nvPr>
            <p:ph type="title"/>
          </p:nvPr>
        </p:nvSpPr>
        <p:spPr>
          <a:xfrm>
            <a:off x="457200" y="274638"/>
            <a:ext cx="8229600" cy="715962"/>
          </a:xfrm>
        </p:spPr>
        <p:txBody>
          <a:bodyPr>
            <a:normAutofit/>
          </a:bodyPr>
          <a:lstStyle/>
          <a:p>
            <a:r>
              <a:rPr lang="en-US" sz="3200" dirty="0">
                <a:solidFill>
                  <a:schemeClr val="tx1"/>
                </a:solidFill>
                <a:effectLst/>
                <a:latin typeface="Book Antiqua" pitchFamily="18" charset="0"/>
              </a:rPr>
              <a:t>Cont..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71600"/>
            <a:ext cx="7493000" cy="473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613567"/>
      </p:ext>
    </p:extLst>
  </p:cSld>
  <p:clrMapOvr>
    <a:masterClrMapping/>
  </p:clrMapOvr>
  <p:transition spd="slow">
    <p:pull/>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73EDECB-2FAA-459C-97B3-E12F4C12D356}" type="slidenum">
              <a:rPr lang="en-US" smtClean="0"/>
              <a:t>74</a:t>
            </a:fld>
            <a:endParaRPr lang="en-US"/>
          </a:p>
        </p:txBody>
      </p:sp>
      <p:sp>
        <p:nvSpPr>
          <p:cNvPr id="5" name="Title 4"/>
          <p:cNvSpPr>
            <a:spLocks noGrp="1"/>
          </p:cNvSpPr>
          <p:nvPr>
            <p:ph type="title"/>
          </p:nvPr>
        </p:nvSpPr>
        <p:spPr/>
        <p:txBody>
          <a:bodyPr>
            <a:normAutofit/>
          </a:bodyPr>
          <a:lstStyle/>
          <a:p>
            <a:pPr algn="ctr"/>
            <a:r>
              <a:rPr lang="en-US" sz="3200" kern="0" dirty="0">
                <a:solidFill>
                  <a:srgbClr val="000000"/>
                </a:solidFill>
                <a:effectLst/>
                <a:latin typeface="Book Antiqua" pitchFamily="18" charset="0"/>
              </a:rPr>
              <a:t>Choosing a Sensor</a:t>
            </a:r>
            <a:endParaRPr lang="en-US" sz="3200" dirty="0">
              <a:latin typeface="Book Antiqua" pitchFamily="18" charset="0"/>
            </a:endParaRPr>
          </a:p>
        </p:txBody>
      </p:sp>
      <p:pic>
        <p:nvPicPr>
          <p:cNvPr id="6"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600200"/>
            <a:ext cx="7772400" cy="4114800"/>
          </a:xfrm>
          <a:prstGeom prst="rect">
            <a:avLst/>
          </a:prstGeom>
          <a:solidFill>
            <a:schemeClr val="accent1"/>
          </a:solidFill>
          <a:ln>
            <a:noFill/>
          </a:ln>
          <a:effectLst/>
        </p:spPr>
      </p:pic>
    </p:spTree>
    <p:extLst>
      <p:ext uri="{BB962C8B-B14F-4D97-AF65-F5344CB8AC3E}">
        <p14:creationId xmlns:p14="http://schemas.microsoft.com/office/powerpoint/2010/main" val="2213317444"/>
      </p:ext>
    </p:extLst>
  </p:cSld>
  <p:clrMapOvr>
    <a:masterClrMapping/>
  </p:clrMapOvr>
  <p:transition spd="slow">
    <p:pull/>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chor="ctr">
            <a:normAutofit/>
          </a:bodyPr>
          <a:lstStyle/>
          <a:p>
            <a:pPr marL="109728" indent="0" algn="ctr">
              <a:buNone/>
            </a:pPr>
            <a:r>
              <a:rPr lang="en-US" sz="2800" dirty="0">
                <a:solidFill>
                  <a:srgbClr val="FF0000"/>
                </a:solidFill>
                <a:latin typeface="Book Antiqua" pitchFamily="18" charset="0"/>
              </a:rPr>
              <a:t>The same as of transducers (see slide number 35)</a:t>
            </a:r>
          </a:p>
        </p:txBody>
      </p:sp>
      <p:sp>
        <p:nvSpPr>
          <p:cNvPr id="4" name="Slide Number Placeholder 3"/>
          <p:cNvSpPr>
            <a:spLocks noGrp="1"/>
          </p:cNvSpPr>
          <p:nvPr>
            <p:ph type="sldNum" sz="quarter" idx="12"/>
          </p:nvPr>
        </p:nvSpPr>
        <p:spPr/>
        <p:txBody>
          <a:bodyPr/>
          <a:lstStyle/>
          <a:p>
            <a:fld id="{573EDECB-2FAA-459C-97B3-E12F4C12D356}" type="slidenum">
              <a:rPr lang="en-US" smtClean="0"/>
              <a:t>75</a:t>
            </a:fld>
            <a:endParaRPr lang="en-US"/>
          </a:p>
        </p:txBody>
      </p:sp>
      <p:sp>
        <p:nvSpPr>
          <p:cNvPr id="5" name="Title 4"/>
          <p:cNvSpPr>
            <a:spLocks noGrp="1"/>
          </p:cNvSpPr>
          <p:nvPr>
            <p:ph type="title"/>
          </p:nvPr>
        </p:nvSpPr>
        <p:spPr/>
        <p:txBody>
          <a:bodyPr/>
          <a:lstStyle/>
          <a:p>
            <a:pPr algn="ctr"/>
            <a:r>
              <a:rPr lang="en-US" sz="3200" dirty="0">
                <a:solidFill>
                  <a:prstClr val="black"/>
                </a:solidFill>
                <a:effectLst/>
                <a:latin typeface="Book Antiqua" pitchFamily="18" charset="0"/>
              </a:rPr>
              <a:t>Basic requirements of a sensor</a:t>
            </a:r>
            <a:endParaRPr lang="en-US" dirty="0"/>
          </a:p>
        </p:txBody>
      </p:sp>
    </p:spTree>
    <p:extLst>
      <p:ext uri="{BB962C8B-B14F-4D97-AF65-F5344CB8AC3E}">
        <p14:creationId xmlns:p14="http://schemas.microsoft.com/office/powerpoint/2010/main" val="1106579508"/>
      </p:ext>
    </p:extLst>
  </p:cSld>
  <p:clrMapOvr>
    <a:masterClrMapping/>
  </p:clrMapOvr>
  <p:transition spd="slow">
    <p:pull/>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81806" y="838200"/>
            <a:ext cx="8229600" cy="5334000"/>
          </a:xfrm>
        </p:spPr>
        <p:txBody>
          <a:bodyPr/>
          <a:lstStyle/>
          <a:p>
            <a:pPr marL="0" lvl="0" indent="0" algn="just" fontAlgn="base">
              <a:spcBef>
                <a:spcPct val="0"/>
              </a:spcBef>
              <a:spcAft>
                <a:spcPct val="0"/>
              </a:spcAft>
              <a:buClrTx/>
              <a:buSzTx/>
              <a:buNone/>
            </a:pPr>
            <a:r>
              <a:rPr lang="en-US" sz="2200" dirty="0">
                <a:solidFill>
                  <a:srgbClr val="000000"/>
                </a:solidFill>
                <a:latin typeface="Book Antiqua" pitchFamily="18" charset="0"/>
              </a:rPr>
              <a:t>Attributes which can be used to classify sensors:</a:t>
            </a:r>
          </a:p>
          <a:p>
            <a:pPr marL="1348740" lvl="4" indent="-342900" algn="just" fontAlgn="base">
              <a:spcBef>
                <a:spcPct val="0"/>
              </a:spcBef>
              <a:spcAft>
                <a:spcPct val="0"/>
              </a:spcAft>
              <a:buClrTx/>
              <a:buFont typeface="Wingdings" pitchFamily="2" charset="2"/>
              <a:buChar char="Ø"/>
            </a:pPr>
            <a:r>
              <a:rPr lang="en-US" sz="2200" dirty="0">
                <a:solidFill>
                  <a:srgbClr val="000000"/>
                </a:solidFill>
                <a:latin typeface="Book Antiqua" pitchFamily="18" charset="0"/>
              </a:rPr>
              <a:t>kind of stimulus</a:t>
            </a:r>
          </a:p>
          <a:p>
            <a:pPr marL="1348740" lvl="4" indent="-342900" algn="just" fontAlgn="base">
              <a:spcBef>
                <a:spcPct val="0"/>
              </a:spcBef>
              <a:spcAft>
                <a:spcPct val="0"/>
              </a:spcAft>
              <a:buClrTx/>
              <a:buFont typeface="Wingdings" pitchFamily="2" charset="2"/>
              <a:buChar char="Ø"/>
            </a:pPr>
            <a:r>
              <a:rPr lang="en-US" sz="2200" dirty="0">
                <a:solidFill>
                  <a:srgbClr val="000000"/>
                </a:solidFill>
                <a:latin typeface="Book Antiqua" pitchFamily="18" charset="0"/>
              </a:rPr>
              <a:t>the working principle</a:t>
            </a:r>
          </a:p>
          <a:p>
            <a:pPr marL="1348740" lvl="4" indent="-342900" algn="just" fontAlgn="base">
              <a:spcBef>
                <a:spcPct val="0"/>
              </a:spcBef>
              <a:spcAft>
                <a:spcPct val="0"/>
              </a:spcAft>
              <a:buClrTx/>
              <a:buFont typeface="Wingdings" pitchFamily="2" charset="2"/>
              <a:buChar char="Ø"/>
            </a:pPr>
            <a:r>
              <a:rPr lang="en-US" sz="2200" dirty="0">
                <a:solidFill>
                  <a:srgbClr val="000000"/>
                </a:solidFill>
                <a:latin typeface="Book Antiqua" pitchFamily="18" charset="0"/>
              </a:rPr>
              <a:t>the properties (attributes of the characteristic)</a:t>
            </a:r>
          </a:p>
          <a:p>
            <a:pPr marL="1348740" lvl="4" indent="-342900" algn="just" fontAlgn="base">
              <a:spcBef>
                <a:spcPct val="0"/>
              </a:spcBef>
              <a:spcAft>
                <a:spcPct val="0"/>
              </a:spcAft>
              <a:buClrTx/>
              <a:buFont typeface="Wingdings" pitchFamily="2" charset="2"/>
              <a:buChar char="Ø"/>
            </a:pPr>
            <a:r>
              <a:rPr lang="en-US" sz="2200" dirty="0">
                <a:solidFill>
                  <a:srgbClr val="000000"/>
                </a:solidFill>
                <a:latin typeface="Book Antiqua" pitchFamily="18" charset="0"/>
              </a:rPr>
              <a:t>area of application</a:t>
            </a:r>
          </a:p>
          <a:p>
            <a:pPr marL="1348740" lvl="4" indent="-342900" algn="just" fontAlgn="base">
              <a:spcBef>
                <a:spcPct val="0"/>
              </a:spcBef>
              <a:spcAft>
                <a:spcPct val="0"/>
              </a:spcAft>
              <a:buClrTx/>
              <a:buFont typeface="Wingdings" pitchFamily="2" charset="2"/>
              <a:buChar char="Ø"/>
            </a:pPr>
            <a:r>
              <a:rPr lang="en-US" sz="2200" dirty="0">
                <a:solidFill>
                  <a:srgbClr val="000000"/>
                </a:solidFill>
                <a:latin typeface="Book Antiqua" pitchFamily="18" charset="0"/>
              </a:rPr>
              <a:t>the nature of output</a:t>
            </a:r>
          </a:p>
          <a:p>
            <a:pPr marL="1348740" lvl="4" indent="-342900" algn="just" fontAlgn="base">
              <a:spcBef>
                <a:spcPct val="0"/>
              </a:spcBef>
              <a:spcAft>
                <a:spcPct val="0"/>
              </a:spcAft>
              <a:buClrTx/>
              <a:buFont typeface="Wingdings" pitchFamily="2" charset="2"/>
              <a:buChar char="Ø"/>
            </a:pPr>
            <a:endParaRPr lang="en-US" sz="2400" dirty="0">
              <a:solidFill>
                <a:srgbClr val="000000"/>
              </a:solidFill>
              <a:latin typeface="Book Antiqua" pitchFamily="18" charset="0"/>
            </a:endParaRP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76</a:t>
            </a:fld>
            <a:endParaRPr lang="en-US"/>
          </a:p>
        </p:txBody>
      </p:sp>
      <p:sp>
        <p:nvSpPr>
          <p:cNvPr id="5" name="Title 4"/>
          <p:cNvSpPr>
            <a:spLocks noGrp="1"/>
          </p:cNvSpPr>
          <p:nvPr>
            <p:ph type="title"/>
          </p:nvPr>
        </p:nvSpPr>
        <p:spPr>
          <a:xfrm>
            <a:off x="457200" y="152400"/>
            <a:ext cx="8229600" cy="868362"/>
          </a:xfrm>
        </p:spPr>
        <p:txBody>
          <a:bodyPr>
            <a:normAutofit/>
          </a:bodyPr>
          <a:lstStyle/>
          <a:p>
            <a:pPr algn="ctr"/>
            <a:r>
              <a:rPr lang="en-US" sz="3200" kern="0" dirty="0">
                <a:solidFill>
                  <a:srgbClr val="000000"/>
                </a:solidFill>
                <a:effectLst/>
                <a:latin typeface="Book Antiqua" pitchFamily="18" charset="0"/>
              </a:rPr>
              <a:t>Classification of sensors</a:t>
            </a:r>
            <a:endParaRPr lang="en-US" sz="3200" dirty="0">
              <a:latin typeface="Book Antiqua"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048000"/>
            <a:ext cx="65532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8848275"/>
      </p:ext>
    </p:extLst>
  </p:cSld>
  <p:clrMapOvr>
    <a:masterClrMapping/>
  </p:clrMapOvr>
  <p:transition spd="slow">
    <p:pull/>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728" indent="0">
              <a:buNone/>
            </a:pPr>
            <a:r>
              <a:rPr lang="en-US" sz="2400" dirty="0">
                <a:latin typeface="Book Antiqua" pitchFamily="18" charset="0"/>
              </a:rPr>
              <a:t>Due to some of the mentioned attributes, we can classify sensors also as:</a:t>
            </a:r>
          </a:p>
          <a:p>
            <a:pPr lvl="2">
              <a:buClrTx/>
              <a:buFont typeface="Wingdings" pitchFamily="2" charset="2"/>
              <a:buChar char="Ø"/>
            </a:pPr>
            <a:r>
              <a:rPr lang="en-US" sz="2400" dirty="0">
                <a:latin typeface="Book Antiqua" pitchFamily="18" charset="0"/>
              </a:rPr>
              <a:t>Analogue or digital (discrete)</a:t>
            </a:r>
          </a:p>
          <a:p>
            <a:pPr lvl="2">
              <a:buClrTx/>
              <a:buFont typeface="Wingdings" pitchFamily="2" charset="2"/>
              <a:buChar char="Ø"/>
            </a:pPr>
            <a:r>
              <a:rPr lang="en-US" sz="2400" dirty="0">
                <a:latin typeface="Book Antiqua" pitchFamily="18" charset="0"/>
              </a:rPr>
              <a:t>Active and passive</a:t>
            </a:r>
          </a:p>
          <a:p>
            <a:pPr lvl="2">
              <a:buClrTx/>
              <a:buFont typeface="Wingdings" pitchFamily="2" charset="2"/>
              <a:buChar char="Ø"/>
            </a:pPr>
            <a:endParaRPr lang="en-US" sz="2400" dirty="0">
              <a:latin typeface="Book Antiqua" pitchFamily="18" charset="0"/>
            </a:endParaRPr>
          </a:p>
          <a:p>
            <a:pPr marL="630936" lvl="2" indent="0">
              <a:buClrTx/>
              <a:buNone/>
            </a:pPr>
            <a:endParaRPr lang="en-US" sz="2400" dirty="0">
              <a:latin typeface="Book Antiqua" pitchFamily="18" charset="0"/>
            </a:endParaRPr>
          </a:p>
          <a:p>
            <a:pPr marL="630936" lvl="2" indent="0">
              <a:buClrTx/>
              <a:buNone/>
            </a:pPr>
            <a:r>
              <a:rPr lang="en-US" sz="2800" dirty="0">
                <a:solidFill>
                  <a:srgbClr val="FF0000"/>
                </a:solidFill>
                <a:latin typeface="Book Antiqua" pitchFamily="18" charset="0"/>
              </a:rPr>
              <a:t>See clarification from transducers’ topic</a:t>
            </a:r>
          </a:p>
        </p:txBody>
      </p:sp>
      <p:sp>
        <p:nvSpPr>
          <p:cNvPr id="4" name="Slide Number Placeholder 3"/>
          <p:cNvSpPr>
            <a:spLocks noGrp="1"/>
          </p:cNvSpPr>
          <p:nvPr>
            <p:ph type="sldNum" sz="quarter" idx="12"/>
          </p:nvPr>
        </p:nvSpPr>
        <p:spPr/>
        <p:txBody>
          <a:bodyPr/>
          <a:lstStyle/>
          <a:p>
            <a:fld id="{573EDECB-2FAA-459C-97B3-E12F4C12D356}" type="slidenum">
              <a:rPr lang="en-US" smtClean="0"/>
              <a:t>77</a:t>
            </a:fld>
            <a:endParaRPr lang="en-US"/>
          </a:p>
        </p:txBody>
      </p:sp>
      <p:sp>
        <p:nvSpPr>
          <p:cNvPr id="5" name="Title 4"/>
          <p:cNvSpPr>
            <a:spLocks noGrp="1"/>
          </p:cNvSpPr>
          <p:nvPr>
            <p:ph type="title"/>
          </p:nvPr>
        </p:nvSpPr>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360807684"/>
      </p:ext>
    </p:extLst>
  </p:cSld>
  <p:clrMapOvr>
    <a:masterClrMapping/>
  </p:clrMapOvr>
  <p:transition spd="slow">
    <p:pull/>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458200" cy="5715000"/>
          </a:xfrm>
        </p:spPr>
        <p:txBody>
          <a:bodyPr>
            <a:normAutofit fontScale="92500" lnSpcReduction="10000"/>
          </a:bodyPr>
          <a:lstStyle/>
          <a:p>
            <a:pPr marL="109728" indent="0" algn="ctr">
              <a:buNone/>
            </a:pPr>
            <a:r>
              <a:rPr lang="en-US" sz="3000" b="1" dirty="0">
                <a:latin typeface="Book Antiqua" pitchFamily="18" charset="0"/>
              </a:rPr>
              <a:t>Mechanical sensors </a:t>
            </a:r>
          </a:p>
          <a:p>
            <a:pPr marL="109728" indent="0" algn="ctr">
              <a:buNone/>
            </a:pPr>
            <a:r>
              <a:rPr lang="en-US" sz="3000" b="1" dirty="0">
                <a:latin typeface="Book Antiqua" pitchFamily="18" charset="0"/>
              </a:rPr>
              <a:t>(Vibration and shock sensors)</a:t>
            </a:r>
          </a:p>
          <a:p>
            <a:pPr marL="109728" indent="0">
              <a:buNone/>
            </a:pPr>
            <a:r>
              <a:rPr lang="en-US" sz="2600" dirty="0">
                <a:latin typeface="Book Antiqua" pitchFamily="18" charset="0"/>
              </a:rPr>
              <a:t>For mechanical sensors, there must be a motion as a stimulus to be sensed </a:t>
            </a:r>
          </a:p>
          <a:p>
            <a:pPr lvl="0" algn="just">
              <a:buClrTx/>
            </a:pPr>
            <a:r>
              <a:rPr lang="en-US" sz="2600" dirty="0">
                <a:solidFill>
                  <a:prstClr val="black"/>
                </a:solidFill>
                <a:latin typeface="Book Antiqua" pitchFamily="18" charset="0"/>
              </a:rPr>
              <a:t>Whenever a structure moves, it experiences acceleration (twist, vibration, and shock ). Measuring this acceleration promotes an understanding of the dynamic characteristics that govern the object's behavior. The data can be used to modify response, enhance ruggedness, improve durability, and/or reduce noise and vibration.</a:t>
            </a:r>
          </a:p>
          <a:p>
            <a:pPr lvl="0" algn="just">
              <a:buClrTx/>
            </a:pPr>
            <a:r>
              <a:rPr lang="en-US" sz="2600" dirty="0" err="1">
                <a:solidFill>
                  <a:prstClr val="black"/>
                </a:solidFill>
                <a:latin typeface="Book Antiqua" pitchFamily="18" charset="0"/>
              </a:rPr>
              <a:t>e.g</a:t>
            </a:r>
            <a:r>
              <a:rPr lang="en-US" sz="2600" dirty="0">
                <a:solidFill>
                  <a:prstClr val="black"/>
                </a:solidFill>
                <a:latin typeface="Book Antiqua" pitchFamily="18" charset="0"/>
              </a:rPr>
              <a:t> Accelerometers are sensing transducers that provide an output proportional to acceleration, vibration, and shock. The piezoelectric accelerometer is the most popular class of these devices; other types are based on </a:t>
            </a:r>
            <a:r>
              <a:rPr lang="en-US" sz="2600" dirty="0" err="1">
                <a:solidFill>
                  <a:prstClr val="black"/>
                </a:solidFill>
                <a:latin typeface="Book Antiqua" pitchFamily="18" charset="0"/>
              </a:rPr>
              <a:t>piezo</a:t>
            </a:r>
            <a:r>
              <a:rPr lang="en-US" sz="2600" dirty="0">
                <a:solidFill>
                  <a:prstClr val="black"/>
                </a:solidFill>
                <a:latin typeface="Book Antiqua" pitchFamily="18" charset="0"/>
              </a:rPr>
              <a:t>-resistive, capacitive, and servo technologies</a:t>
            </a:r>
          </a:p>
          <a:p>
            <a:pPr lvl="0" algn="just">
              <a:buClrTx/>
            </a:pPr>
            <a:endParaRPr lang="en-US" sz="2400" dirty="0">
              <a:solidFill>
                <a:prstClr val="black"/>
              </a:solidFill>
              <a:latin typeface="Book Antiqua" pitchFamily="18" charset="0"/>
            </a:endParaRPr>
          </a:p>
          <a:p>
            <a:pPr marL="109728" indent="0">
              <a:buNone/>
            </a:pPr>
            <a:endParaRPr lang="en-US" sz="2600" dirty="0">
              <a:latin typeface="Book Antiqua" pitchFamily="18" charset="0"/>
            </a:endParaRPr>
          </a:p>
          <a:p>
            <a:pPr algn="just">
              <a:buClrTx/>
              <a:buFont typeface="Wingdings" pitchFamily="2" charset="2"/>
              <a:buChar char="Ø"/>
            </a:pPr>
            <a:endParaRPr lang="en-US" sz="2400" dirty="0">
              <a:latin typeface="Book Antiqua" pitchFamily="18" charset="0"/>
            </a:endParaRPr>
          </a:p>
          <a:p>
            <a:pPr algn="just">
              <a:buClrTx/>
              <a:buFont typeface="Wingdings" pitchFamily="2" charset="2"/>
              <a:buChar char="Ø"/>
            </a:pPr>
            <a:endParaRPr lang="en-US" sz="2400" dirty="0">
              <a:latin typeface="Book Antiqua" pitchFamily="18" charset="0"/>
            </a:endParaRPr>
          </a:p>
          <a:p>
            <a:pPr marL="109728" indent="0">
              <a:buNone/>
            </a:pPr>
            <a:endParaRPr lang="en-US" sz="2400" dirty="0">
              <a:latin typeface="Book Antiqua" pitchFamily="18" charset="0"/>
            </a:endParaRPr>
          </a:p>
          <a:p>
            <a:endParaRPr lang="en-US" dirty="0"/>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78</a:t>
            </a:fld>
            <a:endParaRPr lang="en-US"/>
          </a:p>
        </p:txBody>
      </p:sp>
      <p:sp>
        <p:nvSpPr>
          <p:cNvPr id="5" name="Title 4"/>
          <p:cNvSpPr>
            <a:spLocks noGrp="1"/>
          </p:cNvSpPr>
          <p:nvPr>
            <p:ph type="title"/>
          </p:nvPr>
        </p:nvSpPr>
        <p:spPr>
          <a:xfrm>
            <a:off x="457200" y="152400"/>
            <a:ext cx="8229600" cy="533400"/>
          </a:xfrm>
        </p:spPr>
        <p:txBody>
          <a:bodyPr>
            <a:normAutofit fontScale="90000"/>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3617240065"/>
      </p:ext>
    </p:extLst>
  </p:cSld>
  <p:clrMapOvr>
    <a:masterClrMapping/>
  </p:clrMapOvr>
  <p:transition spd="slow">
    <p:pull/>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143000"/>
            <a:ext cx="8686800" cy="5105400"/>
          </a:xfrm>
        </p:spPr>
        <p:txBody>
          <a:bodyPr/>
          <a:lstStyle/>
          <a:p>
            <a:pPr marL="109728" lvl="0" indent="0" algn="just">
              <a:buClrTx/>
              <a:buNone/>
            </a:pPr>
            <a:r>
              <a:rPr lang="en-US" sz="2400" b="1" dirty="0">
                <a:solidFill>
                  <a:prstClr val="black"/>
                </a:solidFill>
                <a:latin typeface="Book Antiqua" pitchFamily="18" charset="0"/>
              </a:rPr>
              <a:t>Other type of sensors which can fall under this category are:</a:t>
            </a:r>
          </a:p>
          <a:p>
            <a:pPr lvl="2" algn="just">
              <a:buClrTx/>
              <a:buFont typeface="Wingdings" pitchFamily="2" charset="2"/>
              <a:buChar char="Ø"/>
            </a:pPr>
            <a:r>
              <a:rPr lang="en-US" sz="2400" dirty="0">
                <a:solidFill>
                  <a:prstClr val="black"/>
                </a:solidFill>
                <a:latin typeface="Book Antiqua" pitchFamily="18" charset="0"/>
              </a:rPr>
              <a:t>Pressure sensor – measures pressure</a:t>
            </a:r>
          </a:p>
          <a:p>
            <a:pPr lvl="2" algn="just">
              <a:buClrTx/>
              <a:buFont typeface="Wingdings" pitchFamily="2" charset="2"/>
              <a:buChar char="Ø"/>
            </a:pPr>
            <a:r>
              <a:rPr lang="en-US" sz="2400" dirty="0">
                <a:solidFill>
                  <a:prstClr val="black"/>
                </a:solidFill>
                <a:latin typeface="Book Antiqua" pitchFamily="18" charset="0"/>
              </a:rPr>
              <a:t>Barometer – measures atmospheric pressure</a:t>
            </a:r>
          </a:p>
          <a:p>
            <a:pPr lvl="2" algn="just">
              <a:buClrTx/>
              <a:buFont typeface="Wingdings" pitchFamily="2" charset="2"/>
              <a:buChar char="Ø"/>
            </a:pPr>
            <a:r>
              <a:rPr lang="en-US" sz="2400" dirty="0">
                <a:solidFill>
                  <a:prstClr val="black"/>
                </a:solidFill>
                <a:latin typeface="Book Antiqua" pitchFamily="18" charset="0"/>
              </a:rPr>
              <a:t>Altimeter – measures the altitude of an object above a fixed level</a:t>
            </a:r>
          </a:p>
          <a:p>
            <a:pPr lvl="2" algn="just">
              <a:buClrTx/>
              <a:buFont typeface="Wingdings" pitchFamily="2" charset="2"/>
              <a:buChar char="Ø"/>
            </a:pPr>
            <a:r>
              <a:rPr lang="en-US" sz="2400" dirty="0">
                <a:solidFill>
                  <a:prstClr val="black"/>
                </a:solidFill>
                <a:latin typeface="Book Antiqua" pitchFamily="18" charset="0"/>
              </a:rPr>
              <a:t>Liquid flow sensor – measures liquid flow rate</a:t>
            </a:r>
          </a:p>
          <a:p>
            <a:pPr lvl="2" algn="just">
              <a:buClrTx/>
              <a:buFont typeface="Wingdings" pitchFamily="2" charset="2"/>
              <a:buChar char="Ø"/>
            </a:pPr>
            <a:r>
              <a:rPr lang="en-US" sz="2400" dirty="0">
                <a:solidFill>
                  <a:prstClr val="black"/>
                </a:solidFill>
                <a:latin typeface="Book Antiqua" pitchFamily="18" charset="0"/>
              </a:rPr>
              <a:t>Gas flow sensor – measures velocity, direction, and/or flow rate of a gas</a:t>
            </a:r>
          </a:p>
          <a:p>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79</a:t>
            </a:fld>
            <a:endParaRPr lang="en-US"/>
          </a:p>
        </p:txBody>
      </p:sp>
      <p:sp>
        <p:nvSpPr>
          <p:cNvPr id="5" name="Title 4"/>
          <p:cNvSpPr>
            <a:spLocks noGrp="1"/>
          </p:cNvSpPr>
          <p:nvPr>
            <p:ph type="title"/>
          </p:nvPr>
        </p:nvSpPr>
        <p:spPr>
          <a:xfrm>
            <a:off x="457200" y="274638"/>
            <a:ext cx="8229600" cy="7159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2340498647"/>
      </p:ext>
    </p:extLst>
  </p:cSld>
  <p:clrMapOvr>
    <a:masterClrMapping/>
  </p:clrMapOvr>
  <p:transition spd="slow">
    <p:pull/>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5169091"/>
          </a:xfrm>
        </p:spPr>
        <p:txBody>
          <a:bodyPr>
            <a:normAutofit fontScale="92500" lnSpcReduction="20000"/>
          </a:bodyPr>
          <a:lstStyle/>
          <a:p>
            <a:pPr marL="109728" indent="0" algn="just">
              <a:buNone/>
            </a:pPr>
            <a:r>
              <a:rPr lang="en-US" sz="3000" b="1" dirty="0">
                <a:latin typeface="Book Antiqua" pitchFamily="18" charset="0"/>
              </a:rPr>
              <a:t>Thermal Sensors</a:t>
            </a:r>
          </a:p>
          <a:p>
            <a:pPr algn="just">
              <a:buClrTx/>
              <a:buFont typeface="Wingdings" pitchFamily="2" charset="2"/>
              <a:buChar char="Ø"/>
            </a:pPr>
            <a:r>
              <a:rPr lang="en-US" sz="2600" dirty="0">
                <a:latin typeface="Book Antiqua" pitchFamily="18" charset="0"/>
              </a:rPr>
              <a:t>Thermometer – measures absolute temperature</a:t>
            </a:r>
          </a:p>
          <a:p>
            <a:pPr algn="just">
              <a:buClrTx/>
              <a:buFont typeface="Wingdings" pitchFamily="2" charset="2"/>
              <a:buChar char="Ø"/>
            </a:pPr>
            <a:r>
              <a:rPr lang="en-US" sz="2600" dirty="0">
                <a:latin typeface="Book Antiqua" pitchFamily="18" charset="0"/>
              </a:rPr>
              <a:t>Thermocouple gauge– measures temperature by its effect on two dissimilar metals</a:t>
            </a:r>
          </a:p>
          <a:p>
            <a:pPr algn="just">
              <a:buClrTx/>
            </a:pPr>
            <a:r>
              <a:rPr lang="en-US" sz="2600" dirty="0">
                <a:latin typeface="Book Antiqua" pitchFamily="18" charset="0"/>
              </a:rPr>
              <a:t>Calorimeter – measures the heat of chemical reactions or physical changes and heat capacity</a:t>
            </a:r>
          </a:p>
          <a:p>
            <a:pPr algn="just">
              <a:buClrTx/>
            </a:pPr>
            <a:endParaRPr lang="en-US" sz="2600" dirty="0">
              <a:solidFill>
                <a:prstClr val="black"/>
              </a:solidFill>
              <a:latin typeface="Book Antiqua" pitchFamily="18" charset="0"/>
            </a:endParaRPr>
          </a:p>
          <a:p>
            <a:pPr marL="109728" indent="0" algn="just">
              <a:buNone/>
            </a:pPr>
            <a:r>
              <a:rPr lang="en-US" sz="2800" b="1" dirty="0">
                <a:latin typeface="Book Antiqua" pitchFamily="18" charset="0"/>
              </a:rPr>
              <a:t>Electrical Sensors</a:t>
            </a:r>
          </a:p>
          <a:p>
            <a:pPr algn="just">
              <a:buClrTx/>
            </a:pPr>
            <a:r>
              <a:rPr lang="en-US" sz="2600" dirty="0">
                <a:latin typeface="Book Antiqua" pitchFamily="18" charset="0"/>
              </a:rPr>
              <a:t>Ohmmeter – measures resistance</a:t>
            </a:r>
          </a:p>
          <a:p>
            <a:pPr algn="just">
              <a:buClrTx/>
            </a:pPr>
            <a:r>
              <a:rPr lang="en-US" sz="2600" dirty="0">
                <a:latin typeface="Book Antiqua" pitchFamily="18" charset="0"/>
              </a:rPr>
              <a:t>Voltmeter – measures voltage</a:t>
            </a:r>
          </a:p>
          <a:p>
            <a:pPr algn="just">
              <a:buClrTx/>
            </a:pPr>
            <a:r>
              <a:rPr lang="en-US" sz="2600" dirty="0">
                <a:latin typeface="Book Antiqua" pitchFamily="18" charset="0"/>
              </a:rPr>
              <a:t>Galvanometer (</a:t>
            </a:r>
            <a:r>
              <a:rPr lang="en-US" sz="2800" dirty="0">
                <a:latin typeface="Times New Roman"/>
              </a:rPr>
              <a:t>specific type of ammeter)</a:t>
            </a:r>
            <a:r>
              <a:rPr lang="en-US" sz="2600" dirty="0">
                <a:latin typeface="Book Antiqua" pitchFamily="18" charset="0"/>
              </a:rPr>
              <a:t> – measures current</a:t>
            </a:r>
          </a:p>
          <a:p>
            <a:pPr algn="just">
              <a:buClrTx/>
            </a:pPr>
            <a:r>
              <a:rPr lang="en-US" sz="2600" dirty="0">
                <a:latin typeface="Book Antiqua" pitchFamily="18" charset="0"/>
              </a:rPr>
              <a:t>Watt-hour meter – measures the amount of electrical energy supplied to, and used by a residence or business</a:t>
            </a:r>
            <a:endParaRPr lang="en-US" sz="2600" dirty="0">
              <a:solidFill>
                <a:prstClr val="black"/>
              </a:solidFill>
              <a:latin typeface="Book Antiqua" pitchFamily="18" charset="0"/>
            </a:endParaRPr>
          </a:p>
          <a:p>
            <a:pPr lvl="0" algn="just">
              <a:buClr>
                <a:srgbClr val="2DA2BF"/>
              </a:buClr>
            </a:pPr>
            <a:endParaRPr lang="en-US" sz="2500" dirty="0">
              <a:solidFill>
                <a:prstClr val="black"/>
              </a:solidFill>
            </a:endParaRPr>
          </a:p>
          <a:p>
            <a:pPr lvl="0" algn="just">
              <a:buClr>
                <a:srgbClr val="2DA2BF"/>
              </a:buClr>
            </a:pPr>
            <a:endParaRPr lang="en-US" sz="2500" dirty="0">
              <a:solidFill>
                <a:prstClr val="black"/>
              </a:solidFill>
            </a:endParaRPr>
          </a:p>
          <a:p>
            <a:pPr lvl="0" algn="just">
              <a:buClr>
                <a:srgbClr val="2DA2BF"/>
              </a:buClr>
            </a:pPr>
            <a:endParaRPr lang="en-US" sz="2500" dirty="0">
              <a:solidFill>
                <a:prstClr val="black"/>
              </a:solidFill>
            </a:endParaRPr>
          </a:p>
          <a:p>
            <a:pPr algn="just"/>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80</a:t>
            </a:fld>
            <a:endParaRPr lang="en-US"/>
          </a:p>
        </p:txBody>
      </p:sp>
      <p:sp>
        <p:nvSpPr>
          <p:cNvPr id="5" name="Title 4"/>
          <p:cNvSpPr>
            <a:spLocks noGrp="1"/>
          </p:cNvSpPr>
          <p:nvPr>
            <p:ph type="title"/>
          </p:nvPr>
        </p:nvSpPr>
        <p:spPr>
          <a:xfrm>
            <a:off x="457200" y="152400"/>
            <a:ext cx="8229600" cy="7921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3421227888"/>
      </p:ext>
    </p:extLst>
  </p:cSld>
  <p:clrMapOvr>
    <a:masterClrMapping/>
  </p:clrMapOvr>
  <p:transition spd="slow">
    <p:pull/>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685800"/>
            <a:ext cx="8229600" cy="5638800"/>
          </a:xfrm>
        </p:spPr>
        <p:txBody>
          <a:bodyPr>
            <a:noAutofit/>
          </a:bodyPr>
          <a:lstStyle/>
          <a:p>
            <a:pPr marL="109728" lvl="0" indent="0" algn="just">
              <a:buClr>
                <a:srgbClr val="2DA2BF"/>
              </a:buClr>
              <a:buNone/>
            </a:pPr>
            <a:r>
              <a:rPr lang="en-US" sz="2800" b="1" dirty="0">
                <a:solidFill>
                  <a:prstClr val="black"/>
                </a:solidFill>
                <a:latin typeface="Book Antiqua" pitchFamily="18" charset="0"/>
              </a:rPr>
              <a:t>Chemical Sensors</a:t>
            </a:r>
          </a:p>
          <a:p>
            <a:pPr marL="109728" lvl="0" indent="0" algn="just">
              <a:buClr>
                <a:srgbClr val="2DA2BF"/>
              </a:buClr>
              <a:buNone/>
            </a:pPr>
            <a:r>
              <a:rPr lang="en-US" sz="2300" dirty="0">
                <a:solidFill>
                  <a:prstClr val="black"/>
                </a:solidFill>
                <a:latin typeface="Book Antiqua" pitchFamily="18" charset="0"/>
              </a:rPr>
              <a:t>Chemical sensors detect the presence of certain chemicals or classes of chemicals and quantify, the amount and/or type of chemical to be detected.</a:t>
            </a:r>
          </a:p>
          <a:p>
            <a:pPr lvl="0" algn="just">
              <a:buClrTx/>
            </a:pPr>
            <a:r>
              <a:rPr lang="en-US" sz="2300" dirty="0">
                <a:solidFill>
                  <a:prstClr val="black"/>
                </a:solidFill>
                <a:latin typeface="Book Antiqua" pitchFamily="18" charset="0"/>
              </a:rPr>
              <a:t>Oxygen sensor – measures the percentage of oxygen in a gas or liquid being analyzed</a:t>
            </a:r>
          </a:p>
          <a:p>
            <a:pPr lvl="0" algn="just">
              <a:buClrTx/>
            </a:pPr>
            <a:r>
              <a:rPr lang="en-US" sz="2300" dirty="0">
                <a:solidFill>
                  <a:prstClr val="black"/>
                </a:solidFill>
                <a:latin typeface="Book Antiqua" pitchFamily="18" charset="0"/>
              </a:rPr>
              <a:t>Carbon dioxide detector – detects the presence of CO2, </a:t>
            </a:r>
            <a:r>
              <a:rPr lang="en-US" sz="2300" dirty="0" err="1">
                <a:latin typeface="Book Antiqua" pitchFamily="18" charset="0"/>
              </a:rPr>
              <a:t>etc</a:t>
            </a:r>
            <a:endParaRPr lang="en-US" sz="2300" dirty="0">
              <a:latin typeface="Book Antiqua" pitchFamily="18" charset="0"/>
            </a:endParaRPr>
          </a:p>
          <a:p>
            <a:pPr marL="109728" lvl="0" indent="0" algn="just">
              <a:buClrTx/>
              <a:buNone/>
            </a:pPr>
            <a:r>
              <a:rPr lang="en-US" sz="2300" dirty="0">
                <a:latin typeface="Book Antiqua" pitchFamily="18" charset="0"/>
              </a:rPr>
              <a:t> </a:t>
            </a:r>
          </a:p>
          <a:p>
            <a:pPr marL="109728" indent="0" algn="just">
              <a:buNone/>
            </a:pPr>
            <a:r>
              <a:rPr lang="en-US" sz="2800" b="1" dirty="0">
                <a:latin typeface="Book Antiqua" pitchFamily="18" charset="0"/>
              </a:rPr>
              <a:t>Optical</a:t>
            </a:r>
          </a:p>
          <a:p>
            <a:pPr algn="just">
              <a:buClrTx/>
            </a:pPr>
            <a:r>
              <a:rPr lang="en-US" sz="2300" dirty="0">
                <a:latin typeface="Book Antiqua" pitchFamily="18" charset="0"/>
              </a:rPr>
              <a:t>Light sensors (photo-detectors) – detects light and electromagnetic energy</a:t>
            </a:r>
          </a:p>
          <a:p>
            <a:pPr algn="just">
              <a:buClrTx/>
            </a:pPr>
            <a:r>
              <a:rPr lang="en-US" sz="2300" dirty="0">
                <a:latin typeface="Book Antiqua" pitchFamily="18" charset="0"/>
              </a:rPr>
              <a:t>Photocells (photo-resistor) – a variable resistor affected by intensity changes in ambient light.</a:t>
            </a:r>
          </a:p>
          <a:p>
            <a:pPr algn="just">
              <a:buClrTx/>
            </a:pPr>
            <a:r>
              <a:rPr lang="pt-BR" sz="2300" dirty="0">
                <a:latin typeface="Book Antiqua" pitchFamily="18" charset="0"/>
              </a:rPr>
              <a:t>Infra-red sensor – detects infra-red radiation</a:t>
            </a:r>
          </a:p>
        </p:txBody>
      </p:sp>
      <p:sp>
        <p:nvSpPr>
          <p:cNvPr id="4" name="Slide Number Placeholder 3"/>
          <p:cNvSpPr>
            <a:spLocks noGrp="1"/>
          </p:cNvSpPr>
          <p:nvPr>
            <p:ph type="sldNum" sz="quarter" idx="12"/>
          </p:nvPr>
        </p:nvSpPr>
        <p:spPr/>
        <p:txBody>
          <a:bodyPr/>
          <a:lstStyle/>
          <a:p>
            <a:fld id="{573EDECB-2FAA-459C-97B3-E12F4C12D356}" type="slidenum">
              <a:rPr lang="en-US" smtClean="0"/>
              <a:t>81</a:t>
            </a:fld>
            <a:endParaRPr lang="en-US"/>
          </a:p>
        </p:txBody>
      </p:sp>
      <p:sp>
        <p:nvSpPr>
          <p:cNvPr id="5" name="Title 4"/>
          <p:cNvSpPr>
            <a:spLocks noGrp="1"/>
          </p:cNvSpPr>
          <p:nvPr>
            <p:ph type="title"/>
          </p:nvPr>
        </p:nvSpPr>
        <p:spPr>
          <a:xfrm>
            <a:off x="457200" y="152400"/>
            <a:ext cx="8229600" cy="533400"/>
          </a:xfrm>
        </p:spPr>
        <p:txBody>
          <a:bodyPr>
            <a:normAutofit fontScale="90000"/>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2971896593"/>
      </p:ext>
    </p:extLst>
  </p:cSld>
  <p:clrMapOvr>
    <a:masterClrMapping/>
  </p:clrMapOvr>
  <p:transition spd="slow">
    <p:pull/>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109728" lvl="0" indent="0" algn="just">
              <a:buClr>
                <a:srgbClr val="2DA2BF"/>
              </a:buClr>
              <a:buNone/>
            </a:pPr>
            <a:r>
              <a:rPr lang="en-US" sz="2800" b="1" dirty="0">
                <a:solidFill>
                  <a:prstClr val="black"/>
                </a:solidFill>
                <a:latin typeface="Book Antiqua" pitchFamily="18" charset="0"/>
              </a:rPr>
              <a:t>Acoustic</a:t>
            </a:r>
          </a:p>
          <a:p>
            <a:pPr lvl="0" algn="just">
              <a:buClrTx/>
            </a:pPr>
            <a:r>
              <a:rPr lang="en-US" sz="2400" dirty="0">
                <a:solidFill>
                  <a:prstClr val="black"/>
                </a:solidFill>
                <a:latin typeface="Book Antiqua" pitchFamily="18" charset="0"/>
              </a:rPr>
              <a:t>Seismometers – measures seismic waves</a:t>
            </a:r>
          </a:p>
          <a:p>
            <a:pPr lvl="0" algn="just">
              <a:buClrTx/>
            </a:pPr>
            <a:r>
              <a:rPr lang="en-US" sz="2400" dirty="0">
                <a:solidFill>
                  <a:prstClr val="black"/>
                </a:solidFill>
                <a:latin typeface="Book Antiqua" pitchFamily="18" charset="0"/>
              </a:rPr>
              <a:t>Acoustic wave sensors – measures the wave velocity in the air or an environment to detect the chemical species present</a:t>
            </a:r>
          </a:p>
          <a:p>
            <a:pPr lvl="0" algn="just">
              <a:buClr>
                <a:srgbClr val="2DA2BF"/>
              </a:buClr>
            </a:pPr>
            <a:endParaRPr lang="en-US" sz="2400" dirty="0">
              <a:solidFill>
                <a:prstClr val="black"/>
              </a:solidFill>
              <a:latin typeface="Book Antiqua" pitchFamily="18" charset="0"/>
            </a:endParaRPr>
          </a:p>
          <a:p>
            <a:pPr marL="109728" indent="0" algn="just">
              <a:buNone/>
            </a:pPr>
            <a:r>
              <a:rPr lang="en-US" sz="2800" b="1" dirty="0">
                <a:latin typeface="Book Antiqua" pitchFamily="18" charset="0"/>
              </a:rPr>
              <a:t>Other</a:t>
            </a:r>
          </a:p>
          <a:p>
            <a:pPr algn="just">
              <a:buClrTx/>
            </a:pPr>
            <a:r>
              <a:rPr lang="en-US" sz="2400" dirty="0">
                <a:latin typeface="Book Antiqua" pitchFamily="18" charset="0"/>
              </a:rPr>
              <a:t>Motion – detects motion</a:t>
            </a:r>
          </a:p>
          <a:p>
            <a:pPr algn="just">
              <a:buClrTx/>
            </a:pPr>
            <a:r>
              <a:rPr lang="en-US" sz="2400" dirty="0">
                <a:latin typeface="Book Antiqua" pitchFamily="18" charset="0"/>
              </a:rPr>
              <a:t>Speedometer – measures speed</a:t>
            </a:r>
          </a:p>
          <a:p>
            <a:pPr algn="just">
              <a:buClrTx/>
            </a:pPr>
            <a:r>
              <a:rPr lang="en-US" sz="2400" dirty="0">
                <a:latin typeface="Book Antiqua" pitchFamily="18" charset="0"/>
              </a:rPr>
              <a:t>Geiger counter – detects atomic radiation </a:t>
            </a:r>
            <a:endParaRPr lang="en-US" sz="2400" i="1" dirty="0">
              <a:latin typeface="Book Antiqua" pitchFamily="18" charset="0"/>
            </a:endParaRPr>
          </a:p>
          <a:p>
            <a:pPr algn="just">
              <a:buClrTx/>
            </a:pPr>
            <a:r>
              <a:rPr lang="en-US" sz="2400" dirty="0">
                <a:latin typeface="Book Antiqua" pitchFamily="18" charset="0"/>
              </a:rPr>
              <a:t>Biological – monitors human cells</a:t>
            </a:r>
            <a:endParaRPr lang="en-US" sz="2400" dirty="0">
              <a:solidFill>
                <a:prstClr val="black"/>
              </a:solidFill>
              <a:latin typeface="Book Antiqua" pitchFamily="18" charset="0"/>
            </a:endParaRPr>
          </a:p>
          <a:p>
            <a:pPr algn="just"/>
            <a:endParaRPr lang="en-US" dirty="0"/>
          </a:p>
        </p:txBody>
      </p:sp>
      <p:sp>
        <p:nvSpPr>
          <p:cNvPr id="4" name="Slide Number Placeholder 3"/>
          <p:cNvSpPr>
            <a:spLocks noGrp="1"/>
          </p:cNvSpPr>
          <p:nvPr>
            <p:ph type="sldNum" sz="quarter" idx="12"/>
          </p:nvPr>
        </p:nvSpPr>
        <p:spPr/>
        <p:txBody>
          <a:bodyPr/>
          <a:lstStyle/>
          <a:p>
            <a:fld id="{573EDECB-2FAA-459C-97B3-E12F4C12D356}" type="slidenum">
              <a:rPr lang="en-US" smtClean="0"/>
              <a:t>82</a:t>
            </a:fld>
            <a:endParaRPr lang="en-US"/>
          </a:p>
        </p:txBody>
      </p:sp>
      <p:sp>
        <p:nvSpPr>
          <p:cNvPr id="5" name="Title 4"/>
          <p:cNvSpPr>
            <a:spLocks noGrp="1"/>
          </p:cNvSpPr>
          <p:nvPr>
            <p:ph type="title"/>
          </p:nvPr>
        </p:nvSpPr>
        <p:spPr>
          <a:xfrm>
            <a:off x="457200" y="274638"/>
            <a:ext cx="8229600" cy="792162"/>
          </a:xfrm>
        </p:spPr>
        <p:txBody>
          <a:bodyPr>
            <a:normAutofit/>
          </a:bodyPr>
          <a:lstStyle/>
          <a:p>
            <a:r>
              <a:rPr lang="en-US" sz="3200" dirty="0">
                <a:solidFill>
                  <a:schemeClr val="tx1"/>
                </a:solidFill>
                <a:effectLst/>
                <a:latin typeface="Book Antiqua" pitchFamily="18" charset="0"/>
              </a:rPr>
              <a:t>Cont.. </a:t>
            </a:r>
          </a:p>
        </p:txBody>
      </p:sp>
    </p:spTree>
    <p:extLst>
      <p:ext uri="{BB962C8B-B14F-4D97-AF65-F5344CB8AC3E}">
        <p14:creationId xmlns:p14="http://schemas.microsoft.com/office/powerpoint/2010/main" val="424966662"/>
      </p:ext>
    </p:extLst>
  </p:cSld>
  <p:clrMapOvr>
    <a:masterClrMapping/>
  </p:clrMapOvr>
  <p:transition spd="slow">
    <p:pull/>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6141</TotalTime>
  <Words>6192</Words>
  <Application>Microsoft Office PowerPoint</Application>
  <PresentationFormat>On-screen Show (4:3)</PresentationFormat>
  <Paragraphs>577</Paragraphs>
  <Slides>82</Slides>
  <Notes>0</Notes>
  <HiddenSlides>0</HiddenSlides>
  <MMClips>0</MMClips>
  <ScaleCrop>false</ScaleCrop>
  <HeadingPairs>
    <vt:vector size="4" baseType="variant">
      <vt:variant>
        <vt:lpstr>Theme</vt:lpstr>
      </vt:variant>
      <vt:variant>
        <vt:i4>1</vt:i4>
      </vt:variant>
      <vt:variant>
        <vt:lpstr>Slide Titles</vt:lpstr>
      </vt:variant>
      <vt:variant>
        <vt:i4>82</vt:i4>
      </vt:variant>
    </vt:vector>
  </HeadingPairs>
  <TitlesOfParts>
    <vt:vector size="83" baseType="lpstr">
      <vt:lpstr>Concourse</vt:lpstr>
      <vt:lpstr>PowerPoint Presentation</vt:lpstr>
      <vt:lpstr>Course expected learning outcomes</vt:lpstr>
      <vt:lpstr>contents</vt:lpstr>
      <vt:lpstr>Learning Context</vt:lpstr>
      <vt:lpstr>Cont.. </vt:lpstr>
      <vt:lpstr>Introduction </vt:lpstr>
      <vt:lpstr>Cont.. </vt:lpstr>
      <vt:lpstr>Cont.. </vt:lpstr>
      <vt:lpstr>Different types of systems</vt:lpstr>
      <vt:lpstr>Cont.. </vt:lpstr>
      <vt:lpstr>Cont.. </vt:lpstr>
      <vt:lpstr>Cont.. </vt:lpstr>
      <vt:lpstr>Cont.. </vt:lpstr>
      <vt:lpstr>Different types of control systems</vt:lpstr>
      <vt:lpstr>A. Open loop and closed loop control systems</vt:lpstr>
      <vt:lpstr>Cont.. </vt:lpstr>
      <vt:lpstr>Cont.. </vt:lpstr>
      <vt:lpstr>Cont.. </vt:lpstr>
      <vt:lpstr>Cont.. </vt:lpstr>
      <vt:lpstr>Cont.. </vt:lpstr>
      <vt:lpstr>Cont.. </vt:lpstr>
      <vt:lpstr>Cont.. </vt:lpstr>
      <vt:lpstr>B. Manual and automatic control systems</vt:lpstr>
      <vt:lpstr>Cont.. </vt:lpstr>
      <vt:lpstr>Cont.. </vt:lpstr>
      <vt:lpstr>Cont.. </vt:lpstr>
      <vt:lpstr>C. Special applications of the control systems</vt:lpstr>
      <vt:lpstr>Question </vt:lpstr>
      <vt:lpstr>PowerPoint Presentation</vt:lpstr>
      <vt:lpstr>Transducers</vt:lpstr>
      <vt:lpstr>cont.. </vt:lpstr>
      <vt:lpstr>Cont.. </vt:lpstr>
      <vt:lpstr>Cont.. </vt:lpstr>
      <vt:lpstr>Cont.. </vt:lpstr>
      <vt:lpstr>Cont.. </vt:lpstr>
      <vt:lpstr>Functions of transducer</vt:lpstr>
      <vt:lpstr>Basic requirements of a transducer</vt:lpstr>
      <vt:lpstr>Cont.. </vt:lpstr>
      <vt:lpstr>Cont.. </vt:lpstr>
      <vt:lpstr>Classification Of Transducers</vt:lpstr>
      <vt:lpstr>Cont.. </vt:lpstr>
      <vt:lpstr>Cont.. </vt:lpstr>
      <vt:lpstr>Cont.. </vt:lpstr>
      <vt:lpstr>Cont.. </vt:lpstr>
      <vt:lpstr>Cont.. </vt:lpstr>
      <vt:lpstr>Cont.. </vt:lpstr>
      <vt:lpstr>Cont.. </vt:lpstr>
      <vt:lpstr>Cont.. </vt:lpstr>
      <vt:lpstr>Cont.. </vt:lpstr>
      <vt:lpstr>Cont.. </vt:lpstr>
      <vt:lpstr>Cont.. </vt:lpstr>
      <vt:lpstr>Cont.. </vt:lpstr>
      <vt:lpstr>Cont.. </vt:lpstr>
      <vt:lpstr>Cont.. </vt:lpstr>
      <vt:lpstr>Cont.. </vt:lpstr>
      <vt:lpstr>Cont.. </vt:lpstr>
      <vt:lpstr>Cont.. </vt:lpstr>
      <vt:lpstr>Cont..</vt:lpstr>
      <vt:lpstr>Cont.. </vt:lpstr>
      <vt:lpstr>Cont.. </vt:lpstr>
      <vt:lpstr>Cont.. </vt:lpstr>
      <vt:lpstr>Cont.. </vt:lpstr>
      <vt:lpstr>Cont.. </vt:lpstr>
      <vt:lpstr>Cont.. </vt:lpstr>
      <vt:lpstr>Selection Of Transducers</vt:lpstr>
      <vt:lpstr>Cont.. </vt:lpstr>
      <vt:lpstr>Cont.. </vt:lpstr>
      <vt:lpstr>Cont.. </vt:lpstr>
      <vt:lpstr>Possible questions</vt:lpstr>
      <vt:lpstr>PowerPoint Presentation</vt:lpstr>
      <vt:lpstr>Sensors </vt:lpstr>
      <vt:lpstr>Cont.. </vt:lpstr>
      <vt:lpstr>Cont.. </vt:lpstr>
      <vt:lpstr>Choosing a Sensor</vt:lpstr>
      <vt:lpstr>Basic requirements of a sensor</vt:lpstr>
      <vt:lpstr>Classification of sensors</vt:lpstr>
      <vt:lpstr>Cont.. </vt:lpstr>
      <vt:lpstr>Cont.. </vt:lpstr>
      <vt:lpstr>Cont.. </vt:lpstr>
      <vt:lpstr>Cont.. </vt:lpstr>
      <vt:lpstr>Cont.. </vt:lpstr>
      <vt:lpstr>Cont..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Vicent</dc:creator>
  <cp:lastModifiedBy>watyotham@gmail.com</cp:lastModifiedBy>
  <cp:revision>133</cp:revision>
  <cp:lastPrinted>2021-04-24T06:09:27Z</cp:lastPrinted>
  <dcterms:created xsi:type="dcterms:W3CDTF">2016-04-09T06:50:03Z</dcterms:created>
  <dcterms:modified xsi:type="dcterms:W3CDTF">2023-06-01T07:21:57Z</dcterms:modified>
</cp:coreProperties>
</file>