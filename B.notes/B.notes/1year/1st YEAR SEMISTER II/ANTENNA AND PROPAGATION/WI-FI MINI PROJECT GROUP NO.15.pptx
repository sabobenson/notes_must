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bookmarkIdSeed="8">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Lst>
  <p:sldSz type="screen16x9" cy="6858000" cx="12192000"/>
  <p:notesSz cx="6858000" cy="9144000"/>
  <p:defaultText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5000" autoAdjust="0"/>
    <p:restoredTop sz="94660"/>
  </p:normalViewPr>
  <p:slideViewPr>
    <p:cSldViewPr snapToGrid="0">
      <p:cViewPr varScale="1">
        <p:scale>
          <a:sx n="72" d="100"/>
          <a:sy n="72" d="100"/>
        </p:scale>
        <p:origin x="660" y="78"/>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tableStyles" Target="tableStyles.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08" name=""/>
        <p:cNvGrpSpPr/>
        <p:nvPr/>
      </p:nvGrpSpPr>
      <p:grpSpPr>
        <a:xfrm>
          <a:off x="0" y="0"/>
          <a:ext cx="0" cy="0"/>
          <a:chOff x="0" y="0"/>
          <a:chExt cx="0" cy="0"/>
        </a:xfrm>
      </p:grpSpPr>
      <p:sp>
        <p:nvSpPr>
          <p:cNvPr id="1048699"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700"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701"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702"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703"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704"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96" name=""/>
        <p:cNvGrpSpPr/>
        <p:nvPr/>
      </p:nvGrpSpPr>
      <p:grpSpPr>
        <a:xfrm>
          <a:off x="0" y="0"/>
          <a:ext cx="0" cy="0"/>
          <a:chOff x="0" y="0"/>
          <a:chExt cx="0" cy="0"/>
        </a:xfrm>
      </p:grpSpPr>
      <p:sp>
        <p:nvSpPr>
          <p:cNvPr id="1048644" name="Title 1"/>
          <p:cNvSpPr>
            <a:spLocks noGrp="1"/>
          </p:cNvSpPr>
          <p:nvPr>
            <p:ph type="ctrTitle"/>
          </p:nvPr>
        </p:nvSpPr>
        <p:spPr>
          <a:xfrm>
            <a:off x="2417779" y="802298"/>
            <a:ext cx="8637073" cy="2541431"/>
          </a:xfrm>
        </p:spPr>
        <p:txBody>
          <a:bodyPr anchor="b" bIns="0">
            <a:normAutofit/>
          </a:bodyPr>
          <a:lstStyle>
            <a:lvl1pPr algn="l">
              <a:defRPr sz="6600"/>
            </a:lvl1pPr>
          </a:lstStyle>
          <a:p>
            <a:r>
              <a:rPr lang="en-US"/>
              <a:t>Click to edit Master title style</a:t>
            </a:r>
            <a:endParaRPr dirty="0" lang="en-US"/>
          </a:p>
        </p:txBody>
      </p:sp>
      <p:sp>
        <p:nvSpPr>
          <p:cNvPr id="1048645" name="Subtitle 2"/>
          <p:cNvSpPr>
            <a:spLocks noGrp="1"/>
          </p:cNvSpPr>
          <p:nvPr>
            <p:ph type="subTitle" idx="1"/>
          </p:nvPr>
        </p:nvSpPr>
        <p:spPr>
          <a:xfrm>
            <a:off x="2417780" y="3531204"/>
            <a:ext cx="8637072" cy="977621"/>
          </a:xfrm>
        </p:spPr>
        <p:txBody>
          <a:bodyPr bIns="91440" tIns="91440">
            <a:normAutofit/>
          </a:bodyPr>
          <a:lstStyle>
            <a:lvl1pPr algn="l" indent="0" marL="0">
              <a:buNone/>
              <a:defRPr baseline="0" b="0" cap="all" sz="1800">
                <a:solidFill>
                  <a:schemeClr val="tx1"/>
                </a:solidFill>
              </a:defRPr>
            </a:lvl1pPr>
            <a:lvl2pPr algn="ctr" indent="0" marL="457200">
              <a:buNone/>
              <a:defRPr sz="18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endParaRPr dirty="0" lang="en-US"/>
          </a:p>
        </p:txBody>
      </p:sp>
      <p:sp>
        <p:nvSpPr>
          <p:cNvPr id="1048646" name="Date Placeholder 3"/>
          <p:cNvSpPr>
            <a:spLocks noGrp="1"/>
          </p:cNvSpPr>
          <p:nvPr>
            <p:ph type="dt" sz="half" idx="10"/>
          </p:nvPr>
        </p:nvSpPr>
        <p:spPr/>
        <p:txBody>
          <a:bodyPr/>
          <a:p>
            <a:fld id="{48A87A34-81AB-432B-8DAE-1953F412C126}" type="datetimeFigureOut">
              <a:rPr dirty="0" lang="en-US"/>
              <a:t>6/14/2023</a:t>
            </a:fld>
            <a:endParaRPr dirty="0" lang="en-US"/>
          </a:p>
        </p:txBody>
      </p:sp>
      <p:sp>
        <p:nvSpPr>
          <p:cNvPr id="1048647" name="Footer Placeholder 4"/>
          <p:cNvSpPr>
            <a:spLocks noGrp="1"/>
          </p:cNvSpPr>
          <p:nvPr>
            <p:ph type="ftr" sz="quarter" idx="11"/>
          </p:nvPr>
        </p:nvSpPr>
        <p:spPr>
          <a:xfrm>
            <a:off x="2416500" y="329307"/>
            <a:ext cx="4973915" cy="309201"/>
          </a:xfrm>
        </p:spPr>
        <p:txBody>
          <a:bodyPr/>
          <a:p>
            <a:endParaRPr dirty="0" lang="en-US"/>
          </a:p>
        </p:txBody>
      </p:sp>
      <p:sp>
        <p:nvSpPr>
          <p:cNvPr id="1048648" name="Slide Number Placeholder 5"/>
          <p:cNvSpPr>
            <a:spLocks noGrp="1"/>
          </p:cNvSpPr>
          <p:nvPr>
            <p:ph type="sldNum" sz="quarter" idx="12"/>
          </p:nvPr>
        </p:nvSpPr>
        <p:spPr>
          <a:xfrm>
            <a:off x="1437664" y="798973"/>
            <a:ext cx="811019" cy="503578"/>
          </a:xfrm>
        </p:spPr>
        <p:txBody>
          <a:bodyPr/>
          <a:p>
            <a:fld id="{6D22F896-40B5-4ADD-8801-0D06FADFA095}" type="slidenum">
              <a:rPr dirty="0" lang="en-US"/>
              <a:t>‹#›</a:t>
            </a:fld>
            <a:endParaRPr dirty="0" lang="en-US"/>
          </a:p>
        </p:txBody>
      </p:sp>
      <p:cxnSp>
        <p:nvCxnSpPr>
          <p:cNvPr id="3145730" name="Straight Connector 14"/>
          <p:cNvCxnSpPr>
            <a:cxnSpLocks/>
          </p:cNvCxnSpPr>
          <p:nvPr/>
        </p:nvCxnSpPr>
        <p:spPr>
          <a:xfrm>
            <a:off x="2417780" y="3528542"/>
            <a:ext cx="8637072" cy="0"/>
          </a:xfrm>
          <a:prstGeom prst="line"/>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23" name=""/>
        <p:cNvGrpSpPr/>
        <p:nvPr/>
      </p:nvGrpSpPr>
      <p:grpSpPr>
        <a:xfrm>
          <a:off x="0" y="0"/>
          <a:ext cx="0" cy="0"/>
          <a:chOff x="0" y="0"/>
          <a:chExt cx="0" cy="0"/>
        </a:xfrm>
      </p:grpSpPr>
      <p:sp>
        <p:nvSpPr>
          <p:cNvPr id="1048582" name="Title 1"/>
          <p:cNvSpPr>
            <a:spLocks noGrp="1"/>
          </p:cNvSpPr>
          <p:nvPr>
            <p:ph type="title"/>
          </p:nvPr>
        </p:nvSpPr>
        <p:spPr/>
        <p:txBody>
          <a:bodyPr/>
          <a:p>
            <a:r>
              <a:rPr lang="en-US"/>
              <a:t>Click to edit Master title style</a:t>
            </a:r>
            <a:endParaRPr dirty="0" lang="en-US"/>
          </a:p>
        </p:txBody>
      </p:sp>
      <p:sp>
        <p:nvSpPr>
          <p:cNvPr id="1048583" name="Content Placeholder 2"/>
          <p:cNvSpPr>
            <a:spLocks noGrp="1"/>
          </p:cNvSpPr>
          <p:nvPr>
            <p:ph idx="1"/>
          </p:nvPr>
        </p:nvSpPr>
        <p:spPr/>
        <p:txBody>
          <a:bodyPr ancho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584" name="Date Placeholder 3"/>
          <p:cNvSpPr>
            <a:spLocks noGrp="1"/>
          </p:cNvSpPr>
          <p:nvPr>
            <p:ph type="dt" sz="half" idx="10"/>
          </p:nvPr>
        </p:nvSpPr>
        <p:spPr/>
        <p:txBody>
          <a:bodyPr/>
          <a:p>
            <a:fld id="{48A87A34-81AB-432B-8DAE-1953F412C126}" type="datetimeFigureOut">
              <a:rPr dirty="0" lang="en-US"/>
              <a:t>6/14/2023</a:t>
            </a:fld>
            <a:endParaRPr dirty="0" lang="en-US"/>
          </a:p>
        </p:txBody>
      </p:sp>
      <p:sp>
        <p:nvSpPr>
          <p:cNvPr id="1048585" name="Footer Placeholder 4"/>
          <p:cNvSpPr>
            <a:spLocks noGrp="1"/>
          </p:cNvSpPr>
          <p:nvPr>
            <p:ph type="ftr" sz="quarter" idx="11"/>
          </p:nvPr>
        </p:nvSpPr>
        <p:spPr/>
        <p:txBody>
          <a:bodyPr/>
          <a:p>
            <a:endParaRPr dirty="0" lang="en-US"/>
          </a:p>
        </p:txBody>
      </p:sp>
      <p:sp>
        <p:nvSpPr>
          <p:cNvPr id="1048586" name="Slide Number Placeholder 5"/>
          <p:cNvSpPr>
            <a:spLocks noGrp="1"/>
          </p:cNvSpPr>
          <p:nvPr>
            <p:ph type="sldNum" sz="quarter" idx="12"/>
          </p:nvPr>
        </p:nvSpPr>
        <p:spPr/>
        <p:txBody>
          <a:bodyPr/>
          <a:p>
            <a:fld id="{6D22F896-40B5-4ADD-8801-0D06FADFA095}" type="slidenum">
              <a:rPr dirty="0" lang="en-US"/>
              <a:t>‹#›</a:t>
            </a:fld>
            <a:endParaRPr dirty="0" lang="en-US"/>
          </a:p>
        </p:txBody>
      </p:sp>
      <p:cxnSp>
        <p:nvCxnSpPr>
          <p:cNvPr id="3145729" name="Straight Connector 32"/>
          <p:cNvCxnSpPr>
            <a:cxnSpLocks/>
          </p:cNvCxnSpPr>
          <p:nvPr/>
        </p:nvCxnSpPr>
        <p:spPr>
          <a:xfrm>
            <a:off x="1453896" y="1847088"/>
            <a:ext cx="9607522" cy="0"/>
          </a:xfrm>
          <a:prstGeom prst="line"/>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102" name=""/>
        <p:cNvGrpSpPr/>
        <p:nvPr/>
      </p:nvGrpSpPr>
      <p:grpSpPr>
        <a:xfrm>
          <a:off x="0" y="0"/>
          <a:ext cx="0" cy="0"/>
          <a:chOff x="0" y="0"/>
          <a:chExt cx="0" cy="0"/>
        </a:xfrm>
      </p:grpSpPr>
      <p:sp>
        <p:nvSpPr>
          <p:cNvPr id="1048671"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dirty="0" lang="en-US"/>
          </a:p>
        </p:txBody>
      </p:sp>
      <p:sp>
        <p:nvSpPr>
          <p:cNvPr id="1048672" name="Text Placeholder 2"/>
          <p:cNvSpPr>
            <a:spLocks noGrp="1"/>
          </p:cNvSpPr>
          <p:nvPr>
            <p:ph type="body" idx="1"/>
          </p:nvPr>
        </p:nvSpPr>
        <p:spPr>
          <a:xfrm>
            <a:off x="1454239" y="3806195"/>
            <a:ext cx="8630446" cy="1012929"/>
          </a:xfrm>
        </p:spPr>
        <p:txBody>
          <a:bodyPr tIns="91440">
            <a:normAutofit/>
          </a:bodyPr>
          <a:lstStyle>
            <a:lvl1pPr algn="l" indent="0" marL="0">
              <a:buNone/>
              <a:defRPr sz="1800">
                <a:solidFill>
                  <a:schemeClr val="tx1"/>
                </a:solidFill>
              </a:defRPr>
            </a:lvl1pPr>
            <a:lvl2pPr indent="0" marL="457200">
              <a:buNone/>
              <a:defRPr sz="18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lang="en-US"/>
              <a:t>Click to edit Master text styles</a:t>
            </a:r>
          </a:p>
        </p:txBody>
      </p:sp>
      <p:sp>
        <p:nvSpPr>
          <p:cNvPr id="1048673" name="Date Placeholder 3"/>
          <p:cNvSpPr>
            <a:spLocks noGrp="1"/>
          </p:cNvSpPr>
          <p:nvPr>
            <p:ph type="dt" sz="half" idx="10"/>
          </p:nvPr>
        </p:nvSpPr>
        <p:spPr/>
        <p:txBody>
          <a:bodyPr/>
          <a:p>
            <a:fld id="{48A87A34-81AB-432B-8DAE-1953F412C126}" type="datetimeFigureOut">
              <a:rPr dirty="0" lang="en-US"/>
              <a:t>6/14/2023</a:t>
            </a:fld>
            <a:endParaRPr dirty="0" lang="en-US"/>
          </a:p>
        </p:txBody>
      </p:sp>
      <p:sp>
        <p:nvSpPr>
          <p:cNvPr id="1048674" name="Footer Placeholder 4"/>
          <p:cNvSpPr>
            <a:spLocks noGrp="1"/>
          </p:cNvSpPr>
          <p:nvPr>
            <p:ph type="ftr" sz="quarter" idx="11"/>
          </p:nvPr>
        </p:nvSpPr>
        <p:spPr/>
        <p:txBody>
          <a:bodyPr/>
          <a:p>
            <a:endParaRPr dirty="0" lang="en-US"/>
          </a:p>
        </p:txBody>
      </p:sp>
      <p:sp>
        <p:nvSpPr>
          <p:cNvPr id="1048675" name="Slide Number Placeholder 5"/>
          <p:cNvSpPr>
            <a:spLocks noGrp="1"/>
          </p:cNvSpPr>
          <p:nvPr>
            <p:ph type="sldNum" sz="quarter" idx="12"/>
          </p:nvPr>
        </p:nvSpPr>
        <p:spPr/>
        <p:txBody>
          <a:bodyPr/>
          <a:p>
            <a:fld id="{6D22F896-40B5-4ADD-8801-0D06FADFA095}" type="slidenum">
              <a:rPr dirty="0" lang="en-US"/>
              <a:t>‹#›</a:t>
            </a:fld>
            <a:endParaRPr dirty="0" lang="en-US"/>
          </a:p>
        </p:txBody>
      </p:sp>
      <p:cxnSp>
        <p:nvCxnSpPr>
          <p:cNvPr id="3145735" name="Straight Connector 14"/>
          <p:cNvCxnSpPr>
            <a:cxnSpLocks/>
          </p:cNvCxnSpPr>
          <p:nvPr/>
        </p:nvCxnSpPr>
        <p:spPr>
          <a:xfrm>
            <a:off x="1454239" y="3804985"/>
            <a:ext cx="8630446" cy="0"/>
          </a:xfrm>
          <a:prstGeom prst="line"/>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03" name=""/>
        <p:cNvGrpSpPr/>
        <p:nvPr/>
      </p:nvGrpSpPr>
      <p:grpSpPr>
        <a:xfrm>
          <a:off x="0" y="0"/>
          <a:ext cx="0" cy="0"/>
          <a:chOff x="0" y="0"/>
          <a:chExt cx="0" cy="0"/>
        </a:xfrm>
      </p:grpSpPr>
      <p:sp>
        <p:nvSpPr>
          <p:cNvPr id="1048676" name="Title 1"/>
          <p:cNvSpPr>
            <a:spLocks noGrp="1"/>
          </p:cNvSpPr>
          <p:nvPr>
            <p:ph type="title"/>
          </p:nvPr>
        </p:nvSpPr>
        <p:spPr>
          <a:xfrm>
            <a:off x="1449217" y="804889"/>
            <a:ext cx="9605635" cy="1059305"/>
          </a:xfrm>
        </p:spPr>
        <p:txBody>
          <a:bodyPr/>
          <a:p>
            <a:r>
              <a:rPr lang="en-US"/>
              <a:t>Click to edit Master title style</a:t>
            </a:r>
            <a:endParaRPr dirty="0" lang="en-US"/>
          </a:p>
        </p:txBody>
      </p:sp>
      <p:sp>
        <p:nvSpPr>
          <p:cNvPr id="1048677" name="Content Placeholder 2"/>
          <p:cNvSpPr>
            <a:spLocks noGrp="1"/>
          </p:cNvSpPr>
          <p:nvPr>
            <p:ph sz="half" idx="1"/>
          </p:nvPr>
        </p:nvSpPr>
        <p:spPr>
          <a:xfrm>
            <a:off x="1447331" y="2010878"/>
            <a:ext cx="4645152" cy="3448595"/>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78" name="Content Placeholder 3"/>
          <p:cNvSpPr>
            <a:spLocks noGrp="1"/>
          </p:cNvSpPr>
          <p:nvPr>
            <p:ph sz="half" idx="2"/>
          </p:nvPr>
        </p:nvSpPr>
        <p:spPr>
          <a:xfrm>
            <a:off x="6413771" y="2017343"/>
            <a:ext cx="4645152" cy="3441520"/>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79" name="Date Placeholder 4"/>
          <p:cNvSpPr>
            <a:spLocks noGrp="1"/>
          </p:cNvSpPr>
          <p:nvPr>
            <p:ph type="dt" sz="half" idx="10"/>
          </p:nvPr>
        </p:nvSpPr>
        <p:spPr/>
        <p:txBody>
          <a:bodyPr/>
          <a:p>
            <a:fld id="{48A87A34-81AB-432B-8DAE-1953F412C126}" type="datetimeFigureOut">
              <a:rPr dirty="0" lang="en-US"/>
              <a:t>6/14/2023</a:t>
            </a:fld>
            <a:endParaRPr dirty="0" lang="en-US"/>
          </a:p>
        </p:txBody>
      </p:sp>
      <p:sp>
        <p:nvSpPr>
          <p:cNvPr id="1048680" name="Footer Placeholder 5"/>
          <p:cNvSpPr>
            <a:spLocks noGrp="1"/>
          </p:cNvSpPr>
          <p:nvPr>
            <p:ph type="ftr" sz="quarter" idx="11"/>
          </p:nvPr>
        </p:nvSpPr>
        <p:spPr/>
        <p:txBody>
          <a:bodyPr/>
          <a:p>
            <a:endParaRPr dirty="0" lang="en-US"/>
          </a:p>
        </p:txBody>
      </p:sp>
      <p:sp>
        <p:nvSpPr>
          <p:cNvPr id="1048681" name="Slide Number Placeholder 6"/>
          <p:cNvSpPr>
            <a:spLocks noGrp="1"/>
          </p:cNvSpPr>
          <p:nvPr>
            <p:ph type="sldNum" sz="quarter" idx="12"/>
          </p:nvPr>
        </p:nvSpPr>
        <p:spPr/>
        <p:txBody>
          <a:bodyPr/>
          <a:p>
            <a:fld id="{6D22F896-40B5-4ADD-8801-0D06FADFA095}" type="slidenum">
              <a:rPr dirty="0" lang="en-US"/>
              <a:t>‹#›</a:t>
            </a:fld>
            <a:endParaRPr dirty="0" lang="en-US"/>
          </a:p>
        </p:txBody>
      </p:sp>
      <p:cxnSp>
        <p:nvCxnSpPr>
          <p:cNvPr id="3145736" name="Straight Connector 34"/>
          <p:cNvCxnSpPr>
            <a:cxnSpLocks/>
          </p:cNvCxnSpPr>
          <p:nvPr/>
        </p:nvCxnSpPr>
        <p:spPr>
          <a:xfrm>
            <a:off x="1453896" y="1847088"/>
            <a:ext cx="9607522" cy="0"/>
          </a:xfrm>
          <a:prstGeom prst="line"/>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04" name=""/>
        <p:cNvGrpSpPr/>
        <p:nvPr/>
      </p:nvGrpSpPr>
      <p:grpSpPr>
        <a:xfrm>
          <a:off x="0" y="0"/>
          <a:ext cx="0" cy="0"/>
          <a:chOff x="0" y="0"/>
          <a:chExt cx="0" cy="0"/>
        </a:xfrm>
      </p:grpSpPr>
      <p:sp>
        <p:nvSpPr>
          <p:cNvPr id="1048682" name="Title 1"/>
          <p:cNvSpPr>
            <a:spLocks noGrp="1"/>
          </p:cNvSpPr>
          <p:nvPr>
            <p:ph type="title"/>
          </p:nvPr>
        </p:nvSpPr>
        <p:spPr>
          <a:xfrm>
            <a:off x="1447191" y="804163"/>
            <a:ext cx="9607661" cy="1056319"/>
          </a:xfrm>
        </p:spPr>
        <p:txBody>
          <a:bodyPr/>
          <a:p>
            <a:r>
              <a:rPr lang="en-US"/>
              <a:t>Click to edit Master title style</a:t>
            </a:r>
            <a:endParaRPr dirty="0" lang="en-US"/>
          </a:p>
        </p:txBody>
      </p:sp>
      <p:sp>
        <p:nvSpPr>
          <p:cNvPr id="1048683" name="Text Placeholder 2"/>
          <p:cNvSpPr>
            <a:spLocks noGrp="1"/>
          </p:cNvSpPr>
          <p:nvPr>
            <p:ph type="body" idx="1"/>
          </p:nvPr>
        </p:nvSpPr>
        <p:spPr>
          <a:xfrm>
            <a:off x="1447191" y="2019549"/>
            <a:ext cx="4645152" cy="801943"/>
          </a:xfrm>
        </p:spPr>
        <p:txBody>
          <a:bodyPr anchor="b">
            <a:normAutofit/>
          </a:bodyPr>
          <a:lstStyle>
            <a:lvl1pPr indent="0" marL="0">
              <a:lnSpc>
                <a:spcPct val="100000"/>
              </a:lnSpc>
              <a:buNone/>
              <a:defRPr baseline="0" b="0" cap="all" sz="2200">
                <a:solidFill>
                  <a:schemeClr val="accent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84" name="Content Placeholder 3"/>
          <p:cNvSpPr>
            <a:spLocks noGrp="1"/>
          </p:cNvSpPr>
          <p:nvPr>
            <p:ph sz="half" idx="2"/>
          </p:nvPr>
        </p:nvSpPr>
        <p:spPr>
          <a:xfrm>
            <a:off x="1447191" y="2824269"/>
            <a:ext cx="4645152" cy="2644457"/>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85" name="Text Placeholder 4"/>
          <p:cNvSpPr>
            <a:spLocks noGrp="1"/>
          </p:cNvSpPr>
          <p:nvPr>
            <p:ph type="body" sz="quarter" idx="3"/>
          </p:nvPr>
        </p:nvSpPr>
        <p:spPr>
          <a:xfrm>
            <a:off x="6412362" y="2023003"/>
            <a:ext cx="4645152" cy="802237"/>
          </a:xfrm>
        </p:spPr>
        <p:txBody>
          <a:bodyPr anchor="b">
            <a:normAutofit/>
          </a:bodyPr>
          <a:lstStyle>
            <a:lvl1pPr indent="0" marL="0">
              <a:lnSpc>
                <a:spcPct val="100000"/>
              </a:lnSpc>
              <a:buNone/>
              <a:defRPr baseline="0" b="0" cap="all" sz="2200">
                <a:solidFill>
                  <a:schemeClr val="accent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86" name="Content Placeholder 5"/>
          <p:cNvSpPr>
            <a:spLocks noGrp="1"/>
          </p:cNvSpPr>
          <p:nvPr>
            <p:ph sz="quarter" idx="4"/>
          </p:nvPr>
        </p:nvSpPr>
        <p:spPr>
          <a:xfrm>
            <a:off x="6412362" y="2821491"/>
            <a:ext cx="4645152" cy="2637371"/>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87" name="Date Placeholder 6"/>
          <p:cNvSpPr>
            <a:spLocks noGrp="1"/>
          </p:cNvSpPr>
          <p:nvPr>
            <p:ph type="dt" sz="half" idx="10"/>
          </p:nvPr>
        </p:nvSpPr>
        <p:spPr/>
        <p:txBody>
          <a:bodyPr/>
          <a:p>
            <a:fld id="{48A87A34-81AB-432B-8DAE-1953F412C126}" type="datetimeFigureOut">
              <a:rPr dirty="0" lang="en-US"/>
              <a:t>6/14/2023</a:t>
            </a:fld>
            <a:endParaRPr dirty="0" lang="en-US"/>
          </a:p>
        </p:txBody>
      </p:sp>
      <p:sp>
        <p:nvSpPr>
          <p:cNvPr id="1048688" name="Footer Placeholder 7"/>
          <p:cNvSpPr>
            <a:spLocks noGrp="1"/>
          </p:cNvSpPr>
          <p:nvPr>
            <p:ph type="ftr" sz="quarter" idx="11"/>
          </p:nvPr>
        </p:nvSpPr>
        <p:spPr/>
        <p:txBody>
          <a:bodyPr/>
          <a:p>
            <a:endParaRPr dirty="0" lang="en-US"/>
          </a:p>
        </p:txBody>
      </p:sp>
      <p:sp>
        <p:nvSpPr>
          <p:cNvPr id="1048689" name="Slide Number Placeholder 8"/>
          <p:cNvSpPr>
            <a:spLocks noGrp="1"/>
          </p:cNvSpPr>
          <p:nvPr>
            <p:ph type="sldNum" sz="quarter" idx="12"/>
          </p:nvPr>
        </p:nvSpPr>
        <p:spPr/>
        <p:txBody>
          <a:bodyPr/>
          <a:p>
            <a:fld id="{6D22F896-40B5-4ADD-8801-0D06FADFA095}" type="slidenum">
              <a:rPr dirty="0" lang="en-US"/>
              <a:t>‹#›</a:t>
            </a:fld>
            <a:endParaRPr dirty="0" lang="en-US"/>
          </a:p>
        </p:txBody>
      </p:sp>
      <p:cxnSp>
        <p:nvCxnSpPr>
          <p:cNvPr id="3145737" name="Straight Connector 28"/>
          <p:cNvCxnSpPr>
            <a:cxnSpLocks/>
          </p:cNvCxnSpPr>
          <p:nvPr/>
        </p:nvCxnSpPr>
        <p:spPr>
          <a:xfrm>
            <a:off x="1453896" y="1847088"/>
            <a:ext cx="9607522" cy="0"/>
          </a:xfrm>
          <a:prstGeom prst="line"/>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97" name=""/>
        <p:cNvGrpSpPr/>
        <p:nvPr/>
      </p:nvGrpSpPr>
      <p:grpSpPr>
        <a:xfrm>
          <a:off x="0" y="0"/>
          <a:ext cx="0" cy="0"/>
          <a:chOff x="0" y="0"/>
          <a:chExt cx="0" cy="0"/>
        </a:xfrm>
      </p:grpSpPr>
      <p:sp>
        <p:nvSpPr>
          <p:cNvPr id="1048649" name="Title 1"/>
          <p:cNvSpPr>
            <a:spLocks noGrp="1"/>
          </p:cNvSpPr>
          <p:nvPr>
            <p:ph type="title"/>
          </p:nvPr>
        </p:nvSpPr>
        <p:spPr/>
        <p:txBody>
          <a:bodyPr/>
          <a:p>
            <a:r>
              <a:rPr lang="en-US"/>
              <a:t>Click to edit Master title style</a:t>
            </a:r>
            <a:endParaRPr dirty="0" lang="en-US"/>
          </a:p>
        </p:txBody>
      </p:sp>
      <p:sp>
        <p:nvSpPr>
          <p:cNvPr id="1048650" name="Date Placeholder 2"/>
          <p:cNvSpPr>
            <a:spLocks noGrp="1"/>
          </p:cNvSpPr>
          <p:nvPr>
            <p:ph type="dt" sz="half" idx="10"/>
          </p:nvPr>
        </p:nvSpPr>
        <p:spPr/>
        <p:txBody>
          <a:bodyPr/>
          <a:p>
            <a:fld id="{48A87A34-81AB-432B-8DAE-1953F412C126}" type="datetimeFigureOut">
              <a:rPr dirty="0" lang="en-US"/>
              <a:t>6/14/2023</a:t>
            </a:fld>
            <a:endParaRPr dirty="0" lang="en-US"/>
          </a:p>
        </p:txBody>
      </p:sp>
      <p:sp>
        <p:nvSpPr>
          <p:cNvPr id="1048651" name="Footer Placeholder 3"/>
          <p:cNvSpPr>
            <a:spLocks noGrp="1"/>
          </p:cNvSpPr>
          <p:nvPr>
            <p:ph type="ftr" sz="quarter" idx="11"/>
          </p:nvPr>
        </p:nvSpPr>
        <p:spPr/>
        <p:txBody>
          <a:bodyPr/>
          <a:p>
            <a:endParaRPr dirty="0" lang="en-US"/>
          </a:p>
        </p:txBody>
      </p:sp>
      <p:sp>
        <p:nvSpPr>
          <p:cNvPr id="1048652" name="Slide Number Placeholder 4"/>
          <p:cNvSpPr>
            <a:spLocks noGrp="1"/>
          </p:cNvSpPr>
          <p:nvPr>
            <p:ph type="sldNum" sz="quarter" idx="12"/>
          </p:nvPr>
        </p:nvSpPr>
        <p:spPr/>
        <p:txBody>
          <a:bodyPr/>
          <a:p>
            <a:fld id="{6D22F896-40B5-4ADD-8801-0D06FADFA095}" type="slidenum">
              <a:rPr dirty="0" lang="en-US"/>
              <a:t>‹#›</a:t>
            </a:fld>
            <a:endParaRPr dirty="0" lang="en-US"/>
          </a:p>
        </p:txBody>
      </p:sp>
      <p:cxnSp>
        <p:nvCxnSpPr>
          <p:cNvPr id="3145731" name="Straight Connector 24"/>
          <p:cNvCxnSpPr>
            <a:cxnSpLocks/>
          </p:cNvCxnSpPr>
          <p:nvPr/>
        </p:nvCxnSpPr>
        <p:spPr>
          <a:xfrm>
            <a:off x="1453896" y="1847088"/>
            <a:ext cx="9607522" cy="0"/>
          </a:xfrm>
          <a:prstGeom prst="line"/>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105" name=""/>
        <p:cNvGrpSpPr/>
        <p:nvPr/>
      </p:nvGrpSpPr>
      <p:grpSpPr>
        <a:xfrm>
          <a:off x="0" y="0"/>
          <a:ext cx="0" cy="0"/>
          <a:chOff x="0" y="0"/>
          <a:chExt cx="0" cy="0"/>
        </a:xfrm>
      </p:grpSpPr>
      <p:sp>
        <p:nvSpPr>
          <p:cNvPr id="1048690" name="Date Placeholder 1"/>
          <p:cNvSpPr>
            <a:spLocks noGrp="1"/>
          </p:cNvSpPr>
          <p:nvPr>
            <p:ph type="dt" sz="half" idx="10"/>
          </p:nvPr>
        </p:nvSpPr>
        <p:spPr/>
        <p:txBody>
          <a:bodyPr/>
          <a:p>
            <a:fld id="{48A87A34-81AB-432B-8DAE-1953F412C126}" type="datetimeFigureOut">
              <a:rPr dirty="0" lang="en-US"/>
              <a:t>6/14/2023</a:t>
            </a:fld>
            <a:endParaRPr dirty="0" lang="en-US"/>
          </a:p>
        </p:txBody>
      </p:sp>
      <p:sp>
        <p:nvSpPr>
          <p:cNvPr id="1048691" name="Footer Placeholder 2"/>
          <p:cNvSpPr>
            <a:spLocks noGrp="1"/>
          </p:cNvSpPr>
          <p:nvPr>
            <p:ph type="ftr" sz="quarter" idx="11"/>
          </p:nvPr>
        </p:nvSpPr>
        <p:spPr/>
        <p:txBody>
          <a:bodyPr/>
          <a:p>
            <a:endParaRPr dirty="0" lang="en-US"/>
          </a:p>
        </p:txBody>
      </p:sp>
      <p:sp>
        <p:nvSpPr>
          <p:cNvPr id="1048692" name="Slide Number Placeholder 3"/>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06" name=""/>
        <p:cNvGrpSpPr/>
        <p:nvPr/>
      </p:nvGrpSpPr>
      <p:grpSpPr>
        <a:xfrm>
          <a:off x="0" y="0"/>
          <a:ext cx="0" cy="0"/>
          <a:chOff x="0" y="0"/>
          <a:chExt cx="0" cy="0"/>
        </a:xfrm>
      </p:grpSpPr>
      <p:sp>
        <p:nvSpPr>
          <p:cNvPr id="1048693"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dirty="0" lang="en-US"/>
          </a:p>
        </p:txBody>
      </p:sp>
      <p:sp>
        <p:nvSpPr>
          <p:cNvPr id="1048694" name="Content Placeholder 2"/>
          <p:cNvSpPr>
            <a:spLocks noGrp="1"/>
          </p:cNvSpPr>
          <p:nvPr>
            <p:ph idx="1"/>
          </p:nvPr>
        </p:nvSpPr>
        <p:spPr>
          <a:xfrm>
            <a:off x="5043714" y="798974"/>
            <a:ext cx="6012470" cy="4658826"/>
          </a:xfrm>
        </p:spPr>
        <p:txBody>
          <a:bodyPr anchor="ct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95" name="Text Placeholder 3"/>
          <p:cNvSpPr>
            <a:spLocks noGrp="1"/>
          </p:cNvSpPr>
          <p:nvPr>
            <p:ph type="body" sz="half" idx="2"/>
          </p:nvPr>
        </p:nvSpPr>
        <p:spPr>
          <a:xfrm>
            <a:off x="1444671" y="3205491"/>
            <a:ext cx="3275013" cy="2248181"/>
          </a:xfrm>
        </p:spPr>
        <p:txBody>
          <a:bodyPr/>
          <a:lstStyle>
            <a:lvl1pPr algn="l"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96" name="Date Placeholder 4"/>
          <p:cNvSpPr>
            <a:spLocks noGrp="1"/>
          </p:cNvSpPr>
          <p:nvPr>
            <p:ph type="dt" sz="half" idx="10"/>
          </p:nvPr>
        </p:nvSpPr>
        <p:spPr/>
        <p:txBody>
          <a:bodyPr/>
          <a:p>
            <a:fld id="{48A87A34-81AB-432B-8DAE-1953F412C126}" type="datetimeFigureOut">
              <a:rPr dirty="0" lang="en-US"/>
              <a:t>6/14/2023</a:t>
            </a:fld>
            <a:endParaRPr dirty="0" lang="en-US"/>
          </a:p>
        </p:txBody>
      </p:sp>
      <p:sp>
        <p:nvSpPr>
          <p:cNvPr id="1048697" name="Footer Placeholder 5"/>
          <p:cNvSpPr>
            <a:spLocks noGrp="1"/>
          </p:cNvSpPr>
          <p:nvPr>
            <p:ph type="ftr" sz="quarter" idx="11"/>
          </p:nvPr>
        </p:nvSpPr>
        <p:spPr/>
        <p:txBody>
          <a:bodyPr/>
          <a:p>
            <a:endParaRPr dirty="0" lang="en-US"/>
          </a:p>
        </p:txBody>
      </p:sp>
      <p:sp>
        <p:nvSpPr>
          <p:cNvPr id="1048698" name="Slide Number Placeholder 6"/>
          <p:cNvSpPr>
            <a:spLocks noGrp="1"/>
          </p:cNvSpPr>
          <p:nvPr>
            <p:ph type="sldNum" sz="quarter" idx="12"/>
          </p:nvPr>
        </p:nvSpPr>
        <p:spPr/>
        <p:txBody>
          <a:bodyPr/>
          <a:p>
            <a:fld id="{6D22F896-40B5-4ADD-8801-0D06FADFA095}" type="slidenum">
              <a:rPr dirty="0" lang="en-US"/>
              <a:t>‹#›</a:t>
            </a:fld>
            <a:endParaRPr dirty="0" lang="en-US"/>
          </a:p>
        </p:txBody>
      </p:sp>
      <p:cxnSp>
        <p:nvCxnSpPr>
          <p:cNvPr id="3145738" name="Straight Connector 16"/>
          <p:cNvCxnSpPr>
            <a:cxnSpLocks/>
          </p:cNvCxnSpPr>
          <p:nvPr/>
        </p:nvCxnSpPr>
        <p:spPr>
          <a:xfrm>
            <a:off x="1448280" y="3205491"/>
            <a:ext cx="3269490" cy="0"/>
          </a:xfrm>
          <a:prstGeom prst="line"/>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99" name=""/>
        <p:cNvGrpSpPr/>
        <p:nvPr/>
      </p:nvGrpSpPr>
      <p:grpSpPr>
        <a:xfrm>
          <a:off x="0" y="0"/>
          <a:ext cx="0" cy="0"/>
          <a:chOff x="0" y="0"/>
          <a:chExt cx="0" cy="0"/>
        </a:xfrm>
      </p:grpSpPr>
      <p:grpSp>
        <p:nvGrpSpPr>
          <p:cNvPr id="100" name="Group 7"/>
          <p:cNvGrpSpPr/>
          <p:nvPr/>
        </p:nvGrpSpPr>
        <p:grpSpPr>
          <a:xfrm>
            <a:off x="7477387" y="482170"/>
            <a:ext cx="4074533" cy="5149101"/>
            <a:chOff x="7477387" y="482170"/>
            <a:chExt cx="4074533" cy="5149101"/>
          </a:xfrm>
        </p:grpSpPr>
        <p:sp>
          <p:nvSpPr>
            <p:cNvPr id="1048658" name="Rectangle 17"/>
            <p:cNvSpPr/>
            <p:nvPr/>
          </p:nvSpPr>
          <p:spPr bwMode="black">
            <a:xfrm>
              <a:off x="7477387" y="482170"/>
              <a:ext cx="4074533" cy="5149101"/>
            </a:xfrm>
            <a:prstGeom prst="rect"/>
            <a:gradFill>
              <a:gsLst>
                <a:gs pos="0">
                  <a:srgbClr val="000001"/>
                </a:gs>
                <a:gs pos="100000">
                  <a:srgbClr val="191919"/>
                </a:gs>
              </a:gsLst>
            </a:gradFill>
            <a:ln w="76200" cmpd="sng">
              <a:noFill/>
              <a:miter lim="800000"/>
            </a:ln>
            <a:effectLst>
              <a:outerShdw algn="tl" blurRad="127000" dir="4740000" dist="228600" rotWithShape="0" sx="98000" sy="98000">
                <a:srgbClr val="000000">
                  <a:alpha val="34000"/>
                </a:srgbClr>
              </a:outerShdw>
            </a:effectLst>
            <a:scene3d>
              <a:camera prst="orthographicFront"/>
              <a:lightRig dir="t" rig="threeP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048659" name="Rectangle 18"/>
            <p:cNvSpPr/>
            <p:nvPr/>
          </p:nvSpPr>
          <p:spPr bwMode="blackWhite">
            <a:xfrm>
              <a:off x="7790446" y="812506"/>
              <a:ext cx="3450289" cy="4466452"/>
            </a:xfrm>
            <a:prstGeom prst="rect"/>
            <a:gradFill>
              <a:gsLst>
                <a:gs pos="0">
                  <a:srgbClr val="DADADA"/>
                </a:gs>
                <a:gs pos="100000">
                  <a:srgbClr val="FFFFFE"/>
                </a:gs>
              </a:gsLst>
              <a:lin ang="16200000" scaled="0"/>
            </a:gradFill>
            <a:ln w="50800" cmpd="sng">
              <a:solidFill>
                <a:srgbClr val="191919"/>
              </a:solidFill>
              <a:miter lim="800000"/>
            </a:ln>
            <a:effectLst>
              <a:innerShdw blurRad="63500" dir="14100000" dist="88900">
                <a:srgbClr val="000000">
                  <a:alpha val="30000"/>
                </a:srgbClr>
              </a:innerShdw>
            </a:effectLst>
            <a:scene3d>
              <a:camera prst="orthographicFront"/>
              <a:lightRig dir="t" rig="threeP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1048660"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dirty="0" lang="en-US"/>
          </a:p>
        </p:txBody>
      </p:sp>
      <p:sp>
        <p:nvSpPr>
          <p:cNvPr id="1048661" name="Picture Placeholder 2"/>
          <p:cNvSpPr>
            <a:spLocks noChangeAspect="1" noGrp="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algn="ct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r>
              <a:rPr lang="en-US"/>
              <a:t>Click icon to add picture</a:t>
            </a:r>
            <a:endParaRPr dirty="0" lang="en-US"/>
          </a:p>
        </p:txBody>
      </p:sp>
      <p:sp>
        <p:nvSpPr>
          <p:cNvPr id="1048662" name="Text Placeholder 3"/>
          <p:cNvSpPr>
            <a:spLocks noGrp="1"/>
          </p:cNvSpPr>
          <p:nvPr>
            <p:ph type="body" sz="half" idx="2"/>
          </p:nvPr>
        </p:nvSpPr>
        <p:spPr>
          <a:xfrm>
            <a:off x="1450329" y="3145992"/>
            <a:ext cx="5524404" cy="2003742"/>
          </a:xfrm>
        </p:spPr>
        <p:txBody>
          <a:bodyPr>
            <a:normAutofit/>
          </a:bodyPr>
          <a:lstStyle>
            <a:lvl1pPr algn="l" indent="0" marL="0">
              <a:buNone/>
              <a:defRPr sz="18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63" name="Date Placeholder 4"/>
          <p:cNvSpPr>
            <a:spLocks noGrp="1"/>
          </p:cNvSpPr>
          <p:nvPr>
            <p:ph type="dt" sz="half" idx="10"/>
          </p:nvPr>
        </p:nvSpPr>
        <p:spPr>
          <a:xfrm>
            <a:off x="1447382" y="5469856"/>
            <a:ext cx="5527351" cy="320123"/>
          </a:xfrm>
        </p:spPr>
        <p:txBody>
          <a:bodyPr/>
          <a:lstStyle>
            <a:lvl1pPr algn="l"/>
          </a:lstStyle>
          <a:p>
            <a:fld id="{48A87A34-81AB-432B-8DAE-1953F412C126}" type="datetimeFigureOut">
              <a:rPr dirty="0" lang="en-US"/>
              <a:t>6/14/2023</a:t>
            </a:fld>
            <a:endParaRPr dirty="0" lang="en-US"/>
          </a:p>
        </p:txBody>
      </p:sp>
      <p:sp>
        <p:nvSpPr>
          <p:cNvPr id="1048664" name="Footer Placeholder 5"/>
          <p:cNvSpPr>
            <a:spLocks noGrp="1"/>
          </p:cNvSpPr>
          <p:nvPr>
            <p:ph type="ftr" sz="quarter" idx="11"/>
          </p:nvPr>
        </p:nvSpPr>
        <p:spPr>
          <a:xfrm>
            <a:off x="1447382" y="318640"/>
            <a:ext cx="5541004" cy="320931"/>
          </a:xfrm>
        </p:spPr>
        <p:txBody>
          <a:bodyPr/>
          <a:p>
            <a:endParaRPr dirty="0" lang="en-US"/>
          </a:p>
        </p:txBody>
      </p:sp>
      <p:sp>
        <p:nvSpPr>
          <p:cNvPr id="1048665" name="Slide Number Placeholder 6"/>
          <p:cNvSpPr>
            <a:spLocks noGrp="1"/>
          </p:cNvSpPr>
          <p:nvPr>
            <p:ph type="sldNum" sz="quarter" idx="12"/>
          </p:nvPr>
        </p:nvSpPr>
        <p:spPr/>
        <p:txBody>
          <a:bodyPr/>
          <a:p>
            <a:fld id="{6D22F896-40B5-4ADD-8801-0D06FADFA095}" type="slidenum">
              <a:rPr dirty="0" lang="en-US"/>
              <a:t>‹#›</a:t>
            </a:fld>
            <a:endParaRPr dirty="0" lang="en-US"/>
          </a:p>
        </p:txBody>
      </p:sp>
      <p:cxnSp>
        <p:nvCxnSpPr>
          <p:cNvPr id="3145733" name="Straight Connector 30"/>
          <p:cNvCxnSpPr>
            <a:cxnSpLocks/>
          </p:cNvCxnSpPr>
          <p:nvPr/>
        </p:nvCxnSpPr>
        <p:spPr>
          <a:xfrm>
            <a:off x="1447382" y="3143605"/>
            <a:ext cx="5527351" cy="0"/>
          </a:xfrm>
          <a:prstGeom prst="line"/>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01" name=""/>
        <p:cNvGrpSpPr/>
        <p:nvPr/>
      </p:nvGrpSpPr>
      <p:grpSpPr>
        <a:xfrm>
          <a:off x="0" y="0"/>
          <a:ext cx="0" cy="0"/>
          <a:chOff x="0" y="0"/>
          <a:chExt cx="0" cy="0"/>
        </a:xfrm>
      </p:grpSpPr>
      <p:sp>
        <p:nvSpPr>
          <p:cNvPr id="1048666" name="Title 1"/>
          <p:cNvSpPr>
            <a:spLocks noGrp="1"/>
          </p:cNvSpPr>
          <p:nvPr>
            <p:ph type="title"/>
          </p:nvPr>
        </p:nvSpPr>
        <p:spPr/>
        <p:txBody>
          <a:bodyPr/>
          <a:p>
            <a:r>
              <a:rPr lang="en-US"/>
              <a:t>Click to edit Master title style</a:t>
            </a:r>
            <a:endParaRPr dirty="0" lang="en-US"/>
          </a:p>
        </p:txBody>
      </p:sp>
      <p:sp>
        <p:nvSpPr>
          <p:cNvPr id="1048667" name="Vertical Text Placeholder 2"/>
          <p:cNvSpPr>
            <a:spLocks noGrp="1"/>
          </p:cNvSpPr>
          <p:nvPr>
            <p:ph type="body" orient="vert" idx="1"/>
          </p:nvPr>
        </p:nvSpPr>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68" name="Date Placeholder 3"/>
          <p:cNvSpPr>
            <a:spLocks noGrp="1"/>
          </p:cNvSpPr>
          <p:nvPr>
            <p:ph type="dt" sz="half" idx="10"/>
          </p:nvPr>
        </p:nvSpPr>
        <p:spPr/>
        <p:txBody>
          <a:bodyPr/>
          <a:p>
            <a:fld id="{48A87A34-81AB-432B-8DAE-1953F412C126}" type="datetimeFigureOut">
              <a:rPr dirty="0" lang="en-US"/>
              <a:t>6/14/2023</a:t>
            </a:fld>
            <a:endParaRPr dirty="0" lang="en-US"/>
          </a:p>
        </p:txBody>
      </p:sp>
      <p:sp>
        <p:nvSpPr>
          <p:cNvPr id="1048669" name="Footer Placeholder 4"/>
          <p:cNvSpPr>
            <a:spLocks noGrp="1"/>
          </p:cNvSpPr>
          <p:nvPr>
            <p:ph type="ftr" sz="quarter" idx="11"/>
          </p:nvPr>
        </p:nvSpPr>
        <p:spPr/>
        <p:txBody>
          <a:bodyPr/>
          <a:p>
            <a:endParaRPr dirty="0" lang="en-US"/>
          </a:p>
        </p:txBody>
      </p:sp>
      <p:sp>
        <p:nvSpPr>
          <p:cNvPr id="1048670" name="Slide Number Placeholder 5"/>
          <p:cNvSpPr>
            <a:spLocks noGrp="1"/>
          </p:cNvSpPr>
          <p:nvPr>
            <p:ph type="sldNum" sz="quarter" idx="12"/>
          </p:nvPr>
        </p:nvSpPr>
        <p:spPr/>
        <p:txBody>
          <a:bodyPr/>
          <a:p>
            <a:fld id="{6D22F896-40B5-4ADD-8801-0D06FADFA095}" type="slidenum">
              <a:rPr dirty="0" lang="en-US"/>
              <a:t>‹#›</a:t>
            </a:fld>
            <a:endParaRPr dirty="0" lang="en-US"/>
          </a:p>
        </p:txBody>
      </p:sp>
      <p:cxnSp>
        <p:nvCxnSpPr>
          <p:cNvPr id="3145734" name="Straight Connector 25"/>
          <p:cNvCxnSpPr>
            <a:cxnSpLocks/>
          </p:cNvCxnSpPr>
          <p:nvPr/>
        </p:nvCxnSpPr>
        <p:spPr>
          <a:xfrm>
            <a:off x="1453896" y="1847088"/>
            <a:ext cx="9607522" cy="0"/>
          </a:xfrm>
          <a:prstGeom prst="line"/>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98" name=""/>
        <p:cNvGrpSpPr/>
        <p:nvPr/>
      </p:nvGrpSpPr>
      <p:grpSpPr>
        <a:xfrm>
          <a:off x="0" y="0"/>
          <a:ext cx="0" cy="0"/>
          <a:chOff x="0" y="0"/>
          <a:chExt cx="0" cy="0"/>
        </a:xfrm>
      </p:grpSpPr>
      <p:sp>
        <p:nvSpPr>
          <p:cNvPr id="1048653" name="Vertical Title 1"/>
          <p:cNvSpPr>
            <a:spLocks noGrp="1"/>
          </p:cNvSpPr>
          <p:nvPr>
            <p:ph type="title" orient="vert"/>
          </p:nvPr>
        </p:nvSpPr>
        <p:spPr>
          <a:xfrm>
            <a:off x="9439111" y="798973"/>
            <a:ext cx="1615742" cy="4659889"/>
          </a:xfrm>
        </p:spPr>
        <p:txBody>
          <a:bodyPr vert="eaVert"/>
          <a:lstStyle>
            <a:lvl1pPr algn="l"/>
          </a:lstStyle>
          <a:p>
            <a:r>
              <a:rPr lang="en-US"/>
              <a:t>Click to edit Master title style</a:t>
            </a:r>
            <a:endParaRPr dirty="0" lang="en-US"/>
          </a:p>
        </p:txBody>
      </p:sp>
      <p:sp>
        <p:nvSpPr>
          <p:cNvPr id="1048654" name="Vertical Text Placeholder 2"/>
          <p:cNvSpPr>
            <a:spLocks noGrp="1"/>
          </p:cNvSpPr>
          <p:nvPr>
            <p:ph type="body" orient="vert" idx="1"/>
          </p:nvPr>
        </p:nvSpPr>
        <p:spPr>
          <a:xfrm>
            <a:off x="1444672" y="798973"/>
            <a:ext cx="7828830" cy="4659889"/>
          </a:xfrm>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55" name="Date Placeholder 3"/>
          <p:cNvSpPr>
            <a:spLocks noGrp="1"/>
          </p:cNvSpPr>
          <p:nvPr>
            <p:ph type="dt" sz="half" idx="10"/>
          </p:nvPr>
        </p:nvSpPr>
        <p:spPr/>
        <p:txBody>
          <a:bodyPr/>
          <a:p>
            <a:fld id="{48A87A34-81AB-432B-8DAE-1953F412C126}" type="datetimeFigureOut">
              <a:rPr dirty="0" lang="en-US"/>
              <a:t>6/14/2023</a:t>
            </a:fld>
            <a:endParaRPr dirty="0" lang="en-US"/>
          </a:p>
        </p:txBody>
      </p:sp>
      <p:sp>
        <p:nvSpPr>
          <p:cNvPr id="1048656" name="Footer Placeholder 4"/>
          <p:cNvSpPr>
            <a:spLocks noGrp="1"/>
          </p:cNvSpPr>
          <p:nvPr>
            <p:ph type="ftr" sz="quarter" idx="11"/>
          </p:nvPr>
        </p:nvSpPr>
        <p:spPr/>
        <p:txBody>
          <a:bodyPr/>
          <a:p>
            <a:endParaRPr dirty="0" lang="en-US"/>
          </a:p>
        </p:txBody>
      </p:sp>
      <p:sp>
        <p:nvSpPr>
          <p:cNvPr id="1048657" name="Slide Number Placeholder 5"/>
          <p:cNvSpPr>
            <a:spLocks noGrp="1"/>
          </p:cNvSpPr>
          <p:nvPr>
            <p:ph type="sldNum" sz="quarter" idx="12"/>
          </p:nvPr>
        </p:nvSpPr>
        <p:spPr/>
        <p:txBody>
          <a:bodyPr/>
          <a:p>
            <a:fld id="{6D22F896-40B5-4ADD-8801-0D06FADFA095}" type="slidenum">
              <a:rPr dirty="0" lang="en-US"/>
              <a:t>‹#›</a:t>
            </a:fld>
            <a:endParaRPr dirty="0" lang="en-US"/>
          </a:p>
        </p:txBody>
      </p:sp>
      <p:cxnSp>
        <p:nvCxnSpPr>
          <p:cNvPr id="3145732" name="Straight Connector 14"/>
          <p:cNvCxnSpPr>
            <a:cxnSpLocks/>
          </p:cNvCxnSpPr>
          <p:nvPr/>
        </p:nvCxnSpPr>
        <p:spPr>
          <a:xfrm>
            <a:off x="9439111" y="798973"/>
            <a:ext cx="0" cy="4659889"/>
          </a:xfrm>
          <a:prstGeom prst="line"/>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image" Target="../media/image1.jpeg"/><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1" name=""/>
        <p:cNvGrpSpPr/>
        <p:nvPr/>
      </p:nvGrpSpPr>
      <p:grpSpPr>
        <a:xfrm>
          <a:off x="0" y="0"/>
          <a:ext cx="0" cy="0"/>
          <a:chOff x="0" y="0"/>
          <a:chExt cx="0" cy="0"/>
        </a:xfrm>
      </p:grpSpPr>
      <p:sp>
        <p:nvSpPr>
          <p:cNvPr id="1048576" name="Rectangle 7"/>
          <p:cNvSpPr/>
          <p:nvPr/>
        </p:nvSpPr>
        <p:spPr>
          <a:xfrm>
            <a:off x="0" y="2019476"/>
            <a:ext cx="12192000" cy="4105941"/>
          </a:xfrm>
          <a:prstGeom prst="rect"/>
          <a:gradFill flip="none" rotWithShape="1">
            <a:gsLst>
              <a:gs pos="0">
                <a:schemeClr val="bg2">
                  <a:alpha val="0"/>
                </a:schemeClr>
              </a:gs>
              <a:gs pos="100000">
                <a:schemeClr val="bg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2097152" name="Picture 6"/>
          <p:cNvPicPr>
            <a:picLocks noChangeAspect="1"/>
          </p:cNvPicPr>
          <p:nvPr/>
        </p:nvPicPr>
        <p:blipFill rotWithShape="1">
          <a:blip xmlns:r="http://schemas.openxmlformats.org/officeDocument/2006/relationships" r:embed="rId12"/>
          <a:srcRect t="1538" b="-1538"/>
          <a:stretch>
            <a:fillRect/>
          </a:stretch>
        </p:blipFill>
        <p:spPr bwMode="black">
          <a:xfrm>
            <a:off x="0" y="6126480"/>
            <a:ext cx="12192000" cy="742950"/>
          </a:xfrm>
          <a:prstGeom prst="rect"/>
        </p:spPr>
      </p:pic>
      <p:sp>
        <p:nvSpPr>
          <p:cNvPr id="1048577" name="Title Placeholder 1"/>
          <p:cNvSpPr>
            <a:spLocks noGrp="1"/>
          </p:cNvSpPr>
          <p:nvPr>
            <p:ph type="title"/>
          </p:nvPr>
        </p:nvSpPr>
        <p:spPr>
          <a:xfrm>
            <a:off x="1451579" y="804519"/>
            <a:ext cx="9603275" cy="1049235"/>
          </a:xfrm>
          <a:prstGeom prst="rect"/>
        </p:spPr>
        <p:txBody>
          <a:bodyPr anchor="t" bIns="45720" lIns="91440" rIns="91440" rtlCol="0" tIns="45720" vert="horz">
            <a:normAutofit/>
          </a:bodyPr>
          <a:p>
            <a:r>
              <a:rPr lang="en-US"/>
              <a:t>Click to edit Master title style</a:t>
            </a:r>
            <a:endParaRPr dirty="0" lang="en-US"/>
          </a:p>
        </p:txBody>
      </p:sp>
      <p:sp>
        <p:nvSpPr>
          <p:cNvPr id="1048578" name="Text Placeholder 2"/>
          <p:cNvSpPr>
            <a:spLocks noGrp="1"/>
          </p:cNvSpPr>
          <p:nvPr>
            <p:ph type="body" idx="1"/>
          </p:nvPr>
        </p:nvSpPr>
        <p:spPr>
          <a:xfrm>
            <a:off x="1451579" y="2015732"/>
            <a:ext cx="9603275" cy="3450613"/>
          </a:xfrm>
          <a:prstGeom prst="rect"/>
        </p:spPr>
        <p:txBody>
          <a:bodyPr bIns="45720" lIns="91440" rIns="91440" rtlCol="0" tIns="45720" vert="horz">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579" name="Date Placeholder 3"/>
          <p:cNvSpPr>
            <a:spLocks noGrp="1"/>
          </p:cNvSpPr>
          <p:nvPr>
            <p:ph type="dt" sz="half" idx="2"/>
          </p:nvPr>
        </p:nvSpPr>
        <p:spPr>
          <a:xfrm>
            <a:off x="7554138" y="330370"/>
            <a:ext cx="3500715" cy="309201"/>
          </a:xfrm>
          <a:prstGeom prst="rect"/>
        </p:spPr>
        <p:txBody>
          <a:bodyPr anchor="ctr" bIns="45720" lIns="91440" rIns="91440" rtlCol="0" tIns="45720" vert="horz"/>
          <a:lstStyle>
            <a:lvl1pPr algn="r">
              <a:defRPr sz="1000">
                <a:solidFill>
                  <a:schemeClr val="tx1">
                    <a:tint val="75000"/>
                  </a:schemeClr>
                </a:solidFill>
              </a:defRPr>
            </a:lvl1pPr>
          </a:lstStyle>
          <a:p>
            <a:fld id="{48A87A34-81AB-432B-8DAE-1953F412C126}" type="datetimeFigureOut">
              <a:rPr dirty="0" lang="en-US"/>
              <a:t>6/14/2023</a:t>
            </a:fld>
            <a:endParaRPr dirty="0" lang="en-US"/>
          </a:p>
        </p:txBody>
      </p:sp>
      <p:sp>
        <p:nvSpPr>
          <p:cNvPr id="1048580" name="Footer Placeholder 4"/>
          <p:cNvSpPr>
            <a:spLocks noGrp="1"/>
          </p:cNvSpPr>
          <p:nvPr>
            <p:ph type="ftr" sz="quarter" idx="3"/>
          </p:nvPr>
        </p:nvSpPr>
        <p:spPr>
          <a:xfrm>
            <a:off x="1451579" y="329307"/>
            <a:ext cx="5938836" cy="309201"/>
          </a:xfrm>
          <a:prstGeom prst="rect"/>
        </p:spPr>
        <p:txBody>
          <a:bodyPr anchor="ctr" bIns="45720" lIns="91440" rIns="91440" rtlCol="0" tIns="45720" vert="horz"/>
          <a:lstStyle>
            <a:lvl1pPr algn="l">
              <a:defRPr sz="1000">
                <a:solidFill>
                  <a:schemeClr val="tx1">
                    <a:tint val="75000"/>
                  </a:schemeClr>
                </a:solidFill>
              </a:defRPr>
            </a:lvl1pPr>
          </a:lstStyle>
          <a:p>
            <a:endParaRPr dirty="0" lang="en-US"/>
          </a:p>
        </p:txBody>
      </p:sp>
      <p:sp>
        <p:nvSpPr>
          <p:cNvPr id="1048581" name="Slide Number Placeholder 5"/>
          <p:cNvSpPr>
            <a:spLocks noGrp="1"/>
          </p:cNvSpPr>
          <p:nvPr>
            <p:ph type="sldNum" sz="quarter" idx="4"/>
          </p:nvPr>
        </p:nvSpPr>
        <p:spPr>
          <a:xfrm>
            <a:off x="480060" y="798973"/>
            <a:ext cx="811019" cy="503578"/>
          </a:xfrm>
          <a:prstGeom prst="rect"/>
        </p:spPr>
        <p:txBody>
          <a:bodyPr anchor="t" bIns="45720" lIns="91440" rIns="91440" rtlCol="0" tIns="45720" vert="horz"/>
          <a:lstStyle>
            <a:lvl1pPr algn="r">
              <a:defRPr sz="2800">
                <a:solidFill>
                  <a:schemeClr val="accent1"/>
                </a:solidFill>
              </a:defRPr>
            </a:lvl1pPr>
          </a:lstStyle>
          <a:p>
            <a:fld id="{6D22F896-40B5-4ADD-8801-0D06FADFA095}" type="slidenum">
              <a:rPr dirty="0" lang="en-US"/>
              <a:t>‹#›</a:t>
            </a:fld>
            <a:endParaRPr dirty="0" lang="en-US"/>
          </a:p>
        </p:txBody>
      </p:sp>
      <p:cxnSp>
        <p:nvCxnSpPr>
          <p:cNvPr id="3145728" name="Straight Connector 9"/>
          <p:cNvCxnSpPr>
            <a:cxnSpLocks/>
          </p:cNvCxnSpPr>
          <p:nvPr/>
        </p:nvCxnSpPr>
        <p:spPr>
          <a:xfrm>
            <a:off x="0" y="6128413"/>
            <a:ext cx="12192000" cy="0"/>
          </a:xfrm>
          <a:prstGeom prst="line"/>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eaLnBrk="1" hangingPunct="1" latinLnBrk="0" rtl="0">
        <a:lnSpc>
          <a:spcPct val="90000"/>
        </a:lnSpc>
        <a:spcBef>
          <a:spcPct val="0"/>
        </a:spcBef>
        <a:buNone/>
        <a:defRPr b="0" cap="all" sz="3200" i="0" kern="1200">
          <a:solidFill>
            <a:schemeClr val="tx1"/>
          </a:solidFill>
          <a:effectLst/>
          <a:latin typeface="+mj-lt"/>
          <a:ea typeface="+mj-ea"/>
          <a:cs typeface="+mj-cs"/>
        </a:defRPr>
      </a:lvl1pPr>
    </p:titleStyle>
    <p:bodyStyle>
      <a:lvl1pPr algn="l" defTabSz="914400" eaLnBrk="1" hangingPunct="1" indent="-228600" latinLnBrk="0" marL="228600" rtl="0">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algn="l" defTabSz="914400" eaLnBrk="1" hangingPunct="1" indent="-228600" latinLnBrk="0" marL="685800" rtl="0">
        <a:lnSpc>
          <a:spcPct val="120000"/>
        </a:lnSpc>
        <a:spcBef>
          <a:spcPts val="500"/>
        </a:spcBef>
        <a:buClr>
          <a:schemeClr val="accent1"/>
        </a:buClr>
        <a:buSzPct val="100000"/>
        <a:buFont typeface="Arial" panose="020B0604020202020204" pitchFamily="34" charset="0"/>
        <a:buChar char="•"/>
        <a:defRPr baseline="0" cap="none" sz="1800" kern="1200">
          <a:solidFill>
            <a:schemeClr val="tx1"/>
          </a:solidFill>
          <a:effectLst/>
          <a:latin typeface="+mn-lt"/>
          <a:ea typeface="+mn-ea"/>
          <a:cs typeface="+mn-cs"/>
        </a:defRPr>
      </a:lvl2pPr>
      <a:lvl3pPr algn="l" defTabSz="914400" eaLnBrk="1" hangingPunct="1" indent="-228600" latinLnBrk="0" marL="1143000" rtl="0">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algn="l" defTabSz="914400" eaLnBrk="1" hangingPunct="1" indent="-228600" latinLnBrk="0" marL="1600200" rtl="0">
        <a:lnSpc>
          <a:spcPct val="120000"/>
        </a:lnSpc>
        <a:spcBef>
          <a:spcPts val="500"/>
        </a:spcBef>
        <a:buClr>
          <a:schemeClr val="accent1"/>
        </a:buClr>
        <a:buSzPct val="100000"/>
        <a:buFont typeface="Arial" panose="020B0604020202020204" pitchFamily="34" charset="0"/>
        <a:buChar char="•"/>
        <a:defRPr baseline="0" cap="none" sz="1400" kern="1200">
          <a:solidFill>
            <a:schemeClr val="tx1"/>
          </a:solidFill>
          <a:effectLst/>
          <a:latin typeface="+mn-lt"/>
          <a:ea typeface="+mn-ea"/>
          <a:cs typeface="+mn-cs"/>
        </a:defRPr>
      </a:lvl4pPr>
      <a:lvl5pPr algn="l" defTabSz="914400" eaLnBrk="1" hangingPunct="1" indent="-228600" latinLnBrk="0" marL="2057400" rtl="0">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algn="l" defTabSz="914400" eaLnBrk="1" hangingPunct="1" indent="-228600" latinLnBrk="0" marL="2514600" rtl="0">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algn="l" defTabSz="914400" eaLnBrk="1" hangingPunct="1" indent="-228600" latinLnBrk="0" marL="2971800" rtl="0">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algn="l" defTabSz="914400" eaLnBrk="1" hangingPunct="1" indent="-228600" latinLnBrk="0" marL="3429000" rtl="0">
        <a:lnSpc>
          <a:spcPct val="120000"/>
        </a:lnSpc>
        <a:spcBef>
          <a:spcPts val="500"/>
        </a:spcBef>
        <a:buClr>
          <a:schemeClr val="accent1"/>
        </a:buClr>
        <a:buSzPct val="100000"/>
        <a:buFont typeface="Arial" panose="020B0604020202020204" pitchFamily="34" charset="0"/>
        <a:buChar char="•"/>
        <a:defRPr baseline="0" sz="1200" kern="1200">
          <a:solidFill>
            <a:schemeClr val="tx1"/>
          </a:solidFill>
          <a:effectLst/>
          <a:latin typeface="+mn-lt"/>
          <a:ea typeface="+mn-ea"/>
          <a:cs typeface="+mn-cs"/>
        </a:defRPr>
      </a:lvl8pPr>
      <a:lvl9pPr algn="l" defTabSz="914400" eaLnBrk="1" hangingPunct="1" indent="-228600" latinLnBrk="0" marL="3886200" rtl="0">
        <a:lnSpc>
          <a:spcPct val="120000"/>
        </a:lnSpc>
        <a:spcBef>
          <a:spcPts val="500"/>
        </a:spcBef>
        <a:buClr>
          <a:schemeClr val="accent1"/>
        </a:buClr>
        <a:buSzPct val="100000"/>
        <a:buFont typeface="Arial" panose="020B0604020202020204" pitchFamily="34" charset="0"/>
        <a:buChar char="•"/>
        <a:defRPr baseline="0" sz="1200" kern="1200">
          <a:solidFill>
            <a:schemeClr val="tx1"/>
          </a:solidFill>
          <a:effectLst/>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hyperlink" Target="http://www.cisco.com/" TargetMode="External"/><Relationship Id="rId2"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1048587" name="Title 1"/>
          <p:cNvSpPr>
            <a:spLocks noGrp="1"/>
          </p:cNvSpPr>
          <p:nvPr>
            <p:ph type="title"/>
          </p:nvPr>
        </p:nvSpPr>
        <p:spPr>
          <a:xfrm>
            <a:off x="3326296" y="446710"/>
            <a:ext cx="7317740" cy="1049235"/>
          </a:xfrm>
        </p:spPr>
        <p:txBody>
          <a:bodyPr>
            <a:normAutofit fontScale="90000"/>
          </a:bodyPr>
          <a:p>
            <a:r>
              <a:rPr dirty="0" lang="en-US"/>
              <a:t>Wi-fi mini project </a:t>
            </a:r>
            <a:br>
              <a:rPr dirty="0" lang="en-US"/>
            </a:br>
            <a:br>
              <a:rPr dirty="0" lang="en-US"/>
            </a:br>
            <a:r>
              <a:rPr dirty="0" lang="en-US"/>
              <a:t>group no.15</a:t>
            </a:r>
            <a:endParaRPr dirty="0" lang="en-TZ"/>
          </a:p>
        </p:txBody>
      </p:sp>
      <p:sp>
        <p:nvSpPr>
          <p:cNvPr id="1048588" name="Content Placeholder 2"/>
          <p:cNvSpPr>
            <a:spLocks noGrp="1"/>
          </p:cNvSpPr>
          <p:nvPr>
            <p:ph idx="1"/>
          </p:nvPr>
        </p:nvSpPr>
        <p:spPr>
          <a:xfrm>
            <a:off x="1139686" y="1895061"/>
            <a:ext cx="10561983" cy="4068417"/>
          </a:xfrm>
        </p:spPr>
        <p:txBody>
          <a:bodyPr/>
          <a:p>
            <a:pPr indent="0" lvl="0" marL="0">
              <a:buNone/>
            </a:pPr>
            <a:endParaRPr b="1" dirty="0" lang="en-TZ"/>
          </a:p>
          <a:p>
            <a:endParaRPr dirty="0" lang="en-TZ"/>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56" name=""/>
        <p:cNvGrpSpPr/>
        <p:nvPr/>
      </p:nvGrpSpPr>
      <p:grpSpPr>
        <a:xfrm>
          <a:off x="0" y="0"/>
          <a:ext cx="0" cy="0"/>
          <a:chOff x="0" y="0"/>
          <a:chExt cx="0" cy="0"/>
        </a:xfrm>
      </p:grpSpPr>
      <p:sp>
        <p:nvSpPr>
          <p:cNvPr id="1048589" name="Title 1"/>
          <p:cNvSpPr>
            <a:spLocks noGrp="1"/>
          </p:cNvSpPr>
          <p:nvPr>
            <p:ph type="title"/>
          </p:nvPr>
        </p:nvSpPr>
        <p:spPr/>
        <p:txBody>
          <a:bodyPr/>
          <a:p>
            <a:r>
              <a:rPr dirty="0" lang="en-US"/>
              <a:t>1.introduction</a:t>
            </a:r>
            <a:endParaRPr dirty="0" lang="en-TZ"/>
          </a:p>
        </p:txBody>
      </p:sp>
      <p:sp>
        <p:nvSpPr>
          <p:cNvPr id="1048590" name="Content Placeholder 2"/>
          <p:cNvSpPr>
            <a:spLocks noGrp="1"/>
          </p:cNvSpPr>
          <p:nvPr>
            <p:ph idx="1"/>
          </p:nvPr>
        </p:nvSpPr>
        <p:spPr>
          <a:xfrm>
            <a:off x="1272209" y="1497496"/>
            <a:ext cx="10919791" cy="4396959"/>
          </a:xfrm>
        </p:spPr>
        <p:txBody>
          <a:bodyPr/>
          <a:p>
            <a:pPr indent="0" lvl="0" marL="0">
              <a:buNone/>
            </a:pPr>
            <a:endParaRPr b="1" dirty="0" lang="en-TZ"/>
          </a:p>
          <a:p>
            <a:pPr lvl="0"/>
            <a:r>
              <a:rPr dirty="0" lang="en-US"/>
              <a:t> Wi-Fi is the shorthand for "Wireless Fidelity," which is a technology that enables wireless connectivity between devices for the purpose of data transmission.</a:t>
            </a:r>
            <a:endParaRPr b="1" dirty="0" lang="en-TZ"/>
          </a:p>
          <a:p>
            <a:r>
              <a:rPr dirty="0" lang="en-US"/>
              <a:t>The aim and purpose of this project is to address the WI-FI network problems before placement of access point within basement of block D which may enhance user satisfactions</a:t>
            </a:r>
            <a:endParaRPr dirty="0" lang="en-TZ"/>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57" name=""/>
        <p:cNvGrpSpPr/>
        <p:nvPr/>
      </p:nvGrpSpPr>
      <p:grpSpPr>
        <a:xfrm>
          <a:off x="0" y="0"/>
          <a:ext cx="0" cy="0"/>
          <a:chOff x="0" y="0"/>
          <a:chExt cx="0" cy="0"/>
        </a:xfrm>
      </p:grpSpPr>
      <p:sp>
        <p:nvSpPr>
          <p:cNvPr id="1048591" name="Title 1"/>
          <p:cNvSpPr>
            <a:spLocks noGrp="1"/>
          </p:cNvSpPr>
          <p:nvPr>
            <p:ph type="title"/>
          </p:nvPr>
        </p:nvSpPr>
        <p:spPr/>
        <p:txBody>
          <a:bodyPr/>
          <a:p>
            <a:r>
              <a:rPr dirty="0" lang="en-US"/>
              <a:t>2.Background and context</a:t>
            </a:r>
            <a:endParaRPr dirty="0" lang="en-TZ"/>
          </a:p>
        </p:txBody>
      </p:sp>
      <p:sp>
        <p:nvSpPr>
          <p:cNvPr id="1048592" name="Content Placeholder 2"/>
          <p:cNvSpPr>
            <a:spLocks noGrp="1"/>
          </p:cNvSpPr>
          <p:nvPr>
            <p:ph idx="1"/>
          </p:nvPr>
        </p:nvSpPr>
        <p:spPr>
          <a:xfrm>
            <a:off x="1137146" y="1510748"/>
            <a:ext cx="9917708" cy="3955597"/>
          </a:xfrm>
        </p:spPr>
        <p:txBody>
          <a:bodyPr/>
          <a:p>
            <a:pPr indent="0" lvl="0" marL="0">
              <a:buNone/>
            </a:pPr>
            <a:endParaRPr b="1" dirty="0" lang="en-TZ"/>
          </a:p>
          <a:p>
            <a:r>
              <a:rPr dirty="0" lang="en-US"/>
              <a:t>Administration building of block D consist of two floors including basement levels that are occupied by various departments.</a:t>
            </a:r>
            <a:endParaRPr b="1" dirty="0" lang="en-TZ"/>
          </a:p>
          <a:p>
            <a:r>
              <a:rPr b="1" dirty="0" lang="en-US"/>
              <a:t>Type of WI-FI router used:</a:t>
            </a:r>
            <a:r>
              <a:rPr dirty="0" lang="en-US"/>
              <a:t> The WI-FI Router used for network connection was from LINKSYS E900 Manufacturer which is classified as a single-band router, operating on a single frequency band typically 2.4GHZ.</a:t>
            </a:r>
            <a:endParaRPr b="1" dirty="0" lang="en-TZ"/>
          </a:p>
          <a:p>
            <a:r>
              <a:rPr dirty="0" lang="en-US"/>
              <a:t>This means that it offers WI-FI connectivity on the 2.4GHZ band only.</a:t>
            </a:r>
            <a:endParaRPr b="1" dirty="0" lang="en-TZ"/>
          </a:p>
          <a:p>
            <a:endParaRPr dirty="0" lang="en-TZ"/>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pic>
        <p:nvPicPr>
          <p:cNvPr id="2097153" name="Content Placeholder 4"/>
          <p:cNvPicPr>
            <a:picLocks noChangeAspect="1" noGrp="1"/>
          </p:cNvPicPr>
          <p:nvPr>
            <p:ph idx="1"/>
          </p:nvPr>
        </p:nvPicPr>
        <p:blipFill>
          <a:blip xmlns:r="http://schemas.openxmlformats.org/officeDocument/2006/relationships" r:embed="rId1"/>
          <a:stretch>
            <a:fillRect/>
          </a:stretch>
        </p:blipFill>
        <p:spPr>
          <a:xfrm>
            <a:off x="-1" y="0"/>
            <a:ext cx="12298017" cy="6857999"/>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59" name=""/>
        <p:cNvGrpSpPr/>
        <p:nvPr/>
      </p:nvGrpSpPr>
      <p:grpSpPr>
        <a:xfrm>
          <a:off x="0" y="0"/>
          <a:ext cx="0" cy="0"/>
          <a:chOff x="0" y="0"/>
          <a:chExt cx="0" cy="0"/>
        </a:xfrm>
      </p:grpSpPr>
      <p:sp>
        <p:nvSpPr>
          <p:cNvPr id="1048593" name="Title 1"/>
          <p:cNvSpPr>
            <a:spLocks noGrp="1"/>
          </p:cNvSpPr>
          <p:nvPr>
            <p:ph type="title"/>
          </p:nvPr>
        </p:nvSpPr>
        <p:spPr/>
        <p:txBody>
          <a:bodyPr/>
          <a:p>
            <a:endParaRPr lang="en-TZ"/>
          </a:p>
        </p:txBody>
      </p:sp>
      <p:pic>
        <p:nvPicPr>
          <p:cNvPr id="2097154" name="Content Placeholder 4"/>
          <p:cNvPicPr>
            <a:picLocks noChangeAspect="1" noGrp="1"/>
          </p:cNvPicPr>
          <p:nvPr>
            <p:ph idx="1"/>
          </p:nvPr>
        </p:nvPicPr>
        <p:blipFill>
          <a:blip xmlns:r="http://schemas.openxmlformats.org/officeDocument/2006/relationships" r:embed="rId1"/>
          <a:stretch>
            <a:fillRect/>
          </a:stretch>
        </p:blipFill>
        <p:spPr>
          <a:xfrm>
            <a:off x="92765" y="92765"/>
            <a:ext cx="11993218" cy="6709033"/>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60" name=""/>
        <p:cNvGrpSpPr/>
        <p:nvPr/>
      </p:nvGrpSpPr>
      <p:grpSpPr>
        <a:xfrm>
          <a:off x="0" y="0"/>
          <a:ext cx="0" cy="0"/>
          <a:chOff x="0" y="0"/>
          <a:chExt cx="0" cy="0"/>
        </a:xfrm>
      </p:grpSpPr>
      <p:sp>
        <p:nvSpPr>
          <p:cNvPr id="1048594" name="Title 1"/>
          <p:cNvSpPr>
            <a:spLocks noGrp="1"/>
          </p:cNvSpPr>
          <p:nvPr>
            <p:ph type="title"/>
          </p:nvPr>
        </p:nvSpPr>
        <p:spPr/>
        <p:txBody>
          <a:bodyPr/>
          <a:p>
            <a:r>
              <a:rPr dirty="0" lang="en-US"/>
              <a:t>Linksys e900</a:t>
            </a:r>
            <a:endParaRPr dirty="0" lang="en-TZ"/>
          </a:p>
        </p:txBody>
      </p:sp>
      <p:pic>
        <p:nvPicPr>
          <p:cNvPr id="2097155" name="Image1"/>
          <p:cNvPicPr>
            <a:picLocks noGrp="1"/>
          </p:cNvPicPr>
          <p:nvPr>
            <p:ph idx="1"/>
          </p:nvPr>
        </p:nvPicPr>
        <p:blipFill>
          <a:blip xmlns:r="http://schemas.openxmlformats.org/officeDocument/2006/relationships" r:embed="rId1"/>
          <a:srcRect/>
          <a:stretch>
            <a:fillRect/>
          </a:stretch>
        </p:blipFill>
        <p:spPr bwMode="auto">
          <a:xfrm>
            <a:off x="2610679" y="2016125"/>
            <a:ext cx="5367302" cy="3934101"/>
          </a:xfrm>
          <a:prstGeom prst="rect"/>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1048595" name="Title 1"/>
          <p:cNvSpPr>
            <a:spLocks noGrp="1"/>
          </p:cNvSpPr>
          <p:nvPr>
            <p:ph type="title"/>
          </p:nvPr>
        </p:nvSpPr>
        <p:spPr/>
        <p:txBody>
          <a:bodyPr/>
          <a:p>
            <a:r>
              <a:rPr dirty="0" lang="en-US"/>
              <a:t>Problems  wi-fi users in basement of block d</a:t>
            </a:r>
            <a:endParaRPr dirty="0" lang="en-TZ"/>
          </a:p>
        </p:txBody>
      </p:sp>
      <p:sp>
        <p:nvSpPr>
          <p:cNvPr id="1048596" name="Content Placeholder 2"/>
          <p:cNvSpPr>
            <a:spLocks noGrp="1"/>
          </p:cNvSpPr>
          <p:nvPr>
            <p:ph idx="1"/>
          </p:nvPr>
        </p:nvSpPr>
        <p:spPr>
          <a:xfrm>
            <a:off x="1137147" y="1470992"/>
            <a:ext cx="9917708" cy="3995354"/>
          </a:xfrm>
        </p:spPr>
        <p:txBody>
          <a:bodyPr/>
          <a:p>
            <a:endParaRPr dirty="0" lang="en-TZ"/>
          </a:p>
          <a:p>
            <a:pPr lvl="0"/>
            <a:r>
              <a:rPr b="1" dirty="0" lang="en-US"/>
              <a:t>Slow or Inconsistent Speeds:</a:t>
            </a:r>
            <a:r>
              <a:rPr dirty="0" lang="en-US"/>
              <a:t> Users have reported slow or inconsistent Wi-Fi speeds when connected to the Linksys E900 router. This issue usually affect internet browsing and file transfers, leading to frustration and inconvenience.</a:t>
            </a:r>
            <a:endParaRPr dirty="0" lang="en-TZ"/>
          </a:p>
          <a:p>
            <a:r>
              <a:rPr b="1" dirty="0" lang="en-US"/>
              <a:t>Connection Drops:</a:t>
            </a:r>
            <a:r>
              <a:rPr dirty="0" lang="en-US"/>
              <a:t> Some users have experienced frequent disconnections in the Wi-Fi connection when using the Linksys E900 router. This disrupted their online activities and required users to reconnect their devices frequently</a:t>
            </a:r>
            <a:endParaRPr dirty="0" lang="en-TZ"/>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62" name=""/>
        <p:cNvGrpSpPr/>
        <p:nvPr/>
      </p:nvGrpSpPr>
      <p:grpSpPr>
        <a:xfrm>
          <a:off x="0" y="0"/>
          <a:ext cx="0" cy="0"/>
          <a:chOff x="0" y="0"/>
          <a:chExt cx="0" cy="0"/>
        </a:xfrm>
      </p:grpSpPr>
      <p:sp>
        <p:nvSpPr>
          <p:cNvPr id="1048597" name="Title 1"/>
          <p:cNvSpPr>
            <a:spLocks noGrp="1"/>
          </p:cNvSpPr>
          <p:nvPr>
            <p:ph type="title"/>
          </p:nvPr>
        </p:nvSpPr>
        <p:spPr/>
        <p:txBody>
          <a:bodyPr/>
          <a:p>
            <a:r>
              <a:rPr dirty="0" lang="en-US"/>
              <a:t>3.Problem statement</a:t>
            </a:r>
            <a:endParaRPr dirty="0" lang="en-TZ"/>
          </a:p>
        </p:txBody>
      </p:sp>
      <p:sp>
        <p:nvSpPr>
          <p:cNvPr id="1048598" name="Content Placeholder 2"/>
          <p:cNvSpPr>
            <a:spLocks noGrp="1"/>
          </p:cNvSpPr>
          <p:nvPr>
            <p:ph idx="1"/>
          </p:nvPr>
        </p:nvSpPr>
        <p:spPr>
          <a:xfrm>
            <a:off x="1232452" y="1510748"/>
            <a:ext cx="10469218" cy="4227443"/>
          </a:xfrm>
        </p:spPr>
        <p:txBody>
          <a:bodyPr/>
          <a:p>
            <a:pPr indent="0" lvl="0" marL="0">
              <a:buNone/>
            </a:pPr>
            <a:endParaRPr b="1" dirty="0" lang="en-TZ"/>
          </a:p>
          <a:p>
            <a:r>
              <a:rPr dirty="0" lang="en-US"/>
              <a:t>We have a challenging environment for wireless connectivity in basement of administration building block D.</a:t>
            </a:r>
            <a:endParaRPr b="1" dirty="0" i="1" lang="en-TZ"/>
          </a:p>
          <a:p>
            <a:endParaRPr dirty="0" lang="en-TZ"/>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63" name=""/>
        <p:cNvGrpSpPr/>
        <p:nvPr/>
      </p:nvGrpSpPr>
      <p:grpSpPr>
        <a:xfrm>
          <a:off x="0" y="0"/>
          <a:ext cx="0" cy="0"/>
          <a:chOff x="0" y="0"/>
          <a:chExt cx="0" cy="0"/>
        </a:xfrm>
      </p:grpSpPr>
      <p:sp>
        <p:nvSpPr>
          <p:cNvPr id="1048599" name="Title 1"/>
          <p:cNvSpPr>
            <a:spLocks noGrp="1"/>
          </p:cNvSpPr>
          <p:nvPr>
            <p:ph type="title"/>
          </p:nvPr>
        </p:nvSpPr>
        <p:spPr/>
        <p:txBody>
          <a:bodyPr/>
          <a:p>
            <a:r>
              <a:rPr dirty="0" lang="en-US"/>
              <a:t>4.Main objective</a:t>
            </a:r>
            <a:endParaRPr dirty="0" lang="en-TZ"/>
          </a:p>
        </p:txBody>
      </p:sp>
      <p:sp>
        <p:nvSpPr>
          <p:cNvPr id="1048600" name="Content Placeholder 2"/>
          <p:cNvSpPr>
            <a:spLocks noGrp="1"/>
          </p:cNvSpPr>
          <p:nvPr>
            <p:ph idx="1"/>
          </p:nvPr>
        </p:nvSpPr>
        <p:spPr>
          <a:xfrm>
            <a:off x="1137145" y="1484244"/>
            <a:ext cx="9917709" cy="4569238"/>
          </a:xfrm>
        </p:spPr>
        <p:txBody>
          <a:bodyPr/>
          <a:p>
            <a:pPr indent="0" marL="0">
              <a:buNone/>
            </a:pPr>
            <a:r>
              <a:rPr b="1" dirty="0" lang="en-US"/>
              <a:t>	</a:t>
            </a:r>
            <a:endParaRPr b="1" dirty="0" lang="en-TZ"/>
          </a:p>
          <a:p>
            <a:r>
              <a:rPr dirty="0" lang="en-US"/>
              <a:t> Designing a new WI-FI network installation with higher performance so that every user in basement of block D administration building may have an efficient access to the internet.</a:t>
            </a:r>
            <a:endParaRPr b="1" dirty="0" lang="en-TZ"/>
          </a:p>
          <a:p>
            <a:endParaRPr dirty="0" lang="en-TZ"/>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sp>
        <p:nvSpPr>
          <p:cNvPr id="1048601" name="Title 1"/>
          <p:cNvSpPr>
            <a:spLocks noGrp="1"/>
          </p:cNvSpPr>
          <p:nvPr>
            <p:ph type="title"/>
          </p:nvPr>
        </p:nvSpPr>
        <p:spPr/>
        <p:txBody>
          <a:bodyPr/>
          <a:p>
            <a:r>
              <a:rPr dirty="0" lang="en-US"/>
              <a:t>5.Specific objectives</a:t>
            </a:r>
            <a:endParaRPr dirty="0" lang="en-TZ"/>
          </a:p>
        </p:txBody>
      </p:sp>
      <p:sp>
        <p:nvSpPr>
          <p:cNvPr id="1048602" name="Content Placeholder 2"/>
          <p:cNvSpPr>
            <a:spLocks noGrp="1"/>
          </p:cNvSpPr>
          <p:nvPr>
            <p:ph idx="1"/>
          </p:nvPr>
        </p:nvSpPr>
        <p:spPr>
          <a:xfrm>
            <a:off x="1311965" y="1603514"/>
            <a:ext cx="9742889" cy="3862832"/>
          </a:xfrm>
        </p:spPr>
        <p:txBody>
          <a:bodyPr>
            <a:normAutofit/>
          </a:bodyPr>
          <a:p>
            <a:pPr indent="0" marL="0">
              <a:buNone/>
            </a:pPr>
            <a:endParaRPr b="1" dirty="0" lang="en-TZ"/>
          </a:p>
          <a:p>
            <a:pPr lvl="0"/>
            <a:r>
              <a:rPr dirty="0" lang="en-US"/>
              <a:t>To identify causes for WI-FI network problem in basement of administration building of block D.</a:t>
            </a:r>
            <a:endParaRPr b="1" dirty="0" lang="en-TZ"/>
          </a:p>
          <a:p>
            <a:pPr lvl="0"/>
            <a:r>
              <a:rPr dirty="0" lang="en-US"/>
              <a:t>To propose solutions for enhancing WI-FI connectivity in basement of administration building of block D.</a:t>
            </a:r>
            <a:endParaRPr b="1" dirty="0" lang="en-TZ"/>
          </a:p>
          <a:p>
            <a:pPr lvl="0"/>
            <a:r>
              <a:rPr dirty="0" lang="en-US"/>
              <a:t>To determine the optimal placement of access point within basements of administration block D </a:t>
            </a:r>
            <a:endParaRPr b="1" dirty="0" lang="en-TZ"/>
          </a:p>
          <a:p>
            <a:endParaRPr dirty="0" lang="en-TZ"/>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65" name=""/>
        <p:cNvGrpSpPr/>
        <p:nvPr/>
      </p:nvGrpSpPr>
      <p:grpSpPr>
        <a:xfrm>
          <a:off x="0" y="0"/>
          <a:ext cx="0" cy="0"/>
          <a:chOff x="0" y="0"/>
          <a:chExt cx="0" cy="0"/>
        </a:xfrm>
      </p:grpSpPr>
      <p:sp>
        <p:nvSpPr>
          <p:cNvPr id="1048603" name="Title 1"/>
          <p:cNvSpPr>
            <a:spLocks noGrp="1"/>
          </p:cNvSpPr>
          <p:nvPr>
            <p:ph type="title"/>
          </p:nvPr>
        </p:nvSpPr>
        <p:spPr/>
        <p:txBody>
          <a:bodyPr/>
          <a:p>
            <a:r>
              <a:rPr dirty="0" lang="en-US"/>
              <a:t>6.methodology</a:t>
            </a:r>
            <a:endParaRPr dirty="0" lang="en-TZ"/>
          </a:p>
        </p:txBody>
      </p:sp>
      <p:sp>
        <p:nvSpPr>
          <p:cNvPr id="1048604" name="Content Placeholder 2"/>
          <p:cNvSpPr>
            <a:spLocks noGrp="1"/>
          </p:cNvSpPr>
          <p:nvPr>
            <p:ph idx="1"/>
          </p:nvPr>
        </p:nvSpPr>
        <p:spPr>
          <a:xfrm>
            <a:off x="1258956" y="1853754"/>
            <a:ext cx="10933043" cy="3975652"/>
          </a:xfrm>
        </p:spPr>
        <p:txBody>
          <a:bodyPr>
            <a:normAutofit/>
          </a:bodyPr>
          <a:p>
            <a:pPr indent="0" lvl="0" marL="0">
              <a:buNone/>
            </a:pPr>
            <a:endParaRPr b="1" dirty="0" lang="en-TZ"/>
          </a:p>
          <a:p>
            <a:pPr lvl="0"/>
            <a:r>
              <a:rPr dirty="0" lang="en-US"/>
              <a:t>To investigate the WI-FI network problem site visits were conducted to assess the existing network infrastructure</a:t>
            </a:r>
            <a:r>
              <a:rPr b="1" dirty="0" lang="en-US"/>
              <a:t>.</a:t>
            </a:r>
            <a:endParaRPr dirty="0" lang="en-TZ"/>
          </a:p>
          <a:p>
            <a:pPr lvl="0"/>
            <a:r>
              <a:rPr b="1" dirty="0" lang="en-US"/>
              <a:t>.</a:t>
            </a:r>
            <a:r>
              <a:rPr dirty="0" lang="en-US"/>
              <a:t> Network performance measurements were taken with the aid of WI-FI signal strength meter App in different areas of the basement offices.</a:t>
            </a:r>
            <a:endParaRPr b="1" dirty="0" lang="en-TZ"/>
          </a:p>
          <a:p>
            <a:pPr lvl="0"/>
            <a:r>
              <a:rPr dirty="0" lang="en-US"/>
              <a:t>Interviews were conducted with the employees to gather their feedback and experiences.</a:t>
            </a:r>
            <a:endParaRPr b="1" dirty="0" lang="en-TZ"/>
          </a:p>
          <a:p>
            <a:endParaRPr dirty="0" lang="en-TZ"/>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66" name=""/>
        <p:cNvGrpSpPr/>
        <p:nvPr/>
      </p:nvGrpSpPr>
      <p:grpSpPr>
        <a:xfrm>
          <a:off x="0" y="0"/>
          <a:ext cx="0" cy="0"/>
          <a:chOff x="0" y="0"/>
          <a:chExt cx="0" cy="0"/>
        </a:xfrm>
      </p:grpSpPr>
      <p:sp>
        <p:nvSpPr>
          <p:cNvPr id="1048605" name="Title 1"/>
          <p:cNvSpPr>
            <a:spLocks noGrp="1"/>
          </p:cNvSpPr>
          <p:nvPr>
            <p:ph type="title"/>
          </p:nvPr>
        </p:nvSpPr>
        <p:spPr/>
        <p:txBody>
          <a:bodyPr/>
          <a:p>
            <a:r>
              <a:rPr dirty="0" lang="en-US"/>
              <a:t>7.Scope of the mini-project</a:t>
            </a:r>
            <a:endParaRPr dirty="0" lang="en-TZ"/>
          </a:p>
        </p:txBody>
      </p:sp>
      <p:sp>
        <p:nvSpPr>
          <p:cNvPr id="1048606" name="Content Placeholder 2"/>
          <p:cNvSpPr>
            <a:spLocks noGrp="1"/>
          </p:cNvSpPr>
          <p:nvPr>
            <p:ph idx="1"/>
          </p:nvPr>
        </p:nvSpPr>
        <p:spPr>
          <a:xfrm>
            <a:off x="1338469" y="1497496"/>
            <a:ext cx="10190921" cy="4784035"/>
          </a:xfrm>
        </p:spPr>
        <p:txBody>
          <a:bodyPr>
            <a:normAutofit/>
          </a:bodyPr>
          <a:p>
            <a:pPr indent="0" lvl="0" marL="0">
              <a:buNone/>
            </a:pPr>
            <a:endParaRPr b="1" dirty="0" lang="en-TZ"/>
          </a:p>
          <a:p>
            <a:pPr lvl="0"/>
            <a:r>
              <a:rPr dirty="0" lang="en-US"/>
              <a:t>The basement layout was assessed and the following features were determined;</a:t>
            </a:r>
            <a:endParaRPr b="1" dirty="0" lang="en-TZ"/>
          </a:p>
          <a:p>
            <a:pPr lvl="0"/>
            <a:r>
              <a:rPr b="1" dirty="0" lang="en-US"/>
              <a:t>Structural characteristics</a:t>
            </a:r>
            <a:endParaRPr b="1" dirty="0" lang="en-TZ"/>
          </a:p>
          <a:p>
            <a:r>
              <a:rPr b="1" dirty="0" lang="en-US"/>
              <a:t>        -</a:t>
            </a:r>
            <a:r>
              <a:rPr dirty="0" lang="en-US"/>
              <a:t>Lower ceiling height</a:t>
            </a:r>
            <a:endParaRPr b="1" dirty="0" lang="en-TZ"/>
          </a:p>
          <a:p>
            <a:r>
              <a:rPr b="1" dirty="0" lang="en-US"/>
              <a:t>        -</a:t>
            </a:r>
            <a:r>
              <a:rPr dirty="0" lang="en-US"/>
              <a:t>Foundation walls of reinforced concrete</a:t>
            </a:r>
            <a:endParaRPr b="1" dirty="0" lang="en-TZ"/>
          </a:p>
          <a:p>
            <a:r>
              <a:rPr b="1" dirty="0" lang="en-US"/>
              <a:t>        -</a:t>
            </a:r>
            <a:r>
              <a:rPr dirty="0" lang="en-US"/>
              <a:t>Reinforced structural elements</a:t>
            </a:r>
            <a:endParaRPr b="1" dirty="0" lang="en-TZ"/>
          </a:p>
          <a:p>
            <a:pPr lvl="0"/>
            <a:endParaRPr b="1" dirty="0" lang="en-TZ"/>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67" name=""/>
        <p:cNvGrpSpPr/>
        <p:nvPr/>
      </p:nvGrpSpPr>
      <p:grpSpPr>
        <a:xfrm>
          <a:off x="0" y="0"/>
          <a:ext cx="0" cy="0"/>
          <a:chOff x="0" y="0"/>
          <a:chExt cx="0" cy="0"/>
        </a:xfrm>
      </p:grpSpPr>
      <p:sp>
        <p:nvSpPr>
          <p:cNvPr id="1048607" name="Content Placeholder 2"/>
          <p:cNvSpPr>
            <a:spLocks noGrp="1"/>
          </p:cNvSpPr>
          <p:nvPr>
            <p:ph idx="1"/>
          </p:nvPr>
        </p:nvSpPr>
        <p:spPr>
          <a:xfrm>
            <a:off x="1285461" y="1457739"/>
            <a:ext cx="10614992" cy="5062332"/>
          </a:xfrm>
        </p:spPr>
        <p:txBody>
          <a:bodyPr>
            <a:normAutofit/>
          </a:bodyPr>
          <a:p>
            <a:pPr indent="0" marL="0">
              <a:buNone/>
            </a:pPr>
            <a:r>
              <a:rPr dirty="0" lang="en-US"/>
              <a:t> </a:t>
            </a:r>
            <a:endParaRPr b="1" dirty="0" lang="en-TZ"/>
          </a:p>
          <a:p>
            <a:pPr lvl="0"/>
            <a:r>
              <a:rPr b="1" dirty="0" lang="en-US"/>
              <a:t>Obstacles</a:t>
            </a:r>
            <a:endParaRPr b="1" dirty="0" lang="en-TZ"/>
          </a:p>
          <a:p>
            <a:r>
              <a:rPr b="1" dirty="0" lang="en-US"/>
              <a:t>        -</a:t>
            </a:r>
            <a:r>
              <a:rPr dirty="0" lang="en-US"/>
              <a:t>Wooden door</a:t>
            </a:r>
            <a:endParaRPr b="1" dirty="0" lang="en-TZ"/>
          </a:p>
          <a:p>
            <a:r>
              <a:rPr b="1" dirty="0" lang="en-US"/>
              <a:t>        -</a:t>
            </a:r>
            <a:r>
              <a:rPr dirty="0" lang="en-US"/>
              <a:t>Concrete walls</a:t>
            </a:r>
            <a:endParaRPr b="1" dirty="0" lang="en-TZ"/>
          </a:p>
          <a:p>
            <a:r>
              <a:rPr b="1" dirty="0" lang="en-US"/>
              <a:t>        -</a:t>
            </a:r>
            <a:r>
              <a:rPr dirty="0" lang="en-US"/>
              <a:t>Fans</a:t>
            </a:r>
            <a:endParaRPr b="1" dirty="0" lang="en-TZ"/>
          </a:p>
          <a:p>
            <a:pPr lvl="0"/>
            <a:r>
              <a:rPr b="1" dirty="0" lang="en-US"/>
              <a:t>Area of weak signals</a:t>
            </a:r>
            <a:endParaRPr b="1" dirty="0" lang="en-TZ"/>
          </a:p>
          <a:p>
            <a:r>
              <a:rPr b="1" dirty="0" lang="en-US"/>
              <a:t>Ref</a:t>
            </a:r>
            <a:r>
              <a:rPr dirty="0" i="1" lang="en-US"/>
              <a:t>: </a:t>
            </a:r>
            <a:r>
              <a:rPr dirty="0" lang="en-US"/>
              <a:t>Basement layout plan of an administration block ‘D’</a:t>
            </a:r>
            <a:endParaRPr b="1" dirty="0" lang="en-TZ"/>
          </a:p>
          <a:p>
            <a:r>
              <a:rPr b="1" dirty="0" lang="en-US"/>
              <a:t>        -</a:t>
            </a:r>
            <a:r>
              <a:rPr dirty="0" lang="en-US"/>
              <a:t>012-D STORE</a:t>
            </a:r>
            <a:endParaRPr b="1" dirty="0" lang="en-TZ"/>
          </a:p>
          <a:p>
            <a:r>
              <a:rPr b="1" dirty="0" lang="en-US"/>
              <a:t>       -</a:t>
            </a:r>
            <a:r>
              <a:rPr dirty="0" lang="en-US"/>
              <a:t>013-D STORE FOR BASEMENT</a:t>
            </a:r>
            <a:endParaRPr b="1" dirty="0" lang="en-TZ"/>
          </a:p>
          <a:p>
            <a:r>
              <a:rPr b="1" dirty="0" lang="en-US"/>
              <a:t>       -</a:t>
            </a:r>
            <a:r>
              <a:rPr dirty="0" lang="en-US"/>
              <a:t>011-D DEVELOPMENT STUDIES ROOM</a:t>
            </a:r>
            <a:endParaRPr b="1" dirty="0" lang="en-TZ"/>
          </a:p>
          <a:p>
            <a:endParaRPr dirty="0" lang="en-TZ"/>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68" name=""/>
        <p:cNvGrpSpPr/>
        <p:nvPr/>
      </p:nvGrpSpPr>
      <p:grpSpPr>
        <a:xfrm>
          <a:off x="0" y="0"/>
          <a:ext cx="0" cy="0"/>
          <a:chOff x="0" y="0"/>
          <a:chExt cx="0" cy="0"/>
        </a:xfrm>
      </p:grpSpPr>
      <p:sp>
        <p:nvSpPr>
          <p:cNvPr id="1048608" name="Content Placeholder 2"/>
          <p:cNvSpPr>
            <a:spLocks noGrp="1"/>
          </p:cNvSpPr>
          <p:nvPr>
            <p:ph idx="1"/>
          </p:nvPr>
        </p:nvSpPr>
        <p:spPr>
          <a:xfrm>
            <a:off x="1179443" y="1550505"/>
            <a:ext cx="10906539" cy="4502976"/>
          </a:xfrm>
        </p:spPr>
        <p:txBody>
          <a:bodyPr/>
          <a:p>
            <a:pPr indent="0" marL="0">
              <a:buNone/>
            </a:pPr>
            <a:r>
              <a:rPr dirty="0" lang="en-US"/>
              <a:t> </a:t>
            </a:r>
            <a:endParaRPr b="1" dirty="0" lang="en-TZ"/>
          </a:p>
          <a:p>
            <a:pPr lvl="0"/>
            <a:r>
              <a:rPr b="1" dirty="0" lang="en-US"/>
              <a:t>Access point placement</a:t>
            </a:r>
            <a:endParaRPr b="1" dirty="0" lang="en-TZ"/>
          </a:p>
          <a:p>
            <a:r>
              <a:rPr dirty="0" lang="en-US"/>
              <a:t>To determine a specific point for placement of a WI-FI router the variation of power signal received by different users at different position must not differ at big a range, and this will be observed at the next step of data collection where by at that condition each user will have equal access of data.</a:t>
            </a:r>
            <a:endParaRPr b="1" dirty="0" lang="en-TZ"/>
          </a:p>
          <a:p>
            <a:endParaRPr dirty="0" lang="en-TZ"/>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69" name=""/>
        <p:cNvGrpSpPr/>
        <p:nvPr/>
      </p:nvGrpSpPr>
      <p:grpSpPr>
        <a:xfrm>
          <a:off x="0" y="0"/>
          <a:ext cx="0" cy="0"/>
          <a:chOff x="0" y="0"/>
          <a:chExt cx="0" cy="0"/>
        </a:xfrm>
      </p:grpSpPr>
      <p:sp>
        <p:nvSpPr>
          <p:cNvPr id="1048609" name="Title 1"/>
          <p:cNvSpPr>
            <a:spLocks noGrp="1"/>
          </p:cNvSpPr>
          <p:nvPr>
            <p:ph type="title"/>
          </p:nvPr>
        </p:nvSpPr>
        <p:spPr/>
        <p:txBody>
          <a:bodyPr/>
          <a:p>
            <a:r>
              <a:rPr dirty="0" lang="en-US"/>
              <a:t>8.Data collection and analysis</a:t>
            </a:r>
            <a:endParaRPr dirty="0" lang="en-TZ"/>
          </a:p>
        </p:txBody>
      </p:sp>
      <p:sp>
        <p:nvSpPr>
          <p:cNvPr id="1048610" name="Content Placeholder 2"/>
          <p:cNvSpPr>
            <a:spLocks noChangeAspect="1" noMove="1" noResize="1" noRot="1" noGrp="1" noAdjustHandles="1" noEditPoints="1" noChangeArrowheads="1" noChangeShapeType="1" noTextEdit="1"/>
          </p:cNvSpPr>
          <p:nvPr>
            <p:ph idx="1"/>
          </p:nvPr>
        </p:nvSpPr>
        <p:spPr>
          <a:xfrm>
            <a:off x="1137146" y="1577009"/>
            <a:ext cx="10763306" cy="4476471"/>
          </a:xfrm>
          <a:blipFill>
            <a:blip xmlns:r="http://schemas.openxmlformats.org/officeDocument/2006/relationships" r:embed="rId1"/>
            <a:stretch>
              <a:fillRect l="-510"/>
            </a:stretch>
          </a:blipFill>
        </p:spPr>
        <p:txBody>
          <a:bodyPr/>
          <a:p>
            <a:r>
              <a:rPr lang="en-TZ">
                <a:noFill/>
              </a:rP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70" name=""/>
        <p:cNvGrpSpPr/>
        <p:nvPr/>
      </p:nvGrpSpPr>
      <p:grpSpPr>
        <a:xfrm>
          <a:off x="0" y="0"/>
          <a:ext cx="0" cy="0"/>
          <a:chOff x="0" y="0"/>
          <a:chExt cx="0" cy="0"/>
        </a:xfrm>
      </p:grpSpPr>
      <p:sp>
        <p:nvSpPr>
          <p:cNvPr id="1048611" name="Content Placeholder 2"/>
          <p:cNvSpPr>
            <a:spLocks noGrp="1"/>
          </p:cNvSpPr>
          <p:nvPr>
            <p:ph idx="1"/>
          </p:nvPr>
        </p:nvSpPr>
        <p:spPr>
          <a:xfrm>
            <a:off x="1444487" y="1417983"/>
            <a:ext cx="9610368" cy="4635497"/>
          </a:xfrm>
        </p:spPr>
        <p:txBody>
          <a:bodyPr>
            <a:normAutofit/>
          </a:bodyPr>
          <a:p>
            <a:pPr indent="0" marL="0">
              <a:buNone/>
            </a:pPr>
            <a:r>
              <a:rPr dirty="0" lang="en-US"/>
              <a:t> </a:t>
            </a:r>
            <a:endParaRPr b="1" dirty="0" lang="en-TZ"/>
          </a:p>
          <a:p>
            <a:r>
              <a:rPr dirty="0" lang="en-US"/>
              <a:t>Wavelength</a:t>
            </a:r>
            <a:endParaRPr b="1" dirty="0" lang="en-TZ"/>
          </a:p>
          <a:p>
            <a:r>
              <a:rPr dirty="0" lang="en-US"/>
              <a:t>R = distance between a transmitter and receiver</a:t>
            </a:r>
            <a:endParaRPr b="1" dirty="0" lang="en-TZ"/>
          </a:p>
          <a:p>
            <a:pPr lvl="0"/>
            <a:r>
              <a:rPr dirty="0" lang="en-US"/>
              <a:t>The following are some of losses that might affect the transmitted signal according to the area of assessment;</a:t>
            </a:r>
            <a:endParaRPr b="1" dirty="0" lang="en-TZ"/>
          </a:p>
          <a:p>
            <a:pPr lvl="0"/>
            <a:r>
              <a:rPr dirty="0" lang="en-US"/>
              <a:t>loss due to wall (9-12) dbm</a:t>
            </a:r>
            <a:endParaRPr b="1" dirty="0" lang="en-TZ"/>
          </a:p>
          <a:p>
            <a:pPr lvl="0"/>
            <a:r>
              <a:rPr dirty="0" lang="en-US"/>
              <a:t>loss due to wooden door (2-4) dbm</a:t>
            </a:r>
            <a:endParaRPr b="1" dirty="0" lang="en-TZ"/>
          </a:p>
          <a:p>
            <a:endParaRPr b="1" dirty="0" i="1" lang="en-TZ"/>
          </a:p>
          <a:p>
            <a:endParaRPr dirty="0" lang="en-TZ"/>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71" name=""/>
        <p:cNvGrpSpPr/>
        <p:nvPr/>
      </p:nvGrpSpPr>
      <p:grpSpPr>
        <a:xfrm>
          <a:off x="0" y="0"/>
          <a:ext cx="0" cy="0"/>
          <a:chOff x="0" y="0"/>
          <a:chExt cx="0" cy="0"/>
        </a:xfrm>
      </p:grpSpPr>
      <p:sp>
        <p:nvSpPr>
          <p:cNvPr id="1048612" name="Content Placeholder 2"/>
          <p:cNvSpPr>
            <a:spLocks noGrp="1"/>
          </p:cNvSpPr>
          <p:nvPr>
            <p:ph idx="1"/>
          </p:nvPr>
        </p:nvSpPr>
        <p:spPr>
          <a:xfrm>
            <a:off x="1152939" y="1537252"/>
            <a:ext cx="10654748" cy="4625009"/>
          </a:xfrm>
        </p:spPr>
        <p:txBody>
          <a:bodyPr>
            <a:normAutofit/>
          </a:bodyPr>
          <a:p>
            <a:pPr indent="0" lvl="0" marL="0">
              <a:buNone/>
            </a:pPr>
            <a:endParaRPr dirty="0" lang="en-TZ"/>
          </a:p>
          <a:p>
            <a:r>
              <a:rPr b="1" dirty="0" lang="en-US"/>
              <a:t>REF: </a:t>
            </a:r>
            <a:r>
              <a:rPr dirty="0" lang="en-US"/>
              <a:t>LINKSYS E900 SPECIFICATIONS</a:t>
            </a:r>
            <a:endParaRPr b="1" dirty="0" lang="en-TZ"/>
          </a:p>
          <a:p>
            <a:pPr lvl="0"/>
            <a:r>
              <a:rPr dirty="0" lang="en-US"/>
              <a:t>POWER</a:t>
            </a:r>
            <a:r>
              <a:rPr b="1" dirty="0" i="1" lang="en-US"/>
              <a:t> </a:t>
            </a:r>
            <a:r>
              <a:rPr dirty="0" lang="en-US"/>
              <a:t>=20dbm</a:t>
            </a:r>
            <a:endParaRPr b="1" dirty="0" lang="en-TZ"/>
          </a:p>
          <a:p>
            <a:pPr lvl="0"/>
            <a:r>
              <a:rPr dirty="0" lang="en-US"/>
              <a:t>GAIN =3dbm</a:t>
            </a:r>
            <a:endParaRPr b="1" dirty="0" i="1" lang="en-TZ"/>
          </a:p>
          <a:p>
            <a:pPr lvl="0"/>
            <a:r>
              <a:rPr dirty="0" lang="en-US"/>
              <a:t>FREQUENCY =2.4GHZ</a:t>
            </a:r>
            <a:endParaRPr b="1" dirty="0" i="1" lang="en-TZ"/>
          </a:p>
          <a:p>
            <a:r>
              <a:rPr dirty="0" lang="en-US"/>
              <a:t>Assuming all network users using smartphones, the gain of receiving will approximately to 1dbm</a:t>
            </a:r>
            <a:endParaRPr b="1" dirty="0" lang="en-TZ"/>
          </a:p>
          <a:p>
            <a:endParaRPr dirty="0" lang="en-TZ"/>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72" name=""/>
        <p:cNvGrpSpPr/>
        <p:nvPr/>
      </p:nvGrpSpPr>
      <p:grpSpPr>
        <a:xfrm>
          <a:off x="0" y="0"/>
          <a:ext cx="0" cy="0"/>
          <a:chOff x="0" y="0"/>
          <a:chExt cx="0" cy="0"/>
        </a:xfrm>
      </p:grpSpPr>
      <p:sp>
        <p:nvSpPr>
          <p:cNvPr id="1048613" name="Title 1"/>
          <p:cNvSpPr>
            <a:spLocks noGrp="1"/>
          </p:cNvSpPr>
          <p:nvPr>
            <p:ph type="title"/>
          </p:nvPr>
        </p:nvSpPr>
        <p:spPr/>
        <p:txBody>
          <a:bodyPr/>
          <a:p>
            <a:r>
              <a:rPr dirty="0" lang="en-US"/>
              <a:t>Distance cases</a:t>
            </a:r>
            <a:endParaRPr dirty="0" lang="en-TZ"/>
          </a:p>
        </p:txBody>
      </p:sp>
      <p:sp>
        <p:nvSpPr>
          <p:cNvPr id="1048614" name="Content Placeholder 2"/>
          <p:cNvSpPr>
            <a:spLocks noGrp="1"/>
          </p:cNvSpPr>
          <p:nvPr>
            <p:ph idx="1"/>
          </p:nvPr>
        </p:nvSpPr>
        <p:spPr>
          <a:xfrm>
            <a:off x="1298713" y="1484243"/>
            <a:ext cx="10893287" cy="4569237"/>
          </a:xfrm>
        </p:spPr>
        <p:txBody>
          <a:bodyPr/>
          <a:p>
            <a:pPr indent="0" marL="0">
              <a:buNone/>
            </a:pPr>
            <a:endParaRPr b="1" dirty="0" lang="en-TZ"/>
          </a:p>
          <a:p>
            <a:r>
              <a:rPr b="1" dirty="0" lang="en-US"/>
              <a:t>CASE 01: Po</a:t>
            </a:r>
            <a:endParaRPr b="1" dirty="0" lang="en-TZ"/>
          </a:p>
          <a:p>
            <a:r>
              <a:rPr dirty="0" lang="en-US"/>
              <a:t>R =1.3m</a:t>
            </a:r>
            <a:endParaRPr b="1" dirty="0" lang="en-TZ"/>
          </a:p>
          <a:p>
            <a:r>
              <a:rPr dirty="0" lang="en-US"/>
              <a:t>Pt=20dbm (from WI-FI router in either sides)</a:t>
            </a:r>
            <a:endParaRPr b="1" dirty="0" lang="en-TZ"/>
          </a:p>
          <a:p>
            <a:r>
              <a:rPr dirty="0" lang="en-US"/>
              <a:t>Gt=3dbm</a:t>
            </a:r>
            <a:endParaRPr b="1" dirty="0" lang="en-TZ"/>
          </a:p>
          <a:p>
            <a:r>
              <a:rPr dirty="0" lang="en-US"/>
              <a:t>Gr=1dbm</a:t>
            </a:r>
            <a:endParaRPr b="1" dirty="0" lang="en-TZ"/>
          </a:p>
          <a:p>
            <a:r>
              <a:rPr dirty="0" lang="en-US"/>
              <a:t>Wavelength=0.125m</a:t>
            </a:r>
            <a:endParaRPr dirty="0" lang="en-TZ"/>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73" name=""/>
        <p:cNvGrpSpPr/>
        <p:nvPr/>
      </p:nvGrpSpPr>
      <p:grpSpPr>
        <a:xfrm>
          <a:off x="0" y="0"/>
          <a:ext cx="0" cy="0"/>
          <a:chOff x="0" y="0"/>
          <a:chExt cx="0" cy="0"/>
        </a:xfrm>
      </p:grpSpPr>
      <p:sp>
        <p:nvSpPr>
          <p:cNvPr id="1048615" name="Content Placeholder 2"/>
          <p:cNvSpPr>
            <a:spLocks noChangeAspect="1" noMove="1" noResize="1" noRot="1" noGrp="1" noAdjustHandles="1" noEditPoints="1" noChangeArrowheads="1" noChangeShapeType="1" noTextEdit="1"/>
          </p:cNvSpPr>
          <p:nvPr>
            <p:ph idx="1"/>
          </p:nvPr>
        </p:nvSpPr>
        <p:spPr>
          <a:xfrm>
            <a:off x="1219200" y="1683026"/>
            <a:ext cx="10972799" cy="4465983"/>
          </a:xfrm>
          <a:blipFill>
            <a:blip xmlns:r="http://schemas.openxmlformats.org/officeDocument/2006/relationships" r:embed="rId1"/>
            <a:stretch>
              <a:fillRect l="-500"/>
            </a:stretch>
          </a:blipFill>
        </p:spPr>
        <p:txBody>
          <a:bodyPr/>
          <a:p>
            <a:r>
              <a:rPr lang="en-TZ">
                <a:noFill/>
              </a:rPr>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74" name=""/>
        <p:cNvGrpSpPr/>
        <p:nvPr/>
      </p:nvGrpSpPr>
      <p:grpSpPr>
        <a:xfrm>
          <a:off x="0" y="0"/>
          <a:ext cx="0" cy="0"/>
          <a:chOff x="0" y="0"/>
          <a:chExt cx="0" cy="0"/>
        </a:xfrm>
      </p:grpSpPr>
      <p:sp>
        <p:nvSpPr>
          <p:cNvPr id="1048616" name="Content Placeholder 2"/>
          <p:cNvSpPr>
            <a:spLocks noGrp="1"/>
          </p:cNvSpPr>
          <p:nvPr>
            <p:ph idx="1"/>
          </p:nvPr>
        </p:nvSpPr>
        <p:spPr>
          <a:xfrm>
            <a:off x="1325217" y="1497496"/>
            <a:ext cx="10588487" cy="4757530"/>
          </a:xfrm>
        </p:spPr>
        <p:txBody>
          <a:bodyPr>
            <a:normAutofit/>
          </a:bodyPr>
          <a:p>
            <a:pPr indent="0" marL="0">
              <a:buNone/>
            </a:pPr>
            <a:endParaRPr dirty="0" lang="en-TZ"/>
          </a:p>
          <a:p>
            <a:r>
              <a:rPr b="1" dirty="0" lang="en-US"/>
              <a:t>CASE 02: P1</a:t>
            </a:r>
            <a:endParaRPr b="1" dirty="0" lang="en-TZ"/>
          </a:p>
          <a:p>
            <a:r>
              <a:rPr dirty="0" lang="en-US"/>
              <a:t>R =4.3m</a:t>
            </a:r>
            <a:endParaRPr b="1" dirty="0" lang="en-TZ"/>
          </a:p>
          <a:p>
            <a:r>
              <a:rPr dirty="0" lang="en-US"/>
              <a:t>Pt=20dbm</a:t>
            </a:r>
            <a:endParaRPr b="1" dirty="0" lang="en-TZ"/>
          </a:p>
          <a:p>
            <a:r>
              <a:rPr dirty="0" lang="en-US"/>
              <a:t>Gt=3dbm</a:t>
            </a:r>
            <a:endParaRPr b="1" dirty="0" lang="en-TZ"/>
          </a:p>
          <a:p>
            <a:r>
              <a:rPr dirty="0" lang="en-US"/>
              <a:t>Gr=1dbm</a:t>
            </a:r>
            <a:endParaRPr b="1" dirty="0" lang="en-TZ"/>
          </a:p>
          <a:p>
            <a:r>
              <a:rPr dirty="0" lang="en-US"/>
              <a:t>Wavelength=0.125m</a:t>
            </a:r>
            <a:endParaRPr b="1" dirty="0" lang="en-TZ"/>
          </a:p>
          <a:p>
            <a:r>
              <a:rPr dirty="0" lang="en-US"/>
              <a:t>NOTE: At this point</a:t>
            </a:r>
            <a:endParaRPr b="1" dirty="0" lang="en-TZ"/>
          </a:p>
          <a:p>
            <a:r>
              <a:rPr dirty="0" lang="en-US"/>
              <a:t>-No any loss</a:t>
            </a:r>
            <a:endParaRPr b="1" dirty="0" lang="en-TZ"/>
          </a:p>
          <a:p>
            <a:endParaRPr b="1" dirty="0" lang="en-TZ"/>
          </a:p>
          <a:p>
            <a:endParaRPr dirty="0" lang="en-TZ"/>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75" name=""/>
        <p:cNvGrpSpPr/>
        <p:nvPr/>
      </p:nvGrpSpPr>
      <p:grpSpPr>
        <a:xfrm>
          <a:off x="0" y="0"/>
          <a:ext cx="0" cy="0"/>
          <a:chOff x="0" y="0"/>
          <a:chExt cx="0" cy="0"/>
        </a:xfrm>
      </p:grpSpPr>
      <p:sp>
        <p:nvSpPr>
          <p:cNvPr id="1048617" name="Content Placeholder 2"/>
          <p:cNvSpPr>
            <a:spLocks noChangeAspect="1" noMove="1" noResize="1" noRot="1" noGrp="1" noAdjustHandles="1" noEditPoints="1" noChangeArrowheads="1" noChangeShapeType="1" noTextEdit="1"/>
          </p:cNvSpPr>
          <p:nvPr>
            <p:ph idx="1"/>
          </p:nvPr>
        </p:nvSpPr>
        <p:spPr>
          <a:xfrm>
            <a:off x="1451579" y="1563757"/>
            <a:ext cx="10740421" cy="4929807"/>
          </a:xfrm>
          <a:blipFill>
            <a:blip xmlns:r="http://schemas.openxmlformats.org/officeDocument/2006/relationships" r:embed="rId1"/>
            <a:stretch>
              <a:fillRect l="-511"/>
            </a:stretch>
          </a:blipFill>
        </p:spPr>
        <p:txBody>
          <a:bodyPr/>
          <a:p>
            <a:r>
              <a:rPr lang="en-TZ">
                <a:noFill/>
              </a:rPr>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76" name=""/>
        <p:cNvGrpSpPr/>
        <p:nvPr/>
      </p:nvGrpSpPr>
      <p:grpSpPr>
        <a:xfrm>
          <a:off x="0" y="0"/>
          <a:ext cx="0" cy="0"/>
          <a:chOff x="0" y="0"/>
          <a:chExt cx="0" cy="0"/>
        </a:xfrm>
      </p:grpSpPr>
      <p:sp>
        <p:nvSpPr>
          <p:cNvPr id="1048618" name="Content Placeholder 2"/>
          <p:cNvSpPr>
            <a:spLocks noGrp="1"/>
          </p:cNvSpPr>
          <p:nvPr>
            <p:ph idx="1"/>
          </p:nvPr>
        </p:nvSpPr>
        <p:spPr>
          <a:xfrm>
            <a:off x="1285461" y="1643270"/>
            <a:ext cx="10906539" cy="4410211"/>
          </a:xfrm>
        </p:spPr>
        <p:txBody>
          <a:bodyPr>
            <a:normAutofit/>
          </a:bodyPr>
          <a:p>
            <a:pPr indent="0" marL="0">
              <a:buNone/>
            </a:pPr>
            <a:endParaRPr dirty="0" lang="en-TZ"/>
          </a:p>
          <a:p>
            <a:r>
              <a:rPr b="1" dirty="0" lang="en-US"/>
              <a:t>CASE 03: P2</a:t>
            </a:r>
            <a:endParaRPr b="1" dirty="0" lang="en-TZ"/>
          </a:p>
          <a:p>
            <a:r>
              <a:rPr dirty="0" lang="en-US"/>
              <a:t>R=10.3m</a:t>
            </a:r>
            <a:endParaRPr b="1" dirty="0" lang="en-TZ"/>
          </a:p>
          <a:p>
            <a:r>
              <a:rPr dirty="0" lang="en-US"/>
              <a:t>Pt=20dbm</a:t>
            </a:r>
            <a:endParaRPr b="1" dirty="0" lang="en-TZ"/>
          </a:p>
          <a:p>
            <a:r>
              <a:rPr dirty="0" lang="en-US"/>
              <a:t>Gt=3dbm</a:t>
            </a:r>
            <a:endParaRPr b="1" dirty="0" lang="en-TZ"/>
          </a:p>
          <a:p>
            <a:r>
              <a:rPr dirty="0" lang="en-US"/>
              <a:t>Gr=1dbm</a:t>
            </a:r>
            <a:endParaRPr b="1" dirty="0" lang="en-TZ"/>
          </a:p>
          <a:p>
            <a:r>
              <a:rPr dirty="0" lang="en-US"/>
              <a:t>Wavelength=0.125m</a:t>
            </a:r>
            <a:endParaRPr b="1" dirty="0" lang="en-TZ"/>
          </a:p>
          <a:p>
            <a:r>
              <a:rPr dirty="0" lang="en-US"/>
              <a:t>NOTE: At this point</a:t>
            </a:r>
            <a:endParaRPr b="1" dirty="0" lang="en-TZ"/>
          </a:p>
          <a:p>
            <a:r>
              <a:rPr dirty="0" lang="en-US"/>
              <a:t>-There is a loss of 1 wall and 1 door</a:t>
            </a:r>
            <a:endParaRPr b="1" dirty="0" lang="en-TZ"/>
          </a:p>
          <a:p>
            <a:r>
              <a:rPr dirty="0" lang="en-US"/>
              <a:t>-(3 + 10) dbm</a:t>
            </a:r>
            <a:r>
              <a:rPr b="1" dirty="0" lang="en-US"/>
              <a:t> </a:t>
            </a:r>
            <a:endParaRPr b="1" dirty="0" lang="en-TZ"/>
          </a:p>
          <a:p>
            <a:endParaRPr dirty="0" lang="en-TZ"/>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77" name=""/>
        <p:cNvGrpSpPr/>
        <p:nvPr/>
      </p:nvGrpSpPr>
      <p:grpSpPr>
        <a:xfrm>
          <a:off x="0" y="0"/>
          <a:ext cx="0" cy="0"/>
          <a:chOff x="0" y="0"/>
          <a:chExt cx="0" cy="0"/>
        </a:xfrm>
      </p:grpSpPr>
      <p:sp>
        <p:nvSpPr>
          <p:cNvPr id="1048619" name="Content Placeholder 2"/>
          <p:cNvSpPr>
            <a:spLocks noChangeAspect="1" noMove="1" noResize="1" noRot="1" noGrp="1" noAdjustHandles="1" noEditPoints="1" noChangeArrowheads="1" noChangeShapeType="1" noTextEdit="1"/>
          </p:cNvSpPr>
          <p:nvPr>
            <p:ph idx="1"/>
          </p:nvPr>
        </p:nvSpPr>
        <p:spPr>
          <a:xfrm>
            <a:off x="1451579" y="1537252"/>
            <a:ext cx="10992212" cy="4558748"/>
          </a:xfrm>
          <a:blipFill>
            <a:blip xmlns:r="http://schemas.openxmlformats.org/officeDocument/2006/relationships" r:embed="rId1"/>
            <a:stretch>
              <a:fillRect l="-499"/>
            </a:stretch>
          </a:blipFill>
        </p:spPr>
        <p:txBody>
          <a:bodyPr/>
          <a:p>
            <a:r>
              <a:rPr lang="en-TZ">
                <a:noFill/>
              </a:rPr>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78" name=""/>
        <p:cNvGrpSpPr/>
        <p:nvPr/>
      </p:nvGrpSpPr>
      <p:grpSpPr>
        <a:xfrm>
          <a:off x="0" y="0"/>
          <a:ext cx="0" cy="0"/>
          <a:chOff x="0" y="0"/>
          <a:chExt cx="0" cy="0"/>
        </a:xfrm>
      </p:grpSpPr>
      <p:sp>
        <p:nvSpPr>
          <p:cNvPr id="1048620" name="Content Placeholder 2"/>
          <p:cNvSpPr>
            <a:spLocks noChangeAspect="1" noMove="1" noResize="1" noRot="1" noGrp="1" noAdjustHandles="1" noEditPoints="1" noChangeArrowheads="1" noChangeShapeType="1" noTextEdit="1"/>
          </p:cNvSpPr>
          <p:nvPr>
            <p:ph idx="1"/>
          </p:nvPr>
        </p:nvSpPr>
        <p:spPr>
          <a:xfrm>
            <a:off x="1451579" y="1550504"/>
            <a:ext cx="10038056" cy="4502977"/>
          </a:xfrm>
          <a:blipFill>
            <a:blip xmlns:r="http://schemas.openxmlformats.org/officeDocument/2006/relationships" r:embed="rId1"/>
            <a:stretch>
              <a:fillRect l="-304"/>
            </a:stretch>
          </a:blipFill>
        </p:spPr>
        <p:txBody>
          <a:bodyPr/>
          <a:p>
            <a:r>
              <a:rPr lang="en-TZ">
                <a:noFill/>
              </a:rPr>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79" name=""/>
        <p:cNvGrpSpPr/>
        <p:nvPr/>
      </p:nvGrpSpPr>
      <p:grpSpPr>
        <a:xfrm>
          <a:off x="0" y="0"/>
          <a:ext cx="0" cy="0"/>
          <a:chOff x="0" y="0"/>
          <a:chExt cx="0" cy="0"/>
        </a:xfrm>
      </p:grpSpPr>
      <p:sp>
        <p:nvSpPr>
          <p:cNvPr id="1048621" name="Content Placeholder 2"/>
          <p:cNvSpPr>
            <a:spLocks noChangeAspect="1" noMove="1" noResize="1" noRot="1" noGrp="1" noAdjustHandles="1" noEditPoints="1" noChangeArrowheads="1" noChangeShapeType="1" noTextEdit="1"/>
          </p:cNvSpPr>
          <p:nvPr>
            <p:ph idx="1"/>
          </p:nvPr>
        </p:nvSpPr>
        <p:spPr>
          <a:xfrm>
            <a:off x="1451579" y="1497496"/>
            <a:ext cx="10740421" cy="5115339"/>
          </a:xfrm>
          <a:blipFill>
            <a:blip xmlns:r="http://schemas.openxmlformats.org/officeDocument/2006/relationships" r:embed="rId1"/>
            <a:stretch>
              <a:fillRect l="-511"/>
            </a:stretch>
          </a:blipFill>
        </p:spPr>
        <p:txBody>
          <a:bodyPr/>
          <a:p>
            <a:r>
              <a:rPr lang="en-TZ">
                <a:noFill/>
              </a:rPr>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80" name=""/>
        <p:cNvGrpSpPr/>
        <p:nvPr/>
      </p:nvGrpSpPr>
      <p:grpSpPr>
        <a:xfrm>
          <a:off x="0" y="0"/>
          <a:ext cx="0" cy="0"/>
          <a:chOff x="0" y="0"/>
          <a:chExt cx="0" cy="0"/>
        </a:xfrm>
      </p:grpSpPr>
      <p:sp>
        <p:nvSpPr>
          <p:cNvPr id="1048622" name="Content Placeholder 2"/>
          <p:cNvSpPr>
            <a:spLocks noChangeAspect="1" noMove="1" noResize="1" noRot="1" noGrp="1" noAdjustHandles="1" noEditPoints="1" noChangeArrowheads="1" noChangeShapeType="1" noTextEdit="1"/>
          </p:cNvSpPr>
          <p:nvPr>
            <p:ph idx="1"/>
          </p:nvPr>
        </p:nvSpPr>
        <p:spPr>
          <a:xfrm>
            <a:off x="1451579" y="1537252"/>
            <a:ext cx="10541638" cy="4797287"/>
          </a:xfrm>
          <a:blipFill>
            <a:blip xmlns:r="http://schemas.openxmlformats.org/officeDocument/2006/relationships" r:embed="rId1"/>
            <a:stretch>
              <a:fillRect l="-521"/>
            </a:stretch>
          </a:blipFill>
        </p:spPr>
        <p:txBody>
          <a:bodyPr/>
          <a:p>
            <a:r>
              <a:rPr lang="en-TZ">
                <a:noFill/>
              </a:rPr>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81" name=""/>
        <p:cNvGrpSpPr/>
        <p:nvPr/>
      </p:nvGrpSpPr>
      <p:grpSpPr>
        <a:xfrm>
          <a:off x="0" y="0"/>
          <a:ext cx="0" cy="0"/>
          <a:chOff x="0" y="0"/>
          <a:chExt cx="0" cy="0"/>
        </a:xfrm>
      </p:grpSpPr>
      <p:sp>
        <p:nvSpPr>
          <p:cNvPr id="1048623" name="Content Placeholder 2"/>
          <p:cNvSpPr>
            <a:spLocks noChangeAspect="1" noMove="1" noResize="1" noRot="1" noGrp="1" noAdjustHandles="1" noEditPoints="1" noChangeArrowheads="1" noChangeShapeType="1" noTextEdit="1"/>
          </p:cNvSpPr>
          <p:nvPr>
            <p:ph idx="1"/>
          </p:nvPr>
        </p:nvSpPr>
        <p:spPr>
          <a:xfrm>
            <a:off x="1451579" y="1364974"/>
            <a:ext cx="10554891" cy="5075583"/>
          </a:xfrm>
          <a:blipFill>
            <a:blip xmlns:r="http://schemas.openxmlformats.org/officeDocument/2006/relationships" r:embed="rId1"/>
            <a:stretch>
              <a:fillRect l="-520"/>
            </a:stretch>
          </a:blipFill>
        </p:spPr>
        <p:txBody>
          <a:bodyPr/>
          <a:p>
            <a:r>
              <a:rPr lang="en-TZ">
                <a:noFill/>
              </a:rPr>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82" name=""/>
        <p:cNvGrpSpPr/>
        <p:nvPr/>
      </p:nvGrpSpPr>
      <p:grpSpPr>
        <a:xfrm>
          <a:off x="0" y="0"/>
          <a:ext cx="0" cy="0"/>
          <a:chOff x="0" y="0"/>
          <a:chExt cx="0" cy="0"/>
        </a:xfrm>
      </p:grpSpPr>
      <p:sp>
        <p:nvSpPr>
          <p:cNvPr id="1048624" name="Content Placeholder 2"/>
          <p:cNvSpPr>
            <a:spLocks noGrp="1"/>
          </p:cNvSpPr>
          <p:nvPr>
            <p:ph idx="1"/>
          </p:nvPr>
        </p:nvSpPr>
        <p:spPr>
          <a:xfrm>
            <a:off x="1451579" y="1550504"/>
            <a:ext cx="10515134" cy="4837044"/>
          </a:xfrm>
        </p:spPr>
        <p:txBody>
          <a:bodyPr>
            <a:normAutofit lnSpcReduction="10000"/>
          </a:bodyPr>
          <a:p>
            <a:pPr indent="0" marL="0">
              <a:buNone/>
            </a:pPr>
            <a:r>
              <a:rPr dirty="0" lang="en-US"/>
              <a:t> </a:t>
            </a:r>
            <a:endParaRPr dirty="0" lang="en-TZ"/>
          </a:p>
          <a:p>
            <a:r>
              <a:rPr b="1" dirty="0" lang="en-US"/>
              <a:t>CASE 06: P5(012-STORE ROOM)</a:t>
            </a:r>
            <a:endParaRPr b="1" dirty="0" lang="en-TZ"/>
          </a:p>
          <a:p>
            <a:r>
              <a:rPr dirty="0" lang="en-US"/>
              <a:t>R =28.5m</a:t>
            </a:r>
            <a:endParaRPr b="1" dirty="0" lang="en-TZ"/>
          </a:p>
          <a:p>
            <a:r>
              <a:rPr dirty="0" lang="en-US"/>
              <a:t>Pt=20dbm</a:t>
            </a:r>
            <a:endParaRPr b="1" dirty="0" lang="en-TZ"/>
          </a:p>
          <a:p>
            <a:r>
              <a:rPr dirty="0" lang="en-US"/>
              <a:t>Gt=3dbm</a:t>
            </a:r>
            <a:endParaRPr b="1" dirty="0" lang="en-TZ"/>
          </a:p>
          <a:p>
            <a:r>
              <a:rPr dirty="0" lang="en-US"/>
              <a:t>Gr=1dbm</a:t>
            </a:r>
            <a:endParaRPr b="1" dirty="0" lang="en-TZ"/>
          </a:p>
          <a:p>
            <a:r>
              <a:rPr dirty="0" lang="en-US"/>
              <a:t>Wavelength=0.125m</a:t>
            </a:r>
            <a:endParaRPr b="1" dirty="0" lang="en-TZ"/>
          </a:p>
          <a:p>
            <a:r>
              <a:rPr dirty="0" lang="en-US"/>
              <a:t>NOTE: At this point</a:t>
            </a:r>
            <a:endParaRPr b="1" dirty="0" lang="en-TZ"/>
          </a:p>
          <a:p>
            <a:r>
              <a:rPr dirty="0" lang="en-US"/>
              <a:t>-There is a loss of 1 door</a:t>
            </a:r>
            <a:endParaRPr b="1" dirty="0" lang="en-TZ"/>
          </a:p>
          <a:p>
            <a:r>
              <a:rPr dirty="0" lang="en-US"/>
              <a:t>-(3) dbm</a:t>
            </a:r>
            <a:endParaRPr b="1" dirty="0" lang="en-TZ"/>
          </a:p>
          <a:p>
            <a:endParaRPr dirty="0" lang="en-TZ"/>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83" name=""/>
        <p:cNvGrpSpPr/>
        <p:nvPr/>
      </p:nvGrpSpPr>
      <p:grpSpPr>
        <a:xfrm>
          <a:off x="0" y="0"/>
          <a:ext cx="0" cy="0"/>
          <a:chOff x="0" y="0"/>
          <a:chExt cx="0" cy="0"/>
        </a:xfrm>
      </p:grpSpPr>
      <p:sp>
        <p:nvSpPr>
          <p:cNvPr id="1048625" name="Content Placeholder 2"/>
          <p:cNvSpPr>
            <a:spLocks noChangeAspect="1" noMove="1" noResize="1" noRot="1" noGrp="1" noAdjustHandles="1" noEditPoints="1" noChangeArrowheads="1" noChangeShapeType="1" noTextEdit="1"/>
          </p:cNvSpPr>
          <p:nvPr>
            <p:ph idx="1"/>
          </p:nvPr>
        </p:nvSpPr>
        <p:spPr>
          <a:xfrm>
            <a:off x="1451579" y="1364974"/>
            <a:ext cx="10740421" cy="5115339"/>
          </a:xfrm>
          <a:blipFill>
            <a:blip xmlns:r="http://schemas.openxmlformats.org/officeDocument/2006/relationships" r:embed="rId1"/>
            <a:stretch>
              <a:fillRect l="-511"/>
            </a:stretch>
          </a:blipFill>
        </p:spPr>
        <p:txBody>
          <a:bodyPr/>
          <a:p>
            <a:r>
              <a:rPr lang="en-TZ">
                <a:noFill/>
              </a:rPr>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84" name=""/>
        <p:cNvGrpSpPr/>
        <p:nvPr/>
      </p:nvGrpSpPr>
      <p:grpSpPr>
        <a:xfrm>
          <a:off x="0" y="0"/>
          <a:ext cx="0" cy="0"/>
          <a:chOff x="0" y="0"/>
          <a:chExt cx="0" cy="0"/>
        </a:xfrm>
      </p:grpSpPr>
      <p:sp>
        <p:nvSpPr>
          <p:cNvPr id="1048626" name="Content Placeholder 2"/>
          <p:cNvSpPr>
            <a:spLocks noGrp="1"/>
          </p:cNvSpPr>
          <p:nvPr>
            <p:ph idx="1"/>
          </p:nvPr>
        </p:nvSpPr>
        <p:spPr>
          <a:xfrm>
            <a:off x="1451579" y="1762540"/>
            <a:ext cx="10422369" cy="4373218"/>
          </a:xfrm>
        </p:spPr>
        <p:txBody>
          <a:bodyPr>
            <a:normAutofit/>
          </a:bodyPr>
          <a:p>
            <a:r>
              <a:rPr b="1" dirty="0" lang="en-US"/>
              <a:t>CASE 07: P6</a:t>
            </a:r>
            <a:endParaRPr b="1" dirty="0" lang="en-TZ"/>
          </a:p>
          <a:p>
            <a:r>
              <a:rPr dirty="0" lang="en-US"/>
              <a:t>R =26.9m</a:t>
            </a:r>
            <a:endParaRPr b="1" dirty="0" lang="en-TZ"/>
          </a:p>
          <a:p>
            <a:r>
              <a:rPr dirty="0" lang="en-US"/>
              <a:t>Pt=20dbm</a:t>
            </a:r>
            <a:endParaRPr b="1" dirty="0" lang="en-TZ"/>
          </a:p>
          <a:p>
            <a:r>
              <a:rPr dirty="0" lang="en-US"/>
              <a:t>Gt=3dbm</a:t>
            </a:r>
            <a:endParaRPr b="1" dirty="0" lang="en-TZ"/>
          </a:p>
          <a:p>
            <a:r>
              <a:rPr dirty="0" lang="en-US"/>
              <a:t>Gr=1dbm</a:t>
            </a:r>
            <a:endParaRPr b="1" dirty="0" lang="en-TZ"/>
          </a:p>
          <a:p>
            <a:r>
              <a:rPr dirty="0" lang="en-US"/>
              <a:t>Wavelength=0.125m</a:t>
            </a:r>
            <a:endParaRPr b="1" dirty="0" lang="en-TZ"/>
          </a:p>
          <a:p>
            <a:r>
              <a:rPr dirty="0" lang="en-US"/>
              <a:t>NOTE: At this point</a:t>
            </a:r>
            <a:endParaRPr b="1" dirty="0" lang="en-TZ"/>
          </a:p>
          <a:p>
            <a:r>
              <a:rPr dirty="0" lang="en-US"/>
              <a:t>-There is no any loss </a:t>
            </a:r>
            <a:endParaRPr b="1" dirty="0" lang="en-TZ"/>
          </a:p>
          <a:p>
            <a:endParaRPr dirty="0" lang="en-TZ"/>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85" name=""/>
        <p:cNvGrpSpPr/>
        <p:nvPr/>
      </p:nvGrpSpPr>
      <p:grpSpPr>
        <a:xfrm>
          <a:off x="0" y="0"/>
          <a:ext cx="0" cy="0"/>
          <a:chOff x="0" y="0"/>
          <a:chExt cx="0" cy="0"/>
        </a:xfrm>
      </p:grpSpPr>
      <p:sp>
        <p:nvSpPr>
          <p:cNvPr id="1048627" name="Content Placeholder 2"/>
          <p:cNvSpPr>
            <a:spLocks noChangeAspect="1" noMove="1" noResize="1" noRot="1" noGrp="1" noAdjustHandles="1" noEditPoints="1" noChangeArrowheads="1" noChangeShapeType="1" noTextEdit="1"/>
          </p:cNvSpPr>
          <p:nvPr>
            <p:ph idx="1"/>
          </p:nvPr>
        </p:nvSpPr>
        <p:spPr>
          <a:xfrm>
            <a:off x="1451579" y="1417983"/>
            <a:ext cx="10740421" cy="4770781"/>
          </a:xfrm>
          <a:blipFill>
            <a:blip xmlns:r="http://schemas.openxmlformats.org/officeDocument/2006/relationships" r:embed="rId1"/>
            <a:stretch>
              <a:fillRect l="-511"/>
            </a:stretch>
          </a:blipFill>
        </p:spPr>
        <p:txBody>
          <a:bodyPr/>
          <a:p>
            <a:r>
              <a:rPr lang="en-TZ">
                <a:noFill/>
              </a:rPr>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86" name=""/>
        <p:cNvGrpSpPr/>
        <p:nvPr/>
      </p:nvGrpSpPr>
      <p:grpSpPr>
        <a:xfrm>
          <a:off x="0" y="0"/>
          <a:ext cx="0" cy="0"/>
          <a:chOff x="0" y="0"/>
          <a:chExt cx="0" cy="0"/>
        </a:xfrm>
      </p:grpSpPr>
      <p:sp>
        <p:nvSpPr>
          <p:cNvPr id="1048628" name="Title 1"/>
          <p:cNvSpPr>
            <a:spLocks noGrp="1"/>
          </p:cNvSpPr>
          <p:nvPr>
            <p:ph type="title"/>
          </p:nvPr>
        </p:nvSpPr>
        <p:spPr/>
        <p:txBody>
          <a:bodyPr/>
          <a:p>
            <a:r>
              <a:rPr dirty="0" lang="en-US"/>
              <a:t>The calculated data was tabulated below </a:t>
            </a:r>
            <a:endParaRPr dirty="0" lang="en-TZ"/>
          </a:p>
        </p:txBody>
      </p:sp>
      <p:graphicFrame>
        <p:nvGraphicFramePr>
          <p:cNvPr id="4194304" name="Content Placeholder 3"/>
          <p:cNvGraphicFramePr>
            <a:graphicFrameLocks noGrp="1"/>
          </p:cNvGraphicFramePr>
          <p:nvPr>
            <p:ph idx="1"/>
          </p:nvPr>
        </p:nvGraphicFramePr>
        <p:xfrm>
          <a:off x="1451579" y="1853754"/>
          <a:ext cx="8144400" cy="3972893"/>
        </p:xfrm>
        <a:graphic>
          <a:graphicData uri="http://schemas.openxmlformats.org/drawingml/2006/table">
            <a:tbl>
              <a:tblPr firstRow="1" firstCol="1" bandRow="1">
                <a:tableStyleId>{5C22544A-7EE6-4342-B048-85BDC9FD1C3A}</a:tableStyleId>
              </a:tblPr>
              <a:tblGrid>
                <a:gridCol w="1629455"/>
                <a:gridCol w="2239153"/>
                <a:gridCol w="1810425"/>
                <a:gridCol w="2465367"/>
              </a:tblGrid>
              <a:tr h="435678">
                <a:tc>
                  <a:txBody>
                    <a:bodyPr/>
                    <a:p>
                      <a:pPr algn="just">
                        <a:lnSpc>
                          <a:spcPct val="150000"/>
                        </a:lnSpc>
                        <a:spcBef>
                          <a:spcPts val="1200"/>
                        </a:spcBef>
                        <a:spcAft>
                          <a:spcPts val="300"/>
                        </a:spcAft>
                      </a:pPr>
                      <a:r>
                        <a:rPr sz="1200" kern="1600" lang="en-US">
                          <a:effectLst/>
                        </a:rPr>
                        <a:t>Distance case</a:t>
                      </a:r>
                      <a:endParaRPr b="1"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p>
                      <a:pPr algn="just">
                        <a:lnSpc>
                          <a:spcPct val="150000"/>
                        </a:lnSpc>
                        <a:spcBef>
                          <a:spcPts val="1200"/>
                        </a:spcBef>
                        <a:spcAft>
                          <a:spcPts val="300"/>
                        </a:spcAft>
                      </a:pPr>
                      <a:r>
                        <a:rPr sz="1200" kern="1600" lang="en-US">
                          <a:effectLst/>
                        </a:rPr>
                        <a:t>Point(p)</a:t>
                      </a:r>
                      <a:endParaRPr b="1"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p>
                      <a:pPr algn="just">
                        <a:lnSpc>
                          <a:spcPct val="150000"/>
                        </a:lnSpc>
                        <a:spcBef>
                          <a:spcPts val="1200"/>
                        </a:spcBef>
                        <a:spcAft>
                          <a:spcPts val="300"/>
                        </a:spcAft>
                      </a:pPr>
                      <a:r>
                        <a:rPr sz="1200" kern="1600" lang="en-US">
                          <a:effectLst/>
                        </a:rPr>
                        <a:t>Distance(m)</a:t>
                      </a:r>
                      <a:endParaRPr b="1"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p>
                      <a:pPr algn="just">
                        <a:lnSpc>
                          <a:spcPct val="150000"/>
                        </a:lnSpc>
                        <a:spcBef>
                          <a:spcPts val="1200"/>
                        </a:spcBef>
                        <a:spcAft>
                          <a:spcPts val="300"/>
                        </a:spcAft>
                      </a:pPr>
                      <a:r>
                        <a:rPr sz="1200" kern="1600" lang="en-US">
                          <a:effectLst/>
                        </a:rPr>
                        <a:t>Power received(dbm)</a:t>
                      </a:r>
                      <a:endParaRPr b="1"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r>
              <a:tr h="923147">
                <a:tc>
                  <a:txBody>
                    <a:bodyPr/>
                    <a:p>
                      <a:pPr algn="just">
                        <a:lnSpc>
                          <a:spcPct val="150000"/>
                        </a:lnSpc>
                        <a:spcBef>
                          <a:spcPts val="1200"/>
                        </a:spcBef>
                        <a:spcAft>
                          <a:spcPts val="300"/>
                        </a:spcAft>
                      </a:pPr>
                      <a:r>
                        <a:rPr sz="1200" kern="1600" lang="en-US">
                          <a:effectLst/>
                        </a:rPr>
                        <a:t>Case 01</a:t>
                      </a:r>
                      <a:endParaRPr b="1"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p>
                      <a:pPr algn="just">
                        <a:lnSpc>
                          <a:spcPct val="150000"/>
                        </a:lnSpc>
                        <a:spcBef>
                          <a:spcPts val="1200"/>
                        </a:spcBef>
                        <a:spcAft>
                          <a:spcPts val="300"/>
                        </a:spcAft>
                      </a:pPr>
                      <a:r>
                        <a:rPr sz="1200" kern="1600" lang="en-US">
                          <a:effectLst/>
                        </a:rPr>
                        <a:t>Po(from either side of router)</a:t>
                      </a:r>
                      <a:endParaRPr b="1"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p>
                      <a:pPr algn="just">
                        <a:lnSpc>
                          <a:spcPct val="150000"/>
                        </a:lnSpc>
                        <a:spcBef>
                          <a:spcPts val="1200"/>
                        </a:spcBef>
                        <a:spcAft>
                          <a:spcPts val="300"/>
                        </a:spcAft>
                      </a:pPr>
                      <a:r>
                        <a:rPr sz="1200" kern="1600" lang="en-US">
                          <a:effectLst/>
                        </a:rPr>
                        <a:t>         1.3</a:t>
                      </a:r>
                      <a:endParaRPr b="1"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p>
                      <a:pPr algn="just">
                        <a:lnSpc>
                          <a:spcPct val="150000"/>
                        </a:lnSpc>
                        <a:spcBef>
                          <a:spcPts val="1200"/>
                        </a:spcBef>
                        <a:spcAft>
                          <a:spcPts val="300"/>
                        </a:spcAft>
                      </a:pPr>
                      <a:r>
                        <a:rPr dirty="0" sz="1200" kern="1600" lang="en-US">
                          <a:effectLst/>
                        </a:rPr>
                        <a:t>             -18.32</a:t>
                      </a:r>
                      <a:endParaRPr b="1" dirty="0"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r>
              <a:tr h="435678">
                <a:tc>
                  <a:txBody>
                    <a:bodyPr/>
                    <a:p>
                      <a:pPr algn="just">
                        <a:lnSpc>
                          <a:spcPct val="150000"/>
                        </a:lnSpc>
                        <a:spcBef>
                          <a:spcPts val="1200"/>
                        </a:spcBef>
                        <a:spcAft>
                          <a:spcPts val="300"/>
                        </a:spcAft>
                      </a:pPr>
                      <a:r>
                        <a:rPr sz="1200" kern="1600" lang="en-US">
                          <a:effectLst/>
                        </a:rPr>
                        <a:t>Case 02</a:t>
                      </a:r>
                      <a:endParaRPr b="1"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p>
                      <a:pPr algn="just">
                        <a:lnSpc>
                          <a:spcPct val="150000"/>
                        </a:lnSpc>
                        <a:spcBef>
                          <a:spcPts val="1200"/>
                        </a:spcBef>
                        <a:spcAft>
                          <a:spcPts val="300"/>
                        </a:spcAft>
                      </a:pPr>
                      <a:r>
                        <a:rPr sz="1200" kern="1600" lang="en-US">
                          <a:effectLst/>
                        </a:rPr>
                        <a:t>P1</a:t>
                      </a:r>
                      <a:endParaRPr b="1"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p>
                      <a:pPr algn="just">
                        <a:lnSpc>
                          <a:spcPct val="150000"/>
                        </a:lnSpc>
                        <a:spcBef>
                          <a:spcPts val="1200"/>
                        </a:spcBef>
                        <a:spcAft>
                          <a:spcPts val="300"/>
                        </a:spcAft>
                      </a:pPr>
                      <a:r>
                        <a:rPr sz="1200" kern="1600" lang="en-US">
                          <a:effectLst/>
                        </a:rPr>
                        <a:t>          4.3</a:t>
                      </a:r>
                      <a:endParaRPr b="1"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p>
                      <a:pPr algn="just">
                        <a:lnSpc>
                          <a:spcPct val="150000"/>
                        </a:lnSpc>
                        <a:spcBef>
                          <a:spcPts val="1200"/>
                        </a:spcBef>
                        <a:spcAft>
                          <a:spcPts val="300"/>
                        </a:spcAft>
                      </a:pPr>
                      <a:r>
                        <a:rPr sz="1200" kern="1600" lang="en-US">
                          <a:effectLst/>
                        </a:rPr>
                        <a:t>             -52.71</a:t>
                      </a:r>
                      <a:endParaRPr b="1"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r>
              <a:tr h="435678">
                <a:tc>
                  <a:txBody>
                    <a:bodyPr/>
                    <a:p>
                      <a:pPr algn="just">
                        <a:lnSpc>
                          <a:spcPct val="150000"/>
                        </a:lnSpc>
                        <a:spcBef>
                          <a:spcPts val="1200"/>
                        </a:spcBef>
                        <a:spcAft>
                          <a:spcPts val="300"/>
                        </a:spcAft>
                      </a:pPr>
                      <a:r>
                        <a:rPr sz="1200" kern="1600" lang="en-US">
                          <a:effectLst/>
                        </a:rPr>
                        <a:t>Case 03</a:t>
                      </a:r>
                      <a:endParaRPr b="1"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p>
                      <a:pPr algn="just">
                        <a:lnSpc>
                          <a:spcPct val="150000"/>
                        </a:lnSpc>
                        <a:spcBef>
                          <a:spcPts val="1200"/>
                        </a:spcBef>
                        <a:spcAft>
                          <a:spcPts val="300"/>
                        </a:spcAft>
                      </a:pPr>
                      <a:r>
                        <a:rPr sz="1200" kern="1600" lang="en-US">
                          <a:effectLst/>
                        </a:rPr>
                        <a:t>P2</a:t>
                      </a:r>
                      <a:endParaRPr b="1"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p>
                      <a:pPr algn="just">
                        <a:lnSpc>
                          <a:spcPct val="150000"/>
                        </a:lnSpc>
                        <a:spcBef>
                          <a:spcPts val="1200"/>
                        </a:spcBef>
                        <a:spcAft>
                          <a:spcPts val="300"/>
                        </a:spcAft>
                      </a:pPr>
                      <a:r>
                        <a:rPr sz="1200" kern="1600" lang="en-US">
                          <a:effectLst/>
                        </a:rPr>
                        <a:t>         10.3</a:t>
                      </a:r>
                      <a:endParaRPr b="1"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p>
                      <a:pPr algn="just">
                        <a:lnSpc>
                          <a:spcPct val="150000"/>
                        </a:lnSpc>
                        <a:spcBef>
                          <a:spcPts val="1200"/>
                        </a:spcBef>
                        <a:spcAft>
                          <a:spcPts val="300"/>
                        </a:spcAft>
                      </a:pPr>
                      <a:r>
                        <a:rPr sz="1200" kern="1600" lang="en-US">
                          <a:effectLst/>
                        </a:rPr>
                        <a:t>             -56.3</a:t>
                      </a:r>
                      <a:endParaRPr b="1"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r>
              <a:tr h="435678">
                <a:tc>
                  <a:txBody>
                    <a:bodyPr/>
                    <a:p>
                      <a:pPr algn="just">
                        <a:lnSpc>
                          <a:spcPct val="150000"/>
                        </a:lnSpc>
                        <a:spcBef>
                          <a:spcPts val="1200"/>
                        </a:spcBef>
                        <a:spcAft>
                          <a:spcPts val="300"/>
                        </a:spcAft>
                      </a:pPr>
                      <a:r>
                        <a:rPr sz="1200" kern="1600" lang="en-US">
                          <a:effectLst/>
                        </a:rPr>
                        <a:t>Case  04</a:t>
                      </a:r>
                      <a:endParaRPr b="1"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p>
                      <a:pPr algn="just">
                        <a:lnSpc>
                          <a:spcPct val="150000"/>
                        </a:lnSpc>
                        <a:spcBef>
                          <a:spcPts val="1200"/>
                        </a:spcBef>
                        <a:spcAft>
                          <a:spcPts val="300"/>
                        </a:spcAft>
                      </a:pPr>
                      <a:r>
                        <a:rPr sz="1200" kern="1600" lang="en-US">
                          <a:effectLst/>
                        </a:rPr>
                        <a:t>P3</a:t>
                      </a:r>
                      <a:endParaRPr b="1"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p>
                      <a:pPr algn="just">
                        <a:lnSpc>
                          <a:spcPct val="150000"/>
                        </a:lnSpc>
                        <a:spcBef>
                          <a:spcPts val="1200"/>
                        </a:spcBef>
                        <a:spcAft>
                          <a:spcPts val="300"/>
                        </a:spcAft>
                      </a:pPr>
                      <a:r>
                        <a:rPr sz="1200" kern="1600" lang="en-US">
                          <a:effectLst/>
                        </a:rPr>
                        <a:t>          25.5</a:t>
                      </a:r>
                      <a:endParaRPr b="1"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p>
                      <a:pPr algn="just">
                        <a:lnSpc>
                          <a:spcPct val="150000"/>
                        </a:lnSpc>
                        <a:spcBef>
                          <a:spcPts val="1200"/>
                        </a:spcBef>
                        <a:spcAft>
                          <a:spcPts val="300"/>
                        </a:spcAft>
                      </a:pPr>
                      <a:r>
                        <a:rPr sz="1200" kern="1600" lang="en-US">
                          <a:effectLst/>
                        </a:rPr>
                        <a:t>             -97.17</a:t>
                      </a:r>
                      <a:endParaRPr b="1"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r>
              <a:tr h="435678">
                <a:tc>
                  <a:txBody>
                    <a:bodyPr/>
                    <a:p>
                      <a:pPr algn="just">
                        <a:lnSpc>
                          <a:spcPct val="150000"/>
                        </a:lnSpc>
                        <a:spcBef>
                          <a:spcPts val="1200"/>
                        </a:spcBef>
                        <a:spcAft>
                          <a:spcPts val="300"/>
                        </a:spcAft>
                      </a:pPr>
                      <a:r>
                        <a:rPr sz="1200" kern="1600" lang="en-US">
                          <a:effectLst/>
                        </a:rPr>
                        <a:t>Case 05</a:t>
                      </a:r>
                      <a:endParaRPr b="1"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p>
                      <a:pPr algn="just">
                        <a:lnSpc>
                          <a:spcPct val="150000"/>
                        </a:lnSpc>
                        <a:spcBef>
                          <a:spcPts val="1200"/>
                        </a:spcBef>
                        <a:spcAft>
                          <a:spcPts val="300"/>
                        </a:spcAft>
                      </a:pPr>
                      <a:r>
                        <a:rPr sz="1200" kern="1600" lang="en-US">
                          <a:effectLst/>
                        </a:rPr>
                        <a:t>P4</a:t>
                      </a:r>
                      <a:endParaRPr b="1"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p>
                      <a:pPr algn="just">
                        <a:lnSpc>
                          <a:spcPct val="150000"/>
                        </a:lnSpc>
                        <a:spcBef>
                          <a:spcPts val="1200"/>
                        </a:spcBef>
                        <a:spcAft>
                          <a:spcPts val="300"/>
                        </a:spcAft>
                      </a:pPr>
                      <a:r>
                        <a:rPr sz="1200" kern="1600" lang="en-US">
                          <a:effectLst/>
                        </a:rPr>
                        <a:t>          28.8</a:t>
                      </a:r>
                      <a:endParaRPr b="1"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p>
                      <a:pPr algn="just">
                        <a:lnSpc>
                          <a:spcPct val="150000"/>
                        </a:lnSpc>
                        <a:spcBef>
                          <a:spcPts val="1200"/>
                        </a:spcBef>
                        <a:spcAft>
                          <a:spcPts val="300"/>
                        </a:spcAft>
                      </a:pPr>
                      <a:r>
                        <a:rPr sz="1200" kern="1600" lang="en-US">
                          <a:effectLst/>
                        </a:rPr>
                        <a:t>              -98.2</a:t>
                      </a:r>
                      <a:endParaRPr b="1"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r>
              <a:tr h="435678">
                <a:tc>
                  <a:txBody>
                    <a:bodyPr/>
                    <a:p>
                      <a:pPr algn="just">
                        <a:lnSpc>
                          <a:spcPct val="150000"/>
                        </a:lnSpc>
                        <a:spcBef>
                          <a:spcPts val="1200"/>
                        </a:spcBef>
                        <a:spcAft>
                          <a:spcPts val="300"/>
                        </a:spcAft>
                      </a:pPr>
                      <a:r>
                        <a:rPr sz="1200" kern="1600" lang="en-US">
                          <a:effectLst/>
                        </a:rPr>
                        <a:t>Case 06</a:t>
                      </a:r>
                      <a:endParaRPr b="1"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p>
                      <a:pPr algn="just">
                        <a:lnSpc>
                          <a:spcPct val="150000"/>
                        </a:lnSpc>
                        <a:spcBef>
                          <a:spcPts val="1200"/>
                        </a:spcBef>
                        <a:spcAft>
                          <a:spcPts val="300"/>
                        </a:spcAft>
                      </a:pPr>
                      <a:r>
                        <a:rPr sz="1200" kern="1600" lang="en-US">
                          <a:effectLst/>
                        </a:rPr>
                        <a:t>P5</a:t>
                      </a:r>
                      <a:endParaRPr b="1"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p>
                      <a:pPr algn="just">
                        <a:lnSpc>
                          <a:spcPct val="150000"/>
                        </a:lnSpc>
                        <a:spcBef>
                          <a:spcPts val="1200"/>
                        </a:spcBef>
                        <a:spcAft>
                          <a:spcPts val="300"/>
                        </a:spcAft>
                      </a:pPr>
                      <a:r>
                        <a:rPr sz="1200" kern="1600" lang="en-US">
                          <a:effectLst/>
                        </a:rPr>
                        <a:t>          28.5</a:t>
                      </a:r>
                      <a:endParaRPr b="1"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p>
                      <a:pPr algn="just">
                        <a:lnSpc>
                          <a:spcPct val="150000"/>
                        </a:lnSpc>
                        <a:spcBef>
                          <a:spcPts val="1200"/>
                        </a:spcBef>
                        <a:spcAft>
                          <a:spcPts val="300"/>
                        </a:spcAft>
                      </a:pPr>
                      <a:r>
                        <a:rPr sz="1200" kern="1600" lang="en-US">
                          <a:effectLst/>
                        </a:rPr>
                        <a:t>              -48.17</a:t>
                      </a:r>
                      <a:endParaRPr b="1"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r>
              <a:tr h="435678">
                <a:tc>
                  <a:txBody>
                    <a:bodyPr/>
                    <a:p>
                      <a:pPr algn="just">
                        <a:lnSpc>
                          <a:spcPct val="150000"/>
                        </a:lnSpc>
                        <a:spcBef>
                          <a:spcPts val="1200"/>
                        </a:spcBef>
                        <a:spcAft>
                          <a:spcPts val="300"/>
                        </a:spcAft>
                      </a:pPr>
                      <a:r>
                        <a:rPr sz="1200" kern="1600" lang="en-US">
                          <a:effectLst/>
                        </a:rPr>
                        <a:t>Case 07</a:t>
                      </a:r>
                      <a:endParaRPr b="1"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p>
                      <a:pPr algn="just">
                        <a:lnSpc>
                          <a:spcPct val="150000"/>
                        </a:lnSpc>
                        <a:spcBef>
                          <a:spcPts val="1200"/>
                        </a:spcBef>
                        <a:spcAft>
                          <a:spcPts val="300"/>
                        </a:spcAft>
                      </a:pPr>
                      <a:r>
                        <a:rPr sz="1200" kern="1600" lang="en-US">
                          <a:effectLst/>
                        </a:rPr>
                        <a:t>P6</a:t>
                      </a:r>
                      <a:endParaRPr b="1"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p>
                      <a:pPr algn="just">
                        <a:lnSpc>
                          <a:spcPct val="150000"/>
                        </a:lnSpc>
                        <a:spcBef>
                          <a:spcPts val="1200"/>
                        </a:spcBef>
                        <a:spcAft>
                          <a:spcPts val="300"/>
                        </a:spcAft>
                      </a:pPr>
                      <a:r>
                        <a:rPr sz="1200" kern="1600" lang="en-US">
                          <a:effectLst/>
                        </a:rPr>
                        <a:t>          26.9</a:t>
                      </a:r>
                      <a:endParaRPr b="1"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p>
                      <a:pPr algn="just">
                        <a:lnSpc>
                          <a:spcPct val="150000"/>
                        </a:lnSpc>
                        <a:spcBef>
                          <a:spcPts val="1200"/>
                        </a:spcBef>
                        <a:spcAft>
                          <a:spcPts val="300"/>
                        </a:spcAft>
                      </a:pPr>
                      <a:r>
                        <a:rPr dirty="0" sz="1200" kern="1600" lang="en-US">
                          <a:effectLst/>
                        </a:rPr>
                        <a:t>               -68.1</a:t>
                      </a:r>
                      <a:endParaRPr b="1" dirty="0" sz="1000" kern="1600" lang="en-TZ">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1048629" name="Title 1"/>
          <p:cNvSpPr>
            <a:spLocks noGrp="1"/>
          </p:cNvSpPr>
          <p:nvPr>
            <p:ph type="title"/>
          </p:nvPr>
        </p:nvSpPr>
        <p:spPr>
          <a:xfrm>
            <a:off x="1391479" y="490331"/>
            <a:ext cx="9663376" cy="1363424"/>
          </a:xfrm>
        </p:spPr>
        <p:txBody>
          <a:bodyPr>
            <a:normAutofit/>
          </a:bodyPr>
          <a:p>
            <a:r>
              <a:rPr b="1" dirty="0" lang="en-US"/>
              <a:t>GRAPH OF POWER RECEIVED(PR) AGAINST DISTANCE BETWEEN TRANSMITTER AND RECEIVER(R)</a:t>
            </a:r>
            <a:br>
              <a:rPr b="1" dirty="0" lang="en-TZ"/>
            </a:br>
            <a:r>
              <a:rPr dirty="0" lang="en-US"/>
              <a:t> </a:t>
            </a:r>
            <a:br>
              <a:rPr dirty="0" lang="en-TZ"/>
            </a:br>
            <a:endParaRPr dirty="0" lang="en-TZ"/>
          </a:p>
        </p:txBody>
      </p:sp>
      <p:pic>
        <p:nvPicPr>
          <p:cNvPr id="2097156" name="Content Placeholder 3"/>
          <p:cNvPicPr>
            <a:picLocks noGrp="1"/>
          </p:cNvPicPr>
          <p:nvPr>
            <p:ph idx="1"/>
          </p:nvPr>
        </p:nvPicPr>
        <p:blipFill>
          <a:blip xmlns:r="http://schemas.openxmlformats.org/officeDocument/2006/relationships" r:embed="rId1"/>
          <a:srcRect/>
          <a:stretch>
            <a:fillRect/>
          </a:stretch>
        </p:blipFill>
        <p:spPr bwMode="auto">
          <a:xfrm>
            <a:off x="1137145" y="1736036"/>
            <a:ext cx="10485012" cy="4359964"/>
          </a:xfrm>
          <a:prstGeom prst="rect"/>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88" name=""/>
        <p:cNvGrpSpPr/>
        <p:nvPr/>
      </p:nvGrpSpPr>
      <p:grpSpPr>
        <a:xfrm>
          <a:off x="0" y="0"/>
          <a:ext cx="0" cy="0"/>
          <a:chOff x="0" y="0"/>
          <a:chExt cx="0" cy="0"/>
        </a:xfrm>
      </p:grpSpPr>
      <p:sp>
        <p:nvSpPr>
          <p:cNvPr id="1048630" name="Title 1"/>
          <p:cNvSpPr>
            <a:spLocks noGrp="1"/>
          </p:cNvSpPr>
          <p:nvPr>
            <p:ph type="title"/>
          </p:nvPr>
        </p:nvSpPr>
        <p:spPr/>
        <p:txBody>
          <a:bodyPr/>
          <a:p>
            <a:r>
              <a:rPr dirty="0" lang="en-US"/>
              <a:t>Nature of the graph</a:t>
            </a:r>
            <a:endParaRPr dirty="0" lang="en-TZ"/>
          </a:p>
        </p:txBody>
      </p:sp>
      <p:sp>
        <p:nvSpPr>
          <p:cNvPr id="1048631" name="Content Placeholder 2"/>
          <p:cNvSpPr>
            <a:spLocks noGrp="1"/>
          </p:cNvSpPr>
          <p:nvPr>
            <p:ph idx="1"/>
          </p:nvPr>
        </p:nvSpPr>
        <p:spPr>
          <a:xfrm>
            <a:off x="1451579" y="1853754"/>
            <a:ext cx="10316351" cy="4653063"/>
          </a:xfrm>
        </p:spPr>
        <p:txBody>
          <a:bodyPr/>
          <a:p>
            <a:pPr indent="0" marL="0">
              <a:buNone/>
            </a:pPr>
            <a:r>
              <a:rPr b="1" dirty="0" lang="en-US"/>
              <a:t> </a:t>
            </a:r>
            <a:r>
              <a:rPr dirty="0" lang="en-US"/>
              <a:t>the nature of the graph representing the power received by network users against their distance from a WI-FI router transmitter typically follows an inverse square law relationship (As the distance increases, the power received decreases</a:t>
            </a:r>
            <a:r>
              <a:rPr b="1" dirty="0" lang="en-US"/>
              <a:t> </a:t>
            </a:r>
            <a:r>
              <a:rPr dirty="0" lang="en-US"/>
              <a:t>rapidly).</a:t>
            </a:r>
            <a:endParaRPr b="1" dirty="0" lang="en-TZ"/>
          </a:p>
          <a:p>
            <a:pPr indent="0" marL="0">
              <a:buNone/>
            </a:pPr>
            <a:endParaRPr dirty="0" lang="en-TZ"/>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89" name=""/>
        <p:cNvGrpSpPr/>
        <p:nvPr/>
      </p:nvGrpSpPr>
      <p:grpSpPr>
        <a:xfrm>
          <a:off x="0" y="0"/>
          <a:ext cx="0" cy="0"/>
          <a:chOff x="0" y="0"/>
          <a:chExt cx="0" cy="0"/>
        </a:xfrm>
      </p:grpSpPr>
      <p:sp>
        <p:nvSpPr>
          <p:cNvPr id="1048632" name="Title 1"/>
          <p:cNvSpPr>
            <a:spLocks noGrp="1"/>
          </p:cNvSpPr>
          <p:nvPr>
            <p:ph type="title"/>
          </p:nvPr>
        </p:nvSpPr>
        <p:spPr/>
        <p:txBody>
          <a:bodyPr>
            <a:normAutofit/>
          </a:bodyPr>
          <a:p>
            <a:r>
              <a:rPr b="1" dirty="0" lang="en-US"/>
              <a:t>Consider the spreading of radio waves emitted by the WI-FI router:</a:t>
            </a:r>
            <a:br>
              <a:rPr b="1" dirty="0" lang="en-TZ"/>
            </a:br>
            <a:endParaRPr dirty="0" lang="en-TZ"/>
          </a:p>
        </p:txBody>
      </p:sp>
      <p:sp>
        <p:nvSpPr>
          <p:cNvPr id="1048633" name="Content Placeholder 2"/>
          <p:cNvSpPr>
            <a:spLocks noGrp="1"/>
          </p:cNvSpPr>
          <p:nvPr>
            <p:ph idx="1"/>
          </p:nvPr>
        </p:nvSpPr>
        <p:spPr>
          <a:xfrm>
            <a:off x="1451579" y="1417983"/>
            <a:ext cx="10581395" cy="4863547"/>
          </a:xfrm>
        </p:spPr>
        <p:txBody>
          <a:bodyPr/>
          <a:p>
            <a:pPr indent="0" marL="0">
              <a:buNone/>
            </a:pPr>
            <a:endParaRPr b="1" dirty="0" lang="en-TZ"/>
          </a:p>
          <a:p>
            <a:r>
              <a:rPr dirty="0" lang="en-US"/>
              <a:t> When a network user is close to the router, it receives a strong signal because it is within the near-field region of the router’s antenna. However, as the distance increases, the signal strength decreases due to the spreading of the radio waves in three-dimensional space. this spreading is governed by the inverse square </a:t>
            </a:r>
            <a:endParaRPr b="1" dirty="0" lang="en-TZ"/>
          </a:p>
          <a:p>
            <a:r>
              <a:rPr dirty="0" lang="en-US"/>
              <a:t>law, which states that</a:t>
            </a:r>
            <a:r>
              <a:rPr dirty="0" i="1" lang="en-US"/>
              <a:t>” the power density of a radiating source decreases as the square of the distance from the source increases</a:t>
            </a:r>
            <a:r>
              <a:rPr dirty="0" lang="en-US"/>
              <a:t>”</a:t>
            </a:r>
            <a:endParaRPr b="1" dirty="0" lang="en-TZ"/>
          </a:p>
          <a:p>
            <a:endParaRPr dirty="0" lang="en-TZ"/>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90" name=""/>
        <p:cNvGrpSpPr/>
        <p:nvPr/>
      </p:nvGrpSpPr>
      <p:grpSpPr>
        <a:xfrm>
          <a:off x="0" y="0"/>
          <a:ext cx="0" cy="0"/>
          <a:chOff x="0" y="0"/>
          <a:chExt cx="0" cy="0"/>
        </a:xfrm>
      </p:grpSpPr>
      <p:sp>
        <p:nvSpPr>
          <p:cNvPr id="1048634" name="Title 1"/>
          <p:cNvSpPr>
            <a:spLocks noGrp="1"/>
          </p:cNvSpPr>
          <p:nvPr>
            <p:ph type="title"/>
          </p:nvPr>
        </p:nvSpPr>
        <p:spPr/>
        <p:txBody>
          <a:bodyPr/>
          <a:p>
            <a:r>
              <a:rPr b="1" dirty="0" lang="en-US"/>
              <a:t>9. RECOMMENDATIONS on optimization:</a:t>
            </a:r>
            <a:br>
              <a:rPr b="1" dirty="0" lang="en-TZ"/>
            </a:br>
            <a:endParaRPr dirty="0" lang="en-TZ"/>
          </a:p>
        </p:txBody>
      </p:sp>
      <p:sp>
        <p:nvSpPr>
          <p:cNvPr id="1048635" name="Content Placeholder 2"/>
          <p:cNvSpPr>
            <a:spLocks noGrp="1"/>
          </p:cNvSpPr>
          <p:nvPr>
            <p:ph idx="1"/>
          </p:nvPr>
        </p:nvSpPr>
        <p:spPr>
          <a:xfrm>
            <a:off x="1451579" y="1853754"/>
            <a:ext cx="10634404" cy="4772333"/>
          </a:xfrm>
        </p:spPr>
        <p:txBody>
          <a:bodyPr>
            <a:normAutofit/>
          </a:bodyPr>
          <a:p>
            <a:pPr indent="0" marL="0">
              <a:buNone/>
            </a:pPr>
            <a:r>
              <a:rPr dirty="0" lang="en-US"/>
              <a:t> The following are the ways of optimizing the problem of network in basement of administration block D;</a:t>
            </a:r>
            <a:endParaRPr b="1" dirty="0" lang="en-TZ"/>
          </a:p>
          <a:p>
            <a:pPr lvl="0"/>
            <a:r>
              <a:rPr b="1" dirty="0" lang="en-US"/>
              <a:t>WI-FI range extenders or repeaters placement</a:t>
            </a:r>
            <a:r>
              <a:rPr dirty="0" lang="en-US"/>
              <a:t>; these devices receive the existing WI-FI signal and rebroadcast it effectively increasing the range in areas with weak signals.</a:t>
            </a:r>
            <a:endParaRPr b="1" dirty="0" lang="en-TZ"/>
          </a:p>
          <a:p>
            <a:pPr lvl="0"/>
            <a:r>
              <a:rPr b="1" dirty="0" lang="en-US"/>
              <a:t>Implementing Mesh WI-FI system; </a:t>
            </a:r>
            <a:r>
              <a:rPr dirty="0" lang="en-US"/>
              <a:t>mesh system uses multiple interconnected nodes to create a seamless network and ensuring a strong signal throughout the area by extending the network coverage in basement building of administration block D.</a:t>
            </a:r>
            <a:endParaRPr b="1" dirty="0" lang="en-TZ"/>
          </a:p>
          <a:p>
            <a:endParaRPr dirty="0" lang="en-TZ"/>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91" name=""/>
        <p:cNvGrpSpPr/>
        <p:nvPr/>
      </p:nvGrpSpPr>
      <p:grpSpPr>
        <a:xfrm>
          <a:off x="0" y="0"/>
          <a:ext cx="0" cy="0"/>
          <a:chOff x="0" y="0"/>
          <a:chExt cx="0" cy="0"/>
        </a:xfrm>
      </p:grpSpPr>
      <p:sp>
        <p:nvSpPr>
          <p:cNvPr id="1048636" name="Content Placeholder 2"/>
          <p:cNvSpPr>
            <a:spLocks noGrp="1"/>
          </p:cNvSpPr>
          <p:nvPr>
            <p:ph idx="1"/>
          </p:nvPr>
        </p:nvSpPr>
        <p:spPr>
          <a:xfrm>
            <a:off x="1451579" y="1378226"/>
            <a:ext cx="10740421" cy="5035826"/>
          </a:xfrm>
        </p:spPr>
        <p:txBody>
          <a:bodyPr/>
          <a:p>
            <a:pPr indent="0" lvl="0" marL="0">
              <a:buNone/>
            </a:pPr>
            <a:endParaRPr b="1" dirty="0" lang="en-TZ"/>
          </a:p>
          <a:p>
            <a:pPr lvl="0"/>
            <a:r>
              <a:rPr b="1" dirty="0" lang="en-US"/>
              <a:t>Strategic placement of WI-FI access points; </a:t>
            </a:r>
            <a:r>
              <a:rPr dirty="0" lang="en-US"/>
              <a:t>Aps should be positioned away from obstructions like walls or large objects that can interfere with signals.</a:t>
            </a:r>
            <a:endParaRPr b="1" dirty="0" lang="en-TZ"/>
          </a:p>
          <a:p>
            <a:pPr lvl="0"/>
            <a:r>
              <a:rPr b="1" dirty="0" lang="en-US"/>
              <a:t>Network optimization; </a:t>
            </a:r>
            <a:r>
              <a:rPr dirty="0" lang="en-US"/>
              <a:t>WI-FI network must be optimized to increase its performance and this may include updating firmware on routers and access points, optimizing router setting for better signal propagation, and ensuring proper security protocols are in place.</a:t>
            </a:r>
            <a:endParaRPr b="1" dirty="0" lang="en-TZ"/>
          </a:p>
          <a:p>
            <a:endParaRPr dirty="0" lang="en-TZ"/>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92" name=""/>
        <p:cNvGrpSpPr/>
        <p:nvPr/>
      </p:nvGrpSpPr>
      <p:grpSpPr>
        <a:xfrm>
          <a:off x="0" y="0"/>
          <a:ext cx="0" cy="0"/>
          <a:chOff x="0" y="0"/>
          <a:chExt cx="0" cy="0"/>
        </a:xfrm>
      </p:grpSpPr>
      <p:sp>
        <p:nvSpPr>
          <p:cNvPr id="1048637" name="Title 1"/>
          <p:cNvSpPr>
            <a:spLocks noGrp="1"/>
          </p:cNvSpPr>
          <p:nvPr>
            <p:ph type="title"/>
          </p:nvPr>
        </p:nvSpPr>
        <p:spPr>
          <a:xfrm>
            <a:off x="1451579" y="817771"/>
            <a:ext cx="9603275" cy="1049235"/>
          </a:xfrm>
        </p:spPr>
        <p:txBody>
          <a:bodyPr/>
          <a:p>
            <a:r>
              <a:rPr b="1" dirty="0" lang="en-US"/>
              <a:t>10.SIGNIFICANCES OF THE MINI-PROJECT</a:t>
            </a:r>
            <a:br>
              <a:rPr b="1" dirty="0" lang="en-TZ"/>
            </a:br>
            <a:endParaRPr dirty="0" lang="en-TZ"/>
          </a:p>
        </p:txBody>
      </p:sp>
      <p:sp>
        <p:nvSpPr>
          <p:cNvPr id="1048638" name="Content Placeholder 2"/>
          <p:cNvSpPr>
            <a:spLocks noGrp="1"/>
          </p:cNvSpPr>
          <p:nvPr>
            <p:ph idx="1"/>
          </p:nvPr>
        </p:nvSpPr>
        <p:spPr>
          <a:xfrm>
            <a:off x="1451579" y="1457739"/>
            <a:ext cx="10740421" cy="4731025"/>
          </a:xfrm>
        </p:spPr>
        <p:txBody>
          <a:bodyPr/>
          <a:p>
            <a:pPr indent="0" lvl="0" marL="0">
              <a:buNone/>
            </a:pPr>
            <a:endParaRPr b="1" dirty="0" lang="en-TZ"/>
          </a:p>
          <a:p>
            <a:pPr lvl="0"/>
            <a:r>
              <a:rPr dirty="0" lang="en-US"/>
              <a:t>Enables efficient use of technology.</a:t>
            </a:r>
            <a:endParaRPr b="1" dirty="0" lang="en-TZ"/>
          </a:p>
          <a:p>
            <a:pPr lvl="0"/>
            <a:r>
              <a:rPr dirty="0" lang="en-US"/>
              <a:t>Improves connectivity.</a:t>
            </a:r>
            <a:endParaRPr b="1" dirty="0" lang="en-TZ"/>
          </a:p>
          <a:p>
            <a:pPr lvl="0"/>
            <a:r>
              <a:rPr dirty="0" lang="en-US"/>
              <a:t>Supports remote working.</a:t>
            </a:r>
            <a:endParaRPr b="1" dirty="0" lang="en-TZ"/>
          </a:p>
          <a:p>
            <a:endParaRPr dirty="0" lang="en-TZ"/>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93" name=""/>
        <p:cNvGrpSpPr/>
        <p:nvPr/>
      </p:nvGrpSpPr>
      <p:grpSpPr>
        <a:xfrm>
          <a:off x="0" y="0"/>
          <a:ext cx="0" cy="0"/>
          <a:chOff x="0" y="0"/>
          <a:chExt cx="0" cy="0"/>
        </a:xfrm>
      </p:grpSpPr>
      <p:sp>
        <p:nvSpPr>
          <p:cNvPr id="1048639" name="Title 1"/>
          <p:cNvSpPr>
            <a:spLocks noGrp="1"/>
          </p:cNvSpPr>
          <p:nvPr>
            <p:ph type="title"/>
          </p:nvPr>
        </p:nvSpPr>
        <p:spPr/>
        <p:txBody>
          <a:bodyPr/>
          <a:p>
            <a:r>
              <a:rPr b="1" dirty="0" lang="en-US"/>
              <a:t>11.CONCLUSION:</a:t>
            </a:r>
            <a:br>
              <a:rPr b="1" dirty="0" lang="en-TZ"/>
            </a:br>
            <a:endParaRPr dirty="0" lang="en-TZ"/>
          </a:p>
        </p:txBody>
      </p:sp>
      <p:sp>
        <p:nvSpPr>
          <p:cNvPr id="1048640" name="Content Placeholder 2"/>
          <p:cNvSpPr>
            <a:spLocks noGrp="1"/>
          </p:cNvSpPr>
          <p:nvPr>
            <p:ph idx="1"/>
          </p:nvPr>
        </p:nvSpPr>
        <p:spPr>
          <a:xfrm>
            <a:off x="1451579" y="1417983"/>
            <a:ext cx="10740421" cy="4426225"/>
          </a:xfrm>
        </p:spPr>
        <p:txBody>
          <a:bodyPr/>
          <a:p>
            <a:pPr indent="0" lvl="0" marL="0">
              <a:buNone/>
            </a:pPr>
            <a:endParaRPr b="1" dirty="0" lang="en-TZ"/>
          </a:p>
          <a:p>
            <a:r>
              <a:rPr b="1" dirty="0" lang="en-US"/>
              <a:t>In summary, </a:t>
            </a:r>
            <a:r>
              <a:rPr dirty="0" lang="en-US"/>
              <a:t>addressing the WI-FI network problem in basement buildings is crucial for optimizing connectivity and ensuring smooth operation of various activities. By implementing the recommended solutions, the project aims to overcome the challenges posed by basement environments and provide a reliable and efficient WI-FI network, ultimately benefiting the users.</a:t>
            </a:r>
            <a:endParaRPr b="1" dirty="0" lang="en-TZ"/>
          </a:p>
          <a:p>
            <a:r>
              <a:rPr dirty="0" lang="en-US"/>
              <a:t> </a:t>
            </a:r>
            <a:endParaRPr dirty="0" lang="en-TZ"/>
          </a:p>
          <a:p>
            <a:endParaRPr dirty="0" lang="en-TZ"/>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94" name=""/>
        <p:cNvGrpSpPr/>
        <p:nvPr/>
      </p:nvGrpSpPr>
      <p:grpSpPr>
        <a:xfrm>
          <a:off x="0" y="0"/>
          <a:ext cx="0" cy="0"/>
          <a:chOff x="0" y="0"/>
          <a:chExt cx="0" cy="0"/>
        </a:xfrm>
      </p:grpSpPr>
      <p:sp>
        <p:nvSpPr>
          <p:cNvPr id="1048641" name="Title 1"/>
          <p:cNvSpPr>
            <a:spLocks noGrp="1"/>
          </p:cNvSpPr>
          <p:nvPr>
            <p:ph type="title"/>
          </p:nvPr>
        </p:nvSpPr>
        <p:spPr/>
        <p:txBody>
          <a:bodyPr/>
          <a:p>
            <a:r>
              <a:rPr b="1" dirty="0" lang="en-US"/>
              <a:t>REFERENCES:</a:t>
            </a:r>
            <a:br>
              <a:rPr b="1" dirty="0" lang="en-TZ"/>
            </a:br>
            <a:endParaRPr dirty="0" lang="en-TZ"/>
          </a:p>
        </p:txBody>
      </p:sp>
      <p:sp>
        <p:nvSpPr>
          <p:cNvPr id="1048642" name="Content Placeholder 2"/>
          <p:cNvSpPr>
            <a:spLocks noGrp="1"/>
          </p:cNvSpPr>
          <p:nvPr>
            <p:ph idx="1"/>
          </p:nvPr>
        </p:nvSpPr>
        <p:spPr>
          <a:xfrm>
            <a:off x="1451579" y="1391478"/>
            <a:ext cx="9603275" cy="4074867"/>
          </a:xfrm>
        </p:spPr>
        <p:txBody>
          <a:bodyPr/>
          <a:p>
            <a:pPr indent="0" marL="0">
              <a:buNone/>
            </a:pPr>
            <a:endParaRPr dirty="0" lang="en-TZ"/>
          </a:p>
          <a:p>
            <a:r>
              <a:rPr dirty="0" lang="en-US" u="sng">
                <a:hlinkClick r:id="rId1"/>
              </a:rPr>
              <a:t>www.cisco.com</a:t>
            </a:r>
            <a:endParaRPr dirty="0" lang="en-TZ"/>
          </a:p>
          <a:p>
            <a:r>
              <a:rPr dirty="0" lang="en-US"/>
              <a:t>support.microsoft.com</a:t>
            </a:r>
            <a:endParaRPr dirty="0" lang="en-TZ"/>
          </a:p>
          <a:p>
            <a:r>
              <a:rPr dirty="0" lang="en-US"/>
              <a:t>en.m.wikipedia.org</a:t>
            </a:r>
            <a:endParaRPr dirty="0" lang="en-TZ"/>
          </a:p>
          <a:p>
            <a:endParaRPr dirty="0" lang="en-TZ"/>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95" name=""/>
        <p:cNvGrpSpPr/>
        <p:nvPr/>
      </p:nvGrpSpPr>
      <p:grpSpPr>
        <a:xfrm>
          <a:off x="0" y="0"/>
          <a:ext cx="0" cy="0"/>
          <a:chOff x="0" y="0"/>
          <a:chExt cx="0" cy="0"/>
        </a:xfrm>
      </p:grpSpPr>
      <p:sp>
        <p:nvSpPr>
          <p:cNvPr id="1048643" name="Title 1"/>
          <p:cNvSpPr>
            <a:spLocks noGrp="1"/>
          </p:cNvSpPr>
          <p:nvPr>
            <p:ph type="title"/>
          </p:nvPr>
        </p:nvSpPr>
        <p:spPr/>
        <p:txBody>
          <a:bodyPr/>
          <a:p>
            <a:r>
              <a:rPr dirty="0" lang="en-US"/>
              <a:t>THANK YOU DR.TWAHIR FOR THIS MINI-PROJECT</a:t>
            </a:r>
            <a:endParaRPr dirty="0" lang="en-TZ"/>
          </a:p>
        </p:txBody>
      </p:sp>
    </p:spTree>
  </p:cSld>
  <p:clrMapOvr>
    <a:masterClrMapping/>
  </p:clrMapOvr>
</p:sld>
</file>

<file path=ppt/theme/theme1.xml><?xml version="1.0" encoding="utf-8"?>
<a:theme xmlns:a="http://schemas.openxmlformats.org/drawingml/2006/main" name="Gallery">
  <a:themeElements>
    <a:clrScheme name="Gallery">
      <a:dk1>
        <a:sysClr lastClr="000000" val="windowText"/>
      </a:dk1>
      <a:lt1>
        <a:sysClr lastClr="FFFFFF" val="window"/>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r="5400000" dist="50800" rotWithShape="0" sx="96000" sy="96000">
              <a:srgbClr val="000000">
                <a:alpha val="48000"/>
              </a:srgbClr>
            </a:outerShdw>
          </a:effectLst>
          <a:scene3d>
            <a:camera prst="orthographicFront">
              <a:rot lat="0" lon="0" rev="0"/>
            </a:camera>
            <a:lightRig dir="t" rig="balanced">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Wi-fi mini project</dc:title>
  <dc:creator>AYOO</dc:creator>
  <cp:lastModifiedBy>AYOO</cp:lastModifiedBy>
  <dcterms:created xsi:type="dcterms:W3CDTF">2023-06-14T23:22:33Z</dcterms:created>
  <dcterms:modified xsi:type="dcterms:W3CDTF">2024-01-06T19:25:02Z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6aeb6f38ba27466c8061491d0e057655</vt:lpwstr>
  </property>
</Properties>
</file>