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9"/>
  </p:notesMasterIdLst>
  <p:sldIdLst>
    <p:sldId id="256" r:id="rId2"/>
    <p:sldId id="260" r:id="rId3"/>
    <p:sldId id="311" r:id="rId4"/>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10" r:id="rId20"/>
    <p:sldId id="307" r:id="rId21"/>
    <p:sldId id="308" r:id="rId22"/>
    <p:sldId id="309" r:id="rId23"/>
    <p:sldId id="306" r:id="rId24"/>
    <p:sldId id="303" r:id="rId25"/>
    <p:sldId id="302" r:id="rId26"/>
    <p:sldId id="261" r:id="rId27"/>
    <p:sldId id="258" r:id="rId28"/>
    <p:sldId id="262" r:id="rId29"/>
    <p:sldId id="304" r:id="rId30"/>
    <p:sldId id="305" r:id="rId31"/>
    <p:sldId id="263" r:id="rId32"/>
    <p:sldId id="264" r:id="rId33"/>
    <p:sldId id="265" r:id="rId34"/>
    <p:sldId id="266" r:id="rId35"/>
    <p:sldId id="267" r:id="rId36"/>
    <p:sldId id="268" r:id="rId37"/>
    <p:sldId id="269"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70" autoAdjust="0"/>
    <p:restoredTop sz="94660"/>
  </p:normalViewPr>
  <p:slideViewPr>
    <p:cSldViewPr>
      <p:cViewPr varScale="1">
        <p:scale>
          <a:sx n="107" d="100"/>
          <a:sy n="107" d="100"/>
        </p:scale>
        <p:origin x="1752"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C7DFBC-5142-424D-B61A-A56A10CA34D9}" type="datetimeFigureOut">
              <a:rPr lang="en-US" smtClean="0"/>
              <a:t>11/21/2022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64520A-982C-44DE-A99B-760157F5113C}" type="slidenum">
              <a:rPr lang="en-US" smtClean="0"/>
              <a:t>‹#›</a:t>
            </a:fld>
            <a:endParaRPr lang="en-US"/>
          </a:p>
        </p:txBody>
      </p:sp>
    </p:spTree>
    <p:extLst>
      <p:ext uri="{BB962C8B-B14F-4D97-AF65-F5344CB8AC3E}">
        <p14:creationId xmlns:p14="http://schemas.microsoft.com/office/powerpoint/2010/main" val="3925466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64520A-982C-44DE-A99B-760157F5113C}" type="slidenum">
              <a:rPr lang="en-US" smtClean="0"/>
              <a:t>32</a:t>
            </a:fld>
            <a:endParaRPr lang="en-US"/>
          </a:p>
        </p:txBody>
      </p:sp>
    </p:spTree>
    <p:extLst>
      <p:ext uri="{BB962C8B-B14F-4D97-AF65-F5344CB8AC3E}">
        <p14:creationId xmlns:p14="http://schemas.microsoft.com/office/powerpoint/2010/main" val="3925244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3BAF07F5-87D9-4868-AAFB-807E050D3A90}" type="datetimeFigureOut">
              <a:rPr lang="en-US" smtClean="0"/>
              <a:pPr/>
              <a:t>11/21/2022</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F1EB308A-33AB-43EA-861F-D0B3FACE98D6}"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3BAF07F5-87D9-4868-AAFB-807E050D3A90}" type="datetimeFigureOut">
              <a:rPr lang="en-US" smtClean="0"/>
              <a:pPr/>
              <a:t>11/21/2022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EB308A-33AB-43EA-861F-D0B3FACE98D6}"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BAF07F5-87D9-4868-AAFB-807E050D3A90}" type="datetimeFigureOut">
              <a:rPr lang="en-US" smtClean="0"/>
              <a:pPr/>
              <a:t>11/21/2022</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F1EB308A-33AB-43EA-861F-D0B3FACE98D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BAF07F5-87D9-4868-AAFB-807E050D3A90}" type="datetimeFigureOut">
              <a:rPr lang="en-US" smtClean="0"/>
              <a:pPr/>
              <a:t>11/21/2022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EB308A-33AB-43EA-861F-D0B3FACE98D6}"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3BAF07F5-87D9-4868-AAFB-807E050D3A90}" type="datetimeFigureOut">
              <a:rPr lang="en-US" smtClean="0"/>
              <a:pPr/>
              <a:t>11/21/2022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EB308A-33AB-43EA-861F-D0B3FACE98D6}"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BAF07F5-87D9-4868-AAFB-807E050D3A90}" type="datetimeFigureOut">
              <a:rPr lang="en-US" smtClean="0"/>
              <a:pPr/>
              <a:t>11/21/2022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EB308A-33AB-43EA-861F-D0B3FACE98D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AF07F5-87D9-4868-AAFB-807E050D3A90}" type="datetimeFigureOut">
              <a:rPr lang="en-US" smtClean="0"/>
              <a:pPr/>
              <a:t>11/21/2022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EB308A-33AB-43EA-861F-D0B3FACE98D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BAF07F5-87D9-4868-AAFB-807E050D3A90}" type="datetimeFigureOut">
              <a:rPr lang="en-US" smtClean="0"/>
              <a:pPr/>
              <a:t>11/21/2022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EB308A-33AB-43EA-861F-D0B3FACE98D6}"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BAF07F5-87D9-4868-AAFB-807E050D3A90}" type="datetimeFigureOut">
              <a:rPr lang="en-US" smtClean="0"/>
              <a:pPr/>
              <a:t>11/21/2022</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F1EB308A-33AB-43EA-861F-D0B3FACE98D6}"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BAF07F5-87D9-4868-AAFB-807E050D3A90}" type="datetimeFigureOut">
              <a:rPr lang="en-US" smtClean="0"/>
              <a:pPr/>
              <a:t>11/21/2022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EB308A-33AB-43EA-861F-D0B3FACE98D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BAF07F5-87D9-4868-AAFB-807E050D3A90}" type="datetimeFigureOut">
              <a:rPr lang="en-US" smtClean="0"/>
              <a:pPr/>
              <a:t>11/21/2022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EB308A-33AB-43EA-861F-D0B3FACE98D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3BAF07F5-87D9-4868-AAFB-807E050D3A90}" type="datetimeFigureOut">
              <a:rPr lang="en-US" smtClean="0"/>
              <a:pPr/>
              <a:t>11/21/2022</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F1EB308A-33AB-43EA-861F-D0B3FACE98D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457200" y="1524000"/>
            <a:ext cx="8229600" cy="1465870"/>
          </a:xfrm>
        </p:spPr>
        <p:txBody>
          <a:bodyPr/>
          <a:lstStyle/>
          <a:p>
            <a:r>
              <a:rPr lang="en-US" dirty="0"/>
              <a:t>UNIT II – TOPOLOGIES,NETWORK HARDWARE AND SOFTWARE</a:t>
            </a:r>
          </a:p>
        </p:txBody>
      </p:sp>
      <p:sp>
        <p:nvSpPr>
          <p:cNvPr id="6" name="TextBox 5"/>
          <p:cNvSpPr txBox="1"/>
          <p:nvPr/>
        </p:nvSpPr>
        <p:spPr>
          <a:xfrm>
            <a:off x="347133" y="3611940"/>
            <a:ext cx="8458200" cy="1569660"/>
          </a:xfrm>
          <a:prstGeom prst="rect">
            <a:avLst/>
          </a:prstGeom>
          <a:noFill/>
        </p:spPr>
        <p:txBody>
          <a:bodyPr wrap="square" rtlCol="0">
            <a:spAutoFit/>
          </a:bodyPr>
          <a:lstStyle/>
          <a:p>
            <a:r>
              <a:rPr lang="en-US" sz="3200" b="1" dirty="0">
                <a:latin typeface="Times New Roman" pitchFamily="18" charset="0"/>
                <a:cs typeface="Times New Roman" pitchFamily="18" charset="0"/>
              </a:rPr>
              <a:t>CODE:</a:t>
            </a:r>
            <a:r>
              <a:rPr lang="en-US" sz="3200" dirty="0">
                <a:latin typeface="Times New Roman" pitchFamily="18" charset="0"/>
                <a:cs typeface="Times New Roman" pitchFamily="18" charset="0"/>
              </a:rPr>
              <a:t> </a:t>
            </a:r>
            <a:r>
              <a:rPr lang="en-GB" sz="3200" dirty="0">
                <a:latin typeface="Times New Roman" panose="02020603050405020304" pitchFamily="18" charset="0"/>
                <a:cs typeface="Times New Roman" panose="02020603050405020304" pitchFamily="18" charset="0"/>
              </a:rPr>
              <a:t>CS 8137</a:t>
            </a:r>
            <a:endParaRPr lang="en-US" sz="3200" dirty="0">
              <a:latin typeface="Times New Roman" panose="02020603050405020304" pitchFamily="18" charset="0"/>
              <a:cs typeface="Times New Roman" pitchFamily="18" charset="0"/>
            </a:endParaRPr>
          </a:p>
          <a:p>
            <a:r>
              <a:rPr lang="en-US" sz="3200" b="1" dirty="0">
                <a:latin typeface="Times New Roman" pitchFamily="18" charset="0"/>
                <a:cs typeface="Times New Roman" pitchFamily="18" charset="0"/>
              </a:rPr>
              <a:t>FACILITATOR: </a:t>
            </a:r>
            <a:r>
              <a:rPr lang="en-US" sz="3200" dirty="0">
                <a:latin typeface="Times New Roman" pitchFamily="18" charset="0"/>
                <a:cs typeface="Times New Roman" pitchFamily="18" charset="0"/>
              </a:rPr>
              <a:t>FRANK </a:t>
            </a:r>
          </a:p>
          <a:p>
            <a:r>
              <a:rPr lang="en-US" sz="3200" b="1" dirty="0">
                <a:latin typeface="Times New Roman" pitchFamily="18" charset="0"/>
                <a:cs typeface="Times New Roman" pitchFamily="18" charset="0"/>
              </a:rPr>
              <a:t>EMAIL: </a:t>
            </a:r>
            <a:r>
              <a:rPr lang="en-US" sz="3200" dirty="0">
                <a:latin typeface="Times New Roman" pitchFamily="18" charset="0"/>
                <a:cs typeface="Times New Roman" pitchFamily="18" charset="0"/>
              </a:rPr>
              <a:t>frankibrahim25@gmail.com</a:t>
            </a:r>
          </a:p>
        </p:txBody>
      </p:sp>
      <p:sp>
        <p:nvSpPr>
          <p:cNvPr id="7" name="TextBox 6"/>
          <p:cNvSpPr txBox="1"/>
          <p:nvPr/>
        </p:nvSpPr>
        <p:spPr>
          <a:xfrm>
            <a:off x="118238" y="420469"/>
            <a:ext cx="8915400" cy="646331"/>
          </a:xfrm>
          <a:prstGeom prst="rect">
            <a:avLst/>
          </a:prstGeom>
          <a:noFill/>
        </p:spPr>
        <p:txBody>
          <a:bodyPr wrap="square" rtlCol="0">
            <a:spAutoFit/>
          </a:bodyPr>
          <a:lstStyle/>
          <a:p>
            <a:pPr algn="ctr"/>
            <a:r>
              <a:rPr lang="en-GB" sz="3600" b="1" dirty="0">
                <a:latin typeface="Times New Roman" panose="02020603050405020304" pitchFamily="18" charset="0"/>
                <a:cs typeface="Times New Roman" panose="02020603050405020304" pitchFamily="18" charset="0"/>
              </a:rPr>
              <a:t>COMPUTER NETWORKS I</a:t>
            </a:r>
            <a:endParaRPr lang="en-US" sz="3600" b="1" dirty="0">
              <a:latin typeface="Times New Roman" panose="02020603050405020304"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4708981"/>
          </a:xfrm>
          <a:prstGeom prst="rect">
            <a:avLst/>
          </a:prstGeom>
          <a:noFill/>
        </p:spPr>
        <p:txBody>
          <a:bodyPr wrap="square" rtlCol="0">
            <a:spAutoFit/>
          </a:bodyPr>
          <a:lstStyle/>
          <a:p>
            <a:r>
              <a:rPr lang="en-US" sz="3000" b="1" i="1" dirty="0">
                <a:latin typeface="Times New Roman" pitchFamily="18" charset="0"/>
                <a:cs typeface="Times New Roman" pitchFamily="18" charset="0"/>
              </a:rPr>
              <a:t>Network Topologies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Network topology is the arrangement of the various elements (links, nodes, etc.) of a computer network.</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Essentially, it is the topological structure of a network, and may be depicted physically or logically</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Physical topology refers to the placement of the network's various components, including device location and cable installation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Logical topology shows how data flows within a network, regardless   of   its   physical   design.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093976"/>
          </a:xfrm>
          <a:prstGeom prst="rect">
            <a:avLst/>
          </a:prstGeom>
          <a:noFill/>
        </p:spPr>
        <p:txBody>
          <a:bodyPr wrap="square" rtlCol="0">
            <a:spAutoFit/>
          </a:bodyPr>
          <a:lstStyle/>
          <a:p>
            <a:r>
              <a:rPr lang="en-US" sz="3000" b="1" i="1" dirty="0">
                <a:latin typeface="Times New Roman" pitchFamily="18" charset="0"/>
                <a:cs typeface="Times New Roman" pitchFamily="18" charset="0"/>
              </a:rPr>
              <a:t>Physical Topology</a:t>
            </a:r>
          </a:p>
          <a:p>
            <a:r>
              <a:rPr lang="en-US" sz="3000" b="1" i="1" dirty="0">
                <a:latin typeface="Times New Roman" pitchFamily="18" charset="0"/>
                <a:cs typeface="Times New Roman" pitchFamily="18" charset="0"/>
              </a:rPr>
              <a:t>Mesh topology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A mesh topology is the one where every node is connected to every other node in the network.</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A mesh topology can be a full mesh topology or a partially connected mesh topology.</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In a full mesh topology, every computer in the network has a connection to each of the other computers in that network.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The number of connections in this network can be calculated using the following formula (n is the number of computers in the network):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n(n-1)/2</a:t>
            </a:r>
          </a:p>
        </p:txBody>
      </p:sp>
    </p:spTree>
    <p:extLst>
      <p:ext uri="{BB962C8B-B14F-4D97-AF65-F5344CB8AC3E}">
        <p14:creationId xmlns:p14="http://schemas.microsoft.com/office/powerpoint/2010/main" val="2099893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093976"/>
          </a:xfrm>
          <a:prstGeom prst="rect">
            <a:avLst/>
          </a:prstGeom>
          <a:noFill/>
        </p:spPr>
        <p:txBody>
          <a:bodyPr wrap="square" rtlCol="0">
            <a:spAutoFit/>
          </a:bodyPr>
          <a:lstStyle/>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In a partially connected mesh topology, at least two of the computers in the network have connections to multiple other computers in that network.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In the event that one of the primary computers or connections in the network fails, the rest of the network continues to operate normally.</a:t>
            </a:r>
          </a:p>
          <a:p>
            <a:endParaRPr lang="en-US" altLang="en-US" sz="3000" dirty="0">
              <a:latin typeface="Times New Roman" pitchFamily="18" charset="0"/>
              <a:cs typeface="Times New Roman" pitchFamily="18" charset="0"/>
            </a:endParaRPr>
          </a:p>
          <a:p>
            <a:r>
              <a:rPr lang="en-US" altLang="en-US" sz="3000" b="1" dirty="0">
                <a:latin typeface="Times New Roman" pitchFamily="18" charset="0"/>
                <a:cs typeface="Times New Roman" pitchFamily="18" charset="0"/>
              </a:rPr>
              <a:t>Advantages of mesh topology</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Eliminate the traffic problems: The use of dedicated links guarantees that each connection can carry its own data load.</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A mesh topology is robust. If one link becomes unusable, it does not incapacitate the entire system</a:t>
            </a:r>
          </a:p>
        </p:txBody>
      </p:sp>
    </p:spTree>
    <p:extLst>
      <p:ext uri="{BB962C8B-B14F-4D97-AF65-F5344CB8AC3E}">
        <p14:creationId xmlns:p14="http://schemas.microsoft.com/office/powerpoint/2010/main" val="2303475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555641"/>
          </a:xfrm>
          <a:prstGeom prst="rect">
            <a:avLst/>
          </a:prstGeom>
          <a:noFill/>
        </p:spPr>
        <p:txBody>
          <a:bodyPr wrap="square" rtlCol="0">
            <a:spAutoFit/>
          </a:bodyPr>
          <a:lstStyle/>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There is the advantage of privacy or security. When every message travels along a dedicated line, only the intended recipient sees it.</a:t>
            </a:r>
          </a:p>
          <a:p>
            <a:pPr marL="457200" indent="-457200">
              <a:buFont typeface="Wingdings" panose="05000000000000000000" pitchFamily="2" charset="2"/>
              <a:buChar char="§"/>
            </a:pPr>
            <a:endParaRPr lang="en-US" altLang="en-US" sz="3000" b="1" dirty="0">
              <a:latin typeface="Times New Roman" pitchFamily="18" charset="0"/>
              <a:cs typeface="Times New Roman" pitchFamily="18" charset="0"/>
            </a:endParaRPr>
          </a:p>
          <a:p>
            <a:r>
              <a:rPr lang="en-US" altLang="en-US" sz="3000" b="1" dirty="0">
                <a:latin typeface="Times New Roman" pitchFamily="18" charset="0"/>
                <a:cs typeface="Times New Roman" pitchFamily="18" charset="0"/>
              </a:rPr>
              <a:t>Disadvantage of mesh topology</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The main disadvantages of a mesh are related to the amount of cabling and the number of I/O ports required.</a:t>
            </a:r>
          </a:p>
          <a:p>
            <a:pPr marL="914400" lvl="1" indent="-457200">
              <a:buFont typeface="Wingdings" panose="05000000000000000000" pitchFamily="2" charset="2"/>
              <a:buChar char="§"/>
            </a:pPr>
            <a:r>
              <a:rPr lang="en-US" altLang="en-US" sz="3000" dirty="0">
                <a:latin typeface="Times New Roman" pitchFamily="18" charset="0"/>
                <a:cs typeface="Times New Roman" pitchFamily="18" charset="0"/>
              </a:rPr>
              <a:t>Because every device must be connected to every other device, installation and reconnection are difficult.</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The sheer bulk of the wiring can be greater than the available space (in walls, ceilings, or floors) can accommodate.</a:t>
            </a:r>
          </a:p>
        </p:txBody>
      </p:sp>
    </p:spTree>
    <p:extLst>
      <p:ext uri="{BB962C8B-B14F-4D97-AF65-F5344CB8AC3E}">
        <p14:creationId xmlns:p14="http://schemas.microsoft.com/office/powerpoint/2010/main" val="3128873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1015663"/>
          </a:xfrm>
          <a:prstGeom prst="rect">
            <a:avLst/>
          </a:prstGeom>
          <a:noFill/>
        </p:spPr>
        <p:txBody>
          <a:bodyPr wrap="square" rtlCol="0">
            <a:spAutoFit/>
          </a:bodyPr>
          <a:lstStyle/>
          <a:p>
            <a:r>
              <a:rPr lang="en-US" altLang="en-US" sz="3000" dirty="0">
                <a:latin typeface="Times New Roman" pitchFamily="18" charset="0"/>
                <a:cs typeface="Times New Roman" pitchFamily="18" charset="0"/>
              </a:rPr>
              <a:t>Mesh topology</a:t>
            </a:r>
          </a:p>
          <a:p>
            <a:endParaRPr lang="en-US" altLang="en-US" sz="3000" b="1" dirty="0">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302A5588-7643-3508-B1EC-FF98124A643D}"/>
              </a:ext>
            </a:extLst>
          </p:cNvPr>
          <p:cNvPicPr>
            <a:picLocks noChangeAspect="1"/>
          </p:cNvPicPr>
          <p:nvPr/>
        </p:nvPicPr>
        <p:blipFill>
          <a:blip r:embed="rId2"/>
          <a:stretch>
            <a:fillRect/>
          </a:stretch>
        </p:blipFill>
        <p:spPr>
          <a:xfrm>
            <a:off x="1538977" y="1743310"/>
            <a:ext cx="6066046" cy="3371380"/>
          </a:xfrm>
          <a:prstGeom prst="rect">
            <a:avLst/>
          </a:prstGeom>
        </p:spPr>
      </p:pic>
    </p:spTree>
    <p:extLst>
      <p:ext uri="{BB962C8B-B14F-4D97-AF65-F5344CB8AC3E}">
        <p14:creationId xmlns:p14="http://schemas.microsoft.com/office/powerpoint/2010/main" val="2163575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5632311"/>
          </a:xfrm>
          <a:prstGeom prst="rect">
            <a:avLst/>
          </a:prstGeom>
          <a:noFill/>
        </p:spPr>
        <p:txBody>
          <a:bodyPr wrap="square" rtlCol="0">
            <a:spAutoFit/>
          </a:bodyPr>
          <a:lstStyle/>
          <a:p>
            <a:r>
              <a:rPr lang="en-US" altLang="en-US" sz="3000" b="1" dirty="0">
                <a:latin typeface="Times New Roman" pitchFamily="18" charset="0"/>
                <a:cs typeface="Times New Roman" pitchFamily="18" charset="0"/>
              </a:rPr>
              <a:t>Star Topology</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In a star topology, each device has a dedicated point-to-point link only to a central controller, usually called a hub. The devices are not directly linked to one another.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Unlike a mesh topology, a star topology does not allow direct traffic between devices. The controller acts as an exchange.</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If one device wants to send data to another, it sends the data to the controller, which then relays the data to the other connected device.</a:t>
            </a:r>
          </a:p>
          <a:p>
            <a:endParaRPr lang="en-US" altLang="en-US" sz="3000" b="1" dirty="0">
              <a:latin typeface="Times New Roman" pitchFamily="18" charset="0"/>
              <a:cs typeface="Times New Roman" pitchFamily="18" charset="0"/>
            </a:endParaRPr>
          </a:p>
        </p:txBody>
      </p:sp>
    </p:spTree>
    <p:extLst>
      <p:ext uri="{BB962C8B-B14F-4D97-AF65-F5344CB8AC3E}">
        <p14:creationId xmlns:p14="http://schemas.microsoft.com/office/powerpoint/2010/main" val="2656795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553998"/>
          </a:xfrm>
          <a:prstGeom prst="rect">
            <a:avLst/>
          </a:prstGeom>
          <a:noFill/>
        </p:spPr>
        <p:txBody>
          <a:bodyPr wrap="square" rtlCol="0">
            <a:spAutoFit/>
          </a:bodyPr>
          <a:lstStyle/>
          <a:p>
            <a:r>
              <a:rPr lang="en-US" altLang="en-US" sz="3000" b="1" dirty="0">
                <a:latin typeface="Times New Roman" pitchFamily="18" charset="0"/>
                <a:cs typeface="Times New Roman" pitchFamily="18" charset="0"/>
              </a:rPr>
              <a:t>Star topology</a:t>
            </a:r>
          </a:p>
        </p:txBody>
      </p:sp>
      <p:pic>
        <p:nvPicPr>
          <p:cNvPr id="2" name="Picture 1">
            <a:extLst>
              <a:ext uri="{FF2B5EF4-FFF2-40B4-BE49-F238E27FC236}">
                <a16:creationId xmlns:a16="http://schemas.microsoft.com/office/drawing/2014/main" id="{062AE4E9-ADB5-4DEF-81CB-0495AF482F46}"/>
              </a:ext>
            </a:extLst>
          </p:cNvPr>
          <p:cNvPicPr>
            <a:picLocks noChangeAspect="1"/>
          </p:cNvPicPr>
          <p:nvPr/>
        </p:nvPicPr>
        <p:blipFill>
          <a:blip r:embed="rId2"/>
          <a:stretch>
            <a:fillRect/>
          </a:stretch>
        </p:blipFill>
        <p:spPr>
          <a:xfrm>
            <a:off x="648884" y="1295215"/>
            <a:ext cx="7846232" cy="4267570"/>
          </a:xfrm>
          <a:prstGeom prst="rect">
            <a:avLst/>
          </a:prstGeom>
        </p:spPr>
      </p:pic>
    </p:spTree>
    <p:extLst>
      <p:ext uri="{BB962C8B-B14F-4D97-AF65-F5344CB8AC3E}">
        <p14:creationId xmlns:p14="http://schemas.microsoft.com/office/powerpoint/2010/main" val="4291797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093976"/>
          </a:xfrm>
          <a:prstGeom prst="rect">
            <a:avLst/>
          </a:prstGeom>
          <a:noFill/>
        </p:spPr>
        <p:txBody>
          <a:bodyPr wrap="square" rtlCol="0">
            <a:spAutoFit/>
          </a:bodyPr>
          <a:lstStyle/>
          <a:p>
            <a:r>
              <a:rPr lang="en-US" altLang="en-US" sz="3000" b="1" dirty="0">
                <a:latin typeface="Times New Roman" pitchFamily="18" charset="0"/>
                <a:cs typeface="Times New Roman" pitchFamily="18" charset="0"/>
              </a:rPr>
              <a:t>Advantage of star topology</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A star topology is less expensive than a mesh topology. In a star, each device needs only one link and one I/O port to connect it to any number of others.</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Robustness. If one link fails, only that link is affected. All other links remain active. This factor also lends itself to easy fault identification and fault isolation. </a:t>
            </a:r>
            <a:endParaRPr lang="en-US" altLang="en-US" sz="3000" b="1" dirty="0">
              <a:latin typeface="Times New Roman" pitchFamily="18" charset="0"/>
              <a:cs typeface="Times New Roman" pitchFamily="18" charset="0"/>
            </a:endParaRPr>
          </a:p>
          <a:p>
            <a:endParaRPr lang="en-US" altLang="en-US" sz="3000" b="1" dirty="0">
              <a:latin typeface="Times New Roman" pitchFamily="18" charset="0"/>
              <a:cs typeface="Times New Roman" pitchFamily="18" charset="0"/>
            </a:endParaRPr>
          </a:p>
          <a:p>
            <a:r>
              <a:rPr lang="en-US" altLang="en-US" sz="3000" b="1" dirty="0">
                <a:latin typeface="Times New Roman" pitchFamily="18" charset="0"/>
                <a:cs typeface="Times New Roman" pitchFamily="18" charset="0"/>
              </a:rPr>
              <a:t>Disadvantage of star topology</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One big disadvantage of a star topology is the dependency of the whole topology on one single point, the hub. If the hub goes down, the whole system is dead.</a:t>
            </a:r>
          </a:p>
        </p:txBody>
      </p:sp>
    </p:spTree>
    <p:extLst>
      <p:ext uri="{BB962C8B-B14F-4D97-AF65-F5344CB8AC3E}">
        <p14:creationId xmlns:p14="http://schemas.microsoft.com/office/powerpoint/2010/main" val="462291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5170646"/>
          </a:xfrm>
          <a:prstGeom prst="rect">
            <a:avLst/>
          </a:prstGeom>
          <a:noFill/>
        </p:spPr>
        <p:txBody>
          <a:bodyPr wrap="square" rtlCol="0">
            <a:spAutoFit/>
          </a:bodyPr>
          <a:lstStyle/>
          <a:p>
            <a:r>
              <a:rPr lang="en-US" altLang="en-US" sz="3000" b="1" dirty="0">
                <a:latin typeface="Times New Roman" pitchFamily="18" charset="0"/>
                <a:cs typeface="Times New Roman" pitchFamily="18" charset="0"/>
              </a:rPr>
              <a:t>Bus Topology</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A bus topology is a network setup in which each computer and network device are connected to a single cable or backbone.</a:t>
            </a:r>
          </a:p>
          <a:p>
            <a:pPr marL="914400" lvl="1" indent="-457200">
              <a:buFont typeface="Wingdings" panose="05000000000000000000" pitchFamily="2" charset="2"/>
              <a:buChar char="§"/>
            </a:pPr>
            <a:r>
              <a:rPr lang="en-US" altLang="en-US" sz="3000" dirty="0">
                <a:latin typeface="Times New Roman" pitchFamily="18" charset="0"/>
                <a:cs typeface="Times New Roman" pitchFamily="18" charset="0"/>
              </a:rPr>
              <a:t>Nodes are connected to the bus cable by drop lines and taps. </a:t>
            </a:r>
          </a:p>
          <a:p>
            <a:pPr marL="914400" lvl="1" indent="-457200">
              <a:buFont typeface="Wingdings" panose="05000000000000000000" pitchFamily="2" charset="2"/>
              <a:buChar char="§"/>
            </a:pPr>
            <a:r>
              <a:rPr lang="en-US" altLang="en-US" sz="3000" dirty="0">
                <a:latin typeface="Times New Roman" pitchFamily="18" charset="0"/>
                <a:cs typeface="Times New Roman" pitchFamily="18" charset="0"/>
              </a:rPr>
              <a:t>A </a:t>
            </a:r>
            <a:r>
              <a:rPr lang="en-US" altLang="en-US" sz="3000" i="1" dirty="0">
                <a:latin typeface="Times New Roman" pitchFamily="18" charset="0"/>
                <a:cs typeface="Times New Roman" pitchFamily="18" charset="0"/>
              </a:rPr>
              <a:t>drop line </a:t>
            </a:r>
            <a:r>
              <a:rPr lang="en-US" altLang="en-US" sz="3000" dirty="0">
                <a:latin typeface="Times New Roman" pitchFamily="18" charset="0"/>
                <a:cs typeface="Times New Roman" pitchFamily="18" charset="0"/>
              </a:rPr>
              <a:t>is a connection running between the device and the main cable. </a:t>
            </a:r>
          </a:p>
          <a:p>
            <a:pPr marL="914400" lvl="1" indent="-457200">
              <a:buFont typeface="Wingdings" panose="05000000000000000000" pitchFamily="2" charset="2"/>
              <a:buChar char="§"/>
            </a:pPr>
            <a:r>
              <a:rPr lang="en-US" altLang="en-US" sz="3000" dirty="0">
                <a:latin typeface="Times New Roman" pitchFamily="18" charset="0"/>
                <a:cs typeface="Times New Roman" pitchFamily="18" charset="0"/>
              </a:rPr>
              <a:t>A </a:t>
            </a:r>
            <a:r>
              <a:rPr lang="en-US" altLang="en-US" sz="3000" i="1" dirty="0">
                <a:latin typeface="Times New Roman" pitchFamily="18" charset="0"/>
                <a:cs typeface="Times New Roman" pitchFamily="18" charset="0"/>
              </a:rPr>
              <a:t>tap </a:t>
            </a:r>
            <a:r>
              <a:rPr lang="en-US" altLang="en-US" sz="3000" dirty="0">
                <a:latin typeface="Times New Roman" pitchFamily="18" charset="0"/>
                <a:cs typeface="Times New Roman" pitchFamily="18" charset="0"/>
              </a:rPr>
              <a:t>is a connector that either splices into the main cable or punctures the sheathing of a cable to create a contact with the metallic core.</a:t>
            </a:r>
          </a:p>
        </p:txBody>
      </p:sp>
    </p:spTree>
    <p:extLst>
      <p:ext uri="{BB962C8B-B14F-4D97-AF65-F5344CB8AC3E}">
        <p14:creationId xmlns:p14="http://schemas.microsoft.com/office/powerpoint/2010/main" val="2267385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5170646"/>
          </a:xfrm>
          <a:prstGeom prst="rect">
            <a:avLst/>
          </a:prstGeom>
          <a:noFill/>
        </p:spPr>
        <p:txBody>
          <a:bodyPr wrap="square" rtlCol="0">
            <a:spAutoFit/>
          </a:bodyPr>
          <a:lstStyle/>
          <a:p>
            <a:r>
              <a:rPr lang="en-US" altLang="en-US" sz="3000" b="1" dirty="0">
                <a:latin typeface="Times New Roman" pitchFamily="18" charset="0"/>
                <a:cs typeface="Times New Roman" pitchFamily="18" charset="0"/>
              </a:rPr>
              <a:t>Advantages of a bus topology</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Ease of installation. Backbone cable can be laid along the most efficient path, then connected to the nodes by drop lines of various lengths.</a:t>
            </a: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a:p>
            <a:r>
              <a:rPr lang="en-US" altLang="en-US" sz="3000" b="1" dirty="0">
                <a:latin typeface="Times New Roman" pitchFamily="18" charset="0"/>
                <a:cs typeface="Times New Roman" pitchFamily="18" charset="0"/>
              </a:rPr>
              <a:t>Disadvantages of a bus topology</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Difficult reconnection and fault isolation. A bus is usually designed to be optimally efficient at installation. It can therefore be difficult to add new devices.</a:t>
            </a: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03ED28A2-B24B-41E4-97B3-043F1C1AE15A}"/>
              </a:ext>
            </a:extLst>
          </p:cNvPr>
          <p:cNvPicPr>
            <a:picLocks noChangeAspect="1"/>
          </p:cNvPicPr>
          <p:nvPr/>
        </p:nvPicPr>
        <p:blipFill>
          <a:blip r:embed="rId2"/>
          <a:stretch>
            <a:fillRect/>
          </a:stretch>
        </p:blipFill>
        <p:spPr>
          <a:xfrm>
            <a:off x="679603" y="4890247"/>
            <a:ext cx="7773074" cy="1753553"/>
          </a:xfrm>
          <a:prstGeom prst="rect">
            <a:avLst/>
          </a:prstGeom>
        </p:spPr>
      </p:pic>
    </p:spTree>
    <p:extLst>
      <p:ext uri="{BB962C8B-B14F-4D97-AF65-F5344CB8AC3E}">
        <p14:creationId xmlns:p14="http://schemas.microsoft.com/office/powerpoint/2010/main" val="3442612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093976"/>
          </a:xfrm>
          <a:prstGeom prst="rect">
            <a:avLst/>
          </a:prstGeom>
          <a:noFill/>
        </p:spPr>
        <p:txBody>
          <a:bodyPr wrap="square" rtlCol="0">
            <a:spAutoFit/>
          </a:bodyPr>
          <a:lstStyle/>
          <a:p>
            <a:r>
              <a:rPr lang="en-US" altLang="en-US" sz="3000" b="1" dirty="0">
                <a:latin typeface="Times New Roman" pitchFamily="18" charset="0"/>
                <a:cs typeface="Times New Roman" pitchFamily="18" charset="0"/>
              </a:rPr>
              <a:t>Ring Topology</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In a ring topology, each device has a dedicated point-to-point connection with only the two devices on either side of it.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A signal is passed along the ring in one direction, from device to device, until it reaches its destination. Each device in the ring incorporates a repeater.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When a device receives a signal intended for another device, its repeater regenerates the bits and passes them along.</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A ring is relatively easy to install and reconfigure. Each device is linked to only its immediate neighbors (either physically or logically). </a:t>
            </a:r>
          </a:p>
        </p:txBody>
      </p:sp>
    </p:spTree>
    <p:extLst>
      <p:ext uri="{BB962C8B-B14F-4D97-AF65-F5344CB8AC3E}">
        <p14:creationId xmlns:p14="http://schemas.microsoft.com/office/powerpoint/2010/main" val="101335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1015663"/>
          </a:xfrm>
          <a:prstGeom prst="rect">
            <a:avLst/>
          </a:prstGeom>
          <a:noFill/>
        </p:spPr>
        <p:txBody>
          <a:bodyPr wrap="square" rtlCol="0">
            <a:spAutoFit/>
          </a:bodyPr>
          <a:lstStyle/>
          <a:p>
            <a:r>
              <a:rPr lang="en-US" altLang="en-US" sz="3000" dirty="0">
                <a:latin typeface="Times New Roman" pitchFamily="18" charset="0"/>
                <a:cs typeface="Times New Roman" pitchFamily="18" charset="0"/>
              </a:rPr>
              <a:t>A ring topology connecting six stations</a:t>
            </a:r>
          </a:p>
          <a:p>
            <a:endParaRPr lang="en-US" altLang="en-US" sz="3000" b="1" dirty="0">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6ACC9D0A-F81E-F644-2743-DF0E16D005F9}"/>
              </a:ext>
            </a:extLst>
          </p:cNvPr>
          <p:cNvPicPr>
            <a:picLocks noChangeAspect="1"/>
          </p:cNvPicPr>
          <p:nvPr/>
        </p:nvPicPr>
        <p:blipFill>
          <a:blip r:embed="rId2"/>
          <a:stretch>
            <a:fillRect/>
          </a:stretch>
        </p:blipFill>
        <p:spPr>
          <a:xfrm>
            <a:off x="380636" y="1371421"/>
            <a:ext cx="8382727" cy="4115157"/>
          </a:xfrm>
          <a:prstGeom prst="rect">
            <a:avLst/>
          </a:prstGeom>
        </p:spPr>
      </p:pic>
    </p:spTree>
    <p:extLst>
      <p:ext uri="{BB962C8B-B14F-4D97-AF65-F5344CB8AC3E}">
        <p14:creationId xmlns:p14="http://schemas.microsoft.com/office/powerpoint/2010/main" val="964345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4708981"/>
          </a:xfrm>
          <a:prstGeom prst="rect">
            <a:avLst/>
          </a:prstGeom>
          <a:noFill/>
        </p:spPr>
        <p:txBody>
          <a:bodyPr wrap="square" rtlCol="0">
            <a:spAutoFit/>
          </a:bodyPr>
          <a:lstStyle/>
          <a:p>
            <a:r>
              <a:rPr lang="en-US" altLang="en-US" sz="3000" b="1" dirty="0">
                <a:latin typeface="Times New Roman" pitchFamily="18" charset="0"/>
                <a:cs typeface="Times New Roman" pitchFamily="18" charset="0"/>
              </a:rPr>
              <a:t>Tree or Expanded Star</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A tree topology combines characteristics of linear bus and star topologies.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It consists of groups of star-configured workstations connected to a linear bus backbone cable (See fig. below).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Tree topologies allow for the expansion of an existing network, and enable schools to configure a network to meet their needs. </a:t>
            </a:r>
          </a:p>
          <a:p>
            <a:endParaRPr lang="en-US" altLang="en-US" sz="3000" b="1"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BDB04B9B-9885-CE92-A127-30EFBF890493}"/>
              </a:ext>
            </a:extLst>
          </p:cNvPr>
          <p:cNvPicPr>
            <a:picLocks noChangeAspect="1"/>
          </p:cNvPicPr>
          <p:nvPr/>
        </p:nvPicPr>
        <p:blipFill>
          <a:blip r:embed="rId2"/>
          <a:stretch>
            <a:fillRect/>
          </a:stretch>
        </p:blipFill>
        <p:spPr>
          <a:xfrm>
            <a:off x="3886200" y="4051161"/>
            <a:ext cx="3029975" cy="2597121"/>
          </a:xfrm>
          <a:prstGeom prst="rect">
            <a:avLst/>
          </a:prstGeom>
        </p:spPr>
      </p:pic>
    </p:spTree>
    <p:extLst>
      <p:ext uri="{BB962C8B-B14F-4D97-AF65-F5344CB8AC3E}">
        <p14:creationId xmlns:p14="http://schemas.microsoft.com/office/powerpoint/2010/main" val="2646413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555641"/>
          </a:xfrm>
          <a:prstGeom prst="rect">
            <a:avLst/>
          </a:prstGeom>
          <a:noFill/>
        </p:spPr>
        <p:txBody>
          <a:bodyPr wrap="square" rtlCol="0">
            <a:spAutoFit/>
          </a:bodyPr>
          <a:lstStyle/>
          <a:p>
            <a:r>
              <a:rPr lang="en-US" altLang="en-US" sz="3000" b="1" dirty="0">
                <a:latin typeface="Times New Roman" pitchFamily="18" charset="0"/>
                <a:cs typeface="Times New Roman" pitchFamily="18" charset="0"/>
              </a:rPr>
              <a:t>5-4-3 Rule</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A consideration in setting up a tree topology using Ethernet protocol is the 5-4-3 rule.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One aspect of the Ethernet protocol requires that a signal sent out on the network cable reach every part of the network within a specified length of time.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Each concentrator or repeater that a signal goes through adds a small amount of time.</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This leads to the rule that between any two nodes on the network   there   can   only   be   a   maximum   of   5   segments,   connected   through   4 repeaters/concentrators and only 3 of the segments may be populated (trunk) segments if they are made of coaxial cable. </a:t>
            </a:r>
          </a:p>
        </p:txBody>
      </p:sp>
    </p:spTree>
    <p:extLst>
      <p:ext uri="{BB962C8B-B14F-4D97-AF65-F5344CB8AC3E}">
        <p14:creationId xmlns:p14="http://schemas.microsoft.com/office/powerpoint/2010/main" val="1715036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4708981"/>
          </a:xfrm>
          <a:prstGeom prst="rect">
            <a:avLst/>
          </a:prstGeom>
          <a:noFill/>
        </p:spPr>
        <p:txBody>
          <a:bodyPr wrap="square" rtlCol="0">
            <a:spAutoFit/>
          </a:bodyPr>
          <a:lstStyle/>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A populated segment is one that has one or more nodes attached to it. </a:t>
            </a: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a:p>
            <a:r>
              <a:rPr lang="en-US" altLang="en-US" sz="3000" b="1" dirty="0">
                <a:latin typeface="Times New Roman" pitchFamily="18" charset="0"/>
                <a:cs typeface="Times New Roman" pitchFamily="18" charset="0"/>
              </a:rPr>
              <a:t>NOTE: </a:t>
            </a:r>
            <a:r>
              <a:rPr lang="en-US" altLang="en-US" sz="3000" dirty="0">
                <a:latin typeface="Times New Roman" pitchFamily="18" charset="0"/>
                <a:cs typeface="Times New Roman" pitchFamily="18" charset="0"/>
              </a:rPr>
              <a:t>This rule does not apply to other network protocols or Ethernet networks where all fiber optic cabling or  a  combination of  a  fiber backbone  with UTP cabling is  used.  If  there  is  a combination of fiber optic backbone and UTP cabling, the rule would translate to a 7-6-5 rule.</a:t>
            </a: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3788864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5632311"/>
          </a:xfrm>
          <a:prstGeom prst="rect">
            <a:avLst/>
          </a:prstGeom>
          <a:noFill/>
        </p:spPr>
        <p:txBody>
          <a:bodyPr wrap="square" rtlCol="0">
            <a:spAutoFit/>
          </a:bodyPr>
          <a:lstStyle/>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There is considerable confusion in the literature between a computer network and a distributed system.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In a Distributed system, the existence of multiple autonomous computers is transparent(i.e., not visible) to the user.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The user of a distributed system is not aware of that there are multiple processors; it looks like a virtual uniprocessor.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With a network, users must explicitly log onto one machine, explicitly submit jobs remotely, explicitly move files around and generally handle all the network management personally. </a:t>
            </a:r>
          </a:p>
        </p:txBody>
      </p:sp>
    </p:spTree>
    <p:extLst>
      <p:ext uri="{BB962C8B-B14F-4D97-AF65-F5344CB8AC3E}">
        <p14:creationId xmlns:p14="http://schemas.microsoft.com/office/powerpoint/2010/main" val="558945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4708981"/>
          </a:xfrm>
          <a:prstGeom prst="rect">
            <a:avLst/>
          </a:prstGeom>
          <a:noFill/>
        </p:spPr>
        <p:txBody>
          <a:bodyPr wrap="square" rtlCol="0">
            <a:spAutoFit/>
          </a:bodyPr>
          <a:lstStyle/>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The distinction between Network and distributed system lies with software (OS) rather than software.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In network user invokes, in distributed system the system invokes.</a:t>
            </a: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a:p>
            <a:pPr algn="ctr"/>
            <a:r>
              <a:rPr lang="en-US" altLang="en-US" sz="3000" b="1" dirty="0">
                <a:solidFill>
                  <a:schemeClr val="accent5">
                    <a:lumMod val="75000"/>
                  </a:schemeClr>
                </a:solidFill>
                <a:latin typeface="Times New Roman" pitchFamily="18" charset="0"/>
                <a:cs typeface="Times New Roman" pitchFamily="18" charset="0"/>
              </a:rPr>
              <a:t>NETWORK HARDWARE AND SOFTWARE</a:t>
            </a:r>
          </a:p>
          <a:p>
            <a:pPr marL="457200" indent="-457200">
              <a:buFont typeface="Wingdings" panose="05000000000000000000" pitchFamily="2" charset="2"/>
              <a:buChar char="§"/>
            </a:pPr>
            <a:endParaRPr lang="en-US" alt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4178714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093976"/>
          </a:xfrm>
          <a:prstGeom prst="rect">
            <a:avLst/>
          </a:prstGeom>
          <a:noFill/>
        </p:spPr>
        <p:txBody>
          <a:bodyPr wrap="square" rtlCol="0">
            <a:spAutoFit/>
          </a:bodyPr>
          <a:lstStyle/>
          <a:p>
            <a:r>
              <a:rPr lang="en-US" sz="3000" b="1" i="1" dirty="0">
                <a:latin typeface="Times New Roman" pitchFamily="18" charset="0"/>
                <a:cs typeface="Times New Roman" pitchFamily="18" charset="0"/>
              </a:rPr>
              <a:t>Introduction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When we refer to network hardware we are talking about range of electronic devices that can be interconnected in such a way that to allow the transmission of  communication signals between a number of workstation.</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These devices rage from electronic devices to sophisticated proprietary hardware such as routers and gateways.</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Computer networks components comprise both physical parts as well as the software required for installing computer networks, both at organizations and at home. </a:t>
            </a:r>
          </a:p>
        </p:txBody>
      </p:sp>
    </p:spTree>
    <p:extLst>
      <p:ext uri="{BB962C8B-B14F-4D97-AF65-F5344CB8AC3E}">
        <p14:creationId xmlns:p14="http://schemas.microsoft.com/office/powerpoint/2010/main" val="3412531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2400657"/>
          </a:xfrm>
          <a:prstGeom prst="rect">
            <a:avLst/>
          </a:prstGeom>
          <a:noFill/>
        </p:spPr>
        <p:txBody>
          <a:bodyPr wrap="square" rtlCol="0">
            <a:spAutoFit/>
          </a:bodyPr>
          <a:lstStyle/>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The hardware components are </a:t>
            </a:r>
            <a:r>
              <a:rPr lang="en-US" altLang="en-US" sz="3000" i="1" dirty="0">
                <a:latin typeface="Times New Roman" pitchFamily="18" charset="0"/>
                <a:cs typeface="Times New Roman" pitchFamily="18" charset="0"/>
              </a:rPr>
              <a:t>the server, client, peer, transmission medium,</a:t>
            </a:r>
            <a:r>
              <a:rPr lang="en-US" altLang="en-US" sz="3000" dirty="0">
                <a:latin typeface="Times New Roman" pitchFamily="18" charset="0"/>
                <a:cs typeface="Times New Roman" pitchFamily="18" charset="0"/>
              </a:rPr>
              <a:t> and </a:t>
            </a:r>
            <a:r>
              <a:rPr lang="en-US" altLang="en-US" sz="3000" i="1" dirty="0">
                <a:latin typeface="Times New Roman" pitchFamily="18" charset="0"/>
                <a:cs typeface="Times New Roman" pitchFamily="18" charset="0"/>
              </a:rPr>
              <a:t>connecting devices</a:t>
            </a:r>
            <a:r>
              <a:rPr lang="en-US" altLang="en-US" sz="3000" dirty="0">
                <a:latin typeface="Times New Roman" pitchFamily="18" charset="0"/>
                <a:cs typeface="Times New Roman" pitchFamily="18" charset="0"/>
              </a:rPr>
              <a:t>. The software components are </a:t>
            </a:r>
            <a:r>
              <a:rPr lang="en-US" altLang="en-US" sz="3000" i="1" dirty="0">
                <a:latin typeface="Times New Roman" pitchFamily="18" charset="0"/>
                <a:cs typeface="Times New Roman" pitchFamily="18" charset="0"/>
              </a:rPr>
              <a:t>operating system and protocols.</a:t>
            </a:r>
          </a:p>
          <a:p>
            <a:pPr marL="457200" indent="-457200">
              <a:buFont typeface="Wingdings" panose="05000000000000000000" pitchFamily="2" charset="2"/>
              <a:buChar char="§"/>
            </a:pPr>
            <a:endParaRPr lang="en-US" altLang="en-US" sz="3000" i="1" dirty="0">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247E3316-7D7B-95A1-3D08-B0BFC231B358}"/>
              </a:ext>
            </a:extLst>
          </p:cNvPr>
          <p:cNvPicPr>
            <a:picLocks noChangeAspect="1"/>
          </p:cNvPicPr>
          <p:nvPr/>
        </p:nvPicPr>
        <p:blipFill>
          <a:blip r:embed="rId2"/>
          <a:stretch>
            <a:fillRect/>
          </a:stretch>
        </p:blipFill>
        <p:spPr>
          <a:xfrm>
            <a:off x="2209800" y="2286000"/>
            <a:ext cx="5438103" cy="4145639"/>
          </a:xfrm>
          <a:prstGeom prst="rect">
            <a:avLst/>
          </a:prstGeom>
        </p:spPr>
      </p:pic>
    </p:spTree>
    <p:extLst>
      <p:ext uri="{BB962C8B-B14F-4D97-AF65-F5344CB8AC3E}">
        <p14:creationId xmlns:p14="http://schemas.microsoft.com/office/powerpoint/2010/main" val="624535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555641"/>
          </a:xfrm>
          <a:prstGeom prst="rect">
            <a:avLst/>
          </a:prstGeom>
          <a:noFill/>
        </p:spPr>
        <p:txBody>
          <a:bodyPr wrap="square" rtlCol="0">
            <a:spAutoFit/>
          </a:bodyPr>
          <a:lstStyle/>
          <a:p>
            <a:r>
              <a:rPr lang="en-US" altLang="en-US" sz="3000" b="1" dirty="0">
                <a:latin typeface="Times New Roman" pitchFamily="18" charset="0"/>
                <a:cs typeface="Times New Roman" pitchFamily="18" charset="0"/>
              </a:rPr>
              <a:t>Hardware Components</a:t>
            </a:r>
          </a:p>
          <a:p>
            <a:pPr marL="457200" indent="-457200">
              <a:buFont typeface="Wingdings" panose="05000000000000000000" pitchFamily="2" charset="2"/>
              <a:buChar char="§"/>
            </a:pPr>
            <a:r>
              <a:rPr lang="en-US" altLang="en-US" sz="3000" b="1" dirty="0">
                <a:latin typeface="Times New Roman" pitchFamily="18" charset="0"/>
                <a:cs typeface="Times New Roman" pitchFamily="18" charset="0"/>
              </a:rPr>
              <a:t>Servers: </a:t>
            </a:r>
            <a:r>
              <a:rPr lang="en-US" altLang="en-US" sz="3000" dirty="0">
                <a:latin typeface="Times New Roman" pitchFamily="18" charset="0"/>
                <a:cs typeface="Times New Roman" pitchFamily="18" charset="0"/>
              </a:rPr>
              <a:t>Servers are high-configuration computers that manage the resources of the network. </a:t>
            </a:r>
          </a:p>
          <a:p>
            <a:pPr marL="914400" lvl="1" indent="-457200">
              <a:buFont typeface="Wingdings" panose="05000000000000000000" pitchFamily="2" charset="2"/>
              <a:buChar char="§"/>
            </a:pPr>
            <a:r>
              <a:rPr lang="en-US" altLang="en-US" sz="3000" dirty="0">
                <a:latin typeface="Times New Roman" pitchFamily="18" charset="0"/>
                <a:cs typeface="Times New Roman" pitchFamily="18" charset="0"/>
              </a:rPr>
              <a:t>The network operating system is typically installed in the server and so they give user accesses to the network resources. </a:t>
            </a:r>
          </a:p>
          <a:p>
            <a:pPr marL="914400" lvl="1" indent="-457200">
              <a:buFont typeface="Wingdings" panose="05000000000000000000" pitchFamily="2" charset="2"/>
              <a:buChar char="§"/>
            </a:pPr>
            <a:r>
              <a:rPr lang="en-US" altLang="en-US" sz="3000" dirty="0">
                <a:latin typeface="Times New Roman" pitchFamily="18" charset="0"/>
                <a:cs typeface="Times New Roman" pitchFamily="18" charset="0"/>
              </a:rPr>
              <a:t>Servers can be of various kinds: file servers, database servers, print servers etc.</a:t>
            </a:r>
          </a:p>
          <a:p>
            <a:pPr marL="457200" indent="-457200">
              <a:buFont typeface="Wingdings" panose="05000000000000000000" pitchFamily="2" charset="2"/>
              <a:buChar char="§"/>
            </a:pPr>
            <a:r>
              <a:rPr lang="en-US" altLang="en-US" sz="3000" b="1" dirty="0">
                <a:latin typeface="Times New Roman" pitchFamily="18" charset="0"/>
                <a:cs typeface="Times New Roman" pitchFamily="18" charset="0"/>
              </a:rPr>
              <a:t>Clients: </a:t>
            </a:r>
            <a:r>
              <a:rPr lang="en-US" altLang="en-US" sz="3000" dirty="0">
                <a:latin typeface="Times New Roman" pitchFamily="18" charset="0"/>
                <a:cs typeface="Times New Roman" pitchFamily="18" charset="0"/>
              </a:rPr>
              <a:t>Clients are computers that request and receive service from the servers to access and use the network resources.</a:t>
            </a:r>
          </a:p>
          <a:p>
            <a:pPr marL="457200" indent="-457200">
              <a:buFont typeface="Wingdings" panose="05000000000000000000" pitchFamily="2" charset="2"/>
              <a:buChar char="§"/>
            </a:pPr>
            <a:r>
              <a:rPr lang="en-US" altLang="en-US" sz="3000" b="1" dirty="0">
                <a:latin typeface="Times New Roman" pitchFamily="18" charset="0"/>
                <a:cs typeface="Times New Roman" pitchFamily="18" charset="0"/>
              </a:rPr>
              <a:t>Peers: </a:t>
            </a:r>
            <a:r>
              <a:rPr lang="en-US" altLang="en-US" sz="3000" dirty="0">
                <a:latin typeface="Times New Roman" pitchFamily="18" charset="0"/>
                <a:cs typeface="Times New Roman" pitchFamily="18" charset="0"/>
              </a:rPr>
              <a:t>Peers are computers that provide as well as receive services from other peers in a workgroup network.</a:t>
            </a:r>
          </a:p>
        </p:txBody>
      </p:sp>
    </p:spTree>
    <p:extLst>
      <p:ext uri="{BB962C8B-B14F-4D97-AF65-F5344CB8AC3E}">
        <p14:creationId xmlns:p14="http://schemas.microsoft.com/office/powerpoint/2010/main" val="2797274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5170646"/>
          </a:xfrm>
          <a:prstGeom prst="rect">
            <a:avLst/>
          </a:prstGeom>
          <a:noFill/>
        </p:spPr>
        <p:txBody>
          <a:bodyPr wrap="square" rtlCol="0">
            <a:spAutoFit/>
          </a:bodyPr>
          <a:lstStyle/>
          <a:p>
            <a:pPr marL="457200" indent="-457200">
              <a:buFont typeface="Wingdings" panose="05000000000000000000" pitchFamily="2" charset="2"/>
              <a:buChar char="§"/>
            </a:pPr>
            <a:r>
              <a:rPr lang="en-US" altLang="en-US" sz="3000" b="1" dirty="0">
                <a:latin typeface="Times New Roman" pitchFamily="18" charset="0"/>
                <a:cs typeface="Times New Roman" pitchFamily="18" charset="0"/>
              </a:rPr>
              <a:t>Transmission Media: </a:t>
            </a:r>
            <a:r>
              <a:rPr lang="en-US" altLang="en-US" sz="3000" dirty="0">
                <a:latin typeface="Times New Roman" pitchFamily="18" charset="0"/>
                <a:cs typeface="Times New Roman" pitchFamily="18" charset="0"/>
              </a:rPr>
              <a:t>Transmission media are the channels through which data is transferred from one device to another in a network. </a:t>
            </a:r>
          </a:p>
          <a:p>
            <a:pPr marL="914400" lvl="1" indent="-457200">
              <a:buFont typeface="Wingdings" panose="05000000000000000000" pitchFamily="2" charset="2"/>
              <a:buChar char="§"/>
            </a:pPr>
            <a:r>
              <a:rPr lang="en-US" altLang="en-US" sz="3000" dirty="0">
                <a:latin typeface="Times New Roman" pitchFamily="18" charset="0"/>
                <a:cs typeface="Times New Roman" pitchFamily="18" charset="0"/>
              </a:rPr>
              <a:t>Transmission media may be guided media like coaxial cable, fiber optic cables </a:t>
            </a:r>
            <a:r>
              <a:rPr lang="en-US" altLang="en-US" sz="3000" dirty="0" err="1">
                <a:latin typeface="Times New Roman" pitchFamily="18" charset="0"/>
                <a:cs typeface="Times New Roman" pitchFamily="18" charset="0"/>
              </a:rPr>
              <a:t>etc</a:t>
            </a:r>
            <a:r>
              <a:rPr lang="en-US" altLang="en-US" sz="3000" dirty="0">
                <a:latin typeface="Times New Roman" pitchFamily="18" charset="0"/>
                <a:cs typeface="Times New Roman" pitchFamily="18" charset="0"/>
              </a:rPr>
              <a:t>; or maybe unguided media like microwaves, infra-red waves etc.</a:t>
            </a:r>
          </a:p>
          <a:p>
            <a:pPr marL="457200" indent="-457200">
              <a:buFont typeface="Wingdings" panose="05000000000000000000" pitchFamily="2" charset="2"/>
              <a:buChar char="§"/>
            </a:pPr>
            <a:r>
              <a:rPr lang="en-US" altLang="en-US" sz="3000" b="1" dirty="0">
                <a:latin typeface="Times New Roman" pitchFamily="18" charset="0"/>
                <a:cs typeface="Times New Roman" pitchFamily="18" charset="0"/>
              </a:rPr>
              <a:t>Connecting Devices: </a:t>
            </a:r>
            <a:r>
              <a:rPr lang="en-US" altLang="en-US" sz="3000" dirty="0">
                <a:latin typeface="Times New Roman" pitchFamily="18" charset="0"/>
                <a:cs typeface="Times New Roman" pitchFamily="18" charset="0"/>
              </a:rPr>
              <a:t>Connecting devices act as middleware between networks or computers, by binding the network media together.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Some of the common connecting devices are:</a:t>
            </a:r>
          </a:p>
        </p:txBody>
      </p:sp>
    </p:spTree>
    <p:extLst>
      <p:ext uri="{BB962C8B-B14F-4D97-AF65-F5344CB8AC3E}">
        <p14:creationId xmlns:p14="http://schemas.microsoft.com/office/powerpoint/2010/main" val="758427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6555641"/>
          </a:xfrm>
          <a:prstGeom prst="rect">
            <a:avLst/>
          </a:prstGeom>
          <a:noFill/>
        </p:spPr>
        <p:txBody>
          <a:bodyPr wrap="square" rtlCol="0">
            <a:spAutoFit/>
          </a:bodyPr>
          <a:lstStyle/>
          <a:p>
            <a:r>
              <a:rPr lang="en-US" altLang="en-US" sz="3000" b="1" i="1" dirty="0">
                <a:latin typeface="Times New Roman" pitchFamily="18" charset="0"/>
                <a:cs typeface="Times New Roman" pitchFamily="18" charset="0"/>
              </a:rPr>
              <a:t>NIC (Network Interface cards)</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NIC cards are hardware components used to connect computers with networks.  Without NIC a computer cannot be connected to the network</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 It is a circuit board installed in a computer that provides a dedicated network connection to the computer. </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It is also called network interface controller, network adapter or LAN adapter.</a:t>
            </a:r>
          </a:p>
          <a:p>
            <a:pPr marL="457200" indent="-457200">
              <a:buFont typeface="Wingdings" panose="05000000000000000000" pitchFamily="2" charset="2"/>
              <a:buChar char="§"/>
            </a:pPr>
            <a:r>
              <a:rPr lang="en-US" altLang="en-US" sz="3000" dirty="0">
                <a:latin typeface="Times New Roman" pitchFamily="18" charset="0"/>
                <a:cs typeface="Times New Roman" pitchFamily="18" charset="0"/>
              </a:rPr>
              <a:t>Using unique hardware addresses </a:t>
            </a:r>
            <a:r>
              <a:rPr lang="en-US" altLang="en-US" sz="3000" b="1" i="1" dirty="0">
                <a:latin typeface="Times New Roman" pitchFamily="18" charset="0"/>
                <a:cs typeface="Times New Roman" pitchFamily="18" charset="0"/>
              </a:rPr>
              <a:t>(MAC address) </a:t>
            </a:r>
            <a:r>
              <a:rPr lang="en-US" altLang="en-US" sz="3000" dirty="0">
                <a:latin typeface="Times New Roman" pitchFamily="18" charset="0"/>
                <a:cs typeface="Times New Roman" pitchFamily="18" charset="0"/>
              </a:rPr>
              <a:t>encoded on the card chip, the data-link protocol employs these addresses to discover other systems on the network so that it can transfer data to the right destination.</a:t>
            </a:r>
          </a:p>
        </p:txBody>
      </p:sp>
    </p:spTree>
    <p:extLst>
      <p:ext uri="{BB962C8B-B14F-4D97-AF65-F5344CB8AC3E}">
        <p14:creationId xmlns:p14="http://schemas.microsoft.com/office/powerpoint/2010/main" val="3720368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4247317"/>
          </a:xfrm>
          <a:prstGeom prst="rect">
            <a:avLst/>
          </a:prstGeom>
          <a:noFill/>
        </p:spPr>
        <p:txBody>
          <a:bodyPr wrap="square" rtlCol="0">
            <a:spAutoFit/>
          </a:bodyPr>
          <a:lstStyle/>
          <a:p>
            <a:r>
              <a:rPr lang="en-US" sz="3000" b="1" i="1" dirty="0">
                <a:latin typeface="Times New Roman" pitchFamily="18" charset="0"/>
                <a:cs typeface="Times New Roman" pitchFamily="18" charset="0"/>
              </a:rPr>
              <a:t>Types of NIC</a:t>
            </a:r>
          </a:p>
          <a:p>
            <a:pPr marL="457200" indent="-457200">
              <a:buFont typeface="Wingdings" panose="05000000000000000000" pitchFamily="2" charset="2"/>
              <a:buChar char="§"/>
            </a:pPr>
            <a:r>
              <a:rPr lang="en-US" sz="3000" b="1" i="1" dirty="0">
                <a:latin typeface="Times New Roman" pitchFamily="18" charset="0"/>
                <a:cs typeface="Times New Roman" pitchFamily="18" charset="0"/>
              </a:rPr>
              <a:t>Wired NIC: </a:t>
            </a:r>
            <a:r>
              <a:rPr lang="en-US" sz="3000" dirty="0">
                <a:latin typeface="Times New Roman" pitchFamily="18" charset="0"/>
                <a:cs typeface="Times New Roman" pitchFamily="18" charset="0"/>
              </a:rPr>
              <a:t>In wired NIC, the motherboard has a slot for the network card where it can be inserted. </a:t>
            </a:r>
          </a:p>
          <a:p>
            <a:pPr marL="914400" lvl="1" indent="-457200">
              <a:buFont typeface="Wingdings" panose="05000000000000000000" pitchFamily="2" charset="2"/>
              <a:buChar char="§"/>
            </a:pPr>
            <a:r>
              <a:rPr lang="en-US" sz="3000" dirty="0">
                <a:latin typeface="Times New Roman" pitchFamily="18" charset="0"/>
                <a:cs typeface="Times New Roman" pitchFamily="18" charset="0"/>
              </a:rPr>
              <a:t>The wired NIC uses cables and connectors as a medium to transfer data.</a:t>
            </a:r>
          </a:p>
          <a:p>
            <a:pPr marL="457200" indent="-457200">
              <a:buFont typeface="Wingdings" panose="05000000000000000000" pitchFamily="2" charset="2"/>
              <a:buChar char="§"/>
            </a:pPr>
            <a:r>
              <a:rPr lang="en-US" altLang="en-US" sz="3000" b="1" i="1" dirty="0">
                <a:latin typeface="Times New Roman" pitchFamily="18" charset="0"/>
                <a:cs typeface="Times New Roman" pitchFamily="18" charset="0"/>
              </a:rPr>
              <a:t>Wireless NIC: </a:t>
            </a:r>
            <a:r>
              <a:rPr lang="en-US" altLang="en-US" sz="3000" dirty="0">
                <a:latin typeface="Times New Roman" pitchFamily="18" charset="0"/>
                <a:cs typeface="Times New Roman" pitchFamily="18" charset="0"/>
              </a:rPr>
              <a:t>The wireless NIC contains the antenna to obtain the connection over the wireless network. For example, laptop computer contains the wireless NIC.</a:t>
            </a:r>
          </a:p>
        </p:txBody>
      </p:sp>
      <p:pic>
        <p:nvPicPr>
          <p:cNvPr id="4" name="Picture 3">
            <a:extLst>
              <a:ext uri="{FF2B5EF4-FFF2-40B4-BE49-F238E27FC236}">
                <a16:creationId xmlns:a16="http://schemas.microsoft.com/office/drawing/2014/main" id="{6D82CC61-AF9A-460A-92D3-E617789F11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3962399"/>
            <a:ext cx="5181600" cy="2667953"/>
          </a:xfrm>
          <a:prstGeom prst="rect">
            <a:avLst/>
          </a:prstGeom>
        </p:spPr>
      </p:pic>
    </p:spTree>
    <p:extLst>
      <p:ext uri="{BB962C8B-B14F-4D97-AF65-F5344CB8AC3E}">
        <p14:creationId xmlns:p14="http://schemas.microsoft.com/office/powerpoint/2010/main" val="1393430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340" y="227647"/>
            <a:ext cx="8991600" cy="5632311"/>
          </a:xfrm>
          <a:prstGeom prst="rect">
            <a:avLst/>
          </a:prstGeom>
          <a:noFill/>
        </p:spPr>
        <p:txBody>
          <a:bodyPr wrap="square" rtlCol="0">
            <a:spAutoFit/>
          </a:bodyPr>
          <a:lstStyle/>
          <a:p>
            <a:r>
              <a:rPr lang="en-US" sz="3000" b="1" i="1" dirty="0">
                <a:latin typeface="Times New Roman" pitchFamily="18" charset="0"/>
                <a:cs typeface="Times New Roman" pitchFamily="18" charset="0"/>
              </a:rPr>
              <a:t>HUB</a:t>
            </a:r>
          </a:p>
          <a:p>
            <a:pPr marL="457200" indent="-457200">
              <a:buFont typeface="Wingdings" panose="05000000000000000000" pitchFamily="2" charset="2"/>
              <a:buChar char="§"/>
            </a:pPr>
            <a:r>
              <a:rPr lang="en-US" sz="3000" dirty="0">
                <a:latin typeface="Times New Roman" pitchFamily="18" charset="0"/>
                <a:cs typeface="Times New Roman" pitchFamily="18" charset="0"/>
              </a:rPr>
              <a:t>Hub is a device that splits a network connection into multiple computers. It is like a distribution center. When a computer request information from a network or a specific computer, it sends the request to the hub through a cable. </a:t>
            </a:r>
          </a:p>
          <a:p>
            <a:pPr marL="457200" indent="-457200">
              <a:buFont typeface="Wingdings" panose="05000000000000000000" pitchFamily="2" charset="2"/>
              <a:buChar char="§"/>
            </a:pPr>
            <a:r>
              <a:rPr lang="en-US" sz="3000" dirty="0">
                <a:latin typeface="Times New Roman" pitchFamily="18" charset="0"/>
                <a:cs typeface="Times New Roman" pitchFamily="18" charset="0"/>
              </a:rPr>
              <a:t>The hub will receive the request and transmit it to the entire network. </a:t>
            </a:r>
          </a:p>
          <a:p>
            <a:pPr marL="457200" indent="-457200">
              <a:buFont typeface="Wingdings" panose="05000000000000000000" pitchFamily="2" charset="2"/>
              <a:buChar char="§"/>
            </a:pPr>
            <a:r>
              <a:rPr lang="en-US" sz="3000" dirty="0">
                <a:latin typeface="Times New Roman" pitchFamily="18" charset="0"/>
                <a:cs typeface="Times New Roman" pitchFamily="18" charset="0"/>
              </a:rPr>
              <a:t>After that, every computer checks whether that network then belongs to them or not. If belongs then it broadcasts if the request doesn’t belong it will be dropped.</a:t>
            </a:r>
          </a:p>
        </p:txBody>
      </p:sp>
    </p:spTree>
    <p:extLst>
      <p:ext uri="{BB962C8B-B14F-4D97-AF65-F5344CB8AC3E}">
        <p14:creationId xmlns:p14="http://schemas.microsoft.com/office/powerpoint/2010/main" val="4099878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152400"/>
            <a:ext cx="8991600" cy="3785652"/>
          </a:xfrm>
          <a:prstGeom prst="rect">
            <a:avLst/>
          </a:prstGeom>
          <a:noFill/>
        </p:spPr>
        <p:txBody>
          <a:bodyPr wrap="square" rtlCol="0">
            <a:spAutoFit/>
          </a:bodyPr>
          <a:lstStyle/>
          <a:p>
            <a:pPr marL="457200" indent="-457200">
              <a:buFont typeface="Wingdings" panose="05000000000000000000" pitchFamily="2" charset="2"/>
              <a:buChar char="§"/>
              <a:defRPr/>
            </a:pPr>
            <a:r>
              <a:rPr lang="en-US" sz="3000" dirty="0">
                <a:latin typeface="Times New Roman" pitchFamily="18" charset="0"/>
                <a:cs typeface="Times New Roman" pitchFamily="18" charset="0"/>
              </a:rPr>
              <a:t>The process used by the Hub consumes more bandwidth and limits the amount of communication.</a:t>
            </a:r>
          </a:p>
          <a:p>
            <a:pPr marL="457200" indent="-457200">
              <a:buFont typeface="Wingdings" panose="05000000000000000000" pitchFamily="2" charset="2"/>
              <a:buChar char="§"/>
              <a:defRPr/>
            </a:pPr>
            <a:r>
              <a:rPr lang="en-US" sz="3000" dirty="0">
                <a:latin typeface="Times New Roman" pitchFamily="18" charset="0"/>
                <a:cs typeface="Times New Roman" pitchFamily="18" charset="0"/>
              </a:rPr>
              <a:t>Nowadays, the use of hub is obsolete, and it is replaced by more advanced computer network components such as Switches, Routers.</a:t>
            </a:r>
          </a:p>
          <a:p>
            <a:pPr marL="457200" indent="-457200">
              <a:buFont typeface="Wingdings" panose="05000000000000000000" pitchFamily="2" charset="2"/>
              <a:buChar char="§"/>
              <a:defRP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defRP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defRPr/>
            </a:pPr>
            <a:endParaRPr lang="en-US" sz="3000"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12A6828C-D856-4DF2-8A02-F0780D7964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2667000"/>
            <a:ext cx="6400800" cy="386185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 y="76200"/>
            <a:ext cx="8991600" cy="5170646"/>
          </a:xfrm>
          <a:prstGeom prst="rect">
            <a:avLst/>
          </a:prstGeom>
          <a:noFill/>
        </p:spPr>
        <p:txBody>
          <a:bodyPr wrap="square" rtlCol="0">
            <a:spAutoFit/>
          </a:bodyPr>
          <a:lstStyle/>
          <a:p>
            <a:r>
              <a:rPr lang="en-US" sz="3000" b="1" i="1" dirty="0">
                <a:latin typeface="Times New Roman" panose="02020603050405020304" pitchFamily="18" charset="0"/>
                <a:cs typeface="Times New Roman" panose="02020603050405020304" pitchFamily="18" charset="0"/>
              </a:rPr>
              <a:t>Switches</a:t>
            </a:r>
          </a:p>
          <a:p>
            <a:pPr marL="457200" indent="-457200">
              <a:buFont typeface="Wingdings" panose="05000000000000000000" pitchFamily="2" charset="2"/>
              <a:buChar char="§"/>
            </a:pPr>
            <a:r>
              <a:rPr lang="en-US" sz="3000" dirty="0">
                <a:latin typeface="Times New Roman" panose="02020603050405020304" pitchFamily="18" charset="0"/>
                <a:cs typeface="Times New Roman" panose="02020603050405020304" pitchFamily="18" charset="0"/>
              </a:rPr>
              <a:t>Switches look nearly identical to hubs but a switch has more advanced features than a hub. It doesn’t broadcast entire data on the network like a hub. </a:t>
            </a:r>
          </a:p>
          <a:p>
            <a:pPr marL="457200" indent="-457200">
              <a:buFont typeface="Wingdings" panose="05000000000000000000" pitchFamily="2" charset="2"/>
              <a:buChar char="§"/>
            </a:pPr>
            <a:r>
              <a:rPr lang="en-US" sz="3000" dirty="0">
                <a:latin typeface="Times New Roman" panose="02020603050405020304" pitchFamily="18" charset="0"/>
                <a:cs typeface="Times New Roman" panose="02020603050405020304" pitchFamily="18" charset="0"/>
              </a:rPr>
              <a:t>A switch is a hardware device that connects multiple devices on a computer network.</a:t>
            </a:r>
          </a:p>
          <a:p>
            <a:pPr marL="457200" indent="-457200">
              <a:buFont typeface="Wingdings" panose="05000000000000000000" pitchFamily="2" charset="2"/>
              <a:buChar char="§"/>
            </a:pPr>
            <a:r>
              <a:rPr lang="en-US" sz="3000" dirty="0">
                <a:latin typeface="Times New Roman" panose="02020603050405020304" pitchFamily="18" charset="0"/>
                <a:cs typeface="Times New Roman" panose="02020603050405020304" pitchFamily="18" charset="0"/>
              </a:rPr>
              <a:t>The advanced features of the switch imply that the network switch first inspects the incoming packet and determines its source, destination address, and routes after that sends the data at the correct destination accordingly to that packet. </a:t>
            </a:r>
          </a:p>
        </p:txBody>
      </p:sp>
      <p:pic>
        <p:nvPicPr>
          <p:cNvPr id="4" name="Picture 3">
            <a:extLst>
              <a:ext uri="{FF2B5EF4-FFF2-40B4-BE49-F238E27FC236}">
                <a16:creationId xmlns:a16="http://schemas.microsoft.com/office/drawing/2014/main" id="{862DE846-468C-4CA0-B2F6-FB66D03289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0600" y="4701353"/>
            <a:ext cx="3886200" cy="192804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79712"/>
            <a:ext cx="8991600" cy="6340197"/>
          </a:xfrm>
          <a:prstGeom prst="rect">
            <a:avLst/>
          </a:prstGeom>
          <a:noFill/>
        </p:spPr>
        <p:txBody>
          <a:bodyPr wrap="square" rtlCol="0">
            <a:spAutoFit/>
          </a:bodyPr>
          <a:lstStyle/>
          <a:p>
            <a:pPr algn="just" fontAlgn="auto">
              <a:spcAft>
                <a:spcPts val="0"/>
              </a:spcAft>
              <a:defRPr/>
            </a:pPr>
            <a:r>
              <a:rPr lang="en-US" sz="2900" b="1" i="1" dirty="0">
                <a:latin typeface="Times New Roman" pitchFamily="18" charset="0"/>
                <a:cs typeface="Times New Roman" pitchFamily="18" charset="0"/>
              </a:rPr>
              <a:t>Bridges</a:t>
            </a:r>
          </a:p>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This bridge is a device that has such functionality that it filters the content, for which it reads MAC addresses of both source and destination. </a:t>
            </a:r>
          </a:p>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The bridge connects two LANs (Local Area Network) using the same protocol. This device operates in the data link layer of the OSI Model.</a:t>
            </a:r>
          </a:p>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These network components are very useful for filtering the data load of traffic, for which they divide them into segments or packets. </a:t>
            </a:r>
          </a:p>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The bridge controls the data traffic of LANs or other networks. These bridges are actually passive devices, as there is no interaction between bridged and paths of bridging.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79712"/>
            <a:ext cx="8991600" cy="6340197"/>
          </a:xfrm>
          <a:prstGeom prst="rect">
            <a:avLst/>
          </a:prstGeom>
          <a:noFill/>
        </p:spPr>
        <p:txBody>
          <a:bodyPr wrap="square" rtlCol="0">
            <a:spAutoFit/>
          </a:bodyPr>
          <a:lstStyle/>
          <a:p>
            <a:pPr marL="457200" indent="-457200" algn="just" fontAlgn="auto">
              <a:spcAft>
                <a:spcPts val="0"/>
              </a:spcAft>
              <a:buFont typeface="Wingdings" panose="05000000000000000000" pitchFamily="2" charset="2"/>
              <a:buChar char="§"/>
              <a:defRPr/>
            </a:pPr>
            <a:endParaRPr lang="en-US" sz="2900" dirty="0">
              <a:latin typeface="Times New Roman" pitchFamily="18" charset="0"/>
              <a:cs typeface="Times New Roman" pitchFamily="18" charset="0"/>
            </a:endParaRPr>
          </a:p>
          <a:p>
            <a:pPr marL="457200" indent="-457200" algn="just" fontAlgn="auto">
              <a:spcAft>
                <a:spcPts val="0"/>
              </a:spcAft>
              <a:buFont typeface="Wingdings" panose="05000000000000000000" pitchFamily="2" charset="2"/>
              <a:buChar char="§"/>
              <a:defRPr/>
            </a:pPr>
            <a:endParaRPr lang="en-US" sz="2900" dirty="0">
              <a:latin typeface="Times New Roman" pitchFamily="18" charset="0"/>
              <a:cs typeface="Times New Roman" pitchFamily="18" charset="0"/>
            </a:endParaRPr>
          </a:p>
          <a:p>
            <a:pPr marL="457200" indent="-457200" algn="just" fontAlgn="auto">
              <a:spcAft>
                <a:spcPts val="0"/>
              </a:spcAft>
              <a:buFont typeface="Wingdings" panose="05000000000000000000" pitchFamily="2" charset="2"/>
              <a:buChar char="§"/>
              <a:defRPr/>
            </a:pPr>
            <a:endParaRPr lang="en-US" sz="2900" dirty="0">
              <a:latin typeface="Times New Roman" pitchFamily="18" charset="0"/>
              <a:cs typeface="Times New Roman" pitchFamily="18" charset="0"/>
            </a:endParaRPr>
          </a:p>
          <a:p>
            <a:pPr marL="457200" indent="-457200" algn="just" fontAlgn="auto">
              <a:spcAft>
                <a:spcPts val="0"/>
              </a:spcAft>
              <a:buFont typeface="Wingdings" panose="05000000000000000000" pitchFamily="2" charset="2"/>
              <a:buChar char="§"/>
              <a:defRPr/>
            </a:pPr>
            <a:endParaRPr lang="en-US" sz="2900" dirty="0">
              <a:latin typeface="Times New Roman" pitchFamily="18" charset="0"/>
              <a:cs typeface="Times New Roman" pitchFamily="18" charset="0"/>
            </a:endParaRPr>
          </a:p>
          <a:p>
            <a:pPr marL="457200" indent="-457200" algn="just" fontAlgn="auto">
              <a:spcAft>
                <a:spcPts val="0"/>
              </a:spcAft>
              <a:buFont typeface="Wingdings" panose="05000000000000000000" pitchFamily="2" charset="2"/>
              <a:buChar char="§"/>
              <a:defRPr/>
            </a:pPr>
            <a:endParaRPr lang="en-US" sz="2900" dirty="0">
              <a:latin typeface="Times New Roman" pitchFamily="18" charset="0"/>
              <a:cs typeface="Times New Roman" pitchFamily="18" charset="0"/>
            </a:endParaRPr>
          </a:p>
          <a:p>
            <a:pPr algn="just" fontAlgn="auto">
              <a:spcAft>
                <a:spcPts val="0"/>
              </a:spcAft>
              <a:defRPr/>
            </a:pPr>
            <a:endParaRPr lang="en-US" sz="2900" b="1" i="1" dirty="0">
              <a:latin typeface="Times New Roman" pitchFamily="18" charset="0"/>
              <a:cs typeface="Times New Roman" pitchFamily="18" charset="0"/>
            </a:endParaRPr>
          </a:p>
          <a:p>
            <a:pPr algn="just" fontAlgn="auto">
              <a:spcAft>
                <a:spcPts val="0"/>
              </a:spcAft>
              <a:defRPr/>
            </a:pPr>
            <a:r>
              <a:rPr lang="en-US" sz="2900" b="1" i="1" dirty="0">
                <a:latin typeface="Times New Roman" pitchFamily="18" charset="0"/>
                <a:cs typeface="Times New Roman" pitchFamily="18" charset="0"/>
              </a:rPr>
              <a:t>Repeater</a:t>
            </a:r>
          </a:p>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A repeater is a powerful network component that is used to regenerate signals. With this, the signal is fixed for a long time, so that the strength of the signal remains stable.</a:t>
            </a:r>
          </a:p>
          <a:p>
            <a:pPr marL="457200" indent="-457200" algn="just" fontAlgn="auto">
              <a:spcAft>
                <a:spcPts val="0"/>
              </a:spcAft>
              <a:buFont typeface="Wingdings" panose="05000000000000000000" pitchFamily="2" charset="2"/>
              <a:buChar char="§"/>
              <a:defRPr/>
            </a:pPr>
            <a:r>
              <a:rPr lang="en-US" sz="2900" dirty="0">
                <a:latin typeface="Times New Roman" pitchFamily="18" charset="0"/>
                <a:cs typeface="Times New Roman" pitchFamily="18" charset="0"/>
              </a:rPr>
              <a:t>Repeater takes data signals from the communication medium and amplifies them and sends them back to the communication medium. </a:t>
            </a:r>
          </a:p>
        </p:txBody>
      </p:sp>
      <p:pic>
        <p:nvPicPr>
          <p:cNvPr id="4" name="Picture 3">
            <a:extLst>
              <a:ext uri="{FF2B5EF4-FFF2-40B4-BE49-F238E27FC236}">
                <a16:creationId xmlns:a16="http://schemas.microsoft.com/office/drawing/2014/main" id="{B48FDE98-D78D-4584-BFF8-27212023AD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304800"/>
            <a:ext cx="4419600" cy="1676400"/>
          </a:xfrm>
          <a:prstGeom prst="rect">
            <a:avLst/>
          </a:prstGeom>
        </p:spPr>
      </p:pic>
    </p:spTree>
    <p:extLst>
      <p:ext uri="{BB962C8B-B14F-4D97-AF65-F5344CB8AC3E}">
        <p14:creationId xmlns:p14="http://schemas.microsoft.com/office/powerpoint/2010/main" val="11998107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79712"/>
            <a:ext cx="8991600" cy="3293209"/>
          </a:xfrm>
          <a:prstGeom prst="rect">
            <a:avLst/>
          </a:prstGeom>
          <a:noFill/>
        </p:spPr>
        <p:txBody>
          <a:bodyPr wrap="square" rtlCol="0">
            <a:spAutoFit/>
          </a:bodyPr>
          <a:lstStyle/>
          <a:p>
            <a:pPr marL="457200" indent="-457200" algn="just" fontAlgn="auto">
              <a:spcAft>
                <a:spcPts val="0"/>
              </a:spcAft>
              <a:buFont typeface="Wingdings" panose="05000000000000000000" pitchFamily="2" charset="2"/>
              <a:buChar char="§"/>
              <a:defRPr/>
            </a:pPr>
            <a:r>
              <a:rPr lang="en-US" sz="2600" dirty="0">
                <a:latin typeface="Times New Roman" pitchFamily="18" charset="0"/>
                <a:cs typeface="Times New Roman" pitchFamily="18" charset="0"/>
              </a:rPr>
              <a:t>When the signal becomes weak, this device copies the signal bit by bit and then regenerates it to its original strength for making the internet connection stable.</a:t>
            </a:r>
          </a:p>
          <a:p>
            <a:pPr marL="457200" indent="-457200" algn="just" fontAlgn="auto">
              <a:spcAft>
                <a:spcPts val="0"/>
              </a:spcAft>
              <a:buFont typeface="Wingdings" panose="05000000000000000000" pitchFamily="2" charset="2"/>
              <a:buChar char="§"/>
              <a:defRPr/>
            </a:pPr>
            <a:r>
              <a:rPr lang="en-US" sz="2600" dirty="0">
                <a:latin typeface="Times New Roman" pitchFamily="18" charset="0"/>
                <a:cs typeface="Times New Roman" pitchFamily="18" charset="0"/>
              </a:rPr>
              <a:t>A repeater is located in the first layer (physical layer) of the OSI layer. Repeaters are used in cables that have to cover distances of up to 100 meters. These components receive signals from cables like optical fibers, coaxial cables, and copper cables.</a:t>
            </a:r>
          </a:p>
        </p:txBody>
      </p:sp>
      <p:pic>
        <p:nvPicPr>
          <p:cNvPr id="4" name="Picture 3">
            <a:extLst>
              <a:ext uri="{FF2B5EF4-FFF2-40B4-BE49-F238E27FC236}">
                <a16:creationId xmlns:a16="http://schemas.microsoft.com/office/drawing/2014/main" id="{799FB0F1-8FDB-47BB-99CF-8967543FFD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3372921"/>
            <a:ext cx="6019800" cy="3104079"/>
          </a:xfrm>
          <a:prstGeom prst="rect">
            <a:avLst/>
          </a:prstGeom>
        </p:spPr>
      </p:pic>
    </p:spTree>
    <p:extLst>
      <p:ext uri="{BB962C8B-B14F-4D97-AF65-F5344CB8AC3E}">
        <p14:creationId xmlns:p14="http://schemas.microsoft.com/office/powerpoint/2010/main" val="7828752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42204"/>
            <a:ext cx="8991600" cy="5632311"/>
          </a:xfrm>
          <a:prstGeom prst="rect">
            <a:avLst/>
          </a:prstGeom>
          <a:noFill/>
        </p:spPr>
        <p:txBody>
          <a:bodyPr wrap="square" rtlCol="0">
            <a:spAutoFit/>
          </a:bodyPr>
          <a:lstStyle/>
          <a:p>
            <a:pPr algn="just"/>
            <a:r>
              <a:rPr lang="en-US" altLang="en-US" sz="3000" b="1" i="1" dirty="0">
                <a:latin typeface="Times New Roman" pitchFamily="18" charset="0"/>
                <a:cs typeface="Times New Roman" pitchFamily="18" charset="0"/>
              </a:rPr>
              <a:t>Router</a:t>
            </a:r>
          </a:p>
          <a:p>
            <a:pPr marL="457200" indent="-457200" algn="just">
              <a:buFont typeface="Wingdings" panose="05000000000000000000" pitchFamily="2" charset="2"/>
              <a:buChar char="§"/>
            </a:pPr>
            <a:r>
              <a:rPr lang="en-US" altLang="en-US" sz="3000" dirty="0">
                <a:latin typeface="Times New Roman" pitchFamily="18" charset="0"/>
                <a:cs typeface="Times New Roman" pitchFamily="18" charset="0"/>
              </a:rPr>
              <a:t>A router is a hardware device which is used to connect a LAN with an internet connection. It is used to receive, analyze and forward the incoming packets to another network.</a:t>
            </a:r>
          </a:p>
          <a:p>
            <a:pPr marL="457200" indent="-457200" algn="just">
              <a:buFont typeface="Wingdings" panose="05000000000000000000" pitchFamily="2" charset="2"/>
              <a:buChar char="§"/>
            </a:pPr>
            <a:r>
              <a:rPr lang="en-US" altLang="en-US" sz="3000" dirty="0">
                <a:latin typeface="Times New Roman" pitchFamily="18" charset="0"/>
                <a:cs typeface="Times New Roman" pitchFamily="18" charset="0"/>
              </a:rPr>
              <a:t>A router works in a Layer 3 (Network layer) of the OSI Reference model.</a:t>
            </a:r>
          </a:p>
          <a:p>
            <a:pPr marL="457200" indent="-457200" algn="just">
              <a:buFont typeface="Wingdings" panose="05000000000000000000" pitchFamily="2" charset="2"/>
              <a:buChar char="§"/>
            </a:pPr>
            <a:r>
              <a:rPr lang="en-US" altLang="en-US" sz="3000" dirty="0">
                <a:latin typeface="Times New Roman" pitchFamily="18" charset="0"/>
                <a:cs typeface="Times New Roman" pitchFamily="18" charset="0"/>
              </a:rPr>
              <a:t> A router forwards the packet based on the information available in the routing table.</a:t>
            </a:r>
          </a:p>
          <a:p>
            <a:pPr marL="457200" indent="-457200" algn="just">
              <a:buFont typeface="Wingdings" panose="05000000000000000000" pitchFamily="2" charset="2"/>
              <a:buChar char="§"/>
            </a:pPr>
            <a:r>
              <a:rPr lang="en-US" altLang="en-US" sz="3000" dirty="0">
                <a:latin typeface="Times New Roman" pitchFamily="18" charset="0"/>
                <a:cs typeface="Times New Roman" pitchFamily="18" charset="0"/>
              </a:rPr>
              <a:t> It determines the best path from the available paths for the transmission of the packet.</a:t>
            </a:r>
          </a:p>
          <a:p>
            <a:pPr marL="457200" indent="-457200" algn="just">
              <a:buFont typeface="Wingdings" panose="05000000000000000000" pitchFamily="2" charset="2"/>
              <a:buChar char="§"/>
            </a:pPr>
            <a:endParaRPr lang="en-US" altLang="en-US" sz="3000"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060" y="72412"/>
            <a:ext cx="8991600" cy="6555641"/>
          </a:xfrm>
          <a:prstGeom prst="rect">
            <a:avLst/>
          </a:prstGeom>
        </p:spPr>
        <p:txBody>
          <a:bodyPr wrap="square">
            <a:spAutoFit/>
          </a:bodyPr>
          <a:lstStyle/>
          <a:p>
            <a:endParaRPr lang="en-US" altLang="en-US" sz="2800" b="1" i="1" dirty="0">
              <a:latin typeface="Times New Roman" pitchFamily="18" charset="0"/>
              <a:cs typeface="Times New Roman" pitchFamily="18" charset="0"/>
            </a:endParaRPr>
          </a:p>
          <a:p>
            <a:endParaRPr lang="en-US" altLang="en-US" sz="2800" b="1" i="1" dirty="0">
              <a:latin typeface="Times New Roman" pitchFamily="18" charset="0"/>
              <a:cs typeface="Times New Roman" pitchFamily="18" charset="0"/>
            </a:endParaRPr>
          </a:p>
          <a:p>
            <a:endParaRPr lang="en-US" altLang="en-US" sz="2800" b="1" i="1" dirty="0">
              <a:latin typeface="Times New Roman" pitchFamily="18" charset="0"/>
              <a:cs typeface="Times New Roman" pitchFamily="18" charset="0"/>
            </a:endParaRPr>
          </a:p>
          <a:p>
            <a:endParaRPr lang="en-US" altLang="en-US" sz="2800" b="1" i="1" dirty="0">
              <a:latin typeface="Times New Roman" pitchFamily="18" charset="0"/>
              <a:cs typeface="Times New Roman" pitchFamily="18" charset="0"/>
            </a:endParaRPr>
          </a:p>
          <a:p>
            <a:endParaRPr lang="en-US" altLang="en-US" sz="2800" b="1" i="1" dirty="0">
              <a:latin typeface="Times New Roman" pitchFamily="18" charset="0"/>
              <a:cs typeface="Times New Roman" pitchFamily="18" charset="0"/>
            </a:endParaRPr>
          </a:p>
          <a:p>
            <a:endParaRPr lang="en-US" altLang="en-US" sz="2800" b="1" i="1" dirty="0">
              <a:latin typeface="Times New Roman" pitchFamily="18" charset="0"/>
              <a:cs typeface="Times New Roman" pitchFamily="18" charset="0"/>
            </a:endParaRPr>
          </a:p>
          <a:p>
            <a:r>
              <a:rPr lang="en-US" altLang="en-US" sz="2800" b="1" i="1" dirty="0">
                <a:latin typeface="Times New Roman" pitchFamily="18" charset="0"/>
                <a:cs typeface="Times New Roman" pitchFamily="18" charset="0"/>
              </a:rPr>
              <a:t>Gateway</a:t>
            </a:r>
          </a:p>
          <a:p>
            <a:pPr marL="457200" indent="-457200">
              <a:buFont typeface="Wingdings" panose="05000000000000000000" pitchFamily="2" charset="2"/>
              <a:buChar char="§"/>
            </a:pPr>
            <a:r>
              <a:rPr lang="en-US" altLang="en-US" sz="2800" dirty="0">
                <a:latin typeface="Times New Roman" pitchFamily="18" charset="0"/>
                <a:cs typeface="Times New Roman" pitchFamily="18" charset="0"/>
              </a:rPr>
              <a:t>This gateway is a hardware device that acts as a “gate” within two networks. It can also be a router, firewall, server, or any other device that enables traffic to flow in and out of the network. </a:t>
            </a:r>
          </a:p>
          <a:p>
            <a:pPr marL="457200" indent="-457200">
              <a:buFont typeface="Wingdings" panose="05000000000000000000" pitchFamily="2" charset="2"/>
              <a:buChar char="§"/>
            </a:pPr>
            <a:r>
              <a:rPr lang="en-US" altLang="en-US" sz="2800" dirty="0">
                <a:latin typeface="Times New Roman" pitchFamily="18" charset="0"/>
                <a:cs typeface="Times New Roman" pitchFamily="18" charset="0"/>
              </a:rPr>
              <a:t>Gateways are used to connect networks based on different protocols. As a bridge is used to join two similar types of networks, similarly, the gateway is used to join two dissimilar networks.</a:t>
            </a:r>
          </a:p>
        </p:txBody>
      </p:sp>
      <p:pic>
        <p:nvPicPr>
          <p:cNvPr id="4" name="Picture 3">
            <a:extLst>
              <a:ext uri="{FF2B5EF4-FFF2-40B4-BE49-F238E27FC236}">
                <a16:creationId xmlns:a16="http://schemas.microsoft.com/office/drawing/2014/main" id="{8A0D4E8E-38D7-47CF-98A1-7267E32A39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72412"/>
            <a:ext cx="6264183" cy="265199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79712"/>
            <a:ext cx="8991600" cy="3785652"/>
          </a:xfrm>
          <a:prstGeom prst="rect">
            <a:avLst/>
          </a:prstGeom>
          <a:noFill/>
        </p:spPr>
        <p:txBody>
          <a:bodyPr wrap="square" rtlCol="0">
            <a:spAutoFit/>
          </a:bodyPr>
          <a:lstStyle/>
          <a:p>
            <a:pPr marL="457200" indent="-457200" algn="just">
              <a:buFont typeface="Wingdings" panose="05000000000000000000" pitchFamily="2" charset="2"/>
              <a:buChar char="§"/>
              <a:defRPr/>
            </a:pPr>
            <a:r>
              <a:rPr lang="en-US" sz="3000" dirty="0">
                <a:latin typeface="Times New Roman" panose="02020603050405020304" pitchFamily="18" charset="0"/>
                <a:cs typeface="Times New Roman" panose="02020603050405020304" pitchFamily="18" charset="0"/>
              </a:rPr>
              <a:t>This gateway node is located at the edge of the network and all the data flows through it which enters or exits the network.</a:t>
            </a:r>
          </a:p>
          <a:p>
            <a:pPr marL="457200" indent="-457200" algn="just">
              <a:buFont typeface="Wingdings" panose="05000000000000000000" pitchFamily="2" charset="2"/>
              <a:buChar char="§"/>
              <a:defRPr/>
            </a:pPr>
            <a:r>
              <a:rPr lang="en-US" sz="3000" dirty="0">
                <a:latin typeface="Times New Roman" panose="02020603050405020304" pitchFamily="18" charset="0"/>
                <a:cs typeface="Times New Roman" panose="02020603050405020304" pitchFamily="18" charset="0"/>
              </a:rPr>
              <a:t> In addition, it can also translate received data that is received from outside networks, into a format or protocol that can be identified by devices within the internal network.</a:t>
            </a:r>
          </a:p>
          <a:p>
            <a:pPr algn="just">
              <a:defRPr/>
            </a:pPr>
            <a:endParaRPr lang="en-US" sz="3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C9AEE23-1C37-468C-8E93-387BD6F836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3429000"/>
            <a:ext cx="5943600" cy="32004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5693866"/>
          </a:xfrm>
          <a:prstGeom prst="rect">
            <a:avLst/>
          </a:prstGeom>
          <a:noFill/>
        </p:spPr>
        <p:txBody>
          <a:bodyPr wrap="square" rtlCol="0">
            <a:spAutoFit/>
          </a:bodyPr>
          <a:lstStyle/>
          <a:p>
            <a:r>
              <a:rPr lang="en-US" sz="2800" b="1" i="1" dirty="0">
                <a:latin typeface="Times New Roman" pitchFamily="18" charset="0"/>
                <a:cs typeface="Times New Roman" pitchFamily="18" charset="0"/>
              </a:rPr>
              <a:t>Modem</a:t>
            </a:r>
          </a:p>
          <a:p>
            <a:pPr marL="457200" indent="-457200">
              <a:buFont typeface="Wingdings" panose="05000000000000000000" pitchFamily="2" charset="2"/>
              <a:buChar char="§"/>
            </a:pPr>
            <a:r>
              <a:rPr lang="en-US" sz="2800" dirty="0">
                <a:latin typeface="Times New Roman" pitchFamily="18" charset="0"/>
                <a:cs typeface="Times New Roman" pitchFamily="18" charset="0"/>
              </a:rPr>
              <a:t>A modem is a hardware device that allows the computer to connect to the internet over the existing telephone line.</a:t>
            </a:r>
          </a:p>
          <a:p>
            <a:pPr marL="457200" indent="-457200">
              <a:buFont typeface="Wingdings" panose="05000000000000000000" pitchFamily="2" charset="2"/>
              <a:buChar char="§"/>
            </a:pPr>
            <a:r>
              <a:rPr lang="en-US" sz="2800" dirty="0">
                <a:latin typeface="Times New Roman" pitchFamily="18" charset="0"/>
                <a:cs typeface="Times New Roman" pitchFamily="18" charset="0"/>
              </a:rPr>
              <a:t>A modem is not integrated with the motherboard rather than it is installed on the PCI slot found on the motherboard.</a:t>
            </a:r>
          </a:p>
          <a:p>
            <a:pPr marL="457200" indent="-457200">
              <a:buFont typeface="Wingdings" panose="05000000000000000000" pitchFamily="2" charset="2"/>
              <a:buChar char="§"/>
            </a:pPr>
            <a:r>
              <a:rPr lang="en-US" sz="2800" dirty="0">
                <a:latin typeface="Times New Roman" pitchFamily="18" charset="0"/>
                <a:cs typeface="Times New Roman" pitchFamily="18" charset="0"/>
              </a:rPr>
              <a:t>It stands for Modulator/Demodulator. It converts the digital data into an analog signal over the telephone lines.</a:t>
            </a:r>
          </a:p>
          <a:p>
            <a:pPr marL="457200" indent="-457200">
              <a:buFont typeface="Wingdings" panose="05000000000000000000" pitchFamily="2" charset="2"/>
              <a:buChar char="§"/>
            </a:pPr>
            <a:r>
              <a:rPr lang="en-US" sz="2800" dirty="0">
                <a:latin typeface="Times New Roman" pitchFamily="18" charset="0"/>
                <a:cs typeface="Times New Roman" pitchFamily="18" charset="0"/>
              </a:rPr>
              <a:t>Based on the differences in speed and transmission rate, a modem can be classified in the following categories:</a:t>
            </a:r>
          </a:p>
          <a:p>
            <a:pPr marL="1371600" lvl="2" indent="-457200">
              <a:buFont typeface="Wingdings" panose="05000000000000000000" pitchFamily="2" charset="2"/>
              <a:buChar char="v"/>
            </a:pPr>
            <a:r>
              <a:rPr lang="en-US" sz="2800" dirty="0">
                <a:latin typeface="Times New Roman" pitchFamily="18" charset="0"/>
                <a:cs typeface="Times New Roman" pitchFamily="18" charset="0"/>
              </a:rPr>
              <a:t>Standard PC modem or Dial-up modem</a:t>
            </a:r>
          </a:p>
          <a:p>
            <a:pPr marL="1371600" lvl="2" indent="-457200">
              <a:buFont typeface="Wingdings" panose="05000000000000000000" pitchFamily="2" charset="2"/>
              <a:buChar char="v"/>
            </a:pPr>
            <a:r>
              <a:rPr lang="en-US" sz="2800" dirty="0">
                <a:latin typeface="Times New Roman" pitchFamily="18" charset="0"/>
                <a:cs typeface="Times New Roman" pitchFamily="18" charset="0"/>
              </a:rPr>
              <a:t>Cellular Modem</a:t>
            </a:r>
          </a:p>
          <a:p>
            <a:pPr marL="1371600" lvl="2" indent="-457200">
              <a:buFont typeface="Wingdings" panose="05000000000000000000" pitchFamily="2" charset="2"/>
              <a:buChar char="v"/>
            </a:pPr>
            <a:r>
              <a:rPr lang="en-US" sz="2800" dirty="0">
                <a:latin typeface="Times New Roman" pitchFamily="18" charset="0"/>
                <a:cs typeface="Times New Roman" pitchFamily="18" charset="0"/>
              </a:rPr>
              <a:t>Cable modem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6093976"/>
          </a:xfrm>
          <a:prstGeom prst="rect">
            <a:avLst/>
          </a:prstGeom>
          <a:noFill/>
        </p:spPr>
        <p:txBody>
          <a:bodyPr wrap="square" rtlCol="0">
            <a:spAutoFit/>
          </a:bodyPr>
          <a:lstStyle/>
          <a:p>
            <a:r>
              <a:rPr lang="en-US" sz="3000" b="1" i="1" dirty="0">
                <a:latin typeface="Times New Roman" pitchFamily="18" charset="0"/>
                <a:cs typeface="Times New Roman" pitchFamily="18" charset="0"/>
              </a:rPr>
              <a:t>Network Software </a:t>
            </a:r>
          </a:p>
          <a:p>
            <a:pPr marL="457200" indent="-457200">
              <a:buFont typeface="Wingdings" panose="05000000000000000000" pitchFamily="2" charset="2"/>
              <a:buChar char="§"/>
            </a:pPr>
            <a:r>
              <a:rPr lang="en-US" sz="3000" b="1" i="1" dirty="0">
                <a:latin typeface="Times New Roman" pitchFamily="18" charset="0"/>
                <a:cs typeface="Times New Roman" pitchFamily="18" charset="0"/>
              </a:rPr>
              <a:t>Protocol Hierarchies: </a:t>
            </a:r>
            <a:r>
              <a:rPr lang="en-US" sz="3000" dirty="0">
                <a:latin typeface="Times New Roman" pitchFamily="18" charset="0"/>
                <a:cs typeface="Times New Roman" pitchFamily="18" charset="0"/>
              </a:rPr>
              <a:t>To  reduce  their  design  complexity,  most  networks  are  organized  as  a stack of layers or levels, each one built upon the one below it. </a:t>
            </a:r>
          </a:p>
          <a:p>
            <a:pPr marL="1371600" lvl="2" indent="-457200">
              <a:buFont typeface="Wingdings" panose="05000000000000000000" pitchFamily="2" charset="2"/>
              <a:buChar char="§"/>
            </a:pPr>
            <a:r>
              <a:rPr lang="en-US" sz="3000" dirty="0">
                <a:latin typeface="Times New Roman" pitchFamily="18" charset="0"/>
                <a:cs typeface="Times New Roman" pitchFamily="18" charset="0"/>
              </a:rPr>
              <a:t>The number of  layers,  the  name  of  each  layer,  the  contents  of  each  layer,  and  the  function  of  each layer differ from network to network. </a:t>
            </a:r>
          </a:p>
          <a:p>
            <a:pPr marL="1371600" lvl="2" indent="-457200">
              <a:buFont typeface="Wingdings" panose="05000000000000000000" pitchFamily="2" charset="2"/>
              <a:buChar char="§"/>
            </a:pPr>
            <a:r>
              <a:rPr lang="en-US" sz="3000" dirty="0">
                <a:latin typeface="Times New Roman" pitchFamily="18" charset="0"/>
                <a:cs typeface="Times New Roman" pitchFamily="18" charset="0"/>
              </a:rPr>
              <a:t>The purpose of each layer is to offer certain  services  to  the  higher  layers,  shielding  those  layers  from  the  details  of  how the offered services. </a:t>
            </a:r>
          </a:p>
        </p:txBody>
      </p:sp>
    </p:spTree>
    <p:extLst>
      <p:ext uri="{BB962C8B-B14F-4D97-AF65-F5344CB8AC3E}">
        <p14:creationId xmlns:p14="http://schemas.microsoft.com/office/powerpoint/2010/main" val="28270987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4708981"/>
          </a:xfrm>
          <a:prstGeom prst="rect">
            <a:avLst/>
          </a:prstGeom>
          <a:noFill/>
        </p:spPr>
        <p:txBody>
          <a:bodyPr wrap="square" rtlCol="0">
            <a:spAutoFit/>
          </a:bodyPr>
          <a:lstStyle/>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pPr marL="457200" indent="-457200">
              <a:buFont typeface="Wingdings" panose="05000000000000000000" pitchFamily="2" charset="2"/>
              <a:buChar char="§"/>
            </a:pPr>
            <a:endParaRPr lang="en-US" sz="3000" dirty="0">
              <a:latin typeface="Times New Roman" pitchFamily="18" charset="0"/>
              <a:cs typeface="Times New Roman" pitchFamily="18" charset="0"/>
            </a:endParaRPr>
          </a:p>
          <a:p>
            <a:endParaRPr lang="en-US" sz="3000" dirty="0">
              <a:latin typeface="Times New Roman" pitchFamily="18" charset="0"/>
              <a:cs typeface="Times New Roman" pitchFamily="18" charset="0"/>
            </a:endParaRPr>
          </a:p>
          <a:p>
            <a:endParaRPr lang="en-US" sz="3000" b="1" i="1" dirty="0">
              <a:latin typeface="Times New Roman" pitchFamily="18" charset="0"/>
              <a:cs typeface="Times New Roman" pitchFamily="18" charset="0"/>
            </a:endParaRPr>
          </a:p>
          <a:p>
            <a:endParaRPr lang="en-US" sz="3000" b="1" i="1"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4AFA5CD9-049B-4F0B-9E8A-61A3789D1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914400"/>
            <a:ext cx="6096000" cy="4876800"/>
          </a:xfrm>
          <a:prstGeom prst="rect">
            <a:avLst/>
          </a:prstGeom>
        </p:spPr>
      </p:pic>
    </p:spTree>
    <p:extLst>
      <p:ext uri="{BB962C8B-B14F-4D97-AF65-F5344CB8AC3E}">
        <p14:creationId xmlns:p14="http://schemas.microsoft.com/office/powerpoint/2010/main" val="11261575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40" y="85573"/>
            <a:ext cx="9073660" cy="7017306"/>
          </a:xfrm>
          <a:prstGeom prst="rect">
            <a:avLst/>
          </a:prstGeom>
          <a:noFill/>
        </p:spPr>
        <p:txBody>
          <a:bodyPr wrap="square" rtlCol="0">
            <a:spAutoFit/>
          </a:bodyPr>
          <a:lstStyle/>
          <a:p>
            <a:r>
              <a:rPr lang="en-US" sz="2900" b="1" i="1" dirty="0">
                <a:latin typeface="Times New Roman" pitchFamily="18" charset="0"/>
                <a:cs typeface="Times New Roman" pitchFamily="18" charset="0"/>
              </a:rPr>
              <a:t>Connection-Oriented and Connectionless Services </a:t>
            </a:r>
          </a:p>
          <a:p>
            <a:pPr marL="457200" indent="-457200">
              <a:buFont typeface="Wingdings" panose="05000000000000000000" pitchFamily="2" charset="2"/>
              <a:buChar char="§"/>
            </a:pPr>
            <a:r>
              <a:rPr lang="en-US" sz="2900" dirty="0">
                <a:latin typeface="Times New Roman" pitchFamily="18" charset="0"/>
                <a:cs typeface="Times New Roman" pitchFamily="18" charset="0"/>
              </a:rPr>
              <a:t>Layers can offer two different types of service to the layers above them: connection-oriented  and  connectionless.</a:t>
            </a:r>
          </a:p>
          <a:p>
            <a:pPr marL="914400" lvl="1" indent="-457200">
              <a:buFont typeface="Wingdings" panose="05000000000000000000" pitchFamily="2" charset="2"/>
              <a:buChar char="§"/>
            </a:pPr>
            <a:r>
              <a:rPr lang="en-US" sz="2900" b="1" i="1" dirty="0">
                <a:latin typeface="Times New Roman" pitchFamily="18" charset="0"/>
                <a:cs typeface="Times New Roman" pitchFamily="18" charset="0"/>
              </a:rPr>
              <a:t>Connection-Oriented: </a:t>
            </a:r>
            <a:r>
              <a:rPr lang="en-US" sz="2900" dirty="0">
                <a:latin typeface="Times New Roman" pitchFamily="18" charset="0"/>
                <a:cs typeface="Times New Roman" pitchFamily="18" charset="0"/>
              </a:rPr>
              <a:t>a  connection-oriented  network  service,  the  service  user first establishes a connection, uses the connection, and then releases the connection.</a:t>
            </a:r>
          </a:p>
          <a:p>
            <a:pPr marL="914400" lvl="1" indent="-457200">
              <a:buFont typeface="Wingdings" panose="05000000000000000000" pitchFamily="2" charset="2"/>
              <a:buChar char="§"/>
            </a:pPr>
            <a:r>
              <a:rPr lang="en-US" sz="2900" b="1" i="1" dirty="0">
                <a:latin typeface="Times New Roman" pitchFamily="18" charset="0"/>
                <a:cs typeface="Times New Roman" pitchFamily="18" charset="0"/>
              </a:rPr>
              <a:t>Connectionless  service  </a:t>
            </a:r>
            <a:r>
              <a:rPr lang="en-US" sz="2900" dirty="0">
                <a:latin typeface="Times New Roman" pitchFamily="18" charset="0"/>
                <a:cs typeface="Times New Roman" pitchFamily="18" charset="0"/>
              </a:rPr>
              <a:t>is  modeled  after  the  postal  system.  Each  message  (letter)  carries  the  full  destination  address,  and  each  one  is  routed  through  the  system  independent  of  all  the  others.  Normally,  when  two  messages are sent to the same destination, the first one sent will be the first one to  arrive.</a:t>
            </a:r>
          </a:p>
        </p:txBody>
      </p:sp>
    </p:spTree>
    <p:extLst>
      <p:ext uri="{BB962C8B-B14F-4D97-AF65-F5344CB8AC3E}">
        <p14:creationId xmlns:p14="http://schemas.microsoft.com/office/powerpoint/2010/main" val="22039733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32301</TotalTime>
  <Words>2626</Words>
  <Application>Microsoft Office PowerPoint</Application>
  <PresentationFormat>On-screen Show (4:3)</PresentationFormat>
  <Paragraphs>172</Paragraphs>
  <Slides>37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Calibri</vt:lpstr>
      <vt:lpstr>Franklin Gothic Book</vt:lpstr>
      <vt:lpstr>Perpetua</vt:lpstr>
      <vt:lpstr>Times New Roman</vt:lpstr>
      <vt:lpstr>Wingdings</vt:lpstr>
      <vt:lpstr>Wingdings 2</vt:lpstr>
      <vt:lpstr>Equity</vt:lpstr>
      <vt:lpstr>UNIT II – TOPOLOGIES,NETWORK HARDWARE AND SOFTWARE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Rahma</dc:creator>
  <cp:lastModifiedBy>LABIII</cp:lastModifiedBy>
  <cp:revision>457</cp:revision>
  <dcterms:created xsi:type="dcterms:W3CDTF">2016-11-13T04:57:18Z</dcterms:created>
  <dcterms:modified xsi:type="dcterms:W3CDTF">2022-11-22T06:35:23Z</dcterms:modified>
</cp:coreProperties>
</file>