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0" r:id="rId3"/>
    <p:sldId id="303" r:id="rId4"/>
    <p:sldId id="302" r:id="rId5"/>
    <p:sldId id="261" r:id="rId6"/>
    <p:sldId id="258" r:id="rId7"/>
    <p:sldId id="262" r:id="rId8"/>
    <p:sldId id="304" r:id="rId9"/>
    <p:sldId id="305" r:id="rId10"/>
    <p:sldId id="263" r:id="rId11"/>
    <p:sldId id="264" r:id="rId12"/>
    <p:sldId id="265" r:id="rId13"/>
    <p:sldId id="266" r:id="rId14"/>
    <p:sldId id="267" r:id="rId15"/>
    <p:sldId id="268" r:id="rId16"/>
    <p:sldId id="269" r:id="rId17"/>
    <p:sldId id="270" r:id="rId18"/>
    <p:sldId id="271" r:id="rId19"/>
    <p:sldId id="273" r:id="rId20"/>
    <p:sldId id="274" r:id="rId21"/>
    <p:sldId id="275" r:id="rId22"/>
    <p:sldId id="272" r:id="rId23"/>
    <p:sldId id="276" r:id="rId24"/>
    <p:sldId id="277" r:id="rId25"/>
    <p:sldId id="278" r:id="rId26"/>
    <p:sldId id="280" r:id="rId27"/>
    <p:sldId id="281" r:id="rId28"/>
    <p:sldId id="282" r:id="rId29"/>
    <p:sldId id="279"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70" autoAdjust="0"/>
    <p:restoredTop sz="94660"/>
  </p:normalViewPr>
  <p:slideViewPr>
    <p:cSldViewPr>
      <p:cViewPr varScale="1">
        <p:scale>
          <a:sx n="82" d="100"/>
          <a:sy n="82" d="100"/>
        </p:scale>
        <p:origin x="148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3BAF07F5-87D9-4868-AAFB-807E050D3A90}" type="datetimeFigureOut">
              <a:rPr lang="en-US" smtClean="0"/>
              <a:pPr/>
              <a:t>11/22/2021</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F1EB308A-33AB-43EA-861F-D0B3FACE98D6}"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BAF07F5-87D9-4868-AAFB-807E050D3A90}" type="datetimeFigureOut">
              <a:rPr lang="en-US" smtClean="0"/>
              <a:pPr/>
              <a:t>11/22/2021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EB308A-33AB-43EA-861F-D0B3FACE98D6}"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BAF07F5-87D9-4868-AAFB-807E050D3A90}" type="datetimeFigureOut">
              <a:rPr lang="en-US" smtClean="0"/>
              <a:pPr/>
              <a:t>11/22/2021</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F1EB308A-33AB-43EA-861F-D0B3FACE98D6}"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3BAF07F5-87D9-4868-AAFB-807E050D3A90}" type="datetimeFigureOut">
              <a:rPr lang="en-US" smtClean="0"/>
              <a:pPr/>
              <a:t>11/22/2021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EB308A-33AB-43EA-861F-D0B3FACE98D6}"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3BAF07F5-87D9-4868-AAFB-807E050D3A90}" type="datetimeFigureOut">
              <a:rPr lang="en-US" smtClean="0"/>
              <a:pPr/>
              <a:t>11/22/2021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EB308A-33AB-43EA-861F-D0B3FACE98D6}"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BAF07F5-87D9-4868-AAFB-807E050D3A90}" type="datetimeFigureOut">
              <a:rPr lang="en-US" smtClean="0"/>
              <a:pPr/>
              <a:t>11/22/2021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EB308A-33AB-43EA-861F-D0B3FACE98D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AF07F5-87D9-4868-AAFB-807E050D3A90}" type="datetimeFigureOut">
              <a:rPr lang="en-US" smtClean="0"/>
              <a:pPr/>
              <a:t>11/22/2021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EB308A-33AB-43EA-861F-D0B3FACE98D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BAF07F5-87D9-4868-AAFB-807E050D3A90}" type="datetimeFigureOut">
              <a:rPr lang="en-US" smtClean="0"/>
              <a:pPr/>
              <a:t>11/22/2021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EB308A-33AB-43EA-861F-D0B3FACE98D6}"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BAF07F5-87D9-4868-AAFB-807E050D3A90}" type="datetimeFigureOut">
              <a:rPr lang="en-US" smtClean="0"/>
              <a:pPr/>
              <a:t>11/22/2021</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F1EB308A-33AB-43EA-861F-D0B3FACE98D6}"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BAF07F5-87D9-4868-AAFB-807E050D3A90}" type="datetimeFigureOut">
              <a:rPr lang="en-US" smtClean="0"/>
              <a:pPr/>
              <a:t>11/22/2021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EB308A-33AB-43EA-861F-D0B3FACE98D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BAF07F5-87D9-4868-AAFB-807E050D3A90}" type="datetimeFigureOut">
              <a:rPr lang="en-US" smtClean="0"/>
              <a:pPr/>
              <a:t>11/22/2021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EB308A-33AB-43EA-861F-D0B3FACE98D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3BAF07F5-87D9-4868-AAFB-807E050D3A90}" type="datetimeFigureOut">
              <a:rPr lang="en-US" smtClean="0"/>
              <a:pPr/>
              <a:t>11/22/2021</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F1EB308A-33AB-43EA-861F-D0B3FACE98D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457200" y="1524000"/>
            <a:ext cx="8229600" cy="1465870"/>
          </a:xfrm>
        </p:spPr>
        <p:txBody>
          <a:bodyPr/>
          <a:lstStyle/>
          <a:p>
            <a:r>
              <a:rPr lang="en-US" dirty="0"/>
              <a:t>UNIT 3 - TRANSMISSION MEDIA </a:t>
            </a:r>
          </a:p>
        </p:txBody>
      </p:sp>
      <p:sp>
        <p:nvSpPr>
          <p:cNvPr id="6" name="TextBox 5"/>
          <p:cNvSpPr txBox="1"/>
          <p:nvPr/>
        </p:nvSpPr>
        <p:spPr>
          <a:xfrm>
            <a:off x="347133" y="3611940"/>
            <a:ext cx="8458200" cy="1569660"/>
          </a:xfrm>
          <a:prstGeom prst="rect">
            <a:avLst/>
          </a:prstGeom>
          <a:noFill/>
        </p:spPr>
        <p:txBody>
          <a:bodyPr wrap="square" rtlCol="0">
            <a:spAutoFit/>
          </a:bodyPr>
          <a:lstStyle/>
          <a:p>
            <a:r>
              <a:rPr lang="en-US" sz="3200" b="1" dirty="0">
                <a:latin typeface="Times New Roman" pitchFamily="18" charset="0"/>
                <a:cs typeface="Times New Roman" pitchFamily="18" charset="0"/>
              </a:rPr>
              <a:t>CODE:</a:t>
            </a:r>
            <a:r>
              <a:rPr lang="en-US" sz="3200" dirty="0">
                <a:latin typeface="Times New Roman" pitchFamily="18" charset="0"/>
                <a:cs typeface="Times New Roman" pitchFamily="18" charset="0"/>
              </a:rPr>
              <a:t> </a:t>
            </a:r>
            <a:r>
              <a:rPr lang="en-GB" sz="3200" dirty="0">
                <a:latin typeface="Times New Roman" panose="02020603050405020304" pitchFamily="18" charset="0"/>
                <a:cs typeface="Times New Roman" panose="02020603050405020304" pitchFamily="18" charset="0"/>
              </a:rPr>
              <a:t>CS 8137</a:t>
            </a:r>
            <a:endParaRPr lang="en-US" sz="3200" dirty="0">
              <a:latin typeface="Times New Roman" panose="02020603050405020304" pitchFamily="18" charset="0"/>
              <a:cs typeface="Times New Roman" pitchFamily="18" charset="0"/>
            </a:endParaRPr>
          </a:p>
          <a:p>
            <a:r>
              <a:rPr lang="en-US" sz="3200" b="1" dirty="0">
                <a:latin typeface="Times New Roman" pitchFamily="18" charset="0"/>
                <a:cs typeface="Times New Roman" pitchFamily="18" charset="0"/>
              </a:rPr>
              <a:t>FACILITATOR: </a:t>
            </a:r>
            <a:r>
              <a:rPr lang="en-US" sz="3200" dirty="0">
                <a:latin typeface="Times New Roman" pitchFamily="18" charset="0"/>
                <a:cs typeface="Times New Roman" pitchFamily="18" charset="0"/>
              </a:rPr>
              <a:t>FRANK </a:t>
            </a:r>
          </a:p>
          <a:p>
            <a:r>
              <a:rPr lang="en-US" sz="3200" b="1" dirty="0">
                <a:latin typeface="Times New Roman" pitchFamily="18" charset="0"/>
                <a:cs typeface="Times New Roman" pitchFamily="18" charset="0"/>
              </a:rPr>
              <a:t>EMAIL: </a:t>
            </a:r>
            <a:r>
              <a:rPr lang="en-US" sz="3200" dirty="0">
                <a:latin typeface="Times New Roman" pitchFamily="18" charset="0"/>
                <a:cs typeface="Times New Roman" pitchFamily="18" charset="0"/>
              </a:rPr>
              <a:t>frankibrahim25@gmail.com</a:t>
            </a:r>
          </a:p>
        </p:txBody>
      </p:sp>
      <p:sp>
        <p:nvSpPr>
          <p:cNvPr id="7" name="TextBox 6"/>
          <p:cNvSpPr txBox="1"/>
          <p:nvPr/>
        </p:nvSpPr>
        <p:spPr>
          <a:xfrm>
            <a:off x="118238" y="420469"/>
            <a:ext cx="8915400" cy="646331"/>
          </a:xfrm>
          <a:prstGeom prst="rect">
            <a:avLst/>
          </a:prstGeom>
          <a:noFill/>
        </p:spPr>
        <p:txBody>
          <a:bodyPr wrap="square" rtlCol="0">
            <a:spAutoFit/>
          </a:bodyPr>
          <a:lstStyle/>
          <a:p>
            <a:pPr algn="ctr"/>
            <a:r>
              <a:rPr lang="en-GB" sz="3600" b="1" dirty="0">
                <a:latin typeface="Times New Roman" panose="02020603050405020304" pitchFamily="18" charset="0"/>
                <a:cs typeface="Times New Roman" panose="02020603050405020304" pitchFamily="18" charset="0"/>
              </a:rPr>
              <a:t>COMPUTER NETWORKS I</a:t>
            </a:r>
            <a:endParaRPr lang="en-US" sz="3600" b="1" dirty="0">
              <a:latin typeface="Times New Roman" panose="02020603050405020304"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5632311"/>
          </a:xfrm>
          <a:prstGeom prst="rect">
            <a:avLst/>
          </a:prstGeom>
          <a:noFill/>
        </p:spPr>
        <p:txBody>
          <a:bodyPr wrap="square" rtlCol="0">
            <a:spAutoFit/>
          </a:bodyPr>
          <a:lstStyle/>
          <a:p>
            <a:pPr marL="457200" indent="-457200">
              <a:buFont typeface="Wingdings" panose="05000000000000000000" pitchFamily="2" charset="2"/>
              <a:buChar char="§"/>
            </a:pPr>
            <a:r>
              <a:rPr lang="en-US" sz="3000" dirty="0">
                <a:latin typeface="Times New Roman" pitchFamily="18" charset="0"/>
                <a:cs typeface="Times New Roman" pitchFamily="18" charset="0"/>
              </a:rPr>
              <a:t>We definitely need transmission media to conduct signals from the source to the destination. </a:t>
            </a:r>
            <a:r>
              <a:rPr lang="en-US" altLang="en-US" sz="3000" dirty="0">
                <a:latin typeface="Times New Roman" pitchFamily="18" charset="0"/>
                <a:cs typeface="Times New Roman" pitchFamily="18" charset="0"/>
              </a:rPr>
              <a:t>However, the media can be wired or wireless.</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This unit is divided into three sections:</a:t>
            </a:r>
          </a:p>
          <a:p>
            <a:pPr marL="914400" lvl="1" indent="-457200">
              <a:buFont typeface="Wingdings" panose="05000000000000000000" pitchFamily="2" charset="2"/>
              <a:buChar char="§"/>
            </a:pPr>
            <a:r>
              <a:rPr lang="en-US" altLang="en-US" sz="3000" dirty="0">
                <a:latin typeface="Times New Roman" pitchFamily="18" charset="0"/>
                <a:cs typeface="Times New Roman" pitchFamily="18" charset="0"/>
              </a:rPr>
              <a:t>The first section introduces the transmission media and defines its position in the Internet model. </a:t>
            </a:r>
          </a:p>
          <a:p>
            <a:pPr marL="914400" lvl="1" indent="-457200">
              <a:buFont typeface="Wingdings" panose="05000000000000000000" pitchFamily="2" charset="2"/>
              <a:buChar char="§"/>
            </a:pPr>
            <a:r>
              <a:rPr lang="en-US" altLang="en-US" sz="3000" dirty="0">
                <a:latin typeface="Times New Roman" pitchFamily="18" charset="0"/>
                <a:cs typeface="Times New Roman" pitchFamily="18" charset="0"/>
              </a:rPr>
              <a:t>The second section discusses guided media. The first part describes twisted-pair cables and their characteristics and applications. </a:t>
            </a:r>
          </a:p>
          <a:p>
            <a:pPr marL="914400" lvl="1" indent="-457200">
              <a:buFont typeface="Wingdings" panose="05000000000000000000" pitchFamily="2" charset="2"/>
              <a:buChar char="§"/>
            </a:pPr>
            <a:r>
              <a:rPr lang="en-US" altLang="en-US" sz="3000" dirty="0">
                <a:latin typeface="Times New Roman" pitchFamily="18" charset="0"/>
                <a:cs typeface="Times New Roman" pitchFamily="18" charset="0"/>
              </a:rPr>
              <a:t>The third section discusses unguided media. The first part describes radio waves and their characteristics and applications.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7017306"/>
          </a:xfrm>
          <a:prstGeom prst="rect">
            <a:avLst/>
          </a:prstGeom>
          <a:noFill/>
        </p:spPr>
        <p:txBody>
          <a:bodyPr wrap="square" rtlCol="0">
            <a:spAutoFit/>
          </a:bodyPr>
          <a:lstStyle/>
          <a:p>
            <a:r>
              <a:rPr lang="en-US" sz="3000" b="1" i="1" dirty="0">
                <a:latin typeface="Times New Roman" pitchFamily="18" charset="0"/>
                <a:cs typeface="Times New Roman" pitchFamily="18" charset="0"/>
              </a:rPr>
              <a:t>Introduction</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Transmission media are actually located below the physical layer and are directly controlled by the physical layer. We could say that transmission media belong to layer zero.</a:t>
            </a:r>
          </a:p>
          <a:p>
            <a:pPr marL="457200" indent="-457200">
              <a:buFont typeface="Wingdings" panose="05000000000000000000" pitchFamily="2" charset="2"/>
              <a:buChar char="§"/>
            </a:pPr>
            <a:endParaRPr lang="en-US" alt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alt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alt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alt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altLang="en-US" sz="3000" dirty="0">
              <a:latin typeface="Times New Roman" pitchFamily="18" charset="0"/>
              <a:cs typeface="Times New Roman" pitchFamily="18" charset="0"/>
            </a:endParaRPr>
          </a:p>
          <a:p>
            <a:r>
              <a:rPr lang="en-US" altLang="en-US" sz="3000" dirty="0">
                <a:latin typeface="Times New Roman" pitchFamily="18" charset="0"/>
                <a:cs typeface="Times New Roman" pitchFamily="18" charset="0"/>
              </a:rPr>
              <a:t>	</a:t>
            </a:r>
            <a:r>
              <a:rPr lang="en-US" altLang="en-US" sz="3000" i="1" dirty="0">
                <a:latin typeface="Times New Roman" pitchFamily="18" charset="0"/>
                <a:cs typeface="Times New Roman" pitchFamily="18" charset="0"/>
              </a:rPr>
              <a:t>Transmission medium and physical layer</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No network can function without a transmission medium because there would be no connection between the transmitting elements.</a:t>
            </a:r>
          </a:p>
          <a:p>
            <a:pPr marL="457200" indent="-457200">
              <a:buFont typeface="Wingdings" panose="05000000000000000000" pitchFamily="2" charset="2"/>
              <a:buChar char="§"/>
            </a:pPr>
            <a:endParaRPr lang="en-US" altLang="en-US" sz="3000"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12B1C126-659D-4C97-8E7F-6FF70BFE54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2669500"/>
            <a:ext cx="7010400" cy="2133600"/>
          </a:xfrm>
          <a:prstGeom prst="rect">
            <a:avLst/>
          </a:prstGeom>
        </p:spPr>
      </p:pic>
    </p:spTree>
    <p:extLst>
      <p:ext uri="{BB962C8B-B14F-4D97-AF65-F5344CB8AC3E}">
        <p14:creationId xmlns:p14="http://schemas.microsoft.com/office/powerpoint/2010/main" val="1393430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4247317"/>
          </a:xfrm>
          <a:prstGeom prst="rect">
            <a:avLst/>
          </a:prstGeom>
          <a:noFill/>
        </p:spPr>
        <p:txBody>
          <a:bodyPr wrap="square" rtlCol="0">
            <a:spAutoFit/>
          </a:bodyPr>
          <a:lstStyle/>
          <a:p>
            <a:pPr marL="457200" indent="-457200">
              <a:buFont typeface="Wingdings" panose="05000000000000000000" pitchFamily="2" charset="2"/>
              <a:buChar char="§"/>
            </a:pPr>
            <a:r>
              <a:rPr lang="en-US" sz="3000" b="1" dirty="0">
                <a:latin typeface="Times New Roman" pitchFamily="18" charset="0"/>
                <a:cs typeface="Times New Roman" pitchFamily="18" charset="0"/>
              </a:rPr>
              <a:t>A</a:t>
            </a:r>
            <a:r>
              <a:rPr lang="en-US" sz="3000" dirty="0">
                <a:latin typeface="Times New Roman" pitchFamily="18" charset="0"/>
                <a:cs typeface="Times New Roman" pitchFamily="18" charset="0"/>
              </a:rPr>
              <a:t> </a:t>
            </a:r>
            <a:r>
              <a:rPr lang="en-US" sz="3000" b="1" dirty="0">
                <a:latin typeface="Times New Roman" pitchFamily="18" charset="0"/>
                <a:cs typeface="Times New Roman" pitchFamily="18" charset="0"/>
              </a:rPr>
              <a:t>transmission medium </a:t>
            </a:r>
            <a:r>
              <a:rPr lang="en-US" sz="3000" dirty="0">
                <a:latin typeface="Times New Roman" pitchFamily="18" charset="0"/>
                <a:cs typeface="Times New Roman" pitchFamily="18" charset="0"/>
              </a:rPr>
              <a:t>can be broadly defined as anything that can carry information from a source to a destination.</a:t>
            </a:r>
          </a:p>
          <a:p>
            <a:pPr marL="457200" indent="-457200">
              <a:buFont typeface="Wingdings" panose="05000000000000000000" pitchFamily="2" charset="2"/>
              <a:buChar char="§"/>
            </a:pPr>
            <a:r>
              <a:rPr lang="en-US" altLang="en-US" sz="3000" i="1" dirty="0">
                <a:latin typeface="Times New Roman" pitchFamily="18" charset="0"/>
                <a:cs typeface="Times New Roman" pitchFamily="18" charset="0"/>
              </a:rPr>
              <a:t>For example, the transmission medium for two people having a dinner conversation is the air.</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In telecommunications, transmission media can be divided into two broad categories: </a:t>
            </a:r>
            <a:r>
              <a:rPr lang="en-US" altLang="en-US" sz="3000" b="1" i="1" dirty="0">
                <a:latin typeface="Times New Roman" pitchFamily="18" charset="0"/>
                <a:cs typeface="Times New Roman" pitchFamily="18" charset="0"/>
              </a:rPr>
              <a:t>guided media</a:t>
            </a:r>
            <a:r>
              <a:rPr lang="en-US" altLang="en-US" sz="3000" dirty="0">
                <a:latin typeface="Times New Roman" pitchFamily="18" charset="0"/>
                <a:cs typeface="Times New Roman" pitchFamily="18" charset="0"/>
              </a:rPr>
              <a:t> and </a:t>
            </a:r>
            <a:r>
              <a:rPr lang="en-US" altLang="en-US" sz="3000" b="1" i="1" dirty="0">
                <a:latin typeface="Times New Roman" pitchFamily="18" charset="0"/>
                <a:cs typeface="Times New Roman" pitchFamily="18" charset="0"/>
              </a:rPr>
              <a:t>unguided media</a:t>
            </a:r>
            <a:r>
              <a:rPr lang="en-US" altLang="en-US" sz="3000" dirty="0">
                <a:latin typeface="Times New Roman" pitchFamily="18" charset="0"/>
                <a:cs typeface="Times New Roman" pitchFamily="18" charset="0"/>
              </a:rPr>
              <a:t>.</a:t>
            </a:r>
          </a:p>
          <a:p>
            <a:pPr marL="457200" indent="-457200">
              <a:buFont typeface="Wingdings" panose="05000000000000000000" pitchFamily="2" charset="2"/>
              <a:buChar char="§"/>
            </a:pPr>
            <a:endParaRPr lang="en-US" altLang="en-US" sz="3000"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EA5A6B55-EF23-4AFB-B893-DD0E149A52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4191000"/>
            <a:ext cx="6790008" cy="1897544"/>
          </a:xfrm>
          <a:prstGeom prst="rect">
            <a:avLst/>
          </a:prstGeom>
        </p:spPr>
      </p:pic>
    </p:spTree>
    <p:extLst>
      <p:ext uri="{BB962C8B-B14F-4D97-AF65-F5344CB8AC3E}">
        <p14:creationId xmlns:p14="http://schemas.microsoft.com/office/powerpoint/2010/main" val="4099878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152400"/>
            <a:ext cx="8991600" cy="6555641"/>
          </a:xfrm>
          <a:prstGeom prst="rect">
            <a:avLst/>
          </a:prstGeom>
          <a:noFill/>
        </p:spPr>
        <p:txBody>
          <a:bodyPr wrap="square" rtlCol="0">
            <a:spAutoFit/>
          </a:bodyPr>
          <a:lstStyle/>
          <a:p>
            <a:pPr>
              <a:defRPr/>
            </a:pPr>
            <a:r>
              <a:rPr lang="en-US" sz="3000" b="1" i="1" dirty="0">
                <a:latin typeface="Times New Roman" pitchFamily="18" charset="0"/>
                <a:cs typeface="Times New Roman" pitchFamily="18" charset="0"/>
              </a:rPr>
              <a:t>Guided transmission media</a:t>
            </a:r>
          </a:p>
          <a:p>
            <a:pPr marL="457200" indent="-457200">
              <a:buFont typeface="Wingdings" panose="05000000000000000000" pitchFamily="2" charset="2"/>
              <a:buChar char="§"/>
              <a:defRPr/>
            </a:pPr>
            <a:r>
              <a:rPr lang="en-US" sz="3000" dirty="0">
                <a:latin typeface="Times New Roman" pitchFamily="18" charset="0"/>
                <a:cs typeface="Times New Roman" pitchFamily="18" charset="0"/>
              </a:rPr>
              <a:t>For guided transmission media, the transmission capacity, in terms of either data rate or bandwidth, depends critically on the distance and on whether the medium is point-to-point or multipoint.</a:t>
            </a:r>
          </a:p>
          <a:p>
            <a:pPr marL="457200" indent="-457200">
              <a:buFont typeface="Wingdings" panose="05000000000000000000" pitchFamily="2" charset="2"/>
              <a:buChar char="§"/>
              <a:defRPr/>
            </a:pPr>
            <a:r>
              <a:rPr lang="en-US" sz="3000" dirty="0">
                <a:latin typeface="Times New Roman" pitchFamily="18" charset="0"/>
                <a:cs typeface="Times New Roman" pitchFamily="18" charset="0"/>
              </a:rPr>
              <a:t>The three guided media commonly used for data transmission are </a:t>
            </a:r>
            <a:r>
              <a:rPr lang="en-US" sz="3000" b="1" i="1" dirty="0">
                <a:latin typeface="Times New Roman" pitchFamily="18" charset="0"/>
                <a:cs typeface="Times New Roman" pitchFamily="18" charset="0"/>
              </a:rPr>
              <a:t>twisted-pair cable, coaxial cable, and fiber-optic cable.</a:t>
            </a:r>
          </a:p>
          <a:p>
            <a:pPr marL="457200" indent="-457200">
              <a:buFont typeface="Wingdings" panose="05000000000000000000" pitchFamily="2" charset="2"/>
              <a:buChar char="§"/>
              <a:defRPr/>
            </a:pPr>
            <a:r>
              <a:rPr lang="en-US" sz="3000" b="1" i="1" dirty="0">
                <a:latin typeface="Times New Roman" pitchFamily="18" charset="0"/>
                <a:cs typeface="Times New Roman" pitchFamily="18" charset="0"/>
              </a:rPr>
              <a:t>Twisted-pair</a:t>
            </a:r>
            <a:r>
              <a:rPr lang="en-US" sz="3000" dirty="0">
                <a:latin typeface="Times New Roman" pitchFamily="18" charset="0"/>
                <a:cs typeface="Times New Roman" pitchFamily="18" charset="0"/>
              </a:rPr>
              <a:t> and </a:t>
            </a:r>
            <a:r>
              <a:rPr lang="en-US" sz="3000" b="1" i="1" dirty="0">
                <a:latin typeface="Times New Roman" pitchFamily="18" charset="0"/>
                <a:cs typeface="Times New Roman" pitchFamily="18" charset="0"/>
              </a:rPr>
              <a:t>coaxial cable </a:t>
            </a:r>
            <a:r>
              <a:rPr lang="en-US" sz="3000" dirty="0">
                <a:latin typeface="Times New Roman" pitchFamily="18" charset="0"/>
                <a:cs typeface="Times New Roman" pitchFamily="18" charset="0"/>
              </a:rPr>
              <a:t>use metallic (copper) conductors that accept and transport signals in the form of electric current. </a:t>
            </a:r>
            <a:r>
              <a:rPr lang="en-US" sz="3000" b="1" i="1" dirty="0">
                <a:latin typeface="Times New Roman" pitchFamily="18" charset="0"/>
                <a:cs typeface="Times New Roman" pitchFamily="18" charset="0"/>
              </a:rPr>
              <a:t>Optical fiber </a:t>
            </a:r>
            <a:r>
              <a:rPr lang="en-US" sz="3000" dirty="0">
                <a:latin typeface="Times New Roman" pitchFamily="18" charset="0"/>
                <a:cs typeface="Times New Roman" pitchFamily="18" charset="0"/>
              </a:rPr>
              <a:t>is a cable that accepts and transports signals in the form of light.</a:t>
            </a:r>
          </a:p>
          <a:p>
            <a:pPr marL="457200" indent="-457200">
              <a:buFont typeface="Wingdings" panose="05000000000000000000" pitchFamily="2" charset="2"/>
              <a:buChar char="§"/>
              <a:defRPr/>
            </a:pPr>
            <a:endParaRPr lang="en-US" sz="3000" b="1" i="1" dirty="0">
              <a:latin typeface="Times New Roman" pitchFamily="18" charset="0"/>
              <a:cs typeface="Times New Roman" pitchFamily="18" charset="0"/>
            </a:endParaRPr>
          </a:p>
          <a:p>
            <a:pPr marL="457200" indent="-457200">
              <a:buFont typeface="Wingdings" panose="05000000000000000000" pitchFamily="2" charset="2"/>
              <a:buChar char="§"/>
              <a:defRPr/>
            </a:pPr>
            <a:endParaRPr lang="en-US" sz="30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 y="76200"/>
            <a:ext cx="8991600" cy="4708981"/>
          </a:xfrm>
          <a:prstGeom prst="rect">
            <a:avLst/>
          </a:prstGeom>
          <a:noFill/>
        </p:spPr>
        <p:txBody>
          <a:bodyPr wrap="square" rtlCol="0">
            <a:spAutoFit/>
          </a:bodyPr>
          <a:lstStyle/>
          <a:p>
            <a:r>
              <a:rPr lang="en-US" sz="3000" b="1" i="1" dirty="0">
                <a:latin typeface="Times New Roman" panose="02020603050405020304" pitchFamily="18" charset="0"/>
                <a:cs typeface="Times New Roman" panose="02020603050405020304" pitchFamily="18" charset="0"/>
              </a:rPr>
              <a:t>Twisted-Pair Cable</a:t>
            </a:r>
          </a:p>
          <a:p>
            <a:pPr marL="457200" indent="-457200">
              <a:buFont typeface="Wingdings" panose="05000000000000000000" pitchFamily="2" charset="2"/>
              <a:buChar char="§"/>
            </a:pPr>
            <a:r>
              <a:rPr lang="en-US" sz="3000" dirty="0">
                <a:latin typeface="Times New Roman" panose="02020603050405020304" pitchFamily="18" charset="0"/>
                <a:cs typeface="Times New Roman" panose="02020603050405020304" pitchFamily="18" charset="0"/>
              </a:rPr>
              <a:t>A twisted pair consists of two insulated copper wires arranged in a regular spiral pattern.</a:t>
            </a:r>
          </a:p>
          <a:p>
            <a:pPr marL="457200" indent="-457200">
              <a:buFont typeface="Wingdings" panose="05000000000000000000" pitchFamily="2" charset="2"/>
              <a:buChar char="§"/>
            </a:pPr>
            <a:r>
              <a:rPr lang="en-US" sz="3000" dirty="0">
                <a:latin typeface="Times New Roman" panose="02020603050405020304" pitchFamily="18" charset="0"/>
                <a:cs typeface="Times New Roman" panose="02020603050405020304" pitchFamily="18" charset="0"/>
              </a:rPr>
              <a:t>A twisted pair consists of two conductors (normally copper), each with its own plastic insulation, twisted together.</a:t>
            </a:r>
          </a:p>
          <a:p>
            <a:pPr marL="457200" indent="-457200">
              <a:buFont typeface="Wingdings" panose="05000000000000000000" pitchFamily="2" charset="2"/>
              <a:buChar char="§"/>
            </a:pPr>
            <a:r>
              <a:rPr lang="en-US" sz="3000" dirty="0">
                <a:latin typeface="Times New Roman" panose="02020603050405020304" pitchFamily="18" charset="0"/>
                <a:cs typeface="Times New Roman" panose="02020603050405020304" pitchFamily="18" charset="0"/>
              </a:rPr>
              <a:t>One of the wires is used to carry signals to the receiver, and the other is used only as a ground reference.</a:t>
            </a:r>
            <a:br>
              <a:rPr lang="en-US" sz="3000" dirty="0">
                <a:latin typeface="Times New Roman" panose="02020603050405020304" pitchFamily="18" charset="0"/>
                <a:cs typeface="Times New Roman" panose="02020603050405020304" pitchFamily="18" charset="0"/>
              </a:rPr>
            </a:br>
            <a:endParaRPr lang="en-US" sz="3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C3EBAA1-5191-4341-8A0C-562E964370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4495800"/>
            <a:ext cx="7315775" cy="1905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79712"/>
            <a:ext cx="8991600" cy="5893921"/>
          </a:xfrm>
          <a:prstGeom prst="rect">
            <a:avLst/>
          </a:prstGeom>
          <a:noFill/>
        </p:spPr>
        <p:txBody>
          <a:bodyPr wrap="square" rtlCol="0">
            <a:spAutoFit/>
          </a:bodyPr>
          <a:lstStyle/>
          <a:p>
            <a:pPr algn="just" fontAlgn="auto">
              <a:spcAft>
                <a:spcPts val="0"/>
              </a:spcAft>
              <a:defRPr/>
            </a:pPr>
            <a:r>
              <a:rPr lang="en-US" sz="2900" b="1" i="1" dirty="0">
                <a:latin typeface="Times New Roman" pitchFamily="18" charset="0"/>
                <a:cs typeface="Times New Roman" pitchFamily="18" charset="0"/>
              </a:rPr>
              <a:t>Unshielded and Shielded Twisted-Pair Cable</a:t>
            </a:r>
          </a:p>
          <a:p>
            <a:pPr marL="457200" indent="-457200" algn="just" fontAlgn="auto">
              <a:spcAft>
                <a:spcPts val="0"/>
              </a:spcAft>
              <a:buFont typeface="Wingdings" panose="05000000000000000000" pitchFamily="2" charset="2"/>
              <a:buChar char="§"/>
              <a:defRPr/>
            </a:pPr>
            <a:r>
              <a:rPr lang="en-US" sz="2900" dirty="0">
                <a:latin typeface="Times New Roman" pitchFamily="18" charset="0"/>
                <a:cs typeface="Times New Roman" pitchFamily="18" charset="0"/>
              </a:rPr>
              <a:t>Twisted pair comes in two varieties: </a:t>
            </a:r>
            <a:r>
              <a:rPr lang="en-US" sz="2900" b="1" i="1" dirty="0">
                <a:latin typeface="Times New Roman" pitchFamily="18" charset="0"/>
                <a:cs typeface="Times New Roman" pitchFamily="18" charset="0"/>
              </a:rPr>
              <a:t>unshielded and shielded. </a:t>
            </a:r>
          </a:p>
          <a:p>
            <a:pPr marL="457200" indent="-457200" algn="just" fontAlgn="auto">
              <a:spcAft>
                <a:spcPts val="0"/>
              </a:spcAft>
              <a:buFont typeface="Wingdings" panose="05000000000000000000" pitchFamily="2" charset="2"/>
              <a:buChar char="§"/>
              <a:defRPr/>
            </a:pPr>
            <a:r>
              <a:rPr lang="en-US" sz="2900" dirty="0">
                <a:latin typeface="Times New Roman" pitchFamily="18" charset="0"/>
                <a:cs typeface="Times New Roman" pitchFamily="18" charset="0"/>
              </a:rPr>
              <a:t>The most common twisted-pair cable used in communications is referred to as </a:t>
            </a:r>
            <a:r>
              <a:rPr lang="en-US" sz="2900" b="1" i="1" dirty="0">
                <a:latin typeface="Times New Roman" pitchFamily="18" charset="0"/>
                <a:cs typeface="Times New Roman" pitchFamily="18" charset="0"/>
              </a:rPr>
              <a:t>unshielded twisted-pair (UTP). </a:t>
            </a:r>
          </a:p>
          <a:p>
            <a:pPr marL="457200" indent="-457200" algn="just" fontAlgn="auto">
              <a:spcAft>
                <a:spcPts val="0"/>
              </a:spcAft>
              <a:buFont typeface="Wingdings" panose="05000000000000000000" pitchFamily="2" charset="2"/>
              <a:buChar char="§"/>
              <a:defRPr/>
            </a:pPr>
            <a:r>
              <a:rPr lang="en-US" sz="2900" dirty="0">
                <a:latin typeface="Times New Roman" pitchFamily="18" charset="0"/>
                <a:cs typeface="Times New Roman" pitchFamily="18" charset="0"/>
              </a:rPr>
              <a:t>Unshielded twisted pair is subject to external electromagnetic interference, including interference from nearby twisted pair and from noise generated in the environment.</a:t>
            </a:r>
          </a:p>
          <a:p>
            <a:pPr marL="457200" indent="-457200" algn="just" fontAlgn="auto">
              <a:spcAft>
                <a:spcPts val="0"/>
              </a:spcAft>
              <a:buFont typeface="Wingdings" panose="05000000000000000000" pitchFamily="2" charset="2"/>
              <a:buChar char="§"/>
              <a:defRPr/>
            </a:pPr>
            <a:r>
              <a:rPr lang="en-US" sz="2900" dirty="0">
                <a:latin typeface="Times New Roman" pitchFamily="18" charset="0"/>
                <a:cs typeface="Times New Roman" pitchFamily="18" charset="0"/>
              </a:rPr>
              <a:t>A way to improve the characteristics of this medium is to shield the twisted pair with a metallic braid or sheathing that reduces interference.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79712"/>
            <a:ext cx="8991600" cy="3216265"/>
          </a:xfrm>
          <a:prstGeom prst="rect">
            <a:avLst/>
          </a:prstGeom>
          <a:noFill/>
        </p:spPr>
        <p:txBody>
          <a:bodyPr wrap="square" rtlCol="0">
            <a:spAutoFit/>
          </a:bodyPr>
          <a:lstStyle/>
          <a:p>
            <a:pPr marL="457200" indent="-457200" algn="just" fontAlgn="auto">
              <a:spcAft>
                <a:spcPts val="0"/>
              </a:spcAft>
              <a:buFont typeface="Wingdings" panose="05000000000000000000" pitchFamily="2" charset="2"/>
              <a:buChar char="§"/>
              <a:defRPr/>
            </a:pPr>
            <a:r>
              <a:rPr lang="en-US" sz="2900" dirty="0">
                <a:latin typeface="Times New Roman" pitchFamily="18" charset="0"/>
                <a:cs typeface="Times New Roman" pitchFamily="18" charset="0"/>
              </a:rPr>
              <a:t>IBM has also produced a version of twisted-pair cable for its use, called </a:t>
            </a:r>
            <a:r>
              <a:rPr lang="en-US" sz="2900" b="1" i="1" dirty="0">
                <a:latin typeface="Times New Roman" pitchFamily="18" charset="0"/>
                <a:cs typeface="Times New Roman" pitchFamily="18" charset="0"/>
              </a:rPr>
              <a:t>shielded twisted-pair (STP). </a:t>
            </a:r>
          </a:p>
          <a:p>
            <a:pPr marL="457200" indent="-457200" algn="just" fontAlgn="auto">
              <a:spcAft>
                <a:spcPts val="0"/>
              </a:spcAft>
              <a:buFont typeface="Wingdings" panose="05000000000000000000" pitchFamily="2" charset="2"/>
              <a:buChar char="§"/>
              <a:defRPr/>
            </a:pPr>
            <a:r>
              <a:rPr lang="en-US" sz="2900" dirty="0">
                <a:latin typeface="Times New Roman" pitchFamily="18" charset="0"/>
                <a:cs typeface="Times New Roman" pitchFamily="18" charset="0"/>
              </a:rPr>
              <a:t>STP cable has a metal foil or </a:t>
            </a:r>
            <a:r>
              <a:rPr lang="en-US" sz="2900" dirty="0" err="1">
                <a:latin typeface="Times New Roman" pitchFamily="18" charset="0"/>
                <a:cs typeface="Times New Roman" pitchFamily="18" charset="0"/>
              </a:rPr>
              <a:t>braidedmesh</a:t>
            </a:r>
            <a:r>
              <a:rPr lang="en-US" sz="2900" dirty="0">
                <a:latin typeface="Times New Roman" pitchFamily="18" charset="0"/>
                <a:cs typeface="Times New Roman" pitchFamily="18" charset="0"/>
              </a:rPr>
              <a:t> covering that encases each pair of insulated conductors.</a:t>
            </a:r>
          </a:p>
          <a:p>
            <a:pPr marL="457200" indent="-457200" algn="just" fontAlgn="auto">
              <a:spcAft>
                <a:spcPts val="0"/>
              </a:spcAft>
              <a:buFont typeface="Wingdings" panose="05000000000000000000" pitchFamily="2" charset="2"/>
              <a:buChar char="§"/>
              <a:defRPr/>
            </a:pPr>
            <a:r>
              <a:rPr lang="en-US" sz="2900" dirty="0">
                <a:latin typeface="Times New Roman" pitchFamily="18" charset="0"/>
                <a:cs typeface="Times New Roman" pitchFamily="18" charset="0"/>
              </a:rPr>
              <a:t>Although metal casing improves the quality of cable by preventing the penetration of noise or crosstalk, it is bulkier and more expensive.</a:t>
            </a:r>
          </a:p>
        </p:txBody>
      </p:sp>
      <p:pic>
        <p:nvPicPr>
          <p:cNvPr id="5" name="Picture 4">
            <a:extLst>
              <a:ext uri="{FF2B5EF4-FFF2-40B4-BE49-F238E27FC236}">
                <a16:creationId xmlns:a16="http://schemas.microsoft.com/office/drawing/2014/main" id="{0CB82800-D779-421F-93A4-1C8D629C3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3527812"/>
            <a:ext cx="7620000" cy="2491988"/>
          </a:xfrm>
          <a:prstGeom prst="rect">
            <a:avLst/>
          </a:prstGeom>
        </p:spPr>
      </p:pic>
    </p:spTree>
    <p:extLst>
      <p:ext uri="{BB962C8B-B14F-4D97-AF65-F5344CB8AC3E}">
        <p14:creationId xmlns:p14="http://schemas.microsoft.com/office/powerpoint/2010/main" val="1199810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79712"/>
            <a:ext cx="8991600" cy="6093976"/>
          </a:xfrm>
          <a:prstGeom prst="rect">
            <a:avLst/>
          </a:prstGeom>
          <a:noFill/>
        </p:spPr>
        <p:txBody>
          <a:bodyPr wrap="square" rtlCol="0">
            <a:spAutoFit/>
          </a:bodyPr>
          <a:lstStyle/>
          <a:p>
            <a:pPr algn="just" fontAlgn="auto">
              <a:spcAft>
                <a:spcPts val="0"/>
              </a:spcAft>
              <a:defRPr/>
            </a:pPr>
            <a:r>
              <a:rPr lang="en-US" sz="2600" b="1" i="1" dirty="0">
                <a:latin typeface="Times New Roman" pitchFamily="18" charset="0"/>
                <a:cs typeface="Times New Roman" pitchFamily="18" charset="0"/>
              </a:rPr>
              <a:t>Categories</a:t>
            </a:r>
          </a:p>
          <a:p>
            <a:pPr marL="457200" indent="-457200" algn="just" fontAlgn="auto">
              <a:spcAft>
                <a:spcPts val="0"/>
              </a:spcAft>
              <a:buFont typeface="Wingdings" panose="05000000000000000000" pitchFamily="2" charset="2"/>
              <a:buChar char="§"/>
              <a:defRPr/>
            </a:pPr>
            <a:r>
              <a:rPr lang="en-US" sz="2600" dirty="0">
                <a:latin typeface="Times New Roman" pitchFamily="18" charset="0"/>
                <a:cs typeface="Times New Roman" pitchFamily="18" charset="0"/>
              </a:rPr>
              <a:t>The Electronic Industries Association (EIA) has developed standards to classify unshielded twisted-pair cable into seven categories. The most commonly used UTP cabling are:</a:t>
            </a:r>
          </a:p>
          <a:p>
            <a:pPr marL="914400" lvl="1" indent="-457200" algn="just">
              <a:buFont typeface="Wingdings" panose="05000000000000000000" pitchFamily="2" charset="2"/>
              <a:buChar char="§"/>
              <a:defRPr/>
            </a:pPr>
            <a:r>
              <a:rPr lang="en-US" sz="2600" b="1" i="1" dirty="0">
                <a:latin typeface="Times New Roman" pitchFamily="18" charset="0"/>
                <a:cs typeface="Times New Roman" pitchFamily="18" charset="0"/>
              </a:rPr>
              <a:t>Category 3: </a:t>
            </a:r>
            <a:r>
              <a:rPr lang="en-US" sz="2600" dirty="0">
                <a:latin typeface="Times New Roman" pitchFamily="18" charset="0"/>
                <a:cs typeface="Times New Roman" pitchFamily="18" charset="0"/>
              </a:rPr>
              <a:t>UTP cables and associated connecting hardware whose transmission characteristics are specified up to 16 MHz</a:t>
            </a:r>
          </a:p>
          <a:p>
            <a:pPr marL="914400" lvl="1" indent="-457200" algn="just">
              <a:buFont typeface="Wingdings" panose="05000000000000000000" pitchFamily="2" charset="2"/>
              <a:buChar char="§"/>
              <a:defRPr/>
            </a:pPr>
            <a:r>
              <a:rPr lang="en-US" sz="2600" b="1" i="1" dirty="0">
                <a:latin typeface="Times New Roman" pitchFamily="18" charset="0"/>
                <a:cs typeface="Times New Roman" pitchFamily="18" charset="0"/>
              </a:rPr>
              <a:t>Category 4: </a:t>
            </a:r>
            <a:r>
              <a:rPr lang="en-US" sz="2600" dirty="0">
                <a:latin typeface="Times New Roman" pitchFamily="18" charset="0"/>
                <a:cs typeface="Times New Roman" pitchFamily="18" charset="0"/>
              </a:rPr>
              <a:t>UTP cables and associated connecting hardware whose transmission characteristics are specified up to 20 MHz</a:t>
            </a:r>
          </a:p>
          <a:p>
            <a:pPr marL="914400" lvl="1" indent="-457200" algn="just">
              <a:buFont typeface="Wingdings" panose="05000000000000000000" pitchFamily="2" charset="2"/>
              <a:buChar char="§"/>
              <a:defRPr/>
            </a:pPr>
            <a:r>
              <a:rPr lang="en-US" sz="2600" b="1" i="1" dirty="0">
                <a:latin typeface="Times New Roman" pitchFamily="18" charset="0"/>
                <a:cs typeface="Times New Roman" pitchFamily="18" charset="0"/>
              </a:rPr>
              <a:t>Category 5: </a:t>
            </a:r>
            <a:r>
              <a:rPr lang="en-US" sz="2600" dirty="0">
                <a:latin typeface="Times New Roman" pitchFamily="18" charset="0"/>
                <a:cs typeface="Times New Roman" pitchFamily="18" charset="0"/>
              </a:rPr>
              <a:t>UTP cables and associated connecting hardware whose transmission characteristics are specified up to 100 MHz</a:t>
            </a:r>
          </a:p>
          <a:p>
            <a:pPr marL="457200" indent="-457200" algn="just">
              <a:buFont typeface="Wingdings" panose="05000000000000000000" pitchFamily="2" charset="2"/>
              <a:buChar char="§"/>
              <a:defRPr/>
            </a:pPr>
            <a:r>
              <a:rPr lang="en-US" sz="2600" dirty="0">
                <a:latin typeface="Times New Roman" pitchFamily="18" charset="0"/>
                <a:cs typeface="Times New Roman" pitchFamily="18" charset="0"/>
              </a:rPr>
              <a:t>Of these, it is Category 3 and Category 5 cable that have received the most attention for LAN applications.</a:t>
            </a:r>
          </a:p>
        </p:txBody>
      </p:sp>
    </p:spTree>
    <p:extLst>
      <p:ext uri="{BB962C8B-B14F-4D97-AF65-F5344CB8AC3E}">
        <p14:creationId xmlns:p14="http://schemas.microsoft.com/office/powerpoint/2010/main" val="782875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42204"/>
            <a:ext cx="8991600" cy="6555641"/>
          </a:xfrm>
          <a:prstGeom prst="rect">
            <a:avLst/>
          </a:prstGeom>
          <a:noFill/>
        </p:spPr>
        <p:txBody>
          <a:bodyPr wrap="square" rtlCol="0">
            <a:spAutoFit/>
          </a:bodyPr>
          <a:lstStyle/>
          <a:p>
            <a:pPr algn="just"/>
            <a:r>
              <a:rPr lang="en-US" altLang="en-US" sz="3000" b="1" i="1" dirty="0">
                <a:latin typeface="Times New Roman" pitchFamily="18" charset="0"/>
                <a:cs typeface="Times New Roman" pitchFamily="18" charset="0"/>
              </a:rPr>
              <a:t>Connectors</a:t>
            </a:r>
          </a:p>
          <a:p>
            <a:pPr marL="457200" indent="-457200" algn="just">
              <a:buFont typeface="Wingdings" panose="05000000000000000000" pitchFamily="2" charset="2"/>
              <a:buChar char="§"/>
            </a:pPr>
            <a:r>
              <a:rPr lang="en-US" altLang="en-US" sz="3000" dirty="0">
                <a:latin typeface="Times New Roman" pitchFamily="18" charset="0"/>
                <a:cs typeface="Times New Roman" pitchFamily="18" charset="0"/>
              </a:rPr>
              <a:t>The most common UTP connector is </a:t>
            </a:r>
            <a:r>
              <a:rPr lang="en-US" altLang="en-US" sz="3000" b="1" i="1" dirty="0">
                <a:latin typeface="Times New Roman" pitchFamily="18" charset="0"/>
                <a:cs typeface="Times New Roman" pitchFamily="18" charset="0"/>
              </a:rPr>
              <a:t>RJ45</a:t>
            </a:r>
            <a:r>
              <a:rPr lang="en-US" altLang="en-US" sz="3000" dirty="0">
                <a:latin typeface="Times New Roman" pitchFamily="18" charset="0"/>
                <a:cs typeface="Times New Roman" pitchFamily="18" charset="0"/>
              </a:rPr>
              <a:t> </a:t>
            </a:r>
            <a:r>
              <a:rPr lang="en-US" altLang="en-US" sz="3000" b="1" i="1" dirty="0">
                <a:latin typeface="Times New Roman" pitchFamily="18" charset="0"/>
                <a:cs typeface="Times New Roman" pitchFamily="18" charset="0"/>
              </a:rPr>
              <a:t>(RJ stands for registered jack),</a:t>
            </a:r>
            <a:r>
              <a:rPr lang="en-US" altLang="en-US" sz="3000" dirty="0">
                <a:latin typeface="Times New Roman" pitchFamily="18" charset="0"/>
                <a:cs typeface="Times New Roman" pitchFamily="18" charset="0"/>
              </a:rPr>
              <a:t> as shown in Figure below. </a:t>
            </a:r>
          </a:p>
          <a:p>
            <a:pPr marL="457200" indent="-457200" algn="just">
              <a:buFont typeface="Wingdings" panose="05000000000000000000" pitchFamily="2" charset="2"/>
              <a:buChar char="§"/>
            </a:pPr>
            <a:r>
              <a:rPr lang="en-US" altLang="en-US" sz="3000" dirty="0">
                <a:latin typeface="Times New Roman" pitchFamily="18" charset="0"/>
                <a:cs typeface="Times New Roman" pitchFamily="18" charset="0"/>
              </a:rPr>
              <a:t>The RJ45 is a keyed connector, meaning the connector can be inserted in only one way.</a:t>
            </a:r>
          </a:p>
          <a:p>
            <a:pPr marL="457200" indent="-457200" algn="just">
              <a:buFont typeface="Wingdings" panose="05000000000000000000" pitchFamily="2" charset="2"/>
              <a:buChar char="§"/>
            </a:pPr>
            <a:endParaRPr lang="en-US" altLang="en-US" sz="3000" dirty="0">
              <a:latin typeface="Times New Roman" pitchFamily="18" charset="0"/>
              <a:cs typeface="Times New Roman" pitchFamily="18" charset="0"/>
            </a:endParaRPr>
          </a:p>
          <a:p>
            <a:pPr marL="457200" indent="-457200" algn="just">
              <a:buFont typeface="Wingdings" panose="05000000000000000000" pitchFamily="2" charset="2"/>
              <a:buChar char="§"/>
            </a:pPr>
            <a:endParaRPr lang="en-US" altLang="en-US" sz="3000" dirty="0">
              <a:latin typeface="Times New Roman" pitchFamily="18" charset="0"/>
              <a:cs typeface="Times New Roman" pitchFamily="18" charset="0"/>
            </a:endParaRPr>
          </a:p>
          <a:p>
            <a:pPr marL="457200" indent="-457200" algn="just">
              <a:buFont typeface="Wingdings" panose="05000000000000000000" pitchFamily="2" charset="2"/>
              <a:buChar char="§"/>
            </a:pPr>
            <a:endParaRPr lang="en-US" altLang="en-US" sz="3000" dirty="0">
              <a:latin typeface="Times New Roman" pitchFamily="18" charset="0"/>
              <a:cs typeface="Times New Roman" pitchFamily="18" charset="0"/>
            </a:endParaRPr>
          </a:p>
          <a:p>
            <a:pPr marL="457200" indent="-457200" algn="just">
              <a:buFont typeface="Wingdings" panose="05000000000000000000" pitchFamily="2" charset="2"/>
              <a:buChar char="§"/>
            </a:pPr>
            <a:endParaRPr lang="en-US" altLang="en-US" sz="3000" dirty="0">
              <a:latin typeface="Times New Roman" pitchFamily="18" charset="0"/>
              <a:cs typeface="Times New Roman" pitchFamily="18" charset="0"/>
            </a:endParaRPr>
          </a:p>
          <a:p>
            <a:pPr marL="457200" indent="-457200" algn="just">
              <a:buFont typeface="Wingdings" panose="05000000000000000000" pitchFamily="2" charset="2"/>
              <a:buChar char="§"/>
            </a:pPr>
            <a:endParaRPr lang="en-US" altLang="en-US" sz="3000" dirty="0">
              <a:latin typeface="Times New Roman" pitchFamily="18" charset="0"/>
              <a:cs typeface="Times New Roman" pitchFamily="18" charset="0"/>
            </a:endParaRPr>
          </a:p>
          <a:p>
            <a:pPr marL="457200" indent="-457200" algn="just">
              <a:buFont typeface="Wingdings" panose="05000000000000000000" pitchFamily="2" charset="2"/>
              <a:buChar char="§"/>
            </a:pPr>
            <a:endParaRPr lang="en-US" altLang="en-US" sz="3000" dirty="0">
              <a:latin typeface="Times New Roman" pitchFamily="18" charset="0"/>
              <a:cs typeface="Times New Roman" pitchFamily="18" charset="0"/>
            </a:endParaRPr>
          </a:p>
          <a:p>
            <a:pPr algn="just"/>
            <a:r>
              <a:rPr lang="en-US" altLang="en-US" sz="3000" dirty="0">
                <a:latin typeface="Times New Roman" pitchFamily="18" charset="0"/>
                <a:cs typeface="Times New Roman" pitchFamily="18" charset="0"/>
              </a:rPr>
              <a:t>				UTP </a:t>
            </a:r>
            <a:r>
              <a:rPr lang="en-US" altLang="en-US" sz="3000" i="1" dirty="0">
                <a:latin typeface="Times New Roman" pitchFamily="18" charset="0"/>
                <a:cs typeface="Times New Roman" pitchFamily="18" charset="0"/>
              </a:rPr>
              <a:t>Connector </a:t>
            </a:r>
          </a:p>
          <a:p>
            <a:pPr marL="457200" indent="-457200" algn="just">
              <a:buFont typeface="Wingdings" panose="05000000000000000000" pitchFamily="2" charset="2"/>
              <a:buChar char="§"/>
            </a:pPr>
            <a:r>
              <a:rPr lang="en-US" altLang="en-US" sz="3000" dirty="0">
                <a:latin typeface="Times New Roman" pitchFamily="18" charset="0"/>
                <a:cs typeface="Times New Roman" pitchFamily="18" charset="0"/>
              </a:rPr>
              <a:t>Twisted-pair cables are used in telephone lines to provide voice and data channels.</a:t>
            </a:r>
          </a:p>
        </p:txBody>
      </p:sp>
      <p:pic>
        <p:nvPicPr>
          <p:cNvPr id="5" name="Picture 4">
            <a:extLst>
              <a:ext uri="{FF2B5EF4-FFF2-40B4-BE49-F238E27FC236}">
                <a16:creationId xmlns:a16="http://schemas.microsoft.com/office/drawing/2014/main" id="{565304DE-42AA-4563-A341-2C81FE019B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2476417"/>
            <a:ext cx="6477000" cy="240065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060" y="72412"/>
            <a:ext cx="8991600" cy="6555641"/>
          </a:xfrm>
          <a:prstGeom prst="rect">
            <a:avLst/>
          </a:prstGeom>
        </p:spPr>
        <p:txBody>
          <a:bodyPr wrap="square">
            <a:spAutoFit/>
          </a:bodyPr>
          <a:lstStyle/>
          <a:p>
            <a:pPr marL="457200" indent="-457200">
              <a:buFont typeface="Wingdings" panose="05000000000000000000" pitchFamily="2" charset="2"/>
              <a:buChar char="§"/>
            </a:pPr>
            <a:r>
              <a:rPr lang="en-US" altLang="en-US" sz="2800" dirty="0">
                <a:latin typeface="Times New Roman" pitchFamily="18" charset="0"/>
                <a:cs typeface="Times New Roman" pitchFamily="18" charset="0"/>
              </a:rPr>
              <a:t>Local-area networks, such as 10Base-T and 100Base-T, also use twisted-pair cables.</a:t>
            </a:r>
          </a:p>
          <a:p>
            <a:endParaRPr lang="en-US" altLang="en-US" sz="2800" dirty="0">
              <a:latin typeface="Times New Roman" pitchFamily="18" charset="0"/>
              <a:cs typeface="Times New Roman" pitchFamily="18" charset="0"/>
            </a:endParaRPr>
          </a:p>
          <a:p>
            <a:r>
              <a:rPr lang="en-US" altLang="en-US" sz="2800" b="1" i="1" dirty="0">
                <a:latin typeface="Times New Roman" pitchFamily="18" charset="0"/>
                <a:cs typeface="Times New Roman" pitchFamily="18" charset="0"/>
              </a:rPr>
              <a:t>Coaxial Cable</a:t>
            </a:r>
          </a:p>
          <a:p>
            <a:pPr marL="457200" indent="-457200">
              <a:buFont typeface="Wingdings" panose="05000000000000000000" pitchFamily="2" charset="2"/>
              <a:buChar char="§"/>
            </a:pPr>
            <a:r>
              <a:rPr lang="en-US" altLang="en-US" sz="2800" dirty="0">
                <a:latin typeface="Times New Roman" pitchFamily="18" charset="0"/>
                <a:cs typeface="Times New Roman" pitchFamily="18" charset="0"/>
              </a:rPr>
              <a:t>Coaxial cable are dual-conductor cables with a shared inner conductor in the core of the cable protected by an insulation layer and the outer conductor surrounding the insulation.</a:t>
            </a:r>
          </a:p>
          <a:p>
            <a:pPr marL="457200" indent="-457200">
              <a:buFont typeface="Wingdings" panose="05000000000000000000" pitchFamily="2" charset="2"/>
              <a:buChar char="§"/>
            </a:pPr>
            <a:r>
              <a:rPr lang="en-US" altLang="en-US" sz="2800" dirty="0">
                <a:latin typeface="Times New Roman" pitchFamily="18" charset="0"/>
                <a:cs typeface="Times New Roman" pitchFamily="18" charset="0"/>
              </a:rPr>
              <a:t>These cables are called coaxial because they share the inner conductor.</a:t>
            </a:r>
          </a:p>
          <a:p>
            <a:pPr marL="457200" indent="-457200">
              <a:buFont typeface="Wingdings" panose="05000000000000000000" pitchFamily="2" charset="2"/>
              <a:buChar char="§"/>
            </a:pPr>
            <a:r>
              <a:rPr lang="en-US" altLang="en-US" sz="2800" dirty="0">
                <a:latin typeface="Times New Roman" pitchFamily="18" charset="0"/>
                <a:cs typeface="Times New Roman" pitchFamily="18" charset="0"/>
              </a:rPr>
              <a:t>The outer metallic wrapping serves both as a shield against noise and as the second conductor, which completes the circuit.</a:t>
            </a:r>
          </a:p>
          <a:p>
            <a:pPr marL="457200" indent="-457200">
              <a:buFont typeface="Wingdings" panose="05000000000000000000" pitchFamily="2" charset="2"/>
              <a:buChar char="§"/>
            </a:pPr>
            <a:r>
              <a:rPr lang="en-US" altLang="en-US" sz="2800" dirty="0">
                <a:latin typeface="Times New Roman" pitchFamily="18" charset="0"/>
                <a:cs typeface="Times New Roman" pitchFamily="18" charset="0"/>
              </a:rPr>
              <a:t>This outer conductor is also enclosed in an insulating sheath, and the whole cable is protected by a plastic cover.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79712"/>
            <a:ext cx="8991600" cy="6093976"/>
          </a:xfrm>
          <a:prstGeom prst="rect">
            <a:avLst/>
          </a:prstGeom>
          <a:noFill/>
        </p:spPr>
        <p:txBody>
          <a:bodyPr wrap="square" rtlCol="0">
            <a:spAutoFit/>
          </a:bodyPr>
          <a:lstStyle/>
          <a:p>
            <a:pPr algn="just">
              <a:defRPr/>
            </a:pPr>
            <a:endParaRPr lang="en-US" sz="3000" b="1" dirty="0">
              <a:latin typeface="Times New Roman" panose="02020603050405020304" pitchFamily="18" charset="0"/>
              <a:cs typeface="Times New Roman" panose="02020603050405020304" pitchFamily="18" charset="0"/>
            </a:endParaRPr>
          </a:p>
          <a:p>
            <a:pPr algn="just">
              <a:defRPr/>
            </a:pPr>
            <a:endParaRPr lang="en-US" sz="3000" b="1" dirty="0">
              <a:latin typeface="Times New Roman" panose="02020603050405020304" pitchFamily="18" charset="0"/>
              <a:cs typeface="Times New Roman" panose="02020603050405020304" pitchFamily="18" charset="0"/>
            </a:endParaRPr>
          </a:p>
          <a:p>
            <a:pPr algn="just">
              <a:defRPr/>
            </a:pPr>
            <a:endParaRPr lang="en-US" sz="3000" b="1" dirty="0">
              <a:latin typeface="Times New Roman" panose="02020603050405020304" pitchFamily="18" charset="0"/>
              <a:cs typeface="Times New Roman" panose="02020603050405020304" pitchFamily="18" charset="0"/>
            </a:endParaRPr>
          </a:p>
          <a:p>
            <a:pPr algn="just">
              <a:defRPr/>
            </a:pPr>
            <a:endParaRPr lang="en-US" sz="3000" b="1" dirty="0">
              <a:latin typeface="Times New Roman" panose="02020603050405020304" pitchFamily="18" charset="0"/>
              <a:cs typeface="Times New Roman" panose="02020603050405020304" pitchFamily="18" charset="0"/>
            </a:endParaRPr>
          </a:p>
          <a:p>
            <a:pPr algn="just">
              <a:defRPr/>
            </a:pPr>
            <a:endParaRPr lang="en-US" sz="3000" b="1" dirty="0">
              <a:latin typeface="Times New Roman" panose="02020603050405020304" pitchFamily="18" charset="0"/>
              <a:cs typeface="Times New Roman" panose="02020603050405020304" pitchFamily="18" charset="0"/>
            </a:endParaRPr>
          </a:p>
          <a:p>
            <a:pPr algn="just">
              <a:defRPr/>
            </a:pPr>
            <a:r>
              <a:rPr lang="en-US" sz="3000" b="1" i="1" dirty="0">
                <a:latin typeface="Times New Roman" panose="02020603050405020304" pitchFamily="18" charset="0"/>
                <a:cs typeface="Times New Roman" panose="02020603050405020304" pitchFamily="18" charset="0"/>
              </a:rPr>
              <a:t>Coaxial Cable Connectors</a:t>
            </a:r>
          </a:p>
          <a:p>
            <a:pPr marL="457200" indent="-457200" algn="just">
              <a:buFont typeface="Wingdings" panose="05000000000000000000" pitchFamily="2" charset="2"/>
              <a:buChar char="§"/>
              <a:defRPr/>
            </a:pPr>
            <a:r>
              <a:rPr lang="en-US" sz="3000" dirty="0">
                <a:latin typeface="Times New Roman" panose="02020603050405020304" pitchFamily="18" charset="0"/>
                <a:cs typeface="Times New Roman" panose="02020603050405020304" pitchFamily="18" charset="0"/>
              </a:rPr>
              <a:t>To connect coaxial cable to devices, we need coaxial connectors. The most common type of connector used today is the </a:t>
            </a:r>
            <a:r>
              <a:rPr lang="en-US" sz="3000" b="1" i="1" dirty="0">
                <a:latin typeface="Times New Roman" panose="02020603050405020304" pitchFamily="18" charset="0"/>
                <a:cs typeface="Times New Roman" panose="02020603050405020304" pitchFamily="18" charset="0"/>
              </a:rPr>
              <a:t>Bayonet Neill-</a:t>
            </a:r>
            <a:r>
              <a:rPr lang="en-US" sz="3000" b="1" i="1" dirty="0" err="1">
                <a:latin typeface="Times New Roman" panose="02020603050405020304" pitchFamily="18" charset="0"/>
                <a:cs typeface="Times New Roman" panose="02020603050405020304" pitchFamily="18" charset="0"/>
              </a:rPr>
              <a:t>Concelman</a:t>
            </a:r>
            <a:r>
              <a:rPr lang="en-US" sz="3000" b="1" i="1" dirty="0">
                <a:latin typeface="Times New Roman" panose="02020603050405020304" pitchFamily="18" charset="0"/>
                <a:cs typeface="Times New Roman" panose="02020603050405020304" pitchFamily="18" charset="0"/>
              </a:rPr>
              <a:t> (BNC) </a:t>
            </a:r>
            <a:r>
              <a:rPr lang="en-US" sz="3000" dirty="0">
                <a:latin typeface="Times New Roman" panose="02020603050405020304" pitchFamily="18" charset="0"/>
                <a:cs typeface="Times New Roman" panose="02020603050405020304" pitchFamily="18" charset="0"/>
              </a:rPr>
              <a:t>connector.</a:t>
            </a:r>
          </a:p>
          <a:p>
            <a:pPr marL="457200" indent="-457200" algn="just">
              <a:buFont typeface="Wingdings" panose="05000000000000000000" pitchFamily="2" charset="2"/>
              <a:buChar char="§"/>
              <a:defRPr/>
            </a:pPr>
            <a:r>
              <a:rPr lang="en-US" sz="3000" dirty="0">
                <a:latin typeface="Times New Roman" panose="02020603050405020304" pitchFamily="18" charset="0"/>
                <a:cs typeface="Times New Roman" panose="02020603050405020304" pitchFamily="18" charset="0"/>
              </a:rPr>
              <a:t>Figure below shows three popular types of these connectors: </a:t>
            </a:r>
            <a:r>
              <a:rPr lang="en-US" sz="3000" b="1" i="1" dirty="0">
                <a:latin typeface="Times New Roman" panose="02020603050405020304" pitchFamily="18" charset="0"/>
                <a:cs typeface="Times New Roman" panose="02020603050405020304" pitchFamily="18" charset="0"/>
              </a:rPr>
              <a:t>the BNC connector, the BNC T connector, and the BNC terminator.</a:t>
            </a:r>
          </a:p>
        </p:txBody>
      </p:sp>
      <p:pic>
        <p:nvPicPr>
          <p:cNvPr id="6" name="Picture 5">
            <a:extLst>
              <a:ext uri="{FF2B5EF4-FFF2-40B4-BE49-F238E27FC236}">
                <a16:creationId xmlns:a16="http://schemas.microsoft.com/office/drawing/2014/main" id="{44E1E2B2-68BE-4BFE-9566-DD6E21678E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152400"/>
            <a:ext cx="5638800" cy="1752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85573"/>
            <a:ext cx="9073660" cy="6386364"/>
          </a:xfrm>
          <a:prstGeom prst="rect">
            <a:avLst/>
          </a:prstGeom>
          <a:noFill/>
        </p:spPr>
        <p:txBody>
          <a:bodyPr wrap="square" rtlCol="0">
            <a:spAutoFit/>
          </a:bodyPr>
          <a:lstStyle/>
          <a:p>
            <a:endParaRPr lang="en-US" sz="3000" b="1" i="1" dirty="0">
              <a:latin typeface="Times New Roman" pitchFamily="18" charset="0"/>
              <a:cs typeface="Times New Roman" pitchFamily="18" charset="0"/>
            </a:endParaRPr>
          </a:p>
          <a:p>
            <a:endParaRPr lang="en-US" sz="3000" b="1" i="1" dirty="0">
              <a:latin typeface="Times New Roman" pitchFamily="18" charset="0"/>
              <a:cs typeface="Times New Roman" pitchFamily="18" charset="0"/>
            </a:endParaRPr>
          </a:p>
          <a:p>
            <a:endParaRPr lang="en-US" sz="3000" b="1" i="1" dirty="0">
              <a:latin typeface="Times New Roman" pitchFamily="18" charset="0"/>
              <a:cs typeface="Times New Roman" pitchFamily="18" charset="0"/>
            </a:endParaRPr>
          </a:p>
          <a:p>
            <a:endParaRPr lang="en-US" sz="3000" b="1" i="1" dirty="0">
              <a:latin typeface="Times New Roman" pitchFamily="18" charset="0"/>
              <a:cs typeface="Times New Roman" pitchFamily="18" charset="0"/>
            </a:endParaRPr>
          </a:p>
          <a:p>
            <a:endParaRPr lang="en-US" sz="3000" b="1" i="1" dirty="0">
              <a:latin typeface="Times New Roman" pitchFamily="18" charset="0"/>
              <a:cs typeface="Times New Roman" pitchFamily="18" charset="0"/>
            </a:endParaRPr>
          </a:p>
          <a:p>
            <a:r>
              <a:rPr lang="en-US" sz="3000" i="1" dirty="0">
                <a:latin typeface="Times New Roman" pitchFamily="18" charset="0"/>
                <a:cs typeface="Times New Roman" pitchFamily="18" charset="0"/>
              </a:rPr>
              <a:t>				BNC connectors</a:t>
            </a:r>
          </a:p>
          <a:p>
            <a:r>
              <a:rPr lang="en-US" sz="2800" i="1" dirty="0">
                <a:latin typeface="Times New Roman" pitchFamily="18" charset="0"/>
                <a:cs typeface="Times New Roman" pitchFamily="18" charset="0"/>
              </a:rPr>
              <a:t>Application</a:t>
            </a:r>
            <a:r>
              <a:rPr lang="en-US" sz="2800" dirty="0">
                <a:latin typeface="Times New Roman" pitchFamily="18" charset="0"/>
                <a:cs typeface="Times New Roman" pitchFamily="18" charset="0"/>
              </a:rPr>
              <a:t> </a:t>
            </a:r>
          </a:p>
          <a:p>
            <a:pPr marL="457200" indent="-457200">
              <a:buFont typeface="Wingdings" panose="05000000000000000000" pitchFamily="2" charset="2"/>
              <a:buChar char="§"/>
            </a:pPr>
            <a:r>
              <a:rPr lang="en-US" sz="2800" dirty="0">
                <a:latin typeface="Times New Roman" pitchFamily="18" charset="0"/>
                <a:cs typeface="Times New Roman" pitchFamily="18" charset="0"/>
              </a:rPr>
              <a:t>Coaxial cables are commonly used in television transmissions.</a:t>
            </a:r>
          </a:p>
          <a:p>
            <a:pPr marL="457200" indent="-457200">
              <a:buFont typeface="Wingdings" panose="05000000000000000000" pitchFamily="2" charset="2"/>
              <a:buChar char="§"/>
            </a:pPr>
            <a:r>
              <a:rPr lang="en-US" sz="2900" dirty="0">
                <a:latin typeface="Times New Roman" pitchFamily="18" charset="0"/>
                <a:cs typeface="Times New Roman" pitchFamily="18" charset="0"/>
              </a:rPr>
              <a:t>Coaxial cable was widely used in analog telephone networks where a single coaxial network could carry 10,000 voice signals.</a:t>
            </a:r>
          </a:p>
          <a:p>
            <a:pPr marL="457200" indent="-457200">
              <a:buFont typeface="Wingdings" panose="05000000000000000000" pitchFamily="2" charset="2"/>
              <a:buChar char="§"/>
            </a:pPr>
            <a:r>
              <a:rPr lang="en-US" sz="2900" dirty="0">
                <a:latin typeface="Times New Roman" pitchFamily="18" charset="0"/>
                <a:cs typeface="Times New Roman" pitchFamily="18" charset="0"/>
              </a:rPr>
              <a:t>Digital telephone networks where a single coaxial cable could carry digital data up to 600 Mbps.</a:t>
            </a:r>
          </a:p>
        </p:txBody>
      </p:sp>
      <p:pic>
        <p:nvPicPr>
          <p:cNvPr id="4" name="Picture 3">
            <a:extLst>
              <a:ext uri="{FF2B5EF4-FFF2-40B4-BE49-F238E27FC236}">
                <a16:creationId xmlns:a16="http://schemas.microsoft.com/office/drawing/2014/main" id="{60F4F19E-B3F1-44AD-88F7-C9DBB6BE28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228600"/>
            <a:ext cx="6858000" cy="1905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85573"/>
            <a:ext cx="9073660" cy="6555641"/>
          </a:xfrm>
          <a:prstGeom prst="rect">
            <a:avLst/>
          </a:prstGeom>
          <a:noFill/>
        </p:spPr>
        <p:txBody>
          <a:bodyPr wrap="square" rtlCol="0">
            <a:spAutoFit/>
          </a:bodyPr>
          <a:lstStyle/>
          <a:p>
            <a:r>
              <a:rPr lang="en-US" sz="3000" b="1" i="1" dirty="0">
                <a:latin typeface="Times New Roman" pitchFamily="18" charset="0"/>
                <a:cs typeface="Times New Roman" pitchFamily="18" charset="0"/>
              </a:rPr>
              <a:t>Fiber-Optic Cable</a:t>
            </a:r>
          </a:p>
          <a:p>
            <a:pPr marL="457200" indent="-457200">
              <a:buFont typeface="Wingdings" panose="05000000000000000000" pitchFamily="2" charset="2"/>
              <a:buChar char="§"/>
            </a:pPr>
            <a:r>
              <a:rPr lang="en-US" sz="3000" dirty="0">
                <a:latin typeface="Times New Roman" pitchFamily="18" charset="0"/>
                <a:cs typeface="Times New Roman" pitchFamily="18" charset="0"/>
              </a:rPr>
              <a:t>A fiber-optic cable is made of glass or plastic and transmits signals in the form of light.</a:t>
            </a:r>
          </a:p>
          <a:p>
            <a:pPr marL="457200" indent="-457200">
              <a:buFont typeface="Wingdings" panose="05000000000000000000" pitchFamily="2" charset="2"/>
              <a:buChar char="§"/>
            </a:pPr>
            <a:r>
              <a:rPr lang="en-US" sz="3000" dirty="0">
                <a:latin typeface="Times New Roman" pitchFamily="18" charset="0"/>
                <a:cs typeface="Times New Roman" pitchFamily="18" charset="0"/>
              </a:rPr>
              <a:t>Light travels in a straight line as long as it is moving through a single uniform substance.</a:t>
            </a:r>
          </a:p>
          <a:p>
            <a:pPr marL="457200" indent="-457200">
              <a:buFont typeface="Wingdings" panose="05000000000000000000" pitchFamily="2" charset="2"/>
              <a:buChar char="§"/>
            </a:pPr>
            <a:r>
              <a:rPr lang="en-US" sz="3000" dirty="0">
                <a:latin typeface="Times New Roman" pitchFamily="18" charset="0"/>
                <a:cs typeface="Times New Roman" pitchFamily="18" charset="0"/>
              </a:rPr>
              <a:t>If a ray of light traveling through one substance suddenly enters another substance (of a different density), the ray changes direction.</a:t>
            </a:r>
          </a:p>
          <a:p>
            <a:pPr marL="457200" indent="-457200">
              <a:buFont typeface="Wingdings" panose="05000000000000000000" pitchFamily="2" charset="2"/>
              <a:buChar char="§"/>
            </a:pPr>
            <a:r>
              <a:rPr lang="en-US" sz="3000" dirty="0">
                <a:latin typeface="Times New Roman" pitchFamily="18" charset="0"/>
                <a:cs typeface="Times New Roman" pitchFamily="18" charset="0"/>
              </a:rPr>
              <a:t>This is the most ideal cable for data transmission because it can accommodate extremely high bandwidths and has few problems with electromagnetic interference that coaxial cables suffer from.</a:t>
            </a:r>
          </a:p>
          <a:p>
            <a:pPr marL="457200" indent="-457200">
              <a:buFont typeface="Wingdings" panose="05000000000000000000" pitchFamily="2" charset="2"/>
              <a:buChar char="§"/>
            </a:pPr>
            <a:r>
              <a:rPr lang="en-US" sz="3000" dirty="0">
                <a:latin typeface="Times New Roman" pitchFamily="18" charset="0"/>
                <a:cs typeface="Times New Roman" pitchFamily="18" charset="0"/>
              </a:rPr>
              <a:t>It can also support cabling for several kilometers. </a:t>
            </a:r>
          </a:p>
        </p:txBody>
      </p:sp>
    </p:spTree>
    <p:extLst>
      <p:ext uri="{BB962C8B-B14F-4D97-AF65-F5344CB8AC3E}">
        <p14:creationId xmlns:p14="http://schemas.microsoft.com/office/powerpoint/2010/main" val="2827098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85573"/>
            <a:ext cx="9073660" cy="6832640"/>
          </a:xfrm>
          <a:prstGeom prst="rect">
            <a:avLst/>
          </a:prstGeom>
          <a:noFill/>
        </p:spPr>
        <p:txBody>
          <a:bodyPr wrap="square" rtlCol="0">
            <a:spAutoFit/>
          </a:bodyPr>
          <a:lstStyle/>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endParaRPr lang="en-US" sz="3000" dirty="0">
              <a:latin typeface="Times New Roman" pitchFamily="18" charset="0"/>
              <a:cs typeface="Times New Roman" pitchFamily="18" charset="0"/>
            </a:endParaRPr>
          </a:p>
          <a:p>
            <a:r>
              <a:rPr lang="en-US" sz="3000" b="1" i="1" dirty="0">
                <a:latin typeface="Times New Roman" pitchFamily="18" charset="0"/>
                <a:cs typeface="Times New Roman" pitchFamily="18" charset="0"/>
              </a:rPr>
              <a:t>Fiber-Optic Cable Connectors</a:t>
            </a:r>
          </a:p>
          <a:p>
            <a:pPr marL="457200" indent="-457200">
              <a:buFont typeface="Wingdings" panose="05000000000000000000" pitchFamily="2" charset="2"/>
              <a:buChar char="§"/>
            </a:pPr>
            <a:r>
              <a:rPr lang="en-US" sz="2800" dirty="0">
                <a:latin typeface="Times New Roman" pitchFamily="18" charset="0"/>
                <a:cs typeface="Times New Roman" pitchFamily="18" charset="0"/>
              </a:rPr>
              <a:t>There are three types of connectors for fiber-optic cables, as shown in Figure below. </a:t>
            </a:r>
          </a:p>
          <a:p>
            <a:pPr marL="457200" indent="-457200">
              <a:buFont typeface="Wingdings" panose="05000000000000000000" pitchFamily="2" charset="2"/>
              <a:buChar char="§"/>
            </a:pPr>
            <a:r>
              <a:rPr lang="en-US" sz="2800" dirty="0">
                <a:latin typeface="Times New Roman" pitchFamily="18" charset="0"/>
                <a:cs typeface="Times New Roman" pitchFamily="18" charset="0"/>
              </a:rPr>
              <a:t>The </a:t>
            </a:r>
            <a:r>
              <a:rPr lang="en-US" sz="2800" b="1" i="1" dirty="0">
                <a:latin typeface="Times New Roman" pitchFamily="18" charset="0"/>
                <a:cs typeface="Times New Roman" pitchFamily="18" charset="0"/>
              </a:rPr>
              <a:t>subscriber channel (SC) </a:t>
            </a:r>
            <a:r>
              <a:rPr lang="en-US" sz="2800" dirty="0">
                <a:latin typeface="Times New Roman" pitchFamily="18" charset="0"/>
                <a:cs typeface="Times New Roman" pitchFamily="18" charset="0"/>
              </a:rPr>
              <a:t>connector is used for cable TV. It uses a push/pull locking system. </a:t>
            </a:r>
          </a:p>
          <a:p>
            <a:pPr marL="457200" indent="-457200">
              <a:buFont typeface="Wingdings" panose="05000000000000000000" pitchFamily="2" charset="2"/>
              <a:buChar char="§"/>
            </a:pPr>
            <a:r>
              <a:rPr lang="en-US" sz="2800" dirty="0">
                <a:latin typeface="Times New Roman" pitchFamily="18" charset="0"/>
                <a:cs typeface="Times New Roman" pitchFamily="18" charset="0"/>
              </a:rPr>
              <a:t>The </a:t>
            </a:r>
            <a:r>
              <a:rPr lang="en-US" sz="2800" b="1" i="1" dirty="0">
                <a:latin typeface="Times New Roman" pitchFamily="18" charset="0"/>
                <a:cs typeface="Times New Roman" pitchFamily="18" charset="0"/>
              </a:rPr>
              <a:t>straight-tip (ST) </a:t>
            </a:r>
            <a:r>
              <a:rPr lang="en-US" sz="2800" dirty="0">
                <a:latin typeface="Times New Roman" pitchFamily="18" charset="0"/>
                <a:cs typeface="Times New Roman" pitchFamily="18" charset="0"/>
              </a:rPr>
              <a:t>connector is used for connecting cable to networking devices. </a:t>
            </a:r>
          </a:p>
        </p:txBody>
      </p:sp>
      <p:pic>
        <p:nvPicPr>
          <p:cNvPr id="4" name="Picture 3">
            <a:extLst>
              <a:ext uri="{FF2B5EF4-FFF2-40B4-BE49-F238E27FC236}">
                <a16:creationId xmlns:a16="http://schemas.microsoft.com/office/drawing/2014/main" id="{3D537AB1-2B4D-40A8-9EBB-F66445CA62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152400"/>
            <a:ext cx="6629400" cy="2971800"/>
          </a:xfrm>
          <a:prstGeom prst="rect">
            <a:avLst/>
          </a:prstGeom>
        </p:spPr>
      </p:pic>
    </p:spTree>
    <p:extLst>
      <p:ext uri="{BB962C8B-B14F-4D97-AF65-F5344CB8AC3E}">
        <p14:creationId xmlns:p14="http://schemas.microsoft.com/office/powerpoint/2010/main" val="1126157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85573"/>
            <a:ext cx="9073660" cy="5632311"/>
          </a:xfrm>
          <a:prstGeom prst="rect">
            <a:avLst/>
          </a:prstGeom>
          <a:noFill/>
        </p:spPr>
        <p:txBody>
          <a:bodyPr wrap="square" rtlCol="0">
            <a:spAutoFit/>
          </a:bodyPr>
          <a:lstStyle/>
          <a:p>
            <a:pPr marL="457200" indent="-457200">
              <a:buFont typeface="Wingdings" panose="05000000000000000000" pitchFamily="2" charset="2"/>
              <a:buChar char="§"/>
            </a:pPr>
            <a:r>
              <a:rPr lang="en-US" sz="3000" dirty="0">
                <a:latin typeface="Times New Roman" pitchFamily="18" charset="0"/>
                <a:cs typeface="Times New Roman" pitchFamily="18" charset="0"/>
              </a:rPr>
              <a:t>It uses a bayonet locking system and is more reliable than SC. </a:t>
            </a:r>
          </a:p>
          <a:p>
            <a:pPr marL="457200" indent="-457200">
              <a:buFont typeface="Wingdings" panose="05000000000000000000" pitchFamily="2" charset="2"/>
              <a:buChar char="§"/>
            </a:pPr>
            <a:r>
              <a:rPr lang="en-US" sz="3000" b="1" i="1" dirty="0">
                <a:latin typeface="Times New Roman" pitchFamily="18" charset="0"/>
                <a:cs typeface="Times New Roman" pitchFamily="18" charset="0"/>
              </a:rPr>
              <a:t>MT-RJ </a:t>
            </a:r>
            <a:r>
              <a:rPr lang="en-US" sz="3000" dirty="0">
                <a:latin typeface="Times New Roman" pitchFamily="18" charset="0"/>
                <a:cs typeface="Times New Roman" pitchFamily="18" charset="0"/>
              </a:rPr>
              <a:t>is a connector that is the same size as RJ45.</a:t>
            </a: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r>
              <a:rPr lang="en-US" sz="3000" i="1" dirty="0">
                <a:latin typeface="Times New Roman" pitchFamily="18" charset="0"/>
                <a:cs typeface="Times New Roman" pitchFamily="18" charset="0"/>
              </a:rPr>
              <a:t>		Fiber-optic cable connectors</a:t>
            </a:r>
          </a:p>
        </p:txBody>
      </p:sp>
      <p:pic>
        <p:nvPicPr>
          <p:cNvPr id="4" name="Picture 3">
            <a:extLst>
              <a:ext uri="{FF2B5EF4-FFF2-40B4-BE49-F238E27FC236}">
                <a16:creationId xmlns:a16="http://schemas.microsoft.com/office/drawing/2014/main" id="{AA2E8B44-3314-492F-9145-AB6C77E904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828801"/>
            <a:ext cx="7315199" cy="3036694"/>
          </a:xfrm>
          <a:prstGeom prst="rect">
            <a:avLst/>
          </a:prstGeom>
        </p:spPr>
      </p:pic>
    </p:spTree>
    <p:extLst>
      <p:ext uri="{BB962C8B-B14F-4D97-AF65-F5344CB8AC3E}">
        <p14:creationId xmlns:p14="http://schemas.microsoft.com/office/powerpoint/2010/main" val="2203973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85573"/>
            <a:ext cx="9073660" cy="5170646"/>
          </a:xfrm>
          <a:prstGeom prst="rect">
            <a:avLst/>
          </a:prstGeom>
          <a:noFill/>
        </p:spPr>
        <p:txBody>
          <a:bodyPr wrap="square" rtlCol="0">
            <a:spAutoFit/>
          </a:bodyPr>
          <a:lstStyle/>
          <a:p>
            <a:r>
              <a:rPr lang="en-US" sz="3000" b="1" i="1" dirty="0">
                <a:latin typeface="Times New Roman" pitchFamily="18" charset="0"/>
                <a:cs typeface="Times New Roman" pitchFamily="18" charset="0"/>
              </a:rPr>
              <a:t>Applications</a:t>
            </a:r>
          </a:p>
          <a:p>
            <a:pPr marL="457200" indent="-457200">
              <a:buFont typeface="Wingdings" panose="05000000000000000000" pitchFamily="2" charset="2"/>
              <a:buChar char="§"/>
            </a:pPr>
            <a:r>
              <a:rPr lang="en-US" sz="3000" dirty="0">
                <a:latin typeface="Times New Roman" pitchFamily="18" charset="0"/>
                <a:cs typeface="Times New Roman" pitchFamily="18" charset="0"/>
              </a:rPr>
              <a:t>Fiber-optic cable is often found in backbone networks because its wide bandwidth is cost-effective.</a:t>
            </a:r>
          </a:p>
          <a:p>
            <a:pPr marL="457200" indent="-457200">
              <a:buFont typeface="Wingdings" panose="05000000000000000000" pitchFamily="2" charset="2"/>
              <a:buChar char="§"/>
            </a:pPr>
            <a:r>
              <a:rPr lang="en-US" sz="3000" dirty="0">
                <a:latin typeface="Times New Roman" pitchFamily="18" charset="0"/>
                <a:cs typeface="Times New Roman" pitchFamily="18" charset="0"/>
              </a:rPr>
              <a:t>Some cable TV companies use a combination of optical fiber and coaxial cable, thus creating a hybrid network. Optical fiber provides the backbone structure while coaxial cable provides the connection to the user premises.</a:t>
            </a:r>
          </a:p>
          <a:p>
            <a:pPr marL="457200" indent="-457200">
              <a:buFont typeface="Wingdings" panose="05000000000000000000" pitchFamily="2" charset="2"/>
              <a:buChar char="§"/>
            </a:pPr>
            <a:r>
              <a:rPr lang="en-US" sz="3000" dirty="0">
                <a:latin typeface="Times New Roman" pitchFamily="18" charset="0"/>
                <a:cs typeface="Times New Roman" pitchFamily="18" charset="0"/>
              </a:rPr>
              <a:t>Local-area networks such as 100Base-FX network (Fast Ethernet) and 1000Base-X also use fiber-optic cable.</a:t>
            </a:r>
          </a:p>
        </p:txBody>
      </p:sp>
    </p:spTree>
    <p:extLst>
      <p:ext uri="{BB962C8B-B14F-4D97-AF65-F5344CB8AC3E}">
        <p14:creationId xmlns:p14="http://schemas.microsoft.com/office/powerpoint/2010/main" val="275685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5893921"/>
          </a:xfrm>
          <a:prstGeom prst="rect">
            <a:avLst/>
          </a:prstGeom>
          <a:noFill/>
        </p:spPr>
        <p:txBody>
          <a:bodyPr wrap="square" rtlCol="0">
            <a:spAutoFit/>
          </a:bodyPr>
          <a:lstStyle/>
          <a:p>
            <a:r>
              <a:rPr lang="en-US" sz="2900" b="1" i="1" dirty="0">
                <a:latin typeface="Times New Roman" pitchFamily="18" charset="0"/>
                <a:cs typeface="Times New Roman" pitchFamily="18" charset="0"/>
              </a:rPr>
              <a:t>Advantages and Disadvantages of Optical Fiber</a:t>
            </a:r>
          </a:p>
          <a:p>
            <a:r>
              <a:rPr lang="en-US" sz="2900" b="1" i="1" dirty="0">
                <a:latin typeface="Times New Roman" pitchFamily="18" charset="0"/>
                <a:cs typeface="Times New Roman" pitchFamily="18" charset="0"/>
              </a:rPr>
              <a:t>Advantages</a:t>
            </a:r>
          </a:p>
          <a:p>
            <a:pPr marL="457200" indent="-457200">
              <a:buFont typeface="Wingdings" panose="05000000000000000000" pitchFamily="2" charset="2"/>
              <a:buChar char="§"/>
            </a:pPr>
            <a:r>
              <a:rPr lang="en-US" sz="2900" b="1" i="1" dirty="0">
                <a:latin typeface="Times New Roman" pitchFamily="18" charset="0"/>
                <a:cs typeface="Times New Roman" pitchFamily="18" charset="0"/>
              </a:rPr>
              <a:t>Higher bandwidth. </a:t>
            </a:r>
            <a:r>
              <a:rPr lang="en-US" sz="2900" dirty="0">
                <a:latin typeface="Times New Roman" pitchFamily="18" charset="0"/>
                <a:cs typeface="Times New Roman" pitchFamily="18" charset="0"/>
              </a:rPr>
              <a:t>Fiber-optic cable can support dramatically higher bandwidths (and hence data rates) than either twisted-pair or coaxial cable. </a:t>
            </a:r>
          </a:p>
          <a:p>
            <a:pPr marL="457200" indent="-457200">
              <a:buFont typeface="Wingdings" panose="05000000000000000000" pitchFamily="2" charset="2"/>
              <a:buChar char="§"/>
            </a:pPr>
            <a:r>
              <a:rPr lang="en-US" sz="2900" b="1" i="1" dirty="0">
                <a:latin typeface="Times New Roman" pitchFamily="18" charset="0"/>
                <a:cs typeface="Times New Roman" pitchFamily="18" charset="0"/>
              </a:rPr>
              <a:t>Less signal attenuation. </a:t>
            </a:r>
            <a:r>
              <a:rPr lang="en-US" sz="2900" dirty="0">
                <a:latin typeface="Times New Roman" pitchFamily="18" charset="0"/>
                <a:cs typeface="Times New Roman" pitchFamily="18" charset="0"/>
              </a:rPr>
              <a:t>Fiber-optic transmission distance is significantly greater than that of other guided media. A signal can run for 50 km without requiring regeneration. </a:t>
            </a:r>
          </a:p>
          <a:p>
            <a:pPr marL="914400" lvl="1" indent="-457200">
              <a:buFont typeface="Wingdings" panose="05000000000000000000" pitchFamily="2" charset="2"/>
              <a:buChar char="§"/>
            </a:pPr>
            <a:r>
              <a:rPr lang="en-US" sz="2900" dirty="0">
                <a:latin typeface="Times New Roman" pitchFamily="18" charset="0"/>
                <a:cs typeface="Times New Roman" pitchFamily="18" charset="0"/>
              </a:rPr>
              <a:t>We need repeaters every 5 km for coaxial or twisted-pair cable.</a:t>
            </a:r>
          </a:p>
          <a:p>
            <a:pPr marL="457200" indent="-457200">
              <a:buFont typeface="Wingdings" panose="05000000000000000000" pitchFamily="2" charset="2"/>
              <a:buChar char="§"/>
            </a:pPr>
            <a:r>
              <a:rPr lang="en-US" sz="2900" b="1" i="1" dirty="0">
                <a:latin typeface="Times New Roman" pitchFamily="18" charset="0"/>
                <a:cs typeface="Times New Roman" pitchFamily="18" charset="0"/>
              </a:rPr>
              <a:t>Immunity to electromagnetic interference. </a:t>
            </a:r>
            <a:r>
              <a:rPr lang="en-US" sz="2900" dirty="0">
                <a:latin typeface="Times New Roman" pitchFamily="18" charset="0"/>
                <a:cs typeface="Times New Roman" pitchFamily="18" charset="0"/>
              </a:rPr>
              <a:t>Electromagnetic noise cannot affect fiber-optic cables.</a:t>
            </a:r>
          </a:p>
        </p:txBody>
      </p:sp>
    </p:spTree>
    <p:extLst>
      <p:ext uri="{BB962C8B-B14F-4D97-AF65-F5344CB8AC3E}">
        <p14:creationId xmlns:p14="http://schemas.microsoft.com/office/powerpoint/2010/main" val="1923371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6093976"/>
          </a:xfrm>
          <a:prstGeom prst="rect">
            <a:avLst/>
          </a:prstGeom>
          <a:noFill/>
        </p:spPr>
        <p:txBody>
          <a:bodyPr wrap="square" rtlCol="0">
            <a:spAutoFit/>
          </a:bodyPr>
          <a:lstStyle/>
          <a:p>
            <a:pPr marL="457200" indent="-457200">
              <a:buFont typeface="Wingdings" panose="05000000000000000000" pitchFamily="2" charset="2"/>
              <a:buChar char="§"/>
            </a:pPr>
            <a:r>
              <a:rPr lang="en-US" sz="3000" b="1" i="1" dirty="0">
                <a:latin typeface="Times New Roman" pitchFamily="18" charset="0"/>
                <a:cs typeface="Times New Roman" pitchFamily="18" charset="0"/>
              </a:rPr>
              <a:t>Resistance to corrosive materials. </a:t>
            </a:r>
            <a:r>
              <a:rPr lang="en-US" sz="3000" dirty="0">
                <a:latin typeface="Times New Roman" pitchFamily="18" charset="0"/>
                <a:cs typeface="Times New Roman" pitchFamily="18" charset="0"/>
              </a:rPr>
              <a:t>Glass is more resistant to corrosive materials than copper.</a:t>
            </a:r>
          </a:p>
          <a:p>
            <a:pPr marL="457200" indent="-457200">
              <a:buFont typeface="Wingdings" panose="05000000000000000000" pitchFamily="2" charset="2"/>
              <a:buChar char="§"/>
            </a:pPr>
            <a:r>
              <a:rPr lang="en-US" sz="3000" b="1" i="1" dirty="0">
                <a:latin typeface="Times New Roman" pitchFamily="18" charset="0"/>
                <a:cs typeface="Times New Roman" pitchFamily="18" charset="0"/>
              </a:rPr>
              <a:t>Light weight. </a:t>
            </a:r>
            <a:r>
              <a:rPr lang="en-US" sz="3000" dirty="0">
                <a:latin typeface="Times New Roman" pitchFamily="18" charset="0"/>
                <a:cs typeface="Times New Roman" pitchFamily="18" charset="0"/>
              </a:rPr>
              <a:t>Fiber-optic cables are much lighter than copper cables.</a:t>
            </a:r>
          </a:p>
          <a:p>
            <a:pPr marL="457200" indent="-457200">
              <a:buFont typeface="Wingdings" panose="05000000000000000000" pitchFamily="2" charset="2"/>
              <a:buChar char="§"/>
            </a:pPr>
            <a:r>
              <a:rPr lang="en-US" sz="3000" b="1" i="1" dirty="0">
                <a:latin typeface="Times New Roman" pitchFamily="18" charset="0"/>
                <a:cs typeface="Times New Roman" pitchFamily="18" charset="0"/>
              </a:rPr>
              <a:t>Greater immunity to tapping. </a:t>
            </a:r>
            <a:r>
              <a:rPr lang="en-US" sz="3000" dirty="0">
                <a:latin typeface="Times New Roman" pitchFamily="18" charset="0"/>
                <a:cs typeface="Times New Roman" pitchFamily="18" charset="0"/>
              </a:rPr>
              <a:t>Fiber-optic cables are more immune to tapping than copper cables. Copper cables create antenna effects that can easily be tapped.</a:t>
            </a: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r>
              <a:rPr lang="en-US" sz="3000" b="1" i="1" dirty="0">
                <a:latin typeface="Times New Roman" pitchFamily="18" charset="0"/>
                <a:cs typeface="Times New Roman" pitchFamily="18" charset="0"/>
              </a:rPr>
              <a:t>Disadvantages</a:t>
            </a:r>
          </a:p>
          <a:p>
            <a:pPr marL="457200" indent="-457200">
              <a:buFont typeface="Wingdings" panose="05000000000000000000" pitchFamily="2" charset="2"/>
              <a:buChar char="§"/>
            </a:pPr>
            <a:r>
              <a:rPr lang="en-US" sz="3000" b="1" i="1" dirty="0">
                <a:latin typeface="Times New Roman" pitchFamily="18" charset="0"/>
                <a:cs typeface="Times New Roman" pitchFamily="18" charset="0"/>
              </a:rPr>
              <a:t>Installation and maintenance. </a:t>
            </a:r>
            <a:r>
              <a:rPr lang="en-US" sz="3000" dirty="0">
                <a:latin typeface="Times New Roman" pitchFamily="18" charset="0"/>
                <a:cs typeface="Times New Roman" pitchFamily="18" charset="0"/>
              </a:rPr>
              <a:t>Fiber-optic cable is a relatively new technology. Its installation and maintenance require expertise that is not yet available everywhere.</a:t>
            </a:r>
          </a:p>
        </p:txBody>
      </p:sp>
    </p:spTree>
    <p:extLst>
      <p:ext uri="{BB962C8B-B14F-4D97-AF65-F5344CB8AC3E}">
        <p14:creationId xmlns:p14="http://schemas.microsoft.com/office/powerpoint/2010/main" val="714314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3323987"/>
          </a:xfrm>
          <a:prstGeom prst="rect">
            <a:avLst/>
          </a:prstGeom>
          <a:noFill/>
        </p:spPr>
        <p:txBody>
          <a:bodyPr wrap="square" rtlCol="0">
            <a:spAutoFit/>
          </a:bodyPr>
          <a:lstStyle/>
          <a:p>
            <a:pPr marL="457200" indent="-457200">
              <a:buFont typeface="Wingdings" panose="05000000000000000000" pitchFamily="2" charset="2"/>
              <a:buChar char="§"/>
            </a:pPr>
            <a:r>
              <a:rPr lang="en-US" sz="3000" b="1" i="1" dirty="0">
                <a:latin typeface="Times New Roman" pitchFamily="18" charset="0"/>
                <a:cs typeface="Times New Roman" pitchFamily="18" charset="0"/>
              </a:rPr>
              <a:t>Unidirectional light propagation. </a:t>
            </a:r>
            <a:r>
              <a:rPr lang="en-US" sz="3000" dirty="0">
                <a:latin typeface="Times New Roman" pitchFamily="18" charset="0"/>
                <a:cs typeface="Times New Roman" pitchFamily="18" charset="0"/>
              </a:rPr>
              <a:t>Propagation of light is unidirectional. If we need bidirectional communication, two fibers are needed.</a:t>
            </a:r>
          </a:p>
          <a:p>
            <a:pPr marL="457200" indent="-457200">
              <a:buFont typeface="Wingdings" panose="05000000000000000000" pitchFamily="2" charset="2"/>
              <a:buChar char="§"/>
            </a:pPr>
            <a:r>
              <a:rPr lang="en-US" sz="3000" b="1" i="1" dirty="0">
                <a:latin typeface="Times New Roman" pitchFamily="18" charset="0"/>
                <a:cs typeface="Times New Roman" pitchFamily="18" charset="0"/>
              </a:rPr>
              <a:t>Cost. </a:t>
            </a:r>
            <a:r>
              <a:rPr lang="en-US" sz="3000" dirty="0">
                <a:latin typeface="Times New Roman" pitchFamily="18" charset="0"/>
                <a:cs typeface="Times New Roman" pitchFamily="18" charset="0"/>
              </a:rPr>
              <a:t>The cable and the interfaces are relatively more expensive than those of other guided media. If the demand for bandwidth is not high, often the use of optical fiber cannot be justified.</a:t>
            </a:r>
          </a:p>
        </p:txBody>
      </p:sp>
    </p:spTree>
    <p:extLst>
      <p:ext uri="{BB962C8B-B14F-4D97-AF65-F5344CB8AC3E}">
        <p14:creationId xmlns:p14="http://schemas.microsoft.com/office/powerpoint/2010/main" val="4247784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19756"/>
            <a:ext cx="9073660" cy="7017306"/>
          </a:xfrm>
          <a:prstGeom prst="rect">
            <a:avLst/>
          </a:prstGeom>
          <a:noFill/>
        </p:spPr>
        <p:txBody>
          <a:bodyPr wrap="square" rtlCol="0">
            <a:spAutoFit/>
          </a:bodyPr>
          <a:lstStyle/>
          <a:p>
            <a:r>
              <a:rPr lang="en-US" sz="3000" b="1" i="1" dirty="0">
                <a:latin typeface="Times New Roman" pitchFamily="18" charset="0"/>
                <a:cs typeface="Times New Roman" pitchFamily="18" charset="0"/>
              </a:rPr>
              <a:t>Unguided media: wireless</a:t>
            </a:r>
          </a:p>
          <a:p>
            <a:pPr marL="457200" indent="-457200">
              <a:buFont typeface="Wingdings" panose="05000000000000000000" pitchFamily="2" charset="2"/>
              <a:buChar char="§"/>
            </a:pPr>
            <a:r>
              <a:rPr lang="en-US" sz="3000" dirty="0">
                <a:latin typeface="Times New Roman" pitchFamily="18" charset="0"/>
                <a:cs typeface="Times New Roman" pitchFamily="18" charset="0"/>
              </a:rPr>
              <a:t>Unguided medium transport electromagnetic waves without using a physical conductor.</a:t>
            </a:r>
          </a:p>
          <a:p>
            <a:pPr marL="457200" indent="-457200">
              <a:buFont typeface="Wingdings" panose="05000000000000000000" pitchFamily="2" charset="2"/>
              <a:buChar char="§"/>
            </a:pPr>
            <a:r>
              <a:rPr lang="en-US" sz="3000" dirty="0">
                <a:latin typeface="Times New Roman" pitchFamily="18" charset="0"/>
                <a:cs typeface="Times New Roman" pitchFamily="18" charset="0"/>
              </a:rPr>
              <a:t>This type of communication is often referred to as </a:t>
            </a:r>
            <a:r>
              <a:rPr lang="en-US" sz="3000" b="1" i="1" dirty="0">
                <a:latin typeface="Times New Roman" pitchFamily="18" charset="0"/>
                <a:cs typeface="Times New Roman" pitchFamily="18" charset="0"/>
              </a:rPr>
              <a:t>wireless communication</a:t>
            </a:r>
            <a:r>
              <a:rPr lang="en-US" sz="3000" dirty="0">
                <a:latin typeface="Times New Roman" pitchFamily="18" charset="0"/>
                <a:cs typeface="Times New Roman" pitchFamily="18" charset="0"/>
              </a:rPr>
              <a:t>. </a:t>
            </a:r>
          </a:p>
          <a:p>
            <a:pPr marL="457200" indent="-457200">
              <a:buFont typeface="Wingdings" panose="05000000000000000000" pitchFamily="2" charset="2"/>
              <a:buChar char="§"/>
            </a:pPr>
            <a:r>
              <a:rPr lang="en-US" sz="3000" dirty="0">
                <a:latin typeface="Times New Roman" pitchFamily="18" charset="0"/>
                <a:cs typeface="Times New Roman" pitchFamily="18" charset="0"/>
              </a:rPr>
              <a:t>Signals are normally broadcast through free space and thus are available to anyone who has a device capable of receiving them.</a:t>
            </a:r>
          </a:p>
          <a:p>
            <a:pPr marL="457200" indent="-457200">
              <a:buFont typeface="Wingdings" panose="05000000000000000000" pitchFamily="2" charset="2"/>
              <a:buChar char="§"/>
            </a:pPr>
            <a:r>
              <a:rPr lang="en-US" sz="3000" dirty="0">
                <a:latin typeface="Times New Roman" pitchFamily="18" charset="0"/>
                <a:cs typeface="Times New Roman" pitchFamily="18" charset="0"/>
              </a:rPr>
              <a:t>Unguided signals can travel from the source to the destination in several ways: </a:t>
            </a:r>
            <a:r>
              <a:rPr lang="en-US" sz="3000" b="1" i="1" dirty="0">
                <a:latin typeface="Times New Roman" pitchFamily="18" charset="0"/>
                <a:cs typeface="Times New Roman" pitchFamily="18" charset="0"/>
              </a:rPr>
              <a:t>ground propagation, sky propagation, and line-of-sight propagation.</a:t>
            </a:r>
          </a:p>
          <a:p>
            <a:pPr marL="914400" lvl="1" indent="-457200">
              <a:buFont typeface="Wingdings" panose="05000000000000000000" pitchFamily="2" charset="2"/>
              <a:buChar char="§"/>
            </a:pPr>
            <a:r>
              <a:rPr lang="en-US" sz="3000" b="1" i="1" dirty="0">
                <a:latin typeface="Times New Roman" pitchFamily="18" charset="0"/>
                <a:cs typeface="Times New Roman" pitchFamily="18" charset="0"/>
              </a:rPr>
              <a:t>In ground propagation, </a:t>
            </a:r>
            <a:r>
              <a:rPr lang="en-US" sz="3000" dirty="0">
                <a:latin typeface="Times New Roman" pitchFamily="18" charset="0"/>
                <a:cs typeface="Times New Roman" pitchFamily="18" charset="0"/>
              </a:rPr>
              <a:t>radio waves travel through the lowest portion of the atmosphere, hugging the earth. </a:t>
            </a:r>
          </a:p>
          <a:p>
            <a:pPr marL="457200" indent="-457200">
              <a:buFont typeface="Wingdings" panose="05000000000000000000" pitchFamily="2" charset="2"/>
              <a:buChar char="§"/>
            </a:pPr>
            <a:endParaRPr lang="en-US" sz="3000" b="1" i="1" dirty="0">
              <a:latin typeface="Times New Roman" pitchFamily="18" charset="0"/>
              <a:cs typeface="Times New Roman" pitchFamily="18" charset="0"/>
            </a:endParaRPr>
          </a:p>
        </p:txBody>
      </p:sp>
    </p:spTree>
    <p:extLst>
      <p:ext uri="{BB962C8B-B14F-4D97-AF65-F5344CB8AC3E}">
        <p14:creationId xmlns:p14="http://schemas.microsoft.com/office/powerpoint/2010/main" val="8728725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6340197"/>
          </a:xfrm>
          <a:prstGeom prst="rect">
            <a:avLst/>
          </a:prstGeom>
          <a:noFill/>
        </p:spPr>
        <p:txBody>
          <a:bodyPr wrap="square" rtlCol="0">
            <a:spAutoFit/>
          </a:bodyPr>
          <a:lstStyle/>
          <a:p>
            <a:pPr marL="914400" lvl="1" indent="-457200">
              <a:buFont typeface="Wingdings" panose="05000000000000000000" pitchFamily="2" charset="2"/>
              <a:buChar char="§"/>
            </a:pPr>
            <a:r>
              <a:rPr lang="en-US" sz="2900" dirty="0">
                <a:latin typeface="Times New Roman" pitchFamily="18" charset="0"/>
                <a:cs typeface="Times New Roman" pitchFamily="18" charset="0"/>
              </a:rPr>
              <a:t>These low-frequency signals emanate in all directions from the transmitting antenna and follow the curvature of the planet. </a:t>
            </a:r>
          </a:p>
          <a:p>
            <a:pPr marL="914400" lvl="1" indent="-457200">
              <a:buFont typeface="Wingdings" panose="05000000000000000000" pitchFamily="2" charset="2"/>
              <a:buChar char="§"/>
            </a:pPr>
            <a:r>
              <a:rPr lang="en-US" sz="2900" dirty="0">
                <a:latin typeface="Times New Roman" pitchFamily="18" charset="0"/>
                <a:cs typeface="Times New Roman" pitchFamily="18" charset="0"/>
              </a:rPr>
              <a:t>Distance depends on the amount of power in the signal: The greater the power, the greater the distance.</a:t>
            </a:r>
          </a:p>
          <a:p>
            <a:pPr marL="457200" indent="-457200">
              <a:buFont typeface="Wingdings" panose="05000000000000000000" pitchFamily="2" charset="2"/>
              <a:buChar char="§"/>
            </a:pPr>
            <a:r>
              <a:rPr lang="en-US" sz="2900" b="1" i="1" dirty="0">
                <a:latin typeface="Times New Roman" pitchFamily="18" charset="0"/>
                <a:cs typeface="Times New Roman" pitchFamily="18" charset="0"/>
              </a:rPr>
              <a:t>In sky propagation, </a:t>
            </a:r>
            <a:r>
              <a:rPr lang="en-US" sz="2900" dirty="0">
                <a:latin typeface="Times New Roman" pitchFamily="18" charset="0"/>
                <a:cs typeface="Times New Roman" pitchFamily="18" charset="0"/>
              </a:rPr>
              <a:t>higher-frequency radio waves radiate upward into the ionosphere (the layer of atmosphere where particles exist as ions) where they are reflected back to earth. </a:t>
            </a:r>
          </a:p>
          <a:p>
            <a:pPr marL="914400" lvl="1" indent="-457200">
              <a:buFont typeface="Wingdings" panose="05000000000000000000" pitchFamily="2" charset="2"/>
              <a:buChar char="§"/>
            </a:pPr>
            <a:r>
              <a:rPr lang="en-US" sz="2900" dirty="0">
                <a:latin typeface="Times New Roman" pitchFamily="18" charset="0"/>
                <a:cs typeface="Times New Roman" pitchFamily="18" charset="0"/>
              </a:rPr>
              <a:t>This type of transmission allows for greater distances with lower output power.</a:t>
            </a:r>
          </a:p>
          <a:p>
            <a:pPr marL="457200" indent="-457200">
              <a:buFont typeface="Wingdings" panose="05000000000000000000" pitchFamily="2" charset="2"/>
              <a:buChar char="§"/>
            </a:pPr>
            <a:r>
              <a:rPr lang="en-US" sz="2900" b="1" i="1" dirty="0">
                <a:latin typeface="Times New Roman" pitchFamily="18" charset="0"/>
                <a:cs typeface="Times New Roman" pitchFamily="18" charset="0"/>
              </a:rPr>
              <a:t>In line-of-sight propagation, </a:t>
            </a:r>
            <a:r>
              <a:rPr lang="en-US" sz="2900" dirty="0">
                <a:latin typeface="Times New Roman" pitchFamily="18" charset="0"/>
                <a:cs typeface="Times New Roman" pitchFamily="18" charset="0"/>
              </a:rPr>
              <a:t>very high-frequency signals are transmitted in straight lines directly from antenna to antenna. </a:t>
            </a:r>
          </a:p>
        </p:txBody>
      </p:sp>
    </p:spTree>
    <p:extLst>
      <p:ext uri="{BB962C8B-B14F-4D97-AF65-F5344CB8AC3E}">
        <p14:creationId xmlns:p14="http://schemas.microsoft.com/office/powerpoint/2010/main" val="1026413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3785652"/>
          </a:xfrm>
          <a:prstGeom prst="rect">
            <a:avLst/>
          </a:prstGeom>
          <a:noFill/>
        </p:spPr>
        <p:txBody>
          <a:bodyPr wrap="square" rtlCol="0">
            <a:spAutoFit/>
          </a:bodyPr>
          <a:lstStyle/>
          <a:p>
            <a:pPr marL="457200" indent="-457200">
              <a:buFont typeface="Wingdings" panose="05000000000000000000" pitchFamily="2" charset="2"/>
              <a:buChar char="§"/>
            </a:pPr>
            <a:r>
              <a:rPr lang="en-US" sz="3000" dirty="0">
                <a:latin typeface="Times New Roman" pitchFamily="18" charset="0"/>
                <a:cs typeface="Times New Roman" pitchFamily="18" charset="0"/>
              </a:rPr>
              <a:t>Antennas must be directional, facing each other, and either tall enough or close enough together not to be affected by the curvature of the earth. </a:t>
            </a:r>
          </a:p>
          <a:p>
            <a:pPr marL="457200" indent="-457200">
              <a:buFont typeface="Wingdings" panose="05000000000000000000" pitchFamily="2" charset="2"/>
              <a:buChar char="§"/>
            </a:pPr>
            <a:r>
              <a:rPr lang="en-US" sz="3000" dirty="0">
                <a:latin typeface="Times New Roman" pitchFamily="18" charset="0"/>
                <a:cs typeface="Times New Roman" pitchFamily="18" charset="0"/>
              </a:rPr>
              <a:t>Line-of-sight propagation is tricky because radio transmissions cannot be completely focused.</a:t>
            </a:r>
          </a:p>
          <a:p>
            <a:pPr marL="457200" indent="-457200">
              <a:buFont typeface="Wingdings" panose="05000000000000000000" pitchFamily="2" charset="2"/>
              <a:buChar char="q"/>
            </a:pPr>
            <a:endParaRPr lang="en-US" sz="3000" dirty="0">
              <a:latin typeface="Times New Roman" pitchFamily="18" charset="0"/>
              <a:cs typeface="Times New Roman" pitchFamily="18" charset="0"/>
            </a:endParaRPr>
          </a:p>
          <a:p>
            <a:endParaRPr lang="en-US" sz="3000" dirty="0">
              <a:latin typeface="Times New Roman" pitchFamily="18" charset="0"/>
              <a:cs typeface="Times New Roman" pitchFamily="18" charset="0"/>
            </a:endParaRPr>
          </a:p>
          <a:p>
            <a:endParaRPr lang="en-US" sz="3000" dirty="0">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478B3D91-FCE0-4C90-8CF3-B53AE8182B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2514600"/>
            <a:ext cx="7543800" cy="3352800"/>
          </a:xfrm>
          <a:prstGeom prst="rect">
            <a:avLst/>
          </a:prstGeom>
        </p:spPr>
      </p:pic>
    </p:spTree>
    <p:extLst>
      <p:ext uri="{BB962C8B-B14F-4D97-AF65-F5344CB8AC3E}">
        <p14:creationId xmlns:p14="http://schemas.microsoft.com/office/powerpoint/2010/main" val="504908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6340197"/>
          </a:xfrm>
          <a:prstGeom prst="rect">
            <a:avLst/>
          </a:prstGeom>
          <a:noFill/>
        </p:spPr>
        <p:txBody>
          <a:bodyPr wrap="square" rtlCol="0">
            <a:spAutoFit/>
          </a:bodyPr>
          <a:lstStyle/>
          <a:p>
            <a:pPr marL="457200" indent="-457200">
              <a:buFont typeface="Wingdings" panose="05000000000000000000" pitchFamily="2" charset="2"/>
              <a:buChar char="§"/>
            </a:pPr>
            <a:r>
              <a:rPr lang="en-US" sz="2900" dirty="0">
                <a:latin typeface="Times New Roman" pitchFamily="18" charset="0"/>
                <a:cs typeface="Times New Roman" pitchFamily="18" charset="0"/>
              </a:rPr>
              <a:t>We can divide wireless transmission into three broad groups: </a:t>
            </a:r>
            <a:r>
              <a:rPr lang="en-US" sz="2900" b="1" i="1" dirty="0">
                <a:latin typeface="Times New Roman" pitchFamily="18" charset="0"/>
                <a:cs typeface="Times New Roman" pitchFamily="18" charset="0"/>
              </a:rPr>
              <a:t>radio waves, microwaves, and infrared waves.</a:t>
            </a:r>
          </a:p>
          <a:p>
            <a:pPr marL="457200" indent="-457200">
              <a:buFont typeface="Wingdings" panose="05000000000000000000" pitchFamily="2" charset="2"/>
              <a:buChar char="§"/>
            </a:pPr>
            <a:endParaRPr lang="en-US" sz="2900" b="1" i="1" dirty="0">
              <a:latin typeface="Times New Roman" pitchFamily="18" charset="0"/>
              <a:cs typeface="Times New Roman" pitchFamily="18" charset="0"/>
            </a:endParaRPr>
          </a:p>
          <a:p>
            <a:r>
              <a:rPr lang="en-US" sz="2900" b="1" i="1" dirty="0">
                <a:latin typeface="Times New Roman" pitchFamily="18" charset="0"/>
                <a:cs typeface="Times New Roman" pitchFamily="18" charset="0"/>
              </a:rPr>
              <a:t>Radio Waves</a:t>
            </a:r>
          </a:p>
          <a:p>
            <a:pPr marL="457200" indent="-457200">
              <a:buFont typeface="Wingdings" panose="05000000000000000000" pitchFamily="2" charset="2"/>
              <a:buChar char="§"/>
            </a:pPr>
            <a:r>
              <a:rPr lang="en-US" sz="2900" dirty="0">
                <a:latin typeface="Times New Roman" pitchFamily="18" charset="0"/>
                <a:cs typeface="Times New Roman" pitchFamily="18" charset="0"/>
              </a:rPr>
              <a:t>Although there is no clear-cut demarcation between radio waves and microwaves, electromagnetic waves ranging in frequencies between 3 kHz and 1 GHz are normally called radio waves; waves ranging in frequencies between 1 and 300 GHz are called microwaves.</a:t>
            </a:r>
          </a:p>
          <a:p>
            <a:pPr marL="457200" indent="-457200">
              <a:buFont typeface="Wingdings" panose="05000000000000000000" pitchFamily="2" charset="2"/>
              <a:buChar char="§"/>
            </a:pPr>
            <a:r>
              <a:rPr lang="en-US" sz="2900" dirty="0">
                <a:latin typeface="Times New Roman" pitchFamily="18" charset="0"/>
                <a:cs typeface="Times New Roman" pitchFamily="18" charset="0"/>
              </a:rPr>
              <a:t>Radio waves, for the most part, are omnidirectional.</a:t>
            </a:r>
          </a:p>
          <a:p>
            <a:pPr marL="457200" indent="-457200">
              <a:buFont typeface="Wingdings" panose="05000000000000000000" pitchFamily="2" charset="2"/>
              <a:buChar char="§"/>
            </a:pPr>
            <a:r>
              <a:rPr lang="en-US" sz="2900" dirty="0">
                <a:latin typeface="Times New Roman" pitchFamily="18" charset="0"/>
                <a:cs typeface="Times New Roman" pitchFamily="18" charset="0"/>
              </a:rPr>
              <a:t>When an antenna transmits radio waves, they are propagated in all directions. This means that the sending and receiving antennas do not have to be aligned. </a:t>
            </a:r>
          </a:p>
        </p:txBody>
      </p:sp>
    </p:spTree>
    <p:extLst>
      <p:ext uri="{BB962C8B-B14F-4D97-AF65-F5344CB8AC3E}">
        <p14:creationId xmlns:p14="http://schemas.microsoft.com/office/powerpoint/2010/main" val="1467134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7478970"/>
          </a:xfrm>
          <a:prstGeom prst="rect">
            <a:avLst/>
          </a:prstGeom>
          <a:noFill/>
        </p:spPr>
        <p:txBody>
          <a:bodyPr wrap="square" rtlCol="0">
            <a:spAutoFit/>
          </a:bodyPr>
          <a:lstStyle/>
          <a:p>
            <a:pPr marL="457200" indent="-457200">
              <a:buFont typeface="Wingdings" panose="05000000000000000000" pitchFamily="2" charset="2"/>
              <a:buChar char="§"/>
            </a:pPr>
            <a:r>
              <a:rPr lang="en-US" sz="3000" dirty="0">
                <a:latin typeface="Times New Roman" pitchFamily="18" charset="0"/>
                <a:cs typeface="Times New Roman" pitchFamily="18" charset="0"/>
              </a:rPr>
              <a:t>A sending antenna sends waves that can be received by any receiving antenna.</a:t>
            </a:r>
          </a:p>
          <a:p>
            <a:pPr marL="457200" indent="-457200">
              <a:buFont typeface="Wingdings" panose="05000000000000000000" pitchFamily="2" charset="2"/>
              <a:buChar char="§"/>
            </a:pPr>
            <a:r>
              <a:rPr lang="en-US" sz="3000" dirty="0">
                <a:latin typeface="Times New Roman" pitchFamily="18" charset="0"/>
                <a:cs typeface="Times New Roman" pitchFamily="18" charset="0"/>
              </a:rPr>
              <a:t>Radio waves, particularly those waves that propagate in the sky mode, can travel long distances. This makes radio waves a good candidate for long-distance broadcasting such as AM radio.</a:t>
            </a: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r>
              <a:rPr lang="en-US" sz="3000" b="1" i="1" dirty="0">
                <a:latin typeface="Times New Roman" pitchFamily="18" charset="0"/>
                <a:cs typeface="Times New Roman" pitchFamily="18" charset="0"/>
              </a:rPr>
              <a:t>Omnidirectional Antenna</a:t>
            </a:r>
          </a:p>
          <a:p>
            <a:pPr marL="457200" indent="-457200">
              <a:buFont typeface="Wingdings" panose="05000000000000000000" pitchFamily="2" charset="2"/>
              <a:buChar char="§"/>
            </a:pPr>
            <a:r>
              <a:rPr lang="en-US" sz="3000" dirty="0">
                <a:latin typeface="Times New Roman" pitchFamily="18" charset="0"/>
                <a:cs typeface="Times New Roman" pitchFamily="18" charset="0"/>
              </a:rPr>
              <a:t>Radio waves use omnidirectional antennas that send out signals in all directions.</a:t>
            </a:r>
          </a:p>
          <a:p>
            <a:pPr marL="457200" indent="-457200">
              <a:buFont typeface="Wingdings" panose="05000000000000000000" pitchFamily="2" charset="2"/>
              <a:buChar char="§"/>
            </a:pPr>
            <a:r>
              <a:rPr lang="en-US" sz="3000" dirty="0">
                <a:latin typeface="Times New Roman" pitchFamily="18" charset="0"/>
                <a:cs typeface="Times New Roman" pitchFamily="18" charset="0"/>
              </a:rPr>
              <a:t>Based on the wavelength, strength, and the purpose of transmission, we can have several types of antennas.</a:t>
            </a: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1530776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6555641"/>
          </a:xfrm>
          <a:prstGeom prst="rect">
            <a:avLst/>
          </a:prstGeom>
          <a:noFill/>
        </p:spPr>
        <p:txBody>
          <a:bodyPr wrap="square" rtlCol="0">
            <a:spAutoFit/>
          </a:bodyPr>
          <a:lstStyle/>
          <a:p>
            <a:r>
              <a:rPr lang="en-US" sz="3000" b="1" i="1" dirty="0">
                <a:latin typeface="Times New Roman" pitchFamily="18" charset="0"/>
                <a:cs typeface="Times New Roman" pitchFamily="18" charset="0"/>
              </a:rPr>
              <a:t>Applications</a:t>
            </a:r>
          </a:p>
          <a:p>
            <a:pPr marL="457200" indent="-457200">
              <a:buFont typeface="Wingdings" panose="05000000000000000000" pitchFamily="2" charset="2"/>
              <a:buChar char="§"/>
            </a:pPr>
            <a:r>
              <a:rPr lang="en-US" sz="3000" dirty="0">
                <a:latin typeface="Times New Roman" pitchFamily="18" charset="0"/>
                <a:cs typeface="Times New Roman" pitchFamily="18" charset="0"/>
              </a:rPr>
              <a:t>The omnidirectional characteristics of radio waves make them useful for multicasting, in which there is one sender but many receivers.</a:t>
            </a:r>
          </a:p>
          <a:p>
            <a:pPr marL="457200" indent="-457200">
              <a:buFont typeface="Wingdings" panose="05000000000000000000" pitchFamily="2" charset="2"/>
              <a:buChar char="§"/>
            </a:pPr>
            <a:r>
              <a:rPr lang="en-US" sz="3000" dirty="0">
                <a:latin typeface="Times New Roman" pitchFamily="18" charset="0"/>
                <a:cs typeface="Times New Roman" pitchFamily="18" charset="0"/>
              </a:rPr>
              <a:t> AM and FM radio, television, maritime radio, cordless phones, and paging are examples of multicasting.</a:t>
            </a: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r>
              <a:rPr lang="en-US" sz="3000" i="1" dirty="0">
                <a:latin typeface="Times New Roman" pitchFamily="18" charset="0"/>
                <a:cs typeface="Times New Roman" pitchFamily="18" charset="0"/>
              </a:rPr>
              <a:t>		Omnidirectional antenna</a:t>
            </a:r>
          </a:p>
        </p:txBody>
      </p:sp>
      <p:pic>
        <p:nvPicPr>
          <p:cNvPr id="7" name="Picture 6">
            <a:extLst>
              <a:ext uri="{FF2B5EF4-FFF2-40B4-BE49-F238E27FC236}">
                <a16:creationId xmlns:a16="http://schemas.microsoft.com/office/drawing/2014/main" id="{987825D7-A6C5-4059-9CD0-FD45C38A09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2971800"/>
            <a:ext cx="4800600" cy="3124200"/>
          </a:xfrm>
          <a:prstGeom prst="rect">
            <a:avLst/>
          </a:prstGeom>
        </p:spPr>
      </p:pic>
    </p:spTree>
    <p:extLst>
      <p:ext uri="{BB962C8B-B14F-4D97-AF65-F5344CB8AC3E}">
        <p14:creationId xmlns:p14="http://schemas.microsoft.com/office/powerpoint/2010/main" val="880289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6340197"/>
          </a:xfrm>
          <a:prstGeom prst="rect">
            <a:avLst/>
          </a:prstGeom>
          <a:noFill/>
        </p:spPr>
        <p:txBody>
          <a:bodyPr wrap="square" rtlCol="0">
            <a:spAutoFit/>
          </a:bodyPr>
          <a:lstStyle/>
          <a:p>
            <a:r>
              <a:rPr lang="en-US" sz="3000" b="1" i="1" dirty="0">
                <a:latin typeface="Times New Roman" pitchFamily="18" charset="0"/>
                <a:cs typeface="Times New Roman" pitchFamily="18" charset="0"/>
              </a:rPr>
              <a:t>Microwaves</a:t>
            </a:r>
          </a:p>
          <a:p>
            <a:pPr marL="457200" indent="-457200">
              <a:buFont typeface="Wingdings" panose="05000000000000000000" pitchFamily="2" charset="2"/>
              <a:buChar char="§"/>
            </a:pPr>
            <a:r>
              <a:rPr lang="en-US" sz="3000" dirty="0">
                <a:latin typeface="Times New Roman" pitchFamily="18" charset="0"/>
                <a:cs typeface="Times New Roman" pitchFamily="18" charset="0"/>
              </a:rPr>
              <a:t>Electromagnetic waves having frequencies between 1 and 300 GHz are called microwaves.</a:t>
            </a:r>
          </a:p>
          <a:p>
            <a:pPr marL="457200" indent="-457200">
              <a:buFont typeface="Wingdings" panose="05000000000000000000" pitchFamily="2" charset="2"/>
              <a:buChar char="§"/>
            </a:pPr>
            <a:r>
              <a:rPr lang="en-US" sz="3000" dirty="0">
                <a:latin typeface="Times New Roman" pitchFamily="18" charset="0"/>
                <a:cs typeface="Times New Roman" pitchFamily="18" charset="0"/>
              </a:rPr>
              <a:t>Microwaves are unidirectional. When an antenna transmits microwaves, they can be narrowly focused. This means that the sending and receiving antennas need to be aligned.</a:t>
            </a:r>
          </a:p>
          <a:p>
            <a:pPr marL="457200" indent="-457200">
              <a:buFont typeface="Wingdings" panose="05000000000000000000" pitchFamily="2" charset="2"/>
              <a:buChar char="§"/>
            </a:pPr>
            <a:r>
              <a:rPr lang="en-US" sz="2800" dirty="0">
                <a:latin typeface="Times New Roman" pitchFamily="18" charset="0"/>
                <a:cs typeface="Times New Roman" pitchFamily="18" charset="0"/>
              </a:rPr>
              <a:t>A pair of antennas can be aligned without interfering with another pair of aligned antennas.</a:t>
            </a:r>
          </a:p>
          <a:p>
            <a:pPr marL="914400" lvl="1" indent="-457200">
              <a:buFont typeface="Wingdings" panose="05000000000000000000" pitchFamily="2" charset="2"/>
              <a:buChar char="§"/>
            </a:pPr>
            <a:r>
              <a:rPr lang="en-US" sz="2800" b="1" i="1" dirty="0">
                <a:latin typeface="Times New Roman" pitchFamily="18" charset="0"/>
                <a:cs typeface="Times New Roman" pitchFamily="18" charset="0"/>
              </a:rPr>
              <a:t>Unidirectional Antenna: </a:t>
            </a:r>
            <a:r>
              <a:rPr lang="en-US" sz="2800" dirty="0">
                <a:latin typeface="Times New Roman" pitchFamily="18" charset="0"/>
                <a:cs typeface="Times New Roman" pitchFamily="18" charset="0"/>
              </a:rPr>
              <a:t>Microwaves need unidirectional antennas that send out signals in one direction. </a:t>
            </a:r>
          </a:p>
          <a:p>
            <a:pPr marL="914400" lvl="1" indent="-457200">
              <a:buFont typeface="Wingdings" panose="05000000000000000000" pitchFamily="2" charset="2"/>
              <a:buChar char="§"/>
            </a:pPr>
            <a:r>
              <a:rPr lang="en-US" sz="2800" dirty="0">
                <a:latin typeface="Times New Roman" pitchFamily="18" charset="0"/>
                <a:cs typeface="Times New Roman" pitchFamily="18" charset="0"/>
              </a:rPr>
              <a:t>Two types of antennas are used for microwave communications: </a:t>
            </a:r>
            <a:r>
              <a:rPr lang="en-US" sz="2800" b="1" i="1" dirty="0">
                <a:latin typeface="Times New Roman" pitchFamily="18" charset="0"/>
                <a:cs typeface="Times New Roman" pitchFamily="18" charset="0"/>
              </a:rPr>
              <a:t>the parabolic dish and the horn.</a:t>
            </a:r>
          </a:p>
        </p:txBody>
      </p:sp>
    </p:spTree>
    <p:extLst>
      <p:ext uri="{BB962C8B-B14F-4D97-AF65-F5344CB8AC3E}">
        <p14:creationId xmlns:p14="http://schemas.microsoft.com/office/powerpoint/2010/main" val="567224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6555641"/>
          </a:xfrm>
          <a:prstGeom prst="rect">
            <a:avLst/>
          </a:prstGeom>
          <a:noFill/>
        </p:spPr>
        <p:txBody>
          <a:bodyPr wrap="square" rtlCol="0">
            <a:spAutoFit/>
          </a:bodyPr>
          <a:lstStyle/>
          <a:p>
            <a:pPr marL="457200" indent="-457200">
              <a:buFont typeface="Wingdings" panose="05000000000000000000" pitchFamily="2" charset="2"/>
              <a:buChar char="§"/>
            </a:pPr>
            <a:r>
              <a:rPr lang="en-US" sz="3000" b="1" i="1" dirty="0">
                <a:latin typeface="Times New Roman" pitchFamily="18" charset="0"/>
                <a:cs typeface="Times New Roman" pitchFamily="18" charset="0"/>
              </a:rPr>
              <a:t>A parabolic dish antenna </a:t>
            </a:r>
            <a:r>
              <a:rPr lang="en-US" sz="3000" dirty="0">
                <a:latin typeface="Times New Roman" pitchFamily="18" charset="0"/>
                <a:cs typeface="Times New Roman" pitchFamily="18" charset="0"/>
              </a:rPr>
              <a:t>is based on the geometry of a parabola: Every line parallel to the line of symmetry (line of sight) reflects off the curve at angles such that all the lines intersect in a common point called the focus.</a:t>
            </a:r>
          </a:p>
          <a:p>
            <a:pPr marL="457200" indent="-457200">
              <a:buFont typeface="Wingdings" panose="05000000000000000000" pitchFamily="2" charset="2"/>
              <a:buChar char="§"/>
            </a:pPr>
            <a:r>
              <a:rPr lang="en-US" sz="3000" b="1" i="1" dirty="0">
                <a:latin typeface="Times New Roman" pitchFamily="18" charset="0"/>
                <a:cs typeface="Times New Roman" pitchFamily="18" charset="0"/>
              </a:rPr>
              <a:t>Horn antenna </a:t>
            </a:r>
            <a:r>
              <a:rPr lang="en-US" sz="3000" dirty="0">
                <a:latin typeface="Times New Roman" pitchFamily="18" charset="0"/>
                <a:cs typeface="Times New Roman" pitchFamily="18" charset="0"/>
              </a:rPr>
              <a:t>looks like a gigantic scoop. Outgoing transmissions are broadcast up a stem (resembling a handle) and deflected outward in a series of narrow parallel beams by the curved head.</a:t>
            </a:r>
          </a:p>
          <a:p>
            <a:endParaRPr lang="en-US" sz="3000" dirty="0">
              <a:latin typeface="Times New Roman" pitchFamily="18" charset="0"/>
              <a:cs typeface="Times New Roman" pitchFamily="18" charset="0"/>
            </a:endParaRPr>
          </a:p>
          <a:p>
            <a:r>
              <a:rPr lang="en-US" sz="3000" b="1" i="1" dirty="0">
                <a:latin typeface="Times New Roman" pitchFamily="18" charset="0"/>
                <a:cs typeface="Times New Roman" pitchFamily="18" charset="0"/>
              </a:rPr>
              <a:t>Applications</a:t>
            </a:r>
          </a:p>
          <a:p>
            <a:pPr marL="457200" indent="-457200">
              <a:buFont typeface="Wingdings" panose="05000000000000000000" pitchFamily="2" charset="2"/>
              <a:buChar char="§"/>
            </a:pPr>
            <a:r>
              <a:rPr lang="en-US" sz="3000" dirty="0">
                <a:latin typeface="Times New Roman" pitchFamily="18" charset="0"/>
                <a:cs typeface="Times New Roman" pitchFamily="18" charset="0"/>
              </a:rPr>
              <a:t>Microwaves, due to their unidirectional properties, are very useful when unicast (</a:t>
            </a:r>
            <a:r>
              <a:rPr lang="en-US" sz="3000" dirty="0" err="1">
                <a:latin typeface="Times New Roman" pitchFamily="18" charset="0"/>
                <a:cs typeface="Times New Roman" pitchFamily="18" charset="0"/>
              </a:rPr>
              <a:t>oneto</a:t>
            </a:r>
            <a:r>
              <a:rPr lang="en-US" sz="3000" dirty="0">
                <a:latin typeface="Times New Roman" pitchFamily="18" charset="0"/>
                <a:cs typeface="Times New Roman" pitchFamily="18" charset="0"/>
              </a:rPr>
              <a:t>-one) communication is needed between the sender and the receiver. </a:t>
            </a:r>
          </a:p>
        </p:txBody>
      </p:sp>
    </p:spTree>
    <p:extLst>
      <p:ext uri="{BB962C8B-B14F-4D97-AF65-F5344CB8AC3E}">
        <p14:creationId xmlns:p14="http://schemas.microsoft.com/office/powerpoint/2010/main" val="29090713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4" y="0"/>
            <a:ext cx="9073660" cy="7017306"/>
          </a:xfrm>
          <a:prstGeom prst="rect">
            <a:avLst/>
          </a:prstGeom>
          <a:noFill/>
        </p:spPr>
        <p:txBody>
          <a:bodyPr wrap="square" rtlCol="0">
            <a:spAutoFit/>
          </a:bodyPr>
          <a:lstStyle/>
          <a:p>
            <a:pPr marL="457200" indent="-457200">
              <a:buFont typeface="Wingdings" panose="05000000000000000000" pitchFamily="2" charset="2"/>
              <a:buChar char="§"/>
            </a:pPr>
            <a:r>
              <a:rPr lang="en-US" sz="3000" dirty="0">
                <a:latin typeface="Times New Roman" pitchFamily="18" charset="0"/>
                <a:cs typeface="Times New Roman" pitchFamily="18" charset="0"/>
              </a:rPr>
              <a:t>They are used in cellular phones, satellite networks , and wireless LANs.</a:t>
            </a:r>
          </a:p>
          <a:p>
            <a:pPr marL="457200" indent="-457200">
              <a:buFont typeface="Wingdings" panose="05000000000000000000" pitchFamily="2" charset="2"/>
              <a:buChar char="§"/>
            </a:pPr>
            <a:r>
              <a:rPr lang="en-US" sz="3000" b="1" i="1" dirty="0">
                <a:latin typeface="Times New Roman" pitchFamily="18" charset="0"/>
                <a:cs typeface="Times New Roman" pitchFamily="18" charset="0"/>
              </a:rPr>
              <a:t>Infrared waves, </a:t>
            </a:r>
            <a:r>
              <a:rPr lang="en-US" sz="3000" dirty="0">
                <a:latin typeface="Times New Roman" pitchFamily="18" charset="0"/>
                <a:cs typeface="Times New Roman" pitchFamily="18" charset="0"/>
              </a:rPr>
              <a:t>with frequencies from 300 GHz to 400 THz (wavelengths from 1 mm to 770 nm), can be used for short-range communication. Infrared waves, having high frequencies, cannot penetrate walls.</a:t>
            </a:r>
          </a:p>
          <a:p>
            <a:endParaRPr lang="en-US" sz="3000" dirty="0">
              <a:latin typeface="Times New Roman" pitchFamily="18" charset="0"/>
              <a:cs typeface="Times New Roman" pitchFamily="18" charset="0"/>
            </a:endParaRPr>
          </a:p>
          <a:p>
            <a:r>
              <a:rPr lang="en-US" sz="3000" b="1" i="1" dirty="0">
                <a:latin typeface="Times New Roman" pitchFamily="18" charset="0"/>
                <a:cs typeface="Times New Roman" pitchFamily="18" charset="0"/>
              </a:rPr>
              <a:t>Applications</a:t>
            </a:r>
          </a:p>
          <a:p>
            <a:pPr marL="457200" indent="-457200">
              <a:buFont typeface="Wingdings" panose="05000000000000000000" pitchFamily="2" charset="2"/>
              <a:buChar char="§"/>
            </a:pPr>
            <a:r>
              <a:rPr lang="en-US" sz="3000" dirty="0">
                <a:latin typeface="Times New Roman" pitchFamily="18" charset="0"/>
                <a:cs typeface="Times New Roman" pitchFamily="18" charset="0"/>
              </a:rPr>
              <a:t>The infrared band, almost 400 THz, has an excellent potential for data transmission. </a:t>
            </a:r>
            <a:r>
              <a:rPr lang="en-US" sz="3000">
                <a:latin typeface="Times New Roman" pitchFamily="18" charset="0"/>
                <a:cs typeface="Times New Roman" pitchFamily="18" charset="0"/>
              </a:rPr>
              <a:t>Such </a:t>
            </a:r>
            <a:r>
              <a:rPr lang="en-US" sz="3000" dirty="0">
                <a:latin typeface="Times New Roman" pitchFamily="18" charset="0"/>
                <a:cs typeface="Times New Roman" pitchFamily="18" charset="0"/>
              </a:rPr>
              <a:t>a wide bandwidth can be used to transmit digital data with a very high data rate.</a:t>
            </a: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19596864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23740</TotalTime>
  <Words>2014</Words>
  <Application>Microsoft Office PowerPoint</Application>
  <PresentationFormat>On-screen Show (4:3)</PresentationFormat>
  <Paragraphs>183</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Franklin Gothic Book</vt:lpstr>
      <vt:lpstr>Perpetua</vt:lpstr>
      <vt:lpstr>Times New Roman</vt:lpstr>
      <vt:lpstr>Wingdings</vt:lpstr>
      <vt:lpstr>Wingdings 2</vt:lpstr>
      <vt:lpstr>Equity</vt:lpstr>
      <vt:lpstr>UNIT 3 - TRANSMISSION MEDIA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Rahma</dc:creator>
  <cp:lastModifiedBy>User</cp:lastModifiedBy>
  <cp:revision>403</cp:revision>
  <dcterms:created xsi:type="dcterms:W3CDTF">2016-11-13T04:57:18Z</dcterms:created>
  <dcterms:modified xsi:type="dcterms:W3CDTF">2021-11-22T08:17:38Z</dcterms:modified>
</cp:coreProperties>
</file>