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1"/>
  </p:notesMasterIdLst>
  <p:sldIdLst>
    <p:sldId id="256" r:id="rId2"/>
    <p:sldId id="260" r:id="rId3"/>
    <p:sldId id="307" r:id="rId4"/>
    <p:sldId id="308" r:id="rId5"/>
    <p:sldId id="309" r:id="rId6"/>
    <p:sldId id="306" r:id="rId7"/>
    <p:sldId id="302" r:id="rId8"/>
    <p:sldId id="310" r:id="rId9"/>
    <p:sldId id="261" r:id="rId10"/>
    <p:sldId id="258" r:id="rId11"/>
    <p:sldId id="262" r:id="rId12"/>
    <p:sldId id="304" r:id="rId13"/>
    <p:sldId id="305" r:id="rId14"/>
    <p:sldId id="263" r:id="rId15"/>
    <p:sldId id="264" r:id="rId16"/>
    <p:sldId id="266" r:id="rId17"/>
    <p:sldId id="267" r:id="rId18"/>
    <p:sldId id="268" r:id="rId19"/>
    <p:sldId id="269" r:id="rId20"/>
    <p:sldId id="318" r:id="rId21"/>
    <p:sldId id="319" r:id="rId22"/>
    <p:sldId id="270" r:id="rId23"/>
    <p:sldId id="271" r:id="rId24"/>
    <p:sldId id="273" r:id="rId25"/>
    <p:sldId id="274" r:id="rId26"/>
    <p:sldId id="275" r:id="rId27"/>
    <p:sldId id="272" r:id="rId28"/>
    <p:sldId id="276" r:id="rId29"/>
    <p:sldId id="277" r:id="rId3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370" autoAdjust="0"/>
    <p:restoredTop sz="94660"/>
  </p:normalViewPr>
  <p:slideViewPr>
    <p:cSldViewPr>
      <p:cViewPr varScale="1">
        <p:scale>
          <a:sx n="107" d="100"/>
          <a:sy n="107" d="100"/>
        </p:scale>
        <p:origin x="1752" y="11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C7DFBC-5142-424D-B61A-A56A10CA34D9}" type="datetimeFigureOut">
              <a:rPr lang="en-US" smtClean="0"/>
              <a:t>12/20/2022</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64520A-982C-44DE-A99B-760157F5113C}" type="slidenum">
              <a:rPr lang="en-US" smtClean="0"/>
              <a:t>‹#›</a:t>
            </a:fld>
            <a:endParaRPr lang="en-US"/>
          </a:p>
        </p:txBody>
      </p:sp>
    </p:spTree>
    <p:extLst>
      <p:ext uri="{BB962C8B-B14F-4D97-AF65-F5344CB8AC3E}">
        <p14:creationId xmlns:p14="http://schemas.microsoft.com/office/powerpoint/2010/main" val="39254666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364520A-982C-44DE-A99B-760157F5113C}" type="slidenum">
              <a:rPr lang="en-US" smtClean="0"/>
              <a:t>15</a:t>
            </a:fld>
            <a:endParaRPr lang="en-US"/>
          </a:p>
        </p:txBody>
      </p:sp>
    </p:spTree>
    <p:extLst>
      <p:ext uri="{BB962C8B-B14F-4D97-AF65-F5344CB8AC3E}">
        <p14:creationId xmlns:p14="http://schemas.microsoft.com/office/powerpoint/2010/main" val="39252447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fld id="{3BAF07F5-87D9-4868-AAFB-807E050D3A90}" type="datetimeFigureOut">
              <a:rPr lang="en-US" smtClean="0"/>
              <a:pPr/>
              <a:t>12/20/2022</a:t>
            </a:fld>
            <a:endParaRPr lang="en-US"/>
          </a:p>
        </p:txBody>
      </p:sp>
      <p:sp>
        <p:nvSpPr>
          <p:cNvPr id="17" name="Footer Placeholder 16"/>
          <p:cNvSpPr>
            <a:spLocks noGrp="1"/>
          </p:cNvSpPr>
          <p:nvPr>
            <p:ph type="ftr" sz="quarter" idx="11"/>
          </p:nvPr>
        </p:nvSpPr>
        <p:spPr/>
        <p:txBody>
          <a:bodyPr/>
          <a:lstStyle/>
          <a:p>
            <a:endParaRPr lang="en-US"/>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F1EB308A-33AB-43EA-861F-D0B3FACE98D6}" type="slidenum">
              <a:rPr lang="en-US" smtClean="0"/>
              <a:pPr/>
              <a:t>‹#›</a:t>
            </a:fld>
            <a:endParaRPr lang="en-US"/>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3BAF07F5-87D9-4868-AAFB-807E050D3A90}" type="datetimeFigureOut">
              <a:rPr lang="en-US" smtClean="0"/>
              <a:pPr/>
              <a:t>12/20/2022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EB308A-33AB-43EA-861F-D0B3FACE98D6}" type="slidenum">
              <a:rPr lang="en-US" smtClean="0"/>
              <a:pPr/>
              <a:t>‹#›</a:t>
            </a:fld>
            <a:endParaRPr lang="en-US"/>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a:t>Click to edit Master title style</a:t>
            </a:r>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3BAF07F5-87D9-4868-AAFB-807E050D3A90}" type="datetimeFigureOut">
              <a:rPr lang="en-US" smtClean="0"/>
              <a:pPr/>
              <a:t>12/20/2022</a:t>
            </a:fld>
            <a:endParaRPr lang="en-US"/>
          </a:p>
        </p:txBody>
      </p:sp>
      <p:sp>
        <p:nvSpPr>
          <p:cNvPr id="5" name="Footer Placeholder 4"/>
          <p:cNvSpPr>
            <a:spLocks noGrp="1"/>
          </p:cNvSpPr>
          <p:nvPr>
            <p:ph type="ftr" sz="quarter" idx="11"/>
          </p:nvPr>
        </p:nvSpPr>
        <p:spPr>
          <a:xfrm>
            <a:off x="800100" y="6172200"/>
            <a:ext cx="4000500" cy="457200"/>
          </a:xfrm>
        </p:spPr>
        <p:txBody>
          <a:bodyPr/>
          <a:lstStyle/>
          <a:p>
            <a:endParaRPr lang="en-US"/>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F1EB308A-33AB-43EA-861F-D0B3FACE98D6}"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3BAF07F5-87D9-4868-AAFB-807E050D3A90}" type="datetimeFigureOut">
              <a:rPr lang="en-US" smtClean="0"/>
              <a:pPr/>
              <a:t>12/20/2022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EB308A-33AB-43EA-861F-D0B3FACE98D6}" type="slidenum">
              <a:rPr lang="en-US" smtClean="0"/>
              <a:pPr/>
              <a:t>‹#›</a:t>
            </a:fld>
            <a:endParaRPr lang="en-US"/>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a:t>Click to edit Master title style</a:t>
            </a:r>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3BAF07F5-87D9-4868-AAFB-807E050D3A90}" type="datetimeFigureOut">
              <a:rPr lang="en-US" smtClean="0"/>
              <a:pPr/>
              <a:t>12/20/2022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1EB308A-33AB-43EA-861F-D0B3FACE98D6}" type="slidenum">
              <a:rPr lang="en-US" smtClean="0"/>
              <a:pPr/>
              <a:t>‹#›</a:t>
            </a:fld>
            <a:endParaRPr lang="en-US"/>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3BAF07F5-87D9-4868-AAFB-807E050D3A90}" type="datetimeFigureOut">
              <a:rPr lang="en-US" smtClean="0"/>
              <a:pPr/>
              <a:t>12/20/2022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1EB308A-33AB-43EA-861F-D0B3FACE98D6}"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BAF07F5-87D9-4868-AAFB-807E050D3A90}" type="datetimeFigureOut">
              <a:rPr lang="en-US" smtClean="0"/>
              <a:pPr/>
              <a:t>12/20/2022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1EB308A-33AB-43EA-861F-D0B3FACE98D6}"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3BAF07F5-87D9-4868-AAFB-807E050D3A90}" type="datetimeFigureOut">
              <a:rPr lang="en-US" smtClean="0"/>
              <a:pPr/>
              <a:t>12/20/2022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EB308A-33AB-43EA-861F-D0B3FACE98D6}" type="slidenum">
              <a:rPr lang="en-US" smtClean="0"/>
              <a:pPr/>
              <a:t>‹#›</a:t>
            </a:fld>
            <a:endParaRPr lang="en-US"/>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3BAF07F5-87D9-4868-AAFB-807E050D3A90}" type="datetimeFigureOut">
              <a:rPr lang="en-US" smtClean="0"/>
              <a:pPr/>
              <a:t>12/20/2022</a:t>
            </a:fld>
            <a:endParaRPr lang="en-US"/>
          </a:p>
        </p:txBody>
      </p:sp>
      <p:sp>
        <p:nvSpPr>
          <p:cNvPr id="6" name="Footer Placeholder 5"/>
          <p:cNvSpPr>
            <a:spLocks noGrp="1"/>
          </p:cNvSpPr>
          <p:nvPr>
            <p:ph type="ftr" sz="quarter" idx="11"/>
          </p:nvPr>
        </p:nvSpPr>
        <p:spPr>
          <a:xfrm>
            <a:off x="914400" y="6172200"/>
            <a:ext cx="3886200" cy="457200"/>
          </a:xfrm>
        </p:spPr>
        <p:txBody>
          <a:bodyPr/>
          <a:lstStyle/>
          <a:p>
            <a:endParaRPr lang="en-US"/>
          </a:p>
        </p:txBody>
      </p:sp>
      <p:sp>
        <p:nvSpPr>
          <p:cNvPr id="7" name="Slide Number Placeholder 6"/>
          <p:cNvSpPr>
            <a:spLocks noGrp="1"/>
          </p:cNvSpPr>
          <p:nvPr>
            <p:ph type="sldNum" sz="quarter" idx="12"/>
          </p:nvPr>
        </p:nvSpPr>
        <p:spPr>
          <a:xfrm>
            <a:off x="146304" y="6208776"/>
            <a:ext cx="457200" cy="457200"/>
          </a:xfrm>
        </p:spPr>
        <p:txBody>
          <a:bodyPr/>
          <a:lstStyle/>
          <a:p>
            <a:fld id="{F1EB308A-33AB-43EA-861F-D0B3FACE98D6}" type="slidenum">
              <a:rPr lang="en-US" smtClean="0"/>
              <a:pPr/>
              <a:t>‹#›</a:t>
            </a:fld>
            <a:endParaRPr lang="en-US"/>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3BAF07F5-87D9-4868-AAFB-807E050D3A90}" type="datetimeFigureOut">
              <a:rPr lang="en-US" smtClean="0"/>
              <a:pPr/>
              <a:t>12/20/2022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EB308A-33AB-43EA-861F-D0B3FACE98D6}"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3BAF07F5-87D9-4868-AAFB-807E050D3A90}" type="datetimeFigureOut">
              <a:rPr lang="en-US" smtClean="0"/>
              <a:pPr/>
              <a:t>12/20/2022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EB308A-33AB-43EA-861F-D0B3FACE98D6}"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a:t>Click to edit Master title style</a:t>
            </a:r>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3BAF07F5-87D9-4868-AAFB-807E050D3A90}" type="datetimeFigureOut">
              <a:rPr lang="en-US" smtClean="0"/>
              <a:pPr/>
              <a:t>12/20/2022</a:t>
            </a:fld>
            <a:endParaRPr lang="en-US"/>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US"/>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F1EB308A-33AB-43EA-861F-D0B3FACE98D6}"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ctrTitle"/>
          </p:nvPr>
        </p:nvSpPr>
        <p:spPr>
          <a:xfrm>
            <a:off x="457200" y="1524000"/>
            <a:ext cx="8229600" cy="1465870"/>
          </a:xfrm>
        </p:spPr>
        <p:txBody>
          <a:bodyPr/>
          <a:lstStyle/>
          <a:p>
            <a:r>
              <a:rPr lang="en-US" dirty="0"/>
              <a:t>UNIT IV – INTERNETWORKING</a:t>
            </a:r>
          </a:p>
        </p:txBody>
      </p:sp>
      <p:sp>
        <p:nvSpPr>
          <p:cNvPr id="6" name="TextBox 5"/>
          <p:cNvSpPr txBox="1"/>
          <p:nvPr/>
        </p:nvSpPr>
        <p:spPr>
          <a:xfrm>
            <a:off x="347133" y="3611940"/>
            <a:ext cx="8458200" cy="1569660"/>
          </a:xfrm>
          <a:prstGeom prst="rect">
            <a:avLst/>
          </a:prstGeom>
          <a:noFill/>
        </p:spPr>
        <p:txBody>
          <a:bodyPr wrap="square" rtlCol="0">
            <a:spAutoFit/>
          </a:bodyPr>
          <a:lstStyle/>
          <a:p>
            <a:r>
              <a:rPr lang="en-US" sz="3200" b="1" dirty="0">
                <a:latin typeface="Times New Roman" pitchFamily="18" charset="0"/>
                <a:cs typeface="Times New Roman" pitchFamily="18" charset="0"/>
              </a:rPr>
              <a:t>CODE:</a:t>
            </a:r>
            <a:r>
              <a:rPr lang="en-US" sz="3200" dirty="0">
                <a:latin typeface="Times New Roman" pitchFamily="18" charset="0"/>
                <a:cs typeface="Times New Roman" pitchFamily="18" charset="0"/>
              </a:rPr>
              <a:t> </a:t>
            </a:r>
            <a:r>
              <a:rPr lang="en-GB" sz="3200" dirty="0">
                <a:latin typeface="Times New Roman" panose="02020603050405020304" pitchFamily="18" charset="0"/>
                <a:cs typeface="Times New Roman" panose="02020603050405020304" pitchFamily="18" charset="0"/>
              </a:rPr>
              <a:t>IT 8137</a:t>
            </a:r>
            <a:endParaRPr lang="en-US" sz="3200" dirty="0">
              <a:latin typeface="Times New Roman" panose="02020603050405020304" pitchFamily="18" charset="0"/>
              <a:cs typeface="Times New Roman" pitchFamily="18" charset="0"/>
            </a:endParaRPr>
          </a:p>
          <a:p>
            <a:r>
              <a:rPr lang="en-US" sz="3200" b="1" dirty="0">
                <a:latin typeface="Times New Roman" pitchFamily="18" charset="0"/>
                <a:cs typeface="Times New Roman" pitchFamily="18" charset="0"/>
              </a:rPr>
              <a:t>FACILITATOR: </a:t>
            </a:r>
            <a:r>
              <a:rPr lang="en-US" sz="3200" dirty="0">
                <a:latin typeface="Times New Roman" pitchFamily="18" charset="0"/>
                <a:cs typeface="Times New Roman" pitchFamily="18" charset="0"/>
              </a:rPr>
              <a:t>FRANK </a:t>
            </a:r>
          </a:p>
          <a:p>
            <a:r>
              <a:rPr lang="en-US" sz="3200" b="1" dirty="0">
                <a:latin typeface="Times New Roman" pitchFamily="18" charset="0"/>
                <a:cs typeface="Times New Roman" pitchFamily="18" charset="0"/>
              </a:rPr>
              <a:t>EMAIL: </a:t>
            </a:r>
            <a:r>
              <a:rPr lang="en-US" sz="3200" dirty="0">
                <a:latin typeface="Times New Roman" pitchFamily="18" charset="0"/>
                <a:cs typeface="Times New Roman" pitchFamily="18" charset="0"/>
              </a:rPr>
              <a:t>frankibrahim25@gmail.com</a:t>
            </a:r>
          </a:p>
        </p:txBody>
      </p:sp>
      <p:sp>
        <p:nvSpPr>
          <p:cNvPr id="7" name="TextBox 6"/>
          <p:cNvSpPr txBox="1"/>
          <p:nvPr/>
        </p:nvSpPr>
        <p:spPr>
          <a:xfrm>
            <a:off x="118238" y="420469"/>
            <a:ext cx="8915400" cy="646331"/>
          </a:xfrm>
          <a:prstGeom prst="rect">
            <a:avLst/>
          </a:prstGeom>
          <a:noFill/>
        </p:spPr>
        <p:txBody>
          <a:bodyPr wrap="square" rtlCol="0">
            <a:spAutoFit/>
          </a:bodyPr>
          <a:lstStyle/>
          <a:p>
            <a:pPr algn="ctr"/>
            <a:r>
              <a:rPr lang="en-GB" sz="3600" b="1" dirty="0">
                <a:latin typeface="Times New Roman" panose="02020603050405020304" pitchFamily="18" charset="0"/>
                <a:cs typeface="Times New Roman" panose="02020603050405020304" pitchFamily="18" charset="0"/>
              </a:rPr>
              <a:t>COMPUTER NETWORKING</a:t>
            </a:r>
            <a:endParaRPr lang="en-US" sz="3600" b="1" dirty="0">
              <a:latin typeface="Times New Roman" panose="02020603050405020304" pitchFamily="18" charset="0"/>
              <a:cs typeface="Times New Roman"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0340" y="227647"/>
            <a:ext cx="8991600" cy="5632311"/>
          </a:xfrm>
          <a:prstGeom prst="rect">
            <a:avLst/>
          </a:prstGeom>
          <a:noFill/>
        </p:spPr>
        <p:txBody>
          <a:bodyPr wrap="square" rtlCol="0">
            <a:spAutoFit/>
          </a:bodyPr>
          <a:lstStyle/>
          <a:p>
            <a:r>
              <a:rPr lang="en-US" altLang="en-US" sz="3000" b="1" i="1" dirty="0">
                <a:solidFill>
                  <a:schemeClr val="accent2"/>
                </a:solidFill>
                <a:latin typeface="Gill Sans MT" panose="020B0502020104020203" pitchFamily="34" charset="0"/>
                <a:cs typeface="Times New Roman" pitchFamily="18" charset="0"/>
              </a:rPr>
              <a:t>Internetworking Models</a:t>
            </a:r>
          </a:p>
          <a:p>
            <a:pPr marL="457200" indent="-457200">
              <a:buFont typeface="Wingdings" panose="05000000000000000000" pitchFamily="2" charset="2"/>
              <a:buChar char="q"/>
            </a:pPr>
            <a:r>
              <a:rPr lang="en-US" altLang="en-US" sz="3000" dirty="0">
                <a:latin typeface="Gill Sans MT" panose="020B0502020104020203" pitchFamily="34" charset="0"/>
                <a:cs typeface="Times New Roman" pitchFamily="18" charset="0"/>
              </a:rPr>
              <a:t>When networks first came into being, computers could typically communicate only with computers from the same manufacturer.</a:t>
            </a:r>
          </a:p>
          <a:p>
            <a:pPr marL="457200" indent="-457200">
              <a:buFont typeface="Wingdings" panose="05000000000000000000" pitchFamily="2" charset="2"/>
              <a:buChar char="q"/>
            </a:pPr>
            <a:r>
              <a:rPr lang="en-US" altLang="en-US" sz="3000" dirty="0">
                <a:latin typeface="Gill Sans MT" panose="020B0502020104020203" pitchFamily="34" charset="0"/>
                <a:cs typeface="Times New Roman" pitchFamily="18" charset="0"/>
              </a:rPr>
              <a:t>In the late 1970s, the </a:t>
            </a:r>
            <a:r>
              <a:rPr lang="en-US" altLang="en-US" sz="3000" i="1" dirty="0">
                <a:latin typeface="Gill Sans MT" panose="020B0502020104020203" pitchFamily="34" charset="0"/>
                <a:cs typeface="Times New Roman" pitchFamily="18" charset="0"/>
              </a:rPr>
              <a:t>Open Systems Interconnection (OSI) reference model</a:t>
            </a:r>
            <a:r>
              <a:rPr lang="en-US" altLang="en-US" sz="3000" dirty="0">
                <a:latin typeface="Gill Sans MT" panose="020B0502020104020203" pitchFamily="34" charset="0"/>
                <a:cs typeface="Times New Roman" pitchFamily="18" charset="0"/>
              </a:rPr>
              <a:t> was created by the International Organization for Standardization (ISO) to break this barrier.</a:t>
            </a:r>
          </a:p>
          <a:p>
            <a:pPr marL="457200" indent="-457200">
              <a:buFont typeface="Wingdings" panose="05000000000000000000" pitchFamily="2" charset="2"/>
              <a:buChar char="q"/>
            </a:pPr>
            <a:r>
              <a:rPr lang="en-US" altLang="en-US" sz="3000" dirty="0">
                <a:latin typeface="Gill Sans MT" panose="020B0502020104020203" pitchFamily="34" charset="0"/>
                <a:cs typeface="Times New Roman" pitchFamily="18" charset="0"/>
              </a:rPr>
              <a:t>The OSI model was meant to help vendors create interoperable network devices and software in the form of protocols so that different vendor networks could work with each other.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0340" y="227647"/>
            <a:ext cx="8991600" cy="6555641"/>
          </a:xfrm>
          <a:prstGeom prst="rect">
            <a:avLst/>
          </a:prstGeom>
          <a:noFill/>
        </p:spPr>
        <p:txBody>
          <a:bodyPr wrap="square" rtlCol="0">
            <a:spAutoFit/>
          </a:bodyPr>
          <a:lstStyle/>
          <a:p>
            <a:pPr marL="457200" indent="-457200">
              <a:buFont typeface="Wingdings" panose="05000000000000000000" pitchFamily="2" charset="2"/>
              <a:buChar char="q"/>
            </a:pPr>
            <a:r>
              <a:rPr lang="en-US" sz="3000" dirty="0">
                <a:latin typeface="Gill Sans MT" panose="020B0502020104020203" pitchFamily="34" charset="0"/>
                <a:cs typeface="Times New Roman" pitchFamily="18" charset="0"/>
              </a:rPr>
              <a:t>The OSI model is the primary architectural model for networks that describes how data and network information are communicated from an application on one computer, through the network media, to an application on another computer.</a:t>
            </a:r>
          </a:p>
          <a:p>
            <a:endParaRPr lang="en-US" altLang="en-US" sz="3000" dirty="0">
              <a:latin typeface="Gill Sans MT" panose="020B0502020104020203" pitchFamily="34" charset="0"/>
              <a:cs typeface="Times New Roman" pitchFamily="18" charset="0"/>
            </a:endParaRPr>
          </a:p>
          <a:p>
            <a:r>
              <a:rPr lang="en-US" altLang="en-US" sz="3000" b="1" i="1" dirty="0">
                <a:solidFill>
                  <a:schemeClr val="accent2"/>
                </a:solidFill>
                <a:latin typeface="Gill Sans MT" panose="020B0502020104020203" pitchFamily="34" charset="0"/>
                <a:cs typeface="Times New Roman" pitchFamily="18" charset="0"/>
              </a:rPr>
              <a:t>The Layered Approach</a:t>
            </a:r>
          </a:p>
          <a:p>
            <a:pPr marL="457200" indent="-457200">
              <a:buFont typeface="Wingdings" panose="05000000000000000000" pitchFamily="2" charset="2"/>
              <a:buChar char="q"/>
            </a:pPr>
            <a:r>
              <a:rPr lang="en-US" altLang="en-US" sz="3000" dirty="0">
                <a:latin typeface="Gill Sans MT" panose="020B0502020104020203" pitchFamily="34" charset="0"/>
                <a:cs typeface="Times New Roman" pitchFamily="18" charset="0"/>
              </a:rPr>
              <a:t>A reference model is a conceptual blueprint of how communications should take place. </a:t>
            </a:r>
          </a:p>
          <a:p>
            <a:pPr marL="457200" indent="-457200">
              <a:buFont typeface="Wingdings" panose="05000000000000000000" pitchFamily="2" charset="2"/>
              <a:buChar char="q"/>
            </a:pPr>
            <a:r>
              <a:rPr lang="en-US" altLang="en-US" sz="3000" dirty="0">
                <a:latin typeface="Gill Sans MT" panose="020B0502020104020203" pitchFamily="34" charset="0"/>
                <a:cs typeface="Times New Roman" pitchFamily="18" charset="0"/>
              </a:rPr>
              <a:t>It addresses all the processes required for effective communication and divides these processes into logical groupings called layers</a:t>
            </a:r>
          </a:p>
          <a:p>
            <a:pPr marL="457200" indent="-457200">
              <a:buFont typeface="Wingdings" panose="05000000000000000000" pitchFamily="2" charset="2"/>
              <a:buChar char="q"/>
            </a:pPr>
            <a:r>
              <a:rPr lang="en-US" altLang="en-US" sz="3000" dirty="0">
                <a:latin typeface="Gill Sans MT" panose="020B0502020104020203" pitchFamily="34" charset="0"/>
                <a:cs typeface="Times New Roman" pitchFamily="18" charset="0"/>
              </a:rPr>
              <a:t>When a communication system is designed in this manner, it’s known as layered architecture.</a:t>
            </a:r>
          </a:p>
        </p:txBody>
      </p:sp>
    </p:spTree>
    <p:extLst>
      <p:ext uri="{BB962C8B-B14F-4D97-AF65-F5344CB8AC3E}">
        <p14:creationId xmlns:p14="http://schemas.microsoft.com/office/powerpoint/2010/main" val="22594414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0340" y="227647"/>
            <a:ext cx="8991600" cy="5632311"/>
          </a:xfrm>
          <a:prstGeom prst="rect">
            <a:avLst/>
          </a:prstGeom>
          <a:noFill/>
        </p:spPr>
        <p:txBody>
          <a:bodyPr wrap="square" rtlCol="0">
            <a:spAutoFit/>
          </a:bodyPr>
          <a:lstStyle/>
          <a:p>
            <a:r>
              <a:rPr lang="en-US" sz="3000" b="1" i="1" dirty="0">
                <a:solidFill>
                  <a:schemeClr val="accent2"/>
                </a:solidFill>
                <a:latin typeface="Gill Sans MT" panose="020B0502020104020203" pitchFamily="34" charset="0"/>
                <a:cs typeface="Times New Roman" pitchFamily="18" charset="0"/>
              </a:rPr>
              <a:t>Advantages of Reference Models</a:t>
            </a:r>
          </a:p>
          <a:p>
            <a:pPr marL="457200" indent="-457200">
              <a:buFont typeface="Wingdings" panose="05000000000000000000" pitchFamily="2" charset="2"/>
              <a:buChar char="q"/>
            </a:pPr>
            <a:r>
              <a:rPr lang="en-US" sz="3000" dirty="0">
                <a:latin typeface="Gill Sans MT" panose="020B0502020104020203" pitchFamily="34" charset="0"/>
                <a:cs typeface="Times New Roman" pitchFamily="18" charset="0"/>
              </a:rPr>
              <a:t>It divides the network communication process into smaller and simpler components, thus aiding component development, design, and troubleshooting.</a:t>
            </a:r>
          </a:p>
          <a:p>
            <a:pPr marL="457200" indent="-457200">
              <a:buFont typeface="Wingdings" panose="05000000000000000000" pitchFamily="2" charset="2"/>
              <a:buChar char="q"/>
            </a:pPr>
            <a:r>
              <a:rPr lang="en-US" sz="3000" dirty="0">
                <a:latin typeface="Gill Sans MT" panose="020B0502020104020203" pitchFamily="34" charset="0"/>
                <a:cs typeface="Times New Roman" pitchFamily="18" charset="0"/>
              </a:rPr>
              <a:t>It allows multiple-vendor development through standardization of network components.</a:t>
            </a:r>
          </a:p>
          <a:p>
            <a:pPr marL="457200" indent="-457200">
              <a:buFont typeface="Wingdings" panose="05000000000000000000" pitchFamily="2" charset="2"/>
              <a:buChar char="q"/>
            </a:pPr>
            <a:r>
              <a:rPr lang="en-US" sz="3000" dirty="0">
                <a:latin typeface="Gill Sans MT" panose="020B0502020104020203" pitchFamily="34" charset="0"/>
                <a:cs typeface="Times New Roman" pitchFamily="18" charset="0"/>
              </a:rPr>
              <a:t>It encourages industry standardization by defining what functions occur at each layer of the model.</a:t>
            </a:r>
          </a:p>
          <a:p>
            <a:pPr marL="457200" indent="-457200">
              <a:buFont typeface="Wingdings" panose="05000000000000000000" pitchFamily="2" charset="2"/>
              <a:buChar char="q"/>
            </a:pPr>
            <a:r>
              <a:rPr lang="en-US" sz="3000" dirty="0">
                <a:latin typeface="Gill Sans MT" panose="020B0502020104020203" pitchFamily="34" charset="0"/>
                <a:cs typeface="Times New Roman" pitchFamily="18" charset="0"/>
              </a:rPr>
              <a:t>It allows various types of network hardware and software to communicate.</a:t>
            </a:r>
          </a:p>
          <a:p>
            <a:pPr marL="457200" indent="-457200">
              <a:buFont typeface="Wingdings" panose="05000000000000000000" pitchFamily="2" charset="2"/>
              <a:buChar char="q"/>
            </a:pPr>
            <a:r>
              <a:rPr lang="en-US" sz="3000" dirty="0">
                <a:latin typeface="Gill Sans MT" panose="020B0502020104020203" pitchFamily="34" charset="0"/>
                <a:cs typeface="Times New Roman" pitchFamily="18" charset="0"/>
              </a:rPr>
              <a:t>It prevents changes in one layer from affecting other layers, so it does not hamper development.</a:t>
            </a:r>
            <a:endParaRPr lang="en-US" sz="3000" b="1" i="1" dirty="0">
              <a:latin typeface="Gill Sans MT" panose="020B0502020104020203" pitchFamily="34" charset="0"/>
              <a:cs typeface="Times New Roman" pitchFamily="18" charset="0"/>
            </a:endParaRPr>
          </a:p>
        </p:txBody>
      </p:sp>
    </p:spTree>
    <p:extLst>
      <p:ext uri="{BB962C8B-B14F-4D97-AF65-F5344CB8AC3E}">
        <p14:creationId xmlns:p14="http://schemas.microsoft.com/office/powerpoint/2010/main" val="23820223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0340" y="227647"/>
            <a:ext cx="8991600" cy="6555641"/>
          </a:xfrm>
          <a:prstGeom prst="rect">
            <a:avLst/>
          </a:prstGeom>
          <a:noFill/>
        </p:spPr>
        <p:txBody>
          <a:bodyPr wrap="square" rtlCol="0">
            <a:spAutoFit/>
          </a:bodyPr>
          <a:lstStyle/>
          <a:p>
            <a:r>
              <a:rPr lang="en-US" sz="3000" b="1" i="1" dirty="0">
                <a:solidFill>
                  <a:schemeClr val="accent2"/>
                </a:solidFill>
                <a:latin typeface="Gill Sans MT" panose="020B0502020104020203" pitchFamily="34" charset="0"/>
                <a:cs typeface="Times New Roman" pitchFamily="18" charset="0"/>
              </a:rPr>
              <a:t>The OSI Reference Model</a:t>
            </a:r>
          </a:p>
          <a:p>
            <a:pPr marL="457200" indent="-457200">
              <a:buFont typeface="Wingdings" panose="05000000000000000000" pitchFamily="2" charset="2"/>
              <a:buChar char="q"/>
            </a:pPr>
            <a:r>
              <a:rPr lang="en-US" sz="3000" dirty="0">
                <a:latin typeface="Gill Sans MT" panose="020B0502020104020203" pitchFamily="34" charset="0"/>
                <a:cs typeface="Times New Roman" pitchFamily="18" charset="0"/>
              </a:rPr>
              <a:t>The OSI isn’t a physical model, it’s a set of guidelines that application developers can use to create and implement applications that run on a network. </a:t>
            </a:r>
          </a:p>
          <a:p>
            <a:pPr marL="457200" indent="-457200">
              <a:buFont typeface="Wingdings" panose="05000000000000000000" pitchFamily="2" charset="2"/>
              <a:buChar char="q"/>
            </a:pPr>
            <a:r>
              <a:rPr lang="en-US" sz="3000" dirty="0">
                <a:latin typeface="Gill Sans MT" panose="020B0502020104020203" pitchFamily="34" charset="0"/>
                <a:cs typeface="Times New Roman" pitchFamily="18" charset="0"/>
              </a:rPr>
              <a:t>It also provides a framework for creating and implementing networking standards, devices, and internetworking schemes.</a:t>
            </a:r>
          </a:p>
          <a:p>
            <a:pPr marL="457200" indent="-457200">
              <a:buFont typeface="Wingdings" panose="05000000000000000000" pitchFamily="2" charset="2"/>
              <a:buChar char="q"/>
            </a:pPr>
            <a:r>
              <a:rPr lang="en-US" sz="3000" dirty="0">
                <a:latin typeface="Gill Sans MT" panose="020B0502020104020203" pitchFamily="34" charset="0"/>
                <a:cs typeface="Times New Roman" pitchFamily="18" charset="0"/>
              </a:rPr>
              <a:t>The OSI has seven different layers, divided into two groups. </a:t>
            </a:r>
          </a:p>
          <a:p>
            <a:pPr marL="914400" lvl="1" indent="-457200">
              <a:buFont typeface="Wingdings" panose="05000000000000000000" pitchFamily="2" charset="2"/>
              <a:buChar char="§"/>
            </a:pPr>
            <a:r>
              <a:rPr lang="en-US" sz="3000" dirty="0">
                <a:latin typeface="Gill Sans MT" panose="020B0502020104020203" pitchFamily="34" charset="0"/>
                <a:cs typeface="Times New Roman" pitchFamily="18" charset="0"/>
              </a:rPr>
              <a:t>The top three layers define how the applications within the end stations will communicate with each other and with users. </a:t>
            </a:r>
          </a:p>
          <a:p>
            <a:pPr marL="914400" lvl="1" indent="-457200">
              <a:buFont typeface="Wingdings" panose="05000000000000000000" pitchFamily="2" charset="2"/>
              <a:buChar char="§"/>
            </a:pPr>
            <a:r>
              <a:rPr lang="en-US" sz="3000" dirty="0">
                <a:latin typeface="Gill Sans MT" panose="020B0502020104020203" pitchFamily="34" charset="0"/>
                <a:cs typeface="Times New Roman" pitchFamily="18" charset="0"/>
              </a:rPr>
              <a:t>The bottom four layers define how data is transmitted end-to-end. </a:t>
            </a:r>
          </a:p>
        </p:txBody>
      </p:sp>
    </p:spTree>
    <p:extLst>
      <p:ext uri="{BB962C8B-B14F-4D97-AF65-F5344CB8AC3E}">
        <p14:creationId xmlns:p14="http://schemas.microsoft.com/office/powerpoint/2010/main" val="32656223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0340" y="227647"/>
            <a:ext cx="8991600" cy="6555641"/>
          </a:xfrm>
          <a:prstGeom prst="rect">
            <a:avLst/>
          </a:prstGeom>
          <a:noFill/>
        </p:spPr>
        <p:txBody>
          <a:bodyPr wrap="square" rtlCol="0">
            <a:spAutoFit/>
          </a:bodyPr>
          <a:lstStyle/>
          <a:p>
            <a:pPr marL="457200" indent="-457200">
              <a:buFont typeface="Wingdings" panose="05000000000000000000" pitchFamily="2" charset="2"/>
              <a:buChar char="q"/>
            </a:pPr>
            <a:r>
              <a:rPr lang="en-US" altLang="en-US" sz="3000" dirty="0">
                <a:latin typeface="Gill Sans MT" panose="020B0502020104020203" pitchFamily="34" charset="0"/>
                <a:cs typeface="Times New Roman" pitchFamily="18" charset="0"/>
              </a:rPr>
              <a:t>The OSI reference model has seven layers:</a:t>
            </a:r>
          </a:p>
          <a:p>
            <a:pPr marL="914400" lvl="1" indent="-457200">
              <a:buFont typeface="Wingdings" panose="05000000000000000000" pitchFamily="2" charset="2"/>
              <a:buChar char="§"/>
            </a:pPr>
            <a:r>
              <a:rPr lang="en-US" altLang="en-US" sz="3000" dirty="0">
                <a:latin typeface="Gill Sans MT" panose="020B0502020104020203" pitchFamily="34" charset="0"/>
                <a:cs typeface="Times New Roman" pitchFamily="18" charset="0"/>
              </a:rPr>
              <a:t>Application layer (layer 7)</a:t>
            </a:r>
          </a:p>
          <a:p>
            <a:pPr marL="914400" lvl="1" indent="-457200">
              <a:buFont typeface="Wingdings" panose="05000000000000000000" pitchFamily="2" charset="2"/>
              <a:buChar char="§"/>
            </a:pPr>
            <a:r>
              <a:rPr lang="en-US" altLang="en-US" sz="3000" dirty="0">
                <a:latin typeface="Gill Sans MT" panose="020B0502020104020203" pitchFamily="34" charset="0"/>
                <a:cs typeface="Times New Roman" pitchFamily="18" charset="0"/>
              </a:rPr>
              <a:t>Presentation layer (layer 6)</a:t>
            </a:r>
          </a:p>
          <a:p>
            <a:pPr marL="914400" lvl="1" indent="-457200">
              <a:buFont typeface="Wingdings" panose="05000000000000000000" pitchFamily="2" charset="2"/>
              <a:buChar char="§"/>
            </a:pPr>
            <a:r>
              <a:rPr lang="en-US" altLang="en-US" sz="3000" dirty="0">
                <a:latin typeface="Gill Sans MT" panose="020B0502020104020203" pitchFamily="34" charset="0"/>
                <a:cs typeface="Times New Roman" pitchFamily="18" charset="0"/>
              </a:rPr>
              <a:t>Session layer (layer 5)</a:t>
            </a:r>
          </a:p>
          <a:p>
            <a:pPr marL="914400" lvl="1" indent="-457200">
              <a:buFont typeface="Wingdings" panose="05000000000000000000" pitchFamily="2" charset="2"/>
              <a:buChar char="§"/>
            </a:pPr>
            <a:r>
              <a:rPr lang="en-US" altLang="en-US" sz="3000" dirty="0">
                <a:latin typeface="Gill Sans MT" panose="020B0502020104020203" pitchFamily="34" charset="0"/>
                <a:cs typeface="Times New Roman" pitchFamily="18" charset="0"/>
              </a:rPr>
              <a:t>Transport layer (layer 4)</a:t>
            </a:r>
          </a:p>
          <a:p>
            <a:pPr marL="914400" lvl="1" indent="-457200">
              <a:buFont typeface="Wingdings" panose="05000000000000000000" pitchFamily="2" charset="2"/>
              <a:buChar char="§"/>
            </a:pPr>
            <a:r>
              <a:rPr lang="en-US" altLang="en-US" sz="3000" dirty="0">
                <a:latin typeface="Gill Sans MT" panose="020B0502020104020203" pitchFamily="34" charset="0"/>
                <a:cs typeface="Times New Roman" pitchFamily="18" charset="0"/>
              </a:rPr>
              <a:t>Network layer (layer 3)</a:t>
            </a:r>
          </a:p>
          <a:p>
            <a:pPr marL="914400" lvl="1" indent="-457200">
              <a:buFont typeface="Wingdings" panose="05000000000000000000" pitchFamily="2" charset="2"/>
              <a:buChar char="§"/>
            </a:pPr>
            <a:r>
              <a:rPr lang="en-US" altLang="en-US" sz="3000" dirty="0">
                <a:latin typeface="Gill Sans MT" panose="020B0502020104020203" pitchFamily="34" charset="0"/>
                <a:cs typeface="Times New Roman" pitchFamily="18" charset="0"/>
              </a:rPr>
              <a:t>Data Link layer (layer 2)</a:t>
            </a:r>
          </a:p>
          <a:p>
            <a:pPr marL="914400" lvl="1" indent="-457200">
              <a:buFont typeface="Wingdings" panose="05000000000000000000" pitchFamily="2" charset="2"/>
              <a:buChar char="§"/>
            </a:pPr>
            <a:r>
              <a:rPr lang="en-US" altLang="en-US" sz="3000" dirty="0">
                <a:latin typeface="Gill Sans MT" panose="020B0502020104020203" pitchFamily="34" charset="0"/>
                <a:cs typeface="Times New Roman" pitchFamily="18" charset="0"/>
              </a:rPr>
              <a:t>Physical layer (layer 1)</a:t>
            </a:r>
          </a:p>
          <a:p>
            <a:pPr marL="914400" lvl="1" indent="-457200">
              <a:buFont typeface="Wingdings" panose="05000000000000000000" pitchFamily="2" charset="2"/>
              <a:buChar char="§"/>
            </a:pPr>
            <a:endParaRPr lang="en-US" altLang="en-US" sz="3000" dirty="0">
              <a:latin typeface="Gill Sans MT" panose="020B0502020104020203" pitchFamily="34" charset="0"/>
              <a:cs typeface="Times New Roman" pitchFamily="18" charset="0"/>
            </a:endParaRPr>
          </a:p>
          <a:p>
            <a:endParaRPr lang="en-US" altLang="en-US" sz="3000" dirty="0">
              <a:latin typeface="Gill Sans MT" panose="020B0502020104020203" pitchFamily="34" charset="0"/>
              <a:cs typeface="Times New Roman" pitchFamily="18" charset="0"/>
            </a:endParaRPr>
          </a:p>
          <a:p>
            <a:r>
              <a:rPr lang="en-US" altLang="en-US" sz="3000" b="1" i="1" dirty="0">
                <a:solidFill>
                  <a:schemeClr val="accent2"/>
                </a:solidFill>
                <a:latin typeface="Gill Sans MT" panose="020B0502020104020203" pitchFamily="34" charset="0"/>
                <a:cs typeface="Times New Roman" pitchFamily="18" charset="0"/>
              </a:rPr>
              <a:t>The Application Layer</a:t>
            </a:r>
          </a:p>
          <a:p>
            <a:pPr marL="457200" indent="-457200">
              <a:buFont typeface="Wingdings" panose="05000000000000000000" pitchFamily="2" charset="2"/>
              <a:buChar char="§"/>
            </a:pPr>
            <a:r>
              <a:rPr lang="en-US" altLang="en-US" sz="3000" dirty="0">
                <a:latin typeface="Gill Sans MT" panose="020B0502020104020203" pitchFamily="34" charset="0"/>
                <a:cs typeface="Times New Roman" pitchFamily="18" charset="0"/>
              </a:rPr>
              <a:t>The Application layer of the OSI model marks the spot where users actually communicate to the</a:t>
            </a:r>
          </a:p>
          <a:p>
            <a:pPr marL="457200" indent="-457200">
              <a:buFont typeface="Wingdings" panose="05000000000000000000" pitchFamily="2" charset="2"/>
              <a:buChar char="§"/>
            </a:pPr>
            <a:r>
              <a:rPr lang="en-US" altLang="en-US" sz="3000" dirty="0">
                <a:latin typeface="Gill Sans MT" panose="020B0502020104020203" pitchFamily="34" charset="0"/>
                <a:cs typeface="Times New Roman" pitchFamily="18" charset="0"/>
              </a:rPr>
              <a:t>computer. </a:t>
            </a:r>
          </a:p>
        </p:txBody>
      </p:sp>
    </p:spTree>
    <p:extLst>
      <p:ext uri="{BB962C8B-B14F-4D97-AF65-F5344CB8AC3E}">
        <p14:creationId xmlns:p14="http://schemas.microsoft.com/office/powerpoint/2010/main" val="37203685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0340" y="227647"/>
            <a:ext cx="8991600" cy="6555641"/>
          </a:xfrm>
          <a:prstGeom prst="rect">
            <a:avLst/>
          </a:prstGeom>
          <a:noFill/>
        </p:spPr>
        <p:txBody>
          <a:bodyPr wrap="square" rtlCol="0">
            <a:spAutoFit/>
          </a:bodyPr>
          <a:lstStyle/>
          <a:p>
            <a:pPr marL="457200" indent="-457200">
              <a:buFont typeface="Wingdings" panose="05000000000000000000" pitchFamily="2" charset="2"/>
              <a:buChar char="§"/>
            </a:pPr>
            <a:r>
              <a:rPr lang="en-US" sz="3000" dirty="0">
                <a:latin typeface="Gill Sans MT" panose="020B0502020104020203" pitchFamily="34" charset="0"/>
                <a:cs typeface="Times New Roman" pitchFamily="18" charset="0"/>
              </a:rPr>
              <a:t>This layer only comes into play when it’s apparent that access to the network is going to be needed soon.</a:t>
            </a:r>
          </a:p>
          <a:p>
            <a:pPr marL="457200" indent="-457200">
              <a:buFont typeface="Wingdings" panose="05000000000000000000" pitchFamily="2" charset="2"/>
              <a:buChar char="§"/>
            </a:pPr>
            <a:r>
              <a:rPr lang="en-US" sz="3000" dirty="0">
                <a:latin typeface="Gill Sans MT" panose="020B0502020104020203" pitchFamily="34" charset="0"/>
                <a:cs typeface="Times New Roman" pitchFamily="18" charset="0"/>
              </a:rPr>
              <a:t>The Application layer is also responsible for identifying and establishing the availability of the intended communication partner, and determining whether sufficient resources for the intended communication exist.</a:t>
            </a:r>
          </a:p>
          <a:p>
            <a:pPr marL="457200" indent="-457200">
              <a:buFont typeface="Wingdings" panose="05000000000000000000" pitchFamily="2" charset="2"/>
              <a:buChar char="§"/>
            </a:pPr>
            <a:endParaRPr lang="en-US" sz="3000" dirty="0">
              <a:latin typeface="Gill Sans MT" panose="020B0502020104020203" pitchFamily="34" charset="0"/>
              <a:cs typeface="Times New Roman" pitchFamily="18" charset="0"/>
            </a:endParaRPr>
          </a:p>
          <a:p>
            <a:r>
              <a:rPr lang="en-US" sz="3000" b="1" i="1" dirty="0">
                <a:solidFill>
                  <a:schemeClr val="accent2"/>
                </a:solidFill>
                <a:latin typeface="Gill Sans MT" panose="020B0502020104020203" pitchFamily="34" charset="0"/>
                <a:cs typeface="Times New Roman" pitchFamily="18" charset="0"/>
              </a:rPr>
              <a:t>The Presentation Layer</a:t>
            </a:r>
          </a:p>
          <a:p>
            <a:pPr marL="457200" indent="-457200">
              <a:buFont typeface="Wingdings" panose="05000000000000000000" pitchFamily="2" charset="2"/>
              <a:buChar char="§"/>
            </a:pPr>
            <a:r>
              <a:rPr lang="en-US" sz="3000" dirty="0">
                <a:latin typeface="Gill Sans MT" panose="020B0502020104020203" pitchFamily="34" charset="0"/>
                <a:cs typeface="Times New Roman" pitchFamily="18" charset="0"/>
              </a:rPr>
              <a:t>It presents data to the Application layer and is responsible for data translation and code formatting.</a:t>
            </a:r>
          </a:p>
          <a:p>
            <a:pPr marL="457200" indent="-457200">
              <a:buFont typeface="Wingdings" panose="05000000000000000000" pitchFamily="2" charset="2"/>
              <a:buChar char="§"/>
            </a:pPr>
            <a:r>
              <a:rPr lang="en-US" sz="3000" dirty="0">
                <a:latin typeface="Gill Sans MT" panose="020B0502020104020203" pitchFamily="34" charset="0"/>
                <a:cs typeface="Times New Roman" pitchFamily="18" charset="0"/>
              </a:rPr>
              <a:t>This layer is essentially a translator and provides coding and conversion functions.</a:t>
            </a:r>
          </a:p>
        </p:txBody>
      </p:sp>
    </p:spTree>
    <p:extLst>
      <p:ext uri="{BB962C8B-B14F-4D97-AF65-F5344CB8AC3E}">
        <p14:creationId xmlns:p14="http://schemas.microsoft.com/office/powerpoint/2010/main" val="40998784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0340" y="227647"/>
            <a:ext cx="8991600" cy="7017306"/>
          </a:xfrm>
          <a:prstGeom prst="rect">
            <a:avLst/>
          </a:prstGeom>
          <a:noFill/>
        </p:spPr>
        <p:txBody>
          <a:bodyPr wrap="square" rtlCol="0">
            <a:spAutoFit/>
          </a:bodyPr>
          <a:lstStyle/>
          <a:p>
            <a:pPr marL="457200" indent="-457200">
              <a:buFont typeface="Wingdings" panose="05000000000000000000" pitchFamily="2" charset="2"/>
              <a:buChar char="§"/>
            </a:pPr>
            <a:r>
              <a:rPr lang="en-US" sz="2900" dirty="0">
                <a:latin typeface="Gill Sans MT" panose="020B0502020104020203" pitchFamily="34" charset="0"/>
                <a:cs typeface="Times New Roman" pitchFamily="18" charset="0"/>
              </a:rPr>
              <a:t>The OSI has protocol standards that define how standard data should be formatted. Tasks like data compression, decompression, encryption, and decryption are associated with this layer.</a:t>
            </a:r>
          </a:p>
          <a:p>
            <a:pPr marL="457200" indent="-457200">
              <a:buFont typeface="Wingdings" panose="05000000000000000000" pitchFamily="2" charset="2"/>
              <a:buChar char="§"/>
            </a:pPr>
            <a:endParaRPr lang="en-US" sz="2900" dirty="0">
              <a:latin typeface="Gill Sans MT" panose="020B0502020104020203" pitchFamily="34" charset="0"/>
              <a:cs typeface="Times New Roman" pitchFamily="18" charset="0"/>
            </a:endParaRPr>
          </a:p>
          <a:p>
            <a:r>
              <a:rPr lang="en-US" sz="2900" b="1" i="1" dirty="0">
                <a:solidFill>
                  <a:schemeClr val="accent2"/>
                </a:solidFill>
                <a:latin typeface="Gill Sans MT" panose="020B0502020104020203" pitchFamily="34" charset="0"/>
                <a:cs typeface="Times New Roman" pitchFamily="18" charset="0"/>
              </a:rPr>
              <a:t>The Session Layer</a:t>
            </a:r>
          </a:p>
          <a:p>
            <a:pPr marL="457200" indent="-457200">
              <a:buFont typeface="Wingdings" panose="05000000000000000000" pitchFamily="2" charset="2"/>
              <a:buChar char="§"/>
            </a:pPr>
            <a:r>
              <a:rPr lang="en-US" sz="2900" dirty="0">
                <a:latin typeface="Gill Sans MT" panose="020B0502020104020203" pitchFamily="34" charset="0"/>
                <a:cs typeface="Times New Roman" pitchFamily="18" charset="0"/>
              </a:rPr>
              <a:t>The Session layer is responsible for setting up, managing, and then tearing down sessions between Presentation layer entities. </a:t>
            </a:r>
          </a:p>
          <a:p>
            <a:pPr marL="457200" indent="-457200">
              <a:buFont typeface="Wingdings" panose="05000000000000000000" pitchFamily="2" charset="2"/>
              <a:buChar char="§"/>
            </a:pPr>
            <a:r>
              <a:rPr lang="en-US" sz="2900" dirty="0">
                <a:latin typeface="Gill Sans MT" panose="020B0502020104020203" pitchFamily="34" charset="0"/>
                <a:cs typeface="Times New Roman" pitchFamily="18" charset="0"/>
              </a:rPr>
              <a:t>This layer also provides dialogue control between devices, or nodes. </a:t>
            </a:r>
          </a:p>
          <a:p>
            <a:pPr marL="457200" indent="-457200">
              <a:buFont typeface="Wingdings" panose="05000000000000000000" pitchFamily="2" charset="2"/>
              <a:buChar char="§"/>
            </a:pPr>
            <a:r>
              <a:rPr lang="en-US" sz="2900" dirty="0">
                <a:latin typeface="Gill Sans MT" panose="020B0502020104020203" pitchFamily="34" charset="0"/>
                <a:cs typeface="Times New Roman" pitchFamily="18" charset="0"/>
              </a:rPr>
              <a:t>It coordinates communication between systems, and serves to organize their communication by offering three different modes: simplex, half duplex, and full duplex.</a:t>
            </a:r>
          </a:p>
        </p:txBody>
      </p:sp>
    </p:spTree>
    <p:extLst>
      <p:ext uri="{BB962C8B-B14F-4D97-AF65-F5344CB8AC3E}">
        <p14:creationId xmlns:p14="http://schemas.microsoft.com/office/powerpoint/2010/main" val="40704049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0340" y="152400"/>
            <a:ext cx="8991600" cy="5632311"/>
          </a:xfrm>
          <a:prstGeom prst="rect">
            <a:avLst/>
          </a:prstGeom>
          <a:noFill/>
        </p:spPr>
        <p:txBody>
          <a:bodyPr wrap="square" rtlCol="0">
            <a:spAutoFit/>
          </a:bodyPr>
          <a:lstStyle/>
          <a:p>
            <a:pPr>
              <a:defRPr/>
            </a:pPr>
            <a:r>
              <a:rPr lang="en-US" sz="3000" b="1" i="1" dirty="0">
                <a:solidFill>
                  <a:schemeClr val="accent2"/>
                </a:solidFill>
                <a:latin typeface="Gill Sans MT" panose="020B0502020104020203" pitchFamily="34" charset="0"/>
                <a:cs typeface="Times New Roman" pitchFamily="18" charset="0"/>
              </a:rPr>
              <a:t>The Transport Layer</a:t>
            </a:r>
          </a:p>
          <a:p>
            <a:pPr marL="457200" indent="-457200">
              <a:buFont typeface="Wingdings" panose="05000000000000000000" pitchFamily="2" charset="2"/>
              <a:buChar char="q"/>
              <a:defRPr/>
            </a:pPr>
            <a:r>
              <a:rPr lang="en-US" sz="3000" dirty="0">
                <a:latin typeface="Gill Sans MT" panose="020B0502020104020203" pitchFamily="34" charset="0"/>
                <a:cs typeface="Times New Roman" pitchFamily="18" charset="0"/>
              </a:rPr>
              <a:t>The Transport layer segments and reassembles data into a data stream. </a:t>
            </a:r>
          </a:p>
          <a:p>
            <a:pPr marL="457200" indent="-457200">
              <a:buFont typeface="Wingdings" panose="05000000000000000000" pitchFamily="2" charset="2"/>
              <a:buChar char="q"/>
              <a:defRPr/>
            </a:pPr>
            <a:r>
              <a:rPr lang="en-US" sz="3000" dirty="0">
                <a:latin typeface="Gill Sans MT" panose="020B0502020104020203" pitchFamily="34" charset="0"/>
                <a:cs typeface="Times New Roman" pitchFamily="18" charset="0"/>
              </a:rPr>
              <a:t>They provide end-to-end data transport services and can establish a logical connection between the sending host and destination host on an internetwork.</a:t>
            </a:r>
          </a:p>
          <a:p>
            <a:pPr marL="457200" indent="-457200">
              <a:buFont typeface="Wingdings" panose="05000000000000000000" pitchFamily="2" charset="2"/>
              <a:buChar char="q"/>
              <a:defRPr/>
            </a:pPr>
            <a:r>
              <a:rPr lang="en-US" sz="3000" dirty="0">
                <a:latin typeface="Gill Sans MT" panose="020B0502020104020203" pitchFamily="34" charset="0"/>
                <a:cs typeface="Times New Roman" pitchFamily="18" charset="0"/>
              </a:rPr>
              <a:t>The Transport layer is responsible for providing mechanisms for multiplexing upper-layer applications, establishing sessions, and tearing down virtual circuits.</a:t>
            </a:r>
          </a:p>
          <a:p>
            <a:pPr marL="457200" indent="-457200">
              <a:buFont typeface="Wingdings" panose="05000000000000000000" pitchFamily="2" charset="2"/>
              <a:buChar char="q"/>
              <a:defRPr/>
            </a:pPr>
            <a:r>
              <a:rPr lang="en-US" sz="3000" dirty="0">
                <a:latin typeface="Gill Sans MT" panose="020B0502020104020203" pitchFamily="34" charset="0"/>
                <a:cs typeface="Times New Roman" pitchFamily="18" charset="0"/>
              </a:rPr>
              <a:t>The Transport layer can be connectionless or connection-oriented.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6200" y="76200"/>
            <a:ext cx="8991600" cy="6401753"/>
          </a:xfrm>
          <a:prstGeom prst="rect">
            <a:avLst/>
          </a:prstGeom>
          <a:noFill/>
        </p:spPr>
        <p:txBody>
          <a:bodyPr wrap="square" rtlCol="0">
            <a:spAutoFit/>
          </a:bodyPr>
          <a:lstStyle/>
          <a:p>
            <a:r>
              <a:rPr lang="en-US" sz="2900" b="1" i="1" dirty="0">
                <a:solidFill>
                  <a:schemeClr val="accent2"/>
                </a:solidFill>
                <a:latin typeface="Gill Sans MT" panose="020B0502020104020203" pitchFamily="34" charset="0"/>
                <a:cs typeface="Times New Roman" panose="02020603050405020304" pitchFamily="18" charset="0"/>
              </a:rPr>
              <a:t>The Network Layer</a:t>
            </a:r>
          </a:p>
          <a:p>
            <a:pPr marL="457200" indent="-457200">
              <a:buFont typeface="Wingdings" panose="05000000000000000000" pitchFamily="2" charset="2"/>
              <a:buChar char="§"/>
            </a:pPr>
            <a:r>
              <a:rPr lang="en-US" sz="2900" dirty="0">
                <a:latin typeface="Gill Sans MT" panose="020B0502020104020203" pitchFamily="34" charset="0"/>
                <a:cs typeface="Times New Roman" panose="02020603050405020304" pitchFamily="18" charset="0"/>
              </a:rPr>
              <a:t>The Network layer (also called layer 3) manages device addressing, tracks the location of devices on the network, and determines the best way to move data, which means that the Network layer must transport traffic between devices that aren’t locally attached.</a:t>
            </a:r>
          </a:p>
          <a:p>
            <a:pPr marL="457200" indent="-457200">
              <a:buFont typeface="Wingdings" panose="05000000000000000000" pitchFamily="2" charset="2"/>
              <a:buChar char="§"/>
            </a:pPr>
            <a:r>
              <a:rPr lang="en-US" sz="2900" dirty="0">
                <a:latin typeface="Gill Sans MT" panose="020B0502020104020203" pitchFamily="34" charset="0"/>
                <a:cs typeface="Times New Roman" panose="02020603050405020304" pitchFamily="18" charset="0"/>
              </a:rPr>
              <a:t>Routers (layer 3 devices) are specified at the Network layer and provide the routing services within an internetwork.</a:t>
            </a:r>
          </a:p>
          <a:p>
            <a:pPr marL="457200" indent="-457200">
              <a:buFont typeface="Wingdings" panose="05000000000000000000" pitchFamily="2" charset="2"/>
              <a:buChar char="§"/>
            </a:pPr>
            <a:endParaRPr lang="en-US" sz="2900" dirty="0">
              <a:latin typeface="Gill Sans MT" panose="020B0502020104020203" pitchFamily="34" charset="0"/>
              <a:cs typeface="Times New Roman" panose="02020603050405020304" pitchFamily="18" charset="0"/>
            </a:endParaRPr>
          </a:p>
          <a:p>
            <a:r>
              <a:rPr lang="en-US" sz="3000" b="1" i="1" dirty="0">
                <a:solidFill>
                  <a:schemeClr val="accent2"/>
                </a:solidFill>
                <a:latin typeface="Gill Sans MT" panose="020B0502020104020203" pitchFamily="34" charset="0"/>
                <a:cs typeface="Times New Roman" panose="02020603050405020304" pitchFamily="18" charset="0"/>
              </a:rPr>
              <a:t>The Data Link Layer</a:t>
            </a:r>
          </a:p>
          <a:p>
            <a:pPr marL="457200" indent="-457200">
              <a:buFont typeface="Wingdings" panose="05000000000000000000" pitchFamily="2" charset="2"/>
              <a:buChar char="§"/>
            </a:pPr>
            <a:r>
              <a:rPr lang="en-US" sz="3000" dirty="0">
                <a:latin typeface="Gill Sans MT" panose="020B0502020104020203" pitchFamily="34" charset="0"/>
                <a:cs typeface="Times New Roman" panose="02020603050405020304" pitchFamily="18" charset="0"/>
              </a:rPr>
              <a:t>The Data Link layer provides the physical transmission of the data and handles error notification, network topology, and flow control.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0340" y="79712"/>
            <a:ext cx="8991600" cy="6786473"/>
          </a:xfrm>
          <a:prstGeom prst="rect">
            <a:avLst/>
          </a:prstGeom>
          <a:noFill/>
        </p:spPr>
        <p:txBody>
          <a:bodyPr wrap="square" rtlCol="0">
            <a:spAutoFit/>
          </a:bodyPr>
          <a:lstStyle/>
          <a:p>
            <a:pPr marL="457200" indent="-457200" algn="just" fontAlgn="auto">
              <a:spcAft>
                <a:spcPts val="0"/>
              </a:spcAft>
              <a:buFont typeface="Wingdings" panose="05000000000000000000" pitchFamily="2" charset="2"/>
              <a:buChar char="§"/>
              <a:defRPr/>
            </a:pPr>
            <a:r>
              <a:rPr lang="en-US" sz="2900" dirty="0">
                <a:latin typeface="Gill Sans MT" panose="020B0502020104020203" pitchFamily="34" charset="0"/>
                <a:cs typeface="Times New Roman" pitchFamily="18" charset="0"/>
              </a:rPr>
              <a:t>This means that the Data Link layer will ensure that messages are delivered to the proper device on a LAN using hardware addresses, and translates messages from the Network layer into bits for the Physical layer to transmit.</a:t>
            </a:r>
          </a:p>
          <a:p>
            <a:pPr marL="457200" indent="-457200" algn="just" fontAlgn="auto">
              <a:spcAft>
                <a:spcPts val="0"/>
              </a:spcAft>
              <a:buFont typeface="Wingdings" panose="05000000000000000000" pitchFamily="2" charset="2"/>
              <a:buChar char="§"/>
              <a:defRPr/>
            </a:pPr>
            <a:r>
              <a:rPr lang="en-US" sz="2900" dirty="0">
                <a:latin typeface="Gill Sans MT" panose="020B0502020104020203" pitchFamily="34" charset="0"/>
                <a:cs typeface="Times New Roman" pitchFamily="18" charset="0"/>
              </a:rPr>
              <a:t>The Data Link layer formats the message into pieces, each called a </a:t>
            </a:r>
            <a:r>
              <a:rPr lang="en-US" sz="2900" i="1" dirty="0">
                <a:latin typeface="Gill Sans MT" panose="020B0502020104020203" pitchFamily="34" charset="0"/>
                <a:cs typeface="Times New Roman" pitchFamily="18" charset="0"/>
              </a:rPr>
              <a:t>data frame</a:t>
            </a:r>
            <a:r>
              <a:rPr lang="en-US" sz="2900" dirty="0">
                <a:latin typeface="Gill Sans MT" panose="020B0502020104020203" pitchFamily="34" charset="0"/>
                <a:cs typeface="Times New Roman" pitchFamily="18" charset="0"/>
              </a:rPr>
              <a:t>, and adds a customized header containing the hardware destination and source address.</a:t>
            </a:r>
          </a:p>
          <a:p>
            <a:pPr algn="just" fontAlgn="auto">
              <a:spcAft>
                <a:spcPts val="0"/>
              </a:spcAft>
              <a:defRPr/>
            </a:pPr>
            <a:endParaRPr lang="en-US" sz="2900" dirty="0">
              <a:latin typeface="Gill Sans MT" panose="020B0502020104020203" pitchFamily="34" charset="0"/>
              <a:cs typeface="Times New Roman" pitchFamily="18" charset="0"/>
            </a:endParaRPr>
          </a:p>
          <a:p>
            <a:pPr algn="just" fontAlgn="auto">
              <a:spcAft>
                <a:spcPts val="0"/>
              </a:spcAft>
              <a:defRPr/>
            </a:pPr>
            <a:r>
              <a:rPr lang="en-US" sz="2900" b="1" i="1" dirty="0">
                <a:solidFill>
                  <a:schemeClr val="accent2"/>
                </a:solidFill>
                <a:latin typeface="Gill Sans MT" panose="020B0502020104020203" pitchFamily="34" charset="0"/>
                <a:cs typeface="Times New Roman" pitchFamily="18" charset="0"/>
              </a:rPr>
              <a:t>The Physical Layer</a:t>
            </a:r>
          </a:p>
          <a:p>
            <a:pPr marL="457200" indent="-457200" algn="just" fontAlgn="auto">
              <a:spcAft>
                <a:spcPts val="0"/>
              </a:spcAft>
              <a:buFont typeface="Wingdings" panose="05000000000000000000" pitchFamily="2" charset="2"/>
              <a:buChar char="§"/>
              <a:defRPr/>
            </a:pPr>
            <a:r>
              <a:rPr lang="en-US" sz="2900" dirty="0">
                <a:latin typeface="Gill Sans MT" panose="020B0502020104020203" pitchFamily="34" charset="0"/>
                <a:cs typeface="Times New Roman" pitchFamily="18" charset="0"/>
              </a:rPr>
              <a:t>The Physical layer does two things: It sends bits and receives bits. Bits come only in values of 1 or 0. </a:t>
            </a:r>
          </a:p>
          <a:p>
            <a:pPr marL="457200" indent="-457200" algn="just" fontAlgn="auto">
              <a:spcAft>
                <a:spcPts val="0"/>
              </a:spcAft>
              <a:buFont typeface="Wingdings" panose="05000000000000000000" pitchFamily="2" charset="2"/>
              <a:buChar char="§"/>
              <a:defRPr/>
            </a:pPr>
            <a:r>
              <a:rPr lang="en-US" sz="2900" dirty="0">
                <a:latin typeface="Gill Sans MT" panose="020B0502020104020203" pitchFamily="34" charset="0"/>
                <a:cs typeface="Times New Roman" pitchFamily="18" charset="0"/>
              </a:rPr>
              <a:t>The Physical layer communicates directly with the various types of actual communication media.</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0340" y="79712"/>
            <a:ext cx="8991600" cy="3323987"/>
          </a:xfrm>
          <a:prstGeom prst="rect">
            <a:avLst/>
          </a:prstGeom>
          <a:noFill/>
        </p:spPr>
        <p:txBody>
          <a:bodyPr wrap="square" rtlCol="0">
            <a:spAutoFit/>
          </a:bodyPr>
          <a:lstStyle/>
          <a:p>
            <a:pPr marL="457200" indent="-457200" algn="just" fontAlgn="auto">
              <a:spcAft>
                <a:spcPts val="0"/>
              </a:spcAft>
              <a:buFont typeface="Wingdings" panose="05000000000000000000" pitchFamily="2" charset="2"/>
              <a:buChar char="§"/>
              <a:defRPr/>
            </a:pPr>
            <a:r>
              <a:rPr lang="en-US" sz="3000" dirty="0">
                <a:latin typeface="Gill Sans MT" panose="020B0502020104020203" pitchFamily="34" charset="0"/>
                <a:cs typeface="Times New Roman" pitchFamily="18" charset="0"/>
              </a:rPr>
              <a:t>The Physical layer specifies the electrical, mechanical, procedural, and functional requirements for activating, maintaining, and deactivating a physical link between end systems. </a:t>
            </a:r>
          </a:p>
          <a:p>
            <a:pPr marL="457200" indent="-457200" algn="just" fontAlgn="auto">
              <a:spcAft>
                <a:spcPts val="0"/>
              </a:spcAft>
              <a:buFont typeface="Wingdings" panose="05000000000000000000" pitchFamily="2" charset="2"/>
              <a:buChar char="§"/>
              <a:defRPr/>
            </a:pPr>
            <a:r>
              <a:rPr lang="en-US" sz="3000" dirty="0">
                <a:latin typeface="Gill Sans MT" panose="020B0502020104020203" pitchFamily="34" charset="0"/>
                <a:cs typeface="Times New Roman" pitchFamily="18" charset="0"/>
              </a:rPr>
              <a:t>This layer is also where you identify the interface between the data terminal equipment (DTE) and the data communication equipment (DCE).</a:t>
            </a:r>
          </a:p>
        </p:txBody>
      </p:sp>
    </p:spTree>
    <p:extLst>
      <p:ext uri="{BB962C8B-B14F-4D97-AF65-F5344CB8AC3E}">
        <p14:creationId xmlns:p14="http://schemas.microsoft.com/office/powerpoint/2010/main" val="11998107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0340" y="79712"/>
            <a:ext cx="8991600" cy="5616922"/>
          </a:xfrm>
          <a:prstGeom prst="rect">
            <a:avLst/>
          </a:prstGeom>
          <a:noFill/>
        </p:spPr>
        <p:txBody>
          <a:bodyPr wrap="square" rtlCol="0">
            <a:spAutoFit/>
          </a:bodyPr>
          <a:lstStyle/>
          <a:p>
            <a:pPr algn="just" fontAlgn="auto">
              <a:spcAft>
                <a:spcPts val="0"/>
              </a:spcAft>
              <a:defRPr/>
            </a:pPr>
            <a:r>
              <a:rPr lang="en-US" sz="2900" b="1" i="1" dirty="0">
                <a:solidFill>
                  <a:schemeClr val="accent2"/>
                </a:solidFill>
                <a:latin typeface="Gill Sans MT" panose="020B0502020104020203" pitchFamily="34" charset="0"/>
                <a:cs typeface="Times New Roman" pitchFamily="18" charset="0"/>
              </a:rPr>
              <a:t>Ethernet Networking</a:t>
            </a:r>
          </a:p>
          <a:p>
            <a:pPr marL="457200" indent="-457200" algn="just" fontAlgn="auto">
              <a:spcAft>
                <a:spcPts val="0"/>
              </a:spcAft>
              <a:buFont typeface="Wingdings" panose="05000000000000000000" pitchFamily="2" charset="2"/>
              <a:buChar char="q"/>
              <a:defRPr/>
            </a:pPr>
            <a:r>
              <a:rPr lang="en-US" sz="3000" dirty="0">
                <a:latin typeface="Gill Sans MT" panose="020B0502020104020203" pitchFamily="34" charset="0"/>
                <a:cs typeface="Times New Roman" pitchFamily="18" charset="0"/>
              </a:rPr>
              <a:t>Ethernet is a contention-based media access method that allows all hosts on a network to share the same link’s bandwidth.</a:t>
            </a:r>
          </a:p>
          <a:p>
            <a:pPr marL="457200" indent="-457200" algn="just" fontAlgn="auto">
              <a:spcAft>
                <a:spcPts val="0"/>
              </a:spcAft>
              <a:buFont typeface="Wingdings" panose="05000000000000000000" pitchFamily="2" charset="2"/>
              <a:buChar char="q"/>
              <a:defRPr/>
            </a:pPr>
            <a:r>
              <a:rPr lang="en-US" sz="3000" dirty="0">
                <a:latin typeface="Gill Sans MT" panose="020B0502020104020203" pitchFamily="34" charset="0"/>
                <a:cs typeface="Times New Roman" pitchFamily="18" charset="0"/>
              </a:rPr>
              <a:t>Ethernet is popular because it’s readily scalable, meaning that it’s comparatively easy to integrate new technologies, such as Fast Ethernet and Gigabit Ethernet, into an existing network infrastructure.</a:t>
            </a:r>
          </a:p>
          <a:p>
            <a:pPr marL="457200" indent="-457200" algn="just" fontAlgn="auto">
              <a:spcAft>
                <a:spcPts val="0"/>
              </a:spcAft>
              <a:buFont typeface="Wingdings" panose="05000000000000000000" pitchFamily="2" charset="2"/>
              <a:buChar char="q"/>
              <a:defRPr/>
            </a:pPr>
            <a:r>
              <a:rPr lang="en-US" sz="3000" dirty="0">
                <a:latin typeface="Gill Sans MT" panose="020B0502020104020203" pitchFamily="34" charset="0"/>
                <a:cs typeface="Times New Roman" pitchFamily="18" charset="0"/>
              </a:rPr>
              <a:t>It really pretty simple to implement and it makes troubleshooting fairly straightforward as well.</a:t>
            </a:r>
          </a:p>
          <a:p>
            <a:pPr marL="457200" indent="-457200" algn="just" fontAlgn="auto">
              <a:spcAft>
                <a:spcPts val="0"/>
              </a:spcAft>
              <a:buFont typeface="Wingdings" panose="05000000000000000000" pitchFamily="2" charset="2"/>
              <a:buChar char="q"/>
              <a:defRPr/>
            </a:pPr>
            <a:r>
              <a:rPr lang="en-US" sz="3000" dirty="0">
                <a:latin typeface="Gill Sans MT" panose="020B0502020104020203" pitchFamily="34" charset="0"/>
                <a:cs typeface="Times New Roman" pitchFamily="18" charset="0"/>
              </a:rPr>
              <a:t>Ethernet uses both Data Link and Physical layer specifications.</a:t>
            </a:r>
          </a:p>
        </p:txBody>
      </p:sp>
    </p:spTree>
    <p:extLst>
      <p:ext uri="{BB962C8B-B14F-4D97-AF65-F5344CB8AC3E}">
        <p14:creationId xmlns:p14="http://schemas.microsoft.com/office/powerpoint/2010/main" val="7828752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0340" y="42204"/>
            <a:ext cx="8991600" cy="6924973"/>
          </a:xfrm>
          <a:prstGeom prst="rect">
            <a:avLst/>
          </a:prstGeom>
          <a:noFill/>
        </p:spPr>
        <p:txBody>
          <a:bodyPr wrap="square" rtlCol="0">
            <a:spAutoFit/>
          </a:bodyPr>
          <a:lstStyle/>
          <a:p>
            <a:pPr algn="just"/>
            <a:r>
              <a:rPr lang="en-US" altLang="en-US" sz="3000" b="1" i="1" dirty="0">
                <a:solidFill>
                  <a:schemeClr val="accent2"/>
                </a:solidFill>
                <a:latin typeface="Gill Sans MT" panose="020B0502020104020203" pitchFamily="34" charset="0"/>
                <a:cs typeface="Times New Roman" pitchFamily="18" charset="0"/>
              </a:rPr>
              <a:t>Collision Domain</a:t>
            </a:r>
          </a:p>
          <a:p>
            <a:pPr marL="457200" indent="-457200" algn="just">
              <a:buFont typeface="Wingdings" panose="05000000000000000000" pitchFamily="2" charset="2"/>
              <a:buChar char="q"/>
            </a:pPr>
            <a:r>
              <a:rPr lang="en-US" altLang="en-US" sz="3000" dirty="0">
                <a:latin typeface="Gill Sans MT" panose="020B0502020104020203" pitchFamily="34" charset="0"/>
                <a:cs typeface="Times New Roman" pitchFamily="18" charset="0"/>
              </a:rPr>
              <a:t>Collision domain refers to a network scenario wherein one device sends a frame out on a physical network segment forcing every other device on the same segment to pay attention to it. </a:t>
            </a:r>
          </a:p>
          <a:p>
            <a:pPr marL="457200" indent="-457200" algn="just">
              <a:buFont typeface="Wingdings" panose="05000000000000000000" pitchFamily="2" charset="2"/>
              <a:buChar char="q"/>
            </a:pPr>
            <a:r>
              <a:rPr lang="en-US" altLang="en-US" sz="3000" dirty="0">
                <a:latin typeface="Gill Sans MT" panose="020B0502020104020203" pitchFamily="34" charset="0"/>
                <a:cs typeface="Times New Roman" pitchFamily="18" charset="0"/>
              </a:rPr>
              <a:t>This is bad because if two devices on a single physical segment just happen to transmit simultaneously, it will cause a collision and require these devices to retransmit. </a:t>
            </a:r>
          </a:p>
          <a:p>
            <a:pPr marL="457200" indent="-457200" algn="just">
              <a:buFont typeface="Wingdings" panose="05000000000000000000" pitchFamily="2" charset="2"/>
              <a:buChar char="q"/>
            </a:pPr>
            <a:r>
              <a:rPr lang="en-US" altLang="en-US" sz="3000" dirty="0">
                <a:latin typeface="Gill Sans MT" panose="020B0502020104020203" pitchFamily="34" charset="0"/>
                <a:cs typeface="Times New Roman" pitchFamily="18" charset="0"/>
              </a:rPr>
              <a:t>Think of a collision event as a situation where each device’s digital signals totally interfere with one another on the wire.</a:t>
            </a:r>
          </a:p>
          <a:p>
            <a:pPr marL="457200" indent="-457200" algn="just">
              <a:buFont typeface="Wingdings" panose="05000000000000000000" pitchFamily="2" charset="2"/>
              <a:buChar char="q"/>
            </a:pPr>
            <a:r>
              <a:rPr lang="en-US" altLang="en-US" sz="2800" b="1" dirty="0">
                <a:solidFill>
                  <a:schemeClr val="accent2"/>
                </a:solidFill>
                <a:latin typeface="Gill Sans MT" panose="020B0502020104020203" pitchFamily="34" charset="0"/>
                <a:cs typeface="Times New Roman" pitchFamily="18" charset="0"/>
              </a:rPr>
              <a:t>Broadcast Domain: </a:t>
            </a:r>
            <a:r>
              <a:rPr lang="en-US" altLang="en-US" sz="2800" dirty="0">
                <a:latin typeface="Gill Sans MT" panose="020B0502020104020203" pitchFamily="34" charset="0"/>
                <a:cs typeface="Times New Roman" pitchFamily="18" charset="0"/>
              </a:rPr>
              <a:t>refers to a group of devices on a specific network segment that hear all the broadcasts sent out on that specific network segment.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2060" y="72412"/>
            <a:ext cx="8991600" cy="6124754"/>
          </a:xfrm>
          <a:prstGeom prst="rect">
            <a:avLst/>
          </a:prstGeom>
        </p:spPr>
        <p:txBody>
          <a:bodyPr wrap="square">
            <a:spAutoFit/>
          </a:bodyPr>
          <a:lstStyle/>
          <a:p>
            <a:r>
              <a:rPr lang="en-US" altLang="en-US" sz="2800" b="1" i="1" dirty="0">
                <a:solidFill>
                  <a:schemeClr val="accent2"/>
                </a:solidFill>
                <a:latin typeface="Gill Sans MT" panose="020B0502020104020203" pitchFamily="34" charset="0"/>
                <a:cs typeface="Times New Roman" pitchFamily="18" charset="0"/>
              </a:rPr>
              <a:t>CSMA/CD</a:t>
            </a:r>
          </a:p>
          <a:p>
            <a:pPr marL="457200" indent="-457200">
              <a:buFont typeface="Wingdings" panose="05000000000000000000" pitchFamily="2" charset="2"/>
              <a:buChar char="q"/>
            </a:pPr>
            <a:r>
              <a:rPr lang="en-US" altLang="en-US" sz="2800" dirty="0">
                <a:latin typeface="Gill Sans MT" panose="020B0502020104020203" pitchFamily="34" charset="0"/>
                <a:cs typeface="Times New Roman" pitchFamily="18" charset="0"/>
              </a:rPr>
              <a:t>Ethernet networking uses a protocol called </a:t>
            </a:r>
            <a:r>
              <a:rPr lang="en-US" altLang="en-US" sz="2800" i="1" dirty="0">
                <a:latin typeface="Gill Sans MT" panose="020B0502020104020203" pitchFamily="34" charset="0"/>
                <a:cs typeface="Times New Roman" pitchFamily="18" charset="0"/>
              </a:rPr>
              <a:t>Carrier Sense Multiple Access with Collision Detection (CSMA/CD),</a:t>
            </a:r>
            <a:r>
              <a:rPr lang="en-US" altLang="en-US" sz="2800" dirty="0">
                <a:latin typeface="Gill Sans MT" panose="020B0502020104020203" pitchFamily="34" charset="0"/>
                <a:cs typeface="Times New Roman" pitchFamily="18" charset="0"/>
              </a:rPr>
              <a:t> which helps devices share the bandwidth evenly while preventing two devices from transmitting simultaneously on the same network medium. </a:t>
            </a:r>
          </a:p>
          <a:p>
            <a:pPr marL="457200" indent="-457200">
              <a:buFont typeface="Wingdings" panose="05000000000000000000" pitchFamily="2" charset="2"/>
              <a:buChar char="q"/>
            </a:pPr>
            <a:r>
              <a:rPr lang="en-US" altLang="en-US" sz="2800" dirty="0">
                <a:latin typeface="Gill Sans MT" panose="020B0502020104020203" pitchFamily="34" charset="0"/>
                <a:cs typeface="Times New Roman" pitchFamily="18" charset="0"/>
              </a:rPr>
              <a:t>CSMA/CD was actually created to overcome the problem of the collisions that occur when packets are transmitted from different nodes at the same time.</a:t>
            </a:r>
          </a:p>
          <a:p>
            <a:pPr marL="457200" indent="-457200">
              <a:buFont typeface="Wingdings" panose="05000000000000000000" pitchFamily="2" charset="2"/>
              <a:buChar char="q"/>
            </a:pPr>
            <a:r>
              <a:rPr lang="en-US" altLang="en-US" sz="2800" i="1" dirty="0">
                <a:latin typeface="Gill Sans MT" panose="020B0502020104020203" pitchFamily="34" charset="0"/>
                <a:cs typeface="Times New Roman" pitchFamily="18" charset="0"/>
              </a:rPr>
              <a:t>How does the CSMA/CD protocol work?</a:t>
            </a:r>
          </a:p>
          <a:p>
            <a:pPr marL="914400" lvl="1" indent="-457200">
              <a:buFont typeface="Wingdings" panose="05000000000000000000" pitchFamily="2" charset="2"/>
              <a:buChar char="§"/>
            </a:pPr>
            <a:r>
              <a:rPr lang="en-US" altLang="en-US" sz="2800" i="1" dirty="0">
                <a:latin typeface="Gill Sans MT" panose="020B0502020104020203" pitchFamily="34" charset="0"/>
                <a:cs typeface="Times New Roman" pitchFamily="18" charset="0"/>
              </a:rPr>
              <a:t>When a host wants to transmit over the network, it first checks for the presence of a digital signal on the wire. If all is clear and no other host is transmitting, the host will then proceed with its transmission.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0340" y="85573"/>
            <a:ext cx="9073660" cy="6740307"/>
          </a:xfrm>
          <a:prstGeom prst="rect">
            <a:avLst/>
          </a:prstGeom>
          <a:noFill/>
        </p:spPr>
        <p:txBody>
          <a:bodyPr wrap="square" rtlCol="0">
            <a:spAutoFit/>
          </a:bodyPr>
          <a:lstStyle/>
          <a:p>
            <a:pPr marL="457200" indent="-457200">
              <a:buFont typeface="Wingdings" panose="05000000000000000000" pitchFamily="2" charset="2"/>
              <a:buChar char="§"/>
            </a:pPr>
            <a:r>
              <a:rPr lang="en-US" sz="2700" dirty="0">
                <a:latin typeface="Gill Sans MT" panose="020B0502020104020203" pitchFamily="34" charset="0"/>
                <a:cs typeface="Times New Roman" pitchFamily="18" charset="0"/>
              </a:rPr>
              <a:t>The transmitting host constantly monitors the wire to make sure no other hosts begin transmitting. If the host detects another signal on the wire, it sends out an extended jam signal that causes all nodes on the segment to stop sending Data think busy signal.</a:t>
            </a:r>
          </a:p>
          <a:p>
            <a:pPr marL="457200" indent="-457200">
              <a:buFont typeface="Wingdings" panose="05000000000000000000" pitchFamily="2" charset="2"/>
              <a:buChar char="§"/>
            </a:pPr>
            <a:r>
              <a:rPr lang="en-US" sz="2700" dirty="0">
                <a:latin typeface="Gill Sans MT" panose="020B0502020104020203" pitchFamily="34" charset="0"/>
                <a:cs typeface="Times New Roman" pitchFamily="18" charset="0"/>
              </a:rPr>
              <a:t>The nodes respond to that jam signal by waiting a bit before attempting to transmit again.</a:t>
            </a:r>
          </a:p>
          <a:p>
            <a:endParaRPr lang="en-US" sz="2700" b="1" dirty="0">
              <a:latin typeface="Gill Sans MT" panose="020B0502020104020203" pitchFamily="34" charset="0"/>
              <a:cs typeface="Times New Roman" pitchFamily="18" charset="0"/>
            </a:endParaRPr>
          </a:p>
          <a:p>
            <a:r>
              <a:rPr lang="en-US" sz="2700" b="1" i="1" dirty="0">
                <a:solidFill>
                  <a:schemeClr val="accent2"/>
                </a:solidFill>
                <a:latin typeface="Gill Sans MT" panose="020B0502020104020203" pitchFamily="34" charset="0"/>
                <a:cs typeface="Times New Roman" pitchFamily="18" charset="0"/>
              </a:rPr>
              <a:t>Ethernet at the Data Link Layer</a:t>
            </a:r>
          </a:p>
          <a:p>
            <a:pPr marL="457200" indent="-457200">
              <a:buFont typeface="Wingdings" panose="05000000000000000000" pitchFamily="2" charset="2"/>
              <a:buChar char="q"/>
            </a:pPr>
            <a:r>
              <a:rPr lang="en-US" sz="2700" dirty="0">
                <a:latin typeface="Gill Sans MT" panose="020B0502020104020203" pitchFamily="34" charset="0"/>
                <a:cs typeface="Times New Roman" pitchFamily="18" charset="0"/>
              </a:rPr>
              <a:t>Ethernet at the Data Link layer is responsible for Ethernet addressing, commonly referred to as MAC or hardware addressing. </a:t>
            </a:r>
          </a:p>
          <a:p>
            <a:pPr marL="457200" indent="-457200">
              <a:buFont typeface="Wingdings" panose="05000000000000000000" pitchFamily="2" charset="2"/>
              <a:buChar char="q"/>
            </a:pPr>
            <a:r>
              <a:rPr lang="en-US" sz="2700" dirty="0">
                <a:latin typeface="Gill Sans MT" panose="020B0502020104020203" pitchFamily="34" charset="0"/>
                <a:cs typeface="Times New Roman" pitchFamily="18" charset="0"/>
              </a:rPr>
              <a:t>Ethernet is also responsible for framing packets received from the Network layer and preparing them for transmission on the local network through the Ethernet contention-based media access method.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0340" y="85573"/>
            <a:ext cx="9073660" cy="6370975"/>
          </a:xfrm>
          <a:prstGeom prst="rect">
            <a:avLst/>
          </a:prstGeom>
          <a:noFill/>
        </p:spPr>
        <p:txBody>
          <a:bodyPr wrap="square" rtlCol="0">
            <a:spAutoFit/>
          </a:bodyPr>
          <a:lstStyle/>
          <a:p>
            <a:r>
              <a:rPr lang="en-US" sz="2800" b="1" i="1" dirty="0">
                <a:solidFill>
                  <a:schemeClr val="accent2"/>
                </a:solidFill>
                <a:latin typeface="Gill Sans MT" panose="020B0502020104020203" pitchFamily="34" charset="0"/>
                <a:cs typeface="Times New Roman" pitchFamily="18" charset="0"/>
              </a:rPr>
              <a:t>Ethernet Addressing</a:t>
            </a:r>
          </a:p>
          <a:p>
            <a:pPr marL="457200" indent="-457200">
              <a:buFont typeface="Wingdings" panose="05000000000000000000" pitchFamily="2" charset="2"/>
              <a:buChar char="q"/>
            </a:pPr>
            <a:r>
              <a:rPr lang="en-US" sz="2800" dirty="0">
                <a:latin typeface="Gill Sans MT" panose="020B0502020104020203" pitchFamily="34" charset="0"/>
                <a:cs typeface="Times New Roman" pitchFamily="18" charset="0"/>
              </a:rPr>
              <a:t>It uses the Media Access Control (MAC) address burned into each and every Ethernet network interface card (NIC).</a:t>
            </a:r>
          </a:p>
          <a:p>
            <a:pPr marL="457200" indent="-457200">
              <a:buFont typeface="Wingdings" panose="05000000000000000000" pitchFamily="2" charset="2"/>
              <a:buChar char="q"/>
            </a:pPr>
            <a:r>
              <a:rPr lang="en-US" sz="2800" dirty="0">
                <a:latin typeface="Gill Sans MT" panose="020B0502020104020203" pitchFamily="34" charset="0"/>
                <a:cs typeface="Times New Roman" pitchFamily="18" charset="0"/>
              </a:rPr>
              <a:t>The MAC, or hardware, address is a 48-bit (6-byte) address written in a hexadecimal format.</a:t>
            </a:r>
          </a:p>
          <a:p>
            <a:endParaRPr lang="en-US" sz="3000" dirty="0">
              <a:latin typeface="Gill Sans MT" panose="020B0502020104020203" pitchFamily="34" charset="0"/>
              <a:cs typeface="Times New Roman" pitchFamily="18" charset="0"/>
            </a:endParaRPr>
          </a:p>
          <a:p>
            <a:r>
              <a:rPr lang="en-US" sz="3000" dirty="0">
                <a:latin typeface="Gill Sans MT" panose="020B0502020104020203" pitchFamily="34" charset="0"/>
                <a:cs typeface="Times New Roman" pitchFamily="18" charset="0"/>
              </a:rPr>
              <a:t>Ethernet addressing using MAC addresses</a:t>
            </a:r>
          </a:p>
          <a:p>
            <a:endParaRPr lang="en-US" sz="3000" dirty="0">
              <a:latin typeface="Gill Sans MT" panose="020B0502020104020203" pitchFamily="34" charset="0"/>
              <a:cs typeface="Times New Roman" pitchFamily="18" charset="0"/>
            </a:endParaRPr>
          </a:p>
          <a:p>
            <a:endParaRPr lang="en-US" sz="3000" dirty="0">
              <a:latin typeface="Gill Sans MT" panose="020B0502020104020203" pitchFamily="34" charset="0"/>
              <a:cs typeface="Times New Roman" pitchFamily="18" charset="0"/>
            </a:endParaRPr>
          </a:p>
          <a:p>
            <a:endParaRPr lang="en-US" sz="3000" dirty="0">
              <a:latin typeface="Gill Sans MT" panose="020B0502020104020203" pitchFamily="34" charset="0"/>
              <a:cs typeface="Times New Roman" pitchFamily="18" charset="0"/>
            </a:endParaRPr>
          </a:p>
          <a:p>
            <a:endParaRPr lang="en-US" sz="3000" dirty="0">
              <a:latin typeface="Gill Sans MT" panose="020B0502020104020203" pitchFamily="34" charset="0"/>
              <a:cs typeface="Times New Roman" pitchFamily="18" charset="0"/>
            </a:endParaRPr>
          </a:p>
          <a:p>
            <a:endParaRPr lang="en-US" sz="3000" dirty="0">
              <a:latin typeface="Gill Sans MT" panose="020B0502020104020203" pitchFamily="34" charset="0"/>
              <a:cs typeface="Times New Roman" pitchFamily="18" charset="0"/>
            </a:endParaRPr>
          </a:p>
          <a:p>
            <a:r>
              <a:rPr lang="en-US" sz="3000" dirty="0">
                <a:latin typeface="Gill Sans MT" panose="020B0502020104020203" pitchFamily="34" charset="0"/>
                <a:cs typeface="Times New Roman" pitchFamily="18" charset="0"/>
              </a:rPr>
              <a:t>                     </a:t>
            </a:r>
          </a:p>
        </p:txBody>
      </p:sp>
      <p:pic>
        <p:nvPicPr>
          <p:cNvPr id="5" name="Picture 4">
            <a:extLst>
              <a:ext uri="{FF2B5EF4-FFF2-40B4-BE49-F238E27FC236}">
                <a16:creationId xmlns:a16="http://schemas.microsoft.com/office/drawing/2014/main" id="{35D0CD63-720E-4798-948B-6539AEB65D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0" y="3886200"/>
            <a:ext cx="7467600" cy="1828800"/>
          </a:xfrm>
          <a:prstGeom prst="rect">
            <a:avLst/>
          </a:prstGeom>
        </p:spPr>
      </p:pic>
    </p:spTree>
    <p:extLst>
      <p:ext uri="{BB962C8B-B14F-4D97-AF65-F5344CB8AC3E}">
        <p14:creationId xmlns:p14="http://schemas.microsoft.com/office/powerpoint/2010/main" val="28270987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0340" y="85573"/>
            <a:ext cx="9073660" cy="7017306"/>
          </a:xfrm>
          <a:prstGeom prst="rect">
            <a:avLst/>
          </a:prstGeom>
          <a:noFill/>
        </p:spPr>
        <p:txBody>
          <a:bodyPr wrap="square" rtlCol="0">
            <a:spAutoFit/>
          </a:bodyPr>
          <a:lstStyle/>
          <a:p>
            <a:pPr marL="457200" indent="-457200">
              <a:buFont typeface="Wingdings" panose="05000000000000000000" pitchFamily="2" charset="2"/>
              <a:buChar char="q"/>
            </a:pPr>
            <a:r>
              <a:rPr lang="en-US" sz="3000" dirty="0">
                <a:latin typeface="Gill Sans MT" panose="020B0502020104020203" pitchFamily="34" charset="0"/>
                <a:cs typeface="Times New Roman" pitchFamily="18" charset="0"/>
              </a:rPr>
              <a:t>The organizationally unique identifier (OUI) is assigned by the IEEE to an organization.</a:t>
            </a:r>
          </a:p>
          <a:p>
            <a:pPr marL="914400" lvl="1" indent="-457200">
              <a:buFont typeface="Wingdings" panose="05000000000000000000" pitchFamily="2" charset="2"/>
              <a:buChar char="§"/>
            </a:pPr>
            <a:r>
              <a:rPr lang="en-US" sz="3000" dirty="0">
                <a:latin typeface="Gill Sans MT" panose="020B0502020104020203" pitchFamily="34" charset="0"/>
                <a:cs typeface="Times New Roman" pitchFamily="18" charset="0"/>
              </a:rPr>
              <a:t>It’s composed of 24 bits, or 3 bytes, and it in turn assigns a globally administered address also made up of 24 bits, or 3 bytes, that’s supposedly unique to each and every adapter an organization manufactures. </a:t>
            </a:r>
          </a:p>
          <a:p>
            <a:pPr marL="457200" indent="-457200">
              <a:buFont typeface="Wingdings" panose="05000000000000000000" pitchFamily="2" charset="2"/>
              <a:buChar char="q"/>
            </a:pPr>
            <a:r>
              <a:rPr lang="en-US" sz="3000" dirty="0">
                <a:latin typeface="Gill Sans MT" panose="020B0502020104020203" pitchFamily="34" charset="0"/>
                <a:cs typeface="Times New Roman" pitchFamily="18" charset="0"/>
              </a:rPr>
              <a:t>The high-order bit is the Individual/Group (I/G) bit.</a:t>
            </a:r>
          </a:p>
          <a:p>
            <a:pPr marL="914400" lvl="1" indent="-457200">
              <a:buFont typeface="Wingdings" panose="05000000000000000000" pitchFamily="2" charset="2"/>
              <a:buChar char="§"/>
            </a:pPr>
            <a:r>
              <a:rPr lang="en-US" sz="3000" dirty="0">
                <a:latin typeface="Gill Sans MT" panose="020B0502020104020203" pitchFamily="34" charset="0"/>
                <a:cs typeface="Times New Roman" pitchFamily="18" charset="0"/>
              </a:rPr>
              <a:t>When it has a value of 0, we can assume that the address is the MAC address of a device and that it may well appear in the source portion of the MAC header. </a:t>
            </a:r>
          </a:p>
          <a:p>
            <a:pPr marL="914400" lvl="1" indent="-457200">
              <a:buFont typeface="Wingdings" panose="05000000000000000000" pitchFamily="2" charset="2"/>
              <a:buChar char="§"/>
            </a:pPr>
            <a:r>
              <a:rPr lang="en-US" sz="3000" dirty="0">
                <a:latin typeface="Gill Sans MT" panose="020B0502020104020203" pitchFamily="34" charset="0"/>
                <a:cs typeface="Times New Roman" pitchFamily="18" charset="0"/>
              </a:rPr>
              <a:t>When it’s a 1, we can assume that the address represents either a broadcast or multicast address in Ethernet.</a:t>
            </a:r>
          </a:p>
        </p:txBody>
      </p:sp>
    </p:spTree>
    <p:extLst>
      <p:ext uri="{BB962C8B-B14F-4D97-AF65-F5344CB8AC3E}">
        <p14:creationId xmlns:p14="http://schemas.microsoft.com/office/powerpoint/2010/main" val="11261575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0340" y="85573"/>
            <a:ext cx="9073660" cy="5170646"/>
          </a:xfrm>
          <a:prstGeom prst="rect">
            <a:avLst/>
          </a:prstGeom>
          <a:noFill/>
        </p:spPr>
        <p:txBody>
          <a:bodyPr wrap="square" rtlCol="0">
            <a:spAutoFit/>
          </a:bodyPr>
          <a:lstStyle/>
          <a:p>
            <a:pPr marL="457200" indent="-457200">
              <a:buFont typeface="Wingdings" panose="05000000000000000000" pitchFamily="2" charset="2"/>
              <a:buChar char="q"/>
            </a:pPr>
            <a:r>
              <a:rPr lang="en-US" sz="3000" dirty="0">
                <a:latin typeface="Gill Sans MT" panose="020B0502020104020203" pitchFamily="34" charset="0"/>
                <a:cs typeface="Times New Roman" pitchFamily="18" charset="0"/>
              </a:rPr>
              <a:t>The next bit is the </a:t>
            </a:r>
            <a:r>
              <a:rPr lang="en-US" sz="3000" i="1" dirty="0">
                <a:latin typeface="Gill Sans MT" panose="020B0502020104020203" pitchFamily="34" charset="0"/>
                <a:cs typeface="Times New Roman" pitchFamily="18" charset="0"/>
              </a:rPr>
              <a:t>Global/Local bit(G/L)</a:t>
            </a:r>
            <a:r>
              <a:rPr lang="en-US" sz="3000" dirty="0">
                <a:latin typeface="Gill Sans MT" panose="020B0502020104020203" pitchFamily="34" charset="0"/>
                <a:cs typeface="Times New Roman" pitchFamily="18" charset="0"/>
              </a:rPr>
              <a:t>, or U/L bit, where U means universal. </a:t>
            </a:r>
          </a:p>
          <a:p>
            <a:pPr marL="914400" lvl="1" indent="-457200">
              <a:buFont typeface="Wingdings" panose="05000000000000000000" pitchFamily="2" charset="2"/>
              <a:buChar char="§"/>
            </a:pPr>
            <a:r>
              <a:rPr lang="en-US" sz="3000" dirty="0">
                <a:latin typeface="Gill Sans MT" panose="020B0502020104020203" pitchFamily="34" charset="0"/>
                <a:cs typeface="Times New Roman" pitchFamily="18" charset="0"/>
              </a:rPr>
              <a:t>When set to 0, this bit represents a globally administered address, as assigned by the IEEE, but when it’s a 1, it represents a locally governed and administered address. </a:t>
            </a:r>
          </a:p>
          <a:p>
            <a:pPr marL="914400" lvl="1" indent="-457200">
              <a:buFont typeface="Wingdings" panose="05000000000000000000" pitchFamily="2" charset="2"/>
              <a:buChar char="§"/>
            </a:pPr>
            <a:r>
              <a:rPr lang="en-US" sz="3000" dirty="0">
                <a:latin typeface="Gill Sans MT" panose="020B0502020104020203" pitchFamily="34" charset="0"/>
                <a:cs typeface="Times New Roman" pitchFamily="18" charset="0"/>
              </a:rPr>
              <a:t>The low-order 24 bits of an Ethernet address represent a locally administered or manufacturer-assigned code. This portion commonly starts with 24 0s for the first card made and continues in order until there are 24 1s for the last card made.</a:t>
            </a:r>
          </a:p>
        </p:txBody>
      </p:sp>
    </p:spTree>
    <p:extLst>
      <p:ext uri="{BB962C8B-B14F-4D97-AF65-F5344CB8AC3E}">
        <p14:creationId xmlns:p14="http://schemas.microsoft.com/office/powerpoint/2010/main" val="22039733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0340" y="85573"/>
            <a:ext cx="9073660" cy="7078861"/>
          </a:xfrm>
          <a:prstGeom prst="rect">
            <a:avLst/>
          </a:prstGeom>
          <a:noFill/>
        </p:spPr>
        <p:txBody>
          <a:bodyPr wrap="square" rtlCol="0">
            <a:spAutoFit/>
          </a:bodyPr>
          <a:lstStyle/>
          <a:p>
            <a:r>
              <a:rPr lang="en-US" sz="3000" b="1" dirty="0">
                <a:solidFill>
                  <a:schemeClr val="accent2"/>
                </a:solidFill>
                <a:latin typeface="Gill Sans MT" panose="020B0502020104020203" pitchFamily="34" charset="0"/>
                <a:cs typeface="Times New Roman" pitchFamily="18" charset="0"/>
              </a:rPr>
              <a:t>Ethernet at the Physical Layer</a:t>
            </a:r>
          </a:p>
          <a:p>
            <a:pPr marL="457200" indent="-457200">
              <a:buFont typeface="Wingdings" panose="05000000000000000000" pitchFamily="2" charset="2"/>
              <a:buChar char="q"/>
            </a:pPr>
            <a:r>
              <a:rPr lang="en-US" sz="2800" dirty="0">
                <a:latin typeface="Gill Sans MT" panose="020B0502020104020203" pitchFamily="34" charset="0"/>
                <a:cs typeface="Times New Roman" pitchFamily="18" charset="0"/>
              </a:rPr>
              <a:t>Ethernet was first implemented by a group called DIX, which stands for Digital, Intel, and Xerox. </a:t>
            </a:r>
          </a:p>
          <a:p>
            <a:pPr marL="457200" indent="-457200">
              <a:buFont typeface="Wingdings" panose="05000000000000000000" pitchFamily="2" charset="2"/>
              <a:buChar char="q"/>
            </a:pPr>
            <a:r>
              <a:rPr lang="en-US" sz="2800" dirty="0">
                <a:latin typeface="Gill Sans MT" panose="020B0502020104020203" pitchFamily="34" charset="0"/>
                <a:cs typeface="Times New Roman" pitchFamily="18" charset="0"/>
              </a:rPr>
              <a:t>They created and implemented the first Ethernet LAN specification, which the IEEE used to create the IEEE 802.3 committee. </a:t>
            </a:r>
          </a:p>
          <a:p>
            <a:pPr marL="457200" indent="-457200">
              <a:buFont typeface="Wingdings" panose="05000000000000000000" pitchFamily="2" charset="2"/>
              <a:buChar char="q"/>
            </a:pPr>
            <a:r>
              <a:rPr lang="en-US" sz="2800" dirty="0">
                <a:latin typeface="Gill Sans MT" panose="020B0502020104020203" pitchFamily="34" charset="0"/>
                <a:cs typeface="Times New Roman" pitchFamily="18" charset="0"/>
              </a:rPr>
              <a:t>This was a 10 Mbps network that ran on coax and then eventually twisted-pair and fiber physical media</a:t>
            </a:r>
            <a:r>
              <a:rPr lang="en-US" sz="3000" dirty="0">
                <a:latin typeface="Gill Sans MT" panose="020B0502020104020203" pitchFamily="34" charset="0"/>
                <a:cs typeface="Times New Roman" pitchFamily="18" charset="0"/>
              </a:rPr>
              <a:t>.</a:t>
            </a:r>
          </a:p>
          <a:p>
            <a:endParaRPr lang="en-US" sz="3000" dirty="0">
              <a:latin typeface="Gill Sans MT" panose="020B0502020104020203" pitchFamily="34" charset="0"/>
              <a:cs typeface="Times New Roman" pitchFamily="18" charset="0"/>
            </a:endParaRPr>
          </a:p>
          <a:p>
            <a:r>
              <a:rPr lang="en-US" sz="2800" i="1" dirty="0">
                <a:solidFill>
                  <a:schemeClr val="accent2"/>
                </a:solidFill>
                <a:latin typeface="Gill Sans MT" panose="020B0502020104020203" pitchFamily="34" charset="0"/>
                <a:cs typeface="Times New Roman" pitchFamily="18" charset="0"/>
              </a:rPr>
              <a:t>Some of the most common IEEE Ethernet standards </a:t>
            </a:r>
          </a:p>
          <a:p>
            <a:pPr marL="457200" indent="-457200">
              <a:buFont typeface="Wingdings" panose="05000000000000000000" pitchFamily="2" charset="2"/>
              <a:buChar char="q"/>
            </a:pPr>
            <a:r>
              <a:rPr lang="en-US" sz="2800" b="1" i="1" dirty="0">
                <a:solidFill>
                  <a:schemeClr val="accent2"/>
                </a:solidFill>
                <a:latin typeface="Gill Sans MT" panose="020B0502020104020203" pitchFamily="34" charset="0"/>
                <a:cs typeface="Times New Roman" pitchFamily="18" charset="0"/>
              </a:rPr>
              <a:t>10Base-T (IEEE 802.3) </a:t>
            </a:r>
            <a:r>
              <a:rPr lang="en-US" sz="2800" i="1" dirty="0">
                <a:latin typeface="Gill Sans MT" panose="020B0502020104020203" pitchFamily="34" charset="0"/>
                <a:cs typeface="Times New Roman" pitchFamily="18" charset="0"/>
              </a:rPr>
              <a:t>10 Mbps using category 3 unshielded twisted pair (UTP) wiring for runs up to 100 meters. </a:t>
            </a:r>
          </a:p>
          <a:p>
            <a:pPr marL="914400" lvl="1" indent="-457200">
              <a:buFont typeface="Wingdings" panose="05000000000000000000" pitchFamily="2" charset="2"/>
              <a:buChar char="§"/>
            </a:pPr>
            <a:r>
              <a:rPr lang="en-US" sz="2800" i="1" dirty="0">
                <a:latin typeface="Gill Sans MT" panose="020B0502020104020203" pitchFamily="34" charset="0"/>
                <a:cs typeface="Times New Roman" pitchFamily="18" charset="0"/>
              </a:rPr>
              <a:t>Each device must connect into a hub or switch, and you can have only one host per segment or wire. It uses a physical star topology and a logical bus.</a:t>
            </a:r>
          </a:p>
        </p:txBody>
      </p:sp>
    </p:spTree>
    <p:extLst>
      <p:ext uri="{BB962C8B-B14F-4D97-AF65-F5344CB8AC3E}">
        <p14:creationId xmlns:p14="http://schemas.microsoft.com/office/powerpoint/2010/main" val="17158307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0340" y="85573"/>
            <a:ext cx="9073660" cy="5447645"/>
          </a:xfrm>
          <a:prstGeom prst="rect">
            <a:avLst/>
          </a:prstGeom>
          <a:noFill/>
        </p:spPr>
        <p:txBody>
          <a:bodyPr wrap="square" rtlCol="0">
            <a:spAutoFit/>
          </a:bodyPr>
          <a:lstStyle/>
          <a:p>
            <a:pPr marL="457200" indent="-457200">
              <a:buFont typeface="Wingdings" panose="05000000000000000000" pitchFamily="2" charset="2"/>
              <a:buChar char="q"/>
            </a:pPr>
            <a:r>
              <a:rPr lang="en-US" sz="3000" b="1" i="1" dirty="0">
                <a:solidFill>
                  <a:schemeClr val="accent2"/>
                </a:solidFill>
                <a:latin typeface="Gill Sans MT" panose="020B0502020104020203" pitchFamily="34" charset="0"/>
                <a:cs typeface="Times New Roman" pitchFamily="18" charset="0"/>
              </a:rPr>
              <a:t>100Base-TX (IEEE 802.3u) </a:t>
            </a:r>
            <a:r>
              <a:rPr lang="en-US" sz="3000" dirty="0">
                <a:latin typeface="Gill Sans MT" panose="020B0502020104020203" pitchFamily="34" charset="0"/>
                <a:cs typeface="Times New Roman" pitchFamily="18" charset="0"/>
              </a:rPr>
              <a:t>100Base-TX, most commonly known as Fast Ethernet. Uses EIA/TIA category 5, 5E, or 6 UTP two-pair wiring. One user per segment; up to 100 meters long. </a:t>
            </a:r>
          </a:p>
          <a:p>
            <a:pPr marL="914400" lvl="1" indent="-457200">
              <a:buFont typeface="Wingdings" panose="05000000000000000000" pitchFamily="2" charset="2"/>
              <a:buChar char="§"/>
            </a:pPr>
            <a:r>
              <a:rPr lang="en-US" sz="3000" dirty="0">
                <a:latin typeface="Gill Sans MT" panose="020B0502020104020203" pitchFamily="34" charset="0"/>
                <a:cs typeface="Times New Roman" pitchFamily="18" charset="0"/>
              </a:rPr>
              <a:t>It uses an RJ45 connector with a physical star topology and a logical bus.</a:t>
            </a:r>
          </a:p>
          <a:p>
            <a:pPr marL="457200" indent="-457200">
              <a:buFont typeface="Wingdings" panose="05000000000000000000" pitchFamily="2" charset="2"/>
              <a:buChar char="q"/>
            </a:pPr>
            <a:r>
              <a:rPr lang="en-US" sz="2800" b="1" i="1" dirty="0">
                <a:solidFill>
                  <a:schemeClr val="accent2"/>
                </a:solidFill>
                <a:latin typeface="Gill Sans MT" panose="020B0502020104020203" pitchFamily="34" charset="0"/>
                <a:cs typeface="Times New Roman" pitchFamily="18" charset="0"/>
              </a:rPr>
              <a:t>100Base-FX (IEEE 802.3u) </a:t>
            </a:r>
            <a:r>
              <a:rPr lang="en-US" sz="2800" dirty="0">
                <a:latin typeface="Gill Sans MT" panose="020B0502020104020203" pitchFamily="34" charset="0"/>
                <a:cs typeface="Times New Roman" pitchFamily="18" charset="0"/>
              </a:rPr>
              <a:t>Uses fiber cabling 62.5/125-micron multimode fiber. Point-to-point topology; up to 412 meters long. It uses ST and SC connectors, which are media-interface connectors.</a:t>
            </a:r>
          </a:p>
          <a:p>
            <a:pPr marL="457200" indent="-457200">
              <a:buFont typeface="Wingdings" panose="05000000000000000000" pitchFamily="2" charset="2"/>
              <a:buChar char="q"/>
            </a:pPr>
            <a:r>
              <a:rPr lang="en-US" sz="2800" b="1" i="1" dirty="0">
                <a:solidFill>
                  <a:schemeClr val="accent2"/>
                </a:solidFill>
                <a:latin typeface="Gill Sans MT" panose="020B0502020104020203" pitchFamily="34" charset="0"/>
                <a:cs typeface="Times New Roman" pitchFamily="18" charset="0"/>
              </a:rPr>
              <a:t>1000Base-T (IEEE 802.3ab) </a:t>
            </a:r>
            <a:r>
              <a:rPr lang="en-US" sz="2800" dirty="0">
                <a:latin typeface="Gill Sans MT" panose="020B0502020104020203" pitchFamily="34" charset="0"/>
                <a:cs typeface="Times New Roman" pitchFamily="18" charset="0"/>
              </a:rPr>
              <a:t>Category 5, four-pair UTP wiring up to 100 meters long and up to 1 Gbps.</a:t>
            </a:r>
          </a:p>
        </p:txBody>
      </p:sp>
    </p:spTree>
    <p:extLst>
      <p:ext uri="{BB962C8B-B14F-4D97-AF65-F5344CB8AC3E}">
        <p14:creationId xmlns:p14="http://schemas.microsoft.com/office/powerpoint/2010/main" val="11820509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0340" y="85573"/>
            <a:ext cx="9073660" cy="6555641"/>
          </a:xfrm>
          <a:prstGeom prst="rect">
            <a:avLst/>
          </a:prstGeom>
          <a:noFill/>
        </p:spPr>
        <p:txBody>
          <a:bodyPr wrap="square" rtlCol="0">
            <a:spAutoFit/>
          </a:bodyPr>
          <a:lstStyle/>
          <a:p>
            <a:pPr algn="ctr"/>
            <a:r>
              <a:rPr lang="en-US" sz="3000" b="1" i="1" dirty="0">
                <a:latin typeface="Gill Sans MT" panose="020B0502020104020203" pitchFamily="34" charset="0"/>
                <a:cs typeface="Times New Roman" pitchFamily="18" charset="0"/>
              </a:rPr>
              <a:t>Lab works</a:t>
            </a:r>
          </a:p>
          <a:p>
            <a:r>
              <a:rPr lang="en-US" sz="3000" b="1" i="1" dirty="0">
                <a:solidFill>
                  <a:schemeClr val="accent2"/>
                </a:solidFill>
                <a:latin typeface="Gill Sans MT" panose="020B0502020104020203" pitchFamily="34" charset="0"/>
                <a:cs typeface="Times New Roman" pitchFamily="18" charset="0"/>
              </a:rPr>
              <a:t>Ethernet Cabling</a:t>
            </a:r>
          </a:p>
          <a:p>
            <a:r>
              <a:rPr lang="en-US" sz="3000" b="1" dirty="0">
                <a:latin typeface="Gill Sans MT" panose="020B0502020104020203" pitchFamily="34" charset="0"/>
                <a:cs typeface="Times New Roman" pitchFamily="18" charset="0"/>
              </a:rPr>
              <a:t>Media Connectors</a:t>
            </a:r>
          </a:p>
          <a:p>
            <a:pPr marL="457200" indent="-457200">
              <a:buFont typeface="Wingdings" panose="05000000000000000000" pitchFamily="2" charset="2"/>
              <a:buChar char="q"/>
            </a:pPr>
            <a:r>
              <a:rPr lang="en-US" sz="3000" dirty="0">
                <a:latin typeface="Gill Sans MT" panose="020B0502020104020203" pitchFamily="34" charset="0"/>
                <a:cs typeface="Times New Roman" pitchFamily="18" charset="0"/>
              </a:rPr>
              <a:t>A variety of connectors are used with the associated network media. </a:t>
            </a:r>
          </a:p>
          <a:p>
            <a:pPr marL="457200" indent="-457200">
              <a:buFont typeface="Wingdings" panose="05000000000000000000" pitchFamily="2" charset="2"/>
              <a:buChar char="q"/>
            </a:pPr>
            <a:r>
              <a:rPr lang="en-US" sz="3000" dirty="0">
                <a:latin typeface="Gill Sans MT" panose="020B0502020104020203" pitchFamily="34" charset="0"/>
                <a:cs typeface="Times New Roman" pitchFamily="18" charset="0"/>
              </a:rPr>
              <a:t>Media connectors attach to the transmission media and allow the physical connection into the computing device.</a:t>
            </a:r>
          </a:p>
          <a:p>
            <a:endParaRPr lang="en-US" sz="3000" dirty="0">
              <a:latin typeface="Gill Sans MT" panose="020B0502020104020203" pitchFamily="34" charset="0"/>
              <a:cs typeface="Times New Roman" pitchFamily="18" charset="0"/>
            </a:endParaRPr>
          </a:p>
          <a:p>
            <a:r>
              <a:rPr lang="en-US" sz="3000" b="1" dirty="0">
                <a:solidFill>
                  <a:schemeClr val="accent2"/>
                </a:solidFill>
                <a:latin typeface="Gill Sans MT" panose="020B0502020104020203" pitchFamily="34" charset="0"/>
                <a:cs typeface="Times New Roman" pitchFamily="18" charset="0"/>
              </a:rPr>
              <a:t>RJ-11 Connectors</a:t>
            </a:r>
          </a:p>
          <a:p>
            <a:pPr marL="457200" indent="-457200">
              <a:buFont typeface="Wingdings" panose="05000000000000000000" pitchFamily="2" charset="2"/>
              <a:buChar char="q"/>
            </a:pPr>
            <a:r>
              <a:rPr lang="en-US" sz="3000" dirty="0">
                <a:latin typeface="Gill Sans MT" panose="020B0502020104020203" pitchFamily="34" charset="0"/>
                <a:cs typeface="Times New Roman" pitchFamily="18" charset="0"/>
              </a:rPr>
              <a:t>RJ- (registered jack) 11 connectors are small plastic connectors used on telephone cables. They have capacity for six small pins.</a:t>
            </a:r>
          </a:p>
          <a:p>
            <a:endParaRPr lang="en-US" sz="3000" dirty="0">
              <a:latin typeface="Times New Roman" pitchFamily="18" charset="0"/>
              <a:cs typeface="Times New Roman" pitchFamily="18" charset="0"/>
            </a:endParaRPr>
          </a:p>
        </p:txBody>
      </p:sp>
    </p:spTree>
    <p:extLst>
      <p:ext uri="{BB962C8B-B14F-4D97-AF65-F5344CB8AC3E}">
        <p14:creationId xmlns:p14="http://schemas.microsoft.com/office/powerpoint/2010/main" val="2756853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5984" y="0"/>
            <a:ext cx="9073660" cy="5893921"/>
          </a:xfrm>
          <a:prstGeom prst="rect">
            <a:avLst/>
          </a:prstGeom>
          <a:noFill/>
        </p:spPr>
        <p:txBody>
          <a:bodyPr wrap="square" rtlCol="0">
            <a:spAutoFit/>
          </a:bodyPr>
          <a:lstStyle/>
          <a:p>
            <a:r>
              <a:rPr lang="en-US" sz="2900" b="1" i="1" dirty="0">
                <a:solidFill>
                  <a:schemeClr val="accent2"/>
                </a:solidFill>
                <a:latin typeface="Gill Sans MT" panose="020B0502020104020203" pitchFamily="34" charset="0"/>
                <a:cs typeface="Times New Roman" pitchFamily="18" charset="0"/>
              </a:rPr>
              <a:t>RJ-45 Connectors</a:t>
            </a:r>
          </a:p>
          <a:p>
            <a:pPr marL="457200" indent="-457200">
              <a:buFont typeface="Wingdings" panose="05000000000000000000" pitchFamily="2" charset="2"/>
              <a:buChar char="q"/>
            </a:pPr>
            <a:r>
              <a:rPr lang="en-US" sz="2900" dirty="0">
                <a:latin typeface="Gill Sans MT" panose="020B0502020104020203" pitchFamily="34" charset="0"/>
                <a:cs typeface="Times New Roman" pitchFamily="18" charset="0"/>
              </a:rPr>
              <a:t>RJ-45 connectors are used with twisted-pair cabling, the most prevalent network cable in use today. </a:t>
            </a:r>
          </a:p>
          <a:p>
            <a:pPr marL="457200" indent="-457200">
              <a:buFont typeface="Wingdings" panose="05000000000000000000" pitchFamily="2" charset="2"/>
              <a:buChar char="q"/>
            </a:pPr>
            <a:r>
              <a:rPr lang="en-US" sz="2900" dirty="0">
                <a:latin typeface="Gill Sans MT" panose="020B0502020104020203" pitchFamily="34" charset="0"/>
                <a:cs typeface="Times New Roman" pitchFamily="18" charset="0"/>
              </a:rPr>
              <a:t>RJ-45 connectors resemble the aforementioned RJ-11 phone jacks, but they support up to eight wires instead of the six supported by RJ-11 connectors.</a:t>
            </a:r>
          </a:p>
          <a:p>
            <a:endParaRPr lang="en-US" sz="2900" b="1" i="1" dirty="0">
              <a:latin typeface="Gill Sans MT" panose="020B0502020104020203" pitchFamily="34" charset="0"/>
              <a:cs typeface="Times New Roman" pitchFamily="18" charset="0"/>
            </a:endParaRPr>
          </a:p>
          <a:p>
            <a:r>
              <a:rPr lang="en-US" sz="2900" b="1" i="1" dirty="0">
                <a:solidFill>
                  <a:schemeClr val="accent2"/>
                </a:solidFill>
                <a:latin typeface="Gill Sans MT" panose="020B0502020104020203" pitchFamily="34" charset="0"/>
                <a:cs typeface="Times New Roman" pitchFamily="18" charset="0"/>
              </a:rPr>
              <a:t>568A and 568B Wiring Standards</a:t>
            </a:r>
          </a:p>
          <a:p>
            <a:pPr marL="457200" indent="-457200">
              <a:buFont typeface="Wingdings" panose="05000000000000000000" pitchFamily="2" charset="2"/>
              <a:buChar char="q"/>
            </a:pPr>
            <a:r>
              <a:rPr lang="en-US" sz="2900" dirty="0">
                <a:latin typeface="Gill Sans MT" panose="020B0502020104020203" pitchFamily="34" charset="0"/>
                <a:cs typeface="Times New Roman" pitchFamily="18" charset="0"/>
              </a:rPr>
              <a:t>568A and 568B are telecommunications standards from TIA and EIA.</a:t>
            </a:r>
          </a:p>
          <a:p>
            <a:pPr marL="457200" indent="-457200">
              <a:buFont typeface="Wingdings" panose="05000000000000000000" pitchFamily="2" charset="2"/>
              <a:buChar char="q"/>
            </a:pPr>
            <a:r>
              <a:rPr lang="en-US" sz="2900" dirty="0">
                <a:latin typeface="Gill Sans MT" panose="020B0502020104020203" pitchFamily="34" charset="0"/>
                <a:cs typeface="Times New Roman" pitchFamily="18" charset="0"/>
              </a:rPr>
              <a:t>These 568 standards specify the pin arrangements for the RJ-45 connectors on UTP or STP cables. </a:t>
            </a:r>
          </a:p>
          <a:p>
            <a:endParaRPr lang="en-US" sz="2900" dirty="0">
              <a:latin typeface="Times New Roman" pitchFamily="18" charset="0"/>
              <a:cs typeface="Times New Roman" pitchFamily="18" charset="0"/>
            </a:endParaRPr>
          </a:p>
        </p:txBody>
      </p:sp>
    </p:spTree>
    <p:extLst>
      <p:ext uri="{BB962C8B-B14F-4D97-AF65-F5344CB8AC3E}">
        <p14:creationId xmlns:p14="http://schemas.microsoft.com/office/powerpoint/2010/main" val="19233715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5984" y="0"/>
            <a:ext cx="9073660" cy="6093976"/>
          </a:xfrm>
          <a:prstGeom prst="rect">
            <a:avLst/>
          </a:prstGeom>
          <a:noFill/>
        </p:spPr>
        <p:txBody>
          <a:bodyPr wrap="square" rtlCol="0">
            <a:spAutoFit/>
          </a:bodyPr>
          <a:lstStyle/>
          <a:p>
            <a:pPr marL="457200" indent="-457200">
              <a:buFont typeface="Wingdings" panose="05000000000000000000" pitchFamily="2" charset="2"/>
              <a:buChar char="q"/>
            </a:pPr>
            <a:r>
              <a:rPr lang="en-US" sz="3000" dirty="0">
                <a:latin typeface="Gill Sans MT" panose="020B0502020104020203" pitchFamily="34" charset="0"/>
                <a:cs typeface="Times New Roman" pitchFamily="18" charset="0"/>
              </a:rPr>
              <a:t>The number 568 refers to the order in which the wires within the Category 5 cable are terminated and attached to the connector.</a:t>
            </a:r>
          </a:p>
          <a:p>
            <a:pPr marL="457200" indent="-457200">
              <a:buFont typeface="Wingdings" panose="05000000000000000000" pitchFamily="2" charset="2"/>
              <a:buChar char="q"/>
            </a:pPr>
            <a:r>
              <a:rPr lang="en-US" sz="3000" dirty="0">
                <a:latin typeface="Gill Sans MT" panose="020B0502020104020203" pitchFamily="34" charset="0"/>
                <a:cs typeface="Times New Roman" pitchFamily="18" charset="0"/>
              </a:rPr>
              <a:t>The 568A and 568B standards are quite similar; the difference is the order in which the pins are terminated. </a:t>
            </a:r>
          </a:p>
          <a:p>
            <a:pPr marL="457200" indent="-457200">
              <a:buFont typeface="Wingdings" panose="05000000000000000000" pitchFamily="2" charset="2"/>
              <a:buChar char="§"/>
            </a:pPr>
            <a:endParaRPr lang="en-US" sz="3000" dirty="0">
              <a:latin typeface="Times New Roman" pitchFamily="18" charset="0"/>
              <a:cs typeface="Times New Roman" pitchFamily="18" charset="0"/>
            </a:endParaRPr>
          </a:p>
          <a:p>
            <a:pPr marL="457200" indent="-457200">
              <a:buFont typeface="Wingdings" panose="05000000000000000000" pitchFamily="2" charset="2"/>
              <a:buChar char="§"/>
            </a:pPr>
            <a:endParaRPr lang="en-US" sz="3000" dirty="0">
              <a:latin typeface="Times New Roman" pitchFamily="18" charset="0"/>
              <a:cs typeface="Times New Roman" pitchFamily="18" charset="0"/>
            </a:endParaRPr>
          </a:p>
          <a:p>
            <a:pPr marL="457200" indent="-457200">
              <a:buFont typeface="Wingdings" panose="05000000000000000000" pitchFamily="2" charset="2"/>
              <a:buChar char="§"/>
            </a:pPr>
            <a:endParaRPr lang="en-US" sz="3000" dirty="0">
              <a:latin typeface="Times New Roman" pitchFamily="18" charset="0"/>
              <a:cs typeface="Times New Roman" pitchFamily="18" charset="0"/>
            </a:endParaRPr>
          </a:p>
          <a:p>
            <a:pPr marL="457200" indent="-457200">
              <a:buFont typeface="Wingdings" panose="05000000000000000000" pitchFamily="2" charset="2"/>
              <a:buChar char="§"/>
            </a:pPr>
            <a:endParaRPr lang="en-US" sz="3000" dirty="0">
              <a:latin typeface="Times New Roman" pitchFamily="18" charset="0"/>
              <a:cs typeface="Times New Roman" pitchFamily="18" charset="0"/>
            </a:endParaRPr>
          </a:p>
          <a:p>
            <a:pPr marL="457200" indent="-457200">
              <a:buFont typeface="Wingdings" panose="05000000000000000000" pitchFamily="2" charset="2"/>
              <a:buChar char="§"/>
            </a:pPr>
            <a:endParaRPr lang="en-US" sz="3000" dirty="0">
              <a:latin typeface="Times New Roman" pitchFamily="18" charset="0"/>
              <a:cs typeface="Times New Roman" pitchFamily="18" charset="0"/>
            </a:endParaRPr>
          </a:p>
          <a:p>
            <a:endParaRPr lang="en-US" sz="3000" b="1" i="1" dirty="0">
              <a:latin typeface="Times New Roman" pitchFamily="18" charset="0"/>
              <a:cs typeface="Times New Roman" pitchFamily="18" charset="0"/>
            </a:endParaRPr>
          </a:p>
          <a:p>
            <a:pPr marL="457200" indent="-457200">
              <a:buFont typeface="Wingdings" panose="05000000000000000000" pitchFamily="2" charset="2"/>
              <a:buChar char="q"/>
            </a:pPr>
            <a:endParaRPr lang="en-US" sz="3000" dirty="0">
              <a:latin typeface="Times New Roman" pitchFamily="18" charset="0"/>
              <a:cs typeface="Times New Roman" pitchFamily="18" charset="0"/>
            </a:endParaRPr>
          </a:p>
        </p:txBody>
      </p:sp>
      <p:pic>
        <p:nvPicPr>
          <p:cNvPr id="5" name="Picture 4">
            <a:extLst>
              <a:ext uri="{FF2B5EF4-FFF2-40B4-BE49-F238E27FC236}">
                <a16:creationId xmlns:a16="http://schemas.microsoft.com/office/drawing/2014/main" id="{B3D4137E-CC90-46D8-AC86-F15B1B36BB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600" y="3034547"/>
            <a:ext cx="7483488" cy="3482642"/>
          </a:xfrm>
          <a:prstGeom prst="rect">
            <a:avLst/>
          </a:prstGeom>
        </p:spPr>
      </p:pic>
    </p:spTree>
    <p:extLst>
      <p:ext uri="{BB962C8B-B14F-4D97-AF65-F5344CB8AC3E}">
        <p14:creationId xmlns:p14="http://schemas.microsoft.com/office/powerpoint/2010/main" val="7143144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5984" y="0"/>
            <a:ext cx="9073660" cy="5170646"/>
          </a:xfrm>
          <a:prstGeom prst="rect">
            <a:avLst/>
          </a:prstGeom>
          <a:noFill/>
        </p:spPr>
        <p:txBody>
          <a:bodyPr wrap="square" rtlCol="0">
            <a:spAutoFit/>
          </a:bodyPr>
          <a:lstStyle/>
          <a:p>
            <a:pPr marL="457200" indent="-457200">
              <a:buFont typeface="Wingdings" panose="05000000000000000000" pitchFamily="2" charset="2"/>
              <a:buChar char="q"/>
            </a:pPr>
            <a:r>
              <a:rPr lang="en-US" sz="3000" dirty="0">
                <a:latin typeface="Gill Sans MT" panose="020B0502020104020203" pitchFamily="34" charset="0"/>
                <a:cs typeface="Times New Roman" pitchFamily="18" charset="0"/>
              </a:rPr>
              <a:t>The types of Ethernet cables available are:</a:t>
            </a:r>
          </a:p>
          <a:p>
            <a:pPr marL="914400" lvl="1" indent="-457200">
              <a:buFont typeface="Wingdings" panose="05000000000000000000" pitchFamily="2" charset="2"/>
              <a:buChar char="v"/>
            </a:pPr>
            <a:r>
              <a:rPr lang="en-US" sz="3000" dirty="0">
                <a:latin typeface="Gill Sans MT" panose="020B0502020104020203" pitchFamily="34" charset="0"/>
                <a:cs typeface="Times New Roman" pitchFamily="18" charset="0"/>
              </a:rPr>
              <a:t>Straight-through cable</a:t>
            </a:r>
          </a:p>
          <a:p>
            <a:pPr marL="914400" lvl="1" indent="-457200">
              <a:buFont typeface="Wingdings" panose="05000000000000000000" pitchFamily="2" charset="2"/>
              <a:buChar char="v"/>
            </a:pPr>
            <a:r>
              <a:rPr lang="en-US" sz="3000" dirty="0">
                <a:latin typeface="Gill Sans MT" panose="020B0502020104020203" pitchFamily="34" charset="0"/>
                <a:cs typeface="Times New Roman" pitchFamily="18" charset="0"/>
              </a:rPr>
              <a:t>Crossover cable</a:t>
            </a:r>
          </a:p>
          <a:p>
            <a:pPr marL="914400" lvl="1" indent="-457200">
              <a:buFont typeface="Wingdings" panose="05000000000000000000" pitchFamily="2" charset="2"/>
              <a:buChar char="v"/>
            </a:pPr>
            <a:r>
              <a:rPr lang="en-US" sz="3000" dirty="0">
                <a:latin typeface="Gill Sans MT" panose="020B0502020104020203" pitchFamily="34" charset="0"/>
                <a:cs typeface="Times New Roman" pitchFamily="18" charset="0"/>
              </a:rPr>
              <a:t>Rolled cable</a:t>
            </a:r>
          </a:p>
          <a:p>
            <a:endParaRPr lang="en-US" sz="3000" dirty="0">
              <a:latin typeface="Gill Sans MT" panose="020B0502020104020203" pitchFamily="34" charset="0"/>
              <a:cs typeface="Times New Roman" pitchFamily="18" charset="0"/>
            </a:endParaRPr>
          </a:p>
          <a:p>
            <a:r>
              <a:rPr lang="en-US" sz="3000" b="1" i="1" dirty="0">
                <a:solidFill>
                  <a:schemeClr val="accent2"/>
                </a:solidFill>
                <a:latin typeface="Gill Sans MT" panose="020B0502020104020203" pitchFamily="34" charset="0"/>
                <a:cs typeface="Times New Roman" pitchFamily="18" charset="0"/>
              </a:rPr>
              <a:t>Straight Through Cable</a:t>
            </a:r>
          </a:p>
          <a:p>
            <a:pPr marL="457200" indent="-457200">
              <a:buFont typeface="Wingdings" panose="05000000000000000000" pitchFamily="2" charset="2"/>
              <a:buChar char="q"/>
            </a:pPr>
            <a:r>
              <a:rPr lang="en-US" sz="3000" dirty="0">
                <a:latin typeface="Gill Sans MT" panose="020B0502020104020203" pitchFamily="34" charset="0"/>
                <a:cs typeface="Times New Roman" pitchFamily="18" charset="0"/>
              </a:rPr>
              <a:t>A straight through cable is a type of twisted pair cable that is used in local area networks to connect a computer to a network hub such as a router or Router to switch or hub.</a:t>
            </a:r>
          </a:p>
          <a:p>
            <a:pPr marL="457200" indent="-457200">
              <a:buFont typeface="Wingdings" panose="05000000000000000000" pitchFamily="2" charset="2"/>
              <a:buChar char="q"/>
            </a:pPr>
            <a:r>
              <a:rPr lang="en-US" sz="3000" dirty="0">
                <a:latin typeface="Gill Sans MT" panose="020B0502020104020203" pitchFamily="34" charset="0"/>
                <a:cs typeface="Times New Roman" pitchFamily="18" charset="0"/>
              </a:rPr>
              <a:t>On a straight through cable, the wired pins match. </a:t>
            </a:r>
          </a:p>
        </p:txBody>
      </p:sp>
    </p:spTree>
    <p:extLst>
      <p:ext uri="{BB962C8B-B14F-4D97-AF65-F5344CB8AC3E}">
        <p14:creationId xmlns:p14="http://schemas.microsoft.com/office/powerpoint/2010/main" val="42477844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0340" y="19756"/>
            <a:ext cx="9073660" cy="5632311"/>
          </a:xfrm>
          <a:prstGeom prst="rect">
            <a:avLst/>
          </a:prstGeom>
          <a:noFill/>
        </p:spPr>
        <p:txBody>
          <a:bodyPr wrap="square" rtlCol="0">
            <a:spAutoFit/>
          </a:bodyPr>
          <a:lstStyle/>
          <a:p>
            <a:pPr marL="457200" indent="-457200">
              <a:buFont typeface="Wingdings" panose="05000000000000000000" pitchFamily="2" charset="2"/>
              <a:buChar char="q"/>
            </a:pPr>
            <a:r>
              <a:rPr lang="en-US" sz="3000" dirty="0">
                <a:latin typeface="Gill Sans MT" panose="020B0502020104020203" pitchFamily="34" charset="0"/>
                <a:cs typeface="Times New Roman" pitchFamily="18" charset="0"/>
              </a:rPr>
              <a:t>Straight through cable use one wiring standard: both ends use T568A wiring standard or both ends use T568B wiring standard. </a:t>
            </a:r>
          </a:p>
          <a:p>
            <a:pPr marL="457200" indent="-457200">
              <a:buFont typeface="Wingdings" panose="05000000000000000000" pitchFamily="2" charset="2"/>
              <a:buChar char="q"/>
            </a:pPr>
            <a:r>
              <a:rPr lang="en-US" sz="3000" dirty="0">
                <a:latin typeface="Gill Sans MT" panose="020B0502020104020203" pitchFamily="34" charset="0"/>
                <a:cs typeface="Times New Roman" pitchFamily="18" charset="0"/>
              </a:rPr>
              <a:t>The following figure shows a straight through cable of which both ends are wired as the T568B standard.</a:t>
            </a:r>
          </a:p>
          <a:p>
            <a:endParaRPr lang="en-US" sz="3000" dirty="0">
              <a:latin typeface="Times New Roman" pitchFamily="18" charset="0"/>
              <a:cs typeface="Times New Roman" pitchFamily="18" charset="0"/>
            </a:endParaRPr>
          </a:p>
          <a:p>
            <a:endParaRPr lang="en-US" sz="3000" dirty="0">
              <a:latin typeface="Times New Roman" pitchFamily="18" charset="0"/>
              <a:cs typeface="Times New Roman" pitchFamily="18" charset="0"/>
            </a:endParaRPr>
          </a:p>
          <a:p>
            <a:endParaRPr lang="en-US" sz="3000" dirty="0">
              <a:latin typeface="Times New Roman" pitchFamily="18" charset="0"/>
              <a:cs typeface="Times New Roman" pitchFamily="18" charset="0"/>
            </a:endParaRPr>
          </a:p>
          <a:p>
            <a:endParaRPr lang="en-US" sz="3000" dirty="0">
              <a:latin typeface="Times New Roman" pitchFamily="18" charset="0"/>
              <a:cs typeface="Times New Roman" pitchFamily="18" charset="0"/>
            </a:endParaRPr>
          </a:p>
          <a:p>
            <a:endParaRPr lang="en-US" sz="3000" dirty="0">
              <a:latin typeface="Times New Roman" pitchFamily="18" charset="0"/>
              <a:cs typeface="Times New Roman" pitchFamily="18" charset="0"/>
            </a:endParaRPr>
          </a:p>
          <a:p>
            <a:endParaRPr lang="en-US" sz="3000" dirty="0">
              <a:latin typeface="Times New Roman" pitchFamily="18" charset="0"/>
              <a:cs typeface="Times New Roman" pitchFamily="18" charset="0"/>
            </a:endParaRPr>
          </a:p>
          <a:p>
            <a:endParaRPr lang="en-US" sz="3000" dirty="0">
              <a:latin typeface="Times New Roman" pitchFamily="18" charset="0"/>
              <a:cs typeface="Times New Roman" pitchFamily="18" charset="0"/>
            </a:endParaRPr>
          </a:p>
        </p:txBody>
      </p:sp>
      <p:pic>
        <p:nvPicPr>
          <p:cNvPr id="5" name="Picture 4">
            <a:extLst>
              <a:ext uri="{FF2B5EF4-FFF2-40B4-BE49-F238E27FC236}">
                <a16:creationId xmlns:a16="http://schemas.microsoft.com/office/drawing/2014/main" id="{A62C2A9F-ACC1-4AB2-B8C3-95F23D0C1E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9200" y="2667000"/>
            <a:ext cx="7171041" cy="3680779"/>
          </a:xfrm>
          <a:prstGeom prst="rect">
            <a:avLst/>
          </a:prstGeom>
        </p:spPr>
      </p:pic>
    </p:spTree>
    <p:extLst>
      <p:ext uri="{BB962C8B-B14F-4D97-AF65-F5344CB8AC3E}">
        <p14:creationId xmlns:p14="http://schemas.microsoft.com/office/powerpoint/2010/main" val="8728725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5984" y="0"/>
            <a:ext cx="9073660" cy="4231928"/>
          </a:xfrm>
          <a:prstGeom prst="rect">
            <a:avLst/>
          </a:prstGeom>
          <a:noFill/>
        </p:spPr>
        <p:txBody>
          <a:bodyPr wrap="square" rtlCol="0">
            <a:spAutoFit/>
          </a:bodyPr>
          <a:lstStyle/>
          <a:p>
            <a:r>
              <a:rPr lang="en-US" sz="2900" b="1" i="1" dirty="0">
                <a:solidFill>
                  <a:schemeClr val="accent2"/>
                </a:solidFill>
                <a:latin typeface="Times New Roman" pitchFamily="18" charset="0"/>
                <a:cs typeface="Times New Roman" pitchFamily="18" charset="0"/>
              </a:rPr>
              <a:t>Crossover Cable</a:t>
            </a:r>
          </a:p>
          <a:p>
            <a:pPr marL="457200" indent="-457200">
              <a:buFont typeface="Wingdings" panose="05000000000000000000" pitchFamily="2" charset="2"/>
              <a:buChar char="q"/>
            </a:pPr>
            <a:r>
              <a:rPr lang="en-US" sz="3000" dirty="0">
                <a:latin typeface="Gill Sans MT" panose="020B0502020104020203" pitchFamily="34" charset="0"/>
                <a:cs typeface="Times New Roman" pitchFamily="18" charset="0"/>
              </a:rPr>
              <a:t>A crossover Ethernet cable is a type of Ethernet cable used to connect computing devices together directly. </a:t>
            </a:r>
          </a:p>
          <a:p>
            <a:pPr marL="457200" indent="-457200">
              <a:buFont typeface="Wingdings" panose="05000000000000000000" pitchFamily="2" charset="2"/>
              <a:buChar char="q"/>
            </a:pPr>
            <a:r>
              <a:rPr lang="en-US" sz="3000" dirty="0">
                <a:latin typeface="Gill Sans MT" panose="020B0502020104020203" pitchFamily="34" charset="0"/>
                <a:cs typeface="Times New Roman" pitchFamily="18" charset="0"/>
              </a:rPr>
              <a:t>The RJ45 crossover cable uses two different wiring standards: one end uses the T568A wiring standard and the other end uses the T568B wiring standard. </a:t>
            </a:r>
          </a:p>
          <a:p>
            <a:pPr marL="457200" indent="-457200">
              <a:buFont typeface="Wingdings" panose="05000000000000000000" pitchFamily="2" charset="2"/>
              <a:buChar char="q"/>
            </a:pPr>
            <a:r>
              <a:rPr lang="en-US" sz="3000" dirty="0">
                <a:latin typeface="Gill Sans MT" panose="020B0502020104020203" pitchFamily="34" charset="0"/>
                <a:cs typeface="Times New Roman" pitchFamily="18" charset="0"/>
              </a:rPr>
              <a:t>It is most often used to connect two devices of the same type: e.g. two computers (via network interface controller) or two switches to each other.</a:t>
            </a:r>
          </a:p>
        </p:txBody>
      </p:sp>
      <p:pic>
        <p:nvPicPr>
          <p:cNvPr id="4" name="Picture 3">
            <a:extLst>
              <a:ext uri="{FF2B5EF4-FFF2-40B4-BE49-F238E27FC236}">
                <a16:creationId xmlns:a16="http://schemas.microsoft.com/office/drawing/2014/main" id="{21B156F1-14DB-4D23-A9A5-B3FB86A035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5400" y="4231928"/>
            <a:ext cx="7239627" cy="2514600"/>
          </a:xfrm>
          <a:prstGeom prst="rect">
            <a:avLst/>
          </a:prstGeom>
        </p:spPr>
      </p:pic>
    </p:spTree>
    <p:extLst>
      <p:ext uri="{BB962C8B-B14F-4D97-AF65-F5344CB8AC3E}">
        <p14:creationId xmlns:p14="http://schemas.microsoft.com/office/powerpoint/2010/main" val="10264137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5984" y="0"/>
            <a:ext cx="9073660" cy="7017306"/>
          </a:xfrm>
          <a:prstGeom prst="rect">
            <a:avLst/>
          </a:prstGeom>
          <a:noFill/>
        </p:spPr>
        <p:txBody>
          <a:bodyPr wrap="square" rtlCol="0">
            <a:spAutoFit/>
          </a:bodyPr>
          <a:lstStyle/>
          <a:p>
            <a:r>
              <a:rPr lang="en-US" sz="3000" i="1" dirty="0">
                <a:latin typeface="Gill Sans MT" panose="020B0502020104020203" pitchFamily="34" charset="0"/>
                <a:cs typeface="Times New Roman" pitchFamily="18" charset="0"/>
              </a:rPr>
              <a:t>Straight through vs Crossover Cable</a:t>
            </a:r>
          </a:p>
          <a:p>
            <a:pPr marL="457200" indent="-457200">
              <a:buFont typeface="Wingdings" panose="05000000000000000000" pitchFamily="2" charset="2"/>
              <a:buChar char="q"/>
            </a:pPr>
            <a:r>
              <a:rPr lang="en-US" sz="3000" dirty="0">
                <a:latin typeface="Gill Sans MT" panose="020B0502020104020203" pitchFamily="34" charset="0"/>
                <a:cs typeface="Times New Roman" pitchFamily="18" charset="0"/>
              </a:rPr>
              <a:t>Usually, straight through cables are primarily used for connecting unlike devices. And crossover cables are use for connecting alike devices.</a:t>
            </a:r>
          </a:p>
          <a:p>
            <a:pPr marL="457200" indent="-457200">
              <a:buFont typeface="Wingdings" panose="05000000000000000000" pitchFamily="2" charset="2"/>
              <a:buChar char="q"/>
            </a:pPr>
            <a:endParaRPr lang="en-US" sz="3000" dirty="0">
              <a:latin typeface="Gill Sans MT" panose="020B0502020104020203" pitchFamily="34" charset="0"/>
              <a:cs typeface="Times New Roman" pitchFamily="18" charset="0"/>
            </a:endParaRPr>
          </a:p>
          <a:p>
            <a:pPr marL="457200" indent="-457200">
              <a:buFont typeface="Wingdings" panose="05000000000000000000" pitchFamily="2" charset="2"/>
              <a:buChar char="q"/>
            </a:pPr>
            <a:r>
              <a:rPr lang="en-US" sz="3000" dirty="0">
                <a:latin typeface="Gill Sans MT" panose="020B0502020104020203" pitchFamily="34" charset="0"/>
                <a:cs typeface="Times New Roman" pitchFamily="18" charset="0"/>
              </a:rPr>
              <a:t>Use straight through Ethernet cable for the following cabling:</a:t>
            </a:r>
          </a:p>
          <a:p>
            <a:pPr marL="914400" lvl="1" indent="-457200">
              <a:buFont typeface="Wingdings" panose="05000000000000000000" pitchFamily="2" charset="2"/>
              <a:buChar char="v"/>
            </a:pPr>
            <a:r>
              <a:rPr lang="en-US" sz="3000" dirty="0">
                <a:latin typeface="Gill Sans MT" panose="020B0502020104020203" pitchFamily="34" charset="0"/>
                <a:cs typeface="Times New Roman" pitchFamily="18" charset="0"/>
              </a:rPr>
              <a:t>Switch to router</a:t>
            </a:r>
          </a:p>
          <a:p>
            <a:pPr marL="914400" lvl="1" indent="-457200">
              <a:buFont typeface="Wingdings" panose="05000000000000000000" pitchFamily="2" charset="2"/>
              <a:buChar char="v"/>
            </a:pPr>
            <a:r>
              <a:rPr lang="en-US" sz="3000" dirty="0">
                <a:latin typeface="Gill Sans MT" panose="020B0502020104020203" pitchFamily="34" charset="0"/>
                <a:cs typeface="Times New Roman" pitchFamily="18" charset="0"/>
              </a:rPr>
              <a:t>Switch to PC or server</a:t>
            </a:r>
          </a:p>
          <a:p>
            <a:pPr marL="914400" lvl="1" indent="-457200">
              <a:buFont typeface="Wingdings" panose="05000000000000000000" pitchFamily="2" charset="2"/>
              <a:buChar char="v"/>
            </a:pPr>
            <a:r>
              <a:rPr lang="en-US" sz="3000" dirty="0">
                <a:latin typeface="Gill Sans MT" panose="020B0502020104020203" pitchFamily="34" charset="0"/>
                <a:cs typeface="Times New Roman" pitchFamily="18" charset="0"/>
              </a:rPr>
              <a:t>Hub to PC or server</a:t>
            </a:r>
          </a:p>
          <a:p>
            <a:pPr marL="457200" indent="-457200">
              <a:buFont typeface="Wingdings" panose="05000000000000000000" pitchFamily="2" charset="2"/>
              <a:buChar char="q"/>
            </a:pPr>
            <a:r>
              <a:rPr lang="en-US" sz="3000" dirty="0">
                <a:latin typeface="Gill Sans MT" panose="020B0502020104020203" pitchFamily="34" charset="0"/>
                <a:cs typeface="Times New Roman" pitchFamily="18" charset="0"/>
              </a:rPr>
              <a:t>Use crossover cables for the following cabling:</a:t>
            </a:r>
          </a:p>
          <a:p>
            <a:pPr marL="914400" lvl="1" indent="-457200">
              <a:buFont typeface="Wingdings" panose="05000000000000000000" pitchFamily="2" charset="2"/>
              <a:buChar char="v"/>
            </a:pPr>
            <a:r>
              <a:rPr lang="en-US" sz="3000" dirty="0">
                <a:latin typeface="Gill Sans MT" panose="020B0502020104020203" pitchFamily="34" charset="0"/>
                <a:cs typeface="Times New Roman" pitchFamily="18" charset="0"/>
              </a:rPr>
              <a:t>Switch to switch</a:t>
            </a:r>
          </a:p>
          <a:p>
            <a:pPr marL="914400" lvl="1" indent="-457200">
              <a:buFont typeface="Wingdings" panose="05000000000000000000" pitchFamily="2" charset="2"/>
              <a:buChar char="v"/>
            </a:pPr>
            <a:r>
              <a:rPr lang="en-US" sz="3000" dirty="0">
                <a:latin typeface="Gill Sans MT" panose="020B0502020104020203" pitchFamily="34" charset="0"/>
                <a:cs typeface="Times New Roman" pitchFamily="18" charset="0"/>
              </a:rPr>
              <a:t>Hub to hub</a:t>
            </a:r>
          </a:p>
          <a:p>
            <a:pPr marL="914400" lvl="1" indent="-457200">
              <a:buFont typeface="Wingdings" panose="05000000000000000000" pitchFamily="2" charset="2"/>
              <a:buChar char="v"/>
            </a:pPr>
            <a:r>
              <a:rPr lang="en-US" sz="3000" dirty="0">
                <a:latin typeface="Gill Sans MT" panose="020B0502020104020203" pitchFamily="34" charset="0"/>
                <a:cs typeface="Times New Roman" pitchFamily="18" charset="0"/>
              </a:rPr>
              <a:t>Router to router</a:t>
            </a:r>
          </a:p>
          <a:p>
            <a:pPr marL="914400" lvl="1" indent="-457200">
              <a:buFont typeface="Wingdings" panose="05000000000000000000" pitchFamily="2" charset="2"/>
              <a:buChar char="v"/>
            </a:pPr>
            <a:r>
              <a:rPr lang="en-US" sz="3000" dirty="0">
                <a:latin typeface="Gill Sans MT" panose="020B0502020104020203" pitchFamily="34" charset="0"/>
                <a:cs typeface="Times New Roman" pitchFamily="18" charset="0"/>
              </a:rPr>
              <a:t>PC to PC</a:t>
            </a:r>
          </a:p>
        </p:txBody>
      </p:sp>
    </p:spTree>
    <p:extLst>
      <p:ext uri="{BB962C8B-B14F-4D97-AF65-F5344CB8AC3E}">
        <p14:creationId xmlns:p14="http://schemas.microsoft.com/office/powerpoint/2010/main" val="5049080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5984" y="0"/>
            <a:ext cx="9073660" cy="5447645"/>
          </a:xfrm>
          <a:prstGeom prst="rect">
            <a:avLst/>
          </a:prstGeom>
          <a:noFill/>
        </p:spPr>
        <p:txBody>
          <a:bodyPr wrap="square" rtlCol="0">
            <a:spAutoFit/>
          </a:bodyPr>
          <a:lstStyle/>
          <a:p>
            <a:r>
              <a:rPr lang="en-US" sz="2900" b="1" i="1" dirty="0">
                <a:solidFill>
                  <a:schemeClr val="accent2"/>
                </a:solidFill>
                <a:latin typeface="Gill Sans MT" panose="020B0502020104020203" pitchFamily="34" charset="0"/>
                <a:cs typeface="Times New Roman" pitchFamily="18" charset="0"/>
              </a:rPr>
              <a:t>Rollover</a:t>
            </a:r>
          </a:p>
          <a:p>
            <a:pPr marL="457200" indent="-457200">
              <a:buFont typeface="Wingdings" panose="05000000000000000000" pitchFamily="2" charset="2"/>
              <a:buChar char="q"/>
            </a:pPr>
            <a:r>
              <a:rPr lang="en-US" sz="2900" dirty="0">
                <a:latin typeface="Gill Sans MT" panose="020B0502020104020203" pitchFamily="34" charset="0"/>
                <a:cs typeface="Times New Roman" pitchFamily="18" charset="0"/>
              </a:rPr>
              <a:t>The rollover cable is a Cisco Systems proprietary cable used to connect a computer system to a router or switch console port. </a:t>
            </a:r>
          </a:p>
          <a:p>
            <a:pPr marL="457200" indent="-457200">
              <a:buFont typeface="Wingdings" panose="05000000000000000000" pitchFamily="2" charset="2"/>
              <a:buChar char="q"/>
            </a:pPr>
            <a:r>
              <a:rPr lang="en-US" sz="2900" dirty="0">
                <a:latin typeface="Gill Sans MT" panose="020B0502020104020203" pitchFamily="34" charset="0"/>
                <a:cs typeface="Times New Roman" pitchFamily="18" charset="0"/>
              </a:rPr>
              <a:t>The rollover cable resembles an Ethernet UTP cable; however, it is not possible to use it on anything but Cisco equipment. </a:t>
            </a:r>
          </a:p>
          <a:p>
            <a:pPr marL="457200" indent="-457200">
              <a:buFont typeface="Wingdings" panose="05000000000000000000" pitchFamily="2" charset="2"/>
              <a:buChar char="q"/>
            </a:pPr>
            <a:r>
              <a:rPr lang="en-US" sz="2900" dirty="0">
                <a:latin typeface="Gill Sans MT" panose="020B0502020104020203" pitchFamily="34" charset="0"/>
                <a:cs typeface="Times New Roman" pitchFamily="18" charset="0"/>
              </a:rPr>
              <a:t>Like UTP cable, the rollover cable has eight wires inside and an RJ-45 connector on each end that connect to the router and the computer port.</a:t>
            </a:r>
          </a:p>
          <a:p>
            <a:pPr marL="457200" indent="-457200">
              <a:buFont typeface="Wingdings" panose="05000000000000000000" pitchFamily="2" charset="2"/>
              <a:buChar char="q"/>
            </a:pPr>
            <a:endParaRPr lang="en-US" sz="2900" dirty="0">
              <a:latin typeface="Gill Sans MT" panose="020B0502020104020203" pitchFamily="34" charset="0"/>
              <a:cs typeface="Times New Roman" pitchFamily="18" charset="0"/>
            </a:endParaRPr>
          </a:p>
          <a:p>
            <a:endParaRPr lang="en-US" sz="2900" dirty="0">
              <a:latin typeface="Times New Roman" pitchFamily="18" charset="0"/>
              <a:cs typeface="Times New Roman" pitchFamily="18" charset="0"/>
            </a:endParaRPr>
          </a:p>
        </p:txBody>
      </p:sp>
    </p:spTree>
    <p:extLst>
      <p:ext uri="{BB962C8B-B14F-4D97-AF65-F5344CB8AC3E}">
        <p14:creationId xmlns:p14="http://schemas.microsoft.com/office/powerpoint/2010/main" val="146713465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Equity</Template>
  <TotalTime>31616</TotalTime>
  <Words>2420</Words>
  <Application>Microsoft Office PowerPoint</Application>
  <PresentationFormat>On-screen Show (4:3)</PresentationFormat>
  <Paragraphs>181</Paragraphs>
  <Slides>29</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29</vt:i4>
      </vt:variant>
    </vt:vector>
  </HeadingPairs>
  <TitlesOfParts>
    <vt:vector size="37" baseType="lpstr">
      <vt:lpstr>Calibri</vt:lpstr>
      <vt:lpstr>Franklin Gothic Book</vt:lpstr>
      <vt:lpstr>Gill Sans MT</vt:lpstr>
      <vt:lpstr>Perpetua</vt:lpstr>
      <vt:lpstr>Times New Roman</vt:lpstr>
      <vt:lpstr>Wingdings</vt:lpstr>
      <vt:lpstr>Wingdings 2</vt:lpstr>
      <vt:lpstr>Equity</vt:lpstr>
      <vt:lpstr>UNIT IV – INTERNETWORKING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Rahma</dc:creator>
  <cp:lastModifiedBy>LABIII</cp:lastModifiedBy>
  <cp:revision>498</cp:revision>
  <dcterms:created xsi:type="dcterms:W3CDTF">2016-11-13T04:57:18Z</dcterms:created>
  <dcterms:modified xsi:type="dcterms:W3CDTF">2022-12-20T04:58:21Z</dcterms:modified>
</cp:coreProperties>
</file>