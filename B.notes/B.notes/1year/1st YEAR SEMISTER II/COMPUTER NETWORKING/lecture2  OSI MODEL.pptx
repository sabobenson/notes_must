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7" r:id="rId2"/>
    <p:sldId id="258" r:id="rId3"/>
    <p:sldId id="259" r:id="rId4"/>
    <p:sldId id="260" r:id="rId5"/>
    <p:sldId id="261" r:id="rId6"/>
    <p:sldId id="262" r:id="rId7"/>
    <p:sldId id="263" r:id="rId8"/>
    <p:sldId id="276" r:id="rId9"/>
    <p:sldId id="277" r:id="rId10"/>
    <p:sldId id="278" r:id="rId11"/>
    <p:sldId id="279" r:id="rId12"/>
    <p:sldId id="280" r:id="rId13"/>
    <p:sldId id="281" r:id="rId14"/>
    <p:sldId id="282" r:id="rId15"/>
    <p:sldId id="283" r:id="rId16"/>
    <p:sldId id="284" r:id="rId17"/>
    <p:sldId id="285" r:id="rId18"/>
    <p:sldId id="286" r:id="rId19"/>
    <p:sldId id="287" r:id="rId20"/>
    <p:sldId id="288" r:id="rId21"/>
    <p:sldId id="265" r:id="rId22"/>
    <p:sldId id="289" r:id="rId23"/>
    <p:sldId id="290" r:id="rId24"/>
    <p:sldId id="291" r:id="rId25"/>
    <p:sldId id="292" r:id="rId26"/>
    <p:sldId id="272" r:id="rId27"/>
    <p:sldId id="273" r:id="rId28"/>
    <p:sldId id="275" r:id="rId2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3" d="100"/>
          <a:sy n="103" d="100"/>
        </p:scale>
        <p:origin x="-20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409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4100"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168FD5E7-3336-462D-9A39-DD8782CC2FA4}" type="slidenum">
              <a:rPr lang="en-US"/>
              <a:pPr/>
              <a:t>‹#›</a:t>
            </a:fld>
            <a:endParaRPr lang="en-US"/>
          </a:p>
        </p:txBody>
      </p:sp>
    </p:spTree>
    <p:extLst>
      <p:ext uri="{BB962C8B-B14F-4D97-AF65-F5344CB8AC3E}">
        <p14:creationId xmlns:p14="http://schemas.microsoft.com/office/powerpoint/2010/main" val="326238588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9287E83-141F-4D44-B241-331FD477A774}" type="slidenum">
              <a:rPr lang="en-US"/>
              <a:pPr/>
              <a:t>1</a:t>
            </a:fld>
            <a:endParaRPr lang="en-US"/>
          </a:p>
        </p:txBody>
      </p:sp>
      <p:sp>
        <p:nvSpPr>
          <p:cNvPr id="5122" name="Rectangle 2"/>
          <p:cNvSpPr>
            <a:spLocks noChangeArrowheads="1" noTextEdit="1"/>
          </p:cNvSpPr>
          <p:nvPr>
            <p:ph type="sldImg"/>
          </p:nvPr>
        </p:nvSpPr>
        <p:spPr>
          <a:xfrm>
            <a:off x="1341438" y="915988"/>
            <a:ext cx="4176712" cy="3132137"/>
          </a:xfrm>
          <a:solidFill>
            <a:srgbClr val="FFFFFF"/>
          </a:solidFill>
          <a:ln/>
        </p:spPr>
      </p:sp>
      <p:sp>
        <p:nvSpPr>
          <p:cNvPr id="5123" name="Rectangle 3"/>
          <p:cNvSpPr txBox="1">
            <a:spLocks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81DE4A2-83A4-414F-8B8C-9C5781B7039A}" type="slidenum">
              <a:rPr lang="en-US"/>
              <a:pPr/>
              <a:t>2</a:t>
            </a:fld>
            <a:endParaRPr lang="en-US"/>
          </a:p>
        </p:txBody>
      </p:sp>
      <p:sp>
        <p:nvSpPr>
          <p:cNvPr id="7170" name="Rectangle 2"/>
          <p:cNvSpPr>
            <a:spLocks noChangeArrowheads="1" noTextEdit="1"/>
          </p:cNvSpPr>
          <p:nvPr>
            <p:ph type="sldImg"/>
          </p:nvPr>
        </p:nvSpPr>
        <p:spPr>
          <a:xfrm>
            <a:off x="1341438" y="915988"/>
            <a:ext cx="4176712" cy="3132137"/>
          </a:xfrm>
          <a:solidFill>
            <a:srgbClr val="FFFFFF"/>
          </a:solidFill>
          <a:ln/>
        </p:spPr>
      </p:sp>
      <p:sp>
        <p:nvSpPr>
          <p:cNvPr id="7171" name="Rectangle 3"/>
          <p:cNvSpPr txBox="1">
            <a:spLocks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EB92DE9-748C-46FC-9817-EDC9CC330564}" type="slidenum">
              <a:rPr lang="en-US"/>
              <a:pPr/>
              <a:t>3</a:t>
            </a:fld>
            <a:endParaRPr lang="en-US"/>
          </a:p>
        </p:txBody>
      </p:sp>
      <p:sp>
        <p:nvSpPr>
          <p:cNvPr id="9218" name="Rectangle 2"/>
          <p:cNvSpPr>
            <a:spLocks noChangeArrowheads="1" noTextEdit="1"/>
          </p:cNvSpPr>
          <p:nvPr>
            <p:ph type="sldImg"/>
          </p:nvPr>
        </p:nvSpPr>
        <p:spPr>
          <a:xfrm>
            <a:off x="1341438" y="915988"/>
            <a:ext cx="4176712" cy="3132137"/>
          </a:xfrm>
          <a:solidFill>
            <a:srgbClr val="FFFFFF"/>
          </a:solidFill>
          <a:ln/>
        </p:spPr>
      </p:sp>
      <p:sp>
        <p:nvSpPr>
          <p:cNvPr id="9219" name="Rectangle 3"/>
          <p:cNvSpPr txBox="1">
            <a:spLocks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816F115-6FF5-4C8D-9741-0CDFA271F863}" type="slidenum">
              <a:rPr lang="en-US"/>
              <a:pPr/>
              <a:t>4</a:t>
            </a:fld>
            <a:endParaRPr lang="en-US"/>
          </a:p>
        </p:txBody>
      </p:sp>
      <p:sp>
        <p:nvSpPr>
          <p:cNvPr id="11266" name="Rectangle 2"/>
          <p:cNvSpPr>
            <a:spLocks noChangeArrowheads="1" noTextEdit="1"/>
          </p:cNvSpPr>
          <p:nvPr>
            <p:ph type="sldImg"/>
          </p:nvPr>
        </p:nvSpPr>
        <p:spPr>
          <a:xfrm>
            <a:off x="1341438" y="915988"/>
            <a:ext cx="4176712" cy="3132137"/>
          </a:xfrm>
          <a:solidFill>
            <a:srgbClr val="FFFFFF"/>
          </a:solidFill>
          <a:ln/>
        </p:spPr>
      </p:sp>
      <p:sp>
        <p:nvSpPr>
          <p:cNvPr id="11267" name="Rectangle 3"/>
          <p:cNvSpPr txBox="1">
            <a:spLocks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2C19D6-1763-410A-8F2C-BE8202CFEC22}" type="slidenum">
              <a:rPr lang="en-US"/>
              <a:pPr/>
              <a:t>5</a:t>
            </a:fld>
            <a:endParaRPr lang="en-US"/>
          </a:p>
        </p:txBody>
      </p:sp>
      <p:sp>
        <p:nvSpPr>
          <p:cNvPr id="13314" name="Rectangle 2"/>
          <p:cNvSpPr>
            <a:spLocks noChangeArrowheads="1" noTextEdit="1"/>
          </p:cNvSpPr>
          <p:nvPr>
            <p:ph type="sldImg"/>
          </p:nvPr>
        </p:nvSpPr>
        <p:spPr>
          <a:xfrm>
            <a:off x="1341438" y="915988"/>
            <a:ext cx="4176712" cy="3132137"/>
          </a:xfrm>
          <a:solidFill>
            <a:srgbClr val="FFFFFF"/>
          </a:solidFill>
          <a:ln/>
        </p:spPr>
      </p:sp>
      <p:sp>
        <p:nvSpPr>
          <p:cNvPr id="13315" name="Rectangle 3"/>
          <p:cNvSpPr txBox="1">
            <a:spLocks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B2540F-6A23-44D7-85F5-58B174BB4FB0}" type="slidenum">
              <a:rPr lang="en-US"/>
              <a:pPr/>
              <a:t>6</a:t>
            </a:fld>
            <a:endParaRPr lang="en-US"/>
          </a:p>
        </p:txBody>
      </p:sp>
      <p:sp>
        <p:nvSpPr>
          <p:cNvPr id="15362" name="Rectangle 2"/>
          <p:cNvSpPr>
            <a:spLocks noChangeArrowheads="1" noTextEdit="1"/>
          </p:cNvSpPr>
          <p:nvPr>
            <p:ph type="sldImg"/>
          </p:nvPr>
        </p:nvSpPr>
        <p:spPr>
          <a:xfrm>
            <a:off x="1341438" y="915988"/>
            <a:ext cx="4176712" cy="3132137"/>
          </a:xfrm>
          <a:solidFill>
            <a:srgbClr val="FFFFFF"/>
          </a:solidFill>
          <a:ln/>
        </p:spPr>
      </p:sp>
      <p:sp>
        <p:nvSpPr>
          <p:cNvPr id="15363" name="Rectangle 3"/>
          <p:cNvSpPr txBox="1">
            <a:spLocks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010C55A-5BB5-4B72-B991-0F8F54F6A3B5}" type="slidenum">
              <a:rPr lang="en-US"/>
              <a:pPr/>
              <a:t>7</a:t>
            </a:fld>
            <a:endParaRPr lang="en-US"/>
          </a:p>
        </p:txBody>
      </p:sp>
      <p:sp>
        <p:nvSpPr>
          <p:cNvPr id="17410" name="Rectangle 2"/>
          <p:cNvSpPr>
            <a:spLocks noChangeArrowheads="1" noTextEdit="1"/>
          </p:cNvSpPr>
          <p:nvPr>
            <p:ph type="sldImg"/>
          </p:nvPr>
        </p:nvSpPr>
        <p:spPr>
          <a:xfrm>
            <a:off x="1341438" y="915988"/>
            <a:ext cx="4176712" cy="3132137"/>
          </a:xfrm>
          <a:solidFill>
            <a:srgbClr val="FFFFFF"/>
          </a:solidFill>
          <a:ln/>
        </p:spPr>
      </p:sp>
      <p:sp>
        <p:nvSpPr>
          <p:cNvPr id="17411" name="Rectangle 3"/>
          <p:cNvSpPr txBox="1">
            <a:spLocks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E8A3E11-AC39-4E5C-9D68-C70BCF51CB7A}" type="slidenum">
              <a:rPr lang="en-US">
                <a:solidFill>
                  <a:prstClr val="black"/>
                </a:solidFill>
              </a:rPr>
              <a:pPr/>
              <a:t>10</a:t>
            </a:fld>
            <a:endParaRPr lang="en-US">
              <a:solidFill>
                <a:prstClr val="black"/>
              </a:solidFill>
            </a:endParaRPr>
          </a:p>
        </p:txBody>
      </p:sp>
      <p:sp>
        <p:nvSpPr>
          <p:cNvPr id="29698" name="Rectangle 2"/>
          <p:cNvSpPr>
            <a:spLocks noChangeArrowheads="1" noTextEdit="1"/>
          </p:cNvSpPr>
          <p:nvPr>
            <p:ph type="sldImg"/>
          </p:nvPr>
        </p:nvSpPr>
        <p:spPr>
          <a:xfrm>
            <a:off x="1341438" y="915988"/>
            <a:ext cx="4176712" cy="3132137"/>
          </a:xfrm>
          <a:solidFill>
            <a:srgbClr val="FFFFFF"/>
          </a:solidFill>
          <a:ln/>
        </p:spPr>
      </p:sp>
      <p:sp>
        <p:nvSpPr>
          <p:cNvPr id="29699" name="Rectangle 3"/>
          <p:cNvSpPr txBox="1">
            <a:spLocks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AA5E235-6259-4B9D-9D8D-BEBA8C10EC83}" type="slidenum">
              <a:rPr lang="en-US">
                <a:solidFill>
                  <a:prstClr val="black"/>
                </a:solidFill>
              </a:rPr>
              <a:pPr/>
              <a:t>11</a:t>
            </a:fld>
            <a:endParaRPr lang="en-US">
              <a:solidFill>
                <a:prstClr val="black"/>
              </a:solidFill>
            </a:endParaRPr>
          </a:p>
        </p:txBody>
      </p:sp>
      <p:sp>
        <p:nvSpPr>
          <p:cNvPr id="27650" name="Rectangle 2"/>
          <p:cNvSpPr>
            <a:spLocks noChangeArrowheads="1" noTextEdit="1"/>
          </p:cNvSpPr>
          <p:nvPr>
            <p:ph type="sldImg"/>
          </p:nvPr>
        </p:nvSpPr>
        <p:spPr>
          <a:xfrm>
            <a:off x="1341438" y="915988"/>
            <a:ext cx="4176712" cy="3132137"/>
          </a:xfrm>
          <a:solidFill>
            <a:srgbClr val="FFFFFF"/>
          </a:solidFill>
          <a:ln/>
        </p:spPr>
      </p:sp>
      <p:sp>
        <p:nvSpPr>
          <p:cNvPr id="27651" name="Rectangle 3"/>
          <p:cNvSpPr txBox="1">
            <a:spLocks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88EEE42-1ECA-4AE3-8326-17377E6A5E0A}" type="slidenum">
              <a:rPr lang="en-US">
                <a:solidFill>
                  <a:prstClr val="black"/>
                </a:solidFill>
              </a:rPr>
              <a:pPr/>
              <a:t>12</a:t>
            </a:fld>
            <a:endParaRPr lang="en-US">
              <a:solidFill>
                <a:prstClr val="black"/>
              </a:solidFill>
            </a:endParaRPr>
          </a:p>
        </p:txBody>
      </p:sp>
      <p:sp>
        <p:nvSpPr>
          <p:cNvPr id="25602" name="Rectangle 2"/>
          <p:cNvSpPr>
            <a:spLocks noChangeArrowheads="1" noTextEdit="1"/>
          </p:cNvSpPr>
          <p:nvPr>
            <p:ph type="sldImg"/>
          </p:nvPr>
        </p:nvSpPr>
        <p:spPr>
          <a:xfrm>
            <a:off x="1341438" y="915988"/>
            <a:ext cx="4176712" cy="3132137"/>
          </a:xfrm>
          <a:solidFill>
            <a:srgbClr val="FFFFFF"/>
          </a:solidFill>
          <a:ln/>
        </p:spPr>
      </p:sp>
      <p:sp>
        <p:nvSpPr>
          <p:cNvPr id="25603" name="Rectangle 3"/>
          <p:cNvSpPr txBox="1">
            <a:spLocks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EC4D85-8D95-46F4-968A-C3F1D1F37697}" type="slidenum">
              <a:rPr lang="en-US">
                <a:solidFill>
                  <a:prstClr val="black"/>
                </a:solidFill>
              </a:rPr>
              <a:pPr/>
              <a:t>20</a:t>
            </a:fld>
            <a:endParaRPr lang="en-US">
              <a:solidFill>
                <a:prstClr val="black"/>
              </a:solidFill>
            </a:endParaRPr>
          </a:p>
        </p:txBody>
      </p:sp>
      <p:sp>
        <p:nvSpPr>
          <p:cNvPr id="23554" name="Rectangle 2"/>
          <p:cNvSpPr>
            <a:spLocks noChangeArrowheads="1" noTextEdit="1"/>
          </p:cNvSpPr>
          <p:nvPr>
            <p:ph type="sldImg"/>
          </p:nvPr>
        </p:nvSpPr>
        <p:spPr>
          <a:xfrm>
            <a:off x="1341438" y="915988"/>
            <a:ext cx="4176712" cy="3132137"/>
          </a:xfrm>
          <a:solidFill>
            <a:srgbClr val="FFFFFF"/>
          </a:solidFill>
          <a:ln/>
        </p:spPr>
      </p:sp>
      <p:sp>
        <p:nvSpPr>
          <p:cNvPr id="23555" name="Rectangle 3"/>
          <p:cNvSpPr txBox="1">
            <a:spLocks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15631D7-D911-4334-B618-0F29CB2C0AF9}" type="slidenum">
              <a:rPr lang="en-US"/>
              <a:pPr/>
              <a:t>21</a:t>
            </a:fld>
            <a:endParaRPr lang="en-US"/>
          </a:p>
        </p:txBody>
      </p:sp>
      <p:sp>
        <p:nvSpPr>
          <p:cNvPr id="21506" name="Rectangle 2"/>
          <p:cNvSpPr>
            <a:spLocks noChangeArrowheads="1" noTextEdit="1"/>
          </p:cNvSpPr>
          <p:nvPr>
            <p:ph type="sldImg"/>
          </p:nvPr>
        </p:nvSpPr>
        <p:spPr>
          <a:xfrm>
            <a:off x="1341438" y="915988"/>
            <a:ext cx="4176712" cy="3132137"/>
          </a:xfrm>
          <a:solidFill>
            <a:srgbClr val="FFFFFF"/>
          </a:solidFill>
          <a:ln/>
        </p:spPr>
      </p:sp>
      <p:sp>
        <p:nvSpPr>
          <p:cNvPr id="21507" name="Rectangle 3"/>
          <p:cNvSpPr txBox="1">
            <a:spLocks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B3C88B-D5F5-40EB-8106-C3A0AFF32C8B}" type="slidenum">
              <a:rPr lang="en-US"/>
              <a:pPr/>
              <a:t>26</a:t>
            </a:fld>
            <a:endParaRPr lang="en-US"/>
          </a:p>
        </p:txBody>
      </p:sp>
      <p:sp>
        <p:nvSpPr>
          <p:cNvPr id="34818" name="Rectangle 2"/>
          <p:cNvSpPr>
            <a:spLocks noChangeArrowheads="1" noTextEdit="1"/>
          </p:cNvSpPr>
          <p:nvPr>
            <p:ph type="sldImg"/>
          </p:nvPr>
        </p:nvSpPr>
        <p:spPr>
          <a:xfrm>
            <a:off x="1341438" y="915988"/>
            <a:ext cx="4176712" cy="3132137"/>
          </a:xfrm>
          <a:solidFill>
            <a:srgbClr val="FFFFFF"/>
          </a:solidFill>
          <a:ln/>
        </p:spPr>
      </p:sp>
      <p:sp>
        <p:nvSpPr>
          <p:cNvPr id="34819" name="Rectangle 3"/>
          <p:cNvSpPr txBox="1">
            <a:spLocks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5C9DAB1-008B-43DF-BDF2-AA3ECC05161C}" type="slidenum">
              <a:rPr lang="en-US"/>
              <a:pPr/>
              <a:t>27</a:t>
            </a:fld>
            <a:endParaRPr lang="en-US"/>
          </a:p>
        </p:txBody>
      </p:sp>
      <p:sp>
        <p:nvSpPr>
          <p:cNvPr id="36866" name="Rectangle 2"/>
          <p:cNvSpPr>
            <a:spLocks noChangeArrowheads="1" noTextEdit="1"/>
          </p:cNvSpPr>
          <p:nvPr>
            <p:ph type="sldImg"/>
          </p:nvPr>
        </p:nvSpPr>
        <p:spPr>
          <a:xfrm>
            <a:off x="1341438" y="915988"/>
            <a:ext cx="4176712" cy="3132137"/>
          </a:xfrm>
          <a:solidFill>
            <a:srgbClr val="FFFFFF"/>
          </a:solidFill>
          <a:ln/>
        </p:spPr>
      </p:sp>
      <p:sp>
        <p:nvSpPr>
          <p:cNvPr id="36867" name="Rectangle 3"/>
          <p:cNvSpPr txBox="1">
            <a:spLocks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B2D173-FC36-4968-B744-5D8ECFD5213A}" type="slidenum">
              <a:rPr lang="en-US"/>
              <a:pPr/>
              <a:t>28</a:t>
            </a:fld>
            <a:endParaRPr lang="en-US"/>
          </a:p>
        </p:txBody>
      </p:sp>
      <p:sp>
        <p:nvSpPr>
          <p:cNvPr id="40962" name="Rectangle 2"/>
          <p:cNvSpPr>
            <a:spLocks noChangeArrowheads="1" noTextEdit="1"/>
          </p:cNvSpPr>
          <p:nvPr>
            <p:ph type="sldImg"/>
          </p:nvPr>
        </p:nvSpPr>
        <p:spPr>
          <a:xfrm>
            <a:off x="1341438" y="915988"/>
            <a:ext cx="4176712" cy="3132137"/>
          </a:xfrm>
          <a:solidFill>
            <a:srgbClr val="FFFFFF"/>
          </a:solidFill>
          <a:ln/>
        </p:spPr>
      </p:sp>
      <p:sp>
        <p:nvSpPr>
          <p:cNvPr id="40963" name="Rectangle 3"/>
          <p:cNvSpPr txBox="1">
            <a:spLocks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657C626-7DA0-40BB-83CC-31487838AC6A}" type="slidenum">
              <a:rPr lang="en-US"/>
              <a:pPr/>
              <a:t>‹#›</a:t>
            </a:fld>
            <a:endParaRPr lang="en-US"/>
          </a:p>
        </p:txBody>
      </p:sp>
    </p:spTree>
    <p:extLst>
      <p:ext uri="{BB962C8B-B14F-4D97-AF65-F5344CB8AC3E}">
        <p14:creationId xmlns:p14="http://schemas.microsoft.com/office/powerpoint/2010/main" val="3290024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25948D1-6D7C-405F-9734-DCE9D4FDB10D}" type="slidenum">
              <a:rPr lang="en-US"/>
              <a:pPr/>
              <a:t>‹#›</a:t>
            </a:fld>
            <a:endParaRPr lang="en-US"/>
          </a:p>
        </p:txBody>
      </p:sp>
    </p:spTree>
    <p:extLst>
      <p:ext uri="{BB962C8B-B14F-4D97-AF65-F5344CB8AC3E}">
        <p14:creationId xmlns:p14="http://schemas.microsoft.com/office/powerpoint/2010/main" val="25648317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89729B6-B0CD-48F9-989D-869D8704DF36}" type="slidenum">
              <a:rPr lang="en-US"/>
              <a:pPr/>
              <a:t>‹#›</a:t>
            </a:fld>
            <a:endParaRPr lang="en-US"/>
          </a:p>
        </p:txBody>
      </p:sp>
    </p:spTree>
    <p:extLst>
      <p:ext uri="{BB962C8B-B14F-4D97-AF65-F5344CB8AC3E}">
        <p14:creationId xmlns:p14="http://schemas.microsoft.com/office/powerpoint/2010/main" val="2285523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89758EC-A40D-4B79-9CF0-41601B57DF06}" type="slidenum">
              <a:rPr lang="en-US"/>
              <a:pPr/>
              <a:t>‹#›</a:t>
            </a:fld>
            <a:endParaRPr lang="en-US"/>
          </a:p>
        </p:txBody>
      </p:sp>
    </p:spTree>
    <p:extLst>
      <p:ext uri="{BB962C8B-B14F-4D97-AF65-F5344CB8AC3E}">
        <p14:creationId xmlns:p14="http://schemas.microsoft.com/office/powerpoint/2010/main" val="961355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850B5AB6-718D-4A74-8181-5016128A8DD9}" type="slidenum">
              <a:rPr lang="en-US"/>
              <a:pPr/>
              <a:t>‹#›</a:t>
            </a:fld>
            <a:endParaRPr lang="en-US"/>
          </a:p>
        </p:txBody>
      </p:sp>
    </p:spTree>
    <p:extLst>
      <p:ext uri="{BB962C8B-B14F-4D97-AF65-F5344CB8AC3E}">
        <p14:creationId xmlns:p14="http://schemas.microsoft.com/office/powerpoint/2010/main" val="3320531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0F172F3E-9069-413A-A660-D7CC4E9A81A0}" type="slidenum">
              <a:rPr lang="en-US"/>
              <a:pPr/>
              <a:t>‹#›</a:t>
            </a:fld>
            <a:endParaRPr lang="en-US"/>
          </a:p>
        </p:txBody>
      </p:sp>
    </p:spTree>
    <p:extLst>
      <p:ext uri="{BB962C8B-B14F-4D97-AF65-F5344CB8AC3E}">
        <p14:creationId xmlns:p14="http://schemas.microsoft.com/office/powerpoint/2010/main" val="22328516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A21E52AA-4052-490A-AD31-B270A952B644}" type="slidenum">
              <a:rPr lang="en-US"/>
              <a:pPr/>
              <a:t>‹#›</a:t>
            </a:fld>
            <a:endParaRPr lang="en-US"/>
          </a:p>
        </p:txBody>
      </p:sp>
    </p:spTree>
    <p:extLst>
      <p:ext uri="{BB962C8B-B14F-4D97-AF65-F5344CB8AC3E}">
        <p14:creationId xmlns:p14="http://schemas.microsoft.com/office/powerpoint/2010/main" val="89050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2BD407A2-7ABB-477C-ADE8-DAAB812C6A67}" type="slidenum">
              <a:rPr lang="en-US"/>
              <a:pPr/>
              <a:t>‹#›</a:t>
            </a:fld>
            <a:endParaRPr lang="en-US"/>
          </a:p>
        </p:txBody>
      </p:sp>
    </p:spTree>
    <p:extLst>
      <p:ext uri="{BB962C8B-B14F-4D97-AF65-F5344CB8AC3E}">
        <p14:creationId xmlns:p14="http://schemas.microsoft.com/office/powerpoint/2010/main" val="3721777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EDD87D59-C390-4E92-9CBC-F04405E2794C}" type="slidenum">
              <a:rPr lang="en-US"/>
              <a:pPr/>
              <a:t>‹#›</a:t>
            </a:fld>
            <a:endParaRPr lang="en-US"/>
          </a:p>
        </p:txBody>
      </p:sp>
    </p:spTree>
    <p:extLst>
      <p:ext uri="{BB962C8B-B14F-4D97-AF65-F5344CB8AC3E}">
        <p14:creationId xmlns:p14="http://schemas.microsoft.com/office/powerpoint/2010/main" val="383698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2CB4C40-F738-4400-873E-B5CA83E52690}" type="slidenum">
              <a:rPr lang="en-US"/>
              <a:pPr/>
              <a:t>‹#›</a:t>
            </a:fld>
            <a:endParaRPr lang="en-US"/>
          </a:p>
        </p:txBody>
      </p:sp>
    </p:spTree>
    <p:extLst>
      <p:ext uri="{BB962C8B-B14F-4D97-AF65-F5344CB8AC3E}">
        <p14:creationId xmlns:p14="http://schemas.microsoft.com/office/powerpoint/2010/main" val="12585054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8B3A54E-2F8D-4308-AC17-F36A5FCBF44C}" type="slidenum">
              <a:rPr lang="en-US"/>
              <a:pPr/>
              <a:t>‹#›</a:t>
            </a:fld>
            <a:endParaRPr lang="en-US"/>
          </a:p>
        </p:txBody>
      </p:sp>
    </p:spTree>
    <p:extLst>
      <p:ext uri="{BB962C8B-B14F-4D97-AF65-F5344CB8AC3E}">
        <p14:creationId xmlns:p14="http://schemas.microsoft.com/office/powerpoint/2010/main" val="3158692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endParaRPr lang="en-US"/>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99A96B81-19F1-4F31-8F3B-F29084AFEBEA}" type="slidenum">
              <a:rPr lang="en-US"/>
              <a:pPr/>
              <a:t>‹#›</a:t>
            </a:fld>
            <a:endParaRPr lang="en-US"/>
          </a:p>
        </p:txBody>
      </p:sp>
    </p:spTree>
    <p:extLst>
      <p:ext uri="{BB962C8B-B14F-4D97-AF65-F5344CB8AC3E}">
        <p14:creationId xmlns:p14="http://schemas.microsoft.com/office/powerpoint/2010/main" val="4125511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F7302339-977F-48BD-B77A-FDC98D85DE6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defRPr>
      </a:lvl2pPr>
      <a:lvl3pPr algn="ctr" rtl="0" fontAlgn="base">
        <a:spcBef>
          <a:spcPct val="0"/>
        </a:spcBef>
        <a:spcAft>
          <a:spcPct val="0"/>
        </a:spcAft>
        <a:defRPr sz="4400">
          <a:solidFill>
            <a:schemeClr val="tx2"/>
          </a:solidFill>
          <a:latin typeface="Arial" charset="0"/>
        </a:defRPr>
      </a:lvl3pPr>
      <a:lvl4pPr algn="ctr" rtl="0" fontAlgn="base">
        <a:spcBef>
          <a:spcPct val="0"/>
        </a:spcBef>
        <a:spcAft>
          <a:spcPct val="0"/>
        </a:spcAft>
        <a:defRPr sz="4400">
          <a:solidFill>
            <a:schemeClr val="tx2"/>
          </a:solidFill>
          <a:latin typeface="Arial" charset="0"/>
        </a:defRPr>
      </a:lvl4pPr>
      <a:lvl5pPr algn="ctr" rtl="0" fontAlgn="base">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AutoShape 3"/>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p>
            <a:endParaRPr lang="en-US"/>
          </a:p>
        </p:txBody>
      </p:sp>
      <p:sp>
        <p:nvSpPr>
          <p:cNvPr id="3079" name="Text Box 7"/>
          <p:cNvSpPr txBox="1">
            <a:spLocks noChangeArrowheads="1"/>
          </p:cNvSpPr>
          <p:nvPr/>
        </p:nvSpPr>
        <p:spPr bwMode="auto">
          <a:xfrm>
            <a:off x="123825" y="104775"/>
            <a:ext cx="58197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1pPr>
            <a:lvl2pPr marL="4143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2pPr>
            <a:lvl3pPr marL="828675"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3pPr>
            <a:lvl4pPr marL="1244600"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4pPr>
            <a:lvl5pPr marL="16589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5pPr>
            <a:lvl6pPr marL="21161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6pPr>
            <a:lvl7pPr marL="25733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7pPr>
            <a:lvl8pPr marL="30305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8pPr>
            <a:lvl9pPr marL="34877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9pPr>
          </a:lstStyle>
          <a:p>
            <a:pPr hangingPunct="0">
              <a:lnSpc>
                <a:spcPct val="95000"/>
              </a:lnSpc>
              <a:buClr>
                <a:srgbClr val="000000"/>
              </a:buClr>
              <a:buSzPct val="45000"/>
              <a:buFont typeface="StarSymbol" charset="0"/>
              <a:buNone/>
            </a:pPr>
            <a:r>
              <a:rPr lang="en-GB" sz="2000" b="1">
                <a:solidFill>
                  <a:schemeClr val="bg1"/>
                </a:solidFill>
              </a:rPr>
              <a:t>OSI Model</a:t>
            </a:r>
          </a:p>
        </p:txBody>
      </p:sp>
      <p:sp>
        <p:nvSpPr>
          <p:cNvPr id="3080" name="AutoShape 8"/>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p>
            <a:endParaRPr lang="en-US"/>
          </a:p>
        </p:txBody>
      </p:sp>
      <p:sp>
        <p:nvSpPr>
          <p:cNvPr id="3081" name="Rectangle 9"/>
          <p:cNvSpPr>
            <a:spLocks noGrp="1" noChangeArrowheads="1"/>
          </p:cNvSpPr>
          <p:nvPr>
            <p:ph type="body" idx="1"/>
          </p:nvPr>
        </p:nvSpPr>
        <p:spPr>
          <a:xfrm>
            <a:off x="457200" y="1600200"/>
            <a:ext cx="8229600" cy="5257800"/>
          </a:xfrm>
        </p:spPr>
        <p:txBody>
          <a:bodyPr/>
          <a:lstStyle/>
          <a:p>
            <a:pPr marL="392113" indent="-293688" defTabSz="414338">
              <a:lnSpc>
                <a:spcPct val="80000"/>
              </a:lnSpc>
              <a:spcBef>
                <a:spcPct val="50000"/>
              </a:spcBef>
              <a:buClr>
                <a:srgbClr val="CC0000"/>
              </a:buClr>
              <a:buFont typeface="Wingdings" pitchFamily="2" charset="2"/>
              <a:buBlip>
                <a:blip r:embed="rId3"/>
              </a:buBlip>
            </a:pPr>
            <a:endParaRPr lang="en-US" sz="2400" b="1" dirty="0">
              <a:solidFill>
                <a:srgbClr val="000066"/>
              </a:solidFill>
            </a:endParaRPr>
          </a:p>
          <a:p>
            <a:pPr marL="392113" indent="-293688" defTabSz="414338">
              <a:lnSpc>
                <a:spcPct val="80000"/>
              </a:lnSpc>
              <a:spcBef>
                <a:spcPct val="50000"/>
              </a:spcBef>
              <a:buClr>
                <a:srgbClr val="CC0000"/>
              </a:buClr>
              <a:buFont typeface="Wingdings" pitchFamily="2" charset="2"/>
              <a:buNone/>
            </a:pPr>
            <a:endParaRPr lang="en-US" sz="2000" b="1" dirty="0">
              <a:solidFill>
                <a:srgbClr val="660066"/>
              </a:solidFill>
            </a:endParaRPr>
          </a:p>
          <a:p>
            <a:pPr marL="392113" indent="-293688" defTabSz="414338">
              <a:lnSpc>
                <a:spcPct val="80000"/>
              </a:lnSpc>
              <a:spcBef>
                <a:spcPct val="50000"/>
              </a:spcBef>
              <a:buClr>
                <a:srgbClr val="CC0000"/>
              </a:buClr>
              <a:buFont typeface="Wingdings" pitchFamily="2" charset="2"/>
              <a:buNone/>
            </a:pPr>
            <a:endParaRPr lang="en-US" sz="2000" b="1" dirty="0">
              <a:solidFill>
                <a:srgbClr val="660066"/>
              </a:solidFill>
            </a:endParaRPr>
          </a:p>
          <a:p>
            <a:pPr marL="392113" indent="-293688" defTabSz="414338">
              <a:lnSpc>
                <a:spcPct val="80000"/>
              </a:lnSpc>
              <a:spcBef>
                <a:spcPct val="50000"/>
              </a:spcBef>
              <a:buClr>
                <a:srgbClr val="CC0000"/>
              </a:buClr>
              <a:buFont typeface="Wingdings" pitchFamily="2" charset="2"/>
              <a:buNone/>
            </a:pPr>
            <a:endParaRPr lang="en-US" sz="2000" b="1" dirty="0">
              <a:solidFill>
                <a:srgbClr val="660066"/>
              </a:solidFill>
            </a:endParaRPr>
          </a:p>
          <a:p>
            <a:pPr marL="392113" indent="-293688" algn="ctr" defTabSz="414338">
              <a:lnSpc>
                <a:spcPct val="80000"/>
              </a:lnSpc>
              <a:spcBef>
                <a:spcPct val="50000"/>
              </a:spcBef>
              <a:buClr>
                <a:srgbClr val="CC0000"/>
              </a:buClr>
              <a:buFont typeface="Wingdings" pitchFamily="2" charset="2"/>
              <a:buNone/>
            </a:pPr>
            <a:r>
              <a:rPr lang="en-US" sz="4000" b="1" dirty="0">
                <a:solidFill>
                  <a:srgbClr val="E4005C"/>
                </a:solidFill>
              </a:rPr>
              <a:t>OSI MODEL</a:t>
            </a:r>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685800"/>
            <a:ext cx="8229600" cy="1066800"/>
          </a:xfrm>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a:solidFill>
                  <a:srgbClr val="E4005C"/>
                </a:solidFill>
              </a:rPr>
              <a:t>Communication Architecture</a:t>
            </a:r>
            <a:endParaRPr lang="en-GB" sz="4000" b="1">
              <a:solidFill>
                <a:srgbClr val="E4005C"/>
              </a:solidFill>
            </a:endParaRPr>
          </a:p>
        </p:txBody>
      </p:sp>
      <p:sp>
        <p:nvSpPr>
          <p:cNvPr id="6147" name="Rectangle 3"/>
          <p:cNvSpPr>
            <a:spLocks noGrp="1" noChangeArrowheads="1"/>
          </p:cNvSpPr>
          <p:nvPr>
            <p:ph type="body" sz="half" idx="1"/>
          </p:nvPr>
        </p:nvSpPr>
        <p:spPr>
          <a:xfrm>
            <a:off x="457200" y="1600200"/>
            <a:ext cx="8229600" cy="4953000"/>
          </a:xfrm>
        </p:spPr>
        <p:txBody>
          <a:bodyPr/>
          <a:lstStyle/>
          <a:p>
            <a:pPr marL="392113" indent="-293688" algn="just" defTabSz="414338">
              <a:lnSpc>
                <a:spcPct val="80000"/>
              </a:lnSpc>
              <a:spcBef>
                <a:spcPct val="50000"/>
              </a:spcBef>
              <a:buClr>
                <a:srgbClr val="CC0000"/>
              </a:buClr>
              <a:buFont typeface="Wingdings" pitchFamily="2" charset="2"/>
              <a:buBlip>
                <a:blip r:embed="rId3"/>
              </a:buBlip>
            </a:pPr>
            <a:r>
              <a:rPr lang="en-US" sz="2400" b="1">
                <a:solidFill>
                  <a:srgbClr val="000066"/>
                </a:solidFill>
              </a:rPr>
              <a:t>Strategy for connecting host computers and other communicating equipment.</a:t>
            </a:r>
          </a:p>
          <a:p>
            <a:pPr marL="392113" indent="-293688" algn="just" defTabSz="414338">
              <a:lnSpc>
                <a:spcPct val="80000"/>
              </a:lnSpc>
              <a:spcBef>
                <a:spcPct val="50000"/>
              </a:spcBef>
              <a:buClr>
                <a:srgbClr val="CC0000"/>
              </a:buClr>
              <a:buFont typeface="Wingdings" pitchFamily="2" charset="2"/>
              <a:buBlip>
                <a:blip r:embed="rId3"/>
              </a:buBlip>
            </a:pPr>
            <a:r>
              <a:rPr lang="en-US" sz="2400" b="1">
                <a:solidFill>
                  <a:srgbClr val="000066"/>
                </a:solidFill>
              </a:rPr>
              <a:t>Defines necessary elements for data communication between devices.</a:t>
            </a:r>
          </a:p>
          <a:p>
            <a:pPr marL="392113" indent="-293688" algn="just" defTabSz="414338">
              <a:lnSpc>
                <a:spcPct val="80000"/>
              </a:lnSpc>
              <a:spcBef>
                <a:spcPct val="50000"/>
              </a:spcBef>
              <a:buClr>
                <a:srgbClr val="CC0000"/>
              </a:buClr>
              <a:buFont typeface="Wingdings" pitchFamily="2" charset="2"/>
              <a:buBlip>
                <a:blip r:embed="rId3"/>
              </a:buBlip>
            </a:pPr>
            <a:r>
              <a:rPr lang="en-US" sz="2400" b="1">
                <a:solidFill>
                  <a:srgbClr val="000066"/>
                </a:solidFill>
              </a:rPr>
              <a:t>A communication  architecture, therefore, defines a standard for the communicating hosts.</a:t>
            </a:r>
          </a:p>
          <a:p>
            <a:pPr marL="392113" indent="-293688" algn="just" defTabSz="414338">
              <a:lnSpc>
                <a:spcPct val="80000"/>
              </a:lnSpc>
              <a:spcBef>
                <a:spcPct val="50000"/>
              </a:spcBef>
              <a:buClr>
                <a:srgbClr val="CC0000"/>
              </a:buClr>
              <a:buFont typeface="Wingdings" pitchFamily="2" charset="2"/>
              <a:buBlip>
                <a:blip r:embed="rId3"/>
              </a:buBlip>
            </a:pPr>
            <a:r>
              <a:rPr lang="en-US" sz="2400" b="1">
                <a:solidFill>
                  <a:srgbClr val="000066"/>
                </a:solidFill>
              </a:rPr>
              <a:t>A programmer formats data in a manner defined by the communication architecture and passes it on to the communication software.</a:t>
            </a:r>
          </a:p>
          <a:p>
            <a:pPr marL="392113" indent="-293688" algn="just" defTabSz="414338">
              <a:lnSpc>
                <a:spcPct val="80000"/>
              </a:lnSpc>
              <a:spcBef>
                <a:spcPct val="50000"/>
              </a:spcBef>
              <a:buClr>
                <a:srgbClr val="CC0000"/>
              </a:buClr>
              <a:buFont typeface="Wingdings" pitchFamily="2" charset="2"/>
              <a:buBlip>
                <a:blip r:embed="rId3"/>
              </a:buBlip>
            </a:pPr>
            <a:r>
              <a:rPr lang="en-US" sz="2400" b="1">
                <a:solidFill>
                  <a:srgbClr val="000066"/>
                </a:solidFill>
              </a:rPr>
              <a:t>Separating communication functions adds flexibility, for example, we do not need to modify the entire host software to include more communication devices.</a:t>
            </a:r>
          </a:p>
          <a:p>
            <a:pPr marL="392113" indent="-293688" defTabSz="414338">
              <a:lnSpc>
                <a:spcPct val="80000"/>
              </a:lnSpc>
              <a:spcBef>
                <a:spcPct val="50000"/>
              </a:spcBef>
              <a:buClr>
                <a:srgbClr val="CC0000"/>
              </a:buClr>
              <a:buFont typeface="Wingdings" pitchFamily="2" charset="2"/>
              <a:buBlip>
                <a:blip r:embed="rId3"/>
              </a:buBlip>
            </a:pPr>
            <a:endParaRPr lang="en-US" sz="2400" b="1">
              <a:solidFill>
                <a:srgbClr val="000066"/>
              </a:solidFill>
            </a:endParaRPr>
          </a:p>
        </p:txBody>
      </p:sp>
      <p:sp>
        <p:nvSpPr>
          <p:cNvPr id="6148" name="AutoShape 4"/>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p>
            <a:endParaRPr lang="en-US"/>
          </a:p>
        </p:txBody>
      </p:sp>
      <p:sp>
        <p:nvSpPr>
          <p:cNvPr id="6149" name="AutoShape 5"/>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6150" name="AutoShape 6"/>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6151" name="AutoShape 7"/>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6152" name="Text Box 8"/>
          <p:cNvSpPr txBox="1">
            <a:spLocks noChangeArrowheads="1"/>
          </p:cNvSpPr>
          <p:nvPr/>
        </p:nvSpPr>
        <p:spPr bwMode="auto">
          <a:xfrm>
            <a:off x="123825" y="104775"/>
            <a:ext cx="58197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1pPr>
            <a:lvl2pPr marL="4143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2pPr>
            <a:lvl3pPr marL="828675"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3pPr>
            <a:lvl4pPr marL="1244600"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4pPr>
            <a:lvl5pPr marL="16589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5pPr>
            <a:lvl6pPr marL="21161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6pPr>
            <a:lvl7pPr marL="25733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7pPr>
            <a:lvl8pPr marL="30305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8pPr>
            <a:lvl9pPr marL="34877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9pPr>
          </a:lstStyle>
          <a:p>
            <a:pPr hangingPunct="0">
              <a:lnSpc>
                <a:spcPct val="95000"/>
              </a:lnSpc>
              <a:buClr>
                <a:srgbClr val="000000"/>
              </a:buClr>
              <a:buSzPct val="45000"/>
              <a:buFont typeface="StarSymbol" charset="0"/>
              <a:buNone/>
            </a:pPr>
            <a:r>
              <a:rPr lang="en-GB" b="1">
                <a:solidFill>
                  <a:schemeClr val="bg1"/>
                </a:solidFill>
              </a:rPr>
              <a:t>OSI Model</a:t>
            </a:r>
          </a:p>
        </p:txBody>
      </p:sp>
      <p:sp>
        <p:nvSpPr>
          <p:cNvPr id="6153" name="AutoShape 9"/>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p>
            <a:endParaRPr lang="en-US"/>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685800"/>
            <a:ext cx="8229600" cy="1066800"/>
          </a:xfrm>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a:solidFill>
                  <a:srgbClr val="E4005C"/>
                </a:solidFill>
              </a:rPr>
              <a:t>Layer Architecture</a:t>
            </a:r>
            <a:endParaRPr lang="en-GB" sz="4000" b="1">
              <a:solidFill>
                <a:srgbClr val="E4005C"/>
              </a:solidFill>
            </a:endParaRPr>
          </a:p>
        </p:txBody>
      </p:sp>
      <p:sp>
        <p:nvSpPr>
          <p:cNvPr id="8195" name="Rectangle 3"/>
          <p:cNvSpPr>
            <a:spLocks noGrp="1" noChangeArrowheads="1"/>
          </p:cNvSpPr>
          <p:nvPr>
            <p:ph type="body" sz="half" idx="1"/>
          </p:nvPr>
        </p:nvSpPr>
        <p:spPr>
          <a:xfrm>
            <a:off x="457200" y="1600200"/>
            <a:ext cx="8229600" cy="4525963"/>
          </a:xfrm>
        </p:spPr>
        <p:txBody>
          <a:bodyPr/>
          <a:lstStyle/>
          <a:p>
            <a:pPr marL="392113" indent="-293688" algn="just" defTabSz="414338">
              <a:lnSpc>
                <a:spcPct val="80000"/>
              </a:lnSpc>
              <a:spcBef>
                <a:spcPct val="50000"/>
              </a:spcBef>
              <a:buClr>
                <a:srgbClr val="CC0000"/>
              </a:buClr>
              <a:buFont typeface="Wingdings" pitchFamily="2" charset="2"/>
              <a:buBlip>
                <a:blip r:embed="rId3"/>
              </a:buBlip>
            </a:pPr>
            <a:r>
              <a:rPr lang="en-US" sz="2400" b="1">
                <a:solidFill>
                  <a:srgbClr val="000066"/>
                </a:solidFill>
              </a:rPr>
              <a:t>Layer architecture simplifies the network design.</a:t>
            </a:r>
          </a:p>
          <a:p>
            <a:pPr marL="392113" indent="-293688" algn="just" defTabSz="414338">
              <a:lnSpc>
                <a:spcPct val="80000"/>
              </a:lnSpc>
              <a:spcBef>
                <a:spcPct val="50000"/>
              </a:spcBef>
              <a:buClr>
                <a:srgbClr val="CC0000"/>
              </a:buClr>
              <a:buFont typeface="Wingdings" pitchFamily="2" charset="2"/>
              <a:buBlip>
                <a:blip r:embed="rId3"/>
              </a:buBlip>
            </a:pPr>
            <a:r>
              <a:rPr lang="en-US" sz="2400" b="1">
                <a:solidFill>
                  <a:srgbClr val="000066"/>
                </a:solidFill>
              </a:rPr>
              <a:t>It is easy to debug network applications in a layered architecture network.</a:t>
            </a:r>
          </a:p>
          <a:p>
            <a:pPr marL="392113" indent="-293688" algn="just" defTabSz="414338">
              <a:lnSpc>
                <a:spcPct val="80000"/>
              </a:lnSpc>
              <a:spcBef>
                <a:spcPct val="50000"/>
              </a:spcBef>
              <a:buClr>
                <a:srgbClr val="CC0000"/>
              </a:buClr>
              <a:buFont typeface="Wingdings" pitchFamily="2" charset="2"/>
              <a:buBlip>
                <a:blip r:embed="rId3"/>
              </a:buBlip>
            </a:pPr>
            <a:r>
              <a:rPr lang="en-US" sz="2400" b="1">
                <a:solidFill>
                  <a:srgbClr val="000066"/>
                </a:solidFill>
              </a:rPr>
              <a:t>The network management is easier due to the layered architecture.</a:t>
            </a:r>
          </a:p>
          <a:p>
            <a:pPr marL="392113" indent="-293688" algn="just" defTabSz="414338">
              <a:lnSpc>
                <a:spcPct val="80000"/>
              </a:lnSpc>
              <a:spcBef>
                <a:spcPct val="50000"/>
              </a:spcBef>
              <a:buClr>
                <a:srgbClr val="CC0000"/>
              </a:buClr>
              <a:buFont typeface="Wingdings" pitchFamily="2" charset="2"/>
              <a:buBlip>
                <a:blip r:embed="rId3"/>
              </a:buBlip>
            </a:pPr>
            <a:r>
              <a:rPr lang="en-US" sz="2400" b="1">
                <a:solidFill>
                  <a:srgbClr val="000066"/>
                </a:solidFill>
              </a:rPr>
              <a:t>Network layers follow a set of rules, called protocol.</a:t>
            </a:r>
          </a:p>
          <a:p>
            <a:pPr marL="392113" indent="-293688" algn="just" defTabSz="414338">
              <a:lnSpc>
                <a:spcPct val="80000"/>
              </a:lnSpc>
              <a:spcBef>
                <a:spcPct val="50000"/>
              </a:spcBef>
              <a:buClr>
                <a:srgbClr val="CC0000"/>
              </a:buClr>
              <a:buFont typeface="Wingdings" pitchFamily="2" charset="2"/>
              <a:buBlip>
                <a:blip r:embed="rId3"/>
              </a:buBlip>
            </a:pPr>
            <a:r>
              <a:rPr lang="en-US" sz="2400" b="1">
                <a:solidFill>
                  <a:srgbClr val="000066"/>
                </a:solidFill>
              </a:rPr>
              <a:t>The protocol defines the format of the data being exchanged, and the control and timing for the handshake between layers.</a:t>
            </a:r>
          </a:p>
          <a:p>
            <a:pPr marL="392113" indent="-293688" defTabSz="414338">
              <a:lnSpc>
                <a:spcPct val="80000"/>
              </a:lnSpc>
              <a:spcBef>
                <a:spcPct val="50000"/>
              </a:spcBef>
              <a:buClr>
                <a:srgbClr val="CC0000"/>
              </a:buClr>
              <a:buFont typeface="Wingdings" pitchFamily="2" charset="2"/>
              <a:buBlip>
                <a:blip r:embed="rId3"/>
              </a:buBlip>
            </a:pPr>
            <a:endParaRPr lang="en-US" sz="2400" b="1">
              <a:solidFill>
                <a:srgbClr val="000066"/>
              </a:solidFill>
            </a:endParaRPr>
          </a:p>
        </p:txBody>
      </p:sp>
      <p:sp>
        <p:nvSpPr>
          <p:cNvPr id="8196" name="AutoShape 4"/>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p>
            <a:endParaRPr lang="en-US"/>
          </a:p>
        </p:txBody>
      </p:sp>
      <p:sp>
        <p:nvSpPr>
          <p:cNvPr id="8197" name="AutoShape 5"/>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8198" name="AutoShape 6"/>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8199" name="AutoShape 7"/>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8200" name="Text Box 8"/>
          <p:cNvSpPr txBox="1">
            <a:spLocks noChangeArrowheads="1"/>
          </p:cNvSpPr>
          <p:nvPr/>
        </p:nvSpPr>
        <p:spPr bwMode="auto">
          <a:xfrm>
            <a:off x="123825" y="104775"/>
            <a:ext cx="58197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1pPr>
            <a:lvl2pPr marL="4143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2pPr>
            <a:lvl3pPr marL="828675"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3pPr>
            <a:lvl4pPr marL="1244600"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4pPr>
            <a:lvl5pPr marL="16589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5pPr>
            <a:lvl6pPr marL="21161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6pPr>
            <a:lvl7pPr marL="25733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7pPr>
            <a:lvl8pPr marL="30305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8pPr>
            <a:lvl9pPr marL="34877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9pPr>
          </a:lstStyle>
          <a:p>
            <a:pPr hangingPunct="0">
              <a:lnSpc>
                <a:spcPct val="95000"/>
              </a:lnSpc>
              <a:buClr>
                <a:srgbClr val="000000"/>
              </a:buClr>
              <a:buSzPct val="45000"/>
              <a:buFont typeface="StarSymbol" charset="0"/>
              <a:buNone/>
            </a:pPr>
            <a:r>
              <a:rPr lang="en-GB" b="1">
                <a:solidFill>
                  <a:schemeClr val="bg1"/>
                </a:solidFill>
              </a:rPr>
              <a:t>OSI Model</a:t>
            </a:r>
          </a:p>
        </p:txBody>
      </p:sp>
      <p:sp>
        <p:nvSpPr>
          <p:cNvPr id="8201" name="AutoShape 9"/>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p>
            <a:endParaRPr lang="en-US"/>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685800"/>
            <a:ext cx="8229600" cy="1066800"/>
          </a:xfrm>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a:solidFill>
                  <a:srgbClr val="E4005C"/>
                </a:solidFill>
              </a:rPr>
              <a:t>Open Systems Interconnection (OSI) Model</a:t>
            </a:r>
            <a:endParaRPr lang="en-GB" sz="4000" b="1">
              <a:solidFill>
                <a:srgbClr val="E4005C"/>
              </a:solidFill>
            </a:endParaRPr>
          </a:p>
        </p:txBody>
      </p:sp>
      <p:sp>
        <p:nvSpPr>
          <p:cNvPr id="10243" name="Rectangle 3"/>
          <p:cNvSpPr>
            <a:spLocks noGrp="1" noChangeArrowheads="1"/>
          </p:cNvSpPr>
          <p:nvPr>
            <p:ph type="body" sz="half" idx="1"/>
          </p:nvPr>
        </p:nvSpPr>
        <p:spPr>
          <a:xfrm>
            <a:off x="457200" y="2057400"/>
            <a:ext cx="8229600" cy="4068763"/>
          </a:xfrm>
        </p:spPr>
        <p:txBody>
          <a:bodyPr/>
          <a:lstStyle/>
          <a:p>
            <a:pPr marL="392113" indent="-293688" algn="just" defTabSz="414338">
              <a:lnSpc>
                <a:spcPct val="80000"/>
              </a:lnSpc>
              <a:spcBef>
                <a:spcPct val="50000"/>
              </a:spcBef>
              <a:buClr>
                <a:srgbClr val="CC0000"/>
              </a:buClr>
              <a:buFont typeface="Wingdings" pitchFamily="2" charset="2"/>
              <a:buBlip>
                <a:blip r:embed="rId3"/>
              </a:buBlip>
            </a:pPr>
            <a:r>
              <a:rPr lang="en-US" sz="2400" b="1">
                <a:solidFill>
                  <a:srgbClr val="000066"/>
                </a:solidFill>
              </a:rPr>
              <a:t>International standard organization (ISO) established a committee in 1977 to develop an architecture for computer communication.</a:t>
            </a:r>
          </a:p>
          <a:p>
            <a:pPr marL="392113" indent="-293688" algn="just" defTabSz="414338">
              <a:lnSpc>
                <a:spcPct val="80000"/>
              </a:lnSpc>
              <a:spcBef>
                <a:spcPct val="50000"/>
              </a:spcBef>
              <a:buClr>
                <a:srgbClr val="CC0000"/>
              </a:buClr>
              <a:buFont typeface="Wingdings" pitchFamily="2" charset="2"/>
              <a:buBlip>
                <a:blip r:embed="rId3"/>
              </a:buBlip>
            </a:pPr>
            <a:r>
              <a:rPr lang="en-US" sz="2400" b="1">
                <a:solidFill>
                  <a:srgbClr val="000066"/>
                </a:solidFill>
              </a:rPr>
              <a:t>Open Systems Interconnection (OSI) reference model is the result of this effort.</a:t>
            </a:r>
          </a:p>
          <a:p>
            <a:pPr marL="392113" indent="-293688" algn="just" defTabSz="414338">
              <a:lnSpc>
                <a:spcPct val="80000"/>
              </a:lnSpc>
              <a:spcBef>
                <a:spcPct val="50000"/>
              </a:spcBef>
              <a:buClr>
                <a:srgbClr val="CC0000"/>
              </a:buClr>
              <a:buFont typeface="Wingdings" pitchFamily="2" charset="2"/>
              <a:buBlip>
                <a:blip r:embed="rId3"/>
              </a:buBlip>
            </a:pPr>
            <a:r>
              <a:rPr lang="en-GB" sz="2400" b="1">
                <a:solidFill>
                  <a:srgbClr val="000066"/>
                </a:solidFill>
              </a:rPr>
              <a:t>In 1984, the Open Systems Interconnection (OSI) reference model was approved as an international standard for communications architecture.</a:t>
            </a:r>
          </a:p>
          <a:p>
            <a:pPr marL="392113" indent="-293688" algn="just" defTabSz="414338">
              <a:lnSpc>
                <a:spcPct val="80000"/>
              </a:lnSpc>
              <a:spcBef>
                <a:spcPct val="50000"/>
              </a:spcBef>
              <a:buClr>
                <a:srgbClr val="CC0000"/>
              </a:buClr>
              <a:buFont typeface="Wingdings" pitchFamily="2" charset="2"/>
              <a:buBlip>
                <a:blip r:embed="rId3"/>
              </a:buBlip>
            </a:pPr>
            <a:r>
              <a:rPr lang="en-US" sz="2400" b="1">
                <a:solidFill>
                  <a:srgbClr val="000066"/>
                </a:solidFill>
              </a:rPr>
              <a:t>Term  “open”  denotes the ability to connect any two systems which conform to the reference model and associated standards.</a:t>
            </a:r>
          </a:p>
          <a:p>
            <a:pPr marL="392113" indent="-293688" defTabSz="414338">
              <a:lnSpc>
                <a:spcPct val="80000"/>
              </a:lnSpc>
              <a:spcBef>
                <a:spcPct val="50000"/>
              </a:spcBef>
              <a:buClr>
                <a:srgbClr val="CC0000"/>
              </a:buClr>
              <a:buFont typeface="Wingdings" pitchFamily="2" charset="2"/>
              <a:buBlip>
                <a:blip r:embed="rId3"/>
              </a:buBlip>
            </a:pPr>
            <a:endParaRPr lang="en-US" sz="2400" b="1">
              <a:solidFill>
                <a:srgbClr val="000066"/>
              </a:solidFill>
            </a:endParaRPr>
          </a:p>
        </p:txBody>
      </p:sp>
      <p:sp>
        <p:nvSpPr>
          <p:cNvPr id="10244" name="AutoShape 4"/>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p>
            <a:endParaRPr lang="en-US"/>
          </a:p>
        </p:txBody>
      </p:sp>
      <p:sp>
        <p:nvSpPr>
          <p:cNvPr id="10245" name="AutoShape 5"/>
          <p:cNvSpPr>
            <a:spLocks noChangeArrowheads="1"/>
          </p:cNvSpPr>
          <p:nvPr/>
        </p:nvSpPr>
        <p:spPr bwMode="auto">
          <a:xfrm>
            <a:off x="511175" y="1535113"/>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10246" name="AutoShape 6"/>
          <p:cNvSpPr>
            <a:spLocks noChangeArrowheads="1"/>
          </p:cNvSpPr>
          <p:nvPr/>
        </p:nvSpPr>
        <p:spPr bwMode="auto">
          <a:xfrm>
            <a:off x="635000" y="1657350"/>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10247" name="AutoShape 7"/>
          <p:cNvSpPr>
            <a:spLocks noChangeArrowheads="1"/>
          </p:cNvSpPr>
          <p:nvPr/>
        </p:nvSpPr>
        <p:spPr bwMode="auto">
          <a:xfrm>
            <a:off x="990600" y="1905000"/>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10248" name="Text Box 8"/>
          <p:cNvSpPr txBox="1">
            <a:spLocks noChangeArrowheads="1"/>
          </p:cNvSpPr>
          <p:nvPr/>
        </p:nvSpPr>
        <p:spPr bwMode="auto">
          <a:xfrm>
            <a:off x="123825" y="104775"/>
            <a:ext cx="58197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1pPr>
            <a:lvl2pPr marL="4143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2pPr>
            <a:lvl3pPr marL="828675"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3pPr>
            <a:lvl4pPr marL="1244600"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4pPr>
            <a:lvl5pPr marL="16589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5pPr>
            <a:lvl6pPr marL="21161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6pPr>
            <a:lvl7pPr marL="25733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7pPr>
            <a:lvl8pPr marL="30305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8pPr>
            <a:lvl9pPr marL="34877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9pPr>
          </a:lstStyle>
          <a:p>
            <a:pPr hangingPunct="0">
              <a:lnSpc>
                <a:spcPct val="95000"/>
              </a:lnSpc>
              <a:buClr>
                <a:srgbClr val="000000"/>
              </a:buClr>
              <a:buSzPct val="45000"/>
              <a:buFont typeface="StarSymbol" charset="0"/>
              <a:buNone/>
            </a:pPr>
            <a:r>
              <a:rPr lang="en-GB" b="1">
                <a:solidFill>
                  <a:schemeClr val="bg1"/>
                </a:solidFill>
              </a:rPr>
              <a:t>OSI Model</a:t>
            </a:r>
          </a:p>
        </p:txBody>
      </p:sp>
      <p:sp>
        <p:nvSpPr>
          <p:cNvPr id="10249" name="AutoShape 9"/>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p>
            <a:endParaRPr lang="en-US"/>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457200" y="685800"/>
            <a:ext cx="8229600" cy="1066800"/>
          </a:xfrm>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a:solidFill>
                  <a:srgbClr val="E4005C"/>
                </a:solidFill>
              </a:rPr>
              <a:t>OSI Reference Model</a:t>
            </a:r>
            <a:endParaRPr lang="en-GB" sz="4000" b="1">
              <a:solidFill>
                <a:srgbClr val="E4005C"/>
              </a:solidFill>
            </a:endParaRPr>
          </a:p>
        </p:txBody>
      </p:sp>
      <p:sp>
        <p:nvSpPr>
          <p:cNvPr id="12291" name="Rectangle 3"/>
          <p:cNvSpPr>
            <a:spLocks noGrp="1" noChangeArrowheads="1"/>
          </p:cNvSpPr>
          <p:nvPr>
            <p:ph type="body" sz="half" idx="1"/>
          </p:nvPr>
        </p:nvSpPr>
        <p:spPr>
          <a:xfrm>
            <a:off x="457200" y="1600200"/>
            <a:ext cx="8229600" cy="5029200"/>
          </a:xfrm>
        </p:spPr>
        <p:txBody>
          <a:bodyPr/>
          <a:lstStyle/>
          <a:p>
            <a:pPr marL="392113" indent="-293688" algn="just" defTabSz="414338">
              <a:lnSpc>
                <a:spcPct val="90000"/>
              </a:lnSpc>
              <a:spcBef>
                <a:spcPct val="50000"/>
              </a:spcBef>
              <a:buClr>
                <a:srgbClr val="CC0000"/>
              </a:buClr>
              <a:buFont typeface="Wingdings" pitchFamily="2" charset="2"/>
              <a:buBlip>
                <a:blip r:embed="rId3"/>
              </a:buBlip>
            </a:pPr>
            <a:r>
              <a:rPr lang="en-GB" sz="2400" b="1">
                <a:solidFill>
                  <a:srgbClr val="000066"/>
                </a:solidFill>
              </a:rPr>
              <a:t>The OSI model is now considered the primary Architectural  model for inter-computer communications.</a:t>
            </a:r>
          </a:p>
          <a:p>
            <a:pPr marL="392113" indent="-293688" algn="just" defTabSz="414338">
              <a:lnSpc>
                <a:spcPct val="90000"/>
              </a:lnSpc>
              <a:spcBef>
                <a:spcPct val="50000"/>
              </a:spcBef>
              <a:buClr>
                <a:srgbClr val="CC0000"/>
              </a:buClr>
              <a:buFont typeface="Wingdings" pitchFamily="2" charset="2"/>
              <a:buBlip>
                <a:blip r:embed="rId3"/>
              </a:buBlip>
            </a:pPr>
            <a:r>
              <a:rPr lang="en-GB" sz="2400" b="1">
                <a:solidFill>
                  <a:srgbClr val="000066"/>
                </a:solidFill>
              </a:rPr>
              <a:t>The OSI model describes how information or data makes its way from application programmes (such as spreadsheets) through a network medium (such as wire) to another application programme located on another network.</a:t>
            </a:r>
          </a:p>
          <a:p>
            <a:pPr marL="392113" indent="-293688" algn="just" defTabSz="414338">
              <a:lnSpc>
                <a:spcPct val="90000"/>
              </a:lnSpc>
              <a:spcBef>
                <a:spcPct val="50000"/>
              </a:spcBef>
              <a:buClr>
                <a:srgbClr val="CC0000"/>
              </a:buClr>
              <a:buFont typeface="Wingdings" pitchFamily="2" charset="2"/>
              <a:buBlip>
                <a:blip r:embed="rId3"/>
              </a:buBlip>
            </a:pPr>
            <a:r>
              <a:rPr lang="en-GB" sz="2400" b="1">
                <a:solidFill>
                  <a:srgbClr val="000066"/>
                </a:solidFill>
              </a:rPr>
              <a:t>The OSI reference model divides the problem of moving information between computers over a network medium into SEVEN smaller and more manageable problems .</a:t>
            </a:r>
          </a:p>
          <a:p>
            <a:pPr marL="392113" indent="-293688" algn="just" defTabSz="414338">
              <a:lnSpc>
                <a:spcPct val="90000"/>
              </a:lnSpc>
              <a:spcBef>
                <a:spcPct val="50000"/>
              </a:spcBef>
              <a:buClr>
                <a:srgbClr val="CC0000"/>
              </a:buClr>
              <a:buFont typeface="Wingdings" pitchFamily="2" charset="2"/>
              <a:buBlip>
                <a:blip r:embed="rId3"/>
              </a:buBlip>
            </a:pPr>
            <a:r>
              <a:rPr lang="en-GB" sz="2400" b="1">
                <a:solidFill>
                  <a:srgbClr val="000066"/>
                </a:solidFill>
              </a:rPr>
              <a:t>This separation into smaller more manageable functions is known as layering.</a:t>
            </a:r>
            <a:endParaRPr lang="en-US" sz="2400" b="1">
              <a:solidFill>
                <a:srgbClr val="000066"/>
              </a:solidFill>
            </a:endParaRPr>
          </a:p>
        </p:txBody>
      </p:sp>
      <p:sp>
        <p:nvSpPr>
          <p:cNvPr id="12292" name="AutoShape 4"/>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p>
            <a:endParaRPr lang="en-US"/>
          </a:p>
        </p:txBody>
      </p:sp>
      <p:sp>
        <p:nvSpPr>
          <p:cNvPr id="12293" name="AutoShape 5"/>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12294" name="AutoShape 6"/>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12295" name="AutoShape 7"/>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12296" name="Text Box 8"/>
          <p:cNvSpPr txBox="1">
            <a:spLocks noChangeArrowheads="1"/>
          </p:cNvSpPr>
          <p:nvPr/>
        </p:nvSpPr>
        <p:spPr bwMode="auto">
          <a:xfrm>
            <a:off x="123825" y="104775"/>
            <a:ext cx="58197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1pPr>
            <a:lvl2pPr marL="4143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2pPr>
            <a:lvl3pPr marL="828675"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3pPr>
            <a:lvl4pPr marL="1244600"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4pPr>
            <a:lvl5pPr marL="16589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5pPr>
            <a:lvl6pPr marL="21161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6pPr>
            <a:lvl7pPr marL="25733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7pPr>
            <a:lvl8pPr marL="30305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8pPr>
            <a:lvl9pPr marL="34877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9pPr>
          </a:lstStyle>
          <a:p>
            <a:pPr hangingPunct="0">
              <a:lnSpc>
                <a:spcPct val="95000"/>
              </a:lnSpc>
              <a:buClr>
                <a:srgbClr val="000000"/>
              </a:buClr>
              <a:buSzPct val="45000"/>
              <a:buFont typeface="StarSymbol" charset="0"/>
              <a:buNone/>
            </a:pPr>
            <a:r>
              <a:rPr lang="en-GB" b="1">
                <a:solidFill>
                  <a:schemeClr val="bg1"/>
                </a:solidFill>
              </a:rPr>
              <a:t>OSI Model</a:t>
            </a:r>
          </a:p>
        </p:txBody>
      </p:sp>
      <p:sp>
        <p:nvSpPr>
          <p:cNvPr id="12297" name="AutoShape 9"/>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p>
            <a:endParaRPr lang="en-US"/>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609600"/>
            <a:ext cx="8229600" cy="1143000"/>
          </a:xfrm>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a:solidFill>
                  <a:srgbClr val="E4005C"/>
                </a:solidFill>
              </a:rPr>
              <a:t>OSI Reference Model: 7 Layers</a:t>
            </a:r>
            <a:endParaRPr lang="en-GB" sz="4000" b="1">
              <a:solidFill>
                <a:srgbClr val="E4005C"/>
              </a:solidFill>
            </a:endParaRPr>
          </a:p>
        </p:txBody>
      </p:sp>
      <p:sp>
        <p:nvSpPr>
          <p:cNvPr id="14339" name="AutoShape 3"/>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p>
            <a:endParaRPr lang="en-US"/>
          </a:p>
        </p:txBody>
      </p:sp>
      <p:sp>
        <p:nvSpPr>
          <p:cNvPr id="14340" name="AutoShape 4"/>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14341" name="AutoShape 5"/>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14342" name="AutoShape 6"/>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14343" name="Text Box 7"/>
          <p:cNvSpPr txBox="1">
            <a:spLocks noChangeArrowheads="1"/>
          </p:cNvSpPr>
          <p:nvPr/>
        </p:nvSpPr>
        <p:spPr bwMode="auto">
          <a:xfrm>
            <a:off x="123825" y="104775"/>
            <a:ext cx="58197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1pPr>
            <a:lvl2pPr marL="4143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2pPr>
            <a:lvl3pPr marL="828675"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3pPr>
            <a:lvl4pPr marL="1244600"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4pPr>
            <a:lvl5pPr marL="16589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5pPr>
            <a:lvl6pPr marL="21161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6pPr>
            <a:lvl7pPr marL="25733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7pPr>
            <a:lvl8pPr marL="30305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8pPr>
            <a:lvl9pPr marL="34877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9pPr>
          </a:lstStyle>
          <a:p>
            <a:pPr hangingPunct="0">
              <a:lnSpc>
                <a:spcPct val="95000"/>
              </a:lnSpc>
              <a:buClr>
                <a:srgbClr val="000000"/>
              </a:buClr>
              <a:buSzPct val="45000"/>
              <a:buFont typeface="StarSymbol" charset="0"/>
              <a:buNone/>
            </a:pPr>
            <a:r>
              <a:rPr lang="en-GB" b="1">
                <a:solidFill>
                  <a:schemeClr val="bg1"/>
                </a:solidFill>
              </a:rPr>
              <a:t>OSI Model</a:t>
            </a:r>
          </a:p>
        </p:txBody>
      </p:sp>
      <p:sp>
        <p:nvSpPr>
          <p:cNvPr id="14344" name="AutoShape 8"/>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p>
            <a:endParaRPr lang="en-US"/>
          </a:p>
        </p:txBody>
      </p:sp>
      <p:pic>
        <p:nvPicPr>
          <p:cNvPr id="14345" name="Picture 9"/>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85800" y="1924050"/>
            <a:ext cx="8153400" cy="47053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685800"/>
            <a:ext cx="8229600" cy="1066800"/>
          </a:xfrm>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a:solidFill>
                  <a:srgbClr val="E4005C"/>
                </a:solidFill>
              </a:rPr>
              <a:t>OSI: A Layered Network Model</a:t>
            </a:r>
            <a:endParaRPr lang="en-GB" sz="4000" b="1">
              <a:solidFill>
                <a:srgbClr val="E4005C"/>
              </a:solidFill>
            </a:endParaRPr>
          </a:p>
        </p:txBody>
      </p:sp>
      <p:sp>
        <p:nvSpPr>
          <p:cNvPr id="16387" name="Rectangle 3"/>
          <p:cNvSpPr>
            <a:spLocks noGrp="1" noChangeArrowheads="1"/>
          </p:cNvSpPr>
          <p:nvPr>
            <p:ph type="body" sz="half" idx="1"/>
          </p:nvPr>
        </p:nvSpPr>
        <p:spPr>
          <a:xfrm>
            <a:off x="457200" y="1600200"/>
            <a:ext cx="8305800" cy="4525963"/>
          </a:xfrm>
        </p:spPr>
        <p:txBody>
          <a:bodyPr/>
          <a:lstStyle/>
          <a:p>
            <a:pPr marL="392113" indent="-293688" algn="just" defTabSz="414338">
              <a:lnSpc>
                <a:spcPct val="80000"/>
              </a:lnSpc>
              <a:spcBef>
                <a:spcPct val="45000"/>
              </a:spcBef>
              <a:buClr>
                <a:srgbClr val="CC0000"/>
              </a:buClr>
              <a:buFont typeface="Wingdings" pitchFamily="2" charset="2"/>
              <a:buBlip>
                <a:blip r:embed="rId3"/>
              </a:buBlip>
            </a:pPr>
            <a:r>
              <a:rPr lang="en-GB" sz="2400" b="1">
                <a:solidFill>
                  <a:srgbClr val="000066"/>
                </a:solidFill>
              </a:rPr>
              <a:t>The process of breaking up the functions or tasks of networking into layers reduces complexity.</a:t>
            </a:r>
          </a:p>
          <a:p>
            <a:pPr marL="392113" indent="-293688" algn="just" defTabSz="414338">
              <a:lnSpc>
                <a:spcPct val="80000"/>
              </a:lnSpc>
              <a:spcBef>
                <a:spcPct val="45000"/>
              </a:spcBef>
              <a:buClr>
                <a:srgbClr val="CC0000"/>
              </a:buClr>
              <a:buFont typeface="Wingdings" pitchFamily="2" charset="2"/>
              <a:buBlip>
                <a:blip r:embed="rId3"/>
              </a:buBlip>
            </a:pPr>
            <a:r>
              <a:rPr lang="en-GB" sz="2400" b="1">
                <a:solidFill>
                  <a:srgbClr val="000066"/>
                </a:solidFill>
              </a:rPr>
              <a:t>Each layer provides a service to the layer above it in the protocol specification.</a:t>
            </a:r>
          </a:p>
          <a:p>
            <a:pPr marL="392113" indent="-293688" algn="just" defTabSz="414338">
              <a:lnSpc>
                <a:spcPct val="80000"/>
              </a:lnSpc>
              <a:spcBef>
                <a:spcPct val="45000"/>
              </a:spcBef>
              <a:buClr>
                <a:srgbClr val="CC0000"/>
              </a:buClr>
              <a:buFont typeface="Wingdings" pitchFamily="2" charset="2"/>
              <a:buBlip>
                <a:blip r:embed="rId3"/>
              </a:buBlip>
            </a:pPr>
            <a:r>
              <a:rPr lang="en-GB" sz="2400" b="1">
                <a:solidFill>
                  <a:srgbClr val="000066"/>
                </a:solidFill>
              </a:rPr>
              <a:t> Each layer communicates with the same layer’s software or hardware on other computers. </a:t>
            </a:r>
          </a:p>
          <a:p>
            <a:pPr marL="392113" indent="-293688" algn="just" defTabSz="414338">
              <a:lnSpc>
                <a:spcPct val="80000"/>
              </a:lnSpc>
              <a:spcBef>
                <a:spcPct val="45000"/>
              </a:spcBef>
              <a:buClr>
                <a:srgbClr val="CC0000"/>
              </a:buClr>
              <a:buFont typeface="Wingdings" pitchFamily="2" charset="2"/>
              <a:buBlip>
                <a:blip r:embed="rId3"/>
              </a:buBlip>
            </a:pPr>
            <a:r>
              <a:rPr lang="en-GB" sz="2400" b="1">
                <a:solidFill>
                  <a:srgbClr val="000066"/>
                </a:solidFill>
              </a:rPr>
              <a:t>The lower 4 layers (transport, network, data link and physical —Layers 4, 3, 2, and 1) are concerned with the flow of data from end to end through the network. </a:t>
            </a:r>
          </a:p>
          <a:p>
            <a:pPr marL="392113" indent="-293688" algn="just" defTabSz="414338">
              <a:lnSpc>
                <a:spcPct val="80000"/>
              </a:lnSpc>
              <a:spcBef>
                <a:spcPct val="45000"/>
              </a:spcBef>
              <a:buClr>
                <a:srgbClr val="CC0000"/>
              </a:buClr>
              <a:buFont typeface="Wingdings" pitchFamily="2" charset="2"/>
              <a:buBlip>
                <a:blip r:embed="rId3"/>
              </a:buBlip>
            </a:pPr>
            <a:r>
              <a:rPr lang="en-GB" sz="2400" b="1">
                <a:solidFill>
                  <a:srgbClr val="000066"/>
                </a:solidFill>
              </a:rPr>
              <a:t>The upper four layers of the OSI model (application, presentation and session—Layers 7, 6 and 5) are orientated more toward services to the applications. </a:t>
            </a:r>
          </a:p>
          <a:p>
            <a:pPr marL="392113" indent="-293688" algn="just" defTabSz="414338">
              <a:lnSpc>
                <a:spcPct val="80000"/>
              </a:lnSpc>
              <a:spcBef>
                <a:spcPct val="45000"/>
              </a:spcBef>
              <a:buClr>
                <a:srgbClr val="CC0000"/>
              </a:buClr>
              <a:buFont typeface="Wingdings" pitchFamily="2" charset="2"/>
              <a:buBlip>
                <a:blip r:embed="rId3"/>
              </a:buBlip>
            </a:pPr>
            <a:r>
              <a:rPr lang="en-GB" sz="2400" b="1">
                <a:solidFill>
                  <a:srgbClr val="000066"/>
                </a:solidFill>
              </a:rPr>
              <a:t>Data is </a:t>
            </a:r>
            <a:r>
              <a:rPr lang="en-US" sz="2400" b="1">
                <a:solidFill>
                  <a:srgbClr val="000066"/>
                </a:solidFill>
              </a:rPr>
              <a:t>Encapsulated with the necessary protocol information as it moves down the layers before network transit.</a:t>
            </a:r>
          </a:p>
        </p:txBody>
      </p:sp>
      <p:sp>
        <p:nvSpPr>
          <p:cNvPr id="16388" name="AutoShape 4"/>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p>
            <a:endParaRPr lang="en-US"/>
          </a:p>
        </p:txBody>
      </p:sp>
      <p:sp>
        <p:nvSpPr>
          <p:cNvPr id="16389" name="AutoShape 5"/>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16390" name="AutoShape 6"/>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16391" name="AutoShape 7"/>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16392" name="Text Box 8"/>
          <p:cNvSpPr txBox="1">
            <a:spLocks noChangeArrowheads="1"/>
          </p:cNvSpPr>
          <p:nvPr/>
        </p:nvSpPr>
        <p:spPr bwMode="auto">
          <a:xfrm>
            <a:off x="123825" y="104775"/>
            <a:ext cx="58197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1pPr>
            <a:lvl2pPr marL="4143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2pPr>
            <a:lvl3pPr marL="828675"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3pPr>
            <a:lvl4pPr marL="1244600"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4pPr>
            <a:lvl5pPr marL="16589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5pPr>
            <a:lvl6pPr marL="21161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6pPr>
            <a:lvl7pPr marL="25733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7pPr>
            <a:lvl8pPr marL="30305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8pPr>
            <a:lvl9pPr marL="34877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9pPr>
          </a:lstStyle>
          <a:p>
            <a:pPr hangingPunct="0">
              <a:lnSpc>
                <a:spcPct val="95000"/>
              </a:lnSpc>
              <a:buClr>
                <a:srgbClr val="000000"/>
              </a:buClr>
              <a:buSzPct val="45000"/>
              <a:buFont typeface="StarSymbol" charset="0"/>
              <a:buNone/>
            </a:pPr>
            <a:r>
              <a:rPr lang="en-GB" b="1">
                <a:solidFill>
                  <a:schemeClr val="bg1"/>
                </a:solidFill>
              </a:rPr>
              <a:t>OSI Model</a:t>
            </a:r>
          </a:p>
        </p:txBody>
      </p:sp>
      <p:sp>
        <p:nvSpPr>
          <p:cNvPr id="16393" name="AutoShape 9"/>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p>
            <a:endParaRPr lang="en-US"/>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457200"/>
          </a:xfrm>
        </p:spPr>
        <p:txBody>
          <a:bodyPr/>
          <a:lstStyle/>
          <a:p>
            <a:pPr>
              <a:lnSpc>
                <a:spcPct val="115000"/>
              </a:lnSpc>
              <a:spcAft>
                <a:spcPts val="1000"/>
              </a:spcAft>
            </a:pPr>
            <a:r>
              <a:rPr lang="en-US" b="1" dirty="0" smtClean="0">
                <a:solidFill>
                  <a:srgbClr val="42444E"/>
                </a:solidFill>
                <a:effectLst/>
                <a:latin typeface="Segoe UI"/>
                <a:ea typeface="Times New Roman"/>
                <a:cs typeface="Mangal"/>
              </a:rPr>
              <a:t/>
            </a:r>
            <a:br>
              <a:rPr lang="en-US" b="1" dirty="0" smtClean="0">
                <a:solidFill>
                  <a:srgbClr val="42444E"/>
                </a:solidFill>
                <a:effectLst/>
                <a:latin typeface="Segoe UI"/>
                <a:ea typeface="Times New Roman"/>
                <a:cs typeface="Mangal"/>
              </a:rPr>
            </a:br>
            <a:r>
              <a:rPr lang="en-US" b="1" dirty="0" smtClean="0">
                <a:solidFill>
                  <a:srgbClr val="FF0000"/>
                </a:solidFill>
                <a:effectLst/>
                <a:latin typeface="Segoe UI"/>
                <a:ea typeface="Times New Roman"/>
                <a:cs typeface="Mangal"/>
              </a:rPr>
              <a:t>Application Layer</a:t>
            </a:r>
            <a:r>
              <a:rPr lang="en-US" sz="3600" dirty="0" smtClean="0">
                <a:effectLst/>
                <a:latin typeface="Calibri"/>
                <a:ea typeface="Calibri"/>
                <a:cs typeface="Mangal"/>
              </a:rPr>
              <a:t/>
            </a:r>
            <a:br>
              <a:rPr lang="en-US" sz="3600" dirty="0" smtClean="0">
                <a:effectLst/>
                <a:latin typeface="Calibri"/>
                <a:ea typeface="Calibri"/>
                <a:cs typeface="Mangal"/>
              </a:rPr>
            </a:br>
            <a:endParaRPr lang="en-US" dirty="0"/>
          </a:p>
        </p:txBody>
      </p:sp>
      <p:sp>
        <p:nvSpPr>
          <p:cNvPr id="3" name="Text Placeholder 2"/>
          <p:cNvSpPr>
            <a:spLocks noGrp="1"/>
          </p:cNvSpPr>
          <p:nvPr>
            <p:ph type="body" sz="half" idx="1"/>
          </p:nvPr>
        </p:nvSpPr>
        <p:spPr>
          <a:xfrm>
            <a:off x="152400" y="838200"/>
            <a:ext cx="8686800" cy="5867400"/>
          </a:xfrm>
        </p:spPr>
        <p:txBody>
          <a:bodyPr/>
          <a:lstStyle/>
          <a:p>
            <a:pPr marL="0" indent="0" algn="just">
              <a:spcAft>
                <a:spcPts val="1000"/>
              </a:spcAft>
              <a:buNone/>
            </a:pPr>
            <a:r>
              <a:rPr lang="en-US" sz="1800" dirty="0" smtClean="0">
                <a:solidFill>
                  <a:srgbClr val="0070C0"/>
                </a:solidFill>
                <a:effectLst/>
                <a:latin typeface="Segoe UI"/>
                <a:ea typeface="Times New Roman"/>
                <a:cs typeface="Mangal"/>
              </a:rPr>
              <a:t>Application layer provides platform to send and receive data over the network. All applications and utilities that communicate with network fall in this layer. For examples</a:t>
            </a:r>
            <a:endParaRPr lang="en-US" sz="1800" dirty="0" smtClean="0">
              <a:solidFill>
                <a:srgbClr val="0070C0"/>
              </a:solidFill>
              <a:effectLst/>
              <a:latin typeface="Calibri"/>
              <a:ea typeface="Calibri"/>
              <a:cs typeface="Mangal"/>
            </a:endParaRPr>
          </a:p>
          <a:p>
            <a:pPr algn="just">
              <a:spcAft>
                <a:spcPts val="1000"/>
              </a:spcAft>
            </a:pPr>
            <a:r>
              <a:rPr lang="en-US" sz="1600" b="1" dirty="0" smtClean="0">
                <a:solidFill>
                  <a:srgbClr val="563D7C"/>
                </a:solidFill>
                <a:effectLst/>
                <a:latin typeface="Segoe UI"/>
                <a:ea typeface="Times New Roman"/>
                <a:cs typeface="Mangal"/>
              </a:rPr>
              <a:t>Browsers :- </a:t>
            </a:r>
            <a:r>
              <a:rPr lang="en-US" sz="1600" dirty="0" smtClean="0">
                <a:solidFill>
                  <a:srgbClr val="212529"/>
                </a:solidFill>
                <a:effectLst/>
                <a:latin typeface="Segoe UI"/>
                <a:ea typeface="Times New Roman"/>
                <a:cs typeface="Mangal"/>
              </a:rPr>
              <a:t>Mozilla Firefox, Internet Explorer, Google Chrome </a:t>
            </a:r>
            <a:r>
              <a:rPr lang="en-US" sz="1600" dirty="0" err="1" smtClean="0">
                <a:solidFill>
                  <a:srgbClr val="212529"/>
                </a:solidFill>
                <a:effectLst/>
                <a:latin typeface="Segoe UI"/>
                <a:ea typeface="Times New Roman"/>
                <a:cs typeface="Mangal"/>
              </a:rPr>
              <a:t>etc</a:t>
            </a:r>
            <a:endParaRPr lang="en-US" sz="1600" dirty="0" smtClean="0">
              <a:effectLst/>
              <a:latin typeface="Calibri"/>
              <a:ea typeface="Calibri"/>
              <a:cs typeface="Mangal"/>
            </a:endParaRPr>
          </a:p>
          <a:p>
            <a:pPr algn="just">
              <a:spcAft>
                <a:spcPts val="1000"/>
              </a:spcAft>
            </a:pPr>
            <a:r>
              <a:rPr lang="en-US" sz="1600" b="1" dirty="0" smtClean="0">
                <a:solidFill>
                  <a:srgbClr val="563D7C"/>
                </a:solidFill>
                <a:effectLst/>
                <a:latin typeface="Segoe UI"/>
                <a:ea typeface="Times New Roman"/>
                <a:cs typeface="Mangal"/>
              </a:rPr>
              <a:t>Email clients: -</a:t>
            </a:r>
            <a:r>
              <a:rPr lang="en-US" sz="1600" dirty="0" smtClean="0">
                <a:solidFill>
                  <a:srgbClr val="212529"/>
                </a:solidFill>
                <a:effectLst/>
                <a:latin typeface="Segoe UI"/>
                <a:ea typeface="Times New Roman"/>
                <a:cs typeface="Mangal"/>
              </a:rPr>
              <a:t> Outlook Express, Mozilla Thunderbird etc.</a:t>
            </a:r>
            <a:endParaRPr lang="en-US" sz="1600" dirty="0" smtClean="0">
              <a:effectLst/>
              <a:latin typeface="Calibri"/>
              <a:ea typeface="Calibri"/>
              <a:cs typeface="Mangal"/>
            </a:endParaRPr>
          </a:p>
          <a:p>
            <a:pPr algn="just">
              <a:spcAft>
                <a:spcPts val="1000"/>
              </a:spcAft>
            </a:pPr>
            <a:r>
              <a:rPr lang="en-US" sz="1600" b="1" dirty="0" smtClean="0">
                <a:solidFill>
                  <a:srgbClr val="563D7C"/>
                </a:solidFill>
                <a:effectLst/>
                <a:latin typeface="Segoe UI"/>
                <a:ea typeface="Times New Roman"/>
                <a:cs typeface="Mangal"/>
              </a:rPr>
              <a:t>FTP clients :-</a:t>
            </a:r>
            <a:r>
              <a:rPr lang="en-US" sz="1600" dirty="0" smtClean="0">
                <a:solidFill>
                  <a:srgbClr val="212529"/>
                </a:solidFill>
                <a:effectLst/>
                <a:latin typeface="Segoe UI"/>
                <a:ea typeface="Times New Roman"/>
                <a:cs typeface="Mangal"/>
              </a:rPr>
              <a:t> </a:t>
            </a:r>
            <a:r>
              <a:rPr lang="en-US" sz="1600" dirty="0" err="1" smtClean="0">
                <a:solidFill>
                  <a:srgbClr val="212529"/>
                </a:solidFill>
                <a:effectLst/>
                <a:latin typeface="Segoe UI"/>
                <a:ea typeface="Times New Roman"/>
                <a:cs typeface="Mangal"/>
              </a:rPr>
              <a:t>Filezilla</a:t>
            </a:r>
            <a:r>
              <a:rPr lang="en-US" sz="1600" dirty="0" smtClean="0">
                <a:solidFill>
                  <a:srgbClr val="212529"/>
                </a:solidFill>
                <a:effectLst/>
                <a:latin typeface="Segoe UI"/>
                <a:ea typeface="Times New Roman"/>
                <a:cs typeface="Mangal"/>
              </a:rPr>
              <a:t>, </a:t>
            </a:r>
            <a:r>
              <a:rPr lang="en-US" sz="1600" dirty="0" err="1" smtClean="0">
                <a:solidFill>
                  <a:srgbClr val="212529"/>
                </a:solidFill>
                <a:effectLst/>
                <a:latin typeface="Segoe UI"/>
                <a:ea typeface="Times New Roman"/>
                <a:cs typeface="Mangal"/>
              </a:rPr>
              <a:t>sFTP</a:t>
            </a:r>
            <a:r>
              <a:rPr lang="en-US" sz="1600" dirty="0" smtClean="0">
                <a:solidFill>
                  <a:srgbClr val="212529"/>
                </a:solidFill>
                <a:effectLst/>
                <a:latin typeface="Segoe UI"/>
                <a:ea typeface="Times New Roman"/>
                <a:cs typeface="Mangal"/>
              </a:rPr>
              <a:t>, </a:t>
            </a:r>
            <a:r>
              <a:rPr lang="en-US" sz="1600" dirty="0" err="1" smtClean="0">
                <a:solidFill>
                  <a:srgbClr val="212529"/>
                </a:solidFill>
                <a:effectLst/>
                <a:latin typeface="Segoe UI"/>
                <a:ea typeface="Times New Roman"/>
                <a:cs typeface="Mangal"/>
              </a:rPr>
              <a:t>vsFTP</a:t>
            </a:r>
            <a:endParaRPr lang="en-US" sz="1600" dirty="0" smtClean="0">
              <a:effectLst/>
              <a:latin typeface="Calibri"/>
              <a:ea typeface="Calibri"/>
              <a:cs typeface="Mangal"/>
            </a:endParaRPr>
          </a:p>
          <a:p>
            <a:pPr algn="just">
              <a:spcAft>
                <a:spcPts val="1000"/>
              </a:spcAft>
            </a:pPr>
            <a:r>
              <a:rPr lang="en-US" sz="1600" dirty="0" smtClean="0">
                <a:solidFill>
                  <a:srgbClr val="212529"/>
                </a:solidFill>
                <a:effectLst/>
                <a:latin typeface="Segoe UI"/>
                <a:ea typeface="Times New Roman"/>
                <a:cs typeface="Mangal"/>
              </a:rPr>
              <a:t>Application layer protocols that we should know for exam are following:</a:t>
            </a:r>
            <a:endParaRPr lang="en-US" sz="1600" dirty="0" smtClean="0">
              <a:effectLst/>
              <a:latin typeface="Calibri"/>
              <a:ea typeface="Calibri"/>
              <a:cs typeface="Mangal"/>
            </a:endParaRPr>
          </a:p>
          <a:p>
            <a:pPr algn="just">
              <a:spcAft>
                <a:spcPts val="1000"/>
              </a:spcAft>
            </a:pPr>
            <a:r>
              <a:rPr lang="en-US" sz="1600" b="1" dirty="0" smtClean="0">
                <a:solidFill>
                  <a:srgbClr val="563D7C"/>
                </a:solidFill>
                <a:effectLst/>
                <a:latin typeface="Segoe UI"/>
                <a:ea typeface="Times New Roman"/>
                <a:cs typeface="Mangal"/>
              </a:rPr>
              <a:t>SNMP (</a:t>
            </a:r>
            <a:r>
              <a:rPr lang="en-US" sz="1600" b="1" i="1" dirty="0" smtClean="0">
                <a:solidFill>
                  <a:srgbClr val="FF7D35"/>
                </a:solidFill>
                <a:effectLst/>
                <a:latin typeface="Segoe UI"/>
                <a:ea typeface="Times New Roman"/>
                <a:cs typeface="Mangal"/>
              </a:rPr>
              <a:t>Simple Network Management Protocol</a:t>
            </a:r>
            <a:r>
              <a:rPr lang="en-US" sz="1600" b="1" dirty="0" smtClean="0">
                <a:solidFill>
                  <a:srgbClr val="563D7C"/>
                </a:solidFill>
                <a:effectLst/>
                <a:latin typeface="Segoe UI"/>
                <a:ea typeface="Times New Roman"/>
                <a:cs typeface="Mangal"/>
              </a:rPr>
              <a:t>) —</a:t>
            </a:r>
            <a:r>
              <a:rPr lang="en-US" sz="1600" dirty="0" smtClean="0">
                <a:solidFill>
                  <a:srgbClr val="212529"/>
                </a:solidFill>
                <a:effectLst/>
                <a:latin typeface="Segoe UI"/>
                <a:ea typeface="Times New Roman"/>
                <a:cs typeface="Mangal"/>
              </a:rPr>
              <a:t> Used to control the connected networking devices.</a:t>
            </a:r>
            <a:endParaRPr lang="en-US" sz="1600" dirty="0" smtClean="0">
              <a:effectLst/>
              <a:latin typeface="Calibri"/>
              <a:ea typeface="Calibri"/>
              <a:cs typeface="Mangal"/>
            </a:endParaRPr>
          </a:p>
          <a:p>
            <a:pPr algn="just">
              <a:spcAft>
                <a:spcPts val="1000"/>
              </a:spcAft>
            </a:pPr>
            <a:r>
              <a:rPr lang="en-US" sz="1600" b="1" dirty="0" smtClean="0">
                <a:solidFill>
                  <a:srgbClr val="563D7C"/>
                </a:solidFill>
                <a:effectLst/>
                <a:latin typeface="Segoe UI"/>
                <a:ea typeface="Times New Roman"/>
                <a:cs typeface="Mangal"/>
              </a:rPr>
              <a:t>TFTP (</a:t>
            </a:r>
            <a:r>
              <a:rPr lang="en-US" sz="1600" b="1" i="1" dirty="0" smtClean="0">
                <a:solidFill>
                  <a:srgbClr val="FF7D35"/>
                </a:solidFill>
                <a:effectLst/>
                <a:latin typeface="Segoe UI"/>
                <a:ea typeface="Times New Roman"/>
                <a:cs typeface="Mangal"/>
              </a:rPr>
              <a:t>Trivial File Transfer Protocol</a:t>
            </a:r>
            <a:r>
              <a:rPr lang="en-US" sz="1600" b="1" dirty="0" smtClean="0">
                <a:solidFill>
                  <a:srgbClr val="563D7C"/>
                </a:solidFill>
                <a:effectLst/>
                <a:latin typeface="Segoe UI"/>
                <a:ea typeface="Times New Roman"/>
                <a:cs typeface="Mangal"/>
              </a:rPr>
              <a:t>) —</a:t>
            </a:r>
            <a:r>
              <a:rPr lang="en-US" sz="1600" dirty="0" smtClean="0">
                <a:solidFill>
                  <a:srgbClr val="212529"/>
                </a:solidFill>
                <a:effectLst/>
                <a:latin typeface="Segoe UI"/>
                <a:ea typeface="Times New Roman"/>
                <a:cs typeface="Mangal"/>
              </a:rPr>
              <a:t> Used to transfer the files rapidly.</a:t>
            </a:r>
            <a:endParaRPr lang="en-US" sz="1600" dirty="0" smtClean="0">
              <a:effectLst/>
              <a:latin typeface="Calibri"/>
              <a:ea typeface="Calibri"/>
              <a:cs typeface="Mangal"/>
            </a:endParaRPr>
          </a:p>
          <a:p>
            <a:pPr algn="just">
              <a:spcAft>
                <a:spcPts val="1000"/>
              </a:spcAft>
            </a:pPr>
            <a:r>
              <a:rPr lang="en-US" sz="1600" b="1" dirty="0" smtClean="0">
                <a:solidFill>
                  <a:srgbClr val="563D7C"/>
                </a:solidFill>
                <a:effectLst/>
                <a:latin typeface="Segoe UI"/>
                <a:ea typeface="Times New Roman"/>
                <a:cs typeface="Mangal"/>
              </a:rPr>
              <a:t>DNS (</a:t>
            </a:r>
            <a:r>
              <a:rPr lang="en-US" sz="1600" b="1" i="1" dirty="0" smtClean="0">
                <a:solidFill>
                  <a:srgbClr val="FF7D35"/>
                </a:solidFill>
                <a:effectLst/>
                <a:latin typeface="Segoe UI"/>
                <a:ea typeface="Times New Roman"/>
                <a:cs typeface="Mangal"/>
              </a:rPr>
              <a:t>Domain Naming System</a:t>
            </a:r>
            <a:r>
              <a:rPr lang="en-US" sz="1600" b="1" dirty="0" smtClean="0">
                <a:solidFill>
                  <a:srgbClr val="563D7C"/>
                </a:solidFill>
                <a:effectLst/>
                <a:latin typeface="Segoe UI"/>
                <a:ea typeface="Times New Roman"/>
                <a:cs typeface="Mangal"/>
              </a:rPr>
              <a:t>) —</a:t>
            </a:r>
            <a:r>
              <a:rPr lang="en-US" sz="1600" dirty="0" smtClean="0">
                <a:solidFill>
                  <a:srgbClr val="212529"/>
                </a:solidFill>
                <a:effectLst/>
                <a:latin typeface="Segoe UI"/>
                <a:ea typeface="Times New Roman"/>
                <a:cs typeface="Mangal"/>
              </a:rPr>
              <a:t> Used to translate the name with IP address and vice versa.</a:t>
            </a:r>
            <a:endParaRPr lang="en-US" sz="1600" dirty="0" smtClean="0">
              <a:effectLst/>
              <a:latin typeface="Calibri"/>
              <a:ea typeface="Calibri"/>
              <a:cs typeface="Mangal"/>
            </a:endParaRPr>
          </a:p>
        </p:txBody>
      </p:sp>
    </p:spTree>
    <p:extLst>
      <p:ext uri="{BB962C8B-B14F-4D97-AF65-F5344CB8AC3E}">
        <p14:creationId xmlns:p14="http://schemas.microsoft.com/office/powerpoint/2010/main" val="8612016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latin typeface="Segoe UI"/>
                <a:ea typeface="Times New Roman"/>
                <a:cs typeface="Mangal"/>
              </a:rPr>
              <a:t>Application </a:t>
            </a:r>
            <a:r>
              <a:rPr lang="en-US" b="1" dirty="0" smtClean="0">
                <a:solidFill>
                  <a:srgbClr val="FF0000"/>
                </a:solidFill>
                <a:latin typeface="Segoe UI"/>
                <a:ea typeface="Times New Roman"/>
                <a:cs typeface="Mangal"/>
              </a:rPr>
              <a:t>Layer(cont..)</a:t>
            </a:r>
            <a:r>
              <a:rPr lang="en-US" sz="3600" dirty="0">
                <a:solidFill>
                  <a:srgbClr val="000000"/>
                </a:solidFill>
                <a:latin typeface="Calibri"/>
                <a:ea typeface="Calibri"/>
                <a:cs typeface="Mangal"/>
              </a:rPr>
              <a:t/>
            </a:r>
            <a:br>
              <a:rPr lang="en-US" sz="3600" dirty="0">
                <a:solidFill>
                  <a:srgbClr val="000000"/>
                </a:solidFill>
                <a:latin typeface="Calibri"/>
                <a:ea typeface="Calibri"/>
                <a:cs typeface="Mangal"/>
              </a:rPr>
            </a:br>
            <a:endParaRPr lang="en-US" dirty="0"/>
          </a:p>
        </p:txBody>
      </p:sp>
      <p:sp>
        <p:nvSpPr>
          <p:cNvPr id="3" name="Text Placeholder 2"/>
          <p:cNvSpPr>
            <a:spLocks noGrp="1"/>
          </p:cNvSpPr>
          <p:nvPr>
            <p:ph type="body" sz="half" idx="1"/>
          </p:nvPr>
        </p:nvSpPr>
        <p:spPr>
          <a:xfrm>
            <a:off x="304800" y="1143000"/>
            <a:ext cx="8382000" cy="5486400"/>
          </a:xfrm>
        </p:spPr>
        <p:txBody>
          <a:bodyPr/>
          <a:lstStyle/>
          <a:p>
            <a:pPr algn="just">
              <a:spcAft>
                <a:spcPts val="1000"/>
              </a:spcAft>
            </a:pPr>
            <a:r>
              <a:rPr lang="en-US" sz="2000" b="1" dirty="0" smtClean="0">
                <a:solidFill>
                  <a:srgbClr val="563D7C"/>
                </a:solidFill>
                <a:effectLst/>
                <a:latin typeface="Segoe UI"/>
                <a:ea typeface="Times New Roman"/>
                <a:cs typeface="Mangal"/>
              </a:rPr>
              <a:t>DHCP (</a:t>
            </a:r>
            <a:r>
              <a:rPr lang="en-US" sz="2000" b="1" i="1" dirty="0" smtClean="0">
                <a:solidFill>
                  <a:srgbClr val="FF7D35"/>
                </a:solidFill>
                <a:effectLst/>
                <a:latin typeface="Segoe UI"/>
                <a:ea typeface="Times New Roman"/>
                <a:cs typeface="Mangal"/>
              </a:rPr>
              <a:t>Dynamic Host Configuration Protocol</a:t>
            </a:r>
            <a:r>
              <a:rPr lang="en-US" sz="2000" b="1" dirty="0" smtClean="0">
                <a:solidFill>
                  <a:srgbClr val="563D7C"/>
                </a:solidFill>
                <a:effectLst/>
                <a:latin typeface="Segoe UI"/>
                <a:ea typeface="Times New Roman"/>
                <a:cs typeface="Mangal"/>
              </a:rPr>
              <a:t>) —</a:t>
            </a:r>
            <a:r>
              <a:rPr lang="en-US" sz="2000" dirty="0" smtClean="0">
                <a:solidFill>
                  <a:srgbClr val="212529"/>
                </a:solidFill>
                <a:effectLst/>
                <a:latin typeface="Segoe UI"/>
                <a:ea typeface="Times New Roman"/>
                <a:cs typeface="Mangal"/>
              </a:rPr>
              <a:t> Used to assign IP address and DNS information automatically to hosts.</a:t>
            </a:r>
            <a:endParaRPr lang="en-US" sz="2000" dirty="0" smtClean="0">
              <a:effectLst/>
              <a:latin typeface="Calibri"/>
              <a:ea typeface="Calibri"/>
              <a:cs typeface="Mangal"/>
            </a:endParaRPr>
          </a:p>
          <a:p>
            <a:pPr algn="just">
              <a:spcAft>
                <a:spcPts val="1000"/>
              </a:spcAft>
            </a:pPr>
            <a:r>
              <a:rPr lang="en-US" sz="2000" b="1" dirty="0" smtClean="0">
                <a:solidFill>
                  <a:srgbClr val="563D7C"/>
                </a:solidFill>
                <a:effectLst/>
                <a:latin typeface="Segoe UI"/>
                <a:ea typeface="Times New Roman"/>
                <a:cs typeface="Mangal"/>
              </a:rPr>
              <a:t>Telnet—</a:t>
            </a:r>
            <a:r>
              <a:rPr lang="en-US" sz="2000" dirty="0" smtClean="0">
                <a:solidFill>
                  <a:srgbClr val="212529"/>
                </a:solidFill>
                <a:effectLst/>
                <a:latin typeface="Segoe UI"/>
                <a:ea typeface="Times New Roman"/>
                <a:cs typeface="Mangal"/>
              </a:rPr>
              <a:t> used to connect remote devices.</a:t>
            </a:r>
            <a:endParaRPr lang="en-US" sz="2000" dirty="0" smtClean="0">
              <a:effectLst/>
              <a:latin typeface="Calibri"/>
              <a:ea typeface="Calibri"/>
              <a:cs typeface="Mangal"/>
            </a:endParaRPr>
          </a:p>
          <a:p>
            <a:pPr algn="just">
              <a:spcAft>
                <a:spcPts val="1000"/>
              </a:spcAft>
            </a:pPr>
            <a:r>
              <a:rPr lang="en-US" sz="2000" b="1" dirty="0" smtClean="0">
                <a:solidFill>
                  <a:srgbClr val="563D7C"/>
                </a:solidFill>
                <a:effectLst/>
                <a:latin typeface="Segoe UI"/>
                <a:ea typeface="Times New Roman"/>
                <a:cs typeface="Mangal"/>
              </a:rPr>
              <a:t>HTTP (</a:t>
            </a:r>
            <a:r>
              <a:rPr lang="en-US" sz="2000" b="1" i="1" dirty="0" smtClean="0">
                <a:solidFill>
                  <a:srgbClr val="FF7D35"/>
                </a:solidFill>
                <a:effectLst/>
                <a:latin typeface="Segoe UI"/>
                <a:ea typeface="Times New Roman"/>
                <a:cs typeface="Mangal"/>
              </a:rPr>
              <a:t>Hypertext Transfer Protocol</a:t>
            </a:r>
            <a:r>
              <a:rPr lang="en-US" sz="2000" b="1" dirty="0" smtClean="0">
                <a:solidFill>
                  <a:srgbClr val="563D7C"/>
                </a:solidFill>
                <a:effectLst/>
                <a:latin typeface="Segoe UI"/>
                <a:ea typeface="Times New Roman"/>
                <a:cs typeface="Mangal"/>
              </a:rPr>
              <a:t>) —</a:t>
            </a:r>
            <a:r>
              <a:rPr lang="en-US" sz="2000" dirty="0" smtClean="0">
                <a:solidFill>
                  <a:srgbClr val="212529"/>
                </a:solidFill>
                <a:effectLst/>
                <a:latin typeface="Segoe UI"/>
                <a:ea typeface="Times New Roman"/>
                <a:cs typeface="Mangal"/>
              </a:rPr>
              <a:t> Used to browse web pages.</a:t>
            </a:r>
            <a:endParaRPr lang="en-US" sz="2000" dirty="0" smtClean="0">
              <a:effectLst/>
              <a:latin typeface="Calibri"/>
              <a:ea typeface="Calibri"/>
              <a:cs typeface="Mangal"/>
            </a:endParaRPr>
          </a:p>
          <a:p>
            <a:pPr algn="just">
              <a:spcAft>
                <a:spcPts val="1000"/>
              </a:spcAft>
            </a:pPr>
            <a:r>
              <a:rPr lang="en-US" sz="2000" b="1" dirty="0" smtClean="0">
                <a:solidFill>
                  <a:srgbClr val="563D7C"/>
                </a:solidFill>
                <a:effectLst/>
                <a:latin typeface="Segoe UI"/>
                <a:ea typeface="Times New Roman"/>
                <a:cs typeface="Mangal"/>
              </a:rPr>
              <a:t>FTP (</a:t>
            </a:r>
            <a:r>
              <a:rPr lang="en-US" sz="2000" b="1" i="1" dirty="0" smtClean="0">
                <a:solidFill>
                  <a:srgbClr val="FF7D35"/>
                </a:solidFill>
                <a:effectLst/>
                <a:latin typeface="Segoe UI"/>
                <a:ea typeface="Times New Roman"/>
                <a:cs typeface="Mangal"/>
              </a:rPr>
              <a:t>File Transfer Protocol</a:t>
            </a:r>
            <a:r>
              <a:rPr lang="en-US" sz="2000" b="1" dirty="0" smtClean="0">
                <a:solidFill>
                  <a:srgbClr val="563D7C"/>
                </a:solidFill>
                <a:effectLst/>
                <a:latin typeface="Segoe UI"/>
                <a:ea typeface="Times New Roman"/>
                <a:cs typeface="Mangal"/>
              </a:rPr>
              <a:t>) —</a:t>
            </a:r>
            <a:r>
              <a:rPr lang="en-US" sz="2000" dirty="0" smtClean="0">
                <a:solidFill>
                  <a:srgbClr val="212529"/>
                </a:solidFill>
                <a:effectLst/>
                <a:latin typeface="Segoe UI"/>
                <a:ea typeface="Times New Roman"/>
                <a:cs typeface="Mangal"/>
              </a:rPr>
              <a:t> Used to reliably sends/retrieves files.</a:t>
            </a:r>
            <a:endParaRPr lang="en-US" sz="2000" dirty="0" smtClean="0">
              <a:effectLst/>
              <a:latin typeface="Calibri"/>
              <a:ea typeface="Calibri"/>
              <a:cs typeface="Mangal"/>
            </a:endParaRPr>
          </a:p>
          <a:p>
            <a:pPr algn="just">
              <a:spcAft>
                <a:spcPts val="1000"/>
              </a:spcAft>
            </a:pPr>
            <a:r>
              <a:rPr lang="en-US" sz="2000" b="1" dirty="0" smtClean="0">
                <a:solidFill>
                  <a:srgbClr val="563D7C"/>
                </a:solidFill>
                <a:effectLst/>
                <a:latin typeface="Segoe UI"/>
                <a:ea typeface="Times New Roman"/>
                <a:cs typeface="Mangal"/>
              </a:rPr>
              <a:t>SMTP (</a:t>
            </a:r>
            <a:r>
              <a:rPr lang="en-US" sz="2000" b="1" i="1" dirty="0" smtClean="0">
                <a:solidFill>
                  <a:srgbClr val="FF7D35"/>
                </a:solidFill>
                <a:effectLst/>
                <a:latin typeface="Segoe UI"/>
                <a:ea typeface="Times New Roman"/>
                <a:cs typeface="Mangal"/>
              </a:rPr>
              <a:t>Simple Mail Transfer Protocol</a:t>
            </a:r>
            <a:r>
              <a:rPr lang="en-US" sz="2000" b="1" dirty="0" smtClean="0">
                <a:solidFill>
                  <a:srgbClr val="563D7C"/>
                </a:solidFill>
                <a:effectLst/>
                <a:latin typeface="Segoe UI"/>
                <a:ea typeface="Times New Roman"/>
                <a:cs typeface="Mangal"/>
              </a:rPr>
              <a:t>) —</a:t>
            </a:r>
            <a:r>
              <a:rPr lang="en-US" sz="2000" dirty="0" smtClean="0">
                <a:solidFill>
                  <a:srgbClr val="212529"/>
                </a:solidFill>
                <a:effectLst/>
                <a:latin typeface="Segoe UI"/>
                <a:ea typeface="Times New Roman"/>
                <a:cs typeface="Mangal"/>
              </a:rPr>
              <a:t> Used to sends email.</a:t>
            </a:r>
            <a:endParaRPr lang="en-US" sz="2000" dirty="0" smtClean="0">
              <a:effectLst/>
              <a:latin typeface="Calibri"/>
              <a:ea typeface="Calibri"/>
              <a:cs typeface="Mangal"/>
            </a:endParaRPr>
          </a:p>
          <a:p>
            <a:pPr algn="just">
              <a:spcAft>
                <a:spcPts val="1000"/>
              </a:spcAft>
            </a:pPr>
            <a:r>
              <a:rPr lang="en-US" sz="2000" b="1" dirty="0" smtClean="0">
                <a:solidFill>
                  <a:srgbClr val="563D7C"/>
                </a:solidFill>
                <a:effectLst/>
                <a:latin typeface="Segoe UI"/>
                <a:ea typeface="Times New Roman"/>
                <a:cs typeface="Mangal"/>
              </a:rPr>
              <a:t>POP3 (</a:t>
            </a:r>
            <a:r>
              <a:rPr lang="en-US" sz="2000" b="1" i="1" dirty="0" smtClean="0">
                <a:solidFill>
                  <a:srgbClr val="FF7D35"/>
                </a:solidFill>
                <a:effectLst/>
                <a:latin typeface="Segoe UI"/>
                <a:ea typeface="Times New Roman"/>
                <a:cs typeface="Mangal"/>
              </a:rPr>
              <a:t>Post Office Protocol v.3</a:t>
            </a:r>
            <a:r>
              <a:rPr lang="en-US" sz="2000" b="1" dirty="0" smtClean="0">
                <a:solidFill>
                  <a:srgbClr val="563D7C"/>
                </a:solidFill>
                <a:effectLst/>
                <a:latin typeface="Segoe UI"/>
                <a:ea typeface="Times New Roman"/>
                <a:cs typeface="Mangal"/>
              </a:rPr>
              <a:t>) —</a:t>
            </a:r>
            <a:r>
              <a:rPr lang="en-US" sz="2000" dirty="0" smtClean="0">
                <a:solidFill>
                  <a:srgbClr val="212529"/>
                </a:solidFill>
                <a:effectLst/>
                <a:latin typeface="Segoe UI"/>
                <a:ea typeface="Times New Roman"/>
                <a:cs typeface="Mangal"/>
              </a:rPr>
              <a:t> Used to retrieves email.</a:t>
            </a:r>
            <a:endParaRPr lang="en-US" sz="2000" dirty="0" smtClean="0">
              <a:effectLst/>
              <a:latin typeface="Calibri"/>
              <a:ea typeface="Calibri"/>
              <a:cs typeface="Mangal"/>
            </a:endParaRPr>
          </a:p>
          <a:p>
            <a:pPr algn="just">
              <a:spcAft>
                <a:spcPts val="1000"/>
              </a:spcAft>
            </a:pPr>
            <a:r>
              <a:rPr lang="en-US" sz="2000" b="1" dirty="0" smtClean="0">
                <a:solidFill>
                  <a:srgbClr val="563D7C"/>
                </a:solidFill>
                <a:effectLst/>
                <a:latin typeface="Segoe UI"/>
                <a:ea typeface="Times New Roman"/>
                <a:cs typeface="Mangal"/>
              </a:rPr>
              <a:t>NTP (</a:t>
            </a:r>
            <a:r>
              <a:rPr lang="en-US" sz="2000" b="1" i="1" dirty="0" smtClean="0">
                <a:solidFill>
                  <a:srgbClr val="FF7D35"/>
                </a:solidFill>
                <a:effectLst/>
                <a:latin typeface="Segoe UI"/>
                <a:ea typeface="Times New Roman"/>
                <a:cs typeface="Mangal"/>
              </a:rPr>
              <a:t>Network Time Protocol</a:t>
            </a:r>
            <a:r>
              <a:rPr lang="en-US" sz="2000" b="1" dirty="0" smtClean="0">
                <a:solidFill>
                  <a:srgbClr val="563D7C"/>
                </a:solidFill>
                <a:effectLst/>
                <a:latin typeface="Segoe UI"/>
                <a:ea typeface="Times New Roman"/>
                <a:cs typeface="Mangal"/>
              </a:rPr>
              <a:t>) —</a:t>
            </a:r>
            <a:r>
              <a:rPr lang="en-US" sz="2000" dirty="0" smtClean="0">
                <a:solidFill>
                  <a:srgbClr val="212529"/>
                </a:solidFill>
                <a:effectLst/>
                <a:latin typeface="Segoe UI"/>
                <a:ea typeface="Times New Roman"/>
                <a:cs typeface="Mangal"/>
              </a:rPr>
              <a:t> Used to synchronizes clocks.</a:t>
            </a:r>
            <a:endParaRPr lang="en-US" sz="2000" dirty="0" smtClean="0">
              <a:effectLst/>
              <a:latin typeface="Calibri"/>
              <a:ea typeface="Calibri"/>
              <a:cs typeface="Mangal"/>
            </a:endParaRPr>
          </a:p>
          <a:p>
            <a:endParaRPr lang="en-US" sz="3600" dirty="0" smtClean="0"/>
          </a:p>
          <a:p>
            <a:endParaRPr lang="en-US" dirty="0"/>
          </a:p>
        </p:txBody>
      </p:sp>
    </p:spTree>
    <p:extLst>
      <p:ext uri="{BB962C8B-B14F-4D97-AF65-F5344CB8AC3E}">
        <p14:creationId xmlns:p14="http://schemas.microsoft.com/office/powerpoint/2010/main" val="2887126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685800"/>
            <a:ext cx="8229600" cy="457200"/>
          </a:xfrm>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dirty="0">
                <a:solidFill>
                  <a:srgbClr val="E4005C"/>
                </a:solidFill>
              </a:rPr>
              <a:t>Presentation Layer</a:t>
            </a:r>
            <a:endParaRPr lang="en-GB" sz="4000" b="1" dirty="0">
              <a:solidFill>
                <a:srgbClr val="E4005C"/>
              </a:solidFill>
            </a:endParaRPr>
          </a:p>
        </p:txBody>
      </p:sp>
      <p:sp>
        <p:nvSpPr>
          <p:cNvPr id="28675" name="Rectangle 3"/>
          <p:cNvSpPr>
            <a:spLocks noGrp="1" noChangeArrowheads="1"/>
          </p:cNvSpPr>
          <p:nvPr>
            <p:ph type="body" sz="half" idx="1"/>
          </p:nvPr>
        </p:nvSpPr>
        <p:spPr>
          <a:xfrm>
            <a:off x="123825" y="1143000"/>
            <a:ext cx="8639175" cy="5410200"/>
          </a:xfrm>
        </p:spPr>
        <p:txBody>
          <a:bodyPr/>
          <a:lstStyle/>
          <a:p>
            <a:pPr marL="392113" indent="-293688" algn="just" defTabSz="414338">
              <a:lnSpc>
                <a:spcPct val="80000"/>
              </a:lnSpc>
              <a:spcBef>
                <a:spcPct val="50000"/>
              </a:spcBef>
              <a:buClr>
                <a:srgbClr val="CC0000"/>
              </a:buClr>
              <a:buFont typeface="Wingdings" pitchFamily="2" charset="2"/>
              <a:buBlip>
                <a:blip r:embed="rId3"/>
              </a:buBlip>
            </a:pPr>
            <a:r>
              <a:rPr lang="en-US" sz="2400" b="1" dirty="0">
                <a:solidFill>
                  <a:srgbClr val="000066"/>
                </a:solidFill>
              </a:rPr>
              <a:t>Presentation layer defines the format in which the data is to be exchanged between the two communicating entities. </a:t>
            </a:r>
          </a:p>
          <a:p>
            <a:pPr algn="just">
              <a:lnSpc>
                <a:spcPct val="115000"/>
              </a:lnSpc>
              <a:spcAft>
                <a:spcPts val="1000"/>
              </a:spcAft>
            </a:pPr>
            <a:r>
              <a:rPr lang="en-US" sz="2400" dirty="0" smtClean="0">
                <a:solidFill>
                  <a:srgbClr val="002060"/>
                </a:solidFill>
                <a:effectLst/>
                <a:latin typeface="Segoe UI"/>
                <a:ea typeface="Times New Roman"/>
                <a:cs typeface="Mangal"/>
              </a:rPr>
              <a:t>Presentation layer prepares the data. It takes data from application layer and marks it with formatting code such as .doc, .jpg, .txt, .</a:t>
            </a:r>
            <a:r>
              <a:rPr lang="en-US" sz="2400" dirty="0" err="1" smtClean="0">
                <a:solidFill>
                  <a:srgbClr val="002060"/>
                </a:solidFill>
                <a:effectLst/>
                <a:latin typeface="Segoe UI"/>
                <a:ea typeface="Times New Roman"/>
                <a:cs typeface="Mangal"/>
              </a:rPr>
              <a:t>avi</a:t>
            </a:r>
            <a:r>
              <a:rPr lang="en-US" sz="2400" dirty="0" smtClean="0">
                <a:solidFill>
                  <a:srgbClr val="002060"/>
                </a:solidFill>
                <a:effectLst/>
                <a:latin typeface="Segoe UI"/>
                <a:ea typeface="Times New Roman"/>
                <a:cs typeface="Mangal"/>
              </a:rPr>
              <a:t> etc. These file extensions make it easy to realize that particular file is formatted with particular type of application. With formatting presentation layer also deals with compression and encapsulation. It compresses (on sending computer) and decompresses (on receiving computer) the data file. This layer can also encapsulate the data, but it’s uncommon as this can be done by lower layers more effectively.</a:t>
            </a:r>
            <a:endParaRPr lang="en-US" sz="2000" dirty="0" smtClean="0">
              <a:solidFill>
                <a:srgbClr val="002060"/>
              </a:solidFill>
              <a:effectLst/>
              <a:latin typeface="Calibri"/>
              <a:ea typeface="Calibri"/>
              <a:cs typeface="Mangal"/>
            </a:endParaRPr>
          </a:p>
          <a:p>
            <a:pPr marL="392113" indent="-293688" defTabSz="414338">
              <a:lnSpc>
                <a:spcPct val="80000"/>
              </a:lnSpc>
              <a:spcBef>
                <a:spcPct val="50000"/>
              </a:spcBef>
              <a:buClr>
                <a:srgbClr val="CC0000"/>
              </a:buClr>
              <a:buFont typeface="Wingdings" pitchFamily="2" charset="2"/>
              <a:buBlip>
                <a:blip r:embed="rId3"/>
              </a:buBlip>
            </a:pPr>
            <a:endParaRPr lang="en-US" sz="2400" b="1" dirty="0">
              <a:solidFill>
                <a:srgbClr val="000066"/>
              </a:solidFill>
            </a:endParaRPr>
          </a:p>
        </p:txBody>
      </p:sp>
      <p:sp>
        <p:nvSpPr>
          <p:cNvPr id="28676" name="AutoShape 4"/>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p>
            <a:endParaRPr lang="en-US">
              <a:solidFill>
                <a:srgbClr val="000000"/>
              </a:solidFill>
            </a:endParaRPr>
          </a:p>
        </p:txBody>
      </p:sp>
      <p:sp>
        <p:nvSpPr>
          <p:cNvPr id="28680" name="Text Box 8"/>
          <p:cNvSpPr txBox="1">
            <a:spLocks noChangeArrowheads="1"/>
          </p:cNvSpPr>
          <p:nvPr/>
        </p:nvSpPr>
        <p:spPr bwMode="auto">
          <a:xfrm>
            <a:off x="123825" y="104775"/>
            <a:ext cx="58197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1pPr>
            <a:lvl2pPr marL="4143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2pPr>
            <a:lvl3pPr marL="828675"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3pPr>
            <a:lvl4pPr marL="1244600"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4pPr>
            <a:lvl5pPr marL="16589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5pPr>
            <a:lvl6pPr marL="21161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6pPr>
            <a:lvl7pPr marL="25733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7pPr>
            <a:lvl8pPr marL="30305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8pPr>
            <a:lvl9pPr marL="34877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9pPr>
          </a:lstStyle>
          <a:p>
            <a:pPr hangingPunct="0">
              <a:lnSpc>
                <a:spcPct val="95000"/>
              </a:lnSpc>
              <a:buClr>
                <a:srgbClr val="000000"/>
              </a:buClr>
              <a:buSzPct val="45000"/>
              <a:buFont typeface="StarSymbol" charset="0"/>
              <a:buNone/>
            </a:pPr>
            <a:r>
              <a:rPr lang="en-GB" b="1">
                <a:solidFill>
                  <a:srgbClr val="FFFFFF"/>
                </a:solidFill>
              </a:rPr>
              <a:t>OSI Model</a:t>
            </a:r>
            <a:endParaRPr lang="en-GB" sz="2000" b="1">
              <a:solidFill>
                <a:srgbClr val="FFFFFF"/>
              </a:solidFill>
            </a:endParaRPr>
          </a:p>
        </p:txBody>
      </p:sp>
      <p:sp>
        <p:nvSpPr>
          <p:cNvPr id="28681" name="AutoShape 9"/>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p>
            <a:endParaRPr lang="en-US">
              <a:solidFill>
                <a:srgbClr val="000000"/>
              </a:solidFill>
            </a:endParaRPr>
          </a:p>
        </p:txBody>
      </p:sp>
    </p:spTree>
    <p:extLst>
      <p:ext uri="{BB962C8B-B14F-4D97-AF65-F5344CB8AC3E}">
        <p14:creationId xmlns:p14="http://schemas.microsoft.com/office/powerpoint/2010/main" val="3597696034"/>
      </p:ext>
    </p:extLst>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685800"/>
            <a:ext cx="8229600" cy="1066800"/>
          </a:xfrm>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a:solidFill>
                  <a:srgbClr val="E4005C"/>
                </a:solidFill>
              </a:rPr>
              <a:t>Session Layer</a:t>
            </a:r>
            <a:endParaRPr lang="en-GB" sz="4000" b="1">
              <a:solidFill>
                <a:srgbClr val="E4005C"/>
              </a:solidFill>
            </a:endParaRPr>
          </a:p>
        </p:txBody>
      </p:sp>
      <p:sp>
        <p:nvSpPr>
          <p:cNvPr id="26627" name="Rectangle 3"/>
          <p:cNvSpPr>
            <a:spLocks noGrp="1" noChangeArrowheads="1"/>
          </p:cNvSpPr>
          <p:nvPr>
            <p:ph type="body" sz="half" idx="1"/>
          </p:nvPr>
        </p:nvSpPr>
        <p:spPr>
          <a:xfrm>
            <a:off x="228600" y="1600200"/>
            <a:ext cx="8915400" cy="5257800"/>
          </a:xfrm>
        </p:spPr>
        <p:txBody>
          <a:bodyPr/>
          <a:lstStyle/>
          <a:p>
            <a:pPr marL="392113" indent="-293688" algn="just" defTabSz="414338">
              <a:lnSpc>
                <a:spcPct val="80000"/>
              </a:lnSpc>
              <a:buClr>
                <a:srgbClr val="CC0000"/>
              </a:buClr>
              <a:buFont typeface="Wingdings" pitchFamily="2" charset="2"/>
              <a:buBlip>
                <a:blip r:embed="rId3"/>
              </a:buBlip>
            </a:pPr>
            <a:r>
              <a:rPr lang="en-US" sz="2400" b="1">
                <a:solidFill>
                  <a:srgbClr val="000066"/>
                </a:solidFill>
              </a:rPr>
              <a:t>Session layer provides mechanism for controlling the dialogue between the two end systems. It defines how to start, control and end conversations (called sessions) between applications.</a:t>
            </a:r>
          </a:p>
          <a:p>
            <a:pPr marL="392113" indent="-293688" algn="just" defTabSz="414338">
              <a:lnSpc>
                <a:spcPct val="80000"/>
              </a:lnSpc>
              <a:buClr>
                <a:srgbClr val="CC0000"/>
              </a:buClr>
              <a:buFont typeface="Wingdings" pitchFamily="2" charset="2"/>
              <a:buNone/>
            </a:pPr>
            <a:endParaRPr lang="en-US" sz="1400" b="1">
              <a:solidFill>
                <a:srgbClr val="000066"/>
              </a:solidFill>
            </a:endParaRPr>
          </a:p>
          <a:p>
            <a:pPr marL="392113" indent="-293688" algn="just" defTabSz="414338">
              <a:lnSpc>
                <a:spcPct val="80000"/>
              </a:lnSpc>
              <a:buClr>
                <a:srgbClr val="CC0000"/>
              </a:buClr>
              <a:buFont typeface="Wingdings" pitchFamily="2" charset="2"/>
              <a:buBlip>
                <a:blip r:embed="rId3"/>
              </a:buBlip>
            </a:pPr>
            <a:r>
              <a:rPr lang="en-US" sz="2400" b="1">
                <a:solidFill>
                  <a:srgbClr val="000066"/>
                </a:solidFill>
              </a:rPr>
              <a:t>This layer requests for a logical connection to be established on an end-user’s request.</a:t>
            </a:r>
          </a:p>
          <a:p>
            <a:pPr marL="392113" indent="-293688" algn="just" defTabSz="414338">
              <a:lnSpc>
                <a:spcPct val="80000"/>
              </a:lnSpc>
              <a:buClr>
                <a:srgbClr val="CC0000"/>
              </a:buClr>
              <a:buFont typeface="Wingdings" pitchFamily="2" charset="2"/>
              <a:buBlip>
                <a:blip r:embed="rId3"/>
              </a:buBlip>
            </a:pPr>
            <a:r>
              <a:rPr lang="en-US" sz="2400" b="1">
                <a:solidFill>
                  <a:srgbClr val="000066"/>
                </a:solidFill>
              </a:rPr>
              <a:t>Any necessary log-on or password validation is also handled by this layer.</a:t>
            </a:r>
          </a:p>
          <a:p>
            <a:pPr marL="392113" indent="-293688" algn="just" defTabSz="414338">
              <a:lnSpc>
                <a:spcPct val="80000"/>
              </a:lnSpc>
              <a:buClr>
                <a:srgbClr val="CC0000"/>
              </a:buClr>
              <a:buFont typeface="Wingdings" pitchFamily="2" charset="2"/>
              <a:buBlip>
                <a:blip r:embed="rId3"/>
              </a:buBlip>
            </a:pPr>
            <a:r>
              <a:rPr lang="en-US" sz="2400" b="1">
                <a:solidFill>
                  <a:srgbClr val="000066"/>
                </a:solidFill>
              </a:rPr>
              <a:t>Session layer is also responsible for terminating the connection.</a:t>
            </a:r>
          </a:p>
          <a:p>
            <a:pPr marL="392113" indent="-293688" algn="just" defTabSz="414338">
              <a:lnSpc>
                <a:spcPct val="80000"/>
              </a:lnSpc>
              <a:buClr>
                <a:srgbClr val="CC0000"/>
              </a:buClr>
              <a:buFont typeface="Wingdings" pitchFamily="2" charset="2"/>
              <a:buBlip>
                <a:blip r:embed="rId3"/>
              </a:buBlip>
            </a:pPr>
            <a:r>
              <a:rPr lang="en-US" sz="2400" b="1">
                <a:solidFill>
                  <a:srgbClr val="000066"/>
                </a:solidFill>
              </a:rPr>
              <a:t>This layer provides services like dialogue discipline which can be full duplex or half duplex.</a:t>
            </a:r>
          </a:p>
          <a:p>
            <a:pPr marL="392113" indent="-293688" algn="just" defTabSz="414338">
              <a:lnSpc>
                <a:spcPct val="80000"/>
              </a:lnSpc>
              <a:buClr>
                <a:srgbClr val="CC0000"/>
              </a:buClr>
              <a:buFont typeface="Wingdings" pitchFamily="2" charset="2"/>
              <a:buBlip>
                <a:blip r:embed="rId3"/>
              </a:buBlip>
            </a:pPr>
            <a:r>
              <a:rPr lang="en-US" sz="2400" b="1">
                <a:solidFill>
                  <a:srgbClr val="000066"/>
                </a:solidFill>
              </a:rPr>
              <a:t>Session layer can also provide check-pointing mechanism such that if a failure of some sort occurs between checkpoints, all data can be retransmitted from the last checkpoint.</a:t>
            </a:r>
          </a:p>
        </p:txBody>
      </p:sp>
      <p:sp>
        <p:nvSpPr>
          <p:cNvPr id="26628" name="AutoShape 4"/>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p>
            <a:endParaRPr lang="en-US">
              <a:solidFill>
                <a:srgbClr val="000000"/>
              </a:solidFill>
            </a:endParaRPr>
          </a:p>
        </p:txBody>
      </p:sp>
      <p:sp>
        <p:nvSpPr>
          <p:cNvPr id="26629" name="AutoShape 5"/>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solidFill>
                <a:srgbClr val="000000"/>
              </a:solidFill>
            </a:endParaRPr>
          </a:p>
        </p:txBody>
      </p:sp>
      <p:sp>
        <p:nvSpPr>
          <p:cNvPr id="26630" name="AutoShape 6"/>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solidFill>
                <a:srgbClr val="000000"/>
              </a:solidFill>
            </a:endParaRPr>
          </a:p>
        </p:txBody>
      </p:sp>
      <p:sp>
        <p:nvSpPr>
          <p:cNvPr id="26631" name="AutoShape 7"/>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solidFill>
                <a:srgbClr val="000000"/>
              </a:solidFill>
            </a:endParaRPr>
          </a:p>
        </p:txBody>
      </p:sp>
      <p:sp>
        <p:nvSpPr>
          <p:cNvPr id="26632" name="Text Box 8"/>
          <p:cNvSpPr txBox="1">
            <a:spLocks noChangeArrowheads="1"/>
          </p:cNvSpPr>
          <p:nvPr/>
        </p:nvSpPr>
        <p:spPr bwMode="auto">
          <a:xfrm>
            <a:off x="123825" y="104775"/>
            <a:ext cx="58197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1pPr>
            <a:lvl2pPr marL="4143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2pPr>
            <a:lvl3pPr marL="828675"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3pPr>
            <a:lvl4pPr marL="1244600"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4pPr>
            <a:lvl5pPr marL="16589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5pPr>
            <a:lvl6pPr marL="21161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6pPr>
            <a:lvl7pPr marL="25733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7pPr>
            <a:lvl8pPr marL="30305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8pPr>
            <a:lvl9pPr marL="34877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9pPr>
          </a:lstStyle>
          <a:p>
            <a:pPr hangingPunct="0">
              <a:lnSpc>
                <a:spcPct val="95000"/>
              </a:lnSpc>
              <a:buClr>
                <a:srgbClr val="000000"/>
              </a:buClr>
              <a:buSzPct val="45000"/>
              <a:buFont typeface="StarSymbol" charset="0"/>
              <a:buNone/>
            </a:pPr>
            <a:r>
              <a:rPr lang="en-GB" b="1">
                <a:solidFill>
                  <a:srgbClr val="FFFFFF"/>
                </a:solidFill>
              </a:rPr>
              <a:t>OSI Model</a:t>
            </a:r>
          </a:p>
          <a:p>
            <a:pPr hangingPunct="0">
              <a:lnSpc>
                <a:spcPct val="95000"/>
              </a:lnSpc>
              <a:buClr>
                <a:srgbClr val="000000"/>
              </a:buClr>
              <a:buSzPct val="45000"/>
              <a:buFont typeface="StarSymbol" charset="0"/>
              <a:buNone/>
            </a:pPr>
            <a:endParaRPr lang="en-GB" sz="2000" b="1">
              <a:solidFill>
                <a:srgbClr val="FFFFFF"/>
              </a:solidFill>
            </a:endParaRPr>
          </a:p>
        </p:txBody>
      </p:sp>
      <p:sp>
        <p:nvSpPr>
          <p:cNvPr id="26633" name="AutoShape 9"/>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p>
            <a:endParaRPr lang="en-US">
              <a:solidFill>
                <a:srgbClr val="000000"/>
              </a:solidFill>
            </a:endParaRPr>
          </a:p>
        </p:txBody>
      </p:sp>
    </p:spTree>
    <p:extLst>
      <p:ext uri="{BB962C8B-B14F-4D97-AF65-F5344CB8AC3E}">
        <p14:creationId xmlns:p14="http://schemas.microsoft.com/office/powerpoint/2010/main" val="2212507855"/>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685800"/>
            <a:ext cx="8229600" cy="533400"/>
          </a:xfrm>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dirty="0">
                <a:solidFill>
                  <a:srgbClr val="E4005C"/>
                </a:solidFill>
              </a:rPr>
              <a:t>Transport Layer</a:t>
            </a:r>
            <a:endParaRPr lang="en-GB" sz="4000" b="1" dirty="0">
              <a:solidFill>
                <a:srgbClr val="E4005C"/>
              </a:solidFill>
            </a:endParaRPr>
          </a:p>
        </p:txBody>
      </p:sp>
      <p:sp>
        <p:nvSpPr>
          <p:cNvPr id="24579" name="Rectangle 3"/>
          <p:cNvSpPr>
            <a:spLocks noGrp="1" noChangeArrowheads="1"/>
          </p:cNvSpPr>
          <p:nvPr>
            <p:ph type="body" sz="half" idx="1"/>
          </p:nvPr>
        </p:nvSpPr>
        <p:spPr>
          <a:xfrm>
            <a:off x="123825" y="1219200"/>
            <a:ext cx="8867775" cy="5638800"/>
          </a:xfrm>
        </p:spPr>
        <p:txBody>
          <a:bodyPr/>
          <a:lstStyle/>
          <a:p>
            <a:pPr marL="392113" indent="-293688" algn="just" defTabSz="414338">
              <a:lnSpc>
                <a:spcPct val="80000"/>
              </a:lnSpc>
              <a:spcBef>
                <a:spcPct val="50000"/>
              </a:spcBef>
              <a:buClr>
                <a:srgbClr val="CC0000"/>
              </a:buClr>
              <a:buFont typeface="Wingdings" pitchFamily="2" charset="2"/>
              <a:buBlip>
                <a:blip r:embed="rId3"/>
              </a:buBlip>
            </a:pPr>
            <a:r>
              <a:rPr lang="en-US" sz="2000" b="1" dirty="0">
                <a:solidFill>
                  <a:srgbClr val="000066"/>
                </a:solidFill>
              </a:rPr>
              <a:t>Purpose of this layer is to provide a reliable mechanism for the exchange of data between two processes in different computers. </a:t>
            </a:r>
            <a:endParaRPr lang="en-US" sz="2000" b="1" dirty="0" smtClean="0">
              <a:solidFill>
                <a:srgbClr val="000066"/>
              </a:solidFill>
            </a:endParaRPr>
          </a:p>
          <a:p>
            <a:pPr algn="just">
              <a:lnSpc>
                <a:spcPct val="115000"/>
              </a:lnSpc>
              <a:spcAft>
                <a:spcPts val="1000"/>
              </a:spcAft>
            </a:pPr>
            <a:r>
              <a:rPr lang="en-US" sz="2000" b="1" dirty="0" smtClean="0">
                <a:solidFill>
                  <a:srgbClr val="563D7C"/>
                </a:solidFill>
                <a:effectLst/>
                <a:latin typeface="Segoe UI"/>
                <a:ea typeface="Times New Roman"/>
                <a:cs typeface="Mangal"/>
              </a:rPr>
              <a:t>Transport layer provides following services: -</a:t>
            </a:r>
            <a:endParaRPr lang="en-US" sz="2000" dirty="0" smtClean="0">
              <a:effectLst/>
              <a:latin typeface="Calibri"/>
              <a:ea typeface="Calibri"/>
              <a:cs typeface="Mangal"/>
            </a:endParaRPr>
          </a:p>
          <a:p>
            <a:pPr lvl="0">
              <a:spcBef>
                <a:spcPts val="0"/>
              </a:spcBef>
              <a:spcAft>
                <a:spcPts val="0"/>
              </a:spcAft>
              <a:buSzPts val="1000"/>
              <a:buFont typeface="Symbol"/>
              <a:buChar char=""/>
              <a:tabLst>
                <a:tab pos="457200" algn="l"/>
              </a:tabLst>
            </a:pPr>
            <a:r>
              <a:rPr lang="en-US" sz="2000" dirty="0" smtClean="0">
                <a:solidFill>
                  <a:srgbClr val="002060"/>
                </a:solidFill>
                <a:effectLst/>
                <a:latin typeface="Segoe UI"/>
                <a:ea typeface="Times New Roman"/>
                <a:cs typeface="Mangal"/>
              </a:rPr>
              <a:t>It sets up and maintains the connection between two devices.</a:t>
            </a:r>
            <a:endParaRPr lang="en-US" sz="2000" dirty="0" smtClean="0">
              <a:solidFill>
                <a:srgbClr val="002060"/>
              </a:solidFill>
              <a:effectLst/>
              <a:latin typeface="Calibri"/>
              <a:ea typeface="Calibri"/>
              <a:cs typeface="Mangal"/>
            </a:endParaRPr>
          </a:p>
          <a:p>
            <a:pPr lvl="0">
              <a:spcBef>
                <a:spcPts val="0"/>
              </a:spcBef>
              <a:spcAft>
                <a:spcPts val="0"/>
              </a:spcAft>
              <a:buSzPts val="1000"/>
              <a:buFont typeface="Symbol"/>
              <a:buChar char=""/>
              <a:tabLst>
                <a:tab pos="457200" algn="l"/>
              </a:tabLst>
            </a:pPr>
            <a:r>
              <a:rPr lang="en-US" sz="2000" dirty="0" smtClean="0">
                <a:solidFill>
                  <a:srgbClr val="002060"/>
                </a:solidFill>
                <a:effectLst/>
                <a:latin typeface="Segoe UI"/>
                <a:ea typeface="Times New Roman"/>
                <a:cs typeface="Mangal"/>
              </a:rPr>
              <a:t>It multiplexes connections that allow multiple applications to simultaneously send and receive data.</a:t>
            </a:r>
            <a:endParaRPr lang="en-US" sz="2000" dirty="0" smtClean="0">
              <a:solidFill>
                <a:srgbClr val="002060"/>
              </a:solidFill>
              <a:effectLst/>
              <a:latin typeface="Calibri"/>
              <a:ea typeface="Calibri"/>
              <a:cs typeface="Mangal"/>
            </a:endParaRPr>
          </a:p>
          <a:p>
            <a:pPr lvl="0">
              <a:spcBef>
                <a:spcPts val="0"/>
              </a:spcBef>
              <a:spcAft>
                <a:spcPts val="0"/>
              </a:spcAft>
              <a:buSzPts val="1000"/>
              <a:buFont typeface="Symbol"/>
              <a:buChar char=""/>
              <a:tabLst>
                <a:tab pos="457200" algn="l"/>
              </a:tabLst>
            </a:pPr>
            <a:r>
              <a:rPr lang="en-US" sz="2000" dirty="0" smtClean="0">
                <a:solidFill>
                  <a:srgbClr val="002060"/>
                </a:solidFill>
                <a:effectLst/>
                <a:latin typeface="Segoe UI"/>
                <a:ea typeface="Times New Roman"/>
                <a:cs typeface="Mangal"/>
              </a:rPr>
              <a:t>According to requirement data transmission method can be connection oriented or connection less.</a:t>
            </a:r>
            <a:endParaRPr lang="en-US" sz="2000" dirty="0" smtClean="0">
              <a:solidFill>
                <a:srgbClr val="002060"/>
              </a:solidFill>
              <a:effectLst/>
              <a:latin typeface="Calibri"/>
              <a:ea typeface="Calibri"/>
              <a:cs typeface="Mangal"/>
            </a:endParaRPr>
          </a:p>
          <a:p>
            <a:pPr lvl="0">
              <a:spcBef>
                <a:spcPts val="0"/>
              </a:spcBef>
              <a:spcAft>
                <a:spcPts val="0"/>
              </a:spcAft>
              <a:buSzPts val="1000"/>
              <a:buFont typeface="Symbol"/>
              <a:buChar char=""/>
              <a:tabLst>
                <a:tab pos="457200" algn="l"/>
              </a:tabLst>
            </a:pPr>
            <a:r>
              <a:rPr lang="en-US" sz="2000" dirty="0" smtClean="0">
                <a:solidFill>
                  <a:srgbClr val="002060"/>
                </a:solidFill>
                <a:effectLst/>
                <a:latin typeface="Segoe UI"/>
                <a:ea typeface="Times New Roman"/>
                <a:cs typeface="Mangal"/>
              </a:rPr>
              <a:t>For unreliable data delivery connection less method is used.</a:t>
            </a:r>
            <a:endParaRPr lang="en-US" sz="2000" dirty="0" smtClean="0">
              <a:solidFill>
                <a:srgbClr val="002060"/>
              </a:solidFill>
              <a:effectLst/>
              <a:latin typeface="Calibri"/>
              <a:ea typeface="Calibri"/>
              <a:cs typeface="Mangal"/>
            </a:endParaRPr>
          </a:p>
          <a:p>
            <a:pPr lvl="0">
              <a:spcBef>
                <a:spcPts val="0"/>
              </a:spcBef>
              <a:spcAft>
                <a:spcPts val="0"/>
              </a:spcAft>
              <a:buSzPts val="1000"/>
              <a:buFont typeface="Symbol"/>
              <a:buChar char=""/>
              <a:tabLst>
                <a:tab pos="457200" algn="l"/>
              </a:tabLst>
            </a:pPr>
            <a:r>
              <a:rPr lang="en-US" sz="2000" dirty="0" smtClean="0">
                <a:solidFill>
                  <a:srgbClr val="002060"/>
                </a:solidFill>
                <a:effectLst/>
                <a:latin typeface="Segoe UI"/>
                <a:ea typeface="Times New Roman"/>
                <a:cs typeface="Mangal"/>
              </a:rPr>
              <a:t>Connection less method uses UDP protocol.</a:t>
            </a:r>
            <a:endParaRPr lang="en-US" sz="2000" dirty="0" smtClean="0">
              <a:solidFill>
                <a:srgbClr val="002060"/>
              </a:solidFill>
              <a:effectLst/>
              <a:latin typeface="Calibri"/>
              <a:ea typeface="Calibri"/>
              <a:cs typeface="Mangal"/>
            </a:endParaRPr>
          </a:p>
          <a:p>
            <a:pPr lvl="0">
              <a:spcBef>
                <a:spcPts val="0"/>
              </a:spcBef>
              <a:spcAft>
                <a:spcPts val="0"/>
              </a:spcAft>
              <a:buSzPts val="1000"/>
              <a:buFont typeface="Symbol"/>
              <a:buChar char=""/>
              <a:tabLst>
                <a:tab pos="457200" algn="l"/>
              </a:tabLst>
            </a:pPr>
            <a:r>
              <a:rPr lang="en-US" sz="2000" dirty="0" smtClean="0">
                <a:solidFill>
                  <a:srgbClr val="002060"/>
                </a:solidFill>
                <a:effectLst/>
                <a:latin typeface="Segoe UI"/>
                <a:ea typeface="Times New Roman"/>
                <a:cs typeface="Mangal"/>
              </a:rPr>
              <a:t>For reliable data delivery connection oriented method is used.</a:t>
            </a:r>
            <a:endParaRPr lang="en-US" sz="2000" dirty="0" smtClean="0">
              <a:solidFill>
                <a:srgbClr val="002060"/>
              </a:solidFill>
              <a:effectLst/>
              <a:latin typeface="Calibri"/>
              <a:ea typeface="Calibri"/>
              <a:cs typeface="Mangal"/>
            </a:endParaRPr>
          </a:p>
          <a:p>
            <a:pPr lvl="0">
              <a:spcBef>
                <a:spcPts val="0"/>
              </a:spcBef>
              <a:spcAft>
                <a:spcPts val="0"/>
              </a:spcAft>
              <a:buSzPts val="1000"/>
              <a:buFont typeface="Symbol"/>
              <a:buChar char=""/>
              <a:tabLst>
                <a:tab pos="457200" algn="l"/>
              </a:tabLst>
            </a:pPr>
            <a:r>
              <a:rPr lang="en-US" sz="2000" dirty="0" smtClean="0">
                <a:solidFill>
                  <a:srgbClr val="002060"/>
                </a:solidFill>
                <a:effectLst/>
                <a:latin typeface="Segoe UI"/>
                <a:ea typeface="Times New Roman"/>
                <a:cs typeface="Mangal"/>
              </a:rPr>
              <a:t>Connection oriented method uses TCP protocol.</a:t>
            </a:r>
            <a:endParaRPr lang="en-US" sz="2000" dirty="0" smtClean="0">
              <a:solidFill>
                <a:srgbClr val="002060"/>
              </a:solidFill>
              <a:effectLst/>
              <a:latin typeface="Calibri"/>
              <a:ea typeface="Calibri"/>
              <a:cs typeface="Mangal"/>
            </a:endParaRPr>
          </a:p>
          <a:p>
            <a:pPr lvl="0">
              <a:spcBef>
                <a:spcPts val="0"/>
              </a:spcBef>
              <a:spcAft>
                <a:spcPts val="0"/>
              </a:spcAft>
              <a:buSzPts val="1000"/>
              <a:buFont typeface="Symbol"/>
              <a:buChar char=""/>
              <a:tabLst>
                <a:tab pos="457200" algn="l"/>
              </a:tabLst>
            </a:pPr>
            <a:r>
              <a:rPr lang="en-US" sz="2000" dirty="0" smtClean="0">
                <a:solidFill>
                  <a:srgbClr val="002060"/>
                </a:solidFill>
                <a:effectLst/>
                <a:latin typeface="Segoe UI"/>
                <a:ea typeface="Times New Roman"/>
                <a:cs typeface="Mangal"/>
              </a:rPr>
              <a:t>When Implemented a reliable connection, sequence numbers and acknowledgments (ACKs) are used.</a:t>
            </a:r>
            <a:endParaRPr lang="en-US" sz="2000" dirty="0" smtClean="0">
              <a:solidFill>
                <a:srgbClr val="002060"/>
              </a:solidFill>
              <a:effectLst/>
              <a:latin typeface="Calibri"/>
              <a:ea typeface="Calibri"/>
              <a:cs typeface="Mangal"/>
            </a:endParaRPr>
          </a:p>
          <a:p>
            <a:pPr lvl="0">
              <a:spcBef>
                <a:spcPts val="0"/>
              </a:spcBef>
              <a:spcAft>
                <a:spcPts val="0"/>
              </a:spcAft>
              <a:buSzPts val="1000"/>
              <a:buFont typeface="Symbol"/>
              <a:buChar char=""/>
              <a:tabLst>
                <a:tab pos="457200" algn="l"/>
              </a:tabLst>
            </a:pPr>
            <a:r>
              <a:rPr lang="en-US" sz="2000" dirty="0" smtClean="0">
                <a:solidFill>
                  <a:srgbClr val="002060"/>
                </a:solidFill>
                <a:effectLst/>
                <a:latin typeface="Segoe UI"/>
                <a:ea typeface="Times New Roman"/>
                <a:cs typeface="Mangal"/>
              </a:rPr>
              <a:t>Reliable connection controls flow through the uses of windowing or acknowledgements.</a:t>
            </a:r>
            <a:endParaRPr lang="en-US" sz="2000" dirty="0" smtClean="0">
              <a:solidFill>
                <a:srgbClr val="002060"/>
              </a:solidFill>
              <a:effectLst/>
              <a:latin typeface="Calibri"/>
              <a:ea typeface="Calibri"/>
              <a:cs typeface="Mangal"/>
            </a:endParaRPr>
          </a:p>
          <a:p>
            <a:pPr marL="392113" indent="-293688" algn="just" defTabSz="414338">
              <a:lnSpc>
                <a:spcPct val="80000"/>
              </a:lnSpc>
              <a:spcBef>
                <a:spcPct val="50000"/>
              </a:spcBef>
              <a:buClr>
                <a:srgbClr val="CC0000"/>
              </a:buClr>
              <a:buFont typeface="Wingdings" pitchFamily="2" charset="2"/>
              <a:buBlip>
                <a:blip r:embed="rId3"/>
              </a:buBlip>
            </a:pPr>
            <a:endParaRPr lang="en-US" sz="2400" b="1" dirty="0">
              <a:solidFill>
                <a:srgbClr val="000066"/>
              </a:solidFill>
            </a:endParaRPr>
          </a:p>
        </p:txBody>
      </p:sp>
      <p:sp>
        <p:nvSpPr>
          <p:cNvPr id="24580" name="AutoShape 4"/>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p>
            <a:endParaRPr lang="en-US">
              <a:solidFill>
                <a:srgbClr val="000000"/>
              </a:solidFill>
            </a:endParaRPr>
          </a:p>
        </p:txBody>
      </p:sp>
      <p:sp>
        <p:nvSpPr>
          <p:cNvPr id="24584" name="Text Box 8"/>
          <p:cNvSpPr txBox="1">
            <a:spLocks noChangeArrowheads="1"/>
          </p:cNvSpPr>
          <p:nvPr/>
        </p:nvSpPr>
        <p:spPr bwMode="auto">
          <a:xfrm>
            <a:off x="123825" y="104775"/>
            <a:ext cx="58197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1pPr>
            <a:lvl2pPr marL="4143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2pPr>
            <a:lvl3pPr marL="828675"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3pPr>
            <a:lvl4pPr marL="1244600"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4pPr>
            <a:lvl5pPr marL="16589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5pPr>
            <a:lvl6pPr marL="21161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6pPr>
            <a:lvl7pPr marL="25733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7pPr>
            <a:lvl8pPr marL="30305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8pPr>
            <a:lvl9pPr marL="34877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9pPr>
          </a:lstStyle>
          <a:p>
            <a:pPr hangingPunct="0">
              <a:lnSpc>
                <a:spcPct val="95000"/>
              </a:lnSpc>
              <a:buClr>
                <a:srgbClr val="000000"/>
              </a:buClr>
              <a:buSzPct val="45000"/>
              <a:buFont typeface="StarSymbol" charset="0"/>
              <a:buNone/>
            </a:pPr>
            <a:r>
              <a:rPr lang="en-GB" b="1">
                <a:solidFill>
                  <a:srgbClr val="FFFFFF"/>
                </a:solidFill>
              </a:rPr>
              <a:t>OSI Model</a:t>
            </a:r>
          </a:p>
        </p:txBody>
      </p:sp>
      <p:sp>
        <p:nvSpPr>
          <p:cNvPr id="24585" name="AutoShape 9"/>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p>
            <a:endParaRPr lang="en-US">
              <a:solidFill>
                <a:srgbClr val="000000"/>
              </a:solidFill>
            </a:endParaRPr>
          </a:p>
        </p:txBody>
      </p:sp>
    </p:spTree>
    <p:extLst>
      <p:ext uri="{BB962C8B-B14F-4D97-AF65-F5344CB8AC3E}">
        <p14:creationId xmlns:p14="http://schemas.microsoft.com/office/powerpoint/2010/main" val="376984903"/>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US" sz="4000" b="1" dirty="0">
                <a:solidFill>
                  <a:srgbClr val="E4005C"/>
                </a:solidFill>
              </a:rPr>
              <a:t>Transport </a:t>
            </a:r>
            <a:r>
              <a:rPr lang="en-US" sz="4000" b="1" dirty="0" smtClean="0">
                <a:solidFill>
                  <a:srgbClr val="E4005C"/>
                </a:solidFill>
              </a:rPr>
              <a:t>Layer(cont..)</a:t>
            </a:r>
            <a:endParaRPr lang="en-US" dirty="0"/>
          </a:p>
        </p:txBody>
      </p:sp>
      <p:sp>
        <p:nvSpPr>
          <p:cNvPr id="3" name="Text Placeholder 2"/>
          <p:cNvSpPr>
            <a:spLocks noGrp="1"/>
          </p:cNvSpPr>
          <p:nvPr>
            <p:ph type="body" sz="half" idx="1"/>
          </p:nvPr>
        </p:nvSpPr>
        <p:spPr>
          <a:xfrm>
            <a:off x="457200" y="762000"/>
            <a:ext cx="8153400" cy="5364163"/>
          </a:xfrm>
        </p:spPr>
        <p:txBody>
          <a:bodyPr/>
          <a:lstStyle/>
          <a:p>
            <a:pPr marL="0" indent="0" algn="just">
              <a:lnSpc>
                <a:spcPct val="115000"/>
              </a:lnSpc>
              <a:spcAft>
                <a:spcPts val="1000"/>
              </a:spcAft>
              <a:buNone/>
            </a:pPr>
            <a:r>
              <a:rPr lang="en-US" b="1" i="1" dirty="0">
                <a:solidFill>
                  <a:srgbClr val="FF7D35"/>
                </a:solidFill>
                <a:latin typeface="Segoe UI"/>
                <a:ea typeface="Times New Roman"/>
                <a:cs typeface="Mangal"/>
              </a:rPr>
              <a:t>F</a:t>
            </a:r>
            <a:r>
              <a:rPr lang="en-US" b="1" i="1" dirty="0" smtClean="0">
                <a:solidFill>
                  <a:srgbClr val="FF7D35"/>
                </a:solidFill>
                <a:effectLst/>
                <a:latin typeface="Segoe UI"/>
                <a:ea typeface="Times New Roman"/>
                <a:cs typeface="Mangal"/>
              </a:rPr>
              <a:t>ive main functions of transport layer:</a:t>
            </a:r>
            <a:endParaRPr lang="en-US" sz="2400" dirty="0" smtClean="0">
              <a:effectLst/>
              <a:latin typeface="Calibri"/>
              <a:ea typeface="Calibri"/>
              <a:cs typeface="Mangal"/>
            </a:endParaRPr>
          </a:p>
          <a:p>
            <a:pPr lvl="0">
              <a:lnSpc>
                <a:spcPct val="115000"/>
              </a:lnSpc>
              <a:spcAft>
                <a:spcPts val="1000"/>
              </a:spcAft>
              <a:buSzPts val="1000"/>
              <a:buFont typeface="Symbol"/>
              <a:buChar char=""/>
              <a:tabLst>
                <a:tab pos="457200" algn="l"/>
              </a:tabLst>
            </a:pPr>
            <a:r>
              <a:rPr lang="en-US" dirty="0" smtClean="0">
                <a:solidFill>
                  <a:srgbClr val="002060"/>
                </a:solidFill>
                <a:effectLst/>
                <a:latin typeface="Segoe UI"/>
                <a:ea typeface="Times New Roman"/>
                <a:cs typeface="Mangal"/>
              </a:rPr>
              <a:t>Segmentation</a:t>
            </a:r>
            <a:endParaRPr lang="en-US" sz="2800" dirty="0" smtClean="0">
              <a:solidFill>
                <a:srgbClr val="002060"/>
              </a:solidFill>
              <a:effectLst/>
              <a:latin typeface="Calibri"/>
              <a:ea typeface="Calibri"/>
              <a:cs typeface="Mangal"/>
            </a:endParaRPr>
          </a:p>
          <a:p>
            <a:pPr lvl="0">
              <a:lnSpc>
                <a:spcPct val="115000"/>
              </a:lnSpc>
              <a:spcAft>
                <a:spcPts val="1000"/>
              </a:spcAft>
              <a:buSzPts val="1000"/>
              <a:buFont typeface="Symbol"/>
              <a:buChar char=""/>
              <a:tabLst>
                <a:tab pos="457200" algn="l"/>
              </a:tabLst>
            </a:pPr>
            <a:r>
              <a:rPr lang="en-US" dirty="0" smtClean="0">
                <a:solidFill>
                  <a:srgbClr val="002060"/>
                </a:solidFill>
                <a:effectLst/>
                <a:latin typeface="Segoe UI"/>
                <a:ea typeface="Times New Roman"/>
                <a:cs typeface="Mangal"/>
              </a:rPr>
              <a:t>Connection management</a:t>
            </a:r>
            <a:endParaRPr lang="en-US" sz="2800" dirty="0" smtClean="0">
              <a:solidFill>
                <a:srgbClr val="002060"/>
              </a:solidFill>
              <a:effectLst/>
              <a:latin typeface="Calibri"/>
              <a:ea typeface="Calibri"/>
              <a:cs typeface="Mangal"/>
            </a:endParaRPr>
          </a:p>
          <a:p>
            <a:pPr lvl="0">
              <a:lnSpc>
                <a:spcPct val="115000"/>
              </a:lnSpc>
              <a:spcAft>
                <a:spcPts val="1000"/>
              </a:spcAft>
              <a:buSzPts val="1000"/>
              <a:buFont typeface="Symbol"/>
              <a:buChar char=""/>
              <a:tabLst>
                <a:tab pos="457200" algn="l"/>
              </a:tabLst>
            </a:pPr>
            <a:r>
              <a:rPr lang="en-US" dirty="0" smtClean="0">
                <a:solidFill>
                  <a:srgbClr val="002060"/>
                </a:solidFill>
                <a:effectLst/>
                <a:latin typeface="Segoe UI"/>
                <a:ea typeface="Times New Roman"/>
                <a:cs typeface="Mangal"/>
              </a:rPr>
              <a:t>Reliable and unreliable data delivery</a:t>
            </a:r>
            <a:endParaRPr lang="en-US" sz="2800" dirty="0" smtClean="0">
              <a:solidFill>
                <a:srgbClr val="002060"/>
              </a:solidFill>
              <a:effectLst/>
              <a:latin typeface="Calibri"/>
              <a:ea typeface="Calibri"/>
              <a:cs typeface="Mangal"/>
            </a:endParaRPr>
          </a:p>
          <a:p>
            <a:pPr lvl="0">
              <a:lnSpc>
                <a:spcPct val="115000"/>
              </a:lnSpc>
              <a:spcAft>
                <a:spcPts val="1000"/>
              </a:spcAft>
              <a:buSzPts val="1000"/>
              <a:buFont typeface="Symbol"/>
              <a:buChar char=""/>
              <a:tabLst>
                <a:tab pos="457200" algn="l"/>
              </a:tabLst>
            </a:pPr>
            <a:r>
              <a:rPr lang="en-US" dirty="0" smtClean="0">
                <a:solidFill>
                  <a:srgbClr val="002060"/>
                </a:solidFill>
                <a:effectLst/>
                <a:latin typeface="Segoe UI"/>
                <a:ea typeface="Times New Roman"/>
                <a:cs typeface="Mangal"/>
              </a:rPr>
              <a:t>Flow control</a:t>
            </a:r>
            <a:endParaRPr lang="en-US" sz="2800" dirty="0" smtClean="0">
              <a:solidFill>
                <a:srgbClr val="002060"/>
              </a:solidFill>
              <a:effectLst/>
              <a:latin typeface="Calibri"/>
              <a:ea typeface="Calibri"/>
              <a:cs typeface="Mangal"/>
            </a:endParaRPr>
          </a:p>
          <a:p>
            <a:pPr lvl="0">
              <a:lnSpc>
                <a:spcPct val="115000"/>
              </a:lnSpc>
              <a:spcAft>
                <a:spcPts val="1000"/>
              </a:spcAft>
              <a:buSzPts val="1000"/>
              <a:buFont typeface="Symbol"/>
              <a:buChar char=""/>
              <a:tabLst>
                <a:tab pos="457200" algn="l"/>
              </a:tabLst>
            </a:pPr>
            <a:r>
              <a:rPr lang="en-US" dirty="0" smtClean="0">
                <a:solidFill>
                  <a:srgbClr val="002060"/>
                </a:solidFill>
                <a:effectLst/>
                <a:latin typeface="Segoe UI"/>
                <a:ea typeface="Times New Roman"/>
                <a:cs typeface="Mangal"/>
              </a:rPr>
              <a:t>Connection multiplexing</a:t>
            </a:r>
            <a:endParaRPr lang="en-US" sz="2800" dirty="0" smtClean="0">
              <a:solidFill>
                <a:srgbClr val="002060"/>
              </a:solidFill>
              <a:effectLst/>
              <a:latin typeface="Calibri"/>
              <a:ea typeface="Calibri"/>
              <a:cs typeface="Mangal"/>
            </a:endParaRPr>
          </a:p>
          <a:p>
            <a:pPr marL="0" indent="0">
              <a:buNone/>
            </a:pPr>
            <a:endParaRPr lang="en-US" dirty="0"/>
          </a:p>
        </p:txBody>
      </p:sp>
    </p:spTree>
    <p:extLst>
      <p:ext uri="{BB962C8B-B14F-4D97-AF65-F5344CB8AC3E}">
        <p14:creationId xmlns:p14="http://schemas.microsoft.com/office/powerpoint/2010/main" val="12752102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lstStyle/>
          <a:p>
            <a:r>
              <a:rPr lang="en-US" sz="4000" b="1" dirty="0">
                <a:solidFill>
                  <a:srgbClr val="E4005C"/>
                </a:solidFill>
              </a:rPr>
              <a:t>Transport Layer(cont..)</a:t>
            </a:r>
            <a:endParaRPr lang="en-US" dirty="0"/>
          </a:p>
        </p:txBody>
      </p:sp>
      <p:sp>
        <p:nvSpPr>
          <p:cNvPr id="3" name="Text Placeholder 2"/>
          <p:cNvSpPr>
            <a:spLocks noGrp="1"/>
          </p:cNvSpPr>
          <p:nvPr>
            <p:ph type="body" sz="half" idx="1"/>
          </p:nvPr>
        </p:nvSpPr>
        <p:spPr>
          <a:xfrm>
            <a:off x="228600" y="1066800"/>
            <a:ext cx="8534400" cy="5486400"/>
          </a:xfrm>
        </p:spPr>
        <p:txBody>
          <a:bodyPr/>
          <a:lstStyle/>
          <a:p>
            <a:pPr marL="0" indent="0">
              <a:lnSpc>
                <a:spcPct val="115000"/>
              </a:lnSpc>
              <a:spcAft>
                <a:spcPts val="1000"/>
              </a:spcAft>
              <a:buNone/>
            </a:pPr>
            <a:r>
              <a:rPr lang="en-US" b="1" i="1" dirty="0" smtClean="0">
                <a:solidFill>
                  <a:srgbClr val="42444E"/>
                </a:solidFill>
                <a:effectLst/>
                <a:latin typeface="Segoe UI"/>
                <a:ea typeface="Times New Roman"/>
                <a:cs typeface="Mangal"/>
              </a:rPr>
              <a:t>Segmentation</a:t>
            </a:r>
            <a:endParaRPr lang="en-US" sz="2800" dirty="0" smtClean="0">
              <a:effectLst/>
              <a:latin typeface="Calibri"/>
              <a:ea typeface="Calibri"/>
              <a:cs typeface="Mangal"/>
            </a:endParaRPr>
          </a:p>
          <a:p>
            <a:pPr algn="just">
              <a:lnSpc>
                <a:spcPct val="115000"/>
              </a:lnSpc>
              <a:spcAft>
                <a:spcPts val="1000"/>
              </a:spcAft>
            </a:pPr>
            <a:r>
              <a:rPr lang="en-US" sz="1800" dirty="0" smtClean="0">
                <a:solidFill>
                  <a:srgbClr val="212529"/>
                </a:solidFill>
                <a:effectLst/>
                <a:latin typeface="Segoe UI"/>
                <a:ea typeface="Times New Roman"/>
                <a:cs typeface="Mangal"/>
              </a:rPr>
              <a:t>Segmentation is the process of breaking large data file into smaller files that can be accommodated by network. To understand this process thinks about a 700 MB movie that you want to download from internet. You have 2MBPS internet connection. How will you download a 700MB movie on 2MBPS internet connection?</a:t>
            </a:r>
            <a:endParaRPr lang="en-US" sz="1800" dirty="0" smtClean="0">
              <a:effectLst/>
              <a:latin typeface="Calibri"/>
              <a:ea typeface="Calibri"/>
              <a:cs typeface="Mangal"/>
            </a:endParaRPr>
          </a:p>
          <a:p>
            <a:pPr algn="just">
              <a:lnSpc>
                <a:spcPct val="115000"/>
              </a:lnSpc>
              <a:spcAft>
                <a:spcPts val="1000"/>
              </a:spcAft>
            </a:pPr>
            <a:r>
              <a:rPr lang="en-US" sz="1600" dirty="0" smtClean="0">
                <a:solidFill>
                  <a:srgbClr val="212529"/>
                </a:solidFill>
                <a:effectLst/>
                <a:latin typeface="Segoe UI"/>
                <a:ea typeface="Times New Roman"/>
                <a:cs typeface="Mangal"/>
              </a:rPr>
              <a:t>In this case segmentation process is used. On server transport layer breaks 700MB movie in smaller size of segments (less than your internet connection speed). Assume that 700Mb movie is divided in 700 segments. Each segment has file size of 1Mb that your PC can easily download at current connection speed. Now your PC will download 700 small files instead of one large file. So next time when you see download progress bar in browser, think it about segment receiver progress bar. Once your browser receives all segments from server, it will pop up a message indicating download is completed. Transport layer at your PC will merge all segments back in a single 700Mb movie file. End user will never know how a 700Mb movie makes its way through the 2Mbps connection line.</a:t>
            </a:r>
            <a:endParaRPr lang="en-US" sz="1600" dirty="0" smtClean="0">
              <a:effectLst/>
              <a:latin typeface="Calibri"/>
              <a:ea typeface="Calibri"/>
              <a:cs typeface="Mangal"/>
            </a:endParaRPr>
          </a:p>
          <a:p>
            <a:endParaRPr lang="en-US" dirty="0"/>
          </a:p>
        </p:txBody>
      </p:sp>
    </p:spTree>
    <p:extLst>
      <p:ext uri="{BB962C8B-B14F-4D97-AF65-F5344CB8AC3E}">
        <p14:creationId xmlns:p14="http://schemas.microsoft.com/office/powerpoint/2010/main" val="14042942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lstStyle/>
          <a:p>
            <a:r>
              <a:rPr lang="en-US" sz="4000" b="1" dirty="0">
                <a:solidFill>
                  <a:srgbClr val="E4005C"/>
                </a:solidFill>
              </a:rPr>
              <a:t>Transport Layer(cont..)</a:t>
            </a:r>
            <a:endParaRPr lang="en-US" dirty="0"/>
          </a:p>
        </p:txBody>
      </p:sp>
      <p:sp>
        <p:nvSpPr>
          <p:cNvPr id="3" name="Text Placeholder 2"/>
          <p:cNvSpPr>
            <a:spLocks noGrp="1"/>
          </p:cNvSpPr>
          <p:nvPr>
            <p:ph type="body" sz="half" idx="1"/>
          </p:nvPr>
        </p:nvSpPr>
        <p:spPr>
          <a:xfrm>
            <a:off x="457200" y="838200"/>
            <a:ext cx="8382000" cy="5715000"/>
          </a:xfrm>
        </p:spPr>
        <p:txBody>
          <a:bodyPr/>
          <a:lstStyle/>
          <a:p>
            <a:pPr>
              <a:lnSpc>
                <a:spcPct val="115000"/>
              </a:lnSpc>
              <a:spcAft>
                <a:spcPts val="1000"/>
              </a:spcAft>
            </a:pPr>
            <a:r>
              <a:rPr lang="en-US" sz="1400" b="1" i="1" dirty="0" smtClean="0">
                <a:solidFill>
                  <a:srgbClr val="42444E"/>
                </a:solidFill>
                <a:effectLst/>
                <a:latin typeface="Segoe UI"/>
                <a:ea typeface="Times New Roman"/>
                <a:cs typeface="Mangal"/>
              </a:rPr>
              <a:t>Connection management</a:t>
            </a:r>
            <a:endParaRPr lang="en-US" sz="1400" dirty="0" smtClean="0">
              <a:effectLst/>
              <a:latin typeface="Calibri"/>
              <a:ea typeface="Calibri"/>
              <a:cs typeface="Mangal"/>
            </a:endParaRPr>
          </a:p>
          <a:p>
            <a:pPr algn="just">
              <a:lnSpc>
                <a:spcPct val="115000"/>
              </a:lnSpc>
              <a:spcAft>
                <a:spcPts val="1000"/>
              </a:spcAft>
            </a:pPr>
            <a:r>
              <a:rPr lang="en-US" sz="1400" dirty="0" smtClean="0">
                <a:solidFill>
                  <a:srgbClr val="212529"/>
                </a:solidFill>
                <a:effectLst/>
                <a:latin typeface="Segoe UI"/>
                <a:ea typeface="Times New Roman"/>
                <a:cs typeface="Mangal"/>
              </a:rPr>
              <a:t>Transport layer setup, maintain and tear down connections for session layer. Actual mechanic of connection is controlled by transport layer. Transport layer use two protocols for connection management UDP and TCP.</a:t>
            </a:r>
            <a:endParaRPr lang="en-US" sz="1400" dirty="0" smtClean="0">
              <a:effectLst/>
              <a:latin typeface="Calibri"/>
              <a:ea typeface="Calibri"/>
              <a:cs typeface="Mangal"/>
            </a:endParaRPr>
          </a:p>
          <a:p>
            <a:pPr>
              <a:lnSpc>
                <a:spcPct val="115000"/>
              </a:lnSpc>
              <a:spcAft>
                <a:spcPts val="1000"/>
              </a:spcAft>
            </a:pPr>
            <a:r>
              <a:rPr lang="en-US" sz="1400" b="1" dirty="0" smtClean="0">
                <a:solidFill>
                  <a:srgbClr val="42444E"/>
                </a:solidFill>
                <a:effectLst/>
                <a:latin typeface="Segoe UI"/>
                <a:ea typeface="Times New Roman"/>
                <a:cs typeface="Mangal"/>
              </a:rPr>
              <a:t>UDP</a:t>
            </a:r>
            <a:endParaRPr lang="en-US" sz="1400" dirty="0" smtClean="0">
              <a:effectLst/>
              <a:latin typeface="Calibri"/>
              <a:ea typeface="Calibri"/>
              <a:cs typeface="Mangal"/>
            </a:endParaRPr>
          </a:p>
          <a:p>
            <a:pPr algn="just">
              <a:lnSpc>
                <a:spcPct val="115000"/>
              </a:lnSpc>
              <a:spcAft>
                <a:spcPts val="1000"/>
              </a:spcAft>
            </a:pPr>
            <a:r>
              <a:rPr lang="en-US" sz="1400" dirty="0" smtClean="0">
                <a:solidFill>
                  <a:srgbClr val="212529"/>
                </a:solidFill>
                <a:effectLst/>
                <a:latin typeface="Segoe UI"/>
                <a:ea typeface="Times New Roman"/>
                <a:cs typeface="Mangal"/>
              </a:rPr>
              <a:t>UDP is a connection less protocol. Connection-less transmission is said to be unreliable. Now, don't get worried about the term "unreliable" this doesn't mean that the data isn't going to get its destination; its only means that it isn't guaranteed to get its destination. Think of your options when you are sending a postcard, put it in the mailbox, and chances are good that it will get where it's supposed to go but there is no guarantee. There is always a chance of missing in the way. On the other hand, it's cheap.</a:t>
            </a:r>
            <a:endParaRPr lang="en-US" sz="1400" dirty="0" smtClean="0">
              <a:effectLst/>
              <a:latin typeface="Calibri"/>
              <a:ea typeface="Calibri"/>
              <a:cs typeface="Mangal"/>
            </a:endParaRPr>
          </a:p>
          <a:p>
            <a:pPr>
              <a:lnSpc>
                <a:spcPct val="115000"/>
              </a:lnSpc>
              <a:spcAft>
                <a:spcPts val="1000"/>
              </a:spcAft>
            </a:pPr>
            <a:r>
              <a:rPr lang="en-US" sz="1400" b="1" dirty="0" smtClean="0">
                <a:solidFill>
                  <a:srgbClr val="42444E"/>
                </a:solidFill>
                <a:effectLst/>
                <a:latin typeface="Segoe UI"/>
                <a:ea typeface="Times New Roman"/>
                <a:cs typeface="Mangal"/>
              </a:rPr>
              <a:t>TCP</a:t>
            </a:r>
            <a:endParaRPr lang="en-US" sz="1400" dirty="0" smtClean="0">
              <a:effectLst/>
              <a:latin typeface="Calibri"/>
              <a:ea typeface="Calibri"/>
              <a:cs typeface="Mangal"/>
            </a:endParaRPr>
          </a:p>
          <a:p>
            <a:pPr algn="just">
              <a:lnSpc>
                <a:spcPct val="115000"/>
              </a:lnSpc>
              <a:spcAft>
                <a:spcPts val="1000"/>
              </a:spcAft>
            </a:pPr>
            <a:r>
              <a:rPr lang="en-US" sz="1400" dirty="0" smtClean="0">
                <a:solidFill>
                  <a:srgbClr val="212529"/>
                </a:solidFill>
                <a:effectLst/>
                <a:latin typeface="Segoe UI"/>
                <a:ea typeface="Times New Roman"/>
                <a:cs typeface="Mangal"/>
              </a:rPr>
              <a:t>TCP is a connection oriented protocol. Connection-oriented transmission is said to be reliable. Think TCP as registry EMS facility available in Tanzania post office. For this level of service, you have to buy extra ticket and put a bunch of extra labels on it to track where it is going and where it has been. You get a receipt when it is delivered. In this method you have a guaranteed delivery. All of this costs you more—but it is reliable!</a:t>
            </a:r>
            <a:endParaRPr lang="en-US" sz="1400" dirty="0" smtClean="0">
              <a:effectLst/>
              <a:latin typeface="Calibri"/>
              <a:ea typeface="Calibri"/>
              <a:cs typeface="Mangal"/>
            </a:endParaRPr>
          </a:p>
          <a:p>
            <a:endParaRPr lang="en-US" sz="1400" dirty="0"/>
          </a:p>
        </p:txBody>
      </p:sp>
    </p:spTree>
    <p:extLst>
      <p:ext uri="{BB962C8B-B14F-4D97-AF65-F5344CB8AC3E}">
        <p14:creationId xmlns:p14="http://schemas.microsoft.com/office/powerpoint/2010/main" val="20469619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lstStyle/>
          <a:p>
            <a:r>
              <a:rPr lang="en-US" sz="4000" b="1" dirty="0">
                <a:solidFill>
                  <a:srgbClr val="E4005C"/>
                </a:solidFill>
              </a:rPr>
              <a:t>Transport Layer(cont..)</a:t>
            </a:r>
            <a:endParaRPr lang="en-US" dirty="0"/>
          </a:p>
        </p:txBody>
      </p:sp>
      <p:sp>
        <p:nvSpPr>
          <p:cNvPr id="3" name="Text Placeholder 2"/>
          <p:cNvSpPr>
            <a:spLocks noGrp="1"/>
          </p:cNvSpPr>
          <p:nvPr>
            <p:ph type="body" sz="half" idx="1"/>
          </p:nvPr>
        </p:nvSpPr>
        <p:spPr>
          <a:xfrm>
            <a:off x="457200" y="762000"/>
            <a:ext cx="8229600" cy="5364163"/>
          </a:xfrm>
        </p:spPr>
        <p:txBody>
          <a:bodyPr/>
          <a:lstStyle/>
          <a:p>
            <a:pPr marL="0" indent="0">
              <a:lnSpc>
                <a:spcPct val="115000"/>
              </a:lnSpc>
              <a:spcAft>
                <a:spcPts val="1000"/>
              </a:spcAft>
              <a:buNone/>
            </a:pPr>
            <a:r>
              <a:rPr lang="en-US" sz="3600" b="1" i="1" dirty="0" smtClean="0">
                <a:solidFill>
                  <a:srgbClr val="42444E"/>
                </a:solidFill>
                <a:effectLst/>
                <a:latin typeface="Segoe UI"/>
                <a:ea typeface="Times New Roman"/>
                <a:cs typeface="Mangal"/>
              </a:rPr>
              <a:t>Reliability</a:t>
            </a:r>
            <a:endParaRPr lang="en-US" sz="2800" dirty="0" smtClean="0">
              <a:effectLst/>
              <a:latin typeface="Calibri"/>
              <a:ea typeface="Calibri"/>
              <a:cs typeface="Mangal"/>
            </a:endParaRPr>
          </a:p>
          <a:p>
            <a:pPr algn="just">
              <a:lnSpc>
                <a:spcPct val="115000"/>
              </a:lnSpc>
              <a:spcAft>
                <a:spcPts val="1000"/>
              </a:spcAft>
            </a:pPr>
            <a:r>
              <a:rPr lang="en-US" dirty="0" smtClean="0">
                <a:solidFill>
                  <a:srgbClr val="212529"/>
                </a:solidFill>
                <a:effectLst/>
                <a:latin typeface="Segoe UI"/>
                <a:ea typeface="Times New Roman"/>
                <a:cs typeface="Mangal"/>
              </a:rPr>
              <a:t>Reliability means guaranteed data delivery. To insure delivery of each single segment, connection oriented method is used. In this approach before sending any segments three way handshake process is done.</a:t>
            </a:r>
            <a:endParaRPr lang="en-US" sz="2800" dirty="0" smtClean="0">
              <a:effectLst/>
              <a:latin typeface="Calibri"/>
              <a:ea typeface="Calibri"/>
              <a:cs typeface="Mangal"/>
            </a:endParaRPr>
          </a:p>
          <a:p>
            <a:pPr marL="0" indent="0">
              <a:buNone/>
            </a:pPr>
            <a:endParaRPr lang="en-US" dirty="0"/>
          </a:p>
        </p:txBody>
      </p:sp>
    </p:spTree>
    <p:extLst>
      <p:ext uri="{BB962C8B-B14F-4D97-AF65-F5344CB8AC3E}">
        <p14:creationId xmlns:p14="http://schemas.microsoft.com/office/powerpoint/2010/main" val="439716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lstStyle/>
          <a:p>
            <a:r>
              <a:rPr lang="en-US" sz="4000" b="1" dirty="0">
                <a:solidFill>
                  <a:srgbClr val="E4005C"/>
                </a:solidFill>
              </a:rPr>
              <a:t>Transport Layer(cont..)</a:t>
            </a:r>
            <a:endParaRPr lang="en-US" dirty="0"/>
          </a:p>
        </p:txBody>
      </p:sp>
      <p:sp>
        <p:nvSpPr>
          <p:cNvPr id="3" name="Text Placeholder 2"/>
          <p:cNvSpPr>
            <a:spLocks noGrp="1"/>
          </p:cNvSpPr>
          <p:nvPr>
            <p:ph type="body" sz="half" idx="1"/>
          </p:nvPr>
        </p:nvSpPr>
        <p:spPr>
          <a:xfrm>
            <a:off x="228600" y="838200"/>
            <a:ext cx="4724400" cy="5287963"/>
          </a:xfrm>
        </p:spPr>
        <p:txBody>
          <a:bodyPr/>
          <a:lstStyle/>
          <a:p>
            <a:pPr marL="0" indent="0">
              <a:buNone/>
            </a:pPr>
            <a:r>
              <a:rPr lang="en-US" b="1" dirty="0" smtClean="0">
                <a:solidFill>
                  <a:srgbClr val="563D7C"/>
                </a:solidFill>
                <a:effectLst/>
                <a:latin typeface="Segoe UI"/>
                <a:ea typeface="Times New Roman"/>
                <a:cs typeface="Mangal"/>
              </a:rPr>
              <a:t>Three way handshake process</a:t>
            </a:r>
            <a:endParaRPr lang="en-US" sz="2400" dirty="0" smtClean="0">
              <a:effectLst/>
              <a:latin typeface="Calibri"/>
              <a:ea typeface="Calibri"/>
              <a:cs typeface="Mangal"/>
            </a:endParaRPr>
          </a:p>
          <a:p>
            <a:endParaRPr lang="en-US" dirty="0"/>
          </a:p>
        </p:txBody>
      </p:sp>
      <p:sp>
        <p:nvSpPr>
          <p:cNvPr id="4" name="Content Placeholder 3"/>
          <p:cNvSpPr>
            <a:spLocks noGrp="1"/>
          </p:cNvSpPr>
          <p:nvPr>
            <p:ph sz="half" idx="2"/>
          </p:nvPr>
        </p:nvSpPr>
        <p:spPr>
          <a:xfrm>
            <a:off x="4267200" y="990600"/>
            <a:ext cx="4419600" cy="5715000"/>
          </a:xfrm>
        </p:spPr>
        <p:txBody>
          <a:bodyPr/>
          <a:lstStyle/>
          <a:p>
            <a:r>
              <a:rPr lang="en-US" sz="1600" dirty="0" smtClean="0">
                <a:solidFill>
                  <a:srgbClr val="00B050"/>
                </a:solidFill>
              </a:rPr>
              <a:t>PC1 sends a SYN single to PC2 indicating that it wants to establish a reliable session</a:t>
            </a:r>
            <a:r>
              <a:rPr lang="en-US" sz="1600" dirty="0" smtClean="0"/>
              <a:t>.</a:t>
            </a:r>
          </a:p>
          <a:p>
            <a:r>
              <a:rPr lang="en-US" sz="1600" dirty="0" smtClean="0"/>
              <a:t>P2 replies with ACK/SYN signal where ACK is the acknowledgment of PC1’s SYN signal and SYN indicates that PC2 is ready to establish a reliable session.</a:t>
            </a:r>
          </a:p>
          <a:p>
            <a:r>
              <a:rPr lang="en-US" sz="1600" dirty="0" smtClean="0">
                <a:solidFill>
                  <a:srgbClr val="00B050"/>
                </a:solidFill>
              </a:rPr>
              <a:t>PC1 replies with ACK signal indicating that is has received SYN signal and session is now fully established</a:t>
            </a:r>
            <a:r>
              <a:rPr lang="en-US" sz="1600" dirty="0" smtClean="0"/>
              <a:t>.</a:t>
            </a:r>
          </a:p>
          <a:p>
            <a:pPr marL="0" indent="0" algn="just">
              <a:lnSpc>
                <a:spcPct val="115000"/>
              </a:lnSpc>
              <a:spcBef>
                <a:spcPts val="0"/>
              </a:spcBef>
              <a:spcAft>
                <a:spcPts val="0"/>
              </a:spcAft>
              <a:buNone/>
            </a:pPr>
            <a:r>
              <a:rPr lang="en-US" sz="1600" dirty="0" smtClean="0">
                <a:solidFill>
                  <a:srgbClr val="002060"/>
                </a:solidFill>
                <a:effectLst/>
                <a:latin typeface="Segoe UI"/>
                <a:ea typeface="Times New Roman"/>
                <a:cs typeface="Mangal"/>
              </a:rPr>
              <a:t>Once connection is established data transmission will be initiated. To provide maximum reliability it includes following functions:-</a:t>
            </a:r>
            <a:endParaRPr lang="en-US" sz="1400" dirty="0" smtClean="0">
              <a:solidFill>
                <a:srgbClr val="002060"/>
              </a:solidFill>
              <a:effectLst/>
              <a:latin typeface="Calibri"/>
              <a:ea typeface="Calibri"/>
              <a:cs typeface="Mangal"/>
            </a:endParaRPr>
          </a:p>
          <a:p>
            <a:pPr lvl="0">
              <a:lnSpc>
                <a:spcPct val="115000"/>
              </a:lnSpc>
              <a:spcBef>
                <a:spcPts val="0"/>
              </a:spcBef>
              <a:spcAft>
                <a:spcPts val="0"/>
              </a:spcAft>
              <a:buSzPts val="1000"/>
              <a:buFont typeface="Symbol"/>
              <a:buChar char=""/>
              <a:tabLst>
                <a:tab pos="457200" algn="l"/>
              </a:tabLst>
            </a:pPr>
            <a:r>
              <a:rPr lang="en-US" sz="1600" dirty="0" smtClean="0">
                <a:solidFill>
                  <a:srgbClr val="002060"/>
                </a:solidFill>
                <a:effectLst/>
                <a:latin typeface="Segoe UI"/>
                <a:ea typeface="Times New Roman"/>
                <a:cs typeface="Mangal"/>
              </a:rPr>
              <a:t>Detect lost packets and resend them</a:t>
            </a:r>
            <a:endParaRPr lang="en-US" sz="1400" dirty="0" smtClean="0">
              <a:solidFill>
                <a:srgbClr val="002060"/>
              </a:solidFill>
              <a:effectLst/>
              <a:latin typeface="Calibri"/>
              <a:ea typeface="Calibri"/>
              <a:cs typeface="Mangal"/>
            </a:endParaRPr>
          </a:p>
          <a:p>
            <a:pPr lvl="0">
              <a:lnSpc>
                <a:spcPct val="115000"/>
              </a:lnSpc>
              <a:spcBef>
                <a:spcPts val="0"/>
              </a:spcBef>
              <a:spcAft>
                <a:spcPts val="0"/>
              </a:spcAft>
              <a:buSzPts val="1000"/>
              <a:buFont typeface="Symbol"/>
              <a:buChar char=""/>
              <a:tabLst>
                <a:tab pos="457200" algn="l"/>
              </a:tabLst>
            </a:pPr>
            <a:r>
              <a:rPr lang="en-US" sz="1600" dirty="0" smtClean="0">
                <a:solidFill>
                  <a:srgbClr val="002060"/>
                </a:solidFill>
                <a:effectLst/>
                <a:latin typeface="Segoe UI"/>
                <a:ea typeface="Times New Roman"/>
                <a:cs typeface="Mangal"/>
              </a:rPr>
              <a:t>Detect packets that arrived out of order and reorder them</a:t>
            </a:r>
            <a:endParaRPr lang="en-US" sz="1400" dirty="0" smtClean="0">
              <a:solidFill>
                <a:srgbClr val="002060"/>
              </a:solidFill>
              <a:effectLst/>
              <a:latin typeface="Calibri"/>
              <a:ea typeface="Calibri"/>
              <a:cs typeface="Mangal"/>
            </a:endParaRPr>
          </a:p>
          <a:p>
            <a:pPr lvl="0">
              <a:lnSpc>
                <a:spcPct val="115000"/>
              </a:lnSpc>
              <a:spcBef>
                <a:spcPts val="0"/>
              </a:spcBef>
              <a:spcAft>
                <a:spcPts val="0"/>
              </a:spcAft>
              <a:buSzPts val="1000"/>
              <a:buFont typeface="Symbol"/>
              <a:buChar char=""/>
              <a:tabLst>
                <a:tab pos="457200" algn="l"/>
              </a:tabLst>
            </a:pPr>
            <a:r>
              <a:rPr lang="en-US" sz="1600" dirty="0" smtClean="0">
                <a:solidFill>
                  <a:srgbClr val="002060"/>
                </a:solidFill>
                <a:effectLst/>
                <a:latin typeface="Segoe UI"/>
                <a:ea typeface="Times New Roman"/>
                <a:cs typeface="Mangal"/>
              </a:rPr>
              <a:t>Recognize duplicate packets and drop extra packets</a:t>
            </a:r>
            <a:endParaRPr lang="en-US" sz="1400" dirty="0" smtClean="0">
              <a:solidFill>
                <a:srgbClr val="002060"/>
              </a:solidFill>
              <a:effectLst/>
              <a:latin typeface="Calibri"/>
              <a:ea typeface="Calibri"/>
              <a:cs typeface="Mangal"/>
            </a:endParaRPr>
          </a:p>
          <a:p>
            <a:pPr lvl="0">
              <a:lnSpc>
                <a:spcPct val="115000"/>
              </a:lnSpc>
              <a:spcBef>
                <a:spcPts val="0"/>
              </a:spcBef>
              <a:spcAft>
                <a:spcPts val="0"/>
              </a:spcAft>
              <a:buSzPts val="1000"/>
              <a:buFont typeface="Symbol"/>
              <a:buChar char=""/>
              <a:tabLst>
                <a:tab pos="457200" algn="l"/>
              </a:tabLst>
            </a:pPr>
            <a:r>
              <a:rPr lang="en-US" sz="1600" dirty="0" smtClean="0">
                <a:solidFill>
                  <a:srgbClr val="002060"/>
                </a:solidFill>
                <a:effectLst/>
                <a:latin typeface="Segoe UI"/>
                <a:ea typeface="Times New Roman"/>
                <a:cs typeface="Mangal"/>
              </a:rPr>
              <a:t>Avoid congestion by implementing flow control</a:t>
            </a:r>
            <a:endParaRPr lang="en-US" sz="1400" dirty="0" smtClean="0">
              <a:solidFill>
                <a:srgbClr val="002060"/>
              </a:solidFill>
              <a:effectLst/>
              <a:latin typeface="Calibri"/>
              <a:ea typeface="Calibri"/>
              <a:cs typeface="Mangal"/>
            </a:endParaRPr>
          </a:p>
          <a:p>
            <a:endParaRPr lang="en-US" sz="1600" dirty="0"/>
          </a:p>
        </p:txBody>
      </p:sp>
      <p:pic>
        <p:nvPicPr>
          <p:cNvPr id="6" name="Picture 5" descr="tcp three way handshake process"/>
          <p:cNvPicPr/>
          <p:nvPr/>
        </p:nvPicPr>
        <p:blipFill>
          <a:blip r:embed="rId2">
            <a:extLst>
              <a:ext uri="{28A0092B-C50C-407E-A947-70E740481C1C}">
                <a14:useLocalDpi xmlns:a14="http://schemas.microsoft.com/office/drawing/2010/main" val="0"/>
              </a:ext>
            </a:extLst>
          </a:blip>
          <a:srcRect/>
          <a:stretch>
            <a:fillRect/>
          </a:stretch>
        </p:blipFill>
        <p:spPr bwMode="auto">
          <a:xfrm>
            <a:off x="533399" y="2362200"/>
            <a:ext cx="3733801" cy="2286000"/>
          </a:xfrm>
          <a:prstGeom prst="rect">
            <a:avLst/>
          </a:prstGeom>
          <a:noFill/>
          <a:ln>
            <a:noFill/>
          </a:ln>
        </p:spPr>
      </p:pic>
    </p:spTree>
    <p:extLst>
      <p:ext uri="{BB962C8B-B14F-4D97-AF65-F5344CB8AC3E}">
        <p14:creationId xmlns:p14="http://schemas.microsoft.com/office/powerpoint/2010/main" val="18232035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r>
              <a:rPr lang="en-US" sz="4000" b="1" dirty="0">
                <a:solidFill>
                  <a:srgbClr val="E4005C"/>
                </a:solidFill>
              </a:rPr>
              <a:t>Transport Layer(cont..)</a:t>
            </a:r>
            <a:endParaRPr lang="en-US" dirty="0"/>
          </a:p>
        </p:txBody>
      </p:sp>
      <p:sp>
        <p:nvSpPr>
          <p:cNvPr id="3" name="Text Placeholder 2"/>
          <p:cNvSpPr>
            <a:spLocks noGrp="1"/>
          </p:cNvSpPr>
          <p:nvPr>
            <p:ph type="body" sz="half" idx="1"/>
          </p:nvPr>
        </p:nvSpPr>
        <p:spPr>
          <a:xfrm>
            <a:off x="76200" y="838200"/>
            <a:ext cx="8458200" cy="5287963"/>
          </a:xfrm>
        </p:spPr>
        <p:txBody>
          <a:bodyPr/>
          <a:lstStyle/>
          <a:p>
            <a:pPr marL="0" indent="0">
              <a:buNone/>
            </a:pPr>
            <a:r>
              <a:rPr lang="en-US" sz="2800" u="sng" dirty="0" smtClean="0">
                <a:solidFill>
                  <a:srgbClr val="002060"/>
                </a:solidFill>
              </a:rPr>
              <a:t>Connection Multiplexing/Application Mapping.</a:t>
            </a:r>
          </a:p>
          <a:p>
            <a:pPr algn="just">
              <a:lnSpc>
                <a:spcPct val="115000"/>
              </a:lnSpc>
              <a:spcAft>
                <a:spcPts val="1000"/>
              </a:spcAft>
            </a:pPr>
            <a:r>
              <a:rPr lang="en-US" sz="2400" dirty="0" smtClean="0">
                <a:solidFill>
                  <a:srgbClr val="00B050"/>
                </a:solidFill>
                <a:effectLst/>
                <a:latin typeface="Times New Roman"/>
                <a:ea typeface="Times New Roman"/>
                <a:cs typeface="Mangal"/>
              </a:rPr>
              <a:t>Connection multiplexing feature allows multiple applications to connect at a time.</a:t>
            </a:r>
            <a:r>
              <a:rPr lang="en-US" sz="2400" dirty="0" smtClean="0">
                <a:effectLst/>
                <a:latin typeface="Times New Roman"/>
                <a:ea typeface="Times New Roman"/>
                <a:cs typeface="Mangal"/>
              </a:rPr>
              <a:t> For example a server performs a number of functions like email, FTP, DNS, Web service, file service, data service etc. Suppose server has a single IP address, how will it perform all these different functions for all the hosts that want to connect with it? To make this possible transport layer assigns a unique set of numbers for each connection. These numbers are called port or socket numbers. These port numbers allow multiple applications to send and receive data simultaneously.</a:t>
            </a:r>
            <a:endParaRPr lang="en-US" sz="2400" dirty="0" smtClean="0">
              <a:effectLst/>
              <a:latin typeface="Calibri"/>
              <a:ea typeface="Calibri"/>
              <a:cs typeface="Mangal"/>
            </a:endParaRPr>
          </a:p>
          <a:p>
            <a:pPr marL="0" indent="0">
              <a:buNone/>
            </a:pPr>
            <a:endParaRPr lang="en-US" sz="2400" dirty="0">
              <a:solidFill>
                <a:srgbClr val="002060"/>
              </a:solidFill>
            </a:endParaRPr>
          </a:p>
        </p:txBody>
      </p:sp>
    </p:spTree>
    <p:extLst>
      <p:ext uri="{BB962C8B-B14F-4D97-AF65-F5344CB8AC3E}">
        <p14:creationId xmlns:p14="http://schemas.microsoft.com/office/powerpoint/2010/main" val="3722222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34962"/>
          </a:xfrm>
        </p:spPr>
        <p:txBody>
          <a:bodyPr/>
          <a:lstStyle/>
          <a:p>
            <a:r>
              <a:rPr lang="en-US" sz="4000" b="1" dirty="0">
                <a:solidFill>
                  <a:srgbClr val="E4005C"/>
                </a:solidFill>
              </a:rPr>
              <a:t>Transport Layer(cont..)</a:t>
            </a:r>
            <a:endParaRPr lang="en-US" dirty="0"/>
          </a:p>
        </p:txBody>
      </p:sp>
      <p:sp>
        <p:nvSpPr>
          <p:cNvPr id="3" name="Text Placeholder 2"/>
          <p:cNvSpPr>
            <a:spLocks noGrp="1"/>
          </p:cNvSpPr>
          <p:nvPr>
            <p:ph type="body" sz="half" idx="1"/>
          </p:nvPr>
        </p:nvSpPr>
        <p:spPr>
          <a:xfrm>
            <a:off x="457200" y="838200"/>
            <a:ext cx="8458200" cy="5287963"/>
          </a:xfrm>
        </p:spPr>
        <p:txBody>
          <a:bodyPr/>
          <a:lstStyle/>
          <a:p>
            <a:pPr marL="0" indent="0" algn="just">
              <a:lnSpc>
                <a:spcPct val="115000"/>
              </a:lnSpc>
              <a:spcAft>
                <a:spcPts val="1000"/>
              </a:spcAft>
              <a:buNone/>
            </a:pPr>
            <a:r>
              <a:rPr lang="en-US" dirty="0" smtClean="0">
                <a:effectLst/>
                <a:latin typeface="Times New Roman"/>
                <a:ea typeface="Times New Roman"/>
                <a:cs typeface="Mangal"/>
              </a:rPr>
              <a:t>Common TCP and UDP Port Numbers</a:t>
            </a:r>
            <a:endParaRPr lang="en-US" sz="2800" dirty="0" smtClean="0">
              <a:effectLst/>
              <a:latin typeface="Calibri"/>
              <a:ea typeface="Calibri"/>
              <a:cs typeface="Mangal"/>
            </a:endParaRPr>
          </a:p>
          <a:p>
            <a:endParaRPr lang="en-US" dirty="0"/>
          </a:p>
        </p:txBody>
      </p:sp>
      <p:graphicFrame>
        <p:nvGraphicFramePr>
          <p:cNvPr id="5" name="Table 4"/>
          <p:cNvGraphicFramePr>
            <a:graphicFrameLocks noGrp="1"/>
          </p:cNvGraphicFramePr>
          <p:nvPr>
            <p:extLst>
              <p:ext uri="{D42A27DB-BD31-4B8C-83A1-F6EECF244321}">
                <p14:modId xmlns:p14="http://schemas.microsoft.com/office/powerpoint/2010/main" val="2455730661"/>
              </p:ext>
            </p:extLst>
          </p:nvPr>
        </p:nvGraphicFramePr>
        <p:xfrm>
          <a:off x="761998" y="1600198"/>
          <a:ext cx="7116764" cy="3305780"/>
        </p:xfrm>
        <a:graphic>
          <a:graphicData uri="http://schemas.openxmlformats.org/drawingml/2006/table">
            <a:tbl>
              <a:tblPr firstRow="1" firstCol="1" bandRow="1"/>
              <a:tblGrid>
                <a:gridCol w="1779191"/>
                <a:gridCol w="1779191"/>
                <a:gridCol w="1779191"/>
                <a:gridCol w="1779191"/>
              </a:tblGrid>
              <a:tr h="333356">
                <a:tc gridSpan="2">
                  <a:txBody>
                    <a:bodyPr/>
                    <a:lstStyle/>
                    <a:p>
                      <a:pPr algn="ctr">
                        <a:lnSpc>
                          <a:spcPct val="115000"/>
                        </a:lnSpc>
                        <a:spcAft>
                          <a:spcPts val="0"/>
                        </a:spcAft>
                      </a:pPr>
                      <a:r>
                        <a:rPr lang="en-US" sz="1800" dirty="0">
                          <a:solidFill>
                            <a:srgbClr val="FF0000"/>
                          </a:solidFill>
                          <a:effectLst/>
                          <a:latin typeface="Times New Roman"/>
                          <a:ea typeface="Times New Roman"/>
                          <a:cs typeface="Mangal"/>
                        </a:rPr>
                        <a:t>TCP</a:t>
                      </a:r>
                      <a:endParaRPr lang="en-US" sz="1800" dirty="0">
                        <a:solidFill>
                          <a:srgbClr val="FF000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gridSpan="2">
                  <a:txBody>
                    <a:bodyPr/>
                    <a:lstStyle/>
                    <a:p>
                      <a:pPr algn="ctr">
                        <a:lnSpc>
                          <a:spcPct val="115000"/>
                        </a:lnSpc>
                        <a:spcAft>
                          <a:spcPts val="0"/>
                        </a:spcAft>
                      </a:pPr>
                      <a:r>
                        <a:rPr lang="en-US" sz="1800" dirty="0">
                          <a:solidFill>
                            <a:srgbClr val="FF0000"/>
                          </a:solidFill>
                          <a:effectLst/>
                          <a:latin typeface="Times New Roman"/>
                          <a:ea typeface="Times New Roman"/>
                          <a:cs typeface="Mangal"/>
                        </a:rPr>
                        <a:t>UDP</a:t>
                      </a:r>
                      <a:endParaRPr lang="en-US" sz="1800" dirty="0">
                        <a:solidFill>
                          <a:srgbClr val="FF000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r>
              <a:tr h="333356">
                <a:tc>
                  <a:txBody>
                    <a:bodyPr/>
                    <a:lstStyle/>
                    <a:p>
                      <a:pPr>
                        <a:lnSpc>
                          <a:spcPct val="115000"/>
                        </a:lnSpc>
                        <a:spcAft>
                          <a:spcPts val="0"/>
                        </a:spcAft>
                      </a:pPr>
                      <a:r>
                        <a:rPr lang="en-US" sz="1800" dirty="0">
                          <a:solidFill>
                            <a:srgbClr val="002060"/>
                          </a:solidFill>
                          <a:effectLst/>
                          <a:latin typeface="Times New Roman"/>
                          <a:ea typeface="Times New Roman"/>
                          <a:cs typeface="Mangal"/>
                        </a:rPr>
                        <a:t>FTP</a:t>
                      </a:r>
                      <a:endParaRPr lang="en-US" sz="1800" dirty="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a:solidFill>
                            <a:srgbClr val="002060"/>
                          </a:solidFill>
                          <a:effectLst/>
                          <a:latin typeface="Times New Roman"/>
                          <a:ea typeface="Times New Roman"/>
                          <a:cs typeface="Mangal"/>
                        </a:rPr>
                        <a:t>20, 21</a:t>
                      </a:r>
                      <a:endParaRPr lang="en-US" sz="180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a:solidFill>
                            <a:srgbClr val="002060"/>
                          </a:solidFill>
                          <a:effectLst/>
                          <a:latin typeface="Times New Roman"/>
                          <a:ea typeface="Times New Roman"/>
                          <a:cs typeface="Mangal"/>
                        </a:rPr>
                        <a:t>DNS</a:t>
                      </a:r>
                      <a:endParaRPr lang="en-US" sz="180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dirty="0">
                          <a:solidFill>
                            <a:srgbClr val="002060"/>
                          </a:solidFill>
                          <a:effectLst/>
                          <a:latin typeface="Times New Roman"/>
                          <a:ea typeface="Times New Roman"/>
                          <a:cs typeface="Mangal"/>
                        </a:rPr>
                        <a:t>53</a:t>
                      </a:r>
                      <a:endParaRPr lang="en-US" sz="1800" dirty="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3356">
                <a:tc>
                  <a:txBody>
                    <a:bodyPr/>
                    <a:lstStyle/>
                    <a:p>
                      <a:pPr>
                        <a:lnSpc>
                          <a:spcPct val="115000"/>
                        </a:lnSpc>
                        <a:spcAft>
                          <a:spcPts val="0"/>
                        </a:spcAft>
                      </a:pPr>
                      <a:r>
                        <a:rPr lang="en-US" sz="1800" dirty="0">
                          <a:solidFill>
                            <a:srgbClr val="002060"/>
                          </a:solidFill>
                          <a:effectLst/>
                          <a:latin typeface="Times New Roman"/>
                          <a:ea typeface="Times New Roman"/>
                          <a:cs typeface="Mangal"/>
                        </a:rPr>
                        <a:t>Telnet</a:t>
                      </a:r>
                      <a:endParaRPr lang="en-US" sz="1800" dirty="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a:solidFill>
                            <a:srgbClr val="002060"/>
                          </a:solidFill>
                          <a:effectLst/>
                          <a:latin typeface="Times New Roman"/>
                          <a:ea typeface="Times New Roman"/>
                          <a:cs typeface="Mangal"/>
                        </a:rPr>
                        <a:t>23</a:t>
                      </a:r>
                      <a:endParaRPr lang="en-US" sz="180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a:solidFill>
                            <a:srgbClr val="002060"/>
                          </a:solidFill>
                          <a:effectLst/>
                          <a:latin typeface="Times New Roman"/>
                          <a:ea typeface="Times New Roman"/>
                          <a:cs typeface="Mangal"/>
                        </a:rPr>
                        <a:t>DHCP</a:t>
                      </a:r>
                      <a:endParaRPr lang="en-US" sz="180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a:solidFill>
                            <a:srgbClr val="002060"/>
                          </a:solidFill>
                          <a:effectLst/>
                          <a:latin typeface="Times New Roman"/>
                          <a:ea typeface="Times New Roman"/>
                          <a:cs typeface="Mangal"/>
                        </a:rPr>
                        <a:t>67,68</a:t>
                      </a:r>
                      <a:endParaRPr lang="en-US" sz="180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3356">
                <a:tc>
                  <a:txBody>
                    <a:bodyPr/>
                    <a:lstStyle/>
                    <a:p>
                      <a:pPr>
                        <a:lnSpc>
                          <a:spcPct val="115000"/>
                        </a:lnSpc>
                        <a:spcAft>
                          <a:spcPts val="0"/>
                        </a:spcAft>
                      </a:pPr>
                      <a:r>
                        <a:rPr lang="en-US" sz="1800">
                          <a:solidFill>
                            <a:srgbClr val="002060"/>
                          </a:solidFill>
                          <a:effectLst/>
                          <a:latin typeface="Times New Roman"/>
                          <a:ea typeface="Times New Roman"/>
                          <a:cs typeface="Mangal"/>
                        </a:rPr>
                        <a:t>SMTP</a:t>
                      </a:r>
                      <a:endParaRPr lang="en-US" sz="180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dirty="0">
                          <a:solidFill>
                            <a:srgbClr val="002060"/>
                          </a:solidFill>
                          <a:effectLst/>
                          <a:latin typeface="Times New Roman"/>
                          <a:ea typeface="Times New Roman"/>
                          <a:cs typeface="Mangal"/>
                        </a:rPr>
                        <a:t>25</a:t>
                      </a:r>
                      <a:endParaRPr lang="en-US" sz="1800" dirty="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a:solidFill>
                            <a:srgbClr val="002060"/>
                          </a:solidFill>
                          <a:effectLst/>
                          <a:latin typeface="Times New Roman"/>
                          <a:ea typeface="Times New Roman"/>
                          <a:cs typeface="Mangal"/>
                        </a:rPr>
                        <a:t>TFTP</a:t>
                      </a:r>
                      <a:endParaRPr lang="en-US" sz="180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a:solidFill>
                            <a:srgbClr val="002060"/>
                          </a:solidFill>
                          <a:effectLst/>
                          <a:latin typeface="Times New Roman"/>
                          <a:ea typeface="Times New Roman"/>
                          <a:cs typeface="Mangal"/>
                        </a:rPr>
                        <a:t>69</a:t>
                      </a:r>
                      <a:endParaRPr lang="en-US" sz="180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3356">
                <a:tc>
                  <a:txBody>
                    <a:bodyPr/>
                    <a:lstStyle/>
                    <a:p>
                      <a:pPr>
                        <a:lnSpc>
                          <a:spcPct val="115000"/>
                        </a:lnSpc>
                        <a:spcAft>
                          <a:spcPts val="0"/>
                        </a:spcAft>
                      </a:pPr>
                      <a:r>
                        <a:rPr lang="en-US" sz="1800">
                          <a:solidFill>
                            <a:srgbClr val="002060"/>
                          </a:solidFill>
                          <a:effectLst/>
                          <a:latin typeface="Times New Roman"/>
                          <a:ea typeface="Times New Roman"/>
                          <a:cs typeface="Mangal"/>
                        </a:rPr>
                        <a:t>DNS</a:t>
                      </a:r>
                      <a:endParaRPr lang="en-US" sz="180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dirty="0">
                          <a:solidFill>
                            <a:srgbClr val="002060"/>
                          </a:solidFill>
                          <a:effectLst/>
                          <a:latin typeface="Times New Roman"/>
                          <a:ea typeface="Times New Roman"/>
                          <a:cs typeface="Mangal"/>
                        </a:rPr>
                        <a:t>53</a:t>
                      </a:r>
                      <a:endParaRPr lang="en-US" sz="1800" dirty="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dirty="0">
                          <a:solidFill>
                            <a:srgbClr val="002060"/>
                          </a:solidFill>
                          <a:effectLst/>
                          <a:latin typeface="Times New Roman"/>
                          <a:ea typeface="Times New Roman"/>
                          <a:cs typeface="Mangal"/>
                        </a:rPr>
                        <a:t>NTP</a:t>
                      </a:r>
                      <a:endParaRPr lang="en-US" sz="1800" dirty="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a:solidFill>
                            <a:srgbClr val="002060"/>
                          </a:solidFill>
                          <a:effectLst/>
                          <a:latin typeface="Times New Roman"/>
                          <a:ea typeface="Times New Roman"/>
                          <a:cs typeface="Mangal"/>
                        </a:rPr>
                        <a:t>123</a:t>
                      </a:r>
                      <a:endParaRPr lang="en-US" sz="180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3356">
                <a:tc>
                  <a:txBody>
                    <a:bodyPr/>
                    <a:lstStyle/>
                    <a:p>
                      <a:pPr>
                        <a:lnSpc>
                          <a:spcPct val="115000"/>
                        </a:lnSpc>
                        <a:spcAft>
                          <a:spcPts val="0"/>
                        </a:spcAft>
                      </a:pPr>
                      <a:r>
                        <a:rPr lang="en-US" sz="1800">
                          <a:solidFill>
                            <a:srgbClr val="002060"/>
                          </a:solidFill>
                          <a:effectLst/>
                          <a:latin typeface="Times New Roman"/>
                          <a:ea typeface="Times New Roman"/>
                          <a:cs typeface="Mangal"/>
                        </a:rPr>
                        <a:t>HTTP</a:t>
                      </a:r>
                      <a:endParaRPr lang="en-US" sz="180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dirty="0">
                          <a:solidFill>
                            <a:srgbClr val="002060"/>
                          </a:solidFill>
                          <a:effectLst/>
                          <a:latin typeface="Times New Roman"/>
                          <a:ea typeface="Times New Roman"/>
                          <a:cs typeface="Mangal"/>
                        </a:rPr>
                        <a:t>80</a:t>
                      </a:r>
                      <a:endParaRPr lang="en-US" sz="1800" dirty="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dirty="0">
                          <a:solidFill>
                            <a:srgbClr val="002060"/>
                          </a:solidFill>
                          <a:effectLst/>
                          <a:latin typeface="Times New Roman"/>
                          <a:ea typeface="Times New Roman"/>
                          <a:cs typeface="Mangal"/>
                        </a:rPr>
                        <a:t>SNMP</a:t>
                      </a:r>
                      <a:endParaRPr lang="en-US" sz="1800" dirty="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a:solidFill>
                            <a:srgbClr val="002060"/>
                          </a:solidFill>
                          <a:effectLst/>
                          <a:latin typeface="Times New Roman"/>
                          <a:ea typeface="Times New Roman"/>
                          <a:cs typeface="Mangal"/>
                        </a:rPr>
                        <a:t>161</a:t>
                      </a:r>
                      <a:endParaRPr lang="en-US" sz="180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3356">
                <a:tc>
                  <a:txBody>
                    <a:bodyPr/>
                    <a:lstStyle/>
                    <a:p>
                      <a:pPr>
                        <a:lnSpc>
                          <a:spcPct val="115000"/>
                        </a:lnSpc>
                        <a:spcAft>
                          <a:spcPts val="0"/>
                        </a:spcAft>
                      </a:pPr>
                      <a:r>
                        <a:rPr lang="en-US" sz="1800">
                          <a:solidFill>
                            <a:srgbClr val="002060"/>
                          </a:solidFill>
                          <a:effectLst/>
                          <a:latin typeface="Times New Roman"/>
                          <a:ea typeface="Times New Roman"/>
                          <a:cs typeface="Mangal"/>
                        </a:rPr>
                        <a:t>POP</a:t>
                      </a:r>
                      <a:endParaRPr lang="en-US" sz="180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a:solidFill>
                            <a:srgbClr val="002060"/>
                          </a:solidFill>
                          <a:effectLst/>
                          <a:latin typeface="Times New Roman"/>
                          <a:ea typeface="Times New Roman"/>
                          <a:cs typeface="Mangal"/>
                        </a:rPr>
                        <a:t>110</a:t>
                      </a:r>
                      <a:endParaRPr lang="en-US" sz="180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endParaRPr lang="en-US" sz="1800" dirty="0">
                        <a:solidFill>
                          <a:srgbClr val="002060"/>
                        </a:solidFill>
                        <a:effectLst/>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r>
              <a:tr h="333356">
                <a:tc>
                  <a:txBody>
                    <a:bodyPr/>
                    <a:lstStyle/>
                    <a:p>
                      <a:pPr>
                        <a:lnSpc>
                          <a:spcPct val="115000"/>
                        </a:lnSpc>
                        <a:spcAft>
                          <a:spcPts val="0"/>
                        </a:spcAft>
                      </a:pPr>
                      <a:r>
                        <a:rPr lang="en-US" sz="1800">
                          <a:solidFill>
                            <a:srgbClr val="002060"/>
                          </a:solidFill>
                          <a:effectLst/>
                          <a:latin typeface="Times New Roman"/>
                          <a:ea typeface="Times New Roman"/>
                          <a:cs typeface="Mangal"/>
                        </a:rPr>
                        <a:t>NNTP</a:t>
                      </a:r>
                      <a:endParaRPr lang="en-US" sz="180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a:solidFill>
                            <a:srgbClr val="002060"/>
                          </a:solidFill>
                          <a:effectLst/>
                          <a:latin typeface="Times New Roman"/>
                          <a:ea typeface="Times New Roman"/>
                          <a:cs typeface="Mangal"/>
                        </a:rPr>
                        <a:t>119</a:t>
                      </a:r>
                      <a:endParaRPr lang="en-US" sz="180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endParaRPr lang="en-US" sz="1800" dirty="0">
                        <a:solidFill>
                          <a:srgbClr val="002060"/>
                        </a:solidFill>
                        <a:effectLst/>
                        <a:latin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r>
              <a:tr h="638932">
                <a:tc>
                  <a:txBody>
                    <a:bodyPr/>
                    <a:lstStyle/>
                    <a:p>
                      <a:pPr>
                        <a:lnSpc>
                          <a:spcPct val="115000"/>
                        </a:lnSpc>
                        <a:spcAft>
                          <a:spcPts val="0"/>
                        </a:spcAft>
                      </a:pPr>
                      <a:r>
                        <a:rPr lang="en-US" sz="1800">
                          <a:solidFill>
                            <a:srgbClr val="002060"/>
                          </a:solidFill>
                          <a:effectLst/>
                          <a:latin typeface="Segoe UI"/>
                          <a:ea typeface="Times New Roman"/>
                          <a:cs typeface="Mangal"/>
                        </a:rPr>
                        <a:t>HTTPS</a:t>
                      </a:r>
                      <a:endParaRPr lang="en-US" sz="180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800" dirty="0">
                          <a:solidFill>
                            <a:srgbClr val="002060"/>
                          </a:solidFill>
                          <a:effectLst/>
                          <a:latin typeface="Segoe UI"/>
                          <a:ea typeface="Times New Roman"/>
                          <a:cs typeface="Mangal"/>
                        </a:rPr>
                        <a:t>443</a:t>
                      </a:r>
                      <a:r>
                        <a:rPr lang="en-US" sz="1800" dirty="0">
                          <a:solidFill>
                            <a:srgbClr val="002060"/>
                          </a:solidFill>
                          <a:effectLst/>
                          <a:latin typeface="Times New Roman"/>
                          <a:ea typeface="Times New Roman"/>
                          <a:cs typeface="Mangal"/>
                        </a:rPr>
                        <a:t/>
                      </a:r>
                      <a:br>
                        <a:rPr lang="en-US" sz="1800" dirty="0">
                          <a:solidFill>
                            <a:srgbClr val="002060"/>
                          </a:solidFill>
                          <a:effectLst/>
                          <a:latin typeface="Times New Roman"/>
                          <a:ea typeface="Times New Roman"/>
                          <a:cs typeface="Mangal"/>
                        </a:rPr>
                      </a:br>
                      <a:endParaRPr lang="en-US" sz="1800" dirty="0">
                        <a:solidFill>
                          <a:srgbClr val="002060"/>
                        </a:solidFill>
                        <a:effectLst/>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dirty="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dirty="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386968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685800"/>
            <a:ext cx="8229600" cy="533400"/>
          </a:xfrm>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dirty="0">
                <a:solidFill>
                  <a:srgbClr val="E4005C"/>
                </a:solidFill>
              </a:rPr>
              <a:t>Network Layer</a:t>
            </a:r>
            <a:endParaRPr lang="en-GB" sz="4000" b="1" dirty="0">
              <a:solidFill>
                <a:srgbClr val="E4005C"/>
              </a:solidFill>
            </a:endParaRPr>
          </a:p>
        </p:txBody>
      </p:sp>
      <p:sp>
        <p:nvSpPr>
          <p:cNvPr id="22531" name="Rectangle 3"/>
          <p:cNvSpPr>
            <a:spLocks noGrp="1" noChangeArrowheads="1"/>
          </p:cNvSpPr>
          <p:nvPr>
            <p:ph type="body" sz="half" idx="1"/>
          </p:nvPr>
        </p:nvSpPr>
        <p:spPr>
          <a:xfrm>
            <a:off x="457200" y="1143000"/>
            <a:ext cx="8229600" cy="5334000"/>
          </a:xfrm>
        </p:spPr>
        <p:txBody>
          <a:bodyPr/>
          <a:lstStyle/>
          <a:p>
            <a:pPr marL="0" indent="0" algn="just">
              <a:lnSpc>
                <a:spcPct val="115000"/>
              </a:lnSpc>
              <a:spcAft>
                <a:spcPts val="1000"/>
              </a:spcAft>
              <a:buNone/>
            </a:pPr>
            <a:r>
              <a:rPr lang="en-US" sz="2000" dirty="0" smtClean="0">
                <a:solidFill>
                  <a:srgbClr val="002060"/>
                </a:solidFill>
                <a:effectLst/>
                <a:latin typeface="Segoe UI"/>
                <a:ea typeface="Times New Roman"/>
                <a:cs typeface="Mangal"/>
              </a:rPr>
              <a:t>Network layer is responsible for providing logical address known as IP address. Router works on this layer. Main functions of this layer are following:-</a:t>
            </a:r>
            <a:endParaRPr lang="en-US" sz="2000" dirty="0" smtClean="0">
              <a:solidFill>
                <a:srgbClr val="002060"/>
              </a:solidFill>
              <a:effectLst/>
              <a:latin typeface="Calibri"/>
              <a:ea typeface="Calibri"/>
              <a:cs typeface="Mangal"/>
            </a:endParaRPr>
          </a:p>
          <a:p>
            <a:pPr lvl="0">
              <a:lnSpc>
                <a:spcPct val="115000"/>
              </a:lnSpc>
              <a:spcAft>
                <a:spcPts val="1000"/>
              </a:spcAft>
              <a:buSzPts val="1000"/>
              <a:buFont typeface="Symbol"/>
              <a:buChar char=""/>
              <a:tabLst>
                <a:tab pos="457200" algn="l"/>
              </a:tabLst>
            </a:pPr>
            <a:r>
              <a:rPr lang="en-US" sz="2000" dirty="0" smtClean="0">
                <a:solidFill>
                  <a:srgbClr val="002060"/>
                </a:solidFill>
                <a:effectLst/>
                <a:latin typeface="Segoe UI"/>
                <a:ea typeface="Times New Roman"/>
                <a:cs typeface="Mangal"/>
              </a:rPr>
              <a:t>Define IP address</a:t>
            </a:r>
            <a:endParaRPr lang="en-US" sz="2000" dirty="0" smtClean="0">
              <a:solidFill>
                <a:srgbClr val="002060"/>
              </a:solidFill>
              <a:effectLst/>
              <a:latin typeface="Calibri"/>
              <a:ea typeface="Calibri"/>
              <a:cs typeface="Mangal"/>
            </a:endParaRPr>
          </a:p>
          <a:p>
            <a:pPr lvl="0">
              <a:lnSpc>
                <a:spcPct val="115000"/>
              </a:lnSpc>
              <a:spcAft>
                <a:spcPts val="1000"/>
              </a:spcAft>
              <a:buSzPts val="1000"/>
              <a:buFont typeface="Symbol"/>
              <a:buChar char=""/>
              <a:tabLst>
                <a:tab pos="457200" algn="l"/>
              </a:tabLst>
            </a:pPr>
            <a:r>
              <a:rPr lang="en-US" sz="2000" dirty="0" smtClean="0">
                <a:solidFill>
                  <a:srgbClr val="002060"/>
                </a:solidFill>
                <a:effectLst/>
                <a:latin typeface="Segoe UI"/>
                <a:ea typeface="Times New Roman"/>
                <a:cs typeface="Mangal"/>
              </a:rPr>
              <a:t>Find routes based on IP address to reach its destination</a:t>
            </a:r>
            <a:endParaRPr lang="en-GB" sz="2000" dirty="0">
              <a:solidFill>
                <a:srgbClr val="002060"/>
              </a:solidFill>
            </a:endParaRPr>
          </a:p>
          <a:p>
            <a:pPr marL="392113" indent="-293688" algn="just" defTabSz="414338">
              <a:lnSpc>
                <a:spcPct val="90000"/>
              </a:lnSpc>
              <a:buClr>
                <a:srgbClr val="CC0000"/>
              </a:buClr>
              <a:buFont typeface="Wingdings" pitchFamily="2" charset="2"/>
              <a:buBlip>
                <a:blip r:embed="rId3"/>
              </a:buBlip>
            </a:pPr>
            <a:r>
              <a:rPr lang="en-US" sz="2000" b="1" dirty="0">
                <a:solidFill>
                  <a:srgbClr val="002060"/>
                </a:solidFill>
              </a:rPr>
              <a:t>Defines the most optimum path the packet should take from the source to the destination</a:t>
            </a:r>
          </a:p>
          <a:p>
            <a:pPr marL="392113" indent="-293688" algn="just" defTabSz="414338">
              <a:lnSpc>
                <a:spcPct val="90000"/>
              </a:lnSpc>
              <a:buClr>
                <a:srgbClr val="CC0000"/>
              </a:buClr>
              <a:buFont typeface="Wingdings" pitchFamily="2" charset="2"/>
              <a:buBlip>
                <a:blip r:embed="rId3"/>
              </a:buBlip>
            </a:pPr>
            <a:r>
              <a:rPr lang="en-GB" sz="2000" b="1" dirty="0">
                <a:solidFill>
                  <a:srgbClr val="002060"/>
                </a:solidFill>
              </a:rPr>
              <a:t>Defines logical addressing so that any endpoint can be identified. </a:t>
            </a:r>
            <a:endParaRPr lang="en-US" sz="2000" b="1" dirty="0">
              <a:solidFill>
                <a:srgbClr val="002060"/>
              </a:solidFill>
            </a:endParaRPr>
          </a:p>
          <a:p>
            <a:pPr marL="392113" indent="-293688" algn="just" defTabSz="414338">
              <a:lnSpc>
                <a:spcPct val="90000"/>
              </a:lnSpc>
              <a:buClr>
                <a:srgbClr val="CC0000"/>
              </a:buClr>
              <a:buFont typeface="Wingdings" pitchFamily="2" charset="2"/>
              <a:buBlip>
                <a:blip r:embed="rId3"/>
              </a:buBlip>
            </a:pPr>
            <a:r>
              <a:rPr lang="en-US" sz="2000" b="1" dirty="0">
                <a:solidFill>
                  <a:srgbClr val="002060"/>
                </a:solidFill>
              </a:rPr>
              <a:t>Handles congestion in the network.</a:t>
            </a:r>
          </a:p>
          <a:p>
            <a:pPr marL="392113" indent="-293688" algn="just" defTabSz="414338">
              <a:lnSpc>
                <a:spcPct val="90000"/>
              </a:lnSpc>
              <a:buClr>
                <a:srgbClr val="CC0000"/>
              </a:buClr>
              <a:buFont typeface="Wingdings" pitchFamily="2" charset="2"/>
              <a:buBlip>
                <a:blip r:embed="rId3"/>
              </a:buBlip>
            </a:pPr>
            <a:r>
              <a:rPr lang="en-US" sz="2000" b="1" dirty="0">
                <a:solidFill>
                  <a:srgbClr val="002060"/>
                </a:solidFill>
              </a:rPr>
              <a:t>Facilitates interconnection between heterogeneous networks (Internetworking).</a:t>
            </a:r>
          </a:p>
          <a:p>
            <a:pPr marL="392113" indent="-293688" algn="just" defTabSz="414338">
              <a:lnSpc>
                <a:spcPct val="90000"/>
              </a:lnSpc>
              <a:buClr>
                <a:srgbClr val="CC0000"/>
              </a:buClr>
              <a:buFont typeface="Wingdings" pitchFamily="2" charset="2"/>
              <a:buBlip>
                <a:blip r:embed="rId3"/>
              </a:buBlip>
            </a:pPr>
            <a:r>
              <a:rPr lang="en-GB" sz="2000" b="1" dirty="0">
                <a:solidFill>
                  <a:srgbClr val="002060"/>
                </a:solidFill>
              </a:rPr>
              <a:t>The network layer also defines how to fragment a packet into smaller packets to accommodate different media.</a:t>
            </a:r>
            <a:endParaRPr lang="en-US" sz="2000" b="1" dirty="0">
              <a:solidFill>
                <a:srgbClr val="002060"/>
              </a:solidFill>
            </a:endParaRPr>
          </a:p>
        </p:txBody>
      </p:sp>
      <p:sp>
        <p:nvSpPr>
          <p:cNvPr id="22532" name="AutoShape 4"/>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p>
            <a:endParaRPr lang="en-US">
              <a:solidFill>
                <a:srgbClr val="000000"/>
              </a:solidFill>
            </a:endParaRPr>
          </a:p>
        </p:txBody>
      </p:sp>
      <p:sp>
        <p:nvSpPr>
          <p:cNvPr id="22536" name="Text Box 8"/>
          <p:cNvSpPr txBox="1">
            <a:spLocks noChangeArrowheads="1"/>
          </p:cNvSpPr>
          <p:nvPr/>
        </p:nvSpPr>
        <p:spPr bwMode="auto">
          <a:xfrm>
            <a:off x="123825" y="104775"/>
            <a:ext cx="58197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1pPr>
            <a:lvl2pPr marL="4143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2pPr>
            <a:lvl3pPr marL="828675"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3pPr>
            <a:lvl4pPr marL="1244600"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4pPr>
            <a:lvl5pPr marL="16589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5pPr>
            <a:lvl6pPr marL="21161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6pPr>
            <a:lvl7pPr marL="25733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7pPr>
            <a:lvl8pPr marL="30305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8pPr>
            <a:lvl9pPr marL="34877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9pPr>
          </a:lstStyle>
          <a:p>
            <a:pPr hangingPunct="0">
              <a:lnSpc>
                <a:spcPct val="95000"/>
              </a:lnSpc>
              <a:buClr>
                <a:srgbClr val="000000"/>
              </a:buClr>
              <a:buSzPct val="45000"/>
              <a:buFont typeface="StarSymbol" charset="0"/>
              <a:buNone/>
            </a:pPr>
            <a:r>
              <a:rPr lang="en-GB" b="1">
                <a:solidFill>
                  <a:srgbClr val="FFFFFF"/>
                </a:solidFill>
              </a:rPr>
              <a:t>OSI Model</a:t>
            </a:r>
          </a:p>
        </p:txBody>
      </p:sp>
      <p:sp>
        <p:nvSpPr>
          <p:cNvPr id="22537" name="AutoShape 9"/>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p>
            <a:endParaRPr lang="en-US">
              <a:solidFill>
                <a:srgbClr val="000000"/>
              </a:solidFill>
            </a:endParaRPr>
          </a:p>
        </p:txBody>
      </p:sp>
    </p:spTree>
    <p:extLst>
      <p:ext uri="{BB962C8B-B14F-4D97-AF65-F5344CB8AC3E}">
        <p14:creationId xmlns:p14="http://schemas.microsoft.com/office/powerpoint/2010/main" val="4170425618"/>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685800"/>
            <a:ext cx="8229600" cy="1066800"/>
          </a:xfrm>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a:solidFill>
                  <a:srgbClr val="E4005C"/>
                </a:solidFill>
              </a:rPr>
              <a:t>Data Link Layer</a:t>
            </a:r>
            <a:endParaRPr lang="en-GB" sz="4000" b="1">
              <a:solidFill>
                <a:srgbClr val="E4005C"/>
              </a:solidFill>
            </a:endParaRPr>
          </a:p>
        </p:txBody>
      </p:sp>
      <p:sp>
        <p:nvSpPr>
          <p:cNvPr id="20483" name="Rectangle 3"/>
          <p:cNvSpPr>
            <a:spLocks noGrp="1" noChangeArrowheads="1"/>
          </p:cNvSpPr>
          <p:nvPr>
            <p:ph type="body" sz="half" idx="1"/>
          </p:nvPr>
        </p:nvSpPr>
        <p:spPr>
          <a:xfrm>
            <a:off x="457200" y="1600200"/>
            <a:ext cx="8229600" cy="4525963"/>
          </a:xfrm>
        </p:spPr>
        <p:txBody>
          <a:bodyPr/>
          <a:lstStyle/>
          <a:p>
            <a:pPr marL="392113" indent="-293688" algn="just" defTabSz="414338">
              <a:lnSpc>
                <a:spcPct val="80000"/>
              </a:lnSpc>
              <a:buClr>
                <a:srgbClr val="CC0000"/>
              </a:buClr>
              <a:buFont typeface="Wingdings" pitchFamily="2" charset="2"/>
              <a:buBlip>
                <a:blip r:embed="rId3"/>
              </a:buBlip>
            </a:pPr>
            <a:r>
              <a:rPr lang="en-US" sz="2400" b="1">
                <a:solidFill>
                  <a:srgbClr val="000066"/>
                </a:solidFill>
              </a:rPr>
              <a:t>Data link layer attempts to provide reliable communication over the physical layer interface. </a:t>
            </a:r>
          </a:p>
          <a:p>
            <a:pPr marL="392113" indent="-293688" algn="just" defTabSz="414338">
              <a:lnSpc>
                <a:spcPct val="80000"/>
              </a:lnSpc>
              <a:buClr>
                <a:srgbClr val="CC0000"/>
              </a:buClr>
              <a:buFont typeface="Wingdings" pitchFamily="2" charset="2"/>
              <a:buBlip>
                <a:blip r:embed="rId3"/>
              </a:buBlip>
            </a:pPr>
            <a:endParaRPr lang="en-US" sz="2400" b="1">
              <a:solidFill>
                <a:srgbClr val="000066"/>
              </a:solidFill>
            </a:endParaRPr>
          </a:p>
          <a:p>
            <a:pPr marL="392113" indent="-293688" algn="just" defTabSz="414338">
              <a:lnSpc>
                <a:spcPct val="80000"/>
              </a:lnSpc>
              <a:buClr>
                <a:srgbClr val="CC0000"/>
              </a:buClr>
              <a:buFont typeface="Wingdings" pitchFamily="2" charset="2"/>
              <a:buBlip>
                <a:blip r:embed="rId3"/>
              </a:buBlip>
            </a:pPr>
            <a:r>
              <a:rPr lang="en-US" sz="2400" b="1">
                <a:solidFill>
                  <a:srgbClr val="000066"/>
                </a:solidFill>
              </a:rPr>
              <a:t>Breaks the outgoing data into frames and reassemble the received frames.</a:t>
            </a:r>
          </a:p>
          <a:p>
            <a:pPr marL="392113" indent="-293688" algn="just" defTabSz="414338">
              <a:lnSpc>
                <a:spcPct val="80000"/>
              </a:lnSpc>
              <a:buClr>
                <a:srgbClr val="CC0000"/>
              </a:buClr>
              <a:buFont typeface="Wingdings" pitchFamily="2" charset="2"/>
              <a:buBlip>
                <a:blip r:embed="rId3"/>
              </a:buBlip>
            </a:pPr>
            <a:r>
              <a:rPr lang="en-US" sz="2400" b="1">
                <a:solidFill>
                  <a:srgbClr val="000066"/>
                </a:solidFill>
              </a:rPr>
              <a:t>Create and detect frame boundaries.</a:t>
            </a:r>
          </a:p>
          <a:p>
            <a:pPr marL="392113" indent="-293688" algn="just" defTabSz="414338">
              <a:lnSpc>
                <a:spcPct val="80000"/>
              </a:lnSpc>
              <a:buClr>
                <a:srgbClr val="CC0000"/>
              </a:buClr>
              <a:buFont typeface="Wingdings" pitchFamily="2" charset="2"/>
              <a:buBlip>
                <a:blip r:embed="rId3"/>
              </a:buBlip>
            </a:pPr>
            <a:r>
              <a:rPr lang="en-US" sz="2400" b="1">
                <a:solidFill>
                  <a:srgbClr val="000066"/>
                </a:solidFill>
              </a:rPr>
              <a:t>Handle errors by implementing an acknowledgement and retransmission scheme.</a:t>
            </a:r>
          </a:p>
          <a:p>
            <a:pPr marL="392113" indent="-293688" algn="just" defTabSz="414338">
              <a:lnSpc>
                <a:spcPct val="80000"/>
              </a:lnSpc>
              <a:buClr>
                <a:srgbClr val="CC0000"/>
              </a:buClr>
              <a:buFont typeface="Wingdings" pitchFamily="2" charset="2"/>
              <a:buBlip>
                <a:blip r:embed="rId3"/>
              </a:buBlip>
            </a:pPr>
            <a:r>
              <a:rPr lang="en-US" sz="2400" b="1">
                <a:solidFill>
                  <a:srgbClr val="000066"/>
                </a:solidFill>
              </a:rPr>
              <a:t>Implement flow control.</a:t>
            </a:r>
          </a:p>
          <a:p>
            <a:pPr marL="392113" indent="-293688" algn="just" defTabSz="414338">
              <a:lnSpc>
                <a:spcPct val="80000"/>
              </a:lnSpc>
              <a:buClr>
                <a:srgbClr val="CC0000"/>
              </a:buClr>
              <a:buFont typeface="Wingdings" pitchFamily="2" charset="2"/>
              <a:buBlip>
                <a:blip r:embed="rId3"/>
              </a:buBlip>
            </a:pPr>
            <a:r>
              <a:rPr lang="en-US" sz="2400" b="1">
                <a:solidFill>
                  <a:srgbClr val="000066"/>
                </a:solidFill>
              </a:rPr>
              <a:t>Supports points-to-point as well as broadcast communication.</a:t>
            </a:r>
          </a:p>
          <a:p>
            <a:pPr marL="392113" indent="-293688" algn="just" defTabSz="414338">
              <a:lnSpc>
                <a:spcPct val="80000"/>
              </a:lnSpc>
              <a:buClr>
                <a:srgbClr val="CC0000"/>
              </a:buClr>
              <a:buFont typeface="Wingdings" pitchFamily="2" charset="2"/>
              <a:buBlip>
                <a:blip r:embed="rId3"/>
              </a:buBlip>
            </a:pPr>
            <a:r>
              <a:rPr lang="en-US" sz="2400" b="1">
                <a:solidFill>
                  <a:srgbClr val="000066"/>
                </a:solidFill>
              </a:rPr>
              <a:t>Supports simplex, half-duplex or full-duplex communication.</a:t>
            </a:r>
          </a:p>
          <a:p>
            <a:pPr marL="392113" indent="-293688" defTabSz="414338">
              <a:lnSpc>
                <a:spcPct val="80000"/>
              </a:lnSpc>
              <a:spcBef>
                <a:spcPct val="50000"/>
              </a:spcBef>
              <a:buClr>
                <a:srgbClr val="CC0000"/>
              </a:buClr>
              <a:buFont typeface="Wingdings" pitchFamily="2" charset="2"/>
              <a:buBlip>
                <a:blip r:embed="rId3"/>
              </a:buBlip>
            </a:pPr>
            <a:endParaRPr lang="en-US" sz="2400" b="1">
              <a:solidFill>
                <a:srgbClr val="000066"/>
              </a:solidFill>
            </a:endParaRPr>
          </a:p>
        </p:txBody>
      </p:sp>
      <p:sp>
        <p:nvSpPr>
          <p:cNvPr id="20484" name="AutoShape 4"/>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p>
            <a:endParaRPr lang="en-US"/>
          </a:p>
        </p:txBody>
      </p:sp>
      <p:sp>
        <p:nvSpPr>
          <p:cNvPr id="20485" name="AutoShape 5"/>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20486" name="AutoShape 6"/>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20487" name="AutoShape 7"/>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20488" name="Text Box 8"/>
          <p:cNvSpPr txBox="1">
            <a:spLocks noChangeArrowheads="1"/>
          </p:cNvSpPr>
          <p:nvPr/>
        </p:nvSpPr>
        <p:spPr bwMode="auto">
          <a:xfrm>
            <a:off x="123825" y="104775"/>
            <a:ext cx="58197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1pPr>
            <a:lvl2pPr marL="4143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2pPr>
            <a:lvl3pPr marL="828675"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3pPr>
            <a:lvl4pPr marL="1244600"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4pPr>
            <a:lvl5pPr marL="16589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5pPr>
            <a:lvl6pPr marL="21161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6pPr>
            <a:lvl7pPr marL="25733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7pPr>
            <a:lvl8pPr marL="30305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8pPr>
            <a:lvl9pPr marL="34877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9pPr>
          </a:lstStyle>
          <a:p>
            <a:pPr hangingPunct="0">
              <a:lnSpc>
                <a:spcPct val="95000"/>
              </a:lnSpc>
              <a:buClr>
                <a:srgbClr val="000000"/>
              </a:buClr>
              <a:buSzPct val="45000"/>
              <a:buFont typeface="StarSymbol" charset="0"/>
              <a:buNone/>
            </a:pPr>
            <a:r>
              <a:rPr lang="en-GB" b="1">
                <a:solidFill>
                  <a:schemeClr val="bg1"/>
                </a:solidFill>
              </a:rPr>
              <a:t>OSI Model</a:t>
            </a:r>
          </a:p>
          <a:p>
            <a:pPr hangingPunct="0">
              <a:lnSpc>
                <a:spcPct val="95000"/>
              </a:lnSpc>
              <a:buClr>
                <a:srgbClr val="000000"/>
              </a:buClr>
              <a:buSzPct val="45000"/>
              <a:buFont typeface="StarSymbol" charset="0"/>
              <a:buNone/>
            </a:pPr>
            <a:endParaRPr lang="en-GB" sz="2000" b="1">
              <a:solidFill>
                <a:schemeClr val="bg1"/>
              </a:solidFill>
            </a:endParaRPr>
          </a:p>
        </p:txBody>
      </p:sp>
      <p:sp>
        <p:nvSpPr>
          <p:cNvPr id="20489" name="AutoShape 9"/>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p>
            <a:endParaRPr lang="en-US"/>
          </a:p>
        </p:txBody>
      </p:sp>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lstStyle/>
          <a:p>
            <a:pPr>
              <a:lnSpc>
                <a:spcPct val="115000"/>
              </a:lnSpc>
              <a:spcAft>
                <a:spcPts val="1000"/>
              </a:spcAft>
            </a:pPr>
            <a:r>
              <a:rPr lang="en-US" b="1" u="sng" dirty="0" smtClean="0">
                <a:solidFill>
                  <a:srgbClr val="42444E"/>
                </a:solidFill>
                <a:effectLst/>
                <a:latin typeface="Segoe UI"/>
                <a:ea typeface="Times New Roman"/>
                <a:cs typeface="Mangal"/>
              </a:rPr>
              <a:t>Physical Layer</a:t>
            </a:r>
            <a:r>
              <a:rPr lang="en-US" sz="3600" dirty="0" smtClean="0">
                <a:effectLst/>
                <a:latin typeface="Calibri"/>
                <a:ea typeface="Calibri"/>
                <a:cs typeface="Mangal"/>
              </a:rPr>
              <a:t/>
            </a:r>
            <a:br>
              <a:rPr lang="en-US" sz="3600" dirty="0" smtClean="0">
                <a:effectLst/>
                <a:latin typeface="Calibri"/>
                <a:ea typeface="Calibri"/>
                <a:cs typeface="Mangal"/>
              </a:rPr>
            </a:br>
            <a:endParaRPr lang="en-US" dirty="0"/>
          </a:p>
        </p:txBody>
      </p:sp>
      <p:sp>
        <p:nvSpPr>
          <p:cNvPr id="3" name="Text Placeholder 2"/>
          <p:cNvSpPr>
            <a:spLocks noGrp="1"/>
          </p:cNvSpPr>
          <p:nvPr>
            <p:ph type="body" sz="half" idx="1"/>
          </p:nvPr>
        </p:nvSpPr>
        <p:spPr>
          <a:xfrm>
            <a:off x="152400" y="609600"/>
            <a:ext cx="8458200" cy="5516563"/>
          </a:xfrm>
        </p:spPr>
        <p:txBody>
          <a:bodyPr/>
          <a:lstStyle/>
          <a:p>
            <a:pPr algn="just">
              <a:lnSpc>
                <a:spcPct val="115000"/>
              </a:lnSpc>
              <a:spcAft>
                <a:spcPts val="1000"/>
              </a:spcAft>
            </a:pPr>
            <a:r>
              <a:rPr lang="en-US" dirty="0" smtClean="0">
                <a:solidFill>
                  <a:srgbClr val="002060"/>
                </a:solidFill>
                <a:effectLst/>
                <a:latin typeface="Segoe UI"/>
                <a:ea typeface="Times New Roman"/>
                <a:cs typeface="Mangal"/>
              </a:rPr>
              <a:t>Physical layer deals with communication media. This layer receive frame from data link layer and convert them in bits. It loads these bits on actual communication media. Depending on media type these bit values are converted in single. Some use audio tones, while others utilize state transitions—changes in voltage from high to low and low to high</a:t>
            </a:r>
            <a:r>
              <a:rPr lang="en-US" dirty="0" smtClean="0">
                <a:solidFill>
                  <a:srgbClr val="212529"/>
                </a:solidFill>
                <a:effectLst/>
                <a:latin typeface="Segoe UI"/>
                <a:ea typeface="Times New Roman"/>
                <a:cs typeface="Mangal"/>
              </a:rPr>
              <a:t>.</a:t>
            </a:r>
            <a:endParaRPr lang="en-US" sz="2800" dirty="0" smtClean="0">
              <a:effectLst/>
              <a:latin typeface="Calibri"/>
              <a:ea typeface="Calibri"/>
              <a:cs typeface="Mangal"/>
            </a:endParaRPr>
          </a:p>
          <a:p>
            <a:endParaRPr lang="en-US" dirty="0"/>
          </a:p>
        </p:txBody>
      </p:sp>
    </p:spTree>
    <p:extLst>
      <p:ext uri="{BB962C8B-B14F-4D97-AF65-F5344CB8AC3E}">
        <p14:creationId xmlns:p14="http://schemas.microsoft.com/office/powerpoint/2010/main" val="243163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lstStyle/>
          <a:p>
            <a:pPr>
              <a:lnSpc>
                <a:spcPct val="115000"/>
              </a:lnSpc>
              <a:spcAft>
                <a:spcPts val="1000"/>
              </a:spcAft>
            </a:pPr>
            <a:r>
              <a:rPr lang="en-US" b="1" dirty="0" smtClean="0">
                <a:solidFill>
                  <a:srgbClr val="002060"/>
                </a:solidFill>
                <a:effectLst/>
                <a:latin typeface="Segoe UI"/>
                <a:ea typeface="Times New Roman"/>
                <a:cs typeface="Mangal"/>
              </a:rPr>
              <a:t/>
            </a:r>
            <a:br>
              <a:rPr lang="en-US" b="1" dirty="0" smtClean="0">
                <a:solidFill>
                  <a:srgbClr val="002060"/>
                </a:solidFill>
                <a:effectLst/>
                <a:latin typeface="Segoe UI"/>
                <a:ea typeface="Times New Roman"/>
                <a:cs typeface="Mangal"/>
              </a:rPr>
            </a:br>
            <a:r>
              <a:rPr lang="en-US" b="1" dirty="0" smtClean="0">
                <a:solidFill>
                  <a:srgbClr val="002060"/>
                </a:solidFill>
                <a:effectLst/>
                <a:latin typeface="Segoe UI"/>
                <a:ea typeface="Times New Roman"/>
                <a:cs typeface="Mangal"/>
              </a:rPr>
              <a:t>Data Exchange Process</a:t>
            </a:r>
            <a:r>
              <a:rPr lang="en-US" sz="2800" dirty="0" smtClean="0">
                <a:effectLst/>
                <a:latin typeface="Calibri"/>
                <a:ea typeface="Calibri"/>
                <a:cs typeface="Mangal"/>
              </a:rPr>
              <a:t/>
            </a:r>
            <a:br>
              <a:rPr lang="en-US" sz="2800" dirty="0" smtClean="0">
                <a:effectLst/>
                <a:latin typeface="Calibri"/>
                <a:ea typeface="Calibri"/>
                <a:cs typeface="Mangal"/>
              </a:rPr>
            </a:br>
            <a:endParaRPr lang="en-US" dirty="0"/>
          </a:p>
        </p:txBody>
      </p:sp>
      <p:sp>
        <p:nvSpPr>
          <p:cNvPr id="3" name="Text Placeholder 2"/>
          <p:cNvSpPr>
            <a:spLocks noGrp="1"/>
          </p:cNvSpPr>
          <p:nvPr>
            <p:ph type="body" sz="half" idx="1"/>
          </p:nvPr>
        </p:nvSpPr>
        <p:spPr>
          <a:xfrm>
            <a:off x="457200" y="914400"/>
            <a:ext cx="8382000" cy="5211763"/>
          </a:xfrm>
        </p:spPr>
        <p:txBody>
          <a:bodyPr/>
          <a:lstStyle/>
          <a:p>
            <a:pPr algn="just">
              <a:lnSpc>
                <a:spcPct val="115000"/>
              </a:lnSpc>
              <a:spcAft>
                <a:spcPts val="1000"/>
              </a:spcAft>
            </a:pPr>
            <a:r>
              <a:rPr lang="en-US" sz="2800" dirty="0" smtClean="0">
                <a:solidFill>
                  <a:srgbClr val="212529"/>
                </a:solidFill>
                <a:effectLst/>
                <a:latin typeface="Segoe UI"/>
                <a:ea typeface="Times New Roman"/>
                <a:cs typeface="Mangal"/>
              </a:rPr>
              <a:t>In data exchange process, participating computers work in reverse mode. Layers on receiving computer perform the same task in reverse mode.</a:t>
            </a:r>
            <a:endParaRPr lang="en-US" sz="2800" dirty="0" smtClean="0">
              <a:effectLst/>
              <a:latin typeface="Calibri"/>
              <a:ea typeface="Calibri"/>
              <a:cs typeface="Mangal"/>
            </a:endParaRPr>
          </a:p>
          <a:p>
            <a:pPr algn="just">
              <a:lnSpc>
                <a:spcPct val="115000"/>
              </a:lnSpc>
              <a:spcAft>
                <a:spcPts val="1000"/>
              </a:spcAft>
            </a:pPr>
            <a:r>
              <a:rPr lang="en-US" sz="2800" dirty="0" smtClean="0">
                <a:solidFill>
                  <a:srgbClr val="212529"/>
                </a:solidFill>
                <a:effectLst/>
                <a:latin typeface="Segoe UI"/>
                <a:ea typeface="Times New Roman"/>
                <a:cs typeface="Mangal"/>
              </a:rPr>
              <a:t>The receiving device takes delivery of, handles, and translates the data from the sending device at a particular layer. For example on sending computer presentation layer compress the data, same presentation layer on receiving computer decompress the data.</a:t>
            </a:r>
            <a:endParaRPr lang="en-US" sz="2800" dirty="0" smtClean="0">
              <a:effectLst/>
              <a:latin typeface="Calibri"/>
              <a:ea typeface="Calibri"/>
              <a:cs typeface="Mangal"/>
            </a:endParaRPr>
          </a:p>
          <a:p>
            <a:endParaRPr lang="en-US" dirty="0"/>
          </a:p>
        </p:txBody>
      </p:sp>
    </p:spTree>
    <p:extLst>
      <p:ext uri="{BB962C8B-B14F-4D97-AF65-F5344CB8AC3E}">
        <p14:creationId xmlns:p14="http://schemas.microsoft.com/office/powerpoint/2010/main" val="28396318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lstStyle/>
          <a:p>
            <a:r>
              <a:rPr lang="en-US" b="1" dirty="0">
                <a:solidFill>
                  <a:srgbClr val="002060"/>
                </a:solidFill>
                <a:latin typeface="Segoe UI"/>
                <a:ea typeface="Times New Roman"/>
                <a:cs typeface="Mangal"/>
              </a:rPr>
              <a:t>Data Exchange </a:t>
            </a:r>
            <a:r>
              <a:rPr lang="en-US" b="1" dirty="0" smtClean="0">
                <a:solidFill>
                  <a:srgbClr val="002060"/>
                </a:solidFill>
                <a:latin typeface="Segoe UI"/>
                <a:ea typeface="Times New Roman"/>
                <a:cs typeface="Mangal"/>
              </a:rPr>
              <a:t>Process (cont.)</a:t>
            </a:r>
            <a:endParaRPr lang="en-US" dirty="0"/>
          </a:p>
        </p:txBody>
      </p:sp>
      <p:sp>
        <p:nvSpPr>
          <p:cNvPr id="3" name="Text Placeholder 2"/>
          <p:cNvSpPr>
            <a:spLocks noGrp="1"/>
          </p:cNvSpPr>
          <p:nvPr>
            <p:ph type="body" sz="half" idx="1"/>
          </p:nvPr>
        </p:nvSpPr>
        <p:spPr>
          <a:xfrm>
            <a:off x="304800" y="914400"/>
            <a:ext cx="8610600" cy="5211763"/>
          </a:xfrm>
        </p:spPr>
        <p:txBody>
          <a:bodyPr/>
          <a:lstStyle/>
          <a:p>
            <a:pPr marL="0" indent="0">
              <a:lnSpc>
                <a:spcPct val="115000"/>
              </a:lnSpc>
              <a:spcAft>
                <a:spcPts val="1000"/>
              </a:spcAft>
              <a:buNone/>
            </a:pPr>
            <a:r>
              <a:rPr lang="en-US" b="1" u="sng" dirty="0" smtClean="0">
                <a:solidFill>
                  <a:srgbClr val="42444E"/>
                </a:solidFill>
                <a:effectLst/>
                <a:latin typeface="Segoe UI"/>
                <a:ea typeface="Times New Roman"/>
                <a:cs typeface="Mangal"/>
              </a:rPr>
              <a:t>On sending computer</a:t>
            </a:r>
          </a:p>
          <a:p>
            <a:pPr lvl="0">
              <a:lnSpc>
                <a:spcPct val="150000"/>
              </a:lnSpc>
              <a:spcBef>
                <a:spcPts val="0"/>
              </a:spcBef>
              <a:spcAft>
                <a:spcPts val="0"/>
              </a:spcAft>
              <a:buSzPts val="1000"/>
              <a:buFont typeface="Symbol"/>
              <a:buChar char=""/>
              <a:tabLst>
                <a:tab pos="457200" algn="l"/>
              </a:tabLst>
            </a:pPr>
            <a:r>
              <a:rPr lang="en-US" sz="1600" dirty="0" smtClean="0">
                <a:solidFill>
                  <a:srgbClr val="0070C0"/>
                </a:solidFill>
                <a:effectLst/>
                <a:latin typeface="Segoe UI"/>
                <a:ea typeface="Times New Roman"/>
                <a:cs typeface="Mangal"/>
              </a:rPr>
              <a:t>Sending application access the application layer.</a:t>
            </a:r>
            <a:endParaRPr lang="en-US" sz="1600" dirty="0" smtClean="0">
              <a:solidFill>
                <a:srgbClr val="0070C0"/>
              </a:solidFill>
              <a:effectLst/>
              <a:latin typeface="Calibri"/>
              <a:ea typeface="Calibri"/>
              <a:cs typeface="Mangal"/>
            </a:endParaRPr>
          </a:p>
          <a:p>
            <a:pPr lvl="0">
              <a:lnSpc>
                <a:spcPct val="150000"/>
              </a:lnSpc>
              <a:spcBef>
                <a:spcPts val="0"/>
              </a:spcBef>
              <a:spcAft>
                <a:spcPts val="0"/>
              </a:spcAft>
              <a:buSzPts val="1000"/>
              <a:buFont typeface="Symbol"/>
              <a:buChar char=""/>
              <a:tabLst>
                <a:tab pos="457200" algn="l"/>
              </a:tabLst>
            </a:pPr>
            <a:r>
              <a:rPr lang="en-US" sz="1600" dirty="0" smtClean="0">
                <a:solidFill>
                  <a:srgbClr val="0070C0"/>
                </a:solidFill>
                <a:effectLst/>
                <a:latin typeface="Segoe UI"/>
                <a:ea typeface="Times New Roman"/>
                <a:cs typeface="Mangal"/>
              </a:rPr>
              <a:t>Application provides data to the presentation layer.</a:t>
            </a:r>
            <a:endParaRPr lang="en-US" sz="1600" dirty="0" smtClean="0">
              <a:solidFill>
                <a:srgbClr val="0070C0"/>
              </a:solidFill>
              <a:effectLst/>
              <a:latin typeface="Calibri"/>
              <a:ea typeface="Calibri"/>
              <a:cs typeface="Mangal"/>
            </a:endParaRPr>
          </a:p>
          <a:p>
            <a:pPr lvl="0">
              <a:lnSpc>
                <a:spcPct val="150000"/>
              </a:lnSpc>
              <a:spcBef>
                <a:spcPts val="0"/>
              </a:spcBef>
              <a:spcAft>
                <a:spcPts val="0"/>
              </a:spcAft>
              <a:buSzPts val="1000"/>
              <a:buFont typeface="Symbol"/>
              <a:buChar char=""/>
              <a:tabLst>
                <a:tab pos="457200" algn="l"/>
              </a:tabLst>
            </a:pPr>
            <a:r>
              <a:rPr lang="en-US" sz="1600" dirty="0" smtClean="0">
                <a:solidFill>
                  <a:srgbClr val="0070C0"/>
                </a:solidFill>
                <a:effectLst/>
                <a:latin typeface="Segoe UI"/>
                <a:ea typeface="Times New Roman"/>
                <a:cs typeface="Mangal"/>
              </a:rPr>
              <a:t>Presentation layer format the data as per network requirement and forward it's to session layer.</a:t>
            </a:r>
            <a:endParaRPr lang="en-US" sz="1600" dirty="0" smtClean="0">
              <a:solidFill>
                <a:srgbClr val="0070C0"/>
              </a:solidFill>
              <a:effectLst/>
              <a:latin typeface="Calibri"/>
              <a:ea typeface="Calibri"/>
              <a:cs typeface="Mangal"/>
            </a:endParaRPr>
          </a:p>
          <a:p>
            <a:pPr lvl="0">
              <a:lnSpc>
                <a:spcPct val="150000"/>
              </a:lnSpc>
              <a:spcBef>
                <a:spcPts val="0"/>
              </a:spcBef>
              <a:spcAft>
                <a:spcPts val="0"/>
              </a:spcAft>
              <a:buSzPts val="1000"/>
              <a:buFont typeface="Symbol"/>
              <a:buChar char=""/>
              <a:tabLst>
                <a:tab pos="457200" algn="l"/>
              </a:tabLst>
            </a:pPr>
            <a:r>
              <a:rPr lang="en-US" sz="1600" dirty="0" smtClean="0">
                <a:solidFill>
                  <a:srgbClr val="0070C0"/>
                </a:solidFill>
                <a:effectLst/>
                <a:latin typeface="Segoe UI"/>
                <a:ea typeface="Times New Roman"/>
                <a:cs typeface="Mangal"/>
              </a:rPr>
              <a:t>Session layer initiate the connection and forward the data to the transport layer.</a:t>
            </a:r>
            <a:endParaRPr lang="en-US" sz="1600" dirty="0" smtClean="0">
              <a:solidFill>
                <a:srgbClr val="0070C0"/>
              </a:solidFill>
              <a:effectLst/>
              <a:latin typeface="Calibri"/>
              <a:ea typeface="Calibri"/>
              <a:cs typeface="Mangal"/>
            </a:endParaRPr>
          </a:p>
          <a:p>
            <a:pPr lvl="0">
              <a:lnSpc>
                <a:spcPct val="150000"/>
              </a:lnSpc>
              <a:spcBef>
                <a:spcPts val="0"/>
              </a:spcBef>
              <a:spcAft>
                <a:spcPts val="0"/>
              </a:spcAft>
              <a:buSzPts val="1000"/>
              <a:buFont typeface="Symbol"/>
              <a:buChar char=""/>
              <a:tabLst>
                <a:tab pos="457200" algn="l"/>
              </a:tabLst>
            </a:pPr>
            <a:r>
              <a:rPr lang="en-US" sz="1600" dirty="0" smtClean="0">
                <a:solidFill>
                  <a:srgbClr val="0070C0"/>
                </a:solidFill>
                <a:effectLst/>
                <a:latin typeface="Segoe UI"/>
                <a:ea typeface="Times New Roman"/>
                <a:cs typeface="Mangal"/>
              </a:rPr>
              <a:t>Transport layer broke down the large data file in smaller segments and add a header with control information, which are bits designated to describe how to determine whether the data is complete, uncorrupted, in the correct sequence, and so forth.</a:t>
            </a:r>
            <a:endParaRPr lang="en-US" sz="1600" dirty="0" smtClean="0">
              <a:solidFill>
                <a:srgbClr val="0070C0"/>
              </a:solidFill>
              <a:effectLst/>
              <a:latin typeface="Calibri"/>
              <a:ea typeface="Calibri"/>
              <a:cs typeface="Mangal"/>
            </a:endParaRPr>
          </a:p>
          <a:p>
            <a:pPr lvl="0">
              <a:lnSpc>
                <a:spcPct val="150000"/>
              </a:lnSpc>
              <a:spcBef>
                <a:spcPts val="0"/>
              </a:spcBef>
              <a:spcAft>
                <a:spcPts val="0"/>
              </a:spcAft>
              <a:buSzPts val="1000"/>
              <a:buFont typeface="Symbol"/>
              <a:buChar char=""/>
              <a:tabLst>
                <a:tab pos="457200" algn="l"/>
              </a:tabLst>
            </a:pPr>
            <a:r>
              <a:rPr lang="en-US" sz="1600" dirty="0" smtClean="0">
                <a:solidFill>
                  <a:srgbClr val="0070C0"/>
                </a:solidFill>
                <a:effectLst/>
                <a:latin typeface="Segoe UI"/>
                <a:ea typeface="Times New Roman"/>
                <a:cs typeface="Mangal"/>
              </a:rPr>
              <a:t>Segments are forwarded to the network layer. Network layer add its header, with logical address and convert it in packet. Network layer forwards packet to data link layer.</a:t>
            </a:r>
            <a:endParaRPr lang="en-US" sz="1600" dirty="0" smtClean="0">
              <a:solidFill>
                <a:srgbClr val="0070C0"/>
              </a:solidFill>
              <a:effectLst/>
              <a:latin typeface="Calibri"/>
              <a:ea typeface="Calibri"/>
              <a:cs typeface="Mangal"/>
            </a:endParaRPr>
          </a:p>
          <a:p>
            <a:pPr lvl="0">
              <a:lnSpc>
                <a:spcPct val="150000"/>
              </a:lnSpc>
              <a:spcBef>
                <a:spcPts val="0"/>
              </a:spcBef>
              <a:spcAft>
                <a:spcPts val="0"/>
              </a:spcAft>
              <a:buSzPts val="1000"/>
              <a:buFont typeface="Symbol"/>
              <a:buChar char=""/>
              <a:tabLst>
                <a:tab pos="457200" algn="l"/>
              </a:tabLst>
            </a:pPr>
            <a:r>
              <a:rPr lang="en-US" sz="1600" dirty="0" smtClean="0">
                <a:solidFill>
                  <a:srgbClr val="0070C0"/>
                </a:solidFill>
                <a:effectLst/>
                <a:latin typeface="Segoe UI"/>
                <a:ea typeface="Times New Roman"/>
                <a:cs typeface="Mangal"/>
              </a:rPr>
              <a:t>Data link layer attach its header and footer to the packet and convert it in frame.</a:t>
            </a:r>
            <a:endParaRPr lang="en-US" sz="1600" dirty="0" smtClean="0">
              <a:solidFill>
                <a:srgbClr val="0070C0"/>
              </a:solidFill>
              <a:effectLst/>
              <a:latin typeface="Calibri"/>
              <a:ea typeface="Calibri"/>
              <a:cs typeface="Mangal"/>
            </a:endParaRPr>
          </a:p>
          <a:p>
            <a:pPr lvl="0">
              <a:lnSpc>
                <a:spcPct val="150000"/>
              </a:lnSpc>
              <a:spcBef>
                <a:spcPts val="0"/>
              </a:spcBef>
              <a:spcAft>
                <a:spcPts val="0"/>
              </a:spcAft>
              <a:buSzPts val="1000"/>
              <a:buFont typeface="Symbol"/>
              <a:buChar char=""/>
              <a:tabLst>
                <a:tab pos="457200" algn="l"/>
              </a:tabLst>
            </a:pPr>
            <a:r>
              <a:rPr lang="en-US" sz="1600" dirty="0" smtClean="0">
                <a:solidFill>
                  <a:srgbClr val="0070C0"/>
                </a:solidFill>
                <a:effectLst/>
                <a:latin typeface="Segoe UI"/>
                <a:ea typeface="Times New Roman"/>
                <a:cs typeface="Mangal"/>
              </a:rPr>
              <a:t>Frames are forwarded to the physical layers that convert them in signals. These signals are loaded in media</a:t>
            </a:r>
            <a:r>
              <a:rPr lang="en-US" sz="2400" dirty="0" smtClean="0">
                <a:solidFill>
                  <a:srgbClr val="0070C0"/>
                </a:solidFill>
                <a:effectLst/>
                <a:latin typeface="Segoe UI"/>
                <a:ea typeface="Times New Roman"/>
                <a:cs typeface="Mangal"/>
              </a:rPr>
              <a:t>.</a:t>
            </a:r>
            <a:endParaRPr lang="en-US" sz="2000" dirty="0" smtClean="0">
              <a:solidFill>
                <a:srgbClr val="0070C0"/>
              </a:solidFill>
              <a:effectLst/>
              <a:latin typeface="Calibri"/>
              <a:ea typeface="Calibri"/>
              <a:cs typeface="Mangal"/>
            </a:endParaRPr>
          </a:p>
          <a:p>
            <a:pPr marL="0" indent="0">
              <a:lnSpc>
                <a:spcPct val="115000"/>
              </a:lnSpc>
              <a:spcAft>
                <a:spcPts val="1000"/>
              </a:spcAft>
              <a:buNone/>
            </a:pPr>
            <a:endParaRPr lang="en-US" sz="2400" dirty="0" smtClean="0">
              <a:effectLst/>
              <a:latin typeface="Calibri"/>
              <a:ea typeface="Calibri"/>
              <a:cs typeface="Mangal"/>
            </a:endParaRPr>
          </a:p>
          <a:p>
            <a:endParaRPr lang="en-US" dirty="0"/>
          </a:p>
        </p:txBody>
      </p:sp>
    </p:spTree>
    <p:extLst>
      <p:ext uri="{BB962C8B-B14F-4D97-AF65-F5344CB8AC3E}">
        <p14:creationId xmlns:p14="http://schemas.microsoft.com/office/powerpoint/2010/main" val="34397547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11162"/>
          </a:xfrm>
        </p:spPr>
        <p:txBody>
          <a:bodyPr/>
          <a:lstStyle/>
          <a:p>
            <a:r>
              <a:rPr lang="en-US" b="1" dirty="0">
                <a:solidFill>
                  <a:srgbClr val="002060"/>
                </a:solidFill>
                <a:latin typeface="Segoe UI"/>
                <a:ea typeface="Times New Roman"/>
                <a:cs typeface="Mangal"/>
              </a:rPr>
              <a:t>Data Exchange Process (cont.)</a:t>
            </a:r>
            <a:endParaRPr lang="en-US" dirty="0"/>
          </a:p>
        </p:txBody>
      </p:sp>
      <p:sp>
        <p:nvSpPr>
          <p:cNvPr id="5" name="Text Placeholder 4"/>
          <p:cNvSpPr>
            <a:spLocks noGrp="1"/>
          </p:cNvSpPr>
          <p:nvPr>
            <p:ph type="body" sz="half" idx="1"/>
          </p:nvPr>
        </p:nvSpPr>
        <p:spPr>
          <a:xfrm>
            <a:off x="228600" y="762000"/>
            <a:ext cx="8610600" cy="6019800"/>
          </a:xfrm>
        </p:spPr>
        <p:txBody>
          <a:bodyPr/>
          <a:lstStyle/>
          <a:p>
            <a:pPr marL="0" indent="0">
              <a:buNone/>
            </a:pPr>
            <a:r>
              <a:rPr lang="en-US" b="1" dirty="0" smtClean="0">
                <a:ln w="18000">
                  <a:solidFill>
                    <a:schemeClr val="accent2">
                      <a:satMod val="140000"/>
                    </a:schemeClr>
                  </a:solidFill>
                  <a:prstDash val="solid"/>
                  <a:miter lim="800000"/>
                </a:ln>
                <a:noFill/>
                <a:effectLst>
                  <a:outerShdw blurRad="25500" dist="23000" dir="7020000" algn="tl">
                    <a:srgbClr val="000000">
                      <a:alpha val="50000"/>
                    </a:srgbClr>
                  </a:outerShdw>
                </a:effectLst>
              </a:rPr>
              <a:t>On receiving computer</a:t>
            </a:r>
          </a:p>
          <a:p>
            <a:pPr lvl="0">
              <a:lnSpc>
                <a:spcPct val="115000"/>
              </a:lnSpc>
              <a:spcBef>
                <a:spcPts val="0"/>
              </a:spcBef>
              <a:spcAft>
                <a:spcPts val="0"/>
              </a:spcAft>
              <a:buSzPts val="1000"/>
              <a:buFont typeface="Wingdings" pitchFamily="2" charset="2"/>
              <a:buChar char="Ø"/>
              <a:tabLst>
                <a:tab pos="457200" algn="l"/>
              </a:tabLst>
            </a:pPr>
            <a:r>
              <a:rPr lang="en-US" sz="1800" dirty="0" smtClean="0">
                <a:solidFill>
                  <a:srgbClr val="212529"/>
                </a:solidFill>
                <a:effectLst/>
                <a:latin typeface="Segoe UI"/>
                <a:ea typeface="Times New Roman"/>
                <a:cs typeface="Mangal"/>
              </a:rPr>
              <a:t>Physical layer receive signals from media and convert them in frames. Frames are forwarded to the data link layer.</a:t>
            </a:r>
            <a:endParaRPr lang="en-US" sz="1800" dirty="0" smtClean="0">
              <a:effectLst/>
              <a:latin typeface="Calibri"/>
              <a:ea typeface="Calibri"/>
              <a:cs typeface="Mangal"/>
            </a:endParaRPr>
          </a:p>
          <a:p>
            <a:pPr lvl="0">
              <a:lnSpc>
                <a:spcPct val="115000"/>
              </a:lnSpc>
              <a:spcBef>
                <a:spcPts val="0"/>
              </a:spcBef>
              <a:spcAft>
                <a:spcPts val="0"/>
              </a:spcAft>
              <a:buSzPts val="1000"/>
              <a:buFont typeface="Wingdings" pitchFamily="2" charset="2"/>
              <a:buChar char="Ø"/>
              <a:tabLst>
                <a:tab pos="457200" algn="l"/>
              </a:tabLst>
            </a:pPr>
            <a:r>
              <a:rPr lang="en-US" sz="1800" dirty="0" smtClean="0">
                <a:solidFill>
                  <a:srgbClr val="212529"/>
                </a:solidFill>
                <a:effectLst/>
                <a:latin typeface="Segoe UI"/>
                <a:ea typeface="Times New Roman"/>
                <a:cs typeface="Mangal"/>
              </a:rPr>
              <a:t>Data link layer check the frame. All tampered frame are dropped here. If frame is correct, data link layer strip down its header and footer from frame and hand over packet to network layer.</a:t>
            </a:r>
            <a:endParaRPr lang="en-US" sz="1800" dirty="0" smtClean="0">
              <a:effectLst/>
              <a:latin typeface="Calibri"/>
              <a:ea typeface="Calibri"/>
              <a:cs typeface="Mangal"/>
            </a:endParaRPr>
          </a:p>
          <a:p>
            <a:pPr lvl="0">
              <a:lnSpc>
                <a:spcPct val="115000"/>
              </a:lnSpc>
              <a:spcBef>
                <a:spcPts val="0"/>
              </a:spcBef>
              <a:spcAft>
                <a:spcPts val="0"/>
              </a:spcAft>
              <a:buSzPts val="1000"/>
              <a:buFont typeface="Wingdings" pitchFamily="2" charset="2"/>
              <a:buChar char="Ø"/>
              <a:tabLst>
                <a:tab pos="457200" algn="l"/>
              </a:tabLst>
            </a:pPr>
            <a:r>
              <a:rPr lang="en-US" sz="1800" dirty="0" smtClean="0">
                <a:solidFill>
                  <a:srgbClr val="212529"/>
                </a:solidFill>
                <a:effectLst/>
                <a:latin typeface="Segoe UI"/>
                <a:ea typeface="Times New Roman"/>
                <a:cs typeface="Mangal"/>
              </a:rPr>
              <a:t>Network layer check the packet with its own implementations. If it's found everything fine with packet, it strips down its header from packet and hand over segment to transport layer.</a:t>
            </a:r>
            <a:endParaRPr lang="en-US" sz="1800" dirty="0" smtClean="0">
              <a:effectLst/>
              <a:latin typeface="Calibri"/>
              <a:ea typeface="Calibri"/>
              <a:cs typeface="Mangal"/>
            </a:endParaRPr>
          </a:p>
          <a:p>
            <a:pPr lvl="0">
              <a:lnSpc>
                <a:spcPct val="115000"/>
              </a:lnSpc>
              <a:spcBef>
                <a:spcPts val="0"/>
              </a:spcBef>
              <a:spcAft>
                <a:spcPts val="0"/>
              </a:spcAft>
              <a:buSzPts val="1000"/>
              <a:buFont typeface="Wingdings" pitchFamily="2" charset="2"/>
              <a:buChar char="Ø"/>
              <a:tabLst>
                <a:tab pos="457200" algn="l"/>
              </a:tabLst>
            </a:pPr>
            <a:r>
              <a:rPr lang="en-US" sz="1800" dirty="0" smtClean="0">
                <a:solidFill>
                  <a:srgbClr val="212529"/>
                </a:solidFill>
                <a:effectLst/>
                <a:latin typeface="Segoe UI"/>
                <a:ea typeface="Times New Roman"/>
                <a:cs typeface="Mangal"/>
              </a:rPr>
              <a:t>Transport layer again do the same job. It verifies the segments with its own protocol rules. Only the verified segments are processed. Transport layer remove its header from verified segments and reassemble the segments in data. Data is handed over the session layer.</a:t>
            </a:r>
            <a:endParaRPr lang="en-US" sz="1800" dirty="0" smtClean="0">
              <a:effectLst/>
              <a:latin typeface="Calibri"/>
              <a:ea typeface="Calibri"/>
              <a:cs typeface="Mangal"/>
            </a:endParaRPr>
          </a:p>
          <a:p>
            <a:pPr lvl="0">
              <a:lnSpc>
                <a:spcPct val="115000"/>
              </a:lnSpc>
              <a:spcBef>
                <a:spcPts val="0"/>
              </a:spcBef>
              <a:spcAft>
                <a:spcPts val="0"/>
              </a:spcAft>
              <a:buSzPts val="1000"/>
              <a:buFont typeface="Wingdings" pitchFamily="2" charset="2"/>
              <a:buChar char="Ø"/>
              <a:tabLst>
                <a:tab pos="457200" algn="l"/>
              </a:tabLst>
            </a:pPr>
            <a:r>
              <a:rPr lang="en-US" sz="1800" dirty="0" smtClean="0">
                <a:solidFill>
                  <a:srgbClr val="212529"/>
                </a:solidFill>
                <a:effectLst/>
                <a:latin typeface="Segoe UI"/>
                <a:ea typeface="Times New Roman"/>
                <a:cs typeface="Mangal"/>
              </a:rPr>
              <a:t>Session layer keep track of open connection and forwarded the receiving data to presentation layer.</a:t>
            </a:r>
            <a:endParaRPr lang="en-US" sz="1800" dirty="0" smtClean="0">
              <a:effectLst/>
              <a:latin typeface="Calibri"/>
              <a:ea typeface="Calibri"/>
              <a:cs typeface="Mangal"/>
            </a:endParaRPr>
          </a:p>
          <a:p>
            <a:pPr lvl="0">
              <a:lnSpc>
                <a:spcPct val="115000"/>
              </a:lnSpc>
              <a:spcBef>
                <a:spcPts val="0"/>
              </a:spcBef>
              <a:spcAft>
                <a:spcPts val="0"/>
              </a:spcAft>
              <a:buSzPts val="1000"/>
              <a:buFont typeface="Wingdings" pitchFamily="2" charset="2"/>
              <a:buChar char="Ø"/>
              <a:tabLst>
                <a:tab pos="457200" algn="l"/>
              </a:tabLst>
            </a:pPr>
            <a:r>
              <a:rPr lang="en-US" sz="1800" dirty="0" smtClean="0">
                <a:solidFill>
                  <a:srgbClr val="212529"/>
                </a:solidFill>
                <a:effectLst/>
                <a:latin typeface="Segoe UI"/>
                <a:ea typeface="Times New Roman"/>
                <a:cs typeface="Mangal"/>
              </a:rPr>
              <a:t>Presentation form the data in such a way that application layer use it.</a:t>
            </a:r>
            <a:endParaRPr lang="en-US" sz="1800" dirty="0" smtClean="0">
              <a:effectLst/>
              <a:latin typeface="Calibri"/>
              <a:ea typeface="Calibri"/>
              <a:cs typeface="Mangal"/>
            </a:endParaRPr>
          </a:p>
          <a:p>
            <a:pPr lvl="0">
              <a:lnSpc>
                <a:spcPct val="115000"/>
              </a:lnSpc>
              <a:spcBef>
                <a:spcPts val="0"/>
              </a:spcBef>
              <a:spcAft>
                <a:spcPts val="0"/>
              </a:spcAft>
              <a:buSzPts val="1000"/>
              <a:buFont typeface="Wingdings" pitchFamily="2" charset="2"/>
              <a:buChar char="Ø"/>
              <a:tabLst>
                <a:tab pos="457200" algn="l"/>
              </a:tabLst>
            </a:pPr>
            <a:r>
              <a:rPr lang="en-US" sz="1800" dirty="0" smtClean="0">
                <a:solidFill>
                  <a:srgbClr val="212529"/>
                </a:solidFill>
                <a:effectLst/>
                <a:latin typeface="Segoe UI"/>
                <a:ea typeface="Times New Roman"/>
                <a:cs typeface="Mangal"/>
              </a:rPr>
              <a:t>Application layer on receiving computer find the appropriate application from the computer and open data within particular application.</a:t>
            </a:r>
            <a:endParaRPr lang="en-US" sz="1800" dirty="0" smtClean="0">
              <a:effectLst/>
              <a:latin typeface="Calibri"/>
              <a:ea typeface="Calibri"/>
              <a:cs typeface="Mangal"/>
            </a:endParaRPr>
          </a:p>
          <a:p>
            <a:pPr marL="0" indent="0">
              <a:spcBef>
                <a:spcPts val="0"/>
              </a:spcBef>
              <a:spcAft>
                <a:spcPts val="0"/>
              </a:spcAft>
              <a:buNone/>
            </a:pPr>
            <a:endParaRPr lang="en-US" sz="1800" b="1"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Tree>
    <p:extLst>
      <p:ext uri="{BB962C8B-B14F-4D97-AF65-F5344CB8AC3E}">
        <p14:creationId xmlns:p14="http://schemas.microsoft.com/office/powerpoint/2010/main" val="33886814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57200" y="685800"/>
            <a:ext cx="8229600" cy="1066800"/>
          </a:xfrm>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a:solidFill>
                  <a:srgbClr val="E4005C"/>
                </a:solidFill>
              </a:rPr>
              <a:t>OSI in Action</a:t>
            </a:r>
            <a:endParaRPr lang="en-GB" sz="4000" b="1">
              <a:solidFill>
                <a:srgbClr val="E4005C"/>
              </a:solidFill>
            </a:endParaRPr>
          </a:p>
        </p:txBody>
      </p:sp>
      <p:sp>
        <p:nvSpPr>
          <p:cNvPr id="33795" name="Rectangle 3"/>
          <p:cNvSpPr>
            <a:spLocks noGrp="1" noChangeArrowheads="1"/>
          </p:cNvSpPr>
          <p:nvPr>
            <p:ph type="body" sz="half" idx="1"/>
          </p:nvPr>
        </p:nvSpPr>
        <p:spPr>
          <a:xfrm>
            <a:off x="457200" y="1600200"/>
            <a:ext cx="4800600" cy="4525963"/>
          </a:xfrm>
        </p:spPr>
        <p:txBody>
          <a:bodyPr/>
          <a:lstStyle/>
          <a:p>
            <a:pPr marL="392113" indent="-293688" algn="just" defTabSz="414338">
              <a:lnSpc>
                <a:spcPct val="80000"/>
              </a:lnSpc>
              <a:spcBef>
                <a:spcPct val="50000"/>
              </a:spcBef>
              <a:buClr>
                <a:srgbClr val="CC0000"/>
              </a:buClr>
              <a:buFont typeface="Wingdings" pitchFamily="2" charset="2"/>
              <a:buBlip>
                <a:blip r:embed="rId3"/>
              </a:buBlip>
            </a:pPr>
            <a:r>
              <a:rPr lang="en-US" sz="2000" b="1">
                <a:solidFill>
                  <a:srgbClr val="000066"/>
                </a:solidFill>
                <a:cs typeface="Arial" charset="0"/>
              </a:rPr>
              <a:t>A message begins at the top application layer and moves down the OSI layers to the bottom physical layer. </a:t>
            </a:r>
          </a:p>
          <a:p>
            <a:pPr marL="392113" indent="-293688" algn="just" defTabSz="414338">
              <a:lnSpc>
                <a:spcPct val="80000"/>
              </a:lnSpc>
              <a:spcBef>
                <a:spcPct val="50000"/>
              </a:spcBef>
              <a:buClr>
                <a:srgbClr val="CC0000"/>
              </a:buClr>
              <a:buFont typeface="Wingdings" pitchFamily="2" charset="2"/>
              <a:buBlip>
                <a:blip r:embed="rId3"/>
              </a:buBlip>
            </a:pPr>
            <a:r>
              <a:rPr lang="en-US" sz="2000" b="1">
                <a:solidFill>
                  <a:srgbClr val="000066"/>
                </a:solidFill>
                <a:cs typeface="Arial" charset="0"/>
              </a:rPr>
              <a:t>As the message descends, each successive OSI model layer adds a header to it. </a:t>
            </a:r>
          </a:p>
          <a:p>
            <a:pPr marL="392113" indent="-293688" algn="just" defTabSz="414338">
              <a:lnSpc>
                <a:spcPct val="80000"/>
              </a:lnSpc>
              <a:spcBef>
                <a:spcPct val="50000"/>
              </a:spcBef>
              <a:buClr>
                <a:srgbClr val="CC0000"/>
              </a:buClr>
              <a:buFont typeface="Wingdings" pitchFamily="2" charset="2"/>
              <a:buBlip>
                <a:blip r:embed="rId3"/>
              </a:buBlip>
            </a:pPr>
            <a:r>
              <a:rPr lang="en-US" sz="2000" b="1">
                <a:solidFill>
                  <a:srgbClr val="000066"/>
                </a:solidFill>
                <a:cs typeface="Arial" charset="0"/>
              </a:rPr>
              <a:t>A header is layer-specific information that basically explains what functions the layer carried out. </a:t>
            </a:r>
          </a:p>
          <a:p>
            <a:pPr marL="392113" indent="-293688" algn="just" defTabSz="414338">
              <a:lnSpc>
                <a:spcPct val="80000"/>
              </a:lnSpc>
              <a:spcBef>
                <a:spcPct val="50000"/>
              </a:spcBef>
              <a:buClr>
                <a:srgbClr val="CC0000"/>
              </a:buClr>
              <a:buFont typeface="Wingdings" pitchFamily="2" charset="2"/>
              <a:buBlip>
                <a:blip r:embed="rId3"/>
              </a:buBlip>
            </a:pPr>
            <a:r>
              <a:rPr lang="en-US" sz="2000" b="1">
                <a:solidFill>
                  <a:srgbClr val="000066"/>
                </a:solidFill>
                <a:cs typeface="Arial" charset="0"/>
              </a:rPr>
              <a:t>Conversely, at the receiving end, headers are striped from the message as it travels up the corresponding layers.</a:t>
            </a:r>
          </a:p>
          <a:p>
            <a:pPr marL="392113" indent="-293688" defTabSz="414338">
              <a:lnSpc>
                <a:spcPct val="80000"/>
              </a:lnSpc>
              <a:spcBef>
                <a:spcPct val="50000"/>
              </a:spcBef>
              <a:buClr>
                <a:srgbClr val="CC0000"/>
              </a:buClr>
              <a:buFont typeface="Wingdings" pitchFamily="2" charset="2"/>
              <a:buBlip>
                <a:blip r:embed="rId3"/>
              </a:buBlip>
            </a:pPr>
            <a:endParaRPr lang="en-US" sz="2000" b="1">
              <a:solidFill>
                <a:srgbClr val="000066"/>
              </a:solidFill>
            </a:endParaRPr>
          </a:p>
        </p:txBody>
      </p:sp>
      <p:sp>
        <p:nvSpPr>
          <p:cNvPr id="33796" name="AutoShape 4"/>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p>
            <a:endParaRPr lang="en-US"/>
          </a:p>
        </p:txBody>
      </p:sp>
      <p:sp>
        <p:nvSpPr>
          <p:cNvPr id="33797" name="AutoShape 5"/>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33798" name="AutoShape 6"/>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33799" name="AutoShape 7"/>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33800" name="Text Box 8"/>
          <p:cNvSpPr txBox="1">
            <a:spLocks noChangeArrowheads="1"/>
          </p:cNvSpPr>
          <p:nvPr/>
        </p:nvSpPr>
        <p:spPr bwMode="auto">
          <a:xfrm>
            <a:off x="123825" y="104775"/>
            <a:ext cx="58197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1pPr>
            <a:lvl2pPr marL="4143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2pPr>
            <a:lvl3pPr marL="828675"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3pPr>
            <a:lvl4pPr marL="1244600"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4pPr>
            <a:lvl5pPr marL="16589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5pPr>
            <a:lvl6pPr marL="21161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6pPr>
            <a:lvl7pPr marL="25733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7pPr>
            <a:lvl8pPr marL="30305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8pPr>
            <a:lvl9pPr marL="34877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9pPr>
          </a:lstStyle>
          <a:p>
            <a:pPr hangingPunct="0">
              <a:lnSpc>
                <a:spcPct val="95000"/>
              </a:lnSpc>
              <a:buClr>
                <a:srgbClr val="000000"/>
              </a:buClr>
              <a:buSzPct val="45000"/>
              <a:buFont typeface="StarSymbol" charset="0"/>
              <a:buNone/>
            </a:pPr>
            <a:r>
              <a:rPr lang="en-GB" b="1">
                <a:solidFill>
                  <a:schemeClr val="bg1"/>
                </a:solidFill>
              </a:rPr>
              <a:t>OSI Model</a:t>
            </a:r>
          </a:p>
          <a:p>
            <a:pPr hangingPunct="0">
              <a:lnSpc>
                <a:spcPct val="95000"/>
              </a:lnSpc>
              <a:buClr>
                <a:srgbClr val="000000"/>
              </a:buClr>
              <a:buSzPct val="45000"/>
              <a:buFont typeface="StarSymbol" charset="0"/>
              <a:buNone/>
            </a:pPr>
            <a:endParaRPr lang="en-GB" sz="2000" b="1">
              <a:solidFill>
                <a:schemeClr val="bg1"/>
              </a:solidFill>
            </a:endParaRPr>
          </a:p>
        </p:txBody>
      </p:sp>
      <p:sp>
        <p:nvSpPr>
          <p:cNvPr id="33801" name="AutoShape 9"/>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p>
            <a:endParaRPr lang="en-US"/>
          </a:p>
        </p:txBody>
      </p:sp>
      <p:sp>
        <p:nvSpPr>
          <p:cNvPr id="33802" name="Rectangle 10"/>
          <p:cNvSpPr>
            <a:spLocks noGrp="1" noChangeArrowheads="1"/>
          </p:cNvSpPr>
          <p:nvPr>
            <p:ph sz="half" idx="2"/>
          </p:nvPr>
        </p:nvSpPr>
        <p:spPr/>
        <p:txBody>
          <a:bodyPr/>
          <a:lstStyle/>
          <a:p>
            <a:endParaRPr lang="en-US" sz="2800"/>
          </a:p>
        </p:txBody>
      </p:sp>
      <p:pic>
        <p:nvPicPr>
          <p:cNvPr id="33803"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99125" y="1600200"/>
            <a:ext cx="2911475" cy="218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804"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03913" y="3938588"/>
            <a:ext cx="2501900" cy="2187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093788" y="674688"/>
            <a:ext cx="7808912" cy="1147762"/>
          </a:xfrm>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endParaRPr lang="en-GB" sz="4000" b="1">
              <a:solidFill>
                <a:srgbClr val="E4005C"/>
              </a:solidFill>
            </a:endParaRPr>
          </a:p>
        </p:txBody>
      </p:sp>
      <p:sp>
        <p:nvSpPr>
          <p:cNvPr id="35843" name="AutoShape 3"/>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p>
            <a:endParaRPr lang="en-US"/>
          </a:p>
        </p:txBody>
      </p:sp>
      <p:sp>
        <p:nvSpPr>
          <p:cNvPr id="35844" name="AutoShape 4"/>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35845" name="AutoShape 5"/>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35846" name="AutoShape 6"/>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35847" name="Text Box 7"/>
          <p:cNvSpPr txBox="1">
            <a:spLocks noChangeArrowheads="1"/>
          </p:cNvSpPr>
          <p:nvPr/>
        </p:nvSpPr>
        <p:spPr bwMode="auto">
          <a:xfrm>
            <a:off x="123825" y="104775"/>
            <a:ext cx="58197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1pPr>
            <a:lvl2pPr marL="4143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2pPr>
            <a:lvl3pPr marL="828675"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3pPr>
            <a:lvl4pPr marL="1244600"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4pPr>
            <a:lvl5pPr marL="16589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5pPr>
            <a:lvl6pPr marL="21161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6pPr>
            <a:lvl7pPr marL="25733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7pPr>
            <a:lvl8pPr marL="30305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8pPr>
            <a:lvl9pPr marL="34877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9pPr>
          </a:lstStyle>
          <a:p>
            <a:pPr hangingPunct="0">
              <a:lnSpc>
                <a:spcPct val="95000"/>
              </a:lnSpc>
              <a:buClr>
                <a:srgbClr val="000000"/>
              </a:buClr>
              <a:buSzPct val="45000"/>
              <a:buFont typeface="StarSymbol" charset="0"/>
              <a:buNone/>
            </a:pPr>
            <a:r>
              <a:rPr lang="en-GB" b="1">
                <a:solidFill>
                  <a:schemeClr val="bg1"/>
                </a:solidFill>
              </a:rPr>
              <a:t>TCP/IP Model</a:t>
            </a:r>
          </a:p>
        </p:txBody>
      </p:sp>
      <p:sp>
        <p:nvSpPr>
          <p:cNvPr id="35848" name="AutoShape 8"/>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p>
            <a:endParaRPr lang="en-US"/>
          </a:p>
        </p:txBody>
      </p:sp>
      <p:sp>
        <p:nvSpPr>
          <p:cNvPr id="35849" name="Rectangle 9"/>
          <p:cNvSpPr>
            <a:spLocks noGrp="1" noChangeArrowheads="1"/>
          </p:cNvSpPr>
          <p:nvPr>
            <p:ph type="body" idx="1"/>
          </p:nvPr>
        </p:nvSpPr>
        <p:spPr>
          <a:xfrm>
            <a:off x="457200" y="1600200"/>
            <a:ext cx="8229600" cy="5257800"/>
          </a:xfrm>
        </p:spPr>
        <p:txBody>
          <a:bodyPr/>
          <a:lstStyle/>
          <a:p>
            <a:pPr marL="392113" indent="-293688" defTabSz="414338">
              <a:lnSpc>
                <a:spcPct val="80000"/>
              </a:lnSpc>
              <a:spcBef>
                <a:spcPct val="50000"/>
              </a:spcBef>
              <a:buClr>
                <a:srgbClr val="CC0000"/>
              </a:buClr>
              <a:buFont typeface="Wingdings" pitchFamily="2" charset="2"/>
              <a:buBlip>
                <a:blip r:embed="rId3"/>
              </a:buBlip>
            </a:pPr>
            <a:endParaRPr lang="en-US" sz="2400" b="1">
              <a:solidFill>
                <a:srgbClr val="000066"/>
              </a:solidFill>
            </a:endParaRPr>
          </a:p>
          <a:p>
            <a:pPr marL="392113" indent="-293688" defTabSz="414338">
              <a:lnSpc>
                <a:spcPct val="80000"/>
              </a:lnSpc>
              <a:spcBef>
                <a:spcPct val="50000"/>
              </a:spcBef>
              <a:buClr>
                <a:srgbClr val="CC0000"/>
              </a:buClr>
              <a:buFont typeface="Wingdings" pitchFamily="2" charset="2"/>
              <a:buNone/>
            </a:pPr>
            <a:endParaRPr lang="en-US" sz="2000" b="1">
              <a:solidFill>
                <a:srgbClr val="660066"/>
              </a:solidFill>
            </a:endParaRPr>
          </a:p>
          <a:p>
            <a:pPr marL="392113" indent="-293688" defTabSz="414338">
              <a:lnSpc>
                <a:spcPct val="80000"/>
              </a:lnSpc>
              <a:spcBef>
                <a:spcPct val="50000"/>
              </a:spcBef>
              <a:buClr>
                <a:srgbClr val="CC0000"/>
              </a:buClr>
              <a:buFont typeface="Wingdings" pitchFamily="2" charset="2"/>
              <a:buNone/>
            </a:pPr>
            <a:endParaRPr lang="en-US" sz="2000" b="1">
              <a:solidFill>
                <a:srgbClr val="660066"/>
              </a:solidFill>
            </a:endParaRPr>
          </a:p>
          <a:p>
            <a:pPr marL="392113" indent="-293688" defTabSz="414338">
              <a:lnSpc>
                <a:spcPct val="80000"/>
              </a:lnSpc>
              <a:spcBef>
                <a:spcPct val="50000"/>
              </a:spcBef>
              <a:buClr>
                <a:srgbClr val="CC0000"/>
              </a:buClr>
              <a:buFont typeface="Wingdings" pitchFamily="2" charset="2"/>
              <a:buNone/>
            </a:pPr>
            <a:endParaRPr lang="en-US" sz="2000" b="1">
              <a:solidFill>
                <a:srgbClr val="660066"/>
              </a:solidFill>
            </a:endParaRPr>
          </a:p>
          <a:p>
            <a:pPr marL="392113" indent="-293688" algn="ctr" defTabSz="414338">
              <a:lnSpc>
                <a:spcPct val="80000"/>
              </a:lnSpc>
              <a:spcBef>
                <a:spcPct val="50000"/>
              </a:spcBef>
              <a:buClr>
                <a:srgbClr val="CC0000"/>
              </a:buClr>
              <a:buFont typeface="Wingdings" pitchFamily="2" charset="2"/>
              <a:buNone/>
            </a:pPr>
            <a:r>
              <a:rPr lang="en-US" sz="4000" b="1">
                <a:solidFill>
                  <a:srgbClr val="E4005C"/>
                </a:solidFill>
              </a:rPr>
              <a:t>TCP/IP MODEL</a:t>
            </a:r>
          </a:p>
        </p:txBody>
      </p:sp>
    </p:spTree>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685800"/>
            <a:ext cx="8229600" cy="1066800"/>
          </a:xfrm>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a:solidFill>
                  <a:srgbClr val="E4005C"/>
                </a:solidFill>
              </a:rPr>
              <a:t>TCP/IP Model</a:t>
            </a:r>
            <a:endParaRPr lang="en-GB" sz="4000" b="1">
              <a:solidFill>
                <a:srgbClr val="E4005C"/>
              </a:solidFill>
            </a:endParaRPr>
          </a:p>
        </p:txBody>
      </p:sp>
      <p:sp>
        <p:nvSpPr>
          <p:cNvPr id="39939" name="AutoShape 3"/>
          <p:cNvSpPr>
            <a:spLocks noChangeArrowheads="1"/>
          </p:cNvSpPr>
          <p:nvPr/>
        </p:nvSpPr>
        <p:spPr bwMode="auto">
          <a:xfrm>
            <a:off x="0" y="0"/>
            <a:ext cx="9144000" cy="565150"/>
          </a:xfrm>
          <a:prstGeom prst="roundRect">
            <a:avLst>
              <a:gd name="adj" fmla="val 255"/>
            </a:avLst>
          </a:prstGeom>
          <a:solidFill>
            <a:srgbClr val="214263"/>
          </a:solidFill>
          <a:ln w="9525">
            <a:solidFill>
              <a:srgbClr val="000000"/>
            </a:solidFill>
            <a:round/>
            <a:headEnd/>
            <a:tailEnd/>
          </a:ln>
        </p:spPr>
        <p:txBody>
          <a:bodyPr wrap="none" anchor="ctr"/>
          <a:lstStyle/>
          <a:p>
            <a:endParaRPr lang="en-US"/>
          </a:p>
        </p:txBody>
      </p:sp>
      <p:sp>
        <p:nvSpPr>
          <p:cNvPr id="39940" name="AutoShape 4"/>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39941" name="AutoShape 5"/>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39942" name="AutoShape 6"/>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39943" name="Text Box 7"/>
          <p:cNvSpPr txBox="1">
            <a:spLocks noChangeArrowheads="1"/>
          </p:cNvSpPr>
          <p:nvPr/>
        </p:nvSpPr>
        <p:spPr bwMode="auto">
          <a:xfrm>
            <a:off x="123825" y="104775"/>
            <a:ext cx="581977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1pPr>
            <a:lvl2pPr marL="4143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2pPr>
            <a:lvl3pPr marL="828675"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3pPr>
            <a:lvl4pPr marL="1244600"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4pPr>
            <a:lvl5pPr marL="1658938" defTabSz="828675">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5pPr>
            <a:lvl6pPr marL="21161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6pPr>
            <a:lvl7pPr marL="25733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7pPr>
            <a:lvl8pPr marL="30305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8pPr>
            <a:lvl9pPr marL="3487738" defTabSz="828675" fontAlgn="base">
              <a:spcBef>
                <a:spcPct val="0"/>
              </a:spcBef>
              <a:spcAft>
                <a:spcPct val="0"/>
              </a:spcAft>
              <a:tabLst>
                <a:tab pos="657225" algn="l"/>
                <a:tab pos="1312863" algn="l"/>
                <a:tab pos="1970088" algn="l"/>
                <a:tab pos="2627313" algn="l"/>
                <a:tab pos="3282950" algn="l"/>
                <a:tab pos="3940175" algn="l"/>
                <a:tab pos="4595813" algn="l"/>
                <a:tab pos="5253038" algn="l"/>
              </a:tabLst>
              <a:defRPr>
                <a:solidFill>
                  <a:schemeClr val="tx1"/>
                </a:solidFill>
                <a:latin typeface="Arial" charset="0"/>
              </a:defRPr>
            </a:lvl9pPr>
          </a:lstStyle>
          <a:p>
            <a:pPr hangingPunct="0">
              <a:lnSpc>
                <a:spcPct val="95000"/>
              </a:lnSpc>
              <a:buClr>
                <a:srgbClr val="000000"/>
              </a:buClr>
              <a:buSzPct val="45000"/>
              <a:buFont typeface="StarSymbol" charset="0"/>
              <a:buNone/>
            </a:pPr>
            <a:r>
              <a:rPr lang="en-GB" b="1">
                <a:solidFill>
                  <a:schemeClr val="bg1"/>
                </a:solidFill>
              </a:rPr>
              <a:t>TCP/IP Model</a:t>
            </a:r>
          </a:p>
        </p:txBody>
      </p:sp>
      <p:sp>
        <p:nvSpPr>
          <p:cNvPr id="39944" name="AutoShape 8"/>
          <p:cNvSpPr>
            <a:spLocks noChangeArrowheads="1"/>
          </p:cNvSpPr>
          <p:nvPr/>
        </p:nvSpPr>
        <p:spPr bwMode="auto">
          <a:xfrm>
            <a:off x="0" y="4989513"/>
            <a:ext cx="106363" cy="1868487"/>
          </a:xfrm>
          <a:prstGeom prst="roundRect">
            <a:avLst>
              <a:gd name="adj" fmla="val 1347"/>
            </a:avLst>
          </a:prstGeom>
          <a:solidFill>
            <a:srgbClr val="214263"/>
          </a:solidFill>
          <a:ln w="9525">
            <a:solidFill>
              <a:srgbClr val="000000"/>
            </a:solidFill>
            <a:round/>
            <a:headEnd/>
            <a:tailEnd/>
          </a:ln>
        </p:spPr>
        <p:txBody>
          <a:bodyPr wrap="none" anchor="ctr"/>
          <a:lstStyle/>
          <a:p>
            <a:endParaRPr lang="en-US"/>
          </a:p>
        </p:txBody>
      </p:sp>
      <p:sp>
        <p:nvSpPr>
          <p:cNvPr id="39945" name="Rectangle 9"/>
          <p:cNvSpPr>
            <a:spLocks noChangeArrowheads="1"/>
          </p:cNvSpPr>
          <p:nvPr/>
        </p:nvSpPr>
        <p:spPr bwMode="auto">
          <a:xfrm>
            <a:off x="1066800" y="1676400"/>
            <a:ext cx="7086600" cy="762000"/>
          </a:xfrm>
          <a:prstGeom prst="rect">
            <a:avLst/>
          </a:prstGeom>
          <a:solidFill>
            <a:srgbClr val="FF66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AU" sz="2800" b="1">
                <a:solidFill>
                  <a:srgbClr val="660066"/>
                </a:solidFill>
              </a:rPr>
              <a:t>Application Layer</a:t>
            </a:r>
            <a:endParaRPr lang="en-AU" sz="2800">
              <a:solidFill>
                <a:srgbClr val="660066"/>
              </a:solidFill>
            </a:endParaRPr>
          </a:p>
          <a:p>
            <a:pPr algn="ctr" eaLnBrk="0" hangingPunct="0"/>
            <a:r>
              <a:rPr lang="tr-TR" sz="2400">
                <a:solidFill>
                  <a:srgbClr val="660066"/>
                </a:solidFill>
              </a:rPr>
              <a:t>Application programs using the network</a:t>
            </a:r>
            <a:endParaRPr lang="en-AU" sz="2400" b="1">
              <a:solidFill>
                <a:srgbClr val="660066"/>
              </a:solidFill>
            </a:endParaRPr>
          </a:p>
        </p:txBody>
      </p:sp>
      <p:sp>
        <p:nvSpPr>
          <p:cNvPr id="39946" name="Rectangle 10"/>
          <p:cNvSpPr>
            <a:spLocks noChangeArrowheads="1"/>
          </p:cNvSpPr>
          <p:nvPr/>
        </p:nvSpPr>
        <p:spPr bwMode="auto">
          <a:xfrm>
            <a:off x="1066800" y="2514600"/>
            <a:ext cx="7086600" cy="1143000"/>
          </a:xfrm>
          <a:prstGeom prst="rect">
            <a:avLst/>
          </a:prstGeom>
          <a:solidFill>
            <a:srgbClr val="FF99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tr-TR" sz="2400" b="1">
                <a:solidFill>
                  <a:srgbClr val="660066"/>
                </a:solidFill>
              </a:rPr>
              <a:t>Transport Layer</a:t>
            </a:r>
            <a:r>
              <a:rPr lang="en-US" sz="2400" b="1">
                <a:solidFill>
                  <a:srgbClr val="660066"/>
                </a:solidFill>
              </a:rPr>
              <a:t> (TCP/UDP)</a:t>
            </a:r>
            <a:endParaRPr lang="tr-TR" sz="2400" b="1">
              <a:solidFill>
                <a:srgbClr val="660066"/>
              </a:solidFill>
            </a:endParaRPr>
          </a:p>
          <a:p>
            <a:pPr algn="ctr" eaLnBrk="0" hangingPunct="0"/>
            <a:r>
              <a:rPr lang="tr-TR" sz="2400">
                <a:solidFill>
                  <a:srgbClr val="660066"/>
                </a:solidFill>
              </a:rPr>
              <a:t>Management of end-to-end message transmission,</a:t>
            </a:r>
          </a:p>
          <a:p>
            <a:pPr algn="ctr" eaLnBrk="0" hangingPunct="0"/>
            <a:r>
              <a:rPr lang="tr-TR" sz="2400">
                <a:solidFill>
                  <a:srgbClr val="660066"/>
                </a:solidFill>
              </a:rPr>
              <a:t>error detection and error correction</a:t>
            </a:r>
            <a:endParaRPr lang="en-AU" sz="2400" b="1">
              <a:solidFill>
                <a:srgbClr val="660066"/>
              </a:solidFill>
            </a:endParaRPr>
          </a:p>
        </p:txBody>
      </p:sp>
      <p:sp>
        <p:nvSpPr>
          <p:cNvPr id="39947" name="Rectangle 11"/>
          <p:cNvSpPr>
            <a:spLocks noChangeArrowheads="1"/>
          </p:cNvSpPr>
          <p:nvPr/>
        </p:nvSpPr>
        <p:spPr bwMode="auto">
          <a:xfrm>
            <a:off x="1066800" y="3733800"/>
            <a:ext cx="7086600" cy="838200"/>
          </a:xfrm>
          <a:prstGeom prst="rect">
            <a:avLst/>
          </a:prstGeom>
          <a:solidFill>
            <a:srgbClr val="FFCC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sz="2400" b="1">
                <a:solidFill>
                  <a:srgbClr val="660066"/>
                </a:solidFill>
              </a:rPr>
              <a:t>Network </a:t>
            </a:r>
            <a:r>
              <a:rPr lang="tr-TR" sz="2400" b="1">
                <a:solidFill>
                  <a:srgbClr val="660066"/>
                </a:solidFill>
              </a:rPr>
              <a:t>Layer</a:t>
            </a:r>
            <a:r>
              <a:rPr lang="en-US" sz="2400" b="1">
                <a:solidFill>
                  <a:srgbClr val="660066"/>
                </a:solidFill>
              </a:rPr>
              <a:t> (IP)</a:t>
            </a:r>
            <a:endParaRPr lang="tr-TR" sz="2400" b="1">
              <a:solidFill>
                <a:srgbClr val="660066"/>
              </a:solidFill>
            </a:endParaRPr>
          </a:p>
          <a:p>
            <a:pPr algn="ctr" eaLnBrk="0" hangingPunct="0"/>
            <a:r>
              <a:rPr lang="tr-TR" sz="2400">
                <a:solidFill>
                  <a:srgbClr val="660066"/>
                </a:solidFill>
              </a:rPr>
              <a:t>Handling of datagrams : routing and congestion</a:t>
            </a:r>
            <a:endParaRPr lang="en-AU" sz="2400" b="1">
              <a:solidFill>
                <a:srgbClr val="660066"/>
              </a:solidFill>
            </a:endParaRPr>
          </a:p>
        </p:txBody>
      </p:sp>
      <p:sp>
        <p:nvSpPr>
          <p:cNvPr id="39948" name="Rectangle 12"/>
          <p:cNvSpPr>
            <a:spLocks noChangeArrowheads="1"/>
          </p:cNvSpPr>
          <p:nvPr/>
        </p:nvSpPr>
        <p:spPr bwMode="auto">
          <a:xfrm>
            <a:off x="1066800" y="4648200"/>
            <a:ext cx="7086600" cy="1066800"/>
          </a:xfrm>
          <a:prstGeom prst="rect">
            <a:avLst/>
          </a:prstGeom>
          <a:solidFill>
            <a:srgbClr val="FFCC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sz="2400" b="1">
                <a:solidFill>
                  <a:srgbClr val="660066"/>
                </a:solidFill>
              </a:rPr>
              <a:t>Data Link </a:t>
            </a:r>
            <a:r>
              <a:rPr lang="tr-TR" sz="2400" b="1">
                <a:solidFill>
                  <a:srgbClr val="660066"/>
                </a:solidFill>
              </a:rPr>
              <a:t>Layer</a:t>
            </a:r>
          </a:p>
          <a:p>
            <a:pPr algn="ctr" eaLnBrk="0" hangingPunct="0"/>
            <a:r>
              <a:rPr lang="tr-TR" sz="2200">
                <a:solidFill>
                  <a:srgbClr val="660066"/>
                </a:solidFill>
              </a:rPr>
              <a:t>Management of cost effective and reliable data delivery,</a:t>
            </a:r>
          </a:p>
          <a:p>
            <a:pPr algn="ctr" eaLnBrk="0" hangingPunct="0"/>
            <a:r>
              <a:rPr lang="tr-TR" sz="2200">
                <a:solidFill>
                  <a:srgbClr val="660066"/>
                </a:solidFill>
              </a:rPr>
              <a:t>access to physical networks</a:t>
            </a:r>
            <a:endParaRPr lang="en-AU" sz="2200" b="1">
              <a:solidFill>
                <a:srgbClr val="660066"/>
              </a:solidFill>
            </a:endParaRPr>
          </a:p>
        </p:txBody>
      </p:sp>
      <p:sp>
        <p:nvSpPr>
          <p:cNvPr id="39949" name="Rectangle 13"/>
          <p:cNvSpPr>
            <a:spLocks noChangeArrowheads="1"/>
          </p:cNvSpPr>
          <p:nvPr/>
        </p:nvSpPr>
        <p:spPr bwMode="auto">
          <a:xfrm>
            <a:off x="1066800" y="5791200"/>
            <a:ext cx="7086600" cy="914400"/>
          </a:xfrm>
          <a:prstGeom prst="rect">
            <a:avLst/>
          </a:prstGeom>
          <a:solidFill>
            <a:srgbClr val="FFCC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sz="2400" b="1">
                <a:solidFill>
                  <a:srgbClr val="660066"/>
                </a:solidFill>
              </a:rPr>
              <a:t>Physical Layer</a:t>
            </a:r>
            <a:endParaRPr lang="tr-TR" sz="2400" b="1">
              <a:solidFill>
                <a:srgbClr val="660066"/>
              </a:solidFill>
            </a:endParaRPr>
          </a:p>
          <a:p>
            <a:pPr algn="ctr" eaLnBrk="0" hangingPunct="0"/>
            <a:r>
              <a:rPr lang="en-US" sz="2400">
                <a:solidFill>
                  <a:srgbClr val="660066"/>
                </a:solidFill>
              </a:rPr>
              <a:t>Physical Media</a:t>
            </a:r>
            <a:endParaRPr lang="en-AU" sz="2400" b="1">
              <a:solidFill>
                <a:srgbClr val="660066"/>
              </a:solidFill>
            </a:endParaRPr>
          </a:p>
        </p:txBody>
      </p:sp>
    </p:spTree>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355</TotalTime>
  <Words>2490</Words>
  <Application>Microsoft Office PowerPoint</Application>
  <PresentationFormat>On-screen Show (4:3)</PresentationFormat>
  <Paragraphs>234</Paragraphs>
  <Slides>28</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StarSymbol</vt:lpstr>
      <vt:lpstr>Wingdings</vt:lpstr>
      <vt:lpstr>Times New Roman</vt:lpstr>
      <vt:lpstr>Default Design</vt:lpstr>
      <vt:lpstr>PowerPoint Presentation</vt:lpstr>
      <vt:lpstr>Communication Architecture</vt:lpstr>
      <vt:lpstr>Layer Architecture</vt:lpstr>
      <vt:lpstr>Open Systems Interconnection (OSI) Model</vt:lpstr>
      <vt:lpstr>OSI Reference Model</vt:lpstr>
      <vt:lpstr>OSI Reference Model: 7 Layers</vt:lpstr>
      <vt:lpstr>OSI: A Layered Network Model</vt:lpstr>
      <vt:lpstr> Application Layer </vt:lpstr>
      <vt:lpstr>Application Layer(cont..) </vt:lpstr>
      <vt:lpstr>Presentation Layer</vt:lpstr>
      <vt:lpstr>Session Layer</vt:lpstr>
      <vt:lpstr>Transport Layer</vt:lpstr>
      <vt:lpstr>Transport Layer(cont..)</vt:lpstr>
      <vt:lpstr>Transport Layer(cont..)</vt:lpstr>
      <vt:lpstr>Transport Layer(cont..)</vt:lpstr>
      <vt:lpstr>Transport Layer(cont..)</vt:lpstr>
      <vt:lpstr>Transport Layer(cont..)</vt:lpstr>
      <vt:lpstr>Transport Layer(cont..)</vt:lpstr>
      <vt:lpstr>Transport Layer(cont..)</vt:lpstr>
      <vt:lpstr>Network Layer</vt:lpstr>
      <vt:lpstr>Data Link Layer</vt:lpstr>
      <vt:lpstr>Physical Layer </vt:lpstr>
      <vt:lpstr> Data Exchange Process </vt:lpstr>
      <vt:lpstr>Data Exchange Process (cont.)</vt:lpstr>
      <vt:lpstr>Data Exchange Process (cont.)</vt:lpstr>
      <vt:lpstr>OSI in Action</vt:lpstr>
      <vt:lpstr>PowerPoint Presentation</vt:lpstr>
      <vt:lpstr>TCP/IP Model</vt:lpstr>
    </vt:vector>
  </TitlesOfParts>
  <Company>IITK</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Mr.Navpreet Singh</dc:creator>
  <cp:lastModifiedBy>CSDEPART</cp:lastModifiedBy>
  <cp:revision>10</cp:revision>
  <dcterms:created xsi:type="dcterms:W3CDTF">1999-01-01T11:11:23Z</dcterms:created>
  <dcterms:modified xsi:type="dcterms:W3CDTF">2018-04-19T10:10:12Z</dcterms:modified>
</cp:coreProperties>
</file>