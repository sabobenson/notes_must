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heme/themeOverride1.xml" ContentType="application/vnd.openxmlformats-officedocument.themeOverr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heme/themeOverride2.xml" ContentType="application/vnd.openxmlformats-officedocument.themeOverr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4"/>
  </p:notesMasterIdLst>
  <p:handoutMasterIdLst>
    <p:handoutMasterId r:id="rId45"/>
  </p:handoutMasterIdLst>
  <p:sldIdLst>
    <p:sldId id="256" r:id="rId2"/>
    <p:sldId id="257" r:id="rId3"/>
    <p:sldId id="259" r:id="rId4"/>
    <p:sldId id="260" r:id="rId5"/>
    <p:sldId id="265" r:id="rId6"/>
    <p:sldId id="266" r:id="rId7"/>
    <p:sldId id="267" r:id="rId8"/>
    <p:sldId id="272" r:id="rId9"/>
    <p:sldId id="273" r:id="rId10"/>
    <p:sldId id="274" r:id="rId11"/>
    <p:sldId id="275" r:id="rId12"/>
    <p:sldId id="276" r:id="rId13"/>
    <p:sldId id="277" r:id="rId14"/>
    <p:sldId id="278" r:id="rId15"/>
    <p:sldId id="279" r:id="rId16"/>
    <p:sldId id="280" r:id="rId17"/>
    <p:sldId id="281" r:id="rId18"/>
    <p:sldId id="282" r:id="rId19"/>
    <p:sldId id="283" r:id="rId20"/>
    <p:sldId id="284" r:id="rId21"/>
    <p:sldId id="285" r:id="rId22"/>
    <p:sldId id="286" r:id="rId23"/>
    <p:sldId id="287" r:id="rId24"/>
    <p:sldId id="303" r:id="rId25"/>
    <p:sldId id="288" r:id="rId26"/>
    <p:sldId id="308" r:id="rId27"/>
    <p:sldId id="307" r:id="rId28"/>
    <p:sldId id="291" r:id="rId29"/>
    <p:sldId id="292" r:id="rId30"/>
    <p:sldId id="293" r:id="rId31"/>
    <p:sldId id="294" r:id="rId32"/>
    <p:sldId id="295" r:id="rId33"/>
    <p:sldId id="296" r:id="rId34"/>
    <p:sldId id="309" r:id="rId35"/>
    <p:sldId id="297" r:id="rId36"/>
    <p:sldId id="298" r:id="rId37"/>
    <p:sldId id="299" r:id="rId38"/>
    <p:sldId id="304" r:id="rId39"/>
    <p:sldId id="301" r:id="rId40"/>
    <p:sldId id="305" r:id="rId41"/>
    <p:sldId id="306" r:id="rId42"/>
    <p:sldId id="310" r:id="rId4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13" autoAdjust="0"/>
    <p:restoredTop sz="94660"/>
  </p:normalViewPr>
  <p:slideViewPr>
    <p:cSldViewPr snapToGrid="0">
      <p:cViewPr varScale="1">
        <p:scale>
          <a:sx n="77" d="100"/>
          <a:sy n="77" d="100"/>
        </p:scale>
        <p:origin x="240" y="9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diagrams/_rels/data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image" Target="../media/image17.gif"/></Relationships>
</file>

<file path=ppt/diagrams/_rels/drawing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image" Target="../media/image17.gif"/></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CB0F1E5-D7AA-4055-8BE1-4D0F5463EA8C}" type="doc">
      <dgm:prSet loTypeId="urn:microsoft.com/office/officeart/2005/8/layout/hList7#1" loCatId="list" qsTypeId="urn:microsoft.com/office/officeart/2005/8/quickstyle/3d1" qsCatId="3D" csTypeId="urn:microsoft.com/office/officeart/2005/8/colors/colorful5" csCatId="colorful" phldr="1"/>
      <dgm:spPr/>
    </dgm:pt>
    <dgm:pt modelId="{F6D3E502-8067-4CFC-89AE-0D2E379013EF}">
      <dgm:prSet phldrT="[Text]" custT="1"/>
      <dgm:spPr/>
      <dgm:t>
        <a:bodyPr/>
        <a:lstStyle/>
        <a:p>
          <a:pPr algn="ctr"/>
          <a:r>
            <a:rPr lang="en-GB" sz="2400" b="1" dirty="0" smtClean="0"/>
            <a:t>Half wave Rectifier</a:t>
          </a:r>
          <a:endParaRPr lang="en-GB" sz="2400" b="1" dirty="0"/>
        </a:p>
      </dgm:t>
    </dgm:pt>
    <dgm:pt modelId="{BF8C99F8-F342-4515-BFA8-1482D6E0B141}" type="parTrans" cxnId="{5F7526D2-0D34-454E-B97A-0F636B60A1AA}">
      <dgm:prSet/>
      <dgm:spPr/>
      <dgm:t>
        <a:bodyPr/>
        <a:lstStyle/>
        <a:p>
          <a:endParaRPr lang="en-GB"/>
        </a:p>
      </dgm:t>
    </dgm:pt>
    <dgm:pt modelId="{614E9058-FA30-4F45-9A02-0AAA1FCAAF62}" type="sibTrans" cxnId="{5F7526D2-0D34-454E-B97A-0F636B60A1AA}">
      <dgm:prSet/>
      <dgm:spPr/>
      <dgm:t>
        <a:bodyPr/>
        <a:lstStyle/>
        <a:p>
          <a:endParaRPr lang="en-GB"/>
        </a:p>
      </dgm:t>
    </dgm:pt>
    <dgm:pt modelId="{C4D77D43-ABB4-4E6F-BEE7-3E179AEADB50}">
      <dgm:prSet phldrT="[Text]" custT="1"/>
      <dgm:spPr/>
      <dgm:t>
        <a:bodyPr/>
        <a:lstStyle/>
        <a:p>
          <a:pPr algn="ctr"/>
          <a:r>
            <a:rPr lang="en-GB" sz="2400" dirty="0" smtClean="0"/>
            <a:t>Full wave Rectifier</a:t>
          </a:r>
          <a:endParaRPr lang="en-GB" sz="2400" dirty="0"/>
        </a:p>
      </dgm:t>
    </dgm:pt>
    <dgm:pt modelId="{9A95AB04-FB83-4634-BAFF-D5200D0EBE14}" type="parTrans" cxnId="{30765A0D-E1AD-4BE7-ADD3-FA74B27C528F}">
      <dgm:prSet/>
      <dgm:spPr/>
      <dgm:t>
        <a:bodyPr/>
        <a:lstStyle/>
        <a:p>
          <a:endParaRPr lang="en-US"/>
        </a:p>
      </dgm:t>
    </dgm:pt>
    <dgm:pt modelId="{C9CCEDF6-A421-4EA3-97BF-3F4489D90975}" type="sibTrans" cxnId="{30765A0D-E1AD-4BE7-ADD3-FA74B27C528F}">
      <dgm:prSet/>
      <dgm:spPr/>
      <dgm:t>
        <a:bodyPr/>
        <a:lstStyle/>
        <a:p>
          <a:endParaRPr lang="en-US"/>
        </a:p>
      </dgm:t>
    </dgm:pt>
    <dgm:pt modelId="{C1A6982E-6599-4B51-945C-E6EF6261CED8}">
      <dgm:prSet phldrT="[Text]" custT="1"/>
      <dgm:spPr/>
      <dgm:t>
        <a:bodyPr/>
        <a:lstStyle/>
        <a:p>
          <a:pPr algn="ctr"/>
          <a:r>
            <a:rPr lang="en-GB" sz="2400" dirty="0" smtClean="0"/>
            <a:t>Bridge Rectifier</a:t>
          </a:r>
          <a:endParaRPr lang="en-GB" sz="2400" dirty="0"/>
        </a:p>
      </dgm:t>
    </dgm:pt>
    <dgm:pt modelId="{5A9D1F0A-5586-4627-A070-F8D66E4314E4}" type="parTrans" cxnId="{76F2D103-1685-4F73-AB46-C49FFCCDC8C4}">
      <dgm:prSet/>
      <dgm:spPr/>
      <dgm:t>
        <a:bodyPr/>
        <a:lstStyle/>
        <a:p>
          <a:endParaRPr lang="en-US"/>
        </a:p>
      </dgm:t>
    </dgm:pt>
    <dgm:pt modelId="{C1BD6A33-1496-4CBB-9A24-271A7BC1B892}" type="sibTrans" cxnId="{76F2D103-1685-4F73-AB46-C49FFCCDC8C4}">
      <dgm:prSet/>
      <dgm:spPr/>
      <dgm:t>
        <a:bodyPr/>
        <a:lstStyle/>
        <a:p>
          <a:endParaRPr lang="en-US"/>
        </a:p>
      </dgm:t>
    </dgm:pt>
    <dgm:pt modelId="{7D2C670E-9AE7-44BE-A0CD-0225FBFD9D00}" type="pres">
      <dgm:prSet presAssocID="{6CB0F1E5-D7AA-4055-8BE1-4D0F5463EA8C}" presName="Name0" presStyleCnt="0">
        <dgm:presLayoutVars>
          <dgm:dir/>
          <dgm:resizeHandles val="exact"/>
        </dgm:presLayoutVars>
      </dgm:prSet>
      <dgm:spPr/>
    </dgm:pt>
    <dgm:pt modelId="{98BAEFD2-1F14-46F5-B924-9D6055E43C2A}" type="pres">
      <dgm:prSet presAssocID="{6CB0F1E5-D7AA-4055-8BE1-4D0F5463EA8C}" presName="fgShape" presStyleLbl="fgShp" presStyleIdx="0" presStyleCnt="1" custScaleX="81654" custScaleY="33333" custLinFactNeighborX="-226" custLinFactNeighborY="58333"/>
      <dgm:spPr/>
    </dgm:pt>
    <dgm:pt modelId="{1FE829AD-2213-40FC-9509-A22903DE88E6}" type="pres">
      <dgm:prSet presAssocID="{6CB0F1E5-D7AA-4055-8BE1-4D0F5463EA8C}" presName="linComp" presStyleCnt="0"/>
      <dgm:spPr/>
    </dgm:pt>
    <dgm:pt modelId="{CBCE66CF-8297-4495-B80F-1D572CF89C4B}" type="pres">
      <dgm:prSet presAssocID="{F6D3E502-8067-4CFC-89AE-0D2E379013EF}" presName="compNode" presStyleCnt="0"/>
      <dgm:spPr/>
    </dgm:pt>
    <dgm:pt modelId="{F3CFABE6-68D5-4DC3-9A1E-79FE09914C3A}" type="pres">
      <dgm:prSet presAssocID="{F6D3E502-8067-4CFC-89AE-0D2E379013EF}" presName="bkgdShape" presStyleLbl="node1" presStyleIdx="0" presStyleCnt="3" custLinFactNeighborX="-276"/>
      <dgm:spPr/>
      <dgm:t>
        <a:bodyPr/>
        <a:lstStyle/>
        <a:p>
          <a:endParaRPr lang="en-GB"/>
        </a:p>
      </dgm:t>
    </dgm:pt>
    <dgm:pt modelId="{69E77281-A37C-43FC-9B98-DD138E89712B}" type="pres">
      <dgm:prSet presAssocID="{F6D3E502-8067-4CFC-89AE-0D2E379013EF}" presName="nodeTx" presStyleLbl="node1" presStyleIdx="0" presStyleCnt="3">
        <dgm:presLayoutVars>
          <dgm:bulletEnabled val="1"/>
        </dgm:presLayoutVars>
      </dgm:prSet>
      <dgm:spPr/>
      <dgm:t>
        <a:bodyPr/>
        <a:lstStyle/>
        <a:p>
          <a:endParaRPr lang="en-GB"/>
        </a:p>
      </dgm:t>
    </dgm:pt>
    <dgm:pt modelId="{5FA18E20-265C-4F85-B5DF-517047F38A4E}" type="pres">
      <dgm:prSet presAssocID="{F6D3E502-8067-4CFC-89AE-0D2E379013EF}" presName="invisiNode" presStyleLbl="node1" presStyleIdx="0" presStyleCnt="3"/>
      <dgm:spPr/>
    </dgm:pt>
    <dgm:pt modelId="{A2932948-9B4D-48B8-A913-693D754768FA}" type="pres">
      <dgm:prSet presAssocID="{F6D3E502-8067-4CFC-89AE-0D2E379013EF}" presName="imagNode" presStyleLbl="fgImgPlace1" presStyleIdx="0" presStyleCnt="3" custLinFactNeighborY="-10510"/>
      <dgm:spPr>
        <a:blipFill>
          <a:blip xmlns:r="http://schemas.openxmlformats.org/officeDocument/2006/relationships" r:embed="rId1">
            <a:extLst>
              <a:ext uri="{28A0092B-C50C-407E-A947-70E740481C1C}">
                <a14:useLocalDpi xmlns:a14="http://schemas.microsoft.com/office/drawing/2010/main" val="0"/>
              </a:ext>
            </a:extLst>
          </a:blip>
          <a:srcRect/>
          <a:stretch>
            <a:fillRect t="-6000" b="-6000"/>
          </a:stretch>
        </a:blipFill>
      </dgm:spPr>
    </dgm:pt>
    <dgm:pt modelId="{5038FF5E-E611-4D32-B8CE-6DE1CE03FD4F}" type="pres">
      <dgm:prSet presAssocID="{614E9058-FA30-4F45-9A02-0AAA1FCAAF62}" presName="sibTrans" presStyleLbl="sibTrans2D1" presStyleIdx="0" presStyleCnt="0"/>
      <dgm:spPr/>
      <dgm:t>
        <a:bodyPr/>
        <a:lstStyle/>
        <a:p>
          <a:endParaRPr lang="en-US"/>
        </a:p>
      </dgm:t>
    </dgm:pt>
    <dgm:pt modelId="{14A4E03C-0E62-4A98-A29B-6485054FCD5F}" type="pres">
      <dgm:prSet presAssocID="{C4D77D43-ABB4-4E6F-BEE7-3E179AEADB50}" presName="compNode" presStyleCnt="0"/>
      <dgm:spPr/>
    </dgm:pt>
    <dgm:pt modelId="{502D0133-CF0F-4FA4-826D-449F5D8EC2D0}" type="pres">
      <dgm:prSet presAssocID="{C4D77D43-ABB4-4E6F-BEE7-3E179AEADB50}" presName="bkgdShape" presStyleLbl="node1" presStyleIdx="1" presStyleCnt="3" custLinFactNeighborX="-503"/>
      <dgm:spPr/>
      <dgm:t>
        <a:bodyPr/>
        <a:lstStyle/>
        <a:p>
          <a:endParaRPr lang="en-US"/>
        </a:p>
      </dgm:t>
    </dgm:pt>
    <dgm:pt modelId="{743D379A-49FE-470B-B68D-FBDB46706078}" type="pres">
      <dgm:prSet presAssocID="{C4D77D43-ABB4-4E6F-BEE7-3E179AEADB50}" presName="nodeTx" presStyleLbl="node1" presStyleIdx="1" presStyleCnt="3">
        <dgm:presLayoutVars>
          <dgm:bulletEnabled val="1"/>
        </dgm:presLayoutVars>
      </dgm:prSet>
      <dgm:spPr/>
      <dgm:t>
        <a:bodyPr/>
        <a:lstStyle/>
        <a:p>
          <a:endParaRPr lang="en-US"/>
        </a:p>
      </dgm:t>
    </dgm:pt>
    <dgm:pt modelId="{51529A74-C385-4D58-85F7-15DA612551C0}" type="pres">
      <dgm:prSet presAssocID="{C4D77D43-ABB4-4E6F-BEE7-3E179AEADB50}" presName="invisiNode" presStyleLbl="node1" presStyleIdx="1" presStyleCnt="3"/>
      <dgm:spPr/>
    </dgm:pt>
    <dgm:pt modelId="{FC24E95A-B859-4399-A282-29EB9EC8DA02}" type="pres">
      <dgm:prSet presAssocID="{C4D77D43-ABB4-4E6F-BEE7-3E179AEADB50}" presName="imagNode" presStyleLbl="fgImgPlace1" presStyleIdx="1" presStyleCnt="3" custLinFactNeighborY="-10510"/>
      <dgm:spPr>
        <a:blipFill>
          <a:blip xmlns:r="http://schemas.openxmlformats.org/officeDocument/2006/relationships" r:embed="rId2">
            <a:extLst>
              <a:ext uri="{28A0092B-C50C-407E-A947-70E740481C1C}">
                <a14:useLocalDpi xmlns:a14="http://schemas.microsoft.com/office/drawing/2010/main" val="0"/>
              </a:ext>
            </a:extLst>
          </a:blip>
          <a:srcRect/>
          <a:stretch>
            <a:fillRect l="-135000" r="-135000"/>
          </a:stretch>
        </a:blipFill>
      </dgm:spPr>
    </dgm:pt>
    <dgm:pt modelId="{608798DC-5D8B-4D56-9414-25787AA6B171}" type="pres">
      <dgm:prSet presAssocID="{C9CCEDF6-A421-4EA3-97BF-3F4489D90975}" presName="sibTrans" presStyleLbl="sibTrans2D1" presStyleIdx="0" presStyleCnt="0"/>
      <dgm:spPr/>
      <dgm:t>
        <a:bodyPr/>
        <a:lstStyle/>
        <a:p>
          <a:endParaRPr lang="en-US"/>
        </a:p>
      </dgm:t>
    </dgm:pt>
    <dgm:pt modelId="{DD8739E5-3C2D-472E-96B6-ACE210405968}" type="pres">
      <dgm:prSet presAssocID="{C1A6982E-6599-4B51-945C-E6EF6261CED8}" presName="compNode" presStyleCnt="0"/>
      <dgm:spPr/>
    </dgm:pt>
    <dgm:pt modelId="{FC2BFFED-6801-4046-8BB5-4A486D52B65B}" type="pres">
      <dgm:prSet presAssocID="{C1A6982E-6599-4B51-945C-E6EF6261CED8}" presName="bkgdShape" presStyleLbl="node1" presStyleIdx="2" presStyleCnt="3" custLinFactNeighborX="19498" custLinFactNeighborY="6250"/>
      <dgm:spPr/>
      <dgm:t>
        <a:bodyPr/>
        <a:lstStyle/>
        <a:p>
          <a:endParaRPr lang="en-US"/>
        </a:p>
      </dgm:t>
    </dgm:pt>
    <dgm:pt modelId="{13E550D0-D99B-4B63-8628-446F7FE987B7}" type="pres">
      <dgm:prSet presAssocID="{C1A6982E-6599-4B51-945C-E6EF6261CED8}" presName="nodeTx" presStyleLbl="node1" presStyleIdx="2" presStyleCnt="3">
        <dgm:presLayoutVars>
          <dgm:bulletEnabled val="1"/>
        </dgm:presLayoutVars>
      </dgm:prSet>
      <dgm:spPr/>
      <dgm:t>
        <a:bodyPr/>
        <a:lstStyle/>
        <a:p>
          <a:endParaRPr lang="en-US"/>
        </a:p>
      </dgm:t>
    </dgm:pt>
    <dgm:pt modelId="{5C2C294D-F8DA-4B18-94CE-94DFD08EAFFC}" type="pres">
      <dgm:prSet presAssocID="{C1A6982E-6599-4B51-945C-E6EF6261CED8}" presName="invisiNode" presStyleLbl="node1" presStyleIdx="2" presStyleCnt="3"/>
      <dgm:spPr/>
    </dgm:pt>
    <dgm:pt modelId="{3B9115CC-CE25-4FC5-B637-8830C782BD11}" type="pres">
      <dgm:prSet presAssocID="{C1A6982E-6599-4B51-945C-E6EF6261CED8}" presName="imagNode" presStyleLbl="fgImgPlace1" presStyleIdx="2" presStyleCnt="3" custLinFactNeighborY="-10510"/>
      <dgm:spPr>
        <a:blipFill>
          <a:blip xmlns:r="http://schemas.openxmlformats.org/officeDocument/2006/relationships" r:embed="rId3">
            <a:extLst>
              <a:ext uri="{28A0092B-C50C-407E-A947-70E740481C1C}">
                <a14:useLocalDpi xmlns:a14="http://schemas.microsoft.com/office/drawing/2010/main" val="0"/>
              </a:ext>
            </a:extLst>
          </a:blip>
          <a:srcRect/>
          <a:stretch>
            <a:fillRect l="-8000" r="-8000"/>
          </a:stretch>
        </a:blipFill>
      </dgm:spPr>
    </dgm:pt>
  </dgm:ptLst>
  <dgm:cxnLst>
    <dgm:cxn modelId="{8BEF08AC-6F48-4943-AEFD-21E254EF0AB5}" type="presOf" srcId="{F6D3E502-8067-4CFC-89AE-0D2E379013EF}" destId="{F3CFABE6-68D5-4DC3-9A1E-79FE09914C3A}" srcOrd="0" destOrd="0" presId="urn:microsoft.com/office/officeart/2005/8/layout/hList7#1"/>
    <dgm:cxn modelId="{3CAD9B63-D2B1-4446-A657-5470DDCE86E2}" type="presOf" srcId="{6CB0F1E5-D7AA-4055-8BE1-4D0F5463EA8C}" destId="{7D2C670E-9AE7-44BE-A0CD-0225FBFD9D00}" srcOrd="0" destOrd="0" presId="urn:microsoft.com/office/officeart/2005/8/layout/hList7#1"/>
    <dgm:cxn modelId="{796AD778-801A-4E4C-AC35-B9F2626CDCDB}" type="presOf" srcId="{C1A6982E-6599-4B51-945C-E6EF6261CED8}" destId="{13E550D0-D99B-4B63-8628-446F7FE987B7}" srcOrd="1" destOrd="0" presId="urn:microsoft.com/office/officeart/2005/8/layout/hList7#1"/>
    <dgm:cxn modelId="{30765A0D-E1AD-4BE7-ADD3-FA74B27C528F}" srcId="{6CB0F1E5-D7AA-4055-8BE1-4D0F5463EA8C}" destId="{C4D77D43-ABB4-4E6F-BEE7-3E179AEADB50}" srcOrd="1" destOrd="0" parTransId="{9A95AB04-FB83-4634-BAFF-D5200D0EBE14}" sibTransId="{C9CCEDF6-A421-4EA3-97BF-3F4489D90975}"/>
    <dgm:cxn modelId="{53F9EBEB-AA2E-48E5-9CF3-27D995614FD0}" type="presOf" srcId="{F6D3E502-8067-4CFC-89AE-0D2E379013EF}" destId="{69E77281-A37C-43FC-9B98-DD138E89712B}" srcOrd="1" destOrd="0" presId="urn:microsoft.com/office/officeart/2005/8/layout/hList7#1"/>
    <dgm:cxn modelId="{5F7526D2-0D34-454E-B97A-0F636B60A1AA}" srcId="{6CB0F1E5-D7AA-4055-8BE1-4D0F5463EA8C}" destId="{F6D3E502-8067-4CFC-89AE-0D2E379013EF}" srcOrd="0" destOrd="0" parTransId="{BF8C99F8-F342-4515-BFA8-1482D6E0B141}" sibTransId="{614E9058-FA30-4F45-9A02-0AAA1FCAAF62}"/>
    <dgm:cxn modelId="{3D3E932B-BE9D-4EED-895C-D62C9EA1CB5C}" type="presOf" srcId="{614E9058-FA30-4F45-9A02-0AAA1FCAAF62}" destId="{5038FF5E-E611-4D32-B8CE-6DE1CE03FD4F}" srcOrd="0" destOrd="0" presId="urn:microsoft.com/office/officeart/2005/8/layout/hList7#1"/>
    <dgm:cxn modelId="{EF528F34-32D9-4B65-A0DD-91A45D5DFC49}" type="presOf" srcId="{C9CCEDF6-A421-4EA3-97BF-3F4489D90975}" destId="{608798DC-5D8B-4D56-9414-25787AA6B171}" srcOrd="0" destOrd="0" presId="urn:microsoft.com/office/officeart/2005/8/layout/hList7#1"/>
    <dgm:cxn modelId="{AF7F2738-4732-42CE-AF99-B3A6AC62F481}" type="presOf" srcId="{C4D77D43-ABB4-4E6F-BEE7-3E179AEADB50}" destId="{743D379A-49FE-470B-B68D-FBDB46706078}" srcOrd="1" destOrd="0" presId="urn:microsoft.com/office/officeart/2005/8/layout/hList7#1"/>
    <dgm:cxn modelId="{AFCB68E5-8608-4554-857D-4897C8296BD0}" type="presOf" srcId="{C4D77D43-ABB4-4E6F-BEE7-3E179AEADB50}" destId="{502D0133-CF0F-4FA4-826D-449F5D8EC2D0}" srcOrd="0" destOrd="0" presId="urn:microsoft.com/office/officeart/2005/8/layout/hList7#1"/>
    <dgm:cxn modelId="{76F2D103-1685-4F73-AB46-C49FFCCDC8C4}" srcId="{6CB0F1E5-D7AA-4055-8BE1-4D0F5463EA8C}" destId="{C1A6982E-6599-4B51-945C-E6EF6261CED8}" srcOrd="2" destOrd="0" parTransId="{5A9D1F0A-5586-4627-A070-F8D66E4314E4}" sibTransId="{C1BD6A33-1496-4CBB-9A24-271A7BC1B892}"/>
    <dgm:cxn modelId="{802441BF-69A8-46A2-9820-40BF08552BDA}" type="presOf" srcId="{C1A6982E-6599-4B51-945C-E6EF6261CED8}" destId="{FC2BFFED-6801-4046-8BB5-4A486D52B65B}" srcOrd="0" destOrd="0" presId="urn:microsoft.com/office/officeart/2005/8/layout/hList7#1"/>
    <dgm:cxn modelId="{BE6AACA0-F7A8-4379-A66F-CFC6FA9407B3}" type="presParOf" srcId="{7D2C670E-9AE7-44BE-A0CD-0225FBFD9D00}" destId="{98BAEFD2-1F14-46F5-B924-9D6055E43C2A}" srcOrd="0" destOrd="0" presId="urn:microsoft.com/office/officeart/2005/8/layout/hList7#1"/>
    <dgm:cxn modelId="{37AB3167-2193-4733-9DCA-B20F256EC374}" type="presParOf" srcId="{7D2C670E-9AE7-44BE-A0CD-0225FBFD9D00}" destId="{1FE829AD-2213-40FC-9509-A22903DE88E6}" srcOrd="1" destOrd="0" presId="urn:microsoft.com/office/officeart/2005/8/layout/hList7#1"/>
    <dgm:cxn modelId="{7BE55B32-F1A4-4311-B476-2BD36C3DB8DE}" type="presParOf" srcId="{1FE829AD-2213-40FC-9509-A22903DE88E6}" destId="{CBCE66CF-8297-4495-B80F-1D572CF89C4B}" srcOrd="0" destOrd="0" presId="urn:microsoft.com/office/officeart/2005/8/layout/hList7#1"/>
    <dgm:cxn modelId="{91A4AE88-3186-4932-B9AF-8CD87CD92865}" type="presParOf" srcId="{CBCE66CF-8297-4495-B80F-1D572CF89C4B}" destId="{F3CFABE6-68D5-4DC3-9A1E-79FE09914C3A}" srcOrd="0" destOrd="0" presId="urn:microsoft.com/office/officeart/2005/8/layout/hList7#1"/>
    <dgm:cxn modelId="{E53ADAB7-F783-4A40-B696-68C6F1BCDAD0}" type="presParOf" srcId="{CBCE66CF-8297-4495-B80F-1D572CF89C4B}" destId="{69E77281-A37C-43FC-9B98-DD138E89712B}" srcOrd="1" destOrd="0" presId="urn:microsoft.com/office/officeart/2005/8/layout/hList7#1"/>
    <dgm:cxn modelId="{6A613871-2F42-4A5B-B300-E9E5130CD9F8}" type="presParOf" srcId="{CBCE66CF-8297-4495-B80F-1D572CF89C4B}" destId="{5FA18E20-265C-4F85-B5DF-517047F38A4E}" srcOrd="2" destOrd="0" presId="urn:microsoft.com/office/officeart/2005/8/layout/hList7#1"/>
    <dgm:cxn modelId="{0554A7D0-B60C-4696-8DE8-8EB9331898E0}" type="presParOf" srcId="{CBCE66CF-8297-4495-B80F-1D572CF89C4B}" destId="{A2932948-9B4D-48B8-A913-693D754768FA}" srcOrd="3" destOrd="0" presId="urn:microsoft.com/office/officeart/2005/8/layout/hList7#1"/>
    <dgm:cxn modelId="{B53C8C9F-79CD-484F-B617-8334927BDA7D}" type="presParOf" srcId="{1FE829AD-2213-40FC-9509-A22903DE88E6}" destId="{5038FF5E-E611-4D32-B8CE-6DE1CE03FD4F}" srcOrd="1" destOrd="0" presId="urn:microsoft.com/office/officeart/2005/8/layout/hList7#1"/>
    <dgm:cxn modelId="{321613A4-0D2F-4DD2-A39D-D85F21A26E8B}" type="presParOf" srcId="{1FE829AD-2213-40FC-9509-A22903DE88E6}" destId="{14A4E03C-0E62-4A98-A29B-6485054FCD5F}" srcOrd="2" destOrd="0" presId="urn:microsoft.com/office/officeart/2005/8/layout/hList7#1"/>
    <dgm:cxn modelId="{E15C214C-0AFD-4670-98FD-7A624726A677}" type="presParOf" srcId="{14A4E03C-0E62-4A98-A29B-6485054FCD5F}" destId="{502D0133-CF0F-4FA4-826D-449F5D8EC2D0}" srcOrd="0" destOrd="0" presId="urn:microsoft.com/office/officeart/2005/8/layout/hList7#1"/>
    <dgm:cxn modelId="{255B0D32-0879-439B-A414-75E236820750}" type="presParOf" srcId="{14A4E03C-0E62-4A98-A29B-6485054FCD5F}" destId="{743D379A-49FE-470B-B68D-FBDB46706078}" srcOrd="1" destOrd="0" presId="urn:microsoft.com/office/officeart/2005/8/layout/hList7#1"/>
    <dgm:cxn modelId="{6D8FF32E-CB7E-45FE-A14A-5FE72AEEE171}" type="presParOf" srcId="{14A4E03C-0E62-4A98-A29B-6485054FCD5F}" destId="{51529A74-C385-4D58-85F7-15DA612551C0}" srcOrd="2" destOrd="0" presId="urn:microsoft.com/office/officeart/2005/8/layout/hList7#1"/>
    <dgm:cxn modelId="{56D220BD-8496-4519-97C0-3AFEA83774BB}" type="presParOf" srcId="{14A4E03C-0E62-4A98-A29B-6485054FCD5F}" destId="{FC24E95A-B859-4399-A282-29EB9EC8DA02}" srcOrd="3" destOrd="0" presId="urn:microsoft.com/office/officeart/2005/8/layout/hList7#1"/>
    <dgm:cxn modelId="{2D2507A9-A126-4E34-8FF4-AA057F676F9C}" type="presParOf" srcId="{1FE829AD-2213-40FC-9509-A22903DE88E6}" destId="{608798DC-5D8B-4D56-9414-25787AA6B171}" srcOrd="3" destOrd="0" presId="urn:microsoft.com/office/officeart/2005/8/layout/hList7#1"/>
    <dgm:cxn modelId="{D6434E02-B5FB-4C32-B3D1-5347067FAEC3}" type="presParOf" srcId="{1FE829AD-2213-40FC-9509-A22903DE88E6}" destId="{DD8739E5-3C2D-472E-96B6-ACE210405968}" srcOrd="4" destOrd="0" presId="urn:microsoft.com/office/officeart/2005/8/layout/hList7#1"/>
    <dgm:cxn modelId="{A6CE4EF3-440C-41EB-BD5B-5D4C9C3DC14D}" type="presParOf" srcId="{DD8739E5-3C2D-472E-96B6-ACE210405968}" destId="{FC2BFFED-6801-4046-8BB5-4A486D52B65B}" srcOrd="0" destOrd="0" presId="urn:microsoft.com/office/officeart/2005/8/layout/hList7#1"/>
    <dgm:cxn modelId="{08136665-A44B-4CDA-AF00-FCEC564BB176}" type="presParOf" srcId="{DD8739E5-3C2D-472E-96B6-ACE210405968}" destId="{13E550D0-D99B-4B63-8628-446F7FE987B7}" srcOrd="1" destOrd="0" presId="urn:microsoft.com/office/officeart/2005/8/layout/hList7#1"/>
    <dgm:cxn modelId="{CEA0DA87-285A-4CF2-804B-335E40E6D873}" type="presParOf" srcId="{DD8739E5-3C2D-472E-96B6-ACE210405968}" destId="{5C2C294D-F8DA-4B18-94CE-94DFD08EAFFC}" srcOrd="2" destOrd="0" presId="urn:microsoft.com/office/officeart/2005/8/layout/hList7#1"/>
    <dgm:cxn modelId="{044BCF55-8CE9-4BFE-9E6B-331328D9786C}" type="presParOf" srcId="{DD8739E5-3C2D-472E-96B6-ACE210405968}" destId="{3B9115CC-CE25-4FC5-B637-8830C782BD11}" srcOrd="3" destOrd="0" presId="urn:microsoft.com/office/officeart/2005/8/layout/hList7#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3CFABE6-68D5-4DC3-9A1E-79FE09914C3A}">
      <dsp:nvSpPr>
        <dsp:cNvPr id="0" name=""/>
        <dsp:cNvSpPr/>
      </dsp:nvSpPr>
      <dsp:spPr>
        <a:xfrm>
          <a:off x="0" y="0"/>
          <a:ext cx="2951863" cy="5760640"/>
        </a:xfrm>
        <a:prstGeom prst="roundRect">
          <a:avLst>
            <a:gd name="adj" fmla="val 10000"/>
          </a:avLst>
        </a:prstGeom>
        <a:gradFill rotWithShape="0">
          <a:gsLst>
            <a:gs pos="0">
              <a:schemeClr val="accent5">
                <a:hueOff val="0"/>
                <a:satOff val="0"/>
                <a:lumOff val="0"/>
                <a:alphaOff val="0"/>
                <a:tint val="96000"/>
                <a:lumMod val="100000"/>
              </a:schemeClr>
            </a:gs>
            <a:gs pos="78000">
              <a:schemeClr val="accent5">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0688" tIns="170688" rIns="170688" bIns="170688" numCol="1" spcCol="1270" anchor="ctr" anchorCtr="0">
          <a:noAutofit/>
        </a:bodyPr>
        <a:lstStyle/>
        <a:p>
          <a:pPr lvl="0" algn="ctr" defTabSz="1066800">
            <a:lnSpc>
              <a:spcPct val="90000"/>
            </a:lnSpc>
            <a:spcBef>
              <a:spcPct val="0"/>
            </a:spcBef>
            <a:spcAft>
              <a:spcPct val="35000"/>
            </a:spcAft>
          </a:pPr>
          <a:r>
            <a:rPr lang="en-GB" sz="2400" b="1" kern="1200" dirty="0" smtClean="0"/>
            <a:t>Half wave Rectifier</a:t>
          </a:r>
          <a:endParaRPr lang="en-GB" sz="2400" b="1" kern="1200" dirty="0"/>
        </a:p>
      </dsp:txBody>
      <dsp:txXfrm>
        <a:off x="0" y="2304256"/>
        <a:ext cx="2951863" cy="2304256"/>
      </dsp:txXfrm>
    </dsp:sp>
    <dsp:sp modelId="{A2932948-9B4D-48B8-A913-693D754768FA}">
      <dsp:nvSpPr>
        <dsp:cNvPr id="0" name=""/>
        <dsp:cNvSpPr/>
      </dsp:nvSpPr>
      <dsp:spPr>
        <a:xfrm>
          <a:off x="518682" y="144025"/>
          <a:ext cx="1918293" cy="1918293"/>
        </a:xfrm>
        <a:prstGeom prst="ellipse">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t="-6000" b="-6000"/>
          </a:stretch>
        </a:blipFill>
        <a:ln>
          <a:noFill/>
        </a:ln>
        <a:effectLst>
          <a:outerShdw blurRad="38100" dist="25400" dir="5400000" rotWithShape="0">
            <a:srgbClr val="000000">
              <a:alpha val="35000"/>
            </a:srgbClr>
          </a:outerShdw>
        </a:effectLst>
        <a:scene3d>
          <a:camera prst="orthographicFront"/>
          <a:lightRig rig="flat" dir="t"/>
        </a:scene3d>
        <a:sp3d z="127000" prstMaterial="plastic">
          <a:bevelT w="88900" h="88900"/>
          <a:bevelB w="88900" h="31750" prst="angle"/>
        </a:sp3d>
      </dsp:spPr>
      <dsp:style>
        <a:lnRef idx="0">
          <a:scrgbClr r="0" g="0" b="0"/>
        </a:lnRef>
        <a:fillRef idx="3">
          <a:scrgbClr r="0" g="0" b="0"/>
        </a:fillRef>
        <a:effectRef idx="2">
          <a:scrgbClr r="0" g="0" b="0"/>
        </a:effectRef>
        <a:fontRef idx="minor"/>
      </dsp:style>
    </dsp:sp>
    <dsp:sp modelId="{502D0133-CF0F-4FA4-826D-449F5D8EC2D0}">
      <dsp:nvSpPr>
        <dsp:cNvPr id="0" name=""/>
        <dsp:cNvSpPr/>
      </dsp:nvSpPr>
      <dsp:spPr>
        <a:xfrm>
          <a:off x="3027468" y="0"/>
          <a:ext cx="2951863" cy="5760640"/>
        </a:xfrm>
        <a:prstGeom prst="roundRect">
          <a:avLst>
            <a:gd name="adj" fmla="val 10000"/>
          </a:avLst>
        </a:prstGeom>
        <a:gradFill rotWithShape="0">
          <a:gsLst>
            <a:gs pos="0">
              <a:schemeClr val="accent5">
                <a:hueOff val="1247628"/>
                <a:satOff val="-25244"/>
                <a:lumOff val="784"/>
                <a:alphaOff val="0"/>
                <a:tint val="96000"/>
                <a:lumMod val="100000"/>
              </a:schemeClr>
            </a:gs>
            <a:gs pos="78000">
              <a:schemeClr val="accent5">
                <a:hueOff val="1247628"/>
                <a:satOff val="-25244"/>
                <a:lumOff val="784"/>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0688" tIns="170688" rIns="170688" bIns="170688" numCol="1" spcCol="1270" anchor="ctr" anchorCtr="0">
          <a:noAutofit/>
        </a:bodyPr>
        <a:lstStyle/>
        <a:p>
          <a:pPr lvl="0" algn="ctr" defTabSz="1066800">
            <a:lnSpc>
              <a:spcPct val="90000"/>
            </a:lnSpc>
            <a:spcBef>
              <a:spcPct val="0"/>
            </a:spcBef>
            <a:spcAft>
              <a:spcPct val="35000"/>
            </a:spcAft>
          </a:pPr>
          <a:r>
            <a:rPr lang="en-GB" sz="2400" kern="1200" dirty="0" smtClean="0"/>
            <a:t>Full wave Rectifier</a:t>
          </a:r>
          <a:endParaRPr lang="en-GB" sz="2400" kern="1200" dirty="0"/>
        </a:p>
      </dsp:txBody>
      <dsp:txXfrm>
        <a:off x="3027468" y="2304256"/>
        <a:ext cx="2951863" cy="2304256"/>
      </dsp:txXfrm>
    </dsp:sp>
    <dsp:sp modelId="{FC24E95A-B859-4399-A282-29EB9EC8DA02}">
      <dsp:nvSpPr>
        <dsp:cNvPr id="0" name=""/>
        <dsp:cNvSpPr/>
      </dsp:nvSpPr>
      <dsp:spPr>
        <a:xfrm>
          <a:off x="3559101" y="144025"/>
          <a:ext cx="1918293" cy="1918293"/>
        </a:xfrm>
        <a:prstGeom prst="ellipse">
          <a:avLst/>
        </a:prstGeom>
        <a:blipFill>
          <a:blip xmlns:r="http://schemas.openxmlformats.org/officeDocument/2006/relationships" r:embed="rId2">
            <a:extLst>
              <a:ext uri="{28A0092B-C50C-407E-A947-70E740481C1C}">
                <a14:useLocalDpi xmlns:a14="http://schemas.microsoft.com/office/drawing/2010/main" val="0"/>
              </a:ext>
            </a:extLst>
          </a:blip>
          <a:srcRect/>
          <a:stretch>
            <a:fillRect l="-135000" r="-135000"/>
          </a:stretch>
        </a:blipFill>
        <a:ln>
          <a:noFill/>
        </a:ln>
        <a:effectLst>
          <a:outerShdw blurRad="38100" dist="25400" dir="5400000" rotWithShape="0">
            <a:srgbClr val="000000">
              <a:alpha val="35000"/>
            </a:srgbClr>
          </a:outerShdw>
        </a:effectLst>
        <a:scene3d>
          <a:camera prst="orthographicFront"/>
          <a:lightRig rig="flat" dir="t"/>
        </a:scene3d>
        <a:sp3d z="127000" prstMaterial="plastic">
          <a:bevelT w="88900" h="88900"/>
          <a:bevelB w="88900" h="31750" prst="angle"/>
        </a:sp3d>
      </dsp:spPr>
      <dsp:style>
        <a:lnRef idx="0">
          <a:scrgbClr r="0" g="0" b="0"/>
        </a:lnRef>
        <a:fillRef idx="3">
          <a:scrgbClr r="0" g="0" b="0"/>
        </a:fillRef>
        <a:effectRef idx="2">
          <a:scrgbClr r="0" g="0" b="0"/>
        </a:effectRef>
        <a:fontRef idx="minor"/>
      </dsp:style>
    </dsp:sp>
    <dsp:sp modelId="{FC2BFFED-6801-4046-8BB5-4A486D52B65B}">
      <dsp:nvSpPr>
        <dsp:cNvPr id="0" name=""/>
        <dsp:cNvSpPr/>
      </dsp:nvSpPr>
      <dsp:spPr>
        <a:xfrm>
          <a:off x="6084632" y="0"/>
          <a:ext cx="2951863" cy="5760640"/>
        </a:xfrm>
        <a:prstGeom prst="roundRect">
          <a:avLst>
            <a:gd name="adj" fmla="val 10000"/>
          </a:avLst>
        </a:prstGeom>
        <a:gradFill rotWithShape="0">
          <a:gsLst>
            <a:gs pos="0">
              <a:schemeClr val="accent5">
                <a:hueOff val="2495256"/>
                <a:satOff val="-50489"/>
                <a:lumOff val="1569"/>
                <a:alphaOff val="0"/>
                <a:tint val="96000"/>
                <a:lumMod val="100000"/>
              </a:schemeClr>
            </a:gs>
            <a:gs pos="78000">
              <a:schemeClr val="accent5">
                <a:hueOff val="2495256"/>
                <a:satOff val="-50489"/>
                <a:lumOff val="1569"/>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0688" tIns="170688" rIns="170688" bIns="170688" numCol="1" spcCol="1270" anchor="ctr" anchorCtr="0">
          <a:noAutofit/>
        </a:bodyPr>
        <a:lstStyle/>
        <a:p>
          <a:pPr lvl="0" algn="ctr" defTabSz="1066800">
            <a:lnSpc>
              <a:spcPct val="90000"/>
            </a:lnSpc>
            <a:spcBef>
              <a:spcPct val="0"/>
            </a:spcBef>
            <a:spcAft>
              <a:spcPct val="35000"/>
            </a:spcAft>
          </a:pPr>
          <a:r>
            <a:rPr lang="en-GB" sz="2400" kern="1200" dirty="0" smtClean="0"/>
            <a:t>Bridge Rectifier</a:t>
          </a:r>
          <a:endParaRPr lang="en-GB" sz="2400" kern="1200" dirty="0"/>
        </a:p>
      </dsp:txBody>
      <dsp:txXfrm>
        <a:off x="6084632" y="2304256"/>
        <a:ext cx="2951863" cy="2304256"/>
      </dsp:txXfrm>
    </dsp:sp>
    <dsp:sp modelId="{3B9115CC-CE25-4FC5-B637-8830C782BD11}">
      <dsp:nvSpPr>
        <dsp:cNvPr id="0" name=""/>
        <dsp:cNvSpPr/>
      </dsp:nvSpPr>
      <dsp:spPr>
        <a:xfrm>
          <a:off x="6599520" y="144025"/>
          <a:ext cx="1918293" cy="1918293"/>
        </a:xfrm>
        <a:prstGeom prst="ellipse">
          <a:avLst/>
        </a:prstGeom>
        <a:blipFill>
          <a:blip xmlns:r="http://schemas.openxmlformats.org/officeDocument/2006/relationships" r:embed="rId3">
            <a:extLst>
              <a:ext uri="{28A0092B-C50C-407E-A947-70E740481C1C}">
                <a14:useLocalDpi xmlns:a14="http://schemas.microsoft.com/office/drawing/2010/main" val="0"/>
              </a:ext>
            </a:extLst>
          </a:blip>
          <a:srcRect/>
          <a:stretch>
            <a:fillRect l="-8000" r="-8000"/>
          </a:stretch>
        </a:blipFill>
        <a:ln>
          <a:noFill/>
        </a:ln>
        <a:effectLst>
          <a:outerShdw blurRad="38100" dist="25400" dir="5400000" rotWithShape="0">
            <a:srgbClr val="000000">
              <a:alpha val="35000"/>
            </a:srgbClr>
          </a:outerShdw>
        </a:effectLst>
        <a:scene3d>
          <a:camera prst="orthographicFront"/>
          <a:lightRig rig="flat" dir="t"/>
        </a:scene3d>
        <a:sp3d z="127000" prstMaterial="plastic">
          <a:bevelT w="88900" h="88900"/>
          <a:bevelB w="88900" h="31750" prst="angle"/>
        </a:sp3d>
      </dsp:spPr>
      <dsp:style>
        <a:lnRef idx="0">
          <a:scrgbClr r="0" g="0" b="0"/>
        </a:lnRef>
        <a:fillRef idx="3">
          <a:scrgbClr r="0" g="0" b="0"/>
        </a:fillRef>
        <a:effectRef idx="2">
          <a:scrgbClr r="0" g="0" b="0"/>
        </a:effectRef>
        <a:fontRef idx="minor"/>
      </dsp:style>
    </dsp:sp>
    <dsp:sp modelId="{98BAEFD2-1F14-46F5-B924-9D6055E43C2A}">
      <dsp:nvSpPr>
        <dsp:cNvPr id="0" name=""/>
        <dsp:cNvSpPr/>
      </dsp:nvSpPr>
      <dsp:spPr>
        <a:xfrm>
          <a:off x="1105275" y="5400598"/>
          <a:ext cx="6788367" cy="288029"/>
        </a:xfrm>
        <a:prstGeom prst="leftRightArrow">
          <a:avLst/>
        </a:prstGeom>
        <a:solidFill>
          <a:schemeClr val="accent5">
            <a:tint val="40000"/>
            <a:hueOff val="0"/>
            <a:satOff val="0"/>
            <a:lumOff val="0"/>
            <a:alphaOff val="0"/>
          </a:schemeClr>
        </a:solidFill>
        <a:ln>
          <a:noFill/>
        </a:ln>
        <a:effectLst>
          <a:outerShdw blurRad="50800" dist="38100" dir="5400000" rotWithShape="0">
            <a:srgbClr val="000000">
              <a:alpha val="35000"/>
            </a:srgbClr>
          </a:outerShdw>
        </a:effectLst>
        <a:scene3d>
          <a:camera prst="orthographicFront"/>
          <a:lightRig rig="flat" dir="t"/>
        </a:scene3d>
        <a:sp3d z="190500" prstMaterial="plastic">
          <a:bevelT w="120900" h="88900"/>
          <a:bevelB w="88900" h="31750" prst="angle"/>
        </a:sp3d>
      </dsp:spPr>
      <dsp:style>
        <a:lnRef idx="0">
          <a:scrgbClr r="0" g="0" b="0"/>
        </a:lnRef>
        <a:fillRef idx="1">
          <a:scrgbClr r="0" g="0" b="0"/>
        </a:fillRef>
        <a:effectRef idx="3">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hList7#1">
  <dgm:title val=""/>
  <dgm:desc val=""/>
  <dgm:catLst>
    <dgm:cat type="list" pri="12000"/>
    <dgm:cat type="process" pri="20000"/>
    <dgm:cat type="relationship" pri="14000"/>
    <dgm:cat type="convert" pri="8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onstrLst>
      <dgm:constr type="w" for="ch" forName="fgShape" refType="w" fact="0.92"/>
      <dgm:constr type="h" for="ch" forName="fgShape" refType="h" fact="0.15"/>
      <dgm:constr type="b" for="ch" forName="fgShape" refType="h" fact="0.95"/>
      <dgm:constr type="ctrX" for="ch" forName="fgShape" refType="w" fact="0.5"/>
      <dgm:constr type="w" for="ch" forName="linComp" refType="w"/>
      <dgm:constr type="h" for="ch" forName="linComp" refType="h"/>
      <dgm:constr type="ctrX" for="ch" forName="linComp" refType="w" fact="0.5"/>
    </dgm:constrLst>
    <dgm:ruleLst/>
    <dgm:layoutNode name="fgShape" styleLbl="fgShp">
      <dgm:alg type="sp"/>
      <dgm:shape xmlns:r="http://schemas.openxmlformats.org/officeDocument/2006/relationships" type="leftRightArrow" r:blip="" zOrderOff="99999">
        <dgm:adjLst/>
      </dgm:shape>
      <dgm:presOf/>
      <dgm:constrLst/>
      <dgm:ruleLst/>
    </dgm:layoutNode>
    <dgm:layoutNode name="linComp">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ptType="sibTrans" refType="w" refFor="ch" refForName="compNode" fact="0.03"/>
        <dgm:constr type="primFontSz" for="des" ptType="node" op="equ" val="65"/>
      </dgm:constrLst>
      <dgm:ruleLst/>
      <dgm:forEach name="nodesForEach" axis="ch" ptType="node">
        <dgm:layoutNode name="compNode">
          <dgm:alg type="composite"/>
          <dgm:shape xmlns:r="http://schemas.openxmlformats.org/officeDocument/2006/relationships" r:blip="">
            <dgm:adjLst/>
          </dgm:shape>
          <dgm:presOf/>
          <dgm:constrLst>
            <dgm:constr type="w" for="ch" forName="bkgdShape" refType="w"/>
            <dgm:constr type="h" for="ch" forName="bkgdShape" refType="h"/>
            <dgm:constr type="w" for="ch" forName="nodeTx" refType="w"/>
            <dgm:constr type="h" for="ch" forName="nodeTx" refType="h" fact="0.4"/>
            <dgm:constr type="b" for="ch" forName="nodeTx" refType="h" fact="0.8"/>
            <dgm:constr type="w" for="ch" forName="invisiNode" refType="w" fact="0.01"/>
            <dgm:constr type="h" for="ch" forName="invisiNode" refType="h" fact="0.06"/>
            <dgm:constr type="t" for="ch" forName="invisiNode"/>
            <dgm:constr type="ctrX" for="ch" forName="invisiNode" refType="w" fact="0.5"/>
            <dgm:constr type="h" for="ch" forName="imagNode" refType="h" fact="0.333"/>
            <dgm:constr type="w" for="ch" forName="imagNode" refType="h" refFor="ch" refForName="imagNode"/>
            <dgm:constr type="ctrX" for="ch" forName="imagNode" refType="w" fact="0.5"/>
            <dgm:constr type="t" for="ch" forName="imagNode" refType="h" fact="0.06"/>
            <dgm:constr type="w" for="ch" forName="imagNode" refType="w" op="lte" fact="0.94"/>
          </dgm:constrLst>
          <dgm:ruleLst/>
          <dgm:layoutNode name="bkgdShape">
            <dgm:alg type="sp"/>
            <dgm:shape xmlns:r="http://schemas.openxmlformats.org/officeDocument/2006/relationships" type="roundRect" r:blip="">
              <dgm:adjLst>
                <dgm:adj idx="1" val="0.1"/>
              </dgm:adjLst>
            </dgm:shape>
            <dgm:presOf axis="desOrSelf" ptType="node"/>
            <dgm:constrLst/>
            <dgm:ruleLst/>
          </dgm:layoutNode>
          <dgm:layoutNode name="nodeTx">
            <dgm:varLst>
              <dgm:bulletEnabled val="1"/>
            </dgm:varLst>
            <dgm:alg type="tx">
              <dgm:param type="txAnchorVert" val="mid"/>
              <dgm:param type="txAnchorHorzCh" val="ctr"/>
              <dgm:param type="stBulletLvl" val="2"/>
            </dgm:alg>
            <dgm:shape xmlns:r="http://schemas.openxmlformats.org/officeDocument/2006/relationships" type="rect" r:blip="" hideGeom="1">
              <dgm:adjLst/>
            </dgm:shape>
            <dgm:presOf axis="desOrSelf" ptType="node"/>
            <dgm:constrLst/>
            <dgm:ruleLst>
              <dgm:rule type="primFontSz" val="5" fact="NaN" max="NaN"/>
            </dgm:ruleLst>
          </dgm:layoutNode>
          <dgm:layoutNode name="invisiNode">
            <dgm:alg type="sp"/>
            <dgm:shape xmlns:r="http://schemas.openxmlformats.org/officeDocument/2006/relationships" type="roundRect" r:blip="" hideGeom="1">
              <dgm:adjLst>
                <dgm:adj idx="1" val="0.1"/>
              </dgm:adjLst>
            </dgm:shape>
            <dgm:presOf/>
            <dgm:constrLst/>
            <dgm:ruleLst/>
          </dgm:layoutNode>
          <dgm:layoutNode name="imagNode" styleLbl="fgImgPlace1">
            <dgm:alg type="sp"/>
            <dgm:shape xmlns:r="http://schemas.openxmlformats.org/officeDocument/2006/relationships" type="ellipse" r:blip="" blipPhldr="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9E134BF-33B2-47A2-8CFE-ED7DC1C56B97}" type="datetimeFigureOut">
              <a:rPr lang="en-US" smtClean="0"/>
              <a:t>11/25/2022</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88B4551-E15F-478B-B615-E7C5AE53BEB5}" type="slidenum">
              <a:rPr lang="en-US" smtClean="0"/>
              <a:t>‹#›</a:t>
            </a:fld>
            <a:endParaRPr lang="en-US"/>
          </a:p>
        </p:txBody>
      </p:sp>
    </p:spTree>
    <p:extLst>
      <p:ext uri="{BB962C8B-B14F-4D97-AF65-F5344CB8AC3E}">
        <p14:creationId xmlns:p14="http://schemas.microsoft.com/office/powerpoint/2010/main" val="22141853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8CD34E4-2DF5-43A1-8D00-674715389D76}" type="datetimeFigureOut">
              <a:rPr lang="en-US" smtClean="0"/>
              <a:t>11/25/2022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C17C594-BA8E-4DA5-9DF1-C2F446FDDFEB}" type="slidenum">
              <a:rPr lang="en-US" smtClean="0"/>
              <a:t>‹#›</a:t>
            </a:fld>
            <a:endParaRPr lang="en-US"/>
          </a:p>
        </p:txBody>
      </p:sp>
    </p:spTree>
    <p:extLst>
      <p:ext uri="{BB962C8B-B14F-4D97-AF65-F5344CB8AC3E}">
        <p14:creationId xmlns:p14="http://schemas.microsoft.com/office/powerpoint/2010/main" val="19272351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CH"/>
          </a:p>
        </p:txBody>
      </p:sp>
      <p:sp>
        <p:nvSpPr>
          <p:cNvPr id="4" name="Slide Number Placeholder 3"/>
          <p:cNvSpPr>
            <a:spLocks noGrp="1"/>
          </p:cNvSpPr>
          <p:nvPr>
            <p:ph type="sldNum" sz="quarter" idx="10"/>
          </p:nvPr>
        </p:nvSpPr>
        <p:spPr/>
        <p:txBody>
          <a:bodyPr/>
          <a:lstStyle/>
          <a:p>
            <a:fld id="{AC3CF952-DA8F-450C-A2FA-358253C18251}" type="slidenum">
              <a:rPr lang="en-US" smtClean="0"/>
              <a:t>2</a:t>
            </a:fld>
            <a:endParaRPr lang="en-US"/>
          </a:p>
        </p:txBody>
      </p:sp>
    </p:spTree>
    <p:extLst>
      <p:ext uri="{BB962C8B-B14F-4D97-AF65-F5344CB8AC3E}">
        <p14:creationId xmlns:p14="http://schemas.microsoft.com/office/powerpoint/2010/main" val="24984398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CH"/>
          </a:p>
        </p:txBody>
      </p:sp>
      <p:sp>
        <p:nvSpPr>
          <p:cNvPr id="4" name="Slide Number Placeholder 3"/>
          <p:cNvSpPr>
            <a:spLocks noGrp="1"/>
          </p:cNvSpPr>
          <p:nvPr>
            <p:ph type="sldNum" sz="quarter" idx="10"/>
          </p:nvPr>
        </p:nvSpPr>
        <p:spPr/>
        <p:txBody>
          <a:bodyPr/>
          <a:lstStyle/>
          <a:p>
            <a:fld id="{AC3CF952-DA8F-450C-A2FA-358253C18251}" type="slidenum">
              <a:rPr lang="en-US" smtClean="0"/>
              <a:t>3</a:t>
            </a:fld>
            <a:endParaRPr lang="en-US"/>
          </a:p>
        </p:txBody>
      </p:sp>
    </p:spTree>
    <p:extLst>
      <p:ext uri="{BB962C8B-B14F-4D97-AF65-F5344CB8AC3E}">
        <p14:creationId xmlns:p14="http://schemas.microsoft.com/office/powerpoint/2010/main" val="22170854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CH"/>
          </a:p>
        </p:txBody>
      </p:sp>
      <p:sp>
        <p:nvSpPr>
          <p:cNvPr id="4" name="Slide Number Placeholder 3"/>
          <p:cNvSpPr>
            <a:spLocks noGrp="1"/>
          </p:cNvSpPr>
          <p:nvPr>
            <p:ph type="sldNum" sz="quarter" idx="10"/>
          </p:nvPr>
        </p:nvSpPr>
        <p:spPr/>
        <p:txBody>
          <a:bodyPr/>
          <a:lstStyle/>
          <a:p>
            <a:fld id="{AC3CF952-DA8F-450C-A2FA-358253C18251}" type="slidenum">
              <a:rPr lang="en-US" smtClean="0"/>
              <a:t>4</a:t>
            </a:fld>
            <a:endParaRPr lang="en-US"/>
          </a:p>
        </p:txBody>
      </p:sp>
    </p:spTree>
    <p:extLst>
      <p:ext uri="{BB962C8B-B14F-4D97-AF65-F5344CB8AC3E}">
        <p14:creationId xmlns:p14="http://schemas.microsoft.com/office/powerpoint/2010/main" val="15142927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2E5BD45-B5A0-4654-B232-F8508C108E19}" type="slidenum">
              <a:rPr lang="en-US" smtClean="0"/>
              <a:pPr/>
              <a:t>11</a:t>
            </a:fld>
            <a:endParaRPr lang="en-US" dirty="0"/>
          </a:p>
        </p:txBody>
      </p:sp>
    </p:spTree>
    <p:extLst>
      <p:ext uri="{BB962C8B-B14F-4D97-AF65-F5344CB8AC3E}">
        <p14:creationId xmlns:p14="http://schemas.microsoft.com/office/powerpoint/2010/main" val="6875978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2E5BD45-B5A0-4654-B232-F8508C108E19}" type="slidenum">
              <a:rPr lang="en-US" smtClean="0"/>
              <a:pPr/>
              <a:t>14</a:t>
            </a:fld>
            <a:endParaRPr lang="en-US" dirty="0"/>
          </a:p>
        </p:txBody>
      </p:sp>
    </p:spTree>
    <p:extLst>
      <p:ext uri="{BB962C8B-B14F-4D97-AF65-F5344CB8AC3E}">
        <p14:creationId xmlns:p14="http://schemas.microsoft.com/office/powerpoint/2010/main" val="14462104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355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IN" smtClean="0"/>
          </a:p>
        </p:txBody>
      </p:sp>
      <p:sp>
        <p:nvSpPr>
          <p:cNvPr id="2355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onstantia" pitchFamily="18" charset="0"/>
              </a:defRPr>
            </a:lvl1pPr>
            <a:lvl2pPr marL="742950" indent="-285750">
              <a:defRPr>
                <a:solidFill>
                  <a:schemeClr val="tx1"/>
                </a:solidFill>
                <a:latin typeface="Constantia" pitchFamily="18" charset="0"/>
              </a:defRPr>
            </a:lvl2pPr>
            <a:lvl3pPr marL="1143000" indent="-228600">
              <a:defRPr>
                <a:solidFill>
                  <a:schemeClr val="tx1"/>
                </a:solidFill>
                <a:latin typeface="Constantia" pitchFamily="18" charset="0"/>
              </a:defRPr>
            </a:lvl3pPr>
            <a:lvl4pPr marL="1600200" indent="-228600">
              <a:defRPr>
                <a:solidFill>
                  <a:schemeClr val="tx1"/>
                </a:solidFill>
                <a:latin typeface="Constantia" pitchFamily="18" charset="0"/>
              </a:defRPr>
            </a:lvl4pPr>
            <a:lvl5pPr marL="2057400" indent="-228600">
              <a:defRPr>
                <a:solidFill>
                  <a:schemeClr val="tx1"/>
                </a:solidFill>
                <a:latin typeface="Constantia" pitchFamily="18" charset="0"/>
              </a:defRPr>
            </a:lvl5pPr>
            <a:lvl6pPr marL="2514600" indent="-228600" fontAlgn="base">
              <a:spcBef>
                <a:spcPct val="0"/>
              </a:spcBef>
              <a:spcAft>
                <a:spcPct val="0"/>
              </a:spcAft>
              <a:defRPr>
                <a:solidFill>
                  <a:schemeClr val="tx1"/>
                </a:solidFill>
                <a:latin typeface="Constantia" pitchFamily="18" charset="0"/>
              </a:defRPr>
            </a:lvl6pPr>
            <a:lvl7pPr marL="2971800" indent="-228600" fontAlgn="base">
              <a:spcBef>
                <a:spcPct val="0"/>
              </a:spcBef>
              <a:spcAft>
                <a:spcPct val="0"/>
              </a:spcAft>
              <a:defRPr>
                <a:solidFill>
                  <a:schemeClr val="tx1"/>
                </a:solidFill>
                <a:latin typeface="Constantia" pitchFamily="18" charset="0"/>
              </a:defRPr>
            </a:lvl7pPr>
            <a:lvl8pPr marL="3429000" indent="-228600" fontAlgn="base">
              <a:spcBef>
                <a:spcPct val="0"/>
              </a:spcBef>
              <a:spcAft>
                <a:spcPct val="0"/>
              </a:spcAft>
              <a:defRPr>
                <a:solidFill>
                  <a:schemeClr val="tx1"/>
                </a:solidFill>
                <a:latin typeface="Constantia" pitchFamily="18" charset="0"/>
              </a:defRPr>
            </a:lvl8pPr>
            <a:lvl9pPr marL="3886200" indent="-228600" fontAlgn="base">
              <a:spcBef>
                <a:spcPct val="0"/>
              </a:spcBef>
              <a:spcAft>
                <a:spcPct val="0"/>
              </a:spcAft>
              <a:defRPr>
                <a:solidFill>
                  <a:schemeClr val="tx1"/>
                </a:solidFill>
                <a:latin typeface="Constantia" pitchFamily="18" charset="0"/>
              </a:defRPr>
            </a:lvl9pPr>
          </a:lstStyle>
          <a:p>
            <a:pPr fontAlgn="base">
              <a:spcBef>
                <a:spcPct val="0"/>
              </a:spcBef>
              <a:spcAft>
                <a:spcPct val="0"/>
              </a:spcAft>
            </a:pPr>
            <a:fld id="{89561D08-CC16-44DD-BEEE-7A2342F951F4}" type="slidenum">
              <a:rPr lang="en-IN">
                <a:latin typeface="Calibri" pitchFamily="34" charset="0"/>
              </a:rPr>
              <a:pPr fontAlgn="base">
                <a:spcBef>
                  <a:spcPct val="0"/>
                </a:spcBef>
                <a:spcAft>
                  <a:spcPct val="0"/>
                </a:spcAft>
              </a:pPr>
              <a:t>36</a:t>
            </a:fld>
            <a:endParaRPr lang="en-IN">
              <a:latin typeface="Calibri" pitchFamily="34" charset="0"/>
            </a:endParaRPr>
          </a:p>
        </p:txBody>
      </p:sp>
    </p:spTree>
    <p:extLst>
      <p:ext uri="{BB962C8B-B14F-4D97-AF65-F5344CB8AC3E}">
        <p14:creationId xmlns:p14="http://schemas.microsoft.com/office/powerpoint/2010/main" val="28973652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CH"/>
          </a:p>
        </p:txBody>
      </p:sp>
      <p:sp>
        <p:nvSpPr>
          <p:cNvPr id="4" name="Slide Number Placeholder 3"/>
          <p:cNvSpPr>
            <a:spLocks noGrp="1"/>
          </p:cNvSpPr>
          <p:nvPr>
            <p:ph type="sldNum" sz="quarter" idx="10"/>
          </p:nvPr>
        </p:nvSpPr>
        <p:spPr/>
        <p:txBody>
          <a:bodyPr/>
          <a:lstStyle/>
          <a:p>
            <a:fld id="{AC3CF952-DA8F-450C-A2FA-358253C18251}" type="slidenum">
              <a:rPr lang="en-US" smtClean="0"/>
              <a:t>38</a:t>
            </a:fld>
            <a:endParaRPr lang="en-US"/>
          </a:p>
        </p:txBody>
      </p:sp>
    </p:spTree>
    <p:extLst>
      <p:ext uri="{BB962C8B-B14F-4D97-AF65-F5344CB8AC3E}">
        <p14:creationId xmlns:p14="http://schemas.microsoft.com/office/powerpoint/2010/main" val="24794183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E288E4E9-2BB2-46C0-9AC2-1E9C69227662}" type="datetimeFigureOut">
              <a:rPr lang="en-US" smtClean="0"/>
              <a:t>11/25/2022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9DC16BB-520E-43EA-9B9E-8C5EE2E2B4CC}" type="slidenum">
              <a:rPr lang="en-US" smtClean="0"/>
              <a:t>‹#›</a:t>
            </a:fld>
            <a:endParaRPr lang="en-US"/>
          </a:p>
        </p:txBody>
      </p:sp>
    </p:spTree>
    <p:extLst>
      <p:ext uri="{BB962C8B-B14F-4D97-AF65-F5344CB8AC3E}">
        <p14:creationId xmlns:p14="http://schemas.microsoft.com/office/powerpoint/2010/main" val="10855466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E288E4E9-2BB2-46C0-9AC2-1E9C69227662}" type="datetimeFigureOut">
              <a:rPr lang="en-US" smtClean="0"/>
              <a:t>11/25/2022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9DC16BB-520E-43EA-9B9E-8C5EE2E2B4CC}" type="slidenum">
              <a:rPr lang="en-US" smtClean="0"/>
              <a:t>‹#›</a:t>
            </a:fld>
            <a:endParaRPr lang="en-US"/>
          </a:p>
        </p:txBody>
      </p:sp>
    </p:spTree>
    <p:extLst>
      <p:ext uri="{BB962C8B-B14F-4D97-AF65-F5344CB8AC3E}">
        <p14:creationId xmlns:p14="http://schemas.microsoft.com/office/powerpoint/2010/main" val="1364122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E288E4E9-2BB2-46C0-9AC2-1E9C69227662}" type="datetimeFigureOut">
              <a:rPr lang="en-US" smtClean="0"/>
              <a:t>11/25/2022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9DC16BB-520E-43EA-9B9E-8C5EE2E2B4CC}" type="slidenum">
              <a:rPr lang="en-US" smtClean="0"/>
              <a:t>‹#›</a:t>
            </a:fld>
            <a:endParaRPr lang="en-US"/>
          </a:p>
        </p:txBody>
      </p:sp>
    </p:spTree>
    <p:extLst>
      <p:ext uri="{BB962C8B-B14F-4D97-AF65-F5344CB8AC3E}">
        <p14:creationId xmlns:p14="http://schemas.microsoft.com/office/powerpoint/2010/main" val="37008831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E288E4E9-2BB2-46C0-9AC2-1E9C69227662}" type="datetimeFigureOut">
              <a:rPr lang="en-US" smtClean="0"/>
              <a:t>11/25/2022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9DC16BB-520E-43EA-9B9E-8C5EE2E2B4CC}" type="slidenum">
              <a:rPr lang="en-US" smtClean="0"/>
              <a:t>‹#›</a:t>
            </a:fld>
            <a:endParaRPr lang="en-US"/>
          </a:p>
        </p:txBody>
      </p:sp>
    </p:spTree>
    <p:extLst>
      <p:ext uri="{BB962C8B-B14F-4D97-AF65-F5344CB8AC3E}">
        <p14:creationId xmlns:p14="http://schemas.microsoft.com/office/powerpoint/2010/main" val="1974981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E288E4E9-2BB2-46C0-9AC2-1E9C69227662}" type="datetimeFigureOut">
              <a:rPr lang="en-US" smtClean="0"/>
              <a:t>11/25/2022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9DC16BB-520E-43EA-9B9E-8C5EE2E2B4CC}" type="slidenum">
              <a:rPr lang="en-US" smtClean="0"/>
              <a:t>‹#›</a:t>
            </a:fld>
            <a:endParaRPr lang="en-US"/>
          </a:p>
        </p:txBody>
      </p:sp>
    </p:spTree>
    <p:extLst>
      <p:ext uri="{BB962C8B-B14F-4D97-AF65-F5344CB8AC3E}">
        <p14:creationId xmlns:p14="http://schemas.microsoft.com/office/powerpoint/2010/main" val="39884811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E288E4E9-2BB2-46C0-9AC2-1E9C69227662}" type="datetimeFigureOut">
              <a:rPr lang="en-US" smtClean="0"/>
              <a:t>11/25/2022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9DC16BB-520E-43EA-9B9E-8C5EE2E2B4CC}" type="slidenum">
              <a:rPr lang="en-US" smtClean="0"/>
              <a:t>‹#›</a:t>
            </a:fld>
            <a:endParaRPr lang="en-US"/>
          </a:p>
        </p:txBody>
      </p:sp>
    </p:spTree>
    <p:extLst>
      <p:ext uri="{BB962C8B-B14F-4D97-AF65-F5344CB8AC3E}">
        <p14:creationId xmlns:p14="http://schemas.microsoft.com/office/powerpoint/2010/main" val="36803123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288E4E9-2BB2-46C0-9AC2-1E9C69227662}" type="datetimeFigureOut">
              <a:rPr lang="en-US" smtClean="0"/>
              <a:t>11/25/2022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9DC16BB-520E-43EA-9B9E-8C5EE2E2B4CC}" type="slidenum">
              <a:rPr lang="en-US" smtClean="0"/>
              <a:t>‹#›</a:t>
            </a:fld>
            <a:endParaRPr lang="en-US"/>
          </a:p>
        </p:txBody>
      </p:sp>
    </p:spTree>
    <p:extLst>
      <p:ext uri="{BB962C8B-B14F-4D97-AF65-F5344CB8AC3E}">
        <p14:creationId xmlns:p14="http://schemas.microsoft.com/office/powerpoint/2010/main" val="34832014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smtClean="0"/>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E288E4E9-2BB2-46C0-9AC2-1E9C69227662}" type="datetimeFigureOut">
              <a:rPr lang="en-US" smtClean="0"/>
              <a:t>11/25/2022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9DC16BB-520E-43EA-9B9E-8C5EE2E2B4CC}" type="slidenum">
              <a:rPr lang="en-US" smtClean="0"/>
              <a:t>‹#›</a:t>
            </a:fld>
            <a:endParaRPr lang="en-US"/>
          </a:p>
        </p:txBody>
      </p:sp>
    </p:spTree>
    <p:extLst>
      <p:ext uri="{BB962C8B-B14F-4D97-AF65-F5344CB8AC3E}">
        <p14:creationId xmlns:p14="http://schemas.microsoft.com/office/powerpoint/2010/main" val="17133552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E288E4E9-2BB2-46C0-9AC2-1E9C69227662}" type="datetimeFigureOut">
              <a:rPr lang="en-US" smtClean="0"/>
              <a:t>11/25/2022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9DC16BB-520E-43EA-9B9E-8C5EE2E2B4CC}" type="slidenum">
              <a:rPr lang="en-US" smtClean="0"/>
              <a:t>‹#›</a:t>
            </a:fld>
            <a:endParaRPr lang="en-US"/>
          </a:p>
        </p:txBody>
      </p:sp>
    </p:spTree>
    <p:extLst>
      <p:ext uri="{BB962C8B-B14F-4D97-AF65-F5344CB8AC3E}">
        <p14:creationId xmlns:p14="http://schemas.microsoft.com/office/powerpoint/2010/main" val="36784365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E288E4E9-2BB2-46C0-9AC2-1E9C69227662}" type="datetimeFigureOut">
              <a:rPr lang="en-US" smtClean="0"/>
              <a:t>11/25/2022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9DC16BB-520E-43EA-9B9E-8C5EE2E2B4CC}" type="slidenum">
              <a:rPr lang="en-US" smtClean="0"/>
              <a:t>‹#›</a:t>
            </a:fld>
            <a:endParaRPr lang="en-US"/>
          </a:p>
        </p:txBody>
      </p:sp>
    </p:spTree>
    <p:extLst>
      <p:ext uri="{BB962C8B-B14F-4D97-AF65-F5344CB8AC3E}">
        <p14:creationId xmlns:p14="http://schemas.microsoft.com/office/powerpoint/2010/main" val="42838684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E288E4E9-2BB2-46C0-9AC2-1E9C69227662}" type="datetimeFigureOut">
              <a:rPr lang="en-US" smtClean="0"/>
              <a:t>11/25/2022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9DC16BB-520E-43EA-9B9E-8C5EE2E2B4CC}"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8142926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E288E4E9-2BB2-46C0-9AC2-1E9C69227662}" type="datetimeFigureOut">
              <a:rPr lang="en-US" smtClean="0"/>
              <a:t>11/25/2022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9DC16BB-520E-43EA-9B9E-8C5EE2E2B4CC}" type="slidenum">
              <a:rPr lang="en-US" smtClean="0"/>
              <a:t>‹#›</a:t>
            </a:fld>
            <a:endParaRPr lang="en-US"/>
          </a:p>
        </p:txBody>
      </p:sp>
    </p:spTree>
    <p:extLst>
      <p:ext uri="{BB962C8B-B14F-4D97-AF65-F5344CB8AC3E}">
        <p14:creationId xmlns:p14="http://schemas.microsoft.com/office/powerpoint/2010/main" val="139391571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E288E4E9-2BB2-46C0-9AC2-1E9C69227662}" type="datetimeFigureOut">
              <a:rPr lang="en-US" smtClean="0"/>
              <a:t>11/25/2022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9DC16BB-520E-43EA-9B9E-8C5EE2E2B4CC}"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58734639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E288E4E9-2BB2-46C0-9AC2-1E9C69227662}" type="datetimeFigureOut">
              <a:rPr lang="en-US" smtClean="0"/>
              <a:t>11/25/2022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9DC16BB-520E-43EA-9B9E-8C5EE2E2B4CC}" type="slidenum">
              <a:rPr lang="en-US" smtClean="0"/>
              <a:t>‹#›</a:t>
            </a:fld>
            <a:endParaRPr lang="en-US"/>
          </a:p>
        </p:txBody>
      </p:sp>
    </p:spTree>
    <p:extLst>
      <p:ext uri="{BB962C8B-B14F-4D97-AF65-F5344CB8AC3E}">
        <p14:creationId xmlns:p14="http://schemas.microsoft.com/office/powerpoint/2010/main" val="212298990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E288E4E9-2BB2-46C0-9AC2-1E9C69227662}" type="datetimeFigureOut">
              <a:rPr lang="en-US" smtClean="0"/>
              <a:t>11/25/2022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9DC16BB-520E-43EA-9B9E-8C5EE2E2B4CC}" type="slidenum">
              <a:rPr lang="en-US" smtClean="0"/>
              <a:t>‹#›</a:t>
            </a:fld>
            <a:endParaRPr lang="en-US"/>
          </a:p>
        </p:txBody>
      </p:sp>
    </p:spTree>
    <p:extLst>
      <p:ext uri="{BB962C8B-B14F-4D97-AF65-F5344CB8AC3E}">
        <p14:creationId xmlns:p14="http://schemas.microsoft.com/office/powerpoint/2010/main" val="219086698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E288E4E9-2BB2-46C0-9AC2-1E9C69227662}" type="datetimeFigureOut">
              <a:rPr lang="en-US" smtClean="0"/>
              <a:t>11/25/2022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9DC16BB-520E-43EA-9B9E-8C5EE2E2B4CC}" type="slidenum">
              <a:rPr lang="en-US" smtClean="0"/>
              <a:t>‹#›</a:t>
            </a:fld>
            <a:endParaRPr lang="en-US"/>
          </a:p>
        </p:txBody>
      </p:sp>
    </p:spTree>
    <p:extLst>
      <p:ext uri="{BB962C8B-B14F-4D97-AF65-F5344CB8AC3E}">
        <p14:creationId xmlns:p14="http://schemas.microsoft.com/office/powerpoint/2010/main" val="83475370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Only">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609600" y="274639"/>
            <a:ext cx="10972800" cy="585152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4DCCFB61-D0FC-48DA-9630-B4F49B1F0152}" type="slidenum">
              <a:rPr lang="en-US"/>
              <a:pPr>
                <a:defRPr/>
              </a:pPr>
              <a:t>‹#›</a:t>
            </a:fld>
            <a:endParaRPr lang="en-US"/>
          </a:p>
        </p:txBody>
      </p:sp>
    </p:spTree>
    <p:extLst>
      <p:ext uri="{BB962C8B-B14F-4D97-AF65-F5344CB8AC3E}">
        <p14:creationId xmlns:p14="http://schemas.microsoft.com/office/powerpoint/2010/main" val="5753507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E288E4E9-2BB2-46C0-9AC2-1E9C69227662}" type="datetimeFigureOut">
              <a:rPr lang="en-US" smtClean="0"/>
              <a:t>11/25/2022</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39DC16BB-520E-43EA-9B9E-8C5EE2E2B4CC}" type="slidenum">
              <a:rPr lang="en-US" smtClean="0"/>
              <a:t>‹#›</a:t>
            </a:fld>
            <a:endParaRPr lang="en-US"/>
          </a:p>
        </p:txBody>
      </p:sp>
    </p:spTree>
    <p:extLst>
      <p:ext uri="{BB962C8B-B14F-4D97-AF65-F5344CB8AC3E}">
        <p14:creationId xmlns:p14="http://schemas.microsoft.com/office/powerpoint/2010/main" val="115206305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3.jpeg"/><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8" Type="http://schemas.openxmlformats.org/officeDocument/2006/relationships/image" Target="../media/image9.gif"/><Relationship Id="rId3" Type="http://schemas.openxmlformats.org/officeDocument/2006/relationships/image" Target="../media/image4.png"/><Relationship Id="rId7" Type="http://schemas.openxmlformats.org/officeDocument/2006/relationships/image" Target="../media/image8.gif"/><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7.png"/><Relationship Id="rId11" Type="http://schemas.openxmlformats.org/officeDocument/2006/relationships/image" Target="../media/image11.gif"/><Relationship Id="rId5" Type="http://schemas.openxmlformats.org/officeDocument/2006/relationships/image" Target="../media/image6.png"/><Relationship Id="rId10" Type="http://schemas.openxmlformats.org/officeDocument/2006/relationships/image" Target="../media/image10.gif"/><Relationship Id="rId4" Type="http://schemas.openxmlformats.org/officeDocument/2006/relationships/image" Target="../media/image5.png"/><Relationship Id="rId9" Type="http://schemas.openxmlformats.org/officeDocument/2006/relationships/hyperlink" Target="http://content.tutorvista.com/physics_12/content/media/ac_gen.swf"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12.gif"/><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jpe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6.gi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slideLayout" Target="../slideLayouts/slideLayout2.xml"/><Relationship Id="rId1" Type="http://schemas.openxmlformats.org/officeDocument/2006/relationships/themeOverride" Target="../theme/themeOverride2.xml"/><Relationship Id="rId4" Type="http://schemas.openxmlformats.org/officeDocument/2006/relationships/image" Target="../media/image22.png"/></Relationships>
</file>

<file path=ppt/slides/_rels/slide18.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image" Target="../media/image23.em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image" Target="../media/image27.em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image" Target="../media/image33.em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6.emf"/><Relationship Id="rId2" Type="http://schemas.openxmlformats.org/officeDocument/2006/relationships/image" Target="../media/image35.em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7.emf"/><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8.gif"/><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gif"/><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43.gif"/><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4.gif"/><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46.jpeg"/><Relationship Id="rId4" Type="http://schemas.openxmlformats.org/officeDocument/2006/relationships/image" Target="../media/image45.emf"/></Relationships>
</file>

<file path=ppt/slides/_rels/slide39.xml.rels><?xml version="1.0" encoding="UTF-8" standalone="yes"?>
<Relationships xmlns="http://schemas.openxmlformats.org/package/2006/relationships"><Relationship Id="rId2" Type="http://schemas.openxmlformats.org/officeDocument/2006/relationships/image" Target="../media/image39.gif"/><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17.xml"/><Relationship Id="rId4" Type="http://schemas.openxmlformats.org/officeDocument/2006/relationships/image" Target="../media/image49.png"/></Relationships>
</file>

<file path=ppt/slides/_rels/slide42.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POWER </a:t>
            </a:r>
            <a:r>
              <a:rPr lang="en-US" smtClean="0"/>
              <a:t>SUPPLYS L3</a:t>
            </a:r>
            <a:endParaRPr lang="en-US" dirty="0"/>
          </a:p>
        </p:txBody>
      </p:sp>
    </p:spTree>
    <p:extLst>
      <p:ext uri="{BB962C8B-B14F-4D97-AF65-F5344CB8AC3E}">
        <p14:creationId xmlns:p14="http://schemas.microsoft.com/office/powerpoint/2010/main" val="312991357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1" y="20430"/>
            <a:ext cx="8226854" cy="940443"/>
          </a:xfrm>
        </p:spPr>
        <p:txBody>
          <a:bodyPr>
            <a:normAutofit/>
          </a:bodyPr>
          <a:lstStyle/>
          <a:p>
            <a:pPr algn="ctr"/>
            <a:r>
              <a:rPr lang="en-US" sz="3200" dirty="0">
                <a:latin typeface="+mn-lt"/>
              </a:rPr>
              <a:t>Definition</a:t>
            </a:r>
          </a:p>
        </p:txBody>
      </p:sp>
      <p:sp>
        <p:nvSpPr>
          <p:cNvPr id="3" name="Content Placeholder 2"/>
          <p:cNvSpPr>
            <a:spLocks noGrp="1"/>
          </p:cNvSpPr>
          <p:nvPr>
            <p:ph idx="1"/>
          </p:nvPr>
        </p:nvSpPr>
        <p:spPr>
          <a:xfrm>
            <a:off x="1704001" y="900001"/>
            <a:ext cx="8901855" cy="521424"/>
          </a:xfrm>
        </p:spPr>
        <p:txBody>
          <a:bodyPr>
            <a:noAutofit/>
          </a:bodyPr>
          <a:lstStyle/>
          <a:p>
            <a:pPr marL="36541" indent="0">
              <a:buNone/>
            </a:pPr>
            <a:r>
              <a:rPr lang="en-GB" sz="1600" dirty="0" smtClean="0"/>
              <a:t> </a:t>
            </a:r>
            <a:r>
              <a:rPr lang="en-GB" sz="1600" dirty="0"/>
              <a:t>A power supply is a device that supplies electric energy to an electrical load.</a:t>
            </a:r>
          </a:p>
          <a:p>
            <a:pPr marL="36541" indent="0">
              <a:buNone/>
            </a:pPr>
            <a:endParaRPr lang="en-GB" sz="1600" dirty="0"/>
          </a:p>
        </p:txBody>
      </p:sp>
      <p:sp>
        <p:nvSpPr>
          <p:cNvPr id="8" name="Slide Number Placeholder 5"/>
          <p:cNvSpPr>
            <a:spLocks noGrp="1"/>
          </p:cNvSpPr>
          <p:nvPr>
            <p:ph type="sldNum" sz="quarter" idx="4294967295"/>
          </p:nvPr>
        </p:nvSpPr>
        <p:spPr>
          <a:xfrm>
            <a:off x="9709376" y="6356360"/>
            <a:ext cx="501424" cy="365125"/>
          </a:xfrm>
        </p:spPr>
        <p:txBody>
          <a:bodyPr/>
          <a:lstStyle/>
          <a:p>
            <a:fld id="{17918391-D411-FE40-AAD7-861AE5233E0E}" type="slidenum">
              <a:rPr lang="en-US" smtClean="0"/>
              <a:pPr/>
              <a:t>2</a:t>
            </a:fld>
            <a:endParaRPr lang="en-US" dirty="0"/>
          </a:p>
        </p:txBody>
      </p:sp>
      <p:sp>
        <p:nvSpPr>
          <p:cNvPr id="9" name="Content Placeholder 2"/>
          <p:cNvSpPr txBox="1">
            <a:spLocks/>
          </p:cNvSpPr>
          <p:nvPr/>
        </p:nvSpPr>
        <p:spPr>
          <a:xfrm>
            <a:off x="2685288" y="1902075"/>
            <a:ext cx="6812280" cy="855051"/>
          </a:xfrm>
          <a:prstGeom prst="rect">
            <a:avLst/>
          </a:prstGeom>
        </p:spPr>
        <p:txBody>
          <a:bodyPr vert="horz" lIns="91353" tIns="45676" rIns="91353" bIns="45676">
            <a:noAutofit/>
          </a:bodyPr>
          <a:lstStyle>
            <a:lvl1pPr marL="493308" indent="-456767" algn="l" rtl="0" eaLnBrk="1" latinLnBrk="0" hangingPunct="1">
              <a:spcBef>
                <a:spcPct val="20000"/>
              </a:spcBef>
              <a:buClr>
                <a:schemeClr val="accent1"/>
              </a:buClr>
              <a:buSzPct val="80000"/>
              <a:buFont typeface="Arial"/>
              <a:buChar char="•"/>
              <a:defRPr kumimoji="0" sz="3000" kern="1200">
                <a:solidFill>
                  <a:schemeClr val="tx1"/>
                </a:solidFill>
                <a:latin typeface="+mn-lt"/>
                <a:ea typeface="+mn-ea"/>
                <a:cs typeface="+mn-cs"/>
              </a:defRPr>
            </a:lvl1pPr>
            <a:lvl2pPr marL="904397" indent="-456767" algn="l" rtl="0" eaLnBrk="1" latinLnBrk="0" hangingPunct="1">
              <a:spcBef>
                <a:spcPct val="20000"/>
              </a:spcBef>
              <a:buClr>
                <a:schemeClr val="accent1"/>
              </a:buClr>
              <a:buSzPct val="90000"/>
              <a:buFont typeface="Arial"/>
              <a:buChar char="•"/>
              <a:defRPr kumimoji="0" sz="2600" kern="1200">
                <a:solidFill>
                  <a:schemeClr val="tx1"/>
                </a:solidFill>
                <a:latin typeface="+mn-lt"/>
                <a:ea typeface="+mn-ea"/>
                <a:cs typeface="+mn-cs"/>
              </a:defRPr>
            </a:lvl2pPr>
            <a:lvl3pPr marL="1091671" indent="-342576" algn="l" rtl="0" eaLnBrk="1" latinLnBrk="0" hangingPunct="1">
              <a:spcBef>
                <a:spcPct val="20000"/>
              </a:spcBef>
              <a:buClr>
                <a:schemeClr val="accent2"/>
              </a:buClr>
              <a:buSzPct val="85000"/>
              <a:buFont typeface="Arial"/>
              <a:buChar char="•"/>
              <a:defRPr kumimoji="0" sz="2400" kern="1200">
                <a:solidFill>
                  <a:schemeClr val="tx1"/>
                </a:solidFill>
                <a:latin typeface="+mn-lt"/>
                <a:ea typeface="+mn-ea"/>
                <a:cs typeface="+mn-cs"/>
              </a:defRPr>
            </a:lvl3pPr>
            <a:lvl4pPr marL="1384000" indent="-342576" algn="l" rtl="0" eaLnBrk="1" latinLnBrk="0" hangingPunct="1">
              <a:spcBef>
                <a:spcPct val="20000"/>
              </a:spcBef>
              <a:buClr>
                <a:schemeClr val="accent3"/>
              </a:buClr>
              <a:buSzPct val="90000"/>
              <a:buFont typeface="Arial"/>
              <a:buChar char="•"/>
              <a:defRPr kumimoji="0" sz="2000" kern="1200">
                <a:solidFill>
                  <a:schemeClr val="tx1"/>
                </a:solidFill>
                <a:latin typeface="+mn-lt"/>
                <a:ea typeface="+mn-ea"/>
                <a:cs typeface="+mn-cs"/>
              </a:defRPr>
            </a:lvl4pPr>
            <a:lvl5pPr marL="1648925" indent="-342576" algn="l" rtl="0" eaLnBrk="1" latinLnBrk="0" hangingPunct="1">
              <a:spcBef>
                <a:spcPct val="20000"/>
              </a:spcBef>
              <a:buClr>
                <a:schemeClr val="accent4"/>
              </a:buClr>
              <a:buSzPct val="100000"/>
              <a:buFont typeface="Arial"/>
              <a:buChar char="•"/>
              <a:defRPr kumimoji="0" sz="2000" kern="1200">
                <a:solidFill>
                  <a:schemeClr val="tx1"/>
                </a:solidFill>
                <a:latin typeface="+mn-lt"/>
                <a:ea typeface="+mn-ea"/>
                <a:cs typeface="+mn-cs"/>
              </a:defRPr>
            </a:lvl5pPr>
            <a:lvl6pPr marL="1699169" indent="-182706" algn="l" rtl="0" eaLnBrk="1" latinLnBrk="0" hangingPunct="1">
              <a:spcBef>
                <a:spcPct val="20000"/>
              </a:spcBef>
              <a:buClr>
                <a:schemeClr val="accent5"/>
              </a:buClr>
              <a:buFont typeface="Arial"/>
              <a:buChar char="-"/>
              <a:defRPr kumimoji="0" sz="2000" kern="1200" baseline="0">
                <a:solidFill>
                  <a:schemeClr val="tx1"/>
                </a:solidFill>
                <a:latin typeface="+mn-lt"/>
                <a:ea typeface="+mn-ea"/>
                <a:cs typeface="+mn-cs"/>
              </a:defRPr>
            </a:lvl6pPr>
            <a:lvl7pPr marL="1918413" indent="-182706" algn="l" rtl="0" eaLnBrk="1" latinLnBrk="0" hangingPunct="1">
              <a:spcBef>
                <a:spcPct val="20000"/>
              </a:spcBef>
              <a:buClr>
                <a:schemeClr val="accent6"/>
              </a:buClr>
              <a:buSzPct val="100000"/>
              <a:buFont typeface="Arial"/>
              <a:buChar char="•"/>
              <a:defRPr kumimoji="0" sz="1800" kern="1200" baseline="0">
                <a:solidFill>
                  <a:schemeClr val="tx1"/>
                </a:solidFill>
                <a:latin typeface="+mn-lt"/>
                <a:ea typeface="+mn-ea"/>
                <a:cs typeface="+mn-cs"/>
              </a:defRPr>
            </a:lvl7pPr>
            <a:lvl8pPr marL="2137665" indent="-182706"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8pPr>
            <a:lvl9pPr marL="2329506" indent="-182706"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9pPr>
          </a:lstStyle>
          <a:p>
            <a:pPr marL="36541" indent="0">
              <a:buNone/>
            </a:pPr>
            <a:r>
              <a:rPr lang="en-GB" sz="1600" dirty="0"/>
              <a:t>Power supplies are everywhere: computer, electronics, inside any modern electrical equipment (washing machine, …), motor drives,…</a:t>
            </a:r>
          </a:p>
          <a:p>
            <a:pPr marL="36541" indent="0">
              <a:buNone/>
            </a:pPr>
            <a:endParaRPr lang="en-GB" sz="1600" dirty="0"/>
          </a:p>
        </p:txBody>
      </p:sp>
      <p:pic>
        <p:nvPicPr>
          <p:cNvPr id="23554" name="Picture 2" descr="Image result for alimentation pc portable"/>
          <p:cNvPicPr>
            <a:picLocks noChangeAspect="1" noChangeArrowheads="1"/>
          </p:cNvPicPr>
          <p:nvPr/>
        </p:nvPicPr>
        <p:blipFill>
          <a:blip r:embed="rId3" cstate="print">
            <a:extLst>
              <a:ext uri="{28A0092B-C50C-407E-A947-70E740481C1C}">
                <a14:useLocalDpi xmlns:a14="http://schemas.microsoft.com/office/drawing/2010/main"/>
              </a:ext>
            </a:extLst>
          </a:blip>
          <a:srcRect/>
          <a:stretch>
            <a:fillRect/>
          </a:stretch>
        </p:blipFill>
        <p:spPr bwMode="auto">
          <a:xfrm flipH="1">
            <a:off x="4831428" y="2615168"/>
            <a:ext cx="2520000" cy="2520000"/>
          </a:xfrm>
          <a:prstGeom prst="rect">
            <a:avLst/>
          </a:prstGeom>
          <a:noFill/>
          <a:extLst>
            <a:ext uri="{909E8E84-426E-40DD-AFC4-6F175D3DCCD1}">
              <a14:hiddenFill xmlns:a14="http://schemas.microsoft.com/office/drawing/2010/main">
                <a:solidFill>
                  <a:srgbClr val="FFFFFF"/>
                </a:solidFill>
              </a14:hiddenFill>
            </a:ext>
          </a:extLst>
        </p:spPr>
      </p:pic>
      <p:pic>
        <p:nvPicPr>
          <p:cNvPr id="23556" name="Picture 4" descr="https://upload.wikimedia.org/wikipedia/commons/thumb/3/3b/French-power-socket.jpg/1280px-French-power-socket.jpg"/>
          <p:cNvPicPr>
            <a:picLocks noChangeAspect="1" noChangeArrowheads="1"/>
          </p:cNvPicPr>
          <p:nvPr/>
        </p:nvPicPr>
        <p:blipFill>
          <a:blip r:embed="rId4" cstate="print">
            <a:extLst>
              <a:ext uri="{28A0092B-C50C-407E-A947-70E740481C1C}">
                <a14:useLocalDpi xmlns:a14="http://schemas.microsoft.com/office/drawing/2010/main"/>
              </a:ext>
            </a:extLst>
          </a:blip>
          <a:srcRect/>
          <a:stretch>
            <a:fillRect/>
          </a:stretch>
        </p:blipFill>
        <p:spPr bwMode="auto">
          <a:xfrm>
            <a:off x="2054910" y="3117590"/>
            <a:ext cx="2020208" cy="1515156"/>
          </a:xfrm>
          <a:prstGeom prst="rect">
            <a:avLst/>
          </a:prstGeom>
          <a:noFill/>
          <a:extLst>
            <a:ext uri="{909E8E84-426E-40DD-AFC4-6F175D3DCCD1}">
              <a14:hiddenFill xmlns:a14="http://schemas.microsoft.com/office/drawing/2010/main">
                <a:solidFill>
                  <a:srgbClr val="FFFFFF"/>
                </a:solidFill>
              </a14:hiddenFill>
            </a:ext>
          </a:extLst>
        </p:spPr>
      </p:pic>
      <p:pic>
        <p:nvPicPr>
          <p:cNvPr id="23558" name="Picture 6" descr="Image result for pc portable"/>
          <p:cNvPicPr>
            <a:picLocks noChangeAspect="1" noChangeArrowheads="1"/>
          </p:cNvPicPr>
          <p:nvPr/>
        </p:nvPicPr>
        <p:blipFill>
          <a:blip r:embed="rId5" cstate="print">
            <a:extLst>
              <a:ext uri="{28A0092B-C50C-407E-A947-70E740481C1C}">
                <a14:useLocalDpi xmlns:a14="http://schemas.microsoft.com/office/drawing/2010/main"/>
              </a:ext>
            </a:extLst>
          </a:blip>
          <a:srcRect/>
          <a:stretch>
            <a:fillRect/>
          </a:stretch>
        </p:blipFill>
        <p:spPr bwMode="auto">
          <a:xfrm>
            <a:off x="7351428" y="2969018"/>
            <a:ext cx="3174470" cy="2108504"/>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2054910" y="5440680"/>
            <a:ext cx="7566174" cy="369332"/>
          </a:xfrm>
          <a:prstGeom prst="rect">
            <a:avLst/>
          </a:prstGeom>
          <a:noFill/>
        </p:spPr>
        <p:txBody>
          <a:bodyPr wrap="none" rtlCol="0">
            <a:spAutoFit/>
          </a:bodyPr>
          <a:lstStyle/>
          <a:p>
            <a:r>
              <a:rPr lang="en-US" dirty="0"/>
              <a:t>Electricity provider	     Power supply			Load	</a:t>
            </a:r>
          </a:p>
        </p:txBody>
      </p:sp>
      <p:sp>
        <p:nvSpPr>
          <p:cNvPr id="12" name="Oval 11"/>
          <p:cNvSpPr/>
          <p:nvPr/>
        </p:nvSpPr>
        <p:spPr>
          <a:xfrm rot="5400000">
            <a:off x="4694618" y="2688915"/>
            <a:ext cx="2730555" cy="2583066"/>
          </a:xfrm>
          <a:prstGeom prst="ellipse">
            <a:avLst/>
          </a:prstGeom>
          <a:noFill/>
          <a:ln w="381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9408102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1" y="20430"/>
            <a:ext cx="8226854" cy="940443"/>
          </a:xfrm>
        </p:spPr>
        <p:txBody>
          <a:bodyPr>
            <a:normAutofit/>
          </a:bodyPr>
          <a:lstStyle/>
          <a:p>
            <a:pPr algn="ctr"/>
            <a:r>
              <a:rPr lang="en-US" sz="3200" dirty="0">
                <a:latin typeface="+mn-lt"/>
              </a:rPr>
              <a:t>Electrical power</a:t>
            </a:r>
          </a:p>
        </p:txBody>
      </p:sp>
      <p:sp>
        <p:nvSpPr>
          <p:cNvPr id="3" name="Content Placeholder 2"/>
          <p:cNvSpPr>
            <a:spLocks noGrp="1"/>
          </p:cNvSpPr>
          <p:nvPr>
            <p:ph idx="1"/>
          </p:nvPr>
        </p:nvSpPr>
        <p:spPr>
          <a:xfrm>
            <a:off x="1704001" y="847249"/>
            <a:ext cx="4390628" cy="521424"/>
          </a:xfrm>
        </p:spPr>
        <p:txBody>
          <a:bodyPr>
            <a:noAutofit/>
          </a:bodyPr>
          <a:lstStyle/>
          <a:p>
            <a:pPr marL="36541" indent="0">
              <a:buNone/>
            </a:pPr>
            <a:r>
              <a:rPr lang="en-GB" sz="1600" dirty="0">
                <a:solidFill>
                  <a:srgbClr val="FF0000"/>
                </a:solidFill>
              </a:rPr>
              <a:t>Electricity is mainly produced by rotating machines, generating alternative voltage.</a:t>
            </a:r>
          </a:p>
          <a:p>
            <a:pPr marL="36541" indent="0">
              <a:buNone/>
            </a:pPr>
            <a:endParaRPr lang="en-GB" sz="1600" dirty="0"/>
          </a:p>
        </p:txBody>
      </p:sp>
      <p:sp>
        <p:nvSpPr>
          <p:cNvPr id="8" name="Slide Number Placeholder 5"/>
          <p:cNvSpPr>
            <a:spLocks noGrp="1"/>
          </p:cNvSpPr>
          <p:nvPr>
            <p:ph type="sldNum" sz="quarter" idx="4294967295"/>
          </p:nvPr>
        </p:nvSpPr>
        <p:spPr>
          <a:xfrm>
            <a:off x="9709376" y="6356360"/>
            <a:ext cx="501424" cy="365125"/>
          </a:xfrm>
        </p:spPr>
        <p:txBody>
          <a:bodyPr/>
          <a:lstStyle/>
          <a:p>
            <a:fld id="{17918391-D411-FE40-AAD7-861AE5233E0E}" type="slidenum">
              <a:rPr lang="en-US" smtClean="0"/>
              <a:pPr/>
              <a:t>3</a:t>
            </a:fld>
            <a:endParaRPr lang="en-US" dirty="0"/>
          </a:p>
        </p:txBody>
      </p:sp>
      <p:grpSp>
        <p:nvGrpSpPr>
          <p:cNvPr id="13" name="Group 12"/>
          <p:cNvGrpSpPr/>
          <p:nvPr/>
        </p:nvGrpSpPr>
        <p:grpSpPr>
          <a:xfrm>
            <a:off x="1704000" y="1603053"/>
            <a:ext cx="4166448" cy="1531427"/>
            <a:chOff x="180000" y="1603052"/>
            <a:chExt cx="4166448" cy="1531427"/>
          </a:xfrm>
        </p:grpSpPr>
        <p:pic>
          <p:nvPicPr>
            <p:cNvPr id="6" name="Picture 4" descr="https://upload.wikimedia.org/wikipedia/commons/thumb/4/41/Electricity_grid_simple-_North_America.svg/1401px-Electricity_grid_simple-_North_America.svg.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0000" y="1603052"/>
              <a:ext cx="4133967" cy="1531427"/>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p:cNvSpPr/>
            <p:nvPr/>
          </p:nvSpPr>
          <p:spPr>
            <a:xfrm>
              <a:off x="1170432" y="2036064"/>
              <a:ext cx="1219200" cy="10363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700" dirty="0">
                  <a:solidFill>
                    <a:schemeClr val="tx2">
                      <a:lumMod val="75000"/>
                    </a:schemeClr>
                  </a:solidFill>
                </a:rPr>
                <a:t>400kV, 225kV, 90kV</a:t>
              </a:r>
            </a:p>
          </p:txBody>
        </p:sp>
        <p:sp>
          <p:nvSpPr>
            <p:cNvPr id="15" name="Rectangle 14"/>
            <p:cNvSpPr/>
            <p:nvPr/>
          </p:nvSpPr>
          <p:spPr>
            <a:xfrm>
              <a:off x="1237488" y="2855546"/>
              <a:ext cx="1219200" cy="10363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800" dirty="0">
                <a:solidFill>
                  <a:schemeClr val="tx2">
                    <a:lumMod val="75000"/>
                  </a:schemeClr>
                </a:solidFill>
              </a:endParaRPr>
            </a:p>
          </p:txBody>
        </p:sp>
        <p:sp>
          <p:nvSpPr>
            <p:cNvPr id="16" name="Rectangle 15"/>
            <p:cNvSpPr/>
            <p:nvPr/>
          </p:nvSpPr>
          <p:spPr>
            <a:xfrm>
              <a:off x="3532678" y="1914144"/>
              <a:ext cx="795482" cy="10363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n-US" sz="800" dirty="0">
                  <a:solidFill>
                    <a:schemeClr val="accent6"/>
                  </a:solidFill>
                </a:rPr>
                <a:t>63kV, 20kV</a:t>
              </a:r>
            </a:p>
          </p:txBody>
        </p:sp>
        <p:sp>
          <p:nvSpPr>
            <p:cNvPr id="17" name="Rectangle 16"/>
            <p:cNvSpPr/>
            <p:nvPr/>
          </p:nvSpPr>
          <p:spPr>
            <a:xfrm>
              <a:off x="3550966" y="2387053"/>
              <a:ext cx="795482" cy="10363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n-US" sz="800" dirty="0">
                  <a:solidFill>
                    <a:schemeClr val="accent6"/>
                  </a:solidFill>
                </a:rPr>
                <a:t>20kV, 6kV</a:t>
              </a:r>
            </a:p>
          </p:txBody>
        </p:sp>
        <p:sp>
          <p:nvSpPr>
            <p:cNvPr id="18" name="Rectangle 17"/>
            <p:cNvSpPr/>
            <p:nvPr/>
          </p:nvSpPr>
          <p:spPr>
            <a:xfrm>
              <a:off x="3520486" y="2843354"/>
              <a:ext cx="795482" cy="10363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n-US" sz="800" dirty="0">
                  <a:solidFill>
                    <a:schemeClr val="accent6"/>
                  </a:solidFill>
                </a:rPr>
                <a:t>400V</a:t>
              </a:r>
            </a:p>
          </p:txBody>
        </p:sp>
      </p:grpSp>
      <p:pic>
        <p:nvPicPr>
          <p:cNvPr id="10" name="Picture 6" descr="Image result for ac power symbol"/>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722810" y="3534966"/>
            <a:ext cx="1006966" cy="657885"/>
          </a:xfrm>
          <a:prstGeom prst="rect">
            <a:avLst/>
          </a:prstGeom>
          <a:noFill/>
          <a:extLst>
            <a:ext uri="{909E8E84-426E-40DD-AFC4-6F175D3DCCD1}">
              <a14:hiddenFill xmlns:a14="http://schemas.microsoft.com/office/drawing/2010/main">
                <a:solidFill>
                  <a:srgbClr val="FFFFFF"/>
                </a:solidFill>
              </a14:hiddenFill>
            </a:ext>
          </a:extLst>
        </p:spPr>
      </p:pic>
      <p:sp>
        <p:nvSpPr>
          <p:cNvPr id="20" name="Content Placeholder 2"/>
          <p:cNvSpPr txBox="1">
            <a:spLocks/>
          </p:cNvSpPr>
          <p:nvPr/>
        </p:nvSpPr>
        <p:spPr>
          <a:xfrm>
            <a:off x="1856401" y="3511852"/>
            <a:ext cx="8901855" cy="521424"/>
          </a:xfrm>
          <a:prstGeom prst="rect">
            <a:avLst/>
          </a:prstGeom>
        </p:spPr>
        <p:txBody>
          <a:bodyPr vert="horz" lIns="91353" tIns="45676" rIns="91353" bIns="45676">
            <a:noAutofit/>
          </a:bodyPr>
          <a:lstStyle>
            <a:lvl1pPr marL="493308" indent="-456767" algn="l" rtl="0" eaLnBrk="1" latinLnBrk="0" hangingPunct="1">
              <a:spcBef>
                <a:spcPct val="20000"/>
              </a:spcBef>
              <a:buClr>
                <a:schemeClr val="accent1"/>
              </a:buClr>
              <a:buSzPct val="80000"/>
              <a:buFont typeface="Arial"/>
              <a:buChar char="•"/>
              <a:defRPr kumimoji="0" sz="3000" kern="1200">
                <a:solidFill>
                  <a:schemeClr val="tx1"/>
                </a:solidFill>
                <a:latin typeface="+mn-lt"/>
                <a:ea typeface="+mn-ea"/>
                <a:cs typeface="+mn-cs"/>
              </a:defRPr>
            </a:lvl1pPr>
            <a:lvl2pPr marL="904397" indent="-456767" algn="l" rtl="0" eaLnBrk="1" latinLnBrk="0" hangingPunct="1">
              <a:spcBef>
                <a:spcPct val="20000"/>
              </a:spcBef>
              <a:buClr>
                <a:schemeClr val="accent1"/>
              </a:buClr>
              <a:buSzPct val="90000"/>
              <a:buFont typeface="Arial"/>
              <a:buChar char="•"/>
              <a:defRPr kumimoji="0" sz="2600" kern="1200">
                <a:solidFill>
                  <a:schemeClr val="tx1"/>
                </a:solidFill>
                <a:latin typeface="+mn-lt"/>
                <a:ea typeface="+mn-ea"/>
                <a:cs typeface="+mn-cs"/>
              </a:defRPr>
            </a:lvl2pPr>
            <a:lvl3pPr marL="1091671" indent="-342576" algn="l" rtl="0" eaLnBrk="1" latinLnBrk="0" hangingPunct="1">
              <a:spcBef>
                <a:spcPct val="20000"/>
              </a:spcBef>
              <a:buClr>
                <a:schemeClr val="accent2"/>
              </a:buClr>
              <a:buSzPct val="85000"/>
              <a:buFont typeface="Arial"/>
              <a:buChar char="•"/>
              <a:defRPr kumimoji="0" sz="2400" kern="1200">
                <a:solidFill>
                  <a:schemeClr val="tx1"/>
                </a:solidFill>
                <a:latin typeface="+mn-lt"/>
                <a:ea typeface="+mn-ea"/>
                <a:cs typeface="+mn-cs"/>
              </a:defRPr>
            </a:lvl3pPr>
            <a:lvl4pPr marL="1384000" indent="-342576" algn="l" rtl="0" eaLnBrk="1" latinLnBrk="0" hangingPunct="1">
              <a:spcBef>
                <a:spcPct val="20000"/>
              </a:spcBef>
              <a:buClr>
                <a:schemeClr val="accent3"/>
              </a:buClr>
              <a:buSzPct val="90000"/>
              <a:buFont typeface="Arial"/>
              <a:buChar char="•"/>
              <a:defRPr kumimoji="0" sz="2000" kern="1200">
                <a:solidFill>
                  <a:schemeClr val="tx1"/>
                </a:solidFill>
                <a:latin typeface="+mn-lt"/>
                <a:ea typeface="+mn-ea"/>
                <a:cs typeface="+mn-cs"/>
              </a:defRPr>
            </a:lvl4pPr>
            <a:lvl5pPr marL="1648925" indent="-342576" algn="l" rtl="0" eaLnBrk="1" latinLnBrk="0" hangingPunct="1">
              <a:spcBef>
                <a:spcPct val="20000"/>
              </a:spcBef>
              <a:buClr>
                <a:schemeClr val="accent4"/>
              </a:buClr>
              <a:buSzPct val="100000"/>
              <a:buFont typeface="Arial"/>
              <a:buChar char="•"/>
              <a:defRPr kumimoji="0" sz="2000" kern="1200">
                <a:solidFill>
                  <a:schemeClr val="tx1"/>
                </a:solidFill>
                <a:latin typeface="+mn-lt"/>
                <a:ea typeface="+mn-ea"/>
                <a:cs typeface="+mn-cs"/>
              </a:defRPr>
            </a:lvl5pPr>
            <a:lvl6pPr marL="1699169" indent="-182706" algn="l" rtl="0" eaLnBrk="1" latinLnBrk="0" hangingPunct="1">
              <a:spcBef>
                <a:spcPct val="20000"/>
              </a:spcBef>
              <a:buClr>
                <a:schemeClr val="accent5"/>
              </a:buClr>
              <a:buFont typeface="Arial"/>
              <a:buChar char="-"/>
              <a:defRPr kumimoji="0" sz="2000" kern="1200" baseline="0">
                <a:solidFill>
                  <a:schemeClr val="tx1"/>
                </a:solidFill>
                <a:latin typeface="+mn-lt"/>
                <a:ea typeface="+mn-ea"/>
                <a:cs typeface="+mn-cs"/>
              </a:defRPr>
            </a:lvl6pPr>
            <a:lvl7pPr marL="1918413" indent="-182706" algn="l" rtl="0" eaLnBrk="1" latinLnBrk="0" hangingPunct="1">
              <a:spcBef>
                <a:spcPct val="20000"/>
              </a:spcBef>
              <a:buClr>
                <a:schemeClr val="accent6"/>
              </a:buClr>
              <a:buSzPct val="100000"/>
              <a:buFont typeface="Arial"/>
              <a:buChar char="•"/>
              <a:defRPr kumimoji="0" sz="1800" kern="1200" baseline="0">
                <a:solidFill>
                  <a:schemeClr val="tx1"/>
                </a:solidFill>
                <a:latin typeface="+mn-lt"/>
                <a:ea typeface="+mn-ea"/>
                <a:cs typeface="+mn-cs"/>
              </a:defRPr>
            </a:lvl7pPr>
            <a:lvl8pPr marL="2137665" indent="-182706"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8pPr>
            <a:lvl9pPr marL="2329506" indent="-182706"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9pPr>
          </a:lstStyle>
          <a:p>
            <a:pPr marL="36541" indent="0">
              <a:buNone/>
            </a:pPr>
            <a:r>
              <a:rPr lang="en-GB" sz="1600" dirty="0"/>
              <a:t>Alternative voltage				DC current</a:t>
            </a:r>
          </a:p>
          <a:p>
            <a:pPr marL="36541" indent="0">
              <a:buNone/>
            </a:pPr>
            <a:endParaRPr lang="en-GB" sz="1600" dirty="0"/>
          </a:p>
        </p:txBody>
      </p:sp>
      <p:pic>
        <p:nvPicPr>
          <p:cNvPr id="23560" name="Picture 8" descr="Image result for dc power symbol"/>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200055" y="3656531"/>
            <a:ext cx="1008000" cy="403200"/>
          </a:xfrm>
          <a:prstGeom prst="rect">
            <a:avLst/>
          </a:prstGeom>
          <a:noFill/>
          <a:extLst>
            <a:ext uri="{909E8E84-426E-40DD-AFC4-6F175D3DCCD1}">
              <a14:hiddenFill xmlns:a14="http://schemas.microsoft.com/office/drawing/2010/main">
                <a:solidFill>
                  <a:srgbClr val="FFFFFF"/>
                </a:solidFill>
              </a14:hiddenFill>
            </a:ext>
          </a:extLst>
        </p:spPr>
      </p:pic>
      <p:pic>
        <p:nvPicPr>
          <p:cNvPr id="23562" name="Picture 10" descr="http://home.cern/sites/home.web.cern.ch/files/image/inline-images/stpandol/magnet.png"/>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7459727" y="1618085"/>
            <a:ext cx="2520000" cy="1641569"/>
          </a:xfrm>
          <a:prstGeom prst="rect">
            <a:avLst/>
          </a:prstGeom>
          <a:noFill/>
          <a:extLst>
            <a:ext uri="{909E8E84-426E-40DD-AFC4-6F175D3DCCD1}">
              <a14:hiddenFill xmlns:a14="http://schemas.microsoft.com/office/drawing/2010/main">
                <a:solidFill>
                  <a:srgbClr val="FFFFFF"/>
                </a:solidFill>
              </a14:hiddenFill>
            </a:ext>
          </a:extLst>
        </p:spPr>
      </p:pic>
      <p:pic>
        <p:nvPicPr>
          <p:cNvPr id="23566" name="Picture 14" descr="http://vignette3.wikia.nocookie.net/math/images/9/9c/An_AC_Generator.gif/revision/latest?cb=20120127200258&amp;path-prefix=ro"/>
          <p:cNvPicPr>
            <a:picLocks noChangeAspect="1" noChangeArrowheads="1" noCrop="1"/>
          </p:cNvPicPr>
          <p:nvPr/>
        </p:nvPicPr>
        <p:blipFill>
          <a:blip r:embed="rId7">
            <a:extLst>
              <a:ext uri="{28A0092B-C50C-407E-A947-70E740481C1C}">
                <a14:useLocalDpi xmlns:a14="http://schemas.microsoft.com/office/drawing/2010/main" val="0"/>
              </a:ext>
            </a:extLst>
          </a:blip>
          <a:srcRect/>
          <a:stretch>
            <a:fillRect/>
          </a:stretch>
        </p:blipFill>
        <p:spPr bwMode="auto">
          <a:xfrm>
            <a:off x="1647731" y="4451887"/>
            <a:ext cx="1415539" cy="1415539"/>
          </a:xfrm>
          <a:prstGeom prst="rect">
            <a:avLst/>
          </a:prstGeom>
          <a:noFill/>
          <a:extLst>
            <a:ext uri="{909E8E84-426E-40DD-AFC4-6F175D3DCCD1}">
              <a14:hiddenFill xmlns:a14="http://schemas.microsoft.com/office/drawing/2010/main">
                <a:solidFill>
                  <a:srgbClr val="FFFFFF"/>
                </a:solidFill>
              </a14:hiddenFill>
            </a:ext>
          </a:extLst>
        </p:spPr>
      </p:pic>
      <p:pic>
        <p:nvPicPr>
          <p:cNvPr id="23568" name="Picture 16" descr="http://www.bbc.co.uk/staticarchive/b082b6813028bc1456cdf4619c72d1740c8b55e1.gif"/>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273255" y="4517214"/>
            <a:ext cx="2753120" cy="1548000"/>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13"/>
          <p:cNvSpPr/>
          <p:nvPr/>
        </p:nvSpPr>
        <p:spPr>
          <a:xfrm>
            <a:off x="1594655" y="5867120"/>
            <a:ext cx="4572000" cy="430887"/>
          </a:xfrm>
          <a:prstGeom prst="rect">
            <a:avLst/>
          </a:prstGeom>
        </p:spPr>
        <p:txBody>
          <a:bodyPr>
            <a:spAutoFit/>
          </a:bodyPr>
          <a:lstStyle/>
          <a:p>
            <a:r>
              <a:rPr lang="en-US" sz="1050" dirty="0">
                <a:hlinkClick r:id="rId9"/>
              </a:rPr>
              <a:t>http://content.tutorvista.com/physics_12/content/media/ac_gen.swf</a:t>
            </a:r>
            <a:endParaRPr lang="en-US" sz="1050" dirty="0"/>
          </a:p>
          <a:p>
            <a:endParaRPr lang="en-US" sz="1050" dirty="0"/>
          </a:p>
        </p:txBody>
      </p:sp>
      <p:pic>
        <p:nvPicPr>
          <p:cNvPr id="23570" name="Picture 18" descr="http://www.ibiblio.org/kuphaldt/socratic/output/animation_switch_circuit_slow.gif"/>
          <p:cNvPicPr>
            <a:picLocks noChangeAspect="1" noChangeArrowheads="1" noCrop="1"/>
          </p:cNvPicPr>
          <p:nvPr/>
        </p:nvPicPr>
        <p:blipFill>
          <a:blip r:embed="rId10">
            <a:extLst>
              <a:ext uri="{28A0092B-C50C-407E-A947-70E740481C1C}">
                <a14:useLocalDpi xmlns:a14="http://schemas.microsoft.com/office/drawing/2010/main" val="0"/>
              </a:ext>
            </a:extLst>
          </a:blip>
          <a:srcRect/>
          <a:stretch>
            <a:fillRect/>
          </a:stretch>
        </p:blipFill>
        <p:spPr bwMode="auto">
          <a:xfrm>
            <a:off x="6307327" y="4544224"/>
            <a:ext cx="1884784" cy="1539824"/>
          </a:xfrm>
          <a:prstGeom prst="rect">
            <a:avLst/>
          </a:prstGeom>
          <a:noFill/>
          <a:extLst>
            <a:ext uri="{909E8E84-426E-40DD-AFC4-6F175D3DCCD1}">
              <a14:hiddenFill xmlns:a14="http://schemas.microsoft.com/office/drawing/2010/main">
                <a:solidFill>
                  <a:srgbClr val="FFFFFF"/>
                </a:solidFill>
              </a14:hiddenFill>
            </a:ext>
          </a:extLst>
        </p:spPr>
      </p:pic>
      <p:pic>
        <p:nvPicPr>
          <p:cNvPr id="23572" name="Picture 20" descr="http://images.tutorvista.com/content/electricity/ac-dc-voltage-time-graph.gif"/>
          <p:cNvPicPr>
            <a:picLocks noChangeAspect="1" noChangeArrowheads="1"/>
          </p:cNvPicPr>
          <p:nvPr/>
        </p:nvPicPr>
        <p:blipFill rotWithShape="1">
          <a:blip r:embed="rId11">
            <a:extLst>
              <a:ext uri="{28A0092B-C50C-407E-A947-70E740481C1C}">
                <a14:useLocalDpi xmlns:a14="http://schemas.microsoft.com/office/drawing/2010/main" val="0"/>
              </a:ext>
            </a:extLst>
          </a:blip>
          <a:srcRect r="48368" b="16562"/>
          <a:stretch/>
        </p:blipFill>
        <p:spPr bwMode="auto">
          <a:xfrm>
            <a:off x="8719727" y="4734311"/>
            <a:ext cx="1722968" cy="1231538"/>
          </a:xfrm>
          <a:prstGeom prst="rect">
            <a:avLst/>
          </a:prstGeom>
          <a:noFill/>
          <a:extLst>
            <a:ext uri="{909E8E84-426E-40DD-AFC4-6F175D3DCCD1}">
              <a14:hiddenFill xmlns:a14="http://schemas.microsoft.com/office/drawing/2010/main">
                <a:solidFill>
                  <a:srgbClr val="FFFFFF"/>
                </a:solidFill>
              </a14:hiddenFill>
            </a:ext>
          </a:extLst>
        </p:spPr>
      </p:pic>
      <p:cxnSp>
        <p:nvCxnSpPr>
          <p:cNvPr id="21" name="Straight Connector 20"/>
          <p:cNvCxnSpPr/>
          <p:nvPr/>
        </p:nvCxnSpPr>
        <p:spPr>
          <a:xfrm>
            <a:off x="6094628" y="1521070"/>
            <a:ext cx="1372" cy="4562979"/>
          </a:xfrm>
          <a:prstGeom prst="line">
            <a:avLst/>
          </a:prstGeom>
          <a:ln w="57150">
            <a:solidFill>
              <a:srgbClr val="FFC000"/>
            </a:solidFill>
          </a:ln>
          <a:effectLst/>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6307328" y="847249"/>
            <a:ext cx="4289957" cy="338554"/>
          </a:xfrm>
          <a:prstGeom prst="rect">
            <a:avLst/>
          </a:prstGeom>
          <a:noFill/>
        </p:spPr>
        <p:txBody>
          <a:bodyPr wrap="none" rtlCol="0">
            <a:spAutoFit/>
          </a:bodyPr>
          <a:lstStyle/>
          <a:p>
            <a:r>
              <a:rPr lang="en-US" sz="1600" dirty="0">
                <a:solidFill>
                  <a:schemeClr val="tx2">
                    <a:lumMod val="60000"/>
                    <a:lumOff val="40000"/>
                  </a:schemeClr>
                </a:solidFill>
              </a:rPr>
              <a:t>The accelerator magnets need a DC current.</a:t>
            </a:r>
          </a:p>
        </p:txBody>
      </p:sp>
    </p:spTree>
    <p:extLst>
      <p:ext uri="{BB962C8B-B14F-4D97-AF65-F5344CB8AC3E}">
        <p14:creationId xmlns:p14="http://schemas.microsoft.com/office/powerpoint/2010/main" val="9371513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1" y="20430"/>
            <a:ext cx="8226854" cy="940443"/>
          </a:xfrm>
        </p:spPr>
        <p:txBody>
          <a:bodyPr>
            <a:normAutofit/>
          </a:bodyPr>
          <a:lstStyle/>
          <a:p>
            <a:pPr algn="ctr"/>
            <a:r>
              <a:rPr lang="en-US" sz="3200" dirty="0">
                <a:latin typeface="+mn-lt"/>
              </a:rPr>
              <a:t>Power supply functions</a:t>
            </a:r>
          </a:p>
        </p:txBody>
      </p:sp>
      <p:sp>
        <p:nvSpPr>
          <p:cNvPr id="3" name="Content Placeholder 2"/>
          <p:cNvSpPr>
            <a:spLocks noGrp="1"/>
          </p:cNvSpPr>
          <p:nvPr>
            <p:ph idx="1"/>
          </p:nvPr>
        </p:nvSpPr>
        <p:spPr>
          <a:xfrm>
            <a:off x="1704001" y="900001"/>
            <a:ext cx="8901855" cy="521424"/>
          </a:xfrm>
        </p:spPr>
        <p:txBody>
          <a:bodyPr>
            <a:noAutofit/>
          </a:bodyPr>
          <a:lstStyle/>
          <a:p>
            <a:pPr marL="36541" indent="0">
              <a:buNone/>
            </a:pPr>
            <a:r>
              <a:rPr lang="en-GB" sz="1600" dirty="0"/>
              <a:t>The tasks of a power supply are to </a:t>
            </a:r>
            <a:r>
              <a:rPr lang="en-GB" sz="1600" dirty="0">
                <a:solidFill>
                  <a:srgbClr val="FF0000"/>
                </a:solidFill>
              </a:rPr>
              <a:t>process and control the flow of electric energy </a:t>
            </a:r>
            <a:r>
              <a:rPr lang="en-GB" sz="1600" dirty="0"/>
              <a:t>by supplying voltage and current in a form that is optimally suited for user loads.</a:t>
            </a:r>
          </a:p>
        </p:txBody>
      </p:sp>
      <p:sp>
        <p:nvSpPr>
          <p:cNvPr id="8" name="Slide Number Placeholder 5"/>
          <p:cNvSpPr>
            <a:spLocks noGrp="1"/>
          </p:cNvSpPr>
          <p:nvPr>
            <p:ph type="sldNum" sz="quarter" idx="4294967295"/>
          </p:nvPr>
        </p:nvSpPr>
        <p:spPr>
          <a:xfrm>
            <a:off x="9709376" y="6356360"/>
            <a:ext cx="501424" cy="365125"/>
          </a:xfrm>
        </p:spPr>
        <p:txBody>
          <a:bodyPr/>
          <a:lstStyle/>
          <a:p>
            <a:fld id="{17918391-D411-FE40-AAD7-861AE5233E0E}" type="slidenum">
              <a:rPr lang="en-US" smtClean="0"/>
              <a:pPr/>
              <a:t>4</a:t>
            </a:fld>
            <a:endParaRPr lang="en-US" dirty="0"/>
          </a:p>
        </p:txBody>
      </p:sp>
      <p:pic>
        <p:nvPicPr>
          <p:cNvPr id="23" name="Picture 22"/>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392391" y="1958098"/>
            <a:ext cx="3404474" cy="2055451"/>
          </a:xfrm>
          <a:prstGeom prst="rect">
            <a:avLst/>
          </a:prstGeom>
        </p:spPr>
      </p:pic>
      <p:pic>
        <p:nvPicPr>
          <p:cNvPr id="24" name="Picture 10" descr="http://home.cern/sites/home.web.cern.ch/files/image/inline-images/stpandol/magnet.png"/>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7690800" y="4328409"/>
            <a:ext cx="2520000" cy="1641569"/>
          </a:xfrm>
          <a:prstGeom prst="rect">
            <a:avLst/>
          </a:prstGeom>
          <a:noFill/>
          <a:extLst>
            <a:ext uri="{909E8E84-426E-40DD-AFC4-6F175D3DCCD1}">
              <a14:hiddenFill xmlns:a14="http://schemas.microsoft.com/office/drawing/2010/main">
                <a:solidFill>
                  <a:srgbClr val="FFFFFF"/>
                </a:solidFill>
              </a14:hiddenFill>
            </a:ext>
          </a:extLst>
        </p:spPr>
      </p:pic>
      <p:pic>
        <p:nvPicPr>
          <p:cNvPr id="26630" name="Picture 6" descr="Image result for eolien"/>
          <p:cNvPicPr>
            <a:picLocks noChangeAspect="1" noChangeArrowheads="1"/>
          </p:cNvPicPr>
          <p:nvPr/>
        </p:nvPicPr>
        <p:blipFill>
          <a:blip r:embed="rId5" cstate="print">
            <a:extLst>
              <a:ext uri="{28A0092B-C50C-407E-A947-70E740481C1C}">
                <a14:useLocalDpi xmlns:a14="http://schemas.microsoft.com/office/drawing/2010/main"/>
              </a:ext>
            </a:extLst>
          </a:blip>
          <a:srcRect/>
          <a:stretch>
            <a:fillRect/>
          </a:stretch>
        </p:blipFill>
        <p:spPr bwMode="auto">
          <a:xfrm>
            <a:off x="1767919" y="4309739"/>
            <a:ext cx="2520000" cy="1678907"/>
          </a:xfrm>
          <a:prstGeom prst="rect">
            <a:avLst/>
          </a:prstGeom>
          <a:noFill/>
          <a:extLst>
            <a:ext uri="{909E8E84-426E-40DD-AFC4-6F175D3DCCD1}">
              <a14:hiddenFill xmlns:a14="http://schemas.microsoft.com/office/drawing/2010/main">
                <a:solidFill>
                  <a:srgbClr val="FFFFFF"/>
                </a:solidFill>
              </a14:hiddenFill>
            </a:ext>
          </a:extLst>
        </p:spPr>
      </p:pic>
      <p:sp>
        <p:nvSpPr>
          <p:cNvPr id="19" name="Bent Arrow 18"/>
          <p:cNvSpPr/>
          <p:nvPr/>
        </p:nvSpPr>
        <p:spPr>
          <a:xfrm>
            <a:off x="2878819" y="2584544"/>
            <a:ext cx="1019908" cy="1310054"/>
          </a:xfrm>
          <a:prstGeom prst="bentArrow">
            <a:avLst/>
          </a:prstGeom>
          <a:solidFill>
            <a:srgbClr val="00B0F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p:sp>
        <p:nvSpPr>
          <p:cNvPr id="31" name="Bent Arrow 30"/>
          <p:cNvSpPr/>
          <p:nvPr/>
        </p:nvSpPr>
        <p:spPr>
          <a:xfrm rot="5400000">
            <a:off x="8159448" y="2496043"/>
            <a:ext cx="1019908" cy="1310054"/>
          </a:xfrm>
          <a:prstGeom prst="bentArrow">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p:sp>
        <p:nvSpPr>
          <p:cNvPr id="22" name="Right Arrow 21"/>
          <p:cNvSpPr/>
          <p:nvPr/>
        </p:nvSpPr>
        <p:spPr>
          <a:xfrm rot="16200000">
            <a:off x="5628170" y="4215001"/>
            <a:ext cx="902269" cy="455425"/>
          </a:xfrm>
          <a:prstGeom prst="rightArrow">
            <a:avLst/>
          </a:prstGeom>
          <a:solidFill>
            <a:srgbClr val="FFC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 name="TextBox 24"/>
          <p:cNvSpPr txBox="1"/>
          <p:nvPr/>
        </p:nvSpPr>
        <p:spPr>
          <a:xfrm>
            <a:off x="5069949" y="4985689"/>
            <a:ext cx="2018501" cy="369332"/>
          </a:xfrm>
          <a:prstGeom prst="rect">
            <a:avLst/>
          </a:prstGeom>
          <a:noFill/>
        </p:spPr>
        <p:txBody>
          <a:bodyPr wrap="none" rtlCol="0">
            <a:spAutoFit/>
          </a:bodyPr>
          <a:lstStyle/>
          <a:p>
            <a:r>
              <a:rPr lang="en-US" dirty="0"/>
              <a:t>Control from CCC</a:t>
            </a:r>
          </a:p>
        </p:txBody>
      </p:sp>
      <p:sp>
        <p:nvSpPr>
          <p:cNvPr id="34" name="TextBox 33"/>
          <p:cNvSpPr txBox="1"/>
          <p:nvPr/>
        </p:nvSpPr>
        <p:spPr>
          <a:xfrm>
            <a:off x="2191793" y="3894598"/>
            <a:ext cx="1672253" cy="369332"/>
          </a:xfrm>
          <a:prstGeom prst="rect">
            <a:avLst/>
          </a:prstGeom>
          <a:noFill/>
        </p:spPr>
        <p:txBody>
          <a:bodyPr wrap="none" rtlCol="0">
            <a:spAutoFit/>
          </a:bodyPr>
          <a:lstStyle/>
          <a:p>
            <a:r>
              <a:rPr lang="en-US" dirty="0"/>
              <a:t>Energy source</a:t>
            </a:r>
          </a:p>
        </p:txBody>
      </p:sp>
      <p:sp>
        <p:nvSpPr>
          <p:cNvPr id="35" name="TextBox 34"/>
          <p:cNvSpPr txBox="1"/>
          <p:nvPr/>
        </p:nvSpPr>
        <p:spPr>
          <a:xfrm>
            <a:off x="8290529" y="3834405"/>
            <a:ext cx="1353256" cy="369332"/>
          </a:xfrm>
          <a:prstGeom prst="rect">
            <a:avLst/>
          </a:prstGeom>
          <a:noFill/>
        </p:spPr>
        <p:txBody>
          <a:bodyPr wrap="none" rtlCol="0">
            <a:spAutoFit/>
          </a:bodyPr>
          <a:lstStyle/>
          <a:p>
            <a:r>
              <a:rPr lang="en-US" dirty="0"/>
              <a:t>Application</a:t>
            </a:r>
          </a:p>
        </p:txBody>
      </p:sp>
      <p:pic>
        <p:nvPicPr>
          <p:cNvPr id="5" name="Picture 4"/>
          <p:cNvPicPr>
            <a:picLocks noChangeAspect="1"/>
          </p:cNvPicPr>
          <p:nvPr/>
        </p:nvPicPr>
        <p:blipFill>
          <a:blip r:embed="rId6"/>
          <a:stretch>
            <a:fillRect/>
          </a:stretch>
        </p:blipFill>
        <p:spPr>
          <a:xfrm>
            <a:off x="199907" y="1491178"/>
            <a:ext cx="1868908" cy="1412562"/>
          </a:xfrm>
          <a:prstGeom prst="rect">
            <a:avLst/>
          </a:prstGeom>
        </p:spPr>
      </p:pic>
    </p:spTree>
    <p:extLst>
      <p:ext uri="{BB962C8B-B14F-4D97-AF65-F5344CB8AC3E}">
        <p14:creationId xmlns:p14="http://schemas.microsoft.com/office/powerpoint/2010/main" val="83023338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Number Placeholder 4"/>
          <p:cNvSpPr>
            <a:spLocks noGrp="1"/>
          </p:cNvSpPr>
          <p:nvPr>
            <p:ph type="sldNum" sz="quarter" idx="11"/>
          </p:nvPr>
        </p:nvSpPr>
        <p:spPr>
          <a:noFill/>
          <a:ln>
            <a:miter lim="800000"/>
            <a:headEnd/>
            <a:tailEnd/>
          </a:ln>
        </p:spPr>
        <p:txBody>
          <a:bodyPr/>
          <a:lstStyle/>
          <a:p>
            <a:fld id="{92F3E769-37A9-4317-A0F8-391FBBA7BA16}" type="slidenum">
              <a:rPr lang="en-US" smtClean="0">
                <a:latin typeface="Arial" charset="0"/>
              </a:rPr>
              <a:pPr/>
              <a:t>5</a:t>
            </a:fld>
            <a:endParaRPr lang="en-US" smtClean="0">
              <a:latin typeface="Arial" charset="0"/>
            </a:endParaRPr>
          </a:p>
        </p:txBody>
      </p:sp>
      <p:sp>
        <p:nvSpPr>
          <p:cNvPr id="9219" name="Rectangle 2"/>
          <p:cNvSpPr>
            <a:spLocks noGrp="1" noChangeArrowheads="1"/>
          </p:cNvSpPr>
          <p:nvPr>
            <p:ph type="title"/>
          </p:nvPr>
        </p:nvSpPr>
        <p:spPr bwMode="auto">
          <a:xfrm>
            <a:off x="2209800" y="609600"/>
            <a:ext cx="8001000" cy="1752600"/>
          </a:xfrm>
          <a:noFill/>
          <a:ln>
            <a:miter lim="800000"/>
            <a:headEnd/>
            <a:tailEnd/>
          </a:ln>
        </p:spPr>
        <p:txBody>
          <a:bodyPr vert="horz" wrap="square" lIns="91440" tIns="45720" rIns="91440" bIns="45720" numCol="1" rtlCol="0" anchor="t" anchorCtr="0" compatLnSpc="1">
            <a:prstTxWarp prst="textNoShape">
              <a:avLst/>
            </a:prstTxWarp>
            <a:normAutofit/>
          </a:bodyPr>
          <a:lstStyle/>
          <a:p>
            <a:pPr eaLnBrk="1" hangingPunct="1"/>
            <a:r>
              <a:rPr lang="en-US" sz="3200" smtClean="0">
                <a:solidFill>
                  <a:srgbClr val="FF0000"/>
                </a:solidFill>
              </a:rPr>
              <a:t>                       Converters</a:t>
            </a:r>
            <a:r>
              <a:rPr lang="en-US" sz="3200" dirty="0"/>
              <a:t/>
            </a:r>
            <a:br>
              <a:rPr lang="en-US" sz="3200" dirty="0"/>
            </a:br>
            <a:r>
              <a:rPr lang="en-US" sz="2400" dirty="0">
                <a:solidFill>
                  <a:schemeClr val="tx1"/>
                </a:solidFill>
              </a:rPr>
              <a:t>Electronic power converter is the term that is used to refer to a power electronic circuit that converts voltage and current from one form to another.</a:t>
            </a:r>
          </a:p>
        </p:txBody>
      </p:sp>
      <p:sp>
        <p:nvSpPr>
          <p:cNvPr id="9220" name="Rectangle 3"/>
          <p:cNvSpPr>
            <a:spLocks noGrp="1" noChangeArrowheads="1"/>
          </p:cNvSpPr>
          <p:nvPr>
            <p:ph type="body" idx="1"/>
          </p:nvPr>
        </p:nvSpPr>
        <p:spPr bwMode="auto">
          <a:xfrm>
            <a:off x="2209800" y="2743200"/>
            <a:ext cx="7696200" cy="3352800"/>
          </a:xfrm>
          <a:noFill/>
          <a:ln>
            <a:miter lim="800000"/>
            <a:headEnd/>
            <a:tailEnd/>
          </a:ln>
        </p:spPr>
        <p:txBody>
          <a:bodyPr vert="horz" wrap="square" lIns="91440" tIns="45720" rIns="91440" bIns="45720" numCol="1" rtlCol="0" anchor="t" anchorCtr="0" compatLnSpc="1">
            <a:prstTxWarp prst="textNoShape">
              <a:avLst/>
            </a:prstTxWarp>
            <a:normAutofit/>
          </a:bodyPr>
          <a:lstStyle/>
          <a:p>
            <a:pPr>
              <a:spcBef>
                <a:spcPts val="500"/>
              </a:spcBef>
              <a:spcAft>
                <a:spcPts val="500"/>
              </a:spcAft>
              <a:buFont typeface="Symbol" pitchFamily="18" charset="2"/>
              <a:buChar char="·"/>
            </a:pPr>
            <a:r>
              <a:rPr lang="en-US" sz="2400" dirty="0">
                <a:solidFill>
                  <a:srgbClr val="FF0000"/>
                </a:solidFill>
              </a:rPr>
              <a:t>Rectifier</a:t>
            </a:r>
            <a:r>
              <a:rPr lang="en-US" sz="2400" dirty="0"/>
              <a:t> converting an </a:t>
            </a:r>
            <a:r>
              <a:rPr lang="en-US" sz="2400" dirty="0">
                <a:solidFill>
                  <a:srgbClr val="FF0000"/>
                </a:solidFill>
              </a:rPr>
              <a:t>ac</a:t>
            </a:r>
            <a:r>
              <a:rPr lang="en-US" sz="2400" dirty="0"/>
              <a:t> voltage to a </a:t>
            </a:r>
            <a:r>
              <a:rPr lang="en-US" sz="2400" dirty="0">
                <a:solidFill>
                  <a:srgbClr val="FF0000"/>
                </a:solidFill>
              </a:rPr>
              <a:t>dc </a:t>
            </a:r>
            <a:r>
              <a:rPr lang="en-US" sz="2400" dirty="0"/>
              <a:t>voltage</a:t>
            </a:r>
          </a:p>
          <a:p>
            <a:pPr>
              <a:spcBef>
                <a:spcPts val="500"/>
              </a:spcBef>
              <a:spcAft>
                <a:spcPts val="500"/>
              </a:spcAft>
              <a:buFont typeface="Symbol" pitchFamily="18" charset="2"/>
              <a:buChar char="·"/>
            </a:pPr>
            <a:r>
              <a:rPr lang="en-US" sz="2400" dirty="0">
                <a:solidFill>
                  <a:srgbClr val="FF0000"/>
                </a:solidFill>
              </a:rPr>
              <a:t>Inverter</a:t>
            </a:r>
            <a:r>
              <a:rPr lang="en-US" sz="2400" dirty="0"/>
              <a:t> converting a </a:t>
            </a:r>
            <a:r>
              <a:rPr lang="en-US" sz="2400" dirty="0">
                <a:solidFill>
                  <a:srgbClr val="FF0000"/>
                </a:solidFill>
              </a:rPr>
              <a:t>dc</a:t>
            </a:r>
            <a:r>
              <a:rPr lang="en-US" sz="2400" dirty="0"/>
              <a:t> voltage to an </a:t>
            </a:r>
            <a:r>
              <a:rPr lang="en-US" sz="2400" dirty="0">
                <a:solidFill>
                  <a:srgbClr val="FF0000"/>
                </a:solidFill>
              </a:rPr>
              <a:t>ac </a:t>
            </a:r>
            <a:r>
              <a:rPr lang="en-US" sz="2400" dirty="0"/>
              <a:t>voltage</a:t>
            </a:r>
          </a:p>
          <a:p>
            <a:pPr>
              <a:spcBef>
                <a:spcPts val="500"/>
              </a:spcBef>
              <a:spcAft>
                <a:spcPts val="500"/>
              </a:spcAft>
              <a:buFont typeface="Symbol" pitchFamily="18" charset="2"/>
              <a:buChar char="·"/>
            </a:pPr>
            <a:r>
              <a:rPr lang="en-US" sz="2400" dirty="0">
                <a:solidFill>
                  <a:srgbClr val="FF0000"/>
                </a:solidFill>
              </a:rPr>
              <a:t>Chopper</a:t>
            </a:r>
            <a:r>
              <a:rPr lang="en-US" sz="2400" dirty="0"/>
              <a:t> or a switch-mode power supply that converts a </a:t>
            </a:r>
            <a:r>
              <a:rPr lang="en-US" sz="2400" dirty="0">
                <a:solidFill>
                  <a:srgbClr val="FF0000"/>
                </a:solidFill>
              </a:rPr>
              <a:t>dc </a:t>
            </a:r>
            <a:r>
              <a:rPr lang="en-US" sz="2400" dirty="0"/>
              <a:t>voltage to another </a:t>
            </a:r>
            <a:r>
              <a:rPr lang="en-US" sz="2400" dirty="0">
                <a:solidFill>
                  <a:srgbClr val="FF0000"/>
                </a:solidFill>
              </a:rPr>
              <a:t>dc</a:t>
            </a:r>
            <a:r>
              <a:rPr lang="en-US" sz="2400" dirty="0"/>
              <a:t> voltage</a:t>
            </a:r>
          </a:p>
          <a:p>
            <a:pPr>
              <a:spcBef>
                <a:spcPts val="500"/>
              </a:spcBef>
              <a:spcAft>
                <a:spcPts val="500"/>
              </a:spcAft>
              <a:buFont typeface="Symbol" pitchFamily="18" charset="2"/>
              <a:buChar char="·"/>
            </a:pPr>
            <a:r>
              <a:rPr lang="en-US" sz="2400" dirty="0" err="1">
                <a:solidFill>
                  <a:srgbClr val="FF0000"/>
                </a:solidFill>
              </a:rPr>
              <a:t>Cycloconverter</a:t>
            </a:r>
            <a:r>
              <a:rPr lang="en-US" sz="2400" dirty="0"/>
              <a:t> and </a:t>
            </a:r>
            <a:r>
              <a:rPr lang="en-US" sz="2400" dirty="0" err="1"/>
              <a:t>cycloinverter</a:t>
            </a:r>
            <a:r>
              <a:rPr lang="en-US" sz="2400" dirty="0"/>
              <a:t> converting an </a:t>
            </a:r>
            <a:r>
              <a:rPr lang="en-US" sz="2400" dirty="0">
                <a:solidFill>
                  <a:srgbClr val="FF0000"/>
                </a:solidFill>
              </a:rPr>
              <a:t>ac </a:t>
            </a:r>
            <a:r>
              <a:rPr lang="en-US" sz="2400" dirty="0"/>
              <a:t>voltage to another </a:t>
            </a:r>
            <a:r>
              <a:rPr lang="en-US" sz="2400" dirty="0">
                <a:solidFill>
                  <a:srgbClr val="FF0000"/>
                </a:solidFill>
              </a:rPr>
              <a:t>ac</a:t>
            </a:r>
            <a:r>
              <a:rPr lang="en-US" sz="2400" dirty="0"/>
              <a:t> voltage.</a:t>
            </a:r>
          </a:p>
          <a:p>
            <a:pPr eaLnBrk="1" hangingPunct="1"/>
            <a:endParaRPr lang="en-US" dirty="0" smtClean="0"/>
          </a:p>
        </p:txBody>
      </p:sp>
    </p:spTree>
    <p:extLst>
      <p:ext uri="{BB962C8B-B14F-4D97-AF65-F5344CB8AC3E}">
        <p14:creationId xmlns:p14="http://schemas.microsoft.com/office/powerpoint/2010/main" val="156248648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Number Placeholder 2"/>
          <p:cNvSpPr>
            <a:spLocks noGrp="1"/>
          </p:cNvSpPr>
          <p:nvPr>
            <p:ph type="sldNum" sz="quarter" idx="11"/>
          </p:nvPr>
        </p:nvSpPr>
        <p:spPr>
          <a:noFill/>
          <a:ln>
            <a:miter lim="800000"/>
            <a:headEnd/>
            <a:tailEnd/>
          </a:ln>
        </p:spPr>
        <p:txBody>
          <a:bodyPr/>
          <a:lstStyle/>
          <a:p>
            <a:fld id="{C2DB2ED2-BA21-46CD-9A06-DADAD6E0176D}" type="slidenum">
              <a:rPr lang="en-US" smtClean="0">
                <a:latin typeface="Arial" charset="0"/>
              </a:rPr>
              <a:pPr/>
              <a:t>6</a:t>
            </a:fld>
            <a:endParaRPr lang="en-US" smtClean="0">
              <a:latin typeface="Arial" charset="0"/>
            </a:endParaRPr>
          </a:p>
        </p:txBody>
      </p:sp>
      <p:sp>
        <p:nvSpPr>
          <p:cNvPr id="24579" name="Rectangle 2"/>
          <p:cNvSpPr>
            <a:spLocks noGrp="1" noChangeArrowheads="1"/>
          </p:cNvSpPr>
          <p:nvPr>
            <p:ph type="title" idx="4294967295"/>
          </p:nvPr>
        </p:nvSpPr>
        <p:spPr bwMode="auto">
          <a:xfrm>
            <a:off x="5410200" y="3048000"/>
            <a:ext cx="1219200" cy="381000"/>
          </a:xfrm>
          <a:prstGeom prst="rect">
            <a:avLst/>
          </a:prstGeom>
          <a:solidFill>
            <a:srgbClr val="FFFFFF"/>
          </a:solidFill>
          <a:ln>
            <a:solidFill>
              <a:srgbClr val="000000"/>
            </a:solidFill>
            <a:miter lim="800000"/>
            <a:headEnd/>
            <a:tailEnd/>
          </a:ln>
        </p:spPr>
        <p:txBody>
          <a:bodyPr>
            <a:normAutofit/>
          </a:bodyPr>
          <a:lstStyle/>
          <a:p>
            <a:pPr eaLnBrk="1" hangingPunct="1"/>
            <a:r>
              <a:rPr lang="en-US" sz="1800">
                <a:solidFill>
                  <a:schemeClr val="bg1"/>
                </a:solidFill>
                <a:latin typeface="Times" pitchFamily="18" charset="0"/>
              </a:rPr>
              <a:t>Table 12.1</a:t>
            </a:r>
          </a:p>
        </p:txBody>
      </p:sp>
      <p:sp>
        <p:nvSpPr>
          <p:cNvPr id="24580" name="Text Box 3"/>
          <p:cNvSpPr txBox="1">
            <a:spLocks noChangeArrowheads="1"/>
          </p:cNvSpPr>
          <p:nvPr/>
        </p:nvSpPr>
        <p:spPr bwMode="auto">
          <a:xfrm>
            <a:off x="1524000" y="0"/>
            <a:ext cx="9144000" cy="457200"/>
          </a:xfrm>
          <a:prstGeom prst="rect">
            <a:avLst/>
          </a:prstGeom>
          <a:noFill/>
          <a:ln w="9525">
            <a:noFill/>
            <a:miter lim="800000"/>
            <a:headEnd/>
            <a:tailEnd/>
          </a:ln>
          <a:effectLst/>
        </p:spPr>
        <p:txBody>
          <a:bodyPr>
            <a:spAutoFit/>
          </a:bodyPr>
          <a:lstStyle/>
          <a:p>
            <a:pPr algn="ctr" eaLnBrk="0" hangingPunct="0">
              <a:spcBef>
                <a:spcPct val="50000"/>
              </a:spcBef>
            </a:pPr>
            <a:r>
              <a:rPr lang="en-US" altLang="en-US" sz="2400" b="1" dirty="0">
                <a:solidFill>
                  <a:srgbClr val="FF0000"/>
                </a:solidFill>
                <a:latin typeface="Times" pitchFamily="18" charset="0"/>
              </a:rPr>
              <a:t>Power Electric Circuits</a:t>
            </a:r>
          </a:p>
        </p:txBody>
      </p:sp>
      <p:pic>
        <p:nvPicPr>
          <p:cNvPr id="24581" name="Picture 4" descr="riz63473_ch12table01"/>
          <p:cNvPicPr>
            <a:picLocks noChangeAspect="1" noChangeArrowheads="1"/>
          </p:cNvPicPr>
          <p:nvPr/>
        </p:nvPicPr>
        <p:blipFill>
          <a:blip r:embed="rId2"/>
          <a:srcRect/>
          <a:stretch>
            <a:fillRect/>
          </a:stretch>
        </p:blipFill>
        <p:spPr bwMode="auto">
          <a:xfrm>
            <a:off x="1712914" y="1508126"/>
            <a:ext cx="8766175" cy="3840163"/>
          </a:xfrm>
          <a:prstGeom prst="rect">
            <a:avLst/>
          </a:prstGeom>
          <a:noFill/>
          <a:ln w="9525">
            <a:noFill/>
            <a:miter lim="800000"/>
            <a:headEnd/>
            <a:tailEnd/>
          </a:ln>
        </p:spPr>
      </p:pic>
    </p:spTree>
    <p:extLst>
      <p:ext uri="{BB962C8B-B14F-4D97-AF65-F5344CB8AC3E}">
        <p14:creationId xmlns:p14="http://schemas.microsoft.com/office/powerpoint/2010/main" val="194270554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Number Placeholder 4"/>
          <p:cNvSpPr>
            <a:spLocks noGrp="1"/>
          </p:cNvSpPr>
          <p:nvPr>
            <p:ph type="sldNum" sz="quarter" idx="11"/>
          </p:nvPr>
        </p:nvSpPr>
        <p:spPr>
          <a:noFill/>
          <a:ln>
            <a:miter lim="800000"/>
            <a:headEnd/>
            <a:tailEnd/>
          </a:ln>
        </p:spPr>
        <p:txBody>
          <a:bodyPr/>
          <a:lstStyle/>
          <a:p>
            <a:fld id="{7C8AB217-3FE1-40A9-BB48-2FF1F5E9D6B0}" type="slidenum">
              <a:rPr lang="en-US" smtClean="0">
                <a:latin typeface="Arial" charset="0"/>
              </a:rPr>
              <a:pPr/>
              <a:t>7</a:t>
            </a:fld>
            <a:endParaRPr lang="en-US" smtClean="0">
              <a:latin typeface="Arial" charset="0"/>
            </a:endParaRPr>
          </a:p>
        </p:txBody>
      </p:sp>
      <p:sp>
        <p:nvSpPr>
          <p:cNvPr id="10243" name="Rectangle 2"/>
          <p:cNvSpPr>
            <a:spLocks noGrp="1" noChangeArrowheads="1"/>
          </p:cNvSpPr>
          <p:nvPr>
            <p:ph type="title"/>
          </p:nvPr>
        </p:nvSpPr>
        <p:spPr bwMode="auto">
          <a:xfrm>
            <a:off x="2209800" y="609600"/>
            <a:ext cx="7848600" cy="2286000"/>
          </a:xfrm>
          <a:noFill/>
          <a:ln>
            <a:miter lim="800000"/>
            <a:headEnd/>
            <a:tailEnd/>
          </a:ln>
        </p:spPr>
        <p:txBody>
          <a:bodyPr vert="horz" wrap="square" lIns="91440" tIns="45720" rIns="91440" bIns="45720" numCol="1" rtlCol="0" anchor="t" anchorCtr="0" compatLnSpc="1">
            <a:prstTxWarp prst="textNoShape">
              <a:avLst/>
            </a:prstTxWarp>
            <a:normAutofit fontScale="90000"/>
          </a:bodyPr>
          <a:lstStyle/>
          <a:p>
            <a:pPr eaLnBrk="1" hangingPunct="1"/>
            <a:r>
              <a:rPr lang="en-US" sz="3200" dirty="0" smtClean="0">
                <a:solidFill>
                  <a:srgbClr val="FF0000"/>
                </a:solidFill>
              </a:rPr>
              <a:t>                                   Rectifiers</a:t>
            </a:r>
            <a:r>
              <a:rPr lang="en-US" sz="3200" dirty="0"/>
              <a:t/>
            </a:r>
            <a:br>
              <a:rPr lang="en-US" sz="3200" dirty="0"/>
            </a:br>
            <a:r>
              <a:rPr lang="en-US" sz="2000" dirty="0">
                <a:solidFill>
                  <a:schemeClr val="tx1"/>
                </a:solidFill>
              </a:rPr>
              <a:t>Rectifiers may be classified as </a:t>
            </a:r>
            <a:r>
              <a:rPr lang="en-US" sz="2000" dirty="0">
                <a:solidFill>
                  <a:srgbClr val="FF0000"/>
                </a:solidFill>
              </a:rPr>
              <a:t>uncontrolled</a:t>
            </a:r>
            <a:r>
              <a:rPr lang="en-US" sz="2000" dirty="0">
                <a:solidFill>
                  <a:schemeClr val="tx1"/>
                </a:solidFill>
              </a:rPr>
              <a:t> and </a:t>
            </a:r>
            <a:r>
              <a:rPr lang="en-US" sz="2000" dirty="0">
                <a:solidFill>
                  <a:srgbClr val="FF0000"/>
                </a:solidFill>
              </a:rPr>
              <a:t>controlled</a:t>
            </a:r>
            <a:r>
              <a:rPr lang="en-US" sz="2000" dirty="0">
                <a:solidFill>
                  <a:schemeClr val="tx1"/>
                </a:solidFill>
              </a:rPr>
              <a:t> rectifiers. Controlled rectifiers can be further divided into semi-controlled and fully-controlled rectifiers. </a:t>
            </a:r>
            <a:r>
              <a:rPr lang="en-US" sz="2000" dirty="0">
                <a:solidFill>
                  <a:srgbClr val="FF0000"/>
                </a:solidFill>
              </a:rPr>
              <a:t>Uncontrolled rectifier circuits are built with diodes, and fully-controlled rectifier circuits are built with SCRs</a:t>
            </a:r>
            <a:r>
              <a:rPr lang="en-US" sz="2000" dirty="0">
                <a:solidFill>
                  <a:schemeClr val="tx1"/>
                </a:solidFill>
              </a:rPr>
              <a:t>. </a:t>
            </a:r>
            <a:br>
              <a:rPr lang="en-US" sz="2000" dirty="0">
                <a:solidFill>
                  <a:schemeClr val="tx1"/>
                </a:solidFill>
              </a:rPr>
            </a:br>
            <a:r>
              <a:rPr lang="en-US" sz="2000" dirty="0">
                <a:solidFill>
                  <a:schemeClr val="tx1"/>
                </a:solidFill>
              </a:rPr>
              <a:t>Both diodes and SCRs are used in semi-controlled rectifier circuits. </a:t>
            </a:r>
            <a:endParaRPr lang="en-US" dirty="0" smtClean="0">
              <a:solidFill>
                <a:schemeClr val="tx1"/>
              </a:solidFill>
            </a:endParaRPr>
          </a:p>
        </p:txBody>
      </p:sp>
      <p:sp>
        <p:nvSpPr>
          <p:cNvPr id="10244" name="Rectangle 3"/>
          <p:cNvSpPr>
            <a:spLocks noGrp="1" noChangeArrowheads="1"/>
          </p:cNvSpPr>
          <p:nvPr>
            <p:ph type="body" idx="1"/>
          </p:nvPr>
        </p:nvSpPr>
        <p:spPr bwMode="auto">
          <a:xfrm>
            <a:off x="2133600" y="3048000"/>
            <a:ext cx="7924800" cy="1696995"/>
          </a:xfrm>
          <a:noFill/>
          <a:ln>
            <a:miter lim="800000"/>
            <a:headEnd/>
            <a:tailEnd/>
          </a:ln>
        </p:spPr>
        <p:txBody>
          <a:bodyPr vert="horz" wrap="square" lIns="91440" tIns="45720" rIns="91440" bIns="45720" numCol="1" rtlCol="0" anchor="t" anchorCtr="0" compatLnSpc="1">
            <a:prstTxWarp prst="textNoShape">
              <a:avLst/>
            </a:prstTxWarp>
            <a:normAutofit/>
          </a:bodyPr>
          <a:lstStyle/>
          <a:p>
            <a:pPr algn="just">
              <a:spcBef>
                <a:spcPts val="500"/>
              </a:spcBef>
              <a:spcAft>
                <a:spcPts val="500"/>
              </a:spcAft>
              <a:buFont typeface="Symbol" pitchFamily="18" charset="2"/>
              <a:buChar char="·"/>
            </a:pPr>
            <a:r>
              <a:rPr lang="en-US" sz="2000" dirty="0"/>
              <a:t>Single-phase semi-controlled bridge rectifier</a:t>
            </a:r>
          </a:p>
          <a:p>
            <a:pPr algn="just">
              <a:spcBef>
                <a:spcPts val="500"/>
              </a:spcBef>
              <a:spcAft>
                <a:spcPts val="500"/>
              </a:spcAft>
              <a:buFont typeface="Symbol" pitchFamily="18" charset="2"/>
              <a:buChar char="·"/>
            </a:pPr>
            <a:r>
              <a:rPr lang="en-US" sz="2000" dirty="0"/>
              <a:t>Single-phase fully-controlled bridge rectifier</a:t>
            </a:r>
          </a:p>
          <a:p>
            <a:pPr algn="just">
              <a:spcBef>
                <a:spcPts val="500"/>
              </a:spcBef>
              <a:spcAft>
                <a:spcPts val="500"/>
              </a:spcAft>
              <a:buFont typeface="Symbol" pitchFamily="18" charset="2"/>
              <a:buChar char="·"/>
            </a:pPr>
            <a:r>
              <a:rPr lang="en-US" sz="2000" dirty="0"/>
              <a:t>Three-phase three-pulse, star-connected rectifier</a:t>
            </a:r>
          </a:p>
          <a:p>
            <a:pPr marL="0" indent="0" algn="just">
              <a:spcBef>
                <a:spcPts val="500"/>
              </a:spcBef>
              <a:spcAft>
                <a:spcPts val="500"/>
              </a:spcAft>
              <a:buNone/>
            </a:pPr>
            <a:endParaRPr lang="en-US" dirty="0" smtClean="0"/>
          </a:p>
        </p:txBody>
      </p:sp>
    </p:spTree>
    <p:extLst>
      <p:ext uri="{BB962C8B-B14F-4D97-AF65-F5344CB8AC3E}">
        <p14:creationId xmlns:p14="http://schemas.microsoft.com/office/powerpoint/2010/main" val="12870173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714A42D3-DD0F-4373-8A7C-CEB46F509C0A}" type="slidenum">
              <a:rPr lang="en-US" altLang="en-US">
                <a:solidFill>
                  <a:srgbClr val="898989"/>
                </a:solidFill>
              </a:rPr>
              <a:pPr/>
              <a:t>8</a:t>
            </a:fld>
            <a:endParaRPr lang="en-US" altLang="en-US">
              <a:solidFill>
                <a:srgbClr val="898989"/>
              </a:solidFill>
            </a:endParaRPr>
          </a:p>
        </p:txBody>
      </p:sp>
      <p:sp>
        <p:nvSpPr>
          <p:cNvPr id="49154" name="Rectangle 2"/>
          <p:cNvSpPr>
            <a:spLocks noGrp="1" noChangeArrowheads="1"/>
          </p:cNvSpPr>
          <p:nvPr>
            <p:ph type="title"/>
          </p:nvPr>
        </p:nvSpPr>
        <p:spPr>
          <a:xfrm>
            <a:off x="1845732" y="1557682"/>
            <a:ext cx="7086600" cy="487362"/>
          </a:xfrm>
        </p:spPr>
        <p:txBody>
          <a:bodyPr rtlCol="0">
            <a:normAutofit fontScale="90000"/>
          </a:bodyPr>
          <a:lstStyle/>
          <a:p>
            <a:pPr>
              <a:defRPr/>
            </a:pPr>
            <a:r>
              <a:rPr lang="en-US" dirty="0" smtClean="0"/>
              <a:t>      Rectification</a:t>
            </a:r>
          </a:p>
        </p:txBody>
      </p:sp>
      <p:sp>
        <p:nvSpPr>
          <p:cNvPr id="6148" name="Rectangle 3"/>
          <p:cNvSpPr>
            <a:spLocks noGrp="1" noChangeArrowheads="1"/>
          </p:cNvSpPr>
          <p:nvPr>
            <p:ph type="body" idx="1"/>
          </p:nvPr>
        </p:nvSpPr>
        <p:spPr>
          <a:xfrm>
            <a:off x="2084173" y="2810070"/>
            <a:ext cx="8229600" cy="2268558"/>
          </a:xfrm>
        </p:spPr>
        <p:txBody>
          <a:bodyPr/>
          <a:lstStyle/>
          <a:p>
            <a:r>
              <a:rPr lang="en-US" altLang="en-US" dirty="0" smtClean="0"/>
              <a:t>Converts  </a:t>
            </a:r>
            <a:r>
              <a:rPr lang="en-US" altLang="en-US" dirty="0" smtClean="0">
                <a:solidFill>
                  <a:schemeClr val="tx1"/>
                </a:solidFill>
              </a:rPr>
              <a:t>AC  to DC </a:t>
            </a:r>
            <a:r>
              <a:rPr lang="en-US" altLang="en-US" dirty="0" smtClean="0">
                <a:solidFill>
                  <a:schemeClr val="accent2">
                    <a:lumMod val="75000"/>
                  </a:schemeClr>
                </a:solidFill>
              </a:rPr>
              <a:t>(fixed AC to fixed DC </a:t>
            </a:r>
            <a:r>
              <a:rPr lang="en-US" altLang="en-US" dirty="0" smtClean="0"/>
              <a:t>) single phase</a:t>
            </a:r>
          </a:p>
          <a:p>
            <a:r>
              <a:rPr lang="en-US" altLang="en-US" dirty="0" smtClean="0"/>
              <a:t>Located after Step up Transformer </a:t>
            </a:r>
          </a:p>
          <a:p>
            <a:r>
              <a:rPr lang="en-US" altLang="en-US" dirty="0" smtClean="0"/>
              <a:t>On secondary side of Circuit</a:t>
            </a:r>
          </a:p>
          <a:p>
            <a:r>
              <a:rPr lang="en-US" altLang="en-US" dirty="0" smtClean="0"/>
              <a:t>Can be single phase   (1</a:t>
            </a:r>
            <a:r>
              <a:rPr lang="el-GR" altLang="en-US" dirty="0" smtClean="0">
                <a:cs typeface="Arial" panose="020B0604020202020204" pitchFamily="34" charset="0"/>
              </a:rPr>
              <a:t>Φ</a:t>
            </a:r>
            <a:r>
              <a:rPr lang="en-US" altLang="en-US" dirty="0" smtClean="0">
                <a:cs typeface="Arial" panose="020B0604020202020204" pitchFamily="34" charset="0"/>
              </a:rPr>
              <a:t>) </a:t>
            </a:r>
          </a:p>
          <a:p>
            <a:r>
              <a:rPr lang="en-US" altLang="en-US" dirty="0" smtClean="0">
                <a:cs typeface="Arial" panose="020B0604020202020204" pitchFamily="34" charset="0"/>
              </a:rPr>
              <a:t>Or 3 phase  (</a:t>
            </a:r>
            <a:r>
              <a:rPr lang="en-US" altLang="en-US" dirty="0" smtClean="0"/>
              <a:t>3 </a:t>
            </a:r>
            <a:r>
              <a:rPr lang="el-GR" altLang="en-US" dirty="0" smtClean="0">
                <a:cs typeface="Arial" panose="020B0604020202020204" pitchFamily="34" charset="0"/>
              </a:rPr>
              <a:t>Φ</a:t>
            </a:r>
            <a:r>
              <a:rPr lang="en-US" altLang="en-US" dirty="0" smtClean="0">
                <a:cs typeface="Arial" panose="020B0604020202020204" pitchFamily="34" charset="0"/>
              </a:rPr>
              <a:t> )</a:t>
            </a:r>
            <a:endParaRPr lang="el-GR" altLang="en-US" dirty="0" smtClean="0">
              <a:cs typeface="Arial" panose="020B0604020202020204" pitchFamily="34" charset="0"/>
            </a:endParaRPr>
          </a:p>
        </p:txBody>
      </p:sp>
    </p:spTree>
    <p:extLst>
      <p:ext uri="{BB962C8B-B14F-4D97-AF65-F5344CB8AC3E}">
        <p14:creationId xmlns:p14="http://schemas.microsoft.com/office/powerpoint/2010/main" val="168935099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8F28F343-4508-4CE6-BC14-D328529AE1A6}" type="slidenum">
              <a:rPr lang="en-US" altLang="en-US">
                <a:latin typeface="Arial" panose="020B0604020202020204" pitchFamily="34" charset="0"/>
              </a:rPr>
              <a:pPr/>
              <a:t>9</a:t>
            </a:fld>
            <a:endParaRPr lang="en-US" altLang="en-US">
              <a:latin typeface="Arial" panose="020B0604020202020204" pitchFamily="34" charset="0"/>
            </a:endParaRPr>
          </a:p>
        </p:txBody>
      </p:sp>
      <p:sp>
        <p:nvSpPr>
          <p:cNvPr id="7171" name="Rectangle 2"/>
          <p:cNvSpPr>
            <a:spLocks noGrp="1" noChangeArrowheads="1"/>
          </p:cNvSpPr>
          <p:nvPr>
            <p:ph type="title"/>
          </p:nvPr>
        </p:nvSpPr>
        <p:spPr>
          <a:noFill/>
        </p:spPr>
        <p:txBody>
          <a:bodyPr vert="horz" lIns="92075" tIns="46038" rIns="92075" bIns="46038" rtlCol="0" anchor="t">
            <a:normAutofit/>
          </a:bodyPr>
          <a:lstStyle/>
          <a:p>
            <a:r>
              <a:rPr lang="en-US" altLang="en-US" dirty="0" smtClean="0"/>
              <a:t>                Rectification</a:t>
            </a:r>
          </a:p>
        </p:txBody>
      </p:sp>
      <p:sp>
        <p:nvSpPr>
          <p:cNvPr id="7172" name="Rectangle 3"/>
          <p:cNvSpPr>
            <a:spLocks noGrp="1" noChangeArrowheads="1"/>
          </p:cNvSpPr>
          <p:nvPr>
            <p:ph type="body" idx="1"/>
          </p:nvPr>
        </p:nvSpPr>
        <p:spPr>
          <a:xfrm>
            <a:off x="1981200" y="1600201"/>
            <a:ext cx="8229600" cy="3370263"/>
          </a:xfrm>
          <a:noFill/>
        </p:spPr>
        <p:txBody>
          <a:bodyPr vert="horz" lIns="92075" tIns="46038" rIns="92075" bIns="46038" rtlCol="0">
            <a:normAutofit/>
          </a:bodyPr>
          <a:lstStyle/>
          <a:p>
            <a:pPr marL="457200" indent="-457200"/>
            <a:r>
              <a:rPr lang="en-US" altLang="en-US" dirty="0" smtClean="0"/>
              <a:t>process of changing AC to pulsed DC</a:t>
            </a:r>
          </a:p>
          <a:p>
            <a:pPr marL="457200" indent="-457200"/>
            <a:r>
              <a:rPr lang="en-US" altLang="en-US" dirty="0" smtClean="0"/>
              <a:t>rectifier</a:t>
            </a:r>
          </a:p>
          <a:p>
            <a:pPr marL="1027113" lvl="1" indent="-455613"/>
            <a:r>
              <a:rPr lang="en-US" altLang="en-US" dirty="0" smtClean="0"/>
              <a:t>device that allows </a:t>
            </a:r>
            <a:r>
              <a:rPr lang="en-US" altLang="en-US" dirty="0" smtClean="0">
                <a:solidFill>
                  <a:srgbClr val="339933"/>
                </a:solidFill>
              </a:rPr>
              <a:t>I</a:t>
            </a:r>
            <a:r>
              <a:rPr lang="en-US" altLang="en-US" dirty="0" smtClean="0"/>
              <a:t> to flow in only one direction</a:t>
            </a:r>
          </a:p>
          <a:p>
            <a:pPr marL="1027113" lvl="1" indent="-455613"/>
            <a:r>
              <a:rPr lang="en-US" altLang="en-US" dirty="0" smtClean="0"/>
              <a:t>types		valve tube	    solid state </a:t>
            </a:r>
            <a:r>
              <a:rPr lang="en-US" altLang="en-US" dirty="0" smtClean="0">
                <a:solidFill>
                  <a:schemeClr val="accent2">
                    <a:lumMod val="75000"/>
                  </a:schemeClr>
                </a:solidFill>
              </a:rPr>
              <a:t>(semiconductor materials)</a:t>
            </a:r>
          </a:p>
        </p:txBody>
      </p:sp>
      <p:grpSp>
        <p:nvGrpSpPr>
          <p:cNvPr id="7173" name="Group 4"/>
          <p:cNvGrpSpPr>
            <a:grpSpLocks/>
          </p:cNvGrpSpPr>
          <p:nvPr/>
        </p:nvGrpSpPr>
        <p:grpSpPr bwMode="auto">
          <a:xfrm>
            <a:off x="4929188" y="4275140"/>
            <a:ext cx="1414462" cy="1528763"/>
            <a:chOff x="2568" y="2848"/>
            <a:chExt cx="891" cy="963"/>
          </a:xfrm>
        </p:grpSpPr>
        <p:grpSp>
          <p:nvGrpSpPr>
            <p:cNvPr id="7183" name="Group 5"/>
            <p:cNvGrpSpPr>
              <a:grpSpLocks/>
            </p:cNvGrpSpPr>
            <p:nvPr/>
          </p:nvGrpSpPr>
          <p:grpSpPr bwMode="auto">
            <a:xfrm>
              <a:off x="2610" y="2940"/>
              <a:ext cx="747" cy="338"/>
              <a:chOff x="2610" y="2940"/>
              <a:chExt cx="747" cy="338"/>
            </a:xfrm>
          </p:grpSpPr>
          <p:sp useBgFill="1">
            <p:nvSpPr>
              <p:cNvPr id="7188" name="Oval 6"/>
              <p:cNvSpPr>
                <a:spLocks noChangeArrowheads="1"/>
              </p:cNvSpPr>
              <p:nvPr/>
            </p:nvSpPr>
            <p:spPr bwMode="auto">
              <a:xfrm>
                <a:off x="2793" y="2940"/>
                <a:ext cx="410" cy="338"/>
              </a:xfrm>
              <a:prstGeom prst="ellipse">
                <a:avLst/>
              </a:prstGeom>
              <a:ln w="12699">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endParaRPr lang="en-US" altLang="en-US"/>
              </a:p>
            </p:txBody>
          </p:sp>
          <p:sp>
            <p:nvSpPr>
              <p:cNvPr id="7189" name="Line 7"/>
              <p:cNvSpPr>
                <a:spLocks noChangeShapeType="1"/>
              </p:cNvSpPr>
              <p:nvPr/>
            </p:nvSpPr>
            <p:spPr bwMode="auto">
              <a:xfrm>
                <a:off x="3011" y="3114"/>
                <a:ext cx="346" cy="0"/>
              </a:xfrm>
              <a:prstGeom prst="line">
                <a:avLst/>
              </a:prstGeom>
              <a:noFill/>
              <a:ln w="25399">
                <a:solidFill>
                  <a:schemeClr val="tx1"/>
                </a:solidFill>
                <a:round/>
                <a:headEnd type="stealth" w="med" len="lg"/>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7190" name="Group 8"/>
              <p:cNvGrpSpPr>
                <a:grpSpLocks/>
              </p:cNvGrpSpPr>
              <p:nvPr/>
            </p:nvGrpSpPr>
            <p:grpSpPr bwMode="auto">
              <a:xfrm>
                <a:off x="2610" y="3027"/>
                <a:ext cx="324" cy="164"/>
                <a:chOff x="2610" y="3027"/>
                <a:chExt cx="324" cy="164"/>
              </a:xfrm>
            </p:grpSpPr>
            <p:sp>
              <p:nvSpPr>
                <p:cNvPr id="7191" name="Line 9"/>
                <p:cNvSpPr>
                  <a:spLocks noChangeShapeType="1"/>
                </p:cNvSpPr>
                <p:nvPr/>
              </p:nvSpPr>
              <p:spPr bwMode="auto">
                <a:xfrm>
                  <a:off x="2934" y="3027"/>
                  <a:ext cx="0" cy="164"/>
                </a:xfrm>
                <a:prstGeom prst="line">
                  <a:avLst/>
                </a:prstGeom>
                <a:noFill/>
                <a:ln w="253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192" name="Line 10"/>
                <p:cNvSpPr>
                  <a:spLocks noChangeShapeType="1"/>
                </p:cNvSpPr>
                <p:nvPr/>
              </p:nvSpPr>
              <p:spPr bwMode="auto">
                <a:xfrm flipH="1">
                  <a:off x="2610" y="3109"/>
                  <a:ext cx="313" cy="0"/>
                </a:xfrm>
                <a:prstGeom prst="line">
                  <a:avLst/>
                </a:prstGeom>
                <a:noFill/>
                <a:ln w="253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sp>
          <p:nvSpPr>
            <p:cNvPr id="7184" name="Rectangle 11"/>
            <p:cNvSpPr>
              <a:spLocks noChangeArrowheads="1"/>
            </p:cNvSpPr>
            <p:nvPr/>
          </p:nvSpPr>
          <p:spPr bwMode="auto">
            <a:xfrm>
              <a:off x="2786" y="3283"/>
              <a:ext cx="474"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0" hangingPunct="0"/>
              <a:r>
                <a:rPr lang="en-US" altLang="en-US" sz="2400" b="1">
                  <a:solidFill>
                    <a:schemeClr val="tx2"/>
                  </a:solidFill>
                  <a:latin typeface="Symbol" panose="05050102010706020507" pitchFamily="18" charset="2"/>
                </a:rPr>
                <a:t>¬</a:t>
              </a:r>
              <a:r>
                <a:rPr lang="en-US" altLang="en-US" sz="2400" b="1">
                  <a:latin typeface="Symbol" panose="05050102010706020507" pitchFamily="18" charset="2"/>
                </a:rPr>
                <a:t> </a:t>
              </a:r>
              <a:r>
                <a:rPr lang="en-US" altLang="en-US" sz="2400" b="1">
                  <a:solidFill>
                    <a:schemeClr val="tx2"/>
                  </a:solidFill>
                </a:rPr>
                <a:t>I</a:t>
              </a:r>
              <a:r>
                <a:rPr lang="en-US" altLang="en-US" sz="2400" b="1" baseline="-25000">
                  <a:solidFill>
                    <a:schemeClr val="tx2"/>
                  </a:solidFill>
                </a:rPr>
                <a:t>e</a:t>
              </a:r>
            </a:p>
          </p:txBody>
        </p:sp>
        <p:sp>
          <p:nvSpPr>
            <p:cNvPr id="7185" name="Rectangle 12"/>
            <p:cNvSpPr>
              <a:spLocks noChangeArrowheads="1"/>
            </p:cNvSpPr>
            <p:nvPr/>
          </p:nvSpPr>
          <p:spPr bwMode="auto">
            <a:xfrm>
              <a:off x="2822" y="3520"/>
              <a:ext cx="360"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0" hangingPunct="0"/>
              <a:r>
                <a:rPr lang="en-US" altLang="en-US" sz="2400" b="1">
                  <a:solidFill>
                    <a:srgbClr val="339933"/>
                  </a:solidFill>
                </a:rPr>
                <a:t>I</a:t>
              </a:r>
              <a:r>
                <a:rPr lang="en-US" altLang="en-US" sz="2400" b="1">
                  <a:solidFill>
                    <a:srgbClr val="339933"/>
                  </a:solidFill>
                  <a:latin typeface="Symbol" panose="05050102010706020507" pitchFamily="18" charset="2"/>
                </a:rPr>
                <a:t>®</a:t>
              </a:r>
            </a:p>
          </p:txBody>
        </p:sp>
        <p:sp>
          <p:nvSpPr>
            <p:cNvPr id="7186" name="Rectangle 13"/>
            <p:cNvSpPr>
              <a:spLocks noChangeArrowheads="1"/>
            </p:cNvSpPr>
            <p:nvPr/>
          </p:nvSpPr>
          <p:spPr bwMode="auto">
            <a:xfrm>
              <a:off x="2568" y="2848"/>
              <a:ext cx="245"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0" hangingPunct="0"/>
              <a:r>
                <a:rPr lang="en-US" altLang="en-US" sz="2400" b="1">
                  <a:solidFill>
                    <a:srgbClr val="FF3300"/>
                  </a:solidFill>
                  <a:latin typeface="Arial Black" panose="020B0A04020102020204" pitchFamily="34" charset="0"/>
                </a:rPr>
                <a:t>+</a:t>
              </a:r>
            </a:p>
          </p:txBody>
        </p:sp>
        <p:sp>
          <p:nvSpPr>
            <p:cNvPr id="7187" name="Rectangle 14"/>
            <p:cNvSpPr>
              <a:spLocks noChangeArrowheads="1"/>
            </p:cNvSpPr>
            <p:nvPr/>
          </p:nvSpPr>
          <p:spPr bwMode="auto">
            <a:xfrm>
              <a:off x="3277" y="2848"/>
              <a:ext cx="182"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0" hangingPunct="0"/>
              <a:r>
                <a:rPr lang="en-US" altLang="en-US" sz="2400" b="1">
                  <a:solidFill>
                    <a:schemeClr val="tx2"/>
                  </a:solidFill>
                  <a:latin typeface="Arial Black" panose="020B0A04020102020204" pitchFamily="34" charset="0"/>
                </a:rPr>
                <a:t>-</a:t>
              </a:r>
            </a:p>
          </p:txBody>
        </p:sp>
      </p:grpSp>
      <p:grpSp>
        <p:nvGrpSpPr>
          <p:cNvPr id="7174" name="Group 15"/>
          <p:cNvGrpSpPr>
            <a:grpSpLocks/>
          </p:cNvGrpSpPr>
          <p:nvPr/>
        </p:nvGrpSpPr>
        <p:grpSpPr bwMode="auto">
          <a:xfrm>
            <a:off x="7200900" y="4262438"/>
            <a:ext cx="952500" cy="1555749"/>
            <a:chOff x="4046" y="2836"/>
            <a:chExt cx="600" cy="980"/>
          </a:xfrm>
        </p:grpSpPr>
        <p:grpSp>
          <p:nvGrpSpPr>
            <p:cNvPr id="7175" name="Group 16"/>
            <p:cNvGrpSpPr>
              <a:grpSpLocks/>
            </p:cNvGrpSpPr>
            <p:nvPr/>
          </p:nvGrpSpPr>
          <p:grpSpPr bwMode="auto">
            <a:xfrm>
              <a:off x="4098" y="2966"/>
              <a:ext cx="493" cy="289"/>
              <a:chOff x="4098" y="2966"/>
              <a:chExt cx="493" cy="289"/>
            </a:xfrm>
          </p:grpSpPr>
          <p:sp>
            <p:nvSpPr>
              <p:cNvPr id="7180" name="Line 17"/>
              <p:cNvSpPr>
                <a:spLocks noChangeShapeType="1"/>
              </p:cNvSpPr>
              <p:nvPr/>
            </p:nvSpPr>
            <p:spPr bwMode="auto">
              <a:xfrm>
                <a:off x="4098" y="3112"/>
                <a:ext cx="308" cy="0"/>
              </a:xfrm>
              <a:prstGeom prst="line">
                <a:avLst/>
              </a:prstGeom>
              <a:noFill/>
              <a:ln w="25399">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181" name="Line 18"/>
              <p:cNvSpPr>
                <a:spLocks noChangeShapeType="1"/>
              </p:cNvSpPr>
              <p:nvPr/>
            </p:nvSpPr>
            <p:spPr bwMode="auto">
              <a:xfrm>
                <a:off x="4397" y="2966"/>
                <a:ext cx="0" cy="289"/>
              </a:xfrm>
              <a:prstGeom prst="line">
                <a:avLst/>
              </a:prstGeom>
              <a:noFill/>
              <a:ln w="253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182" name="Line 19"/>
              <p:cNvSpPr>
                <a:spLocks noChangeShapeType="1"/>
              </p:cNvSpPr>
              <p:nvPr/>
            </p:nvSpPr>
            <p:spPr bwMode="auto">
              <a:xfrm>
                <a:off x="4226" y="3112"/>
                <a:ext cx="365" cy="0"/>
              </a:xfrm>
              <a:prstGeom prst="line">
                <a:avLst/>
              </a:prstGeom>
              <a:noFill/>
              <a:ln w="253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7176" name="Rectangle 20"/>
            <p:cNvSpPr>
              <a:spLocks noChangeArrowheads="1"/>
            </p:cNvSpPr>
            <p:nvPr/>
          </p:nvSpPr>
          <p:spPr bwMode="auto">
            <a:xfrm>
              <a:off x="4154" y="3525"/>
              <a:ext cx="474"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0" hangingPunct="0"/>
              <a:r>
                <a:rPr lang="en-US" altLang="en-US" sz="2400" b="1">
                  <a:solidFill>
                    <a:schemeClr val="tx2"/>
                  </a:solidFill>
                  <a:latin typeface="Symbol" panose="05050102010706020507" pitchFamily="18" charset="2"/>
                </a:rPr>
                <a:t>¬</a:t>
              </a:r>
              <a:r>
                <a:rPr lang="en-US" altLang="en-US" sz="2400" b="1">
                  <a:latin typeface="Symbol" panose="05050102010706020507" pitchFamily="18" charset="2"/>
                </a:rPr>
                <a:t> </a:t>
              </a:r>
              <a:r>
                <a:rPr lang="en-US" altLang="en-US" sz="2400" b="1">
                  <a:solidFill>
                    <a:schemeClr val="tx2"/>
                  </a:solidFill>
                </a:rPr>
                <a:t>I</a:t>
              </a:r>
              <a:r>
                <a:rPr lang="en-US" altLang="en-US" sz="2400" b="1" baseline="-25000">
                  <a:solidFill>
                    <a:schemeClr val="tx2"/>
                  </a:solidFill>
                </a:rPr>
                <a:t>e</a:t>
              </a:r>
            </a:p>
          </p:txBody>
        </p:sp>
        <p:sp>
          <p:nvSpPr>
            <p:cNvPr id="7177" name="Rectangle 21"/>
            <p:cNvSpPr>
              <a:spLocks noChangeArrowheads="1"/>
            </p:cNvSpPr>
            <p:nvPr/>
          </p:nvSpPr>
          <p:spPr bwMode="auto">
            <a:xfrm>
              <a:off x="4209" y="3290"/>
              <a:ext cx="360"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0" hangingPunct="0"/>
              <a:r>
                <a:rPr lang="en-US" altLang="en-US" sz="2400" b="1">
                  <a:solidFill>
                    <a:srgbClr val="339933"/>
                  </a:solidFill>
                </a:rPr>
                <a:t>I</a:t>
              </a:r>
              <a:r>
                <a:rPr lang="en-US" altLang="en-US" sz="2400" b="1">
                  <a:solidFill>
                    <a:srgbClr val="339933"/>
                  </a:solidFill>
                  <a:latin typeface="Symbol" panose="05050102010706020507" pitchFamily="18" charset="2"/>
                </a:rPr>
                <a:t>®</a:t>
              </a:r>
            </a:p>
          </p:txBody>
        </p:sp>
        <p:sp>
          <p:nvSpPr>
            <p:cNvPr id="7178" name="Rectangle 22"/>
            <p:cNvSpPr>
              <a:spLocks noChangeArrowheads="1"/>
            </p:cNvSpPr>
            <p:nvPr/>
          </p:nvSpPr>
          <p:spPr bwMode="auto">
            <a:xfrm>
              <a:off x="4046" y="2836"/>
              <a:ext cx="245"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0" hangingPunct="0"/>
              <a:r>
                <a:rPr lang="en-US" altLang="en-US" sz="2400" b="1">
                  <a:solidFill>
                    <a:srgbClr val="FF3300"/>
                  </a:solidFill>
                  <a:latin typeface="Arial Black" panose="020B0A04020102020204" pitchFamily="34" charset="0"/>
                </a:rPr>
                <a:t>+</a:t>
              </a:r>
            </a:p>
          </p:txBody>
        </p:sp>
        <p:sp>
          <p:nvSpPr>
            <p:cNvPr id="7179" name="Rectangle 23"/>
            <p:cNvSpPr>
              <a:spLocks noChangeArrowheads="1"/>
            </p:cNvSpPr>
            <p:nvPr/>
          </p:nvSpPr>
          <p:spPr bwMode="auto">
            <a:xfrm>
              <a:off x="4464" y="2836"/>
              <a:ext cx="182"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0" hangingPunct="0"/>
              <a:r>
                <a:rPr lang="en-US" altLang="en-US" sz="2400" b="1">
                  <a:solidFill>
                    <a:schemeClr val="tx2"/>
                  </a:solidFill>
                  <a:latin typeface="Arial Black" panose="020B0A04020102020204" pitchFamily="34" charset="0"/>
                </a:rPr>
                <a:t>-</a:t>
              </a:r>
            </a:p>
          </p:txBody>
        </p:sp>
      </p:grpSp>
    </p:spTree>
    <p:extLst>
      <p:ext uri="{BB962C8B-B14F-4D97-AF65-F5344CB8AC3E}">
        <p14:creationId xmlns:p14="http://schemas.microsoft.com/office/powerpoint/2010/main" val="68526390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Rectangle 2"/>
          <p:cNvSpPr>
            <a:spLocks noGrp="1" noChangeArrowheads="1"/>
          </p:cNvSpPr>
          <p:nvPr>
            <p:ph idx="1"/>
          </p:nvPr>
        </p:nvSpPr>
        <p:spPr bwMode="auto">
          <a:xfrm>
            <a:off x="0" y="-470293"/>
            <a:ext cx="10030310" cy="53860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fontAlgn="base">
              <a:lnSpc>
                <a:spcPct val="100000"/>
              </a:lnSpc>
              <a:spcBef>
                <a:spcPct val="0"/>
              </a:spcBef>
              <a:spcAft>
                <a:spcPct val="0"/>
              </a:spcAft>
              <a:buClrTx/>
              <a:buSzTx/>
              <a:buNone/>
              <a:tabLst/>
              <a:defRPr/>
            </a:pPr>
            <a:r>
              <a:rPr lang="en-US" altLang="en-US" sz="3200" dirty="0">
                <a:solidFill>
                  <a:schemeClr val="accent1"/>
                </a:solidFill>
                <a:latin typeface="+mj-lt"/>
                <a:ea typeface="+mj-ea"/>
                <a:cs typeface="+mj-cs"/>
              </a:rPr>
              <a:t>                          </a:t>
            </a:r>
            <a:endParaRPr lang="en-US" altLang="en-US" sz="3200" dirty="0" smtClean="0">
              <a:solidFill>
                <a:schemeClr val="accent1"/>
              </a:solidFill>
              <a:latin typeface="+mj-lt"/>
              <a:ea typeface="+mj-ea"/>
              <a:cs typeface="+mj-cs"/>
            </a:endParaRPr>
          </a:p>
          <a:p>
            <a:pPr marL="0" marR="0" lvl="0" indent="0" fontAlgn="base">
              <a:lnSpc>
                <a:spcPct val="100000"/>
              </a:lnSpc>
              <a:spcBef>
                <a:spcPct val="0"/>
              </a:spcBef>
              <a:spcAft>
                <a:spcPct val="0"/>
              </a:spcAft>
              <a:buClrTx/>
              <a:buSzTx/>
              <a:buNone/>
              <a:tabLst/>
              <a:defRPr/>
            </a:pPr>
            <a:endParaRPr lang="en-US" altLang="en-US" sz="3200" dirty="0">
              <a:solidFill>
                <a:schemeClr val="accent1"/>
              </a:solidFill>
              <a:latin typeface="+mj-lt"/>
              <a:ea typeface="+mj-ea"/>
              <a:cs typeface="+mj-cs"/>
            </a:endParaRPr>
          </a:p>
          <a:p>
            <a:pPr marL="0" marR="0" lvl="0" indent="0" fontAlgn="base">
              <a:lnSpc>
                <a:spcPct val="100000"/>
              </a:lnSpc>
              <a:spcBef>
                <a:spcPct val="0"/>
              </a:spcBef>
              <a:spcAft>
                <a:spcPct val="0"/>
              </a:spcAft>
              <a:buClrTx/>
              <a:buSzTx/>
              <a:buNone/>
              <a:tabLst/>
              <a:defRPr/>
            </a:pPr>
            <a:r>
              <a:rPr lang="en-US" altLang="en-US" sz="3200" dirty="0" smtClean="0">
                <a:solidFill>
                  <a:schemeClr val="accent1"/>
                </a:solidFill>
                <a:latin typeface="+mj-lt"/>
                <a:ea typeface="+mj-ea"/>
                <a:cs typeface="+mj-cs"/>
              </a:rPr>
              <a:t>                            </a:t>
            </a:r>
            <a:r>
              <a:rPr lang="en-US" altLang="en-US" sz="3200" dirty="0">
                <a:solidFill>
                  <a:schemeClr val="accent1"/>
                </a:solidFill>
                <a:latin typeface="+mj-lt"/>
                <a:ea typeface="+mj-ea"/>
                <a:cs typeface="+mj-cs"/>
              </a:rPr>
              <a:t>Crystal Diode </a:t>
            </a:r>
            <a:r>
              <a:rPr lang="en-US" altLang="en-US" sz="3200" dirty="0" smtClean="0">
                <a:solidFill>
                  <a:schemeClr val="accent1"/>
                </a:solidFill>
                <a:latin typeface="+mj-lt"/>
                <a:ea typeface="+mj-ea"/>
                <a:cs typeface="+mj-cs"/>
              </a:rPr>
              <a:t>Rectifier </a:t>
            </a:r>
          </a:p>
          <a:p>
            <a:pPr marL="0" marR="0" lvl="0" indent="0" fontAlgn="base">
              <a:lnSpc>
                <a:spcPct val="100000"/>
              </a:lnSpc>
              <a:spcBef>
                <a:spcPct val="0"/>
              </a:spcBef>
              <a:spcAft>
                <a:spcPct val="0"/>
              </a:spcAft>
              <a:buClrTx/>
              <a:buSzTx/>
              <a:buNone/>
              <a:tabLst/>
              <a:defRPr/>
            </a:pPr>
            <a:endParaRPr lang="en-US" altLang="en-US" sz="3200" dirty="0">
              <a:solidFill>
                <a:schemeClr val="accent1"/>
              </a:solidFill>
              <a:latin typeface="+mj-lt"/>
              <a:ea typeface="+mj-ea"/>
              <a:cs typeface="+mj-cs"/>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lang="en-US" altLang="en-US" sz="2400" dirty="0">
                <a:solidFill>
                  <a:schemeClr val="tx1"/>
                </a:solidFill>
              </a:rPr>
              <a:t>The electric power available for transmission is usually AC supply,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400" dirty="0" smtClean="0"/>
              <a:t>      but </a:t>
            </a:r>
            <a:r>
              <a:rPr lang="en-US" altLang="en-US" sz="2400" dirty="0"/>
              <a:t>most of </a:t>
            </a:r>
            <a:r>
              <a:rPr lang="en-US" altLang="en-US" sz="2400" dirty="0" smtClean="0"/>
              <a:t>the </a:t>
            </a:r>
            <a:r>
              <a:rPr lang="en-US" altLang="en-US" sz="2400" dirty="0"/>
              <a:t>electronic devices operate on DC supply</a:t>
            </a:r>
            <a:r>
              <a:rPr lang="en-US" altLang="en-US" sz="2400" dirty="0" smtClean="0"/>
              <a:t>.</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400" dirty="0" smtClean="0"/>
              <a:t> </a:t>
            </a:r>
            <a:endParaRPr lang="en-US" altLang="en-US" sz="2400" dirty="0"/>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lang="en-US" altLang="en-US" sz="2400" dirty="0"/>
              <a:t>So, we need to convert AC supply into DC. </a:t>
            </a:r>
            <a:endParaRPr lang="en-US" altLang="en-US" sz="2400" dirty="0" smtClean="0"/>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lang="en-US" altLang="en-US" sz="2400" dirty="0"/>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lang="en-US" altLang="en-US" sz="2400" dirty="0"/>
              <a:t>The circuit used for converting AC into DC is known as rectifier .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400" dirty="0" smtClean="0"/>
              <a:t>   </a:t>
            </a:r>
            <a:r>
              <a:rPr lang="en-US" altLang="en-US" sz="2400" dirty="0" smtClean="0">
                <a:solidFill>
                  <a:schemeClr val="accent2"/>
                </a:solidFill>
              </a:rPr>
              <a:t>Most </a:t>
            </a:r>
            <a:r>
              <a:rPr lang="en-US" altLang="en-US" sz="2400" dirty="0">
                <a:solidFill>
                  <a:schemeClr val="accent2"/>
                </a:solidFill>
              </a:rPr>
              <a:t>of the rectifier </a:t>
            </a:r>
            <a:r>
              <a:rPr lang="en-US" altLang="en-US" sz="2400" dirty="0" smtClean="0">
                <a:solidFill>
                  <a:schemeClr val="accent2"/>
                </a:solidFill>
              </a:rPr>
              <a:t>circuit </a:t>
            </a:r>
            <a:r>
              <a:rPr lang="en-US" altLang="en-US" sz="2400" dirty="0">
                <a:solidFill>
                  <a:schemeClr val="accent2"/>
                </a:solidFill>
              </a:rPr>
              <a:t>which uses crystal diode along with </a:t>
            </a:r>
            <a:r>
              <a:rPr lang="en-US" altLang="en-US" sz="2400" dirty="0" smtClean="0">
                <a:solidFill>
                  <a:schemeClr val="accent2"/>
                </a:solidFill>
              </a:rPr>
              <a:t>some</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400" dirty="0" smtClean="0">
                <a:solidFill>
                  <a:schemeClr val="accent2"/>
                </a:solidFill>
              </a:rPr>
              <a:t>   </a:t>
            </a:r>
            <a:r>
              <a:rPr lang="en-US" altLang="en-US" sz="2400" dirty="0">
                <a:solidFill>
                  <a:schemeClr val="accent2"/>
                </a:solidFill>
              </a:rPr>
              <a:t>resistors for </a:t>
            </a:r>
            <a:r>
              <a:rPr lang="en-US" altLang="en-US" sz="2400" dirty="0" smtClean="0">
                <a:solidFill>
                  <a:schemeClr val="accent2"/>
                </a:solidFill>
              </a:rPr>
              <a:t>this conversion </a:t>
            </a:r>
            <a:r>
              <a:rPr lang="en-US" altLang="en-US" sz="2400" dirty="0">
                <a:solidFill>
                  <a:schemeClr val="accent2"/>
                </a:solidFill>
              </a:rPr>
              <a:t>are known as crystal diode rectifier </a:t>
            </a:r>
            <a:r>
              <a:rPr lang="en-US" altLang="en-US" sz="2400" dirty="0"/>
              <a:t>.</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400" dirty="0"/>
          </a:p>
        </p:txBody>
      </p:sp>
      <p:sp>
        <p:nvSpPr>
          <p:cNvPr id="3" name="Rectangle 2"/>
          <p:cNvSpPr>
            <a:spLocks noChangeArrowheads="1"/>
          </p:cNvSpPr>
          <p:nvPr/>
        </p:nvSpPr>
        <p:spPr bwMode="auto">
          <a:xfrm>
            <a:off x="0" y="43934"/>
            <a:ext cx="185351" cy="4379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4" name="Rectangle 3"/>
          <p:cNvSpPr>
            <a:spLocks noChangeArrowheads="1"/>
          </p:cNvSpPr>
          <p:nvPr/>
        </p:nvSpPr>
        <p:spPr bwMode="auto">
          <a:xfrm>
            <a:off x="152400" y="196334"/>
            <a:ext cx="185351" cy="4379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410655933"/>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1503405" y="2327189"/>
            <a:ext cx="8229600" cy="1173162"/>
          </a:xfrm>
        </p:spPr>
        <p:txBody>
          <a:bodyPr/>
          <a:lstStyle/>
          <a:p>
            <a:r>
              <a:rPr lang="en-US" dirty="0" smtClean="0"/>
              <a:t>          RECTIFIER DIODES    </a:t>
            </a:r>
            <a:endParaRPr lang="en-US" dirty="0"/>
          </a:p>
        </p:txBody>
      </p:sp>
      <p:sp>
        <p:nvSpPr>
          <p:cNvPr id="5" name="Slide Number Placeholder 4"/>
          <p:cNvSpPr>
            <a:spLocks noGrp="1"/>
          </p:cNvSpPr>
          <p:nvPr>
            <p:ph type="sldNum" sz="quarter" idx="12"/>
          </p:nvPr>
        </p:nvSpPr>
        <p:spPr/>
        <p:txBody>
          <a:bodyPr/>
          <a:lstStyle/>
          <a:p>
            <a:fld id="{7A0D5CAB-8BF0-4EA3-BAE4-9835C852A49B}" type="slidenum">
              <a:rPr lang="en-GB" smtClean="0"/>
              <a:pPr/>
              <a:t>11</a:t>
            </a:fld>
            <a:endParaRPr lang="en-GB" dirty="0"/>
          </a:p>
        </p:txBody>
      </p:sp>
    </p:spTree>
    <p:extLst>
      <p:ext uri="{BB962C8B-B14F-4D97-AF65-F5344CB8AC3E}">
        <p14:creationId xmlns:p14="http://schemas.microsoft.com/office/powerpoint/2010/main" val="383916241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152400"/>
            <a:ext cx="8218488" cy="1371600"/>
          </a:xfrm>
        </p:spPr>
        <p:txBody>
          <a:bodyPr/>
          <a:lstStyle/>
          <a:p>
            <a:pPr>
              <a:defRPr/>
            </a:pPr>
            <a:r>
              <a:rPr lang="en-US" b="1" dirty="0" smtClean="0">
                <a:solidFill>
                  <a:srgbClr val="0000CC"/>
                </a:solidFill>
              </a:rPr>
              <a:t>              </a:t>
            </a:r>
            <a:br>
              <a:rPr lang="en-US" b="1" dirty="0" smtClean="0">
                <a:solidFill>
                  <a:srgbClr val="0000CC"/>
                </a:solidFill>
              </a:rPr>
            </a:br>
            <a:r>
              <a:rPr lang="en-US" b="1" dirty="0">
                <a:solidFill>
                  <a:srgbClr val="0000CC"/>
                </a:solidFill>
              </a:rPr>
              <a:t> </a:t>
            </a:r>
            <a:r>
              <a:rPr lang="en-US" b="1" dirty="0" smtClean="0">
                <a:solidFill>
                  <a:srgbClr val="0000CC"/>
                </a:solidFill>
              </a:rPr>
              <a:t>              </a:t>
            </a:r>
            <a:r>
              <a:rPr lang="en-US" sz="4000" b="1" dirty="0" smtClean="0"/>
              <a:t>Introduction</a:t>
            </a:r>
            <a:endParaRPr lang="en-IN" sz="4000" b="1" dirty="0"/>
          </a:p>
        </p:txBody>
      </p:sp>
      <p:sp>
        <p:nvSpPr>
          <p:cNvPr id="5123" name="Content Placeholder 2"/>
          <p:cNvSpPr>
            <a:spLocks noGrp="1"/>
          </p:cNvSpPr>
          <p:nvPr>
            <p:ph idx="1"/>
          </p:nvPr>
        </p:nvSpPr>
        <p:spPr>
          <a:xfrm>
            <a:off x="2147888" y="2079626"/>
            <a:ext cx="7620000" cy="4373563"/>
          </a:xfrm>
        </p:spPr>
        <p:txBody>
          <a:bodyPr/>
          <a:lstStyle/>
          <a:p>
            <a:pPr marL="720725" indent="-538163" algn="just">
              <a:lnSpc>
                <a:spcPct val="200000"/>
              </a:lnSpc>
              <a:buClr>
                <a:srgbClr val="C00000"/>
              </a:buClr>
              <a:buNone/>
            </a:pPr>
            <a:r>
              <a:rPr lang="en-IN" sz="2200" dirty="0"/>
              <a:t>	A </a:t>
            </a:r>
            <a:r>
              <a:rPr lang="en-IN" sz="2200" dirty="0">
                <a:solidFill>
                  <a:srgbClr val="00B050"/>
                </a:solidFill>
              </a:rPr>
              <a:t>rectifier</a:t>
            </a:r>
            <a:r>
              <a:rPr lang="en-IN" sz="2200" dirty="0"/>
              <a:t> is an electrical device that </a:t>
            </a:r>
            <a:r>
              <a:rPr lang="en-IN" sz="2200" dirty="0">
                <a:solidFill>
                  <a:srgbClr val="00B050"/>
                </a:solidFill>
              </a:rPr>
              <a:t>converts</a:t>
            </a:r>
            <a:r>
              <a:rPr lang="en-IN" sz="2200" dirty="0"/>
              <a:t> </a:t>
            </a:r>
            <a:r>
              <a:rPr lang="en-IN" sz="2200" dirty="0">
                <a:solidFill>
                  <a:srgbClr val="00B050"/>
                </a:solidFill>
              </a:rPr>
              <a:t>alternating current (AC)</a:t>
            </a:r>
            <a:r>
              <a:rPr lang="en-IN" sz="2200" dirty="0"/>
              <a:t>, which periodically reverses direction, </a:t>
            </a:r>
            <a:r>
              <a:rPr lang="en-IN" sz="2200" dirty="0">
                <a:solidFill>
                  <a:srgbClr val="00B050"/>
                </a:solidFill>
              </a:rPr>
              <a:t>to direct current (DC)</a:t>
            </a:r>
            <a:r>
              <a:rPr lang="en-IN" sz="2200" dirty="0"/>
              <a:t>, which is in only one direction, a process known as </a:t>
            </a:r>
            <a:r>
              <a:rPr lang="en-IN" sz="2200" dirty="0">
                <a:solidFill>
                  <a:srgbClr val="00B050"/>
                </a:solidFill>
              </a:rPr>
              <a:t>rectification</a:t>
            </a:r>
            <a:r>
              <a:rPr lang="en-IN" sz="2200" dirty="0"/>
              <a: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12</a:t>
            </a:fld>
            <a:endParaRPr lang="en-US"/>
          </a:p>
        </p:txBody>
      </p:sp>
    </p:spTree>
    <p:extLst>
      <p:ext uri="{BB962C8B-B14F-4D97-AF65-F5344CB8AC3E}">
        <p14:creationId xmlns:p14="http://schemas.microsoft.com/office/powerpoint/2010/main" val="228068835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1" y="152400"/>
            <a:ext cx="7643813" cy="1371600"/>
          </a:xfrm>
        </p:spPr>
        <p:txBody>
          <a:bodyPr>
            <a:normAutofit/>
          </a:bodyPr>
          <a:lstStyle/>
          <a:p>
            <a:pPr>
              <a:defRPr/>
            </a:pPr>
            <a:r>
              <a:rPr lang="en-US" sz="4000" b="1" dirty="0" smtClean="0"/>
              <a:t>     </a:t>
            </a:r>
            <a:br>
              <a:rPr lang="en-US" sz="4000" b="1" dirty="0" smtClean="0"/>
            </a:br>
            <a:r>
              <a:rPr lang="en-US" sz="4000" b="1" dirty="0" smtClean="0"/>
              <a:t>       Types </a:t>
            </a:r>
            <a:r>
              <a:rPr lang="en-US" sz="4000" b="1" dirty="0"/>
              <a:t>of Rectifiers</a:t>
            </a:r>
            <a:endParaRPr lang="en-IN" sz="4000" b="1" dirty="0"/>
          </a:p>
        </p:txBody>
      </p:sp>
      <p:sp>
        <p:nvSpPr>
          <p:cNvPr id="3" name="Content Placeholder 2"/>
          <p:cNvSpPr>
            <a:spLocks noGrp="1"/>
          </p:cNvSpPr>
          <p:nvPr>
            <p:ph idx="1"/>
          </p:nvPr>
        </p:nvSpPr>
        <p:spPr>
          <a:xfrm>
            <a:off x="4284663" y="2276475"/>
            <a:ext cx="3035300" cy="865188"/>
          </a:xfrm>
        </p:spPr>
        <p:txBody>
          <a:bodyPr rtlCol="0">
            <a:normAutofit/>
          </a:bodyPr>
          <a:lstStyle/>
          <a:p>
            <a:pPr fontAlgn="auto">
              <a:lnSpc>
                <a:spcPct val="200000"/>
              </a:lnSpc>
              <a:buFont typeface="Arial" pitchFamily="34" charset="0"/>
              <a:buNone/>
              <a:defRPr/>
            </a:pPr>
            <a:r>
              <a:rPr lang="en-US" sz="2300" dirty="0"/>
              <a:t>Half wave Rectifier</a:t>
            </a:r>
          </a:p>
          <a:p>
            <a:pPr fontAlgn="auto">
              <a:lnSpc>
                <a:spcPct val="200000"/>
              </a:lnSpc>
              <a:buFont typeface="Arial" pitchFamily="34" charset="0"/>
              <a:buNone/>
              <a:defRPr/>
            </a:pPr>
            <a:endParaRPr lang="en-IN" sz="2300" dirty="0"/>
          </a:p>
        </p:txBody>
      </p:sp>
      <p:pic>
        <p:nvPicPr>
          <p:cNvPr id="1026" name="Picture 2" descr="\\SREE\Users\Thenmurugeshwari\My Documents\Work\27.1.11\arrow.gif"/>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3719513" y="2628901"/>
            <a:ext cx="360362"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2" descr="\\SREE\Users\Thenmurugeshwari\My Documents\Work\27.1.11\arrow.gif"/>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3719513" y="3421064"/>
            <a:ext cx="360362"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Content Placeholder 2"/>
          <p:cNvSpPr txBox="1">
            <a:spLocks/>
          </p:cNvSpPr>
          <p:nvPr/>
        </p:nvSpPr>
        <p:spPr bwMode="auto">
          <a:xfrm>
            <a:off x="4284663" y="2997201"/>
            <a:ext cx="3611562"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nstantia" pitchFamily="18" charset="0"/>
              </a:defRPr>
            </a:lvl1pPr>
            <a:lvl2pPr marL="742950" indent="-285750">
              <a:defRPr>
                <a:solidFill>
                  <a:schemeClr val="tx1"/>
                </a:solidFill>
                <a:latin typeface="Constantia" pitchFamily="18" charset="0"/>
              </a:defRPr>
            </a:lvl2pPr>
            <a:lvl3pPr marL="1143000" indent="-228600">
              <a:defRPr>
                <a:solidFill>
                  <a:schemeClr val="tx1"/>
                </a:solidFill>
                <a:latin typeface="Constantia" pitchFamily="18" charset="0"/>
              </a:defRPr>
            </a:lvl3pPr>
            <a:lvl4pPr marL="1600200" indent="-228600">
              <a:defRPr>
                <a:solidFill>
                  <a:schemeClr val="tx1"/>
                </a:solidFill>
                <a:latin typeface="Constantia" pitchFamily="18" charset="0"/>
              </a:defRPr>
            </a:lvl4pPr>
            <a:lvl5pPr marL="2057400" indent="-228600">
              <a:defRPr>
                <a:solidFill>
                  <a:schemeClr val="tx1"/>
                </a:solidFill>
                <a:latin typeface="Constantia" pitchFamily="18" charset="0"/>
              </a:defRPr>
            </a:lvl5pPr>
            <a:lvl6pPr marL="2514600" indent="-228600" fontAlgn="base">
              <a:spcBef>
                <a:spcPct val="0"/>
              </a:spcBef>
              <a:spcAft>
                <a:spcPct val="0"/>
              </a:spcAft>
              <a:defRPr>
                <a:solidFill>
                  <a:schemeClr val="tx1"/>
                </a:solidFill>
                <a:latin typeface="Constantia" pitchFamily="18" charset="0"/>
              </a:defRPr>
            </a:lvl6pPr>
            <a:lvl7pPr marL="2971800" indent="-228600" fontAlgn="base">
              <a:spcBef>
                <a:spcPct val="0"/>
              </a:spcBef>
              <a:spcAft>
                <a:spcPct val="0"/>
              </a:spcAft>
              <a:defRPr>
                <a:solidFill>
                  <a:schemeClr val="tx1"/>
                </a:solidFill>
                <a:latin typeface="Constantia" pitchFamily="18" charset="0"/>
              </a:defRPr>
            </a:lvl7pPr>
            <a:lvl8pPr marL="3429000" indent="-228600" fontAlgn="base">
              <a:spcBef>
                <a:spcPct val="0"/>
              </a:spcBef>
              <a:spcAft>
                <a:spcPct val="0"/>
              </a:spcAft>
              <a:defRPr>
                <a:solidFill>
                  <a:schemeClr val="tx1"/>
                </a:solidFill>
                <a:latin typeface="Constantia" pitchFamily="18" charset="0"/>
              </a:defRPr>
            </a:lvl8pPr>
            <a:lvl9pPr marL="3886200" indent="-228600" fontAlgn="base">
              <a:spcBef>
                <a:spcPct val="0"/>
              </a:spcBef>
              <a:spcAft>
                <a:spcPct val="0"/>
              </a:spcAft>
              <a:defRPr>
                <a:solidFill>
                  <a:schemeClr val="tx1"/>
                </a:solidFill>
                <a:latin typeface="Constantia" pitchFamily="18" charset="0"/>
              </a:defRPr>
            </a:lvl9pPr>
          </a:lstStyle>
          <a:p>
            <a:pPr>
              <a:lnSpc>
                <a:spcPct val="200000"/>
              </a:lnSpc>
              <a:spcBef>
                <a:spcPct val="20000"/>
              </a:spcBef>
              <a:spcAft>
                <a:spcPts val="600"/>
              </a:spcAft>
            </a:pPr>
            <a:r>
              <a:rPr lang="en-US" sz="2300" dirty="0"/>
              <a:t>Full wave Rectifier</a:t>
            </a:r>
          </a:p>
          <a:p>
            <a:pPr>
              <a:lnSpc>
                <a:spcPct val="200000"/>
              </a:lnSpc>
              <a:spcBef>
                <a:spcPct val="20000"/>
              </a:spcBef>
              <a:spcAft>
                <a:spcPts val="600"/>
              </a:spcAft>
            </a:pPr>
            <a:endParaRPr lang="en-IN" sz="2300" dirty="0"/>
          </a:p>
        </p:txBody>
      </p:sp>
      <p:pic>
        <p:nvPicPr>
          <p:cNvPr id="13" name="Picture 2" descr="\\SREE\Users\Thenmurugeshwari\My Documents\Work\27.1.11\arrow.gif"/>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3719513" y="4314826"/>
            <a:ext cx="360362"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Content Placeholder 2"/>
          <p:cNvSpPr txBox="1">
            <a:spLocks/>
          </p:cNvSpPr>
          <p:nvPr/>
        </p:nvSpPr>
        <p:spPr bwMode="auto">
          <a:xfrm>
            <a:off x="4224339" y="3890964"/>
            <a:ext cx="3609975"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nstantia" pitchFamily="18" charset="0"/>
              </a:defRPr>
            </a:lvl1pPr>
            <a:lvl2pPr marL="742950" indent="-285750">
              <a:defRPr>
                <a:solidFill>
                  <a:schemeClr val="tx1"/>
                </a:solidFill>
                <a:latin typeface="Constantia" pitchFamily="18" charset="0"/>
              </a:defRPr>
            </a:lvl2pPr>
            <a:lvl3pPr marL="1143000" indent="-228600">
              <a:defRPr>
                <a:solidFill>
                  <a:schemeClr val="tx1"/>
                </a:solidFill>
                <a:latin typeface="Constantia" pitchFamily="18" charset="0"/>
              </a:defRPr>
            </a:lvl3pPr>
            <a:lvl4pPr marL="1600200" indent="-228600">
              <a:defRPr>
                <a:solidFill>
                  <a:schemeClr val="tx1"/>
                </a:solidFill>
                <a:latin typeface="Constantia" pitchFamily="18" charset="0"/>
              </a:defRPr>
            </a:lvl4pPr>
            <a:lvl5pPr marL="2057400" indent="-228600">
              <a:defRPr>
                <a:solidFill>
                  <a:schemeClr val="tx1"/>
                </a:solidFill>
                <a:latin typeface="Constantia" pitchFamily="18" charset="0"/>
              </a:defRPr>
            </a:lvl5pPr>
            <a:lvl6pPr marL="2514600" indent="-228600" fontAlgn="base">
              <a:spcBef>
                <a:spcPct val="0"/>
              </a:spcBef>
              <a:spcAft>
                <a:spcPct val="0"/>
              </a:spcAft>
              <a:defRPr>
                <a:solidFill>
                  <a:schemeClr val="tx1"/>
                </a:solidFill>
                <a:latin typeface="Constantia" pitchFamily="18" charset="0"/>
              </a:defRPr>
            </a:lvl6pPr>
            <a:lvl7pPr marL="2971800" indent="-228600" fontAlgn="base">
              <a:spcBef>
                <a:spcPct val="0"/>
              </a:spcBef>
              <a:spcAft>
                <a:spcPct val="0"/>
              </a:spcAft>
              <a:defRPr>
                <a:solidFill>
                  <a:schemeClr val="tx1"/>
                </a:solidFill>
                <a:latin typeface="Constantia" pitchFamily="18" charset="0"/>
              </a:defRPr>
            </a:lvl7pPr>
            <a:lvl8pPr marL="3429000" indent="-228600" fontAlgn="base">
              <a:spcBef>
                <a:spcPct val="0"/>
              </a:spcBef>
              <a:spcAft>
                <a:spcPct val="0"/>
              </a:spcAft>
              <a:defRPr>
                <a:solidFill>
                  <a:schemeClr val="tx1"/>
                </a:solidFill>
                <a:latin typeface="Constantia" pitchFamily="18" charset="0"/>
              </a:defRPr>
            </a:lvl8pPr>
            <a:lvl9pPr marL="3886200" indent="-228600" fontAlgn="base">
              <a:spcBef>
                <a:spcPct val="0"/>
              </a:spcBef>
              <a:spcAft>
                <a:spcPct val="0"/>
              </a:spcAft>
              <a:defRPr>
                <a:solidFill>
                  <a:schemeClr val="tx1"/>
                </a:solidFill>
                <a:latin typeface="Constantia" pitchFamily="18" charset="0"/>
              </a:defRPr>
            </a:lvl9pPr>
          </a:lstStyle>
          <a:p>
            <a:pPr>
              <a:lnSpc>
                <a:spcPct val="200000"/>
              </a:lnSpc>
              <a:spcBef>
                <a:spcPct val="20000"/>
              </a:spcBef>
              <a:spcAft>
                <a:spcPts val="600"/>
              </a:spcAft>
            </a:pPr>
            <a:r>
              <a:rPr lang="en-US" sz="2300"/>
              <a:t>Bridge Rectifier</a:t>
            </a:r>
          </a:p>
        </p:txBody>
      </p:sp>
      <p:sp>
        <p:nvSpPr>
          <p:cNvPr id="10" name="Slide Number Placeholder 9"/>
          <p:cNvSpPr>
            <a:spLocks noGrp="1"/>
          </p:cNvSpPr>
          <p:nvPr>
            <p:ph type="sldNum" sz="quarter" idx="12"/>
          </p:nvPr>
        </p:nvSpPr>
        <p:spPr/>
        <p:txBody>
          <a:bodyPr/>
          <a:lstStyle/>
          <a:p>
            <a:fld id="{B6F15528-21DE-4FAA-801E-634DDDAF4B2B}" type="slidenum">
              <a:rPr lang="en-US" smtClean="0"/>
              <a:pPr/>
              <a:t>13</a:t>
            </a:fld>
            <a:endParaRPr lang="en-US"/>
          </a:p>
        </p:txBody>
      </p:sp>
    </p:spTree>
    <p:extLst>
      <p:ext uri="{BB962C8B-B14F-4D97-AF65-F5344CB8AC3E}">
        <p14:creationId xmlns:p14="http://schemas.microsoft.com/office/powerpoint/2010/main" val="3791055294"/>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188640"/>
            <a:ext cx="8305800" cy="650336"/>
          </a:xfrm>
        </p:spPr>
        <p:txBody>
          <a:bodyPr>
            <a:normAutofit/>
          </a:bodyPr>
          <a:lstStyle/>
          <a:p>
            <a:pPr algn="ctr"/>
            <a:r>
              <a:rPr lang="en-GB" dirty="0" smtClean="0"/>
              <a:t>Lecture Outline</a:t>
            </a:r>
            <a:endParaRPr lang="en-GB" dirty="0"/>
          </a:p>
        </p:txBody>
      </p:sp>
      <p:sp>
        <p:nvSpPr>
          <p:cNvPr id="3" name="TextBox 2"/>
          <p:cNvSpPr txBox="1"/>
          <p:nvPr/>
        </p:nvSpPr>
        <p:spPr>
          <a:xfrm>
            <a:off x="1991544" y="1700808"/>
            <a:ext cx="8424936" cy="369332"/>
          </a:xfrm>
          <a:prstGeom prst="rect">
            <a:avLst/>
          </a:prstGeom>
          <a:noFill/>
        </p:spPr>
        <p:txBody>
          <a:bodyPr wrap="square" rtlCol="0">
            <a:spAutoFit/>
          </a:bodyPr>
          <a:lstStyle/>
          <a:p>
            <a:pPr marL="285750" indent="-285750">
              <a:buFont typeface="Arial" pitchFamily="34" charset="0"/>
              <a:buChar char="•"/>
            </a:pPr>
            <a:endParaRPr lang="en-GB" dirty="0"/>
          </a:p>
        </p:txBody>
      </p:sp>
      <p:graphicFrame>
        <p:nvGraphicFramePr>
          <p:cNvPr id="5" name="Diagram 4"/>
          <p:cNvGraphicFramePr/>
          <p:nvPr>
            <p:extLst/>
          </p:nvPr>
        </p:nvGraphicFramePr>
        <p:xfrm>
          <a:off x="1559496" y="908720"/>
          <a:ext cx="9036496" cy="576064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Slide Number Placeholder 5"/>
          <p:cNvSpPr>
            <a:spLocks noGrp="1"/>
          </p:cNvSpPr>
          <p:nvPr>
            <p:ph type="sldNum" sz="quarter" idx="12"/>
          </p:nvPr>
        </p:nvSpPr>
        <p:spPr/>
        <p:txBody>
          <a:bodyPr/>
          <a:lstStyle/>
          <a:p>
            <a:fld id="{B6F15528-21DE-4FAA-801E-634DDDAF4B2B}" type="slidenum">
              <a:rPr lang="en-US" smtClean="0"/>
              <a:pPr/>
              <a:t>14</a:t>
            </a:fld>
            <a:endParaRPr lang="en-US"/>
          </a:p>
        </p:txBody>
      </p:sp>
    </p:spTree>
    <p:extLst>
      <p:ext uri="{BB962C8B-B14F-4D97-AF65-F5344CB8AC3E}">
        <p14:creationId xmlns:p14="http://schemas.microsoft.com/office/powerpoint/2010/main" val="410158972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152400"/>
            <a:ext cx="7570788" cy="1371600"/>
          </a:xfrm>
        </p:spPr>
        <p:txBody>
          <a:bodyPr>
            <a:normAutofit/>
          </a:bodyPr>
          <a:lstStyle/>
          <a:p>
            <a:pPr>
              <a:defRPr/>
            </a:pPr>
            <a:r>
              <a:rPr lang="en-US" sz="4000" b="1" dirty="0" smtClean="0"/>
              <a:t>      Half </a:t>
            </a:r>
            <a:r>
              <a:rPr lang="en-US" sz="4000" b="1" dirty="0"/>
              <a:t>wave </a:t>
            </a:r>
            <a:r>
              <a:rPr lang="en-US" sz="4000" b="1" dirty="0" smtClean="0"/>
              <a:t>rectifier  </a:t>
            </a:r>
            <a:endParaRPr lang="en-IN" sz="4000" b="1" dirty="0"/>
          </a:p>
        </p:txBody>
      </p:sp>
      <p:sp>
        <p:nvSpPr>
          <p:cNvPr id="4" name="Content Placeholder 2"/>
          <p:cNvSpPr>
            <a:spLocks noGrp="1"/>
          </p:cNvSpPr>
          <p:nvPr>
            <p:ph idx="1"/>
          </p:nvPr>
        </p:nvSpPr>
        <p:spPr>
          <a:xfrm>
            <a:off x="1654002" y="1137638"/>
            <a:ext cx="7620000" cy="4465637"/>
          </a:xfrm>
        </p:spPr>
        <p:txBody>
          <a:bodyPr rtlCol="0">
            <a:normAutofit lnSpcReduction="10000"/>
          </a:bodyPr>
          <a:lstStyle/>
          <a:p>
            <a:pPr marL="720725" indent="-538163" algn="just">
              <a:lnSpc>
                <a:spcPct val="200000"/>
              </a:lnSpc>
              <a:buClr>
                <a:srgbClr val="C00000"/>
              </a:buClr>
              <a:buNone/>
              <a:defRPr/>
            </a:pPr>
            <a:r>
              <a:rPr lang="en-IN" sz="2400" dirty="0"/>
              <a:t>	In half wave rectification, either the </a:t>
            </a:r>
            <a:r>
              <a:rPr lang="en-IN" sz="2400" dirty="0">
                <a:solidFill>
                  <a:srgbClr val="00B050"/>
                </a:solidFill>
              </a:rPr>
              <a:t>positive or negative half of the AC wave is passed</a:t>
            </a:r>
            <a:r>
              <a:rPr lang="en-IN" sz="2400" dirty="0"/>
              <a:t>, while the other half is blocked. </a:t>
            </a:r>
          </a:p>
          <a:p>
            <a:pPr marL="720725" indent="-538163" algn="just">
              <a:lnSpc>
                <a:spcPct val="200000"/>
              </a:lnSpc>
              <a:buClr>
                <a:srgbClr val="C00000"/>
              </a:buClr>
              <a:buNone/>
              <a:defRPr/>
            </a:pPr>
            <a:r>
              <a:rPr lang="en-US" sz="2400" dirty="0"/>
              <a:t>	B</a:t>
            </a:r>
            <a:r>
              <a:rPr lang="en-IN" sz="2400" dirty="0"/>
              <a:t>ecause only </a:t>
            </a:r>
            <a:r>
              <a:rPr lang="en-IN" sz="2400" dirty="0">
                <a:solidFill>
                  <a:srgbClr val="00B050"/>
                </a:solidFill>
              </a:rPr>
              <a:t>one half of the input waveform reaches the output</a:t>
            </a:r>
            <a:r>
              <a:rPr lang="en-IN" sz="2400" dirty="0"/>
              <a:t>, it is very inefficient if used for </a:t>
            </a:r>
            <a:r>
              <a:rPr lang="en-IN" sz="2400" dirty="0">
                <a:solidFill>
                  <a:srgbClr val="00B050"/>
                </a:solidFill>
              </a:rPr>
              <a:t>power transfer</a:t>
            </a:r>
            <a:r>
              <a:rPr lang="en-IN" sz="2400" dirty="0"/>
              <a:t>. </a:t>
            </a:r>
          </a:p>
        </p:txBody>
      </p:sp>
      <p:sp>
        <p:nvSpPr>
          <p:cNvPr id="5" name="Slide Number Placeholder 4"/>
          <p:cNvSpPr>
            <a:spLocks noGrp="1"/>
          </p:cNvSpPr>
          <p:nvPr>
            <p:ph type="sldNum" sz="quarter" idx="12"/>
          </p:nvPr>
        </p:nvSpPr>
        <p:spPr/>
        <p:txBody>
          <a:bodyPr/>
          <a:lstStyle/>
          <a:p>
            <a:fld id="{B6F15528-21DE-4FAA-801E-634DDDAF4B2B}" type="slidenum">
              <a:rPr lang="en-US" smtClean="0"/>
              <a:pPr/>
              <a:t>15</a:t>
            </a:fld>
            <a:endParaRPr lang="en-US"/>
          </a:p>
        </p:txBody>
      </p:sp>
    </p:spTree>
    <p:extLst>
      <p:ext uri="{BB962C8B-B14F-4D97-AF65-F5344CB8AC3E}">
        <p14:creationId xmlns:p14="http://schemas.microsoft.com/office/powerpoint/2010/main" val="366950529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1" y="152400"/>
            <a:ext cx="6994525" cy="1371600"/>
          </a:xfrm>
        </p:spPr>
        <p:txBody>
          <a:bodyPr>
            <a:normAutofit/>
          </a:bodyPr>
          <a:lstStyle/>
          <a:p>
            <a:pPr>
              <a:defRPr/>
            </a:pPr>
            <a:r>
              <a:rPr lang="en-US" sz="4000" b="1" dirty="0"/>
              <a:t>Half wave rectification</a:t>
            </a:r>
            <a:endParaRPr lang="en-IN" sz="4000" b="1" dirty="0"/>
          </a:p>
        </p:txBody>
      </p:sp>
      <p:pic>
        <p:nvPicPr>
          <p:cNvPr id="9219" name="Picture 2" descr="\\SREE\Users\Thenmurugeshwari\My Documents\Work\27.1.11\half wave rectifier.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992313" y="2852739"/>
            <a:ext cx="7620000" cy="1692275"/>
          </a:xfrm>
          <a:noFill/>
        </p:spPr>
      </p:pic>
      <p:sp>
        <p:nvSpPr>
          <p:cNvPr id="4" name="Slide Number Placeholder 3"/>
          <p:cNvSpPr>
            <a:spLocks noGrp="1"/>
          </p:cNvSpPr>
          <p:nvPr>
            <p:ph type="sldNum" sz="quarter" idx="12"/>
          </p:nvPr>
        </p:nvSpPr>
        <p:spPr/>
        <p:txBody>
          <a:bodyPr/>
          <a:lstStyle/>
          <a:p>
            <a:fld id="{B6F15528-21DE-4FAA-801E-634DDDAF4B2B}" type="slidenum">
              <a:rPr lang="en-US" smtClean="0"/>
              <a:pPr/>
              <a:t>16</a:t>
            </a:fld>
            <a:endParaRPr lang="en-US"/>
          </a:p>
        </p:txBody>
      </p:sp>
    </p:spTree>
    <p:extLst>
      <p:ext uri="{BB962C8B-B14F-4D97-AF65-F5344CB8AC3E}">
        <p14:creationId xmlns:p14="http://schemas.microsoft.com/office/powerpoint/2010/main" val="151417357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981200" y="152400"/>
            <a:ext cx="7354888" cy="1371600"/>
          </a:xfrm>
        </p:spPr>
        <p:txBody>
          <a:bodyPr>
            <a:normAutofit/>
          </a:bodyPr>
          <a:lstStyle/>
          <a:p>
            <a:pPr>
              <a:defRPr/>
            </a:pPr>
            <a:r>
              <a:rPr lang="en-US" sz="4000" b="1" dirty="0"/>
              <a:t>Output dc voltage calculation</a:t>
            </a:r>
            <a:endParaRPr lang="en-IN" sz="4000" b="1" dirty="0"/>
          </a:p>
        </p:txBody>
      </p:sp>
      <p:sp>
        <p:nvSpPr>
          <p:cNvPr id="4" name="Content Placeholder 2"/>
          <p:cNvSpPr>
            <a:spLocks noGrp="1"/>
          </p:cNvSpPr>
          <p:nvPr>
            <p:ph idx="1"/>
          </p:nvPr>
        </p:nvSpPr>
        <p:spPr>
          <a:xfrm>
            <a:off x="1847850" y="1916114"/>
            <a:ext cx="7620000" cy="1728787"/>
          </a:xfrm>
        </p:spPr>
        <p:txBody>
          <a:bodyPr rtlCol="0">
            <a:normAutofit fontScale="92500"/>
          </a:bodyPr>
          <a:lstStyle/>
          <a:p>
            <a:pPr marL="720725" indent="-538163" algn="just">
              <a:lnSpc>
                <a:spcPct val="200000"/>
              </a:lnSpc>
              <a:buClr>
                <a:srgbClr val="C00000"/>
              </a:buClr>
              <a:buNone/>
              <a:defRPr/>
            </a:pPr>
            <a:r>
              <a:rPr lang="en-IN" sz="2400" dirty="0"/>
              <a:t>	The </a:t>
            </a:r>
            <a:r>
              <a:rPr lang="en-IN" sz="2400" dirty="0">
                <a:solidFill>
                  <a:srgbClr val="00B050"/>
                </a:solidFill>
              </a:rPr>
              <a:t>output DC voltage</a:t>
            </a:r>
            <a:r>
              <a:rPr lang="en-IN" sz="2400" dirty="0"/>
              <a:t> of a half wave rectifier can be calculated with the following two ideal equations</a:t>
            </a:r>
          </a:p>
          <a:p>
            <a:pPr marL="720725" indent="-538163" algn="just">
              <a:lnSpc>
                <a:spcPct val="200000"/>
              </a:lnSpc>
              <a:buClr>
                <a:srgbClr val="C00000"/>
              </a:buClr>
              <a:buFont typeface="Wingdings 2" pitchFamily="18" charset="2"/>
              <a:buChar char="ù"/>
              <a:defRPr/>
            </a:pPr>
            <a:endParaRPr lang="en-IN" sz="2400"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17</a:t>
            </a:fld>
            <a:endParaRPr lang="en-US"/>
          </a:p>
        </p:txBody>
      </p:sp>
      <p:pic>
        <p:nvPicPr>
          <p:cNvPr id="4098" name="Picture 2" descr="\\SREE\Users\Thenmurugeshwari\My Documents\Work\27.1.11\formula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65613" y="3581401"/>
            <a:ext cx="2762250" cy="1058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3" descr="\\SREE\Users\Thenmurugeshwari\My Documents\Work\27.1.11\formula2.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13250" y="5084764"/>
            <a:ext cx="2476500" cy="1069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7429720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idx="1"/>
          </p:nvPr>
        </p:nvSpPr>
        <p:spPr>
          <a:xfrm>
            <a:off x="1981200" y="152400"/>
            <a:ext cx="8229600" cy="6553200"/>
          </a:xfrm>
        </p:spPr>
        <p:txBody>
          <a:bodyPr>
            <a:normAutofit/>
          </a:bodyPr>
          <a:lstStyle/>
          <a:p>
            <a:pPr>
              <a:buNone/>
            </a:pPr>
            <a:r>
              <a:rPr lang="en-US" sz="4000" b="1" dirty="0">
                <a:solidFill>
                  <a:schemeClr val="accent1"/>
                </a:solidFill>
                <a:latin typeface="+mj-lt"/>
                <a:ea typeface="+mj-ea"/>
                <a:cs typeface="+mj-cs"/>
              </a:rPr>
              <a:t>       </a:t>
            </a:r>
            <a:r>
              <a:rPr lang="en-US" sz="4000" b="1" dirty="0" smtClean="0">
                <a:solidFill>
                  <a:schemeClr val="accent1"/>
                </a:solidFill>
                <a:latin typeface="+mj-lt"/>
                <a:ea typeface="+mj-ea"/>
                <a:cs typeface="+mj-cs"/>
              </a:rPr>
              <a:t> </a:t>
            </a:r>
            <a:r>
              <a:rPr lang="en-US" sz="4000" b="1" dirty="0">
                <a:solidFill>
                  <a:schemeClr val="accent1"/>
                </a:solidFill>
                <a:latin typeface="+mj-lt"/>
                <a:ea typeface="+mj-ea"/>
                <a:cs typeface="+mj-cs"/>
              </a:rPr>
              <a:t>Half wave rectification</a:t>
            </a:r>
          </a:p>
        </p:txBody>
      </p:sp>
      <p:pic>
        <p:nvPicPr>
          <p:cNvPr id="66562" name="Picture 2"/>
          <p:cNvPicPr>
            <a:picLocks noChangeAspect="1" noChangeArrowheads="1"/>
          </p:cNvPicPr>
          <p:nvPr/>
        </p:nvPicPr>
        <p:blipFill>
          <a:blip r:embed="rId2"/>
          <a:srcRect/>
          <a:stretch>
            <a:fillRect/>
          </a:stretch>
        </p:blipFill>
        <p:spPr bwMode="auto">
          <a:xfrm>
            <a:off x="1849395" y="707362"/>
            <a:ext cx="7543800" cy="5334000"/>
          </a:xfrm>
          <a:prstGeom prst="rect">
            <a:avLst/>
          </a:prstGeom>
          <a:noFill/>
          <a:ln w="9525">
            <a:noFill/>
            <a:miter lim="800000"/>
            <a:headEnd/>
            <a:tailEnd/>
          </a:ln>
        </p:spPr>
      </p:pic>
      <p:pic>
        <p:nvPicPr>
          <p:cNvPr id="66563" name="Picture 3"/>
          <p:cNvPicPr>
            <a:picLocks noChangeAspect="1" noChangeArrowheads="1"/>
          </p:cNvPicPr>
          <p:nvPr/>
        </p:nvPicPr>
        <p:blipFill>
          <a:blip r:embed="rId3"/>
          <a:srcRect/>
          <a:stretch>
            <a:fillRect/>
          </a:stretch>
        </p:blipFill>
        <p:spPr bwMode="auto">
          <a:xfrm>
            <a:off x="8382000" y="5181600"/>
            <a:ext cx="1524000" cy="838200"/>
          </a:xfrm>
          <a:prstGeom prst="rect">
            <a:avLst/>
          </a:prstGeom>
          <a:noFill/>
          <a:ln w="9525">
            <a:noFill/>
            <a:miter lim="800000"/>
            <a:headEnd/>
            <a:tailEnd/>
          </a:ln>
        </p:spPr>
      </p:pic>
      <p:sp>
        <p:nvSpPr>
          <p:cNvPr id="5" name="Slide Number Placeholder 4"/>
          <p:cNvSpPr>
            <a:spLocks noGrp="1"/>
          </p:cNvSpPr>
          <p:nvPr>
            <p:ph type="sldNum" sz="quarter" idx="12"/>
          </p:nvPr>
        </p:nvSpPr>
        <p:spPr/>
        <p:txBody>
          <a:bodyPr/>
          <a:lstStyle/>
          <a:p>
            <a:fld id="{B6F15528-21DE-4FAA-801E-634DDDAF4B2B}" type="slidenum">
              <a:rPr lang="en-US" smtClean="0"/>
              <a:pPr/>
              <a:t>18</a:t>
            </a:fld>
            <a:endParaRPr lang="en-US"/>
          </a:p>
        </p:txBody>
      </p:sp>
    </p:spTree>
    <p:extLst>
      <p:ext uri="{BB962C8B-B14F-4D97-AF65-F5344CB8AC3E}">
        <p14:creationId xmlns:p14="http://schemas.microsoft.com/office/powerpoint/2010/main" val="412519198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838200"/>
            <a:ext cx="8229600" cy="5791200"/>
          </a:xfrm>
        </p:spPr>
        <p:txBody>
          <a:bodyPr/>
          <a:lstStyle/>
          <a:p>
            <a:endParaRPr lang="en-US" dirty="0"/>
          </a:p>
        </p:txBody>
      </p:sp>
      <p:pic>
        <p:nvPicPr>
          <p:cNvPr id="67586" name="Picture 2"/>
          <p:cNvPicPr>
            <a:picLocks noChangeAspect="1" noChangeArrowheads="1"/>
          </p:cNvPicPr>
          <p:nvPr/>
        </p:nvPicPr>
        <p:blipFill>
          <a:blip r:embed="rId2"/>
          <a:srcRect/>
          <a:stretch>
            <a:fillRect/>
          </a:stretch>
        </p:blipFill>
        <p:spPr bwMode="auto">
          <a:xfrm>
            <a:off x="1981200" y="838200"/>
            <a:ext cx="8001000" cy="6019800"/>
          </a:xfrm>
          <a:prstGeom prst="rect">
            <a:avLst/>
          </a:prstGeom>
          <a:noFill/>
          <a:ln w="9525">
            <a:noFill/>
            <a:miter lim="800000"/>
            <a:headEnd/>
            <a:tailEnd/>
          </a:ln>
        </p:spPr>
      </p:pic>
      <p:sp>
        <p:nvSpPr>
          <p:cNvPr id="4" name="Slide Number Placeholder 3"/>
          <p:cNvSpPr>
            <a:spLocks noGrp="1"/>
          </p:cNvSpPr>
          <p:nvPr>
            <p:ph type="sldNum" sz="quarter" idx="12"/>
          </p:nvPr>
        </p:nvSpPr>
        <p:spPr/>
        <p:txBody>
          <a:bodyPr/>
          <a:lstStyle/>
          <a:p>
            <a:fld id="{B6F15528-21DE-4FAA-801E-634DDDAF4B2B}" type="slidenum">
              <a:rPr lang="en-US" smtClean="0"/>
              <a:pPr/>
              <a:t>19</a:t>
            </a:fld>
            <a:endParaRPr lang="en-US"/>
          </a:p>
        </p:txBody>
      </p:sp>
    </p:spTree>
    <p:extLst>
      <p:ext uri="{BB962C8B-B14F-4D97-AF65-F5344CB8AC3E}">
        <p14:creationId xmlns:p14="http://schemas.microsoft.com/office/powerpoint/2010/main" val="116394704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762000"/>
            <a:ext cx="8229600" cy="1085088"/>
          </a:xfrm>
        </p:spPr>
        <p:txBody>
          <a:bodyPr>
            <a:normAutofit fontScale="90000"/>
          </a:bodyPr>
          <a:lstStyle/>
          <a:p>
            <a:r>
              <a:rPr lang="en-US" sz="2700" b="1" dirty="0"/>
              <a:t>Effect of the Barrier Potential on the Half-Wave Rectifier Output</a:t>
            </a:r>
            <a:r>
              <a:rPr lang="en-US" dirty="0" smtClean="0"/>
              <a:t/>
            </a:r>
            <a:br>
              <a:rPr lang="en-US" dirty="0" smtClean="0"/>
            </a:br>
            <a:endParaRPr lang="en-US" dirty="0"/>
          </a:p>
        </p:txBody>
      </p:sp>
      <p:sp>
        <p:nvSpPr>
          <p:cNvPr id="3" name="Content Placeholder 2"/>
          <p:cNvSpPr>
            <a:spLocks noGrp="1"/>
          </p:cNvSpPr>
          <p:nvPr>
            <p:ph idx="1"/>
          </p:nvPr>
        </p:nvSpPr>
        <p:spPr>
          <a:xfrm>
            <a:off x="1684638" y="1631092"/>
            <a:ext cx="8229600" cy="4953000"/>
          </a:xfrm>
        </p:spPr>
        <p:txBody>
          <a:bodyPr/>
          <a:lstStyle/>
          <a:p>
            <a:pPr>
              <a:buNone/>
            </a:pPr>
            <a:r>
              <a:rPr lang="en-US" dirty="0" smtClean="0"/>
              <a:t>	 When the practical diode model is used with the </a:t>
            </a:r>
          </a:p>
          <a:p>
            <a:pPr>
              <a:buNone/>
            </a:pPr>
            <a:r>
              <a:rPr lang="en-US" dirty="0" smtClean="0"/>
              <a:t>	barrier potential of 0.7 V taken into account, this is </a:t>
            </a:r>
          </a:p>
          <a:p>
            <a:pPr>
              <a:buNone/>
            </a:pPr>
            <a:r>
              <a:rPr lang="en-US" dirty="0" smtClean="0"/>
              <a:t>	what happens. During the positive half-cycle, the </a:t>
            </a:r>
          </a:p>
          <a:p>
            <a:pPr>
              <a:buNone/>
            </a:pPr>
            <a:r>
              <a:rPr lang="en-US" dirty="0" smtClean="0"/>
              <a:t>	input voltage must overcome the barrier potential </a:t>
            </a:r>
          </a:p>
          <a:p>
            <a:pPr>
              <a:buNone/>
            </a:pPr>
            <a:r>
              <a:rPr lang="en-US" dirty="0" smtClean="0"/>
              <a:t>	before the diode becomes forward-biased. This results</a:t>
            </a:r>
          </a:p>
          <a:p>
            <a:pPr>
              <a:buNone/>
            </a:pPr>
            <a:r>
              <a:rPr lang="en-US" dirty="0" smtClean="0"/>
              <a:t>	 in a half-wave output with a peak value that is 0.7 V</a:t>
            </a:r>
          </a:p>
          <a:p>
            <a:pPr>
              <a:buNone/>
            </a:pPr>
            <a:r>
              <a:rPr lang="en-US" dirty="0" smtClean="0"/>
              <a:t>	 less than the peak value of the input, as shown in </a:t>
            </a:r>
          </a:p>
          <a:p>
            <a:pPr>
              <a:buNone/>
            </a:pPr>
            <a:r>
              <a:rPr lang="en-US" dirty="0" smtClean="0"/>
              <a:t>	 The expression for the peak output voltage is</a:t>
            </a:r>
          </a:p>
          <a:p>
            <a:pPr>
              <a:buNone/>
            </a:pP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20</a:t>
            </a:fld>
            <a:endParaRPr lang="en-US"/>
          </a:p>
        </p:txBody>
      </p:sp>
    </p:spTree>
    <p:extLst>
      <p:ext uri="{BB962C8B-B14F-4D97-AF65-F5344CB8AC3E}">
        <p14:creationId xmlns:p14="http://schemas.microsoft.com/office/powerpoint/2010/main" val="303120628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914400"/>
            <a:ext cx="8229600" cy="5334000"/>
          </a:xfrm>
        </p:spPr>
        <p:txBody>
          <a:bodyPr/>
          <a:lstStyle/>
          <a:p>
            <a:pPr>
              <a:buNone/>
            </a:pPr>
            <a:endParaRPr lang="en-US" dirty="0"/>
          </a:p>
        </p:txBody>
      </p:sp>
      <p:pic>
        <p:nvPicPr>
          <p:cNvPr id="68610" name="Picture 2"/>
          <p:cNvPicPr>
            <a:picLocks noChangeAspect="1" noChangeArrowheads="1"/>
          </p:cNvPicPr>
          <p:nvPr/>
        </p:nvPicPr>
        <p:blipFill>
          <a:blip r:embed="rId2"/>
          <a:srcRect/>
          <a:stretch>
            <a:fillRect/>
          </a:stretch>
        </p:blipFill>
        <p:spPr bwMode="auto">
          <a:xfrm>
            <a:off x="2057400" y="990600"/>
            <a:ext cx="8001000" cy="3352800"/>
          </a:xfrm>
          <a:prstGeom prst="rect">
            <a:avLst/>
          </a:prstGeom>
          <a:noFill/>
          <a:ln w="9525">
            <a:noFill/>
            <a:miter lim="800000"/>
            <a:headEnd/>
            <a:tailEnd/>
          </a:ln>
        </p:spPr>
      </p:pic>
      <p:sp>
        <p:nvSpPr>
          <p:cNvPr id="5" name="Slide Number Placeholder 4"/>
          <p:cNvSpPr>
            <a:spLocks noGrp="1"/>
          </p:cNvSpPr>
          <p:nvPr>
            <p:ph type="sldNum" sz="quarter" idx="12"/>
          </p:nvPr>
        </p:nvSpPr>
        <p:spPr/>
        <p:txBody>
          <a:bodyPr/>
          <a:lstStyle/>
          <a:p>
            <a:fld id="{B6F15528-21DE-4FAA-801E-634DDDAF4B2B}" type="slidenum">
              <a:rPr lang="en-US" smtClean="0"/>
              <a:pPr/>
              <a:t>21</a:t>
            </a:fld>
            <a:endParaRPr lang="en-US"/>
          </a:p>
        </p:txBody>
      </p:sp>
    </p:spTree>
    <p:extLst>
      <p:ext uri="{BB962C8B-B14F-4D97-AF65-F5344CB8AC3E}">
        <p14:creationId xmlns:p14="http://schemas.microsoft.com/office/powerpoint/2010/main" val="458544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1676400"/>
            <a:ext cx="8229600" cy="4648200"/>
          </a:xfrm>
        </p:spPr>
        <p:txBody>
          <a:bodyPr/>
          <a:lstStyle/>
          <a:p>
            <a:pPr>
              <a:buNone/>
            </a:pPr>
            <a:r>
              <a:rPr lang="en-US" dirty="0" smtClean="0"/>
              <a:t>	The </a:t>
            </a:r>
            <a:r>
              <a:rPr lang="en-US" b="1" dirty="0" smtClean="0"/>
              <a:t>peak inverse voltage (PIV) </a:t>
            </a:r>
            <a:r>
              <a:rPr lang="en-US" dirty="0" smtClean="0"/>
              <a:t>equals the peak value</a:t>
            </a:r>
          </a:p>
          <a:p>
            <a:pPr>
              <a:buNone/>
            </a:pPr>
            <a:r>
              <a:rPr lang="en-US" dirty="0" smtClean="0"/>
              <a:t> of the input voltage, and the diode must be capable of </a:t>
            </a:r>
          </a:p>
          <a:p>
            <a:pPr>
              <a:buNone/>
            </a:pPr>
            <a:r>
              <a:rPr lang="en-US" dirty="0" smtClean="0"/>
              <a:t>withstanding this amount of repetitive reverse voltage.</a:t>
            </a:r>
          </a:p>
          <a:p>
            <a:pPr>
              <a:buNone/>
            </a:pPr>
            <a:r>
              <a:rPr lang="en-US" dirty="0" smtClean="0"/>
              <a:t> For the diode in Figure 2–26, the maximum value of </a:t>
            </a:r>
          </a:p>
          <a:p>
            <a:pPr>
              <a:buNone/>
            </a:pPr>
            <a:r>
              <a:rPr lang="en-US" dirty="0" smtClean="0"/>
              <a:t>reverse voltage, designated as PIV, occurs at the </a:t>
            </a:r>
            <a:r>
              <a:rPr lang="en-US" b="1" dirty="0">
                <a:solidFill>
                  <a:srgbClr val="FF0000"/>
                </a:solidFill>
              </a:rPr>
              <a:t>PIV, is maximum voltage a diode or other device can withstand in the reverse-biased direction</a:t>
            </a:r>
            <a:r>
              <a:rPr lang="en-US" dirty="0">
                <a:solidFill>
                  <a:srgbClr val="FF0000"/>
                </a:solidFill>
              </a:rPr>
              <a:t> </a:t>
            </a:r>
            <a:r>
              <a:rPr lang="en-US" b="1" dirty="0">
                <a:solidFill>
                  <a:srgbClr val="FF0000"/>
                </a:solidFill>
              </a:rPr>
              <a:t>without damaging </a:t>
            </a:r>
            <a:r>
              <a:rPr lang="en-US" b="1" dirty="0" smtClean="0">
                <a:solidFill>
                  <a:srgbClr val="FF0000"/>
                </a:solidFill>
              </a:rPr>
              <a:t>itself.</a:t>
            </a:r>
            <a:r>
              <a:rPr lang="en-US" dirty="0" smtClean="0">
                <a:solidFill>
                  <a:srgbClr val="FF0000"/>
                </a:solidFill>
              </a:rPr>
              <a:t> </a:t>
            </a:r>
            <a:r>
              <a:rPr lang="en-US" dirty="0" smtClean="0">
                <a:solidFill>
                  <a:schemeClr val="tx1"/>
                </a:solidFill>
              </a:rPr>
              <a:t>A</a:t>
            </a:r>
            <a:r>
              <a:rPr lang="en-US" dirty="0" smtClean="0"/>
              <a:t> diode should be rated at least </a:t>
            </a:r>
          </a:p>
          <a:p>
            <a:pPr>
              <a:buNone/>
            </a:pPr>
            <a:r>
              <a:rPr lang="en-US" dirty="0" smtClean="0"/>
              <a:t>20% higher than the PIV.</a:t>
            </a:r>
          </a:p>
          <a:p>
            <a:endParaRPr lang="en-US" dirty="0"/>
          </a:p>
        </p:txBody>
      </p:sp>
      <p:sp>
        <p:nvSpPr>
          <p:cNvPr id="4" name="Title 3"/>
          <p:cNvSpPr>
            <a:spLocks noGrp="1" noChangeArrowheads="1"/>
          </p:cNvSpPr>
          <p:nvPr>
            <p:ph type="title"/>
          </p:nvPr>
        </p:nvSpPr>
        <p:spPr bwMode="auto">
          <a:xfrm>
            <a:off x="1509356" y="886627"/>
            <a:ext cx="8596668" cy="707886"/>
          </a:xfrm>
          <a:prstGeom prst="rect">
            <a:avLst/>
          </a:prstGeom>
          <a:noFill/>
          <a:ln w="9525">
            <a:noFill/>
            <a:miter lim="800000"/>
            <a:headEnd/>
            <a:tailEnd/>
          </a:ln>
          <a:effectLst/>
        </p:spPr>
        <p:txBody>
          <a:bodyPr vert="horz" wrap="square" lIns="91440" tIns="45720" rIns="91440" bIns="45720" numCol="1" rtlCol="0" anchor="ctr" anchorCtr="0" compatLnSpc="1">
            <a:prstTxWarp prst="textNoShape">
              <a:avLst/>
            </a:prstTxWarp>
            <a:spAutoFit/>
          </a:bodyPr>
          <a:lstStyle/>
          <a:p>
            <a:pPr defTabSz="914400" fontAlgn="base">
              <a:spcAft>
                <a:spcPct val="0"/>
              </a:spcAft>
            </a:pPr>
            <a:r>
              <a:rPr lang="en-US" sz="4000" b="1" dirty="0"/>
              <a:t>Peak Inverse Voltage (PIV)</a:t>
            </a:r>
          </a:p>
        </p:txBody>
      </p:sp>
      <p:sp>
        <p:nvSpPr>
          <p:cNvPr id="5" name="Slide Number Placeholder 4"/>
          <p:cNvSpPr>
            <a:spLocks noGrp="1"/>
          </p:cNvSpPr>
          <p:nvPr>
            <p:ph type="sldNum" sz="quarter" idx="12"/>
          </p:nvPr>
        </p:nvSpPr>
        <p:spPr/>
        <p:txBody>
          <a:bodyPr/>
          <a:lstStyle/>
          <a:p>
            <a:fld id="{B6F15528-21DE-4FAA-801E-634DDDAF4B2B}" type="slidenum">
              <a:rPr lang="en-US" smtClean="0"/>
              <a:pPr/>
              <a:t>22</a:t>
            </a:fld>
            <a:endParaRPr lang="en-US"/>
          </a:p>
        </p:txBody>
      </p:sp>
    </p:spTree>
    <p:extLst>
      <p:ext uri="{BB962C8B-B14F-4D97-AF65-F5344CB8AC3E}">
        <p14:creationId xmlns:p14="http://schemas.microsoft.com/office/powerpoint/2010/main" val="412951847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682" name="Picture 2"/>
          <p:cNvPicPr>
            <a:picLocks noChangeAspect="1" noChangeArrowheads="1"/>
          </p:cNvPicPr>
          <p:nvPr/>
        </p:nvPicPr>
        <p:blipFill>
          <a:blip r:embed="rId2"/>
          <a:srcRect/>
          <a:stretch>
            <a:fillRect/>
          </a:stretch>
        </p:blipFill>
        <p:spPr bwMode="auto">
          <a:xfrm>
            <a:off x="2057400" y="914401"/>
            <a:ext cx="7156206" cy="4124325"/>
          </a:xfrm>
          <a:prstGeom prst="rect">
            <a:avLst/>
          </a:prstGeom>
          <a:noFill/>
          <a:ln w="9525">
            <a:noFill/>
            <a:miter lim="800000"/>
            <a:headEnd/>
            <a:tailEnd/>
          </a:ln>
        </p:spPr>
      </p:pic>
      <p:pic>
        <p:nvPicPr>
          <p:cNvPr id="5" name="Picture 5"/>
          <p:cNvPicPr>
            <a:picLocks noGrp="1" noChangeAspect="1" noChangeArrowheads="1"/>
          </p:cNvPicPr>
          <p:nvPr>
            <p:ph idx="1"/>
          </p:nvPr>
        </p:nvPicPr>
        <p:blipFill>
          <a:blip r:embed="rId3"/>
          <a:srcRect/>
          <a:stretch>
            <a:fillRect/>
          </a:stretch>
        </p:blipFill>
        <p:spPr bwMode="auto">
          <a:xfrm>
            <a:off x="7391400" y="5029200"/>
            <a:ext cx="2286000" cy="926730"/>
          </a:xfrm>
          <a:prstGeom prst="rect">
            <a:avLst/>
          </a:prstGeom>
          <a:noFill/>
          <a:ln w="9525">
            <a:noFill/>
            <a:miter lim="800000"/>
            <a:headEnd/>
            <a:tailEnd/>
          </a:ln>
        </p:spPr>
      </p:pic>
      <p:sp>
        <p:nvSpPr>
          <p:cNvPr id="4" name="Slide Number Placeholder 3"/>
          <p:cNvSpPr>
            <a:spLocks noGrp="1"/>
          </p:cNvSpPr>
          <p:nvPr>
            <p:ph type="sldNum" sz="quarter" idx="12"/>
          </p:nvPr>
        </p:nvSpPr>
        <p:spPr/>
        <p:txBody>
          <a:bodyPr/>
          <a:lstStyle/>
          <a:p>
            <a:fld id="{B6F15528-21DE-4FAA-801E-634DDDAF4B2B}" type="slidenum">
              <a:rPr lang="en-US" smtClean="0"/>
              <a:pPr/>
              <a:t>23</a:t>
            </a:fld>
            <a:endParaRPr lang="en-US"/>
          </a:p>
        </p:txBody>
      </p:sp>
    </p:spTree>
    <p:extLst>
      <p:ext uri="{BB962C8B-B14F-4D97-AF65-F5344CB8AC3E}">
        <p14:creationId xmlns:p14="http://schemas.microsoft.com/office/powerpoint/2010/main" val="49552365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Application of half wave rectifier</a:t>
            </a:r>
            <a:endParaRPr lang="en-US" dirty="0"/>
          </a:p>
        </p:txBody>
      </p:sp>
      <p:pic>
        <p:nvPicPr>
          <p:cNvPr id="3" name="Picture 2"/>
          <p:cNvPicPr>
            <a:picLocks noChangeAspect="1"/>
          </p:cNvPicPr>
          <p:nvPr/>
        </p:nvPicPr>
        <p:blipFill>
          <a:blip r:embed="rId2"/>
          <a:stretch>
            <a:fillRect/>
          </a:stretch>
        </p:blipFill>
        <p:spPr>
          <a:xfrm>
            <a:off x="435060" y="1930400"/>
            <a:ext cx="8715375" cy="1343025"/>
          </a:xfrm>
          <a:prstGeom prst="rect">
            <a:avLst/>
          </a:prstGeom>
        </p:spPr>
      </p:pic>
      <p:sp>
        <p:nvSpPr>
          <p:cNvPr id="5" name="Content Placeholder 4"/>
          <p:cNvSpPr>
            <a:spLocks noGrp="1"/>
          </p:cNvSpPr>
          <p:nvPr>
            <p:ph idx="1"/>
          </p:nvPr>
        </p:nvSpPr>
        <p:spPr>
          <a:xfrm>
            <a:off x="553767" y="1826956"/>
            <a:ext cx="8596668" cy="3880773"/>
          </a:xfrm>
        </p:spPr>
        <p:txBody>
          <a:bodyPr/>
          <a:lstStyle/>
          <a:p>
            <a:endParaRPr lang="en-US" dirty="0" smtClean="0"/>
          </a:p>
          <a:p>
            <a:endParaRPr lang="en-US" dirty="0"/>
          </a:p>
          <a:p>
            <a:pPr marL="0" indent="0">
              <a:buNone/>
            </a:pPr>
            <a:endParaRPr lang="en-US" dirty="0"/>
          </a:p>
        </p:txBody>
      </p:sp>
    </p:spTree>
    <p:extLst>
      <p:ext uri="{BB962C8B-B14F-4D97-AF65-F5344CB8AC3E}">
        <p14:creationId xmlns:p14="http://schemas.microsoft.com/office/powerpoint/2010/main" val="196245533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07213" y="185738"/>
            <a:ext cx="7283450" cy="1371600"/>
          </a:xfrm>
        </p:spPr>
        <p:txBody>
          <a:bodyPr/>
          <a:lstStyle/>
          <a:p>
            <a:pPr>
              <a:defRPr/>
            </a:pPr>
            <a:r>
              <a:rPr lang="en-US" b="1" dirty="0" smtClean="0">
                <a:solidFill>
                  <a:srgbClr val="0000CC"/>
                </a:solidFill>
              </a:rPr>
              <a:t>       </a:t>
            </a:r>
            <a:br>
              <a:rPr lang="en-US" b="1" dirty="0" smtClean="0">
                <a:solidFill>
                  <a:srgbClr val="0000CC"/>
                </a:solidFill>
              </a:rPr>
            </a:br>
            <a:r>
              <a:rPr lang="en-US" b="1" dirty="0">
                <a:solidFill>
                  <a:srgbClr val="0000CC"/>
                </a:solidFill>
              </a:rPr>
              <a:t> </a:t>
            </a:r>
            <a:r>
              <a:rPr lang="en-US" b="1" dirty="0" smtClean="0">
                <a:solidFill>
                  <a:srgbClr val="0000CC"/>
                </a:solidFill>
              </a:rPr>
              <a:t>        </a:t>
            </a:r>
            <a:r>
              <a:rPr lang="en-US" sz="4000" dirty="0"/>
              <a:t>Full wave rectification   </a:t>
            </a:r>
            <a:endParaRPr lang="en-IN" sz="4000" dirty="0"/>
          </a:p>
        </p:txBody>
      </p:sp>
      <p:sp>
        <p:nvSpPr>
          <p:cNvPr id="13315" name="Content Placeholder 2"/>
          <p:cNvSpPr>
            <a:spLocks noGrp="1"/>
          </p:cNvSpPr>
          <p:nvPr>
            <p:ph idx="1"/>
          </p:nvPr>
        </p:nvSpPr>
        <p:spPr>
          <a:xfrm>
            <a:off x="1847850" y="1557338"/>
            <a:ext cx="8280400" cy="4824412"/>
          </a:xfrm>
        </p:spPr>
        <p:txBody>
          <a:bodyPr/>
          <a:lstStyle/>
          <a:p>
            <a:pPr marL="720725" indent="-538163" algn="just">
              <a:lnSpc>
                <a:spcPct val="200000"/>
              </a:lnSpc>
              <a:buClr>
                <a:srgbClr val="C00000"/>
              </a:buClr>
              <a:buNone/>
            </a:pPr>
            <a:r>
              <a:rPr lang="en-IN" sz="2400" dirty="0"/>
              <a:t>	For single-phase AC, if the transformer is </a:t>
            </a:r>
            <a:r>
              <a:rPr lang="en-IN" sz="2400" dirty="0" smtClean="0"/>
              <a:t>center-tapped</a:t>
            </a:r>
            <a:r>
              <a:rPr lang="en-IN" sz="2400" dirty="0"/>
              <a:t>, then </a:t>
            </a:r>
            <a:r>
              <a:rPr lang="en-IN" sz="2400" dirty="0">
                <a:solidFill>
                  <a:srgbClr val="00B050"/>
                </a:solidFill>
              </a:rPr>
              <a:t>two diodes back-to-back </a:t>
            </a:r>
            <a:r>
              <a:rPr lang="en-IN" sz="2400" dirty="0"/>
              <a:t>(i.e. anodes-to-anode or cathode-to-cathode) can form a </a:t>
            </a:r>
            <a:r>
              <a:rPr lang="en-IN" sz="2400" dirty="0">
                <a:solidFill>
                  <a:srgbClr val="00B050"/>
                </a:solidFill>
              </a:rPr>
              <a:t>full-wave rectifier</a:t>
            </a:r>
            <a:r>
              <a:rPr lang="en-IN" sz="2400" dirty="0"/>
              <a:t>. </a:t>
            </a:r>
          </a:p>
          <a:p>
            <a:pPr marL="720725" indent="-538163" algn="just">
              <a:lnSpc>
                <a:spcPct val="200000"/>
              </a:lnSpc>
              <a:buClr>
                <a:srgbClr val="C00000"/>
              </a:buClr>
              <a:buFont typeface="Wingdings 2" pitchFamily="18" charset="2"/>
              <a:buChar char="ù"/>
            </a:pPr>
            <a:endParaRPr lang="en-IN" sz="24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25</a:t>
            </a:fld>
            <a:endParaRPr lang="en-US"/>
          </a:p>
        </p:txBody>
      </p:sp>
    </p:spTree>
    <p:extLst>
      <p:ext uri="{BB962C8B-B14F-4D97-AF65-F5344CB8AC3E}">
        <p14:creationId xmlns:p14="http://schemas.microsoft.com/office/powerpoint/2010/main" val="272219370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84454" y="517857"/>
            <a:ext cx="8578850" cy="1371600"/>
          </a:xfrm>
        </p:spPr>
        <p:txBody>
          <a:bodyPr>
            <a:normAutofit/>
          </a:bodyPr>
          <a:lstStyle/>
          <a:p>
            <a:pPr>
              <a:defRPr/>
            </a:pPr>
            <a:r>
              <a:rPr lang="en-US" sz="2800" dirty="0"/>
              <a:t>Full wave rectifier using transformer </a:t>
            </a:r>
            <a:r>
              <a:rPr lang="en-US" sz="2800" dirty="0" smtClean="0"/>
              <a:t>  and </a:t>
            </a:r>
            <a:r>
              <a:rPr lang="en-US" sz="2800" dirty="0"/>
              <a:t>2 diodes</a:t>
            </a:r>
            <a:endParaRPr lang="en-IN" sz="2800" dirty="0"/>
          </a:p>
        </p:txBody>
      </p:sp>
      <p:pic>
        <p:nvPicPr>
          <p:cNvPr id="15363" name="Picture 2" descr="\\SREE\Users\Thenmurugeshwari\My Documents\Work\27.1.11\2diode.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47851" y="2511425"/>
            <a:ext cx="8461375"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Slide Number Placeholder 3"/>
          <p:cNvSpPr>
            <a:spLocks noGrp="1"/>
          </p:cNvSpPr>
          <p:nvPr>
            <p:ph type="sldNum" sz="quarter" idx="12"/>
          </p:nvPr>
        </p:nvSpPr>
        <p:spPr/>
        <p:txBody>
          <a:bodyPr/>
          <a:lstStyle/>
          <a:p>
            <a:fld id="{B6F15528-21DE-4FAA-801E-634DDDAF4B2B}" type="slidenum">
              <a:rPr lang="en-US" smtClean="0"/>
              <a:pPr/>
              <a:t>26</a:t>
            </a:fld>
            <a:endParaRPr lang="en-US"/>
          </a:p>
        </p:txBody>
      </p:sp>
    </p:spTree>
    <p:extLst>
      <p:ext uri="{BB962C8B-B14F-4D97-AF65-F5344CB8AC3E}">
        <p14:creationId xmlns:p14="http://schemas.microsoft.com/office/powerpoint/2010/main" val="298305612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401638"/>
            <a:ext cx="11438467" cy="1371600"/>
          </a:xfrm>
        </p:spPr>
        <p:txBody>
          <a:bodyPr/>
          <a:lstStyle/>
          <a:p>
            <a:pPr fontAlgn="auto">
              <a:spcAft>
                <a:spcPts val="0"/>
              </a:spcAft>
              <a:defRPr/>
            </a:pPr>
            <a:r>
              <a:rPr lang="en-US" sz="2400" b="1" dirty="0" smtClean="0">
                <a:solidFill>
                  <a:srgbClr val="0000CC"/>
                </a:solidFill>
              </a:rPr>
              <a:t>Full wave rectifier using transformer and 2 diodes</a:t>
            </a:r>
            <a:endParaRPr lang="en-IN" sz="2400" b="1" dirty="0">
              <a:solidFill>
                <a:srgbClr val="0000CC"/>
              </a:solidFill>
            </a:endParaRPr>
          </a:p>
        </p:txBody>
      </p:sp>
      <p:pic>
        <p:nvPicPr>
          <p:cNvPr id="15363" name="Picture 2" descr="\\SREE\Users\Thenmurugeshwari\My Documents\Work\27.1.11\2diode.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1801" y="2511425"/>
            <a:ext cx="11281833"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Slide Number Placeholder 3"/>
          <p:cNvSpPr>
            <a:spLocks noGrp="1"/>
          </p:cNvSpPr>
          <p:nvPr>
            <p:ph type="sldNum" sz="quarter" idx="12"/>
          </p:nvPr>
        </p:nvSpPr>
        <p:spPr/>
        <p:txBody>
          <a:bodyPr/>
          <a:lstStyle/>
          <a:p>
            <a:fld id="{B6F15528-21DE-4FAA-801E-634DDDAF4B2B}" type="slidenum">
              <a:rPr lang="en-US" smtClean="0"/>
              <a:pPr/>
              <a:t>27</a:t>
            </a:fld>
            <a:endParaRPr lang="en-US"/>
          </a:p>
        </p:txBody>
      </p:sp>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1801" y="1166814"/>
            <a:ext cx="11455399" cy="4524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897996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6F15528-21DE-4FAA-801E-634DDDAF4B2B}" type="slidenum">
              <a:rPr lang="en-US" smtClean="0"/>
              <a:pPr/>
              <a:t>28</a:t>
            </a:fld>
            <a:endParaRPr lang="en-US"/>
          </a:p>
        </p:txBody>
      </p:sp>
      <p:pic>
        <p:nvPicPr>
          <p:cNvPr id="161794" name="Picture 2"/>
          <p:cNvPicPr>
            <a:picLocks noGrp="1" noChangeAspect="1" noChangeArrowheads="1"/>
          </p:cNvPicPr>
          <p:nvPr>
            <p:ph idx="1"/>
          </p:nvPr>
        </p:nvPicPr>
        <p:blipFill>
          <a:blip r:embed="rId2"/>
          <a:srcRect/>
          <a:stretch>
            <a:fillRect/>
          </a:stretch>
        </p:blipFill>
        <p:spPr bwMode="auto">
          <a:xfrm>
            <a:off x="2286000" y="990600"/>
            <a:ext cx="7086600" cy="3733800"/>
          </a:xfrm>
          <a:prstGeom prst="rect">
            <a:avLst/>
          </a:prstGeom>
          <a:noFill/>
          <a:ln w="9525">
            <a:noFill/>
            <a:miter lim="800000"/>
            <a:headEnd/>
            <a:tailEnd/>
          </a:ln>
          <a:effectLst/>
        </p:spPr>
      </p:pic>
    </p:spTree>
    <p:extLst>
      <p:ext uri="{BB962C8B-B14F-4D97-AF65-F5344CB8AC3E}">
        <p14:creationId xmlns:p14="http://schemas.microsoft.com/office/powerpoint/2010/main" val="1016449978"/>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152400"/>
            <a:ext cx="7283450" cy="1371600"/>
          </a:xfrm>
        </p:spPr>
        <p:txBody>
          <a:bodyPr>
            <a:normAutofit/>
          </a:bodyPr>
          <a:lstStyle/>
          <a:p>
            <a:pPr>
              <a:defRPr/>
            </a:pPr>
            <a:r>
              <a:rPr lang="en-US" sz="4000" dirty="0" smtClean="0"/>
              <a:t>    Full </a:t>
            </a:r>
            <a:r>
              <a:rPr lang="en-US" sz="4000" dirty="0"/>
              <a:t>wave </a:t>
            </a:r>
            <a:r>
              <a:rPr lang="en-US" sz="4000" dirty="0" smtClean="0"/>
              <a:t>rectification   </a:t>
            </a:r>
            <a:endParaRPr lang="en-IN" sz="4000" dirty="0"/>
          </a:p>
        </p:txBody>
      </p:sp>
      <p:sp>
        <p:nvSpPr>
          <p:cNvPr id="13315" name="Content Placeholder 2"/>
          <p:cNvSpPr>
            <a:spLocks noGrp="1"/>
          </p:cNvSpPr>
          <p:nvPr>
            <p:ph idx="1"/>
          </p:nvPr>
        </p:nvSpPr>
        <p:spPr>
          <a:xfrm>
            <a:off x="1847850" y="1557338"/>
            <a:ext cx="8280400" cy="4824412"/>
          </a:xfrm>
        </p:spPr>
        <p:txBody>
          <a:bodyPr/>
          <a:lstStyle/>
          <a:p>
            <a:pPr marL="720725" indent="-538163" algn="just">
              <a:lnSpc>
                <a:spcPct val="200000"/>
              </a:lnSpc>
              <a:buClr>
                <a:srgbClr val="C00000"/>
              </a:buClr>
              <a:buNone/>
            </a:pPr>
            <a:r>
              <a:rPr lang="en-IN" sz="2400" dirty="0"/>
              <a:t>	In a circuit with a non - center tapped transformer, </a:t>
            </a:r>
            <a:r>
              <a:rPr lang="en-IN" sz="2400" dirty="0">
                <a:solidFill>
                  <a:srgbClr val="00B050"/>
                </a:solidFill>
              </a:rPr>
              <a:t>four diodes </a:t>
            </a:r>
            <a:r>
              <a:rPr lang="en-IN" sz="2400" dirty="0"/>
              <a:t>are required instead of the one needed for </a:t>
            </a:r>
            <a:r>
              <a:rPr lang="en-IN" sz="2400" dirty="0">
                <a:solidFill>
                  <a:srgbClr val="00B050"/>
                </a:solidFill>
              </a:rPr>
              <a:t>half-wave rectification</a:t>
            </a:r>
            <a:r>
              <a:rPr lang="en-IN" sz="2400" dirty="0"/>
              <a: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29</a:t>
            </a:fld>
            <a:endParaRPr lang="en-US"/>
          </a:p>
        </p:txBody>
      </p:sp>
    </p:spTree>
    <p:extLst>
      <p:ext uri="{BB962C8B-B14F-4D97-AF65-F5344CB8AC3E}">
        <p14:creationId xmlns:p14="http://schemas.microsoft.com/office/powerpoint/2010/main" val="153271617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914400"/>
            <a:ext cx="8229600" cy="5410200"/>
          </a:xfrm>
        </p:spPr>
        <p:txBody>
          <a:bodyPr/>
          <a:lstStyle/>
          <a:p>
            <a:pPr marL="0" indent="0">
              <a:buNone/>
            </a:pPr>
            <a:endParaRPr lang="en-US" dirty="0"/>
          </a:p>
        </p:txBody>
      </p:sp>
      <p:pic>
        <p:nvPicPr>
          <p:cNvPr id="74754" name="Picture 2"/>
          <p:cNvPicPr>
            <a:picLocks noChangeAspect="1" noChangeArrowheads="1"/>
          </p:cNvPicPr>
          <p:nvPr/>
        </p:nvPicPr>
        <p:blipFill>
          <a:blip r:embed="rId2"/>
          <a:srcRect/>
          <a:stretch>
            <a:fillRect/>
          </a:stretch>
        </p:blipFill>
        <p:spPr bwMode="auto">
          <a:xfrm>
            <a:off x="2046988" y="956338"/>
            <a:ext cx="6543675" cy="1933575"/>
          </a:xfrm>
          <a:prstGeom prst="rect">
            <a:avLst/>
          </a:prstGeom>
          <a:noFill/>
          <a:ln w="9525">
            <a:noFill/>
            <a:miter lim="800000"/>
            <a:headEnd/>
            <a:tailEnd/>
          </a:ln>
        </p:spPr>
      </p:pic>
      <p:pic>
        <p:nvPicPr>
          <p:cNvPr id="74755" name="Picture 3"/>
          <p:cNvPicPr>
            <a:picLocks noChangeAspect="1" noChangeArrowheads="1"/>
          </p:cNvPicPr>
          <p:nvPr/>
        </p:nvPicPr>
        <p:blipFill>
          <a:blip r:embed="rId3"/>
          <a:srcRect/>
          <a:stretch>
            <a:fillRect/>
          </a:stretch>
        </p:blipFill>
        <p:spPr bwMode="auto">
          <a:xfrm>
            <a:off x="4901514" y="3094037"/>
            <a:ext cx="2743200" cy="1371600"/>
          </a:xfrm>
          <a:prstGeom prst="rect">
            <a:avLst/>
          </a:prstGeom>
          <a:noFill/>
          <a:ln w="9525">
            <a:noFill/>
            <a:miter lim="800000"/>
            <a:headEnd/>
            <a:tailEnd/>
          </a:ln>
        </p:spPr>
      </p:pic>
      <p:sp>
        <p:nvSpPr>
          <p:cNvPr id="7" name="TextBox 6"/>
          <p:cNvSpPr txBox="1"/>
          <p:nvPr/>
        </p:nvSpPr>
        <p:spPr>
          <a:xfrm>
            <a:off x="2286000" y="2971800"/>
            <a:ext cx="6019800" cy="369332"/>
          </a:xfrm>
          <a:prstGeom prst="rect">
            <a:avLst/>
          </a:prstGeom>
          <a:noFill/>
        </p:spPr>
        <p:txBody>
          <a:bodyPr wrap="square" rtlCol="0">
            <a:spAutoFit/>
          </a:bodyPr>
          <a:lstStyle/>
          <a:p>
            <a:endParaRPr lang="en-US" dirty="0"/>
          </a:p>
        </p:txBody>
      </p:sp>
      <p:sp>
        <p:nvSpPr>
          <p:cNvPr id="8" name="Slide Number Placeholder 7"/>
          <p:cNvSpPr>
            <a:spLocks noGrp="1"/>
          </p:cNvSpPr>
          <p:nvPr>
            <p:ph type="sldNum" sz="quarter" idx="12"/>
          </p:nvPr>
        </p:nvSpPr>
        <p:spPr/>
        <p:txBody>
          <a:bodyPr/>
          <a:lstStyle/>
          <a:p>
            <a:fld id="{B6F15528-21DE-4FAA-801E-634DDDAF4B2B}" type="slidenum">
              <a:rPr lang="en-US" smtClean="0"/>
              <a:pPr/>
              <a:t>30</a:t>
            </a:fld>
            <a:endParaRPr lang="en-US"/>
          </a:p>
        </p:txBody>
      </p:sp>
    </p:spTree>
    <p:extLst>
      <p:ext uri="{BB962C8B-B14F-4D97-AF65-F5344CB8AC3E}">
        <p14:creationId xmlns:p14="http://schemas.microsoft.com/office/powerpoint/2010/main" val="4271920111"/>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914400"/>
            <a:ext cx="8229600" cy="5410200"/>
          </a:xfrm>
        </p:spPr>
        <p:txBody>
          <a:bodyPr/>
          <a:lstStyle/>
          <a:p>
            <a:pPr>
              <a:buNone/>
            </a:pPr>
            <a:endParaRPr lang="en-US" dirty="0"/>
          </a:p>
        </p:txBody>
      </p:sp>
      <p:pic>
        <p:nvPicPr>
          <p:cNvPr id="75778" name="Picture 2"/>
          <p:cNvPicPr>
            <a:picLocks noChangeAspect="1" noChangeArrowheads="1"/>
          </p:cNvPicPr>
          <p:nvPr/>
        </p:nvPicPr>
        <p:blipFill>
          <a:blip r:embed="rId2"/>
          <a:srcRect/>
          <a:stretch>
            <a:fillRect/>
          </a:stretch>
        </p:blipFill>
        <p:spPr bwMode="auto">
          <a:xfrm>
            <a:off x="2057400" y="990600"/>
            <a:ext cx="7467600" cy="2971800"/>
          </a:xfrm>
          <a:prstGeom prst="rect">
            <a:avLst/>
          </a:prstGeom>
          <a:noFill/>
          <a:ln w="9525">
            <a:noFill/>
            <a:miter lim="800000"/>
            <a:headEnd/>
            <a:tailEnd/>
          </a:ln>
        </p:spPr>
      </p:pic>
      <p:pic>
        <p:nvPicPr>
          <p:cNvPr id="75779" name="Picture 3"/>
          <p:cNvPicPr>
            <a:picLocks noChangeAspect="1" noChangeArrowheads="1"/>
          </p:cNvPicPr>
          <p:nvPr/>
        </p:nvPicPr>
        <p:blipFill>
          <a:blip r:embed="rId3"/>
          <a:srcRect/>
          <a:stretch>
            <a:fillRect/>
          </a:stretch>
        </p:blipFill>
        <p:spPr bwMode="auto">
          <a:xfrm>
            <a:off x="2819400" y="3962400"/>
            <a:ext cx="6324600" cy="1828800"/>
          </a:xfrm>
          <a:prstGeom prst="rect">
            <a:avLst/>
          </a:prstGeom>
          <a:noFill/>
          <a:ln w="9525">
            <a:noFill/>
            <a:miter lim="800000"/>
            <a:headEnd/>
            <a:tailEnd/>
          </a:ln>
        </p:spPr>
      </p:pic>
      <p:sp>
        <p:nvSpPr>
          <p:cNvPr id="6" name="Slide Number Placeholder 5"/>
          <p:cNvSpPr>
            <a:spLocks noGrp="1"/>
          </p:cNvSpPr>
          <p:nvPr>
            <p:ph type="sldNum" sz="quarter" idx="12"/>
          </p:nvPr>
        </p:nvSpPr>
        <p:spPr/>
        <p:txBody>
          <a:bodyPr/>
          <a:lstStyle/>
          <a:p>
            <a:fld id="{B6F15528-21DE-4FAA-801E-634DDDAF4B2B}" type="slidenum">
              <a:rPr lang="en-US" smtClean="0"/>
              <a:pPr/>
              <a:t>31</a:t>
            </a:fld>
            <a:endParaRPr lang="en-US"/>
          </a:p>
        </p:txBody>
      </p:sp>
    </p:spTree>
    <p:extLst>
      <p:ext uri="{BB962C8B-B14F-4D97-AF65-F5344CB8AC3E}">
        <p14:creationId xmlns:p14="http://schemas.microsoft.com/office/powerpoint/2010/main" val="2180546851"/>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914400"/>
            <a:ext cx="8229600" cy="5410200"/>
          </a:xfrm>
        </p:spPr>
        <p:txBody>
          <a:bodyPr/>
          <a:lstStyle/>
          <a:p>
            <a:pPr>
              <a:buNone/>
            </a:pPr>
            <a:endParaRPr lang="en-US" dirty="0"/>
          </a:p>
        </p:txBody>
      </p:sp>
      <p:pic>
        <p:nvPicPr>
          <p:cNvPr id="76802" name="Picture 2"/>
          <p:cNvPicPr>
            <a:picLocks noChangeAspect="1" noChangeArrowheads="1"/>
          </p:cNvPicPr>
          <p:nvPr/>
        </p:nvPicPr>
        <p:blipFill>
          <a:blip r:embed="rId2"/>
          <a:srcRect/>
          <a:stretch>
            <a:fillRect/>
          </a:stretch>
        </p:blipFill>
        <p:spPr bwMode="auto">
          <a:xfrm>
            <a:off x="2057400" y="990601"/>
            <a:ext cx="7620000" cy="4190999"/>
          </a:xfrm>
          <a:prstGeom prst="rect">
            <a:avLst/>
          </a:prstGeom>
          <a:noFill/>
          <a:ln w="9525">
            <a:noFill/>
            <a:miter lim="800000"/>
            <a:headEnd/>
            <a:tailEnd/>
          </a:ln>
        </p:spPr>
      </p:pic>
      <p:sp>
        <p:nvSpPr>
          <p:cNvPr id="5" name="Slide Number Placeholder 4"/>
          <p:cNvSpPr>
            <a:spLocks noGrp="1"/>
          </p:cNvSpPr>
          <p:nvPr>
            <p:ph type="sldNum" sz="quarter" idx="12"/>
          </p:nvPr>
        </p:nvSpPr>
        <p:spPr/>
        <p:txBody>
          <a:bodyPr/>
          <a:lstStyle/>
          <a:p>
            <a:fld id="{B6F15528-21DE-4FAA-801E-634DDDAF4B2B}" type="slidenum">
              <a:rPr lang="en-US" smtClean="0"/>
              <a:pPr/>
              <a:t>32</a:t>
            </a:fld>
            <a:endParaRPr lang="en-US"/>
          </a:p>
        </p:txBody>
      </p:sp>
    </p:spTree>
    <p:extLst>
      <p:ext uri="{BB962C8B-B14F-4D97-AF65-F5344CB8AC3E}">
        <p14:creationId xmlns:p14="http://schemas.microsoft.com/office/powerpoint/2010/main" val="457895170"/>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17245" y="389271"/>
            <a:ext cx="8686800" cy="1371600"/>
          </a:xfrm>
        </p:spPr>
        <p:txBody>
          <a:bodyPr>
            <a:normAutofit/>
          </a:bodyPr>
          <a:lstStyle/>
          <a:p>
            <a:pPr>
              <a:defRPr/>
            </a:pPr>
            <a:r>
              <a:rPr lang="en-US" dirty="0"/>
              <a:t>Full wave rectifier working animation</a:t>
            </a:r>
            <a:endParaRPr lang="en-IN" dirty="0"/>
          </a:p>
        </p:txBody>
      </p:sp>
      <p:pic>
        <p:nvPicPr>
          <p:cNvPr id="12291" name="Picture 2" descr="\\SREE\Users\Thenmurugeshwari\My Documents\Work\27.1.11\full wave rectification.gif"/>
          <p:cNvPicPr>
            <a:picLocks noGrp="1" noChangeAspect="1" noChangeArrowheads="1" noCrop="1"/>
          </p:cNvPicPr>
          <p:nvPr>
            <p:ph idx="1"/>
          </p:nvPr>
        </p:nvPicPr>
        <p:blipFill>
          <a:blip r:embed="rId2">
            <a:extLst>
              <a:ext uri="{28A0092B-C50C-407E-A947-70E740481C1C}">
                <a14:useLocalDpi xmlns:a14="http://schemas.microsoft.com/office/drawing/2010/main" val="0"/>
              </a:ext>
            </a:extLst>
          </a:blip>
          <a:srcRect/>
          <a:stretch>
            <a:fillRect/>
          </a:stretch>
        </p:blipFill>
        <p:spPr>
          <a:xfrm>
            <a:off x="2424113" y="2492376"/>
            <a:ext cx="6405562" cy="3457575"/>
          </a:xfrm>
          <a:noFill/>
        </p:spPr>
      </p:pic>
      <p:sp>
        <p:nvSpPr>
          <p:cNvPr id="4" name="Slide Number Placeholder 3"/>
          <p:cNvSpPr>
            <a:spLocks noGrp="1"/>
          </p:cNvSpPr>
          <p:nvPr>
            <p:ph type="sldNum" sz="quarter" idx="12"/>
          </p:nvPr>
        </p:nvSpPr>
        <p:spPr/>
        <p:txBody>
          <a:bodyPr/>
          <a:lstStyle/>
          <a:p>
            <a:fld id="{B6F15528-21DE-4FAA-801E-634DDDAF4B2B}" type="slidenum">
              <a:rPr lang="en-US" smtClean="0"/>
              <a:pPr/>
              <a:t>33</a:t>
            </a:fld>
            <a:endParaRPr lang="en-US"/>
          </a:p>
        </p:txBody>
      </p:sp>
    </p:spTree>
    <p:extLst>
      <p:ext uri="{BB962C8B-B14F-4D97-AF65-F5344CB8AC3E}">
        <p14:creationId xmlns:p14="http://schemas.microsoft.com/office/powerpoint/2010/main" val="24576216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9667" y="257175"/>
            <a:ext cx="10767484" cy="1371600"/>
          </a:xfrm>
        </p:spPr>
        <p:txBody>
          <a:bodyPr/>
          <a:lstStyle/>
          <a:p>
            <a:pPr fontAlgn="auto">
              <a:spcAft>
                <a:spcPts val="0"/>
              </a:spcAft>
              <a:defRPr/>
            </a:pPr>
            <a:r>
              <a:rPr lang="en-US" sz="3000" b="1" dirty="0" smtClean="0">
                <a:solidFill>
                  <a:srgbClr val="0000CC"/>
                </a:solidFill>
              </a:rPr>
              <a:t>                  Bridge rectifier working animation</a:t>
            </a:r>
            <a:endParaRPr lang="en-IN" sz="3000" b="1" dirty="0">
              <a:solidFill>
                <a:srgbClr val="0000CC"/>
              </a:solidFill>
            </a:endParaRPr>
          </a:p>
        </p:txBody>
      </p:sp>
      <p:pic>
        <p:nvPicPr>
          <p:cNvPr id="20483" name="Picture 2" descr="\\SREE\Users\Thenmurugeshwari\My Documents\Work\27.1.11\bridge rectifier.gif"/>
          <p:cNvPicPr>
            <a:picLocks noGrp="1" noChangeAspect="1" noChangeArrowheads="1" noCrop="1"/>
          </p:cNvPicPr>
          <p:nvPr>
            <p:ph idx="1"/>
          </p:nvPr>
        </p:nvPicPr>
        <p:blipFill>
          <a:blip r:embed="rId2">
            <a:extLst>
              <a:ext uri="{28A0092B-C50C-407E-A947-70E740481C1C}">
                <a14:useLocalDpi xmlns:a14="http://schemas.microsoft.com/office/drawing/2010/main" val="0"/>
              </a:ext>
            </a:extLst>
          </a:blip>
          <a:srcRect/>
          <a:stretch>
            <a:fillRect/>
          </a:stretch>
        </p:blipFill>
        <p:spPr>
          <a:xfrm>
            <a:off x="2351618" y="3068638"/>
            <a:ext cx="6201833" cy="2686050"/>
          </a:xfrm>
          <a:noFill/>
        </p:spPr>
      </p:pic>
      <p:sp>
        <p:nvSpPr>
          <p:cNvPr id="4" name="Slide Number Placeholder 3"/>
          <p:cNvSpPr>
            <a:spLocks noGrp="1"/>
          </p:cNvSpPr>
          <p:nvPr>
            <p:ph type="sldNum" sz="quarter" idx="12"/>
          </p:nvPr>
        </p:nvSpPr>
        <p:spPr/>
        <p:txBody>
          <a:bodyPr/>
          <a:lstStyle/>
          <a:p>
            <a:fld id="{B6F15528-21DE-4FAA-801E-634DDDAF4B2B}" type="slidenum">
              <a:rPr lang="en-US" smtClean="0"/>
              <a:pPr/>
              <a:t>34</a:t>
            </a:fld>
            <a:endParaRPr lang="en-US"/>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8704" y="1176338"/>
            <a:ext cx="8839200" cy="4505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1159145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152400"/>
            <a:ext cx="7067550" cy="1371600"/>
          </a:xfrm>
        </p:spPr>
        <p:txBody>
          <a:bodyPr/>
          <a:lstStyle/>
          <a:p>
            <a:pPr>
              <a:defRPr/>
            </a:pPr>
            <a:r>
              <a:rPr lang="en-US" b="1" dirty="0" smtClean="0">
                <a:solidFill>
                  <a:srgbClr val="0000CC"/>
                </a:solidFill>
              </a:rPr>
              <a:t>                </a:t>
            </a:r>
            <a:r>
              <a:rPr lang="en-US" sz="4000" dirty="0" smtClean="0"/>
              <a:t>Formula</a:t>
            </a:r>
            <a:endParaRPr lang="en-IN" sz="4000" dirty="0"/>
          </a:p>
        </p:txBody>
      </p:sp>
      <p:sp>
        <p:nvSpPr>
          <p:cNvPr id="16387" name="Content Placeholder 2"/>
          <p:cNvSpPr>
            <a:spLocks noGrp="1"/>
          </p:cNvSpPr>
          <p:nvPr>
            <p:ph idx="1"/>
          </p:nvPr>
        </p:nvSpPr>
        <p:spPr>
          <a:xfrm>
            <a:off x="1981200" y="1268413"/>
            <a:ext cx="7620000" cy="2376488"/>
          </a:xfrm>
        </p:spPr>
        <p:txBody>
          <a:bodyPr/>
          <a:lstStyle/>
          <a:p>
            <a:pPr marL="720725" indent="-538163" algn="just">
              <a:lnSpc>
                <a:spcPct val="200000"/>
              </a:lnSpc>
              <a:buClr>
                <a:srgbClr val="C00000"/>
              </a:buClr>
              <a:buNone/>
            </a:pPr>
            <a:r>
              <a:rPr lang="en-IN" sz="2400" dirty="0"/>
              <a:t>	The </a:t>
            </a:r>
            <a:r>
              <a:rPr lang="en-IN" sz="2400" dirty="0">
                <a:solidFill>
                  <a:srgbClr val="00B050"/>
                </a:solidFill>
              </a:rPr>
              <a:t>average and root-mean-square output voltages </a:t>
            </a:r>
            <a:r>
              <a:rPr lang="en-IN" sz="2400" dirty="0"/>
              <a:t>of an ideal single phase full wave rectifier can be calculated as:</a:t>
            </a:r>
          </a:p>
          <a:p>
            <a:pPr marL="720725" indent="-538163" algn="just">
              <a:lnSpc>
                <a:spcPct val="200000"/>
              </a:lnSpc>
              <a:buClr>
                <a:srgbClr val="C00000"/>
              </a:buClr>
              <a:buFont typeface="Wingdings 2" pitchFamily="18" charset="2"/>
              <a:buChar char="ù"/>
            </a:pPr>
            <a:endParaRPr lang="en-IN" sz="2400" dirty="0"/>
          </a:p>
        </p:txBody>
      </p:sp>
      <p:pic>
        <p:nvPicPr>
          <p:cNvPr id="8194" name="Picture 2" descr="\\SREE\Users\Thenmurugeshwari\My Documents\Work\27.1.11\avg.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67213" y="3998914"/>
            <a:ext cx="3168650" cy="947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195" name="Picture 3" descr="\\SREE\Users\Thenmurugeshwari\My Documents\Work\27.1.11\root square.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72039" y="5300664"/>
            <a:ext cx="2160587"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Slide Number Placeholder 5"/>
          <p:cNvSpPr>
            <a:spLocks noGrp="1"/>
          </p:cNvSpPr>
          <p:nvPr>
            <p:ph type="sldNum" sz="quarter" idx="12"/>
          </p:nvPr>
        </p:nvSpPr>
        <p:spPr/>
        <p:txBody>
          <a:bodyPr/>
          <a:lstStyle/>
          <a:p>
            <a:fld id="{B6F15528-21DE-4FAA-801E-634DDDAF4B2B}" type="slidenum">
              <a:rPr lang="en-US" smtClean="0"/>
              <a:pPr/>
              <a:t>35</a:t>
            </a:fld>
            <a:endParaRPr lang="en-US"/>
          </a:p>
        </p:txBody>
      </p:sp>
    </p:spTree>
    <p:extLst>
      <p:ext uri="{BB962C8B-B14F-4D97-AF65-F5344CB8AC3E}">
        <p14:creationId xmlns:p14="http://schemas.microsoft.com/office/powerpoint/2010/main" val="306750678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47850" y="328613"/>
            <a:ext cx="8362950" cy="1371600"/>
          </a:xfrm>
        </p:spPr>
        <p:txBody>
          <a:bodyPr>
            <a:normAutofit/>
          </a:bodyPr>
          <a:lstStyle/>
          <a:p>
            <a:pPr algn="ctr">
              <a:defRPr/>
            </a:pPr>
            <a:r>
              <a:rPr lang="en-US" sz="4000" dirty="0"/>
              <a:t>Output voltage of the full wave rectifier Animation</a:t>
            </a:r>
            <a:endParaRPr lang="en-IN" sz="4000" dirty="0"/>
          </a:p>
        </p:txBody>
      </p:sp>
      <p:pic>
        <p:nvPicPr>
          <p:cNvPr id="17411" name="Picture 2" descr="\\SREE\Users\Thenmurugeshwari\My Documents\Work\27.1.11\output.gif"/>
          <p:cNvPicPr>
            <a:picLocks noGrp="1" noChangeAspect="1" noChangeArrowheads="1" noCrop="1"/>
          </p:cNvPicPr>
          <p:nvPr>
            <p:ph idx="1"/>
          </p:nvPr>
        </p:nvPicPr>
        <p:blipFill>
          <a:blip r:embed="rId3">
            <a:extLst>
              <a:ext uri="{28A0092B-C50C-407E-A947-70E740481C1C}">
                <a14:useLocalDpi xmlns:a14="http://schemas.microsoft.com/office/drawing/2010/main" val="0"/>
              </a:ext>
            </a:extLst>
          </a:blip>
          <a:srcRect/>
          <a:stretch>
            <a:fillRect/>
          </a:stretch>
        </p:blipFill>
        <p:spPr>
          <a:xfrm>
            <a:off x="4656139" y="2997200"/>
            <a:ext cx="2395537" cy="1524000"/>
          </a:xfrm>
          <a:noFill/>
        </p:spPr>
      </p:pic>
      <p:sp>
        <p:nvSpPr>
          <p:cNvPr id="4" name="Slide Number Placeholder 3"/>
          <p:cNvSpPr>
            <a:spLocks noGrp="1"/>
          </p:cNvSpPr>
          <p:nvPr>
            <p:ph type="sldNum" sz="quarter" idx="12"/>
          </p:nvPr>
        </p:nvSpPr>
        <p:spPr/>
        <p:txBody>
          <a:bodyPr/>
          <a:lstStyle/>
          <a:p>
            <a:fld id="{B6F15528-21DE-4FAA-801E-634DDDAF4B2B}" type="slidenum">
              <a:rPr lang="en-US" smtClean="0"/>
              <a:pPr/>
              <a:t>36</a:t>
            </a:fld>
            <a:endParaRPr lang="en-US"/>
          </a:p>
        </p:txBody>
      </p:sp>
    </p:spTree>
    <p:extLst>
      <p:ext uri="{BB962C8B-B14F-4D97-AF65-F5344CB8AC3E}">
        <p14:creationId xmlns:p14="http://schemas.microsoft.com/office/powerpoint/2010/main" val="66033822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152400"/>
            <a:ext cx="7354888" cy="1371600"/>
          </a:xfrm>
        </p:spPr>
        <p:txBody>
          <a:bodyPr>
            <a:normAutofit/>
          </a:bodyPr>
          <a:lstStyle/>
          <a:p>
            <a:pPr>
              <a:defRPr/>
            </a:pPr>
            <a:r>
              <a:rPr lang="en-US" sz="4000" dirty="0" smtClean="0"/>
              <a:t/>
            </a:r>
            <a:br>
              <a:rPr lang="en-US" sz="4000" dirty="0" smtClean="0"/>
            </a:br>
            <a:r>
              <a:rPr lang="en-US" sz="4000" dirty="0" smtClean="0"/>
              <a:t>           Bridge </a:t>
            </a:r>
            <a:r>
              <a:rPr lang="en-US" sz="4000" dirty="0"/>
              <a:t>rectifier</a:t>
            </a:r>
            <a:endParaRPr lang="en-IN" sz="4000" dirty="0"/>
          </a:p>
        </p:txBody>
      </p:sp>
      <p:sp>
        <p:nvSpPr>
          <p:cNvPr id="18435" name="Content Placeholder 2"/>
          <p:cNvSpPr>
            <a:spLocks noGrp="1"/>
          </p:cNvSpPr>
          <p:nvPr>
            <p:ph idx="1"/>
          </p:nvPr>
        </p:nvSpPr>
        <p:spPr>
          <a:xfrm>
            <a:off x="1848644" y="1830516"/>
            <a:ext cx="7620000" cy="2808288"/>
          </a:xfrm>
        </p:spPr>
        <p:txBody>
          <a:bodyPr/>
          <a:lstStyle/>
          <a:p>
            <a:pPr marL="720725" indent="-538163" algn="just">
              <a:lnSpc>
                <a:spcPct val="200000"/>
              </a:lnSpc>
              <a:buClr>
                <a:srgbClr val="C00000"/>
              </a:buClr>
              <a:buNone/>
            </a:pPr>
            <a:r>
              <a:rPr lang="en-IN" sz="2400" dirty="0"/>
              <a:t>	A bridge rectifier makes </a:t>
            </a:r>
            <a:r>
              <a:rPr lang="en-IN" sz="2400" dirty="0">
                <a:solidFill>
                  <a:srgbClr val="00B050"/>
                </a:solidFill>
              </a:rPr>
              <a:t>use of four diodes in a bridge arrangement to achieve full-wave rectification</a:t>
            </a:r>
            <a:r>
              <a:rPr lang="en-IN" sz="2400" dirty="0"/>
              <a: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37</a:t>
            </a:fld>
            <a:endParaRPr lang="en-US"/>
          </a:p>
        </p:txBody>
      </p:sp>
    </p:spTree>
    <p:extLst>
      <p:ext uri="{BB962C8B-B14F-4D97-AF65-F5344CB8AC3E}">
        <p14:creationId xmlns:p14="http://schemas.microsoft.com/office/powerpoint/2010/main" val="342806655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07465" y="20430"/>
            <a:ext cx="8567927" cy="940443"/>
          </a:xfrm>
        </p:spPr>
        <p:txBody>
          <a:bodyPr>
            <a:normAutofit/>
          </a:bodyPr>
          <a:lstStyle/>
          <a:p>
            <a:pPr algn="ctr"/>
            <a:r>
              <a:rPr lang="en-GB" sz="3200" dirty="0">
                <a:latin typeface="+mn-lt"/>
              </a:rPr>
              <a:t>Origin of power electronics</a:t>
            </a:r>
            <a:endParaRPr lang="en-US" sz="3200" dirty="0">
              <a:latin typeface="+mn-lt"/>
            </a:endParaRPr>
          </a:p>
        </p:txBody>
      </p:sp>
      <p:sp>
        <p:nvSpPr>
          <p:cNvPr id="3" name="Content Placeholder 2"/>
          <p:cNvSpPr>
            <a:spLocks noGrp="1"/>
          </p:cNvSpPr>
          <p:nvPr>
            <p:ph idx="1"/>
          </p:nvPr>
        </p:nvSpPr>
        <p:spPr>
          <a:xfrm>
            <a:off x="1704001" y="900000"/>
            <a:ext cx="8506800" cy="5244768"/>
          </a:xfrm>
        </p:spPr>
        <p:txBody>
          <a:bodyPr>
            <a:noAutofit/>
          </a:bodyPr>
          <a:lstStyle/>
          <a:p>
            <a:pPr marL="36541" indent="0" algn="just">
              <a:buNone/>
            </a:pPr>
            <a:r>
              <a:rPr lang="en-GB" sz="1600" dirty="0"/>
              <a:t>Power electronics is the application of solid-state electronics for the control and conversion of electric power.</a:t>
            </a:r>
          </a:p>
          <a:p>
            <a:pPr marL="36541" indent="0" algn="just">
              <a:buNone/>
            </a:pPr>
            <a:r>
              <a:rPr lang="en-GB" sz="1600" dirty="0"/>
              <a:t>Power electronics started with the development of mercury arc rectifier. Invented by Peter Cooper Hewitt in 1902, the mercury arc rectifier was used to convert alternating current (AC) into direct current (DC).</a:t>
            </a:r>
          </a:p>
          <a:p>
            <a:pPr marL="36541" indent="0">
              <a:buNone/>
            </a:pPr>
            <a:endParaRPr lang="en-GB" sz="1600" dirty="0"/>
          </a:p>
          <a:p>
            <a:pPr marL="36541" indent="0">
              <a:buNone/>
            </a:pPr>
            <a:endParaRPr lang="en-GB" sz="1600" dirty="0"/>
          </a:p>
          <a:p>
            <a:pPr marL="36541" indent="0">
              <a:buNone/>
            </a:pPr>
            <a:endParaRPr lang="en-GB" sz="1600" dirty="0"/>
          </a:p>
          <a:p>
            <a:pPr marL="36541" indent="0">
              <a:buNone/>
            </a:pPr>
            <a:endParaRPr lang="en-GB" sz="1600" dirty="0"/>
          </a:p>
          <a:p>
            <a:pPr marL="36541" indent="0">
              <a:buNone/>
            </a:pPr>
            <a:endParaRPr lang="en-GB" sz="1600" dirty="0"/>
          </a:p>
          <a:p>
            <a:pPr marL="36541" indent="0">
              <a:buNone/>
            </a:pPr>
            <a:endParaRPr lang="en-GB" sz="1600" dirty="0"/>
          </a:p>
          <a:p>
            <a:pPr marL="36541" indent="0">
              <a:buNone/>
            </a:pPr>
            <a:endParaRPr lang="en-GB" sz="1600" dirty="0"/>
          </a:p>
        </p:txBody>
      </p:sp>
      <p:sp>
        <p:nvSpPr>
          <p:cNvPr id="8" name="Slide Number Placeholder 5"/>
          <p:cNvSpPr>
            <a:spLocks noGrp="1"/>
          </p:cNvSpPr>
          <p:nvPr>
            <p:ph type="sldNum" sz="quarter" idx="4294967295"/>
          </p:nvPr>
        </p:nvSpPr>
        <p:spPr>
          <a:xfrm>
            <a:off x="9709376" y="6356360"/>
            <a:ext cx="501424" cy="365125"/>
          </a:xfrm>
        </p:spPr>
        <p:txBody>
          <a:bodyPr/>
          <a:lstStyle/>
          <a:p>
            <a:fld id="{17918391-D411-FE40-AAD7-861AE5233E0E}" type="slidenum">
              <a:rPr lang="en-US" smtClean="0"/>
              <a:pPr/>
              <a:t>38</a:t>
            </a:fld>
            <a:endParaRPr lang="en-US"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0171" y="3522385"/>
            <a:ext cx="4216966" cy="2459897"/>
          </a:xfrm>
          <a:prstGeom prst="rect">
            <a:avLst/>
          </a:prstGeom>
        </p:spPr>
      </p:pic>
      <p:pic>
        <p:nvPicPr>
          <p:cNvPr id="5" name="Picture 4"/>
          <p:cNvPicPr>
            <a:picLocks noChangeAspect="1"/>
          </p:cNvPicPr>
          <p:nvPr/>
        </p:nvPicPr>
        <p:blipFill>
          <a:blip r:embed="rId4"/>
          <a:stretch>
            <a:fillRect/>
          </a:stretch>
        </p:blipFill>
        <p:spPr>
          <a:xfrm>
            <a:off x="4604674" y="2258022"/>
            <a:ext cx="2839917" cy="1649155"/>
          </a:xfrm>
          <a:prstGeom prst="rect">
            <a:avLst/>
          </a:prstGeom>
        </p:spPr>
      </p:pic>
      <p:pic>
        <p:nvPicPr>
          <p:cNvPr id="27650" name="Picture 2" descr="https://upload.wikimedia.org/wikipedia/commons/thumb/5/54/Quecksilberdampfgleichrichter_in_Betrieb.JPG/800px-Quecksilberdampfgleichrichter_in_Betrieb.JPG"/>
          <p:cNvPicPr>
            <a:picLocks noChangeAspect="1" noChangeArrowheads="1"/>
          </p:cNvPicPr>
          <p:nvPr/>
        </p:nvPicPr>
        <p:blipFill rotWithShape="1">
          <a:blip r:embed="rId5">
            <a:extLst>
              <a:ext uri="{28A0092B-C50C-407E-A947-70E740481C1C}">
                <a14:useLocalDpi xmlns:a14="http://schemas.microsoft.com/office/drawing/2010/main" val="0"/>
              </a:ext>
            </a:extLst>
          </a:blip>
          <a:srcRect l="18704" t="17578" r="10818" b="26964"/>
          <a:stretch/>
        </p:blipFill>
        <p:spPr bwMode="auto">
          <a:xfrm>
            <a:off x="7828086" y="3304962"/>
            <a:ext cx="2633050" cy="2763397"/>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6154927" y="5576736"/>
            <a:ext cx="1287532" cy="369332"/>
          </a:xfrm>
          <a:prstGeom prst="rect">
            <a:avLst/>
          </a:prstGeom>
          <a:noFill/>
        </p:spPr>
        <p:txBody>
          <a:bodyPr wrap="none" rtlCol="0">
            <a:spAutoFit/>
          </a:bodyPr>
          <a:lstStyle/>
          <a:p>
            <a:r>
              <a:rPr lang="en-US" dirty="0"/>
              <a:t>1902-1970</a:t>
            </a:r>
          </a:p>
        </p:txBody>
      </p:sp>
      <p:sp>
        <p:nvSpPr>
          <p:cNvPr id="10" name="Date Placeholder 3"/>
          <p:cNvSpPr>
            <a:spLocks noGrp="1"/>
          </p:cNvSpPr>
          <p:nvPr>
            <p:ph type="dt" sz="half" idx="4294967295"/>
          </p:nvPr>
        </p:nvSpPr>
        <p:spPr>
          <a:xfrm>
            <a:off x="4556526" y="6362387"/>
            <a:ext cx="3087627" cy="365125"/>
          </a:xfrm>
        </p:spPr>
        <p:txBody>
          <a:bodyPr/>
          <a:lstStyle/>
          <a:p>
            <a:pPr algn="ctr"/>
            <a:r>
              <a:rPr lang="en-US" sz="1100" dirty="0"/>
              <a:t>CAS, Chavannes-de-</a:t>
            </a:r>
            <a:r>
              <a:rPr lang="en-US" sz="1100" dirty="0" err="1"/>
              <a:t>Bogis</a:t>
            </a:r>
            <a:r>
              <a:rPr lang="en-US" sz="1100" dirty="0"/>
              <a:t>, 09/02/2017</a:t>
            </a:r>
          </a:p>
        </p:txBody>
      </p:sp>
      <p:sp>
        <p:nvSpPr>
          <p:cNvPr id="7" name="Rectangle 6"/>
          <p:cNvSpPr/>
          <p:nvPr/>
        </p:nvSpPr>
        <p:spPr>
          <a:xfrm>
            <a:off x="8112283" y="3368154"/>
            <a:ext cx="2355132" cy="369332"/>
          </a:xfrm>
          <a:prstGeom prst="rect">
            <a:avLst/>
          </a:prstGeom>
        </p:spPr>
        <p:txBody>
          <a:bodyPr wrap="none">
            <a:spAutoFit/>
          </a:bodyPr>
          <a:lstStyle/>
          <a:p>
            <a:r>
              <a:rPr lang="en-GB" dirty="0">
                <a:solidFill>
                  <a:schemeClr val="bg1"/>
                </a:solidFill>
              </a:rPr>
              <a:t>mercury arc rectifier</a:t>
            </a:r>
            <a:endParaRPr lang="en-US" dirty="0">
              <a:solidFill>
                <a:schemeClr val="bg1"/>
              </a:solidFill>
            </a:endParaRPr>
          </a:p>
        </p:txBody>
      </p:sp>
    </p:spTree>
    <p:extLst>
      <p:ext uri="{BB962C8B-B14F-4D97-AF65-F5344CB8AC3E}">
        <p14:creationId xmlns:p14="http://schemas.microsoft.com/office/powerpoint/2010/main" val="1319949082"/>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85276" y="269532"/>
            <a:ext cx="8075613" cy="1371600"/>
          </a:xfrm>
        </p:spPr>
        <p:txBody>
          <a:bodyPr>
            <a:normAutofit/>
          </a:bodyPr>
          <a:lstStyle/>
          <a:p>
            <a:pPr>
              <a:defRPr/>
            </a:pPr>
            <a:r>
              <a:rPr lang="en-US" sz="4000" dirty="0"/>
              <a:t>Bridge rectifier working animation</a:t>
            </a:r>
            <a:endParaRPr lang="en-IN" sz="4000" dirty="0"/>
          </a:p>
        </p:txBody>
      </p:sp>
      <p:pic>
        <p:nvPicPr>
          <p:cNvPr id="20483" name="Picture 2" descr="\\SREE\Users\Thenmurugeshwari\My Documents\Work\27.1.11\bridge rectifier.gif"/>
          <p:cNvPicPr>
            <a:picLocks noGrp="1" noChangeAspect="1" noChangeArrowheads="1" noCrop="1"/>
          </p:cNvPicPr>
          <p:nvPr>
            <p:ph idx="1"/>
          </p:nvPr>
        </p:nvPicPr>
        <p:blipFill>
          <a:blip r:embed="rId2">
            <a:extLst>
              <a:ext uri="{28A0092B-C50C-407E-A947-70E740481C1C}">
                <a14:useLocalDpi xmlns:a14="http://schemas.microsoft.com/office/drawing/2010/main" val="0"/>
              </a:ext>
            </a:extLst>
          </a:blip>
          <a:srcRect/>
          <a:stretch>
            <a:fillRect/>
          </a:stretch>
        </p:blipFill>
        <p:spPr>
          <a:xfrm>
            <a:off x="3287714" y="3068638"/>
            <a:ext cx="4651375" cy="2686050"/>
          </a:xfrm>
          <a:noFill/>
        </p:spPr>
      </p:pic>
      <p:sp>
        <p:nvSpPr>
          <p:cNvPr id="4" name="Slide Number Placeholder 3"/>
          <p:cNvSpPr>
            <a:spLocks noGrp="1"/>
          </p:cNvSpPr>
          <p:nvPr>
            <p:ph type="sldNum" sz="quarter" idx="12"/>
          </p:nvPr>
        </p:nvSpPr>
        <p:spPr/>
        <p:txBody>
          <a:bodyPr/>
          <a:lstStyle/>
          <a:p>
            <a:fld id="{B6F15528-21DE-4FAA-801E-634DDDAF4B2B}" type="slidenum">
              <a:rPr lang="en-US" smtClean="0"/>
              <a:pPr/>
              <a:t>39</a:t>
            </a:fld>
            <a:endParaRPr lang="en-US"/>
          </a:p>
        </p:txBody>
      </p:sp>
    </p:spTree>
    <p:extLst>
      <p:ext uri="{BB962C8B-B14F-4D97-AF65-F5344CB8AC3E}">
        <p14:creationId xmlns:p14="http://schemas.microsoft.com/office/powerpoint/2010/main" val="32252420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p:nvPr>
        </p:nvSpPr>
        <p:spPr/>
        <p:txBody>
          <a:bodyPr/>
          <a:lstStyle/>
          <a:p>
            <a:pPr marL="0" indent="0">
              <a:buNone/>
            </a:pPr>
            <a:endParaRPr lang="en-US" dirty="0" smtClean="0"/>
          </a:p>
          <a:p>
            <a:pPr marL="0" indent="0">
              <a:buNone/>
            </a:pPr>
            <a:endParaRPr lang="en-US" dirty="0"/>
          </a:p>
          <a:p>
            <a:pPr marL="0" indent="0">
              <a:buNone/>
            </a:pPr>
            <a:r>
              <a:rPr lang="en-US" b="1" dirty="0" smtClean="0"/>
              <a:t>                   </a:t>
            </a:r>
            <a:r>
              <a:rPr lang="en-US" sz="2400" b="1" dirty="0" smtClean="0">
                <a:solidFill>
                  <a:schemeClr val="accent2"/>
                </a:solidFill>
              </a:rPr>
              <a:t>Applications</a:t>
            </a:r>
            <a:r>
              <a:rPr lang="en-US" sz="2400" dirty="0" smtClean="0">
                <a:solidFill>
                  <a:schemeClr val="accent2"/>
                </a:solidFill>
              </a:rPr>
              <a:t> </a:t>
            </a:r>
            <a:r>
              <a:rPr lang="en-US" sz="2400" dirty="0">
                <a:solidFill>
                  <a:schemeClr val="accent2"/>
                </a:solidFill>
              </a:rPr>
              <a:t>of the </a:t>
            </a:r>
            <a:r>
              <a:rPr lang="en-US" sz="2400" b="1" dirty="0">
                <a:solidFill>
                  <a:schemeClr val="accent2"/>
                </a:solidFill>
              </a:rPr>
              <a:t>Full Wave Bridge </a:t>
            </a:r>
            <a:r>
              <a:rPr lang="en-US" sz="2400" b="1">
                <a:solidFill>
                  <a:schemeClr val="accent2"/>
                </a:solidFill>
              </a:rPr>
              <a:t>Rectifier</a:t>
            </a:r>
            <a:r>
              <a:rPr lang="en-US" sz="2400">
                <a:solidFill>
                  <a:schemeClr val="accent2"/>
                </a:solidFill>
              </a:rPr>
              <a:t> </a:t>
            </a:r>
            <a:r>
              <a:rPr lang="en-US" sz="2400" smtClean="0">
                <a:solidFill>
                  <a:schemeClr val="accent2"/>
                </a:solidFill>
              </a:rPr>
              <a:t>Circuit</a:t>
            </a:r>
          </a:p>
          <a:p>
            <a:pPr marL="0" indent="0">
              <a:buNone/>
            </a:pPr>
            <a:endParaRPr lang="en-US" sz="2400" dirty="0">
              <a:solidFill>
                <a:schemeClr val="accent2"/>
              </a:solidFill>
            </a:endParaRPr>
          </a:p>
          <a:p>
            <a:r>
              <a:rPr lang="en-US" b="1" dirty="0"/>
              <a:t>Full Wave Bridge Rectifier</a:t>
            </a:r>
            <a:r>
              <a:rPr lang="en-US" dirty="0"/>
              <a:t> is used to detect the amplitude of the modulating </a:t>
            </a:r>
            <a:r>
              <a:rPr lang="en-US" dirty="0" smtClean="0"/>
              <a:t>radio</a:t>
            </a:r>
          </a:p>
          <a:p>
            <a:pPr marL="0" indent="0">
              <a:buNone/>
            </a:pPr>
            <a:r>
              <a:rPr lang="en-US" dirty="0" smtClean="0"/>
              <a:t>         </a:t>
            </a:r>
            <a:r>
              <a:rPr lang="en-US" dirty="0"/>
              <a:t>signal. ... </a:t>
            </a:r>
            <a:r>
              <a:rPr lang="en-US" dirty="0" smtClean="0"/>
              <a:t>\</a:t>
            </a:r>
          </a:p>
          <a:p>
            <a:pPr marL="0" indent="0">
              <a:buNone/>
            </a:pPr>
            <a:endParaRPr lang="en-US" dirty="0" smtClean="0"/>
          </a:p>
          <a:p>
            <a:r>
              <a:rPr lang="en-US" dirty="0" smtClean="0"/>
              <a:t>The </a:t>
            </a:r>
            <a:r>
              <a:rPr lang="en-US" b="1" dirty="0"/>
              <a:t>Bridge Rectifier</a:t>
            </a:r>
            <a:r>
              <a:rPr lang="en-US" dirty="0"/>
              <a:t> circuits are widely used in power supply for various appliances</a:t>
            </a:r>
            <a:r>
              <a:rPr lang="en-US" dirty="0" smtClean="0"/>
              <a:t>,</a:t>
            </a:r>
          </a:p>
          <a:p>
            <a:pPr marL="0" indent="0">
              <a:buNone/>
            </a:pPr>
            <a:r>
              <a:rPr lang="en-US" dirty="0" smtClean="0"/>
              <a:t>           </a:t>
            </a:r>
            <a:r>
              <a:rPr lang="en-US" dirty="0"/>
              <a:t>as they are capable of converting the High AC voltage into Low DC voltage.</a:t>
            </a:r>
            <a:endParaRPr lang="en-US" dirty="0" smtClean="0"/>
          </a:p>
        </p:txBody>
      </p:sp>
    </p:spTree>
    <p:extLst>
      <p:ext uri="{BB962C8B-B14F-4D97-AF65-F5344CB8AC3E}">
        <p14:creationId xmlns:p14="http://schemas.microsoft.com/office/powerpoint/2010/main" val="2366994575"/>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p:nvPr>
        </p:nvSpPr>
        <p:spPr/>
        <p:txBody>
          <a:bodyPr>
            <a:normAutofit/>
          </a:bodyPr>
          <a:lstStyle/>
          <a:p>
            <a:pPr marL="0" indent="0">
              <a:buNone/>
            </a:pPr>
            <a:r>
              <a:rPr lang="en-US" sz="2800" dirty="0" smtClean="0">
                <a:solidFill>
                  <a:schemeClr val="accent2">
                    <a:lumMod val="75000"/>
                  </a:schemeClr>
                </a:solidFill>
              </a:rPr>
              <a:t>                     </a:t>
            </a:r>
          </a:p>
          <a:p>
            <a:pPr marL="0" indent="0">
              <a:buNone/>
            </a:pPr>
            <a:r>
              <a:rPr lang="en-US" sz="2800" dirty="0">
                <a:solidFill>
                  <a:schemeClr val="accent2">
                    <a:lumMod val="75000"/>
                  </a:schemeClr>
                </a:solidFill>
              </a:rPr>
              <a:t> </a:t>
            </a:r>
            <a:r>
              <a:rPr lang="en-US" sz="2800" dirty="0" smtClean="0">
                <a:solidFill>
                  <a:schemeClr val="accent2">
                    <a:lumMod val="75000"/>
                  </a:schemeClr>
                </a:solidFill>
              </a:rPr>
              <a:t>             Efficiency of full wave rectifier</a:t>
            </a:r>
          </a:p>
          <a:p>
            <a:pPr marL="0" indent="0">
              <a:buNone/>
            </a:pPr>
            <a:endParaRPr lang="en-US" sz="2800" dirty="0">
              <a:solidFill>
                <a:schemeClr val="accent2">
                  <a:lumMod val="75000"/>
                </a:schemeClr>
              </a:solidFill>
            </a:endParaRPr>
          </a:p>
        </p:txBody>
      </p:sp>
      <p:pic>
        <p:nvPicPr>
          <p:cNvPr id="3" name="Picture 2"/>
          <p:cNvPicPr>
            <a:picLocks noChangeAspect="1"/>
          </p:cNvPicPr>
          <p:nvPr/>
        </p:nvPicPr>
        <p:blipFill>
          <a:blip r:embed="rId2"/>
          <a:stretch>
            <a:fillRect/>
          </a:stretch>
        </p:blipFill>
        <p:spPr>
          <a:xfrm>
            <a:off x="2100650" y="1533139"/>
            <a:ext cx="5189836" cy="1148277"/>
          </a:xfrm>
          <a:prstGeom prst="rect">
            <a:avLst/>
          </a:prstGeom>
        </p:spPr>
      </p:pic>
      <p:pic>
        <p:nvPicPr>
          <p:cNvPr id="4" name="Picture 3"/>
          <p:cNvPicPr>
            <a:picLocks noChangeAspect="1"/>
          </p:cNvPicPr>
          <p:nvPr/>
        </p:nvPicPr>
        <p:blipFill>
          <a:blip r:embed="rId3"/>
          <a:stretch>
            <a:fillRect/>
          </a:stretch>
        </p:blipFill>
        <p:spPr>
          <a:xfrm>
            <a:off x="1729946" y="2570205"/>
            <a:ext cx="5993027" cy="1369711"/>
          </a:xfrm>
          <a:prstGeom prst="rect">
            <a:avLst/>
          </a:prstGeom>
        </p:spPr>
      </p:pic>
      <p:pic>
        <p:nvPicPr>
          <p:cNvPr id="5" name="Picture 4"/>
          <p:cNvPicPr>
            <a:picLocks noChangeAspect="1"/>
          </p:cNvPicPr>
          <p:nvPr/>
        </p:nvPicPr>
        <p:blipFill>
          <a:blip r:embed="rId4"/>
          <a:stretch>
            <a:fillRect/>
          </a:stretch>
        </p:blipFill>
        <p:spPr>
          <a:xfrm>
            <a:off x="2100650" y="4529306"/>
            <a:ext cx="5955955" cy="1706175"/>
          </a:xfrm>
          <a:prstGeom prst="rect">
            <a:avLst/>
          </a:prstGeom>
        </p:spPr>
      </p:pic>
    </p:spTree>
    <p:extLst>
      <p:ext uri="{BB962C8B-B14F-4D97-AF65-F5344CB8AC3E}">
        <p14:creationId xmlns:p14="http://schemas.microsoft.com/office/powerpoint/2010/main" val="1582590812"/>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p:nvPr>
        </p:nvPicPr>
        <p:blipFill>
          <a:blip r:embed="rId2">
            <a:extLst>
              <a:ext uri="{28A0092B-C50C-407E-A947-70E740481C1C}">
                <a14:useLocalDpi xmlns:a14="http://schemas.microsoft.com/office/drawing/2010/main" val="0"/>
              </a:ext>
            </a:extLst>
          </a:blip>
          <a:srcRect/>
          <a:stretch>
            <a:fillRect/>
          </a:stretch>
        </p:blipFill>
        <p:spPr bwMode="auto">
          <a:xfrm>
            <a:off x="477077" y="198783"/>
            <a:ext cx="11231219" cy="36973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8296" y="3578087"/>
            <a:ext cx="8527774" cy="21269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12101251"/>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themeOverride>
</file>

<file path=ppt/theme/themeOverride2.xml><?xml version="1.0" encoding="utf-8"?>
<a:themeOverride xmlns:a="http://schemas.openxmlformats.org/drawingml/2006/main">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themeOverride>
</file>

<file path=docProps/app.xml><?xml version="1.0" encoding="utf-8"?>
<Properties xmlns="http://schemas.openxmlformats.org/officeDocument/2006/extended-properties" xmlns:vt="http://schemas.openxmlformats.org/officeDocument/2006/docPropsVTypes">
  <Template/>
  <TotalTime>181</TotalTime>
  <Words>1138</Words>
  <Application>Microsoft Office PowerPoint</Application>
  <PresentationFormat>Widescreen</PresentationFormat>
  <Paragraphs>176</Paragraphs>
  <Slides>42</Slides>
  <Notes>7</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42</vt:i4>
      </vt:variant>
    </vt:vector>
  </HeadingPairs>
  <TitlesOfParts>
    <vt:vector size="53" baseType="lpstr">
      <vt:lpstr>Arial</vt:lpstr>
      <vt:lpstr>Arial Black</vt:lpstr>
      <vt:lpstr>Calibri</vt:lpstr>
      <vt:lpstr>Constantia</vt:lpstr>
      <vt:lpstr>Symbol</vt:lpstr>
      <vt:lpstr>Times</vt:lpstr>
      <vt:lpstr>Trebuchet MS</vt:lpstr>
      <vt:lpstr>Wingdings</vt:lpstr>
      <vt:lpstr>Wingdings 2</vt:lpstr>
      <vt:lpstr>Wingdings 3</vt:lpstr>
      <vt:lpstr>Facet</vt:lpstr>
      <vt:lpstr>POWER SUPPLYS L3</vt:lpstr>
      <vt:lpstr>Definition</vt:lpstr>
      <vt:lpstr>Electrical power</vt:lpstr>
      <vt:lpstr>Power supply functions</vt:lpstr>
      <vt:lpstr>                       Converters Electronic power converter is the term that is used to refer to a power electronic circuit that converts voltage and current from one form to another.</vt:lpstr>
      <vt:lpstr>Table 12.1</vt:lpstr>
      <vt:lpstr>                                   Rectifiers Rectifiers may be classified as uncontrolled and controlled rectifiers. Controlled rectifiers can be further divided into semi-controlled and fully-controlled rectifiers. Uncontrolled rectifier circuits are built with diodes, and fully-controlled rectifier circuits are built with SCRs.  Both diodes and SCRs are used in semi-controlled rectifier circuits. </vt:lpstr>
      <vt:lpstr>      Rectification</vt:lpstr>
      <vt:lpstr>                Rectification</vt:lpstr>
      <vt:lpstr>PowerPoint Presentation</vt:lpstr>
      <vt:lpstr>          RECTIFIER DIODES    </vt:lpstr>
      <vt:lpstr>                              Introduction</vt:lpstr>
      <vt:lpstr>             Types of Rectifiers</vt:lpstr>
      <vt:lpstr>Lecture Outline</vt:lpstr>
      <vt:lpstr>      Half wave rectifier  </vt:lpstr>
      <vt:lpstr>Half wave rectification</vt:lpstr>
      <vt:lpstr>Output dc voltage calculation</vt:lpstr>
      <vt:lpstr>PowerPoint Presentation</vt:lpstr>
      <vt:lpstr>PowerPoint Presentation</vt:lpstr>
      <vt:lpstr>Effect of the Barrier Potential on the Half-Wave Rectifier Output </vt:lpstr>
      <vt:lpstr>PowerPoint Presentation</vt:lpstr>
      <vt:lpstr>Peak Inverse Voltage (PIV)</vt:lpstr>
      <vt:lpstr>PowerPoint Presentation</vt:lpstr>
      <vt:lpstr>       Application of half wave rectifier</vt:lpstr>
      <vt:lpstr>                 Full wave rectification   </vt:lpstr>
      <vt:lpstr>Full wave rectifier using transformer   and 2 diodes</vt:lpstr>
      <vt:lpstr>Full wave rectifier using transformer and 2 diodes</vt:lpstr>
      <vt:lpstr>PowerPoint Presentation</vt:lpstr>
      <vt:lpstr>    Full wave rectification   </vt:lpstr>
      <vt:lpstr>PowerPoint Presentation</vt:lpstr>
      <vt:lpstr>PowerPoint Presentation</vt:lpstr>
      <vt:lpstr>PowerPoint Presentation</vt:lpstr>
      <vt:lpstr>Full wave rectifier working animation</vt:lpstr>
      <vt:lpstr>                  Bridge rectifier working animation</vt:lpstr>
      <vt:lpstr>                Formula</vt:lpstr>
      <vt:lpstr>Output voltage of the full wave rectifier Animation</vt:lpstr>
      <vt:lpstr>            Bridge rectifier</vt:lpstr>
      <vt:lpstr>Origin of power electronics</vt:lpstr>
      <vt:lpstr>Bridge rectifier working animation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MR.SIKO</dc:creator>
  <cp:lastModifiedBy>Eng.Siko</cp:lastModifiedBy>
  <cp:revision>75</cp:revision>
  <cp:lastPrinted>2022-11-24T04:27:30Z</cp:lastPrinted>
  <dcterms:created xsi:type="dcterms:W3CDTF">2019-11-12T08:46:48Z</dcterms:created>
  <dcterms:modified xsi:type="dcterms:W3CDTF">2022-11-25T04:41:20Z</dcterms:modified>
</cp:coreProperties>
</file>