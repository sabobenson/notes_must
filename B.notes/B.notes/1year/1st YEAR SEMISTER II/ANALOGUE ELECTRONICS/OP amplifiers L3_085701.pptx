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97" r:id="rId2"/>
    <p:sldId id="298" r:id="rId3"/>
    <p:sldId id="257" r:id="rId4"/>
    <p:sldId id="258" r:id="rId5"/>
    <p:sldId id="259" r:id="rId6"/>
    <p:sldId id="260" r:id="rId7"/>
    <p:sldId id="261" r:id="rId8"/>
    <p:sldId id="288" r:id="rId9"/>
    <p:sldId id="289" r:id="rId10"/>
    <p:sldId id="290" r:id="rId11"/>
    <p:sldId id="291" r:id="rId12"/>
    <p:sldId id="292" r:id="rId13"/>
    <p:sldId id="293" r:id="rId14"/>
    <p:sldId id="294" r:id="rId15"/>
    <p:sldId id="295" r:id="rId16"/>
    <p:sldId id="296" r:id="rId17"/>
    <p:sldId id="265" r:id="rId18"/>
    <p:sldId id="266" r:id="rId19"/>
    <p:sldId id="267" r:id="rId20"/>
    <p:sldId id="268" r:id="rId21"/>
    <p:sldId id="269" r:id="rId22"/>
    <p:sldId id="270" r:id="rId23"/>
    <p:sldId id="271" r:id="rId24"/>
    <p:sldId id="272" r:id="rId25"/>
    <p:sldId id="273" r:id="rId26"/>
    <p:sldId id="280" r:id="rId27"/>
    <p:sldId id="286" r:id="rId28"/>
    <p:sldId id="28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44" y="54"/>
      </p:cViewPr>
      <p:guideLst>
        <p:guide orient="horz" pos="2160"/>
        <p:guide pos="2880"/>
      </p:guideLst>
    </p:cSldViewPr>
  </p:slideViewPr>
  <p:outlineViewPr>
    <p:cViewPr>
      <p:scale>
        <a:sx n="33" d="100"/>
        <a:sy n="33" d="100"/>
      </p:scale>
      <p:origin x="0" y="587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E953F6E-B7D9-4D9B-A4C9-A54443589AD1}" type="datetimeFigureOut">
              <a:rPr lang="en-US" smtClean="0"/>
              <a:pPr/>
              <a:t>1/21/2022</a:t>
            </a:fld>
            <a:endParaRPr lang="en-US"/>
          </a:p>
        </p:txBody>
      </p:sp>
      <p:sp>
        <p:nvSpPr>
          <p:cNvPr id="4" name="Footer Placeholder 3"/>
          <p:cNvSpPr>
            <a:spLocks noGrp="1"/>
          </p:cNvSpPr>
          <p:nvPr>
            <p:ph type="ftr" sz="quarter" idx="2"/>
          </p:nvPr>
        </p:nvSpPr>
        <p:spPr>
          <a:xfrm>
            <a:off x="1"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49030E2-F719-4046-91B6-0DD1AE353E29}" type="slidenum">
              <a:rPr lang="en-US" smtClean="0"/>
              <a:pPr/>
              <a:t>‹#›</a:t>
            </a:fld>
            <a:endParaRPr lang="en-US"/>
          </a:p>
        </p:txBody>
      </p:sp>
    </p:spTree>
    <p:extLst>
      <p:ext uri="{BB962C8B-B14F-4D97-AF65-F5344CB8AC3E}">
        <p14:creationId xmlns:p14="http://schemas.microsoft.com/office/powerpoint/2010/main" val="117243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F291B5-32BE-47E9-8B7D-13E594C9F19A}" type="datetimeFigureOut">
              <a:rPr lang="en-US" smtClean="0"/>
              <a:pPr/>
              <a:t>1/21/2022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1" y="4343401"/>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33AD97-D69A-47B6-94A8-E199CCF2089F}" type="slidenum">
              <a:rPr lang="en-US" smtClean="0"/>
              <a:pPr/>
              <a:t>‹#›</a:t>
            </a:fld>
            <a:endParaRPr lang="en-US"/>
          </a:p>
        </p:txBody>
      </p:sp>
    </p:spTree>
    <p:extLst>
      <p:ext uri="{BB962C8B-B14F-4D97-AF65-F5344CB8AC3E}">
        <p14:creationId xmlns:p14="http://schemas.microsoft.com/office/powerpoint/2010/main" val="1268305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33AD97-D69A-47B6-94A8-E199CCF2089F}"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33AD97-D69A-47B6-94A8-E199CCF2089F}" type="slidenum">
              <a:rPr lang="en-US" smtClean="0"/>
              <a:pPr/>
              <a:t>10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33AD97-D69A-47B6-94A8-E199CCF2089F}"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FB7B0B6-2D06-4734-B7C0-2F4089820ABD}" type="datetime1">
              <a:rPr lang="en-US" smtClean="0"/>
              <a:pPr/>
              <a:t>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EA85FF-F50D-43CB-96DA-911B95223431}" type="datetime1">
              <a:rPr lang="en-US" smtClean="0"/>
              <a:pPr/>
              <a:t>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186482-1C1A-4FFA-A5D9-48C9B8ADB40A}" type="datetime1">
              <a:rPr lang="en-US" smtClean="0"/>
              <a:pPr/>
              <a:t>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AD3BD6-E52B-4149-A943-0C96B7E8FA9C}" type="datetime1">
              <a:rPr lang="en-US" smtClean="0"/>
              <a:pPr/>
              <a:t>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A30F154-6D6C-4744-87E1-61E1CE954355}" type="datetime1">
              <a:rPr lang="en-US" smtClean="0"/>
              <a:pPr/>
              <a:t>1/21/2022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E61492-16C1-4ECB-8D1C-E5E0C9CDCCB2}" type="datetime1">
              <a:rPr lang="en-US" smtClean="0"/>
              <a:pPr/>
              <a:t>1/21/2022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17E73E-9B6D-4BBB-8C88-BC61B432D94D}" type="datetime1">
              <a:rPr lang="en-US" smtClean="0"/>
              <a:pPr/>
              <a:t>1/21/2022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FC2697-32C7-48F1-B5C7-B7969E0FC71B}" type="datetime1">
              <a:rPr lang="en-US" smtClean="0"/>
              <a:pPr/>
              <a:t>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82297FD-4751-4F13-9A16-41755C8D1AF0}" type="datetime1">
              <a:rPr lang="en-US" smtClean="0"/>
              <a:pPr/>
              <a:t>1/21/2022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C7DF09-1337-49DC-B626-01E2E248EF49}" type="datetime1">
              <a:rPr lang="en-US" smtClean="0"/>
              <a:pPr/>
              <a:t>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049322-6137-4F9D-9B7F-55CADB9C6494}" type="datetime1">
              <a:rPr lang="en-US" smtClean="0"/>
              <a:pPr/>
              <a:t>1/21/2022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A9987B-0F06-4F85-AB81-AD42F2F3627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D6D76D-66AD-4AA6-94FF-4910779C37EE}" type="datetime1">
              <a:rPr lang="en-US" smtClean="0"/>
              <a:pPr/>
              <a:t>1/21/2022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A9987B-0F06-4F85-AB81-AD42F2F3627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L3</a:t>
            </a:r>
            <a:endParaRPr lang="en-US" dirty="0"/>
          </a:p>
        </p:txBody>
      </p:sp>
      <p:sp>
        <p:nvSpPr>
          <p:cNvPr id="3" name="Content Placeholder 2"/>
          <p:cNvSpPr>
            <a:spLocks noGrp="1"/>
          </p:cNvSpPr>
          <p:nvPr>
            <p:ph idx="1"/>
          </p:nvPr>
        </p:nvSpPr>
        <p:spPr>
          <a:xfrm>
            <a:off x="457200" y="1295400"/>
            <a:ext cx="8229600" cy="4830763"/>
          </a:xfrm>
        </p:spPr>
        <p:txBody>
          <a:bodyPr/>
          <a:lstStyle/>
          <a:p>
            <a:pPr>
              <a:buNone/>
            </a:pPr>
            <a:r>
              <a:rPr lang="en-US" dirty="0" smtClean="0"/>
              <a:t>                               </a:t>
            </a:r>
          </a:p>
          <a:p>
            <a:pPr>
              <a:buNone/>
            </a:pPr>
            <a:r>
              <a:rPr lang="en-US" dirty="0" smtClean="0"/>
              <a:t>			</a:t>
            </a:r>
            <a:r>
              <a:rPr lang="en-US" sz="6600" b="1" dirty="0" smtClean="0"/>
              <a:t>OP-AMPLIFIER</a:t>
            </a:r>
            <a:endParaRPr lang="en-US" sz="6600" b="1"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subTitle" idx="1"/>
          </p:nvPr>
        </p:nvSpPr>
        <p:spPr>
          <a:xfrm>
            <a:off x="990600" y="609600"/>
            <a:ext cx="7162800" cy="5562600"/>
          </a:xfrm>
        </p:spPr>
        <p:txBody>
          <a:bodyPr>
            <a:normAutofit/>
          </a:bodyPr>
          <a:lstStyle/>
          <a:p>
            <a:r>
              <a:rPr lang="en-US" sz="2800" b="1" dirty="0">
                <a:solidFill>
                  <a:srgbClr val="FF0000"/>
                </a:solidFill>
              </a:rPr>
              <a:t>INTRODUCTION TO OPERATIONAL </a:t>
            </a:r>
            <a:r>
              <a:rPr lang="en-US" sz="2800" b="1" dirty="0" smtClean="0">
                <a:solidFill>
                  <a:srgbClr val="FF0000"/>
                </a:solidFill>
              </a:rPr>
              <a:t>AMPLIFIERS</a:t>
            </a:r>
          </a:p>
          <a:p>
            <a:r>
              <a:rPr lang="en-US" sz="2800" dirty="0">
                <a:solidFill>
                  <a:schemeClr val="tx1"/>
                </a:solidFill>
              </a:rPr>
              <a:t>Early operational amplifiers (op-amps) were used primarily to perform </a:t>
            </a:r>
            <a:r>
              <a:rPr lang="en-US" sz="2800" dirty="0">
                <a:solidFill>
                  <a:srgbClr val="FF0000"/>
                </a:solidFill>
              </a:rPr>
              <a:t>mathematical</a:t>
            </a:r>
          </a:p>
          <a:p>
            <a:r>
              <a:rPr lang="en-US" sz="2800" dirty="0">
                <a:solidFill>
                  <a:srgbClr val="FF0000"/>
                </a:solidFill>
              </a:rPr>
              <a:t>operations</a:t>
            </a:r>
            <a:r>
              <a:rPr lang="en-US" sz="2800" dirty="0">
                <a:solidFill>
                  <a:schemeClr val="tx1"/>
                </a:solidFill>
              </a:rPr>
              <a:t> such as addition, subtraction, integration, and differentiation—thus the</a:t>
            </a:r>
          </a:p>
          <a:p>
            <a:r>
              <a:rPr lang="en-US" sz="2800" dirty="0">
                <a:solidFill>
                  <a:schemeClr val="tx1"/>
                </a:solidFill>
              </a:rPr>
              <a:t>term </a:t>
            </a:r>
            <a:r>
              <a:rPr lang="en-US" sz="2800" i="1" dirty="0">
                <a:solidFill>
                  <a:schemeClr val="tx1"/>
                </a:solidFill>
              </a:rPr>
              <a:t>operational. </a:t>
            </a:r>
            <a:r>
              <a:rPr lang="en-US" sz="2800" i="1" dirty="0">
                <a:solidFill>
                  <a:srgbClr val="FF0000"/>
                </a:solidFill>
              </a:rPr>
              <a:t>These early devices were constructed with vacuum tubes and</a:t>
            </a:r>
          </a:p>
          <a:p>
            <a:r>
              <a:rPr lang="en-US" sz="2800" dirty="0">
                <a:solidFill>
                  <a:srgbClr val="FF0000"/>
                </a:solidFill>
              </a:rPr>
              <a:t>worked with high voltages.</a:t>
            </a:r>
            <a:r>
              <a:rPr lang="en-US" sz="2800" dirty="0">
                <a:solidFill>
                  <a:schemeClr val="tx1"/>
                </a:solidFill>
              </a:rPr>
              <a:t> Today’s op-amps are linear integrated circuits (ICs) that</a:t>
            </a:r>
          </a:p>
          <a:p>
            <a:r>
              <a:rPr lang="en-US" sz="2800" dirty="0">
                <a:solidFill>
                  <a:schemeClr val="tx1"/>
                </a:solidFill>
              </a:rPr>
              <a:t>use relatively low dc supply voltages and are reliable and inexpensive</a:t>
            </a:r>
            <a:r>
              <a:rPr lang="en-US" sz="2800" dirty="0"/>
              <a:t>.</a:t>
            </a:r>
            <a:endParaRPr lang="en-US" sz="2800" dirty="0">
              <a:solidFill>
                <a:srgbClr val="FF0000"/>
              </a:solidFill>
            </a:endParaRPr>
          </a:p>
        </p:txBody>
      </p:sp>
      <p:sp>
        <p:nvSpPr>
          <p:cNvPr id="5" name="Slide Number Placeholder 4"/>
          <p:cNvSpPr>
            <a:spLocks noGrp="1"/>
          </p:cNvSpPr>
          <p:nvPr>
            <p:ph type="sldNum" sz="quarter" idx="12"/>
          </p:nvPr>
        </p:nvSpPr>
        <p:spPr/>
        <p:txBody>
          <a:bodyPr/>
          <a:lstStyle/>
          <a:p>
            <a:fld id="{54A9987B-0F06-4F85-AB81-AD42F2F36275}"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a:bodyPr>
          <a:lstStyle/>
          <a:p>
            <a:pPr>
              <a:buNone/>
            </a:pPr>
            <a:r>
              <a:rPr lang="en-US" sz="2700" dirty="0"/>
              <a:t>The standard operational amplifier (op-amp) symbol is shown in Figure 12–1(a). </a:t>
            </a:r>
            <a:r>
              <a:rPr lang="en-US" sz="2700" dirty="0" smtClean="0"/>
              <a:t>It has </a:t>
            </a:r>
            <a:r>
              <a:rPr lang="en-US" sz="2700" dirty="0"/>
              <a:t>two input terminals, the inverting </a:t>
            </a:r>
            <a:r>
              <a:rPr lang="en-US" sz="2700" dirty="0" smtClean="0"/>
              <a:t>(-) </a:t>
            </a:r>
            <a:r>
              <a:rPr lang="en-US" sz="2700" dirty="0"/>
              <a:t>input and the noninverting </a:t>
            </a:r>
            <a:r>
              <a:rPr lang="en-US" sz="2700" dirty="0" smtClean="0"/>
              <a:t>(+) </a:t>
            </a:r>
            <a:r>
              <a:rPr lang="en-US" sz="2700" dirty="0"/>
              <a:t>input, and </a:t>
            </a:r>
            <a:r>
              <a:rPr lang="en-US" sz="2700" dirty="0" smtClean="0"/>
              <a:t>one output </a:t>
            </a:r>
            <a:r>
              <a:rPr lang="en-US" sz="2700" dirty="0"/>
              <a:t>terminal. Most op-amps operate with two dc supply voltages, one positive and the</a:t>
            </a:r>
          </a:p>
          <a:p>
            <a:pPr>
              <a:buNone/>
            </a:pPr>
            <a:r>
              <a:rPr lang="en-US" sz="2700" dirty="0"/>
              <a:t>other negative, as shown in Figure 12–1(b), although some have a single dc </a:t>
            </a:r>
            <a:r>
              <a:rPr lang="en-US" sz="2700" dirty="0" smtClean="0"/>
              <a:t>supply. Usually </a:t>
            </a:r>
            <a:r>
              <a:rPr lang="en-US" sz="2700" dirty="0"/>
              <a:t>these dc voltage terminals are left off the schematic symbol for simplicity but </a:t>
            </a:r>
            <a:r>
              <a:rPr lang="en-US" sz="2700" dirty="0" smtClean="0"/>
              <a:t>are understood </a:t>
            </a:r>
            <a:r>
              <a:rPr lang="en-US" sz="2700" dirty="0"/>
              <a:t>to be there. </a:t>
            </a:r>
            <a:r>
              <a:rPr lang="en-US" sz="2700" dirty="0" smtClean="0"/>
              <a:t>Some typical </a:t>
            </a:r>
            <a:r>
              <a:rPr lang="en-US" sz="2700" dirty="0"/>
              <a:t>op-amp IC packages are shown in Figure 12–1(c).</a:t>
            </a:r>
          </a:p>
        </p:txBody>
      </p:sp>
      <p:pic>
        <p:nvPicPr>
          <p:cNvPr id="1026" name="Picture 2"/>
          <p:cNvPicPr>
            <a:picLocks noChangeAspect="1" noChangeArrowheads="1"/>
          </p:cNvPicPr>
          <p:nvPr/>
        </p:nvPicPr>
        <p:blipFill>
          <a:blip r:embed="rId3"/>
          <a:srcRect/>
          <a:stretch>
            <a:fillRect/>
          </a:stretch>
        </p:blipFill>
        <p:spPr bwMode="auto">
          <a:xfrm>
            <a:off x="2209800" y="4648200"/>
            <a:ext cx="4819650" cy="1914525"/>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54A9987B-0F06-4F85-AB81-AD42F2F36275}"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fontScale="85000" lnSpcReduction="20000"/>
          </a:bodyPr>
          <a:lstStyle/>
          <a:p>
            <a:pPr>
              <a:buNone/>
            </a:pPr>
            <a:r>
              <a:rPr lang="en-US" b="1" dirty="0" smtClean="0"/>
              <a:t>                            The </a:t>
            </a:r>
            <a:r>
              <a:rPr lang="en-US" b="1" dirty="0"/>
              <a:t>Ideal Op-Amp</a:t>
            </a:r>
          </a:p>
          <a:p>
            <a:pPr>
              <a:buNone/>
            </a:pPr>
            <a:r>
              <a:rPr lang="en-US" dirty="0"/>
              <a:t>To illustrate what an op-amp is, let’s consider its ideal characteristics. A practical </a:t>
            </a:r>
            <a:r>
              <a:rPr lang="en-US" dirty="0" smtClean="0"/>
              <a:t>op-amp, of </a:t>
            </a:r>
            <a:r>
              <a:rPr lang="en-US" dirty="0"/>
              <a:t>course, falls short of these ideal standards, but it is much easier to understand and </a:t>
            </a:r>
            <a:r>
              <a:rPr lang="en-US" dirty="0" smtClean="0"/>
              <a:t>analyze the </a:t>
            </a:r>
            <a:r>
              <a:rPr lang="en-US" dirty="0"/>
              <a:t>device from an ideal point of </a:t>
            </a:r>
            <a:r>
              <a:rPr lang="en-US" dirty="0" smtClean="0"/>
              <a:t>view. First</a:t>
            </a:r>
            <a:r>
              <a:rPr lang="en-US" dirty="0"/>
              <a:t>, the ideal op-amp has </a:t>
            </a:r>
            <a:r>
              <a:rPr lang="en-US" i="1" dirty="0">
                <a:solidFill>
                  <a:srgbClr val="FF0000"/>
                </a:solidFill>
              </a:rPr>
              <a:t>infinite voltage gain and infinite bandwidth</a:t>
            </a:r>
            <a:r>
              <a:rPr lang="en-US" i="1" dirty="0"/>
              <a:t>. Also, it has </a:t>
            </a:r>
            <a:r>
              <a:rPr lang="en-US" i="1" dirty="0" smtClean="0"/>
              <a:t>an </a:t>
            </a:r>
            <a:r>
              <a:rPr lang="en-US" i="1" dirty="0" smtClean="0">
                <a:solidFill>
                  <a:srgbClr val="FF0000"/>
                </a:solidFill>
              </a:rPr>
              <a:t>infinite </a:t>
            </a:r>
            <a:r>
              <a:rPr lang="en-US" i="1" dirty="0">
                <a:solidFill>
                  <a:srgbClr val="FF0000"/>
                </a:solidFill>
              </a:rPr>
              <a:t>input impedance (open)</a:t>
            </a:r>
            <a:r>
              <a:rPr lang="en-US" i="1" dirty="0"/>
              <a:t> so that it does not load the driving source. Finally, it has </a:t>
            </a:r>
            <a:r>
              <a:rPr lang="en-US" i="1" dirty="0" smtClean="0"/>
              <a:t>a </a:t>
            </a:r>
            <a:r>
              <a:rPr lang="en-US" i="1" dirty="0" smtClean="0">
                <a:solidFill>
                  <a:srgbClr val="FF0000"/>
                </a:solidFill>
              </a:rPr>
              <a:t>zero </a:t>
            </a:r>
            <a:r>
              <a:rPr lang="en-US" i="1" dirty="0">
                <a:solidFill>
                  <a:srgbClr val="FF0000"/>
                </a:solidFill>
              </a:rPr>
              <a:t>output impedance</a:t>
            </a:r>
            <a:r>
              <a:rPr lang="en-US" i="1" dirty="0"/>
              <a:t>. Op-amp characteristics are illustrated in Figure 12–2(a). The </a:t>
            </a:r>
            <a:r>
              <a:rPr lang="en-US" i="1" dirty="0" smtClean="0"/>
              <a:t>input </a:t>
            </a:r>
            <a:r>
              <a:rPr lang="en-US" dirty="0" smtClean="0"/>
              <a:t>voltage</a:t>
            </a:r>
            <a:r>
              <a:rPr lang="en-US" dirty="0"/>
              <a:t>, </a:t>
            </a:r>
            <a:r>
              <a:rPr lang="en-US" i="1" dirty="0"/>
              <a:t>Vin, appears between the two input terminals, and the </a:t>
            </a:r>
            <a:r>
              <a:rPr lang="en-US" i="1" dirty="0">
                <a:solidFill>
                  <a:srgbClr val="FF0000"/>
                </a:solidFill>
              </a:rPr>
              <a:t>output voltage is </a:t>
            </a:r>
            <a:r>
              <a:rPr lang="en-US" i="1" dirty="0" err="1">
                <a:solidFill>
                  <a:srgbClr val="FF0000"/>
                </a:solidFill>
              </a:rPr>
              <a:t>AvVin</a:t>
            </a:r>
            <a:r>
              <a:rPr lang="en-US" i="1" dirty="0"/>
              <a:t>, as</a:t>
            </a:r>
          </a:p>
          <a:p>
            <a:pPr>
              <a:buNone/>
            </a:pPr>
            <a:r>
              <a:rPr lang="en-US" dirty="0"/>
              <a:t>indicated by the internal voltage source symbol. The concept of infinite input impedance </a:t>
            </a:r>
            <a:r>
              <a:rPr lang="en-US" dirty="0" smtClean="0"/>
              <a:t>is </a:t>
            </a:r>
            <a:r>
              <a:rPr lang="en-US" dirty="0"/>
              <a:t>a particularly valuable analysis tool for the various </a:t>
            </a:r>
            <a:r>
              <a:rPr lang="en-US"/>
              <a:t>op-amp </a:t>
            </a:r>
            <a:r>
              <a:rPr lang="en-US" smtClean="0"/>
              <a:t>configurations</a:t>
            </a:r>
            <a:endParaRPr lang="en-US"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839200" cy="6629400"/>
          </a:xfrm>
        </p:spPr>
        <p:txBody>
          <a:bodyPr/>
          <a:lstStyle/>
          <a:p>
            <a:pPr>
              <a:buNone/>
            </a:pPr>
            <a:endParaRPr lang="en-US" dirty="0"/>
          </a:p>
        </p:txBody>
      </p:sp>
      <p:pic>
        <p:nvPicPr>
          <p:cNvPr id="2050" name="Picture 2"/>
          <p:cNvPicPr>
            <a:picLocks noChangeAspect="1" noChangeArrowheads="1"/>
          </p:cNvPicPr>
          <p:nvPr/>
        </p:nvPicPr>
        <p:blipFill>
          <a:blip r:embed="rId2"/>
          <a:srcRect/>
          <a:stretch>
            <a:fillRect/>
          </a:stretch>
        </p:blipFill>
        <p:spPr bwMode="auto">
          <a:xfrm>
            <a:off x="304800" y="0"/>
            <a:ext cx="7058025" cy="2438400"/>
          </a:xfrm>
          <a:prstGeom prst="rect">
            <a:avLst/>
          </a:prstGeom>
          <a:noFill/>
          <a:ln w="9525">
            <a:noFill/>
            <a:miter lim="800000"/>
            <a:headEnd/>
            <a:tailEnd/>
          </a:ln>
          <a:effectLst/>
        </p:spPr>
      </p:pic>
      <p:sp>
        <p:nvSpPr>
          <p:cNvPr id="5" name="Rectangle 4"/>
          <p:cNvSpPr/>
          <p:nvPr/>
        </p:nvSpPr>
        <p:spPr>
          <a:xfrm>
            <a:off x="685800" y="2379851"/>
            <a:ext cx="7848600" cy="4478149"/>
          </a:xfrm>
          <a:prstGeom prst="rect">
            <a:avLst/>
          </a:prstGeom>
        </p:spPr>
        <p:txBody>
          <a:bodyPr wrap="square">
            <a:spAutoFit/>
          </a:bodyPr>
          <a:lstStyle/>
          <a:p>
            <a:r>
              <a:rPr lang="en-US" b="1" dirty="0" smtClean="0"/>
              <a:t>  </a:t>
            </a:r>
            <a:r>
              <a:rPr lang="en-US" sz="1900" b="1" dirty="0" smtClean="0"/>
              <a:t>      			  The </a:t>
            </a:r>
            <a:r>
              <a:rPr lang="en-US" sz="1900" b="1" dirty="0"/>
              <a:t>Practical Op-Amp</a:t>
            </a:r>
          </a:p>
          <a:p>
            <a:r>
              <a:rPr lang="en-US" sz="1900" dirty="0"/>
              <a:t>Although </a:t>
            </a:r>
            <a:r>
              <a:rPr lang="en-US" sz="1900" b="1" dirty="0"/>
              <a:t>integrated circuit (IC) op-amps approach parameter values that can be </a:t>
            </a:r>
            <a:r>
              <a:rPr lang="en-US" sz="1900" b="1" dirty="0" smtClean="0"/>
              <a:t>treated </a:t>
            </a:r>
            <a:r>
              <a:rPr lang="en-US" sz="1900" dirty="0" smtClean="0"/>
              <a:t>as </a:t>
            </a:r>
            <a:r>
              <a:rPr lang="en-US" sz="1900" dirty="0"/>
              <a:t>ideal in many cases, the ideal device can never be made. Any device has limitations, </a:t>
            </a:r>
            <a:r>
              <a:rPr lang="en-US" sz="1900" dirty="0" smtClean="0"/>
              <a:t>and the </a:t>
            </a:r>
            <a:r>
              <a:rPr lang="en-US" sz="1900" dirty="0"/>
              <a:t>IC op-amp is no exception. Op-amps have both voltage and current limitations. </a:t>
            </a:r>
            <a:r>
              <a:rPr lang="en-US" sz="1900" dirty="0" smtClean="0"/>
              <a:t>Peak to- peak </a:t>
            </a:r>
            <a:r>
              <a:rPr lang="en-US" sz="1900" dirty="0"/>
              <a:t>output voltage, for example, is usually limited to slightly less than the two </a:t>
            </a:r>
            <a:r>
              <a:rPr lang="en-US" sz="1900" dirty="0" smtClean="0"/>
              <a:t>supply voltages</a:t>
            </a:r>
            <a:r>
              <a:rPr lang="en-US" sz="1900" dirty="0"/>
              <a:t>. Output current is also limited by internal restrictions such as power </a:t>
            </a:r>
            <a:r>
              <a:rPr lang="en-US" sz="1900" dirty="0" smtClean="0"/>
              <a:t>dissipation and </a:t>
            </a:r>
            <a:r>
              <a:rPr lang="en-US" sz="1900" dirty="0"/>
              <a:t>component ratings</a:t>
            </a:r>
            <a:r>
              <a:rPr lang="en-US" sz="1900" dirty="0" smtClean="0"/>
              <a:t>.</a:t>
            </a:r>
            <a:r>
              <a:rPr lang="en-US" sz="1900" dirty="0"/>
              <a:t> Characteristics of a practical op-amp are </a:t>
            </a:r>
            <a:r>
              <a:rPr lang="en-US" sz="1900" i="1" dirty="0">
                <a:solidFill>
                  <a:srgbClr val="FF0000"/>
                </a:solidFill>
              </a:rPr>
              <a:t>very high voltage gain, very high input </a:t>
            </a:r>
            <a:r>
              <a:rPr lang="en-US" sz="1900" i="1" dirty="0" smtClean="0">
                <a:solidFill>
                  <a:srgbClr val="FF0000"/>
                </a:solidFill>
              </a:rPr>
              <a:t>impedance, and </a:t>
            </a:r>
            <a:r>
              <a:rPr lang="en-US" sz="1900" i="1" dirty="0">
                <a:solidFill>
                  <a:srgbClr val="FF0000"/>
                </a:solidFill>
              </a:rPr>
              <a:t>very low output impedance.</a:t>
            </a:r>
            <a:r>
              <a:rPr lang="en-US" sz="1900" i="1" dirty="0"/>
              <a:t> These are labelled in Figure 12–2(b). Another </a:t>
            </a:r>
            <a:r>
              <a:rPr lang="en-US" sz="1900" i="1" dirty="0" smtClean="0"/>
              <a:t>practical </a:t>
            </a:r>
            <a:r>
              <a:rPr lang="en-US" sz="1900" dirty="0" smtClean="0"/>
              <a:t>consideration </a:t>
            </a:r>
            <a:r>
              <a:rPr lang="en-US" sz="1900" dirty="0"/>
              <a:t>is that there is always noise generated within the op-amp. </a:t>
            </a:r>
            <a:r>
              <a:rPr lang="en-US" sz="1900" b="1" dirty="0"/>
              <a:t>Noise is </a:t>
            </a:r>
            <a:r>
              <a:rPr lang="en-US" sz="1900" b="1" dirty="0" smtClean="0"/>
              <a:t>an </a:t>
            </a:r>
            <a:r>
              <a:rPr lang="en-US" sz="1900" dirty="0" smtClean="0"/>
              <a:t>undesired </a:t>
            </a:r>
            <a:r>
              <a:rPr lang="en-US" sz="1900" dirty="0"/>
              <a:t>signal that affects the quality of a desired signal. Today, circuit designers are </a:t>
            </a:r>
            <a:r>
              <a:rPr lang="en-US" sz="1900" dirty="0" smtClean="0"/>
              <a:t>using smaller </a:t>
            </a:r>
            <a:r>
              <a:rPr lang="en-US" sz="1900" dirty="0"/>
              <a:t>voltages that require high accuracy, so low-noise components are in greater </a:t>
            </a:r>
            <a:r>
              <a:rPr lang="en-US" sz="1900" dirty="0" smtClean="0"/>
              <a:t>demand. All </a:t>
            </a:r>
            <a:r>
              <a:rPr lang="en-US" sz="1900" dirty="0"/>
              <a:t>circuits generate noise; op-amps are no exception, but the amount can be minimized</a:t>
            </a:r>
          </a:p>
        </p:txBody>
      </p:sp>
      <p:sp>
        <p:nvSpPr>
          <p:cNvPr id="6" name="Slide Number Placeholder 5"/>
          <p:cNvSpPr>
            <a:spLocks noGrp="1"/>
          </p:cNvSpPr>
          <p:nvPr>
            <p:ph type="sldNum" sz="quarter" idx="12"/>
          </p:nvPr>
        </p:nvSpPr>
        <p:spPr/>
        <p:txBody>
          <a:bodyPr/>
          <a:lstStyle/>
          <a:p>
            <a:fld id="{54A9987B-0F06-4F85-AB81-AD42F2F36275}"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Autofit/>
          </a:bodyPr>
          <a:lstStyle/>
          <a:p>
            <a:pPr>
              <a:buNone/>
            </a:pPr>
            <a:r>
              <a:rPr lang="en-US" sz="2300" dirty="0"/>
              <a:t>Characteristics of a practical op-amp are </a:t>
            </a:r>
            <a:r>
              <a:rPr lang="en-US" sz="2300" i="1" dirty="0"/>
              <a:t>very high voltage gain, very high input </a:t>
            </a:r>
            <a:r>
              <a:rPr lang="en-US" sz="2300" i="1" dirty="0" smtClean="0"/>
              <a:t>impedance, and </a:t>
            </a:r>
            <a:r>
              <a:rPr lang="en-US" sz="2300" i="1" dirty="0"/>
              <a:t>very low output impedance. These are labelled in Figure 12–2(b). Another </a:t>
            </a:r>
            <a:r>
              <a:rPr lang="en-US" sz="2300" i="1" dirty="0" smtClean="0"/>
              <a:t>practical </a:t>
            </a:r>
            <a:r>
              <a:rPr lang="en-US" sz="2300" dirty="0" smtClean="0"/>
              <a:t>consideration </a:t>
            </a:r>
            <a:r>
              <a:rPr lang="en-US" sz="2300" dirty="0"/>
              <a:t>is that there is always noise generated within the op-amp. </a:t>
            </a:r>
            <a:r>
              <a:rPr lang="en-US" sz="2300" b="1" dirty="0"/>
              <a:t>Noise is </a:t>
            </a:r>
            <a:r>
              <a:rPr lang="en-US" sz="2300" b="1" dirty="0" smtClean="0"/>
              <a:t>an </a:t>
            </a:r>
            <a:r>
              <a:rPr lang="en-US" sz="2300" dirty="0" smtClean="0"/>
              <a:t>undesired </a:t>
            </a:r>
            <a:r>
              <a:rPr lang="en-US" sz="2300" dirty="0"/>
              <a:t>signal that affects the quality of a </a:t>
            </a:r>
            <a:r>
              <a:rPr lang="en-US" sz="2300" dirty="0" smtClean="0"/>
              <a:t>desired signal</a:t>
            </a:r>
            <a:r>
              <a:rPr lang="en-US" sz="2300" dirty="0"/>
              <a:t>. Today, circuit designers are </a:t>
            </a:r>
            <a:r>
              <a:rPr lang="en-US" sz="2300" dirty="0" smtClean="0"/>
              <a:t>using smaller </a:t>
            </a:r>
            <a:r>
              <a:rPr lang="en-US" sz="2300" dirty="0"/>
              <a:t>voltages that require high accuracy, so low-noise components are in greater </a:t>
            </a:r>
            <a:r>
              <a:rPr lang="en-US" sz="2300" dirty="0" smtClean="0"/>
              <a:t>demand. All </a:t>
            </a:r>
            <a:r>
              <a:rPr lang="en-US" sz="2300" dirty="0"/>
              <a:t>circuits generate noise; op-amps are no exception, but the amount can be </a:t>
            </a:r>
            <a:r>
              <a:rPr lang="en-US" sz="2300" dirty="0" smtClean="0"/>
              <a:t>minimized </a:t>
            </a:r>
            <a:r>
              <a:rPr lang="en-US" sz="2300" i="1" dirty="0"/>
              <a:t>Internal Block Diagram of an Op-Amp A typical op-amp is made up of three types </a:t>
            </a:r>
            <a:r>
              <a:rPr lang="en-US" sz="2300" i="1" dirty="0" smtClean="0"/>
              <a:t>of </a:t>
            </a:r>
            <a:r>
              <a:rPr lang="en-US" sz="2300" dirty="0" smtClean="0"/>
              <a:t>amplifier </a:t>
            </a:r>
            <a:r>
              <a:rPr lang="en-US" sz="2300" dirty="0"/>
              <a:t>circuits: a differential amplifier, a voltage amplifier, and a push-pull amplifier, </a:t>
            </a:r>
            <a:r>
              <a:rPr lang="en-US" sz="2300" dirty="0" smtClean="0"/>
              <a:t>as shown </a:t>
            </a:r>
            <a:r>
              <a:rPr lang="en-US" sz="2300" dirty="0"/>
              <a:t>in Figure 12–3. </a:t>
            </a:r>
            <a:r>
              <a:rPr lang="en-US" sz="2300" dirty="0">
                <a:solidFill>
                  <a:srgbClr val="FF0000"/>
                </a:solidFill>
              </a:rPr>
              <a:t>The differential amplifier is the input stage for the op-amp. It </a:t>
            </a:r>
            <a:r>
              <a:rPr lang="en-US" sz="2300" dirty="0" smtClean="0">
                <a:solidFill>
                  <a:srgbClr val="FF0000"/>
                </a:solidFill>
              </a:rPr>
              <a:t>provides amplification </a:t>
            </a:r>
            <a:r>
              <a:rPr lang="en-US" sz="2300" dirty="0">
                <a:solidFill>
                  <a:srgbClr val="FF0000"/>
                </a:solidFill>
              </a:rPr>
              <a:t>of the difference voltage between the two inputs. The second stage is </a:t>
            </a:r>
            <a:r>
              <a:rPr lang="en-US" sz="2300" dirty="0" smtClean="0">
                <a:solidFill>
                  <a:srgbClr val="FF0000"/>
                </a:solidFill>
              </a:rPr>
              <a:t>usually a </a:t>
            </a:r>
            <a:r>
              <a:rPr lang="en-US" sz="2300" dirty="0">
                <a:solidFill>
                  <a:srgbClr val="FF0000"/>
                </a:solidFill>
              </a:rPr>
              <a:t>class A amplifier that provides additional gain. Some op-amps may have more than </a:t>
            </a:r>
            <a:r>
              <a:rPr lang="en-US" sz="2300" dirty="0" smtClean="0">
                <a:solidFill>
                  <a:srgbClr val="FF0000"/>
                </a:solidFill>
              </a:rPr>
              <a:t>one voltage </a:t>
            </a:r>
            <a:r>
              <a:rPr lang="en-US" sz="2300" dirty="0">
                <a:solidFill>
                  <a:srgbClr val="FF0000"/>
                </a:solidFill>
              </a:rPr>
              <a:t>amplifier stage. A push-pull class B amplifier is typically used for the output stage.</a:t>
            </a:r>
          </a:p>
        </p:txBody>
      </p:sp>
      <p:sp>
        <p:nvSpPr>
          <p:cNvPr id="4" name="Slide Number Placeholder 3"/>
          <p:cNvSpPr>
            <a:spLocks noGrp="1"/>
          </p:cNvSpPr>
          <p:nvPr>
            <p:ph type="sldNum" sz="quarter" idx="12"/>
          </p:nvPr>
        </p:nvSpPr>
        <p:spPr/>
        <p:txBody>
          <a:bodyPr/>
          <a:lstStyle/>
          <a:p>
            <a:fld id="{54A9987B-0F06-4F85-AB81-AD42F2F36275}"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lstStyle/>
          <a:p>
            <a:pPr>
              <a:buNone/>
            </a:pPr>
            <a:endParaRPr lang="en-US" dirty="0"/>
          </a:p>
        </p:txBody>
      </p:sp>
      <p:pic>
        <p:nvPicPr>
          <p:cNvPr id="3074" name="Picture 2"/>
          <p:cNvPicPr>
            <a:picLocks noChangeAspect="1" noChangeArrowheads="1"/>
          </p:cNvPicPr>
          <p:nvPr/>
        </p:nvPicPr>
        <p:blipFill>
          <a:blip r:embed="rId2"/>
          <a:srcRect/>
          <a:stretch>
            <a:fillRect/>
          </a:stretch>
        </p:blipFill>
        <p:spPr bwMode="auto">
          <a:xfrm>
            <a:off x="457200" y="228600"/>
            <a:ext cx="6038850" cy="1981200"/>
          </a:xfrm>
          <a:prstGeom prst="rect">
            <a:avLst/>
          </a:prstGeom>
          <a:noFill/>
          <a:ln w="9525">
            <a:noFill/>
            <a:miter lim="800000"/>
            <a:headEnd/>
            <a:tailEnd/>
          </a:ln>
          <a:effectLst/>
        </p:spPr>
      </p:pic>
      <p:sp>
        <p:nvSpPr>
          <p:cNvPr id="5" name="Rectangle 4"/>
          <p:cNvSpPr/>
          <p:nvPr/>
        </p:nvSpPr>
        <p:spPr>
          <a:xfrm>
            <a:off x="609600" y="1981200"/>
            <a:ext cx="7772400" cy="4662815"/>
          </a:xfrm>
          <a:prstGeom prst="rect">
            <a:avLst/>
          </a:prstGeom>
        </p:spPr>
        <p:txBody>
          <a:bodyPr wrap="square">
            <a:spAutoFit/>
          </a:bodyPr>
          <a:lstStyle/>
          <a:p>
            <a:r>
              <a:rPr lang="en-US" sz="2700" dirty="0"/>
              <a:t>The differential amplifier was introduced in .</a:t>
            </a:r>
            <a:r>
              <a:rPr lang="en-US" sz="2700" dirty="0" smtClean="0"/>
              <a:t> </a:t>
            </a:r>
            <a:r>
              <a:rPr lang="en-US" sz="2700" dirty="0"/>
              <a:t>The term </a:t>
            </a:r>
            <a:r>
              <a:rPr lang="en-US" sz="2700" i="1" dirty="0"/>
              <a:t>differential comes </a:t>
            </a:r>
            <a:r>
              <a:rPr lang="en-US" sz="2700" i="1" dirty="0" smtClean="0"/>
              <a:t>from </a:t>
            </a:r>
            <a:r>
              <a:rPr lang="en-US" sz="2700" dirty="0" smtClean="0"/>
              <a:t>the </a:t>
            </a:r>
            <a:r>
              <a:rPr lang="en-US" sz="2700" dirty="0"/>
              <a:t>amplifier’s ability to amplify the difference of two input signals applied to its </a:t>
            </a:r>
            <a:r>
              <a:rPr lang="en-US" sz="2700" dirty="0" smtClean="0"/>
              <a:t>inputs. </a:t>
            </a:r>
            <a:r>
              <a:rPr lang="en-US" sz="2700" dirty="0" smtClean="0">
                <a:solidFill>
                  <a:srgbClr val="FF0000"/>
                </a:solidFill>
              </a:rPr>
              <a:t>Only </a:t>
            </a:r>
            <a:r>
              <a:rPr lang="en-US" sz="2700" dirty="0">
                <a:solidFill>
                  <a:srgbClr val="FF0000"/>
                </a:solidFill>
              </a:rPr>
              <a:t>the difference in the two signals is amplified; if there is no difference, the output </a:t>
            </a:r>
            <a:r>
              <a:rPr lang="en-US" sz="2700" dirty="0" smtClean="0">
                <a:solidFill>
                  <a:srgbClr val="FF0000"/>
                </a:solidFill>
              </a:rPr>
              <a:t>is zero</a:t>
            </a:r>
            <a:r>
              <a:rPr lang="en-US" sz="2700" dirty="0">
                <a:solidFill>
                  <a:srgbClr val="FF0000"/>
                </a:solidFill>
              </a:rPr>
              <a:t>. </a:t>
            </a:r>
            <a:r>
              <a:rPr lang="en-US" sz="2700" dirty="0"/>
              <a:t>The differential amplifier exhibits two modes of operation based on the type of </a:t>
            </a:r>
            <a:r>
              <a:rPr lang="en-US" sz="2700" dirty="0" smtClean="0"/>
              <a:t>input signals</a:t>
            </a:r>
            <a:r>
              <a:rPr lang="en-US" sz="2700" dirty="0"/>
              <a:t>. These modes are </a:t>
            </a:r>
            <a:r>
              <a:rPr lang="en-US" sz="2700" i="1" dirty="0"/>
              <a:t>differential and common, which are described in the next </a:t>
            </a:r>
            <a:r>
              <a:rPr lang="en-US" sz="2700" i="1" dirty="0" smtClean="0"/>
              <a:t>section. </a:t>
            </a:r>
            <a:r>
              <a:rPr lang="en-US" sz="2700" dirty="0" smtClean="0"/>
              <a:t>Since </a:t>
            </a:r>
            <a:r>
              <a:rPr lang="en-US" sz="2700" dirty="0"/>
              <a:t>the differential amplifier is the input stage of the op-amp, the op-amp exhibits </a:t>
            </a:r>
            <a:r>
              <a:rPr lang="en-US" sz="2700" dirty="0" smtClean="0"/>
              <a:t>the same </a:t>
            </a:r>
            <a:r>
              <a:rPr lang="en-US" sz="2700" dirty="0"/>
              <a:t>modes.</a:t>
            </a:r>
          </a:p>
        </p:txBody>
      </p:sp>
      <p:sp>
        <p:nvSpPr>
          <p:cNvPr id="6" name="Slide Number Placeholder 5"/>
          <p:cNvSpPr>
            <a:spLocks noGrp="1"/>
          </p:cNvSpPr>
          <p:nvPr>
            <p:ph type="sldNum" sz="quarter" idx="12"/>
          </p:nvPr>
        </p:nvSpPr>
        <p:spPr/>
        <p:txBody>
          <a:bodyPr/>
          <a:lstStyle/>
          <a:p>
            <a:fld id="{54A9987B-0F06-4F85-AB81-AD42F2F3627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lstStyle/>
          <a:p>
            <a:pPr>
              <a:buNone/>
            </a:pPr>
            <a:r>
              <a:rPr lang="en-US" b="1" dirty="0" smtClean="0"/>
              <a:t>	</a:t>
            </a:r>
            <a:r>
              <a:rPr lang="en-US" sz="2400" b="1" dirty="0" smtClean="0"/>
              <a:t>		           Basic Operation</a:t>
            </a:r>
          </a:p>
          <a:p>
            <a:pPr>
              <a:buNone/>
            </a:pPr>
            <a:r>
              <a:rPr lang="en-US" sz="2400" dirty="0" smtClean="0"/>
              <a:t>	A basic differential amplifier (diff-amp) circuit is shown in Figure 6–37. Notice that the differential amplifier has two inputs and two outputs.</a:t>
            </a:r>
            <a:endParaRPr lang="en-US" sz="2400"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8</a:t>
            </a:fld>
            <a:endParaRPr lang="en-US"/>
          </a:p>
        </p:txBody>
      </p:sp>
      <p:pic>
        <p:nvPicPr>
          <p:cNvPr id="1026" name="Picture 2"/>
          <p:cNvPicPr>
            <a:picLocks noChangeAspect="1" noChangeArrowheads="1"/>
          </p:cNvPicPr>
          <p:nvPr/>
        </p:nvPicPr>
        <p:blipFill>
          <a:blip r:embed="rId2"/>
          <a:srcRect/>
          <a:stretch>
            <a:fillRect/>
          </a:stretch>
        </p:blipFill>
        <p:spPr bwMode="auto">
          <a:xfrm>
            <a:off x="2362200" y="1905000"/>
            <a:ext cx="4343400" cy="2514600"/>
          </a:xfrm>
          <a:prstGeom prst="rect">
            <a:avLst/>
          </a:prstGeom>
          <a:noFill/>
          <a:ln w="9525">
            <a:noFill/>
            <a:miter lim="800000"/>
            <a:headEnd/>
            <a:tailEnd/>
          </a:ln>
          <a:effectLst/>
        </p:spPr>
      </p:pic>
      <p:sp>
        <p:nvSpPr>
          <p:cNvPr id="6" name="Rectangle 5"/>
          <p:cNvSpPr/>
          <p:nvPr/>
        </p:nvSpPr>
        <p:spPr>
          <a:xfrm>
            <a:off x="685800" y="4800600"/>
            <a:ext cx="7772400" cy="1754326"/>
          </a:xfrm>
          <a:prstGeom prst="rect">
            <a:avLst/>
          </a:prstGeom>
        </p:spPr>
        <p:txBody>
          <a:bodyPr wrap="square">
            <a:spAutoFit/>
          </a:bodyPr>
          <a:lstStyle/>
          <a:p>
            <a:r>
              <a:rPr lang="en-US" dirty="0" smtClean="0"/>
              <a:t>The following discussion is in relation to Figure 6–38 and consists of a basic dc analysis of the diff-amp’s operation. </a:t>
            </a:r>
            <a:r>
              <a:rPr lang="en-US" dirty="0" smtClean="0">
                <a:solidFill>
                  <a:srgbClr val="FF0000"/>
                </a:solidFill>
              </a:rPr>
              <a:t>First, when both inputs are grounded (0 V), the emitters are at -0.7V </a:t>
            </a:r>
            <a:r>
              <a:rPr lang="en-US" dirty="0" smtClean="0"/>
              <a:t>as indicated in Figure 6–38(a). It is assumed that the transistors are identically matched by careful process control during manufacturing so that their dc emitter currents are the same when there is no input signal. Thus,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A9987B-0F06-4F85-AB81-AD42F2F36275}" type="slidenum">
              <a:rPr lang="en-US" smtClean="0"/>
              <a:pPr/>
              <a:t>9</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609600" y="0"/>
            <a:ext cx="8077200" cy="40386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57200" y="4114800"/>
            <a:ext cx="83058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A9987B-0F06-4F85-AB81-AD42F2F36275}" type="slidenum">
              <a:rPr lang="en-US" smtClean="0"/>
              <a:pPr/>
              <a:t>10</a:t>
            </a:fld>
            <a:endParaRPr lang="en-US"/>
          </a:p>
        </p:txBody>
      </p:sp>
      <p:pic>
        <p:nvPicPr>
          <p:cNvPr id="3074" name="Picture 2"/>
          <p:cNvPicPr>
            <a:picLocks noGrp="1" noChangeAspect="1" noChangeArrowheads="1"/>
          </p:cNvPicPr>
          <p:nvPr>
            <p:ph idx="1"/>
          </p:nvPr>
        </p:nvPicPr>
        <p:blipFill>
          <a:blip r:embed="rId3"/>
          <a:srcRect/>
          <a:stretch>
            <a:fillRect/>
          </a:stretch>
        </p:blipFill>
        <p:spPr bwMode="auto">
          <a:xfrm>
            <a:off x="304800" y="381000"/>
            <a:ext cx="8458200" cy="6172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A9987B-0F06-4F85-AB81-AD42F2F36275}" type="slidenum">
              <a:rPr lang="en-US" smtClean="0"/>
              <a:pPr/>
              <a:t>11</a:t>
            </a:fld>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457200" y="152400"/>
            <a:ext cx="7924799" cy="6400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10000"/>
          </a:bodyPr>
          <a:lstStyle/>
          <a:p>
            <a:pPr>
              <a:buNone/>
            </a:pPr>
            <a:r>
              <a:rPr lang="en-US" b="1" i="1" dirty="0" smtClean="0">
                <a:solidFill>
                  <a:schemeClr val="accent3">
                    <a:lumMod val="75000"/>
                  </a:schemeClr>
                </a:solidFill>
              </a:rPr>
              <a:t>Double-Ended Differential Inputs </a:t>
            </a:r>
            <a:r>
              <a:rPr lang="en-US" b="1" i="1" dirty="0" smtClean="0"/>
              <a:t>:</a:t>
            </a:r>
            <a:r>
              <a:rPr lang="en-US" i="1" dirty="0" smtClean="0">
                <a:solidFill>
                  <a:srgbClr val="FF0000"/>
                </a:solidFill>
              </a:rPr>
              <a:t>In this input configuration, two opposite-polarity</a:t>
            </a:r>
          </a:p>
          <a:p>
            <a:pPr>
              <a:buNone/>
            </a:pPr>
            <a:r>
              <a:rPr lang="en-US" dirty="0" smtClean="0"/>
              <a:t>(out-of-phase) signals are applied to the inputs, as shown in Figure 6–40(a). Each input affects the outputs, as you will see in the following discussion. Figure 6–40(b) shows the output signals due to the signal on input 1 acting alone as a single-ended input. Figure 6–40(c) on page 308 shows the output signals due to the signal on input 2 acting alone as a single-ended input. Notice in parts (b) and (c) that the signals on output 1 are of the same polarity. The same is also true for output 2. By superimposing both output 1 signals and both output 2 signals, you get the total output signals, as shown</a:t>
            </a:r>
          </a:p>
          <a:p>
            <a:pPr>
              <a:buNone/>
            </a:pPr>
            <a:r>
              <a:rPr lang="en-US" dirty="0" smtClean="0"/>
              <a:t>in Figure 6–40(d).</a:t>
            </a:r>
            <a:endParaRPr lang="en-US" i="1"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A9987B-0F06-4F85-AB81-AD42F2F36275}" type="slidenum">
              <a:rPr lang="en-US" smtClean="0"/>
              <a:pPr/>
              <a:t>13</a:t>
            </a:fld>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228601" y="533400"/>
            <a:ext cx="8458200" cy="52578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A9987B-0F06-4F85-AB81-AD42F2F36275}" type="slidenum">
              <a:rPr lang="en-US" smtClean="0"/>
              <a:pPr/>
              <a:t>14</a:t>
            </a:fld>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304800" y="1219200"/>
            <a:ext cx="8534399" cy="44196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buNone/>
            </a:pPr>
            <a:r>
              <a:rPr lang="en-US" b="1" i="1" dirty="0" smtClean="0">
                <a:solidFill>
                  <a:schemeClr val="accent3">
                    <a:lumMod val="75000"/>
                  </a:schemeClr>
                </a:solidFill>
              </a:rPr>
              <a:t>Common-Mode Inputs </a:t>
            </a:r>
            <a:r>
              <a:rPr lang="en-US" i="1" dirty="0" smtClean="0"/>
              <a:t>One of the most important aspects of the operation of a </a:t>
            </a:r>
            <a:r>
              <a:rPr lang="en-US" i="1" dirty="0" err="1" smtClean="0"/>
              <a:t>diffamp</a:t>
            </a:r>
            <a:r>
              <a:rPr lang="en-US" i="1" dirty="0" smtClean="0"/>
              <a:t> </a:t>
            </a:r>
            <a:r>
              <a:rPr lang="en-US" dirty="0" smtClean="0"/>
              <a:t>can be seen by considering the common-mode condition </a:t>
            </a:r>
            <a:r>
              <a:rPr lang="en-US" dirty="0" smtClean="0">
                <a:solidFill>
                  <a:srgbClr val="FF0000"/>
                </a:solidFill>
              </a:rPr>
              <a:t>where two signal voltages of the same phase</a:t>
            </a:r>
            <a:r>
              <a:rPr lang="en-US" dirty="0" smtClean="0"/>
              <a:t>, </a:t>
            </a:r>
            <a:r>
              <a:rPr lang="en-US" dirty="0" smtClean="0">
                <a:solidFill>
                  <a:srgbClr val="FF0000"/>
                </a:solidFill>
              </a:rPr>
              <a:t>frequency, and amplitude are applied to the two inputs</a:t>
            </a:r>
            <a:r>
              <a:rPr lang="en-US" dirty="0" smtClean="0"/>
              <a:t>, as shown in Figure 6–41(a). Again, by considering each input signal as acting alone, you can understand the basic operation.</a:t>
            </a:r>
            <a:endParaRPr lang="en-US"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4A9987B-0F06-4F85-AB81-AD42F2F36275}" type="slidenum">
              <a:rPr lang="en-US" smtClean="0"/>
              <a:pPr/>
              <a:t>16</a:t>
            </a:fld>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781050" y="304800"/>
            <a:ext cx="7581900" cy="60198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86800" cy="6629400"/>
          </a:xfrm>
        </p:spPr>
        <p:txBody>
          <a:bodyPr>
            <a:normAutofit/>
          </a:bodyPr>
          <a:lstStyle/>
          <a:p>
            <a:pPr>
              <a:buNone/>
            </a:pPr>
            <a:r>
              <a:rPr lang="en-US" b="1" dirty="0" smtClean="0"/>
              <a:t>				</a:t>
            </a:r>
            <a:r>
              <a:rPr lang="en-US" b="1" dirty="0" smtClean="0">
                <a:solidFill>
                  <a:srgbClr val="FF0000"/>
                </a:solidFill>
              </a:rPr>
              <a:t>Op-Amp </a:t>
            </a:r>
            <a:r>
              <a:rPr lang="en-US" b="1" dirty="0">
                <a:solidFill>
                  <a:srgbClr val="FF0000"/>
                </a:solidFill>
              </a:rPr>
              <a:t>Parameters</a:t>
            </a:r>
          </a:p>
          <a:p>
            <a:pPr>
              <a:buNone/>
            </a:pPr>
            <a:r>
              <a:rPr lang="en-US" sz="2600" b="1" i="1" dirty="0"/>
              <a:t>Common-Mode Rejection Ratio </a:t>
            </a:r>
            <a:r>
              <a:rPr lang="en-US" sz="2600" b="1" i="1" dirty="0" smtClean="0"/>
              <a:t>,</a:t>
            </a:r>
            <a:r>
              <a:rPr lang="en-US" sz="2600" i="1" dirty="0" smtClean="0">
                <a:solidFill>
                  <a:srgbClr val="FF0000"/>
                </a:solidFill>
              </a:rPr>
              <a:t>Desired </a:t>
            </a:r>
            <a:r>
              <a:rPr lang="en-US" sz="2600" i="1" dirty="0">
                <a:solidFill>
                  <a:srgbClr val="FF0000"/>
                </a:solidFill>
              </a:rPr>
              <a:t>signals can appear on only one input or </a:t>
            </a:r>
            <a:r>
              <a:rPr lang="en-US" sz="2600" i="1" dirty="0" smtClean="0">
                <a:solidFill>
                  <a:srgbClr val="FF0000"/>
                </a:solidFill>
              </a:rPr>
              <a:t>with </a:t>
            </a:r>
            <a:r>
              <a:rPr lang="en-US" sz="2600" dirty="0" smtClean="0">
                <a:solidFill>
                  <a:srgbClr val="FF0000"/>
                </a:solidFill>
              </a:rPr>
              <a:t>opposite </a:t>
            </a:r>
            <a:r>
              <a:rPr lang="en-US" sz="2600" dirty="0">
                <a:solidFill>
                  <a:srgbClr val="FF0000"/>
                </a:solidFill>
              </a:rPr>
              <a:t>polarities on both input lines. </a:t>
            </a:r>
            <a:r>
              <a:rPr lang="en-US" sz="2600" dirty="0"/>
              <a:t>These desired signals are amplified and appear </a:t>
            </a:r>
            <a:r>
              <a:rPr lang="en-US" sz="2600" dirty="0" smtClean="0"/>
              <a:t>on the </a:t>
            </a:r>
            <a:r>
              <a:rPr lang="en-US" sz="2600" dirty="0"/>
              <a:t>output </a:t>
            </a:r>
            <a:r>
              <a:rPr lang="en-US" sz="2600" dirty="0" smtClean="0"/>
              <a:t>.Unwanted </a:t>
            </a:r>
            <a:r>
              <a:rPr lang="en-US" sz="2600" dirty="0"/>
              <a:t>signals (noise) appearing with the same </a:t>
            </a:r>
            <a:r>
              <a:rPr lang="en-US" sz="2600" dirty="0" smtClean="0"/>
              <a:t>polarity on </a:t>
            </a:r>
            <a:r>
              <a:rPr lang="en-US" sz="2600" dirty="0"/>
              <a:t>both input lines are essentially cancelled by the op-amp and do not appear on </a:t>
            </a:r>
            <a:r>
              <a:rPr lang="en-US" sz="2600" dirty="0" smtClean="0"/>
              <a:t>the output</a:t>
            </a:r>
            <a:r>
              <a:rPr lang="en-US" sz="2600" dirty="0"/>
              <a:t>. </a:t>
            </a:r>
            <a:r>
              <a:rPr lang="en-US" sz="2600" dirty="0">
                <a:solidFill>
                  <a:srgbClr val="FF0000"/>
                </a:solidFill>
              </a:rPr>
              <a:t>The measure of an amplifier’s ability to reject common-mode signals </a:t>
            </a:r>
            <a:r>
              <a:rPr lang="en-US" sz="2600" dirty="0"/>
              <a:t>is a </a:t>
            </a:r>
            <a:r>
              <a:rPr lang="en-US" sz="2600" dirty="0" smtClean="0"/>
              <a:t>parameter called </a:t>
            </a:r>
            <a:r>
              <a:rPr lang="en-US" sz="2600" dirty="0"/>
              <a:t>the </a:t>
            </a:r>
            <a:r>
              <a:rPr lang="en-US" sz="2600" b="1" dirty="0"/>
              <a:t>CMRR (common-mode rejection ratio).</a:t>
            </a:r>
          </a:p>
          <a:p>
            <a:pPr>
              <a:buNone/>
            </a:pPr>
            <a:r>
              <a:rPr lang="en-US" sz="2600" dirty="0"/>
              <a:t>Ideally, an op-amp provides a very high gain for differential-mode signals and zero gain </a:t>
            </a:r>
            <a:r>
              <a:rPr lang="en-US" sz="2600" dirty="0" smtClean="0"/>
              <a:t>for common-mode </a:t>
            </a:r>
            <a:r>
              <a:rPr lang="en-US" sz="2600" dirty="0"/>
              <a:t>signals. Practical op-amps, however, do exhibit a very small </a:t>
            </a:r>
            <a:r>
              <a:rPr lang="en-US" sz="2600" dirty="0" smtClean="0"/>
              <a:t>common-mode </a:t>
            </a:r>
            <a:r>
              <a:rPr lang="en-US" sz="2600" dirty="0"/>
              <a:t>open-loop differential voltage gain, </a:t>
            </a:r>
            <a:r>
              <a:rPr lang="en-US" sz="2600" i="1" dirty="0" err="1" smtClean="0"/>
              <a:t>Aol</a:t>
            </a:r>
            <a:r>
              <a:rPr lang="en-US" sz="2600" i="1" dirty="0" smtClean="0"/>
              <a:t>, to the </a:t>
            </a:r>
            <a:r>
              <a:rPr lang="en-US" sz="2600" dirty="0" smtClean="0"/>
              <a:t>common-mode </a:t>
            </a:r>
            <a:r>
              <a:rPr lang="en-US" sz="2600" dirty="0"/>
              <a:t>gain, </a:t>
            </a:r>
            <a:r>
              <a:rPr lang="en-US" sz="2600" i="1" dirty="0" err="1"/>
              <a:t>Acm</a:t>
            </a:r>
            <a:r>
              <a:rPr lang="en-US" i="1" dirty="0"/>
              <a:t>.</a:t>
            </a:r>
            <a:endParaRPr lang="en-US" dirty="0"/>
          </a:p>
        </p:txBody>
      </p:sp>
      <p:pic>
        <p:nvPicPr>
          <p:cNvPr id="6146" name="Picture 2"/>
          <p:cNvPicPr>
            <a:picLocks noChangeAspect="1" noChangeArrowheads="1"/>
          </p:cNvPicPr>
          <p:nvPr/>
        </p:nvPicPr>
        <p:blipFill>
          <a:blip r:embed="rId2"/>
          <a:srcRect/>
          <a:stretch>
            <a:fillRect/>
          </a:stretch>
        </p:blipFill>
        <p:spPr bwMode="auto">
          <a:xfrm>
            <a:off x="5715000" y="5715000"/>
            <a:ext cx="2057400" cy="990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54A9987B-0F06-4F85-AB81-AD42F2F36275}"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228600" y="228600"/>
            <a:ext cx="7239000" cy="2362200"/>
          </a:xfrm>
          <a:prstGeom prst="rect">
            <a:avLst/>
          </a:prstGeom>
          <a:noFill/>
          <a:ln w="9525">
            <a:noFill/>
            <a:miter lim="800000"/>
            <a:headEnd/>
            <a:tailEnd/>
          </a:ln>
          <a:effectLst/>
        </p:spPr>
      </p:pic>
      <p:sp>
        <p:nvSpPr>
          <p:cNvPr id="5" name="Rectangle 4"/>
          <p:cNvSpPr/>
          <p:nvPr/>
        </p:nvSpPr>
        <p:spPr>
          <a:xfrm>
            <a:off x="0" y="2895600"/>
            <a:ext cx="8839200" cy="4093428"/>
          </a:xfrm>
          <a:prstGeom prst="rect">
            <a:avLst/>
          </a:prstGeom>
        </p:spPr>
        <p:txBody>
          <a:bodyPr wrap="square">
            <a:spAutoFit/>
          </a:bodyPr>
          <a:lstStyle/>
          <a:p>
            <a:r>
              <a:rPr lang="en-US" sz="2600" b="1" i="1" dirty="0">
                <a:solidFill>
                  <a:srgbClr val="FF0000"/>
                </a:solidFill>
              </a:rPr>
              <a:t>Input Offset Voltage </a:t>
            </a:r>
            <a:r>
              <a:rPr lang="en-US" sz="2600" b="1" i="1" dirty="0" smtClean="0"/>
              <a:t>,</a:t>
            </a:r>
            <a:r>
              <a:rPr lang="en-US" sz="2600" i="1" dirty="0" smtClean="0"/>
              <a:t>The </a:t>
            </a:r>
            <a:r>
              <a:rPr lang="en-US" sz="2600" i="1" dirty="0"/>
              <a:t>ideal op-amp produces zero volts out for zero volts in</a:t>
            </a:r>
            <a:r>
              <a:rPr lang="en-US" sz="2600" b="1" i="1" dirty="0"/>
              <a:t>. </a:t>
            </a:r>
            <a:r>
              <a:rPr lang="en-US" sz="2600" i="1" dirty="0"/>
              <a:t>In </a:t>
            </a:r>
            <a:r>
              <a:rPr lang="en-US" sz="2600" i="1" dirty="0" smtClean="0"/>
              <a:t>a </a:t>
            </a:r>
            <a:r>
              <a:rPr lang="en-US" sz="2600" dirty="0" smtClean="0"/>
              <a:t>practical </a:t>
            </a:r>
            <a:r>
              <a:rPr lang="en-US" sz="2600" dirty="0"/>
              <a:t>op-amp, however, a small dc voltage, </a:t>
            </a:r>
            <a:r>
              <a:rPr lang="en-US" sz="2600" i="1" dirty="0"/>
              <a:t>VOUT(error), appears at the output when </a:t>
            </a:r>
            <a:r>
              <a:rPr lang="en-US" sz="2600" i="1" dirty="0" smtClean="0"/>
              <a:t>no </a:t>
            </a:r>
            <a:r>
              <a:rPr lang="en-US" sz="2600" dirty="0" smtClean="0"/>
              <a:t>differential </a:t>
            </a:r>
            <a:r>
              <a:rPr lang="en-US" sz="2600" dirty="0"/>
              <a:t>input voltage is applied. Its primary cause is a slight mismatch of the </a:t>
            </a:r>
            <a:r>
              <a:rPr lang="en-US" sz="2600" dirty="0" smtClean="0"/>
              <a:t>base-emitter voltages </a:t>
            </a:r>
            <a:r>
              <a:rPr lang="en-US" sz="2600" dirty="0"/>
              <a:t>of the differential amplifier input stage of an </a:t>
            </a:r>
            <a:r>
              <a:rPr lang="en-US" sz="2600" dirty="0" smtClean="0"/>
              <a:t>op-amp. As </a:t>
            </a:r>
            <a:r>
              <a:rPr lang="en-US" sz="2600" dirty="0"/>
              <a:t>specified on an op-amp datasheet, the </a:t>
            </a:r>
            <a:r>
              <a:rPr lang="en-US" sz="2600" i="1" dirty="0"/>
              <a:t>input offset voltage, </a:t>
            </a:r>
            <a:r>
              <a:rPr lang="en-US" sz="2600" i="1" dirty="0" err="1" smtClean="0">
                <a:solidFill>
                  <a:srgbClr val="FF0000"/>
                </a:solidFill>
              </a:rPr>
              <a:t>Vos</a:t>
            </a:r>
            <a:r>
              <a:rPr lang="en-US" sz="2600" i="1" dirty="0" smtClean="0">
                <a:solidFill>
                  <a:srgbClr val="FF0000"/>
                </a:solidFill>
              </a:rPr>
              <a:t>, </a:t>
            </a:r>
            <a:r>
              <a:rPr lang="en-US" sz="2600" i="1" dirty="0">
                <a:solidFill>
                  <a:srgbClr val="FF0000"/>
                </a:solidFill>
              </a:rPr>
              <a:t>is the differential </a:t>
            </a:r>
            <a:r>
              <a:rPr lang="en-US" sz="2600" i="1" dirty="0" smtClean="0">
                <a:solidFill>
                  <a:srgbClr val="FF0000"/>
                </a:solidFill>
              </a:rPr>
              <a:t>dc </a:t>
            </a:r>
            <a:r>
              <a:rPr lang="en-US" sz="2600" dirty="0" smtClean="0">
                <a:solidFill>
                  <a:srgbClr val="FF0000"/>
                </a:solidFill>
              </a:rPr>
              <a:t>voltage </a:t>
            </a:r>
            <a:r>
              <a:rPr lang="en-US" sz="2600" dirty="0">
                <a:solidFill>
                  <a:srgbClr val="FF0000"/>
                </a:solidFill>
              </a:rPr>
              <a:t>required between the inputs to force the output to zero volts</a:t>
            </a:r>
            <a:r>
              <a:rPr lang="en-US" sz="2600" dirty="0"/>
              <a:t>. Typical values </a:t>
            </a:r>
            <a:r>
              <a:rPr lang="en-US" sz="2600" dirty="0" smtClean="0"/>
              <a:t>of input </a:t>
            </a:r>
            <a:r>
              <a:rPr lang="en-US" sz="2600" dirty="0"/>
              <a:t>offset voltage are in the range of 2 mV or less. In the ideal case, it is 0 V.</a:t>
            </a:r>
          </a:p>
        </p:txBody>
      </p:sp>
      <p:sp>
        <p:nvSpPr>
          <p:cNvPr id="6" name="Slide Number Placeholder 5"/>
          <p:cNvSpPr>
            <a:spLocks noGrp="1"/>
          </p:cNvSpPr>
          <p:nvPr>
            <p:ph type="sldNum" sz="quarter" idx="12"/>
          </p:nvPr>
        </p:nvSpPr>
        <p:spPr/>
        <p:txBody>
          <a:bodyPr/>
          <a:lstStyle/>
          <a:p>
            <a:fld id="{54A9987B-0F06-4F85-AB81-AD42F2F36275}"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228600"/>
            <a:ext cx="8229600" cy="5973763"/>
          </a:xfrm>
        </p:spPr>
        <p:txBody>
          <a:bodyPr>
            <a:normAutofit fontScale="85000" lnSpcReduction="20000"/>
          </a:bodyPr>
          <a:lstStyle/>
          <a:p>
            <a:pPr>
              <a:buNone/>
            </a:pPr>
            <a:r>
              <a:rPr lang="en-US" sz="2800" b="1" i="1" dirty="0">
                <a:solidFill>
                  <a:srgbClr val="FF0000"/>
                </a:solidFill>
              </a:rPr>
              <a:t>Input Bias Current </a:t>
            </a:r>
            <a:r>
              <a:rPr lang="en-US" sz="2800" i="1" dirty="0"/>
              <a:t>You have seen that the input terminals of a bipolar differential amplifier</a:t>
            </a:r>
          </a:p>
          <a:p>
            <a:pPr>
              <a:buNone/>
            </a:pPr>
            <a:r>
              <a:rPr lang="en-US" sz="2800" dirty="0"/>
              <a:t>are the transistor bases and, therefore, the input currents are the base currents.</a:t>
            </a:r>
          </a:p>
          <a:p>
            <a:pPr>
              <a:buNone/>
            </a:pPr>
            <a:r>
              <a:rPr lang="en-US" sz="2800" dirty="0">
                <a:solidFill>
                  <a:srgbClr val="FF0000"/>
                </a:solidFill>
              </a:rPr>
              <a:t>The </a:t>
            </a:r>
            <a:r>
              <a:rPr lang="en-US" sz="2800" i="1" dirty="0">
                <a:solidFill>
                  <a:srgbClr val="FF0000"/>
                </a:solidFill>
              </a:rPr>
              <a:t>input bias current is the dc current required by the inputs of the amplifier to </a:t>
            </a:r>
            <a:r>
              <a:rPr lang="en-US" sz="2800" i="1" dirty="0" smtClean="0">
                <a:solidFill>
                  <a:srgbClr val="FF0000"/>
                </a:solidFill>
              </a:rPr>
              <a:t>properly </a:t>
            </a:r>
            <a:r>
              <a:rPr lang="en-US" sz="2800" dirty="0" smtClean="0">
                <a:solidFill>
                  <a:srgbClr val="FF0000"/>
                </a:solidFill>
              </a:rPr>
              <a:t>operate </a:t>
            </a:r>
            <a:r>
              <a:rPr lang="en-US" sz="2800" dirty="0">
                <a:solidFill>
                  <a:srgbClr val="FF0000"/>
                </a:solidFill>
              </a:rPr>
              <a:t>the first stage</a:t>
            </a:r>
            <a:r>
              <a:rPr lang="en-US" sz="2800" dirty="0"/>
              <a:t>. By definition, </a:t>
            </a:r>
            <a:r>
              <a:rPr lang="en-US" sz="2800" dirty="0">
                <a:solidFill>
                  <a:schemeClr val="accent1">
                    <a:lumMod val="75000"/>
                  </a:schemeClr>
                </a:solidFill>
              </a:rPr>
              <a:t>the input bias current is the </a:t>
            </a:r>
            <a:r>
              <a:rPr lang="en-US" sz="2800" i="1" dirty="0">
                <a:solidFill>
                  <a:schemeClr val="accent1">
                    <a:lumMod val="75000"/>
                  </a:schemeClr>
                </a:solidFill>
              </a:rPr>
              <a:t>average of both </a:t>
            </a:r>
            <a:r>
              <a:rPr lang="en-US" sz="2800" i="1" dirty="0" smtClean="0">
                <a:solidFill>
                  <a:schemeClr val="accent1">
                    <a:lumMod val="75000"/>
                  </a:schemeClr>
                </a:solidFill>
              </a:rPr>
              <a:t>input </a:t>
            </a:r>
            <a:r>
              <a:rPr lang="en-US" sz="2800" dirty="0" smtClean="0">
                <a:solidFill>
                  <a:schemeClr val="accent1">
                    <a:lumMod val="75000"/>
                  </a:schemeClr>
                </a:solidFill>
              </a:rPr>
              <a:t>currents </a:t>
            </a:r>
            <a:r>
              <a:rPr lang="en-US" sz="2800" dirty="0"/>
              <a:t>and is calculated as </a:t>
            </a:r>
            <a:r>
              <a:rPr lang="en-US" sz="2800" dirty="0" smtClean="0"/>
              <a:t>follows:</a:t>
            </a:r>
          </a:p>
          <a:p>
            <a:pPr>
              <a:buNone/>
            </a:pPr>
            <a:endParaRPr lang="en-US" sz="2800" dirty="0" smtClean="0"/>
          </a:p>
          <a:p>
            <a:pPr>
              <a:buNone/>
            </a:pPr>
            <a:endParaRPr lang="en-US" sz="2800" dirty="0" smtClean="0"/>
          </a:p>
          <a:p>
            <a:pPr>
              <a:buNone/>
            </a:pPr>
            <a:endParaRPr lang="en-US" sz="2800" dirty="0" smtClean="0"/>
          </a:p>
          <a:p>
            <a:pPr>
              <a:buNone/>
            </a:pPr>
            <a:endParaRPr lang="en-US" sz="2800" dirty="0" smtClean="0"/>
          </a:p>
          <a:p>
            <a:pPr>
              <a:buNone/>
            </a:pPr>
            <a:endParaRPr lang="en-US" sz="2800" dirty="0" smtClean="0"/>
          </a:p>
          <a:p>
            <a:pPr>
              <a:buNone/>
            </a:pPr>
            <a:endParaRPr lang="en-US" sz="2800" dirty="0" smtClean="0"/>
          </a:p>
          <a:p>
            <a:pPr>
              <a:buNone/>
            </a:pPr>
            <a:endParaRPr lang="en-US" sz="2800" dirty="0" smtClean="0"/>
          </a:p>
          <a:p>
            <a:pPr>
              <a:buNone/>
            </a:pPr>
            <a:r>
              <a:rPr lang="en-US" sz="2800" dirty="0" smtClean="0"/>
              <a:t>The </a:t>
            </a:r>
            <a:r>
              <a:rPr lang="en-US" sz="2800" dirty="0"/>
              <a:t>concept of input bias current is illustrated in </a:t>
            </a:r>
            <a:endParaRPr lang="en-US" sz="2800" dirty="0" smtClean="0"/>
          </a:p>
          <a:p>
            <a:pPr>
              <a:buNone/>
            </a:pPr>
            <a:r>
              <a:rPr lang="en-US" sz="2800" dirty="0" smtClean="0"/>
              <a:t>Figure </a:t>
            </a:r>
            <a:r>
              <a:rPr lang="en-US" sz="2800" dirty="0"/>
              <a:t>12–7.</a:t>
            </a:r>
          </a:p>
        </p:txBody>
      </p:sp>
      <p:pic>
        <p:nvPicPr>
          <p:cNvPr id="8194" name="Picture 2"/>
          <p:cNvPicPr>
            <a:picLocks noChangeAspect="1" noChangeArrowheads="1"/>
          </p:cNvPicPr>
          <p:nvPr/>
        </p:nvPicPr>
        <p:blipFill>
          <a:blip r:embed="rId3"/>
          <a:srcRect/>
          <a:stretch>
            <a:fillRect/>
          </a:stretch>
        </p:blipFill>
        <p:spPr bwMode="auto">
          <a:xfrm>
            <a:off x="6477000" y="3505200"/>
            <a:ext cx="1905000" cy="990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54A9987B-0F06-4F85-AB81-AD42F2F36275}" type="slidenum">
              <a:rPr lang="en-US" smtClean="0"/>
              <a:pPr/>
              <a:t>19</a:t>
            </a:fld>
            <a:endParaRPr lang="en-US" dirty="0"/>
          </a:p>
        </p:txBody>
      </p:sp>
      <p:pic>
        <p:nvPicPr>
          <p:cNvPr id="6" name="Picture 2"/>
          <p:cNvPicPr>
            <a:picLocks noChangeAspect="1" noChangeArrowheads="1"/>
          </p:cNvPicPr>
          <p:nvPr/>
        </p:nvPicPr>
        <p:blipFill>
          <a:blip r:embed="rId4"/>
          <a:srcRect/>
          <a:stretch>
            <a:fillRect/>
          </a:stretch>
        </p:blipFill>
        <p:spPr bwMode="auto">
          <a:xfrm>
            <a:off x="1600200" y="2819400"/>
            <a:ext cx="4572000" cy="20574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381000"/>
            <a:ext cx="8534400" cy="461665"/>
          </a:xfrm>
          <a:prstGeom prst="rect">
            <a:avLst/>
          </a:prstGeom>
        </p:spPr>
        <p:txBody>
          <a:bodyPr wrap="square">
            <a:spAutoFit/>
          </a:bodyPr>
          <a:lstStyle/>
          <a:p>
            <a:r>
              <a:rPr lang="en-US" sz="2400" dirty="0" smtClean="0"/>
              <a:t>).</a:t>
            </a:r>
            <a:endParaRPr lang="en-US" sz="2400" dirty="0"/>
          </a:p>
        </p:txBody>
      </p:sp>
      <p:sp>
        <p:nvSpPr>
          <p:cNvPr id="6" name="Slide Number Placeholder 5"/>
          <p:cNvSpPr>
            <a:spLocks noGrp="1"/>
          </p:cNvSpPr>
          <p:nvPr>
            <p:ph type="sldNum" sz="quarter" idx="12"/>
          </p:nvPr>
        </p:nvSpPr>
        <p:spPr/>
        <p:txBody>
          <a:bodyPr/>
          <a:lstStyle/>
          <a:p>
            <a:fld id="{54A9987B-0F06-4F85-AB81-AD42F2F36275}" type="slidenum">
              <a:rPr lang="en-US" smtClean="0"/>
              <a:pPr/>
              <a:t>20</a:t>
            </a:fld>
            <a:endParaRPr lang="en-US" dirty="0"/>
          </a:p>
        </p:txBody>
      </p:sp>
      <p:sp>
        <p:nvSpPr>
          <p:cNvPr id="7" name="Content Placeholder 6"/>
          <p:cNvSpPr>
            <a:spLocks noGrp="1"/>
          </p:cNvSpPr>
          <p:nvPr>
            <p:ph idx="1"/>
          </p:nvPr>
        </p:nvSpPr>
        <p:spPr>
          <a:xfrm>
            <a:off x="0" y="228600"/>
            <a:ext cx="8763000" cy="6400800"/>
          </a:xfrm>
        </p:spPr>
        <p:txBody>
          <a:bodyPr>
            <a:normAutofit lnSpcReduction="10000"/>
          </a:bodyPr>
          <a:lstStyle/>
          <a:p>
            <a:pPr algn="ctr">
              <a:buNone/>
            </a:pPr>
            <a:r>
              <a:rPr lang="en-US" b="1" i="1" dirty="0" smtClean="0">
                <a:solidFill>
                  <a:srgbClr val="FF0000"/>
                </a:solidFill>
              </a:rPr>
              <a:t>Input Impedance</a:t>
            </a:r>
            <a:r>
              <a:rPr lang="en-US" b="1" i="1" dirty="0" smtClean="0"/>
              <a:t>, </a:t>
            </a:r>
            <a:r>
              <a:rPr lang="en-US" i="1" dirty="0" smtClean="0"/>
              <a:t>Two basic ways of specifying the input impedance of an op-amp are </a:t>
            </a:r>
            <a:r>
              <a:rPr lang="en-US" dirty="0" smtClean="0"/>
              <a:t>the differential and the common mode. The </a:t>
            </a:r>
            <a:r>
              <a:rPr lang="en-US" i="1" dirty="0" smtClean="0"/>
              <a:t>differential </a:t>
            </a:r>
            <a:r>
              <a:rPr lang="en-US" i="1" dirty="0" smtClean="0">
                <a:solidFill>
                  <a:srgbClr val="FF0000"/>
                </a:solidFill>
              </a:rPr>
              <a:t>input impedance is the total resistance </a:t>
            </a:r>
            <a:r>
              <a:rPr lang="en-US" dirty="0" smtClean="0">
                <a:solidFill>
                  <a:srgbClr val="FF0000"/>
                </a:solidFill>
              </a:rPr>
              <a:t>between the inverting and the noninverting inputs, </a:t>
            </a:r>
            <a:r>
              <a:rPr lang="en-US" dirty="0" smtClean="0"/>
              <a:t>as illustrated in Figure </a:t>
            </a:r>
          </a:p>
          <a:p>
            <a:pPr algn="ctr">
              <a:buNone/>
            </a:pPr>
            <a:r>
              <a:rPr lang="en-US" dirty="0" smtClean="0"/>
              <a:t>12–8(a).Differential impedance is measured by determining the change in bias current for a given change in differential input voltage. The </a:t>
            </a:r>
            <a:r>
              <a:rPr lang="en-US" i="1" dirty="0" smtClean="0"/>
              <a:t>common-mode input impedance is the resistance </a:t>
            </a:r>
            <a:r>
              <a:rPr lang="en-US" dirty="0" smtClean="0"/>
              <a:t>between each input and ground and is measured by determining the change in bias current for a given change in common-mode input voltage. It is depicted in Figure 12–8(b</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endParaRPr lang="en-US" b="1" i="1" dirty="0" smtClean="0"/>
          </a:p>
          <a:p>
            <a:pPr>
              <a:buNone/>
            </a:pPr>
            <a:endParaRPr lang="en-US" b="1" i="1" dirty="0"/>
          </a:p>
          <a:p>
            <a:pPr>
              <a:buNone/>
            </a:pPr>
            <a:endParaRPr lang="en-US" b="1" i="1" dirty="0" smtClean="0"/>
          </a:p>
          <a:p>
            <a:pPr>
              <a:buNone/>
            </a:pPr>
            <a:endParaRPr lang="en-US" b="1" i="1" dirty="0"/>
          </a:p>
          <a:p>
            <a:pPr>
              <a:buNone/>
            </a:pPr>
            <a:r>
              <a:rPr lang="en-US" sz="2700" b="1" i="1" dirty="0" smtClean="0">
                <a:solidFill>
                  <a:srgbClr val="FF0000"/>
                </a:solidFill>
              </a:rPr>
              <a:t>Input </a:t>
            </a:r>
            <a:r>
              <a:rPr lang="en-US" sz="2700" b="1" i="1" dirty="0">
                <a:solidFill>
                  <a:srgbClr val="FF0000"/>
                </a:solidFill>
              </a:rPr>
              <a:t>Offset Current </a:t>
            </a:r>
            <a:r>
              <a:rPr lang="en-US" sz="2700" b="1" i="1" dirty="0" smtClean="0"/>
              <a:t>,</a:t>
            </a:r>
            <a:r>
              <a:rPr lang="en-US" sz="2700" i="1" dirty="0" smtClean="0"/>
              <a:t>Ideally</a:t>
            </a:r>
            <a:r>
              <a:rPr lang="en-US" sz="2700" i="1" dirty="0"/>
              <a:t>, the two input bias currents are equal, and thus their </a:t>
            </a:r>
            <a:r>
              <a:rPr lang="en-US" sz="2700" i="1" dirty="0" smtClean="0"/>
              <a:t>difference </a:t>
            </a:r>
            <a:r>
              <a:rPr lang="en-US" sz="2700" dirty="0" smtClean="0"/>
              <a:t>is </a:t>
            </a:r>
            <a:r>
              <a:rPr lang="en-US" sz="2700" dirty="0"/>
              <a:t>zero. In a practical op-amp, however, the bias currents are not exactly </a:t>
            </a:r>
            <a:r>
              <a:rPr lang="en-US" sz="2700" dirty="0" smtClean="0"/>
              <a:t>equal. </a:t>
            </a:r>
            <a:r>
              <a:rPr lang="en-US" sz="2700" dirty="0" smtClean="0">
                <a:solidFill>
                  <a:srgbClr val="FF0000"/>
                </a:solidFill>
              </a:rPr>
              <a:t>The </a:t>
            </a:r>
            <a:r>
              <a:rPr lang="en-US" sz="2700" i="1" dirty="0">
                <a:solidFill>
                  <a:srgbClr val="FF0000"/>
                </a:solidFill>
              </a:rPr>
              <a:t>input offset current, </a:t>
            </a:r>
            <a:r>
              <a:rPr lang="en-US" sz="2700" i="1" dirty="0" err="1" smtClean="0">
                <a:solidFill>
                  <a:srgbClr val="FF0000"/>
                </a:solidFill>
              </a:rPr>
              <a:t>Ios</a:t>
            </a:r>
            <a:r>
              <a:rPr lang="en-US" sz="2700" i="1" dirty="0" smtClean="0">
                <a:solidFill>
                  <a:srgbClr val="FF0000"/>
                </a:solidFill>
              </a:rPr>
              <a:t>, </a:t>
            </a:r>
            <a:r>
              <a:rPr lang="en-US" sz="2700" i="1" dirty="0">
                <a:solidFill>
                  <a:srgbClr val="FF0000"/>
                </a:solidFill>
              </a:rPr>
              <a:t>is the difference of the input bias currents</a:t>
            </a:r>
            <a:r>
              <a:rPr lang="en-US" sz="2700" i="1" dirty="0"/>
              <a:t>, expressed as </a:t>
            </a:r>
            <a:r>
              <a:rPr lang="en-US" sz="2700" i="1" dirty="0" smtClean="0"/>
              <a:t>an </a:t>
            </a:r>
            <a:r>
              <a:rPr lang="en-US" sz="2700" dirty="0" smtClean="0"/>
              <a:t>absolute </a:t>
            </a:r>
            <a:r>
              <a:rPr lang="en-US" sz="2700" dirty="0"/>
              <a:t>value</a:t>
            </a:r>
            <a:r>
              <a:rPr lang="en-US" sz="2700" dirty="0" smtClean="0"/>
              <a:t>.</a:t>
            </a:r>
          </a:p>
          <a:p>
            <a:pPr>
              <a:buNone/>
            </a:pPr>
            <a:endParaRPr lang="en-US" sz="2700" dirty="0"/>
          </a:p>
        </p:txBody>
      </p:sp>
      <p:pic>
        <p:nvPicPr>
          <p:cNvPr id="10243" name="Picture 3"/>
          <p:cNvPicPr>
            <a:picLocks noChangeAspect="1" noChangeArrowheads="1"/>
          </p:cNvPicPr>
          <p:nvPr/>
        </p:nvPicPr>
        <p:blipFill>
          <a:blip r:embed="rId2"/>
          <a:srcRect/>
          <a:stretch>
            <a:fillRect/>
          </a:stretch>
        </p:blipFill>
        <p:spPr bwMode="auto">
          <a:xfrm>
            <a:off x="3962400" y="4876800"/>
            <a:ext cx="1905000" cy="914400"/>
          </a:xfrm>
          <a:prstGeom prst="rect">
            <a:avLst/>
          </a:prstGeom>
          <a:noFill/>
          <a:ln w="9525">
            <a:noFill/>
            <a:miter lim="800000"/>
            <a:headEnd/>
            <a:tailEnd/>
          </a:ln>
          <a:effectLst/>
        </p:spPr>
      </p:pic>
      <p:pic>
        <p:nvPicPr>
          <p:cNvPr id="10245" name="Picture 5"/>
          <p:cNvPicPr>
            <a:picLocks noChangeAspect="1" noChangeArrowheads="1"/>
          </p:cNvPicPr>
          <p:nvPr/>
        </p:nvPicPr>
        <p:blipFill>
          <a:blip r:embed="rId3"/>
          <a:srcRect/>
          <a:stretch>
            <a:fillRect/>
          </a:stretch>
        </p:blipFill>
        <p:spPr bwMode="auto">
          <a:xfrm>
            <a:off x="304800" y="228600"/>
            <a:ext cx="7620000" cy="22860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54A9987B-0F06-4F85-AB81-AD42F2F36275}"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a:buNone/>
            </a:pPr>
            <a:r>
              <a:rPr lang="en-US" b="1" i="1" dirty="0">
                <a:solidFill>
                  <a:srgbClr val="FF0000"/>
                </a:solidFill>
              </a:rPr>
              <a:t>Output </a:t>
            </a:r>
            <a:r>
              <a:rPr lang="en-US" b="1" i="1" dirty="0" smtClean="0">
                <a:solidFill>
                  <a:srgbClr val="FF0000"/>
                </a:solidFill>
              </a:rPr>
              <a:t>Impedance</a:t>
            </a:r>
            <a:r>
              <a:rPr lang="en-US" b="1" i="1" dirty="0" smtClean="0"/>
              <a:t>, </a:t>
            </a:r>
            <a:r>
              <a:rPr lang="en-US" dirty="0"/>
              <a:t>The output impedance is the </a:t>
            </a:r>
            <a:r>
              <a:rPr lang="en-US" dirty="0">
                <a:solidFill>
                  <a:srgbClr val="FF0000"/>
                </a:solidFill>
              </a:rPr>
              <a:t>resistance viewed from the output </a:t>
            </a:r>
            <a:r>
              <a:rPr lang="en-US" dirty="0" smtClean="0">
                <a:solidFill>
                  <a:srgbClr val="FF0000"/>
                </a:solidFill>
              </a:rPr>
              <a:t>terminal of </a:t>
            </a:r>
            <a:r>
              <a:rPr lang="en-US" dirty="0">
                <a:solidFill>
                  <a:srgbClr val="FF0000"/>
                </a:solidFill>
              </a:rPr>
              <a:t>the op-amp</a:t>
            </a:r>
            <a:r>
              <a:rPr lang="en-US" dirty="0"/>
              <a:t>, as indicated in Figure 12–10.</a:t>
            </a:r>
          </a:p>
        </p:txBody>
      </p:sp>
      <p:pic>
        <p:nvPicPr>
          <p:cNvPr id="11266" name="Picture 2"/>
          <p:cNvPicPr>
            <a:picLocks noChangeAspect="1" noChangeArrowheads="1"/>
          </p:cNvPicPr>
          <p:nvPr/>
        </p:nvPicPr>
        <p:blipFill>
          <a:blip r:embed="rId2"/>
          <a:srcRect/>
          <a:stretch>
            <a:fillRect/>
          </a:stretch>
        </p:blipFill>
        <p:spPr bwMode="auto">
          <a:xfrm>
            <a:off x="2362200" y="1752600"/>
            <a:ext cx="4876800" cy="1828800"/>
          </a:xfrm>
          <a:prstGeom prst="rect">
            <a:avLst/>
          </a:prstGeom>
          <a:noFill/>
          <a:ln w="9525">
            <a:noFill/>
            <a:miter lim="800000"/>
            <a:headEnd/>
            <a:tailEnd/>
          </a:ln>
          <a:effectLst/>
        </p:spPr>
      </p:pic>
      <p:sp>
        <p:nvSpPr>
          <p:cNvPr id="5" name="Rectangle 4"/>
          <p:cNvSpPr/>
          <p:nvPr/>
        </p:nvSpPr>
        <p:spPr>
          <a:xfrm>
            <a:off x="381000" y="3962400"/>
            <a:ext cx="7467600" cy="2062103"/>
          </a:xfrm>
          <a:prstGeom prst="rect">
            <a:avLst/>
          </a:prstGeom>
        </p:spPr>
        <p:txBody>
          <a:bodyPr wrap="square">
            <a:spAutoFit/>
          </a:bodyPr>
          <a:lstStyle/>
          <a:p>
            <a:r>
              <a:rPr lang="en-US" sz="2400" b="1" i="1" dirty="0">
                <a:solidFill>
                  <a:srgbClr val="FF0000"/>
                </a:solidFill>
              </a:rPr>
              <a:t>Slew Rate </a:t>
            </a:r>
            <a:r>
              <a:rPr lang="en-US" sz="2400" i="1" dirty="0"/>
              <a:t>The maximum </a:t>
            </a:r>
            <a:r>
              <a:rPr lang="en-US" sz="2400" i="1" dirty="0">
                <a:solidFill>
                  <a:srgbClr val="FF0000"/>
                </a:solidFill>
              </a:rPr>
              <a:t>rate of change of the output voltage in response to a step </a:t>
            </a:r>
            <a:r>
              <a:rPr lang="en-US" sz="2400" i="1" dirty="0" smtClean="0">
                <a:solidFill>
                  <a:srgbClr val="FF0000"/>
                </a:solidFill>
              </a:rPr>
              <a:t>input </a:t>
            </a:r>
            <a:r>
              <a:rPr lang="en-US" sz="2400" dirty="0" smtClean="0">
                <a:solidFill>
                  <a:srgbClr val="FF0000"/>
                </a:solidFill>
              </a:rPr>
              <a:t>voltage </a:t>
            </a:r>
            <a:r>
              <a:rPr lang="en-US" sz="2400" dirty="0"/>
              <a:t>is the slew rate of an op-amp. The slew rate </a:t>
            </a:r>
            <a:r>
              <a:rPr lang="en-US" sz="2400" dirty="0" smtClean="0"/>
              <a:t>is dependent </a:t>
            </a:r>
            <a:r>
              <a:rPr lang="en-US" sz="2400" dirty="0"/>
              <a:t>upon the </a:t>
            </a:r>
            <a:r>
              <a:rPr lang="en-US" sz="2400" dirty="0" smtClean="0"/>
              <a:t>high-frequency response </a:t>
            </a:r>
            <a:r>
              <a:rPr lang="en-US" sz="2400" dirty="0"/>
              <a:t>of the amplifier st</a:t>
            </a:r>
            <a:r>
              <a:rPr lang="en-US" sz="2800" dirty="0"/>
              <a:t>ages within the op-amp</a:t>
            </a:r>
            <a:r>
              <a:rPr lang="en-US" dirty="0"/>
              <a:t>.</a:t>
            </a:r>
          </a:p>
        </p:txBody>
      </p:sp>
      <p:pic>
        <p:nvPicPr>
          <p:cNvPr id="11267" name="Picture 3"/>
          <p:cNvPicPr>
            <a:picLocks noChangeAspect="1" noChangeArrowheads="1"/>
          </p:cNvPicPr>
          <p:nvPr/>
        </p:nvPicPr>
        <p:blipFill>
          <a:blip r:embed="rId3"/>
          <a:srcRect/>
          <a:stretch>
            <a:fillRect/>
          </a:stretch>
        </p:blipFill>
        <p:spPr bwMode="auto">
          <a:xfrm>
            <a:off x="1828800" y="5562600"/>
            <a:ext cx="6324600" cy="1295400"/>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54A9987B-0F06-4F85-AB81-AD42F2F36275}"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b="1" dirty="0" smtClean="0"/>
              <a:t>              NEGATIVE FEEDBACK</a:t>
            </a:r>
          </a:p>
          <a:p>
            <a:pPr>
              <a:buNone/>
            </a:pPr>
            <a:r>
              <a:rPr lang="en-US" sz="2700" dirty="0"/>
              <a:t>Negative feedback is one of the most useful concepts in electronics, particularly </a:t>
            </a:r>
            <a:r>
              <a:rPr lang="en-US" sz="2700" dirty="0" smtClean="0"/>
              <a:t>in op-amp </a:t>
            </a:r>
            <a:r>
              <a:rPr lang="en-US" sz="2700" dirty="0"/>
              <a:t>applications. Negative feedback is the process whereby a portion of </a:t>
            </a:r>
            <a:r>
              <a:rPr lang="en-US" sz="2700" dirty="0" smtClean="0"/>
              <a:t>the output </a:t>
            </a:r>
            <a:r>
              <a:rPr lang="en-US" sz="2700" dirty="0"/>
              <a:t>voltage of an amplifier is returned to the </a:t>
            </a:r>
            <a:r>
              <a:rPr lang="en-US" sz="2700" dirty="0">
                <a:solidFill>
                  <a:srgbClr val="FF0000"/>
                </a:solidFill>
              </a:rPr>
              <a:t>input with a phase angle </a:t>
            </a:r>
            <a:r>
              <a:rPr lang="en-US" sz="2700" dirty="0" smtClean="0">
                <a:solidFill>
                  <a:srgbClr val="FF0000"/>
                </a:solidFill>
              </a:rPr>
              <a:t>that opposes </a:t>
            </a:r>
            <a:r>
              <a:rPr lang="en-US" sz="2700" dirty="0">
                <a:solidFill>
                  <a:srgbClr val="FF0000"/>
                </a:solidFill>
              </a:rPr>
              <a:t>(or subtracts from) the input </a:t>
            </a:r>
            <a:r>
              <a:rPr lang="en-US" sz="2700" dirty="0" smtClean="0">
                <a:solidFill>
                  <a:srgbClr val="FF0000"/>
                </a:solidFill>
              </a:rPr>
              <a:t>signal</a:t>
            </a:r>
            <a:r>
              <a:rPr lang="en-US" sz="2700" dirty="0" smtClean="0"/>
              <a:t> </a:t>
            </a:r>
            <a:r>
              <a:rPr lang="en-US" sz="2700" dirty="0"/>
              <a:t>Negative feedback is illustrated in Figure 12–14. The inverting input effectively</a:t>
            </a:r>
          </a:p>
          <a:p>
            <a:pPr>
              <a:buNone/>
            </a:pPr>
            <a:r>
              <a:rPr lang="en-US" sz="2700" dirty="0"/>
              <a:t>makes the feedback signal 180° out of phase with the input signal</a:t>
            </a:r>
            <a:r>
              <a:rPr lang="en-US" sz="2700" dirty="0" smtClean="0"/>
              <a:t>. (-)</a:t>
            </a:r>
            <a:endParaRPr lang="en-US" sz="2700"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23</a:t>
            </a:fld>
            <a:endParaRPr lang="en-US"/>
          </a:p>
        </p:txBody>
      </p:sp>
      <p:pic>
        <p:nvPicPr>
          <p:cNvPr id="12290" name="Picture 2"/>
          <p:cNvPicPr>
            <a:picLocks noChangeAspect="1" noChangeArrowheads="1"/>
          </p:cNvPicPr>
          <p:nvPr/>
        </p:nvPicPr>
        <p:blipFill>
          <a:blip r:embed="rId2"/>
          <a:srcRect/>
          <a:stretch>
            <a:fillRect/>
          </a:stretch>
        </p:blipFill>
        <p:spPr bwMode="auto">
          <a:xfrm>
            <a:off x="3276600" y="4267200"/>
            <a:ext cx="5638800" cy="25908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None/>
            </a:pPr>
            <a:r>
              <a:rPr lang="en-US" b="1" dirty="0" smtClean="0"/>
              <a:t>	</a:t>
            </a:r>
            <a:r>
              <a:rPr lang="en-US" sz="2700" b="1" dirty="0" smtClean="0"/>
              <a:t>	Why </a:t>
            </a:r>
            <a:r>
              <a:rPr lang="en-US" sz="2700" b="1" dirty="0"/>
              <a:t>Use Negative Feedback?</a:t>
            </a:r>
          </a:p>
          <a:p>
            <a:pPr>
              <a:buNone/>
            </a:pPr>
            <a:r>
              <a:rPr lang="en-US" sz="2700" dirty="0"/>
              <a:t>As you can see in Table 12–1, the inherent open-loop voltage gain of a typical op-amp </a:t>
            </a:r>
            <a:r>
              <a:rPr lang="en-US" sz="2700" dirty="0" smtClean="0"/>
              <a:t>is very </a:t>
            </a:r>
            <a:r>
              <a:rPr lang="en-US" sz="2700" dirty="0"/>
              <a:t>high (usually greater than 100,000). Therefore, an extremely small input </a:t>
            </a:r>
            <a:r>
              <a:rPr lang="en-US" sz="2700" dirty="0" smtClean="0"/>
              <a:t>voltage drives </a:t>
            </a:r>
            <a:r>
              <a:rPr lang="en-US" sz="2700" dirty="0"/>
              <a:t>the op-amp into its saturated output states. In fact, even the input offset voltage of</a:t>
            </a:r>
          </a:p>
          <a:p>
            <a:pPr>
              <a:buNone/>
            </a:pPr>
            <a:r>
              <a:rPr lang="en-US" sz="2700" dirty="0"/>
              <a:t>the op-amp can drive it into saturation. For </a:t>
            </a:r>
            <a:r>
              <a:rPr lang="en-US" sz="2700" dirty="0" smtClean="0"/>
              <a:t>example, assume </a:t>
            </a:r>
            <a:r>
              <a:rPr lang="en-US" sz="2700" i="1" dirty="0"/>
              <a:t>VIN </a:t>
            </a:r>
            <a:r>
              <a:rPr lang="en-US" sz="2700" i="1" dirty="0" smtClean="0"/>
              <a:t>= </a:t>
            </a:r>
            <a:r>
              <a:rPr lang="en-US" sz="2700" i="1" dirty="0"/>
              <a:t>1 mV and </a:t>
            </a:r>
            <a:r>
              <a:rPr lang="en-US" sz="2700" i="1" dirty="0" err="1"/>
              <a:t>Aol</a:t>
            </a:r>
            <a:r>
              <a:rPr lang="en-US" sz="2700" i="1" dirty="0"/>
              <a:t> </a:t>
            </a:r>
            <a:r>
              <a:rPr lang="en-US" sz="2700" i="1" dirty="0" smtClean="0"/>
              <a:t>=</a:t>
            </a:r>
            <a:r>
              <a:rPr lang="en-US" sz="2700" dirty="0" smtClean="0"/>
              <a:t>100,000</a:t>
            </a:r>
            <a:r>
              <a:rPr lang="en-US" sz="2700" dirty="0"/>
              <a:t>. Then,</a:t>
            </a:r>
          </a:p>
        </p:txBody>
      </p:sp>
      <p:sp>
        <p:nvSpPr>
          <p:cNvPr id="4" name="Slide Number Placeholder 3"/>
          <p:cNvSpPr>
            <a:spLocks noGrp="1"/>
          </p:cNvSpPr>
          <p:nvPr>
            <p:ph type="sldNum" sz="quarter" idx="12"/>
          </p:nvPr>
        </p:nvSpPr>
        <p:spPr/>
        <p:txBody>
          <a:bodyPr/>
          <a:lstStyle/>
          <a:p>
            <a:fld id="{54A9987B-0F06-4F85-AB81-AD42F2F36275}" type="slidenum">
              <a:rPr lang="en-US" smtClean="0"/>
              <a:pPr/>
              <a:t>24</a:t>
            </a:fld>
            <a:endParaRPr lang="en-US"/>
          </a:p>
        </p:txBody>
      </p:sp>
      <p:pic>
        <p:nvPicPr>
          <p:cNvPr id="13314" name="Picture 2"/>
          <p:cNvPicPr>
            <a:picLocks noChangeAspect="1" noChangeArrowheads="1"/>
          </p:cNvPicPr>
          <p:nvPr/>
        </p:nvPicPr>
        <p:blipFill>
          <a:blip r:embed="rId2"/>
          <a:srcRect/>
          <a:stretch>
            <a:fillRect/>
          </a:stretch>
        </p:blipFill>
        <p:spPr bwMode="auto">
          <a:xfrm>
            <a:off x="2209800" y="3962400"/>
            <a:ext cx="3038475" cy="914400"/>
          </a:xfrm>
          <a:prstGeom prst="rect">
            <a:avLst/>
          </a:prstGeom>
          <a:noFill/>
          <a:ln w="9525">
            <a:noFill/>
            <a:miter lim="800000"/>
            <a:headEnd/>
            <a:tailEnd/>
          </a:ln>
          <a:effectLst/>
        </p:spPr>
      </p:pic>
      <p:sp>
        <p:nvSpPr>
          <p:cNvPr id="6" name="Rectangle 5"/>
          <p:cNvSpPr/>
          <p:nvPr/>
        </p:nvSpPr>
        <p:spPr>
          <a:xfrm>
            <a:off x="457200" y="4876800"/>
            <a:ext cx="8305800" cy="1569660"/>
          </a:xfrm>
          <a:prstGeom prst="rect">
            <a:avLst/>
          </a:prstGeom>
        </p:spPr>
        <p:txBody>
          <a:bodyPr wrap="square">
            <a:spAutoFit/>
          </a:bodyPr>
          <a:lstStyle/>
          <a:p>
            <a:r>
              <a:rPr lang="en-US" sz="2400" dirty="0"/>
              <a:t>Since the output level of an op-amp can never reach 100 V, it is driven deep into </a:t>
            </a:r>
            <a:r>
              <a:rPr lang="en-US" sz="2400" dirty="0" smtClean="0"/>
              <a:t>saturation and </a:t>
            </a:r>
            <a:r>
              <a:rPr lang="en-US" sz="2400" dirty="0"/>
              <a:t>the output is limited to its maximum output levels, as illustrated in Figure 12–15 </a:t>
            </a:r>
            <a:r>
              <a:rPr lang="en-US" sz="2400" dirty="0" smtClean="0"/>
              <a:t>for both </a:t>
            </a:r>
            <a:r>
              <a:rPr lang="en-US" sz="2400" dirty="0"/>
              <a:t>a positive and a negative input voltage of 1 mV.</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92500" lnSpcReduction="10000"/>
          </a:bodyPr>
          <a:lstStyle/>
          <a:p>
            <a:pPr>
              <a:buNone/>
            </a:pPr>
            <a:r>
              <a:rPr lang="en-US" sz="2800" b="1" dirty="0" smtClean="0"/>
              <a:t>			OP-AMPS WITH NEGATIVE FEEDBACK</a:t>
            </a:r>
          </a:p>
          <a:p>
            <a:pPr>
              <a:buNone/>
            </a:pPr>
            <a:r>
              <a:rPr lang="en-US" sz="2800" dirty="0" smtClean="0">
                <a:solidFill>
                  <a:srgbClr val="FF0000"/>
                </a:solidFill>
              </a:rPr>
              <a:t>An op-amp can be connected using negative feedback to stabilize the gain and increase frequency response. </a:t>
            </a:r>
            <a:r>
              <a:rPr lang="en-US" sz="2800" dirty="0" smtClean="0"/>
              <a:t>Negative feedback takes a portion of the output and applies it back out of phase with the input, creating an effective reduction in gain. This closed loop gain is usually much less than the open-loop gain and independent of it.</a:t>
            </a:r>
          </a:p>
          <a:p>
            <a:pPr>
              <a:buNone/>
            </a:pPr>
            <a:r>
              <a:rPr lang="en-US" sz="2800" b="1" dirty="0" smtClean="0"/>
              <a:t>Closed-Loop Voltage Gain, </a:t>
            </a:r>
            <a:r>
              <a:rPr lang="en-US" sz="2800" b="1" i="1" dirty="0" err="1" smtClean="0"/>
              <a:t>Acl</a:t>
            </a:r>
            <a:endParaRPr lang="en-US" sz="2800" b="1" i="1" dirty="0" smtClean="0"/>
          </a:p>
          <a:p>
            <a:pPr>
              <a:buNone/>
            </a:pPr>
            <a:r>
              <a:rPr lang="en-US" sz="2800" dirty="0" smtClean="0"/>
              <a:t>The closed-loop voltage gain is the voltage gain of an op-amp with external feedback. The amplifier configuration consists of the op-amp and an external negative feedback circuit that connects the output to the inverting input. </a:t>
            </a:r>
            <a:r>
              <a:rPr lang="en-US" sz="2800" dirty="0" smtClean="0">
                <a:solidFill>
                  <a:srgbClr val="FF0000"/>
                </a:solidFill>
              </a:rPr>
              <a:t>The closed-loop voltage gain is determined</a:t>
            </a:r>
          </a:p>
          <a:p>
            <a:pPr>
              <a:buNone/>
            </a:pPr>
            <a:r>
              <a:rPr lang="en-US" sz="2800" dirty="0" smtClean="0">
                <a:solidFill>
                  <a:srgbClr val="FF0000"/>
                </a:solidFill>
              </a:rPr>
              <a:t>by the external component values </a:t>
            </a:r>
            <a:r>
              <a:rPr lang="en-US" sz="2800" dirty="0" smtClean="0"/>
              <a:t>and can be precisely controlled by them.</a:t>
            </a:r>
            <a:endParaRPr lang="en-US" sz="2800"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lstStyle/>
          <a:p>
            <a:pPr>
              <a:buNone/>
            </a:pPr>
            <a:r>
              <a:rPr lang="en-US" b="1" dirty="0" smtClean="0"/>
              <a:t>	</a:t>
            </a:r>
            <a:r>
              <a:rPr lang="en-US" sz="2400" b="1" dirty="0" smtClean="0"/>
              <a:t>	BIAS CURRENT AND OFFSET VOLTAGE</a:t>
            </a:r>
          </a:p>
          <a:p>
            <a:pPr>
              <a:buNone/>
            </a:pPr>
            <a:r>
              <a:rPr lang="en-US" sz="2800" dirty="0" smtClean="0"/>
              <a:t>Certain deviations from the ideal op-amp must be recognized because of their effects on its operation. Transistors within the op-amp must be biased so that they have the correct values of base and collector currents and collector-to-emitter voltages. The ideal op-amp has no input current at its terminals; but in fact, the practical op-amp has small input bias currents typically in the </a:t>
            </a:r>
            <a:r>
              <a:rPr lang="en-US" sz="2800" dirty="0" err="1" smtClean="0"/>
              <a:t>nA</a:t>
            </a:r>
            <a:r>
              <a:rPr lang="en-US" sz="2800" dirty="0" smtClean="0"/>
              <a:t> range. Also</a:t>
            </a:r>
            <a:r>
              <a:rPr lang="en-US" sz="2800" dirty="0" smtClean="0">
                <a:solidFill>
                  <a:srgbClr val="FF0000"/>
                </a:solidFill>
              </a:rPr>
              <a:t>, small internal imbalances in the transistors effectively produce a small offset voltage between the inputs. </a:t>
            </a:r>
          </a:p>
          <a:p>
            <a:pPr>
              <a:buNone/>
            </a:pPr>
            <a:r>
              <a:rPr lang="en-US" sz="2800" dirty="0" smtClean="0"/>
              <a:t>These non ideal parameters were described in Section 12–2.</a:t>
            </a:r>
            <a:endParaRPr lang="en-US" sz="2800"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b="1" dirty="0" smtClean="0"/>
              <a:t>		Input Offset Voltage Compensation</a:t>
            </a:r>
          </a:p>
          <a:p>
            <a:pPr>
              <a:buNone/>
            </a:pPr>
            <a:r>
              <a:rPr lang="en-US" sz="2400" dirty="0" smtClean="0"/>
              <a:t>Most integrated circuit op-amps provide a means of compensating for offset voltage. This is usually done by connecting an external potentiometer to designated pins on the IC package, as illustrated in Figure 12–34(a) and (b) for a 741 op-amp. The two terminals are labelled </a:t>
            </a:r>
            <a:r>
              <a:rPr lang="en-US" sz="2400" i="1" dirty="0" smtClean="0"/>
              <a:t>offset null. With no input, the potentiometer is simply adjusted until the output voltage </a:t>
            </a:r>
            <a:r>
              <a:rPr lang="en-US" sz="2400" dirty="0" smtClean="0"/>
              <a:t>reads 0, as shown in Figure 12–34(c).</a:t>
            </a:r>
            <a:endParaRPr lang="en-US" sz="2400"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27</a:t>
            </a:fld>
            <a:endParaRPr lang="en-US"/>
          </a:p>
        </p:txBody>
      </p:sp>
      <p:pic>
        <p:nvPicPr>
          <p:cNvPr id="12290" name="Picture 2"/>
          <p:cNvPicPr>
            <a:picLocks noChangeAspect="1" noChangeArrowheads="1"/>
          </p:cNvPicPr>
          <p:nvPr/>
        </p:nvPicPr>
        <p:blipFill>
          <a:blip r:embed="rId2"/>
          <a:srcRect/>
          <a:stretch>
            <a:fillRect/>
          </a:stretch>
        </p:blipFill>
        <p:spPr bwMode="auto">
          <a:xfrm>
            <a:off x="1143000" y="3886200"/>
            <a:ext cx="3200400" cy="25908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a:buNone/>
            </a:pPr>
            <a:r>
              <a:rPr lang="en-US" sz="2400" b="1" dirty="0" smtClean="0"/>
              <a:t>    			Input Offset Voltage Compensation</a:t>
            </a:r>
          </a:p>
          <a:p>
            <a:pPr>
              <a:buNone/>
            </a:pPr>
            <a:r>
              <a:rPr lang="en-US" sz="2400" dirty="0" smtClean="0"/>
              <a:t>Most integrated circuit op-amps provide a means of compensating for offset voltage. This is usually done by connecting an external potentiometer to designated pins on the IC package, as illustrated in Figure 12–34(a) and (b) for a 741 op-amp. The two terminals are labelled </a:t>
            </a:r>
            <a:r>
              <a:rPr lang="en-US" sz="2400" i="1" dirty="0" smtClean="0"/>
              <a:t>offset null. With no input, the potentiometer is simply adjusted until the output voltage </a:t>
            </a:r>
            <a:r>
              <a:rPr lang="en-US" sz="2400" dirty="0" smtClean="0"/>
              <a:t>reads 0, as shown in Figure 12–34(c).</a:t>
            </a:r>
            <a:endParaRPr lang="en-US" sz="2400" dirty="0"/>
          </a:p>
        </p:txBody>
      </p:sp>
      <p:sp>
        <p:nvSpPr>
          <p:cNvPr id="4" name="Slide Number Placeholder 3"/>
          <p:cNvSpPr>
            <a:spLocks noGrp="1"/>
          </p:cNvSpPr>
          <p:nvPr>
            <p:ph type="sldNum" sz="quarter" idx="12"/>
          </p:nvPr>
        </p:nvSpPr>
        <p:spPr/>
        <p:txBody>
          <a:bodyPr/>
          <a:lstStyle/>
          <a:p>
            <a:fld id="{54A9987B-0F06-4F85-AB81-AD42F2F36275}" type="slidenum">
              <a:rPr lang="en-US" smtClean="0"/>
              <a:pPr/>
              <a:t>28</a:t>
            </a:fld>
            <a:endParaRPr lang="en-US"/>
          </a:p>
        </p:txBody>
      </p:sp>
      <p:pic>
        <p:nvPicPr>
          <p:cNvPr id="13314" name="Picture 2"/>
          <p:cNvPicPr>
            <a:picLocks noChangeAspect="1" noChangeArrowheads="1"/>
          </p:cNvPicPr>
          <p:nvPr/>
        </p:nvPicPr>
        <p:blipFill>
          <a:blip r:embed="rId2"/>
          <a:srcRect/>
          <a:stretch>
            <a:fillRect/>
          </a:stretch>
        </p:blipFill>
        <p:spPr bwMode="auto">
          <a:xfrm>
            <a:off x="1447800" y="3733800"/>
            <a:ext cx="6400800" cy="3124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1451</TotalTime>
  <Words>1483</Words>
  <Application>Microsoft Office PowerPoint</Application>
  <PresentationFormat>On-screen Show (4:3)</PresentationFormat>
  <Paragraphs>101</Paragraphs>
  <Slides>28</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L3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dc:creator>
  <cp:lastModifiedBy>Eng.Siko</cp:lastModifiedBy>
  <cp:revision>154</cp:revision>
  <cp:lastPrinted>2021-04-27T07:22:57Z</cp:lastPrinted>
  <dcterms:created xsi:type="dcterms:W3CDTF">2017-03-30T08:23:38Z</dcterms:created>
  <dcterms:modified xsi:type="dcterms:W3CDTF">2022-01-21T19:08:40Z</dcterms:modified>
</cp:coreProperties>
</file>