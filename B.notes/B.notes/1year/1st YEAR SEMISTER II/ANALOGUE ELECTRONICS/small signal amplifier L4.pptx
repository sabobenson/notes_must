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287" r:id="rId10"/>
    <p:sldId id="288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90" r:id="rId24"/>
    <p:sldId id="269" r:id="rId25"/>
    <p:sldId id="291" r:id="rId26"/>
    <p:sldId id="278" r:id="rId27"/>
    <p:sldId id="281" r:id="rId28"/>
    <p:sldId id="282" r:id="rId29"/>
    <p:sldId id="271" r:id="rId30"/>
    <p:sldId id="274" r:id="rId31"/>
    <p:sldId id="275" r:id="rId32"/>
    <p:sldId id="276" r:id="rId33"/>
    <p:sldId id="277" r:id="rId34"/>
    <p:sldId id="292" r:id="rId35"/>
    <p:sldId id="293" r:id="rId36"/>
    <p:sldId id="294" r:id="rId37"/>
    <p:sldId id="295" r:id="rId38"/>
    <p:sldId id="296" r:id="rId39"/>
    <p:sldId id="297" r:id="rId40"/>
    <p:sldId id="298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87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89DE2-38B2-4C4F-8177-DE3E2D4A3FE4}" type="datetimeFigureOut">
              <a:rPr lang="en-US" smtClean="0"/>
              <a:pPr/>
              <a:t>4/6/2023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5E212-47ED-4784-84C4-18F786C93C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48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19D185-6829-4A6F-8769-DA0A9ED229A6}" type="slidenum">
              <a:rPr lang="en-US"/>
              <a:pPr/>
              <a:t>26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r>
              <a:rPr lang="en-US" altLang="en-US"/>
              <a:t>Fig 6-32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39C60F-021F-4FA3-ACA1-71E3B63B5D27}" type="slidenum">
              <a:rPr lang="en-US"/>
              <a:pPr/>
              <a:t>27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r>
              <a:rPr lang="en-US" altLang="en-US"/>
              <a:t>Fig 6-32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8A12-AA6B-4F8C-B789-20B5D4BF3EA3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3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6C4D-9452-4896-9A15-B78075388F3E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61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A898-A1E5-46A0-9833-4617EC9D1586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08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94D7A-F630-4E33-A2FB-83ABD9222C09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68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5B5C1-F393-459B-B2B0-1849D1DA66EB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9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B5DDC-2E60-45D2-9DC7-C475ADFDC91F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63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F134-2AFA-4926-845C-97C5D67BE026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6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6FB1-8301-469F-9C7D-134B76619CC2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26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B00D-CA30-4F04-9866-ABA79690C067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36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4BD2-5992-4505-B393-FE3986BB3EDF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6702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4BD2-5992-4505-B393-FE3986BB3EDF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435577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4BD2-5992-4505-B393-FE3986BB3EDF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3368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4BD2-5992-4505-B393-FE3986BB3EDF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207563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4BD2-5992-4505-B393-FE3986BB3EDF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7523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2E82-E603-4F02-8D3A-17CD2DB4358F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16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6656-9130-4210-8FF4-FDCB5A2E053D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86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34BD2-5992-4505-B393-FE3986BB3EDF}" type="datetime1">
              <a:rPr lang="en-US" smtClean="0"/>
              <a:pPr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5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676400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4300" b="1" dirty="0">
                <a:solidFill>
                  <a:schemeClr val="tx1"/>
                </a:solidFill>
              </a:rPr>
              <a:t>L4</a:t>
            </a:r>
          </a:p>
          <a:p>
            <a:pPr algn="ctr"/>
            <a:r>
              <a:rPr lang="en-US" sz="3200" b="1" dirty="0">
                <a:solidFill>
                  <a:schemeClr val="tx1"/>
                </a:solidFill>
              </a:rPr>
              <a:t>Single Stage(small signal)Transistor</a:t>
            </a:r>
          </a:p>
          <a:p>
            <a:pPr algn="ctr"/>
            <a:r>
              <a:rPr lang="en-US" sz="3200" b="1" dirty="0">
                <a:solidFill>
                  <a:schemeClr val="tx1"/>
                </a:solidFill>
              </a:rPr>
              <a:t>Amplifiers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TRANSISTOR AS AN AMPLIFIER</a:t>
            </a:r>
            <a:br>
              <a:rPr lang="en-US" dirty="0"/>
            </a:br>
            <a:r>
              <a:rPr lang="en-US" dirty="0"/>
              <a:t>L1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3276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transistor</a:t>
            </a:r>
            <a:r>
              <a:rPr lang="en-US" dirty="0"/>
              <a:t> acts as an </a:t>
            </a:r>
            <a:r>
              <a:rPr lang="en-US" b="1" dirty="0"/>
              <a:t>amplifier</a:t>
            </a:r>
            <a:r>
              <a:rPr lang="en-US" dirty="0"/>
              <a:t> by raising the strength of a weak signal. The DC bias voltage applied to the emitter base junction, makes it remain in forward biased condition. ... Thus a small input voltage results in a large output voltage, which shows that the </a:t>
            </a:r>
            <a:r>
              <a:rPr lang="en-US" b="1" dirty="0"/>
              <a:t>transistor</a:t>
            </a:r>
            <a:r>
              <a:rPr lang="en-US" dirty="0"/>
              <a:t> works as an </a:t>
            </a:r>
            <a:r>
              <a:rPr lang="en-US" b="1" dirty="0"/>
              <a:t>amplifier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267200"/>
            <a:ext cx="40386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9683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31" y="304800"/>
            <a:ext cx="8991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715000"/>
            <a:ext cx="8915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818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1534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434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8305800" cy="6176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24600"/>
            <a:ext cx="8382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2149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229600" cy="6248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381000"/>
            <a:ext cx="8153400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5829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2296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0988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7467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                      </a:t>
            </a:r>
            <a:r>
              <a:rPr lang="en-US" sz="4000" b="1" dirty="0"/>
              <a:t>Amplifier Classes</a:t>
            </a:r>
          </a:p>
          <a:p>
            <a:pPr>
              <a:buNone/>
            </a:pPr>
            <a:r>
              <a:rPr lang="en-US" sz="4000" dirty="0"/>
              <a:t> Amplifiers are classified into classes according to their construction and operating characteristics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466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172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>
                <a:latin typeface="22"/>
              </a:rPr>
              <a:t>         </a:t>
            </a:r>
            <a:r>
              <a:rPr lang="en-US" sz="2400" b="1" dirty="0">
                <a:solidFill>
                  <a:srgbClr val="FF0000"/>
                </a:solidFill>
                <a:latin typeface="22"/>
              </a:rPr>
              <a:t>Based on the input signals</a:t>
            </a:r>
          </a:p>
          <a:p>
            <a:pPr>
              <a:buNone/>
            </a:pPr>
            <a:r>
              <a:rPr lang="en-US" sz="2400" dirty="0">
                <a:latin typeface="22"/>
              </a:rPr>
              <a:t>Depending upon the magnitude of the input signal applied, they can be categorized as </a:t>
            </a:r>
            <a:r>
              <a:rPr lang="en-US" sz="2400" dirty="0">
                <a:solidFill>
                  <a:srgbClr val="FF0000"/>
                </a:solidFill>
                <a:latin typeface="22"/>
              </a:rPr>
              <a:t>Small signal and large signal </a:t>
            </a:r>
            <a:r>
              <a:rPr lang="en-US" sz="2400" dirty="0">
                <a:latin typeface="22"/>
              </a:rPr>
              <a:t>amplifiers.</a:t>
            </a:r>
          </a:p>
          <a:p>
            <a:r>
              <a:rPr lang="en-US" sz="2400" b="1" dirty="0">
                <a:latin typeface="22"/>
              </a:rPr>
              <a:t>Small signal Amplifiers</a:t>
            </a:r>
            <a:r>
              <a:rPr lang="en-US" sz="2400" dirty="0">
                <a:latin typeface="22"/>
              </a:rPr>
              <a:t> − When the input signal is so weak so as to produce small fluctuations in the collector current compared to its quiescent value, the amplifier is known as Small signal amplifier.</a:t>
            </a:r>
          </a:p>
          <a:p>
            <a:r>
              <a:rPr lang="en-US" sz="2400" b="1" dirty="0">
                <a:latin typeface="22"/>
              </a:rPr>
              <a:t>Large signal amplifiers</a:t>
            </a:r>
            <a:r>
              <a:rPr lang="en-US" sz="2400" dirty="0">
                <a:latin typeface="22"/>
              </a:rPr>
              <a:t> − When the fluctuations in collector current are large i.e. beyond the linear portion of the characteristics, the amplifier is known as large signal amplifier.</a:t>
            </a:r>
          </a:p>
          <a:p>
            <a:pPr>
              <a:buNone/>
            </a:pPr>
            <a:r>
              <a:rPr lang="en-US" sz="2400" b="1" dirty="0">
                <a:latin typeface="22"/>
              </a:rPr>
              <a:t>     </a:t>
            </a:r>
            <a:r>
              <a:rPr lang="en-US" sz="2400" b="1" dirty="0">
                <a:solidFill>
                  <a:srgbClr val="FF0000"/>
                </a:solidFill>
                <a:latin typeface="22"/>
              </a:rPr>
              <a:t>Based on its </a:t>
            </a:r>
            <a:r>
              <a:rPr lang="en-US" sz="2400" b="1">
                <a:solidFill>
                  <a:srgbClr val="FF0000"/>
                </a:solidFill>
                <a:latin typeface="22"/>
              </a:rPr>
              <a:t>output signals</a:t>
            </a:r>
            <a:endParaRPr lang="en-US" sz="2400" b="1" dirty="0">
              <a:solidFill>
                <a:srgbClr val="FF0000"/>
              </a:solidFill>
              <a:latin typeface="22"/>
            </a:endParaRPr>
          </a:p>
          <a:p>
            <a:pPr>
              <a:buNone/>
            </a:pPr>
            <a:r>
              <a:rPr lang="en-US" sz="2400" dirty="0">
                <a:latin typeface="22"/>
              </a:rPr>
              <a:t> Depending upon the parameter that is amplified at the output, there are voltage and power amplifiers.</a:t>
            </a:r>
          </a:p>
          <a:p>
            <a:r>
              <a:rPr lang="en-US" sz="2400" b="1" dirty="0">
                <a:latin typeface="22"/>
              </a:rPr>
              <a:t>Voltage Amplifiers</a:t>
            </a:r>
            <a:r>
              <a:rPr lang="en-US" sz="2400" dirty="0">
                <a:latin typeface="22"/>
              </a:rPr>
              <a:t> − The amplifier circuit that increases the voltage level of the input signal, is called as Voltage amplifier.</a:t>
            </a:r>
          </a:p>
          <a:p>
            <a:r>
              <a:rPr lang="en-US" sz="2400" b="1" dirty="0">
                <a:latin typeface="22"/>
              </a:rPr>
              <a:t>Power Amplifiers</a:t>
            </a:r>
            <a:r>
              <a:rPr lang="en-US" sz="2400" dirty="0">
                <a:latin typeface="22"/>
              </a:rPr>
              <a:t> − The amplifier circuit that increases the power level of the input signal, is called as Power amplifier</a:t>
            </a:r>
            <a:r>
              <a:rPr lang="en-US" sz="2400" b="1" dirty="0">
                <a:latin typeface="22"/>
              </a:rPr>
              <a:t>             </a:t>
            </a:r>
            <a:endParaRPr lang="en-US" dirty="0">
              <a:latin typeface="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"/>
            <a:ext cx="81534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7924800" cy="53340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i="1" dirty="0"/>
              <a:t>	</a:t>
            </a:r>
            <a:r>
              <a:rPr lang="en-US" sz="9600" i="1" dirty="0">
                <a:solidFill>
                  <a:srgbClr val="FF0000"/>
                </a:solidFill>
              </a:rPr>
              <a:t>single stage transistor amplifier</a:t>
            </a:r>
            <a:r>
              <a:rPr lang="en-US" sz="9600" i="1" dirty="0"/>
              <a:t>. By a stage we </a:t>
            </a:r>
          </a:p>
          <a:p>
            <a:pPr>
              <a:lnSpc>
                <a:spcPct val="120000"/>
              </a:lnSpc>
              <a:buNone/>
            </a:pPr>
            <a:r>
              <a:rPr lang="en-US" sz="9600" i="1" dirty="0"/>
              <a:t>	mean a </a:t>
            </a:r>
            <a:r>
              <a:rPr lang="en-US" sz="9600" dirty="0"/>
              <a:t>single transistor with its bias and auxiliary</a:t>
            </a:r>
          </a:p>
          <a:p>
            <a:pPr>
              <a:lnSpc>
                <a:spcPct val="120000"/>
              </a:lnSpc>
              <a:buNone/>
            </a:pPr>
            <a:r>
              <a:rPr lang="en-US" sz="9600" dirty="0"/>
              <a:t>	 equipment. It may be emphasised here that a </a:t>
            </a:r>
          </a:p>
          <a:p>
            <a:pPr>
              <a:lnSpc>
                <a:spcPct val="120000"/>
              </a:lnSpc>
              <a:buNone/>
            </a:pPr>
            <a:r>
              <a:rPr lang="en-US" sz="9600" dirty="0"/>
              <a:t>	practical amplifier is always a multistage amplifier</a:t>
            </a:r>
          </a:p>
          <a:p>
            <a:pPr>
              <a:lnSpc>
                <a:spcPct val="120000"/>
              </a:lnSpc>
              <a:buNone/>
            </a:pPr>
            <a:r>
              <a:rPr lang="en-US" sz="9600" dirty="0"/>
              <a:t> 	</a:t>
            </a:r>
            <a:r>
              <a:rPr lang="en-US" sz="9600" i="1" dirty="0"/>
              <a:t>i.e. it has a number of stages of amplification. </a:t>
            </a:r>
          </a:p>
          <a:p>
            <a:pPr>
              <a:lnSpc>
                <a:spcPct val="120000"/>
              </a:lnSpc>
              <a:buNone/>
            </a:pPr>
            <a:r>
              <a:rPr lang="en-US" sz="9600" i="1" dirty="0"/>
              <a:t>	However, it </a:t>
            </a:r>
            <a:r>
              <a:rPr lang="en-US" sz="9600" dirty="0"/>
              <a:t>is profitable to consider the multistage</a:t>
            </a:r>
          </a:p>
          <a:p>
            <a:pPr>
              <a:lnSpc>
                <a:spcPct val="120000"/>
              </a:lnSpc>
              <a:buNone/>
            </a:pPr>
            <a:r>
              <a:rPr lang="en-US" sz="9600" dirty="0"/>
              <a:t>	 amplifier in terms of single stages that are connected together. In this chapter, we shall confine our attention to single stage transistor amplifiers.</a:t>
            </a:r>
          </a:p>
          <a:p>
            <a:pPr>
              <a:lnSpc>
                <a:spcPct val="120000"/>
              </a:lnSpc>
              <a:buNone/>
            </a:pPr>
            <a:r>
              <a:rPr lang="en-US" sz="9600" dirty="0"/>
              <a:t>		             In Another 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5344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	         Single Stage Transistor Amplifier</a:t>
            </a:r>
          </a:p>
          <a:p>
            <a:pPr>
              <a:buNone/>
            </a:pPr>
            <a:r>
              <a:rPr lang="en-US" sz="2000" i="1" dirty="0"/>
              <a:t>When only one transistor with associated circuitry is used for </a:t>
            </a:r>
          </a:p>
          <a:p>
            <a:pPr>
              <a:buNone/>
            </a:pPr>
            <a:r>
              <a:rPr lang="en-US" sz="2000" i="1" dirty="0"/>
              <a:t>amplifying a weak signal, the circuit is known as </a:t>
            </a:r>
            <a:r>
              <a:rPr lang="en-US" sz="2000" b="1" i="1" dirty="0"/>
              <a:t>single stage </a:t>
            </a:r>
          </a:p>
          <a:p>
            <a:pPr>
              <a:buNone/>
            </a:pPr>
            <a:r>
              <a:rPr lang="en-US" sz="2000" b="1" i="1" dirty="0"/>
              <a:t>transistor </a:t>
            </a:r>
            <a:r>
              <a:rPr lang="en-US" sz="2000" b="1" dirty="0"/>
              <a:t>amplifier.</a:t>
            </a:r>
            <a:r>
              <a:rPr lang="en-US" sz="2000" dirty="0"/>
              <a:t> A single stage transistor amplifier has one </a:t>
            </a:r>
          </a:p>
          <a:p>
            <a:pPr>
              <a:buNone/>
            </a:pPr>
            <a:r>
              <a:rPr lang="en-US" sz="2000" dirty="0"/>
              <a:t>transistor, bias circuit and other auxiliary components. Although</a:t>
            </a:r>
          </a:p>
          <a:p>
            <a:pPr>
              <a:buNone/>
            </a:pPr>
            <a:r>
              <a:rPr lang="en-US" sz="2000" dirty="0"/>
              <a:t> a practical amplifier consists of a number of stages, yet such a</a:t>
            </a:r>
          </a:p>
          <a:p>
            <a:pPr>
              <a:buNone/>
            </a:pPr>
            <a:r>
              <a:rPr lang="en-US" sz="2000" dirty="0"/>
              <a:t> complex circuit can be conveniently split up into separate single </a:t>
            </a:r>
          </a:p>
          <a:p>
            <a:pPr>
              <a:buNone/>
            </a:pPr>
            <a:r>
              <a:rPr lang="en-US" sz="2000" dirty="0"/>
              <a:t>stage by analysing carefully only a single stage and using this single</a:t>
            </a:r>
          </a:p>
          <a:p>
            <a:pPr>
              <a:buNone/>
            </a:pPr>
            <a:r>
              <a:rPr lang="en-US" sz="2000" dirty="0"/>
              <a:t> stage analysis repeatedly, we can effectively analyse the complex circuit. It follows, therefore, that single stage amplifier analysis is of great value in understanding the</a:t>
            </a:r>
          </a:p>
          <a:p>
            <a:pPr>
              <a:buNone/>
            </a:pPr>
            <a:r>
              <a:rPr lang="en-US" sz="2000" dirty="0"/>
              <a:t>    practical amplifier circuits.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4453541"/>
            <a:ext cx="22860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600" b="1" dirty="0"/>
              <a:t>            How Transistor Amplifies ?</a:t>
            </a:r>
          </a:p>
          <a:p>
            <a:pPr>
              <a:buNone/>
            </a:pPr>
            <a:r>
              <a:rPr lang="en-US" sz="2600" dirty="0"/>
              <a:t>Fig. 10.1 shows a single stage transistor amplifier. When a weak </a:t>
            </a:r>
            <a:r>
              <a:rPr lang="en-US" sz="2600" dirty="0" err="1"/>
              <a:t>a.c</a:t>
            </a:r>
            <a:r>
              <a:rPr lang="en-US" sz="2600" dirty="0"/>
              <a:t>. signal is given to the base of transistor, a small base current (which is </a:t>
            </a:r>
            <a:r>
              <a:rPr lang="en-US" sz="2600" dirty="0" err="1"/>
              <a:t>a.c</a:t>
            </a:r>
            <a:r>
              <a:rPr lang="en-US" sz="2600" dirty="0"/>
              <a:t>.) starts flowing. Due to transistor action, a much larger (β times the base current) </a:t>
            </a:r>
            <a:r>
              <a:rPr lang="en-US" sz="2600" dirty="0" err="1"/>
              <a:t>a.c</a:t>
            </a:r>
            <a:r>
              <a:rPr lang="en-US" sz="2600" dirty="0"/>
              <a:t>. current flows through the collector load </a:t>
            </a:r>
            <a:r>
              <a:rPr lang="en-US" sz="2600" i="1" dirty="0"/>
              <a:t>RC. As the value of RC is quite </a:t>
            </a:r>
            <a:r>
              <a:rPr lang="en-US" sz="2600" dirty="0"/>
              <a:t>high (usually 4-10 </a:t>
            </a:r>
            <a:r>
              <a:rPr lang="en-US" sz="2600" dirty="0" err="1"/>
              <a:t>kΩ</a:t>
            </a:r>
            <a:r>
              <a:rPr lang="en-US" sz="2600" dirty="0"/>
              <a:t>), therefore, a large voltage appears across </a:t>
            </a:r>
            <a:r>
              <a:rPr lang="en-US" sz="2600" i="1" dirty="0"/>
              <a:t>RC. Thus, a weak signal applied in </a:t>
            </a:r>
            <a:r>
              <a:rPr lang="en-US" sz="2600" dirty="0"/>
              <a:t>the base circuit appears in amplified form in the collector circuit. It is in this way that a transistor acts as an amplifier. The action of transistor amplifier can be beautifully explained by referring to Fig. 10.1. Suppose a change of 0.1V in signal voltage produces a change of 2 </a:t>
            </a:r>
            <a:r>
              <a:rPr lang="en-US" sz="2600" dirty="0" err="1"/>
              <a:t>mA</a:t>
            </a:r>
            <a:r>
              <a:rPr lang="en-US" sz="2600" dirty="0"/>
              <a:t> in the collector current. Obviously, a signal of only </a:t>
            </a:r>
            <a:r>
              <a:rPr lang="en-US" sz="2600" dirty="0">
                <a:solidFill>
                  <a:srgbClr val="FF0000"/>
                </a:solidFill>
              </a:rPr>
              <a:t>0.1V</a:t>
            </a:r>
            <a:r>
              <a:rPr lang="en-US" sz="2600" dirty="0"/>
              <a:t> applied to the base will give an output voltage </a:t>
            </a:r>
          </a:p>
          <a:p>
            <a:pPr>
              <a:buNone/>
            </a:pPr>
            <a:r>
              <a:rPr lang="en-US" sz="2600" dirty="0"/>
              <a:t>= 2 </a:t>
            </a:r>
            <a:r>
              <a:rPr lang="en-US" sz="2600" dirty="0" err="1"/>
              <a:t>mA</a:t>
            </a:r>
            <a:r>
              <a:rPr lang="en-US" sz="2600" dirty="0"/>
              <a:t> × 5 </a:t>
            </a:r>
            <a:r>
              <a:rPr lang="en-US" sz="2600" dirty="0" err="1"/>
              <a:t>kΩ</a:t>
            </a:r>
            <a:r>
              <a:rPr lang="en-US" sz="2600" dirty="0"/>
              <a:t> = </a:t>
            </a:r>
            <a:r>
              <a:rPr lang="en-US" sz="2600" dirty="0">
                <a:solidFill>
                  <a:srgbClr val="FF0000"/>
                </a:solidFill>
              </a:rPr>
              <a:t>10V. </a:t>
            </a:r>
            <a:r>
              <a:rPr lang="en-US" sz="2600" dirty="0"/>
              <a:t>Thus, the transistor has been able to raise the voltage level of the signal from 0.1V to 10V </a:t>
            </a:r>
            <a:r>
              <a:rPr lang="en-US" sz="2600" i="1" dirty="0"/>
              <a:t>i.e. voltage amplification </a:t>
            </a:r>
            <a:r>
              <a:rPr lang="en-US" sz="2600" dirty="0"/>
              <a:t>or stage gain is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Graphical Demonstration of Transistor Amplifier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8382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Practical Circuit of Transistor Amplifier</a:t>
            </a:r>
          </a:p>
          <a:p>
            <a:pPr>
              <a:buNone/>
            </a:pPr>
            <a:r>
              <a:rPr lang="en-US" sz="2400" dirty="0"/>
              <a:t>It is important to note that a transistor can accomplish faithful amplification only if proper associated circuitry is used with it. Fig. 10.3 shows a practical single stage transistor amplifier. The various circuit elements and their functions are described below 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2819400"/>
            <a:ext cx="64008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477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 err="1">
                <a:solidFill>
                  <a:srgbClr val="FF0000"/>
                </a:solidFill>
              </a:rPr>
              <a:t>i</a:t>
            </a:r>
            <a:r>
              <a:rPr lang="en-US" sz="2400" b="1" i="1" dirty="0">
                <a:solidFill>
                  <a:srgbClr val="FF0000"/>
                </a:solidFill>
              </a:rPr>
              <a:t>) Biasing circuit</a:t>
            </a:r>
            <a:r>
              <a:rPr lang="en-US" sz="2400" b="1" i="1" dirty="0"/>
              <a:t>. </a:t>
            </a:r>
            <a:r>
              <a:rPr lang="en-US" sz="2400" dirty="0"/>
              <a:t>The resistances R1, R2 and RE form 			the biasing and stabilization circuit.</a:t>
            </a:r>
          </a:p>
          <a:p>
            <a:pPr>
              <a:buNone/>
            </a:pPr>
            <a:r>
              <a:rPr lang="en-US" sz="2400" dirty="0"/>
              <a:t>The biasing circuit must establish a proper operating point otherwise a part of the negative half-cycle of the signal may be cut off in the output.</a:t>
            </a:r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ii) Input capacitor </a:t>
            </a:r>
            <a:r>
              <a:rPr lang="en-US" sz="2400" b="1" i="1" dirty="0" err="1">
                <a:solidFill>
                  <a:srgbClr val="FF0000"/>
                </a:solidFill>
              </a:rPr>
              <a:t>Cin</a:t>
            </a:r>
            <a:r>
              <a:rPr lang="en-US" sz="2400" b="1" i="1" dirty="0"/>
              <a:t>. </a:t>
            </a:r>
            <a:r>
              <a:rPr lang="en-US" sz="2400" dirty="0"/>
              <a:t>An electrolytic capacitor </a:t>
            </a:r>
            <a:r>
              <a:rPr lang="en-US" sz="2400" dirty="0" err="1"/>
              <a:t>Cin</a:t>
            </a:r>
            <a:r>
              <a:rPr lang="en-US" sz="2400" dirty="0"/>
              <a:t> </a:t>
            </a:r>
          </a:p>
          <a:p>
            <a:pPr>
              <a:buNone/>
            </a:pPr>
            <a:r>
              <a:rPr lang="en-US" sz="2400" dirty="0"/>
              <a:t>				(=</a:t>
            </a:r>
            <a:r>
              <a:rPr lang="en-US" sz="2400" dirty="0">
                <a:latin typeface="Times New Roman"/>
                <a:cs typeface="Times New Roman"/>
              </a:rPr>
              <a:t>1</a:t>
            </a:r>
            <a:r>
              <a:rPr lang="en-US" sz="2400" dirty="0"/>
              <a:t>0 </a:t>
            </a:r>
            <a:r>
              <a:rPr lang="en-US" sz="2400" dirty="0" err="1"/>
              <a:t>μF</a:t>
            </a:r>
            <a:r>
              <a:rPr lang="en-US" sz="2400" dirty="0"/>
              <a:t> ) is used to couple the signal to the base of the transistor. If it is not used, the signal source </a:t>
            </a:r>
            <a:r>
              <a:rPr lang="en-US" sz="2400" dirty="0">
                <a:solidFill>
                  <a:srgbClr val="FF0000"/>
                </a:solidFill>
              </a:rPr>
              <a:t>resistance</a:t>
            </a:r>
            <a:r>
              <a:rPr lang="en-US" sz="2400" dirty="0"/>
              <a:t> will come across </a:t>
            </a:r>
            <a:r>
              <a:rPr lang="en-US" sz="2400" i="1" dirty="0"/>
              <a:t>R2 and thus </a:t>
            </a:r>
            <a:r>
              <a:rPr lang="en-US" sz="2400" dirty="0"/>
              <a:t>change the bias. The capacitor </a:t>
            </a:r>
            <a:r>
              <a:rPr lang="en-US" sz="2400" i="1" dirty="0" err="1"/>
              <a:t>Cin</a:t>
            </a:r>
            <a:r>
              <a:rPr lang="en-US" sz="2400" i="1" dirty="0"/>
              <a:t> allows only </a:t>
            </a:r>
            <a:r>
              <a:rPr lang="en-US" sz="2400" i="1" dirty="0" err="1"/>
              <a:t>a.c</a:t>
            </a:r>
            <a:r>
              <a:rPr lang="en-US" sz="2400" i="1" dirty="0"/>
              <a:t>. signal to flow but isolates the signal source from R2.*</a:t>
            </a:r>
            <a:r>
              <a:rPr lang="en-US" sz="2400" b="1" i="1" dirty="0"/>
              <a:t> </a:t>
            </a:r>
          </a:p>
          <a:p>
            <a:pPr>
              <a:buNone/>
            </a:pPr>
            <a:r>
              <a:rPr lang="en-US" sz="2400" b="1" i="1" dirty="0">
                <a:solidFill>
                  <a:srgbClr val="FF0000"/>
                </a:solidFill>
              </a:rPr>
              <a:t>iii) Emitter bypass capacitor CE</a:t>
            </a:r>
            <a:r>
              <a:rPr lang="en-US" sz="2400" dirty="0"/>
              <a:t>. An emitter bypass capacitor CE (=100μF ) is used in parallel with </a:t>
            </a:r>
            <a:r>
              <a:rPr lang="en-US" sz="2400" i="1" dirty="0">
                <a:solidFill>
                  <a:srgbClr val="FF0000"/>
                </a:solidFill>
              </a:rPr>
              <a:t>RE to provide a low </a:t>
            </a:r>
            <a:r>
              <a:rPr lang="en-US" sz="2400" i="1" dirty="0"/>
              <a:t>reactance path to the amplified </a:t>
            </a:r>
            <a:r>
              <a:rPr lang="en-US" sz="2400" i="1" dirty="0" err="1"/>
              <a:t>a.c</a:t>
            </a:r>
            <a:r>
              <a:rPr lang="en-US" sz="2400" i="1" dirty="0"/>
              <a:t>. signal. If it is not used, then amplified </a:t>
            </a:r>
            <a:r>
              <a:rPr lang="en-US" sz="2400" dirty="0" err="1"/>
              <a:t>a.c</a:t>
            </a:r>
            <a:r>
              <a:rPr lang="en-US" sz="2400" dirty="0"/>
              <a:t>. signal flowing through </a:t>
            </a:r>
            <a:r>
              <a:rPr lang="en-US" sz="2400" i="1" dirty="0"/>
              <a:t>RE will cause a voltage drop across it, thereby reducing the output voltage.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324600"/>
          </a:xfrm>
        </p:spPr>
        <p:txBody>
          <a:bodyPr>
            <a:norm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iv) Coupling capacitor CC. </a:t>
            </a:r>
            <a:r>
              <a:rPr lang="en-US" sz="2400" dirty="0"/>
              <a:t>The coupling capacitor CC (=10μF) couples one stage of amplification to the next stage. </a:t>
            </a:r>
          </a:p>
          <a:p>
            <a:pPr>
              <a:buNone/>
            </a:pPr>
            <a:r>
              <a:rPr lang="en-US" sz="2400" dirty="0"/>
              <a:t> *It may be noted that a capacitor offers infinite reactance to </a:t>
            </a:r>
            <a:r>
              <a:rPr lang="en-US" sz="2400" dirty="0" err="1"/>
              <a:t>d.c</a:t>
            </a:r>
            <a:r>
              <a:rPr lang="en-US" sz="2400" dirty="0"/>
              <a:t>. and blocks it completely whereas it allows </a:t>
            </a:r>
            <a:r>
              <a:rPr lang="en-US" sz="2400" dirty="0" err="1"/>
              <a:t>a.c</a:t>
            </a:r>
            <a:r>
              <a:rPr lang="en-US" sz="2400" dirty="0"/>
              <a:t>. to pass through it</a:t>
            </a:r>
            <a:r>
              <a:rPr lang="en-US" sz="2400" dirty="0">
                <a:latin typeface="Times New Roman"/>
                <a:cs typeface="Times New Roman"/>
              </a:rPr>
              <a:t>*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If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it is not used, the bias conditions of the next stage will be drastically changed due to the shunting effect of </a:t>
            </a:r>
            <a:r>
              <a:rPr lang="en-US" sz="2400" i="1" dirty="0">
                <a:solidFill>
                  <a:srgbClr val="FF0000"/>
                </a:solidFill>
              </a:rPr>
              <a:t>RC. This is because RC will come in parallel with the upper </a:t>
            </a:r>
            <a:r>
              <a:rPr lang="en-US" sz="2400" dirty="0">
                <a:solidFill>
                  <a:srgbClr val="FF0000"/>
                </a:solidFill>
              </a:rPr>
              <a:t>resistance </a:t>
            </a:r>
            <a:r>
              <a:rPr lang="en-US" sz="2400" i="1" dirty="0">
                <a:solidFill>
                  <a:srgbClr val="FF0000"/>
                </a:solidFill>
              </a:rPr>
              <a:t>R1 of the biasing network of the next stage</a:t>
            </a:r>
            <a:r>
              <a:rPr lang="en-US" sz="2400" i="1" dirty="0"/>
              <a:t>, thereby altering the biasing conditions of the </a:t>
            </a:r>
            <a:r>
              <a:rPr lang="en-US" sz="2400" dirty="0"/>
              <a:t>latter. In short, the coupling capacitor </a:t>
            </a:r>
            <a:r>
              <a:rPr lang="en-US" sz="2400" i="1" dirty="0"/>
              <a:t>CC isolates the </a:t>
            </a:r>
            <a:r>
              <a:rPr lang="en-US" sz="2400" i="1" dirty="0" err="1"/>
              <a:t>d.c</a:t>
            </a:r>
            <a:r>
              <a:rPr lang="en-US" sz="2400" i="1" dirty="0"/>
              <a:t>. of one stage from the next stage, but allows </a:t>
            </a:r>
            <a:r>
              <a:rPr lang="en-US" sz="2400" dirty="0"/>
              <a:t>the passage of </a:t>
            </a:r>
            <a:r>
              <a:rPr lang="en-US" sz="2400" dirty="0" err="1"/>
              <a:t>a.c</a:t>
            </a:r>
            <a:r>
              <a:rPr lang="en-US" sz="2400" dirty="0"/>
              <a:t>.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152400"/>
            <a:ext cx="8991599" cy="6248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			 Phase Reversal</a:t>
            </a:r>
          </a:p>
          <a:p>
            <a:pPr>
              <a:buNone/>
            </a:pPr>
            <a:r>
              <a:rPr lang="en-US" dirty="0"/>
              <a:t>In common emitter connection, when the input signal voltage increases in the positive sense, the output voltage increases in the negative direction and </a:t>
            </a:r>
            <a:r>
              <a:rPr lang="en-US" i="1" dirty="0"/>
              <a:t>vice-versa. In other words, there is a phase </a:t>
            </a:r>
            <a:r>
              <a:rPr lang="en-US" dirty="0"/>
              <a:t>difference of 180° between the input and output voltage in </a:t>
            </a:r>
            <a:r>
              <a:rPr lang="en-US" i="1" dirty="0"/>
              <a:t>CE connection. This is called phase </a:t>
            </a:r>
            <a:r>
              <a:rPr lang="en-US" dirty="0"/>
              <a:t>reversal.*</a:t>
            </a:r>
          </a:p>
          <a:p>
            <a:pPr>
              <a:buNone/>
            </a:pPr>
            <a:r>
              <a:rPr lang="en-US" i="1" dirty="0"/>
              <a:t>The phase difference of 180° between the signal voltage and output voltage in a common emitter</a:t>
            </a:r>
          </a:p>
          <a:p>
            <a:pPr>
              <a:buNone/>
            </a:pPr>
            <a:r>
              <a:rPr lang="en-US" i="1" dirty="0"/>
              <a:t>amplifier is known as </a:t>
            </a:r>
            <a:r>
              <a:rPr lang="en-US" b="1" i="1" dirty="0"/>
              <a:t>phase reversal.</a:t>
            </a:r>
          </a:p>
          <a:p>
            <a:pPr>
              <a:buNone/>
            </a:pPr>
            <a:r>
              <a:rPr lang="en-US" dirty="0"/>
              <a:t>Consider a common emitter amplifier circuit shown in </a:t>
            </a:r>
          </a:p>
          <a:p>
            <a:pPr>
              <a:buNone/>
            </a:pPr>
            <a:r>
              <a:rPr lang="en-US" dirty="0"/>
              <a:t>Fig. 10.5. The signal is fed at the input terminals (</a:t>
            </a:r>
            <a:r>
              <a:rPr lang="en-US" i="1" dirty="0"/>
              <a:t>i.e. between base and emitter) and output is taken from collector and emitter end of supply.</a:t>
            </a:r>
          </a:p>
          <a:p>
            <a:pPr>
              <a:buNone/>
            </a:pPr>
            <a:r>
              <a:rPr lang="en-US" dirty="0"/>
              <a:t>The total instantaneous output voltage </a:t>
            </a:r>
            <a:r>
              <a:rPr lang="en-US" i="1" dirty="0" err="1"/>
              <a:t>vCE</a:t>
            </a:r>
            <a:r>
              <a:rPr lang="en-US" i="1" dirty="0"/>
              <a:t> is given by 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5791200"/>
            <a:ext cx="3505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0" y="1447800"/>
            <a:ext cx="3581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304800"/>
            <a:ext cx="4953000" cy="6109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/>
              <a:t>When the signal voltage increases in the positive half-cycle, the base current also increases. The result is that collector current and hence voltage drop </a:t>
            </a:r>
            <a:r>
              <a:rPr lang="en-US" sz="2300" i="1" dirty="0" err="1"/>
              <a:t>iC</a:t>
            </a:r>
            <a:r>
              <a:rPr lang="en-US" sz="2300" i="1" dirty="0"/>
              <a:t> RC increases. As VCC is constant, therefore, </a:t>
            </a:r>
            <a:r>
              <a:rPr lang="en-US" sz="2300" dirty="0"/>
              <a:t>output voltage </a:t>
            </a:r>
            <a:r>
              <a:rPr lang="en-US" sz="2300" i="1" dirty="0" err="1"/>
              <a:t>vCE</a:t>
            </a:r>
            <a:r>
              <a:rPr lang="en-US" sz="2300" i="1" dirty="0"/>
              <a:t> decreases. In other words, as the signal voltage is increasing in the positive half cycle, </a:t>
            </a:r>
            <a:r>
              <a:rPr lang="en-US" sz="2300" dirty="0"/>
              <a:t>the output voltage is increasing in the negative sense </a:t>
            </a:r>
            <a:r>
              <a:rPr lang="en-US" sz="2300" i="1" dirty="0"/>
              <a:t>i.e. output is 180° out of phase with the </a:t>
            </a:r>
            <a:r>
              <a:rPr lang="en-US" sz="2300" dirty="0"/>
              <a:t>input. It follows, therefore, that in a common emitter amplifier, the positive half-cycle of the signal appears as amplified negative half-cycle in the output and </a:t>
            </a:r>
            <a:r>
              <a:rPr lang="en-US" sz="2300" i="1" dirty="0"/>
              <a:t>vice-versa. It may be noted that amplification </a:t>
            </a:r>
            <a:r>
              <a:rPr lang="en-US" sz="2300" dirty="0"/>
              <a:t>is not affected by this phase reversal.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4114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fact of phase reversal can be readily proved mathematically. Thus differentiating exp. (</a:t>
            </a:r>
            <a:r>
              <a:rPr lang="en-US" i="1" dirty="0" err="1"/>
              <a:t>i</a:t>
            </a:r>
            <a:r>
              <a:rPr lang="en-US" i="1" dirty="0"/>
              <a:t>),</a:t>
            </a:r>
            <a:r>
              <a:rPr lang="en-US" dirty="0"/>
              <a:t>we get,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29400" y="5105400"/>
            <a:ext cx="21336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4953000" y="5638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negative sign shows that output</a:t>
            </a:r>
          </a:p>
          <a:p>
            <a:r>
              <a:rPr lang="en-US" dirty="0"/>
              <a:t>voltage is 180° out of phase with</a:t>
            </a:r>
          </a:p>
          <a:p>
            <a:r>
              <a:rPr lang="en-US" dirty="0"/>
              <a:t>the input signal voltage.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i="1" dirty="0"/>
              <a:t> 			</a:t>
            </a:r>
            <a:r>
              <a:rPr lang="en-US" sz="2400" b="1" i="1" dirty="0"/>
              <a:t>A.C. equivalent circuit. </a:t>
            </a:r>
          </a:p>
          <a:p>
            <a:pPr>
              <a:buNone/>
            </a:pPr>
            <a:r>
              <a:rPr lang="en-US" sz="2400" i="1" dirty="0"/>
              <a:t>In the </a:t>
            </a:r>
            <a:r>
              <a:rPr lang="en-US" sz="2400" i="1" dirty="0" err="1"/>
              <a:t>a.c</a:t>
            </a:r>
            <a:r>
              <a:rPr lang="en-US" sz="2400" i="1" dirty="0"/>
              <a:t>. equivalent circuit of a </a:t>
            </a:r>
            <a:r>
              <a:rPr lang="en-US" sz="2400" dirty="0"/>
              <a:t>transistor amplifier, only </a:t>
            </a:r>
            <a:r>
              <a:rPr lang="en-US" sz="2400" dirty="0" err="1"/>
              <a:t>a.c</a:t>
            </a:r>
            <a:r>
              <a:rPr lang="en-US" sz="2400" dirty="0"/>
              <a:t>. conditions are to be considered. Obviously, the </a:t>
            </a:r>
            <a:r>
              <a:rPr lang="en-US" sz="2400" dirty="0" err="1"/>
              <a:t>d.c</a:t>
            </a:r>
            <a:r>
              <a:rPr lang="en-US" sz="2400" dirty="0"/>
              <a:t>. voltage is not important for such a circuit and may be considered zero. The capacitors are generally used to couple or bypass the </a:t>
            </a:r>
            <a:r>
              <a:rPr lang="en-US" sz="2400" dirty="0" err="1"/>
              <a:t>a.c</a:t>
            </a:r>
            <a:r>
              <a:rPr lang="en-US" sz="2400" dirty="0"/>
              <a:t>. signal. The designer intentionally selects capacitors that are large enough to appear as </a:t>
            </a:r>
            <a:r>
              <a:rPr lang="en-US" sz="2400" i="1" dirty="0"/>
              <a:t>short circuits to the </a:t>
            </a:r>
            <a:r>
              <a:rPr lang="en-US" sz="2400" i="1" dirty="0" err="1"/>
              <a:t>a.c</a:t>
            </a:r>
            <a:r>
              <a:rPr lang="en-US" sz="2400" i="1" dirty="0"/>
              <a:t>. signal.</a:t>
            </a:r>
            <a:r>
              <a:rPr lang="en-US" sz="2400" dirty="0"/>
              <a:t> in order to draw the </a:t>
            </a:r>
            <a:r>
              <a:rPr lang="en-US" sz="2400" dirty="0" err="1"/>
              <a:t>a.c</a:t>
            </a:r>
            <a:r>
              <a:rPr lang="en-US" sz="2400" dirty="0"/>
              <a:t>. equivalent circuit, the following two steps are applied to the transistor circuit :</a:t>
            </a:r>
          </a:p>
          <a:p>
            <a:pPr>
              <a:buNone/>
            </a:pPr>
            <a:r>
              <a:rPr lang="en-US" sz="2400" b="1" dirty="0"/>
              <a:t>(</a:t>
            </a:r>
            <a:r>
              <a:rPr lang="en-US" sz="2400" b="1" i="1" dirty="0"/>
              <a:t>a) Reduce all </a:t>
            </a:r>
            <a:r>
              <a:rPr lang="en-US" sz="2400" b="1" i="1" dirty="0" err="1"/>
              <a:t>d.c</a:t>
            </a:r>
            <a:r>
              <a:rPr lang="en-US" sz="2400" b="1" i="1" dirty="0"/>
              <a:t>. sources to zero (i.e. VCC = 0).</a:t>
            </a:r>
          </a:p>
          <a:p>
            <a:pPr>
              <a:buNone/>
            </a:pPr>
            <a:r>
              <a:rPr lang="en-US" sz="2400" b="1" dirty="0"/>
              <a:t>(</a:t>
            </a:r>
            <a:r>
              <a:rPr lang="en-US" sz="2400" b="1" i="1" dirty="0"/>
              <a:t>b) Short all the capacitors.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0"/>
            <a:ext cx="7391400" cy="42672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0"/>
            <a:ext cx="7924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676400" y="4572000"/>
            <a:ext cx="586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It may be seen that total current in any branch is the sum of </a:t>
            </a:r>
            <a:r>
              <a:rPr lang="en-US" i="1" dirty="0" err="1"/>
              <a:t>d.c</a:t>
            </a:r>
            <a:r>
              <a:rPr lang="en-US" i="1" dirty="0"/>
              <a:t>. and </a:t>
            </a:r>
            <a:r>
              <a:rPr lang="en-US" i="1" dirty="0" err="1"/>
              <a:t>a.c</a:t>
            </a:r>
            <a:r>
              <a:rPr lang="en-US" i="1" dirty="0"/>
              <a:t>. currents through that branch. Similarly, the total voltage across any branch is the sum of </a:t>
            </a:r>
            <a:r>
              <a:rPr lang="en-US" i="1" dirty="0" err="1"/>
              <a:t>d.c</a:t>
            </a:r>
            <a:r>
              <a:rPr lang="en-US" i="1" dirty="0"/>
              <a:t>. and </a:t>
            </a:r>
            <a:r>
              <a:rPr lang="en-US" i="1" dirty="0" err="1"/>
              <a:t>a.c</a:t>
            </a:r>
            <a:r>
              <a:rPr lang="en-US" i="1" dirty="0"/>
              <a:t>. voltages across that branch.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Multistage Transistor Amplifiers introduction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lang="en-US" sz="2400" dirty="0"/>
              <a:t>Many applications cannot be handle with single-transistor amplifiers in order to meet the specification of a given amplification factor, input resistance and output resistance.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 As a solution – transistor amplifier circuits can be connected in series or cascaded amplifiers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 This can be done either to increase the overall small-signal voltage gain or provide an overall voltage gain greater than 1 with a very low output resistance .</a:t>
            </a:r>
          </a:p>
          <a:p>
            <a:pPr eaLnBrk="1" hangingPunct="1">
              <a:buNone/>
            </a:pPr>
            <a:r>
              <a:rPr lang="en-US" sz="2400" dirty="0"/>
              <a:t>					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/>
              <a:t>         Multistage Transistor Amplifiers</a:t>
            </a:r>
          </a:p>
          <a:p>
            <a:pPr>
              <a:buNone/>
            </a:pPr>
            <a:r>
              <a:rPr lang="en-US" sz="2800" i="1" dirty="0"/>
              <a:t>A transistor circuit containing more than one stage of amplification is known as </a:t>
            </a:r>
            <a:r>
              <a:rPr lang="en-US" sz="2800" b="1" i="1" dirty="0"/>
              <a:t>multistage transistor </a:t>
            </a:r>
            <a:r>
              <a:rPr lang="en-US" sz="2800" b="1" dirty="0"/>
              <a:t>amplifier </a:t>
            </a:r>
            <a:r>
              <a:rPr lang="en-US" sz="2800" dirty="0"/>
              <a:t>In a multistage amplifier, a number of single amplifiers are connected in *</a:t>
            </a:r>
            <a:r>
              <a:rPr lang="en-US" sz="2800" i="1" dirty="0"/>
              <a:t>cascade arrangement i.e. output of first stage is connected to the input of the second stage through a suitable coupling device and so on. </a:t>
            </a:r>
            <a:r>
              <a:rPr lang="en-US" sz="2800" i="1" dirty="0">
                <a:solidFill>
                  <a:srgbClr val="FF0000"/>
                </a:solidFill>
              </a:rPr>
              <a:t>The purpose of coupling device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i="1" dirty="0">
                <a:solidFill>
                  <a:srgbClr val="FF0000"/>
                </a:solidFill>
              </a:rPr>
              <a:t>e.g. a capacitor, transformer etc.) is: </a:t>
            </a:r>
          </a:p>
          <a:p>
            <a:pPr marL="571500" indent="-571500">
              <a:buAutoNum type="romanLcParenBoth"/>
            </a:pPr>
            <a:r>
              <a:rPr lang="en-US" sz="2800" i="1" dirty="0"/>
              <a:t>to transfer </a:t>
            </a:r>
            <a:r>
              <a:rPr lang="en-US" sz="2800" dirty="0" err="1"/>
              <a:t>a.c</a:t>
            </a:r>
            <a:r>
              <a:rPr lang="en-US" sz="2800" dirty="0"/>
              <a:t>. output of one stage to the input of the next stage and </a:t>
            </a:r>
          </a:p>
          <a:p>
            <a:pPr marL="571500" indent="-571500">
              <a:buAutoNum type="romanLcParenBoth"/>
            </a:pPr>
            <a:r>
              <a:rPr lang="en-US" sz="2800" dirty="0"/>
              <a:t>(</a:t>
            </a:r>
            <a:r>
              <a:rPr lang="en-US" sz="2800" i="1" dirty="0"/>
              <a:t>ii) to isolate the </a:t>
            </a:r>
            <a:r>
              <a:rPr lang="en-US" sz="2800" i="1" dirty="0" err="1"/>
              <a:t>d.c</a:t>
            </a:r>
            <a:r>
              <a:rPr lang="en-US" sz="2800" i="1" dirty="0"/>
              <a:t>. conditions of one stage </a:t>
            </a:r>
            <a:r>
              <a:rPr lang="en-US" sz="2800" dirty="0"/>
              <a:t>from the next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28600"/>
            <a:ext cx="8077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990600" y="2590800"/>
            <a:ext cx="7620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(</a:t>
            </a:r>
            <a:r>
              <a:rPr lang="en-US" b="1" i="1" dirty="0" err="1"/>
              <a:t>i</a:t>
            </a:r>
            <a:r>
              <a:rPr lang="en-US" b="1" i="1" dirty="0"/>
              <a:t>) In RC coupling, a capacitor is used as the coupling device. The capacitor connects the</a:t>
            </a:r>
          </a:p>
          <a:p>
            <a:r>
              <a:rPr lang="en-US" dirty="0"/>
              <a:t>output of one stage to the input of the next stage in order to pass the </a:t>
            </a:r>
            <a:r>
              <a:rPr lang="en-US" dirty="0" err="1"/>
              <a:t>a.c</a:t>
            </a:r>
            <a:r>
              <a:rPr lang="en-US" dirty="0"/>
              <a:t>. signal on while blocking the </a:t>
            </a:r>
            <a:r>
              <a:rPr lang="en-US" dirty="0" err="1"/>
              <a:t>d.c</a:t>
            </a:r>
            <a:r>
              <a:rPr lang="en-US" dirty="0"/>
              <a:t>. bias voltages.</a:t>
            </a:r>
          </a:p>
          <a:p>
            <a:r>
              <a:rPr lang="en-US" b="1" dirty="0"/>
              <a:t>(</a:t>
            </a:r>
            <a:r>
              <a:rPr lang="en-US" b="1" i="1" dirty="0"/>
              <a:t>ii) In transformer coupling, transformer is used as the coupling device. The transformer coupling</a:t>
            </a:r>
          </a:p>
          <a:p>
            <a:r>
              <a:rPr lang="en-US" dirty="0"/>
              <a:t>provides the same two functions (</a:t>
            </a:r>
            <a:r>
              <a:rPr lang="en-US" i="1" dirty="0"/>
              <a:t>viz. to pass the signal on and blocking </a:t>
            </a:r>
            <a:r>
              <a:rPr lang="en-US" i="1" dirty="0" err="1"/>
              <a:t>d.c</a:t>
            </a:r>
            <a:r>
              <a:rPr lang="en-US" i="1" dirty="0"/>
              <a:t>.) but permits in </a:t>
            </a:r>
            <a:r>
              <a:rPr lang="en-US" dirty="0"/>
              <a:t>addition impedance matching.</a:t>
            </a:r>
          </a:p>
          <a:p>
            <a:r>
              <a:rPr lang="en-US" b="1" dirty="0"/>
              <a:t>(</a:t>
            </a:r>
            <a:r>
              <a:rPr lang="en-US" b="1" i="1" dirty="0"/>
              <a:t>iii) In direct coupling or </a:t>
            </a:r>
            <a:r>
              <a:rPr lang="en-US" b="1" i="1" dirty="0" err="1"/>
              <a:t>d.c</a:t>
            </a:r>
            <a:r>
              <a:rPr lang="en-US" b="1" i="1" dirty="0"/>
              <a:t>. coupling, the individual amplifier stage bias conditions are</a:t>
            </a:r>
            <a:r>
              <a:rPr lang="en-US" dirty="0"/>
              <a:t> so designed that the two stages may be directly connected without the necessity for </a:t>
            </a:r>
            <a:r>
              <a:rPr lang="en-US" dirty="0" err="1"/>
              <a:t>d.c</a:t>
            </a:r>
            <a:r>
              <a:rPr lang="en-US" dirty="0"/>
              <a:t>. isolation.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Multistage Amplifiers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762000" y="1752600"/>
            <a:ext cx="74676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200">
                <a:latin typeface="Tahoma" charset="0"/>
              </a:rPr>
              <a:t>Two or more amplifiers can be connected to increase the gain of an ac signal. The overall gain can be calculated by simply multiplying each gain together.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altLang="en-US" sz="2200" b="1" i="1">
                <a:latin typeface="Tahoma" charset="0"/>
              </a:rPr>
              <a:t>A’</a:t>
            </a:r>
            <a:r>
              <a:rPr lang="en-US" altLang="en-US" sz="2200" b="1" i="1" baseline="-25000">
                <a:latin typeface="Tahoma" charset="0"/>
              </a:rPr>
              <a:t>v</a:t>
            </a:r>
            <a:r>
              <a:rPr lang="en-US" altLang="en-US" sz="2200" b="1">
                <a:latin typeface="Tahoma" charset="0"/>
              </a:rPr>
              <a:t> = </a:t>
            </a:r>
            <a:r>
              <a:rPr lang="en-US" altLang="en-US" sz="2200" b="1" i="1">
                <a:latin typeface="Tahoma" charset="0"/>
              </a:rPr>
              <a:t>A</a:t>
            </a:r>
            <a:r>
              <a:rPr lang="en-US" altLang="en-US" sz="2200" b="1" i="1" baseline="-25000">
                <a:latin typeface="Tahoma" charset="0"/>
              </a:rPr>
              <a:t>v1</a:t>
            </a:r>
            <a:r>
              <a:rPr lang="en-US" altLang="en-US" sz="2200" b="1" i="1">
                <a:latin typeface="Tahoma" charset="0"/>
              </a:rPr>
              <a:t>A</a:t>
            </a:r>
            <a:r>
              <a:rPr lang="en-US" altLang="en-US" sz="2200" b="1" i="1" baseline="-25000">
                <a:latin typeface="Tahoma" charset="0"/>
              </a:rPr>
              <a:t>v2</a:t>
            </a:r>
            <a:r>
              <a:rPr lang="en-US" altLang="en-US" sz="2200" b="1" i="1">
                <a:latin typeface="Tahoma" charset="0"/>
              </a:rPr>
              <a:t>A</a:t>
            </a:r>
            <a:r>
              <a:rPr lang="en-US" altLang="en-US" sz="2200" b="1" i="1" baseline="-25000">
                <a:latin typeface="Tahoma" charset="0"/>
              </a:rPr>
              <a:t>v3 </a:t>
            </a:r>
            <a:r>
              <a:rPr lang="en-US" altLang="en-US" sz="2200" b="1">
                <a:latin typeface="Tahoma" charset="0"/>
              </a:rPr>
              <a:t>……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/>
          <a:srcRect t="33853" b="34711"/>
          <a:stretch>
            <a:fillRect/>
          </a:stretch>
        </p:blipFill>
        <p:spPr bwMode="auto">
          <a:xfrm>
            <a:off x="609600" y="3505200"/>
            <a:ext cx="77724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Example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762000" y="1752600"/>
            <a:ext cx="74676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200">
                <a:latin typeface="Tahoma" charset="0"/>
              </a:rPr>
              <a:t>Find V</a:t>
            </a:r>
            <a:r>
              <a:rPr lang="en-US" altLang="en-US" sz="2200" baseline="-25000">
                <a:latin typeface="Tahoma" charset="0"/>
              </a:rPr>
              <a:t>out</a:t>
            </a:r>
            <a:endParaRPr lang="en-US" altLang="en-US" sz="2200" b="1" baseline="-25000">
              <a:latin typeface="Tahoma" charset="0"/>
            </a:endParaRP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/>
          <a:srcRect t="33853" b="34711"/>
          <a:stretch>
            <a:fillRect/>
          </a:stretch>
        </p:blipFill>
        <p:spPr bwMode="auto">
          <a:xfrm>
            <a:off x="990600" y="2819400"/>
            <a:ext cx="77724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219200" y="43434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  <a:r>
              <a:rPr lang="en-US" baseline="-25000"/>
              <a:t>v1</a:t>
            </a:r>
            <a:r>
              <a:rPr lang="en-US"/>
              <a:t> = 5</a:t>
            </a: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2590800" y="43434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  <a:r>
              <a:rPr lang="en-US" baseline="-25000"/>
              <a:t>v2</a:t>
            </a:r>
            <a:r>
              <a:rPr lang="en-US"/>
              <a:t> = 10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4038600" y="42672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  <a:r>
              <a:rPr lang="en-US" baseline="-25000"/>
              <a:t>v3</a:t>
            </a:r>
            <a:r>
              <a:rPr lang="en-US"/>
              <a:t> = 6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6172200" y="42672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  <a:r>
              <a:rPr lang="en-US" baseline="-25000"/>
              <a:t>vn</a:t>
            </a:r>
            <a:r>
              <a:rPr lang="en-US"/>
              <a:t> = 8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609600" y="30480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in </a:t>
            </a:r>
            <a:r>
              <a:rPr lang="en-US"/>
              <a:t>= 5 mV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685800" cy="685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76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defRPr/>
            </a:pPr>
            <a:endParaRPr lang="en-US" sz="1400" i="1"/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974725" y="120650"/>
            <a:ext cx="4552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>
                <a:latin typeface="Times New Roman" pitchFamily="18" charset="0"/>
              </a:rPr>
              <a:t>i) Cascade Connection</a:t>
            </a:r>
          </a:p>
        </p:txBody>
      </p:sp>
      <p:pic>
        <p:nvPicPr>
          <p:cNvPr id="22534" name="Picture 8" descr="scan0003"/>
          <p:cNvPicPr>
            <a:picLocks noChangeAspect="1" noChangeArrowheads="1"/>
          </p:cNvPicPr>
          <p:nvPr/>
        </p:nvPicPr>
        <p:blipFill>
          <a:blip r:embed="rId2"/>
          <a:srcRect l="8888" t="3345" r="11111" b="6689"/>
          <a:stretch>
            <a:fillRect/>
          </a:stretch>
        </p:blipFill>
        <p:spPr bwMode="auto">
          <a:xfrm rot="-60000">
            <a:off x="4648200" y="914400"/>
            <a:ext cx="4267200" cy="318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5" name="Text Box 10"/>
          <p:cNvSpPr txBox="1">
            <a:spLocks noChangeArrowheads="1"/>
          </p:cNvSpPr>
          <p:nvPr/>
        </p:nvSpPr>
        <p:spPr bwMode="auto">
          <a:xfrm>
            <a:off x="685800" y="914400"/>
            <a:ext cx="5073650" cy="585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-"/>
            </a:pPr>
            <a:r>
              <a:rPr lang="en-US" dirty="0"/>
              <a:t>The most widely used method</a:t>
            </a:r>
          </a:p>
          <a:p>
            <a:pPr>
              <a:buFontTx/>
              <a:buChar char="-"/>
            </a:pPr>
            <a:r>
              <a:rPr lang="en-US" dirty="0"/>
              <a:t>Coupling a signal from one stage to the another</a:t>
            </a:r>
          </a:p>
          <a:p>
            <a:r>
              <a:rPr lang="en-US" dirty="0"/>
              <a:t>stage and block dc voltage from one stage to</a:t>
            </a:r>
          </a:p>
          <a:p>
            <a:r>
              <a:rPr lang="en-US" dirty="0"/>
              <a:t>the another stage</a:t>
            </a:r>
          </a:p>
          <a:p>
            <a:r>
              <a:rPr lang="en-US" dirty="0"/>
              <a:t>-The signal developed across the collector</a:t>
            </a:r>
          </a:p>
          <a:p>
            <a:r>
              <a:rPr lang="en-US" dirty="0"/>
              <a:t>resistor of each stage is coupled into</a:t>
            </a:r>
          </a:p>
          <a:p>
            <a:r>
              <a:rPr lang="en-US" dirty="0"/>
              <a:t>the base of the next stage  </a:t>
            </a:r>
          </a:p>
          <a:p>
            <a:r>
              <a:rPr lang="en-US" dirty="0"/>
              <a:t>-The overall gain = product of the </a:t>
            </a:r>
          </a:p>
          <a:p>
            <a:r>
              <a:rPr lang="en-US" dirty="0"/>
              <a:t>individual gain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dirty="0"/>
              <a:t>**refer page 219</a:t>
            </a:r>
            <a:r>
              <a:rPr lang="en-US" dirty="0"/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   Role of Capacitors in Transistor Amplifiers</a:t>
            </a:r>
          </a:p>
          <a:p>
            <a:pPr>
              <a:buNone/>
            </a:pPr>
            <a:r>
              <a:rPr lang="en-US" dirty="0"/>
              <a:t>Regardless of the manner in which a capacitor is connected in a transistor amplifier, its </a:t>
            </a:r>
            <a:r>
              <a:rPr lang="en-US" dirty="0" err="1"/>
              <a:t>behaviour</a:t>
            </a:r>
            <a:r>
              <a:rPr lang="en-US" dirty="0"/>
              <a:t> towards </a:t>
            </a:r>
            <a:r>
              <a:rPr lang="en-US" dirty="0" err="1"/>
              <a:t>d.c</a:t>
            </a:r>
            <a:r>
              <a:rPr lang="en-US" dirty="0"/>
              <a:t>. and </a:t>
            </a:r>
            <a:r>
              <a:rPr lang="en-US" dirty="0" err="1"/>
              <a:t>a.c</a:t>
            </a:r>
            <a:r>
              <a:rPr lang="en-US" dirty="0"/>
              <a:t>. is as follows. </a:t>
            </a:r>
            <a:r>
              <a:rPr lang="en-US" i="1" dirty="0"/>
              <a:t>A capacitor blocks </a:t>
            </a:r>
            <a:r>
              <a:rPr lang="en-US" i="1" dirty="0" err="1"/>
              <a:t>d.c</a:t>
            </a:r>
            <a:r>
              <a:rPr lang="en-US" i="1" dirty="0"/>
              <a:t>. i.e. a capacitor behaves as an “</a:t>
            </a:r>
            <a:r>
              <a:rPr lang="en-US" i="1"/>
              <a:t>open**” to </a:t>
            </a:r>
            <a:r>
              <a:rPr lang="en-US" i="1" dirty="0" err="1"/>
              <a:t>d.c</a:t>
            </a:r>
            <a:r>
              <a:rPr lang="en-US" i="1" dirty="0"/>
              <a:t>. Therefore, for </a:t>
            </a:r>
            <a:r>
              <a:rPr lang="en-US" i="1" dirty="0" err="1"/>
              <a:t>d.c</a:t>
            </a:r>
            <a:r>
              <a:rPr lang="en-US" i="1" dirty="0"/>
              <a:t>. analysis, we can remove the capacitors from the transistor amplifier circuit.</a:t>
            </a:r>
          </a:p>
          <a:p>
            <a:pPr>
              <a:buNone/>
            </a:pPr>
            <a:r>
              <a:rPr lang="en-US" dirty="0"/>
              <a:t>A capacitor offers reactance (= 1/2π</a:t>
            </a:r>
            <a:r>
              <a:rPr lang="en-US" i="1" dirty="0"/>
              <a:t>fC) to </a:t>
            </a:r>
            <a:r>
              <a:rPr lang="en-US" i="1" dirty="0" err="1"/>
              <a:t>a.c</a:t>
            </a:r>
            <a:r>
              <a:rPr lang="en-US" i="1" dirty="0"/>
              <a:t>. depending upon the values of f and C. In practical  </a:t>
            </a:r>
            <a:r>
              <a:rPr lang="en-US" dirty="0"/>
              <a:t>transistor circuits, the size of capacitors is so selected that they offer negligible (ideally zero) reactance to the range of frequencies handled by the circuits. Therefore, </a:t>
            </a:r>
            <a:r>
              <a:rPr lang="en-US" i="1" dirty="0"/>
              <a:t>for </a:t>
            </a:r>
            <a:r>
              <a:rPr lang="en-US" i="1" dirty="0" err="1"/>
              <a:t>a.c</a:t>
            </a:r>
            <a:r>
              <a:rPr lang="en-US" i="1" dirty="0"/>
              <a:t>. analysis, we can replace</a:t>
            </a:r>
          </a:p>
          <a:p>
            <a:pPr>
              <a:buNone/>
            </a:pPr>
            <a:r>
              <a:rPr lang="en-US" i="1" dirty="0"/>
              <a:t>the capacitors by a short i.e. by a wire.</a:t>
            </a:r>
            <a:r>
              <a:rPr lang="en-US" dirty="0"/>
              <a:t> The capacitors serve the following two roles in transistor</a:t>
            </a:r>
          </a:p>
          <a:p>
            <a:pPr>
              <a:buNone/>
            </a:pPr>
            <a:r>
              <a:rPr lang="en-US" dirty="0"/>
              <a:t>amplifiers :</a:t>
            </a:r>
          </a:p>
          <a:p>
            <a:pPr>
              <a:buNone/>
            </a:pPr>
            <a:r>
              <a:rPr lang="en-US" b="1" dirty="0"/>
              <a:t>1. As coupling capacitors</a:t>
            </a:r>
          </a:p>
          <a:p>
            <a:pPr>
              <a:buNone/>
            </a:pPr>
            <a:r>
              <a:rPr lang="en-US" b="1" dirty="0"/>
              <a:t>2. As bypass capacitors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304800"/>
            <a:ext cx="8458199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1. As coupling capacitors</a:t>
            </a:r>
            <a:r>
              <a:rPr lang="en-US" b="1" dirty="0"/>
              <a:t>. </a:t>
            </a:r>
            <a:r>
              <a:rPr lang="en-US" dirty="0"/>
              <a:t>In most applications, you will not see a single transistor amplifier</a:t>
            </a:r>
            <a:r>
              <a:rPr lang="en-US" b="1" dirty="0"/>
              <a:t>.</a:t>
            </a:r>
          </a:p>
          <a:p>
            <a:pPr>
              <a:buNone/>
            </a:pPr>
            <a:r>
              <a:rPr lang="en-US" dirty="0"/>
              <a:t>Rather we use a multistage amplifier </a:t>
            </a:r>
            <a:r>
              <a:rPr lang="en-US" i="1" dirty="0"/>
              <a:t>i.e. a number of transistor amplifiers are connected in series or</a:t>
            </a:r>
          </a:p>
          <a:p>
            <a:pPr>
              <a:buNone/>
            </a:pPr>
            <a:r>
              <a:rPr lang="en-US" dirty="0"/>
              <a:t>cascaded. The capacitors are commonly used to connect one amplifier stage to another. When a</a:t>
            </a:r>
          </a:p>
          <a:p>
            <a:pPr>
              <a:buNone/>
            </a:pPr>
            <a:r>
              <a:rPr lang="en-US" dirty="0"/>
              <a:t>capacitor is used for this purpose, it is called a </a:t>
            </a:r>
            <a:r>
              <a:rPr lang="en-US" i="1" dirty="0"/>
              <a:t>coupling capacitor. Fig. 11.2 shows the coupling</a:t>
            </a:r>
          </a:p>
          <a:p>
            <a:pPr>
              <a:buNone/>
            </a:pPr>
            <a:r>
              <a:rPr lang="en-US" dirty="0"/>
              <a:t>capacitors (</a:t>
            </a:r>
            <a:r>
              <a:rPr lang="en-US" i="1" dirty="0"/>
              <a:t>CC1; CC2 ; CC3 and CC4) in a multistage amplifier. A coupling capacitor performs the</a:t>
            </a:r>
          </a:p>
          <a:p>
            <a:pPr>
              <a:buNone/>
            </a:pPr>
            <a:r>
              <a:rPr lang="en-US" dirty="0"/>
              <a:t>following two functions :</a:t>
            </a:r>
          </a:p>
          <a:p>
            <a:pPr>
              <a:buNone/>
            </a:pPr>
            <a:r>
              <a:rPr lang="en-US" b="1" dirty="0"/>
              <a:t>(</a:t>
            </a:r>
            <a:r>
              <a:rPr lang="en-US" b="1" i="1" dirty="0" err="1"/>
              <a:t>i</a:t>
            </a:r>
            <a:r>
              <a:rPr lang="en-US" b="1" i="1" dirty="0"/>
              <a:t>) It blocks </a:t>
            </a:r>
            <a:r>
              <a:rPr lang="en-US" b="1" i="1" dirty="0" err="1"/>
              <a:t>d.c</a:t>
            </a:r>
            <a:r>
              <a:rPr lang="en-US" b="1" i="1" dirty="0"/>
              <a:t>. i.e. it provides </a:t>
            </a:r>
            <a:r>
              <a:rPr lang="en-US" b="1" i="1" dirty="0" err="1"/>
              <a:t>d.c</a:t>
            </a:r>
            <a:r>
              <a:rPr lang="en-US" b="1" i="1" dirty="0"/>
              <a:t>. isolation between the two stages of a multistage amplifier.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0"/>
            <a:ext cx="64008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3400" y="914401"/>
            <a:ext cx="63246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(</a:t>
            </a:r>
            <a:r>
              <a:rPr lang="en-US" sz="2100" b="1" i="1" dirty="0"/>
              <a:t>ii) It passes the </a:t>
            </a:r>
            <a:r>
              <a:rPr lang="en-US" sz="2100" b="1" i="1" dirty="0" err="1"/>
              <a:t>a.c</a:t>
            </a:r>
            <a:r>
              <a:rPr lang="en-US" sz="2100" b="1" i="1" dirty="0"/>
              <a:t>. signal from one stage to the next with little or no distortion.</a:t>
            </a:r>
            <a:endParaRPr lang="en-US" sz="2100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95925" y="1828800"/>
            <a:ext cx="36480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228600" y="1870682"/>
            <a:ext cx="533400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2. As bypass capacitors. Like a coupling</a:t>
            </a:r>
          </a:p>
          <a:p>
            <a:r>
              <a:rPr lang="en-US" sz="2000" dirty="0"/>
              <a:t>capacitor, a bypass capacitor also</a:t>
            </a:r>
          </a:p>
          <a:p>
            <a:r>
              <a:rPr lang="en-US" sz="2000" dirty="0"/>
              <a:t>blocks </a:t>
            </a:r>
            <a:r>
              <a:rPr lang="en-US" sz="2000" dirty="0" err="1"/>
              <a:t>d.c</a:t>
            </a:r>
            <a:r>
              <a:rPr lang="en-US" sz="2000" dirty="0"/>
              <a:t>. and behaves as a short or wire</a:t>
            </a:r>
          </a:p>
          <a:p>
            <a:r>
              <a:rPr lang="en-US" sz="2000" dirty="0"/>
              <a:t>(due to proper selection of capacitor size)</a:t>
            </a:r>
          </a:p>
          <a:p>
            <a:r>
              <a:rPr lang="en-US" sz="2000" dirty="0"/>
              <a:t>to an </a:t>
            </a:r>
            <a:r>
              <a:rPr lang="en-US" sz="2000" dirty="0" err="1"/>
              <a:t>a.c</a:t>
            </a:r>
            <a:r>
              <a:rPr lang="en-US" sz="2000" dirty="0"/>
              <a:t>. signal. But it is used for a different purpose. A bypass capacitor is connected in parallel with a circuit component (</a:t>
            </a:r>
            <a:r>
              <a:rPr lang="en-US" sz="2000" i="1" dirty="0"/>
              <a:t>e.g. resistor) to bypass the </a:t>
            </a:r>
            <a:r>
              <a:rPr lang="en-US" sz="2000" i="1" dirty="0" err="1"/>
              <a:t>a.c</a:t>
            </a:r>
            <a:r>
              <a:rPr lang="en-US" sz="2000" i="1" dirty="0"/>
              <a:t>. signal and </a:t>
            </a:r>
            <a:r>
              <a:rPr lang="en-US" sz="2000" dirty="0"/>
              <a:t>hence the name.  shows a bypass capacitor </a:t>
            </a:r>
            <a:r>
              <a:rPr lang="en-US" sz="2000" i="1" dirty="0"/>
              <a:t>CE connected across the emitter </a:t>
            </a:r>
            <a:r>
              <a:rPr lang="en-US" sz="2000" dirty="0"/>
              <a:t>resistance </a:t>
            </a:r>
            <a:r>
              <a:rPr lang="en-US" sz="2000" i="1" dirty="0"/>
              <a:t>RE. Since CE behaves as a short </a:t>
            </a:r>
            <a:r>
              <a:rPr lang="en-US" sz="2000" dirty="0"/>
              <a:t>to the </a:t>
            </a:r>
            <a:r>
              <a:rPr lang="en-US" sz="2000" dirty="0" err="1"/>
              <a:t>a.c</a:t>
            </a:r>
            <a:r>
              <a:rPr lang="en-US" sz="2000" dirty="0"/>
              <a:t>. signal, the whole of </a:t>
            </a:r>
            <a:r>
              <a:rPr lang="en-US" sz="2000" dirty="0" err="1"/>
              <a:t>a.c</a:t>
            </a:r>
            <a:r>
              <a:rPr lang="en-US" sz="2000" dirty="0"/>
              <a:t>. signal (</a:t>
            </a:r>
            <a:r>
              <a:rPr lang="en-US" sz="2000" i="1" dirty="0" err="1"/>
              <a:t>ie</a:t>
            </a:r>
            <a:r>
              <a:rPr lang="en-US" sz="2000" i="1" dirty="0"/>
              <a:t>) passes through it. Note that CE keeps </a:t>
            </a:r>
            <a:r>
              <a:rPr lang="en-US" sz="2000" dirty="0"/>
              <a:t>the emitter at </a:t>
            </a:r>
            <a:r>
              <a:rPr lang="en-US" sz="2000" dirty="0" err="1"/>
              <a:t>a.c</a:t>
            </a:r>
            <a:r>
              <a:rPr lang="en-US" sz="2000" dirty="0"/>
              <a:t>. ground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Thus for </a:t>
            </a:r>
            <a:r>
              <a:rPr lang="en-US" dirty="0" err="1"/>
              <a:t>a.c</a:t>
            </a:r>
            <a:r>
              <a:rPr lang="en-US" dirty="0"/>
              <a:t>. purposes, </a:t>
            </a:r>
            <a:r>
              <a:rPr lang="en-US" i="1" dirty="0"/>
              <a:t>RE does not exist. We have already </a:t>
            </a:r>
            <a:r>
              <a:rPr lang="en-US" dirty="0"/>
              <a:t>seen in the previous chapter that </a:t>
            </a:r>
            <a:r>
              <a:rPr lang="en-US" i="1" dirty="0"/>
              <a:t>CE </a:t>
            </a:r>
            <a:r>
              <a:rPr lang="en-US" dirty="0"/>
              <a:t>plays an important role in determining the</a:t>
            </a:r>
          </a:p>
          <a:p>
            <a:pPr>
              <a:buNone/>
            </a:pPr>
            <a:r>
              <a:rPr lang="en-US" dirty="0"/>
              <a:t>voltage gain of the amplifier circuit. If </a:t>
            </a:r>
            <a:r>
              <a:rPr lang="en-US" i="1" dirty="0"/>
              <a:t>CE is</a:t>
            </a:r>
          </a:p>
          <a:p>
            <a:pPr>
              <a:buNone/>
            </a:pPr>
            <a:r>
              <a:rPr lang="en-US" dirty="0"/>
              <a:t>removed, the voltage gain of the amplifier</a:t>
            </a:r>
          </a:p>
          <a:p>
            <a:pPr>
              <a:buNone/>
            </a:pPr>
            <a:r>
              <a:rPr lang="en-US" dirty="0"/>
              <a:t>is greatly reduced. Note that </a:t>
            </a:r>
            <a:r>
              <a:rPr lang="en-US" i="1" dirty="0" err="1"/>
              <a:t>Cin</a:t>
            </a:r>
            <a:r>
              <a:rPr lang="en-US" i="1" dirty="0"/>
              <a:t> is the coupling capacitor in this circuit.</a:t>
            </a:r>
          </a:p>
          <a:p>
            <a:pPr>
              <a:buNone/>
            </a:pPr>
            <a:r>
              <a:rPr lang="en-US" b="1" dirty="0"/>
              <a:t> Important Terms</a:t>
            </a:r>
          </a:p>
          <a:p>
            <a:pPr>
              <a:buNone/>
            </a:pPr>
            <a:r>
              <a:rPr lang="en-US" dirty="0"/>
              <a:t>In the study of multistage amplifiers, we shall frequently come across the </a:t>
            </a:r>
            <a:r>
              <a:rPr lang="en-US" dirty="0">
                <a:solidFill>
                  <a:srgbClr val="FF0000"/>
                </a:solidFill>
              </a:rPr>
              <a:t>terms </a:t>
            </a:r>
            <a:r>
              <a:rPr lang="en-US" i="1" dirty="0">
                <a:solidFill>
                  <a:srgbClr val="FF0000"/>
                </a:solidFill>
              </a:rPr>
              <a:t>gain</a:t>
            </a:r>
            <a:r>
              <a:rPr lang="en-US" i="1" dirty="0"/>
              <a:t>,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frequency response</a:t>
            </a:r>
            <a:r>
              <a:rPr lang="en-US" i="1" dirty="0"/>
              <a:t>, </a:t>
            </a:r>
            <a:r>
              <a:rPr lang="en-US" i="1" dirty="0">
                <a:solidFill>
                  <a:srgbClr val="FF0000"/>
                </a:solidFill>
              </a:rPr>
              <a:t>decibel gain </a:t>
            </a:r>
            <a:r>
              <a:rPr lang="en-US" i="1" dirty="0"/>
              <a:t>and </a:t>
            </a:r>
            <a:r>
              <a:rPr lang="en-US" i="1" dirty="0">
                <a:solidFill>
                  <a:srgbClr val="FF0000"/>
                </a:solidFill>
              </a:rPr>
              <a:t>bandwidth.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7772400" cy="1470025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An integrated circuit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2057400"/>
            <a:ext cx="7086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>
                    <a:lumMod val="10000"/>
                  </a:schemeClr>
                </a:solidFill>
              </a:rPr>
              <a:t>An integrated circuit or IC is basically the assembly of electronic components fabricated on a semiconductor material as a unit. There are different techniques used to design and construct integrated circuits. In today's world, integrated circuits are used in almost all electronic equipment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46190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981200"/>
            <a:ext cx="8839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vantages of ICs </a:t>
            </a:r>
          </a:p>
          <a:p>
            <a:r>
              <a:rPr lang="en-US" sz="2800" dirty="0"/>
              <a:t>The discovery of integrated circuits was a huge breakthrough in the field of electronics due to the fact that ICs were a lot more reliable, capable, and cheaper than discrete circuits. </a:t>
            </a:r>
          </a:p>
        </p:txBody>
      </p:sp>
    </p:spTree>
    <p:extLst>
      <p:ext uri="{BB962C8B-B14F-4D97-AF65-F5344CB8AC3E}">
        <p14:creationId xmlns:p14="http://schemas.microsoft.com/office/powerpoint/2010/main" val="41389621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>
              <a:buFontTx/>
              <a:buNone/>
              <a:defRPr/>
            </a:pPr>
            <a:r>
              <a:rPr lang="en-US" altLang="en-US" b="1" dirty="0">
                <a:solidFill>
                  <a:schemeClr val="bg1"/>
                </a:solidFill>
              </a:rPr>
              <a:t>        </a:t>
            </a:r>
          </a:p>
          <a:p>
            <a:pPr>
              <a:buFontTx/>
              <a:buNone/>
              <a:defRPr/>
            </a:pPr>
            <a:r>
              <a:rPr lang="en-US" altLang="en-US" b="1" dirty="0">
                <a:solidFill>
                  <a:schemeClr val="bg1"/>
                </a:solidFill>
              </a:rPr>
              <a:t>         </a:t>
            </a:r>
            <a:r>
              <a:rPr lang="en-US" altLang="en-US" sz="2400" b="1" dirty="0">
                <a:solidFill>
                  <a:schemeClr val="tx1"/>
                </a:solidFill>
              </a:rPr>
              <a:t>THE BJT AS A SWITCH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0" indent="0">
              <a:buFontTx/>
              <a:buNone/>
              <a:defRPr/>
            </a:pPr>
            <a:r>
              <a:rPr lang="en-US" altLang="en-US" sz="2400" dirty="0">
                <a:solidFill>
                  <a:schemeClr val="tx1"/>
                </a:solidFill>
              </a:rPr>
              <a:t> BJT can be used as a linear amplifier. The second major application area is switching applications. When used as an electronic switch, a BJT is normally operated alternately in cutoff and saturation. Many digital circuits use the BJT as a switch.</a:t>
            </a:r>
          </a:p>
          <a:p>
            <a:pPr>
              <a:buFontTx/>
              <a:buNone/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Cutoff =open switch =high resistance =off</a:t>
            </a:r>
          </a:p>
          <a:p>
            <a:pPr>
              <a:buFontTx/>
              <a:buNone/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Saturation =closed switch =low resistance = on</a:t>
            </a:r>
          </a:p>
        </p:txBody>
      </p:sp>
      <p:sp>
        <p:nvSpPr>
          <p:cNvPr id="2048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fld id="{46EC6215-95FD-436E-B4C3-0D2797C81813}" type="slidenum">
              <a:rPr lang="en-US" altLang="en-US" sz="1400"/>
              <a:pPr/>
              <a:t>36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421620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pPr>
              <a:buFontTx/>
              <a:buNone/>
              <a:defRPr/>
            </a:pPr>
            <a:r>
              <a:rPr lang="en-US" sz="2100" b="1" dirty="0">
                <a:solidFill>
                  <a:schemeClr val="tx1"/>
                </a:solidFill>
              </a:rPr>
              <a:t>                   Switching Operation</a:t>
            </a:r>
            <a:endParaRPr lang="en-US" sz="2100" dirty="0">
              <a:solidFill>
                <a:schemeClr val="tx1"/>
              </a:solidFill>
            </a:endParaRPr>
          </a:p>
          <a:p>
            <a:pPr marL="0" indent="0">
              <a:buFontTx/>
              <a:buNone/>
              <a:defRPr/>
            </a:pPr>
            <a:r>
              <a:rPr lang="en-US" sz="2100" dirty="0">
                <a:solidFill>
                  <a:schemeClr val="tx1"/>
                </a:solidFill>
              </a:rPr>
              <a:t> The basic operation of a BJT as a switching device.  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solidFill>
                  <a:srgbClr val="FF0000"/>
                </a:solidFill>
              </a:rPr>
              <a:t>(a) the transistor is in the cutoff region because the base-emitter junction is not forward-biased</a:t>
            </a:r>
            <a:r>
              <a:rPr lang="en-US" sz="2100" dirty="0">
                <a:solidFill>
                  <a:schemeClr val="tx1"/>
                </a:solidFill>
              </a:rPr>
              <a:t>. In this condition, there is, ideally, an </a:t>
            </a:r>
            <a:r>
              <a:rPr lang="en-US" sz="2100" i="1" dirty="0">
                <a:solidFill>
                  <a:schemeClr val="tx1"/>
                </a:solidFill>
              </a:rPr>
              <a:t>open </a:t>
            </a:r>
            <a:r>
              <a:rPr lang="en-US" sz="2100" dirty="0">
                <a:solidFill>
                  <a:schemeClr val="tx1"/>
                </a:solidFill>
              </a:rPr>
              <a:t>between collector and emitter, as indicated by the switch equivalent. </a:t>
            </a:r>
          </a:p>
          <a:p>
            <a:pPr>
              <a:defRPr/>
            </a:pPr>
            <a:r>
              <a:rPr lang="en-US" sz="2100" dirty="0">
                <a:solidFill>
                  <a:srgbClr val="FF0000"/>
                </a:solidFill>
              </a:rPr>
              <a:t> (b), the transistor is in the saturation region because the base emitter junction and the base-collector junction are forward-biased and the base current is made large enough to cause the collector current to reach its saturation value</a:t>
            </a:r>
            <a:r>
              <a:rPr lang="en-US" sz="2100" dirty="0">
                <a:solidFill>
                  <a:schemeClr val="bg1"/>
                </a:solidFill>
              </a:rPr>
              <a:t>. </a:t>
            </a:r>
            <a:r>
              <a:rPr lang="en-US" sz="2100" dirty="0">
                <a:solidFill>
                  <a:schemeClr val="tx1"/>
                </a:solidFill>
              </a:rPr>
              <a:t>In this condition, there is, ideally, a </a:t>
            </a:r>
            <a:r>
              <a:rPr lang="en-US" sz="2100" i="1" dirty="0">
                <a:solidFill>
                  <a:schemeClr val="tx1"/>
                </a:solidFill>
              </a:rPr>
              <a:t>short </a:t>
            </a:r>
            <a:r>
              <a:rPr lang="en-US" sz="2100" dirty="0">
                <a:solidFill>
                  <a:schemeClr val="tx1"/>
                </a:solidFill>
              </a:rPr>
              <a:t>between collector and emitter, as indicated by the switch equivalent. Actually, a small voltage drop across the transistor of up to a few tenths of a volt normally occurs, which is the saturation voltage, </a:t>
            </a:r>
            <a:r>
              <a:rPr lang="en-US" sz="2100" i="1" dirty="0">
                <a:solidFill>
                  <a:schemeClr val="tx1"/>
                </a:solidFill>
              </a:rPr>
              <a:t>V</a:t>
            </a:r>
            <a:r>
              <a:rPr lang="en-US" sz="2100" dirty="0">
                <a:solidFill>
                  <a:schemeClr val="tx1"/>
                </a:solidFill>
              </a:rPr>
              <a:t>CE(sat).</a:t>
            </a:r>
          </a:p>
        </p:txBody>
      </p:sp>
      <p:sp>
        <p:nvSpPr>
          <p:cNvPr id="2150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fld id="{F019FA78-9D82-4150-8EA9-90CA50625961}" type="slidenum">
              <a:rPr lang="en-US" altLang="en-US" sz="1400"/>
              <a:pPr/>
              <a:t>37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3605548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pPr>
              <a:buFontTx/>
              <a:buNone/>
            </a:pPr>
            <a:endParaRPr lang="en-US" altLang="en-US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fld id="{0E9380C4-0DA5-43F3-B20E-86C3C53A440D}" type="slidenum">
              <a:rPr lang="en-US" altLang="en-US" sz="1400"/>
              <a:pPr/>
              <a:t>38</a:t>
            </a:fld>
            <a:endParaRPr lang="en-US" altLang="en-US" sz="1400"/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83058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64361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304800" y="381000"/>
            <a:ext cx="8839200" cy="6248400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fld id="{C41C52F4-0A92-4C6B-8F9D-626BC3ED66BC}" type="slidenum">
              <a:rPr lang="en-US" altLang="en-US" sz="1400"/>
              <a:pPr/>
              <a:t>39</a:t>
            </a:fld>
            <a:endParaRPr lang="en-US" altLang="en-US" sz="1400"/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"/>
            <a:ext cx="88011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085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10600" cy="6172200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fld id="{B488BBAE-7D11-4AF0-9C81-7F306118C748}" type="slidenum">
              <a:rPr lang="en-US" altLang="en-US" sz="1400"/>
              <a:pPr/>
              <a:t>40</a:t>
            </a:fld>
            <a:endParaRPr lang="en-US" altLang="en-US" sz="1400"/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57200"/>
            <a:ext cx="84582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29533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2948</Words>
  <Application>Microsoft Office PowerPoint</Application>
  <PresentationFormat>On-screen Show (4:3)</PresentationFormat>
  <Paragraphs>198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22</vt:lpstr>
      <vt:lpstr>Arial</vt:lpstr>
      <vt:lpstr>Calibri</vt:lpstr>
      <vt:lpstr>Tahoma</vt:lpstr>
      <vt:lpstr>Times New Roman</vt:lpstr>
      <vt:lpstr>Trebuchet MS</vt:lpstr>
      <vt:lpstr>Wingdings 3</vt:lpstr>
      <vt:lpstr>Facet</vt:lpstr>
      <vt:lpstr>PowerPoint Presentation</vt:lpstr>
      <vt:lpstr>TRANSISTOR AS AN AMPLIFIER L1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Multistage Transistor Amplifiers introduction</vt:lpstr>
      <vt:lpstr>PowerPoint Presentation</vt:lpstr>
      <vt:lpstr>PowerPoint Presentation</vt:lpstr>
      <vt:lpstr>Multistage Amplifiers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 integrated 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</dc:creator>
  <cp:lastModifiedBy>User</cp:lastModifiedBy>
  <cp:revision>106</cp:revision>
  <dcterms:created xsi:type="dcterms:W3CDTF">2016-12-07T04:48:36Z</dcterms:created>
  <dcterms:modified xsi:type="dcterms:W3CDTF">2023-04-06T04:26:31Z</dcterms:modified>
</cp:coreProperties>
</file>