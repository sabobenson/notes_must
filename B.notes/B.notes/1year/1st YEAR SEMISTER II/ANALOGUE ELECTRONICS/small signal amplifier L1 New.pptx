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96" r:id="rId2"/>
    <p:sldId id="291" r:id="rId3"/>
    <p:sldId id="292" r:id="rId4"/>
    <p:sldId id="293" r:id="rId5"/>
    <p:sldId id="294" r:id="rId6"/>
    <p:sldId id="295" r:id="rId7"/>
    <p:sldId id="297" r:id="rId8"/>
    <p:sldId id="287" r:id="rId9"/>
    <p:sldId id="288" r:id="rId10"/>
    <p:sldId id="289" r:id="rId11"/>
    <p:sldId id="290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78" r:id="rId23"/>
    <p:sldId id="286" r:id="rId24"/>
    <p:sldId id="279" r:id="rId25"/>
    <p:sldId id="280" r:id="rId26"/>
    <p:sldId id="268" r:id="rId27"/>
    <p:sldId id="271" r:id="rId28"/>
    <p:sldId id="277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89DE2-38B2-4C4F-8177-DE3E2D4A3FE4}" type="datetimeFigureOut">
              <a:rPr lang="en-US" smtClean="0"/>
              <a:pPr/>
              <a:t>3/23/2023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5E212-47ED-4784-84C4-18F786C93C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8A12-AA6B-4F8C-B789-20B5D4BF3EA3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6C4D-9452-4896-9A15-B78075388F3E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A898-A1E5-46A0-9833-4617EC9D1586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94D7A-F630-4E33-A2FB-83ABD9222C09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5B5C1-F393-459B-B2B0-1849D1DA66EB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B5DDC-2E60-45D2-9DC7-C475ADFDC91F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F134-2AFA-4926-845C-97C5D67BE026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6FB1-8301-469F-9C7D-134B76619CC2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B00D-CA30-4F04-9866-ABA79690C067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2E82-E603-4F02-8D3A-17CD2DB4358F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6656-9130-4210-8FF4-FDCB5A2E053D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34BD2-5992-4505-B393-FE3986BB3EDF}" type="datetime1">
              <a:rPr lang="en-US" smtClean="0"/>
              <a:pPr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TRANSISTOR AS AN AMPLIFIER</a:t>
            </a:r>
            <a:br>
              <a:rPr lang="en-US" dirty="0"/>
            </a:br>
            <a:r>
              <a:rPr lang="en-US" dirty="0"/>
              <a:t>L1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3276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transistor</a:t>
            </a:r>
            <a:r>
              <a:rPr lang="en-US" dirty="0"/>
              <a:t> acts as an </a:t>
            </a:r>
            <a:r>
              <a:rPr lang="en-US" b="1" dirty="0"/>
              <a:t>amplifier</a:t>
            </a:r>
            <a:r>
              <a:rPr lang="en-US" dirty="0"/>
              <a:t> by raising the strength of a weak signal. The DC bias voltage applied to the emitter base junction, makes it remain in forward biased condition. ... Thus a small input voltage results in a large output voltage, which shows that the </a:t>
            </a:r>
            <a:r>
              <a:rPr lang="en-US" b="1" dirty="0"/>
              <a:t>transistor</a:t>
            </a:r>
            <a:r>
              <a:rPr lang="en-US" dirty="0"/>
              <a:t> works as an </a:t>
            </a:r>
            <a:r>
              <a:rPr lang="en-US" b="1" dirty="0"/>
              <a:t>amplifier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267200"/>
            <a:ext cx="40386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968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31" y="304800"/>
            <a:ext cx="8991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715000"/>
            <a:ext cx="8915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818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153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434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305800" cy="617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24600"/>
            <a:ext cx="8382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2149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229600" cy="6248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381000"/>
            <a:ext cx="81534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5829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2296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098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7467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              Amplifier Classes</a:t>
            </a:r>
          </a:p>
          <a:p>
            <a:pPr>
              <a:buNone/>
            </a:pPr>
            <a:r>
              <a:rPr lang="en-US" sz="4000" dirty="0"/>
              <a:t> Amplifiers are classified into classes according to their construction and operating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20646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172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b="1" dirty="0">
                <a:latin typeface="22"/>
              </a:rPr>
              <a:t>         </a:t>
            </a:r>
            <a:r>
              <a:rPr lang="en-US" sz="2400" b="1" dirty="0">
                <a:solidFill>
                  <a:srgbClr val="FF0000"/>
                </a:solidFill>
                <a:latin typeface="22"/>
              </a:rPr>
              <a:t>Based on the input signals</a:t>
            </a:r>
          </a:p>
          <a:p>
            <a:pPr>
              <a:buNone/>
            </a:pPr>
            <a:r>
              <a:rPr lang="en-US" sz="2400" dirty="0">
                <a:latin typeface="22"/>
              </a:rPr>
              <a:t>Depending upon the magnitude of the input signal applied, they can be categorized as </a:t>
            </a:r>
            <a:r>
              <a:rPr lang="en-US" sz="2400" dirty="0">
                <a:solidFill>
                  <a:srgbClr val="FF0000"/>
                </a:solidFill>
                <a:latin typeface="22"/>
              </a:rPr>
              <a:t>Small signal and large signal </a:t>
            </a:r>
            <a:r>
              <a:rPr lang="en-US" sz="2400" dirty="0">
                <a:latin typeface="22"/>
              </a:rPr>
              <a:t>amplifiers.</a:t>
            </a:r>
          </a:p>
          <a:p>
            <a:r>
              <a:rPr lang="en-US" sz="2400" b="1" dirty="0">
                <a:latin typeface="22"/>
              </a:rPr>
              <a:t>Small signal Amplifiers</a:t>
            </a:r>
            <a:r>
              <a:rPr lang="en-US" sz="2400" dirty="0">
                <a:latin typeface="22"/>
              </a:rPr>
              <a:t> − When the input signal is so weak so as to produce small fluctuations in the collector current compared to its quiescent value, the amplifier is known as Small signal amplifier.</a:t>
            </a:r>
          </a:p>
          <a:p>
            <a:r>
              <a:rPr lang="en-US" sz="2400" b="1" dirty="0">
                <a:latin typeface="22"/>
              </a:rPr>
              <a:t>Large signal amplifiers</a:t>
            </a:r>
            <a:r>
              <a:rPr lang="en-US" sz="2400" dirty="0">
                <a:latin typeface="22"/>
              </a:rPr>
              <a:t> − When the fluctuations in collector current are large i.e. beyond the linear portion of the characteristics, the amplifier is known as large signal amplifier.</a:t>
            </a:r>
          </a:p>
          <a:p>
            <a:pPr>
              <a:buNone/>
            </a:pPr>
            <a:r>
              <a:rPr lang="en-US" sz="2400" b="1" dirty="0">
                <a:latin typeface="22"/>
              </a:rPr>
              <a:t>     </a:t>
            </a:r>
            <a:r>
              <a:rPr lang="en-US" sz="2400" b="1" dirty="0">
                <a:solidFill>
                  <a:srgbClr val="FF0000"/>
                </a:solidFill>
                <a:latin typeface="22"/>
              </a:rPr>
              <a:t>Based on its </a:t>
            </a:r>
            <a:r>
              <a:rPr lang="en-US" sz="2400" b="1">
                <a:solidFill>
                  <a:srgbClr val="FF0000"/>
                </a:solidFill>
                <a:latin typeface="22"/>
              </a:rPr>
              <a:t>output signals</a:t>
            </a:r>
            <a:endParaRPr lang="en-US" sz="2400" b="1" dirty="0">
              <a:solidFill>
                <a:srgbClr val="FF0000"/>
              </a:solidFill>
              <a:latin typeface="22"/>
            </a:endParaRPr>
          </a:p>
          <a:p>
            <a:pPr>
              <a:buNone/>
            </a:pPr>
            <a:r>
              <a:rPr lang="en-US" sz="2400" dirty="0">
                <a:latin typeface="22"/>
              </a:rPr>
              <a:t> Depending upon the parameter that is amplified at the output, there are voltage and power amplifiers.</a:t>
            </a:r>
          </a:p>
          <a:p>
            <a:r>
              <a:rPr lang="en-US" sz="2400" b="1" dirty="0">
                <a:latin typeface="22"/>
              </a:rPr>
              <a:t>Voltage Amplifiers</a:t>
            </a:r>
            <a:r>
              <a:rPr lang="en-US" sz="2400" dirty="0">
                <a:latin typeface="22"/>
              </a:rPr>
              <a:t> − The amplifier circuit that increases the voltage level of the input signal, is called as Voltage amplifier.</a:t>
            </a:r>
          </a:p>
          <a:p>
            <a:r>
              <a:rPr lang="en-US" sz="2400" b="1" dirty="0">
                <a:latin typeface="22"/>
              </a:rPr>
              <a:t>Power Amplifiers</a:t>
            </a:r>
            <a:r>
              <a:rPr lang="en-US" sz="2400" dirty="0">
                <a:latin typeface="22"/>
              </a:rPr>
              <a:t> − The amplifier circuit that increases the power level of the input signal, is called as Power amplifier</a:t>
            </a:r>
            <a:r>
              <a:rPr lang="en-US" sz="2400" b="1" dirty="0">
                <a:latin typeface="22"/>
              </a:rPr>
              <a:t>             </a:t>
            </a:r>
            <a:endParaRPr lang="en-US" dirty="0">
              <a:latin typeface="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153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            Based on number of stages</a:t>
            </a:r>
          </a:p>
          <a:p>
            <a:pPr>
              <a:buNone/>
            </a:pPr>
            <a:r>
              <a:rPr lang="en-US" sz="2400" dirty="0"/>
              <a:t>  Depending upon the number of stages of Amplification, there are Single-stage amplifiers and Multi-stage amplifiers.</a:t>
            </a:r>
          </a:p>
          <a:p>
            <a:r>
              <a:rPr lang="en-US" sz="2400" b="1" dirty="0"/>
              <a:t>Single-stage Amplifiers</a:t>
            </a:r>
            <a:r>
              <a:rPr lang="en-US" sz="2400" dirty="0"/>
              <a:t> − This has only one transistor circuit, which is a single stage amplification.</a:t>
            </a:r>
          </a:p>
          <a:p>
            <a:r>
              <a:rPr lang="en-US" sz="2400" b="1" dirty="0"/>
              <a:t>Multi-stage Amplifiers</a:t>
            </a:r>
            <a:r>
              <a:rPr lang="en-US" sz="2400" dirty="0"/>
              <a:t> − This has multiple transistor circuit, which provides multi-stage amplification.</a:t>
            </a:r>
          </a:p>
          <a:p>
            <a:pPr>
              <a:buNone/>
            </a:pPr>
            <a:r>
              <a:rPr lang="en-US" b="1" dirty="0"/>
              <a:t>        </a:t>
            </a:r>
            <a:r>
              <a:rPr lang="en-US" b="1" dirty="0">
                <a:solidFill>
                  <a:srgbClr val="FF0000"/>
                </a:solidFill>
              </a:rPr>
              <a:t>Based on the frequency range</a:t>
            </a:r>
          </a:p>
          <a:p>
            <a:pPr>
              <a:buNone/>
            </a:pPr>
            <a:r>
              <a:rPr lang="en-US" sz="2400" dirty="0"/>
              <a:t>Depending upon the frequency range of the signals being used, there are audio and radio amplifiers.</a:t>
            </a:r>
          </a:p>
          <a:p>
            <a:r>
              <a:rPr lang="en-US" sz="2400" b="1" dirty="0"/>
              <a:t>Audio Amplifiers </a:t>
            </a:r>
            <a:r>
              <a:rPr lang="en-US" sz="2400" dirty="0"/>
              <a:t>− The amplifier circuit that amplifies the signals that lie in the audio frequency range i.e. from 20Hz to 20 KHz frequency range, is called as audio amplifier.</a:t>
            </a:r>
          </a:p>
          <a:p>
            <a:r>
              <a:rPr lang="en-US" sz="2400" b="1" dirty="0"/>
              <a:t>Power Amplifiers </a:t>
            </a:r>
            <a:r>
              <a:rPr lang="en-US" sz="2400" dirty="0"/>
              <a:t>− The amplifier circuit that amplifies the signals that lie in a very high frequency range, is called as Power amplifier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            Based on the Coupling method</a:t>
            </a:r>
          </a:p>
          <a:p>
            <a:pPr>
              <a:buNone/>
            </a:pPr>
            <a:r>
              <a:rPr lang="en-US" dirty="0"/>
              <a:t>Depending upon the method of coupling one stage to the other, there are RC coupled, Transformer coupled and direct coupled amplifier.</a:t>
            </a:r>
          </a:p>
          <a:p>
            <a:r>
              <a:rPr lang="en-US" b="1" dirty="0"/>
              <a:t>RC Coupled amplifier</a:t>
            </a:r>
            <a:r>
              <a:rPr lang="en-US" dirty="0"/>
              <a:t> − A Multi-stage amplifier circuit that is coupled to the next stage using resistor and capacitor (RC) combination can be called as a RC coupled amplifier.</a:t>
            </a:r>
          </a:p>
          <a:p>
            <a:r>
              <a:rPr lang="en-US" b="1" dirty="0"/>
              <a:t>Transformer Coupled amplifier</a:t>
            </a:r>
            <a:r>
              <a:rPr lang="en-US" dirty="0"/>
              <a:t> − A Multi-stage amplifier circuit that is coupled to the next stage, with the help of a transformer, can be called as a Transformer coupled amplifier.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Single Stage(small signal)Transistor</a:t>
            </a:r>
            <a:br>
              <a:rPr lang="en-US" b="1" dirty="0"/>
            </a:br>
            <a:r>
              <a:rPr lang="en-US" b="1" dirty="0"/>
              <a:t>Amplifiers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i="1" dirty="0"/>
              <a:t>	</a:t>
            </a:r>
            <a:r>
              <a:rPr lang="en-US" sz="4000" i="1" dirty="0">
                <a:solidFill>
                  <a:srgbClr val="FF0000"/>
                </a:solidFill>
              </a:rPr>
              <a:t>single stage transistor amplifier</a:t>
            </a:r>
            <a:r>
              <a:rPr lang="en-US" sz="4000" i="1" dirty="0"/>
              <a:t>(Small signal amplifier) </a:t>
            </a:r>
          </a:p>
          <a:p>
            <a:pPr>
              <a:lnSpc>
                <a:spcPct val="120000"/>
              </a:lnSpc>
              <a:buNone/>
            </a:pPr>
            <a:r>
              <a:rPr lang="en-US" sz="4000" i="1" dirty="0"/>
              <a:t>By a stage we mean a </a:t>
            </a:r>
            <a:r>
              <a:rPr lang="en-US" sz="4000" dirty="0"/>
              <a:t>single transistor with its bias and auxiliary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/>
              <a:t>	 equipment. It may be emphasised here that a 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/>
              <a:t>	practical amplifier is always a multistage amplifier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/>
              <a:t> 	</a:t>
            </a:r>
            <a:r>
              <a:rPr lang="en-US" sz="4000" i="1" dirty="0"/>
              <a:t>i.e. it has a number of stages of amplification. </a:t>
            </a:r>
          </a:p>
          <a:p>
            <a:pPr>
              <a:lnSpc>
                <a:spcPct val="120000"/>
              </a:lnSpc>
              <a:buNone/>
            </a:pPr>
            <a:r>
              <a:rPr lang="en-US" sz="4000" i="1" dirty="0"/>
              <a:t>	However, it </a:t>
            </a:r>
            <a:r>
              <a:rPr lang="en-US" sz="4000" dirty="0"/>
              <a:t>is profitable to consider the multistage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/>
              <a:t>	 amplifier in terms of single stages that are connected together. In this chapter, we shall confine our attention to 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/>
              <a:t>	single stage transistor amplifiers.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/>
              <a:t>		             In Another 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5344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 Single Stage Transistor Amplifier</a:t>
            </a:r>
          </a:p>
          <a:p>
            <a:pPr>
              <a:buNone/>
            </a:pPr>
            <a:r>
              <a:rPr lang="en-US" sz="2400" i="1" dirty="0"/>
              <a:t>When only one transistor with associated circuitry is used for </a:t>
            </a:r>
          </a:p>
          <a:p>
            <a:pPr>
              <a:buNone/>
            </a:pPr>
            <a:r>
              <a:rPr lang="en-US" sz="2400" i="1" dirty="0"/>
              <a:t>amplifying a weak signal, the circuit is known as </a:t>
            </a:r>
            <a:r>
              <a:rPr lang="en-US" sz="2400" b="1" i="1" dirty="0"/>
              <a:t>single stage </a:t>
            </a:r>
          </a:p>
          <a:p>
            <a:pPr>
              <a:buNone/>
            </a:pPr>
            <a:r>
              <a:rPr lang="en-US" sz="2400" b="1" i="1" dirty="0"/>
              <a:t>transistor </a:t>
            </a:r>
            <a:r>
              <a:rPr lang="en-US" sz="2400" b="1" dirty="0"/>
              <a:t>amplifier.</a:t>
            </a:r>
            <a:r>
              <a:rPr lang="en-US" sz="2400" dirty="0"/>
              <a:t> A single stage transistor amplifier has one </a:t>
            </a:r>
          </a:p>
          <a:p>
            <a:pPr>
              <a:buNone/>
            </a:pPr>
            <a:r>
              <a:rPr lang="en-US" sz="2400" dirty="0"/>
              <a:t>transistor, bias circuit and other auxiliary components. Although</a:t>
            </a:r>
          </a:p>
          <a:p>
            <a:pPr>
              <a:buNone/>
            </a:pPr>
            <a:r>
              <a:rPr lang="en-US" sz="2400" dirty="0"/>
              <a:t> a practical amplifier consists of a number of stages, yet such a</a:t>
            </a:r>
          </a:p>
          <a:p>
            <a:pPr>
              <a:buNone/>
            </a:pPr>
            <a:r>
              <a:rPr lang="en-US" sz="2400" dirty="0"/>
              <a:t> complex circuit can be conveniently split up into separate single </a:t>
            </a:r>
          </a:p>
          <a:p>
            <a:pPr>
              <a:buNone/>
            </a:pPr>
            <a:r>
              <a:rPr lang="en-US" sz="2400" dirty="0"/>
              <a:t>stage by analysing carefully only a single stage and using this single</a:t>
            </a:r>
          </a:p>
          <a:p>
            <a:pPr>
              <a:buNone/>
            </a:pPr>
            <a:r>
              <a:rPr lang="en-US" sz="2400" dirty="0"/>
              <a:t> stage analysis repeatedly, we can effectively analyse the complex circuit. It follows, therefore, that single stage amplifier analysis is of great value in understanding the</a:t>
            </a:r>
          </a:p>
          <a:p>
            <a:pPr>
              <a:buNone/>
            </a:pPr>
            <a:r>
              <a:rPr lang="en-US" sz="2400" dirty="0"/>
              <a:t>    practical amplifier circuits.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4676775"/>
            <a:ext cx="22860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600" b="1" dirty="0">
                <a:solidFill>
                  <a:srgbClr val="FF0000"/>
                </a:solidFill>
              </a:rPr>
              <a:t>                   How single stage transistor amplifier works?</a:t>
            </a:r>
          </a:p>
          <a:p>
            <a:pPr>
              <a:buNone/>
            </a:pPr>
            <a:r>
              <a:rPr lang="en-US" sz="2600" dirty="0"/>
              <a:t>Fig. 10.1 shows a single stage transistor amplifier. When a weak </a:t>
            </a:r>
            <a:r>
              <a:rPr lang="en-US" sz="2600" dirty="0" err="1"/>
              <a:t>a.c</a:t>
            </a:r>
            <a:r>
              <a:rPr lang="en-US" sz="2600" dirty="0"/>
              <a:t>. signal is given to the base of transistor, a small base current (which is </a:t>
            </a:r>
            <a:r>
              <a:rPr lang="en-US" sz="2600" dirty="0" err="1"/>
              <a:t>a.c</a:t>
            </a:r>
            <a:r>
              <a:rPr lang="en-US" sz="2600" dirty="0"/>
              <a:t>.) starts flowing. Due to transistor action, a much larger (β X </a:t>
            </a:r>
            <a:r>
              <a:rPr lang="en-US" sz="2600" dirty="0" err="1"/>
              <a:t>ib</a:t>
            </a:r>
            <a:r>
              <a:rPr lang="en-US" sz="2600" dirty="0"/>
              <a:t> = </a:t>
            </a:r>
            <a:r>
              <a:rPr lang="en-US" sz="2600" dirty="0" err="1"/>
              <a:t>Ic</a:t>
            </a:r>
            <a:r>
              <a:rPr lang="en-US" sz="2600" dirty="0"/>
              <a:t>) </a:t>
            </a:r>
            <a:r>
              <a:rPr lang="en-US" sz="2600" dirty="0" err="1"/>
              <a:t>a.c</a:t>
            </a:r>
            <a:r>
              <a:rPr lang="en-US" sz="2600" dirty="0"/>
              <a:t>. current flows through the collector load </a:t>
            </a:r>
            <a:r>
              <a:rPr lang="en-US" sz="2600" i="1" dirty="0"/>
              <a:t>RC. As the value of RC is quite</a:t>
            </a:r>
          </a:p>
          <a:p>
            <a:pPr>
              <a:buNone/>
            </a:pPr>
            <a:r>
              <a:rPr lang="en-US" sz="2600" dirty="0"/>
              <a:t>high (usually 4-10 </a:t>
            </a:r>
            <a:r>
              <a:rPr lang="en-US" sz="2600" dirty="0" err="1"/>
              <a:t>kΩ</a:t>
            </a:r>
            <a:r>
              <a:rPr lang="en-US" sz="2600" dirty="0"/>
              <a:t>), therefore, a large voltage appears across </a:t>
            </a:r>
            <a:r>
              <a:rPr lang="en-US" sz="2600" i="1" dirty="0"/>
              <a:t>RC. Thus, a weak signal applied in </a:t>
            </a:r>
            <a:r>
              <a:rPr lang="en-US" sz="2600" dirty="0"/>
              <a:t>the base circuit appears in amplified form in the collector circuit. It is in this way that a transistor acts as an amplifier. The action of transistor amplifier can be beautifully explained by referring to Fig. 10.1. Suppose a change of 0.1V in signal voltage produces a change of 2 </a:t>
            </a:r>
            <a:r>
              <a:rPr lang="en-US" sz="2600" dirty="0" err="1"/>
              <a:t>mA</a:t>
            </a:r>
            <a:r>
              <a:rPr lang="en-US" sz="2600" dirty="0"/>
              <a:t> in the collector current. Obviously, a signal of only </a:t>
            </a:r>
            <a:r>
              <a:rPr lang="en-US" sz="2600" dirty="0">
                <a:solidFill>
                  <a:srgbClr val="FF0000"/>
                </a:solidFill>
              </a:rPr>
              <a:t>0.1V</a:t>
            </a:r>
            <a:r>
              <a:rPr lang="en-US" sz="2600" dirty="0"/>
              <a:t> applied to the base will give an output voltage </a:t>
            </a:r>
          </a:p>
          <a:p>
            <a:pPr>
              <a:buNone/>
            </a:pPr>
            <a:r>
              <a:rPr lang="en-US" sz="2600" dirty="0"/>
              <a:t>= 2 </a:t>
            </a:r>
            <a:r>
              <a:rPr lang="en-US" sz="2600" dirty="0" err="1"/>
              <a:t>mA</a:t>
            </a:r>
            <a:r>
              <a:rPr lang="en-US" sz="2600" dirty="0"/>
              <a:t> × 5 </a:t>
            </a:r>
            <a:r>
              <a:rPr lang="en-US" sz="2600" dirty="0" err="1"/>
              <a:t>kΩ</a:t>
            </a:r>
            <a:r>
              <a:rPr lang="en-US" sz="2600" dirty="0"/>
              <a:t> = </a:t>
            </a:r>
            <a:r>
              <a:rPr lang="en-US" sz="2600" dirty="0">
                <a:solidFill>
                  <a:srgbClr val="FF0000"/>
                </a:solidFill>
              </a:rPr>
              <a:t>10V. </a:t>
            </a:r>
            <a:r>
              <a:rPr lang="en-US" sz="2600" dirty="0"/>
              <a:t>Thus, the transistor has been able to raise the voltage level of the signal from 0.1V to 10V </a:t>
            </a:r>
            <a:r>
              <a:rPr lang="en-US" sz="2600" i="1" dirty="0"/>
              <a:t>i.e. voltage amplification </a:t>
            </a:r>
            <a:r>
              <a:rPr lang="en-US" sz="2600" dirty="0"/>
              <a:t>or stage gain is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Graphical Demonstration of Transistor Amplifier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8382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Practical Circuit of Transistor Amplifier</a:t>
            </a:r>
          </a:p>
          <a:p>
            <a:pPr>
              <a:buNone/>
            </a:pPr>
            <a:r>
              <a:rPr lang="en-US" sz="2400" dirty="0"/>
              <a:t>It is important to note that a transistor can accomplish faithful amplification only if proper associated circuitry is used with it. Fig. 10.3 shows a practical single stage transistor amplifier. The various circuit elements and their functions are described below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819400"/>
            <a:ext cx="6400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477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 err="1">
                <a:solidFill>
                  <a:srgbClr val="FF0000"/>
                </a:solidFill>
              </a:rPr>
              <a:t>i</a:t>
            </a:r>
            <a:r>
              <a:rPr lang="en-US" sz="2400" b="1" i="1" dirty="0">
                <a:solidFill>
                  <a:srgbClr val="FF0000"/>
                </a:solidFill>
              </a:rPr>
              <a:t>) Biasing circuit</a:t>
            </a:r>
            <a:r>
              <a:rPr lang="en-US" sz="2400" b="1" i="1" dirty="0"/>
              <a:t>. </a:t>
            </a:r>
            <a:r>
              <a:rPr lang="en-US" sz="2400" dirty="0"/>
              <a:t>The resistances R1, R2 and RE form 			the biasing and stabilization circuit.</a:t>
            </a:r>
          </a:p>
          <a:p>
            <a:pPr>
              <a:buNone/>
            </a:pPr>
            <a:r>
              <a:rPr lang="en-US" sz="2400" dirty="0"/>
              <a:t>The biasing circuit must establish a proper operating point otherwise a part of the negative half-cycle of the signal may be cut off in the output.</a:t>
            </a: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ii) Input capacitor </a:t>
            </a:r>
            <a:r>
              <a:rPr lang="en-US" sz="2400" b="1" i="1" dirty="0" err="1">
                <a:solidFill>
                  <a:srgbClr val="FF0000"/>
                </a:solidFill>
              </a:rPr>
              <a:t>Cin</a:t>
            </a:r>
            <a:r>
              <a:rPr lang="en-US" sz="2400" b="1" i="1" dirty="0"/>
              <a:t>. </a:t>
            </a:r>
            <a:r>
              <a:rPr lang="en-US" sz="2400" dirty="0"/>
              <a:t>An electrolytic capacitor </a:t>
            </a:r>
            <a:r>
              <a:rPr lang="en-US" sz="2400" dirty="0" err="1"/>
              <a:t>Cin</a:t>
            </a: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				(=</a:t>
            </a:r>
            <a:r>
              <a:rPr lang="en-US" sz="2400" dirty="0">
                <a:latin typeface="Times New Roman"/>
                <a:cs typeface="Times New Roman"/>
              </a:rPr>
              <a:t>1</a:t>
            </a:r>
            <a:r>
              <a:rPr lang="en-US" sz="2400" dirty="0"/>
              <a:t>0 </a:t>
            </a:r>
            <a:r>
              <a:rPr lang="en-US" sz="2400" dirty="0" err="1"/>
              <a:t>μF</a:t>
            </a:r>
            <a:r>
              <a:rPr lang="en-US" sz="2400" dirty="0"/>
              <a:t> ) is used to couple the signal to the base of the transistor. If it is not used, the </a:t>
            </a:r>
            <a:r>
              <a:rPr lang="en-US" sz="2400" dirty="0">
                <a:solidFill>
                  <a:srgbClr val="FF0000"/>
                </a:solidFill>
              </a:rPr>
              <a:t>signal source resistance</a:t>
            </a:r>
            <a:r>
              <a:rPr lang="en-US" sz="2400" dirty="0"/>
              <a:t> will come across </a:t>
            </a:r>
            <a:r>
              <a:rPr lang="en-US" sz="2400" i="1" dirty="0"/>
              <a:t>R2 and thus </a:t>
            </a:r>
            <a:r>
              <a:rPr lang="en-US" sz="2400" dirty="0"/>
              <a:t>change the bias. The capacitor </a:t>
            </a:r>
            <a:r>
              <a:rPr lang="en-US" sz="2400" i="1" dirty="0" err="1"/>
              <a:t>Cin</a:t>
            </a:r>
            <a:r>
              <a:rPr lang="en-US" sz="2400" i="1" dirty="0"/>
              <a:t> allows only </a:t>
            </a:r>
            <a:r>
              <a:rPr lang="en-US" sz="2400" i="1" dirty="0" err="1"/>
              <a:t>a.c</a:t>
            </a:r>
            <a:r>
              <a:rPr lang="en-US" sz="2400" i="1" dirty="0"/>
              <a:t>. signal to flow but isolates the signal source from R2.*</a:t>
            </a:r>
            <a:r>
              <a:rPr lang="en-US" sz="2400" b="1" i="1" dirty="0"/>
              <a:t> </a:t>
            </a:r>
          </a:p>
          <a:p>
            <a:pPr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iii) Emitter bypass capacitor CE</a:t>
            </a:r>
            <a:r>
              <a:rPr lang="en-US" sz="2400" dirty="0"/>
              <a:t>. An emitter bypass capacitor CE (=100μF ) is used in parallel with </a:t>
            </a:r>
            <a:r>
              <a:rPr lang="en-US" sz="2400" i="1" dirty="0">
                <a:solidFill>
                  <a:srgbClr val="FF0000"/>
                </a:solidFill>
              </a:rPr>
              <a:t>RE to provide a low </a:t>
            </a:r>
            <a:r>
              <a:rPr lang="en-US" sz="2400" i="1" dirty="0"/>
              <a:t>reactance path to the amplified </a:t>
            </a:r>
            <a:r>
              <a:rPr lang="en-US" sz="2400" i="1" dirty="0" err="1"/>
              <a:t>a.c</a:t>
            </a:r>
            <a:r>
              <a:rPr lang="en-US" sz="2400" i="1" dirty="0"/>
              <a:t>. signal. If it is not used, then amplified </a:t>
            </a:r>
            <a:r>
              <a:rPr lang="en-US" sz="2400" dirty="0" err="1"/>
              <a:t>a.c</a:t>
            </a:r>
            <a:r>
              <a:rPr lang="en-US" sz="2400" dirty="0"/>
              <a:t>. signal flowing through </a:t>
            </a:r>
            <a:r>
              <a:rPr lang="en-US" sz="2400" i="1" dirty="0"/>
              <a:t>RE will cause a voltage drop across it, thereby reducing the output voltage.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324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(</a:t>
            </a:r>
            <a:r>
              <a:rPr lang="en-US" b="1" i="1" dirty="0">
                <a:solidFill>
                  <a:srgbClr val="FF0000"/>
                </a:solidFill>
              </a:rPr>
              <a:t>iv) Coupling capacitor CC. </a:t>
            </a:r>
            <a:r>
              <a:rPr lang="en-US" dirty="0"/>
              <a:t>The coupling capacitor CC (=10μF) couples one stage of amplification to the next stage. </a:t>
            </a:r>
          </a:p>
          <a:p>
            <a:pPr>
              <a:buNone/>
            </a:pPr>
            <a:r>
              <a:rPr lang="en-US" dirty="0"/>
              <a:t> *It may be noted that a capacitor offers infinite reactance to </a:t>
            </a:r>
            <a:r>
              <a:rPr lang="en-US" dirty="0" err="1"/>
              <a:t>d.c</a:t>
            </a:r>
            <a:r>
              <a:rPr lang="en-US" dirty="0"/>
              <a:t>. and blocks it completely whereas it allows </a:t>
            </a:r>
            <a:r>
              <a:rPr lang="en-US" dirty="0" err="1"/>
              <a:t>a.c</a:t>
            </a:r>
            <a:r>
              <a:rPr lang="en-US" dirty="0"/>
              <a:t>. to pass through it</a:t>
            </a:r>
            <a:r>
              <a:rPr lang="en-US" dirty="0">
                <a:latin typeface="Times New Roman"/>
                <a:cs typeface="Times New Roman"/>
              </a:rPr>
              <a:t>*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If it is not used, the bias conditions of the next stage will be drastically changed due to the shunting effect of </a:t>
            </a:r>
            <a:r>
              <a:rPr lang="en-US" i="1" dirty="0"/>
              <a:t>RC. This is because RC will come in parallel with the upper </a:t>
            </a:r>
            <a:r>
              <a:rPr lang="en-US" dirty="0"/>
              <a:t>resistance </a:t>
            </a:r>
            <a:r>
              <a:rPr lang="en-US" i="1" dirty="0"/>
              <a:t>R1 of the biasing network of the next stage, thereby altering the biasing conditions of the </a:t>
            </a:r>
            <a:r>
              <a:rPr lang="en-US" dirty="0"/>
              <a:t>latter. In short, the coupling capacitor </a:t>
            </a:r>
            <a:r>
              <a:rPr lang="en-US" i="1" dirty="0"/>
              <a:t>CC isolates the </a:t>
            </a:r>
            <a:r>
              <a:rPr lang="en-US" i="1" dirty="0" err="1"/>
              <a:t>d.c</a:t>
            </a:r>
            <a:r>
              <a:rPr lang="en-US" i="1" dirty="0"/>
              <a:t>. of one stage from the next stage, but allows </a:t>
            </a:r>
            <a:r>
              <a:rPr lang="en-US" dirty="0"/>
              <a:t>the passage of </a:t>
            </a:r>
            <a:r>
              <a:rPr lang="en-US" dirty="0" err="1"/>
              <a:t>a.c</a:t>
            </a:r>
            <a:r>
              <a:rPr lang="en-US" dirty="0"/>
              <a:t>.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8991599" cy="6248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			 Phase Reversal</a:t>
            </a:r>
          </a:p>
          <a:p>
            <a:pPr>
              <a:buNone/>
            </a:pPr>
            <a:r>
              <a:rPr lang="en-US" dirty="0"/>
              <a:t>In common emitter connection, when the input signal voltage increases in the positive sense, the output voltage increases in the negative direction and </a:t>
            </a:r>
            <a:r>
              <a:rPr lang="en-US" i="1" dirty="0"/>
              <a:t>vice-versa. In other words, there is a phase </a:t>
            </a:r>
            <a:r>
              <a:rPr lang="en-US" dirty="0"/>
              <a:t>difference of 180° between the input and output voltage in </a:t>
            </a:r>
            <a:r>
              <a:rPr lang="en-US" i="1" dirty="0"/>
              <a:t>CE connection. This is called phase </a:t>
            </a:r>
            <a:r>
              <a:rPr lang="en-US" dirty="0"/>
              <a:t>reversal.*</a:t>
            </a:r>
          </a:p>
          <a:p>
            <a:pPr>
              <a:buNone/>
            </a:pPr>
            <a:r>
              <a:rPr lang="en-US" i="1" dirty="0"/>
              <a:t>The phase difference of 180° between the signal voltage and output voltage in a common emitter</a:t>
            </a:r>
          </a:p>
          <a:p>
            <a:pPr>
              <a:buNone/>
            </a:pPr>
            <a:r>
              <a:rPr lang="en-US" i="1" dirty="0"/>
              <a:t>amplifier is known as </a:t>
            </a:r>
            <a:r>
              <a:rPr lang="en-US" b="1" i="1" dirty="0"/>
              <a:t>phase reversal.</a:t>
            </a:r>
          </a:p>
          <a:p>
            <a:pPr>
              <a:buNone/>
            </a:pPr>
            <a:r>
              <a:rPr lang="en-US" dirty="0"/>
              <a:t>Consider a common emitter amplifier circuit shown in </a:t>
            </a:r>
          </a:p>
          <a:p>
            <a:pPr>
              <a:buNone/>
            </a:pPr>
            <a:r>
              <a:rPr lang="en-US" dirty="0"/>
              <a:t>Fig. 10.5. The signal is fed at the input terminals (</a:t>
            </a:r>
            <a:r>
              <a:rPr lang="en-US" i="1" dirty="0"/>
              <a:t>i.e. between base and emitter) and output is taken from collector and emitter end of supply.</a:t>
            </a:r>
          </a:p>
          <a:p>
            <a:pPr>
              <a:buNone/>
            </a:pPr>
            <a:r>
              <a:rPr lang="en-US" dirty="0"/>
              <a:t>The total instantaneous output voltage </a:t>
            </a:r>
            <a:r>
              <a:rPr lang="en-US" i="1" dirty="0" err="1"/>
              <a:t>vCE</a:t>
            </a:r>
            <a:r>
              <a:rPr lang="en-US" i="1" dirty="0"/>
              <a:t> is given by 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5791200"/>
            <a:ext cx="3505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447800"/>
            <a:ext cx="3581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28600" y="304800"/>
            <a:ext cx="495300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When the signal voltage increases in the positive half-cycle, the base current also increases. The result is that collector current and hence voltage drop </a:t>
            </a:r>
            <a:r>
              <a:rPr lang="en-US" sz="2300" i="1" dirty="0" err="1"/>
              <a:t>iC</a:t>
            </a:r>
            <a:r>
              <a:rPr lang="en-US" sz="2300" i="1" dirty="0"/>
              <a:t> RC increases. As VCC is constant, therefore, </a:t>
            </a:r>
            <a:r>
              <a:rPr lang="en-US" sz="2300" dirty="0"/>
              <a:t>output voltage </a:t>
            </a:r>
            <a:r>
              <a:rPr lang="en-US" sz="2300" i="1" dirty="0" err="1"/>
              <a:t>vCE</a:t>
            </a:r>
            <a:r>
              <a:rPr lang="en-US" sz="2300" i="1" dirty="0"/>
              <a:t> decreases. In other words, as the signal voltage is increasing in the positive half cycle, </a:t>
            </a:r>
            <a:r>
              <a:rPr lang="en-US" sz="2300" dirty="0"/>
              <a:t>the output voltage is increasing in the negative sense </a:t>
            </a:r>
            <a:r>
              <a:rPr lang="en-US" sz="2300" i="1" dirty="0"/>
              <a:t>i.e. output is 180° out of phase with the </a:t>
            </a:r>
            <a:r>
              <a:rPr lang="en-US" sz="2300" dirty="0"/>
              <a:t>input. It follows, therefore, that in a common emitter amplifier, the positive half-cycle of the signal appears as amplified negative half-cycle in the output and </a:t>
            </a:r>
            <a:r>
              <a:rPr lang="en-US" sz="2300" i="1" dirty="0"/>
              <a:t>vice-versa. It may be noted that amplification </a:t>
            </a:r>
            <a:r>
              <a:rPr lang="en-US" sz="2300" dirty="0"/>
              <a:t>is not affected by this phase reversal.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4114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fact of phase reversal can be readily proved mathematically. Thus differentiating exp. (</a:t>
            </a:r>
            <a:r>
              <a:rPr lang="en-US" i="1" dirty="0" err="1"/>
              <a:t>i</a:t>
            </a:r>
            <a:r>
              <a:rPr lang="en-US" i="1" dirty="0"/>
              <a:t>),</a:t>
            </a:r>
            <a:r>
              <a:rPr lang="en-US" dirty="0"/>
              <a:t>we get,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9400" y="5105400"/>
            <a:ext cx="21336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953000" y="5638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negative sign shows that output</a:t>
            </a:r>
          </a:p>
          <a:p>
            <a:r>
              <a:rPr lang="en-US" dirty="0"/>
              <a:t>voltage is 180° out of phase with</a:t>
            </a:r>
          </a:p>
          <a:p>
            <a:r>
              <a:rPr lang="en-US" dirty="0"/>
              <a:t>the input signal voltage.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609600"/>
          </a:xfrm>
        </p:spPr>
        <p:txBody>
          <a:bodyPr/>
          <a:lstStyle/>
          <a:p>
            <a:pPr eaLnBrk="1" hangingPunct="1"/>
            <a:r>
              <a:rPr lang="en-US" sz="2800" dirty="0"/>
              <a:t>D C Equivalent for the BJT Amplifier 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724400"/>
            <a:ext cx="8001000" cy="1143000"/>
          </a:xfrm>
        </p:spPr>
        <p:txBody>
          <a:bodyPr/>
          <a:lstStyle/>
          <a:p>
            <a:pPr eaLnBrk="1" hangingPunct="1"/>
            <a:r>
              <a:rPr lang="en-US" sz="2000" dirty="0"/>
              <a:t>All capacitors in the original amplifier circuit are replaced by open circuits, disconnecting </a:t>
            </a:r>
            <a:r>
              <a:rPr lang="en-US" sz="2000" i="1" dirty="0" err="1"/>
              <a:t>v</a:t>
            </a:r>
            <a:r>
              <a:rPr lang="en-US" sz="2000" i="1" baseline="-25000" dirty="0" err="1"/>
              <a:t>I</a:t>
            </a:r>
            <a:r>
              <a:rPr lang="en-US" sz="2000" dirty="0"/>
              <a:t>, </a:t>
            </a:r>
            <a:r>
              <a:rPr lang="en-US" sz="2000" i="1" dirty="0"/>
              <a:t>R</a:t>
            </a:r>
            <a:r>
              <a:rPr lang="en-US" sz="2000" i="1" baseline="-25000" dirty="0"/>
              <a:t>I</a:t>
            </a:r>
            <a:r>
              <a:rPr lang="en-US" sz="2000" dirty="0"/>
              <a:t>, and </a:t>
            </a:r>
            <a:r>
              <a:rPr lang="en-US" sz="2000" i="1" dirty="0"/>
              <a:t>R</a:t>
            </a:r>
            <a:r>
              <a:rPr lang="en-US" sz="2000" baseline="-25000" dirty="0"/>
              <a:t>3</a:t>
            </a:r>
            <a:r>
              <a:rPr lang="en-US" sz="2000" dirty="0"/>
              <a:t> from the circuit and leaving </a:t>
            </a:r>
            <a:r>
              <a:rPr lang="en-US" sz="2000" i="1" dirty="0"/>
              <a:t>R</a:t>
            </a:r>
            <a:r>
              <a:rPr lang="en-US" sz="2000" i="1" baseline="-25000" dirty="0"/>
              <a:t>E</a:t>
            </a:r>
            <a:r>
              <a:rPr lang="en-US" sz="2000" dirty="0"/>
              <a:t> intact.  The </a:t>
            </a:r>
            <a:r>
              <a:rPr lang="en-US" sz="2000" dirty="0" err="1"/>
              <a:t>the</a:t>
            </a:r>
            <a:r>
              <a:rPr lang="en-US" sz="2000" dirty="0"/>
              <a:t> transistor </a:t>
            </a:r>
            <a:r>
              <a:rPr lang="en-US" sz="2000" i="1" dirty="0"/>
              <a:t>Q</a:t>
            </a:r>
            <a:r>
              <a:rPr lang="en-US" sz="2000" dirty="0"/>
              <a:t> will be replaced by its DC model.</a:t>
            </a:r>
          </a:p>
        </p:txBody>
      </p:sp>
      <p:pic>
        <p:nvPicPr>
          <p:cNvPr id="99332" name="Picture 4" descr="jae20990_1308ab"/>
          <p:cNvPicPr>
            <a:picLocks noChangeAspect="1" noChangeArrowheads="1"/>
          </p:cNvPicPr>
          <p:nvPr/>
        </p:nvPicPr>
        <p:blipFill>
          <a:blip r:embed="rId2"/>
          <a:srcRect t="6018" b="5788"/>
          <a:stretch>
            <a:fillRect/>
          </a:stretch>
        </p:blipFill>
        <p:spPr bwMode="auto">
          <a:xfrm>
            <a:off x="533400" y="1600200"/>
            <a:ext cx="8001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6400" y="4343400"/>
            <a:ext cx="2241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sz="1800" b="0" dirty="0">
                <a:latin typeface="Times New Roman" pitchFamily="18" charset="0"/>
              </a:rPr>
              <a:t>DC Equivalent Circuit</a:t>
            </a:r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i="1" dirty="0"/>
              <a:t> 			</a:t>
            </a:r>
            <a:r>
              <a:rPr lang="en-US" dirty="0"/>
              <a:t>A.C. equivalent circuit</a:t>
            </a:r>
            <a:r>
              <a:rPr lang="en-US" b="1" i="1" dirty="0"/>
              <a:t>. </a:t>
            </a:r>
          </a:p>
          <a:p>
            <a:pPr>
              <a:buNone/>
            </a:pPr>
            <a:r>
              <a:rPr lang="en-US" i="1" dirty="0"/>
              <a:t>In the </a:t>
            </a:r>
            <a:r>
              <a:rPr lang="en-US" i="1" dirty="0" err="1"/>
              <a:t>a.c</a:t>
            </a:r>
            <a:r>
              <a:rPr lang="en-US" i="1" dirty="0"/>
              <a:t>. equivalent circuit of a </a:t>
            </a:r>
            <a:r>
              <a:rPr lang="en-US" dirty="0"/>
              <a:t>transistor amplifier, only </a:t>
            </a:r>
            <a:r>
              <a:rPr lang="en-US" dirty="0" err="1"/>
              <a:t>a.c</a:t>
            </a:r>
            <a:r>
              <a:rPr lang="en-US" dirty="0"/>
              <a:t>. conditions are to be considered. Obviously, the </a:t>
            </a:r>
            <a:r>
              <a:rPr lang="en-US" dirty="0" err="1"/>
              <a:t>d.c</a:t>
            </a:r>
            <a:r>
              <a:rPr lang="en-US" dirty="0"/>
              <a:t>. voltage is not important for such a circuit and may be considered zero. The capacitors are generally used to couple or bypass the </a:t>
            </a:r>
            <a:r>
              <a:rPr lang="en-US" dirty="0" err="1"/>
              <a:t>a.c</a:t>
            </a:r>
            <a:r>
              <a:rPr lang="en-US" dirty="0"/>
              <a:t>. signal. The designer intentionally selects capacitors that are large enough to appear as </a:t>
            </a:r>
            <a:r>
              <a:rPr lang="en-US" i="1" dirty="0"/>
              <a:t>short circuits to the </a:t>
            </a:r>
            <a:r>
              <a:rPr lang="en-US" i="1" dirty="0" err="1"/>
              <a:t>a.c</a:t>
            </a:r>
            <a:r>
              <a:rPr lang="en-US" i="1" dirty="0"/>
              <a:t>. signal.</a:t>
            </a:r>
            <a:r>
              <a:rPr lang="en-US" dirty="0"/>
              <a:t> in order to draw the </a:t>
            </a:r>
            <a:r>
              <a:rPr lang="en-US" dirty="0" err="1"/>
              <a:t>a.c</a:t>
            </a:r>
            <a:r>
              <a:rPr lang="en-US" dirty="0"/>
              <a:t>. equivalent circuit, the following two steps are applied to the transistor circuit 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a) Reduce all </a:t>
            </a:r>
            <a:r>
              <a:rPr lang="en-US" i="1" dirty="0" err="1">
                <a:solidFill>
                  <a:srgbClr val="FF0000"/>
                </a:solidFill>
              </a:rPr>
              <a:t>d.c</a:t>
            </a:r>
            <a:r>
              <a:rPr lang="en-US" i="1" dirty="0">
                <a:solidFill>
                  <a:srgbClr val="FF0000"/>
                </a:solidFill>
              </a:rPr>
              <a:t>. sources to zero (i.e. VCC = 0).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b) Short all the capacitors.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 sz="2800" dirty="0"/>
              <a:t>A C Equivalent for the BJT Amplifier </a:t>
            </a:r>
          </a:p>
        </p:txBody>
      </p:sp>
      <p:pic>
        <p:nvPicPr>
          <p:cNvPr id="100355" name="Picture 3" descr="jae20990_1308cd"/>
          <p:cNvPicPr>
            <a:picLocks noChangeAspect="1" noChangeArrowheads="1"/>
          </p:cNvPicPr>
          <p:nvPr/>
        </p:nvPicPr>
        <p:blipFill>
          <a:blip r:embed="rId2"/>
          <a:srcRect t="5228" b="7603"/>
          <a:stretch>
            <a:fillRect/>
          </a:stretch>
        </p:blipFill>
        <p:spPr bwMode="auto">
          <a:xfrm>
            <a:off x="685800" y="990600"/>
            <a:ext cx="76200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050925" y="4281488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 sz="20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457200" y="5029200"/>
            <a:ext cx="8534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Font typeface="Times" pitchFamily="18" charset="0"/>
              <a:buChar char="•"/>
            </a:pPr>
            <a:r>
              <a:rPr lang="en-US" sz="2000" b="0" dirty="0">
                <a:latin typeface="Times New Roman" pitchFamily="18" charset="0"/>
              </a:rPr>
              <a:t> Coupling capacitor C</a:t>
            </a:r>
            <a:r>
              <a:rPr lang="en-US" sz="2000" b="0" baseline="-25000" dirty="0">
                <a:latin typeface="Times New Roman" pitchFamily="18" charset="0"/>
              </a:rPr>
              <a:t>C</a:t>
            </a:r>
            <a:r>
              <a:rPr lang="en-US" sz="2000" b="0" dirty="0">
                <a:latin typeface="Times New Roman" pitchFamily="18" charset="0"/>
              </a:rPr>
              <a:t> and Emitter bypass capacitor C</a:t>
            </a:r>
            <a:r>
              <a:rPr lang="en-US" sz="2000" b="0" baseline="-25000" dirty="0">
                <a:latin typeface="Times New Roman" pitchFamily="18" charset="0"/>
              </a:rPr>
              <a:t>E</a:t>
            </a:r>
            <a:r>
              <a:rPr lang="en-US" sz="2000" b="0" dirty="0">
                <a:latin typeface="Times New Roman" pitchFamily="18" charset="0"/>
              </a:rPr>
              <a:t> are replaced by short circuits.  </a:t>
            </a:r>
          </a:p>
          <a:p>
            <a:pPr algn="l" eaLnBrk="0" hangingPunct="0">
              <a:spcBef>
                <a:spcPct val="0"/>
              </a:spcBef>
              <a:buFont typeface="Times" pitchFamily="18" charset="0"/>
              <a:buChar char="•"/>
            </a:pPr>
            <a:r>
              <a:rPr lang="en-US" sz="2000" b="0" dirty="0">
                <a:latin typeface="Times New Roman" pitchFamily="18" charset="0"/>
              </a:rPr>
              <a:t> DC voltage supply is replaced with short circuits, which in this case is connected   to ground.</a:t>
            </a:r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5638800" y="2667000"/>
            <a:ext cx="762000" cy="1371600"/>
          </a:xfrm>
          <a:prstGeom prst="rect">
            <a:avLst/>
          </a:prstGeom>
          <a:noFill/>
          <a:ln w="19050">
            <a:solidFill>
              <a:srgbClr val="9900CC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359" name="Freeform 7"/>
          <p:cNvSpPr>
            <a:spLocks/>
          </p:cNvSpPr>
          <p:nvPr/>
        </p:nvSpPr>
        <p:spPr bwMode="auto">
          <a:xfrm>
            <a:off x="5410200" y="2159000"/>
            <a:ext cx="457200" cy="736600"/>
          </a:xfrm>
          <a:custGeom>
            <a:avLst/>
            <a:gdLst/>
            <a:ahLst/>
            <a:cxnLst>
              <a:cxn ang="0">
                <a:pos x="288" y="336"/>
              </a:cxn>
              <a:cxn ang="0">
                <a:pos x="192" y="432"/>
              </a:cxn>
              <a:cxn ang="0">
                <a:pos x="48" y="144"/>
              </a:cxn>
              <a:cxn ang="0">
                <a:pos x="0" y="0"/>
              </a:cxn>
            </a:cxnLst>
            <a:rect l="0" t="0" r="r" b="b"/>
            <a:pathLst>
              <a:path w="288" h="464">
                <a:moveTo>
                  <a:pt x="288" y="336"/>
                </a:moveTo>
                <a:cubicBezTo>
                  <a:pt x="260" y="400"/>
                  <a:pt x="232" y="464"/>
                  <a:pt x="192" y="432"/>
                </a:cubicBezTo>
                <a:cubicBezTo>
                  <a:pt x="152" y="400"/>
                  <a:pt x="80" y="216"/>
                  <a:pt x="48" y="144"/>
                </a:cubicBezTo>
                <a:cubicBezTo>
                  <a:pt x="16" y="72"/>
                  <a:pt x="8" y="36"/>
                  <a:pt x="0" y="0"/>
                </a:cubicBezTo>
              </a:path>
            </a:pathLst>
          </a:custGeom>
          <a:noFill/>
          <a:ln w="19050" cap="flat" cmpd="sng">
            <a:solidFill>
              <a:srgbClr val="9933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4953000" y="1600200"/>
            <a:ext cx="15240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1600" baseline="-2500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II</a:t>
            </a:r>
            <a:r>
              <a:rPr lang="en-US" sz="160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1600" baseline="-2500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=R</a:t>
            </a:r>
            <a:r>
              <a:rPr lang="en-US" baseline="-2500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00361" name="Freeform 9"/>
          <p:cNvSpPr>
            <a:spLocks/>
          </p:cNvSpPr>
          <p:nvPr/>
        </p:nvSpPr>
        <p:spPr bwMode="auto">
          <a:xfrm>
            <a:off x="4800600" y="3657600"/>
            <a:ext cx="609600" cy="762000"/>
          </a:xfrm>
          <a:custGeom>
            <a:avLst/>
            <a:gdLst/>
            <a:ahLst/>
            <a:cxnLst>
              <a:cxn ang="0">
                <a:pos x="336" y="0"/>
              </a:cxn>
              <a:cxn ang="0">
                <a:pos x="192" y="96"/>
              </a:cxn>
              <a:cxn ang="0">
                <a:pos x="0" y="480"/>
              </a:cxn>
            </a:cxnLst>
            <a:rect l="0" t="0" r="r" b="b"/>
            <a:pathLst>
              <a:path w="336" h="480">
                <a:moveTo>
                  <a:pt x="336" y="0"/>
                </a:moveTo>
                <a:cubicBezTo>
                  <a:pt x="292" y="8"/>
                  <a:pt x="248" y="16"/>
                  <a:pt x="192" y="96"/>
                </a:cubicBezTo>
                <a:cubicBezTo>
                  <a:pt x="136" y="176"/>
                  <a:pt x="32" y="416"/>
                  <a:pt x="0" y="480"/>
                </a:cubicBezTo>
              </a:path>
            </a:pathLst>
          </a:custGeom>
          <a:noFill/>
          <a:ln w="19050" cap="flat" cmpd="sng">
            <a:solidFill>
              <a:srgbClr val="9900CC"/>
            </a:solidFill>
            <a:prstDash val="solid"/>
            <a:round/>
            <a:headEnd type="triangle" w="lg" len="lg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362" name="Text Box 10"/>
          <p:cNvSpPr txBox="1">
            <a:spLocks noChangeArrowheads="1"/>
          </p:cNvSpPr>
          <p:nvPr/>
        </p:nvSpPr>
        <p:spPr bwMode="auto">
          <a:xfrm>
            <a:off x="4343400" y="4343400"/>
            <a:ext cx="762000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99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1800" baseline="-25000">
                <a:solidFill>
                  <a:srgbClr val="99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</a:t>
            </a:r>
          </a:p>
        </p:txBody>
      </p:sp>
      <p:sp>
        <p:nvSpPr>
          <p:cNvPr id="100363" name="Freeform 11"/>
          <p:cNvSpPr>
            <a:spLocks/>
          </p:cNvSpPr>
          <p:nvPr/>
        </p:nvSpPr>
        <p:spPr bwMode="auto">
          <a:xfrm>
            <a:off x="7620000" y="1981200"/>
            <a:ext cx="533400" cy="12954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96" y="384"/>
              </a:cxn>
              <a:cxn ang="0">
                <a:pos x="240" y="0"/>
              </a:cxn>
            </a:cxnLst>
            <a:rect l="0" t="0" r="r" b="b"/>
            <a:pathLst>
              <a:path w="240" h="456">
                <a:moveTo>
                  <a:pt x="0" y="432"/>
                </a:moveTo>
                <a:cubicBezTo>
                  <a:pt x="28" y="444"/>
                  <a:pt x="56" y="456"/>
                  <a:pt x="96" y="384"/>
                </a:cubicBezTo>
                <a:cubicBezTo>
                  <a:pt x="136" y="312"/>
                  <a:pt x="188" y="156"/>
                  <a:pt x="240" y="0"/>
                </a:cubicBezTo>
              </a:path>
            </a:pathLst>
          </a:custGeom>
          <a:noFill/>
          <a:ln w="19050" cap="flat" cmpd="sng">
            <a:solidFill>
              <a:srgbClr val="993300"/>
            </a:solidFill>
            <a:prstDash val="solid"/>
            <a:round/>
            <a:headEnd type="triangle" w="lg" len="lg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364" name="Text Box 12"/>
          <p:cNvSpPr txBox="1">
            <a:spLocks noChangeArrowheads="1"/>
          </p:cNvSpPr>
          <p:nvPr/>
        </p:nvSpPr>
        <p:spPr bwMode="auto">
          <a:xfrm>
            <a:off x="7696200" y="1524000"/>
            <a:ext cx="6858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99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baseline="-25000">
                <a:solidFill>
                  <a:srgbClr val="99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</a:p>
        </p:txBody>
      </p:sp>
      <p:sp>
        <p:nvSpPr>
          <p:cNvPr id="100379" name="AutoShape 27"/>
          <p:cNvSpPr>
            <a:spLocks noChangeArrowheads="1"/>
          </p:cNvSpPr>
          <p:nvPr/>
        </p:nvSpPr>
        <p:spPr bwMode="auto">
          <a:xfrm>
            <a:off x="4343400" y="28956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848600" cy="609600"/>
          </a:xfrm>
          <a:noFill/>
        </p:spPr>
        <p:txBody>
          <a:bodyPr lIns="0" rIns="0">
            <a:normAutofit fontScale="90000"/>
          </a:bodyPr>
          <a:lstStyle/>
          <a:p>
            <a:pPr eaLnBrk="1" hangingPunct="1"/>
            <a:r>
              <a:rPr lang="en-US" sz="2800" dirty="0">
                <a:latin typeface="Verdana" pitchFamily="34" charset="0"/>
              </a:rPr>
              <a:t>A C Equivalent for the BJT Amplifier (continued)</a:t>
            </a:r>
          </a:p>
        </p:txBody>
      </p:sp>
      <p:pic>
        <p:nvPicPr>
          <p:cNvPr id="101379" name="Picture 3" descr="jae20990_1308e"/>
          <p:cNvPicPr>
            <a:picLocks noChangeAspect="1" noChangeArrowheads="1"/>
          </p:cNvPicPr>
          <p:nvPr/>
        </p:nvPicPr>
        <p:blipFill>
          <a:blip r:embed="rId2"/>
          <a:srcRect t="3557" b="11067"/>
          <a:stretch>
            <a:fillRect/>
          </a:stretch>
        </p:blipFill>
        <p:spPr bwMode="auto">
          <a:xfrm>
            <a:off x="533400" y="1600200"/>
            <a:ext cx="4191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1380" name="Object 4"/>
          <p:cNvGraphicFramePr>
            <a:graphicFrameLocks noChangeAspect="1"/>
          </p:cNvGraphicFramePr>
          <p:nvPr/>
        </p:nvGraphicFramePr>
        <p:xfrm>
          <a:off x="4891088" y="2330450"/>
          <a:ext cx="3795712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1066680" progId="Equation.3">
                  <p:embed/>
                </p:oleObj>
              </mc:Choice>
              <mc:Fallback>
                <p:oleObj name="Equation" r:id="rId3" imgW="2806560" imgH="1066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1088" y="2330450"/>
                        <a:ext cx="3795712" cy="1360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533400" y="4267200"/>
            <a:ext cx="816467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Font typeface="Times" pitchFamily="18" charset="0"/>
              <a:buNone/>
            </a:pPr>
            <a:r>
              <a:rPr lang="en-US" sz="2000" b="0" dirty="0">
                <a:solidFill>
                  <a:srgbClr val="FF0000"/>
                </a:solidFill>
                <a:latin typeface="Times New Roman" pitchFamily="18" charset="0"/>
              </a:rPr>
              <a:t>   </a:t>
            </a:r>
            <a:r>
              <a:rPr lang="en-US" sz="2000" b="0" dirty="0">
                <a:latin typeface="Times New Roman" pitchFamily="18" charset="0"/>
              </a:rPr>
              <a:t>circuit above is constructed.   Here, the transistor will be replaced by its</a:t>
            </a:r>
          </a:p>
          <a:p>
            <a:pPr algn="l" eaLnBrk="0" hangingPunct="0">
              <a:spcBef>
                <a:spcPct val="0"/>
              </a:spcBef>
              <a:buFont typeface="Times" pitchFamily="18" charset="0"/>
              <a:buNone/>
            </a:pPr>
            <a:r>
              <a:rPr lang="en-US" sz="2000" b="0" dirty="0">
                <a:latin typeface="Times New Roman" pitchFamily="18" charset="0"/>
              </a:rPr>
              <a:t>   equivalent small-signal AC model (to be developed).</a:t>
            </a:r>
          </a:p>
          <a:p>
            <a:pPr algn="l" eaLnBrk="0" hangingPunct="0">
              <a:spcBef>
                <a:spcPct val="0"/>
              </a:spcBef>
              <a:buFont typeface="Times" pitchFamily="18" charset="0"/>
              <a:buChar char="•"/>
            </a:pPr>
            <a:r>
              <a:rPr lang="en-US" sz="2000" b="0" dirty="0">
                <a:latin typeface="Times New Roman" pitchFamily="18" charset="0"/>
              </a:rPr>
              <a:t>  By combining parallel resistors into equivalent </a:t>
            </a:r>
            <a:r>
              <a:rPr lang="en-US" sz="2000" b="0" i="1" dirty="0">
                <a:latin typeface="Times New Roman" pitchFamily="18" charset="0"/>
              </a:rPr>
              <a:t>R</a:t>
            </a:r>
            <a:r>
              <a:rPr lang="en-US" sz="2000" b="0" i="1" baseline="-25000" dirty="0">
                <a:latin typeface="Times New Roman" pitchFamily="18" charset="0"/>
              </a:rPr>
              <a:t>B</a:t>
            </a:r>
            <a:r>
              <a:rPr lang="en-US" sz="2000" b="0" i="1" dirty="0">
                <a:latin typeface="Times New Roman" pitchFamily="18" charset="0"/>
              </a:rPr>
              <a:t> </a:t>
            </a:r>
            <a:r>
              <a:rPr lang="en-US" sz="2000" b="0" dirty="0">
                <a:latin typeface="Times New Roman" pitchFamily="18" charset="0"/>
              </a:rPr>
              <a:t>and </a:t>
            </a:r>
            <a:r>
              <a:rPr lang="en-US" sz="2000" b="0" i="1" dirty="0">
                <a:latin typeface="Times New Roman" pitchFamily="18" charset="0"/>
              </a:rPr>
              <a:t>R</a:t>
            </a:r>
            <a:r>
              <a:rPr lang="en-US" sz="2000" b="0" dirty="0">
                <a:latin typeface="Times New Roman" pitchFamily="18" charset="0"/>
              </a:rPr>
              <a:t>, the equivalent AC</a:t>
            </a: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4696097" y="1447800"/>
            <a:ext cx="411480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All externally connected capacitors are assumed as short circuited elements for ac signal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1013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0"/>
            <a:ext cx="7391400" cy="42672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0"/>
            <a:ext cx="7924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676400" y="4572000"/>
            <a:ext cx="58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It may be seen that total current in any branch is the sum of </a:t>
            </a:r>
            <a:r>
              <a:rPr lang="en-US" i="1" dirty="0" err="1"/>
              <a:t>d.c</a:t>
            </a:r>
            <a:r>
              <a:rPr lang="en-US" i="1" dirty="0"/>
              <a:t>. and </a:t>
            </a:r>
            <a:r>
              <a:rPr lang="en-US" i="1" dirty="0" err="1"/>
              <a:t>a.c</a:t>
            </a:r>
            <a:r>
              <a:rPr lang="en-US" i="1" dirty="0"/>
              <a:t>. currents through that branch. Similarly, the total voltage across any branch is the sum of </a:t>
            </a:r>
            <a:r>
              <a:rPr lang="en-US" i="1" dirty="0" err="1"/>
              <a:t>d.c</a:t>
            </a:r>
            <a:r>
              <a:rPr lang="en-US" i="1" dirty="0"/>
              <a:t>. and </a:t>
            </a:r>
            <a:r>
              <a:rPr lang="en-US" i="1" dirty="0" err="1"/>
              <a:t>a.c</a:t>
            </a:r>
            <a:r>
              <a:rPr lang="en-US" i="1" dirty="0"/>
              <a:t>. voltages across that branch.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  Role of Capacitors in Transistor Amplifiers</a:t>
            </a:r>
          </a:p>
          <a:p>
            <a:pPr>
              <a:buNone/>
            </a:pPr>
            <a:r>
              <a:rPr lang="en-US" dirty="0"/>
              <a:t>Regardless of the manner in which a capacitor is connected in a transistor amplifier, its </a:t>
            </a:r>
            <a:r>
              <a:rPr lang="en-US" dirty="0" err="1"/>
              <a:t>behaviour</a:t>
            </a:r>
            <a:r>
              <a:rPr lang="en-US" dirty="0"/>
              <a:t> towards </a:t>
            </a:r>
            <a:r>
              <a:rPr lang="en-US" dirty="0" err="1"/>
              <a:t>d.c</a:t>
            </a:r>
            <a:r>
              <a:rPr lang="en-US" dirty="0"/>
              <a:t>. and </a:t>
            </a:r>
            <a:r>
              <a:rPr lang="en-US" dirty="0" err="1"/>
              <a:t>a.c</a:t>
            </a:r>
            <a:r>
              <a:rPr lang="en-US" dirty="0"/>
              <a:t>. is as follows. </a:t>
            </a:r>
            <a:r>
              <a:rPr lang="en-US" i="1" dirty="0"/>
              <a:t>A capacitor blocks </a:t>
            </a:r>
            <a:r>
              <a:rPr lang="en-US" i="1" dirty="0" err="1"/>
              <a:t>d.c</a:t>
            </a:r>
            <a:r>
              <a:rPr lang="en-US" i="1" dirty="0"/>
              <a:t>. i.e. a capacitor behaves as an “open**” to </a:t>
            </a:r>
            <a:r>
              <a:rPr lang="en-US" i="1" dirty="0" err="1"/>
              <a:t>d.c.</a:t>
            </a:r>
            <a:r>
              <a:rPr lang="en-US" i="1" dirty="0"/>
              <a:t> Therefore, for </a:t>
            </a:r>
            <a:r>
              <a:rPr lang="en-US" i="1" dirty="0" err="1"/>
              <a:t>d.c</a:t>
            </a:r>
            <a:r>
              <a:rPr lang="en-US" i="1" dirty="0"/>
              <a:t>. analysis, we can remove the capacitors from the transistor amplifier circuit.</a:t>
            </a:r>
          </a:p>
          <a:p>
            <a:pPr>
              <a:buNone/>
            </a:pPr>
            <a:r>
              <a:rPr lang="en-US" dirty="0"/>
              <a:t>A capacitor offers reactance (= 1/2π</a:t>
            </a:r>
            <a:r>
              <a:rPr lang="en-US" i="1" dirty="0"/>
              <a:t>fC) to </a:t>
            </a:r>
            <a:r>
              <a:rPr lang="en-US" i="1" dirty="0" err="1"/>
              <a:t>a.c</a:t>
            </a:r>
            <a:r>
              <a:rPr lang="en-US" i="1" dirty="0"/>
              <a:t>. depending upon the values of f and C. In practical  </a:t>
            </a:r>
            <a:r>
              <a:rPr lang="en-US" dirty="0"/>
              <a:t>transistor circuits, the size of capacitors is so selected that they offer negligible (ideally zero) reactance to the range of frequencies handled by the circuits. Therefore, </a:t>
            </a:r>
            <a:r>
              <a:rPr lang="en-US" i="1" dirty="0"/>
              <a:t>for </a:t>
            </a:r>
            <a:r>
              <a:rPr lang="en-US" i="1" dirty="0" err="1"/>
              <a:t>a.c</a:t>
            </a:r>
            <a:r>
              <a:rPr lang="en-US" i="1" dirty="0"/>
              <a:t>. analysis, we can replace</a:t>
            </a:r>
          </a:p>
          <a:p>
            <a:pPr>
              <a:buNone/>
            </a:pPr>
            <a:r>
              <a:rPr lang="en-US" i="1" dirty="0"/>
              <a:t>the capacitors by a short i.e. by a wire.</a:t>
            </a:r>
            <a:r>
              <a:rPr lang="en-US" dirty="0"/>
              <a:t> The capacitors serve the following two roles in transistor</a:t>
            </a:r>
          </a:p>
          <a:p>
            <a:pPr>
              <a:buNone/>
            </a:pPr>
            <a:r>
              <a:rPr lang="en-US" dirty="0"/>
              <a:t>amplifiers :</a:t>
            </a:r>
          </a:p>
          <a:p>
            <a:pPr>
              <a:buNone/>
            </a:pPr>
            <a:r>
              <a:rPr lang="en-US" b="1" dirty="0"/>
              <a:t>1. As coupling capacitors</a:t>
            </a:r>
          </a:p>
          <a:p>
            <a:pPr>
              <a:buNone/>
            </a:pPr>
            <a:r>
              <a:rPr lang="en-US" b="1" dirty="0"/>
              <a:t>2. As bypass capacitors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Thus for </a:t>
            </a:r>
            <a:r>
              <a:rPr lang="en-US" dirty="0" err="1"/>
              <a:t>a.c</a:t>
            </a:r>
            <a:r>
              <a:rPr lang="en-US" dirty="0"/>
              <a:t>. purposes, </a:t>
            </a:r>
            <a:r>
              <a:rPr lang="en-US" i="1" dirty="0"/>
              <a:t>RE does not exist. We have already </a:t>
            </a:r>
            <a:r>
              <a:rPr lang="en-US" dirty="0"/>
              <a:t>seen in the previous chapter that </a:t>
            </a:r>
            <a:r>
              <a:rPr lang="en-US" i="1" dirty="0"/>
              <a:t>CE </a:t>
            </a:r>
            <a:r>
              <a:rPr lang="en-US" dirty="0"/>
              <a:t>plays an important role in determining the</a:t>
            </a:r>
          </a:p>
          <a:p>
            <a:pPr>
              <a:buNone/>
            </a:pPr>
            <a:r>
              <a:rPr lang="en-US" dirty="0"/>
              <a:t>voltage gain of the amplifier circuit. If </a:t>
            </a:r>
            <a:r>
              <a:rPr lang="en-US" i="1" dirty="0"/>
              <a:t>CE is</a:t>
            </a:r>
          </a:p>
          <a:p>
            <a:pPr>
              <a:buNone/>
            </a:pPr>
            <a:r>
              <a:rPr lang="en-US" dirty="0"/>
              <a:t>removed, the voltage gain of the amplifier</a:t>
            </a:r>
          </a:p>
          <a:p>
            <a:pPr>
              <a:buNone/>
            </a:pPr>
            <a:r>
              <a:rPr lang="en-US" dirty="0"/>
              <a:t>is greatly reduced. Note that </a:t>
            </a:r>
            <a:r>
              <a:rPr lang="en-US" i="1" dirty="0" err="1"/>
              <a:t>Cin</a:t>
            </a:r>
            <a:r>
              <a:rPr lang="en-US" i="1" dirty="0"/>
              <a:t> is the coupling capacitor in this circuit.</a:t>
            </a:r>
          </a:p>
          <a:p>
            <a:pPr>
              <a:buNone/>
            </a:pPr>
            <a:r>
              <a:rPr lang="en-US" b="1" dirty="0"/>
              <a:t> Important Terms</a:t>
            </a:r>
          </a:p>
          <a:p>
            <a:pPr>
              <a:buNone/>
            </a:pPr>
            <a:r>
              <a:rPr lang="en-US" dirty="0"/>
              <a:t>In the study of multistage amplifiers, we shall frequently come across the </a:t>
            </a:r>
            <a:r>
              <a:rPr lang="en-US" dirty="0">
                <a:solidFill>
                  <a:srgbClr val="FF0000"/>
                </a:solidFill>
              </a:rPr>
              <a:t>terms </a:t>
            </a:r>
            <a:r>
              <a:rPr lang="en-US" i="1" dirty="0">
                <a:solidFill>
                  <a:srgbClr val="FF0000"/>
                </a:solidFill>
              </a:rPr>
              <a:t>gain</a:t>
            </a:r>
            <a:r>
              <a:rPr lang="en-US" i="1" dirty="0"/>
              <a:t>,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frequency response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decibel gain </a:t>
            </a:r>
            <a:r>
              <a:rPr lang="en-US" i="1" dirty="0"/>
              <a:t>and </a:t>
            </a:r>
            <a:r>
              <a:rPr lang="en-US" i="1" dirty="0">
                <a:solidFill>
                  <a:srgbClr val="FF0000"/>
                </a:solidFill>
              </a:rPr>
              <a:t>bandwidth.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2274</Words>
  <Application>Microsoft Office PowerPoint</Application>
  <PresentationFormat>On-screen Show (4:3)</PresentationFormat>
  <Paragraphs>131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22</vt:lpstr>
      <vt:lpstr>Arial</vt:lpstr>
      <vt:lpstr>Calibri</vt:lpstr>
      <vt:lpstr>Times</vt:lpstr>
      <vt:lpstr>Times New Roman</vt:lpstr>
      <vt:lpstr>Verdana</vt:lpstr>
      <vt:lpstr>Office Theme</vt:lpstr>
      <vt:lpstr>Equation</vt:lpstr>
      <vt:lpstr>TRANSISTOR AS AN AMPLIFIER L1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Stage(small signal)Transistor Amplifiers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 C Equivalent for the BJT Amplifier </vt:lpstr>
      <vt:lpstr>PowerPoint Presentation</vt:lpstr>
      <vt:lpstr>A C Equivalent for the BJT Amplifier </vt:lpstr>
      <vt:lpstr>A C Equivalent for the BJT Amplifier (continued)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</dc:creator>
  <cp:lastModifiedBy>User</cp:lastModifiedBy>
  <cp:revision>137</cp:revision>
  <dcterms:created xsi:type="dcterms:W3CDTF">2016-12-07T04:48:36Z</dcterms:created>
  <dcterms:modified xsi:type="dcterms:W3CDTF">2023-03-23T13:31:20Z</dcterms:modified>
</cp:coreProperties>
</file>