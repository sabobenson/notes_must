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291" r:id="rId2"/>
    <p:sldId id="298" r:id="rId3"/>
    <p:sldId id="299" r:id="rId4"/>
    <p:sldId id="292" r:id="rId5"/>
    <p:sldId id="290" r:id="rId6"/>
    <p:sldId id="272" r:id="rId7"/>
    <p:sldId id="273" r:id="rId8"/>
    <p:sldId id="274" r:id="rId9"/>
    <p:sldId id="303" r:id="rId10"/>
    <p:sldId id="278" r:id="rId11"/>
    <p:sldId id="279" r:id="rId12"/>
    <p:sldId id="302" r:id="rId13"/>
    <p:sldId id="288" r:id="rId14"/>
    <p:sldId id="271" r:id="rId15"/>
    <p:sldId id="257" r:id="rId16"/>
    <p:sldId id="300" r:id="rId17"/>
    <p:sldId id="258" r:id="rId18"/>
    <p:sldId id="259" r:id="rId19"/>
    <p:sldId id="260" r:id="rId20"/>
    <p:sldId id="301" r:id="rId21"/>
    <p:sldId id="261" r:id="rId22"/>
    <p:sldId id="280" r:id="rId23"/>
    <p:sldId id="281" r:id="rId24"/>
    <p:sldId id="282" r:id="rId25"/>
    <p:sldId id="283" r:id="rId26"/>
    <p:sldId id="284" r:id="rId27"/>
    <p:sldId id="285" r:id="rId28"/>
    <p:sldId id="286" r:id="rId29"/>
    <p:sldId id="287" r:id="rId30"/>
    <p:sldId id="263" r:id="rId31"/>
    <p:sldId id="264" r:id="rId32"/>
    <p:sldId id="265" r:id="rId33"/>
    <p:sldId id="266" r:id="rId34"/>
    <p:sldId id="267" r:id="rId35"/>
    <p:sldId id="294" r:id="rId36"/>
    <p:sldId id="295" r:id="rId37"/>
    <p:sldId id="296" r:id="rId38"/>
    <p:sldId id="297"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9" d="100"/>
          <a:sy n="59" d="100"/>
        </p:scale>
        <p:origin x="872"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848C8E-697C-4544-A0B6-C767D9E2A6FD}" type="datetimeFigureOut">
              <a:rPr lang="en-US" smtClean="0"/>
              <a:pPr/>
              <a:t>3/30/2023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1B8E2F6-14E5-4F4A-BCF3-F53F5A417B28}" type="slidenum">
              <a:rPr lang="en-US" smtClean="0"/>
              <a:pPr/>
              <a:t>‹#›</a:t>
            </a:fld>
            <a:endParaRPr lang="en-US"/>
          </a:p>
        </p:txBody>
      </p:sp>
    </p:spTree>
    <p:extLst>
      <p:ext uri="{BB962C8B-B14F-4D97-AF65-F5344CB8AC3E}">
        <p14:creationId xmlns:p14="http://schemas.microsoft.com/office/powerpoint/2010/main" val="35819546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C92C410-77E7-4526-8CBF-4EEF43AFFD13}" type="datetimeFigureOut">
              <a:rPr lang="en-US" smtClean="0"/>
              <a:pPr/>
              <a:t>3/30/2023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A249DCD-5CA1-49F4-97CD-081799844346}" type="slidenum">
              <a:rPr lang="en-US" smtClean="0"/>
              <a:pPr/>
              <a:t>‹#›</a:t>
            </a:fld>
            <a:endParaRPr lang="en-US"/>
          </a:p>
        </p:txBody>
      </p:sp>
    </p:spTree>
    <p:extLst>
      <p:ext uri="{BB962C8B-B14F-4D97-AF65-F5344CB8AC3E}">
        <p14:creationId xmlns:p14="http://schemas.microsoft.com/office/powerpoint/2010/main" val="2811126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A249DCD-5CA1-49F4-97CD-081799844346}" type="slidenum">
              <a:rPr lang="en-US" smtClean="0"/>
              <a:pPr/>
              <a:t>18</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A249DCD-5CA1-49F4-97CD-081799844346}" type="slidenum">
              <a:rPr lang="en-US" smtClean="0"/>
              <a:pPr/>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70515CA-DB36-4884-BFC6-AAB58F111439}" type="datetime1">
              <a:rPr lang="en-US" smtClean="0"/>
              <a:pPr/>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55B4C4-B829-4F94-B7B5-81CA53F5489C}" type="datetime1">
              <a:rPr lang="en-US" smtClean="0"/>
              <a:pPr/>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3E3335-023E-41E6-A44E-4B315FA4B3D2}" type="datetime1">
              <a:rPr lang="en-US" smtClean="0"/>
              <a:pPr/>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F14DFF4-64ED-4A12-A8D9-BDE20CD38805}" type="datetime1">
              <a:rPr lang="en-US" smtClean="0"/>
              <a:pPr/>
              <a:t>3/30/2023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CF63E97-22DE-420B-A7CA-495CD5A7174A}" type="datetime1">
              <a:rPr lang="en-US" smtClean="0"/>
              <a:pPr/>
              <a:t>3/30/2023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6FF3B67-681A-4B18-91EB-E1E2AA2B602E}" type="datetime1">
              <a:rPr lang="en-US" smtClean="0"/>
              <a:pPr/>
              <a:t>3/30/2023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B5EBF5-97E1-44F0-9E47-340FC43E8CB3}" type="datetime1">
              <a:rPr lang="en-US" smtClean="0"/>
              <a:pPr/>
              <a:t>3/30/2023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0B29732-44BF-44A1-AE9F-1EF07E80D6CE}" type="datetime1">
              <a:rPr lang="en-US" smtClean="0"/>
              <a:pPr/>
              <a:t>3/30/2023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889F8D-5C1A-4521-A7F1-D6421DE2C2F5}" type="datetime1">
              <a:rPr lang="en-US" smtClean="0"/>
              <a:pPr/>
              <a:t>3/30/2023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ACD6417-BFCE-46A1-B0A7-C15500120744}" type="datetime1">
              <a:rPr lang="en-US" smtClean="0"/>
              <a:pPr/>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EB7AAA9-483B-4173-8CD3-085C5D426D71}" type="datetime1">
              <a:rPr lang="en-US" smtClean="0"/>
              <a:pPr/>
              <a:t>3/30/2023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D26CD8-12C4-48F0-B869-0C70D386A04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3D0D11-F6E3-410F-8490-E9F37629DAB4}" type="datetime1">
              <a:rPr lang="en-US" smtClean="0"/>
              <a:pPr/>
              <a:t>3/30/2023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D26CD8-12C4-48F0-B869-0C70D386A04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electronicsandyou.com/blog/semiconductor.html"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Electromechanic" TargetMode="External"/><Relationship Id="rId2" Type="http://schemas.openxmlformats.org/officeDocument/2006/relationships/hyperlink" Target="https://en.wikipedia.org/wiki/Passivity_(engineering)" TargetMode="External"/><Relationship Id="rId1" Type="http://schemas.openxmlformats.org/officeDocument/2006/relationships/slideLayout" Target="../slideLayouts/slideLayout2.xml"/><Relationship Id="rId4" Type="http://schemas.openxmlformats.org/officeDocument/2006/relationships/hyperlink" Target="https://en.wikipedia.org/wiki/Battery_(electricity)"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ELECTRONICS    L1</a:t>
            </a:r>
          </a:p>
        </p:txBody>
      </p:sp>
      <p:sp>
        <p:nvSpPr>
          <p:cNvPr id="3" name="Content Placeholder 2"/>
          <p:cNvSpPr>
            <a:spLocks noGrp="1"/>
          </p:cNvSpPr>
          <p:nvPr>
            <p:ph idx="1"/>
          </p:nvPr>
        </p:nvSpPr>
        <p:spPr>
          <a:xfrm>
            <a:off x="457200" y="1219200"/>
            <a:ext cx="8229600" cy="5334000"/>
          </a:xfrm>
        </p:spPr>
        <p:txBody>
          <a:bodyPr>
            <a:normAutofit fontScale="92500" lnSpcReduction="10000"/>
          </a:bodyPr>
          <a:lstStyle/>
          <a:p>
            <a:pPr>
              <a:buNone/>
            </a:pPr>
            <a:r>
              <a:rPr lang="en-US" b="1" dirty="0"/>
              <a:t>Electronics Definition</a:t>
            </a:r>
            <a:r>
              <a:rPr lang="en-US" dirty="0"/>
              <a:t> – Electronics is the branch of science that deals with the study of </a:t>
            </a:r>
            <a:r>
              <a:rPr lang="en-US" dirty="0">
                <a:solidFill>
                  <a:srgbClr val="FF0000"/>
                </a:solidFill>
              </a:rPr>
              <a:t>flow and control </a:t>
            </a:r>
            <a:r>
              <a:rPr lang="en-US" dirty="0"/>
              <a:t>of electrons (</a:t>
            </a:r>
            <a:r>
              <a:rPr lang="en-US" i="1" dirty="0"/>
              <a:t>electricity</a:t>
            </a:r>
            <a:r>
              <a:rPr lang="en-US" dirty="0"/>
              <a:t>) and the study of their behavior and effects in vacuums, gases, and semiconductors, and with  electronic components, devices, or equipment. </a:t>
            </a:r>
          </a:p>
          <a:p>
            <a:pPr>
              <a:buNone/>
            </a:pPr>
            <a:r>
              <a:rPr lang="en-US" b="1" dirty="0"/>
              <a:t>Difference Between Electrical and Electronics Definition</a:t>
            </a:r>
          </a:p>
          <a:p>
            <a:pPr>
              <a:buNone/>
            </a:pPr>
            <a:r>
              <a:rPr lang="en-US" dirty="0"/>
              <a:t>Electronics deals with flow of charge (</a:t>
            </a:r>
            <a:r>
              <a:rPr lang="en-US" i="1" dirty="0"/>
              <a:t>electron</a:t>
            </a:r>
            <a:r>
              <a:rPr lang="en-US" dirty="0"/>
              <a:t>) through non-metal conductors (</a:t>
            </a:r>
            <a:r>
              <a:rPr lang="en-US" i="1" dirty="0">
                <a:hlinkClick r:id="rId2"/>
              </a:rPr>
              <a:t>semiconductors</a:t>
            </a:r>
            <a:r>
              <a:rPr lang="en-US" dirty="0"/>
              <a:t>).</a:t>
            </a:r>
          </a:p>
          <a:p>
            <a:pPr>
              <a:buNone/>
            </a:pPr>
            <a:r>
              <a:rPr lang="en-US" dirty="0"/>
              <a:t>Electrical deals with the flow of charge through metal conductors.</a:t>
            </a:r>
          </a:p>
          <a:p>
            <a:pPr>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020762"/>
          </a:xfrm>
        </p:spPr>
        <p:txBody>
          <a:bodyPr>
            <a:normAutofit fontScale="90000"/>
          </a:bodyPr>
          <a:lstStyle/>
          <a:p>
            <a:r>
              <a:rPr lang="en-US" b="1" dirty="0"/>
              <a:t>The Structure of the Atom</a:t>
            </a:r>
            <a:br>
              <a:rPr lang="en-US" b="1" dirty="0"/>
            </a:b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a:t>
            </a:fld>
            <a:endParaRPr lang="en-US"/>
          </a:p>
        </p:txBody>
      </p:sp>
      <p:sp>
        <p:nvSpPr>
          <p:cNvPr id="3" name="Content Placeholder 2"/>
          <p:cNvSpPr>
            <a:spLocks noGrp="1"/>
          </p:cNvSpPr>
          <p:nvPr>
            <p:ph idx="1"/>
          </p:nvPr>
        </p:nvSpPr>
        <p:spPr>
          <a:xfrm>
            <a:off x="457200" y="1138818"/>
            <a:ext cx="8229600" cy="4525963"/>
          </a:xfrm>
        </p:spPr>
        <p:txBody>
          <a:bodyPr/>
          <a:lstStyle/>
          <a:p>
            <a:pPr marL="0" indent="0">
              <a:buNone/>
            </a:pPr>
            <a:r>
              <a:rPr lang="en-US" dirty="0"/>
              <a:t>Structure Of The </a:t>
            </a:r>
            <a:r>
              <a:rPr lang="en-US" b="1" dirty="0"/>
              <a:t>Atom</a:t>
            </a:r>
            <a:r>
              <a:rPr lang="en-US" dirty="0"/>
              <a:t>: Our current model of the </a:t>
            </a:r>
            <a:r>
              <a:rPr lang="en-US" b="1" dirty="0"/>
              <a:t>atom</a:t>
            </a:r>
            <a:r>
              <a:rPr lang="en-US" dirty="0"/>
              <a:t> can be broken down into three constituents </a:t>
            </a:r>
            <a:r>
              <a:rPr lang="en-US" b="1" dirty="0"/>
              <a:t>parts</a:t>
            </a:r>
            <a:r>
              <a:rPr lang="en-US" dirty="0"/>
              <a:t> – </a:t>
            </a:r>
            <a:r>
              <a:rPr lang="en-US" dirty="0">
                <a:solidFill>
                  <a:srgbClr val="FF0000"/>
                </a:solidFill>
              </a:rPr>
              <a:t>protons, neutron, and electrons</a:t>
            </a:r>
            <a:r>
              <a:rPr lang="en-US" dirty="0"/>
              <a:t>. Each of these </a:t>
            </a:r>
            <a:r>
              <a:rPr lang="en-US" b="1" dirty="0"/>
              <a:t>parts</a:t>
            </a:r>
            <a:r>
              <a:rPr lang="en-US" dirty="0"/>
              <a:t> has an associated charge, with protons carrying a positive charge, electrons having a negative charge, and neutrons possessing no net charge.</a:t>
            </a:r>
          </a:p>
        </p:txBody>
      </p:sp>
    </p:spTree>
    <p:extLst>
      <p:ext uri="{BB962C8B-B14F-4D97-AF65-F5344CB8AC3E}">
        <p14:creationId xmlns:p14="http://schemas.microsoft.com/office/powerpoint/2010/main" val="3754799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marL="0" indent="0">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a:t>
            </a:fld>
            <a:endParaRPr lang="en-US"/>
          </a:p>
        </p:txBody>
      </p:sp>
      <p:pic>
        <p:nvPicPr>
          <p:cNvPr id="5" name="Picture 4"/>
          <p:cNvPicPr>
            <a:picLocks noChangeAspect="1"/>
          </p:cNvPicPr>
          <p:nvPr/>
        </p:nvPicPr>
        <p:blipFill>
          <a:blip r:embed="rId2"/>
          <a:stretch>
            <a:fillRect/>
          </a:stretch>
        </p:blipFill>
        <p:spPr>
          <a:xfrm>
            <a:off x="0" y="619125"/>
            <a:ext cx="9144000" cy="5619750"/>
          </a:xfrm>
          <a:prstGeom prst="rect">
            <a:avLst/>
          </a:prstGeom>
        </p:spPr>
      </p:pic>
    </p:spTree>
    <p:extLst>
      <p:ext uri="{BB962C8B-B14F-4D97-AF65-F5344CB8AC3E}">
        <p14:creationId xmlns:p14="http://schemas.microsoft.com/office/powerpoint/2010/main" val="2174777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1828800"/>
          </a:xfrm>
        </p:spPr>
        <p:txBody>
          <a:bodyPr/>
          <a:lstStyle/>
          <a:p>
            <a:r>
              <a:rPr lang="en-US" dirty="0"/>
              <a:t>ELECTRONS</a:t>
            </a:r>
          </a:p>
        </p:txBody>
      </p:sp>
      <p:sp>
        <p:nvSpPr>
          <p:cNvPr id="4" name="Slide Number Placeholder 3"/>
          <p:cNvSpPr>
            <a:spLocks noGrp="1"/>
          </p:cNvSpPr>
          <p:nvPr>
            <p:ph type="sldNum" sz="quarter" idx="12"/>
          </p:nvPr>
        </p:nvSpPr>
        <p:spPr/>
        <p:txBody>
          <a:bodyPr/>
          <a:lstStyle/>
          <a:p>
            <a:fld id="{7AD26CD8-12C4-48F0-B869-0C70D386A04E}" type="slidenum">
              <a:rPr lang="en-US" smtClean="0"/>
              <a:pPr/>
              <a:t>4</a:t>
            </a:fld>
            <a:endParaRPr lang="en-US"/>
          </a:p>
        </p:txBody>
      </p:sp>
      <p:sp>
        <p:nvSpPr>
          <p:cNvPr id="5" name="Rectangle 4"/>
          <p:cNvSpPr/>
          <p:nvPr/>
        </p:nvSpPr>
        <p:spPr>
          <a:xfrm>
            <a:off x="304800" y="2362200"/>
            <a:ext cx="8229600" cy="523220"/>
          </a:xfrm>
          <a:prstGeom prst="rect">
            <a:avLst/>
          </a:prstGeom>
        </p:spPr>
        <p:txBody>
          <a:bodyPr wrap="square">
            <a:spAutoFit/>
          </a:bodyPr>
          <a:lstStyle/>
          <a:p>
            <a:r>
              <a:rPr lang="en-US" sz="2800" dirty="0"/>
              <a:t>Number of electrons fit in each shell around an atom</a:t>
            </a:r>
          </a:p>
        </p:txBody>
      </p:sp>
      <p:pic>
        <p:nvPicPr>
          <p:cNvPr id="1026" name="Picture 2"/>
          <p:cNvPicPr>
            <a:picLocks noChangeAspect="1" noChangeArrowheads="1"/>
          </p:cNvPicPr>
          <p:nvPr/>
        </p:nvPicPr>
        <p:blipFill>
          <a:blip r:embed="rId2"/>
          <a:srcRect/>
          <a:stretch>
            <a:fillRect/>
          </a:stretch>
        </p:blipFill>
        <p:spPr bwMode="auto">
          <a:xfrm>
            <a:off x="381000" y="2895600"/>
            <a:ext cx="8382000" cy="341947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lnSpcReduction="10000"/>
          </a:bodyPr>
          <a:lstStyle/>
          <a:p>
            <a:pPr>
              <a:buNone/>
            </a:pPr>
            <a:r>
              <a:rPr lang="en-US" b="1" dirty="0"/>
              <a:t>                     Valence Electrons</a:t>
            </a:r>
          </a:p>
          <a:p>
            <a:pPr>
              <a:buNone/>
            </a:pPr>
            <a:r>
              <a:rPr lang="en-US" i="1" dirty="0"/>
              <a:t>The electrons in the outermost orbit of an atom are known as </a:t>
            </a:r>
            <a:r>
              <a:rPr lang="en-US" i="1" dirty="0">
                <a:solidFill>
                  <a:srgbClr val="FF0000"/>
                </a:solidFill>
              </a:rPr>
              <a:t>valence electrons.</a:t>
            </a:r>
          </a:p>
          <a:p>
            <a:pPr>
              <a:buNone/>
            </a:pPr>
            <a:r>
              <a:rPr lang="en-US" dirty="0"/>
              <a:t>The outermost orbit can have a maximum of 8 electrons </a:t>
            </a:r>
            <a:r>
              <a:rPr lang="en-US" i="1" dirty="0"/>
              <a:t>i.e. the maximum number of valence</a:t>
            </a:r>
          </a:p>
          <a:p>
            <a:pPr>
              <a:buNone/>
            </a:pPr>
            <a:r>
              <a:rPr lang="en-US" dirty="0"/>
              <a:t>electrons can be 8. The valence electrons determine the </a:t>
            </a:r>
            <a:r>
              <a:rPr lang="en-US" dirty="0">
                <a:solidFill>
                  <a:srgbClr val="FF0000"/>
                </a:solidFill>
              </a:rPr>
              <a:t>physical</a:t>
            </a:r>
            <a:r>
              <a:rPr lang="en-US" dirty="0"/>
              <a:t> and </a:t>
            </a:r>
            <a:r>
              <a:rPr lang="en-US" dirty="0">
                <a:solidFill>
                  <a:srgbClr val="FF0000"/>
                </a:solidFill>
              </a:rPr>
              <a:t>chemical </a:t>
            </a:r>
            <a:r>
              <a:rPr lang="en-US" dirty="0"/>
              <a:t>properties of a material. These electrons determine whether or not the material is chemically active; metal , non-metal , a gas or solid. These electrons also determine the </a:t>
            </a:r>
            <a:r>
              <a:rPr lang="en-US" dirty="0">
                <a:solidFill>
                  <a:srgbClr val="FF0000"/>
                </a:solidFill>
              </a:rPr>
              <a:t>electrical</a:t>
            </a:r>
            <a:r>
              <a:rPr lang="en-US" dirty="0"/>
              <a:t> properties of a material.</a:t>
            </a:r>
          </a:p>
        </p:txBody>
      </p:sp>
      <p:sp>
        <p:nvSpPr>
          <p:cNvPr id="4" name="Slide Number Placeholder 3"/>
          <p:cNvSpPr>
            <a:spLocks noGrp="1"/>
          </p:cNvSpPr>
          <p:nvPr>
            <p:ph type="sldNum" sz="quarter" idx="12"/>
          </p:nvPr>
        </p:nvSpPr>
        <p:spPr/>
        <p:txBody>
          <a:bodyPr/>
          <a:lstStyle/>
          <a:p>
            <a:fld id="{7AD26CD8-12C4-48F0-B869-0C70D386A04E}" type="slidenum">
              <a:rPr lang="en-US" smtClean="0"/>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1"/>
            <a:ext cx="8229600" cy="4190999"/>
          </a:xfrm>
        </p:spPr>
        <p:txBody>
          <a:bodyPr>
            <a:normAutofit fontScale="85000" lnSpcReduction="10000"/>
          </a:bodyPr>
          <a:lstStyle/>
          <a:p>
            <a:pPr algn="ctr">
              <a:buNone/>
            </a:pPr>
            <a:r>
              <a:rPr lang="en-US" sz="3300" dirty="0">
                <a:solidFill>
                  <a:srgbClr val="FF0000"/>
                </a:solidFill>
              </a:rPr>
              <a:t>Electrical conductivity </a:t>
            </a:r>
          </a:p>
          <a:p>
            <a:pPr>
              <a:buNone/>
            </a:pPr>
            <a:r>
              <a:rPr lang="en-US" dirty="0"/>
              <a:t>materials are generally classified into </a:t>
            </a:r>
            <a:r>
              <a:rPr lang="en-US" i="1" dirty="0">
                <a:solidFill>
                  <a:srgbClr val="FF0000"/>
                </a:solidFill>
              </a:rPr>
              <a:t>conductors</a:t>
            </a:r>
            <a:r>
              <a:rPr lang="en-US" i="1" dirty="0"/>
              <a:t>, </a:t>
            </a:r>
            <a:r>
              <a:rPr lang="en-US" i="1" dirty="0" err="1">
                <a:solidFill>
                  <a:srgbClr val="FF0000"/>
                </a:solidFill>
              </a:rPr>
              <a:t>insulators</a:t>
            </a:r>
            <a:r>
              <a:rPr lang="en-US" dirty="0" err="1"/>
              <a:t>and</a:t>
            </a:r>
            <a:r>
              <a:rPr lang="en-US" dirty="0"/>
              <a:t> </a:t>
            </a:r>
            <a:r>
              <a:rPr lang="en-US" i="1" dirty="0">
                <a:solidFill>
                  <a:srgbClr val="FF0000"/>
                </a:solidFill>
              </a:rPr>
              <a:t>semi-conductors</a:t>
            </a:r>
            <a:r>
              <a:rPr lang="en-US" i="1" dirty="0"/>
              <a:t>. As a rough rule, one can determine the electrical behavior of a </a:t>
            </a:r>
            <a:r>
              <a:rPr lang="en-US" dirty="0"/>
              <a:t>material from the number of valence electrons as under :</a:t>
            </a:r>
          </a:p>
          <a:p>
            <a:pPr>
              <a:buNone/>
            </a:pPr>
            <a:r>
              <a:rPr lang="en-US" dirty="0"/>
              <a:t>(</a:t>
            </a:r>
            <a:r>
              <a:rPr lang="en-US" i="1" dirty="0"/>
              <a:t>i) When the number of valence electrons of an atom is less than 4 </a:t>
            </a:r>
            <a:r>
              <a:rPr lang="en-US" dirty="0"/>
              <a:t>the material is usually </a:t>
            </a:r>
            <a:r>
              <a:rPr lang="en-US" i="1" dirty="0">
                <a:solidFill>
                  <a:srgbClr val="FF0000"/>
                </a:solidFill>
              </a:rPr>
              <a:t>a metal and a conductor.</a:t>
            </a:r>
            <a:r>
              <a:rPr lang="en-US" i="1" dirty="0"/>
              <a:t> Examples are sodium, magnesium</a:t>
            </a:r>
          </a:p>
          <a:p>
            <a:pPr>
              <a:buNone/>
            </a:pPr>
            <a:r>
              <a:rPr lang="en-US" dirty="0"/>
              <a:t>and </a:t>
            </a:r>
            <a:r>
              <a:rPr lang="en-US" dirty="0" err="1"/>
              <a:t>aluminium</a:t>
            </a:r>
            <a:r>
              <a:rPr lang="en-US" dirty="0"/>
              <a:t> which have 1, 2 and 3 valence electrons respectively (See Fig. 1.5).</a:t>
            </a:r>
          </a:p>
        </p:txBody>
      </p:sp>
      <p:sp>
        <p:nvSpPr>
          <p:cNvPr id="4" name="Slide Number Placeholder 3"/>
          <p:cNvSpPr>
            <a:spLocks noGrp="1"/>
          </p:cNvSpPr>
          <p:nvPr>
            <p:ph type="sldNum" sz="quarter" idx="12"/>
          </p:nvPr>
        </p:nvSpPr>
        <p:spPr/>
        <p:txBody>
          <a:bodyPr/>
          <a:lstStyle/>
          <a:p>
            <a:fld id="{7AD26CD8-12C4-48F0-B869-0C70D386A04E}" type="slidenum">
              <a:rPr lang="en-US" smtClean="0"/>
              <a:pPr/>
              <a:t>6</a:t>
            </a:fld>
            <a:endParaRPr lang="en-US"/>
          </a:p>
        </p:txBody>
      </p:sp>
      <p:pic>
        <p:nvPicPr>
          <p:cNvPr id="5" name="Picture 2"/>
          <p:cNvPicPr>
            <a:picLocks noChangeAspect="1" noChangeArrowheads="1"/>
          </p:cNvPicPr>
          <p:nvPr/>
        </p:nvPicPr>
        <p:blipFill>
          <a:blip r:embed="rId2"/>
          <a:srcRect/>
          <a:stretch>
            <a:fillRect/>
          </a:stretch>
        </p:blipFill>
        <p:spPr bwMode="auto">
          <a:xfrm>
            <a:off x="152400" y="4419600"/>
            <a:ext cx="8382000" cy="24384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7</a:t>
            </a:fld>
            <a:endParaRPr lang="en-US"/>
          </a:p>
        </p:txBody>
      </p:sp>
      <p:sp>
        <p:nvSpPr>
          <p:cNvPr id="6" name="Rectangle 5"/>
          <p:cNvSpPr/>
          <p:nvPr/>
        </p:nvSpPr>
        <p:spPr>
          <a:xfrm>
            <a:off x="304800" y="304800"/>
            <a:ext cx="8229600" cy="1200329"/>
          </a:xfrm>
          <a:prstGeom prst="rect">
            <a:avLst/>
          </a:prstGeom>
        </p:spPr>
        <p:txBody>
          <a:bodyPr wrap="square">
            <a:spAutoFit/>
          </a:bodyPr>
          <a:lstStyle/>
          <a:p>
            <a:r>
              <a:rPr lang="en-US" dirty="0"/>
              <a:t>(</a:t>
            </a:r>
            <a:r>
              <a:rPr lang="en-US" i="1" dirty="0"/>
              <a:t>ii) When the number of valence electrons of an atom is more than 4, the material is usually </a:t>
            </a:r>
            <a:r>
              <a:rPr lang="en-US" i="1" dirty="0">
                <a:solidFill>
                  <a:srgbClr val="FF0000"/>
                </a:solidFill>
              </a:rPr>
              <a:t>a non-metal and an insulator</a:t>
            </a:r>
            <a:r>
              <a:rPr lang="en-US" i="1" dirty="0"/>
              <a:t>. Examples are nitrogen, </a:t>
            </a:r>
            <a:r>
              <a:rPr lang="en-US" i="1" dirty="0" err="1"/>
              <a:t>sulphur</a:t>
            </a:r>
            <a:r>
              <a:rPr lang="en-US" i="1" dirty="0"/>
              <a:t> and neon which have 5, 6 and 8 valence</a:t>
            </a:r>
          </a:p>
          <a:p>
            <a:r>
              <a:rPr lang="en-US" dirty="0"/>
              <a:t>electrons respectively (See Fig. 1.6).</a:t>
            </a:r>
          </a:p>
        </p:txBody>
      </p:sp>
      <p:sp>
        <p:nvSpPr>
          <p:cNvPr id="7" name="Content Placeholder 6"/>
          <p:cNvSpPr>
            <a:spLocks noGrp="1"/>
          </p:cNvSpPr>
          <p:nvPr>
            <p:ph idx="1"/>
          </p:nvPr>
        </p:nvSpPr>
        <p:spPr>
          <a:xfrm>
            <a:off x="457200" y="1828800"/>
            <a:ext cx="8229600" cy="4297363"/>
          </a:xfrm>
        </p:spPr>
        <p:txBody>
          <a:bodyPr/>
          <a:lstStyle/>
          <a:p>
            <a:endParaRPr lang="en-US" dirty="0"/>
          </a:p>
        </p:txBody>
      </p:sp>
      <p:pic>
        <p:nvPicPr>
          <p:cNvPr id="1027" name="Picture 3"/>
          <p:cNvPicPr>
            <a:picLocks noChangeAspect="1" noChangeArrowheads="1"/>
          </p:cNvPicPr>
          <p:nvPr/>
        </p:nvPicPr>
        <p:blipFill>
          <a:blip r:embed="rId2"/>
          <a:srcRect/>
          <a:stretch>
            <a:fillRect/>
          </a:stretch>
        </p:blipFill>
        <p:spPr bwMode="auto">
          <a:xfrm>
            <a:off x="533400" y="1905000"/>
            <a:ext cx="7467600" cy="31242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8</a:t>
            </a:fld>
            <a:endParaRPr lang="en-US"/>
          </a:p>
        </p:txBody>
      </p:sp>
      <p:sp>
        <p:nvSpPr>
          <p:cNvPr id="5" name="Rectangle 4"/>
          <p:cNvSpPr/>
          <p:nvPr/>
        </p:nvSpPr>
        <p:spPr>
          <a:xfrm>
            <a:off x="609600" y="4038600"/>
            <a:ext cx="7315200" cy="1200329"/>
          </a:xfrm>
          <a:prstGeom prst="rect">
            <a:avLst/>
          </a:prstGeom>
        </p:spPr>
        <p:txBody>
          <a:bodyPr wrap="square">
            <a:spAutoFit/>
          </a:bodyPr>
          <a:lstStyle/>
          <a:p>
            <a:r>
              <a:rPr lang="en-US" dirty="0"/>
              <a:t>(</a:t>
            </a:r>
            <a:r>
              <a:rPr lang="en-US" i="1" dirty="0"/>
              <a:t>iii) When the number of valence electrons of an atom is 4 (i.e. exactly one-half of the </a:t>
            </a:r>
            <a:r>
              <a:rPr lang="en-US" dirty="0"/>
              <a:t>maximum 8 electrons), </a:t>
            </a:r>
            <a:r>
              <a:rPr lang="en-US" dirty="0">
                <a:solidFill>
                  <a:srgbClr val="FF0000"/>
                </a:solidFill>
              </a:rPr>
              <a:t>the material has both metal and non-metal properties</a:t>
            </a:r>
            <a:r>
              <a:rPr lang="en-US" dirty="0"/>
              <a:t> and is usually </a:t>
            </a:r>
            <a:r>
              <a:rPr lang="en-US" dirty="0">
                <a:solidFill>
                  <a:srgbClr val="FF0000"/>
                </a:solidFill>
              </a:rPr>
              <a:t>a </a:t>
            </a:r>
            <a:r>
              <a:rPr lang="en-US" i="1" dirty="0">
                <a:solidFill>
                  <a:srgbClr val="FF0000"/>
                </a:solidFill>
              </a:rPr>
              <a:t>semiconductor</a:t>
            </a:r>
            <a:r>
              <a:rPr lang="en-US" i="1" dirty="0"/>
              <a:t>.</a:t>
            </a:r>
          </a:p>
          <a:p>
            <a:r>
              <a:rPr lang="en-US" dirty="0"/>
              <a:t>Examples are carbon, silicon and germanium (See Fig. 1.7).</a:t>
            </a:r>
          </a:p>
        </p:txBody>
      </p:sp>
      <p:pic>
        <p:nvPicPr>
          <p:cNvPr id="2050" name="Picture 2"/>
          <p:cNvPicPr>
            <a:picLocks noChangeAspect="1" noChangeArrowheads="1"/>
          </p:cNvPicPr>
          <p:nvPr/>
        </p:nvPicPr>
        <p:blipFill>
          <a:blip r:embed="rId2"/>
          <a:srcRect/>
          <a:stretch>
            <a:fillRect/>
          </a:stretch>
        </p:blipFill>
        <p:spPr bwMode="auto">
          <a:xfrm>
            <a:off x="457200" y="533400"/>
            <a:ext cx="7467600" cy="3224212"/>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a:bodyPr>
          <a:lstStyle/>
          <a:p>
            <a:pPr>
              <a:buNone/>
            </a:pPr>
            <a:r>
              <a:rPr lang="en-US" b="1" dirty="0"/>
              <a:t>                                   Free Electrons</a:t>
            </a:r>
          </a:p>
          <a:p>
            <a:pPr>
              <a:buNone/>
            </a:pPr>
            <a:r>
              <a:rPr lang="en-US" dirty="0"/>
              <a:t>The valence electrons of different materials possess different energies. The </a:t>
            </a:r>
            <a:r>
              <a:rPr lang="en-US" dirty="0">
                <a:solidFill>
                  <a:srgbClr val="FF0000"/>
                </a:solidFill>
              </a:rPr>
              <a:t>greater the energy </a:t>
            </a:r>
            <a:r>
              <a:rPr lang="en-US" dirty="0"/>
              <a:t>of a</a:t>
            </a:r>
          </a:p>
          <a:p>
            <a:pPr>
              <a:buNone/>
            </a:pPr>
            <a:r>
              <a:rPr lang="en-US" dirty="0"/>
              <a:t>valence electron, the lesser it is </a:t>
            </a:r>
            <a:r>
              <a:rPr lang="en-US" dirty="0">
                <a:solidFill>
                  <a:srgbClr val="FF0000"/>
                </a:solidFill>
              </a:rPr>
              <a:t>bound to the nucleus</a:t>
            </a:r>
            <a:r>
              <a:rPr lang="en-US" dirty="0"/>
              <a:t>. In certain substances, particularly </a:t>
            </a:r>
            <a:r>
              <a:rPr lang="en-US" dirty="0">
                <a:solidFill>
                  <a:srgbClr val="FF0000"/>
                </a:solidFill>
              </a:rPr>
              <a:t>metals, the valence electrons possess so much energy that they are very loosely attached to the nucleus</a:t>
            </a:r>
            <a:r>
              <a:rPr lang="en-US" dirty="0"/>
              <a:t>. These loosely attached valence electrons move at random within the material and are called </a:t>
            </a:r>
            <a:r>
              <a:rPr lang="en-US" i="1" dirty="0">
                <a:solidFill>
                  <a:srgbClr val="FF0000"/>
                </a:solidFill>
              </a:rPr>
              <a:t>free electrons</a:t>
            </a:r>
            <a:r>
              <a:rPr lang="en-US" i="1" dirty="0"/>
              <a:t>. The valence electrons which are very loosely attached to the nucleus are known as </a:t>
            </a:r>
            <a:r>
              <a:rPr lang="en-US" i="1" dirty="0">
                <a:solidFill>
                  <a:srgbClr val="FF0000"/>
                </a:solidFill>
              </a:rPr>
              <a:t>free </a:t>
            </a:r>
            <a:r>
              <a:rPr lang="en-US" dirty="0">
                <a:solidFill>
                  <a:srgbClr val="FF0000"/>
                </a:solidFill>
              </a:rPr>
              <a:t>electrons.</a:t>
            </a:r>
          </a:p>
        </p:txBody>
      </p:sp>
      <p:sp>
        <p:nvSpPr>
          <p:cNvPr id="4" name="Slide Number Placeholder 3"/>
          <p:cNvSpPr>
            <a:spLocks noGrp="1"/>
          </p:cNvSpPr>
          <p:nvPr>
            <p:ph type="sldNum" sz="quarter" idx="12"/>
          </p:nvPr>
        </p:nvSpPr>
        <p:spPr/>
        <p:txBody>
          <a:bodyPr/>
          <a:lstStyle/>
          <a:p>
            <a:fld id="{7AD26CD8-12C4-48F0-B869-0C70D386A04E}" type="slidenum">
              <a:rPr lang="en-US" smtClean="0"/>
              <a:pPr/>
              <a:t>9</a:t>
            </a:fld>
            <a:endParaRPr lang="en-US"/>
          </a:p>
        </p:txBody>
      </p:sp>
    </p:spTree>
    <p:extLst>
      <p:ext uri="{BB962C8B-B14F-4D97-AF65-F5344CB8AC3E}">
        <p14:creationId xmlns:p14="http://schemas.microsoft.com/office/powerpoint/2010/main" val="3783644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172200"/>
          </a:xfrm>
        </p:spPr>
        <p:txBody>
          <a:bodyPr>
            <a:normAutofit fontScale="92500" lnSpcReduction="20000"/>
          </a:bodyPr>
          <a:lstStyle/>
          <a:p>
            <a:pPr>
              <a:buNone/>
            </a:pPr>
            <a:r>
              <a:rPr lang="en-US" b="1" dirty="0"/>
              <a:t>                                   Band Gap</a:t>
            </a:r>
          </a:p>
          <a:p>
            <a:pPr>
              <a:buNone/>
            </a:pPr>
            <a:r>
              <a:rPr lang="en-US" dirty="0"/>
              <a:t>Recall that the valence shell of an atom represents a band of energy levels and that the valence electrons are confined to that band. When an electron acquires enough additional energy, it can leave the valence shell, become a </a:t>
            </a:r>
            <a:r>
              <a:rPr lang="en-US" i="1" dirty="0"/>
              <a:t>free electron, and exist in what is known as </a:t>
            </a:r>
            <a:r>
              <a:rPr lang="en-US" dirty="0"/>
              <a:t>the </a:t>
            </a:r>
            <a:r>
              <a:rPr lang="en-US" i="1" dirty="0"/>
              <a:t>conduction band. </a:t>
            </a:r>
            <a:r>
              <a:rPr lang="en-US" dirty="0">
                <a:solidFill>
                  <a:srgbClr val="FF0000"/>
                </a:solidFill>
              </a:rPr>
              <a:t>The difference in energy between the valence band and the conduction band is called </a:t>
            </a:r>
            <a:r>
              <a:rPr lang="en-US" dirty="0"/>
              <a:t>an </a:t>
            </a:r>
            <a:r>
              <a:rPr lang="en-US" i="1" dirty="0">
                <a:solidFill>
                  <a:srgbClr val="FF0000"/>
                </a:solidFill>
              </a:rPr>
              <a:t>energy gap </a:t>
            </a:r>
            <a:r>
              <a:rPr lang="en-US" i="1" dirty="0"/>
              <a:t>or </a:t>
            </a:r>
            <a:r>
              <a:rPr lang="en-US" i="1" dirty="0">
                <a:solidFill>
                  <a:srgbClr val="FF0000"/>
                </a:solidFill>
              </a:rPr>
              <a:t>band gap</a:t>
            </a:r>
            <a:r>
              <a:rPr lang="en-US" b="1" i="1" dirty="0"/>
              <a:t>. This is the amount of energy that a valence electron must </a:t>
            </a:r>
            <a:r>
              <a:rPr lang="en-US" b="1" dirty="0"/>
              <a:t>have in order to jump from the valence band to the conduction band</a:t>
            </a:r>
            <a:r>
              <a:rPr lang="en-US" dirty="0"/>
              <a:t>. Once in the conduction</a:t>
            </a:r>
          </a:p>
          <a:p>
            <a:pPr>
              <a:buNone/>
            </a:pPr>
            <a:r>
              <a:rPr lang="en-US" dirty="0"/>
              <a:t>band, the </a:t>
            </a:r>
            <a:r>
              <a:rPr lang="en-US" dirty="0">
                <a:solidFill>
                  <a:srgbClr val="FF0000"/>
                </a:solidFill>
              </a:rPr>
              <a:t>electron is free to move throughout the material and is not tied to any given atom.</a:t>
            </a:r>
          </a:p>
        </p:txBody>
      </p:sp>
      <p:sp>
        <p:nvSpPr>
          <p:cNvPr id="4" name="Slide Number Placeholder 3"/>
          <p:cNvSpPr>
            <a:spLocks noGrp="1"/>
          </p:cNvSpPr>
          <p:nvPr>
            <p:ph type="sldNum" sz="quarter" idx="12"/>
          </p:nvPr>
        </p:nvSpPr>
        <p:spPr/>
        <p:txBody>
          <a:bodyPr/>
          <a:lstStyle/>
          <a:p>
            <a:fld id="{7AD26CD8-12C4-48F0-B869-0C70D386A04E}"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11</a:t>
            </a:fld>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152400" y="685800"/>
            <a:ext cx="8763000" cy="464820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324600"/>
          </a:xfrm>
        </p:spPr>
        <p:txBody>
          <a:bodyPr/>
          <a:lstStyle/>
          <a:p>
            <a:pPr>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12</a:t>
            </a:fld>
            <a:endParaRPr lang="en-US"/>
          </a:p>
        </p:txBody>
      </p:sp>
      <p:pic>
        <p:nvPicPr>
          <p:cNvPr id="3074" name="Picture 2"/>
          <p:cNvPicPr>
            <a:picLocks noChangeAspect="1" noChangeArrowheads="1"/>
          </p:cNvPicPr>
          <p:nvPr/>
        </p:nvPicPr>
        <p:blipFill>
          <a:blip r:embed="rId2"/>
          <a:srcRect/>
          <a:stretch>
            <a:fillRect/>
          </a:stretch>
        </p:blipFill>
        <p:spPr bwMode="auto">
          <a:xfrm>
            <a:off x="457200" y="304800"/>
            <a:ext cx="7924800" cy="3200400"/>
          </a:xfrm>
          <a:prstGeom prst="rect">
            <a:avLst/>
          </a:prstGeom>
          <a:noFill/>
          <a:ln w="9525">
            <a:noFill/>
            <a:miter lim="800000"/>
            <a:headEnd/>
            <a:tailEnd/>
          </a:ln>
          <a:effectLst/>
        </p:spPr>
      </p:pic>
      <p:sp>
        <p:nvSpPr>
          <p:cNvPr id="6" name="Rectangle 5"/>
          <p:cNvSpPr/>
          <p:nvPr/>
        </p:nvSpPr>
        <p:spPr>
          <a:xfrm>
            <a:off x="533400" y="3505200"/>
            <a:ext cx="8077200" cy="2862322"/>
          </a:xfrm>
          <a:prstGeom prst="rect">
            <a:avLst/>
          </a:prstGeom>
        </p:spPr>
        <p:txBody>
          <a:bodyPr wrap="square">
            <a:spAutoFit/>
          </a:bodyPr>
          <a:lstStyle/>
          <a:p>
            <a:r>
              <a:rPr lang="en-US" sz="2000" b="1" dirty="0"/>
              <a:t>(</a:t>
            </a:r>
            <a:r>
              <a:rPr lang="en-US" sz="2000" b="1" i="1" dirty="0" err="1"/>
              <a:t>i</a:t>
            </a:r>
            <a:r>
              <a:rPr lang="en-US" sz="2000" b="1" i="1" dirty="0"/>
              <a:t>) A</a:t>
            </a:r>
            <a:r>
              <a:rPr lang="en-US" sz="2000" b="1" i="1" dirty="0">
                <a:solidFill>
                  <a:srgbClr val="FF0000"/>
                </a:solidFill>
              </a:rPr>
              <a:t> </a:t>
            </a:r>
            <a:r>
              <a:rPr lang="en-US" sz="2000" b="1" i="1" dirty="0">
                <a:solidFill>
                  <a:srgbClr val="C00000"/>
                </a:solidFill>
              </a:rPr>
              <a:t>conductor</a:t>
            </a:r>
            <a:r>
              <a:rPr lang="en-US" sz="2000" b="1" i="1" dirty="0">
                <a:solidFill>
                  <a:srgbClr val="FF0000"/>
                </a:solidFill>
              </a:rPr>
              <a:t> </a:t>
            </a:r>
            <a:r>
              <a:rPr lang="en-US" sz="2000" b="1" i="1" dirty="0"/>
              <a:t>is a substance which has a large number of free electrons. When potential difference </a:t>
            </a:r>
            <a:r>
              <a:rPr lang="en-US" sz="2000" b="1" dirty="0"/>
              <a:t>is applied across a conductor</a:t>
            </a:r>
            <a:r>
              <a:rPr lang="en-US" sz="2000" dirty="0"/>
              <a:t>, the free electrons move towards the positive terminal of supply, constituting electric current.</a:t>
            </a:r>
          </a:p>
          <a:p>
            <a:r>
              <a:rPr lang="en-US" sz="2000" b="1" dirty="0"/>
              <a:t>(</a:t>
            </a:r>
            <a:r>
              <a:rPr lang="en-US" sz="2000" b="1" i="1" dirty="0"/>
              <a:t>ii) An </a:t>
            </a:r>
            <a:r>
              <a:rPr lang="en-US" sz="2000" b="1" i="1" dirty="0">
                <a:solidFill>
                  <a:srgbClr val="C00000"/>
                </a:solidFill>
              </a:rPr>
              <a:t>insulator</a:t>
            </a:r>
            <a:r>
              <a:rPr lang="en-US" sz="2000" b="1" i="1" dirty="0"/>
              <a:t> is a substance which has practically no free electrons at ordinary temperature. </a:t>
            </a:r>
            <a:r>
              <a:rPr lang="en-US" sz="2000" dirty="0"/>
              <a:t>Therefore, an insulator does not conduct current under the influence of potential difference.</a:t>
            </a:r>
          </a:p>
          <a:p>
            <a:r>
              <a:rPr lang="en-US" sz="2000" b="1" dirty="0"/>
              <a:t>(</a:t>
            </a:r>
            <a:r>
              <a:rPr lang="en-US" sz="2000" b="1" i="1" dirty="0"/>
              <a:t>iii) A </a:t>
            </a:r>
            <a:r>
              <a:rPr lang="en-US" sz="2000" b="1" i="1" dirty="0">
                <a:solidFill>
                  <a:srgbClr val="C00000"/>
                </a:solidFill>
              </a:rPr>
              <a:t>semiconductor</a:t>
            </a:r>
            <a:r>
              <a:rPr lang="en-US" sz="2000" b="1" i="1" dirty="0"/>
              <a:t> is a substance which has very few free electrons at room temperature. </a:t>
            </a:r>
            <a:r>
              <a:rPr lang="en-US" sz="2000" dirty="0"/>
              <a:t>Consequently, under the influence of potential difference, a semiconductor </a:t>
            </a:r>
            <a:r>
              <a:rPr lang="en-US" sz="2000" i="1" dirty="0">
                <a:solidFill>
                  <a:srgbClr val="FF0000"/>
                </a:solidFill>
              </a:rPr>
              <a:t>practically </a:t>
            </a:r>
            <a:r>
              <a:rPr lang="en-US" sz="2000" i="1" dirty="0"/>
              <a:t>conducts no current.</a:t>
            </a:r>
            <a:endParaRPr lang="en-US" sz="2000" dirty="0"/>
          </a:p>
        </p:txBody>
      </p:sp>
    </p:spTree>
    <p:extLst>
      <p:ext uri="{BB962C8B-B14F-4D97-AF65-F5344CB8AC3E}">
        <p14:creationId xmlns:p14="http://schemas.microsoft.com/office/powerpoint/2010/main" val="1501631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13</a:t>
            </a:fld>
            <a:endParaRPr lang="en-US"/>
          </a:p>
        </p:txBody>
      </p:sp>
      <p:sp>
        <p:nvSpPr>
          <p:cNvPr id="8" name="Title 1"/>
          <p:cNvSpPr>
            <a:spLocks noGrp="1"/>
          </p:cNvSpPr>
          <p:nvPr>
            <p:ph idx="1"/>
          </p:nvPr>
        </p:nvSpPr>
        <p:spPr>
          <a:xfrm>
            <a:off x="457200" y="609600"/>
            <a:ext cx="8229600" cy="5516563"/>
          </a:xfrm>
        </p:spPr>
        <p:txBody>
          <a:bodyPr/>
          <a:lstStyle/>
          <a:p>
            <a:pPr>
              <a:buNone/>
            </a:pPr>
            <a:r>
              <a:rPr lang="en-US" dirty="0"/>
              <a:t>          </a:t>
            </a:r>
            <a:r>
              <a:rPr lang="en-US" b="1" dirty="0"/>
              <a:t>Active and passive components</a:t>
            </a:r>
          </a:p>
          <a:p>
            <a:pPr>
              <a:buNone/>
            </a:pPr>
            <a:endParaRPr lang="en-US" dirty="0"/>
          </a:p>
          <a:p>
            <a:pPr>
              <a:buNone/>
            </a:pPr>
            <a:r>
              <a:rPr lang="en-US" dirty="0"/>
              <a:t>Components can be classified as</a:t>
            </a:r>
            <a:r>
              <a:rPr lang="en-US" u="sng" dirty="0"/>
              <a:t> </a:t>
            </a:r>
            <a:r>
              <a:rPr lang="en-US" dirty="0">
                <a:hlinkClick r:id="rId2" tooltip="Passivity (engineering)"/>
              </a:rPr>
              <a:t>passive and active</a:t>
            </a:r>
            <a:r>
              <a:rPr lang="en-US" dirty="0"/>
              <a:t>, or </a:t>
            </a:r>
            <a:r>
              <a:rPr lang="en-US" u="sng" dirty="0" err="1">
                <a:hlinkClick r:id="rId3" tooltip="Electromechanic"/>
              </a:rPr>
              <a:t>electromechanic</a:t>
            </a:r>
            <a:r>
              <a:rPr lang="en-US" u="sng" dirty="0"/>
              <a:t>. </a:t>
            </a:r>
            <a:r>
              <a:rPr lang="en-US" dirty="0"/>
              <a:t>The strict physics definition treats passive components as ones that cannot supply energy </a:t>
            </a:r>
            <a:r>
              <a:rPr lang="en-US"/>
              <a:t>themselves (</a:t>
            </a:r>
            <a:r>
              <a:rPr lang="en-US" dirty="0" err="1"/>
              <a:t>e,g</a:t>
            </a:r>
            <a:r>
              <a:rPr lang="en-US" dirty="0"/>
              <a:t> </a:t>
            </a:r>
            <a:r>
              <a:rPr lang="en-US" dirty="0" err="1"/>
              <a:t>resistors,capacitors</a:t>
            </a:r>
            <a:r>
              <a:rPr lang="en-US" dirty="0"/>
              <a:t> </a:t>
            </a:r>
            <a:r>
              <a:rPr lang="en-US" dirty="0" err="1"/>
              <a:t>ets</a:t>
            </a:r>
            <a:r>
              <a:rPr lang="en-US" dirty="0"/>
              <a:t>) whereas a </a:t>
            </a:r>
            <a:r>
              <a:rPr lang="en-US" dirty="0">
                <a:hlinkClick r:id="rId4" tooltip="Battery (electricity)"/>
              </a:rPr>
              <a:t>battery</a:t>
            </a:r>
            <a:r>
              <a:rPr lang="en-US" dirty="0"/>
              <a:t> would be seen as an active component since it truly acts as a source of energy(</a:t>
            </a:r>
            <a:r>
              <a:rPr lang="en-US" dirty="0" err="1"/>
              <a:t>e,g</a:t>
            </a:r>
            <a:r>
              <a:rPr lang="en-US" dirty="0"/>
              <a:t> </a:t>
            </a:r>
            <a:r>
              <a:rPr lang="en-US" dirty="0" err="1"/>
              <a:t>diodes,transistors</a:t>
            </a:r>
            <a:r>
              <a:rPr lang="en-US" dirty="0"/>
              <a:t> </a:t>
            </a:r>
            <a:r>
              <a:rPr lang="en-US" dirty="0" err="1"/>
              <a:t>ets</a:t>
            </a:r>
            <a:r>
              <a:rPr lang="en-US"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
            <a:ext cx="7772400" cy="1066800"/>
          </a:xfrm>
        </p:spPr>
        <p:txBody>
          <a:bodyPr/>
          <a:lstStyle/>
          <a:p>
            <a:r>
              <a:rPr lang="en-US" b="1" dirty="0"/>
              <a:t>Semiconductor</a:t>
            </a:r>
            <a:endParaRPr lang="en-US" dirty="0"/>
          </a:p>
        </p:txBody>
      </p:sp>
      <p:sp>
        <p:nvSpPr>
          <p:cNvPr id="3" name="Subtitle 2"/>
          <p:cNvSpPr>
            <a:spLocks noGrp="1"/>
          </p:cNvSpPr>
          <p:nvPr>
            <p:ph type="subTitle" idx="1"/>
          </p:nvPr>
        </p:nvSpPr>
        <p:spPr>
          <a:xfrm>
            <a:off x="457200" y="2057400"/>
            <a:ext cx="7924800" cy="4495800"/>
          </a:xfrm>
        </p:spPr>
        <p:txBody>
          <a:bodyPr>
            <a:normAutofit fontScale="92500" lnSpcReduction="10000"/>
          </a:bodyPr>
          <a:lstStyle/>
          <a:p>
            <a:r>
              <a:rPr lang="en-US" i="1" dirty="0">
                <a:solidFill>
                  <a:schemeClr val="tx1"/>
                </a:solidFill>
              </a:rPr>
              <a:t>A semiconductor is a substance which has </a:t>
            </a:r>
            <a:r>
              <a:rPr lang="en-US" i="1" dirty="0">
                <a:solidFill>
                  <a:srgbClr val="FF0000"/>
                </a:solidFill>
              </a:rPr>
              <a:t>resistivity</a:t>
            </a:r>
            <a:r>
              <a:rPr lang="en-US" i="1" dirty="0">
                <a:solidFill>
                  <a:schemeClr val="tx1"/>
                </a:solidFill>
              </a:rPr>
              <a:t> (10¯4 to 0.5 </a:t>
            </a:r>
            <a:r>
              <a:rPr lang="en-US" i="1" dirty="0" err="1">
                <a:solidFill>
                  <a:schemeClr val="tx1"/>
                </a:solidFill>
              </a:rPr>
              <a:t>Ωm</a:t>
            </a:r>
            <a:r>
              <a:rPr lang="en-US" i="1" dirty="0">
                <a:solidFill>
                  <a:schemeClr val="tx1"/>
                </a:solidFill>
              </a:rPr>
              <a:t>) in between conductors</a:t>
            </a:r>
          </a:p>
          <a:p>
            <a:r>
              <a:rPr lang="en-US" i="1" dirty="0">
                <a:solidFill>
                  <a:schemeClr val="tx1"/>
                </a:solidFill>
              </a:rPr>
              <a:t>and insulators e.g. </a:t>
            </a:r>
            <a:r>
              <a:rPr lang="en-US" i="1" dirty="0">
                <a:solidFill>
                  <a:srgbClr val="FF0000"/>
                </a:solidFill>
              </a:rPr>
              <a:t>germanium, silicon, selenium</a:t>
            </a:r>
          </a:p>
          <a:p>
            <a:r>
              <a:rPr lang="en-US" i="1" dirty="0">
                <a:solidFill>
                  <a:srgbClr val="FF0000"/>
                </a:solidFill>
              </a:rPr>
              <a:t>carbon</a:t>
            </a:r>
            <a:r>
              <a:rPr lang="en-US" i="1" dirty="0">
                <a:solidFill>
                  <a:schemeClr val="tx1"/>
                </a:solidFill>
              </a:rPr>
              <a:t> etc.</a:t>
            </a:r>
          </a:p>
          <a:p>
            <a:r>
              <a:rPr lang="en-US" dirty="0">
                <a:solidFill>
                  <a:schemeClr val="tx1"/>
                </a:solidFill>
              </a:rPr>
              <a:t>You may wonder, when a semiconductor is neither a good </a:t>
            </a:r>
            <a:r>
              <a:rPr lang="en-US" dirty="0">
                <a:solidFill>
                  <a:srgbClr val="FF0000"/>
                </a:solidFill>
              </a:rPr>
              <a:t>conductor</a:t>
            </a:r>
            <a:r>
              <a:rPr lang="en-US" dirty="0">
                <a:solidFill>
                  <a:schemeClr val="tx1"/>
                </a:solidFill>
              </a:rPr>
              <a:t> </a:t>
            </a:r>
            <a:r>
              <a:rPr lang="en-US" dirty="0">
                <a:solidFill>
                  <a:srgbClr val="FF0000"/>
                </a:solidFill>
              </a:rPr>
              <a:t>nor an insulator</a:t>
            </a:r>
            <a:r>
              <a:rPr lang="en-US" dirty="0">
                <a:solidFill>
                  <a:schemeClr val="tx1"/>
                </a:solidFill>
              </a:rPr>
              <a:t>, then</a:t>
            </a:r>
          </a:p>
          <a:p>
            <a:r>
              <a:rPr lang="en-US" dirty="0">
                <a:solidFill>
                  <a:schemeClr val="tx1"/>
                </a:solidFill>
              </a:rPr>
              <a:t>why not to classify it as a </a:t>
            </a:r>
            <a:r>
              <a:rPr lang="en-US" i="1" dirty="0">
                <a:solidFill>
                  <a:srgbClr val="C00000"/>
                </a:solidFill>
              </a:rPr>
              <a:t>resistance material </a:t>
            </a:r>
            <a:r>
              <a:rPr lang="en-US" i="1" dirty="0">
                <a:solidFill>
                  <a:schemeClr val="tx1"/>
                </a:solidFill>
              </a:rPr>
              <a:t>? The answer shall be readily available if we study the </a:t>
            </a:r>
            <a:r>
              <a:rPr lang="en-US" dirty="0">
                <a:solidFill>
                  <a:schemeClr val="tx1"/>
                </a:solidFill>
              </a:rPr>
              <a:t>following table :</a:t>
            </a:r>
          </a:p>
          <a:p>
            <a:endParaRPr lang="en-US" i="1" dirty="0">
              <a:solidFill>
                <a:schemeClr val="tx1"/>
              </a:solidFill>
            </a:endParaRPr>
          </a:p>
        </p:txBody>
      </p:sp>
      <p:sp>
        <p:nvSpPr>
          <p:cNvPr id="5" name="Slide Number Placeholder 4"/>
          <p:cNvSpPr>
            <a:spLocks noGrp="1"/>
          </p:cNvSpPr>
          <p:nvPr>
            <p:ph type="sldNum" sz="quarter" idx="12"/>
          </p:nvPr>
        </p:nvSpPr>
        <p:spPr/>
        <p:txBody>
          <a:bodyPr/>
          <a:lstStyle/>
          <a:p>
            <a:fld id="{7AD26CD8-12C4-48F0-B869-0C70D386A04E}" type="slidenum">
              <a:rPr lang="en-US" smtClean="0"/>
              <a:pPr/>
              <a:t>14</a:t>
            </a:fld>
            <a:endParaRPr lang="en-US"/>
          </a:p>
        </p:txBody>
      </p:sp>
      <p:pic>
        <p:nvPicPr>
          <p:cNvPr id="1026" name="Picture 2"/>
          <p:cNvPicPr>
            <a:picLocks noChangeAspect="1" noChangeArrowheads="1"/>
          </p:cNvPicPr>
          <p:nvPr/>
        </p:nvPicPr>
        <p:blipFill>
          <a:blip r:embed="rId2"/>
          <a:srcRect/>
          <a:stretch>
            <a:fillRect/>
          </a:stretch>
        </p:blipFill>
        <p:spPr bwMode="auto">
          <a:xfrm>
            <a:off x="5638800" y="1371600"/>
            <a:ext cx="838200" cy="552450"/>
          </a:xfrm>
          <a:prstGeom prst="rect">
            <a:avLst/>
          </a:prstGeom>
          <a:noFill/>
          <a:ln w="9525">
            <a:noFill/>
            <a:miter lim="800000"/>
            <a:headEnd/>
            <a:tailEnd/>
          </a:ln>
          <a:effectLst/>
        </p:spPr>
      </p:pic>
      <p:sp>
        <p:nvSpPr>
          <p:cNvPr id="6" name="Rectangle 5"/>
          <p:cNvSpPr/>
          <p:nvPr/>
        </p:nvSpPr>
        <p:spPr>
          <a:xfrm>
            <a:off x="838200" y="1143000"/>
            <a:ext cx="7086600" cy="707886"/>
          </a:xfrm>
          <a:prstGeom prst="rect">
            <a:avLst/>
          </a:prstGeom>
        </p:spPr>
        <p:txBody>
          <a:bodyPr wrap="square">
            <a:spAutoFit/>
          </a:bodyPr>
          <a:lstStyle/>
          <a:p>
            <a:r>
              <a:rPr lang="en-US" sz="2000" dirty="0">
                <a:solidFill>
                  <a:srgbClr val="FF0000"/>
                </a:solidFill>
              </a:rPr>
              <a:t>Resistivity</a:t>
            </a:r>
            <a:r>
              <a:rPr lang="en-US" sz="2000" dirty="0"/>
              <a:t> is a measure of the resistance of a given size of a specific material to electrical conduction.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304800" y="0"/>
            <a:ext cx="7772400" cy="1981200"/>
          </a:xfrm>
          <a:prstGeom prst="rect">
            <a:avLst/>
          </a:prstGeom>
          <a:noFill/>
          <a:ln w="9525">
            <a:noFill/>
            <a:miter lim="800000"/>
            <a:headEnd/>
            <a:tailEnd/>
          </a:ln>
          <a:effectLst/>
        </p:spPr>
      </p:pic>
      <p:sp>
        <p:nvSpPr>
          <p:cNvPr id="9" name="Rectangle 8"/>
          <p:cNvSpPr/>
          <p:nvPr/>
        </p:nvSpPr>
        <p:spPr>
          <a:xfrm>
            <a:off x="152400" y="2397214"/>
            <a:ext cx="8991600" cy="4324261"/>
          </a:xfrm>
          <a:prstGeom prst="rect">
            <a:avLst/>
          </a:prstGeom>
        </p:spPr>
        <p:txBody>
          <a:bodyPr wrap="square">
            <a:spAutoFit/>
          </a:bodyPr>
          <a:lstStyle/>
          <a:p>
            <a:r>
              <a:rPr lang="en-US" sz="2500" dirty="0"/>
              <a:t>Comparing the </a:t>
            </a:r>
            <a:r>
              <a:rPr lang="en-US" sz="2500" dirty="0" err="1"/>
              <a:t>resistivities</a:t>
            </a:r>
            <a:r>
              <a:rPr lang="en-US" sz="2500" dirty="0"/>
              <a:t> of above materials, it is apparent that the resistivity of </a:t>
            </a:r>
            <a:r>
              <a:rPr lang="en-US" sz="2500" dirty="0">
                <a:solidFill>
                  <a:srgbClr val="FF0000"/>
                </a:solidFill>
              </a:rPr>
              <a:t>germanium</a:t>
            </a:r>
            <a:r>
              <a:rPr lang="en-US" sz="2500" dirty="0"/>
              <a:t> (semiconductor) is quite high as compared to </a:t>
            </a:r>
            <a:r>
              <a:rPr lang="en-US" sz="2500" dirty="0">
                <a:solidFill>
                  <a:srgbClr val="FF0000"/>
                </a:solidFill>
              </a:rPr>
              <a:t>copper</a:t>
            </a:r>
            <a:r>
              <a:rPr lang="en-US" sz="2500" dirty="0"/>
              <a:t> (conductor) but it is quite low when compared with </a:t>
            </a:r>
            <a:r>
              <a:rPr lang="en-US" sz="2500" dirty="0">
                <a:solidFill>
                  <a:srgbClr val="FF0000"/>
                </a:solidFill>
              </a:rPr>
              <a:t>glass</a:t>
            </a:r>
            <a:r>
              <a:rPr lang="en-US" sz="2500" dirty="0"/>
              <a:t> (insulator). This shows that resistivity of a semiconductor lies in between conductors and insulators. However, it will be wrong to consider the semiconductor as a resistance material. For example, </a:t>
            </a:r>
            <a:r>
              <a:rPr lang="en-US" sz="2500" dirty="0" err="1">
                <a:solidFill>
                  <a:srgbClr val="FF0000"/>
                </a:solidFill>
              </a:rPr>
              <a:t>nichrome</a:t>
            </a:r>
            <a:r>
              <a:rPr lang="en-US" sz="2500" dirty="0"/>
              <a:t>, which is one of the </a:t>
            </a:r>
            <a:r>
              <a:rPr lang="en-US" sz="2500" dirty="0">
                <a:solidFill>
                  <a:srgbClr val="FF0000"/>
                </a:solidFill>
              </a:rPr>
              <a:t>highest resistance material</a:t>
            </a:r>
            <a:r>
              <a:rPr lang="en-US" sz="2500" dirty="0"/>
              <a:t>, </a:t>
            </a:r>
            <a:r>
              <a:rPr lang="en-US" sz="2500" dirty="0">
                <a:solidFill>
                  <a:srgbClr val="FF0000"/>
                </a:solidFill>
              </a:rPr>
              <a:t>has resistivity much lower than germanium</a:t>
            </a:r>
            <a:r>
              <a:rPr lang="en-US" sz="2500" dirty="0">
                <a:solidFill>
                  <a:srgbClr val="0070C0"/>
                </a:solidFill>
              </a:rPr>
              <a:t>(Alloy )</a:t>
            </a:r>
            <a:r>
              <a:rPr lang="en-US" sz="2500" dirty="0"/>
              <a:t>.This shows that electrically germanium cannot be regarded as a conductor or insulator or a resistance material. This gave such substances like germanium the name of semiconductors.</a:t>
            </a:r>
          </a:p>
        </p:txBody>
      </p:sp>
      <p:sp>
        <p:nvSpPr>
          <p:cNvPr id="11" name="Slide Number Placeholder 10"/>
          <p:cNvSpPr>
            <a:spLocks noGrp="1"/>
          </p:cNvSpPr>
          <p:nvPr>
            <p:ph type="sldNum" sz="quarter" idx="12"/>
          </p:nvPr>
        </p:nvSpPr>
        <p:spPr/>
        <p:txBody>
          <a:bodyPr/>
          <a:lstStyle/>
          <a:p>
            <a:fld id="{7AD26CD8-12C4-48F0-B869-0C70D386A04E}"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0710" y="914400"/>
            <a:ext cx="8229600" cy="4525963"/>
          </a:xfrm>
        </p:spPr>
        <p:txBody>
          <a:bodyPr/>
          <a:lstStyle/>
          <a:p>
            <a:r>
              <a:rPr lang="en-US" b="1" dirty="0" err="1"/>
              <a:t>Nichrome</a:t>
            </a:r>
            <a:r>
              <a:rPr lang="en-US" dirty="0"/>
              <a:t>, a non-magnetic alloy that is commonly made up of 80% nickel and 20% chromium, has a </a:t>
            </a:r>
            <a:r>
              <a:rPr lang="en-US" b="1" dirty="0"/>
              <a:t>resistivity</a:t>
            </a:r>
            <a:r>
              <a:rPr lang="en-US" dirty="0"/>
              <a:t> ranging from 1.10 × 10</a:t>
            </a:r>
            <a:r>
              <a:rPr lang="en-US" baseline="30000" dirty="0"/>
              <a:t>−6</a:t>
            </a:r>
            <a:r>
              <a:rPr lang="en-US" dirty="0"/>
              <a:t> </a:t>
            </a:r>
            <a:r>
              <a:rPr lang="en-US" dirty="0" err="1"/>
              <a:t>Ωm</a:t>
            </a:r>
            <a:r>
              <a:rPr lang="en-US" dirty="0"/>
              <a:t> to 1.50 × 10</a:t>
            </a:r>
            <a:r>
              <a:rPr lang="en-US" baseline="30000" dirty="0"/>
              <a:t>−6</a:t>
            </a:r>
            <a:r>
              <a:rPr lang="en-US" dirty="0"/>
              <a:t> </a:t>
            </a:r>
            <a:r>
              <a:rPr lang="en-US" dirty="0" err="1"/>
              <a:t>Ωm</a:t>
            </a:r>
            <a:r>
              <a:rPr lang="en-US" dirty="0"/>
              <a:t> (0.00000110 </a:t>
            </a:r>
            <a:r>
              <a:rPr lang="en-US" dirty="0" err="1"/>
              <a:t>Ωm</a:t>
            </a:r>
            <a:r>
              <a:rPr lang="en-US" dirty="0"/>
              <a:t> to 0.00000150 </a:t>
            </a:r>
            <a:r>
              <a:rPr lang="en-US" dirty="0" err="1"/>
              <a:t>Ωm</a:t>
            </a:r>
            <a:r>
              <a:rPr lang="en-US" dirty="0"/>
              <a:t>) and a very high melting point (~1400 °C).</a:t>
            </a:r>
          </a:p>
        </p:txBody>
      </p:sp>
      <p:sp>
        <p:nvSpPr>
          <p:cNvPr id="4" name="Slide Number Placeholder 3"/>
          <p:cNvSpPr>
            <a:spLocks noGrp="1"/>
          </p:cNvSpPr>
          <p:nvPr>
            <p:ph type="sldNum" sz="quarter" idx="12"/>
          </p:nvPr>
        </p:nvSpPr>
        <p:spPr/>
        <p:txBody>
          <a:bodyPr/>
          <a:lstStyle/>
          <a:p>
            <a:fld id="{7AD26CD8-12C4-48F0-B869-0C70D386A04E}" type="slidenum">
              <a:rPr lang="en-US" smtClean="0"/>
              <a:pPr/>
              <a:t>16</a:t>
            </a:fld>
            <a:endParaRPr lang="en-US"/>
          </a:p>
        </p:txBody>
      </p:sp>
    </p:spTree>
    <p:extLst>
      <p:ext uri="{BB962C8B-B14F-4D97-AF65-F5344CB8AC3E}">
        <p14:creationId xmlns:p14="http://schemas.microsoft.com/office/powerpoint/2010/main" val="2914168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304800"/>
            <a:ext cx="8229600" cy="5821363"/>
          </a:xfrm>
        </p:spPr>
        <p:txBody>
          <a:bodyPr>
            <a:normAutofit/>
          </a:bodyPr>
          <a:lstStyle/>
          <a:p>
            <a:pPr>
              <a:buNone/>
            </a:pPr>
            <a:r>
              <a:rPr lang="en-US" dirty="0"/>
              <a:t>It is interesting to note that it is </a:t>
            </a:r>
            <a:r>
              <a:rPr lang="en-US" dirty="0">
                <a:solidFill>
                  <a:srgbClr val="FF0000"/>
                </a:solidFill>
              </a:rPr>
              <a:t>not the resistivity alone </a:t>
            </a:r>
            <a:r>
              <a:rPr lang="en-US" dirty="0"/>
              <a:t>that decides whether a substance is semiconductor or not. For example, </a:t>
            </a:r>
            <a:r>
              <a:rPr lang="en-US" dirty="0">
                <a:solidFill>
                  <a:srgbClr val="FF0000"/>
                </a:solidFill>
              </a:rPr>
              <a:t>it is just possible to prepare an alloy whose resistivity falls within the range of semiconductors but the alloy cannot be regarded as a semiconductor</a:t>
            </a:r>
            <a:r>
              <a:rPr lang="en-US" dirty="0"/>
              <a:t>. In fact, semiconductors have a number of peculiar properties which distinguish them from conductors, insulators and resistance materials.</a:t>
            </a:r>
          </a:p>
        </p:txBody>
      </p:sp>
      <p:sp>
        <p:nvSpPr>
          <p:cNvPr id="6" name="Slide Number Placeholder 5"/>
          <p:cNvSpPr>
            <a:spLocks noGrp="1"/>
          </p:cNvSpPr>
          <p:nvPr>
            <p:ph type="sldNum" sz="quarter" idx="12"/>
          </p:nvPr>
        </p:nvSpPr>
        <p:spPr/>
        <p:txBody>
          <a:bodyPr/>
          <a:lstStyle/>
          <a:p>
            <a:fld id="{7AD26CD8-12C4-48F0-B869-0C70D386A04E}"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lnSpcReduction="20000"/>
          </a:bodyPr>
          <a:lstStyle/>
          <a:p>
            <a:pPr>
              <a:buNone/>
            </a:pPr>
            <a:r>
              <a:rPr lang="en-US" b="1" dirty="0">
                <a:solidFill>
                  <a:srgbClr val="C00000"/>
                </a:solidFill>
              </a:rPr>
              <a:t>   Properties of Semiconductors</a:t>
            </a:r>
          </a:p>
          <a:p>
            <a:pPr>
              <a:buNone/>
            </a:pPr>
            <a:r>
              <a:rPr lang="en-US" dirty="0"/>
              <a:t>(</a:t>
            </a:r>
            <a:r>
              <a:rPr lang="en-US" i="1" dirty="0" err="1"/>
              <a:t>i</a:t>
            </a:r>
            <a:r>
              <a:rPr lang="en-US" i="1" dirty="0"/>
              <a:t>) The resistivity of a semiconductor is less than an insulator but more than a conductor.</a:t>
            </a:r>
          </a:p>
          <a:p>
            <a:pPr>
              <a:buNone/>
            </a:pPr>
            <a:r>
              <a:rPr lang="en-US" dirty="0"/>
              <a:t>(</a:t>
            </a:r>
            <a:r>
              <a:rPr lang="en-US" i="1" dirty="0"/>
              <a:t>ii) Semiconductors have </a:t>
            </a:r>
            <a:r>
              <a:rPr lang="en-US" i="1" dirty="0">
                <a:solidFill>
                  <a:srgbClr val="C00000"/>
                </a:solidFill>
              </a:rPr>
              <a:t>negative temperature co-efficient of resistance</a:t>
            </a:r>
            <a:r>
              <a:rPr lang="en-US" i="1" dirty="0"/>
              <a:t> i.e. the resistance</a:t>
            </a:r>
          </a:p>
          <a:p>
            <a:pPr>
              <a:buNone/>
            </a:pPr>
            <a:r>
              <a:rPr lang="en-US" dirty="0"/>
              <a:t>of a semiconductor decreases with the increase in temperature and </a:t>
            </a:r>
            <a:r>
              <a:rPr lang="en-US" i="1" dirty="0"/>
              <a:t>vice-versa. </a:t>
            </a:r>
            <a:r>
              <a:rPr lang="en-US" i="1" dirty="0">
                <a:solidFill>
                  <a:schemeClr val="accent1"/>
                </a:solidFill>
              </a:rPr>
              <a:t>For example, germanium </a:t>
            </a:r>
            <a:r>
              <a:rPr lang="en-US" dirty="0">
                <a:solidFill>
                  <a:schemeClr val="accent1"/>
                </a:solidFill>
              </a:rPr>
              <a:t>is actually an insulator at low temperatures but it becomes a good conductor at high temperatures.</a:t>
            </a:r>
          </a:p>
          <a:p>
            <a:pPr>
              <a:buNone/>
            </a:pPr>
            <a:r>
              <a:rPr lang="en-US" dirty="0"/>
              <a:t>(</a:t>
            </a:r>
            <a:r>
              <a:rPr lang="en-US" i="1" dirty="0"/>
              <a:t>iii) </a:t>
            </a:r>
            <a:r>
              <a:rPr lang="en-US" i="1" dirty="0">
                <a:solidFill>
                  <a:srgbClr val="FF0000"/>
                </a:solidFill>
              </a:rPr>
              <a:t>When a suitable metallic impurity </a:t>
            </a:r>
            <a:r>
              <a:rPr lang="en-US" i="1" dirty="0"/>
              <a:t>(e.g. arsenic, gallium etc.) is added to a semiconductor, its</a:t>
            </a:r>
          </a:p>
          <a:p>
            <a:pPr>
              <a:buNone/>
            </a:pPr>
            <a:r>
              <a:rPr lang="en-US" dirty="0"/>
              <a:t>current conducting properties change appreciably. </a:t>
            </a:r>
            <a:r>
              <a:rPr lang="en-US" dirty="0">
                <a:solidFill>
                  <a:srgbClr val="FF0000"/>
                </a:solidFill>
              </a:rPr>
              <a:t>This property is most important property</a:t>
            </a:r>
          </a:p>
        </p:txBody>
      </p:sp>
      <p:sp>
        <p:nvSpPr>
          <p:cNvPr id="5" name="Slide Number Placeholder 4"/>
          <p:cNvSpPr>
            <a:spLocks noGrp="1"/>
          </p:cNvSpPr>
          <p:nvPr>
            <p:ph type="sldNum" sz="quarter" idx="12"/>
          </p:nvPr>
        </p:nvSpPr>
        <p:spPr/>
        <p:txBody>
          <a:bodyPr/>
          <a:lstStyle/>
          <a:p>
            <a:fld id="{7AD26CD8-12C4-48F0-B869-0C70D386A04E}"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a:buNone/>
            </a:pPr>
            <a:r>
              <a:rPr lang="en-US" b="1" dirty="0"/>
              <a:t>      Commonly Used Semiconductors</a:t>
            </a:r>
          </a:p>
          <a:p>
            <a:pPr>
              <a:buNone/>
            </a:pPr>
            <a:r>
              <a:rPr lang="en-US" dirty="0"/>
              <a:t>There are many semiconductors available, but very few of them have a practical application in electronics. The two most frequently used materials are</a:t>
            </a:r>
            <a:r>
              <a:rPr lang="en-US" dirty="0">
                <a:solidFill>
                  <a:srgbClr val="C00000"/>
                </a:solidFill>
              </a:rPr>
              <a:t> </a:t>
            </a:r>
            <a:r>
              <a:rPr lang="en-US" i="1" dirty="0">
                <a:solidFill>
                  <a:srgbClr val="C00000"/>
                </a:solidFill>
              </a:rPr>
              <a:t>germanium </a:t>
            </a:r>
            <a:r>
              <a:rPr lang="en-US" i="1" dirty="0"/>
              <a:t>(</a:t>
            </a:r>
            <a:r>
              <a:rPr lang="en-US" i="1" dirty="0" err="1"/>
              <a:t>Ge</a:t>
            </a:r>
            <a:r>
              <a:rPr lang="en-US" i="1" dirty="0"/>
              <a:t>) and </a:t>
            </a:r>
            <a:r>
              <a:rPr lang="en-US" i="1" dirty="0">
                <a:solidFill>
                  <a:srgbClr val="C00000"/>
                </a:solidFill>
              </a:rPr>
              <a:t>silicon</a:t>
            </a:r>
            <a:r>
              <a:rPr lang="en-US" i="1" dirty="0"/>
              <a:t> (Si). It is </a:t>
            </a:r>
            <a:r>
              <a:rPr lang="en-US" i="1" dirty="0">
                <a:solidFill>
                  <a:srgbClr val="FF0000"/>
                </a:solidFill>
              </a:rPr>
              <a:t>because the energy required to </a:t>
            </a:r>
            <a:r>
              <a:rPr lang="en-US" dirty="0">
                <a:solidFill>
                  <a:srgbClr val="FF0000"/>
                </a:solidFill>
              </a:rPr>
              <a:t>break their co-</a:t>
            </a:r>
            <a:r>
              <a:rPr lang="en-US" dirty="0" err="1">
                <a:solidFill>
                  <a:srgbClr val="FF0000"/>
                </a:solidFill>
              </a:rPr>
              <a:t>valent</a:t>
            </a:r>
            <a:r>
              <a:rPr lang="en-US" dirty="0">
                <a:solidFill>
                  <a:srgbClr val="FF0000"/>
                </a:solidFill>
              </a:rPr>
              <a:t> bonds (</a:t>
            </a:r>
            <a:r>
              <a:rPr lang="en-US" i="1" dirty="0">
                <a:solidFill>
                  <a:srgbClr val="FF0000"/>
                </a:solidFill>
              </a:rPr>
              <a:t>i.e. energy required to release an electron from their valence bands) is </a:t>
            </a:r>
            <a:r>
              <a:rPr lang="en-US" dirty="0">
                <a:solidFill>
                  <a:srgbClr val="FF0000"/>
                </a:solidFill>
              </a:rPr>
              <a:t>very small</a:t>
            </a:r>
            <a:r>
              <a:rPr lang="en-US" dirty="0"/>
              <a:t>; being about 0.7 </a:t>
            </a:r>
            <a:r>
              <a:rPr lang="en-US" dirty="0" err="1"/>
              <a:t>eV</a:t>
            </a:r>
            <a:r>
              <a:rPr lang="en-US" dirty="0"/>
              <a:t> for germanium and about 1.1 </a:t>
            </a:r>
            <a:r>
              <a:rPr lang="en-US" dirty="0" err="1"/>
              <a:t>eV</a:t>
            </a:r>
            <a:r>
              <a:rPr lang="en-US" dirty="0"/>
              <a:t> for silicon. Therefore, we shall discuss these two semiconductors in detail.</a:t>
            </a:r>
          </a:p>
        </p:txBody>
      </p:sp>
      <p:sp>
        <p:nvSpPr>
          <p:cNvPr id="5" name="Slide Number Placeholder 4"/>
          <p:cNvSpPr>
            <a:spLocks noGrp="1"/>
          </p:cNvSpPr>
          <p:nvPr>
            <p:ph type="sldNum" sz="quarter" idx="12"/>
          </p:nvPr>
        </p:nvSpPr>
        <p:spPr/>
        <p:txBody>
          <a:bodyPr/>
          <a:lstStyle/>
          <a:p>
            <a:fld id="{7AD26CD8-12C4-48F0-B869-0C70D386A04E}" type="slidenum">
              <a:rPr lang="en-US" smtClean="0"/>
              <a:pPr/>
              <a:t>19</a:t>
            </a:fld>
            <a:endParaRPr lang="en-US"/>
          </a:p>
        </p:txBody>
      </p:sp>
      <p:pic>
        <p:nvPicPr>
          <p:cNvPr id="2052" name="Picture 4"/>
          <p:cNvPicPr>
            <a:picLocks noChangeAspect="1" noChangeArrowheads="1"/>
          </p:cNvPicPr>
          <p:nvPr/>
        </p:nvPicPr>
        <p:blipFill>
          <a:blip r:embed="rId2"/>
          <a:srcRect/>
          <a:stretch>
            <a:fillRect/>
          </a:stretch>
        </p:blipFill>
        <p:spPr bwMode="auto">
          <a:xfrm>
            <a:off x="304800" y="5791200"/>
            <a:ext cx="8534400" cy="609600"/>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ASSIGNMENT 1</a:t>
            </a:r>
          </a:p>
        </p:txBody>
      </p:sp>
      <p:sp>
        <p:nvSpPr>
          <p:cNvPr id="3" name="Content Placeholder 2"/>
          <p:cNvSpPr>
            <a:spLocks noGrp="1"/>
          </p:cNvSpPr>
          <p:nvPr>
            <p:ph idx="1"/>
          </p:nvPr>
        </p:nvSpPr>
        <p:spPr>
          <a:xfrm>
            <a:off x="457200" y="1143000"/>
            <a:ext cx="8229600" cy="5257800"/>
          </a:xfrm>
        </p:spPr>
        <p:txBody>
          <a:bodyPr>
            <a:normAutofit lnSpcReduction="10000"/>
          </a:bodyPr>
          <a:lstStyle/>
          <a:p>
            <a:pPr marL="0" indent="0">
              <a:buNone/>
            </a:pPr>
            <a:r>
              <a:rPr lang="en-US" dirty="0"/>
              <a:t>.WHY CARBON IS NOT USED AS A SEMICONDUCTOR MATERIAL</a:t>
            </a:r>
          </a:p>
          <a:p>
            <a:pPr marL="0" indent="0">
              <a:buNone/>
            </a:pPr>
            <a:endParaRPr lang="en-US" dirty="0"/>
          </a:p>
          <a:p>
            <a:pPr marL="0" indent="0">
              <a:buNone/>
            </a:pPr>
            <a:r>
              <a:rPr lang="en-US" dirty="0"/>
              <a:t>.WHICH SEMICONDUCTOR MATERIAL IS MOST USED AND WHY</a:t>
            </a:r>
          </a:p>
          <a:p>
            <a:pPr marL="0" indent="0">
              <a:buNone/>
            </a:pPr>
            <a:endParaRPr lang="en-US" dirty="0"/>
          </a:p>
          <a:p>
            <a:pPr marL="0" indent="0">
              <a:buNone/>
            </a:pPr>
            <a:r>
              <a:rPr lang="en-US" dirty="0"/>
              <a:t>.COMPARE Si AND </a:t>
            </a:r>
            <a:r>
              <a:rPr lang="en-US" dirty="0" err="1"/>
              <a:t>Ge</a:t>
            </a:r>
            <a:r>
              <a:rPr lang="en-US" dirty="0"/>
              <a:t> SEMICONDUCTORS</a:t>
            </a:r>
          </a:p>
          <a:p>
            <a:pPr marL="0" indent="0">
              <a:buNone/>
            </a:pPr>
            <a:endParaRPr lang="en-US" dirty="0"/>
          </a:p>
          <a:p>
            <a:pPr marL="0" indent="0">
              <a:buNone/>
            </a:pPr>
            <a:r>
              <a:rPr lang="en-US" dirty="0"/>
              <a:t>.WHY A SEMICONDUCTOR IS NOT TO CLASSIFY IT AS A RESISTANCE MATERIAL </a:t>
            </a:r>
          </a:p>
        </p:txBody>
      </p:sp>
      <p:sp>
        <p:nvSpPr>
          <p:cNvPr id="4" name="Slide Number Placeholder 3"/>
          <p:cNvSpPr>
            <a:spLocks noGrp="1"/>
          </p:cNvSpPr>
          <p:nvPr>
            <p:ph type="sldNum" sz="quarter" idx="12"/>
          </p:nvPr>
        </p:nvSpPr>
        <p:spPr/>
        <p:txBody>
          <a:bodyPr/>
          <a:lstStyle/>
          <a:p>
            <a:fld id="{7AD26CD8-12C4-48F0-B869-0C70D386A04E}" type="slidenum">
              <a:rPr lang="en-US" smtClean="0"/>
              <a:pPr/>
              <a:t>20</a:t>
            </a:fld>
            <a:endParaRPr lang="en-US"/>
          </a:p>
        </p:txBody>
      </p:sp>
    </p:spTree>
    <p:extLst>
      <p:ext uri="{BB962C8B-B14F-4D97-AF65-F5344CB8AC3E}">
        <p14:creationId xmlns:p14="http://schemas.microsoft.com/office/powerpoint/2010/main" val="3249512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85000" lnSpcReduction="10000"/>
          </a:bodyPr>
          <a:lstStyle/>
          <a:p>
            <a:pPr>
              <a:buNone/>
            </a:pPr>
            <a:r>
              <a:rPr lang="en-US" b="1" dirty="0"/>
              <a:t>				 </a:t>
            </a:r>
            <a:r>
              <a:rPr lang="en-US" b="1" dirty="0">
                <a:solidFill>
                  <a:srgbClr val="FF0000"/>
                </a:solidFill>
              </a:rPr>
              <a:t>The hole current</a:t>
            </a:r>
          </a:p>
          <a:p>
            <a:pPr>
              <a:buNone/>
            </a:pPr>
            <a:r>
              <a:rPr lang="en-US" dirty="0"/>
              <a:t>can be beautifully explained in terms of energy</a:t>
            </a:r>
          </a:p>
          <a:p>
            <a:pPr>
              <a:buNone/>
            </a:pPr>
            <a:r>
              <a:rPr lang="en-US" dirty="0"/>
              <a:t>bands. Suppose due to </a:t>
            </a:r>
            <a:r>
              <a:rPr lang="en-US" dirty="0">
                <a:solidFill>
                  <a:srgbClr val="FF0000"/>
                </a:solidFill>
              </a:rPr>
              <a:t>thermal energy</a:t>
            </a:r>
            <a:r>
              <a:rPr lang="en-US" dirty="0"/>
              <a:t>, an electron</a:t>
            </a:r>
          </a:p>
          <a:p>
            <a:pPr>
              <a:buNone/>
            </a:pPr>
            <a:r>
              <a:rPr lang="en-US" dirty="0"/>
              <a:t>leaves the valence band to enter into the conduction</a:t>
            </a:r>
          </a:p>
          <a:p>
            <a:pPr>
              <a:buNone/>
            </a:pPr>
            <a:r>
              <a:rPr lang="en-US" dirty="0"/>
              <a:t>band as shown in Fig. 5.9. This leaves a vacancy at </a:t>
            </a:r>
            <a:r>
              <a:rPr lang="en-US" i="1" dirty="0"/>
              <a:t>L. Now the valence </a:t>
            </a:r>
            <a:r>
              <a:rPr lang="en-US" dirty="0"/>
              <a:t>electron at </a:t>
            </a:r>
            <a:r>
              <a:rPr lang="en-US" i="1" dirty="0"/>
              <a:t>M comes to fill the hole at L. The result </a:t>
            </a:r>
            <a:r>
              <a:rPr lang="en-US" dirty="0"/>
              <a:t>is that hole disappears at </a:t>
            </a:r>
            <a:r>
              <a:rPr lang="en-US" i="1" dirty="0"/>
              <a:t>L and appears at M. Next, </a:t>
            </a:r>
            <a:r>
              <a:rPr lang="en-US" dirty="0"/>
              <a:t>the valence electron at </a:t>
            </a:r>
            <a:r>
              <a:rPr lang="en-US" i="1" dirty="0"/>
              <a:t>N moves into the hole at M. </a:t>
            </a:r>
            <a:r>
              <a:rPr lang="en-US" dirty="0"/>
              <a:t>Consequently, hole is created at </a:t>
            </a:r>
            <a:r>
              <a:rPr lang="en-US" i="1" dirty="0"/>
              <a:t>N. It is clear that</a:t>
            </a:r>
          </a:p>
          <a:p>
            <a:pPr>
              <a:buNone/>
            </a:pPr>
            <a:r>
              <a:rPr lang="en-US" dirty="0"/>
              <a:t>valence electrons move along the path </a:t>
            </a:r>
            <a:r>
              <a:rPr lang="en-US" i="1" dirty="0"/>
              <a:t>PNML</a:t>
            </a:r>
          </a:p>
          <a:p>
            <a:pPr>
              <a:buNone/>
            </a:pPr>
            <a:r>
              <a:rPr lang="en-US" dirty="0"/>
              <a:t>whereas holes move in the opposite direction </a:t>
            </a:r>
            <a:r>
              <a:rPr lang="en-US" i="1" dirty="0"/>
              <a:t>i.e.</a:t>
            </a:r>
          </a:p>
          <a:p>
            <a:pPr>
              <a:buNone/>
            </a:pPr>
            <a:r>
              <a:rPr lang="en-US" dirty="0"/>
              <a:t>along the path </a:t>
            </a:r>
            <a:r>
              <a:rPr lang="en-US" i="1" dirty="0"/>
              <a:t>LMNP.</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21</a:t>
            </a:fld>
            <a:endParaRPr lang="en-US"/>
          </a:p>
        </p:txBody>
      </p:sp>
      <p:pic>
        <p:nvPicPr>
          <p:cNvPr id="3074" name="Picture 2"/>
          <p:cNvPicPr>
            <a:picLocks noChangeAspect="1" noChangeArrowheads="1"/>
          </p:cNvPicPr>
          <p:nvPr/>
        </p:nvPicPr>
        <p:blipFill>
          <a:blip r:embed="rId2"/>
          <a:srcRect/>
          <a:stretch>
            <a:fillRect/>
          </a:stretch>
        </p:blipFill>
        <p:spPr bwMode="auto">
          <a:xfrm>
            <a:off x="5105400" y="4953000"/>
            <a:ext cx="3429000" cy="1905000"/>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172200"/>
          </a:xfrm>
        </p:spPr>
        <p:txBody>
          <a:bodyPr>
            <a:normAutofit fontScale="92500" lnSpcReduction="10000"/>
          </a:bodyPr>
          <a:lstStyle/>
          <a:p>
            <a:pPr>
              <a:buNone/>
            </a:pPr>
            <a:r>
              <a:rPr lang="en-US" dirty="0"/>
              <a:t>    </a:t>
            </a:r>
            <a:r>
              <a:rPr lang="en-US" b="1" i="1" dirty="0"/>
              <a:t>N-TYPE AND P-TYPE SEMICONDUCTORS</a:t>
            </a:r>
            <a:endParaRPr lang="en-US" dirty="0"/>
          </a:p>
          <a:p>
            <a:pPr>
              <a:buNone/>
            </a:pPr>
            <a:r>
              <a:rPr lang="en-US" dirty="0"/>
              <a:t>Semiconductive materials do not conduct current well and are of limited value in their </a:t>
            </a:r>
            <a:r>
              <a:rPr lang="en-US" dirty="0">
                <a:solidFill>
                  <a:srgbClr val="FF0000"/>
                </a:solidFill>
              </a:rPr>
              <a:t>intrinsic </a:t>
            </a:r>
            <a:r>
              <a:rPr lang="en-US" dirty="0"/>
              <a:t>state. This is because of the limited number of free electrons in the conduction band and holes in the valence band. </a:t>
            </a:r>
            <a:r>
              <a:rPr lang="en-US" dirty="0">
                <a:solidFill>
                  <a:srgbClr val="FF0000"/>
                </a:solidFill>
              </a:rPr>
              <a:t>Intrinsic silicon </a:t>
            </a:r>
            <a:r>
              <a:rPr lang="en-US" dirty="0"/>
              <a:t>(or </a:t>
            </a:r>
            <a:r>
              <a:rPr lang="en-US" dirty="0">
                <a:solidFill>
                  <a:srgbClr val="FF0000"/>
                </a:solidFill>
              </a:rPr>
              <a:t>germanium</a:t>
            </a:r>
            <a:r>
              <a:rPr lang="en-US" dirty="0"/>
              <a:t>) must be modified by increasing the number of free electrons or holes to increase its conductivity and make it useful in electronic devices. This is done by adding impurities to the intrinsic material. Two types of </a:t>
            </a:r>
            <a:r>
              <a:rPr lang="en-US" dirty="0">
                <a:solidFill>
                  <a:srgbClr val="FF0000"/>
                </a:solidFill>
              </a:rPr>
              <a:t>extrinsic</a:t>
            </a:r>
            <a:r>
              <a:rPr lang="en-US" dirty="0"/>
              <a:t> (impure) </a:t>
            </a:r>
            <a:r>
              <a:rPr lang="en-US" dirty="0" err="1"/>
              <a:t>semiconductive</a:t>
            </a:r>
            <a:r>
              <a:rPr lang="en-US" dirty="0"/>
              <a:t> materials, </a:t>
            </a:r>
            <a:r>
              <a:rPr lang="en-US" i="1" dirty="0"/>
              <a:t>n-type and p-type, are the key </a:t>
            </a:r>
            <a:r>
              <a:rPr lang="en-US" dirty="0"/>
              <a:t>building blocks for most types of electronic devices.</a:t>
            </a:r>
          </a:p>
        </p:txBody>
      </p:sp>
      <p:sp>
        <p:nvSpPr>
          <p:cNvPr id="4" name="Slide Number Placeholder 3"/>
          <p:cNvSpPr>
            <a:spLocks noGrp="1"/>
          </p:cNvSpPr>
          <p:nvPr>
            <p:ph type="sldNum" sz="quarter" idx="12"/>
          </p:nvPr>
        </p:nvSpPr>
        <p:spPr/>
        <p:txBody>
          <a:bodyPr/>
          <a:lstStyle/>
          <a:p>
            <a:fld id="{7AD26CD8-12C4-48F0-B869-0C70D386A04E}"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fontScale="92500" lnSpcReduction="20000"/>
          </a:bodyPr>
          <a:lstStyle/>
          <a:p>
            <a:pPr>
              <a:buNone/>
            </a:pPr>
            <a:r>
              <a:rPr lang="en-US" dirty="0"/>
              <a:t>Since semiconductors are generally poor conductors, their conductivity can be drastically increased by the controlled addition of impurities to the intrinsic (pure) semi conductive material. This process, called </a:t>
            </a:r>
            <a:r>
              <a:rPr lang="en-US" b="1" dirty="0"/>
              <a:t>doping, increases the number of current carriers (electrons or holes</a:t>
            </a:r>
            <a:r>
              <a:rPr lang="en-US" dirty="0"/>
              <a:t>). The two categories of impurities are </a:t>
            </a:r>
            <a:r>
              <a:rPr lang="en-US" i="1" dirty="0"/>
              <a:t>n-type and p-type.</a:t>
            </a:r>
          </a:p>
          <a:p>
            <a:pPr>
              <a:buNone/>
            </a:pPr>
            <a:r>
              <a:rPr lang="en-US" b="1" i="1" dirty="0"/>
              <a:t>N-Type Semiconductor</a:t>
            </a:r>
          </a:p>
          <a:p>
            <a:pPr>
              <a:buNone/>
            </a:pPr>
            <a:r>
              <a:rPr lang="en-US" dirty="0"/>
              <a:t>To increase the number of conduction-band electrons in intrinsic silicon, </a:t>
            </a:r>
            <a:r>
              <a:rPr lang="en-US" dirty="0">
                <a:solidFill>
                  <a:srgbClr val="FF0000"/>
                </a:solidFill>
              </a:rPr>
              <a:t>pentavalent impurity</a:t>
            </a:r>
          </a:p>
          <a:p>
            <a:pPr>
              <a:buNone/>
            </a:pPr>
            <a:r>
              <a:rPr lang="en-US" dirty="0"/>
              <a:t>atoms are added. These are atoms with five valence electrons such as arsenic (As),phosphorus (P), bismuth (Bi), and antimony (</a:t>
            </a:r>
            <a:r>
              <a:rPr lang="en-US" dirty="0" err="1"/>
              <a:t>Sb</a:t>
            </a:r>
            <a:r>
              <a:rPr lang="en-US" dirty="0"/>
              <a:t>).</a:t>
            </a:r>
          </a:p>
        </p:txBody>
      </p:sp>
      <p:sp>
        <p:nvSpPr>
          <p:cNvPr id="4" name="Slide Number Placeholder 3"/>
          <p:cNvSpPr>
            <a:spLocks noGrp="1"/>
          </p:cNvSpPr>
          <p:nvPr>
            <p:ph type="sldNum" sz="quarter" idx="12"/>
          </p:nvPr>
        </p:nvSpPr>
        <p:spPr/>
        <p:txBody>
          <a:bodyPr/>
          <a:lstStyle/>
          <a:p>
            <a:fld id="{7AD26CD8-12C4-48F0-B869-0C70D386A04E}"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248400"/>
          </a:xfrm>
        </p:spPr>
        <p:txBody>
          <a:bodyPr>
            <a:normAutofit fontScale="92500" lnSpcReduction="20000"/>
          </a:bodyPr>
          <a:lstStyle/>
          <a:p>
            <a:pPr>
              <a:buNone/>
            </a:pPr>
            <a:r>
              <a:rPr lang="en-US" dirty="0"/>
              <a:t>As illustrated in Figure 1–17, each pentavalent atom (antimony, in this case) forms covalent bonds with four adjacent silicon atoms. Four of the antimony atom’s valence electrons are used to form the covalent bonds with silicon atoms, leaving one extra electron.</a:t>
            </a:r>
          </a:p>
          <a:p>
            <a:pPr>
              <a:buNone/>
            </a:pPr>
            <a:r>
              <a:rPr lang="en-US" dirty="0"/>
              <a:t>This extra electron becomes a conduction electron because it is </a:t>
            </a:r>
            <a:r>
              <a:rPr lang="en-US" dirty="0">
                <a:solidFill>
                  <a:srgbClr val="FF0000"/>
                </a:solidFill>
              </a:rPr>
              <a:t>not involved </a:t>
            </a:r>
            <a:r>
              <a:rPr lang="en-US" dirty="0"/>
              <a:t>in bonding. Because the pentavalent atom gives up an electron, it is often called a </a:t>
            </a:r>
            <a:r>
              <a:rPr lang="en-US" i="1" dirty="0">
                <a:solidFill>
                  <a:srgbClr val="FF0000"/>
                </a:solidFill>
              </a:rPr>
              <a:t>donor atom.</a:t>
            </a:r>
            <a:r>
              <a:rPr lang="en-US" i="1" dirty="0"/>
              <a:t> The </a:t>
            </a:r>
            <a:r>
              <a:rPr lang="en-US" dirty="0"/>
              <a:t>number of conduction electrons can be carefully controlled by the number of </a:t>
            </a:r>
            <a:r>
              <a:rPr lang="en-US" dirty="0">
                <a:solidFill>
                  <a:srgbClr val="FF0000"/>
                </a:solidFill>
              </a:rPr>
              <a:t>impurity atoms </a:t>
            </a:r>
            <a:r>
              <a:rPr lang="en-US" dirty="0"/>
              <a:t>added to the silicon. A conduction electron created by this doping process does not leave a hole in the valence band because it is in excess of the number required to fill the valence band.</a:t>
            </a:r>
          </a:p>
        </p:txBody>
      </p:sp>
      <p:sp>
        <p:nvSpPr>
          <p:cNvPr id="4" name="Slide Number Placeholder 3"/>
          <p:cNvSpPr>
            <a:spLocks noGrp="1"/>
          </p:cNvSpPr>
          <p:nvPr>
            <p:ph type="sldNum" sz="quarter" idx="12"/>
          </p:nvPr>
        </p:nvSpPr>
        <p:spPr/>
        <p:txBody>
          <a:bodyPr/>
          <a:lstStyle/>
          <a:p>
            <a:fld id="{7AD26CD8-12C4-48F0-B869-0C70D386A04E}"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25</a:t>
            </a:fld>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304800" y="1219200"/>
            <a:ext cx="8458200" cy="472440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85000" lnSpcReduction="10000"/>
          </a:bodyPr>
          <a:lstStyle/>
          <a:p>
            <a:pPr>
              <a:buNone/>
            </a:pPr>
            <a:r>
              <a:rPr lang="en-US" i="1" dirty="0">
                <a:solidFill>
                  <a:srgbClr val="FF0000"/>
                </a:solidFill>
              </a:rPr>
              <a:t>Majority </a:t>
            </a:r>
            <a:r>
              <a:rPr lang="en-US" i="1" dirty="0"/>
              <a:t>and</a:t>
            </a:r>
            <a:r>
              <a:rPr lang="en-US" i="1" dirty="0">
                <a:solidFill>
                  <a:srgbClr val="FF0000"/>
                </a:solidFill>
              </a:rPr>
              <a:t> Minority </a:t>
            </a:r>
            <a:r>
              <a:rPr lang="en-US" i="1" dirty="0"/>
              <a:t>Carriers Since most of the current carriers are electrons, silicon</a:t>
            </a:r>
          </a:p>
          <a:p>
            <a:pPr>
              <a:buNone/>
            </a:pPr>
            <a:r>
              <a:rPr lang="en-US" dirty="0"/>
              <a:t>(or germanium) doped with pentavalent atoms is an </a:t>
            </a:r>
            <a:r>
              <a:rPr lang="en-US" i="1" dirty="0"/>
              <a:t>n-type semiconductor (the n stands for</a:t>
            </a:r>
          </a:p>
          <a:p>
            <a:pPr>
              <a:buNone/>
            </a:pPr>
            <a:r>
              <a:rPr lang="en-US" dirty="0"/>
              <a:t>the negative charge on an electron). The electrons are called the </a:t>
            </a:r>
            <a:r>
              <a:rPr lang="en-US" b="1" dirty="0"/>
              <a:t>majority carriers in</a:t>
            </a:r>
          </a:p>
          <a:p>
            <a:pPr>
              <a:buNone/>
            </a:pPr>
            <a:r>
              <a:rPr lang="en-US" b="1" i="1" dirty="0"/>
              <a:t>n-type material. </a:t>
            </a:r>
            <a:r>
              <a:rPr lang="en-US" i="1" dirty="0"/>
              <a:t>Although the majority of current carriers in n-type material are electrons,</a:t>
            </a:r>
          </a:p>
          <a:p>
            <a:pPr>
              <a:buNone/>
            </a:pPr>
            <a:r>
              <a:rPr lang="en-US" dirty="0"/>
              <a:t>there are also a few holes that are created when electron-hole pairs are thermally generated.</a:t>
            </a:r>
          </a:p>
          <a:p>
            <a:pPr>
              <a:buNone/>
            </a:pPr>
            <a:r>
              <a:rPr lang="en-US" dirty="0"/>
              <a:t>These holes are </a:t>
            </a:r>
            <a:r>
              <a:rPr lang="en-US" i="1" dirty="0"/>
              <a:t>not produced by the addition of the pentavalent impurity atoms.</a:t>
            </a:r>
          </a:p>
          <a:p>
            <a:pPr>
              <a:buNone/>
            </a:pPr>
            <a:r>
              <a:rPr lang="en-US" dirty="0"/>
              <a:t>Holes in an </a:t>
            </a:r>
            <a:r>
              <a:rPr lang="en-US" i="1" dirty="0"/>
              <a:t>n-type material are called </a:t>
            </a:r>
            <a:r>
              <a:rPr lang="en-US" b="1" i="1" dirty="0"/>
              <a:t>minority carriers.</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fontScale="85000" lnSpcReduction="10000"/>
          </a:bodyPr>
          <a:lstStyle/>
          <a:p>
            <a:pPr>
              <a:buNone/>
            </a:pPr>
            <a:r>
              <a:rPr lang="en-US" b="1" i="1" dirty="0"/>
              <a:t>         P-Type Semiconductor</a:t>
            </a:r>
          </a:p>
          <a:p>
            <a:pPr>
              <a:buNone/>
            </a:pPr>
            <a:r>
              <a:rPr lang="en-US" dirty="0"/>
              <a:t>To increase the number of holes in intrinsic silicon, </a:t>
            </a:r>
            <a:r>
              <a:rPr lang="en-US" dirty="0">
                <a:solidFill>
                  <a:srgbClr val="C00000"/>
                </a:solidFill>
              </a:rPr>
              <a:t>trivalent impurity </a:t>
            </a:r>
            <a:r>
              <a:rPr lang="en-US" dirty="0"/>
              <a:t>atoms are added</a:t>
            </a:r>
            <a:r>
              <a:rPr lang="en-US" b="1" dirty="0"/>
              <a:t>. </a:t>
            </a:r>
            <a:r>
              <a:rPr lang="en-US" dirty="0"/>
              <a:t>These are atoms with three valence electrons such as boron (B), indium (In), and gallium (</a:t>
            </a:r>
            <a:r>
              <a:rPr lang="en-US" dirty="0" err="1"/>
              <a:t>Ga</a:t>
            </a:r>
            <a:r>
              <a:rPr lang="en-US" dirty="0"/>
              <a:t>). As illustrated in Figure 1–18, each trivalent atom (boron, in this case) forms covalent bonds with four adjacent silicon atoms. All three of the boron atom’s valence electrons are used in the covalent bonds; and, since four electrons are required, a hole results when each trivalent atom is added. Because the trivalent atom can take an electron, it is often referred to as an </a:t>
            </a:r>
            <a:r>
              <a:rPr lang="en-US" i="1" dirty="0">
                <a:solidFill>
                  <a:srgbClr val="FF0000"/>
                </a:solidFill>
              </a:rPr>
              <a:t>acceptor atom</a:t>
            </a:r>
            <a:r>
              <a:rPr lang="en-US" i="1" dirty="0"/>
              <a:t>. The number of holes can be carefully controlled by the number of </a:t>
            </a:r>
            <a:r>
              <a:rPr lang="en-US" dirty="0"/>
              <a:t>trivalent impurity atoms added to the silicon. A hole created by this doping process is </a:t>
            </a:r>
            <a:r>
              <a:rPr lang="en-US" i="1" dirty="0"/>
              <a:t>not </a:t>
            </a:r>
            <a:r>
              <a:rPr lang="en-US" dirty="0"/>
              <a:t>accompanied by a conduction (free) electron.</a:t>
            </a:r>
          </a:p>
        </p:txBody>
      </p:sp>
      <p:sp>
        <p:nvSpPr>
          <p:cNvPr id="4" name="Slide Number Placeholder 3"/>
          <p:cNvSpPr>
            <a:spLocks noGrp="1"/>
          </p:cNvSpPr>
          <p:nvPr>
            <p:ph type="sldNum" sz="quarter" idx="12"/>
          </p:nvPr>
        </p:nvSpPr>
        <p:spPr/>
        <p:txBody>
          <a:bodyPr/>
          <a:lstStyle/>
          <a:p>
            <a:fld id="{7AD26CD8-12C4-48F0-B869-0C70D386A04E}"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20000"/>
          </a:bodyPr>
          <a:lstStyle/>
          <a:p>
            <a:pPr>
              <a:buNone/>
            </a:pPr>
            <a:r>
              <a:rPr lang="en-US" i="1" dirty="0">
                <a:solidFill>
                  <a:srgbClr val="C00000"/>
                </a:solidFill>
              </a:rPr>
              <a:t>Majority</a:t>
            </a:r>
            <a:r>
              <a:rPr lang="en-US" i="1" dirty="0"/>
              <a:t> and </a:t>
            </a:r>
            <a:r>
              <a:rPr lang="en-US" i="1" dirty="0">
                <a:solidFill>
                  <a:srgbClr val="C00000"/>
                </a:solidFill>
              </a:rPr>
              <a:t>Minority</a:t>
            </a:r>
            <a:r>
              <a:rPr lang="en-US" i="1" dirty="0"/>
              <a:t> Carriers Since most of the current carriers are holes, silicon (or</a:t>
            </a:r>
          </a:p>
          <a:p>
            <a:pPr>
              <a:buNone/>
            </a:pPr>
            <a:r>
              <a:rPr lang="en-US" dirty="0"/>
              <a:t>germanium) doped with trivalent atoms is called a </a:t>
            </a:r>
            <a:r>
              <a:rPr lang="en-US" i="1" dirty="0"/>
              <a:t>p-type semiconductor. The holes are the</a:t>
            </a:r>
          </a:p>
          <a:p>
            <a:pPr>
              <a:buNone/>
            </a:pPr>
            <a:r>
              <a:rPr lang="en-US" dirty="0"/>
              <a:t>majority carriers in </a:t>
            </a:r>
            <a:r>
              <a:rPr lang="en-US" i="1" dirty="0"/>
              <a:t>p-type material. Although the majority of current carriers in p-type</a:t>
            </a:r>
          </a:p>
          <a:p>
            <a:pPr>
              <a:buNone/>
            </a:pPr>
            <a:r>
              <a:rPr lang="en-US" dirty="0"/>
              <a:t>material are holes, there are also a few conduction-band electrons that are created when</a:t>
            </a:r>
          </a:p>
          <a:p>
            <a:pPr>
              <a:buNone/>
            </a:pPr>
            <a:r>
              <a:rPr lang="en-US" dirty="0"/>
              <a:t>electron-hole pairs are thermally generated. These conduction-band electrons are </a:t>
            </a:r>
            <a:r>
              <a:rPr lang="en-US" i="1" dirty="0"/>
              <a:t>not produced</a:t>
            </a:r>
          </a:p>
          <a:p>
            <a:pPr>
              <a:buNone/>
            </a:pPr>
            <a:r>
              <a:rPr lang="en-US" dirty="0"/>
              <a:t>by the addition of the trivalent impurity atoms. Conduction-band electrons in </a:t>
            </a:r>
            <a:r>
              <a:rPr lang="en-US" i="1" dirty="0"/>
              <a:t>p-type</a:t>
            </a:r>
          </a:p>
          <a:p>
            <a:pPr>
              <a:buNone/>
            </a:pPr>
            <a:r>
              <a:rPr lang="en-US" dirty="0"/>
              <a:t>material are the minority carriers.</a:t>
            </a:r>
          </a:p>
        </p:txBody>
      </p:sp>
      <p:sp>
        <p:nvSpPr>
          <p:cNvPr id="4" name="Slide Number Placeholder 3"/>
          <p:cNvSpPr>
            <a:spLocks noGrp="1"/>
          </p:cNvSpPr>
          <p:nvPr>
            <p:ph type="sldNum" sz="quarter" idx="12"/>
          </p:nvPr>
        </p:nvSpPr>
        <p:spPr/>
        <p:txBody>
          <a:bodyPr/>
          <a:lstStyle/>
          <a:p>
            <a:fld id="{7AD26CD8-12C4-48F0-B869-0C70D386A04E}"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rmAutofit lnSpcReduction="10000"/>
          </a:bodyPr>
          <a:lstStyle/>
          <a:p>
            <a:pPr>
              <a:buNone/>
            </a:pPr>
            <a:r>
              <a:rPr lang="en-US" b="1" dirty="0"/>
              <a:t>                            </a:t>
            </a:r>
            <a:r>
              <a:rPr lang="en-US" b="1" dirty="0" err="1"/>
              <a:t>pn</a:t>
            </a:r>
            <a:r>
              <a:rPr lang="en-US" b="1" dirty="0"/>
              <a:t> Junction</a:t>
            </a:r>
          </a:p>
          <a:p>
            <a:pPr>
              <a:buNone/>
            </a:pPr>
            <a:r>
              <a:rPr lang="en-US" i="1" dirty="0"/>
              <a:t>When a p-type semiconductor is suitably joined to n-type semiconductor, the contact surface is called </a:t>
            </a:r>
            <a:r>
              <a:rPr lang="en-US" i="1" dirty="0" err="1">
                <a:solidFill>
                  <a:srgbClr val="C00000"/>
                </a:solidFill>
              </a:rPr>
              <a:t>pn</a:t>
            </a:r>
            <a:r>
              <a:rPr lang="en-US" i="1" dirty="0">
                <a:solidFill>
                  <a:srgbClr val="C00000"/>
                </a:solidFill>
              </a:rPr>
              <a:t> junction</a:t>
            </a:r>
            <a:r>
              <a:rPr lang="en-US" i="1" dirty="0"/>
              <a:t>.</a:t>
            </a:r>
          </a:p>
          <a:p>
            <a:pPr>
              <a:buNone/>
            </a:pPr>
            <a:r>
              <a:rPr lang="en-US" dirty="0"/>
              <a:t>Most semiconductor devices contain one or more </a:t>
            </a:r>
            <a:r>
              <a:rPr lang="en-US" i="1" dirty="0" err="1"/>
              <a:t>pn</a:t>
            </a:r>
            <a:r>
              <a:rPr lang="en-US" i="1" dirty="0"/>
              <a:t> junctions. The </a:t>
            </a:r>
            <a:r>
              <a:rPr lang="en-US" i="1" dirty="0" err="1"/>
              <a:t>pn</a:t>
            </a:r>
            <a:r>
              <a:rPr lang="en-US" i="1" dirty="0"/>
              <a:t> junction is of great </a:t>
            </a:r>
            <a:r>
              <a:rPr lang="en-US" dirty="0"/>
              <a:t>importance because it is in effect, the </a:t>
            </a:r>
            <a:r>
              <a:rPr lang="en-US" i="1" dirty="0">
                <a:solidFill>
                  <a:srgbClr val="C00000"/>
                </a:solidFill>
              </a:rPr>
              <a:t>control element</a:t>
            </a:r>
            <a:r>
              <a:rPr lang="en-US" i="1" dirty="0"/>
              <a:t> for semiconductor devices. A thorough knowledge </a:t>
            </a:r>
            <a:r>
              <a:rPr lang="en-US" dirty="0"/>
              <a:t>of the formation and properties of </a:t>
            </a:r>
            <a:r>
              <a:rPr lang="en-US" i="1" dirty="0" err="1"/>
              <a:t>pn</a:t>
            </a:r>
            <a:r>
              <a:rPr lang="en-US" i="1" dirty="0"/>
              <a:t> junction can enable the reader to understand the semiconductor</a:t>
            </a:r>
          </a:p>
          <a:p>
            <a:pPr>
              <a:buNone/>
            </a:pPr>
            <a:r>
              <a:rPr lang="en-US" dirty="0"/>
              <a:t>devices.</a:t>
            </a:r>
          </a:p>
        </p:txBody>
      </p:sp>
      <p:sp>
        <p:nvSpPr>
          <p:cNvPr id="4" name="Slide Number Placeholder 3"/>
          <p:cNvSpPr>
            <a:spLocks noGrp="1"/>
          </p:cNvSpPr>
          <p:nvPr>
            <p:ph type="sldNum" sz="quarter" idx="12"/>
          </p:nvPr>
        </p:nvSpPr>
        <p:spPr/>
        <p:txBody>
          <a:bodyPr/>
          <a:lstStyle/>
          <a:p>
            <a:fld id="{7AD26CD8-12C4-48F0-B869-0C70D386A04E}"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pPr>
              <a:buNone/>
            </a:pPr>
            <a:r>
              <a:rPr lang="en-US" b="1" dirty="0"/>
              <a:t>   			Properties of </a:t>
            </a:r>
            <a:r>
              <a:rPr lang="en-US" b="1" dirty="0" err="1"/>
              <a:t>pn</a:t>
            </a:r>
            <a:r>
              <a:rPr lang="en-US" b="1" dirty="0"/>
              <a:t> Junction</a:t>
            </a:r>
          </a:p>
          <a:p>
            <a:pPr>
              <a:buNone/>
            </a:pPr>
            <a:r>
              <a:rPr lang="en-US" dirty="0"/>
              <a:t>At the instant of </a:t>
            </a:r>
            <a:r>
              <a:rPr lang="en-US" i="1" dirty="0" err="1"/>
              <a:t>pn</a:t>
            </a:r>
            <a:r>
              <a:rPr lang="en-US" i="1" dirty="0"/>
              <a:t>-junction formation, the free electrons near the junction in the </a:t>
            </a:r>
            <a:r>
              <a:rPr lang="en-US" i="1" dirty="0">
                <a:solidFill>
                  <a:srgbClr val="FF0000"/>
                </a:solidFill>
              </a:rPr>
              <a:t>N</a:t>
            </a:r>
            <a:r>
              <a:rPr lang="en-US" i="1" dirty="0"/>
              <a:t> region begin to </a:t>
            </a:r>
            <a:r>
              <a:rPr lang="en-US" dirty="0"/>
              <a:t>diffuse across the junction into the </a:t>
            </a:r>
            <a:r>
              <a:rPr lang="en-US" i="1" dirty="0">
                <a:solidFill>
                  <a:srgbClr val="FF0000"/>
                </a:solidFill>
              </a:rPr>
              <a:t>P</a:t>
            </a:r>
            <a:r>
              <a:rPr lang="en-US" i="1" dirty="0"/>
              <a:t> region where they combine with holes near the junction. </a:t>
            </a:r>
            <a:r>
              <a:rPr lang="en-US" i="1" dirty="0">
                <a:solidFill>
                  <a:srgbClr val="00B0F0"/>
                </a:solidFill>
              </a:rPr>
              <a:t>The </a:t>
            </a:r>
            <a:r>
              <a:rPr lang="en-US" dirty="0">
                <a:solidFill>
                  <a:srgbClr val="00B0F0"/>
                </a:solidFill>
              </a:rPr>
              <a:t>result is that </a:t>
            </a:r>
            <a:r>
              <a:rPr lang="en-US" i="1" dirty="0">
                <a:solidFill>
                  <a:srgbClr val="FF0000"/>
                </a:solidFill>
              </a:rPr>
              <a:t>N</a:t>
            </a:r>
            <a:r>
              <a:rPr lang="en-US" i="1" dirty="0">
                <a:solidFill>
                  <a:srgbClr val="00B0F0"/>
                </a:solidFill>
              </a:rPr>
              <a:t> region loses free electrons as they diffuse into the junction. This creates a layer of </a:t>
            </a:r>
            <a:r>
              <a:rPr lang="en-US" dirty="0">
                <a:solidFill>
                  <a:srgbClr val="00B0F0"/>
                </a:solidFill>
              </a:rPr>
              <a:t>positive charges (pentavalent ions) near the junction</a:t>
            </a:r>
            <a:r>
              <a:rPr lang="en-US" dirty="0"/>
              <a:t>. As the electrons move across the junction, the </a:t>
            </a:r>
            <a:r>
              <a:rPr lang="en-US" i="1" dirty="0">
                <a:solidFill>
                  <a:srgbClr val="FF0000"/>
                </a:solidFill>
              </a:rPr>
              <a:t>P</a:t>
            </a:r>
            <a:r>
              <a:rPr lang="en-US" i="1" dirty="0"/>
              <a:t> </a:t>
            </a:r>
            <a:r>
              <a:rPr lang="en-US" dirty="0"/>
              <a:t>region loses holes as the electrons and holes combine</a:t>
            </a:r>
          </a:p>
        </p:txBody>
      </p:sp>
      <p:sp>
        <p:nvSpPr>
          <p:cNvPr id="4" name="Slide Number Placeholder 3"/>
          <p:cNvSpPr>
            <a:spLocks noGrp="1"/>
          </p:cNvSpPr>
          <p:nvPr>
            <p:ph type="sldNum" sz="quarter" idx="12"/>
          </p:nvPr>
        </p:nvSpPr>
        <p:spPr/>
        <p:txBody>
          <a:bodyPr/>
          <a:lstStyle/>
          <a:p>
            <a:fld id="{7AD26CD8-12C4-48F0-B869-0C70D386A04E}"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a:bodyPr>
          <a:lstStyle/>
          <a:p>
            <a:pPr>
              <a:buNone/>
            </a:pPr>
            <a:r>
              <a:rPr lang="en-US" dirty="0"/>
              <a:t>The result is that there is a layer of negative</a:t>
            </a:r>
          </a:p>
          <a:p>
            <a:pPr>
              <a:buNone/>
            </a:pPr>
            <a:r>
              <a:rPr lang="en-US" dirty="0"/>
              <a:t>charges (trivalent ions) near the junction. These two layers of positive and negative charges form the </a:t>
            </a:r>
            <a:r>
              <a:rPr lang="en-US" i="1" dirty="0">
                <a:solidFill>
                  <a:srgbClr val="C00000"/>
                </a:solidFill>
              </a:rPr>
              <a:t>depletion region </a:t>
            </a:r>
            <a:r>
              <a:rPr lang="en-US" i="1" dirty="0"/>
              <a:t>(or </a:t>
            </a:r>
            <a:r>
              <a:rPr lang="en-US" i="1" dirty="0">
                <a:solidFill>
                  <a:srgbClr val="C00000"/>
                </a:solidFill>
              </a:rPr>
              <a:t>depletion layer</a:t>
            </a:r>
            <a:r>
              <a:rPr lang="en-US" i="1" dirty="0"/>
              <a:t>). The term depletion is due to the fact that near the junction, the </a:t>
            </a:r>
            <a:r>
              <a:rPr lang="en-US" dirty="0"/>
              <a:t>region is depleted (</a:t>
            </a:r>
            <a:r>
              <a:rPr lang="en-US" i="1" dirty="0"/>
              <a:t>i.e. emptied) of charge carries (free electrons and holes) due to diffusion across </a:t>
            </a:r>
            <a:r>
              <a:rPr lang="en-US" dirty="0"/>
              <a:t>the junction. It may be noted that depletion layer is formed very quickly and is very thin compared to the </a:t>
            </a:r>
            <a:r>
              <a:rPr lang="en-US" i="1" dirty="0"/>
              <a:t>n region and the p region. For clarity, the width of the depletion layer is shown exaggerated.</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32</a:t>
            </a:fld>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609600" y="457201"/>
            <a:ext cx="7772400" cy="4801394"/>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6096000"/>
          </a:xfrm>
        </p:spPr>
        <p:txBody>
          <a:bodyPr>
            <a:normAutofit fontScale="85000" lnSpcReduction="20000"/>
          </a:bodyPr>
          <a:lstStyle/>
          <a:p>
            <a:pPr>
              <a:buNone/>
            </a:pPr>
            <a:r>
              <a:rPr lang="en-US" dirty="0"/>
              <a:t>Once </a:t>
            </a:r>
            <a:r>
              <a:rPr lang="en-US" i="1" dirty="0" err="1"/>
              <a:t>pn</a:t>
            </a:r>
            <a:r>
              <a:rPr lang="en-US" i="1" dirty="0"/>
              <a:t> junction is formed and depletion layer created, the diffusion of free electrons stops. In </a:t>
            </a:r>
            <a:r>
              <a:rPr lang="en-US" dirty="0"/>
              <a:t>other words, </a:t>
            </a:r>
            <a:r>
              <a:rPr lang="en-US" dirty="0">
                <a:solidFill>
                  <a:srgbClr val="FF0000"/>
                </a:solidFill>
              </a:rPr>
              <a:t>the depletion region acts as a barrier to the further movement of free electrons across the junction. </a:t>
            </a:r>
            <a:r>
              <a:rPr lang="en-US" dirty="0"/>
              <a:t>The positive and negative charges set up an electric field. This is shown by a black arrow in Fig. 5.19 </a:t>
            </a:r>
          </a:p>
          <a:p>
            <a:pPr>
              <a:buNone/>
            </a:pPr>
            <a:r>
              <a:rPr lang="en-US" dirty="0"/>
              <a:t>(</a:t>
            </a:r>
            <a:r>
              <a:rPr lang="en-US" i="1" dirty="0" err="1"/>
              <a:t>i</a:t>
            </a:r>
            <a:r>
              <a:rPr lang="en-US" i="1" dirty="0"/>
              <a:t>). The electric field is a barrier to the free electrons in the n-region. There exists a potential</a:t>
            </a:r>
          </a:p>
          <a:p>
            <a:pPr>
              <a:buNone/>
            </a:pPr>
            <a:r>
              <a:rPr lang="en-US" dirty="0"/>
              <a:t>difference across the depletion layer and is called </a:t>
            </a:r>
            <a:r>
              <a:rPr lang="en-US" dirty="0">
                <a:solidFill>
                  <a:srgbClr val="C00000"/>
                </a:solidFill>
              </a:rPr>
              <a:t>barrier potential </a:t>
            </a:r>
            <a:r>
              <a:rPr lang="en-US" b="1" dirty="0"/>
              <a:t>(</a:t>
            </a:r>
            <a:r>
              <a:rPr lang="en-US" b="1" i="1" dirty="0"/>
              <a:t>Vo). The barrier potential of a </a:t>
            </a:r>
            <a:r>
              <a:rPr lang="en-US" b="1" i="1" dirty="0" err="1"/>
              <a:t>pn</a:t>
            </a:r>
            <a:endParaRPr lang="en-US" b="1" i="1" dirty="0"/>
          </a:p>
          <a:p>
            <a:pPr>
              <a:buNone/>
            </a:pPr>
            <a:r>
              <a:rPr lang="en-US" dirty="0">
                <a:solidFill>
                  <a:srgbClr val="FF0000"/>
                </a:solidFill>
              </a:rPr>
              <a:t>junction depends upon several factors including the type of semiconductor material, the amount of</a:t>
            </a:r>
          </a:p>
          <a:p>
            <a:pPr>
              <a:buNone/>
            </a:pPr>
            <a:r>
              <a:rPr lang="en-US" dirty="0">
                <a:solidFill>
                  <a:srgbClr val="FF0000"/>
                </a:solidFill>
              </a:rPr>
              <a:t>doping and temperature</a:t>
            </a:r>
            <a:r>
              <a:rPr lang="en-US" dirty="0"/>
              <a:t>. The typical barrier potential is approximately:</a:t>
            </a:r>
          </a:p>
          <a:p>
            <a:pPr>
              <a:buNone/>
            </a:pPr>
            <a:r>
              <a:rPr lang="en-US" dirty="0"/>
              <a:t>For silicon, </a:t>
            </a:r>
            <a:r>
              <a:rPr lang="en-US" i="1" dirty="0"/>
              <a:t>Vo = 0.7 V ; For germanium, Vo = 0.3 V</a:t>
            </a:r>
          </a:p>
          <a:p>
            <a:pPr>
              <a:buNone/>
            </a:pPr>
            <a:r>
              <a:rPr lang="en-US" dirty="0"/>
              <a:t>Fig. 5.20 shows the potential (</a:t>
            </a:r>
            <a:r>
              <a:rPr lang="en-US" i="1" dirty="0"/>
              <a:t>Vo) distribution curve.</a:t>
            </a: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buNone/>
            </a:pPr>
            <a:r>
              <a:rPr lang="en-US" sz="2800" b="1" dirty="0"/>
              <a:t>Applying D.C. Voltage Across </a:t>
            </a:r>
            <a:r>
              <a:rPr lang="en-US" sz="2800" b="1" dirty="0" err="1"/>
              <a:t>pn</a:t>
            </a:r>
            <a:r>
              <a:rPr lang="en-US" sz="2800" b="1" dirty="0"/>
              <a:t> Junction or </a:t>
            </a:r>
            <a:r>
              <a:rPr lang="en-US" sz="2800" b="1" dirty="0" err="1"/>
              <a:t>Biasinga</a:t>
            </a:r>
            <a:r>
              <a:rPr lang="en-US" sz="2800" b="1" dirty="0"/>
              <a:t> </a:t>
            </a:r>
            <a:r>
              <a:rPr lang="en-US" sz="2800" b="1" dirty="0" err="1"/>
              <a:t>pn</a:t>
            </a:r>
            <a:r>
              <a:rPr lang="en-US" sz="2800" b="1" dirty="0"/>
              <a:t> Junction</a:t>
            </a:r>
          </a:p>
          <a:p>
            <a:pPr>
              <a:buNone/>
            </a:pPr>
            <a:r>
              <a:rPr lang="en-US" sz="2800" dirty="0"/>
              <a:t>In electronics, the term bias refers to the use of </a:t>
            </a:r>
            <a:r>
              <a:rPr lang="en-US" sz="2800" dirty="0" err="1"/>
              <a:t>d.c</a:t>
            </a:r>
            <a:r>
              <a:rPr lang="en-US" sz="2800" dirty="0"/>
              <a:t>. voltage to establish certain operating conditions</a:t>
            </a:r>
          </a:p>
          <a:p>
            <a:pPr>
              <a:buNone/>
            </a:pPr>
            <a:r>
              <a:rPr lang="en-US" sz="2800" dirty="0"/>
              <a:t>for an electronic device. In relation to a </a:t>
            </a:r>
            <a:r>
              <a:rPr lang="en-US" sz="2800" i="1" dirty="0" err="1"/>
              <a:t>pn</a:t>
            </a:r>
            <a:r>
              <a:rPr lang="en-US" sz="2800" i="1" dirty="0"/>
              <a:t> junction, there are following two bias conditions :</a:t>
            </a:r>
          </a:p>
          <a:p>
            <a:pPr>
              <a:buNone/>
            </a:pPr>
            <a:r>
              <a:rPr lang="en-US" sz="2800" dirty="0"/>
              <a:t>1. </a:t>
            </a:r>
            <a:r>
              <a:rPr lang="en-US" sz="2800" dirty="0">
                <a:solidFill>
                  <a:srgbClr val="C00000"/>
                </a:solidFill>
              </a:rPr>
              <a:t>Forward biasing </a:t>
            </a:r>
            <a:r>
              <a:rPr lang="en-US" sz="2800" dirty="0"/>
              <a:t>2. </a:t>
            </a:r>
            <a:r>
              <a:rPr lang="en-US" sz="2800" dirty="0">
                <a:solidFill>
                  <a:srgbClr val="C00000"/>
                </a:solidFill>
              </a:rPr>
              <a:t>Reverse biasing</a:t>
            </a:r>
          </a:p>
          <a:p>
            <a:pPr>
              <a:buNone/>
            </a:pPr>
            <a:r>
              <a:rPr lang="en-US" sz="2800" dirty="0"/>
              <a:t>1. Forward biasing. </a:t>
            </a:r>
            <a:r>
              <a:rPr lang="en-US" sz="2800" i="1" dirty="0"/>
              <a:t>When external </a:t>
            </a:r>
            <a:r>
              <a:rPr lang="en-US" sz="2800" i="1" dirty="0" err="1"/>
              <a:t>d.c</a:t>
            </a:r>
            <a:r>
              <a:rPr lang="en-US" sz="2800" i="1" dirty="0"/>
              <a:t>. voltage applied to the junction is in such a direction</a:t>
            </a:r>
          </a:p>
          <a:p>
            <a:pPr>
              <a:buNone/>
            </a:pPr>
            <a:r>
              <a:rPr lang="en-US" sz="2800" i="1" dirty="0"/>
              <a:t>that it cancels the potential barrier, thus permitting current flow, it is called </a:t>
            </a:r>
            <a:r>
              <a:rPr lang="en-US" sz="2800" b="1" i="1" dirty="0">
                <a:solidFill>
                  <a:srgbClr val="C00000"/>
                </a:solidFill>
              </a:rPr>
              <a:t>forward biasing</a:t>
            </a:r>
            <a:r>
              <a:rPr lang="en-US" sz="2800" b="1" i="1" dirty="0"/>
              <a:t>.</a:t>
            </a:r>
            <a:endParaRPr lang="en-US" sz="2800"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229600" cy="1143000"/>
          </a:xfrm>
        </p:spPr>
        <p:txBody>
          <a:bodyPr/>
          <a:lstStyle/>
          <a:p>
            <a:r>
              <a:rPr lang="en-US" dirty="0"/>
              <a:t>SYMBOL,FORWARD &amp;REVERSE</a:t>
            </a:r>
          </a:p>
        </p:txBody>
      </p:sp>
      <p:sp>
        <p:nvSpPr>
          <p:cNvPr id="4" name="Slide Number Placeholder 3"/>
          <p:cNvSpPr>
            <a:spLocks noGrp="1"/>
          </p:cNvSpPr>
          <p:nvPr>
            <p:ph type="sldNum" sz="quarter" idx="12"/>
          </p:nvPr>
        </p:nvSpPr>
        <p:spPr/>
        <p:txBody>
          <a:bodyPr/>
          <a:lstStyle/>
          <a:p>
            <a:fld id="{7AD26CD8-12C4-48F0-B869-0C70D386A04E}" type="slidenum">
              <a:rPr lang="en-US" smtClean="0"/>
              <a:pPr/>
              <a:t>35</a:t>
            </a:fld>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457200" y="1828800"/>
            <a:ext cx="7315200" cy="160020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685800" y="3657600"/>
            <a:ext cx="7391400" cy="228600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AD26CD8-12C4-48F0-B869-0C70D386A04E}" type="slidenum">
              <a:rPr lang="en-US" smtClean="0"/>
              <a:pPr/>
              <a:t>36</a:t>
            </a:fld>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381000" y="457200"/>
            <a:ext cx="8610600" cy="6096000"/>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DIODES</a:t>
            </a:r>
          </a:p>
        </p:txBody>
      </p:sp>
      <p:sp>
        <p:nvSpPr>
          <p:cNvPr id="3" name="Content Placeholder 2"/>
          <p:cNvSpPr>
            <a:spLocks noGrp="1"/>
          </p:cNvSpPr>
          <p:nvPr>
            <p:ph idx="1"/>
          </p:nvPr>
        </p:nvSpPr>
        <p:spPr/>
        <p:txBody>
          <a:bodyPr/>
          <a:lstStyle/>
          <a:p>
            <a:pPr>
              <a:buNone/>
            </a:pPr>
            <a:r>
              <a:rPr lang="en-US" dirty="0"/>
              <a:t>Different </a:t>
            </a:r>
            <a:r>
              <a:rPr lang="en-US" b="1" dirty="0"/>
              <a:t>Types</a:t>
            </a:r>
            <a:r>
              <a:rPr lang="en-US" dirty="0"/>
              <a:t> of </a:t>
            </a:r>
            <a:r>
              <a:rPr lang="en-US" b="1" dirty="0"/>
              <a:t>Diodes</a:t>
            </a:r>
            <a:r>
              <a:rPr lang="en-US" dirty="0"/>
              <a:t>. There are several </a:t>
            </a:r>
            <a:r>
              <a:rPr lang="en-US" b="1" dirty="0"/>
              <a:t>types</a:t>
            </a:r>
            <a:r>
              <a:rPr lang="en-US" dirty="0"/>
              <a:t> of </a:t>
            </a:r>
            <a:r>
              <a:rPr lang="en-US" b="1" dirty="0"/>
              <a:t>diodes</a:t>
            </a:r>
            <a:r>
              <a:rPr lang="en-US" dirty="0"/>
              <a:t> are available for use in electronics design, namely; a Backward </a:t>
            </a:r>
            <a:r>
              <a:rPr lang="en-US" b="1" dirty="0"/>
              <a:t>diode</a:t>
            </a:r>
            <a:r>
              <a:rPr lang="en-US" dirty="0"/>
              <a:t>, BARITT </a:t>
            </a:r>
            <a:r>
              <a:rPr lang="en-US" b="1" dirty="0"/>
              <a:t>diode</a:t>
            </a:r>
            <a:r>
              <a:rPr lang="en-US" dirty="0"/>
              <a:t>, Gunn </a:t>
            </a:r>
            <a:r>
              <a:rPr lang="en-US" b="1" dirty="0"/>
              <a:t>Diode</a:t>
            </a:r>
            <a:r>
              <a:rPr lang="en-US" dirty="0"/>
              <a:t>, Laser </a:t>
            </a:r>
            <a:r>
              <a:rPr lang="en-US" b="1" dirty="0"/>
              <a:t>diode</a:t>
            </a:r>
            <a:r>
              <a:rPr lang="en-US" dirty="0"/>
              <a:t>, Light emitting </a:t>
            </a:r>
            <a:r>
              <a:rPr lang="en-US" b="1" dirty="0"/>
              <a:t>diodes</a:t>
            </a:r>
            <a:r>
              <a:rPr lang="en-US" dirty="0"/>
              <a:t>, Photodiode, PIN </a:t>
            </a:r>
            <a:r>
              <a:rPr lang="en-US" b="1" dirty="0"/>
              <a:t>diode</a:t>
            </a:r>
            <a:r>
              <a:rPr lang="en-US" dirty="0"/>
              <a:t>, PN Junction, </a:t>
            </a:r>
            <a:r>
              <a:rPr lang="en-US" dirty="0" err="1"/>
              <a:t>Schottky</a:t>
            </a:r>
            <a:r>
              <a:rPr lang="en-US" dirty="0"/>
              <a:t> </a:t>
            </a:r>
            <a:r>
              <a:rPr lang="en-US" b="1" dirty="0"/>
              <a:t>diodes</a:t>
            </a:r>
            <a:r>
              <a:rPr lang="en-US" dirty="0"/>
              <a:t>, Step recovery </a:t>
            </a:r>
            <a:r>
              <a:rPr lang="en-US" b="1" dirty="0"/>
              <a:t>diode</a:t>
            </a:r>
            <a:r>
              <a:rPr lang="en-US" dirty="0"/>
              <a:t>, Tunnel </a:t>
            </a:r>
            <a:r>
              <a:rPr lang="en-US" b="1" dirty="0"/>
              <a:t>diode</a:t>
            </a:r>
            <a:r>
              <a:rPr lang="en-US" dirty="0"/>
              <a:t>, </a:t>
            </a:r>
            <a:r>
              <a:rPr lang="en-US" dirty="0" err="1"/>
              <a:t>Varactor</a:t>
            </a:r>
            <a:r>
              <a:rPr lang="en-US" dirty="0"/>
              <a:t> </a:t>
            </a:r>
            <a:r>
              <a:rPr lang="en-US" b="1" dirty="0"/>
              <a:t>diode</a:t>
            </a:r>
            <a:r>
              <a:rPr lang="en-US" dirty="0"/>
              <a:t> and a </a:t>
            </a:r>
            <a:r>
              <a:rPr lang="en-US" dirty="0" err="1"/>
              <a:t>Zener</a:t>
            </a:r>
            <a:r>
              <a:rPr lang="en-US" dirty="0"/>
              <a:t> </a:t>
            </a:r>
            <a:r>
              <a:rPr lang="en-US" b="1" dirty="0"/>
              <a:t>diode</a:t>
            </a:r>
            <a:r>
              <a:rPr lang="en-US" dirty="0"/>
              <a:t>.</a:t>
            </a:r>
          </a:p>
        </p:txBody>
      </p:sp>
      <p:sp>
        <p:nvSpPr>
          <p:cNvPr id="4" name="Slide Number Placeholder 3"/>
          <p:cNvSpPr>
            <a:spLocks noGrp="1"/>
          </p:cNvSpPr>
          <p:nvPr>
            <p:ph type="sldNum" sz="quarter" idx="12"/>
          </p:nvPr>
        </p:nvSpPr>
        <p:spPr/>
        <p:txBody>
          <a:bodyPr/>
          <a:lstStyle/>
          <a:p>
            <a:fld id="{7AD26CD8-12C4-48F0-B869-0C70D386A04E}"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DIODE APPLICATIONS</a:t>
            </a:r>
          </a:p>
        </p:txBody>
      </p:sp>
      <p:sp>
        <p:nvSpPr>
          <p:cNvPr id="3" name="Content Placeholder 2"/>
          <p:cNvSpPr>
            <a:spLocks noGrp="1"/>
          </p:cNvSpPr>
          <p:nvPr>
            <p:ph idx="1"/>
          </p:nvPr>
        </p:nvSpPr>
        <p:spPr>
          <a:xfrm>
            <a:off x="457200" y="1143000"/>
            <a:ext cx="8229600" cy="5257800"/>
          </a:xfrm>
        </p:spPr>
        <p:txBody>
          <a:bodyPr>
            <a:normAutofit fontScale="92500" lnSpcReduction="20000"/>
          </a:bodyPr>
          <a:lstStyle/>
          <a:p>
            <a:pPr>
              <a:buNone/>
            </a:pPr>
            <a:r>
              <a:rPr lang="en-US" b="1" dirty="0"/>
              <a:t>Here are a few of the typical applications of diodes include:</a:t>
            </a:r>
            <a:endParaRPr lang="en-US" dirty="0"/>
          </a:p>
          <a:p>
            <a:r>
              <a:rPr lang="en-US" dirty="0"/>
              <a:t>Rectifying a voltage, such as turning the AC into DC voltages.</a:t>
            </a:r>
          </a:p>
          <a:p>
            <a:r>
              <a:rPr lang="en-US" dirty="0"/>
              <a:t>Isolating signals from a supply.</a:t>
            </a:r>
          </a:p>
          <a:p>
            <a:r>
              <a:rPr lang="en-US" dirty="0"/>
              <a:t>Voltage Reference.</a:t>
            </a:r>
          </a:p>
          <a:p>
            <a:r>
              <a:rPr lang="en-US" dirty="0"/>
              <a:t>Controlling the size of a signal.</a:t>
            </a:r>
          </a:p>
          <a:p>
            <a:r>
              <a:rPr lang="en-US" dirty="0"/>
              <a:t>Mixing signals.</a:t>
            </a:r>
          </a:p>
          <a:p>
            <a:r>
              <a:rPr lang="en-US" dirty="0"/>
              <a:t>Detection signals.</a:t>
            </a:r>
          </a:p>
          <a:p>
            <a:r>
              <a:rPr lang="en-US" dirty="0"/>
              <a:t>Lighting systems.</a:t>
            </a:r>
          </a:p>
          <a:p>
            <a:r>
              <a:rPr lang="en-US" dirty="0"/>
              <a:t>LASER </a:t>
            </a:r>
            <a:r>
              <a:rPr lang="en-US" b="1" dirty="0"/>
              <a:t>diodes</a:t>
            </a:r>
            <a:r>
              <a:rPr lang="en-US" dirty="0"/>
              <a:t>.</a:t>
            </a:r>
          </a:p>
          <a:p>
            <a:pPr>
              <a:buNone/>
            </a:pPr>
            <a:endParaRPr lang="en-US" dirty="0"/>
          </a:p>
        </p:txBody>
      </p:sp>
      <p:sp>
        <p:nvSpPr>
          <p:cNvPr id="4" name="Slide Number Placeholder 3"/>
          <p:cNvSpPr>
            <a:spLocks noGrp="1"/>
          </p:cNvSpPr>
          <p:nvPr>
            <p:ph type="sldNum" sz="quarter" idx="12"/>
          </p:nvPr>
        </p:nvSpPr>
        <p:spPr/>
        <p:txBody>
          <a:bodyPr/>
          <a:lstStyle/>
          <a:p>
            <a:fld id="{7AD26CD8-12C4-48F0-B869-0C70D386A04E}" type="slidenum">
              <a:rPr lang="en-US" smtClean="0"/>
              <a:pPr/>
              <a:t>38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1491</TotalTime>
  <Words>2925</Words>
  <Application>Microsoft Office PowerPoint</Application>
  <PresentationFormat>On-screen Show (4:3)</PresentationFormat>
  <Paragraphs>165</Paragraphs>
  <Slides>38</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ELECTRONICS    L1</vt:lpstr>
      <vt:lpstr>The Structure of the Atom </vt:lpstr>
      <vt:lpstr>PowerPoint Presentation</vt:lpstr>
      <vt:lpstr>ELECTRONS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Semiconductor</vt:lpstr>
      <vt:lpstr>PowerPoint Presentation</vt:lpstr>
      <vt:lpstr>PowerPoint Presentation</vt:lpstr>
      <vt:lpstr>PowerPoint Presentation</vt:lpstr>
      <vt:lpstr>PowerPoint Presentation</vt:lpstr>
      <vt:lpstr>PowerPoint Presentation</vt:lpstr>
      <vt:lpstr>ASSIGNMENT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SYMBOL,FORWARD &amp;REVERSE</vt:lpstr>
      <vt:lpstr>PowerPoint Presentation</vt:lpstr>
      <vt:lpstr>TYPES OF DIODES</vt:lpstr>
      <vt:lpstr>DIODE APPLICATIONS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Semiconductor</dc:title>
  <dc:creator>as</dc:creator>
  <cp:lastModifiedBy>User</cp:lastModifiedBy>
  <cp:revision>141</cp:revision>
  <cp:lastPrinted>2021-11-08T04:15:01Z</cp:lastPrinted>
  <dcterms:created xsi:type="dcterms:W3CDTF">2017-03-17T08:27:16Z</dcterms:created>
  <dcterms:modified xsi:type="dcterms:W3CDTF">2023-03-30T11:53:00Z</dcterms:modified>
</cp:coreProperties>
</file>