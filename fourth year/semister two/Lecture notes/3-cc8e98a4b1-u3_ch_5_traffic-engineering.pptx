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2"/>
  </p:notesMasterIdLst>
  <p:sldIdLst>
    <p:sldId id="256" r:id="rId2"/>
    <p:sldId id="310" r:id="rId3"/>
    <p:sldId id="311" r:id="rId4"/>
    <p:sldId id="312" r:id="rId5"/>
    <p:sldId id="313" r:id="rId6"/>
    <p:sldId id="314" r:id="rId7"/>
    <p:sldId id="315" r:id="rId8"/>
    <p:sldId id="316" r:id="rId9"/>
    <p:sldId id="317" r:id="rId10"/>
    <p:sldId id="318" r:id="rId11"/>
    <p:sldId id="319" r:id="rId12"/>
    <p:sldId id="320"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7" r:id="rId36"/>
    <p:sldId id="346" r:id="rId37"/>
    <p:sldId id="348" r:id="rId38"/>
    <p:sldId id="343" r:id="rId39"/>
    <p:sldId id="344" r:id="rId40"/>
    <p:sldId id="257" r:id="rId41"/>
    <p:sldId id="258" r:id="rId42"/>
    <p:sldId id="259" r:id="rId43"/>
    <p:sldId id="260" r:id="rId44"/>
    <p:sldId id="261" r:id="rId45"/>
    <p:sldId id="262" r:id="rId46"/>
    <p:sldId id="263" r:id="rId47"/>
    <p:sldId id="264" r:id="rId48"/>
    <p:sldId id="265" r:id="rId49"/>
    <p:sldId id="266" r:id="rId50"/>
    <p:sldId id="267"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E5C8F-19A6-4D21-B632-DF1442E523E6}" type="datetimeFigureOut">
              <a:rPr lang="en-IN" smtClean="0"/>
              <a:t>11-02-2021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41DCA1-CB49-4E69-8F45-BBB35EDB31D0}" type="slidenum">
              <a:rPr lang="en-IN" smtClean="0"/>
              <a:t>‹#›</a:t>
            </a:fld>
            <a:endParaRPr lang="en-IN"/>
          </a:p>
        </p:txBody>
      </p:sp>
    </p:spTree>
    <p:extLst>
      <p:ext uri="{BB962C8B-B14F-4D97-AF65-F5344CB8AC3E}">
        <p14:creationId xmlns:p14="http://schemas.microsoft.com/office/powerpoint/2010/main" val="3002160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1841" name="Rectangle 1"/>
          <p:cNvSpPr txBox="1">
            <a:spLocks noGrp="1" noRot="1" noChangeAspect="1" noChangeArrowheads="1"/>
          </p:cNvSpPr>
          <p:nvPr>
            <p:ph type="sldImg"/>
          </p:nvPr>
        </p:nvSpPr>
        <p:spPr bwMode="auto">
          <a:xfrm>
            <a:off x="381000" y="695325"/>
            <a:ext cx="6096000" cy="3429000"/>
          </a:xfrm>
          <a:prstGeom prst="rect">
            <a:avLst/>
          </a:prstGeom>
          <a:solidFill>
            <a:srgbClr val="FFFFFF"/>
          </a:solidFill>
          <a:ln>
            <a:solidFill>
              <a:srgbClr val="000000"/>
            </a:solidFill>
            <a:miter lim="800000"/>
            <a:headEnd/>
            <a:tailEnd/>
          </a:ln>
        </p:spPr>
      </p:sp>
      <p:sp>
        <p:nvSpPr>
          <p:cNvPr id="291842" name="Text Box 2"/>
          <p:cNvSpPr txBox="1">
            <a:spLocks noChangeArrowheads="1"/>
          </p:cNvSpPr>
          <p:nvPr/>
        </p:nvSpPr>
        <p:spPr bwMode="auto">
          <a:xfrm>
            <a:off x="685800" y="4343400"/>
            <a:ext cx="5486400" cy="4114800"/>
          </a:xfrm>
          <a:prstGeom prst="rect">
            <a:avLst/>
          </a:prstGeom>
          <a:noFill/>
          <a:ln w="9525" cap="flat">
            <a:noFill/>
            <a:round/>
            <a:headEnd/>
            <a:tailEnd/>
          </a:ln>
          <a:effectLst/>
        </p:spPr>
        <p:txBody>
          <a:bodyPr wrap="none" anchor="ctr"/>
          <a:lstStyle/>
          <a:p>
            <a:endParaRPr lang="en-US"/>
          </a:p>
        </p:txBody>
      </p:sp>
    </p:spTree>
    <p:extLst>
      <p:ext uri="{BB962C8B-B14F-4D97-AF65-F5344CB8AC3E}">
        <p14:creationId xmlns:p14="http://schemas.microsoft.com/office/powerpoint/2010/main" val="167696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2865" name="Rectangle 1"/>
          <p:cNvSpPr txBox="1">
            <a:spLocks noGrp="1" noRot="1" noChangeAspect="1" noChangeArrowheads="1"/>
          </p:cNvSpPr>
          <p:nvPr>
            <p:ph type="sldImg"/>
          </p:nvPr>
        </p:nvSpPr>
        <p:spPr bwMode="auto">
          <a:xfrm>
            <a:off x="381000" y="695325"/>
            <a:ext cx="6096000" cy="3429000"/>
          </a:xfrm>
          <a:prstGeom prst="rect">
            <a:avLst/>
          </a:prstGeom>
          <a:solidFill>
            <a:srgbClr val="FFFFFF"/>
          </a:solidFill>
          <a:ln>
            <a:solidFill>
              <a:srgbClr val="000000"/>
            </a:solidFill>
            <a:miter lim="800000"/>
            <a:headEnd/>
            <a:tailEnd/>
          </a:ln>
        </p:spPr>
      </p:sp>
      <p:sp>
        <p:nvSpPr>
          <p:cNvPr id="292866" name="Text Box 2"/>
          <p:cNvSpPr txBox="1">
            <a:spLocks noChangeArrowheads="1"/>
          </p:cNvSpPr>
          <p:nvPr/>
        </p:nvSpPr>
        <p:spPr bwMode="auto">
          <a:xfrm>
            <a:off x="685800" y="4343400"/>
            <a:ext cx="5486400" cy="4114800"/>
          </a:xfrm>
          <a:prstGeom prst="rect">
            <a:avLst/>
          </a:prstGeom>
          <a:noFill/>
          <a:ln w="9525" cap="flat">
            <a:noFill/>
            <a:round/>
            <a:headEnd/>
            <a:tailEnd/>
          </a:ln>
          <a:effectLst/>
        </p:spPr>
        <p:txBody>
          <a:bodyPr wrap="none" anchor="ctr"/>
          <a:lstStyle/>
          <a:p>
            <a:endParaRPr lang="en-US"/>
          </a:p>
        </p:txBody>
      </p:sp>
    </p:spTree>
    <p:extLst>
      <p:ext uri="{BB962C8B-B14F-4D97-AF65-F5344CB8AC3E}">
        <p14:creationId xmlns:p14="http://schemas.microsoft.com/office/powerpoint/2010/main" val="109037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0033" name="Rectangle 1"/>
          <p:cNvSpPr txBox="1">
            <a:spLocks noGrp="1" noRot="1" noChangeAspect="1" noChangeArrowheads="1"/>
          </p:cNvSpPr>
          <p:nvPr>
            <p:ph type="sldImg"/>
          </p:nvPr>
        </p:nvSpPr>
        <p:spPr bwMode="auto">
          <a:xfrm>
            <a:off x="381000" y="695325"/>
            <a:ext cx="6096000" cy="3429000"/>
          </a:xfrm>
          <a:prstGeom prst="rect">
            <a:avLst/>
          </a:prstGeom>
          <a:solidFill>
            <a:srgbClr val="FFFFFF"/>
          </a:solidFill>
          <a:ln>
            <a:solidFill>
              <a:srgbClr val="000000"/>
            </a:solidFill>
            <a:miter lim="800000"/>
            <a:headEnd/>
            <a:tailEnd/>
          </a:ln>
        </p:spPr>
      </p:sp>
      <p:sp>
        <p:nvSpPr>
          <p:cNvPr id="300034" name="Text Box 2"/>
          <p:cNvSpPr txBox="1">
            <a:spLocks noChangeArrowheads="1"/>
          </p:cNvSpPr>
          <p:nvPr/>
        </p:nvSpPr>
        <p:spPr bwMode="auto">
          <a:xfrm>
            <a:off x="685800" y="4343400"/>
            <a:ext cx="5486400" cy="4114800"/>
          </a:xfrm>
          <a:prstGeom prst="rect">
            <a:avLst/>
          </a:prstGeom>
          <a:noFill/>
          <a:ln w="9525" cap="flat">
            <a:noFill/>
            <a:round/>
            <a:headEnd/>
            <a:tailEnd/>
          </a:ln>
          <a:effectLst/>
        </p:spPr>
        <p:txBody>
          <a:bodyPr wrap="none" anchor="ctr"/>
          <a:lstStyle/>
          <a:p>
            <a:endParaRPr lang="en-US"/>
          </a:p>
        </p:txBody>
      </p:sp>
    </p:spTree>
    <p:extLst>
      <p:ext uri="{BB962C8B-B14F-4D97-AF65-F5344CB8AC3E}">
        <p14:creationId xmlns:p14="http://schemas.microsoft.com/office/powerpoint/2010/main" val="4190787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1057" name="Rectangle 1"/>
          <p:cNvSpPr txBox="1">
            <a:spLocks noGrp="1" noRot="1" noChangeAspect="1" noChangeArrowheads="1"/>
          </p:cNvSpPr>
          <p:nvPr>
            <p:ph type="sldImg"/>
          </p:nvPr>
        </p:nvSpPr>
        <p:spPr bwMode="auto">
          <a:xfrm>
            <a:off x="381000" y="695325"/>
            <a:ext cx="6096000" cy="3429000"/>
          </a:xfrm>
          <a:prstGeom prst="rect">
            <a:avLst/>
          </a:prstGeom>
          <a:solidFill>
            <a:srgbClr val="FFFFFF"/>
          </a:solidFill>
          <a:ln>
            <a:solidFill>
              <a:srgbClr val="000000"/>
            </a:solidFill>
            <a:miter lim="800000"/>
            <a:headEnd/>
            <a:tailEnd/>
          </a:ln>
        </p:spPr>
      </p:sp>
      <p:sp>
        <p:nvSpPr>
          <p:cNvPr id="301058" name="Text Box 2"/>
          <p:cNvSpPr txBox="1">
            <a:spLocks noChangeArrowheads="1"/>
          </p:cNvSpPr>
          <p:nvPr/>
        </p:nvSpPr>
        <p:spPr bwMode="auto">
          <a:xfrm>
            <a:off x="685800" y="4343400"/>
            <a:ext cx="5486400" cy="4114800"/>
          </a:xfrm>
          <a:prstGeom prst="rect">
            <a:avLst/>
          </a:prstGeom>
          <a:noFill/>
          <a:ln w="9525" cap="flat">
            <a:noFill/>
            <a:round/>
            <a:headEnd/>
            <a:tailEnd/>
          </a:ln>
          <a:effectLst/>
        </p:spPr>
        <p:txBody>
          <a:bodyPr wrap="none" anchor="ctr"/>
          <a:lstStyle/>
          <a:p>
            <a:endParaRPr lang="en-US"/>
          </a:p>
        </p:txBody>
      </p:sp>
    </p:spTree>
    <p:extLst>
      <p:ext uri="{BB962C8B-B14F-4D97-AF65-F5344CB8AC3E}">
        <p14:creationId xmlns:p14="http://schemas.microsoft.com/office/powerpoint/2010/main" val="4169998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4A5E32E6-F0D2-44D2-83D9-55A7E016C934}" type="datetimeFigureOut">
              <a:rPr lang="en-IN" smtClean="0"/>
              <a:t>11-02-2021</a:t>
            </a:fld>
            <a:endParaRPr lang="en-IN"/>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IN"/>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F97FD7A1-A352-48DA-9E71-F3B628A042FB}" type="slidenum">
              <a:rPr lang="en-IN" smtClean="0"/>
              <a:t>‹#›</a:t>
            </a:fld>
            <a:endParaRPr lang="en-I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455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E32E6-F0D2-44D2-83D9-55A7E016C934}" type="datetimeFigureOut">
              <a:rPr lang="en-IN" smtClean="0"/>
              <a:t>11-02-2021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2112571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5E32E6-F0D2-44D2-83D9-55A7E016C934}" type="datetimeFigureOut">
              <a:rPr lang="en-IN" smtClean="0"/>
              <a:t>11-02-2021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FD7A1-A352-48DA-9E71-F3B628A042FB}" type="slidenum">
              <a:rPr lang="en-IN" smtClean="0"/>
              <a:t>‹#›</a:t>
            </a:fld>
            <a:endParaRPr lang="en-I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9918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5E32E6-F0D2-44D2-83D9-55A7E016C934}" type="datetimeFigureOut">
              <a:rPr lang="en-IN" smtClean="0"/>
              <a:t>11-02-2021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1779586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5E32E6-F0D2-44D2-83D9-55A7E016C934}" type="datetimeFigureOut">
              <a:rPr lang="en-IN" smtClean="0"/>
              <a:t>11-02-2021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4175204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5E32E6-F0D2-44D2-83D9-55A7E016C934}" type="datetimeFigureOut">
              <a:rPr lang="en-IN" smtClean="0"/>
              <a:t>11-02-2021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4191997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5E32E6-F0D2-44D2-83D9-55A7E016C934}" type="datetimeFigureOut">
              <a:rPr lang="en-IN" smtClean="0"/>
              <a:t>11-02-2021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1009854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5E32E6-F0D2-44D2-83D9-55A7E016C934}" type="datetimeFigureOut">
              <a:rPr lang="en-IN" smtClean="0"/>
              <a:t>11-02-2021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3810794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5E32E6-F0D2-44D2-83D9-55A7E016C934}" type="datetimeFigureOut">
              <a:rPr lang="en-IN" smtClean="0"/>
              <a:t>11-02-2021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4026160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E32E6-F0D2-44D2-83D9-55A7E016C934}" type="datetimeFigureOut">
              <a:rPr lang="en-IN" smtClean="0"/>
              <a:t>11-02-2021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309814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E32E6-F0D2-44D2-83D9-55A7E016C934}" type="datetimeFigureOut">
              <a:rPr lang="en-IN" smtClean="0"/>
              <a:t>11-02-2021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7FD7A1-A352-48DA-9E71-F3B628A042FB}" type="slidenum">
              <a:rPr lang="en-IN" smtClean="0"/>
              <a:t>‹#›</a:t>
            </a:fld>
            <a:endParaRPr lang="en-IN"/>
          </a:p>
        </p:txBody>
      </p:sp>
    </p:spTree>
    <p:extLst>
      <p:ext uri="{BB962C8B-B14F-4D97-AF65-F5344CB8AC3E}">
        <p14:creationId xmlns:p14="http://schemas.microsoft.com/office/powerpoint/2010/main" val="373422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4A5E32E6-F0D2-44D2-83D9-55A7E016C934}" type="datetimeFigureOut">
              <a:rPr lang="en-IN" smtClean="0"/>
              <a:t>11-02-2021</a:t>
            </a:fld>
            <a:endParaRPr lang="en-I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I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F97FD7A1-A352-48DA-9E71-F3B628A042FB}" type="slidenum">
              <a:rPr lang="en-IN" smtClean="0"/>
              <a:t>‹#›</a:t>
            </a:fld>
            <a:endParaRPr lang="en-IN"/>
          </a:p>
        </p:txBody>
      </p:sp>
    </p:spTree>
    <p:extLst>
      <p:ext uri="{BB962C8B-B14F-4D97-AF65-F5344CB8AC3E}">
        <p14:creationId xmlns:p14="http://schemas.microsoft.com/office/powerpoint/2010/main" val="20359690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1ED56-E6D0-4EE0-8426-6AF3BF3C784D}"/>
              </a:ext>
            </a:extLst>
          </p:cNvPr>
          <p:cNvSpPr>
            <a:spLocks noGrp="1"/>
          </p:cNvSpPr>
          <p:nvPr>
            <p:ph type="ctrTitle"/>
          </p:nvPr>
        </p:nvSpPr>
        <p:spPr/>
        <p:txBody>
          <a:bodyPr/>
          <a:lstStyle/>
          <a:p>
            <a:r>
              <a:rPr lang="en-IN" dirty="0"/>
              <a:t>TRAFFIC ENGINEERING</a:t>
            </a:r>
          </a:p>
        </p:txBody>
      </p:sp>
      <p:sp>
        <p:nvSpPr>
          <p:cNvPr id="3" name="Subtitle 2">
            <a:extLst>
              <a:ext uri="{FF2B5EF4-FFF2-40B4-BE49-F238E27FC236}">
                <a16:creationId xmlns:a16="http://schemas.microsoft.com/office/drawing/2014/main" id="{D8DBBDFE-0E7C-46FD-AE98-FFBDF1CE8CAA}"/>
              </a:ext>
            </a:extLst>
          </p:cNvPr>
          <p:cNvSpPr>
            <a:spLocks noGrp="1"/>
          </p:cNvSpPr>
          <p:nvPr>
            <p:ph type="subTitle" idx="1"/>
          </p:nvPr>
        </p:nvSpPr>
        <p:spPr/>
        <p:txBody>
          <a:bodyPr/>
          <a:lstStyle/>
          <a:p>
            <a:r>
              <a:rPr lang="en-IN" dirty="0"/>
              <a:t>UNIT-III</a:t>
            </a:r>
          </a:p>
        </p:txBody>
      </p:sp>
    </p:spTree>
    <p:extLst>
      <p:ext uri="{BB962C8B-B14F-4D97-AF65-F5344CB8AC3E}">
        <p14:creationId xmlns:p14="http://schemas.microsoft.com/office/powerpoint/2010/main" val="2319086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1"/>
          <p:cNvSpPr>
            <a:spLocks noGrp="1" noChangeArrowheads="1"/>
          </p:cNvSpPr>
          <p:nvPr>
            <p:ph type="title"/>
          </p:nvPr>
        </p:nvSpPr>
        <p:spPr>
          <a:xfrm>
            <a:off x="1981200" y="274638"/>
            <a:ext cx="8229600" cy="944562"/>
          </a:xfrm>
          <a:ln/>
        </p:spPr>
        <p:txBody>
          <a:bodyPr/>
          <a:lstStyle/>
          <a:p>
            <a: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N" b="1" dirty="0">
                <a:solidFill>
                  <a:srgbClr val="FF0000"/>
                </a:solidFill>
              </a:rPr>
              <a:t>Traffic Engineering</a:t>
            </a:r>
          </a:p>
        </p:txBody>
      </p:sp>
      <p:sp>
        <p:nvSpPr>
          <p:cNvPr id="74754" name="Rectangle 2"/>
          <p:cNvSpPr>
            <a:spLocks noGrp="1" noChangeArrowheads="1"/>
          </p:cNvSpPr>
          <p:nvPr>
            <p:ph idx="1"/>
          </p:nvPr>
        </p:nvSpPr>
        <p:spPr>
          <a:xfrm>
            <a:off x="1981200" y="1600200"/>
            <a:ext cx="8229600" cy="4800600"/>
          </a:xfrm>
          <a:ln/>
        </p:spPr>
        <p:txBody>
          <a:bodyPr>
            <a:normAutofit/>
          </a:bodyPr>
          <a:lstStyle/>
          <a:p>
            <a:pPr marL="339725" indent="-339725" algn="just">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Traffic engineering analysis enables one</a:t>
            </a:r>
          </a:p>
          <a:p>
            <a:pPr marL="341313" indent="-339725" algn="just">
              <a:buNone/>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    to determine </a:t>
            </a:r>
            <a:r>
              <a:rPr lang="en-US" b="1" dirty="0"/>
              <a:t>the ability of a telecommunication network </a:t>
            </a:r>
            <a:r>
              <a:rPr lang="en-US" dirty="0"/>
              <a:t>to carry a given traffic at a </a:t>
            </a:r>
            <a:r>
              <a:rPr lang="en-US" b="1" dirty="0"/>
              <a:t>loss probability.</a:t>
            </a:r>
          </a:p>
          <a:p>
            <a:pPr marL="339725" indent="-339725">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b="1" dirty="0"/>
              <a:t>Blocking probability </a:t>
            </a:r>
            <a:r>
              <a:rPr lang="en-US" dirty="0"/>
              <a:t>is the major issue for design.</a:t>
            </a:r>
          </a:p>
          <a:p>
            <a:pPr marL="339725" indent="-339725">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Not only the switching elements but </a:t>
            </a:r>
            <a:r>
              <a:rPr lang="en-US" b="1" dirty="0"/>
              <a:t>also digit receivers, inter-stage links, call processors, trunk</a:t>
            </a:r>
            <a:r>
              <a:rPr lang="en-US" dirty="0"/>
              <a:t> between links contribute in </a:t>
            </a:r>
            <a:r>
              <a:rPr lang="en-US" b="1" dirty="0"/>
              <a:t>blocking of a call.</a:t>
            </a:r>
          </a:p>
        </p:txBody>
      </p:sp>
    </p:spTree>
    <p:extLst>
      <p:ext uri="{BB962C8B-B14F-4D97-AF65-F5344CB8AC3E}">
        <p14:creationId xmlns:p14="http://schemas.microsoft.com/office/powerpoint/2010/main" val="283019410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1"/>
          <p:cNvSpPr>
            <a:spLocks noGrp="1" noChangeArrowheads="1"/>
          </p:cNvSpPr>
          <p:nvPr>
            <p:ph idx="1"/>
          </p:nvPr>
        </p:nvSpPr>
        <p:spPr>
          <a:xfrm>
            <a:off x="1981200" y="1371600"/>
            <a:ext cx="8229600" cy="4953000"/>
          </a:xfrm>
          <a:ln/>
        </p:spPr>
        <p:txBody>
          <a:bodyPr anchor="t"/>
          <a:lstStyle/>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sz="3200" dirty="0"/>
              <a:t>In a telephone network, the traffic load in a typical working day during the 24 hours is shown in the fig. below.</a:t>
            </a:r>
          </a:p>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IN" sz="3200" dirty="0"/>
          </a:p>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IN" sz="3200" dirty="0"/>
          </a:p>
        </p:txBody>
      </p:sp>
      <p:pic>
        <p:nvPicPr>
          <p:cNvPr id="75778" name="Picture 2"/>
          <p:cNvPicPr>
            <a:picLocks noChangeAspect="1" noChangeArrowheads="1"/>
          </p:cNvPicPr>
          <p:nvPr/>
        </p:nvPicPr>
        <p:blipFill>
          <a:blip r:embed="rId3" cstate="print"/>
          <a:srcRect/>
          <a:stretch>
            <a:fillRect/>
          </a:stretch>
        </p:blipFill>
        <p:spPr bwMode="auto">
          <a:xfrm>
            <a:off x="3675015" y="3429002"/>
            <a:ext cx="4702629" cy="2514599"/>
          </a:xfrm>
          <a:prstGeom prst="rect">
            <a:avLst/>
          </a:prstGeom>
          <a:noFill/>
          <a:ln w="9525" cap="flat">
            <a:noFill/>
            <a:round/>
            <a:headEnd/>
            <a:tailEnd/>
          </a:ln>
          <a:effectLst/>
        </p:spPr>
      </p:pic>
      <p:sp>
        <p:nvSpPr>
          <p:cNvPr id="4" name="Rectangle 1"/>
          <p:cNvSpPr txBox="1">
            <a:spLocks noChangeArrowheads="1"/>
          </p:cNvSpPr>
          <p:nvPr/>
        </p:nvSpPr>
        <p:spPr>
          <a:xfrm>
            <a:off x="1981200" y="274638"/>
            <a:ext cx="8229600" cy="1143000"/>
          </a:xfrm>
          <a:prstGeom prst="rect">
            <a:avLst/>
          </a:prstGeom>
          <a:ln/>
        </p:spPr>
        <p:txBody>
          <a:bodyPr vert="horz" lIns="91440" tIns="45720" rIns="91440" bIns="45720" rtlCol="0" anchor="ctr">
            <a:normAutofit fontScale="92500" lnSpcReduction="20000"/>
          </a:bodyPr>
          <a:lstStyle/>
          <a:p>
            <a:pPr algn="ctr">
              <a:spcBef>
                <a:spcPct val="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4400" b="1" dirty="0">
                <a:solidFill>
                  <a:srgbClr val="FF0000"/>
                </a:solidFill>
                <a:latin typeface="+mj-lt"/>
                <a:ea typeface="+mj-ea"/>
                <a:cs typeface="+mj-cs"/>
              </a:rPr>
              <a:t>Variation of traffic on a typical working day</a:t>
            </a:r>
          </a:p>
        </p:txBody>
      </p:sp>
    </p:spTree>
    <p:extLst>
      <p:ext uri="{BB962C8B-B14F-4D97-AF65-F5344CB8AC3E}">
        <p14:creationId xmlns:p14="http://schemas.microsoft.com/office/powerpoint/2010/main" val="204923954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normAutofit fontScale="92500" lnSpcReduction="20000"/>
          </a:bodyPr>
          <a:lstStyle/>
          <a:p>
            <a:r>
              <a:rPr lang="en-US" sz="3500" dirty="0"/>
              <a:t>The traffic pattern is same irrespective of the area considered.</a:t>
            </a:r>
          </a:p>
          <a:p>
            <a:r>
              <a:rPr lang="en-US" sz="3500" dirty="0"/>
              <a:t>There is a little use of the network during 0 to 6 hours as most of the population is asleep.</a:t>
            </a:r>
          </a:p>
          <a:p>
            <a:r>
              <a:rPr lang="en-US" sz="3500" dirty="0"/>
              <a:t>There is a large peak in the mid-forenoon and mid afternoon signifying busy office activities.</a:t>
            </a:r>
          </a:p>
          <a:p>
            <a:r>
              <a:rPr lang="en-US" sz="3500" dirty="0"/>
              <a:t>The traffic is low during the lunch hour </a:t>
            </a:r>
            <a:r>
              <a:rPr lang="en-US" sz="3500" dirty="0" err="1"/>
              <a:t>i.e</a:t>
            </a:r>
            <a:r>
              <a:rPr lang="en-US" sz="3500" dirty="0"/>
              <a:t> 12 to 14 hours.</a:t>
            </a:r>
          </a:p>
          <a:p>
            <a:r>
              <a:rPr lang="en-US" sz="3500" dirty="0"/>
              <a:t>The period 17 to 18 hours is characterized by low traffic as people are moving from office to their residences.</a:t>
            </a:r>
          </a:p>
          <a:p>
            <a:r>
              <a:rPr lang="en-US" sz="3500" dirty="0"/>
              <a:t>After 18 hours the peak of domestic calls occur</a:t>
            </a:r>
            <a:r>
              <a:rPr lang="en-US" dirty="0"/>
              <a:t>.</a:t>
            </a:r>
          </a:p>
          <a:p>
            <a:endParaRPr lang="en-US" dirty="0"/>
          </a:p>
        </p:txBody>
      </p:sp>
    </p:spTree>
    <p:extLst>
      <p:ext uri="{BB962C8B-B14F-4D97-AF65-F5344CB8AC3E}">
        <p14:creationId xmlns:p14="http://schemas.microsoft.com/office/powerpoint/2010/main" val="549420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r>
              <a:rPr lang="en-US" b="1" dirty="0">
                <a:solidFill>
                  <a:srgbClr val="FF0000"/>
                </a:solidFill>
              </a:rPr>
              <a:t>Network parameters</a:t>
            </a:r>
          </a:p>
        </p:txBody>
      </p:sp>
      <p:sp>
        <p:nvSpPr>
          <p:cNvPr id="3" name="Content Placeholder 2"/>
          <p:cNvSpPr>
            <a:spLocks noGrp="1"/>
          </p:cNvSpPr>
          <p:nvPr>
            <p:ph idx="1"/>
          </p:nvPr>
        </p:nvSpPr>
        <p:spPr>
          <a:xfrm>
            <a:off x="1981200" y="1066801"/>
            <a:ext cx="8229600" cy="5059363"/>
          </a:xfrm>
        </p:spPr>
        <p:txBody>
          <a:bodyPr>
            <a:normAutofit/>
          </a:bodyPr>
          <a:lstStyle/>
          <a:p>
            <a:pPr>
              <a:buNone/>
            </a:pPr>
            <a:r>
              <a:rPr lang="en-US" b="1" dirty="0">
                <a:solidFill>
                  <a:srgbClr val="0070C0"/>
                </a:solidFill>
              </a:rPr>
              <a:t>  Busy hour:</a:t>
            </a:r>
          </a:p>
          <a:p>
            <a:pPr>
              <a:buFont typeface="Wingdings" pitchFamily="2" charset="2"/>
              <a:buChar char="ü"/>
            </a:pPr>
            <a:r>
              <a:rPr lang="en-US" b="1" dirty="0">
                <a:solidFill>
                  <a:srgbClr val="0070C0"/>
                </a:solidFill>
              </a:rPr>
              <a:t> </a:t>
            </a:r>
            <a:r>
              <a:rPr lang="en-US" dirty="0"/>
              <a:t>In a day, the </a:t>
            </a:r>
            <a:r>
              <a:rPr lang="en-US" b="1" dirty="0"/>
              <a:t>60 minute interval during </a:t>
            </a:r>
            <a:r>
              <a:rPr lang="en-US" dirty="0"/>
              <a:t>which the traffic is the highest is called the </a:t>
            </a:r>
            <a:r>
              <a:rPr lang="en-US" b="1" dirty="0"/>
              <a:t>busy hour.</a:t>
            </a:r>
          </a:p>
          <a:p>
            <a:r>
              <a:rPr lang="en-US" b="1" dirty="0"/>
              <a:t>Maximum number of calls are generated </a:t>
            </a:r>
            <a:r>
              <a:rPr lang="en-US" dirty="0"/>
              <a:t>during the busy hour.</a:t>
            </a:r>
          </a:p>
          <a:p>
            <a:r>
              <a:rPr lang="en-US" dirty="0"/>
              <a:t>It varies from </a:t>
            </a:r>
            <a:r>
              <a:rPr lang="en-US" b="1" dirty="0"/>
              <a:t>exchange to exchange </a:t>
            </a:r>
            <a:r>
              <a:rPr lang="en-US" dirty="0"/>
              <a:t>depending on </a:t>
            </a:r>
            <a:r>
              <a:rPr lang="en-US" b="1" dirty="0"/>
              <a:t>locations and community interest </a:t>
            </a:r>
            <a:r>
              <a:rPr lang="en-US" dirty="0"/>
              <a:t>of the subscribers.</a:t>
            </a:r>
          </a:p>
          <a:p>
            <a:r>
              <a:rPr lang="en-US" dirty="0"/>
              <a:t>It may show seasonal, weekly and in some places daily variation.</a:t>
            </a:r>
          </a:p>
          <a:p>
            <a:pPr>
              <a:buNone/>
            </a:pPr>
            <a:endParaRPr lang="en-US" dirty="0"/>
          </a:p>
          <a:p>
            <a:endParaRPr lang="en-US" dirty="0"/>
          </a:p>
        </p:txBody>
      </p:sp>
    </p:spTree>
    <p:extLst>
      <p:ext uri="{BB962C8B-B14F-4D97-AF65-F5344CB8AC3E}">
        <p14:creationId xmlns:p14="http://schemas.microsoft.com/office/powerpoint/2010/main" val="2076249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8201"/>
            <a:ext cx="8229600" cy="5029200"/>
          </a:xfrm>
        </p:spPr>
        <p:txBody>
          <a:bodyPr>
            <a:normAutofit/>
          </a:bodyPr>
          <a:lstStyle/>
          <a:p>
            <a:r>
              <a:rPr lang="en-US" dirty="0"/>
              <a:t>There are three types of busy hour as recommended by CCITT in its recommendation E.600 :</a:t>
            </a:r>
          </a:p>
          <a:p>
            <a:pPr>
              <a:buNone/>
            </a:pPr>
            <a:r>
              <a:rPr lang="en-US" dirty="0"/>
              <a:t>  </a:t>
            </a:r>
            <a:r>
              <a:rPr lang="en-US" b="1" dirty="0">
                <a:solidFill>
                  <a:srgbClr val="0070C0"/>
                </a:solidFill>
              </a:rPr>
              <a:t>1. Busy hour: </a:t>
            </a:r>
            <a:r>
              <a:rPr lang="en-US" dirty="0"/>
              <a:t>Continuous 1 hour period lying wholly in the time interval concerned, for which the </a:t>
            </a:r>
            <a:r>
              <a:rPr lang="en-US" b="1" dirty="0"/>
              <a:t>traffic volume or the number of call attempts is greatest.</a:t>
            </a:r>
          </a:p>
          <a:p>
            <a:pPr>
              <a:buNone/>
            </a:pPr>
            <a:r>
              <a:rPr lang="en-US" dirty="0"/>
              <a:t> </a:t>
            </a:r>
            <a:r>
              <a:rPr lang="en-US" b="1" dirty="0">
                <a:solidFill>
                  <a:srgbClr val="0070C0"/>
                </a:solidFill>
              </a:rPr>
              <a:t> 2. Peak busy hour: </a:t>
            </a:r>
            <a:r>
              <a:rPr lang="en-US" dirty="0"/>
              <a:t>The </a:t>
            </a:r>
            <a:r>
              <a:rPr lang="en-US" b="1" dirty="0"/>
              <a:t>busy hour each day</a:t>
            </a:r>
            <a:r>
              <a:rPr lang="en-US" dirty="0"/>
              <a:t>. It usually varies from </a:t>
            </a:r>
            <a:r>
              <a:rPr lang="en-US" b="1" dirty="0"/>
              <a:t>day to day, or even over a number of days.</a:t>
            </a:r>
          </a:p>
          <a:p>
            <a:pPr>
              <a:buNone/>
            </a:pPr>
            <a:r>
              <a:rPr lang="en-US" dirty="0"/>
              <a:t> </a:t>
            </a:r>
          </a:p>
        </p:txBody>
      </p:sp>
    </p:spTree>
    <p:extLst>
      <p:ext uri="{BB962C8B-B14F-4D97-AF65-F5344CB8AC3E}">
        <p14:creationId xmlns:p14="http://schemas.microsoft.com/office/powerpoint/2010/main" val="870313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1"/>
            <a:ext cx="8229600" cy="5897563"/>
          </a:xfrm>
        </p:spPr>
        <p:txBody>
          <a:bodyPr/>
          <a:lstStyle/>
          <a:p>
            <a:pPr>
              <a:buNone/>
            </a:pPr>
            <a:r>
              <a:rPr lang="en-US" b="1" dirty="0">
                <a:solidFill>
                  <a:srgbClr val="0070C0"/>
                </a:solidFill>
              </a:rPr>
              <a:t>  3. Time consistent busy hour: </a:t>
            </a:r>
            <a:r>
              <a:rPr lang="en-US" dirty="0"/>
              <a:t>The 1 hour period starting at the same time each day for which the </a:t>
            </a:r>
            <a:r>
              <a:rPr lang="en-US" b="1" dirty="0"/>
              <a:t>average traffic volume or the number of call attempts is greatest over the days under consideration.</a:t>
            </a:r>
          </a:p>
          <a:p>
            <a:pPr>
              <a:buFont typeface="Wingdings" pitchFamily="2" charset="2"/>
              <a:buChar char="ü"/>
            </a:pPr>
            <a:r>
              <a:rPr lang="en-US" b="1" dirty="0">
                <a:solidFill>
                  <a:srgbClr val="0070C0"/>
                </a:solidFill>
              </a:rPr>
              <a:t>Call completion rate (CCR): </a:t>
            </a:r>
            <a:r>
              <a:rPr lang="en-US" dirty="0"/>
              <a:t>Call completion rate is defined as </a:t>
            </a:r>
            <a:r>
              <a:rPr lang="en-US" b="1" dirty="0"/>
              <a:t>the ratio of the number of successful calls to the number of call attempts.</a:t>
            </a:r>
          </a:p>
          <a:p>
            <a:pPr>
              <a:buNone/>
            </a:pPr>
            <a:r>
              <a:rPr lang="en-US" b="1" dirty="0">
                <a:solidFill>
                  <a:srgbClr val="0070C0"/>
                </a:solidFill>
              </a:rPr>
              <a:t>Note: </a:t>
            </a:r>
            <a:r>
              <a:rPr lang="en-US" dirty="0"/>
              <a:t>A call attempt is said to be successful or completed if the called party answers. </a:t>
            </a:r>
            <a:endParaRPr lang="en-US" b="1" dirty="0">
              <a:solidFill>
                <a:srgbClr val="0070C0"/>
              </a:solidFill>
            </a:endParaRPr>
          </a:p>
        </p:txBody>
      </p:sp>
    </p:spTree>
    <p:extLst>
      <p:ext uri="{BB962C8B-B14F-4D97-AF65-F5344CB8AC3E}">
        <p14:creationId xmlns:p14="http://schemas.microsoft.com/office/powerpoint/2010/main" val="2028675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1"/>
            <a:ext cx="8229600" cy="5897563"/>
          </a:xfrm>
        </p:spPr>
        <p:txBody>
          <a:bodyPr>
            <a:normAutofit/>
          </a:bodyPr>
          <a:lstStyle/>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dirty="0"/>
              <a:t>The CCR parameter is used in dimensioning the network.</a:t>
            </a:r>
          </a:p>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dirty="0"/>
              <a:t>A network is usually designed to provide an overall CCR of over 0.70.</a:t>
            </a:r>
          </a:p>
          <a:p>
            <a:pPr marL="341313" indent="-339725">
              <a:spcBef>
                <a:spcPts val="800"/>
              </a:spcBef>
              <a:buFont typeface="Wingdings" pitchFamily="2" charset="2"/>
              <a:buChar char="ü"/>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b="1" dirty="0">
                <a:solidFill>
                  <a:srgbClr val="0070C0"/>
                </a:solidFill>
              </a:rPr>
              <a:t>Busy Hour Call Attempts (BHCA)‏: </a:t>
            </a:r>
            <a:r>
              <a:rPr lang="en-IN" b="1" dirty="0"/>
              <a:t>The number of call attempts in the busy hour is called busy hour call attempts.</a:t>
            </a:r>
          </a:p>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dirty="0"/>
              <a:t>BHCA is an important parameter in </a:t>
            </a:r>
            <a:r>
              <a:rPr lang="en-IN" b="1" dirty="0"/>
              <a:t>deciding the processing capacity of a common control or a stored program control system of an exchange.</a:t>
            </a:r>
          </a:p>
          <a:p>
            <a:pPr marL="341313" indent="-339725">
              <a:spcBef>
                <a:spcPts val="800"/>
              </a:spcBef>
              <a:buFont typeface="Wingdings" pitchFamily="2" charset="2"/>
              <a:buChar char="ü"/>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endParaRPr lang="en-IN" dirty="0"/>
          </a:p>
          <a:p>
            <a:pPr>
              <a:buNone/>
            </a:pPr>
            <a:endParaRPr lang="en-IN" b="1" dirty="0">
              <a:solidFill>
                <a:srgbClr val="0070C0"/>
              </a:solidFill>
            </a:endParaRPr>
          </a:p>
          <a:p>
            <a:pPr>
              <a:buNone/>
            </a:pPr>
            <a:endParaRPr lang="en-US" dirty="0"/>
          </a:p>
        </p:txBody>
      </p:sp>
    </p:spTree>
    <p:extLst>
      <p:ext uri="{BB962C8B-B14F-4D97-AF65-F5344CB8AC3E}">
        <p14:creationId xmlns:p14="http://schemas.microsoft.com/office/powerpoint/2010/main" val="836059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normAutofit/>
          </a:bodyPr>
          <a:lstStyle/>
          <a:p>
            <a:pPr>
              <a:buFont typeface="Wingdings" pitchFamily="2" charset="2"/>
              <a:buChar char="ü"/>
            </a:pPr>
            <a:r>
              <a:rPr lang="en-US" b="1" dirty="0">
                <a:solidFill>
                  <a:srgbClr val="0070C0"/>
                </a:solidFill>
              </a:rPr>
              <a:t>Busy hour calling rate:</a:t>
            </a:r>
            <a:r>
              <a:rPr lang="en-US" dirty="0"/>
              <a:t> The busy hour calling rate is defined as the average number of calls originated by a subscriber during the busy hour.</a:t>
            </a:r>
          </a:p>
          <a:p>
            <a:pPr>
              <a:buNone/>
            </a:pPr>
            <a:r>
              <a:rPr lang="en-US" dirty="0"/>
              <a:t> busy hour calling rate=average busy hour calls/total number </a:t>
            </a:r>
            <a:r>
              <a:rPr lang="en-US"/>
              <a:t>of subscribers</a:t>
            </a:r>
            <a:endParaRPr lang="en-US" dirty="0"/>
          </a:p>
          <a:p>
            <a:r>
              <a:rPr lang="en-US" dirty="0"/>
              <a:t>Busy hour calling rate is useful in sizing the exchange to handle peak traffic.</a:t>
            </a:r>
          </a:p>
          <a:p>
            <a:pPr>
              <a:buNone/>
            </a:pPr>
            <a:r>
              <a:rPr lang="en-US" b="1" dirty="0">
                <a:solidFill>
                  <a:srgbClr val="FF0000"/>
                </a:solidFill>
              </a:rPr>
              <a:t>P.1:</a:t>
            </a:r>
            <a:r>
              <a:rPr lang="en-US" dirty="0">
                <a:solidFill>
                  <a:srgbClr val="FF0000"/>
                </a:solidFill>
              </a:rPr>
              <a:t> An exchange serves 2000 subscribers. If the average BHCA is 10000 and the CCR is 60%, calculate the busy hour calling rate.</a:t>
            </a:r>
            <a:endParaRPr lang="en-US" b="1" dirty="0">
              <a:solidFill>
                <a:srgbClr val="FF0000"/>
              </a:solidFill>
            </a:endParaRPr>
          </a:p>
        </p:txBody>
      </p:sp>
    </p:spTree>
    <p:extLst>
      <p:ext uri="{BB962C8B-B14F-4D97-AF65-F5344CB8AC3E}">
        <p14:creationId xmlns:p14="http://schemas.microsoft.com/office/powerpoint/2010/main" val="26340579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0"/>
            <a:ext cx="8229600" cy="5715000"/>
          </a:xfrm>
        </p:spPr>
        <p:txBody>
          <a:bodyPr>
            <a:normAutofit/>
          </a:bodyPr>
          <a:lstStyle/>
          <a:p>
            <a:pPr>
              <a:buFont typeface="Wingdings" pitchFamily="2" charset="2"/>
              <a:buChar char="ü"/>
            </a:pPr>
            <a:r>
              <a:rPr lang="en-US" b="1" dirty="0">
                <a:solidFill>
                  <a:srgbClr val="0070C0"/>
                </a:solidFill>
              </a:rPr>
              <a:t>Day-to-busy hour traffic ratio: </a:t>
            </a:r>
            <a:r>
              <a:rPr lang="en-US" dirty="0"/>
              <a:t>It is defined as the </a:t>
            </a:r>
            <a:r>
              <a:rPr lang="en-US" b="1" dirty="0"/>
              <a:t>ratio of busy hour calling rate to the average calling rate for the day.</a:t>
            </a:r>
          </a:p>
          <a:p>
            <a:pPr>
              <a:buFont typeface="Wingdings" pitchFamily="2" charset="2"/>
              <a:buChar char="ü"/>
            </a:pPr>
            <a:r>
              <a:rPr lang="en-US" b="1" dirty="0">
                <a:solidFill>
                  <a:srgbClr val="0070C0"/>
                </a:solidFill>
              </a:rPr>
              <a:t> Traffic intensity:</a:t>
            </a:r>
            <a:r>
              <a:rPr lang="en-US" dirty="0"/>
              <a:t> </a:t>
            </a:r>
          </a:p>
          <a:p>
            <a:r>
              <a:rPr lang="en-US" dirty="0"/>
              <a:t>For analytical treatment, </a:t>
            </a:r>
            <a:r>
              <a:rPr lang="en-US" b="1" dirty="0"/>
              <a:t>all the common subsystems of a telecommunication network </a:t>
            </a:r>
            <a:r>
              <a:rPr lang="en-US" dirty="0"/>
              <a:t>are collectively termed as </a:t>
            </a:r>
            <a:r>
              <a:rPr lang="en-US" b="1" dirty="0"/>
              <a:t>servers.</a:t>
            </a:r>
          </a:p>
          <a:p>
            <a:r>
              <a:rPr lang="en-US" b="1" dirty="0"/>
              <a:t>The traffic on a network can be measured in terms of occupancy of the servers </a:t>
            </a:r>
            <a:r>
              <a:rPr lang="en-US" dirty="0"/>
              <a:t>in the network.</a:t>
            </a:r>
            <a:endParaRPr lang="en-US" b="1" dirty="0">
              <a:solidFill>
                <a:srgbClr val="0070C0"/>
              </a:solidFill>
            </a:endParaRPr>
          </a:p>
        </p:txBody>
      </p:sp>
    </p:spTree>
    <p:extLst>
      <p:ext uri="{BB962C8B-B14F-4D97-AF65-F5344CB8AC3E}">
        <p14:creationId xmlns:p14="http://schemas.microsoft.com/office/powerpoint/2010/main" val="2819808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normAutofit/>
          </a:bodyPr>
          <a:lstStyle/>
          <a:p>
            <a:r>
              <a:rPr lang="en-US" dirty="0"/>
              <a:t>The </a:t>
            </a:r>
            <a:r>
              <a:rPr lang="en-US" b="1" dirty="0"/>
              <a:t>traffic intensity </a:t>
            </a:r>
            <a:r>
              <a:rPr lang="en-US" dirty="0"/>
              <a:t>is defined as </a:t>
            </a:r>
            <a:r>
              <a:rPr lang="en-US" b="1" dirty="0"/>
              <a:t>the ratio of the period for which a server is occupied to the total period of observation.</a:t>
            </a:r>
          </a:p>
          <a:p>
            <a:pPr>
              <a:buNone/>
            </a:pPr>
            <a:r>
              <a:rPr lang="en-US" dirty="0"/>
              <a:t>       A</a:t>
            </a:r>
            <a:r>
              <a:rPr lang="en-US" sz="1400" dirty="0"/>
              <a:t>0</a:t>
            </a:r>
            <a:r>
              <a:rPr lang="en-US" dirty="0"/>
              <a:t>=(Period for which  server is occupied)/(total period of observation)</a:t>
            </a:r>
          </a:p>
          <a:p>
            <a:r>
              <a:rPr lang="en-US" dirty="0"/>
              <a:t>Generally, the period of observation is taken as 1 hour.</a:t>
            </a:r>
          </a:p>
          <a:p>
            <a:r>
              <a:rPr lang="en-US" dirty="0"/>
              <a:t>A</a:t>
            </a:r>
            <a:r>
              <a:rPr lang="en-US" sz="1200" dirty="0"/>
              <a:t>0</a:t>
            </a:r>
            <a:r>
              <a:rPr lang="en-US" dirty="0"/>
              <a:t> is dimensionless and is called </a:t>
            </a:r>
            <a:r>
              <a:rPr lang="en-US" b="1" dirty="0" err="1"/>
              <a:t>erlang</a:t>
            </a:r>
            <a:r>
              <a:rPr lang="en-US" b="1" dirty="0"/>
              <a:t> (E). </a:t>
            </a:r>
          </a:p>
          <a:p>
            <a:r>
              <a:rPr lang="en-US" dirty="0"/>
              <a:t>A server is said to have </a:t>
            </a:r>
            <a:r>
              <a:rPr lang="en-US" b="1" dirty="0"/>
              <a:t>1 </a:t>
            </a:r>
            <a:r>
              <a:rPr lang="en-US" b="1" dirty="0" err="1"/>
              <a:t>erlang</a:t>
            </a:r>
            <a:r>
              <a:rPr lang="en-US" b="1" dirty="0"/>
              <a:t> </a:t>
            </a:r>
            <a:r>
              <a:rPr lang="en-US" dirty="0"/>
              <a:t>of traffic if it is occupied for the entire period of observation.</a:t>
            </a:r>
          </a:p>
          <a:p>
            <a:pPr>
              <a:buNone/>
            </a:pPr>
            <a:r>
              <a:rPr lang="en-US" dirty="0"/>
              <a:t>  </a:t>
            </a:r>
          </a:p>
        </p:txBody>
      </p:sp>
    </p:spTree>
    <p:extLst>
      <p:ext uri="{BB962C8B-B14F-4D97-AF65-F5344CB8AC3E}">
        <p14:creationId xmlns:p14="http://schemas.microsoft.com/office/powerpoint/2010/main" val="1301638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lstStyle/>
          <a:p>
            <a:pPr>
              <a:buNone/>
            </a:pPr>
            <a:r>
              <a:rPr lang="en-US" dirty="0">
                <a:solidFill>
                  <a:srgbClr val="FF0000"/>
                </a:solidFill>
              </a:rPr>
              <a:t>P.2: In a group of 10 servers, each is occupied for 30 minutes in an interval of two hours. Calculate the traffic carried by the group.</a:t>
            </a:r>
          </a:p>
          <a:p>
            <a:pPr>
              <a:buNone/>
            </a:pPr>
            <a:r>
              <a:rPr lang="en-US" dirty="0">
                <a:solidFill>
                  <a:srgbClr val="FF0000"/>
                </a:solidFill>
              </a:rPr>
              <a:t>P.3: A group of 20 servers carry a traffic of 10 </a:t>
            </a:r>
            <a:r>
              <a:rPr lang="en-US" dirty="0" err="1">
                <a:solidFill>
                  <a:srgbClr val="FF0000"/>
                </a:solidFill>
              </a:rPr>
              <a:t>erlangs</a:t>
            </a:r>
            <a:r>
              <a:rPr lang="en-US" dirty="0">
                <a:solidFill>
                  <a:srgbClr val="FF0000"/>
                </a:solidFill>
              </a:rPr>
              <a:t>. If the average duration of a call is 3 minutes, calculate the number of calls put through a single server and the group as a whole in one hour period.</a:t>
            </a:r>
          </a:p>
        </p:txBody>
      </p:sp>
    </p:spTree>
    <p:extLst>
      <p:ext uri="{BB962C8B-B14F-4D97-AF65-F5344CB8AC3E}">
        <p14:creationId xmlns:p14="http://schemas.microsoft.com/office/powerpoint/2010/main" val="491297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1"/>
            <a:ext cx="8229600" cy="5897563"/>
          </a:xfrm>
        </p:spPr>
        <p:txBody>
          <a:bodyPr>
            <a:normAutofit/>
          </a:bodyPr>
          <a:lstStyle/>
          <a:p>
            <a:r>
              <a:rPr lang="en-US" dirty="0"/>
              <a:t>Traffic intensity can be measured in another way. </a:t>
            </a:r>
            <a:r>
              <a:rPr lang="en-US" b="1" dirty="0"/>
              <a:t>This measure is known as centum call second (CCS) </a:t>
            </a:r>
            <a:r>
              <a:rPr lang="en-US" dirty="0"/>
              <a:t>which represents </a:t>
            </a:r>
            <a:r>
              <a:rPr lang="en-US" b="1" dirty="0"/>
              <a:t>call-time product.</a:t>
            </a:r>
          </a:p>
          <a:p>
            <a:r>
              <a:rPr lang="en-US" dirty="0"/>
              <a:t>One CCS may mean one call for 100 seconds duration or 100 calls for one second duration each or any other combination.</a:t>
            </a:r>
          </a:p>
          <a:p>
            <a:r>
              <a:rPr lang="en-US" dirty="0"/>
              <a:t>CCS  is valid only in telephone circuits (from subscribers point of view).</a:t>
            </a:r>
          </a:p>
          <a:p>
            <a:r>
              <a:rPr lang="en-US" dirty="0" err="1"/>
              <a:t>Erlang</a:t>
            </a:r>
            <a:r>
              <a:rPr lang="en-US" dirty="0"/>
              <a:t> provides better measure for representing traffic intensity (from exchange point of view).</a:t>
            </a:r>
          </a:p>
          <a:p>
            <a:endParaRPr lang="en-US" dirty="0"/>
          </a:p>
          <a:p>
            <a:endParaRPr lang="en-US" dirty="0"/>
          </a:p>
        </p:txBody>
      </p:sp>
    </p:spTree>
    <p:extLst>
      <p:ext uri="{BB962C8B-B14F-4D97-AF65-F5344CB8AC3E}">
        <p14:creationId xmlns:p14="http://schemas.microsoft.com/office/powerpoint/2010/main" val="2905011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normAutofit/>
          </a:bodyPr>
          <a:lstStyle/>
          <a:p>
            <a:r>
              <a:rPr lang="en-US" dirty="0"/>
              <a:t>Sometimes Call seconds  (CS) and Call minutes (CM) are also used to measure traffic intensity.</a:t>
            </a:r>
          </a:p>
          <a:p>
            <a:pPr>
              <a:buNone/>
            </a:pPr>
            <a:r>
              <a:rPr lang="en-US" dirty="0"/>
              <a:t>              </a:t>
            </a:r>
            <a:r>
              <a:rPr lang="en-US" b="1" dirty="0">
                <a:solidFill>
                  <a:schemeClr val="accent1"/>
                </a:solidFill>
              </a:rPr>
              <a:t>1E=36 CCS=3600 CS=60 CM</a:t>
            </a:r>
          </a:p>
          <a:p>
            <a:pPr>
              <a:buNone/>
            </a:pPr>
            <a:r>
              <a:rPr lang="en-US" dirty="0">
                <a:solidFill>
                  <a:srgbClr val="FF0000"/>
                </a:solidFill>
              </a:rPr>
              <a:t>P.3: A subscriber makes three phone calls of 3 minutes, 4 minutes and 2 minutes duration in a one-hour period. Calculate the subscriber traffic in </a:t>
            </a:r>
            <a:r>
              <a:rPr lang="en-US" dirty="0" err="1">
                <a:solidFill>
                  <a:srgbClr val="FF0000"/>
                </a:solidFill>
              </a:rPr>
              <a:t>erlangs</a:t>
            </a:r>
            <a:r>
              <a:rPr lang="en-US" dirty="0">
                <a:solidFill>
                  <a:srgbClr val="FF0000"/>
                </a:solidFill>
              </a:rPr>
              <a:t>, CCS and CM.</a:t>
            </a:r>
          </a:p>
          <a:p>
            <a:pPr>
              <a:buNone/>
            </a:pPr>
            <a:r>
              <a:rPr lang="en-US" dirty="0">
                <a:solidFill>
                  <a:srgbClr val="FF0000"/>
                </a:solidFill>
              </a:rPr>
              <a:t>P.4: Over a 20 minute observation interval, 40 subscribers initiate calls. Total duration of the calls is 4800 seconds. Calculate the load offered to the network by the subscriber and the average subscriber traffic.</a:t>
            </a:r>
          </a:p>
          <a:p>
            <a:endParaRPr lang="en-US" b="1" dirty="0"/>
          </a:p>
        </p:txBody>
      </p:sp>
    </p:spTree>
    <p:extLst>
      <p:ext uri="{BB962C8B-B14F-4D97-AF65-F5344CB8AC3E}">
        <p14:creationId xmlns:p14="http://schemas.microsoft.com/office/powerpoint/2010/main" val="2499913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lstStyle/>
          <a:p>
            <a:r>
              <a:rPr lang="en-US" dirty="0"/>
              <a:t>There are two more parameters that are required to estimate the traffic intensity or the network load and these are:</a:t>
            </a:r>
          </a:p>
          <a:p>
            <a:pPr marL="571500" indent="-571500">
              <a:buAutoNum type="romanLcPeriod"/>
            </a:pPr>
            <a:r>
              <a:rPr lang="en-US" dirty="0">
                <a:solidFill>
                  <a:schemeClr val="accent1"/>
                </a:solidFill>
              </a:rPr>
              <a:t>Average call arrival rate, C (in number of calls per minute)</a:t>
            </a:r>
          </a:p>
          <a:p>
            <a:pPr marL="571500" indent="-571500">
              <a:buAutoNum type="romanLcPeriod"/>
            </a:pPr>
            <a:r>
              <a:rPr lang="en-US" dirty="0">
                <a:solidFill>
                  <a:schemeClr val="accent1"/>
                </a:solidFill>
              </a:rPr>
              <a:t>Average holding time per call, </a:t>
            </a:r>
            <a:r>
              <a:rPr lang="en-US" dirty="0" err="1">
                <a:solidFill>
                  <a:schemeClr val="accent1"/>
                </a:solidFill>
              </a:rPr>
              <a:t>t</a:t>
            </a:r>
            <a:r>
              <a:rPr lang="en-US" sz="1400" dirty="0" err="1">
                <a:solidFill>
                  <a:schemeClr val="accent1"/>
                </a:solidFill>
              </a:rPr>
              <a:t>h</a:t>
            </a:r>
            <a:r>
              <a:rPr lang="en-US" sz="1400" dirty="0">
                <a:solidFill>
                  <a:schemeClr val="accent1"/>
                </a:solidFill>
              </a:rPr>
              <a:t> </a:t>
            </a:r>
            <a:r>
              <a:rPr lang="en-US" dirty="0">
                <a:solidFill>
                  <a:schemeClr val="accent1"/>
                </a:solidFill>
              </a:rPr>
              <a:t> (minutes per call)</a:t>
            </a:r>
          </a:p>
          <a:p>
            <a:pPr marL="571500" indent="-571500"/>
            <a:r>
              <a:rPr lang="en-US" dirty="0"/>
              <a:t>The load offered to the network in terms of the above parameters can be expressed as,</a:t>
            </a:r>
          </a:p>
          <a:p>
            <a:pPr marL="571500" indent="-571500">
              <a:buNone/>
            </a:pPr>
            <a:r>
              <a:rPr lang="en-US" dirty="0"/>
              <a:t>                              </a:t>
            </a:r>
            <a:r>
              <a:rPr lang="en-US" b="1" dirty="0">
                <a:solidFill>
                  <a:schemeClr val="accent1"/>
                </a:solidFill>
              </a:rPr>
              <a:t> A=</a:t>
            </a:r>
            <a:r>
              <a:rPr lang="en-US" b="1" dirty="0" err="1">
                <a:solidFill>
                  <a:schemeClr val="accent1"/>
                </a:solidFill>
              </a:rPr>
              <a:t>Ct</a:t>
            </a:r>
            <a:r>
              <a:rPr lang="en-US" sz="1400" b="1" dirty="0" err="1">
                <a:solidFill>
                  <a:schemeClr val="accent1"/>
                </a:solidFill>
              </a:rPr>
              <a:t>h</a:t>
            </a:r>
            <a:endParaRPr lang="en-US" b="1" dirty="0">
              <a:solidFill>
                <a:schemeClr val="accent1"/>
              </a:solidFill>
            </a:endParaRPr>
          </a:p>
          <a:p>
            <a:pPr marL="571500" indent="-571500">
              <a:buNone/>
            </a:pPr>
            <a:endParaRPr lang="en-US" dirty="0"/>
          </a:p>
        </p:txBody>
      </p:sp>
    </p:spTree>
    <p:extLst>
      <p:ext uri="{BB962C8B-B14F-4D97-AF65-F5344CB8AC3E}">
        <p14:creationId xmlns:p14="http://schemas.microsoft.com/office/powerpoint/2010/main" val="250115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lstStyle/>
          <a:p>
            <a:pPr>
              <a:buNone/>
            </a:pPr>
            <a:r>
              <a:rPr lang="en-US" b="1" dirty="0">
                <a:solidFill>
                  <a:schemeClr val="accent1"/>
                </a:solidFill>
              </a:rPr>
              <a:t>Notes:</a:t>
            </a:r>
          </a:p>
          <a:p>
            <a:r>
              <a:rPr lang="en-US" dirty="0"/>
              <a:t>The traffic is being handled in two ways:</a:t>
            </a:r>
          </a:p>
          <a:p>
            <a:pPr>
              <a:buNone/>
            </a:pPr>
            <a:r>
              <a:rPr lang="en-US" dirty="0"/>
              <a:t>  </a:t>
            </a:r>
            <a:r>
              <a:rPr lang="en-US" dirty="0" err="1"/>
              <a:t>i</a:t>
            </a:r>
            <a:r>
              <a:rPr lang="en-US" dirty="0"/>
              <a:t>. Based on the traffic generated by the subscriber</a:t>
            </a:r>
          </a:p>
          <a:p>
            <a:pPr>
              <a:buNone/>
            </a:pPr>
            <a:r>
              <a:rPr lang="en-US" dirty="0"/>
              <a:t>  ii. Based on the observation of busy servers in the network.</a:t>
            </a:r>
          </a:p>
          <a:p>
            <a:endParaRPr lang="en-US" dirty="0"/>
          </a:p>
        </p:txBody>
      </p:sp>
    </p:spTree>
    <p:extLst>
      <p:ext uri="{BB962C8B-B14F-4D97-AF65-F5344CB8AC3E}">
        <p14:creationId xmlns:p14="http://schemas.microsoft.com/office/powerpoint/2010/main" val="114484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b="1" dirty="0">
                <a:solidFill>
                  <a:srgbClr val="FF0000"/>
                </a:solidFill>
              </a:rPr>
              <a:t>Handling of overload traffic</a:t>
            </a:r>
          </a:p>
        </p:txBody>
      </p:sp>
      <p:sp>
        <p:nvSpPr>
          <p:cNvPr id="3" name="Content Placeholder 2"/>
          <p:cNvSpPr>
            <a:spLocks noGrp="1"/>
          </p:cNvSpPr>
          <p:nvPr>
            <p:ph idx="1"/>
          </p:nvPr>
        </p:nvSpPr>
        <p:spPr>
          <a:xfrm>
            <a:off x="1981200" y="1676400"/>
            <a:ext cx="8229600" cy="4191000"/>
          </a:xfrm>
        </p:spPr>
        <p:txBody>
          <a:bodyPr>
            <a:normAutofit/>
          </a:bodyPr>
          <a:lstStyle/>
          <a:p>
            <a:r>
              <a:rPr lang="en-US" dirty="0"/>
              <a:t>There are two ways of handling overload traffic.</a:t>
            </a:r>
          </a:p>
          <a:p>
            <a:r>
              <a:rPr lang="en-US" dirty="0"/>
              <a:t>loss systems and delay systems are introduced depending on these two ways of handling traffic.</a:t>
            </a:r>
          </a:p>
          <a:p>
            <a:endParaRPr lang="en-US" dirty="0"/>
          </a:p>
          <a:p>
            <a:endParaRPr lang="en-US" dirty="0"/>
          </a:p>
        </p:txBody>
      </p:sp>
    </p:spTree>
    <p:extLst>
      <p:ext uri="{BB962C8B-B14F-4D97-AF65-F5344CB8AC3E}">
        <p14:creationId xmlns:p14="http://schemas.microsoft.com/office/powerpoint/2010/main" val="2409420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normAutofit/>
          </a:bodyPr>
          <a:lstStyle/>
          <a:p>
            <a:pPr>
              <a:buFont typeface="Wingdings" pitchFamily="2" charset="2"/>
              <a:buChar char="ü"/>
            </a:pPr>
            <a:r>
              <a:rPr lang="en-US" b="1" dirty="0"/>
              <a:t>loss systems:</a:t>
            </a:r>
          </a:p>
          <a:p>
            <a:r>
              <a:rPr lang="en-US" dirty="0"/>
              <a:t> In loss system, the overload traffic may be rejected without being serviced.</a:t>
            </a:r>
          </a:p>
          <a:p>
            <a:r>
              <a:rPr lang="en-US" dirty="0"/>
              <a:t>calls are lost.</a:t>
            </a:r>
          </a:p>
          <a:p>
            <a:r>
              <a:rPr lang="en-US" dirty="0"/>
              <a:t>Automatic telephone exchanges behave like loss systems.</a:t>
            </a:r>
          </a:p>
          <a:p>
            <a:r>
              <a:rPr lang="en-US" dirty="0"/>
              <a:t>Circuit switched networks are loss systems.</a:t>
            </a:r>
          </a:p>
          <a:p>
            <a:r>
              <a:rPr lang="en-US" dirty="0"/>
              <a:t>Performance parameters are grade of service and blocking probability.</a:t>
            </a:r>
          </a:p>
          <a:p>
            <a:r>
              <a:rPr lang="en-US" dirty="0"/>
              <a:t>Traffic models used to study loss systems are known as blocking or congestion models.</a:t>
            </a:r>
          </a:p>
          <a:p>
            <a:endParaRPr lang="en-US" dirty="0"/>
          </a:p>
          <a:p>
            <a:endParaRPr lang="en-US" dirty="0"/>
          </a:p>
          <a:p>
            <a:endParaRPr lang="en-US" dirty="0"/>
          </a:p>
        </p:txBody>
      </p:sp>
    </p:spTree>
    <p:extLst>
      <p:ext uri="{BB962C8B-B14F-4D97-AF65-F5344CB8AC3E}">
        <p14:creationId xmlns:p14="http://schemas.microsoft.com/office/powerpoint/2010/main" val="3072466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0"/>
            <a:ext cx="8229600" cy="5867400"/>
          </a:xfrm>
        </p:spPr>
        <p:txBody>
          <a:bodyPr>
            <a:normAutofit/>
          </a:bodyPr>
          <a:lstStyle/>
          <a:p>
            <a:pPr>
              <a:buFont typeface="Wingdings" pitchFamily="2" charset="2"/>
              <a:buChar char="ü"/>
            </a:pPr>
            <a:r>
              <a:rPr lang="en-US" b="1" dirty="0"/>
              <a:t>Delay system:</a:t>
            </a:r>
            <a:r>
              <a:rPr lang="en-US" dirty="0"/>
              <a:t> </a:t>
            </a:r>
          </a:p>
          <a:p>
            <a:r>
              <a:rPr lang="en-US" dirty="0"/>
              <a:t>In delay systems, the overload traffic is held on a queue until network facilities become available.</a:t>
            </a:r>
          </a:p>
          <a:p>
            <a:r>
              <a:rPr lang="en-US" dirty="0"/>
              <a:t>Calls are delayed.</a:t>
            </a:r>
          </a:p>
          <a:p>
            <a:r>
              <a:rPr lang="en-US" dirty="0"/>
              <a:t>Operator-oriented manual exchanges are delay systems.</a:t>
            </a:r>
          </a:p>
          <a:p>
            <a:r>
              <a:rPr lang="en-US" dirty="0"/>
              <a:t>Store-forward message or packet switched networks are delay systems.</a:t>
            </a:r>
          </a:p>
          <a:p>
            <a:r>
              <a:rPr lang="en-US" dirty="0"/>
              <a:t>Performance parameter is service delays.</a:t>
            </a:r>
          </a:p>
          <a:p>
            <a:r>
              <a:rPr lang="en-US" dirty="0"/>
              <a:t>Traffic models used to study delay systems are known as queuing models.</a:t>
            </a:r>
            <a:endParaRPr lang="en-US" b="1" dirty="0"/>
          </a:p>
          <a:p>
            <a:endParaRPr lang="en-US" dirty="0"/>
          </a:p>
        </p:txBody>
      </p:sp>
    </p:spTree>
    <p:extLst>
      <p:ext uri="{BB962C8B-B14F-4D97-AF65-F5344CB8AC3E}">
        <p14:creationId xmlns:p14="http://schemas.microsoft.com/office/powerpoint/2010/main" val="3747124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Grade of service (GOS)</a:t>
            </a:r>
          </a:p>
        </p:txBody>
      </p:sp>
      <p:sp>
        <p:nvSpPr>
          <p:cNvPr id="3" name="Content Placeholder 2"/>
          <p:cNvSpPr>
            <a:spLocks noGrp="1"/>
          </p:cNvSpPr>
          <p:nvPr>
            <p:ph idx="1"/>
          </p:nvPr>
        </p:nvSpPr>
        <p:spPr>
          <a:xfrm>
            <a:off x="1981200" y="1371600"/>
            <a:ext cx="8229600" cy="4953000"/>
          </a:xfrm>
        </p:spPr>
        <p:txBody>
          <a:bodyPr>
            <a:normAutofit/>
          </a:bodyPr>
          <a:lstStyle/>
          <a:p>
            <a:r>
              <a:rPr lang="en-US" dirty="0"/>
              <a:t>In loss systems, the traffic carried by the network is generally lower than the actual traffic offered to the network by the subscribers.</a:t>
            </a:r>
          </a:p>
          <a:p>
            <a:r>
              <a:rPr lang="en-US" dirty="0"/>
              <a:t>The overload traffic is rejected.</a:t>
            </a:r>
          </a:p>
          <a:p>
            <a:r>
              <a:rPr lang="en-US" dirty="0"/>
              <a:t>The amount of traffic rejected by the network is an index of quality of service by the network.</a:t>
            </a:r>
          </a:p>
          <a:p>
            <a:r>
              <a:rPr lang="en-US" dirty="0"/>
              <a:t>This termed as grade of service (GOS).</a:t>
            </a:r>
          </a:p>
          <a:p>
            <a:endParaRPr lang="en-US" dirty="0"/>
          </a:p>
        </p:txBody>
      </p:sp>
    </p:spTree>
    <p:extLst>
      <p:ext uri="{BB962C8B-B14F-4D97-AF65-F5344CB8AC3E}">
        <p14:creationId xmlns:p14="http://schemas.microsoft.com/office/powerpoint/2010/main" val="978508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172200"/>
          </a:xfrm>
        </p:spPr>
        <p:txBody>
          <a:bodyPr/>
          <a:lstStyle/>
          <a:p>
            <a:r>
              <a:rPr lang="en-US" dirty="0"/>
              <a:t>The GOS is defined as the ratio of lost traffic to the offered traffic.</a:t>
            </a:r>
          </a:p>
          <a:p>
            <a:r>
              <a:rPr lang="en-US" dirty="0"/>
              <a:t>Offered traffic is the product of average number of calls (A) generated by the users and the average holding time per call (</a:t>
            </a:r>
            <a:r>
              <a:rPr lang="en-US" dirty="0" err="1"/>
              <a:t>t</a:t>
            </a:r>
            <a:r>
              <a:rPr lang="en-US" sz="1400" dirty="0" err="1"/>
              <a:t>h</a:t>
            </a:r>
            <a:r>
              <a:rPr lang="en-US" dirty="0"/>
              <a:t>).</a:t>
            </a:r>
          </a:p>
          <a:p>
            <a:r>
              <a:rPr lang="en-US" dirty="0"/>
              <a:t>The actual traffic carried by the network is called the carried traffic.</a:t>
            </a:r>
          </a:p>
          <a:p>
            <a:r>
              <a:rPr lang="en-US" dirty="0"/>
              <a:t>Accordingly GOS is given by,  GOS=(A-A</a:t>
            </a:r>
            <a:r>
              <a:rPr lang="en-US" sz="1400" dirty="0"/>
              <a:t>0</a:t>
            </a:r>
            <a:r>
              <a:rPr lang="en-US" dirty="0"/>
              <a:t>)/A</a:t>
            </a:r>
          </a:p>
          <a:p>
            <a:pPr>
              <a:buNone/>
            </a:pPr>
            <a:r>
              <a:rPr lang="en-US" dirty="0"/>
              <a:t> where, A=offered traffic</a:t>
            </a:r>
          </a:p>
          <a:p>
            <a:pPr>
              <a:buNone/>
            </a:pPr>
            <a:r>
              <a:rPr lang="en-US" dirty="0"/>
              <a:t>              A</a:t>
            </a:r>
            <a:r>
              <a:rPr lang="en-US" sz="1400" dirty="0"/>
              <a:t>0</a:t>
            </a:r>
            <a:r>
              <a:rPr lang="en-US" dirty="0"/>
              <a:t>=carried traffic</a:t>
            </a:r>
          </a:p>
          <a:p>
            <a:pPr>
              <a:buNone/>
            </a:pPr>
            <a:r>
              <a:rPr lang="en-US" dirty="0"/>
              <a:t>              A-A</a:t>
            </a:r>
            <a:r>
              <a:rPr lang="en-US" sz="1400" dirty="0"/>
              <a:t>0</a:t>
            </a:r>
            <a:r>
              <a:rPr lang="en-US" dirty="0"/>
              <a:t>=lost traffic</a:t>
            </a:r>
          </a:p>
          <a:p>
            <a:endParaRPr lang="en-US" dirty="0"/>
          </a:p>
        </p:txBody>
      </p:sp>
    </p:spTree>
    <p:extLst>
      <p:ext uri="{BB962C8B-B14F-4D97-AF65-F5344CB8AC3E}">
        <p14:creationId xmlns:p14="http://schemas.microsoft.com/office/powerpoint/2010/main" val="365179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Smaller the value of GOS, better is the service.</a:t>
            </a:r>
          </a:p>
          <a:p>
            <a:r>
              <a:rPr lang="en-US" dirty="0"/>
              <a:t>The recommended value of GOS in India is 0.002.</a:t>
            </a:r>
          </a:p>
          <a:p>
            <a:r>
              <a:rPr lang="en-US" dirty="0"/>
              <a:t>GOS 0.002 means that two calls in 1000 calls or one call in 500 calls may be lost.</a:t>
            </a:r>
          </a:p>
        </p:txBody>
      </p:sp>
    </p:spTree>
    <p:extLst>
      <p:ext uri="{BB962C8B-B14F-4D97-AF65-F5344CB8AC3E}">
        <p14:creationId xmlns:p14="http://schemas.microsoft.com/office/powerpoint/2010/main" val="2820264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Differences between Blocking probability and GOS</a:t>
            </a:r>
          </a:p>
        </p:txBody>
      </p:sp>
      <p:sp>
        <p:nvSpPr>
          <p:cNvPr id="3" name="Content Placeholder 2"/>
          <p:cNvSpPr>
            <a:spLocks noGrp="1"/>
          </p:cNvSpPr>
          <p:nvPr>
            <p:ph idx="1"/>
          </p:nvPr>
        </p:nvSpPr>
        <p:spPr/>
        <p:txBody>
          <a:bodyPr>
            <a:normAutofit/>
          </a:bodyPr>
          <a:lstStyle/>
          <a:p>
            <a:r>
              <a:rPr lang="en-US" dirty="0"/>
              <a:t>It may appear that blocking probability (P</a:t>
            </a:r>
            <a:r>
              <a:rPr lang="en-US" sz="1400" dirty="0"/>
              <a:t>B</a:t>
            </a:r>
            <a:r>
              <a:rPr lang="en-US" dirty="0"/>
              <a:t>) is same as GOS but they are not same.</a:t>
            </a:r>
          </a:p>
          <a:p>
            <a:r>
              <a:rPr lang="en-US" dirty="0"/>
              <a:t>P</a:t>
            </a:r>
            <a:r>
              <a:rPr lang="en-US" sz="1400" dirty="0"/>
              <a:t>B</a:t>
            </a:r>
            <a:r>
              <a:rPr lang="en-US" dirty="0"/>
              <a:t> is defined as the probability that all the servers in a system are busy. Whereas, GOS is defined as the fraction of calls lost.</a:t>
            </a:r>
          </a:p>
          <a:p>
            <a:r>
              <a:rPr lang="en-US" dirty="0"/>
              <a:t>P</a:t>
            </a:r>
            <a:r>
              <a:rPr lang="en-US" sz="1400" dirty="0"/>
              <a:t>B</a:t>
            </a:r>
            <a:r>
              <a:rPr lang="en-US" dirty="0"/>
              <a:t> is arrived at by observing the busy servers, whereas, GOS is arrived at by observing the number of rejected subscriber calls in a switching system.</a:t>
            </a:r>
          </a:p>
        </p:txBody>
      </p:sp>
    </p:spTree>
    <p:extLst>
      <p:ext uri="{BB962C8B-B14F-4D97-AF65-F5344CB8AC3E}">
        <p14:creationId xmlns:p14="http://schemas.microsoft.com/office/powerpoint/2010/main" val="1990673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5801"/>
            <a:ext cx="8229600" cy="5440363"/>
          </a:xfrm>
        </p:spPr>
        <p:txBody>
          <a:bodyPr/>
          <a:lstStyle/>
          <a:p>
            <a:r>
              <a:rPr lang="en-US" dirty="0"/>
              <a:t>In a system with equal number of servers and subscribers, GOS is zero but there is a definite probability that all the servers are busy at a given instant and hence P</a:t>
            </a:r>
            <a:r>
              <a:rPr lang="en-US" sz="1400" dirty="0"/>
              <a:t>B</a:t>
            </a:r>
            <a:r>
              <a:rPr lang="en-US" dirty="0"/>
              <a:t> is not zero.</a:t>
            </a:r>
          </a:p>
          <a:p>
            <a:r>
              <a:rPr lang="en-US" dirty="0"/>
              <a:t>GOS is measure from subscriber point of view whereas, P</a:t>
            </a:r>
            <a:r>
              <a:rPr lang="en-US" sz="1400" dirty="0"/>
              <a:t>B</a:t>
            </a:r>
            <a:r>
              <a:rPr lang="en-US" dirty="0"/>
              <a:t> is a measure from the network point of view.</a:t>
            </a:r>
          </a:p>
          <a:p>
            <a:r>
              <a:rPr lang="en-US" dirty="0"/>
              <a:t>GOS is called call congestion or loss probability and P</a:t>
            </a:r>
            <a:r>
              <a:rPr lang="en-US" sz="1400" dirty="0"/>
              <a:t>B</a:t>
            </a:r>
            <a:r>
              <a:rPr lang="en-US" dirty="0"/>
              <a:t> is called time congestion.</a:t>
            </a:r>
          </a:p>
        </p:txBody>
      </p:sp>
    </p:spTree>
    <p:extLst>
      <p:ext uri="{BB962C8B-B14F-4D97-AF65-F5344CB8AC3E}">
        <p14:creationId xmlns:p14="http://schemas.microsoft.com/office/powerpoint/2010/main" val="27750408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Why GOS is zero for delay systems</a:t>
            </a:r>
          </a:p>
        </p:txBody>
      </p:sp>
      <p:sp>
        <p:nvSpPr>
          <p:cNvPr id="3" name="Content Placeholder 2"/>
          <p:cNvSpPr>
            <a:spLocks noGrp="1"/>
          </p:cNvSpPr>
          <p:nvPr>
            <p:ph idx="1"/>
          </p:nvPr>
        </p:nvSpPr>
        <p:spPr>
          <a:xfrm>
            <a:off x="1981200" y="1295400"/>
            <a:ext cx="8229600" cy="5181600"/>
          </a:xfrm>
        </p:spPr>
        <p:txBody>
          <a:bodyPr>
            <a:normAutofit/>
          </a:bodyPr>
          <a:lstStyle/>
          <a:p>
            <a:r>
              <a:rPr lang="en-US" dirty="0"/>
              <a:t>In case of delay systems, the traffic carried by the network is same as the load offered to the network by the subscriber.</a:t>
            </a:r>
          </a:p>
          <a:p>
            <a:r>
              <a:rPr lang="en-US" dirty="0"/>
              <a:t>Since the overload traffic is queued, all calls are put through network as and when network facilities are available.</a:t>
            </a:r>
          </a:p>
          <a:p>
            <a:r>
              <a:rPr lang="en-US" dirty="0"/>
              <a:t>So, GOS is not meaningful in the case of delay systems and is zero always.</a:t>
            </a:r>
          </a:p>
          <a:p>
            <a:r>
              <a:rPr lang="en-US" dirty="0"/>
              <a:t>The probability that a call experiences a delay, is called delay probability.</a:t>
            </a:r>
          </a:p>
        </p:txBody>
      </p:sp>
    </p:spTree>
    <p:extLst>
      <p:ext uri="{BB962C8B-B14F-4D97-AF65-F5344CB8AC3E}">
        <p14:creationId xmlns:p14="http://schemas.microsoft.com/office/powerpoint/2010/main" val="3985833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Modelling Switching Systems</a:t>
            </a:r>
            <a:endParaRPr lang="en-US" dirty="0"/>
          </a:p>
        </p:txBody>
      </p:sp>
      <p:sp>
        <p:nvSpPr>
          <p:cNvPr id="3" name="Content Placeholder 2"/>
          <p:cNvSpPr>
            <a:spLocks noGrp="1"/>
          </p:cNvSpPr>
          <p:nvPr>
            <p:ph idx="1"/>
          </p:nvPr>
        </p:nvSpPr>
        <p:spPr/>
        <p:txBody>
          <a:bodyPr>
            <a:normAutofit/>
          </a:bodyPr>
          <a:lstStyle/>
          <a:p>
            <a:r>
              <a:rPr lang="en-US" dirty="0"/>
              <a:t>A telecommunication network carries traffic generated by a large number of individual subscribers connected to the networks.</a:t>
            </a:r>
          </a:p>
          <a:p>
            <a:r>
              <a:rPr lang="en-US" dirty="0"/>
              <a:t>Subscriber generate calls in a random manner.</a:t>
            </a:r>
          </a:p>
          <a:p>
            <a:r>
              <a:rPr lang="en-US" dirty="0"/>
              <a:t> The call generation and therefore the behavior of the network or the switching network in it can be described as a random process.</a:t>
            </a:r>
          </a:p>
        </p:txBody>
      </p:sp>
    </p:spTree>
    <p:extLst>
      <p:ext uri="{BB962C8B-B14F-4D97-AF65-F5344CB8AC3E}">
        <p14:creationId xmlns:p14="http://schemas.microsoft.com/office/powerpoint/2010/main" val="3742136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normAutofit/>
          </a:bodyPr>
          <a:lstStyle/>
          <a:p>
            <a:r>
              <a:rPr lang="en-US" dirty="0"/>
              <a:t>A </a:t>
            </a:r>
            <a:r>
              <a:rPr lang="en-US" b="1" dirty="0"/>
              <a:t>random process </a:t>
            </a:r>
            <a:r>
              <a:rPr lang="en-US" dirty="0"/>
              <a:t>or a </a:t>
            </a:r>
            <a:r>
              <a:rPr lang="en-US" b="1" dirty="0"/>
              <a:t>stochastic process </a:t>
            </a:r>
            <a:r>
              <a:rPr lang="en-US" dirty="0"/>
              <a:t>is one in which one or more quantities vary with time in such a way that the instantaneous values of the quantities are not determined precisely but are predictable with certain probability.</a:t>
            </a:r>
          </a:p>
          <a:p>
            <a:r>
              <a:rPr lang="en-US" dirty="0"/>
              <a:t>These quantities are called </a:t>
            </a:r>
            <a:r>
              <a:rPr lang="en-US" b="1" dirty="0"/>
              <a:t>random variables</a:t>
            </a:r>
            <a:r>
              <a:rPr lang="en-US" dirty="0"/>
              <a:t>.</a:t>
            </a:r>
          </a:p>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Types of stochastic processes:</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 Continuous time continuous state</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 Continuous time discrete state</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 Discrete time continuous time</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dirty="0"/>
              <a:t> Discrete time discrete state     </a:t>
            </a:r>
          </a:p>
          <a:p>
            <a:endParaRPr lang="en-US" dirty="0"/>
          </a:p>
          <a:p>
            <a:endParaRPr lang="en-US" dirty="0"/>
          </a:p>
          <a:p>
            <a:endParaRPr lang="en-US" dirty="0"/>
          </a:p>
        </p:txBody>
      </p:sp>
    </p:spTree>
    <p:extLst>
      <p:ext uri="{BB962C8B-B14F-4D97-AF65-F5344CB8AC3E}">
        <p14:creationId xmlns:p14="http://schemas.microsoft.com/office/powerpoint/2010/main" val="276460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8201"/>
            <a:ext cx="8229600" cy="5287963"/>
          </a:xfrm>
        </p:spPr>
        <p:txBody>
          <a:bodyPr>
            <a:normAutofit/>
          </a:bodyPr>
          <a:lstStyle/>
          <a:p>
            <a:r>
              <a:rPr lang="en-US" dirty="0"/>
              <a:t>Random processes whose statistical parameters do not change with time are known as stationary processes.</a:t>
            </a:r>
          </a:p>
          <a:p>
            <a:r>
              <a:rPr lang="en-US" dirty="0"/>
              <a:t>The random processes which have identical time and ensemble averages are known as </a:t>
            </a:r>
            <a:r>
              <a:rPr lang="en-US" b="1" dirty="0" err="1"/>
              <a:t>ergodic</a:t>
            </a:r>
            <a:r>
              <a:rPr lang="en-US" dirty="0"/>
              <a:t> </a:t>
            </a:r>
            <a:r>
              <a:rPr lang="en-US" b="1" dirty="0"/>
              <a:t>processes</a:t>
            </a:r>
            <a:r>
              <a:rPr lang="en-US" dirty="0"/>
              <a:t>.</a:t>
            </a:r>
          </a:p>
          <a:p>
            <a:r>
              <a:rPr lang="en-US" dirty="0"/>
              <a:t>In some random processes, the mean and variance are stationary and the higher order moments may vary with time, such processes are known as </a:t>
            </a:r>
            <a:r>
              <a:rPr lang="en-US" b="1" dirty="0"/>
              <a:t>wide-sense-stationary processes</a:t>
            </a:r>
            <a:r>
              <a:rPr lang="en-US" dirty="0"/>
              <a:t>.</a:t>
            </a:r>
          </a:p>
          <a:p>
            <a:endParaRPr lang="en-US" dirty="0"/>
          </a:p>
        </p:txBody>
      </p:sp>
    </p:spTree>
    <p:extLst>
      <p:ext uri="{BB962C8B-B14F-4D97-AF65-F5344CB8AC3E}">
        <p14:creationId xmlns:p14="http://schemas.microsoft.com/office/powerpoint/2010/main" val="267413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fontScale="90000"/>
          </a:bodyPr>
          <a:lstStyle/>
          <a:p>
            <a:r>
              <a:rPr lang="en-US" b="1" dirty="0">
                <a:solidFill>
                  <a:srgbClr val="FF0000"/>
                </a:solidFill>
              </a:rPr>
              <a:t> </a:t>
            </a:r>
            <a:br>
              <a:rPr lang="en-US" b="1" dirty="0">
                <a:solidFill>
                  <a:srgbClr val="FF0000"/>
                </a:solidFill>
              </a:rPr>
            </a:br>
            <a:r>
              <a:rPr lang="en-US" b="1" dirty="0">
                <a:solidFill>
                  <a:srgbClr val="FF0000"/>
                </a:solidFill>
              </a:rPr>
              <a:t>Markov processes</a:t>
            </a:r>
            <a:br>
              <a:rPr lang="en-US" dirty="0"/>
            </a:br>
            <a:endParaRPr lang="en-US" dirty="0"/>
          </a:p>
        </p:txBody>
      </p:sp>
      <p:sp>
        <p:nvSpPr>
          <p:cNvPr id="3" name="Content Placeholder 2"/>
          <p:cNvSpPr>
            <a:spLocks noGrp="1"/>
          </p:cNvSpPr>
          <p:nvPr>
            <p:ph idx="1"/>
          </p:nvPr>
        </p:nvSpPr>
        <p:spPr>
          <a:xfrm>
            <a:off x="1981200" y="1295400"/>
            <a:ext cx="8229600" cy="5181600"/>
          </a:xfrm>
        </p:spPr>
        <p:txBody>
          <a:bodyPr>
            <a:normAutofit/>
          </a:bodyPr>
          <a:lstStyle/>
          <a:p>
            <a:r>
              <a:rPr lang="en-US" dirty="0"/>
              <a:t>Markov process is an important class of random processes that have some special properties.</a:t>
            </a:r>
          </a:p>
          <a:p>
            <a:r>
              <a:rPr lang="en-US" dirty="0"/>
              <a:t>The properties were defined by A.A Markov in1907.</a:t>
            </a:r>
          </a:p>
          <a:p>
            <a:r>
              <a:rPr lang="en-US" dirty="0"/>
              <a:t>This class of processes is of great interest to the </a:t>
            </a:r>
            <a:r>
              <a:rPr lang="en-US" dirty="0" err="1"/>
              <a:t>modelling</a:t>
            </a:r>
            <a:r>
              <a:rPr lang="en-US" dirty="0"/>
              <a:t> of switching systems.</a:t>
            </a:r>
          </a:p>
          <a:p>
            <a:r>
              <a:rPr lang="en-US" dirty="0"/>
              <a:t>A discrete time Markov chain or discrete time discrete state Markov process is defined as one which has the following property:</a:t>
            </a:r>
          </a:p>
          <a:p>
            <a:pPr>
              <a:buNone/>
            </a:pPr>
            <a:r>
              <a:rPr lang="en-US" dirty="0"/>
              <a:t> </a:t>
            </a:r>
            <a:br>
              <a:rPr lang="en-US" dirty="0"/>
            </a:br>
            <a:br>
              <a:rPr lang="en-US" dirty="0"/>
            </a:br>
            <a:endParaRPr lang="en-US" dirty="0"/>
          </a:p>
        </p:txBody>
      </p:sp>
      <p:graphicFrame>
        <p:nvGraphicFramePr>
          <p:cNvPr id="4" name="Object 3"/>
          <p:cNvGraphicFramePr>
            <a:graphicFrameLocks noChangeAspect="1"/>
          </p:cNvGraphicFramePr>
          <p:nvPr/>
        </p:nvGraphicFramePr>
        <p:xfrm>
          <a:off x="1905000" y="4953000"/>
          <a:ext cx="8458200" cy="609600"/>
        </p:xfrm>
        <a:graphic>
          <a:graphicData uri="http://schemas.openxmlformats.org/presentationml/2006/ole">
            <mc:AlternateContent xmlns:mc="http://schemas.openxmlformats.org/markup-compatibility/2006">
              <mc:Choice xmlns:v="urn:schemas-microsoft-com:vml" Requires="v">
                <p:oleObj name="Equation" r:id="rId2" imgW="3670200" imgH="228600" progId="Equation.3">
                  <p:embed/>
                </p:oleObj>
              </mc:Choice>
              <mc:Fallback>
                <p:oleObj name="Equation" r:id="rId2" imgW="3670200" imgH="2286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953000"/>
                        <a:ext cx="84582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2892425" y="5715000"/>
          <a:ext cx="5799138" cy="609600"/>
        </p:xfrm>
        <a:graphic>
          <a:graphicData uri="http://schemas.openxmlformats.org/presentationml/2006/ole">
            <mc:AlternateContent xmlns:mc="http://schemas.openxmlformats.org/markup-compatibility/2006">
              <mc:Choice xmlns:v="urn:schemas-microsoft-com:vml" Requires="v">
                <p:oleObj name="Equation" r:id="rId4" imgW="2120760" imgH="228600" progId="Equation.3">
                  <p:embed/>
                </p:oleObj>
              </mc:Choice>
              <mc:Fallback>
                <p:oleObj name="Equation" r:id="rId4" imgW="2120760" imgH="22860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2425" y="5715000"/>
                        <a:ext cx="5799138"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528934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normAutofit/>
          </a:bodyPr>
          <a:lstStyle/>
          <a:p>
            <a:pPr>
              <a:buNone/>
            </a:pPr>
            <a:r>
              <a:rPr lang="en-US" dirty="0"/>
              <a:t>Where, t</a:t>
            </a:r>
            <a:r>
              <a:rPr lang="en-US" sz="1600" dirty="0"/>
              <a:t>1</a:t>
            </a:r>
            <a:r>
              <a:rPr lang="en-US" dirty="0"/>
              <a:t>&lt;t</a:t>
            </a:r>
            <a:r>
              <a:rPr lang="en-US" sz="1600" dirty="0"/>
              <a:t>2</a:t>
            </a:r>
            <a:r>
              <a:rPr lang="en-US" dirty="0"/>
              <a:t>….&lt;</a:t>
            </a:r>
            <a:r>
              <a:rPr lang="en-US" dirty="0" err="1"/>
              <a:t>t</a:t>
            </a:r>
            <a:r>
              <a:rPr lang="en-US" sz="1800" dirty="0" err="1"/>
              <a:t>n</a:t>
            </a:r>
            <a:r>
              <a:rPr lang="en-US" dirty="0"/>
              <a:t>&lt;t</a:t>
            </a:r>
            <a:r>
              <a:rPr lang="en-US" sz="1600" dirty="0"/>
              <a:t>n+1</a:t>
            </a:r>
            <a:r>
              <a:rPr lang="en-US" dirty="0"/>
              <a:t> and x</a:t>
            </a:r>
            <a:r>
              <a:rPr lang="en-US" sz="1600" dirty="0"/>
              <a:t>i</a:t>
            </a:r>
            <a:r>
              <a:rPr lang="en-US" dirty="0"/>
              <a:t> is the </a:t>
            </a:r>
            <a:r>
              <a:rPr lang="en-US" dirty="0" err="1"/>
              <a:t>i-th</a:t>
            </a:r>
            <a:r>
              <a:rPr lang="en-US" dirty="0"/>
              <a:t> discrete space variable.</a:t>
            </a:r>
          </a:p>
          <a:p>
            <a:r>
              <a:rPr lang="en-US" dirty="0"/>
              <a:t>The equation states that the random variable X takes on the value x</a:t>
            </a:r>
            <a:r>
              <a:rPr lang="en-US" sz="1600" dirty="0"/>
              <a:t>n+1</a:t>
            </a:r>
            <a:r>
              <a:rPr lang="en-US" dirty="0"/>
              <a:t> at time step n+1 is entirely determined by its state value in the previous step n and is independent of its state values in earlier time steps; n-1,n-2,n-3 the etc. </a:t>
            </a:r>
          </a:p>
          <a:p>
            <a:r>
              <a:rPr lang="en-US" dirty="0"/>
              <a:t>The entire past history of the process is </a:t>
            </a:r>
            <a:r>
              <a:rPr lang="en-US" dirty="0" err="1"/>
              <a:t>summerised</a:t>
            </a:r>
            <a:r>
              <a:rPr lang="en-US" dirty="0"/>
              <a:t> in its current state and hence next state is determined only by current state.</a:t>
            </a:r>
          </a:p>
          <a:p>
            <a:endParaRPr lang="en-US" dirty="0"/>
          </a:p>
        </p:txBody>
      </p:sp>
    </p:spTree>
    <p:extLst>
      <p:ext uri="{BB962C8B-B14F-4D97-AF65-F5344CB8AC3E}">
        <p14:creationId xmlns:p14="http://schemas.microsoft.com/office/powerpoint/2010/main" val="35981131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lstStyle/>
          <a:p>
            <a:pPr>
              <a:buNone/>
            </a:pPr>
            <a:r>
              <a:rPr lang="en-US" dirty="0">
                <a:solidFill>
                  <a:srgbClr val="FF0000"/>
                </a:solidFill>
              </a:rPr>
              <a:t>P.4: During a 2 hour busy period, 2400 calls arrive at an exchange. Average holding time per call is two minutes. What is the traffic load in (a) </a:t>
            </a:r>
            <a:r>
              <a:rPr lang="en-US" dirty="0" err="1">
                <a:solidFill>
                  <a:srgbClr val="FF0000"/>
                </a:solidFill>
              </a:rPr>
              <a:t>erlangs</a:t>
            </a:r>
            <a:r>
              <a:rPr lang="en-US" dirty="0">
                <a:solidFill>
                  <a:srgbClr val="FF0000"/>
                </a:solidFill>
              </a:rPr>
              <a:t>, (b) CCS</a:t>
            </a:r>
          </a:p>
          <a:p>
            <a:pPr>
              <a:buNone/>
            </a:pPr>
            <a:r>
              <a:rPr lang="en-US" dirty="0">
                <a:solidFill>
                  <a:srgbClr val="FF0000"/>
                </a:solidFill>
              </a:rPr>
              <a:t>P.5: A call processor in an exchange require 120 ms to service a complete call. What is the BHCA rating for the processor, if the exchange is capable of carrying 700 </a:t>
            </a:r>
            <a:r>
              <a:rPr lang="en-US" dirty="0" err="1">
                <a:solidFill>
                  <a:srgbClr val="FF0000"/>
                </a:solidFill>
              </a:rPr>
              <a:t>erlang</a:t>
            </a:r>
            <a:r>
              <a:rPr lang="en-US" dirty="0">
                <a:solidFill>
                  <a:srgbClr val="FF0000"/>
                </a:solidFill>
              </a:rPr>
              <a:t> of traffic? What is the call completion rate? Assume average call holding time of two minutes.</a:t>
            </a:r>
          </a:p>
        </p:txBody>
      </p:sp>
    </p:spTree>
    <p:extLst>
      <p:ext uri="{BB962C8B-B14F-4D97-AF65-F5344CB8AC3E}">
        <p14:creationId xmlns:p14="http://schemas.microsoft.com/office/powerpoint/2010/main" val="955357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5801"/>
            <a:ext cx="8229600" cy="5440363"/>
          </a:xfrm>
        </p:spPr>
        <p:txBody>
          <a:bodyPr>
            <a:normAutofit/>
          </a:bodyPr>
          <a:lstStyle/>
          <a:p>
            <a:pPr>
              <a:buNone/>
            </a:pPr>
            <a:r>
              <a:rPr lang="en-US" dirty="0">
                <a:solidFill>
                  <a:srgbClr val="FF0000"/>
                </a:solidFill>
              </a:rPr>
              <a:t>P.6: In an exchange, the calls arrive at the rate of 1100 calls per hour, with each call holding for a duration of three minutes. If the demand is serviced by a trunk group of 50 lines, determine GOS.</a:t>
            </a:r>
          </a:p>
          <a:p>
            <a:pPr>
              <a:buNone/>
            </a:pPr>
            <a:endParaRPr lang="en-US" dirty="0">
              <a:solidFill>
                <a:srgbClr val="FF0000"/>
              </a:solidFill>
            </a:endParaRPr>
          </a:p>
          <a:p>
            <a:pPr>
              <a:buNone/>
            </a:pPr>
            <a:r>
              <a:rPr lang="en-US" dirty="0">
                <a:solidFill>
                  <a:srgbClr val="FF0000"/>
                </a:solidFill>
              </a:rPr>
              <a:t>P.7: An exchange designed to handle 2000 calls during the busy hour. One day the number of calls during the busy hour is 2200. What is the resulting GOS?</a:t>
            </a:r>
          </a:p>
          <a:p>
            <a:pPr>
              <a:buNone/>
            </a:pPr>
            <a:endParaRPr lang="en-US" dirty="0"/>
          </a:p>
        </p:txBody>
      </p:sp>
    </p:spTree>
    <p:extLst>
      <p:ext uri="{BB962C8B-B14F-4D97-AF65-F5344CB8AC3E}">
        <p14:creationId xmlns:p14="http://schemas.microsoft.com/office/powerpoint/2010/main" val="1435105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5801"/>
            <a:ext cx="8229600" cy="5440363"/>
          </a:xfrm>
        </p:spPr>
        <p:txBody>
          <a:bodyPr/>
          <a:lstStyle/>
          <a:p>
            <a:pPr>
              <a:buNone/>
            </a:pPr>
            <a:r>
              <a:rPr lang="en-US" dirty="0"/>
              <a:t>P.8: The traffic statistics of a company using a PABX indicates that 180 outgoing calls are initiated every hour during working hours. Equal number of calls come. Each call lasts for 200 seconds on the average if the GOS required is 0.05, determine the number of lines required between the PABX and the main exchange.</a:t>
            </a:r>
          </a:p>
        </p:txBody>
      </p:sp>
    </p:spTree>
    <p:extLst>
      <p:ext uri="{BB962C8B-B14F-4D97-AF65-F5344CB8AC3E}">
        <p14:creationId xmlns:p14="http://schemas.microsoft.com/office/powerpoint/2010/main" val="1859693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Birth-death process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401" y="1143000"/>
            <a:ext cx="7543799" cy="5334000"/>
          </a:xfrm>
        </p:spPr>
      </p:pic>
    </p:spTree>
    <p:extLst>
      <p:ext uri="{BB962C8B-B14F-4D97-AF65-F5344CB8AC3E}">
        <p14:creationId xmlns:p14="http://schemas.microsoft.com/office/powerpoint/2010/main" val="1872040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600" y="457201"/>
            <a:ext cx="7924800" cy="5668963"/>
          </a:xfrm>
        </p:spPr>
      </p:pic>
    </p:spTree>
    <p:extLst>
      <p:ext uri="{BB962C8B-B14F-4D97-AF65-F5344CB8AC3E}">
        <p14:creationId xmlns:p14="http://schemas.microsoft.com/office/powerpoint/2010/main" val="34024210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0" y="457200"/>
            <a:ext cx="7924800" cy="5943600"/>
          </a:xfrm>
        </p:spPr>
      </p:pic>
    </p:spTree>
    <p:extLst>
      <p:ext uri="{BB962C8B-B14F-4D97-AF65-F5344CB8AC3E}">
        <p14:creationId xmlns:p14="http://schemas.microsoft.com/office/powerpoint/2010/main" val="2966274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609601"/>
            <a:ext cx="8305800" cy="5268119"/>
          </a:xfrm>
        </p:spPr>
      </p:pic>
    </p:spTree>
    <p:extLst>
      <p:ext uri="{BB962C8B-B14F-4D97-AF65-F5344CB8AC3E}">
        <p14:creationId xmlns:p14="http://schemas.microsoft.com/office/powerpoint/2010/main" val="6674508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1"/>
          <p:cNvSpPr>
            <a:spLocks noGrp="1" noChangeArrowheads="1"/>
          </p:cNvSpPr>
          <p:nvPr>
            <p:ph idx="1"/>
          </p:nvPr>
        </p:nvSpPr>
        <p:spPr>
          <a:xfrm>
            <a:off x="1981200" y="457200"/>
            <a:ext cx="8229600" cy="5943600"/>
          </a:xfrm>
          <a:ln/>
        </p:spPr>
        <p:txBody>
          <a:bodyPr anchor="t"/>
          <a:lstStyle/>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Three aspects while dealing with the </a:t>
            </a:r>
          </a:p>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analysis of telecommunication systems:</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Modelling the system</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Traffic arrival model</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Service time distribution</a:t>
            </a:r>
          </a:p>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Three models of loss systems</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Lost calls cleared (LCC)‏</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Lost calls returned (LCR)‏</a:t>
            </a:r>
          </a:p>
          <a:p>
            <a:pPr marL="339725" indent="-339725">
              <a:spcBef>
                <a:spcPts val="800"/>
              </a:spcBef>
              <a:buFont typeface="Wingdings" charset="2"/>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US" sz="3200" dirty="0"/>
              <a:t> Lost calls held (LCH)‏</a:t>
            </a:r>
          </a:p>
        </p:txBody>
      </p:sp>
    </p:spTree>
    <p:extLst>
      <p:ext uri="{BB962C8B-B14F-4D97-AF65-F5344CB8AC3E}">
        <p14:creationId xmlns:p14="http://schemas.microsoft.com/office/powerpoint/2010/main" val="412027148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1"/>
          <p:cNvSpPr>
            <a:spLocks noGrp="1" noChangeArrowheads="1"/>
          </p:cNvSpPr>
          <p:nvPr>
            <p:ph idx="1"/>
          </p:nvPr>
        </p:nvSpPr>
        <p:spPr>
          <a:xfrm>
            <a:off x="1981200" y="457200"/>
            <a:ext cx="8229600" cy="5943600"/>
          </a:xfrm>
          <a:ln/>
        </p:spPr>
        <p:txBody>
          <a:bodyPr anchor="t"/>
          <a:lstStyle/>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sz="3200"/>
              <a:t> Lost Calls Cleared System with Infinite </a:t>
            </a:r>
          </a:p>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sz="3200"/>
              <a:t>    Resources</a:t>
            </a:r>
          </a:p>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sz="3200"/>
              <a:t> Lost Calls Cleared System with Finite</a:t>
            </a:r>
          </a:p>
          <a:p>
            <a:pPr marL="341313" indent="-339725">
              <a:spcBef>
                <a:spcPts val="800"/>
              </a:spcBef>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sz="3200"/>
              <a:t>    Subscribers</a:t>
            </a:r>
          </a:p>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sz="3200"/>
              <a:t> Lost Calls Returned System</a:t>
            </a:r>
          </a:p>
          <a:p>
            <a:pPr marL="339725" indent="-339725">
              <a:spcBef>
                <a:spcPts val="800"/>
              </a:spcBef>
              <a:buFont typeface="Arial" charset="0"/>
              <a:buChar char="•"/>
              <a:tabLst>
                <a:tab pos="446088" algn="l"/>
                <a:tab pos="895350" algn="l"/>
                <a:tab pos="1344613" algn="l"/>
                <a:tab pos="1793875" algn="l"/>
                <a:tab pos="2243138" algn="l"/>
                <a:tab pos="2692400" algn="l"/>
                <a:tab pos="3141663" algn="l"/>
                <a:tab pos="3590925" algn="l"/>
                <a:tab pos="4040188" algn="l"/>
                <a:tab pos="4489450" algn="l"/>
                <a:tab pos="4938713" algn="l"/>
                <a:tab pos="5387975" algn="l"/>
                <a:tab pos="5837238" algn="l"/>
                <a:tab pos="6286500" algn="l"/>
                <a:tab pos="6735763" algn="l"/>
                <a:tab pos="7185025" algn="l"/>
                <a:tab pos="7634288" algn="l"/>
                <a:tab pos="8083550" algn="l"/>
                <a:tab pos="8532813" algn="l"/>
                <a:tab pos="8982075" algn="l"/>
              </a:tabLst>
            </a:pPr>
            <a:r>
              <a:rPr lang="en-IN" sz="3200"/>
              <a:t> Lost Calls Held System</a:t>
            </a:r>
          </a:p>
        </p:txBody>
      </p:sp>
    </p:spTree>
    <p:extLst>
      <p:ext uri="{BB962C8B-B14F-4D97-AF65-F5344CB8AC3E}">
        <p14:creationId xmlns:p14="http://schemas.microsoft.com/office/powerpoint/2010/main" val="343140522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3539" y="435597"/>
            <a:ext cx="11691425" cy="504625"/>
          </a:xfrm>
          <a:prstGeom prst="rect">
            <a:avLst/>
          </a:prstGeom>
        </p:spPr>
        <p:txBody>
          <a:bodyPr vert="horz" wrap="square" lIns="0" tIns="12065" rIns="0" bIns="0" rtlCol="0" anchor="ctr">
            <a:spAutoFit/>
          </a:bodyPr>
          <a:lstStyle/>
          <a:p>
            <a:pPr marL="268605" marR="5080" indent="-256540">
              <a:lnSpc>
                <a:spcPct val="100000"/>
              </a:lnSpc>
              <a:spcBef>
                <a:spcPts val="95"/>
              </a:spcBef>
              <a:tabLst>
                <a:tab pos="268605" algn="l"/>
              </a:tabLst>
            </a:pPr>
            <a:r>
              <a:rPr sz="3200" spc="-555" dirty="0">
                <a:solidFill>
                  <a:srgbClr val="2CA1BE"/>
                </a:solidFill>
                <a:latin typeface="Arial"/>
                <a:cs typeface="Arial"/>
              </a:rPr>
              <a:t>	</a:t>
            </a:r>
            <a:r>
              <a:rPr sz="3200" spc="-5" dirty="0"/>
              <a:t>Three </a:t>
            </a:r>
            <a:r>
              <a:rPr sz="3200" spc="-10" dirty="0"/>
              <a:t>aspects </a:t>
            </a:r>
            <a:r>
              <a:rPr sz="3200" spc="-5" dirty="0"/>
              <a:t>while dealing with the analysis of the  telecommunication</a:t>
            </a:r>
            <a:r>
              <a:rPr sz="3200" spc="-15" dirty="0"/>
              <a:t> </a:t>
            </a:r>
            <a:r>
              <a:rPr sz="3200" spc="-5" dirty="0"/>
              <a:t>systems:</a:t>
            </a:r>
            <a:endParaRPr sz="3200" dirty="0">
              <a:latin typeface="Arial"/>
              <a:cs typeface="Arial"/>
            </a:endParaRPr>
          </a:p>
        </p:txBody>
      </p:sp>
      <p:sp>
        <p:nvSpPr>
          <p:cNvPr id="3" name="object 3"/>
          <p:cNvSpPr txBox="1"/>
          <p:nvPr/>
        </p:nvSpPr>
        <p:spPr>
          <a:xfrm>
            <a:off x="2093468" y="1180846"/>
            <a:ext cx="7900670" cy="4853940"/>
          </a:xfrm>
          <a:prstGeom prst="rect">
            <a:avLst/>
          </a:prstGeom>
        </p:spPr>
        <p:txBody>
          <a:bodyPr vert="horz" wrap="square" lIns="0" tIns="50800" rIns="0" bIns="0" rtlCol="0">
            <a:spAutoFit/>
          </a:bodyPr>
          <a:lstStyle/>
          <a:p>
            <a:pPr marL="524510" indent="-229235">
              <a:spcBef>
                <a:spcPts val="400"/>
              </a:spcBef>
              <a:buClr>
                <a:srgbClr val="2CA1BE"/>
              </a:buClr>
              <a:buFont typeface="Verdana"/>
              <a:buChar char="◦"/>
              <a:tabLst>
                <a:tab pos="525145" algn="l"/>
              </a:tabLst>
            </a:pPr>
            <a:r>
              <a:rPr sz="2400" dirty="0">
                <a:latin typeface="Times New Roman"/>
                <a:cs typeface="Times New Roman"/>
              </a:rPr>
              <a:t>Modelling</a:t>
            </a:r>
            <a:r>
              <a:rPr sz="2400" spc="-55" dirty="0">
                <a:latin typeface="Times New Roman"/>
                <a:cs typeface="Times New Roman"/>
              </a:rPr>
              <a:t> </a:t>
            </a:r>
            <a:r>
              <a:rPr sz="2400" spc="-5" dirty="0">
                <a:latin typeface="Times New Roman"/>
                <a:cs typeface="Times New Roman"/>
              </a:rPr>
              <a:t>System</a:t>
            </a:r>
            <a:endParaRPr sz="2400">
              <a:latin typeface="Times New Roman"/>
              <a:cs typeface="Times New Roman"/>
            </a:endParaRPr>
          </a:p>
          <a:p>
            <a:pPr marL="524510" indent="-229235">
              <a:spcBef>
                <a:spcPts val="300"/>
              </a:spcBef>
              <a:buClr>
                <a:srgbClr val="2CA1BE"/>
              </a:buClr>
              <a:buFont typeface="Verdana"/>
              <a:buChar char="◦"/>
              <a:tabLst>
                <a:tab pos="525145" algn="l"/>
              </a:tabLst>
            </a:pPr>
            <a:r>
              <a:rPr sz="2400" spc="-25" dirty="0">
                <a:latin typeface="Times New Roman"/>
                <a:cs typeface="Times New Roman"/>
              </a:rPr>
              <a:t>Traffic </a:t>
            </a:r>
            <a:r>
              <a:rPr sz="2400" dirty="0">
                <a:latin typeface="Times New Roman"/>
                <a:cs typeface="Times New Roman"/>
              </a:rPr>
              <a:t>Arrival</a:t>
            </a:r>
            <a:r>
              <a:rPr sz="2400" spc="-150" dirty="0">
                <a:latin typeface="Times New Roman"/>
                <a:cs typeface="Times New Roman"/>
              </a:rPr>
              <a:t> </a:t>
            </a:r>
            <a:r>
              <a:rPr sz="2400" dirty="0">
                <a:latin typeface="Times New Roman"/>
                <a:cs typeface="Times New Roman"/>
              </a:rPr>
              <a:t>Model</a:t>
            </a:r>
            <a:endParaRPr sz="2400">
              <a:latin typeface="Times New Roman"/>
              <a:cs typeface="Times New Roman"/>
            </a:endParaRPr>
          </a:p>
          <a:p>
            <a:pPr marL="524510" indent="-229235">
              <a:spcBef>
                <a:spcPts val="300"/>
              </a:spcBef>
              <a:buClr>
                <a:srgbClr val="2CA1BE"/>
              </a:buClr>
              <a:buFont typeface="Verdana"/>
              <a:buChar char="◦"/>
              <a:tabLst>
                <a:tab pos="525145" algn="l"/>
              </a:tabLst>
            </a:pPr>
            <a:r>
              <a:rPr sz="2400" dirty="0">
                <a:latin typeface="Times New Roman"/>
                <a:cs typeface="Times New Roman"/>
              </a:rPr>
              <a:t>Service </a:t>
            </a:r>
            <a:r>
              <a:rPr sz="2400" spc="-5" dirty="0">
                <a:latin typeface="Times New Roman"/>
                <a:cs typeface="Times New Roman"/>
              </a:rPr>
              <a:t>time</a:t>
            </a:r>
            <a:r>
              <a:rPr sz="2400" spc="-50" dirty="0">
                <a:latin typeface="Times New Roman"/>
                <a:cs typeface="Times New Roman"/>
              </a:rPr>
              <a:t> </a:t>
            </a:r>
            <a:r>
              <a:rPr sz="2400" dirty="0">
                <a:latin typeface="Times New Roman"/>
                <a:cs typeface="Times New Roman"/>
              </a:rPr>
              <a:t>distribution</a:t>
            </a:r>
            <a:endParaRPr sz="2400">
              <a:latin typeface="Times New Roman"/>
              <a:cs typeface="Times New Roman"/>
            </a:endParaRPr>
          </a:p>
          <a:p>
            <a:pPr marL="12700">
              <a:spcBef>
                <a:spcPts val="395"/>
              </a:spcBef>
              <a:tabLst>
                <a:tab pos="268605" algn="l"/>
              </a:tabLst>
            </a:pPr>
            <a:r>
              <a:rPr sz="1900" spc="-555" dirty="0">
                <a:solidFill>
                  <a:srgbClr val="2CA1BE"/>
                </a:solidFill>
                <a:latin typeface="Arial"/>
                <a:cs typeface="Arial"/>
              </a:rPr>
              <a:t>	</a:t>
            </a:r>
            <a:r>
              <a:rPr sz="2800" spc="-5" dirty="0">
                <a:latin typeface="Times New Roman"/>
                <a:cs typeface="Times New Roman"/>
              </a:rPr>
              <a:t>Overflow </a:t>
            </a:r>
            <a:r>
              <a:rPr sz="2800" spc="-10" dirty="0">
                <a:latin typeface="Times New Roman"/>
                <a:cs typeface="Times New Roman"/>
              </a:rPr>
              <a:t>traffic may </a:t>
            </a:r>
            <a:r>
              <a:rPr sz="2800" spc="-5" dirty="0">
                <a:latin typeface="Times New Roman"/>
                <a:cs typeface="Times New Roman"/>
              </a:rPr>
              <a:t>be handled in three</a:t>
            </a:r>
            <a:r>
              <a:rPr sz="2800" dirty="0">
                <a:latin typeface="Times New Roman"/>
                <a:cs typeface="Times New Roman"/>
              </a:rPr>
              <a:t> </a:t>
            </a:r>
            <a:r>
              <a:rPr sz="2800" spc="-5" dirty="0">
                <a:latin typeface="Times New Roman"/>
                <a:cs typeface="Times New Roman"/>
              </a:rPr>
              <a:t>ways:</a:t>
            </a:r>
            <a:endParaRPr sz="2800">
              <a:latin typeface="Times New Roman"/>
              <a:cs typeface="Times New Roman"/>
            </a:endParaRPr>
          </a:p>
          <a:p>
            <a:pPr marL="268605" marR="476884" indent="-256540">
              <a:spcBef>
                <a:spcPts val="395"/>
              </a:spcBef>
            </a:pPr>
            <a:r>
              <a:rPr sz="1900" dirty="0">
                <a:solidFill>
                  <a:srgbClr val="2CA1BE"/>
                </a:solidFill>
                <a:latin typeface="Courier New"/>
                <a:cs typeface="Courier New"/>
              </a:rPr>
              <a:t>o </a:t>
            </a:r>
            <a:r>
              <a:rPr sz="2800" dirty="0">
                <a:latin typeface="Times New Roman"/>
                <a:cs typeface="Times New Roman"/>
              </a:rPr>
              <a:t>the </a:t>
            </a:r>
            <a:r>
              <a:rPr sz="2800" spc="-10" dirty="0">
                <a:latin typeface="Times New Roman"/>
                <a:cs typeface="Times New Roman"/>
              </a:rPr>
              <a:t>traffic </a:t>
            </a:r>
            <a:r>
              <a:rPr sz="2800" spc="-5" dirty="0">
                <a:latin typeface="Times New Roman"/>
                <a:cs typeface="Times New Roman"/>
              </a:rPr>
              <a:t>rejected by one set of resources </a:t>
            </a:r>
            <a:r>
              <a:rPr sz="2800" spc="-10" dirty="0">
                <a:latin typeface="Times New Roman"/>
                <a:cs typeface="Times New Roman"/>
              </a:rPr>
              <a:t>may </a:t>
            </a:r>
            <a:r>
              <a:rPr sz="2800" spc="-5" dirty="0">
                <a:latin typeface="Times New Roman"/>
                <a:cs typeface="Times New Roman"/>
              </a:rPr>
              <a:t>be  cleared by another set of resources in </a:t>
            </a:r>
            <a:r>
              <a:rPr sz="2800" dirty="0">
                <a:latin typeface="Times New Roman"/>
                <a:cs typeface="Times New Roman"/>
              </a:rPr>
              <a:t>the</a:t>
            </a:r>
            <a:r>
              <a:rPr sz="2800" spc="5" dirty="0">
                <a:latin typeface="Times New Roman"/>
                <a:cs typeface="Times New Roman"/>
              </a:rPr>
              <a:t> </a:t>
            </a:r>
            <a:r>
              <a:rPr sz="2800" spc="-5" dirty="0">
                <a:latin typeface="Times New Roman"/>
                <a:cs typeface="Times New Roman"/>
              </a:rPr>
              <a:t>network.</a:t>
            </a:r>
            <a:endParaRPr sz="2800">
              <a:latin typeface="Times New Roman"/>
              <a:cs typeface="Times New Roman"/>
            </a:endParaRPr>
          </a:p>
          <a:p>
            <a:pPr marL="268605" marR="748665" indent="-256540">
              <a:spcBef>
                <a:spcPts val="395"/>
              </a:spcBef>
              <a:buClr>
                <a:srgbClr val="2CA1BE"/>
              </a:buClr>
              <a:buSzPct val="67857"/>
              <a:buFont typeface="Courier New"/>
              <a:buChar char="o"/>
              <a:tabLst>
                <a:tab pos="269240" algn="l"/>
              </a:tabLst>
            </a:pPr>
            <a:r>
              <a:rPr sz="2800" spc="-5" dirty="0">
                <a:latin typeface="Times New Roman"/>
                <a:cs typeface="Times New Roman"/>
              </a:rPr>
              <a:t>The </a:t>
            </a:r>
            <a:r>
              <a:rPr sz="2800" spc="-10" dirty="0">
                <a:latin typeface="Times New Roman"/>
                <a:cs typeface="Times New Roman"/>
              </a:rPr>
              <a:t>traffic may </a:t>
            </a:r>
            <a:r>
              <a:rPr sz="2800" dirty="0">
                <a:latin typeface="Times New Roman"/>
                <a:cs typeface="Times New Roman"/>
              </a:rPr>
              <a:t>return </a:t>
            </a:r>
            <a:r>
              <a:rPr sz="2800" spc="-5" dirty="0">
                <a:latin typeface="Times New Roman"/>
                <a:cs typeface="Times New Roman"/>
              </a:rPr>
              <a:t>to the </a:t>
            </a:r>
            <a:r>
              <a:rPr sz="2800" spc="-10" dirty="0">
                <a:latin typeface="Times New Roman"/>
                <a:cs typeface="Times New Roman"/>
              </a:rPr>
              <a:t>same </a:t>
            </a:r>
            <a:r>
              <a:rPr sz="2800" spc="-5" dirty="0">
                <a:latin typeface="Times New Roman"/>
                <a:cs typeface="Times New Roman"/>
              </a:rPr>
              <a:t>resource after  sometime.</a:t>
            </a:r>
            <a:endParaRPr sz="2800">
              <a:latin typeface="Times New Roman"/>
              <a:cs typeface="Times New Roman"/>
            </a:endParaRPr>
          </a:p>
          <a:p>
            <a:pPr marL="268605" marR="5080" indent="-256540">
              <a:spcBef>
                <a:spcPts val="409"/>
              </a:spcBef>
              <a:buClr>
                <a:srgbClr val="2CA1BE"/>
              </a:buClr>
              <a:buSzPct val="67857"/>
              <a:buFont typeface="Courier New"/>
              <a:buChar char="o"/>
              <a:tabLst>
                <a:tab pos="269240" algn="l"/>
              </a:tabLst>
            </a:pPr>
            <a:r>
              <a:rPr sz="2800" spc="-5" dirty="0">
                <a:latin typeface="Times New Roman"/>
                <a:cs typeface="Times New Roman"/>
              </a:rPr>
              <a:t>The </a:t>
            </a:r>
            <a:r>
              <a:rPr sz="2800" spc="-10" dirty="0">
                <a:latin typeface="Times New Roman"/>
                <a:cs typeface="Times New Roman"/>
              </a:rPr>
              <a:t>traffic may </a:t>
            </a:r>
            <a:r>
              <a:rPr sz="2800" spc="-5" dirty="0">
                <a:latin typeface="Times New Roman"/>
                <a:cs typeface="Times New Roman"/>
              </a:rPr>
              <a:t>be held </a:t>
            </a:r>
            <a:r>
              <a:rPr sz="2800" dirty="0">
                <a:latin typeface="Times New Roman"/>
                <a:cs typeface="Times New Roman"/>
              </a:rPr>
              <a:t>by the </a:t>
            </a:r>
            <a:r>
              <a:rPr sz="2800" spc="-5" dirty="0">
                <a:latin typeface="Times New Roman"/>
                <a:cs typeface="Times New Roman"/>
              </a:rPr>
              <a:t>resource </a:t>
            </a:r>
            <a:r>
              <a:rPr sz="2800" spc="-10" dirty="0">
                <a:latin typeface="Times New Roman"/>
                <a:cs typeface="Times New Roman"/>
              </a:rPr>
              <a:t>as </a:t>
            </a:r>
            <a:r>
              <a:rPr sz="2800" spc="-5" dirty="0">
                <a:latin typeface="Times New Roman"/>
                <a:cs typeface="Times New Roman"/>
              </a:rPr>
              <a:t>if being  serviced </a:t>
            </a:r>
            <a:r>
              <a:rPr sz="2800" dirty="0">
                <a:latin typeface="Times New Roman"/>
                <a:cs typeface="Times New Roman"/>
              </a:rPr>
              <a:t>but </a:t>
            </a:r>
            <a:r>
              <a:rPr sz="2800" spc="-5" dirty="0">
                <a:latin typeface="Times New Roman"/>
                <a:cs typeface="Times New Roman"/>
              </a:rPr>
              <a:t>actually serviced only after the resources  become</a:t>
            </a:r>
            <a:r>
              <a:rPr sz="2800" spc="-15" dirty="0">
                <a:latin typeface="Times New Roman"/>
                <a:cs typeface="Times New Roman"/>
              </a:rPr>
              <a:t> </a:t>
            </a:r>
            <a:r>
              <a:rPr sz="2800" spc="-5" dirty="0">
                <a:latin typeface="Times New Roman"/>
                <a:cs typeface="Times New Roman"/>
              </a:rPr>
              <a:t>available.</a:t>
            </a:r>
            <a:endParaRPr sz="2800">
              <a:latin typeface="Times New Roman"/>
              <a:cs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9669" y="2296135"/>
            <a:ext cx="6297295" cy="2190115"/>
          </a:xfrm>
          <a:prstGeom prst="rect">
            <a:avLst/>
          </a:prstGeom>
        </p:spPr>
        <p:txBody>
          <a:bodyPr vert="horz" wrap="square" lIns="0" tIns="62865" rIns="0" bIns="0" rtlCol="0">
            <a:spAutoFit/>
          </a:bodyPr>
          <a:lstStyle/>
          <a:p>
            <a:pPr marL="527685" indent="-515620">
              <a:spcBef>
                <a:spcPts val="495"/>
              </a:spcBef>
              <a:buClr>
                <a:srgbClr val="2CA1BE"/>
              </a:buClr>
              <a:buSzPct val="67045"/>
              <a:buAutoNum type="arabicPeriod"/>
              <a:tabLst>
                <a:tab pos="527685" algn="l"/>
                <a:tab pos="528320" algn="l"/>
              </a:tabLst>
            </a:pPr>
            <a:r>
              <a:rPr sz="4400" dirty="0">
                <a:latin typeface="Times New Roman"/>
                <a:cs typeface="Times New Roman"/>
              </a:rPr>
              <a:t>Lost calls cleared</a:t>
            </a:r>
            <a:r>
              <a:rPr sz="4400" spc="-130" dirty="0">
                <a:latin typeface="Times New Roman"/>
                <a:cs typeface="Times New Roman"/>
              </a:rPr>
              <a:t> </a:t>
            </a:r>
            <a:r>
              <a:rPr sz="4400" dirty="0">
                <a:latin typeface="Times New Roman"/>
                <a:cs typeface="Times New Roman"/>
              </a:rPr>
              <a:t>(LCC)</a:t>
            </a:r>
            <a:endParaRPr sz="4400">
              <a:latin typeface="Times New Roman"/>
              <a:cs typeface="Times New Roman"/>
            </a:endParaRPr>
          </a:p>
          <a:p>
            <a:pPr marL="527685" indent="-515620">
              <a:spcBef>
                <a:spcPts val="395"/>
              </a:spcBef>
              <a:buClr>
                <a:srgbClr val="2CA1BE"/>
              </a:buClr>
              <a:buSzPct val="67045"/>
              <a:buAutoNum type="arabicPeriod"/>
              <a:tabLst>
                <a:tab pos="527685" algn="l"/>
                <a:tab pos="528320" algn="l"/>
              </a:tabLst>
            </a:pPr>
            <a:r>
              <a:rPr sz="4400" dirty="0">
                <a:latin typeface="Times New Roman"/>
                <a:cs typeface="Times New Roman"/>
              </a:rPr>
              <a:t>Lost calls returned</a:t>
            </a:r>
            <a:r>
              <a:rPr sz="4400" spc="-125" dirty="0">
                <a:latin typeface="Times New Roman"/>
                <a:cs typeface="Times New Roman"/>
              </a:rPr>
              <a:t> </a:t>
            </a:r>
            <a:r>
              <a:rPr sz="4400" dirty="0">
                <a:latin typeface="Times New Roman"/>
                <a:cs typeface="Times New Roman"/>
              </a:rPr>
              <a:t>(LCR)</a:t>
            </a:r>
            <a:endParaRPr sz="4400">
              <a:latin typeface="Times New Roman"/>
              <a:cs typeface="Times New Roman"/>
            </a:endParaRPr>
          </a:p>
          <a:p>
            <a:pPr marL="527685" indent="-515620">
              <a:spcBef>
                <a:spcPts val="409"/>
              </a:spcBef>
              <a:buClr>
                <a:srgbClr val="2CA1BE"/>
              </a:buClr>
              <a:buSzPct val="68181"/>
              <a:buAutoNum type="arabicPeriod"/>
              <a:tabLst>
                <a:tab pos="527685" algn="l"/>
                <a:tab pos="528320" algn="l"/>
              </a:tabLst>
            </a:pPr>
            <a:r>
              <a:rPr sz="4400" dirty="0">
                <a:latin typeface="Times New Roman"/>
                <a:cs typeface="Times New Roman"/>
              </a:rPr>
              <a:t>Lost calls held</a:t>
            </a:r>
            <a:r>
              <a:rPr sz="4400" spc="-75" dirty="0">
                <a:latin typeface="Times New Roman"/>
                <a:cs typeface="Times New Roman"/>
              </a:rPr>
              <a:t> </a:t>
            </a:r>
            <a:r>
              <a:rPr sz="4400" dirty="0">
                <a:latin typeface="Times New Roman"/>
                <a:cs typeface="Times New Roman"/>
              </a:rPr>
              <a:t>(LCH)</a:t>
            </a:r>
            <a:endParaRPr sz="4400">
              <a:latin typeface="Times New Roman"/>
              <a:cs typeface="Times New Roman"/>
            </a:endParaRPr>
          </a:p>
        </p:txBody>
      </p:sp>
      <p:sp>
        <p:nvSpPr>
          <p:cNvPr id="3" name="object 3"/>
          <p:cNvSpPr/>
          <p:nvPr/>
        </p:nvSpPr>
        <p:spPr>
          <a:xfrm>
            <a:off x="1990345" y="1065276"/>
            <a:ext cx="7210043" cy="585215"/>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410968" y="420624"/>
            <a:ext cx="7621523" cy="361187"/>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2590800" y="914400"/>
            <a:ext cx="7620000" cy="5943600"/>
            <a:chOff x="1066800" y="914400"/>
            <a:chExt cx="7620000" cy="5943600"/>
          </a:xfrm>
        </p:grpSpPr>
        <p:sp>
          <p:nvSpPr>
            <p:cNvPr id="4" name="object 4"/>
            <p:cNvSpPr/>
            <p:nvPr/>
          </p:nvSpPr>
          <p:spPr>
            <a:xfrm>
              <a:off x="1149079" y="914400"/>
              <a:ext cx="7254268" cy="1325105"/>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066800" y="2209799"/>
              <a:ext cx="7620000" cy="4648196"/>
            </a:xfrm>
            <a:prstGeom prst="rect">
              <a:avLst/>
            </a:prstGeom>
            <a:blipFill>
              <a:blip r:embed="rId4" cstate="print"/>
              <a:stretch>
                <a:fillRect/>
              </a:stretch>
            </a:blipFill>
          </p:spPr>
          <p:txBody>
            <a:bodyPr wrap="square" lIns="0" tIns="0" rIns="0" bIns="0" rtlCol="0"/>
            <a:lstStyle/>
            <a:p>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9669" y="5163692"/>
            <a:ext cx="4656455" cy="436880"/>
          </a:xfrm>
          <a:prstGeom prst="rect">
            <a:avLst/>
          </a:prstGeom>
        </p:spPr>
        <p:txBody>
          <a:bodyPr vert="horz" wrap="square" lIns="0" tIns="12700" rIns="0" bIns="0" rtlCol="0">
            <a:spAutoFit/>
          </a:bodyPr>
          <a:lstStyle/>
          <a:p>
            <a:pPr marL="12700">
              <a:spcBef>
                <a:spcPts val="100"/>
              </a:spcBef>
              <a:tabLst>
                <a:tab pos="268605" algn="l"/>
              </a:tabLst>
            </a:pPr>
            <a:r>
              <a:rPr spc="-505" dirty="0">
                <a:solidFill>
                  <a:srgbClr val="2CA1BE"/>
                </a:solidFill>
                <a:latin typeface="Arial"/>
                <a:cs typeface="Arial"/>
              </a:rPr>
              <a:t>	</a:t>
            </a:r>
            <a:r>
              <a:rPr sz="2700" spc="-125" dirty="0">
                <a:latin typeface="Arial"/>
                <a:cs typeface="Arial"/>
              </a:rPr>
              <a:t>We </a:t>
            </a:r>
            <a:r>
              <a:rPr sz="2700" spc="110" dirty="0">
                <a:latin typeface="Arial"/>
                <a:cs typeface="Arial"/>
              </a:rPr>
              <a:t>conclude </a:t>
            </a:r>
            <a:r>
              <a:rPr sz="2700" spc="165" dirty="0">
                <a:latin typeface="Arial"/>
                <a:cs typeface="Arial"/>
              </a:rPr>
              <a:t>that </a:t>
            </a:r>
            <a:r>
              <a:rPr sz="2700" spc="15" dirty="0">
                <a:latin typeface="Arial"/>
                <a:cs typeface="Arial"/>
              </a:rPr>
              <a:t>GOS=</a:t>
            </a:r>
            <a:r>
              <a:rPr sz="2700" spc="195" dirty="0">
                <a:latin typeface="Arial"/>
                <a:cs typeface="Arial"/>
              </a:rPr>
              <a:t> </a:t>
            </a:r>
            <a:r>
              <a:rPr sz="2700" spc="-245" dirty="0">
                <a:latin typeface="Arial"/>
                <a:cs typeface="Arial"/>
              </a:rPr>
              <a:t>P</a:t>
            </a:r>
            <a:r>
              <a:rPr sz="2000" spc="-245" dirty="0">
                <a:latin typeface="Arial"/>
                <a:cs typeface="Arial"/>
              </a:rPr>
              <a:t>B</a:t>
            </a:r>
            <a:endParaRPr sz="2000">
              <a:latin typeface="Arial"/>
              <a:cs typeface="Arial"/>
            </a:endParaRPr>
          </a:p>
        </p:txBody>
      </p:sp>
      <p:sp>
        <p:nvSpPr>
          <p:cNvPr id="3" name="object 3"/>
          <p:cNvSpPr/>
          <p:nvPr/>
        </p:nvSpPr>
        <p:spPr>
          <a:xfrm>
            <a:off x="2482675" y="471767"/>
            <a:ext cx="6096907" cy="393326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63495" y="672084"/>
            <a:ext cx="8179308" cy="365759"/>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200400" y="1447864"/>
            <a:ext cx="6248400" cy="465289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971800" y="762000"/>
            <a:ext cx="6934200" cy="507365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124201" y="381000"/>
            <a:ext cx="6296025" cy="5670550"/>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00165" y="698220"/>
            <a:ext cx="5340713" cy="4284821"/>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69668" y="1307337"/>
            <a:ext cx="7912100" cy="4906010"/>
          </a:xfrm>
          <a:prstGeom prst="rect">
            <a:avLst/>
          </a:prstGeom>
        </p:spPr>
        <p:txBody>
          <a:bodyPr vert="horz" wrap="square" lIns="0" tIns="52705" rIns="0" bIns="0" rtlCol="0">
            <a:spAutoFit/>
          </a:bodyPr>
          <a:lstStyle/>
          <a:p>
            <a:pPr marL="12700" marR="1146175">
              <a:lnSpc>
                <a:spcPts val="3100"/>
              </a:lnSpc>
              <a:spcBef>
                <a:spcPts val="415"/>
              </a:spcBef>
              <a:buClr>
                <a:srgbClr val="2CA1BE"/>
              </a:buClr>
              <a:buSzPct val="67857"/>
              <a:buFont typeface="Arial"/>
              <a:buChar char=""/>
              <a:tabLst>
                <a:tab pos="268605" algn="l"/>
                <a:tab pos="269240" algn="l"/>
              </a:tabLst>
            </a:pPr>
            <a:r>
              <a:rPr sz="2800" spc="-10" dirty="0">
                <a:latin typeface="Times New Roman"/>
                <a:cs typeface="Times New Roman"/>
              </a:rPr>
              <a:t>Offered traffic </a:t>
            </a:r>
            <a:r>
              <a:rPr sz="2800" spc="-5" dirty="0">
                <a:latin typeface="Times New Roman"/>
                <a:cs typeface="Times New Roman"/>
              </a:rPr>
              <a:t>comprises </a:t>
            </a:r>
            <a:r>
              <a:rPr sz="2800" dirty="0">
                <a:latin typeface="Times New Roman"/>
                <a:cs typeface="Times New Roman"/>
              </a:rPr>
              <a:t>of </a:t>
            </a:r>
            <a:r>
              <a:rPr sz="2800" spc="-5" dirty="0">
                <a:latin typeface="Times New Roman"/>
                <a:cs typeface="Times New Roman"/>
              </a:rPr>
              <a:t>two components:  </a:t>
            </a:r>
            <a:r>
              <a:rPr sz="2800" spc="-10" dirty="0">
                <a:latin typeface="Times New Roman"/>
                <a:cs typeface="Times New Roman"/>
              </a:rPr>
              <a:t>Offered traffic= </a:t>
            </a:r>
            <a:r>
              <a:rPr sz="2800" spc="-5" dirty="0">
                <a:latin typeface="Times New Roman"/>
                <a:cs typeface="Times New Roman"/>
              </a:rPr>
              <a:t>new </a:t>
            </a:r>
            <a:r>
              <a:rPr sz="2800" spc="-10" dirty="0">
                <a:latin typeface="Times New Roman"/>
                <a:cs typeface="Times New Roman"/>
              </a:rPr>
              <a:t>traffic+ </a:t>
            </a:r>
            <a:r>
              <a:rPr sz="2800" spc="-5" dirty="0">
                <a:latin typeface="Times New Roman"/>
                <a:cs typeface="Times New Roman"/>
              </a:rPr>
              <a:t>retry</a:t>
            </a:r>
            <a:r>
              <a:rPr sz="2800" spc="5" dirty="0">
                <a:latin typeface="Times New Roman"/>
                <a:cs typeface="Times New Roman"/>
              </a:rPr>
              <a:t> </a:t>
            </a:r>
            <a:r>
              <a:rPr sz="2800" spc="-10" dirty="0">
                <a:latin typeface="Times New Roman"/>
                <a:cs typeface="Times New Roman"/>
              </a:rPr>
              <a:t>traffic</a:t>
            </a:r>
            <a:endParaRPr sz="2800">
              <a:latin typeface="Times New Roman"/>
              <a:cs typeface="Times New Roman"/>
            </a:endParaRPr>
          </a:p>
          <a:p>
            <a:pPr marL="268605" marR="592455" indent="-256540">
              <a:lnSpc>
                <a:spcPct val="80000"/>
              </a:lnSpc>
              <a:spcBef>
                <a:spcPts val="335"/>
              </a:spcBef>
              <a:buClr>
                <a:srgbClr val="2CA1BE"/>
              </a:buClr>
              <a:buSzPct val="67857"/>
              <a:buFont typeface="Arial"/>
              <a:buChar char=""/>
              <a:tabLst>
                <a:tab pos="268605" algn="l"/>
                <a:tab pos="269240" algn="l"/>
              </a:tabLst>
            </a:pPr>
            <a:r>
              <a:rPr sz="2800" spc="-35" dirty="0">
                <a:latin typeface="Times New Roman"/>
                <a:cs typeface="Times New Roman"/>
              </a:rPr>
              <a:t>Taking </a:t>
            </a:r>
            <a:r>
              <a:rPr sz="2800" dirty="0">
                <a:latin typeface="Times New Roman"/>
                <a:cs typeface="Times New Roman"/>
              </a:rPr>
              <a:t>into </a:t>
            </a:r>
            <a:r>
              <a:rPr sz="2800" spc="-5" dirty="0">
                <a:latin typeface="Times New Roman"/>
                <a:cs typeface="Times New Roman"/>
              </a:rPr>
              <a:t>call the returning calls, </a:t>
            </a:r>
            <a:r>
              <a:rPr sz="2800" spc="-10" dirty="0">
                <a:latin typeface="Times New Roman"/>
                <a:cs typeface="Times New Roman"/>
              </a:rPr>
              <a:t>LCR </a:t>
            </a:r>
            <a:r>
              <a:rPr sz="2800" spc="-5" dirty="0">
                <a:latin typeface="Times New Roman"/>
                <a:cs typeface="Times New Roman"/>
              </a:rPr>
              <a:t>model is  designed.</a:t>
            </a:r>
            <a:endParaRPr sz="2800">
              <a:latin typeface="Times New Roman"/>
              <a:cs typeface="Times New Roman"/>
            </a:endParaRPr>
          </a:p>
          <a:p>
            <a:pPr marL="268605" indent="-256540">
              <a:lnSpc>
                <a:spcPts val="2950"/>
              </a:lnSpc>
              <a:buClr>
                <a:srgbClr val="2CA1BE"/>
              </a:buClr>
              <a:buSzPct val="67857"/>
              <a:buFont typeface="Arial"/>
              <a:buChar char=""/>
              <a:tabLst>
                <a:tab pos="268605" algn="l"/>
                <a:tab pos="269240" algn="l"/>
              </a:tabLst>
            </a:pPr>
            <a:r>
              <a:rPr sz="2800" spc="-5" dirty="0">
                <a:latin typeface="Times New Roman"/>
                <a:cs typeface="Times New Roman"/>
              </a:rPr>
              <a:t>Following assumptions are</a:t>
            </a:r>
            <a:r>
              <a:rPr sz="2800" spc="-50" dirty="0">
                <a:latin typeface="Times New Roman"/>
                <a:cs typeface="Times New Roman"/>
              </a:rPr>
              <a:t> </a:t>
            </a:r>
            <a:r>
              <a:rPr sz="2800" spc="-5" dirty="0">
                <a:latin typeface="Times New Roman"/>
                <a:cs typeface="Times New Roman"/>
              </a:rPr>
              <a:t>made:</a:t>
            </a:r>
            <a:endParaRPr sz="2800">
              <a:latin typeface="Times New Roman"/>
              <a:cs typeface="Times New Roman"/>
            </a:endParaRPr>
          </a:p>
          <a:p>
            <a:pPr marL="268605" marR="5080" indent="-256540">
              <a:lnSpc>
                <a:spcPts val="2690"/>
              </a:lnSpc>
              <a:spcBef>
                <a:spcPts val="515"/>
              </a:spcBef>
              <a:buClr>
                <a:srgbClr val="2CA1BE"/>
              </a:buClr>
              <a:buSzPct val="67857"/>
              <a:buFont typeface="Arial"/>
              <a:buChar char=""/>
              <a:tabLst>
                <a:tab pos="268605" algn="l"/>
                <a:tab pos="269240" algn="l"/>
              </a:tabLst>
            </a:pPr>
            <a:r>
              <a:rPr sz="2800" spc="-5" dirty="0">
                <a:latin typeface="Times New Roman"/>
                <a:cs typeface="Times New Roman"/>
              </a:rPr>
              <a:t>No new call is generated when a blocked </a:t>
            </a:r>
            <a:r>
              <a:rPr sz="2800" spc="-10" dirty="0">
                <a:latin typeface="Times New Roman"/>
                <a:cs typeface="Times New Roman"/>
              </a:rPr>
              <a:t>call </a:t>
            </a:r>
            <a:r>
              <a:rPr sz="2800" spc="-5" dirty="0">
                <a:latin typeface="Times New Roman"/>
                <a:cs typeface="Times New Roman"/>
              </a:rPr>
              <a:t>is being  retried.</a:t>
            </a:r>
            <a:endParaRPr sz="2800">
              <a:latin typeface="Times New Roman"/>
              <a:cs typeface="Times New Roman"/>
            </a:endParaRPr>
          </a:p>
          <a:p>
            <a:pPr marL="268605" marR="92710" indent="-256540">
              <a:lnSpc>
                <a:spcPts val="2690"/>
              </a:lnSpc>
              <a:spcBef>
                <a:spcPts val="395"/>
              </a:spcBef>
              <a:buClr>
                <a:srgbClr val="2CA1BE"/>
              </a:buClr>
              <a:buSzPct val="67857"/>
              <a:buFont typeface="Arial"/>
              <a:buChar char=""/>
              <a:tabLst>
                <a:tab pos="268605" algn="l"/>
                <a:tab pos="269240" algn="l"/>
              </a:tabLst>
            </a:pPr>
            <a:r>
              <a:rPr sz="2800" spc="-5" dirty="0">
                <a:latin typeface="Times New Roman"/>
                <a:cs typeface="Times New Roman"/>
              </a:rPr>
              <a:t>A number of retry attempts </a:t>
            </a:r>
            <a:r>
              <a:rPr sz="2800" spc="-10" dirty="0">
                <a:latin typeface="Times New Roman"/>
                <a:cs typeface="Times New Roman"/>
              </a:rPr>
              <a:t>may </a:t>
            </a:r>
            <a:r>
              <a:rPr sz="2800" spc="-5" dirty="0">
                <a:latin typeface="Times New Roman"/>
                <a:cs typeface="Times New Roman"/>
              </a:rPr>
              <a:t>be </a:t>
            </a:r>
            <a:r>
              <a:rPr sz="2800" dirty="0">
                <a:latin typeface="Times New Roman"/>
                <a:cs typeface="Times New Roman"/>
              </a:rPr>
              <a:t>involved </a:t>
            </a:r>
            <a:r>
              <a:rPr sz="2800" spc="-5" dirty="0">
                <a:latin typeface="Times New Roman"/>
                <a:cs typeface="Times New Roman"/>
              </a:rPr>
              <a:t>before</a:t>
            </a:r>
            <a:r>
              <a:rPr sz="2800" spc="-165" dirty="0">
                <a:latin typeface="Times New Roman"/>
                <a:cs typeface="Times New Roman"/>
              </a:rPr>
              <a:t> </a:t>
            </a:r>
            <a:r>
              <a:rPr sz="2800" spc="-5" dirty="0">
                <a:latin typeface="Times New Roman"/>
                <a:cs typeface="Times New Roman"/>
              </a:rPr>
              <a:t>a  </a:t>
            </a:r>
            <a:r>
              <a:rPr sz="2800" spc="-10" dirty="0">
                <a:latin typeface="Times New Roman"/>
                <a:cs typeface="Times New Roman"/>
              </a:rPr>
              <a:t>call </a:t>
            </a:r>
            <a:r>
              <a:rPr sz="2800" spc="-5" dirty="0">
                <a:latin typeface="Times New Roman"/>
                <a:cs typeface="Times New Roman"/>
              </a:rPr>
              <a:t>eventually gets</a:t>
            </a:r>
            <a:r>
              <a:rPr sz="2800" spc="-30" dirty="0">
                <a:latin typeface="Times New Roman"/>
                <a:cs typeface="Times New Roman"/>
              </a:rPr>
              <a:t> </a:t>
            </a:r>
            <a:r>
              <a:rPr sz="2800" spc="-5" dirty="0">
                <a:latin typeface="Times New Roman"/>
                <a:cs typeface="Times New Roman"/>
              </a:rPr>
              <a:t>serviced.</a:t>
            </a:r>
            <a:endParaRPr sz="2800">
              <a:latin typeface="Times New Roman"/>
              <a:cs typeface="Times New Roman"/>
            </a:endParaRPr>
          </a:p>
          <a:p>
            <a:pPr marL="268605" marR="404495" indent="-256540">
              <a:lnSpc>
                <a:spcPts val="2690"/>
              </a:lnSpc>
              <a:spcBef>
                <a:spcPts val="390"/>
              </a:spcBef>
              <a:buClr>
                <a:srgbClr val="2CA1BE"/>
              </a:buClr>
              <a:buSzPct val="67857"/>
              <a:buFont typeface="Arial"/>
              <a:buChar char=""/>
              <a:tabLst>
                <a:tab pos="268605" algn="l"/>
                <a:tab pos="269240" algn="l"/>
              </a:tabLst>
            </a:pPr>
            <a:r>
              <a:rPr sz="2800" spc="-5" dirty="0">
                <a:latin typeface="Times New Roman"/>
                <a:cs typeface="Times New Roman"/>
              </a:rPr>
              <a:t>Retries are attempted after a random </a:t>
            </a:r>
            <a:r>
              <a:rPr sz="2800" spc="-10" dirty="0">
                <a:latin typeface="Times New Roman"/>
                <a:cs typeface="Times New Roman"/>
              </a:rPr>
              <a:t>time </a:t>
            </a:r>
            <a:r>
              <a:rPr sz="2800" spc="-5" dirty="0">
                <a:latin typeface="Times New Roman"/>
                <a:cs typeface="Times New Roman"/>
              </a:rPr>
              <a:t>and </a:t>
            </a:r>
            <a:r>
              <a:rPr sz="2800" spc="-10" dirty="0">
                <a:latin typeface="Times New Roman"/>
                <a:cs typeface="Times New Roman"/>
              </a:rPr>
              <a:t>each  </a:t>
            </a:r>
            <a:r>
              <a:rPr sz="2800" spc="-5" dirty="0">
                <a:latin typeface="Times New Roman"/>
                <a:cs typeface="Times New Roman"/>
              </a:rPr>
              <a:t>retry time is stastically independent of the</a:t>
            </a:r>
            <a:r>
              <a:rPr sz="2800" spc="30" dirty="0">
                <a:latin typeface="Times New Roman"/>
                <a:cs typeface="Times New Roman"/>
              </a:rPr>
              <a:t> </a:t>
            </a:r>
            <a:r>
              <a:rPr sz="2800" spc="-5" dirty="0">
                <a:latin typeface="Times New Roman"/>
                <a:cs typeface="Times New Roman"/>
              </a:rPr>
              <a:t>others.</a:t>
            </a:r>
            <a:endParaRPr sz="2800">
              <a:latin typeface="Times New Roman"/>
              <a:cs typeface="Times New Roman"/>
            </a:endParaRPr>
          </a:p>
          <a:p>
            <a:pPr marL="268605" marR="158750" indent="-256540">
              <a:lnSpc>
                <a:spcPts val="2690"/>
              </a:lnSpc>
              <a:spcBef>
                <a:spcPts val="409"/>
              </a:spcBef>
              <a:buClr>
                <a:srgbClr val="2CA1BE"/>
              </a:buClr>
              <a:buSzPct val="67857"/>
              <a:buFont typeface="Arial"/>
              <a:buChar char=""/>
              <a:tabLst>
                <a:tab pos="268605" algn="l"/>
                <a:tab pos="269240" algn="l"/>
              </a:tabLst>
            </a:pPr>
            <a:r>
              <a:rPr sz="2800" spc="-30" dirty="0">
                <a:latin typeface="Times New Roman"/>
                <a:cs typeface="Times New Roman"/>
              </a:rPr>
              <a:t>Typical </a:t>
            </a:r>
            <a:r>
              <a:rPr sz="2800" spc="-5" dirty="0">
                <a:latin typeface="Times New Roman"/>
                <a:cs typeface="Times New Roman"/>
              </a:rPr>
              <a:t>waiting </a:t>
            </a:r>
            <a:r>
              <a:rPr sz="2800" spc="-10" dirty="0">
                <a:latin typeface="Times New Roman"/>
                <a:cs typeface="Times New Roman"/>
              </a:rPr>
              <a:t>time </a:t>
            </a:r>
            <a:r>
              <a:rPr sz="2800" dirty="0">
                <a:latin typeface="Times New Roman"/>
                <a:cs typeface="Times New Roman"/>
              </a:rPr>
              <a:t>before </a:t>
            </a:r>
            <a:r>
              <a:rPr sz="2800" spc="-5" dirty="0">
                <a:latin typeface="Times New Roman"/>
                <a:cs typeface="Times New Roman"/>
              </a:rPr>
              <a:t>a retry is </a:t>
            </a:r>
            <a:r>
              <a:rPr sz="2800" dirty="0">
                <a:latin typeface="Times New Roman"/>
                <a:cs typeface="Times New Roman"/>
              </a:rPr>
              <a:t>longer </a:t>
            </a:r>
            <a:r>
              <a:rPr sz="2800" spc="-5" dirty="0">
                <a:latin typeface="Times New Roman"/>
                <a:cs typeface="Times New Roman"/>
              </a:rPr>
              <a:t>than </a:t>
            </a:r>
            <a:r>
              <a:rPr sz="2800" dirty="0">
                <a:latin typeface="Times New Roman"/>
                <a:cs typeface="Times New Roman"/>
              </a:rPr>
              <a:t>the  </a:t>
            </a:r>
            <a:r>
              <a:rPr sz="2800" spc="-5" dirty="0">
                <a:latin typeface="Times New Roman"/>
                <a:cs typeface="Times New Roman"/>
              </a:rPr>
              <a:t>average </a:t>
            </a:r>
            <a:r>
              <a:rPr sz="2800" dirty="0">
                <a:latin typeface="Times New Roman"/>
                <a:cs typeface="Times New Roman"/>
              </a:rPr>
              <a:t>holding</a:t>
            </a:r>
            <a:r>
              <a:rPr sz="2800" spc="-50" dirty="0">
                <a:latin typeface="Times New Roman"/>
                <a:cs typeface="Times New Roman"/>
              </a:rPr>
              <a:t> </a:t>
            </a:r>
            <a:r>
              <a:rPr sz="2800" spc="-5" dirty="0">
                <a:latin typeface="Times New Roman"/>
                <a:cs typeface="Times New Roman"/>
              </a:rPr>
              <a:t>time.</a:t>
            </a:r>
            <a:endParaRPr sz="2800">
              <a:latin typeface="Times New Roman"/>
              <a:cs typeface="Times New Roman"/>
            </a:endParaRPr>
          </a:p>
        </p:txBody>
      </p:sp>
      <p:sp>
        <p:nvSpPr>
          <p:cNvPr id="3" name="object 3"/>
          <p:cNvSpPr/>
          <p:nvPr/>
        </p:nvSpPr>
        <p:spPr>
          <a:xfrm>
            <a:off x="2068068" y="676656"/>
            <a:ext cx="5920740" cy="507491"/>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63496" y="676656"/>
            <a:ext cx="4882895" cy="507491"/>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581400" y="1524064"/>
            <a:ext cx="5257800" cy="4729099"/>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072640" y="676656"/>
            <a:ext cx="3781044" cy="507491"/>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2757505" y="1754065"/>
            <a:ext cx="6757937" cy="3564548"/>
          </a:xfrm>
          <a:prstGeom prst="rect">
            <a:avLst/>
          </a:prstGeom>
          <a:blipFill>
            <a:blip r:embed="rId3" cstate="print"/>
            <a:stretch>
              <a:fillRect/>
            </a:stretch>
          </a:blip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3</TotalTime>
  <Words>2566</Words>
  <Application>Microsoft Office PowerPoint</Application>
  <PresentationFormat>Widescreen</PresentationFormat>
  <Paragraphs>176</Paragraphs>
  <Slides>50</Slides>
  <Notes>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9" baseType="lpstr">
      <vt:lpstr>Arial</vt:lpstr>
      <vt:lpstr>Calibri</vt:lpstr>
      <vt:lpstr>Corbel</vt:lpstr>
      <vt:lpstr>Courier New</vt:lpstr>
      <vt:lpstr>Times New Roman</vt:lpstr>
      <vt:lpstr>Verdana</vt:lpstr>
      <vt:lpstr>Wingdings</vt:lpstr>
      <vt:lpstr>Basis</vt:lpstr>
      <vt:lpstr>Equation</vt:lpstr>
      <vt:lpstr>TRAFFIC ENGINEERING</vt:lpstr>
      <vt:lpstr>Traffic Engineering</vt:lpstr>
      <vt:lpstr>PowerPoint Presentation</vt:lpstr>
      <vt:lpstr>PowerPoint Presentation</vt:lpstr>
      <vt:lpstr>Network parameters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Handling of overload traffic</vt:lpstr>
      <vt:lpstr>PowerPoint Presentation</vt:lpstr>
      <vt:lpstr>PowerPoint Presentation</vt:lpstr>
      <vt:lpstr>Grade of service (GOS)</vt:lpstr>
      <vt:lpstr>PowerPoint Presentation</vt:lpstr>
      <vt:lpstr>PowerPoint Presentation</vt:lpstr>
      <vt:lpstr>Differences between Blocking probability and GOS</vt:lpstr>
      <vt:lpstr>PowerPoint Presentation</vt:lpstr>
      <vt:lpstr>Why GOS is zero for delay systems</vt:lpstr>
      <vt:lpstr>Modelling Switching Systems</vt:lpstr>
      <vt:lpstr>PowerPoint Presentation</vt:lpstr>
      <vt:lpstr>PowerPoint Presentation</vt:lpstr>
      <vt:lpstr>  Markov processes </vt:lpstr>
      <vt:lpstr>PowerPoint Presentation</vt:lpstr>
      <vt:lpstr>PowerPoint Presentation</vt:lpstr>
      <vt:lpstr>PowerPoint Presentation</vt:lpstr>
      <vt:lpstr>PowerPoint Presentation</vt:lpstr>
      <vt:lpstr>Birth-death process</vt:lpstr>
      <vt:lpstr>PowerPoint Presentation</vt:lpstr>
      <vt:lpstr>PowerPoint Presentation</vt:lpstr>
      <vt:lpstr>PowerPoint Presentation</vt:lpstr>
      <vt:lpstr>PowerPoint Presentation</vt:lpstr>
      <vt:lpstr>PowerPoint Presentation</vt:lpstr>
      <vt:lpstr> Three aspects while dealing with the analysis of the  telecommunication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MS.SELI MOHAPATRA</dc:creator>
  <cp:lastModifiedBy>MS.SELI MOHAPATRA</cp:lastModifiedBy>
  <cp:revision>2</cp:revision>
  <dcterms:created xsi:type="dcterms:W3CDTF">2021-02-11T10:31:20Z</dcterms:created>
  <dcterms:modified xsi:type="dcterms:W3CDTF">2021-02-11T10:34:24Z</dcterms:modified>
</cp:coreProperties>
</file>