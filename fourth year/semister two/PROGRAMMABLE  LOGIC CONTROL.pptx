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4" r:id="rId26"/>
    <p:sldId id="285" r:id="rId27"/>
    <p:sldId id="286" r:id="rId28"/>
    <p:sldId id="287" r:id="rId29"/>
    <p:sldId id="288" r:id="rId30"/>
    <p:sldId id="289" r:id="rId31"/>
    <p:sldId id="290" r:id="rId32"/>
    <p:sldId id="280" r:id="rId33"/>
    <p:sldId id="281" r:id="rId34"/>
    <p:sldId id="282" r:id="rId35"/>
    <p:sldId id="283"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5" r:id="rId80"/>
    <p:sldId id="336" r:id="rId81"/>
    <p:sldId id="337" r:id="rId82"/>
    <p:sldId id="334"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9" r:id="rId113"/>
    <p:sldId id="368" r:id="rId114"/>
    <p:sldId id="370" r:id="rId115"/>
    <p:sldId id="371" r:id="rId116"/>
    <p:sldId id="372" r:id="rId117"/>
    <p:sldId id="373" r:id="rId118"/>
    <p:sldId id="374" r:id="rId119"/>
    <p:sldId id="375" r:id="rId120"/>
    <p:sldId id="377" r:id="rId121"/>
    <p:sldId id="379" r:id="rId122"/>
    <p:sldId id="380" r:id="rId123"/>
    <p:sldId id="381" r:id="rId124"/>
    <p:sldId id="382" r:id="rId125"/>
    <p:sldId id="383" r:id="rId126"/>
    <p:sldId id="384" r:id="rId127"/>
    <p:sldId id="385" r:id="rId128"/>
    <p:sldId id="386" r:id="rId129"/>
    <p:sldId id="387" r:id="rId130"/>
    <p:sldId id="388" r:id="rId131"/>
    <p:sldId id="389" r:id="rId132"/>
    <p:sldId id="390" r:id="rId133"/>
    <p:sldId id="391" r:id="rId134"/>
    <p:sldId id="392" r:id="rId135"/>
    <p:sldId id="393" r:id="rId136"/>
    <p:sldId id="394" r:id="rId1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78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629C00-D8E4-45D3-B79C-0D550282AF95}" type="datetimeFigureOut">
              <a:rPr lang="en-US" smtClean="0"/>
              <a:pPr/>
              <a:t>3/18/2025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4C73E2-E080-43A7-9458-8549D90C2C47}"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AB9C71D-B730-418D-BCEA-810AC397FB21}" type="datetimeFigureOut">
              <a:rPr lang="en-US" smtClean="0"/>
              <a:pPr/>
              <a:t>3/18/2025</a:t>
            </a:fld>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4C10423-0FC2-4532-A5E1-A2256162CA3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AB9C71D-B730-418D-BCEA-810AC397FB21}" type="datetimeFigureOut">
              <a:rPr lang="en-US" smtClean="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F4C10423-0FC2-4532-A5E1-A2256162CA3B}" type="slidenum">
              <a:rPr lang="en-US" smtClean="0"/>
              <a:pPr/>
              <a:t>‹#›</a:t>
            </a:fld>
            <a:endParaRPr lang="en-US" dirty="0"/>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3AB9C71D-B730-418D-BCEA-810AC397FB21}" type="datetimeFigureOut">
              <a:rPr lang="en-US" smtClean="0"/>
              <a:pPr/>
              <a:t>3/18/2025</a:t>
            </a:fld>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F4C10423-0FC2-4532-A5E1-A2256162CA3B}" type="slidenum">
              <a:rPr lang="en-US" smtClean="0"/>
              <a:pPr/>
              <a:t>‹#›</a:t>
            </a:fld>
            <a:endParaRPr lang="en-US" dirty="0"/>
          </a:p>
        </p:txBody>
      </p:sp>
      <p:sp>
        <p:nvSpPr>
          <p:cNvPr id="14" name="Footer Placeholder 13"/>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3AB9C71D-B730-418D-BCEA-810AC397FB21}" type="datetimeFigureOut">
              <a:rPr lang="en-US" smtClean="0"/>
              <a:pPr/>
              <a:t>3/18/2025</a:t>
            </a:fld>
            <a:endParaRPr lang="en-US" dirty="0"/>
          </a:p>
        </p:txBody>
      </p:sp>
      <p:sp>
        <p:nvSpPr>
          <p:cNvPr id="10" name="Slide Number Placeholder 9"/>
          <p:cNvSpPr>
            <a:spLocks noGrp="1"/>
          </p:cNvSpPr>
          <p:nvPr>
            <p:ph type="sldNum" sz="quarter" idx="16"/>
          </p:nvPr>
        </p:nvSpPr>
        <p:spPr/>
        <p:txBody>
          <a:bodyPr rtlCol="0"/>
          <a:lstStyle/>
          <a:p>
            <a:fld id="{F4C10423-0FC2-4532-A5E1-A2256162CA3B}" type="slidenum">
              <a:rPr lang="en-US" smtClean="0"/>
              <a:pPr/>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3AB9C71D-B730-418D-BCEA-810AC397FB21}" type="datetimeFigureOut">
              <a:rPr lang="en-US" smtClean="0"/>
              <a:pPr/>
              <a:t>3/18/2025</a:t>
            </a:fld>
            <a:endParaRPr lang="en-US" dirty="0"/>
          </a:p>
        </p:txBody>
      </p:sp>
      <p:sp>
        <p:nvSpPr>
          <p:cNvPr id="12" name="Slide Number Placeholder 11"/>
          <p:cNvSpPr>
            <a:spLocks noGrp="1"/>
          </p:cNvSpPr>
          <p:nvPr>
            <p:ph type="sldNum" sz="quarter" idx="16"/>
          </p:nvPr>
        </p:nvSpPr>
        <p:spPr/>
        <p:txBody>
          <a:bodyPr rtlCol="0"/>
          <a:lstStyle/>
          <a:p>
            <a:fld id="{F4C10423-0FC2-4532-A5E1-A2256162CA3B}" type="slidenum">
              <a:rPr lang="en-US" smtClean="0"/>
              <a:pPr/>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AB9C71D-B730-418D-BCEA-810AC397FB21}" type="datetimeFigureOut">
              <a:rPr lang="en-US" smtClean="0"/>
              <a:pPr/>
              <a:t>3/18/2025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F4C10423-0FC2-4532-A5E1-A2256162CA3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B9C71D-B730-418D-BCEA-810AC397FB21}" type="datetimeFigureOut">
              <a:rPr lang="en-US" smtClean="0"/>
              <a:pPr/>
              <a:t>3/18/2025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F4C10423-0FC2-4532-A5E1-A2256162CA3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3AB9C71D-B730-418D-BCEA-810AC397FB21}" type="datetimeFigureOut">
              <a:rPr lang="en-US" smtClean="0"/>
              <a:pPr/>
              <a:t>3/18/2025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4C10423-0FC2-4532-A5E1-A2256162CA3B}"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Date Placeholder 11"/>
          <p:cNvSpPr>
            <a:spLocks noGrp="1"/>
          </p:cNvSpPr>
          <p:nvPr>
            <p:ph type="dt" sz="half" idx="10"/>
          </p:nvPr>
        </p:nvSpPr>
        <p:spPr>
          <a:xfrm>
            <a:off x="6248400" y="6248400"/>
            <a:ext cx="2667000" cy="365125"/>
          </a:xfrm>
        </p:spPr>
        <p:txBody>
          <a:bodyPr rtlCol="0"/>
          <a:lstStyle/>
          <a:p>
            <a:fld id="{3AB9C71D-B730-418D-BCEA-810AC397FB21}" type="datetimeFigureOut">
              <a:rPr lang="en-US" smtClean="0"/>
              <a:pPr/>
              <a:t>3/18/2025</a:t>
            </a:fld>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F4C10423-0FC2-4532-A5E1-A2256162CA3B}" type="slidenum">
              <a:rPr lang="en-US" smtClean="0"/>
              <a:pPr/>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dirty="0"/>
              <a:t>Click icon to add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AB9C71D-B730-418D-BCEA-810AC397FB21}" type="datetimeFigureOut">
              <a:rPr lang="en-US" smtClean="0"/>
              <a:pPr/>
              <a:t>3/18/2025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4C10423-0FC2-4532-A5E1-A2256162CA3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AB9C71D-B730-418D-BCEA-810AC397FB21}" type="datetimeFigureOut">
              <a:rPr lang="en-US" smtClean="0"/>
              <a:pPr/>
              <a:t>3/18/2025</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6" name="Slide Number Placeholder 5"/>
          <p:cNvSpPr>
            <a:spLocks noGrp="1"/>
          </p:cNvSpPr>
          <p:nvPr>
            <p:ph type="sldNum" sz="quarter" idx="12"/>
          </p:nvPr>
        </p:nvSpPr>
        <p:spPr>
          <a:xfrm rot="5400000">
            <a:off x="5989638" y="144462"/>
            <a:ext cx="533400" cy="244476"/>
          </a:xfrm>
        </p:spPr>
        <p:txBody>
          <a:bodyPr/>
          <a:lstStyle/>
          <a:p>
            <a:fld id="{F4C10423-0FC2-4532-A5E1-A2256162CA3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AB9C71D-B730-418D-BCEA-810AC397FB21}" type="datetimeFigureOut">
              <a:rPr lang="en-US" smtClean="0"/>
              <a:pPr/>
              <a:t>3/18/2025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F4C10423-0FC2-4532-A5E1-A2256162CA3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9201"/>
            <a:ext cx="7772400" cy="1828799"/>
          </a:xfrm>
        </p:spPr>
        <p:txBody>
          <a:bodyPr/>
          <a:lstStyle/>
          <a:p>
            <a:r>
              <a:rPr lang="en-US" dirty="0">
                <a:latin typeface="Arial Black" pitchFamily="34" charset="0"/>
              </a:rPr>
              <a:t>PROGRAMMABLE  LOGIC CONTROL</a:t>
            </a:r>
          </a:p>
        </p:txBody>
      </p:sp>
      <p:sp>
        <p:nvSpPr>
          <p:cNvPr id="3" name="Subtitle 2"/>
          <p:cNvSpPr>
            <a:spLocks noGrp="1"/>
          </p:cNvSpPr>
          <p:nvPr>
            <p:ph type="subTitle" idx="1"/>
          </p:nvPr>
        </p:nvSpPr>
        <p:spPr>
          <a:xfrm>
            <a:off x="1371600" y="3276600"/>
            <a:ext cx="6934200" cy="3200400"/>
          </a:xfrm>
        </p:spPr>
        <p:txBody>
          <a:bodyPr>
            <a:noAutofit/>
          </a:bodyPr>
          <a:lstStyle/>
          <a:p>
            <a:pPr algn="l"/>
            <a:r>
              <a:rPr lang="en-US" sz="2000" dirty="0"/>
              <a:t>These are solid –state  members of computer family using </a:t>
            </a:r>
            <a:r>
              <a:rPr lang="en-US" sz="2000" dirty="0" err="1"/>
              <a:t>intregrated</a:t>
            </a:r>
            <a:r>
              <a:rPr lang="en-US" sz="2000" dirty="0"/>
              <a:t> circuits  instead of </a:t>
            </a:r>
            <a:r>
              <a:rPr lang="en-US" sz="2000" dirty="0" err="1"/>
              <a:t>electomechanical</a:t>
            </a:r>
            <a:r>
              <a:rPr lang="en-US" sz="2000" dirty="0"/>
              <a:t> devices to implement control functions.</a:t>
            </a:r>
          </a:p>
          <a:p>
            <a:pPr algn="l"/>
            <a:r>
              <a:rPr lang="en-US" sz="2000" dirty="0"/>
              <a:t>They  can store instructions like sequencing ,timing ,counting ,</a:t>
            </a:r>
            <a:r>
              <a:rPr lang="en-US" sz="2000" dirty="0" err="1"/>
              <a:t>arithmetic,data</a:t>
            </a:r>
            <a:r>
              <a:rPr lang="en-US" sz="2000" dirty="0"/>
              <a:t> manipulation and communication to control industrial machines and processing.</a:t>
            </a:r>
          </a:p>
          <a:p>
            <a:pPr algn="l"/>
            <a:r>
              <a:rPr lang="en-US" sz="2000" dirty="0"/>
              <a:t>In  early 70s  were used as relay replacers in controlling industrial automation..its  operation include ON/OFF control of the machines and process that required repetitive operation such as  transfer lines , grinding  and boring machines</a:t>
            </a:r>
          </a:p>
          <a:p>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7772400" cy="1371599"/>
          </a:xfrm>
        </p:spPr>
        <p:txBody>
          <a:bodyPr/>
          <a:lstStyle/>
          <a:p>
            <a:r>
              <a:rPr lang="en-US" dirty="0">
                <a:latin typeface="Arial Black" pitchFamily="34" charset="0"/>
              </a:rPr>
              <a:t>ADVANCEMENTS</a:t>
            </a:r>
          </a:p>
        </p:txBody>
      </p:sp>
      <p:sp>
        <p:nvSpPr>
          <p:cNvPr id="3" name="Subtitle 2"/>
          <p:cNvSpPr>
            <a:spLocks noGrp="1"/>
          </p:cNvSpPr>
          <p:nvPr>
            <p:ph type="subTitle" idx="1"/>
          </p:nvPr>
        </p:nvSpPr>
        <p:spPr>
          <a:xfrm>
            <a:off x="1371600" y="1676400"/>
            <a:ext cx="6858000" cy="4800600"/>
          </a:xfrm>
        </p:spPr>
        <p:txBody>
          <a:bodyPr>
            <a:normAutofit/>
          </a:bodyPr>
          <a:lstStyle/>
          <a:p>
            <a:pPr algn="l"/>
            <a:r>
              <a:rPr lang="en-US" sz="2000" dirty="0"/>
              <a:t>In advanced  programmable controller in industry, changes occur  in both hardware(physical components) and software(control program). </a:t>
            </a:r>
            <a:r>
              <a:rPr lang="en-US" sz="2000" b="1" i="1" dirty="0"/>
              <a:t>example of hardware  advancement</a:t>
            </a:r>
            <a:endParaRPr lang="en-US" sz="2000" dirty="0"/>
          </a:p>
          <a:p>
            <a:pPr algn="l"/>
            <a:r>
              <a:rPr lang="en-US" sz="2000" b="1" i="1" dirty="0"/>
              <a:t> 1.</a:t>
            </a:r>
            <a:r>
              <a:rPr lang="en-US" sz="2000" dirty="0"/>
              <a:t>Faster scan time using advanced microprocessor and electronics technology</a:t>
            </a:r>
          </a:p>
          <a:p>
            <a:pPr algn="l"/>
            <a:r>
              <a:rPr lang="en-US" sz="2000" dirty="0"/>
              <a:t>2.Small ,low cost PLCs</a:t>
            </a:r>
          </a:p>
          <a:p>
            <a:pPr algn="l"/>
            <a:r>
              <a:rPr lang="en-US" sz="2000" dirty="0"/>
              <a:t>3.High –density I/O system provide  space –efficient interfaces at low cost</a:t>
            </a:r>
          </a:p>
          <a:p>
            <a:pPr algn="l"/>
            <a:endParaRPr lang="en-US" sz="2000" b="1" i="1" dirty="0"/>
          </a:p>
          <a:p>
            <a:endParaRPr lang="en-US" sz="2000" dirty="0"/>
          </a:p>
          <a:p>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1"/>
            <a:ext cx="6477000" cy="990599"/>
          </a:xfrm>
        </p:spPr>
        <p:txBody>
          <a:bodyPr/>
          <a:lstStyle/>
          <a:p>
            <a:endParaRPr lang="en-US" dirty="0"/>
          </a:p>
        </p:txBody>
      </p:sp>
      <p:sp>
        <p:nvSpPr>
          <p:cNvPr id="3" name="Subtitle 2"/>
          <p:cNvSpPr>
            <a:spLocks noGrp="1"/>
          </p:cNvSpPr>
          <p:nvPr>
            <p:ph type="subTitle" idx="1"/>
          </p:nvPr>
        </p:nvSpPr>
        <p:spPr>
          <a:xfrm>
            <a:off x="0" y="1371600"/>
            <a:ext cx="9144000" cy="4267200"/>
          </a:xfrm>
        </p:spPr>
        <p:txBody>
          <a:bodyPr>
            <a:normAutofit/>
          </a:bodyPr>
          <a:lstStyle/>
          <a:p>
            <a:r>
              <a:rPr lang="en-US" b="1" i="1" dirty="0"/>
              <a:t>Example  of software advancement</a:t>
            </a:r>
          </a:p>
          <a:p>
            <a:pPr algn="l"/>
            <a:r>
              <a:rPr lang="en-US" dirty="0"/>
              <a:t>1.PLCs </a:t>
            </a:r>
            <a:r>
              <a:rPr lang="en-US" dirty="0" err="1"/>
              <a:t>incoperate</a:t>
            </a:r>
            <a:r>
              <a:rPr lang="en-US" dirty="0"/>
              <a:t> with OOPs  tools and multiple  languages based on IE 1131-3 </a:t>
            </a:r>
            <a:r>
              <a:rPr lang="en-US" sz="2400" dirty="0"/>
              <a:t>standards</a:t>
            </a:r>
          </a:p>
          <a:p>
            <a:pPr algn="l"/>
            <a:r>
              <a:rPr lang="en-US" dirty="0"/>
              <a:t>2.Small PLCs have been provided with powerful instructions which extend area of application for small controllers</a:t>
            </a:r>
          </a:p>
          <a:p>
            <a:pPr algn="l"/>
            <a:r>
              <a:rPr lang="en-US" dirty="0"/>
              <a:t>3.High level languages  such as BASIC and C have been implemented</a:t>
            </a:r>
          </a:p>
          <a:p>
            <a:pPr algn="l"/>
            <a:r>
              <a:rPr lang="en-US" dirty="0"/>
              <a:t>4.Advanced  functional block instructions have been implemented for ladder diagram  for easy  instruction command.</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Principle of operation</a:t>
            </a:r>
            <a:br>
              <a:rPr lang="en-US" b="1" i="1" dirty="0"/>
            </a:br>
            <a:r>
              <a:rPr lang="en-US" b="1" dirty="0"/>
              <a:t> I/O and the CPU</a:t>
            </a:r>
            <a:endParaRPr lang="en-US" b="1" i="1" dirty="0"/>
          </a:p>
        </p:txBody>
      </p:sp>
      <p:pic>
        <p:nvPicPr>
          <p:cNvPr id="1026" name="Picture 2"/>
          <p:cNvPicPr>
            <a:picLocks noGrp="1" noChangeAspect="1" noChangeArrowheads="1"/>
          </p:cNvPicPr>
          <p:nvPr>
            <p:ph sz="quarter" idx="1"/>
          </p:nvPr>
        </p:nvPicPr>
        <p:blipFill>
          <a:blip r:embed="rId2"/>
          <a:srcRect/>
          <a:stretch>
            <a:fillRect/>
          </a:stretch>
        </p:blipFill>
        <p:spPr bwMode="auto">
          <a:xfrm>
            <a:off x="1524000" y="2133600"/>
            <a:ext cx="6705599" cy="3124199"/>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endParaRPr lang="en-US" dirty="0"/>
          </a:p>
        </p:txBody>
      </p:sp>
      <p:sp>
        <p:nvSpPr>
          <p:cNvPr id="3" name="Content Placeholder 2"/>
          <p:cNvSpPr>
            <a:spLocks noGrp="1"/>
          </p:cNvSpPr>
          <p:nvPr>
            <p:ph sz="quarter" idx="1"/>
          </p:nvPr>
        </p:nvSpPr>
        <p:spPr>
          <a:xfrm>
            <a:off x="457200" y="838200"/>
            <a:ext cx="8229600" cy="5287963"/>
          </a:xfrm>
        </p:spPr>
        <p:txBody>
          <a:bodyPr>
            <a:normAutofit/>
          </a:bodyPr>
          <a:lstStyle/>
          <a:p>
            <a:endParaRPr lang="en-US" dirty="0"/>
          </a:p>
          <a:p>
            <a:r>
              <a:rPr lang="en-US" dirty="0"/>
              <a:t>CPU consist of processor, memory system, and the power supply .it govern all  PLC activities</a:t>
            </a:r>
          </a:p>
          <a:p>
            <a:r>
              <a:rPr lang="en-US" dirty="0"/>
              <a:t>I/O  system are connected to the field device that encountered the machine and may be discrete or analogy such as limit switch, pressure transducers, push buttons, motor starter ,solenoids</a:t>
            </a:r>
          </a:p>
          <a:p>
            <a:r>
              <a:rPr lang="en-US" dirty="0"/>
              <a:t>During operation CPU can 1. read or accept data from inputs 2.excutes or performs ,control program stored  in the memory system 3.wites or updates  the output devices  via output interfaces</a:t>
            </a:r>
          </a:p>
          <a:p>
            <a:endParaRPr lang="en-US" dirty="0"/>
          </a:p>
          <a:p>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r>
              <a:rPr lang="en-US" dirty="0"/>
              <a:t>The whole process of sequentially reading the inputs ,executing the program in the memory and updating the output is known as  scanning</a:t>
            </a:r>
          </a:p>
          <a:p>
            <a:r>
              <a:rPr lang="en-US" dirty="0"/>
              <a:t>Always the programming device or PC are required to enter program into a memory</a:t>
            </a:r>
          </a:p>
          <a:p>
            <a:r>
              <a:rPr lang="en-US" b="1" i="1" dirty="0"/>
              <a:t>Assignment : application of plc  and its ranges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Ladder diagram</a:t>
            </a:r>
          </a:p>
        </p:txBody>
      </p:sp>
      <p:sp>
        <p:nvSpPr>
          <p:cNvPr id="3" name="Content Placeholder 2"/>
          <p:cNvSpPr>
            <a:spLocks noGrp="1"/>
          </p:cNvSpPr>
          <p:nvPr>
            <p:ph sz="quarter" idx="1"/>
          </p:nvPr>
        </p:nvSpPr>
        <p:spPr/>
        <p:txBody>
          <a:bodyPr/>
          <a:lstStyle/>
          <a:p>
            <a:r>
              <a:rPr lang="en-US" dirty="0"/>
              <a:t>It’s a traditional way of representing electrical sequences of operations.</a:t>
            </a:r>
          </a:p>
          <a:p>
            <a:r>
              <a:rPr lang="en-US" dirty="0"/>
              <a:t>It represent the interconnection of field devices in such  a way that the activation or turning ON, of  one device  will turn ON  another device  according to pre determined sequence of events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Example  of </a:t>
            </a:r>
            <a:r>
              <a:rPr lang="en-US" b="1" i="1"/>
              <a:t>simple </a:t>
            </a:r>
            <a:br>
              <a:rPr lang="en-US" b="1" i="1"/>
            </a:br>
            <a:endParaRPr lang="en-US" b="1" i="1" dirty="0"/>
          </a:p>
        </p:txBody>
      </p:sp>
      <p:pic>
        <p:nvPicPr>
          <p:cNvPr id="1026" name="Picture 2"/>
          <p:cNvPicPr>
            <a:picLocks noGrp="1" noChangeAspect="1" noChangeArrowheads="1"/>
          </p:cNvPicPr>
          <p:nvPr>
            <p:ph sz="quarter" idx="1"/>
          </p:nvPr>
        </p:nvPicPr>
        <p:blipFill>
          <a:blip r:embed="rId2"/>
          <a:stretch>
            <a:fillRect/>
          </a:stretch>
        </p:blipFill>
        <p:spPr bwMode="auto">
          <a:xfrm>
            <a:off x="612648" y="2209800"/>
            <a:ext cx="7845552" cy="34290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2103438"/>
          </a:xfrm>
        </p:spPr>
        <p:txBody>
          <a:bodyPr>
            <a:normAutofit/>
          </a:bodyPr>
          <a:lstStyle/>
          <a:p>
            <a:r>
              <a:rPr lang="en-US" sz="2400" b="1" i="1" dirty="0"/>
              <a:t>‘’ transformation  of previous ladder diagram to PLC format.</a:t>
            </a:r>
            <a:r>
              <a:rPr lang="en-US" sz="2400" b="1" dirty="0"/>
              <a:t>‘’.</a:t>
            </a:r>
          </a:p>
        </p:txBody>
      </p:sp>
      <p:sp>
        <p:nvSpPr>
          <p:cNvPr id="3" name="Content Placeholder 2"/>
          <p:cNvSpPr>
            <a:spLocks noGrp="1"/>
          </p:cNvSpPr>
          <p:nvPr>
            <p:ph sz="quarter" idx="1"/>
          </p:nvPr>
        </p:nvSpPr>
        <p:spPr/>
        <p:txBody>
          <a:bodyPr>
            <a:normAutofit/>
          </a:bodyPr>
          <a:lstStyle/>
          <a:p>
            <a:r>
              <a:rPr lang="en-US" dirty="0"/>
              <a:t>Note the real I/O  field devices are connected to input and output interfaces  while the ladder program is implemented in a manner similar to hardwiring inside the PLC ‘s CPU (</a:t>
            </a:r>
            <a:r>
              <a:rPr lang="en-US" dirty="0" err="1"/>
              <a:t>Softwired</a:t>
            </a:r>
            <a:r>
              <a:rPr lang="en-US" dirty="0"/>
              <a:t>) Instead of  hardwired in a panel</a:t>
            </a:r>
          </a:p>
          <a:p>
            <a:r>
              <a:rPr lang="en-US" dirty="0"/>
              <a:t>CPU  reads the status of inputs ,energizes the corresponding </a:t>
            </a:r>
            <a:r>
              <a:rPr lang="en-US" dirty="0" err="1"/>
              <a:t>ckt</a:t>
            </a:r>
            <a:r>
              <a:rPr lang="en-US" dirty="0"/>
              <a:t> element according to the program and controls a real output device via the output interfaces.</a:t>
            </a:r>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PLC format ladder diagram</a:t>
            </a:r>
          </a:p>
        </p:txBody>
      </p:sp>
      <p:pic>
        <p:nvPicPr>
          <p:cNvPr id="2050" name="Picture 2"/>
          <p:cNvPicPr>
            <a:picLocks noGrp="1" noChangeAspect="1" noChangeArrowheads="1"/>
          </p:cNvPicPr>
          <p:nvPr>
            <p:ph sz="quarter" idx="1"/>
          </p:nvPr>
        </p:nvPicPr>
        <p:blipFill>
          <a:blip r:embed="rId2"/>
          <a:stretch>
            <a:fillRect/>
          </a:stretch>
        </p:blipFill>
        <p:spPr bwMode="auto">
          <a:xfrm>
            <a:off x="457200" y="2209801"/>
            <a:ext cx="8077200" cy="35052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Possible  solutions </a:t>
            </a:r>
          </a:p>
        </p:txBody>
      </p:sp>
      <p:sp>
        <p:nvSpPr>
          <p:cNvPr id="3" name="Content Placeholder 2"/>
          <p:cNvSpPr>
            <a:spLocks noGrp="1"/>
          </p:cNvSpPr>
          <p:nvPr>
            <p:ph sz="quarter" idx="1"/>
          </p:nvPr>
        </p:nvSpPr>
        <p:spPr/>
        <p:txBody>
          <a:bodyPr>
            <a:normAutofit/>
          </a:bodyPr>
          <a:lstStyle/>
          <a:p>
            <a:r>
              <a:rPr lang="en-US" dirty="0"/>
              <a:t>For the hardwired  electr.ckt in fig. 1 the pilot light(PL) will </a:t>
            </a:r>
            <a:r>
              <a:rPr lang="en-US" sz="2200" dirty="0"/>
              <a:t>turn</a:t>
            </a:r>
            <a:r>
              <a:rPr lang="en-US" dirty="0"/>
              <a:t>  ON if the limit switch 1(LS1) and push button PB1 or limit switch 2(LS2) closes.</a:t>
            </a:r>
          </a:p>
          <a:p>
            <a:r>
              <a:rPr lang="en-US" dirty="0"/>
              <a:t>For PLC </a:t>
            </a:r>
            <a:r>
              <a:rPr lang="en-US" dirty="0" err="1"/>
              <a:t>ckt</a:t>
            </a:r>
            <a:r>
              <a:rPr lang="en-US" dirty="0"/>
              <a:t> in fig.2 the same series of events will cause the pilot light connected to output module to turn ON.</a:t>
            </a:r>
          </a:p>
          <a:p>
            <a:r>
              <a:rPr lang="en-US" dirty="0"/>
              <a:t>The fig.3  shows possible configurations for the  </a:t>
            </a:r>
            <a:r>
              <a:rPr lang="en-US" dirty="0" err="1"/>
              <a:t>ckt</a:t>
            </a:r>
            <a:r>
              <a:rPr lang="en-US" dirty="0"/>
              <a:t> in fig.1 ,the highlighted blue lines indicate that power is present to that connection point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sz="2400" b="1" i="1" dirty="0"/>
              <a:t>Electric(hardwired) and PLC  </a:t>
            </a:r>
            <a:r>
              <a:rPr lang="en-US" sz="2400" b="1" i="1" dirty="0" err="1"/>
              <a:t>ckt</a:t>
            </a:r>
            <a:r>
              <a:rPr lang="en-US" sz="2400" b="1" i="1" dirty="0"/>
              <a:t>. Illustration  from fig.1&amp;2</a:t>
            </a:r>
          </a:p>
        </p:txBody>
      </p:sp>
      <p:pic>
        <p:nvPicPr>
          <p:cNvPr id="3075" name="Picture 3"/>
          <p:cNvPicPr>
            <a:picLocks noGrp="1" noChangeAspect="1" noChangeArrowheads="1"/>
          </p:cNvPicPr>
          <p:nvPr>
            <p:ph sz="quarter" idx="1"/>
          </p:nvPr>
        </p:nvPicPr>
        <p:blipFill>
          <a:blip r:embed="rId2"/>
          <a:srcRect/>
          <a:stretch>
            <a:fillRect/>
          </a:stretch>
        </p:blipFill>
        <p:spPr bwMode="auto">
          <a:xfrm>
            <a:off x="457200" y="685800"/>
            <a:ext cx="7924800" cy="61722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sz="2000" dirty="0"/>
              <a:t>Cont..</a:t>
            </a:r>
          </a:p>
        </p:txBody>
      </p:sp>
      <p:pic>
        <p:nvPicPr>
          <p:cNvPr id="4098" name="Picture 2"/>
          <p:cNvPicPr>
            <a:picLocks noGrp="1" noChangeAspect="1" noChangeArrowheads="1"/>
          </p:cNvPicPr>
          <p:nvPr>
            <p:ph sz="quarter" idx="1"/>
          </p:nvPr>
        </p:nvPicPr>
        <p:blipFill>
          <a:blip r:embed="rId2"/>
          <a:srcRect/>
          <a:stretch>
            <a:fillRect/>
          </a:stretch>
        </p:blipFill>
        <p:spPr bwMode="auto">
          <a:xfrm>
            <a:off x="914400" y="1143000"/>
            <a:ext cx="7772400" cy="4724399"/>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PLCs</a:t>
            </a:r>
          </a:p>
        </p:txBody>
      </p:sp>
      <p:sp>
        <p:nvSpPr>
          <p:cNvPr id="3" name="Content Placeholder 2"/>
          <p:cNvSpPr>
            <a:spLocks noGrp="1"/>
          </p:cNvSpPr>
          <p:nvPr>
            <p:ph sz="quarter" idx="1"/>
          </p:nvPr>
        </p:nvSpPr>
        <p:spPr/>
        <p:txBody>
          <a:bodyPr>
            <a:normAutofit/>
          </a:bodyPr>
          <a:lstStyle/>
          <a:p>
            <a:r>
              <a:rPr lang="en-US" dirty="0"/>
              <a:t>Generally PLC architecture is modular and flexible, allowing hardware and software elements to expand as the application require changes </a:t>
            </a:r>
            <a:r>
              <a:rPr lang="en-US" dirty="0" err="1"/>
              <a:t>i.e</a:t>
            </a:r>
            <a:r>
              <a:rPr lang="en-US" dirty="0"/>
              <a:t> for large application  the  small unit can be easily replaced with a unit having greater memory and I/O  Capacity.</a:t>
            </a:r>
          </a:p>
          <a:p>
            <a:r>
              <a:rPr lang="en-US" dirty="0"/>
              <a:t>Provides many benefits to control system  from reliability and  repeatability </a:t>
            </a:r>
            <a:r>
              <a:rPr lang="en-US"/>
              <a:t>to programmability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400" b="1" dirty="0">
                <a:latin typeface="Arial"/>
              </a:rPr>
              <a:t>T</a:t>
            </a:r>
            <a:r>
              <a:rPr lang="en-US" b="1" dirty="0">
                <a:latin typeface="Arial"/>
              </a:rPr>
              <a:t>HE </a:t>
            </a:r>
            <a:r>
              <a:rPr lang="en-US" sz="5400" b="1" dirty="0">
                <a:latin typeface="Arial"/>
              </a:rPr>
              <a:t>M</a:t>
            </a:r>
            <a:r>
              <a:rPr lang="en-US" b="1" dirty="0">
                <a:latin typeface="Arial"/>
              </a:rPr>
              <a:t>EMORY </a:t>
            </a:r>
            <a:r>
              <a:rPr lang="en-US" sz="5400" b="1" dirty="0">
                <a:latin typeface="Arial"/>
              </a:rPr>
              <a:t>S</a:t>
            </a:r>
            <a:r>
              <a:rPr lang="en-US" b="1" dirty="0">
                <a:latin typeface="Arial"/>
              </a:rPr>
              <a:t>YSTEM AND</a:t>
            </a:r>
            <a:br>
              <a:rPr lang="en-US" b="1" dirty="0">
                <a:latin typeface="Arial"/>
              </a:rPr>
            </a:br>
            <a:r>
              <a:rPr lang="en-US" sz="5400" b="1" dirty="0">
                <a:latin typeface="Arial"/>
              </a:rPr>
              <a:t>I/O I</a:t>
            </a:r>
            <a:r>
              <a:rPr lang="en-US" b="1" dirty="0">
                <a:latin typeface="Arial"/>
              </a:rPr>
              <a:t>NTERACTION</a:t>
            </a:r>
            <a:endParaRPr lang="en-US" dirty="0"/>
          </a:p>
        </p:txBody>
      </p:sp>
      <p:sp>
        <p:nvSpPr>
          <p:cNvPr id="3" name="Content Placeholder 2"/>
          <p:cNvSpPr>
            <a:spLocks noGrp="1"/>
          </p:cNvSpPr>
          <p:nvPr>
            <p:ph sz="quarter" idx="1"/>
          </p:nvPr>
        </p:nvSpPr>
        <p:spPr/>
        <p:txBody>
          <a:bodyPr>
            <a:normAutofit/>
          </a:bodyPr>
          <a:lstStyle/>
          <a:p>
            <a:r>
              <a:rPr lang="en-US" dirty="0"/>
              <a:t>The </a:t>
            </a:r>
            <a:r>
              <a:rPr lang="en-US" b="1" dirty="0"/>
              <a:t>memory system </a:t>
            </a:r>
            <a:r>
              <a:rPr lang="en-US" dirty="0"/>
              <a:t>is the area in the PLC’s CPU where all of the sequences of instructions, or </a:t>
            </a:r>
            <a:r>
              <a:rPr lang="en-US" i="1" dirty="0"/>
              <a:t>programs, are stored and executed by the processor to provide the desired </a:t>
            </a:r>
            <a:r>
              <a:rPr lang="en-US" dirty="0"/>
              <a:t>control of field devices</a:t>
            </a:r>
          </a:p>
          <a:p>
            <a:r>
              <a:rPr lang="en-US" dirty="0"/>
              <a:t>The memory sections that contain the control programs can be changed, or reprogrammed to adapt to manufacturing line procedure changes or new system start-up requirements.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Autofit/>
          </a:bodyPr>
          <a:lstStyle/>
          <a:p>
            <a:r>
              <a:rPr lang="en-US" sz="3200" dirty="0"/>
              <a:t>The total memory system in a PLC is actually composed of two different memories </a:t>
            </a:r>
          </a:p>
        </p:txBody>
      </p:sp>
      <p:sp>
        <p:nvSpPr>
          <p:cNvPr id="3" name="Content Placeholder 2"/>
          <p:cNvSpPr>
            <a:spLocks noGrp="1"/>
          </p:cNvSpPr>
          <p:nvPr>
            <p:ph sz="quarter" idx="1"/>
          </p:nvPr>
        </p:nvSpPr>
        <p:spPr>
          <a:xfrm>
            <a:off x="457200" y="1600200"/>
            <a:ext cx="8229600" cy="5257800"/>
          </a:xfrm>
        </p:spPr>
        <p:txBody>
          <a:bodyPr>
            <a:normAutofit/>
          </a:bodyPr>
          <a:lstStyle/>
          <a:p>
            <a:r>
              <a:rPr lang="en-US" sz="2400" dirty="0"/>
              <a:t> </a:t>
            </a:r>
            <a:r>
              <a:rPr lang="en-US" sz="2800" dirty="0"/>
              <a:t>the executive memory</a:t>
            </a:r>
          </a:p>
          <a:p>
            <a:r>
              <a:rPr lang="en-US" sz="2800" dirty="0"/>
              <a:t> the application memory</a:t>
            </a:r>
          </a:p>
          <a:p>
            <a:r>
              <a:rPr lang="en-US" sz="2800" dirty="0"/>
              <a:t>The </a:t>
            </a:r>
            <a:r>
              <a:rPr lang="en-US" sz="2800" b="1" dirty="0"/>
              <a:t>executive memory </a:t>
            </a:r>
            <a:r>
              <a:rPr lang="en-US" sz="2800" dirty="0"/>
              <a:t>is a collection of permanently stored programs that are considered part of the PLC itself. </a:t>
            </a:r>
          </a:p>
          <a:p>
            <a:r>
              <a:rPr lang="en-US" sz="2800" dirty="0"/>
              <a:t>These supervisory programs direct all system activities, such as execution of the control program and communication with peripheral devices(i.e., relay instructions, block transfer functions, math instructions, etc.). This area of memory is not accessible to the user.</a:t>
            </a:r>
          </a:p>
          <a:p>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sz="quarter" idx="1"/>
          </p:nvPr>
        </p:nvSpPr>
        <p:spPr/>
        <p:txBody>
          <a:bodyPr>
            <a:normAutofit fontScale="77500" lnSpcReduction="20000"/>
          </a:bodyPr>
          <a:lstStyle/>
          <a:p>
            <a:r>
              <a:rPr lang="en-US" dirty="0"/>
              <a:t>The </a:t>
            </a:r>
            <a:r>
              <a:rPr lang="en-US" b="1" dirty="0"/>
              <a:t>application memory </a:t>
            </a:r>
            <a:r>
              <a:rPr lang="en-US" dirty="0"/>
              <a:t>provides a storage area for the user-programmed instructions that form the application program. The application memory area is composed of several areas, each having a specific function and usage. The storage and retrieval requirements for the executive and application</a:t>
            </a:r>
          </a:p>
          <a:p>
            <a:r>
              <a:rPr lang="en-US" dirty="0"/>
              <a:t>memory sections are not the same; therefore, they are not always stored in the</a:t>
            </a:r>
          </a:p>
          <a:p>
            <a:r>
              <a:rPr lang="en-US" dirty="0"/>
              <a:t>same type of memory. For example, the executive requires a memory that</a:t>
            </a:r>
          </a:p>
          <a:p>
            <a:r>
              <a:rPr lang="en-US" dirty="0"/>
              <a:t>permanently stores its contents and cannot be erased or altered either by loss</a:t>
            </a:r>
          </a:p>
          <a:p>
            <a:r>
              <a:rPr lang="en-US" dirty="0"/>
              <a:t>of electrical power or by the user. This type of memory is often unsuitable for</a:t>
            </a:r>
          </a:p>
          <a:p>
            <a:r>
              <a:rPr lang="en-US" dirty="0"/>
              <a:t>the application program.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Memory can be separated into two categories</a:t>
            </a:r>
          </a:p>
        </p:txBody>
      </p:sp>
      <p:sp>
        <p:nvSpPr>
          <p:cNvPr id="3" name="Content Placeholder 2"/>
          <p:cNvSpPr>
            <a:spLocks noGrp="1"/>
          </p:cNvSpPr>
          <p:nvPr>
            <p:ph sz="quarter" idx="1"/>
          </p:nvPr>
        </p:nvSpPr>
        <p:spPr/>
        <p:txBody>
          <a:bodyPr>
            <a:normAutofit/>
          </a:bodyPr>
          <a:lstStyle/>
          <a:p>
            <a:r>
              <a:rPr lang="en-US" sz="2200" b="1" dirty="0"/>
              <a:t>Volatile memory</a:t>
            </a:r>
            <a:r>
              <a:rPr lang="en-US" sz="2200" dirty="0"/>
              <a:t> loses its programmed contents if all operating power is lost or removed, whether it is normal power or some form of backup power </a:t>
            </a:r>
          </a:p>
          <a:p>
            <a:r>
              <a:rPr lang="en-US" sz="2200" dirty="0"/>
              <a:t>Volatile memory is easily altered and quite suitable for most applications when supported by battery backup and possibly a disk copy of the program.</a:t>
            </a:r>
          </a:p>
          <a:p>
            <a:r>
              <a:rPr lang="en-US" sz="2200" b="1" dirty="0"/>
              <a:t> Nonvolatile memory </a:t>
            </a:r>
            <a:r>
              <a:rPr lang="en-US" sz="2200" dirty="0"/>
              <a:t>retains its programmed contents, even during a complete loss of operating power, without requiring a backup source. Nonvolatile memory generally is unalterable, yet there are special nonvolatile memory types that are alterable. Today’s PLCs include those that use nonvolatile memory, those that use volatile memory with battery backup, as well as those that offer both.</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Input &amp;Output devices</a:t>
            </a:r>
          </a:p>
        </p:txBody>
      </p:sp>
      <p:sp>
        <p:nvSpPr>
          <p:cNvPr id="3" name="Content Placeholder 2"/>
          <p:cNvSpPr>
            <a:spLocks noGrp="1"/>
          </p:cNvSpPr>
          <p:nvPr>
            <p:ph sz="quarter" idx="1"/>
          </p:nvPr>
        </p:nvSpPr>
        <p:spPr/>
        <p:txBody>
          <a:bodyPr>
            <a:normAutofit/>
          </a:bodyPr>
          <a:lstStyle/>
          <a:p>
            <a:r>
              <a:rPr lang="en-US" sz="2800" dirty="0"/>
              <a:t>The input devices include digital and analogue devices such as mechanical switches for position detection, proximity switches, photoelectric switches, encoders, temperature and pressure switches, potentiometers, linear variable differential transformers, strain gauges, thermistors, thermo transistors and thermocouples.</a:t>
            </a:r>
          </a:p>
          <a:p>
            <a:r>
              <a:rPr lang="en-US" sz="2800" dirty="0"/>
              <a:t> Output devices considered include </a:t>
            </a:r>
            <a:r>
              <a:rPr lang="en-US" sz="2800" dirty="0" err="1"/>
              <a:t>relays,contactors,solenoid</a:t>
            </a:r>
            <a:r>
              <a:rPr lang="en-US" sz="2800" dirty="0"/>
              <a:t> valves and motors.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Devices</a:t>
            </a:r>
          </a:p>
        </p:txBody>
      </p:sp>
      <p:sp>
        <p:nvSpPr>
          <p:cNvPr id="3" name="Content Placeholder 2"/>
          <p:cNvSpPr>
            <a:spLocks noGrp="1"/>
          </p:cNvSpPr>
          <p:nvPr>
            <p:ph sz="quarter" idx="1"/>
          </p:nvPr>
        </p:nvSpPr>
        <p:spPr/>
        <p:txBody>
          <a:bodyPr>
            <a:normAutofit fontScale="92500"/>
          </a:bodyPr>
          <a:lstStyle/>
          <a:p>
            <a:r>
              <a:rPr lang="en-US" dirty="0"/>
              <a:t>The term </a:t>
            </a:r>
            <a:r>
              <a:rPr lang="en-US" i="1" dirty="0"/>
              <a:t>sensor is used for an input device that provides a usable output </a:t>
            </a:r>
            <a:r>
              <a:rPr lang="en-US" dirty="0"/>
              <a:t>in response to a specified physical input. For example, a thermocouple is a sensor which converts a temperature difference into an electrical output.</a:t>
            </a:r>
          </a:p>
          <a:p>
            <a:r>
              <a:rPr lang="en-US" dirty="0"/>
              <a:t>Sensors which give digital/discrete, i.e. on−off, outputs can be easily connected to the input ports of PLCs.</a:t>
            </a:r>
          </a:p>
          <a:p>
            <a:r>
              <a:rPr lang="en-US" dirty="0"/>
              <a:t> Sensors which give analogue signals have to be converted to digital signals before inputting them to PLC ports.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Examples Of Some Of The Commonly Used PLC Input</a:t>
            </a:r>
            <a:br>
              <a:rPr lang="en-US" sz="2400" b="1" dirty="0"/>
            </a:br>
            <a:r>
              <a:rPr lang="en-US" sz="2400" b="1" dirty="0"/>
              <a:t>Devices And Their Sensors.</a:t>
            </a:r>
          </a:p>
        </p:txBody>
      </p:sp>
      <p:sp>
        <p:nvSpPr>
          <p:cNvPr id="3" name="Content Placeholder 2"/>
          <p:cNvSpPr>
            <a:spLocks noGrp="1"/>
          </p:cNvSpPr>
          <p:nvPr>
            <p:ph sz="quarter" idx="1"/>
          </p:nvPr>
        </p:nvSpPr>
        <p:spPr>
          <a:xfrm>
            <a:off x="457200" y="1143000"/>
            <a:ext cx="8229600" cy="5715000"/>
          </a:xfrm>
        </p:spPr>
        <p:txBody>
          <a:bodyPr>
            <a:normAutofit/>
          </a:bodyPr>
          <a:lstStyle/>
          <a:p>
            <a:pPr>
              <a:buNone/>
            </a:pPr>
            <a:r>
              <a:rPr lang="en-US" b="1" dirty="0"/>
              <a:t>1</a:t>
            </a:r>
            <a:r>
              <a:rPr lang="en-US" sz="2400" b="1" dirty="0"/>
              <a:t>.  Mechanical switches</a:t>
            </a:r>
          </a:p>
          <a:p>
            <a:r>
              <a:rPr lang="en-US" sz="2400" dirty="0"/>
              <a:t>A mechanical switch generates an on−off signal or signals as a result of some mechanical input causing the switch to open or close. </a:t>
            </a:r>
          </a:p>
          <a:p>
            <a:r>
              <a:rPr lang="en-US" sz="2400" dirty="0"/>
              <a:t>Such a switch might be used to indicate the presence of a work piece on a machining table, the work piece pressing against the switch and so closing it. </a:t>
            </a:r>
          </a:p>
          <a:p>
            <a:r>
              <a:rPr lang="en-US" sz="2400" dirty="0"/>
              <a:t>The absence of the work piece is indicated by the switch being open and its presence by it being closed</a:t>
            </a:r>
          </a:p>
          <a:p>
            <a:r>
              <a:rPr lang="en-US" sz="2400" dirty="0"/>
              <a:t>Example on the fig (a),shows the input signals to a single input channel of the PLC  with its logic levels</a:t>
            </a:r>
          </a:p>
          <a:p>
            <a:pPr>
              <a:buNone/>
            </a:pPr>
            <a:r>
              <a:rPr lang="en-US" sz="2400" dirty="0"/>
              <a:t>              work piece not present  0</a:t>
            </a:r>
          </a:p>
          <a:p>
            <a:pPr>
              <a:buNone/>
            </a:pPr>
            <a:r>
              <a:rPr lang="en-US" sz="2400" dirty="0"/>
              <a:t>              work piece present         1</a:t>
            </a:r>
          </a:p>
          <a:p>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1027" name="Picture 3"/>
          <p:cNvPicPr>
            <a:picLocks noGrp="1" noChangeAspect="1" noChangeArrowheads="1"/>
          </p:cNvPicPr>
          <p:nvPr>
            <p:ph sz="quarter" idx="1"/>
          </p:nvPr>
        </p:nvPicPr>
        <p:blipFill>
          <a:blip r:embed="rId2"/>
          <a:srcRect/>
          <a:stretch>
            <a:fillRect/>
          </a:stretch>
        </p:blipFill>
        <p:spPr bwMode="auto">
          <a:xfrm>
            <a:off x="914401" y="1524000"/>
            <a:ext cx="7620000" cy="41148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524000"/>
          </a:xfrm>
        </p:spPr>
        <p:txBody>
          <a:bodyPr>
            <a:normAutofit fontScale="90000"/>
          </a:bodyPr>
          <a:lstStyle/>
          <a:p>
            <a:pPr algn="l"/>
            <a:r>
              <a:rPr lang="en-US" sz="2700" dirty="0"/>
              <a:t>From the prev. Slide fig.</a:t>
            </a:r>
            <a:br>
              <a:rPr lang="en-US" sz="2700" dirty="0"/>
            </a:br>
            <a:r>
              <a:rPr lang="en-US" sz="2700" dirty="0"/>
              <a:t>The 1 level might correspond to a 24 V </a:t>
            </a:r>
            <a:r>
              <a:rPr lang="en-US" sz="2700" dirty="0" err="1"/>
              <a:t>d.c</a:t>
            </a:r>
            <a:r>
              <a:rPr lang="en-US" sz="2700" dirty="0"/>
              <a:t>. input, the 0 to a 0 V input</a:t>
            </a:r>
            <a:br>
              <a:rPr lang="en-US" dirty="0"/>
            </a:br>
            <a:endParaRPr lang="en-US" dirty="0"/>
          </a:p>
        </p:txBody>
      </p:sp>
      <p:sp>
        <p:nvSpPr>
          <p:cNvPr id="3" name="Content Placeholder 2"/>
          <p:cNvSpPr>
            <a:spLocks noGrp="1"/>
          </p:cNvSpPr>
          <p:nvPr>
            <p:ph sz="quarter" idx="1"/>
          </p:nvPr>
        </p:nvSpPr>
        <p:spPr>
          <a:xfrm>
            <a:off x="457200" y="1600200"/>
            <a:ext cx="8382000" cy="5257800"/>
          </a:xfrm>
        </p:spPr>
        <p:txBody>
          <a:bodyPr>
            <a:noAutofit/>
          </a:bodyPr>
          <a:lstStyle/>
          <a:p>
            <a:r>
              <a:rPr lang="en-US" sz="2400" dirty="0"/>
              <a:t>With the arrangement shown in Figure (b), when the switch is open the supply voltage is applied to the PLC input, when the switch is closed the input voltage drops to a low value. The logic levels are thus:</a:t>
            </a:r>
          </a:p>
          <a:p>
            <a:r>
              <a:rPr lang="en-US" sz="2400" dirty="0"/>
              <a:t>Work piece not present 1</a:t>
            </a:r>
          </a:p>
          <a:p>
            <a:r>
              <a:rPr lang="en-US" sz="2400" dirty="0"/>
              <a:t>Work piece present        0</a:t>
            </a:r>
          </a:p>
          <a:p>
            <a:r>
              <a:rPr lang="en-US" sz="2400" dirty="0"/>
              <a:t>Switches are available with </a:t>
            </a:r>
            <a:r>
              <a:rPr lang="en-US" sz="2400" i="1" dirty="0"/>
              <a:t>normally open (NO) or normally closed (NC) contacts or can be configured as either by choice of the relevant </a:t>
            </a:r>
            <a:r>
              <a:rPr lang="en-US" sz="2400" dirty="0"/>
              <a:t>contacts. An NO switch has its contacts open in the absence of a mechanical input and the mechanical input is used to close the switch.</a:t>
            </a:r>
          </a:p>
          <a:p>
            <a:r>
              <a:rPr lang="en-US" sz="2400" dirty="0"/>
              <a:t> An NC switch has its contacts closed in the absence of a mechanical input and the mechanical input is used to open the switch.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b="1" dirty="0"/>
              <a:t>2.Proximity switches</a:t>
            </a:r>
            <a:endParaRPr lang="en-US" sz="2400" dirty="0"/>
          </a:p>
        </p:txBody>
      </p:sp>
      <p:sp>
        <p:nvSpPr>
          <p:cNvPr id="3" name="Content Placeholder 2"/>
          <p:cNvSpPr>
            <a:spLocks noGrp="1"/>
          </p:cNvSpPr>
          <p:nvPr>
            <p:ph sz="quarter" idx="1"/>
          </p:nvPr>
        </p:nvSpPr>
        <p:spPr/>
        <p:txBody>
          <a:bodyPr>
            <a:normAutofit/>
          </a:bodyPr>
          <a:lstStyle/>
          <a:p>
            <a:r>
              <a:rPr lang="en-US" sz="2400" dirty="0"/>
              <a:t>Proximity switches are used to detect the presence of an item without making contact with it. There are a number of forms of such switches, some being only suitable for metallic objects. The </a:t>
            </a:r>
            <a:r>
              <a:rPr lang="en-US" sz="2400" i="1" dirty="0"/>
              <a:t>eddy current type of proximity switch has a coil which is energised </a:t>
            </a:r>
            <a:r>
              <a:rPr lang="en-US" sz="2400" dirty="0"/>
              <a:t>by a constant alternating current and produces a constant alternating magnetic field. When a metallic object is close to it, eddy currents &amp; voltage are induced in it.</a:t>
            </a:r>
          </a:p>
          <a:p>
            <a:r>
              <a:rPr lang="en-US" sz="2400" dirty="0"/>
              <a:t>The voltage can be used to activate an electronic switch circuit, basically a transistor which has its output switched from low to high by the voltage change, and so give an on−off device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3.Photoelectric sensors and switches</a:t>
            </a:r>
            <a:endParaRPr lang="en-US" dirty="0"/>
          </a:p>
        </p:txBody>
      </p:sp>
      <p:sp>
        <p:nvSpPr>
          <p:cNvPr id="3" name="Content Placeholder 2"/>
          <p:cNvSpPr>
            <a:spLocks noGrp="1"/>
          </p:cNvSpPr>
          <p:nvPr>
            <p:ph sz="quarter" idx="1"/>
          </p:nvPr>
        </p:nvSpPr>
        <p:spPr>
          <a:xfrm>
            <a:off x="457200" y="1295400"/>
            <a:ext cx="8229600" cy="4830763"/>
          </a:xfrm>
        </p:spPr>
        <p:txBody>
          <a:bodyPr>
            <a:normAutofit lnSpcReduction="10000"/>
          </a:bodyPr>
          <a:lstStyle/>
          <a:p>
            <a:r>
              <a:rPr lang="en-US" sz="2400" dirty="0"/>
              <a:t>Photoelectric switch devices can either operate as </a:t>
            </a:r>
            <a:r>
              <a:rPr lang="en-US" sz="2400" i="1" dirty="0"/>
              <a:t>transmissive types </a:t>
            </a:r>
            <a:r>
              <a:rPr lang="en-US" sz="2400" dirty="0"/>
              <a:t>where the object being detected breaks a beam of light, usually infrared radiation, and stops it reaching the detector or </a:t>
            </a:r>
            <a:r>
              <a:rPr lang="en-US" sz="2400" i="1" dirty="0"/>
              <a:t>reflective types where the object being detected reflects a beam of light onto the </a:t>
            </a:r>
            <a:r>
              <a:rPr lang="en-US" sz="2400" dirty="0"/>
              <a:t>detector</a:t>
            </a:r>
          </a:p>
          <a:p>
            <a:r>
              <a:rPr lang="en-US" sz="2400" dirty="0"/>
              <a:t>In both types the radiation emitter is generally a </a:t>
            </a:r>
            <a:r>
              <a:rPr lang="en-US" sz="2400" i="1" dirty="0"/>
              <a:t>light-emitting diode (LED). The radiation detector might be a phototransistor, </a:t>
            </a:r>
            <a:r>
              <a:rPr lang="en-US" sz="2400" dirty="0"/>
              <a:t>often a pair of transistors, known as a </a:t>
            </a:r>
            <a:r>
              <a:rPr lang="en-US" sz="2400" i="1" dirty="0"/>
              <a:t>Darlington pair. The </a:t>
            </a:r>
            <a:r>
              <a:rPr lang="en-US" sz="2400" dirty="0"/>
              <a:t>Darlington pair increases the sensitivity. Depending on the circuit used, the output can be made to switch to either high or low when light strikes the transistor. Such sensors are supplied as packages for sensing the presence of objects at close range, typically at less than about 5 mm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lstStyle/>
          <a:p>
            <a:endParaRPr lang="en-US" dirty="0"/>
          </a:p>
        </p:txBody>
      </p:sp>
      <p:pic>
        <p:nvPicPr>
          <p:cNvPr id="2050" name="Picture 2"/>
          <p:cNvPicPr>
            <a:picLocks noGrp="1" noChangeAspect="1" noChangeArrowheads="1"/>
          </p:cNvPicPr>
          <p:nvPr>
            <p:ph sz="quarter" idx="1"/>
          </p:nvPr>
        </p:nvPicPr>
        <p:blipFill>
          <a:blip r:embed="rId2"/>
          <a:srcRect/>
          <a:stretch>
            <a:fillRect/>
          </a:stretch>
        </p:blipFill>
        <p:spPr bwMode="auto">
          <a:xfrm>
            <a:off x="990600" y="1905000"/>
            <a:ext cx="3429000" cy="21336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4724400" y="1905000"/>
            <a:ext cx="3810000" cy="1981200"/>
          </a:xfrm>
          <a:prstGeom prst="rect">
            <a:avLst/>
          </a:prstGeom>
          <a:noFill/>
          <a:ln w="9525">
            <a:noFill/>
            <a:miter lim="800000"/>
            <a:headEnd/>
            <a:tailEnd/>
          </a:ln>
          <a:effectLst/>
        </p:spPr>
      </p:pic>
      <p:sp>
        <p:nvSpPr>
          <p:cNvPr id="6" name="Rectangle 5"/>
          <p:cNvSpPr/>
          <p:nvPr/>
        </p:nvSpPr>
        <p:spPr>
          <a:xfrm>
            <a:off x="228600" y="4038600"/>
            <a:ext cx="8915400" cy="2308324"/>
          </a:xfrm>
          <a:prstGeom prst="rect">
            <a:avLst/>
          </a:prstGeom>
        </p:spPr>
        <p:txBody>
          <a:bodyPr wrap="square">
            <a:spAutoFit/>
          </a:bodyPr>
          <a:lstStyle/>
          <a:p>
            <a:r>
              <a:rPr lang="en-US" sz="2400" dirty="0"/>
              <a:t>With the above sensors, light is converted to a current, voltage or resistance change. If the output is to be used as a measure of the intensity of the light, rather than just the presence or absence of some object in the light path, the signal will need amplification and then conversion from analogue to digital by an analogue-to-digital converter.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a:t>
            </a:r>
            <a:r>
              <a:rPr lang="en-US" b="1" dirty="0"/>
              <a:t> Encoders</a:t>
            </a:r>
            <a:endParaRPr lang="en-US" dirty="0"/>
          </a:p>
        </p:txBody>
      </p:sp>
      <p:sp>
        <p:nvSpPr>
          <p:cNvPr id="3" name="Content Placeholder 2"/>
          <p:cNvSpPr>
            <a:spLocks noGrp="1"/>
          </p:cNvSpPr>
          <p:nvPr>
            <p:ph sz="quarter" idx="1"/>
          </p:nvPr>
        </p:nvSpPr>
        <p:spPr/>
        <p:txBody>
          <a:bodyPr>
            <a:normAutofit lnSpcReduction="10000"/>
          </a:bodyPr>
          <a:lstStyle/>
          <a:p>
            <a:r>
              <a:rPr lang="en-US" sz="2400" dirty="0"/>
              <a:t>The term </a:t>
            </a:r>
            <a:r>
              <a:rPr lang="en-US" sz="2400" i="1" dirty="0"/>
              <a:t>encoder is used for a device that provides a digital output as a </a:t>
            </a:r>
            <a:r>
              <a:rPr lang="en-US" sz="2400" dirty="0"/>
              <a:t>result of angular or linear displacement. </a:t>
            </a:r>
          </a:p>
          <a:p>
            <a:r>
              <a:rPr lang="en-US" sz="2400" dirty="0"/>
              <a:t>An </a:t>
            </a:r>
            <a:r>
              <a:rPr lang="en-US" sz="2400" b="1" i="1" dirty="0"/>
              <a:t>increment encoder </a:t>
            </a:r>
            <a:r>
              <a:rPr lang="en-US" sz="2400" i="1" dirty="0"/>
              <a:t>detects </a:t>
            </a:r>
            <a:r>
              <a:rPr lang="en-US" sz="2400" dirty="0"/>
              <a:t>changes in angular or linear displacement from some datum position, while an </a:t>
            </a:r>
            <a:r>
              <a:rPr lang="en-US" sz="2400" i="1" dirty="0"/>
              <a:t>absolute encoder gives the actual angular or linear position.</a:t>
            </a:r>
          </a:p>
          <a:p>
            <a:r>
              <a:rPr lang="en-US" sz="2400" dirty="0"/>
              <a:t>The Fig . On next slide shows the basic form of an </a:t>
            </a:r>
            <a:r>
              <a:rPr lang="en-US" sz="2400" i="1" dirty="0"/>
              <a:t>incremental encoder for the </a:t>
            </a:r>
            <a:r>
              <a:rPr lang="en-US" sz="2400" dirty="0"/>
              <a:t>measurement of angular displacement. A beam of light, from perhaps a light-emitting diode (LED), passes through slots in a disc and is detected by a light sensor, e.g. a photodiode or phototransistor. When the disc rotates, the light beam is alternately transmitted and stopped and so a pulsed output is produced from the light sensor. </a:t>
            </a:r>
          </a:p>
          <a:p>
            <a:pPr>
              <a:buNone/>
            </a:pP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098" name="Picture 2"/>
          <p:cNvPicPr>
            <a:picLocks noGrp="1" noChangeAspect="1" noChangeArrowheads="1"/>
          </p:cNvPicPr>
          <p:nvPr>
            <p:ph sz="quarter" idx="1"/>
          </p:nvPr>
        </p:nvPicPr>
        <p:blipFill>
          <a:blip r:embed="rId2"/>
          <a:srcRect/>
          <a:stretch>
            <a:fillRect/>
          </a:stretch>
        </p:blipFill>
        <p:spPr bwMode="auto">
          <a:xfrm>
            <a:off x="1143000" y="1752600"/>
            <a:ext cx="6934200" cy="34290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normAutofit fontScale="85000" lnSpcReduction="10000"/>
          </a:bodyPr>
          <a:lstStyle/>
          <a:p>
            <a:r>
              <a:rPr lang="en-US" sz="2400" dirty="0"/>
              <a:t>The </a:t>
            </a:r>
            <a:r>
              <a:rPr lang="en-US" sz="2400" i="1" dirty="0"/>
              <a:t>absolute encoder differs from the incremental encoder in having a </a:t>
            </a:r>
            <a:r>
              <a:rPr lang="en-US" sz="2400" dirty="0"/>
              <a:t>pattern of slots which uniquely defines each angular position. With the form shown in Figure on next slide</a:t>
            </a:r>
          </a:p>
          <a:p>
            <a:r>
              <a:rPr lang="en-US" sz="2400" dirty="0"/>
              <a:t>the rotating disc has four concentric circles of slots and four sensors to detect the light pulses. The slots are arranged in such a way that the sequential output from the sensors is a number in the binary code, each such number corresponding to a particular angular position. With 4 tracks there will be 4 bits and so the number of positions that can be detected is 2^4 = 16, i.e. a resolution of 360/16 = 22.5^o. Typical</a:t>
            </a:r>
          </a:p>
          <a:p>
            <a:r>
              <a:rPr lang="en-US" sz="2400" dirty="0"/>
              <a:t>encoders tend to have up to 10 or 12 tracks. The number of bits in the</a:t>
            </a:r>
          </a:p>
          <a:p>
            <a:r>
              <a:rPr lang="en-US" sz="2400" dirty="0"/>
              <a:t>binary number will be equal to the number of tracks. Thus with 10 tracks</a:t>
            </a:r>
          </a:p>
          <a:p>
            <a:r>
              <a:rPr lang="en-US" sz="2400" dirty="0"/>
              <a:t>there will be 10 bits and so the number of positions that can be detected is 2^10, i.e. 1024, a resolution of 360/1024 = 0.35 ^o.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122" name="Picture 2"/>
          <p:cNvPicPr>
            <a:picLocks noGrp="1" noChangeAspect="1" noChangeArrowheads="1"/>
          </p:cNvPicPr>
          <p:nvPr>
            <p:ph sz="quarter" idx="1"/>
          </p:nvPr>
        </p:nvPicPr>
        <p:blipFill>
          <a:blip r:embed="rId2"/>
          <a:stretch>
            <a:fillRect/>
          </a:stretch>
        </p:blipFill>
        <p:spPr bwMode="auto">
          <a:xfrm>
            <a:off x="2527300" y="2576512"/>
            <a:ext cx="4324350" cy="2543175"/>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normAutofit/>
          </a:bodyPr>
          <a:lstStyle/>
          <a:p>
            <a:r>
              <a:rPr lang="en-US" i="1" dirty="0"/>
              <a:t>The rotating wheel of the absolute encoder. Note that though the normal form of binary code is shown in the above figure, in practice a modified form of binary code called the Gray code is generally used. </a:t>
            </a:r>
          </a:p>
          <a:p>
            <a:r>
              <a:rPr lang="en-US" i="1" dirty="0"/>
              <a:t>This code, unlike normal binary, has only one bit changing in moving from one number to the next. Thus we have the sequence 0000, 0001, 0011,</a:t>
            </a:r>
          </a:p>
          <a:p>
            <a:r>
              <a:rPr lang="en-US" i="1" dirty="0"/>
              <a:t>0010, 0011, 0111, 0101, 0100, 1100, 1101, 1111.</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DEVICES</a:t>
            </a:r>
          </a:p>
        </p:txBody>
      </p:sp>
      <p:sp>
        <p:nvSpPr>
          <p:cNvPr id="3" name="Content Placeholder 2"/>
          <p:cNvSpPr>
            <a:spLocks noGrp="1"/>
          </p:cNvSpPr>
          <p:nvPr>
            <p:ph sz="quarter" idx="1"/>
          </p:nvPr>
        </p:nvSpPr>
        <p:spPr>
          <a:xfrm>
            <a:off x="914400" y="1219200"/>
            <a:ext cx="8229600" cy="5486400"/>
          </a:xfrm>
        </p:spPr>
        <p:txBody>
          <a:bodyPr>
            <a:normAutofit/>
          </a:bodyPr>
          <a:lstStyle/>
          <a:p>
            <a:r>
              <a:rPr lang="en-US" dirty="0"/>
              <a:t>The input/output channels provide isolation and signal conditioning  functions so that sensors and actuators can often be directly connected to them without the need for other circuitry.</a:t>
            </a:r>
          </a:p>
          <a:p>
            <a:r>
              <a:rPr lang="en-US" dirty="0"/>
              <a:t>It is also through the input/output unit that programs are entered from a program panel. Every input/output point has a unique address which can be used by the CPU.</a:t>
            </a:r>
          </a:p>
          <a:p>
            <a:r>
              <a:rPr lang="en-US" dirty="0"/>
              <a:t>Electrical isolation from the external world is usually by means of </a:t>
            </a:r>
            <a:r>
              <a:rPr lang="en-US" i="1" dirty="0" err="1"/>
              <a:t>optoisolators</a:t>
            </a:r>
            <a:r>
              <a:rPr lang="en-US" i="1" dirty="0"/>
              <a:t> (the term </a:t>
            </a:r>
            <a:r>
              <a:rPr lang="en-US" i="1" dirty="0" err="1"/>
              <a:t>optocoupler</a:t>
            </a:r>
            <a:r>
              <a:rPr lang="en-US" i="1" dirty="0"/>
              <a:t> </a:t>
            </a:r>
            <a:r>
              <a:rPr lang="en-US" dirty="0"/>
              <a:t>is also often used).</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Opto</a:t>
            </a:r>
            <a:r>
              <a:rPr lang="en-US" b="1" dirty="0"/>
              <a:t> coupler</a:t>
            </a:r>
          </a:p>
        </p:txBody>
      </p:sp>
      <p:pic>
        <p:nvPicPr>
          <p:cNvPr id="1026" name="Picture 2"/>
          <p:cNvPicPr>
            <a:picLocks noGrp="1" noChangeAspect="1" noChangeArrowheads="1"/>
          </p:cNvPicPr>
          <p:nvPr>
            <p:ph sz="quarter" idx="1"/>
          </p:nvPr>
        </p:nvPicPr>
        <p:blipFill>
          <a:blip r:embed="rId2"/>
          <a:stretch>
            <a:fillRect/>
          </a:stretch>
        </p:blipFill>
        <p:spPr bwMode="auto">
          <a:xfrm>
            <a:off x="1219200" y="2057400"/>
            <a:ext cx="7391400" cy="3809999"/>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a:xfrm>
            <a:off x="457200" y="381000"/>
            <a:ext cx="8229600" cy="6477000"/>
          </a:xfrm>
        </p:spPr>
        <p:txBody>
          <a:bodyPr>
            <a:normAutofit/>
          </a:bodyPr>
          <a:lstStyle/>
          <a:p>
            <a:r>
              <a:rPr lang="en-US" sz="2400" dirty="0"/>
              <a:t>When a digital pulse passes through the light-emitting diode, a pulse of infrared radiation is produced. This pulse is detected by the phototransistor and gives rise to a voltage in that circuit. </a:t>
            </a:r>
          </a:p>
          <a:p>
            <a:r>
              <a:rPr lang="en-US" sz="2400" dirty="0"/>
              <a:t>The gap between the light-emitting diode and the phototransistor gives electrical isolation but the arrangement still allows for a digital pulse in one circuit to give rise to a digital pulse in another circuit.</a:t>
            </a:r>
          </a:p>
          <a:p>
            <a:r>
              <a:rPr lang="en-US" sz="2400" dirty="0"/>
              <a:t>The digital signal that is generally compatible with the microprocessor in the PLC is 5 V </a:t>
            </a:r>
            <a:r>
              <a:rPr lang="en-US" sz="2400" dirty="0" err="1"/>
              <a:t>d.c</a:t>
            </a:r>
            <a:r>
              <a:rPr lang="en-US" sz="2400" dirty="0"/>
              <a:t>. However, signal conditioning in the input channel with isolation, enables a wide range of input signals to be supplied to it .</a:t>
            </a:r>
          </a:p>
          <a:p>
            <a:r>
              <a:rPr lang="en-US" sz="2400" dirty="0"/>
              <a:t>A range of inputs might be available with a larger PLC, e.g. 5 V, 24 V, 110 V and 240 V digital/discrete,</a:t>
            </a:r>
          </a:p>
          <a:p>
            <a:r>
              <a:rPr lang="en-US" sz="2400" dirty="0"/>
              <a:t>Outputs are specified as being of relay type, transistor type or </a:t>
            </a:r>
            <a:r>
              <a:rPr lang="en-US" sz="2400" dirty="0" err="1"/>
              <a:t>triac</a:t>
            </a:r>
            <a:r>
              <a:rPr lang="en-US" sz="2400" dirty="0"/>
              <a:t> type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457200" y="0"/>
            <a:ext cx="8229600" cy="6858000"/>
          </a:xfrm>
        </p:spPr>
        <p:txBody>
          <a:bodyPr>
            <a:normAutofit lnSpcReduction="10000"/>
          </a:bodyPr>
          <a:lstStyle/>
          <a:p>
            <a:pPr>
              <a:buNone/>
            </a:pPr>
            <a:r>
              <a:rPr lang="en-US" sz="2400" dirty="0"/>
              <a:t> With the </a:t>
            </a:r>
            <a:r>
              <a:rPr lang="en-US" sz="2400" i="1" dirty="0"/>
              <a:t>relay type, the signal from the PLC output is used to operate </a:t>
            </a:r>
            <a:r>
              <a:rPr lang="en-US" sz="2400" dirty="0"/>
              <a:t>a relay and is able to switch currents of the order of a few amperes in an external circuit. The relay not only allows small currents to switch much larger currents but also isolates the PLC from the external circuit. Relays are, however, relatively slow to operate. </a:t>
            </a:r>
          </a:p>
          <a:p>
            <a:pPr>
              <a:buNone/>
            </a:pPr>
            <a:r>
              <a:rPr lang="en-US" sz="2400" dirty="0"/>
              <a:t>      Relay outputs are suitable for </a:t>
            </a:r>
            <a:r>
              <a:rPr lang="en-US" sz="2400" dirty="0" err="1"/>
              <a:t>a.c</a:t>
            </a:r>
            <a:r>
              <a:rPr lang="en-US" sz="2400" dirty="0"/>
              <a:t>. and </a:t>
            </a:r>
            <a:r>
              <a:rPr lang="en-US" sz="2400" dirty="0" err="1"/>
              <a:t>d.c</a:t>
            </a:r>
            <a:r>
              <a:rPr lang="en-US" sz="2400" dirty="0"/>
              <a:t>. switching. They can withstand high surge currents and voltage transients.</a:t>
            </a:r>
          </a:p>
          <a:p>
            <a:pPr marL="0" indent="0">
              <a:buNone/>
            </a:pPr>
            <a:r>
              <a:rPr lang="en-US" sz="2400" dirty="0"/>
              <a:t>The </a:t>
            </a:r>
            <a:r>
              <a:rPr lang="en-US" sz="2400" i="1" dirty="0"/>
              <a:t>transistor type of output uses a transistor to switch current </a:t>
            </a:r>
            <a:r>
              <a:rPr lang="en-US" sz="2400" dirty="0"/>
              <a:t>through the external circuit. This gives a considerably faster switching action. It is, however, strictly for </a:t>
            </a:r>
            <a:r>
              <a:rPr lang="en-US" sz="2400" dirty="0" err="1"/>
              <a:t>d.c</a:t>
            </a:r>
            <a:r>
              <a:rPr lang="en-US" sz="2400" dirty="0"/>
              <a:t>. switching and is destroyed by over  current and high reverse voltage. As a protection, either a fuse or built-in electronic protection are used. </a:t>
            </a:r>
            <a:r>
              <a:rPr lang="en-US" sz="2400" dirty="0" err="1"/>
              <a:t>Optoisolators</a:t>
            </a:r>
            <a:r>
              <a:rPr lang="en-US" sz="2400" dirty="0"/>
              <a:t> are used to provide isolation</a:t>
            </a:r>
          </a:p>
          <a:p>
            <a:pPr>
              <a:buNone/>
            </a:pPr>
            <a:r>
              <a:rPr lang="en-US" sz="2400" i="1" dirty="0"/>
              <a:t> </a:t>
            </a:r>
            <a:r>
              <a:rPr lang="en-US" sz="2400" i="1" dirty="0" err="1"/>
              <a:t>Triac</a:t>
            </a:r>
            <a:r>
              <a:rPr lang="en-US" sz="2400" i="1" dirty="0"/>
              <a:t> outputs, with </a:t>
            </a:r>
            <a:r>
              <a:rPr lang="en-US" sz="2400" i="1" dirty="0" err="1"/>
              <a:t>optoisolators</a:t>
            </a:r>
            <a:r>
              <a:rPr lang="en-US" sz="2400" i="1" dirty="0"/>
              <a:t> for isolation, can be used to control </a:t>
            </a:r>
            <a:r>
              <a:rPr lang="en-US" sz="2400" dirty="0"/>
              <a:t>external loads which are connected to the </a:t>
            </a:r>
            <a:r>
              <a:rPr lang="en-US" sz="2400" dirty="0" err="1"/>
              <a:t>a.c</a:t>
            </a:r>
            <a:r>
              <a:rPr lang="en-US" sz="2400" dirty="0"/>
              <a:t>. power supply. It is strictly for </a:t>
            </a:r>
            <a:r>
              <a:rPr lang="en-US" sz="2400" dirty="0" err="1"/>
              <a:t>a.c</a:t>
            </a:r>
            <a:r>
              <a:rPr lang="en-US" sz="2400" dirty="0"/>
              <a:t>. operation and is very easily destroyed by overcurrent. Fuses are virtually always included to protect such outputs.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Relay</a:t>
            </a:r>
            <a:endParaRPr lang="en-US" dirty="0"/>
          </a:p>
        </p:txBody>
      </p:sp>
      <p:sp>
        <p:nvSpPr>
          <p:cNvPr id="3" name="Content Placeholder 2"/>
          <p:cNvSpPr>
            <a:spLocks noGrp="1"/>
          </p:cNvSpPr>
          <p:nvPr>
            <p:ph sz="quarter" idx="1"/>
          </p:nvPr>
        </p:nvSpPr>
        <p:spPr/>
        <p:txBody>
          <a:bodyPr>
            <a:noAutofit/>
          </a:bodyPr>
          <a:lstStyle/>
          <a:p>
            <a:r>
              <a:rPr lang="en-US" sz="2400" dirty="0"/>
              <a:t>Solenoids form the basis of a number of output control actuators. When a current passes through a solenoid a magnetic field is produced and this can then attract ferrous metal components in its vicinity. </a:t>
            </a:r>
          </a:p>
          <a:p>
            <a:r>
              <a:rPr lang="en-US" sz="2400" dirty="0"/>
              <a:t>One example of such an actuator is the </a:t>
            </a:r>
            <a:r>
              <a:rPr lang="en-US" sz="2400" i="1" dirty="0"/>
              <a:t>relay, the term contactor being used when large </a:t>
            </a:r>
            <a:r>
              <a:rPr lang="en-US" sz="2400" dirty="0"/>
              <a:t>currents are involved. When the output from the PLC is switched on, the solenoid magnetic field is produced and pulls on the contacts and so closes a switch or switches .</a:t>
            </a:r>
          </a:p>
          <a:p>
            <a:r>
              <a:rPr lang="en-US" sz="2400" dirty="0"/>
              <a:t> The result is that much larger currents can be switched on. Thus the relay might be used to switch on the current to a motor.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6146" name="Picture 2"/>
          <p:cNvPicPr>
            <a:picLocks noGrp="1" noChangeAspect="1" noChangeArrowheads="1"/>
          </p:cNvPicPr>
          <p:nvPr>
            <p:ph sz="quarter" idx="1"/>
          </p:nvPr>
        </p:nvPicPr>
        <p:blipFill>
          <a:blip r:embed="rId2"/>
          <a:srcRect/>
          <a:stretch>
            <a:fillRect/>
          </a:stretch>
        </p:blipFill>
        <p:spPr bwMode="auto">
          <a:xfrm>
            <a:off x="762000" y="1981200"/>
            <a:ext cx="6781800" cy="3581400"/>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2. Directional control valves</a:t>
            </a:r>
            <a:endParaRPr lang="en-US" sz="3200" dirty="0"/>
          </a:p>
        </p:txBody>
      </p:sp>
      <p:sp>
        <p:nvSpPr>
          <p:cNvPr id="3" name="Content Placeholder 2"/>
          <p:cNvSpPr>
            <a:spLocks noGrp="1"/>
          </p:cNvSpPr>
          <p:nvPr>
            <p:ph sz="quarter" idx="1"/>
          </p:nvPr>
        </p:nvSpPr>
        <p:spPr/>
        <p:txBody>
          <a:bodyPr>
            <a:normAutofit/>
          </a:bodyPr>
          <a:lstStyle/>
          <a:p>
            <a:r>
              <a:rPr lang="en-US" sz="2800" dirty="0">
                <a:latin typeface="Times New Roman"/>
              </a:rPr>
              <a:t>Another example of the use of a solenoid as an actuator is a </a:t>
            </a:r>
            <a:r>
              <a:rPr lang="en-US" sz="2800" i="1" dirty="0">
                <a:latin typeface="Times New Roman"/>
              </a:rPr>
              <a:t>solenoid operated valve.</a:t>
            </a:r>
          </a:p>
          <a:p>
            <a:r>
              <a:rPr lang="en-US" sz="2800" dirty="0"/>
              <a:t>The valve may be used to control the directions of flow of </a:t>
            </a:r>
            <a:r>
              <a:rPr lang="en-US" sz="2800" dirty="0" err="1"/>
              <a:t>pressurised</a:t>
            </a:r>
            <a:r>
              <a:rPr lang="en-US" sz="2800" dirty="0"/>
              <a:t> air or oil and so used to operate other devices such as a piston moving in a cylinder</a:t>
            </a:r>
            <a:r>
              <a:rPr lang="en-US" sz="2400" dirty="0"/>
              <a:t>.</a:t>
            </a:r>
          </a:p>
          <a:p>
            <a:endParaRPr lang="en-US" sz="2400" dirty="0"/>
          </a:p>
          <a:p>
            <a:r>
              <a:rPr lang="en-US" sz="2400" b="1" dirty="0"/>
              <a:t>                           </a:t>
            </a:r>
          </a:p>
          <a:p>
            <a:endParaRPr lang="en-US" sz="2400" b="1" dirty="0"/>
          </a:p>
          <a:p>
            <a:endParaRPr lang="en-US" sz="2400" b="1" dirty="0"/>
          </a:p>
          <a:p>
            <a:endParaRPr lang="en-US" sz="24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3.MOTORS</a:t>
            </a:r>
          </a:p>
        </p:txBody>
      </p:sp>
      <p:sp>
        <p:nvSpPr>
          <p:cNvPr id="3" name="Content Placeholder 2"/>
          <p:cNvSpPr>
            <a:spLocks noGrp="1"/>
          </p:cNvSpPr>
          <p:nvPr>
            <p:ph sz="quarter" idx="1"/>
          </p:nvPr>
        </p:nvSpPr>
        <p:spPr/>
        <p:txBody>
          <a:bodyPr>
            <a:normAutofit fontScale="85000" lnSpcReduction="20000"/>
          </a:bodyPr>
          <a:lstStyle/>
          <a:p>
            <a:pPr>
              <a:buNone/>
            </a:pPr>
            <a:endParaRPr lang="en-US" b="1" dirty="0"/>
          </a:p>
          <a:p>
            <a:r>
              <a:rPr lang="en-US" dirty="0"/>
              <a:t>A </a:t>
            </a:r>
            <a:r>
              <a:rPr lang="en-US" i="1" dirty="0" err="1"/>
              <a:t>d.c</a:t>
            </a:r>
            <a:r>
              <a:rPr lang="en-US" i="1" dirty="0"/>
              <a:t>. motor has coils of wire mounted in slots on a cylinder of </a:t>
            </a:r>
            <a:r>
              <a:rPr lang="en-US" dirty="0"/>
              <a:t>ferromagnetic material, this being termed the </a:t>
            </a:r>
            <a:r>
              <a:rPr lang="en-US" i="1" dirty="0"/>
              <a:t>armature. </a:t>
            </a:r>
          </a:p>
          <a:p>
            <a:r>
              <a:rPr lang="en-US" i="1" dirty="0"/>
              <a:t>The armature is </a:t>
            </a:r>
            <a:r>
              <a:rPr lang="en-US" dirty="0"/>
              <a:t>mounted on bearings and is free to rotate. It is mounted in the magnetic field produced by permanent magnets or current passing through coils of wire, these being termed the </a:t>
            </a:r>
            <a:r>
              <a:rPr lang="en-US" i="1" dirty="0"/>
              <a:t>field coils. </a:t>
            </a:r>
          </a:p>
          <a:p>
            <a:r>
              <a:rPr lang="en-US" i="1" dirty="0"/>
              <a:t>When a current passes through the </a:t>
            </a:r>
            <a:r>
              <a:rPr lang="en-US" dirty="0"/>
              <a:t>armature coil, forces act on the coil and result in rotation. Brushes and a </a:t>
            </a:r>
            <a:r>
              <a:rPr lang="en-US" dirty="0" err="1"/>
              <a:t>commutator</a:t>
            </a:r>
            <a:r>
              <a:rPr lang="en-US" dirty="0"/>
              <a:t> are used to reverse the current through the coil every half rotation and so keep the coil rotating. </a:t>
            </a:r>
          </a:p>
          <a:p>
            <a:r>
              <a:rPr lang="en-US" dirty="0"/>
              <a:t>The speed of rotation can be changed by changing the size of the current to the armature coil.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 PROCESSING</a:t>
            </a:r>
          </a:p>
        </p:txBody>
      </p:sp>
      <p:sp>
        <p:nvSpPr>
          <p:cNvPr id="3" name="Content Placeholder 2"/>
          <p:cNvSpPr>
            <a:spLocks noGrp="1"/>
          </p:cNvSpPr>
          <p:nvPr>
            <p:ph sz="quarter" idx="1"/>
          </p:nvPr>
        </p:nvSpPr>
        <p:spPr/>
        <p:txBody>
          <a:bodyPr>
            <a:normAutofit lnSpcReduction="10000"/>
          </a:bodyPr>
          <a:lstStyle/>
          <a:p>
            <a:r>
              <a:rPr lang="en-US" dirty="0"/>
              <a:t>The input/output (I/O) unit provides the interface between the PLC controller and the outside world and must therefore provide the necessary signal conditioning to get the signal to the required level and also to isolate it from possible electrical hazards such as high voltages</a:t>
            </a:r>
          </a:p>
          <a:p>
            <a:r>
              <a:rPr lang="en-US" dirty="0"/>
              <a:t>This chapter includes the forms of typical input/output modules and installation where sensors are some distance from the PLC processing, their communication links to the PLC.</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700" b="1" dirty="0"/>
              <a:t>Input signals from sensors and the outputs required for actuating devices can be</a:t>
            </a:r>
            <a:r>
              <a:rPr lang="en-US" b="1" dirty="0"/>
              <a:t>:</a:t>
            </a:r>
          </a:p>
        </p:txBody>
      </p:sp>
      <p:sp>
        <p:nvSpPr>
          <p:cNvPr id="3" name="Content Placeholder 2"/>
          <p:cNvSpPr>
            <a:spLocks noGrp="1"/>
          </p:cNvSpPr>
          <p:nvPr>
            <p:ph sz="quarter" idx="1"/>
          </p:nvPr>
        </p:nvSpPr>
        <p:spPr/>
        <p:txBody>
          <a:bodyPr>
            <a:normAutofit/>
          </a:bodyPr>
          <a:lstStyle/>
          <a:p>
            <a:pPr>
              <a:buNone/>
            </a:pPr>
            <a:r>
              <a:rPr lang="en-US" dirty="0"/>
              <a:t>1. </a:t>
            </a:r>
            <a:r>
              <a:rPr lang="en-US" i="1" dirty="0"/>
              <a:t>Analogue, i.e. a signal whose size is related to the size of the quantity </a:t>
            </a:r>
            <a:r>
              <a:rPr lang="en-US" dirty="0"/>
              <a:t>being sensed.</a:t>
            </a:r>
          </a:p>
          <a:p>
            <a:pPr>
              <a:buNone/>
            </a:pPr>
            <a:r>
              <a:rPr lang="en-US" dirty="0"/>
              <a:t>2. </a:t>
            </a:r>
            <a:r>
              <a:rPr lang="en-US" i="1" dirty="0"/>
              <a:t>Discrete, i.e. essentially just an on−off signal.</a:t>
            </a:r>
          </a:p>
          <a:p>
            <a:pPr>
              <a:buNone/>
            </a:pPr>
            <a:r>
              <a:rPr lang="en-US" dirty="0"/>
              <a:t>3. </a:t>
            </a:r>
            <a:r>
              <a:rPr lang="en-US" i="1" dirty="0"/>
              <a:t>Digital, i.e. a sequence of pulses</a:t>
            </a:r>
          </a:p>
          <a:p>
            <a:r>
              <a:rPr lang="en-US" dirty="0"/>
              <a:t>The CPU, however, must have an input of digital signals of a particular size, normally 0 to 5 V. The output from the CPU is digital, normally 0 to 5 V. </a:t>
            </a:r>
            <a:r>
              <a:rPr lang="en-US" b="1" i="1" dirty="0"/>
              <a:t>Thus there is generally a need to manipulate input and output signals so that they are in the required form.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Input units</a:t>
            </a:r>
            <a:endParaRPr lang="en-US" dirty="0"/>
          </a:p>
        </p:txBody>
      </p:sp>
      <p:sp>
        <p:nvSpPr>
          <p:cNvPr id="3" name="Content Placeholder 2"/>
          <p:cNvSpPr>
            <a:spLocks noGrp="1"/>
          </p:cNvSpPr>
          <p:nvPr>
            <p:ph sz="quarter" idx="1"/>
          </p:nvPr>
        </p:nvSpPr>
        <p:spPr>
          <a:xfrm>
            <a:off x="457200" y="1219200"/>
            <a:ext cx="8229600" cy="5334000"/>
          </a:xfrm>
        </p:spPr>
        <p:txBody>
          <a:bodyPr>
            <a:normAutofit fontScale="92500" lnSpcReduction="20000"/>
          </a:bodyPr>
          <a:lstStyle/>
          <a:p>
            <a:r>
              <a:rPr lang="en-US" dirty="0"/>
              <a:t>The terms </a:t>
            </a:r>
            <a:r>
              <a:rPr lang="en-US" i="1" dirty="0"/>
              <a:t>sourcing and sinking are used to describe the way in which </a:t>
            </a:r>
            <a:r>
              <a:rPr lang="en-US" i="1" dirty="0" err="1"/>
              <a:t>d.c</a:t>
            </a:r>
            <a:r>
              <a:rPr lang="en-US" i="1" dirty="0"/>
              <a:t> </a:t>
            </a:r>
            <a:r>
              <a:rPr lang="en-US" dirty="0"/>
              <a:t>devices are connected to a PLC. With </a:t>
            </a:r>
            <a:r>
              <a:rPr lang="en-US" b="1" i="1" dirty="0"/>
              <a:t>sourcing, </a:t>
            </a:r>
            <a:r>
              <a:rPr lang="en-US" dirty="0"/>
              <a:t>using the conventional current flow direction as from positive to negative, an input device receives current from the input module, i.e. the input module is the source of the current.</a:t>
            </a:r>
          </a:p>
          <a:p>
            <a:r>
              <a:rPr lang="en-US" dirty="0"/>
              <a:t>If the current flows from the output module to an output load then the output module is referred to as </a:t>
            </a:r>
            <a:r>
              <a:rPr lang="en-US" b="1" i="1" dirty="0"/>
              <a:t>sourcing</a:t>
            </a:r>
          </a:p>
          <a:p>
            <a:r>
              <a:rPr lang="en-US" dirty="0">
                <a:latin typeface="Times New Roman"/>
              </a:rPr>
              <a:t>With </a:t>
            </a:r>
            <a:r>
              <a:rPr lang="en-US" b="1" i="1" dirty="0">
                <a:latin typeface="Times New Roman"/>
              </a:rPr>
              <a:t>sinking</a:t>
            </a:r>
            <a:r>
              <a:rPr lang="en-US" dirty="0">
                <a:latin typeface="Times New Roman"/>
              </a:rPr>
              <a:t>, using the conventional current flow direction as from positive to negative, an input device supplies current to the input module, i.e. the input module is the </a:t>
            </a:r>
            <a:r>
              <a:rPr lang="en-US" b="1" i="1" dirty="0">
                <a:latin typeface="Times New Roman"/>
              </a:rPr>
              <a:t>sink</a:t>
            </a:r>
            <a:r>
              <a:rPr lang="en-US" dirty="0">
                <a:latin typeface="Times New Roman"/>
              </a:rPr>
              <a:t> for the current</a:t>
            </a:r>
          </a:p>
          <a:p>
            <a:r>
              <a:rPr lang="en-US" dirty="0"/>
              <a:t>If the current flows to the output module from an output load then the output module is referred to as </a:t>
            </a:r>
            <a:r>
              <a:rPr lang="en-US" b="1" i="1" dirty="0"/>
              <a:t>sinking</a:t>
            </a:r>
          </a:p>
          <a:p>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Sourcing and Sinking</a:t>
            </a:r>
          </a:p>
        </p:txBody>
      </p:sp>
      <p:pic>
        <p:nvPicPr>
          <p:cNvPr id="1027" name="Picture 3"/>
          <p:cNvPicPr>
            <a:picLocks noGrp="1" noChangeAspect="1" noChangeArrowheads="1"/>
          </p:cNvPicPr>
          <p:nvPr>
            <p:ph sz="quarter" idx="1"/>
          </p:nvPr>
        </p:nvPicPr>
        <p:blipFill>
          <a:blip r:embed="rId2"/>
          <a:srcRect/>
          <a:stretch>
            <a:fillRect/>
          </a:stretch>
        </p:blipFill>
        <p:spPr bwMode="auto">
          <a:xfrm>
            <a:off x="762000" y="1143000"/>
            <a:ext cx="6705600" cy="26670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1295400" y="3505200"/>
            <a:ext cx="6934200" cy="28194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D.C input unit </a:t>
            </a:r>
          </a:p>
        </p:txBody>
      </p:sp>
      <p:pic>
        <p:nvPicPr>
          <p:cNvPr id="1026" name="Picture 2"/>
          <p:cNvPicPr>
            <a:picLocks noGrp="1" noChangeAspect="1" noChangeArrowheads="1"/>
          </p:cNvPicPr>
          <p:nvPr>
            <p:ph sz="quarter" idx="1"/>
          </p:nvPr>
        </p:nvPicPr>
        <p:blipFill>
          <a:blip r:embed="rId2"/>
          <a:srcRect/>
          <a:stretch>
            <a:fillRect/>
          </a:stretch>
        </p:blipFill>
        <p:spPr bwMode="auto">
          <a:xfrm>
            <a:off x="228600" y="1447800"/>
            <a:ext cx="8077200" cy="487680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 Input Unit</a:t>
            </a:r>
          </a:p>
        </p:txBody>
      </p:sp>
      <p:pic>
        <p:nvPicPr>
          <p:cNvPr id="4" name="Content Placeholder 3"/>
          <p:cNvPicPr>
            <a:picLocks noGrp="1" noChangeAspect="1" noChangeArrowheads="1"/>
          </p:cNvPicPr>
          <p:nvPr>
            <p:ph sz="quarter" idx="1"/>
          </p:nvPr>
        </p:nvPicPr>
        <p:blipFill>
          <a:blip r:embed="rId2"/>
          <a:srcRect/>
          <a:stretch>
            <a:fillRect/>
          </a:stretch>
        </p:blipFill>
        <p:spPr bwMode="auto">
          <a:xfrm>
            <a:off x="457201" y="1600200"/>
            <a:ext cx="8077200" cy="4648199"/>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7500" lnSpcReduction="20000"/>
          </a:bodyPr>
          <a:lstStyle/>
          <a:p>
            <a:r>
              <a:rPr lang="en-US" dirty="0"/>
              <a:t>The figures in previous slides show the basic input unit circuits for discrete and digital </a:t>
            </a:r>
            <a:r>
              <a:rPr lang="en-US" dirty="0" err="1"/>
              <a:t>d.c</a:t>
            </a:r>
            <a:r>
              <a:rPr lang="en-US" dirty="0"/>
              <a:t>. and discrete </a:t>
            </a:r>
            <a:r>
              <a:rPr lang="en-US" dirty="0" err="1"/>
              <a:t>a.c</a:t>
            </a:r>
            <a:r>
              <a:rPr lang="en-US" dirty="0"/>
              <a:t>. inputs. </a:t>
            </a:r>
            <a:r>
              <a:rPr lang="en-US" dirty="0" err="1"/>
              <a:t>Optoisolators</a:t>
            </a:r>
            <a:r>
              <a:rPr lang="en-US" dirty="0"/>
              <a:t> are used to provide protection. With the </a:t>
            </a:r>
            <a:r>
              <a:rPr lang="en-US" dirty="0" err="1"/>
              <a:t>a.c</a:t>
            </a:r>
            <a:r>
              <a:rPr lang="en-US" dirty="0"/>
              <a:t>. input unit, a rectifier bridge network is used to rectify the </a:t>
            </a:r>
            <a:r>
              <a:rPr lang="en-US" dirty="0" err="1"/>
              <a:t>a.c</a:t>
            </a:r>
            <a:r>
              <a:rPr lang="en-US" dirty="0"/>
              <a:t>. so that the resulting </a:t>
            </a:r>
            <a:r>
              <a:rPr lang="en-US" dirty="0" err="1"/>
              <a:t>d.c</a:t>
            </a:r>
            <a:r>
              <a:rPr lang="en-US" dirty="0"/>
              <a:t>. signal can provide the signal for use by the </a:t>
            </a:r>
            <a:r>
              <a:rPr lang="en-US" dirty="0" err="1"/>
              <a:t>optoisolator</a:t>
            </a:r>
            <a:r>
              <a:rPr lang="en-US" dirty="0"/>
              <a:t> to give the input signals to the CPU of the PLC. </a:t>
            </a:r>
          </a:p>
          <a:p>
            <a:r>
              <a:rPr lang="en-US" dirty="0"/>
              <a:t>Individual status lights are provided for each input to indicate when the input device is providing a signal.</a:t>
            </a:r>
          </a:p>
          <a:p>
            <a:r>
              <a:rPr lang="en-US" dirty="0"/>
              <a:t>Analogue signals can be inputted to a PLC if the input channel is able to convert the signal to a digital signal using an analogue-to-digital converter. With a rack mounted system this may be achieved by mounting a suitable analogue input card in the rack.</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800" dirty="0"/>
              <a:t>So that one analogue card is not required for each analogue input, multiplexing is generally used see the figure below</a:t>
            </a:r>
          </a:p>
        </p:txBody>
      </p:sp>
      <p:pic>
        <p:nvPicPr>
          <p:cNvPr id="2050" name="Picture 2"/>
          <p:cNvPicPr>
            <a:picLocks noGrp="1" noChangeAspect="1" noChangeArrowheads="1"/>
          </p:cNvPicPr>
          <p:nvPr>
            <p:ph sz="quarter" idx="1"/>
          </p:nvPr>
        </p:nvPicPr>
        <p:blipFill>
          <a:blip r:embed="rId2"/>
          <a:srcRect/>
          <a:stretch>
            <a:fillRect/>
          </a:stretch>
        </p:blipFill>
        <p:spPr bwMode="auto">
          <a:xfrm>
            <a:off x="1066800" y="1600200"/>
            <a:ext cx="5943600" cy="41910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noChangeArrowheads="1"/>
          </p:cNvPicPr>
          <p:nvPr>
            <p:ph sz="quarter" idx="1"/>
          </p:nvPr>
        </p:nvPicPr>
        <p:blipFill>
          <a:blip r:embed="rId2"/>
          <a:srcRect/>
          <a:stretch>
            <a:fillRect/>
          </a:stretch>
        </p:blipFill>
        <p:spPr bwMode="auto">
          <a:xfrm>
            <a:off x="0" y="1905000"/>
            <a:ext cx="8915400" cy="39624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r>
              <a:rPr lang="en-US" dirty="0"/>
              <a:t>Fig (a)  in previous slide illustrates the function of an analogue-to-digital converter (ADC). A single analogue input signal gives rise to on−off output signals along perhaps eight separate wires. The eight signals then constitute the so-termed digital </a:t>
            </a:r>
            <a:r>
              <a:rPr lang="en-US" i="1" dirty="0"/>
              <a:t>word corresponding to the analogue input signal level.</a:t>
            </a:r>
          </a:p>
          <a:p>
            <a:r>
              <a:rPr lang="en-US" dirty="0"/>
              <a:t>With such an 8-bit converter there are 2^8 = 256 different digital values possible; these are 0000 0000 to 1111 1111, i.e. 0 to 255.</a:t>
            </a:r>
          </a:p>
          <a:p>
            <a:r>
              <a:rPr lang="en-US" dirty="0"/>
              <a:t> The digital output goes up in steps Fig(b) and the analogue voltages required to produce each digital output are termed </a:t>
            </a:r>
            <a:r>
              <a:rPr lang="en-US" i="1" dirty="0" err="1"/>
              <a:t>quantisation</a:t>
            </a:r>
            <a:r>
              <a:rPr lang="en-US" i="1" dirty="0"/>
              <a:t> levels</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7500" lnSpcReduction="20000"/>
          </a:bodyPr>
          <a:lstStyle/>
          <a:p>
            <a:r>
              <a:rPr lang="en-US" dirty="0"/>
              <a:t>The analogue voltage has to change by the difference in analogue voltage between successive levels if the binary output is to change. The term </a:t>
            </a:r>
            <a:r>
              <a:rPr lang="en-US" b="1" i="1" dirty="0"/>
              <a:t>resolution</a:t>
            </a:r>
            <a:r>
              <a:rPr lang="en-US" i="1" dirty="0"/>
              <a:t> is used for the smallest change in analogue voltage which </a:t>
            </a:r>
            <a:r>
              <a:rPr lang="en-US" dirty="0"/>
              <a:t>will give rise to a change in one bit in the digital output. With an 8-bit ADC if, say, the full-scale analogue input signal varies between 0 and 10 V then a step of one digital bit involves an analogue input change of 10/255 V or about 0.04 V. </a:t>
            </a:r>
          </a:p>
          <a:p>
            <a:r>
              <a:rPr lang="en-US" dirty="0"/>
              <a:t>This means that a change of 0.03 V in the input will produce no change in the digital output. The number of bits in the output from an analogue-to-digital converter thus determines the </a:t>
            </a:r>
            <a:r>
              <a:rPr lang="en-US" i="1" dirty="0"/>
              <a:t>resolution, and hence accuracy, possible. If a 10-bit ADC is used then </a:t>
            </a:r>
            <a:r>
              <a:rPr lang="en-US" dirty="0"/>
              <a:t>210 = 1024 different digital values are possible and, for the full-scale analogue input of 0 to 10 V, a step of one digital bit involves an analogue input change of 10/1023 V or about 0.01 V. </a:t>
            </a:r>
          </a:p>
          <a:p>
            <a:r>
              <a:rPr lang="en-US" dirty="0"/>
              <a:t>In general, the resolution of an </a:t>
            </a:r>
            <a:r>
              <a:rPr lang="en-US" i="1" dirty="0"/>
              <a:t>n-bit ADC is </a:t>
            </a:r>
            <a:r>
              <a:rPr lang="en-US" b="1" i="1" dirty="0"/>
              <a:t>1/(2^n – 1).</a:t>
            </a:r>
            <a:endParaRPr lang="en-US"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800" b="1" dirty="0"/>
              <a:t>Analogue-to-digital conversion for an 8-bit converter when the analogue input is in the range 0 to 10 V:</a:t>
            </a:r>
          </a:p>
        </p:txBody>
      </p:sp>
      <p:pic>
        <p:nvPicPr>
          <p:cNvPr id="3074" name="Picture 2"/>
          <p:cNvPicPr>
            <a:picLocks noGrp="1" noChangeAspect="1" noChangeArrowheads="1"/>
          </p:cNvPicPr>
          <p:nvPr>
            <p:ph sz="quarter" idx="1"/>
          </p:nvPr>
        </p:nvPicPr>
        <p:blipFill>
          <a:blip r:embed="rId2"/>
          <a:srcRect/>
          <a:stretch>
            <a:fillRect/>
          </a:stretch>
        </p:blipFill>
        <p:spPr bwMode="auto">
          <a:xfrm>
            <a:off x="1524001" y="1676400"/>
            <a:ext cx="7010400" cy="4114800"/>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 units</a:t>
            </a:r>
            <a:endParaRPr lang="en-US" dirty="0"/>
          </a:p>
        </p:txBody>
      </p:sp>
      <p:sp>
        <p:nvSpPr>
          <p:cNvPr id="3" name="Content Placeholder 2"/>
          <p:cNvSpPr>
            <a:spLocks noGrp="1"/>
          </p:cNvSpPr>
          <p:nvPr>
            <p:ph sz="quarter" idx="1"/>
          </p:nvPr>
        </p:nvSpPr>
        <p:spPr/>
        <p:txBody>
          <a:bodyPr>
            <a:normAutofit/>
          </a:bodyPr>
          <a:lstStyle/>
          <a:p>
            <a:r>
              <a:rPr lang="en-US" dirty="0"/>
              <a:t>With a PLC output unit, when it provides the current for the output device.</a:t>
            </a:r>
            <a:r>
              <a:rPr lang="en-US" b="1" i="1" dirty="0"/>
              <a:t>fig a </a:t>
            </a:r>
            <a:r>
              <a:rPr lang="en-US" dirty="0"/>
              <a:t>below said to be sourcing and when the output device provides the current to the output unit it is said to be sinking</a:t>
            </a:r>
            <a:r>
              <a:rPr lang="en-US" b="1" i="1" dirty="0"/>
              <a:t>. </a:t>
            </a:r>
          </a:p>
          <a:p>
            <a:r>
              <a:rPr lang="en-US" b="1" i="1" dirty="0"/>
              <a:t>Fig. b </a:t>
            </a:r>
            <a:r>
              <a:rPr lang="en-US" dirty="0"/>
              <a:t>Quite often, sinking input units are used for interfacing with electronic equipment and sourcing output units for interfacing with solenoids.</a:t>
            </a:r>
            <a:endParaRPr lang="en-US" b="1" i="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Output units: (a)sourcing (b) sinking</a:t>
            </a:r>
          </a:p>
        </p:txBody>
      </p:sp>
      <p:pic>
        <p:nvPicPr>
          <p:cNvPr id="1026" name="Picture 2"/>
          <p:cNvPicPr>
            <a:picLocks noGrp="1" noChangeAspect="1" noChangeArrowheads="1"/>
          </p:cNvPicPr>
          <p:nvPr>
            <p:ph sz="quarter" idx="1"/>
          </p:nvPr>
        </p:nvPicPr>
        <p:blipFill>
          <a:blip r:embed="rId2"/>
          <a:srcRect/>
          <a:stretch>
            <a:fillRect/>
          </a:stretch>
        </p:blipFill>
        <p:spPr bwMode="auto">
          <a:xfrm>
            <a:off x="304800" y="1981200"/>
            <a:ext cx="8153400" cy="457200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Output units can be relay, transistor or </a:t>
            </a:r>
            <a:r>
              <a:rPr lang="en-US" dirty="0" err="1"/>
              <a:t>triac</a:t>
            </a:r>
            <a:r>
              <a:rPr lang="en-US" dirty="0"/>
              <a:t>. Figures below shows the basic form of a relay output unit, transistor output unit and that of a </a:t>
            </a:r>
            <a:r>
              <a:rPr lang="en-US" dirty="0" err="1"/>
              <a:t>triac</a:t>
            </a:r>
            <a:r>
              <a:rPr lang="en-US" dirty="0"/>
              <a:t> output unit.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Relay output module</a:t>
            </a:r>
            <a:endParaRPr lang="en-US" dirty="0"/>
          </a:p>
        </p:txBody>
      </p:sp>
      <p:pic>
        <p:nvPicPr>
          <p:cNvPr id="3074" name="Picture 2"/>
          <p:cNvPicPr>
            <a:picLocks noGrp="1" noChangeAspect="1" noChangeArrowheads="1"/>
          </p:cNvPicPr>
          <p:nvPr>
            <p:ph sz="quarter" idx="1"/>
          </p:nvPr>
        </p:nvPicPr>
        <p:blipFill>
          <a:blip r:embed="rId2"/>
          <a:stretch>
            <a:fillRect/>
          </a:stretch>
        </p:blipFill>
        <p:spPr bwMode="auto">
          <a:xfrm>
            <a:off x="1219200" y="2209800"/>
            <a:ext cx="6553200" cy="3276600"/>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Transistor o/p unit current sinking</a:t>
            </a:r>
          </a:p>
        </p:txBody>
      </p:sp>
      <p:pic>
        <p:nvPicPr>
          <p:cNvPr id="4098" name="Picture 2"/>
          <p:cNvPicPr>
            <a:picLocks noGrp="1" noChangeAspect="1" noChangeArrowheads="1"/>
          </p:cNvPicPr>
          <p:nvPr>
            <p:ph sz="quarter" idx="1"/>
          </p:nvPr>
        </p:nvPicPr>
        <p:blipFill>
          <a:blip r:embed="rId2"/>
          <a:srcRect/>
          <a:stretch>
            <a:fillRect/>
          </a:stretch>
        </p:blipFill>
        <p:spPr bwMode="auto">
          <a:xfrm>
            <a:off x="914400" y="1905000"/>
            <a:ext cx="6629400" cy="3810000"/>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Transistor o/p unit current sourcing</a:t>
            </a:r>
          </a:p>
        </p:txBody>
      </p:sp>
      <p:pic>
        <p:nvPicPr>
          <p:cNvPr id="5122" name="Picture 2"/>
          <p:cNvPicPr>
            <a:picLocks noGrp="1" noChangeAspect="1" noChangeArrowheads="1"/>
          </p:cNvPicPr>
          <p:nvPr>
            <p:ph sz="quarter" idx="1"/>
          </p:nvPr>
        </p:nvPicPr>
        <p:blipFill>
          <a:blip r:embed="rId2"/>
          <a:stretch>
            <a:fillRect/>
          </a:stretch>
        </p:blipFill>
        <p:spPr bwMode="auto">
          <a:xfrm>
            <a:off x="457200" y="2133600"/>
            <a:ext cx="7848599" cy="3581400"/>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err="1"/>
              <a:t>Triac</a:t>
            </a:r>
            <a:r>
              <a:rPr lang="en-US" i="1" dirty="0"/>
              <a:t> output unit</a:t>
            </a:r>
            <a:endParaRPr lang="en-US" dirty="0"/>
          </a:p>
        </p:txBody>
      </p:sp>
      <p:pic>
        <p:nvPicPr>
          <p:cNvPr id="1026" name="Picture 2"/>
          <p:cNvPicPr>
            <a:picLocks noGrp="1" noChangeAspect="1" noChangeArrowheads="1"/>
          </p:cNvPicPr>
          <p:nvPr>
            <p:ph sz="quarter" idx="1"/>
          </p:nvPr>
        </p:nvPicPr>
        <p:blipFill>
          <a:blip r:embed="rId2"/>
          <a:stretch>
            <a:fillRect/>
          </a:stretch>
        </p:blipFill>
        <p:spPr bwMode="auto">
          <a:xfrm>
            <a:off x="612649" y="2133601"/>
            <a:ext cx="7540752" cy="4267200"/>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Analogue outputs are frequently required and can be provided by digital-to-analogue converters (DACs) at the output channel. </a:t>
            </a:r>
          </a:p>
          <a:p>
            <a:r>
              <a:rPr lang="en-US" dirty="0"/>
              <a:t>The input to the converter is a sequence of bits with each bit along a parallel line as shown on next slide.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sz="quarter" idx="1"/>
          </p:nvPr>
        </p:nvPicPr>
        <p:blipFill>
          <a:blip r:embed="rId2"/>
          <a:stretch>
            <a:fillRect/>
          </a:stretch>
        </p:blipFill>
        <p:spPr bwMode="auto">
          <a:xfrm>
            <a:off x="2146300" y="2533650"/>
            <a:ext cx="5086350" cy="2628900"/>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85000" lnSpcReduction="20000"/>
          </a:bodyPr>
          <a:lstStyle/>
          <a:p>
            <a:r>
              <a:rPr lang="en-US" dirty="0"/>
              <a:t>A bit in the 0 line gives rise to a certain size output pulse. A bit in the 1 line gives rise to an output pulse of twice the size of the 0 line pulse. A bit in the 2 line gives rise to an output pulse of twice the size of the 1 line pulse. A bit in the 3 line gives rise to an output pulse of twice the size of the 2 line pulse, and so on. </a:t>
            </a:r>
          </a:p>
          <a:p>
            <a:r>
              <a:rPr lang="en-US" dirty="0"/>
              <a:t>When the digital input changes, the analogue output changes in a stepped manner, the voltage changing by the voltage changes associated with each bit. For example, if we have an 8-bit converter then the output is made up of voltage values of 2^8 = 256 analogue steps. Suppose the output range is set to 10 V </a:t>
            </a:r>
            <a:r>
              <a:rPr lang="en-US" dirty="0" err="1"/>
              <a:t>d.c</a:t>
            </a:r>
            <a:r>
              <a:rPr lang="en-US" dirty="0"/>
              <a:t>. One bit then gives a change of 10/255 V or about 0.04 V.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Signal Conditioning</a:t>
            </a:r>
            <a:endParaRPr lang="en-US" dirty="0"/>
          </a:p>
        </p:txBody>
      </p:sp>
      <p:sp>
        <p:nvSpPr>
          <p:cNvPr id="3" name="Content Placeholder 2"/>
          <p:cNvSpPr>
            <a:spLocks noGrp="1"/>
          </p:cNvSpPr>
          <p:nvPr>
            <p:ph sz="quarter" idx="1"/>
          </p:nvPr>
        </p:nvSpPr>
        <p:spPr/>
        <p:txBody>
          <a:bodyPr>
            <a:normAutofit fontScale="92500"/>
          </a:bodyPr>
          <a:lstStyle/>
          <a:p>
            <a:r>
              <a:rPr lang="en-US" dirty="0"/>
              <a:t>When connecting sensors which generate digital or discrete signals to an input unit, care has to be taken to ensure that voltage levels match.</a:t>
            </a:r>
          </a:p>
          <a:p>
            <a:r>
              <a:rPr lang="en-US" dirty="0"/>
              <a:t>However, many sensors generate analogue signals. In order to avoid having a multiplicity of analogue input channels to cope with the wide diversity of analogue signals that can be generated by sensors, external signal conditioning is often used to bring analogue signals to a common range and so allow a standard form of analogue input channel to be used.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dirty="0"/>
              <a:t>A common standard that is used (Fig. below) is to convert analogue signals to a current in the range 4 to 20 </a:t>
            </a:r>
            <a:r>
              <a:rPr lang="en-US" dirty="0" err="1"/>
              <a:t>mA</a:t>
            </a:r>
            <a:r>
              <a:rPr lang="en-US" dirty="0"/>
              <a:t> and thus to a voltage by passing it through a 250 </a:t>
            </a:r>
            <a:r>
              <a:rPr lang="el-GR" dirty="0"/>
              <a:t>Ώ</a:t>
            </a:r>
            <a:r>
              <a:rPr lang="en-US" dirty="0"/>
              <a:t> resistance to give a 1 to 5 V input signal. </a:t>
            </a:r>
          </a:p>
          <a:p>
            <a:r>
              <a:rPr lang="en-US" dirty="0"/>
              <a:t>Thus, for example, a sensor used to monitor liquid level in the height range 0 to 1 m would have the 0 level represented by 4 </a:t>
            </a:r>
            <a:r>
              <a:rPr lang="en-US" dirty="0" err="1"/>
              <a:t>mA</a:t>
            </a:r>
            <a:r>
              <a:rPr lang="en-US" dirty="0"/>
              <a:t> and the 1 m represented by 20 </a:t>
            </a:r>
            <a:r>
              <a:rPr lang="en-US" dirty="0" err="1"/>
              <a:t>mA</a:t>
            </a:r>
            <a:r>
              <a:rPr lang="en-US" dirty="0"/>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3074" name="Picture 2"/>
          <p:cNvPicPr>
            <a:picLocks noGrp="1" noChangeAspect="1" noChangeArrowheads="1"/>
          </p:cNvPicPr>
          <p:nvPr>
            <p:ph sz="quarter" idx="1"/>
          </p:nvPr>
        </p:nvPicPr>
        <p:blipFill>
          <a:blip r:embed="rId2"/>
          <a:srcRect/>
          <a:stretch>
            <a:fillRect/>
          </a:stretch>
        </p:blipFill>
        <p:spPr bwMode="auto">
          <a:xfrm>
            <a:off x="1447800" y="1828800"/>
            <a:ext cx="7162800" cy="33528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1295400" y="381000"/>
            <a:ext cx="6858000" cy="1066800"/>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potential divider (Figure below) can be used to reduce a voltage from</a:t>
            </a:r>
            <a:br>
              <a:rPr lang="en-US" dirty="0"/>
            </a:br>
            <a:r>
              <a:rPr lang="en-US" dirty="0"/>
              <a:t>a sensor to the required level; </a:t>
            </a:r>
            <a:br>
              <a:rPr lang="en-US" dirty="0"/>
            </a:br>
            <a:r>
              <a:rPr lang="en-US" dirty="0"/>
              <a:t>the output voltage level </a:t>
            </a:r>
            <a:r>
              <a:rPr lang="en-US" i="1" dirty="0" err="1"/>
              <a:t>Vout</a:t>
            </a:r>
            <a:r>
              <a:rPr lang="en-US" i="1" dirty="0"/>
              <a:t> is:</a:t>
            </a:r>
            <a:endParaRPr lang="en-US" dirty="0"/>
          </a:p>
        </p:txBody>
      </p:sp>
      <p:pic>
        <p:nvPicPr>
          <p:cNvPr id="4098" name="Picture 2"/>
          <p:cNvPicPr>
            <a:picLocks noGrp="1" noChangeAspect="1" noChangeArrowheads="1"/>
          </p:cNvPicPr>
          <p:nvPr>
            <p:ph sz="quarter" idx="1"/>
          </p:nvPr>
        </p:nvPicPr>
        <p:blipFill>
          <a:blip r:embed="rId2"/>
          <a:stretch>
            <a:fillRect/>
          </a:stretch>
        </p:blipFill>
        <p:spPr bwMode="auto">
          <a:xfrm>
            <a:off x="3351212" y="2838450"/>
            <a:ext cx="2676525" cy="2019300"/>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r>
              <a:rPr lang="en-US" dirty="0"/>
              <a:t>Amplifiers can be used to increase the voltage level; Figure shows the basic form of the circuits that might be used with a 741 operational amplifier with (a) being an inverting amplifier and (b) a non-inverting</a:t>
            </a:r>
          </a:p>
          <a:p>
            <a:r>
              <a:rPr lang="en-US" dirty="0"/>
              <a:t>amplifier. With the inverting amplifier the output </a:t>
            </a:r>
            <a:r>
              <a:rPr lang="en-US" i="1" dirty="0" err="1"/>
              <a:t>Vout</a:t>
            </a:r>
            <a:r>
              <a:rPr lang="en-US" i="1" dirty="0"/>
              <a:t> is:</a:t>
            </a:r>
            <a:endParaRPr lang="en-US" dirty="0"/>
          </a:p>
        </p:txBody>
      </p:sp>
      <p:pic>
        <p:nvPicPr>
          <p:cNvPr id="5123" name="Picture 3"/>
          <p:cNvPicPr>
            <a:picLocks noChangeAspect="1" noChangeArrowheads="1"/>
          </p:cNvPicPr>
          <p:nvPr/>
        </p:nvPicPr>
        <p:blipFill>
          <a:blip r:embed="rId2"/>
          <a:srcRect/>
          <a:stretch>
            <a:fillRect/>
          </a:stretch>
        </p:blipFill>
        <p:spPr bwMode="auto">
          <a:xfrm>
            <a:off x="3581400" y="4800600"/>
            <a:ext cx="2667000" cy="990600"/>
          </a:xfrm>
          <a:prstGeom prst="rect">
            <a:avLst/>
          </a:prstGeom>
          <a:noFill/>
          <a:ln w="9525">
            <a:noFill/>
            <a:miter lim="800000"/>
            <a:headEnd/>
            <a:tailEnd/>
          </a:ln>
          <a:effectLst/>
        </p:spPr>
      </p:pic>
      <p:pic>
        <p:nvPicPr>
          <p:cNvPr id="5124" name="Picture 4"/>
          <p:cNvPicPr>
            <a:picLocks noChangeAspect="1" noChangeArrowheads="1"/>
          </p:cNvPicPr>
          <p:nvPr/>
        </p:nvPicPr>
        <p:blipFill>
          <a:blip r:embed="rId3"/>
          <a:srcRect/>
          <a:stretch>
            <a:fillRect/>
          </a:stretch>
        </p:blipFill>
        <p:spPr bwMode="auto">
          <a:xfrm>
            <a:off x="762000" y="5638800"/>
            <a:ext cx="5943600" cy="1219200"/>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sz="quarter" idx="1"/>
          </p:nvPr>
        </p:nvPicPr>
        <p:blipFill>
          <a:blip r:embed="rId2"/>
          <a:srcRect/>
          <a:stretch>
            <a:fillRect/>
          </a:stretch>
        </p:blipFill>
        <p:spPr bwMode="auto">
          <a:xfrm>
            <a:off x="1143000" y="1066800"/>
            <a:ext cx="7619999" cy="5333999"/>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normAutofit lnSpcReduction="10000"/>
          </a:bodyPr>
          <a:lstStyle/>
          <a:p>
            <a:r>
              <a:rPr lang="en-US" dirty="0"/>
              <a:t>Often a differential amplifier is needed to amplify the difference between two input voltages. Such is the case when a sensor, e.g. a strain gauge, is connected in a Wheatstone bridge and the output is the difference between two voltages or a thermocouple where the voltage difference between the hot and cold junctions is required. </a:t>
            </a:r>
          </a:p>
          <a:p>
            <a:r>
              <a:rPr lang="en-US" dirty="0"/>
              <a:t>Figure  shows the basic form of an operational amplifier circuit for this purpose. The output voltage </a:t>
            </a:r>
            <a:r>
              <a:rPr lang="en-US" i="1" dirty="0" err="1"/>
              <a:t>Vout</a:t>
            </a:r>
            <a:r>
              <a:rPr lang="en-US" i="1" dirty="0"/>
              <a:t> is:</a:t>
            </a:r>
            <a:endParaRPr lang="en-US" dirty="0"/>
          </a:p>
        </p:txBody>
      </p:sp>
      <p:pic>
        <p:nvPicPr>
          <p:cNvPr id="7170" name="Picture 2"/>
          <p:cNvPicPr>
            <a:picLocks noChangeAspect="1" noChangeArrowheads="1"/>
          </p:cNvPicPr>
          <p:nvPr/>
        </p:nvPicPr>
        <p:blipFill>
          <a:blip r:embed="rId2"/>
          <a:srcRect/>
          <a:stretch>
            <a:fillRect/>
          </a:stretch>
        </p:blipFill>
        <p:spPr bwMode="auto">
          <a:xfrm>
            <a:off x="3733800" y="5410200"/>
            <a:ext cx="3886200" cy="1038225"/>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sz="quarter" idx="1"/>
          </p:nvPr>
        </p:nvPicPr>
        <p:blipFill>
          <a:blip r:embed="rId2"/>
          <a:stretch>
            <a:fillRect/>
          </a:stretch>
        </p:blipFill>
        <p:spPr bwMode="auto">
          <a:xfrm>
            <a:off x="2236787" y="2328862"/>
            <a:ext cx="4905375" cy="3038475"/>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dirty="0"/>
              <a:t>As an illustration of the use of signal conditioning, Figure on previous slide shows the arrangement that might be used for a strain gauge sensor. </a:t>
            </a:r>
          </a:p>
          <a:p>
            <a:r>
              <a:rPr lang="en-US" dirty="0"/>
              <a:t>The sensor is connected in a Wheatstone bridge and the out-of-balance potential difference amplified by a differential amplifier before being fed via an analogue-to-digital converter unit which is part of the analogue input port of the PLC.</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Serial and Parallel Communications</a:t>
            </a:r>
            <a:endParaRPr lang="en-US" dirty="0"/>
          </a:p>
        </p:txBody>
      </p:sp>
      <p:pic>
        <p:nvPicPr>
          <p:cNvPr id="9218" name="Picture 2"/>
          <p:cNvPicPr>
            <a:picLocks noGrp="1" noChangeAspect="1" noChangeArrowheads="1"/>
          </p:cNvPicPr>
          <p:nvPr>
            <p:ph sz="quarter" idx="1"/>
          </p:nvPr>
        </p:nvPicPr>
        <p:blipFill>
          <a:blip r:embed="rId2"/>
          <a:srcRect/>
          <a:stretch>
            <a:fillRect/>
          </a:stretch>
        </p:blipFill>
        <p:spPr bwMode="auto">
          <a:xfrm>
            <a:off x="1066800" y="1219200"/>
            <a:ext cx="7467600" cy="3810000"/>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10000"/>
          </a:bodyPr>
          <a:lstStyle/>
          <a:p>
            <a:r>
              <a:rPr lang="en-US" b="1" i="1" dirty="0"/>
              <a:t>Serial communication </a:t>
            </a:r>
            <a:r>
              <a:rPr lang="en-US" i="1" dirty="0"/>
              <a:t>is when data is transmitted one bit at a time (Figure </a:t>
            </a:r>
            <a:r>
              <a:rPr lang="en-US" dirty="0"/>
              <a:t>(a)). Thus if an 8-bit word is to be transmitted, the eight bits are transmitted one at a time in sequence along a cable. This means that a data word has to be separated into its constituent bits for transmission and then reassembled into the word when received.</a:t>
            </a:r>
          </a:p>
          <a:p>
            <a:r>
              <a:rPr lang="en-US" b="1" dirty="0"/>
              <a:t> </a:t>
            </a:r>
            <a:r>
              <a:rPr lang="en-US" b="1" i="1" dirty="0"/>
              <a:t>Parallel communication </a:t>
            </a:r>
            <a:r>
              <a:rPr lang="en-US" i="1" dirty="0"/>
              <a:t>is </a:t>
            </a:r>
            <a:r>
              <a:rPr lang="en-US" dirty="0"/>
              <a:t>when all the constituent bits of a word are simultaneously transmitted along parallel cables (Figure  (b)). This allows data to be transmitted over short distances at high speeds.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r>
              <a:rPr lang="en-US" dirty="0"/>
              <a:t>Serial communication is used for transmitting data over long distances. It is much cheaper to run, for serial communication, a single core cable over a long distance than the </a:t>
            </a:r>
            <a:r>
              <a:rPr lang="en-US" dirty="0" err="1"/>
              <a:t>multicore</a:t>
            </a:r>
            <a:r>
              <a:rPr lang="en-US" dirty="0"/>
              <a:t> cables that would be needed for parallel communication</a:t>
            </a:r>
          </a:p>
          <a:p>
            <a:r>
              <a:rPr lang="en-US" dirty="0"/>
              <a:t> Parallel communication might be used when connecting laboratory instruments to the system. However, internally, PLCs work, for speed, with parallel communications. Thus, circuits called UARTS (universal asynchronous receivers–transmitters) have to be used at input/output ports to converts serial communications signals to parallel.</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Serial standards</a:t>
            </a:r>
            <a:endParaRPr lang="en-US" dirty="0"/>
          </a:p>
        </p:txBody>
      </p:sp>
      <p:sp>
        <p:nvSpPr>
          <p:cNvPr id="3" name="Content Placeholder 2"/>
          <p:cNvSpPr>
            <a:spLocks noGrp="1"/>
          </p:cNvSpPr>
          <p:nvPr>
            <p:ph sz="quarter" idx="1"/>
          </p:nvPr>
        </p:nvSpPr>
        <p:spPr/>
        <p:txBody>
          <a:bodyPr>
            <a:normAutofit fontScale="92500" lnSpcReduction="20000"/>
          </a:bodyPr>
          <a:lstStyle/>
          <a:p>
            <a:pPr>
              <a:buNone/>
            </a:pPr>
            <a:r>
              <a:rPr lang="en-US" i="1" dirty="0"/>
              <a:t>Requirements  for serial communication</a:t>
            </a:r>
          </a:p>
          <a:p>
            <a:pPr marL="514350" indent="-514350">
              <a:buAutoNum type="arabicPeriod"/>
            </a:pPr>
            <a:r>
              <a:rPr lang="en-US" dirty="0"/>
              <a:t>Determine the voltage levels to be used for signals, i.e. what signal represents a 0 and what represents a 1.</a:t>
            </a:r>
          </a:p>
          <a:p>
            <a:pPr>
              <a:buNone/>
            </a:pPr>
            <a:r>
              <a:rPr lang="en-US" dirty="0"/>
              <a:t>2. What the bit patterns being transmitted mean and how the message is built up. A sequence of words are being sent along the same cable and it is necessary to determine when one word starts and finishes and the next word starts.</a:t>
            </a:r>
          </a:p>
          <a:p>
            <a:pPr>
              <a:buNone/>
            </a:pPr>
            <a:r>
              <a:rPr lang="en-US" dirty="0"/>
              <a:t>3. The speed at which the bit pattern is to be sent, i.e. the number of bits per second.</a:t>
            </a:r>
          </a:p>
          <a:p>
            <a:pPr marL="514350" indent="-514350">
              <a:buAutoNum type="arabicPeriod" startAt="4"/>
            </a:pPr>
            <a:r>
              <a:rPr lang="en-US" dirty="0"/>
              <a:t>Synchronization of the clocks at each end.</a:t>
            </a:r>
          </a:p>
          <a:p>
            <a:pPr marL="514350" indent="-514350">
              <a:buAutoNum type="arabicPeriod" startAt="4"/>
            </a:pPr>
            <a:endParaRPr lang="en-US" i="1"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lnSpcReduction="10000"/>
          </a:bodyPr>
          <a:lstStyle/>
          <a:p>
            <a:pPr>
              <a:buNone/>
            </a:pPr>
            <a:r>
              <a:rPr lang="en-US" dirty="0"/>
              <a:t>5. Protocols, or flow controls, to enable such information as ‘able to receive data’ or ‘not ready to receive data’. This is commonly done by using two extra signal wires (termed handshake wires), one to tell the receiver that the transmitter is ready to send the data and the other to tell the transmitter that the receiver is ready to receive data.</a:t>
            </a:r>
          </a:p>
          <a:p>
            <a:pPr>
              <a:buNone/>
            </a:pPr>
            <a:r>
              <a:rPr lang="en-US" dirty="0"/>
              <a:t>6. Error-checking to enable a bit pattern to be checked to determine if corruption of the data has occurred during transmission</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The most common standard serial communications interface used is the </a:t>
            </a:r>
            <a:r>
              <a:rPr lang="en-US" i="1" dirty="0"/>
              <a:t>RS232. Connections are made via 25-pin D-type connectors (see the figure on next slide).</a:t>
            </a:r>
          </a:p>
          <a:p>
            <a:r>
              <a:rPr lang="en-US" dirty="0"/>
              <a:t>With usually, though not always, a male plug on cables and a female socket on the equipment. Not all the pins are used in every application.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D TYPE CONNECTOR</a:t>
            </a:r>
          </a:p>
        </p:txBody>
      </p:sp>
      <p:pic>
        <p:nvPicPr>
          <p:cNvPr id="1026" name="Picture 2"/>
          <p:cNvPicPr>
            <a:picLocks noGrp="1" noChangeAspect="1" noChangeArrowheads="1"/>
          </p:cNvPicPr>
          <p:nvPr>
            <p:ph sz="quarter" idx="1"/>
          </p:nvPr>
        </p:nvPicPr>
        <p:blipFill>
          <a:blip r:embed="rId2"/>
          <a:srcRect/>
          <a:stretch>
            <a:fillRect/>
          </a:stretch>
        </p:blipFill>
        <p:spPr bwMode="auto">
          <a:xfrm>
            <a:off x="0" y="2057400"/>
            <a:ext cx="8534399" cy="3886199"/>
          </a:xfrm>
          <a:prstGeom prst="rect">
            <a:avLst/>
          </a:prstGeom>
          <a:noFill/>
          <a:ln w="9525">
            <a:noFill/>
            <a:miter lim="800000"/>
            <a:headEnd/>
            <a:tailEnd/>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62500" lnSpcReduction="20000"/>
          </a:bodyPr>
          <a:lstStyle/>
          <a:p>
            <a:pPr>
              <a:buNone/>
            </a:pPr>
            <a:r>
              <a:rPr lang="en-US" b="1" dirty="0"/>
              <a:t>The minimum requirements are:</a:t>
            </a:r>
          </a:p>
          <a:p>
            <a:pPr>
              <a:buNone/>
            </a:pPr>
            <a:r>
              <a:rPr lang="en-US" dirty="0"/>
              <a:t>          Pin 1: Ground connection to the frame of chassis</a:t>
            </a:r>
          </a:p>
          <a:p>
            <a:pPr>
              <a:buNone/>
            </a:pPr>
            <a:r>
              <a:rPr lang="en-US" dirty="0"/>
              <a:t>          Pin 2: Serial transmitted data (output data pin)</a:t>
            </a:r>
          </a:p>
          <a:p>
            <a:pPr>
              <a:buNone/>
            </a:pPr>
            <a:r>
              <a:rPr lang="en-US" dirty="0"/>
              <a:t>          Pin 3: Serial received data (input data pin)</a:t>
            </a:r>
          </a:p>
          <a:p>
            <a:pPr>
              <a:buNone/>
            </a:pPr>
            <a:r>
              <a:rPr lang="en-US" dirty="0"/>
              <a:t>          Pin 7: Signal ground which acts as a common signal return path</a:t>
            </a:r>
          </a:p>
          <a:p>
            <a:pPr>
              <a:buNone/>
            </a:pPr>
            <a:r>
              <a:rPr lang="en-US" b="1" i="1" dirty="0"/>
              <a:t>A configuration that is widely used with interfaces involving computers is:</a:t>
            </a:r>
            <a:endParaRPr lang="en-US" dirty="0"/>
          </a:p>
          <a:p>
            <a:pPr>
              <a:buNone/>
            </a:pPr>
            <a:r>
              <a:rPr lang="en-US" dirty="0"/>
              <a:t>         Pin 1: Ground connection to the frame of chassis</a:t>
            </a:r>
          </a:p>
          <a:p>
            <a:pPr>
              <a:buNone/>
            </a:pPr>
            <a:r>
              <a:rPr lang="en-US" dirty="0"/>
              <a:t>         Pin 2: Serial transmitted data (output data pin)</a:t>
            </a:r>
          </a:p>
          <a:p>
            <a:pPr>
              <a:buNone/>
            </a:pPr>
            <a:r>
              <a:rPr lang="en-US" dirty="0"/>
              <a:t>         Pin 3: Serial received data (input data pin)</a:t>
            </a:r>
          </a:p>
          <a:p>
            <a:pPr>
              <a:buNone/>
            </a:pPr>
            <a:r>
              <a:rPr lang="en-US" dirty="0"/>
              <a:t>         Pin 4: Request to send</a:t>
            </a:r>
          </a:p>
          <a:p>
            <a:pPr>
              <a:buNone/>
            </a:pPr>
            <a:r>
              <a:rPr lang="en-US" dirty="0"/>
              <a:t>         Pin 5: Clear to send</a:t>
            </a:r>
          </a:p>
          <a:p>
            <a:pPr>
              <a:buNone/>
            </a:pPr>
            <a:r>
              <a:rPr lang="en-US" dirty="0"/>
              <a:t>         Pin 6: Data set ready</a:t>
            </a:r>
          </a:p>
          <a:p>
            <a:pPr>
              <a:buNone/>
            </a:pPr>
            <a:r>
              <a:rPr lang="en-US" dirty="0"/>
              <a:t>         Pin 7: Signal ground which acts as a common signal return path</a:t>
            </a:r>
          </a:p>
          <a:p>
            <a:pPr>
              <a:buNone/>
            </a:pPr>
            <a:r>
              <a:rPr lang="en-US" dirty="0"/>
              <a:t>         Pin 20: Data terminal ready</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dirty="0"/>
              <a:t>The signals sent through pins 4, 5, 6 and 20 are used to check that the receiving end is ready to receive a signal, the transmitting end is ready to send and the data is ready to be sent. With RS232, a 1 bit is represented by a voltage between −5 and −25 V, normally −12 V, and a 0 by a voltage between +5 and +25 V, normally +12 V.</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dirty="0"/>
              <a:t>The term </a:t>
            </a:r>
            <a:r>
              <a:rPr lang="en-US" i="1" dirty="0"/>
              <a:t>baud rate is used to describe the transmission rate, it being </a:t>
            </a:r>
            <a:r>
              <a:rPr lang="en-US" dirty="0"/>
              <a:t>approximately the number of bits transmitted or received per second.</a:t>
            </a:r>
          </a:p>
          <a:p>
            <a:r>
              <a:rPr lang="en-US" dirty="0"/>
              <a:t>However, not all the bits transmitted can be used for data, some have to be used to indicate the start and stop of a serial piece of data, these often being termed </a:t>
            </a:r>
            <a:r>
              <a:rPr lang="en-US" i="1" dirty="0"/>
              <a:t>flags, and as a check as to whether the data has been </a:t>
            </a:r>
            <a:r>
              <a:rPr lang="en-US" dirty="0"/>
              <a:t>corrupted during transmission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RS232 signal levels</a:t>
            </a:r>
            <a:endParaRPr lang="en-US" dirty="0"/>
          </a:p>
        </p:txBody>
      </p:sp>
      <p:sp>
        <p:nvSpPr>
          <p:cNvPr id="3" name="Content Placeholder 2"/>
          <p:cNvSpPr>
            <a:spLocks noGrp="1"/>
          </p:cNvSpPr>
          <p:nvPr>
            <p:ph sz="quarter" idx="1"/>
          </p:nvPr>
        </p:nvSpPr>
        <p:spPr>
          <a:xfrm>
            <a:off x="533400" y="1676400"/>
            <a:ext cx="8229600" cy="4525963"/>
          </a:xfrm>
        </p:spPr>
        <p:txBody>
          <a:bodyPr/>
          <a:lstStyle/>
          <a:p>
            <a:r>
              <a:rPr lang="en-US" sz="2400" dirty="0"/>
              <a:t>The fig. below shows the type of signal that might be sent with RS232. The parity bit is added to check whether corruption has occurred, with even parity a 1 being added to make the number of 1s an even number. To send seven bits of data, eleven bits may be required</a:t>
            </a:r>
            <a:r>
              <a:rPr lang="en-US" dirty="0"/>
              <a:t>.</a:t>
            </a:r>
          </a:p>
        </p:txBody>
      </p:sp>
      <p:pic>
        <p:nvPicPr>
          <p:cNvPr id="2051" name="Picture 3"/>
          <p:cNvPicPr>
            <a:picLocks noChangeAspect="1" noChangeArrowheads="1"/>
          </p:cNvPicPr>
          <p:nvPr/>
        </p:nvPicPr>
        <p:blipFill>
          <a:blip r:embed="rId2"/>
          <a:srcRect/>
          <a:stretch>
            <a:fillRect/>
          </a:stretch>
        </p:blipFill>
        <p:spPr bwMode="auto">
          <a:xfrm>
            <a:off x="1371600" y="3657600"/>
            <a:ext cx="6705600" cy="2971800"/>
          </a:xfrm>
          <a:prstGeom prst="rect">
            <a:avLst/>
          </a:prstGeom>
          <a:noFill/>
          <a:ln w="9525">
            <a:noFill/>
            <a:miter lim="800000"/>
            <a:headEnd/>
            <a:tailEnd/>
          </a:ln>
          <a:effec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dirty="0"/>
              <a:t>The signals sent through pins 4, 5, 6 and 20 are used to check that the</a:t>
            </a:r>
          </a:p>
          <a:p>
            <a:r>
              <a:rPr lang="en-US" dirty="0"/>
              <a:t>receiving end is ready to receive a signal, the transmitting end is ready to</a:t>
            </a:r>
          </a:p>
          <a:p>
            <a:r>
              <a:rPr lang="en-US" dirty="0"/>
              <a:t>send and the data is ready to be sent. With RS232, a 1 bit is represented</a:t>
            </a:r>
          </a:p>
          <a:p>
            <a:r>
              <a:rPr lang="en-US" dirty="0"/>
              <a:t>by a voltage between −5 and −25 V, normally −12 V, and a 0 by a voltage</a:t>
            </a:r>
          </a:p>
          <a:p>
            <a:r>
              <a:rPr lang="en-US" dirty="0"/>
              <a:t>between +5 and +25 V, normally +12 V.</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Ladder and functional</a:t>
            </a:r>
            <a:br>
              <a:rPr lang="en-US" b="1" dirty="0"/>
            </a:br>
            <a:r>
              <a:rPr lang="en-US" b="1" dirty="0"/>
              <a:t>block programming</a:t>
            </a:r>
            <a:endParaRPr lang="en-US" dirty="0"/>
          </a:p>
        </p:txBody>
      </p:sp>
      <p:sp>
        <p:nvSpPr>
          <p:cNvPr id="3" name="Content Placeholder 2"/>
          <p:cNvSpPr>
            <a:spLocks noGrp="1"/>
          </p:cNvSpPr>
          <p:nvPr>
            <p:ph sz="quarter" idx="1"/>
          </p:nvPr>
        </p:nvSpPr>
        <p:spPr/>
        <p:txBody>
          <a:bodyPr>
            <a:normAutofit fontScale="77500" lnSpcReduction="20000"/>
          </a:bodyPr>
          <a:lstStyle/>
          <a:p>
            <a:r>
              <a:rPr lang="en-US" sz="3100" dirty="0"/>
              <a:t>Programming can be made even easier by the use of the so-called </a:t>
            </a:r>
            <a:r>
              <a:rPr lang="en-US" sz="3100" i="1" dirty="0"/>
              <a:t>high level languages, e.g. C, BASIC, PASCAL, FORTRAN,</a:t>
            </a:r>
            <a:r>
              <a:rPr lang="en-US" sz="3100" dirty="0"/>
              <a:t>COBOL</a:t>
            </a:r>
          </a:p>
          <a:p>
            <a:r>
              <a:rPr lang="en-US" sz="3100" dirty="0"/>
              <a:t>These use pre-packaged functions, represented by simple words or symbols descriptive of the function concerned. </a:t>
            </a:r>
            <a:r>
              <a:rPr lang="en-US" sz="3100" b="1" i="1" dirty="0"/>
              <a:t>For example</a:t>
            </a:r>
            <a:r>
              <a:rPr lang="en-US" sz="3100" dirty="0"/>
              <a:t>, with C language the symbol </a:t>
            </a:r>
            <a:r>
              <a:rPr lang="en-US" sz="3100" b="1" i="1" dirty="0"/>
              <a:t>&amp;</a:t>
            </a:r>
            <a:r>
              <a:rPr lang="en-US" sz="3100" dirty="0"/>
              <a:t> is used for the logic </a:t>
            </a:r>
            <a:r>
              <a:rPr lang="en-US" sz="3100" b="1" dirty="0"/>
              <a:t>AND</a:t>
            </a:r>
            <a:r>
              <a:rPr lang="en-US" sz="3100" dirty="0"/>
              <a:t> operation. However, the use of these methods to write programs requires some skill in programming and PLCs are intended to be used by engineers without any great knowledge of programming, hence ladder diagram</a:t>
            </a:r>
            <a:r>
              <a:rPr lang="en-US" sz="3100" i="1" dirty="0"/>
              <a:t> programming was developed. </a:t>
            </a:r>
          </a:p>
          <a:p>
            <a:r>
              <a:rPr lang="en-US" sz="3100" i="1" dirty="0"/>
              <a:t>This is a means of writing programs which </a:t>
            </a:r>
            <a:r>
              <a:rPr lang="en-US" sz="3100" dirty="0"/>
              <a:t>can then be converted into machine code by some software for use by the PLC microprocessor. </a:t>
            </a:r>
          </a:p>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normAutofit/>
          </a:bodyPr>
          <a:lstStyle/>
          <a:p>
            <a:r>
              <a:rPr lang="en-US" dirty="0"/>
              <a:t>This chapter is an introduction to the programming of a PLC using ladder diagrams and functional block diagrams, Here we are concerned with the basic techniques involved in developing ladder and function block programs to represent basic switching operations, involving the logic functions of AND, OR, Exclusive OR, NAND and NOR, and latching.</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PLC ladder programming</a:t>
            </a:r>
            <a:endParaRPr lang="en-US" dirty="0"/>
          </a:p>
        </p:txBody>
      </p:sp>
      <p:sp>
        <p:nvSpPr>
          <p:cNvPr id="3" name="Content Placeholder 2"/>
          <p:cNvSpPr>
            <a:spLocks noGrp="1"/>
          </p:cNvSpPr>
          <p:nvPr>
            <p:ph sz="quarter" idx="1"/>
          </p:nvPr>
        </p:nvSpPr>
        <p:spPr/>
        <p:txBody>
          <a:bodyPr>
            <a:normAutofit fontScale="85000" lnSpcReduction="10000"/>
          </a:bodyPr>
          <a:lstStyle/>
          <a:p>
            <a:r>
              <a:rPr lang="en-US" dirty="0"/>
              <a:t>Writing a program is then equivalent to drawing a switching circuit. The ladder diagram consists of two vertical lines representing the power rails. Circuits are connected as horizontal lines, i.e. </a:t>
            </a:r>
            <a:r>
              <a:rPr lang="en-US" b="1" i="1" dirty="0"/>
              <a:t>the rungs </a:t>
            </a:r>
            <a:r>
              <a:rPr lang="en-US" dirty="0"/>
              <a:t>of the ladder, between these two verticals.</a:t>
            </a:r>
          </a:p>
          <a:p>
            <a:r>
              <a:rPr lang="en-US" dirty="0"/>
              <a:t>a). The vertical lines of the diagram represent the power rails between which circuits are connected. The power flow is taken to be from the left-hand vertical across a rung.</a:t>
            </a:r>
          </a:p>
          <a:p>
            <a:r>
              <a:rPr lang="en-US" dirty="0"/>
              <a:t>b). Each rung on the ladder defines one operation in the control process.</a:t>
            </a:r>
          </a:p>
          <a:p>
            <a:r>
              <a:rPr lang="en-US" dirty="0"/>
              <a:t>c). A ladder diagram is read from left to right and from top to bottom. </a:t>
            </a:r>
            <a:r>
              <a:rPr lang="en-US" b="1" i="1" dirty="0"/>
              <a:t>See on the next fig.</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t>
            </a:r>
          </a:p>
        </p:txBody>
      </p:sp>
      <p:pic>
        <p:nvPicPr>
          <p:cNvPr id="1026" name="Picture 2"/>
          <p:cNvPicPr>
            <a:picLocks noGrp="1" noChangeAspect="1" noChangeArrowheads="1"/>
          </p:cNvPicPr>
          <p:nvPr>
            <p:ph sz="quarter" idx="1"/>
          </p:nvPr>
        </p:nvPicPr>
        <p:blipFill>
          <a:blip r:embed="rId2"/>
          <a:srcRect/>
          <a:stretch>
            <a:fillRect/>
          </a:stretch>
        </p:blipFill>
        <p:spPr bwMode="auto">
          <a:xfrm>
            <a:off x="1524000" y="1981200"/>
            <a:ext cx="6629400" cy="3200400"/>
          </a:xfrm>
          <a:prstGeom prst="rect">
            <a:avLst/>
          </a:prstGeom>
          <a:noFill/>
          <a:ln w="9525">
            <a:noFill/>
            <a:miter lim="800000"/>
            <a:headEnd/>
            <a:tailEnd/>
          </a:ln>
          <a:effectLst/>
        </p:spPr>
      </p:pic>
      <p:sp>
        <p:nvSpPr>
          <p:cNvPr id="5" name="Rectangle 4"/>
          <p:cNvSpPr/>
          <p:nvPr/>
        </p:nvSpPr>
        <p:spPr>
          <a:xfrm>
            <a:off x="1143000" y="5181600"/>
            <a:ext cx="6705600" cy="1200329"/>
          </a:xfrm>
          <a:prstGeom prst="rect">
            <a:avLst/>
          </a:prstGeom>
        </p:spPr>
        <p:txBody>
          <a:bodyPr wrap="square">
            <a:spAutoFit/>
          </a:bodyPr>
          <a:lstStyle/>
          <a:p>
            <a:r>
              <a:rPr lang="en-US" sz="2400" dirty="0" err="1"/>
              <a:t>Note:The</a:t>
            </a:r>
            <a:r>
              <a:rPr lang="en-US" sz="2400" dirty="0"/>
              <a:t> end rung might be indicated by a block with the word END or RET for return, since the program promptly returns to its beginning</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10000"/>
          </a:bodyPr>
          <a:lstStyle/>
          <a:p>
            <a:r>
              <a:rPr lang="en-US" dirty="0"/>
              <a:t>d). Each rung must start with an input or inputs and must end with at least one output.</a:t>
            </a:r>
          </a:p>
          <a:p>
            <a:r>
              <a:rPr lang="en-US" dirty="0"/>
              <a:t>e). Electrical devices are shown in their normal condition. Thus a switch which is normally open until some object closes it, is shown as open on the ladder diagram. A switch that is normally closed is shown closed.</a:t>
            </a:r>
          </a:p>
          <a:p>
            <a:r>
              <a:rPr lang="en-US" dirty="0"/>
              <a:t>f). A particular device can appear in more than one rung of a ladder. For example, we might have a relay which switches on one or more devices. The same letters and/or numbers are used to label the device in each situation.</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dirty="0"/>
              <a:t>g). The inputs and outputs are all identified by their addresses, the notation used depending on the PLC manufacturer.</a:t>
            </a:r>
          </a:p>
          <a:p>
            <a:endParaRPr lang="en-US" dirty="0"/>
          </a:p>
          <a:p>
            <a:r>
              <a:rPr lang="en-US" b="1" i="1" dirty="0"/>
              <a:t>Note:   </a:t>
            </a:r>
            <a:r>
              <a:rPr lang="en-US" dirty="0"/>
              <a:t>Some slight variations occur between the symbols when used in semi-graphic form and when in full graphic. Note that inputs are represented by different symbols representing normally open or normally closed contacts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Some symbol in semi and full graphics</a:t>
            </a:r>
          </a:p>
        </p:txBody>
      </p:sp>
      <p:pic>
        <p:nvPicPr>
          <p:cNvPr id="2050" name="Picture 2"/>
          <p:cNvPicPr>
            <a:picLocks noGrp="1" noChangeAspect="1" noChangeArrowheads="1"/>
          </p:cNvPicPr>
          <p:nvPr>
            <p:ph sz="quarter" idx="1"/>
          </p:nvPr>
        </p:nvPicPr>
        <p:blipFill>
          <a:blip r:embed="rId2"/>
          <a:srcRect/>
          <a:stretch>
            <a:fillRect/>
          </a:stretch>
        </p:blipFill>
        <p:spPr bwMode="auto">
          <a:xfrm>
            <a:off x="1219200" y="2667000"/>
            <a:ext cx="7315199" cy="1809750"/>
          </a:xfrm>
          <a:prstGeom prst="rect">
            <a:avLst/>
          </a:prstGeom>
          <a:noFill/>
          <a:ln w="9525">
            <a:noFill/>
            <a:miter lim="800000"/>
            <a:headEnd/>
            <a:tailEnd/>
          </a:ln>
          <a:effec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r>
              <a:rPr lang="en-US" dirty="0"/>
              <a:t>In drawing ladder diagrams the names of the associated variable or addresses of each element are appended to its symbol. Thus Figures below shows how the ladder diagram would appear using</a:t>
            </a:r>
          </a:p>
          <a:p>
            <a:r>
              <a:rPr lang="en-US" dirty="0"/>
              <a:t> (a) Mitsubishi, (b) Siemens, (c) Allen-Bradley, (d) </a:t>
            </a:r>
            <a:r>
              <a:rPr lang="en-US" dirty="0" err="1"/>
              <a:t>Telemecanique</a:t>
            </a:r>
            <a:r>
              <a:rPr lang="en-US" dirty="0"/>
              <a:t> notations for the addresses. Thus Figure (a) indicates that this rung of the ladder program has an input from address X400 and an output to address Y430.</a:t>
            </a:r>
          </a:p>
          <a:p>
            <a:r>
              <a:rPr lang="en-US" dirty="0"/>
              <a:t>When wiring up the inputs and outputs to the PLC, the relevant ones must be connected to the input and output terminals with these addresses.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sz="quarter" idx="1"/>
          </p:nvPr>
        </p:nvPicPr>
        <p:blipFill>
          <a:blip r:embed="rId2"/>
          <a:srcRect/>
          <a:stretch>
            <a:fillRect/>
          </a:stretch>
        </p:blipFill>
        <p:spPr bwMode="auto">
          <a:xfrm>
            <a:off x="762000" y="1981200"/>
            <a:ext cx="7696200" cy="3733800"/>
          </a:xfrm>
          <a:prstGeom prst="rect">
            <a:avLst/>
          </a:prstGeom>
          <a:noFill/>
          <a:ln w="9525">
            <a:noFill/>
            <a:miter lim="800000"/>
            <a:headEnd/>
            <a:tailEnd/>
          </a:ln>
          <a:effec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Logic functions</a:t>
            </a:r>
            <a:endParaRPr lang="en-US" dirty="0"/>
          </a:p>
        </p:txBody>
      </p:sp>
      <p:sp>
        <p:nvSpPr>
          <p:cNvPr id="3" name="Content Placeholder 2"/>
          <p:cNvSpPr>
            <a:spLocks noGrp="1"/>
          </p:cNvSpPr>
          <p:nvPr>
            <p:ph sz="quarter" idx="1"/>
          </p:nvPr>
        </p:nvSpPr>
        <p:spPr/>
        <p:txBody>
          <a:bodyPr>
            <a:normAutofit lnSpcReduction="10000"/>
          </a:bodyPr>
          <a:lstStyle/>
          <a:p>
            <a:r>
              <a:rPr lang="en-US" dirty="0"/>
              <a:t>There are many control situations requiring actions to be initiated when a certain combination of conditions is </a:t>
            </a:r>
            <a:r>
              <a:rPr lang="en-US" dirty="0" err="1"/>
              <a:t>realised</a:t>
            </a:r>
            <a:r>
              <a:rPr lang="en-US" dirty="0"/>
              <a:t>.</a:t>
            </a:r>
          </a:p>
          <a:p>
            <a:r>
              <a:rPr lang="en-US" dirty="0"/>
              <a:t>Consider the drill motor is to be activated when the limit switches are activated that indicate the presence of the </a:t>
            </a:r>
            <a:r>
              <a:rPr lang="en-US" dirty="0" err="1"/>
              <a:t>workpiece</a:t>
            </a:r>
            <a:r>
              <a:rPr lang="en-US" dirty="0"/>
              <a:t> and the drill position as being at the surface of the </a:t>
            </a:r>
            <a:r>
              <a:rPr lang="en-US" dirty="0" err="1"/>
              <a:t>workpiece</a:t>
            </a:r>
            <a:r>
              <a:rPr lang="en-US" dirty="0"/>
              <a:t> ,Such a situation involves the </a:t>
            </a:r>
            <a:r>
              <a:rPr lang="en-US" b="1" i="1" dirty="0"/>
              <a:t>AND </a:t>
            </a:r>
            <a:r>
              <a:rPr lang="en-US" dirty="0"/>
              <a:t>logic function, condition A and condition B having both to be </a:t>
            </a:r>
            <a:r>
              <a:rPr lang="en-US" dirty="0" err="1"/>
              <a:t>realised</a:t>
            </a:r>
            <a:r>
              <a:rPr lang="en-US" dirty="0"/>
              <a:t> for an output to occur.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r>
              <a:rPr lang="en-US" b="1" dirty="0"/>
              <a:t>AND</a:t>
            </a:r>
          </a:p>
          <a:p>
            <a:r>
              <a:rPr lang="en-US" dirty="0"/>
              <a:t>Shows a situation where an output is not </a:t>
            </a:r>
            <a:r>
              <a:rPr lang="en-US" dirty="0" err="1"/>
              <a:t>energised</a:t>
            </a:r>
            <a:r>
              <a:rPr lang="en-US" dirty="0"/>
              <a:t> unless two, normally open, switches are both closed. Switch A and switch B have both to be closed, which thus gives an AND logic situation. We can think of this as representing a control system with two inputs A and B</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sz="quarter" idx="1"/>
          </p:nvPr>
        </p:nvPicPr>
        <p:blipFill>
          <a:blip r:embed="rId2"/>
          <a:srcRect/>
          <a:stretch>
            <a:fillRect/>
          </a:stretch>
        </p:blipFill>
        <p:spPr bwMode="auto">
          <a:xfrm>
            <a:off x="685800" y="457200"/>
            <a:ext cx="6934200" cy="312420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381000" y="3847723"/>
            <a:ext cx="8001000" cy="3010277"/>
          </a:xfrm>
          <a:prstGeom prst="rect">
            <a:avLst/>
          </a:prstGeom>
          <a:noFill/>
          <a:ln w="9525">
            <a:noFill/>
            <a:miter lim="800000"/>
            <a:headEnd/>
            <a:tailEnd/>
          </a:ln>
          <a:effec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normAutofit/>
          </a:bodyPr>
          <a:lstStyle/>
          <a:p>
            <a:r>
              <a:rPr lang="en-US" b="1" dirty="0"/>
              <a:t>OR</a:t>
            </a:r>
          </a:p>
          <a:p>
            <a:r>
              <a:rPr lang="en-US" dirty="0"/>
              <a:t>Shows an electrical circuit where an output is </a:t>
            </a:r>
            <a:r>
              <a:rPr lang="en-US" dirty="0" err="1"/>
              <a:t>energised</a:t>
            </a:r>
            <a:r>
              <a:rPr lang="en-US" dirty="0"/>
              <a:t> when switch A or B, both normally open, are closed. The </a:t>
            </a:r>
            <a:r>
              <a:rPr lang="en-US" dirty="0" err="1"/>
              <a:t>lader</a:t>
            </a:r>
            <a:r>
              <a:rPr lang="en-US" dirty="0"/>
              <a:t> diagram describe it</a:t>
            </a:r>
          </a:p>
          <a:p>
            <a:endParaRPr lang="en-US" dirty="0"/>
          </a:p>
          <a:p>
            <a:endParaRPr lang="en-US" dirty="0"/>
          </a:p>
        </p:txBody>
      </p:sp>
      <p:pic>
        <p:nvPicPr>
          <p:cNvPr id="5123" name="Picture 3"/>
          <p:cNvPicPr>
            <a:picLocks noChangeAspect="1" noChangeArrowheads="1"/>
          </p:cNvPicPr>
          <p:nvPr/>
        </p:nvPicPr>
        <p:blipFill>
          <a:blip r:embed="rId2"/>
          <a:srcRect/>
          <a:stretch>
            <a:fillRect/>
          </a:stretch>
        </p:blipFill>
        <p:spPr bwMode="auto">
          <a:xfrm>
            <a:off x="1600200" y="3657600"/>
            <a:ext cx="7086600" cy="2971800"/>
          </a:xfrm>
          <a:prstGeom prst="rect">
            <a:avLst/>
          </a:prstGeom>
          <a:noFill/>
          <a:ln w="9525">
            <a:noFill/>
            <a:miter lim="800000"/>
            <a:headEnd/>
            <a:tailEnd/>
          </a:ln>
          <a:effec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An example of an OR gate control system is a conveyor belt transporting bottled products to packaging where a </a:t>
            </a:r>
            <a:r>
              <a:rPr lang="en-US" i="1" dirty="0"/>
              <a:t>deflector plate is activated to deflect bottles into a reject bin if either the weight is not within certain tolerances </a:t>
            </a:r>
            <a:r>
              <a:rPr lang="en-US" b="1" i="1" dirty="0"/>
              <a:t>or</a:t>
            </a:r>
            <a:r>
              <a:rPr lang="en-US" i="1" dirty="0"/>
              <a:t> there is no cap on the bottle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TIMERS, COUNTERS</a:t>
            </a:r>
          </a:p>
        </p:txBody>
      </p:sp>
      <p:sp>
        <p:nvSpPr>
          <p:cNvPr id="3" name="Content Placeholder 2"/>
          <p:cNvSpPr>
            <a:spLocks noGrp="1"/>
          </p:cNvSpPr>
          <p:nvPr>
            <p:ph sz="quarter" idx="1"/>
          </p:nvPr>
        </p:nvSpPr>
        <p:spPr>
          <a:xfrm>
            <a:off x="152400" y="1600200"/>
            <a:ext cx="8991600" cy="5257800"/>
          </a:xfrm>
        </p:spPr>
        <p:txBody>
          <a:bodyPr>
            <a:normAutofit fontScale="92500" lnSpcReduction="20000"/>
          </a:bodyPr>
          <a:lstStyle/>
          <a:p>
            <a:r>
              <a:rPr lang="en-US" dirty="0"/>
              <a:t>Timers and counters have been in existence for as long as relays and provide an important component in the development of logic. </a:t>
            </a:r>
          </a:p>
          <a:p>
            <a:r>
              <a:rPr lang="en-US" dirty="0"/>
              <a:t>Timers were constructed in the past as an add-on device to relays slowing down the transition of the plunger from immediately opening or closing. The time delay was accomplished with a pneumatic bladder that allowed the air to escape either quickly or slowly depending on the setting of the timer. </a:t>
            </a:r>
          </a:p>
          <a:p>
            <a:r>
              <a:rPr lang="en-US" dirty="0"/>
              <a:t>Quick was usually less than a second and slow was usually between 30 and 60 seconds. Setting this kind of timer was an inexact science and today's traffic lights are an example of the fickle nature of timers that seldom respond in exactly the same from day to day and year to year. </a:t>
            </a:r>
          </a:p>
        </p:txBody>
      </p:sp>
    </p:spTree>
    <p:extLst>
      <p:ext uri="{BB962C8B-B14F-4D97-AF65-F5344CB8AC3E}">
        <p14:creationId xmlns:p14="http://schemas.microsoft.com/office/powerpoint/2010/main" val="39023400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Timers</a:t>
            </a:r>
          </a:p>
        </p:txBody>
      </p:sp>
      <p:sp>
        <p:nvSpPr>
          <p:cNvPr id="3" name="Content Placeholder 2"/>
          <p:cNvSpPr>
            <a:spLocks noGrp="1"/>
          </p:cNvSpPr>
          <p:nvPr>
            <p:ph sz="quarter" idx="1"/>
          </p:nvPr>
        </p:nvSpPr>
        <p:spPr>
          <a:xfrm>
            <a:off x="76200" y="1600200"/>
            <a:ext cx="9067800" cy="5257800"/>
          </a:xfrm>
        </p:spPr>
        <p:txBody>
          <a:bodyPr>
            <a:normAutofit/>
          </a:bodyPr>
          <a:lstStyle/>
          <a:p>
            <a:r>
              <a:rPr lang="en-US" sz="2800" dirty="0"/>
              <a:t>Timers are used to provide logic when a circuit turns on or off. Traditional pneumatic timers were provided as either on-delay timers or off-delay timers. </a:t>
            </a:r>
          </a:p>
          <a:p>
            <a:r>
              <a:rPr lang="en-US" sz="2800" dirty="0"/>
              <a:t>Contacts were provided both normally open and normally closed for each type of timer. The timer head was chosen as either the on-delay type or off-delay type. </a:t>
            </a:r>
          </a:p>
          <a:p>
            <a:r>
              <a:rPr lang="en-US" sz="2800" dirty="0"/>
              <a:t>PLCs allow for a quick change from one type to the other with a few keystrokes on the programming panel. </a:t>
            </a:r>
          </a:p>
        </p:txBody>
      </p:sp>
    </p:spTree>
    <p:extLst>
      <p:ext uri="{BB962C8B-B14F-4D97-AF65-F5344CB8AC3E}">
        <p14:creationId xmlns:p14="http://schemas.microsoft.com/office/powerpoint/2010/main" val="26610359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1305342"/>
            <a:ext cx="8839200" cy="5016758"/>
          </a:xfrm>
          <a:prstGeom prst="rect">
            <a:avLst/>
          </a:prstGeom>
        </p:spPr>
        <p:txBody>
          <a:bodyPr wrap="square">
            <a:spAutoFit/>
          </a:bodyPr>
          <a:lstStyle/>
          <a:p>
            <a:r>
              <a:rPr lang="en-US" sz="3200" dirty="0">
                <a:latin typeface="Arial" panose="020B0604020202020204" pitchFamily="34" charset="0"/>
                <a:cs typeface="Arial" panose="020B0604020202020204" pitchFamily="34" charset="0"/>
              </a:rPr>
              <a:t>PLC vendors do not need to use the terms of on-delay or off-delay, normally closed, normally open, held closed, or held open, these terms are an important part of design of PLC circuits.</a:t>
            </a:r>
          </a:p>
          <a:p>
            <a:r>
              <a:rPr lang="en-US" sz="3200" dirty="0">
                <a:latin typeface="Arial" panose="020B0604020202020204" pitchFamily="34" charset="0"/>
                <a:cs typeface="Arial" panose="020B0604020202020204" pitchFamily="34" charset="0"/>
              </a:rPr>
              <a:t> Some vendors still use the terms to show linkage between the PLC and the original timer circuits.</a:t>
            </a:r>
          </a:p>
          <a:p>
            <a:r>
              <a:rPr lang="en-US" sz="3200" dirty="0">
                <a:latin typeface="Arial" panose="020B0604020202020204" pitchFamily="34" charset="0"/>
                <a:cs typeface="Arial" panose="020B0604020202020204" pitchFamily="34" charset="0"/>
              </a:rPr>
              <a:t> Allen-Bradley provides three timers; TON, TOF, and RTO. All are block-type instructions and are located at the extreme right of each rung used. </a:t>
            </a:r>
          </a:p>
        </p:txBody>
      </p:sp>
    </p:spTree>
    <p:extLst>
      <p:ext uri="{BB962C8B-B14F-4D97-AF65-F5344CB8AC3E}">
        <p14:creationId xmlns:p14="http://schemas.microsoft.com/office/powerpoint/2010/main" val="27517793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TON: Generate on-delay</a:t>
            </a:r>
          </a:p>
        </p:txBody>
      </p:sp>
      <p:sp>
        <p:nvSpPr>
          <p:cNvPr id="3" name="Content Placeholder 2"/>
          <p:cNvSpPr>
            <a:spLocks noGrp="1"/>
          </p:cNvSpPr>
          <p:nvPr>
            <p:ph sz="quarter" idx="1"/>
          </p:nvPr>
        </p:nvSpPr>
        <p:spPr/>
        <p:txBody>
          <a:bodyPr>
            <a:normAutofit lnSpcReduction="10000"/>
          </a:bodyPr>
          <a:lstStyle/>
          <a:p>
            <a:r>
              <a:rPr lang="en-US" dirty="0"/>
              <a:t>TP: Generate pulse</a:t>
            </a:r>
          </a:p>
          <a:p>
            <a:pPr marL="0" indent="0">
              <a:buNone/>
            </a:pPr>
            <a:r>
              <a:rPr lang="en-US" dirty="0"/>
              <a:t>The instruction Generate pulse sets output Q for duration PT. The instruction is started when the result of logic operation (RLO) at input IN changes from 0 to 1 (positive signal edge). The programmed time PT begins when the instruction starts. Output Q is set for the duration PT, regardless of the subsequent course of the input signal. Even if a new positive signal edge is detected, the signal state at the output Q is not affected as long as the PT time is running.</a:t>
            </a:r>
          </a:p>
        </p:txBody>
      </p:sp>
    </p:spTree>
    <p:extLst>
      <p:ext uri="{BB962C8B-B14F-4D97-AF65-F5344CB8AC3E}">
        <p14:creationId xmlns:p14="http://schemas.microsoft.com/office/powerpoint/2010/main" val="16165526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85000" lnSpcReduction="10000"/>
          </a:bodyPr>
          <a:lstStyle/>
          <a:p>
            <a:r>
              <a:rPr lang="en-US" dirty="0"/>
              <a:t>The instruction Generate on-delay delays setting of the output Q by the programmed duration PT. The instruction is started when the result of logic operation (RLO) at input IN changes from 0 to 1 (positive signal edge). </a:t>
            </a:r>
          </a:p>
          <a:p>
            <a:r>
              <a:rPr lang="en-US" dirty="0"/>
              <a:t>The programmed time PT begins when the instruction starts. When the duration PT expires, the output Q has the signal state 1. Output Q remains set as long as the start input is still 1. </a:t>
            </a:r>
          </a:p>
          <a:p>
            <a:r>
              <a:rPr lang="en-US" dirty="0"/>
              <a:t>When the signal state at the start input changes from 1 to 0, output Q is reset. The timer function is started again when a new positive signal edge is detected at the start input.</a:t>
            </a:r>
          </a:p>
        </p:txBody>
      </p:sp>
    </p:spTree>
    <p:extLst>
      <p:ext uri="{BB962C8B-B14F-4D97-AF65-F5344CB8AC3E}">
        <p14:creationId xmlns:p14="http://schemas.microsoft.com/office/powerpoint/2010/main" val="402543386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7771" y="1524000"/>
            <a:ext cx="8907629" cy="5181600"/>
          </a:xfrm>
          <a:prstGeom prst="rect">
            <a:avLst/>
          </a:prstGeom>
        </p:spPr>
      </p:pic>
    </p:spTree>
    <p:extLst>
      <p:ext uri="{BB962C8B-B14F-4D97-AF65-F5344CB8AC3E}">
        <p14:creationId xmlns:p14="http://schemas.microsoft.com/office/powerpoint/2010/main" val="425747042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TOF: Generate off-delay </a:t>
            </a:r>
          </a:p>
        </p:txBody>
      </p:sp>
      <p:sp>
        <p:nvSpPr>
          <p:cNvPr id="3" name="Content Placeholder 2"/>
          <p:cNvSpPr>
            <a:spLocks noGrp="1"/>
          </p:cNvSpPr>
          <p:nvPr>
            <p:ph sz="quarter" idx="1"/>
          </p:nvPr>
        </p:nvSpPr>
        <p:spPr>
          <a:xfrm>
            <a:off x="0" y="1600200"/>
            <a:ext cx="9144000" cy="5257800"/>
          </a:xfrm>
        </p:spPr>
        <p:txBody>
          <a:bodyPr>
            <a:normAutofit/>
          </a:bodyPr>
          <a:lstStyle/>
          <a:p>
            <a:r>
              <a:rPr lang="en-US" dirty="0"/>
              <a:t>The instruction Generate off-delay delays resetting of the output Q by the programmed duration PT. The Q output is set when the result of logic operation (RLO) at input IN changes from 0 to 1 (positive signal edge). </a:t>
            </a:r>
          </a:p>
          <a:p>
            <a:r>
              <a:rPr lang="en-US" dirty="0"/>
              <a:t>When the signal state at input IN returns back to 0, programmed time (PT) starts. Output Q remains set as long as the duration PT is running. </a:t>
            </a:r>
          </a:p>
          <a:p>
            <a:r>
              <a:rPr lang="en-US" dirty="0"/>
              <a:t>When duration PT expires, the Q output is reset. If the signal state at the IN input changes to 1 before the duration PT expires, the time is reset. The signal state at the output Q will continue to be 1.</a:t>
            </a:r>
          </a:p>
        </p:txBody>
      </p:sp>
    </p:spTree>
    <p:extLst>
      <p:ext uri="{BB962C8B-B14F-4D97-AF65-F5344CB8AC3E}">
        <p14:creationId xmlns:p14="http://schemas.microsoft.com/office/powerpoint/2010/main" val="19753578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The current time value can be queried at the ET output. The time value starts at T#0s and ends when the value of duration PT is reached. </a:t>
            </a:r>
          </a:p>
          <a:p>
            <a:r>
              <a:rPr lang="en-US" dirty="0"/>
              <a:t>When the duration PT expires, the ET output remains set to the current value until input IN changes back to 1. If input IN switches to 1 before the duration PT has expired, the ET output is reset to the value T#0s</a:t>
            </a:r>
          </a:p>
        </p:txBody>
      </p:sp>
    </p:spTree>
    <p:extLst>
      <p:ext uri="{BB962C8B-B14F-4D97-AF65-F5344CB8AC3E}">
        <p14:creationId xmlns:p14="http://schemas.microsoft.com/office/powerpoint/2010/main" val="11588605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TON )---: Start on-delay timer</a:t>
            </a:r>
          </a:p>
        </p:txBody>
      </p:sp>
      <p:sp>
        <p:nvSpPr>
          <p:cNvPr id="3" name="Content Placeholder 2"/>
          <p:cNvSpPr>
            <a:spLocks noGrp="1"/>
          </p:cNvSpPr>
          <p:nvPr>
            <p:ph sz="quarter" idx="1"/>
          </p:nvPr>
        </p:nvSpPr>
        <p:spPr>
          <a:xfrm>
            <a:off x="612648" y="1600200"/>
            <a:ext cx="8153400" cy="5410200"/>
          </a:xfrm>
        </p:spPr>
        <p:txBody>
          <a:bodyPr>
            <a:normAutofit fontScale="92500" lnSpcReduction="10000"/>
          </a:bodyPr>
          <a:lstStyle/>
          <a:p>
            <a:r>
              <a:rPr lang="en-US" dirty="0"/>
              <a:t>The Start on-delay timer instruction starts an IEC timer with a specified duration as on-delay timer. </a:t>
            </a:r>
          </a:p>
          <a:p>
            <a:r>
              <a:rPr lang="en-US" dirty="0"/>
              <a:t>The IEC timer is started when the result of logic operation (RLO) changes from 0 to 1 (positive signal edge). The IEC timer runs for the specified time. A query of the timer status for 1 returns signal state 1 if the time has expired and the RLO at the input of the instruction is 1. </a:t>
            </a:r>
          </a:p>
          <a:p>
            <a:r>
              <a:rPr lang="en-US" dirty="0"/>
              <a:t>If the RLO changes to 0 before the time expires, the IEC timer is reset. In this case, querying the timer status for 1 returns signal state 0. The IEC timer restarts when the next positive signal edge is detected at the input of the instruction</a:t>
            </a:r>
          </a:p>
        </p:txBody>
      </p:sp>
    </p:spTree>
    <p:extLst>
      <p:ext uri="{BB962C8B-B14F-4D97-AF65-F5344CB8AC3E}">
        <p14:creationId xmlns:p14="http://schemas.microsoft.com/office/powerpoint/2010/main" val="151765471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TOF )---: Start off-delay timer</a:t>
            </a:r>
          </a:p>
        </p:txBody>
      </p:sp>
      <p:sp>
        <p:nvSpPr>
          <p:cNvPr id="3" name="Content Placeholder 2"/>
          <p:cNvSpPr>
            <a:spLocks noGrp="1"/>
          </p:cNvSpPr>
          <p:nvPr>
            <p:ph sz="quarter" idx="1"/>
          </p:nvPr>
        </p:nvSpPr>
        <p:spPr>
          <a:xfrm>
            <a:off x="0" y="1600200"/>
            <a:ext cx="9144000" cy="5257800"/>
          </a:xfrm>
        </p:spPr>
        <p:txBody>
          <a:bodyPr>
            <a:normAutofit fontScale="92500" lnSpcReduction="10000"/>
          </a:bodyPr>
          <a:lstStyle/>
          <a:p>
            <a:r>
              <a:rPr lang="en-US" dirty="0"/>
              <a:t>The Start off-delay timer instruction starts an IEC timer with a specified duration as off-delay timer. The query of the timer status for 1 returns the signal state 1 if the result of the logic operation (RLO) at the input of the instruction has the signal state 1. </a:t>
            </a:r>
          </a:p>
          <a:p>
            <a:r>
              <a:rPr lang="en-US" dirty="0"/>
              <a:t>When the RLO changes from 1 to 0 (negative signal edge), the IEC timer starts with the specified time. The timer status remains at signal state 1 as long as the IEC timer is running. </a:t>
            </a:r>
          </a:p>
          <a:p>
            <a:r>
              <a:rPr lang="en-US" dirty="0"/>
              <a:t>When the timer has run out and the RLO at the input of the instruction has the signal state 0, the timer status is set to the signal state 0. If the RLO changes to 1 before the time expires, the IEC timer is reset and the timer status remains at signal state 1.</a:t>
            </a:r>
          </a:p>
        </p:txBody>
      </p:sp>
    </p:spTree>
    <p:extLst>
      <p:ext uri="{BB962C8B-B14F-4D97-AF65-F5344CB8AC3E}">
        <p14:creationId xmlns:p14="http://schemas.microsoft.com/office/powerpoint/2010/main" val="36531750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TONR )---: Time accumulator</a:t>
            </a:r>
          </a:p>
        </p:txBody>
      </p:sp>
      <p:sp>
        <p:nvSpPr>
          <p:cNvPr id="3" name="Content Placeholder 2"/>
          <p:cNvSpPr>
            <a:spLocks noGrp="1"/>
          </p:cNvSpPr>
          <p:nvPr>
            <p:ph sz="quarter" idx="1"/>
          </p:nvPr>
        </p:nvSpPr>
        <p:spPr>
          <a:xfrm>
            <a:off x="0" y="1600200"/>
            <a:ext cx="8766048" cy="5257800"/>
          </a:xfrm>
        </p:spPr>
        <p:txBody>
          <a:bodyPr>
            <a:normAutofit lnSpcReduction="10000"/>
          </a:bodyPr>
          <a:lstStyle/>
          <a:p>
            <a:r>
              <a:rPr lang="en-US" dirty="0"/>
              <a:t>The Time accumulator instruction records how long the signal is at the input of instruction 1. The instruction is started when the result of logic operation (RLO) changes from 0 to 1 (positive signal edge). </a:t>
            </a:r>
          </a:p>
          <a:p>
            <a:r>
              <a:rPr lang="en-US" dirty="0"/>
              <a:t>The time is recorded as long at the RLO is 1. If the RLO changes to 0, the instruction is halted. If the RLO changes back to 1, the time recording is continued. </a:t>
            </a:r>
          </a:p>
          <a:p>
            <a:r>
              <a:rPr lang="en-US" dirty="0"/>
              <a:t>The query of the timer status for 1 returns the signal state 1 if the recorded time exceeds the value of the specified duration and the RLO at the input of coil is 1. The timer status and the currently expired timer can be reset to 0 using the Reset timer instruction.</a:t>
            </a:r>
          </a:p>
        </p:txBody>
      </p:sp>
    </p:spTree>
    <p:extLst>
      <p:ext uri="{BB962C8B-B14F-4D97-AF65-F5344CB8AC3E}">
        <p14:creationId xmlns:p14="http://schemas.microsoft.com/office/powerpoint/2010/main" val="53280249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RT )---: Reset timer</a:t>
            </a:r>
          </a:p>
        </p:txBody>
      </p:sp>
      <p:sp>
        <p:nvSpPr>
          <p:cNvPr id="3" name="Content Placeholder 2"/>
          <p:cNvSpPr>
            <a:spLocks noGrp="1"/>
          </p:cNvSpPr>
          <p:nvPr>
            <p:ph sz="quarter" idx="1"/>
          </p:nvPr>
        </p:nvSpPr>
        <p:spPr>
          <a:xfrm>
            <a:off x="0" y="1600200"/>
            <a:ext cx="9144000" cy="5257800"/>
          </a:xfrm>
        </p:spPr>
        <p:txBody>
          <a:bodyPr>
            <a:normAutofit/>
          </a:bodyPr>
          <a:lstStyle/>
          <a:p>
            <a:r>
              <a:rPr lang="en-US" dirty="0"/>
              <a:t>The Reset timer instruction resets an IEC timer to 0. The instruction is only executed if the result of logic operation (RLO) at the input of the coil is 1.</a:t>
            </a:r>
          </a:p>
          <a:p>
            <a:r>
              <a:rPr lang="en-US" dirty="0"/>
              <a:t> If current is flowing to the coil (RLO is 1), the structure components of the timer in the specified data block are reset to 0. If the RLO at the input of the instruction is 0, the timer remains unchanged. </a:t>
            </a:r>
          </a:p>
          <a:p>
            <a:r>
              <a:rPr lang="en-US" dirty="0"/>
              <a:t>The instruction does not influence the RLO. The RLO at the input of the coil is sent directly to the output of the coil. You assign the Reset timer instruction an IEC timer that has been declared in the program</a:t>
            </a:r>
          </a:p>
        </p:txBody>
      </p:sp>
    </p:spTree>
    <p:extLst>
      <p:ext uri="{BB962C8B-B14F-4D97-AF65-F5344CB8AC3E}">
        <p14:creationId xmlns:p14="http://schemas.microsoft.com/office/powerpoint/2010/main" val="41879697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CTD: Count down</a:t>
            </a:r>
          </a:p>
        </p:txBody>
      </p:sp>
      <p:sp>
        <p:nvSpPr>
          <p:cNvPr id="3" name="Content Placeholder 2"/>
          <p:cNvSpPr>
            <a:spLocks noGrp="1"/>
          </p:cNvSpPr>
          <p:nvPr>
            <p:ph sz="quarter" idx="1"/>
          </p:nvPr>
        </p:nvSpPr>
        <p:spPr>
          <a:xfrm>
            <a:off x="0" y="1600200"/>
            <a:ext cx="9144000" cy="5257800"/>
          </a:xfrm>
        </p:spPr>
        <p:txBody>
          <a:bodyPr>
            <a:normAutofit lnSpcReduction="10000"/>
          </a:bodyPr>
          <a:lstStyle/>
          <a:p>
            <a:r>
              <a:rPr lang="en-US" dirty="0"/>
              <a:t>You can use the </a:t>
            </a:r>
            <a:r>
              <a:rPr lang="en-US" dirty="0" err="1"/>
              <a:t>Count_down</a:t>
            </a:r>
            <a:r>
              <a:rPr lang="en-US" dirty="0"/>
              <a:t> instruction to decrement the value at output CV. When the signal state at the CD input changes from 0 to 1 (positive signal edge), the instruction executes and the current count value at the CV output is decremented by one. </a:t>
            </a:r>
          </a:p>
          <a:p>
            <a:r>
              <a:rPr lang="en-US" dirty="0"/>
              <a:t>When the instruction executes the first time, the count value of the CV parameter is set to the value of the PV parameter. Each time a positive signal edge is detected, the count value is decremented until it reaches the low limit value of the specified data type. </a:t>
            </a:r>
          </a:p>
          <a:p>
            <a:r>
              <a:rPr lang="en-US" dirty="0"/>
              <a:t>When the low limit is reached, the signal state at the CD input no longer has an effect on the instruction.</a:t>
            </a:r>
          </a:p>
        </p:txBody>
      </p:sp>
    </p:spTree>
    <p:extLst>
      <p:ext uri="{BB962C8B-B14F-4D97-AF65-F5344CB8AC3E}">
        <p14:creationId xmlns:p14="http://schemas.microsoft.com/office/powerpoint/2010/main" val="27496083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76200" y="1600200"/>
            <a:ext cx="8689848" cy="5105400"/>
          </a:xfrm>
        </p:spPr>
        <p:txBody>
          <a:bodyPr>
            <a:normAutofit/>
          </a:bodyPr>
          <a:lstStyle/>
          <a:p>
            <a:r>
              <a:rPr lang="en-US" dirty="0"/>
              <a:t>You can scan the counter status at the Q output. If the current count value is less than or equal to zero, the Q output is set to signal state 1. </a:t>
            </a:r>
          </a:p>
          <a:p>
            <a:r>
              <a:rPr lang="en-US" dirty="0"/>
              <a:t>In all other cases, the Q output has signal state 0. You can also specify a constant for the PV parameter. The value at the CV output is set to the value of the PV parameter when the signal state at the LD input changes to 1. </a:t>
            </a:r>
          </a:p>
          <a:p>
            <a:r>
              <a:rPr lang="en-US" dirty="0"/>
              <a:t>As long as the LD input has signal state 1, the signal state at the CD input has no effect on the instruction.</a:t>
            </a:r>
          </a:p>
        </p:txBody>
      </p:sp>
    </p:spTree>
    <p:extLst>
      <p:ext uri="{BB962C8B-B14F-4D97-AF65-F5344CB8AC3E}">
        <p14:creationId xmlns:p14="http://schemas.microsoft.com/office/powerpoint/2010/main" val="4304672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following example shows how the instruction works:</a:t>
            </a:r>
          </a:p>
        </p:txBody>
      </p:sp>
      <p:pic>
        <p:nvPicPr>
          <p:cNvPr id="4" name="Content Placeholder 3"/>
          <p:cNvPicPr>
            <a:picLocks noGrp="1" noChangeAspect="1"/>
          </p:cNvPicPr>
          <p:nvPr>
            <p:ph sz="quarter" idx="1"/>
          </p:nvPr>
        </p:nvPicPr>
        <p:blipFill>
          <a:blip r:embed="rId2"/>
          <a:stretch>
            <a:fillRect/>
          </a:stretch>
        </p:blipFill>
        <p:spPr>
          <a:xfrm>
            <a:off x="567688" y="2057400"/>
            <a:ext cx="7585712" cy="3962399"/>
          </a:xfrm>
          <a:prstGeom prst="rect">
            <a:avLst/>
          </a:prstGeom>
        </p:spPr>
      </p:pic>
    </p:spTree>
    <p:extLst>
      <p:ext uri="{BB962C8B-B14F-4D97-AF65-F5344CB8AC3E}">
        <p14:creationId xmlns:p14="http://schemas.microsoft.com/office/powerpoint/2010/main" val="38455477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8610600" cy="1676400"/>
          </a:xfrm>
          <a:prstGeom prst="rect">
            <a:avLst/>
          </a:prstGeom>
        </p:spPr>
      </p:pic>
      <p:sp>
        <p:nvSpPr>
          <p:cNvPr id="2" name="Title 1"/>
          <p:cNvSpPr>
            <a:spLocks noGrp="1"/>
          </p:cNvSpPr>
          <p:nvPr>
            <p:ph type="title"/>
          </p:nvPr>
        </p:nvSpPr>
        <p:spPr>
          <a:xfrm>
            <a:off x="612648" y="228600"/>
            <a:ext cx="7769352" cy="1219200"/>
          </a:xfrm>
        </p:spPr>
        <p:txBody>
          <a:bodyPr>
            <a:normAutofit/>
          </a:bodyPr>
          <a:lstStyle/>
          <a:p>
            <a:endParaRPr lang="en-US" sz="4000" dirty="0">
              <a:latin typeface="Algerian" panose="04020705040A02060702" pitchFamily="82" charset="0"/>
            </a:endParaRPr>
          </a:p>
        </p:txBody>
      </p:sp>
      <p:sp>
        <p:nvSpPr>
          <p:cNvPr id="3" name="Content Placeholder 2"/>
          <p:cNvSpPr>
            <a:spLocks noGrp="1"/>
          </p:cNvSpPr>
          <p:nvPr>
            <p:ph sz="quarter" idx="1"/>
          </p:nvPr>
        </p:nvSpPr>
        <p:spPr/>
        <p:txBody>
          <a:bodyPr>
            <a:normAutofit/>
          </a:bodyPr>
          <a:lstStyle/>
          <a:p>
            <a:r>
              <a:rPr lang="en-US" sz="3600" dirty="0" err="1"/>
              <a:t>LogixPro</a:t>
            </a:r>
            <a:r>
              <a:rPr lang="en-US" sz="3600" dirty="0"/>
              <a:t> allows you to practice and develop your </a:t>
            </a:r>
            <a:r>
              <a:rPr lang="en-US" sz="3600" dirty="0" err="1"/>
              <a:t>RSLogix</a:t>
            </a:r>
            <a:r>
              <a:rPr lang="en-US" sz="3600" dirty="0"/>
              <a:t> programming skills where and when you want. </a:t>
            </a:r>
          </a:p>
          <a:p>
            <a:r>
              <a:rPr lang="en-US" sz="3600" dirty="0"/>
              <a:t>It replaces the PLC, ladder rung editor, and all the electrical components that have until now, been required to learn </a:t>
            </a:r>
            <a:r>
              <a:rPr lang="en-US" sz="3600" dirty="0" err="1"/>
              <a:t>RSLogix</a:t>
            </a:r>
            <a:r>
              <a:rPr lang="en-US" sz="3600" dirty="0"/>
              <a:t>.</a:t>
            </a:r>
          </a:p>
          <a:p>
            <a:endParaRPr lang="en-US" sz="3200" dirty="0"/>
          </a:p>
        </p:txBody>
      </p:sp>
    </p:spTree>
    <p:extLst>
      <p:ext uri="{BB962C8B-B14F-4D97-AF65-F5344CB8AC3E}">
        <p14:creationId xmlns:p14="http://schemas.microsoft.com/office/powerpoint/2010/main" val="15486894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612648" y="609600"/>
            <a:ext cx="8455152" cy="6096000"/>
          </a:xfrm>
        </p:spPr>
        <p:txBody>
          <a:bodyPr>
            <a:normAutofit/>
          </a:bodyPr>
          <a:lstStyle/>
          <a:p>
            <a:r>
              <a:rPr lang="en-US" sz="3200" dirty="0"/>
              <a:t>When the signal state of the TagIn_1 operand changes from 0 to 1, the Count down instruction executes and the value at the </a:t>
            </a:r>
            <a:r>
              <a:rPr lang="en-US" sz="3200" dirty="0" err="1"/>
              <a:t>Tag_CV</a:t>
            </a:r>
            <a:r>
              <a:rPr lang="en-US" sz="3200" dirty="0"/>
              <a:t> output is decremented by one. </a:t>
            </a:r>
          </a:p>
          <a:p>
            <a:r>
              <a:rPr lang="en-US" sz="3200" dirty="0"/>
              <a:t>With each additional positive edge signal, the count value is decremented until the low limit of the specified data type (-32,768) is reached.</a:t>
            </a:r>
          </a:p>
          <a:p>
            <a:r>
              <a:rPr lang="en-US" sz="3200" dirty="0"/>
              <a:t> The </a:t>
            </a:r>
            <a:r>
              <a:rPr lang="en-US" sz="3200" dirty="0" err="1"/>
              <a:t>TagOut</a:t>
            </a:r>
            <a:r>
              <a:rPr lang="en-US" sz="3200" dirty="0"/>
              <a:t> output has signal state 1 as long as the current count value is less than or equal to zero. In all other cases, the </a:t>
            </a:r>
            <a:r>
              <a:rPr lang="en-US" sz="3200" dirty="0" err="1"/>
              <a:t>TagOut</a:t>
            </a:r>
            <a:r>
              <a:rPr lang="en-US" sz="3200" dirty="0"/>
              <a:t> output has signal state 0.</a:t>
            </a:r>
          </a:p>
        </p:txBody>
      </p:sp>
    </p:spTree>
    <p:extLst>
      <p:ext uri="{BB962C8B-B14F-4D97-AF65-F5344CB8AC3E}">
        <p14:creationId xmlns:p14="http://schemas.microsoft.com/office/powerpoint/2010/main" val="21772654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Getting Started</a:t>
            </a:r>
            <a:r>
              <a:rPr lang="en-US" dirty="0"/>
              <a:t> </a:t>
            </a:r>
            <a:r>
              <a:rPr lang="en-US" b="1" dirty="0"/>
              <a:t>with</a:t>
            </a:r>
            <a:br>
              <a:rPr lang="en-US" dirty="0"/>
            </a:br>
            <a:r>
              <a:rPr lang="en-US" dirty="0"/>
              <a:t>         </a:t>
            </a:r>
            <a:r>
              <a:rPr lang="en-US" b="1" dirty="0" err="1"/>
              <a:t>RSLogix</a:t>
            </a:r>
            <a:r>
              <a:rPr lang="en-US" b="1" dirty="0"/>
              <a:t> &amp; </a:t>
            </a:r>
            <a:r>
              <a:rPr lang="en-US" b="1" dirty="0" err="1"/>
              <a:t>LogixPro</a:t>
            </a:r>
            <a:endParaRPr lang="en-US" dirty="0"/>
          </a:p>
        </p:txBody>
      </p:sp>
      <p:sp>
        <p:nvSpPr>
          <p:cNvPr id="3" name="Content Placeholder 2"/>
          <p:cNvSpPr>
            <a:spLocks noGrp="1"/>
          </p:cNvSpPr>
          <p:nvPr>
            <p:ph sz="quarter" idx="1"/>
          </p:nvPr>
        </p:nvSpPr>
        <p:spPr/>
        <p:txBody>
          <a:bodyPr>
            <a:normAutofit/>
          </a:bodyPr>
          <a:lstStyle/>
          <a:p>
            <a:r>
              <a:rPr lang="en-US" sz="3600" dirty="0" err="1"/>
              <a:t>LogixPro</a:t>
            </a:r>
            <a:r>
              <a:rPr lang="en-US" sz="3600" dirty="0"/>
              <a:t> allows you to practice and develop your </a:t>
            </a:r>
            <a:r>
              <a:rPr lang="en-US" sz="3600" dirty="0" err="1"/>
              <a:t>RSLogix</a:t>
            </a:r>
            <a:r>
              <a:rPr lang="en-US" sz="3600" dirty="0"/>
              <a:t> programming skills where and when you want.</a:t>
            </a:r>
          </a:p>
          <a:p>
            <a:r>
              <a:rPr lang="en-US" sz="3600" dirty="0"/>
              <a:t>It replaces the PLC, ladder rung editor, and all the electrical components that have until now, been required to learn </a:t>
            </a:r>
            <a:r>
              <a:rPr lang="en-US" sz="3600" dirty="0" err="1"/>
              <a:t>RSLogix</a:t>
            </a:r>
            <a:endParaRPr lang="en-US" sz="3600" dirty="0"/>
          </a:p>
        </p:txBody>
      </p:sp>
    </p:spTree>
    <p:extLst>
      <p:ext uri="{BB962C8B-B14F-4D97-AF65-F5344CB8AC3E}">
        <p14:creationId xmlns:p14="http://schemas.microsoft.com/office/powerpoint/2010/main" val="217906263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The </a:t>
            </a:r>
            <a:r>
              <a:rPr lang="en-US" b="1" u="sng" dirty="0" err="1"/>
              <a:t>LogixPro</a:t>
            </a:r>
            <a:r>
              <a:rPr lang="en-US" b="1" u="sng" dirty="0"/>
              <a:t> Screen</a:t>
            </a:r>
            <a:endParaRPr lang="en-US" dirty="0"/>
          </a:p>
        </p:txBody>
      </p:sp>
      <p:sp>
        <p:nvSpPr>
          <p:cNvPr id="3" name="Content Placeholder 2"/>
          <p:cNvSpPr>
            <a:spLocks noGrp="1"/>
          </p:cNvSpPr>
          <p:nvPr>
            <p:ph sz="quarter" idx="1"/>
          </p:nvPr>
        </p:nvSpPr>
        <p:spPr/>
        <p:txBody>
          <a:bodyPr>
            <a:normAutofit fontScale="92500"/>
          </a:bodyPr>
          <a:lstStyle/>
          <a:p>
            <a:r>
              <a:rPr lang="en-US" dirty="0"/>
              <a:t>The most commonly used elements of </a:t>
            </a:r>
            <a:r>
              <a:rPr lang="en-US" dirty="0" err="1"/>
              <a:t>LogixPro</a:t>
            </a:r>
            <a:r>
              <a:rPr lang="en-US" dirty="0"/>
              <a:t> are displayed below. The </a:t>
            </a:r>
            <a:r>
              <a:rPr lang="en-US" b="1" dirty="0"/>
              <a:t>Edit Panel</a:t>
            </a:r>
            <a:r>
              <a:rPr lang="en-US" dirty="0"/>
              <a:t> provides easy access to all the </a:t>
            </a:r>
            <a:r>
              <a:rPr lang="en-US" dirty="0" err="1"/>
              <a:t>RSLogix</a:t>
            </a:r>
            <a:r>
              <a:rPr lang="en-US" dirty="0"/>
              <a:t> instructions and they may be simply dragged and dropped into your program.</a:t>
            </a:r>
          </a:p>
          <a:p>
            <a:r>
              <a:rPr lang="en-US" dirty="0"/>
              <a:t>Once your program is ready for testing, clicking on the "Toggle Button" of the Edit Panel will bring the </a:t>
            </a:r>
            <a:r>
              <a:rPr lang="en-US" b="1" dirty="0"/>
              <a:t>PLC Panel</a:t>
            </a:r>
            <a:r>
              <a:rPr lang="en-US" dirty="0"/>
              <a:t> into view. From the PLC Panel you can download your program to the "PLC" and then place it into the "RUN" mode. This will initiate the scanning of your program and the I/O of your chosen simulation.</a:t>
            </a:r>
          </a:p>
          <a:p>
            <a:endParaRPr lang="en-US" dirty="0"/>
          </a:p>
        </p:txBody>
      </p:sp>
    </p:spTree>
    <p:extLst>
      <p:ext uri="{BB962C8B-B14F-4D97-AF65-F5344CB8AC3E}">
        <p14:creationId xmlns:p14="http://schemas.microsoft.com/office/powerpoint/2010/main" val="36430024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52400" y="228600"/>
            <a:ext cx="9220200" cy="6858000"/>
          </a:xfrm>
          <a:prstGeom prst="rect">
            <a:avLst/>
          </a:prstGeom>
        </p:spPr>
      </p:pic>
    </p:spTree>
    <p:extLst>
      <p:ext uri="{BB962C8B-B14F-4D97-AF65-F5344CB8AC3E}">
        <p14:creationId xmlns:p14="http://schemas.microsoft.com/office/powerpoint/2010/main" val="324896064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Editing Your Program</a:t>
            </a:r>
            <a:endParaRPr lang="en-US" dirty="0"/>
          </a:p>
        </p:txBody>
      </p:sp>
      <p:sp>
        <p:nvSpPr>
          <p:cNvPr id="3" name="Content Placeholder 2"/>
          <p:cNvSpPr>
            <a:spLocks noGrp="1"/>
          </p:cNvSpPr>
          <p:nvPr>
            <p:ph sz="quarter" idx="1"/>
          </p:nvPr>
        </p:nvSpPr>
        <p:spPr>
          <a:xfrm>
            <a:off x="0" y="1524000"/>
            <a:ext cx="9144000" cy="5562600"/>
          </a:xfrm>
        </p:spPr>
        <p:txBody>
          <a:bodyPr>
            <a:normAutofit/>
          </a:bodyPr>
          <a:lstStyle/>
          <a:p>
            <a:r>
              <a:rPr lang="en-US" dirty="0"/>
              <a:t>Both Instructions and Rungs are selected simply by clicking on them with the left mouse button. </a:t>
            </a:r>
          </a:p>
          <a:p>
            <a:r>
              <a:rPr lang="en-US" dirty="0"/>
              <a:t>Deleting is then just a matter of hitting the Del key on your keyboard.</a:t>
            </a:r>
          </a:p>
          <a:p>
            <a:r>
              <a:rPr lang="en-US" dirty="0"/>
              <a:t>Double Clicking (2 quick clicks) with the left mouse button allows you to edit an instruction's address while right clicking (right mouse button) displays a pop-up menu of related editing commands.</a:t>
            </a:r>
          </a:p>
          <a:p>
            <a:r>
              <a:rPr lang="en-US" dirty="0"/>
              <a:t>Click on an Instruction or Rung with the left mouse button and keep it held down and you will be able to drag it wherever you please. </a:t>
            </a:r>
          </a:p>
        </p:txBody>
      </p:sp>
    </p:spTree>
    <p:extLst>
      <p:ext uri="{BB962C8B-B14F-4D97-AF65-F5344CB8AC3E}">
        <p14:creationId xmlns:p14="http://schemas.microsoft.com/office/powerpoint/2010/main" val="90614780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Debugging Your Program</a:t>
            </a:r>
            <a:r>
              <a:rPr lang="en-US" dirty="0"/>
              <a:t> </a:t>
            </a:r>
          </a:p>
        </p:txBody>
      </p:sp>
      <p:sp>
        <p:nvSpPr>
          <p:cNvPr id="3" name="Content Placeholder 2"/>
          <p:cNvSpPr>
            <a:spLocks noGrp="1"/>
          </p:cNvSpPr>
          <p:nvPr>
            <p:ph sz="quarter" idx="1"/>
          </p:nvPr>
        </p:nvSpPr>
        <p:spPr>
          <a:xfrm>
            <a:off x="0" y="1600200"/>
            <a:ext cx="9144000" cy="5562600"/>
          </a:xfrm>
        </p:spPr>
        <p:txBody>
          <a:bodyPr>
            <a:normAutofit/>
          </a:bodyPr>
          <a:lstStyle/>
          <a:p>
            <a:r>
              <a:rPr lang="en-US" dirty="0"/>
              <a:t>If you take a look at the PLC Panel you'll notice an adjustable Speed Control. This is not a component of normal PLCs, but is provided with </a:t>
            </a:r>
            <a:r>
              <a:rPr lang="en-US" dirty="0" err="1"/>
              <a:t>LogixPro</a:t>
            </a:r>
            <a:r>
              <a:rPr lang="en-US" dirty="0"/>
              <a:t> so that you may adjust the speed of the simulations to suit your particular computer.</a:t>
            </a:r>
          </a:p>
          <a:p>
            <a:r>
              <a:rPr lang="en-US" dirty="0"/>
              <a:t>When the simulation is slowed, so is the PLC scanning. You can use this to good effect when trying to debug your program. Set the scan slow enough and you can easily monitor how your program's instructions are responding. This capability may not be typical of real PLCs, but for Training Purposes, you will find that it is an invaluable debugging tool</a:t>
            </a:r>
          </a:p>
          <a:p>
            <a:endParaRPr lang="en-US" dirty="0"/>
          </a:p>
        </p:txBody>
      </p:sp>
      <p:pic>
        <p:nvPicPr>
          <p:cNvPr id="4" name="Picture 3"/>
          <p:cNvPicPr>
            <a:picLocks noChangeAspect="1"/>
          </p:cNvPicPr>
          <p:nvPr/>
        </p:nvPicPr>
        <p:blipFill>
          <a:blip r:embed="rId2"/>
          <a:stretch>
            <a:fillRect/>
          </a:stretch>
        </p:blipFill>
        <p:spPr>
          <a:xfrm>
            <a:off x="6553200" y="0"/>
            <a:ext cx="2590800" cy="1600200"/>
          </a:xfrm>
          <a:prstGeom prst="rect">
            <a:avLst/>
          </a:prstGeom>
        </p:spPr>
      </p:pic>
    </p:spTree>
    <p:extLst>
      <p:ext uri="{BB962C8B-B14F-4D97-AF65-F5344CB8AC3E}">
        <p14:creationId xmlns:p14="http://schemas.microsoft.com/office/powerpoint/2010/main" val="175306644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1524000"/>
          </a:xfrm>
        </p:spPr>
        <p:txBody>
          <a:bodyPr>
            <a:normAutofit fontScale="90000"/>
          </a:bodyPr>
          <a:lstStyle/>
          <a:p>
            <a:r>
              <a:rPr lang="en-US" b="1" dirty="0"/>
              <a:t>Relay Logic</a:t>
            </a:r>
            <a:br>
              <a:rPr lang="en-US" b="1" dirty="0"/>
            </a:br>
            <a:r>
              <a:rPr lang="en-US" b="1" dirty="0"/>
              <a:t>Introductory Lab</a:t>
            </a:r>
            <a:br>
              <a:rPr lang="en-US" b="1" dirty="0"/>
            </a:br>
            <a:endParaRPr lang="en-US" dirty="0"/>
          </a:p>
        </p:txBody>
      </p:sp>
      <p:sp>
        <p:nvSpPr>
          <p:cNvPr id="3" name="Content Placeholder 2"/>
          <p:cNvSpPr>
            <a:spLocks noGrp="1"/>
          </p:cNvSpPr>
          <p:nvPr>
            <p:ph sz="quarter" idx="1"/>
          </p:nvPr>
        </p:nvSpPr>
        <p:spPr>
          <a:xfrm>
            <a:off x="0" y="1600200"/>
            <a:ext cx="9144000" cy="5334000"/>
          </a:xfrm>
        </p:spPr>
        <p:txBody>
          <a:bodyPr>
            <a:normAutofit fontScale="92500" lnSpcReduction="20000"/>
          </a:bodyPr>
          <a:lstStyle/>
          <a:p>
            <a:r>
              <a:rPr lang="en-US" b="1" u="sng" dirty="0" err="1"/>
              <a:t>RSLogix</a:t>
            </a:r>
            <a:r>
              <a:rPr lang="en-US" b="1" u="sng" dirty="0"/>
              <a:t> Relay Logic Instructions</a:t>
            </a:r>
            <a:br>
              <a:rPr lang="en-US" b="1" dirty="0"/>
            </a:br>
            <a:r>
              <a:rPr lang="en-US" dirty="0"/>
              <a:t>This exercise is designed to familiarize you with the operation of </a:t>
            </a:r>
            <a:r>
              <a:rPr lang="en-US" dirty="0" err="1"/>
              <a:t>LogixPro</a:t>
            </a:r>
            <a:r>
              <a:rPr lang="en-US" dirty="0"/>
              <a:t> and to step you through the process of creating, editing and testing simple PLC programs utilizing the Relay Logic Instructions supported by </a:t>
            </a:r>
            <a:r>
              <a:rPr lang="en-US" dirty="0" err="1"/>
              <a:t>RSLogix</a:t>
            </a:r>
            <a:r>
              <a:rPr lang="en-US" dirty="0"/>
              <a:t>.</a:t>
            </a:r>
          </a:p>
          <a:p>
            <a:endParaRPr lang="en-US" dirty="0"/>
          </a:p>
          <a:p>
            <a:endParaRPr lang="en-US" dirty="0"/>
          </a:p>
          <a:p>
            <a:endParaRPr lang="en-US" dirty="0"/>
          </a:p>
          <a:p>
            <a:r>
              <a:rPr lang="en-US" dirty="0"/>
              <a:t>From the Simulations Menu at the top of the screen, Select the I/O Simulation and ensure that the User Instruction Bar shown above is visible.</a:t>
            </a:r>
          </a:p>
          <a:p>
            <a:br>
              <a:rPr lang="en-US" dirty="0"/>
            </a:br>
            <a:br>
              <a:rPr lang="en-US" dirty="0"/>
            </a:br>
            <a:endParaRPr lang="en-US" dirty="0"/>
          </a:p>
        </p:txBody>
      </p:sp>
      <p:pic>
        <p:nvPicPr>
          <p:cNvPr id="4" name="Picture 3"/>
          <p:cNvPicPr>
            <a:picLocks noChangeAspect="1"/>
          </p:cNvPicPr>
          <p:nvPr/>
        </p:nvPicPr>
        <p:blipFill>
          <a:blip r:embed="rId2"/>
          <a:stretch>
            <a:fillRect/>
          </a:stretch>
        </p:blipFill>
        <p:spPr>
          <a:xfrm>
            <a:off x="838200" y="3429000"/>
            <a:ext cx="6858000" cy="1219200"/>
          </a:xfrm>
          <a:prstGeom prst="rect">
            <a:avLst/>
          </a:prstGeom>
        </p:spPr>
      </p:pic>
    </p:spTree>
    <p:extLst>
      <p:ext uri="{BB962C8B-B14F-4D97-AF65-F5344CB8AC3E}">
        <p14:creationId xmlns:p14="http://schemas.microsoft.com/office/powerpoint/2010/main" val="11405424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5800" y="533400"/>
            <a:ext cx="7162800" cy="762000"/>
          </a:xfrm>
          <a:prstGeom prst="rect">
            <a:avLst/>
          </a:prstGeom>
        </p:spPr>
      </p:pic>
      <p:sp>
        <p:nvSpPr>
          <p:cNvPr id="3" name="Rectangle 2"/>
          <p:cNvSpPr/>
          <p:nvPr/>
        </p:nvSpPr>
        <p:spPr>
          <a:xfrm>
            <a:off x="0" y="1582341"/>
            <a:ext cx="9144000" cy="5509200"/>
          </a:xfrm>
          <a:prstGeom prst="rect">
            <a:avLst/>
          </a:prstGeom>
        </p:spPr>
        <p:txBody>
          <a:bodyPr wrap="square">
            <a:spAutoFit/>
          </a:bodyPr>
          <a:lstStyle/>
          <a:p>
            <a:r>
              <a:rPr lang="en-US" sz="3200" dirty="0">
                <a:solidFill>
                  <a:srgbClr val="000000"/>
                </a:solidFill>
                <a:latin typeface="Arial" panose="020B0604020202020204" pitchFamily="34" charset="0"/>
              </a:rPr>
              <a:t>The program editing window should contain a single rung. This is the End of Program rung and is always the last rung in any program. If this is the only rung visible then your program is currently empty.</a:t>
            </a:r>
          </a:p>
          <a:p>
            <a:r>
              <a:rPr lang="en-US" sz="3200" dirty="0">
                <a:solidFill>
                  <a:srgbClr val="000000"/>
                </a:solidFill>
                <a:latin typeface="Arial" panose="020B0604020202020204" pitchFamily="34" charset="0"/>
              </a:rPr>
              <a:t>If your program is not empty, then click on the </a:t>
            </a:r>
            <a:r>
              <a:rPr lang="en-US" sz="3200" b="1" i="1" dirty="0">
                <a:solidFill>
                  <a:srgbClr val="000000"/>
                </a:solidFill>
                <a:latin typeface="Arial" panose="020B0604020202020204" pitchFamily="34" charset="0"/>
              </a:rPr>
              <a:t>File</a:t>
            </a:r>
            <a:r>
              <a:rPr lang="en-US" sz="3200" dirty="0">
                <a:solidFill>
                  <a:srgbClr val="000000"/>
                </a:solidFill>
                <a:latin typeface="Arial" panose="020B0604020202020204" pitchFamily="34" charset="0"/>
              </a:rPr>
              <a:t> menu entry at the top of the screen and select </a:t>
            </a:r>
            <a:r>
              <a:rPr lang="en-US" sz="3200" b="1" i="1" dirty="0">
                <a:solidFill>
                  <a:srgbClr val="000000"/>
                </a:solidFill>
                <a:latin typeface="Arial" panose="020B0604020202020204" pitchFamily="34" charset="0"/>
              </a:rPr>
              <a:t>"New</a:t>
            </a:r>
            <a:r>
              <a:rPr lang="en-US" sz="3200" dirty="0">
                <a:solidFill>
                  <a:srgbClr val="000000"/>
                </a:solidFill>
                <a:latin typeface="Arial" panose="020B0604020202020204" pitchFamily="34" charset="0"/>
              </a:rPr>
              <a:t>" from the drop-down list. A dialog box will appear asking for you to select a Processor Type. Just click on </a:t>
            </a:r>
            <a:r>
              <a:rPr lang="en-US" sz="3200" b="1" i="1" dirty="0">
                <a:solidFill>
                  <a:srgbClr val="000000"/>
                </a:solidFill>
                <a:latin typeface="Arial" panose="020B0604020202020204" pitchFamily="34" charset="0"/>
              </a:rPr>
              <a:t>"OK</a:t>
            </a:r>
            <a:r>
              <a:rPr lang="en-US" sz="3200" dirty="0">
                <a:solidFill>
                  <a:srgbClr val="000000"/>
                </a:solidFill>
                <a:latin typeface="Arial" panose="020B0604020202020204" pitchFamily="34" charset="0"/>
              </a:rPr>
              <a:t>" to accept the default TLP </a:t>
            </a:r>
            <a:r>
              <a:rPr lang="en-US" sz="3200" dirty="0" err="1">
                <a:solidFill>
                  <a:srgbClr val="000000"/>
                </a:solidFill>
                <a:latin typeface="Arial" panose="020B0604020202020204" pitchFamily="34" charset="0"/>
              </a:rPr>
              <a:t>LogixPro</a:t>
            </a:r>
            <a:r>
              <a:rPr lang="en-US" sz="3200" dirty="0">
                <a:solidFill>
                  <a:srgbClr val="000000"/>
                </a:solidFill>
                <a:latin typeface="Arial" panose="020B0604020202020204" pitchFamily="34" charset="0"/>
              </a:rPr>
              <a:t> selection.</a:t>
            </a:r>
            <a:endParaRPr lang="en-US" sz="32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93064034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Now maximize the </a:t>
            </a:r>
            <a:r>
              <a:rPr lang="en-US" dirty="0" err="1"/>
              <a:t>ProSim</a:t>
            </a:r>
            <a:r>
              <a:rPr lang="en-US" dirty="0"/>
              <a:t>-II Simulation Window</a:t>
            </a:r>
          </a:p>
        </p:txBody>
      </p:sp>
      <p:pic>
        <p:nvPicPr>
          <p:cNvPr id="4" name="Content Placeholder 3"/>
          <p:cNvPicPr>
            <a:picLocks noGrp="1" noChangeAspect="1"/>
          </p:cNvPicPr>
          <p:nvPr>
            <p:ph sz="quarter" idx="1"/>
          </p:nvPr>
        </p:nvPicPr>
        <p:blipFill>
          <a:blip r:embed="rId2"/>
          <a:stretch>
            <a:fillRect/>
          </a:stretch>
        </p:blipFill>
        <p:spPr>
          <a:xfrm>
            <a:off x="1524000" y="1447800"/>
            <a:ext cx="4343400" cy="990600"/>
          </a:xfrm>
          <a:prstGeom prst="rect">
            <a:avLst/>
          </a:prstGeom>
        </p:spPr>
      </p:pic>
      <p:pic>
        <p:nvPicPr>
          <p:cNvPr id="5" name="Picture 4"/>
          <p:cNvPicPr>
            <a:picLocks noChangeAspect="1"/>
          </p:cNvPicPr>
          <p:nvPr/>
        </p:nvPicPr>
        <p:blipFill>
          <a:blip r:embed="rId3"/>
          <a:stretch>
            <a:fillRect/>
          </a:stretch>
        </p:blipFill>
        <p:spPr>
          <a:xfrm>
            <a:off x="-76199" y="2438400"/>
            <a:ext cx="9220200" cy="4419600"/>
          </a:xfrm>
          <a:prstGeom prst="rect">
            <a:avLst/>
          </a:prstGeom>
        </p:spPr>
      </p:pic>
    </p:spTree>
    <p:extLst>
      <p:ext uri="{BB962C8B-B14F-4D97-AF65-F5344CB8AC3E}">
        <p14:creationId xmlns:p14="http://schemas.microsoft.com/office/powerpoint/2010/main" val="322933592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600" dirty="0"/>
              <a:t>.</a:t>
            </a:r>
            <a:r>
              <a:rPr lang="en-US" sz="1600" b="1" u="sng" dirty="0"/>
              <a:t> The I/O Simulator</a:t>
            </a:r>
            <a:br>
              <a:rPr lang="en-US" sz="1600" dirty="0"/>
            </a:br>
            <a:endParaRPr lang="en-US" sz="1600" dirty="0"/>
          </a:p>
        </p:txBody>
      </p:sp>
      <p:sp>
        <p:nvSpPr>
          <p:cNvPr id="3" name="Content Placeholder 2"/>
          <p:cNvSpPr>
            <a:spLocks noGrp="1"/>
          </p:cNvSpPr>
          <p:nvPr>
            <p:ph sz="quarter" idx="1"/>
          </p:nvPr>
        </p:nvSpPr>
        <p:spPr>
          <a:xfrm>
            <a:off x="0" y="1600200"/>
            <a:ext cx="9144000" cy="5257800"/>
          </a:xfrm>
        </p:spPr>
        <p:txBody>
          <a:bodyPr>
            <a:noAutofit/>
          </a:bodyPr>
          <a:lstStyle/>
          <a:p>
            <a:r>
              <a:rPr lang="en-US" sz="3200" dirty="0">
                <a:latin typeface="Arial" panose="020B0604020202020204" pitchFamily="34" charset="0"/>
                <a:cs typeface="Arial" panose="020B0604020202020204" pitchFamily="34" charset="0"/>
              </a:rPr>
              <a:t>The simulator screen shown on last slide, should now be in view. For this exercise we will be using the I/O simulator section, which consists of 32 switches and lights. </a:t>
            </a:r>
          </a:p>
          <a:p>
            <a:r>
              <a:rPr lang="en-US" sz="3200" dirty="0">
                <a:latin typeface="Arial" panose="020B0604020202020204" pitchFamily="34" charset="0"/>
                <a:cs typeface="Arial" panose="020B0604020202020204" pitchFamily="34" charset="0"/>
              </a:rPr>
              <a:t>Two groups of 16 toggle switches are shown connected to 2 Input cards of our simulated PLC. Likewise two groups of 16 Lights are connected to two output cards of our PLC. The two input cards are addressed as "I:1" and "I:3" while the output cards are addressed "O:2" and "O:4".</a:t>
            </a:r>
            <a:br>
              <a:rPr lang="en-US" sz="3200" dirty="0">
                <a:latin typeface="Arial" panose="020B0604020202020204" pitchFamily="34" charset="0"/>
                <a:cs typeface="Arial" panose="020B0604020202020204" pitchFamily="34" charset="0"/>
              </a:rPr>
            </a:b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515331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0" y="1600200"/>
            <a:ext cx="8766048" cy="5410200"/>
          </a:xfrm>
        </p:spPr>
        <p:txBody>
          <a:bodyPr>
            <a:normAutofit fontScale="70000" lnSpcReduction="20000"/>
          </a:bodyPr>
          <a:lstStyle/>
          <a:p>
            <a:r>
              <a:rPr lang="en-US" sz="4500" dirty="0">
                <a:latin typeface="Arial" panose="020B0604020202020204" pitchFamily="34" charset="0"/>
                <a:cs typeface="Arial" panose="020B0604020202020204" pitchFamily="34" charset="0"/>
              </a:rPr>
              <a:t>Use your mouse to click on the various switches and note the change in the status color of the terminal that the switch is connected to. </a:t>
            </a:r>
          </a:p>
          <a:p>
            <a:r>
              <a:rPr lang="en-US" sz="4500" dirty="0">
                <a:latin typeface="Arial" panose="020B0604020202020204" pitchFamily="34" charset="0"/>
                <a:cs typeface="Arial" panose="020B0604020202020204" pitchFamily="34" charset="0"/>
              </a:rPr>
              <a:t>Move your mouse slowly over a switch, and the mouse cursor should change to a hand symbol, indicating that the state of switch can be altered by clicking at this location. </a:t>
            </a:r>
          </a:p>
          <a:p>
            <a:r>
              <a:rPr lang="en-US" sz="4500" dirty="0">
                <a:latin typeface="Arial" panose="020B0604020202020204" pitchFamily="34" charset="0"/>
                <a:cs typeface="Arial" panose="020B0604020202020204" pitchFamily="34" charset="0"/>
              </a:rPr>
              <a:t>When you pass the mouse over a switch, a "tool-tip" text box also appears and informs you to "Right Click to Toggle Switch Type". Click your right mouse button on a switch, and note how the switch type may be readily changed</a:t>
            </a:r>
          </a:p>
          <a:p>
            <a:endParaRPr lang="en-US" dirty="0"/>
          </a:p>
        </p:txBody>
      </p:sp>
    </p:spTree>
    <p:extLst>
      <p:ext uri="{BB962C8B-B14F-4D97-AF65-F5344CB8AC3E}">
        <p14:creationId xmlns:p14="http://schemas.microsoft.com/office/powerpoint/2010/main" val="267989703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a:t>RSLogix</a:t>
            </a:r>
            <a:r>
              <a:rPr lang="en-US" b="1" u="sng" dirty="0"/>
              <a:t> Program Creation</a:t>
            </a:r>
            <a:endParaRPr lang="en-US" dirty="0"/>
          </a:p>
        </p:txBody>
      </p:sp>
      <p:pic>
        <p:nvPicPr>
          <p:cNvPr id="4" name="Content Placeholder 3"/>
          <p:cNvPicPr>
            <a:picLocks noGrp="1" noChangeAspect="1"/>
          </p:cNvPicPr>
          <p:nvPr>
            <p:ph sz="quarter" idx="1"/>
          </p:nvPr>
        </p:nvPicPr>
        <p:blipFill>
          <a:blip r:embed="rId2"/>
          <a:stretch>
            <a:fillRect/>
          </a:stretch>
        </p:blipFill>
        <p:spPr>
          <a:xfrm>
            <a:off x="457200" y="1752600"/>
            <a:ext cx="6793515" cy="1676400"/>
          </a:xfrm>
          <a:prstGeom prst="rect">
            <a:avLst/>
          </a:prstGeom>
        </p:spPr>
      </p:pic>
      <p:sp>
        <p:nvSpPr>
          <p:cNvPr id="5" name="Rectangle 4"/>
          <p:cNvSpPr/>
          <p:nvPr/>
        </p:nvSpPr>
        <p:spPr>
          <a:xfrm>
            <a:off x="304800" y="3429000"/>
            <a:ext cx="8991600" cy="3539430"/>
          </a:xfrm>
          <a:prstGeom prst="rect">
            <a:avLst/>
          </a:prstGeom>
        </p:spPr>
        <p:txBody>
          <a:bodyPr wrap="square">
            <a:spAutoFit/>
          </a:bodyPr>
          <a:lstStyle/>
          <a:p>
            <a:r>
              <a:rPr lang="en-US" sz="3200" dirty="0">
                <a:solidFill>
                  <a:srgbClr val="000000"/>
                </a:solidFill>
                <a:latin typeface="Arial" panose="020B0604020202020204" pitchFamily="34" charset="0"/>
              </a:rPr>
              <a:t>I want you to now enter the following single run program which consists of a single Input instruction (XIC - Examine If Closed) and a single Output instruction (OTE - Output Energize). </a:t>
            </a:r>
          </a:p>
          <a:p>
            <a:r>
              <a:rPr lang="en-US" sz="3200" dirty="0">
                <a:solidFill>
                  <a:srgbClr val="000000"/>
                </a:solidFill>
                <a:latin typeface="Arial" panose="020B0604020202020204" pitchFamily="34" charset="0"/>
              </a:rPr>
              <a:t>There's more than one way to accomplish this task</a:t>
            </a:r>
            <a:endParaRPr lang="en-US" sz="3200" dirty="0"/>
          </a:p>
        </p:txBody>
      </p:sp>
    </p:spTree>
    <p:extLst>
      <p:ext uri="{BB962C8B-B14F-4D97-AF65-F5344CB8AC3E}">
        <p14:creationId xmlns:p14="http://schemas.microsoft.com/office/powerpoint/2010/main" val="228205410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612648" y="1600200"/>
            <a:ext cx="8153400" cy="5410200"/>
          </a:xfrm>
        </p:spPr>
        <p:txBody>
          <a:bodyPr/>
          <a:lstStyle/>
          <a:p>
            <a:r>
              <a:rPr lang="en-US" dirty="0">
                <a:latin typeface="Arial" panose="020B0604020202020204" pitchFamily="34" charset="0"/>
                <a:cs typeface="Arial" panose="020B0604020202020204" pitchFamily="34" charset="0"/>
              </a:rPr>
              <a:t>First click on the "New Rung" button in the User Instruction Bar. It's the first button on the very left end of the Bar.</a:t>
            </a:r>
          </a:p>
          <a:p>
            <a:r>
              <a:rPr lang="en-US" dirty="0">
                <a:latin typeface="Arial" panose="020B0604020202020204" pitchFamily="34" charset="0"/>
                <a:cs typeface="Arial" panose="020B0604020202020204" pitchFamily="34" charset="0"/>
              </a:rPr>
              <a:t> If you hold the mouse pointer over any of these buttons for a second or two, you should see a short "ToolTip" which describes the function or name of the instruction that the button represents</a:t>
            </a:r>
            <a:r>
              <a:rPr lang="en-US" dirty="0"/>
              <a:t>.</a:t>
            </a:r>
          </a:p>
        </p:txBody>
      </p:sp>
      <p:pic>
        <p:nvPicPr>
          <p:cNvPr id="7" name="Picture 6"/>
          <p:cNvPicPr>
            <a:picLocks noChangeAspect="1"/>
          </p:cNvPicPr>
          <p:nvPr/>
        </p:nvPicPr>
        <p:blipFill>
          <a:blip r:embed="rId2"/>
          <a:stretch>
            <a:fillRect/>
          </a:stretch>
        </p:blipFill>
        <p:spPr>
          <a:xfrm>
            <a:off x="228600" y="826243"/>
            <a:ext cx="1371600" cy="850158"/>
          </a:xfrm>
          <a:prstGeom prst="rect">
            <a:avLst/>
          </a:prstGeom>
        </p:spPr>
      </p:pic>
      <p:pic>
        <p:nvPicPr>
          <p:cNvPr id="8" name="Picture 7"/>
          <p:cNvPicPr>
            <a:picLocks noChangeAspect="1"/>
          </p:cNvPicPr>
          <p:nvPr/>
        </p:nvPicPr>
        <p:blipFill>
          <a:blip r:embed="rId3"/>
          <a:stretch>
            <a:fillRect/>
          </a:stretch>
        </p:blipFill>
        <p:spPr>
          <a:xfrm>
            <a:off x="381000" y="5410200"/>
            <a:ext cx="8610600" cy="1295400"/>
          </a:xfrm>
          <a:prstGeom prst="rect">
            <a:avLst/>
          </a:prstGeom>
        </p:spPr>
      </p:pic>
    </p:spTree>
    <p:extLst>
      <p:ext uri="{BB962C8B-B14F-4D97-AF65-F5344CB8AC3E}">
        <p14:creationId xmlns:p14="http://schemas.microsoft.com/office/powerpoint/2010/main" val="269393451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612648" y="1600200"/>
            <a:ext cx="8153400" cy="5105400"/>
          </a:xfrm>
        </p:spPr>
        <p:txBody>
          <a:bodyPr/>
          <a:lstStyle/>
          <a:p>
            <a:r>
              <a:rPr lang="en-US" dirty="0">
                <a:latin typeface="Arial" panose="020B0604020202020204" pitchFamily="34" charset="0"/>
                <a:cs typeface="Arial" panose="020B0604020202020204" pitchFamily="34" charset="0"/>
              </a:rPr>
              <a:t>You should now see a new Rung added to your program as shown on last slide, and the Rung number at the left side of the new rung should be highlighted. Note that the new Rung was inserted above the existing (END) End Of Program Rung. </a:t>
            </a:r>
          </a:p>
          <a:p>
            <a:r>
              <a:rPr lang="en-US" dirty="0">
                <a:latin typeface="Arial" panose="020B0604020202020204" pitchFamily="34" charset="0"/>
                <a:cs typeface="Arial" panose="020B0604020202020204" pitchFamily="34" charset="0"/>
              </a:rPr>
              <a:t>Alternatively you could have dragged </a:t>
            </a:r>
            <a:r>
              <a:rPr lang="en-US" b="1" i="1" dirty="0">
                <a:latin typeface="Arial" panose="020B0604020202020204" pitchFamily="34" charset="0"/>
                <a:cs typeface="Arial" panose="020B0604020202020204" pitchFamily="34" charset="0"/>
              </a:rPr>
              <a:t>(left mouse button held down)</a:t>
            </a:r>
            <a:r>
              <a:rPr lang="en-US" dirty="0">
                <a:latin typeface="Arial" panose="020B0604020202020204" pitchFamily="34" charset="0"/>
                <a:cs typeface="Arial" panose="020B0604020202020204" pitchFamily="34" charset="0"/>
              </a:rPr>
              <a:t> the Rung button into the program window and dropped it onto one of the locating boxes that would have appeared.</a:t>
            </a:r>
          </a:p>
        </p:txBody>
      </p:sp>
    </p:spTree>
    <p:extLst>
      <p:ext uri="{BB962C8B-B14F-4D97-AF65-F5344CB8AC3E}">
        <p14:creationId xmlns:p14="http://schemas.microsoft.com/office/powerpoint/2010/main" val="416096732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612648" y="1600200"/>
            <a:ext cx="8153400" cy="4800600"/>
          </a:xfrm>
        </p:spPr>
        <p:txBody>
          <a:bodyPr>
            <a:normAutofit/>
          </a:bodyPr>
          <a:lstStyle/>
          <a:p>
            <a:r>
              <a:rPr lang="en-US" sz="3200" dirty="0">
                <a:latin typeface="Arial" panose="020B0604020202020204" pitchFamily="34" charset="0"/>
                <a:cs typeface="Arial" panose="020B0604020202020204" pitchFamily="34" charset="0"/>
              </a:rPr>
              <a:t> Now click on the XIC instruction with your left mouse button (Left Click) and it will be added to the right of your highlighted selection. Note that the new XIC instruction is now selected (highlighted).</a:t>
            </a:r>
          </a:p>
          <a:p>
            <a:r>
              <a:rPr lang="en-US" sz="3200" dirty="0">
                <a:latin typeface="Arial" panose="020B0604020202020204" pitchFamily="34" charset="0"/>
                <a:cs typeface="Arial" panose="020B0604020202020204" pitchFamily="34" charset="0"/>
              </a:rPr>
              <a:t> Once again, you could have </a:t>
            </a:r>
            <a:r>
              <a:rPr lang="en-US" sz="3200" b="1" i="1" dirty="0">
                <a:latin typeface="Arial" panose="020B0604020202020204" pitchFamily="34" charset="0"/>
                <a:cs typeface="Arial" panose="020B0604020202020204" pitchFamily="34" charset="0"/>
              </a:rPr>
              <a:t>alternatively </a:t>
            </a:r>
            <a:r>
              <a:rPr lang="en-US" sz="3200" dirty="0">
                <a:latin typeface="Arial" panose="020B0604020202020204" pitchFamily="34" charset="0"/>
                <a:cs typeface="Arial" panose="020B0604020202020204" pitchFamily="34" charset="0"/>
              </a:rPr>
              <a:t>dragged and dropped the instruction into the program window.</a:t>
            </a:r>
          </a:p>
        </p:txBody>
      </p:sp>
      <p:pic>
        <p:nvPicPr>
          <p:cNvPr id="4" name="Picture 3"/>
          <p:cNvPicPr>
            <a:picLocks noChangeAspect="1"/>
          </p:cNvPicPr>
          <p:nvPr/>
        </p:nvPicPr>
        <p:blipFill>
          <a:blip r:embed="rId2"/>
          <a:stretch>
            <a:fillRect/>
          </a:stretch>
        </p:blipFill>
        <p:spPr>
          <a:xfrm>
            <a:off x="838200" y="304800"/>
            <a:ext cx="2514600" cy="914400"/>
          </a:xfrm>
          <a:prstGeom prst="rect">
            <a:avLst/>
          </a:prstGeom>
        </p:spPr>
      </p:pic>
    </p:spTree>
    <p:extLst>
      <p:ext uri="{BB962C8B-B14F-4D97-AF65-F5344CB8AC3E}">
        <p14:creationId xmlns:p14="http://schemas.microsoft.com/office/powerpoint/2010/main" val="16166697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b="1" dirty="0"/>
              <a:t>If you accidentally add an instruction which you wish to remove, just Left Click on the instruction to select it, and then press the "Del" key on your keyboard. Alternatively, you may right click on the instruction and then select "Cut" from the drop-down menu that appears.</a:t>
            </a:r>
            <a:endParaRPr lang="en-US" dirty="0"/>
          </a:p>
        </p:txBody>
      </p:sp>
    </p:spTree>
    <p:extLst>
      <p:ext uri="{BB962C8B-B14F-4D97-AF65-F5344CB8AC3E}">
        <p14:creationId xmlns:p14="http://schemas.microsoft.com/office/powerpoint/2010/main" val="126850534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4800" y="344404"/>
            <a:ext cx="2209800" cy="1227221"/>
          </a:xfrm>
          <a:prstGeom prst="rect">
            <a:avLst/>
          </a:prstGeom>
        </p:spPr>
      </p:pic>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a:xfrm>
            <a:off x="0" y="1335004"/>
            <a:ext cx="9144000" cy="5903996"/>
          </a:xfrm>
        </p:spPr>
        <p:txBody>
          <a:bodyPr/>
          <a:lstStyle/>
          <a:p>
            <a:r>
              <a:rPr lang="en-US" dirty="0"/>
              <a:t>Left Click on the OTE output instruction and it will be. added to the right of your current selection</a:t>
            </a:r>
          </a:p>
        </p:txBody>
      </p:sp>
      <p:pic>
        <p:nvPicPr>
          <p:cNvPr id="5" name="Picture 4"/>
          <p:cNvPicPr>
            <a:picLocks noChangeAspect="1"/>
          </p:cNvPicPr>
          <p:nvPr/>
        </p:nvPicPr>
        <p:blipFill>
          <a:blip r:embed="rId3"/>
          <a:stretch>
            <a:fillRect/>
          </a:stretch>
        </p:blipFill>
        <p:spPr>
          <a:xfrm>
            <a:off x="612648" y="2209800"/>
            <a:ext cx="7693151" cy="798597"/>
          </a:xfrm>
          <a:prstGeom prst="rect">
            <a:avLst/>
          </a:prstGeom>
        </p:spPr>
      </p:pic>
      <p:sp>
        <p:nvSpPr>
          <p:cNvPr id="6" name="Rectangle 5"/>
          <p:cNvSpPr/>
          <p:nvPr/>
        </p:nvSpPr>
        <p:spPr>
          <a:xfrm>
            <a:off x="0" y="3124200"/>
            <a:ext cx="9296400" cy="3785652"/>
          </a:xfrm>
          <a:prstGeom prst="rect">
            <a:avLst/>
          </a:prstGeom>
        </p:spPr>
        <p:txBody>
          <a:bodyPr wrap="square">
            <a:spAutoFit/>
          </a:bodyPr>
          <a:lstStyle/>
          <a:p>
            <a:r>
              <a:rPr lang="en-US" sz="2400" dirty="0">
                <a:solidFill>
                  <a:srgbClr val="000000"/>
                </a:solidFill>
                <a:latin typeface="Arial" panose="020B0604020202020204" pitchFamily="34" charset="0"/>
              </a:rPr>
              <a:t>Double Click (2 quick left </a:t>
            </a:r>
            <a:r>
              <a:rPr lang="en-US" sz="2400" dirty="0" err="1">
                <a:solidFill>
                  <a:srgbClr val="000000"/>
                </a:solidFill>
                <a:latin typeface="Arial" panose="020B0604020202020204" pitchFamily="34" charset="0"/>
              </a:rPr>
              <a:t>mousebutton</a:t>
            </a:r>
            <a:r>
              <a:rPr lang="en-US" sz="2400" dirty="0">
                <a:solidFill>
                  <a:srgbClr val="000000"/>
                </a:solidFill>
                <a:latin typeface="Arial" panose="020B0604020202020204" pitchFamily="34" charset="0"/>
              </a:rPr>
              <a:t> clicks) on the XIC instruction and a textbox should appear which will allow you to enter the address (I:1/0) of the switch we wish to monitor. Use the Backspace key to get rid of the "?" currently in the textbox. Once you type in the address, click anywhere else on the instruction (other than the textbox) and the box should close.</a:t>
            </a:r>
          </a:p>
          <a:p>
            <a:r>
              <a:rPr lang="en-US" sz="2400" dirty="0">
                <a:solidFill>
                  <a:srgbClr val="000000"/>
                </a:solidFill>
                <a:latin typeface="Arial" panose="020B0604020202020204" pitchFamily="34" charset="0"/>
              </a:rPr>
              <a:t>Right Click on the XIC instruction and select "Edit Symbol" from the drop-down menu that appears. Another textbox will appear where you can type in a name (Switch-0) to associate with this address. As before, a click anywhere else will close the box</a:t>
            </a:r>
            <a:r>
              <a:rPr lang="en-US" dirty="0">
                <a:solidFill>
                  <a:srgbClr val="000000"/>
                </a:solidFill>
                <a:latin typeface="Arial" panose="020B0604020202020204" pitchFamily="34" charset="0"/>
              </a:rPr>
              <a:t>.</a:t>
            </a: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30076064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612648" y="2819400"/>
            <a:ext cx="7997952" cy="3276600"/>
          </a:xfrm>
        </p:spPr>
        <p:txBody>
          <a:bodyPr/>
          <a:lstStyle/>
          <a:p>
            <a:r>
              <a:rPr lang="en-US" dirty="0"/>
              <a:t>Enter the address and symbol for the OTE instruction and your first </a:t>
            </a:r>
            <a:r>
              <a:rPr lang="en-US" dirty="0" err="1"/>
              <a:t>RSLogix</a:t>
            </a:r>
            <a:r>
              <a:rPr lang="en-US" dirty="0"/>
              <a:t> program will now be complete. Before continuing however, Double check that the addresses of your instructions are correct.</a:t>
            </a:r>
          </a:p>
        </p:txBody>
      </p:sp>
      <p:pic>
        <p:nvPicPr>
          <p:cNvPr id="5" name="Picture 4"/>
          <p:cNvPicPr>
            <a:picLocks noChangeAspect="1"/>
          </p:cNvPicPr>
          <p:nvPr/>
        </p:nvPicPr>
        <p:blipFill>
          <a:blip r:embed="rId2"/>
          <a:stretch>
            <a:fillRect/>
          </a:stretch>
        </p:blipFill>
        <p:spPr>
          <a:xfrm>
            <a:off x="612648" y="1371600"/>
            <a:ext cx="8153400" cy="1066800"/>
          </a:xfrm>
          <a:prstGeom prst="rect">
            <a:avLst/>
          </a:prstGeom>
        </p:spPr>
      </p:pic>
    </p:spTree>
    <p:extLst>
      <p:ext uri="{BB962C8B-B14F-4D97-AF65-F5344CB8AC3E}">
        <p14:creationId xmlns:p14="http://schemas.microsoft.com/office/powerpoint/2010/main" val="85081554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Testing your Program</a:t>
            </a:r>
            <a:endParaRPr lang="en-US" dirty="0"/>
          </a:p>
        </p:txBody>
      </p:sp>
      <p:sp>
        <p:nvSpPr>
          <p:cNvPr id="3" name="Content Placeholder 2"/>
          <p:cNvSpPr>
            <a:spLocks noGrp="1"/>
          </p:cNvSpPr>
          <p:nvPr>
            <p:ph sz="quarter" idx="1"/>
          </p:nvPr>
        </p:nvSpPr>
        <p:spPr/>
        <p:txBody>
          <a:bodyPr/>
          <a:lstStyle/>
          <a:p>
            <a:r>
              <a:rPr lang="en-US" dirty="0"/>
              <a:t>It's now time to "Download" your program to the PLC. First click on the "Toggle" button at the top right corner of the Edit Panel which will bring the PLC Panel into view.</a:t>
            </a:r>
          </a:p>
        </p:txBody>
      </p:sp>
      <p:pic>
        <p:nvPicPr>
          <p:cNvPr id="4" name="Picture 3"/>
          <p:cNvPicPr>
            <a:picLocks noChangeAspect="1"/>
          </p:cNvPicPr>
          <p:nvPr/>
        </p:nvPicPr>
        <p:blipFill>
          <a:blip r:embed="rId2"/>
          <a:stretch>
            <a:fillRect/>
          </a:stretch>
        </p:blipFill>
        <p:spPr>
          <a:xfrm>
            <a:off x="612648" y="4038600"/>
            <a:ext cx="8153400" cy="1828800"/>
          </a:xfrm>
          <a:prstGeom prst="rect">
            <a:avLst/>
          </a:prstGeom>
        </p:spPr>
      </p:pic>
    </p:spTree>
    <p:extLst>
      <p:ext uri="{BB962C8B-B14F-4D97-AF65-F5344CB8AC3E}">
        <p14:creationId xmlns:p14="http://schemas.microsoft.com/office/powerpoint/2010/main" val="18000365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57200"/>
            <a:ext cx="9220200" cy="4401205"/>
          </a:xfrm>
          <a:prstGeom prst="rect">
            <a:avLst/>
          </a:prstGeom>
        </p:spPr>
        <p:txBody>
          <a:bodyPr wrap="square">
            <a:spAutoFit/>
          </a:bodyPr>
          <a:lstStyle/>
          <a:p>
            <a:pPr marL="457200" indent="-457200">
              <a:buFont typeface="Arial" panose="020B0604020202020204" pitchFamily="34" charset="0"/>
              <a:buChar char="•"/>
            </a:pPr>
            <a:r>
              <a:rPr lang="en-US" sz="2800" dirty="0">
                <a:solidFill>
                  <a:srgbClr val="000000"/>
                </a:solidFill>
                <a:latin typeface="Arial" panose="020B0604020202020204" pitchFamily="34" charset="0"/>
              </a:rPr>
              <a:t>Click on the "</a:t>
            </a:r>
            <a:r>
              <a:rPr lang="en-US" sz="2800" dirty="0" err="1">
                <a:solidFill>
                  <a:srgbClr val="000000"/>
                </a:solidFill>
                <a:latin typeface="Arial" panose="020B0604020202020204" pitchFamily="34" charset="0"/>
              </a:rPr>
              <a:t>DownLoad</a:t>
            </a:r>
            <a:r>
              <a:rPr lang="en-US" sz="2800" dirty="0">
                <a:solidFill>
                  <a:srgbClr val="000000"/>
                </a:solidFill>
                <a:latin typeface="Arial" panose="020B0604020202020204" pitchFamily="34" charset="0"/>
              </a:rPr>
              <a:t>" button to initiate the downloading of your program to the PLC. Once complete, click inside the "RUN" option selection circle to start the PLC scanning.</a:t>
            </a:r>
          </a:p>
          <a:p>
            <a:pPr marL="457200" indent="-457200">
              <a:buFont typeface="Arial" panose="020B0604020202020204" pitchFamily="34" charset="0"/>
              <a:buChar char="•"/>
            </a:pPr>
            <a:r>
              <a:rPr lang="en-US" sz="2800" dirty="0">
                <a:solidFill>
                  <a:srgbClr val="000000"/>
                </a:solidFill>
                <a:latin typeface="Arial" panose="020B0604020202020204" pitchFamily="34" charset="0"/>
              </a:rPr>
              <a:t>Enlarge the Simulation window so that you can see both the Switches and Lamps, by dragging the bar that separates the Simulation and Program windows to the right with your mouse. Now click on Switch I:1/00 in the simulator and if all is well, Lamp O:2/00 should illuminate.</a:t>
            </a:r>
          </a:p>
        </p:txBody>
      </p:sp>
    </p:spTree>
    <p:extLst>
      <p:ext uri="{BB962C8B-B14F-4D97-AF65-F5344CB8AC3E}">
        <p14:creationId xmlns:p14="http://schemas.microsoft.com/office/powerpoint/2010/main" val="321748540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0" y="1600200"/>
            <a:ext cx="9067800" cy="5257800"/>
          </a:xfrm>
        </p:spPr>
        <p:txBody>
          <a:bodyPr>
            <a:normAutofit fontScale="85000" lnSpcReduction="10000"/>
          </a:bodyPr>
          <a:lstStyle/>
          <a:p>
            <a:r>
              <a:rPr lang="en-US" sz="3200" dirty="0">
                <a:solidFill>
                  <a:srgbClr val="000000"/>
                </a:solidFill>
                <a:latin typeface="Arial" panose="020B0604020202020204" pitchFamily="34" charset="0"/>
              </a:rPr>
              <a:t>Toggle the Switch On and Off a number of times and note the change in value indicated in the PLC Panel's status boxes which are being updated constantly as the PLC Scans. Try placing the PLC back into the "PGM" mode and then toggle the simulator's Switch a few times and note the result. Place the PLC back into the "Run" mode and the Scan should resume.</a:t>
            </a:r>
          </a:p>
          <a:p>
            <a:r>
              <a:rPr lang="en-US" sz="3200" dirty="0">
                <a:solidFill>
                  <a:srgbClr val="000000"/>
                </a:solidFill>
                <a:latin typeface="Arial" panose="020B0604020202020204" pitchFamily="34" charset="0"/>
              </a:rPr>
              <a:t>We are usually told to think of the XIC instruction as an electrical contact that allows electrical flow to pass when an external switch is closed. We are then told that the OTE will energize if the flow is allowed to get through to it. In actual fact the XIC is a conditional instruction which tests any bit that we address for Truth or a 1.</a:t>
            </a:r>
          </a:p>
          <a:p>
            <a:endParaRPr lang="en-US" dirty="0"/>
          </a:p>
        </p:txBody>
      </p:sp>
    </p:spTree>
    <p:extLst>
      <p:ext uri="{BB962C8B-B14F-4D97-AF65-F5344CB8AC3E}">
        <p14:creationId xmlns:p14="http://schemas.microsoft.com/office/powerpoint/2010/main" val="170203414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Editing your Program</a:t>
            </a:r>
            <a:endParaRPr lang="en-US" dirty="0"/>
          </a:p>
        </p:txBody>
      </p:sp>
      <p:sp>
        <p:nvSpPr>
          <p:cNvPr id="3" name="Content Placeholder 2"/>
          <p:cNvSpPr>
            <a:spLocks noGrp="1"/>
          </p:cNvSpPr>
          <p:nvPr>
            <p:ph sz="quarter" idx="1"/>
          </p:nvPr>
        </p:nvSpPr>
        <p:spPr>
          <a:xfrm>
            <a:off x="0" y="1524000"/>
            <a:ext cx="9144000" cy="3352800"/>
          </a:xfrm>
        </p:spPr>
        <p:txBody>
          <a:bodyPr>
            <a:normAutofit fontScale="92500"/>
          </a:bodyPr>
          <a:lstStyle/>
          <a:p>
            <a:r>
              <a:rPr lang="en-US" dirty="0"/>
              <a:t>Click on the "Toggle" button of the PLC Panel which will put the PLC into the PGM mode and bring the Edit Panel back into view.</a:t>
            </a:r>
          </a:p>
          <a:p>
            <a:r>
              <a:rPr lang="en-US" dirty="0"/>
              <a:t>Now add a second rung to your program as shown below. This time instead of entering the addresses as you did before, try dragging the appropriate address which is displayed in the I/O simulation and dropping it onto the instruction.</a:t>
            </a:r>
          </a:p>
          <a:p>
            <a:endParaRPr lang="en-US" dirty="0"/>
          </a:p>
        </p:txBody>
      </p:sp>
      <p:pic>
        <p:nvPicPr>
          <p:cNvPr id="4" name="Picture 3"/>
          <p:cNvPicPr>
            <a:picLocks noChangeAspect="1"/>
          </p:cNvPicPr>
          <p:nvPr/>
        </p:nvPicPr>
        <p:blipFill>
          <a:blip r:embed="rId2"/>
          <a:stretch>
            <a:fillRect/>
          </a:stretch>
        </p:blipFill>
        <p:spPr>
          <a:xfrm>
            <a:off x="0" y="4648200"/>
            <a:ext cx="9144000" cy="2209800"/>
          </a:xfrm>
          <a:prstGeom prst="rect">
            <a:avLst/>
          </a:prstGeom>
        </p:spPr>
      </p:pic>
    </p:spTree>
    <p:extLst>
      <p:ext uri="{BB962C8B-B14F-4D97-AF65-F5344CB8AC3E}">
        <p14:creationId xmlns:p14="http://schemas.microsoft.com/office/powerpoint/2010/main" val="262600160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b="1" dirty="0"/>
              <a:t>Note</a:t>
            </a:r>
            <a:r>
              <a:rPr lang="en-US" dirty="0"/>
              <a:t> that the XIO instruction which Tests for Zero or False has it's address highlighted in yellow. This indicates that the instruction is True, which in the case of an XIO, means that the bit addressed is currently a Zero or False</a:t>
            </a:r>
          </a:p>
        </p:txBody>
      </p:sp>
    </p:spTree>
    <p:extLst>
      <p:ext uri="{BB962C8B-B14F-4D97-AF65-F5344CB8AC3E}">
        <p14:creationId xmlns:p14="http://schemas.microsoft.com/office/powerpoint/2010/main" val="286451887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0" y="1600200"/>
            <a:ext cx="9144000" cy="5029200"/>
          </a:xfrm>
        </p:spPr>
        <p:txBody>
          <a:bodyPr/>
          <a:lstStyle/>
          <a:p>
            <a:r>
              <a:rPr lang="en-US" dirty="0"/>
              <a:t>Once you feel comfortable with </a:t>
            </a:r>
            <a:r>
              <a:rPr lang="en-US" dirty="0" err="1"/>
              <a:t>dragNdrop</a:t>
            </a:r>
            <a:r>
              <a:rPr lang="en-US" dirty="0"/>
              <a:t>, ensure that your program once again looks like the one pictured above, Now download your program to the PLC and place the PLC into the Run Mode.</a:t>
            </a:r>
          </a:p>
          <a:p>
            <a:r>
              <a:rPr lang="en-US" dirty="0"/>
              <a:t> Toggle both Switch-0 and Switch-1 on and off a number of times and observe the effects this has on the lamps. Ensure that you are satisfied with the operation of your program before proceeding further</a:t>
            </a:r>
          </a:p>
        </p:txBody>
      </p:sp>
    </p:spTree>
    <p:extLst>
      <p:ext uri="{BB962C8B-B14F-4D97-AF65-F5344CB8AC3E}">
        <p14:creationId xmlns:p14="http://schemas.microsoft.com/office/powerpoint/2010/main" val="126590218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45961</TotalTime>
  <Words>9792</Words>
  <Application>Microsoft Office PowerPoint</Application>
  <PresentationFormat>On-screen Show (4:3)</PresentationFormat>
  <Paragraphs>361</Paragraphs>
  <Slides>136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136</vt:i4>
      </vt:variant>
    </vt:vector>
  </HeadingPairs>
  <TitlesOfParts>
    <vt:vector size="145" baseType="lpstr">
      <vt:lpstr>Algerian</vt:lpstr>
      <vt:lpstr>Arial</vt:lpstr>
      <vt:lpstr>Arial Black</vt:lpstr>
      <vt:lpstr>Calibri</vt:lpstr>
      <vt:lpstr>Times New Roman</vt:lpstr>
      <vt:lpstr>Tw Cen MT</vt:lpstr>
      <vt:lpstr>Wingdings</vt:lpstr>
      <vt:lpstr>Wingdings 2</vt:lpstr>
      <vt:lpstr>Median</vt:lpstr>
      <vt:lpstr>PROGRAMMABLE  LOGIC CONTROL</vt:lpstr>
      <vt:lpstr>ADVANCEMENTS</vt:lpstr>
      <vt:lpstr>PowerPoint Presentation</vt:lpstr>
      <vt:lpstr>Principle of operation  I/O and the CPU</vt:lpstr>
      <vt:lpstr>PowerPoint Presentation</vt:lpstr>
      <vt:lpstr>PowerPoint Presentation</vt:lpstr>
      <vt:lpstr>Ladder diagram</vt:lpstr>
      <vt:lpstr>Example  of simple  </vt:lpstr>
      <vt:lpstr>‘’ transformation  of previous ladder diagram to PLC format.‘’.</vt:lpstr>
      <vt:lpstr>PLC format ladder diagram</vt:lpstr>
      <vt:lpstr>Possible  solutions </vt:lpstr>
      <vt:lpstr>Electric(hardwired) and PLC  ckt. Illustration  from fig.1&amp;2</vt:lpstr>
      <vt:lpstr>Cont..</vt:lpstr>
      <vt:lpstr>Advantages of PLCs</vt:lpstr>
      <vt:lpstr>THE MEMORY SYSTEM AND I/O INTERACTION</vt:lpstr>
      <vt:lpstr>The total memory system in a PLC is actually composed of two different memories </vt:lpstr>
      <vt:lpstr>Cont….</vt:lpstr>
      <vt:lpstr>Memory can be separated into two categories</vt:lpstr>
      <vt:lpstr>Input &amp;Output devices</vt:lpstr>
      <vt:lpstr>Input Devices</vt:lpstr>
      <vt:lpstr>Examples Of Some Of The Commonly Used PLC Input Devices And Their Sensors.</vt:lpstr>
      <vt:lpstr>Cont…</vt:lpstr>
      <vt:lpstr>From the prev. Slide fig. The 1 level might correspond to a 24 V d.c. input, the 0 to a 0 V input </vt:lpstr>
      <vt:lpstr>2.Proximity switches</vt:lpstr>
      <vt:lpstr>3.Photoelectric sensors and switches</vt:lpstr>
      <vt:lpstr>PowerPoint Presentation</vt:lpstr>
      <vt:lpstr>4. Encoders</vt:lpstr>
      <vt:lpstr>PowerPoint Presentation</vt:lpstr>
      <vt:lpstr>PowerPoint Presentation</vt:lpstr>
      <vt:lpstr>PowerPoint Presentation</vt:lpstr>
      <vt:lpstr>PowerPoint Presentation</vt:lpstr>
      <vt:lpstr>OUTPUT DEVICES</vt:lpstr>
      <vt:lpstr>Opto coupler</vt:lpstr>
      <vt:lpstr>PowerPoint Presentation</vt:lpstr>
      <vt:lpstr>PowerPoint Presentation</vt:lpstr>
      <vt:lpstr>1. Relay</vt:lpstr>
      <vt:lpstr>PowerPoint Presentation</vt:lpstr>
      <vt:lpstr>2. Directional control valves</vt:lpstr>
      <vt:lpstr>3.MOTORS</vt:lpstr>
      <vt:lpstr>I/O PROCESSING</vt:lpstr>
      <vt:lpstr>Input signals from sensors and the outputs required for actuating devices can be:</vt:lpstr>
      <vt:lpstr>Input units</vt:lpstr>
      <vt:lpstr>Sourcing and Sinking</vt:lpstr>
      <vt:lpstr>D.C input unit </vt:lpstr>
      <vt:lpstr>A.C Input Unit</vt:lpstr>
      <vt:lpstr>PowerPoint Presentation</vt:lpstr>
      <vt:lpstr>So that one analogue card is not required for each analogue input, multiplexing is generally used see the figure below</vt:lpstr>
      <vt:lpstr>PowerPoint Presentation</vt:lpstr>
      <vt:lpstr>PowerPoint Presentation</vt:lpstr>
      <vt:lpstr>PowerPoint Presentation</vt:lpstr>
      <vt:lpstr>Analogue-to-digital conversion for an 8-bit converter when the analogue input is in the range 0 to 10 V:</vt:lpstr>
      <vt:lpstr>Output units</vt:lpstr>
      <vt:lpstr>Output units: (a)sourcing (b) sinking</vt:lpstr>
      <vt:lpstr>PowerPoint Presentation</vt:lpstr>
      <vt:lpstr>Relay output module</vt:lpstr>
      <vt:lpstr>Transistor o/p unit current sinking</vt:lpstr>
      <vt:lpstr>Transistor o/p unit current sourcing</vt:lpstr>
      <vt:lpstr>Triac output unit</vt:lpstr>
      <vt:lpstr>PowerPoint Presentation</vt:lpstr>
      <vt:lpstr>PowerPoint Presentation</vt:lpstr>
      <vt:lpstr>PowerPoint Presentation</vt:lpstr>
      <vt:lpstr> Signal Conditioning</vt:lpstr>
      <vt:lpstr>PowerPoint Presentation</vt:lpstr>
      <vt:lpstr>PowerPoint Presentation</vt:lpstr>
      <vt:lpstr>A potential divider (Figure below) can be used to reduce a voltage from a sensor to the required level;  the output voltage level Vout is:</vt:lpstr>
      <vt:lpstr>PowerPoint Presentation</vt:lpstr>
      <vt:lpstr>PowerPoint Presentation</vt:lpstr>
      <vt:lpstr>PowerPoint Presentation</vt:lpstr>
      <vt:lpstr>PowerPoint Presentation</vt:lpstr>
      <vt:lpstr>PowerPoint Presentation</vt:lpstr>
      <vt:lpstr>Serial and Parallel Communications</vt:lpstr>
      <vt:lpstr>PowerPoint Presentation</vt:lpstr>
      <vt:lpstr>PowerPoint Presentation</vt:lpstr>
      <vt:lpstr>Serial standards</vt:lpstr>
      <vt:lpstr>PowerPoint Presentation</vt:lpstr>
      <vt:lpstr>PowerPoint Presentation</vt:lpstr>
      <vt:lpstr>D TYPE CONNECTOR</vt:lpstr>
      <vt:lpstr>PowerPoint Presentation</vt:lpstr>
      <vt:lpstr>PowerPoint Presentation</vt:lpstr>
      <vt:lpstr>PowerPoint Presentation</vt:lpstr>
      <vt:lpstr>RS232 signal levels</vt:lpstr>
      <vt:lpstr>PowerPoint Presentation</vt:lpstr>
      <vt:lpstr>Ladder and functional block programming</vt:lpstr>
      <vt:lpstr>PowerPoint Presentation</vt:lpstr>
      <vt:lpstr>PLC ladder programming</vt:lpstr>
      <vt:lpstr>.</vt:lpstr>
      <vt:lpstr>PowerPoint Presentation</vt:lpstr>
      <vt:lpstr>PowerPoint Presentation</vt:lpstr>
      <vt:lpstr>Some symbol in semi and full graphics</vt:lpstr>
      <vt:lpstr>PowerPoint Presentation</vt:lpstr>
      <vt:lpstr>PowerPoint Presentation</vt:lpstr>
      <vt:lpstr>Logic functions</vt:lpstr>
      <vt:lpstr>PowerPoint Presentation</vt:lpstr>
      <vt:lpstr>PowerPoint Presentation</vt:lpstr>
      <vt:lpstr>PowerPoint Presentation</vt:lpstr>
      <vt:lpstr>PowerPoint Presentation</vt:lpstr>
      <vt:lpstr>TIMERS, COUNTERS</vt:lpstr>
      <vt:lpstr>Timers</vt:lpstr>
      <vt:lpstr>PowerPoint Presentation</vt:lpstr>
      <vt:lpstr>TON: Generate on-delay</vt:lpstr>
      <vt:lpstr>PowerPoint Presentation</vt:lpstr>
      <vt:lpstr>PowerPoint Presentation</vt:lpstr>
      <vt:lpstr>TOF: Generate off-delay </vt:lpstr>
      <vt:lpstr>PowerPoint Presentation</vt:lpstr>
      <vt:lpstr>---( TON )---: Start on-delay timer</vt:lpstr>
      <vt:lpstr>( TOF )---: Start off-delay timer</vt:lpstr>
      <vt:lpstr>---( TONR )---: Time accumulator</vt:lpstr>
      <vt:lpstr>---( RT )---: Reset timer</vt:lpstr>
      <vt:lpstr>CTD: Count down</vt:lpstr>
      <vt:lpstr>PowerPoint Presentation</vt:lpstr>
      <vt:lpstr>The following example shows how the instruction works:</vt:lpstr>
      <vt:lpstr>PowerPoint Presentation</vt:lpstr>
      <vt:lpstr>PowerPoint Presentation</vt:lpstr>
      <vt:lpstr>         Getting Started with          RSLogix &amp; LogixPro</vt:lpstr>
      <vt:lpstr>The LogixPro Screen</vt:lpstr>
      <vt:lpstr>PowerPoint Presentation</vt:lpstr>
      <vt:lpstr>Editing Your Program</vt:lpstr>
      <vt:lpstr>Debugging Your Program </vt:lpstr>
      <vt:lpstr>Relay Logic Introductory Lab </vt:lpstr>
      <vt:lpstr>PowerPoint Presentation</vt:lpstr>
      <vt:lpstr>Now maximize the ProSim-II Simulation Window</vt:lpstr>
      <vt:lpstr>. The I/O Simulator </vt:lpstr>
      <vt:lpstr>PowerPoint Presentation</vt:lpstr>
      <vt:lpstr>RSLogix Program Creation</vt:lpstr>
      <vt:lpstr>PowerPoint Presentation</vt:lpstr>
      <vt:lpstr>PowerPoint Presentation</vt:lpstr>
      <vt:lpstr>PowerPoint Presentation</vt:lpstr>
      <vt:lpstr>PowerPoint Presentation</vt:lpstr>
      <vt:lpstr>PowerPoint Presentation</vt:lpstr>
      <vt:lpstr>PowerPoint Presentation</vt:lpstr>
      <vt:lpstr>Testing your Program</vt:lpstr>
      <vt:lpstr>PowerPoint Presentation</vt:lpstr>
      <vt:lpstr>PowerPoint Presentation</vt:lpstr>
      <vt:lpstr>Editing your Program</vt:lpstr>
      <vt:lpstr>PowerPoint Presentation</vt:lpstr>
      <vt:lpstr>PowerPoint Presentation</vt:lpstr>
    </vt:vector>
  </TitlesOfParts>
  <Company>MICROSFOT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PROGRAMMABLE  LOGIC CONTROL</dc:title>
  <dc:creator>USERS</dc:creator>
  <cp:lastModifiedBy>User</cp:lastModifiedBy>
  <cp:revision>76</cp:revision>
  <dcterms:created xsi:type="dcterms:W3CDTF">2017-09-08T14:41:16Z</dcterms:created>
  <dcterms:modified xsi:type="dcterms:W3CDTF">2025-03-24T12:01:08Z</dcterms:modified>
</cp:coreProperties>
</file>