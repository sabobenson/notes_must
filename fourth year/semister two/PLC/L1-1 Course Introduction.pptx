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11" r:id="rId3"/>
    <p:sldId id="299" r:id="rId4"/>
    <p:sldId id="312" r:id="rId5"/>
    <p:sldId id="315" r:id="rId6"/>
    <p:sldId id="319" r:id="rId7"/>
    <p:sldId id="316" r:id="rId8"/>
    <p:sldId id="317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6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9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8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6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4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7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2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00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0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503555" y="2459482"/>
            <a:ext cx="9063989" cy="1384995"/>
          </a:xfrm>
        </p:spPr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BA66-5988-485D-8917-23B1DEFB2936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5E536-A468-417C-9DC7-911E9B00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shmlay@gmail.com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5230" y="317730"/>
            <a:ext cx="107131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PROGRAMMABLE LOGIC </a:t>
            </a:r>
            <a:r>
              <a:rPr lang="en-GB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CONTROLLER (PLC)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67476" y="1210747"/>
            <a:ext cx="23903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 </a:t>
            </a:r>
            <a:r>
              <a:rPr lang="en-US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8404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54196" y="2166326"/>
            <a:ext cx="86782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Tutor: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Eng.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Mlay J.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Lecturer</a:t>
            </a:r>
          </a:p>
          <a:p>
            <a:pPr algn="ctr"/>
            <a:r>
              <a:rPr lang="en-US" sz="2400" b="1" i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(MEng: </a:t>
            </a:r>
            <a:r>
              <a:rPr lang="en-US" sz="2400" b="1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Engineering and Engineering Thermophysics)</a:t>
            </a:r>
          </a:p>
          <a:p>
            <a:pPr algn="ctr"/>
            <a:r>
              <a:rPr lang="en-US" sz="2400" b="1" i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joshmlay@gmail.com</a:t>
            </a:r>
            <a:r>
              <a:rPr lang="en-US" sz="2400" b="1" i="1" u="sng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2400" b="1" i="1" u="sng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i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no: 101A</a:t>
            </a:r>
            <a:endParaRPr lang="en-US" sz="2400" b="1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Power </a:t>
            </a:r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(EPE)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 and Technology (CET)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 University of Science and Technology (MUST)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Mbeya-Tanzania,</a:t>
            </a:r>
          </a:p>
          <a:p>
            <a:pPr algn="ctr"/>
            <a:r>
              <a:rPr 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2024/2025</a:t>
            </a:r>
            <a:endParaRPr lang="en-US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9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739741"/>
            <a:ext cx="11862487" cy="4864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Title: </a:t>
            </a:r>
            <a:r>
              <a:rPr lang="en-US" sz="2400" b="1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Programmable Logic Controller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Code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:  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EE </a:t>
            </a:r>
            <a:r>
              <a:rPr lang="en-US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8404</a:t>
            </a:r>
            <a:endParaRPr lang="en-US" sz="2400" dirty="0" smtClean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aim: 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This </a:t>
            </a:r>
            <a:r>
              <a:rPr lang="en-US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enable student to apply PLC’S in controlling Industrial electrical systems</a:t>
            </a:r>
            <a:r>
              <a:rPr lang="en-US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US" sz="2400" dirty="0">
              <a:solidFill>
                <a:srgbClr val="FFC000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rgbClr val="C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Course </a:t>
            </a:r>
            <a:r>
              <a:rPr lang="en-US" sz="2400" b="1" dirty="0">
                <a:solidFill>
                  <a:srgbClr val="C00000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expected learning outcomes: </a:t>
            </a:r>
          </a:p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a)	</a:t>
            </a:r>
            <a:r>
              <a:rPr lang="en-US" sz="24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Analyze PLC </a:t>
            </a: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hardware components.</a:t>
            </a:r>
          </a:p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b)	Understand PLC programming languages</a:t>
            </a:r>
          </a:p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c)	Develop PLC ladder programs</a:t>
            </a:r>
          </a:p>
        </p:txBody>
      </p:sp>
    </p:spTree>
    <p:extLst>
      <p:ext uri="{BB962C8B-B14F-4D97-AF65-F5344CB8AC3E}">
        <p14:creationId xmlns:p14="http://schemas.microsoft.com/office/powerpoint/2010/main" val="381544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108" y="86374"/>
            <a:ext cx="11791092" cy="6597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status- </a:t>
            </a:r>
            <a:r>
              <a:rPr lang="en-US" sz="32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core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endParaRPr lang="en-US" sz="1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R="0"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Credit rating: 6</a:t>
            </a:r>
            <a:endParaRPr lang="en-US" sz="3200" dirty="0" smtClean="0"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R="0"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R="0"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Total hours spent: </a:t>
            </a:r>
            <a:r>
              <a:rPr lang="en-US" sz="32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60</a:t>
            </a:r>
          </a:p>
          <a:p>
            <a:pPr marR="0" lvl="2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Content: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Automation Overview: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What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is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Process automation, Impact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Classification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Automation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in Production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Systems, Applications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Evolution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Hierarchy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Basic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Components of </a:t>
            </a:r>
            <a:r>
              <a:rPr lang="en-US" sz="2800" dirty="0" smtClean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Automation, Different </a:t>
            </a:r>
            <a:r>
              <a:rPr lang="en-US" sz="2800" dirty="0">
                <a:solidFill>
                  <a:prstClr val="black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Technologies Used in Industrial Automation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1050" b="1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PLC’s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Overview: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Types, Parts of PLC, principles of operation, PLC’ v/s Computer, PLC size and Application, symbols</a:t>
            </a: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5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708" y="329658"/>
            <a:ext cx="11788346" cy="5999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</a:t>
            </a:r>
            <a:r>
              <a:rPr lang="en-US" sz="3200" dirty="0" smtClean="0">
                <a:solidFill>
                  <a:srgbClr val="00B0F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Content Cont,,: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PLC’s Hardware components: </a:t>
            </a: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The I/O, discrete I/O courses, Analog I/O courses, I/O specifications, The CPU, Program leaders.</a:t>
            </a:r>
            <a:endParaRPr lang="en-US" sz="32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sz="700" dirty="0" smtClean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Basics of PLC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Programming: </a:t>
            </a: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Program scan, PLC programming Languages, programming Timers, Counters, Latches, logical sensors, Actuators, Control Instructions, Data manipulation instructions, Math Instructions sequencer instructions.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1400" dirty="0" smtClean="0"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Developing </a:t>
            </a: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fundamental PLC wiring Diagrams and Ladder programs.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PLC Installation practices, Editing and Troubleshooting. </a:t>
            </a:r>
          </a:p>
        </p:txBody>
      </p:sp>
    </p:spTree>
    <p:extLst>
      <p:ext uri="{BB962C8B-B14F-4D97-AF65-F5344CB8AC3E}">
        <p14:creationId xmlns:p14="http://schemas.microsoft.com/office/powerpoint/2010/main" val="199063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708" y="350046"/>
            <a:ext cx="11714206" cy="616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Assessment Methods:</a:t>
            </a:r>
            <a:endParaRPr lang="en-US" sz="2800" dirty="0">
              <a:solidFill>
                <a:srgbClr val="FF0000"/>
              </a:solidFill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Course assessment </a:t>
            </a: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Will/May include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800" i="1" dirty="0" smtClean="0">
                <a:solidFill>
                  <a:srgbClr val="00B05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Take 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home exercises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800" dirty="0" smtClean="0">
                <a:solidFill>
                  <a:srgbClr val="FFC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class </a:t>
            </a:r>
            <a:r>
              <a:rPr lang="en-US" sz="2800" dirty="0">
                <a:solidFill>
                  <a:srgbClr val="FFC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tests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800" dirty="0" smtClean="0">
                <a:solidFill>
                  <a:srgbClr val="00B0F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group/individual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assignments</a:t>
            </a: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,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In class quiz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Continuous of assessment) </a:t>
            </a: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and, 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sz="2800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nd 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of Semester examination. </a:t>
            </a:r>
            <a:endParaRPr lang="en-US" sz="2800" dirty="0" smtClean="0"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i="1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Continuous of </a:t>
            </a:r>
            <a:r>
              <a:rPr lang="en-US" sz="2800" b="1" i="1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Assessment (CA)</a:t>
            </a:r>
            <a:r>
              <a:rPr lang="en-US" sz="2800" b="1" i="1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sz="2800" b="1" i="1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	40%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800" b="1" i="1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i="1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End of Semester </a:t>
            </a:r>
            <a:r>
              <a:rPr lang="en-US" sz="2800" b="1" i="1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Examination (SE)	</a:t>
            </a:r>
            <a:r>
              <a:rPr lang="en-US" sz="2800" b="1" i="1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	</a:t>
            </a:r>
            <a:r>
              <a:rPr lang="en-US" sz="2800" b="1" i="1" dirty="0" smtClean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	60</a:t>
            </a:r>
            <a:r>
              <a:rPr lang="en-US" sz="2800" b="1" i="1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%</a:t>
            </a:r>
            <a:endParaRPr lang="en-US" sz="2800" b="1" i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5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6119" y="355853"/>
            <a:ext cx="10565027" cy="60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15000"/>
              </a:lnSpc>
            </a:pPr>
            <a:r>
              <a:rPr lang="en-US" sz="2600" b="1" dirty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Assessment Methods</a:t>
            </a:r>
            <a:r>
              <a:rPr lang="en-US" sz="2600" b="1" dirty="0" smtClean="0">
                <a:solidFill>
                  <a:srgbClr val="FF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:</a:t>
            </a:r>
          </a:p>
          <a:p>
            <a:pPr lvl="2">
              <a:lnSpc>
                <a:spcPct val="115000"/>
              </a:lnSpc>
            </a:pPr>
            <a:endParaRPr lang="en-US" sz="26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latin typeface="Cambria" panose="02040503050406030204" pitchFamily="18" charset="0"/>
                <a:ea typeface="Times New Roman" panose="02020603050405020304" pitchFamily="18" charset="0"/>
              </a:rPr>
              <a:t>Course assessment will include </a:t>
            </a:r>
            <a:r>
              <a:rPr lang="en-US" sz="2600" b="1" i="1" dirty="0">
                <a:latin typeface="Cambria" panose="02040503050406030204" pitchFamily="18" charset="0"/>
                <a:ea typeface="Times New Roman" panose="02020603050405020304" pitchFamily="18" charset="0"/>
              </a:rPr>
              <a:t>take home exercises</a:t>
            </a:r>
            <a:r>
              <a:rPr lang="en-US" sz="2600" dirty="0">
                <a:latin typeface="Cambria" panose="02040503050406030204" pitchFamily="18" charset="0"/>
                <a:ea typeface="Times New Roman" panose="02020603050405020304" pitchFamily="18" charset="0"/>
              </a:rPr>
              <a:t>, 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In </a:t>
            </a:r>
            <a:r>
              <a:rPr lang="en-US" sz="2600" b="1" i="1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class </a:t>
            </a:r>
            <a:r>
              <a:rPr lang="en-US" sz="2600" b="1" i="1" dirty="0">
                <a:latin typeface="Cambria" panose="02040503050406030204" pitchFamily="18" charset="0"/>
                <a:ea typeface="Times New Roman" panose="02020603050405020304" pitchFamily="18" charset="0"/>
              </a:rPr>
              <a:t>tests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, </a:t>
            </a:r>
            <a:r>
              <a:rPr lang="en-US" sz="2600" b="1" i="1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Open/close book </a:t>
            </a:r>
            <a:r>
              <a:rPr lang="en-US" sz="2600" b="1" i="1" dirty="0">
                <a:latin typeface="Cambria" panose="02040503050406030204" pitchFamily="18" charset="0"/>
                <a:ea typeface="Times New Roman" panose="02020603050405020304" pitchFamily="18" charset="0"/>
              </a:rPr>
              <a:t>T</a:t>
            </a:r>
            <a:r>
              <a:rPr lang="en-US" sz="2600" b="1" i="1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ests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, </a:t>
            </a:r>
            <a:r>
              <a:rPr lang="en-US" sz="2600" b="1" i="1" dirty="0">
                <a:latin typeface="Cambria" panose="02040503050406030204" pitchFamily="18" charset="0"/>
                <a:ea typeface="Times New Roman" panose="02020603050405020304" pitchFamily="18" charset="0"/>
              </a:rPr>
              <a:t>Q</a:t>
            </a:r>
            <a:r>
              <a:rPr lang="en-US" sz="2600" b="1" i="1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uizzes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 and </a:t>
            </a:r>
            <a:r>
              <a:rPr lang="en-US" sz="2600" b="1" i="1" dirty="0">
                <a:latin typeface="Cambria" panose="02040503050406030204" pitchFamily="18" charset="0"/>
                <a:ea typeface="Times New Roman" panose="02020603050405020304" pitchFamily="18" charset="0"/>
              </a:rPr>
              <a:t>group/individual assignments</a:t>
            </a:r>
            <a:r>
              <a:rPr lang="en-US" sz="2600" dirty="0">
                <a:latin typeface="Cambria" panose="02040503050406030204" pitchFamily="18" charset="0"/>
                <a:ea typeface="Times New Roman" panose="02020603050405020304" pitchFamily="18" charset="0"/>
              </a:rPr>
              <a:t>, (Continuous of 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Assessment</a:t>
            </a:r>
            <a:r>
              <a:rPr lang="en-US" sz="2600" dirty="0">
                <a:latin typeface="Cambria" panose="02040503050406030204" pitchFamily="18" charset="0"/>
                <a:ea typeface="Times New Roman" panose="02020603050405020304" pitchFamily="18" charset="0"/>
              </a:rPr>
              <a:t>) 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and </a:t>
            </a:r>
            <a:r>
              <a:rPr lang="en-US" sz="2600" dirty="0">
                <a:latin typeface="Cambria" panose="02040503050406030204" pitchFamily="18" charset="0"/>
                <a:ea typeface="Times New Roman" panose="02020603050405020304" pitchFamily="18" charset="0"/>
              </a:rPr>
              <a:t>Semester </a:t>
            </a:r>
            <a:r>
              <a:rPr lang="en-US" sz="2600" dirty="0" smtClean="0">
                <a:latin typeface="Cambria" panose="02040503050406030204" pitchFamily="18" charset="0"/>
                <a:ea typeface="Times New Roman" panose="02020603050405020304" pitchFamily="18" charset="0"/>
              </a:rPr>
              <a:t>Examination.</a:t>
            </a: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Continuous of A</a:t>
            </a:r>
            <a:r>
              <a:rPr lang="en-US" sz="2600" b="1" dirty="0" smtClean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ssessment</a:t>
            </a:r>
            <a:r>
              <a:rPr lang="en-US" sz="2600" b="1" dirty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		</a:t>
            </a:r>
            <a:r>
              <a:rPr lang="en-US" sz="2600" b="1" dirty="0" smtClean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			40%</a:t>
            </a:r>
          </a:p>
          <a:p>
            <a:pPr marL="2400300" lvl="3" indent="-571500">
              <a:lnSpc>
                <a:spcPct val="115000"/>
              </a:lnSpc>
              <a:buFont typeface="+mj-lt"/>
              <a:buAutoNum type="romanLcPeriod"/>
            </a:pP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Test </a:t>
            </a:r>
            <a:r>
              <a:rPr lang="en-US" sz="2600" i="1" dirty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1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(closed book) 				10%</a:t>
            </a:r>
          </a:p>
          <a:p>
            <a:pPr marL="2400300" lvl="3" indent="-571500">
              <a:lnSpc>
                <a:spcPct val="115000"/>
              </a:lnSpc>
              <a:buFont typeface="+mj-lt"/>
              <a:buAutoNum type="romanLcPeriod"/>
            </a:pP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Individual Assignment	</a:t>
            </a:r>
            <a:r>
              <a:rPr lang="en-US" sz="2600" i="1" dirty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(open </a:t>
            </a:r>
            <a:r>
              <a:rPr lang="en-US" sz="2600" i="1" dirty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book) 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		10%</a:t>
            </a:r>
          </a:p>
          <a:p>
            <a:pPr marL="2400300" lvl="3" indent="-571500">
              <a:lnSpc>
                <a:spcPct val="115000"/>
              </a:lnSpc>
              <a:buFont typeface="+mj-lt"/>
              <a:buAutoNum type="romanLcPeriod"/>
            </a:pP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Individual Project				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15%</a:t>
            </a:r>
            <a:endParaRPr lang="en-US" sz="2600" i="1" dirty="0" smtClean="0">
              <a:solidFill>
                <a:srgbClr val="C00000"/>
              </a:solidFill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2400300" lvl="3" indent="-571500">
              <a:lnSpc>
                <a:spcPct val="115000"/>
              </a:lnSpc>
              <a:buFont typeface="+mj-lt"/>
              <a:buAutoNum type="romanLcPeriod"/>
            </a:pP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Quiz/Attendance 				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05</a:t>
            </a:r>
            <a:r>
              <a:rPr lang="en-US" sz="2600" i="1" dirty="0" smtClean="0">
                <a:solidFill>
                  <a:srgbClr val="C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%</a:t>
            </a:r>
            <a:endParaRPr lang="en-US" sz="2600" i="1" dirty="0" smtClean="0">
              <a:solidFill>
                <a:srgbClr val="C00000"/>
              </a:solidFill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1485900" lvl="1" indent="-571500">
              <a:lnSpc>
                <a:spcPct val="115000"/>
              </a:lnSpc>
              <a:buFont typeface="+mj-lt"/>
              <a:buAutoNum type="romanLcPeriod"/>
            </a:pPr>
            <a:endParaRPr lang="en-US"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End of Semester </a:t>
            </a:r>
            <a:r>
              <a:rPr lang="en-US" sz="2600" b="1" dirty="0" smtClean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Examination (UE)</a:t>
            </a:r>
            <a:r>
              <a:rPr lang="en-US" sz="2600" b="1" dirty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	</a:t>
            </a:r>
            <a:r>
              <a:rPr lang="en-US" sz="2600" b="1" dirty="0" smtClean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60</a:t>
            </a:r>
            <a:r>
              <a:rPr lang="en-US" sz="2600" b="1" dirty="0">
                <a:solidFill>
                  <a:srgbClr val="00B05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%</a:t>
            </a:r>
            <a:endParaRPr lang="en-US" sz="26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25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206" y="238415"/>
            <a:ext cx="11578280" cy="5143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Reading list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</a:p>
          <a:p>
            <a:pPr lvl="2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romanLcParenBoth"/>
            </a:pPr>
            <a:r>
              <a:rPr lang="de-DE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Webb, J. W., &amp; Reis, R. A. (1998).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Programmable logic controllers: principles and applications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Prentice Hall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 Silva, C. W., </a:t>
            </a:r>
            <a:r>
              <a:rPr lang="en-US" sz="2800" dirty="0" err="1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Khoshnoud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F., Li, M., &amp;</a:t>
            </a:r>
            <a:r>
              <a:rPr lang="en-US" sz="2800" dirty="0" err="1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Halgamuge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S. K. (Eds.). (2015).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Mechatronics: Fundamentals and Applications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CRC Press.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Frank, D. P. (2016).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Programmable logic controllers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Tata McGraw Hill Education Private Limited.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Dunning, G. A. (2005).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 to programmable logic controllers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Cengage Learning.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13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421" y="1346737"/>
            <a:ext cx="11874843" cy="3520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romanLcParenBoth"/>
            </a:pP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Hackworth, J. R., &amp; Hackworth, F. D. (2004).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Programmable Logic Controllers: Programming Methods and Applications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(pp. 128-138). Pearson.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Erickson, K. T. (2016). Programmable Logic Controllers, </a:t>
            </a:r>
            <a:r>
              <a:rPr lang="en-US" sz="2800" b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 Emphasis on Design and Application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Dogwood Valley Press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800" dirty="0" err="1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Rabiee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M., &amp;</a:t>
            </a:r>
            <a:r>
              <a:rPr lang="en-US" sz="2800" dirty="0" err="1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Fardo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S. W. (2017). </a:t>
            </a:r>
            <a:r>
              <a:rPr lang="en-US" sz="2800" i="1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Programmable logic controllers: Hardware and programming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Goodheart-Willcox</a:t>
            </a:r>
            <a:r>
              <a:rPr lang="en-US" sz="2800" dirty="0"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Company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1699" y="170198"/>
            <a:ext cx="3715697" cy="4875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Reading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list CONT,,: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69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7752" y="310268"/>
            <a:ext cx="1595309" cy="645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3600" b="1" u="sng" dirty="0" smtClean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Quiz 1 </a:t>
            </a:r>
          </a:p>
        </p:txBody>
      </p:sp>
      <p:sp>
        <p:nvSpPr>
          <p:cNvPr id="3" name="Rectangle 2"/>
          <p:cNvSpPr/>
          <p:nvPr/>
        </p:nvSpPr>
        <p:spPr>
          <a:xfrm>
            <a:off x="9309957" y="279170"/>
            <a:ext cx="2172390" cy="6851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3600" b="1" i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03 </a:t>
            </a:r>
            <a:r>
              <a:rPr lang="en-US" sz="3600" b="1" i="1" u="sng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marks  </a:t>
            </a:r>
          </a:p>
        </p:txBody>
      </p:sp>
      <p:sp>
        <p:nvSpPr>
          <p:cNvPr id="4" name="Rectangle 3"/>
          <p:cNvSpPr/>
          <p:nvPr/>
        </p:nvSpPr>
        <p:spPr>
          <a:xfrm>
            <a:off x="494271" y="2917395"/>
            <a:ext cx="114096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your own understanding explain what do you understand about PLC in reference to industrial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5411" y="1203830"/>
            <a:ext cx="5637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Answer the following questions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58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648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SimSun</vt:lpstr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 Jr.</dc:creator>
  <cp:lastModifiedBy>KING Jr.</cp:lastModifiedBy>
  <cp:revision>182</cp:revision>
  <dcterms:created xsi:type="dcterms:W3CDTF">2022-03-30T08:35:42Z</dcterms:created>
  <dcterms:modified xsi:type="dcterms:W3CDTF">2024-10-31T09:57:20Z</dcterms:modified>
</cp:coreProperties>
</file>