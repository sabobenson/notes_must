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11" r:id="rId3"/>
    <p:sldId id="380" r:id="rId4"/>
    <p:sldId id="381" r:id="rId5"/>
    <p:sldId id="312" r:id="rId6"/>
    <p:sldId id="315" r:id="rId7"/>
    <p:sldId id="382" r:id="rId8"/>
    <p:sldId id="383" r:id="rId9"/>
    <p:sldId id="384" r:id="rId10"/>
    <p:sldId id="400" r:id="rId11"/>
    <p:sldId id="355" r:id="rId12"/>
    <p:sldId id="356" r:id="rId13"/>
    <p:sldId id="319" r:id="rId14"/>
    <p:sldId id="371" r:id="rId15"/>
    <p:sldId id="369" r:id="rId16"/>
    <p:sldId id="326" r:id="rId17"/>
    <p:sldId id="320" r:id="rId18"/>
    <p:sldId id="370" r:id="rId19"/>
    <p:sldId id="358" r:id="rId20"/>
    <p:sldId id="359" r:id="rId21"/>
    <p:sldId id="375" r:id="rId22"/>
    <p:sldId id="323" r:id="rId23"/>
    <p:sldId id="385" r:id="rId24"/>
    <p:sldId id="386" r:id="rId25"/>
    <p:sldId id="387" r:id="rId26"/>
    <p:sldId id="394" r:id="rId27"/>
    <p:sldId id="395" r:id="rId28"/>
    <p:sldId id="397" r:id="rId29"/>
    <p:sldId id="399" r:id="rId30"/>
    <p:sldId id="398" r:id="rId31"/>
    <p:sldId id="363" r:id="rId32"/>
    <p:sldId id="388" r:id="rId33"/>
    <p:sldId id="389" r:id="rId34"/>
    <p:sldId id="391" r:id="rId35"/>
    <p:sldId id="392" r:id="rId36"/>
    <p:sldId id="393" r:id="rId37"/>
    <p:sldId id="39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3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6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93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681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61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41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47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829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000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40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8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07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>
          <a:xfrm>
            <a:off x="503555" y="2459482"/>
            <a:ext cx="9063989" cy="1384995"/>
          </a:xfrm>
        </p:spPr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7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8BA66-5988-485D-8917-23B1DEFB2936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97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oshmlay@gmail.com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75230" y="317730"/>
            <a:ext cx="107131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PROGRAMMABLE LOGIC </a:t>
            </a:r>
            <a:r>
              <a:rPr lang="en-GB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CONTROLLER (PLC)</a:t>
            </a:r>
            <a:endParaRPr lang="en-US" sz="3600" dirty="0">
              <a:solidFill>
                <a:srgbClr val="00B05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67476" y="1210747"/>
            <a:ext cx="239039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 </a:t>
            </a:r>
            <a:r>
              <a:rPr lang="en-US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8404</a:t>
            </a:r>
            <a:endParaRPr lang="en-US" sz="4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54196" y="2166326"/>
            <a:ext cx="867822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Tutor: </a:t>
            </a:r>
            <a:r>
              <a:rPr lang="en-US" sz="24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Eng. </a:t>
            </a: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Mlay J. </a:t>
            </a:r>
            <a:r>
              <a:rPr lang="en-US" sz="24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</a:p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Lecturer</a:t>
            </a:r>
          </a:p>
          <a:p>
            <a:pPr algn="ctr"/>
            <a:r>
              <a:rPr lang="en-US" sz="2400" b="1" i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(MEng: </a:t>
            </a:r>
            <a:r>
              <a:rPr lang="en-US" sz="2400" b="1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Engineering and Engineering Thermophysics)</a:t>
            </a:r>
          </a:p>
          <a:p>
            <a:pPr algn="ctr"/>
            <a:r>
              <a:rPr lang="en-US" sz="2400" b="1" i="1" u="sng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joshmlay@gmail.com</a:t>
            </a:r>
            <a:r>
              <a:rPr lang="en-US" sz="2400" b="1" i="1" u="sng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US" sz="2400" b="1" i="1" u="sng" dirty="0" smtClean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i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Office no: 101A</a:t>
            </a:r>
            <a:endParaRPr lang="en-US" sz="2400" b="1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and Power </a:t>
            </a:r>
            <a:r>
              <a:rPr lang="en-US" sz="24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</a:t>
            </a: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(EPE)</a:t>
            </a:r>
          </a:p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of Engineering and Technology (CET)</a:t>
            </a:r>
          </a:p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Mbeya University of Science and Technology (MUST)</a:t>
            </a:r>
          </a:p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Mbeya-Tanzania,</a:t>
            </a:r>
          </a:p>
          <a:p>
            <a:pPr algn="ctr"/>
            <a:r>
              <a:rPr lang="en-US" sz="24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2024/2025</a:t>
            </a:r>
            <a:endParaRPr lang="en-US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39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83701" y="616577"/>
            <a:ext cx="551111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sz="2800" b="1" dirty="0"/>
              <a:t>Ladder Programming </a:t>
            </a:r>
            <a:endParaRPr lang="en-US" sz="2800" dirty="0"/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sz="2800" b="1" dirty="0"/>
              <a:t>Conditional Logic </a:t>
            </a:r>
            <a:endParaRPr lang="en-US" sz="2800" b="1" dirty="0" smtClean="0"/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sz="2800" b="1" dirty="0" smtClean="0"/>
              <a:t>Ladder </a:t>
            </a:r>
            <a:r>
              <a:rPr lang="en-US" sz="2800" b="1" dirty="0"/>
              <a:t>Diagrams </a:t>
            </a:r>
            <a:endParaRPr lang="en-US" sz="2800" b="1" dirty="0" smtClean="0"/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sz="2800" b="1" dirty="0" smtClean="0"/>
              <a:t>Outputs </a:t>
            </a:r>
            <a:r>
              <a:rPr lang="en-US" sz="2800" b="1" dirty="0"/>
              <a:t>and latches </a:t>
            </a:r>
            <a:endParaRPr lang="en-US" sz="2800" b="1" dirty="0" smtClean="0"/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sz="2800" b="1" dirty="0" smtClean="0"/>
              <a:t>Internal </a:t>
            </a:r>
            <a:r>
              <a:rPr lang="en-US" sz="2800" b="1" dirty="0"/>
              <a:t>relays </a:t>
            </a:r>
            <a:endParaRPr lang="en-US" sz="2800" dirty="0"/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sz="2800" b="1" dirty="0"/>
              <a:t>Timers </a:t>
            </a:r>
            <a:endParaRPr lang="en-US" sz="2800" dirty="0"/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sz="2800" b="1" dirty="0"/>
              <a:t>The Pulse </a:t>
            </a:r>
            <a:r>
              <a:rPr lang="en-US" sz="2800" b="1" dirty="0" smtClean="0"/>
              <a:t>Generator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sz="2800" b="1" dirty="0" smtClean="0"/>
              <a:t>Counters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sz="2800" b="1" dirty="0"/>
              <a:t> PLC’s Ladder Diagram Examples </a:t>
            </a:r>
          </a:p>
        </p:txBody>
      </p:sp>
      <p:sp>
        <p:nvSpPr>
          <p:cNvPr id="3" name="Rectangle 2"/>
          <p:cNvSpPr/>
          <p:nvPr/>
        </p:nvSpPr>
        <p:spPr>
          <a:xfrm>
            <a:off x="3883701" y="137247"/>
            <a:ext cx="3466654" cy="4608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PLC’s Programming </a:t>
            </a:r>
          </a:p>
        </p:txBody>
      </p:sp>
    </p:spTree>
    <p:extLst>
      <p:ext uri="{BB962C8B-B14F-4D97-AF65-F5344CB8AC3E}">
        <p14:creationId xmlns:p14="http://schemas.microsoft.com/office/powerpoint/2010/main" val="3815441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589" y="1025611"/>
            <a:ext cx="9452919" cy="493335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10908" y="167501"/>
            <a:ext cx="29486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PLC Connections</a:t>
            </a:r>
          </a:p>
        </p:txBody>
      </p:sp>
    </p:spTree>
    <p:extLst>
      <p:ext uri="{BB962C8B-B14F-4D97-AF65-F5344CB8AC3E}">
        <p14:creationId xmlns:p14="http://schemas.microsoft.com/office/powerpoint/2010/main" val="251104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33920" y="3075057"/>
            <a:ext cx="512416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Ladder Programming </a:t>
            </a:r>
            <a:endParaRPr lang="en-US" sz="4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407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827" y="207659"/>
            <a:ext cx="11788346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FF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Conditional Logic </a:t>
            </a:r>
          </a:p>
        </p:txBody>
      </p:sp>
      <p:sp>
        <p:nvSpPr>
          <p:cNvPr id="5" name="Rectangle 4"/>
          <p:cNvSpPr/>
          <p:nvPr/>
        </p:nvSpPr>
        <p:spPr>
          <a:xfrm>
            <a:off x="433138" y="1021799"/>
            <a:ext cx="11355208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i="1" dirty="0" smtClean="0">
                <a:solidFill>
                  <a:srgbClr val="000000"/>
                </a:solidFill>
              </a:rPr>
              <a:t>The </a:t>
            </a:r>
            <a:r>
              <a:rPr lang="en-US" sz="3200" b="1" i="1" dirty="0">
                <a:solidFill>
                  <a:srgbClr val="000000"/>
                </a:solidFill>
              </a:rPr>
              <a:t>PLC scans its inputs </a:t>
            </a:r>
            <a:r>
              <a:rPr lang="en-US" sz="3200" dirty="0">
                <a:solidFill>
                  <a:srgbClr val="000000"/>
                </a:solidFill>
              </a:rPr>
              <a:t>and, </a:t>
            </a:r>
            <a:r>
              <a:rPr lang="en-US" sz="3200" b="1" i="1" dirty="0">
                <a:solidFill>
                  <a:srgbClr val="00B050"/>
                </a:solidFill>
              </a:rPr>
              <a:t>depending on the program</a:t>
            </a:r>
            <a:r>
              <a:rPr lang="en-US" sz="3200" dirty="0">
                <a:solidFill>
                  <a:srgbClr val="000000"/>
                </a:solidFill>
              </a:rPr>
              <a:t>, </a:t>
            </a:r>
            <a:r>
              <a:rPr lang="en-US" sz="3200" b="1" dirty="0">
                <a:solidFill>
                  <a:srgbClr val="0070C0"/>
                </a:solidFill>
              </a:rPr>
              <a:t>switches on or off various combinations of outputs</a:t>
            </a:r>
            <a:r>
              <a:rPr lang="en-US" sz="3200" dirty="0">
                <a:solidFill>
                  <a:srgbClr val="000000"/>
                </a:solidFill>
              </a:rPr>
              <a:t>. The logic state of the output depends on the input </a:t>
            </a:r>
            <a:r>
              <a:rPr lang="en-US" sz="3200" dirty="0" smtClean="0">
                <a:solidFill>
                  <a:srgbClr val="000000"/>
                </a:solidFill>
              </a:rPr>
              <a:t>conditions; </a:t>
            </a:r>
            <a:r>
              <a:rPr lang="en-US" sz="3200" dirty="0">
                <a:solidFill>
                  <a:srgbClr val="C00000"/>
                </a:solidFill>
              </a:rPr>
              <a:t>so the term </a:t>
            </a:r>
            <a:r>
              <a:rPr lang="en-US" sz="3200" i="1" dirty="0">
                <a:solidFill>
                  <a:srgbClr val="C00000"/>
                </a:solidFill>
              </a:rPr>
              <a:t>conditional </a:t>
            </a:r>
            <a:r>
              <a:rPr lang="en-US" sz="3200" b="1" i="1" dirty="0">
                <a:solidFill>
                  <a:srgbClr val="C00000"/>
                </a:solidFill>
              </a:rPr>
              <a:t>logic</a:t>
            </a:r>
            <a:r>
              <a:rPr lang="en-US" sz="3200" i="1" dirty="0">
                <a:solidFill>
                  <a:srgbClr val="C00000"/>
                </a:solidFill>
              </a:rPr>
              <a:t> </a:t>
            </a:r>
            <a:r>
              <a:rPr lang="en-US" sz="3200" dirty="0">
                <a:solidFill>
                  <a:srgbClr val="C00000"/>
                </a:solidFill>
              </a:rPr>
              <a:t>is used. </a:t>
            </a:r>
            <a:endParaRPr lang="en-US" sz="3200" dirty="0" smtClean="0">
              <a:solidFill>
                <a:srgbClr val="C00000"/>
              </a:solidFill>
            </a:endParaRPr>
          </a:p>
          <a:p>
            <a:pPr algn="just"/>
            <a:endParaRPr lang="en-US" sz="3200" dirty="0">
              <a:solidFill>
                <a:srgbClr val="000000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</a:rPr>
              <a:t>A simple example of conditional logic could be stated as follows</a:t>
            </a:r>
            <a:r>
              <a:rPr lang="en-US" sz="3200" dirty="0" smtClean="0">
                <a:solidFill>
                  <a:srgbClr val="000000"/>
                </a:solidFill>
              </a:rPr>
              <a:t>:</a:t>
            </a:r>
          </a:p>
          <a:p>
            <a:pPr algn="just"/>
            <a:endParaRPr lang="en-US" dirty="0">
              <a:solidFill>
                <a:srgbClr val="000000"/>
              </a:solidFill>
            </a:endParaRPr>
          </a:p>
          <a:p>
            <a:pPr algn="just"/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b="1" dirty="0">
                <a:solidFill>
                  <a:srgbClr val="000000"/>
                </a:solidFill>
              </a:rPr>
              <a:t>“A machine switches on if either of two start switches are closed and all of three stop switches are closed.”</a:t>
            </a:r>
            <a:endParaRPr lang="en-US" sz="3200" b="1" dirty="0">
              <a:solidFill>
                <a:prstClr val="black"/>
              </a:solidFill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630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1440" y="754339"/>
            <a:ext cx="11589120" cy="816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B05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The conditions could be </a:t>
            </a:r>
            <a:r>
              <a:rPr lang="en-US" sz="3200" dirty="0" smtClean="0">
                <a:solidFill>
                  <a:srgbClr val="00B05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realized </a:t>
            </a:r>
            <a:r>
              <a:rPr lang="en-US" sz="3200" dirty="0">
                <a:solidFill>
                  <a:srgbClr val="00B05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by a hard wire solution as shown</a:t>
            </a:r>
            <a:r>
              <a:rPr lang="en-US" sz="3200" dirty="0" smtClean="0">
                <a:solidFill>
                  <a:srgbClr val="00B05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, </a:t>
            </a:r>
            <a:endParaRPr lang="en-US" sz="300" dirty="0">
              <a:solidFill>
                <a:srgbClr val="00B050"/>
              </a:solidFill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endParaRPr lang="en-US" sz="600" dirty="0">
              <a:solidFill>
                <a:srgbClr val="00B050"/>
              </a:solidFill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1827" y="84089"/>
            <a:ext cx="11788346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FF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Conditional </a:t>
            </a:r>
            <a:r>
              <a:rPr lang="en-US" sz="3200" b="1" dirty="0" err="1" smtClean="0">
                <a:solidFill>
                  <a:srgbClr val="FF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Logic,,,cont</a:t>
            </a:r>
            <a:r>
              <a:rPr lang="en-US" sz="3200" b="1" dirty="0" smtClean="0">
                <a:solidFill>
                  <a:srgbClr val="FF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endParaRPr lang="en-US" sz="3200" b="1" dirty="0">
              <a:solidFill>
                <a:srgbClr val="FF0000"/>
              </a:solidFill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76726" y="1645771"/>
            <a:ext cx="5184960" cy="4593024"/>
            <a:chOff x="276726" y="1324489"/>
            <a:chExt cx="5184960" cy="4593024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1440" y="1324489"/>
              <a:ext cx="5160246" cy="4194275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p:sp>
          <p:nvSpPr>
            <p:cNvPr id="3" name="Rectangle 2"/>
            <p:cNvSpPr/>
            <p:nvPr/>
          </p:nvSpPr>
          <p:spPr>
            <a:xfrm>
              <a:off x="276726" y="5548181"/>
              <a:ext cx="5184960" cy="369332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/>
                <a:t>Machine </a:t>
              </a:r>
              <a:r>
                <a:rPr lang="en-US" dirty="0" smtClean="0"/>
                <a:t>relay  </a:t>
              </a:r>
              <a:r>
                <a:rPr lang="en-US" dirty="0"/>
                <a:t>Hard-Wire Conditional Logic Example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5613328" y="1397657"/>
            <a:ext cx="627723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</a:rPr>
              <a:t>The two </a:t>
            </a:r>
            <a:r>
              <a:rPr lang="en-US" sz="2800" b="1" i="1" dirty="0">
                <a:solidFill>
                  <a:srgbClr val="000000"/>
                </a:solidFill>
              </a:rPr>
              <a:t>start </a:t>
            </a:r>
            <a:r>
              <a:rPr lang="en-US" sz="2800" b="1" dirty="0">
                <a:solidFill>
                  <a:srgbClr val="000000"/>
                </a:solidFill>
              </a:rPr>
              <a:t>switches </a:t>
            </a:r>
            <a:r>
              <a:rPr lang="en-US" sz="2800" dirty="0">
                <a:solidFill>
                  <a:srgbClr val="000000"/>
                </a:solidFill>
              </a:rPr>
              <a:t>are connected in parallel. </a:t>
            </a:r>
            <a:endParaRPr lang="en-US" sz="2800" dirty="0" smtClean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 smtClean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Current </a:t>
            </a:r>
            <a:r>
              <a:rPr lang="en-US" sz="2800" dirty="0">
                <a:solidFill>
                  <a:srgbClr val="000000"/>
                </a:solidFill>
              </a:rPr>
              <a:t>will flow if </a:t>
            </a:r>
            <a:r>
              <a:rPr lang="en-US" sz="2800" b="1" dirty="0">
                <a:solidFill>
                  <a:srgbClr val="000000"/>
                </a:solidFill>
              </a:rPr>
              <a:t>one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i="1" dirty="0">
                <a:solidFill>
                  <a:srgbClr val="000000"/>
                </a:solidFill>
              </a:rPr>
              <a:t>or </a:t>
            </a:r>
            <a:r>
              <a:rPr lang="en-US" sz="2800" dirty="0">
                <a:solidFill>
                  <a:srgbClr val="000000"/>
                </a:solidFill>
              </a:rPr>
              <a:t>the </a:t>
            </a:r>
            <a:r>
              <a:rPr lang="en-US" sz="2800" b="1" dirty="0">
                <a:solidFill>
                  <a:srgbClr val="000000"/>
                </a:solidFill>
              </a:rPr>
              <a:t>other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i="1" dirty="0">
                <a:solidFill>
                  <a:srgbClr val="000000"/>
                </a:solidFill>
              </a:rPr>
              <a:t>or </a:t>
            </a:r>
            <a:r>
              <a:rPr lang="en-US" sz="2800" b="1" dirty="0">
                <a:solidFill>
                  <a:srgbClr val="000000"/>
                </a:solidFill>
              </a:rPr>
              <a:t>both</a:t>
            </a:r>
            <a:r>
              <a:rPr lang="en-US" sz="2800" dirty="0">
                <a:solidFill>
                  <a:srgbClr val="000000"/>
                </a:solidFill>
              </a:rPr>
              <a:t> are closed. </a:t>
            </a:r>
            <a:endParaRPr lang="en-US" sz="2800" dirty="0" smtClean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 smtClean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The </a:t>
            </a:r>
            <a:r>
              <a:rPr lang="en-US" sz="2800" dirty="0">
                <a:solidFill>
                  <a:srgbClr val="000000"/>
                </a:solidFill>
              </a:rPr>
              <a:t>start switches are </a:t>
            </a:r>
            <a:r>
              <a:rPr lang="en-US" sz="2800" b="1" dirty="0">
                <a:solidFill>
                  <a:srgbClr val="000000"/>
                </a:solidFill>
              </a:rPr>
              <a:t>normally open</a:t>
            </a:r>
            <a:r>
              <a:rPr lang="en-US" sz="2800" b="1" dirty="0" smtClean="0">
                <a:solidFill>
                  <a:srgbClr val="000000"/>
                </a:solidFill>
              </a:rPr>
              <a:t>.</a:t>
            </a:r>
          </a:p>
          <a:p>
            <a:pPr algn="just"/>
            <a:endParaRPr lang="en-US" sz="2800" dirty="0" smtClean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This </a:t>
            </a:r>
            <a:r>
              <a:rPr lang="en-US" sz="2800" dirty="0">
                <a:solidFill>
                  <a:srgbClr val="000000"/>
                </a:solidFill>
              </a:rPr>
              <a:t>means that the contacts are apart and no current flows when the switches are in their normal (or </a:t>
            </a:r>
            <a:r>
              <a:rPr lang="en-US" sz="2800" i="1" dirty="0">
                <a:solidFill>
                  <a:srgbClr val="000000"/>
                </a:solidFill>
              </a:rPr>
              <a:t>unoperated </a:t>
            </a:r>
            <a:r>
              <a:rPr lang="en-US" sz="2800" dirty="0">
                <a:solidFill>
                  <a:srgbClr val="000000"/>
                </a:solidFill>
              </a:rPr>
              <a:t>or </a:t>
            </a:r>
            <a:r>
              <a:rPr lang="en-US" sz="2800" i="1" dirty="0">
                <a:solidFill>
                  <a:srgbClr val="000000"/>
                </a:solidFill>
              </a:rPr>
              <a:t>rest</a:t>
            </a:r>
            <a:r>
              <a:rPr lang="en-US" sz="2800" dirty="0">
                <a:solidFill>
                  <a:srgbClr val="000000"/>
                </a:solidFill>
              </a:rPr>
              <a:t>) state.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4325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1827" y="84089"/>
            <a:ext cx="11788346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FF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Conditional </a:t>
            </a:r>
            <a:r>
              <a:rPr lang="en-US" sz="3200" b="1" dirty="0" err="1" smtClean="0">
                <a:solidFill>
                  <a:srgbClr val="FF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Logic,,,cont</a:t>
            </a:r>
            <a:r>
              <a:rPr lang="en-US" sz="3200" b="1" dirty="0" smtClean="0">
                <a:solidFill>
                  <a:srgbClr val="FF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endParaRPr lang="en-US" sz="3200" b="1" dirty="0">
              <a:solidFill>
                <a:srgbClr val="FF0000"/>
              </a:solidFill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37654" y="904366"/>
            <a:ext cx="6096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</a:rPr>
              <a:t>The three </a:t>
            </a:r>
            <a:r>
              <a:rPr lang="en-US" sz="2800" b="1" i="1" dirty="0">
                <a:solidFill>
                  <a:srgbClr val="000000"/>
                </a:solidFill>
              </a:rPr>
              <a:t>stop </a:t>
            </a:r>
            <a:r>
              <a:rPr lang="en-US" sz="2800" b="1" dirty="0">
                <a:solidFill>
                  <a:srgbClr val="000000"/>
                </a:solidFill>
              </a:rPr>
              <a:t>switches </a:t>
            </a:r>
            <a:r>
              <a:rPr lang="en-US" sz="2800" dirty="0">
                <a:solidFill>
                  <a:srgbClr val="000000"/>
                </a:solidFill>
              </a:rPr>
              <a:t>are connected in series.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 smtClean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Current </a:t>
            </a:r>
            <a:r>
              <a:rPr lang="en-US" sz="2800" dirty="0">
                <a:solidFill>
                  <a:srgbClr val="000000"/>
                </a:solidFill>
              </a:rPr>
              <a:t>can only flow if the first </a:t>
            </a:r>
            <a:r>
              <a:rPr lang="en-US" sz="2800" i="1" dirty="0">
                <a:solidFill>
                  <a:srgbClr val="000000"/>
                </a:solidFill>
              </a:rPr>
              <a:t>and </a:t>
            </a:r>
            <a:r>
              <a:rPr lang="en-US" sz="2800" dirty="0">
                <a:solidFill>
                  <a:srgbClr val="000000"/>
                </a:solidFill>
              </a:rPr>
              <a:t>the second </a:t>
            </a:r>
            <a:r>
              <a:rPr lang="en-US" sz="2800" i="1" dirty="0">
                <a:solidFill>
                  <a:srgbClr val="000000"/>
                </a:solidFill>
              </a:rPr>
              <a:t>and </a:t>
            </a:r>
            <a:r>
              <a:rPr lang="en-US" sz="2800" dirty="0">
                <a:solidFill>
                  <a:srgbClr val="000000"/>
                </a:solidFill>
              </a:rPr>
              <a:t>the third are closed. </a:t>
            </a:r>
            <a:endParaRPr lang="en-US" sz="2800" dirty="0" smtClean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The </a:t>
            </a:r>
            <a:r>
              <a:rPr lang="en-US" sz="2800" i="1" dirty="0">
                <a:solidFill>
                  <a:srgbClr val="000000"/>
                </a:solidFill>
              </a:rPr>
              <a:t>stop </a:t>
            </a:r>
            <a:r>
              <a:rPr lang="en-US" sz="2800" dirty="0">
                <a:solidFill>
                  <a:srgbClr val="000000"/>
                </a:solidFill>
              </a:rPr>
              <a:t>switches are </a:t>
            </a:r>
            <a:r>
              <a:rPr lang="en-US" sz="2800" b="1" dirty="0">
                <a:solidFill>
                  <a:srgbClr val="000000"/>
                </a:solidFill>
              </a:rPr>
              <a:t>normally closed. </a:t>
            </a:r>
            <a:endParaRPr lang="en-US" sz="2800" b="1" dirty="0" smtClean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This </a:t>
            </a:r>
            <a:r>
              <a:rPr lang="en-US" sz="2800" dirty="0">
                <a:solidFill>
                  <a:srgbClr val="000000"/>
                </a:solidFill>
              </a:rPr>
              <a:t>means that the contacts are connected and current can flow when the switches are in their normal state. </a:t>
            </a:r>
            <a:endParaRPr lang="en-US" sz="2800" dirty="0"/>
          </a:p>
        </p:txBody>
      </p:sp>
      <p:grpSp>
        <p:nvGrpSpPr>
          <p:cNvPr id="5" name="Group 4"/>
          <p:cNvGrpSpPr/>
          <p:nvPr/>
        </p:nvGrpSpPr>
        <p:grpSpPr>
          <a:xfrm>
            <a:off x="301440" y="1237998"/>
            <a:ext cx="5184960" cy="4593024"/>
            <a:chOff x="276726" y="1324489"/>
            <a:chExt cx="5184960" cy="4593024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1440" y="1324489"/>
              <a:ext cx="5160246" cy="4194275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p:sp>
          <p:nvSpPr>
            <p:cNvPr id="7" name="Rectangle 6"/>
            <p:cNvSpPr/>
            <p:nvPr/>
          </p:nvSpPr>
          <p:spPr>
            <a:xfrm>
              <a:off x="276726" y="5548181"/>
              <a:ext cx="5184960" cy="369332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/>
                <a:t>Machine </a:t>
              </a:r>
              <a:r>
                <a:rPr lang="en-US" dirty="0" smtClean="0"/>
                <a:t>relay  </a:t>
              </a:r>
              <a:r>
                <a:rPr lang="en-US" dirty="0"/>
                <a:t>Hard-Wire Conditional Logic Example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0875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827" y="948034"/>
            <a:ext cx="5815914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The </a:t>
            </a:r>
            <a:r>
              <a:rPr lang="en-US" sz="2800" dirty="0">
                <a:solidFill>
                  <a:srgbClr val="000000"/>
                </a:solidFill>
              </a:rPr>
              <a:t>relay is </a:t>
            </a:r>
            <a:r>
              <a:rPr lang="en-US" sz="2800" b="1" i="1" dirty="0">
                <a:solidFill>
                  <a:srgbClr val="000000"/>
                </a:solidFill>
              </a:rPr>
              <a:t>a switch with multiple contacts that is operated when its coil is energised. </a:t>
            </a:r>
            <a:endParaRPr lang="en-US" sz="2800" b="1" i="1" dirty="0" smtClean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The </a:t>
            </a:r>
            <a:r>
              <a:rPr lang="en-US" sz="2800" dirty="0">
                <a:solidFill>
                  <a:srgbClr val="000000"/>
                </a:solidFill>
              </a:rPr>
              <a:t>contacts are usually </a:t>
            </a:r>
            <a:r>
              <a:rPr lang="en-US" sz="2800" b="1" i="1" dirty="0">
                <a:solidFill>
                  <a:srgbClr val="0070C0"/>
                </a:solidFill>
              </a:rPr>
              <a:t>capable of carrying a larger current than push- button or limit switches. </a:t>
            </a:r>
            <a:endParaRPr lang="en-US" sz="2800" b="1" i="1" dirty="0" smtClean="0">
              <a:solidFill>
                <a:srgbClr val="0070C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rgbClr val="7030A0"/>
                </a:solidFill>
              </a:rPr>
              <a:t>Large </a:t>
            </a:r>
            <a:r>
              <a:rPr lang="en-US" sz="2800" b="1" dirty="0">
                <a:solidFill>
                  <a:srgbClr val="7030A0"/>
                </a:solidFill>
              </a:rPr>
              <a:t>relays for motor starting are called contactors. </a:t>
            </a:r>
            <a:endParaRPr lang="en-US" sz="2800" b="1" dirty="0" smtClean="0">
              <a:solidFill>
                <a:srgbClr val="7030A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The </a:t>
            </a:r>
            <a:r>
              <a:rPr lang="en-US" sz="2800" dirty="0">
                <a:solidFill>
                  <a:srgbClr val="000000"/>
                </a:solidFill>
              </a:rPr>
              <a:t>schematic diagram for a typical </a:t>
            </a:r>
            <a:r>
              <a:rPr lang="en-US" sz="2800" dirty="0" smtClean="0">
                <a:solidFill>
                  <a:srgbClr val="000000"/>
                </a:solidFill>
              </a:rPr>
              <a:t>relay and contactor </a:t>
            </a:r>
            <a:r>
              <a:rPr lang="en-US" sz="2800" dirty="0">
                <a:solidFill>
                  <a:srgbClr val="000000"/>
                </a:solidFill>
              </a:rPr>
              <a:t>is shown </a:t>
            </a:r>
            <a:r>
              <a:rPr lang="en-US" sz="2800" dirty="0" smtClean="0">
                <a:solidFill>
                  <a:srgbClr val="000000"/>
                </a:solidFill>
              </a:rPr>
              <a:t> 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201827" y="84089"/>
            <a:ext cx="11788346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FF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Conditional </a:t>
            </a:r>
            <a:r>
              <a:rPr lang="en-US" sz="3200" b="1" dirty="0" err="1" smtClean="0">
                <a:solidFill>
                  <a:srgbClr val="FF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Logic,,,cont</a:t>
            </a:r>
            <a:r>
              <a:rPr lang="en-US" sz="3200" b="1" dirty="0" smtClean="0">
                <a:solidFill>
                  <a:srgbClr val="FF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endParaRPr lang="en-US" sz="3200" b="1" dirty="0">
              <a:solidFill>
                <a:srgbClr val="FF0000"/>
              </a:solidFill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6479615" y="703361"/>
            <a:ext cx="4784347" cy="3092626"/>
            <a:chOff x="6479615" y="703361"/>
            <a:chExt cx="4784347" cy="3092626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9615" y="703361"/>
              <a:ext cx="4784347" cy="3092626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7" name="Rectangle 6"/>
            <p:cNvSpPr/>
            <p:nvPr/>
          </p:nvSpPr>
          <p:spPr>
            <a:xfrm>
              <a:off x="6520863" y="3250523"/>
              <a:ext cx="116743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0000"/>
                  </a:solidFill>
                </a:rPr>
                <a:t>A Relay </a:t>
              </a:r>
              <a:endParaRPr lang="en-US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520863" y="4213655"/>
            <a:ext cx="4743099" cy="2547162"/>
            <a:chOff x="6520863" y="4213655"/>
            <a:chExt cx="4743099" cy="2547162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20863" y="4213655"/>
              <a:ext cx="4743099" cy="2129494"/>
            </a:xfrm>
            <a:prstGeom prst="rect">
              <a:avLst/>
            </a:prstGeom>
            <a:ln>
              <a:noFill/>
            </a:ln>
          </p:spPr>
        </p:pic>
        <p:sp>
          <p:nvSpPr>
            <p:cNvPr id="9" name="Rectangle 8"/>
            <p:cNvSpPr/>
            <p:nvPr/>
          </p:nvSpPr>
          <p:spPr>
            <a:xfrm>
              <a:off x="8308694" y="6299152"/>
              <a:ext cx="172989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0000"/>
                  </a:solidFill>
                </a:rPr>
                <a:t>A Contactor 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34823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827" y="84089"/>
            <a:ext cx="11788346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 smtClean="0">
                <a:solidFill>
                  <a:srgbClr val="FF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Ladder </a:t>
            </a:r>
            <a:r>
              <a:rPr lang="en-US" sz="3200" b="1" dirty="0" err="1" smtClean="0">
                <a:solidFill>
                  <a:srgbClr val="FF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Diagram,,,cont</a:t>
            </a:r>
            <a:r>
              <a:rPr lang="en-US" sz="3200" b="1" dirty="0" smtClean="0">
                <a:solidFill>
                  <a:srgbClr val="FF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endParaRPr lang="en-US" sz="3200" b="1" dirty="0">
              <a:solidFill>
                <a:srgbClr val="FF0000"/>
              </a:solidFill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48795" y="1650570"/>
            <a:ext cx="3002692" cy="446513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To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realize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the conditional logic statement from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the left figure using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ladder logic we connect the switches to a PLC as shown O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n the right figure </a:t>
            </a:r>
            <a:endParaRPr lang="en-US" sz="2400" dirty="0"/>
          </a:p>
        </p:txBody>
      </p:sp>
      <p:grpSp>
        <p:nvGrpSpPr>
          <p:cNvPr id="10" name="Group 9"/>
          <p:cNvGrpSpPr/>
          <p:nvPr/>
        </p:nvGrpSpPr>
        <p:grpSpPr>
          <a:xfrm>
            <a:off x="201827" y="1019003"/>
            <a:ext cx="4251915" cy="5598585"/>
            <a:chOff x="344027" y="703361"/>
            <a:chExt cx="4251915" cy="368413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027" y="703361"/>
              <a:ext cx="4251915" cy="280035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6" name="Rectangle 5"/>
            <p:cNvSpPr/>
            <p:nvPr/>
          </p:nvSpPr>
          <p:spPr>
            <a:xfrm>
              <a:off x="491537" y="3741168"/>
              <a:ext cx="4104405" cy="646331"/>
            </a:xfrm>
            <a:prstGeom prst="rect">
              <a:avLst/>
            </a:prstGeom>
            <a:ln w="317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Fig </a:t>
              </a:r>
              <a:r>
                <a:rPr lang="en-US" dirty="0" smtClean="0"/>
                <a:t>2a Machine </a:t>
              </a:r>
              <a:r>
                <a:rPr lang="en-US" dirty="0"/>
                <a:t>relay  Hard-Wire Conditional Logic 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846541" y="1142570"/>
            <a:ext cx="4143631" cy="4936956"/>
            <a:chOff x="7712932" y="895433"/>
            <a:chExt cx="3943350" cy="31689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12932" y="895433"/>
              <a:ext cx="3943350" cy="272415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7" name="Rectangle 6"/>
            <p:cNvSpPr/>
            <p:nvPr/>
          </p:nvSpPr>
          <p:spPr>
            <a:xfrm>
              <a:off x="8360783" y="3695001"/>
              <a:ext cx="2647648" cy="369332"/>
            </a:xfrm>
            <a:prstGeom prst="rect">
              <a:avLst/>
            </a:prstGeom>
            <a:ln w="3175">
              <a:noFill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Fig </a:t>
              </a:r>
              <a:r>
                <a:rPr lang="en-US" dirty="0" smtClean="0"/>
                <a:t>2b </a:t>
              </a:r>
              <a:r>
                <a:rPr lang="en-US" dirty="0"/>
                <a:t>PLC Wiring Diagram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8510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399" y="703361"/>
            <a:ext cx="8501449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To </a:t>
            </a:r>
            <a:r>
              <a:rPr lang="en-US" sz="2800" b="1" dirty="0"/>
              <a:t>avoid later confusion regarding the concept of normally open (n/o) and normally closed (n/c)</a:t>
            </a:r>
            <a:r>
              <a:rPr lang="en-US" sz="2800" dirty="0"/>
              <a:t> it is worth looking again at Fig </a:t>
            </a:r>
            <a:r>
              <a:rPr lang="en-US" sz="2800" dirty="0" smtClean="0"/>
              <a:t>2b </a:t>
            </a:r>
            <a:r>
              <a:rPr lang="en-US" sz="2800" dirty="0"/>
              <a:t>and </a:t>
            </a:r>
            <a:r>
              <a:rPr lang="en-US" sz="2800" b="1" dirty="0">
                <a:solidFill>
                  <a:srgbClr val="7030A0"/>
                </a:solidFill>
              </a:rPr>
              <a:t>remembering that the plc scans each input and asks “Is it on or is it off</a:t>
            </a:r>
            <a:r>
              <a:rPr lang="en-US" sz="2800" b="1" dirty="0" smtClean="0">
                <a:solidFill>
                  <a:srgbClr val="7030A0"/>
                </a:solidFill>
              </a:rPr>
              <a:t>?”.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rgbClr val="7030A0"/>
                </a:solidFill>
              </a:rPr>
              <a:t> </a:t>
            </a:r>
            <a:r>
              <a:rPr lang="en-US" sz="2800" b="1" dirty="0">
                <a:solidFill>
                  <a:srgbClr val="00B050"/>
                </a:solidFill>
              </a:rPr>
              <a:t>The five switches shown are external devices and the PLC knows nothing about them. </a:t>
            </a:r>
            <a:endParaRPr lang="en-US" sz="2800" b="1" dirty="0" smtClean="0">
              <a:solidFill>
                <a:srgbClr val="00B050"/>
              </a:solidFill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smtClean="0"/>
              <a:t>As </a:t>
            </a:r>
            <a:r>
              <a:rPr lang="en-US" sz="2800" b="1" dirty="0"/>
              <a:t>far as the PLC is concerned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7030A0"/>
                </a:solidFill>
              </a:rPr>
              <a:t>at the moment, inputs </a:t>
            </a:r>
            <a:r>
              <a:rPr lang="en-US" sz="2800" b="1" dirty="0">
                <a:solidFill>
                  <a:srgbClr val="7030A0"/>
                </a:solidFill>
              </a:rPr>
              <a:t>X1 and X2 are off </a:t>
            </a:r>
            <a:r>
              <a:rPr lang="en-US" sz="2800" dirty="0">
                <a:solidFill>
                  <a:srgbClr val="7030A0"/>
                </a:solidFill>
              </a:rPr>
              <a:t>and </a:t>
            </a:r>
            <a:r>
              <a:rPr lang="en-US" sz="2800" b="1" dirty="0">
                <a:solidFill>
                  <a:srgbClr val="7030A0"/>
                </a:solidFill>
              </a:rPr>
              <a:t>X3, X4 and X5 are on</a:t>
            </a:r>
            <a:r>
              <a:rPr lang="en-US" sz="2800" dirty="0">
                <a:solidFill>
                  <a:srgbClr val="7030A0"/>
                </a:solidFill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827" y="84089"/>
            <a:ext cx="11788346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 smtClean="0">
                <a:solidFill>
                  <a:srgbClr val="FF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Ladder </a:t>
            </a:r>
            <a:r>
              <a:rPr lang="en-US" sz="3200" b="1" dirty="0" err="1" smtClean="0">
                <a:solidFill>
                  <a:srgbClr val="FF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Diagram,,,cont</a:t>
            </a:r>
            <a:r>
              <a:rPr lang="en-US" sz="3200" b="1" dirty="0" smtClean="0">
                <a:solidFill>
                  <a:srgbClr val="FF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endParaRPr lang="en-US" sz="3200" b="1" dirty="0">
              <a:solidFill>
                <a:srgbClr val="FF0000"/>
              </a:solidFill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8785654" y="1142570"/>
            <a:ext cx="3204518" cy="4936956"/>
            <a:chOff x="7712932" y="895433"/>
            <a:chExt cx="3943350" cy="316890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2932" y="895433"/>
              <a:ext cx="3943350" cy="272415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6" name="Rectangle 5"/>
            <p:cNvSpPr/>
            <p:nvPr/>
          </p:nvSpPr>
          <p:spPr>
            <a:xfrm>
              <a:off x="8360783" y="3695001"/>
              <a:ext cx="2647648" cy="369332"/>
            </a:xfrm>
            <a:prstGeom prst="rect">
              <a:avLst/>
            </a:prstGeom>
            <a:ln w="3175">
              <a:noFill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Fig </a:t>
              </a:r>
              <a:r>
                <a:rPr lang="en-US" dirty="0" smtClean="0"/>
                <a:t>2b </a:t>
              </a:r>
              <a:r>
                <a:rPr lang="en-US" dirty="0"/>
                <a:t>PLC Wiring Diagram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1741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1827" y="59375"/>
            <a:ext cx="11788346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sz="3200" b="1" dirty="0">
                <a:solidFill>
                  <a:srgbClr val="FF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Outputs and </a:t>
            </a:r>
            <a:r>
              <a:rPr lang="en-US" sz="3200" b="1" dirty="0" smtClean="0">
                <a:solidFill>
                  <a:srgbClr val="FF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Latches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3038" y="751082"/>
            <a:ext cx="11788346" cy="11005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sz="2700" b="1" dirty="0">
                <a:solidFill>
                  <a:prstClr val="black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Output states (on or off) </a:t>
            </a:r>
            <a:r>
              <a:rPr lang="en-US" sz="2700" b="1" i="1" dirty="0">
                <a:solidFill>
                  <a:srgbClr val="00B05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can be used in programs as conditions for other actions</a:t>
            </a:r>
            <a:r>
              <a:rPr lang="en-US" sz="2700" b="1" i="1" dirty="0">
                <a:solidFill>
                  <a:srgbClr val="7030A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.</a:t>
            </a: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i="1" dirty="0">
                <a:solidFill>
                  <a:srgbClr val="00206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Fig </a:t>
            </a:r>
            <a:r>
              <a:rPr lang="en-US" sz="2800" i="1" dirty="0" smtClean="0">
                <a:solidFill>
                  <a:srgbClr val="00206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 a is </a:t>
            </a:r>
            <a:r>
              <a:rPr lang="en-US" sz="2800" i="1" dirty="0">
                <a:solidFill>
                  <a:srgbClr val="00206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the wiring diagram for the program shown in Fig b</a:t>
            </a:r>
            <a:r>
              <a:rPr lang="en-US" sz="2800" i="1" dirty="0" smtClean="0">
                <a:solidFill>
                  <a:srgbClr val="00206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01827" y="2075936"/>
            <a:ext cx="3406346" cy="4219162"/>
            <a:chOff x="798169" y="2829826"/>
            <a:chExt cx="2390776" cy="3465271"/>
          </a:xfrm>
        </p:grpSpPr>
        <p:sp>
          <p:nvSpPr>
            <p:cNvPr id="2" name="Rectangle 1"/>
            <p:cNvSpPr/>
            <p:nvPr/>
          </p:nvSpPr>
          <p:spPr>
            <a:xfrm>
              <a:off x="798169" y="5906401"/>
              <a:ext cx="2390776" cy="3886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dirty="0" smtClean="0">
                  <a:solidFill>
                    <a:prstClr val="black"/>
                  </a:solidFill>
                  <a:ea typeface="SimSun" panose="02010600030101010101" pitchFamily="2" charset="-122"/>
                  <a:cs typeface="Arial" panose="020B0604020202020204" pitchFamily="34" charset="0"/>
                </a:rPr>
                <a:t>Figure a.</a:t>
              </a:r>
              <a:endParaRPr lang="en-US" i="1" dirty="0">
                <a:solidFill>
                  <a:prstClr val="black"/>
                </a:solidFill>
                <a:ea typeface="SimSun" panose="02010600030101010101" pitchFamily="2" charset="-122"/>
                <a:cs typeface="Arial" panose="020B0604020202020204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8169" y="2829826"/>
              <a:ext cx="2390775" cy="3076575"/>
            </a:xfrm>
            <a:prstGeom prst="rect">
              <a:avLst/>
            </a:prstGeom>
          </p:spPr>
        </p:pic>
      </p:grpSp>
      <p:sp>
        <p:nvSpPr>
          <p:cNvPr id="7" name="Rectangle 6"/>
          <p:cNvSpPr/>
          <p:nvPr/>
        </p:nvSpPr>
        <p:spPr>
          <a:xfrm>
            <a:off x="3824361" y="5398751"/>
            <a:ext cx="8165811" cy="1380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prstClr val="black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Switching </a:t>
            </a:r>
            <a:r>
              <a:rPr lang="en-US" sz="2400" b="1" dirty="0">
                <a:solidFill>
                  <a:prstClr val="black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on the input S1 switches on the output </a:t>
            </a:r>
            <a:r>
              <a:rPr lang="en-US" sz="2400" b="1" i="1" dirty="0">
                <a:solidFill>
                  <a:srgbClr val="00B05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DCV which in turn switches on the red light.</a:t>
            </a:r>
            <a:r>
              <a:rPr lang="en-US" sz="2400" b="1" dirty="0">
                <a:solidFill>
                  <a:prstClr val="black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endParaRPr lang="en-US" sz="2400" b="1" dirty="0" smtClean="0">
              <a:solidFill>
                <a:prstClr val="black"/>
              </a:solidFill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prstClr val="black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When </a:t>
            </a:r>
            <a:r>
              <a:rPr lang="en-US" sz="2400" b="1" dirty="0">
                <a:solidFill>
                  <a:prstClr val="black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the output </a:t>
            </a:r>
            <a:r>
              <a:rPr lang="en-US" sz="2400" b="1" i="1" dirty="0">
                <a:solidFill>
                  <a:srgbClr val="7030A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DCV is off the green light is on</a:t>
            </a:r>
            <a:r>
              <a:rPr lang="en-US" sz="2400" b="1" dirty="0">
                <a:solidFill>
                  <a:prstClr val="black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.</a:t>
            </a:r>
            <a:endParaRPr lang="en-US" sz="2400" i="1" dirty="0">
              <a:solidFill>
                <a:prstClr val="black"/>
              </a:solidFill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824362" y="1924075"/>
            <a:ext cx="8165811" cy="3221910"/>
            <a:chOff x="3824362" y="2422054"/>
            <a:chExt cx="8165811" cy="2397426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3"/>
            <a:srcRect b="9126"/>
            <a:stretch/>
          </p:blipFill>
          <p:spPr>
            <a:xfrm>
              <a:off x="3824362" y="2422054"/>
              <a:ext cx="8165811" cy="2063449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711879" y="4507351"/>
              <a:ext cx="2390776" cy="3121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dirty="0" smtClean="0">
                  <a:solidFill>
                    <a:prstClr val="black"/>
                  </a:solidFill>
                  <a:ea typeface="SimSun" panose="02010600030101010101" pitchFamily="2" charset="-122"/>
                  <a:cs typeface="Arial" panose="020B0604020202020204" pitchFamily="34" charset="0"/>
                </a:rPr>
                <a:t>Figure b.</a:t>
              </a:r>
              <a:endParaRPr lang="en-US" i="1" dirty="0">
                <a:solidFill>
                  <a:prstClr val="black"/>
                </a:solidFill>
                <a:ea typeface="SimSun" panose="02010600030101010101" pitchFamily="2" charset="-122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9919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1827" y="207659"/>
            <a:ext cx="11788346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SimSun" panose="02010600030101010101" pitchFamily="2" charset="-122"/>
                <a:cs typeface="Arial" panose="020B0604020202020204" pitchFamily="34" charset="0"/>
              </a:rPr>
              <a:t>Introduction </a:t>
            </a:r>
            <a:r>
              <a:rPr kumimoji="0" lang="en-US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SimSun" panose="02010600030101010101" pitchFamily="2" charset="-122"/>
                <a:cs typeface="Arial" panose="020B0604020202020204" pitchFamily="34" charset="0"/>
              </a:rPr>
              <a:t>PLC,,,,cont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5140" y="959872"/>
            <a:ext cx="1128171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/>
              <a:t>Example </a:t>
            </a:r>
            <a:r>
              <a:rPr lang="en-US" sz="2800" b="1" dirty="0" smtClean="0"/>
              <a:t>1</a:t>
            </a:r>
            <a:endParaRPr lang="en-US" sz="2800" b="1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/>
              <a:t>Write a PLC program to implement the conditional logic statements (a), (b) and (c) below</a:t>
            </a:r>
            <a:r>
              <a:rPr lang="en-US" sz="2800" dirty="0" smtClean="0"/>
              <a:t>.</a:t>
            </a:r>
          </a:p>
          <a:p>
            <a:pPr algn="just"/>
            <a:endParaRPr lang="en-US" sz="2800" dirty="0"/>
          </a:p>
          <a:p>
            <a:pPr marL="514350" indent="-514350" algn="just">
              <a:buAutoNum type="alphaLcParenBoth"/>
            </a:pPr>
            <a:r>
              <a:rPr lang="en-US" sz="2800" b="1" i="1" dirty="0" smtClean="0">
                <a:solidFill>
                  <a:srgbClr val="002060"/>
                </a:solidFill>
              </a:rPr>
              <a:t>A </a:t>
            </a:r>
            <a:r>
              <a:rPr lang="en-US" sz="2800" b="1" i="1" dirty="0">
                <a:solidFill>
                  <a:srgbClr val="002060"/>
                </a:solidFill>
              </a:rPr>
              <a:t>PLC output is to switch on if any of three inputs is switched on</a:t>
            </a:r>
            <a:r>
              <a:rPr lang="en-US" sz="2800" b="1" i="1" dirty="0" smtClean="0">
                <a:solidFill>
                  <a:srgbClr val="002060"/>
                </a:solidFill>
              </a:rPr>
              <a:t>.</a:t>
            </a:r>
          </a:p>
          <a:p>
            <a:pPr marL="514350" indent="-514350" algn="just">
              <a:buAutoNum type="alphaLcParenBoth"/>
            </a:pPr>
            <a:endParaRPr lang="en-US" sz="2800" dirty="0"/>
          </a:p>
          <a:p>
            <a:pPr algn="just"/>
            <a:r>
              <a:rPr lang="en-US" sz="2800" b="1" i="1" dirty="0">
                <a:solidFill>
                  <a:srgbClr val="0070C0"/>
                </a:solidFill>
              </a:rPr>
              <a:t>(b) A PLC output is to switch on if any one of three inputs is switched on but not two or more</a:t>
            </a:r>
            <a:r>
              <a:rPr lang="en-US" sz="2800" b="1" i="1" dirty="0" smtClean="0">
                <a:solidFill>
                  <a:srgbClr val="0070C0"/>
                </a:solidFill>
              </a:rPr>
              <a:t>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i="1" dirty="0">
                <a:solidFill>
                  <a:srgbClr val="00B050"/>
                </a:solidFill>
              </a:rPr>
              <a:t>(c) A PLC output is to switch on if any two outputs are switched on, but not </a:t>
            </a:r>
            <a:r>
              <a:rPr lang="en-US" sz="2800" b="1" i="1" dirty="0" smtClean="0">
                <a:solidFill>
                  <a:srgbClr val="00B050"/>
                </a:solidFill>
              </a:rPr>
              <a:t>the third</a:t>
            </a:r>
            <a:r>
              <a:rPr lang="en-US" sz="2800" b="1" i="1" dirty="0">
                <a:solidFill>
                  <a:srgbClr val="00B05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6059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5727" y="24714"/>
            <a:ext cx="9616890" cy="587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ctr">
              <a:lnSpc>
                <a:spcPct val="115000"/>
              </a:lnSpc>
            </a:pPr>
            <a:r>
              <a:rPr lang="en-US" sz="2800" b="1" dirty="0">
                <a:solidFill>
                  <a:srgbClr val="FF0000"/>
                </a:solidFill>
                <a:ea typeface="Times New Roman" panose="02020603050405020304" pitchFamily="18" charset="0"/>
              </a:rPr>
              <a:t>Solution </a:t>
            </a:r>
            <a:r>
              <a:rPr lang="en-US" sz="2800" b="1" dirty="0" smtClean="0">
                <a:solidFill>
                  <a:srgbClr val="FF0000"/>
                </a:solidFill>
                <a:ea typeface="Times New Roman" panose="02020603050405020304" pitchFamily="18" charset="0"/>
              </a:rPr>
              <a:t>1 (a</a:t>
            </a:r>
            <a:r>
              <a:rPr lang="en-US" sz="2800" b="1" dirty="0">
                <a:solidFill>
                  <a:srgbClr val="FF0000"/>
                </a:solidFill>
                <a:ea typeface="Times New Roman" panose="02020603050405020304" pitchFamily="18" charset="0"/>
              </a:rPr>
              <a:t>)</a:t>
            </a:r>
            <a:endParaRPr lang="en-US" sz="2800" b="1" dirty="0">
              <a:solidFill>
                <a:srgbClr val="C00000"/>
              </a:solidFill>
              <a:ea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6431"/>
          <a:stretch/>
        </p:blipFill>
        <p:spPr>
          <a:xfrm>
            <a:off x="500803" y="852044"/>
            <a:ext cx="11102192" cy="531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253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1726" y="4539320"/>
            <a:ext cx="11246168" cy="2039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This program can be read:</a:t>
            </a: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00B05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“The output switches </a:t>
            </a:r>
            <a:r>
              <a:rPr lang="en-US" sz="2800" b="1" dirty="0" smtClean="0">
                <a:solidFill>
                  <a:srgbClr val="00B05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on </a:t>
            </a:r>
            <a:r>
              <a:rPr lang="en-US" sz="2800" b="1" dirty="0">
                <a:solidFill>
                  <a:srgbClr val="00B05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if Input 1 is on AND the other two are </a:t>
            </a:r>
            <a:r>
              <a:rPr lang="en-US" sz="2800" b="1" dirty="0" smtClean="0">
                <a:solidFill>
                  <a:srgbClr val="00B05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off, </a:t>
            </a:r>
            <a:r>
              <a:rPr lang="en-US" sz="2800" b="1" dirty="0">
                <a:solidFill>
                  <a:srgbClr val="00B05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OR input 2 is on AND the other two are off, OR input three is on AND the other two are off.”</a:t>
            </a:r>
            <a:endParaRPr lang="en-US" sz="2800" b="1" i="1" dirty="0">
              <a:solidFill>
                <a:srgbClr val="00B0F0"/>
              </a:solidFill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6958"/>
          <a:stretch/>
        </p:blipFill>
        <p:spPr>
          <a:xfrm>
            <a:off x="605481" y="667263"/>
            <a:ext cx="10898659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5727" y="24714"/>
            <a:ext cx="9616890" cy="587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ctr">
              <a:lnSpc>
                <a:spcPct val="115000"/>
              </a:lnSpc>
            </a:pPr>
            <a:r>
              <a:rPr lang="en-US" sz="2800" b="1" dirty="0">
                <a:solidFill>
                  <a:srgbClr val="FF0000"/>
                </a:solidFill>
                <a:ea typeface="Times New Roman" panose="02020603050405020304" pitchFamily="18" charset="0"/>
              </a:rPr>
              <a:t>Solution </a:t>
            </a:r>
            <a:r>
              <a:rPr lang="en-US" sz="2800" b="1" dirty="0" smtClean="0">
                <a:solidFill>
                  <a:srgbClr val="FF0000"/>
                </a:solidFill>
                <a:ea typeface="Times New Roman" panose="02020603050405020304" pitchFamily="18" charset="0"/>
              </a:rPr>
              <a:t>1 (b)</a:t>
            </a:r>
            <a:endParaRPr lang="en-US" sz="2800" b="1" dirty="0">
              <a:solidFill>
                <a:srgbClr val="C00000"/>
              </a:solidFill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98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854" y="638074"/>
            <a:ext cx="7722973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</a:rPr>
              <a:t>The </a:t>
            </a:r>
            <a:r>
              <a:rPr lang="en-US" sz="2600" b="1" dirty="0">
                <a:solidFill>
                  <a:srgbClr val="000000"/>
                </a:solidFill>
              </a:rPr>
              <a:t>push button and limit switches most commonly used in industrial automation are the </a:t>
            </a:r>
            <a:r>
              <a:rPr lang="en-US" sz="2600" b="1" i="1" dirty="0">
                <a:solidFill>
                  <a:srgbClr val="7030A0"/>
                </a:solidFill>
              </a:rPr>
              <a:t>momentary contact </a:t>
            </a:r>
            <a:r>
              <a:rPr lang="en-US" sz="2600" b="1" dirty="0">
                <a:solidFill>
                  <a:srgbClr val="000000"/>
                </a:solidFill>
              </a:rPr>
              <a:t>type. </a:t>
            </a:r>
            <a:endParaRPr lang="en-US" sz="2600" b="1" dirty="0" smtClean="0">
              <a:solidFill>
                <a:srgbClr val="000000"/>
              </a:solidFill>
            </a:endParaRPr>
          </a:p>
          <a:p>
            <a:pPr algn="just"/>
            <a:endParaRPr lang="en-US" sz="2600" dirty="0">
              <a:solidFill>
                <a:srgbClr val="000000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 smtClean="0">
                <a:solidFill>
                  <a:srgbClr val="000000"/>
                </a:solidFill>
              </a:rPr>
              <a:t>A </a:t>
            </a:r>
            <a:r>
              <a:rPr lang="en-US" sz="2600" dirty="0">
                <a:solidFill>
                  <a:srgbClr val="000000"/>
                </a:solidFill>
              </a:rPr>
              <a:t>spring action reverts the switch to the normal state as soon as the button or roller is released. </a:t>
            </a:r>
            <a:endParaRPr lang="en-US" sz="2600" dirty="0" smtClean="0">
              <a:solidFill>
                <a:srgbClr val="000000"/>
              </a:solidFill>
            </a:endParaRPr>
          </a:p>
          <a:p>
            <a:pPr algn="just"/>
            <a:endParaRPr lang="en-US" sz="2600" dirty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 smtClean="0">
                <a:solidFill>
                  <a:srgbClr val="000000"/>
                </a:solidFill>
              </a:rPr>
              <a:t>These </a:t>
            </a:r>
            <a:r>
              <a:rPr lang="en-US" sz="2600" dirty="0">
                <a:solidFill>
                  <a:srgbClr val="000000"/>
                </a:solidFill>
              </a:rPr>
              <a:t>are obviously </a:t>
            </a:r>
            <a:r>
              <a:rPr lang="en-US" sz="2600" b="1" dirty="0">
                <a:solidFill>
                  <a:srgbClr val="7030A0"/>
                </a:solidFill>
              </a:rPr>
              <a:t>not the same as the </a:t>
            </a:r>
            <a:r>
              <a:rPr lang="en-US" sz="2600" b="1" i="1" dirty="0">
                <a:solidFill>
                  <a:srgbClr val="7030A0"/>
                </a:solidFill>
              </a:rPr>
              <a:t>self- latching </a:t>
            </a:r>
            <a:r>
              <a:rPr lang="en-US" sz="2600" b="1" dirty="0">
                <a:solidFill>
                  <a:srgbClr val="7030A0"/>
                </a:solidFill>
              </a:rPr>
              <a:t>switches used</a:t>
            </a:r>
            <a:r>
              <a:rPr lang="en-US" sz="2600" dirty="0">
                <a:solidFill>
                  <a:srgbClr val="000000"/>
                </a:solidFill>
              </a:rPr>
              <a:t>, for example, in domestic circuits</a:t>
            </a:r>
            <a:r>
              <a:rPr lang="en-US" sz="2600" dirty="0" smtClean="0">
                <a:solidFill>
                  <a:srgbClr val="000000"/>
                </a:solidFill>
              </a:rPr>
              <a:t>.</a:t>
            </a:r>
          </a:p>
          <a:p>
            <a:pPr algn="just"/>
            <a:r>
              <a:rPr lang="en-US" sz="2600" dirty="0" smtClean="0">
                <a:solidFill>
                  <a:srgbClr val="000000"/>
                </a:solidFill>
              </a:rPr>
              <a:t> </a:t>
            </a:r>
            <a:endParaRPr lang="en-US" sz="2600" dirty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B050"/>
                </a:solidFill>
              </a:rPr>
              <a:t>The fact that the majority of control switches are not self-latching is not as inconvenient as it sounds. </a:t>
            </a:r>
            <a:endParaRPr lang="en-US" sz="2600" dirty="0" smtClean="0">
              <a:solidFill>
                <a:srgbClr val="00B050"/>
              </a:solidFill>
            </a:endParaRPr>
          </a:p>
          <a:p>
            <a:pPr algn="just"/>
            <a:endParaRPr lang="en-US" sz="2600" dirty="0">
              <a:solidFill>
                <a:srgbClr val="000000"/>
              </a:solidFill>
            </a:endParaRPr>
          </a:p>
          <a:p>
            <a:pPr algn="just"/>
            <a:r>
              <a:rPr lang="en-US" sz="2600" i="1" dirty="0" smtClean="0">
                <a:solidFill>
                  <a:srgbClr val="C00000"/>
                </a:solidFill>
              </a:rPr>
              <a:t>We </a:t>
            </a:r>
            <a:r>
              <a:rPr lang="en-US" sz="2600" i="1" dirty="0">
                <a:solidFill>
                  <a:srgbClr val="C00000"/>
                </a:solidFill>
              </a:rPr>
              <a:t>can easily program </a:t>
            </a:r>
            <a:r>
              <a:rPr lang="en-US" sz="2600" i="1" dirty="0" smtClean="0">
                <a:solidFill>
                  <a:srgbClr val="C00000"/>
                </a:solidFill>
              </a:rPr>
              <a:t>in, </a:t>
            </a:r>
            <a:r>
              <a:rPr lang="en-US" sz="2600" i="1" dirty="0">
                <a:solidFill>
                  <a:srgbClr val="C00000"/>
                </a:solidFill>
              </a:rPr>
              <a:t>a latch in the ladder diagram. 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827" y="47020"/>
            <a:ext cx="11788346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sz="3200" b="1" dirty="0" smtClean="0">
                <a:solidFill>
                  <a:srgbClr val="FF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Latches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895969" y="1643447"/>
            <a:ext cx="4168346" cy="4201299"/>
            <a:chOff x="7895969" y="1643447"/>
            <a:chExt cx="4168346" cy="4201299"/>
          </a:xfrm>
        </p:grpSpPr>
        <p:pic>
          <p:nvPicPr>
            <p:cNvPr id="1026" name="Picture 2" descr="What is the principle of the push button switches? - Quisure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1" t="6173" r="10245" b="8275"/>
            <a:stretch/>
          </p:blipFill>
          <p:spPr bwMode="auto">
            <a:xfrm>
              <a:off x="7895969" y="1643447"/>
              <a:ext cx="4168346" cy="42012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11327161" y="3497874"/>
              <a:ext cx="42672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solidFill>
                    <a:srgbClr val="000000"/>
                  </a:solidFill>
                </a:rPr>
                <a:t>NC</a:t>
              </a:r>
              <a:endParaRPr lang="en-US" sz="11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327161" y="4721250"/>
              <a:ext cx="45397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solidFill>
                    <a:srgbClr val="000000"/>
                  </a:solidFill>
                </a:rPr>
                <a:t>NO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58551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66766" y="47018"/>
            <a:ext cx="6091884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sz="3200" b="1" dirty="0" smtClean="0">
                <a:solidFill>
                  <a:srgbClr val="FF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Latches,,,,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7" y="109005"/>
            <a:ext cx="2617058" cy="34167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1827" y="3587507"/>
            <a:ext cx="88433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>
                <a:solidFill>
                  <a:srgbClr val="00B0F0"/>
                </a:solidFill>
              </a:rPr>
              <a:t>Operation: </a:t>
            </a:r>
            <a:r>
              <a:rPr lang="en-US" sz="2400" dirty="0" smtClean="0"/>
              <a:t>When </a:t>
            </a:r>
            <a:r>
              <a:rPr lang="en-US" sz="2400" dirty="0"/>
              <a:t>the start push button switch </a:t>
            </a:r>
            <a:r>
              <a:rPr lang="en-US" sz="2400" dirty="0" smtClean="0"/>
              <a:t>in </a:t>
            </a:r>
            <a:r>
              <a:rPr lang="en-US" sz="2400" dirty="0"/>
              <a:t>is pressed, the output Y1 is to switch on and stay on until the stop button is pressed.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r="8217"/>
          <a:stretch/>
        </p:blipFill>
        <p:spPr>
          <a:xfrm>
            <a:off x="2866766" y="691004"/>
            <a:ext cx="6091883" cy="281831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717" y="4509050"/>
            <a:ext cx="88819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</a:rPr>
              <a:t>When the output Y1 is energised we use a normally open contact of it in parallel with the </a:t>
            </a:r>
            <a:r>
              <a:rPr lang="en-US" sz="2400" b="1" i="1" dirty="0">
                <a:solidFill>
                  <a:srgbClr val="7030A0"/>
                </a:solidFill>
              </a:rPr>
              <a:t>start </a:t>
            </a:r>
            <a:r>
              <a:rPr lang="en-US" sz="2400" b="1" dirty="0">
                <a:solidFill>
                  <a:srgbClr val="7030A0"/>
                </a:solidFill>
              </a:rPr>
              <a:t>button to hold (or latch) it on. </a:t>
            </a:r>
            <a:endParaRPr lang="en-US" sz="2400" b="1" dirty="0" smtClean="0">
              <a:solidFill>
                <a:srgbClr val="7030A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b="1" dirty="0" smtClean="0">
                <a:solidFill>
                  <a:srgbClr val="0070C0"/>
                </a:solidFill>
              </a:rPr>
              <a:t>The </a:t>
            </a:r>
            <a:r>
              <a:rPr lang="en-US" sz="2400" b="1" dirty="0">
                <a:solidFill>
                  <a:srgbClr val="0070C0"/>
                </a:solidFill>
              </a:rPr>
              <a:t>output can only be de-energised </a:t>
            </a:r>
            <a:r>
              <a:rPr lang="en-US" sz="2400" b="1" dirty="0" smtClean="0">
                <a:solidFill>
                  <a:srgbClr val="0070C0"/>
                </a:solidFill>
              </a:rPr>
              <a:t>by </a:t>
            </a:r>
            <a:r>
              <a:rPr lang="en-US" sz="2400" b="1" dirty="0">
                <a:solidFill>
                  <a:srgbClr val="0070C0"/>
                </a:solidFill>
              </a:rPr>
              <a:t>pressing of the </a:t>
            </a:r>
            <a:r>
              <a:rPr lang="en-US" sz="2400" b="1" i="1" dirty="0">
                <a:solidFill>
                  <a:srgbClr val="0070C0"/>
                </a:solidFill>
              </a:rPr>
              <a:t>stop </a:t>
            </a:r>
            <a:r>
              <a:rPr lang="en-US" sz="2400" b="1" dirty="0">
                <a:solidFill>
                  <a:srgbClr val="0070C0"/>
                </a:solidFill>
              </a:rPr>
              <a:t>button. </a:t>
            </a:r>
            <a:endParaRPr lang="en-US" sz="2400" b="1" dirty="0" smtClean="0">
              <a:solidFill>
                <a:srgbClr val="0070C0"/>
              </a:solidFill>
            </a:endParaRPr>
          </a:p>
          <a:p>
            <a:pPr algn="just"/>
            <a:r>
              <a:rPr lang="en-US" sz="2400" b="1" dirty="0" smtClean="0">
                <a:solidFill>
                  <a:srgbClr val="C00000"/>
                </a:solidFill>
              </a:rPr>
              <a:t>Note </a:t>
            </a:r>
            <a:r>
              <a:rPr lang="en-US" sz="2400" b="1" dirty="0">
                <a:solidFill>
                  <a:srgbClr val="C00000"/>
                </a:solidFill>
              </a:rPr>
              <a:t>that </a:t>
            </a:r>
            <a:r>
              <a:rPr lang="en-US" sz="2400" dirty="0">
                <a:solidFill>
                  <a:srgbClr val="000000"/>
                </a:solidFill>
              </a:rPr>
              <a:t>we have used a normally closed switch as a stop button as </a:t>
            </a:r>
            <a:r>
              <a:rPr lang="en-US" sz="2400" dirty="0" smtClean="0">
                <a:solidFill>
                  <a:srgbClr val="000000"/>
                </a:solidFill>
              </a:rPr>
              <a:t>explained early. </a:t>
            </a: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5465" r="5130" b="4487"/>
          <a:stretch/>
        </p:blipFill>
        <p:spPr>
          <a:xfrm>
            <a:off x="9131640" y="666290"/>
            <a:ext cx="3015049" cy="545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75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800" y="55169"/>
            <a:ext cx="11633199" cy="625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ctr">
              <a:lnSpc>
                <a:spcPct val="115000"/>
              </a:lnSpc>
            </a:pPr>
            <a:r>
              <a:rPr lang="en-US" sz="3200" b="1" dirty="0">
                <a:solidFill>
                  <a:srgbClr val="FF0000"/>
                </a:solidFill>
                <a:ea typeface="Times New Roman" panose="02020603050405020304" pitchFamily="18" charset="0"/>
              </a:rPr>
              <a:t>Internal </a:t>
            </a:r>
            <a:r>
              <a:rPr lang="en-US" sz="3200" b="1" dirty="0" smtClean="0">
                <a:solidFill>
                  <a:srgbClr val="FF0000"/>
                </a:solidFill>
                <a:ea typeface="Times New Roman" panose="02020603050405020304" pitchFamily="18" charset="0"/>
              </a:rPr>
              <a:t>Relays</a:t>
            </a:r>
            <a:endParaRPr lang="en-US" sz="3200" b="1" dirty="0">
              <a:solidFill>
                <a:srgbClr val="C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5351" y="680597"/>
            <a:ext cx="11752648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These have the same properties as outputs but they only exist in software</a:t>
            </a:r>
            <a:r>
              <a:rPr lang="en-US" sz="2800" b="1" dirty="0" smtClean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400" dirty="0" smtClean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rgbClr val="7030A0"/>
                </a:solidFill>
              </a:rPr>
              <a:t>They </a:t>
            </a:r>
            <a:r>
              <a:rPr lang="en-US" sz="2800" b="1" dirty="0">
                <a:solidFill>
                  <a:srgbClr val="7030A0"/>
                </a:solidFill>
              </a:rPr>
              <a:t>have many uses. </a:t>
            </a:r>
            <a:r>
              <a:rPr lang="en-US" sz="2800" b="1" dirty="0" smtClean="0">
                <a:solidFill>
                  <a:srgbClr val="7030A0"/>
                </a:solidFill>
              </a:rPr>
              <a:t>Fig  below shows </a:t>
            </a:r>
            <a:r>
              <a:rPr lang="en-US" sz="2800" b="1" dirty="0">
                <a:solidFill>
                  <a:srgbClr val="7030A0"/>
                </a:solidFill>
              </a:rPr>
              <a:t>an internal relay being used to implement the logic function NAND. </a:t>
            </a:r>
            <a:endParaRPr lang="en-US" sz="2800" b="1" dirty="0" smtClean="0">
              <a:solidFill>
                <a:srgbClr val="7030A0"/>
              </a:solidFill>
            </a:endParaRPr>
          </a:p>
          <a:p>
            <a:pPr algn="just"/>
            <a:endParaRPr lang="en-US" sz="1000" dirty="0"/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b="1" dirty="0" smtClean="0">
                <a:solidFill>
                  <a:srgbClr val="00B0F0"/>
                </a:solidFill>
              </a:rPr>
              <a:t>This </a:t>
            </a:r>
            <a:r>
              <a:rPr lang="en-US" sz="2800" b="1" dirty="0">
                <a:solidFill>
                  <a:srgbClr val="00B0F0"/>
                </a:solidFill>
              </a:rPr>
              <a:t>is the inverse of the result of X1 AND X2. We will be making extensive use if internal relays </a:t>
            </a:r>
            <a:r>
              <a:rPr lang="en-US" sz="2800" b="1" dirty="0" smtClean="0">
                <a:solidFill>
                  <a:srgbClr val="00B0F0"/>
                </a:solidFill>
              </a:rPr>
              <a:t>later.</a:t>
            </a:r>
            <a:endParaRPr lang="en-US" sz="2800" b="1" dirty="0">
              <a:solidFill>
                <a:srgbClr val="00B0F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7376" b="11794"/>
          <a:stretch/>
        </p:blipFill>
        <p:spPr>
          <a:xfrm>
            <a:off x="304800" y="3219755"/>
            <a:ext cx="7645400" cy="3546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71385" y="3998083"/>
            <a:ext cx="3866614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b="1" dirty="0">
                <a:solidFill>
                  <a:srgbClr val="C00000"/>
                </a:solidFill>
              </a:rPr>
              <a:t>Note: </a:t>
            </a:r>
            <a:r>
              <a:rPr lang="en-US" sz="2600" b="1" i="1" dirty="0"/>
              <a:t>Most PLCs include a function called a Set and Reset or a flip-flop which latches and delatches an output or an internal relay.</a:t>
            </a:r>
          </a:p>
        </p:txBody>
      </p:sp>
    </p:spTree>
    <p:extLst>
      <p:ext uri="{BB962C8B-B14F-4D97-AF65-F5344CB8AC3E}">
        <p14:creationId xmlns:p14="http://schemas.microsoft.com/office/powerpoint/2010/main" val="1639323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60700" y="20840"/>
            <a:ext cx="5240380" cy="625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ctr">
              <a:lnSpc>
                <a:spcPct val="115000"/>
              </a:lnSpc>
            </a:pPr>
            <a:r>
              <a:rPr lang="en-US" sz="3200" b="1" dirty="0">
                <a:solidFill>
                  <a:srgbClr val="FF0000"/>
                </a:solidFill>
                <a:ea typeface="Times New Roman" panose="02020603050405020304" pitchFamily="18" charset="0"/>
              </a:rPr>
              <a:t>Timers</a:t>
            </a:r>
          </a:p>
        </p:txBody>
      </p:sp>
      <p:sp>
        <p:nvSpPr>
          <p:cNvPr id="2" name="Rectangle 1"/>
          <p:cNvSpPr/>
          <p:nvPr/>
        </p:nvSpPr>
        <p:spPr>
          <a:xfrm>
            <a:off x="152401" y="875392"/>
            <a:ext cx="838170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000000"/>
                </a:solidFill>
              </a:rPr>
              <a:t>The </a:t>
            </a:r>
            <a:r>
              <a:rPr lang="en-US" sz="2800" b="1" dirty="0">
                <a:solidFill>
                  <a:srgbClr val="00B0F0"/>
                </a:solidFill>
              </a:rPr>
              <a:t>delay-on timer </a:t>
            </a:r>
            <a:r>
              <a:rPr lang="en-US" sz="2800" b="1" dirty="0">
                <a:solidFill>
                  <a:srgbClr val="000000"/>
                </a:solidFill>
              </a:rPr>
              <a:t>introduces a delay between the start of one event and the start of another</a:t>
            </a:r>
            <a:r>
              <a:rPr lang="en-US" sz="2800" b="1" dirty="0" smtClean="0">
                <a:solidFill>
                  <a:srgbClr val="000000"/>
                </a:solidFill>
              </a:rPr>
              <a:t>.</a:t>
            </a:r>
          </a:p>
          <a:p>
            <a:pPr algn="just"/>
            <a:r>
              <a:rPr lang="en-US" sz="2800" dirty="0" smtClean="0">
                <a:solidFill>
                  <a:srgbClr val="000000"/>
                </a:solidFill>
              </a:rPr>
              <a:t> </a:t>
            </a:r>
            <a:endParaRPr lang="en-US" sz="2800" dirty="0">
              <a:solidFill>
                <a:srgbClr val="00000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7030A0"/>
                </a:solidFill>
              </a:rPr>
              <a:t>For example, when a start push button is pressed, the pneumatic cylinder shown in </a:t>
            </a:r>
            <a:r>
              <a:rPr lang="en-US" sz="2800" b="1" i="1" dirty="0">
                <a:solidFill>
                  <a:srgbClr val="7030A0"/>
                </a:solidFill>
              </a:rPr>
              <a:t>Fig </a:t>
            </a:r>
            <a:r>
              <a:rPr lang="en-US" sz="2800" b="1" i="1" dirty="0" smtClean="0">
                <a:solidFill>
                  <a:srgbClr val="7030A0"/>
                </a:solidFill>
              </a:rPr>
              <a:t>3 </a:t>
            </a:r>
            <a:r>
              <a:rPr lang="en-US" sz="2800" b="1" dirty="0" smtClean="0">
                <a:solidFill>
                  <a:srgbClr val="7030A0"/>
                </a:solidFill>
              </a:rPr>
              <a:t>extends</a:t>
            </a:r>
            <a:r>
              <a:rPr lang="en-US" sz="2800" b="1" dirty="0">
                <a:solidFill>
                  <a:srgbClr val="7030A0"/>
                </a:solidFill>
              </a:rPr>
              <a:t>, remains extended for 5 seconds and then returns</a:t>
            </a:r>
            <a:r>
              <a:rPr lang="en-US" sz="2800" b="1" dirty="0" smtClean="0">
                <a:solidFill>
                  <a:srgbClr val="7030A0"/>
                </a:solidFill>
              </a:rPr>
              <a:t>.</a:t>
            </a:r>
          </a:p>
          <a:p>
            <a:pPr algn="just"/>
            <a:r>
              <a:rPr lang="en-US" sz="2800" i="1" dirty="0" smtClean="0">
                <a:solidFill>
                  <a:srgbClr val="0070C0"/>
                </a:solidFill>
              </a:rPr>
              <a:t>Draw </a:t>
            </a:r>
            <a:r>
              <a:rPr lang="en-US" sz="2800" i="1" dirty="0">
                <a:solidFill>
                  <a:srgbClr val="0070C0"/>
                </a:solidFill>
              </a:rPr>
              <a:t>the PLC wiring diagram and the appropriate ladder logic. </a:t>
            </a:r>
            <a:endParaRPr lang="en-US" sz="2800" i="1" dirty="0" smtClean="0">
              <a:solidFill>
                <a:srgbClr val="0070C0"/>
              </a:solidFill>
            </a:endParaRPr>
          </a:p>
          <a:p>
            <a:pPr algn="just"/>
            <a:endParaRPr lang="en-US" sz="2800" dirty="0" smtClean="0">
              <a:solidFill>
                <a:srgbClr val="00000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800" b="1" dirty="0" smtClean="0">
                <a:solidFill>
                  <a:srgbClr val="000000"/>
                </a:solidFill>
              </a:rPr>
              <a:t>The </a:t>
            </a:r>
            <a:r>
              <a:rPr lang="en-US" sz="2800" b="1" dirty="0">
                <a:solidFill>
                  <a:srgbClr val="C00000"/>
                </a:solidFill>
              </a:rPr>
              <a:t>delay-off timer </a:t>
            </a:r>
            <a:r>
              <a:rPr lang="en-US" sz="2800" b="1" dirty="0">
                <a:solidFill>
                  <a:srgbClr val="000000"/>
                </a:solidFill>
              </a:rPr>
              <a:t>causes a delay between its input switching off and its contacts reverting to their normal states. </a:t>
            </a:r>
            <a:endParaRPr lang="en-US" sz="2800" b="1" dirty="0"/>
          </a:p>
        </p:txBody>
      </p:sp>
      <p:grpSp>
        <p:nvGrpSpPr>
          <p:cNvPr id="8" name="Group 7"/>
          <p:cNvGrpSpPr/>
          <p:nvPr/>
        </p:nvGrpSpPr>
        <p:grpSpPr>
          <a:xfrm>
            <a:off x="8909565" y="2256974"/>
            <a:ext cx="3130035" cy="2686565"/>
            <a:chOff x="8909565" y="2256974"/>
            <a:chExt cx="3130035" cy="2686565"/>
          </a:xfrm>
        </p:grpSpPr>
        <p:grpSp>
          <p:nvGrpSpPr>
            <p:cNvPr id="7" name="Group 6"/>
            <p:cNvGrpSpPr/>
            <p:nvPr/>
          </p:nvGrpSpPr>
          <p:grpSpPr>
            <a:xfrm>
              <a:off x="8909565" y="2256974"/>
              <a:ext cx="3130035" cy="2686565"/>
              <a:chOff x="3410465" y="2884121"/>
              <a:chExt cx="6015992" cy="3269544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 rotWithShape="1">
              <a:blip r:embed="rId2"/>
              <a:srcRect b="1810"/>
              <a:stretch/>
            </p:blipFill>
            <p:spPr>
              <a:xfrm>
                <a:off x="3410465" y="2884121"/>
                <a:ext cx="5294355" cy="3269544"/>
              </a:xfrm>
              <a:prstGeom prst="rect">
                <a:avLst/>
              </a:prstGeom>
            </p:spPr>
          </p:pic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71225" y="2884121"/>
                <a:ext cx="755232" cy="427490"/>
              </a:xfrm>
              <a:prstGeom prst="rect">
                <a:avLst/>
              </a:prstGeom>
            </p:spPr>
          </p:pic>
        </p:grpSp>
        <p:sp>
          <p:nvSpPr>
            <p:cNvPr id="5" name="Rectangle 4"/>
            <p:cNvSpPr/>
            <p:nvPr/>
          </p:nvSpPr>
          <p:spPr>
            <a:xfrm>
              <a:off x="10972928" y="4333939"/>
              <a:ext cx="6912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Fig 3 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4551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1" y="1498700"/>
            <a:ext cx="5800107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</a:rPr>
              <a:t>The </a:t>
            </a:r>
            <a:r>
              <a:rPr lang="en-US" sz="3200" b="1" i="1" dirty="0">
                <a:solidFill>
                  <a:srgbClr val="7030A0"/>
                </a:solidFill>
              </a:rPr>
              <a:t>start </a:t>
            </a:r>
            <a:r>
              <a:rPr lang="en-US" sz="3200" b="1" dirty="0">
                <a:solidFill>
                  <a:srgbClr val="7030A0"/>
                </a:solidFill>
              </a:rPr>
              <a:t>button </a:t>
            </a:r>
            <a:r>
              <a:rPr lang="en-US" sz="3200" dirty="0">
                <a:solidFill>
                  <a:srgbClr val="000000"/>
                </a:solidFill>
              </a:rPr>
              <a:t>and the </a:t>
            </a:r>
            <a:r>
              <a:rPr lang="en-US" sz="3200" b="1" dirty="0">
                <a:solidFill>
                  <a:srgbClr val="00B050"/>
                </a:solidFill>
              </a:rPr>
              <a:t>end-of-stroke limit switch </a:t>
            </a:r>
            <a:r>
              <a:rPr lang="en-US" sz="3200" b="1" i="1" dirty="0">
                <a:solidFill>
                  <a:srgbClr val="00B050"/>
                </a:solidFill>
              </a:rPr>
              <a:t>a+</a:t>
            </a:r>
            <a:r>
              <a:rPr lang="en-US" sz="3200" i="1" dirty="0">
                <a:solidFill>
                  <a:srgbClr val="000000"/>
                </a:solidFill>
              </a:rPr>
              <a:t> </a:t>
            </a:r>
            <a:r>
              <a:rPr lang="en-US" sz="3200" b="1" i="1" dirty="0">
                <a:solidFill>
                  <a:srgbClr val="000000"/>
                </a:solidFill>
              </a:rPr>
              <a:t>are the PLC inputs and the solenoid Y1 is the output. </a:t>
            </a:r>
            <a:endParaRPr lang="en-US" sz="3200" b="1" i="1" dirty="0" smtClean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i="1" dirty="0" smtClean="0">
                <a:solidFill>
                  <a:srgbClr val="0070C0"/>
                </a:solidFill>
              </a:rPr>
              <a:t>Any </a:t>
            </a:r>
            <a:r>
              <a:rPr lang="en-US" sz="3200" b="1" i="1" dirty="0">
                <a:solidFill>
                  <a:srgbClr val="0070C0"/>
                </a:solidFill>
              </a:rPr>
              <a:t>other components needed for the program can be created in software. </a:t>
            </a:r>
            <a:endParaRPr lang="en-US" sz="3200" b="1" i="1" dirty="0" smtClean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971376"/>
            <a:ext cx="5207000" cy="508652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04801" y="43799"/>
            <a:ext cx="10074876" cy="625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ctr">
              <a:lnSpc>
                <a:spcPct val="115000"/>
              </a:lnSpc>
            </a:pPr>
            <a:r>
              <a:rPr lang="en-US" sz="3200" b="1" dirty="0" smtClean="0">
                <a:solidFill>
                  <a:srgbClr val="FF0000"/>
                </a:solidFill>
                <a:ea typeface="Times New Roman" panose="02020603050405020304" pitchFamily="18" charset="0"/>
              </a:rPr>
              <a:t>Timers,,,,</a:t>
            </a:r>
            <a:endParaRPr lang="en-US" sz="3200" b="1" dirty="0">
              <a:solidFill>
                <a:srgbClr val="FF0000"/>
              </a:solidFill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056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200" y="4209406"/>
            <a:ext cx="11849100" cy="2557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rgbClr val="00B050"/>
                </a:solidFill>
              </a:rPr>
              <a:t>Pressing the </a:t>
            </a:r>
            <a:r>
              <a:rPr lang="en-US" sz="2200" b="1" i="1" dirty="0">
                <a:solidFill>
                  <a:srgbClr val="00B050"/>
                </a:solidFill>
              </a:rPr>
              <a:t>start </a:t>
            </a:r>
            <a:r>
              <a:rPr lang="en-US" sz="2200" b="1" dirty="0">
                <a:solidFill>
                  <a:srgbClr val="00B050"/>
                </a:solidFill>
              </a:rPr>
              <a:t>button latches on an internal relay called </a:t>
            </a:r>
            <a:r>
              <a:rPr lang="en-US" sz="2200" b="1" i="1" dirty="0">
                <a:solidFill>
                  <a:srgbClr val="00B050"/>
                </a:solidFill>
              </a:rPr>
              <a:t>start_latch</a:t>
            </a:r>
            <a:r>
              <a:rPr lang="en-US" sz="2200" b="1" dirty="0" smtClean="0">
                <a:solidFill>
                  <a:srgbClr val="00B050"/>
                </a:solidFill>
              </a:rPr>
              <a:t>.</a:t>
            </a: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200" dirty="0" smtClean="0">
                <a:solidFill>
                  <a:srgbClr val="000000"/>
                </a:solidFill>
              </a:rPr>
              <a:t> </a:t>
            </a:r>
            <a:r>
              <a:rPr lang="en-US" sz="2200" b="1" dirty="0">
                <a:solidFill>
                  <a:srgbClr val="000000"/>
                </a:solidFill>
              </a:rPr>
              <a:t>The </a:t>
            </a:r>
            <a:r>
              <a:rPr lang="en-US" sz="2200" b="1" i="1" dirty="0">
                <a:solidFill>
                  <a:srgbClr val="000000"/>
                </a:solidFill>
              </a:rPr>
              <a:t>start_latch </a:t>
            </a:r>
            <a:r>
              <a:rPr lang="en-US" sz="2200" b="1" dirty="0">
                <a:solidFill>
                  <a:srgbClr val="000000"/>
                </a:solidFill>
              </a:rPr>
              <a:t>relay switches on the output Y1 which </a:t>
            </a:r>
            <a:r>
              <a:rPr lang="en-US" sz="2200" b="1" dirty="0" smtClean="0">
                <a:solidFill>
                  <a:srgbClr val="000000"/>
                </a:solidFill>
              </a:rPr>
              <a:t>energizes </a:t>
            </a:r>
            <a:r>
              <a:rPr lang="en-US" sz="2200" b="1" dirty="0">
                <a:solidFill>
                  <a:srgbClr val="000000"/>
                </a:solidFill>
              </a:rPr>
              <a:t>the solenoid, and the cylinder extends. </a:t>
            </a:r>
            <a:endParaRPr lang="en-US" sz="2200" b="1" dirty="0" smtClean="0">
              <a:solidFill>
                <a:srgbClr val="000000"/>
              </a:solidFill>
            </a:endParaRP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200" b="1" dirty="0" smtClean="0">
                <a:solidFill>
                  <a:srgbClr val="7030A0"/>
                </a:solidFill>
              </a:rPr>
              <a:t>The </a:t>
            </a:r>
            <a:r>
              <a:rPr lang="en-US" sz="2200" b="1" dirty="0">
                <a:solidFill>
                  <a:srgbClr val="7030A0"/>
                </a:solidFill>
              </a:rPr>
              <a:t>cylinder rod closes the limit switch a+ which starts the timer in software. </a:t>
            </a:r>
            <a:endParaRPr lang="en-US" sz="2200" b="1" dirty="0" smtClean="0">
              <a:solidFill>
                <a:srgbClr val="7030A0"/>
              </a:solidFill>
            </a:endParaRP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200" b="1" dirty="0" smtClean="0">
                <a:solidFill>
                  <a:srgbClr val="0070C0"/>
                </a:solidFill>
              </a:rPr>
              <a:t>When </a:t>
            </a:r>
            <a:r>
              <a:rPr lang="en-US" sz="2200" b="1" dirty="0">
                <a:solidFill>
                  <a:srgbClr val="0070C0"/>
                </a:solidFill>
              </a:rPr>
              <a:t>the timer set value time has elapsed the normally-closed contact </a:t>
            </a:r>
            <a:r>
              <a:rPr lang="en-US" sz="2200" b="1" i="1" dirty="0">
                <a:solidFill>
                  <a:srgbClr val="0070C0"/>
                </a:solidFill>
              </a:rPr>
              <a:t>Timer_1 </a:t>
            </a:r>
            <a:r>
              <a:rPr lang="en-US" sz="2200" b="1" dirty="0">
                <a:solidFill>
                  <a:srgbClr val="0070C0"/>
                </a:solidFill>
              </a:rPr>
              <a:t>in the first line of the program </a:t>
            </a:r>
            <a:r>
              <a:rPr lang="en-US" sz="2200" b="1" dirty="0" smtClean="0">
                <a:solidFill>
                  <a:srgbClr val="0070C0"/>
                </a:solidFill>
              </a:rPr>
              <a:t>de-energizes </a:t>
            </a:r>
            <a:r>
              <a:rPr lang="en-US" sz="2200" b="1" dirty="0">
                <a:solidFill>
                  <a:srgbClr val="0070C0"/>
                </a:solidFill>
              </a:rPr>
              <a:t>the </a:t>
            </a:r>
            <a:r>
              <a:rPr lang="en-US" sz="2200" b="1" i="1" dirty="0">
                <a:solidFill>
                  <a:srgbClr val="0070C0"/>
                </a:solidFill>
              </a:rPr>
              <a:t>Start_latch </a:t>
            </a:r>
            <a:r>
              <a:rPr lang="en-US" sz="2200" b="1" dirty="0">
                <a:solidFill>
                  <a:srgbClr val="0070C0"/>
                </a:solidFill>
              </a:rPr>
              <a:t>relay and the cylinder returns. </a:t>
            </a:r>
            <a:endParaRPr lang="en-US" sz="2200" b="1" dirty="0">
              <a:solidFill>
                <a:srgbClr val="0070C0"/>
              </a:solidFill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7755"/>
          <a:stretch/>
        </p:blipFill>
        <p:spPr>
          <a:xfrm>
            <a:off x="1562100" y="602542"/>
            <a:ext cx="9296400" cy="36068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95637" y="43799"/>
            <a:ext cx="10074876" cy="558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ctr">
              <a:lnSpc>
                <a:spcPct val="115000"/>
              </a:lnSpc>
            </a:pPr>
            <a:r>
              <a:rPr lang="en-US" sz="2800" b="1" dirty="0" smtClean="0">
                <a:solidFill>
                  <a:srgbClr val="FF0000"/>
                </a:solidFill>
                <a:ea typeface="Times New Roman" panose="02020603050405020304" pitchFamily="18" charset="0"/>
              </a:rPr>
              <a:t>Timers,,,,</a:t>
            </a:r>
            <a:endParaRPr lang="en-US" sz="2800" b="1" dirty="0">
              <a:solidFill>
                <a:srgbClr val="FF0000"/>
              </a:solidFill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835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4205" y="602542"/>
            <a:ext cx="11677136" cy="157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 smtClean="0">
                <a:solidFill>
                  <a:srgbClr val="000000"/>
                </a:solidFill>
              </a:rPr>
              <a:t>Example 2.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 smtClean="0">
                <a:solidFill>
                  <a:srgbClr val="000000"/>
                </a:solidFill>
              </a:rPr>
              <a:t>We </a:t>
            </a:r>
            <a:r>
              <a:rPr lang="en-US" sz="2800" dirty="0">
                <a:solidFill>
                  <a:srgbClr val="000000"/>
                </a:solidFill>
              </a:rPr>
              <a:t>can do another example using the same hardware with the addition of an alarm as a second output</a:t>
            </a:r>
            <a:r>
              <a:rPr lang="en-US" sz="2800" dirty="0" smtClean="0">
                <a:solidFill>
                  <a:srgbClr val="000000"/>
                </a:solidFill>
              </a:rPr>
              <a:t>:</a:t>
            </a:r>
            <a:endParaRPr lang="en-US" sz="2600" b="1" dirty="0" smtClean="0">
              <a:solidFill>
                <a:srgbClr val="00B050"/>
              </a:solidFill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22644" y="43799"/>
            <a:ext cx="10074876" cy="558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ctr">
              <a:lnSpc>
                <a:spcPct val="115000"/>
              </a:lnSpc>
            </a:pPr>
            <a:r>
              <a:rPr lang="en-US" sz="2800" b="1" dirty="0" smtClean="0">
                <a:solidFill>
                  <a:srgbClr val="FF0000"/>
                </a:solidFill>
                <a:ea typeface="Times New Roman" panose="02020603050405020304" pitchFamily="18" charset="0"/>
              </a:rPr>
              <a:t>Timers,,,,</a:t>
            </a:r>
            <a:endParaRPr lang="en-US" sz="2800" b="1" dirty="0">
              <a:solidFill>
                <a:srgbClr val="FF0000"/>
              </a:solidFill>
              <a:ea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81" y="2291751"/>
            <a:ext cx="4813113" cy="42585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93027" y="2291751"/>
            <a:ext cx="539990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B050"/>
                </a:solidFill>
              </a:rPr>
              <a:t>When the </a:t>
            </a:r>
            <a:r>
              <a:rPr lang="en-US" sz="3200" i="1" dirty="0">
                <a:solidFill>
                  <a:srgbClr val="00B050"/>
                </a:solidFill>
              </a:rPr>
              <a:t>start </a:t>
            </a:r>
            <a:r>
              <a:rPr lang="en-US" sz="3200" dirty="0">
                <a:solidFill>
                  <a:srgbClr val="00B050"/>
                </a:solidFill>
              </a:rPr>
              <a:t>push button is pressed and released there is a </a:t>
            </a:r>
            <a:r>
              <a:rPr lang="en-US" sz="3200" dirty="0" smtClean="0">
                <a:solidFill>
                  <a:srgbClr val="00B050"/>
                </a:solidFill>
              </a:rPr>
              <a:t>5s </a:t>
            </a:r>
            <a:r>
              <a:rPr lang="en-US" sz="3200" dirty="0">
                <a:solidFill>
                  <a:srgbClr val="00B050"/>
                </a:solidFill>
              </a:rPr>
              <a:t>delay before the cylinder extends and returns. </a:t>
            </a:r>
            <a:endParaRPr lang="en-US" sz="3200" dirty="0" smtClean="0">
              <a:solidFill>
                <a:srgbClr val="00B050"/>
              </a:solidFill>
            </a:endParaRPr>
          </a:p>
          <a:p>
            <a:pPr algn="just"/>
            <a:endParaRPr lang="en-US" sz="3200" dirty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000000"/>
                </a:solidFill>
              </a:rPr>
              <a:t>An </a:t>
            </a:r>
            <a:r>
              <a:rPr lang="en-US" sz="3200" b="1" dirty="0">
                <a:solidFill>
                  <a:srgbClr val="000000"/>
                </a:solidFill>
              </a:rPr>
              <a:t>alarm sounds during the </a:t>
            </a:r>
            <a:r>
              <a:rPr lang="en-US" sz="3200" b="1" dirty="0" smtClean="0">
                <a:solidFill>
                  <a:srgbClr val="000000"/>
                </a:solidFill>
              </a:rPr>
              <a:t>5s </a:t>
            </a:r>
            <a:r>
              <a:rPr lang="en-US" sz="3200" b="1" dirty="0">
                <a:solidFill>
                  <a:srgbClr val="000000"/>
                </a:solidFill>
              </a:rPr>
              <a:t>delay. 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639649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7524"/>
          <a:stretch/>
        </p:blipFill>
        <p:spPr>
          <a:xfrm>
            <a:off x="2051223" y="602541"/>
            <a:ext cx="9873048" cy="358639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10065" y="1812697"/>
            <a:ext cx="1742785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Example </a:t>
            </a:r>
            <a:r>
              <a:rPr lang="en-US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2 soln.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2644" y="43799"/>
            <a:ext cx="10074876" cy="558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ctr">
              <a:lnSpc>
                <a:spcPct val="115000"/>
              </a:lnSpc>
            </a:pPr>
            <a:r>
              <a:rPr lang="en-US" sz="2800" b="1" dirty="0" smtClean="0">
                <a:solidFill>
                  <a:srgbClr val="FF0000"/>
                </a:solidFill>
                <a:ea typeface="Times New Roman" panose="02020603050405020304" pitchFamily="18" charset="0"/>
              </a:rPr>
              <a:t>Timers,,,,</a:t>
            </a:r>
            <a:endParaRPr lang="en-US" sz="2800" b="1" dirty="0">
              <a:solidFill>
                <a:srgbClr val="FF0000"/>
              </a:solidFill>
              <a:ea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0065" y="4327025"/>
            <a:ext cx="1171420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</a:rPr>
              <a:t>When the </a:t>
            </a:r>
            <a:r>
              <a:rPr lang="en-US" sz="2400" b="1" i="1" dirty="0">
                <a:solidFill>
                  <a:srgbClr val="00B050"/>
                </a:solidFill>
              </a:rPr>
              <a:t>start </a:t>
            </a:r>
            <a:r>
              <a:rPr lang="en-US" sz="2400" b="1" dirty="0">
                <a:solidFill>
                  <a:srgbClr val="00B050"/>
                </a:solidFill>
              </a:rPr>
              <a:t>button is pressed the </a:t>
            </a:r>
            <a:r>
              <a:rPr lang="en-US" sz="2400" b="1" i="1" dirty="0">
                <a:solidFill>
                  <a:srgbClr val="00B050"/>
                </a:solidFill>
              </a:rPr>
              <a:t>start_latch </a:t>
            </a:r>
            <a:r>
              <a:rPr lang="en-US" sz="2400" b="1" dirty="0">
                <a:solidFill>
                  <a:srgbClr val="00B050"/>
                </a:solidFill>
              </a:rPr>
              <a:t>relay is energised. </a:t>
            </a:r>
            <a:endParaRPr lang="en-US" sz="2400" b="1" dirty="0" smtClean="0">
              <a:solidFill>
                <a:srgbClr val="00B05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7030A0"/>
                </a:solidFill>
              </a:rPr>
              <a:t>The </a:t>
            </a:r>
            <a:r>
              <a:rPr lang="en-US" sz="2400" b="1" i="1" dirty="0">
                <a:solidFill>
                  <a:srgbClr val="7030A0"/>
                </a:solidFill>
              </a:rPr>
              <a:t>Start_latch </a:t>
            </a:r>
            <a:r>
              <a:rPr lang="en-US" sz="2400" b="1" dirty="0">
                <a:solidFill>
                  <a:srgbClr val="7030A0"/>
                </a:solidFill>
              </a:rPr>
              <a:t>relay switches on the timer input and the alarm. </a:t>
            </a:r>
            <a:endParaRPr lang="en-US" sz="2400" b="1" dirty="0" smtClean="0">
              <a:solidFill>
                <a:srgbClr val="7030A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000000"/>
                </a:solidFill>
              </a:rPr>
              <a:t>When </a:t>
            </a:r>
            <a:r>
              <a:rPr lang="en-US" sz="2400" b="1" dirty="0">
                <a:solidFill>
                  <a:srgbClr val="000000"/>
                </a:solidFill>
              </a:rPr>
              <a:t>the timer set value has elapsed the alarm switches off and the solenoid Y1 is energised. </a:t>
            </a:r>
            <a:endParaRPr lang="en-US" sz="2400" b="1" dirty="0" smtClean="0">
              <a:solidFill>
                <a:srgbClr val="00000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0070C0"/>
                </a:solidFill>
              </a:rPr>
              <a:t>When </a:t>
            </a:r>
            <a:r>
              <a:rPr lang="en-US" sz="2400" b="1" dirty="0">
                <a:solidFill>
                  <a:srgbClr val="0070C0"/>
                </a:solidFill>
              </a:rPr>
              <a:t>the cylinder is fully extended the limit switch a+ </a:t>
            </a:r>
            <a:r>
              <a:rPr lang="en-US" sz="2400" b="1" dirty="0" smtClean="0">
                <a:solidFill>
                  <a:srgbClr val="0070C0"/>
                </a:solidFill>
              </a:rPr>
              <a:t>de-energizes </a:t>
            </a:r>
            <a:r>
              <a:rPr lang="en-US" sz="2400" b="1" dirty="0">
                <a:solidFill>
                  <a:srgbClr val="0070C0"/>
                </a:solidFill>
              </a:rPr>
              <a:t>the </a:t>
            </a:r>
            <a:r>
              <a:rPr lang="en-US" sz="2400" b="1" i="1" dirty="0">
                <a:solidFill>
                  <a:srgbClr val="0070C0"/>
                </a:solidFill>
              </a:rPr>
              <a:t>start_latch </a:t>
            </a:r>
            <a:r>
              <a:rPr lang="en-US" sz="2400" b="1" dirty="0">
                <a:solidFill>
                  <a:srgbClr val="0070C0"/>
                </a:solidFill>
              </a:rPr>
              <a:t>relay which </a:t>
            </a:r>
            <a:r>
              <a:rPr lang="en-US" sz="2400" b="1" dirty="0" smtClean="0">
                <a:solidFill>
                  <a:srgbClr val="0070C0"/>
                </a:solidFill>
              </a:rPr>
              <a:t>de-energizes </a:t>
            </a:r>
            <a:r>
              <a:rPr lang="en-US" sz="2400" b="1" dirty="0">
                <a:solidFill>
                  <a:srgbClr val="0070C0"/>
                </a:solidFill>
              </a:rPr>
              <a:t>the solenoid and resets the timer. </a:t>
            </a:r>
            <a:endParaRPr lang="en-US" sz="4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412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47358" y="191583"/>
            <a:ext cx="10074876" cy="625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ctr">
              <a:lnSpc>
                <a:spcPct val="115000"/>
              </a:lnSpc>
            </a:pPr>
            <a:r>
              <a:rPr lang="en-US" sz="3200" b="1" dirty="0" smtClean="0">
                <a:solidFill>
                  <a:srgbClr val="FF0000"/>
                </a:solidFill>
                <a:ea typeface="Times New Roman" panose="02020603050405020304" pitchFamily="18" charset="0"/>
              </a:rPr>
              <a:t>Timers,,,,</a:t>
            </a:r>
            <a:endParaRPr lang="en-US" sz="3200" b="1" dirty="0">
              <a:solidFill>
                <a:srgbClr val="FF0000"/>
              </a:solidFill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7773" y="910963"/>
            <a:ext cx="11454713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>
                <a:solidFill>
                  <a:srgbClr val="000000"/>
                </a:solidFill>
              </a:rPr>
              <a:t>Note that: </a:t>
            </a:r>
          </a:p>
          <a:p>
            <a:pPr algn="just"/>
            <a:endParaRPr lang="en-US" sz="3200" dirty="0">
              <a:solidFill>
                <a:srgbClr val="000000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b="1" dirty="0" smtClean="0">
                <a:solidFill>
                  <a:srgbClr val="0070C0"/>
                </a:solidFill>
              </a:rPr>
              <a:t>The </a:t>
            </a:r>
            <a:r>
              <a:rPr lang="en-US" sz="3200" b="1" dirty="0">
                <a:solidFill>
                  <a:srgbClr val="0070C0"/>
                </a:solidFill>
              </a:rPr>
              <a:t>input to the delay-on timer must remain on for the duration of the timer set value otherwise the timer will not operate. </a:t>
            </a:r>
            <a:endParaRPr lang="en-US" sz="3200" b="1" dirty="0" smtClean="0">
              <a:solidFill>
                <a:srgbClr val="0070C0"/>
              </a:solidFill>
            </a:endParaRPr>
          </a:p>
          <a:p>
            <a:pPr algn="just"/>
            <a:endParaRPr lang="en-US" sz="3200" dirty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7030A0"/>
                </a:solidFill>
              </a:rPr>
              <a:t>If </a:t>
            </a:r>
            <a:r>
              <a:rPr lang="en-US" sz="3200" b="1" dirty="0">
                <a:solidFill>
                  <a:srgbClr val="7030A0"/>
                </a:solidFill>
              </a:rPr>
              <a:t>the signal to start the timer is only momentary then a latch is used to sustain it. </a:t>
            </a:r>
            <a:endParaRPr lang="en-US" sz="3200" b="1" dirty="0" smtClean="0">
              <a:solidFill>
                <a:srgbClr val="7030A0"/>
              </a:solidFill>
            </a:endParaRPr>
          </a:p>
          <a:p>
            <a:pPr algn="just"/>
            <a:endParaRPr lang="en-US" sz="3200" dirty="0">
              <a:solidFill>
                <a:srgbClr val="000000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b="1" dirty="0" smtClean="0">
                <a:solidFill>
                  <a:srgbClr val="00B050"/>
                </a:solidFill>
              </a:rPr>
              <a:t>When </a:t>
            </a:r>
            <a:r>
              <a:rPr lang="en-US" sz="3200" b="1" dirty="0">
                <a:solidFill>
                  <a:srgbClr val="00B050"/>
                </a:solidFill>
              </a:rPr>
              <a:t>the input to the timer switches off, the timer contacts revert immediately to their normal states. </a:t>
            </a:r>
          </a:p>
        </p:txBody>
      </p:sp>
    </p:spTree>
    <p:extLst>
      <p:ext uri="{BB962C8B-B14F-4D97-AF65-F5344CB8AC3E}">
        <p14:creationId xmlns:p14="http://schemas.microsoft.com/office/powerpoint/2010/main" val="133028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22644" y="43799"/>
            <a:ext cx="10074876" cy="625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ctr">
              <a:lnSpc>
                <a:spcPct val="115000"/>
              </a:lnSpc>
            </a:pPr>
            <a:r>
              <a:rPr lang="en-US" sz="3200" b="1" dirty="0" smtClean="0">
                <a:solidFill>
                  <a:srgbClr val="FF0000"/>
                </a:solidFill>
                <a:ea typeface="Times New Roman" panose="02020603050405020304" pitchFamily="18" charset="0"/>
              </a:rPr>
              <a:t>Timers,,,,</a:t>
            </a:r>
            <a:endParaRPr lang="en-US" sz="3200" b="1" dirty="0">
              <a:solidFill>
                <a:srgbClr val="FF0000"/>
              </a:solidFill>
              <a:ea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9493" y="782246"/>
            <a:ext cx="11627708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50"/>
                </a:solidFill>
              </a:rPr>
              <a:t>In some PLC models a timer function block can </a:t>
            </a:r>
            <a:r>
              <a:rPr lang="en-US" sz="2800" b="1" dirty="0" smtClean="0">
                <a:solidFill>
                  <a:srgbClr val="00B050"/>
                </a:solidFill>
              </a:rPr>
              <a:t>be </a:t>
            </a:r>
            <a:r>
              <a:rPr lang="en-US" sz="2800" b="1" dirty="0">
                <a:solidFill>
                  <a:srgbClr val="00B050"/>
                </a:solidFill>
              </a:rPr>
              <a:t>located in the </a:t>
            </a:r>
            <a:r>
              <a:rPr lang="en-US" sz="2800" b="1" dirty="0" smtClean="0">
                <a:solidFill>
                  <a:srgbClr val="00B050"/>
                </a:solidFill>
              </a:rPr>
              <a:t>center </a:t>
            </a:r>
            <a:r>
              <a:rPr lang="en-US" sz="2800" b="1" dirty="0">
                <a:solidFill>
                  <a:srgbClr val="00B050"/>
                </a:solidFill>
              </a:rPr>
              <a:t>of a rung as shown in </a:t>
            </a:r>
            <a:r>
              <a:rPr lang="en-US" sz="2800" b="1" dirty="0" smtClean="0">
                <a:solidFill>
                  <a:srgbClr val="00B050"/>
                </a:solidFill>
              </a:rPr>
              <a:t>fig </a:t>
            </a:r>
            <a:r>
              <a:rPr lang="en-US" sz="2800" b="1" i="1" dirty="0" smtClean="0">
                <a:solidFill>
                  <a:srgbClr val="00B050"/>
                </a:solidFill>
              </a:rPr>
              <a:t>below</a:t>
            </a:r>
            <a:r>
              <a:rPr lang="en-US" sz="2800" b="1" dirty="0" smtClean="0">
                <a:solidFill>
                  <a:srgbClr val="00B050"/>
                </a:solidFill>
              </a:rPr>
              <a:t>. </a:t>
            </a:r>
          </a:p>
          <a:p>
            <a:pPr algn="just"/>
            <a:endParaRPr lang="en-US" sz="1600" dirty="0" smtClean="0">
              <a:solidFill>
                <a:srgbClr val="000000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rgbClr val="000000"/>
                </a:solidFill>
              </a:rPr>
              <a:t>When </a:t>
            </a:r>
            <a:r>
              <a:rPr lang="en-US" sz="2800" b="1" dirty="0">
                <a:solidFill>
                  <a:srgbClr val="000000"/>
                </a:solidFill>
              </a:rPr>
              <a:t>the timer set value has elapsed the timer output switches on allowing a software signal to </a:t>
            </a:r>
            <a:r>
              <a:rPr lang="en-US" sz="2800" b="1" dirty="0" smtClean="0">
                <a:solidFill>
                  <a:srgbClr val="000000"/>
                </a:solidFill>
              </a:rPr>
              <a:t>energize </a:t>
            </a:r>
            <a:r>
              <a:rPr lang="en-US" sz="2800" b="1" dirty="0">
                <a:solidFill>
                  <a:srgbClr val="000000"/>
                </a:solidFill>
              </a:rPr>
              <a:t>an internal relay coil or an output. </a:t>
            </a:r>
            <a:endParaRPr lang="en-US" sz="2800" b="1" dirty="0" smtClean="0">
              <a:solidFill>
                <a:srgbClr val="000000"/>
              </a:solidFill>
            </a:endParaRPr>
          </a:p>
          <a:p>
            <a:pPr algn="just"/>
            <a:endParaRPr lang="en-US" dirty="0" smtClean="0">
              <a:solidFill>
                <a:srgbClr val="000000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rgbClr val="7030A0"/>
                </a:solidFill>
              </a:rPr>
              <a:t>In </a:t>
            </a:r>
            <a:r>
              <a:rPr lang="en-US" sz="2800" b="1" dirty="0">
                <a:solidFill>
                  <a:srgbClr val="7030A0"/>
                </a:solidFill>
              </a:rPr>
              <a:t>this </a:t>
            </a:r>
            <a:r>
              <a:rPr lang="en-US" sz="2800" b="1" dirty="0" smtClean="0">
                <a:solidFill>
                  <a:srgbClr val="7030A0"/>
                </a:solidFill>
              </a:rPr>
              <a:t>course </a:t>
            </a:r>
            <a:r>
              <a:rPr lang="en-US" sz="2800" b="1" dirty="0">
                <a:solidFill>
                  <a:srgbClr val="7030A0"/>
                </a:solidFill>
              </a:rPr>
              <a:t>all timer function blocks are located at the right hand side of the ladder diagram</a:t>
            </a:r>
            <a:r>
              <a:rPr lang="en-US" sz="2800" dirty="0">
                <a:solidFill>
                  <a:srgbClr val="000000"/>
                </a:solidFill>
              </a:rPr>
              <a:t> and </a:t>
            </a:r>
            <a:r>
              <a:rPr lang="en-US" sz="2800" b="1" i="1" dirty="0">
                <a:solidFill>
                  <a:srgbClr val="0070C0"/>
                </a:solidFill>
              </a:rPr>
              <a:t>their contacts, normally-open or normally closed, have the same label as the </a:t>
            </a:r>
            <a:r>
              <a:rPr lang="en-US" sz="2800" b="1" i="1" dirty="0" smtClean="0">
                <a:solidFill>
                  <a:srgbClr val="0070C0"/>
                </a:solidFill>
              </a:rPr>
              <a:t>timer. </a:t>
            </a:r>
            <a:endParaRPr lang="en-US" sz="2800" b="1" i="1" dirty="0">
              <a:solidFill>
                <a:srgbClr val="0070C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7331"/>
          <a:stretch/>
        </p:blipFill>
        <p:spPr>
          <a:xfrm>
            <a:off x="2082370" y="4666738"/>
            <a:ext cx="7494115" cy="203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1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4455" y="664098"/>
            <a:ext cx="11615351" cy="1318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Two </a:t>
            </a:r>
            <a:r>
              <a:rPr lang="en-US" sz="2800" dirty="0">
                <a:solidFill>
                  <a:srgbClr val="000000"/>
                </a:solidFill>
              </a:rPr>
              <a:t>counters can be combined to make a pulse generator. </a:t>
            </a:r>
            <a:endParaRPr lang="en-US" sz="2800" dirty="0" smtClean="0">
              <a:solidFill>
                <a:srgbClr val="000000"/>
              </a:solidFill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The figure d. below shows the </a:t>
            </a:r>
            <a:r>
              <a:rPr lang="en-US" sz="2800" dirty="0">
                <a:solidFill>
                  <a:srgbClr val="000000"/>
                </a:solidFill>
              </a:rPr>
              <a:t>best illustrated by an example. </a:t>
            </a: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922644" y="43799"/>
            <a:ext cx="10074876" cy="558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ctr">
              <a:lnSpc>
                <a:spcPct val="115000"/>
              </a:lnSpc>
            </a:pPr>
            <a:r>
              <a:rPr lang="en-US" sz="2800" b="1" dirty="0">
                <a:solidFill>
                  <a:srgbClr val="FF0000"/>
                </a:solidFill>
                <a:ea typeface="Times New Roman" panose="02020603050405020304" pitchFamily="18" charset="0"/>
              </a:rPr>
              <a:t>The Pulse Generator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863552" y="2384854"/>
            <a:ext cx="6182491" cy="4174783"/>
            <a:chOff x="2059466" y="1140425"/>
            <a:chExt cx="7282242" cy="473304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b="2045"/>
            <a:stretch/>
          </p:blipFill>
          <p:spPr>
            <a:xfrm>
              <a:off x="2059466" y="1140425"/>
              <a:ext cx="7282242" cy="4148268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5179450" y="5350249"/>
              <a:ext cx="106150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Fig d 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4579195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22644" y="43799"/>
            <a:ext cx="10074876" cy="558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ctr">
              <a:lnSpc>
                <a:spcPct val="115000"/>
              </a:lnSpc>
            </a:pPr>
            <a:r>
              <a:rPr lang="en-US" sz="2800" b="1" dirty="0">
                <a:solidFill>
                  <a:srgbClr val="FF0000"/>
                </a:solidFill>
                <a:ea typeface="Times New Roman" panose="02020603050405020304" pitchFamily="18" charset="0"/>
              </a:rPr>
              <a:t>The Pulse Generator 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0162" y="1161536"/>
            <a:ext cx="5684107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0000"/>
                </a:solidFill>
              </a:rPr>
              <a:t>When the </a:t>
            </a:r>
            <a:r>
              <a:rPr lang="en-US" sz="3200" b="1" i="1" dirty="0">
                <a:solidFill>
                  <a:srgbClr val="000000"/>
                </a:solidFill>
              </a:rPr>
              <a:t>Start </a:t>
            </a:r>
            <a:r>
              <a:rPr lang="en-US" sz="3200" b="1" dirty="0">
                <a:solidFill>
                  <a:srgbClr val="000000"/>
                </a:solidFill>
              </a:rPr>
              <a:t>button in </a:t>
            </a:r>
            <a:r>
              <a:rPr lang="en-US" sz="3200" b="1" i="1" dirty="0">
                <a:solidFill>
                  <a:srgbClr val="000000"/>
                </a:solidFill>
              </a:rPr>
              <a:t>Fig </a:t>
            </a:r>
            <a:r>
              <a:rPr lang="en-US" sz="3200" b="1" i="1" dirty="0" smtClean="0">
                <a:solidFill>
                  <a:srgbClr val="000000"/>
                </a:solidFill>
              </a:rPr>
              <a:t>d </a:t>
            </a:r>
            <a:r>
              <a:rPr lang="en-US" sz="3200" b="1" dirty="0">
                <a:solidFill>
                  <a:srgbClr val="000000"/>
                </a:solidFill>
              </a:rPr>
              <a:t>is pressed the cylinder in </a:t>
            </a:r>
            <a:r>
              <a:rPr lang="en-US" sz="3200" b="1" i="1" dirty="0">
                <a:solidFill>
                  <a:srgbClr val="000000"/>
                </a:solidFill>
              </a:rPr>
              <a:t>Fig f</a:t>
            </a:r>
            <a:r>
              <a:rPr lang="en-US" sz="3200" b="1" i="1" dirty="0" smtClean="0">
                <a:solidFill>
                  <a:srgbClr val="000000"/>
                </a:solidFill>
              </a:rPr>
              <a:t> </a:t>
            </a:r>
            <a:r>
              <a:rPr lang="en-US" sz="3200" b="1" dirty="0">
                <a:solidFill>
                  <a:srgbClr val="000000"/>
                </a:solidFill>
              </a:rPr>
              <a:t>oscillates, </a:t>
            </a:r>
            <a:endParaRPr lang="en-US" sz="3200" b="1" dirty="0" smtClean="0">
              <a:solidFill>
                <a:srgbClr val="000000"/>
              </a:solidFill>
            </a:endParaRPr>
          </a:p>
          <a:p>
            <a:pPr algn="just"/>
            <a:endParaRPr lang="en-US" sz="3200" dirty="0">
              <a:solidFill>
                <a:srgbClr val="000000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200" b="1" dirty="0" smtClean="0">
                <a:solidFill>
                  <a:srgbClr val="000000"/>
                </a:solidFill>
              </a:rPr>
              <a:t>Extending  </a:t>
            </a:r>
            <a:r>
              <a:rPr lang="en-US" sz="3200" b="1" dirty="0">
                <a:solidFill>
                  <a:srgbClr val="000000"/>
                </a:solidFill>
              </a:rPr>
              <a:t>for </a:t>
            </a:r>
            <a:r>
              <a:rPr lang="en-US" sz="3200" b="1" dirty="0" smtClean="0">
                <a:solidFill>
                  <a:srgbClr val="000000"/>
                </a:solidFill>
              </a:rPr>
              <a:t>2s </a:t>
            </a:r>
            <a:r>
              <a:rPr lang="en-US" sz="3200" b="1" dirty="0">
                <a:solidFill>
                  <a:srgbClr val="000000"/>
                </a:solidFill>
              </a:rPr>
              <a:t>and </a:t>
            </a:r>
            <a:endParaRPr lang="en-US" sz="3200" b="1" dirty="0" smtClean="0">
              <a:solidFill>
                <a:srgbClr val="000000"/>
              </a:solidFill>
            </a:endParaRPr>
          </a:p>
          <a:p>
            <a:pPr algn="just"/>
            <a:endParaRPr lang="en-US" sz="3200" dirty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000000"/>
                </a:solidFill>
              </a:rPr>
              <a:t>Returning </a:t>
            </a:r>
            <a:r>
              <a:rPr lang="en-US" sz="3200" b="1" dirty="0">
                <a:solidFill>
                  <a:srgbClr val="000000"/>
                </a:solidFill>
              </a:rPr>
              <a:t>for </a:t>
            </a:r>
            <a:r>
              <a:rPr lang="en-US" sz="3200" b="1" dirty="0" smtClean="0">
                <a:solidFill>
                  <a:srgbClr val="000000"/>
                </a:solidFill>
              </a:rPr>
              <a:t>1s </a:t>
            </a:r>
            <a:r>
              <a:rPr lang="en-US" sz="3200" b="1" dirty="0">
                <a:solidFill>
                  <a:srgbClr val="000000"/>
                </a:solidFill>
              </a:rPr>
              <a:t>until the </a:t>
            </a:r>
            <a:r>
              <a:rPr lang="en-US" sz="3200" b="1" i="1" dirty="0">
                <a:solidFill>
                  <a:srgbClr val="000000"/>
                </a:solidFill>
              </a:rPr>
              <a:t>Stop </a:t>
            </a:r>
            <a:r>
              <a:rPr lang="en-US" sz="3200" b="1" dirty="0">
                <a:solidFill>
                  <a:srgbClr val="000000"/>
                </a:solidFill>
              </a:rPr>
              <a:t>button is pressed</a:t>
            </a:r>
            <a:r>
              <a:rPr lang="en-US" sz="3200" b="1" dirty="0" smtClean="0">
                <a:solidFill>
                  <a:srgbClr val="000000"/>
                </a:solidFill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b="1" dirty="0">
              <a:solidFill>
                <a:srgbClr val="000000"/>
              </a:solidFill>
            </a:endParaRPr>
          </a:p>
          <a:p>
            <a:pPr algn="just"/>
            <a:r>
              <a:rPr lang="en-US" sz="3200" i="1" dirty="0" smtClean="0">
                <a:solidFill>
                  <a:srgbClr val="00B050"/>
                </a:solidFill>
              </a:rPr>
              <a:t>Write a plc ladder program  </a:t>
            </a:r>
            <a:endParaRPr lang="en-US" sz="4800" i="1" dirty="0">
              <a:solidFill>
                <a:srgbClr val="00B05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309817" y="787894"/>
            <a:ext cx="4151870" cy="5625758"/>
            <a:chOff x="2644345" y="1309816"/>
            <a:chExt cx="2817341" cy="491848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44345" y="1309816"/>
              <a:ext cx="2817341" cy="4409734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3571953" y="5705080"/>
              <a:ext cx="100219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Fig f 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2927254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5" y="1109044"/>
            <a:ext cx="7994821" cy="472336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22644" y="43799"/>
            <a:ext cx="10074876" cy="558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ctr">
              <a:lnSpc>
                <a:spcPct val="115000"/>
              </a:lnSpc>
            </a:pPr>
            <a:r>
              <a:rPr lang="en-US" sz="2800" b="1" dirty="0">
                <a:solidFill>
                  <a:srgbClr val="FF0000"/>
                </a:solidFill>
                <a:ea typeface="Times New Roman" panose="02020603050405020304" pitchFamily="18" charset="0"/>
              </a:rPr>
              <a:t>The Pulse Generator 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59" y="6019155"/>
            <a:ext cx="854263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It can take a while to figure out how the pulse generator works but it is time very well spent. The flow chart in </a:t>
            </a:r>
            <a:r>
              <a:rPr lang="en-US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Fig </a:t>
            </a:r>
            <a:r>
              <a:rPr lang="en-US" sz="2000" b="1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g.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should help. </a:t>
            </a:r>
            <a:endParaRPr lang="en-US" sz="3600" b="1" dirty="0"/>
          </a:p>
        </p:txBody>
      </p:sp>
      <p:grpSp>
        <p:nvGrpSpPr>
          <p:cNvPr id="7" name="Group 6"/>
          <p:cNvGrpSpPr/>
          <p:nvPr/>
        </p:nvGrpSpPr>
        <p:grpSpPr>
          <a:xfrm>
            <a:off x="8285720" y="752216"/>
            <a:ext cx="3786831" cy="5080194"/>
            <a:chOff x="7667883" y="789287"/>
            <a:chExt cx="3317686" cy="508019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67883" y="789287"/>
              <a:ext cx="3317686" cy="4524117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7667883" y="5500149"/>
              <a:ext cx="32439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i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Figure g. Pulse </a:t>
              </a:r>
              <a:r>
                <a:rPr lang="en-US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Generator Flowchart </a:t>
              </a:r>
              <a:endParaRPr lang="en-US" dirty="0"/>
            </a:p>
          </p:txBody>
        </p:sp>
      </p:grpSp>
      <p:sp>
        <p:nvSpPr>
          <p:cNvPr id="8" name="Rectangle 7"/>
          <p:cNvSpPr/>
          <p:nvPr/>
        </p:nvSpPr>
        <p:spPr>
          <a:xfrm>
            <a:off x="519785" y="567550"/>
            <a:ext cx="2557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PLC </a:t>
            </a:r>
            <a:r>
              <a:rPr lang="en-US" b="1" dirty="0">
                <a:solidFill>
                  <a:srgbClr val="000000"/>
                </a:solidFill>
              </a:rPr>
              <a:t>ladder </a:t>
            </a:r>
            <a:r>
              <a:rPr lang="en-US" b="1" dirty="0" smtClean="0">
                <a:solidFill>
                  <a:srgbClr val="000000"/>
                </a:solidFill>
              </a:rPr>
              <a:t>program </a:t>
            </a:r>
            <a:r>
              <a:rPr lang="en-US" b="1" dirty="0" err="1" smtClean="0">
                <a:solidFill>
                  <a:srgbClr val="000000"/>
                </a:solidFill>
              </a:rPr>
              <a:t>soln</a:t>
            </a:r>
            <a:r>
              <a:rPr lang="en-US" b="1" dirty="0" smtClean="0">
                <a:solidFill>
                  <a:srgbClr val="000000"/>
                </a:solidFill>
              </a:rPr>
              <a:t> </a:t>
            </a:r>
            <a:endParaRPr lang="en-US" b="1" dirty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1149178" y="2187146"/>
            <a:ext cx="148281" cy="988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681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22644" y="43799"/>
            <a:ext cx="10074876" cy="558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ctr">
              <a:lnSpc>
                <a:spcPct val="115000"/>
              </a:lnSpc>
            </a:pPr>
            <a:r>
              <a:rPr lang="en-US" sz="2800" b="1" dirty="0">
                <a:solidFill>
                  <a:srgbClr val="FF0000"/>
                </a:solidFill>
                <a:ea typeface="Times New Roman" panose="02020603050405020304" pitchFamily="18" charset="0"/>
              </a:rPr>
              <a:t>Counters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260" y="602542"/>
            <a:ext cx="1144235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000000"/>
                </a:solidFill>
              </a:rPr>
              <a:t>A counter allows a number of occurrences of input signals to be counted. </a:t>
            </a:r>
            <a:endParaRPr lang="en-US" sz="3200" b="1" dirty="0" smtClean="0">
              <a:solidFill>
                <a:srgbClr val="00000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400" dirty="0">
              <a:solidFill>
                <a:srgbClr val="000000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b="1" dirty="0" smtClean="0">
                <a:solidFill>
                  <a:srgbClr val="0070C0"/>
                </a:solidFill>
              </a:rPr>
              <a:t>The </a:t>
            </a:r>
            <a:r>
              <a:rPr lang="en-US" sz="3200" b="1" dirty="0">
                <a:solidFill>
                  <a:srgbClr val="0070C0"/>
                </a:solidFill>
              </a:rPr>
              <a:t>counter is set to a </a:t>
            </a:r>
            <a:r>
              <a:rPr lang="en-US" sz="3200" b="1" i="1" dirty="0">
                <a:solidFill>
                  <a:srgbClr val="C00000"/>
                </a:solidFill>
              </a:rPr>
              <a:t>preset number value </a:t>
            </a:r>
            <a:r>
              <a:rPr lang="en-US" sz="3200" b="1" dirty="0">
                <a:solidFill>
                  <a:srgbClr val="0070C0"/>
                </a:solidFill>
              </a:rPr>
              <a:t>and when this value of input pulses has been received, it will operate its contacts. </a:t>
            </a:r>
            <a:endParaRPr lang="en-US" sz="3200" b="1" dirty="0" smtClean="0">
              <a:solidFill>
                <a:srgbClr val="0070C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400" dirty="0">
              <a:solidFill>
                <a:srgbClr val="000000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b="1" dirty="0" smtClean="0">
                <a:solidFill>
                  <a:srgbClr val="000000"/>
                </a:solidFill>
              </a:rPr>
              <a:t>A </a:t>
            </a:r>
            <a:r>
              <a:rPr lang="en-US" sz="3200" b="1" dirty="0">
                <a:solidFill>
                  <a:srgbClr val="000000"/>
                </a:solidFill>
              </a:rPr>
              <a:t>second input or software coil is provided to reset the </a:t>
            </a:r>
            <a:r>
              <a:rPr lang="en-US" sz="3200" b="1" i="1" dirty="0">
                <a:solidFill>
                  <a:srgbClr val="00B050"/>
                </a:solidFill>
              </a:rPr>
              <a:t>current value </a:t>
            </a:r>
            <a:r>
              <a:rPr lang="en-US" sz="3200" b="1" dirty="0">
                <a:solidFill>
                  <a:srgbClr val="000000"/>
                </a:solidFill>
              </a:rPr>
              <a:t>of the counter to zero. </a:t>
            </a:r>
            <a:endParaRPr lang="en-US" sz="3200" b="1" dirty="0" smtClean="0">
              <a:solidFill>
                <a:srgbClr val="000000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5511114" y="4080417"/>
            <a:ext cx="2950737" cy="2462444"/>
            <a:chOff x="7536028" y="814351"/>
            <a:chExt cx="3842017" cy="2462444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36028" y="814351"/>
              <a:ext cx="3842017" cy="1967113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/>
          </p:nvSpPr>
          <p:spPr>
            <a:xfrm>
              <a:off x="8274661" y="2907463"/>
              <a:ext cx="23647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Consider the cam shaft 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427018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22644" y="43799"/>
            <a:ext cx="10074876" cy="558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ctr">
              <a:lnSpc>
                <a:spcPct val="115000"/>
              </a:lnSpc>
            </a:pPr>
            <a:r>
              <a:rPr lang="en-US" sz="2800" b="1" dirty="0">
                <a:solidFill>
                  <a:srgbClr val="FF0000"/>
                </a:solidFill>
                <a:ea typeface="Times New Roman" panose="02020603050405020304" pitchFamily="18" charset="0"/>
              </a:rPr>
              <a:t>Counters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08574" y="800250"/>
            <a:ext cx="5268449" cy="5722748"/>
            <a:chOff x="1972610" y="602542"/>
            <a:chExt cx="5268449" cy="5722748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2610" y="602542"/>
              <a:ext cx="5268449" cy="5321705"/>
            </a:xfrm>
            <a:prstGeom prst="rect">
              <a:avLst/>
            </a:prstGeom>
          </p:spPr>
        </p:pic>
        <p:sp>
          <p:nvSpPr>
            <p:cNvPr id="2" name="Rectangle 1"/>
            <p:cNvSpPr/>
            <p:nvPr/>
          </p:nvSpPr>
          <p:spPr>
            <a:xfrm>
              <a:off x="2840364" y="5955958"/>
              <a:ext cx="255711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The PLC wiring diagram </a:t>
              </a:r>
              <a:endParaRPr lang="en-US" dirty="0"/>
            </a:p>
          </p:txBody>
        </p:sp>
      </p:grpSp>
      <p:sp>
        <p:nvSpPr>
          <p:cNvPr id="4" name="Rectangle 3"/>
          <p:cNvSpPr/>
          <p:nvPr/>
        </p:nvSpPr>
        <p:spPr>
          <a:xfrm>
            <a:off x="6096000" y="2183648"/>
            <a:ext cx="565527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50"/>
                </a:solidFill>
              </a:rPr>
              <a:t>When a </a:t>
            </a:r>
            <a:r>
              <a:rPr lang="en-US" sz="2800" b="1" i="1" dirty="0">
                <a:solidFill>
                  <a:srgbClr val="00B050"/>
                </a:solidFill>
              </a:rPr>
              <a:t>start </a:t>
            </a:r>
            <a:r>
              <a:rPr lang="en-US" sz="2800" b="1" dirty="0">
                <a:solidFill>
                  <a:srgbClr val="00B050"/>
                </a:solidFill>
              </a:rPr>
              <a:t>button has been pressed the shaft is to make 10 revolutions and then stop</a:t>
            </a:r>
            <a:r>
              <a:rPr lang="en-US" sz="2800" b="1" dirty="0" smtClean="0">
                <a:solidFill>
                  <a:srgbClr val="00B050"/>
                </a:solidFill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0000"/>
                </a:solidFill>
              </a:rPr>
              <a:t>Pressing the start button also resets the counter. </a:t>
            </a:r>
            <a:endParaRPr lang="en-US" sz="2800" b="1" dirty="0" smtClean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</a:rPr>
              <a:t>The PLC wiring diagram is shown </a:t>
            </a:r>
            <a:r>
              <a:rPr lang="en-US" sz="2800" b="1" dirty="0" smtClean="0">
                <a:solidFill>
                  <a:srgbClr val="0070C0"/>
                </a:solidFill>
              </a:rPr>
              <a:t>on the left </a:t>
            </a:r>
            <a:endParaRPr lang="en-US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0723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82586" y="98856"/>
            <a:ext cx="10074876" cy="558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ctr">
              <a:lnSpc>
                <a:spcPct val="115000"/>
              </a:lnSpc>
            </a:pPr>
            <a:r>
              <a:rPr lang="en-US" sz="2800" b="1" dirty="0">
                <a:solidFill>
                  <a:srgbClr val="FF0000"/>
                </a:solidFill>
                <a:ea typeface="Times New Roman" panose="02020603050405020304" pitchFamily="18" charset="0"/>
              </a:rPr>
              <a:t>Counters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71849" y="657599"/>
            <a:ext cx="11479427" cy="6054809"/>
            <a:chOff x="271849" y="657599"/>
            <a:chExt cx="11479427" cy="6054809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1849" y="657599"/>
              <a:ext cx="11479427" cy="5496066"/>
            </a:xfrm>
            <a:prstGeom prst="rect">
              <a:avLst/>
            </a:prstGeom>
          </p:spPr>
        </p:pic>
        <p:sp>
          <p:nvSpPr>
            <p:cNvPr id="4" name="Rectangle 3"/>
            <p:cNvSpPr/>
            <p:nvPr/>
          </p:nvSpPr>
          <p:spPr>
            <a:xfrm>
              <a:off x="4736763" y="6343076"/>
              <a:ext cx="26084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The PLC </a:t>
              </a:r>
              <a:r>
                <a:rPr lang="en-US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Ladder </a:t>
              </a:r>
              <a:r>
                <a:rPr 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diagram 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924111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36366" y="913265"/>
            <a:ext cx="3389198" cy="5533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 smtClean="0">
                <a:solidFill>
                  <a:srgbClr val="00B0F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1. Water </a:t>
            </a:r>
            <a:r>
              <a:rPr lang="en-US" sz="2800" b="1" dirty="0">
                <a:solidFill>
                  <a:srgbClr val="00B0F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level control</a:t>
            </a:r>
          </a:p>
        </p:txBody>
      </p:sp>
      <p:sp>
        <p:nvSpPr>
          <p:cNvPr id="7" name="Rectangle 6"/>
          <p:cNvSpPr/>
          <p:nvPr/>
        </p:nvSpPr>
        <p:spPr>
          <a:xfrm>
            <a:off x="3094723" y="161552"/>
            <a:ext cx="63076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3600" b="1" dirty="0">
                <a:solidFill>
                  <a:srgbClr val="FF0000"/>
                </a:solidFill>
              </a:rPr>
              <a:t>PLC’s L</a:t>
            </a:r>
            <a:r>
              <a:rPr lang="en-US" sz="3600" b="1" dirty="0" smtClean="0">
                <a:solidFill>
                  <a:srgbClr val="FF0000"/>
                </a:solidFill>
              </a:rPr>
              <a:t>adder Diagram </a:t>
            </a:r>
            <a:r>
              <a:rPr lang="en-US" sz="3600" b="1" dirty="0">
                <a:solidFill>
                  <a:srgbClr val="FF0000"/>
                </a:solidFill>
              </a:rPr>
              <a:t>E</a:t>
            </a:r>
            <a:r>
              <a:rPr lang="en-US" sz="3600" b="1" dirty="0" smtClean="0">
                <a:solidFill>
                  <a:srgbClr val="FF0000"/>
                </a:solidFill>
              </a:rPr>
              <a:t>xamples 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5261" t="6121" r="6547" b="13394"/>
          <a:stretch/>
        </p:blipFill>
        <p:spPr>
          <a:xfrm>
            <a:off x="135924" y="1717588"/>
            <a:ext cx="4646141" cy="490563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41557" y="913265"/>
            <a:ext cx="7043351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700" b="1" dirty="0">
                <a:solidFill>
                  <a:srgbClr val="0070C0"/>
                </a:solidFill>
              </a:rPr>
              <a:t>The Inlet valve opens when the water level goes to the lower </a:t>
            </a:r>
            <a:r>
              <a:rPr lang="en-US" sz="2700" b="1" dirty="0" smtClean="0">
                <a:solidFill>
                  <a:srgbClr val="0070C0"/>
                </a:solidFill>
              </a:rPr>
              <a:t>level of </a:t>
            </a:r>
            <a:r>
              <a:rPr lang="en-US" sz="2700" b="1" dirty="0">
                <a:solidFill>
                  <a:srgbClr val="0070C0"/>
                </a:solidFill>
              </a:rPr>
              <a:t>the underground tank and gets closed when the </a:t>
            </a:r>
            <a:r>
              <a:rPr lang="en-US" sz="2700" b="1" dirty="0" smtClean="0">
                <a:solidFill>
                  <a:srgbClr val="0070C0"/>
                </a:solidFill>
              </a:rPr>
              <a:t>underground tank </a:t>
            </a:r>
            <a:r>
              <a:rPr lang="en-US" sz="2700" b="1" dirty="0">
                <a:solidFill>
                  <a:srgbClr val="0070C0"/>
                </a:solidFill>
              </a:rPr>
              <a:t>gets full</a:t>
            </a:r>
            <a:r>
              <a:rPr lang="en-US" sz="2700" b="1" dirty="0" smtClean="0">
                <a:solidFill>
                  <a:srgbClr val="0070C0"/>
                </a:solidFill>
              </a:rPr>
              <a:t>.</a:t>
            </a:r>
          </a:p>
          <a:p>
            <a:pPr algn="just"/>
            <a:endParaRPr lang="en-US" sz="27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700" b="1" dirty="0" smtClean="0"/>
              <a:t>The </a:t>
            </a:r>
            <a:r>
              <a:rPr lang="en-US" sz="2700" b="1" dirty="0"/>
              <a:t>pump starts only when the water level in the overhead </a:t>
            </a:r>
            <a:r>
              <a:rPr lang="en-US" sz="2700" b="1" dirty="0" smtClean="0"/>
              <a:t>tank goes </a:t>
            </a:r>
            <a:r>
              <a:rPr lang="en-US" sz="2700" b="1" dirty="0"/>
              <a:t>to the lower level of the overhead tank</a:t>
            </a:r>
            <a:r>
              <a:rPr lang="en-US" sz="2700" b="1" dirty="0" smtClean="0"/>
              <a:t>.</a:t>
            </a:r>
          </a:p>
          <a:p>
            <a:pPr algn="just"/>
            <a:endParaRPr lang="en-US" sz="27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700" b="1" dirty="0" smtClean="0">
                <a:solidFill>
                  <a:srgbClr val="7030A0"/>
                </a:solidFill>
              </a:rPr>
              <a:t>The </a:t>
            </a:r>
            <a:r>
              <a:rPr lang="en-US" sz="2700" b="1" dirty="0">
                <a:solidFill>
                  <a:srgbClr val="7030A0"/>
                </a:solidFill>
              </a:rPr>
              <a:t>pump stops when the overhead tank gets full or the </a:t>
            </a:r>
            <a:r>
              <a:rPr lang="en-US" sz="2700" b="1" dirty="0" smtClean="0">
                <a:solidFill>
                  <a:srgbClr val="7030A0"/>
                </a:solidFill>
              </a:rPr>
              <a:t>water level </a:t>
            </a:r>
            <a:r>
              <a:rPr lang="en-US" sz="2700" b="1" dirty="0">
                <a:solidFill>
                  <a:srgbClr val="7030A0"/>
                </a:solidFill>
              </a:rPr>
              <a:t>in the underground tank goes to the lower level. I.e. </a:t>
            </a:r>
            <a:r>
              <a:rPr lang="en-US" sz="2700" b="1" dirty="0" smtClean="0">
                <a:solidFill>
                  <a:srgbClr val="7030A0"/>
                </a:solidFill>
              </a:rPr>
              <a:t>The pump </a:t>
            </a:r>
            <a:r>
              <a:rPr lang="en-US" sz="2700" b="1" dirty="0">
                <a:solidFill>
                  <a:srgbClr val="7030A0"/>
                </a:solidFill>
              </a:rPr>
              <a:t>should not dry run.</a:t>
            </a:r>
          </a:p>
        </p:txBody>
      </p:sp>
    </p:spTree>
    <p:extLst>
      <p:ext uri="{BB962C8B-B14F-4D97-AF65-F5344CB8AC3E}">
        <p14:creationId xmlns:p14="http://schemas.microsoft.com/office/powerpoint/2010/main" val="3465115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03976" y="1037151"/>
            <a:ext cx="8333500" cy="5329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 smtClean="0">
                <a:solidFill>
                  <a:srgbClr val="00B0F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1. Water </a:t>
            </a:r>
            <a:r>
              <a:rPr lang="en-US" sz="2800" b="1" dirty="0">
                <a:solidFill>
                  <a:srgbClr val="00B0F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level </a:t>
            </a:r>
            <a:r>
              <a:rPr lang="en-US" sz="2800" b="1" dirty="0" smtClean="0">
                <a:solidFill>
                  <a:srgbClr val="00B0F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control; Input </a:t>
            </a:r>
            <a:r>
              <a:rPr lang="en-US" sz="2800" b="1" dirty="0">
                <a:solidFill>
                  <a:srgbClr val="00B0F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and Output devices 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094723" y="161552"/>
            <a:ext cx="63076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3600" b="1" dirty="0">
                <a:solidFill>
                  <a:srgbClr val="FF0000"/>
                </a:solidFill>
              </a:rPr>
              <a:t>PLC’s L</a:t>
            </a:r>
            <a:r>
              <a:rPr lang="en-US" sz="3600" b="1" dirty="0" smtClean="0">
                <a:solidFill>
                  <a:srgbClr val="FF0000"/>
                </a:solidFill>
              </a:rPr>
              <a:t>adder Diagram </a:t>
            </a:r>
            <a:r>
              <a:rPr lang="en-US" sz="3600" b="1" dirty="0">
                <a:solidFill>
                  <a:srgbClr val="FF0000"/>
                </a:solidFill>
              </a:rPr>
              <a:t>E</a:t>
            </a:r>
            <a:r>
              <a:rPr lang="en-US" sz="3600" b="1" dirty="0" smtClean="0">
                <a:solidFill>
                  <a:srgbClr val="FF0000"/>
                </a:solidFill>
              </a:rPr>
              <a:t>xamples 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287" y="1804086"/>
            <a:ext cx="7988546" cy="473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496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39290" y="671668"/>
            <a:ext cx="5475538" cy="5533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 smtClean="0">
                <a:solidFill>
                  <a:srgbClr val="00B0F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1. Water </a:t>
            </a:r>
            <a:r>
              <a:rPr lang="en-US" sz="2800" b="1" dirty="0">
                <a:solidFill>
                  <a:srgbClr val="00B0F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level </a:t>
            </a:r>
            <a:r>
              <a:rPr lang="en-US" sz="2800" b="1" dirty="0" smtClean="0">
                <a:solidFill>
                  <a:srgbClr val="00B0F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control SOLUTION</a:t>
            </a:r>
            <a:endParaRPr lang="en-US" sz="2800" b="1" dirty="0">
              <a:solidFill>
                <a:srgbClr val="00B0F0"/>
              </a:solidFill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94723" y="50339"/>
            <a:ext cx="56230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3200" b="1" dirty="0">
                <a:solidFill>
                  <a:srgbClr val="FF0000"/>
                </a:solidFill>
              </a:rPr>
              <a:t>PLC’s L</a:t>
            </a:r>
            <a:r>
              <a:rPr lang="en-US" sz="3200" b="1" dirty="0" smtClean="0">
                <a:solidFill>
                  <a:srgbClr val="FF0000"/>
                </a:solidFill>
              </a:rPr>
              <a:t>adder Diagram </a:t>
            </a:r>
            <a:r>
              <a:rPr lang="en-US" sz="3200" b="1" dirty="0">
                <a:solidFill>
                  <a:srgbClr val="FF0000"/>
                </a:solidFill>
              </a:rPr>
              <a:t>E</a:t>
            </a:r>
            <a:r>
              <a:rPr lang="en-US" sz="3200" b="1" dirty="0" smtClean="0">
                <a:solidFill>
                  <a:srgbClr val="FF0000"/>
                </a:solidFill>
              </a:rPr>
              <a:t>xamples </a:t>
            </a:r>
            <a:endParaRPr lang="en-US" sz="3200" b="1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090" t="1110" b="1811"/>
          <a:stretch/>
        </p:blipFill>
        <p:spPr>
          <a:xfrm>
            <a:off x="580769" y="1273937"/>
            <a:ext cx="11219934" cy="543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337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0939" y="933719"/>
            <a:ext cx="7192418" cy="5533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 smtClean="0">
                <a:solidFill>
                  <a:srgbClr val="00B0F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2. Milk </a:t>
            </a:r>
            <a:r>
              <a:rPr lang="en-US" sz="2800" b="1" dirty="0">
                <a:solidFill>
                  <a:srgbClr val="00B0F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bottle filling and capping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94723" y="161552"/>
            <a:ext cx="63076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3600" b="1" dirty="0">
                <a:solidFill>
                  <a:srgbClr val="FF0000"/>
                </a:solidFill>
              </a:rPr>
              <a:t>PLC’s L</a:t>
            </a:r>
            <a:r>
              <a:rPr lang="en-US" sz="3600" b="1" dirty="0" smtClean="0">
                <a:solidFill>
                  <a:srgbClr val="FF0000"/>
                </a:solidFill>
              </a:rPr>
              <a:t>adder Diagram </a:t>
            </a:r>
            <a:r>
              <a:rPr lang="en-US" sz="3600" b="1" dirty="0">
                <a:solidFill>
                  <a:srgbClr val="FF0000"/>
                </a:solidFill>
              </a:rPr>
              <a:t>E</a:t>
            </a:r>
            <a:r>
              <a:rPr lang="en-US" sz="3600" b="1" dirty="0" smtClean="0">
                <a:solidFill>
                  <a:srgbClr val="FF0000"/>
                </a:solidFill>
              </a:rPr>
              <a:t>xamples 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067" b="12857"/>
          <a:stretch/>
        </p:blipFill>
        <p:spPr>
          <a:xfrm>
            <a:off x="321276" y="1612912"/>
            <a:ext cx="11594145" cy="496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16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1842" y="715204"/>
            <a:ext cx="6246775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 smtClean="0">
                <a:solidFill>
                  <a:srgbClr val="00B0F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2. Milk </a:t>
            </a:r>
            <a:r>
              <a:rPr lang="en-US" sz="2400" b="1" dirty="0">
                <a:solidFill>
                  <a:srgbClr val="00B0F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bottle filling and capping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1859" y="66478"/>
            <a:ext cx="63076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3600" b="1" dirty="0">
                <a:solidFill>
                  <a:srgbClr val="FF0000"/>
                </a:solidFill>
              </a:rPr>
              <a:t>PLC’s L</a:t>
            </a:r>
            <a:r>
              <a:rPr lang="en-US" sz="3600" b="1" dirty="0" smtClean="0">
                <a:solidFill>
                  <a:srgbClr val="FF0000"/>
                </a:solidFill>
              </a:rPr>
              <a:t>adder Diagram </a:t>
            </a:r>
            <a:r>
              <a:rPr lang="en-US" sz="3600" b="1" dirty="0">
                <a:solidFill>
                  <a:srgbClr val="FF0000"/>
                </a:solidFill>
              </a:rPr>
              <a:t>E</a:t>
            </a:r>
            <a:r>
              <a:rPr lang="en-US" sz="3600" b="1" dirty="0" smtClean="0">
                <a:solidFill>
                  <a:srgbClr val="FF0000"/>
                </a:solidFill>
              </a:rPr>
              <a:t>xamples 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9492" y="1246242"/>
            <a:ext cx="11726562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b="1" dirty="0"/>
              <a:t>Start the conveyor in auto mode. </a:t>
            </a:r>
            <a:endParaRPr lang="en-US" sz="2600" b="1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100" b="1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b="1" dirty="0" smtClean="0">
                <a:solidFill>
                  <a:srgbClr val="7030A0"/>
                </a:solidFill>
              </a:rPr>
              <a:t>When </a:t>
            </a:r>
            <a:r>
              <a:rPr lang="en-US" sz="2600" b="1" dirty="0">
                <a:solidFill>
                  <a:srgbClr val="7030A0"/>
                </a:solidFill>
              </a:rPr>
              <a:t>a bottle present sensor 1 </a:t>
            </a:r>
            <a:r>
              <a:rPr lang="en-US" sz="2600" b="1" dirty="0" smtClean="0">
                <a:solidFill>
                  <a:srgbClr val="7030A0"/>
                </a:solidFill>
              </a:rPr>
              <a:t>detects the </a:t>
            </a:r>
            <a:r>
              <a:rPr lang="en-US" sz="2600" b="1" dirty="0">
                <a:solidFill>
                  <a:srgbClr val="7030A0"/>
                </a:solidFill>
              </a:rPr>
              <a:t>bottle, the conveyor gets stopped and the controller turns on </a:t>
            </a:r>
            <a:r>
              <a:rPr lang="en-US" sz="2600" b="1" dirty="0" smtClean="0">
                <a:solidFill>
                  <a:srgbClr val="7030A0"/>
                </a:solidFill>
              </a:rPr>
              <a:t>the valve</a:t>
            </a:r>
            <a:r>
              <a:rPr lang="en-US" sz="2600" b="1" dirty="0">
                <a:solidFill>
                  <a:srgbClr val="7030A0"/>
                </a:solidFill>
              </a:rPr>
              <a:t>. The milk starts pouring into the bottle up to a certain level, </a:t>
            </a:r>
            <a:r>
              <a:rPr lang="en-US" sz="2600" b="1" dirty="0" smtClean="0">
                <a:solidFill>
                  <a:srgbClr val="7030A0"/>
                </a:solidFill>
              </a:rPr>
              <a:t>then the </a:t>
            </a:r>
            <a:r>
              <a:rPr lang="en-US" sz="2600" b="1" dirty="0">
                <a:solidFill>
                  <a:srgbClr val="7030A0"/>
                </a:solidFill>
              </a:rPr>
              <a:t>valve gets off and the conveyor starts again</a:t>
            </a:r>
            <a:r>
              <a:rPr lang="en-US" sz="2600" b="1" dirty="0" smtClean="0">
                <a:solidFill>
                  <a:srgbClr val="7030A0"/>
                </a:solidFill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 smtClean="0">
                <a:solidFill>
                  <a:srgbClr val="00B050"/>
                </a:solidFill>
              </a:rPr>
              <a:t>When </a:t>
            </a:r>
            <a:r>
              <a:rPr lang="en-US" sz="2600" dirty="0">
                <a:solidFill>
                  <a:srgbClr val="00B050"/>
                </a:solidFill>
              </a:rPr>
              <a:t>a bottle present sensor 2 detects the bottle, the conveyor </a:t>
            </a:r>
            <a:r>
              <a:rPr lang="en-US" sz="2600" dirty="0" smtClean="0">
                <a:solidFill>
                  <a:srgbClr val="00B050"/>
                </a:solidFill>
              </a:rPr>
              <a:t>gets stopped</a:t>
            </a:r>
            <a:r>
              <a:rPr lang="en-US" sz="2600" dirty="0">
                <a:solidFill>
                  <a:srgbClr val="00B050"/>
                </a:solidFill>
              </a:rPr>
              <a:t>, and the capping piston operates, when a cap is detected by </a:t>
            </a:r>
            <a:r>
              <a:rPr lang="en-US" sz="2600" dirty="0" smtClean="0">
                <a:solidFill>
                  <a:srgbClr val="00B050"/>
                </a:solidFill>
              </a:rPr>
              <a:t>a sensor</a:t>
            </a:r>
            <a:r>
              <a:rPr lang="en-US" sz="2600" dirty="0">
                <a:solidFill>
                  <a:srgbClr val="00B050"/>
                </a:solidFill>
              </a:rPr>
              <a:t>, the capping piston stops and the conveyor starts again</a:t>
            </a:r>
            <a:r>
              <a:rPr lang="en-US" sz="2600" dirty="0" smtClean="0">
                <a:solidFill>
                  <a:srgbClr val="00B050"/>
                </a:solidFill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 smtClean="0">
                <a:solidFill>
                  <a:srgbClr val="0070C0"/>
                </a:solidFill>
              </a:rPr>
              <a:t>When </a:t>
            </a:r>
            <a:r>
              <a:rPr lang="en-US" sz="2600" dirty="0">
                <a:solidFill>
                  <a:srgbClr val="0070C0"/>
                </a:solidFill>
              </a:rPr>
              <a:t>a bottle present sensor 3 detects the bottle, the conveyor </a:t>
            </a:r>
            <a:r>
              <a:rPr lang="en-US" sz="2600" dirty="0" smtClean="0">
                <a:solidFill>
                  <a:srgbClr val="0070C0"/>
                </a:solidFill>
              </a:rPr>
              <a:t>gets stopped</a:t>
            </a:r>
            <a:r>
              <a:rPr lang="en-US" sz="2600" dirty="0">
                <a:solidFill>
                  <a:srgbClr val="0070C0"/>
                </a:solidFill>
              </a:rPr>
              <a:t>, and the labeling piston operates, when a label is detected by </a:t>
            </a:r>
            <a:r>
              <a:rPr lang="en-US" sz="2600" dirty="0" smtClean="0">
                <a:solidFill>
                  <a:srgbClr val="0070C0"/>
                </a:solidFill>
              </a:rPr>
              <a:t>a sensor</a:t>
            </a:r>
            <a:r>
              <a:rPr lang="en-US" sz="2600" dirty="0">
                <a:solidFill>
                  <a:srgbClr val="0070C0"/>
                </a:solidFill>
              </a:rPr>
              <a:t>, the labeling piston stops and the conveyor starts again</a:t>
            </a:r>
            <a:r>
              <a:rPr lang="en-US" sz="2600" dirty="0" smtClean="0">
                <a:solidFill>
                  <a:srgbClr val="0070C0"/>
                </a:solidFill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b="1" dirty="0" smtClean="0"/>
              <a:t>This </a:t>
            </a:r>
            <a:r>
              <a:rPr lang="en-US" sz="2600" b="1" dirty="0"/>
              <a:t>cycle continues until a stop PB is pressed.</a:t>
            </a:r>
          </a:p>
        </p:txBody>
      </p:sp>
    </p:spTree>
    <p:extLst>
      <p:ext uri="{BB962C8B-B14F-4D97-AF65-F5344CB8AC3E}">
        <p14:creationId xmlns:p14="http://schemas.microsoft.com/office/powerpoint/2010/main" val="1668399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130357"/>
            <a:ext cx="11493916" cy="5533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 smtClean="0">
                <a:solidFill>
                  <a:srgbClr val="00B0F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2. Milk </a:t>
            </a:r>
            <a:r>
              <a:rPr lang="en-US" sz="2800" b="1" dirty="0">
                <a:solidFill>
                  <a:srgbClr val="00B0F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bottle filling and capping </a:t>
            </a:r>
            <a:r>
              <a:rPr lang="en-US" sz="2800" b="1" dirty="0" smtClean="0">
                <a:solidFill>
                  <a:srgbClr val="00B0F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application Input </a:t>
            </a:r>
            <a:r>
              <a:rPr lang="en-US" sz="2800" b="1" dirty="0">
                <a:solidFill>
                  <a:srgbClr val="00B0F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and Output devices 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094723" y="161552"/>
            <a:ext cx="63076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3600" b="1" dirty="0">
                <a:solidFill>
                  <a:srgbClr val="FF0000"/>
                </a:solidFill>
              </a:rPr>
              <a:t>PLC’s L</a:t>
            </a:r>
            <a:r>
              <a:rPr lang="en-US" sz="3600" b="1" dirty="0" smtClean="0">
                <a:solidFill>
                  <a:srgbClr val="FF0000"/>
                </a:solidFill>
              </a:rPr>
              <a:t>adder Diagram </a:t>
            </a:r>
            <a:r>
              <a:rPr lang="en-US" sz="3600" b="1" dirty="0">
                <a:solidFill>
                  <a:srgbClr val="FF0000"/>
                </a:solidFill>
              </a:rPr>
              <a:t>E</a:t>
            </a:r>
            <a:r>
              <a:rPr lang="en-US" sz="3600" b="1" dirty="0" smtClean="0">
                <a:solidFill>
                  <a:srgbClr val="FF0000"/>
                </a:solidFill>
              </a:rPr>
              <a:t>xamples </a:t>
            </a:r>
            <a:endParaRPr lang="en-US" sz="3600" b="1" dirty="0">
              <a:solidFill>
                <a:srgbClr val="FF0000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211860" y="2006188"/>
            <a:ext cx="6771502" cy="4468753"/>
            <a:chOff x="3286899" y="2006188"/>
            <a:chExt cx="4656566" cy="5130105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86899" y="2006188"/>
              <a:ext cx="4656566" cy="625784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86899" y="2534943"/>
              <a:ext cx="4656566" cy="46013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8874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99" r="2118"/>
          <a:stretch/>
        </p:blipFill>
        <p:spPr>
          <a:xfrm>
            <a:off x="642551" y="1186249"/>
            <a:ext cx="11121081" cy="547404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0530" y="604779"/>
            <a:ext cx="7426585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 smtClean="0">
                <a:solidFill>
                  <a:srgbClr val="00B0F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2. Milk </a:t>
            </a:r>
            <a:r>
              <a:rPr lang="en-US" sz="2400" b="1" dirty="0">
                <a:solidFill>
                  <a:srgbClr val="00B0F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bottle filling and capping </a:t>
            </a:r>
            <a:r>
              <a:rPr lang="en-US" sz="2400" b="1" dirty="0" smtClean="0">
                <a:solidFill>
                  <a:srgbClr val="00B0F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application solution </a:t>
            </a:r>
            <a:endParaRPr lang="en-US" sz="2400" b="1" dirty="0">
              <a:solidFill>
                <a:srgbClr val="00B0F0"/>
              </a:solidFill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05936" y="62696"/>
            <a:ext cx="4952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PLC’s L</a:t>
            </a:r>
            <a:r>
              <a:rPr lang="en-US" sz="2800" b="1" dirty="0" smtClean="0">
                <a:solidFill>
                  <a:srgbClr val="FF0000"/>
                </a:solidFill>
              </a:rPr>
              <a:t>adder Diagram </a:t>
            </a:r>
            <a:r>
              <a:rPr lang="en-US" sz="2800" b="1" dirty="0">
                <a:solidFill>
                  <a:srgbClr val="FF0000"/>
                </a:solidFill>
              </a:rPr>
              <a:t>E</a:t>
            </a:r>
            <a:r>
              <a:rPr lang="en-US" sz="2800" b="1" dirty="0" smtClean="0">
                <a:solidFill>
                  <a:srgbClr val="FF0000"/>
                </a:solidFill>
              </a:rPr>
              <a:t>xamples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067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2661</TotalTime>
  <Words>2009</Words>
  <Application>Microsoft Office PowerPoint</Application>
  <PresentationFormat>Widescreen</PresentationFormat>
  <Paragraphs>218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SimSun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KING Jr.</dc:creator>
  <cp:lastModifiedBy>KING Jr.</cp:lastModifiedBy>
  <cp:revision>487</cp:revision>
  <dcterms:created xsi:type="dcterms:W3CDTF">2022-03-30T08:35:42Z</dcterms:created>
  <dcterms:modified xsi:type="dcterms:W3CDTF">2024-12-26T14:03:59Z</dcterms:modified>
</cp:coreProperties>
</file>