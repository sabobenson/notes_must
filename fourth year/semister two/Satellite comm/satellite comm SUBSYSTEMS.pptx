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98" r:id="rId3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1253" y="-7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5830F-D2E9-4BFF-A72D-3DA99CCA10C1}" type="datetimeFigureOut">
              <a:rPr lang="en-US" smtClean="0"/>
              <a:t>25-Apr-25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1D824B-62E9-4074-BF68-DF1DC0173A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180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ED130-A2AB-491F-8F1B-09504E7F4063}" type="datetimeFigureOut">
              <a:rPr lang="en-US" smtClean="0"/>
              <a:t>25-Apr-25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1F218-DEBF-41D8-8A41-428898E76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51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81F218-DEBF-41D8-8A41-428898E768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7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66800" y="395681"/>
            <a:ext cx="7410399" cy="1247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04591" y="3918026"/>
            <a:ext cx="3734816" cy="848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25-Apr-25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25-Apr-25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25-Apr-25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25-Apr-25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7576" y="1097279"/>
            <a:ext cx="439420" cy="475615"/>
          </a:xfrm>
          <a:custGeom>
            <a:avLst/>
            <a:gdLst/>
            <a:ahLst/>
            <a:cxnLst/>
            <a:rect l="l" t="t" r="r" b="b"/>
            <a:pathLst>
              <a:path w="439419" h="475615">
                <a:moveTo>
                  <a:pt x="438912" y="0"/>
                </a:moveTo>
                <a:lnTo>
                  <a:pt x="0" y="0"/>
                </a:lnTo>
                <a:lnTo>
                  <a:pt x="0" y="350520"/>
                </a:lnTo>
                <a:lnTo>
                  <a:pt x="0" y="475488"/>
                </a:lnTo>
                <a:lnTo>
                  <a:pt x="438912" y="475488"/>
                </a:lnTo>
                <a:lnTo>
                  <a:pt x="438912" y="350520"/>
                </a:lnTo>
                <a:lnTo>
                  <a:pt x="438912" y="0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624" y="1097279"/>
            <a:ext cx="326136" cy="47548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42544" y="1520951"/>
            <a:ext cx="368935" cy="475615"/>
          </a:xfrm>
          <a:custGeom>
            <a:avLst/>
            <a:gdLst/>
            <a:ahLst/>
            <a:cxnLst/>
            <a:rect l="l" t="t" r="r" b="b"/>
            <a:pathLst>
              <a:path w="368934" h="475614">
                <a:moveTo>
                  <a:pt x="368808" y="0"/>
                </a:moveTo>
                <a:lnTo>
                  <a:pt x="0" y="0"/>
                </a:lnTo>
                <a:lnTo>
                  <a:pt x="0" y="350520"/>
                </a:lnTo>
                <a:lnTo>
                  <a:pt x="0" y="475488"/>
                </a:lnTo>
                <a:lnTo>
                  <a:pt x="368808" y="475488"/>
                </a:lnTo>
                <a:lnTo>
                  <a:pt x="368808" y="350520"/>
                </a:lnTo>
                <a:lnTo>
                  <a:pt x="368808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1352" y="1520951"/>
            <a:ext cx="368808" cy="47548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015" y="1447800"/>
            <a:ext cx="560832" cy="423672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62000" y="990599"/>
            <a:ext cx="30480" cy="1051560"/>
          </a:xfrm>
          <a:custGeom>
            <a:avLst/>
            <a:gdLst/>
            <a:ahLst/>
            <a:cxnLst/>
            <a:rect l="l" t="t" r="r" b="b"/>
            <a:pathLst>
              <a:path w="30479" h="1051560">
                <a:moveTo>
                  <a:pt x="30480" y="822960"/>
                </a:moveTo>
                <a:lnTo>
                  <a:pt x="0" y="822960"/>
                </a:lnTo>
                <a:lnTo>
                  <a:pt x="0" y="1051560"/>
                </a:lnTo>
                <a:lnTo>
                  <a:pt x="30480" y="1051560"/>
                </a:lnTo>
                <a:lnTo>
                  <a:pt x="30480" y="822960"/>
                </a:lnTo>
                <a:close/>
              </a:path>
              <a:path w="30479" h="1051560">
                <a:moveTo>
                  <a:pt x="30480" y="0"/>
                </a:moveTo>
                <a:lnTo>
                  <a:pt x="0" y="0"/>
                </a:lnTo>
                <a:lnTo>
                  <a:pt x="0" y="789432"/>
                </a:lnTo>
                <a:lnTo>
                  <a:pt x="30480" y="789432"/>
                </a:lnTo>
                <a:lnTo>
                  <a:pt x="30480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25-Apr-25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17576" y="1097279"/>
            <a:ext cx="439420" cy="475615"/>
          </a:xfrm>
          <a:custGeom>
            <a:avLst/>
            <a:gdLst/>
            <a:ahLst/>
            <a:cxnLst/>
            <a:rect l="l" t="t" r="r" b="b"/>
            <a:pathLst>
              <a:path w="439419" h="475615">
                <a:moveTo>
                  <a:pt x="438912" y="0"/>
                </a:moveTo>
                <a:lnTo>
                  <a:pt x="0" y="0"/>
                </a:lnTo>
                <a:lnTo>
                  <a:pt x="0" y="350520"/>
                </a:lnTo>
                <a:lnTo>
                  <a:pt x="0" y="475488"/>
                </a:lnTo>
                <a:lnTo>
                  <a:pt x="438912" y="475488"/>
                </a:lnTo>
                <a:lnTo>
                  <a:pt x="438912" y="350520"/>
                </a:lnTo>
                <a:lnTo>
                  <a:pt x="438912" y="0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1624" y="1097279"/>
            <a:ext cx="326136" cy="47548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42544" y="1520951"/>
            <a:ext cx="368935" cy="475615"/>
          </a:xfrm>
          <a:custGeom>
            <a:avLst/>
            <a:gdLst/>
            <a:ahLst/>
            <a:cxnLst/>
            <a:rect l="l" t="t" r="r" b="b"/>
            <a:pathLst>
              <a:path w="368934" h="475614">
                <a:moveTo>
                  <a:pt x="368808" y="0"/>
                </a:moveTo>
                <a:lnTo>
                  <a:pt x="0" y="0"/>
                </a:lnTo>
                <a:lnTo>
                  <a:pt x="0" y="350520"/>
                </a:lnTo>
                <a:lnTo>
                  <a:pt x="0" y="475488"/>
                </a:lnTo>
                <a:lnTo>
                  <a:pt x="368808" y="475488"/>
                </a:lnTo>
                <a:lnTo>
                  <a:pt x="368808" y="350520"/>
                </a:lnTo>
                <a:lnTo>
                  <a:pt x="368808" y="0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1352" y="1520951"/>
            <a:ext cx="368808" cy="47548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015" y="1447800"/>
            <a:ext cx="560832" cy="423672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62000" y="990599"/>
            <a:ext cx="30480" cy="1051560"/>
          </a:xfrm>
          <a:custGeom>
            <a:avLst/>
            <a:gdLst/>
            <a:ahLst/>
            <a:cxnLst/>
            <a:rect l="l" t="t" r="r" b="b"/>
            <a:pathLst>
              <a:path w="30479" h="1051560">
                <a:moveTo>
                  <a:pt x="30480" y="822960"/>
                </a:moveTo>
                <a:lnTo>
                  <a:pt x="0" y="822960"/>
                </a:lnTo>
                <a:lnTo>
                  <a:pt x="0" y="1051560"/>
                </a:lnTo>
                <a:lnTo>
                  <a:pt x="30480" y="1051560"/>
                </a:lnTo>
                <a:lnTo>
                  <a:pt x="30480" y="822960"/>
                </a:lnTo>
                <a:close/>
              </a:path>
              <a:path w="30479" h="1051560">
                <a:moveTo>
                  <a:pt x="30480" y="0"/>
                </a:moveTo>
                <a:lnTo>
                  <a:pt x="0" y="0"/>
                </a:lnTo>
                <a:lnTo>
                  <a:pt x="0" y="789432"/>
                </a:lnTo>
                <a:lnTo>
                  <a:pt x="30480" y="789432"/>
                </a:lnTo>
                <a:lnTo>
                  <a:pt x="30480" y="0"/>
                </a:lnTo>
                <a:close/>
              </a:path>
            </a:pathLst>
          </a:custGeom>
          <a:solidFill>
            <a:srgbClr val="1C1C1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41959" y="1780031"/>
            <a:ext cx="8226552" cy="335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9845" y="300939"/>
            <a:ext cx="7144308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333399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5385" y="1964192"/>
            <a:ext cx="7793228" cy="3868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25-Apr-25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33400"/>
            <a:ext cx="9010015" cy="1051560"/>
            <a:chOff x="0" y="2438400"/>
            <a:chExt cx="9010015" cy="1051560"/>
          </a:xfrm>
        </p:grpSpPr>
        <p:sp>
          <p:nvSpPr>
            <p:cNvPr id="3" name="object 3"/>
            <p:cNvSpPr/>
            <p:nvPr/>
          </p:nvSpPr>
          <p:spPr>
            <a:xfrm>
              <a:off x="292608" y="2545079"/>
              <a:ext cx="384175" cy="475615"/>
            </a:xfrm>
            <a:custGeom>
              <a:avLst/>
              <a:gdLst/>
              <a:ahLst/>
              <a:cxnLst/>
              <a:rect l="l" t="t" r="r" b="b"/>
              <a:pathLst>
                <a:path w="384175" h="475614">
                  <a:moveTo>
                    <a:pt x="384048" y="0"/>
                  </a:moveTo>
                  <a:lnTo>
                    <a:pt x="0" y="0"/>
                  </a:lnTo>
                  <a:lnTo>
                    <a:pt x="0" y="350520"/>
                  </a:lnTo>
                  <a:lnTo>
                    <a:pt x="0" y="475488"/>
                  </a:lnTo>
                  <a:lnTo>
                    <a:pt x="384048" y="475488"/>
                  </a:lnTo>
                  <a:lnTo>
                    <a:pt x="384048" y="350520"/>
                  </a:lnTo>
                  <a:lnTo>
                    <a:pt x="384048" y="0"/>
                  </a:lnTo>
                  <a:close/>
                </a:path>
              </a:pathLst>
            </a:custGeom>
            <a:solidFill>
              <a:srgbClr val="33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655" y="2545079"/>
              <a:ext cx="329184" cy="47548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17576" y="2968751"/>
              <a:ext cx="368935" cy="475615"/>
            </a:xfrm>
            <a:custGeom>
              <a:avLst/>
              <a:gdLst/>
              <a:ahLst/>
              <a:cxnLst/>
              <a:rect l="l" t="t" r="r" b="b"/>
              <a:pathLst>
                <a:path w="368934" h="475614">
                  <a:moveTo>
                    <a:pt x="368808" y="0"/>
                  </a:moveTo>
                  <a:lnTo>
                    <a:pt x="0" y="0"/>
                  </a:lnTo>
                  <a:lnTo>
                    <a:pt x="0" y="350520"/>
                  </a:lnTo>
                  <a:lnTo>
                    <a:pt x="0" y="475488"/>
                  </a:lnTo>
                  <a:lnTo>
                    <a:pt x="368808" y="475488"/>
                  </a:lnTo>
                  <a:lnTo>
                    <a:pt x="368808" y="350520"/>
                  </a:lnTo>
                  <a:lnTo>
                    <a:pt x="368808" y="0"/>
                  </a:lnTo>
                  <a:close/>
                </a:path>
              </a:pathLst>
            </a:custGeom>
            <a:solidFill>
              <a:srgbClr val="FFC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383" y="2968751"/>
              <a:ext cx="371856" cy="4754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2895600"/>
              <a:ext cx="560832" cy="4236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3984" y="2438399"/>
              <a:ext cx="33655" cy="1051560"/>
            </a:xfrm>
            <a:custGeom>
              <a:avLst/>
              <a:gdLst/>
              <a:ahLst/>
              <a:cxnLst/>
              <a:rect l="l" t="t" r="r" b="b"/>
              <a:pathLst>
                <a:path w="33654" h="1051560">
                  <a:moveTo>
                    <a:pt x="33528" y="877824"/>
                  </a:moveTo>
                  <a:lnTo>
                    <a:pt x="0" y="877824"/>
                  </a:lnTo>
                  <a:lnTo>
                    <a:pt x="0" y="1051560"/>
                  </a:lnTo>
                  <a:lnTo>
                    <a:pt x="33528" y="1051560"/>
                  </a:lnTo>
                  <a:lnTo>
                    <a:pt x="33528" y="877824"/>
                  </a:lnTo>
                  <a:close/>
                </a:path>
                <a:path w="33654" h="1051560">
                  <a:moveTo>
                    <a:pt x="33528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33528" y="822960"/>
                  </a:lnTo>
                  <a:lnTo>
                    <a:pt x="33528" y="0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6991" y="3261360"/>
              <a:ext cx="8692896" cy="5486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284104" y="530160"/>
            <a:ext cx="6202680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10" dirty="0">
                <a:solidFill>
                  <a:srgbClr val="333399"/>
                </a:solidFill>
                <a:latin typeface="Tahoma"/>
                <a:cs typeface="Tahoma"/>
              </a:rPr>
              <a:t>Satellite</a:t>
            </a:r>
            <a:r>
              <a:rPr sz="4400" spc="-50" dirty="0">
                <a:solidFill>
                  <a:srgbClr val="333399"/>
                </a:solidFill>
                <a:latin typeface="Tahoma"/>
                <a:cs typeface="Tahoma"/>
              </a:rPr>
              <a:t> </a:t>
            </a:r>
            <a:r>
              <a:rPr lang="en-US" sz="4400" spc="-5" dirty="0" smtClean="0">
                <a:solidFill>
                  <a:srgbClr val="333399"/>
                </a:solidFill>
                <a:latin typeface="Tahoma"/>
                <a:cs typeface="Tahoma"/>
              </a:rPr>
              <a:t>Subsystem</a:t>
            </a:r>
            <a:r>
              <a:rPr sz="4400" spc="-5" dirty="0" smtClean="0">
                <a:solidFill>
                  <a:srgbClr val="333399"/>
                </a:solidFill>
                <a:latin typeface="Tahoma"/>
                <a:cs typeface="Tahoma"/>
              </a:rPr>
              <a:t>s</a:t>
            </a:r>
            <a:endParaRPr sz="4400" dirty="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97352" y="334405"/>
            <a:ext cx="1578864" cy="95651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2399" y="1744740"/>
            <a:ext cx="8857487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/>
              <a:t>Irrespective of the intended application, </a:t>
            </a:r>
            <a:r>
              <a:rPr lang="en-US" sz="2800" b="1" dirty="0" smtClean="0"/>
              <a:t>be </a:t>
            </a:r>
            <a:r>
              <a:rPr lang="en-US" sz="2800" b="1" dirty="0"/>
              <a:t>it a communications satellite or a </a:t>
            </a:r>
            <a:endParaRPr lang="en-US" sz="2800" b="1" dirty="0" smtClean="0"/>
          </a:p>
          <a:p>
            <a:pPr algn="just"/>
            <a:r>
              <a:rPr lang="en-US" sz="2800" b="1" dirty="0" smtClean="0"/>
              <a:t>weather </a:t>
            </a:r>
            <a:r>
              <a:rPr lang="en-US" sz="2800" b="1" dirty="0"/>
              <a:t>forecasting satellite or even a  </a:t>
            </a:r>
            <a:r>
              <a:rPr lang="en-US" sz="2800" b="1" dirty="0" smtClean="0"/>
              <a:t>remote </a:t>
            </a:r>
            <a:r>
              <a:rPr lang="en-US" sz="2800" b="1" dirty="0"/>
              <a:t>sensing satellite, </a:t>
            </a:r>
            <a:r>
              <a:rPr lang="en-US" sz="2800" b="1" dirty="0" smtClean="0"/>
              <a:t>different </a:t>
            </a:r>
            <a:r>
              <a:rPr lang="en-US" sz="2800" b="1" dirty="0"/>
              <a:t>subsystems comprising a typical</a:t>
            </a:r>
          </a:p>
          <a:p>
            <a:pPr algn="just"/>
            <a:r>
              <a:rPr lang="en-US" sz="2800" b="1" dirty="0"/>
              <a:t>satellite include the following</a:t>
            </a:r>
            <a:r>
              <a:rPr lang="en-US" sz="2800" b="1" dirty="0" smtClean="0"/>
              <a:t>:</a:t>
            </a:r>
          </a:p>
          <a:p>
            <a:pPr algn="just"/>
            <a:endParaRPr lang="en-US" sz="1200" b="1" dirty="0" smtClean="0"/>
          </a:p>
          <a:p>
            <a:pPr algn="just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1. Mechanical structure</a:t>
            </a:r>
          </a:p>
          <a:p>
            <a:pPr algn="just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2. Propulsion subsystem</a:t>
            </a:r>
          </a:p>
          <a:p>
            <a:pPr algn="just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3. Thermal control subsystem</a:t>
            </a:r>
          </a:p>
          <a:p>
            <a:pPr algn="just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4. Power supply subsystem</a:t>
            </a:r>
          </a:p>
          <a:p>
            <a:pPr algn="just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5. Telemetry, tracking and command (TT&amp;C) subsystem</a:t>
            </a:r>
          </a:p>
          <a:p>
            <a:pPr algn="just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6. Attitude and orbit </a:t>
            </a:r>
            <a: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</a:rPr>
              <a:t>control </a:t>
            </a:r>
            <a:r>
              <a:rPr lang="en-US" sz="2000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subsystem (AOCS)</a:t>
            </a:r>
            <a:endParaRPr lang="en-US" sz="20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7. </a:t>
            </a:r>
            <a: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</a:rPr>
              <a:t>Payload </a:t>
            </a:r>
            <a: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</a:rPr>
              <a:t>subsystem/Communication </a:t>
            </a:r>
            <a:r>
              <a:rPr lang="en-US" sz="2000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subsystem</a:t>
            </a:r>
            <a:endParaRPr lang="en-US" sz="20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just"/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8. </a:t>
            </a:r>
            <a: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</a:rPr>
              <a:t>Antenna </a:t>
            </a:r>
            <a:r>
              <a:rPr lang="en-US" sz="2000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subsystem</a:t>
            </a:r>
            <a:endParaRPr lang="en-US" sz="3200" b="1" dirty="0" smtClean="0"/>
          </a:p>
          <a:p>
            <a:pPr algn="just"/>
            <a:endParaRPr lang="en-US" sz="3200" b="1" dirty="0"/>
          </a:p>
          <a:p>
            <a:pPr algn="just"/>
            <a:endParaRPr lang="en-US" sz="3200" b="1" dirty="0" smtClean="0"/>
          </a:p>
          <a:p>
            <a:pPr algn="just"/>
            <a:endParaRPr lang="en-US" sz="3200" b="1" dirty="0"/>
          </a:p>
          <a:p>
            <a:pPr algn="just"/>
            <a:endParaRPr lang="en-US" sz="3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3000" y="304800"/>
            <a:ext cx="5161915" cy="136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 smtClean="0"/>
              <a:t>I</a:t>
            </a:r>
            <a:r>
              <a:rPr lang="en-US" spc="-10" dirty="0" smtClean="0"/>
              <a:t>mportant subsystems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228601" y="2052066"/>
            <a:ext cx="8651494" cy="4494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870" marR="5080" indent="-344805" algn="just">
              <a:lnSpc>
                <a:spcPct val="150000"/>
              </a:lnSpc>
              <a:spcBef>
                <a:spcPts val="9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7505" algn="l"/>
              </a:tabLst>
            </a:pPr>
            <a:r>
              <a:rPr lang="en-US" sz="3200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lang="en-US" sz="3200" dirty="0" smtClean="0">
                <a:solidFill>
                  <a:schemeClr val="tx2"/>
                </a:solidFill>
                <a:latin typeface="Tahoma"/>
                <a:cs typeface="Tahoma"/>
              </a:rPr>
              <a:t>. Altitude </a:t>
            </a:r>
            <a:r>
              <a:rPr lang="en-US" sz="3200" dirty="0">
                <a:solidFill>
                  <a:schemeClr val="tx2"/>
                </a:solidFill>
                <a:latin typeface="Tahoma"/>
                <a:cs typeface="Tahoma"/>
              </a:rPr>
              <a:t>and orbit Control System (AOCS</a:t>
            </a:r>
            <a:r>
              <a:rPr lang="en-US" sz="3200" dirty="0" smtClean="0">
                <a:solidFill>
                  <a:schemeClr val="tx2"/>
                </a:solidFill>
                <a:latin typeface="Tahoma"/>
                <a:cs typeface="Tahoma"/>
              </a:rPr>
              <a:t>)</a:t>
            </a:r>
            <a:endParaRPr lang="en-US" sz="3200" dirty="0">
              <a:solidFill>
                <a:schemeClr val="tx2"/>
              </a:solidFill>
              <a:latin typeface="Tahoma"/>
              <a:cs typeface="Tahoma"/>
            </a:endParaRPr>
          </a:p>
          <a:p>
            <a:pPr marL="356870" marR="5080" indent="-344805" algn="just">
              <a:lnSpc>
                <a:spcPct val="150000"/>
              </a:lnSpc>
              <a:spcBef>
                <a:spcPts val="9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7505" algn="l"/>
              </a:tabLst>
            </a:pPr>
            <a:r>
              <a:rPr lang="en-US" sz="3200" dirty="0" smtClean="0">
                <a:solidFill>
                  <a:srgbClr val="FF0000"/>
                </a:solidFill>
                <a:latin typeface="Tahoma"/>
                <a:cs typeface="Tahoma"/>
              </a:rPr>
              <a:t>2</a:t>
            </a:r>
            <a:r>
              <a:rPr lang="en-US" sz="3200" dirty="0" smtClean="0">
                <a:solidFill>
                  <a:schemeClr val="tx2"/>
                </a:solidFill>
                <a:latin typeface="Tahoma"/>
                <a:cs typeface="Tahoma"/>
              </a:rPr>
              <a:t>.Telemetry,Tracking,Command and Monitoring (TT&amp;M)</a:t>
            </a:r>
            <a:endParaRPr lang="en-US" sz="3200" dirty="0">
              <a:solidFill>
                <a:schemeClr val="tx2"/>
              </a:solidFill>
              <a:latin typeface="Tahoma"/>
              <a:cs typeface="Tahoma"/>
            </a:endParaRPr>
          </a:p>
          <a:p>
            <a:pPr marL="356870" marR="5080" indent="-344805" algn="just">
              <a:lnSpc>
                <a:spcPct val="150000"/>
              </a:lnSpc>
              <a:spcBef>
                <a:spcPts val="9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7505" algn="l"/>
              </a:tabLst>
            </a:pPr>
            <a:r>
              <a:rPr lang="en-US" sz="3200" dirty="0" smtClean="0">
                <a:solidFill>
                  <a:srgbClr val="FF0000"/>
                </a:solidFill>
                <a:latin typeface="Tahoma"/>
                <a:cs typeface="Tahoma"/>
              </a:rPr>
              <a:t>3</a:t>
            </a:r>
            <a:r>
              <a:rPr lang="en-US" sz="3200" dirty="0" smtClean="0">
                <a:solidFill>
                  <a:schemeClr val="tx2"/>
                </a:solidFill>
                <a:latin typeface="Tahoma"/>
                <a:cs typeface="Tahoma"/>
              </a:rPr>
              <a:t>. </a:t>
            </a:r>
            <a:r>
              <a:rPr lang="en-US" sz="3200" dirty="0">
                <a:solidFill>
                  <a:schemeClr val="tx2"/>
                </a:solidFill>
                <a:latin typeface="Tahoma"/>
                <a:cs typeface="Tahoma"/>
              </a:rPr>
              <a:t>P</a:t>
            </a:r>
            <a:r>
              <a:rPr lang="en-US" sz="3200" dirty="0" smtClean="0">
                <a:solidFill>
                  <a:schemeClr val="tx2"/>
                </a:solidFill>
                <a:latin typeface="Tahoma"/>
                <a:cs typeface="Tahoma"/>
              </a:rPr>
              <a:t>ower </a:t>
            </a:r>
            <a:r>
              <a:rPr lang="en-US" sz="3200" dirty="0">
                <a:solidFill>
                  <a:schemeClr val="tx2"/>
                </a:solidFill>
                <a:latin typeface="Tahoma"/>
                <a:cs typeface="Tahoma"/>
              </a:rPr>
              <a:t>System</a:t>
            </a:r>
          </a:p>
          <a:p>
            <a:pPr marL="356870" marR="5080" indent="-344805" algn="just">
              <a:lnSpc>
                <a:spcPct val="150000"/>
              </a:lnSpc>
              <a:spcBef>
                <a:spcPts val="9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7505" algn="l"/>
              </a:tabLst>
            </a:pPr>
            <a:r>
              <a:rPr lang="en-US" sz="3200" dirty="0" smtClean="0">
                <a:solidFill>
                  <a:srgbClr val="FF0000"/>
                </a:solidFill>
                <a:latin typeface="Tahoma"/>
                <a:cs typeface="Tahoma"/>
              </a:rPr>
              <a:t>4</a:t>
            </a:r>
            <a:r>
              <a:rPr lang="en-US" sz="3200" dirty="0" smtClean="0">
                <a:solidFill>
                  <a:schemeClr val="tx2"/>
                </a:solidFill>
                <a:latin typeface="Tahoma"/>
                <a:cs typeface="Tahoma"/>
              </a:rPr>
              <a:t>. Communication </a:t>
            </a:r>
            <a:r>
              <a:rPr lang="en-US" sz="3200" dirty="0">
                <a:solidFill>
                  <a:schemeClr val="tx2"/>
                </a:solidFill>
                <a:latin typeface="Tahoma"/>
                <a:cs typeface="Tahoma"/>
              </a:rPr>
              <a:t>Subsystem</a:t>
            </a:r>
          </a:p>
          <a:p>
            <a:pPr marL="356870" marR="5080" indent="-344805" algn="just">
              <a:lnSpc>
                <a:spcPct val="150000"/>
              </a:lnSpc>
              <a:spcBef>
                <a:spcPts val="9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7505" algn="l"/>
              </a:tabLst>
            </a:pPr>
            <a:r>
              <a:rPr lang="en-US" sz="3200" dirty="0" smtClean="0">
                <a:solidFill>
                  <a:srgbClr val="FF0000"/>
                </a:solidFill>
                <a:latin typeface="Tahoma"/>
                <a:cs typeface="Tahoma"/>
              </a:rPr>
              <a:t>5</a:t>
            </a:r>
            <a:r>
              <a:rPr lang="en-US" sz="3200" dirty="0" smtClean="0">
                <a:solidFill>
                  <a:schemeClr val="tx2"/>
                </a:solidFill>
                <a:latin typeface="Tahoma"/>
                <a:cs typeface="Tahoma"/>
              </a:rPr>
              <a:t>. Satellite </a:t>
            </a:r>
            <a:r>
              <a:rPr lang="en-US" sz="3200" dirty="0">
                <a:solidFill>
                  <a:schemeClr val="tx2"/>
                </a:solidFill>
                <a:latin typeface="Tahoma"/>
                <a:cs typeface="Tahoma"/>
              </a:rPr>
              <a:t>Antennas</a:t>
            </a:r>
            <a:endParaRPr sz="3200" dirty="0">
              <a:solidFill>
                <a:schemeClr val="tx2"/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838200"/>
            <a:ext cx="657225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984199"/>
            <a:ext cx="7029450" cy="4752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609600"/>
            <a:ext cx="6781800" cy="58227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59" y="1780031"/>
            <a:ext cx="8226552" cy="335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914400"/>
            <a:ext cx="770116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0"/>
            <a:ext cx="6530542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609600"/>
            <a:ext cx="7166907" cy="52530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52400"/>
            <a:ext cx="7096125" cy="3657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581400"/>
            <a:ext cx="686752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085" y="990600"/>
            <a:ext cx="7401515" cy="4895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533400"/>
            <a:ext cx="7391400" cy="61671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838200"/>
            <a:ext cx="6629400" cy="4810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199" y="609600"/>
            <a:ext cx="7539789" cy="5124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990600"/>
            <a:ext cx="6124575" cy="4514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914400"/>
            <a:ext cx="706755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762000"/>
            <a:ext cx="7034213" cy="55468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52400"/>
            <a:ext cx="7010400" cy="55149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832" y="990600"/>
            <a:ext cx="7518168" cy="50530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189" y="838200"/>
            <a:ext cx="6781800" cy="4610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685800"/>
            <a:ext cx="6629400" cy="56775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57200"/>
            <a:ext cx="7381875" cy="55633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066800"/>
            <a:ext cx="6610350" cy="473887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116" y="914400"/>
            <a:ext cx="7898884" cy="49244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8382000" cy="2457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48000"/>
            <a:ext cx="8458200" cy="31718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914400"/>
            <a:ext cx="6457950" cy="48544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914400"/>
            <a:ext cx="6858000" cy="420528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914401"/>
            <a:ext cx="7429500" cy="469106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838200"/>
            <a:ext cx="7991475" cy="51911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969" y="944702"/>
            <a:ext cx="1971039" cy="695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10239</TotalTime>
  <Words>116</Words>
  <Application>Microsoft Office PowerPoint</Application>
  <PresentationFormat>On-screen Show (4:3)</PresentationFormat>
  <Paragraphs>22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Calibri</vt:lpstr>
      <vt:lpstr>Tahoma</vt:lpstr>
      <vt:lpstr>Wingdings</vt:lpstr>
      <vt:lpstr>Office Theme</vt:lpstr>
      <vt:lpstr>PowerPoint Presentation</vt:lpstr>
      <vt:lpstr>Important subsystems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Satellite Communications</dc:title>
  <cp:lastModifiedBy>HP</cp:lastModifiedBy>
  <cp:revision>22</cp:revision>
  <cp:lastPrinted>2023-03-24T10:56:14Z</cp:lastPrinted>
  <dcterms:created xsi:type="dcterms:W3CDTF">2023-03-24T09:40:49Z</dcterms:created>
  <dcterms:modified xsi:type="dcterms:W3CDTF">2025-04-25T07:59:47Z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2019-02-02T00:00:00Z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2023-03-24T00:00:00Z</vt:filetime>
  </property>
</Properties>
</file>