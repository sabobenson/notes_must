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4" r:id="rId3"/>
    <p:sldId id="265" r:id="rId4"/>
    <p:sldId id="262" r:id="rId5"/>
    <p:sldId id="266" r:id="rId6"/>
    <p:sldId id="297" r:id="rId7"/>
    <p:sldId id="267" r:id="rId8"/>
    <p:sldId id="268" r:id="rId9"/>
    <p:sldId id="269" r:id="rId10"/>
    <p:sldId id="298" r:id="rId11"/>
    <p:sldId id="270" r:id="rId12"/>
    <p:sldId id="271" r:id="rId13"/>
    <p:sldId id="273" r:id="rId14"/>
    <p:sldId id="274" r:id="rId15"/>
    <p:sldId id="275" r:id="rId16"/>
    <p:sldId id="272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6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48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70" autoAdjust="0"/>
    <p:restoredTop sz="94660"/>
  </p:normalViewPr>
  <p:slideViewPr>
    <p:cSldViewPr>
      <p:cViewPr varScale="1">
        <p:scale>
          <a:sx n="60" d="100"/>
          <a:sy n="60" d="100"/>
        </p:scale>
        <p:origin x="169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F07F5-87D9-4868-AAFB-807E050D3A90}" type="datetimeFigureOut">
              <a:rPr lang="en-US" smtClean="0"/>
              <a:pPr/>
              <a:t>4/4/2025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F1EB308A-33AB-43EA-861F-D0B3FACE98D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F07F5-87D9-4868-AAFB-807E050D3A90}" type="datetimeFigureOut">
              <a:rPr lang="en-US" smtClean="0"/>
              <a:pPr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B308A-33AB-43EA-861F-D0B3FACE98D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F07F5-87D9-4868-AAFB-807E050D3A90}" type="datetimeFigureOut">
              <a:rPr lang="en-US" smtClean="0"/>
              <a:pPr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F1EB308A-33AB-43EA-861F-D0B3FACE98D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F07F5-87D9-4868-AAFB-807E050D3A90}" type="datetimeFigureOut">
              <a:rPr lang="en-US" smtClean="0"/>
              <a:pPr/>
              <a:t>4/4/2025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B308A-33AB-43EA-861F-D0B3FACE98D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F07F5-87D9-4868-AAFB-807E050D3A90}" type="datetimeFigureOut">
              <a:rPr lang="en-US" smtClean="0"/>
              <a:pPr/>
              <a:t>4/4/2025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B308A-33AB-43EA-861F-D0B3FACE98D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F07F5-87D9-4868-AAFB-807E050D3A90}" type="datetimeFigureOut">
              <a:rPr lang="en-US" smtClean="0"/>
              <a:pPr/>
              <a:t>4/4/2025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B308A-33AB-43EA-861F-D0B3FACE98D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F07F5-87D9-4868-AAFB-807E050D3A90}" type="datetimeFigureOut">
              <a:rPr lang="en-US" smtClean="0"/>
              <a:pPr/>
              <a:t>4/4/2025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B308A-33AB-43EA-861F-D0B3FACE98D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F07F5-87D9-4868-AAFB-807E050D3A90}" type="datetimeFigureOut">
              <a:rPr lang="en-US" smtClean="0"/>
              <a:pPr/>
              <a:t>4/4/2025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B308A-33AB-43EA-861F-D0B3FACE98D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F07F5-87D9-4868-AAFB-807E050D3A90}" type="datetimeFigureOut">
              <a:rPr lang="en-US" smtClean="0"/>
              <a:pPr/>
              <a:t>4/4/2025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F1EB308A-33AB-43EA-861F-D0B3FACE98D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F07F5-87D9-4868-AAFB-807E050D3A90}" type="datetimeFigureOut">
              <a:rPr lang="en-US" smtClean="0"/>
              <a:pPr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B308A-33AB-43EA-861F-D0B3FACE98D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F07F5-87D9-4868-AAFB-807E050D3A90}" type="datetimeFigureOut">
              <a:rPr lang="en-US" smtClean="0"/>
              <a:pPr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B308A-33AB-43EA-861F-D0B3FACE98D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3BAF07F5-87D9-4868-AAFB-807E050D3A90}" type="datetimeFigureOut">
              <a:rPr lang="en-US" smtClean="0"/>
              <a:pPr/>
              <a:t>4/4/2025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F1EB308A-33AB-43EA-861F-D0B3FACE98D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frankibrahim25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457200" y="1524000"/>
            <a:ext cx="8229600" cy="1465870"/>
          </a:xfrm>
        </p:spPr>
        <p:txBody>
          <a:bodyPr/>
          <a:lstStyle/>
          <a:p>
            <a:r>
              <a:rPr lang="en-US" dirty="0">
                <a:latin typeface="Gill Sans MT" panose="020B0502020104020203" pitchFamily="34" charset="0"/>
              </a:rPr>
              <a:t> Active Directory Domain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133" y="3611940"/>
            <a:ext cx="84582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CODE: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E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8413</a:t>
            </a:r>
            <a:endParaRPr lang="en-US" sz="32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FACILITATOR: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FRANK  </a:t>
            </a:r>
          </a:p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EMAIL: </a:t>
            </a:r>
            <a:r>
              <a:rPr lang="en-US" sz="3200" dirty="0">
                <a:latin typeface="Times New Roman" pitchFamily="18" charset="0"/>
                <a:cs typeface="Times New Roman" pitchFamily="18" charset="0"/>
                <a:hlinkClick r:id="rId2"/>
              </a:rPr>
              <a:t>frankibrahim25@gmail.com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8238" y="457200"/>
            <a:ext cx="8915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Administration and Management </a:t>
            </a:r>
            <a:endParaRPr lang="en-US" sz="3600" b="1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060" y="72412"/>
            <a:ext cx="8991600" cy="73976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3000" b="1" dirty="0">
                <a:solidFill>
                  <a:srgbClr val="D3481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Domain controller(DC)</a:t>
            </a:r>
          </a:p>
          <a:p>
            <a:pPr marL="457200" indent="-457200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q"/>
            </a:pPr>
            <a:r>
              <a:rPr lang="en-US" altLang="en-US" sz="3000" dirty="0">
                <a:latin typeface="Gill Sans MT" panose="020B0502020104020203" pitchFamily="34" charset="0"/>
                <a:cs typeface="Times New Roman" pitchFamily="18" charset="0"/>
              </a:rPr>
              <a:t>A Domain is a logical grouping of </a:t>
            </a:r>
            <a:r>
              <a:rPr lang="en-US" altLang="en-US" sz="3000" dirty="0">
                <a:solidFill>
                  <a:srgbClr val="D3481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 panose="020B0502020104020203" pitchFamily="34" charset="0"/>
                <a:cs typeface="Times New Roman" pitchFamily="18" charset="0"/>
              </a:rPr>
              <a:t>users, systems, applications, and resources</a:t>
            </a:r>
            <a:r>
              <a:rPr lang="en-US" altLang="en-US" sz="3000" dirty="0">
                <a:latin typeface="Gill Sans MT" panose="020B0502020104020203" pitchFamily="34" charset="0"/>
                <a:cs typeface="Times New Roman" pitchFamily="18" charset="0"/>
              </a:rPr>
              <a:t> that are managed under a single administrative structure.</a:t>
            </a:r>
          </a:p>
          <a:p>
            <a:pPr marL="457200" indent="-457200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q"/>
            </a:pPr>
            <a:r>
              <a:rPr lang="en-US" altLang="en-US" sz="3000" dirty="0">
                <a:latin typeface="Gill Sans MT" panose="020B0502020104020203" pitchFamily="34" charset="0"/>
                <a:cs typeface="Times New Roman" pitchFamily="18" charset="0"/>
              </a:rPr>
              <a:t>This structure allows for centralized management of security policies and user access rights.</a:t>
            </a:r>
          </a:p>
          <a:p>
            <a:pPr marL="457200" indent="-457200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q"/>
            </a:pPr>
            <a:r>
              <a:rPr lang="en-US" altLang="en-US" sz="3000" dirty="0">
                <a:latin typeface="Gill Sans MT" panose="020B0502020104020203" pitchFamily="34" charset="0"/>
                <a:cs typeface="Times New Roman" pitchFamily="18" charset="0"/>
              </a:rPr>
              <a:t>Domains are primarily used in </a:t>
            </a:r>
            <a:r>
              <a:rPr lang="en-US" altLang="en-US" sz="3000" dirty="0">
                <a:solidFill>
                  <a:srgbClr val="D3481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 panose="020B0502020104020203" pitchFamily="34" charset="0"/>
                <a:cs typeface="Times New Roman" pitchFamily="18" charset="0"/>
              </a:rPr>
              <a:t>Microsoft Windows Active Directory</a:t>
            </a:r>
            <a:r>
              <a:rPr lang="en-US" altLang="en-US" sz="3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 panose="020B0502020104020203" pitchFamily="34" charset="0"/>
                <a:cs typeface="Times New Roman" pitchFamily="18" charset="0"/>
              </a:rPr>
              <a:t> </a:t>
            </a:r>
            <a:r>
              <a:rPr lang="en-US" altLang="en-US" sz="3000" dirty="0">
                <a:latin typeface="Gill Sans MT" panose="020B0502020104020203" pitchFamily="34" charset="0"/>
                <a:cs typeface="Times New Roman" pitchFamily="18" charset="0"/>
              </a:rPr>
              <a:t>environments to centralize and streamline the management of resources, security, and authentication.</a:t>
            </a:r>
          </a:p>
          <a:p>
            <a:pPr marL="457200" indent="-457200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q"/>
            </a:pPr>
            <a:endParaRPr lang="en-US" altLang="en-US" sz="3000" dirty="0">
              <a:latin typeface="Gill Sans MT" panose="020B0502020104020203" pitchFamily="34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340" y="79712"/>
            <a:ext cx="8991600" cy="6241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q"/>
              <a:defRPr/>
            </a:pPr>
            <a:r>
              <a:rPr lang="en-US" sz="3000" dirty="0">
                <a:latin typeface="Gill Sans MT" panose="020B0502020104020203" pitchFamily="34" charset="0"/>
                <a:cs typeface="Times New Roman" panose="02020603050405020304" pitchFamily="18" charset="0"/>
              </a:rPr>
              <a:t>A </a:t>
            </a:r>
            <a:r>
              <a:rPr lang="en-US" sz="3000" dirty="0">
                <a:solidFill>
                  <a:srgbClr val="D3481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 panose="020B0502020104020203" pitchFamily="34" charset="0"/>
                <a:cs typeface="Times New Roman" pitchFamily="18" charset="0"/>
              </a:rPr>
              <a:t>domain controller </a:t>
            </a:r>
            <a:r>
              <a:rPr lang="en-US" sz="3000" dirty="0">
                <a:latin typeface="Gill Sans MT" panose="020B0502020104020203" pitchFamily="34" charset="0"/>
                <a:cs typeface="Times New Roman" panose="02020603050405020304" pitchFamily="18" charset="0"/>
              </a:rPr>
              <a:t>is a server running the Active Directory Domain Services (AD DS) role.</a:t>
            </a:r>
          </a:p>
          <a:p>
            <a:pPr marL="457200" indent="-457200" algn="just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q"/>
              <a:defRPr/>
            </a:pPr>
            <a:r>
              <a:rPr lang="en-US" sz="3000" dirty="0">
                <a:latin typeface="Gill Sans MT" panose="020B0502020104020203" pitchFamily="34" charset="0"/>
                <a:cs typeface="Times New Roman" panose="02020603050405020304" pitchFamily="18" charset="0"/>
              </a:rPr>
              <a:t>A Domain Controller (DC) allows the creation of </a:t>
            </a:r>
            <a:r>
              <a:rPr lang="en-US" sz="3000" dirty="0">
                <a:solidFill>
                  <a:srgbClr val="D3481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 panose="020B0502020104020203" pitchFamily="34" charset="0"/>
                <a:cs typeface="Times New Roman" pitchFamily="18" charset="0"/>
              </a:rPr>
              <a:t>logical containers</a:t>
            </a:r>
            <a:r>
              <a:rPr lang="en-US" sz="3000" dirty="0">
                <a:latin typeface="Gill Sans MT" panose="020B0502020104020203" pitchFamily="34" charset="0"/>
                <a:cs typeface="Times New Roman" panose="02020603050405020304" pitchFamily="18" charset="0"/>
              </a:rPr>
              <a:t>. </a:t>
            </a:r>
          </a:p>
          <a:p>
            <a:pPr marL="457200" indent="-457200" algn="just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q"/>
              <a:defRPr/>
            </a:pPr>
            <a:r>
              <a:rPr lang="en-US" sz="3000" dirty="0">
                <a:latin typeface="Gill Sans MT" panose="020B0502020104020203" pitchFamily="34" charset="0"/>
                <a:cs typeface="Times New Roman" panose="02020603050405020304" pitchFamily="18" charset="0"/>
              </a:rPr>
              <a:t>These containers consist of users, computers and groups. </a:t>
            </a:r>
          </a:p>
          <a:p>
            <a:pPr marL="457200" indent="-457200" algn="just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q"/>
              <a:defRPr/>
            </a:pPr>
            <a:r>
              <a:rPr lang="en-US" sz="3000" dirty="0">
                <a:latin typeface="Gill Sans MT" panose="020B0502020104020203" pitchFamily="34" charset="0"/>
                <a:cs typeface="Times New Roman" panose="02020603050405020304" pitchFamily="18" charset="0"/>
              </a:rPr>
              <a:t>When you install Windows Server on a computer, you can choose to configure a specific </a:t>
            </a:r>
            <a:r>
              <a:rPr lang="en-US" sz="3000" dirty="0">
                <a:solidFill>
                  <a:srgbClr val="D3481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 panose="020B0502020104020203" pitchFamily="34" charset="0"/>
                <a:cs typeface="Times New Roman" pitchFamily="18" charset="0"/>
              </a:rPr>
              <a:t>server role </a:t>
            </a:r>
            <a:r>
              <a:rPr lang="en-US" sz="3000" dirty="0">
                <a:latin typeface="Gill Sans MT" panose="020B0502020104020203" pitchFamily="34" charset="0"/>
                <a:cs typeface="Times New Roman" panose="02020603050405020304" pitchFamily="18" charset="0"/>
              </a:rPr>
              <a:t>for that computer.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340" y="79712"/>
            <a:ext cx="8991600" cy="6479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000" b="1" dirty="0">
                <a:solidFill>
                  <a:srgbClr val="D3481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 panose="020B0502020104020203" pitchFamily="34" charset="0"/>
                <a:cs typeface="Times New Roman" pitchFamily="18" charset="0"/>
              </a:rPr>
              <a:t>Active Directory Domain Services (AD DS)</a:t>
            </a:r>
          </a:p>
          <a:p>
            <a:pPr marL="457200" indent="-457200" algn="just" fontAlgn="auto">
              <a:lnSpc>
                <a:spcPct val="150000"/>
              </a:lnSpc>
              <a:spcAft>
                <a:spcPts val="0"/>
              </a:spcAft>
              <a:buClr>
                <a:srgbClr val="D34817"/>
              </a:buClr>
              <a:buFont typeface="Wingdings" panose="05000000000000000000" pitchFamily="2" charset="2"/>
              <a:buChar char="q"/>
              <a:defRPr/>
            </a:pPr>
            <a:r>
              <a:rPr lang="en-US" sz="2800" dirty="0">
                <a:latin typeface="Gill Sans MT" panose="020B0502020104020203" pitchFamily="34" charset="0"/>
                <a:cs typeface="Times New Roman" pitchFamily="18" charset="0"/>
              </a:rPr>
              <a:t>A directory is a hierarchical structure that stores information about objects on the network.</a:t>
            </a:r>
          </a:p>
          <a:p>
            <a:pPr marL="457200" indent="-457200" algn="just" fontAlgn="auto">
              <a:lnSpc>
                <a:spcPct val="150000"/>
              </a:lnSpc>
              <a:spcAft>
                <a:spcPts val="0"/>
              </a:spcAft>
              <a:buClr>
                <a:srgbClr val="D34817"/>
              </a:buClr>
              <a:buFont typeface="Wingdings" panose="05000000000000000000" pitchFamily="2" charset="2"/>
              <a:buChar char="q"/>
              <a:defRPr/>
            </a:pPr>
            <a:r>
              <a:rPr lang="en-US" sz="2800" dirty="0">
                <a:latin typeface="Gill Sans MT" panose="020B0502020104020203" pitchFamily="34" charset="0"/>
                <a:cs typeface="Times New Roman" pitchFamily="18" charset="0"/>
              </a:rPr>
              <a:t>A directory service, provides the methods for </a:t>
            </a:r>
            <a:r>
              <a:rPr lang="en-US" sz="3000" dirty="0">
                <a:solidFill>
                  <a:srgbClr val="D3481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 panose="020B0502020104020203" pitchFamily="34" charset="0"/>
                <a:cs typeface="Times New Roman" pitchFamily="18" charset="0"/>
              </a:rPr>
              <a:t>storing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 panose="020B0502020104020203" pitchFamily="34" charset="0"/>
                <a:cs typeface="Times New Roman" pitchFamily="18" charset="0"/>
              </a:rPr>
              <a:t> </a:t>
            </a:r>
            <a:r>
              <a:rPr lang="en-US" sz="3000" dirty="0">
                <a:solidFill>
                  <a:srgbClr val="D3481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 panose="020B0502020104020203" pitchFamily="34" charset="0"/>
                <a:cs typeface="Times New Roman" pitchFamily="18" charset="0"/>
              </a:rPr>
              <a:t>directory data </a:t>
            </a:r>
            <a:r>
              <a:rPr lang="en-US" sz="2800" dirty="0">
                <a:latin typeface="Gill Sans MT" panose="020B0502020104020203" pitchFamily="34" charset="0"/>
                <a:cs typeface="Times New Roman" pitchFamily="18" charset="0"/>
              </a:rPr>
              <a:t>and making this data </a:t>
            </a:r>
            <a:r>
              <a:rPr lang="en-US" sz="3000" dirty="0">
                <a:solidFill>
                  <a:srgbClr val="D3481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 panose="020B0502020104020203" pitchFamily="34" charset="0"/>
                <a:cs typeface="Times New Roman" pitchFamily="18" charset="0"/>
              </a:rPr>
              <a:t>available</a:t>
            </a:r>
            <a:r>
              <a:rPr lang="en-US" sz="2800" dirty="0">
                <a:latin typeface="Gill Sans MT" panose="020B0502020104020203" pitchFamily="34" charset="0"/>
                <a:cs typeface="Times New Roman" pitchFamily="18" charset="0"/>
              </a:rPr>
              <a:t> to network users and administrators. </a:t>
            </a:r>
          </a:p>
          <a:p>
            <a:pPr marL="457200" indent="-457200" algn="just" fontAlgn="auto">
              <a:lnSpc>
                <a:spcPct val="150000"/>
              </a:lnSpc>
              <a:spcAft>
                <a:spcPts val="0"/>
              </a:spcAft>
              <a:buClr>
                <a:srgbClr val="D34817"/>
              </a:buClr>
              <a:buFont typeface="Wingdings" panose="05000000000000000000" pitchFamily="2" charset="2"/>
              <a:buChar char="q"/>
              <a:defRPr/>
            </a:pPr>
            <a:r>
              <a:rPr lang="en-US" sz="2800" dirty="0">
                <a:latin typeface="Gill Sans MT" panose="020B0502020104020203" pitchFamily="34" charset="0"/>
                <a:cs typeface="Times New Roman" pitchFamily="18" charset="0"/>
              </a:rPr>
              <a:t>Active Directory (AD) is a directory service developed by Microsoft, primarily used for managing </a:t>
            </a:r>
            <a:r>
              <a:rPr lang="en-US" sz="3000" dirty="0">
                <a:solidFill>
                  <a:srgbClr val="D3481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 panose="020B0502020104020203" pitchFamily="34" charset="0"/>
                <a:cs typeface="Times New Roman" pitchFamily="18" charset="0"/>
              </a:rPr>
              <a:t>permissions</a:t>
            </a:r>
            <a:r>
              <a:rPr lang="en-US" sz="2800" dirty="0">
                <a:latin typeface="Gill Sans MT" panose="020B0502020104020203" pitchFamily="34" charset="0"/>
                <a:cs typeface="Times New Roman" pitchFamily="18" charset="0"/>
              </a:rPr>
              <a:t> and </a:t>
            </a:r>
            <a:r>
              <a:rPr lang="en-US" sz="3000" dirty="0">
                <a:solidFill>
                  <a:srgbClr val="D3481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 panose="020B0502020104020203" pitchFamily="34" charset="0"/>
                <a:cs typeface="Times New Roman" pitchFamily="18" charset="0"/>
              </a:rPr>
              <a:t>access</a:t>
            </a:r>
            <a:r>
              <a:rPr lang="en-US" sz="2800" dirty="0">
                <a:latin typeface="Gill Sans MT" panose="020B0502020104020203" pitchFamily="34" charset="0"/>
                <a:cs typeface="Times New Roman" pitchFamily="18" charset="0"/>
              </a:rPr>
              <a:t> to network resources within Windows domain networks.</a:t>
            </a:r>
            <a:endParaRPr lang="en-US" sz="3000" dirty="0">
              <a:solidFill>
                <a:srgbClr val="D3481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MT" panose="020B0502020104020203" pitchFamily="34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340" y="85573"/>
            <a:ext cx="9073660" cy="6756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q"/>
            </a:pPr>
            <a:r>
              <a:rPr lang="en-US" sz="3000" dirty="0">
                <a:latin typeface="Gill Sans MT" panose="020B0502020104020203" pitchFamily="34" charset="0"/>
                <a:cs typeface="Times New Roman" pitchFamily="18" charset="0"/>
              </a:rPr>
              <a:t>Active directory provide an authentication and authorization systems to network resources.</a:t>
            </a:r>
          </a:p>
          <a:p>
            <a:pPr marL="457200" indent="-457200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q"/>
            </a:pPr>
            <a:r>
              <a:rPr lang="en-US" sz="3000" dirty="0">
                <a:latin typeface="Gill Sans MT" panose="020B0502020104020203" pitchFamily="34" charset="0"/>
                <a:cs typeface="Times New Roman" pitchFamily="18" charset="0"/>
              </a:rPr>
              <a:t>The information stored in Active Directory  is referred to </a:t>
            </a:r>
            <a:r>
              <a:rPr lang="en-US" sz="3000" dirty="0">
                <a:solidFill>
                  <a:srgbClr val="D3481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 panose="020B0502020104020203" pitchFamily="34" charset="0"/>
                <a:cs typeface="Times New Roman" pitchFamily="18" charset="0"/>
              </a:rPr>
              <a:t>Active Directory objects</a:t>
            </a:r>
            <a:r>
              <a:rPr lang="en-US" sz="3000" dirty="0">
                <a:latin typeface="Gill Sans MT" panose="020B0502020104020203" pitchFamily="34" charset="0"/>
                <a:cs typeface="Times New Roman" pitchFamily="18" charset="0"/>
              </a:rPr>
              <a:t> and makes this information easy for administrators and users to find and use. </a:t>
            </a:r>
          </a:p>
          <a:p>
            <a:pPr marL="457200" indent="-457200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q"/>
            </a:pPr>
            <a:r>
              <a:rPr lang="en-US" sz="3000" dirty="0">
                <a:solidFill>
                  <a:srgbClr val="D3481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 panose="020B0502020104020203" pitchFamily="34" charset="0"/>
                <a:cs typeface="Times New Roman" pitchFamily="18" charset="0"/>
              </a:rPr>
              <a:t>Active Directory Objects: </a:t>
            </a:r>
            <a:r>
              <a:rPr lang="en-US" sz="2800" dirty="0">
                <a:latin typeface="Gill Sans MT" panose="020B0502020104020203" pitchFamily="34" charset="0"/>
                <a:cs typeface="Times New Roman" pitchFamily="18" charset="0"/>
              </a:rPr>
              <a:t>These are entities within AD that represent users, groups, computers, printers, and other resources. Each object has attributes that define its characteristics and permissions.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B91C9-E02E-6BBF-41F4-628205476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82C173-0AD5-A7C8-41CD-C6249FA5588B}"/>
              </a:ext>
            </a:extLst>
          </p:cNvPr>
          <p:cNvSpPr txBox="1"/>
          <p:nvPr/>
        </p:nvSpPr>
        <p:spPr>
          <a:xfrm>
            <a:off x="70340" y="85573"/>
            <a:ext cx="9073660" cy="52793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q"/>
            </a:pPr>
            <a:r>
              <a:rPr lang="en-US" sz="3000" dirty="0">
                <a:latin typeface="Gill Sans MT" panose="020B0502020104020203" pitchFamily="34" charset="0"/>
                <a:cs typeface="Times New Roman" pitchFamily="18" charset="0"/>
              </a:rPr>
              <a:t>Inside the domain objects are classified into organizational units(Ous).</a:t>
            </a:r>
          </a:p>
          <a:p>
            <a:pPr marL="457200" indent="-457200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q"/>
            </a:pPr>
            <a:r>
              <a:rPr lang="en-US" sz="3000" dirty="0">
                <a:solidFill>
                  <a:srgbClr val="D3481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 panose="020B0502020104020203" pitchFamily="34" charset="0"/>
                <a:cs typeface="Times New Roman" pitchFamily="18" charset="0"/>
              </a:rPr>
              <a:t>Organizational Units (OUs): </a:t>
            </a:r>
            <a:r>
              <a:rPr lang="en-US" sz="2800" dirty="0">
                <a:latin typeface="Gill Sans MT" panose="020B0502020104020203" pitchFamily="34" charset="0"/>
                <a:cs typeface="Times New Roman" pitchFamily="18" charset="0"/>
              </a:rPr>
              <a:t>OUs are container objects within Active Directory that allow administrators to group related objects together. </a:t>
            </a:r>
          </a:p>
          <a:p>
            <a:pPr marL="457200" indent="-457200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Gill Sans MT" panose="020B0502020104020203" pitchFamily="34" charset="0"/>
                <a:cs typeface="Times New Roman" pitchFamily="18" charset="0"/>
              </a:rPr>
              <a:t>They provide a way to organize users, computers, and other resources based on common characteristics such as department, location, or function.</a:t>
            </a:r>
          </a:p>
        </p:txBody>
      </p:sp>
    </p:spTree>
    <p:extLst>
      <p:ext uri="{BB962C8B-B14F-4D97-AF65-F5344CB8AC3E}">
        <p14:creationId xmlns:p14="http://schemas.microsoft.com/office/powerpoint/2010/main" val="37857103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340" y="85573"/>
            <a:ext cx="9073660" cy="6243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srgbClr val="D34817"/>
              </a:buClr>
            </a:pPr>
            <a:r>
              <a:rPr lang="en-US" sz="3000" b="1" dirty="0">
                <a:solidFill>
                  <a:srgbClr val="D3481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 panose="020B0502020104020203" pitchFamily="34" charset="0"/>
                <a:cs typeface="Times New Roman" pitchFamily="18" charset="0"/>
              </a:rPr>
              <a:t>Active Directory Forest</a:t>
            </a:r>
          </a:p>
          <a:p>
            <a:pPr marL="457200" indent="-457200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q"/>
            </a:pPr>
            <a:r>
              <a:rPr lang="en-US" sz="3000" dirty="0">
                <a:latin typeface="Gill Sans MT" panose="020B0502020104020203" pitchFamily="34" charset="0"/>
                <a:cs typeface="Times New Roman" pitchFamily="18" charset="0"/>
              </a:rPr>
              <a:t>An Active Directory forest is the highest level of organization within the Active Directory (AD) structure, serving as a container for one or more domains that share a common schema and configuration. </a:t>
            </a:r>
          </a:p>
          <a:p>
            <a:pPr marL="457200" indent="-457200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q"/>
            </a:pPr>
            <a:r>
              <a:rPr lang="en-US" sz="3000" dirty="0">
                <a:latin typeface="Gill Sans MT" panose="020B0502020104020203" pitchFamily="34" charset="0"/>
                <a:cs typeface="Times New Roman" pitchFamily="18" charset="0"/>
              </a:rPr>
              <a:t>It represents a security boundary and provides a framework for managing network resources across multiple domains.</a:t>
            </a:r>
            <a:endParaRPr lang="en-US" sz="2800" dirty="0">
              <a:latin typeface="Gill Sans MT" panose="020B0502020104020203" pitchFamily="34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709879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340" y="85573"/>
            <a:ext cx="9073660" cy="6874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q"/>
            </a:pPr>
            <a:r>
              <a:rPr lang="en-US" sz="2700" dirty="0">
                <a:latin typeface="Gill Sans MT" panose="020B0502020104020203" pitchFamily="34" charset="0"/>
                <a:cs typeface="Times New Roman" pitchFamily="18" charset="0"/>
              </a:rPr>
              <a:t>A forest can contain multiple domains, each of which can have its own organizational units (OUs), user accounts, and resources. </a:t>
            </a:r>
          </a:p>
          <a:p>
            <a:pPr marL="457200" indent="-457200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q"/>
            </a:pPr>
            <a:r>
              <a:rPr lang="en-US" sz="2700" dirty="0">
                <a:latin typeface="Gill Sans MT" panose="020B0502020104020203" pitchFamily="34" charset="0"/>
                <a:cs typeface="Times New Roman" pitchFamily="18" charset="0"/>
              </a:rPr>
              <a:t>All domains within a forest share a common schema, which defines the types of objects that can exist in the directory and their attributes. </a:t>
            </a:r>
          </a:p>
          <a:p>
            <a:pPr marL="457200" indent="-457200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q"/>
            </a:pPr>
            <a:r>
              <a:rPr lang="en-US" sz="2700" dirty="0">
                <a:latin typeface="Gill Sans MT" panose="020B0502020104020203" pitchFamily="34" charset="0"/>
                <a:cs typeface="Times New Roman" pitchFamily="18" charset="0"/>
              </a:rPr>
              <a:t>This ensures consistency in how data is structured and accessed across the domains.</a:t>
            </a:r>
          </a:p>
          <a:p>
            <a:pPr marL="457200" indent="-457200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q"/>
            </a:pPr>
            <a:r>
              <a:rPr lang="en-US" sz="2700" dirty="0">
                <a:latin typeface="Gill Sans MT" panose="020B0502020104020203" pitchFamily="34" charset="0"/>
                <a:cs typeface="Times New Roman" pitchFamily="18" charset="0"/>
              </a:rPr>
              <a:t>The forest acts as a security boundary, meaning that objects in different forests cannot interact unless trust relationships are established.</a:t>
            </a:r>
          </a:p>
        </p:txBody>
      </p:sp>
    </p:spTree>
    <p:extLst>
      <p:ext uri="{BB962C8B-B14F-4D97-AF65-F5344CB8AC3E}">
        <p14:creationId xmlns:p14="http://schemas.microsoft.com/office/powerpoint/2010/main" val="11261575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340" y="85573"/>
            <a:ext cx="9073660" cy="6941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D3481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 panose="020B0502020104020203" pitchFamily="34" charset="0"/>
                <a:cs typeface="Times New Roman" pitchFamily="18" charset="0"/>
              </a:rPr>
              <a:t>Creating a new Active Directory Forest</a:t>
            </a:r>
          </a:p>
          <a:p>
            <a:pPr marL="457200" indent="-457200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Gill Sans MT" panose="020B0502020104020203" pitchFamily="34" charset="0"/>
                <a:cs typeface="Times New Roman" pitchFamily="18" charset="0"/>
              </a:rPr>
              <a:t>Install Active Directory Domain Services (AD DS)</a:t>
            </a:r>
          </a:p>
          <a:p>
            <a:pPr marL="914400" lvl="1" indent="-457200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§"/>
            </a:pPr>
            <a:r>
              <a:rPr lang="en-US" sz="2800" dirty="0">
                <a:latin typeface="Gill Sans MT" panose="020B0502020104020203" pitchFamily="34" charset="0"/>
                <a:cs typeface="Times New Roman" pitchFamily="18" charset="0"/>
              </a:rPr>
              <a:t>Open Server Manager.</a:t>
            </a:r>
          </a:p>
          <a:p>
            <a:pPr marL="914400" lvl="1" indent="-457200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§"/>
            </a:pPr>
            <a:r>
              <a:rPr lang="en-US" sz="2800" dirty="0">
                <a:latin typeface="Gill Sans MT" panose="020B0502020104020203" pitchFamily="34" charset="0"/>
                <a:cs typeface="Times New Roman" pitchFamily="18" charset="0"/>
              </a:rPr>
              <a:t>Click on Add Roles and Features.</a:t>
            </a:r>
          </a:p>
          <a:p>
            <a:pPr marL="914400" lvl="1" indent="-457200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§"/>
            </a:pPr>
            <a:r>
              <a:rPr lang="en-US" sz="2800" dirty="0">
                <a:latin typeface="Gill Sans MT" panose="020B0502020104020203" pitchFamily="34" charset="0"/>
                <a:cs typeface="Times New Roman" pitchFamily="18" charset="0"/>
              </a:rPr>
              <a:t>Follow the wizard to install the Active Directory Domain Services role.</a:t>
            </a:r>
          </a:p>
          <a:p>
            <a:pPr marL="457200" indent="-457200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Gill Sans MT" panose="020B0502020104020203" pitchFamily="34" charset="0"/>
                <a:cs typeface="Times New Roman" pitchFamily="18" charset="0"/>
              </a:rPr>
              <a:t>Promote Server to a Domain Controller:</a:t>
            </a:r>
          </a:p>
          <a:p>
            <a:pPr marL="914400" lvl="1" indent="-457200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§"/>
            </a:pPr>
            <a:r>
              <a:rPr lang="en-US" sz="2800" dirty="0">
                <a:latin typeface="Gill Sans MT" panose="020B0502020104020203" pitchFamily="34" charset="0"/>
                <a:cs typeface="Times New Roman" pitchFamily="18" charset="0"/>
              </a:rPr>
              <a:t>Return to Server Manager and click on the notification.</a:t>
            </a:r>
          </a:p>
          <a:p>
            <a:pPr marL="914400" lvl="1" indent="-457200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§"/>
            </a:pPr>
            <a:r>
              <a:rPr lang="en-US" sz="2800" dirty="0">
                <a:latin typeface="Gill Sans MT" panose="020B0502020104020203" pitchFamily="34" charset="0"/>
                <a:cs typeface="Times New Roman" pitchFamily="18" charset="0"/>
              </a:rPr>
              <a:t>Select Promote this server to a domain controller.</a:t>
            </a:r>
          </a:p>
          <a:p>
            <a:pPr marL="914400" lvl="1" indent="-457200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§"/>
            </a:pPr>
            <a:r>
              <a:rPr lang="en-US" sz="2800" dirty="0">
                <a:latin typeface="Gill Sans MT" panose="020B0502020104020203" pitchFamily="34" charset="0"/>
                <a:cs typeface="Times New Roman" pitchFamily="18" charset="0"/>
              </a:rPr>
              <a:t>Choose Add a new forest and enter your desired root domain name (e.g., yourdomain.com).</a:t>
            </a:r>
          </a:p>
        </p:txBody>
      </p:sp>
    </p:spTree>
    <p:extLst>
      <p:ext uri="{BB962C8B-B14F-4D97-AF65-F5344CB8AC3E}">
        <p14:creationId xmlns:p14="http://schemas.microsoft.com/office/powerpoint/2010/main" val="2203973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52004-15E2-7D9F-3328-BD7EB86AE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F2F0CE-475D-27F9-2991-492A6A31F2EC}"/>
              </a:ext>
            </a:extLst>
          </p:cNvPr>
          <p:cNvSpPr txBox="1"/>
          <p:nvPr/>
        </p:nvSpPr>
        <p:spPr>
          <a:xfrm>
            <a:off x="70340" y="85573"/>
            <a:ext cx="9073660" cy="6941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D3481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 panose="020B0502020104020203" pitchFamily="34" charset="0"/>
                <a:cs typeface="Times New Roman" pitchFamily="18" charset="0"/>
              </a:rPr>
              <a:t>Creating a new Active Directory Forest</a:t>
            </a:r>
          </a:p>
          <a:p>
            <a:pPr marL="457200" indent="-457200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Gill Sans MT" panose="020B0502020104020203" pitchFamily="34" charset="0"/>
                <a:cs typeface="Times New Roman" pitchFamily="18" charset="0"/>
              </a:rPr>
              <a:t>Configure Forest and Domain Settings:</a:t>
            </a:r>
          </a:p>
          <a:p>
            <a:pPr marL="914400" lvl="1" indent="-457200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§"/>
            </a:pPr>
            <a:r>
              <a:rPr lang="en-US" sz="2800" dirty="0">
                <a:latin typeface="Gill Sans MT" panose="020B0502020104020203" pitchFamily="34" charset="0"/>
                <a:cs typeface="Times New Roman" pitchFamily="18" charset="0"/>
              </a:rPr>
              <a:t>Set the forest and domain functional levels (choose the highest level supported by your environment).</a:t>
            </a:r>
          </a:p>
          <a:p>
            <a:pPr marL="914400" lvl="1" indent="-457200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§"/>
            </a:pPr>
            <a:r>
              <a:rPr lang="en-US" sz="2800" dirty="0">
                <a:latin typeface="Gill Sans MT" panose="020B0502020104020203" pitchFamily="34" charset="0"/>
                <a:cs typeface="Times New Roman" pitchFamily="18" charset="0"/>
              </a:rPr>
              <a:t>Specify the Directory Services Restore Mode (DSRM) password.</a:t>
            </a:r>
          </a:p>
          <a:p>
            <a:pPr marL="914400" lvl="1" indent="-457200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§"/>
            </a:pPr>
            <a:r>
              <a:rPr lang="en-US" sz="2800" dirty="0">
                <a:latin typeface="Gill Sans MT" panose="020B0502020104020203" pitchFamily="34" charset="0"/>
                <a:cs typeface="Times New Roman" pitchFamily="18" charset="0"/>
              </a:rPr>
              <a:t>Configure additional options as necessary, such as DNS settings.</a:t>
            </a:r>
          </a:p>
          <a:p>
            <a:pPr marL="457200" indent="-457200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Gill Sans MT" panose="020B0502020104020203" pitchFamily="34" charset="0"/>
                <a:cs typeface="Times New Roman" pitchFamily="18" charset="0"/>
              </a:rPr>
              <a:t>Review your configurations and click Install. The server will reboot upon completion, becoming the first domain controller and root of your new AD forest.</a:t>
            </a:r>
          </a:p>
        </p:txBody>
      </p:sp>
    </p:spTree>
    <p:extLst>
      <p:ext uri="{BB962C8B-B14F-4D97-AF65-F5344CB8AC3E}">
        <p14:creationId xmlns:p14="http://schemas.microsoft.com/office/powerpoint/2010/main" val="1585537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340" y="85573"/>
            <a:ext cx="9073660" cy="2086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srgbClr val="D34817"/>
              </a:buClr>
            </a:pPr>
            <a:r>
              <a:rPr lang="en-US" sz="3000" b="1" dirty="0">
                <a:solidFill>
                  <a:srgbClr val="D3481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 panose="020B0502020104020203" pitchFamily="34" charset="0"/>
                <a:cs typeface="Times New Roman" pitchFamily="18" charset="0"/>
              </a:rPr>
              <a:t>Install and configure Active Directory</a:t>
            </a:r>
          </a:p>
          <a:p>
            <a:pPr marL="457200" indent="-457200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q"/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Navigate to the Windows Server Manager.</a:t>
            </a:r>
          </a:p>
          <a:p>
            <a:pPr marL="457200" indent="-457200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q"/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Click Add Roles and Features.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CC5C3B-1989-603F-BA62-15196A11C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2173863"/>
            <a:ext cx="6629400" cy="459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853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984" y="0"/>
            <a:ext cx="9073660" cy="1394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q"/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It will open Add Roles and Features wizard. Click Next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867AB2-92DB-AA85-11F4-A27950958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652587"/>
            <a:ext cx="6629399" cy="5205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371510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984" y="0"/>
            <a:ext cx="9073660" cy="661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Select the server from the server pool and click Next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A93CE6-6415-B437-6F5B-78C5D1BBF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143001"/>
            <a:ext cx="6857999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314488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984" y="0"/>
            <a:ext cx="9073660" cy="1394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q"/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Click Checkbox to select Active Directory Domain Services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D60D40-7DCC-F9BD-E56D-58CDB4C08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657350"/>
            <a:ext cx="7010399" cy="50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784472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340" y="19756"/>
            <a:ext cx="9073660" cy="701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q"/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On the popup Window, just click Add Features.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027B75-4125-A376-E8EB-CE038DF87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721615"/>
            <a:ext cx="7391399" cy="6116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872525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984" y="0"/>
            <a:ext cx="9073660" cy="1394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q"/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On the description window of Active Directory Domain Services, click Next.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31B4BA-1D11-C108-9B03-5DEF72FC5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647824"/>
            <a:ext cx="8001001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413775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984" y="0"/>
            <a:ext cx="9073660" cy="701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q"/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Click Install on the Confirmation window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5AACC9-1ADE-C5C6-1EB1-28D935E8E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01860"/>
            <a:ext cx="8381999" cy="6156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908058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984" y="0"/>
            <a:ext cx="9073660" cy="701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>
                <a:srgbClr val="D34817"/>
              </a:buClr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Installation process begins.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DB4C27-B628-532E-5B86-5B2DBDBF8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85" y="701858"/>
            <a:ext cx="8992032" cy="6156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134658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984" y="0"/>
            <a:ext cx="9073660" cy="1394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q"/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After installing AD DS Role, you can promote this Server to a Domain Controller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0CA392-BFF5-3E9C-6CDD-0377370EA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394356"/>
            <a:ext cx="8153399" cy="5158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918413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984" y="0"/>
            <a:ext cx="9073660" cy="1394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q"/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Select Add a new forest and give the Root domain name, ad.gpfs.net. Click Nex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CCE80D-C01A-5ACF-CF67-34530D1B7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94357"/>
            <a:ext cx="8762999" cy="5463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20722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984" y="0"/>
            <a:ext cx="9073660" cy="701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q"/>
            </a:pPr>
            <a:r>
              <a:rPr 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Enter the Directory Services Restore Mode password</a:t>
            </a:r>
            <a:endParaRPr lang="en-US" sz="3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5D0C31-BB82-0B4A-3A42-89A913189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1" y="701859"/>
            <a:ext cx="8763216" cy="6156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256629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984" y="0"/>
            <a:ext cx="9073660" cy="701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q"/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Ignore the warning message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C4C0C7-1F59-FDF1-7601-5A1D73437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701859"/>
            <a:ext cx="8763215" cy="6156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799125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984" y="0"/>
            <a:ext cx="9073660" cy="681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Use the default NetBIOS domain name and click Next</a:t>
            </a:r>
            <a:endParaRPr lang="en-US" sz="2900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DE36B3-67B9-3325-F81E-AC7DA39E7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1" y="681597"/>
            <a:ext cx="8763000" cy="6176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9891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984" y="0"/>
            <a:ext cx="9073660" cy="681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q"/>
            </a:pP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Use the default paths and click Next.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178826-F4FB-A1A4-09AB-53082E67D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84" y="681597"/>
            <a:ext cx="9068015" cy="5871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163481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984" y="0"/>
            <a:ext cx="9073660" cy="701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q"/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Review and click Next if no errors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D1D36F-07F5-2606-403A-29322B748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84" y="701859"/>
            <a:ext cx="9068015" cy="6156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641358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984" y="0"/>
            <a:ext cx="9073660" cy="701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q"/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Click Install and wait for the installation to finish.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BF528D-8CB5-DD80-6758-AB8980B4C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84" y="838200"/>
            <a:ext cx="9068015" cy="6019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130925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984" y="0"/>
            <a:ext cx="9073660" cy="33592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q"/>
            </a:pPr>
            <a:endParaRPr lang="en-US" sz="29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q"/>
            </a:pPr>
            <a:endParaRPr lang="en-US" sz="29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q"/>
            </a:pPr>
            <a:endParaRPr lang="en-US" sz="29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q"/>
            </a:pPr>
            <a:endParaRPr lang="en-US" sz="29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150000"/>
              </a:lnSpc>
              <a:buClr>
                <a:srgbClr val="D34817"/>
              </a:buClr>
            </a:pP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The Domain Controller is now set up.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3127080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984" y="0"/>
            <a:ext cx="9073660" cy="6293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solidFill>
                  <a:srgbClr val="D3481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Features of server operating systems  </a:t>
            </a:r>
          </a:p>
          <a:p>
            <a:pPr marL="457200" indent="-457200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Multi-User Support: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Server OS can handle multiple users at once, managing resources efficiently to ensure smooth operation during peak usage times.</a:t>
            </a:r>
          </a:p>
          <a:p>
            <a:pPr marL="457200" indent="-457200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Security and Access Control: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Robust security features allow administrators to set permissions and control access to sensitive data, protecting against unauthorized access.</a:t>
            </a:r>
          </a:p>
          <a:p>
            <a:pPr marL="457200" indent="-457200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Resource Management: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These operating systems optimize hardware resources (CPU, memory, storage) for maximum efficiency and performance.</a:t>
            </a:r>
          </a:p>
        </p:txBody>
      </p:sp>
    </p:spTree>
    <p:extLst>
      <p:ext uri="{BB962C8B-B14F-4D97-AF65-F5344CB8AC3E}">
        <p14:creationId xmlns:p14="http://schemas.microsoft.com/office/powerpoint/2010/main" val="227686667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984" y="0"/>
            <a:ext cx="9073660" cy="5549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q"/>
            </a:pPr>
            <a:r>
              <a:rPr 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Scalability and Reliability: 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Server OS are designed to scale easily with increased workloads and provide features like failover and backup to ensure continuous operation.</a:t>
            </a:r>
          </a:p>
          <a:p>
            <a:pPr marL="457200" indent="-457200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q"/>
            </a:pPr>
            <a:r>
              <a:rPr 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Networking Capabilities: 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They support various networking protocols, enabling communication between servers and clients for functions such as file sharing and email hosting.</a:t>
            </a:r>
          </a:p>
        </p:txBody>
      </p:sp>
    </p:spTree>
    <p:extLst>
      <p:ext uri="{BB962C8B-B14F-4D97-AF65-F5344CB8AC3E}">
        <p14:creationId xmlns:p14="http://schemas.microsoft.com/office/powerpoint/2010/main" val="329817862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984" y="0"/>
            <a:ext cx="9073660" cy="6498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solidFill>
                  <a:srgbClr val="D3481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Types of server operating systems</a:t>
            </a:r>
          </a:p>
          <a:p>
            <a:pPr marL="457200" indent="-457200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q"/>
            </a:pPr>
            <a:r>
              <a:rPr lang="en-US" sz="29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Windows server: 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Windows server is known for its user-friendly interface and integration with other Microsoft products.</a:t>
            </a:r>
          </a:p>
          <a:p>
            <a:pPr marL="457200" indent="-457200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q"/>
            </a:pP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 It supports enterprise-level management and supports Active Directory, group policies, and centralized domain management.</a:t>
            </a:r>
          </a:p>
          <a:p>
            <a:pPr marL="457200" indent="-457200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q"/>
            </a:pP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Versions of Windows Server include Windows Server </a:t>
            </a:r>
            <a:r>
              <a:rPr lang="en-US" sz="29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2016, 2019, 2022, and others, 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each offering enhanced features over its predecessor.</a:t>
            </a:r>
          </a:p>
        </p:txBody>
      </p:sp>
    </p:spTree>
    <p:extLst>
      <p:ext uri="{BB962C8B-B14F-4D97-AF65-F5344CB8AC3E}">
        <p14:creationId xmlns:p14="http://schemas.microsoft.com/office/powerpoint/2010/main" val="388195797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984" y="0"/>
            <a:ext cx="9073660" cy="6873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q"/>
            </a:pPr>
            <a:r>
              <a:rPr lang="en-US" sz="27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Linux Server: </a:t>
            </a:r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An open-source operating system that is highly regarded for its stability and security. </a:t>
            </a:r>
          </a:p>
          <a:p>
            <a:pPr marL="457200" indent="-457200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q"/>
            </a:pPr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Linux is widely used in web servers and enterprise applications due to its flexibility and cost-effectiveness.</a:t>
            </a:r>
          </a:p>
          <a:p>
            <a:pPr marL="457200" indent="-457200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q"/>
            </a:pPr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There are many Linux distributions tailored for servers, including </a:t>
            </a:r>
            <a:r>
              <a:rPr lang="en-US" sz="2700" i="1" dirty="0">
                <a:solidFill>
                  <a:srgbClr val="D34817"/>
                </a:solidFill>
                <a:latin typeface="Times New Roman" pitchFamily="18" charset="0"/>
                <a:cs typeface="Times New Roman" pitchFamily="18" charset="0"/>
              </a:rPr>
              <a:t>Ubuntu Server, CentOS/RHEL (Red Hat Enterprise Linux), Debian, Fedora Server, and SUSE Linux Enterprise Server.</a:t>
            </a:r>
          </a:p>
          <a:p>
            <a:pPr marL="457200" indent="-457200">
              <a:lnSpc>
                <a:spcPct val="150000"/>
              </a:lnSpc>
              <a:buClr>
                <a:srgbClr val="D34817"/>
              </a:buClr>
              <a:buFont typeface="Wingdings" panose="05000000000000000000" pitchFamily="2" charset="2"/>
              <a:buChar char="q"/>
            </a:pPr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Linux is highly customizable, often controlled via command-line interface (CLI), although graphical user interfaces (GUIs) are available for some distributions.</a:t>
            </a:r>
          </a:p>
        </p:txBody>
      </p:sp>
    </p:spTree>
    <p:extLst>
      <p:ext uri="{BB962C8B-B14F-4D97-AF65-F5344CB8AC3E}">
        <p14:creationId xmlns:p14="http://schemas.microsoft.com/office/powerpoint/2010/main" val="9845166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>
            <a:extLst>
              <a:ext uri="{FF2B5EF4-FFF2-40B4-BE49-F238E27FC236}">
                <a16:creationId xmlns:a16="http://schemas.microsoft.com/office/drawing/2014/main" id="{369B1EFA-FD51-A66A-5C45-762A068B5B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" y="381000"/>
            <a:ext cx="777240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D34817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+mj-ea"/>
                <a:cs typeface="+mj-cs"/>
              </a:rPr>
              <a:t>That’s all for today</a:t>
            </a:r>
          </a:p>
        </p:txBody>
      </p:sp>
      <p:pic>
        <p:nvPicPr>
          <p:cNvPr id="13" name="Picture 4">
            <a:extLst>
              <a:ext uri="{FF2B5EF4-FFF2-40B4-BE49-F238E27FC236}">
                <a16:creationId xmlns:a16="http://schemas.microsoft.com/office/drawing/2014/main" id="{CE5AF274-66F1-3C28-22C8-34A909CF4557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" y="1603375"/>
            <a:ext cx="2479675" cy="139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5">
            <a:extLst>
              <a:ext uri="{FF2B5EF4-FFF2-40B4-BE49-F238E27FC236}">
                <a16:creationId xmlns:a16="http://schemas.microsoft.com/office/drawing/2014/main" id="{D85FD44C-D845-D0E3-BFFE-F65D5F1C4D97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7963" y="3159125"/>
            <a:ext cx="2509837" cy="1411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6">
            <a:extLst>
              <a:ext uri="{FF2B5EF4-FFF2-40B4-BE49-F238E27FC236}">
                <a16:creationId xmlns:a16="http://schemas.microsoft.com/office/drawing/2014/main" id="{EAA1BD8E-B655-3077-2BB6-7F9052B56C7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0825" y="4979988"/>
            <a:ext cx="2873375" cy="161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47919167"/>
      </p:ext>
    </p:extLst>
  </p:cSld>
  <p:clrMapOvr>
    <a:masterClrMapping/>
  </p:clrMapOvr>
  <p:transition spd="slow">
    <p:push dir="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24327</TotalTime>
  <Words>1121</Words>
  <Application>Microsoft Office PowerPoint</Application>
  <PresentationFormat>On-screen Show (4:3)</PresentationFormat>
  <Paragraphs>83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Franklin Gothic Book</vt:lpstr>
      <vt:lpstr>Gill Sans MT</vt:lpstr>
      <vt:lpstr>Perpetua</vt:lpstr>
      <vt:lpstr>Times New Roman</vt:lpstr>
      <vt:lpstr>Wingdings</vt:lpstr>
      <vt:lpstr>Wingdings 2</vt:lpstr>
      <vt:lpstr>Equity</vt:lpstr>
      <vt:lpstr> Active Directory Domain Services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Rahma</dc:creator>
  <cp:lastModifiedBy>Ibrahim Frank</cp:lastModifiedBy>
  <cp:revision>463</cp:revision>
  <dcterms:created xsi:type="dcterms:W3CDTF">2016-11-13T04:57:18Z</dcterms:created>
  <dcterms:modified xsi:type="dcterms:W3CDTF">2025-04-04T04:14:31Z</dcterms:modified>
</cp:coreProperties>
</file>