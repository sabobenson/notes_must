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1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548-53F3-E53F-76A8-F457B1ECC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31FFB-933A-BD1B-FE16-84F1F5DD95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8073B-7658-7529-330A-12751697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852FA-C257-1744-D24B-E408FBF1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6AB47-265A-F83D-7E31-0D66645C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2862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EA89-758C-8D1F-DC0D-B794C65E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BBD0F-CBC5-6709-CCD0-290AEA730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06E4-CF7E-040A-873E-6A86D184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FE31-BED0-EE70-9C37-4EA31DB81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A145-39CF-C8FA-4933-68ADCF46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837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1C5A-68B5-AEA4-0F0C-1FD87706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62CB9-AB41-8D21-73A1-B4D7D8731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1E8BF-9033-E428-CFD2-54BCBFBC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29438-19B5-DF01-D93C-B07A5D44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39F0-FB02-B709-9644-25594F4A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22952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6CA2-B7D2-E60C-527D-C47A4DC1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4F602-0F01-05AB-0AE6-58DF0B4C9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7FD0E-6EB6-DD6A-F4C8-74B40818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9163E-1C13-AD14-F26C-A3D3BC2C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BB567-4DDC-A1D4-7121-2825A88F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244F5-C8C5-5057-5F81-A9240691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2551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AE0C-A4A1-8934-59CE-2A05800E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230DC-8FE2-F49F-2540-EF0490078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DDDE0-88FE-B3B7-68FB-C766F70C7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742D9-11E8-7C8A-BE4A-8457B20CA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20C2D7-0D71-5A71-0320-E2DDB1BE6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D6095-FB35-329D-BEEB-0B07FCC0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8DFB6-3646-1F14-4442-5CBF7819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B4EFFE-3FC7-26DC-5A1B-23FF83AF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01245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DF57D-7F35-B6B7-EC4A-49FD8D068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2ADD1-113B-ABAA-81F4-C7EC0287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95CD3-286C-030F-1B57-A4707325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796E8-3740-0A85-1945-CDBBE76A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98109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4EA5F-A7D1-EE0A-00E7-48C62E163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E59B27-3521-8BDE-38D5-3BE1F3EA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CDB34-75BF-4494-0B98-53C8940E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08325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DC4D-9115-A7C3-7091-EF4998FF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74B26-619C-75FD-AB91-39C72547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96981-F13A-BE80-545E-0CF8ED9A1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2F1A3-8DDA-F52C-C04F-4AB0DBB4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E0F8-E180-9A67-EAA8-AE91E8AC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504BE-A7ED-E947-77C3-B09E690F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518733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3454-AEEF-C6CB-A6A8-D48FCEC65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818BF-A751-EBF3-C1E8-CEDF3F276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9DC13-7465-D345-710C-A53499668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2BC1A-56F2-0190-2C64-31F7E174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C30FD-9B56-4529-3781-81286E2D0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A0D29-DE83-230E-F8DA-34DAE09B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62424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C6E3B-8671-D311-8264-668A1BB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01584-19CB-4FE6-CCA2-5E2D28CC9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2CC85-918D-7B3D-190F-23A226E0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9463-69C6-3F20-CDC5-972949187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6883-1418-B612-3AE5-DF2E6DF9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93281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459444-2CEF-7773-2173-8654E76BB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A4A41-E418-B53C-8D02-C7F7D82904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102E7-3657-AA69-064E-219FBDCF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7DBF0-0C34-2E65-EF8E-14730CDC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FCFB-C3E5-FE18-F454-8FD6B10E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518338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B13BE-6672-8EAB-3974-52ACFAA90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B4C3-3AEC-C5AE-0036-9D1BB2793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D5C97-5EAA-4FF8-6514-C43329E68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C561C-00AC-4A2C-9056-EA89ABAB437B}" type="datetimeFigureOut">
              <a:rPr lang="en-TZ" smtClean="0"/>
              <a:t>30/11/2024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CEEC7-18B1-4954-6FFA-C47DC1B48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47BC7-7AD9-5992-DC79-C3CE617AA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9F225-6DB2-4179-BAB4-246B63628F1C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9020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E5D1-B86F-9AFF-FF09-DA6C1C8C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095999"/>
          </a:xfrm>
        </p:spPr>
        <p:txBody>
          <a:bodyPr>
            <a:normAutofit/>
          </a:bodyPr>
          <a:lstStyle/>
          <a:p>
            <a:r>
              <a:rPr lang="en-US" b="1" dirty="0"/>
              <a:t>Professional Ethics and the Origin of Professions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Understanding Professions and Their Ethical Foundations</a:t>
            </a:r>
            <a:br>
              <a:rPr lang="en-US" b="1" dirty="0"/>
            </a:br>
            <a:br>
              <a:rPr lang="en-US" b="1" dirty="0"/>
            </a:b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52241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187A-4A10-E3EC-208F-51F448C29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65126"/>
            <a:ext cx="11099800" cy="972608"/>
          </a:xfrm>
        </p:spPr>
        <p:txBody>
          <a:bodyPr>
            <a:normAutofit fontScale="90000"/>
          </a:bodyPr>
          <a:lstStyle/>
          <a:p>
            <a:r>
              <a:rPr lang="en-US" dirty="0"/>
              <a:t>Understanding Professions and Their Ethical Foundations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367CC-F30F-8660-9DF5-D91B9144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337734"/>
            <a:ext cx="11938000" cy="52831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300" dirty="0"/>
              <a:t>A profession is a type of career or occupation that requires specialized education, training, and knowledge in a particular field.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300" dirty="0"/>
              <a:t>Professionals typically have a set of ethical and technical standards they are expected to follow and maintain throughout their careers.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300" dirty="0"/>
              <a:t> Examples of professions include </a:t>
            </a:r>
            <a:r>
              <a:rPr lang="en-US" sz="3300" b="1" i="1" dirty="0"/>
              <a:t>doctors, lawyers, engineers, accountants, architects, teachers</a:t>
            </a:r>
            <a:r>
              <a:rPr lang="en-US" sz="3300" dirty="0"/>
              <a:t>, and others.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300" dirty="0"/>
              <a:t>Professions often require a license or certification to practice legally and are typically regulated by a professional association or governing body. </a:t>
            </a:r>
            <a:endParaRPr lang="en-TZ" sz="3300" dirty="0"/>
          </a:p>
        </p:txBody>
      </p:sp>
    </p:spTree>
    <p:extLst>
      <p:ext uri="{BB962C8B-B14F-4D97-AF65-F5344CB8AC3E}">
        <p14:creationId xmlns:p14="http://schemas.microsoft.com/office/powerpoint/2010/main" val="2363450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C1F8-6AB5-A8A4-DF98-153E360C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240632"/>
            <a:ext cx="12031579" cy="63687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What Defines a Profession?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   Characteristics:</a:t>
            </a:r>
          </a:p>
          <a:p>
            <a:endParaRPr lang="en-US" dirty="0"/>
          </a:p>
          <a:p>
            <a:r>
              <a:rPr lang="en-US" dirty="0"/>
              <a:t>    Specialized knowledge and skills.</a:t>
            </a:r>
          </a:p>
          <a:p>
            <a:r>
              <a:rPr lang="en-US" dirty="0"/>
              <a:t>    Commitment to continuous learning and improvement.</a:t>
            </a:r>
          </a:p>
          <a:p>
            <a:r>
              <a:rPr lang="en-US" dirty="0"/>
              <a:t>    Adherence to a code of ethics.</a:t>
            </a:r>
          </a:p>
          <a:p>
            <a:r>
              <a:rPr lang="en-US" dirty="0"/>
              <a:t>    Service-oriented goals benefiting society.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Historical Development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Early professions: Medicine, law, clergy.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Expansion during the Industrial Revolution: Engineering, teaching.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era: IT, environmental sciences, data analytics.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79397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4644-2E88-4E17-A152-7BC6F2053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385011"/>
            <a:ext cx="11614484" cy="61922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Roles in Society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essential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 trust and accountability.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Solve complex societal challenges.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Examples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Public Health Decision</a:t>
            </a:r>
            <a:r>
              <a:rPr lang="en-US" dirty="0"/>
              <a:t>: Allocating healthcare resources in a way that benefits the majority, even if some individuals receive less 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Environmental Policy</a:t>
            </a:r>
            <a:r>
              <a:rPr lang="en-US" dirty="0"/>
              <a:t>: Implementing green energy policies that benefit society long-term, even if they have short-term costs.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53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BF2A-E03E-D131-376B-B4063AF45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6369"/>
          </a:xfrm>
        </p:spPr>
        <p:txBody>
          <a:bodyPr/>
          <a:lstStyle/>
          <a:p>
            <a:r>
              <a:rPr lang="en-GB" b="1" dirty="0"/>
              <a:t>Personal vs. Professional Ethics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DF827-88BD-EE5A-E2CB-38047077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331494"/>
            <a:ext cx="11502190" cy="53099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Personal Ethics:</a:t>
            </a:r>
          </a:p>
          <a:p>
            <a:pPr marL="0" indent="0">
              <a:buNone/>
            </a:pPr>
            <a:endParaRPr lang="en-US" sz="3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    Informal, based on individual values.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    Applies to all areas of life.</a:t>
            </a:r>
          </a:p>
          <a:p>
            <a:pPr marL="0" indent="0">
              <a:buNone/>
            </a:pP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3200" b="1" dirty="0"/>
              <a:t>Professional Ethics: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32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    Formalized in codes of conduct.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200" dirty="0"/>
              <a:t>    Specific to roles and responsibilities within a </a:t>
            </a:r>
            <a:r>
              <a:rPr lang="en-US" dirty="0"/>
              <a:t>profession.</a:t>
            </a:r>
          </a:p>
        </p:txBody>
      </p:sp>
    </p:spTree>
    <p:extLst>
      <p:ext uri="{BB962C8B-B14F-4D97-AF65-F5344CB8AC3E}">
        <p14:creationId xmlns:p14="http://schemas.microsoft.com/office/powerpoint/2010/main" val="3001075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A1DB-D9B7-3C64-3A26-6CEE3FE96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240632"/>
            <a:ext cx="11662610" cy="64810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4000" dirty="0"/>
              <a:t>Key Differences: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Accountability: Personal ethics are self-regulated;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 Professional ethics are enforced by governing bodies.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/>
              <a:t>  Scope: Personal ethics guide general behavior; professional ethics focus on workplace decisions.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42235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245C9-10D6-9367-CDD1-0AB0105DF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9" y="352926"/>
            <a:ext cx="11710736" cy="62082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Conflicts Between Personal and Professional Ethics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Common Conflicts: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Personal beliefs vs. organizational policies (e.g., whistleblowing).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Balancing loyalty to colleagues vs. duty to clients.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 journalist is personally against revealing a source’s identity but must comply with legal demands</a:t>
            </a:r>
            <a:r>
              <a:rPr lang="en-US" b="1" dirty="0"/>
              <a:t>.</a:t>
            </a:r>
            <a:endParaRPr lang="en-TZ" b="1" dirty="0"/>
          </a:p>
        </p:txBody>
      </p:sp>
    </p:spTree>
    <p:extLst>
      <p:ext uri="{BB962C8B-B14F-4D97-AF65-F5344CB8AC3E}">
        <p14:creationId xmlns:p14="http://schemas.microsoft.com/office/powerpoint/2010/main" val="2412248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A5582-8849-DB2F-F426-3CC4A9E7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8" y="365126"/>
            <a:ext cx="11065042" cy="1094706"/>
          </a:xfrm>
        </p:spPr>
        <p:txBody>
          <a:bodyPr>
            <a:normAutofit/>
          </a:bodyPr>
          <a:lstStyle/>
          <a:p>
            <a:r>
              <a:rPr lang="en-GB" b="1" dirty="0"/>
              <a:t>Purpose of Professions</a:t>
            </a:r>
            <a:endParaRPr lang="en-TZ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0EAC-9BE4-57F3-C8C9-238B97B0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58" y="1459832"/>
            <a:ext cx="11582400" cy="50330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Why Professions Exist: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To provide specialized services to address societal needs.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To ensure public trust through ethical standards and accountability.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To solve complex problems requiring expertise (e.g., legal disputes, health crises).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Example: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Engineers design safe infrastructure; teachers prepare future generations.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22055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0C33-9954-9E61-7863-8E5EBCF8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4" y="561474"/>
            <a:ext cx="11566358" cy="5999747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5100" b="1" dirty="0"/>
              <a:t>Importance of Professional Ethics</a:t>
            </a:r>
            <a:endParaRPr lang="en-US" sz="5100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100" b="1" dirty="0"/>
              <a:t>Builds Trust:</a:t>
            </a:r>
          </a:p>
          <a:p>
            <a:endParaRPr lang="en-US" sz="3100" dirty="0"/>
          </a:p>
          <a:p>
            <a:r>
              <a:rPr lang="en-US" sz="3100" dirty="0"/>
              <a:t>    Ethics ensures public confidence in professional services.</a:t>
            </a:r>
          </a:p>
          <a:p>
            <a:endParaRPr lang="en-US" sz="3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100" b="1" dirty="0"/>
              <a:t>Guides Behavior:</a:t>
            </a:r>
          </a:p>
          <a:p>
            <a:endParaRPr lang="en-US" sz="3100" dirty="0"/>
          </a:p>
          <a:p>
            <a:r>
              <a:rPr lang="en-US" sz="3100" dirty="0"/>
              <a:t>    Provides a framework for resolving dilemmas.</a:t>
            </a:r>
          </a:p>
          <a:p>
            <a:endParaRPr lang="en-US" sz="3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100" b="1" dirty="0"/>
              <a:t>Promotes Accountability:</a:t>
            </a:r>
          </a:p>
          <a:p>
            <a:endParaRPr lang="en-US" sz="3100" dirty="0"/>
          </a:p>
          <a:p>
            <a:r>
              <a:rPr lang="en-US" sz="3100" dirty="0"/>
              <a:t>    Holds professionals responsible for their actions.</a:t>
            </a:r>
          </a:p>
          <a:p>
            <a:endParaRPr lang="en-US" sz="31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3100" b="1" dirty="0"/>
              <a:t>Example:</a:t>
            </a:r>
          </a:p>
          <a:p>
            <a:endParaRPr lang="en-US" sz="3100" dirty="0"/>
          </a:p>
          <a:p>
            <a:r>
              <a:rPr lang="en-US" sz="3100" dirty="0"/>
              <a:t>    A doctor prioritizing patient confidentiality to maintain trust.</a:t>
            </a:r>
            <a:endParaRPr lang="en-TZ" sz="3100" dirty="0"/>
          </a:p>
        </p:txBody>
      </p:sp>
    </p:spTree>
    <p:extLst>
      <p:ext uri="{BB962C8B-B14F-4D97-AF65-F5344CB8AC3E}">
        <p14:creationId xmlns:p14="http://schemas.microsoft.com/office/powerpoint/2010/main" val="206295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C7DA-CEE4-FE8A-F9C5-921D7311F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674" y="474133"/>
            <a:ext cx="11646568" cy="615125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Evolution of Professional Ethics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Early Professions: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Rooted in religious and philosophical principles (e.g., Hippocratic Oath).</a:t>
            </a:r>
          </a:p>
          <a:p>
            <a:pPr marL="0" indent="0">
              <a:buNone/>
            </a:pP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Modern Professions: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Focus on specialized codes of conduct (e.g., IEEE for engineers).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Future Trends: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  Adapting to technological advancements (e.g., AI ethics).</a:t>
            </a:r>
          </a:p>
        </p:txBody>
      </p:sp>
    </p:spTree>
    <p:extLst>
      <p:ext uri="{BB962C8B-B14F-4D97-AF65-F5344CB8AC3E}">
        <p14:creationId xmlns:p14="http://schemas.microsoft.com/office/powerpoint/2010/main" val="1128333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EAA6-9E6A-43E8-2DBB-B841C26B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GB" dirty="0"/>
              <a:t>Case Study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6F2BE-9237-08BF-B90F-E0D7E6248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733" y="1168400"/>
            <a:ext cx="11032067" cy="55710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Case Study: The Theranos Scandal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Background:</a:t>
            </a:r>
          </a:p>
          <a:p>
            <a:r>
              <a:rPr lang="en-US" dirty="0"/>
              <a:t> Theranos, a health tech company, falsely claimed revolutionary blood-testing capabilities.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  Ethical Breach:</a:t>
            </a:r>
          </a:p>
          <a:p>
            <a:r>
              <a:rPr lang="en-US" dirty="0"/>
              <a:t> Misleading investors and endangering patients’ health.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Discussion Points:</a:t>
            </a:r>
          </a:p>
          <a:p>
            <a:r>
              <a:rPr lang="en-US" dirty="0"/>
              <a:t>How did the failure of professional ethics contribute to the scandal?</a:t>
            </a:r>
          </a:p>
          <a:p>
            <a:r>
              <a:rPr lang="en-US" dirty="0"/>
              <a:t>  What could have been done differently?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792931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E918-E028-F1A5-C31A-9431BCE7B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4400"/>
          </a:xfrm>
        </p:spPr>
        <p:txBody>
          <a:bodyPr/>
          <a:lstStyle/>
          <a:p>
            <a:r>
              <a:rPr lang="en-GB" dirty="0"/>
              <a:t>Codes of Conduct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2E6DC-8125-29CE-F76C-337C2D67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199" y="1185334"/>
            <a:ext cx="11700933" cy="53075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Codes of Conduct in Professions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Purpose:</a:t>
            </a:r>
          </a:p>
          <a:p>
            <a:r>
              <a:rPr lang="en-US" dirty="0"/>
              <a:t>        Ensure consistency in ethical behavior.</a:t>
            </a:r>
          </a:p>
          <a:p>
            <a:r>
              <a:rPr lang="en-US" dirty="0"/>
              <a:t>        Provide clear guidelines for professionals.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 Examples:</a:t>
            </a:r>
          </a:p>
          <a:p>
            <a:r>
              <a:rPr lang="en-US" dirty="0"/>
              <a:t>        Medical: Hippocratic Oath.</a:t>
            </a:r>
          </a:p>
          <a:p>
            <a:r>
              <a:rPr lang="en-US" dirty="0"/>
              <a:t>        IT: ACM Code of Ethics for computing professionals.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09867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5080-2348-67E5-A243-6195BA04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1008"/>
          </a:xfrm>
        </p:spPr>
        <p:txBody>
          <a:bodyPr/>
          <a:lstStyle/>
          <a:p>
            <a:r>
              <a:rPr lang="en-GB" dirty="0"/>
              <a:t>Tutorial Question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F5F21-9501-C444-F1F0-F05126579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134"/>
            <a:ext cx="10515600" cy="49408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Why is Professional Ethics Distinct from Personal Ethics?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Discussion Points:</a:t>
            </a:r>
          </a:p>
          <a:p>
            <a:r>
              <a:rPr lang="en-US" dirty="0"/>
              <a:t> Professional ethics are specific to roles; personal ethics are universal.</a:t>
            </a:r>
          </a:p>
          <a:p>
            <a:r>
              <a:rPr lang="en-US" dirty="0"/>
              <a:t>  Enforced by regulatory bodies to maintain accountability.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84694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333D7-EE3C-4630-D7E9-E29223DF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AEC72-EF91-7A5E-E558-9C77D0870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Professions are vital to addressing societal needs and building trust.</a:t>
            </a:r>
          </a:p>
          <a:p>
            <a:r>
              <a:rPr lang="en-US" dirty="0"/>
              <a:t>Professional ethics guide behavior and ensure accountability.</a:t>
            </a:r>
          </a:p>
          <a:p>
            <a:r>
              <a:rPr lang="en-US" dirty="0"/>
              <a:t>The evolution of ethics highlights the need for ongoing adaptation to societal changes.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16296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2250</TotalTime>
  <Words>714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Professional Ethics and the Origin of Professions  Understanding Professions and Their Ethical Foundations  </vt:lpstr>
      <vt:lpstr>Understanding Professions and Their Ethical Foundations</vt:lpstr>
      <vt:lpstr>PowerPoint Presentation</vt:lpstr>
      <vt:lpstr>PowerPoint Presentation</vt:lpstr>
      <vt:lpstr>Personal vs. Professional Ethics</vt:lpstr>
      <vt:lpstr>PowerPoint Presentation</vt:lpstr>
      <vt:lpstr>PowerPoint Presentation</vt:lpstr>
      <vt:lpstr>Purpose of Professions</vt:lpstr>
      <vt:lpstr>PowerPoint Presentation</vt:lpstr>
      <vt:lpstr>PowerPoint Presentation</vt:lpstr>
      <vt:lpstr>Case Study</vt:lpstr>
      <vt:lpstr>Codes of Conduct</vt:lpstr>
      <vt:lpstr>Tutorial Question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DR.MRINDOKO</dc:creator>
  <cp:lastModifiedBy>DR.MRINDOKO</cp:lastModifiedBy>
  <cp:revision>25</cp:revision>
  <dcterms:created xsi:type="dcterms:W3CDTF">2024-11-10T07:58:18Z</dcterms:created>
  <dcterms:modified xsi:type="dcterms:W3CDTF">2024-12-01T12:48:54Z</dcterms:modified>
</cp:coreProperties>
</file>