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2" d="100"/>
          <a:sy n="52" d="100"/>
        </p:scale>
        <p:origin x="1842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30628"/>
            <a:ext cx="8229600" cy="1119674"/>
          </a:xfrm>
        </p:spPr>
        <p:txBody>
          <a:bodyPr>
            <a:normAutofit/>
          </a:bodyPr>
          <a:lstStyle/>
          <a:p>
            <a:r>
              <a:rPr dirty="0"/>
              <a:t>What is Privacy?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89046"/>
            <a:ext cx="9144000" cy="5868954"/>
          </a:xfrm>
        </p:spPr>
        <p:txBody>
          <a:bodyPr>
            <a:normAutofit lnSpcReduction="10000"/>
          </a:bodyPr>
          <a:lstStyle/>
          <a:p>
            <a:r>
              <a:rPr dirty="0"/>
              <a:t>Definition: Privacy is the right to control access to personal information and make decisions about its use.</a:t>
            </a:r>
          </a:p>
          <a:p>
            <a:endParaRPr dirty="0"/>
          </a:p>
          <a:p>
            <a:r>
              <a:rPr dirty="0"/>
              <a:t>Importance:</a:t>
            </a:r>
          </a:p>
          <a:p>
            <a:r>
              <a:rPr dirty="0"/>
              <a:t>- Ensures freedom of expression and autonomy.</a:t>
            </a:r>
          </a:p>
          <a:p>
            <a:r>
              <a:rPr dirty="0"/>
              <a:t>- Protects individuals from misuse of their data in the digital age.</a:t>
            </a:r>
          </a:p>
          <a:p>
            <a:endParaRPr dirty="0"/>
          </a:p>
          <a:p>
            <a:r>
              <a:rPr dirty="0"/>
              <a:t>Example: Social media platforms collecting user data for targeted ads.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7713"/>
          </a:xfrm>
        </p:spPr>
        <p:txBody>
          <a:bodyPr/>
          <a:lstStyle/>
          <a:p>
            <a:r>
              <a:rPr dirty="0"/>
              <a:t>Data Protection Act 1998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35" y="1082352"/>
            <a:ext cx="8752114" cy="5501010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Overview:</a:t>
            </a:r>
          </a:p>
          <a:p>
            <a:r>
              <a:rPr dirty="0"/>
              <a:t>- Introduced in the UK to govern how personal data is handled.</a:t>
            </a:r>
          </a:p>
          <a:p>
            <a:r>
              <a:rPr dirty="0"/>
              <a:t>- Sets 8 Principles for data handling, such as:</a:t>
            </a:r>
          </a:p>
          <a:p>
            <a:r>
              <a:rPr dirty="0"/>
              <a:t>  1. Fair and lawful processing.</a:t>
            </a:r>
          </a:p>
          <a:p>
            <a:r>
              <a:rPr dirty="0"/>
              <a:t>  2. Data should be accurate and kept up-to-date.</a:t>
            </a:r>
          </a:p>
          <a:p>
            <a:r>
              <a:rPr dirty="0"/>
              <a:t>  3. Not kept longer than necessary.</a:t>
            </a:r>
          </a:p>
          <a:p>
            <a:r>
              <a:rPr dirty="0"/>
              <a:t>  4. Stored securely to prevent unauthorized access.</a:t>
            </a:r>
          </a:p>
          <a:p>
            <a:endParaRPr dirty="0"/>
          </a:p>
          <a:p>
            <a:r>
              <a:rPr dirty="0"/>
              <a:t>Example: An online store must keep customer data secure and delete it after it's no longer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95739"/>
          </a:xfrm>
        </p:spPr>
        <p:txBody>
          <a:bodyPr/>
          <a:lstStyle/>
          <a:p>
            <a:r>
              <a:rPr dirty="0"/>
              <a:t>Privacy Challenges in Digital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29" y="895740"/>
            <a:ext cx="8845419" cy="5747656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Ethical Challenges:</a:t>
            </a:r>
          </a:p>
          <a:p>
            <a:r>
              <a:rPr dirty="0"/>
              <a:t>- Companies may collect more data than necessary (data hoarding).</a:t>
            </a:r>
          </a:p>
          <a:p>
            <a:r>
              <a:rPr dirty="0"/>
              <a:t>- Lack of transparency: Users don’t know how their data is being used.</a:t>
            </a:r>
          </a:p>
          <a:p>
            <a:endParaRPr dirty="0"/>
          </a:p>
          <a:p>
            <a:r>
              <a:rPr dirty="0"/>
              <a:t>Practical Challenges:</a:t>
            </a:r>
          </a:p>
          <a:p>
            <a:r>
              <a:rPr dirty="0"/>
              <a:t>- Cybersecurity: Hackers can exploit vulnerabilities to steal data.</a:t>
            </a:r>
          </a:p>
          <a:p>
            <a:r>
              <a:rPr dirty="0"/>
              <a:t>- Global Nature: Data flows across borders, making regulation difficult.</a:t>
            </a:r>
          </a:p>
          <a:p>
            <a:endParaRPr dirty="0"/>
          </a:p>
          <a:p>
            <a:r>
              <a:rPr dirty="0"/>
              <a:t>Discussion Prompt: Why is balancing innovation and privacy so challenging?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2980"/>
          </a:xfrm>
        </p:spPr>
        <p:txBody>
          <a:bodyPr>
            <a:normAutofit fontScale="90000"/>
          </a:bodyPr>
          <a:lstStyle/>
          <a:p>
            <a:r>
              <a:rPr dirty="0"/>
              <a:t>General Data Protection Regulation (GDPR)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612" y="1212980"/>
            <a:ext cx="8957388" cy="564502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Key Features:</a:t>
            </a:r>
          </a:p>
          <a:p>
            <a:r>
              <a:rPr dirty="0"/>
              <a:t>- Introduced in 2018 to replace the Data Protection Act 1998.</a:t>
            </a:r>
          </a:p>
          <a:p>
            <a:r>
              <a:rPr dirty="0"/>
              <a:t>- Applies to all organizations processing data of EU citizens, regardless of location.</a:t>
            </a:r>
          </a:p>
          <a:p>
            <a:endParaRPr dirty="0"/>
          </a:p>
          <a:p>
            <a:r>
              <a:rPr dirty="0"/>
              <a:t>Key Provisions:</a:t>
            </a:r>
          </a:p>
          <a:p>
            <a:r>
              <a:rPr dirty="0"/>
              <a:t>- Right to access data (know what’s being collected).</a:t>
            </a:r>
          </a:p>
          <a:p>
            <a:r>
              <a:rPr dirty="0"/>
              <a:t>- Right to be forgotten (request deletion of personal data).</a:t>
            </a:r>
          </a:p>
          <a:p>
            <a:r>
              <a:rPr dirty="0"/>
              <a:t>- Consent must be freely given and specific.</a:t>
            </a:r>
          </a:p>
          <a:p>
            <a:endParaRPr dirty="0"/>
          </a:p>
          <a:p>
            <a:r>
              <a:rPr dirty="0"/>
              <a:t>Example: Websites must request cookie permissions before tracking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45029"/>
          </a:xfrm>
        </p:spPr>
        <p:txBody>
          <a:bodyPr/>
          <a:lstStyle/>
          <a:p>
            <a:r>
              <a:rPr dirty="0"/>
              <a:t>Types of Personal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951" y="1045030"/>
            <a:ext cx="8845419" cy="5579706"/>
          </a:xfrm>
        </p:spPr>
        <p:txBody>
          <a:bodyPr>
            <a:normAutofit fontScale="92500"/>
          </a:bodyPr>
          <a:lstStyle/>
          <a:p>
            <a:r>
              <a:rPr dirty="0"/>
              <a:t>Categories of Data:</a:t>
            </a:r>
          </a:p>
          <a:p>
            <a:r>
              <a:rPr dirty="0"/>
              <a:t>1. Basic Identifiers:</a:t>
            </a:r>
          </a:p>
          <a:p>
            <a:r>
              <a:rPr dirty="0"/>
              <a:t>   - Name, address, phone number.</a:t>
            </a:r>
          </a:p>
          <a:p>
            <a:r>
              <a:rPr dirty="0"/>
              <a:t>2. Sensitive Data:</a:t>
            </a:r>
          </a:p>
          <a:p>
            <a:r>
              <a:rPr dirty="0"/>
              <a:t>   - Medical records, religion, political opinions.</a:t>
            </a:r>
          </a:p>
          <a:p>
            <a:r>
              <a:rPr dirty="0"/>
              <a:t>3. Behavioral Data:</a:t>
            </a:r>
          </a:p>
          <a:p>
            <a:r>
              <a:rPr dirty="0"/>
              <a:t>   - Internet browsing habits, shopping preferences.</a:t>
            </a:r>
          </a:p>
          <a:p>
            <a:endParaRPr dirty="0"/>
          </a:p>
          <a:p>
            <a:r>
              <a:rPr dirty="0"/>
              <a:t>Activity for Students: Identify examples of data you have shared online.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77078"/>
          </a:xfrm>
        </p:spPr>
        <p:txBody>
          <a:bodyPr/>
          <a:lstStyle/>
          <a:p>
            <a:r>
              <a:rPr dirty="0"/>
              <a:t>Privacy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273" y="877078"/>
            <a:ext cx="8938727" cy="5747657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Concept:</a:t>
            </a:r>
          </a:p>
          <a:p>
            <a:r>
              <a:rPr dirty="0"/>
              <a:t>- Integrate privacy measures into systems from the start.</a:t>
            </a:r>
          </a:p>
          <a:p>
            <a:endParaRPr dirty="0"/>
          </a:p>
          <a:p>
            <a:r>
              <a:rPr dirty="0"/>
              <a:t>Principles:</a:t>
            </a:r>
          </a:p>
          <a:p>
            <a:r>
              <a:rPr dirty="0"/>
              <a:t>- Data Minimization: Collect only what is necessary.</a:t>
            </a:r>
          </a:p>
          <a:p>
            <a:r>
              <a:rPr dirty="0"/>
              <a:t>- Secure Defaults: Ensure systems are private by default.</a:t>
            </a:r>
          </a:p>
          <a:p>
            <a:r>
              <a:rPr dirty="0"/>
              <a:t>- Transparency: Inform users about how their data will be used.</a:t>
            </a:r>
          </a:p>
          <a:p>
            <a:endParaRPr dirty="0"/>
          </a:p>
          <a:p>
            <a:r>
              <a:rPr dirty="0"/>
              <a:t>Example: A messaging app encrypts all messages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7"/>
          </a:xfrm>
        </p:spPr>
        <p:txBody>
          <a:bodyPr>
            <a:normAutofit fontScale="90000"/>
          </a:bodyPr>
          <a:lstStyle/>
          <a:p>
            <a:r>
              <a:rPr dirty="0"/>
              <a:t>The Role of Consent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1838"/>
            <a:ext cx="8229600" cy="5394326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What is Consent?</a:t>
            </a:r>
          </a:p>
          <a:p>
            <a:r>
              <a:rPr dirty="0"/>
              <a:t>- Explicit agreement to the collection and use of personal data.</a:t>
            </a:r>
          </a:p>
          <a:p>
            <a:endParaRPr dirty="0"/>
          </a:p>
          <a:p>
            <a:r>
              <a:rPr dirty="0"/>
              <a:t>Features of Valid Consent:</a:t>
            </a:r>
          </a:p>
          <a:p>
            <a:r>
              <a:rPr dirty="0"/>
              <a:t>- Freely given (not forced).</a:t>
            </a:r>
          </a:p>
          <a:p>
            <a:r>
              <a:rPr dirty="0"/>
              <a:t>- Informed (clear explanation of how data will be used).</a:t>
            </a:r>
          </a:p>
          <a:p>
            <a:r>
              <a:rPr dirty="0"/>
              <a:t>- Specific (covers a particular purpose).</a:t>
            </a:r>
          </a:p>
          <a:p>
            <a:endParaRPr dirty="0"/>
          </a:p>
          <a:p>
            <a:r>
              <a:rPr dirty="0"/>
              <a:t>Example: Users ticking a box agreeing to terms before signing up for a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Breaches and Their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What is a Data Breach?</a:t>
            </a:r>
          </a:p>
          <a:p>
            <a:r>
              <a:rPr dirty="0"/>
              <a:t>- Unauthorized access to or theft of personal data.</a:t>
            </a:r>
          </a:p>
          <a:p>
            <a:endParaRPr dirty="0"/>
          </a:p>
          <a:p>
            <a:r>
              <a:rPr dirty="0"/>
              <a:t>Consequences:</a:t>
            </a:r>
          </a:p>
          <a:p>
            <a:r>
              <a:rPr dirty="0"/>
              <a:t>1. For Individuals:</a:t>
            </a:r>
          </a:p>
          <a:p>
            <a:r>
              <a:rPr dirty="0"/>
              <a:t>   - Identity theft.</a:t>
            </a:r>
          </a:p>
          <a:p>
            <a:r>
              <a:rPr dirty="0"/>
              <a:t>   - Financial loss.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FA23E-9F82-406C-3C9C-C1F3319FB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3742"/>
            <a:ext cx="8229600" cy="5552422"/>
          </a:xfrm>
        </p:spPr>
        <p:txBody>
          <a:bodyPr/>
          <a:lstStyle/>
          <a:p>
            <a:r>
              <a:rPr lang="en-US" dirty="0"/>
              <a:t>2. For Organizations:</a:t>
            </a:r>
          </a:p>
          <a:p>
            <a:r>
              <a:rPr lang="en-US" dirty="0"/>
              <a:t>   - Fines and legal penalties.</a:t>
            </a:r>
          </a:p>
          <a:p>
            <a:r>
              <a:rPr lang="en-US" dirty="0"/>
              <a:t>   - Loss of customer trust.</a:t>
            </a:r>
          </a:p>
          <a:p>
            <a:endParaRPr lang="en-US" dirty="0"/>
          </a:p>
          <a:p>
            <a:r>
              <a:rPr lang="en-US" dirty="0"/>
              <a:t>Case Study: Facebook-Cambridge Analytica scandal.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886769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"/>
            <a:ext cx="8229600" cy="970384"/>
          </a:xfrm>
        </p:spPr>
        <p:txBody>
          <a:bodyPr/>
          <a:lstStyle/>
          <a:p>
            <a:r>
              <a:rPr dirty="0"/>
              <a:t>Balancing Privacy and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918" y="970385"/>
            <a:ext cx="8584164" cy="5635687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Tensions:</a:t>
            </a:r>
          </a:p>
          <a:p>
            <a:r>
              <a:rPr dirty="0"/>
              <a:t>- Companies need data to create personalized services (e.g., Netflix recommendations).</a:t>
            </a:r>
          </a:p>
          <a:p>
            <a:r>
              <a:rPr dirty="0"/>
              <a:t>- Users demand control and protection of their data.</a:t>
            </a:r>
          </a:p>
          <a:p>
            <a:endParaRPr dirty="0"/>
          </a:p>
          <a:p>
            <a:r>
              <a:rPr dirty="0"/>
              <a:t>Ethical Frameworks for Innovation:</a:t>
            </a:r>
          </a:p>
          <a:p>
            <a:r>
              <a:rPr dirty="0"/>
              <a:t>- Build user trust by being transparent.</a:t>
            </a:r>
          </a:p>
          <a:p>
            <a:r>
              <a:rPr dirty="0"/>
              <a:t>- Use data only for its intended purpose.</a:t>
            </a:r>
          </a:p>
          <a:p>
            <a:endParaRPr dirty="0"/>
          </a:p>
          <a:p>
            <a:r>
              <a:rPr dirty="0"/>
              <a:t>Discussion Prompt: Should innovation always prioritize user privacy? Why?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65200"/>
          </a:xfrm>
        </p:spPr>
        <p:txBody>
          <a:bodyPr>
            <a:normAutofit/>
          </a:bodyPr>
          <a:lstStyle/>
          <a:p>
            <a:r>
              <a:rPr dirty="0"/>
              <a:t>Privacy in Emerging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5200"/>
            <a:ext cx="8229600" cy="563880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Technologies Posing Challenges:</a:t>
            </a:r>
          </a:p>
          <a:p>
            <a:r>
              <a:rPr dirty="0"/>
              <a:t>1. Artificial Intelligence (AI):</a:t>
            </a:r>
          </a:p>
          <a:p>
            <a:r>
              <a:rPr dirty="0"/>
              <a:t>   - Requires large datasets, raising concerns about surveillance.</a:t>
            </a:r>
          </a:p>
          <a:p>
            <a:r>
              <a:rPr dirty="0"/>
              <a:t>2. Internet of Things (IoT):</a:t>
            </a:r>
          </a:p>
          <a:p>
            <a:r>
              <a:rPr dirty="0"/>
              <a:t>   - Devices (smart homes, wearables) collect constant real-time data.</a:t>
            </a:r>
          </a:p>
          <a:p>
            <a:r>
              <a:rPr dirty="0"/>
              <a:t>3. Blockchain:</a:t>
            </a:r>
          </a:p>
          <a:p>
            <a:r>
              <a:rPr dirty="0"/>
              <a:t>   - Permanent, decentralized data storage can conflict with privacy regulations.</a:t>
            </a:r>
          </a:p>
          <a:p>
            <a:endParaRPr dirty="0"/>
          </a:p>
          <a:p>
            <a:r>
              <a:rPr dirty="0"/>
              <a:t>Example: Smart assistants like Alexa recording conversations.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Governments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Governments Protect Privacy:</a:t>
            </a:r>
          </a:p>
          <a:p>
            <a:r>
              <a:t>- Enacting laws (GDPR, CCPA, HIPAA).</a:t>
            </a:r>
          </a:p>
          <a:p>
            <a:r>
              <a:t>- Creating regulatory bodies to enforce laws.</a:t>
            </a:r>
          </a:p>
          <a:p>
            <a:r>
              <a:t>- Educating citizens about their rights.</a:t>
            </a:r>
          </a:p>
          <a:p>
            <a:endParaRPr/>
          </a:p>
          <a:p>
            <a:r>
              <a:t>Example: The California Consumer Privacy Act (CCPA) allows users to opt out of data sales.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8001"/>
          </a:xfrm>
        </p:spPr>
        <p:txBody>
          <a:bodyPr>
            <a:normAutofit fontScale="90000"/>
          </a:bodyPr>
          <a:lstStyle/>
          <a:p>
            <a:r>
              <a:rPr dirty="0"/>
              <a:t>Privacy in the Workplace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6668"/>
            <a:ext cx="8229600" cy="5279496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Common Practices:</a:t>
            </a:r>
          </a:p>
          <a:p>
            <a:r>
              <a:rPr dirty="0"/>
              <a:t>- Monitoring employee emails and internet usage.</a:t>
            </a:r>
          </a:p>
          <a:p>
            <a:r>
              <a:rPr dirty="0"/>
              <a:t>- Using surveillance cameras.</a:t>
            </a:r>
          </a:p>
          <a:p>
            <a:endParaRPr dirty="0"/>
          </a:p>
          <a:p>
            <a:r>
              <a:rPr dirty="0"/>
              <a:t>Ethical Issues:</a:t>
            </a:r>
          </a:p>
          <a:p>
            <a:r>
              <a:rPr dirty="0"/>
              <a:t>- Balancing productivity with respecting employees' rights.</a:t>
            </a:r>
          </a:p>
          <a:p>
            <a:endParaRPr dirty="0"/>
          </a:p>
          <a:p>
            <a:r>
              <a:rPr dirty="0"/>
              <a:t>Best Practices:</a:t>
            </a:r>
          </a:p>
          <a:p>
            <a:r>
              <a:rPr dirty="0"/>
              <a:t>- Inform employees about monitoring policies.</a:t>
            </a:r>
          </a:p>
          <a:p>
            <a:r>
              <a:rPr dirty="0"/>
              <a:t>- Only monitor as necessary for business purposes.</a:t>
            </a:r>
          </a:p>
          <a:p>
            <a:endParaRPr dirty="0"/>
          </a:p>
          <a:p>
            <a:r>
              <a:rPr dirty="0"/>
              <a:t>Example: Tracking employee productivity during remote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Responsibilities of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to Ensure Privacy:</a:t>
            </a:r>
          </a:p>
          <a:p>
            <a:r>
              <a:t>- Hire a Data Protection Officer (DPO).</a:t>
            </a:r>
          </a:p>
          <a:p>
            <a:r>
              <a:t>- Conduct regular data audits to identify vulnerabilities.</a:t>
            </a:r>
          </a:p>
          <a:p>
            <a:r>
              <a:t>- Use strong encryption to protect sensitive information.</a:t>
            </a:r>
          </a:p>
          <a:p>
            <a:endParaRPr/>
          </a:p>
          <a:p>
            <a:r>
              <a:t>Example: Banks encrypting customer data to prevent theft.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0630"/>
            <a:ext cx="8229600" cy="601208"/>
          </a:xfrm>
        </p:spPr>
        <p:txBody>
          <a:bodyPr>
            <a:normAutofit fontScale="90000"/>
          </a:bodyPr>
          <a:lstStyle/>
          <a:p>
            <a:r>
              <a:rPr dirty="0"/>
              <a:t>Educating Users About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914400"/>
            <a:ext cx="8425543" cy="5812970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Why Education Matters:</a:t>
            </a:r>
          </a:p>
          <a:p>
            <a:r>
              <a:rPr dirty="0"/>
              <a:t>- Many people are unaware of how much data they share.</a:t>
            </a:r>
          </a:p>
          <a:p>
            <a:r>
              <a:rPr dirty="0"/>
              <a:t>- Educated users make safer online choices.</a:t>
            </a:r>
          </a:p>
          <a:p>
            <a:endParaRPr dirty="0"/>
          </a:p>
          <a:p>
            <a:r>
              <a:rPr dirty="0"/>
              <a:t>Tips for Students:</a:t>
            </a:r>
          </a:p>
          <a:p>
            <a:r>
              <a:rPr dirty="0"/>
              <a:t>- Use strong, unique passwords.</a:t>
            </a:r>
          </a:p>
          <a:p>
            <a:r>
              <a:rPr dirty="0"/>
              <a:t>- Check app permissions on your phone.</a:t>
            </a:r>
          </a:p>
          <a:p>
            <a:r>
              <a:rPr dirty="0"/>
              <a:t>- Enable two-factor authentication (2FA).</a:t>
            </a:r>
          </a:p>
          <a:p>
            <a:endParaRPr dirty="0"/>
          </a:p>
          <a:p>
            <a:r>
              <a:rPr dirty="0"/>
              <a:t>Activity: Check your social media privacy settings.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Key Takeaways:</a:t>
            </a:r>
          </a:p>
          <a:p>
            <a:r>
              <a:rPr dirty="0"/>
              <a:t>- Privacy is a fundamental right that requires active protection.</a:t>
            </a:r>
          </a:p>
          <a:p>
            <a:r>
              <a:rPr dirty="0"/>
              <a:t>- Governments, organizations, and individuals all share responsibility.</a:t>
            </a:r>
          </a:p>
          <a:p>
            <a:r>
              <a:rPr dirty="0"/>
              <a:t>- Emerging technologies make privacy more complex, requiring adaptive solutions.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0CBE6-5522-6F57-750B-6311EF27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Discussion Questions:</a:t>
            </a:r>
            <a:br>
              <a:rPr lang="en-US" dirty="0"/>
            </a:b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14474-F5B8-887A-4646-0975B69B0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What are the biggest privacy risks you face daily?</a:t>
            </a:r>
          </a:p>
          <a:p>
            <a:r>
              <a:rPr lang="en-US" dirty="0"/>
              <a:t>2. Should governments regulate tech companies more strictly?</a:t>
            </a:r>
          </a:p>
          <a:p>
            <a:endParaRPr lang="en-US" dirty="0"/>
          </a:p>
          <a:p>
            <a:r>
              <a:rPr lang="en-US" dirty="0"/>
              <a:t>Closing Quote: 'Privacy is not something that I’m merely entitled to; it’s an absolute prerequisite.' – Marlon Brando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190407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1006</Words>
  <Application>Microsoft Office PowerPoint</Application>
  <PresentationFormat>On-screen Show (4:3)</PresentationFormat>
  <Paragraphs>150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What is Privacy?</vt:lpstr>
      <vt:lpstr>Data Protection Act 1998</vt:lpstr>
      <vt:lpstr>Privacy Challenges in Digital Spaces</vt:lpstr>
      <vt:lpstr>General Data Protection Regulation (GDPR)</vt:lpstr>
      <vt:lpstr>Types of Personal Data</vt:lpstr>
      <vt:lpstr>Privacy by Design</vt:lpstr>
      <vt:lpstr>The Role of Consent</vt:lpstr>
      <vt:lpstr>Data Breaches and Their Impact</vt:lpstr>
      <vt:lpstr>PowerPoint Presentation</vt:lpstr>
      <vt:lpstr>Balancing Privacy and Innovation</vt:lpstr>
      <vt:lpstr>Privacy in Emerging Technologies</vt:lpstr>
      <vt:lpstr>Role of Governments</vt:lpstr>
      <vt:lpstr>Privacy in the Workplace</vt:lpstr>
      <vt:lpstr>Responsibilities of Organizations</vt:lpstr>
      <vt:lpstr>Educating Users About Privacy</vt:lpstr>
      <vt:lpstr>Conclusion and Discussion</vt:lpstr>
      <vt:lpstr>Discussion Questions: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DR.MRINDOKO</dc:creator>
  <cp:keywords/>
  <dc:description>generated using python-pptx</dc:description>
  <cp:lastModifiedBy>DR.MRINDOKO</cp:lastModifiedBy>
  <cp:revision>14</cp:revision>
  <dcterms:created xsi:type="dcterms:W3CDTF">2013-01-27T09:14:16Z</dcterms:created>
  <dcterms:modified xsi:type="dcterms:W3CDTF">2025-01-12T05:35:21Z</dcterms:modified>
  <cp:category/>
</cp:coreProperties>
</file>