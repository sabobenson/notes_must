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89" r:id="rId7"/>
    <p:sldId id="261" r:id="rId8"/>
    <p:sldId id="262" r:id="rId9"/>
    <p:sldId id="290" r:id="rId10"/>
    <p:sldId id="264" r:id="rId11"/>
    <p:sldId id="291" r:id="rId12"/>
    <p:sldId id="263" r:id="rId13"/>
    <p:sldId id="292" r:id="rId14"/>
    <p:sldId id="265" r:id="rId15"/>
    <p:sldId id="293" r:id="rId16"/>
    <p:sldId id="266" r:id="rId17"/>
    <p:sldId id="294" r:id="rId18"/>
    <p:sldId id="267" r:id="rId19"/>
    <p:sldId id="268" r:id="rId20"/>
    <p:sldId id="269" r:id="rId21"/>
    <p:sldId id="270" r:id="rId22"/>
    <p:sldId id="295" r:id="rId23"/>
    <p:sldId id="271" r:id="rId24"/>
    <p:sldId id="296" r:id="rId25"/>
    <p:sldId id="272" r:id="rId26"/>
    <p:sldId id="297" r:id="rId27"/>
    <p:sldId id="273" r:id="rId28"/>
    <p:sldId id="298" r:id="rId29"/>
    <p:sldId id="274" r:id="rId30"/>
    <p:sldId id="299" r:id="rId31"/>
    <p:sldId id="275" r:id="rId32"/>
    <p:sldId id="276" r:id="rId33"/>
    <p:sldId id="300" r:id="rId34"/>
    <p:sldId id="277" r:id="rId35"/>
    <p:sldId id="301" r:id="rId36"/>
    <p:sldId id="278" r:id="rId37"/>
    <p:sldId id="302" r:id="rId38"/>
    <p:sldId id="279" r:id="rId39"/>
    <p:sldId id="303" r:id="rId40"/>
    <p:sldId id="280" r:id="rId41"/>
    <p:sldId id="281" r:id="rId42"/>
    <p:sldId id="282" r:id="rId43"/>
    <p:sldId id="304" r:id="rId44"/>
    <p:sldId id="283" r:id="rId45"/>
    <p:sldId id="286" r:id="rId46"/>
    <p:sldId id="285" r:id="rId47"/>
    <p:sldId id="305" r:id="rId48"/>
    <p:sldId id="287" r:id="rId49"/>
    <p:sldId id="306" r:id="rId50"/>
    <p:sldId id="288"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showGuides="1">
      <p:cViewPr varScale="1">
        <p:scale>
          <a:sx n="61" d="100"/>
          <a:sy n="61" d="100"/>
        </p:scale>
        <p:origin x="6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53EAD82-D45A-4A09-8869-676E7E2EAAB8}"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27FC42-BBF5-44F6-8A61-819EF587CC06}" type="slidenum">
              <a:rPr lang="en-US" smtClean="0"/>
              <a:t>‹#›</a:t>
            </a:fld>
            <a:endParaRPr lang="en-US"/>
          </a:p>
        </p:txBody>
      </p:sp>
    </p:spTree>
    <p:extLst>
      <p:ext uri="{BB962C8B-B14F-4D97-AF65-F5344CB8AC3E}">
        <p14:creationId xmlns:p14="http://schemas.microsoft.com/office/powerpoint/2010/main" val="1093462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3EAD82-D45A-4A09-8869-676E7E2EAAB8}"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27FC42-BBF5-44F6-8A61-819EF587CC06}" type="slidenum">
              <a:rPr lang="en-US" smtClean="0"/>
              <a:t>‹#›</a:t>
            </a:fld>
            <a:endParaRPr lang="en-US"/>
          </a:p>
        </p:txBody>
      </p:sp>
    </p:spTree>
    <p:extLst>
      <p:ext uri="{BB962C8B-B14F-4D97-AF65-F5344CB8AC3E}">
        <p14:creationId xmlns:p14="http://schemas.microsoft.com/office/powerpoint/2010/main" val="3655708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53EAD82-D45A-4A09-8869-676E7E2EAAB8}"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27FC42-BBF5-44F6-8A61-819EF587CC06}" type="slidenum">
              <a:rPr lang="en-US" smtClean="0"/>
              <a:t>‹#›</a:t>
            </a:fld>
            <a:endParaRPr lang="en-US"/>
          </a:p>
        </p:txBody>
      </p:sp>
    </p:spTree>
    <p:extLst>
      <p:ext uri="{BB962C8B-B14F-4D97-AF65-F5344CB8AC3E}">
        <p14:creationId xmlns:p14="http://schemas.microsoft.com/office/powerpoint/2010/main" val="4063981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53EAD82-D45A-4A09-8869-676E7E2EAAB8}"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27FC42-BBF5-44F6-8A61-819EF587CC06}" type="slidenum">
              <a:rPr lang="en-US" smtClean="0"/>
              <a:t>‹#›</a:t>
            </a:fld>
            <a:endParaRPr lang="en-US"/>
          </a:p>
        </p:txBody>
      </p:sp>
    </p:spTree>
    <p:extLst>
      <p:ext uri="{BB962C8B-B14F-4D97-AF65-F5344CB8AC3E}">
        <p14:creationId xmlns:p14="http://schemas.microsoft.com/office/powerpoint/2010/main" val="4240508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53EAD82-D45A-4A09-8869-676E7E2EAAB8}"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F27FC42-BBF5-44F6-8A61-819EF587CC06}" type="slidenum">
              <a:rPr lang="en-US" smtClean="0"/>
              <a:t>‹#›</a:t>
            </a:fld>
            <a:endParaRPr lang="en-US"/>
          </a:p>
        </p:txBody>
      </p:sp>
    </p:spTree>
    <p:extLst>
      <p:ext uri="{BB962C8B-B14F-4D97-AF65-F5344CB8AC3E}">
        <p14:creationId xmlns:p14="http://schemas.microsoft.com/office/powerpoint/2010/main" val="913202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53EAD82-D45A-4A09-8869-676E7E2EAAB8}" type="datetimeFigureOut">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27FC42-BBF5-44F6-8A61-819EF587CC06}" type="slidenum">
              <a:rPr lang="en-US" smtClean="0"/>
              <a:t>‹#›</a:t>
            </a:fld>
            <a:endParaRPr lang="en-US"/>
          </a:p>
        </p:txBody>
      </p:sp>
    </p:spTree>
    <p:extLst>
      <p:ext uri="{BB962C8B-B14F-4D97-AF65-F5344CB8AC3E}">
        <p14:creationId xmlns:p14="http://schemas.microsoft.com/office/powerpoint/2010/main" val="2142488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3EAD82-D45A-4A09-8869-676E7E2EAAB8}" type="datetimeFigureOut">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F27FC42-BBF5-44F6-8A61-819EF587CC06}" type="slidenum">
              <a:rPr lang="en-US" smtClean="0"/>
              <a:t>‹#›</a:t>
            </a:fld>
            <a:endParaRPr lang="en-US"/>
          </a:p>
        </p:txBody>
      </p:sp>
    </p:spTree>
    <p:extLst>
      <p:ext uri="{BB962C8B-B14F-4D97-AF65-F5344CB8AC3E}">
        <p14:creationId xmlns:p14="http://schemas.microsoft.com/office/powerpoint/2010/main" val="1571186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3EAD82-D45A-4A09-8869-676E7E2EAAB8}"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27FC42-BBF5-44F6-8A61-819EF587CC06}" type="slidenum">
              <a:rPr lang="en-US" smtClean="0"/>
              <a:t>‹#›</a:t>
            </a:fld>
            <a:endParaRPr lang="en-US"/>
          </a:p>
        </p:txBody>
      </p:sp>
    </p:spTree>
    <p:extLst>
      <p:ext uri="{BB962C8B-B14F-4D97-AF65-F5344CB8AC3E}">
        <p14:creationId xmlns:p14="http://schemas.microsoft.com/office/powerpoint/2010/main" val="149551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3EAD82-D45A-4A09-8869-676E7E2EAAB8}"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27FC42-BBF5-44F6-8A61-819EF587CC06}" type="slidenum">
              <a:rPr lang="en-US" smtClean="0"/>
              <a:t>‹#›</a:t>
            </a:fld>
            <a:endParaRPr lang="en-US"/>
          </a:p>
        </p:txBody>
      </p:sp>
    </p:spTree>
    <p:extLst>
      <p:ext uri="{BB962C8B-B14F-4D97-AF65-F5344CB8AC3E}">
        <p14:creationId xmlns:p14="http://schemas.microsoft.com/office/powerpoint/2010/main" val="2716249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3EAD82-D45A-4A09-8869-676E7E2EAAB8}"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27FC42-BBF5-44F6-8A61-819EF587CC06}" type="slidenum">
              <a:rPr lang="en-US" smtClean="0"/>
              <a:t>‹#›</a:t>
            </a:fld>
            <a:endParaRPr lang="en-US"/>
          </a:p>
        </p:txBody>
      </p:sp>
    </p:spTree>
    <p:extLst>
      <p:ext uri="{BB962C8B-B14F-4D97-AF65-F5344CB8AC3E}">
        <p14:creationId xmlns:p14="http://schemas.microsoft.com/office/powerpoint/2010/main" val="3145128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3EAD82-D45A-4A09-8869-676E7E2EAAB8}"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27FC42-BBF5-44F6-8A61-819EF587CC06}" type="slidenum">
              <a:rPr lang="en-US" smtClean="0"/>
              <a:t>‹#›</a:t>
            </a:fld>
            <a:endParaRPr lang="en-US"/>
          </a:p>
        </p:txBody>
      </p:sp>
    </p:spTree>
    <p:extLst>
      <p:ext uri="{BB962C8B-B14F-4D97-AF65-F5344CB8AC3E}">
        <p14:creationId xmlns:p14="http://schemas.microsoft.com/office/powerpoint/2010/main" val="792437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3EAD82-D45A-4A09-8869-676E7E2EAAB8}" type="datetimeFigureOut">
              <a:rPr lang="en-US" smtClean="0"/>
              <a:t>1/16/2025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27FC42-BBF5-44F6-8A61-819EF587CC06}" type="slidenum">
              <a:rPr lang="en-US" smtClean="0"/>
              <a:t>‹#›</a:t>
            </a:fld>
            <a:endParaRPr lang="en-US"/>
          </a:p>
        </p:txBody>
      </p:sp>
    </p:spTree>
    <p:extLst>
      <p:ext uri="{BB962C8B-B14F-4D97-AF65-F5344CB8AC3E}">
        <p14:creationId xmlns:p14="http://schemas.microsoft.com/office/powerpoint/2010/main" val="544493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www2.le.ac.uk/offices/ld/resources/writing/writing-resources/ref-bib"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WRITING REPORTS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01139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lvl="0" algn="just"/>
            <a:r>
              <a:rPr lang="en-US" sz="2400" b="1" dirty="0">
                <a:solidFill>
                  <a:prstClr val="black"/>
                </a:solidFill>
                <a:latin typeface="Times New Roman" panose="02020603050405020304" pitchFamily="18" charset="0"/>
                <a:cs typeface="Times New Roman" panose="02020603050405020304" pitchFamily="18" charset="0"/>
              </a:rPr>
              <a:t>Writing reports </a:t>
            </a:r>
            <a:endParaRPr lang="en-US" sz="2400" dirty="0">
              <a:solidFill>
                <a:prstClr val="black"/>
              </a:solidFill>
              <a:latin typeface="Times New Roman" panose="02020603050405020304" pitchFamily="18" charset="0"/>
              <a:cs typeface="Times New Roman" panose="02020603050405020304" pitchFamily="18" charset="0"/>
            </a:endParaRPr>
          </a:p>
          <a:p>
            <a:pPr lvl="0" algn="just"/>
            <a:r>
              <a:rPr lang="en-US" sz="2400" dirty="0">
                <a:solidFill>
                  <a:prstClr val="black"/>
                </a:solidFill>
                <a:latin typeface="Times New Roman" panose="02020603050405020304" pitchFamily="18" charset="0"/>
                <a:cs typeface="Times New Roman" panose="02020603050405020304" pitchFamily="18" charset="0"/>
              </a:rPr>
              <a:t>People normally write reports for things which happened in the past</a:t>
            </a:r>
            <a:r>
              <a:rPr lang="en-US" sz="2400" dirty="0" smtClean="0">
                <a:solidFill>
                  <a:prstClr val="black"/>
                </a:solidFill>
                <a:latin typeface="Times New Roman" panose="02020603050405020304" pitchFamily="18" charset="0"/>
                <a:cs typeface="Times New Roman" panose="02020603050405020304" pitchFamily="18" charset="0"/>
              </a:rPr>
              <a:t>.</a:t>
            </a:r>
          </a:p>
          <a:p>
            <a:pPr lvl="0" algn="just"/>
            <a:r>
              <a:rPr lang="en-US" sz="2400" dirty="0" smtClean="0">
                <a:solidFill>
                  <a:prstClr val="black"/>
                </a:solidFill>
                <a:latin typeface="Times New Roman" panose="02020603050405020304" pitchFamily="18" charset="0"/>
                <a:cs typeface="Times New Roman" panose="02020603050405020304" pitchFamily="18" charset="0"/>
              </a:rPr>
              <a:t>In </a:t>
            </a:r>
            <a:r>
              <a:rPr lang="en-US" sz="2400" dirty="0">
                <a:solidFill>
                  <a:prstClr val="black"/>
                </a:solidFill>
                <a:latin typeface="Times New Roman" panose="02020603050405020304" pitchFamily="18" charset="0"/>
                <a:cs typeface="Times New Roman" panose="02020603050405020304" pitchFamily="18" charset="0"/>
              </a:rPr>
              <a:t>many organizations people write reports on different events taking place in their organizations, at the end of the year or semester students in college and universities are required to write reports on certain book studied or the course undertaken in the semester. </a:t>
            </a:r>
          </a:p>
          <a:p>
            <a:pPr lvl="0" algn="just"/>
            <a:r>
              <a:rPr lang="en-US" sz="2400" dirty="0">
                <a:solidFill>
                  <a:prstClr val="black"/>
                </a:solidFill>
                <a:latin typeface="Times New Roman" panose="02020603050405020304" pitchFamily="18" charset="0"/>
                <a:cs typeface="Times New Roman" panose="02020603050405020304" pitchFamily="18" charset="0"/>
              </a:rPr>
              <a:t>Scientists also write reports after some scientific investigation and discoveries. </a:t>
            </a:r>
            <a:endParaRPr lang="en-US" sz="2400" dirty="0" smtClean="0">
              <a:solidFill>
                <a:prstClr val="black"/>
              </a:solidFill>
              <a:latin typeface="Times New Roman" panose="02020603050405020304" pitchFamily="18" charset="0"/>
              <a:cs typeface="Times New Roman" panose="02020603050405020304" pitchFamily="18" charset="0"/>
            </a:endParaRPr>
          </a:p>
          <a:p>
            <a:pPr marL="0" lvl="0" indent="0" algn="just">
              <a:buNone/>
            </a:pPr>
            <a:endParaRPr lang="en-US" sz="2400" dirty="0" smtClean="0">
              <a:solidFill>
                <a:prstClr val="black"/>
              </a:solidFill>
              <a:latin typeface="Times New Roman" panose="02020603050405020304" pitchFamily="18" charset="0"/>
              <a:cs typeface="Times New Roman" panose="02020603050405020304" pitchFamily="18" charset="0"/>
            </a:endParaRPr>
          </a:p>
          <a:p>
            <a:pPr lvl="0" algn="just"/>
            <a:r>
              <a:rPr lang="en-US" sz="2400" dirty="0" smtClean="0">
                <a:solidFill>
                  <a:prstClr val="black"/>
                </a:solidFill>
                <a:latin typeface="Times New Roman" panose="02020603050405020304" pitchFamily="18" charset="0"/>
                <a:cs typeface="Times New Roman" panose="02020603050405020304" pitchFamily="18" charset="0"/>
              </a:rPr>
              <a:t>So </a:t>
            </a:r>
            <a:r>
              <a:rPr lang="en-US" sz="2400" dirty="0">
                <a:solidFill>
                  <a:prstClr val="black"/>
                </a:solidFill>
                <a:latin typeface="Times New Roman" panose="02020603050405020304" pitchFamily="18" charset="0"/>
                <a:cs typeface="Times New Roman" panose="02020603050405020304" pitchFamily="18" charset="0"/>
              </a:rPr>
              <a:t>reports are written everyday on different subjects and for different purpose.</a:t>
            </a:r>
          </a:p>
        </p:txBody>
      </p:sp>
    </p:spTree>
    <p:extLst>
      <p:ext uri="{BB962C8B-B14F-4D97-AF65-F5344CB8AC3E}">
        <p14:creationId xmlns:p14="http://schemas.microsoft.com/office/powerpoint/2010/main" val="2319692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lvl="0" algn="just"/>
            <a:r>
              <a:rPr lang="en-US" sz="2400" b="1" dirty="0">
                <a:solidFill>
                  <a:prstClr val="black"/>
                </a:solidFill>
              </a:rPr>
              <a:t>What is a report?</a:t>
            </a:r>
            <a:endParaRPr lang="en-US" sz="2400" dirty="0">
              <a:solidFill>
                <a:prstClr val="black"/>
              </a:solidFill>
            </a:endParaRPr>
          </a:p>
          <a:p>
            <a:pPr lvl="0" algn="just"/>
            <a:r>
              <a:rPr lang="en-US" sz="2400" dirty="0">
                <a:solidFill>
                  <a:prstClr val="black"/>
                </a:solidFill>
              </a:rPr>
              <a:t>A report is a methodical and well organized written document that defines and analyses a certain issue or problem to the readers. </a:t>
            </a:r>
          </a:p>
          <a:p>
            <a:pPr lvl="0" algn="just"/>
            <a:r>
              <a:rPr lang="en-US" sz="2400" dirty="0">
                <a:solidFill>
                  <a:prstClr val="black"/>
                </a:solidFill>
              </a:rPr>
              <a:t>A report is a document written for a clear purpose and to a particular audience. Specific information and evidence are presented, </a:t>
            </a:r>
            <a:r>
              <a:rPr lang="en-US" sz="2400" dirty="0" err="1">
                <a:solidFill>
                  <a:prstClr val="black"/>
                </a:solidFill>
              </a:rPr>
              <a:t>analysed</a:t>
            </a:r>
            <a:r>
              <a:rPr lang="en-US" sz="2400" dirty="0">
                <a:solidFill>
                  <a:prstClr val="black"/>
                </a:solidFill>
              </a:rPr>
              <a:t> and applied to a particular problem or issue. </a:t>
            </a:r>
            <a:endParaRPr lang="en-US" sz="2400" dirty="0" smtClean="0">
              <a:solidFill>
                <a:prstClr val="black"/>
              </a:solidFill>
            </a:endParaRPr>
          </a:p>
          <a:p>
            <a:pPr lvl="0" algn="just"/>
            <a:r>
              <a:rPr lang="en-US" sz="2400" dirty="0" smtClean="0">
                <a:solidFill>
                  <a:prstClr val="black"/>
                </a:solidFill>
              </a:rPr>
              <a:t>The </a:t>
            </a:r>
            <a:r>
              <a:rPr lang="en-US" sz="2400" dirty="0">
                <a:solidFill>
                  <a:prstClr val="black"/>
                </a:solidFill>
              </a:rPr>
              <a:t>information is presented in a clearly structured format making use of sections and headings so that the information is easy to locate and follow. </a:t>
            </a:r>
          </a:p>
          <a:p>
            <a:pPr lvl="0" algn="just"/>
            <a:endParaRPr lang="en-US" sz="2400" dirty="0">
              <a:solidFill>
                <a:prstClr val="black"/>
              </a:solidFill>
            </a:endParaRPr>
          </a:p>
          <a:p>
            <a:pPr marL="0" indent="0">
              <a:buNone/>
            </a:pPr>
            <a:endParaRPr lang="en-US" dirty="0"/>
          </a:p>
        </p:txBody>
      </p:sp>
    </p:spTree>
    <p:extLst>
      <p:ext uri="{BB962C8B-B14F-4D97-AF65-F5344CB8AC3E}">
        <p14:creationId xmlns:p14="http://schemas.microsoft.com/office/powerpoint/2010/main" val="951351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lvl="0" algn="just"/>
            <a:r>
              <a:rPr lang="en-US" sz="2400" dirty="0">
                <a:solidFill>
                  <a:prstClr val="black"/>
                </a:solidFill>
              </a:rPr>
              <a:t>When you are asked to write a report you will usually be given a report brief which provides you with instructions and guidelines. </a:t>
            </a:r>
          </a:p>
          <a:p>
            <a:pPr marL="0" lvl="0" indent="0" algn="just">
              <a:buNone/>
            </a:pPr>
            <a:endParaRPr lang="en-US" sz="2400" dirty="0" smtClean="0">
              <a:solidFill>
                <a:prstClr val="black"/>
              </a:solidFill>
            </a:endParaRPr>
          </a:p>
          <a:p>
            <a:pPr lvl="0" algn="just"/>
            <a:r>
              <a:rPr lang="en-US" sz="2400" dirty="0" smtClean="0">
                <a:solidFill>
                  <a:prstClr val="black"/>
                </a:solidFill>
              </a:rPr>
              <a:t>The </a:t>
            </a:r>
            <a:r>
              <a:rPr lang="en-US" sz="2400" dirty="0">
                <a:solidFill>
                  <a:prstClr val="black"/>
                </a:solidFill>
              </a:rPr>
              <a:t>report brief may outline the purpose, audience and problem or issue that your report must address, together with any specific requirements for format or structure. </a:t>
            </a:r>
          </a:p>
          <a:p>
            <a:pPr lvl="0" algn="just"/>
            <a:r>
              <a:rPr lang="en-US" sz="2400" dirty="0">
                <a:solidFill>
                  <a:prstClr val="black"/>
                </a:solidFill>
              </a:rPr>
              <a:t>This guide offers a general introduction to report writing; be sure also to take account of specific instructions provided by your </a:t>
            </a:r>
            <a:r>
              <a:rPr lang="en-US" sz="2400" dirty="0" smtClean="0">
                <a:solidFill>
                  <a:prstClr val="black"/>
                </a:solidFill>
              </a:rPr>
              <a:t>department.</a:t>
            </a:r>
            <a:endParaRPr lang="en-US" sz="2400" dirty="0">
              <a:solidFill>
                <a:prstClr val="black"/>
              </a:solidFill>
            </a:endParaRPr>
          </a:p>
          <a:p>
            <a:endParaRPr lang="en-US" dirty="0"/>
          </a:p>
        </p:txBody>
      </p:sp>
    </p:spTree>
    <p:extLst>
      <p:ext uri="{BB962C8B-B14F-4D97-AF65-F5344CB8AC3E}">
        <p14:creationId xmlns:p14="http://schemas.microsoft.com/office/powerpoint/2010/main" val="2830252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a:bodyPr>
          <a:lstStyle/>
          <a:p>
            <a:pPr lvl="0">
              <a:buFont typeface="Wingdings" panose="05000000000000000000" pitchFamily="2" charset="2"/>
              <a:buChar char="q"/>
            </a:pPr>
            <a:r>
              <a:rPr lang="en-US" b="1" dirty="0">
                <a:solidFill>
                  <a:prstClr val="black"/>
                </a:solidFill>
                <a:latin typeface="Times New Roman" panose="02020603050405020304" pitchFamily="18" charset="0"/>
                <a:cs typeface="Times New Roman" panose="02020603050405020304" pitchFamily="18" charset="0"/>
              </a:rPr>
              <a:t>Why writing a report?</a:t>
            </a:r>
            <a:endParaRPr lang="en-US" dirty="0">
              <a:solidFill>
                <a:prstClr val="black"/>
              </a:solidFill>
              <a:latin typeface="Times New Roman" panose="02020603050405020304" pitchFamily="18" charset="0"/>
              <a:cs typeface="Times New Roman" panose="02020603050405020304" pitchFamily="18" charset="0"/>
            </a:endParaRPr>
          </a:p>
          <a:p>
            <a:pPr lvl="0" algn="just"/>
            <a:r>
              <a:rPr lang="en-US" sz="2600" dirty="0">
                <a:solidFill>
                  <a:prstClr val="black"/>
                </a:solidFill>
                <a:latin typeface="Times New Roman" panose="02020603050405020304" pitchFamily="18" charset="0"/>
                <a:cs typeface="Times New Roman" panose="02020603050405020304" pitchFamily="18" charset="0"/>
              </a:rPr>
              <a:t>The Two reasons as to why reports are used as forms of written assessment:</a:t>
            </a:r>
          </a:p>
          <a:p>
            <a:pPr lvl="0" algn="just"/>
            <a:r>
              <a:rPr lang="en-US" sz="2600" dirty="0">
                <a:solidFill>
                  <a:prstClr val="black"/>
                </a:solidFill>
                <a:latin typeface="Times New Roman" panose="02020603050405020304" pitchFamily="18" charset="0"/>
                <a:cs typeface="Times New Roman" panose="02020603050405020304" pitchFamily="18" charset="0"/>
              </a:rPr>
              <a:t>To find out what you have learned from your reading, research or experience; this means you give out what you have found in your investigation</a:t>
            </a:r>
            <a:r>
              <a:rPr lang="en-US" sz="2600" dirty="0" smtClean="0">
                <a:solidFill>
                  <a:prstClr val="black"/>
                </a:solidFill>
                <a:latin typeface="Times New Roman" panose="02020603050405020304" pitchFamily="18" charset="0"/>
                <a:cs typeface="Times New Roman" panose="02020603050405020304" pitchFamily="18" charset="0"/>
              </a:rPr>
              <a:t>.</a:t>
            </a:r>
            <a:r>
              <a:rPr lang="en-US" sz="2600" dirty="0">
                <a:solidFill>
                  <a:prstClr val="black"/>
                </a:solidFill>
                <a:latin typeface="Times New Roman" panose="02020603050405020304" pitchFamily="18" charset="0"/>
                <a:cs typeface="Times New Roman" panose="02020603050405020304" pitchFamily="18" charset="0"/>
              </a:rPr>
              <a:t> </a:t>
            </a:r>
            <a:endParaRPr lang="en-US" sz="2600" dirty="0" smtClean="0">
              <a:solidFill>
                <a:prstClr val="black"/>
              </a:solidFill>
              <a:latin typeface="Times New Roman" panose="02020603050405020304" pitchFamily="18" charset="0"/>
              <a:cs typeface="Times New Roman" panose="02020603050405020304" pitchFamily="18" charset="0"/>
            </a:endParaRPr>
          </a:p>
          <a:p>
            <a:pPr lvl="0" algn="just"/>
            <a:r>
              <a:rPr lang="en-US" sz="2600" dirty="0" smtClean="0">
                <a:solidFill>
                  <a:prstClr val="black"/>
                </a:solidFill>
                <a:latin typeface="Times New Roman" panose="02020603050405020304" pitchFamily="18" charset="0"/>
                <a:cs typeface="Times New Roman" panose="02020603050405020304" pitchFamily="18" charset="0"/>
              </a:rPr>
              <a:t>To </a:t>
            </a:r>
            <a:r>
              <a:rPr lang="en-US" sz="2600" dirty="0">
                <a:solidFill>
                  <a:prstClr val="black"/>
                </a:solidFill>
                <a:latin typeface="Times New Roman" panose="02020603050405020304" pitchFamily="18" charset="0"/>
                <a:cs typeface="Times New Roman" panose="02020603050405020304" pitchFamily="18" charset="0"/>
              </a:rPr>
              <a:t>give your experience of an important skill that is widely used in the work </a:t>
            </a:r>
            <a:r>
              <a:rPr lang="en-US" sz="2600" dirty="0" smtClean="0">
                <a:solidFill>
                  <a:prstClr val="black"/>
                </a:solidFill>
                <a:latin typeface="Times New Roman" panose="02020603050405020304" pitchFamily="18" charset="0"/>
                <a:cs typeface="Times New Roman" panose="02020603050405020304" pitchFamily="18" charset="0"/>
              </a:rPr>
              <a:t>place</a:t>
            </a:r>
            <a:r>
              <a:rPr lang="en-US" sz="2600" dirty="0">
                <a:solidFill>
                  <a:prstClr val="black"/>
                </a:solidFill>
                <a:latin typeface="Times New Roman" panose="02020603050405020304" pitchFamily="18" charset="0"/>
                <a:cs typeface="Times New Roman" panose="02020603050405020304" pitchFamily="18" charset="0"/>
              </a:rPr>
              <a:t> </a:t>
            </a:r>
            <a:r>
              <a:rPr lang="en-US" sz="2600" dirty="0" err="1" smtClean="0">
                <a:solidFill>
                  <a:prstClr val="black"/>
                </a:solidFill>
                <a:latin typeface="Times New Roman" panose="02020603050405020304" pitchFamily="18" charset="0"/>
                <a:cs typeface="Times New Roman" panose="02020603050405020304" pitchFamily="18" charset="0"/>
              </a:rPr>
              <a:t>ie</a:t>
            </a:r>
            <a:r>
              <a:rPr lang="en-US" sz="2600" dirty="0" smtClean="0">
                <a:solidFill>
                  <a:prstClr val="black"/>
                </a:solidFill>
                <a:latin typeface="Times New Roman" panose="02020603050405020304" pitchFamily="18" charset="0"/>
                <a:cs typeface="Times New Roman" panose="02020603050405020304" pitchFamily="18" charset="0"/>
              </a:rPr>
              <a:t> give out what happen in working place in daily basis and if possible to change the trend or for improvement. </a:t>
            </a:r>
          </a:p>
          <a:p>
            <a:pPr lvl="0" algn="just"/>
            <a:endParaRPr lang="en-US" sz="2600" dirty="0" smtClean="0">
              <a:solidFill>
                <a:prstClr val="black"/>
              </a:solidFill>
              <a:latin typeface="Times New Roman" panose="02020603050405020304" pitchFamily="18" charset="0"/>
              <a:cs typeface="Times New Roman" panose="02020603050405020304" pitchFamily="18" charset="0"/>
            </a:endParaRPr>
          </a:p>
          <a:p>
            <a:pPr lvl="0" algn="just"/>
            <a:endParaRPr lang="en-US" sz="2600"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5692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a:bodyPr>
          <a:lstStyle/>
          <a:p>
            <a:pPr lvl="0" algn="just"/>
            <a:r>
              <a:rPr lang="en-US" sz="2600" dirty="0" smtClean="0">
                <a:solidFill>
                  <a:prstClr val="black"/>
                </a:solidFill>
                <a:latin typeface="Times New Roman" panose="02020603050405020304" pitchFamily="18" charset="0"/>
                <a:cs typeface="Times New Roman" panose="02020603050405020304" pitchFamily="18" charset="0"/>
              </a:rPr>
              <a:t>The </a:t>
            </a:r>
            <a:r>
              <a:rPr lang="en-US" sz="2600" dirty="0">
                <a:solidFill>
                  <a:prstClr val="black"/>
                </a:solidFill>
                <a:latin typeface="Times New Roman" panose="02020603050405020304" pitchFamily="18" charset="0"/>
                <a:cs typeface="Times New Roman" panose="02020603050405020304" pitchFamily="18" charset="0"/>
              </a:rPr>
              <a:t>reason for writing the report mainly depends on the purpose or objective of the report that is informing, instructing, explaining, evaluating etc</a:t>
            </a:r>
            <a:r>
              <a:rPr lang="en-US" sz="2600" dirty="0" smtClean="0">
                <a:solidFill>
                  <a:prstClr val="black"/>
                </a:solidFill>
                <a:latin typeface="Times New Roman" panose="02020603050405020304" pitchFamily="18" charset="0"/>
                <a:cs typeface="Times New Roman" panose="02020603050405020304" pitchFamily="18" charset="0"/>
              </a:rPr>
              <a:t>.</a:t>
            </a:r>
            <a:r>
              <a:rPr lang="en-US" sz="2400" dirty="0">
                <a:solidFill>
                  <a:prstClr val="black"/>
                </a:solidFill>
                <a:latin typeface="Times New Roman" panose="02020603050405020304" pitchFamily="18" charset="0"/>
                <a:cs typeface="Times New Roman" panose="02020603050405020304" pitchFamily="18" charset="0"/>
              </a:rPr>
              <a:t> </a:t>
            </a:r>
            <a:endParaRPr lang="en-US" sz="2400" dirty="0" smtClean="0">
              <a:solidFill>
                <a:prstClr val="black"/>
              </a:solidFill>
              <a:latin typeface="Times New Roman" panose="02020603050405020304" pitchFamily="18" charset="0"/>
              <a:cs typeface="Times New Roman" panose="02020603050405020304" pitchFamily="18" charset="0"/>
            </a:endParaRPr>
          </a:p>
          <a:p>
            <a:pPr lvl="0" algn="just"/>
            <a:r>
              <a:rPr lang="en-US" sz="2400" dirty="0" smtClean="0">
                <a:solidFill>
                  <a:prstClr val="black"/>
                </a:solidFill>
                <a:latin typeface="Times New Roman" panose="02020603050405020304" pitchFamily="18" charset="0"/>
                <a:cs typeface="Times New Roman" panose="02020603050405020304" pitchFamily="18" charset="0"/>
              </a:rPr>
              <a:t>An </a:t>
            </a:r>
            <a:r>
              <a:rPr lang="en-US" sz="2400" dirty="0">
                <a:solidFill>
                  <a:prstClr val="black"/>
                </a:solidFill>
                <a:latin typeface="Times New Roman" panose="02020603050405020304" pitchFamily="18" charset="0"/>
                <a:cs typeface="Times New Roman" panose="02020603050405020304" pitchFamily="18" charset="0"/>
              </a:rPr>
              <a:t>effective report presents and analyses facts and evidence that are relevant to the specific problem or issue of the report brief. </a:t>
            </a:r>
            <a:endParaRPr lang="en-US" sz="2400" dirty="0" smtClean="0">
              <a:solidFill>
                <a:prstClr val="black"/>
              </a:solidFill>
              <a:latin typeface="Times New Roman" panose="02020603050405020304" pitchFamily="18" charset="0"/>
              <a:cs typeface="Times New Roman" panose="02020603050405020304" pitchFamily="18" charset="0"/>
            </a:endParaRPr>
          </a:p>
          <a:p>
            <a:pPr marL="0" lvl="0" indent="0" algn="just">
              <a:buNone/>
            </a:pPr>
            <a:endParaRPr lang="en-US" sz="2400" dirty="0">
              <a:solidFill>
                <a:prstClr val="black"/>
              </a:solidFill>
              <a:latin typeface="Times New Roman" panose="02020603050405020304" pitchFamily="18" charset="0"/>
              <a:cs typeface="Times New Roman" panose="02020603050405020304" pitchFamily="18" charset="0"/>
            </a:endParaRPr>
          </a:p>
          <a:p>
            <a:pPr lvl="0" algn="just"/>
            <a:r>
              <a:rPr lang="en-US" sz="2400" dirty="0">
                <a:solidFill>
                  <a:prstClr val="black"/>
                </a:solidFill>
                <a:latin typeface="Times New Roman" panose="02020603050405020304" pitchFamily="18" charset="0"/>
                <a:cs typeface="Times New Roman" panose="02020603050405020304" pitchFamily="18" charset="0"/>
              </a:rPr>
              <a:t>All sources used should be acknowledged and referenced throughout, in accordance with the preferred method of your department. </a:t>
            </a:r>
          </a:p>
          <a:p>
            <a:pPr lvl="0" algn="just"/>
            <a:endParaRPr lang="en-US" sz="2600" dirty="0" smtClean="0">
              <a:solidFill>
                <a:prstClr val="black"/>
              </a:solidFill>
              <a:latin typeface="Times New Roman" panose="02020603050405020304" pitchFamily="18" charset="0"/>
              <a:cs typeface="Times New Roman" panose="02020603050405020304" pitchFamily="18" charset="0"/>
            </a:endParaRPr>
          </a:p>
          <a:p>
            <a:pPr lvl="0" algn="just"/>
            <a:endParaRPr lang="en-US" sz="2600" dirty="0">
              <a:solidFill>
                <a:prstClr val="black"/>
              </a:solidFill>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845692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lvl="0" algn="just"/>
            <a:r>
              <a:rPr lang="en-US" sz="2400" dirty="0" smtClean="0">
                <a:solidFill>
                  <a:prstClr val="black"/>
                </a:solidFill>
                <a:latin typeface="Times New Roman" panose="02020603050405020304" pitchFamily="18" charset="0"/>
                <a:cs typeface="Times New Roman" panose="02020603050405020304" pitchFamily="18" charset="0"/>
              </a:rPr>
              <a:t>For </a:t>
            </a:r>
            <a:r>
              <a:rPr lang="en-US" sz="2400" dirty="0">
                <a:solidFill>
                  <a:prstClr val="black"/>
                </a:solidFill>
                <a:latin typeface="Times New Roman" panose="02020603050405020304" pitchFamily="18" charset="0"/>
                <a:cs typeface="Times New Roman" panose="02020603050405020304" pitchFamily="18" charset="0"/>
              </a:rPr>
              <a:t>further information people should show the bibliography in avoiding plagiarism that is the crime of using people’s information without acknowledging them. </a:t>
            </a:r>
          </a:p>
          <a:p>
            <a:pPr lvl="0" algn="just"/>
            <a:r>
              <a:rPr lang="en-US" sz="2400" dirty="0">
                <a:solidFill>
                  <a:prstClr val="black"/>
                </a:solidFill>
                <a:latin typeface="Times New Roman" panose="02020603050405020304" pitchFamily="18" charset="0"/>
                <a:cs typeface="Times New Roman" panose="02020603050405020304" pitchFamily="18" charset="0"/>
              </a:rPr>
              <a:t>The style of writing a report is usually less discursive than in an essay, with a more direct and economic use of language. A well written report will demonstrate your ability to organize your materials.</a:t>
            </a:r>
          </a:p>
          <a:p>
            <a:pPr marL="0" indent="0">
              <a:buNone/>
            </a:pPr>
            <a:endParaRPr lang="en-US" dirty="0"/>
          </a:p>
        </p:txBody>
      </p:sp>
    </p:spTree>
    <p:extLst>
      <p:ext uri="{BB962C8B-B14F-4D97-AF65-F5344CB8AC3E}">
        <p14:creationId xmlns:p14="http://schemas.microsoft.com/office/powerpoint/2010/main" val="1180759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6"/>
          </a:xfrm>
        </p:spPr>
        <p:txBody>
          <a:bodyPr>
            <a:normAutofit/>
          </a:bodyPr>
          <a:lstStyle/>
          <a:p>
            <a:pPr lvl="0">
              <a:buFont typeface="Wingdings" panose="05000000000000000000" pitchFamily="2" charset="2"/>
              <a:buChar char="q"/>
            </a:pPr>
            <a:r>
              <a:rPr lang="en-US" b="1" dirty="0">
                <a:solidFill>
                  <a:prstClr val="black"/>
                </a:solidFill>
                <a:latin typeface="Times New Roman" panose="02020603050405020304" pitchFamily="18" charset="0"/>
                <a:cs typeface="Times New Roman" panose="02020603050405020304" pitchFamily="18" charset="0"/>
              </a:rPr>
              <a:t>PREPARING AND PLANNING TO WRITE A REPORT</a:t>
            </a:r>
            <a:endParaRPr lang="en-US" dirty="0">
              <a:solidFill>
                <a:prstClr val="black"/>
              </a:solidFill>
              <a:latin typeface="Times New Roman" panose="02020603050405020304" pitchFamily="18" charset="0"/>
              <a:cs typeface="Times New Roman" panose="02020603050405020304" pitchFamily="18" charset="0"/>
            </a:endParaRPr>
          </a:p>
          <a:p>
            <a:pPr lvl="0" algn="just"/>
            <a:r>
              <a:rPr lang="en-US" dirty="0">
                <a:solidFill>
                  <a:prstClr val="black"/>
                </a:solidFill>
                <a:latin typeface="Times New Roman" panose="02020603050405020304" pitchFamily="18" charset="0"/>
                <a:cs typeface="Times New Roman" panose="02020603050405020304" pitchFamily="18" charset="0"/>
              </a:rPr>
              <a:t>Before writing a report the writer should prepare and plan for the whole process of writing a report. There is a notion that “failing to prepare is preparing to fail”. </a:t>
            </a:r>
          </a:p>
          <a:p>
            <a:pPr lvl="0"/>
            <a:r>
              <a:rPr lang="en-US" dirty="0">
                <a:solidFill>
                  <a:prstClr val="black"/>
                </a:solidFill>
                <a:latin typeface="Times New Roman" panose="02020603050405020304" pitchFamily="18" charset="0"/>
                <a:cs typeface="Times New Roman" panose="02020603050405020304" pitchFamily="18" charset="0"/>
              </a:rPr>
              <a:t>This is because anything you commit to paper before your overall plan has taken shape is likely to be wasted. </a:t>
            </a:r>
            <a:endParaRPr lang="en-US" dirty="0" smtClean="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2482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6"/>
          </a:xfrm>
        </p:spPr>
        <p:txBody>
          <a:bodyPr>
            <a:normAutofit/>
          </a:bodyPr>
          <a:lstStyle/>
          <a:p>
            <a:pPr lvl="0">
              <a:buFont typeface="Wingdings" panose="05000000000000000000" pitchFamily="2" charset="2"/>
              <a:buChar char="v"/>
            </a:pPr>
            <a:r>
              <a:rPr lang="en-US" b="1" dirty="0">
                <a:solidFill>
                  <a:prstClr val="black"/>
                </a:solidFill>
                <a:latin typeface="Times New Roman" panose="02020603050405020304" pitchFamily="18" charset="0"/>
                <a:cs typeface="Times New Roman" panose="02020603050405020304" pitchFamily="18" charset="0"/>
              </a:rPr>
              <a:t>Things to be considered in preparing and planning a report</a:t>
            </a:r>
            <a:endParaRPr lang="en-US" dirty="0">
              <a:solidFill>
                <a:prstClr val="black"/>
              </a:solidFill>
              <a:latin typeface="Times New Roman" panose="02020603050405020304" pitchFamily="18" charset="0"/>
              <a:cs typeface="Times New Roman" panose="02020603050405020304" pitchFamily="18" charset="0"/>
            </a:endParaRPr>
          </a:p>
          <a:p>
            <a:pPr marL="0" lvl="0" indent="0">
              <a:buNone/>
            </a:pPr>
            <a:r>
              <a:rPr lang="en-US" dirty="0">
                <a:solidFill>
                  <a:prstClr val="black"/>
                </a:solidFill>
                <a:latin typeface="Times New Roman" panose="02020603050405020304" pitchFamily="18" charset="0"/>
                <a:cs typeface="Times New Roman" panose="02020603050405020304" pitchFamily="18" charset="0"/>
              </a:rPr>
              <a:t>(a)Setting your objective </a:t>
            </a:r>
            <a:endParaRPr lang="en-US" dirty="0" smtClean="0">
              <a:solidFill>
                <a:prstClr val="black"/>
              </a:solidFill>
              <a:latin typeface="Times New Roman" panose="02020603050405020304" pitchFamily="18" charset="0"/>
              <a:cs typeface="Times New Roman" panose="02020603050405020304" pitchFamily="18" charset="0"/>
            </a:endParaRPr>
          </a:p>
          <a:p>
            <a:pPr lvl="0"/>
            <a:r>
              <a:rPr lang="en-US" dirty="0" smtClean="0">
                <a:solidFill>
                  <a:prstClr val="black"/>
                </a:solidFill>
                <a:latin typeface="Times New Roman" panose="02020603050405020304" pitchFamily="18" charset="0"/>
                <a:cs typeface="Times New Roman" panose="02020603050405020304" pitchFamily="18" charset="0"/>
              </a:rPr>
              <a:t> </a:t>
            </a:r>
            <a:r>
              <a:rPr lang="en-US" dirty="0">
                <a:solidFill>
                  <a:prstClr val="black"/>
                </a:solidFill>
                <a:latin typeface="Times New Roman" panose="02020603050405020304" pitchFamily="18" charset="0"/>
                <a:cs typeface="Times New Roman" panose="02020603050405020304" pitchFamily="18" charset="0"/>
              </a:rPr>
              <a:t>I</a:t>
            </a:r>
            <a:r>
              <a:rPr lang="en-US" dirty="0" smtClean="0">
                <a:solidFill>
                  <a:prstClr val="black"/>
                </a:solidFill>
                <a:latin typeface="Times New Roman" panose="02020603050405020304" pitchFamily="18" charset="0"/>
                <a:cs typeface="Times New Roman" panose="02020603050405020304" pitchFamily="18" charset="0"/>
              </a:rPr>
              <a:t>ndicate </a:t>
            </a:r>
            <a:r>
              <a:rPr lang="en-US" dirty="0">
                <a:solidFill>
                  <a:prstClr val="black"/>
                </a:solidFill>
                <a:latin typeface="Times New Roman" panose="02020603050405020304" pitchFamily="18" charset="0"/>
                <a:cs typeface="Times New Roman" panose="02020603050405020304" pitchFamily="18" charset="0"/>
              </a:rPr>
              <a:t>the purpose of writing the report. </a:t>
            </a:r>
            <a:endParaRPr lang="en-US" dirty="0" smtClean="0">
              <a:solidFill>
                <a:prstClr val="black"/>
              </a:solidFill>
              <a:latin typeface="Times New Roman" panose="02020603050405020304" pitchFamily="18" charset="0"/>
              <a:cs typeface="Times New Roman" panose="02020603050405020304" pitchFamily="18" charset="0"/>
            </a:endParaRPr>
          </a:p>
          <a:p>
            <a:pPr marL="0" lvl="0" indent="0">
              <a:buNone/>
            </a:pPr>
            <a:endParaRPr lang="en-US" dirty="0" smtClean="0">
              <a:solidFill>
                <a:prstClr val="black"/>
              </a:solidFill>
              <a:latin typeface="Times New Roman" panose="02020603050405020304" pitchFamily="18" charset="0"/>
              <a:cs typeface="Times New Roman" panose="02020603050405020304" pitchFamily="18" charset="0"/>
            </a:endParaRPr>
          </a:p>
          <a:p>
            <a:pPr lvl="0"/>
            <a:r>
              <a:rPr lang="en-US" dirty="0">
                <a:solidFill>
                  <a:prstClr val="black"/>
                </a:solidFill>
                <a:latin typeface="Times New Roman" panose="02020603050405020304" pitchFamily="18" charset="0"/>
                <a:cs typeface="Times New Roman" panose="02020603050405020304" pitchFamily="18" charset="0"/>
              </a:rPr>
              <a:t>P</a:t>
            </a:r>
            <a:r>
              <a:rPr lang="en-US" dirty="0" smtClean="0">
                <a:solidFill>
                  <a:prstClr val="black"/>
                </a:solidFill>
                <a:latin typeface="Times New Roman" panose="02020603050405020304" pitchFamily="18" charset="0"/>
                <a:cs typeface="Times New Roman" panose="02020603050405020304" pitchFamily="18" charset="0"/>
              </a:rPr>
              <a:t>lan </a:t>
            </a:r>
            <a:r>
              <a:rPr lang="en-US" dirty="0">
                <a:solidFill>
                  <a:prstClr val="black"/>
                </a:solidFill>
                <a:latin typeface="Times New Roman" panose="02020603050405020304" pitchFamily="18" charset="0"/>
                <a:cs typeface="Times New Roman" panose="02020603050405020304" pitchFamily="18" charset="0"/>
              </a:rPr>
              <a:t>what to write and how to </a:t>
            </a:r>
            <a:r>
              <a:rPr lang="en-US" dirty="0" smtClean="0">
                <a:solidFill>
                  <a:prstClr val="black"/>
                </a:solidFill>
                <a:latin typeface="Times New Roman" panose="02020603050405020304" pitchFamily="18" charset="0"/>
                <a:cs typeface="Times New Roman" panose="02020603050405020304" pitchFamily="18" charset="0"/>
              </a:rPr>
              <a:t>write - </a:t>
            </a:r>
            <a:r>
              <a:rPr lang="en-US" dirty="0">
                <a:solidFill>
                  <a:prstClr val="black"/>
                </a:solidFill>
                <a:latin typeface="Times New Roman" panose="02020603050405020304" pitchFamily="18" charset="0"/>
                <a:cs typeface="Times New Roman" panose="02020603050405020304" pitchFamily="18" charset="0"/>
              </a:rPr>
              <a:t>set clear and precise objectives. The clearly set objectives has a number of benefits as follows:</a:t>
            </a:r>
          </a:p>
          <a:p>
            <a:pPr lvl="1">
              <a:buFont typeface="Wingdings" panose="05000000000000000000" pitchFamily="2" charset="2"/>
              <a:buChar char="ü"/>
            </a:pPr>
            <a:r>
              <a:rPr lang="en-US" sz="2800" dirty="0">
                <a:solidFill>
                  <a:prstClr val="black"/>
                </a:solidFill>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It </a:t>
            </a:r>
            <a:r>
              <a:rPr lang="en-US" sz="2800" dirty="0">
                <a:latin typeface="Times New Roman" panose="02020603050405020304" pitchFamily="18" charset="0"/>
                <a:cs typeface="Times New Roman" panose="02020603050405020304" pitchFamily="18" charset="0"/>
              </a:rPr>
              <a:t>helps a writer on deciding what to include and what to </a:t>
            </a:r>
            <a:r>
              <a:rPr lang="en-US" sz="2800" dirty="0" smtClean="0">
                <a:latin typeface="Times New Roman" panose="02020603050405020304" pitchFamily="18" charset="0"/>
                <a:cs typeface="Times New Roman" panose="02020603050405020304" pitchFamily="18" charset="0"/>
              </a:rPr>
              <a:t>exclude</a:t>
            </a:r>
          </a:p>
          <a:p>
            <a:pPr lvl="1">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it help to put the report at right level</a:t>
            </a:r>
          </a:p>
          <a:p>
            <a:pPr lvl="1">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It </a:t>
            </a:r>
            <a:r>
              <a:rPr lang="en-US" sz="2800" dirty="0">
                <a:latin typeface="Times New Roman" panose="02020603050405020304" pitchFamily="18" charset="0"/>
                <a:cs typeface="Times New Roman" panose="02020603050405020304" pitchFamily="18" charset="0"/>
              </a:rPr>
              <a:t>simplify the process of writing the report</a:t>
            </a:r>
          </a:p>
          <a:p>
            <a:pPr marL="0" indent="0">
              <a:buNone/>
            </a:pPr>
            <a:endParaRPr lang="en-US" dirty="0">
              <a:solidFill>
                <a:prstClr val="black"/>
              </a:solidFill>
            </a:endParaRPr>
          </a:p>
          <a:p>
            <a:pPr lvl="0"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2482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pPr lvl="0" algn="just"/>
            <a:r>
              <a:rPr lang="en-US" sz="2400" dirty="0">
                <a:latin typeface="Times New Roman" panose="02020603050405020304" pitchFamily="18" charset="0"/>
                <a:cs typeface="Times New Roman" panose="02020603050405020304" pitchFamily="18" charset="0"/>
              </a:rPr>
              <a:t>An objective is not what you what to write, but what you want to achieve that is the results of the report or something which you want to happen after the report. </a:t>
            </a:r>
            <a:endParaRPr lang="en-US" sz="2400" dirty="0" smtClean="0">
              <a:latin typeface="Times New Roman" panose="02020603050405020304" pitchFamily="18" charset="0"/>
              <a:cs typeface="Times New Roman" panose="02020603050405020304" pitchFamily="18" charset="0"/>
            </a:endParaRPr>
          </a:p>
          <a:p>
            <a:pPr lvl="0" algn="just"/>
            <a:r>
              <a:rPr lang="en-US" sz="2400" dirty="0" smtClean="0">
                <a:latin typeface="Times New Roman" panose="02020603050405020304" pitchFamily="18" charset="0"/>
                <a:cs typeface="Times New Roman" panose="02020603050405020304" pitchFamily="18" charset="0"/>
              </a:rPr>
              <a:t>For </a:t>
            </a:r>
            <a:r>
              <a:rPr lang="en-US" sz="2400" dirty="0">
                <a:latin typeface="Times New Roman" panose="02020603050405020304" pitchFamily="18" charset="0"/>
                <a:cs typeface="Times New Roman" panose="02020603050405020304" pitchFamily="18" charset="0"/>
              </a:rPr>
              <a:t>example writing a field report is not an objective, but it is a task; the objective is to find out what happened at the field which need to improved or the problem which need to be rectified.  </a:t>
            </a:r>
            <a:endParaRPr lang="en-US" sz="2400" dirty="0" smtClean="0">
              <a:latin typeface="Times New Roman" panose="02020603050405020304" pitchFamily="18" charset="0"/>
              <a:cs typeface="Times New Roman" panose="02020603050405020304" pitchFamily="18" charset="0"/>
            </a:endParaRPr>
          </a:p>
          <a:p>
            <a:pPr lvl="0" algn="just"/>
            <a:r>
              <a:rPr lang="en-US" sz="2400" dirty="0" smtClean="0">
                <a:latin typeface="Times New Roman" panose="02020603050405020304" pitchFamily="18" charset="0"/>
                <a:cs typeface="Times New Roman" panose="02020603050405020304" pitchFamily="18" charset="0"/>
              </a:rPr>
              <a:t>Examples </a:t>
            </a:r>
            <a:r>
              <a:rPr lang="en-US" sz="2400" dirty="0">
                <a:latin typeface="Times New Roman" panose="02020603050405020304" pitchFamily="18" charset="0"/>
                <a:cs typeface="Times New Roman" panose="02020603050405020304" pitchFamily="18" charset="0"/>
              </a:rPr>
              <a:t>of objective; to inform, to describe, to explain, to evaluate, to instruct, to persuade, to provoke debate etc.</a:t>
            </a:r>
          </a:p>
          <a:p>
            <a:pPr algn="just"/>
            <a:endParaRPr lang="en-US" sz="2400" dirty="0" smtClean="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14707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marL="0" lvl="0" indent="0" algn="just">
              <a:buNone/>
            </a:pPr>
            <a:r>
              <a:rPr lang="en-US" sz="2400" dirty="0">
                <a:solidFill>
                  <a:prstClr val="black"/>
                </a:solidFill>
                <a:latin typeface="Times New Roman" panose="02020603050405020304" pitchFamily="18" charset="0"/>
                <a:cs typeface="Times New Roman" panose="02020603050405020304" pitchFamily="18" charset="0"/>
              </a:rPr>
              <a:t>(b) Assessing your readership</a:t>
            </a:r>
          </a:p>
          <a:p>
            <a:pPr lvl="0" algn="just"/>
            <a:r>
              <a:rPr lang="en-US" sz="2400" dirty="0">
                <a:solidFill>
                  <a:prstClr val="black"/>
                </a:solidFill>
                <a:latin typeface="Times New Roman" panose="02020603050405020304" pitchFamily="18" charset="0"/>
                <a:cs typeface="Times New Roman" panose="02020603050405020304" pitchFamily="18" charset="0"/>
              </a:rPr>
              <a:t>I</a:t>
            </a:r>
            <a:r>
              <a:rPr lang="en-US" sz="2400" dirty="0" smtClean="0">
                <a:solidFill>
                  <a:prstClr val="black"/>
                </a:solidFill>
                <a:latin typeface="Times New Roman" panose="02020603050405020304" pitchFamily="18" charset="0"/>
                <a:cs typeface="Times New Roman" panose="02020603050405020304" pitchFamily="18" charset="0"/>
              </a:rPr>
              <a:t>dentifying </a:t>
            </a:r>
            <a:r>
              <a:rPr lang="en-US" sz="2400" dirty="0">
                <a:solidFill>
                  <a:prstClr val="black"/>
                </a:solidFill>
                <a:latin typeface="Times New Roman" panose="02020603050405020304" pitchFamily="18" charset="0"/>
                <a:cs typeface="Times New Roman" panose="02020603050405020304" pitchFamily="18" charset="0"/>
              </a:rPr>
              <a:t>the one who will be reading your report. The content of the report must match with the level of understanding of your reader </a:t>
            </a:r>
            <a:r>
              <a:rPr lang="en-US" sz="2400" dirty="0" err="1">
                <a:solidFill>
                  <a:prstClr val="black"/>
                </a:solidFill>
                <a:latin typeface="Times New Roman" panose="02020603050405020304" pitchFamily="18" charset="0"/>
                <a:cs typeface="Times New Roman" panose="02020603050405020304" pitchFamily="18" charset="0"/>
              </a:rPr>
              <a:t>ie</a:t>
            </a:r>
            <a:r>
              <a:rPr lang="en-US" sz="2400" dirty="0">
                <a:solidFill>
                  <a:prstClr val="black"/>
                </a:solidFill>
                <a:latin typeface="Times New Roman" panose="02020603050405020304" pitchFamily="18" charset="0"/>
                <a:cs typeface="Times New Roman" panose="02020603050405020304" pitchFamily="18" charset="0"/>
              </a:rPr>
              <a:t> his/her knowledge and expertise. </a:t>
            </a:r>
            <a:endParaRPr lang="en-US" sz="2400" dirty="0" smtClean="0">
              <a:solidFill>
                <a:prstClr val="black"/>
              </a:solidFill>
              <a:latin typeface="Times New Roman" panose="02020603050405020304" pitchFamily="18" charset="0"/>
              <a:cs typeface="Times New Roman" panose="02020603050405020304" pitchFamily="18" charset="0"/>
            </a:endParaRPr>
          </a:p>
          <a:p>
            <a:pPr marL="0" lvl="0" indent="0" algn="just">
              <a:buNone/>
            </a:pPr>
            <a:endParaRPr lang="en-US" sz="2400" dirty="0">
              <a:solidFill>
                <a:prstClr val="black"/>
              </a:solidFill>
              <a:latin typeface="Times New Roman" panose="02020603050405020304" pitchFamily="18" charset="0"/>
              <a:cs typeface="Times New Roman" panose="02020603050405020304" pitchFamily="18" charset="0"/>
            </a:endParaRPr>
          </a:p>
          <a:p>
            <a:pPr lvl="0" algn="just"/>
            <a:r>
              <a:rPr lang="en-US" sz="2400" dirty="0">
                <a:solidFill>
                  <a:prstClr val="black"/>
                </a:solidFill>
                <a:latin typeface="Times New Roman" panose="02020603050405020304" pitchFamily="18" charset="0"/>
                <a:cs typeface="Times New Roman" panose="02020603050405020304" pitchFamily="18" charset="0"/>
              </a:rPr>
              <a:t>Thus, the writer should concentrate on the points they will care about, things they don’t know and address the questions and concerns which are likely to be raised. </a:t>
            </a:r>
          </a:p>
          <a:p>
            <a:pPr lvl="0" algn="just"/>
            <a:endParaRPr lang="en-US" sz="2400" dirty="0">
              <a:solidFill>
                <a:prstClr val="black"/>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44764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Autofit/>
          </a:bodyPr>
          <a:lstStyle/>
          <a:p>
            <a:pPr algn="just"/>
            <a:r>
              <a:rPr lang="en-US" sz="2400" dirty="0">
                <a:latin typeface="Times New Roman" panose="02020603050405020304" pitchFamily="18" charset="0"/>
                <a:cs typeface="Times New Roman" panose="02020603050405020304" pitchFamily="18" charset="0"/>
              </a:rPr>
              <a:t>The report need to be reader friendly and not introspective. The readership can </a:t>
            </a:r>
            <a:r>
              <a:rPr lang="en-US" sz="2400" dirty="0" smtClean="0">
                <a:latin typeface="Times New Roman" panose="02020603050405020304" pitchFamily="18" charset="0"/>
                <a:cs typeface="Times New Roman" panose="02020603050405020304" pitchFamily="18" charset="0"/>
              </a:rPr>
              <a:t>be </a:t>
            </a:r>
            <a:r>
              <a:rPr lang="en-US" sz="2400" dirty="0">
                <a:latin typeface="Times New Roman" panose="02020603050405020304" pitchFamily="18" charset="0"/>
                <a:cs typeface="Times New Roman" panose="02020603050405020304" pitchFamily="18" charset="0"/>
              </a:rPr>
              <a:t>identified under the following guidelines</a:t>
            </a:r>
            <a:r>
              <a:rPr lang="en-US" sz="2400" dirty="0" smtClean="0">
                <a:latin typeface="Times New Roman" panose="02020603050405020304" pitchFamily="18" charset="0"/>
                <a:cs typeface="Times New Roman" panose="02020603050405020304" pitchFamily="18" charset="0"/>
              </a:rPr>
              <a:t>: </a:t>
            </a:r>
          </a:p>
          <a:p>
            <a:pPr lvl="1"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Are the readers alike or mixed?</a:t>
            </a:r>
          </a:p>
          <a:p>
            <a:pPr lvl="1"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Are they used to reading and understanding reports?</a:t>
            </a:r>
          </a:p>
          <a:p>
            <a:pPr lvl="1"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How much time will they spend in reading this report?</a:t>
            </a:r>
          </a:p>
          <a:p>
            <a:pPr lvl="1"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What do they already know?</a:t>
            </a:r>
          </a:p>
          <a:p>
            <a:pPr lvl="1"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What else will they need to know?</a:t>
            </a:r>
          </a:p>
          <a:p>
            <a:pPr marL="0" lvl="0" indent="0" algn="just">
              <a:buNone/>
            </a:pP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080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marL="0" lvl="0" indent="0" algn="just">
              <a:buNone/>
            </a:pPr>
            <a:r>
              <a:rPr lang="en-US" sz="2400" dirty="0" smtClean="0">
                <a:solidFill>
                  <a:prstClr val="black"/>
                </a:solidFill>
                <a:latin typeface="Times New Roman" panose="02020603050405020304" pitchFamily="18" charset="0"/>
                <a:cs typeface="Times New Roman" panose="02020603050405020304" pitchFamily="18" charset="0"/>
              </a:rPr>
              <a:t>(c) Deciding </a:t>
            </a:r>
            <a:r>
              <a:rPr lang="en-US" sz="2400" dirty="0">
                <a:solidFill>
                  <a:prstClr val="black"/>
                </a:solidFill>
                <a:latin typeface="Times New Roman" panose="02020603050405020304" pitchFamily="18" charset="0"/>
                <a:cs typeface="Times New Roman" panose="02020603050405020304" pitchFamily="18" charset="0"/>
              </a:rPr>
              <a:t>what information you will need</a:t>
            </a:r>
          </a:p>
          <a:p>
            <a:pPr lvl="0" algn="just"/>
            <a:r>
              <a:rPr lang="en-US" sz="2400" dirty="0">
                <a:solidFill>
                  <a:prstClr val="black"/>
                </a:solidFill>
                <a:latin typeface="Times New Roman" panose="02020603050405020304" pitchFamily="18" charset="0"/>
                <a:cs typeface="Times New Roman" panose="02020603050405020304" pitchFamily="18" charset="0"/>
              </a:rPr>
              <a:t>The information required vary from report to report. </a:t>
            </a:r>
            <a:endParaRPr lang="en-US" sz="2400" dirty="0" smtClean="0">
              <a:solidFill>
                <a:prstClr val="black"/>
              </a:solidFill>
              <a:latin typeface="Times New Roman" panose="02020603050405020304" pitchFamily="18" charset="0"/>
              <a:cs typeface="Times New Roman" panose="02020603050405020304" pitchFamily="18" charset="0"/>
            </a:endParaRPr>
          </a:p>
          <a:p>
            <a:pPr lvl="0" algn="just"/>
            <a:r>
              <a:rPr lang="en-US" sz="2400" dirty="0" smtClean="0">
                <a:solidFill>
                  <a:prstClr val="black"/>
                </a:solidFill>
                <a:latin typeface="Times New Roman" panose="02020603050405020304" pitchFamily="18" charset="0"/>
                <a:cs typeface="Times New Roman" panose="02020603050405020304" pitchFamily="18" charset="0"/>
              </a:rPr>
              <a:t>There </a:t>
            </a:r>
            <a:r>
              <a:rPr lang="en-US" sz="2400" dirty="0">
                <a:solidFill>
                  <a:prstClr val="black"/>
                </a:solidFill>
                <a:latin typeface="Times New Roman" panose="02020603050405020304" pitchFamily="18" charset="0"/>
                <a:cs typeface="Times New Roman" panose="02020603050405020304" pitchFamily="18" charset="0"/>
              </a:rPr>
              <a:t>are some reports which need little information, while other reports need detailed information. </a:t>
            </a:r>
            <a:endParaRPr lang="en-US" sz="2400" dirty="0" smtClean="0">
              <a:solidFill>
                <a:prstClr val="black"/>
              </a:solidFill>
              <a:latin typeface="Times New Roman" panose="02020603050405020304" pitchFamily="18" charset="0"/>
              <a:cs typeface="Times New Roman" panose="02020603050405020304" pitchFamily="18" charset="0"/>
            </a:endParaRPr>
          </a:p>
          <a:p>
            <a:pPr marL="0" lvl="0" indent="0" algn="just">
              <a:buNone/>
            </a:pPr>
            <a:endParaRPr lang="en-US" sz="2400" dirty="0" smtClean="0">
              <a:solidFill>
                <a:prstClr val="black"/>
              </a:solidFill>
              <a:latin typeface="Times New Roman" panose="02020603050405020304" pitchFamily="18" charset="0"/>
              <a:cs typeface="Times New Roman" panose="02020603050405020304" pitchFamily="18" charset="0"/>
            </a:endParaRPr>
          </a:p>
          <a:p>
            <a:pPr lvl="0" algn="just"/>
            <a:r>
              <a:rPr lang="en-US" sz="2400" dirty="0" smtClean="0">
                <a:solidFill>
                  <a:prstClr val="black"/>
                </a:solidFill>
                <a:latin typeface="Times New Roman" panose="02020603050405020304" pitchFamily="18" charset="0"/>
                <a:cs typeface="Times New Roman" panose="02020603050405020304" pitchFamily="18" charset="0"/>
              </a:rPr>
              <a:t>The </a:t>
            </a:r>
            <a:r>
              <a:rPr lang="en-US" sz="2400" dirty="0">
                <a:solidFill>
                  <a:prstClr val="black"/>
                </a:solidFill>
                <a:latin typeface="Times New Roman" panose="02020603050405020304" pitchFamily="18" charset="0"/>
                <a:cs typeface="Times New Roman" panose="02020603050405020304" pitchFamily="18" charset="0"/>
              </a:rPr>
              <a:t>required information is determined by the nature of the report as per </a:t>
            </a:r>
            <a:r>
              <a:rPr lang="en-US" sz="2400" dirty="0" smtClean="0">
                <a:solidFill>
                  <a:prstClr val="black"/>
                </a:solidFill>
                <a:latin typeface="Times New Roman" panose="02020603050405020304" pitchFamily="18" charset="0"/>
                <a:cs typeface="Times New Roman" panose="02020603050405020304" pitchFamily="18" charset="0"/>
              </a:rPr>
              <a:t> </a:t>
            </a:r>
            <a:r>
              <a:rPr lang="en-US" sz="2400" dirty="0">
                <a:solidFill>
                  <a:prstClr val="black"/>
                </a:solidFill>
                <a:latin typeface="Times New Roman" panose="02020603050405020304" pitchFamily="18" charset="0"/>
                <a:cs typeface="Times New Roman" panose="02020603050405020304" pitchFamily="18" charset="0"/>
              </a:rPr>
              <a:t>objectives and the kind of </a:t>
            </a:r>
            <a:r>
              <a:rPr lang="en-US" sz="2400" dirty="0" smtClean="0">
                <a:solidFill>
                  <a:prstClr val="black"/>
                </a:solidFill>
                <a:latin typeface="Times New Roman" panose="02020603050405020304" pitchFamily="18" charset="0"/>
                <a:cs typeface="Times New Roman" panose="02020603050405020304" pitchFamily="18" charset="0"/>
              </a:rPr>
              <a:t>readership.</a:t>
            </a:r>
            <a:endParaRPr lang="en-US" sz="2400" dirty="0">
              <a:solidFill>
                <a:prstClr val="black"/>
              </a:solidFill>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3846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4900639"/>
          </a:xfrm>
        </p:spPr>
        <p:txBody>
          <a:bodyPr>
            <a:normAutofit/>
          </a:bodyPr>
          <a:lstStyle/>
          <a:p>
            <a:pPr algn="just"/>
            <a:r>
              <a:rPr lang="en-US" sz="2400" dirty="0">
                <a:latin typeface="Times New Roman" panose="02020603050405020304" pitchFamily="18" charset="0"/>
                <a:cs typeface="Times New Roman" panose="02020603050405020304" pitchFamily="18" charset="0"/>
              </a:rPr>
              <a:t>In order to know the information required many writers mind map the information they will need to obtain.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entails </a:t>
            </a:r>
            <a:r>
              <a:rPr lang="en-US" sz="2400" dirty="0" smtClean="0">
                <a:latin typeface="Times New Roman" panose="02020603050405020304" pitchFamily="18" charset="0"/>
                <a:cs typeface="Times New Roman" panose="02020603050405020304" pitchFamily="18" charset="0"/>
              </a:rPr>
              <a:t>instead of </a:t>
            </a:r>
            <a:r>
              <a:rPr lang="en-US" sz="2400" dirty="0">
                <a:latin typeface="Times New Roman" panose="02020603050405020304" pitchFamily="18" charset="0"/>
                <a:cs typeface="Times New Roman" panose="02020603050405020304" pitchFamily="18" charset="0"/>
              </a:rPr>
              <a:t>starting at the top of the page downward, someone starts at the </a:t>
            </a:r>
            <a:r>
              <a:rPr lang="en-US" sz="2400" dirty="0" err="1">
                <a:latin typeface="Times New Roman" panose="02020603050405020304" pitchFamily="18" charset="0"/>
                <a:cs typeface="Times New Roman" panose="02020603050405020304" pitchFamily="18" charset="0"/>
              </a:rPr>
              <a:t>centre</a:t>
            </a:r>
            <a:r>
              <a:rPr lang="en-US" sz="2400" dirty="0">
                <a:latin typeface="Times New Roman" panose="02020603050405020304" pitchFamily="18" charset="0"/>
                <a:cs typeface="Times New Roman" panose="02020603050405020304" pitchFamily="18" charset="0"/>
              </a:rPr>
              <a:t> and branches the information.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Mind </a:t>
            </a:r>
            <a:r>
              <a:rPr lang="en-US" sz="2400" dirty="0">
                <a:latin typeface="Times New Roman" panose="02020603050405020304" pitchFamily="18" charset="0"/>
                <a:cs typeface="Times New Roman" panose="02020603050405020304" pitchFamily="18" charset="0"/>
              </a:rPr>
              <a:t>mapping the required information help to define the objectives, to identify all facts which are needed, to exclude unwanted information, to link key concepts and facts</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572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4900639"/>
          </a:xfrm>
        </p:spPr>
        <p:txBody>
          <a:bodyPr>
            <a:normAutofit/>
          </a:bodyPr>
          <a:lstStyle/>
          <a:p>
            <a:pPr marL="0" lvl="0" indent="0" algn="just">
              <a:buNone/>
            </a:pPr>
            <a:r>
              <a:rPr lang="en-US" sz="2400" dirty="0">
                <a:solidFill>
                  <a:prstClr val="black"/>
                </a:solidFill>
                <a:latin typeface="Times New Roman" panose="02020603050405020304" pitchFamily="18" charset="0"/>
                <a:cs typeface="Times New Roman" panose="02020603050405020304" pitchFamily="18" charset="0"/>
              </a:rPr>
              <a:t>(d)Preparing your skeletal </a:t>
            </a:r>
            <a:r>
              <a:rPr lang="en-US" sz="2400" dirty="0" smtClean="0">
                <a:solidFill>
                  <a:prstClr val="black"/>
                </a:solidFill>
                <a:latin typeface="Times New Roman" panose="02020603050405020304" pitchFamily="18" charset="0"/>
                <a:cs typeface="Times New Roman" panose="02020603050405020304" pitchFamily="18" charset="0"/>
              </a:rPr>
              <a:t>framework</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It show </a:t>
            </a:r>
            <a:r>
              <a:rPr lang="en-US" sz="2400" dirty="0">
                <a:latin typeface="Times New Roman" panose="02020603050405020304" pitchFamily="18" charset="0"/>
                <a:cs typeface="Times New Roman" panose="02020603050405020304" pitchFamily="18" charset="0"/>
              </a:rPr>
              <a:t>the overall plan of your report. It is like an architect drawing a plan for a new house.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shows the overall structure and the information which you will need to gather before the process of </a:t>
            </a:r>
            <a:r>
              <a:rPr lang="en-US" sz="2400" dirty="0" smtClean="0">
                <a:latin typeface="Times New Roman" panose="02020603050405020304" pitchFamily="18" charset="0"/>
                <a:cs typeface="Times New Roman" panose="02020603050405020304" pitchFamily="18" charset="0"/>
              </a:rPr>
              <a:t>writing.</a:t>
            </a:r>
          </a:p>
          <a:p>
            <a:pPr algn="just"/>
            <a:r>
              <a:rPr lang="en-US" sz="2400" dirty="0">
                <a:latin typeface="Times New Roman" panose="02020603050405020304" pitchFamily="18" charset="0"/>
                <a:cs typeface="Times New Roman" panose="02020603050405020304" pitchFamily="18" charset="0"/>
              </a:rPr>
              <a:t>A skeletal </a:t>
            </a:r>
            <a:r>
              <a:rPr lang="en-US" sz="2400" dirty="0" smtClean="0">
                <a:latin typeface="Times New Roman" panose="02020603050405020304" pitchFamily="18" charset="0"/>
                <a:cs typeface="Times New Roman" panose="02020603050405020304" pitchFamily="18" charset="0"/>
              </a:rPr>
              <a:t>framework - enable </a:t>
            </a:r>
            <a:r>
              <a:rPr lang="en-US" sz="2400" dirty="0">
                <a:latin typeface="Times New Roman" panose="02020603050405020304" pitchFamily="18" charset="0"/>
                <a:cs typeface="Times New Roman" panose="02020603050405020304" pitchFamily="18" charset="0"/>
              </a:rPr>
              <a:t>the writer to be sure that there is no misunderstanding on the objectives, to have an overview of the report, to be reminded of the information to be collected and to identify gaps in terms of coverage or logic.</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572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pPr lvl="0" algn="just"/>
            <a:r>
              <a:rPr lang="en-US" sz="2400" dirty="0">
                <a:latin typeface="Times New Roman" panose="02020603050405020304" pitchFamily="18" charset="0"/>
                <a:cs typeface="Times New Roman" panose="02020603050405020304" pitchFamily="18" charset="0"/>
              </a:rPr>
              <a:t>A well planned skeletal framework is the key to effective report writing. Preparation of skeletal framework involves three stages</a:t>
            </a:r>
          </a:p>
          <a:p>
            <a:pPr lvl="1"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Write a working title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clear, concise and relevant.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title should be prominent than any heading that appear in the report</a:t>
            </a:r>
            <a:r>
              <a:rPr lang="en-US" dirty="0" smtClean="0">
                <a:latin typeface="Times New Roman" panose="02020603050405020304" pitchFamily="18" charset="0"/>
                <a:cs typeface="Times New Roman" panose="02020603050405020304" pitchFamily="18" charset="0"/>
              </a:rPr>
              <a:t>.</a:t>
            </a:r>
          </a:p>
          <a:p>
            <a:pPr marL="457200" lvl="1" indent="0" algn="just">
              <a:buNone/>
            </a:pP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Consider the overall structure of the report: This should show the prospective components of your report </a:t>
            </a:r>
            <a:r>
              <a:rPr lang="en-US" dirty="0" err="1">
                <a:latin typeface="Times New Roman" panose="02020603050405020304" pitchFamily="18" charset="0"/>
                <a:cs typeface="Times New Roman" panose="02020603050405020304" pitchFamily="18" charset="0"/>
              </a:rPr>
              <a:t>ie</a:t>
            </a:r>
            <a:r>
              <a:rPr lang="en-US" dirty="0">
                <a:latin typeface="Times New Roman" panose="02020603050405020304" pitchFamily="18" charset="0"/>
                <a:cs typeface="Times New Roman" panose="02020603050405020304" pitchFamily="18" charset="0"/>
              </a:rPr>
              <a:t> the beginning, the middle part and the end of the report</a:t>
            </a:r>
            <a:r>
              <a:rPr lang="en-US" dirty="0" smtClean="0">
                <a:latin typeface="Times New Roman" panose="02020603050405020304" pitchFamily="18" charset="0"/>
                <a:cs typeface="Times New Roman" panose="02020603050405020304" pitchFamily="18" charset="0"/>
              </a:rPr>
              <a:t>.</a:t>
            </a:r>
            <a:r>
              <a:rPr lang="en-US" dirty="0">
                <a:solidFill>
                  <a:prstClr val="black"/>
                </a:solidFill>
                <a:latin typeface="Times New Roman" panose="02020603050405020304" pitchFamily="18" charset="0"/>
                <a:cs typeface="Times New Roman" panose="02020603050405020304" pitchFamily="18" charset="0"/>
              </a:rPr>
              <a:t> </a:t>
            </a:r>
            <a:endParaRPr lang="en-US" dirty="0" smtClean="0">
              <a:solidFill>
                <a:prstClr val="black"/>
              </a:solidFill>
              <a:latin typeface="Times New Roman" panose="02020603050405020304" pitchFamily="18" charset="0"/>
              <a:cs typeface="Times New Roman" panose="02020603050405020304" pitchFamily="18" charset="0"/>
            </a:endParaRPr>
          </a:p>
          <a:p>
            <a:pPr marL="457200" lvl="1" indent="0" algn="just">
              <a:buNone/>
            </a:pPr>
            <a:endParaRPr lang="en-US" dirty="0" smtClean="0">
              <a:solidFill>
                <a:prstClr val="black"/>
              </a:solidFill>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dirty="0" smtClean="0">
                <a:solidFill>
                  <a:prstClr val="black"/>
                </a:solidFill>
                <a:latin typeface="Times New Roman" panose="02020603050405020304" pitchFamily="18" charset="0"/>
                <a:cs typeface="Times New Roman" panose="02020603050405020304" pitchFamily="18" charset="0"/>
              </a:rPr>
              <a:t>Consider </a:t>
            </a:r>
            <a:r>
              <a:rPr lang="en-US" dirty="0">
                <a:solidFill>
                  <a:prstClr val="black"/>
                </a:solidFill>
                <a:latin typeface="Times New Roman" panose="02020603050405020304" pitchFamily="18" charset="0"/>
                <a:cs typeface="Times New Roman" panose="02020603050405020304" pitchFamily="18" charset="0"/>
              </a:rPr>
              <a:t>the way information will be presented in the main body: Shape your report in a structure which will be easily read by your </a:t>
            </a:r>
            <a:r>
              <a:rPr lang="en-US" dirty="0" smtClean="0">
                <a:solidFill>
                  <a:prstClr val="black"/>
                </a:solidFill>
                <a:latin typeface="Times New Roman" panose="02020603050405020304" pitchFamily="18" charset="0"/>
                <a:cs typeface="Times New Roman" panose="02020603050405020304" pitchFamily="18" charset="0"/>
              </a:rPr>
              <a:t>readers</a:t>
            </a:r>
            <a:r>
              <a:rPr lang="en-US" dirty="0">
                <a:solidFill>
                  <a:prstClr val="black"/>
                </a:solidFill>
                <a:latin typeface="Times New Roman" panose="02020603050405020304" pitchFamily="18" charset="0"/>
                <a:cs typeface="Times New Roman" panose="02020603050405020304" pitchFamily="18" charset="0"/>
              </a:rPr>
              <a:t> </a:t>
            </a:r>
            <a:r>
              <a:rPr lang="en-US" dirty="0" err="1" smtClean="0">
                <a:solidFill>
                  <a:prstClr val="black"/>
                </a:solidFill>
                <a:latin typeface="Times New Roman" panose="02020603050405020304" pitchFamily="18" charset="0"/>
                <a:cs typeface="Times New Roman" panose="02020603050405020304" pitchFamily="18" charset="0"/>
              </a:rPr>
              <a:t>ie</a:t>
            </a:r>
            <a:r>
              <a:rPr lang="en-US" dirty="0" smtClean="0">
                <a:solidFill>
                  <a:prstClr val="black"/>
                </a:solidFill>
                <a:latin typeface="Times New Roman" panose="02020603050405020304" pitchFamily="18" charset="0"/>
                <a:cs typeface="Times New Roman" panose="02020603050405020304" pitchFamily="18" charset="0"/>
              </a:rPr>
              <a:t> </a:t>
            </a:r>
            <a:r>
              <a:rPr lang="en-US" dirty="0">
                <a:solidFill>
                  <a:prstClr val="black"/>
                </a:solidFill>
                <a:latin typeface="Times New Roman" panose="02020603050405020304" pitchFamily="18" charset="0"/>
                <a:cs typeface="Times New Roman" panose="02020603050405020304" pitchFamily="18" charset="0"/>
              </a:rPr>
              <a:t>showing the ranking and relationship of information.</a:t>
            </a:r>
          </a:p>
          <a:p>
            <a:pPr lvl="1" algn="just">
              <a:buFont typeface="Wingdings" panose="05000000000000000000" pitchFamily="2" charset="2"/>
              <a:buChar char="§"/>
            </a:pPr>
            <a:endParaRPr lang="en-US" dirty="0" smtClean="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5569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marL="0" lvl="0" indent="0" algn="just">
              <a:buNone/>
            </a:pPr>
            <a:r>
              <a:rPr lang="en-US" sz="2400" dirty="0" smtClean="0">
                <a:solidFill>
                  <a:prstClr val="black"/>
                </a:solidFill>
                <a:latin typeface="Times New Roman" panose="02020603050405020304" pitchFamily="18" charset="0"/>
                <a:cs typeface="Times New Roman" panose="02020603050405020304" pitchFamily="18" charset="0"/>
              </a:rPr>
              <a:t>(</a:t>
            </a:r>
            <a:r>
              <a:rPr lang="en-US" sz="2400" dirty="0">
                <a:solidFill>
                  <a:prstClr val="black"/>
                </a:solidFill>
                <a:latin typeface="Times New Roman" panose="02020603050405020304" pitchFamily="18" charset="0"/>
                <a:cs typeface="Times New Roman" panose="02020603050405020304" pitchFamily="18" charset="0"/>
              </a:rPr>
              <a:t>e) Testing and revisiting your skeletal framework</a:t>
            </a:r>
          </a:p>
          <a:p>
            <a:pPr lvl="0"/>
            <a:r>
              <a:rPr lang="en-US" sz="2400" dirty="0">
                <a:solidFill>
                  <a:prstClr val="black"/>
                </a:solidFill>
                <a:latin typeface="Times New Roman" panose="02020603050405020304" pitchFamily="18" charset="0"/>
                <a:cs typeface="Times New Roman" panose="02020603050405020304" pitchFamily="18" charset="0"/>
              </a:rPr>
              <a:t>The first test should be conducted in each component and other tests will be conducted on each group of categories in the main body</a:t>
            </a:r>
            <a:r>
              <a:rPr lang="en-US" sz="2400" dirty="0" smtClean="0">
                <a:solidFill>
                  <a:prstClr val="black"/>
                </a:solidFill>
                <a:latin typeface="Times New Roman" panose="02020603050405020304" pitchFamily="18" charset="0"/>
                <a:cs typeface="Times New Roman" panose="02020603050405020304" pitchFamily="18" charset="0"/>
              </a:rPr>
              <a:t>.</a:t>
            </a:r>
          </a:p>
          <a:p>
            <a:pPr lvl="0"/>
            <a:r>
              <a:rPr lang="en-US" sz="2400" dirty="0" smtClean="0">
                <a:solidFill>
                  <a:prstClr val="black"/>
                </a:solidFill>
                <a:latin typeface="Times New Roman" panose="02020603050405020304" pitchFamily="18" charset="0"/>
                <a:cs typeface="Times New Roman" panose="02020603050405020304" pitchFamily="18" charset="0"/>
              </a:rPr>
              <a:t> </a:t>
            </a:r>
            <a:r>
              <a:rPr lang="en-US" dirty="0">
                <a:solidFill>
                  <a:prstClr val="black"/>
                </a:solidFill>
                <a:latin typeface="Times New Roman" panose="02020603050405020304" pitchFamily="18" charset="0"/>
                <a:cs typeface="Times New Roman" panose="02020603050405020304" pitchFamily="18" charset="0"/>
              </a:rPr>
              <a:t>It should start from level 1 going to upper levels in the hierarchy as follows:</a:t>
            </a:r>
            <a:endParaRPr lang="en-US" dirty="0">
              <a:solidFill>
                <a:prstClr val="black"/>
              </a:solidFill>
            </a:endParaRPr>
          </a:p>
          <a:p>
            <a:pPr lvl="1">
              <a:buFont typeface="Wingdings" panose="05000000000000000000" pitchFamily="2" charset="2"/>
              <a:buChar char="§"/>
            </a:pPr>
            <a:r>
              <a:rPr lang="en-US" dirty="0">
                <a:solidFill>
                  <a:prstClr val="black"/>
                </a:solidFill>
                <a:latin typeface="Times New Roman" panose="02020603050405020304" pitchFamily="18" charset="0"/>
                <a:cs typeface="Times New Roman" panose="02020603050405020304" pitchFamily="18" charset="0"/>
              </a:rPr>
              <a:t>Necessity test: Is each component necessary? </a:t>
            </a:r>
            <a:r>
              <a:rPr lang="en-US" dirty="0" err="1">
                <a:solidFill>
                  <a:prstClr val="black"/>
                </a:solidFill>
                <a:latin typeface="Times New Roman" panose="02020603050405020304" pitchFamily="18" charset="0"/>
                <a:cs typeface="Times New Roman" panose="02020603050405020304" pitchFamily="18" charset="0"/>
              </a:rPr>
              <a:t>Eg</a:t>
            </a:r>
            <a:r>
              <a:rPr lang="en-US" dirty="0">
                <a:solidFill>
                  <a:prstClr val="black"/>
                </a:solidFill>
                <a:latin typeface="Times New Roman" panose="02020603050405020304" pitchFamily="18" charset="0"/>
                <a:cs typeface="Times New Roman" panose="02020603050405020304" pitchFamily="18" charset="0"/>
              </a:rPr>
              <a:t> Is the title page necessary?  Yes because it identify the report to the readers.</a:t>
            </a:r>
          </a:p>
          <a:p>
            <a:pPr lvl="1">
              <a:buFont typeface="Wingdings" panose="05000000000000000000" pitchFamily="2" charset="2"/>
              <a:buChar char="§"/>
            </a:pPr>
            <a:r>
              <a:rPr lang="en-US" dirty="0">
                <a:solidFill>
                  <a:prstClr val="black"/>
                </a:solidFill>
                <a:latin typeface="Times New Roman" panose="02020603050405020304" pitchFamily="18" charset="0"/>
                <a:cs typeface="Times New Roman" panose="02020603050405020304" pitchFamily="18" charset="0"/>
              </a:rPr>
              <a:t>Inclusion test: are all appropriate items included? If </a:t>
            </a:r>
            <a:r>
              <a:rPr lang="en-US" dirty="0" smtClean="0">
                <a:solidFill>
                  <a:prstClr val="black"/>
                </a:solidFill>
                <a:latin typeface="Times New Roman" panose="02020603050405020304" pitchFamily="18" charset="0"/>
                <a:cs typeface="Times New Roman" panose="02020603050405020304" pitchFamily="18" charset="0"/>
              </a:rPr>
              <a:t>not, </a:t>
            </a:r>
            <a:r>
              <a:rPr lang="en-US" dirty="0">
                <a:solidFill>
                  <a:prstClr val="black"/>
                </a:solidFill>
                <a:latin typeface="Times New Roman" panose="02020603050405020304" pitchFamily="18" charset="0"/>
                <a:cs typeface="Times New Roman" panose="02020603050405020304" pitchFamily="18" charset="0"/>
              </a:rPr>
              <a:t>restrict the scope of the heading to fit the items that are present or add missing items.</a:t>
            </a:r>
          </a:p>
          <a:p>
            <a:pPr marL="0" lvl="0" indent="0" algn="just">
              <a:buNone/>
            </a:pPr>
            <a:endParaRPr lang="en-US" sz="2400" dirty="0" smtClean="0">
              <a:solidFill>
                <a:prstClr val="black"/>
              </a:solidFill>
              <a:latin typeface="Times New Roman" panose="02020603050405020304" pitchFamily="18" charset="0"/>
              <a:cs typeface="Times New Roman" panose="02020603050405020304" pitchFamily="18" charset="0"/>
            </a:endParaRPr>
          </a:p>
          <a:p>
            <a:pPr lvl="0" algn="just"/>
            <a:endParaRPr lang="en-US" dirty="0">
              <a:solidFill>
                <a:prstClr val="black"/>
              </a:solidFill>
            </a:endParaRPr>
          </a:p>
          <a:p>
            <a:pPr marL="0" indent="0">
              <a:buNone/>
            </a:pPr>
            <a:endParaRPr lang="en-US" dirty="0"/>
          </a:p>
        </p:txBody>
      </p:sp>
    </p:spTree>
    <p:extLst>
      <p:ext uri="{BB962C8B-B14F-4D97-AF65-F5344CB8AC3E}">
        <p14:creationId xmlns:p14="http://schemas.microsoft.com/office/powerpoint/2010/main" val="861034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a:bodyPr>
          <a:lstStyle/>
          <a:p>
            <a:pPr lvl="1">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Exclusion </a:t>
            </a:r>
            <a:r>
              <a:rPr lang="en-US" dirty="0">
                <a:latin typeface="Times New Roman" panose="02020603050405020304" pitchFamily="18" charset="0"/>
                <a:cs typeface="Times New Roman" panose="02020603050405020304" pitchFamily="18" charset="0"/>
              </a:rPr>
              <a:t>test: Are all inappropriate items excluded? If not delete them</a:t>
            </a:r>
            <a:r>
              <a:rPr lang="en-US" dirty="0" smtClean="0">
                <a:latin typeface="Times New Roman" panose="02020603050405020304" pitchFamily="18" charset="0"/>
                <a:cs typeface="Times New Roman" panose="02020603050405020304" pitchFamily="18" charset="0"/>
              </a:rPr>
              <a:t>.</a:t>
            </a:r>
          </a:p>
          <a:p>
            <a:pPr marL="457200" lvl="1" indent="0">
              <a:buNone/>
            </a:pP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Hierarchy test: Are the items hierarchically parallel? Heading of similar rank should represent topics of equal importance</a:t>
            </a:r>
            <a:r>
              <a:rPr lang="en-US" dirty="0" smtClean="0">
                <a:latin typeface="Times New Roman" panose="02020603050405020304" pitchFamily="18" charset="0"/>
                <a:cs typeface="Times New Roman" panose="02020603050405020304" pitchFamily="18" charset="0"/>
              </a:rPr>
              <a:t>.</a:t>
            </a:r>
            <a:r>
              <a:rPr lang="en-US" dirty="0">
                <a:solidFill>
                  <a:prstClr val="black"/>
                </a:solidFill>
                <a:latin typeface="Times New Roman" panose="02020603050405020304" pitchFamily="18" charset="0"/>
                <a:cs typeface="Times New Roman" panose="02020603050405020304" pitchFamily="18" charset="0"/>
              </a:rPr>
              <a:t> Sequence test: Are the items arranged in the appropriate sequence? If not arrange them properly</a:t>
            </a:r>
            <a:r>
              <a:rPr lang="en-US" dirty="0" smtClean="0">
                <a:solidFill>
                  <a:prstClr val="black"/>
                </a:solidFill>
                <a:latin typeface="Times New Roman" panose="02020603050405020304" pitchFamily="18" charset="0"/>
                <a:cs typeface="Times New Roman" panose="02020603050405020304" pitchFamily="18" charset="0"/>
              </a:rPr>
              <a:t>.</a:t>
            </a:r>
          </a:p>
          <a:p>
            <a:pPr lvl="1" algn="just">
              <a:buFont typeface="Wingdings" panose="05000000000000000000" pitchFamily="2" charset="2"/>
              <a:buChar char="§"/>
            </a:pPr>
            <a:endParaRPr lang="en-US" dirty="0">
              <a:solidFill>
                <a:prstClr val="black"/>
              </a:solidFill>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dirty="0">
                <a:solidFill>
                  <a:prstClr val="black"/>
                </a:solidFill>
                <a:latin typeface="Times New Roman" panose="02020603050405020304" pitchFamily="18" charset="0"/>
                <a:cs typeface="Times New Roman" panose="02020603050405020304" pitchFamily="18" charset="0"/>
              </a:rPr>
              <a:t>Language test: Are the items grammatically organized? Grammar, punctuation, verbs and noun organization</a:t>
            </a:r>
            <a:r>
              <a:rPr lang="en-US" dirty="0" smtClean="0">
                <a:solidFill>
                  <a:prstClr val="black"/>
                </a:solidFill>
                <a:latin typeface="Times New Roman" panose="02020603050405020304" pitchFamily="18" charset="0"/>
                <a:cs typeface="Times New Roman" panose="02020603050405020304" pitchFamily="18" charset="0"/>
              </a:rPr>
              <a:t>.</a:t>
            </a:r>
          </a:p>
          <a:p>
            <a:pPr marL="457200" lvl="1" indent="0" algn="just">
              <a:buNone/>
            </a:pPr>
            <a:endParaRPr lang="en-US" dirty="0">
              <a:solidFill>
                <a:prstClr val="black"/>
              </a:solidFill>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dirty="0">
                <a:solidFill>
                  <a:prstClr val="black"/>
                </a:solidFill>
                <a:latin typeface="Times New Roman" panose="02020603050405020304" pitchFamily="18" charset="0"/>
                <a:cs typeface="Times New Roman" panose="02020603050405020304" pitchFamily="18" charset="0"/>
              </a:rPr>
              <a:t>Numbering test: Are the items numbered appropriately and consistently? Lever 1 </a:t>
            </a:r>
            <a:r>
              <a:rPr lang="en-US" dirty="0" err="1">
                <a:solidFill>
                  <a:prstClr val="black"/>
                </a:solidFill>
                <a:latin typeface="Times New Roman" panose="02020603050405020304" pitchFamily="18" charset="0"/>
                <a:cs typeface="Times New Roman" panose="02020603050405020304" pitchFamily="18" charset="0"/>
              </a:rPr>
              <a:t>eg</a:t>
            </a:r>
            <a:r>
              <a:rPr lang="en-US" dirty="0">
                <a:solidFill>
                  <a:prstClr val="black"/>
                </a:solidFill>
                <a:latin typeface="Times New Roman" panose="02020603050405020304" pitchFamily="18" charset="0"/>
                <a:cs typeface="Times New Roman" panose="02020603050405020304" pitchFamily="18" charset="0"/>
              </a:rPr>
              <a:t> 1, 2, 3, 4 and level 2 </a:t>
            </a:r>
            <a:r>
              <a:rPr lang="en-US" dirty="0" err="1">
                <a:solidFill>
                  <a:prstClr val="black"/>
                </a:solidFill>
                <a:latin typeface="Times New Roman" panose="02020603050405020304" pitchFamily="18" charset="0"/>
                <a:cs typeface="Times New Roman" panose="02020603050405020304" pitchFamily="18" charset="0"/>
              </a:rPr>
              <a:t>eg</a:t>
            </a:r>
            <a:r>
              <a:rPr lang="en-US" dirty="0">
                <a:solidFill>
                  <a:prstClr val="black"/>
                </a:solidFill>
                <a:latin typeface="Times New Roman" panose="02020603050405020304" pitchFamily="18" charset="0"/>
                <a:cs typeface="Times New Roman" panose="02020603050405020304" pitchFamily="18" charset="0"/>
              </a:rPr>
              <a:t> 1.1, 1.2 etc. </a:t>
            </a:r>
          </a:p>
          <a:p>
            <a:pPr marL="457200" lvl="1" indent="0">
              <a:buNone/>
            </a:pPr>
            <a:endParaRPr lang="en-US" dirty="0" smtClean="0"/>
          </a:p>
          <a:p>
            <a:pPr marL="457200" lvl="1" indent="0">
              <a:buNone/>
            </a:pPr>
            <a:endParaRPr lang="en-US" dirty="0"/>
          </a:p>
        </p:txBody>
      </p:sp>
    </p:spTree>
    <p:extLst>
      <p:ext uri="{BB962C8B-B14F-4D97-AF65-F5344CB8AC3E}">
        <p14:creationId xmlns:p14="http://schemas.microsoft.com/office/powerpoint/2010/main" val="1092619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a:bodyPr>
          <a:lstStyle/>
          <a:p>
            <a:pPr lvl="1" algn="just">
              <a:buFont typeface="Wingdings" panose="05000000000000000000" pitchFamily="2" charset="2"/>
              <a:buChar char="q"/>
            </a:pPr>
            <a:r>
              <a:rPr lang="en-US" sz="2800" b="1" dirty="0" smtClean="0">
                <a:latin typeface="Times New Roman" panose="02020603050405020304" pitchFamily="18" charset="0"/>
                <a:cs typeface="Times New Roman" panose="02020603050405020304" pitchFamily="18" charset="0"/>
              </a:rPr>
              <a:t>Features </a:t>
            </a:r>
            <a:r>
              <a:rPr lang="en-US" sz="2800" b="1" dirty="0">
                <a:latin typeface="Times New Roman" panose="02020603050405020304" pitchFamily="18" charset="0"/>
                <a:cs typeface="Times New Roman" panose="02020603050405020304" pitchFamily="18" charset="0"/>
              </a:rPr>
              <a:t>of good reports</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It is the one which show the purpose of the report in brief and adhere to its specifications; this means the report should show its focus and should be specific on its coverage</a:t>
            </a:r>
            <a:r>
              <a:rPr lang="en-US" sz="2400" dirty="0" smtClean="0">
                <a:latin typeface="Times New Roman" panose="02020603050405020304" pitchFamily="18" charset="0"/>
                <a:cs typeface="Times New Roman" panose="02020603050405020304" pitchFamily="18" charset="0"/>
              </a:rPr>
              <a:t>.</a:t>
            </a:r>
            <a:r>
              <a:rPr lang="en-US" sz="2400" dirty="0">
                <a:solidFill>
                  <a:prstClr val="black"/>
                </a:solidFill>
                <a:latin typeface="Times New Roman" panose="02020603050405020304" pitchFamily="18" charset="0"/>
                <a:cs typeface="Times New Roman" panose="02020603050405020304" pitchFamily="18" charset="0"/>
              </a:rPr>
              <a:t> </a:t>
            </a:r>
            <a:endParaRPr lang="en-US" sz="2400" dirty="0" smtClean="0">
              <a:solidFill>
                <a:prstClr val="black"/>
              </a:solidFill>
              <a:latin typeface="Times New Roman" panose="02020603050405020304" pitchFamily="18" charset="0"/>
              <a:cs typeface="Times New Roman" panose="02020603050405020304" pitchFamily="18" charset="0"/>
            </a:endParaRPr>
          </a:p>
          <a:p>
            <a:pPr lvl="0" algn="just"/>
            <a:r>
              <a:rPr lang="en-US" sz="2400" dirty="0" smtClean="0">
                <a:solidFill>
                  <a:prstClr val="black"/>
                </a:solidFill>
                <a:latin typeface="Times New Roman" panose="02020603050405020304" pitchFamily="18" charset="0"/>
                <a:cs typeface="Times New Roman" panose="02020603050405020304" pitchFamily="18" charset="0"/>
              </a:rPr>
              <a:t>It </a:t>
            </a:r>
            <a:r>
              <a:rPr lang="en-US" sz="2400" dirty="0">
                <a:solidFill>
                  <a:prstClr val="black"/>
                </a:solidFill>
                <a:latin typeface="Times New Roman" panose="02020603050405020304" pitchFamily="18" charset="0"/>
                <a:cs typeface="Times New Roman" panose="02020603050405020304" pitchFamily="18" charset="0"/>
              </a:rPr>
              <a:t>is the one which gather, evaluate and analyses factual information; </a:t>
            </a:r>
            <a:r>
              <a:rPr lang="en-US" sz="2400" dirty="0" err="1">
                <a:solidFill>
                  <a:prstClr val="black"/>
                </a:solidFill>
                <a:latin typeface="Times New Roman" panose="02020603050405020304" pitchFamily="18" charset="0"/>
                <a:cs typeface="Times New Roman" panose="02020603050405020304" pitchFamily="18" charset="0"/>
              </a:rPr>
              <a:t>ie</a:t>
            </a:r>
            <a:r>
              <a:rPr lang="en-US" sz="2400" dirty="0">
                <a:solidFill>
                  <a:prstClr val="black"/>
                </a:solidFill>
                <a:latin typeface="Times New Roman" panose="02020603050405020304" pitchFamily="18" charset="0"/>
                <a:cs typeface="Times New Roman" panose="02020603050405020304" pitchFamily="18" charset="0"/>
              </a:rPr>
              <a:t> it should show its details on the way they are gathered, </a:t>
            </a:r>
            <a:r>
              <a:rPr lang="en-US" sz="2400" dirty="0" err="1">
                <a:solidFill>
                  <a:prstClr val="black"/>
                </a:solidFill>
                <a:latin typeface="Times New Roman" panose="02020603050405020304" pitchFamily="18" charset="0"/>
                <a:cs typeface="Times New Roman" panose="02020603050405020304" pitchFamily="18" charset="0"/>
              </a:rPr>
              <a:t>analysed</a:t>
            </a:r>
            <a:r>
              <a:rPr lang="en-US" sz="2400" dirty="0">
                <a:solidFill>
                  <a:prstClr val="black"/>
                </a:solidFill>
                <a:latin typeface="Times New Roman" panose="02020603050405020304" pitchFamily="18" charset="0"/>
                <a:cs typeface="Times New Roman" panose="02020603050405020304" pitchFamily="18" charset="0"/>
              </a:rPr>
              <a:t> and </a:t>
            </a:r>
            <a:r>
              <a:rPr lang="en-US" sz="2400" dirty="0" smtClean="0">
                <a:solidFill>
                  <a:prstClr val="black"/>
                </a:solidFill>
                <a:latin typeface="Times New Roman" panose="02020603050405020304" pitchFamily="18" charset="0"/>
                <a:cs typeface="Times New Roman" panose="02020603050405020304" pitchFamily="18" charset="0"/>
              </a:rPr>
              <a:t>evaluated</a:t>
            </a:r>
          </a:p>
          <a:p>
            <a:pPr lvl="0" algn="just"/>
            <a:endParaRPr lang="en-US" sz="2400" dirty="0">
              <a:solidFill>
                <a:prstClr val="black"/>
              </a:solidFill>
              <a:latin typeface="Times New Roman" panose="02020603050405020304" pitchFamily="18" charset="0"/>
              <a:cs typeface="Times New Roman" panose="02020603050405020304" pitchFamily="18" charset="0"/>
            </a:endParaRPr>
          </a:p>
          <a:p>
            <a:pPr lvl="0" algn="just"/>
            <a:r>
              <a:rPr lang="en-US" sz="2400" dirty="0">
                <a:solidFill>
                  <a:prstClr val="black"/>
                </a:solidFill>
                <a:latin typeface="Times New Roman" panose="02020603050405020304" pitchFamily="18" charset="0"/>
                <a:cs typeface="Times New Roman" panose="02020603050405020304" pitchFamily="18" charset="0"/>
              </a:rPr>
              <a:t>It is the one which structure material in a logical and coherent order; this means the materials should be organized in an order which make sense and in a connected way. </a:t>
            </a:r>
          </a:p>
          <a:p>
            <a:pPr marL="0" lvl="0" indent="0" algn="just">
              <a:buNone/>
            </a:pPr>
            <a:endParaRPr lang="en-US" sz="2400" dirty="0" smtClean="0">
              <a:latin typeface="Times New Roman" panose="02020603050405020304" pitchFamily="18" charset="0"/>
              <a:cs typeface="Times New Roman" panose="02020603050405020304" pitchFamily="18" charset="0"/>
            </a:endParaRPr>
          </a:p>
          <a:p>
            <a:pPr lvl="0"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2619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pPr lvl="0" algn="just"/>
            <a:r>
              <a:rPr lang="en-US" sz="2600" dirty="0" smtClean="0">
                <a:latin typeface="Times New Roman" panose="02020603050405020304" pitchFamily="18" charset="0"/>
                <a:cs typeface="Times New Roman" panose="02020603050405020304" pitchFamily="18" charset="0"/>
              </a:rPr>
              <a:t>It </a:t>
            </a:r>
            <a:r>
              <a:rPr lang="en-US" sz="2600" dirty="0">
                <a:latin typeface="Times New Roman" panose="02020603050405020304" pitchFamily="18" charset="0"/>
                <a:cs typeface="Times New Roman" panose="02020603050405020304" pitchFamily="18" charset="0"/>
              </a:rPr>
              <a:t>is the one which is presented in a consistent manner according to the instructions of the report in brief; this means it should show the way the report focus on the same subject </a:t>
            </a:r>
            <a:r>
              <a:rPr lang="en-US" sz="2600" dirty="0" smtClean="0">
                <a:latin typeface="Times New Roman" panose="02020603050405020304" pitchFamily="18" charset="0"/>
                <a:cs typeface="Times New Roman" panose="02020603050405020304" pitchFamily="18" charset="0"/>
              </a:rPr>
              <a:t>matter.</a:t>
            </a:r>
          </a:p>
          <a:p>
            <a:pPr lvl="0" algn="just"/>
            <a:endParaRPr lang="en-US" sz="2600" dirty="0" smtClean="0">
              <a:latin typeface="Times New Roman" panose="02020603050405020304" pitchFamily="18" charset="0"/>
              <a:cs typeface="Times New Roman" panose="02020603050405020304" pitchFamily="18" charset="0"/>
            </a:endParaRPr>
          </a:p>
          <a:p>
            <a:pPr lvl="0" algn="just"/>
            <a:r>
              <a:rPr lang="en-US" sz="2600" dirty="0">
                <a:latin typeface="Times New Roman" panose="02020603050405020304" pitchFamily="18" charset="0"/>
                <a:cs typeface="Times New Roman" panose="02020603050405020304" pitchFamily="18" charset="0"/>
              </a:rPr>
              <a:t>It is the one which make appropriate conclusions </a:t>
            </a:r>
            <a:r>
              <a:rPr lang="en-US" sz="2600" dirty="0" err="1">
                <a:latin typeface="Times New Roman" panose="02020603050405020304" pitchFamily="18" charset="0"/>
                <a:cs typeface="Times New Roman" panose="02020603050405020304" pitchFamily="18" charset="0"/>
              </a:rPr>
              <a:t>ie</a:t>
            </a:r>
            <a:r>
              <a:rPr lang="en-US" sz="2600" dirty="0">
                <a:latin typeface="Times New Roman" panose="02020603050405020304" pitchFamily="18" charset="0"/>
                <a:cs typeface="Times New Roman" panose="02020603050405020304" pitchFamily="18" charset="0"/>
              </a:rPr>
              <a:t> that is supported by the evidence and analysis of the report; this means it should give a conclusion which has been drawn from the evidence</a:t>
            </a:r>
            <a:r>
              <a:rPr lang="en-US" sz="2600" dirty="0" smtClean="0">
                <a:latin typeface="Times New Roman" panose="02020603050405020304" pitchFamily="18" charset="0"/>
                <a:cs typeface="Times New Roman" panose="02020603050405020304" pitchFamily="18" charset="0"/>
              </a:rPr>
              <a:t>.</a:t>
            </a:r>
          </a:p>
          <a:p>
            <a:pPr marL="0" lvl="0" indent="0" algn="just">
              <a:buNone/>
            </a:pPr>
            <a:endParaRPr lang="en-US" sz="2600" dirty="0">
              <a:latin typeface="Times New Roman" panose="02020603050405020304" pitchFamily="18" charset="0"/>
              <a:cs typeface="Times New Roman" panose="02020603050405020304" pitchFamily="18" charset="0"/>
            </a:endParaRPr>
          </a:p>
          <a:p>
            <a:pPr lvl="0" algn="just"/>
            <a:r>
              <a:rPr lang="en-US" sz="2600" dirty="0">
                <a:latin typeface="Times New Roman" panose="02020603050405020304" pitchFamily="18" charset="0"/>
                <a:cs typeface="Times New Roman" panose="02020603050405020304" pitchFamily="18" charset="0"/>
              </a:rPr>
              <a:t>It is the one which make thoughtful and practical recommendations. This means it should give a recommendation which can be implemented easily.</a:t>
            </a:r>
          </a:p>
          <a:p>
            <a:pPr lvl="0" algn="just"/>
            <a:endParaRPr lang="en-US" sz="2600" dirty="0">
              <a:latin typeface="Times New Roman" panose="02020603050405020304" pitchFamily="18" charset="0"/>
              <a:cs typeface="Times New Roman" panose="02020603050405020304" pitchFamily="18" charset="0"/>
            </a:endParaRPr>
          </a:p>
          <a:p>
            <a:pPr lvl="1"/>
            <a:endParaRPr lang="en-US" dirty="0"/>
          </a:p>
        </p:txBody>
      </p:sp>
    </p:spTree>
    <p:extLst>
      <p:ext uri="{BB962C8B-B14F-4D97-AF65-F5344CB8AC3E}">
        <p14:creationId xmlns:p14="http://schemas.microsoft.com/office/powerpoint/2010/main" val="1092619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pPr>
              <a:buFont typeface="Wingdings" panose="05000000000000000000" pitchFamily="2" charset="2"/>
              <a:buChar char="q"/>
            </a:pPr>
            <a:r>
              <a:rPr lang="en-US" b="1" dirty="0"/>
              <a:t>CLASSIFICATION OF REPORTS</a:t>
            </a:r>
            <a:endParaRPr lang="en-US" dirty="0"/>
          </a:p>
          <a:p>
            <a:r>
              <a:rPr lang="en-US" sz="2400" dirty="0">
                <a:latin typeface="Times New Roman" panose="02020603050405020304" pitchFamily="18" charset="0"/>
                <a:cs typeface="Times New Roman" panose="02020603050405020304" pitchFamily="18" charset="0"/>
              </a:rPr>
              <a:t>Reports can be classified in different ways depending on the purpose of the report and the audience to whom the report is intended to reach. The following are the ways on which reports can be classified.</a:t>
            </a:r>
          </a:p>
          <a:p>
            <a:pPr marL="0" lvl="0" indent="0">
              <a:buNone/>
            </a:pP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Degree of formality </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Formal report</a:t>
            </a:r>
            <a:r>
              <a:rPr lang="en-US" sz="2400" dirty="0">
                <a:latin typeface="Times New Roman" panose="02020603050405020304" pitchFamily="18" charset="0"/>
                <a:cs typeface="Times New Roman" panose="02020603050405020304" pitchFamily="18" charset="0"/>
              </a:rPr>
              <a:t> is the report which has definite structure and contain a lot of details and it normally eliminate personal opinion</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Informal report</a:t>
            </a:r>
            <a:r>
              <a:rPr lang="en-US" sz="2400" dirty="0">
                <a:latin typeface="Times New Roman" panose="02020603050405020304" pitchFamily="18" charset="0"/>
                <a:cs typeface="Times New Roman" panose="02020603050405020304" pitchFamily="18" charset="0"/>
              </a:rPr>
              <a:t> is the report which has short message and it is written in simple and casual language</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7440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pPr marL="0" lvl="0" indent="0">
              <a:buNone/>
            </a:pPr>
            <a:r>
              <a:rPr lang="en-US" dirty="0" smtClean="0"/>
              <a:t>(ii) </a:t>
            </a:r>
            <a:r>
              <a:rPr lang="en-US" sz="2400" dirty="0" smtClean="0">
                <a:latin typeface="Times New Roman" panose="02020603050405020304" pitchFamily="18" charset="0"/>
                <a:cs typeface="Times New Roman" panose="02020603050405020304" pitchFamily="18" charset="0"/>
              </a:rPr>
              <a:t>Length of report</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Long reports</a:t>
            </a:r>
            <a:r>
              <a:rPr lang="en-US" sz="2400" dirty="0">
                <a:latin typeface="Times New Roman" panose="02020603050405020304" pitchFamily="18" charset="0"/>
                <a:cs typeface="Times New Roman" panose="02020603050405020304" pitchFamily="18" charset="0"/>
              </a:rPr>
              <a:t> are those which contain many pages around 30 pages and they normally deals with critical issues which are for solving the problems of the society</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Short reports</a:t>
            </a:r>
            <a:r>
              <a:rPr lang="en-US" sz="2400" dirty="0">
                <a:latin typeface="Times New Roman" panose="02020603050405020304" pitchFamily="18" charset="0"/>
                <a:cs typeface="Times New Roman" panose="02020603050405020304" pitchFamily="18" charset="0"/>
              </a:rPr>
              <a:t> are the reports which have few details and they have few pages around 3 pages and below.</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767440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5"/>
            <a:ext cx="10515600" cy="4916138"/>
          </a:xfrm>
        </p:spPr>
        <p:txBody>
          <a:bodyPr>
            <a:normAutofit/>
          </a:bodyPr>
          <a:lstStyle/>
          <a:p>
            <a:pPr marL="0" lvl="0" indent="0" algn="just">
              <a:buNone/>
            </a:pPr>
            <a:r>
              <a:rPr lang="en-US" sz="2400" dirty="0" smtClean="0">
                <a:latin typeface="Times New Roman" panose="02020603050405020304" pitchFamily="18" charset="0"/>
                <a:cs typeface="Times New Roman" panose="02020603050405020304" pitchFamily="18" charset="0"/>
              </a:rPr>
              <a:t>(iii) Purpose of the report</a:t>
            </a: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Analytical reports</a:t>
            </a:r>
            <a:r>
              <a:rPr lang="en-US" sz="2400" dirty="0">
                <a:latin typeface="Times New Roman" panose="02020603050405020304" pitchFamily="18" charset="0"/>
                <a:cs typeface="Times New Roman" panose="02020603050405020304" pitchFamily="18" charset="0"/>
              </a:rPr>
              <a:t> are the reports which </a:t>
            </a:r>
            <a:r>
              <a:rPr lang="en-US" sz="2400" dirty="0" err="1">
                <a:latin typeface="Times New Roman" panose="02020603050405020304" pitchFamily="18" charset="0"/>
                <a:cs typeface="Times New Roman" panose="02020603050405020304" pitchFamily="18" charset="0"/>
              </a:rPr>
              <a:t>analyse</a:t>
            </a:r>
            <a:r>
              <a:rPr lang="en-US" sz="2400" dirty="0">
                <a:latin typeface="Times New Roman" panose="02020603050405020304" pitchFamily="18" charset="0"/>
                <a:cs typeface="Times New Roman" panose="02020603050405020304" pitchFamily="18" charset="0"/>
              </a:rPr>
              <a:t> facts as they deal with issues which aim at solving some problems of the society and they are written on the view point of the writer as he/she writes in order to respond to the purpose of writing that report, for example feasibility report and scientific report</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Informational report</a:t>
            </a:r>
            <a:r>
              <a:rPr lang="en-US" sz="2400" dirty="0">
                <a:latin typeface="Times New Roman" panose="02020603050405020304" pitchFamily="18" charset="0"/>
                <a:cs typeface="Times New Roman" panose="02020603050405020304" pitchFamily="18" charset="0"/>
              </a:rPr>
              <a:t> are the reports which are written in order to disseminate information to the targeted </a:t>
            </a:r>
            <a:r>
              <a:rPr lang="en-US" sz="2400" dirty="0" err="1">
                <a:latin typeface="Times New Roman" panose="02020603050405020304" pitchFamily="18" charset="0"/>
                <a:cs typeface="Times New Roman" panose="02020603050405020304" pitchFamily="18" charset="0"/>
              </a:rPr>
              <a:t>reader.They</a:t>
            </a:r>
            <a:r>
              <a:rPr lang="en-US" sz="2400" dirty="0">
                <a:latin typeface="Times New Roman" panose="02020603050405020304" pitchFamily="18" charset="0"/>
                <a:cs typeface="Times New Roman" panose="02020603050405020304" pitchFamily="18" charset="0"/>
              </a:rPr>
              <a:t> deals with factual informational as they are written in order to inform the reader about past events, for example monthly, annual and quarterly reports</a:t>
            </a:r>
            <a:r>
              <a:rPr lang="en-US" sz="24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034335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5"/>
            <a:ext cx="10515600" cy="4916138"/>
          </a:xfrm>
        </p:spPr>
        <p:txBody>
          <a:bodyPr>
            <a:normAutofit/>
          </a:bodyPr>
          <a:lstStyle/>
          <a:p>
            <a:pPr marL="0" lvl="0" indent="0" algn="just">
              <a:buNone/>
            </a:pPr>
            <a:r>
              <a:rPr lang="en-US" dirty="0" smtClean="0">
                <a:latin typeface="Times New Roman" panose="02020603050405020304" pitchFamily="18" charset="0"/>
                <a:cs typeface="Times New Roman" panose="02020603050405020304" pitchFamily="18" charset="0"/>
              </a:rPr>
              <a:t>(iv) Relationship/Status </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Lateral report</a:t>
            </a:r>
            <a:r>
              <a:rPr lang="en-US" dirty="0">
                <a:latin typeface="Times New Roman" panose="02020603050405020304" pitchFamily="18" charset="0"/>
                <a:cs typeface="Times New Roman" panose="02020603050405020304" pitchFamily="18" charset="0"/>
              </a:rPr>
              <a:t> are the reports which are written between units of organization which are on the same level for example a report from financial department to production department</a:t>
            </a:r>
            <a:r>
              <a:rPr lang="en-US" dirty="0" smtClean="0">
                <a:latin typeface="Times New Roman" panose="02020603050405020304" pitchFamily="18" charset="0"/>
                <a:cs typeface="Times New Roman" panose="02020603050405020304" pitchFamily="18" charset="0"/>
              </a:rPr>
              <a:t>.</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Vertical report</a:t>
            </a:r>
            <a:r>
              <a:rPr lang="en-US" dirty="0">
                <a:latin typeface="Times New Roman" panose="02020603050405020304" pitchFamily="18" charset="0"/>
                <a:cs typeface="Times New Roman" panose="02020603050405020304" pitchFamily="18" charset="0"/>
              </a:rPr>
              <a:t> are the reports which are written depending on the hierarchy of the organization that is down –upward which means from departments to management and top – downward that is from management to departments</a:t>
            </a:r>
            <a:r>
              <a:rPr lang="en-US" dirty="0" smtClean="0"/>
              <a:t>.</a:t>
            </a:r>
            <a:endParaRPr lang="en-US" dirty="0"/>
          </a:p>
          <a:p>
            <a:pPr marL="0" indent="0">
              <a:buNone/>
            </a:pPr>
            <a:endParaRPr lang="en-US" dirty="0"/>
          </a:p>
        </p:txBody>
      </p:sp>
    </p:spTree>
    <p:extLst>
      <p:ext uri="{BB962C8B-B14F-4D97-AF65-F5344CB8AC3E}">
        <p14:creationId xmlns:p14="http://schemas.microsoft.com/office/powerpoint/2010/main" val="12034335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6"/>
          </a:xfrm>
        </p:spPr>
        <p:txBody>
          <a:bodyPr>
            <a:normAutofit/>
          </a:bodyPr>
          <a:lstStyle/>
          <a:p>
            <a:pPr marL="0" lvl="0" indent="0" algn="just">
              <a:buNone/>
            </a:pPr>
            <a:r>
              <a:rPr lang="en-US" dirty="0" smtClean="0"/>
              <a:t>(v) </a:t>
            </a:r>
            <a:r>
              <a:rPr lang="en-US" sz="2400" dirty="0" smtClean="0">
                <a:latin typeface="Times New Roman" panose="02020603050405020304" pitchFamily="18" charset="0"/>
                <a:cs typeface="Times New Roman" panose="02020603050405020304" pitchFamily="18" charset="0"/>
              </a:rPr>
              <a:t>The usage</a:t>
            </a: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Internal reports</a:t>
            </a:r>
            <a:r>
              <a:rPr lang="en-US" sz="2400" dirty="0">
                <a:latin typeface="Times New Roman" panose="02020603050405020304" pitchFamily="18" charset="0"/>
                <a:cs typeface="Times New Roman" panose="02020603050405020304" pitchFamily="18" charset="0"/>
              </a:rPr>
              <a:t> are the reports which are written to be used within the organization/institution that from one department to another or from departments to the management</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External reports</a:t>
            </a:r>
            <a:r>
              <a:rPr lang="en-US" sz="2400" dirty="0">
                <a:latin typeface="Times New Roman" panose="02020603050405020304" pitchFamily="18" charset="0"/>
                <a:cs typeface="Times New Roman" panose="02020603050405020304" pitchFamily="18" charset="0"/>
              </a:rPr>
              <a:t> are the reports which are written to be used outside the organization/institution for example from a certain NGO to the government or from a certain public institution like academic institution to the government</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34636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6"/>
          </a:xfrm>
        </p:spPr>
        <p:txBody>
          <a:bodyPr>
            <a:normAutofit/>
          </a:bodyPr>
          <a:lstStyle/>
          <a:p>
            <a:pPr marL="0" lvl="0" indent="0" algn="just">
              <a:buNone/>
            </a:pPr>
            <a:r>
              <a:rPr lang="en-US" sz="2400" b="1" dirty="0" smtClean="0">
                <a:latin typeface="Times New Roman" panose="02020603050405020304" pitchFamily="18" charset="0"/>
                <a:cs typeface="Times New Roman" panose="02020603050405020304" pitchFamily="18" charset="0"/>
              </a:rPr>
              <a:t>(vi) Time interval </a:t>
            </a:r>
          </a:p>
          <a:p>
            <a:pPr marL="0" lvl="0" indent="0" algn="just">
              <a:buNone/>
            </a:pPr>
            <a:r>
              <a:rPr lang="en-US" sz="2400" b="1" dirty="0" smtClean="0">
                <a:latin typeface="Times New Roman" panose="02020603050405020304" pitchFamily="18" charset="0"/>
                <a:cs typeface="Times New Roman" panose="02020603050405020304" pitchFamily="18" charset="0"/>
              </a:rPr>
              <a:t>Periodic </a:t>
            </a:r>
            <a:r>
              <a:rPr lang="en-US" sz="2400" b="1" dirty="0">
                <a:latin typeface="Times New Roman" panose="02020603050405020304" pitchFamily="18" charset="0"/>
                <a:cs typeface="Times New Roman" panose="02020603050405020304" pitchFamily="18" charset="0"/>
              </a:rPr>
              <a:t>reports</a:t>
            </a:r>
            <a:r>
              <a:rPr lang="en-US" sz="2400" dirty="0">
                <a:latin typeface="Times New Roman" panose="02020603050405020304" pitchFamily="18" charset="0"/>
                <a:cs typeface="Times New Roman" panose="02020603050405020304" pitchFamily="18" charset="0"/>
              </a:rPr>
              <a:t> are the reports which are written for a certain period of time with specific interval for example monthly, quarterly and yearly report. These reports are usually down – upward as they are written from departments to management</a:t>
            </a:r>
            <a:r>
              <a:rPr lang="en-US" sz="2400" dirty="0" smtClean="0">
                <a:latin typeface="Times New Roman" panose="02020603050405020304" pitchFamily="18" charset="0"/>
                <a:cs typeface="Times New Roman" panose="02020603050405020304" pitchFamily="18" charset="0"/>
              </a:rPr>
              <a:t>.</a:t>
            </a:r>
            <a:endParaRPr lang="en-US" dirty="0" smtClean="0"/>
          </a:p>
          <a:p>
            <a:pPr marL="0" lvl="0" indent="0" algn="just">
              <a:buNone/>
            </a:pPr>
            <a:r>
              <a:rPr lang="en-US" sz="2400" dirty="0" smtClean="0">
                <a:latin typeface="Times New Roman" panose="02020603050405020304" pitchFamily="18" charset="0"/>
                <a:cs typeface="Times New Roman" panose="02020603050405020304" pitchFamily="18" charset="0"/>
              </a:rPr>
              <a:t>(vii) Function of the reports </a:t>
            </a:r>
          </a:p>
          <a:p>
            <a:pPr marL="0" lvl="0" indent="0" algn="just">
              <a:buNone/>
            </a:pPr>
            <a:r>
              <a:rPr lang="en-US" sz="2400" b="1" dirty="0" smtClean="0">
                <a:latin typeface="Times New Roman" panose="02020603050405020304" pitchFamily="18" charset="0"/>
                <a:cs typeface="Times New Roman" panose="02020603050405020304" pitchFamily="18" charset="0"/>
              </a:rPr>
              <a:t>Functional reports </a:t>
            </a:r>
            <a:r>
              <a:rPr lang="en-US" sz="2400" dirty="0" smtClean="0">
                <a:latin typeface="Times New Roman" panose="02020603050405020304" pitchFamily="18" charset="0"/>
                <a:cs typeface="Times New Roman" panose="02020603050405020304" pitchFamily="18" charset="0"/>
              </a:rPr>
              <a:t>are </a:t>
            </a:r>
            <a:r>
              <a:rPr lang="en-US" sz="2400" dirty="0">
                <a:latin typeface="Times New Roman" panose="02020603050405020304" pitchFamily="18" charset="0"/>
                <a:cs typeface="Times New Roman" panose="02020603050405020304" pitchFamily="18" charset="0"/>
              </a:rPr>
              <a:t>the reports which are written according to function that is what </a:t>
            </a:r>
            <a:r>
              <a:rPr lang="en-US" sz="2400" dirty="0" smtClean="0">
                <a:latin typeface="Times New Roman" panose="02020603050405020304" pitchFamily="18" charset="0"/>
                <a:cs typeface="Times New Roman" panose="02020603050405020304" pitchFamily="18" charset="0"/>
              </a:rPr>
              <a:t>is the </a:t>
            </a:r>
            <a:r>
              <a:rPr lang="en-US" sz="2400" dirty="0">
                <a:latin typeface="Times New Roman" panose="02020603050405020304" pitchFamily="18" charset="0"/>
                <a:cs typeface="Times New Roman" panose="02020603050405020304" pitchFamily="18" charset="0"/>
              </a:rPr>
              <a:t>report for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the report can be for marketing as marketing report and other functions are like financial report</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academic </a:t>
            </a:r>
            <a:r>
              <a:rPr lang="en-US" sz="2400" dirty="0" smtClean="0">
                <a:latin typeface="Times New Roman" panose="02020603050405020304" pitchFamily="18" charset="0"/>
                <a:cs typeface="Times New Roman" panose="02020603050405020304" pitchFamily="18" charset="0"/>
              </a:rPr>
              <a:t>report, </a:t>
            </a:r>
            <a:r>
              <a:rPr lang="en-US" sz="2400" dirty="0" smtClean="0">
                <a:solidFill>
                  <a:prstClr val="black"/>
                </a:solidFill>
                <a:latin typeface="Times New Roman" panose="02020603050405020304" pitchFamily="18" charset="0"/>
                <a:cs typeface="Times New Roman" panose="02020603050405020304" pitchFamily="18" charset="0"/>
              </a:rPr>
              <a:t> </a:t>
            </a:r>
            <a:r>
              <a:rPr lang="en-US" sz="2400" dirty="0">
                <a:solidFill>
                  <a:prstClr val="black"/>
                </a:solidFill>
                <a:latin typeface="Times New Roman" panose="02020603050405020304" pitchFamily="18" charset="0"/>
                <a:cs typeface="Times New Roman" panose="02020603050405020304" pitchFamily="18" charset="0"/>
              </a:rPr>
              <a:t>Audit </a:t>
            </a:r>
            <a:r>
              <a:rPr lang="en-US" sz="2400" dirty="0" smtClean="0">
                <a:solidFill>
                  <a:prstClr val="black"/>
                </a:solidFill>
                <a:latin typeface="Times New Roman" panose="02020603050405020304" pitchFamily="18" charset="0"/>
                <a:cs typeface="Times New Roman" panose="02020603050405020304" pitchFamily="18" charset="0"/>
              </a:rPr>
              <a:t>report, </a:t>
            </a:r>
            <a:r>
              <a:rPr lang="en-US" sz="2400" dirty="0">
                <a:solidFill>
                  <a:prstClr val="black"/>
                </a:solidFill>
                <a:latin typeface="Times New Roman" panose="02020603050405020304" pitchFamily="18" charset="0"/>
                <a:cs typeface="Times New Roman" panose="02020603050405020304" pitchFamily="18" charset="0"/>
              </a:rPr>
              <a:t>sports and games report, political report, progress report, economic report, legal report etc.</a:t>
            </a:r>
          </a:p>
          <a:p>
            <a:pPr marL="0" lvl="0" indent="0" algn="just">
              <a:buNone/>
            </a:pPr>
            <a:r>
              <a:rPr lang="en-US" sz="2400" dirty="0" smtClean="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lv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3463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4900640"/>
          </a:xfrm>
        </p:spPr>
        <p:txBody>
          <a:bodyPr>
            <a:normAutofit/>
          </a:bodyPr>
          <a:lstStyle/>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The structure of a report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general structure of a report is described below to provide a general guide. These should be used in conjunction with the instructions or guidelines provided by your </a:t>
            </a:r>
            <a:r>
              <a:rPr lang="en-US" sz="2400" dirty="0" smtClean="0">
                <a:latin typeface="Times New Roman" panose="02020603050405020304" pitchFamily="18" charset="0"/>
                <a:cs typeface="Times New Roman" panose="02020603050405020304" pitchFamily="18" charset="0"/>
              </a:rPr>
              <a:t>department</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Title Page</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should briefly but explicitly describe the purpose of the report (if this is not obvious from the title of the work). Other details you may include could be your name, the date and for whom the report is written</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81019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4900640"/>
          </a:xfrm>
        </p:spPr>
        <p:txBody>
          <a:bodyPr>
            <a:normAutofit/>
          </a:bodyPr>
          <a:lstStyle/>
          <a:p>
            <a:r>
              <a:rPr lang="en-US" b="1" dirty="0" smtClean="0"/>
              <a:t>Example: Report </a:t>
            </a:r>
            <a:r>
              <a:rPr lang="en-US" b="1" dirty="0"/>
              <a:t>on the Geology of the region around </a:t>
            </a:r>
            <a:r>
              <a:rPr lang="en-US" b="1" dirty="0" err="1"/>
              <a:t>Usambara</a:t>
            </a:r>
            <a:r>
              <a:rPr lang="en-US" b="1" dirty="0"/>
              <a:t> Hills, </a:t>
            </a:r>
            <a:r>
              <a:rPr lang="en-US" b="1" dirty="0" err="1" smtClean="0"/>
              <a:t>Tanga</a:t>
            </a:r>
            <a:r>
              <a:rPr lang="en-US" dirty="0" smtClean="0"/>
              <a:t>. </a:t>
            </a:r>
          </a:p>
          <a:p>
            <a:r>
              <a:rPr lang="en-US" dirty="0" err="1" smtClean="0"/>
              <a:t>Aman</a:t>
            </a:r>
            <a:r>
              <a:rPr lang="en-US" dirty="0" smtClean="0"/>
              <a:t> Brian; </a:t>
            </a:r>
          </a:p>
          <a:p>
            <a:r>
              <a:rPr lang="en-US" dirty="0" smtClean="0"/>
              <a:t>2 </a:t>
            </a:r>
            <a:r>
              <a:rPr lang="en-US" dirty="0"/>
              <a:t>November </a:t>
            </a:r>
            <a:r>
              <a:rPr lang="en-US" dirty="0" smtClean="0"/>
              <a:t>2024</a:t>
            </a:r>
            <a:endParaRPr lang="en-US" dirty="0"/>
          </a:p>
          <a:p>
            <a:endParaRPr lang="en-US" dirty="0"/>
          </a:p>
        </p:txBody>
      </p:sp>
    </p:spTree>
    <p:extLst>
      <p:ext uri="{BB962C8B-B14F-4D97-AF65-F5344CB8AC3E}">
        <p14:creationId xmlns:p14="http://schemas.microsoft.com/office/powerpoint/2010/main" val="28481019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a:bodyPr>
          <a:lstStyle/>
          <a:p>
            <a:pPr algn="just"/>
            <a:r>
              <a:rPr lang="en-US" sz="2400" b="1" dirty="0">
                <a:latin typeface="Times New Roman" panose="02020603050405020304" pitchFamily="18" charset="0"/>
                <a:cs typeface="Times New Roman" panose="02020603050405020304" pitchFamily="18" charset="0"/>
              </a:rPr>
              <a:t>Terms of Reference</a:t>
            </a:r>
            <a:endParaRPr lang="en-US"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Under this heading you could include a brief explanation of who will read the report (audience) why it was written (purpose) and how it was written (methods). It may be in the form of a subtitle or a single paragraph</a:t>
            </a:r>
            <a:r>
              <a:rPr lang="en-US" sz="2400" dirty="0" smtClean="0">
                <a:latin typeface="Times New Roman" panose="02020603050405020304" pitchFamily="18" charset="0"/>
                <a:cs typeface="Times New Roman" panose="02020603050405020304" pitchFamily="18" charset="0"/>
              </a:rPr>
              <a:t>. </a:t>
            </a:r>
          </a:p>
          <a:p>
            <a:pPr lvl="0" algn="just"/>
            <a:r>
              <a:rPr lang="en-US" sz="2400" b="1" dirty="0" smtClean="0">
                <a:latin typeface="Times New Roman" panose="02020603050405020304" pitchFamily="18" charset="0"/>
                <a:cs typeface="Times New Roman" panose="02020603050405020304" pitchFamily="18" charset="0"/>
              </a:rPr>
              <a:t>An example</a:t>
            </a:r>
          </a:p>
          <a:p>
            <a:pPr lvl="0" algn="just"/>
            <a:r>
              <a:rPr lang="en-US" sz="2400" b="1" dirty="0" smtClean="0">
                <a:solidFill>
                  <a:prstClr val="black"/>
                </a:solidFill>
                <a:latin typeface="Times New Roman" panose="02020603050405020304" pitchFamily="18" charset="0"/>
                <a:cs typeface="Times New Roman" panose="02020603050405020304" pitchFamily="18" charset="0"/>
              </a:rPr>
              <a:t>A </a:t>
            </a:r>
            <a:r>
              <a:rPr lang="en-US" sz="2400" b="1" dirty="0">
                <a:solidFill>
                  <a:prstClr val="black"/>
                </a:solidFill>
                <a:latin typeface="Times New Roman" panose="02020603050405020304" pitchFamily="18" charset="0"/>
                <a:cs typeface="Times New Roman" panose="02020603050405020304" pitchFamily="18" charset="0"/>
              </a:rPr>
              <a:t>report submitted in fulfilment of the requirements for Course GL456, Department of Geology, </a:t>
            </a:r>
            <a:r>
              <a:rPr lang="en-US" sz="2400" b="1" dirty="0" err="1">
                <a:solidFill>
                  <a:prstClr val="black"/>
                </a:solidFill>
                <a:latin typeface="Times New Roman" panose="02020603050405020304" pitchFamily="18" charset="0"/>
                <a:cs typeface="Times New Roman" panose="02020603050405020304" pitchFamily="18" charset="0"/>
              </a:rPr>
              <a:t>Mbeya</a:t>
            </a:r>
            <a:r>
              <a:rPr lang="en-US" sz="2400" b="1" dirty="0">
                <a:solidFill>
                  <a:prstClr val="black"/>
                </a:solidFill>
                <a:latin typeface="Times New Roman" panose="02020603050405020304" pitchFamily="18" charset="0"/>
                <a:cs typeface="Times New Roman" panose="02020603050405020304" pitchFamily="18" charset="0"/>
              </a:rPr>
              <a:t> University of Science and Technology.</a:t>
            </a:r>
            <a:endParaRPr lang="en-US" sz="2400" dirty="0">
              <a:solidFill>
                <a:prstClr val="black"/>
              </a:solidFill>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54108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a:bodyPr>
          <a:lstStyle/>
          <a:p>
            <a:pPr lvl="0"/>
            <a:r>
              <a:rPr lang="en-US" sz="2400" b="1" dirty="0">
                <a:solidFill>
                  <a:prstClr val="black"/>
                </a:solidFill>
              </a:rPr>
              <a:t>Summary (Abstract</a:t>
            </a:r>
            <a:r>
              <a:rPr lang="en-US" sz="2400" b="1" dirty="0" smtClean="0">
                <a:solidFill>
                  <a:prstClr val="black"/>
                </a:solidFill>
              </a:rPr>
              <a:t>)</a:t>
            </a:r>
            <a:endParaRPr lang="en-US" sz="2400" dirty="0" smtClean="0"/>
          </a:p>
          <a:p>
            <a:r>
              <a:rPr lang="en-US" sz="2400" dirty="0" smtClean="0"/>
              <a:t>The </a:t>
            </a:r>
            <a:r>
              <a:rPr lang="en-US" sz="2400" dirty="0"/>
              <a:t>summary should briefly describe the content of the report. It should cover the aims of the report, what was found and what, if any, action is called for. Aim for about 1/2 a page in length and avoid detail or discussion; just outline the main points. Remember that the summary is the first thing that is read. </a:t>
            </a:r>
            <a:endParaRPr lang="en-US" sz="2400" dirty="0" smtClean="0"/>
          </a:p>
          <a:p>
            <a:r>
              <a:rPr lang="en-US" sz="2400" dirty="0" smtClean="0"/>
              <a:t>It </a:t>
            </a:r>
            <a:r>
              <a:rPr lang="en-US" sz="2400" dirty="0"/>
              <a:t>should provide the reader with a clear, helpful overview of the content of the report</a:t>
            </a:r>
            <a:r>
              <a:rPr lang="en-US" sz="2400" dirty="0" smtClean="0"/>
              <a:t>.</a:t>
            </a:r>
            <a:endParaRPr lang="en-US" sz="2400" dirty="0"/>
          </a:p>
        </p:txBody>
      </p:sp>
    </p:spTree>
    <p:extLst>
      <p:ext uri="{BB962C8B-B14F-4D97-AF65-F5344CB8AC3E}">
        <p14:creationId xmlns:p14="http://schemas.microsoft.com/office/powerpoint/2010/main" val="22754108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a:bodyPr>
          <a:lstStyle/>
          <a:p>
            <a:pPr algn="just"/>
            <a:r>
              <a:rPr lang="en-US" sz="2400" dirty="0" smtClean="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Example of abstract</a:t>
            </a:r>
          </a:p>
          <a:p>
            <a:pPr algn="just"/>
            <a:r>
              <a:rPr lang="en-US" sz="2400" dirty="0" smtClean="0">
                <a:latin typeface="Times New Roman" panose="02020603050405020304" pitchFamily="18" charset="0"/>
                <a:cs typeface="Times New Roman" panose="02020603050405020304" pitchFamily="18" charset="0"/>
              </a:rPr>
              <a:t>Exposure of rocks belonging to the late Precambrian were examined in the area around </a:t>
            </a:r>
            <a:r>
              <a:rPr lang="en-US" sz="2400" dirty="0" err="1" smtClean="0">
                <a:latin typeface="Times New Roman" panose="02020603050405020304" pitchFamily="18" charset="0"/>
                <a:cs typeface="Times New Roman" panose="02020603050405020304" pitchFamily="18" charset="0"/>
              </a:rPr>
              <a:t>Usambara</a:t>
            </a:r>
            <a:r>
              <a:rPr lang="en-US" sz="2400" dirty="0" smtClean="0">
                <a:latin typeface="Times New Roman" panose="02020603050405020304" pitchFamily="18" charset="0"/>
                <a:cs typeface="Times New Roman" panose="02020603050405020304" pitchFamily="18" charset="0"/>
              </a:rPr>
              <a:t> hill, north </a:t>
            </a:r>
            <a:r>
              <a:rPr lang="en-US" sz="2400" dirty="0" err="1" smtClean="0">
                <a:latin typeface="Times New Roman" panose="02020603050405020304" pitchFamily="18" charset="0"/>
                <a:cs typeface="Times New Roman" panose="02020603050405020304" pitchFamily="18" charset="0"/>
              </a:rPr>
              <a:t>Tanga</a:t>
            </a:r>
            <a:r>
              <a:rPr lang="en-US" sz="2400" dirty="0" smtClean="0">
                <a:latin typeface="Times New Roman" panose="02020603050405020304" pitchFamily="18" charset="0"/>
                <a:cs typeface="Times New Roman" panose="02020603050405020304" pitchFamily="18" charset="0"/>
              </a:rPr>
              <a:t>. This report aims to provide details of the stratigraphy at three sites. It was observed that at each of these sites, the </a:t>
            </a:r>
            <a:r>
              <a:rPr lang="en-US" sz="2400" dirty="0" err="1" smtClean="0">
                <a:latin typeface="Times New Roman" panose="02020603050405020304" pitchFamily="18" charset="0"/>
                <a:cs typeface="Times New Roman" panose="02020603050405020304" pitchFamily="18" charset="0"/>
              </a:rPr>
              <a:t>Usambara</a:t>
            </a:r>
            <a:r>
              <a:rPr lang="en-US" sz="2400" dirty="0" smtClean="0">
                <a:latin typeface="Times New Roman" panose="02020603050405020304" pitchFamily="18" charset="0"/>
                <a:cs typeface="Times New Roman" panose="02020603050405020304" pitchFamily="18" charset="0"/>
              </a:rPr>
              <a:t> hill consists mainly of </a:t>
            </a:r>
            <a:r>
              <a:rPr lang="en-US" sz="2400" dirty="0" err="1" smtClean="0">
                <a:latin typeface="Times New Roman" panose="02020603050405020304" pitchFamily="18" charset="0"/>
                <a:cs typeface="Times New Roman" panose="02020603050405020304" pitchFamily="18" charset="0"/>
              </a:rPr>
              <a:t>volcaniclastic</a:t>
            </a:r>
            <a:r>
              <a:rPr lang="en-US" sz="2400" dirty="0" smtClean="0">
                <a:latin typeface="Times New Roman" panose="02020603050405020304" pitchFamily="18" charset="0"/>
                <a:cs typeface="Times New Roman" panose="02020603050405020304" pitchFamily="18" charset="0"/>
              </a:rPr>
              <a:t> sediments (air-fall and ash-flow tuffs) interbedded with mudstones and siltstones. </a:t>
            </a:r>
          </a:p>
          <a:p>
            <a:pPr algn="just"/>
            <a:r>
              <a:rPr lang="en-US" sz="2400" dirty="0" smtClean="0">
                <a:latin typeface="Times New Roman" panose="02020603050405020304" pitchFamily="18" charset="0"/>
                <a:cs typeface="Times New Roman" panose="02020603050405020304" pitchFamily="18" charset="0"/>
              </a:rPr>
              <a:t>These rocks show features that are characteristic of deposition in shallow water on the flanks of a volcano (e.g. welding and alteration of ignimbrites). Further studies are required to understand depositional mechanisms and to evaluate the present-day thickness of individual rock units.</a:t>
            </a:r>
          </a:p>
          <a:p>
            <a:pPr algn="just"/>
            <a:endParaRPr lang="en-US" dirty="0" smtClean="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610045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pPr algn="just"/>
            <a:r>
              <a:rPr lang="en-US" sz="2400" b="1" dirty="0">
                <a:latin typeface="Times New Roman" panose="02020603050405020304" pitchFamily="18" charset="0"/>
                <a:cs typeface="Times New Roman" panose="02020603050405020304" pitchFamily="18" charset="0"/>
              </a:rPr>
              <a:t>Contents (Table of Contents)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contents page should list the different chapters and/or headings together with the page numbers. Your contents page should be presented in such a way that the reader can quickly scan the list of headings and locate a particular part of the report.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You </a:t>
            </a:r>
            <a:r>
              <a:rPr lang="en-US" sz="2400" dirty="0">
                <a:latin typeface="Times New Roman" panose="02020603050405020304" pitchFamily="18" charset="0"/>
                <a:cs typeface="Times New Roman" panose="02020603050405020304" pitchFamily="18" charset="0"/>
              </a:rPr>
              <a:t>may want to number chapter headings and subheadings in addition to providing page references. Whatever numbering system you use, be sure that it is clear and consistent throughout.</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58645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lvl="0" algn="just"/>
            <a:r>
              <a:rPr lang="en-US" sz="2400" b="1" dirty="0">
                <a:solidFill>
                  <a:prstClr val="black"/>
                </a:solidFill>
                <a:latin typeface="Times New Roman" panose="02020603050405020304" pitchFamily="18" charset="0"/>
                <a:cs typeface="Times New Roman" panose="02020603050405020304" pitchFamily="18" charset="0"/>
              </a:rPr>
              <a:t>Introduction</a:t>
            </a:r>
            <a:endParaRPr lang="en-US" sz="2400" dirty="0">
              <a:solidFill>
                <a:prstClr val="black"/>
              </a:solidFill>
              <a:latin typeface="Times New Roman" panose="02020603050405020304" pitchFamily="18" charset="0"/>
              <a:cs typeface="Times New Roman" panose="02020603050405020304" pitchFamily="18" charset="0"/>
            </a:endParaRPr>
          </a:p>
          <a:p>
            <a:pPr lvl="0" algn="just"/>
            <a:r>
              <a:rPr lang="en-US" sz="2400" dirty="0">
                <a:solidFill>
                  <a:prstClr val="black"/>
                </a:solidFill>
                <a:latin typeface="Times New Roman" panose="02020603050405020304" pitchFamily="18" charset="0"/>
                <a:cs typeface="Times New Roman" panose="02020603050405020304" pitchFamily="18" charset="0"/>
              </a:rPr>
              <a:t>The introduction sets the scene for the main body of the report. The aims and objectives of the report should be explained in detail. </a:t>
            </a:r>
            <a:endParaRPr lang="en-US" sz="2400" dirty="0" smtClean="0">
              <a:solidFill>
                <a:prstClr val="black"/>
              </a:solidFill>
              <a:latin typeface="Times New Roman" panose="02020603050405020304" pitchFamily="18" charset="0"/>
              <a:cs typeface="Times New Roman" panose="02020603050405020304" pitchFamily="18" charset="0"/>
            </a:endParaRPr>
          </a:p>
          <a:p>
            <a:pPr lvl="0" algn="just"/>
            <a:r>
              <a:rPr lang="en-US" sz="2400" dirty="0" smtClean="0">
                <a:solidFill>
                  <a:prstClr val="black"/>
                </a:solidFill>
                <a:latin typeface="Times New Roman" panose="02020603050405020304" pitchFamily="18" charset="0"/>
                <a:cs typeface="Times New Roman" panose="02020603050405020304" pitchFamily="18" charset="0"/>
              </a:rPr>
              <a:t>Any </a:t>
            </a:r>
            <a:r>
              <a:rPr lang="en-US" sz="2400" dirty="0">
                <a:solidFill>
                  <a:prstClr val="black"/>
                </a:solidFill>
                <a:latin typeface="Times New Roman" panose="02020603050405020304" pitchFamily="18" charset="0"/>
                <a:cs typeface="Times New Roman" panose="02020603050405020304" pitchFamily="18" charset="0"/>
              </a:rPr>
              <a:t>problems or limitations in the scope of the report should be identified, and a description of research methods, the parameters of the research and any necessary background history should be included.  </a:t>
            </a:r>
            <a:endParaRPr lang="en-US" sz="2400" dirty="0" smtClean="0">
              <a:solidFill>
                <a:prstClr val="black"/>
              </a:solidFill>
              <a:latin typeface="Times New Roman" panose="02020603050405020304" pitchFamily="18" charset="0"/>
              <a:cs typeface="Times New Roman" panose="02020603050405020304" pitchFamily="18" charset="0"/>
            </a:endParaRPr>
          </a:p>
          <a:p>
            <a:pPr lvl="0" algn="just"/>
            <a:r>
              <a:rPr lang="en-US" sz="2400" dirty="0" smtClean="0">
                <a:solidFill>
                  <a:prstClr val="black"/>
                </a:solidFill>
                <a:latin typeface="Times New Roman" panose="02020603050405020304" pitchFamily="18" charset="0"/>
                <a:cs typeface="Times New Roman" panose="02020603050405020304" pitchFamily="18" charset="0"/>
              </a:rPr>
              <a:t>In </a:t>
            </a:r>
            <a:r>
              <a:rPr lang="en-US" sz="2400" dirty="0">
                <a:solidFill>
                  <a:prstClr val="black"/>
                </a:solidFill>
                <a:latin typeface="Times New Roman" panose="02020603050405020304" pitchFamily="18" charset="0"/>
                <a:cs typeface="Times New Roman" panose="02020603050405020304" pitchFamily="18" charset="0"/>
              </a:rPr>
              <a:t>some reports, particularly in science subjects, separate headings for </a:t>
            </a:r>
            <a:r>
              <a:rPr lang="en-US" sz="2400" b="1" dirty="0">
                <a:solidFill>
                  <a:prstClr val="black"/>
                </a:solidFill>
                <a:latin typeface="Times New Roman" panose="02020603050405020304" pitchFamily="18" charset="0"/>
                <a:cs typeface="Times New Roman" panose="02020603050405020304" pitchFamily="18" charset="0"/>
              </a:rPr>
              <a:t>Methods</a:t>
            </a:r>
            <a:r>
              <a:rPr lang="en-US" sz="2400" dirty="0">
                <a:solidFill>
                  <a:prstClr val="black"/>
                </a:solidFill>
                <a:latin typeface="Times New Roman" panose="02020603050405020304" pitchFamily="18" charset="0"/>
                <a:cs typeface="Times New Roman" panose="02020603050405020304" pitchFamily="18" charset="0"/>
              </a:rPr>
              <a:t> and</a:t>
            </a:r>
            <a:r>
              <a:rPr lang="en-US" sz="2400" b="1" dirty="0">
                <a:solidFill>
                  <a:prstClr val="black"/>
                </a:solidFill>
                <a:latin typeface="Times New Roman" panose="02020603050405020304" pitchFamily="18" charset="0"/>
                <a:cs typeface="Times New Roman" panose="02020603050405020304" pitchFamily="18" charset="0"/>
              </a:rPr>
              <a:t> Results</a:t>
            </a:r>
            <a:r>
              <a:rPr lang="en-US" sz="2400" dirty="0">
                <a:solidFill>
                  <a:prstClr val="black"/>
                </a:solidFill>
                <a:latin typeface="Times New Roman" panose="02020603050405020304" pitchFamily="18" charset="0"/>
                <a:cs typeface="Times New Roman" panose="02020603050405020304" pitchFamily="18" charset="0"/>
              </a:rPr>
              <a:t> are used prior to the main body (</a:t>
            </a:r>
            <a:r>
              <a:rPr lang="en-US" sz="2400" b="1" dirty="0">
                <a:solidFill>
                  <a:prstClr val="black"/>
                </a:solidFill>
                <a:latin typeface="Times New Roman" panose="02020603050405020304" pitchFamily="18" charset="0"/>
                <a:cs typeface="Times New Roman" panose="02020603050405020304" pitchFamily="18" charset="0"/>
              </a:rPr>
              <a:t>Discussion</a:t>
            </a:r>
            <a:r>
              <a:rPr lang="en-US" sz="2400" dirty="0">
                <a:solidFill>
                  <a:prstClr val="black"/>
                </a:solidFill>
                <a:latin typeface="Times New Roman" panose="02020603050405020304" pitchFamily="18" charset="0"/>
                <a:cs typeface="Times New Roman" panose="02020603050405020304" pitchFamily="18" charset="0"/>
              </a:rPr>
              <a:t>) of the report as described below</a:t>
            </a:r>
            <a:endParaRPr lang="en-US" sz="2400" dirty="0" smtClean="0">
              <a:solidFill>
                <a:prstClr val="black"/>
              </a:solidFill>
              <a:latin typeface="Times New Roman" panose="02020603050405020304" pitchFamily="18" charset="0"/>
              <a:cs typeface="Times New Roman" panose="02020603050405020304" pitchFamily="18" charset="0"/>
            </a:endParaRPr>
          </a:p>
          <a:p>
            <a:pPr lvl="0" algn="just"/>
            <a:endParaRPr lang="en-US" sz="2400" dirty="0">
              <a:solidFill>
                <a:prstClr val="black"/>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07353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5"/>
            <a:ext cx="10515600" cy="4916138"/>
          </a:xfrm>
        </p:spPr>
        <p:txBody>
          <a:bodyPr>
            <a:normAutofit/>
          </a:bodyPr>
          <a:lstStyle/>
          <a:p>
            <a:pPr algn="just"/>
            <a:r>
              <a:rPr lang="en-US" sz="2600" b="1" dirty="0" smtClean="0">
                <a:latin typeface="Times New Roman" panose="02020603050405020304" pitchFamily="18" charset="0"/>
                <a:cs typeface="Times New Roman" panose="02020603050405020304" pitchFamily="18" charset="0"/>
              </a:rPr>
              <a:t>Methods</a:t>
            </a:r>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Information under this heading may include: a list of equipment used; explanations of procedures followed; relevant information on materials used, including sources of materials and details of any necessary preparation; reference to any problems encountered and subsequent changes in procedure. </a:t>
            </a:r>
          </a:p>
          <a:p>
            <a:endParaRPr lang="en-US" dirty="0"/>
          </a:p>
        </p:txBody>
      </p:sp>
    </p:spTree>
    <p:extLst>
      <p:ext uri="{BB962C8B-B14F-4D97-AF65-F5344CB8AC3E}">
        <p14:creationId xmlns:p14="http://schemas.microsoft.com/office/powerpoint/2010/main" val="18169822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lvl="0" algn="just"/>
            <a:r>
              <a:rPr lang="en-US" sz="2600" b="1" dirty="0">
                <a:solidFill>
                  <a:prstClr val="black"/>
                </a:solidFill>
              </a:rPr>
              <a:t>Results</a:t>
            </a:r>
            <a:endParaRPr lang="en-US" sz="2600" dirty="0">
              <a:solidFill>
                <a:prstClr val="black"/>
              </a:solidFill>
              <a:latin typeface="Times New Roman" panose="02020603050405020304" pitchFamily="18" charset="0"/>
              <a:cs typeface="Times New Roman" panose="02020603050405020304" pitchFamily="18" charset="0"/>
            </a:endParaRPr>
          </a:p>
          <a:p>
            <a:pPr lvl="0" algn="just"/>
            <a:r>
              <a:rPr lang="en-US" sz="2600" dirty="0">
                <a:solidFill>
                  <a:prstClr val="black"/>
                </a:solidFill>
                <a:latin typeface="Times New Roman" panose="02020603050405020304" pitchFamily="18" charset="0"/>
                <a:cs typeface="Times New Roman" panose="02020603050405020304" pitchFamily="18" charset="0"/>
              </a:rPr>
              <a:t>This section should include a summary of the results of the investigation or experiment together with any necessary diagrams, graphs or tables of gathered data that support your results. </a:t>
            </a:r>
            <a:endParaRPr lang="en-US" sz="2600" dirty="0" smtClean="0">
              <a:solidFill>
                <a:prstClr val="black"/>
              </a:solidFill>
              <a:latin typeface="Times New Roman" panose="02020603050405020304" pitchFamily="18" charset="0"/>
              <a:cs typeface="Times New Roman" panose="02020603050405020304" pitchFamily="18" charset="0"/>
            </a:endParaRPr>
          </a:p>
          <a:p>
            <a:pPr lvl="0" algn="just"/>
            <a:r>
              <a:rPr lang="en-US" sz="2600" dirty="0" smtClean="0">
                <a:solidFill>
                  <a:prstClr val="black"/>
                </a:solidFill>
                <a:latin typeface="Times New Roman" panose="02020603050405020304" pitchFamily="18" charset="0"/>
                <a:cs typeface="Times New Roman" panose="02020603050405020304" pitchFamily="18" charset="0"/>
              </a:rPr>
              <a:t>Present </a:t>
            </a:r>
            <a:r>
              <a:rPr lang="en-US" sz="2600" dirty="0">
                <a:solidFill>
                  <a:prstClr val="black"/>
                </a:solidFill>
                <a:latin typeface="Times New Roman" panose="02020603050405020304" pitchFamily="18" charset="0"/>
                <a:cs typeface="Times New Roman" panose="02020603050405020304" pitchFamily="18" charset="0"/>
              </a:rPr>
              <a:t>your results in a logical order without comment. Discussion of your results should take place in the main body (</a:t>
            </a:r>
            <a:r>
              <a:rPr lang="en-US" sz="2600" b="1" dirty="0">
                <a:solidFill>
                  <a:prstClr val="black"/>
                </a:solidFill>
                <a:latin typeface="Times New Roman" panose="02020603050405020304" pitchFamily="18" charset="0"/>
                <a:cs typeface="Times New Roman" panose="02020603050405020304" pitchFamily="18" charset="0"/>
              </a:rPr>
              <a:t>Discussion</a:t>
            </a:r>
            <a:r>
              <a:rPr lang="en-US" sz="2600" dirty="0">
                <a:solidFill>
                  <a:prstClr val="black"/>
                </a:solidFill>
                <a:latin typeface="Times New Roman" panose="02020603050405020304" pitchFamily="18" charset="0"/>
                <a:cs typeface="Times New Roman" panose="02020603050405020304" pitchFamily="18" charset="0"/>
              </a:rPr>
              <a:t>) of the report.</a:t>
            </a:r>
            <a:endParaRPr lang="en-US" dirty="0"/>
          </a:p>
        </p:txBody>
      </p:sp>
    </p:spTree>
    <p:extLst>
      <p:ext uri="{BB962C8B-B14F-4D97-AF65-F5344CB8AC3E}">
        <p14:creationId xmlns:p14="http://schemas.microsoft.com/office/powerpoint/2010/main" val="21426260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6"/>
          </a:xfrm>
        </p:spPr>
        <p:txBody>
          <a:bodyPr>
            <a:normAutofit/>
          </a:bodyPr>
          <a:lstStyle/>
          <a:p>
            <a:r>
              <a:rPr lang="en-US" b="1" dirty="0">
                <a:latin typeface="Times New Roman" panose="02020603050405020304" pitchFamily="18" charset="0"/>
                <a:cs typeface="Times New Roman" panose="02020603050405020304" pitchFamily="18" charset="0"/>
              </a:rPr>
              <a:t>Discussion</a:t>
            </a:r>
            <a:endParaRPr lang="en-US"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The main body of the report is where you discuss your material. The facts and evidence you have gathered should be </a:t>
            </a:r>
            <a:r>
              <a:rPr lang="en-US" sz="2600" dirty="0" err="1">
                <a:latin typeface="Times New Roman" panose="02020603050405020304" pitchFamily="18" charset="0"/>
                <a:cs typeface="Times New Roman" panose="02020603050405020304" pitchFamily="18" charset="0"/>
              </a:rPr>
              <a:t>analysed</a:t>
            </a:r>
            <a:r>
              <a:rPr lang="en-US" sz="2600" dirty="0">
                <a:latin typeface="Times New Roman" panose="02020603050405020304" pitchFamily="18" charset="0"/>
                <a:cs typeface="Times New Roman" panose="02020603050405020304" pitchFamily="18" charset="0"/>
              </a:rPr>
              <a:t> and discussed with specific reference to the problem or issue. If your discussion section is </a:t>
            </a:r>
            <a:r>
              <a:rPr lang="en-US" sz="2600" dirty="0" smtClean="0">
                <a:latin typeface="Times New Roman" panose="02020603050405020304" pitchFamily="18" charset="0"/>
                <a:cs typeface="Times New Roman" panose="02020603050405020304" pitchFamily="18" charset="0"/>
              </a:rPr>
              <a:t>to long </a:t>
            </a:r>
            <a:r>
              <a:rPr lang="en-US" sz="2600" dirty="0">
                <a:latin typeface="Times New Roman" panose="02020603050405020304" pitchFamily="18" charset="0"/>
                <a:cs typeface="Times New Roman" panose="02020603050405020304" pitchFamily="18" charset="0"/>
              </a:rPr>
              <a:t>you might divide it into </a:t>
            </a:r>
            <a:r>
              <a:rPr lang="en-US" sz="2600" dirty="0" smtClean="0">
                <a:latin typeface="Times New Roman" panose="02020603050405020304" pitchFamily="18" charset="0"/>
                <a:cs typeface="Times New Roman" panose="02020603050405020304" pitchFamily="18" charset="0"/>
              </a:rPr>
              <a:t>subsections. </a:t>
            </a:r>
          </a:p>
          <a:p>
            <a:pPr algn="just"/>
            <a:r>
              <a:rPr lang="en-US" sz="2600" dirty="0" smtClean="0">
                <a:latin typeface="Times New Roman" panose="02020603050405020304" pitchFamily="18" charset="0"/>
                <a:cs typeface="Times New Roman" panose="02020603050405020304" pitchFamily="18" charset="0"/>
              </a:rPr>
              <a:t>Your </a:t>
            </a:r>
            <a:r>
              <a:rPr lang="en-US" sz="2600" dirty="0">
                <a:latin typeface="Times New Roman" panose="02020603050405020304" pitchFamily="18" charset="0"/>
                <a:cs typeface="Times New Roman" panose="02020603050405020304" pitchFamily="18" charset="0"/>
              </a:rPr>
              <a:t>points should be grouped and arranged in an order that is logical and easy to follow. Use headings and subheadings to create a clear structure for your material. Use bullet points to present a series of points in an easy-to-follow list. As with the whole report, all sources used should be acknowledged and correctly referenced</a:t>
            </a:r>
            <a:r>
              <a:rPr lang="en-US" sz="2600" dirty="0" smtClean="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00118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6"/>
          </a:xfrm>
        </p:spPr>
        <p:txBody>
          <a:bodyPr>
            <a:normAutofit/>
          </a:bodyPr>
          <a:lstStyle/>
          <a:p>
            <a:pPr algn="just"/>
            <a:r>
              <a:rPr lang="en-US" sz="2600" b="1" dirty="0" smtClean="0">
                <a:latin typeface="Times New Roman" panose="02020603050405020304" pitchFamily="18" charset="0"/>
                <a:cs typeface="Times New Roman" panose="02020603050405020304" pitchFamily="18" charset="0"/>
              </a:rPr>
              <a:t>Conclusion</a:t>
            </a:r>
            <a:r>
              <a:rPr lang="en-US" sz="2600" b="1" dirty="0">
                <a:latin typeface="Times New Roman" panose="02020603050405020304" pitchFamily="18" charset="0"/>
                <a:cs typeface="Times New Roman" panose="02020603050405020304" pitchFamily="18" charset="0"/>
              </a:rPr>
              <a:t> </a:t>
            </a:r>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In the conclusion you should show the overall significance of what has been covered. You may want to remind the reader of the most important points that have been made in the report or highlight what you consider to be the most central issues or findings. </a:t>
            </a:r>
            <a:endParaRPr lang="en-US" sz="2600" dirty="0" smtClean="0">
              <a:latin typeface="Times New Roman" panose="02020603050405020304" pitchFamily="18" charset="0"/>
              <a:cs typeface="Times New Roman" panose="02020603050405020304" pitchFamily="18" charset="0"/>
            </a:endParaRPr>
          </a:p>
          <a:p>
            <a:pPr algn="just"/>
            <a:r>
              <a:rPr lang="en-US" sz="2600" dirty="0" smtClean="0">
                <a:latin typeface="Times New Roman" panose="02020603050405020304" pitchFamily="18" charset="0"/>
                <a:cs typeface="Times New Roman" panose="02020603050405020304" pitchFamily="18" charset="0"/>
              </a:rPr>
              <a:t>However</a:t>
            </a:r>
            <a:r>
              <a:rPr lang="en-US" sz="2600" dirty="0">
                <a:latin typeface="Times New Roman" panose="02020603050405020304" pitchFamily="18" charset="0"/>
                <a:cs typeface="Times New Roman" panose="02020603050405020304" pitchFamily="18" charset="0"/>
              </a:rPr>
              <a:t>, no new material should be introduced in the conclusion. </a:t>
            </a:r>
          </a:p>
          <a:p>
            <a:endParaRPr lang="en-US" dirty="0"/>
          </a:p>
        </p:txBody>
      </p:sp>
    </p:spTree>
    <p:extLst>
      <p:ext uri="{BB962C8B-B14F-4D97-AF65-F5344CB8AC3E}">
        <p14:creationId xmlns:p14="http://schemas.microsoft.com/office/powerpoint/2010/main" val="11400118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4776653"/>
          </a:xfrm>
        </p:spPr>
        <p:txBody>
          <a:bodyPr>
            <a:normAutofit/>
          </a:bodyPr>
          <a:lstStyle/>
          <a:p>
            <a:r>
              <a:rPr lang="en-US" b="1" dirty="0" smtClean="0"/>
              <a:t>Recommendations</a:t>
            </a:r>
          </a:p>
          <a:p>
            <a:r>
              <a:rPr lang="en-US" sz="2400" dirty="0" smtClean="0">
                <a:latin typeface="Times New Roman" panose="02020603050405020304" pitchFamily="18" charset="0"/>
                <a:cs typeface="Times New Roman" panose="02020603050405020304" pitchFamily="18" charset="0"/>
              </a:rPr>
              <a:t>This section show the  things which should be done as a result of the report that has been written. The recommendations are given as a result of the gaps and important information which are missing or are unknown.</a:t>
            </a:r>
            <a:r>
              <a:rPr lang="en-US" sz="2400" b="1" dirty="0"/>
              <a:t> </a:t>
            </a:r>
            <a:endParaRPr lang="en-US" sz="2400" b="1" dirty="0" smtClean="0"/>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27969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lvl="0"/>
            <a:r>
              <a:rPr lang="en-US" sz="2400" b="1" dirty="0">
                <a:solidFill>
                  <a:prstClr val="black"/>
                </a:solidFill>
              </a:rPr>
              <a:t>Appendices</a:t>
            </a:r>
            <a:endParaRPr lang="en-US" sz="2400" dirty="0">
              <a:solidFill>
                <a:prstClr val="black"/>
              </a:solidFill>
            </a:endParaRPr>
          </a:p>
          <a:p>
            <a:pPr lvl="0"/>
            <a:r>
              <a:rPr lang="en-US" sz="2400" dirty="0">
                <a:solidFill>
                  <a:prstClr val="black"/>
                </a:solidFill>
              </a:rPr>
              <a:t>Under this heading you should include all the supporting information you have used that is not published. </a:t>
            </a:r>
            <a:endParaRPr lang="en-US" sz="2400" dirty="0" smtClean="0">
              <a:solidFill>
                <a:prstClr val="black"/>
              </a:solidFill>
            </a:endParaRPr>
          </a:p>
          <a:p>
            <a:pPr lvl="0"/>
            <a:r>
              <a:rPr lang="en-US" sz="2400" dirty="0" smtClean="0">
                <a:solidFill>
                  <a:prstClr val="black"/>
                </a:solidFill>
              </a:rPr>
              <a:t>This </a:t>
            </a:r>
            <a:r>
              <a:rPr lang="en-US" sz="2400" dirty="0">
                <a:solidFill>
                  <a:prstClr val="black"/>
                </a:solidFill>
              </a:rPr>
              <a:t>might include tables, graphs, questionnaires, surveys or transcripts. Refer to the appendices in the body of your report.</a:t>
            </a:r>
          </a:p>
          <a:p>
            <a:pPr lvl="0"/>
            <a:r>
              <a:rPr lang="en-US" sz="2400" dirty="0">
                <a:solidFill>
                  <a:prstClr val="black"/>
                </a:solidFill>
              </a:rPr>
              <a:t>In order to assess the popularity of this change, a questionnaire (Appendix 2) was distributed to 60 employees. The results (Appendix 3) suggest the change is well received by the majority of employees.</a:t>
            </a:r>
          </a:p>
          <a:p>
            <a:pPr lvl="0" algn="just"/>
            <a:endParaRPr lang="en-US" sz="2400" b="1" dirty="0">
              <a:solidFill>
                <a:prstClr val="black"/>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669169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algn="just"/>
            <a:r>
              <a:rPr lang="en-US" sz="2400" b="1" dirty="0">
                <a:latin typeface="Times New Roman" panose="02020603050405020304" pitchFamily="18" charset="0"/>
                <a:cs typeface="Times New Roman" panose="02020603050405020304" pitchFamily="18" charset="0"/>
              </a:rPr>
              <a:t>Bibliography</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Your bibliography should </a:t>
            </a:r>
            <a:r>
              <a:rPr lang="en-US" sz="2400" dirty="0" smtClean="0">
                <a:latin typeface="Times New Roman" panose="02020603050405020304" pitchFamily="18" charset="0"/>
                <a:cs typeface="Times New Roman" panose="02020603050405020304" pitchFamily="18" charset="0"/>
              </a:rPr>
              <a:t> be listed in </a:t>
            </a:r>
            <a:r>
              <a:rPr lang="en-US" sz="2400" dirty="0">
                <a:latin typeface="Times New Roman" panose="02020603050405020304" pitchFamily="18" charset="0"/>
                <a:cs typeface="Times New Roman" panose="02020603050405020304" pitchFamily="18" charset="0"/>
              </a:rPr>
              <a:t>alphabetical order by author, all published sources referred to in your report. There are different styles of using references and bibliographies.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Refer </a:t>
            </a:r>
            <a:r>
              <a:rPr lang="en-US" sz="2400" dirty="0">
                <a:latin typeface="Times New Roman" panose="02020603050405020304" pitchFamily="18" charset="0"/>
                <a:cs typeface="Times New Roman" panose="02020603050405020304" pitchFamily="18" charset="0"/>
              </a:rPr>
              <a:t>to the study guide </a:t>
            </a:r>
            <a:r>
              <a:rPr lang="en-US" sz="2400" dirty="0">
                <a:latin typeface="Times New Roman" panose="02020603050405020304" pitchFamily="18" charset="0"/>
                <a:cs typeface="Times New Roman" panose="02020603050405020304" pitchFamily="18" charset="0"/>
                <a:hlinkClick r:id="rId2" tooltip="Referencing &amp; bibliographies"/>
              </a:rPr>
              <a:t>Referencing and Bibliographies</a:t>
            </a:r>
            <a:r>
              <a:rPr lang="en-US" sz="2400" dirty="0">
                <a:latin typeface="Times New Roman" panose="02020603050405020304" pitchFamily="18" charset="0"/>
                <a:cs typeface="Times New Roman" panose="02020603050405020304" pitchFamily="18" charset="0"/>
              </a:rPr>
              <a:t> and check your departmental handbook for guidelines. Texts which you consulted but did not refer to directly could be grouped under a separate heading such as 'Background Reading' and listed in alphabetical order using the same format as in your bibliography. </a:t>
            </a:r>
          </a:p>
          <a:p>
            <a:endParaRPr lang="en-US" dirty="0"/>
          </a:p>
        </p:txBody>
      </p:sp>
    </p:spTree>
    <p:extLst>
      <p:ext uri="{BB962C8B-B14F-4D97-AF65-F5344CB8AC3E}">
        <p14:creationId xmlns:p14="http://schemas.microsoft.com/office/powerpoint/2010/main" val="37379931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5"/>
            <a:ext cx="10515600" cy="4637168"/>
          </a:xfrm>
        </p:spPr>
        <p:txBody>
          <a:bodyPr>
            <a:normAutofit/>
          </a:bodyPr>
          <a:lstStyle/>
          <a:p>
            <a:pPr algn="just"/>
            <a:r>
              <a:rPr lang="en-US" sz="2400" b="1" dirty="0">
                <a:latin typeface="Times New Roman" panose="02020603050405020304" pitchFamily="18" charset="0"/>
                <a:cs typeface="Times New Roman" panose="02020603050405020304" pitchFamily="18" charset="0"/>
              </a:rPr>
              <a:t>Acknowledgements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Where appropriate you may wish to acknowledge the assistance of particular </a:t>
            </a:r>
            <a:r>
              <a:rPr lang="en-US" sz="2400" dirty="0" err="1">
                <a:latin typeface="Times New Roman" panose="02020603050405020304" pitchFamily="18" charset="0"/>
                <a:cs typeface="Times New Roman" panose="02020603050405020304" pitchFamily="18" charset="0"/>
              </a:rPr>
              <a:t>organisations</a:t>
            </a:r>
            <a:r>
              <a:rPr lang="en-US" sz="2400" dirty="0">
                <a:latin typeface="Times New Roman" panose="02020603050405020304" pitchFamily="18" charset="0"/>
                <a:cs typeface="Times New Roman" panose="02020603050405020304" pitchFamily="18" charset="0"/>
              </a:rPr>
              <a:t> or individuals who provided information, advice or help. </a:t>
            </a:r>
          </a:p>
          <a:p>
            <a:pPr algn="just"/>
            <a:r>
              <a:rPr lang="en-US" sz="2400" b="1" dirty="0">
                <a:latin typeface="Times New Roman" panose="02020603050405020304" pitchFamily="18" charset="0"/>
                <a:cs typeface="Times New Roman" panose="02020603050405020304" pitchFamily="18" charset="0"/>
              </a:rPr>
              <a:t>Glossary of Technical Terms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is useful to provide an alphabetical list of technical terms with a brief, clear description of each term. You can also include in this section explanations of the acronyms, abbreviations or standard units used in your report.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You </a:t>
            </a:r>
            <a:r>
              <a:rPr lang="en-US" sz="2400" dirty="0">
                <a:latin typeface="Times New Roman" panose="02020603050405020304" pitchFamily="18" charset="0"/>
                <a:cs typeface="Times New Roman" panose="02020603050405020304" pitchFamily="18" charset="0"/>
              </a:rPr>
              <a:t>will not necessarily be required to use all of the headings described above, nor will they necessarily be in the order given here. </a:t>
            </a:r>
            <a:r>
              <a:rPr lang="en-US" sz="2400" dirty="0" smtClean="0">
                <a:latin typeface="Times New Roman" panose="02020603050405020304" pitchFamily="18" charset="0"/>
                <a:cs typeface="Times New Roman" panose="02020603050405020304" pitchFamily="18" charset="0"/>
              </a:rPr>
              <a:t>Check </a:t>
            </a:r>
            <a:r>
              <a:rPr lang="en-US" sz="2400" dirty="0">
                <a:latin typeface="Times New Roman" panose="02020603050405020304" pitchFamily="18" charset="0"/>
                <a:cs typeface="Times New Roman" panose="02020603050405020304" pitchFamily="18" charset="0"/>
              </a:rPr>
              <a:t>your departmental guidelines or instructions.</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0" indent="0">
              <a:buNone/>
            </a:pPr>
            <a:endParaRPr lang="en-US" dirty="0"/>
          </a:p>
          <a:p>
            <a:endParaRPr lang="en-US" dirty="0"/>
          </a:p>
        </p:txBody>
      </p:sp>
    </p:spTree>
    <p:extLst>
      <p:ext uri="{BB962C8B-B14F-4D97-AF65-F5344CB8AC3E}">
        <p14:creationId xmlns:p14="http://schemas.microsoft.com/office/powerpoint/2010/main" val="30802399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pPr algn="just"/>
            <a:r>
              <a:rPr lang="en-US" sz="2400" b="1" dirty="0">
                <a:latin typeface="Times New Roman" panose="02020603050405020304" pitchFamily="18" charset="0"/>
                <a:cs typeface="Times New Roman" panose="02020603050405020304" pitchFamily="18" charset="0"/>
              </a:rPr>
              <a:t>Writing the report: the essential stages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All reports need to be clear, concise and well structured. The key to writing an effective report is to allocate time for planning and preparation.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With </a:t>
            </a:r>
            <a:r>
              <a:rPr lang="en-US" sz="2400" dirty="0">
                <a:latin typeface="Times New Roman" panose="02020603050405020304" pitchFamily="18" charset="0"/>
                <a:cs typeface="Times New Roman" panose="02020603050405020304" pitchFamily="18" charset="0"/>
              </a:rPr>
              <a:t>careful planning, the writing of a report will be made much easier. The essential stages of successful report writing are described below.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Consider </a:t>
            </a:r>
            <a:r>
              <a:rPr lang="en-US" sz="2400" dirty="0">
                <a:latin typeface="Times New Roman" panose="02020603050405020304" pitchFamily="18" charset="0"/>
                <a:cs typeface="Times New Roman" panose="02020603050405020304" pitchFamily="18" charset="0"/>
              </a:rPr>
              <a:t>how long each stage is likely to take and divide the time before the deadline between the different stages. Be sure to leave time for final proof reading and checking</a:t>
            </a:r>
            <a:r>
              <a:rPr lang="en-US" sz="2400" dirty="0"/>
              <a:t>.</a:t>
            </a:r>
          </a:p>
          <a:p>
            <a:pPr marL="0" indent="0" algn="just">
              <a:buNone/>
            </a:pPr>
            <a:r>
              <a:rPr lang="en-US" sz="2400" dirty="0"/>
              <a:t> </a:t>
            </a:r>
          </a:p>
          <a:p>
            <a:pPr algn="just"/>
            <a:endParaRPr lang="en-US" sz="2400" dirty="0"/>
          </a:p>
        </p:txBody>
      </p:sp>
    </p:spTree>
    <p:extLst>
      <p:ext uri="{BB962C8B-B14F-4D97-AF65-F5344CB8AC3E}">
        <p14:creationId xmlns:p14="http://schemas.microsoft.com/office/powerpoint/2010/main" val="8010852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lvl="0" algn="just"/>
            <a:r>
              <a:rPr lang="en-US" sz="2400" b="1" dirty="0">
                <a:solidFill>
                  <a:prstClr val="black"/>
                </a:solidFill>
                <a:latin typeface="Times New Roman" panose="02020603050405020304" pitchFamily="18" charset="0"/>
                <a:cs typeface="Times New Roman" panose="02020603050405020304" pitchFamily="18" charset="0"/>
              </a:rPr>
              <a:t>Stage One: Understanding the report brief</a:t>
            </a:r>
            <a:endParaRPr lang="en-US" sz="2400" dirty="0">
              <a:solidFill>
                <a:prstClr val="black"/>
              </a:solidFill>
              <a:latin typeface="Times New Roman" panose="02020603050405020304" pitchFamily="18" charset="0"/>
              <a:cs typeface="Times New Roman" panose="02020603050405020304" pitchFamily="18" charset="0"/>
            </a:endParaRPr>
          </a:p>
          <a:p>
            <a:pPr lvl="0" algn="just"/>
            <a:r>
              <a:rPr lang="en-US" sz="2400" dirty="0">
                <a:solidFill>
                  <a:prstClr val="black"/>
                </a:solidFill>
                <a:latin typeface="Times New Roman" panose="02020603050405020304" pitchFamily="18" charset="0"/>
                <a:cs typeface="Times New Roman" panose="02020603050405020304" pitchFamily="18" charset="0"/>
              </a:rPr>
              <a:t>This first stage is the most important. You need to be confident that you understand the purpose of your report as described in your report brief or instructions. </a:t>
            </a:r>
            <a:endParaRPr lang="en-US" sz="2400" dirty="0" smtClean="0">
              <a:solidFill>
                <a:prstClr val="black"/>
              </a:solidFill>
              <a:latin typeface="Times New Roman" panose="02020603050405020304" pitchFamily="18" charset="0"/>
              <a:cs typeface="Times New Roman" panose="02020603050405020304" pitchFamily="18" charset="0"/>
            </a:endParaRPr>
          </a:p>
          <a:p>
            <a:pPr lvl="0" algn="just"/>
            <a:r>
              <a:rPr lang="en-US" sz="2400" dirty="0" smtClean="0">
                <a:solidFill>
                  <a:prstClr val="black"/>
                </a:solidFill>
                <a:latin typeface="Times New Roman" panose="02020603050405020304" pitchFamily="18" charset="0"/>
                <a:cs typeface="Times New Roman" panose="02020603050405020304" pitchFamily="18" charset="0"/>
              </a:rPr>
              <a:t>Consider </a:t>
            </a:r>
            <a:r>
              <a:rPr lang="en-US" sz="2400" dirty="0">
                <a:solidFill>
                  <a:prstClr val="black"/>
                </a:solidFill>
                <a:latin typeface="Times New Roman" panose="02020603050405020304" pitchFamily="18" charset="0"/>
                <a:cs typeface="Times New Roman" panose="02020603050405020304" pitchFamily="18" charset="0"/>
              </a:rPr>
              <a:t>who the report is for and why it is being written. </a:t>
            </a:r>
            <a:endParaRPr lang="en-US" sz="2400" dirty="0" smtClean="0">
              <a:solidFill>
                <a:prstClr val="black"/>
              </a:solidFill>
              <a:latin typeface="Times New Roman" panose="02020603050405020304" pitchFamily="18" charset="0"/>
              <a:cs typeface="Times New Roman" panose="02020603050405020304" pitchFamily="18" charset="0"/>
            </a:endParaRPr>
          </a:p>
          <a:p>
            <a:pPr lvl="0" algn="just"/>
            <a:r>
              <a:rPr lang="en-US" sz="2400" dirty="0" smtClean="0">
                <a:solidFill>
                  <a:prstClr val="black"/>
                </a:solidFill>
                <a:latin typeface="Times New Roman" panose="02020603050405020304" pitchFamily="18" charset="0"/>
                <a:cs typeface="Times New Roman" panose="02020603050405020304" pitchFamily="18" charset="0"/>
              </a:rPr>
              <a:t>Check </a:t>
            </a:r>
            <a:r>
              <a:rPr lang="en-US" sz="2400" dirty="0">
                <a:solidFill>
                  <a:prstClr val="black"/>
                </a:solidFill>
                <a:latin typeface="Times New Roman" panose="02020603050405020304" pitchFamily="18" charset="0"/>
                <a:cs typeface="Times New Roman" panose="02020603050405020304" pitchFamily="18" charset="0"/>
              </a:rPr>
              <a:t>that you understand all the instructions or requirements, and ask your tutor if anything is unclear.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44319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a:bodyPr>
          <a:lstStyle/>
          <a:p>
            <a:pPr algn="just"/>
            <a:r>
              <a:rPr lang="en-US" sz="2400" b="1" dirty="0">
                <a:latin typeface="Times New Roman" panose="02020603050405020304" pitchFamily="18" charset="0"/>
                <a:cs typeface="Times New Roman" panose="02020603050405020304" pitchFamily="18" charset="0"/>
              </a:rPr>
              <a:t>Stage Two: Gathering and selecting information</a:t>
            </a:r>
            <a:endParaRPr lang="en-US"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a:t>
            </a:r>
            <a:r>
              <a:rPr lang="en-US" sz="2400" dirty="0" smtClean="0">
                <a:latin typeface="Times New Roman" panose="02020603050405020304" pitchFamily="18" charset="0"/>
                <a:cs typeface="Times New Roman" panose="02020603050405020304" pitchFamily="18" charset="0"/>
              </a:rPr>
              <a:t>egin </a:t>
            </a:r>
            <a:r>
              <a:rPr lang="en-US" sz="2400" dirty="0">
                <a:latin typeface="Times New Roman" panose="02020603050405020304" pitchFamily="18" charset="0"/>
                <a:cs typeface="Times New Roman" panose="02020603050405020304" pitchFamily="18" charset="0"/>
              </a:rPr>
              <a:t>to gather relevant information. Your information may come from a variety of sources, but how much information you will need will depend on how much detail is required in the report. </a:t>
            </a:r>
            <a:endParaRPr lang="en-US" sz="2400" dirty="0" smtClean="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B</a:t>
            </a:r>
            <a:r>
              <a:rPr lang="en-US" sz="2400" dirty="0" smtClean="0">
                <a:latin typeface="Times New Roman" panose="02020603050405020304" pitchFamily="18" charset="0"/>
                <a:cs typeface="Times New Roman" panose="02020603050405020304" pitchFamily="18" charset="0"/>
              </a:rPr>
              <a:t>egin </a:t>
            </a:r>
            <a:r>
              <a:rPr lang="en-US" sz="2400" dirty="0">
                <a:latin typeface="Times New Roman" panose="02020603050405020304" pitchFamily="18" charset="0"/>
                <a:cs typeface="Times New Roman" panose="02020603050405020304" pitchFamily="18" charset="0"/>
              </a:rPr>
              <a:t>by reading relevant literature to widen your understanding of the topic or issue before you go on to look at other forms of information such as questionnaires, surveys etc.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Assess </a:t>
            </a:r>
            <a:r>
              <a:rPr lang="en-US" sz="2400" dirty="0">
                <a:latin typeface="Times New Roman" panose="02020603050405020304" pitchFamily="18" charset="0"/>
                <a:cs typeface="Times New Roman" panose="02020603050405020304" pitchFamily="18" charset="0"/>
              </a:rPr>
              <a:t>its relevance to your report and select accordingly.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72369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algn="just"/>
            <a:r>
              <a:rPr lang="en-US" sz="2400" b="1" dirty="0">
                <a:latin typeface="Times New Roman" panose="02020603050405020304" pitchFamily="18" charset="0"/>
                <a:cs typeface="Times New Roman" panose="02020603050405020304" pitchFamily="18" charset="0"/>
              </a:rPr>
              <a:t>Stage Three: </a:t>
            </a:r>
            <a:r>
              <a:rPr lang="en-US" sz="2400" b="1" dirty="0" err="1">
                <a:latin typeface="Times New Roman" panose="02020603050405020304" pitchFamily="18" charset="0"/>
                <a:cs typeface="Times New Roman" panose="02020603050405020304" pitchFamily="18" charset="0"/>
              </a:rPr>
              <a:t>Organising</a:t>
            </a:r>
            <a:r>
              <a:rPr lang="en-US" sz="2400" b="1" dirty="0">
                <a:latin typeface="Times New Roman" panose="02020603050405020304" pitchFamily="18" charset="0"/>
                <a:cs typeface="Times New Roman" panose="02020603050405020304" pitchFamily="18" charset="0"/>
              </a:rPr>
              <a:t> your material</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Once you have gathered information you need to decide what will be included and in what sequence it should be presented. Begin by grouping together points that are related. These may form sections or chapters.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Remember </a:t>
            </a:r>
            <a:r>
              <a:rPr lang="en-US" sz="2400" dirty="0">
                <a:latin typeface="Times New Roman" panose="02020603050405020304" pitchFamily="18" charset="0"/>
                <a:cs typeface="Times New Roman" panose="02020603050405020304" pitchFamily="18" charset="0"/>
              </a:rPr>
              <a:t>to keep referring to the report brief and be prepared to cut any information that is not directly relevant to the report. Choose an order for your material that is logical and easy to follow. </a:t>
            </a:r>
          </a:p>
          <a:p>
            <a:endParaRPr lang="en-US" dirty="0"/>
          </a:p>
        </p:txBody>
      </p:sp>
    </p:spTree>
    <p:extLst>
      <p:ext uri="{BB962C8B-B14F-4D97-AF65-F5344CB8AC3E}">
        <p14:creationId xmlns:p14="http://schemas.microsoft.com/office/powerpoint/2010/main" val="29680646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pPr algn="just"/>
            <a:r>
              <a:rPr lang="en-US" sz="2400" b="1" dirty="0">
                <a:latin typeface="Times New Roman" panose="02020603050405020304" pitchFamily="18" charset="0"/>
                <a:cs typeface="Times New Roman" panose="02020603050405020304" pitchFamily="18" charset="0"/>
              </a:rPr>
              <a:t>Stage Four: </a:t>
            </a:r>
            <a:r>
              <a:rPr lang="en-US" sz="2400" b="1" dirty="0" err="1">
                <a:latin typeface="Times New Roman" panose="02020603050405020304" pitchFamily="18" charset="0"/>
                <a:cs typeface="Times New Roman" panose="02020603050405020304" pitchFamily="18" charset="0"/>
              </a:rPr>
              <a:t>Analysing</a:t>
            </a:r>
            <a:r>
              <a:rPr lang="en-US" sz="2400" b="1" dirty="0">
                <a:latin typeface="Times New Roman" panose="02020603050405020304" pitchFamily="18" charset="0"/>
                <a:cs typeface="Times New Roman" panose="02020603050405020304" pitchFamily="18" charset="0"/>
              </a:rPr>
              <a:t> your material</a:t>
            </a:r>
            <a:endParaRPr lang="en-US" sz="24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Before you begin to write your first draft of the report, take time to consider and make notes on the points you will make using the facts and evidence you have gathered. What conclusions can be drawn from the material? What are the limitations or flaws in the evidence? Do certain pieces of evidence conflict with one another? It is not enough to simply present the information you have gathered; you must relate it to the problem or issue described in the report brief. </a:t>
            </a:r>
          </a:p>
        </p:txBody>
      </p:sp>
    </p:spTree>
    <p:extLst>
      <p:ext uri="{BB962C8B-B14F-4D97-AF65-F5344CB8AC3E}">
        <p14:creationId xmlns:p14="http://schemas.microsoft.com/office/powerpoint/2010/main" val="22642263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pPr lvl="0" algn="just"/>
            <a:r>
              <a:rPr lang="en-US" sz="2600" b="1" dirty="0">
                <a:solidFill>
                  <a:prstClr val="black"/>
                </a:solidFill>
                <a:latin typeface="Times New Roman" panose="02020603050405020304" pitchFamily="18" charset="0"/>
                <a:cs typeface="Times New Roman" panose="02020603050405020304" pitchFamily="18" charset="0"/>
              </a:rPr>
              <a:t>Stage Five: Writing the </a:t>
            </a:r>
            <a:r>
              <a:rPr lang="en-US" sz="2600" b="1" dirty="0" smtClean="0">
                <a:solidFill>
                  <a:prstClr val="black"/>
                </a:solidFill>
                <a:latin typeface="Times New Roman" panose="02020603050405020304" pitchFamily="18" charset="0"/>
                <a:cs typeface="Times New Roman" panose="02020603050405020304" pitchFamily="18" charset="0"/>
              </a:rPr>
              <a:t>report</a:t>
            </a:r>
            <a:endParaRPr lang="en-US" sz="2600" dirty="0" smtClean="0">
              <a:latin typeface="Times New Roman" panose="02020603050405020304" pitchFamily="18" charset="0"/>
              <a:cs typeface="Times New Roman" panose="02020603050405020304" pitchFamily="18" charset="0"/>
            </a:endParaRPr>
          </a:p>
          <a:p>
            <a:pPr algn="just"/>
            <a:r>
              <a:rPr lang="en-US" sz="2600" dirty="0" smtClean="0">
                <a:latin typeface="Times New Roman" panose="02020603050405020304" pitchFamily="18" charset="0"/>
                <a:cs typeface="Times New Roman" panose="02020603050405020304" pitchFamily="18" charset="0"/>
              </a:rPr>
              <a:t>Start to </a:t>
            </a:r>
            <a:r>
              <a:rPr lang="en-US" sz="2600" dirty="0">
                <a:latin typeface="Times New Roman" panose="02020603050405020304" pitchFamily="18" charset="0"/>
                <a:cs typeface="Times New Roman" panose="02020603050405020304" pitchFamily="18" charset="0"/>
              </a:rPr>
              <a:t>write the first draft of your report. You may find it easier to write the summary and contents page at the end when you know exactly what will be included. </a:t>
            </a:r>
            <a:endParaRPr lang="en-US" sz="2600" dirty="0" smtClean="0">
              <a:latin typeface="Times New Roman" panose="02020603050405020304" pitchFamily="18" charset="0"/>
              <a:cs typeface="Times New Roman" panose="02020603050405020304" pitchFamily="18" charset="0"/>
            </a:endParaRPr>
          </a:p>
          <a:p>
            <a:pPr algn="just"/>
            <a:r>
              <a:rPr lang="en-US" sz="2600" dirty="0" smtClean="0">
                <a:latin typeface="Times New Roman" panose="02020603050405020304" pitchFamily="18" charset="0"/>
                <a:cs typeface="Times New Roman" panose="02020603050405020304" pitchFamily="18" charset="0"/>
              </a:rPr>
              <a:t>Aim </a:t>
            </a:r>
            <a:r>
              <a:rPr lang="en-US" sz="2600" dirty="0">
                <a:latin typeface="Times New Roman" panose="02020603050405020304" pitchFamily="18" charset="0"/>
                <a:cs typeface="Times New Roman" panose="02020603050405020304" pitchFamily="18" charset="0"/>
              </a:rPr>
              <a:t>for a writing style that is direct and precise. Avoid waffle and make your points clearly and concisely. </a:t>
            </a:r>
            <a:endParaRPr lang="en-US" sz="2600" dirty="0" smtClean="0">
              <a:latin typeface="Times New Roman" panose="02020603050405020304" pitchFamily="18" charset="0"/>
              <a:cs typeface="Times New Roman" panose="02020603050405020304" pitchFamily="18" charset="0"/>
            </a:endParaRPr>
          </a:p>
          <a:p>
            <a:pPr algn="just"/>
            <a:r>
              <a:rPr lang="en-US" sz="2600" dirty="0" smtClean="0">
                <a:latin typeface="Times New Roman" panose="02020603050405020304" pitchFamily="18" charset="0"/>
                <a:cs typeface="Times New Roman" panose="02020603050405020304" pitchFamily="18" charset="0"/>
              </a:rPr>
              <a:t>Chapters</a:t>
            </a:r>
            <a:r>
              <a:rPr lang="en-US" sz="2600" dirty="0">
                <a:latin typeface="Times New Roman" panose="02020603050405020304" pitchFamily="18" charset="0"/>
                <a:cs typeface="Times New Roman" panose="02020603050405020304" pitchFamily="18" charset="0"/>
              </a:rPr>
              <a:t>, sections and even individual paragraphs should be written with a clear structure. The structure described below can be adapted and applied to chapters, sections and even paragraphs.</a:t>
            </a:r>
          </a:p>
          <a:p>
            <a:pPr algn="just"/>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42263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Autofit/>
          </a:bodyPr>
          <a:lstStyle/>
          <a:p>
            <a:pPr lvl="1"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Introduce</a:t>
            </a:r>
            <a:r>
              <a:rPr lang="en-US" dirty="0">
                <a:latin typeface="Times New Roman" panose="02020603050405020304" pitchFamily="18" charset="0"/>
                <a:cs typeface="Times New Roman" panose="02020603050405020304" pitchFamily="18" charset="0"/>
              </a:rPr>
              <a:t> the main idea of the </a:t>
            </a:r>
            <a:r>
              <a:rPr lang="en-US" dirty="0" smtClean="0">
                <a:latin typeface="Times New Roman" panose="02020603050405020304" pitchFamily="18" charset="0"/>
                <a:cs typeface="Times New Roman" panose="02020603050405020304" pitchFamily="18" charset="0"/>
              </a:rPr>
              <a:t>chapter/section/paragraph</a:t>
            </a:r>
          </a:p>
          <a:p>
            <a:pPr lvl="1"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Explain</a:t>
            </a:r>
            <a:r>
              <a:rPr lang="en-US" dirty="0">
                <a:latin typeface="Times New Roman" panose="02020603050405020304" pitchFamily="18" charset="0"/>
                <a:cs typeface="Times New Roman" panose="02020603050405020304" pitchFamily="18" charset="0"/>
              </a:rPr>
              <a:t> and expand the idea, defining any key terms</a:t>
            </a:r>
            <a:r>
              <a:rPr lang="en-US" dirty="0" smtClean="0">
                <a:latin typeface="Times New Roman" panose="02020603050405020304" pitchFamily="18" charset="0"/>
                <a:cs typeface="Times New Roman" panose="02020603050405020304" pitchFamily="18" charset="0"/>
              </a:rPr>
              <a:t>.</a:t>
            </a:r>
          </a:p>
          <a:p>
            <a:pPr lvl="1"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Present</a:t>
            </a:r>
            <a:r>
              <a:rPr lang="en-US" dirty="0">
                <a:latin typeface="Times New Roman" panose="02020603050405020304" pitchFamily="18" charset="0"/>
                <a:cs typeface="Times New Roman" panose="02020603050405020304" pitchFamily="18" charset="0"/>
              </a:rPr>
              <a:t> relevant evidence to support your point(s</a:t>
            </a:r>
            <a:r>
              <a:rPr lang="en-US" dirty="0" smtClean="0">
                <a:latin typeface="Times New Roman" panose="02020603050405020304" pitchFamily="18" charset="0"/>
                <a:cs typeface="Times New Roman" panose="02020603050405020304" pitchFamily="18" charset="0"/>
              </a:rPr>
              <a:t>).</a:t>
            </a:r>
          </a:p>
          <a:p>
            <a:pPr marL="457200" lvl="1" indent="0" algn="just">
              <a:buNone/>
            </a:pP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Comment</a:t>
            </a:r>
            <a:r>
              <a:rPr lang="en-US" dirty="0">
                <a:latin typeface="Times New Roman" panose="02020603050405020304" pitchFamily="18" charset="0"/>
                <a:cs typeface="Times New Roman" panose="02020603050405020304" pitchFamily="18" charset="0"/>
              </a:rPr>
              <a:t> on each piece of evidence showing how it relates to your point(s</a:t>
            </a:r>
            <a:r>
              <a:rPr lang="en-US" dirty="0" smtClean="0">
                <a:latin typeface="Times New Roman" panose="02020603050405020304" pitchFamily="18" charset="0"/>
                <a:cs typeface="Times New Roman" panose="02020603050405020304" pitchFamily="18" charset="0"/>
              </a:rPr>
              <a:t>).</a:t>
            </a:r>
          </a:p>
          <a:p>
            <a:pPr marL="457200" lvl="1" indent="0" algn="just">
              <a:buNone/>
            </a:pP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Conclude</a:t>
            </a:r>
            <a:r>
              <a:rPr lang="en-US" dirty="0">
                <a:latin typeface="Times New Roman" panose="02020603050405020304" pitchFamily="18" charset="0"/>
                <a:cs typeface="Times New Roman" panose="02020603050405020304" pitchFamily="18" charset="0"/>
              </a:rPr>
              <a:t> your chapter/section/paragraph by either showing its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significance to the report as a whole or making a link to the next chapter/section/paragraph</a:t>
            </a:r>
            <a:r>
              <a:rPr lang="en-US" dirty="0" smtClean="0">
                <a:latin typeface="Times New Roman" panose="02020603050405020304" pitchFamily="18" charset="0"/>
                <a:cs typeface="Times New Roman" panose="02020603050405020304" pitchFamily="18" charset="0"/>
              </a:rPr>
              <a:t>.</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71875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lvl="0" algn="just"/>
            <a:r>
              <a:rPr lang="en-US" sz="2400" b="1" dirty="0">
                <a:solidFill>
                  <a:prstClr val="black"/>
                </a:solidFill>
                <a:latin typeface="Times New Roman" panose="02020603050405020304" pitchFamily="18" charset="0"/>
                <a:cs typeface="Times New Roman" panose="02020603050405020304" pitchFamily="18" charset="0"/>
              </a:rPr>
              <a:t>Stage Six: Reviewing and redrafting</a:t>
            </a:r>
            <a:endParaRPr lang="en-US" sz="2400" dirty="0">
              <a:solidFill>
                <a:prstClr val="black"/>
              </a:solidFill>
              <a:latin typeface="Times New Roman" panose="02020603050405020304" pitchFamily="18" charset="0"/>
              <a:cs typeface="Times New Roman" panose="02020603050405020304" pitchFamily="18" charset="0"/>
            </a:endParaRPr>
          </a:p>
          <a:p>
            <a:pPr lvl="0" algn="just"/>
            <a:r>
              <a:rPr lang="en-US" sz="2400" dirty="0">
                <a:solidFill>
                  <a:prstClr val="black"/>
                </a:solidFill>
                <a:latin typeface="Times New Roman" panose="02020603050405020304" pitchFamily="18" charset="0"/>
                <a:cs typeface="Times New Roman" panose="02020603050405020304" pitchFamily="18" charset="0"/>
              </a:rPr>
              <a:t>Ideally, you should leave time to take a break before you review your first draft. Be prepared to rearrange or rewrite sections in the light of your review. </a:t>
            </a:r>
            <a:r>
              <a:rPr lang="en-US" sz="2400" dirty="0" smtClean="0">
                <a:solidFill>
                  <a:prstClr val="black"/>
                </a:solidFill>
                <a:latin typeface="Times New Roman" panose="02020603050405020304" pitchFamily="18" charset="0"/>
                <a:cs typeface="Times New Roman" panose="02020603050405020304" pitchFamily="18" charset="0"/>
              </a:rPr>
              <a:t>Try </a:t>
            </a:r>
            <a:r>
              <a:rPr lang="en-US" sz="2400" dirty="0">
                <a:solidFill>
                  <a:prstClr val="black"/>
                </a:solidFill>
                <a:latin typeface="Times New Roman" panose="02020603050405020304" pitchFamily="18" charset="0"/>
                <a:cs typeface="Times New Roman" panose="02020603050405020304" pitchFamily="18" charset="0"/>
              </a:rPr>
              <a:t>to read the draft from the perspective of the reader. </a:t>
            </a:r>
            <a:endParaRPr lang="en-US" sz="2400" dirty="0" smtClean="0">
              <a:solidFill>
                <a:prstClr val="black"/>
              </a:solidFill>
              <a:latin typeface="Times New Roman" panose="02020603050405020304" pitchFamily="18" charset="0"/>
              <a:cs typeface="Times New Roman" panose="02020603050405020304" pitchFamily="18" charset="0"/>
            </a:endParaRPr>
          </a:p>
          <a:p>
            <a:pPr lvl="0" algn="just"/>
            <a:r>
              <a:rPr lang="en-US" sz="2400" dirty="0" smtClean="0">
                <a:solidFill>
                  <a:prstClr val="black"/>
                </a:solidFill>
                <a:latin typeface="Times New Roman" panose="02020603050405020304" pitchFamily="18" charset="0"/>
                <a:cs typeface="Times New Roman" panose="02020603050405020304" pitchFamily="18" charset="0"/>
              </a:rPr>
              <a:t>Is </a:t>
            </a:r>
            <a:r>
              <a:rPr lang="en-US" sz="2400" dirty="0">
                <a:solidFill>
                  <a:prstClr val="black"/>
                </a:solidFill>
                <a:latin typeface="Times New Roman" panose="02020603050405020304" pitchFamily="18" charset="0"/>
                <a:cs typeface="Times New Roman" panose="02020603050405020304" pitchFamily="18" charset="0"/>
              </a:rPr>
              <a:t>it easy to follow with a clear structure that makes sense? Are the points concisely but clearly explained and supported by relevant evidence</a:t>
            </a:r>
            <a:r>
              <a:rPr lang="en-US" sz="2400" dirty="0" smtClean="0">
                <a:solidFill>
                  <a:prstClr val="black"/>
                </a:solidFill>
                <a:latin typeface="Times New Roman" panose="02020603050405020304" pitchFamily="18" charset="0"/>
                <a:cs typeface="Times New Roman" panose="02020603050405020304" pitchFamily="18" charset="0"/>
              </a:rPr>
              <a:t>?</a:t>
            </a:r>
            <a:r>
              <a:rPr lang="en-US" sz="2400" dirty="0">
                <a:solidFill>
                  <a:prstClr val="black"/>
                </a:solidFill>
                <a:latin typeface="Times New Roman" panose="02020603050405020304" pitchFamily="18" charset="0"/>
                <a:cs typeface="Times New Roman" panose="02020603050405020304" pitchFamily="18" charset="0"/>
              </a:rPr>
              <a:t> </a:t>
            </a:r>
            <a:endParaRPr lang="en-US" sz="2400" dirty="0" smtClean="0">
              <a:solidFill>
                <a:prstClr val="black"/>
              </a:solidFill>
              <a:latin typeface="Times New Roman" panose="02020603050405020304" pitchFamily="18" charset="0"/>
              <a:cs typeface="Times New Roman" panose="02020603050405020304" pitchFamily="18" charset="0"/>
            </a:endParaRPr>
          </a:p>
          <a:p>
            <a:pPr lvl="0" algn="just"/>
            <a:r>
              <a:rPr lang="en-US" sz="2400" dirty="0" smtClean="0">
                <a:solidFill>
                  <a:prstClr val="black"/>
                </a:solidFill>
                <a:latin typeface="Times New Roman" panose="02020603050405020304" pitchFamily="18" charset="0"/>
                <a:cs typeface="Times New Roman" panose="02020603050405020304" pitchFamily="18" charset="0"/>
              </a:rPr>
              <a:t>Writing </a:t>
            </a:r>
            <a:r>
              <a:rPr lang="en-US" sz="2400" dirty="0">
                <a:solidFill>
                  <a:prstClr val="black"/>
                </a:solidFill>
                <a:latin typeface="Times New Roman" panose="02020603050405020304" pitchFamily="18" charset="0"/>
                <a:cs typeface="Times New Roman" panose="02020603050405020304" pitchFamily="18" charset="0"/>
              </a:rPr>
              <a:t>on a word processor makes it easier to rewrite and rearrange sections or paragraphs in your first draft. If you write your first draft by hand, try writing each section on a separate piece of paper to make redrafting easier.</a:t>
            </a:r>
            <a:endParaRPr lang="en-US" sz="2400" dirty="0" smtClean="0">
              <a:solidFill>
                <a:prstClr val="black"/>
              </a:solidFill>
              <a:latin typeface="Times New Roman" panose="02020603050405020304" pitchFamily="18" charset="0"/>
              <a:cs typeface="Times New Roman" panose="02020603050405020304" pitchFamily="18" charset="0"/>
            </a:endParaRPr>
          </a:p>
          <a:p>
            <a:pPr lvl="0" algn="just"/>
            <a:endParaRPr lang="en-US" dirty="0"/>
          </a:p>
        </p:txBody>
      </p:sp>
    </p:spTree>
    <p:extLst>
      <p:ext uri="{BB962C8B-B14F-4D97-AF65-F5344CB8AC3E}">
        <p14:creationId xmlns:p14="http://schemas.microsoft.com/office/powerpoint/2010/main" val="26416980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pPr algn="just"/>
            <a:r>
              <a:rPr lang="en-US" sz="2400" b="1" dirty="0" smtClean="0">
                <a:latin typeface="Times New Roman" panose="02020603050405020304" pitchFamily="18" charset="0"/>
                <a:cs typeface="Times New Roman" panose="02020603050405020304" pitchFamily="18" charset="0"/>
              </a:rPr>
              <a:t>Stage </a:t>
            </a:r>
            <a:r>
              <a:rPr lang="en-US" sz="2400" b="1" dirty="0">
                <a:latin typeface="Times New Roman" panose="02020603050405020304" pitchFamily="18" charset="0"/>
                <a:cs typeface="Times New Roman" panose="02020603050405020304" pitchFamily="18" charset="0"/>
              </a:rPr>
              <a:t>Seven: Presentation</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a:t>
            </a:r>
            <a:r>
              <a:rPr lang="en-US" sz="2400" dirty="0" smtClean="0">
                <a:latin typeface="Times New Roman" panose="02020603050405020304" pitchFamily="18" charset="0"/>
                <a:cs typeface="Times New Roman" panose="02020603050405020304" pitchFamily="18" charset="0"/>
              </a:rPr>
              <a:t>urn </a:t>
            </a:r>
            <a:r>
              <a:rPr lang="en-US" sz="2400" dirty="0">
                <a:latin typeface="Times New Roman" panose="02020603050405020304" pitchFamily="18" charset="0"/>
                <a:cs typeface="Times New Roman" panose="02020603050405020304" pitchFamily="18" charset="0"/>
              </a:rPr>
              <a:t>your attention to the presentation. Check that the wording of each chapter/section/subheading is clear and accurate.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Check </a:t>
            </a:r>
            <a:r>
              <a:rPr lang="en-US" sz="2400" dirty="0">
                <a:latin typeface="Times New Roman" panose="02020603050405020304" pitchFamily="18" charset="0"/>
                <a:cs typeface="Times New Roman" panose="02020603050405020304" pitchFamily="18" charset="0"/>
              </a:rPr>
              <a:t>that you have adhered to the instructions in your report brief regarding format and presentation. Check for consistency in numbering of chapters, sections and appendices.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Make </a:t>
            </a:r>
            <a:r>
              <a:rPr lang="en-US" sz="2400" dirty="0">
                <a:latin typeface="Times New Roman" panose="02020603050405020304" pitchFamily="18" charset="0"/>
                <a:cs typeface="Times New Roman" panose="02020603050405020304" pitchFamily="18" charset="0"/>
              </a:rPr>
              <a:t>sure that all your sources are acknowledged and correctly referenced.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You </a:t>
            </a:r>
            <a:r>
              <a:rPr lang="en-US" sz="2400" dirty="0">
                <a:latin typeface="Times New Roman" panose="02020603050405020304" pitchFamily="18" charset="0"/>
                <a:cs typeface="Times New Roman" panose="02020603050405020304" pitchFamily="18" charset="0"/>
              </a:rPr>
              <a:t>will need to </a:t>
            </a:r>
            <a:r>
              <a:rPr lang="en-US" sz="2400" dirty="0" smtClean="0">
                <a:latin typeface="Times New Roman" panose="02020603050405020304" pitchFamily="18" charset="0"/>
                <a:cs typeface="Times New Roman" panose="02020603050405020304" pitchFamily="18" charset="0"/>
              </a:rPr>
              <a:t>proofread </a:t>
            </a:r>
            <a:r>
              <a:rPr lang="en-US" sz="2400" dirty="0">
                <a:latin typeface="Times New Roman" panose="02020603050405020304" pitchFamily="18" charset="0"/>
                <a:cs typeface="Times New Roman" panose="02020603050405020304" pitchFamily="18" charset="0"/>
              </a:rPr>
              <a:t>your report for errors of spelling or grammar. If time allows, proof read more than once. Errors in presentation or expression create a poor impression and can make the report difficult to read. </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60306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TotalTime>
  <Words>3747</Words>
  <Application>Microsoft Office PowerPoint</Application>
  <PresentationFormat>Widescreen</PresentationFormat>
  <Paragraphs>256</Paragraphs>
  <Slides>50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Calibri Light</vt:lpstr>
      <vt:lpstr>Times New Roman</vt:lpstr>
      <vt:lpstr>Wingdings</vt:lpstr>
      <vt:lpstr>Office Theme</vt:lpstr>
      <vt:lpstr>WRITING REPORTS</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REPORTS</dc:title>
  <dc:creator>Raytoni</dc:creator>
  <cp:lastModifiedBy>Raytoni</cp:lastModifiedBy>
  <cp:revision>33</cp:revision>
  <dcterms:created xsi:type="dcterms:W3CDTF">2025-01-14T20:29:43Z</dcterms:created>
  <dcterms:modified xsi:type="dcterms:W3CDTF">2025-01-16T10:37:15Z</dcterms:modified>
</cp:coreProperties>
</file>